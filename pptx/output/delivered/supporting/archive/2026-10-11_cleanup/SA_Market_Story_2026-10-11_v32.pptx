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diagrams/v32_s2_data1.xml" ContentType="application/vnd.openxmlformats-officedocument.drawingml.diagramData+xml"/>
  <Override PartName="/ppt/diagrams/v32_s2_layout1.xml" ContentType="application/vnd.openxmlformats-officedocument.drawingml.diagramLayout+xml"/>
  <Override PartName="/ppt/diagrams/v32_s2_quickStyle1.xml" ContentType="application/vnd.openxmlformats-officedocument.drawingml.diagramStyle+xml"/>
  <Override PartName="/ppt/diagrams/v32_s2_colors1.xml" ContentType="application/vnd.openxmlformats-officedocument.drawingml.diagramColors+xml"/>
  <Override PartName="/ppt/diagrams/v32_s2_drawing1.xml" ContentType="application/vnd.ms-office.drawingml.diagramDrawing+xml"/>
  <Override PartName="/ppt/diagrams/v32_s3_data1.xml" ContentType="application/vnd.openxmlformats-officedocument.drawingml.diagramData+xml"/>
  <Override PartName="/ppt/diagrams/v32_s3_layout1.xml" ContentType="application/vnd.openxmlformats-officedocument.drawingml.diagramLayout+xml"/>
  <Override PartName="/ppt/diagrams/v32_s3_quickStyle1.xml" ContentType="application/vnd.openxmlformats-officedocument.drawingml.diagramStyle+xml"/>
  <Override PartName="/ppt/diagrams/v32_s3_colors1.xml" ContentType="application/vnd.openxmlformats-officedocument.drawingml.diagramColors+xml"/>
  <Override PartName="/ppt/diagrams/v32_s3_drawing1.xml" ContentType="application/vnd.ms-office.drawingml.diagramDrawing+xml"/>
  <Override PartName="/ppt/diagrams/v32_s4_data1.xml" ContentType="application/vnd.openxmlformats-officedocument.drawingml.diagramData+xml"/>
  <Override PartName="/ppt/diagrams/v32_s4_layout1.xml" ContentType="application/vnd.openxmlformats-officedocument.drawingml.diagramLayout+xml"/>
  <Override PartName="/ppt/diagrams/v32_s4_quickStyle1.xml" ContentType="application/vnd.openxmlformats-officedocument.drawingml.diagramStyle+xml"/>
  <Override PartName="/ppt/diagrams/v32_s4_colors1.xml" ContentType="application/vnd.openxmlformats-officedocument.drawingml.diagramColors+xml"/>
  <Override PartName="/ppt/diagrams/v32_s4_drawing1.xml" ContentType="application/vnd.ms-office.drawingml.diagramDrawing+xml"/>
  <Override PartName="/ppt/diagrams/v32_s5_data1.xml" ContentType="application/vnd.openxmlformats-officedocument.drawingml.diagramData+xml"/>
  <Override PartName="/ppt/diagrams/v32_s5_layout1.xml" ContentType="application/vnd.openxmlformats-officedocument.drawingml.diagramLayout+xml"/>
  <Override PartName="/ppt/diagrams/v32_s5_quickStyle1.xml" ContentType="application/vnd.openxmlformats-officedocument.drawingml.diagramStyle+xml"/>
  <Override PartName="/ppt/diagrams/v32_s5_colors1.xml" ContentType="application/vnd.openxmlformats-officedocument.drawingml.diagramColors+xml"/>
  <Override PartName="/ppt/diagrams/v32_s5_drawing1.xml" ContentType="application/vnd.ms-office.drawingml.diagramDrawing+xml"/>
  <Override PartName="/ppt/diagrams/v32_s6_data1.xml" ContentType="application/vnd.openxmlformats-officedocument.drawingml.diagramData+xml"/>
  <Override PartName="/ppt/diagrams/v32_s6_layout1.xml" ContentType="application/vnd.openxmlformats-officedocument.drawingml.diagramLayout+xml"/>
  <Override PartName="/ppt/diagrams/v32_s6_quickStyle1.xml" ContentType="application/vnd.openxmlformats-officedocument.drawingml.diagramStyle+xml"/>
  <Override PartName="/ppt/diagrams/v32_s6_colors1.xml" ContentType="application/vnd.openxmlformats-officedocument.drawingml.diagramColors+xml"/>
  <Override PartName="/ppt/diagrams/v32_s6_drawing1.xml" ContentType="application/vnd.ms-office.drawingml.diagramDrawing+xml"/>
  <Override PartName="/ppt/diagrams/v32_s7_data1.xml" ContentType="application/vnd.openxmlformats-officedocument.drawingml.diagramData+xml"/>
  <Override PartName="/ppt/diagrams/v32_s7_layout1.xml" ContentType="application/vnd.openxmlformats-officedocument.drawingml.diagramLayout+xml"/>
  <Override PartName="/ppt/diagrams/v32_s7_quickStyle1.xml" ContentType="application/vnd.openxmlformats-officedocument.drawingml.diagramStyle+xml"/>
  <Override PartName="/ppt/diagrams/v32_s7_colors1.xml" ContentType="application/vnd.openxmlformats-officedocument.drawingml.diagramColors+xml"/>
  <Override PartName="/ppt/diagrams/v32_s7_drawing1.xml" ContentType="application/vnd.ms-office.drawingml.diagramDrawing+xml"/>
  <Override PartName="/ppt/diagrams/v32_s8_data1.xml" ContentType="application/vnd.openxmlformats-officedocument.drawingml.diagramData+xml"/>
  <Override PartName="/ppt/diagrams/v32_s8_layout1.xml" ContentType="application/vnd.openxmlformats-officedocument.drawingml.diagramLayout+xml"/>
  <Override PartName="/ppt/diagrams/v32_s8_quickStyle1.xml" ContentType="application/vnd.openxmlformats-officedocument.drawingml.diagramStyle+xml"/>
  <Override PartName="/ppt/diagrams/v32_s8_colors1.xml" ContentType="application/vnd.openxmlformats-officedocument.drawingml.diagramColors+xml"/>
  <Override PartName="/ppt/diagrams/v32_s8_drawing1.xml" ContentType="application/vnd.ms-office.drawingml.diagramDrawing+xml"/>
  <Override PartName="/ppt/diagrams/v32_s9_data1.xml" ContentType="application/vnd.openxmlformats-officedocument.drawingml.diagramData+xml"/>
  <Override PartName="/ppt/diagrams/v32_s9_layout1.xml" ContentType="application/vnd.openxmlformats-officedocument.drawingml.diagramLayout+xml"/>
  <Override PartName="/ppt/diagrams/v32_s9_quickStyle1.xml" ContentType="application/vnd.openxmlformats-officedocument.drawingml.diagramStyle+xml"/>
  <Override PartName="/ppt/diagrams/v32_s9_colors1.xml" ContentType="application/vnd.openxmlformats-officedocument.drawingml.diagramColors+xml"/>
  <Override PartName="/ppt/diagrams/v32_s9_drawing1.xml" ContentType="application/vnd.ms-office.drawingml.diagramDrawing+xml"/>
  <Override PartName="/ppt/diagrams/v32_s10_data1.xml" ContentType="application/vnd.openxmlformats-officedocument.drawingml.diagramData+xml"/>
  <Override PartName="/ppt/diagrams/v32_s10_layout1.xml" ContentType="application/vnd.openxmlformats-officedocument.drawingml.diagramLayout+xml"/>
  <Override PartName="/ppt/diagrams/v32_s10_quickStyle1.xml" ContentType="application/vnd.openxmlformats-officedocument.drawingml.diagramStyle+xml"/>
  <Override PartName="/ppt/diagrams/v32_s10_colors1.xml" ContentType="application/vnd.openxmlformats-officedocument.drawingml.diagramColors+xml"/>
  <Override PartName="/ppt/diagrams/v32_s10_drawing1.xml" ContentType="application/vnd.ms-office.drawingml.diagramDrawing+xml"/>
  <Override PartName="/ppt/diagrams/v32_s11_data1.xml" ContentType="application/vnd.openxmlformats-officedocument.drawingml.diagramData+xml"/>
  <Override PartName="/ppt/diagrams/v32_s11_layout1.xml" ContentType="application/vnd.openxmlformats-officedocument.drawingml.diagramLayout+xml"/>
  <Override PartName="/ppt/diagrams/v32_s11_quickStyle1.xml" ContentType="application/vnd.openxmlformats-officedocument.drawingml.diagramStyle+xml"/>
  <Override PartName="/ppt/diagrams/v32_s11_colors1.xml" ContentType="application/vnd.openxmlformats-officedocument.drawingml.diagramColors+xml"/>
  <Override PartName="/ppt/diagrams/v32_s11_drawing1.xml" ContentType="application/vnd.ms-office.drawingml.diagramDrawing+xml"/>
  <Override PartName="/ppt/diagrams/v32_s12_data1.xml" ContentType="application/vnd.openxmlformats-officedocument.drawingml.diagramData+xml"/>
  <Override PartName="/ppt/diagrams/v32_s12_layout1.xml" ContentType="application/vnd.openxmlformats-officedocument.drawingml.diagramLayout+xml"/>
  <Override PartName="/ppt/diagrams/v32_s12_quickStyle1.xml" ContentType="application/vnd.openxmlformats-officedocument.drawingml.diagramStyle+xml"/>
  <Override PartName="/ppt/diagrams/v32_s12_colors1.xml" ContentType="application/vnd.openxmlformats-officedocument.drawingml.diagramColors+xml"/>
  <Override PartName="/ppt/diagrams/v32_s12_drawing1.xml" ContentType="application/vnd.ms-office.drawingml.diagramDrawing+xml"/>
  <Override PartName="/ppt/diagrams/v32_s13_data1.xml" ContentType="application/vnd.openxmlformats-officedocument.drawingml.diagramData+xml"/>
  <Override PartName="/ppt/diagrams/v32_s13_layout1.xml" ContentType="application/vnd.openxmlformats-officedocument.drawingml.diagramLayout+xml"/>
  <Override PartName="/ppt/diagrams/v32_s13_quickStyle1.xml" ContentType="application/vnd.openxmlformats-officedocument.drawingml.diagramStyle+xml"/>
  <Override PartName="/ppt/diagrams/v32_s13_colors1.xml" ContentType="application/vnd.openxmlformats-officedocument.drawingml.diagramColors+xml"/>
  <Override PartName="/ppt/diagrams/v32_s13_drawing1.xml" ContentType="application/vnd.ms-office.drawingml.diagramDrawing+xml"/>
  <Override PartName="/ppt/diagrams/v32_s14_data1.xml" ContentType="application/vnd.openxmlformats-officedocument.drawingml.diagramData+xml"/>
  <Override PartName="/ppt/diagrams/v32_s14_layout1.xml" ContentType="application/vnd.openxmlformats-officedocument.drawingml.diagramLayout+xml"/>
  <Override PartName="/ppt/diagrams/v32_s14_quickStyle1.xml" ContentType="application/vnd.openxmlformats-officedocument.drawingml.diagramStyle+xml"/>
  <Override PartName="/ppt/diagrams/v32_s14_colors1.xml" ContentType="application/vnd.openxmlformats-officedocument.drawingml.diagramColors+xml"/>
  <Override PartName="/ppt/diagrams/v32_s14_drawing1.xml" ContentType="application/vnd.ms-office.drawingml.diagramDrawing+xml"/>
  <Override PartName="/ppt/diagrams/v32_s15_data1.xml" ContentType="application/vnd.openxmlformats-officedocument.drawingml.diagramData+xml"/>
  <Override PartName="/ppt/diagrams/v32_s15_layout1.xml" ContentType="application/vnd.openxmlformats-officedocument.drawingml.diagramLayout+xml"/>
  <Override PartName="/ppt/diagrams/v32_s15_quickStyle1.xml" ContentType="application/vnd.openxmlformats-officedocument.drawingml.diagramStyle+xml"/>
  <Override PartName="/ppt/diagrams/v32_s15_colors1.xml" ContentType="application/vnd.openxmlformats-officedocument.drawingml.diagramColors+xml"/>
  <Override PartName="/ppt/diagrams/v32_s15_drawing1.xml" ContentType="application/vnd.ms-office.drawingml.diagramDrawing+xml"/>
  <Override PartName="/ppt/diagrams/v32_s16_data1.xml" ContentType="application/vnd.openxmlformats-officedocument.drawingml.diagramData+xml"/>
  <Override PartName="/ppt/diagrams/v32_s16_layout1.xml" ContentType="application/vnd.openxmlformats-officedocument.drawingml.diagramLayout+xml"/>
  <Override PartName="/ppt/diagrams/v32_s16_quickStyle1.xml" ContentType="application/vnd.openxmlformats-officedocument.drawingml.diagramStyle+xml"/>
  <Override PartName="/ppt/diagrams/v32_s16_colors1.xml" ContentType="application/vnd.openxmlformats-officedocument.drawingml.diagramColors+xml"/>
  <Override PartName="/ppt/diagrams/v32_s16_drawing1.xml" ContentType="application/vnd.ms-office.drawingml.diagramDrawing+xml"/>
  <Override PartName="/ppt/diagrams/v32_s17_data1.xml" ContentType="application/vnd.openxmlformats-officedocument.drawingml.diagramData+xml"/>
  <Override PartName="/ppt/diagrams/v32_s17_layout1.xml" ContentType="application/vnd.openxmlformats-officedocument.drawingml.diagramLayout+xml"/>
  <Override PartName="/ppt/diagrams/v32_s17_quickStyle1.xml" ContentType="application/vnd.openxmlformats-officedocument.drawingml.diagramStyle+xml"/>
  <Override PartName="/ppt/diagrams/v32_s17_colors1.xml" ContentType="application/vnd.openxmlformats-officedocument.drawingml.diagramColors+xml"/>
  <Override PartName="/ppt/diagrams/v32_s17_drawing1.xml" ContentType="application/vnd.ms-office.drawingml.diagramDrawing+xml"/>
  <Override PartName="/ppt/diagrams/v32_s18_data1.xml" ContentType="application/vnd.openxmlformats-officedocument.drawingml.diagramData+xml"/>
  <Override PartName="/ppt/diagrams/v32_s18_layout1.xml" ContentType="application/vnd.openxmlformats-officedocument.drawingml.diagramLayout+xml"/>
  <Override PartName="/ppt/diagrams/v32_s18_quickStyle1.xml" ContentType="application/vnd.openxmlformats-officedocument.drawingml.diagramStyle+xml"/>
  <Override PartName="/ppt/diagrams/v32_s18_colors1.xml" ContentType="application/vnd.openxmlformats-officedocument.drawingml.diagramColors+xml"/>
  <Override PartName="/ppt/diagrams/v32_s18_drawing1.xml" ContentType="application/vnd.ms-office.drawingml.diagramDrawing+xml"/>
  <Override PartName="/ppt/diagrams/v32_s19_data1.xml" ContentType="application/vnd.openxmlformats-officedocument.drawingml.diagramData+xml"/>
  <Override PartName="/ppt/diagrams/v32_s19_layout1.xml" ContentType="application/vnd.openxmlformats-officedocument.drawingml.diagramLayout+xml"/>
  <Override PartName="/ppt/diagrams/v32_s19_quickStyle1.xml" ContentType="application/vnd.openxmlformats-officedocument.drawingml.diagramStyle+xml"/>
  <Override PartName="/ppt/diagrams/v32_s19_colors1.xml" ContentType="application/vnd.openxmlformats-officedocument.drawingml.diagramColors+xml"/>
  <Override PartName="/ppt/diagrams/v32_s19_drawing1.xml" ContentType="application/vnd.ms-office.drawingml.diagramDrawing+xml"/>
  <Override PartName="/ppt/diagrams/v32_s21_data1.xml" ContentType="application/vnd.openxmlformats-officedocument.drawingml.diagramData+xml"/>
  <Override PartName="/ppt/diagrams/v32_s21_layout1.xml" ContentType="application/vnd.openxmlformats-officedocument.drawingml.diagramLayout+xml"/>
  <Override PartName="/ppt/diagrams/v32_s21_quickStyle1.xml" ContentType="application/vnd.openxmlformats-officedocument.drawingml.diagramStyle+xml"/>
  <Override PartName="/ppt/diagrams/v32_s21_colors1.xml" ContentType="application/vnd.openxmlformats-officedocument.drawingml.diagramColors+xml"/>
  <Override PartName="/ppt/diagrams/v32_s21_drawing1.xml" ContentType="application/vnd.ms-office.drawingml.diagramDrawing+xml"/>
  <Override PartName="/ppt/diagrams/v32_s22_data1.xml" ContentType="application/vnd.openxmlformats-officedocument.drawingml.diagramData+xml"/>
  <Override PartName="/ppt/diagrams/v32_s22_layout1.xml" ContentType="application/vnd.openxmlformats-officedocument.drawingml.diagramLayout+xml"/>
  <Override PartName="/ppt/diagrams/v32_s22_quickStyle1.xml" ContentType="application/vnd.openxmlformats-officedocument.drawingml.diagramStyle+xml"/>
  <Override PartName="/ppt/diagrams/v32_s22_colors1.xml" ContentType="application/vnd.openxmlformats-officedocument.drawingml.diagramColors+xml"/>
  <Override PartName="/ppt/diagrams/v32_s22_drawing1.xml" ContentType="application/vnd.ms-office.drawingml.diagramDrawing+xml"/>
  <Override PartName="/ppt/diagrams/v32_s23_data1.xml" ContentType="application/vnd.openxmlformats-officedocument.drawingml.diagramData+xml"/>
  <Override PartName="/ppt/diagrams/v32_s23_layout1.xml" ContentType="application/vnd.openxmlformats-officedocument.drawingml.diagramLayout+xml"/>
  <Override PartName="/ppt/diagrams/v32_s23_quickStyle1.xml" ContentType="application/vnd.openxmlformats-officedocument.drawingml.diagramStyle+xml"/>
  <Override PartName="/ppt/diagrams/v32_s23_colors1.xml" ContentType="application/vnd.openxmlformats-officedocument.drawingml.diagramColors+xml"/>
  <Override PartName="/ppt/diagrams/v32_s23_drawing1.xml" ContentType="application/vnd.ms-office.drawingml.diagramDrawing+xml"/>
  <Override PartName="/ppt/diagrams/v32_s24_data1.xml" ContentType="application/vnd.openxmlformats-officedocument.drawingml.diagramData+xml"/>
  <Override PartName="/ppt/diagrams/v32_s24_layout1.xml" ContentType="application/vnd.openxmlformats-officedocument.drawingml.diagramLayout+xml"/>
  <Override PartName="/ppt/diagrams/v32_s24_quickStyle1.xml" ContentType="application/vnd.openxmlformats-officedocument.drawingml.diagramStyle+xml"/>
  <Override PartName="/ppt/diagrams/v32_s24_colors1.xml" ContentType="application/vnd.openxmlformats-officedocument.drawingml.diagramColors+xml"/>
  <Override PartName="/ppt/diagrams/v32_s24_drawing1.xml" ContentType="application/vnd.ms-office.drawingml.diagramDrawing+xml"/>
  <Override PartName="/ppt/diagrams/v32_s25_data1.xml" ContentType="application/vnd.openxmlformats-officedocument.drawingml.diagramData+xml"/>
  <Override PartName="/ppt/diagrams/v32_s25_layout1.xml" ContentType="application/vnd.openxmlformats-officedocument.drawingml.diagramLayout+xml"/>
  <Override PartName="/ppt/diagrams/v32_s25_quickStyle1.xml" ContentType="application/vnd.openxmlformats-officedocument.drawingml.diagramStyle+xml"/>
  <Override PartName="/ppt/diagrams/v32_s25_colors1.xml" ContentType="application/vnd.openxmlformats-officedocument.drawingml.diagramColors+xml"/>
  <Override PartName="/ppt/diagrams/v32_s25_drawing1.xml" ContentType="application/vnd.ms-office.drawingml.diagramDrawing+xml"/>
  <Override PartName="/ppt/diagrams/v32_s26_data1.xml" ContentType="application/vnd.openxmlformats-officedocument.drawingml.diagramData+xml"/>
  <Override PartName="/ppt/diagrams/v32_s26_layout1.xml" ContentType="application/vnd.openxmlformats-officedocument.drawingml.diagramLayout+xml"/>
  <Override PartName="/ppt/diagrams/v32_s26_quickStyle1.xml" ContentType="application/vnd.openxmlformats-officedocument.drawingml.diagramStyle+xml"/>
  <Override PartName="/ppt/diagrams/v32_s26_colors1.xml" ContentType="application/vnd.openxmlformats-officedocument.drawingml.diagramColors+xml"/>
  <Override PartName="/ppt/diagrams/v32_s26_drawing1.xml" ContentType="application/vnd.ms-office.drawingml.diagramDrawing+xml"/>
  <Override PartName="/ppt/diagrams/v32_s27_data1.xml" ContentType="application/vnd.openxmlformats-officedocument.drawingml.diagramData+xml"/>
  <Override PartName="/ppt/diagrams/v32_s27_layout1.xml" ContentType="application/vnd.openxmlformats-officedocument.drawingml.diagramLayout+xml"/>
  <Override PartName="/ppt/diagrams/v32_s27_quickStyle1.xml" ContentType="application/vnd.openxmlformats-officedocument.drawingml.diagramStyle+xml"/>
  <Override PartName="/ppt/diagrams/v32_s27_colors1.xml" ContentType="application/vnd.openxmlformats-officedocument.drawingml.diagramColors+xml"/>
  <Override PartName="/ppt/diagrams/v32_s27_drawing1.xml" ContentType="application/vnd.ms-office.drawingml.diagramDrawing+xml"/>
  <Override PartName="/ppt/diagrams/v32_s28_data1.xml" ContentType="application/vnd.openxmlformats-officedocument.drawingml.diagramData+xml"/>
  <Override PartName="/ppt/diagrams/v32_s28_layout1.xml" ContentType="application/vnd.openxmlformats-officedocument.drawingml.diagramLayout+xml"/>
  <Override PartName="/ppt/diagrams/v32_s28_quickStyle1.xml" ContentType="application/vnd.openxmlformats-officedocument.drawingml.diagramStyle+xml"/>
  <Override PartName="/ppt/diagrams/v32_s28_colors1.xml" ContentType="application/vnd.openxmlformats-officedocument.drawingml.diagramColors+xml"/>
  <Override PartName="/ppt/diagrams/v32_s28_drawing1.xml" ContentType="application/vnd.ms-office.drawingml.diagramDrawing+xml"/>
  <Override PartName="/ppt/diagrams/v32_s29_data1.xml" ContentType="application/vnd.openxmlformats-officedocument.drawingml.diagramData+xml"/>
  <Override PartName="/ppt/diagrams/v32_s29_layout1.xml" ContentType="application/vnd.openxmlformats-officedocument.drawingml.diagramLayout+xml"/>
  <Override PartName="/ppt/diagrams/v32_s29_quickStyle1.xml" ContentType="application/vnd.openxmlformats-officedocument.drawingml.diagramStyle+xml"/>
  <Override PartName="/ppt/diagrams/v32_s29_colors1.xml" ContentType="application/vnd.openxmlformats-officedocument.drawingml.diagramColors+xml"/>
  <Override PartName="/ppt/diagrams/v32_s29_drawing1.xml" ContentType="application/vnd.ms-office.drawingml.diagramDrawing+xml"/>
  <Override PartName="/ppt/diagrams/v32_s30_data1.xml" ContentType="application/vnd.openxmlformats-officedocument.drawingml.diagramData+xml"/>
  <Override PartName="/ppt/diagrams/v32_s30_layout1.xml" ContentType="application/vnd.openxmlformats-officedocument.drawingml.diagramLayout+xml"/>
  <Override PartName="/ppt/diagrams/v32_s30_quickStyle1.xml" ContentType="application/vnd.openxmlformats-officedocument.drawingml.diagramStyle+xml"/>
  <Override PartName="/ppt/diagrams/v32_s30_colors1.xml" ContentType="application/vnd.openxmlformats-officedocument.drawingml.diagramColors+xml"/>
  <Override PartName="/ppt/diagrams/v32_s30_drawing1.xml" ContentType="application/vnd.ms-office.drawingml.diagramDrawing+xml"/>
  <Override PartName="/ppt/diagrams/v32_s31_data1.xml" ContentType="application/vnd.openxmlformats-officedocument.drawingml.diagramData+xml"/>
  <Override PartName="/ppt/diagrams/v32_s31_layout1.xml" ContentType="application/vnd.openxmlformats-officedocument.drawingml.diagramLayout+xml"/>
  <Override PartName="/ppt/diagrams/v32_s31_quickStyle1.xml" ContentType="application/vnd.openxmlformats-officedocument.drawingml.diagramStyle+xml"/>
  <Override PartName="/ppt/diagrams/v32_s31_colors1.xml" ContentType="application/vnd.openxmlformats-officedocument.drawingml.diagramColors+xml"/>
  <Override PartName="/ppt/diagrams/v32_s31_drawing1.xml" ContentType="application/vnd.ms-office.drawingml.diagramDrawing+xml"/>
  <Override PartName="/ppt/diagrams/v32_s32_data1.xml" ContentType="application/vnd.openxmlformats-officedocument.drawingml.diagramData+xml"/>
  <Override PartName="/ppt/diagrams/v32_s32_layout1.xml" ContentType="application/vnd.openxmlformats-officedocument.drawingml.diagramLayout+xml"/>
  <Override PartName="/ppt/diagrams/v32_s32_quickStyle1.xml" ContentType="application/vnd.openxmlformats-officedocument.drawingml.diagramStyle+xml"/>
  <Override PartName="/ppt/diagrams/v32_s32_colors1.xml" ContentType="application/vnd.openxmlformats-officedocument.drawingml.diagramColors+xml"/>
  <Override PartName="/ppt/diagrams/v32_s32_drawing1.xml" ContentType="application/vnd.ms-office.drawingml.diagramDrawing+xml"/>
  <Override PartName="/ppt/diagrams/v32_s33_data1.xml" ContentType="application/vnd.openxmlformats-officedocument.drawingml.diagramData+xml"/>
  <Override PartName="/ppt/diagrams/v32_s33_layout1.xml" ContentType="application/vnd.openxmlformats-officedocument.drawingml.diagramLayout+xml"/>
  <Override PartName="/ppt/diagrams/v32_s33_quickStyle1.xml" ContentType="application/vnd.openxmlformats-officedocument.drawingml.diagramStyle+xml"/>
  <Override PartName="/ppt/diagrams/v32_s33_colors1.xml" ContentType="application/vnd.openxmlformats-officedocument.drawingml.diagramColors+xml"/>
  <Override PartName="/ppt/diagrams/v32_s33_drawing1.xml" ContentType="application/vnd.ms-office.drawingml.diagramDrawing+xml"/>
  <Override PartName="/ppt/diagrams/v32_s34_data1.xml" ContentType="application/vnd.openxmlformats-officedocument.drawingml.diagramData+xml"/>
  <Override PartName="/ppt/diagrams/v32_s34_layout1.xml" ContentType="application/vnd.openxmlformats-officedocument.drawingml.diagramLayout+xml"/>
  <Override PartName="/ppt/diagrams/v32_s34_quickStyle1.xml" ContentType="application/vnd.openxmlformats-officedocument.drawingml.diagramStyle+xml"/>
  <Override PartName="/ppt/diagrams/v32_s34_colors1.xml" ContentType="application/vnd.openxmlformats-officedocument.drawingml.diagramColors+xml"/>
  <Override PartName="/ppt/diagrams/v32_s34_drawing1.xml" ContentType="application/vnd.ms-office.drawingml.diagramDrawing+xml"/>
  <Override PartName="/ppt/diagrams/v32_s35_data1.xml" ContentType="application/vnd.openxmlformats-officedocument.drawingml.diagramData+xml"/>
  <Override PartName="/ppt/diagrams/v32_s35_layout1.xml" ContentType="application/vnd.openxmlformats-officedocument.drawingml.diagramLayout+xml"/>
  <Override PartName="/ppt/diagrams/v32_s35_quickStyle1.xml" ContentType="application/vnd.openxmlformats-officedocument.drawingml.diagramStyle+xml"/>
  <Override PartName="/ppt/diagrams/v32_s35_colors1.xml" ContentType="application/vnd.openxmlformats-officedocument.drawingml.diagramColors+xml"/>
  <Override PartName="/ppt/diagrams/v32_s35_drawing1.xml" ContentType="application/vnd.ms-office.drawingml.diagramDrawing+xml"/>
  <Override PartName="/ppt/diagrams/v32_s36_data1.xml" ContentType="application/vnd.openxmlformats-officedocument.drawingml.diagramData+xml"/>
  <Override PartName="/ppt/diagrams/v32_s36_layout1.xml" ContentType="application/vnd.openxmlformats-officedocument.drawingml.diagramLayout+xml"/>
  <Override PartName="/ppt/diagrams/v32_s36_quickStyle1.xml" ContentType="application/vnd.openxmlformats-officedocument.drawingml.diagramStyle+xml"/>
  <Override PartName="/ppt/diagrams/v32_s36_colors1.xml" ContentType="application/vnd.openxmlformats-officedocument.drawingml.diagramColors+xml"/>
  <Override PartName="/ppt/diagrams/v32_s36_drawing1.xml" ContentType="application/vnd.ms-office.drawingml.diagramDrawing+xml"/>
  <Override PartName="/ppt/diagrams/v32_s37_data1.xml" ContentType="application/vnd.openxmlformats-officedocument.drawingml.diagramData+xml"/>
  <Override PartName="/ppt/diagrams/v32_s37_layout1.xml" ContentType="application/vnd.openxmlformats-officedocument.drawingml.diagramLayout+xml"/>
  <Override PartName="/ppt/diagrams/v32_s37_quickStyle1.xml" ContentType="application/vnd.openxmlformats-officedocument.drawingml.diagramStyle+xml"/>
  <Override PartName="/ppt/diagrams/v32_s37_colors1.xml" ContentType="application/vnd.openxmlformats-officedocument.drawingml.diagramColors+xml"/>
  <Override PartName="/ppt/diagrams/v32_s37_drawing1.xml" ContentType="application/vnd.ms-office.drawingml.diagramDrawing+xml"/>
  <Override PartName="/ppt/diagrams/v32_s38_data1.xml" ContentType="application/vnd.openxmlformats-officedocument.drawingml.diagramData+xml"/>
  <Override PartName="/ppt/diagrams/v32_s38_layout1.xml" ContentType="application/vnd.openxmlformats-officedocument.drawingml.diagramLayout+xml"/>
  <Override PartName="/ppt/diagrams/v32_s38_quickStyle1.xml" ContentType="application/vnd.openxmlformats-officedocument.drawingml.diagramStyle+xml"/>
  <Override PartName="/ppt/diagrams/v32_s38_colors1.xml" ContentType="application/vnd.openxmlformats-officedocument.drawingml.diagramColors+xml"/>
  <Override PartName="/ppt/diagrams/v32_s38_drawing1.xml" ContentType="application/vnd.ms-office.drawingml.diagramDrawing+xml"/>
  <Override PartName="/ppt/diagrams/v32_s39_data1.xml" ContentType="application/vnd.openxmlformats-officedocument.drawingml.diagramData+xml"/>
  <Override PartName="/ppt/diagrams/v32_s39_layout1.xml" ContentType="application/vnd.openxmlformats-officedocument.drawingml.diagramLayout+xml"/>
  <Override PartName="/ppt/diagrams/v32_s39_quickStyle1.xml" ContentType="application/vnd.openxmlformats-officedocument.drawingml.diagramStyle+xml"/>
  <Override PartName="/ppt/diagrams/v32_s39_colors1.xml" ContentType="application/vnd.openxmlformats-officedocument.drawingml.diagramColors+xml"/>
  <Override PartName="/ppt/diagrams/v32_s39_drawing1.xml" ContentType="application/vnd.ms-office.drawingml.diagramDrawing+xml"/>
  <Override PartName="/ppt/diagrams/v32_s40_data1.xml" ContentType="application/vnd.openxmlformats-officedocument.drawingml.diagramData+xml"/>
  <Override PartName="/ppt/diagrams/v32_s40_layout1.xml" ContentType="application/vnd.openxmlformats-officedocument.drawingml.diagramLayout+xml"/>
  <Override PartName="/ppt/diagrams/v32_s40_quickStyle1.xml" ContentType="application/vnd.openxmlformats-officedocument.drawingml.diagramStyle+xml"/>
  <Override PartName="/ppt/diagrams/v32_s40_colors1.xml" ContentType="application/vnd.openxmlformats-officedocument.drawingml.diagramColors+xml"/>
  <Override PartName="/ppt/diagrams/v32_s40_drawing1.xml" ContentType="application/vnd.ms-office.drawingml.diagramDrawing+xml"/>
  <Override PartName="/ppt/diagrams/v32_s41_data1.xml" ContentType="application/vnd.openxmlformats-officedocument.drawingml.diagramData+xml"/>
  <Override PartName="/ppt/diagrams/v32_s41_layout1.xml" ContentType="application/vnd.openxmlformats-officedocument.drawingml.diagramLayout+xml"/>
  <Override PartName="/ppt/diagrams/v32_s41_quickStyle1.xml" ContentType="application/vnd.openxmlformats-officedocument.drawingml.diagramStyle+xml"/>
  <Override PartName="/ppt/diagrams/v32_s41_colors1.xml" ContentType="application/vnd.openxmlformats-officedocument.drawingml.diagramColors+xml"/>
  <Override PartName="/ppt/diagrams/v32_s41_drawing1.xml" ContentType="application/vnd.ms-office.drawingml.diagramDrawing+xml"/>
  <Override PartName="/ppt/diagrams/v32_s42_data1.xml" ContentType="application/vnd.openxmlformats-officedocument.drawingml.diagramData+xml"/>
  <Override PartName="/ppt/diagrams/v32_s42_layout1.xml" ContentType="application/vnd.openxmlformats-officedocument.drawingml.diagramLayout+xml"/>
  <Override PartName="/ppt/diagrams/v32_s42_quickStyle1.xml" ContentType="application/vnd.openxmlformats-officedocument.drawingml.diagramStyle+xml"/>
  <Override PartName="/ppt/diagrams/v32_s42_colors1.xml" ContentType="application/vnd.openxmlformats-officedocument.drawingml.diagramColors+xml"/>
  <Override PartName="/ppt/diagrams/v32_s42_drawing1.xml" ContentType="application/vnd.ms-office.drawingml.diagramDrawing+xml"/>
  <Override PartName="/ppt/diagrams/v32_s43_data1.xml" ContentType="application/vnd.openxmlformats-officedocument.drawingml.diagramData+xml"/>
  <Override PartName="/ppt/diagrams/v32_s43_layout1.xml" ContentType="application/vnd.openxmlformats-officedocument.drawingml.diagramLayout+xml"/>
  <Override PartName="/ppt/diagrams/v32_s43_quickStyle1.xml" ContentType="application/vnd.openxmlformats-officedocument.drawingml.diagramStyle+xml"/>
  <Override PartName="/ppt/diagrams/v32_s43_colors1.xml" ContentType="application/vnd.openxmlformats-officedocument.drawingml.diagramColors+xml"/>
  <Override PartName="/ppt/diagrams/v32_s43_drawing1.xml" ContentType="application/vnd.ms-office.drawingml.diagramDrawing+xml"/>
  <Override PartName="/ppt/diagrams/v32_s44_data1.xml" ContentType="application/vnd.openxmlformats-officedocument.drawingml.diagramData+xml"/>
  <Override PartName="/ppt/diagrams/v32_s44_layout1.xml" ContentType="application/vnd.openxmlformats-officedocument.drawingml.diagramLayout+xml"/>
  <Override PartName="/ppt/diagrams/v32_s44_quickStyle1.xml" ContentType="application/vnd.openxmlformats-officedocument.drawingml.diagramStyle+xml"/>
  <Override PartName="/ppt/diagrams/v32_s44_colors1.xml" ContentType="application/vnd.openxmlformats-officedocument.drawingml.diagramColors+xml"/>
  <Override PartName="/ppt/diagrams/v32_s44_drawing1.xml" ContentType="application/vnd.ms-office.drawingml.diagramDrawing+xml"/>
  <Override PartName="/ppt/diagrams/v32_s45_data1.xml" ContentType="application/vnd.openxmlformats-officedocument.drawingml.diagramData+xml"/>
  <Override PartName="/ppt/diagrams/v32_s45_layout1.xml" ContentType="application/vnd.openxmlformats-officedocument.drawingml.diagramLayout+xml"/>
  <Override PartName="/ppt/diagrams/v32_s45_quickStyle1.xml" ContentType="application/vnd.openxmlformats-officedocument.drawingml.diagramStyle+xml"/>
  <Override PartName="/ppt/diagrams/v32_s45_colors1.xml" ContentType="application/vnd.openxmlformats-officedocument.drawingml.diagramColors+xml"/>
  <Override PartName="/ppt/diagrams/v32_s45_drawing1.xml" ContentType="application/vnd.ms-office.drawingml.diagramDrawing+xml"/>
  <Override PartName="/ppt/diagrams/v32_s46_data1.xml" ContentType="application/vnd.openxmlformats-officedocument.drawingml.diagramData+xml"/>
  <Override PartName="/ppt/diagrams/v32_s46_layout1.xml" ContentType="application/vnd.openxmlformats-officedocument.drawingml.diagramLayout+xml"/>
  <Override PartName="/ppt/diagrams/v32_s46_quickStyle1.xml" ContentType="application/vnd.openxmlformats-officedocument.drawingml.diagramStyle+xml"/>
  <Override PartName="/ppt/diagrams/v32_s46_colors1.xml" ContentType="application/vnd.openxmlformats-officedocument.drawingml.diagramColors+xml"/>
  <Override PartName="/ppt/diagrams/v32_s46_drawing1.xml" ContentType="application/vnd.ms-office.drawingml.diagramDrawing+xml"/>
  <Override PartName="/ppt/diagrams/v32_s47_data1.xml" ContentType="application/vnd.openxmlformats-officedocument.drawingml.diagramData+xml"/>
  <Override PartName="/ppt/diagrams/v32_s47_layout1.xml" ContentType="application/vnd.openxmlformats-officedocument.drawingml.diagramLayout+xml"/>
  <Override PartName="/ppt/diagrams/v32_s47_quickStyle1.xml" ContentType="application/vnd.openxmlformats-officedocument.drawingml.diagramStyle+xml"/>
  <Override PartName="/ppt/diagrams/v32_s47_colors1.xml" ContentType="application/vnd.openxmlformats-officedocument.drawingml.diagramColors+xml"/>
  <Override PartName="/ppt/diagrams/v32_s47_drawing1.xml" ContentType="application/vnd.ms-office.drawingml.diagramDrawing+xml"/>
  <Override PartName="/ppt/diagrams/v32_s48_data1.xml" ContentType="application/vnd.openxmlformats-officedocument.drawingml.diagramData+xml"/>
  <Override PartName="/ppt/diagrams/v32_s48_layout1.xml" ContentType="application/vnd.openxmlformats-officedocument.drawingml.diagramLayout+xml"/>
  <Override PartName="/ppt/diagrams/v32_s48_quickStyle1.xml" ContentType="application/vnd.openxmlformats-officedocument.drawingml.diagramStyle+xml"/>
  <Override PartName="/ppt/diagrams/v32_s48_colors1.xml" ContentType="application/vnd.openxmlformats-officedocument.drawingml.diagramColors+xml"/>
  <Override PartName="/ppt/diagrams/v32_s48_drawing1.xml" ContentType="application/vnd.ms-office.drawingml.diagramDrawing+xml"/>
  <Override PartName="/ppt/diagrams/v32_s49_data1.xml" ContentType="application/vnd.openxmlformats-officedocument.drawingml.diagramData+xml"/>
  <Override PartName="/ppt/diagrams/v32_s49_layout1.xml" ContentType="application/vnd.openxmlformats-officedocument.drawingml.diagramLayout+xml"/>
  <Override PartName="/ppt/diagrams/v32_s49_quickStyle1.xml" ContentType="application/vnd.openxmlformats-officedocument.drawingml.diagramStyle+xml"/>
  <Override PartName="/ppt/diagrams/v32_s49_colors1.xml" ContentType="application/vnd.openxmlformats-officedocument.drawingml.diagramColors+xml"/>
  <Override PartName="/ppt/diagrams/v32_s49_drawing1.xml" ContentType="application/vnd.ms-office.drawingml.diagramDrawing+xml"/>
</Types>
</file>

<file path=_rels/.rels>&#65279;<?xml version="1.0" encoding="utf-8"?><Relationships xmlns="http://schemas.openxmlformats.org/package/2006/relationships"><Relationship Type="http://schemas.openxmlformats.org/package/2006/relationships/metadata/core-properties" Target="/docProps/core.xml" Id="Rfd478788dbac495a" /><Relationship Type="http://schemas.openxmlformats.org/officeDocument/2006/relationships/extended-properties" Target="/docProps/app.xml" Id="R19ef7b969892434d" /><Relationship Type="http://schemas.openxmlformats.org/officeDocument/2006/relationships/officeDocument" Target="/ppt/presentation.xml" Id="R6e187cedd3ee46dd"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d9905b8463604b98"/>
  </p:sldMasterIdLst>
  <p:notesMasterIdLst>
    <p:notesMasterId xmlns:r="http://schemas.openxmlformats.org/officeDocument/2006/relationships" r:id="R457572b21b294880"/>
  </p:notesMasterIdLst>
  <p:sldIdLst>
    <p:sldId xmlns:r="http://schemas.openxmlformats.org/officeDocument/2006/relationships" id="256" r:id="Rd9fae488308b4115"/>
    <p:sldId xmlns:r="http://schemas.openxmlformats.org/officeDocument/2006/relationships" id="257" r:id="Rdfba9f8c8e394674"/>
    <p:sldId xmlns:r="http://schemas.openxmlformats.org/officeDocument/2006/relationships" id="258" r:id="R22f67aad8e464e96"/>
    <p:sldId xmlns:r="http://schemas.openxmlformats.org/officeDocument/2006/relationships" id="259" r:id="Rab8d836646204c02"/>
    <p:sldId xmlns:r="http://schemas.openxmlformats.org/officeDocument/2006/relationships" id="260" r:id="R1ee7e52644424679"/>
    <p:sldId xmlns:r="http://schemas.openxmlformats.org/officeDocument/2006/relationships" id="261" r:id="R71ccfd68c3984f48"/>
    <p:sldId xmlns:r="http://schemas.openxmlformats.org/officeDocument/2006/relationships" id="262" r:id="R480d430a3f884e46"/>
    <p:sldId xmlns:r="http://schemas.openxmlformats.org/officeDocument/2006/relationships" id="263" r:id="Rf4de3bebee9f4e49"/>
    <p:sldId xmlns:r="http://schemas.openxmlformats.org/officeDocument/2006/relationships" id="264" r:id="R51ba949b79df4776"/>
    <p:sldId xmlns:r="http://schemas.openxmlformats.org/officeDocument/2006/relationships" id="265" r:id="R3b087e067dec4a68"/>
    <p:sldId xmlns:r="http://schemas.openxmlformats.org/officeDocument/2006/relationships" id="266" r:id="R7cfebc23fc664881"/>
    <p:sldId xmlns:r="http://schemas.openxmlformats.org/officeDocument/2006/relationships" id="267" r:id="R4feb41c81ab64a37"/>
    <p:sldId xmlns:r="http://schemas.openxmlformats.org/officeDocument/2006/relationships" id="268" r:id="Rbd4180f2fd854d86"/>
    <p:sldId xmlns:r="http://schemas.openxmlformats.org/officeDocument/2006/relationships" id="269" r:id="R553b749963584843"/>
    <p:sldId xmlns:r="http://schemas.openxmlformats.org/officeDocument/2006/relationships" id="270" r:id="R1ccfcec207fe41d8"/>
    <p:sldId xmlns:r="http://schemas.openxmlformats.org/officeDocument/2006/relationships" id="271" r:id="R6a4e330a5e2c41c1"/>
    <p:sldId xmlns:r="http://schemas.openxmlformats.org/officeDocument/2006/relationships" id="272" r:id="R3ae59dd417cc4be3"/>
    <p:sldId xmlns:r="http://schemas.openxmlformats.org/officeDocument/2006/relationships" id="273" r:id="R0652d87c12534cec"/>
    <p:sldId xmlns:r="http://schemas.openxmlformats.org/officeDocument/2006/relationships" id="274" r:id="R7b19528e6b864c24"/>
    <p:sldId xmlns:r="http://schemas.openxmlformats.org/officeDocument/2006/relationships" id="275" r:id="Ra87eefb124944957"/>
    <p:sldId xmlns:r="http://schemas.openxmlformats.org/officeDocument/2006/relationships" id="276" r:id="R20128b2ceaad4707"/>
    <p:sldId xmlns:r="http://schemas.openxmlformats.org/officeDocument/2006/relationships" id="277" r:id="R51895324f4774417"/>
    <p:sldId xmlns:r="http://schemas.openxmlformats.org/officeDocument/2006/relationships" id="278" r:id="R376a5ed66dac4505"/>
    <p:sldId xmlns:r="http://schemas.openxmlformats.org/officeDocument/2006/relationships" id="279" r:id="R22f21c3dba7340fe"/>
    <p:sldId xmlns:r="http://schemas.openxmlformats.org/officeDocument/2006/relationships" id="280" r:id="R0b4e1296ed3f415f"/>
    <p:sldId xmlns:r="http://schemas.openxmlformats.org/officeDocument/2006/relationships" id="281" r:id="R2f1041957b394190"/>
    <p:sldId xmlns:r="http://schemas.openxmlformats.org/officeDocument/2006/relationships" id="282" r:id="R4cd01328a7db4238"/>
    <p:sldId xmlns:r="http://schemas.openxmlformats.org/officeDocument/2006/relationships" id="283" r:id="R3e431797504043ed"/>
    <p:sldId xmlns:r="http://schemas.openxmlformats.org/officeDocument/2006/relationships" id="284" r:id="R051020efc10140e4"/>
    <p:sldId xmlns:r="http://schemas.openxmlformats.org/officeDocument/2006/relationships" id="285" r:id="R8684b5b46de540ee"/>
    <p:sldId xmlns:r="http://schemas.openxmlformats.org/officeDocument/2006/relationships" id="286" r:id="R908adb02c3d24ecd"/>
    <p:sldId xmlns:r="http://schemas.openxmlformats.org/officeDocument/2006/relationships" id="287" r:id="Rbf81fd8e2a654d88"/>
    <p:sldId xmlns:r="http://schemas.openxmlformats.org/officeDocument/2006/relationships" id="288" r:id="Ref755309ed6c4f2b"/>
    <p:sldId xmlns:r="http://schemas.openxmlformats.org/officeDocument/2006/relationships" id="289" r:id="Rc99f0ecbe6304150"/>
    <p:sldId xmlns:r="http://schemas.openxmlformats.org/officeDocument/2006/relationships" id="290" r:id="Rc0cd9a00c8ef4798"/>
    <p:sldId xmlns:r="http://schemas.openxmlformats.org/officeDocument/2006/relationships" id="291" r:id="R07df7489849b49b3"/>
    <p:sldId xmlns:r="http://schemas.openxmlformats.org/officeDocument/2006/relationships" id="292" r:id="R98f8bf8bf26c4b9c"/>
    <p:sldId xmlns:r="http://schemas.openxmlformats.org/officeDocument/2006/relationships" id="293" r:id="R4fda0c8a7bd94785"/>
    <p:sldId xmlns:r="http://schemas.openxmlformats.org/officeDocument/2006/relationships" id="294" r:id="R005d39f30faa4a43"/>
    <p:sldId xmlns:r="http://schemas.openxmlformats.org/officeDocument/2006/relationships" id="295" r:id="R60f66d7783b14f9b"/>
    <p:sldId xmlns:r="http://schemas.openxmlformats.org/officeDocument/2006/relationships" id="296" r:id="R76a45145490841f9"/>
    <p:sldId xmlns:r="http://schemas.openxmlformats.org/officeDocument/2006/relationships" id="297" r:id="R6b911e3282634dca"/>
    <p:sldId xmlns:r="http://schemas.openxmlformats.org/officeDocument/2006/relationships" id="298" r:id="Rfecf9d2352624b69"/>
    <p:sldId xmlns:r="http://schemas.openxmlformats.org/officeDocument/2006/relationships" id="299" r:id="R3b45db2fde6a4c8e"/>
    <p:sldId xmlns:r="http://schemas.openxmlformats.org/officeDocument/2006/relationships" id="300" r:id="R0912f54ec5764ed9"/>
    <p:sldId xmlns:r="http://schemas.openxmlformats.org/officeDocument/2006/relationships" id="301" r:id="R27ed161af43f43a6"/>
    <p:sldId xmlns:r="http://schemas.openxmlformats.org/officeDocument/2006/relationships" id="302" r:id="Rd0902428a37a4ca5"/>
    <p:sldId xmlns:r="http://schemas.openxmlformats.org/officeDocument/2006/relationships" id="303" r:id="R5ce72f923fda4243"/>
    <p:sldId xmlns:r="http://schemas.openxmlformats.org/officeDocument/2006/relationships" id="304" r:id="R6bafa15cb7b84d19"/>
  </p:sldIdLst>
  <p:sldSz cx="11588750" cy="6858000"/>
  <p:notesSz cx="6858000" cy="9144000"/>
  <p:embeddedFontLst>
    <p:embeddedFont>
      <p:font typeface="Lato"/>
      <p:regular xmlns:r="http://schemas.openxmlformats.org/officeDocument/2006/relationships" r:id="Rc95386a651644a0d"/>
      <p:bold xmlns:r="http://schemas.openxmlformats.org/officeDocument/2006/relationships" r:id="R1289914c89c14aea"/>
      <p:italic xmlns:r="http://schemas.openxmlformats.org/officeDocument/2006/relationships" r:id="Rda42053105fe4324"/>
      <p:boldItalic xmlns:r="http://schemas.openxmlformats.org/officeDocument/2006/relationships" r:id="R86e44101d6ea47a8"/>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384e6c4916845ad" /><Relationship Type="http://schemas.openxmlformats.org/officeDocument/2006/relationships/slideMaster" Target="/ppt/slideMasters/slideMaster1.xml" Id="Rd9905b8463604b98" /><Relationship Type="http://schemas.openxmlformats.org/officeDocument/2006/relationships/notesMaster" Target="/ppt/notesMasters/notesMaster1.xml" Id="R457572b21b294880" /><Relationship Type="http://schemas.openxmlformats.org/officeDocument/2006/relationships/presProps" Target="/ppt/presProps.xml" Id="R591643db9cee4b31" /><Relationship Type="http://schemas.openxmlformats.org/officeDocument/2006/relationships/viewProps" Target="/ppt/viewProps.xml" Id="R3cffe4d1bb57472a" /><Relationship Type="http://schemas.openxmlformats.org/officeDocument/2006/relationships/tableStyles" Target="/ppt/tableStyles.xml" Id="R15e8a37989f54789" /><Relationship Type="http://schemas.openxmlformats.org/officeDocument/2006/relationships/font" Target="/ppt/fonts/font.dat" Id="Rc95386a651644a0d" /><Relationship Type="http://schemas.openxmlformats.org/officeDocument/2006/relationships/font" Target="/ppt/fonts/font2.dat" Id="R1289914c89c14aea" /><Relationship Type="http://schemas.openxmlformats.org/officeDocument/2006/relationships/font" Target="/ppt/fonts/font3.dat" Id="Rda42053105fe4324" /><Relationship Type="http://schemas.openxmlformats.org/officeDocument/2006/relationships/font" Target="/ppt/fonts/font4.dat" Id="R86e44101d6ea47a8" /><Relationship Type="http://schemas.microsoft.com/office/2018/10/relationships/authors" Target="/ppt/authors.xml" Id="R0f9d165bacd54ada" /><Relationship Type="http://schemas.openxmlformats.org/officeDocument/2006/relationships/slide" Target="/ppt/slides/slide1.xml" Id="Rd9fae488308b4115" /><Relationship Type="http://schemas.openxmlformats.org/officeDocument/2006/relationships/slide" Target="/ppt/slides/slide2.xml" Id="Rdfba9f8c8e394674" /><Relationship Type="http://schemas.openxmlformats.org/officeDocument/2006/relationships/slide" Target="/ppt/slides/slide3.xml" Id="R22f67aad8e464e96" /><Relationship Type="http://schemas.openxmlformats.org/officeDocument/2006/relationships/slide" Target="/ppt/slides/slide4.xml" Id="Rab8d836646204c02" /><Relationship Type="http://schemas.openxmlformats.org/officeDocument/2006/relationships/slide" Target="/ppt/slides/slide5.xml" Id="R1ee7e52644424679" /><Relationship Type="http://schemas.openxmlformats.org/officeDocument/2006/relationships/slide" Target="/ppt/slides/slide6.xml" Id="R71ccfd68c3984f48" /><Relationship Type="http://schemas.openxmlformats.org/officeDocument/2006/relationships/slide" Target="/ppt/slides/slide7.xml" Id="R480d430a3f884e46" /><Relationship Type="http://schemas.openxmlformats.org/officeDocument/2006/relationships/slide" Target="/ppt/slides/slide8.xml" Id="Rf4de3bebee9f4e49" /><Relationship Type="http://schemas.openxmlformats.org/officeDocument/2006/relationships/slide" Target="/ppt/slides/slide9.xml" Id="R51ba949b79df4776" /><Relationship Type="http://schemas.openxmlformats.org/officeDocument/2006/relationships/slide" Target="/ppt/slides/slide10.xml" Id="R3b087e067dec4a68" /><Relationship Type="http://schemas.openxmlformats.org/officeDocument/2006/relationships/slide" Target="/ppt/slides/slide11.xml" Id="R7cfebc23fc664881" /><Relationship Type="http://schemas.openxmlformats.org/officeDocument/2006/relationships/slide" Target="/ppt/slides/slide12.xml" Id="R4feb41c81ab64a37" /><Relationship Type="http://schemas.openxmlformats.org/officeDocument/2006/relationships/slide" Target="/ppt/slides/slide13.xml" Id="Rbd4180f2fd854d86" /><Relationship Type="http://schemas.openxmlformats.org/officeDocument/2006/relationships/slide" Target="/ppt/slides/slide14.xml" Id="R553b749963584843" /><Relationship Type="http://schemas.openxmlformats.org/officeDocument/2006/relationships/slide" Target="/ppt/slides/slide15.xml" Id="R1ccfcec207fe41d8" /><Relationship Type="http://schemas.openxmlformats.org/officeDocument/2006/relationships/slide" Target="/ppt/slides/slide16.xml" Id="R6a4e330a5e2c41c1" /><Relationship Type="http://schemas.openxmlformats.org/officeDocument/2006/relationships/slide" Target="/ppt/slides/slide17.xml" Id="R3ae59dd417cc4be3" /><Relationship Type="http://schemas.openxmlformats.org/officeDocument/2006/relationships/slide" Target="/ppt/slides/slide18.xml" Id="R0652d87c12534cec" /><Relationship Type="http://schemas.openxmlformats.org/officeDocument/2006/relationships/slide" Target="/ppt/slides/slide19.xml" Id="R7b19528e6b864c24" /><Relationship Type="http://schemas.openxmlformats.org/officeDocument/2006/relationships/slide" Target="/ppt/slides/slide20.xml" Id="Ra87eefb124944957" /><Relationship Type="http://schemas.openxmlformats.org/officeDocument/2006/relationships/slide" Target="/ppt/slides/slide21.xml" Id="R20128b2ceaad4707" /><Relationship Type="http://schemas.openxmlformats.org/officeDocument/2006/relationships/slide" Target="/ppt/slides/slide22.xml" Id="R51895324f4774417" /><Relationship Type="http://schemas.openxmlformats.org/officeDocument/2006/relationships/slide" Target="/ppt/slides/slide23.xml" Id="R376a5ed66dac4505" /><Relationship Type="http://schemas.openxmlformats.org/officeDocument/2006/relationships/slide" Target="/ppt/slides/slide24.xml" Id="R22f21c3dba7340fe" /><Relationship Type="http://schemas.openxmlformats.org/officeDocument/2006/relationships/slide" Target="/ppt/slides/slide25.xml" Id="R0b4e1296ed3f415f" /><Relationship Type="http://schemas.openxmlformats.org/officeDocument/2006/relationships/slide" Target="/ppt/slides/slide26.xml" Id="R2f1041957b394190" /><Relationship Type="http://schemas.openxmlformats.org/officeDocument/2006/relationships/slide" Target="/ppt/slides/slide27.xml" Id="R4cd01328a7db4238" /><Relationship Type="http://schemas.openxmlformats.org/officeDocument/2006/relationships/slide" Target="/ppt/slides/slide28.xml" Id="R3e431797504043ed" /><Relationship Type="http://schemas.openxmlformats.org/officeDocument/2006/relationships/slide" Target="/ppt/slides/slide29.xml" Id="R051020efc10140e4" /><Relationship Type="http://schemas.openxmlformats.org/officeDocument/2006/relationships/slide" Target="/ppt/slides/slide30.xml" Id="R8684b5b46de540ee" /><Relationship Type="http://schemas.openxmlformats.org/officeDocument/2006/relationships/slide" Target="/ppt/slides/slide31.xml" Id="R908adb02c3d24ecd" /><Relationship Type="http://schemas.openxmlformats.org/officeDocument/2006/relationships/slide" Target="/ppt/slides/slide32.xml" Id="Rbf81fd8e2a654d88" /><Relationship Type="http://schemas.openxmlformats.org/officeDocument/2006/relationships/slide" Target="/ppt/slides/slide33.xml" Id="Ref755309ed6c4f2b" /><Relationship Type="http://schemas.openxmlformats.org/officeDocument/2006/relationships/slide" Target="/ppt/slides/slide34.xml" Id="Rc99f0ecbe6304150" /><Relationship Type="http://schemas.openxmlformats.org/officeDocument/2006/relationships/slide" Target="/ppt/slides/slide35.xml" Id="Rc0cd9a00c8ef4798" /><Relationship Type="http://schemas.openxmlformats.org/officeDocument/2006/relationships/slide" Target="/ppt/slides/slide36.xml" Id="R07df7489849b49b3" /><Relationship Type="http://schemas.openxmlformats.org/officeDocument/2006/relationships/slide" Target="/ppt/slides/slide37.xml" Id="R98f8bf8bf26c4b9c" /><Relationship Type="http://schemas.openxmlformats.org/officeDocument/2006/relationships/slide" Target="/ppt/slides/slide38.xml" Id="R4fda0c8a7bd94785" /><Relationship Type="http://schemas.openxmlformats.org/officeDocument/2006/relationships/slide" Target="/ppt/slides/slide39.xml" Id="R005d39f30faa4a43" /><Relationship Type="http://schemas.openxmlformats.org/officeDocument/2006/relationships/slide" Target="/ppt/slides/slide40.xml" Id="R60f66d7783b14f9b" /><Relationship Type="http://schemas.openxmlformats.org/officeDocument/2006/relationships/slide" Target="/ppt/slides/slide41.xml" Id="R76a45145490841f9" /><Relationship Type="http://schemas.openxmlformats.org/officeDocument/2006/relationships/slide" Target="/ppt/slides/slide42.xml" Id="R6b911e3282634dca" /><Relationship Type="http://schemas.openxmlformats.org/officeDocument/2006/relationships/slide" Target="/ppt/slides/slide43.xml" Id="Rfecf9d2352624b69" /><Relationship Type="http://schemas.openxmlformats.org/officeDocument/2006/relationships/slide" Target="/ppt/slides/slide44.xml" Id="R3b45db2fde6a4c8e" /><Relationship Type="http://schemas.openxmlformats.org/officeDocument/2006/relationships/slide" Target="/ppt/slides/slide45.xml" Id="R0912f54ec5764ed9" /><Relationship Type="http://schemas.openxmlformats.org/officeDocument/2006/relationships/slide" Target="/ppt/slides/slide46.xml" Id="R27ed161af43f43a6" /><Relationship Type="http://schemas.openxmlformats.org/officeDocument/2006/relationships/slide" Target="/ppt/slides/slide47.xml" Id="Rd0902428a37a4ca5" /><Relationship Type="http://schemas.openxmlformats.org/officeDocument/2006/relationships/slide" Target="/ppt/slides/slide48.xml" Id="R5ce72f923fda4243" /><Relationship Type="http://schemas.openxmlformats.org/officeDocument/2006/relationships/slide" Target="/ppt/slides/slide49.xml" Id="R6bafa15cb7b84d19" /></Relationships>
</file>

<file path=ppt/diagrams/v32_s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2Drawing2" minVer="http://schemas.openxmlformats.org/drawingml/2006/diagram"/>
    </a:ext>
  </dgm:extLst>
</dgm:dataModel>
</file>

<file path=ppt/diagrams/v32_s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_data1.xml><?xml version="1.0" encoding="utf-8"?>
<dgm:dataModel xmlns:dgm="http://schemas.openxmlformats.org/drawingml/2006/diagram" xmlns:a="http://schemas.openxmlformats.org/drawingml/2006/main">
  <dgm:ptLst>
    <dgm:pt modelId="{06DE8A2B-A371-4AB7-90B4-4467EB5CFE26}"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2447D55-9B02-40FC-BAF5-2EB248210AF8}">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Executive summary</a:t>
          </a:r>
        </a:p>
      </dgm:t>
    </dgm:pt>
    <dgm:pt modelId="{F6D600DB-B984-49E8-8230-A808ECCDD9F8}" type="parTrans" cxnId="{292BC1A6-4DC2-4985-9B30-0E964EFF5F64}">
      <dgm:prSet/>
      <dgm:spPr>
        <a:ln>
          <a:noFill/>
        </a:ln>
      </dgm:spPr>
    </dgm:pt>
    <dgm:pt modelId="{11C4D565-B8DB-4954-BBDD-7512E4A04EF2}" type="sibTrans" cxnId="{292BC1A6-4DC2-4985-9B30-0E964EFF5F64}">
      <dgm:prSet/>
      <dgm:spPr>
        <a:ln>
          <a:noFill/>
        </a:ln>
      </dgm:spPr>
    </dgm:pt>
    <dgm:pt modelId="{4B1EC208-E3C2-4554-87E4-D91132AA684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85032A1E-A1A4-45DA-BA78-3D5FB4AAD6B9}" type="parTrans" cxnId="{D900A994-AC71-4547-A585-02508C8425AD}">
      <dgm:prSet/>
      <dgm:spPr>
        <a:ln>
          <a:noFill/>
        </a:ln>
      </dgm:spPr>
    </dgm:pt>
    <dgm:pt modelId="{8D232671-4B6E-42BA-85B7-7503E7B181D1}" type="sibTrans" cxnId="{D900A994-AC71-4547-A585-02508C8425AD}">
      <dgm:prSet/>
      <dgm:spPr>
        <a:ln>
          <a:noFill/>
        </a:ln>
      </dgm:spPr>
    </dgm:pt>
    <dgm:pt modelId="{F5A393C7-D380-41FA-B4AF-F93E8D0CF881}">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9EEF8811-DDA6-4BE6-B82E-D1A5040428B9}" type="parTrans" cxnId="{DA9536F5-4489-4AC9-AF25-3A881DD0A23C}">
      <dgm:prSet/>
      <dgm:spPr>
        <a:ln>
          <a:noFill/>
        </a:ln>
      </dgm:spPr>
    </dgm:pt>
    <dgm:pt modelId="{C59DF04F-36F3-4584-95B9-593519A8EEF9}" type="sibTrans" cxnId="{DA9536F5-4489-4AC9-AF25-3A881DD0A23C}">
      <dgm:prSet/>
      <dgm:spPr>
        <a:ln>
          <a:noFill/>
        </a:ln>
      </dgm:spPr>
    </dgm:pt>
    <dgm:pt modelId="{03044390-CA6D-4DCA-8FA8-5AD035F0AE96}">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76ECDB76-A2D4-4332-8767-2031C7160B82}" type="parTrans" cxnId="{B6A8D2D1-852B-4A8F-A9B3-528AA936ABD7}">
      <dgm:prSet/>
      <dgm:spPr>
        <a:ln>
          <a:noFill/>
        </a:ln>
      </dgm:spPr>
    </dgm:pt>
    <dgm:pt modelId="{380BBBB4-201C-4156-A511-D034C388352C}" type="sibTrans" cxnId="{B6A8D2D1-852B-4A8F-A9B3-528AA936ABD7}">
      <dgm:prSet/>
      <dgm:spPr>
        <a:ln>
          <a:noFill/>
        </a:ln>
      </dgm:spPr>
    </dgm:pt>
    <dgm:pt modelId="{55AC4808-C1FA-4E58-9765-99C16695002F}" type="pres">
      <dgm:prSet presAssocID="{06DE8A2B-A371-4AB7-90B4-4467EB5CFE26}" presName="Name0" presStyleCnt="0">
        <dgm:presLayoutVars>
          <dgm:dir/>
          <dgm:animLvl val="lvl"/>
          <dgm:resizeHandles val="exact"/>
        </dgm:presLayoutVars>
      </dgm:prSet>
      <dgm:spPr>
        <a:ln>
          <a:noFill/>
        </a:ln>
      </dgm:spPr>
    </dgm:pt>
    <dgm:pt modelId="{FB490D9F-D232-444B-84A9-1F90A326E3CC}" type="pres">
      <dgm:prSet presAssocID="{02447D55-9B02-40FC-BAF5-2EB248210AF8}" presName="parTxOnly" presStyleLbl="node1" presStyleIdx="0" presStyleCnt="4">
        <dgm:presLayoutVars>
          <dgm:chMax val="0"/>
          <dgm:chPref val="0"/>
          <dgm:bulletEnabled val="1"/>
        </dgm:presLayoutVars>
      </dgm:prSet>
      <dgm:spPr>
        <a:ln>
          <a:noFill/>
        </a:ln>
      </dgm:spPr>
    </dgm:pt>
    <dgm:pt modelId="{A7401B36-21FD-452B-859D-C13C1D2F3CC6}" type="pres">
      <dgm:prSet presAssocID="{11C4D565-B8DB-4954-BBDD-7512E4A04EF2}" presName="parTxOnlySpace" presStyleCnt="0"/>
      <dgm:spPr>
        <a:ln>
          <a:noFill/>
        </a:ln>
      </dgm:spPr>
    </dgm:pt>
    <dgm:pt modelId="{CCF220CD-041D-463A-ABAB-54867BF84649}" type="pres">
      <dgm:prSet presAssocID="{4B1EC208-E3C2-4554-87E4-D91132AA684B}" presName="parTxOnly" presStyleLbl="node1" presStyleIdx="1" presStyleCnt="4">
        <dgm:presLayoutVars>
          <dgm:chMax val="0"/>
          <dgm:chPref val="0"/>
          <dgm:bulletEnabled val="1"/>
        </dgm:presLayoutVars>
      </dgm:prSet>
      <dgm:spPr>
        <a:ln>
          <a:noFill/>
        </a:ln>
      </dgm:spPr>
    </dgm:pt>
    <dgm:pt modelId="{1A8D38A3-70C1-474B-A8AC-0FE84517A371}" type="pres">
      <dgm:prSet presAssocID="{8D232671-4B6E-42BA-85B7-7503E7B181D1}" presName="parTxOnlySpace" presStyleCnt="0"/>
      <dgm:spPr>
        <a:ln>
          <a:noFill/>
        </a:ln>
      </dgm:spPr>
    </dgm:pt>
    <dgm:pt modelId="{F19C7174-B035-4453-8EBC-1B4075AE4C8D}" type="pres">
      <dgm:prSet presAssocID="{F5A393C7-D380-41FA-B4AF-F93E8D0CF881}" presName="parTxOnly" presStyleLbl="node1" presStyleIdx="2" presStyleCnt="4">
        <dgm:presLayoutVars>
          <dgm:chMax val="0"/>
          <dgm:chPref val="0"/>
          <dgm:bulletEnabled val="1"/>
        </dgm:presLayoutVars>
      </dgm:prSet>
      <dgm:spPr>
        <a:ln>
          <a:noFill/>
        </a:ln>
      </dgm:spPr>
    </dgm:pt>
    <dgm:pt modelId="{ABF607AF-ABAC-4D0F-A475-E7EBA406A6AF}" type="pres">
      <dgm:prSet presAssocID="{C59DF04F-36F3-4584-95B9-593519A8EEF9}" presName="parTxOnlySpace" presStyleCnt="0"/>
      <dgm:spPr>
        <a:ln>
          <a:noFill/>
        </a:ln>
      </dgm:spPr>
    </dgm:pt>
    <dgm:pt modelId="{4226169C-8DDB-42F5-831F-1C867C2D6E72}" type="pres">
      <dgm:prSet presAssocID="{03044390-CA6D-4DCA-8FA8-5AD035F0AE96}" presName="parTxOnly" presStyleLbl="node1" presStyleIdx="3" presStyleCnt="4">
        <dgm:presLayoutVars>
          <dgm:chMax val="0"/>
          <dgm:chPref val="0"/>
          <dgm:bulletEnabled val="1"/>
        </dgm:presLayoutVars>
      </dgm:prSet>
      <dgm:spPr>
        <a:ln>
          <a:noFill/>
        </a:ln>
      </dgm:spPr>
    </dgm:pt>
  </dgm:ptLst>
  <dgm:cxnLst>
    <dgm:cxn modelId="{DA7B5304-180A-47EB-BEF9-385DB91A038D}" type="presOf" srcId="{02447D55-9B02-40FC-BAF5-2EB248210AF8}" destId="{FB490D9F-D232-444B-84A9-1F90A326E3CC}" srcOrd="0" destOrd="0" presId="urn:microsoft.com/office/officeart/2005/8/layout/chevron1"/>
    <dgm:cxn modelId="{00E6AD35-B2A0-4BFA-BBB4-D15C1E4078ED}" type="presOf" srcId="{06DE8A2B-A371-4AB7-90B4-4467EB5CFE26}" destId="{55AC4808-C1FA-4E58-9765-99C16695002F}" srcOrd="0" destOrd="0" presId="urn:microsoft.com/office/officeart/2005/8/layout/chevron1"/>
    <dgm:cxn modelId="{17A0EF5A-F035-4D33-B383-48556F2DFE6A}" type="presOf" srcId="{4B1EC208-E3C2-4554-87E4-D91132AA684B}" destId="{CCF220CD-041D-463A-ABAB-54867BF84649}" srcOrd="0" destOrd="0" presId="urn:microsoft.com/office/officeart/2005/8/layout/chevron1"/>
    <dgm:cxn modelId="{D900A994-AC71-4547-A585-02508C8425AD}" srcId="{06DE8A2B-A371-4AB7-90B4-4467EB5CFE26}" destId="{4B1EC208-E3C2-4554-87E4-D91132AA684B}" srcOrd="1" destOrd="0" parTransId="{85032A1E-A1A4-45DA-BA78-3D5FB4AAD6B9}" sibTransId="{8D232671-4B6E-42BA-85B7-7503E7B181D1}"/>
    <dgm:cxn modelId="{292BC1A6-4DC2-4985-9B30-0E964EFF5F64}" srcId="{06DE8A2B-A371-4AB7-90B4-4467EB5CFE26}" destId="{02447D55-9B02-40FC-BAF5-2EB248210AF8}" srcOrd="0" destOrd="0" parTransId="{F6D600DB-B984-49E8-8230-A808ECCDD9F8}" sibTransId="{11C4D565-B8DB-4954-BBDD-7512E4A04EF2}"/>
    <dgm:cxn modelId="{B6A8D2D1-852B-4A8F-A9B3-528AA936ABD7}" srcId="{06DE8A2B-A371-4AB7-90B4-4467EB5CFE26}" destId="{03044390-CA6D-4DCA-8FA8-5AD035F0AE96}" srcOrd="3" destOrd="0" parTransId="{76ECDB76-A2D4-4332-8767-2031C7160B82}" sibTransId="{380BBBB4-201C-4156-A511-D034C388352C}"/>
    <dgm:cxn modelId="{BD805BE5-A082-4FA1-BB00-943CAA751BF6}" type="presOf" srcId="{F5A393C7-D380-41FA-B4AF-F93E8D0CF881}" destId="{F19C7174-B035-4453-8EBC-1B4075AE4C8D}" srcOrd="0" destOrd="0" presId="urn:microsoft.com/office/officeart/2005/8/layout/chevron1"/>
    <dgm:cxn modelId="{DA9536F5-4489-4AC9-AF25-3A881DD0A23C}" srcId="{06DE8A2B-A371-4AB7-90B4-4467EB5CFE26}" destId="{F5A393C7-D380-41FA-B4AF-F93E8D0CF881}" srcOrd="2" destOrd="0" parTransId="{9EEF8811-DDA6-4BE6-B82E-D1A5040428B9}" sibTransId="{C59DF04F-36F3-4584-95B9-593519A8EEF9}"/>
    <dgm:cxn modelId="{5B61FEFB-CFE8-48BD-A71D-D47F96BAD4A1}" type="presOf" srcId="{03044390-CA6D-4DCA-8FA8-5AD035F0AE96}" destId="{4226169C-8DDB-42F5-831F-1C867C2D6E72}" srcOrd="0" destOrd="0" presId="urn:microsoft.com/office/officeart/2005/8/layout/chevron1"/>
    <dgm:cxn modelId="{1352ACE6-F49F-4003-922A-070147C012B1}" type="presParOf" srcId="{55AC4808-C1FA-4E58-9765-99C16695002F}" destId="{FB490D9F-D232-444B-84A9-1F90A326E3CC}" srcOrd="0" destOrd="0" presId="urn:microsoft.com/office/officeart/2005/8/layout/chevron1"/>
    <dgm:cxn modelId="{1C17A09A-57EE-4548-AF39-6351DC4DE2E3}" type="presParOf" srcId="{55AC4808-C1FA-4E58-9765-99C16695002F}" destId="{A7401B36-21FD-452B-859D-C13C1D2F3CC6}" srcOrd="1" destOrd="0" presId="urn:microsoft.com/office/officeart/2005/8/layout/chevron1"/>
    <dgm:cxn modelId="{6D962CA6-E16D-4EE3-A73B-D49D25AC0D65}" type="presParOf" srcId="{55AC4808-C1FA-4E58-9765-99C16695002F}" destId="{CCF220CD-041D-463A-ABAB-54867BF84649}" srcOrd="2" destOrd="0" presId="urn:microsoft.com/office/officeart/2005/8/layout/chevron1"/>
    <dgm:cxn modelId="{16A48331-6BB0-4703-B8B8-AE2CEFBB4284}" type="presParOf" srcId="{55AC4808-C1FA-4E58-9765-99C16695002F}" destId="{1A8D38A3-70C1-474B-A8AC-0FE84517A371}" srcOrd="3" destOrd="0" presId="urn:microsoft.com/office/officeart/2005/8/layout/chevron1"/>
    <dgm:cxn modelId="{83FFF6B7-4710-4E2F-96C1-49BBDE8AC84F}" type="presParOf" srcId="{55AC4808-C1FA-4E58-9765-99C16695002F}" destId="{F19C7174-B035-4453-8EBC-1B4075AE4C8D}" srcOrd="4" destOrd="0" presId="urn:microsoft.com/office/officeart/2005/8/layout/chevron1"/>
    <dgm:cxn modelId="{530C610A-012C-4B43-859F-0A60A5DC1A2B}" type="presParOf" srcId="{55AC4808-C1FA-4E58-9765-99C16695002F}" destId="{ABF607AF-ABAC-4D0F-A475-E7EBA406A6AF}" srcOrd="5" destOrd="0" presId="urn:microsoft.com/office/officeart/2005/8/layout/chevron1"/>
    <dgm:cxn modelId="{40DBA209-52FC-4C84-91AB-58F88472ED68}" type="presParOf" srcId="{55AC4808-C1FA-4E58-9765-99C16695002F}" destId="{4226169C-8DDB-42F5-831F-1C867C2D6E72}" srcOrd="6" destOrd="0" presId="urn:microsoft.com/office/officeart/2005/8/layout/chevron1"/>
  </dgm:cxnLst>
  <dgm:bg/>
  <dgm:whole/>
  <dgm:extLst>
    <a:ext uri="http://schemas.microsoft.com/office/drawing/2008/diagram">
      <dsp:dataModelExt xmlns:dsp="http://schemas.microsoft.com/office/drawing/2008/diagram" relId="rIdV32Drawing3" minVer="http://schemas.openxmlformats.org/drawingml/2006/diagram"/>
    </a:ext>
  </dgm:extLst>
</dgm:dataModel>
</file>

<file path=ppt/diagrams/v32_s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90D9F-D232-444B-84A9-1F90A326E3CC}">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Executive summary</a:t>
          </a:r>
        </a:p>
      </dsp:txBody>
      <dsp:txXfrm>
        <a:off x="56693" y="0"/>
        <a:ext cx="2508656" cy="283464"/>
      </dsp:txXfrm>
    </dsp:sp>
    <dsp:sp modelId="{CCF220CD-041D-463A-ABAB-54867BF84649}">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F19C7174-B035-4453-8EBC-1B4075AE4C8D}">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4226169C-8DDB-42F5-831F-1C867C2D6E72}">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4" minVer="http://schemas.openxmlformats.org/drawingml/2006/diagram"/>
    </a:ext>
  </dgm:extLst>
</dgm:dataModel>
</file>

<file path=ppt/diagrams/v32_s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5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5" minVer="http://schemas.openxmlformats.org/drawingml/2006/diagram"/>
    </a:ext>
  </dgm:extLst>
</dgm:dataModel>
</file>

<file path=ppt/diagrams/v32_s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6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6" minVer="http://schemas.openxmlformats.org/drawingml/2006/diagram"/>
    </a:ext>
  </dgm:extLst>
</dgm:dataModel>
</file>

<file path=ppt/diagrams/v32_s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7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7" minVer="http://schemas.openxmlformats.org/drawingml/2006/diagram"/>
    </a:ext>
  </dgm:extLst>
</dgm:dataModel>
</file>

<file path=ppt/diagrams/v32_s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8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8" minVer="http://schemas.openxmlformats.org/drawingml/2006/diagram"/>
    </a:ext>
  </dgm:extLst>
</dgm:dataModel>
</file>

<file path=ppt/diagrams/v32_s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9_data1.xml><?xml version="1.0" encoding="utf-8"?>
<dgm:dataModel xmlns:dgm="http://schemas.openxmlformats.org/drawingml/2006/diagram" xmlns:a="http://schemas.openxmlformats.org/drawingml/2006/main">
  <dgm:ptLst>
    <dgm:pt modelId="{89EDD9F4-517A-423A-8062-52F906573F3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AC981AEB-3240-40F7-8BC7-3462D77E5EEF}">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B8BA5E-0640-44FB-AA31-9E7844B28449}" type="parTrans" cxnId="{24D59777-028E-451A-82DA-909A1AEC3027}">
      <dgm:prSet/>
      <dgm:spPr>
        <a:ln>
          <a:noFill/>
        </a:ln>
      </dgm:spPr>
    </dgm:pt>
    <dgm:pt modelId="{A9960062-BEFF-4C31-BFD0-6D440E5FE1E1}" type="sibTrans" cxnId="{24D59777-028E-451A-82DA-909A1AEC3027}">
      <dgm:prSet/>
      <dgm:spPr>
        <a:ln>
          <a:noFill/>
        </a:ln>
      </dgm:spPr>
    </dgm:pt>
    <dgm:pt modelId="{87F06D40-41DD-4A2F-9F9C-1ED0B44BA962}">
      <dgm:prSet phldrT="[Text]" custT="1"/>
      <dgm:spPr>
        <a:solidFill>
          <a:srgbClr val="0A2373"/>
        </a:solidFill>
        <a:ln>
          <a:noFill/>
        </a:ln>
      </dgm:spPr>
      <dgm:t>
        <a:bodyPr/>
        <a:lstStyle/>
        <a:p>
          <a:r>
            <a:rPr lang="en-ZA" sz="1050" b="1">
              <a:solidFill>
                <a:srgbClr val="FFFFFF"/>
              </a:solidFill>
              <a:latin typeface="Lato" panose="020F0502020204030203" pitchFamily="34" charset="0"/>
            </a:rPr>
            <a:t>Situation</a:t>
          </a:r>
        </a:p>
      </dgm:t>
    </dgm:pt>
    <dgm:pt modelId="{6FBBE429-3EA0-4B1D-A348-FCAA80388784}" type="parTrans" cxnId="{C7F0E118-69A9-4B8A-9E68-80201368D004}">
      <dgm:prSet/>
      <dgm:spPr>
        <a:ln>
          <a:noFill/>
        </a:ln>
      </dgm:spPr>
    </dgm:pt>
    <dgm:pt modelId="{664B6AAE-09E3-44FF-B508-272C0951CC9B}" type="sibTrans" cxnId="{C7F0E118-69A9-4B8A-9E68-80201368D004}">
      <dgm:prSet/>
      <dgm:spPr>
        <a:ln>
          <a:noFill/>
        </a:ln>
      </dgm:spPr>
    </dgm:pt>
    <dgm:pt modelId="{76DF3A45-5741-4BF8-90F1-4A7020D88F3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AA39D22C-D631-42B8-8A60-DABAE6EE922F}" type="parTrans" cxnId="{110A6484-7110-4C95-9B49-775F40941B1B}">
      <dgm:prSet/>
      <dgm:spPr>
        <a:ln>
          <a:noFill/>
        </a:ln>
      </dgm:spPr>
    </dgm:pt>
    <dgm:pt modelId="{046FAA88-BA00-4B76-992A-C499E3920AED}" type="sibTrans" cxnId="{110A6484-7110-4C95-9B49-775F40941B1B}">
      <dgm:prSet/>
      <dgm:spPr>
        <a:ln>
          <a:noFill/>
        </a:ln>
      </dgm:spPr>
    </dgm:pt>
    <dgm:pt modelId="{EC8A132B-7A37-405A-AE61-D0A4AC9C84D4}">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32CD99DD-DBD5-46DF-9738-9B2F36BDE0E4}" type="parTrans" cxnId="{B5EE44BA-904D-416F-8BB4-76FF1C1AF67F}">
      <dgm:prSet/>
      <dgm:spPr>
        <a:ln>
          <a:noFill/>
        </a:ln>
      </dgm:spPr>
    </dgm:pt>
    <dgm:pt modelId="{9CDDEC2B-949A-41B6-A712-E77569C8E717}" type="sibTrans" cxnId="{B5EE44BA-904D-416F-8BB4-76FF1C1AF67F}">
      <dgm:prSet/>
      <dgm:spPr>
        <a:ln>
          <a:noFill/>
        </a:ln>
      </dgm:spPr>
    </dgm:pt>
    <dgm:pt modelId="{15F593F2-40E2-4653-8025-677035C3DC9D}" type="pres">
      <dgm:prSet presAssocID="{89EDD9F4-517A-423A-8062-52F906573F35}" presName="Name0" presStyleCnt="0">
        <dgm:presLayoutVars>
          <dgm:dir/>
          <dgm:animLvl val="lvl"/>
          <dgm:resizeHandles val="exact"/>
        </dgm:presLayoutVars>
      </dgm:prSet>
      <dgm:spPr>
        <a:ln>
          <a:noFill/>
        </a:ln>
      </dgm:spPr>
    </dgm:pt>
    <dgm:pt modelId="{C4EF7803-CBF7-4F68-B5E2-A27214E782BF}" type="pres">
      <dgm:prSet presAssocID="{AC981AEB-3240-40F7-8BC7-3462D77E5EEF}" presName="parTxOnly" presStyleLbl="node1" presStyleIdx="0" presStyleCnt="4">
        <dgm:presLayoutVars>
          <dgm:chMax val="0"/>
          <dgm:chPref val="0"/>
          <dgm:bulletEnabled val="1"/>
        </dgm:presLayoutVars>
      </dgm:prSet>
      <dgm:spPr>
        <a:ln>
          <a:noFill/>
        </a:ln>
      </dgm:spPr>
    </dgm:pt>
    <dgm:pt modelId="{7F42B213-6EC2-4A7A-98EE-FD00CE627AC2}" type="pres">
      <dgm:prSet presAssocID="{A9960062-BEFF-4C31-BFD0-6D440E5FE1E1}" presName="parTxOnlySpace" presStyleCnt="0"/>
      <dgm:spPr>
        <a:ln>
          <a:noFill/>
        </a:ln>
      </dgm:spPr>
    </dgm:pt>
    <dgm:pt modelId="{C17A1487-1862-4A32-B801-89B618873E04}" type="pres">
      <dgm:prSet presAssocID="{87F06D40-41DD-4A2F-9F9C-1ED0B44BA962}" presName="parTxOnly" presStyleLbl="node1" presStyleIdx="1" presStyleCnt="4">
        <dgm:presLayoutVars>
          <dgm:chMax val="0"/>
          <dgm:chPref val="0"/>
          <dgm:bulletEnabled val="1"/>
        </dgm:presLayoutVars>
      </dgm:prSet>
      <dgm:spPr>
        <a:ln>
          <a:noFill/>
        </a:ln>
      </dgm:spPr>
    </dgm:pt>
    <dgm:pt modelId="{4C1C00FF-9A18-4423-93D0-E6C21EE159AE}" type="pres">
      <dgm:prSet presAssocID="{664B6AAE-09E3-44FF-B508-272C0951CC9B}" presName="parTxOnlySpace" presStyleCnt="0"/>
      <dgm:spPr>
        <a:ln>
          <a:noFill/>
        </a:ln>
      </dgm:spPr>
    </dgm:pt>
    <dgm:pt modelId="{9F404DEC-4EC8-4518-BE85-93B7692E5638}" type="pres">
      <dgm:prSet presAssocID="{76DF3A45-5741-4BF8-90F1-4A7020D88F3E}" presName="parTxOnly" presStyleLbl="node1" presStyleIdx="2" presStyleCnt="4">
        <dgm:presLayoutVars>
          <dgm:chMax val="0"/>
          <dgm:chPref val="0"/>
          <dgm:bulletEnabled val="1"/>
        </dgm:presLayoutVars>
      </dgm:prSet>
      <dgm:spPr>
        <a:ln>
          <a:noFill/>
        </a:ln>
      </dgm:spPr>
    </dgm:pt>
    <dgm:pt modelId="{4B4707A9-14D8-4951-8914-17DD9D9F43B5}" type="pres">
      <dgm:prSet presAssocID="{046FAA88-BA00-4B76-992A-C499E3920AED}" presName="parTxOnlySpace" presStyleCnt="0"/>
      <dgm:spPr>
        <a:ln>
          <a:noFill/>
        </a:ln>
      </dgm:spPr>
    </dgm:pt>
    <dgm:pt modelId="{E56216AE-4B62-49BF-B577-95F970D228C9}" type="pres">
      <dgm:prSet presAssocID="{EC8A132B-7A37-405A-AE61-D0A4AC9C84D4}" presName="parTxOnly" presStyleLbl="node1" presStyleIdx="3" presStyleCnt="4">
        <dgm:presLayoutVars>
          <dgm:chMax val="0"/>
          <dgm:chPref val="0"/>
          <dgm:bulletEnabled val="1"/>
        </dgm:presLayoutVars>
      </dgm:prSet>
      <dgm:spPr>
        <a:ln>
          <a:noFill/>
        </a:ln>
      </dgm:spPr>
    </dgm:pt>
  </dgm:ptLst>
  <dgm:cxnLst>
    <dgm:cxn modelId="{C7F0E118-69A9-4B8A-9E68-80201368D004}" srcId="{89EDD9F4-517A-423A-8062-52F906573F35}" destId="{87F06D40-41DD-4A2F-9F9C-1ED0B44BA962}" srcOrd="1" destOrd="0" parTransId="{6FBBE429-3EA0-4B1D-A348-FCAA80388784}" sibTransId="{664B6AAE-09E3-44FF-B508-272C0951CC9B}"/>
    <dgm:cxn modelId="{38C55C22-FD2D-45CC-9831-7470FFECD64E}" type="presOf" srcId="{89EDD9F4-517A-423A-8062-52F906573F35}" destId="{15F593F2-40E2-4653-8025-677035C3DC9D}" srcOrd="0" destOrd="0" presId="urn:microsoft.com/office/officeart/2005/8/layout/chevron1"/>
    <dgm:cxn modelId="{02074744-DBB7-4014-8363-60EC43DBA6CD}" type="presOf" srcId="{76DF3A45-5741-4BF8-90F1-4A7020D88F3E}" destId="{9F404DEC-4EC8-4518-BE85-93B7692E5638}" srcOrd="0" destOrd="0" presId="urn:microsoft.com/office/officeart/2005/8/layout/chevron1"/>
    <dgm:cxn modelId="{24D59777-028E-451A-82DA-909A1AEC3027}" srcId="{89EDD9F4-517A-423A-8062-52F906573F35}" destId="{AC981AEB-3240-40F7-8BC7-3462D77E5EEF}" srcOrd="0" destOrd="0" parTransId="{D0B8BA5E-0640-44FB-AA31-9E7844B28449}" sibTransId="{A9960062-BEFF-4C31-BFD0-6D440E5FE1E1}"/>
    <dgm:cxn modelId="{110A6484-7110-4C95-9B49-775F40941B1B}" srcId="{89EDD9F4-517A-423A-8062-52F906573F35}" destId="{76DF3A45-5741-4BF8-90F1-4A7020D88F3E}" srcOrd="2" destOrd="0" parTransId="{AA39D22C-D631-42B8-8A60-DABAE6EE922F}" sibTransId="{046FAA88-BA00-4B76-992A-C499E3920AED}"/>
    <dgm:cxn modelId="{B5EE44BA-904D-416F-8BB4-76FF1C1AF67F}" srcId="{89EDD9F4-517A-423A-8062-52F906573F35}" destId="{EC8A132B-7A37-405A-AE61-D0A4AC9C84D4}" srcOrd="3" destOrd="0" parTransId="{32CD99DD-DBD5-46DF-9738-9B2F36BDE0E4}" sibTransId="{9CDDEC2B-949A-41B6-A712-E77569C8E717}"/>
    <dgm:cxn modelId="{25C83AEB-7E6A-4811-811C-48DC57D32A63}" type="presOf" srcId="{AC981AEB-3240-40F7-8BC7-3462D77E5EEF}" destId="{C4EF7803-CBF7-4F68-B5E2-A27214E782BF}" srcOrd="0" destOrd="0" presId="urn:microsoft.com/office/officeart/2005/8/layout/chevron1"/>
    <dgm:cxn modelId="{C2106DF6-D6A2-49E4-BAFA-5D750DDEF7C3}" type="presOf" srcId="{EC8A132B-7A37-405A-AE61-D0A4AC9C84D4}" destId="{E56216AE-4B62-49BF-B577-95F970D228C9}" srcOrd="0" destOrd="0" presId="urn:microsoft.com/office/officeart/2005/8/layout/chevron1"/>
    <dgm:cxn modelId="{C8ED67F8-207C-47C2-85A0-36C82DA29F5A}" type="presOf" srcId="{87F06D40-41DD-4A2F-9F9C-1ED0B44BA962}" destId="{C17A1487-1862-4A32-B801-89B618873E04}" srcOrd="0" destOrd="0" presId="urn:microsoft.com/office/officeart/2005/8/layout/chevron1"/>
    <dgm:cxn modelId="{D0EFF3B6-E4F2-4B6D-A9D3-5680F8F7DDBC}" type="presParOf" srcId="{15F593F2-40E2-4653-8025-677035C3DC9D}" destId="{C4EF7803-CBF7-4F68-B5E2-A27214E782BF}" srcOrd="0" destOrd="0" presId="urn:microsoft.com/office/officeart/2005/8/layout/chevron1"/>
    <dgm:cxn modelId="{4DF86A96-FF9B-43FA-B523-DE662ABFEBFD}" type="presParOf" srcId="{15F593F2-40E2-4653-8025-677035C3DC9D}" destId="{7F42B213-6EC2-4A7A-98EE-FD00CE627AC2}" srcOrd="1" destOrd="0" presId="urn:microsoft.com/office/officeart/2005/8/layout/chevron1"/>
    <dgm:cxn modelId="{6ECCF7C3-0645-4626-A41E-BEE32AE1FD38}" type="presParOf" srcId="{15F593F2-40E2-4653-8025-677035C3DC9D}" destId="{C17A1487-1862-4A32-B801-89B618873E04}" srcOrd="2" destOrd="0" presId="urn:microsoft.com/office/officeart/2005/8/layout/chevron1"/>
    <dgm:cxn modelId="{E5B8DE1C-33F9-4E01-9629-46FA7E111D45}" type="presParOf" srcId="{15F593F2-40E2-4653-8025-677035C3DC9D}" destId="{4C1C00FF-9A18-4423-93D0-E6C21EE159AE}" srcOrd="3" destOrd="0" presId="urn:microsoft.com/office/officeart/2005/8/layout/chevron1"/>
    <dgm:cxn modelId="{51034CBE-7419-4500-8460-737D374B25E9}" type="presParOf" srcId="{15F593F2-40E2-4653-8025-677035C3DC9D}" destId="{9F404DEC-4EC8-4518-BE85-93B7692E5638}" srcOrd="4" destOrd="0" presId="urn:microsoft.com/office/officeart/2005/8/layout/chevron1"/>
    <dgm:cxn modelId="{5CF547D9-5245-4382-8157-6EC67EB041B9}" type="presParOf" srcId="{15F593F2-40E2-4653-8025-677035C3DC9D}" destId="{4B4707A9-14D8-4951-8914-17DD9D9F43B5}" srcOrd="5" destOrd="0" presId="urn:microsoft.com/office/officeart/2005/8/layout/chevron1"/>
    <dgm:cxn modelId="{C4DDF6FA-AEF9-483D-B368-FE146FCD804F}" type="presParOf" srcId="{15F593F2-40E2-4653-8025-677035C3DC9D}" destId="{E56216AE-4B62-49BF-B577-95F970D228C9}" srcOrd="6" destOrd="0" presId="urn:microsoft.com/office/officeart/2005/8/layout/chevron1"/>
  </dgm:cxnLst>
  <dgm:bg/>
  <dgm:whole/>
  <dgm:extLst>
    <a:ext uri="http://schemas.microsoft.com/office/drawing/2008/diagram">
      <dsp:dataModelExt xmlns:dsp="http://schemas.microsoft.com/office/drawing/2008/diagram" relId="rIdV32Drawing9" minVer="http://schemas.openxmlformats.org/drawingml/2006/diagram"/>
    </a:ext>
  </dgm:extLst>
</dgm:dataModel>
</file>

<file path=ppt/diagrams/v32_s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EF7803-CBF7-4F68-B5E2-A27214E782BF}">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C17A1487-1862-4A32-B801-89B618873E04}">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Situation</a:t>
          </a:r>
        </a:p>
      </dsp:txBody>
      <dsp:txXfrm>
        <a:off x="2733599" y="0"/>
        <a:ext cx="2508656" cy="283464"/>
      </dsp:txXfrm>
    </dsp:sp>
    <dsp:sp modelId="{9F404DEC-4EC8-4518-BE85-93B7692E5638}">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E56216AE-4B62-49BF-B577-95F970D228C9}">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0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0" minVer="http://schemas.openxmlformats.org/drawingml/2006/diagram"/>
    </a:ext>
  </dgm:extLst>
</dgm:dataModel>
</file>

<file path=ppt/diagrams/v32_s1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1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1" minVer="http://schemas.openxmlformats.org/drawingml/2006/diagram"/>
    </a:ext>
  </dgm:extLst>
</dgm:dataModel>
</file>

<file path=ppt/diagrams/v32_s1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2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2" minVer="http://schemas.openxmlformats.org/drawingml/2006/diagram"/>
    </a:ext>
  </dgm:extLst>
</dgm:dataModel>
</file>

<file path=ppt/diagrams/v32_s1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3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3" minVer="http://schemas.openxmlformats.org/drawingml/2006/diagram"/>
    </a:ext>
  </dgm:extLst>
</dgm:dataModel>
</file>

<file path=ppt/diagrams/v32_s1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4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4" minVer="http://schemas.openxmlformats.org/drawingml/2006/diagram"/>
    </a:ext>
  </dgm:extLst>
</dgm:dataModel>
</file>

<file path=ppt/diagrams/v32_s1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5_data1.xml><?xml version="1.0" encoding="utf-8"?>
<dgm:dataModel xmlns:dgm="http://schemas.openxmlformats.org/drawingml/2006/diagram" xmlns:a="http://schemas.openxmlformats.org/drawingml/2006/main">
  <dgm:ptLst>
    <dgm:pt modelId="{62FB6087-18D1-4D29-8D38-D69068CDCAA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D5012695-E636-436E-8E3E-60550BC3080E}">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D011BB17-273C-43A7-9534-7D6867EB323B}" type="parTrans" cxnId="{B5C4A2E6-F87E-4C30-B8FF-DA9D8274F805}">
      <dgm:prSet/>
      <dgm:spPr>
        <a:ln>
          <a:noFill/>
        </a:ln>
      </dgm:spPr>
    </dgm:pt>
    <dgm:pt modelId="{5A8C8C40-ED59-4A53-BBF4-00D4DDB77587}" type="sibTrans" cxnId="{B5C4A2E6-F87E-4C30-B8FF-DA9D8274F805}">
      <dgm:prSet/>
      <dgm:spPr>
        <a:ln>
          <a:noFill/>
        </a:ln>
      </dgm:spPr>
    </dgm:pt>
    <dgm:pt modelId="{66535F52-61D9-45C6-A6A4-51615B77690B}">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445B3268-3ED4-442B-8356-5972CB7E5BD9}" type="parTrans" cxnId="{E47AA7E2-1FAD-4FEC-AA84-3AA156AC703E}">
      <dgm:prSet/>
      <dgm:spPr>
        <a:ln>
          <a:noFill/>
        </a:ln>
      </dgm:spPr>
    </dgm:pt>
    <dgm:pt modelId="{4C48BA04-16AB-426D-9FF7-5B3917EEC521}" type="sibTrans" cxnId="{E47AA7E2-1FAD-4FEC-AA84-3AA156AC703E}">
      <dgm:prSet/>
      <dgm:spPr>
        <a:ln>
          <a:noFill/>
        </a:ln>
      </dgm:spPr>
    </dgm:pt>
    <dgm:pt modelId="{8FC3E99C-7BCE-40A0-B316-2E0BBFF2573F}">
      <dgm:prSet phldrT="[Text]" custT="1"/>
      <dgm:spPr>
        <a:solidFill>
          <a:srgbClr val="0A2373"/>
        </a:solidFill>
        <a:ln>
          <a:noFill/>
        </a:ln>
      </dgm:spPr>
      <dgm:t>
        <a:bodyPr/>
        <a:lstStyle/>
        <a:p>
          <a:r>
            <a:rPr lang="en-ZA" sz="1050" b="1">
              <a:solidFill>
                <a:srgbClr val="FFFFFF"/>
              </a:solidFill>
              <a:latin typeface="Lato" panose="020F0502020204030203" pitchFamily="34" charset="0"/>
            </a:rPr>
            <a:t>Complication</a:t>
          </a:r>
        </a:p>
      </dgm:t>
    </dgm:pt>
    <dgm:pt modelId="{EE417929-F4EB-484C-B448-8FB7F6FAA560}" type="parTrans" cxnId="{60C38AB2-83D2-4382-8B8B-D0B73A2D5C3E}">
      <dgm:prSet/>
      <dgm:spPr>
        <a:ln>
          <a:noFill/>
        </a:ln>
      </dgm:spPr>
    </dgm:pt>
    <dgm:pt modelId="{28CC5E52-56CA-4ED8-9E57-361314D7E4E7}" type="sibTrans" cxnId="{60C38AB2-83D2-4382-8B8B-D0B73A2D5C3E}">
      <dgm:prSet/>
      <dgm:spPr>
        <a:ln>
          <a:noFill/>
        </a:ln>
      </dgm:spPr>
    </dgm:pt>
    <dgm:pt modelId="{78F4C9A7-4E95-49A6-8310-38E561C483BA}">
      <dgm:prSet phldrT="[Text]" custT="1"/>
      <dgm:spPr>
        <a:solidFill>
          <a:srgbClr val="F5F5F5"/>
        </a:solidFill>
        <a:ln>
          <a:noFill/>
        </a:ln>
      </dgm:spPr>
      <dgm:t>
        <a:bodyPr/>
        <a:lstStyle/>
        <a:p>
          <a:r>
            <a:rPr lang="en-ZA" sz="1050" b="0">
              <a:solidFill>
                <a:srgbClr val="0A2373"/>
              </a:solidFill>
              <a:latin typeface="Lato" panose="020F0502020204030203" pitchFamily="34" charset="0"/>
            </a:rPr>
            <a:t>Resolution</a:t>
          </a:r>
        </a:p>
      </dgm:t>
    </dgm:pt>
    <dgm:pt modelId="{1A4C9B87-5E60-4AF8-90DD-5092BDC56D0A}" type="parTrans" cxnId="{CE83A0D4-461A-4608-ACF2-4D983D460C8B}">
      <dgm:prSet/>
      <dgm:spPr>
        <a:ln>
          <a:noFill/>
        </a:ln>
      </dgm:spPr>
    </dgm:pt>
    <dgm:pt modelId="{16161CE9-EF96-438E-8D2F-6C98A6668D83}" type="sibTrans" cxnId="{CE83A0D4-461A-4608-ACF2-4D983D460C8B}">
      <dgm:prSet/>
      <dgm:spPr>
        <a:ln>
          <a:noFill/>
        </a:ln>
      </dgm:spPr>
    </dgm:pt>
    <dgm:pt modelId="{19B0610F-282C-4322-866B-0055FAF46627}" type="pres">
      <dgm:prSet presAssocID="{62FB6087-18D1-4D29-8D38-D69068CDCAA1}" presName="Name0" presStyleCnt="0">
        <dgm:presLayoutVars>
          <dgm:dir/>
          <dgm:animLvl val="lvl"/>
          <dgm:resizeHandles val="exact"/>
        </dgm:presLayoutVars>
      </dgm:prSet>
      <dgm:spPr>
        <a:ln>
          <a:noFill/>
        </a:ln>
      </dgm:spPr>
    </dgm:pt>
    <dgm:pt modelId="{54D1D34D-643C-499A-B330-F91526D1DBE8}" type="pres">
      <dgm:prSet presAssocID="{D5012695-E636-436E-8E3E-60550BC3080E}" presName="parTxOnly" presStyleLbl="node1" presStyleIdx="0" presStyleCnt="4">
        <dgm:presLayoutVars>
          <dgm:chMax val="0"/>
          <dgm:chPref val="0"/>
          <dgm:bulletEnabled val="1"/>
        </dgm:presLayoutVars>
      </dgm:prSet>
      <dgm:spPr>
        <a:ln>
          <a:noFill/>
        </a:ln>
      </dgm:spPr>
    </dgm:pt>
    <dgm:pt modelId="{4B66681B-9D4C-436C-87BB-82E64E68F6C8}" type="pres">
      <dgm:prSet presAssocID="{5A8C8C40-ED59-4A53-BBF4-00D4DDB77587}" presName="parTxOnlySpace" presStyleCnt="0"/>
      <dgm:spPr>
        <a:ln>
          <a:noFill/>
        </a:ln>
      </dgm:spPr>
    </dgm:pt>
    <dgm:pt modelId="{6636E125-B383-4A9D-B027-3EFC54D58BB6}" type="pres">
      <dgm:prSet presAssocID="{66535F52-61D9-45C6-A6A4-51615B77690B}" presName="parTxOnly" presStyleLbl="node1" presStyleIdx="1" presStyleCnt="4">
        <dgm:presLayoutVars>
          <dgm:chMax val="0"/>
          <dgm:chPref val="0"/>
          <dgm:bulletEnabled val="1"/>
        </dgm:presLayoutVars>
      </dgm:prSet>
      <dgm:spPr>
        <a:ln>
          <a:noFill/>
        </a:ln>
      </dgm:spPr>
    </dgm:pt>
    <dgm:pt modelId="{B7D1B483-87CF-4091-8E45-AEF05E32D037}" type="pres">
      <dgm:prSet presAssocID="{4C48BA04-16AB-426D-9FF7-5B3917EEC521}" presName="parTxOnlySpace" presStyleCnt="0"/>
      <dgm:spPr>
        <a:ln>
          <a:noFill/>
        </a:ln>
      </dgm:spPr>
    </dgm:pt>
    <dgm:pt modelId="{EC812F4D-EF66-448A-B027-679DD9AEE63D}" type="pres">
      <dgm:prSet presAssocID="{8FC3E99C-7BCE-40A0-B316-2E0BBFF2573F}" presName="parTxOnly" presStyleLbl="node1" presStyleIdx="2" presStyleCnt="4">
        <dgm:presLayoutVars>
          <dgm:chMax val="0"/>
          <dgm:chPref val="0"/>
          <dgm:bulletEnabled val="1"/>
        </dgm:presLayoutVars>
      </dgm:prSet>
      <dgm:spPr>
        <a:ln>
          <a:noFill/>
        </a:ln>
      </dgm:spPr>
    </dgm:pt>
    <dgm:pt modelId="{AA5BB0A8-BEB9-4A1C-ADF5-7F8122850824}" type="pres">
      <dgm:prSet presAssocID="{28CC5E52-56CA-4ED8-9E57-361314D7E4E7}" presName="parTxOnlySpace" presStyleCnt="0"/>
      <dgm:spPr>
        <a:ln>
          <a:noFill/>
        </a:ln>
      </dgm:spPr>
    </dgm:pt>
    <dgm:pt modelId="{4BCE8E4B-4C6F-4AB8-BA87-94EBADC2C5D0}" type="pres">
      <dgm:prSet presAssocID="{78F4C9A7-4E95-49A6-8310-38E561C483BA}" presName="parTxOnly" presStyleLbl="node1" presStyleIdx="3" presStyleCnt="4">
        <dgm:presLayoutVars>
          <dgm:chMax val="0"/>
          <dgm:chPref val="0"/>
          <dgm:bulletEnabled val="1"/>
        </dgm:presLayoutVars>
      </dgm:prSet>
      <dgm:spPr>
        <a:ln>
          <a:noFill/>
        </a:ln>
      </dgm:spPr>
    </dgm:pt>
  </dgm:ptLst>
  <dgm:cxnLst>
    <dgm:cxn modelId="{55783121-B2C6-4347-969B-6E2E8594B33B}" type="presOf" srcId="{62FB6087-18D1-4D29-8D38-D69068CDCAA1}" destId="{19B0610F-282C-4322-866B-0055FAF46627}" srcOrd="0" destOrd="0" presId="urn:microsoft.com/office/officeart/2005/8/layout/chevron1"/>
    <dgm:cxn modelId="{AC4F6029-1BF4-47CB-8BA5-680A584F2DDF}" type="presOf" srcId="{D5012695-E636-436E-8E3E-60550BC3080E}" destId="{54D1D34D-643C-499A-B330-F91526D1DBE8}" srcOrd="0" destOrd="0" presId="urn:microsoft.com/office/officeart/2005/8/layout/chevron1"/>
    <dgm:cxn modelId="{6B6CE272-F2F3-4936-B001-E499C3B681C4}" type="presOf" srcId="{8FC3E99C-7BCE-40A0-B316-2E0BBFF2573F}" destId="{EC812F4D-EF66-448A-B027-679DD9AEE63D}" srcOrd="0" destOrd="0" presId="urn:microsoft.com/office/officeart/2005/8/layout/chevron1"/>
    <dgm:cxn modelId="{33E33F55-80EC-484E-A613-EF53AA13C72A}" type="presOf" srcId="{66535F52-61D9-45C6-A6A4-51615B77690B}" destId="{6636E125-B383-4A9D-B027-3EFC54D58BB6}" srcOrd="0" destOrd="0" presId="urn:microsoft.com/office/officeart/2005/8/layout/chevron1"/>
    <dgm:cxn modelId="{5A1E9998-D021-48E7-9F22-4B7E9E7C1B1C}" type="presOf" srcId="{78F4C9A7-4E95-49A6-8310-38E561C483BA}" destId="{4BCE8E4B-4C6F-4AB8-BA87-94EBADC2C5D0}" srcOrd="0" destOrd="0" presId="urn:microsoft.com/office/officeart/2005/8/layout/chevron1"/>
    <dgm:cxn modelId="{60C38AB2-83D2-4382-8B8B-D0B73A2D5C3E}" srcId="{62FB6087-18D1-4D29-8D38-D69068CDCAA1}" destId="{8FC3E99C-7BCE-40A0-B316-2E0BBFF2573F}" srcOrd="2" destOrd="0" parTransId="{EE417929-F4EB-484C-B448-8FB7F6FAA560}" sibTransId="{28CC5E52-56CA-4ED8-9E57-361314D7E4E7}"/>
    <dgm:cxn modelId="{CE83A0D4-461A-4608-ACF2-4D983D460C8B}" srcId="{62FB6087-18D1-4D29-8D38-D69068CDCAA1}" destId="{78F4C9A7-4E95-49A6-8310-38E561C483BA}" srcOrd="3" destOrd="0" parTransId="{1A4C9B87-5E60-4AF8-90DD-5092BDC56D0A}" sibTransId="{16161CE9-EF96-438E-8D2F-6C98A6668D83}"/>
    <dgm:cxn modelId="{E47AA7E2-1FAD-4FEC-AA84-3AA156AC703E}" srcId="{62FB6087-18D1-4D29-8D38-D69068CDCAA1}" destId="{66535F52-61D9-45C6-A6A4-51615B77690B}" srcOrd="1" destOrd="0" parTransId="{445B3268-3ED4-442B-8356-5972CB7E5BD9}" sibTransId="{4C48BA04-16AB-426D-9FF7-5B3917EEC521}"/>
    <dgm:cxn modelId="{B5C4A2E6-F87E-4C30-B8FF-DA9D8274F805}" srcId="{62FB6087-18D1-4D29-8D38-D69068CDCAA1}" destId="{D5012695-E636-436E-8E3E-60550BC3080E}" srcOrd="0" destOrd="0" parTransId="{D011BB17-273C-43A7-9534-7D6867EB323B}" sibTransId="{5A8C8C40-ED59-4A53-BBF4-00D4DDB77587}"/>
    <dgm:cxn modelId="{9DDA5030-F4D5-4F60-81FE-17C64614F518}" type="presParOf" srcId="{19B0610F-282C-4322-866B-0055FAF46627}" destId="{54D1D34D-643C-499A-B330-F91526D1DBE8}" srcOrd="0" destOrd="0" presId="urn:microsoft.com/office/officeart/2005/8/layout/chevron1"/>
    <dgm:cxn modelId="{C8ED28C5-1DD9-4885-840B-086B2A7EB6BC}" type="presParOf" srcId="{19B0610F-282C-4322-866B-0055FAF46627}" destId="{4B66681B-9D4C-436C-87BB-82E64E68F6C8}" srcOrd="1" destOrd="0" presId="urn:microsoft.com/office/officeart/2005/8/layout/chevron1"/>
    <dgm:cxn modelId="{032CB6FE-5464-43D9-9665-77F40DBF7861}" type="presParOf" srcId="{19B0610F-282C-4322-866B-0055FAF46627}" destId="{6636E125-B383-4A9D-B027-3EFC54D58BB6}" srcOrd="2" destOrd="0" presId="urn:microsoft.com/office/officeart/2005/8/layout/chevron1"/>
    <dgm:cxn modelId="{79F4CB33-4866-48D9-9DC6-0390A47EA9E6}" type="presParOf" srcId="{19B0610F-282C-4322-866B-0055FAF46627}" destId="{B7D1B483-87CF-4091-8E45-AEF05E32D037}" srcOrd="3" destOrd="0" presId="urn:microsoft.com/office/officeart/2005/8/layout/chevron1"/>
    <dgm:cxn modelId="{AF7401B2-4231-4570-8711-83F5617B87E6}" type="presParOf" srcId="{19B0610F-282C-4322-866B-0055FAF46627}" destId="{EC812F4D-EF66-448A-B027-679DD9AEE63D}" srcOrd="4" destOrd="0" presId="urn:microsoft.com/office/officeart/2005/8/layout/chevron1"/>
    <dgm:cxn modelId="{DD643616-A114-43CF-8265-2475291604A2}" type="presParOf" srcId="{19B0610F-282C-4322-866B-0055FAF46627}" destId="{AA5BB0A8-BEB9-4A1C-ADF5-7F8122850824}" srcOrd="5" destOrd="0" presId="urn:microsoft.com/office/officeart/2005/8/layout/chevron1"/>
    <dgm:cxn modelId="{03454C2C-BB9D-46BA-B390-3C3B24C9F4BC}" type="presParOf" srcId="{19B0610F-282C-4322-866B-0055FAF46627}" destId="{4BCE8E4B-4C6F-4AB8-BA87-94EBADC2C5D0}" srcOrd="6" destOrd="0" presId="urn:microsoft.com/office/officeart/2005/8/layout/chevron1"/>
  </dgm:cxnLst>
  <dgm:bg/>
  <dgm:whole/>
  <dgm:extLst>
    <a:ext uri="http://schemas.microsoft.com/office/drawing/2008/diagram">
      <dsp:dataModelExt xmlns:dsp="http://schemas.microsoft.com/office/drawing/2008/diagram" relId="rIdV32Drawing15" minVer="http://schemas.openxmlformats.org/drawingml/2006/diagram"/>
    </a:ext>
  </dgm:extLst>
</dgm:dataModel>
</file>

<file path=ppt/diagrams/v32_s1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1D34D-643C-499A-B330-F91526D1DBE8}">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6636E125-B383-4A9D-B027-3EFC54D58BB6}">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EC812F4D-EF66-448A-B027-679DD9AEE63D}">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Complication</a:t>
          </a:r>
        </a:p>
      </dsp:txBody>
      <dsp:txXfrm>
        <a:off x="5410505" y="0"/>
        <a:ext cx="2508656" cy="283464"/>
      </dsp:txXfrm>
    </dsp:sp>
    <dsp:sp modelId="{4BCE8E4B-4C6F-4AB8-BA87-94EBADC2C5D0}">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Resolution</a:t>
          </a:r>
        </a:p>
      </dsp:txBody>
      <dsp:txXfrm>
        <a:off x="8087411" y="0"/>
        <a:ext cx="2508656" cy="283464"/>
      </dsp:txXfrm>
    </dsp:sp>
  </dsp:spTree>
</dsp:drawing>
</file>

<file path=ppt/diagrams/v32_s1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6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6" minVer="http://schemas.openxmlformats.org/drawingml/2006/diagram"/>
    </a:ext>
  </dgm:extLst>
</dgm:dataModel>
</file>

<file path=ppt/diagrams/v32_s1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7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7" minVer="http://schemas.openxmlformats.org/drawingml/2006/diagram"/>
    </a:ext>
  </dgm:extLst>
</dgm:dataModel>
</file>

<file path=ppt/diagrams/v32_s1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8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8" minVer="http://schemas.openxmlformats.org/drawingml/2006/diagram"/>
    </a:ext>
  </dgm:extLst>
</dgm:dataModel>
</file>

<file path=ppt/diagrams/v32_s1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1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19_data1.xml><?xml version="1.0" encoding="utf-8"?>
<dgm:dataModel xmlns:dgm="http://schemas.openxmlformats.org/drawingml/2006/diagram" xmlns:a="http://schemas.openxmlformats.org/drawingml/2006/main">
  <dgm:ptLst>
    <dgm:pt modelId="{5CEF05A0-8592-4E19-B534-CF8DA92D5C85}"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09E83A0D-6FEF-41DF-A1A8-06E9FFC85F71}">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Executive summary</a:t>
          </a:r>
        </a:p>
      </dgm:t>
    </dgm:pt>
    <dgm:pt modelId="{FFD59D49-A026-4E00-87EA-187DB5D6A066}" type="parTrans" cxnId="{307E2D55-0313-446A-83D1-63117C21C296}">
      <dgm:prSet/>
      <dgm:spPr>
        <a:ln>
          <a:noFill/>
        </a:ln>
      </dgm:spPr>
    </dgm:pt>
    <dgm:pt modelId="{36CCA29F-F965-4645-9D7F-1EDA4C75E57E}" type="sibTrans" cxnId="{307E2D55-0313-446A-83D1-63117C21C296}">
      <dgm:prSet/>
      <dgm:spPr>
        <a:ln>
          <a:noFill/>
        </a:ln>
      </dgm:spPr>
    </dgm:pt>
    <dgm:pt modelId="{D400241C-DEAF-4E77-A8FB-95CBA722C5BF}">
      <dgm:prSet phldrT="[Text]" custT="1"/>
      <dgm:spPr>
        <a:solidFill>
          <a:srgbClr val="F5F5F5"/>
        </a:solidFill>
        <a:ln>
          <a:noFill/>
        </a:ln>
      </dgm:spPr>
      <dgm:t>
        <a:bodyPr/>
        <a:lstStyle/>
        <a:p>
          <a:r>
            <a:rPr lang="en-ZA" sz="1050" b="0">
              <a:solidFill>
                <a:srgbClr val="0A2373"/>
              </a:solidFill>
              <a:latin typeface="Lato" panose="020F0502020204030203" pitchFamily="34" charset="0"/>
            </a:rPr>
            <a:t>Situation</a:t>
          </a:r>
        </a:p>
      </dgm:t>
    </dgm:pt>
    <dgm:pt modelId="{926D2AE0-ECB9-48CF-AB6F-BD18F9C28779}" type="parTrans" cxnId="{EB33419B-0263-433C-9BC9-665F9D4DD10F}">
      <dgm:prSet/>
      <dgm:spPr>
        <a:ln>
          <a:noFill/>
        </a:ln>
      </dgm:spPr>
    </dgm:pt>
    <dgm:pt modelId="{55CA4814-D433-4485-9603-A24EF1C3B8F7}" type="sibTrans" cxnId="{EB33419B-0263-433C-9BC9-665F9D4DD10F}">
      <dgm:prSet/>
      <dgm:spPr>
        <a:ln>
          <a:noFill/>
        </a:ln>
      </dgm:spPr>
    </dgm:pt>
    <dgm:pt modelId="{EFC05841-292D-4BFD-B586-9DB1A0F0999E}">
      <dgm:prSet phldrT="[Text]" custT="1"/>
      <dgm:spPr>
        <a:solidFill>
          <a:srgbClr val="F5F5F5"/>
        </a:solidFill>
        <a:ln>
          <a:noFill/>
        </a:ln>
      </dgm:spPr>
      <dgm:t>
        <a:bodyPr/>
        <a:lstStyle/>
        <a:p>
          <a:r>
            <a:rPr lang="en-ZA" sz="1050" b="0">
              <a:solidFill>
                <a:srgbClr val="0A2373"/>
              </a:solidFill>
              <a:latin typeface="Lato" panose="020F0502020204030203" pitchFamily="34" charset="0"/>
            </a:rPr>
            <a:t>Complication</a:t>
          </a:r>
        </a:p>
      </dgm:t>
    </dgm:pt>
    <dgm:pt modelId="{6BEBE1E2-7ADD-46DB-A390-E1FE68A19EE5}" type="parTrans" cxnId="{20E123D7-F393-4E76-84F8-B897C6CC5ADB}">
      <dgm:prSet/>
      <dgm:spPr>
        <a:ln>
          <a:noFill/>
        </a:ln>
      </dgm:spPr>
    </dgm:pt>
    <dgm:pt modelId="{EB0BFDBB-37BC-44A5-9757-FDC45C28EECB}" type="sibTrans" cxnId="{20E123D7-F393-4E76-84F8-B897C6CC5ADB}">
      <dgm:prSet/>
      <dgm:spPr>
        <a:ln>
          <a:noFill/>
        </a:ln>
      </dgm:spPr>
    </dgm:pt>
    <dgm:pt modelId="{845485CC-7F42-4E91-A00B-AD1808266A59}">
      <dgm:prSet phldrT="[Text]" custT="1"/>
      <dgm:spPr>
        <a:solidFill>
          <a:srgbClr val="0A2373"/>
        </a:solidFill>
        <a:ln>
          <a:noFill/>
        </a:ln>
      </dgm:spPr>
      <dgm:t>
        <a:bodyPr/>
        <a:lstStyle/>
        <a:p>
          <a:r>
            <a:rPr lang="en-ZA" sz="1050" b="1">
              <a:solidFill>
                <a:srgbClr val="FFFFFF"/>
              </a:solidFill>
              <a:latin typeface="Lato" panose="020F0502020204030203" pitchFamily="34" charset="0"/>
            </a:rPr>
            <a:t>Resolution</a:t>
          </a:r>
        </a:p>
      </dgm:t>
    </dgm:pt>
    <dgm:pt modelId="{E396826C-359F-461F-B222-F959C3793F61}" type="parTrans" cxnId="{4BD81A2D-98E6-4436-8D1C-4401C7EA7C2E}">
      <dgm:prSet/>
      <dgm:spPr>
        <a:ln>
          <a:noFill/>
        </a:ln>
      </dgm:spPr>
    </dgm:pt>
    <dgm:pt modelId="{89E51C20-2D62-4186-8997-F2A21022C6CF}" type="sibTrans" cxnId="{4BD81A2D-98E6-4436-8D1C-4401C7EA7C2E}">
      <dgm:prSet/>
      <dgm:spPr>
        <a:ln>
          <a:noFill/>
        </a:ln>
      </dgm:spPr>
    </dgm:pt>
    <dgm:pt modelId="{AFDF9144-0890-4741-9012-683715D91BA8}" type="pres">
      <dgm:prSet presAssocID="{5CEF05A0-8592-4E19-B534-CF8DA92D5C85}" presName="Name0" presStyleCnt="0">
        <dgm:presLayoutVars>
          <dgm:dir/>
          <dgm:animLvl val="lvl"/>
          <dgm:resizeHandles val="exact"/>
        </dgm:presLayoutVars>
      </dgm:prSet>
      <dgm:spPr>
        <a:ln>
          <a:noFill/>
        </a:ln>
      </dgm:spPr>
    </dgm:pt>
    <dgm:pt modelId="{E9EC313E-C07D-4024-9AF7-7BAA82F22646}" type="pres">
      <dgm:prSet presAssocID="{09E83A0D-6FEF-41DF-A1A8-06E9FFC85F71}" presName="parTxOnly" presStyleLbl="node1" presStyleIdx="0" presStyleCnt="4">
        <dgm:presLayoutVars>
          <dgm:chMax val="0"/>
          <dgm:chPref val="0"/>
          <dgm:bulletEnabled val="1"/>
        </dgm:presLayoutVars>
      </dgm:prSet>
      <dgm:spPr>
        <a:ln>
          <a:noFill/>
        </a:ln>
      </dgm:spPr>
    </dgm:pt>
    <dgm:pt modelId="{1254BCE1-0659-4C9C-A343-41153979CEE1}" type="pres">
      <dgm:prSet presAssocID="{36CCA29F-F965-4645-9D7F-1EDA4C75E57E}" presName="parTxOnlySpace" presStyleCnt="0"/>
      <dgm:spPr>
        <a:ln>
          <a:noFill/>
        </a:ln>
      </dgm:spPr>
    </dgm:pt>
    <dgm:pt modelId="{4F9DEA38-A8FA-418A-B139-308095C75DE5}" type="pres">
      <dgm:prSet presAssocID="{D400241C-DEAF-4E77-A8FB-95CBA722C5BF}" presName="parTxOnly" presStyleLbl="node1" presStyleIdx="1" presStyleCnt="4">
        <dgm:presLayoutVars>
          <dgm:chMax val="0"/>
          <dgm:chPref val="0"/>
          <dgm:bulletEnabled val="1"/>
        </dgm:presLayoutVars>
      </dgm:prSet>
      <dgm:spPr>
        <a:ln>
          <a:noFill/>
        </a:ln>
      </dgm:spPr>
    </dgm:pt>
    <dgm:pt modelId="{F32AF327-A8A7-42ED-9A3A-FD065AEF35CC}" type="pres">
      <dgm:prSet presAssocID="{55CA4814-D433-4485-9603-A24EF1C3B8F7}" presName="parTxOnlySpace" presStyleCnt="0"/>
      <dgm:spPr>
        <a:ln>
          <a:noFill/>
        </a:ln>
      </dgm:spPr>
    </dgm:pt>
    <dgm:pt modelId="{DB2DC495-4888-4FB0-8E56-94B7ED74FA00}" type="pres">
      <dgm:prSet presAssocID="{EFC05841-292D-4BFD-B586-9DB1A0F0999E}" presName="parTxOnly" presStyleLbl="node1" presStyleIdx="2" presStyleCnt="4">
        <dgm:presLayoutVars>
          <dgm:chMax val="0"/>
          <dgm:chPref val="0"/>
          <dgm:bulletEnabled val="1"/>
        </dgm:presLayoutVars>
      </dgm:prSet>
      <dgm:spPr>
        <a:ln>
          <a:noFill/>
        </a:ln>
      </dgm:spPr>
    </dgm:pt>
    <dgm:pt modelId="{3128D3E7-1249-4292-B711-881F04FEB888}" type="pres">
      <dgm:prSet presAssocID="{EB0BFDBB-37BC-44A5-9757-FDC45C28EECB}" presName="parTxOnlySpace" presStyleCnt="0"/>
      <dgm:spPr>
        <a:ln>
          <a:noFill/>
        </a:ln>
      </dgm:spPr>
    </dgm:pt>
    <dgm:pt modelId="{89AA18CC-6C77-44F3-85A7-38695F314F32}" type="pres">
      <dgm:prSet presAssocID="{845485CC-7F42-4E91-A00B-AD1808266A59}" presName="parTxOnly" presStyleLbl="node1" presStyleIdx="3" presStyleCnt="4">
        <dgm:presLayoutVars>
          <dgm:chMax val="0"/>
          <dgm:chPref val="0"/>
          <dgm:bulletEnabled val="1"/>
        </dgm:presLayoutVars>
      </dgm:prSet>
      <dgm:spPr>
        <a:ln>
          <a:noFill/>
        </a:ln>
      </dgm:spPr>
    </dgm:pt>
  </dgm:ptLst>
  <dgm:cxnLst>
    <dgm:cxn modelId="{B47B7A01-EE41-406A-A38E-3E45A6AB1E2D}" type="presOf" srcId="{5CEF05A0-8592-4E19-B534-CF8DA92D5C85}" destId="{AFDF9144-0890-4741-9012-683715D91BA8}" srcOrd="0" destOrd="0" presId="urn:microsoft.com/office/officeart/2005/8/layout/chevron1"/>
    <dgm:cxn modelId="{5F8D4429-3512-4733-9D28-C39DEC6D5A46}" type="presOf" srcId="{09E83A0D-6FEF-41DF-A1A8-06E9FFC85F71}" destId="{E9EC313E-C07D-4024-9AF7-7BAA82F22646}" srcOrd="0" destOrd="0" presId="urn:microsoft.com/office/officeart/2005/8/layout/chevron1"/>
    <dgm:cxn modelId="{4BD81A2D-98E6-4436-8D1C-4401C7EA7C2E}" srcId="{5CEF05A0-8592-4E19-B534-CF8DA92D5C85}" destId="{845485CC-7F42-4E91-A00B-AD1808266A59}" srcOrd="3" destOrd="0" parTransId="{E396826C-359F-461F-B222-F959C3793F61}" sibTransId="{89E51C20-2D62-4186-8997-F2A21022C6CF}"/>
    <dgm:cxn modelId="{7E781441-A50F-4E46-A2D9-E957B894E573}" type="presOf" srcId="{D400241C-DEAF-4E77-A8FB-95CBA722C5BF}" destId="{4F9DEA38-A8FA-418A-B139-308095C75DE5}" srcOrd="0" destOrd="0" presId="urn:microsoft.com/office/officeart/2005/8/layout/chevron1"/>
    <dgm:cxn modelId="{307E2D55-0313-446A-83D1-63117C21C296}" srcId="{5CEF05A0-8592-4E19-B534-CF8DA92D5C85}" destId="{09E83A0D-6FEF-41DF-A1A8-06E9FFC85F71}" srcOrd="0" destOrd="0" parTransId="{FFD59D49-A026-4E00-87EA-187DB5D6A066}" sibTransId="{36CCA29F-F965-4645-9D7F-1EDA4C75E57E}"/>
    <dgm:cxn modelId="{D8FBB08B-BBD3-47DB-A200-8EBC561DA62F}" type="presOf" srcId="{845485CC-7F42-4E91-A00B-AD1808266A59}" destId="{89AA18CC-6C77-44F3-85A7-38695F314F32}" srcOrd="0" destOrd="0" presId="urn:microsoft.com/office/officeart/2005/8/layout/chevron1"/>
    <dgm:cxn modelId="{EB33419B-0263-433C-9BC9-665F9D4DD10F}" srcId="{5CEF05A0-8592-4E19-B534-CF8DA92D5C85}" destId="{D400241C-DEAF-4E77-A8FB-95CBA722C5BF}" srcOrd="1" destOrd="0" parTransId="{926D2AE0-ECB9-48CF-AB6F-BD18F9C28779}" sibTransId="{55CA4814-D433-4485-9603-A24EF1C3B8F7}"/>
    <dgm:cxn modelId="{20E123D7-F393-4E76-84F8-B897C6CC5ADB}" srcId="{5CEF05A0-8592-4E19-B534-CF8DA92D5C85}" destId="{EFC05841-292D-4BFD-B586-9DB1A0F0999E}" srcOrd="2" destOrd="0" parTransId="{6BEBE1E2-7ADD-46DB-A390-E1FE68A19EE5}" sibTransId="{EB0BFDBB-37BC-44A5-9757-FDC45C28EECB}"/>
    <dgm:cxn modelId="{69FB16EC-B9B6-4DD2-8F60-D3C62BC2C822}" type="presOf" srcId="{EFC05841-292D-4BFD-B586-9DB1A0F0999E}" destId="{DB2DC495-4888-4FB0-8E56-94B7ED74FA00}" srcOrd="0" destOrd="0" presId="urn:microsoft.com/office/officeart/2005/8/layout/chevron1"/>
    <dgm:cxn modelId="{FDC2920E-D462-4099-AAD9-7061DA75790D}" type="presParOf" srcId="{AFDF9144-0890-4741-9012-683715D91BA8}" destId="{E9EC313E-C07D-4024-9AF7-7BAA82F22646}" srcOrd="0" destOrd="0" presId="urn:microsoft.com/office/officeart/2005/8/layout/chevron1"/>
    <dgm:cxn modelId="{BE9CD0F0-86E3-473D-ACC0-0A1CDB83D02D}" type="presParOf" srcId="{AFDF9144-0890-4741-9012-683715D91BA8}" destId="{1254BCE1-0659-4C9C-A343-41153979CEE1}" srcOrd="1" destOrd="0" presId="urn:microsoft.com/office/officeart/2005/8/layout/chevron1"/>
    <dgm:cxn modelId="{23C3C8E6-6442-4A61-9F3C-66FB5F60C029}" type="presParOf" srcId="{AFDF9144-0890-4741-9012-683715D91BA8}" destId="{4F9DEA38-A8FA-418A-B139-308095C75DE5}" srcOrd="2" destOrd="0" presId="urn:microsoft.com/office/officeart/2005/8/layout/chevron1"/>
    <dgm:cxn modelId="{ECF28035-C4C2-4F0A-91A6-54605395BB01}" type="presParOf" srcId="{AFDF9144-0890-4741-9012-683715D91BA8}" destId="{F32AF327-A8A7-42ED-9A3A-FD065AEF35CC}" srcOrd="3" destOrd="0" presId="urn:microsoft.com/office/officeart/2005/8/layout/chevron1"/>
    <dgm:cxn modelId="{1EA5E5A7-6379-4647-82EB-47293F901444}" type="presParOf" srcId="{AFDF9144-0890-4741-9012-683715D91BA8}" destId="{DB2DC495-4888-4FB0-8E56-94B7ED74FA00}" srcOrd="4" destOrd="0" presId="urn:microsoft.com/office/officeart/2005/8/layout/chevron1"/>
    <dgm:cxn modelId="{05C2C0AF-C649-43A1-9660-BD856B630B95}" type="presParOf" srcId="{AFDF9144-0890-4741-9012-683715D91BA8}" destId="{3128D3E7-1249-4292-B711-881F04FEB888}" srcOrd="5" destOrd="0" presId="urn:microsoft.com/office/officeart/2005/8/layout/chevron1"/>
    <dgm:cxn modelId="{39A0DD8E-E4B6-47DF-81A2-0B69F2B95DCA}" type="presParOf" srcId="{AFDF9144-0890-4741-9012-683715D91BA8}" destId="{89AA18CC-6C77-44F3-85A7-38695F314F32}" srcOrd="6" destOrd="0" presId="urn:microsoft.com/office/officeart/2005/8/layout/chevron1"/>
  </dgm:cxnLst>
  <dgm:bg/>
  <dgm:whole/>
  <dgm:extLst>
    <a:ext uri="http://schemas.microsoft.com/office/drawing/2008/diagram">
      <dsp:dataModelExt xmlns:dsp="http://schemas.microsoft.com/office/drawing/2008/diagram" relId="rIdV32Drawing19" minVer="http://schemas.openxmlformats.org/drawingml/2006/diagram"/>
    </a:ext>
  </dgm:extLst>
</dgm:dataModel>
</file>

<file path=ppt/diagrams/v32_s1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C313E-C07D-4024-9AF7-7BAA82F22646}">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Executive summary</a:t>
          </a:r>
        </a:p>
      </dsp:txBody>
      <dsp:txXfrm>
        <a:off x="56693" y="0"/>
        <a:ext cx="2508656" cy="283464"/>
      </dsp:txXfrm>
    </dsp:sp>
    <dsp:sp modelId="{4F9DEA38-A8FA-418A-B139-308095C75DE5}">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Situation</a:t>
          </a:r>
        </a:p>
      </dsp:txBody>
      <dsp:txXfrm>
        <a:off x="2733599" y="0"/>
        <a:ext cx="2508656" cy="283464"/>
      </dsp:txXfrm>
    </dsp:sp>
    <dsp:sp modelId="{DB2DC495-4888-4FB0-8E56-94B7ED74FA00}">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Complication</a:t>
          </a:r>
        </a:p>
      </dsp:txBody>
      <dsp:txXfrm>
        <a:off x="5410505" y="0"/>
        <a:ext cx="2508656" cy="283464"/>
      </dsp:txXfrm>
    </dsp:sp>
    <dsp:sp modelId="{89AA18CC-6C77-44F3-85A7-38695F314F32}">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Resolution</a:t>
          </a:r>
        </a:p>
      </dsp:txBody>
      <dsp:txXfrm>
        <a:off x="8087411" y="0"/>
        <a:ext cx="2508656" cy="283464"/>
      </dsp:txXfrm>
    </dsp:sp>
  </dsp:spTree>
</dsp:drawing>
</file>

<file path=ppt/diagrams/v32_s1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1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1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21" minVer="http://schemas.openxmlformats.org/drawingml/2006/diagram"/>
    </a:ext>
  </dgm:extLst>
</dgm:dataModel>
</file>

<file path=ppt/diagrams/v32_s2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2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2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22" minVer="http://schemas.openxmlformats.org/drawingml/2006/diagram"/>
    </a:ext>
  </dgm:extLst>
</dgm:dataModel>
</file>

<file path=ppt/diagrams/v32_s2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2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3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23" minVer="http://schemas.openxmlformats.org/drawingml/2006/diagram"/>
    </a:ext>
  </dgm:extLst>
</dgm:dataModel>
</file>

<file path=ppt/diagrams/v32_s2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2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4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24" minVer="http://schemas.openxmlformats.org/drawingml/2006/diagram"/>
    </a:ext>
  </dgm:extLst>
</dgm:dataModel>
</file>

<file path=ppt/diagrams/v32_s2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5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25" minVer="http://schemas.openxmlformats.org/drawingml/2006/diagram"/>
    </a:ext>
  </dgm:extLst>
</dgm:dataModel>
</file>

<file path=ppt/diagrams/v32_s2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6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26" minVer="http://schemas.openxmlformats.org/drawingml/2006/diagram"/>
    </a:ext>
  </dgm:extLst>
</dgm:dataModel>
</file>

<file path=ppt/diagrams/v32_s2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7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27" minVer="http://schemas.openxmlformats.org/drawingml/2006/diagram"/>
    </a:ext>
  </dgm:extLst>
</dgm:dataModel>
</file>

<file path=ppt/diagrams/v32_s2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8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28" minVer="http://schemas.openxmlformats.org/drawingml/2006/diagram"/>
    </a:ext>
  </dgm:extLst>
</dgm:dataModel>
</file>

<file path=ppt/diagrams/v32_s2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2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2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29_data1.xml><?xml version="1.0" encoding="utf-8"?>
<dgm:dataModel xmlns:dgm="http://schemas.openxmlformats.org/drawingml/2006/diagram" xmlns:a="http://schemas.openxmlformats.org/drawingml/2006/main">
  <dgm:ptLst>
    <dgm:pt modelId="{AAE6C25A-DB6D-4D78-9B3C-FAF523886041}"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C650DAE2-05C8-412C-8907-8BE60B60268D}">
      <dgm:prSet phldrT="[Text]" custT="1"/>
      <dgm:spPr>
        <a:prstGeom prst="rightArrow">
          <a:avLst>
            <a:gd name="adj1" fmla="val 100000"/>
            <a:gd name="adj2" fmla="val 20000"/>
          </a:avLst>
        </a:prstGeom>
        <a:solidFill>
          <a:srgbClr val="0A2373"/>
        </a:solidFill>
        <a:ln>
          <a:noFill/>
        </a:ln>
      </dgm:spPr>
      <dgm:t>
        <a:bodyPr/>
        <a:lstStyle/>
        <a:p>
          <a:r>
            <a:rPr lang="en-ZA" sz="1050" b="1">
              <a:solidFill>
                <a:srgbClr val="FFFFFF"/>
              </a:solidFill>
              <a:latin typeface="Lato" panose="020F0502020204030203" pitchFamily="34" charset="0"/>
            </a:rPr>
            <a:t>Appendix</a:t>
          </a:r>
        </a:p>
      </dgm:t>
    </dgm:pt>
    <dgm:pt modelId="{B9DE7244-C2E0-47C2-BE1F-ACFAA8813B01}" type="parTrans" cxnId="{9D315063-B86A-4984-A5B5-2440147C83E2}">
      <dgm:prSet/>
      <dgm:spPr>
        <a:ln>
          <a:noFill/>
        </a:ln>
      </dgm:spPr>
    </dgm:pt>
    <dgm:pt modelId="{AC6A796A-FAE5-431B-BA64-9671C8D0A3E2}" type="sibTrans" cxnId="{9D315063-B86A-4984-A5B5-2440147C83E2}">
      <dgm:prSet/>
      <dgm:spPr>
        <a:ln>
          <a:noFill/>
        </a:ln>
      </dgm:spPr>
    </dgm:pt>
    <dgm:pt modelId="{3B811E9B-A679-4E27-B63F-0A648F7D7531}">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6DAA683-9AD7-436F-8A93-6AC8BF751387}" type="parTrans" cxnId="{5F2218A3-2C2C-4BCA-A837-5AB3470343EA}">
      <dgm:prSet/>
      <dgm:spPr>
        <a:ln>
          <a:noFill/>
        </a:ln>
      </dgm:spPr>
    </dgm:pt>
    <dgm:pt modelId="{C775561D-5F66-4396-B318-4E1DA8BBFD09}" type="sibTrans" cxnId="{5F2218A3-2C2C-4BCA-A837-5AB3470343EA}">
      <dgm:prSet/>
      <dgm:spPr>
        <a:ln>
          <a:noFill/>
        </a:ln>
      </dgm:spPr>
    </dgm:pt>
    <dgm:pt modelId="{BD594A9A-9323-4341-96BF-85721BA2C10D}">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537A9428-02EF-4234-BF12-09A126B2DDA1}" type="parTrans" cxnId="{835F645B-250E-4BF0-AFC4-1334188DA137}">
      <dgm:prSet/>
      <dgm:spPr>
        <a:ln>
          <a:noFill/>
        </a:ln>
      </dgm:spPr>
    </dgm:pt>
    <dgm:pt modelId="{ACB5C591-797D-4FD9-9409-F0EDF95FEE27}" type="sibTrans" cxnId="{835F645B-250E-4BF0-AFC4-1334188DA137}">
      <dgm:prSet/>
      <dgm:spPr>
        <a:ln>
          <a:noFill/>
        </a:ln>
      </dgm:spPr>
    </dgm:pt>
    <dgm:pt modelId="{A786AE8E-E5F5-4022-A310-B20DC594406F}">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0D4C8FAA-FB42-484D-B9F6-B3232D98013E}" type="parTrans" cxnId="{C74F17E0-0C32-4B4E-93AE-E7C5D2BF2376}">
      <dgm:prSet/>
      <dgm:spPr>
        <a:ln>
          <a:noFill/>
        </a:ln>
      </dgm:spPr>
    </dgm:pt>
    <dgm:pt modelId="{8488243F-3650-49F5-A77A-DF07A84A14BF}" type="sibTrans" cxnId="{C74F17E0-0C32-4B4E-93AE-E7C5D2BF2376}">
      <dgm:prSet/>
      <dgm:spPr>
        <a:ln>
          <a:noFill/>
        </a:ln>
      </dgm:spPr>
    </dgm:pt>
    <dgm:pt modelId="{C968AC03-41E9-4B9B-BE45-02B1539B4282}" type="pres">
      <dgm:prSet presAssocID="{AAE6C25A-DB6D-4D78-9B3C-FAF523886041}" presName="Name0" presStyleCnt="0">
        <dgm:presLayoutVars>
          <dgm:dir/>
          <dgm:animLvl val="lvl"/>
          <dgm:resizeHandles val="exact"/>
        </dgm:presLayoutVars>
      </dgm:prSet>
      <dgm:spPr>
        <a:ln>
          <a:noFill/>
        </a:ln>
      </dgm:spPr>
    </dgm:pt>
    <dgm:pt modelId="{1AB901B8-27E8-4328-AA0B-6C29B0008F85}" type="pres">
      <dgm:prSet presAssocID="{C650DAE2-05C8-412C-8907-8BE60B60268D}" presName="parTxOnly" presStyleLbl="node1" presStyleIdx="0" presStyleCnt="4">
        <dgm:presLayoutVars>
          <dgm:chMax val="0"/>
          <dgm:chPref val="0"/>
          <dgm:bulletEnabled val="1"/>
        </dgm:presLayoutVars>
      </dgm:prSet>
      <dgm:spPr>
        <a:ln>
          <a:noFill/>
        </a:ln>
      </dgm:spPr>
    </dgm:pt>
    <dgm:pt modelId="{A4575649-1F97-4837-A1A2-C2364EA82ED1}" type="pres">
      <dgm:prSet presAssocID="{AC6A796A-FAE5-431B-BA64-9671C8D0A3E2}" presName="parTxOnlySpace" presStyleCnt="0"/>
      <dgm:spPr>
        <a:ln>
          <a:noFill/>
        </a:ln>
      </dgm:spPr>
    </dgm:pt>
    <dgm:pt modelId="{3AAAE9D2-1344-4643-AA43-2A8F2D82248E}" type="pres">
      <dgm:prSet presAssocID="{3B811E9B-A679-4E27-B63F-0A648F7D7531}" presName="parTxOnly" presStyleLbl="node1" presStyleIdx="1" presStyleCnt="4">
        <dgm:presLayoutVars>
          <dgm:chMax val="0"/>
          <dgm:chPref val="0"/>
          <dgm:bulletEnabled val="1"/>
        </dgm:presLayoutVars>
      </dgm:prSet>
      <dgm:spPr>
        <a:ln>
          <a:noFill/>
        </a:ln>
      </dgm:spPr>
    </dgm:pt>
    <dgm:pt modelId="{9D7B86B8-7DD8-45C4-833D-17A1B25C3980}" type="pres">
      <dgm:prSet presAssocID="{C775561D-5F66-4396-B318-4E1DA8BBFD09}" presName="parTxOnlySpace" presStyleCnt="0"/>
      <dgm:spPr>
        <a:ln>
          <a:noFill/>
        </a:ln>
      </dgm:spPr>
    </dgm:pt>
    <dgm:pt modelId="{CE5359D8-4885-4FD6-96E3-EC640365AC46}" type="pres">
      <dgm:prSet presAssocID="{BD594A9A-9323-4341-96BF-85721BA2C10D}" presName="parTxOnly" presStyleLbl="node1" presStyleIdx="2" presStyleCnt="4">
        <dgm:presLayoutVars>
          <dgm:chMax val="0"/>
          <dgm:chPref val="0"/>
          <dgm:bulletEnabled val="1"/>
        </dgm:presLayoutVars>
      </dgm:prSet>
      <dgm:spPr>
        <a:ln>
          <a:noFill/>
        </a:ln>
      </dgm:spPr>
    </dgm:pt>
    <dgm:pt modelId="{BF092264-4518-4B43-A50E-F77EF016D00A}" type="pres">
      <dgm:prSet presAssocID="{ACB5C591-797D-4FD9-9409-F0EDF95FEE27}" presName="parTxOnlySpace" presStyleCnt="0"/>
      <dgm:spPr>
        <a:ln>
          <a:noFill/>
        </a:ln>
      </dgm:spPr>
    </dgm:pt>
    <dgm:pt modelId="{E20A8324-5073-4681-BF09-1EBF8264B0BB}" type="pres">
      <dgm:prSet presAssocID="{A786AE8E-E5F5-4022-A310-B20DC594406F}" presName="parTxOnly" presStyleLbl="node1" presStyleIdx="3" presStyleCnt="4">
        <dgm:presLayoutVars>
          <dgm:chMax val="0"/>
          <dgm:chPref val="0"/>
          <dgm:bulletEnabled val="1"/>
        </dgm:presLayoutVars>
      </dgm:prSet>
      <dgm:spPr>
        <a:ln>
          <a:noFill/>
        </a:ln>
      </dgm:spPr>
    </dgm:pt>
  </dgm:ptLst>
  <dgm:cxnLst>
    <dgm:cxn modelId="{AA913910-F66D-4DDE-B610-9E8A5AD246D0}" type="presOf" srcId="{C650DAE2-05C8-412C-8907-8BE60B60268D}" destId="{1AB901B8-27E8-4328-AA0B-6C29B0008F85}" srcOrd="0" destOrd="0" presId="urn:microsoft.com/office/officeart/2005/8/layout/chevron1"/>
    <dgm:cxn modelId="{835F645B-250E-4BF0-AFC4-1334188DA137}" srcId="{AAE6C25A-DB6D-4D78-9B3C-FAF523886041}" destId="{BD594A9A-9323-4341-96BF-85721BA2C10D}" srcOrd="2" destOrd="0" parTransId="{537A9428-02EF-4234-BF12-09A126B2DDA1}" sibTransId="{ACB5C591-797D-4FD9-9409-F0EDF95FEE27}"/>
    <dgm:cxn modelId="{9D315063-B86A-4984-A5B5-2440147C83E2}" srcId="{AAE6C25A-DB6D-4D78-9B3C-FAF523886041}" destId="{C650DAE2-05C8-412C-8907-8BE60B60268D}" srcOrd="0" destOrd="0" parTransId="{B9DE7244-C2E0-47C2-BE1F-ACFAA8813B01}" sibTransId="{AC6A796A-FAE5-431B-BA64-9671C8D0A3E2}"/>
    <dgm:cxn modelId="{5F2218A3-2C2C-4BCA-A837-5AB3470343EA}" srcId="{AAE6C25A-DB6D-4D78-9B3C-FAF523886041}" destId="{3B811E9B-A679-4E27-B63F-0A648F7D7531}" srcOrd="1" destOrd="0" parTransId="{86DAA683-9AD7-436F-8A93-6AC8BF751387}" sibTransId="{C775561D-5F66-4396-B318-4E1DA8BBFD09}"/>
    <dgm:cxn modelId="{1CA726B8-65BA-46BA-A05F-29BD1EC000FF}" type="presOf" srcId="{BD594A9A-9323-4341-96BF-85721BA2C10D}" destId="{CE5359D8-4885-4FD6-96E3-EC640365AC46}" srcOrd="0" destOrd="0" presId="urn:microsoft.com/office/officeart/2005/8/layout/chevron1"/>
    <dgm:cxn modelId="{C74F17E0-0C32-4B4E-93AE-E7C5D2BF2376}" srcId="{AAE6C25A-DB6D-4D78-9B3C-FAF523886041}" destId="{A786AE8E-E5F5-4022-A310-B20DC594406F}" srcOrd="3" destOrd="0" parTransId="{0D4C8FAA-FB42-484D-B9F6-B3232D98013E}" sibTransId="{8488243F-3650-49F5-A77A-DF07A84A14BF}"/>
    <dgm:cxn modelId="{B2A6EDE1-4A93-42C4-A660-009F904A286F}" type="presOf" srcId="{3B811E9B-A679-4E27-B63F-0A648F7D7531}" destId="{3AAAE9D2-1344-4643-AA43-2A8F2D82248E}" srcOrd="0" destOrd="0" presId="urn:microsoft.com/office/officeart/2005/8/layout/chevron1"/>
    <dgm:cxn modelId="{A5AA6BEB-AF2D-46DD-92D3-9F66F7C94D64}" type="presOf" srcId="{AAE6C25A-DB6D-4D78-9B3C-FAF523886041}" destId="{C968AC03-41E9-4B9B-BE45-02B1539B4282}" srcOrd="0" destOrd="0" presId="urn:microsoft.com/office/officeart/2005/8/layout/chevron1"/>
    <dgm:cxn modelId="{6162ABF3-FD09-4CAB-AA7B-F4DDEA50CFBF}" type="presOf" srcId="{A786AE8E-E5F5-4022-A310-B20DC594406F}" destId="{E20A8324-5073-4681-BF09-1EBF8264B0BB}" srcOrd="0" destOrd="0" presId="urn:microsoft.com/office/officeart/2005/8/layout/chevron1"/>
    <dgm:cxn modelId="{36CD3796-6634-4E4D-8C7B-303A88336F99}" type="presParOf" srcId="{C968AC03-41E9-4B9B-BE45-02B1539B4282}" destId="{1AB901B8-27E8-4328-AA0B-6C29B0008F85}" srcOrd="0" destOrd="0" presId="urn:microsoft.com/office/officeart/2005/8/layout/chevron1"/>
    <dgm:cxn modelId="{20041F04-F2B0-43AD-9942-1EE206097285}" type="presParOf" srcId="{C968AC03-41E9-4B9B-BE45-02B1539B4282}" destId="{A4575649-1F97-4837-A1A2-C2364EA82ED1}" srcOrd="1" destOrd="0" presId="urn:microsoft.com/office/officeart/2005/8/layout/chevron1"/>
    <dgm:cxn modelId="{9712E61A-5F30-4972-B844-2AB532D872F5}" type="presParOf" srcId="{C968AC03-41E9-4B9B-BE45-02B1539B4282}" destId="{3AAAE9D2-1344-4643-AA43-2A8F2D82248E}" srcOrd="2" destOrd="0" presId="urn:microsoft.com/office/officeart/2005/8/layout/chevron1"/>
    <dgm:cxn modelId="{4D89F43C-E17A-411D-A38E-6BF73E635EF8}" type="presParOf" srcId="{C968AC03-41E9-4B9B-BE45-02B1539B4282}" destId="{9D7B86B8-7DD8-45C4-833D-17A1B25C3980}" srcOrd="3" destOrd="0" presId="urn:microsoft.com/office/officeart/2005/8/layout/chevron1"/>
    <dgm:cxn modelId="{64372D3A-B9BF-4A85-B6B9-58CEA7183769}" type="presParOf" srcId="{C968AC03-41E9-4B9B-BE45-02B1539B4282}" destId="{CE5359D8-4885-4FD6-96E3-EC640365AC46}" srcOrd="4" destOrd="0" presId="urn:microsoft.com/office/officeart/2005/8/layout/chevron1"/>
    <dgm:cxn modelId="{48FD68AB-BEF3-460D-B239-3F24EEFE5DEA}" type="presParOf" srcId="{C968AC03-41E9-4B9B-BE45-02B1539B4282}" destId="{BF092264-4518-4B43-A50E-F77EF016D00A}" srcOrd="5" destOrd="0" presId="urn:microsoft.com/office/officeart/2005/8/layout/chevron1"/>
    <dgm:cxn modelId="{6D3D930F-3147-403D-93C4-65D23C8C3433}" type="presParOf" srcId="{C968AC03-41E9-4B9B-BE45-02B1539B4282}" destId="{E20A8324-5073-4681-BF09-1EBF8264B0BB}" srcOrd="6" destOrd="0" presId="urn:microsoft.com/office/officeart/2005/8/layout/chevron1"/>
  </dgm:cxnLst>
  <dgm:bg/>
  <dgm:whole/>
  <dgm:extLst>
    <a:ext uri="http://schemas.microsoft.com/office/drawing/2008/diagram">
      <dsp:dataModelExt xmlns:dsp="http://schemas.microsoft.com/office/drawing/2008/diagram" relId="rIdV32Drawing29" minVer="http://schemas.openxmlformats.org/drawingml/2006/diagram"/>
    </a:ext>
  </dgm:extLst>
</dgm:dataModel>
</file>

<file path=ppt/diagrams/v32_s2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B901B8-27E8-4328-AA0B-6C29B0008F85}">
      <dsp:nvSpPr>
        <dsp:cNvPr id="0" name=""/>
        <dsp:cNvSpPr/>
      </dsp:nvSpPr>
      <dsp:spPr>
        <a:xfrm>
          <a:off x="0" y="0"/>
          <a:ext cx="2622042" cy="283464"/>
        </a:xfrm>
        <a:prstGeom prst="rightArrow">
          <a:avLst>
            <a:gd name="adj1" fmla="val 100000"/>
            <a:gd name="adj2"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Appendix</a:t>
          </a:r>
        </a:p>
      </dsp:txBody>
      <dsp:txXfrm>
        <a:off x="56693" y="0"/>
        <a:ext cx="2508656" cy="283464"/>
      </dsp:txXfrm>
    </dsp:sp>
    <dsp:sp modelId="{3AAAE9D2-1344-4643-AA43-2A8F2D82248E}">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CE5359D8-4885-4FD6-96E3-EC640365AC46}">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E20A8324-5073-4681-BF09-1EBF8264B0BB}">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2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2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0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0" minVer="http://schemas.openxmlformats.org/drawingml/2006/diagram"/>
    </a:ext>
  </dgm:extLst>
</dgm:dataModel>
</file>

<file path=ppt/diagrams/v32_s3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1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1" minVer="http://schemas.openxmlformats.org/drawingml/2006/diagram"/>
    </a:ext>
  </dgm:extLst>
</dgm:dataModel>
</file>

<file path=ppt/diagrams/v32_s3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2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2" minVer="http://schemas.openxmlformats.org/drawingml/2006/diagram"/>
    </a:ext>
  </dgm:extLst>
</dgm:dataModel>
</file>

<file path=ppt/diagrams/v32_s3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3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3" minVer="http://schemas.openxmlformats.org/drawingml/2006/diagram"/>
    </a:ext>
  </dgm:extLst>
</dgm:dataModel>
</file>

<file path=ppt/diagrams/v32_s3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4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4" minVer="http://schemas.openxmlformats.org/drawingml/2006/diagram"/>
    </a:ext>
  </dgm:extLst>
</dgm:dataModel>
</file>

<file path=ppt/diagrams/v32_s3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5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5" minVer="http://schemas.openxmlformats.org/drawingml/2006/diagram"/>
    </a:ext>
  </dgm:extLst>
</dgm:dataModel>
</file>

<file path=ppt/diagrams/v32_s3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6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6" minVer="http://schemas.openxmlformats.org/drawingml/2006/diagram"/>
    </a:ext>
  </dgm:extLst>
</dgm:dataModel>
</file>

<file path=ppt/diagrams/v32_s3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7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7" minVer="http://schemas.openxmlformats.org/drawingml/2006/diagram"/>
    </a:ext>
  </dgm:extLst>
</dgm:dataModel>
</file>

<file path=ppt/diagrams/v32_s3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8_data1.xml><?xml version="1.0" encoding="utf-8"?>
<dgm:dataModel xmlns:dgm="http://schemas.openxmlformats.org/drawingml/2006/diagram" xmlns:a="http://schemas.openxmlformats.org/drawingml/2006/main">
  <dgm:ptLst>
    <dgm:pt modelId="{A4BFCEFA-5040-4216-95CA-CE93A5C7A25A}"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26B8DF68-BDB0-4E90-A6A2-8EEB691A828D}">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FF63E159-292C-4A3B-A7F9-732844751C1B}" type="parTrans" cxnId="{B3922F84-94AF-4882-9D5F-101642257FFE}">
      <dgm:prSet/>
      <dgm:spPr>
        <a:ln>
          <a:noFill/>
        </a:ln>
      </dgm:spPr>
    </dgm:pt>
    <dgm:pt modelId="{783765C0-505F-4473-9EB1-A2321635776E}" type="sibTrans" cxnId="{B3922F84-94AF-4882-9D5F-101642257FFE}">
      <dgm:prSet/>
      <dgm:spPr>
        <a:ln>
          <a:noFill/>
        </a:ln>
      </dgm:spPr>
    </dgm:pt>
    <dgm:pt modelId="{7F5A46B5-544E-410D-8EAF-A13850E85E50}">
      <dgm:prSet phldrT="[Text]" custT="1"/>
      <dgm:spPr>
        <a:solidFill>
          <a:srgbClr val="0A2373"/>
        </a:solidFill>
        <a:ln>
          <a:noFill/>
        </a:ln>
      </dgm:spPr>
      <dgm:t>
        <a:bodyPr/>
        <a:lstStyle/>
        <a:p>
          <a:r>
            <a:rPr lang="en-ZA" sz="1050" b="1">
              <a:solidFill>
                <a:srgbClr val="FFFFFF"/>
              </a:solidFill>
              <a:latin typeface="Lato" panose="020F0502020204030203" pitchFamily="34" charset="0"/>
            </a:rPr>
            <a:t>Supporting evidence</a:t>
          </a:r>
        </a:p>
      </dgm:t>
    </dgm:pt>
    <dgm:pt modelId="{8E3825AB-8F9E-47C9-AB93-9ECADD63F9B5}" type="parTrans" cxnId="{FC2A9F42-5733-463F-A14F-06E34ADABC13}">
      <dgm:prSet/>
      <dgm:spPr>
        <a:ln>
          <a:noFill/>
        </a:ln>
      </dgm:spPr>
    </dgm:pt>
    <dgm:pt modelId="{C05EC735-4317-49AD-AACE-C941978EC6FF}" type="sibTrans" cxnId="{FC2A9F42-5733-463F-A14F-06E34ADABC13}">
      <dgm:prSet/>
      <dgm:spPr>
        <a:ln>
          <a:noFill/>
        </a:ln>
      </dgm:spPr>
    </dgm:pt>
    <dgm:pt modelId="{7EC9CB9F-979B-41AF-BD16-EF38E6A338EC}">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D4824998-AD78-48C6-BED0-6D8379600025}" type="parTrans" cxnId="{91D0530D-1C6C-4B14-BA8F-8E35D67AC581}">
      <dgm:prSet/>
      <dgm:spPr>
        <a:ln>
          <a:noFill/>
        </a:ln>
      </dgm:spPr>
    </dgm:pt>
    <dgm:pt modelId="{764114A9-136C-43E3-BFA4-DAA3AA459E8B}" type="sibTrans" cxnId="{91D0530D-1C6C-4B14-BA8F-8E35D67AC581}">
      <dgm:prSet/>
      <dgm:spPr>
        <a:ln>
          <a:noFill/>
        </a:ln>
      </dgm:spPr>
    </dgm:pt>
    <dgm:pt modelId="{5A0612EB-B6EE-40F7-BE7F-E52B87884072}">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D730DD5A-0EB3-4A5B-BE3B-C1130DFD4456}" type="parTrans" cxnId="{F9C88C08-9BEB-430E-8AF2-5265D33A00E4}">
      <dgm:prSet/>
      <dgm:spPr>
        <a:ln>
          <a:noFill/>
        </a:ln>
      </dgm:spPr>
    </dgm:pt>
    <dgm:pt modelId="{57D51937-370F-4B12-A4F8-AEF598ED7CC4}" type="sibTrans" cxnId="{F9C88C08-9BEB-430E-8AF2-5265D33A00E4}">
      <dgm:prSet/>
      <dgm:spPr>
        <a:ln>
          <a:noFill/>
        </a:ln>
      </dgm:spPr>
    </dgm:pt>
    <dgm:pt modelId="{54678898-E7D5-4C1C-874E-FFB82E128354}" type="pres">
      <dgm:prSet presAssocID="{A4BFCEFA-5040-4216-95CA-CE93A5C7A25A}" presName="Name0" presStyleCnt="0">
        <dgm:presLayoutVars>
          <dgm:dir/>
          <dgm:animLvl val="lvl"/>
          <dgm:resizeHandles val="exact"/>
        </dgm:presLayoutVars>
      </dgm:prSet>
      <dgm:spPr>
        <a:ln>
          <a:noFill/>
        </a:ln>
      </dgm:spPr>
    </dgm:pt>
    <dgm:pt modelId="{5492C2E8-EA39-4FA8-A2B2-325F5C92F714}" type="pres">
      <dgm:prSet presAssocID="{26B8DF68-BDB0-4E90-A6A2-8EEB691A828D}" presName="parTxOnly" presStyleLbl="node1" presStyleIdx="0" presStyleCnt="4">
        <dgm:presLayoutVars>
          <dgm:chMax val="0"/>
          <dgm:chPref val="0"/>
          <dgm:bulletEnabled val="1"/>
        </dgm:presLayoutVars>
      </dgm:prSet>
      <dgm:spPr>
        <a:ln>
          <a:noFill/>
        </a:ln>
      </dgm:spPr>
    </dgm:pt>
    <dgm:pt modelId="{99426CF7-A08B-4493-B8CD-834F9B03EE11}" type="pres">
      <dgm:prSet presAssocID="{783765C0-505F-4473-9EB1-A2321635776E}" presName="parTxOnlySpace" presStyleCnt="0"/>
      <dgm:spPr>
        <a:ln>
          <a:noFill/>
        </a:ln>
      </dgm:spPr>
    </dgm:pt>
    <dgm:pt modelId="{F1FBF3C7-EF98-4D09-9755-30A1EF78FCA9}" type="pres">
      <dgm:prSet presAssocID="{7F5A46B5-544E-410D-8EAF-A13850E85E50}" presName="parTxOnly" presStyleLbl="node1" presStyleIdx="1" presStyleCnt="4">
        <dgm:presLayoutVars>
          <dgm:chMax val="0"/>
          <dgm:chPref val="0"/>
          <dgm:bulletEnabled val="1"/>
        </dgm:presLayoutVars>
      </dgm:prSet>
      <dgm:spPr>
        <a:ln>
          <a:noFill/>
        </a:ln>
      </dgm:spPr>
    </dgm:pt>
    <dgm:pt modelId="{CB0109C6-94DF-41C2-8B8E-D3EEECD7EDE9}" type="pres">
      <dgm:prSet presAssocID="{C05EC735-4317-49AD-AACE-C941978EC6FF}" presName="parTxOnlySpace" presStyleCnt="0"/>
      <dgm:spPr>
        <a:ln>
          <a:noFill/>
        </a:ln>
      </dgm:spPr>
    </dgm:pt>
    <dgm:pt modelId="{CE5AC61B-73B2-4B4D-B7DF-84A1E243EAC9}" type="pres">
      <dgm:prSet presAssocID="{7EC9CB9F-979B-41AF-BD16-EF38E6A338EC}" presName="parTxOnly" presStyleLbl="node1" presStyleIdx="2" presStyleCnt="4">
        <dgm:presLayoutVars>
          <dgm:chMax val="0"/>
          <dgm:chPref val="0"/>
          <dgm:bulletEnabled val="1"/>
        </dgm:presLayoutVars>
      </dgm:prSet>
      <dgm:spPr>
        <a:ln>
          <a:noFill/>
        </a:ln>
      </dgm:spPr>
    </dgm:pt>
    <dgm:pt modelId="{E14A8FAA-01AF-44BE-9DF7-A834C18A1E42}" type="pres">
      <dgm:prSet presAssocID="{764114A9-136C-43E3-BFA4-DAA3AA459E8B}" presName="parTxOnlySpace" presStyleCnt="0"/>
      <dgm:spPr>
        <a:ln>
          <a:noFill/>
        </a:ln>
      </dgm:spPr>
    </dgm:pt>
    <dgm:pt modelId="{46E98520-AB5D-4CF7-94AA-1AE646186901}" type="pres">
      <dgm:prSet presAssocID="{5A0612EB-B6EE-40F7-BE7F-E52B87884072}" presName="parTxOnly" presStyleLbl="node1" presStyleIdx="3" presStyleCnt="4">
        <dgm:presLayoutVars>
          <dgm:chMax val="0"/>
          <dgm:chPref val="0"/>
          <dgm:bulletEnabled val="1"/>
        </dgm:presLayoutVars>
      </dgm:prSet>
      <dgm:spPr>
        <a:ln>
          <a:noFill/>
        </a:ln>
      </dgm:spPr>
    </dgm:pt>
  </dgm:ptLst>
  <dgm:cxnLst>
    <dgm:cxn modelId="{F9C88C08-9BEB-430E-8AF2-5265D33A00E4}" srcId="{A4BFCEFA-5040-4216-95CA-CE93A5C7A25A}" destId="{5A0612EB-B6EE-40F7-BE7F-E52B87884072}" srcOrd="3" destOrd="0" parTransId="{D730DD5A-0EB3-4A5B-BE3B-C1130DFD4456}" sibTransId="{57D51937-370F-4B12-A4F8-AEF598ED7CC4}"/>
    <dgm:cxn modelId="{91D0530D-1C6C-4B14-BA8F-8E35D67AC581}" srcId="{A4BFCEFA-5040-4216-95CA-CE93A5C7A25A}" destId="{7EC9CB9F-979B-41AF-BD16-EF38E6A338EC}" srcOrd="2" destOrd="0" parTransId="{D4824998-AD78-48C6-BED0-6D8379600025}" sibTransId="{764114A9-136C-43E3-BFA4-DAA3AA459E8B}"/>
    <dgm:cxn modelId="{17CB9A1A-CBD1-4F15-961B-DA6463120D97}" type="presOf" srcId="{5A0612EB-B6EE-40F7-BE7F-E52B87884072}" destId="{46E98520-AB5D-4CF7-94AA-1AE646186901}" srcOrd="0" destOrd="0" presId="urn:microsoft.com/office/officeart/2005/8/layout/chevron1"/>
    <dgm:cxn modelId="{AF0C393C-97E3-4587-89C9-24A0CA3DA1CA}" type="presOf" srcId="{26B8DF68-BDB0-4E90-A6A2-8EEB691A828D}" destId="{5492C2E8-EA39-4FA8-A2B2-325F5C92F714}" srcOrd="0" destOrd="0" presId="urn:microsoft.com/office/officeart/2005/8/layout/chevron1"/>
    <dgm:cxn modelId="{96DBB240-C9E1-477C-9C15-1CF762E2F0F1}" type="presOf" srcId="{A4BFCEFA-5040-4216-95CA-CE93A5C7A25A}" destId="{54678898-E7D5-4C1C-874E-FFB82E128354}" srcOrd="0" destOrd="0" presId="urn:microsoft.com/office/officeart/2005/8/layout/chevron1"/>
    <dgm:cxn modelId="{FC2A9F42-5733-463F-A14F-06E34ADABC13}" srcId="{A4BFCEFA-5040-4216-95CA-CE93A5C7A25A}" destId="{7F5A46B5-544E-410D-8EAF-A13850E85E50}" srcOrd="1" destOrd="0" parTransId="{8E3825AB-8F9E-47C9-AB93-9ECADD63F9B5}" sibTransId="{C05EC735-4317-49AD-AACE-C941978EC6FF}"/>
    <dgm:cxn modelId="{B3922F84-94AF-4882-9D5F-101642257FFE}" srcId="{A4BFCEFA-5040-4216-95CA-CE93A5C7A25A}" destId="{26B8DF68-BDB0-4E90-A6A2-8EEB691A828D}" srcOrd="0" destOrd="0" parTransId="{FF63E159-292C-4A3B-A7F9-732844751C1B}" sibTransId="{783765C0-505F-4473-9EB1-A2321635776E}"/>
    <dgm:cxn modelId="{3DD943A9-2AB0-43D8-9CBC-DA3C49023BF5}" type="presOf" srcId="{7F5A46B5-544E-410D-8EAF-A13850E85E50}" destId="{F1FBF3C7-EF98-4D09-9755-30A1EF78FCA9}" srcOrd="0" destOrd="0" presId="urn:microsoft.com/office/officeart/2005/8/layout/chevron1"/>
    <dgm:cxn modelId="{83AD74FA-E9E6-4754-8F66-A5B9E255AB06}" type="presOf" srcId="{7EC9CB9F-979B-41AF-BD16-EF38E6A338EC}" destId="{CE5AC61B-73B2-4B4D-B7DF-84A1E243EAC9}" srcOrd="0" destOrd="0" presId="urn:microsoft.com/office/officeart/2005/8/layout/chevron1"/>
    <dgm:cxn modelId="{90CCA06E-043F-4F41-9C9A-C71A6D41696A}" type="presParOf" srcId="{54678898-E7D5-4C1C-874E-FFB82E128354}" destId="{5492C2E8-EA39-4FA8-A2B2-325F5C92F714}" srcOrd="0" destOrd="0" presId="urn:microsoft.com/office/officeart/2005/8/layout/chevron1"/>
    <dgm:cxn modelId="{3B177307-BFDB-4D2F-92D4-11F60FB6B4AE}" type="presParOf" srcId="{54678898-E7D5-4C1C-874E-FFB82E128354}" destId="{99426CF7-A08B-4493-B8CD-834F9B03EE11}" srcOrd="1" destOrd="0" presId="urn:microsoft.com/office/officeart/2005/8/layout/chevron1"/>
    <dgm:cxn modelId="{FF9A3B26-8951-4409-96AD-D93A21D42652}" type="presParOf" srcId="{54678898-E7D5-4C1C-874E-FFB82E128354}" destId="{F1FBF3C7-EF98-4D09-9755-30A1EF78FCA9}" srcOrd="2" destOrd="0" presId="urn:microsoft.com/office/officeart/2005/8/layout/chevron1"/>
    <dgm:cxn modelId="{2F39FB01-90A9-412E-A271-D2986A301587}" type="presParOf" srcId="{54678898-E7D5-4C1C-874E-FFB82E128354}" destId="{CB0109C6-94DF-41C2-8B8E-D3EEECD7EDE9}" srcOrd="3" destOrd="0" presId="urn:microsoft.com/office/officeart/2005/8/layout/chevron1"/>
    <dgm:cxn modelId="{1DD59040-AA65-469C-814B-80D0F980DCC0}" type="presParOf" srcId="{54678898-E7D5-4C1C-874E-FFB82E128354}" destId="{CE5AC61B-73B2-4B4D-B7DF-84A1E243EAC9}" srcOrd="4" destOrd="0" presId="urn:microsoft.com/office/officeart/2005/8/layout/chevron1"/>
    <dgm:cxn modelId="{0EA7A435-0AE4-44C9-9866-A79BE9CCB4C0}" type="presParOf" srcId="{54678898-E7D5-4C1C-874E-FFB82E128354}" destId="{E14A8FAA-01AF-44BE-9DF7-A834C18A1E42}" srcOrd="5" destOrd="0" presId="urn:microsoft.com/office/officeart/2005/8/layout/chevron1"/>
    <dgm:cxn modelId="{BFAF6F7C-016B-46D6-B4FE-CA1251B2C716}" type="presParOf" srcId="{54678898-E7D5-4C1C-874E-FFB82E128354}" destId="{46E98520-AB5D-4CF7-94AA-1AE646186901}" srcOrd="6" destOrd="0" presId="urn:microsoft.com/office/officeart/2005/8/layout/chevron1"/>
  </dgm:cxnLst>
  <dgm:bg/>
  <dgm:whole/>
  <dgm:extLst>
    <a:ext uri="http://schemas.microsoft.com/office/drawing/2008/diagram">
      <dsp:dataModelExt xmlns:dsp="http://schemas.microsoft.com/office/drawing/2008/diagram" relId="rIdV32Drawing38" minVer="http://schemas.openxmlformats.org/drawingml/2006/diagram"/>
    </a:ext>
  </dgm:extLst>
</dgm:dataModel>
</file>

<file path=ppt/diagrams/v32_s3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92C2E8-EA39-4FA8-A2B2-325F5C92F71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F1FBF3C7-EF98-4D09-9755-30A1EF78FCA9}">
      <dsp:nvSpPr>
        <dsp:cNvPr id="0" name=""/>
        <dsp:cNvSpPr/>
      </dsp:nvSpPr>
      <dsp:spPr>
        <a:xfrm>
          <a:off x="2676906"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Supporting evidence</a:t>
          </a:r>
        </a:p>
      </dsp:txBody>
      <dsp:txXfrm>
        <a:off x="2733599" y="0"/>
        <a:ext cx="2508656" cy="283464"/>
      </dsp:txXfrm>
    </dsp:sp>
    <dsp:sp modelId="{CE5AC61B-73B2-4B4D-B7DF-84A1E243EAC9}">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46E98520-AB5D-4CF7-94AA-1AE646186901}">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3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39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39" minVer="http://schemas.openxmlformats.org/drawingml/2006/diagram"/>
    </a:ext>
  </dgm:extLst>
</dgm:dataModel>
</file>

<file path=ppt/diagrams/v32_s3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3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3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0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0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40" minVer="http://schemas.openxmlformats.org/drawingml/2006/diagram"/>
    </a:ext>
  </dgm:extLst>
</dgm:dataModel>
</file>

<file path=ppt/diagrams/v32_s40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40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0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1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1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41" minVer="http://schemas.openxmlformats.org/drawingml/2006/diagram"/>
    </a:ext>
  </dgm:extLst>
</dgm:dataModel>
</file>

<file path=ppt/diagrams/v32_s41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41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1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2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2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42" minVer="http://schemas.openxmlformats.org/drawingml/2006/diagram"/>
    </a:ext>
  </dgm:extLst>
</dgm:dataModel>
</file>

<file path=ppt/diagrams/v32_s42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42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2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3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3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43" minVer="http://schemas.openxmlformats.org/drawingml/2006/diagram"/>
    </a:ext>
  </dgm:extLst>
</dgm:dataModel>
</file>

<file path=ppt/diagrams/v32_s43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43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3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4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4_data1.xml><?xml version="1.0" encoding="utf-8"?>
<dgm:dataModel xmlns:dgm="http://schemas.openxmlformats.org/drawingml/2006/diagram" xmlns:a="http://schemas.openxmlformats.org/drawingml/2006/main">
  <dgm:ptLst>
    <dgm:pt modelId="{AE7ADD0B-6B56-48BE-819F-783ED575FBB7}"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B6DBC833-D6B6-4C6A-90F0-6244BB029130}">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9F5D900D-0893-42FC-AEDE-FC93E19122E9}" type="parTrans" cxnId="{7FCE13E4-324F-444F-888A-B8D8603F9F13}">
      <dgm:prSet/>
      <dgm:spPr>
        <a:ln>
          <a:noFill/>
        </a:ln>
      </dgm:spPr>
    </dgm:pt>
    <dgm:pt modelId="{4C2D2AE9-FDEF-492D-9837-0912068F4D1B}" type="sibTrans" cxnId="{7FCE13E4-324F-444F-888A-B8D8603F9F13}">
      <dgm:prSet/>
      <dgm:spPr>
        <a:ln>
          <a:noFill/>
        </a:ln>
      </dgm:spPr>
    </dgm:pt>
    <dgm:pt modelId="{9EF98226-BFB7-4D32-9899-03567500D2A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826C838F-5DE0-40DD-9BF1-4412AD704AB8}" type="parTrans" cxnId="{7CAB17E4-5EDE-4670-9168-8F49AC4E5AEC}">
      <dgm:prSet/>
      <dgm:spPr>
        <a:ln>
          <a:noFill/>
        </a:ln>
      </dgm:spPr>
    </dgm:pt>
    <dgm:pt modelId="{675DC729-2C29-4602-8821-11375F0EFA89}" type="sibTrans" cxnId="{7CAB17E4-5EDE-4670-9168-8F49AC4E5AEC}">
      <dgm:prSet/>
      <dgm:spPr>
        <a:ln>
          <a:noFill/>
        </a:ln>
      </dgm:spPr>
    </dgm:pt>
    <dgm:pt modelId="{90084507-E514-459F-A0D7-E88E90EC4649}">
      <dgm:prSet phldrT="[Text]" custT="1"/>
      <dgm:spPr>
        <a:solidFill>
          <a:srgbClr val="0A2373"/>
        </a:solidFill>
        <a:ln>
          <a:noFill/>
        </a:ln>
      </dgm:spPr>
      <dgm:t>
        <a:bodyPr/>
        <a:lstStyle/>
        <a:p>
          <a:r>
            <a:rPr lang="en-ZA" sz="1050" b="1">
              <a:solidFill>
                <a:srgbClr val="FFFFFF"/>
              </a:solidFill>
              <a:latin typeface="Lato" panose="020F0502020204030203" pitchFamily="34" charset="0"/>
            </a:rPr>
            <a:t>Calibration</a:t>
          </a:r>
        </a:p>
      </dgm:t>
    </dgm:pt>
    <dgm:pt modelId="{E08CF9A9-2223-4981-925A-4B60D7A25E24}" type="parTrans" cxnId="{7FE6767D-6905-4DBB-8790-65A7BC30882E}">
      <dgm:prSet/>
      <dgm:spPr>
        <a:ln>
          <a:noFill/>
        </a:ln>
      </dgm:spPr>
    </dgm:pt>
    <dgm:pt modelId="{33F08AA3-EAFD-4B05-92B9-371E683A1F6B}" type="sibTrans" cxnId="{7FE6767D-6905-4DBB-8790-65A7BC30882E}">
      <dgm:prSet/>
      <dgm:spPr>
        <a:ln>
          <a:noFill/>
        </a:ln>
      </dgm:spPr>
    </dgm:pt>
    <dgm:pt modelId="{648CB789-1476-4847-AA12-12C4A070604A}">
      <dgm:prSet phldrT="[Text]" custT="1"/>
      <dgm:spPr>
        <a:solidFill>
          <a:srgbClr val="F5F5F5"/>
        </a:solidFill>
        <a:ln>
          <a:noFill/>
        </a:ln>
      </dgm:spPr>
      <dgm:t>
        <a:bodyPr/>
        <a:lstStyle/>
        <a:p>
          <a:r>
            <a:rPr lang="en-ZA" sz="1050" b="0">
              <a:solidFill>
                <a:srgbClr val="0A2373"/>
              </a:solidFill>
              <a:latin typeface="Lato" panose="020F0502020204030203" pitchFamily="34" charset="0"/>
            </a:rPr>
            <a:t>Reference detail</a:t>
          </a:r>
        </a:p>
      </dgm:t>
    </dgm:pt>
    <dgm:pt modelId="{C1C6056E-8542-4E41-B979-5E6357A575E2}" type="parTrans" cxnId="{316827FE-B2A7-4321-9825-C1A391AA4526}">
      <dgm:prSet/>
      <dgm:spPr>
        <a:ln>
          <a:noFill/>
        </a:ln>
      </dgm:spPr>
    </dgm:pt>
    <dgm:pt modelId="{EEA40698-0E48-4426-8763-E2E6EB36DA53}" type="sibTrans" cxnId="{316827FE-B2A7-4321-9825-C1A391AA4526}">
      <dgm:prSet/>
      <dgm:spPr>
        <a:ln>
          <a:noFill/>
        </a:ln>
      </dgm:spPr>
    </dgm:pt>
    <dgm:pt modelId="{7FC0E1D2-923D-4582-892F-125DCF76B55E}" type="pres">
      <dgm:prSet presAssocID="{AE7ADD0B-6B56-48BE-819F-783ED575FBB7}" presName="Name0" presStyleCnt="0">
        <dgm:presLayoutVars>
          <dgm:dir/>
          <dgm:animLvl val="lvl"/>
          <dgm:resizeHandles val="exact"/>
        </dgm:presLayoutVars>
      </dgm:prSet>
      <dgm:spPr>
        <a:ln>
          <a:noFill/>
        </a:ln>
      </dgm:spPr>
    </dgm:pt>
    <dgm:pt modelId="{523F44EB-2F60-4FB0-A715-F967E559F304}" type="pres">
      <dgm:prSet presAssocID="{B6DBC833-D6B6-4C6A-90F0-6244BB029130}" presName="parTxOnly" presStyleLbl="node1" presStyleIdx="0" presStyleCnt="4">
        <dgm:presLayoutVars>
          <dgm:chMax val="0"/>
          <dgm:chPref val="0"/>
          <dgm:bulletEnabled val="1"/>
        </dgm:presLayoutVars>
      </dgm:prSet>
      <dgm:spPr>
        <a:ln>
          <a:noFill/>
        </a:ln>
      </dgm:spPr>
    </dgm:pt>
    <dgm:pt modelId="{79409381-1686-461B-8BE6-0680B33EC0B6}" type="pres">
      <dgm:prSet presAssocID="{4C2D2AE9-FDEF-492D-9837-0912068F4D1B}" presName="parTxOnlySpace" presStyleCnt="0"/>
      <dgm:spPr>
        <a:ln>
          <a:noFill/>
        </a:ln>
      </dgm:spPr>
    </dgm:pt>
    <dgm:pt modelId="{3B12C42E-FCE4-47A3-BDAA-E0A86D72ED8B}" type="pres">
      <dgm:prSet presAssocID="{9EF98226-BFB7-4D32-9899-03567500D2AB}" presName="parTxOnly" presStyleLbl="node1" presStyleIdx="1" presStyleCnt="4">
        <dgm:presLayoutVars>
          <dgm:chMax val="0"/>
          <dgm:chPref val="0"/>
          <dgm:bulletEnabled val="1"/>
        </dgm:presLayoutVars>
      </dgm:prSet>
      <dgm:spPr>
        <a:ln>
          <a:noFill/>
        </a:ln>
      </dgm:spPr>
    </dgm:pt>
    <dgm:pt modelId="{AFC19BE2-F538-47BB-B7D7-33FB7D8BC7AB}" type="pres">
      <dgm:prSet presAssocID="{675DC729-2C29-4602-8821-11375F0EFA89}" presName="parTxOnlySpace" presStyleCnt="0"/>
      <dgm:spPr>
        <a:ln>
          <a:noFill/>
        </a:ln>
      </dgm:spPr>
    </dgm:pt>
    <dgm:pt modelId="{9D90B05B-90BC-4C33-912E-0BA4D8EA5529}" type="pres">
      <dgm:prSet presAssocID="{90084507-E514-459F-A0D7-E88E90EC4649}" presName="parTxOnly" presStyleLbl="node1" presStyleIdx="2" presStyleCnt="4">
        <dgm:presLayoutVars>
          <dgm:chMax val="0"/>
          <dgm:chPref val="0"/>
          <dgm:bulletEnabled val="1"/>
        </dgm:presLayoutVars>
      </dgm:prSet>
      <dgm:spPr>
        <a:ln>
          <a:noFill/>
        </a:ln>
      </dgm:spPr>
    </dgm:pt>
    <dgm:pt modelId="{68E0CE78-0178-4B87-B246-AD3C8E1A521D}" type="pres">
      <dgm:prSet presAssocID="{33F08AA3-EAFD-4B05-92B9-371E683A1F6B}" presName="parTxOnlySpace" presStyleCnt="0"/>
      <dgm:spPr>
        <a:ln>
          <a:noFill/>
        </a:ln>
      </dgm:spPr>
    </dgm:pt>
    <dgm:pt modelId="{891D13F4-88CD-40CD-AA59-CF68CE46AE18}" type="pres">
      <dgm:prSet presAssocID="{648CB789-1476-4847-AA12-12C4A070604A}" presName="parTxOnly" presStyleLbl="node1" presStyleIdx="3" presStyleCnt="4">
        <dgm:presLayoutVars>
          <dgm:chMax val="0"/>
          <dgm:chPref val="0"/>
          <dgm:bulletEnabled val="1"/>
        </dgm:presLayoutVars>
      </dgm:prSet>
      <dgm:spPr>
        <a:ln>
          <a:noFill/>
        </a:ln>
      </dgm:spPr>
    </dgm:pt>
  </dgm:ptLst>
  <dgm:cxnLst>
    <dgm:cxn modelId="{B3E8B97A-4719-4D9E-B8A1-E54D1BC44145}" type="presOf" srcId="{AE7ADD0B-6B56-48BE-819F-783ED575FBB7}" destId="{7FC0E1D2-923D-4582-892F-125DCF76B55E}" srcOrd="0" destOrd="0" presId="urn:microsoft.com/office/officeart/2005/8/layout/chevron1"/>
    <dgm:cxn modelId="{7FE6767D-6905-4DBB-8790-65A7BC30882E}" srcId="{AE7ADD0B-6B56-48BE-819F-783ED575FBB7}" destId="{90084507-E514-459F-A0D7-E88E90EC4649}" srcOrd="2" destOrd="0" parTransId="{E08CF9A9-2223-4981-925A-4B60D7A25E24}" sibTransId="{33F08AA3-EAFD-4B05-92B9-371E683A1F6B}"/>
    <dgm:cxn modelId="{E9FF55AA-9BE2-446C-AA5B-81919748B579}" type="presOf" srcId="{B6DBC833-D6B6-4C6A-90F0-6244BB029130}" destId="{523F44EB-2F60-4FB0-A715-F967E559F304}" srcOrd="0" destOrd="0" presId="urn:microsoft.com/office/officeart/2005/8/layout/chevron1"/>
    <dgm:cxn modelId="{BABAC4BE-9205-41C3-A9E1-0B8AA1F8BE68}" type="presOf" srcId="{90084507-E514-459F-A0D7-E88E90EC4649}" destId="{9D90B05B-90BC-4C33-912E-0BA4D8EA5529}" srcOrd="0" destOrd="0" presId="urn:microsoft.com/office/officeart/2005/8/layout/chevron1"/>
    <dgm:cxn modelId="{F508BBC1-AD9E-49EA-96EE-204314552116}" type="presOf" srcId="{9EF98226-BFB7-4D32-9899-03567500D2AB}" destId="{3B12C42E-FCE4-47A3-BDAA-E0A86D72ED8B}" srcOrd="0" destOrd="0" presId="urn:microsoft.com/office/officeart/2005/8/layout/chevron1"/>
    <dgm:cxn modelId="{7FCE13E4-324F-444F-888A-B8D8603F9F13}" srcId="{AE7ADD0B-6B56-48BE-819F-783ED575FBB7}" destId="{B6DBC833-D6B6-4C6A-90F0-6244BB029130}" srcOrd="0" destOrd="0" parTransId="{9F5D900D-0893-42FC-AEDE-FC93E19122E9}" sibTransId="{4C2D2AE9-FDEF-492D-9837-0912068F4D1B}"/>
    <dgm:cxn modelId="{7CAB17E4-5EDE-4670-9168-8F49AC4E5AEC}" srcId="{AE7ADD0B-6B56-48BE-819F-783ED575FBB7}" destId="{9EF98226-BFB7-4D32-9899-03567500D2AB}" srcOrd="1" destOrd="0" parTransId="{826C838F-5DE0-40DD-9BF1-4412AD704AB8}" sibTransId="{675DC729-2C29-4602-8821-11375F0EFA89}"/>
    <dgm:cxn modelId="{235C9AE4-E701-49D5-9B8A-53914D8D19BB}" type="presOf" srcId="{648CB789-1476-4847-AA12-12C4A070604A}" destId="{891D13F4-88CD-40CD-AA59-CF68CE46AE18}" srcOrd="0" destOrd="0" presId="urn:microsoft.com/office/officeart/2005/8/layout/chevron1"/>
    <dgm:cxn modelId="{316827FE-B2A7-4321-9825-C1A391AA4526}" srcId="{AE7ADD0B-6B56-48BE-819F-783ED575FBB7}" destId="{648CB789-1476-4847-AA12-12C4A070604A}" srcOrd="3" destOrd="0" parTransId="{C1C6056E-8542-4E41-B979-5E6357A575E2}" sibTransId="{EEA40698-0E48-4426-8763-E2E6EB36DA53}"/>
    <dgm:cxn modelId="{FDA0CE1F-11F1-40A3-A4EC-7DE1C0ABA830}" type="presParOf" srcId="{7FC0E1D2-923D-4582-892F-125DCF76B55E}" destId="{523F44EB-2F60-4FB0-A715-F967E559F304}" srcOrd="0" destOrd="0" presId="urn:microsoft.com/office/officeart/2005/8/layout/chevron1"/>
    <dgm:cxn modelId="{122FBC7A-D5B7-4142-B9E8-4FF0BF77548B}" type="presParOf" srcId="{7FC0E1D2-923D-4582-892F-125DCF76B55E}" destId="{79409381-1686-461B-8BE6-0680B33EC0B6}" srcOrd="1" destOrd="0" presId="urn:microsoft.com/office/officeart/2005/8/layout/chevron1"/>
    <dgm:cxn modelId="{88E7E968-5439-4110-88BC-7F0387B44DA8}" type="presParOf" srcId="{7FC0E1D2-923D-4582-892F-125DCF76B55E}" destId="{3B12C42E-FCE4-47A3-BDAA-E0A86D72ED8B}" srcOrd="2" destOrd="0" presId="urn:microsoft.com/office/officeart/2005/8/layout/chevron1"/>
    <dgm:cxn modelId="{8482E8D7-F484-4C33-BBC6-0784F624055C}" type="presParOf" srcId="{7FC0E1D2-923D-4582-892F-125DCF76B55E}" destId="{AFC19BE2-F538-47BB-B7D7-33FB7D8BC7AB}" srcOrd="3" destOrd="0" presId="urn:microsoft.com/office/officeart/2005/8/layout/chevron1"/>
    <dgm:cxn modelId="{718A7191-968C-4CEF-870A-15C445809A4F}" type="presParOf" srcId="{7FC0E1D2-923D-4582-892F-125DCF76B55E}" destId="{9D90B05B-90BC-4C33-912E-0BA4D8EA5529}" srcOrd="4" destOrd="0" presId="urn:microsoft.com/office/officeart/2005/8/layout/chevron1"/>
    <dgm:cxn modelId="{4D035BA2-DCC3-434D-A2C6-05297C85C7CA}" type="presParOf" srcId="{7FC0E1D2-923D-4582-892F-125DCF76B55E}" destId="{68E0CE78-0178-4B87-B246-AD3C8E1A521D}" srcOrd="5" destOrd="0" presId="urn:microsoft.com/office/officeart/2005/8/layout/chevron1"/>
    <dgm:cxn modelId="{6FBB6115-919E-48E9-A7C7-EC760095E882}" type="presParOf" srcId="{7FC0E1D2-923D-4582-892F-125DCF76B55E}" destId="{891D13F4-88CD-40CD-AA59-CF68CE46AE18}" srcOrd="6" destOrd="0" presId="urn:microsoft.com/office/officeart/2005/8/layout/chevron1"/>
  </dgm:cxnLst>
  <dgm:bg/>
  <dgm:whole/>
  <dgm:extLst>
    <a:ext uri="http://schemas.microsoft.com/office/drawing/2008/diagram">
      <dsp:dataModelExt xmlns:dsp="http://schemas.microsoft.com/office/drawing/2008/diagram" relId="rIdV32Drawing44" minVer="http://schemas.openxmlformats.org/drawingml/2006/diagram"/>
    </a:ext>
  </dgm:extLst>
</dgm:dataModel>
</file>

<file path=ppt/diagrams/v32_s44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F44EB-2F60-4FB0-A715-F967E559F304}">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3B12C42E-FCE4-47A3-BDAA-E0A86D72ED8B}">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D90B05B-90BC-4C33-912E-0BA4D8EA5529}">
      <dsp:nvSpPr>
        <dsp:cNvPr id="0" name=""/>
        <dsp:cNvSpPr/>
      </dsp:nvSpPr>
      <dsp:spPr>
        <a:xfrm>
          <a:off x="5353812"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Calibration</a:t>
          </a:r>
        </a:p>
      </dsp:txBody>
      <dsp:txXfrm>
        <a:off x="5410505" y="0"/>
        <a:ext cx="2508656" cy="283464"/>
      </dsp:txXfrm>
    </dsp:sp>
    <dsp:sp modelId="{891D13F4-88CD-40CD-AA59-CF68CE46AE18}">
      <dsp:nvSpPr>
        <dsp:cNvPr id="0" name=""/>
        <dsp:cNvSpPr/>
      </dsp:nvSpPr>
      <dsp:spPr>
        <a:xfrm>
          <a:off x="8030718"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Reference detail</a:t>
          </a:r>
        </a:p>
      </dsp:txBody>
      <dsp:txXfrm>
        <a:off x="8087411" y="0"/>
        <a:ext cx="2508656" cy="283464"/>
      </dsp:txXfrm>
    </dsp:sp>
  </dsp:spTree>
</dsp:drawing>
</file>

<file path=ppt/diagrams/v32_s44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4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5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5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45" minVer="http://schemas.openxmlformats.org/drawingml/2006/diagram"/>
    </a:ext>
  </dgm:extLst>
</dgm:dataModel>
</file>

<file path=ppt/diagrams/v32_s45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45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5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6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6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46" minVer="http://schemas.openxmlformats.org/drawingml/2006/diagram"/>
    </a:ext>
  </dgm:extLst>
</dgm:dataModel>
</file>

<file path=ppt/diagrams/v32_s46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46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6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7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7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47" minVer="http://schemas.openxmlformats.org/drawingml/2006/diagram"/>
    </a:ext>
  </dgm:extLst>
</dgm:dataModel>
</file>

<file path=ppt/diagrams/v32_s47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47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7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8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8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48" minVer="http://schemas.openxmlformats.org/drawingml/2006/diagram"/>
    </a:ext>
  </dgm:extLst>
</dgm:dataModel>
</file>

<file path=ppt/diagrams/v32_s48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48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8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v32_s49_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v32_s49_data1.xml><?xml version="1.0" encoding="utf-8"?>
<dgm:dataModel xmlns:dgm="http://schemas.openxmlformats.org/drawingml/2006/diagram" xmlns:a="http://schemas.openxmlformats.org/drawingml/2006/main">
  <dgm:ptLst>
    <dgm:pt modelId="{5F91212B-D40E-4230-A205-2985E0C002EB}" type="doc">
      <dgm:prSet loTypeId="urn:microsoft.com/office/officeart/2005/8/layout/chevron1" loCatId="process" qsTypeId="urn:microsoft.com/office/officeart/2005/8/quickstyle/simple1" qsCatId="simple" csTypeId="urn:microsoft.com/office/officeart/2005/8/colors/accent1_2" csCatId="accent1" phldr="1"/>
      <dgm:spPr>
        <a:ln>
          <a:noFill/>
        </a:ln>
      </dgm:spPr>
    </dgm:pt>
    <dgm:pt modelId="{6796CFE2-A60E-4FE7-9505-DA7C10F4C982}">
      <dgm:prSet phldrT="[Text]" custT="1"/>
      <dgm:spPr>
        <a:prstGeom prst="rightArrow">
          <a:avLst>
            <a:gd name="adj1" fmla="val 100000"/>
            <a:gd name="adj2" fmla="val 20000"/>
          </a:avLst>
        </a:prstGeom>
        <a:solidFill>
          <a:srgbClr val="F5F5F5"/>
        </a:solidFill>
        <a:ln>
          <a:noFill/>
        </a:ln>
      </dgm:spPr>
      <dgm:t>
        <a:bodyPr/>
        <a:lstStyle/>
        <a:p>
          <a:r>
            <a:rPr lang="en-ZA" sz="1050" b="0">
              <a:solidFill>
                <a:srgbClr val="0A2373"/>
              </a:solidFill>
              <a:latin typeface="Lato" panose="020F0502020204030203" pitchFamily="34" charset="0"/>
            </a:rPr>
            <a:t>Appendix</a:t>
          </a:r>
        </a:p>
      </dgm:t>
    </dgm:pt>
    <dgm:pt modelId="{D9CA39ED-3ED2-4DE0-A271-B8D088428901}" type="parTrans" cxnId="{A09CB3E7-BC43-49B2-A426-86AF639E1FFA}">
      <dgm:prSet/>
      <dgm:spPr>
        <a:ln>
          <a:noFill/>
        </a:ln>
      </dgm:spPr>
    </dgm:pt>
    <dgm:pt modelId="{5414C8E5-B56C-4CC9-A973-2B0AD3938475}" type="sibTrans" cxnId="{A09CB3E7-BC43-49B2-A426-86AF639E1FFA}">
      <dgm:prSet/>
      <dgm:spPr>
        <a:ln>
          <a:noFill/>
        </a:ln>
      </dgm:spPr>
    </dgm:pt>
    <dgm:pt modelId="{46F00DE4-A435-4B88-8235-03FE3C62DF0B}">
      <dgm:prSet phldrT="[Text]" custT="1"/>
      <dgm:spPr>
        <a:solidFill>
          <a:srgbClr val="F5F5F5"/>
        </a:solidFill>
        <a:ln>
          <a:noFill/>
        </a:ln>
      </dgm:spPr>
      <dgm:t>
        <a:bodyPr/>
        <a:lstStyle/>
        <a:p>
          <a:r>
            <a:rPr lang="en-ZA" sz="1050" b="0">
              <a:solidFill>
                <a:srgbClr val="0A2373"/>
              </a:solidFill>
              <a:latin typeface="Lato" panose="020F0502020204030203" pitchFamily="34" charset="0"/>
            </a:rPr>
            <a:t>Supporting evidence</a:t>
          </a:r>
        </a:p>
      </dgm:t>
    </dgm:pt>
    <dgm:pt modelId="{52367AE0-C51D-4E12-A798-82B925A99343}" type="parTrans" cxnId="{84590708-B78E-454F-A3AD-ED19304E4ED3}">
      <dgm:prSet/>
      <dgm:spPr>
        <a:ln>
          <a:noFill/>
        </a:ln>
      </dgm:spPr>
    </dgm:pt>
    <dgm:pt modelId="{88614FB4-D8AC-4706-8467-37C05655F010}" type="sibTrans" cxnId="{84590708-B78E-454F-A3AD-ED19304E4ED3}">
      <dgm:prSet/>
      <dgm:spPr>
        <a:ln>
          <a:noFill/>
        </a:ln>
      </dgm:spPr>
    </dgm:pt>
    <dgm:pt modelId="{93C45B3C-F0C9-41DA-BBCA-348AC0D952D4}">
      <dgm:prSet phldrT="[Text]" custT="1"/>
      <dgm:spPr>
        <a:solidFill>
          <a:srgbClr val="F5F5F5"/>
        </a:solidFill>
        <a:ln>
          <a:noFill/>
        </a:ln>
      </dgm:spPr>
      <dgm:t>
        <a:bodyPr/>
        <a:lstStyle/>
        <a:p>
          <a:r>
            <a:rPr lang="en-ZA" sz="1050" b="0">
              <a:solidFill>
                <a:srgbClr val="0A2373"/>
              </a:solidFill>
              <a:latin typeface="Lato" panose="020F0502020204030203" pitchFamily="34" charset="0"/>
            </a:rPr>
            <a:t>Calibration</a:t>
          </a:r>
        </a:p>
      </dgm:t>
    </dgm:pt>
    <dgm:pt modelId="{9A8F57CC-8AED-4232-B7CD-C20E1C68351F}" type="parTrans" cxnId="{0F0B0061-1060-41A6-B640-7DB85CBDB732}">
      <dgm:prSet/>
      <dgm:spPr>
        <a:ln>
          <a:noFill/>
        </a:ln>
      </dgm:spPr>
    </dgm:pt>
    <dgm:pt modelId="{58138DF2-A881-42C3-AC9F-49D4A05D66E9}" type="sibTrans" cxnId="{0F0B0061-1060-41A6-B640-7DB85CBDB732}">
      <dgm:prSet/>
      <dgm:spPr>
        <a:ln>
          <a:noFill/>
        </a:ln>
      </dgm:spPr>
    </dgm:pt>
    <dgm:pt modelId="{DA5AFDC4-B00B-4A4F-9072-B967E936FFED}">
      <dgm:prSet phldrT="[Text]" custT="1"/>
      <dgm:spPr>
        <a:solidFill>
          <a:srgbClr val="0A2373"/>
        </a:solidFill>
        <a:ln>
          <a:noFill/>
        </a:ln>
      </dgm:spPr>
      <dgm:t>
        <a:bodyPr/>
        <a:lstStyle/>
        <a:p>
          <a:r>
            <a:rPr lang="en-ZA" sz="1050" b="1">
              <a:solidFill>
                <a:srgbClr val="FFFFFF"/>
              </a:solidFill>
              <a:latin typeface="Lato" panose="020F0502020204030203" pitchFamily="34" charset="0"/>
            </a:rPr>
            <a:t>Reference detail</a:t>
          </a:r>
        </a:p>
      </dgm:t>
    </dgm:pt>
    <dgm:pt modelId="{4445E4FB-4945-45D9-B3A8-C5FCB9211185}" type="parTrans" cxnId="{9DC2720B-6FB0-459F-BEF6-64F6EC327FE8}">
      <dgm:prSet/>
      <dgm:spPr>
        <a:ln>
          <a:noFill/>
        </a:ln>
      </dgm:spPr>
    </dgm:pt>
    <dgm:pt modelId="{5C40CF31-6CEB-4016-BBC3-7E7388859DA3}" type="sibTrans" cxnId="{9DC2720B-6FB0-459F-BEF6-64F6EC327FE8}">
      <dgm:prSet/>
      <dgm:spPr>
        <a:ln>
          <a:noFill/>
        </a:ln>
      </dgm:spPr>
    </dgm:pt>
    <dgm:pt modelId="{2C4894FA-DB1A-4F08-A2AC-6BB79471CAC2}" type="pres">
      <dgm:prSet presAssocID="{5F91212B-D40E-4230-A205-2985E0C002EB}" presName="Name0" presStyleCnt="0">
        <dgm:presLayoutVars>
          <dgm:dir/>
          <dgm:animLvl val="lvl"/>
          <dgm:resizeHandles val="exact"/>
        </dgm:presLayoutVars>
      </dgm:prSet>
      <dgm:spPr>
        <a:ln>
          <a:noFill/>
        </a:ln>
      </dgm:spPr>
    </dgm:pt>
    <dgm:pt modelId="{6653F7F7-576B-46E5-A80C-B87FA42054EB}" type="pres">
      <dgm:prSet presAssocID="{6796CFE2-A60E-4FE7-9505-DA7C10F4C982}" presName="parTxOnly" presStyleLbl="node1" presStyleIdx="0" presStyleCnt="4">
        <dgm:presLayoutVars>
          <dgm:chMax val="0"/>
          <dgm:chPref val="0"/>
          <dgm:bulletEnabled val="1"/>
        </dgm:presLayoutVars>
      </dgm:prSet>
      <dgm:spPr>
        <a:ln>
          <a:noFill/>
        </a:ln>
      </dgm:spPr>
    </dgm:pt>
    <dgm:pt modelId="{6F4C6466-3E8A-472D-83C2-2C1CDBF2CEE7}" type="pres">
      <dgm:prSet presAssocID="{5414C8E5-B56C-4CC9-A973-2B0AD3938475}" presName="parTxOnlySpace" presStyleCnt="0"/>
      <dgm:spPr>
        <a:ln>
          <a:noFill/>
        </a:ln>
      </dgm:spPr>
    </dgm:pt>
    <dgm:pt modelId="{8B35C3F7-1233-4943-8FCA-BEC7A4B28A41}" type="pres">
      <dgm:prSet presAssocID="{46F00DE4-A435-4B88-8235-03FE3C62DF0B}" presName="parTxOnly" presStyleLbl="node1" presStyleIdx="1" presStyleCnt="4">
        <dgm:presLayoutVars>
          <dgm:chMax val="0"/>
          <dgm:chPref val="0"/>
          <dgm:bulletEnabled val="1"/>
        </dgm:presLayoutVars>
      </dgm:prSet>
      <dgm:spPr>
        <a:ln>
          <a:noFill/>
        </a:ln>
      </dgm:spPr>
    </dgm:pt>
    <dgm:pt modelId="{5354E541-C8E0-445B-812C-2BAA5BC5F156}" type="pres">
      <dgm:prSet presAssocID="{88614FB4-D8AC-4706-8467-37C05655F010}" presName="parTxOnlySpace" presStyleCnt="0"/>
      <dgm:spPr>
        <a:ln>
          <a:noFill/>
        </a:ln>
      </dgm:spPr>
    </dgm:pt>
    <dgm:pt modelId="{92B58A0F-9B71-483B-BA3E-83D7B4E063E7}" type="pres">
      <dgm:prSet presAssocID="{93C45B3C-F0C9-41DA-BBCA-348AC0D952D4}" presName="parTxOnly" presStyleLbl="node1" presStyleIdx="2" presStyleCnt="4">
        <dgm:presLayoutVars>
          <dgm:chMax val="0"/>
          <dgm:chPref val="0"/>
          <dgm:bulletEnabled val="1"/>
        </dgm:presLayoutVars>
      </dgm:prSet>
      <dgm:spPr>
        <a:ln>
          <a:noFill/>
        </a:ln>
      </dgm:spPr>
    </dgm:pt>
    <dgm:pt modelId="{1A151D6D-0CA2-4BB9-97AF-F2ED55EF40DE}" type="pres">
      <dgm:prSet presAssocID="{58138DF2-A881-42C3-AC9F-49D4A05D66E9}" presName="parTxOnlySpace" presStyleCnt="0"/>
      <dgm:spPr>
        <a:ln>
          <a:noFill/>
        </a:ln>
      </dgm:spPr>
    </dgm:pt>
    <dgm:pt modelId="{06BF2057-3A4B-435B-A5BC-39CF70EE1634}" type="pres">
      <dgm:prSet presAssocID="{DA5AFDC4-B00B-4A4F-9072-B967E936FFED}" presName="parTxOnly" presStyleLbl="node1" presStyleIdx="3" presStyleCnt="4">
        <dgm:presLayoutVars>
          <dgm:chMax val="0"/>
          <dgm:chPref val="0"/>
          <dgm:bulletEnabled val="1"/>
        </dgm:presLayoutVars>
      </dgm:prSet>
      <dgm:spPr>
        <a:ln>
          <a:noFill/>
        </a:ln>
      </dgm:spPr>
    </dgm:pt>
  </dgm:ptLst>
  <dgm:cxnLst>
    <dgm:cxn modelId="{84590708-B78E-454F-A3AD-ED19304E4ED3}" srcId="{5F91212B-D40E-4230-A205-2985E0C002EB}" destId="{46F00DE4-A435-4B88-8235-03FE3C62DF0B}" srcOrd="1" destOrd="0" parTransId="{52367AE0-C51D-4E12-A798-82B925A99343}" sibTransId="{88614FB4-D8AC-4706-8467-37C05655F010}"/>
    <dgm:cxn modelId="{9DC2720B-6FB0-459F-BEF6-64F6EC327FE8}" srcId="{5F91212B-D40E-4230-A205-2985E0C002EB}" destId="{DA5AFDC4-B00B-4A4F-9072-B967E936FFED}" srcOrd="3" destOrd="0" parTransId="{4445E4FB-4945-45D9-B3A8-C5FCB9211185}" sibTransId="{5C40CF31-6CEB-4016-BBC3-7E7388859DA3}"/>
    <dgm:cxn modelId="{0F0B0061-1060-41A6-B640-7DB85CBDB732}" srcId="{5F91212B-D40E-4230-A205-2985E0C002EB}" destId="{93C45B3C-F0C9-41DA-BBCA-348AC0D952D4}" srcOrd="2" destOrd="0" parTransId="{9A8F57CC-8AED-4232-B7CD-C20E1C68351F}" sibTransId="{58138DF2-A881-42C3-AC9F-49D4A05D66E9}"/>
    <dgm:cxn modelId="{AA799647-5EA8-45B5-86E3-48BFAD5D6CEA}" type="presOf" srcId="{46F00DE4-A435-4B88-8235-03FE3C62DF0B}" destId="{8B35C3F7-1233-4943-8FCA-BEC7A4B28A41}" srcOrd="0" destOrd="0" presId="urn:microsoft.com/office/officeart/2005/8/layout/chevron1"/>
    <dgm:cxn modelId="{BFCDD748-07FE-40F9-9569-F21253DF6DA3}" type="presOf" srcId="{93C45B3C-F0C9-41DA-BBCA-348AC0D952D4}" destId="{92B58A0F-9B71-483B-BA3E-83D7B4E063E7}" srcOrd="0" destOrd="0" presId="urn:microsoft.com/office/officeart/2005/8/layout/chevron1"/>
    <dgm:cxn modelId="{0679476B-5CEF-4989-ABF8-E5B3DB552F42}" type="presOf" srcId="{6796CFE2-A60E-4FE7-9505-DA7C10F4C982}" destId="{6653F7F7-576B-46E5-A80C-B87FA42054EB}" srcOrd="0" destOrd="0" presId="urn:microsoft.com/office/officeart/2005/8/layout/chevron1"/>
    <dgm:cxn modelId="{7062576B-4F76-46E1-9B13-9B284817B969}" type="presOf" srcId="{DA5AFDC4-B00B-4A4F-9072-B967E936FFED}" destId="{06BF2057-3A4B-435B-A5BC-39CF70EE1634}" srcOrd="0" destOrd="0" presId="urn:microsoft.com/office/officeart/2005/8/layout/chevron1"/>
    <dgm:cxn modelId="{86BF4EC1-1FB0-4464-A556-7FBB4F3AB5FB}" type="presOf" srcId="{5F91212B-D40E-4230-A205-2985E0C002EB}" destId="{2C4894FA-DB1A-4F08-A2AC-6BB79471CAC2}" srcOrd="0" destOrd="0" presId="urn:microsoft.com/office/officeart/2005/8/layout/chevron1"/>
    <dgm:cxn modelId="{A09CB3E7-BC43-49B2-A426-86AF639E1FFA}" srcId="{5F91212B-D40E-4230-A205-2985E0C002EB}" destId="{6796CFE2-A60E-4FE7-9505-DA7C10F4C982}" srcOrd="0" destOrd="0" parTransId="{D9CA39ED-3ED2-4DE0-A271-B8D088428901}" sibTransId="{5414C8E5-B56C-4CC9-A973-2B0AD3938475}"/>
    <dgm:cxn modelId="{725364C5-DA20-4717-B8B5-C8280294D523}" type="presParOf" srcId="{2C4894FA-DB1A-4F08-A2AC-6BB79471CAC2}" destId="{6653F7F7-576B-46E5-A80C-B87FA42054EB}" srcOrd="0" destOrd="0" presId="urn:microsoft.com/office/officeart/2005/8/layout/chevron1"/>
    <dgm:cxn modelId="{D024FF60-5EB3-4C37-82EF-20DEECB1FE0D}" type="presParOf" srcId="{2C4894FA-DB1A-4F08-A2AC-6BB79471CAC2}" destId="{6F4C6466-3E8A-472D-83C2-2C1CDBF2CEE7}" srcOrd="1" destOrd="0" presId="urn:microsoft.com/office/officeart/2005/8/layout/chevron1"/>
    <dgm:cxn modelId="{65B27AE3-9D33-4C8F-B017-06276E5D8066}" type="presParOf" srcId="{2C4894FA-DB1A-4F08-A2AC-6BB79471CAC2}" destId="{8B35C3F7-1233-4943-8FCA-BEC7A4B28A41}" srcOrd="2" destOrd="0" presId="urn:microsoft.com/office/officeart/2005/8/layout/chevron1"/>
    <dgm:cxn modelId="{65A52CD7-0DAB-49E7-BD64-C4D043448792}" type="presParOf" srcId="{2C4894FA-DB1A-4F08-A2AC-6BB79471CAC2}" destId="{5354E541-C8E0-445B-812C-2BAA5BC5F156}" srcOrd="3" destOrd="0" presId="urn:microsoft.com/office/officeart/2005/8/layout/chevron1"/>
    <dgm:cxn modelId="{5CAF96CA-FB2E-4A87-97AA-1BB5048EAB06}" type="presParOf" srcId="{2C4894FA-DB1A-4F08-A2AC-6BB79471CAC2}" destId="{92B58A0F-9B71-483B-BA3E-83D7B4E063E7}" srcOrd="4" destOrd="0" presId="urn:microsoft.com/office/officeart/2005/8/layout/chevron1"/>
    <dgm:cxn modelId="{6890ADB2-6979-49E8-8CE0-CDDAA6520094}" type="presParOf" srcId="{2C4894FA-DB1A-4F08-A2AC-6BB79471CAC2}" destId="{1A151D6D-0CA2-4BB9-97AF-F2ED55EF40DE}" srcOrd="5" destOrd="0" presId="urn:microsoft.com/office/officeart/2005/8/layout/chevron1"/>
    <dgm:cxn modelId="{7B20460C-5030-4EBC-A7D8-AE95360E36EA}" type="presParOf" srcId="{2C4894FA-DB1A-4F08-A2AC-6BB79471CAC2}" destId="{06BF2057-3A4B-435B-A5BC-39CF70EE1634}" srcOrd="6" destOrd="0" presId="urn:microsoft.com/office/officeart/2005/8/layout/chevron1"/>
  </dgm:cxnLst>
  <dgm:bg/>
  <dgm:whole/>
  <dgm:extLst>
    <a:ext uri="http://schemas.microsoft.com/office/drawing/2008/diagram">
      <dsp:dataModelExt xmlns:dsp="http://schemas.microsoft.com/office/drawing/2008/diagram" relId="rIdV32Drawing49" minVer="http://schemas.openxmlformats.org/drawingml/2006/diagram"/>
    </a:ext>
  </dgm:extLst>
</dgm:dataModel>
</file>

<file path=ppt/diagrams/v32_s49_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3F7F7-576B-46E5-A80C-B87FA42054EB}">
      <dsp:nvSpPr>
        <dsp:cNvPr id="0" name=""/>
        <dsp:cNvSpPr/>
      </dsp:nvSpPr>
      <dsp:spPr>
        <a:xfrm>
          <a:off x="0" y="0"/>
          <a:ext cx="2622042" cy="283464"/>
        </a:xfrm>
        <a:prstGeom prst="rightArrow">
          <a:avLst>
            <a:gd name="adj1" fmla="val 100000"/>
            <a:gd name="adj2"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Appendix</a:t>
          </a:r>
        </a:p>
      </dsp:txBody>
      <dsp:txXfrm>
        <a:off x="56693" y="0"/>
        <a:ext cx="2508656" cy="283464"/>
      </dsp:txXfrm>
    </dsp:sp>
    <dsp:sp modelId="{8B35C3F7-1233-4943-8FCA-BEC7A4B28A41}">
      <dsp:nvSpPr>
        <dsp:cNvPr id="0" name=""/>
        <dsp:cNvSpPr/>
      </dsp:nvSpPr>
      <dsp:spPr>
        <a:xfrm>
          <a:off x="2676906"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Supporting evidence</a:t>
          </a:r>
        </a:p>
      </dsp:txBody>
      <dsp:txXfrm>
        <a:off x="2733599" y="0"/>
        <a:ext cx="2508656" cy="283464"/>
      </dsp:txXfrm>
    </dsp:sp>
    <dsp:sp modelId="{92B58A0F-9B71-483B-BA3E-83D7B4E063E7}">
      <dsp:nvSpPr>
        <dsp:cNvPr id="0" name=""/>
        <dsp:cNvSpPr/>
      </dsp:nvSpPr>
      <dsp:spPr>
        <a:xfrm>
          <a:off x="5353812" y="0"/>
          <a:ext cx="2622042" cy="283464"/>
        </a:xfrm>
        <a:prstGeom prst="chevron">
          <a:avLst>
            <a:gd name="adj" fmla="val 20000"/>
          </a:avLst>
        </a:prstGeom>
        <a:solidFill>
          <a:srgbClr val="F5F5F5"/>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0" kern="1200">
              <a:solidFill>
                <a:srgbClr val="0A2373"/>
              </a:solidFill>
              <a:latin typeface="Lato" panose="020F0502020204030203" pitchFamily="34" charset="0"/>
            </a:rPr>
            <a:t>Calibration</a:t>
          </a:r>
        </a:p>
      </dsp:txBody>
      <dsp:txXfrm>
        <a:off x="5410505" y="0"/>
        <a:ext cx="2508656" cy="283464"/>
      </dsp:txXfrm>
    </dsp:sp>
    <dsp:sp modelId="{06BF2057-3A4B-435B-A5BC-39CF70EE1634}">
      <dsp:nvSpPr>
        <dsp:cNvPr id="0" name=""/>
        <dsp:cNvSpPr/>
      </dsp:nvSpPr>
      <dsp:spPr>
        <a:xfrm>
          <a:off x="8030718" y="0"/>
          <a:ext cx="2622042" cy="283464"/>
        </a:xfrm>
        <a:prstGeom prst="chevron">
          <a:avLst>
            <a:gd name="adj" fmla="val 20000"/>
          </a:avLst>
        </a:prstGeom>
        <a:solidFill>
          <a:srgbClr val="0A2373"/>
        </a:solidFill>
        <a:effectLst/>
        <a:ln>
          <a:noFill/>
        </a:ln>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66725">
            <a:lnSpc>
              <a:spcPct val="90000"/>
            </a:lnSpc>
            <a:spcBef>
              <a:spcPct val="0"/>
            </a:spcBef>
            <a:spcAft>
              <a:spcPct val="35000"/>
            </a:spcAft>
            <a:buNone/>
          </a:pPr>
          <a:r>
            <a:rPr lang="en-ZA" sz="1050" b="1" kern="1200">
              <a:solidFill>
                <a:srgbClr val="FFFFFF"/>
              </a:solidFill>
              <a:latin typeface="Lato" panose="020F0502020204030203" pitchFamily="34" charset="0"/>
            </a:rPr>
            <a:t>Reference detail</a:t>
          </a:r>
        </a:p>
      </dsp:txBody>
      <dsp:txXfrm>
        <a:off x="8087411" y="0"/>
        <a:ext cx="2508656" cy="283464"/>
      </dsp:txXfrm>
    </dsp:sp>
  </dsp:spTree>
</dsp:drawing>
</file>

<file path=ppt/diagrams/v32_s49_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4.32"/>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v32_s49_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&#65279;<?xml version="1.0" encoding="utf-8"?><Relationships xmlns="http://schemas.openxmlformats.org/package/2006/relationships"><Relationship Type="http://schemas.openxmlformats.org/officeDocument/2006/relationships/theme" Target="/ppt/notesMasters/theme/theme3.xml" Id="R8112dc59d01d4e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4051f372884d9c" /><Relationship Type="http://schemas.openxmlformats.org/officeDocument/2006/relationships/notesMaster" Target="/ppt/notesMasters/notesMaster1.xml" Id="R23cb4e7fb72a42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915994daf14a78" /><Relationship Type="http://schemas.openxmlformats.org/officeDocument/2006/relationships/notesMaster" Target="/ppt/notesMasters/notesMaster1.xml" Id="Ra69cef70d79c4c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17c2ca11964feb" /><Relationship Type="http://schemas.openxmlformats.org/officeDocument/2006/relationships/notesMaster" Target="/ppt/notesMasters/notesMaster1.xml" Id="Rdee9faf149ee49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800ca866564eeb" /><Relationship Type="http://schemas.openxmlformats.org/officeDocument/2006/relationships/notesMaster" Target="/ppt/notesMasters/notesMaster1.xml" Id="Rdac706372d8b41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3bd6164fe14679" /><Relationship Type="http://schemas.openxmlformats.org/officeDocument/2006/relationships/notesMaster" Target="/ppt/notesMasters/notesMaster1.xml" Id="R0ec2e7424bab4f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f0fdc73a794220" /><Relationship Type="http://schemas.openxmlformats.org/officeDocument/2006/relationships/notesMaster" Target="/ppt/notesMasters/notesMaster1.xml" Id="R46b968663f2b4b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2efe15527d4a37" /><Relationship Type="http://schemas.openxmlformats.org/officeDocument/2006/relationships/notesMaster" Target="/ppt/notesMasters/notesMaster1.xml" Id="R6aec2244d6034e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c546871957431f" /><Relationship Type="http://schemas.openxmlformats.org/officeDocument/2006/relationships/notesMaster" Target="/ppt/notesMasters/notesMaster1.xml" Id="Re2bff80274144f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bd397060814c52" /><Relationship Type="http://schemas.openxmlformats.org/officeDocument/2006/relationships/notesMaster" Target="/ppt/notesMasters/notesMaster1.xml" Id="R51fc454f42634b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3448291e384155" /><Relationship Type="http://schemas.openxmlformats.org/officeDocument/2006/relationships/notesMaster" Target="/ppt/notesMasters/notesMaster1.xml" Id="R9456a34e996a42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7d4b9d16fc498c" /><Relationship Type="http://schemas.openxmlformats.org/officeDocument/2006/relationships/notesMaster" Target="/ppt/notesMasters/notesMaster1.xml" Id="R2f8a0266231847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15c275608043e0" /><Relationship Type="http://schemas.openxmlformats.org/officeDocument/2006/relationships/notesMaster" Target="/ppt/notesMasters/notesMaster1.xml" Id="R3a9e20f4e21141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881f3f11da4694" /><Relationship Type="http://schemas.openxmlformats.org/officeDocument/2006/relationships/notesMaster" Target="/ppt/notesMasters/notesMaster1.xml" Id="Raea70cc85acc47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04048f222e48c8" /><Relationship Type="http://schemas.openxmlformats.org/officeDocument/2006/relationships/notesMaster" Target="/ppt/notesMasters/notesMaster1.xml" Id="Reb34e4bf15aa4e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92f15d9f2d34c63" /><Relationship Type="http://schemas.openxmlformats.org/officeDocument/2006/relationships/notesMaster" Target="/ppt/notesMasters/notesMaster1.xml" Id="Ra386358c9dfe47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00d62a209d47b4" /><Relationship Type="http://schemas.openxmlformats.org/officeDocument/2006/relationships/notesMaster" Target="/ppt/notesMasters/notesMaster1.xml" Id="Rfc6fcebbd6df4f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84eeee783c4fde" /><Relationship Type="http://schemas.openxmlformats.org/officeDocument/2006/relationships/notesMaster" Target="/ppt/notesMasters/notesMaster1.xml" Id="R32dbe1da4cca48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6a57ccf9534776" /><Relationship Type="http://schemas.openxmlformats.org/officeDocument/2006/relationships/notesMaster" Target="/ppt/notesMasters/notesMaster1.xml" Id="R385d4f2f48d3417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28086bc96384a68" /><Relationship Type="http://schemas.openxmlformats.org/officeDocument/2006/relationships/notesMaster" Target="/ppt/notesMasters/notesMaster1.xml" Id="Rde9b0839425d49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6b63ba58464f12" /><Relationship Type="http://schemas.openxmlformats.org/officeDocument/2006/relationships/notesMaster" Target="/ppt/notesMasters/notesMaster1.xml" Id="R13942a65ccad4b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6479e442e84073" /><Relationship Type="http://schemas.openxmlformats.org/officeDocument/2006/relationships/notesMaster" Target="/ppt/notesMasters/notesMaster1.xml" Id="R15e596d3fcac43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3ba13401254006" /><Relationship Type="http://schemas.openxmlformats.org/officeDocument/2006/relationships/notesMaster" Target="/ppt/notesMasters/notesMaster1.xml" Id="R14d03d1a499245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13536594e9345c6" /><Relationship Type="http://schemas.openxmlformats.org/officeDocument/2006/relationships/notesMaster" Target="/ppt/notesMasters/notesMaster1.xml" Id="Re5f3167e1b1044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aa9a40cc69f42fa" /><Relationship Type="http://schemas.openxmlformats.org/officeDocument/2006/relationships/notesMaster" Target="/ppt/notesMasters/notesMaster1.xml" Id="R6f14ad0c042647a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fdd64fce11410d" /><Relationship Type="http://schemas.openxmlformats.org/officeDocument/2006/relationships/notesMaster" Target="/ppt/notesMasters/notesMaster1.xml" Id="R7d70cab5c3c241f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39df0a70354752" /><Relationship Type="http://schemas.openxmlformats.org/officeDocument/2006/relationships/notesMaster" Target="/ppt/notesMasters/notesMaster1.xml" Id="R77909d96d23b436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50702f9fbc1449f" /><Relationship Type="http://schemas.openxmlformats.org/officeDocument/2006/relationships/notesMaster" Target="/ppt/notesMasters/notesMaster1.xml" Id="R7db5f403911c4a2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bfaa6ee13b042fa" /><Relationship Type="http://schemas.openxmlformats.org/officeDocument/2006/relationships/notesMaster" Target="/ppt/notesMasters/notesMaster1.xml" Id="R72ccb36e819149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2cf401f25f94168" /><Relationship Type="http://schemas.openxmlformats.org/officeDocument/2006/relationships/notesMaster" Target="/ppt/notesMasters/notesMaster1.xml" Id="Rcbd2af899df84b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5ac3b14b7e4af0" /><Relationship Type="http://schemas.openxmlformats.org/officeDocument/2006/relationships/notesMaster" Target="/ppt/notesMasters/notesMaster1.xml" Id="Rd8b278e88d7645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4b1837e86744f0c" /><Relationship Type="http://schemas.openxmlformats.org/officeDocument/2006/relationships/notesMaster" Target="/ppt/notesMasters/notesMaster1.xml" Id="Re4ae3c70c916490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d1a2d26a5494efc" /><Relationship Type="http://schemas.openxmlformats.org/officeDocument/2006/relationships/notesMaster" Target="/ppt/notesMasters/notesMaster1.xml" Id="R28c41079af0143f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71a12598f7146d7" /><Relationship Type="http://schemas.openxmlformats.org/officeDocument/2006/relationships/notesMaster" Target="/ppt/notesMasters/notesMaster1.xml" Id="Rd59d1a29088e417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9b63069baf14ba6" /><Relationship Type="http://schemas.openxmlformats.org/officeDocument/2006/relationships/notesMaster" Target="/ppt/notesMasters/notesMaster1.xml" Id="R244268b05775478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f5d328a67e4729" /><Relationship Type="http://schemas.openxmlformats.org/officeDocument/2006/relationships/notesMaster" Target="/ppt/notesMasters/notesMaster1.xml" Id="Raa421fec45004e6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8e81541432a4f00" /><Relationship Type="http://schemas.openxmlformats.org/officeDocument/2006/relationships/notesMaster" Target="/ppt/notesMasters/notesMaster1.xml" Id="Rc2622f64014a4eb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00a32b1e68447f5" /><Relationship Type="http://schemas.openxmlformats.org/officeDocument/2006/relationships/notesMaster" Target="/ppt/notesMasters/notesMaster1.xml" Id="R55d8ec68ebbe48f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7ad5495f6914de6" /><Relationship Type="http://schemas.openxmlformats.org/officeDocument/2006/relationships/notesMaster" Target="/ppt/notesMasters/notesMaster1.xml" Id="R71053172c41f42e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f07ae6a6a1d4d11" /><Relationship Type="http://schemas.openxmlformats.org/officeDocument/2006/relationships/notesMaster" Target="/ppt/notesMasters/notesMaster1.xml" Id="R26fcc73467f948c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5f8efa7a75443bd" /><Relationship Type="http://schemas.openxmlformats.org/officeDocument/2006/relationships/notesMaster" Target="/ppt/notesMasters/notesMaster1.xml" Id="R5d206723f184428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15190aec6f749fe" /><Relationship Type="http://schemas.openxmlformats.org/officeDocument/2006/relationships/notesMaster" Target="/ppt/notesMasters/notesMaster1.xml" Id="R95c4a8c806f44c8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30e1586f2d044bc" /><Relationship Type="http://schemas.openxmlformats.org/officeDocument/2006/relationships/notesMaster" Target="/ppt/notesMasters/notesMaster1.xml" Id="R560ee9f079084f6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e42acc3ab7e4d40" /><Relationship Type="http://schemas.openxmlformats.org/officeDocument/2006/relationships/notesMaster" Target="/ppt/notesMasters/notesMaster1.xml" Id="R77140fefee99479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591fc07dd0c49d6" /><Relationship Type="http://schemas.openxmlformats.org/officeDocument/2006/relationships/notesMaster" Target="/ppt/notesMasters/notesMaster1.xml" Id="Rbd5cc827b8b742f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1cd94d22b464adc" /><Relationship Type="http://schemas.openxmlformats.org/officeDocument/2006/relationships/notesMaster" Target="/ppt/notesMasters/notesMaster1.xml" Id="R84c775c6c358466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ec68256a9da4de6" /><Relationship Type="http://schemas.openxmlformats.org/officeDocument/2006/relationships/notesMaster" Target="/ppt/notesMasters/notesMaster1.xml" Id="R2695364fd6bd484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f7e56eee3684c98" /><Relationship Type="http://schemas.openxmlformats.org/officeDocument/2006/relationships/notesMaster" Target="/ppt/notesMasters/notesMaster1.xml" Id="R02919998cc69426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8f12a8ea04346fe" /><Relationship Type="http://schemas.openxmlformats.org/officeDocument/2006/relationships/notesMaster" Target="/ppt/notesMasters/notesMaster1.xml" Id="R079514b5b24c43e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351a79ed961418c" /><Relationship Type="http://schemas.openxmlformats.org/officeDocument/2006/relationships/notesMaster" Target="/ppt/notesMasters/notesMaster1.xml" Id="R008e374d064d4f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the supplied HG/Henry storyboard, external/partner_story_20261006/situation.png, complication.png and resolution.png. This page preserves the original analytical brief without inserting subsequent answers, capture assumptions or progress claims. Demand mechanism detail in the original: use Stats SA land transport and project private-sector rail participation; project EV/HEV penetration and its effect on litres per kilometre; assess higher fuel prices and kilometres travelled. Secunda original proposition: improved pure gas production from coal, potential diversion from fuel production due to MRG sales and possible extension to 2032. These are HG's propositions for analysis, not independently established outcomes. Full original wording is traced in workstreams/WS3_reporting_delivery/henry_verbatim_trace_2026-10-06.md and pptx/story/henry_question_answers_2026_10_06.json.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analytical response to HG’s original SCR on p2. Source material and underlying figures retained from v31; detailed demand, supply and source limitations appear on pp4–19. Capture: registered market_review.yaml; 20% of Durban customs gateway volume, 50% onward Lesedi routing, two turns monthly. Total scenario volumes, not incremental sales. Separate investment illustration retained in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national sales 2023 and provincial sales 2022; SARS petrol/diesel customs 2025; registered market_review.yaml. Latest available periods differ. No matched-year import share is inferred.</a:t>
            </a:r>
          </a:p>
          <a:p xmlns:a="http://schemas.openxmlformats.org/drawingml/2006/main">
            <a:r>
              <a:t>The following pages establish demand, supply and market geography before testing how the outlook could change.</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petrol CAGR -2.08%, diesel +0.82%. FIASA 2024 is excluded from the trend. Workbook History Q71/R71. RAF levy evidence uses fiscal years and still needs reconciliation.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Keep comparable 2013-2023 chart; add latest-year coverage and reconciliation caution.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energy balance 2021; Eskom Integrated Report 2025; Manish master: Sector history, Diesel by use and Power fleet. 2025 sector litres and IPP burn are estimates, not directly reported fuel sales.</a:t>
            </a:r>
          </a:p>
          <a:p xmlns:a="http://schemas.openxmlformats.org/drawingml/2006/main">
            <a:r>
              <a:t>Read these as separate evidence points. Different years, scopes and overlaps prevent a valid sum to national sales.</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SARS customs 2025, registered fuel_trade_sars_by_office.csv. Office of clearance is a gateway proxy, not a measured Vopak terminal receipt. Do not divide 2025 imports by 2023 sales to infer current import penetration.</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SARS litre-reported petrol/diesel codes, complete calendar years. 2020–2025 changes are historical comparisons, not plant-level causal attribution. Export histories retained in the source report; unit/blend exclusions remain.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Show gross versus net imports and preserve sales/production boundaries.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Transnet Pipelines 2025 printed p8: https://www.transnet.net/getFile.ashx?id=6121. Annualised use 5.460bn L and capacity 7.696bn L using 52 weeks. All shippers; no deduction of road/rail volumes from mismatched customs and demand years.</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Sources: Vopak terminal directory; Annual Report 2025 confirms Lesedi expansion commissioned in 2025. Published capacity is not working capacity or throughput. Operating data request: p18. Illustrative turnover sensitivity moved to p43; it is not observed utilisation.</a:t>
            </a:r>
            <a:endParaRPr/>
          </a:p>
          <a:p xmlns:a="http://schemas.openxmlformats.org/drawingml/2006/main">
            <a:r>
              <a:t/>
            </a:r>
            <a:endParaRPr/>
          </a:p>
          <a:p xmlns:a="http://schemas.openxmlformats.org/drawingml/2006/main">
            <a:r>
              <a:t>Page 10 establishes the situation following corridor geography. Commercial and operational evidence remains open; do not infer spare capacity from gross tankage.</a:t>
            </a:r>
            <a:endParaRPr/>
          </a:p>
          <a:p xmlns:a="http://schemas.openxmlformats.org/drawingml/2006/main">
            <a:r>
              <a:t>Workbook source commit: 8a3c884b0d26a3c5819a9a0b702024ab60485d1e</a:t>
            </a:r>
            <a:endParaRPr/>
          </a:p>
          <a:p xmlns:a="http://schemas.openxmlformats.org/drawingml/2006/main">
            <a:r>
              <a:t>Clarify that the commissioned Lesedi expansion is included in the existing footprint.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payload and transport-industry fuel purchases. Workbook Diesel by use Q28: spending / average diesel price, hire-and-reward firms only; may include petrol/lubricants. Road residual includes unseparated uses; tonne-km and rail traction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the spending-based operator fuel proxy; preserve the tonne-kilometre evidence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workbook Sector history and Vehicle history; naamsa 2025. Post-2021 sector litres are activity/intensity estimates. EV/efficiency implementation reviewed; hybrid/rail combination rules and calibration remain open.</a:t>
            </a:r>
          </a:p>
          <a:p xmlns:a="http://schemas.openxmlformats.org/drawingml/2006/main">
            <a:r>
              <a:t>Sector activity, kilometres travelled and litres per kilometre need separate assumptions; no combined reduction forecast is adopted here.</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generation.yaml contains new_1 1000MW and new_2 2000MW, alongside older capacities. Current model power estimate around 3.58bn L (2024) differs from FY2024 Eskom plus estimated IPP fuel around 1.60bn L and FY2025 around 0.89bn L. Fiscal/calendar alignment and private backup remain unresolved. No engine recalibration was adopted in this presentation update.</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FY ending March: reported own diesel + kerosene; Eskom/IPP GWh include kerosene output. Workbook Power fleet separates the four diesel stations. Gas switch, coal-site repowering and L/M/H settings await Nigel/Henry review.</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Distinguish own reported burn from combined generation-derived estimates and proposed cases.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Manish DR08 handback through 9 October; Sasol FY2026 operating metrics; Glencore/Astron evidence; CEF SAPREF roadmap. Capacity, fiscal-year output and petrol/diesel production are different measures.</a:t>
            </a:r>
          </a:p>
          <a:p xmlns:a="http://schemas.openxmlformats.org/drawingml/2006/main">
            <a:r>
              <a:t>The evidence supports conditional asset cases. It does not establish a probability of opening or an agreed start date for proposed capacity.</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SARS customs 2025; registered review_capacity_scenarios.yaml and review_supply_worlds.yaml; DR08 evidence. Directional mechanisms hold other factors constant. No probability or new numerical import forecast is assigned.</a:t>
            </a:r>
          </a:p>
          <a:p xmlns:a="http://schemas.openxmlformats.org/drawingml/2006/main">
            <a:r>
              <a:t>2025 gross imports of 16.70bn litres provide context. A future import forecast requires matched demand, product output, exports and stock changes; current capacity sensitivities remain illustrative.</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Compare common product, destination, price date and tax basis. Emerging gateways must be considered; no relative cost ranking is asserted without quotes and verified access. Landlocked SADC opportunities require separate market/access evidence.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capacity-scale ratios retained, not throughput shares. Workbook provincial estimates: 2023 estimated shares; 2024 estimated shares plus unverified national sales. Client throughput and commercial access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Explain the accessible-market method alongside existing footprint proxies.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Vopak asset evidence; registered terminal_site_assumptions.csv; client requests DR02/03/05/06. Detailed investment illustration, assumptions and downside results are retained in the appendix; EV adjacencies remain separately scoped.</a:t>
            </a:r>
          </a:p>
          <a:p xmlns:a="http://schemas.openxmlformats.org/drawingml/2006/main">
            <a:r>
              <a:t>Current evidence supports these decision tests. The financial illustration in the appendix uses separate capture and commercial assumptions and does not establish an approved investment.</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through Manish’s 9 October handback; review and sensitivity work dated 10 October. Detailed source gaps, owners and client requests are retained in the appendix and reviewed master workbook. No business approval is inferred.</a:t>
            </a:r>
          </a:p>
          <a:p xmlns:a="http://schemas.openxmlformats.org/drawingml/2006/main">
            <a:r>
              <a:t>The immediate priority is to validate customer flows and operating limits, then connect the agreed market scenarios to investment economics.</a:t>
            </a:r>
            <a:endParaRPr/>
          </a:p>
          <a:p xmlns:a="http://schemas.openxmlformats.org/drawingml/2006/main">
            <a:r>
              <a:t>Evidence retained from Manish handback through 9 October and registered 10 October review. Narrative restructuring 11 October; no new model assumptions or forecasts adopted.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Working recommendation supported by an authored Lesedi illustration, not a calibrated forecast. Reported capacity is used; capture, working capacity, tariffs, capex and discount rate are assumptions. No customer volume is represented as secured.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100% project basis, constant ZAR; capex at t0; operating ramp 50%/75%/100%; no tax, working capital, construction delay, inflation or residual value. Turnover and occupancy are distinct. Full assumptions, benchmarks, options and downside tests: pp39–42.</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a:p>
          <a:p xmlns:a="http://schemas.openxmlformats.org/drawingml/2006/main">
            <a:r>
              <a:t/>
            </a:r>
            <a:endParaRPr/>
          </a:p>
          <a:p xmlns:a="http://schemas.openxmlformats.org/drawingml/2006/main">
            <a:r>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a:t>
            </a:r>
            <a:endParaRPr/>
          </a:p>
          <a:p xmlns:a="http://schemas.openxmlformats.org/drawingml/2006/main">
            <a:r>
              <a:t>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sector fuel scale and the freight-operator proxy without changing measured support bars.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M6/O6/R9, M16/O16/R19, M22/O22/R25. Department energy balance to 2021; later fuel estimated with activity and average intensity. Sector attribution and road overlap require review.</a:t>
            </a:r>
            <a:endParaRPr/>
          </a:p>
          <a:p xmlns:a="http://schemas.openxmlformats.org/drawingml/2006/main">
            <a:r>
              <a:t/>
            </a:r>
            <a:endParaRPr/>
          </a:p>
          <a:p xmlns:a="http://schemas.openxmlformats.org/drawingml/2006/main">
            <a:r>
              <a:t>Three sector rows with comparable, zero-based horizontal bars. 2019/2021 observations; 2024 activity-based estimates. Values unchanged from v26.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freight; naamsa all-market sales 2019-2025, Workbook Vehicle history S31:S36. BEV/PHEV/HEV sales are distinct from fleet shares. Efficiency paths remain model assumptions, with OEM history and annual calibration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Separate observed drivetrain sales from assumed efficiency and adoption paths.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DR01-DR09 register and 8 October PS handback. Prepared, not sent; receipt not recorded. DR09 EV adjacency remains separate. Public estimates can proceed while client data is pending.</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the request summary with all active baseline, route, demand, supply and client gaps.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story runs from the opening thesis to the investment tests. The added lever register and power/supply calibration pages record what remains to be populated.</a:t>
            </a:r>
          </a:p>
          <a:p xmlns:a="http://schemas.openxmlformats.org/drawingml/2006/main">
            <a:endParaRPr/>
          </a:p>
          <a:p xmlns:a="http://schemas.openxmlformats.org/drawingml/2006/main">
            <a:r>
              <a:t>Workbook source commit: 8a3c884b0d26a3c5819a9a0b702024ab60485d1e
Refresh evidence navigation to include the added workbook exhibits.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Staged GDP and department fuel sales, indices 2013=100. Sector attribution remains open; COVID distorts short-period comparisons.</a:t>
            </a:r>
          </a:p>
          <a:p xmlns:a="http://schemas.openxmlformats.org/drawingml/2006/main">
            <a:endParaRPr/>
          </a:p>
          <a:p xmlns:a="http://schemas.openxmlformats.org/drawingml/2006/main">
            <a:r>
              <a:t>Workbook source commit: 8a3c884b0d26a3c5819a9a0b702024ab60485d1e
Link aggregate GDP chart to the sector intensity exhibit rather than assume uniform fuel elasticity.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Bank WDI, FDI net inflows and gross fixed capital formation as % of GDP, 2010–2025. Confidence series remains an evidence gap.</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R7/R9/R17/R19/S23/S25 and History R117/R124/R125. Sector litres after 2021 are estimates; jet 2024 uses unverified FIASA. Index base 2019=100; GVA in 2015 prices.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Quantify sector and jet context from the workbook while preserving sector definitions.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fuel-price history, nominal R/litre. No quantified geopolitical premium or calibrated EV adoption response is asserted.</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S6:S8/S24/S26. Apparent retirements are not verified scrappage. Stone et al. study uses a 2014 base; no recent OEM efficiency history or fuel-by-class stock is established.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observed apparent replacement and distinguish cohort assumptions from efficiency history.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S6:S8/S18:S20/S24/S26/S31:S36/Q52. NaTIS and naamsa classes are not identical. Apparent retirement is not verified scrappage; petrol diagnostic compares different scopes.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requested fleet and model-calibration evidence, with scope limits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FY March, own diesel + kerosene. Workbook combined generation includes IPPs and kerosene stations; multiplying it by 0.31 L/kWh is an estimate, not reported diesel burn. Private backup remains unmeasured.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Retain comparable own-fleet reported fuel; qualify scope relative to the new fleet page.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User-supplied AIA Transnet Funding Brief, Sep 2026, pp1–2; cites FY2026 AFS and Network Statement v4 Annexure 17. Primary figures not independently reconciled.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provincial sales through 2022; workbook History Q84/Q104 and R84/R104 estimate later volumes. 2024 also uses unverified FIASA national sales. The chart retains observed 2013-2022 sales history, not current market share.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estimated provincial updates without converting sales or capacity into current share.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HML response has 29 levers. Examples: BEV adoption, rail diversion, mileage, prices, hybrids, truck/LCV electrification and neighbouring exports. All replacement ranges remain proposals; no forecast inputs are adopted in this pack.</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Expose the expanded lever register without adopting analyst proposals.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F11:S15 and N63:N65; proposed scenarios, not forecasts. Generation includes kerosene. IPP renewal, gas availability and coal-site repowering are not established. Historical burn must match scope and period.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generic fleet-data gap wording with the assembled fleet and remaining dispatch dependencies.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F11:F15, N63:N65 and S63:S65. Proposed cases, Nigel/Henry review D22. 0.31 L/kWh, backup fraction, load factors, gas supply and coal-site repowering need review. Kerosene stations and private backup are separate.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fleet inventory and analyst power scenarios, expressly unapproved.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 illustrations retained. Workbook History R53/S53: Sasol all-refined-products output, June FY. Department product production stops at 2021; stocks, plant yields and restart calibration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operator output context and reinforce product-output versus nameplate distinction.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History Q59/Q64/R59/R64/S36:S40/R70. RAF-derived 24.42bn L is combined fuel, fiscal/accrual basis, not an adopted calendar sales total. Product output after 2021 and stocks remain missing; 2025 trade is not 2025 consumption.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Extend national evidence, add RAF reconciliation flag and retain production/stock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Screening functions tested with synthetic cases; commercial outputs remain unpopulated. Not integrated into the forecast engine or independently reviewed. Owners, request IDs and expiry triggers: workstreams/WS0_governance/workplan/sa_investment_bridge_2026_10_08.csv.</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Refresh implementation status for the analyst workbook, without asserting forecast integration.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xmlns:a="http://schemas.openxmlformats.org/drawingml/2006/main">
            <a:endParaRPr/>
          </a:p>
          <a:p xmlns:a="http://schemas.openxmlformats.org/drawingml/2006/main">
            <a:r>
              <a:t>Workbook source commit: 8a3c884b0d26a3c5819a9a0b702024ab60485d1e
Align original synthesis with the updated consumption scale.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xmlns:a="http://schemas.openxmlformats.org/drawingml/2006/main">
            <a:endParaRPr/>
          </a:p>
          <a:p xmlns:a="http://schemas.openxmlformats.org/drawingml/2006/main">
            <a:r>
              <a:t>Workbook source commit: 8a3c884b0d26a3c5819a9a0b702024ab60485d1e
Prevent double-counting the commissioned Lesedi expansion in the asset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Every illustrative value is registered in assumptions/2026/vopak_investment_illustration.yaml. Not a forecast, commercial offer or approval. Proposed validation: Nigel coordinates Vopak commercial/operations; Manish reconciles; independent review outstanding.</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daffcdc25e4dcc" /><Relationship Type="http://schemas.openxmlformats.org/officeDocument/2006/relationships/image" Target="/ppt/media/image.jpeg" Id="R45c31a315d2c4a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c03624b4764edc" /><Relationship Type="http://schemas.openxmlformats.org/officeDocument/2006/relationships/image" Target="/ppt/media/image2.jpeg" Id="R1162c9a74a674637" /><Relationship Type="http://schemas.openxmlformats.org/officeDocument/2006/relationships/image" Target="/ppt/media/image2.png" Id="R806a4f77c83745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d23f1f80404a0a" /><Relationship Type="http://schemas.openxmlformats.org/officeDocument/2006/relationships/image" Target="/ppt/media/image2.jpeg" Id="Rb1cb883742d74003" /><Relationship Type="http://schemas.openxmlformats.org/officeDocument/2006/relationships/image" Target="/ppt/media/image2.png" Id="Rdb994e1cf8eb4d0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dac3405c8347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9fefab30c745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38de9d559e48d4"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45c31a315d2c4ad9"/>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1162c9a74a674637"/>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B6CC79FF-F297-46B4-B0E4-850EE5B89B78}"/>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806a4f77c8374550"/>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b1cb883742d74003"/>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571FD3DD-6D32-43BA-B044-BAFA89A96F83}"/>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db994e1cf8eb4d02"/>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2196FAB5-3A31-4A82-B70E-C4CDDAD20A82}"/>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6079D373-E04F-4CB2-8D62-0EE11526CD3C}"/>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709046a3ff84d7a" /><Relationship Type="http://schemas.openxmlformats.org/officeDocument/2006/relationships/theme" Target="/ppt/slideMasters/theme/theme2.xml" Id="R55aca09e8549463c" /><Relationship Type="http://schemas.openxmlformats.org/officeDocument/2006/relationships/slideLayout" Target="/ppt/slideLayouts/slideLayout1.xml" Id="R9bb68d9fc45d49f6" /><Relationship Type="http://schemas.openxmlformats.org/officeDocument/2006/relationships/slideLayout" Target="/ppt/slideLayouts/slideLayout2.xml" Id="Rbca47a25b7be43a3" /><Relationship Type="http://schemas.openxmlformats.org/officeDocument/2006/relationships/slideLayout" Target="/ppt/slideLayouts/slideLayout3.xml" Id="Re93cabda68144d40" /><Relationship Type="http://schemas.openxmlformats.org/officeDocument/2006/relationships/slideLayout" Target="/ppt/slideLayouts/slideLayout4.xml" Id="Rb358fc090fcf4113" /><Relationship Type="http://schemas.openxmlformats.org/officeDocument/2006/relationships/slideLayout" Target="/ppt/slideLayouts/slideLayout5.xml" Id="Rdde69458e9a4413e" /><Relationship Type="http://schemas.openxmlformats.org/officeDocument/2006/relationships/slideLayout" Target="/ppt/slideLayouts/slideLayout6.xml" Id="Rb7bbb484b52b426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C860AC-EA18-440E-B23B-E92B7C49F015}"/>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8C59D33E-9E34-4BB4-9EFE-331A0FF3C833}"/>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A722AEE9-FEF7-46B6-98E2-A569C4A8AD3C}"/>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6709046a3ff84d7a"/>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B4062CE9-9215-4788-A6E3-2613DEB91A9E}"/>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b68d9fc45d49f6"/>
    <p:sldLayoutId xmlns:r="http://schemas.openxmlformats.org/officeDocument/2006/relationships" id="2147483650" r:id="Rbca47a25b7be43a3"/>
    <p:sldLayoutId xmlns:r="http://schemas.openxmlformats.org/officeDocument/2006/relationships" id="2147483651" r:id="Re93cabda68144d40"/>
    <p:sldLayoutId xmlns:r="http://schemas.openxmlformats.org/officeDocument/2006/relationships" id="2147483652" r:id="Rb358fc090fcf4113"/>
    <p:sldLayoutId xmlns:r="http://schemas.openxmlformats.org/officeDocument/2006/relationships" id="2147483653" r:id="Rdde69458e9a4413e"/>
    <p:sldLayoutId xmlns:r="http://schemas.openxmlformats.org/officeDocument/2006/relationships" id="2147483654" r:id="Rb7bbb484b52b426e"/>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e5d759df07643ca" /><Relationship Type="http://schemas.openxmlformats.org/officeDocument/2006/relationships/image" Target="/ppt/media/image3.jpeg" Id="Rfe189d54013742f7" /><Relationship Type="http://schemas.openxmlformats.org/officeDocument/2006/relationships/image" Target="/ppt/media/image3.png" Id="R412b96dc4e494c2c" /><Relationship Type="http://schemas.openxmlformats.org/officeDocument/2006/relationships/notesSlide" Target="/ppt/notesSlides/notesSlide1.xml" Id="R3ee7b3033e794c2c"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eb4d9dfacd71431e"/><Relationship Type="http://schemas.openxmlformats.org/officeDocument/2006/relationships/notesSlide" Target="/ppt/notesSlides/notesSlide2.xml" Id="R23e2fdbd021a4ae1"/><Relationship Id="rIdSmartArt3" Type="http://schemas.openxmlformats.org/officeDocument/2006/relationships/diagramData" Target="../diagrams/v32_s2_data1.xml"/><Relationship Id="rIdSmartArt4" Type="http://schemas.openxmlformats.org/officeDocument/2006/relationships/diagramLayout" Target="../diagrams/v32_s2_layout1.xml"/><Relationship Id="rIdSmartArt5" Type="http://schemas.openxmlformats.org/officeDocument/2006/relationships/diagramQuickStyle" Target="../diagrams/v32_s2_quickStyle1.xml"/><Relationship Id="rIdSmartArt6" Type="http://schemas.openxmlformats.org/officeDocument/2006/relationships/diagramColors" Target="../diagrams/v32_s2_colors1.xml"/><Relationship Id="rIdV32Drawing2" Type="http://schemas.microsoft.com/office/2007/relationships/diagramDrawing" Target="../diagrams/v32_s2_drawing1.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0db78aadbcbe4123"/><Relationship Type="http://schemas.openxmlformats.org/officeDocument/2006/relationships/notesSlide" Target="/ppt/notesSlides/notesSlide3.xml" Id="R458c2718c1c244cc"/><Relationship Id="rIdSmartArt3" Type="http://schemas.openxmlformats.org/officeDocument/2006/relationships/diagramData" Target="../diagrams/v32_s3_data1.xml"/><Relationship Id="rIdSmartArt4" Type="http://schemas.openxmlformats.org/officeDocument/2006/relationships/diagramLayout" Target="../diagrams/v32_s3_layout1.xml"/><Relationship Id="rIdSmartArt5" Type="http://schemas.openxmlformats.org/officeDocument/2006/relationships/diagramQuickStyle" Target="../diagrams/v32_s3_quickStyle1.xml"/><Relationship Id="rIdSmartArt6" Type="http://schemas.openxmlformats.org/officeDocument/2006/relationships/diagramColors" Target="../diagrams/v32_s3_colors1.xml"/><Relationship Id="rIdV32Drawing3" Type="http://schemas.microsoft.com/office/2007/relationships/diagramDrawing" Target="../diagrams/v32_s3_drawing1.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25a71aa6c5442e3"/><Relationship Type="http://schemas.openxmlformats.org/officeDocument/2006/relationships/notesSlide" Target="/ppt/notesSlides/notesSlide4.xml" Id="R91f81efd28174e8a"/><Relationship Id="rIdSmartArt3" Type="http://schemas.openxmlformats.org/officeDocument/2006/relationships/diagramData" Target="../diagrams/v32_s4_data1.xml"/><Relationship Id="rIdSmartArt4" Type="http://schemas.openxmlformats.org/officeDocument/2006/relationships/diagramLayout" Target="../diagrams/v32_s4_layout1.xml"/><Relationship Id="rIdSmartArt5" Type="http://schemas.openxmlformats.org/officeDocument/2006/relationships/diagramQuickStyle" Target="../diagrams/v32_s4_quickStyle1.xml"/><Relationship Id="rIdSmartArt6" Type="http://schemas.openxmlformats.org/officeDocument/2006/relationships/diagramColors" Target="../diagrams/v32_s4_colors1.xml"/><Relationship Id="rIdV32Drawing4" Type="http://schemas.microsoft.com/office/2007/relationships/diagramDrawing" Target="../diagrams/v32_s4_drawing1.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a9eb081ebfe44017"/><Relationship Type="http://schemas.openxmlformats.org/officeDocument/2006/relationships/image" Target="/ppt/media/image4.png" Id="R1f5a9c28e4c240e3"/><Relationship Type="http://schemas.openxmlformats.org/officeDocument/2006/relationships/notesSlide" Target="/ppt/notesSlides/notesSlide5.xml" Id="R60ffecf0797c4800"/><Relationship Id="rIdSmartArt4" Type="http://schemas.openxmlformats.org/officeDocument/2006/relationships/diagramData" Target="../diagrams/v32_s5_data1.xml"/><Relationship Id="rIdSmartArt5" Type="http://schemas.openxmlformats.org/officeDocument/2006/relationships/diagramLayout" Target="../diagrams/v32_s5_layout1.xml"/><Relationship Id="rIdSmartArt6" Type="http://schemas.openxmlformats.org/officeDocument/2006/relationships/diagramQuickStyle" Target="../diagrams/v32_s5_quickStyle1.xml"/><Relationship Id="rIdSmartArt7" Type="http://schemas.openxmlformats.org/officeDocument/2006/relationships/diagramColors" Target="../diagrams/v32_s5_colors1.xml"/><Relationship Id="rIdV32Drawing5" Type="http://schemas.microsoft.com/office/2007/relationships/diagramDrawing" Target="../diagrams/v32_s5_drawing1.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04858bb55fb44ca9"/><Relationship Type="http://schemas.openxmlformats.org/officeDocument/2006/relationships/notesSlide" Target="/ppt/notesSlides/notesSlide6.xml" Id="R9eb1c40deeba4034"/><Relationship Id="rIdSmartArt3" Type="http://schemas.openxmlformats.org/officeDocument/2006/relationships/diagramData" Target="../diagrams/v32_s6_data1.xml"/><Relationship Id="rIdSmartArt4" Type="http://schemas.openxmlformats.org/officeDocument/2006/relationships/diagramLayout" Target="../diagrams/v32_s6_layout1.xml"/><Relationship Id="rIdSmartArt5" Type="http://schemas.openxmlformats.org/officeDocument/2006/relationships/diagramQuickStyle" Target="../diagrams/v32_s6_quickStyle1.xml"/><Relationship Id="rIdSmartArt6" Type="http://schemas.openxmlformats.org/officeDocument/2006/relationships/diagramColors" Target="../diagrams/v32_s6_colors1.xml"/><Relationship Id="rIdV32Drawing6" Type="http://schemas.microsoft.com/office/2007/relationships/diagramDrawing" Target="../diagrams/v32_s6_drawing1.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a486288522734860"/><Relationship Type="http://schemas.openxmlformats.org/officeDocument/2006/relationships/image" Target="/ppt/media/image5.png" Id="R765d04aff2824b84"/><Relationship Type="http://schemas.openxmlformats.org/officeDocument/2006/relationships/notesSlide" Target="/ppt/notesSlides/notesSlide7.xml" Id="Rc1a8da2ce05741a2"/><Relationship Id="rIdSmartArt4" Type="http://schemas.openxmlformats.org/officeDocument/2006/relationships/diagramData" Target="../diagrams/v32_s7_data1.xml"/><Relationship Id="rIdSmartArt5" Type="http://schemas.openxmlformats.org/officeDocument/2006/relationships/diagramLayout" Target="../diagrams/v32_s7_layout1.xml"/><Relationship Id="rIdSmartArt6" Type="http://schemas.openxmlformats.org/officeDocument/2006/relationships/diagramQuickStyle" Target="../diagrams/v32_s7_quickStyle1.xml"/><Relationship Id="rIdSmartArt7" Type="http://schemas.openxmlformats.org/officeDocument/2006/relationships/diagramColors" Target="../diagrams/v32_s7_colors1.xml"/><Relationship Id="rIdV32Drawing7" Type="http://schemas.microsoft.com/office/2007/relationships/diagramDrawing" Target="../diagrams/v32_s7_drawing1.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1a7e36d0eb1344dc"/><Relationship Type="http://schemas.openxmlformats.org/officeDocument/2006/relationships/image" Target="/ppt/media/image6.png" Id="Rccce2576d62c423a"/><Relationship Type="http://schemas.openxmlformats.org/officeDocument/2006/relationships/notesSlide" Target="/ppt/notesSlides/notesSlide8.xml" Id="R66b820b2d9d64379"/><Relationship Id="rIdSmartArt4" Type="http://schemas.openxmlformats.org/officeDocument/2006/relationships/diagramData" Target="../diagrams/v32_s8_data1.xml"/><Relationship Id="rIdSmartArt5" Type="http://schemas.openxmlformats.org/officeDocument/2006/relationships/diagramLayout" Target="../diagrams/v32_s8_layout1.xml"/><Relationship Id="rIdSmartArt6" Type="http://schemas.openxmlformats.org/officeDocument/2006/relationships/diagramQuickStyle" Target="../diagrams/v32_s8_quickStyle1.xml"/><Relationship Id="rIdSmartArt7" Type="http://schemas.openxmlformats.org/officeDocument/2006/relationships/diagramColors" Target="../diagrams/v32_s8_colors1.xml"/><Relationship Id="rIdV32Drawing8" Type="http://schemas.microsoft.com/office/2007/relationships/diagramDrawing" Target="../diagrams/v32_s8_drawing1.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d6753b1ad80e44cc"/><Relationship Type="http://schemas.openxmlformats.org/officeDocument/2006/relationships/notesSlide" Target="/ppt/notesSlides/notesSlide9.xml" Id="R48fdc3bc4c874c96"/><Relationship Id="rIdSmartArt3" Type="http://schemas.openxmlformats.org/officeDocument/2006/relationships/diagramData" Target="../diagrams/v32_s9_data1.xml"/><Relationship Id="rIdSmartArt4" Type="http://schemas.openxmlformats.org/officeDocument/2006/relationships/diagramLayout" Target="../diagrams/v32_s9_layout1.xml"/><Relationship Id="rIdSmartArt5" Type="http://schemas.openxmlformats.org/officeDocument/2006/relationships/diagramQuickStyle" Target="../diagrams/v32_s9_quickStyle1.xml"/><Relationship Id="rIdSmartArt6" Type="http://schemas.openxmlformats.org/officeDocument/2006/relationships/diagramColors" Target="../diagrams/v32_s9_colors1.xml"/><Relationship Id="rIdV32Drawing9" Type="http://schemas.microsoft.com/office/2007/relationships/diagramDrawing" Target="../diagrams/v32_s9_drawing1.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576e77c87387486d"/><Relationship Type="http://schemas.openxmlformats.org/officeDocument/2006/relationships/image" Target="/ppt/media/image7.png" Id="R896de676ce1a48ff"/><Relationship Type="http://schemas.openxmlformats.org/officeDocument/2006/relationships/notesSlide" Target="/ppt/notesSlides/notesSlide10.xml" Id="Rb3fc29f9c63d4d43"/><Relationship Id="rIdSmartArt4" Type="http://schemas.openxmlformats.org/officeDocument/2006/relationships/diagramData" Target="../diagrams/v32_s10_data1.xml"/><Relationship Id="rIdSmartArt5" Type="http://schemas.openxmlformats.org/officeDocument/2006/relationships/diagramLayout" Target="../diagrams/v32_s10_layout1.xml"/><Relationship Id="rIdSmartArt6" Type="http://schemas.openxmlformats.org/officeDocument/2006/relationships/diagramQuickStyle" Target="../diagrams/v32_s10_quickStyle1.xml"/><Relationship Id="rIdSmartArt7" Type="http://schemas.openxmlformats.org/officeDocument/2006/relationships/diagramColors" Target="../diagrams/v32_s10_colors1.xml"/><Relationship Id="rIdV32Drawing10" Type="http://schemas.microsoft.com/office/2007/relationships/diagramDrawing" Target="../diagrams/v32_s10_drawing1.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e9a9de6a892c418d"/><Relationship Type="http://schemas.openxmlformats.org/officeDocument/2006/relationships/notesSlide" Target="/ppt/notesSlides/notesSlide11.xml" Id="Rf55cbf315e5d4557"/><Relationship Id="rIdSmartArt3" Type="http://schemas.openxmlformats.org/officeDocument/2006/relationships/diagramData" Target="../diagrams/v32_s11_data1.xml"/><Relationship Id="rIdSmartArt4" Type="http://schemas.openxmlformats.org/officeDocument/2006/relationships/diagramLayout" Target="../diagrams/v32_s11_layout1.xml"/><Relationship Id="rIdSmartArt5" Type="http://schemas.openxmlformats.org/officeDocument/2006/relationships/diagramQuickStyle" Target="../diagrams/v32_s11_quickStyle1.xml"/><Relationship Id="rIdSmartArt6" Type="http://schemas.openxmlformats.org/officeDocument/2006/relationships/diagramColors" Target="../diagrams/v32_s11_colors1.xml"/><Relationship Id="rIdV32Drawing11" Type="http://schemas.microsoft.com/office/2007/relationships/diagramDrawing" Target="../diagrams/v32_s11_drawing1.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6adcc31cb2574b27"/><Relationship Type="http://schemas.openxmlformats.org/officeDocument/2006/relationships/image" Target="/ppt/media/image8.png" Id="Re96161a84260425a"/><Relationship Type="http://schemas.openxmlformats.org/officeDocument/2006/relationships/notesSlide" Target="/ppt/notesSlides/notesSlide12.xml" Id="Re403536b275e40e5"/><Relationship Id="rIdSmartArt4" Type="http://schemas.openxmlformats.org/officeDocument/2006/relationships/diagramData" Target="../diagrams/v32_s12_data1.xml"/><Relationship Id="rIdSmartArt5" Type="http://schemas.openxmlformats.org/officeDocument/2006/relationships/diagramLayout" Target="../diagrams/v32_s12_layout1.xml"/><Relationship Id="rIdSmartArt6" Type="http://schemas.openxmlformats.org/officeDocument/2006/relationships/diagramQuickStyle" Target="../diagrams/v32_s12_quickStyle1.xml"/><Relationship Id="rIdSmartArt7" Type="http://schemas.openxmlformats.org/officeDocument/2006/relationships/diagramColors" Target="../diagrams/v32_s12_colors1.xml"/><Relationship Id="rIdV32Drawing12" Type="http://schemas.microsoft.com/office/2007/relationships/diagramDrawing" Target="../diagrams/v32_s12_drawing1.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d6f60e99f6f04166"/><Relationship Type="http://schemas.openxmlformats.org/officeDocument/2006/relationships/notesSlide" Target="/ppt/notesSlides/notesSlide13.xml" Id="R005bde86dfdd4adf"/><Relationship Id="rIdSmartArt3" Type="http://schemas.openxmlformats.org/officeDocument/2006/relationships/diagramData" Target="../diagrams/v32_s13_data1.xml"/><Relationship Id="rIdSmartArt4" Type="http://schemas.openxmlformats.org/officeDocument/2006/relationships/diagramLayout" Target="../diagrams/v32_s13_layout1.xml"/><Relationship Id="rIdSmartArt5" Type="http://schemas.openxmlformats.org/officeDocument/2006/relationships/diagramQuickStyle" Target="../diagrams/v32_s13_quickStyle1.xml"/><Relationship Id="rIdSmartArt6" Type="http://schemas.openxmlformats.org/officeDocument/2006/relationships/diagramColors" Target="../diagrams/v32_s13_colors1.xml"/><Relationship Id="rIdV32Drawing13" Type="http://schemas.microsoft.com/office/2007/relationships/diagramDrawing" Target="../diagrams/v32_s13_drawing1.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bbbf8e3437f34cd1"/><Relationship Type="http://schemas.openxmlformats.org/officeDocument/2006/relationships/notesSlide" Target="/ppt/notesSlides/notesSlide14.xml" Id="R6fb1d7cc797e4bc5"/><Relationship Id="rIdSmartArt3" Type="http://schemas.openxmlformats.org/officeDocument/2006/relationships/diagramData" Target="../diagrams/v32_s14_data1.xml"/><Relationship Id="rIdSmartArt4" Type="http://schemas.openxmlformats.org/officeDocument/2006/relationships/diagramLayout" Target="../diagrams/v32_s14_layout1.xml"/><Relationship Id="rIdSmartArt5" Type="http://schemas.openxmlformats.org/officeDocument/2006/relationships/diagramQuickStyle" Target="../diagrams/v32_s14_quickStyle1.xml"/><Relationship Id="rIdSmartArt6" Type="http://schemas.openxmlformats.org/officeDocument/2006/relationships/diagramColors" Target="../diagrams/v32_s14_colors1.xml"/><Relationship Id="rIdV32Drawing14" Type="http://schemas.microsoft.com/office/2007/relationships/diagramDrawing" Target="../diagrams/v32_s14_drawing1.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81e93bfe795c4acc"/><Relationship Type="http://schemas.openxmlformats.org/officeDocument/2006/relationships/notesSlide" Target="/ppt/notesSlides/notesSlide15.xml" Id="Rcc707b294c7947b3"/><Relationship Id="rIdSmartArt3" Type="http://schemas.openxmlformats.org/officeDocument/2006/relationships/diagramData" Target="../diagrams/v32_s15_data1.xml"/><Relationship Id="rIdSmartArt4" Type="http://schemas.openxmlformats.org/officeDocument/2006/relationships/diagramLayout" Target="../diagrams/v32_s15_layout1.xml"/><Relationship Id="rIdSmartArt5" Type="http://schemas.openxmlformats.org/officeDocument/2006/relationships/diagramQuickStyle" Target="../diagrams/v32_s15_quickStyle1.xml"/><Relationship Id="rIdSmartArt6" Type="http://schemas.openxmlformats.org/officeDocument/2006/relationships/diagramColors" Target="../diagrams/v32_s15_colors1.xml"/><Relationship Id="rIdV32Drawing15" Type="http://schemas.microsoft.com/office/2007/relationships/diagramDrawing" Target="../diagrams/v32_s15_drawing1.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8170557b62e8495f"/><Relationship Type="http://schemas.openxmlformats.org/officeDocument/2006/relationships/notesSlide" Target="/ppt/notesSlides/notesSlide16.xml" Id="Rd63113a8db054df1"/><Relationship Id="rIdSmartArt3" Type="http://schemas.openxmlformats.org/officeDocument/2006/relationships/diagramData" Target="../diagrams/v32_s16_data1.xml"/><Relationship Id="rIdSmartArt4" Type="http://schemas.openxmlformats.org/officeDocument/2006/relationships/diagramLayout" Target="../diagrams/v32_s16_layout1.xml"/><Relationship Id="rIdSmartArt5" Type="http://schemas.openxmlformats.org/officeDocument/2006/relationships/diagramQuickStyle" Target="../diagrams/v32_s16_quickStyle1.xml"/><Relationship Id="rIdSmartArt6" Type="http://schemas.openxmlformats.org/officeDocument/2006/relationships/diagramColors" Target="../diagrams/v32_s16_colors1.xml"/><Relationship Id="rIdV32Drawing16" Type="http://schemas.microsoft.com/office/2007/relationships/diagramDrawing" Target="../diagrams/v32_s16_drawing1.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fafdff85e34f472a"/><Relationship Type="http://schemas.openxmlformats.org/officeDocument/2006/relationships/notesSlide" Target="/ppt/notesSlides/notesSlide17.xml" Id="Raaacfdfccceb42c0"/><Relationship Id="rIdSmartArt3" Type="http://schemas.openxmlformats.org/officeDocument/2006/relationships/diagramData" Target="../diagrams/v32_s17_data1.xml"/><Relationship Id="rIdSmartArt4" Type="http://schemas.openxmlformats.org/officeDocument/2006/relationships/diagramLayout" Target="../diagrams/v32_s17_layout1.xml"/><Relationship Id="rIdSmartArt5" Type="http://schemas.openxmlformats.org/officeDocument/2006/relationships/diagramQuickStyle" Target="../diagrams/v32_s17_quickStyle1.xml"/><Relationship Id="rIdSmartArt6" Type="http://schemas.openxmlformats.org/officeDocument/2006/relationships/diagramColors" Target="../diagrams/v32_s17_colors1.xml"/><Relationship Id="rIdV32Drawing17" Type="http://schemas.microsoft.com/office/2007/relationships/diagramDrawing" Target="../diagrams/v32_s17_drawing1.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8ac4fd09f14044af"/><Relationship Type="http://schemas.openxmlformats.org/officeDocument/2006/relationships/notesSlide" Target="/ppt/notesSlides/notesSlide18.xml" Id="R16e9b912c58d48c8"/><Relationship Id="rIdSmartArt3" Type="http://schemas.openxmlformats.org/officeDocument/2006/relationships/diagramData" Target="../diagrams/v32_s18_data1.xml"/><Relationship Id="rIdSmartArt4" Type="http://schemas.openxmlformats.org/officeDocument/2006/relationships/diagramLayout" Target="../diagrams/v32_s18_layout1.xml"/><Relationship Id="rIdSmartArt5" Type="http://schemas.openxmlformats.org/officeDocument/2006/relationships/diagramQuickStyle" Target="../diagrams/v32_s18_quickStyle1.xml"/><Relationship Id="rIdSmartArt6" Type="http://schemas.openxmlformats.org/officeDocument/2006/relationships/diagramColors" Target="../diagrams/v32_s18_colors1.xml"/><Relationship Id="rIdV32Drawing18" Type="http://schemas.microsoft.com/office/2007/relationships/diagramDrawing" Target="../diagrams/v32_s18_drawing1.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c23a9ed9c9a1429b"/><Relationship Type="http://schemas.openxmlformats.org/officeDocument/2006/relationships/notesSlide" Target="/ppt/notesSlides/notesSlide19.xml" Id="Rbf188bb9798245f5"/><Relationship Id="rIdSmartArt3" Type="http://schemas.openxmlformats.org/officeDocument/2006/relationships/diagramData" Target="../diagrams/v32_s19_data1.xml"/><Relationship Id="rIdSmartArt4" Type="http://schemas.openxmlformats.org/officeDocument/2006/relationships/diagramLayout" Target="../diagrams/v32_s19_layout1.xml"/><Relationship Id="rIdSmartArt5" Type="http://schemas.openxmlformats.org/officeDocument/2006/relationships/diagramQuickStyle" Target="../diagrams/v32_s19_quickStyle1.xml"/><Relationship Id="rIdSmartArt6" Type="http://schemas.openxmlformats.org/officeDocument/2006/relationships/diagramColors" Target="../diagrams/v32_s19_colors1.xml"/><Relationship Id="rIdV32Drawing19" Type="http://schemas.microsoft.com/office/2007/relationships/diagramDrawing" Target="../diagrams/v32_s19_drawing1.xml"/></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c0afeb7c57844b9" /><Relationship Type="http://schemas.openxmlformats.org/officeDocument/2006/relationships/image" Target="/ppt/media/image3.jpeg" Id="Rb4b2c36d3feb4ebc" /><Relationship Type="http://schemas.openxmlformats.org/officeDocument/2006/relationships/image" Target="/ppt/media/image3.png" Id="R09e0b623e42d4703" /><Relationship Type="http://schemas.openxmlformats.org/officeDocument/2006/relationships/notesSlide" Target="/ppt/notesSlides/notesSlide20.xml" Id="R4847b0f612364baf" /></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047c54d6c5cd4156"/><Relationship Type="http://schemas.openxmlformats.org/officeDocument/2006/relationships/image" Target="/ppt/media/image9.png" Id="Re5d12dd0a73d472e"/><Relationship Type="http://schemas.openxmlformats.org/officeDocument/2006/relationships/image" Target="/ppt/media/image10.png" Id="R7e03c82494ae4f99"/><Relationship Type="http://schemas.openxmlformats.org/officeDocument/2006/relationships/image" Target="/ppt/media/image11.png" Id="R5b0e062fc1904684"/><Relationship Type="http://schemas.openxmlformats.org/officeDocument/2006/relationships/image" Target="/ppt/media/image12.png" Id="Reb7dd31bb4ab4852"/><Relationship Type="http://schemas.openxmlformats.org/officeDocument/2006/relationships/notesSlide" Target="/ppt/notesSlides/notesSlide21.xml" Id="Rd31b45b91f9944d6"/><Relationship Id="rIdSmartArt7" Type="http://schemas.openxmlformats.org/officeDocument/2006/relationships/diagramData" Target="../diagrams/v32_s21_data1.xml"/><Relationship Id="rIdSmartArt8" Type="http://schemas.openxmlformats.org/officeDocument/2006/relationships/diagramLayout" Target="../diagrams/v32_s21_layout1.xml"/><Relationship Id="rIdSmartArt9" Type="http://schemas.openxmlformats.org/officeDocument/2006/relationships/diagramQuickStyle" Target="../diagrams/v32_s21_quickStyle1.xml"/><Relationship Id="rIdSmartArt10" Type="http://schemas.openxmlformats.org/officeDocument/2006/relationships/diagramColors" Target="../diagrams/v32_s21_colors1.xml"/><Relationship Id="rIdV32Drawing21" Type="http://schemas.microsoft.com/office/2007/relationships/diagramDrawing" Target="../diagrams/v32_s21_drawing1.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4353737e25084edb"/><Relationship Type="http://schemas.openxmlformats.org/officeDocument/2006/relationships/image" Target="/ppt/media/image13.png" Id="R109cde25152c4f7f"/><Relationship Type="http://schemas.openxmlformats.org/officeDocument/2006/relationships/image" Target="/ppt/media/image14.png" Id="R5163023a0d2a4273"/><Relationship Type="http://schemas.openxmlformats.org/officeDocument/2006/relationships/image" Target="/ppt/media/image15.png" Id="Rb73a63370aba4476"/><Relationship Type="http://schemas.openxmlformats.org/officeDocument/2006/relationships/image" Target="/ppt/media/image16.png" Id="R76a21da763ed41a3"/><Relationship Type="http://schemas.openxmlformats.org/officeDocument/2006/relationships/notesSlide" Target="/ppt/notesSlides/notesSlide22.xml" Id="R1a4cc0200b054bae"/><Relationship Id="rIdSmartArt7" Type="http://schemas.openxmlformats.org/officeDocument/2006/relationships/diagramData" Target="../diagrams/v32_s22_data1.xml"/><Relationship Id="rIdSmartArt8" Type="http://schemas.openxmlformats.org/officeDocument/2006/relationships/diagramLayout" Target="../diagrams/v32_s22_layout1.xml"/><Relationship Id="rIdSmartArt9" Type="http://schemas.openxmlformats.org/officeDocument/2006/relationships/diagramQuickStyle" Target="../diagrams/v32_s22_quickStyle1.xml"/><Relationship Id="rIdSmartArt10" Type="http://schemas.openxmlformats.org/officeDocument/2006/relationships/diagramColors" Target="../diagrams/v32_s22_colors1.xml"/><Relationship Id="rIdV32Drawing22" Type="http://schemas.microsoft.com/office/2007/relationships/diagramDrawing" Target="../diagrams/v32_s22_drawing1.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8e01c2fb788c4187"/><Relationship Type="http://schemas.openxmlformats.org/officeDocument/2006/relationships/notesSlide" Target="/ppt/notesSlides/notesSlide23.xml" Id="R8395f3d8602a492f"/><Relationship Id="rIdSmartArt3" Type="http://schemas.openxmlformats.org/officeDocument/2006/relationships/diagramData" Target="../diagrams/v32_s23_data1.xml"/><Relationship Id="rIdSmartArt4" Type="http://schemas.openxmlformats.org/officeDocument/2006/relationships/diagramLayout" Target="../diagrams/v32_s23_layout1.xml"/><Relationship Id="rIdSmartArt5" Type="http://schemas.openxmlformats.org/officeDocument/2006/relationships/diagramQuickStyle" Target="../diagrams/v32_s23_quickStyle1.xml"/><Relationship Id="rIdSmartArt6" Type="http://schemas.openxmlformats.org/officeDocument/2006/relationships/diagramColors" Target="../diagrams/v32_s23_colors1.xml"/><Relationship Id="rIdV32Drawing23" Type="http://schemas.microsoft.com/office/2007/relationships/diagramDrawing" Target="../diagrams/v32_s23_drawing1.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215f1c5b93924ed1"/><Relationship Type="http://schemas.openxmlformats.org/officeDocument/2006/relationships/image" Target="/ppt/media/image17.png" Id="Rc05b6daa28f3487f"/><Relationship Type="http://schemas.openxmlformats.org/officeDocument/2006/relationships/image" Target="/ppt/media/image13.png" Id="R4fae0b9174bc464f"/><Relationship Type="http://schemas.openxmlformats.org/officeDocument/2006/relationships/image" Target="/ppt/media/image18.png" Id="R2b26e6f2351e4699"/><Relationship Type="http://schemas.openxmlformats.org/officeDocument/2006/relationships/image" Target="/ppt/media/image19.png" Id="R5349ee9aeed841a5"/><Relationship Type="http://schemas.openxmlformats.org/officeDocument/2006/relationships/image" Target="/ppt/media/image20.png" Id="Rcc5344d1839d4538"/><Relationship Type="http://schemas.openxmlformats.org/officeDocument/2006/relationships/image" Target="/ppt/media/image21.png" Id="Re2c7bc2f9d59432a"/><Relationship Type="http://schemas.openxmlformats.org/officeDocument/2006/relationships/image" Target="/ppt/media/image22.png" Id="R735e0818ba444399"/><Relationship Type="http://schemas.openxmlformats.org/officeDocument/2006/relationships/notesSlide" Target="/ppt/notesSlides/notesSlide24.xml" Id="Rb31a4f1048984210"/><Relationship Id="rIdSmartArt10" Type="http://schemas.openxmlformats.org/officeDocument/2006/relationships/diagramData" Target="../diagrams/v32_s24_data1.xml"/><Relationship Id="rIdSmartArt11" Type="http://schemas.openxmlformats.org/officeDocument/2006/relationships/diagramLayout" Target="../diagrams/v32_s24_layout1.xml"/><Relationship Id="rIdSmartArt12" Type="http://schemas.openxmlformats.org/officeDocument/2006/relationships/diagramQuickStyle" Target="../diagrams/v32_s24_quickStyle1.xml"/><Relationship Id="rIdSmartArt13" Type="http://schemas.openxmlformats.org/officeDocument/2006/relationships/diagramColors" Target="../diagrams/v32_s24_colors1.xml"/><Relationship Id="rIdV32Drawing24" Type="http://schemas.microsoft.com/office/2007/relationships/diagramDrawing" Target="../diagrams/v32_s24_drawing1.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6c0a64ce7cdc4694"/><Relationship Type="http://schemas.openxmlformats.org/officeDocument/2006/relationships/notesSlide" Target="/ppt/notesSlides/notesSlide25.xml" Id="R325a0c055410486e"/><Relationship Id="rIdSmartArt3" Type="http://schemas.openxmlformats.org/officeDocument/2006/relationships/diagramData" Target="../diagrams/v32_s25_data1.xml"/><Relationship Id="rIdSmartArt4" Type="http://schemas.openxmlformats.org/officeDocument/2006/relationships/diagramLayout" Target="../diagrams/v32_s25_layout1.xml"/><Relationship Id="rIdSmartArt5" Type="http://schemas.openxmlformats.org/officeDocument/2006/relationships/diagramQuickStyle" Target="../diagrams/v32_s25_quickStyle1.xml"/><Relationship Id="rIdSmartArt6" Type="http://schemas.openxmlformats.org/officeDocument/2006/relationships/diagramColors" Target="../diagrams/v32_s25_colors1.xml"/><Relationship Id="rIdV32Drawing25" Type="http://schemas.microsoft.com/office/2007/relationships/diagramDrawing" Target="../diagrams/v32_s25_drawing1.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05e0e374480b4f25"/><Relationship Type="http://schemas.openxmlformats.org/officeDocument/2006/relationships/image" Target="/ppt/media/image23.png" Id="R1d215375dc2b451e"/><Relationship Type="http://schemas.openxmlformats.org/officeDocument/2006/relationships/notesSlide" Target="/ppt/notesSlides/notesSlide26.xml" Id="Rf9d9c427534e41c6"/><Relationship Id="rIdSmartArt4" Type="http://schemas.openxmlformats.org/officeDocument/2006/relationships/diagramData" Target="../diagrams/v32_s26_data1.xml"/><Relationship Id="rIdSmartArt5" Type="http://schemas.openxmlformats.org/officeDocument/2006/relationships/diagramLayout" Target="../diagrams/v32_s26_layout1.xml"/><Relationship Id="rIdSmartArt6" Type="http://schemas.openxmlformats.org/officeDocument/2006/relationships/diagramQuickStyle" Target="../diagrams/v32_s26_quickStyle1.xml"/><Relationship Id="rIdSmartArt7" Type="http://schemas.openxmlformats.org/officeDocument/2006/relationships/diagramColors" Target="../diagrams/v32_s26_colors1.xml"/><Relationship Id="rIdV32Drawing26" Type="http://schemas.microsoft.com/office/2007/relationships/diagramDrawing" Target="../diagrams/v32_s26_drawing1.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8d695844e50b40cd"/><Relationship Type="http://schemas.openxmlformats.org/officeDocument/2006/relationships/image" Target="/ppt/media/image24.png" Id="Rf9f58bb2fa124376"/><Relationship Type="http://schemas.openxmlformats.org/officeDocument/2006/relationships/notesSlide" Target="/ppt/notesSlides/notesSlide27.xml" Id="Rf0f1cad0f1aa4c0c"/><Relationship Id="rIdSmartArt4" Type="http://schemas.openxmlformats.org/officeDocument/2006/relationships/diagramData" Target="../diagrams/v32_s27_data1.xml"/><Relationship Id="rIdSmartArt5" Type="http://schemas.openxmlformats.org/officeDocument/2006/relationships/diagramLayout" Target="../diagrams/v32_s27_layout1.xml"/><Relationship Id="rIdSmartArt6" Type="http://schemas.openxmlformats.org/officeDocument/2006/relationships/diagramQuickStyle" Target="../diagrams/v32_s27_quickStyle1.xml"/><Relationship Id="rIdSmartArt7" Type="http://schemas.openxmlformats.org/officeDocument/2006/relationships/diagramColors" Target="../diagrams/v32_s27_colors1.xml"/><Relationship Id="rIdV32Drawing27" Type="http://schemas.microsoft.com/office/2007/relationships/diagramDrawing" Target="../diagrams/v32_s27_drawing1.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43592104d92b411e"/><Relationship Type="http://schemas.openxmlformats.org/officeDocument/2006/relationships/notesSlide" Target="/ppt/notesSlides/notesSlide28.xml" Id="R79378fd273214e96"/><Relationship Id="rIdSmartArt3" Type="http://schemas.openxmlformats.org/officeDocument/2006/relationships/diagramData" Target="../diagrams/v32_s28_data1.xml"/><Relationship Id="rIdSmartArt4" Type="http://schemas.openxmlformats.org/officeDocument/2006/relationships/diagramLayout" Target="../diagrams/v32_s28_layout1.xml"/><Relationship Id="rIdSmartArt5" Type="http://schemas.openxmlformats.org/officeDocument/2006/relationships/diagramQuickStyle" Target="../diagrams/v32_s28_quickStyle1.xml"/><Relationship Id="rIdSmartArt6" Type="http://schemas.openxmlformats.org/officeDocument/2006/relationships/diagramColors" Target="../diagrams/v32_s28_colors1.xml"/><Relationship Id="rIdV32Drawing28" Type="http://schemas.microsoft.com/office/2007/relationships/diagramDrawing" Target="../diagrams/v32_s28_drawing1.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df6a2aecea0b41d1"/><Relationship Type="http://schemas.openxmlformats.org/officeDocument/2006/relationships/notesSlide" Target="/ppt/notesSlides/notesSlide29.xml" Id="R1738418459d54997"/><Relationship Id="rIdSmartArt3" Type="http://schemas.openxmlformats.org/officeDocument/2006/relationships/diagramData" Target="../diagrams/v32_s29_data1.xml"/><Relationship Id="rIdSmartArt4" Type="http://schemas.openxmlformats.org/officeDocument/2006/relationships/diagramLayout" Target="../diagrams/v32_s29_layout1.xml"/><Relationship Id="rIdSmartArt5" Type="http://schemas.openxmlformats.org/officeDocument/2006/relationships/diagramQuickStyle" Target="../diagrams/v32_s29_quickStyle1.xml"/><Relationship Id="rIdSmartArt6" Type="http://schemas.openxmlformats.org/officeDocument/2006/relationships/diagramColors" Target="../diagrams/v32_s29_colors1.xml"/><Relationship Id="rIdV32Drawing29" Type="http://schemas.microsoft.com/office/2007/relationships/diagramDrawing" Target="../diagrams/v32_s29_drawing1.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656a01fc1df44587"/><Relationship Type="http://schemas.openxmlformats.org/officeDocument/2006/relationships/image" Target="/ppt/media/image25.png" Id="Ree9c45d9c261431e"/><Relationship Type="http://schemas.openxmlformats.org/officeDocument/2006/relationships/notesSlide" Target="/ppt/notesSlides/notesSlide30.xml" Id="R4a2d7f09fa354e1d"/><Relationship Id="rIdSmartArt4" Type="http://schemas.openxmlformats.org/officeDocument/2006/relationships/diagramData" Target="../diagrams/v32_s30_data1.xml"/><Relationship Id="rIdSmartArt5" Type="http://schemas.openxmlformats.org/officeDocument/2006/relationships/diagramLayout" Target="../diagrams/v32_s30_layout1.xml"/><Relationship Id="rIdSmartArt6" Type="http://schemas.openxmlformats.org/officeDocument/2006/relationships/diagramQuickStyle" Target="../diagrams/v32_s30_quickStyle1.xml"/><Relationship Id="rIdSmartArt7" Type="http://schemas.openxmlformats.org/officeDocument/2006/relationships/diagramColors" Target="../diagrams/v32_s30_colors1.xml"/><Relationship Id="rIdV32Drawing30" Type="http://schemas.microsoft.com/office/2007/relationships/diagramDrawing" Target="../diagrams/v32_s30_drawing1.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653490b0b2074ee6"/><Relationship Type="http://schemas.openxmlformats.org/officeDocument/2006/relationships/image" Target="/ppt/media/image26.png" Id="R7fee42ab32b8403d"/><Relationship Type="http://schemas.openxmlformats.org/officeDocument/2006/relationships/notesSlide" Target="/ppt/notesSlides/notesSlide31.xml" Id="Raa0764c844a34672"/><Relationship Id="rIdSmartArt4" Type="http://schemas.openxmlformats.org/officeDocument/2006/relationships/diagramData" Target="../diagrams/v32_s31_data1.xml"/><Relationship Id="rIdSmartArt5" Type="http://schemas.openxmlformats.org/officeDocument/2006/relationships/diagramLayout" Target="../diagrams/v32_s31_layout1.xml"/><Relationship Id="rIdSmartArt6" Type="http://schemas.openxmlformats.org/officeDocument/2006/relationships/diagramQuickStyle" Target="../diagrams/v32_s31_quickStyle1.xml"/><Relationship Id="rIdSmartArt7" Type="http://schemas.openxmlformats.org/officeDocument/2006/relationships/diagramColors" Target="../diagrams/v32_s31_colors1.xml"/><Relationship Id="rIdV32Drawing31" Type="http://schemas.microsoft.com/office/2007/relationships/diagramDrawing" Target="../diagrams/v32_s31_drawing1.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9d2e11aa17fa404d"/><Relationship Type="http://schemas.openxmlformats.org/officeDocument/2006/relationships/notesSlide" Target="/ppt/notesSlides/notesSlide32.xml" Id="R4f0b5990cdd948ef"/><Relationship Id="rIdSmartArt3" Type="http://schemas.openxmlformats.org/officeDocument/2006/relationships/diagramData" Target="../diagrams/v32_s32_data1.xml"/><Relationship Id="rIdSmartArt4" Type="http://schemas.openxmlformats.org/officeDocument/2006/relationships/diagramLayout" Target="../diagrams/v32_s32_layout1.xml"/><Relationship Id="rIdSmartArt5" Type="http://schemas.openxmlformats.org/officeDocument/2006/relationships/diagramQuickStyle" Target="../diagrams/v32_s32_quickStyle1.xml"/><Relationship Id="rIdSmartArt6" Type="http://schemas.openxmlformats.org/officeDocument/2006/relationships/diagramColors" Target="../diagrams/v32_s32_colors1.xml"/><Relationship Id="rIdV32Drawing32" Type="http://schemas.microsoft.com/office/2007/relationships/diagramDrawing" Target="../diagrams/v32_s32_drawing1.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d4a903e14f2e46a2"/><Relationship Type="http://schemas.openxmlformats.org/officeDocument/2006/relationships/image" Target="/ppt/media/image27.png" Id="R674e536c95344e02"/><Relationship Type="http://schemas.openxmlformats.org/officeDocument/2006/relationships/notesSlide" Target="/ppt/notesSlides/notesSlide33.xml" Id="R3809a4e8a5ac4a4c"/><Relationship Id="rIdSmartArt4" Type="http://schemas.openxmlformats.org/officeDocument/2006/relationships/diagramData" Target="../diagrams/v32_s33_data1.xml"/><Relationship Id="rIdSmartArt5" Type="http://schemas.openxmlformats.org/officeDocument/2006/relationships/diagramLayout" Target="../diagrams/v32_s33_layout1.xml"/><Relationship Id="rIdSmartArt6" Type="http://schemas.openxmlformats.org/officeDocument/2006/relationships/diagramQuickStyle" Target="../diagrams/v32_s33_quickStyle1.xml"/><Relationship Id="rIdSmartArt7" Type="http://schemas.openxmlformats.org/officeDocument/2006/relationships/diagramColors" Target="../diagrams/v32_s33_colors1.xml"/><Relationship Id="rIdV32Drawing33" Type="http://schemas.microsoft.com/office/2007/relationships/diagramDrawing" Target="../diagrams/v32_s33_drawing1.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2aa810dceb304564"/><Relationship Type="http://schemas.openxmlformats.org/officeDocument/2006/relationships/notesSlide" Target="/ppt/notesSlides/notesSlide34.xml" Id="Rf7db09b73cdb47d9"/><Relationship Id="rIdSmartArt3" Type="http://schemas.openxmlformats.org/officeDocument/2006/relationships/diagramData" Target="../diagrams/v32_s34_data1.xml"/><Relationship Id="rIdSmartArt4" Type="http://schemas.openxmlformats.org/officeDocument/2006/relationships/diagramLayout" Target="../diagrams/v32_s34_layout1.xml"/><Relationship Id="rIdSmartArt5" Type="http://schemas.openxmlformats.org/officeDocument/2006/relationships/diagramQuickStyle" Target="../diagrams/v32_s34_quickStyle1.xml"/><Relationship Id="rIdSmartArt6" Type="http://schemas.openxmlformats.org/officeDocument/2006/relationships/diagramColors" Target="../diagrams/v32_s34_colors1.xml"/><Relationship Id="rIdV32Drawing34" Type="http://schemas.microsoft.com/office/2007/relationships/diagramDrawing" Target="../diagrams/v32_s34_drawing1.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1f75bb4c80434a48"/><Relationship Type="http://schemas.openxmlformats.org/officeDocument/2006/relationships/notesSlide" Target="/ppt/notesSlides/notesSlide35.xml" Id="R404cc1ad75f2431d"/><Relationship Id="rIdSmartArt3" Type="http://schemas.openxmlformats.org/officeDocument/2006/relationships/diagramData" Target="../diagrams/v32_s35_data1.xml"/><Relationship Id="rIdSmartArt4" Type="http://schemas.openxmlformats.org/officeDocument/2006/relationships/diagramLayout" Target="../diagrams/v32_s35_layout1.xml"/><Relationship Id="rIdSmartArt5" Type="http://schemas.openxmlformats.org/officeDocument/2006/relationships/diagramQuickStyle" Target="../diagrams/v32_s35_quickStyle1.xml"/><Relationship Id="rIdSmartArt6" Type="http://schemas.openxmlformats.org/officeDocument/2006/relationships/diagramColors" Target="../diagrams/v32_s35_colors1.xml"/><Relationship Id="rIdV32Drawing35" Type="http://schemas.microsoft.com/office/2007/relationships/diagramDrawing" Target="../diagrams/v32_s35_drawing1.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07700b2276874e69"/><Relationship Type="http://schemas.openxmlformats.org/officeDocument/2006/relationships/image" Target="/ppt/media/image28.png" Id="Rb5ed946e70cd46fe"/><Relationship Type="http://schemas.openxmlformats.org/officeDocument/2006/relationships/notesSlide" Target="/ppt/notesSlides/notesSlide36.xml" Id="R420fc4b58ee148b3"/><Relationship Id="rIdSmartArt4" Type="http://schemas.openxmlformats.org/officeDocument/2006/relationships/diagramData" Target="../diagrams/v32_s36_data1.xml"/><Relationship Id="rIdSmartArt5" Type="http://schemas.openxmlformats.org/officeDocument/2006/relationships/diagramLayout" Target="../diagrams/v32_s36_layout1.xml"/><Relationship Id="rIdSmartArt6" Type="http://schemas.openxmlformats.org/officeDocument/2006/relationships/diagramQuickStyle" Target="../diagrams/v32_s36_quickStyle1.xml"/><Relationship Id="rIdSmartArt7" Type="http://schemas.openxmlformats.org/officeDocument/2006/relationships/diagramColors" Target="../diagrams/v32_s36_colors1.xml"/><Relationship Id="rIdV32Drawing36" Type="http://schemas.microsoft.com/office/2007/relationships/diagramDrawing" Target="../diagrams/v32_s36_drawing1.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7d202d2a87ad456c"/><Relationship Type="http://schemas.openxmlformats.org/officeDocument/2006/relationships/notesSlide" Target="/ppt/notesSlides/notesSlide37.xml" Id="Rdc0eb0484d8140de"/><Relationship Id="rIdSmartArt3" Type="http://schemas.openxmlformats.org/officeDocument/2006/relationships/diagramData" Target="../diagrams/v32_s37_data1.xml"/><Relationship Id="rIdSmartArt4" Type="http://schemas.openxmlformats.org/officeDocument/2006/relationships/diagramLayout" Target="../diagrams/v32_s37_layout1.xml"/><Relationship Id="rIdSmartArt5" Type="http://schemas.openxmlformats.org/officeDocument/2006/relationships/diagramQuickStyle" Target="../diagrams/v32_s37_quickStyle1.xml"/><Relationship Id="rIdSmartArt6" Type="http://schemas.openxmlformats.org/officeDocument/2006/relationships/diagramColors" Target="../diagrams/v32_s37_colors1.xml"/><Relationship Id="rIdV32Drawing37" Type="http://schemas.microsoft.com/office/2007/relationships/diagramDrawing" Target="../diagrams/v32_s37_drawing1.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225b83b33fb146df"/><Relationship Type="http://schemas.openxmlformats.org/officeDocument/2006/relationships/image" Target="/ppt/media/image29.png" Id="R5c871d4f86414bb8"/><Relationship Type="http://schemas.openxmlformats.org/officeDocument/2006/relationships/notesSlide" Target="/ppt/notesSlides/notesSlide38.xml" Id="Rb03c183813894058"/><Relationship Id="rIdSmartArt4" Type="http://schemas.openxmlformats.org/officeDocument/2006/relationships/diagramData" Target="../diagrams/v32_s38_data1.xml"/><Relationship Id="rIdSmartArt5" Type="http://schemas.openxmlformats.org/officeDocument/2006/relationships/diagramLayout" Target="../diagrams/v32_s38_layout1.xml"/><Relationship Id="rIdSmartArt6" Type="http://schemas.openxmlformats.org/officeDocument/2006/relationships/diagramQuickStyle" Target="../diagrams/v32_s38_quickStyle1.xml"/><Relationship Id="rIdSmartArt7" Type="http://schemas.openxmlformats.org/officeDocument/2006/relationships/diagramColors" Target="../diagrams/v32_s38_colors1.xml"/><Relationship Id="rIdV32Drawing38" Type="http://schemas.microsoft.com/office/2007/relationships/diagramDrawing" Target="../diagrams/v32_s38_drawing1.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3f5eaea8e06a4dc6"/><Relationship Type="http://schemas.openxmlformats.org/officeDocument/2006/relationships/notesSlide" Target="/ppt/notesSlides/notesSlide39.xml" Id="R7fc362f2fa604dee"/><Relationship Id="rIdSmartArt3" Type="http://schemas.openxmlformats.org/officeDocument/2006/relationships/diagramData" Target="../diagrams/v32_s39_data1.xml"/><Relationship Id="rIdSmartArt4" Type="http://schemas.openxmlformats.org/officeDocument/2006/relationships/diagramLayout" Target="../diagrams/v32_s39_layout1.xml"/><Relationship Id="rIdSmartArt5" Type="http://schemas.openxmlformats.org/officeDocument/2006/relationships/diagramQuickStyle" Target="../diagrams/v32_s39_quickStyle1.xml"/><Relationship Id="rIdSmartArt6" Type="http://schemas.openxmlformats.org/officeDocument/2006/relationships/diagramColors" Target="../diagrams/v32_s39_colors1.xml"/><Relationship Id="rIdV32Drawing39" Type="http://schemas.microsoft.com/office/2007/relationships/diagramDrawing" Target="../diagrams/v32_s39_drawing1.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6.xml" Id="Re17bd55e7dea4cc0"/><Relationship Type="http://schemas.openxmlformats.org/officeDocument/2006/relationships/notesSlide" Target="/ppt/notesSlides/notesSlide40.xml" Id="R19bea40ecaf54f68"/><Relationship Id="rIdSmartArt3" Type="http://schemas.openxmlformats.org/officeDocument/2006/relationships/diagramData" Target="../diagrams/v32_s40_data1.xml"/><Relationship Id="rIdSmartArt4" Type="http://schemas.openxmlformats.org/officeDocument/2006/relationships/diagramLayout" Target="../diagrams/v32_s40_layout1.xml"/><Relationship Id="rIdSmartArt5" Type="http://schemas.openxmlformats.org/officeDocument/2006/relationships/diagramQuickStyle" Target="../diagrams/v32_s40_quickStyle1.xml"/><Relationship Id="rIdSmartArt6" Type="http://schemas.openxmlformats.org/officeDocument/2006/relationships/diagramColors" Target="../diagrams/v32_s40_colors1.xml"/><Relationship Id="rIdV32Drawing40" Type="http://schemas.microsoft.com/office/2007/relationships/diagramDrawing" Target="../diagrams/v32_s40_drawing1.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998adef00596463d"/><Relationship Type="http://schemas.openxmlformats.org/officeDocument/2006/relationships/notesSlide" Target="/ppt/notesSlides/notesSlide41.xml" Id="R7ce0f3ded9e04208"/><Relationship Id="rIdSmartArt3" Type="http://schemas.openxmlformats.org/officeDocument/2006/relationships/diagramData" Target="../diagrams/v32_s41_data1.xml"/><Relationship Id="rIdSmartArt4" Type="http://schemas.openxmlformats.org/officeDocument/2006/relationships/diagramLayout" Target="../diagrams/v32_s41_layout1.xml"/><Relationship Id="rIdSmartArt5" Type="http://schemas.openxmlformats.org/officeDocument/2006/relationships/diagramQuickStyle" Target="../diagrams/v32_s41_quickStyle1.xml"/><Relationship Id="rIdSmartArt6" Type="http://schemas.openxmlformats.org/officeDocument/2006/relationships/diagramColors" Target="../diagrams/v32_s41_colors1.xml"/><Relationship Id="rIdV32Drawing41" Type="http://schemas.microsoft.com/office/2007/relationships/diagramDrawing" Target="../diagrams/v32_s41_drawing1.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27b9831d275b4a30"/><Relationship Type="http://schemas.openxmlformats.org/officeDocument/2006/relationships/notesSlide" Target="/ppt/notesSlides/notesSlide42.xml" Id="R02eb8f48ee874b13"/><Relationship Id="rIdSmartArt3" Type="http://schemas.openxmlformats.org/officeDocument/2006/relationships/diagramData" Target="../diagrams/v32_s42_data1.xml"/><Relationship Id="rIdSmartArt4" Type="http://schemas.openxmlformats.org/officeDocument/2006/relationships/diagramLayout" Target="../diagrams/v32_s42_layout1.xml"/><Relationship Id="rIdSmartArt5" Type="http://schemas.openxmlformats.org/officeDocument/2006/relationships/diagramQuickStyle" Target="../diagrams/v32_s42_quickStyle1.xml"/><Relationship Id="rIdSmartArt6" Type="http://schemas.openxmlformats.org/officeDocument/2006/relationships/diagramColors" Target="../diagrams/v32_s42_colors1.xml"/><Relationship Id="rIdV32Drawing42" Type="http://schemas.microsoft.com/office/2007/relationships/diagramDrawing" Target="../diagrams/v32_s42_drawing1.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41c9a98d0d814040"/><Relationship Type="http://schemas.openxmlformats.org/officeDocument/2006/relationships/notesSlide" Target="/ppt/notesSlides/notesSlide43.xml" Id="R719694152ce84c4e"/><Relationship Id="rIdSmartArt3" Type="http://schemas.openxmlformats.org/officeDocument/2006/relationships/diagramData" Target="../diagrams/v32_s43_data1.xml"/><Relationship Id="rIdSmartArt4" Type="http://schemas.openxmlformats.org/officeDocument/2006/relationships/diagramLayout" Target="../diagrams/v32_s43_layout1.xml"/><Relationship Id="rIdSmartArt5" Type="http://schemas.openxmlformats.org/officeDocument/2006/relationships/diagramQuickStyle" Target="../diagrams/v32_s43_quickStyle1.xml"/><Relationship Id="rIdSmartArt6" Type="http://schemas.openxmlformats.org/officeDocument/2006/relationships/diagramColors" Target="../diagrams/v32_s43_colors1.xml"/><Relationship Id="rIdV32Drawing43" Type="http://schemas.microsoft.com/office/2007/relationships/diagramDrawing" Target="../diagrams/v32_s43_drawing1.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6.xml" Id="Re1fe780acd8f460a"/><Relationship Type="http://schemas.openxmlformats.org/officeDocument/2006/relationships/notesSlide" Target="/ppt/notesSlides/notesSlide44.xml" Id="R264f4502d2364a20"/><Relationship Id="rIdSmartArt3" Type="http://schemas.openxmlformats.org/officeDocument/2006/relationships/diagramData" Target="../diagrams/v32_s44_data1.xml"/><Relationship Id="rIdSmartArt4" Type="http://schemas.openxmlformats.org/officeDocument/2006/relationships/diagramLayout" Target="../diagrams/v32_s44_layout1.xml"/><Relationship Id="rIdSmartArt5" Type="http://schemas.openxmlformats.org/officeDocument/2006/relationships/diagramQuickStyle" Target="../diagrams/v32_s44_quickStyle1.xml"/><Relationship Id="rIdSmartArt6" Type="http://schemas.openxmlformats.org/officeDocument/2006/relationships/diagramColors" Target="../diagrams/v32_s44_colors1.xml"/><Relationship Id="rIdV32Drawing44" Type="http://schemas.microsoft.com/office/2007/relationships/diagramDrawing" Target="../diagrams/v32_s44_drawing1.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6.xml" Id="R80aba3c4671f4be8"/><Relationship Type="http://schemas.openxmlformats.org/officeDocument/2006/relationships/image" Target="/ppt/media/image13.png" Id="R62c86ef904b84d09"/><Relationship Type="http://schemas.openxmlformats.org/officeDocument/2006/relationships/image" Target="/ppt/media/image17.png" Id="Rfdf77b4465b643d0"/><Relationship Type="http://schemas.openxmlformats.org/officeDocument/2006/relationships/image" Target="/ppt/media/image15.png" Id="Rf9be2d2c5ec0481c"/><Relationship Type="http://schemas.openxmlformats.org/officeDocument/2006/relationships/image" Target="/ppt/media/image14.png" Id="R60b53585f723418a"/><Relationship Type="http://schemas.openxmlformats.org/officeDocument/2006/relationships/image" Target="/ppt/media/image16.png" Id="Rc84829ea82b84af9"/><Relationship Type="http://schemas.openxmlformats.org/officeDocument/2006/relationships/notesSlide" Target="/ppt/notesSlides/notesSlide45.xml" Id="R0a8244ff1de4457e"/><Relationship Id="rIdSmartArt8" Type="http://schemas.openxmlformats.org/officeDocument/2006/relationships/diagramData" Target="../diagrams/v32_s45_data1.xml"/><Relationship Id="rIdSmartArt9" Type="http://schemas.openxmlformats.org/officeDocument/2006/relationships/diagramLayout" Target="../diagrams/v32_s45_layout1.xml"/><Relationship Id="rIdSmartArt10" Type="http://schemas.openxmlformats.org/officeDocument/2006/relationships/diagramQuickStyle" Target="../diagrams/v32_s45_quickStyle1.xml"/><Relationship Id="rIdSmartArt11" Type="http://schemas.openxmlformats.org/officeDocument/2006/relationships/diagramColors" Target="../diagrams/v32_s45_colors1.xml"/><Relationship Id="rIdV32Drawing45" Type="http://schemas.microsoft.com/office/2007/relationships/diagramDrawing" Target="../diagrams/v32_s45_drawing1.xml"/></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6.xml" Id="R1da41b7fa797465c"/><Relationship Type="http://schemas.openxmlformats.org/officeDocument/2006/relationships/notesSlide" Target="/ppt/notesSlides/notesSlide46.xml" Id="R0ffc5392eae74bb1"/><Relationship Id="rIdSmartArt3" Type="http://schemas.openxmlformats.org/officeDocument/2006/relationships/diagramData" Target="../diagrams/v32_s46_data1.xml"/><Relationship Id="rIdSmartArt4" Type="http://schemas.openxmlformats.org/officeDocument/2006/relationships/diagramLayout" Target="../diagrams/v32_s46_layout1.xml"/><Relationship Id="rIdSmartArt5" Type="http://schemas.openxmlformats.org/officeDocument/2006/relationships/diagramQuickStyle" Target="../diagrams/v32_s46_quickStyle1.xml"/><Relationship Id="rIdSmartArt6" Type="http://schemas.openxmlformats.org/officeDocument/2006/relationships/diagramColors" Target="../diagrams/v32_s46_colors1.xml"/><Relationship Id="rIdV32Drawing46" Type="http://schemas.microsoft.com/office/2007/relationships/diagramDrawing" Target="../diagrams/v32_s46_drawing1.xml"/></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6.xml" Id="Rb199b8894c9647c2"/><Relationship Type="http://schemas.openxmlformats.org/officeDocument/2006/relationships/notesSlide" Target="/ppt/notesSlides/notesSlide47.xml" Id="Rb734e6e6228f4e01"/><Relationship Id="rIdSmartArt3" Type="http://schemas.openxmlformats.org/officeDocument/2006/relationships/diagramData" Target="../diagrams/v32_s47_data1.xml"/><Relationship Id="rIdSmartArt4" Type="http://schemas.openxmlformats.org/officeDocument/2006/relationships/diagramLayout" Target="../diagrams/v32_s47_layout1.xml"/><Relationship Id="rIdSmartArt5" Type="http://schemas.openxmlformats.org/officeDocument/2006/relationships/diagramQuickStyle" Target="../diagrams/v32_s47_quickStyle1.xml"/><Relationship Id="rIdSmartArt6" Type="http://schemas.openxmlformats.org/officeDocument/2006/relationships/diagramColors" Target="../diagrams/v32_s47_colors1.xml"/><Relationship Id="rIdV32Drawing47" Type="http://schemas.microsoft.com/office/2007/relationships/diagramDrawing" Target="../diagrams/v32_s47_drawing1.xml"/></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6.xml" Id="R9c086be6a7314e6e"/><Relationship Type="http://schemas.openxmlformats.org/officeDocument/2006/relationships/notesSlide" Target="/ppt/notesSlides/notesSlide48.xml" Id="Rec31821845594b10"/><Relationship Id="rIdSmartArt3" Type="http://schemas.openxmlformats.org/officeDocument/2006/relationships/diagramData" Target="../diagrams/v32_s48_data1.xml"/><Relationship Id="rIdSmartArt4" Type="http://schemas.openxmlformats.org/officeDocument/2006/relationships/diagramLayout" Target="../diagrams/v32_s48_layout1.xml"/><Relationship Id="rIdSmartArt5" Type="http://schemas.openxmlformats.org/officeDocument/2006/relationships/diagramQuickStyle" Target="../diagrams/v32_s48_quickStyle1.xml"/><Relationship Id="rIdSmartArt6" Type="http://schemas.openxmlformats.org/officeDocument/2006/relationships/diagramColors" Target="../diagrams/v32_s48_colors1.xml"/><Relationship Id="rIdV32Drawing48" Type="http://schemas.microsoft.com/office/2007/relationships/diagramDrawing" Target="../diagrams/v32_s48_drawing1.xml"/></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6.xml" Id="Ra0b1746dfff24ce8"/><Relationship Type="http://schemas.openxmlformats.org/officeDocument/2006/relationships/notesSlide" Target="/ppt/notesSlides/notesSlide49.xml" Id="Rc609bee115a645e0"/><Relationship Id="rIdSmartArt3" Type="http://schemas.openxmlformats.org/officeDocument/2006/relationships/diagramData" Target="../diagrams/v32_s49_data1.xml"/><Relationship Id="rIdSmartArt4" Type="http://schemas.openxmlformats.org/officeDocument/2006/relationships/diagramLayout" Target="../diagrams/v32_s49_layout1.xml"/><Relationship Id="rIdSmartArt5" Type="http://schemas.openxmlformats.org/officeDocument/2006/relationships/diagramQuickStyle" Target="../diagrams/v32_s49_quickStyle1.xml"/><Relationship Id="rIdSmartArt6" Type="http://schemas.openxmlformats.org/officeDocument/2006/relationships/diagramColors" Target="../diagrams/v32_s49_colors1.xml"/><Relationship Id="rIdV32Drawing49" Type="http://schemas.microsoft.com/office/2007/relationships/diagramDrawing" Target="../diagrams/v32_s49_drawing1.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7C39121-817A-4D3C-899A-D0A0C1F58930}"/>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fe189d54013742f7"/>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412b96dc4e494c2c"/>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FD954C5-04DB-4280-B44C-D964E6C9CDDA}"/>
              </a:ext>
            </a:extLst>
          </p:cNvPr>
          <p:cNvSpPr>
            <a:spLocks xmlns:a="http://schemas.openxmlformats.org/drawingml/2006/main" noGrp="1"/>
          </p:cNvSpPr>
          <p:nvPr/>
        </p:nvSpPr>
        <p:spPr>
          <a:xfrm xmlns:a="http://schemas.openxmlformats.org/drawingml/2006/main">
            <a:off x="594360" y="2468880"/>
            <a:ext cx="4709160" cy="163634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South Africa
liquid fuels
market story</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AC3AB0E-746B-4AF6-ABCD-D6526DA2BFFE}"/>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2702DF3-0D72-4A19-ADCB-903E36583053}"/>
              </a:ext>
            </a:extLst>
          </p:cNvPr>
          <p:cNvSpPr>
            <a:spLocks xmlns:a="http://schemas.openxmlformats.org/drawingml/2006/main" noGrp="1"/>
          </p:cNvSpPr>
          <p:nvPr/>
        </p:nvSpPr>
        <p:spPr>
          <a:xfrm xmlns:a="http://schemas.openxmlformats.org/drawingml/2006/main">
            <a:off x="594360" y="4617720"/>
            <a:ext cx="4572000" cy="5232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C5CB190A-7488-44E1-8968-36FDC90EDA0B}"/>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D208E6D2-5587-493C-AED5-50FFAEFBCE44}"/>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15A94E5E-E17D-406B-B780-6593F829C0CA}"/>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605235CD-EC7B-4D28-A4DA-C6360164F0A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ED5236C5-84CC-47CC-8ACF-9C81666786AA}"/>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HG’s South Africa storyline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Source: HG’s supplied storyboard, slides 30–32 (6 October 2026). Condensed framing; propositions and questions to investigate. The following page presents the current analytical response.</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4"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0A2373"/>
                          </a:solidFill>
                          <a:latin typeface="Lato"/>
                          <a:ea typeface="Lato"/>
                          <a:cs typeface="Lato"/>
                        </a:rPr>
                        <a:t>SITUATION | The market and its drivers</a:t>
                      </a:r>
                    </a:p>
                  </a:txBody>
                  <a:tcPr marL="91440" marR="91440" marT="45720" marB="45720" anchor="t">
                    <a:solidFill>
                      <a:srgbClr val="FFFFFF"/>
                    </a:solidFill>
                  </a:tcPr>
                </a:tc>
                <a:tc>
                  <a:txBody>
                    <a:bodyPr/>
                    <a:lstStyle/>
                    <a:p>
                      <a:r>
                        <a:rPr sz="1350" b="1">
                          <a:solidFill>
                            <a:srgbClr val="0A2373"/>
                          </a:solidFill>
                          <a:latin typeface="Lato"/>
                          <a:ea typeface="Lato"/>
                          <a:cs typeface="Lato"/>
                        </a:rPr>
                        <a:t>COMPLICATION | Trends begin to reverse</a:t>
                      </a:r>
                    </a:p>
                  </a:txBody>
                  <a:tcPr marL="91440" marR="91440" marT="45720" marB="45720" anchor="t">
                    <a:solidFill>
                      <a:srgbClr val="FFFFFF"/>
                    </a:solidFill>
                  </a:tcPr>
                </a:tc>
                <a:tc>
                  <a:txBody>
                    <a:bodyPr/>
                    <a:lstStyle/>
                    <a:p>
                      <a:r>
                        <a:rPr sz="1350" b="1">
                          <a:solidFill>
                            <a:srgbClr val="0A2373"/>
                          </a:solidFill>
                          <a:latin typeface="Lato"/>
                          <a:ea typeface="Lato"/>
                          <a:cs typeface="Lato"/>
                        </a:rPr>
                        <a:t>RESOLUTION | Vopak’s outlook</a:t>
                      </a:r>
                    </a:p>
                  </a:txBody>
                  <a:tcPr marL="91440" marR="91440" marT="45720" marB="45720" anchor="t">
                    <a:solidFill>
                      <a:srgbClr val="FFFFFF"/>
                    </a:solidFill>
                  </a:tcPr>
                </a:tc>
              </a:tr>
              <a:tr h="3219450">
                <a:tc>
                  <a:txBody>
                    <a:bodyPr/>
                    <a:lstStyle/>
                    <a:p>
                      <a:r>
                        <a:rPr sz="1350" b="0">
                          <a:solidFill>
                            <a:srgbClr val="11151A"/>
                          </a:solidFill>
                          <a:latin typeface="Lato"/>
                          <a:ea typeface="Lato"/>
                          <a:cs typeface="Lato"/>
                        </a:rPr>
                        <a:t>Outline South African demand development and Vopak’s market of interest: eastern South Africa within economic reach of its storage infrastructure and NMPP.</a:t>
                      </a:r>
                    </a:p>
                    <a:p>
                      <a:r>
                        <a:rPr sz="1350" b="0">
                          <a:solidFill>
                            <a:srgbClr val="11151A"/>
                          </a:solidFill>
                          <a:latin typeface="Lato"/>
                          <a:ea typeface="Lato"/>
                          <a:cs typeface="Lato"/>
                        </a:rPr>
                        <a:t/>
                      </a:r>
                    </a:p>
                    <a:p>
                      <a:r>
                        <a:rPr sz="1350" b="0">
                          <a:solidFill>
                            <a:srgbClr val="11151A"/>
                          </a:solidFill>
                          <a:latin typeface="Lato"/>
                          <a:ea typeface="Lato"/>
                          <a:cs typeface="Lato"/>
                        </a:rPr>
                        <a:t>Explain the demand drivers: greater diesel use in power generation; rail to road; fuel prices; more efficient vehicles; and slow GDP growth.</a:t>
                      </a:r>
                    </a:p>
                    <a:p>
                      <a:r>
                        <a:rPr sz="1350" b="0">
                          <a:solidFill>
                            <a:srgbClr val="11151A"/>
                          </a:solidFill>
                          <a:latin typeface="Lato"/>
                          <a:ea typeface="Lato"/>
                          <a:cs typeface="Lato"/>
                        </a:rPr>
                        <a:t/>
                      </a:r>
                    </a:p>
                    <a:p>
                      <a:r>
                        <a:rPr sz="1350" b="0">
                          <a:solidFill>
                            <a:srgbClr val="11151A"/>
                          </a:solidFill>
                          <a:latin typeface="Lato"/>
                          <a:ea typeface="Lato"/>
                          <a:cs typeface="Lato"/>
                        </a:rPr>
                        <a:t>Outline the supply picture: refinery closures, challenges at Secunda and closure of Mossgas. Show growth in imports and where they enter.</a:t>
                      </a:r>
                    </a:p>
                  </a:txBody>
                  <a:tcPr marL="91440" marR="91440" marT="45720" marB="45720" anchor="t">
                    <a:solidFill>
                      <a:srgbClr val="FFFFFF"/>
                    </a:solidFill>
                  </a:tcPr>
                </a:tc>
                <a:tc>
                  <a:txBody>
                    <a:bodyPr/>
                    <a:lstStyle/>
                    <a:p>
                      <a:r>
                        <a:rPr sz="1350" b="0">
                          <a:solidFill>
                            <a:srgbClr val="11151A"/>
                          </a:solidFill>
                          <a:latin typeface="Lato"/>
                          <a:ea typeface="Lato"/>
                          <a:cs typeface="Lato"/>
                        </a:rPr>
                        <a:t>A number of trends that supported demand growth have started to reverse: road to rail; the end of loadshedding and spare generation capacity; EVs/HEVs; and higher fuel prices affecting kilometres travelled.</a:t>
                      </a:r>
                    </a:p>
                    <a:p>
                      <a:r>
                        <a:rPr sz="1350" b="0">
                          <a:solidFill>
                            <a:srgbClr val="11151A"/>
                          </a:solidFill>
                          <a:latin typeface="Lato"/>
                          <a:ea typeface="Lato"/>
                          <a:cs typeface="Lato"/>
                        </a:rPr>
                        <a:t/>
                      </a:r>
                    </a:p>
                    <a:p>
                      <a:r>
                        <a:rPr sz="1350" b="0">
                          <a:solidFill>
                            <a:srgbClr val="11151A"/>
                          </a:solidFill>
                          <a:latin typeface="Lato"/>
                          <a:ea typeface="Lato"/>
                          <a:cs typeface="Lato"/>
                        </a:rPr>
                        <a:t>Explore supply changes: a SAPREF restart; Secunda’s coal-derived gas, MRG sales and potential extension to 2032; and Natref’s future.</a:t>
                      </a:r>
                    </a:p>
                    <a:p>
                      <a:r>
                        <a:rPr sz="1350" b="0">
                          <a:solidFill>
                            <a:srgbClr val="11151A"/>
                          </a:solidFill>
                          <a:latin typeface="Lato"/>
                          <a:ea typeface="Lato"/>
                          <a:cs typeface="Lato"/>
                        </a:rPr>
                        <a:t/>
                      </a:r>
                    </a:p>
                    <a:p>
                      <a:r>
                        <a:rPr sz="1350" b="0">
                          <a:solidFill>
                            <a:srgbClr val="11151A"/>
                          </a:solidFill>
                          <a:latin typeface="Lato"/>
                          <a:ea typeface="Lato"/>
                          <a:cs typeface="Lato"/>
                        </a:rPr>
                        <a:t>Compare Durban storage–NMPP–Lesedi with road/rail from Durban, transport from Matola and transport from Walvis Bay.</a:t>
                      </a:r>
                    </a:p>
                  </a:txBody>
                  <a:tcPr marL="91440" marR="91440" marT="45720" marB="45720" anchor="t">
                    <a:solidFill>
                      <a:srgbClr val="FFFFFF"/>
                    </a:solidFill>
                  </a:tcPr>
                </a:tc>
                <a:tc>
                  <a:txBody>
                    <a:bodyPr/>
                    <a:lstStyle/>
                    <a:p>
                      <a:r>
                        <a:rPr sz="1350" b="0">
                          <a:solidFill>
                            <a:srgbClr val="11151A"/>
                          </a:solidFill>
                          <a:latin typeface="Lato"/>
                          <a:ea typeface="Lato"/>
                          <a:cs typeface="Lato"/>
                        </a:rPr>
                        <a:t>Market share of Vopak in Durban and Lesedi</a:t>
                      </a:r>
                    </a:p>
                    <a:p>
                      <a:r>
                        <a:rPr sz="1350" b="0">
                          <a:solidFill>
                            <a:srgbClr val="11151A"/>
                          </a:solidFill>
                          <a:latin typeface="Lato"/>
                          <a:ea typeface="Lato"/>
                          <a:cs typeface="Lato"/>
                        </a:rPr>
                        <a:t/>
                      </a:r>
                    </a:p>
                    <a:p>
                      <a:r>
                        <a:rPr sz="1350" b="0">
                          <a:solidFill>
                            <a:srgbClr val="11151A"/>
                          </a:solidFill>
                          <a:latin typeface="Lato"/>
                          <a:ea typeface="Lato"/>
                          <a:cs typeface="Lato"/>
                        </a:rPr>
                        <a:t>Potential scope for new investment?</a:t>
                      </a:r>
                    </a:p>
                  </a:txBody>
                  <a:tcPr marL="91440" marR="91440" marT="45720" marB="45720" anchor="t">
                    <a:solidFill>
                      <a:srgbClr val="FFFFFF"/>
                    </a:solidFill>
                  </a:tcPr>
                </a:tc>
              </a:tr>
            </a:tbl>
          </a:graphicData>
        </a:graphic>
      </p:graphicFrame>
      <p:graphicFrame xmlns:a="http://schemas.openxmlformats.org/drawingml/2006/main">
        <p:nvGraphicFramePr>
          <p:cNvPr id="5002"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201926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a:solidFill>
                  <a:schemeClr val="dk1"/>
                </a:solidFill>
                <a:latin typeface="Lato"/>
                <a:ea typeface="Lato"/>
                <a:cs typeface="Lato"/>
              </a:rPr>
              <a:t>Import dependence supports Vopak’s opportunity; demand, supply and access determine its scale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2023; SARS customs 2025; Eskom FY2025; Manish DR08. Capture assumptions p16; operating sensitivities p17. Years and scopes differ. Actual customer share and investment returns remain open.</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6" name=""/>
          <p:cNvGraphicFramePr/>
          <p:nvPr/>
        </p:nvGraphicFramePr>
        <p:xfrm>
          <a:off xmlns:a="http://schemas.openxmlformats.org/drawingml/2006/main" x="457200" y="1647825"/>
          <a:ext xmlns:a="http://schemas.openxmlformats.org/drawingml/2006/main" cx="10648950" cy="3638550"/>
        </p:xfrm>
        <a:graphic xmlns:a="http://schemas.openxmlformats.org/drawingml/2006/main">
          <a:graphicData uri="http://schemas.openxmlformats.org/drawingml/2006/table">
            <a:tbl>
              <a:tblPr firstRow="0" bandRow="0"/>
              <a:tblGrid>
                <a:gridCol w="3549968"/>
                <a:gridCol w="3549968"/>
                <a:gridCol w="3549015"/>
              </a:tblGrid>
              <a:tr h="419100">
                <a:tc>
                  <a:txBody>
                    <a:bodyPr/>
                    <a:lstStyle/>
                    <a:p>
                      <a:r>
                        <a:rPr sz="1350" b="1">
                          <a:solidFill>
                            <a:srgbClr val="0A2373"/>
                          </a:solidFill>
                          <a:latin typeface="Lato"/>
                          <a:ea typeface="Lato"/>
                          <a:cs typeface="Lato"/>
                        </a:rPr>
                        <a:t>SITUATION | An established import market</a:t>
                      </a:r>
                    </a:p>
                  </a:txBody>
                  <a:tcPr marL="91440" marR="91440" marT="45720" marB="45720" anchor="t">
                    <a:solidFill>
                      <a:srgbClr val="FFFFFF"/>
                    </a:solidFill>
                  </a:tcPr>
                </a:tc>
                <a:tc>
                  <a:txBody>
                    <a:bodyPr/>
                    <a:lstStyle/>
                    <a:p>
                      <a:r>
                        <a:rPr sz="1350" b="1">
                          <a:solidFill>
                            <a:srgbClr val="0A2373"/>
                          </a:solidFill>
                          <a:latin typeface="Lato"/>
                          <a:ea typeface="Lato"/>
                          <a:cs typeface="Lato"/>
                        </a:rPr>
                        <a:t>COMPLICATION | The outlook is changing</a:t>
                      </a:r>
                    </a:p>
                  </a:txBody>
                  <a:tcPr marL="91440" marR="91440" marT="45720" marB="45720" anchor="t">
                    <a:solidFill>
                      <a:srgbClr val="FFFFFF"/>
                    </a:solidFill>
                  </a:tcPr>
                </a:tc>
                <a:tc>
                  <a:txBody>
                    <a:bodyPr/>
                    <a:lstStyle/>
                    <a:p>
                      <a:r>
                        <a:rPr sz="1350" b="1">
                          <a:solidFill>
                            <a:srgbClr val="0A2373"/>
                          </a:solidFill>
                          <a:latin typeface="Lato"/>
                          <a:ea typeface="Lato"/>
                          <a:cs typeface="Lato"/>
                        </a:rPr>
                        <a:t>RESOLUTION | Capture before expansion</a:t>
                      </a:r>
                    </a:p>
                  </a:txBody>
                  <a:tcPr marL="91440" marR="91440" marT="45720" marB="45720" anchor="t">
                    <a:solidFill>
                      <a:srgbClr val="FFFFFF"/>
                    </a:solidFill>
                  </a:tcPr>
                </a:tc>
              </a:tr>
              <a:tr h="3219450">
                <a:tc>
                  <a:txBody>
                    <a:bodyPr/>
                    <a:lstStyle/>
                    <a:p>
                      <a:r>
                        <a:rPr sz="1350" b="0">
                          <a:solidFill>
                            <a:srgbClr val="11151A"/>
                          </a:solidFill>
                          <a:latin typeface="Lato"/>
                          <a:ea typeface="Lato"/>
                          <a:cs typeface="Lato"/>
                        </a:rPr>
                        <a:t>South Africa sold 21.94bn litres of petrol and diesel in 2023. Petrol demand declined over 2013–2023 while diesel grew slowly.</a:t>
                      </a:r>
                    </a:p>
                    <a:p>
                      <a:r>
                        <a:rPr sz="1350" b="0">
                          <a:solidFill>
                            <a:srgbClr val="11151A"/>
                          </a:solidFill>
                          <a:latin typeface="Lato"/>
                          <a:ea typeface="Lato"/>
                          <a:cs typeface="Lato"/>
                        </a:rPr>
                        <a:t/>
                      </a:r>
                    </a:p>
                    <a:p>
                      <a:r>
                        <a:rPr sz="1350" b="0">
                          <a:solidFill>
                            <a:srgbClr val="11151A"/>
                          </a:solidFill>
                          <a:latin typeface="Lato"/>
                          <a:ea typeface="Lato"/>
                          <a:cs typeface="Lato"/>
                        </a:rPr>
                        <a:t>Refinery shutdowns changed the supply base. Gross finished-product imports reached 16.70bn litres in 2025; Durban customs accounted for 13.16bn.</a:t>
                      </a:r>
                    </a:p>
                    <a:p>
                      <a:r>
                        <a:rPr sz="1350" b="0">
                          <a:solidFill>
                            <a:srgbClr val="11151A"/>
                          </a:solidFill>
                          <a:latin typeface="Lato"/>
                          <a:ea typeface="Lato"/>
                          <a:cs typeface="Lato"/>
                        </a:rPr>
                        <a:t/>
                      </a:r>
                    </a:p>
                    <a:p>
                      <a:r>
                        <a:rPr sz="1350" b="0">
                          <a:solidFill>
                            <a:srgbClr val="11151A"/>
                          </a:solidFill>
                          <a:latin typeface="Lato"/>
                          <a:ea typeface="Lato"/>
                          <a:cs typeface="Lato"/>
                        </a:rPr>
                        <a:t>Durban and Lesedi connect coastal supply to inland customers. Their commercial opportunity depends on destination, route cost and access.</a:t>
                      </a:r>
                    </a:p>
                  </a:txBody>
                  <a:tcPr marL="91440" marR="91440" marT="45720" marB="45720" anchor="t">
                    <a:solidFill>
                      <a:srgbClr val="FFFFFF"/>
                    </a:solidFill>
                  </a:tcPr>
                </a:tc>
                <a:tc>
                  <a:txBody>
                    <a:bodyPr/>
                    <a:lstStyle/>
                    <a:p>
                      <a:r>
                        <a:rPr sz="1350" b="0">
                          <a:solidFill>
                            <a:srgbClr val="11151A"/>
                          </a:solidFill>
                          <a:latin typeface="Lato"/>
                          <a:ea typeface="Lato"/>
                          <a:cs typeface="Lato"/>
                        </a:rPr>
                        <a:t>Transport and sector demand: road-to-rail recovery, activity in mining/manufacturing/agriculture, and fleet efficiency can change fuel use.</a:t>
                      </a:r>
                    </a:p>
                    <a:p>
                      <a:r>
                        <a:rPr sz="1350" b="0">
                          <a:solidFill>
                            <a:srgbClr val="11151A"/>
                          </a:solidFill>
                          <a:latin typeface="Lato"/>
                          <a:ea typeface="Lato"/>
                          <a:cs typeface="Lato"/>
                        </a:rPr>
                        <a:t/>
                      </a:r>
                    </a:p>
                    <a:p>
                      <a:r>
                        <a:rPr sz="1350" b="0">
                          <a:solidFill>
                            <a:srgbClr val="11151A"/>
                          </a:solidFill>
                          <a:latin typeface="Lato"/>
                          <a:ea typeface="Lato"/>
                          <a:cs typeface="Lato"/>
                        </a:rPr>
                        <a:t>Power: Eskom’s own OCGT fuel use fell 40% in FY2025. Further reductions depend on sustained recovery and the wider generation mix.</a:t>
                      </a:r>
                    </a:p>
                    <a:p>
                      <a:r>
                        <a:rPr sz="1350" b="0">
                          <a:solidFill>
                            <a:srgbClr val="11151A"/>
                          </a:solidFill>
                          <a:latin typeface="Lato"/>
                          <a:ea typeface="Lato"/>
                          <a:cs typeface="Lato"/>
                        </a:rPr>
                        <a:t/>
                      </a:r>
                    </a:p>
                    <a:p>
                      <a:r>
                        <a:rPr sz="1350" b="0">
                          <a:solidFill>
                            <a:srgbClr val="11151A"/>
                          </a:solidFill>
                          <a:latin typeface="Lato"/>
                          <a:ea typeface="Lato"/>
                          <a:cs typeface="Lato"/>
                        </a:rPr>
                        <a:t>Refining: SAPREF and developments at Secunda, Natref and other plants could change domestic output and import requirements.</a:t>
                      </a:r>
                    </a:p>
                  </a:txBody>
                  <a:tcPr marL="91440" marR="91440" marT="45720" marB="45720" anchor="t">
                    <a:solidFill>
                      <a:srgbClr val="FFFFFF"/>
                    </a:solidFill>
                  </a:tcPr>
                </a:tc>
                <a:tc>
                  <a:txBody>
                    <a:bodyPr/>
                    <a:lstStyle/>
                    <a:p>
                      <a:r>
                        <a:rPr sz="1350" b="0">
                          <a:solidFill>
                            <a:srgbClr val="11151A"/>
                          </a:solidFill>
                          <a:latin typeface="Lato"/>
                          <a:ea typeface="Lato"/>
                          <a:cs typeface="Lato"/>
                        </a:rPr>
                        <a:t>Compare routes and customer access before assigning Vopak a share of the market.</a:t>
                      </a:r>
                    </a:p>
                    <a:p>
                      <a:r>
                        <a:rPr sz="1350" b="0">
                          <a:solidFill>
                            <a:srgbClr val="11151A"/>
                          </a:solidFill>
                          <a:latin typeface="Lato"/>
                          <a:ea typeface="Lato"/>
                          <a:cs typeface="Lato"/>
                        </a:rPr>
                        <a:t/>
                      </a:r>
                    </a:p>
                    <a:p>
                      <a:r>
                        <a:rPr sz="1350" b="0">
                          <a:solidFill>
                            <a:srgbClr val="11151A"/>
                          </a:solidFill>
                          <a:latin typeface="Lato"/>
                          <a:ea typeface="Lato"/>
                          <a:cs typeface="Lato"/>
                        </a:rPr>
                        <a:t>The illustrative base gives Durban 2.63bn litres, including 1.32bn through Lesedi. This assumes 20% import capture and 50% onward routing; actual share remains unverified.</a:t>
                      </a:r>
                    </a:p>
                    <a:p>
                      <a:r>
                        <a:rPr sz="1350" b="0">
                          <a:solidFill>
                            <a:srgbClr val="11151A"/>
                          </a:solidFill>
                          <a:latin typeface="Lato"/>
                          <a:ea typeface="Lato"/>
                          <a:cs typeface="Lato"/>
                        </a:rPr>
                        <a:t/>
                      </a:r>
                    </a:p>
                    <a:p>
                      <a:r>
                        <a:rPr sz="1350" b="0">
                          <a:solidFill>
                            <a:srgbClr val="11151A"/>
                          </a:solidFill>
                          <a:latin typeface="Lato"/>
                          <a:ea typeface="Lato"/>
                          <a:cs typeface="Lato"/>
                        </a:rPr>
                        <a:t>Compare captured volumes with actual operating limits. Additional tanks require secured incremental demand, a proven capacity constraint and commercial returns.</a:t>
                      </a:r>
                    </a:p>
                  </a:txBody>
                  <a:tcPr marL="91440" marR="91440" marT="45720" marB="45720" anchor="t">
                    <a:solidFill>
                      <a:srgbClr val="FFFFFF"/>
                    </a:solidFill>
                  </a:tcPr>
                </a:tc>
              </a:tr>
            </a:tbl>
          </a:graphicData>
        </a:graphic>
      </p:graphicFrame>
      <p:sp>
        <p:nvSpPr>
          <p:cNvPr id="50" name="SCR progress">
            <a:extLst xmlns:a="http://schemas.openxmlformats.org/drawingml/2006/main">
              <a:ext uri="{FF2B5EF4-FFF2-40B4-BE49-F238E27FC236}">
                <a16:creationId xmlns:a16="http://schemas.microsoft.com/office/drawing/2014/main" id="{1784CF31-F6F2-48AC-AB61-B6137D096370}"/>
              </a:ext>
            </a:extLst>
          </p:cNvPr>
          <p:cNvSpPr>
            <a:spLocks xmlns:a="http://schemas.openxmlformats.org/drawingml/2006/main" noGrp="1"/>
          </p:cNvSpPr>
          <p:nvPr/>
        </p:nvSpPr>
        <p:spPr>
          <a:xfrm xmlns:a="http://schemas.openxmlformats.org/drawingml/2006/main">
            <a:off x="457200" y="5562600"/>
            <a:ext cx="10648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a:solidFill>
                  <a:srgbClr val="0A2373"/>
                </a:solidFill>
                <a:latin typeface="Lato"/>
                <a:ea typeface="Lato"/>
                <a:cs typeface="Lato"/>
              </a:defRPr>
            </a:pPr>
            <a:r>
              <a:rPr sz="1275">
                <a:solidFill>
                  <a:srgbClr val="0A2373"/>
                </a:solidFill>
                <a:latin typeface="Lato"/>
                <a:ea typeface="Lato"/>
                <a:cs typeface="Lato"/>
              </a:rPr>
              <a:t>Story sequence: baseline (pp4–9); demand and supply complications (pp10–14); competition and Vopak decisions (pp15–19).</a:t>
            </a:r>
          </a:p>
        </p:txBody>
      </p:sp>
      <p:graphicFrame xmlns:a="http://schemas.openxmlformats.org/drawingml/2006/main">
        <p:nvGraphicFramePr>
          <p:cNvPr id="5003" name="brand-pptx section navigation">
            <a:extLst>
              <a:ext uri="{FF2B5EF4-FFF2-40B4-BE49-F238E27FC236}">
                <a16:creationId xmlns:a16="http://schemas.microsoft.com/office/drawing/2014/main" id="{D8E95ECE-F5D1-9248-0AF4-D9752CBAA742}"/>
              </a:ext>
            </a:extLst>
          </p:cNvPr>
          <p:cNvGraphicFramePr/>
          <p:nvPr>
            <p:extLst>
              <p:ext uri="{D42A27DB-BD31-4B8C-83A1-F6EECF244321}">
                <p14:modId xmlns:p14="http://schemas.microsoft.com/office/powerpoint/2010/main" val="140827280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20192627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South Africa has a large fuel market and substantial imports; the source years differ</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national sales 2023 and provincial sales 2022; SARS petrol/diesel customs 2025; registered market_review.yaml. Latest available periods differ. No matched-year import share is inferred.</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810000"/>
        </p:xfrm>
        <a:graphic xmlns:a="http://schemas.openxmlformats.org/drawingml/2006/main">
          <a:graphicData uri="http://schemas.openxmlformats.org/drawingml/2006/table">
            <a:tbl>
              <a:tblPr firstRow="0" bandRow="0"/>
              <a:tblGrid>
                <a:gridCol w="2381250"/>
                <a:gridCol w="3429000"/>
                <a:gridCol w="4838700"/>
              </a:tblGrid>
              <a:tr h="400050">
                <a:tc>
                  <a:txBody>
                    <a:bodyPr/>
                    <a:lstStyle/>
                    <a:p>
                      <a:r>
                        <a:rPr sz="1350" b="1">
                          <a:solidFill>
                            <a:srgbClr val="0A2373"/>
                          </a:solidFill>
                          <a:latin typeface="Lato"/>
                          <a:ea typeface="Lato"/>
                          <a:cs typeface="Lato"/>
                        </a:rPr>
                        <a:t>Baseline measure</a:t>
                      </a:r>
                    </a:p>
                  </a:txBody>
                  <a:tcPr marL="91440" marR="91440" marT="45720" marB="45720" anchor="t">
                    <a:solidFill>
                      <a:srgbClr val="F5F5F5"/>
                    </a:solidFill>
                  </a:tcPr>
                </a:tc>
                <a:tc>
                  <a:txBody>
                    <a:bodyPr/>
                    <a:lstStyle/>
                    <a:p>
                      <a:r>
                        <a:rPr sz="1350" b="1">
                          <a:solidFill>
                            <a:srgbClr val="0A2373"/>
                          </a:solidFill>
                          <a:latin typeface="Lato"/>
                          <a:ea typeface="Lato"/>
                          <a:cs typeface="Lato"/>
                        </a:rPr>
                        <a:t>Latest evidence used</a:t>
                      </a:r>
                    </a:p>
                  </a:txBody>
                  <a:tcPr marL="91440" marR="91440" marT="45720" marB="45720" anchor="t">
                    <a:solidFill>
                      <a:srgbClr val="F5F5F5"/>
                    </a:solidFill>
                  </a:tcPr>
                </a:tc>
                <a:tc>
                  <a:txBody>
                    <a:bodyPr/>
                    <a:lstStyle/>
                    <a:p>
                      <a:r>
                        <a:rPr sz="1350" b="1">
                          <a:solidFill>
                            <a:srgbClr val="0A2373"/>
                          </a:solidFill>
                          <a:latin typeface="Lato"/>
                          <a:ea typeface="Lato"/>
                          <a:cs typeface="Lato"/>
                        </a:rPr>
                        <a:t>What it establishes</a:t>
                      </a:r>
                    </a:p>
                  </a:txBody>
                  <a:tcPr marL="91440" marR="91440" marT="45720" marB="45720" anchor="t">
                    <a:solidFill>
                      <a:srgbClr val="F5F5F5"/>
                    </a:solidFill>
                  </a:tcPr>
                </a:tc>
              </a:tr>
              <a:tr h="852488">
                <a:tc>
                  <a:txBody>
                    <a:bodyPr/>
                    <a:lstStyle/>
                    <a:p>
                      <a:r>
                        <a:rPr sz="1350" b="1">
                          <a:solidFill>
                            <a:srgbClr val="0A2373"/>
                          </a:solidFill>
                          <a:latin typeface="Lato"/>
                          <a:ea typeface="Lato"/>
                          <a:cs typeface="Lato"/>
                        </a:rPr>
                        <a:t>National petrol and diesel sales</a:t>
                      </a:r>
                    </a:p>
                  </a:txBody>
                  <a:tcPr marL="91440" marR="91440" marT="45720" marB="45720" anchor="t">
                    <a:solidFill>
                      <a:srgbClr val="FFFFFF"/>
                    </a:solidFill>
                  </a:tcPr>
                </a:tc>
                <a:tc>
                  <a:txBody>
                    <a:bodyPr/>
                    <a:lstStyle/>
                    <a:p>
                      <a:r>
                        <a:rPr sz="1350" b="0">
                          <a:solidFill>
                            <a:srgbClr val="11151A"/>
                          </a:solidFill>
                          <a:latin typeface="Lato"/>
                          <a:ea typeface="Lato"/>
                          <a:cs typeface="Lato"/>
                        </a:rPr>
                        <a:t>2023: 21.94bn litres</a:t>
                      </a:r>
                    </a:p>
                    <a:p>
                      <a:r>
                        <a:rPr sz="1350" b="0">
                          <a:solidFill>
                            <a:srgbClr val="11151A"/>
                          </a:solidFill>
                          <a:latin typeface="Lato"/>
                          <a:ea typeface="Lato"/>
                          <a:cs typeface="Lato"/>
                        </a:rPr>
                        <a:t>Petrol 9.04; diesel 12.91</a:t>
                      </a:r>
                    </a:p>
                  </a:txBody>
                  <a:tcPr marL="91440" marR="91440" marT="45720" marB="45720" anchor="t">
                    <a:solidFill>
                      <a:srgbClr val="FFFFFF"/>
                    </a:solidFill>
                  </a:tcPr>
                </a:tc>
                <a:tc>
                  <a:txBody>
                    <a:bodyPr/>
                    <a:lstStyle/>
                    <a:p>
                      <a:r>
                        <a:rPr sz="1350" b="0">
                          <a:solidFill>
                            <a:srgbClr val="11151A"/>
                          </a:solidFill>
                          <a:latin typeface="Lato"/>
                          <a:ea typeface="Lato"/>
                          <a:cs typeface="Lato"/>
                        </a:rPr>
                        <a:t>Historical market scale. Comparable 2024 sales remain unverified; 2025 sales are unavailable.</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Finished-product trade</a:t>
                      </a:r>
                    </a:p>
                  </a:txBody>
                  <a:tcPr marL="91440" marR="91440" marT="45720" marB="45720" anchor="t">
                    <a:solidFill>
                      <a:srgbClr val="FFFFFF"/>
                    </a:solidFill>
                  </a:tcPr>
                </a:tc>
                <a:tc>
                  <a:txBody>
                    <a:bodyPr/>
                    <a:lstStyle/>
                    <a:p>
                      <a:r>
                        <a:rPr sz="1350" b="0">
                          <a:solidFill>
                            <a:srgbClr val="11151A"/>
                          </a:solidFill>
                          <a:latin typeface="Lato"/>
                          <a:ea typeface="Lato"/>
                          <a:cs typeface="Lato"/>
                        </a:rPr>
                        <a:t>2025: imports 16.70bn litres</a:t>
                      </a:r>
                    </a:p>
                    <a:p>
                      <a:r>
                        <a:rPr sz="1350" b="0">
                          <a:solidFill>
                            <a:srgbClr val="11151A"/>
                          </a:solidFill>
                          <a:latin typeface="Lato"/>
                          <a:ea typeface="Lato"/>
                          <a:cs typeface="Lato"/>
                        </a:rPr>
                        <a:t>Exports 1.55; net imports 15.15</a:t>
                      </a:r>
                    </a:p>
                  </a:txBody>
                  <a:tcPr marL="91440" marR="91440" marT="45720" marB="45720" anchor="t">
                    <a:solidFill>
                      <a:srgbClr val="FFFFFF"/>
                    </a:solidFill>
                  </a:tcPr>
                </a:tc>
                <a:tc>
                  <a:txBody>
                    <a:bodyPr/>
                    <a:lstStyle/>
                    <a:p>
                      <a:r>
                        <a:rPr sz="1350" b="0">
                          <a:solidFill>
                            <a:srgbClr val="11151A"/>
                          </a:solidFill>
                          <a:latin typeface="Lato"/>
                          <a:ea typeface="Lato"/>
                          <a:cs typeface="Lato"/>
                        </a:rPr>
                        <a:t>Import scale by product. Imports and sales refer to different years and cannot establish current import penetration.</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Domestic supply</a:t>
                      </a:r>
                    </a:p>
                  </a:txBody>
                  <a:tcPr marL="91440" marR="91440" marT="45720" marB="45720" anchor="t">
                    <a:solidFill>
                      <a:srgbClr val="FFFFFF"/>
                    </a:solidFill>
                  </a:tcPr>
                </a:tc>
                <a:tc>
                  <a:txBody>
                    <a:bodyPr/>
                    <a:lstStyle/>
                    <a:p>
                      <a:r>
                        <a:rPr sz="1350" b="0">
                          <a:solidFill>
                            <a:srgbClr val="11151A"/>
                          </a:solidFill>
                          <a:latin typeface="Lato"/>
                          <a:ea typeface="Lato"/>
                          <a:cs typeface="Lato"/>
                        </a:rPr>
                        <a:t>Product production series ends in 2021; newer plant disclosures are available</a:t>
                      </a:r>
                    </a:p>
                  </a:txBody>
                  <a:tcPr marL="91440" marR="91440" marT="45720" marB="45720" anchor="t">
                    <a:solidFill>
                      <a:srgbClr val="FFFFFF"/>
                    </a:solidFill>
                  </a:tcPr>
                </a:tc>
                <a:tc>
                  <a:txBody>
                    <a:bodyPr/>
                    <a:lstStyle/>
                    <a:p>
                      <a:r>
                        <a:rPr sz="1350" b="0">
                          <a:solidFill>
                            <a:srgbClr val="11151A"/>
                          </a:solidFill>
                          <a:latin typeface="Lato"/>
                          <a:ea typeface="Lato"/>
                          <a:cs typeface="Lato"/>
                        </a:rPr>
                        <a:t>Refinery shutdowns changed the supply base. A recent national product balance still needs reconciliation.</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Gateway and inland context</a:t>
                      </a:r>
                    </a:p>
                  </a:txBody>
                  <a:tcPr marL="91440" marR="91440" marT="45720" marB="45720" anchor="t">
                    <a:solidFill>
                      <a:srgbClr val="FFFFFF"/>
                    </a:solidFill>
                  </a:tcPr>
                </a:tc>
                <a:tc>
                  <a:txBody>
                    <a:bodyPr/>
                    <a:lstStyle/>
                    <a:p>
                      <a:r>
                        <a:rPr sz="1350" b="0">
                          <a:solidFill>
                            <a:srgbClr val="11151A"/>
                          </a:solidFill>
                          <a:latin typeface="Lato"/>
                          <a:ea typeface="Lato"/>
                          <a:cs typeface="Lato"/>
                        </a:rPr>
                        <a:t>2025 Durban customs: 13.16bn litres</a:t>
                      </a:r>
                    </a:p>
                    <a:p>
                      <a:r>
                        <a:rPr sz="1350" b="0">
                          <a:solidFill>
                            <a:srgbClr val="11151A"/>
                          </a:solidFill>
                          <a:latin typeface="Lato"/>
                          <a:ea typeface="Lato"/>
                          <a:cs typeface="Lato"/>
                        </a:rPr>
                        <a:t>2022 Gauteng sales: 6.81bn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Durban is a major import gateway. Provincial demand overlaps its potential catchment; it is not additional volume.</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A1783C56-65C2-4972-A66F-312220EB314D}"/>
              </a:ext>
            </a:extLst>
          </p:cNvPr>
          <p:cNvSpPr>
            <a:spLocks xmlns:a="http://schemas.openxmlformats.org/drawingml/2006/main" noGrp="1"/>
          </p:cNvSpPr>
          <p:nvPr/>
        </p:nvSpPr>
        <p:spPr>
          <a:xfrm xmlns:a="http://schemas.openxmlformats.org/drawingml/2006/main">
            <a:off x="457200" y="5638800"/>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1151A"/>
                </a:solidFill>
                <a:latin typeface="Lato"/>
                <a:ea typeface="Lato"/>
                <a:cs typeface="Lato"/>
              </a:defRPr>
            </a:pPr>
            <a:r>
              <a:rPr sz="1200">
                <a:solidFill>
                  <a:srgbClr val="11151A"/>
                </a:solidFill>
                <a:latin typeface="Lato"/>
                <a:ea typeface="Lato"/>
                <a:cs typeface="Lato"/>
              </a:rPr>
              <a:t>The following pages establish demand, supply and market geography before testing how the outlook could change.</a:t>
            </a:r>
          </a:p>
        </p:txBody>
      </p:sp>
      <p:graphicFrame xmlns:a="http://schemas.openxmlformats.org/drawingml/2006/main">
        <p:nvGraphicFramePr>
          <p:cNvPr id="5004"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837240-3FEB-4152-BBEC-548614CDC870}"/>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Petrol demand declined while diesel grew slowly over 2013–2023</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A050DE0-A852-4217-961B-900033DDB78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EC3FFED6-F1E3-4129-B916-C3ED2A1CCC18}"/>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2013-2023: petrol CAGR -2.08%, diesel +0.82%. FIASA 2024 is excluded from the trend. Workbook History Q71/R71. RAF levy evidence uses fiscal years and still needs reconciliation.</a:t>
            </a:r>
            <a:endParaRPr sz="650"/>
          </a:p>
        </p:txBody>
      </p:sp>
      <p:sp>
        <p:nvSpPr>
          <p:cNvPr id="48" name="Strictly Confidential footer">
            <a:extLst xmlns:a="http://schemas.openxmlformats.org/drawingml/2006/main">
              <a:ext uri="{FF2B5EF4-FFF2-40B4-BE49-F238E27FC236}">
                <a16:creationId xmlns:a16="http://schemas.microsoft.com/office/drawing/2014/main" id="{B3A3E5B5-8B8F-43A2-9BD5-23871560B60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xmlns:a="http://schemas.openxmlformats.org/drawingml/2006/main">
              <a:ext uri="{FF2B5EF4-FFF2-40B4-BE49-F238E27FC236}">
                <a16:creationId xmlns:a16="http://schemas.microsoft.com/office/drawing/2014/main" id="{82C4BDB8-6541-63B8-D72B-1E0C6E25D71E}"/>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2023 Department sales total 21.94bn L. The 2024 FIASA comparison is 20.76bn L, unverified; no 2025 sales figure is available.</a:t>
            </a:r>
            <a:endParaRPr sz="1050">
              <a:solidFill>
                <a:schemeClr val="dk1"/>
              </a:solidFill>
              <a:latin typeface="Lato"/>
              <a:ea typeface="Lato"/>
              <a:cs typeface="Lato"/>
            </a:endParaRPr>
          </a:p>
        </p:txBody>
      </p:sp>
      <p:pic>
        <p:nvPicPr>
          <p:cNvPr id="55" name="Evidence chart"/>
          <p:cNvPicPr>
            <a:picLocks xmlns:a="http://schemas.openxmlformats.org/drawingml/2006/main" noChangeAspect="1"/>
          </p:cNvPicPr>
          <p:nvPr/>
        </p:nvPicPr>
        <p:blipFill>
          <a:blip xmlns:r="http://schemas.openxmlformats.org/officeDocument/2006/relationships" xmlns:a="http://schemas.openxmlformats.org/drawingml/2006/main" r:embed="R1f5a9c28e4c240e3"/>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A32BFB1A-7005-8829-3986-E9C6574D4BF6}"/>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Demand trend</a:t>
            </a:r>
          </a:p>
        </p:txBody>
      </p:sp>
      <p:sp>
        <p:nvSpPr>
          <p:cNvPr id="16" name="Aligned panel subtitle">
            <a:extLst xmlns:a="http://schemas.openxmlformats.org/drawingml/2006/main">
              <a:ext uri="{FF2B5EF4-FFF2-40B4-BE49-F238E27FC236}">
                <a16:creationId xmlns:a16="http://schemas.microsoft.com/office/drawing/2014/main" id="{B34C4DB0-C252-C5B2-9A2B-64E4954C1BC2}"/>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over 2013–2023</a:t>
            </a:r>
          </a:p>
        </p:txBody>
      </p:sp>
      <p:sp>
        <p:nvSpPr>
          <p:cNvPr id="13" name="Content margin panel rule">
            <a:extLst xmlns:a="http://schemas.openxmlformats.org/drawingml/2006/main">
              <a:ext uri="{FF2B5EF4-FFF2-40B4-BE49-F238E27FC236}">
                <a16:creationId xmlns:a16="http://schemas.microsoft.com/office/drawing/2014/main" id="{B2C5106D-FBBF-4FE5-8413-188D7806E7EA}"/>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E6B55515-B3CB-489E-8F07-D7BEB6372047}"/>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xmlns:a="http://schemas.openxmlformats.org/drawingml/2006/main">
        <p:nvGraphicFramePr>
          <p:cNvPr id="5005"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6791279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Road transport is the largest reported end use; sector and power estimates need distinct treatment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energy balance 2021; Eskom Integrated Report 2025; Manish master: Sector history, Diesel by use and Power fleet. 2025 sector litres and IPP burn are estimates, not directly reported fuel sales.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4171950"/>
        </p:xfrm>
        <a:graphic xmlns:a="http://schemas.openxmlformats.org/drawingml/2006/main">
          <a:graphicData uri="http://schemas.openxmlformats.org/drawingml/2006/table">
            <a:tbl>
              <a:tblPr firstRow="0" bandRow="0"/>
              <a:tblGrid>
                <a:gridCol w="2333625"/>
                <a:gridCol w="3286125"/>
                <a:gridCol w="5029200"/>
              </a:tblGrid>
              <a:tr h="400050">
                <a:tc>
                  <a:txBody>
                    <a:bodyPr/>
                    <a:lstStyle/>
                    <a:p>
                      <a:r>
                        <a:rPr sz="1275" b="1">
                          <a:solidFill>
                            <a:srgbClr val="0A2373"/>
                          </a:solidFill>
                          <a:latin typeface="Lato"/>
                          <a:ea typeface="Lato"/>
                          <a:cs typeface="Lato"/>
                        </a:rPr>
                        <a:t>Use</a:t>
                      </a:r>
                    </a:p>
                  </a:txBody>
                  <a:tcPr marL="91440" marR="91440" marT="45720" marB="45720" anchor="t">
                    <a:solidFill>
                      <a:srgbClr val="F5F5F5"/>
                    </a:solidFill>
                  </a:tcPr>
                </a:tc>
                <a:tc>
                  <a:txBody>
                    <a:bodyPr/>
                    <a:lstStyle/>
                    <a:p>
                      <a:r>
                        <a:rPr sz="1275" b="1">
                          <a:solidFill>
                            <a:srgbClr val="0A2373"/>
                          </a:solidFill>
                          <a:latin typeface="Lato"/>
                          <a:ea typeface="Lato"/>
                          <a:cs typeface="Lato"/>
                        </a:rPr>
                        <a:t>Evidence and period</a:t>
                      </a:r>
                    </a:p>
                  </a:txBody>
                  <a:tcPr marL="91440" marR="91440" marT="45720" marB="45720" anchor="t">
                    <a:solidFill>
                      <a:srgbClr val="F5F5F5"/>
                    </a:solidFill>
                  </a:tcPr>
                </a:tc>
                <a:tc>
                  <a:txBody>
                    <a:bodyPr/>
                    <a:lstStyle/>
                    <a:p>
                      <a:r>
                        <a:rPr sz="1275" b="1">
                          <a:solidFill>
                            <a:srgbClr val="0A2373"/>
                          </a:solidFill>
                          <a:latin typeface="Lato"/>
                          <a:ea typeface="Lato"/>
                          <a:cs typeface="Lato"/>
                        </a:rPr>
                        <a:t>Interpretation</a:t>
                      </a:r>
                    </a:p>
                  </a:txBody>
                  <a:tcPr marL="91440" marR="91440" marT="45720" marB="45720" anchor="t">
                    <a:solidFill>
                      <a:srgbClr val="F5F5F5"/>
                    </a:solidFill>
                  </a:tcPr>
                </a:tc>
              </a:tr>
              <a:tr h="628650">
                <a:tc>
                  <a:txBody>
                    <a:bodyPr/>
                    <a:lstStyle/>
                    <a:p>
                      <a:r>
                        <a:rPr sz="1275" b="1">
                          <a:solidFill>
                            <a:srgbClr val="0A2373"/>
                          </a:solidFill>
                          <a:latin typeface="Lato"/>
                          <a:ea typeface="Lato"/>
                          <a:cs typeface="Lato"/>
                        </a:rPr>
                        <a:t>Road transport</a:t>
                      </a:r>
                    </a:p>
                  </a:txBody>
                  <a:tcPr marL="91440" marR="91440" marT="45720" marB="45720" anchor="t">
                    <a:solidFill>
                      <a:srgbClr val="FFFFFF"/>
                    </a:solidFill>
                  </a:tcPr>
                </a:tc>
                <a:tc>
                  <a:txBody>
                    <a:bodyPr/>
                    <a:lstStyle/>
                    <a:p>
                      <a:r>
                        <a:rPr sz="1275" b="0">
                          <a:solidFill>
                            <a:srgbClr val="11151A"/>
                          </a:solidFill>
                          <a:latin typeface="Lato"/>
                          <a:ea typeface="Lato"/>
                          <a:cs typeface="Lato"/>
                        </a:rPr>
                        <a:t>2021 energy balance: 15.1bn litres</a:t>
                      </a:r>
                    </a:p>
                    <a:p>
                      <a:r>
                        <a:rPr sz="1275" b="0">
                          <a:solidFill>
                            <a:srgbClr val="11151A"/>
                          </a:solidFill>
                          <a:latin typeface="Lato"/>
                          <a:ea typeface="Lato"/>
                          <a:cs typeface="Lato"/>
                        </a:rPr>
                        <a:t>Petrol and diesel</a:t>
                      </a:r>
                    </a:p>
                  </a:txBody>
                  <a:tcPr marL="91440" marR="91440" marT="45720" marB="45720" anchor="t">
                    <a:solidFill>
                      <a:srgbClr val="FFFFFF"/>
                    </a:solidFill>
                  </a:tcPr>
                </a:tc>
                <a:tc>
                  <a:txBody>
                    <a:bodyPr/>
                    <a:lstStyle/>
                    <a:p>
                      <a:r>
                        <a:rPr sz="1275" b="0">
                          <a:solidFill>
                            <a:srgbClr val="11151A"/>
                          </a:solidFill>
                          <a:latin typeface="Lato"/>
                          <a:ea typeface="Lato"/>
                          <a:cs typeface="Lato"/>
                        </a:rPr>
                        <a:t>Largest reported final-use category. A later fuel-by-use split has not been reconciled.</a:t>
                      </a:r>
                    </a:p>
                  </a:txBody>
                  <a:tcPr marL="91440" marR="91440" marT="45720" marB="45720" anchor="t">
                    <a:solidFill>
                      <a:srgbClr val="FFFFFF"/>
                    </a:solidFill>
                  </a:tcPr>
                </a:tc>
              </a:tr>
              <a:tr h="628650">
                <a:tc>
                  <a:txBody>
                    <a:bodyPr/>
                    <a:lstStyle/>
                    <a:p>
                      <a:r>
                        <a:rPr sz="1275" b="1">
                          <a:solidFill>
                            <a:srgbClr val="0A2373"/>
                          </a:solidFill>
                          <a:latin typeface="Lato"/>
                          <a:ea typeface="Lato"/>
                          <a:cs typeface="Lato"/>
                        </a:rPr>
                        <a:t>Power generation</a:t>
                      </a:r>
                    </a:p>
                  </a:txBody>
                  <a:tcPr marL="91440" marR="91440" marT="45720" marB="45720" anchor="t">
                    <a:solidFill>
                      <a:srgbClr val="FFFFFF"/>
                    </a:solidFill>
                  </a:tcPr>
                </a:tc>
                <a:tc>
                  <a:txBody>
                    <a:bodyPr/>
                    <a:lstStyle/>
                    <a:p>
                      <a:r>
                        <a:rPr sz="1275" b="0">
                          <a:solidFill>
                            <a:srgbClr val="11151A"/>
                          </a:solidFill>
                          <a:latin typeface="Lato"/>
                          <a:ea typeface="Lato"/>
                          <a:cs typeface="Lato"/>
                        </a:rPr>
                        <a:t>FY2025 Eskom own fuel: 0.678bn litres</a:t>
                      </a:r>
                    </a:p>
                    <a:p>
                      <a:r>
                        <a:rPr sz="1275" b="0">
                          <a:solidFill>
                            <a:srgbClr val="11151A"/>
                          </a:solidFill>
                          <a:latin typeface="Lato"/>
                          <a:ea typeface="Lato"/>
                          <a:cs typeface="Lato"/>
                        </a:rPr>
                        <a:t>Eskom plus estimated IPPs: ~0.89bn</a:t>
                      </a:r>
                    </a:p>
                  </a:txBody>
                  <a:tcPr marL="91440" marR="91440" marT="45720" marB="45720" anchor="t">
                    <a:solidFill>
                      <a:srgbClr val="FFFFFF"/>
                    </a:solidFill>
                  </a:tcPr>
                </a:tc>
                <a:tc>
                  <a:txBody>
                    <a:bodyPr/>
                    <a:lstStyle/>
                    <a:p>
                      <a:r>
                        <a:rPr sz="1275" b="0">
                          <a:solidFill>
                            <a:srgbClr val="11151A"/>
                          </a:solidFill>
                          <a:latin typeface="Lato"/>
                          <a:ea typeface="Lato"/>
                          <a:cs typeface="Lato"/>
                        </a:rPr>
                        <a:t>Own use includes diesel and kerosene. Power is transformation input in the energy balance; private backup remains unmeasured.</a:t>
                      </a:r>
                    </a:p>
                  </a:txBody>
                  <a:tcPr marL="91440" marR="91440" marT="45720" marB="45720" anchor="t">
                    <a:solidFill>
                      <a:srgbClr val="FFFFFF"/>
                    </a:solidFill>
                  </a:tcPr>
                </a:tc>
              </a:tr>
              <a:tr h="628650">
                <a:tc>
                  <a:txBody>
                    <a:bodyPr/>
                    <a:lstStyle/>
                    <a:p>
                      <a:r>
                        <a:rPr sz="1275" b="1">
                          <a:solidFill>
                            <a:srgbClr val="0A2373"/>
                          </a:solidFill>
                          <a:latin typeface="Lato"/>
                          <a:ea typeface="Lato"/>
                          <a:cs typeface="Lato"/>
                        </a:rPr>
                        <a:t>Mining</a:t>
                      </a:r>
                    </a:p>
                  </a:txBody>
                  <a:tcPr marL="91440" marR="91440" marT="45720" marB="45720" anchor="t">
                    <a:solidFill>
                      <a:srgbClr val="FFFFFF"/>
                    </a:solidFill>
                  </a:tcPr>
                </a:tc>
                <a:tc>
                  <a:txBody>
                    <a:bodyPr/>
                    <a:lstStyle/>
                    <a:p>
                      <a:r>
                        <a:rPr sz="1275" b="0">
                          <a:solidFill>
                            <a:srgbClr val="11151A"/>
                          </a:solidFill>
                          <a:latin typeface="Lato"/>
                          <a:ea typeface="Lato"/>
                          <a:cs typeface="Lato"/>
                        </a:rPr>
                        <a:t>2025 diesel estimate: 1.406bn litres</a:t>
                      </a:r>
                    </a:p>
                  </a:txBody>
                  <a:tcPr marL="91440" marR="91440" marT="45720" marB="45720" anchor="t">
                    <a:solidFill>
                      <a:srgbClr val="FFFFFF"/>
                    </a:solidFill>
                  </a:tcPr>
                </a:tc>
                <a:tc>
                  <a:txBody>
                    <a:bodyPr/>
                    <a:lstStyle/>
                    <a:p>
                      <a:r>
                        <a:rPr sz="1275" b="0">
                          <a:solidFill>
                            <a:srgbClr val="11151A"/>
                          </a:solidFill>
                          <a:latin typeface="Lato"/>
                          <a:ea typeface="Lato"/>
                          <a:cs typeface="Lato"/>
                        </a:rPr>
                        <a:t>Activity multiplied by historical intensity. Road-use overlap requires reconciliation.</a:t>
                      </a:r>
                    </a:p>
                  </a:txBody>
                  <a:tcPr marL="91440" marR="91440" marT="45720" marB="45720" anchor="t">
                    <a:solidFill>
                      <a:srgbClr val="FFFFFF"/>
                    </a:solidFill>
                  </a:tcPr>
                </a:tc>
              </a:tr>
              <a:tr h="628650">
                <a:tc>
                  <a:txBody>
                    <a:bodyPr/>
                    <a:lstStyle/>
                    <a:p>
                      <a:r>
                        <a:rPr sz="1275" b="1">
                          <a:solidFill>
                            <a:srgbClr val="0A2373"/>
                          </a:solidFill>
                          <a:latin typeface="Lato"/>
                          <a:ea typeface="Lato"/>
                          <a:cs typeface="Lato"/>
                        </a:rPr>
                        <a:t>Manufacturing / industry residual</a:t>
                      </a:r>
                    </a:p>
                  </a:txBody>
                  <a:tcPr marL="91440" marR="91440" marT="45720" marB="45720" anchor="t">
                    <a:solidFill>
                      <a:srgbClr val="FFFFFF"/>
                    </a:solidFill>
                  </a:tcPr>
                </a:tc>
                <a:tc>
                  <a:txBody>
                    <a:bodyPr/>
                    <a:lstStyle/>
                    <a:p>
                      <a:r>
                        <a:rPr sz="1275" b="0">
                          <a:solidFill>
                            <a:srgbClr val="11151A"/>
                          </a:solidFill>
                          <a:latin typeface="Lato"/>
                          <a:ea typeface="Lato"/>
                          <a:cs typeface="Lato"/>
                        </a:rPr>
                        <a:t>2025 diesel estimate: 0.165bn litres</a:t>
                      </a:r>
                    </a:p>
                  </a:txBody>
                  <a:tcPr marL="91440" marR="91440" marT="45720" marB="45720" anchor="t">
                    <a:solidFill>
                      <a:srgbClr val="FFFFFF"/>
                    </a:solidFill>
                  </a:tcPr>
                </a:tc>
                <a:tc>
                  <a:txBody>
                    <a:bodyPr/>
                    <a:lstStyle/>
                    <a:p>
                      <a:r>
                        <a:rPr sz="1275" b="0">
                          <a:solidFill>
                            <a:srgbClr val="11151A"/>
                          </a:solidFill>
                          <a:latin typeface="Lato"/>
                          <a:ea typeface="Lato"/>
                          <a:cs typeface="Lato"/>
                        </a:rPr>
                        <a:t>Residual excludes mining and construction; coverage does not establish a complete industrial census.</a:t>
                      </a:r>
                    </a:p>
                  </a:txBody>
                  <a:tcPr marL="91440" marR="91440" marT="45720" marB="45720" anchor="t">
                    <a:solidFill>
                      <a:srgbClr val="FFFFFF"/>
                    </a:solidFill>
                  </a:tcPr>
                </a:tc>
              </a:tr>
              <a:tr h="628650">
                <a:tc>
                  <a:txBody>
                    <a:bodyPr/>
                    <a:lstStyle/>
                    <a:p>
                      <a:r>
                        <a:rPr sz="1275" b="1">
                          <a:solidFill>
                            <a:srgbClr val="0A2373"/>
                          </a:solidFill>
                          <a:latin typeface="Lato"/>
                          <a:ea typeface="Lato"/>
                          <a:cs typeface="Lato"/>
                        </a:rPr>
                        <a:t>Agriculture / forestry</a:t>
                      </a:r>
                    </a:p>
                  </a:txBody>
                  <a:tcPr marL="91440" marR="91440" marT="45720" marB="45720" anchor="t">
                    <a:solidFill>
                      <a:srgbClr val="FFFFFF"/>
                    </a:solidFill>
                  </a:tcPr>
                </a:tc>
                <a:tc>
                  <a:txBody>
                    <a:bodyPr/>
                    <a:lstStyle/>
                    <a:p>
                      <a:r>
                        <a:rPr sz="1275" b="0">
                          <a:solidFill>
                            <a:srgbClr val="11151A"/>
                          </a:solidFill>
                          <a:latin typeface="Lato"/>
                          <a:ea typeface="Lato"/>
                          <a:cs typeface="Lato"/>
                        </a:rPr>
                        <a:t>2025 diesel estimate: 1.131bn litres</a:t>
                      </a:r>
                    </a:p>
                  </a:txBody>
                  <a:tcPr marL="91440" marR="91440" marT="45720" marB="45720" anchor="t">
                    <a:solidFill>
                      <a:srgbClr val="FFFFFF"/>
                    </a:solidFill>
                  </a:tcPr>
                </a:tc>
                <a:tc>
                  <a:txBody>
                    <a:bodyPr/>
                    <a:lstStyle/>
                    <a:p>
                      <a:r>
                        <a:rPr sz="1275" b="0">
                          <a:solidFill>
                            <a:srgbClr val="11151A"/>
                          </a:solidFill>
                          <a:latin typeface="Lato"/>
                          <a:ea typeface="Lato"/>
                          <a:cs typeface="Lato"/>
                        </a:rPr>
                        <a:t>Activity-based estimate. Weather, irrigation and transport affect fuel intensity.</a:t>
                      </a:r>
                    </a:p>
                  </a:txBody>
                  <a:tcPr marL="91440" marR="91440" marT="45720" marB="45720" anchor="t">
                    <a:solidFill>
                      <a:srgbClr val="FFFFFF"/>
                    </a:solidFill>
                  </a:tcPr>
                </a:tc>
              </a:tr>
              <a:tr h="628650">
                <a:tc>
                  <a:txBody>
                    <a:bodyPr/>
                    <a:lstStyle/>
                    <a:p>
                      <a:r>
                        <a:rPr sz="1275" b="1">
                          <a:solidFill>
                            <a:srgbClr val="0A2373"/>
                          </a:solidFill>
                          <a:latin typeface="Lato"/>
                          <a:ea typeface="Lato"/>
                          <a:cs typeface="Lato"/>
                        </a:rPr>
                        <a:t>Other and marine</a:t>
                      </a:r>
                    </a:p>
                  </a:txBody>
                  <a:tcPr marL="91440" marR="91440" marT="45720" marB="45720" anchor="t">
                    <a:solidFill>
                      <a:srgbClr val="FFFFFF"/>
                    </a:solidFill>
                  </a:tcPr>
                </a:tc>
                <a:tc>
                  <a:txBody>
                    <a:bodyPr/>
                    <a:lstStyle/>
                    <a:p>
                      <a:r>
                        <a:rPr sz="1275" b="0">
                          <a:solidFill>
                            <a:srgbClr val="11151A"/>
                          </a:solidFill>
                          <a:latin typeface="Lato"/>
                          <a:ea typeface="Lato"/>
                          <a:cs typeface="Lato"/>
                        </a:rPr>
                        <a:t>2021 energy balance: 5.3bn litres</a:t>
                      </a:r>
                    </a:p>
                    <a:p>
                      <a:r>
                        <a:rPr sz="1275" b="0">
                          <a:solidFill>
                            <a:srgbClr val="11151A"/>
                          </a:solidFill>
                          <a:latin typeface="Lato"/>
                          <a:ea typeface="Lato"/>
                          <a:cs typeface="Lato"/>
                        </a:rPr>
                        <a:t>Petrol and diesel</a:t>
                      </a:r>
                    </a:p>
                  </a:txBody>
                  <a:tcPr marL="91440" marR="91440" marT="45720" marB="45720" anchor="t">
                    <a:solidFill>
                      <a:srgbClr val="FFFFFF"/>
                    </a:solidFill>
                  </a:tcPr>
                </a:tc>
                <a:tc>
                  <a:txBody>
                    <a:bodyPr/>
                    <a:lstStyle/>
                    <a:p>
                      <a:r>
                        <a:rPr sz="1275" b="0">
                          <a:solidFill>
                            <a:srgbClr val="11151A"/>
                          </a:solidFill>
                          <a:latin typeface="Lato"/>
                          <a:ea typeface="Lato"/>
                          <a:cs typeface="Lato"/>
                        </a:rPr>
                        <a:t>Broad residual category with a different scope from the model’s marine-only segment.</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9384BDCA-5026-42B1-B6B8-778F2C55B77C}"/>
              </a:ext>
            </a:extLst>
          </p:cNvPr>
          <p:cNvSpPr>
            <a:spLocks xmlns:a="http://schemas.openxmlformats.org/drawingml/2006/main" noGrp="1"/>
          </p:cNvSpPr>
          <p:nvPr/>
        </p:nvSpPr>
        <p:spPr>
          <a:xfrm xmlns:a="http://schemas.openxmlformats.org/drawingml/2006/main">
            <a:off x="457200" y="5915025"/>
            <a:ext cx="1064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11151A"/>
                </a:solidFill>
                <a:latin typeface="Lato"/>
                <a:ea typeface="Lato"/>
                <a:cs typeface="Lato"/>
              </a:defRPr>
            </a:pPr>
            <a:r>
              <a:rPr sz="1050">
                <a:solidFill>
                  <a:srgbClr val="11151A"/>
                </a:solidFill>
                <a:latin typeface="Lato"/>
                <a:ea typeface="Lato"/>
                <a:cs typeface="Lato"/>
              </a:rPr>
              <a:t>Read these as separate evidence points. Different years, scopes and overlaps prevent a valid sum to national sales.</a:t>
            </a:r>
          </a:p>
        </p:txBody>
      </p:sp>
      <p:graphicFrame xmlns:a="http://schemas.openxmlformats.org/drawingml/2006/main">
        <p:nvGraphicFramePr>
          <p:cNvPr id="5006"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B0B56F-08DA-4B85-8416-CC3ADB7A5A1B}"/>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Refinery shutdowns have coincided with growth in finished-product imports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EFA7B83-3726-45DF-A5AB-B24342BB24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16008754-6803-44E9-AEE0-1B2AA7EF993B}"/>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SARS litre-reported petrol/diesel codes, complete calendar years. 2020–2025 changes are historical comparisons, not plant-level causal attribution. Export histories retained in the source report; unit/blend exclusions remain.</a:t>
            </a:r>
            <a:endParaRPr sz="650"/>
          </a:p>
        </p:txBody>
      </p:sp>
      <p:sp>
        <p:nvSpPr>
          <p:cNvPr id="48" name="Strictly Confidential footer">
            <a:extLst xmlns:a="http://schemas.openxmlformats.org/drawingml/2006/main">
              <a:ext uri="{FF2B5EF4-FFF2-40B4-BE49-F238E27FC236}">
                <a16:creationId xmlns:a16="http://schemas.microsoft.com/office/drawing/2014/main" id="{2B92F5C3-2C5B-49AA-A8C1-20D197C425D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xmlns:a="http://schemas.openxmlformats.org/drawingml/2006/main">
              <a:ext uri="{FF2B5EF4-FFF2-40B4-BE49-F238E27FC236}">
                <a16:creationId xmlns:a16="http://schemas.microsoft.com/office/drawing/2014/main" id="{1F651618-E88B-F09E-4383-953C0C2A27BA}"/>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imports: diesel 12.25bn L and petrol 4.45bn L, net 15.15bn L. Durban customs accounts for 13.16bn L; terminal capture remains unverified.</a:t>
            </a:r>
            <a:endParaRPr sz="1050">
              <a:solidFill>
                <a:schemeClr val="dk1"/>
              </a:solidFill>
              <a:latin typeface="Lato"/>
              <a:ea typeface="Lato"/>
              <a:cs typeface="Lato"/>
            </a:endParaRPr>
          </a:p>
        </p:txBody>
      </p:sp>
      <p:pic>
        <p:nvPicPr>
          <p:cNvPr id="55" name="Evidence chart"/>
          <p:cNvPicPr>
            <a:picLocks xmlns:a="http://schemas.openxmlformats.org/drawingml/2006/main" noChangeAspect="1"/>
          </p:cNvPicPr>
          <p:nvPr/>
        </p:nvPicPr>
        <p:blipFill>
          <a:blip xmlns:r="http://schemas.openxmlformats.org/officeDocument/2006/relationships" xmlns:a="http://schemas.openxmlformats.org/drawingml/2006/main" r:embed="R765d04aff2824b84"/>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932354EC-65B1-0EF2-A176-8E881B4387C0}"/>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Import trend</a:t>
            </a:r>
          </a:p>
        </p:txBody>
      </p:sp>
      <p:sp>
        <p:nvSpPr>
          <p:cNvPr id="16" name="Aligned panel subtitle">
            <a:extLst xmlns:a="http://schemas.openxmlformats.org/drawingml/2006/main">
              <a:ext uri="{FF2B5EF4-FFF2-40B4-BE49-F238E27FC236}">
                <a16:creationId xmlns:a16="http://schemas.microsoft.com/office/drawing/2014/main" id="{A6FB8A44-2E10-A3A7-1081-800C64B998A5}"/>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since 2020</a:t>
            </a:r>
          </a:p>
        </p:txBody>
      </p:sp>
      <p:sp>
        <p:nvSpPr>
          <p:cNvPr id="13" name="Content margin panel rule">
            <a:extLst xmlns:a="http://schemas.openxmlformats.org/drawingml/2006/main">
              <a:ext uri="{FF2B5EF4-FFF2-40B4-BE49-F238E27FC236}">
                <a16:creationId xmlns:a16="http://schemas.microsoft.com/office/drawing/2014/main" id="{D6DC779E-728D-455D-A589-41B88D770255}"/>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DAE682B4-99EA-4AAA-91A8-BE5345521110}"/>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xmlns:a="http://schemas.openxmlformats.org/drawingml/2006/main">
        <p:nvGraphicFramePr>
          <p:cNvPr id="5007"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140922770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BF2DF0-4DD1-43F1-BB63-EC445950331B}"/>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Emerging Maputo and Walvis Bay routes must be tested alongside Durban and domestic supply</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135D3A-C5B5-498F-9667-7478E83059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56547A1D-F847-4BD0-A092-249BAA32B349}"/>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a:extLst xmlns:a="http://schemas.openxmlformats.org/drawingml/2006/main">
              <a:ext uri="{FF2B5EF4-FFF2-40B4-BE49-F238E27FC236}">
                <a16:creationId xmlns:a16="http://schemas.microsoft.com/office/drawing/2014/main" id="{65AD0587-6905-4E92-8C6E-C186A5C1BC0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xmlns:a="http://schemas.openxmlformats.org/drawingml/2006/main">
              <a:ext uri="{FF2B5EF4-FFF2-40B4-BE49-F238E27FC236}">
                <a16:creationId xmlns:a16="http://schemas.microsoft.com/office/drawing/2014/main" id="{1516117D-4450-D13E-2623-2F637C71BC06}"/>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MPP use averaged 105ML/week in FY2025 against 148ML/week capacity. Compare route costs and access by destination; average spare capacity gives no Vopak entitlement.</a:t>
            </a:r>
            <a:endParaRPr sz="1200">
              <a:solidFill>
                <a:schemeClr val="dk1"/>
              </a:solidFill>
              <a:latin typeface="Lato"/>
              <a:ea typeface="Lato"/>
              <a:cs typeface="Lato"/>
            </a:endParaRPr>
          </a:p>
        </p:txBody>
      </p:sp>
      <p:pic>
        <p:nvPicPr>
          <p:cNvPr id="55" name="Evidence chart"/>
          <p:cNvPicPr>
            <a:picLocks xmlns:a="http://schemas.openxmlformats.org/drawingml/2006/main" noChangeAspect="1"/>
          </p:cNvPicPr>
          <p:nvPr/>
        </p:nvPicPr>
        <p:blipFill>
          <a:blip xmlns:r="http://schemas.openxmlformats.org/officeDocument/2006/relationships" xmlns:a="http://schemas.openxmlformats.org/drawingml/2006/main" r:embed="Rccce2576d62c423a"/>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D1C964E9-5708-A42E-3984-1415C36B1638}"/>
              </a:ext>
            </a:extLst>
          </p:cNvPr>
          <p:cNvSpPr>
            <a:spLocks xmlns:a="http://schemas.openxmlformats.org/drawingml/2006/main" noGrp="1"/>
          </p:cNvSpPr>
          <p:nvPr/>
        </p:nvSpPr>
        <p:spPr>
          <a:xfrm xmlns:a="http://schemas.openxmlformats.org/drawingml/2006/main">
            <a:off x="457200" y="1625600"/>
            <a:ext cx="6554354"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Competing supply corridors</a:t>
            </a:r>
          </a:p>
        </p:txBody>
      </p:sp>
      <p:sp>
        <p:nvSpPr>
          <p:cNvPr id="16" name="Aligned panel subtitle">
            <a:extLst xmlns:a="http://schemas.openxmlformats.org/drawingml/2006/main">
              <a:ext uri="{FF2B5EF4-FFF2-40B4-BE49-F238E27FC236}">
                <a16:creationId xmlns:a16="http://schemas.microsoft.com/office/drawing/2014/main" id="{404BB07F-45B9-2C46-75B8-8E01DEEB4FC0}"/>
              </a:ext>
            </a:extLst>
          </p:cNvPr>
          <p:cNvSpPr>
            <a:spLocks xmlns:a="http://schemas.openxmlformats.org/drawingml/2006/main" noGrp="1"/>
          </p:cNvSpPr>
          <p:nvPr/>
        </p:nvSpPr>
        <p:spPr>
          <a:xfrm xmlns:a="http://schemas.openxmlformats.org/drawingml/2006/main">
            <a:off x="7290954" y="1625600"/>
            <a:ext cx="3819005"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Same product, same destination</a:t>
            </a:r>
          </a:p>
        </p:txBody>
      </p:sp>
      <p:sp>
        <p:nvSpPr>
          <p:cNvPr id="13" name="Content margin panel rule">
            <a:extLst xmlns:a="http://schemas.openxmlformats.org/drawingml/2006/main">
              <a:ext uri="{FF2B5EF4-FFF2-40B4-BE49-F238E27FC236}">
                <a16:creationId xmlns:a16="http://schemas.microsoft.com/office/drawing/2014/main" id="{C974DB04-0502-4558-89FC-5F09F4B51542}"/>
              </a:ext>
            </a:extLst>
          </p:cNvPr>
          <p:cNvSpPr>
            <a:spLocks xmlns:a="http://schemas.openxmlformats.org/drawingml/2006/main" noGrp="1"/>
          </p:cNvSpPr>
          <p:nvPr/>
        </p:nvSpPr>
        <p:spPr>
          <a:xfrm xmlns:a="http://schemas.openxmlformats.org/drawingml/2006/main">
            <a:off x="7290954" y="1907308"/>
            <a:ext cx="3819006"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CF52A104-DBDB-4AB9-BEC6-9CA4D194D7DB}"/>
              </a:ext>
            </a:extLst>
          </p:cNvPr>
          <p:cNvSpPr>
            <a:spLocks xmlns:a="http://schemas.openxmlformats.org/drawingml/2006/main" noGrp="1"/>
          </p:cNvSpPr>
          <p:nvPr/>
        </p:nvSpPr>
        <p:spPr>
          <a:xfrm xmlns:a="http://schemas.openxmlformats.org/drawingml/2006/main">
            <a:off x="457200" y="1907308"/>
            <a:ext cx="6579754"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xmlns:a="http://schemas.openxmlformats.org/drawingml/2006/main">
        <p:nvGraphicFramePr>
          <p:cNvPr id="5008"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233341370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98C25B-368D-4D35-972F-9DD7B29DBC15}"/>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Durban and Lesedi connect coastal supply to Gauteng; operating data must establish room for growth</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1AFBDFB-5C3E-4912-878A-87639B0BF6B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9</a:t>
            </a:r>
            <a:endParaRPr sz="1100"/>
          </a:p>
        </p:txBody>
      </p:sp>
      <p:sp>
        <p:nvSpPr>
          <p:cNvPr id="8" name="Unified source footer">
            <a:extLst xmlns:a="http://schemas.openxmlformats.org/drawingml/2006/main">
              <a:ext uri="{FF2B5EF4-FFF2-40B4-BE49-F238E27FC236}">
                <a16:creationId xmlns:a16="http://schemas.microsoft.com/office/drawing/2014/main" id="{07ACD7EF-36C8-4B8B-A542-B65218D9C1D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terminal directory; NERSA Lesedi licence documents; registered terminal_site_assumptions.csv; Transnet Pipelines 2025 p8. Gross capacity, estimated working tankage and annual throughput have different meanings.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Asset / measure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Established position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must be established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360,246 m³ published gross capacity.
Coastal receipt and onward distribution; mixed products.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146,000 m³ estimated working subset from the 162,000 m³ expansion. Full petrol/diesel allocation still needs confirmation.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140,000 m3 clean-product capacity.
Includes the 40,000 m3 expansion
commissioned in October 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124,000 m³ working estimate: 88,000 documented plus 36,000 estimated for newer tanks. Actual throughput remains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Operating constraints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MPP use/capacity: 105 / 148ML per week in FY2025. Shared annualised use 5.46bn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Measure receipt, pipeline and dispatch limits, seasonal peaks and stock requirements.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Implication for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Actual throughput and achievable turns are not yet established in this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No spare capacity is claimed. Test captured demand against verified handling limits before selecting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BA702CC3-37E5-4009-AD9A-1C8DD0C784D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09" name="brand-pptx section navigation">
            <a:extLst>
              <a:ext uri="{FF2B5EF4-FFF2-40B4-BE49-F238E27FC236}">
                <a16:creationId xmlns:a16="http://schemas.microsoft.com/office/drawing/2014/main" id="{1842EBDA-FB36-CC65-2DF5-3F7E4B0CD8A7}"/>
              </a:ext>
            </a:extLst>
          </p:cNvPr>
          <p:cNvGraphicFramePr/>
          <p:nvPr>
            <p:extLst>
              <p:ext uri="{D42A27DB-BD31-4B8C-83A1-F6EECF244321}">
                <p14:modId xmlns:p14="http://schemas.microsoft.com/office/powerpoint/2010/main" val="1671702407"/>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3028960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C60BC9-3E7C-4EF0-915A-1CC07DC3AE38}"/>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Road-to-rail recovery could reduce truck diesel demand; transferable freight determines the scale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4C4B621-B62B-4B4C-9795-C2CDF603807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10</a:t>
            </a:r>
            <a:endParaRPr sz="1100"/>
          </a:p>
        </p:txBody>
      </p:sp>
      <p:sp>
        <p:nvSpPr>
          <p:cNvPr id="8" name="Unified source footer">
            <a:extLst xmlns:a="http://schemas.openxmlformats.org/drawingml/2006/main">
              <a:ext uri="{FF2B5EF4-FFF2-40B4-BE49-F238E27FC236}">
                <a16:creationId xmlns:a16="http://schemas.microsoft.com/office/drawing/2014/main" id="{41B324F5-19D8-4A34-B609-73D7DEC59B1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payload and transport-industry fuel purchases. Workbook Diesel by use Q28: spending / average diesel price, hire-and-reward firms only; may include petrol/lubricants. Road residual includes unseparated uses; tonne-km and rail traction remain open.</a:t>
            </a:r>
            <a:endParaRPr sz="650"/>
          </a:p>
        </p:txBody>
      </p:sp>
      <p:sp>
        <p:nvSpPr>
          <p:cNvPr id="48" name="Strictly Confidential footer">
            <a:extLst xmlns:a="http://schemas.openxmlformats.org/drawingml/2006/main">
              <a:ext uri="{FF2B5EF4-FFF2-40B4-BE49-F238E27FC236}">
                <a16:creationId xmlns:a16="http://schemas.microsoft.com/office/drawing/2014/main" id="{412FFE2F-2361-48BD-9517-599D30EB0CC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896de676ce1a48ff"/>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0BD0A93A-8DFF-B036-9E2F-738F1CCBC16D}"/>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Road carried 85.3% of reported tonnes in 2025. Quantifying a rail shift requires eligible freight, tonne-kilometres, timing and diesel intensity; payload alone is insufficient.</a:t>
            </a:r>
            <a:endParaRPr sz="1050">
              <a:solidFill>
                <a:schemeClr val="dk1"/>
              </a:solidFill>
              <a:latin typeface="Lato"/>
              <a:ea typeface="Lato"/>
              <a:cs typeface="Lato"/>
            </a:endParaRPr>
          </a:p>
        </p:txBody>
      </p:sp>
      <p:graphicFrame xmlns:a="http://schemas.openxmlformats.org/drawingml/2006/main">
        <p:nvGraphicFramePr>
          <p:cNvPr id="5010"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24851435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Sector activity and vehicle efficiency create different demand paths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11</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Master workbook Sector history and Vehicle history; naamsa 2025. Post-2021 sector litres are activity/intensity estimates. EV/efficiency implementation reviewed; hybrid/rail combination rules and calibration remain open.</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810000"/>
        </p:xfrm>
        <a:graphic xmlns:a="http://schemas.openxmlformats.org/drawingml/2006/main">
          <a:graphicData uri="http://schemas.openxmlformats.org/drawingml/2006/table">
            <a:tbl>
              <a:tblPr firstRow="0" bandRow="0"/>
              <a:tblGrid>
                <a:gridCol w="2286000"/>
                <a:gridCol w="3857625"/>
                <a:gridCol w="4505325"/>
              </a:tblGrid>
              <a:tr h="400050">
                <a:tc>
                  <a:txBody>
                    <a:bodyPr/>
                    <a:lstStyle/>
                    <a:p>
                      <a:r>
                        <a:rPr sz="1350" b="1">
                          <a:solidFill>
                            <a:srgbClr val="0A2373"/>
                          </a:solidFill>
                          <a:latin typeface="Lato"/>
                          <a:ea typeface="Lato"/>
                          <a:cs typeface="Lato"/>
                        </a:rPr>
                        <a:t>Driver</a:t>
                      </a:r>
                    </a:p>
                  </a:txBody>
                  <a:tcPr marL="91440" marR="91440" marT="45720" marB="45720" anchor="t">
                    <a:solidFill>
                      <a:srgbClr val="F5F5F5"/>
                    </a:solidFill>
                  </a:tcPr>
                </a:tc>
                <a:tc>
                  <a:txBody>
                    <a:bodyPr/>
                    <a:lstStyle/>
                    <a:p>
                      <a:r>
                        <a:rPr sz="1350" b="1">
                          <a:solidFill>
                            <a:srgbClr val="0A2373"/>
                          </a:solidFill>
                          <a:latin typeface="Lato"/>
                          <a:ea typeface="Lato"/>
                          <a:cs typeface="Lato"/>
                        </a:rPr>
                        <a:t>What the baseline shows</a:t>
                      </a:r>
                    </a:p>
                  </a:txBody>
                  <a:tcPr marL="91440" marR="91440" marT="45720" marB="45720" anchor="t">
                    <a:solidFill>
                      <a:srgbClr val="F5F5F5"/>
                    </a:solidFill>
                  </a:tcPr>
                </a:tc>
                <a:tc>
                  <a:txBody>
                    <a:bodyPr/>
                    <a:lstStyle/>
                    <a:p>
                      <a:r>
                        <a:rPr sz="1350" b="1">
                          <a:solidFill>
                            <a:srgbClr val="0A2373"/>
                          </a:solidFill>
                          <a:latin typeface="Lato"/>
                          <a:ea typeface="Lato"/>
                          <a:cs typeface="Lato"/>
                        </a:rPr>
                        <a:t>How it could change fuel demand</a:t>
                      </a:r>
                    </a:p>
                  </a:txBody>
                  <a:tcPr marL="91440" marR="91440" marT="45720" marB="45720" anchor="t">
                    <a:solidFill>
                      <a:srgbClr val="F5F5F5"/>
                    </a:solidFill>
                  </a:tcPr>
                </a:tc>
              </a:tr>
              <a:tr h="852488">
                <a:tc>
                  <a:txBody>
                    <a:bodyPr/>
                    <a:lstStyle/>
                    <a:p>
                      <a:r>
                        <a:rPr sz="1350" b="1">
                          <a:solidFill>
                            <a:srgbClr val="0A2373"/>
                          </a:solidFill>
                          <a:latin typeface="Lato"/>
                          <a:ea typeface="Lato"/>
                          <a:cs typeface="Lato"/>
                        </a:rPr>
                        <a:t>Mining</a:t>
                      </a:r>
                    </a:p>
                  </a:txBody>
                  <a:tcPr marL="91440" marR="91440" marT="45720" marB="45720" anchor="t">
                    <a:solidFill>
                      <a:srgbClr val="FFFFFF"/>
                    </a:solidFill>
                  </a:tcPr>
                </a:tc>
                <a:tc>
                  <a:txBody>
                    <a:bodyPr/>
                    <a:lstStyle/>
                    <a:p>
                      <a:r>
                        <a:rPr sz="1350" b="0">
                          <a:solidFill>
                            <a:srgbClr val="11151A"/>
                          </a:solidFill>
                          <a:latin typeface="Lato"/>
                          <a:ea typeface="Lato"/>
                          <a:cs typeface="Lato"/>
                        </a:rPr>
                        <a:t>2025 activity-based diesel estimate: 1.41bn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Output, haul distances and equipment intensity can move consumption independently of national GDP.</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Manufacturing</a:t>
                      </a:r>
                    </a:p>
                  </a:txBody>
                  <a:tcPr marL="91440" marR="91440" marT="45720" marB="45720" anchor="t">
                    <a:solidFill>
                      <a:srgbClr val="FFFFFF"/>
                    </a:solidFill>
                  </a:tcPr>
                </a:tc>
                <a:tc>
                  <a:txBody>
                    <a:bodyPr/>
                    <a:lstStyle/>
                    <a:p>
                      <a:r>
                        <a:rPr sz="1350" b="0">
                          <a:solidFill>
                            <a:srgbClr val="11151A"/>
                          </a:solidFill>
                          <a:latin typeface="Lato"/>
                          <a:ea typeface="Lato"/>
                          <a:cs typeface="Lato"/>
                        </a:rPr>
                        <a:t>2025 industry-residual estimate: 0.17bn litres; incomplete sector coverage</a:t>
                      </a:r>
                    </a:p>
                  </a:txBody>
                  <a:tcPr marL="91440" marR="91440" marT="45720" marB="45720" anchor="t">
                    <a:solidFill>
                      <a:srgbClr val="FFFFFF"/>
                    </a:solidFill>
                  </a:tcPr>
                </a:tc>
                <a:tc>
                  <a:txBody>
                    <a:bodyPr/>
                    <a:lstStyle/>
                    <a:p>
                      <a:r>
                        <a:rPr sz="1350" b="0">
                          <a:solidFill>
                            <a:srgbClr val="11151A"/>
                          </a:solidFill>
                          <a:latin typeface="Lato"/>
                          <a:ea typeface="Lato"/>
                          <a:cs typeface="Lato"/>
                        </a:rPr>
                        <a:t>Changes in production and energy use affect diesel, but the sector boundary must be reconciled before forecasting.</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Agriculture / forestry</a:t>
                      </a:r>
                    </a:p>
                  </a:txBody>
                  <a:tcPr marL="91440" marR="91440" marT="45720" marB="45720" anchor="t">
                    <a:solidFill>
                      <a:srgbClr val="FFFFFF"/>
                    </a:solidFill>
                  </a:tcPr>
                </a:tc>
                <a:tc>
                  <a:txBody>
                    <a:bodyPr/>
                    <a:lstStyle/>
                    <a:p>
                      <a:r>
                        <a:rPr sz="1350" b="0">
                          <a:solidFill>
                            <a:srgbClr val="11151A"/>
                          </a:solidFill>
                          <a:latin typeface="Lato"/>
                          <a:ea typeface="Lato"/>
                          <a:cs typeface="Lato"/>
                        </a:rPr>
                        <a:t>2025 activity-based diesel estimate: 1.13bn litres</a:t>
                      </a:r>
                    </a:p>
                  </a:txBody>
                  <a:tcPr marL="91440" marR="91440" marT="45720" marB="45720" anchor="t">
                    <a:solidFill>
                      <a:srgbClr val="FFFFFF"/>
                    </a:solidFill>
                  </a:tcPr>
                </a:tc>
                <a:tc>
                  <a:txBody>
                    <a:bodyPr/>
                    <a:lstStyle/>
                    <a:p>
                      <a:r>
                        <a:rPr sz="1350" b="0">
                          <a:solidFill>
                            <a:srgbClr val="11151A"/>
                          </a:solidFill>
                          <a:latin typeface="Lato"/>
                          <a:ea typeface="Lato"/>
                          <a:cs typeface="Lato"/>
                        </a:rPr>
                        <a:t>Harvests, weather, irrigation and transport demand create a different path from mining or manufacturing.</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Vehicle fleet and fuel intensity</a:t>
                      </a:r>
                    </a:p>
                  </a:txBody>
                  <a:tcPr marL="91440" marR="91440" marT="45720" marB="45720" anchor="t">
                    <a:solidFill>
                      <a:srgbClr val="FFFFFF"/>
                    </a:solidFill>
                  </a:tcPr>
                </a:tc>
                <a:tc>
                  <a:txBody>
                    <a:bodyPr/>
                    <a:lstStyle/>
                    <a:p>
                      <a:r>
                        <a:rPr sz="1350" b="0">
                          <a:solidFill>
                            <a:srgbClr val="11151A"/>
                          </a:solidFill>
                          <a:latin typeface="Lato"/>
                          <a:ea typeface="Lato"/>
                          <a:cs typeface="Lato"/>
                        </a:rPr>
                        <a:t>BEVs were 0.18% of new sales in 2025. Sales shares differ from fleet shares.</a:t>
                      </a:r>
                    </a:p>
                  </a:txBody>
                  <a:tcPr marL="91440" marR="91440" marT="45720" marB="45720" anchor="t">
                    <a:solidFill>
                      <a:srgbClr val="FFFFFF"/>
                    </a:solidFill>
                  </a:tcPr>
                </a:tc>
                <a:tc>
                  <a:txBody>
                    <a:bodyPr/>
                    <a:lstStyle/>
                    <a:p>
                      <a:r>
                        <a:rPr sz="1350" b="0">
                          <a:solidFill>
                            <a:srgbClr val="11151A"/>
                          </a:solidFill>
                          <a:latin typeface="Lato"/>
                          <a:ea typeface="Lato"/>
                          <a:cs typeface="Lato"/>
                        </a:rPr>
                        <a:t>EV/HEV uptake and vehicle replacement change fuel use gradually. Fuel prices affect travel; avoid counting hybrid and efficiency savings twice.</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7C275FB6-E2A0-4299-B7AF-FC831A9261A5}"/>
              </a:ext>
            </a:extLst>
          </p:cNvPr>
          <p:cNvSpPr>
            <a:spLocks xmlns:a="http://schemas.openxmlformats.org/drawingml/2006/main" noGrp="1"/>
          </p:cNvSpPr>
          <p:nvPr/>
        </p:nvSpPr>
        <p:spPr>
          <a:xfrm xmlns:a="http://schemas.openxmlformats.org/drawingml/2006/main">
            <a:off x="457200" y="5638800"/>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1151A"/>
                </a:solidFill>
                <a:latin typeface="Lato"/>
                <a:ea typeface="Lato"/>
                <a:cs typeface="Lato"/>
              </a:defRPr>
            </a:pPr>
            <a:r>
              <a:rPr sz="1200">
                <a:solidFill>
                  <a:srgbClr val="11151A"/>
                </a:solidFill>
                <a:latin typeface="Lato"/>
                <a:ea typeface="Lato"/>
                <a:cs typeface="Lato"/>
              </a:rPr>
              <a:t>Sector activity, kilometres travelled and litres per kilometre need separate assumptions; no combined reduction forecast is adopted here.</a:t>
            </a:r>
          </a:p>
        </p:txBody>
      </p:sp>
      <p:graphicFrame xmlns:a="http://schemas.openxmlformats.org/drawingml/2006/main">
        <p:nvGraphicFramePr>
          <p:cNvPr id="5011"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89D150-EAFA-48A7-99C8-0E1F697BFF25}"/>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Eskom’s fuel use has fallen; sustained recovery could reduce power diesel further</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70B2B05-BEFB-434E-9E2C-5351B95876C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12</a:t>
            </a:r>
            <a:endParaRPr sz="1100"/>
          </a:p>
        </p:txBody>
      </p:sp>
      <p:sp>
        <p:nvSpPr>
          <p:cNvPr id="8" name="Unified source footer">
            <a:extLst xmlns:a="http://schemas.openxmlformats.org/drawingml/2006/main">
              <a:ext uri="{FF2B5EF4-FFF2-40B4-BE49-F238E27FC236}">
                <a16:creationId xmlns:a16="http://schemas.microsoft.com/office/drawing/2014/main" id="{94C50196-EBAD-4F9B-9225-FA27920ACCC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FY ending March: reported own diesel + kerosene; Eskom/IPP GWh include kerosene output. Workbook Power fleet separates the four diesel stations. Gas switch, coal-site repowering and L/M/H settings await Nigel/Henry review.</a:t>
            </a:r>
            <a:endParaRPr sz="650"/>
          </a:p>
        </p:txBody>
      </p:sp>
      <p:sp>
        <p:nvSpPr>
          <p:cNvPr id="48" name="Strictly Confidential footer">
            <a:extLst xmlns:a="http://schemas.openxmlformats.org/drawingml/2006/main">
              <a:ext uri="{FF2B5EF4-FFF2-40B4-BE49-F238E27FC236}">
                <a16:creationId xmlns:a16="http://schemas.microsoft.com/office/drawing/2014/main" id="{F656CD02-15EA-45B2-BBFF-FC5E660F495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xmlns:a="http://schemas.openxmlformats.org/drawingml/2006/main">
              <a:ext uri="{FF2B5EF4-FFF2-40B4-BE49-F238E27FC236}">
                <a16:creationId xmlns:a16="http://schemas.microsoft.com/office/drawing/2014/main" id="{F675C8EF-7362-9FCC-FB56-1545DD74A102}"/>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Own Eskom OCGT fuel fell from 1,129.5m litres in FY2024 to 677.9m in FY2025. Assess Eskom, IPPs and private backup separately; recovery, outages and replacement timing determine the next phase.</a:t>
            </a:r>
            <a:endParaRPr sz="1050">
              <a:solidFill>
                <a:schemeClr val="dk1"/>
              </a:solidFill>
              <a:latin typeface="Lato"/>
              <a:ea typeface="Lato"/>
              <a:cs typeface="Lato"/>
            </a:endParaRPr>
          </a:p>
        </p:txBody>
      </p:sp>
      <p:pic>
        <p:nvPicPr>
          <p:cNvPr id="55" name="Evidence chart"/>
          <p:cNvPicPr>
            <a:picLocks xmlns:a="http://schemas.openxmlformats.org/drawingml/2006/main" noChangeAspect="1"/>
          </p:cNvPicPr>
          <p:nvPr/>
        </p:nvPicPr>
        <p:blipFill>
          <a:blip xmlns:r="http://schemas.openxmlformats.org/officeDocument/2006/relationships" xmlns:a="http://schemas.openxmlformats.org/drawingml/2006/main" r:embed="Re96161a84260425a"/>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6" name="Aligned panel subtitle">
            <a:extLst xmlns:a="http://schemas.openxmlformats.org/drawingml/2006/main">
              <a:ext uri="{FF2B5EF4-FFF2-40B4-BE49-F238E27FC236}">
                <a16:creationId xmlns:a16="http://schemas.microsoft.com/office/drawing/2014/main" id="{9B1BAE31-E9DC-F48A-FBAB-11CD20EF25A5}"/>
              </a:ext>
            </a:extLst>
          </p:cNvPr>
          <p:cNvSpPr>
            <a:spLocks xmlns:a="http://schemas.openxmlformats.org/drawingml/2006/main" noGrp="1"/>
          </p:cNvSpPr>
          <p:nvPr/>
        </p:nvSpPr>
        <p:spPr>
          <a:xfrm xmlns:a="http://schemas.openxmlformats.org/drawingml/2006/main">
            <a:off x="457200" y="1625600"/>
            <a:ext cx="3471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Diesel use</a:t>
            </a:r>
          </a:p>
        </p:txBody>
      </p:sp>
      <p:sp>
        <p:nvSpPr>
          <p:cNvPr id="17" name="Aligned panel subtitle">
            <a:extLst xmlns:a="http://schemas.openxmlformats.org/drawingml/2006/main">
              <a:ext uri="{FF2B5EF4-FFF2-40B4-BE49-F238E27FC236}">
                <a16:creationId xmlns:a16="http://schemas.microsoft.com/office/drawing/2014/main" id="{422D356C-8F8B-BE3B-7BA1-F10680E53CDD}"/>
              </a:ext>
            </a:extLst>
          </p:cNvPr>
          <p:cNvSpPr>
            <a:spLocks xmlns:a="http://schemas.openxmlformats.org/drawingml/2006/main" noGrp="1"/>
          </p:cNvSpPr>
          <p:nvPr/>
        </p:nvSpPr>
        <p:spPr>
          <a:xfrm xmlns:a="http://schemas.openxmlformats.org/drawingml/2006/main">
            <a:off x="4208318" y="1625600"/>
            <a:ext cx="30918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Fleet availability</a:t>
            </a:r>
          </a:p>
        </p:txBody>
      </p:sp>
      <p:sp>
        <p:nvSpPr>
          <p:cNvPr id="18" name="Aligned panel subtitle">
            <a:extLst xmlns:a="http://schemas.openxmlformats.org/drawingml/2006/main">
              <a:ext uri="{FF2B5EF4-FFF2-40B4-BE49-F238E27FC236}">
                <a16:creationId xmlns:a16="http://schemas.microsoft.com/office/drawing/2014/main" id="{9696205B-021F-AFFC-619E-3E3C643F6B2D}"/>
              </a:ext>
            </a:extLst>
          </p:cNvPr>
          <p:cNvSpPr>
            <a:spLocks xmlns:a="http://schemas.openxmlformats.org/drawingml/2006/main" noGrp="1"/>
          </p:cNvSpPr>
          <p:nvPr/>
        </p:nvSpPr>
        <p:spPr>
          <a:xfrm xmlns:a="http://schemas.openxmlformats.org/drawingml/2006/main">
            <a:off x="7579591" y="1625600"/>
            <a:ext cx="3530369"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Peaking generation</a:t>
            </a:r>
          </a:p>
        </p:txBody>
      </p:sp>
      <p:sp>
        <p:nvSpPr>
          <p:cNvPr id="13" name="Content margin panel rule">
            <a:extLst xmlns:a="http://schemas.openxmlformats.org/drawingml/2006/main">
              <a:ext uri="{FF2B5EF4-FFF2-40B4-BE49-F238E27FC236}">
                <a16:creationId xmlns:a16="http://schemas.microsoft.com/office/drawing/2014/main" id="{357AFD1F-DF72-441B-A7D5-83C02BC5D202}"/>
              </a:ext>
            </a:extLst>
          </p:cNvPr>
          <p:cNvSpPr>
            <a:spLocks xmlns:a="http://schemas.openxmlformats.org/drawingml/2006/main" noGrp="1"/>
          </p:cNvSpPr>
          <p:nvPr/>
        </p:nvSpPr>
        <p:spPr>
          <a:xfrm xmlns:a="http://schemas.openxmlformats.org/drawingml/2006/main">
            <a:off x="4208318" y="1907308"/>
            <a:ext cx="31172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Content margin panel rule">
            <a:extLst xmlns:a="http://schemas.openxmlformats.org/drawingml/2006/main">
              <a:ext uri="{FF2B5EF4-FFF2-40B4-BE49-F238E27FC236}">
                <a16:creationId xmlns:a16="http://schemas.microsoft.com/office/drawing/2014/main" id="{6146D809-2D0D-48BF-8553-8D930C225FA8}"/>
              </a:ext>
            </a:extLst>
          </p:cNvPr>
          <p:cNvSpPr>
            <a:spLocks xmlns:a="http://schemas.openxmlformats.org/drawingml/2006/main" noGrp="1"/>
          </p:cNvSpPr>
          <p:nvPr/>
        </p:nvSpPr>
        <p:spPr>
          <a:xfrm xmlns:a="http://schemas.openxmlformats.org/drawingml/2006/main">
            <a:off x="7579591" y="1907308"/>
            <a:ext cx="3530369"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1DD368BD-DEA8-4D35-96BE-6C4C66DE22DD}"/>
              </a:ext>
            </a:extLst>
          </p:cNvPr>
          <p:cNvSpPr>
            <a:spLocks xmlns:a="http://schemas.openxmlformats.org/drawingml/2006/main" noGrp="1"/>
          </p:cNvSpPr>
          <p:nvPr/>
        </p:nvSpPr>
        <p:spPr>
          <a:xfrm xmlns:a="http://schemas.openxmlformats.org/drawingml/2006/main">
            <a:off x="457200" y="1907308"/>
            <a:ext cx="3497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xmlns:a="http://schemas.openxmlformats.org/drawingml/2006/main">
        <p:nvGraphicFramePr>
          <p:cNvPr id="5012"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58327774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Refinery developments require evidence of delivery before they change the supply outlook</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13</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DR08 handback through 9 October; Sasol FY2026 operating metrics; Glencore/Astron evidence; CEF SAPREF roadmap. Capacity, fiscal-year output and petrol/diesel production are different measures.</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4000500"/>
        </p:xfrm>
        <a:graphic xmlns:a="http://schemas.openxmlformats.org/drawingml/2006/main">
          <a:graphicData uri="http://schemas.openxmlformats.org/drawingml/2006/table">
            <a:tbl>
              <a:tblPr firstRow="0" bandRow="0"/>
              <a:tblGrid>
                <a:gridCol w="2238375"/>
                <a:gridCol w="4000500"/>
                <a:gridCol w="4410075"/>
              </a:tblGrid>
              <a:tr h="400050">
                <a:tc>
                  <a:txBody>
                    <a:bodyPr/>
                    <a:lstStyle/>
                    <a:p>
                      <a:r>
                        <a:rPr sz="1275" b="1">
                          <a:solidFill>
                            <a:srgbClr val="0A2373"/>
                          </a:solidFill>
                          <a:latin typeface="Lato"/>
                          <a:ea typeface="Lato"/>
                          <a:cs typeface="Lato"/>
                        </a:rPr>
                        <a:t>Asset / development</a:t>
                      </a:r>
                    </a:p>
                  </a:txBody>
                  <a:tcPr marL="91440" marR="91440" marT="45720" marB="45720" anchor="t">
                    <a:solidFill>
                      <a:srgbClr val="F5F5F5"/>
                    </a:solidFill>
                  </a:tcPr>
                </a:tc>
                <a:tc>
                  <a:txBody>
                    <a:bodyPr/>
                    <a:lstStyle/>
                    <a:p>
                      <a:r>
                        <a:rPr sz="1275" b="1">
                          <a:solidFill>
                            <a:srgbClr val="0A2373"/>
                          </a:solidFill>
                          <a:latin typeface="Lato"/>
                          <a:ea typeface="Lato"/>
                          <a:cs typeface="Lato"/>
                        </a:rPr>
                        <a:t>Evidence available</a:t>
                      </a:r>
                    </a:p>
                  </a:txBody>
                  <a:tcPr marL="91440" marR="91440" marT="45720" marB="45720" anchor="t">
                    <a:solidFill>
                      <a:srgbClr val="F5F5F5"/>
                    </a:solidFill>
                  </a:tcPr>
                </a:tc>
                <a:tc>
                  <a:txBody>
                    <a:bodyPr/>
                    <a:lstStyle/>
                    <a:p>
                      <a:r>
                        <a:rPr sz="1275" b="1">
                          <a:solidFill>
                            <a:srgbClr val="0A2373"/>
                          </a:solidFill>
                          <a:latin typeface="Lato"/>
                          <a:ea typeface="Lato"/>
                          <a:cs typeface="Lato"/>
                        </a:rPr>
                        <a:t>What makes a future output case credible</a:t>
                      </a:r>
                    </a:p>
                  </a:txBody>
                  <a:tcPr marL="91440" marR="91440" marT="45720" marB="45720" anchor="t">
                    <a:solidFill>
                      <a:srgbClr val="F5F5F5"/>
                    </a:solidFill>
                  </a:tcPr>
                </a:tc>
              </a:tr>
              <a:tr h="720090">
                <a:tc>
                  <a:txBody>
                    <a:bodyPr/>
                    <a:lstStyle/>
                    <a:p>
                      <a:r>
                        <a:rPr sz="1275" b="1">
                          <a:solidFill>
                            <a:srgbClr val="0A2373"/>
                          </a:solidFill>
                          <a:latin typeface="Lato"/>
                          <a:ea typeface="Lato"/>
                          <a:cs typeface="Lato"/>
                        </a:rPr>
                        <a:t>SAPREF</a:t>
                      </a:r>
                    </a:p>
                  </a:txBody>
                  <a:tcPr marL="91440" marR="91440" marT="45720" marB="45720" anchor="t">
                    <a:solidFill>
                      <a:srgbClr val="FFFFFF"/>
                    </a:solidFill>
                  </a:tcPr>
                </a:tc>
                <a:tc>
                  <a:txBody>
                    <a:bodyPr/>
                    <a:lstStyle/>
                    <a:p>
                      <a:r>
                        <a:rPr sz="1275" b="0">
                          <a:solidFill>
                            <a:srgbClr val="11151A"/>
                          </a:solidFill>
                          <a:latin typeface="Lato"/>
                          <a:ea typeface="Lato"/>
                          <a:cs typeface="Lato"/>
                        </a:rPr>
                        <a:t>Roadmap includes an import-terminal phase before refining</a:t>
                      </a:r>
                    </a:p>
                  </a:txBody>
                  <a:tcPr marL="91440" marR="91440" marT="45720" marB="45720" anchor="t">
                    <a:solidFill>
                      <a:srgbClr val="FFFFFF"/>
                    </a:solidFill>
                  </a:tcPr>
                </a:tc>
                <a:tc>
                  <a:txBody>
                    <a:bodyPr/>
                    <a:lstStyle/>
                    <a:p>
                      <a:r>
                        <a:rPr sz="1275" b="0">
                          <a:solidFill>
                            <a:srgbClr val="11151A"/>
                          </a:solidFill>
                          <a:latin typeface="Lato"/>
                          <a:ea typeface="Lato"/>
                          <a:cs typeface="Lato"/>
                        </a:rPr>
                        <a:t>Confirm sanction, funding, commissioning, ramp-up and product yields. The terminal phase can compete before a refinery restart.</a:t>
                      </a:r>
                    </a:p>
                  </a:txBody>
                  <a:tcPr marL="91440" marR="91440" marT="45720" marB="45720" anchor="t">
                    <a:solidFill>
                      <a:srgbClr val="FFFFFF"/>
                    </a:solidFill>
                  </a:tcPr>
                </a:tc>
              </a:tr>
              <a:tr h="720090">
                <a:tc>
                  <a:txBody>
                    <a:bodyPr/>
                    <a:lstStyle/>
                    <a:p>
                      <a:r>
                        <a:rPr sz="1275" b="1">
                          <a:solidFill>
                            <a:srgbClr val="0A2373"/>
                          </a:solidFill>
                          <a:latin typeface="Lato"/>
                          <a:ea typeface="Lato"/>
                          <a:cs typeface="Lato"/>
                        </a:rPr>
                        <a:t>Secunda</a:t>
                      </a:r>
                    </a:p>
                  </a:txBody>
                  <a:tcPr marL="91440" marR="91440" marT="45720" marB="45720" anchor="t">
                    <a:solidFill>
                      <a:srgbClr val="FFFFFF"/>
                    </a:solidFill>
                  </a:tcPr>
                </a:tc>
                <a:tc>
                  <a:txBody>
                    <a:bodyPr/>
                    <a:lstStyle/>
                    <a:p>
                      <a:r>
                        <a:rPr sz="1275" b="0">
                          <a:solidFill>
                            <a:srgbClr val="11151A"/>
                          </a:solidFill>
                          <a:latin typeface="Lato"/>
                          <a:ea typeface="Lato"/>
                          <a:cs typeface="Lato"/>
                        </a:rPr>
                        <a:t>FY2026 all-refined-products output: 30.6m barrels; FY2025: 27.6m</a:t>
                      </a:r>
                    </a:p>
                  </a:txBody>
                  <a:tcPr marL="91440" marR="91440" marT="45720" marB="45720" anchor="t">
                    <a:solidFill>
                      <a:srgbClr val="FFFFFF"/>
                    </a:solidFill>
                  </a:tcPr>
                </a:tc>
                <a:tc>
                  <a:txBody>
                    <a:bodyPr/>
                    <a:lstStyle/>
                    <a:p>
                      <a:r>
                        <a:rPr sz="1275" b="0">
                          <a:solidFill>
                            <a:srgbClr val="11151A"/>
                          </a:solidFill>
                          <a:latin typeface="Lato"/>
                          <a:ea typeface="Lato"/>
                          <a:cs typeface="Lato"/>
                        </a:rPr>
                        <a:t>Specify availability and the mechanism linking coal-derived gas / MRG choices to petrol and diesel output.</a:t>
                      </a:r>
                    </a:p>
                  </a:txBody>
                  <a:tcPr marL="91440" marR="91440" marT="45720" marB="45720" anchor="t">
                    <a:solidFill>
                      <a:srgbClr val="FFFFFF"/>
                    </a:solidFill>
                  </a:tcPr>
                </a:tc>
              </a:tr>
              <a:tr h="720090">
                <a:tc>
                  <a:txBody>
                    <a:bodyPr/>
                    <a:lstStyle/>
                    <a:p>
                      <a:r>
                        <a:rPr sz="1275" b="1">
                          <a:solidFill>
                            <a:srgbClr val="0A2373"/>
                          </a:solidFill>
                          <a:latin typeface="Lato"/>
                          <a:ea typeface="Lato"/>
                          <a:cs typeface="Lato"/>
                        </a:rPr>
                        <a:t>Natref</a:t>
                      </a:r>
                    </a:p>
                  </a:txBody>
                  <a:tcPr marL="91440" marR="91440" marT="45720" marB="45720" anchor="t">
                    <a:solidFill>
                      <a:srgbClr val="FFFFFF"/>
                    </a:solidFill>
                  </a:tcPr>
                </a:tc>
                <a:tc>
                  <a:txBody>
                    <a:bodyPr/>
                    <a:lstStyle/>
                    <a:p>
                      <a:r>
                        <a:rPr sz="1275" b="0">
                          <a:solidFill>
                            <a:srgbClr val="11151A"/>
                          </a:solidFill>
                          <a:latin typeface="Lato"/>
                          <a:ea typeface="Lato"/>
                          <a:cs typeface="Lato"/>
                        </a:rPr>
                        <a:t>Recent Sasol output disclosures include use of co-owner capacity</a:t>
                      </a:r>
                    </a:p>
                  </a:txBody>
                  <a:tcPr marL="91440" marR="91440" marT="45720" marB="45720" anchor="t">
                    <a:solidFill>
                      <a:srgbClr val="FFFFFF"/>
                    </a:solidFill>
                  </a:tcPr>
                </a:tc>
                <a:tc>
                  <a:txBody>
                    <a:bodyPr/>
                    <a:lstStyle/>
                    <a:p>
                      <a:r>
                        <a:rPr sz="1275" b="0">
                          <a:solidFill>
                            <a:srgbClr val="11151A"/>
                          </a:solidFill>
                          <a:latin typeface="Lato"/>
                          <a:ea typeface="Lato"/>
                          <a:cs typeface="Lato"/>
                        </a:rPr>
                        <a:t>Confirm the ownership/reporting basis, availability and product yields. Historic ownership shares cannot scale the latest output mechanically.</a:t>
                      </a:r>
                    </a:p>
                  </a:txBody>
                  <a:tcPr marL="91440" marR="91440" marT="45720" marB="45720" anchor="t">
                    <a:solidFill>
                      <a:srgbClr val="FFFFFF"/>
                    </a:solidFill>
                  </a:tcPr>
                </a:tc>
              </a:tr>
              <a:tr h="720090">
                <a:tc>
                  <a:txBody>
                    <a:bodyPr/>
                    <a:lstStyle/>
                    <a:p>
                      <a:r>
                        <a:rPr sz="1275" b="1">
                          <a:solidFill>
                            <a:srgbClr val="0A2373"/>
                          </a:solidFill>
                          <a:latin typeface="Lato"/>
                          <a:ea typeface="Lato"/>
                          <a:cs typeface="Lato"/>
                        </a:rPr>
                        <a:t>Astron</a:t>
                      </a:r>
                    </a:p>
                  </a:txBody>
                  <a:tcPr marL="91440" marR="91440" marT="45720" marB="45720" anchor="t">
                    <a:solidFill>
                      <a:srgbClr val="FFFFFF"/>
                    </a:solidFill>
                  </a:tcPr>
                </a:tc>
                <a:tc>
                  <a:txBody>
                    <a:bodyPr/>
                    <a:lstStyle/>
                    <a:p>
                      <a:r>
                        <a:rPr sz="1275" b="0">
                          <a:solidFill>
                            <a:srgbClr val="11151A"/>
                          </a:solidFill>
                          <a:latin typeface="Lato"/>
                          <a:ea typeface="Lato"/>
                          <a:cs typeface="Lato"/>
                        </a:rPr>
                        <a:t>Operator output evidence is available</a:t>
                      </a:r>
                    </a:p>
                  </a:txBody>
                  <a:tcPr marL="91440" marR="91440" marT="45720" marB="45720" anchor="t">
                    <a:solidFill>
                      <a:srgbClr val="FFFFFF"/>
                    </a:solidFill>
                  </a:tcPr>
                </a:tc>
                <a:tc>
                  <a:txBody>
                    <a:bodyPr/>
                    <a:lstStyle/>
                    <a:p>
                      <a:r>
                        <a:rPr sz="1275" b="0">
                          <a:solidFill>
                            <a:srgbClr val="11151A"/>
                          </a:solidFill>
                          <a:latin typeface="Lato"/>
                          <a:ea typeface="Lato"/>
                          <a:cs typeface="Lato"/>
                        </a:rPr>
                        <a:t>Separate actual output from the assumed 50/50 petrol/diesel mix used in the current illustration.</a:t>
                      </a:r>
                    </a:p>
                  </a:txBody>
                  <a:tcPr marL="91440" marR="91440" marT="45720" marB="45720" anchor="t">
                    <a:solidFill>
                      <a:srgbClr val="FFFFFF"/>
                    </a:solidFill>
                  </a:tcPr>
                </a:tc>
              </a:tr>
              <a:tr h="720090">
                <a:tc>
                  <a:txBody>
                    <a:bodyPr/>
                    <a:lstStyle/>
                    <a:p>
                      <a:r>
                        <a:rPr sz="1275" b="1">
                          <a:solidFill>
                            <a:srgbClr val="0A2373"/>
                          </a:solidFill>
                          <a:latin typeface="Lato"/>
                          <a:ea typeface="Lato"/>
                          <a:cs typeface="Lato"/>
                        </a:rPr>
                        <a:t>PetroSA / Mossel Bay</a:t>
                      </a:r>
                    </a:p>
                  </a:txBody>
                  <a:tcPr marL="91440" marR="91440" marT="45720" marB="45720" anchor="t">
                    <a:solidFill>
                      <a:srgbClr val="FFFFFF"/>
                    </a:solidFill>
                  </a:tcPr>
                </a:tc>
                <a:tc>
                  <a:txBody>
                    <a:bodyPr/>
                    <a:lstStyle/>
                    <a:p>
                      <a:r>
                        <a:rPr sz="1275" b="0">
                          <a:solidFill>
                            <a:srgbClr val="11151A"/>
                          </a:solidFill>
                          <a:latin typeface="Lato"/>
                          <a:ea typeface="Lato"/>
                          <a:cs typeface="Lato"/>
                        </a:rPr>
                        <a:t>Restart remains uncertain in the evidence reviewed</a:t>
                      </a:r>
                    </a:p>
                  </a:txBody>
                  <a:tcPr marL="91440" marR="91440" marT="45720" marB="45720" anchor="t">
                    <a:solidFill>
                      <a:srgbClr val="FFFFFF"/>
                    </a:solidFill>
                  </a:tcPr>
                </a:tc>
                <a:tc>
                  <a:txBody>
                    <a:bodyPr/>
                    <a:lstStyle/>
                    <a:p>
                      <a:r>
                        <a:rPr sz="1275" b="0">
                          <a:solidFill>
                            <a:srgbClr val="11151A"/>
                          </a:solidFill>
                          <a:latin typeface="Lato"/>
                          <a:ea typeface="Lato"/>
                          <a:cs typeface="Lato"/>
                        </a:rPr>
                        <a:t>Require a supported feedstock plan, sanction and dated output path before including restored production.</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E32B0D23-3244-4289-A8B7-03DF4C57BCAF}"/>
              </a:ext>
            </a:extLst>
          </p:cNvPr>
          <p:cNvSpPr>
            <a:spLocks xmlns:a="http://schemas.openxmlformats.org/drawingml/2006/main" noGrp="1"/>
          </p:cNvSpPr>
          <p:nvPr/>
        </p:nvSpPr>
        <p:spPr>
          <a:xfrm xmlns:a="http://schemas.openxmlformats.org/drawingml/2006/main">
            <a:off x="457200" y="5829300"/>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1151A"/>
                </a:solidFill>
                <a:latin typeface="Lato"/>
                <a:ea typeface="Lato"/>
                <a:cs typeface="Lato"/>
              </a:defRPr>
            </a:pPr>
            <a:r>
              <a:rPr sz="1200">
                <a:solidFill>
                  <a:srgbClr val="11151A"/>
                </a:solidFill>
                <a:latin typeface="Lato"/>
                <a:ea typeface="Lato"/>
                <a:cs typeface="Lato"/>
              </a:rPr>
              <a:t>The evidence supports conditional asset cases. It does not establish a probability of opening or an agreed start date for proposed capacity.</a:t>
            </a:r>
          </a:p>
        </p:txBody>
      </p:sp>
      <p:graphicFrame xmlns:a="http://schemas.openxmlformats.org/drawingml/2006/main">
        <p:nvGraphicFramePr>
          <p:cNvPr id="5013"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Domestic product output could move the import requirement in either direction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14</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SARS customs 2025; registered review_capacity_scenarios.yaml and review_supply_worlds.yaml; DR08 evidence. Directional mechanisms hold other factors constant. No probability or new numerical import forecast is assigned.</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381375"/>
        </p:xfrm>
        <a:graphic xmlns:a="http://schemas.openxmlformats.org/drawingml/2006/main">
          <a:graphicData uri="http://schemas.openxmlformats.org/drawingml/2006/table">
            <a:tbl>
              <a:tblPr firstRow="0" bandRow="0"/>
              <a:tblGrid>
                <a:gridCol w="2381250"/>
                <a:gridCol w="3905250"/>
                <a:gridCol w="4362450"/>
              </a:tblGrid>
              <a:tr h="400050">
                <a:tc>
                  <a:txBody>
                    <a:bodyPr/>
                    <a:lstStyle/>
                    <a:p>
                      <a:r>
                        <a:rPr sz="1350" b="1">
                          <a:solidFill>
                            <a:srgbClr val="0A2373"/>
                          </a:solidFill>
                          <a:latin typeface="Lato"/>
                          <a:ea typeface="Lato"/>
                          <a:cs typeface="Lato"/>
                        </a:rPr>
                        <a:t>Supply path</a:t>
                      </a:r>
                    </a:p>
                  </a:txBody>
                  <a:tcPr marL="91440" marR="91440" marT="45720" marB="45720" anchor="t">
                    <a:solidFill>
                      <a:srgbClr val="F5F5F5"/>
                    </a:solidFill>
                  </a:tcPr>
                </a:tc>
                <a:tc>
                  <a:txBody>
                    <a:bodyPr/>
                    <a:lstStyle/>
                    <a:p>
                      <a:r>
                        <a:rPr sz="1350" b="1">
                          <a:solidFill>
                            <a:srgbClr val="0A2373"/>
                          </a:solidFill>
                          <a:latin typeface="Lato"/>
                          <a:ea typeface="Lato"/>
                          <a:cs typeface="Lato"/>
                        </a:rPr>
                        <a:t>Effect on imports, all else equal</a:t>
                      </a:r>
                    </a:p>
                  </a:txBody>
                  <a:tcPr marL="91440" marR="91440" marT="45720" marB="45720" anchor="t">
                    <a:solidFill>
                      <a:srgbClr val="F5F5F5"/>
                    </a:solidFill>
                  </a:tcPr>
                </a:tc>
                <a:tc>
                  <a:txBody>
                    <a:bodyPr/>
                    <a:lstStyle/>
                    <a:p>
                      <a:r>
                        <a:rPr sz="1350" b="1">
                          <a:solidFill>
                            <a:srgbClr val="0A2373"/>
                          </a:solidFill>
                          <a:latin typeface="Lato"/>
                          <a:ea typeface="Lato"/>
                          <a:cs typeface="Lato"/>
                        </a:rPr>
                        <a:t>What must be quantified</a:t>
                      </a:r>
                    </a:p>
                  </a:txBody>
                  <a:tcPr marL="91440" marR="91440" marT="45720" marB="45720" anchor="t">
                    <a:solidFill>
                      <a:srgbClr val="F5F5F5"/>
                    </a:solidFill>
                  </a:tcPr>
                </a:tc>
              </a:tr>
              <a:tr h="993775">
                <a:tc>
                  <a:txBody>
                    <a:bodyPr/>
                    <a:lstStyle/>
                    <a:p>
                      <a:r>
                        <a:rPr sz="1350" b="1">
                          <a:solidFill>
                            <a:srgbClr val="0A2373"/>
                          </a:solidFill>
                          <a:latin typeface="Lato"/>
                          <a:ea typeface="Lato"/>
                          <a:cs typeface="Lato"/>
                        </a:rPr>
                        <a:t>Higher domestic output</a:t>
                      </a:r>
                    </a:p>
                  </a:txBody>
                  <a:tcPr marL="91440" marR="91440" marT="45720" marB="45720" anchor="t">
                    <a:solidFill>
                      <a:srgbClr val="FFFFFF"/>
                    </a:solidFill>
                  </a:tcPr>
                </a:tc>
                <a:tc>
                  <a:txBody>
                    <a:bodyPr/>
                    <a:lstStyle/>
                    <a:p>
                      <a:r>
                        <a:rPr sz="1350" b="0">
                          <a:solidFill>
                            <a:srgbClr val="11151A"/>
                          </a:solidFill>
                          <a:latin typeface="Lato"/>
                          <a:ea typeface="Lato"/>
                          <a:cs typeface="Lato"/>
                        </a:rPr>
                        <a:t>Restarts, improved availability or added production could displace finished-product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Delivered petrol/diesel output, commissioning and ramp-up, rather than nameplate refinery capacity.</a:t>
                      </a:r>
                    </a:p>
                  </a:txBody>
                  <a:tcPr marL="91440" marR="91440" marT="45720" marB="45720" anchor="t">
                    <a:solidFill>
                      <a:srgbClr val="FFFFFF"/>
                    </a:solidFill>
                  </a:tcPr>
                </a:tc>
              </a:tr>
              <a:tr h="993775">
                <a:tc>
                  <a:txBody>
                    <a:bodyPr/>
                    <a:lstStyle/>
                    <a:p>
                      <a:r>
                        <a:rPr sz="1350" b="1">
                          <a:solidFill>
                            <a:srgbClr val="0A2373"/>
                          </a:solidFill>
                          <a:latin typeface="Lato"/>
                          <a:ea typeface="Lato"/>
                          <a:cs typeface="Lato"/>
                        </a:rPr>
                        <a:t>Broadly stable domestic output</a:t>
                      </a:r>
                    </a:p>
                  </a:txBody>
                  <a:tcPr marL="91440" marR="91440" marT="45720" marB="45720" anchor="t">
                    <a:solidFill>
                      <a:srgbClr val="FFFFFF"/>
                    </a:solidFill>
                  </a:tcPr>
                </a:tc>
                <a:tc>
                  <a:txBody>
                    <a:bodyPr/>
                    <a:lstStyle/>
                    <a:p>
                      <a:r>
                        <a:rPr sz="1350" b="0">
                          <a:solidFill>
                            <a:srgbClr val="11151A"/>
                          </a:solidFill>
                          <a:latin typeface="Lato"/>
                          <a:ea typeface="Lato"/>
                          <a:cs typeface="Lato"/>
                        </a:rPr>
                        <a:t>Demand changes drive much of the change in import requirements</a:t>
                      </a:r>
                    </a:p>
                  </a:txBody>
                  <a:tcPr marL="91440" marR="91440" marT="45720" marB="45720" anchor="t">
                    <a:solidFill>
                      <a:srgbClr val="FFFFFF"/>
                    </a:solidFill>
                  </a:tcPr>
                </a:tc>
                <a:tc>
                  <a:txBody>
                    <a:bodyPr/>
                    <a:lstStyle/>
                    <a:p>
                      <a:r>
                        <a:rPr sz="1350" b="0">
                          <a:solidFill>
                            <a:srgbClr val="11151A"/>
                          </a:solidFill>
                          <a:latin typeface="Lato"/>
                          <a:ea typeface="Lato"/>
                          <a:cs typeface="Lato"/>
                        </a:rPr>
                        <a:t>The transport, sector and power-demand paths established on the preceding pages.</a:t>
                      </a:r>
                    </a:p>
                  </a:txBody>
                  <a:tcPr marL="91440" marR="91440" marT="45720" marB="45720" anchor="t">
                    <a:solidFill>
                      <a:srgbClr val="FFFFFF"/>
                    </a:solidFill>
                  </a:tcPr>
                </a:tc>
              </a:tr>
              <a:tr h="993775">
                <a:tc>
                  <a:txBody>
                    <a:bodyPr/>
                    <a:lstStyle/>
                    <a:p>
                      <a:r>
                        <a:rPr sz="1350" b="1">
                          <a:solidFill>
                            <a:srgbClr val="0A2373"/>
                          </a:solidFill>
                          <a:latin typeface="Lato"/>
                          <a:ea typeface="Lato"/>
                          <a:cs typeface="Lato"/>
                        </a:rPr>
                        <a:t>Lower domestic output</a:t>
                      </a:r>
                    </a:p>
                  </a:txBody>
                  <a:tcPr marL="91440" marR="91440" marT="45720" marB="45720" anchor="t">
                    <a:solidFill>
                      <a:srgbClr val="FFFFFF"/>
                    </a:solidFill>
                  </a:tcPr>
                </a:tc>
                <a:tc>
                  <a:txBody>
                    <a:bodyPr/>
                    <a:lstStyle/>
                    <a:p>
                      <a:r>
                        <a:rPr sz="1350" b="0">
                          <a:solidFill>
                            <a:srgbClr val="11151A"/>
                          </a:solidFill>
                          <a:latin typeface="Lato"/>
                          <a:ea typeface="Lato"/>
                          <a:cs typeface="Lato"/>
                        </a:rPr>
                        <a:t>Outages, reduced availability or closures could increase reliance on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Plant-specific lost output and duration; product mix, stocks and exports can alter the effect.</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B7292DFE-A4DA-4DBB-B031-17539C6B37E4}"/>
              </a:ext>
            </a:extLst>
          </p:cNvPr>
          <p:cNvSpPr>
            <a:spLocks xmlns:a="http://schemas.openxmlformats.org/drawingml/2006/main" noGrp="1"/>
          </p:cNvSpPr>
          <p:nvPr/>
        </p:nvSpPr>
        <p:spPr>
          <a:xfrm xmlns:a="http://schemas.openxmlformats.org/drawingml/2006/main">
            <a:off x="457200" y="5210175"/>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1151A"/>
                </a:solidFill>
                <a:latin typeface="Lato"/>
                <a:ea typeface="Lato"/>
                <a:cs typeface="Lato"/>
              </a:defRPr>
            </a:pPr>
            <a:r>
              <a:rPr sz="1200">
                <a:solidFill>
                  <a:srgbClr val="11151A"/>
                </a:solidFill>
                <a:latin typeface="Lato"/>
                <a:ea typeface="Lato"/>
                <a:cs typeface="Lato"/>
              </a:rPr>
              <a:t>2025 gross imports of 16.70bn litres provide context. A future import forecast requires matched demand, product output, exports and stock changes; current capacity sensitivities remain illustrative.</a:t>
            </a:r>
          </a:p>
        </p:txBody>
      </p:sp>
      <p:graphicFrame xmlns:a="http://schemas.openxmlformats.org/drawingml/2006/main">
        <p:nvGraphicFramePr>
          <p:cNvPr id="5014"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A25867-A152-4AF0-9910-596947DD352E}"/>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Emerging gateways could redirect inland growth; delivered cost and reliable access determine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61F3FAF-62E5-471E-B4FE-4C411C79043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15</a:t>
            </a:r>
            <a:endParaRPr sz="1100"/>
          </a:p>
        </p:txBody>
      </p:sp>
      <p:sp>
        <p:nvSpPr>
          <p:cNvPr id="8" name="Unified source footer">
            <a:extLst xmlns:a="http://schemas.openxmlformats.org/drawingml/2006/main">
              <a:ext uri="{FF2B5EF4-FFF2-40B4-BE49-F238E27FC236}">
                <a16:creationId xmlns:a16="http://schemas.microsoft.com/office/drawing/2014/main" id="{CCED4392-D526-4568-B262-BADE54F53E5F}"/>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Competing route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choice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implication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FY2025 MPP 105 / 148ML per week. Match tariffs, injection rights and reliable inland dispatch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access and handling improvements that protect competitive customer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Maputo / Matola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Delivered cost, border time and capacity into each inland destination.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Include as an emerging alternative; test customer exposure and corridor responses.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Walvis Bay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Distance, transit, border costs and feasible destination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Consider emerging inland opportunities; compare reach customer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sources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Secunda / Natref availability, product output and distribution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inland handling and connections as well as import infrastructure.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03FCB94-D0FF-4600-86A1-20BAD7C32BD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15" name="brand-pptx section navigation">
            <a:extLst>
              <a:ext uri="{FF2B5EF4-FFF2-40B4-BE49-F238E27FC236}">
                <a16:creationId xmlns:a16="http://schemas.microsoft.com/office/drawing/2014/main" id="{EC476A2F-58C3-0732-D966-0F511ABE1F8A}"/>
              </a:ext>
            </a:extLst>
          </p:cNvPr>
          <p:cNvGraphicFramePr/>
          <p:nvPr>
            <p:extLst>
              <p:ext uri="{D42A27DB-BD31-4B8C-83A1-F6EECF244321}">
                <p14:modId xmlns:p14="http://schemas.microsoft.com/office/powerpoint/2010/main" val="308659198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389709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E52915-201C-4CA1-BA20-AABA9B5039D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Vopak capture remains conditional: the base case gives Durban 2.63bn litres, including Lesedi 1.32bn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94C3983-AC6C-4225-B1EA-6ACA014C926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16</a:t>
            </a:r>
            <a:endParaRPr sz="1100"/>
          </a:p>
        </p:txBody>
      </p:sp>
      <p:sp>
        <p:nvSpPr>
          <p:cNvPr id="8" name="Unified source footer">
            <a:extLst xmlns:a="http://schemas.openxmlformats.org/drawingml/2006/main">
              <a:ext uri="{FF2B5EF4-FFF2-40B4-BE49-F238E27FC236}">
                <a16:creationId xmlns:a16="http://schemas.microsoft.com/office/drawing/2014/main" id="{156109CB-1C09-4928-9826-33DD198DD09C}"/>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Registered market_review.yaml and terminal_site_assumptions.csv; 2025 Durban customs proxy 13.1605bn L. No forecast probabilities, measured market share or incremental revenue. Product mix, access and working tankage need validation.</a:t>
            </a:r>
            <a:endParaRPr sz="650"/>
          </a:p>
        </p:txBody>
      </p:sp>
      <p:graphicFrame>
        <p:nvGraphicFramePr>
          <p:cNvPr id="55"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81000">
                <a:tc>
                  <a:txBody>
                    <a:bodyPr/>
                    <a:lstStyle/>
                    <a:p>
                      <a:pPr>
                        <a:spcAft>
                          <a:spcPts val="0"/>
                        </a:spcAft>
                        <a:buNone/>
                      </a:pPr>
                      <a:r>
                        <a:rPr sz="1300" b="1" u="none">
                          <a:solidFill>
                            <a:schemeClr val="dk1"/>
                          </a:solidFill>
                          <a:latin typeface="Lato"/>
                          <a:ea typeface="Lato"/>
                          <a:cs typeface="Lato"/>
                        </a:rPr>
                        <a:t>Illustrative case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Annual physical volumes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Assumptions and 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Low</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10%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0.66bn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1.32bn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Base</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20%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2.63bn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2.63bn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High</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30%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3.50bn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1.75bn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Durban tank screen caps the requested 3.95bn L at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CB4DBA-279F-46CA-BE4A-6C8E3C76984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50" name="Review interpretation">
            <a:extLst xmlns:a="http://schemas.openxmlformats.org/drawingml/2006/main">
              <a:ext uri="{FF2B5EF4-FFF2-40B4-BE49-F238E27FC236}">
                <a16:creationId xmlns:a16="http://schemas.microsoft.com/office/drawing/2014/main" id="{49A1B104-130B-4B82-944B-FF3BD97E71C0}"/>
              </a:ext>
            </a:extLst>
          </p:cNvPr>
          <p:cNvSpPr>
            <a:spLocks xmlns:a="http://schemas.openxmlformats.org/drawingml/2006/main" noGrp="1"/>
          </p:cNvSpPr>
          <p:nvPr/>
        </p:nvSpPr>
        <p:spPr>
          <a:xfrm xmlns:a="http://schemas.openxmlformats.org/drawingml/2006/main">
            <a:off x="457200" y="5553075"/>
            <a:ext cx="1064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10/20/30% shares and 50% routing are authored sensitivities. Base turns fixed at two/month. Lesedi is a subset, so volumes are counted once. Domestic and other-terminal Lesedi receipts are excluded.</a:t>
            </a:r>
          </a:p>
        </p:txBody>
      </p:sp>
      <p:graphicFrame xmlns:a="http://schemas.openxmlformats.org/drawingml/2006/main">
        <p:nvGraphicFramePr>
          <p:cNvPr id="5016"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319241594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BB442C-A53C-4A32-9E55-10EBFA84A8EC}"/>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Actual throughput and operating limits determine whether existing assets can serve growth</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5B510A9-64F3-4C35-B195-FBC1E6C4F61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17</a:t>
            </a:r>
            <a:endParaRPr sz="1100"/>
          </a:p>
        </p:txBody>
      </p:sp>
      <p:sp>
        <p:nvSpPr>
          <p:cNvPr id="8" name="Unified source footer">
            <a:extLst xmlns:a="http://schemas.openxmlformats.org/drawingml/2006/main">
              <a:ext uri="{FF2B5EF4-FFF2-40B4-BE49-F238E27FC236}">
                <a16:creationId xmlns:a16="http://schemas.microsoft.com/office/drawing/2014/main" id="{A0C587D7-8D9F-42CD-BD70-40B4CA2240AF}"/>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Registered terminal_site_assumptions.csv. Capture cases hold base turns at two/month; the investment illustration separately tests 1.25 / 1.50 turns with the same Lesedi starting working capacity. Product allocation, access, peaks and downtime require validation.</a:t>
            </a:r>
            <a:endParaRPr sz="750"/>
          </a:p>
        </p:txBody>
      </p:sp>
      <p:sp>
        <p:nvSpPr>
          <p:cNvPr id="48" name="Strictly Confidential footer">
            <a:extLst xmlns:a="http://schemas.openxmlformats.org/drawingml/2006/main">
              <a:ext uri="{FF2B5EF4-FFF2-40B4-BE49-F238E27FC236}">
                <a16:creationId xmlns:a16="http://schemas.microsoft.com/office/drawing/2014/main" id="{54B9CA1A-9CC3-4DE3-A1E3-9B61B6D4ED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6" name=""/>
          <p:cNvGraphicFramePr/>
          <p:nvPr/>
        </p:nvGraphicFramePr>
        <p:xfrm>
          <a:off xmlns:a="http://schemas.openxmlformats.org/drawingml/2006/main" x="457200" y="1657350"/>
          <a:ext xmlns:a="http://schemas.openxmlformats.org/drawingml/2006/main" cx="10652760" cy="3048000"/>
        </p:xfrm>
        <a:graphic xmlns:a="http://schemas.openxmlformats.org/drawingml/2006/main">
          <a:graphicData uri="http://schemas.openxmlformats.org/drawingml/2006/table">
            <a:tbl>
              <a:tblPr firstRow="0" bandRow="0"/>
              <a:tblGrid>
                <a:gridCol w="1587500"/>
                <a:gridCol w="2413000"/>
                <a:gridCol w="2159000"/>
                <a:gridCol w="2159000"/>
                <a:gridCol w="2336800"/>
              </a:tblGrid>
              <a:tr h="1016000">
                <a:tc>
                  <a:txBody>
                    <a:bodyPr/>
                    <a:lstStyle/>
                    <a:p>
                      <a:r>
                        <a:rPr sz="1275" b="1">
                          <a:solidFill>
                            <a:srgbClr val="0B2475"/>
                          </a:solidFill>
                          <a:latin typeface="Lato"/>
                          <a:ea typeface="Lato"/>
                          <a:cs typeface="Lato"/>
                        </a:rPr>
                        <a:t>Site</a:t>
                      </a:r>
                    </a:p>
                  </a:txBody>
                  <a:tcPr marL="91440" marR="91440" marT="45720" marB="45720" anchor="ctr">
                    <a:solidFill>
                      <a:srgbClr val="F5F5F5"/>
                    </a:solidFill>
                  </a:tcPr>
                </a:tc>
                <a:tc>
                  <a:txBody>
                    <a:bodyPr/>
                    <a:lstStyle/>
                    <a:p>
                      <a:r>
                        <a:rPr sz="1275" b="1">
                          <a:solidFill>
                            <a:srgbClr val="202020"/>
                          </a:solidFill>
                          <a:latin typeface="Lato"/>
                          <a:ea typeface="Lato"/>
                          <a:cs typeface="Lato"/>
                        </a:rPr>
                        <a:t>Working estimate</a:t>
                      </a:r>
                    </a:p>
                  </a:txBody>
                  <a:tcPr marL="91440" marR="91440" marT="45720" marB="45720" anchor="ctr">
                    <a:solidFill>
                      <a:srgbClr val="F5F5F5"/>
                    </a:solidFill>
                  </a:tcPr>
                </a:tc>
                <a:tc>
                  <a:txBody>
                    <a:bodyPr/>
                    <a:lstStyle/>
                    <a:p>
                      <a:r>
                        <a:rPr sz="1275" b="1">
                          <a:solidFill>
                            <a:srgbClr val="202020"/>
                          </a:solidFill>
                          <a:latin typeface="Lato"/>
                          <a:ea typeface="Lato"/>
                          <a:cs typeface="Lato"/>
                        </a:rPr>
                        <a:t>Low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Base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High turns</a:t>
                      </a:r>
                    </a:p>
                  </a:txBody>
                  <a:tcPr marL="91440" marR="91440" marT="45720" marB="45720" anchor="ctr">
                    <a:solidFill>
                      <a:srgbClr val="F5F5F5"/>
                    </a:solidFill>
                  </a:tcPr>
                </a:tc>
              </a:tr>
              <a:tr h="1016000">
                <a:tc>
                  <a:txBody>
                    <a:bodyPr/>
                    <a:lstStyle/>
                    <a:p>
                      <a:r>
                        <a:rPr sz="1350" b="1">
                          <a:solidFill>
                            <a:srgbClr val="0B2475"/>
                          </a:solidFill>
                          <a:latin typeface="Lato"/>
                          <a:ea typeface="Lato"/>
                          <a:cs typeface="Lato"/>
                        </a:rPr>
                        <a:t>Durban</a:t>
                      </a:r>
                    </a:p>
                  </a:txBody>
                  <a:tcPr marL="91440" marR="91440" marT="45720" marB="45720" anchor="ctr">
                    <a:solidFill>
                      <a:srgbClr val="FFFFFF"/>
                    </a:solidFill>
                  </a:tcPr>
                </a:tc>
                <a:tc>
                  <a:txBody>
                    <a:bodyPr/>
                    <a:lstStyle/>
                    <a:p>
                      <a:r>
                        <a:rPr sz="1350" b="0">
                          <a:solidFill>
                            <a:srgbClr val="202020"/>
                          </a:solidFill>
                          <a:latin typeface="Lato"/>
                          <a:ea typeface="Lato"/>
                          <a:cs typeface="Lato"/>
                        </a:rPr>
                        <a:t>146,000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1.75bn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3.50bn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5.26bn L</a:t>
                      </a:r>
                    </a:p>
                    <a:p>
                      <a:r>
                        <a:rPr sz="1350" b="0">
                          <a:solidFill>
                            <a:srgbClr val="202020"/>
                          </a:solidFill>
                          <a:latin typeface="Lato"/>
                          <a:ea typeface="Lato"/>
                          <a:cs typeface="Lato"/>
                        </a:rPr>
                        <a:t>3 turns/month</a:t>
                      </a:r>
                    </a:p>
                  </a:txBody>
                  <a:tcPr marL="91440" marR="91440" marT="45720" marB="45720" anchor="ctr">
                    <a:solidFill>
                      <a:srgbClr val="FFFFFF"/>
                    </a:solidFill>
                  </a:tcPr>
                </a:tc>
              </a:tr>
              <a:tr h="1016000">
                <a:tc>
                  <a:txBody>
                    <a:bodyPr/>
                    <a:lstStyle/>
                    <a:p>
                      <a:r>
                        <a:rPr sz="1350" b="1">
                          <a:solidFill>
                            <a:srgbClr val="0B2475"/>
                          </a:solidFill>
                          <a:latin typeface="Lato"/>
                          <a:ea typeface="Lato"/>
                          <a:cs typeface="Lato"/>
                        </a:rPr>
                        <a:t>Lesedi</a:t>
                      </a:r>
                    </a:p>
                  </a:txBody>
                  <a:tcPr marL="91440" marR="91440" marT="45720" marB="45720" anchor="ctr">
                    <a:solidFill>
                      <a:srgbClr val="FFFFFF"/>
                    </a:solidFill>
                  </a:tcPr>
                </a:tc>
                <a:tc>
                  <a:txBody>
                    <a:bodyPr/>
                    <a:lstStyle/>
                    <a:p>
                      <a:r>
                        <a:rPr sz="1350" b="0">
                          <a:solidFill>
                            <a:srgbClr val="202020"/>
                          </a:solidFill>
                          <a:latin typeface="Lato"/>
                          <a:ea typeface="Lato"/>
                          <a:cs typeface="Lato"/>
                        </a:rPr>
                        <a:t>124,000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1.49bn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2.98bn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3.57bn L</a:t>
                      </a:r>
                    </a:p>
                    <a:p>
                      <a:r>
                        <a:rPr sz="1350" b="0">
                          <a:solidFill>
                            <a:srgbClr val="202020"/>
                          </a:solidFill>
                          <a:latin typeface="Lato"/>
                          <a:ea typeface="Lato"/>
                          <a:cs typeface="Lato"/>
                        </a:rPr>
                        <a:t>2.4 turns/month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F9C06B21-56AB-4138-8BA0-D5AE9599C7C8}"/>
              </a:ext>
            </a:extLst>
          </p:cNvPr>
          <p:cNvSpPr>
            <a:spLocks xmlns:a="http://schemas.openxmlformats.org/drawingml/2006/main" noGrp="1"/>
          </p:cNvSpPr>
          <p:nvPr/>
        </p:nvSpPr>
        <p:spPr>
          <a:xfrm xmlns:a="http://schemas.openxmlformats.org/drawingml/2006/main">
            <a:off x="457200" y="49149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Durban: estimated petrol/diesel subset, not all gross tankage. Lesedi: 88,000 m³ documented plus 36,000 estimated. Handling sensitivities are not measured throughput or guaranteed operating limits.</a:t>
            </a:r>
          </a:p>
        </p:txBody>
      </p:sp>
      <p:graphicFrame xmlns:a="http://schemas.openxmlformats.org/drawingml/2006/main">
        <p:nvGraphicFramePr>
          <p:cNvPr id="5017"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464600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AB70F7-EA84-41CE-8779-4E94F733F7D5}"/>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Investment follows the customer opportunity and the constraint that limits service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A9F673-7E36-486B-888F-F173A676DAF7}"/>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18</a:t>
            </a:r>
            <a:endParaRPr sz="1100"/>
          </a:p>
        </p:txBody>
      </p:sp>
      <p:sp>
        <p:nvSpPr>
          <p:cNvPr id="8" name="Unified source footer">
            <a:extLst xmlns:a="http://schemas.openxmlformats.org/drawingml/2006/main">
              <a:ext uri="{FF2B5EF4-FFF2-40B4-BE49-F238E27FC236}">
                <a16:creationId xmlns:a16="http://schemas.microsoft.com/office/drawing/2014/main" id="{B38C5981-D465-4814-BAFC-66EFA73B962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asset evidence; registered terminal_site_assumptions.csv; client requests DR02/03/05/06. Detailed investment illustration, assumptions and downside results are retained in the appendix; EV adjacencies remain separately scoped.</a:t>
            </a:r>
            <a:endParaRPr sz="650"/>
          </a:p>
        </p:txBody>
      </p:sp>
      <p:sp>
        <p:nvSpPr>
          <p:cNvPr id="48" name="Strictly Confidential footer">
            <a:extLst xmlns:a="http://schemas.openxmlformats.org/drawingml/2006/main">
              <a:ext uri="{FF2B5EF4-FFF2-40B4-BE49-F238E27FC236}">
                <a16:creationId xmlns:a16="http://schemas.microsoft.com/office/drawing/2014/main" id="{772614B6-00E7-4ECB-95F7-491F5148017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476625"/>
        </p:xfrm>
        <a:graphic xmlns:a="http://schemas.openxmlformats.org/drawingml/2006/main">
          <a:graphicData uri="http://schemas.openxmlformats.org/drawingml/2006/table">
            <a:tbl>
              <a:tblPr firstRow="0" bandRow="0"/>
              <a:tblGrid>
                <a:gridCol w="2524125"/>
                <a:gridCol w="3762375"/>
                <a:gridCol w="4362450"/>
              </a:tblGrid>
              <a:tr h="400050">
                <a:tc>
                  <a:txBody>
                    <a:bodyPr/>
                    <a:lstStyle/>
                    <a:p>
                      <a:r>
                        <a:rPr sz="1350" b="1">
                          <a:solidFill>
                            <a:srgbClr val="0A2373"/>
                          </a:solidFill>
                          <a:latin typeface="Lato"/>
                          <a:ea typeface="Lato"/>
                          <a:cs typeface="Lato"/>
                        </a:rPr>
                        <a:t>Decision</a:t>
                      </a:r>
                    </a:p>
                  </a:txBody>
                  <a:tcPr marL="91440" marR="91440" marT="45720" marB="45720" anchor="t">
                    <a:solidFill>
                      <a:srgbClr val="F5F5F5"/>
                    </a:solidFill>
                  </a:tcPr>
                </a:tc>
                <a:tc>
                  <a:txBody>
                    <a:bodyPr/>
                    <a:lstStyle/>
                    <a:p>
                      <a:r>
                        <a:rPr sz="1350" b="1">
                          <a:solidFill>
                            <a:srgbClr val="0A2373"/>
                          </a:solidFill>
                          <a:latin typeface="Lato"/>
                          <a:ea typeface="Lato"/>
                          <a:cs typeface="Lato"/>
                        </a:rPr>
                        <a:t>When it becomes relevant</a:t>
                      </a:r>
                    </a:p>
                  </a:txBody>
                  <a:tcPr marL="91440" marR="91440" marT="45720" marB="45720" anchor="t">
                    <a:solidFill>
                      <a:srgbClr val="F5F5F5"/>
                    </a:solidFill>
                  </a:tcPr>
                </a:tc>
                <a:tc>
                  <a:txBody>
                    <a:bodyPr/>
                    <a:lstStyle/>
                    <a:p>
                      <a:r>
                        <a:rPr sz="1350" b="1">
                          <a:solidFill>
                            <a:srgbClr val="0A2373"/>
                          </a:solidFill>
                          <a:latin typeface="Lato"/>
                          <a:ea typeface="Lato"/>
                          <a:cs typeface="Lato"/>
                        </a:rPr>
                        <a:t>Evidence needed before commitment</a:t>
                      </a:r>
                    </a:p>
                  </a:txBody>
                  <a:tcPr marL="91440" marR="91440" marT="45720" marB="45720" anchor="t">
                    <a:solidFill>
                      <a:srgbClr val="F5F5F5"/>
                    </a:solidFill>
                  </a:tcPr>
                </a:tc>
              </a:tr>
              <a:tr h="1025525">
                <a:tc>
                  <a:txBody>
                    <a:bodyPr/>
                    <a:lstStyle/>
                    <a:p>
                      <a:r>
                        <a:rPr sz="1350" b="1">
                          <a:solidFill>
                            <a:srgbClr val="0A2373"/>
                          </a:solidFill>
                          <a:latin typeface="Lato"/>
                          <a:ea typeface="Lato"/>
                          <a:cs typeface="Lato"/>
                        </a:rPr>
                        <a:t>Use and improve existing assets</a:t>
                      </a:r>
                    </a:p>
                  </a:txBody>
                  <a:tcPr marL="91440" marR="91440" marT="45720" marB="45720" anchor="t">
                    <a:solidFill>
                      <a:srgbClr val="FFFFFF"/>
                    </a:solidFill>
                  </a:tcPr>
                </a:tc>
                <a:tc>
                  <a:txBody>
                    <a:bodyPr/>
                    <a:lstStyle/>
                    <a:p>
                      <a:r>
                        <a:rPr sz="1350" b="0">
                          <a:solidFill>
                            <a:srgbClr val="11151A"/>
                          </a:solidFill>
                          <a:latin typeface="Lato"/>
                          <a:ea typeface="Lato"/>
                          <a:cs typeface="Lato"/>
                        </a:rPr>
                        <a:t>Profitable customer growth can be served through better tank turns, scheduling or dispatch</a:t>
                      </a:r>
                    </a:p>
                  </a:txBody>
                  <a:tcPr marL="91440" marR="91440" marT="45720" marB="45720" anchor="t">
                    <a:solidFill>
                      <a:srgbClr val="FFFFFF"/>
                    </a:solidFill>
                  </a:tcPr>
                </a:tc>
                <a:tc>
                  <a:txBody>
                    <a:bodyPr/>
                    <a:lstStyle/>
                    <a:p>
                      <a:r>
                        <a:rPr sz="1350" b="0">
                          <a:solidFill>
                            <a:srgbClr val="11151A"/>
                          </a:solidFill>
                          <a:latin typeface="Lato"/>
                          <a:ea typeface="Lato"/>
                          <a:cs typeface="Lato"/>
                        </a:rPr>
                        <a:t>Current throughput, eligible working tanks, seasonal peaks and the specific operating constraint.</a:t>
                      </a:r>
                    </a:p>
                  </a:txBody>
                  <a:tcPr marL="91440" marR="91440" marT="45720" marB="45720" anchor="t">
                    <a:solidFill>
                      <a:srgbClr val="FFFFFF"/>
                    </a:solidFill>
                  </a:tcPr>
                </a:tc>
              </a:tr>
              <a:tr h="1025525">
                <a:tc>
                  <a:txBody>
                    <a:bodyPr/>
                    <a:lstStyle/>
                    <a:p>
                      <a:r>
                        <a:rPr sz="1350" b="1">
                          <a:solidFill>
                            <a:srgbClr val="0A2373"/>
                          </a:solidFill>
                          <a:latin typeface="Lato"/>
                          <a:ea typeface="Lato"/>
                          <a:cs typeface="Lato"/>
                        </a:rPr>
                        <a:t>Improve corridor access</a:t>
                      </a:r>
                    </a:p>
                  </a:txBody>
                  <a:tcPr marL="91440" marR="91440" marT="45720" marB="45720" anchor="t">
                    <a:solidFill>
                      <a:srgbClr val="FFFFFF"/>
                    </a:solidFill>
                  </a:tcPr>
                </a:tc>
                <a:tc>
                  <a:txBody>
                    <a:bodyPr/>
                    <a:lstStyle/>
                    <a:p>
                      <a:r>
                        <a:rPr sz="1350" b="0">
                          <a:solidFill>
                            <a:srgbClr val="11151A"/>
                          </a:solidFill>
                          <a:latin typeface="Lato"/>
                          <a:ea typeface="Lato"/>
                          <a:cs typeface="Lato"/>
                        </a:rPr>
                        <a:t>Competitive customer flows are constrained by transport access, cost or reliability</a:t>
                      </a:r>
                    </a:p>
                  </a:txBody>
                  <a:tcPr marL="91440" marR="91440" marT="45720" marB="45720" anchor="t">
                    <a:solidFill>
                      <a:srgbClr val="FFFFFF"/>
                    </a:solidFill>
                  </a:tcPr>
                </a:tc>
                <a:tc>
                  <a:txBody>
                    <a:bodyPr/>
                    <a:lstStyle/>
                    <a:p>
                      <a:r>
                        <a:rPr sz="1350" b="0">
                          <a:solidFill>
                            <a:srgbClr val="11151A"/>
                          </a:solidFill>
                          <a:latin typeface="Lato"/>
                          <a:ea typeface="Lato"/>
                          <a:cs typeface="Lato"/>
                        </a:rPr>
                        <a:t>Comparable delivered quotes, injection and capacity rights, service performance and customer commitments.</a:t>
                      </a:r>
                    </a:p>
                  </a:txBody>
                  <a:tcPr marL="91440" marR="91440" marT="45720" marB="45720" anchor="t">
                    <a:solidFill>
                      <a:srgbClr val="FFFFFF"/>
                    </a:solidFill>
                  </a:tcPr>
                </a:tc>
              </a:tr>
              <a:tr h="1025525">
                <a:tc>
                  <a:txBody>
                    <a:bodyPr/>
                    <a:lstStyle/>
                    <a:p>
                      <a:r>
                        <a:rPr sz="1350" b="1">
                          <a:solidFill>
                            <a:srgbClr val="0A2373"/>
                          </a:solidFill>
                          <a:latin typeface="Lato"/>
                          <a:ea typeface="Lato"/>
                          <a:cs typeface="Lato"/>
                        </a:rPr>
                        <a:t>Add tank capacity</a:t>
                      </a:r>
                    </a:p>
                  </a:txBody>
                  <a:tcPr marL="91440" marR="91440" marT="45720" marB="45720" anchor="t">
                    <a:solidFill>
                      <a:srgbClr val="FFFFFF"/>
                    </a:solidFill>
                  </a:tcPr>
                </a:tc>
                <a:tc>
                  <a:txBody>
                    <a:bodyPr/>
                    <a:lstStyle/>
                    <a:p>
                      <a:r>
                        <a:rPr sz="1350" b="0">
                          <a:solidFill>
                            <a:srgbClr val="11151A"/>
                          </a:solidFill>
                          <a:latin typeface="Lato"/>
                          <a:ea typeface="Lato"/>
                          <a:cs typeface="Lato"/>
                        </a:rPr>
                        <a:t>Secured incremental flows exceed achievable handling and storage is the binding constraint</a:t>
                      </a:r>
                    </a:p>
                  </a:txBody>
                  <a:tcPr marL="91440" marR="91440" marT="45720" marB="45720" anchor="t">
                    <a:solidFill>
                      <a:srgbClr val="FFFFFF"/>
                    </a:solidFill>
                  </a:tcPr>
                </a:tc>
                <a:tc>
                  <a:txBody>
                    <a:bodyPr/>
                    <a:lstStyle/>
                    <a:p>
                      <a:r>
                        <a:rPr sz="1350" b="0">
                          <a:solidFill>
                            <a:srgbClr val="11151A"/>
                          </a:solidFill>
                          <a:latin typeface="Lato"/>
                          <a:ea typeface="Lato"/>
                          <a:cs typeface="Lato"/>
                        </a:rPr>
                        <a:t>Product-compatible capacity, project cost and timing, chargeable revenues and returns under downside cases.</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0E8652D0-AC49-411B-A38E-679A3178651D}"/>
              </a:ext>
            </a:extLst>
          </p:cNvPr>
          <p:cNvSpPr>
            <a:spLocks xmlns:a="http://schemas.openxmlformats.org/drawingml/2006/main" noGrp="1"/>
          </p:cNvSpPr>
          <p:nvPr/>
        </p:nvSpPr>
        <p:spPr>
          <a:xfrm xmlns:a="http://schemas.openxmlformats.org/drawingml/2006/main">
            <a:off x="457200" y="5305425"/>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1151A"/>
                </a:solidFill>
                <a:latin typeface="Lato"/>
                <a:ea typeface="Lato"/>
                <a:cs typeface="Lato"/>
              </a:defRPr>
            </a:pPr>
            <a:r>
              <a:rPr sz="1200">
                <a:solidFill>
                  <a:srgbClr val="11151A"/>
                </a:solidFill>
                <a:latin typeface="Lato"/>
                <a:ea typeface="Lato"/>
                <a:cs typeface="Lato"/>
              </a:rPr>
              <a:t>Current evidence supports these decision tests. The financial illustration in the appendix uses separate capture and commercial assumptions and does not establish an approved investment.</a:t>
            </a:r>
          </a:p>
        </p:txBody>
      </p:sp>
      <p:graphicFrame xmlns:a="http://schemas.openxmlformats.org/drawingml/2006/main">
        <p:nvGraphicFramePr>
          <p:cNvPr id="5018"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63132089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market opportunity is established; Vopak’s share and expansion case remain conditional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19</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Evidence through Manish’s 9 October handback; review and sensitivity work dated 10 October. Detailed source gaps, owners and client requests are retained in the appendix and reviewed master workbook. No business approval is inferred.</a:t>
            </a:r>
            <a:endParaRPr sz="650"/>
          </a:p>
        </p:txBody>
      </p:sp>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5" name=""/>
          <p:cNvGraphicFramePr/>
          <p:nvPr/>
        </p:nvGraphicFramePr>
        <p:xfrm>
          <a:off xmlns:a="http://schemas.openxmlformats.org/drawingml/2006/main" x="457200" y="1657350"/>
          <a:ext xmlns:a="http://schemas.openxmlformats.org/drawingml/2006/main" cx="10648950" cy="3810000"/>
        </p:xfrm>
        <a:graphic xmlns:a="http://schemas.openxmlformats.org/drawingml/2006/main">
          <a:graphicData uri="http://schemas.openxmlformats.org/drawingml/2006/table">
            <a:tbl>
              <a:tblPr firstRow="0" bandRow="0"/>
              <a:tblGrid>
                <a:gridCol w="3571875"/>
                <a:gridCol w="3714750"/>
                <a:gridCol w="3362325"/>
              </a:tblGrid>
              <a:tr h="400050">
                <a:tc>
                  <a:txBody>
                    <a:bodyPr/>
                    <a:lstStyle/>
                    <a:p>
                      <a:r>
                        <a:rPr sz="1350" b="1">
                          <a:solidFill>
                            <a:srgbClr val="0A2373"/>
                          </a:solidFill>
                          <a:latin typeface="Lato"/>
                          <a:ea typeface="Lato"/>
                          <a:cs typeface="Lato"/>
                        </a:rPr>
                        <a:t>Conclusion today</a:t>
                      </a:r>
                    </a:p>
                  </a:txBody>
                  <a:tcPr marL="91440" marR="91440" marT="45720" marB="45720" anchor="t">
                    <a:solidFill>
                      <a:srgbClr val="F5F5F5"/>
                    </a:solidFill>
                  </a:tcPr>
                </a:tc>
                <a:tc>
                  <a:txBody>
                    <a:bodyPr/>
                    <a:lstStyle/>
                    <a:p>
                      <a:r>
                        <a:rPr sz="1350" b="1">
                          <a:solidFill>
                            <a:srgbClr val="0A2373"/>
                          </a:solidFill>
                          <a:latin typeface="Lato"/>
                          <a:ea typeface="Lato"/>
                          <a:cs typeface="Lato"/>
                        </a:rPr>
                        <a:t>What could change the answer</a:t>
                      </a:r>
                    </a:p>
                  </a:txBody>
                  <a:tcPr marL="91440" marR="91440" marT="45720" marB="45720" anchor="t">
                    <a:solidFill>
                      <a:srgbClr val="F5F5F5"/>
                    </a:solidFill>
                  </a:tcPr>
                </a:tc>
                <a:tc>
                  <a:txBody>
                    <a:bodyPr/>
                    <a:lstStyle/>
                    <a:p>
                      <a:r>
                        <a:rPr sz="1350" b="1">
                          <a:solidFill>
                            <a:srgbClr val="0A2373"/>
                          </a:solidFill>
                          <a:latin typeface="Lato"/>
                          <a:ea typeface="Lato"/>
                          <a:cs typeface="Lato"/>
                        </a:rPr>
                        <a:t>Next decision / responsibility</a:t>
                      </a:r>
                    </a:p>
                  </a:txBody>
                  <a:tcPr marL="91440" marR="91440" marT="45720" marB="45720" anchor="t">
                    <a:solidFill>
                      <a:srgbClr val="F5F5F5"/>
                    </a:solidFill>
                  </a:tcPr>
                </a:tc>
              </a:tr>
              <a:tr h="852488">
                <a:tc>
                  <a:txBody>
                    <a:bodyPr/>
                    <a:lstStyle/>
                    <a:p>
                      <a:r>
                        <a:rPr sz="1350" b="1">
                          <a:solidFill>
                            <a:srgbClr val="0A2373"/>
                          </a:solidFill>
                          <a:latin typeface="Lato"/>
                          <a:ea typeface="Lato"/>
                          <a:cs typeface="Lato"/>
                        </a:rPr>
                        <a:t>South Africa has substantial finished-product imports, with Durban a major entry point</a:t>
                      </a:r>
                    </a:p>
                  </a:txBody>
                  <a:tcPr marL="91440" marR="91440" marT="45720" marB="45720" anchor="t">
                    <a:solidFill>
                      <a:srgbClr val="FFFFFF"/>
                    </a:solidFill>
                  </a:tcPr>
                </a:tc>
                <a:tc>
                  <a:txBody>
                    <a:bodyPr/>
                    <a:lstStyle/>
                    <a:p>
                      <a:r>
                        <a:rPr sz="1350" b="0">
                          <a:solidFill>
                            <a:srgbClr val="11151A"/>
                          </a:solidFill>
                          <a:latin typeface="Lato"/>
                          <a:ea typeface="Lato"/>
                          <a:cs typeface="Lato"/>
                        </a:rPr>
                        <a:t>Comparable current sales, domestic product output and stock movements</a:t>
                      </a:r>
                    </a:p>
                  </a:txBody>
                  <a:tcPr marL="91440" marR="91440" marT="45720" marB="45720" anchor="t">
                    <a:solidFill>
                      <a:srgbClr val="FFFFFF"/>
                    </a:solidFill>
                  </a:tcPr>
                </a:tc>
                <a:tc>
                  <a:txBody>
                    <a:bodyPr/>
                    <a:lstStyle/>
                    <a:p>
                      <a:r>
                        <a:rPr sz="1350" b="0">
                          <a:solidFill>
                            <a:srgbClr val="11151A"/>
                          </a:solidFill>
                          <a:latin typeface="Lato"/>
                          <a:ea typeface="Lato"/>
                          <a:cs typeface="Lato"/>
                        </a:rPr>
                        <a:t>Agree the reconciled baseline. Manish evidence; Nigel review.</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Transport, sector activity, power recovery and refinery developments can change demand and imports</a:t>
                      </a:r>
                    </a:p>
                  </a:txBody>
                  <a:tcPr marL="91440" marR="91440" marT="45720" marB="45720" anchor="t">
                    <a:solidFill>
                      <a:srgbClr val="FFFFFF"/>
                    </a:solidFill>
                  </a:tcPr>
                </a:tc>
                <a:tc>
                  <a:txBody>
                    <a:bodyPr/>
                    <a:lstStyle/>
                    <a:p>
                      <a:r>
                        <a:rPr sz="1350" b="0">
                          <a:solidFill>
                            <a:srgbClr val="11151A"/>
                          </a:solidFill>
                          <a:latin typeface="Lato"/>
                          <a:ea typeface="Lato"/>
                          <a:cs typeface="Lato"/>
                        </a:rPr>
                        <a:t>Dated driver assumptions, asset milestones and product-output paths</a:t>
                      </a:r>
                    </a:p>
                  </a:txBody>
                  <a:tcPr marL="91440" marR="91440" marT="45720" marB="45720" anchor="t">
                    <a:solidFill>
                      <a:srgbClr val="FFFFFF"/>
                    </a:solidFill>
                  </a:tcPr>
                </a:tc>
                <a:tc>
                  <a:txBody>
                    <a:bodyPr/>
                    <a:lstStyle/>
                    <a:p>
                      <a:r>
                        <a:rPr sz="1350" b="0">
                          <a:solidFill>
                            <a:srgbClr val="11151A"/>
                          </a:solidFill>
                          <a:latin typeface="Lato"/>
                          <a:ea typeface="Lato"/>
                          <a:cs typeface="Lato"/>
                        </a:rPr>
                        <a:t>Agree the scenario paths. Nigel / Henry review; Manish integration.</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The capture cases quantify conditional Durban–Lesedi volumes</a:t>
                      </a:r>
                    </a:p>
                  </a:txBody>
                  <a:tcPr marL="91440" marR="91440" marT="45720" marB="45720" anchor="t">
                    <a:solidFill>
                      <a:srgbClr val="FFFFFF"/>
                    </a:solidFill>
                  </a:tcPr>
                </a:tc>
                <a:tc>
                  <a:txBody>
                    <a:bodyPr/>
                    <a:lstStyle/>
                    <a:p>
                      <a:r>
                        <a:rPr sz="1350" b="0">
                          <a:solidFill>
                            <a:srgbClr val="11151A"/>
                          </a:solidFill>
                          <a:latin typeface="Lato"/>
                          <a:ea typeface="Lato"/>
                          <a:cs typeface="Lato"/>
                        </a:rPr>
                        <a:t>Customer destinations, current site movements, shared transfers and competing delivered costs</a:t>
                      </a:r>
                    </a:p>
                  </a:txBody>
                  <a:tcPr marL="91440" marR="91440" marT="45720" marB="45720" anchor="t">
                    <a:solidFill>
                      <a:srgbClr val="FFFFFF"/>
                    </a:solidFill>
                  </a:tcPr>
                </a:tc>
                <a:tc>
                  <a:txBody>
                    <a:bodyPr/>
                    <a:lstStyle/>
                    <a:p>
                      <a:r>
                        <a:rPr sz="1350" b="0">
                          <a:solidFill>
                            <a:srgbClr val="11151A"/>
                          </a:solidFill>
                          <a:latin typeface="Lato"/>
                          <a:ea typeface="Lato"/>
                          <a:cs typeface="Lato"/>
                        </a:rPr>
                        <a:t>Validate accessible customer share. Nigel coordinates Vopak inputs.</a:t>
                      </a:r>
                    </a:p>
                  </a:txBody>
                  <a:tcPr marL="91440" marR="91440" marT="45720" marB="45720" anchor="t">
                    <a:solidFill>
                      <a:srgbClr val="FFFFFF"/>
                    </a:solidFill>
                  </a:tcPr>
                </a:tc>
              </a:tr>
              <a:tr h="852488">
                <a:tc>
                  <a:txBody>
                    <a:bodyPr/>
                    <a:lstStyle/>
                    <a:p>
                      <a:r>
                        <a:rPr sz="1350" b="1">
                          <a:solidFill>
                            <a:srgbClr val="0A2373"/>
                          </a:solidFill>
                          <a:latin typeface="Lato"/>
                          <a:ea typeface="Lato"/>
                          <a:cs typeface="Lato"/>
                        </a:rPr>
                        <a:t>Additional investment depends on a proven service constraint and commercial return</a:t>
                      </a:r>
                    </a:p>
                  </a:txBody>
                  <a:tcPr marL="91440" marR="91440" marT="45720" marB="45720" anchor="t">
                    <a:solidFill>
                      <a:srgbClr val="FFFFFF"/>
                    </a:solidFill>
                  </a:tcPr>
                </a:tc>
                <a:tc>
                  <a:txBody>
                    <a:bodyPr/>
                    <a:lstStyle/>
                    <a:p>
                      <a:r>
                        <a:rPr sz="1350" b="0">
                          <a:solidFill>
                            <a:srgbClr val="11151A"/>
                          </a:solidFill>
                          <a:latin typeface="Lato"/>
                          <a:ea typeface="Lato"/>
                          <a:cs typeface="Lato"/>
                        </a:rPr>
                        <a:t>Working capacity, actual turns and peaks, access, tariffs and project costs</a:t>
                      </a:r>
                    </a:p>
                  </a:txBody>
                  <a:tcPr marL="91440" marR="91440" marT="45720" marB="45720" anchor="t">
                    <a:solidFill>
                      <a:srgbClr val="FFFFFF"/>
                    </a:solidFill>
                  </a:tcPr>
                </a:tc>
                <a:tc>
                  <a:txBody>
                    <a:bodyPr/>
                    <a:lstStyle/>
                    <a:p>
                      <a:r>
                        <a:rPr sz="1350" b="0">
                          <a:solidFill>
                            <a:srgbClr val="11151A"/>
                          </a:solidFill>
                          <a:latin typeface="Lato"/>
                          <a:ea typeface="Lato"/>
                          <a:cs typeface="Lato"/>
                        </a:rPr>
                        <a:t>Compare operating improvement, access and tanks after the client evidence arrives.</a:t>
                      </a:r>
                    </a:p>
                  </a:txBody>
                  <a:tcPr marL="91440" marR="91440" marT="45720" marB="45720" anchor="t">
                    <a:solidFill>
                      <a:srgbClr val="FFFFFF"/>
                    </a:solidFill>
                  </a:tcPr>
                </a:tc>
              </a:tr>
            </a:tbl>
          </a:graphicData>
        </a:graphic>
      </p:graphicFrame>
      <p:sp>
        <p:nvSpPr>
          <p:cNvPr id="50" name="Core implication">
            <a:extLst xmlns:a="http://schemas.openxmlformats.org/drawingml/2006/main">
              <a:ext uri="{FF2B5EF4-FFF2-40B4-BE49-F238E27FC236}">
                <a16:creationId xmlns:a16="http://schemas.microsoft.com/office/drawing/2014/main" id="{BA4E2D09-53CD-4279-8C8C-97E264704F1B}"/>
              </a:ext>
            </a:extLst>
          </p:cNvPr>
          <p:cNvSpPr>
            <a:spLocks xmlns:a="http://schemas.openxmlformats.org/drawingml/2006/main" noGrp="1"/>
          </p:cNvSpPr>
          <p:nvPr/>
        </p:nvSpPr>
        <p:spPr>
          <a:xfrm xmlns:a="http://schemas.openxmlformats.org/drawingml/2006/main">
            <a:off x="457200" y="5638800"/>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a:solidFill>
                  <a:srgbClr val="11151A"/>
                </a:solidFill>
                <a:latin typeface="Lato"/>
                <a:ea typeface="Lato"/>
                <a:cs typeface="Lato"/>
              </a:defRPr>
            </a:pPr>
            <a:r>
              <a:rPr sz="1200">
                <a:solidFill>
                  <a:srgbClr val="11151A"/>
                </a:solidFill>
                <a:latin typeface="Lato"/>
                <a:ea typeface="Lato"/>
                <a:cs typeface="Lato"/>
              </a:rPr>
              <a:t>The immediate priority is to validate customer flows and operating limits, then connect the agreed market scenarios to investment economics.</a:t>
            </a:r>
          </a:p>
        </p:txBody>
      </p:sp>
      <p:graphicFrame xmlns:a="http://schemas.openxmlformats.org/drawingml/2006/main">
        <p:nvGraphicFramePr>
          <p:cNvPr id="5019" name="brand-pptx section navigation">
            <a:extLst>
              <a:ext uri="{FF2B5EF4-FFF2-40B4-BE49-F238E27FC236}">
                <a16:creationId xmlns:a16="http://schemas.microsoft.com/office/drawing/2014/main" id="{3C81AA2F-B17F-2F36-2EA7-40E65BDD803B}"/>
              </a:ext>
            </a:extLst>
          </p:cNvPr>
          <p:cNvGraphicFramePr/>
          <p:nvPr>
            <p:extLst>
              <p:ext uri="{D42A27DB-BD31-4B8C-83A1-F6EECF244321}">
                <p14:modId xmlns:p14="http://schemas.microsoft.com/office/powerpoint/2010/main" val="53365726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884852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39D6BC-9A58-46C9-81C2-2895E5D1C1E4}"/>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7" name="Picture 2"/>
          <p:cNvPicPr>
            <a:picLocks xmlns:a="http://schemas.openxmlformats.org/drawingml/2006/main" noChangeAspect="1"/>
          </p:cNvPicPr>
          <p:nvPr/>
        </p:nvPicPr>
        <p:blipFill>
          <a:blip xmlns:r="http://schemas.openxmlformats.org/officeDocument/2006/relationships" xmlns:a="http://schemas.openxmlformats.org/drawingml/2006/main" r:embed="Rb4b2c36d3feb4ebc"/>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09e0b623e42d4703"/>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11CCE102-5E72-4ADA-A662-058DB7D9B820}"/>
              </a:ext>
            </a:extLst>
          </p:cNvPr>
          <p:cNvSpPr>
            <a:spLocks xmlns:a="http://schemas.openxmlformats.org/drawingml/2006/main" noGrp="1"/>
          </p:cNvSpPr>
          <p:nvPr/>
        </p:nvSpPr>
        <p:spPr>
          <a:xfrm xmlns:a="http://schemas.openxmlformats.org/drawingml/2006/main">
            <a:off x="594360" y="2468880"/>
            <a:ext cx="4709160" cy="47705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Appendix</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3870E250-7F10-4F6F-AA37-E1E95E308EE2}"/>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8CD92FC-E601-4D87-85EA-5D969A169D0D}"/>
              </a:ext>
            </a:extLst>
          </p:cNvPr>
          <p:cNvSpPr>
            <a:spLocks xmlns:a="http://schemas.openxmlformats.org/drawingml/2006/main" noGrp="1"/>
          </p:cNvSpPr>
          <p:nvPr/>
        </p:nvSpPr>
        <p:spPr>
          <a:xfrm xmlns:a="http://schemas.openxmlformats.org/drawingml/2006/main">
            <a:off x="594360" y="4617720"/>
            <a:ext cx="4572000" cy="26161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Supporting evidence and calibration</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8064CCA5-B6D0-47B2-81A2-7276544851CC}"/>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479C54E4-8D1C-48B7-BC1D-500B9C3E2D2C}"/>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9357DF05-46F3-4275-9A6C-5F6E4748BDE4}"/>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Detailed evidence, assumptions and remaining calibration requirements</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D4E55EE2-7F7C-4486-8391-FAEFE3FFC3FC}"/>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9F5A648E-331C-441B-986D-01157676656C}"/>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
        <p:nvSpPr>
          <p:cNvPr id="13" name="Appendix page number">
            <a:extLst xmlns:a="http://schemas.openxmlformats.org/drawingml/2006/main">
              <a:ext uri="{FF2B5EF4-FFF2-40B4-BE49-F238E27FC236}">
                <a16:creationId xmlns:a16="http://schemas.microsoft.com/office/drawing/2014/main" id="{0522BF82-0323-6187-CAC1-CB8F852202A2}"/>
              </a:ext>
            </a:extLst>
          </p:cNvPr>
          <p:cNvSpPr>
            <a:spLocks xmlns:a="http://schemas.openxmlformats.org/drawingml/2006/main" noGrp="1"/>
          </p:cNvSpPr>
          <p:nvPr/>
        </p:nvSpPr>
        <p:spPr>
          <a:xfrm xmlns:a="http://schemas.openxmlformats.org/drawingml/2006/main">
            <a:off x="10972800" y="6515100"/>
            <a:ext cx="355600" cy="261610"/>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100">
                <a:latin typeface="Lato"/>
                <a:ea typeface="Lato"/>
                <a:cs typeface="Lato"/>
              </a:rPr>
              <a:t>19</a:t>
            </a:r>
          </a:p>
        </p:txBody>
      </p:sp>
    </p:spTree>
    <p:extLst>
      <p:ext uri="{BB962C8B-B14F-4D97-AF65-F5344CB8AC3E}">
        <p14:creationId xmlns:p14="http://schemas.microsoft.com/office/powerpoint/2010/main" val="121299002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D178F9-F6DF-4CA1-9254-116BDF04742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Existing assets provide the starting point for capturing demand and testing expansion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64B9E2-E701-4097-A4BC-909A5DF2842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21</a:t>
            </a:r>
            <a:endParaRPr sz="1100"/>
          </a:p>
        </p:txBody>
      </p:sp>
      <p:sp>
        <p:nvSpPr>
          <p:cNvPr id="8" name="Unified source footer">
            <a:extLst xmlns:a="http://schemas.openxmlformats.org/drawingml/2006/main">
              <a:ext uri="{FF2B5EF4-FFF2-40B4-BE49-F238E27FC236}">
                <a16:creationId xmlns:a16="http://schemas.microsoft.com/office/drawing/2014/main" id="{3196C3B8-4C77-4179-862C-1389A89AF983}"/>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61"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Working recommendation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logic</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Condition for commitment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inland
supply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Win accessible customer flows from imported and domestic sources.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Prove delivered competitiveness and sufficient customer volume.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Use existing
assets first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The worked illustration favours existing assets in six worlds; access/dispatch improvement in two.</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working capacity and the actual operating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Stage corridor
and capacity spend</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demand / low domestic supply favours extra tanks in the illustration. Working-capacity assumptions materially affect its value.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Fund the least-cost viable option that removes the proven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Keep strategic
options open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all nine worlds and emerging gateways; screen EV adjacencies separately.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Validate capture, chargeable revenues and capex. The illustrated tank choice reverses in the downside tests.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EBB3CD0-57E6-4B7B-9657-2FDA673E4EE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63" name="Picture 13"/>
          <p:cNvPicPr>
            <a:picLocks xmlns:a="http://schemas.openxmlformats.org/drawingml/2006/main" noChangeAspect="1"/>
          </p:cNvPicPr>
          <p:nvPr/>
        </p:nvPicPr>
        <p:blipFill>
          <a:blip xmlns:r="http://schemas.openxmlformats.org/officeDocument/2006/relationships" xmlns:a="http://schemas.openxmlformats.org/drawingml/2006/main" r:embed="Re5d12dd0a73d472e"/>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Picture 15"/>
          <p:cNvPicPr>
            <a:picLocks xmlns:a="http://schemas.openxmlformats.org/drawingml/2006/main" noChangeAspect="1"/>
          </p:cNvPicPr>
          <p:nvPr/>
        </p:nvPicPr>
        <p:blipFill>
          <a:blip xmlns:r="http://schemas.openxmlformats.org/officeDocument/2006/relationships" xmlns:a="http://schemas.openxmlformats.org/drawingml/2006/main" r:embed="R7e03c82494ae4f99"/>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Picture 17"/>
          <p:cNvPicPr>
            <a:picLocks xmlns:a="http://schemas.openxmlformats.org/drawingml/2006/main" noChangeAspect="1"/>
          </p:cNvPicPr>
          <p:nvPr/>
        </p:nvPicPr>
        <p:blipFill>
          <a:blip xmlns:r="http://schemas.openxmlformats.org/officeDocument/2006/relationships" xmlns:a="http://schemas.openxmlformats.org/drawingml/2006/main" r:embed="R5b0e062fc1904684"/>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Picture 19"/>
          <p:cNvPicPr>
            <a:picLocks xmlns:a="http://schemas.openxmlformats.org/drawingml/2006/main" noChangeAspect="1"/>
          </p:cNvPicPr>
          <p:nvPr/>
        </p:nvPicPr>
        <p:blipFill>
          <a:blip xmlns:r="http://schemas.openxmlformats.org/officeDocument/2006/relationships" xmlns:a="http://schemas.openxmlformats.org/drawingml/2006/main" r:embed="Reb7dd31bb4ab4852"/>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pic>
        <p:nvPicPr>
          <p:cNvPr id="67" name="Argument icon ship"/>
          <p:cNvPicPr>
            <a:picLocks xmlns:a="http://schemas.openxmlformats.org/drawingml/2006/main" noChangeAspect="1"/>
          </p:cNvPicPr>
          <p:nvPr/>
        </p:nvPicPr>
        <p:blipFill>
          <a:blip xmlns:r="http://schemas.openxmlformats.org/officeDocument/2006/relationships" xmlns:a="http://schemas.openxmlformats.org/drawingml/2006/main" r:embed="Re5d12dd0a73d472e"/>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8" name="Argument icon route"/>
          <p:cNvPicPr>
            <a:picLocks xmlns:a="http://schemas.openxmlformats.org/drawingml/2006/main" noChangeAspect="1"/>
          </p:cNvPicPr>
          <p:nvPr/>
        </p:nvPicPr>
        <p:blipFill>
          <a:blip xmlns:r="http://schemas.openxmlformats.org/officeDocument/2006/relationships" xmlns:a="http://schemas.openxmlformats.org/drawingml/2006/main" r:embed="R7e03c82494ae4f99"/>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9" name="Argument icon turns"/>
          <p:cNvPicPr>
            <a:picLocks xmlns:a="http://schemas.openxmlformats.org/drawingml/2006/main" noChangeAspect="1"/>
          </p:cNvPicPr>
          <p:nvPr/>
        </p:nvPicPr>
        <p:blipFill>
          <a:blip xmlns:r="http://schemas.openxmlformats.org/officeDocument/2006/relationships" xmlns:a="http://schemas.openxmlformats.org/drawingml/2006/main" r:embed="R5b0e062fc1904684"/>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0" name="Argument icon matrix"/>
          <p:cNvPicPr>
            <a:picLocks xmlns:a="http://schemas.openxmlformats.org/drawingml/2006/main" noChangeAspect="1"/>
          </p:cNvPicPr>
          <p:nvPr/>
        </p:nvPicPr>
        <p:blipFill>
          <a:blip xmlns:r="http://schemas.openxmlformats.org/officeDocument/2006/relationships" xmlns:a="http://schemas.openxmlformats.org/drawingml/2006/main" r:embed="Reb7dd31bb4ab4852"/>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graphicFrame xmlns:a="http://schemas.openxmlformats.org/drawingml/2006/main">
        <p:nvGraphicFramePr>
          <p:cNvPr id="5021"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7" r:lo="rIdSmartArt8" r:qs="rIdSmartArt9" r:cs="rIdSmartArt10"/>
          </a:graphicData>
        </a:graphic>
      </p:graphicFrame>
    </p:spTree>
    <p:extLst>
      <p:ext uri="{BB962C8B-B14F-4D97-AF65-F5344CB8AC3E}">
        <p14:creationId xmlns:p14="http://schemas.microsoft.com/office/powerpoint/2010/main" val="103035908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868DDA-2FB2-498C-B0F0-3F50A81EAF5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working-capacity assumption changes the illustrated expansion value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61DCC61-7AD3-4B0F-8286-59851EBE0EE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22</a:t>
            </a:r>
            <a:endParaRPr sz="1100"/>
          </a:p>
        </p:txBody>
      </p:sp>
      <p:sp>
        <p:nvSpPr>
          <p:cNvPr id="8" name="Unified source footer">
            <a:extLst xmlns:a="http://schemas.openxmlformats.org/drawingml/2006/main">
              <a:ext uri="{FF2B5EF4-FFF2-40B4-BE49-F238E27FC236}">
                <a16:creationId xmlns:a16="http://schemas.microsoft.com/office/drawing/2014/main" id="{6C049F97-8F1A-42D6-B947-BDE484068F9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ONLY. Working tankage aligned to 124,000 m³. Difference was R8m at 126,000 m³; it is now R58m because the assumed rental allocation changes. Commercial terms and engineering remain unvalidated. Details pp46–49.</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778000"/>
                <a:gridCol w="2730500"/>
                <a:gridCol w="3175000"/>
                <a:gridCol w="2969260"/>
              </a:tblGrid>
              <a:tr h="355600">
                <a:tc>
                  <a:txBody>
                    <a:bodyPr/>
                    <a:lstStyle/>
                    <a:p>
                      <a:pPr>
                        <a:spcAft>
                          <a:spcPts val="0"/>
                        </a:spcAft>
                        <a:buNone/>
                      </a:pPr>
                      <a:r>
                        <a:rPr sz="1200" b="1" u="none">
                          <a:solidFill>
                            <a:schemeClr val="dk1"/>
                          </a:solidFill>
                          <a:latin typeface="Lato"/>
                          <a:ea typeface="Lato"/>
                          <a:cs typeface="Lato"/>
                        </a:rPr>
                        <a:t>Decision test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Numeric condition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ILLUSTRATIVE high / low case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Still needs verification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Customer
volume</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Tanks must outperform improving existing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Assumed capture 2.813bn L/year; tanks win above 2.765bn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No secured volumes inferred. Validate customer capture and contract duration.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Route
economics</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Delivered-cost headroom ≥ R0/m³.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R750 allowable less R650 assumed logistics = R100/m³ headroom.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Both prices are authored. Compare actual Durban, Maputo, Walvis Bay and domestic quotes.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Capacity
constraint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Captured flow exceeds achievable handling.</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Existing 1.860bn L/year; improvement 2.232bn; tanks 2.870bn.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estimate; 36,000 m³ estimated. Turns 1.25 / 1.50 remain assumptions.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Incremental
return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Positive NPV and better value than the alternative.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NPV R+24m; combined R+82m. Difference R58m.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10% discount rate, 20 years, pre-tax. Actual tariffs, cost, tax and project schedule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DC08C4B-F80F-4A40-9A6B-8E1E4FB46F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9"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109cde25152c4f7f"/>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0"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5163023a0d2a4273"/>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1"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b73a63370aba4476"/>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2"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76a21da763ed41a3"/>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graphicFrame xmlns:a="http://schemas.openxmlformats.org/drawingml/2006/main">
        <p:nvGraphicFramePr>
          <p:cNvPr id="5022"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7" r:lo="rIdSmartArt8" r:qs="rIdSmartArt9" r:cs="rIdSmartArt10"/>
          </a:graphicData>
        </a:graphic>
      </p:graphicFrame>
    </p:spTree>
    <p:extLst>
      <p:ext uri="{BB962C8B-B14F-4D97-AF65-F5344CB8AC3E}">
        <p14:creationId xmlns:p14="http://schemas.microsoft.com/office/powerpoint/2010/main" val="245504092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F7A8B-B46B-4276-81B9-76218F9F508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Only one illustrative world favours tanks; six favour existing assets and two favour improvement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BCE4E9-A59E-40B2-892F-B8DEF653050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23</a:t>
            </a:r>
            <a:endParaRPr sz="1100"/>
          </a:p>
        </p:txBody>
      </p:sp>
      <p:sp>
        <p:nvSpPr>
          <p:cNvPr id="8" name="Unified source footer">
            <a:extLst xmlns:a="http://schemas.openxmlformats.org/drawingml/2006/main">
              <a:ext uri="{FF2B5EF4-FFF2-40B4-BE49-F238E27FC236}">
                <a16:creationId xmlns:a16="http://schemas.microsoft.com/office/drawing/2014/main" id="{A7CB78CE-CA3F-434B-8E23-7462E50E14A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p48; downside: p49.</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0894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508000">
                <a:tc>
                  <a:txBody>
                    <a:bodyPr/>
                    <a:lstStyle/>
                    <a:p>
                      <a:pPr>
                        <a:spcAft>
                          <a:spcPts val="0"/>
                        </a:spcAft>
                        <a:buNone/>
                      </a:pPr>
                      <a:r>
                        <a:rPr sz="1200" b="1" u="none">
                          <a:solidFill>
                            <a:schemeClr val="dk1"/>
                          </a:solidFill>
                          <a:latin typeface="Lato"/>
                          <a:ea typeface="Lato"/>
                          <a:cs typeface="Lato"/>
                        </a:rPr>
                        <a:t>Gauteng demand /
domestic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HIGH deliveries
4.8bn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MEDIUM deliveries
3.6bn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LOW deliveries
2.4bn L/year</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LOW demand
6.0bn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1" u="none">
                          <a:solidFill>
                            <a:schemeClr val="accent1"/>
                          </a:solidFill>
                          <a:latin typeface="Lato"/>
                          <a:ea typeface="Lato"/>
                          <a:cs typeface="Lato"/>
                        </a:rPr>
                        <a:t>L / H
USE EXISTING ASSETS
Capture 0.99bn L/year
Incremental NPV R+0m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tint val="15000"/>
                      </a:schemeClr>
                    </a:solidFill>
                  </a:tcPr>
                </a:tc>
                <a:tc>
                  <a:txBody>
                    <a:bodyPr/>
                    <a:lstStyle/>
                    <a:p>
                      <a:pPr>
                        <a:spcAft>
                          <a:spcPts val="0"/>
                        </a:spcAft>
                        <a:buNone/>
                      </a:pPr>
                      <a:r>
                        <a:rPr sz="1200" b="0" u="none">
                          <a:solidFill>
                            <a:schemeClr val="dk1"/>
                          </a:solidFill>
                          <a:latin typeface="Lato"/>
                          <a:ea typeface="Lato"/>
                          <a:cs typeface="Lato"/>
                        </a:rPr>
                        <a:t>L / M
USE EXISTING ASSETS
Capture 1.50bn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 / L
USE EXISTING ASSETS
Capture 2.01bn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MEDIUM demand
6.8bn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 / H
USE EXISTING ASSETS
Capture 1.39bn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lt1"/>
                          </a:solidFill>
                          <a:latin typeface="Lato"/>
                          <a:ea typeface="Lato"/>
                          <a:cs typeface="Lato"/>
                        </a:rPr>
                        <a:t>M / M | REFERENCE
USE EXISTING ASSETS
Capture 1.90bn L/year
Incremental NPV R+0m</a:t>
                      </a:r>
                      <a:endParaRPr sz="1200" b="1" u="none">
                        <a:solidFill>
                          <a:schemeClr val="l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solidFill>
                  </a:tcPr>
                </a:tc>
                <a:tc>
                  <a:txBody>
                    <a:bodyPr/>
                    <a:lstStyle/>
                    <a:p>
                      <a:pPr>
                        <a:spcAft>
                          <a:spcPts val="0"/>
                        </a:spcAft>
                        <a:buNone/>
                      </a:pPr>
                      <a:r>
                        <a:rPr sz="1200" b="0" u="none">
                          <a:solidFill>
                            <a:schemeClr val="dk1"/>
                          </a:solidFill>
                          <a:latin typeface="Lato"/>
                          <a:ea typeface="Lato"/>
                          <a:cs typeface="Lato"/>
                        </a:rPr>
                        <a:t>M / L
IMPROVE ACCESS / DISPATCH
Capture 2.41bn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HIGH demand
7.6bn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H
USE EXISTING ASSETS
Capture 1.80bn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M
IMPROVE ACCESS / DISPATCH
Capture 2.30bn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accent1"/>
                          </a:solidFill>
                          <a:latin typeface="Lato"/>
                          <a:ea typeface="Lato"/>
                          <a:cs typeface="Lato"/>
                        </a:rPr>
                        <a:t>H / L
TEST IMPROVEMENT + TANKS
Capture 2.81bn L/year
Incremental NPV R+82m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chemeClr val="accent1">
                        <a:tint val="15000"/>
                      </a:schemeClr>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C2D67B7-FB28-44F2-9034-DA8092D085A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3" name="Cell outputs">
            <a:extLst xmlns:a="http://schemas.openxmlformats.org/drawingml/2006/main">
              <a:ext uri="{FF2B5EF4-FFF2-40B4-BE49-F238E27FC236}">
                <a16:creationId xmlns:a16="http://schemas.microsoft.com/office/drawing/2014/main" id="{80C551B0-D528-A7CB-091A-0E0CED318C82}"/>
              </a:ext>
            </a:extLst>
          </p:cNvPr>
          <p:cNvSpPr>
            <a:spLocks xmlns:a="http://schemas.openxmlformats.org/drawingml/2006/main" noGrp="1"/>
          </p:cNvSpPr>
          <p:nvPr/>
        </p:nvSpPr>
        <p:spPr>
          <a:xfrm xmlns:a="http://schemas.openxmlformats.org/drawingml/2006/main">
            <a:off x="533400" y="5816600"/>
            <a:ext cx="10477500" cy="16927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100">
                <a:solidFill>
                  <a:schemeClr val="dk1"/>
                </a:solidFill>
                <a:latin typeface="Lato"/>
                <a:ea typeface="Lato"/>
                <a:cs typeface="Lato"/>
              </a:rPr>
              <a:t>Highest incremental NPV among three illustrative packages; R0 means retain existing assets, not zero terminal value.</a:t>
            </a:r>
            <a:endParaRPr sz="1100">
              <a:solidFill>
                <a:schemeClr val="dk1"/>
              </a:solidFill>
              <a:latin typeface="Lato"/>
              <a:ea typeface="Lato"/>
              <a:cs typeface="Lato"/>
            </a:endParaRPr>
          </a:p>
        </p:txBody>
      </p:sp>
      <p:graphicFrame xmlns:a="http://schemas.openxmlformats.org/drawingml/2006/main">
        <p:nvGraphicFramePr>
          <p:cNvPr id="5023"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61062022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9D8B57-E12F-4ED5-A6C1-386CFF7E5BB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Power recovery reduces diesel support while freight and sector activity remain important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252A0DD-9282-4CC1-8370-441588BB85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24</a:t>
            </a:r>
            <a:endParaRPr sz="1100"/>
          </a:p>
        </p:txBody>
      </p:sp>
      <p:sp>
        <p:nvSpPr>
          <p:cNvPr id="8" name="Unified source footer">
            <a:extLst xmlns:a="http://schemas.openxmlformats.org/drawingml/2006/main">
              <a:ext uri="{FF2B5EF4-FFF2-40B4-BE49-F238E27FC236}">
                <a16:creationId xmlns:a16="http://schemas.microsoft.com/office/drawing/2014/main" id="{1F634E31-70BD-403B-AE1C-10E188BC24D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sz="650"/>
          </a:p>
        </p:txBody>
      </p:sp>
      <p:graphicFrame>
        <p:nvGraphicFramePr>
          <p:cNvPr id="60" name="Table 46"/>
          <p:cNvGraphicFramePr/>
          <p:nvPr/>
        </p:nvGraphicFramePr>
        <p:xfrm>
          <a:off xmlns:a="http://schemas.openxmlformats.org/drawingml/2006/main" x="457200" y="1651000"/>
          <a:ext xmlns:a="http://schemas.openxmlformats.org/drawingml/2006/main" cx="10652760" cy="4444999"/>
        </p:xfrm>
        <a:graphic xmlns:a="http://schemas.openxmlformats.org/drawingml/2006/main">
          <a:graphicData uri="http://schemas.openxmlformats.org/drawingml/2006/table">
            <a:tbl>
              <a:tblPr firstRow="1" bandRow="1">
                <a:tableStyleId>{2D5ABB26-0587-4C30-8999-92F81FD0307C}</a:tableStyleId>
              </a:tblPr>
              <a:tblGrid>
                <a:gridCol w="2095500"/>
                <a:gridCol w="4635500"/>
                <a:gridCol w="3921760"/>
              </a:tblGrid>
              <a:tr h="355600">
                <a:tc>
                  <a:txBody>
                    <a:bodyPr/>
                    <a:lstStyle/>
                    <a:p>
                      <a:pPr>
                        <a:spcAft>
                          <a:spcPts val="0"/>
                        </a:spcAft>
                        <a:buNone/>
                      </a:pPr>
                      <a:r>
                        <a:rPr sz="1300" b="1" u="none">
                          <a:solidFill>
                            <a:schemeClr val="dk1"/>
                          </a:solidFill>
                          <a:latin typeface="Lato"/>
                          <a:ea typeface="Lato"/>
                          <a:cs typeface="Lato"/>
                        </a:rPr>
                        <a:t>Demand support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2024 vs 2025</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demand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Power
generation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450m fewer litres in one year. Sustained recovery reduces diesel demand; retirements and replacement timing could reverse it.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Road
freight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Road carries 85.3% of tonnes.
Workbook truck-fuel proxy: 3.15bn L
in 2023, partial operator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Sector
activity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estimates:
mining 1.406, industry residual 0.165,
agriculture 1.131bn L. Uses can overlap.</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5ED7406-5490-45E0-8E00-E22648ABC4B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62" name="Argument icon power"/>
          <p:cNvPicPr>
            <a:picLocks xmlns:a="http://schemas.openxmlformats.org/drawingml/2006/main" noChangeAspect="1"/>
          </p:cNvPicPr>
          <p:nvPr/>
        </p:nvPicPr>
        <p:blipFill>
          <a:blip xmlns:r="http://schemas.openxmlformats.org/officeDocument/2006/relationships" xmlns:a="http://schemas.openxmlformats.org/drawingml/2006/main" r:embed="Rc05b6daa28f3487f"/>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3"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4fae0b9174bc464f"/>
          <a:stretch xmlns:a="http://schemas.openxmlformats.org/drawingml/2006/main">
            <a:fillRect l="0" t="0" r="0" b="0"/>
          </a:stretch>
        </p:blipFill>
        <p:spPr>
          <a:xfrm xmlns:a="http://schemas.openxmlformats.org/drawingml/2006/main">
            <a:off x="508000" y="3484033"/>
            <a:ext cx="317500" cy="317500"/>
          </a:xfrm>
          <a:prstGeom xmlns:a="http://schemas.openxmlformats.org/drawingml/2006/main" prst="rect">
            <a:avLst/>
          </a:prstGeom>
        </p:spPr>
      </p:pic>
      <p:pic>
        <p:nvPicPr>
          <p:cNvPr id="64" name="Argument icon sector"/>
          <p:cNvPicPr>
            <a:picLocks xmlns:a="http://schemas.openxmlformats.org/drawingml/2006/main" noChangeAspect="1"/>
          </p:cNvPicPr>
          <p:nvPr/>
        </p:nvPicPr>
        <p:blipFill>
          <a:blip xmlns:r="http://schemas.openxmlformats.org/officeDocument/2006/relationships" xmlns:a="http://schemas.openxmlformats.org/drawingml/2006/main" r:embed="R2b26e6f2351e4699"/>
          <a:stretch xmlns:a="http://schemas.openxmlformats.org/drawingml/2006/main">
            <a:fillRect l="0" t="0" r="0" b="0"/>
          </a:stretch>
        </p:blipFill>
        <p:spPr>
          <a:xfrm xmlns:a="http://schemas.openxmlformats.org/drawingml/2006/main">
            <a:off x="508000" y="4847166"/>
            <a:ext cx="317500" cy="317500"/>
          </a:xfrm>
          <a:prstGeom xmlns:a="http://schemas.openxmlformats.org/drawingml/2006/main" prst="rect">
            <a:avLst/>
          </a:prstGeom>
        </p:spPr>
      </p:pic>
      <p:sp>
        <p:nvSpPr>
          <p:cNvPr id="4" name="Comparison unit">
            <a:extLst xmlns:a="http://schemas.openxmlformats.org/drawingml/2006/main">
              <a:ext uri="{FF2B5EF4-FFF2-40B4-BE49-F238E27FC236}">
                <a16:creationId xmlns:a16="http://schemas.microsoft.com/office/drawing/2014/main" id="{6848D3B9-9DAE-E5DE-C318-9C697203955D}"/>
              </a:ext>
            </a:extLst>
          </p:cNvPr>
          <p:cNvSpPr>
            <a:spLocks xmlns:a="http://schemas.openxmlformats.org/drawingml/2006/main" noGrp="1"/>
          </p:cNvSpPr>
          <p:nvPr/>
        </p:nvSpPr>
        <p:spPr>
          <a:xfrm xmlns:a="http://schemas.openxmlformats.org/drawingml/2006/main">
            <a:off x="2590800" y="2082800"/>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Own OCGT fuel · million litres · financial years</a:t>
            </a:r>
            <a:endParaRPr sz="1000">
              <a:solidFill>
                <a:schemeClr val="dk1"/>
              </a:solidFill>
              <a:latin typeface="Lato"/>
              <a:ea typeface="Lato"/>
              <a:cs typeface="Lato"/>
            </a:endParaRPr>
          </a:p>
        </p:txBody>
      </p:sp>
      <p:pic>
        <p:nvPicPr>
          <p:cNvPr id="66" name="Demand comparison power"/>
          <p:cNvPicPr>
            <a:picLocks xmlns:a="http://schemas.openxmlformats.org/drawingml/2006/main" noChangeAspect="1"/>
          </p:cNvPicPr>
          <p:nvPr/>
        </p:nvPicPr>
        <p:blipFill>
          <a:blip xmlns:r="http://schemas.openxmlformats.org/officeDocument/2006/relationships" xmlns:a="http://schemas.openxmlformats.org/drawingml/2006/main" r:embed="R5349ee9aeed841a5"/>
          <a:stretch xmlns:a="http://schemas.openxmlformats.org/drawingml/2006/main">
            <a:fillRect l="0" t="0" r="0" b="0"/>
          </a:stretch>
        </p:blipFill>
        <p:spPr>
          <a:xfrm xmlns:a="http://schemas.openxmlformats.org/drawingml/2006/main">
            <a:off x="2590800" y="2159000"/>
            <a:ext cx="4508500" cy="1217295"/>
          </a:xfrm>
          <a:prstGeom xmlns:a="http://schemas.openxmlformats.org/drawingml/2006/main" prst="rect">
            <a:avLst/>
          </a:prstGeom>
        </p:spPr>
      </p:pic>
      <p:sp>
        <p:nvSpPr>
          <p:cNvPr id="15" name="Comparison unit">
            <a:extLst xmlns:a="http://schemas.openxmlformats.org/drawingml/2006/main">
              <a:ext uri="{FF2B5EF4-FFF2-40B4-BE49-F238E27FC236}">
                <a16:creationId xmlns:a16="http://schemas.microsoft.com/office/drawing/2014/main" id="{B8C7AEBC-8080-1E55-90D9-764484D5A075}"/>
              </a:ext>
            </a:extLst>
          </p:cNvPr>
          <p:cNvSpPr>
            <a:spLocks xmlns:a="http://schemas.openxmlformats.org/drawingml/2006/main" noGrp="1"/>
          </p:cNvSpPr>
          <p:nvPr/>
        </p:nvSpPr>
        <p:spPr>
          <a:xfrm xmlns:a="http://schemas.openxmlformats.org/drawingml/2006/main">
            <a:off x="2590800" y="3445933"/>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Reported payload · million tonnes · calendar years</a:t>
            </a:r>
            <a:endParaRPr sz="1000">
              <a:solidFill>
                <a:schemeClr val="dk1"/>
              </a:solidFill>
              <a:latin typeface="Lato"/>
              <a:ea typeface="Lato"/>
              <a:cs typeface="Lato"/>
            </a:endParaRPr>
          </a:p>
        </p:txBody>
      </p:sp>
      <p:pic>
        <p:nvPicPr>
          <p:cNvPr id="68" name="Demand comparison freight"/>
          <p:cNvPicPr>
            <a:picLocks xmlns:a="http://schemas.openxmlformats.org/drawingml/2006/main" noChangeAspect="1"/>
          </p:cNvPicPr>
          <p:nvPr/>
        </p:nvPicPr>
        <p:blipFill>
          <a:blip xmlns:r="http://schemas.openxmlformats.org/officeDocument/2006/relationships" xmlns:a="http://schemas.openxmlformats.org/drawingml/2006/main" r:embed="Rcc5344d1839d4538"/>
          <a:stretch xmlns:a="http://schemas.openxmlformats.org/drawingml/2006/main">
            <a:fillRect l="0" t="0" r="0" b="0"/>
          </a:stretch>
        </p:blipFill>
        <p:spPr>
          <a:xfrm xmlns:a="http://schemas.openxmlformats.org/drawingml/2006/main">
            <a:off x="2590800" y="3522133"/>
            <a:ext cx="4508500" cy="1217295"/>
          </a:xfrm>
          <a:prstGeom xmlns:a="http://schemas.openxmlformats.org/drawingml/2006/main" prst="rect">
            <a:avLst/>
          </a:prstGeom>
        </p:spPr>
      </p:pic>
      <p:sp>
        <p:nvSpPr>
          <p:cNvPr id="18" name="Comparison unit">
            <a:extLst xmlns:a="http://schemas.openxmlformats.org/drawingml/2006/main">
              <a:ext uri="{FF2B5EF4-FFF2-40B4-BE49-F238E27FC236}">
                <a16:creationId xmlns:a16="http://schemas.microsoft.com/office/drawing/2014/main" id="{050F5819-3F46-6939-E5CF-0124C47BDEA2}"/>
              </a:ext>
            </a:extLst>
          </p:cNvPr>
          <p:cNvSpPr>
            <a:spLocks xmlns:a="http://schemas.openxmlformats.org/drawingml/2006/main" noGrp="1"/>
          </p:cNvSpPr>
          <p:nvPr/>
        </p:nvSpPr>
        <p:spPr>
          <a:xfrm xmlns:a="http://schemas.openxmlformats.org/drawingml/2006/main">
            <a:off x="2590800" y="4809066"/>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Real GVA · Rbn, 2015 prices · calendar years</a:t>
            </a:r>
            <a:endParaRPr sz="1000">
              <a:solidFill>
                <a:schemeClr val="dk1"/>
              </a:solidFill>
              <a:latin typeface="Lato"/>
              <a:ea typeface="Lato"/>
              <a:cs typeface="Lato"/>
            </a:endParaRPr>
          </a:p>
        </p:txBody>
      </p:sp>
      <p:pic>
        <p:nvPicPr>
          <p:cNvPr id="70" name="Demand comparison sector"/>
          <p:cNvPicPr>
            <a:picLocks xmlns:a="http://schemas.openxmlformats.org/drawingml/2006/main" noChangeAspect="1"/>
          </p:cNvPicPr>
          <p:nvPr/>
        </p:nvPicPr>
        <p:blipFill>
          <a:blip xmlns:r="http://schemas.openxmlformats.org/officeDocument/2006/relationships" xmlns:a="http://schemas.openxmlformats.org/drawingml/2006/main" r:embed="Re2c7bc2f9d59432a"/>
          <a:stretch xmlns:a="http://schemas.openxmlformats.org/drawingml/2006/main">
            <a:fillRect l="0" t="0" r="0" b="0"/>
          </a:stretch>
        </p:blipFill>
        <p:spPr>
          <a:xfrm xmlns:a="http://schemas.openxmlformats.org/drawingml/2006/main">
            <a:off x="2590800" y="4885266"/>
            <a:ext cx="4508500" cy="1217295"/>
          </a:xfrm>
          <a:prstGeom xmlns:a="http://schemas.openxmlformats.org/drawingml/2006/main" prst="rect">
            <a:avLst/>
          </a:prstGeom>
        </p:spPr>
      </p:pic>
      <p:pic>
        <p:nvPicPr>
          <p:cNvPr id="71" name="Picture 15"/>
          <p:cNvPicPr>
            <a:picLocks xmlns:a="http://schemas.openxmlformats.org/drawingml/2006/main" noChangeAspect="1"/>
          </p:cNvPicPr>
          <p:nvPr/>
        </p:nvPicPr>
        <p:blipFill>
          <a:blip xmlns:r="http://schemas.openxmlformats.org/officeDocument/2006/relationships" xmlns:a="http://schemas.openxmlformats.org/drawingml/2006/main" r:embed="R735e0818ba444399"/>
          <a:stretch xmlns:a="http://schemas.openxmlformats.org/drawingml/2006/main">
            <a:fillRect l="0" t="0" r="0" b="0"/>
          </a:stretch>
        </p:blipFill>
        <p:spPr>
          <a:xfrm xmlns:a="http://schemas.openxmlformats.org/drawingml/2006/main">
            <a:off x="4889500" y="1739900"/>
            <a:ext cx="1397000" cy="180213"/>
          </a:xfrm>
          <a:prstGeom xmlns:a="http://schemas.openxmlformats.org/drawingml/2006/main" prst="rect">
            <a:avLst/>
          </a:prstGeom>
        </p:spPr>
      </p:pic>
      <p:graphicFrame xmlns:a="http://schemas.openxmlformats.org/drawingml/2006/main">
        <p:nvGraphicFramePr>
          <p:cNvPr id="5024"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10" r:lo="rIdSmartArt11" r:qs="rIdSmartArt12" r:cs="rIdSmartArt13"/>
          </a:graphicData>
        </a:graphic>
      </p:graphicFrame>
    </p:spTree>
    <p:extLst>
      <p:ext uri="{BB962C8B-B14F-4D97-AF65-F5344CB8AC3E}">
        <p14:creationId xmlns:p14="http://schemas.microsoft.com/office/powerpoint/2010/main" val="118391809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DC42CF-A65D-4828-BD5C-71A7C61F1B3D}"/>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Mining, manufacturing and agriculture link diesel demand to sector activity</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7BE8C34-E80C-4B62-A747-E3AB6CD0EC2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25</a:t>
            </a:r>
            <a:endParaRPr sz="1100"/>
          </a:p>
        </p:txBody>
      </p:sp>
      <p:sp>
        <p:nvSpPr>
          <p:cNvPr id="8" name="Unified source footer">
            <a:extLst xmlns:a="http://schemas.openxmlformats.org/drawingml/2006/main">
              <a:ext uri="{FF2B5EF4-FFF2-40B4-BE49-F238E27FC236}">
                <a16:creationId xmlns:a16="http://schemas.microsoft.com/office/drawing/2014/main" id="{E495F583-3D31-436D-A60F-E104578FC8F7}"/>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master workbook, DR01 sector activity: 2025 activity × historical average intensity. Department energy balance ends in 2021. Later sector litres are estimates; attribution and road overlap remain open.</a:t>
            </a:r>
            <a:endParaRPr sz="650"/>
          </a:p>
        </p:txBody>
      </p:sp>
      <p:sp>
        <p:nvSpPr>
          <p:cNvPr id="48" name="Strictly Confidential footer">
            <a:extLst xmlns:a="http://schemas.openxmlformats.org/drawingml/2006/main">
              <a:ext uri="{FF2B5EF4-FFF2-40B4-BE49-F238E27FC236}">
                <a16:creationId xmlns:a16="http://schemas.microsoft.com/office/drawing/2014/main" id="{C49621DB-C9C6-4488-AD70-0DA3579B092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6" name="Sector heading">
            <a:extLst xmlns:a="http://schemas.openxmlformats.org/drawingml/2006/main">
              <a:ext uri="{FF2B5EF4-FFF2-40B4-BE49-F238E27FC236}">
                <a16:creationId xmlns:a16="http://schemas.microsoft.com/office/drawing/2014/main" id="{65A169A8-D9BF-7E72-B48E-771CD77BA7BB}"/>
              </a:ext>
            </a:extLst>
          </p:cNvPr>
          <p:cNvSpPr>
            <a:spLocks xmlns:a="http://schemas.openxmlformats.org/drawingml/2006/main" noGrp="1"/>
          </p:cNvSpPr>
          <p:nvPr/>
        </p:nvSpPr>
        <p:spPr>
          <a:xfrm xmlns:a="http://schemas.openxmlformats.org/drawingml/2006/main">
            <a:off x="457200" y="1600200"/>
            <a:ext cx="19685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Sector</a:t>
            </a:r>
          </a:p>
        </p:txBody>
      </p:sp>
      <p:sp>
        <p:nvSpPr>
          <p:cNvPr id="7" name="Chart heading">
            <a:extLst xmlns:a="http://schemas.openxmlformats.org/drawingml/2006/main">
              <a:ext uri="{FF2B5EF4-FFF2-40B4-BE49-F238E27FC236}">
                <a16:creationId xmlns:a16="http://schemas.microsoft.com/office/drawing/2014/main" id="{DBA7DC2C-F2EF-95EA-707F-2D271224C408}"/>
              </a:ext>
            </a:extLst>
          </p:cNvPr>
          <p:cNvSpPr>
            <a:spLocks xmlns:a="http://schemas.openxmlformats.org/drawingml/2006/main" noGrp="1"/>
          </p:cNvSpPr>
          <p:nvPr/>
        </p:nvSpPr>
        <p:spPr>
          <a:xfrm xmlns:a="http://schemas.openxmlformats.org/drawingml/2006/main">
            <a:off x="2552700" y="1600200"/>
            <a:ext cx="4432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Diesel use, billion litres / year</a:t>
            </a:r>
            <a:endParaRPr sz="1200" b="1">
              <a:solidFill>
                <a:schemeClr val="dk1"/>
              </a:solidFill>
              <a:latin typeface="Lato"/>
              <a:ea typeface="Lato"/>
              <a:cs typeface="Lato"/>
            </a:endParaRPr>
          </a:p>
        </p:txBody>
      </p:sp>
      <p:sp>
        <p:nvSpPr>
          <p:cNvPr id="13" name="Activity heading">
            <a:extLst xmlns:a="http://schemas.openxmlformats.org/drawingml/2006/main">
              <a:ext uri="{FF2B5EF4-FFF2-40B4-BE49-F238E27FC236}">
                <a16:creationId xmlns:a16="http://schemas.microsoft.com/office/drawing/2014/main" id="{73F4E311-4081-9D8E-F2A8-1E30E7DE3FE6}"/>
              </a:ext>
            </a:extLst>
          </p:cNvPr>
          <p:cNvSpPr>
            <a:spLocks xmlns:a="http://schemas.openxmlformats.org/drawingml/2006/main" noGrp="1"/>
          </p:cNvSpPr>
          <p:nvPr/>
        </p:nvSpPr>
        <p:spPr>
          <a:xfrm xmlns:a="http://schemas.openxmlformats.org/drawingml/2006/main">
            <a:off x="7480300" y="1600200"/>
            <a:ext cx="36322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Activity and interpretation</a:t>
            </a:r>
          </a:p>
        </p:txBody>
      </p:sp>
      <p:cxnSp>
        <p:nvCxnSpPr>
          <p:cNvPr id="217" name="Sector heading rule"/>
          <p:cNvCxnSpPr/>
          <p:nvPr/>
        </p:nvCxnSpPr>
        <p:spPr>
          <a:xfrm xmlns:a="http://schemas.openxmlformats.org/drawingml/2006/main">
            <a:off x="457200" y="190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5" name="Sector label 0">
            <a:extLst xmlns:a="http://schemas.openxmlformats.org/drawingml/2006/main">
              <a:ext uri="{FF2B5EF4-FFF2-40B4-BE49-F238E27FC236}">
                <a16:creationId xmlns:a16="http://schemas.microsoft.com/office/drawing/2014/main" id="{E6CDC96F-13DA-9293-6FD3-08DE11006E7F}"/>
              </a:ext>
            </a:extLst>
          </p:cNvPr>
          <p:cNvSpPr>
            <a:spLocks xmlns:a="http://schemas.openxmlformats.org/drawingml/2006/main" noGrp="1"/>
          </p:cNvSpPr>
          <p:nvPr/>
        </p:nvSpPr>
        <p:spPr>
          <a:xfrm xmlns:a="http://schemas.openxmlformats.org/drawingml/2006/main">
            <a:off x="457200" y="21589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Mining</a:t>
            </a:r>
          </a:p>
        </p:txBody>
      </p:sp>
      <p:sp>
        <p:nvSpPr>
          <p:cNvPr id="16" name="Sector interpretation 0">
            <a:extLst xmlns:a="http://schemas.openxmlformats.org/drawingml/2006/main">
              <a:ext uri="{FF2B5EF4-FFF2-40B4-BE49-F238E27FC236}">
                <a16:creationId xmlns:a16="http://schemas.microsoft.com/office/drawing/2014/main" id="{0E18B143-84EF-D0CF-5516-1798DD1E7F3E}"/>
              </a:ext>
            </a:extLst>
          </p:cNvPr>
          <p:cNvSpPr>
            <a:spLocks xmlns:a="http://schemas.openxmlformats.org/drawingml/2006/main" noGrp="1"/>
          </p:cNvSpPr>
          <p:nvPr/>
        </p:nvSpPr>
        <p:spPr>
          <a:xfrm xmlns:a="http://schemas.openxmlformats.org/drawingml/2006/main">
            <a:off x="7480300" y="21716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Mining activity drives the estimate. Average historical intensity and road-use overlap remain uncertain.</a:t>
            </a:r>
            <a:endParaRPr sz="1250">
              <a:solidFill>
                <a:schemeClr val="dk1"/>
              </a:solidFill>
              <a:latin typeface="Lato"/>
              <a:ea typeface="Lato"/>
              <a:cs typeface="Lato"/>
            </a:endParaRPr>
          </a:p>
        </p:txBody>
      </p:sp>
      <p:cxnSp>
        <p:nvCxnSpPr>
          <p:cNvPr id="220" name="Zero axis 0"/>
          <p:cNvCxnSpPr/>
          <p:nvPr/>
        </p:nvCxnSpPr>
        <p:spPr>
          <a:xfrm xmlns:a="http://schemas.openxmlformats.org/drawingml/2006/main">
            <a:off x="3263900" y="21336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8" name="Year 0 0">
            <a:extLst xmlns:a="http://schemas.openxmlformats.org/drawingml/2006/main">
              <a:ext uri="{FF2B5EF4-FFF2-40B4-BE49-F238E27FC236}">
                <a16:creationId xmlns:a16="http://schemas.microsoft.com/office/drawing/2014/main" id="{BCFCEDD5-B360-0731-6047-74636FEA33D4}"/>
              </a:ext>
            </a:extLst>
          </p:cNvPr>
          <p:cNvSpPr>
            <a:spLocks xmlns:a="http://schemas.openxmlformats.org/drawingml/2006/main" noGrp="1"/>
          </p:cNvSpPr>
          <p:nvPr/>
        </p:nvSpPr>
        <p:spPr>
          <a:xfrm xmlns:a="http://schemas.openxmlformats.org/drawingml/2006/main">
            <a:off x="2552700" y="21463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19" name="Sector bar 0 0">
            <a:extLst xmlns:a="http://schemas.openxmlformats.org/drawingml/2006/main">
              <a:ext uri="{FF2B5EF4-FFF2-40B4-BE49-F238E27FC236}">
                <a16:creationId xmlns:a16="http://schemas.microsoft.com/office/drawing/2014/main" id="{F6B91932-F480-7CD7-3C01-05C3B5BF243E}"/>
              </a:ext>
            </a:extLst>
          </p:cNvPr>
          <p:cNvSpPr>
            <a:spLocks xmlns:a="http://schemas.openxmlformats.org/drawingml/2006/main" noGrp="1"/>
          </p:cNvSpPr>
          <p:nvPr/>
        </p:nvSpPr>
        <p:spPr>
          <a:xfrm xmlns:a="http://schemas.openxmlformats.org/drawingml/2006/main">
            <a:off x="3263900" y="2159000"/>
            <a:ext cx="2905633"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Value 0 0">
            <a:extLst xmlns:a="http://schemas.openxmlformats.org/drawingml/2006/main">
              <a:ext uri="{FF2B5EF4-FFF2-40B4-BE49-F238E27FC236}">
                <a16:creationId xmlns:a16="http://schemas.microsoft.com/office/drawing/2014/main" id="{0F4B7BD1-8E3D-B7D8-352E-867A026E823A}"/>
              </a:ext>
            </a:extLst>
          </p:cNvPr>
          <p:cNvSpPr>
            <a:spLocks xmlns:a="http://schemas.openxmlformats.org/drawingml/2006/main" noGrp="1"/>
          </p:cNvSpPr>
          <p:nvPr/>
        </p:nvSpPr>
        <p:spPr>
          <a:xfrm xmlns:a="http://schemas.openxmlformats.org/drawingml/2006/main">
            <a:off x="6245733" y="21463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1.67</a:t>
            </a:r>
          </a:p>
        </p:txBody>
      </p:sp>
      <p:sp>
        <p:nvSpPr>
          <p:cNvPr id="21" name="Year 0 1">
            <a:extLst xmlns:a="http://schemas.openxmlformats.org/drawingml/2006/main">
              <a:ext uri="{FF2B5EF4-FFF2-40B4-BE49-F238E27FC236}">
                <a16:creationId xmlns:a16="http://schemas.microsoft.com/office/drawing/2014/main" id="{14C66B96-9647-0C1B-9CDF-F43C5BFEB805}"/>
              </a:ext>
            </a:extLst>
          </p:cNvPr>
          <p:cNvSpPr>
            <a:spLocks xmlns:a="http://schemas.openxmlformats.org/drawingml/2006/main" noGrp="1"/>
          </p:cNvSpPr>
          <p:nvPr/>
        </p:nvSpPr>
        <p:spPr>
          <a:xfrm xmlns:a="http://schemas.openxmlformats.org/drawingml/2006/main">
            <a:off x="2552700" y="24511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22" name="Sector bar 0 1">
            <a:extLst xmlns:a="http://schemas.openxmlformats.org/drawingml/2006/main">
              <a:ext uri="{FF2B5EF4-FFF2-40B4-BE49-F238E27FC236}">
                <a16:creationId xmlns:a16="http://schemas.microsoft.com/office/drawing/2014/main" id="{94723423-E844-4220-848F-C8B42910C0D5}"/>
              </a:ext>
            </a:extLst>
          </p:cNvPr>
          <p:cNvSpPr>
            <a:spLocks xmlns:a="http://schemas.openxmlformats.org/drawingml/2006/main" noGrp="1"/>
          </p:cNvSpPr>
          <p:nvPr/>
        </p:nvSpPr>
        <p:spPr>
          <a:xfrm xmlns:a="http://schemas.openxmlformats.org/drawingml/2006/main">
            <a:off x="3263900" y="2463800"/>
            <a:ext cx="2244471"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Value 0 1">
            <a:extLst xmlns:a="http://schemas.openxmlformats.org/drawingml/2006/main">
              <a:ext uri="{FF2B5EF4-FFF2-40B4-BE49-F238E27FC236}">
                <a16:creationId xmlns:a16="http://schemas.microsoft.com/office/drawing/2014/main" id="{6E983A38-9C73-873C-063F-C72993543FD6}"/>
              </a:ext>
            </a:extLst>
          </p:cNvPr>
          <p:cNvSpPr>
            <a:spLocks xmlns:a="http://schemas.openxmlformats.org/drawingml/2006/main" noGrp="1"/>
          </p:cNvSpPr>
          <p:nvPr/>
        </p:nvSpPr>
        <p:spPr>
          <a:xfrm xmlns:a="http://schemas.openxmlformats.org/drawingml/2006/main">
            <a:off x="5584571" y="24511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1.29</a:t>
            </a:r>
          </a:p>
        </p:txBody>
      </p:sp>
      <p:sp>
        <p:nvSpPr>
          <p:cNvPr id="24" name="Year 0 2">
            <a:extLst xmlns:a="http://schemas.openxmlformats.org/drawingml/2006/main">
              <a:ext uri="{FF2B5EF4-FFF2-40B4-BE49-F238E27FC236}">
                <a16:creationId xmlns:a16="http://schemas.microsoft.com/office/drawing/2014/main" id="{38003D4B-57B3-CE60-122C-9120C89C55C9}"/>
              </a:ext>
            </a:extLst>
          </p:cNvPr>
          <p:cNvSpPr>
            <a:spLocks xmlns:a="http://schemas.openxmlformats.org/drawingml/2006/main" noGrp="1"/>
          </p:cNvSpPr>
          <p:nvPr/>
        </p:nvSpPr>
        <p:spPr>
          <a:xfrm xmlns:a="http://schemas.openxmlformats.org/drawingml/2006/main">
            <a:off x="2552700" y="2755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25" name="Sector bar 0 2">
            <a:extLst xmlns:a="http://schemas.openxmlformats.org/drawingml/2006/main">
              <a:ext uri="{FF2B5EF4-FFF2-40B4-BE49-F238E27FC236}">
                <a16:creationId xmlns:a16="http://schemas.microsoft.com/office/drawing/2014/main" id="{A388A7E3-B0B3-2918-1E99-E7410D28228A}"/>
              </a:ext>
            </a:extLst>
          </p:cNvPr>
          <p:cNvSpPr>
            <a:spLocks xmlns:a="http://schemas.openxmlformats.org/drawingml/2006/main" noGrp="1"/>
          </p:cNvSpPr>
          <p:nvPr/>
        </p:nvSpPr>
        <p:spPr>
          <a:xfrm xmlns:a="http://schemas.openxmlformats.org/drawingml/2006/main">
            <a:off x="3263900" y="2768600"/>
            <a:ext cx="2446903"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Value 0 2">
            <a:extLst xmlns:a="http://schemas.openxmlformats.org/drawingml/2006/main">
              <a:ext uri="{FF2B5EF4-FFF2-40B4-BE49-F238E27FC236}">
                <a16:creationId xmlns:a16="http://schemas.microsoft.com/office/drawing/2014/main" id="{A13295E8-E5CE-36FE-C86A-8F808A9BA76F}"/>
              </a:ext>
            </a:extLst>
          </p:cNvPr>
          <p:cNvSpPr>
            <a:spLocks xmlns:a="http://schemas.openxmlformats.org/drawingml/2006/main" noGrp="1"/>
          </p:cNvSpPr>
          <p:nvPr/>
        </p:nvSpPr>
        <p:spPr>
          <a:xfrm xmlns:a="http://schemas.openxmlformats.org/drawingml/2006/main">
            <a:off x="5787003" y="2755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1.41</a:t>
            </a:r>
          </a:p>
        </p:txBody>
      </p:sp>
      <p:cxnSp>
        <p:nvCxnSpPr>
          <p:cNvPr id="230" name="Sector row rule 0"/>
          <p:cNvCxnSpPr/>
          <p:nvPr/>
        </p:nvCxnSpPr>
        <p:spPr>
          <a:xfrm xmlns:a="http://schemas.openxmlformats.org/drawingml/2006/main">
            <a:off x="457200" y="317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8" name="Sector label 1">
            <a:extLst xmlns:a="http://schemas.openxmlformats.org/drawingml/2006/main">
              <a:ext uri="{FF2B5EF4-FFF2-40B4-BE49-F238E27FC236}">
                <a16:creationId xmlns:a16="http://schemas.microsoft.com/office/drawing/2014/main" id="{BBDB7AF9-6122-31BD-BE04-9ACF0FFD77A1}"/>
              </a:ext>
            </a:extLst>
          </p:cNvPr>
          <p:cNvSpPr>
            <a:spLocks xmlns:a="http://schemas.openxmlformats.org/drawingml/2006/main" noGrp="1"/>
          </p:cNvSpPr>
          <p:nvPr/>
        </p:nvSpPr>
        <p:spPr>
          <a:xfrm xmlns:a="http://schemas.openxmlformats.org/drawingml/2006/main">
            <a:off x="457200" y="3416300"/>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Manufacturing / non-specified industry</a:t>
            </a:r>
          </a:p>
        </p:txBody>
      </p:sp>
      <p:sp>
        <p:nvSpPr>
          <p:cNvPr id="29" name="Sector interpretation 1">
            <a:extLst xmlns:a="http://schemas.openxmlformats.org/drawingml/2006/main">
              <a:ext uri="{FF2B5EF4-FFF2-40B4-BE49-F238E27FC236}">
                <a16:creationId xmlns:a16="http://schemas.microsoft.com/office/drawing/2014/main" id="{BFC2BDC1-F459-EAAA-BB5E-806FD2D52D46}"/>
              </a:ext>
            </a:extLst>
          </p:cNvPr>
          <p:cNvSpPr>
            <a:spLocks xmlns:a="http://schemas.openxmlformats.org/drawingml/2006/main" noGrp="1"/>
          </p:cNvSpPr>
          <p:nvPr/>
        </p:nvSpPr>
        <p:spPr>
          <a:xfrm xmlns:a="http://schemas.openxmlformats.org/drawingml/2006/main">
            <a:off x="7480300" y="34289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Industry residual excludes mining and construction. This is an estimate, not a complete industrial census.</a:t>
            </a:r>
            <a:endParaRPr sz="1250">
              <a:solidFill>
                <a:schemeClr val="dk1"/>
              </a:solidFill>
              <a:latin typeface="Lato"/>
              <a:ea typeface="Lato"/>
              <a:cs typeface="Lato"/>
            </a:endParaRPr>
          </a:p>
        </p:txBody>
      </p:sp>
      <p:cxnSp>
        <p:nvCxnSpPr>
          <p:cNvPr id="233" name="Zero axis 1"/>
          <p:cNvCxnSpPr/>
          <p:nvPr/>
        </p:nvCxnSpPr>
        <p:spPr>
          <a:xfrm xmlns:a="http://schemas.openxmlformats.org/drawingml/2006/main">
            <a:off x="3263900" y="33909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1" name="Year 1 0">
            <a:extLst xmlns:a="http://schemas.openxmlformats.org/drawingml/2006/main">
              <a:ext uri="{FF2B5EF4-FFF2-40B4-BE49-F238E27FC236}">
                <a16:creationId xmlns:a16="http://schemas.microsoft.com/office/drawing/2014/main" id="{16B0186D-8604-9086-8124-5B59F61AB1A9}"/>
              </a:ext>
            </a:extLst>
          </p:cNvPr>
          <p:cNvSpPr>
            <a:spLocks xmlns:a="http://schemas.openxmlformats.org/drawingml/2006/main" noGrp="1"/>
          </p:cNvSpPr>
          <p:nvPr/>
        </p:nvSpPr>
        <p:spPr>
          <a:xfrm xmlns:a="http://schemas.openxmlformats.org/drawingml/2006/main">
            <a:off x="2552700" y="34036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32" name="Sector bar 1 0">
            <a:extLst xmlns:a="http://schemas.openxmlformats.org/drawingml/2006/main">
              <a:ext uri="{FF2B5EF4-FFF2-40B4-BE49-F238E27FC236}">
                <a16:creationId xmlns:a16="http://schemas.microsoft.com/office/drawing/2014/main" id="{2DA6DBBB-2E07-06BE-2A17-FB5203EBAC94}"/>
              </a:ext>
            </a:extLst>
          </p:cNvPr>
          <p:cNvSpPr>
            <a:spLocks xmlns:a="http://schemas.openxmlformats.org/drawingml/2006/main" noGrp="1"/>
          </p:cNvSpPr>
          <p:nvPr/>
        </p:nvSpPr>
        <p:spPr>
          <a:xfrm xmlns:a="http://schemas.openxmlformats.org/drawingml/2006/main">
            <a:off x="3263900" y="3416300"/>
            <a:ext cx="400177"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Value 1 0">
            <a:extLst xmlns:a="http://schemas.openxmlformats.org/drawingml/2006/main">
              <a:ext uri="{FF2B5EF4-FFF2-40B4-BE49-F238E27FC236}">
                <a16:creationId xmlns:a16="http://schemas.microsoft.com/office/drawing/2014/main" id="{17BCCB4B-9BA0-D28F-AF5E-09327B282841}"/>
              </a:ext>
            </a:extLst>
          </p:cNvPr>
          <p:cNvSpPr>
            <a:spLocks xmlns:a="http://schemas.openxmlformats.org/drawingml/2006/main" noGrp="1"/>
          </p:cNvSpPr>
          <p:nvPr/>
        </p:nvSpPr>
        <p:spPr>
          <a:xfrm xmlns:a="http://schemas.openxmlformats.org/drawingml/2006/main">
            <a:off x="3740277" y="34036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0.23</a:t>
            </a:r>
          </a:p>
        </p:txBody>
      </p:sp>
      <p:sp>
        <p:nvSpPr>
          <p:cNvPr id="34" name="Year 1 1">
            <a:extLst xmlns:a="http://schemas.openxmlformats.org/drawingml/2006/main">
              <a:ext uri="{FF2B5EF4-FFF2-40B4-BE49-F238E27FC236}">
                <a16:creationId xmlns:a16="http://schemas.microsoft.com/office/drawing/2014/main" id="{136F52DC-B196-9F98-C031-615B735A15BB}"/>
              </a:ext>
            </a:extLst>
          </p:cNvPr>
          <p:cNvSpPr>
            <a:spLocks xmlns:a="http://schemas.openxmlformats.org/drawingml/2006/main" noGrp="1"/>
          </p:cNvSpPr>
          <p:nvPr/>
        </p:nvSpPr>
        <p:spPr>
          <a:xfrm xmlns:a="http://schemas.openxmlformats.org/drawingml/2006/main">
            <a:off x="2552700" y="37084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35" name="Sector bar 1 1">
            <a:extLst xmlns:a="http://schemas.openxmlformats.org/drawingml/2006/main">
              <a:ext uri="{FF2B5EF4-FFF2-40B4-BE49-F238E27FC236}">
                <a16:creationId xmlns:a16="http://schemas.microsoft.com/office/drawing/2014/main" id="{4965B220-CF36-3D8E-8803-FFFF46126B6C}"/>
              </a:ext>
            </a:extLst>
          </p:cNvPr>
          <p:cNvSpPr>
            <a:spLocks xmlns:a="http://schemas.openxmlformats.org/drawingml/2006/main" noGrp="1"/>
          </p:cNvSpPr>
          <p:nvPr/>
        </p:nvSpPr>
        <p:spPr>
          <a:xfrm xmlns:a="http://schemas.openxmlformats.org/drawingml/2006/main">
            <a:off x="3263900" y="3721100"/>
            <a:ext cx="27838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Value 1 1">
            <a:extLst xmlns:a="http://schemas.openxmlformats.org/drawingml/2006/main">
              <a:ext uri="{FF2B5EF4-FFF2-40B4-BE49-F238E27FC236}">
                <a16:creationId xmlns:a16="http://schemas.microsoft.com/office/drawing/2014/main" id="{C2AD154B-6A28-84F2-FD3A-53898FEA8469}"/>
              </a:ext>
            </a:extLst>
          </p:cNvPr>
          <p:cNvSpPr>
            <a:spLocks xmlns:a="http://schemas.openxmlformats.org/drawingml/2006/main" noGrp="1"/>
          </p:cNvSpPr>
          <p:nvPr/>
        </p:nvSpPr>
        <p:spPr>
          <a:xfrm xmlns:a="http://schemas.openxmlformats.org/drawingml/2006/main">
            <a:off x="3618484" y="37084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0.16</a:t>
            </a:r>
          </a:p>
        </p:txBody>
      </p:sp>
      <p:sp>
        <p:nvSpPr>
          <p:cNvPr id="37" name="Year 1 2">
            <a:extLst xmlns:a="http://schemas.openxmlformats.org/drawingml/2006/main">
              <a:ext uri="{FF2B5EF4-FFF2-40B4-BE49-F238E27FC236}">
                <a16:creationId xmlns:a16="http://schemas.microsoft.com/office/drawing/2014/main" id="{ADCEAD1A-F95E-16BE-B8E7-E7150E877487}"/>
              </a:ext>
            </a:extLst>
          </p:cNvPr>
          <p:cNvSpPr>
            <a:spLocks xmlns:a="http://schemas.openxmlformats.org/drawingml/2006/main" noGrp="1"/>
          </p:cNvSpPr>
          <p:nvPr/>
        </p:nvSpPr>
        <p:spPr>
          <a:xfrm xmlns:a="http://schemas.openxmlformats.org/drawingml/2006/main">
            <a:off x="2552700" y="40132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38" name="Sector bar 1 2">
            <a:extLst xmlns:a="http://schemas.openxmlformats.org/drawingml/2006/main">
              <a:ext uri="{FF2B5EF4-FFF2-40B4-BE49-F238E27FC236}">
                <a16:creationId xmlns:a16="http://schemas.microsoft.com/office/drawing/2014/main" id="{7F8F2217-2E77-347C-505D-DBF279785080}"/>
              </a:ext>
            </a:extLst>
          </p:cNvPr>
          <p:cNvSpPr>
            <a:spLocks xmlns:a="http://schemas.openxmlformats.org/drawingml/2006/main" noGrp="1"/>
          </p:cNvSpPr>
          <p:nvPr/>
        </p:nvSpPr>
        <p:spPr>
          <a:xfrm xmlns:a="http://schemas.openxmlformats.org/drawingml/2006/main">
            <a:off x="3263900" y="4025900"/>
            <a:ext cx="287216"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Value 1 2">
            <a:extLst xmlns:a="http://schemas.openxmlformats.org/drawingml/2006/main">
              <a:ext uri="{FF2B5EF4-FFF2-40B4-BE49-F238E27FC236}">
                <a16:creationId xmlns:a16="http://schemas.microsoft.com/office/drawing/2014/main" id="{814FCAB5-F5DB-7991-9CED-5828A76BF304}"/>
              </a:ext>
            </a:extLst>
          </p:cNvPr>
          <p:cNvSpPr>
            <a:spLocks xmlns:a="http://schemas.openxmlformats.org/drawingml/2006/main" noGrp="1"/>
          </p:cNvSpPr>
          <p:nvPr/>
        </p:nvSpPr>
        <p:spPr>
          <a:xfrm xmlns:a="http://schemas.openxmlformats.org/drawingml/2006/main">
            <a:off x="3627316" y="40132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0.17</a:t>
            </a:r>
          </a:p>
        </p:txBody>
      </p:sp>
      <p:cxnSp>
        <p:nvCxnSpPr>
          <p:cNvPr id="243" name="Sector row rule 1"/>
          <p:cNvCxnSpPr/>
          <p:nvPr/>
        </p:nvCxnSpPr>
        <p:spPr>
          <a:xfrm xmlns:a="http://schemas.openxmlformats.org/drawingml/2006/main">
            <a:off x="457200" y="44323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1" name="Sector label 2">
            <a:extLst xmlns:a="http://schemas.openxmlformats.org/drawingml/2006/main">
              <a:ext uri="{FF2B5EF4-FFF2-40B4-BE49-F238E27FC236}">
                <a16:creationId xmlns:a16="http://schemas.microsoft.com/office/drawing/2014/main" id="{432BC058-6345-93A7-631D-3D57222DD209}"/>
              </a:ext>
            </a:extLst>
          </p:cNvPr>
          <p:cNvSpPr>
            <a:spLocks xmlns:a="http://schemas.openxmlformats.org/drawingml/2006/main" noGrp="1"/>
          </p:cNvSpPr>
          <p:nvPr/>
        </p:nvSpPr>
        <p:spPr>
          <a:xfrm xmlns:a="http://schemas.openxmlformats.org/drawingml/2006/main">
            <a:off x="457200" y="46735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Agriculture / forestry</a:t>
            </a:r>
          </a:p>
        </p:txBody>
      </p:sp>
      <p:sp>
        <p:nvSpPr>
          <p:cNvPr id="42" name="Sector interpretation 2">
            <a:extLst xmlns:a="http://schemas.openxmlformats.org/drawingml/2006/main">
              <a:ext uri="{FF2B5EF4-FFF2-40B4-BE49-F238E27FC236}">
                <a16:creationId xmlns:a16="http://schemas.microsoft.com/office/drawing/2014/main" id="{D9A929E7-20BF-D9F1-A9E4-59AD7B63F9DD}"/>
              </a:ext>
            </a:extLst>
          </p:cNvPr>
          <p:cNvSpPr>
            <a:spLocks xmlns:a="http://schemas.openxmlformats.org/drawingml/2006/main" noGrp="1"/>
          </p:cNvSpPr>
          <p:nvPr/>
        </p:nvSpPr>
        <p:spPr>
          <a:xfrm xmlns:a="http://schemas.openxmlformats.org/drawingml/2006/main">
            <a:off x="7480300" y="46862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2025 real GVA R134.8bn, 2015 prices. Weather, irrigation and transport affect fuel intensity.</a:t>
            </a:r>
            <a:endParaRPr sz="1250">
              <a:solidFill>
                <a:schemeClr val="dk1"/>
              </a:solidFill>
              <a:latin typeface="Lato"/>
              <a:ea typeface="Lato"/>
              <a:cs typeface="Lato"/>
            </a:endParaRPr>
          </a:p>
        </p:txBody>
      </p:sp>
      <p:cxnSp>
        <p:nvCxnSpPr>
          <p:cNvPr id="246" name="Zero axis 2"/>
          <p:cNvCxnSpPr/>
          <p:nvPr/>
        </p:nvCxnSpPr>
        <p:spPr>
          <a:xfrm xmlns:a="http://schemas.openxmlformats.org/drawingml/2006/main">
            <a:off x="3263900" y="46482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4" name="Year 2 0">
            <a:extLst xmlns:a="http://schemas.openxmlformats.org/drawingml/2006/main">
              <a:ext uri="{FF2B5EF4-FFF2-40B4-BE49-F238E27FC236}">
                <a16:creationId xmlns:a16="http://schemas.microsoft.com/office/drawing/2014/main" id="{9A46EBB9-80A4-EB24-BF84-58836D7A29C2}"/>
              </a:ext>
            </a:extLst>
          </p:cNvPr>
          <p:cNvSpPr>
            <a:spLocks xmlns:a="http://schemas.openxmlformats.org/drawingml/2006/main" noGrp="1"/>
          </p:cNvSpPr>
          <p:nvPr/>
        </p:nvSpPr>
        <p:spPr>
          <a:xfrm xmlns:a="http://schemas.openxmlformats.org/drawingml/2006/main">
            <a:off x="2552700" y="4660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45" name="Sector bar 2 0">
            <a:extLst xmlns:a="http://schemas.openxmlformats.org/drawingml/2006/main">
              <a:ext uri="{FF2B5EF4-FFF2-40B4-BE49-F238E27FC236}">
                <a16:creationId xmlns:a16="http://schemas.microsoft.com/office/drawing/2014/main" id="{A778E9EF-151C-CB12-5F7F-F2E63EF28409}"/>
              </a:ext>
            </a:extLst>
          </p:cNvPr>
          <p:cNvSpPr>
            <a:spLocks xmlns:a="http://schemas.openxmlformats.org/drawingml/2006/main" noGrp="1"/>
          </p:cNvSpPr>
          <p:nvPr/>
        </p:nvSpPr>
        <p:spPr>
          <a:xfrm xmlns:a="http://schemas.openxmlformats.org/drawingml/2006/main">
            <a:off x="3263900" y="4673600"/>
            <a:ext cx="1600708"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Value 2 0">
            <a:extLst xmlns:a="http://schemas.openxmlformats.org/drawingml/2006/main">
              <a:ext uri="{FF2B5EF4-FFF2-40B4-BE49-F238E27FC236}">
                <a16:creationId xmlns:a16="http://schemas.microsoft.com/office/drawing/2014/main" id="{C19BD180-4226-7FCB-5122-31F30A9F3DA0}"/>
              </a:ext>
            </a:extLst>
          </p:cNvPr>
          <p:cNvSpPr>
            <a:spLocks xmlns:a="http://schemas.openxmlformats.org/drawingml/2006/main" noGrp="1"/>
          </p:cNvSpPr>
          <p:nvPr/>
        </p:nvSpPr>
        <p:spPr>
          <a:xfrm xmlns:a="http://schemas.openxmlformats.org/drawingml/2006/main">
            <a:off x="4940808" y="4660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0.92</a:t>
            </a:r>
          </a:p>
        </p:txBody>
      </p:sp>
      <p:sp>
        <p:nvSpPr>
          <p:cNvPr id="47" name="Year 2 1">
            <a:extLst xmlns:a="http://schemas.openxmlformats.org/drawingml/2006/main">
              <a:ext uri="{FF2B5EF4-FFF2-40B4-BE49-F238E27FC236}">
                <a16:creationId xmlns:a16="http://schemas.microsoft.com/office/drawing/2014/main" id="{203F43BB-C4C4-EF5B-62D7-C983F44D5D80}"/>
              </a:ext>
            </a:extLst>
          </p:cNvPr>
          <p:cNvSpPr>
            <a:spLocks xmlns:a="http://schemas.openxmlformats.org/drawingml/2006/main" noGrp="1"/>
          </p:cNvSpPr>
          <p:nvPr/>
        </p:nvSpPr>
        <p:spPr>
          <a:xfrm xmlns:a="http://schemas.openxmlformats.org/drawingml/2006/main">
            <a:off x="2552700" y="49657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49" name="Sector bar 2 1">
            <a:extLst xmlns:a="http://schemas.openxmlformats.org/drawingml/2006/main">
              <a:ext uri="{FF2B5EF4-FFF2-40B4-BE49-F238E27FC236}">
                <a16:creationId xmlns:a16="http://schemas.microsoft.com/office/drawing/2014/main" id="{9A65D64C-A255-0484-9B4C-DB1D888CA75A}"/>
              </a:ext>
            </a:extLst>
          </p:cNvPr>
          <p:cNvSpPr>
            <a:spLocks xmlns:a="http://schemas.openxmlformats.org/drawingml/2006/main" noGrp="1"/>
          </p:cNvSpPr>
          <p:nvPr/>
        </p:nvSpPr>
        <p:spPr>
          <a:xfrm xmlns:a="http://schemas.openxmlformats.org/drawingml/2006/main">
            <a:off x="3263900" y="4978400"/>
            <a:ext cx="184429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Value 2 1">
            <a:extLst xmlns:a="http://schemas.openxmlformats.org/drawingml/2006/main">
              <a:ext uri="{FF2B5EF4-FFF2-40B4-BE49-F238E27FC236}">
                <a16:creationId xmlns:a16="http://schemas.microsoft.com/office/drawing/2014/main" id="{2639BBAA-BF87-EB2E-3B26-AD87F77D4799}"/>
              </a:ext>
            </a:extLst>
          </p:cNvPr>
          <p:cNvSpPr>
            <a:spLocks xmlns:a="http://schemas.openxmlformats.org/drawingml/2006/main" noGrp="1"/>
          </p:cNvSpPr>
          <p:nvPr/>
        </p:nvSpPr>
        <p:spPr>
          <a:xfrm xmlns:a="http://schemas.openxmlformats.org/drawingml/2006/main">
            <a:off x="5184394" y="49657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1.06</a:t>
            </a:r>
          </a:p>
        </p:txBody>
      </p:sp>
      <p:sp>
        <p:nvSpPr>
          <p:cNvPr id="51" name="Year 2 2">
            <a:extLst xmlns:a="http://schemas.openxmlformats.org/drawingml/2006/main">
              <a:ext uri="{FF2B5EF4-FFF2-40B4-BE49-F238E27FC236}">
                <a16:creationId xmlns:a16="http://schemas.microsoft.com/office/drawing/2014/main" id="{64995438-4D77-DCFE-8013-D3F2C856DF1C}"/>
              </a:ext>
            </a:extLst>
          </p:cNvPr>
          <p:cNvSpPr>
            <a:spLocks xmlns:a="http://schemas.openxmlformats.org/drawingml/2006/main" noGrp="1"/>
          </p:cNvSpPr>
          <p:nvPr/>
        </p:nvSpPr>
        <p:spPr>
          <a:xfrm xmlns:a="http://schemas.openxmlformats.org/drawingml/2006/main">
            <a:off x="2552700" y="52705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52" name="Sector bar 2 2">
            <a:extLst xmlns:a="http://schemas.openxmlformats.org/drawingml/2006/main">
              <a:ext uri="{FF2B5EF4-FFF2-40B4-BE49-F238E27FC236}">
                <a16:creationId xmlns:a16="http://schemas.microsoft.com/office/drawing/2014/main" id="{15ABB96F-19D1-4B54-F98E-900FC6B40019}"/>
              </a:ext>
            </a:extLst>
          </p:cNvPr>
          <p:cNvSpPr>
            <a:spLocks xmlns:a="http://schemas.openxmlformats.org/drawingml/2006/main" noGrp="1"/>
          </p:cNvSpPr>
          <p:nvPr/>
        </p:nvSpPr>
        <p:spPr>
          <a:xfrm xmlns:a="http://schemas.openxmlformats.org/drawingml/2006/main">
            <a:off x="3263900" y="5283200"/>
            <a:ext cx="1968218"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Value 2 2">
            <a:extLst xmlns:a="http://schemas.openxmlformats.org/drawingml/2006/main">
              <a:ext uri="{FF2B5EF4-FFF2-40B4-BE49-F238E27FC236}">
                <a16:creationId xmlns:a16="http://schemas.microsoft.com/office/drawing/2014/main" id="{85D836A3-6D30-F8E0-F284-6B823EE75E71}"/>
              </a:ext>
            </a:extLst>
          </p:cNvPr>
          <p:cNvSpPr>
            <a:spLocks xmlns:a="http://schemas.openxmlformats.org/drawingml/2006/main" noGrp="1"/>
          </p:cNvSpPr>
          <p:nvPr/>
        </p:nvSpPr>
        <p:spPr>
          <a:xfrm xmlns:a="http://schemas.openxmlformats.org/drawingml/2006/main">
            <a:off x="5308318" y="52705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1.13</a:t>
            </a:r>
          </a:p>
        </p:txBody>
      </p:sp>
      <p:cxnSp>
        <p:nvCxnSpPr>
          <p:cNvPr id="256" name="Sector row rule 2"/>
          <p:cNvCxnSpPr/>
          <p:nvPr/>
        </p:nvCxnSpPr>
        <p:spPr>
          <a:xfrm xmlns:a="http://schemas.openxmlformats.org/drawingml/2006/main">
            <a:off x="457200" y="56896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5" name="Chart scale note">
            <a:extLst xmlns:a="http://schemas.openxmlformats.org/drawingml/2006/main">
              <a:ext uri="{FF2B5EF4-FFF2-40B4-BE49-F238E27FC236}">
                <a16:creationId xmlns:a16="http://schemas.microsoft.com/office/drawing/2014/main" id="{108C89DE-252D-F272-16FF-23DAE5529CC0}"/>
              </a:ext>
            </a:extLst>
          </p:cNvPr>
          <p:cNvSpPr>
            <a:spLocks xmlns:a="http://schemas.openxmlformats.org/drawingml/2006/main" noGrp="1"/>
          </p:cNvSpPr>
          <p:nvPr/>
        </p:nvSpPr>
        <p:spPr>
          <a:xfrm xmlns:a="http://schemas.openxmlformats.org/drawingml/2006/main">
            <a:off x="2552700" y="5740399"/>
            <a:ext cx="8382000" cy="203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00">
                <a:solidFill>
                  <a:schemeClr val="dk1"/>
                </a:solidFill>
                <a:latin typeface="Lato"/>
                <a:ea typeface="Lato"/>
                <a:cs typeface="Lato"/>
              </a:rPr>
              <a:t>Bars start at zero; all sectors use the same 0-2bn litre scale. Outlined bars are estimates.</a:t>
            </a:r>
            <a:endParaRPr sz="900">
              <a:solidFill>
                <a:schemeClr val="dk1"/>
              </a:solidFill>
              <a:latin typeface="Lato"/>
              <a:ea typeface="Lato"/>
              <a:cs typeface="Lato"/>
            </a:endParaRPr>
          </a:p>
        </p:txBody>
      </p:sp>
      <p:sp>
        <p:nvSpPr>
          <p:cNvPr id="56" name="Interpretation">
            <a:extLst xmlns:a="http://schemas.openxmlformats.org/drawingml/2006/main">
              <a:ext uri="{FF2B5EF4-FFF2-40B4-BE49-F238E27FC236}">
                <a16:creationId xmlns:a16="http://schemas.microsoft.com/office/drawing/2014/main" id="{13AC0CB5-A862-29E0-D32E-F0683B42E7CF}"/>
              </a:ext>
            </a:extLst>
          </p:cNvPr>
          <p:cNvSpPr>
            <a:spLocks xmlns:a="http://schemas.openxmlformats.org/drawingml/2006/main" noGrp="1"/>
          </p:cNvSpPr>
          <p:nvPr/>
        </p:nvSpPr>
        <p:spPr>
          <a:xfrm xmlns:a="http://schemas.openxmlformats.org/drawingml/2006/main">
            <a:off x="457200" y="5969000"/>
            <a:ext cx="106553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50">
                <a:solidFill>
                  <a:schemeClr val="dk1"/>
                </a:solidFill>
                <a:latin typeface="Lato"/>
                <a:ea typeface="Lato"/>
                <a:cs typeface="Lato"/>
              </a:rPr>
              <a:t>2025 estimates apply average 2018–2021 intensity to sector activity. They require reconciliation with road use and total diesel sales.</a:t>
            </a:r>
            <a:endParaRPr sz="950">
              <a:solidFill>
                <a:schemeClr val="dk1"/>
              </a:solidFill>
              <a:latin typeface="Lato"/>
              <a:ea typeface="Lato"/>
              <a:cs typeface="Lato"/>
            </a:endParaRPr>
          </a:p>
        </p:txBody>
      </p:sp>
      <p:graphicFrame xmlns:a="http://schemas.openxmlformats.org/drawingml/2006/main">
        <p:nvGraphicFramePr>
          <p:cNvPr id="5025"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263440836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AB03F0-AE1A-4C9B-BB07-014163B5941F}"/>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Rail recovery, EV adoption and combustion-vehicle efficiency could reduce transport fuel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3DC3C2-49F9-4B3B-90FA-25F28D0A84E8}"/>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26</a:t>
            </a:r>
            <a:endParaRPr sz="1100"/>
          </a:p>
        </p:txBody>
      </p:sp>
      <p:sp>
        <p:nvSpPr>
          <p:cNvPr id="8" name="Unified source footer">
            <a:extLst xmlns:a="http://schemas.openxmlformats.org/drawingml/2006/main">
              <a:ext uri="{FF2B5EF4-FFF2-40B4-BE49-F238E27FC236}">
                <a16:creationId xmlns:a16="http://schemas.microsoft.com/office/drawing/2014/main" id="{99B0A201-5477-4714-A143-4880B140D7E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freight; naamsa all-market sales 2019-2025, Workbook Vehicle history S31:S36. BEV/PHEV/HEV sales are distinct from fleet shares. Efficiency paths remain model assumptions, with OEM history and annual calibration open.</a:t>
            </a:r>
            <a:endParaRPr sz="650"/>
          </a:p>
        </p:txBody>
      </p:sp>
      <p:sp>
        <p:nvSpPr>
          <p:cNvPr id="48" name="Strictly Confidential footer">
            <a:extLst xmlns:a="http://schemas.openxmlformats.org/drawingml/2006/main">
              <a:ext uri="{FF2B5EF4-FFF2-40B4-BE49-F238E27FC236}">
                <a16:creationId xmlns:a16="http://schemas.microsoft.com/office/drawing/2014/main" id="{76B43FBB-F26F-41FD-A4FF-60A741BC470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1d215375dc2b451e"/>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1E4A0915-F513-C2B4-1FEC-0FAB08989DA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BEV sales were 0.18% of new sales. Manish reviewed the implemented EV/efficiency pair; hybrid savings and rail diversion still need explicit combination rules.</a:t>
            </a:r>
            <a:endParaRPr sz="1050">
              <a:solidFill>
                <a:schemeClr val="dk1"/>
              </a:solidFill>
              <a:latin typeface="Lato"/>
              <a:ea typeface="Lato"/>
              <a:cs typeface="Lato"/>
            </a:endParaRPr>
          </a:p>
        </p:txBody>
      </p:sp>
      <p:graphicFrame xmlns:a="http://schemas.openxmlformats.org/drawingml/2006/main">
        <p:nvGraphicFramePr>
          <p:cNvPr id="5026"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3372240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4020F9-64DE-43C9-BD6F-9E0E1CFC603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could expand the supply footprint, while Natref unavailability would reduce it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DD1AEE1-18E3-4337-8F78-950A54E83FF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27</a:t>
            </a:r>
            <a:endParaRPr sz="1100"/>
          </a:p>
        </p:txBody>
      </p:sp>
      <p:sp>
        <p:nvSpPr>
          <p:cNvPr id="8" name="Unified source footer">
            <a:extLst xmlns:a="http://schemas.openxmlformats.org/drawingml/2006/main">
              <a:ext uri="{FF2B5EF4-FFF2-40B4-BE49-F238E27FC236}">
                <a16:creationId xmlns:a16="http://schemas.microsoft.com/office/drawing/2014/main" id="{2A7FBDCA-7921-4452-9EAF-45DAEA0888F2}"/>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a:extLst xmlns:a="http://schemas.openxmlformats.org/drawingml/2006/main">
              <a:ext uri="{FF2B5EF4-FFF2-40B4-BE49-F238E27FC236}">
                <a16:creationId xmlns:a16="http://schemas.microsoft.com/office/drawing/2014/main" id="{FBA1E938-C0FF-4EF5-B072-4257F8E7306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5" name="Interpretation">
            <a:extLst xmlns:a="http://schemas.openxmlformats.org/drawingml/2006/main">
              <a:ext uri="{FF2B5EF4-FFF2-40B4-BE49-F238E27FC236}">
                <a16:creationId xmlns:a16="http://schemas.microsoft.com/office/drawing/2014/main" id="{9CC2AEFF-6D66-1976-385C-0512507A5D4D}"/>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SAPREF’s import-terminal phase can compete before any refinery restart. Natref availability and Secunda output also matter; these capacity cases are not product forecasts.</a:t>
            </a:r>
            <a:endParaRPr sz="1200">
              <a:solidFill>
                <a:schemeClr val="dk1"/>
              </a:solidFill>
              <a:latin typeface="Lato"/>
              <a:ea typeface="Lato"/>
              <a:cs typeface="Lato"/>
            </a:endParaRPr>
          </a:p>
        </p:txBody>
      </p:sp>
      <p:pic>
        <p:nvPicPr>
          <p:cNvPr id="55" name="Evidence chart"/>
          <p:cNvPicPr>
            <a:picLocks xmlns:a="http://schemas.openxmlformats.org/drawingml/2006/main" noChangeAspect="1"/>
          </p:cNvPicPr>
          <p:nvPr/>
        </p:nvPicPr>
        <p:blipFill>
          <a:blip xmlns:r="http://schemas.openxmlformats.org/officeDocument/2006/relationships" xmlns:a="http://schemas.openxmlformats.org/drawingml/2006/main" r:embed="Rf9f58bb2fa124376"/>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063231E6-9BEF-65A8-610E-23EDEA876B26}"/>
              </a:ext>
            </a:extLst>
          </p:cNvPr>
          <p:cNvSpPr>
            <a:spLocks xmlns:a="http://schemas.openxmlformats.org/drawingml/2006/main" noGrp="1"/>
          </p:cNvSpPr>
          <p:nvPr/>
        </p:nvSpPr>
        <p:spPr>
          <a:xfrm xmlns:a="http://schemas.openxmlformats.org/drawingml/2006/main">
            <a:off x="457200" y="1625600"/>
            <a:ext cx="38411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Reported history</a:t>
            </a:r>
          </a:p>
        </p:txBody>
      </p:sp>
      <p:sp>
        <p:nvSpPr>
          <p:cNvPr id="16" name="Aligned panel subtitle">
            <a:extLst xmlns:a="http://schemas.openxmlformats.org/drawingml/2006/main">
              <a:ext uri="{FF2B5EF4-FFF2-40B4-BE49-F238E27FC236}">
                <a16:creationId xmlns:a16="http://schemas.microsoft.com/office/drawing/2014/main" id="{FAEA5F44-DACF-B58C-7B4A-AD9753A18B4D}"/>
              </a:ext>
            </a:extLst>
          </p:cNvPr>
          <p:cNvSpPr>
            <a:spLocks xmlns:a="http://schemas.openxmlformats.org/drawingml/2006/main" noGrp="1"/>
          </p:cNvSpPr>
          <p:nvPr/>
        </p:nvSpPr>
        <p:spPr>
          <a:xfrm xmlns:a="http://schemas.openxmlformats.org/drawingml/2006/main">
            <a:off x="4577773" y="1625600"/>
            <a:ext cx="6532187"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Illustrative 2036 capacity cases</a:t>
            </a:r>
          </a:p>
        </p:txBody>
      </p:sp>
      <p:sp>
        <p:nvSpPr>
          <p:cNvPr id="13" name="Content margin panel rule">
            <a:extLst xmlns:a="http://schemas.openxmlformats.org/drawingml/2006/main">
              <a:ext uri="{FF2B5EF4-FFF2-40B4-BE49-F238E27FC236}">
                <a16:creationId xmlns:a16="http://schemas.microsoft.com/office/drawing/2014/main" id="{B0416782-AD09-4E90-9F07-5072B873771A}"/>
              </a:ext>
            </a:extLst>
          </p:cNvPr>
          <p:cNvSpPr>
            <a:spLocks xmlns:a="http://schemas.openxmlformats.org/drawingml/2006/main" noGrp="1"/>
          </p:cNvSpPr>
          <p:nvPr/>
        </p:nvSpPr>
        <p:spPr>
          <a:xfrm xmlns:a="http://schemas.openxmlformats.org/drawingml/2006/main">
            <a:off x="4577773" y="1907308"/>
            <a:ext cx="6532187"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56523987-A6B3-4635-9E06-6A9A22F28E59}"/>
              </a:ext>
            </a:extLst>
          </p:cNvPr>
          <p:cNvSpPr>
            <a:spLocks xmlns:a="http://schemas.openxmlformats.org/drawingml/2006/main" noGrp="1"/>
          </p:cNvSpPr>
          <p:nvPr/>
        </p:nvSpPr>
        <p:spPr>
          <a:xfrm xmlns:a="http://schemas.openxmlformats.org/drawingml/2006/main">
            <a:off x="457200" y="1907308"/>
            <a:ext cx="38665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graphicFrame xmlns:a="http://schemas.openxmlformats.org/drawingml/2006/main">
        <p:nvGraphicFramePr>
          <p:cNvPr id="5027"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176755451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8A7A13-C275-4575-AE2B-934674DE7786}"/>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Resolve customer volume, working capacity and project economics first to determine the investment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3E144A1-5920-4F1F-9A2F-F2AA3F363D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28</a:t>
            </a:r>
            <a:endParaRPr sz="1100"/>
          </a:p>
        </p:txBody>
      </p:sp>
      <p:sp>
        <p:nvSpPr>
          <p:cNvPr id="8" name="Unified source footer">
            <a:extLst xmlns:a="http://schemas.openxmlformats.org/drawingml/2006/main">
              <a:ext uri="{FF2B5EF4-FFF2-40B4-BE49-F238E27FC236}">
                <a16:creationId xmlns:a16="http://schemas.microsoft.com/office/drawing/2014/main" id="{CF4D009C-8B12-404C-9C45-D356B246EAC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Public handback DR01/04/07/08 received and updated through 9 October. Client DR02/05/03/06 prepared; sending and receipt not recorded. Review workbook covers all nine requests, including separate DR09 EV adjacency.</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400050">
                <a:tc>
                  <a:txBody>
                    <a:bodyPr/>
                    <a:lstStyle/>
                    <a:p>
                      <a:pPr>
                        <a:spcAft>
                          <a:spcPts val="0"/>
                        </a:spcAft>
                        <a:buNone/>
                      </a:pPr>
                      <a:r>
                        <a:rPr sz="1200" b="1" u="none">
                          <a:solidFill>
                            <a:schemeClr val="dk1"/>
                          </a:solidFill>
                          <a:latin typeface="Lato"/>
                          <a:ea typeface="Lato"/>
                          <a:cs typeface="Lato"/>
                        </a:rPr>
                        <a:t>Outstanding request / coordinator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Required data / handback</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Decision supported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DR01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sales, customs and energy balance to 2021. Open: stocks, product output after 2021 and comparable 2024–25 sales.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Reconciled current market scale.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DR04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entry, tariff and FY2025 MPP evidence. Open: customer access, route quotes and modal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Accessible Durban and Lesedi markets.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DR07/08 | Manish; Nigel/Henry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power, fleet, refinery and EV/efficiency review. Open: joint baseline and hybrid/rail rules.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Demand and domestic-output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DR02/05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36 months of site/product movements, shared transfers, destinations, customer commitments and contracts.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Actual market share and achievable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DR03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Working/committed tankage, turns, occupancy, downtime and receipt/dispatch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Operating headroom and bottlenecks.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DR06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Storage/handling terms, costs, capex, timing, tax, working capital and hurdle 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Incremental returns and investment scope.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73D8B24-C4C6-46FE-A9C3-B70C70F94B76}"/>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28"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333178180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3713D9-CCEB-4366-A32B-E0FE2E5D9CF4}"/>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The supporting evidence calibrates demand, supply and the terminal investment tests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493639C-19D5-4E45-AB5C-411EE4DE3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29</a:t>
            </a:r>
            <a:endParaRPr sz="1100"/>
          </a:p>
        </p:txBody>
      </p:sp>
      <p:sp>
        <p:nvSpPr>
          <p:cNvPr id="8" name="Unified source footer">
            <a:extLst xmlns:a="http://schemas.openxmlformats.org/drawingml/2006/main">
              <a:ext uri="{FF2B5EF4-FFF2-40B4-BE49-F238E27FC236}">
                <a16:creationId xmlns:a16="http://schemas.microsoft.com/office/drawing/2014/main" id="{19C69D44-84B2-492F-B8E5-0658047C972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The main story runs from the opening thesis to the investment tests. The added lever register and power/supply calibration pages record what remains to be populated.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 group</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Detail retained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Connection to the story</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Workbook sector history, vehicle stock/sales, diesel-use estimates, freight and power fleet.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Observed history and labelled estimates inform D1-D5; annual L/M/H paths still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Plant output, gas availability and restart timing</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S1–S4 create the three domestic-supply paths.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and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Routes, customer share, working tankage and turnover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T1–T5 translate each world into terminal flows and constraints.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Returns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Rates, costs, capex and funding; separate EV adjacency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F1 translates each investment option into cash flow and returns.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6B7584DD-7BCD-4C07-8789-00DA68B72B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29" name="brand-pptx section navigation">
            <a:extLst>
              <a:ext uri="{FF2B5EF4-FFF2-40B4-BE49-F238E27FC236}">
                <a16:creationId xmlns:a16="http://schemas.microsoft.com/office/drawing/2014/main" id="{E84A3441-E5C5-E6E9-435C-D2DCE47C1BB3}"/>
              </a:ext>
            </a:extLst>
          </p:cNvPr>
          <p:cNvGraphicFramePr/>
          <p:nvPr>
            <p:extLst>
              <p:ext uri="{D42A27DB-BD31-4B8C-83A1-F6EECF244321}">
                <p14:modId xmlns:p14="http://schemas.microsoft.com/office/powerpoint/2010/main" val="91527182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85548518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E8B0A2-A286-4D34-8BFF-7A5EF76F6DBA}"/>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Fuel demand has diverged from GDP, so sector activity and fuel intensity need separate treatment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CE3A5BC-4D8E-4ECC-9BCF-4128CC815B4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30</a:t>
            </a:r>
            <a:endParaRPr sz="1100"/>
          </a:p>
        </p:txBody>
      </p:sp>
      <p:sp>
        <p:nvSpPr>
          <p:cNvPr id="8" name="Unified source footer">
            <a:extLst xmlns:a="http://schemas.openxmlformats.org/drawingml/2006/main">
              <a:ext uri="{FF2B5EF4-FFF2-40B4-BE49-F238E27FC236}">
                <a16:creationId xmlns:a16="http://schemas.microsoft.com/office/drawing/2014/main" id="{3DC9376E-4BC8-4D50-B3C4-F93F79644BD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Staged GDP and department fuel sales, indices 2013=100. Sector attribution remains open; COVID distorts short-period comparisons.</a:t>
            </a:r>
            <a:endParaRPr sz="650"/>
          </a:p>
        </p:txBody>
      </p:sp>
      <p:sp>
        <p:nvSpPr>
          <p:cNvPr id="48" name="Strictly Confidential footer">
            <a:extLst xmlns:a="http://schemas.openxmlformats.org/drawingml/2006/main">
              <a:ext uri="{FF2B5EF4-FFF2-40B4-BE49-F238E27FC236}">
                <a16:creationId xmlns:a16="http://schemas.microsoft.com/office/drawing/2014/main" id="{34492F48-BEFC-4C07-97A4-B78E5FB0EFE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ee9c45d9c261431e"/>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CBB5D0FF-C724-A09C-3DDB-AA52E776886C}"/>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workbook separates mining/manufacturing indices and agricultural GVA from fuel intensity. Post-2021 sector litres are estimates; GDP alone cannot explain fuel demand.</a:t>
            </a:r>
            <a:endParaRPr sz="1050">
              <a:solidFill>
                <a:schemeClr val="dk1"/>
              </a:solidFill>
              <a:latin typeface="Lato"/>
              <a:ea typeface="Lato"/>
              <a:cs typeface="Lato"/>
            </a:endParaRPr>
          </a:p>
        </p:txBody>
      </p:sp>
      <p:graphicFrame xmlns:a="http://schemas.openxmlformats.org/drawingml/2006/main">
        <p:nvGraphicFramePr>
          <p:cNvPr id="5030"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137031875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BA7A89-2B33-4327-85DF-4A2CC8DD396E}"/>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Fixed investment has weakened while FDI fluctuates, limiting a simple growth-led fuel argument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3E51BAAD-99D0-4D27-B4EC-053D5BD15E2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31</a:t>
            </a:r>
            <a:endParaRPr sz="1100"/>
          </a:p>
        </p:txBody>
      </p:sp>
      <p:sp>
        <p:nvSpPr>
          <p:cNvPr id="8" name="Unified source footer">
            <a:extLst xmlns:a="http://schemas.openxmlformats.org/drawingml/2006/main">
              <a:ext uri="{FF2B5EF4-FFF2-40B4-BE49-F238E27FC236}">
                <a16:creationId xmlns:a16="http://schemas.microsoft.com/office/drawing/2014/main" id="{D296D4A1-EDD0-4438-880F-E2EFCD3BA822}"/>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World Bank WDI, FDI net inflows and gross fixed capital formation as % of GDP, 2010–2025. Confidence series remains an evidence gap.</a:t>
            </a:r>
            <a:endParaRPr sz="750"/>
          </a:p>
        </p:txBody>
      </p:sp>
      <p:sp>
        <p:nvSpPr>
          <p:cNvPr id="48" name="Strictly Confidential footer">
            <a:extLst xmlns:a="http://schemas.openxmlformats.org/drawingml/2006/main">
              <a:ext uri="{FF2B5EF4-FFF2-40B4-BE49-F238E27FC236}">
                <a16:creationId xmlns:a16="http://schemas.microsoft.com/office/drawing/2014/main" id="{08DA5E0E-477B-4ACC-A8C8-9FFC44650BD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7fee42ab32b8403d"/>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2D238C5F-E9FA-F924-D01B-7726C7D59700}"/>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Fixed investment helps frame productive capacity. FDI can include large transactions; neither series is a direct investor-confidence measure or an additional fuel-demand multiplier.</a:t>
            </a:r>
            <a:endParaRPr sz="1200">
              <a:solidFill>
                <a:schemeClr val="dk1"/>
              </a:solidFill>
              <a:latin typeface="Lato"/>
              <a:ea typeface="Lato"/>
              <a:cs typeface="Lato"/>
            </a:endParaRPr>
          </a:p>
        </p:txBody>
      </p:sp>
      <p:graphicFrame xmlns:a="http://schemas.openxmlformats.org/drawingml/2006/main">
        <p:nvGraphicFramePr>
          <p:cNvPr id="5031"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275091025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12F4BA-A417-42FC-A7A9-7E87C6657609}"/>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Mining, agriculture and aviation expose fuel demand to different activity drivers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8F75B90-1BC9-46FC-8BF7-6E62FE188F7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32</a:t>
            </a:r>
            <a:endParaRPr sz="1100"/>
          </a:p>
        </p:txBody>
      </p:sp>
      <p:sp>
        <p:nvSpPr>
          <p:cNvPr id="8" name="Unified source footer">
            <a:extLst xmlns:a="http://schemas.openxmlformats.org/drawingml/2006/main">
              <a:ext uri="{FF2B5EF4-FFF2-40B4-BE49-F238E27FC236}">
                <a16:creationId xmlns:a16="http://schemas.microsoft.com/office/drawing/2014/main" id="{C942CBF2-3C80-44B8-BF98-B0BCCAD3A6E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Sector history R7/R9/R17/R19/S23/S25 and History R117/R124/R125. Sector litres after 2021 are estimates; jet 2024 uses unverified FIASA. Index base 2019=100; GVA in 2015 prices.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Mining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 1.406bn L. Post-2021 fuel volumes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activity and intensity separately; balance intensity varies materially.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Manufacturing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industry-residual diesel estimate: 0.165bn L. Sector boundary needs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Industry less mining/construction. This is not a complete industrial diesel census.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Agriculture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real GVA R134.8bn (2015 prices); indicative diesel 1.13bn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Fuel estimate holds 2018-2021 intensity; crop and irrigation exposure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Aviation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2024 jet sales 1.96bn L; 456,214 ACSA movements; 4,285 L/movement.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FIASA sales unverified; movements omit non-ACSA airports. Fuel mix and routes are not separated.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B509058-07D7-4873-99C3-4CE1EDF4A63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32"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60078980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C1A94-EC5B-4D42-948E-2731836F100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Higher fuel prices strengthen EV running-cost incentives, but ownership economics determine uptake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0719496-603D-444A-84CD-8D0401968BA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33</a:t>
            </a:r>
            <a:endParaRPr sz="1100"/>
          </a:p>
        </p:txBody>
      </p:sp>
      <p:sp>
        <p:nvSpPr>
          <p:cNvPr id="8" name="Unified source footer">
            <a:extLst xmlns:a="http://schemas.openxmlformats.org/drawingml/2006/main">
              <a:ext uri="{FF2B5EF4-FFF2-40B4-BE49-F238E27FC236}">
                <a16:creationId xmlns:a16="http://schemas.microsoft.com/office/drawing/2014/main" id="{03001EB3-8847-4D13-AF09-D8935AFD40F6}"/>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Department fuel-price history, nominal R/litre. No quantified geopolitical premium or calibrated EV adoption response is asserted.</a:t>
            </a:r>
            <a:endParaRPr sz="750"/>
          </a:p>
        </p:txBody>
      </p:sp>
      <p:sp>
        <p:nvSpPr>
          <p:cNvPr id="48" name="Strictly Confidential footer">
            <a:extLst xmlns:a="http://schemas.openxmlformats.org/drawingml/2006/main">
              <a:ext uri="{FF2B5EF4-FFF2-40B4-BE49-F238E27FC236}">
                <a16:creationId xmlns:a16="http://schemas.microsoft.com/office/drawing/2014/main" id="{FDE1D42B-8B51-4EC4-B69C-4C556D2FBB9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674e536c95344e02"/>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7A02EA4D-EBA7-B1FD-2E26-F896DA08FFD5}"/>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Shipping disruption, crude prices and FX can move fuel costs temporarily. EV adoption depends on sustained total ownership cost, purchase affordability, charging access and fleet replacement.</a:t>
            </a:r>
            <a:endParaRPr sz="1200">
              <a:solidFill>
                <a:schemeClr val="dk1"/>
              </a:solidFill>
              <a:latin typeface="Lato"/>
              <a:ea typeface="Lato"/>
              <a:cs typeface="Lato"/>
            </a:endParaRPr>
          </a:p>
        </p:txBody>
      </p:sp>
      <p:graphicFrame xmlns:a="http://schemas.openxmlformats.org/drawingml/2006/main">
        <p:nvGraphicFramePr>
          <p:cNvPr id="5033"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80832283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3A905C-66EC-4A2A-80AF-539DF8DC82D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New-vehicle efficiency gains affect fuel demand gradually as older vehicles leave the fleet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B18E2DA-7226-4325-BDB3-172930229DB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34</a:t>
            </a:r>
            <a:endParaRPr sz="1100"/>
          </a:p>
        </p:txBody>
      </p:sp>
      <p:sp>
        <p:nvSpPr>
          <p:cNvPr id="8" name="Unified source footer">
            <a:extLst xmlns:a="http://schemas.openxmlformats.org/drawingml/2006/main">
              <a:ext uri="{FF2B5EF4-FFF2-40B4-BE49-F238E27FC236}">
                <a16:creationId xmlns:a16="http://schemas.microsoft.com/office/drawing/2014/main" id="{7F810AF1-CB99-4711-B709-517B9F73F97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S6:S8/S24/S26. Apparent retirements are not verified scrappage. Stone et al. study uses a 2014 base; no recent OEM efficiency history or fuel-by-class stock is established.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Fleet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cars 8.18m; LCVs 2.78m; trucks 0.405m.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Registered stock shows scale; fuel within class and opening cohort age remain unknown.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Replacement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apparent retirement: cars 2.36%, LCVs 3.42%. Model settings: 4% and 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Stock plus sales less next stock is a diagnostic, including deregistration, exports and classification effects.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Efficiency / EVs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Study mileage/fuel-use benchmarks and separate BEV, PHEV and hybrid sales are available.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Implemented EV/efficiency pair reviewed. New-cohort efficiency applies to combustion vehicles. Avoid counting hybrid savings twice.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5609673-E9C0-40F4-A535-9E89A0857358}"/>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34"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18968566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BB612-43C0-4282-B573-24FFA0733EC9}"/>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Vehicle stock and sales expose fuel-demand calibration gaps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C151B4F-89BB-4641-84F8-A2811DD10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35</a:t>
            </a:r>
            <a:endParaRPr sz="1100"/>
          </a:p>
        </p:txBody>
      </p:sp>
      <p:sp>
        <p:nvSpPr>
          <p:cNvPr id="8" name="Unified source footer">
            <a:extLst xmlns:a="http://schemas.openxmlformats.org/drawingml/2006/main">
              <a:ext uri="{FF2B5EF4-FFF2-40B4-BE49-F238E27FC236}">
                <a16:creationId xmlns:a16="http://schemas.microsoft.com/office/drawing/2014/main" id="{B68787E9-80B1-4505-8D3F-F6D980B0114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S6:S8/S18:S20/S24/S26/S31:S36/Q52. NaTIS and naamsa classes are not identical. Apparent retirement is not verified scrappage; petrol diagnostic compares different scopes.</a:t>
            </a:r>
            <a:endParaRPr sz="650"/>
          </a:p>
        </p:txBody>
      </p:sp>
      <p:sp>
        <p:nvSpPr>
          <p:cNvPr id="48" name="Strictly Confidential footer">
            <a:extLst xmlns:a="http://schemas.openxmlformats.org/drawingml/2006/main">
              <a:ext uri="{FF2B5EF4-FFF2-40B4-BE49-F238E27FC236}">
                <a16:creationId xmlns:a16="http://schemas.microsoft.com/office/drawing/2014/main" id="{6C6CB18C-004A-4839-9134-3A6CEBE0E41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4" name="Native evidence table"/>
          <p:cNvGraphicFramePr/>
          <p:nvPr/>
        </p:nvGraphicFramePr>
        <p:xfrm>
          <a:off xmlns:a="http://schemas.openxmlformats.org/drawingml/2006/main" x="457199" y="1651000"/>
          <a:ext xmlns:a="http://schemas.openxmlformats.org/drawingml/2006/main" cx="10652760" cy="4165600"/>
        </p:xfrm>
        <a:graphic xmlns:a="http://schemas.openxmlformats.org/drawingml/2006/main">
          <a:graphicData uri="http://schemas.openxmlformats.org/drawingml/2006/table">
            <a:tbl>
              <a:tblPr firstRow="1" bandRow="1">
                <a:tableStyleId>{5C22544A-7EE6-4342-B048-85BDC9FD1C3A}</a:tableStyleId>
              </a:tblPr>
              <a:tblGrid>
                <a:gridCol w="1841500"/>
                <a:gridCol w="2984500"/>
                <a:gridCol w="1778000"/>
                <a:gridCol w="4048760"/>
              </a:tblGrid>
              <a:tr h="355600">
                <a:tc>
                  <a:txBody>
                    <a:bodyPr/>
                    <a:lstStyle/>
                    <a:p>
                      <a:pPr>
                        <a:spcAft>
                          <a:spcPts val="0"/>
                        </a:spcAft>
                        <a:buNone/>
                      </a:pPr>
                      <a:r>
                        <a:rPr sz="1200" b="1">
                          <a:solidFill>
                            <a:schemeClr val="dk1"/>
                          </a:solidFill>
                          <a:latin typeface="Lato"/>
                          <a:ea typeface="Lato"/>
                          <a:cs typeface="Lato"/>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762000">
                <a:tc>
                  <a:txBody>
                    <a:bodyPr/>
                    <a:lstStyle/>
                    <a:p>
                      <a:pPr>
                        <a:spcAft>
                          <a:spcPts val="0"/>
                        </a:spcAft>
                        <a:buNone/>
                      </a:pPr>
                      <a:r>
                        <a:rPr sz="1200" b="1">
                          <a:solidFill>
                            <a:schemeClr val="accent1"/>
                          </a:solidFill>
                          <a:latin typeface="Lato"/>
                          <a:ea typeface="Lato"/>
                          <a:cs typeface="Lato"/>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8.18m; LCVs 2.78m; trucks 0.405m.</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Age and fuel within class are missing; all-class fuel counts are available only for December 2023.</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70.7%; LCVs 24.1%; medium/heavy 5.2%.</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Observed class mix differs. Agree segmentation before adopting a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Derived from stock and new sales; includes classification changes, exports and deregistrations.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1,088; PHEV 2,810; conventional hybrid 12,818.</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Fuel/class splits and electric-LCV paths remain estimates. Sales shares do not establish fleet shares or hybrid fuel savings.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Passenger setting implies 1,615 L/year.</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Aggregate versus passenger scope differs. Investigate mileage and fuel-use calibration, not a direct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graphicFrame xmlns:a="http://schemas.openxmlformats.org/drawingml/2006/main">
        <p:nvGraphicFramePr>
          <p:cNvPr id="5035"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88549678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5DE78F-B351-4415-ABC8-9904E125200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Eskom’s own OCGT fuel use fell 40% in FY2025 as availability improved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2379130-E02F-4C5C-9FDF-CA4D582069B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36</a:t>
            </a:r>
            <a:endParaRPr sz="1100"/>
          </a:p>
        </p:txBody>
      </p:sp>
      <p:sp>
        <p:nvSpPr>
          <p:cNvPr id="8" name="Unified source footer">
            <a:extLst xmlns:a="http://schemas.openxmlformats.org/drawingml/2006/main">
              <a:ext uri="{FF2B5EF4-FFF2-40B4-BE49-F238E27FC236}">
                <a16:creationId xmlns:a16="http://schemas.microsoft.com/office/drawing/2014/main" id="{108E5F43-6476-4F1B-9F3B-32F89C2D194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FY March, own diesel + kerosene. Workbook combined generation includes IPPs and kerosene stations; multiplying it by 0.31 L/kWh is an estimate, not reported diesel burn. Private backup remains unmeasured.</a:t>
            </a:r>
            <a:endParaRPr sz="650"/>
          </a:p>
        </p:txBody>
      </p:sp>
      <p:sp>
        <p:nvSpPr>
          <p:cNvPr id="48" name="Strictly Confidential footer">
            <a:extLst xmlns:a="http://schemas.openxmlformats.org/drawingml/2006/main">
              <a:ext uri="{FF2B5EF4-FFF2-40B4-BE49-F238E27FC236}">
                <a16:creationId xmlns:a16="http://schemas.microsoft.com/office/drawing/2014/main" id="{CD8420AE-234B-4C9D-AE9F-8B8AB6FC1BD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b5ed946e70cd46fe"/>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AAC9EE7F-7B53-00E0-36C0-C40EF77100A3}"/>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Own-fleet fuel fell from 1,129.5 to 679.1m L. FY2025 Eskom plus estimated IPP fuel is ~0.89bn L; the model’s power/road split needs joint recalibration.</a:t>
            </a:r>
            <a:endParaRPr sz="1050">
              <a:solidFill>
                <a:schemeClr val="dk1"/>
              </a:solidFill>
              <a:latin typeface="Lato"/>
              <a:ea typeface="Lato"/>
              <a:cs typeface="Lato"/>
            </a:endParaRPr>
          </a:p>
        </p:txBody>
      </p:sp>
      <p:graphicFrame xmlns:a="http://schemas.openxmlformats.org/drawingml/2006/main">
        <p:nvGraphicFramePr>
          <p:cNvPr id="5036"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160024319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86F17E-0F6B-4789-B86D-8823ACECF81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Rail funding and reliable service determine how much road freight can return to rail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D68D24-4B97-49EF-8F49-508B520602C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37</a:t>
            </a:r>
            <a:endParaRPr sz="1100"/>
          </a:p>
        </p:txBody>
      </p:sp>
      <p:sp>
        <p:nvSpPr>
          <p:cNvPr id="8" name="Unified source footer">
            <a:extLst xmlns:a="http://schemas.openxmlformats.org/drawingml/2006/main">
              <a:ext uri="{FF2B5EF4-FFF2-40B4-BE49-F238E27FC236}">
                <a16:creationId xmlns:a16="http://schemas.microsoft.com/office/drawing/2014/main" id="{2A69EE83-2099-4200-8CD4-4525FA139FA9}"/>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User-supplied AIA Transnet Funding Brief, Sep 2026, pp1–2; cites FY2026 AFS and Network Statement v4 Annexure 17. Primary figures not independently reconciled.</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Network ambition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The supplied brief reports a 250 Mt target dependent on a funding plan.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Do not treat every additional rail tonne as road displacement. Commodity, corridor and origin matter.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Funding constraint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R46.34bn approved over five years, including R1.71bn expansion.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Maintenance and sustaining spend dominate. A published plan is insufficient evidence of delivered capacity.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Container corridor</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R2.11bn in 2026/27–2028/29; private funding expected thereafter.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Prioritise Durban–Gauteng road/rail competition and reconcile the corridor to Network Statement v4.</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Two fuel effects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Rail can displace truck diesel while improved infrastructure also changes fuel-distribution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Apply road-to-rail diversion once to eligible freight activity. Separately assess the route used to distribute fuel inland.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5B79B205-FB05-4D36-B8FF-93295187F1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37"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331304737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51EAB8-9634-4572-8ACC-7697A9F7E75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Gauteng demand establishes market scale, while Lesedi capture and turnover determine throughput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D5C80C3-6E0E-44EF-B3A9-19D3C8F066D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38</a:t>
            </a:r>
            <a:endParaRPr sz="1100"/>
          </a:p>
        </p:txBody>
      </p:sp>
      <p:sp>
        <p:nvSpPr>
          <p:cNvPr id="8" name="Unified source footer">
            <a:extLst xmlns:a="http://schemas.openxmlformats.org/drawingml/2006/main">
              <a:ext uri="{FF2B5EF4-FFF2-40B4-BE49-F238E27FC236}">
                <a16:creationId xmlns:a16="http://schemas.microsoft.com/office/drawing/2014/main" id="{E8A7884A-32B8-4756-BC25-3E20827318B0}"/>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provincial sales through 2022; workbook History Q84/Q104 and R84/R104 estimate later volumes. 2024 also uses unverified FIASA national sales. The chart retains observed 2013-2022 sales history, not current market share.</a:t>
            </a:r>
            <a:endParaRPr sz="650"/>
          </a:p>
        </p:txBody>
      </p:sp>
      <p:sp>
        <p:nvSpPr>
          <p:cNvPr id="48" name="Strictly Confidential footer">
            <a:extLst xmlns:a="http://schemas.openxmlformats.org/drawingml/2006/main">
              <a:ext uri="{FF2B5EF4-FFF2-40B4-BE49-F238E27FC236}">
                <a16:creationId xmlns:a16="http://schemas.microsoft.com/office/drawing/2014/main" id="{275234E6-ED48-48F0-B28E-85A6A7331E6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54" name="Evidence chart"/>
          <p:cNvPicPr>
            <a:picLocks xmlns:a="http://schemas.openxmlformats.org/drawingml/2006/main" noChangeAspect="1"/>
          </p:cNvPicPr>
          <p:nvPr/>
        </p:nvPicPr>
        <p:blipFill>
          <a:blip xmlns:r="http://schemas.openxmlformats.org/officeDocument/2006/relationships" xmlns:a="http://schemas.openxmlformats.org/drawingml/2006/main" r:embed="R5c871d4f86414bb8"/>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FB0F21B2-9907-8E03-22E4-3A4E235A20C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Gauteng sales were 6.81bn L in 2022; the six inland provinces totalled 11.95bn L. These are nested catchments, not low/high Lesedi market scenarios.</a:t>
            </a:r>
            <a:endParaRPr sz="1050">
              <a:solidFill>
                <a:schemeClr val="dk1"/>
              </a:solidFill>
              <a:latin typeface="Lato"/>
              <a:ea typeface="Lato"/>
              <a:cs typeface="Lato"/>
            </a:endParaRPr>
          </a:p>
        </p:txBody>
      </p:sp>
      <p:graphicFrame xmlns:a="http://schemas.openxmlformats.org/drawingml/2006/main">
        <p:nvGraphicFramePr>
          <p:cNvPr id="5038" name="brand-pptx section navigation">
            <a:extLst>
              <a:ext uri="{FF2B5EF4-FFF2-40B4-BE49-F238E27FC236}">
                <a16:creationId xmlns:a16="http://schemas.microsoft.com/office/drawing/2014/main" id="{133427AA-694D-2ABA-230A-11F327597956}"/>
              </a:ext>
            </a:extLst>
          </p:cNvPr>
          <p:cNvGraphicFramePr/>
          <p:nvPr>
            <p:extLst>
              <p:ext uri="{D42A27DB-BD31-4B8C-83A1-F6EECF244321}">
                <p14:modId xmlns:p14="http://schemas.microsoft.com/office/powerpoint/2010/main" val="2240384756"/>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4" r:lo="rIdSmartArt5" r:qs="rIdSmartArt6" r:cs="rIdSmartArt7"/>
          </a:graphicData>
        </a:graphic>
      </p:graphicFrame>
    </p:spTree>
    <p:extLst>
      <p:ext uri="{BB962C8B-B14F-4D97-AF65-F5344CB8AC3E}">
        <p14:creationId xmlns:p14="http://schemas.microsoft.com/office/powerpoint/2010/main" val="361664632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1B7AA6-3C14-4177-A829-5A002B58A922}"/>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Every market world passes through explicit demand, supply, capture and operating levers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EB81A9-F07F-421C-B449-108D2EEE908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39</a:t>
            </a:r>
            <a:endParaRPr sz="1100"/>
          </a:p>
        </p:txBody>
      </p:sp>
      <p:sp>
        <p:nvSpPr>
          <p:cNvPr id="8" name="Unified source footer">
            <a:extLst xmlns:a="http://schemas.openxmlformats.org/drawingml/2006/main">
              <a:ext uri="{FF2B5EF4-FFF2-40B4-BE49-F238E27FC236}">
                <a16:creationId xmlns:a16="http://schemas.microsoft.com/office/drawing/2014/main" id="{F59C79DE-4058-472C-8092-0550AB445375}"/>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HML response has 29 levers. Examples: BEV adoption, rail diversion, mileage, prices, hybrids, truck/LCV electrification and neighbouring exports. All replacement ranges remain proposals; no forecast inputs are adopted in this pack.</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Lever IDs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Inputs to calibrate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Output / remaining 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D1–D5 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D1 sector growth; D2 rail; D3 EV adoption; D4 efficiency; D5 power.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EV/efficiency pair reviewed. Hybrid, freight/rail and baseline combination rules remain open. Proposed annual paths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S1–S4 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 SAPREF; S2 Secunda gas/MRG; S3 Natref; S4 PetroSA.</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Output, yields and feedstock dependencies remain open. Reconcile proposed capacity, utilisation and gas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T1–T2 capture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 delivered route economics/access; T2 customer/product/destination capture.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Allocate domestic and imported fuel to unique terminal deliveries. Tariffs, rights and commercial allocation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T3–T5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T3 eligible working tankage; T4 turnover; T5 receipt/dispatch, peaks and stock policy.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Working-tank sensitivity uses Durban 146,000 and Lesedi 124,000 m³, both partly estimated. Validate turns, peaks and route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F1 finance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Storage/handling terms, costs, capex, tax, working capital and hurdle rate.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Translate constrained throughput into cash flow, NPV, IRR and investment triggers. Commercial inputs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AC93260-662B-499F-94A1-D60DC2B8C41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39"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792652048"/>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6427D-4BB2-4CAD-AFAC-3FDC7523D70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Generation timing must close the power balance before residual diesel can be forecast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CF83A97E-51D7-4A7C-8CF8-00F35C37742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40</a:t>
            </a:r>
            <a:endParaRPr sz="1100"/>
          </a:p>
        </p:txBody>
      </p:sp>
      <p:sp>
        <p:nvSpPr>
          <p:cNvPr id="8" name="Unified source footer">
            <a:extLst xmlns:a="http://schemas.openxmlformats.org/drawingml/2006/main">
              <a:ext uri="{FF2B5EF4-FFF2-40B4-BE49-F238E27FC236}">
                <a16:creationId xmlns:a16="http://schemas.microsoft.com/office/drawing/2014/main" id="{BC55EAEB-EA76-4649-B7CD-69F7918CE0A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F11:S15 and N63:N65; proposed scenarios, not forecasts. Generation includes kerosene. IPP renewal, gas availability and coal-site repowering are not established. Historical burn must match scope and period.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Time series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 /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Evidence status and next use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Recovery history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Own Eskom fuel/EAF and Eskom/IPP GWh are assembled; generation-based litres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Align FY/calendar scope. Reconcile the model’s 3.58bn L power estimate with reported/estimated fuel and other demand uses.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Fleet and retirements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Four diesel stations: 3,089 MW. Avon/Dedisa PPA endings and coal retirement dates are assembled.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Contract end is not confirmed shutdown. Siting, renewal and actual coal decisions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Replacement / gas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Ankerlig/Gourikwa gas switch and coal-site turbines are case dependencies, not committed outcomes.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Engine includes 3,000MW of notional plants. Treat these separately from the four existing stations and proposed coal-site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Proposed L/M/H cases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2030 power diesel: 86 / 637 / 4,224m L in the workbook scenarios.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Nigel/Henry review D22: conversion rate, backup share, load factors, repowering location and gas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0E11C88A-BD5F-4917-9B21-B7EE2F303E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0"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9282223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DBAAD0-C6F7-4B47-B559-096F6E9C48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The diesel fleet and replacement timing define the power-demand cases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08541C-1BC2-496C-A20C-9C851E00B07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41</a:t>
            </a:r>
            <a:endParaRPr sz="1100"/>
          </a:p>
        </p:txBody>
      </p:sp>
      <p:sp>
        <p:nvSpPr>
          <p:cNvPr id="8" name="Unified source footer">
            <a:extLst xmlns:a="http://schemas.openxmlformats.org/drawingml/2006/main">
              <a:ext uri="{FF2B5EF4-FFF2-40B4-BE49-F238E27FC236}">
                <a16:creationId xmlns:a16="http://schemas.microsoft.com/office/drawing/2014/main" id="{D6A154D6-B0D0-4D16-8B29-31E62CD38A3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F11:F15, N63:N65 and S63:S65. Proposed cases, Nigel/Henry review D22. 0.31 L/kWh, backup fraction, load factors, gas supply and coal-site repowering need review. Kerosene stations and private backup are separate.</a:t>
            </a:r>
            <a:endParaRPr sz="650"/>
          </a:p>
        </p:txBody>
      </p:sp>
      <p:sp>
        <p:nvSpPr>
          <p:cNvPr id="48" name="Strictly Confidential footer">
            <a:extLst xmlns:a="http://schemas.openxmlformats.org/drawingml/2006/main">
              <a:ext uri="{FF2B5EF4-FFF2-40B4-BE49-F238E27FC236}">
                <a16:creationId xmlns:a16="http://schemas.microsoft.com/office/drawing/2014/main" id="{7C153E1F-B2D2-4962-BB17-6CDA6AD0CF9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 name="Fleet heading">
            <a:extLst xmlns:a="http://schemas.openxmlformats.org/drawingml/2006/main">
              <a:ext uri="{FF2B5EF4-FFF2-40B4-BE49-F238E27FC236}">
                <a16:creationId xmlns:a16="http://schemas.microsoft.com/office/drawing/2014/main" id="{26C66294-3AFA-17AD-1DD9-AE345133A1E2}"/>
              </a:ext>
            </a:extLst>
          </p:cNvPr>
          <p:cNvSpPr>
            <a:spLocks xmlns:a="http://schemas.openxmlformats.org/drawingml/2006/main" noGrp="1"/>
          </p:cNvSpPr>
          <p:nvPr/>
        </p:nvSpPr>
        <p:spPr>
          <a:xfrm xmlns:a="http://schemas.openxmlformats.org/drawingml/2006/main">
            <a:off x="457200" y="1600200"/>
            <a:ext cx="55118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OPERATING DIESEL FLEET: 3,089 MW</a:t>
            </a:r>
          </a:p>
        </p:txBody>
      </p:sp>
      <p:graphicFrame>
        <p:nvGraphicFramePr>
          <p:cNvPr id="56" name="Operating fleet table"/>
          <p:cNvGraphicFramePr/>
          <p:nvPr/>
        </p:nvGraphicFramePr>
        <p:xfrm>
          <a:off xmlns:a="http://schemas.openxmlformats.org/drawingml/2006/main" x="457200" y="1879600"/>
          <a:ext xmlns:a="http://schemas.openxmlformats.org/drawingml/2006/main" cx="5461000" cy="1739900"/>
        </p:xfrm>
        <a:graphic xmlns:a="http://schemas.openxmlformats.org/drawingml/2006/main">
          <a:graphicData uri="http://schemas.openxmlformats.org/drawingml/2006/table">
            <a:tbl>
              <a:tblPr firstRow="1" bandRow="1">
                <a:tableStyleId>{5C22544A-7EE6-4342-B048-85BDC9FD1C3A}</a:tableStyleId>
              </a:tblPr>
              <a:tblGrid>
                <a:gridCol w="2413000"/>
                <a:gridCol w="1206500"/>
                <a:gridCol w="1841500"/>
              </a:tblGrid>
              <a:tr h="317500">
                <a:tc>
                  <a:txBody>
                    <a:bodyPr/>
                    <a:lstStyle/>
                    <a:p>
                      <a:pPr>
                        <a:spcAft>
                          <a:spcPts val="0"/>
                        </a:spcAft>
                        <a:buNone/>
                      </a:pPr>
                      <a:r>
                        <a:rPr sz="1200" b="1">
                          <a:solidFill>
                            <a:schemeClr val="dk1"/>
                          </a:solidFill>
                          <a:latin typeface="Lato"/>
                          <a:ea typeface="Lato"/>
                          <a:cs typeface="Lato"/>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355600">
                <a:tc>
                  <a:txBody>
                    <a:bodyPr/>
                    <a:lstStyle/>
                    <a:p>
                      <a:pPr>
                        <a:spcAft>
                          <a:spcPts val="0"/>
                        </a:spcAft>
                        <a:buNone/>
                      </a:pPr>
                      <a:r>
                        <a:rPr sz="1200" b="1">
                          <a:solidFill>
                            <a:schemeClr val="accent1"/>
                          </a:solidFill>
                          <a:latin typeface="Lato"/>
                          <a:ea typeface="Lato"/>
                          <a:cs typeface="Lato"/>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6" name="Timing heading">
            <a:extLst xmlns:a="http://schemas.openxmlformats.org/drawingml/2006/main">
              <a:ext uri="{FF2B5EF4-FFF2-40B4-BE49-F238E27FC236}">
                <a16:creationId xmlns:a16="http://schemas.microsoft.com/office/drawing/2014/main" id="{692D2DDD-4539-574B-52E7-2287D43EF72D}"/>
              </a:ext>
            </a:extLst>
          </p:cNvPr>
          <p:cNvSpPr>
            <a:spLocks xmlns:a="http://schemas.openxmlformats.org/drawingml/2006/main" noGrp="1"/>
          </p:cNvSpPr>
          <p:nvPr/>
        </p:nvSpPr>
        <p:spPr>
          <a:xfrm xmlns:a="http://schemas.openxmlformats.org/drawingml/2006/main">
            <a:off x="6311900" y="1600200"/>
            <a:ext cx="48006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TIMING AND DEPENDENCIES</a:t>
            </a:r>
          </a:p>
        </p:txBody>
      </p:sp>
      <p:sp>
        <p:nvSpPr>
          <p:cNvPr id="7" name="Timing conditions">
            <a:extLst xmlns:a="http://schemas.openxmlformats.org/drawingml/2006/main">
              <a:ext uri="{FF2B5EF4-FFF2-40B4-BE49-F238E27FC236}">
                <a16:creationId xmlns:a16="http://schemas.microsoft.com/office/drawing/2014/main" id="{8BA0247D-6497-AD08-227D-A2EDCBC502B4}"/>
              </a:ext>
            </a:extLst>
          </p:cNvPr>
          <p:cNvSpPr>
            <a:spLocks xmlns:a="http://schemas.openxmlformats.org/drawingml/2006/main" noGrp="1"/>
          </p:cNvSpPr>
          <p:nvPr/>
        </p:nvSpPr>
        <p:spPr>
          <a:xfrm xmlns:a="http://schemas.openxmlformats.org/drawingml/2006/main">
            <a:off x="6311900" y="1955800"/>
            <a:ext cx="4800600" cy="1333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300">
                <a:solidFill>
                  <a:schemeClr val="dk1"/>
                </a:solidFill>
                <a:latin typeface="Lato"/>
                <a:ea typeface="Lato"/>
                <a:cs typeface="Lato"/>
              </a:rPr>
              <a:t>Avon / Dedisa PPAs end in 2031 / 2030.
Five coal sites have exemptions to March 2030; final outcomes remain open.
Gas-switch and turbine locations are assumptions, not committed projects.</a:t>
            </a:r>
            <a:endParaRPr sz="1300">
              <a:solidFill>
                <a:schemeClr val="dk1"/>
              </a:solidFill>
              <a:latin typeface="Lato"/>
              <a:ea typeface="Lato"/>
              <a:cs typeface="Lato"/>
            </a:endParaRPr>
          </a:p>
        </p:txBody>
      </p:sp>
      <p:sp>
        <p:nvSpPr>
          <p:cNvPr id="13" name="Scenario heading">
            <a:extLst xmlns:a="http://schemas.openxmlformats.org/drawingml/2006/main">
              <a:ext uri="{FF2B5EF4-FFF2-40B4-BE49-F238E27FC236}">
                <a16:creationId xmlns:a16="http://schemas.microsoft.com/office/drawing/2014/main" id="{BDD1F9F5-2913-0C39-4F9C-A881D8297609}"/>
              </a:ext>
            </a:extLst>
          </p:cNvPr>
          <p:cNvSpPr>
            <a:spLocks xmlns:a="http://schemas.openxmlformats.org/drawingml/2006/main" noGrp="1"/>
          </p:cNvSpPr>
          <p:nvPr/>
        </p:nvSpPr>
        <p:spPr>
          <a:xfrm xmlns:a="http://schemas.openxmlformats.org/drawingml/2006/main">
            <a:off x="457200" y="3898900"/>
            <a:ext cx="10655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PROPOSED WORKBOOK CASES — NIGEL / HENRY REVIEW</a:t>
            </a:r>
            <a:endParaRPr sz="1200" b="1">
              <a:solidFill>
                <a:schemeClr val="accent1"/>
              </a:solidFill>
              <a:latin typeface="Lato"/>
              <a:ea typeface="Lato"/>
              <a:cs typeface="Lato"/>
            </a:endParaRPr>
          </a:p>
        </p:txBody>
      </p:sp>
      <p:graphicFrame>
        <p:nvGraphicFramePr>
          <p:cNvPr id="60" name="Proposed cases table"/>
          <p:cNvGraphicFramePr/>
          <p:nvPr/>
        </p:nvGraphicFramePr>
        <p:xfrm>
          <a:off xmlns:a="http://schemas.openxmlformats.org/drawingml/2006/main" x="457199" y="4203700"/>
          <a:ext xmlns:a="http://schemas.openxmlformats.org/drawingml/2006/main" cx="10652760" cy="1714500"/>
        </p:xfrm>
        <a:graphic xmlns:a="http://schemas.openxmlformats.org/drawingml/2006/main">
          <a:graphicData uri="http://schemas.openxmlformats.org/drawingml/2006/table">
            <a:tbl>
              <a:tblPr firstRow="1" bandRow="1">
                <a:tableStyleId>{5C22544A-7EE6-4342-B048-85BDC9FD1C3A}</a:tableStyleId>
              </a:tblPr>
              <a:tblGrid>
                <a:gridCol w="1968500"/>
                <a:gridCol w="1397000"/>
                <a:gridCol w="1397000"/>
                <a:gridCol w="5890260"/>
              </a:tblGrid>
              <a:tr h="317500">
                <a:tc>
                  <a:txBody>
                    <a:bodyPr/>
                    <a:lstStyle/>
                    <a:p>
                      <a:pPr>
                        <a:spcAft>
                          <a:spcPts val="0"/>
                        </a:spcAft>
                        <a:buNone/>
                      </a:pPr>
                      <a:r>
                        <a:rPr sz="1200" b="1">
                          <a:solidFill>
                            <a:schemeClr val="dk1"/>
                          </a:solidFill>
                          <a:latin typeface="Lato"/>
                          <a:ea typeface="Lato"/>
                          <a:cs typeface="Lato"/>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465667">
                <a:tc>
                  <a:txBody>
                    <a:bodyPr/>
                    <a:lstStyle/>
                    <a:p>
                      <a:pPr>
                        <a:spcAft>
                          <a:spcPts val="0"/>
                        </a:spcAft>
                        <a:buNone/>
                      </a:pPr>
                      <a:r>
                        <a:rPr sz="1200" b="1">
                          <a:solidFill>
                            <a:schemeClr val="accent1"/>
                          </a:solidFill>
                          <a:latin typeface="Lato"/>
                          <a:ea typeface="Lato"/>
                          <a:cs typeface="Lato"/>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Gas switch; PPAs end; no coal-site turbines.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 GW at coal sites; gas available; diesel backup.</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 GW at coal sites; no gas; diesel peakers.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15" name="Case qualification">
            <a:extLst xmlns:a="http://schemas.openxmlformats.org/drawingml/2006/main">
              <a:ext uri="{FF2B5EF4-FFF2-40B4-BE49-F238E27FC236}">
                <a16:creationId xmlns:a16="http://schemas.microsoft.com/office/drawing/2014/main" id="{BBB424CB-1400-A003-0615-24B690A56902}"/>
              </a:ext>
            </a:extLst>
          </p:cNvPr>
          <p:cNvSpPr>
            <a:spLocks xmlns:a="http://schemas.openxmlformats.org/drawingml/2006/main" noGrp="1"/>
          </p:cNvSpPr>
          <p:nvPr/>
        </p:nvSpPr>
        <p:spPr>
          <a:xfrm xmlns:a="http://schemas.openxmlformats.org/drawingml/2006/main">
            <a:off x="495300" y="5994399"/>
            <a:ext cx="10541000" cy="1524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900">
                <a:solidFill>
                  <a:schemeClr val="dk1"/>
                </a:solidFill>
                <a:latin typeface="Lato"/>
                <a:ea typeface="Lato"/>
                <a:cs typeface="Lato"/>
              </a:rPr>
              <a:t>The engine also contains 3,000MW of notional capacity. Reconcile it with these cases and historical power/road use before adopting a forecast.</a:t>
            </a:r>
            <a:endParaRPr sz="900">
              <a:solidFill>
                <a:schemeClr val="dk1"/>
              </a:solidFill>
              <a:latin typeface="Lato"/>
              <a:ea typeface="Lato"/>
              <a:cs typeface="Lato"/>
            </a:endParaRPr>
          </a:p>
        </p:txBody>
      </p:sp>
      <p:graphicFrame xmlns:a="http://schemas.openxmlformats.org/drawingml/2006/main">
        <p:nvGraphicFramePr>
          <p:cNvPr id="5041"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58684115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45AC4B-DCD7-4DBC-BBBD-20D077E3825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and Natref define capacity sensitivities; plant output must complete the supply paths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3E4527F-93AA-4D33-9BED-5A08A1474F9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42</a:t>
            </a:r>
            <a:endParaRPr sz="1100"/>
          </a:p>
        </p:txBody>
      </p:sp>
      <p:sp>
        <p:nvSpPr>
          <p:cNvPr id="8" name="Unified source footer">
            <a:extLst xmlns:a="http://schemas.openxmlformats.org/drawingml/2006/main">
              <a:ext uri="{FF2B5EF4-FFF2-40B4-BE49-F238E27FC236}">
                <a16:creationId xmlns:a16="http://schemas.microsoft.com/office/drawing/2014/main" id="{269A2F55-A3CC-4B61-821C-D47D774B73E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DR08 refinery evidence, updated 9 October; Sasol FY2026 metrics; Glencore/Astron evidence; CEF SAPREF roadmap. FY output, calendar capacity and product yields differ. Capacity sensitivities remain illustrative.</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Plant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Required time-series inputs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Scenario treatment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S1 SAPREF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capacity illustration adds 400 kbpd from assumed 2033 availability.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plans an import-terminal phase before refining. No committed refinery restart date or product slate is established.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S3 Natref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108 kbpd remains in Medium/High; excluded in the Low 2036 stress case.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Natref is separate from Secunda. FY2026 Sasol output uses co-owner capacity; do not scale by historic ownership mechanically.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S2 Secunda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All-refined-products output: 29.1m barrels FY2024, 27.6m FY2025 and 30.6m FY2026.</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June fiscal years; product mix differs. Gas/MRG affects liquid output; do not equate barrels with diesel litres.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Other plant inputs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Astron output evidence is available; its petrol/diesel 50/50 split is an assumption. PetroSA restart remains uncertain.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product yields and actual operator output. No PetroSA addition appears in the existing capacity illustration.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FE5D48F-D882-4304-AC76-6EA9A74A03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2"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59597525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BD88DA-CCC3-4D1A-A2E6-6EB0F38DCF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A matched demand snapshot is available, but the domestic supply balance still needs reconciliation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9C0B53E-8870-4B82-B017-3287DBBFCFD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43</a:t>
            </a:r>
            <a:endParaRPr sz="1100"/>
          </a:p>
        </p:txBody>
      </p:sp>
      <p:sp>
        <p:nvSpPr>
          <p:cNvPr id="8" name="Unified source footer">
            <a:extLst xmlns:a="http://schemas.openxmlformats.org/drawingml/2006/main">
              <a:ext uri="{FF2B5EF4-FFF2-40B4-BE49-F238E27FC236}">
                <a16:creationId xmlns:a16="http://schemas.microsoft.com/office/drawing/2014/main" id="{73B1843E-18F8-4CCB-8143-95E88A76C25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History Q59/Q64/R59/R64/S36:S40/R70. RAF-derived 24.42bn L is combined fuel, fiscal/accrual basis, not an adopted calendar sales total. Product output after 2021 and stocks remain missing; 2025 trade is not 2025 consumption.</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794000"/>
                <a:gridCol w="3929380"/>
                <a:gridCol w="3929380"/>
              </a:tblGrid>
              <a:tr h="355600">
                <a:tc>
                  <a:txBody>
                    <a:bodyPr/>
                    <a:lstStyle/>
                    <a:p>
                      <a:pPr>
                        <a:spcAft>
                          <a:spcPts val="0"/>
                        </a:spcAft>
                        <a:buNone/>
                      </a:pPr>
                      <a:r>
                        <a:rPr sz="1200" b="1" u="none">
                          <a:solidFill>
                            <a:schemeClr val="dk1"/>
                          </a:solidFill>
                          <a:latin typeface="Lato"/>
                          <a:ea typeface="Lato"/>
                          <a:cs typeface="Lato"/>
                        </a:rPr>
                        <a:t>Evidence / bn litres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Petrol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Diesel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2023 Department sales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9.04</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12.91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2024 FIASA sales, unverified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11.73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SARS imports / exports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4.45 / 0.80</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12.25 / 0.75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sales / product output</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RAF levy cross-check</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Combined levied volume 24.42bn L, year to March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Fiscal/accrual versus calendar sales. Reconcile coverage before interpreting the difference.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Decision consequence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2025 gross imports 16.70bn L; net 15.15bn L. Durban customs 13.16bn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Current import penetration cannot be calculated using 2023 sales. Post-2021 production and stocks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47A44DF-F4D5-46DD-936A-FC9F7FF699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3"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3699934972"/>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F80F7-5E95-4254-AADA-2529610CE858}"/>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six-step bridge is implemented for screening; calibration now depends on the requested inputs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C9FD287-0B0A-48C0-824D-9FC486A65C9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44</a:t>
            </a:r>
            <a:endParaRPr sz="1100"/>
          </a:p>
        </p:txBody>
      </p:sp>
      <p:sp>
        <p:nvSpPr>
          <p:cNvPr id="8" name="Unified source footer">
            <a:extLst xmlns:a="http://schemas.openxmlformats.org/drawingml/2006/main">
              <a:ext uri="{FF2B5EF4-FFF2-40B4-BE49-F238E27FC236}">
                <a16:creationId xmlns:a16="http://schemas.microsoft.com/office/drawing/2014/main" id="{1EFAD885-8982-429D-AB56-3670F5B2980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200" b="1" u="none">
                          <a:solidFill>
                            <a:schemeClr val="dk1"/>
                          </a:solidFill>
                          <a:latin typeface="Lato"/>
                          <a:ea typeface="Lato"/>
                          <a:cs typeface="Lato"/>
                        </a:rPr>
                        <a:t>Work package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Implemented now</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Input needed to complete the decision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1 | Baseline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Public handback received through 9 October. Review workbook maps all nine requests and source-level limitations.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Agree baseline year/source; reconcile production, stocks, scopes and fiscal/calendar periods.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2 | Route competition</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 cost and bearable-charge calculation; route readiness register.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Matched quotes, service capacity and access.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3 | Vopak 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Conditional Durban import-capture cases now quantified. Shared Lesedi transfers count once, see </a:t>
                      </a:r>
                      <a:r>
                        <a:rPr sz="1200" b="0" u="none">
                          <a:solidFill>
                            <a:schemeClr val="dk1"/>
                          </a:solidFill>
                          <a:latin typeface="Lato"/>
                          <a:ea typeface="Lato"/>
                          <a:cs typeface="Lato"/>
                        </a:rPr>
                        <a:t>p16</a:t>
                      </a:r>
                      <a:r>
                        <a:rPr sz="1200" b="0" u="none">
                          <a:solidFill>
                            <a:schemeClr val="dk1"/>
                          </a:solidFill>
                          <a:latin typeface="Lato"/>
                          <a:ea typeface="Lato"/>
                          <a:cs typeface="Lato"/>
                        </a:rPr>
                        <a: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Customer allocation and unique terminal deliveries.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4 | Existing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Required-turn and operating-bottleneck calculation; gross-turn screen.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 capacity, achievable turns and peak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5 | Investment options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Pre-tax break-even volume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Commercial inputs and full incremental cash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6 | Nine worlds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Nine-cell output register and demand/supply balance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EV/efficiency implementation review complete for the pair. Baseline, hybrid/rail interactions and annual paths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0AC7B3C-96B7-423B-8615-4ADEA24A194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4" name="brand-pptx section navigation">
            <a:extLst>
              <a:ext uri="{FF2B5EF4-FFF2-40B4-BE49-F238E27FC236}">
                <a16:creationId xmlns:a16="http://schemas.microsoft.com/office/drawing/2014/main" id="{3AA52B34-390B-33DC-F048-A5B1911E94CF}"/>
              </a:ext>
            </a:extLst>
          </p:cNvPr>
          <p:cNvGraphicFramePr/>
          <p:nvPr>
            <p:extLst>
              <p:ext uri="{D42A27DB-BD31-4B8C-83A1-F6EECF244321}">
                <p14:modId xmlns:p14="http://schemas.microsoft.com/office/powerpoint/2010/main" val="831402579"/>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398786143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B4585F-2FDB-4473-AD6F-DD26D7A681E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Demand, supply and corridor access translate into captured throughput and required tank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E59FE1-CC8C-42A3-A30F-3E84E3DB47F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45</a:t>
            </a:r>
            <a:endParaRPr sz="1100"/>
          </a:p>
        </p:txBody>
      </p:sp>
      <p:sp>
        <p:nvSpPr>
          <p:cNvPr id="8" name="Unified source footer">
            <a:extLst xmlns:a="http://schemas.openxmlformats.org/drawingml/2006/main">
              <a:ext uri="{FF2B5EF4-FFF2-40B4-BE49-F238E27FC236}">
                <a16:creationId xmlns:a16="http://schemas.microsoft.com/office/drawing/2014/main" id="{9F46A5CE-F125-4B5D-AD64-EA2486FAD9A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650"/>
          </a:p>
        </p:txBody>
      </p:sp>
      <p:graphicFrame>
        <p:nvGraphicFramePr>
          <p:cNvPr id="58"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355600">
                <a:tc>
                  <a:txBody>
                    <a:bodyPr/>
                    <a:lstStyle/>
                    <a:p>
                      <a:pPr>
                        <a:spcAft>
                          <a:spcPts val="0"/>
                        </a:spcAft>
                        <a:buNone/>
                      </a:pPr>
                      <a:r>
                        <a:rPr sz="1200" b="1" u="none">
                          <a:solidFill>
                            <a:schemeClr val="dk1"/>
                          </a:solidFill>
                          <a:latin typeface="Lato"/>
                          <a:ea typeface="Lato"/>
                          <a:cs typeface="Lato"/>
                        </a:rPr>
                        <a:t>Argument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Situation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Complication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Resolution / decision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Transport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2023 petrol/diesel sales total 21.94bn L; sector activity and fleet evidence explain different fuel exposures.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Sector growth, rail recovery, EVs and efficiency change fuel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D1–D4 define activity, rail, EV and efficiency paths. Translate them into capturable product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Power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Power shortages supported diesel use; Eskom consumption has recently fallen.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Recovery may persist or reverse through outages and replacement delays.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D5 adds fleet recovery, replacement timing and diesel dispatch to the same demand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Domestic
supply</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Reduced local production has increased reliance on imports.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SAPREF, Natref and Secunda can change domestic fuel output materially.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S1–S4 define plant output and sourcing mix. Imports are one consequence of the domestic balance.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Corridor
competition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connects imported fuel to inland customers.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Alternative gateways, delivered costs, reliability and access alter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T1–T2 compare delivered economics and capture for domestic and imported fuel serving common destinations.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Vopak
investment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and Lesedi provide connected assets whose throughput can rise through higher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Working tankage, receipt/dispatch, peaks and stock requirements constrain achievable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T3–T5 compare working capacity, required/achievable turns and dispatch limits. F1 tests incremental returns.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9CBC80E-6861-4DC2-B4DA-CB3014B71A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60"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62c86ef904b84d09"/>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1" name="Argument icon power"/>
          <p:cNvPicPr>
            <a:picLocks xmlns:a="http://schemas.openxmlformats.org/drawingml/2006/main" noChangeAspect="1"/>
          </p:cNvPicPr>
          <p:nvPr/>
        </p:nvPicPr>
        <p:blipFill>
          <a:blip xmlns:r="http://schemas.openxmlformats.org/officeDocument/2006/relationships" xmlns:a="http://schemas.openxmlformats.org/drawingml/2006/main" r:embed="Rfdf77b4465b643d0"/>
          <a:stretch xmlns:a="http://schemas.openxmlformats.org/drawingml/2006/main">
            <a:fillRect l="0" t="0" r="0" b="0"/>
          </a:stretch>
        </p:blipFill>
        <p:spPr>
          <a:xfrm xmlns:a="http://schemas.openxmlformats.org/drawingml/2006/main">
            <a:off x="508000" y="2938780"/>
            <a:ext cx="317500" cy="317500"/>
          </a:xfrm>
          <a:prstGeom xmlns:a="http://schemas.openxmlformats.org/drawingml/2006/main" prst="rect">
            <a:avLst/>
          </a:prstGeom>
        </p:spPr>
      </p:pic>
      <p:pic>
        <p:nvPicPr>
          <p:cNvPr id="62"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f9be2d2c5ec0481c"/>
          <a:stretch xmlns:a="http://schemas.openxmlformats.org/drawingml/2006/main">
            <a:fillRect l="0" t="0" r="0" b="0"/>
          </a:stretch>
        </p:blipFill>
        <p:spPr>
          <a:xfrm xmlns:a="http://schemas.openxmlformats.org/drawingml/2006/main">
            <a:off x="508000" y="3756660"/>
            <a:ext cx="317500" cy="317500"/>
          </a:xfrm>
          <a:prstGeom xmlns:a="http://schemas.openxmlformats.org/drawingml/2006/main" prst="rect">
            <a:avLst/>
          </a:prstGeom>
        </p:spPr>
      </p:pic>
      <p:pic>
        <p:nvPicPr>
          <p:cNvPr id="63"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60b53585f723418a"/>
          <a:stretch xmlns:a="http://schemas.openxmlformats.org/drawingml/2006/main">
            <a:fillRect l="0" t="0" r="0" b="0"/>
          </a:stretch>
        </p:blipFill>
        <p:spPr>
          <a:xfrm xmlns:a="http://schemas.openxmlformats.org/drawingml/2006/main">
            <a:off x="508000" y="4574540"/>
            <a:ext cx="317500" cy="317500"/>
          </a:xfrm>
          <a:prstGeom xmlns:a="http://schemas.openxmlformats.org/drawingml/2006/main" prst="rect">
            <a:avLst/>
          </a:prstGeom>
        </p:spPr>
      </p:pic>
      <p:pic>
        <p:nvPicPr>
          <p:cNvPr id="64"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c84829ea82b84af9"/>
          <a:stretch xmlns:a="http://schemas.openxmlformats.org/drawingml/2006/main">
            <a:fillRect l="0" t="0" r="0" b="0"/>
          </a:stretch>
        </p:blipFill>
        <p:spPr>
          <a:xfrm xmlns:a="http://schemas.openxmlformats.org/drawingml/2006/main">
            <a:off x="508000" y="5392420"/>
            <a:ext cx="317500" cy="317500"/>
          </a:xfrm>
          <a:prstGeom xmlns:a="http://schemas.openxmlformats.org/drawingml/2006/main" prst="rect">
            <a:avLst/>
          </a:prstGeom>
        </p:spPr>
      </p:pic>
      <p:graphicFrame xmlns:a="http://schemas.openxmlformats.org/drawingml/2006/main">
        <p:nvGraphicFramePr>
          <p:cNvPr id="5045"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8" r:lo="rIdSmartArt9" r:qs="rIdSmartArt10" r:cs="rIdSmartArt11"/>
          </a:graphicData>
        </a:graphic>
      </p:graphicFrame>
    </p:spTree>
    <p:extLst>
      <p:ext uri="{BB962C8B-B14F-4D97-AF65-F5344CB8AC3E}">
        <p14:creationId xmlns:p14="http://schemas.microsoft.com/office/powerpoint/2010/main" val="4159950910"/>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F1159C-464E-4FAD-B145-AC35FC2B43D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illustration gives extra tanks R58m more NPV than improvement alone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9D3B2F-37CA-45BE-BCC8-48F30464A1B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46</a:t>
            </a:r>
            <a:endParaRPr sz="1100"/>
          </a:p>
        </p:txBody>
      </p:sp>
      <p:sp>
        <p:nvSpPr>
          <p:cNvPr id="8" name="Unified source footer">
            <a:extLst xmlns:a="http://schemas.openxmlformats.org/drawingml/2006/main">
              <a:ext uri="{FF2B5EF4-FFF2-40B4-BE49-F238E27FC236}">
                <a16:creationId xmlns:a16="http://schemas.microsoft.com/office/drawing/2014/main" id="{22FE3AA1-35B2-4197-931D-902540352AE6}"/>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100% site basis, pre-tax at 10% for 20 years. Working tankage reduced from 126,000 to 124,000 m³. Model allocates more incremental contracted storage to added tanks, increasing assumed rent. This is model sensitivity, not new commercial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High demand / low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Capital and throughput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Incremental value versus existing</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Existing</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R0m capex
1.860bn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R+0.0m
Unserved 0.953bn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access / dispatch</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R100m capex
2.232bn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R+24.2m
Unserved 0.581bn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 add tanks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R600m capex
2.813bn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R+82.2m
Unserved 0.000bn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Decision threshold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beats existing above 2.181bn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Tanks beat improvement above 2.765bn L/year; assumed capture 2.813bn.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1084881-E89D-47F7-9A40-95AF37B76EC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6"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3437290842"/>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F67A96-9D75-4908-9D26-D932BE12AD7A}"/>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Vopak reports anchor capacity and the revenue model; they do not disclose Lesedi project economics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D2CCA37-A41E-4FAE-999A-329E85A20F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47</a:t>
            </a:r>
            <a:endParaRPr sz="1100"/>
          </a:p>
        </p:txBody>
      </p:sp>
      <p:sp>
        <p:nvSpPr>
          <p:cNvPr id="8" name="Unified source footer">
            <a:extLst xmlns:a="http://schemas.openxmlformats.org/drawingml/2006/main">
              <a:ext uri="{FF2B5EF4-FFF2-40B4-BE49-F238E27FC236}">
                <a16:creationId xmlns:a16="http://schemas.microsoft.com/office/drawing/2014/main" id="{87998E70-B65F-4A5D-A10E-E03A54B4B3F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Evidence class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the sources establish</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How it is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Lesedi: 140,000 m³; Durban: 360,246 m³. Vopak share: 70% at each site.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Full physical capacity for operations. The commissioned 40,000 m3 Lesedi expansion is included in 140,000 m3.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 services: EUR1,058.8m of EUR1,298.9m consolidated revenue in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81.5% is storage revenue. Rental may include minimum throughput; extra turns are not automatically extra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INFERRED | Group ratio</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EUR93.9 revenue / gross m³/year: proportional revenue divided by year-end proportional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Mixed-portfolio scale indicator only. Not a Lesedi tariff, margin or estimate of site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Benchmarks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15.6% group operating cash return; 5–7x capex/EBITDA for gas/industrial and 4–8x for transition infrastructure.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Context, not South Africa fuel-project hurdle rates. Authored 10% discount rate is separate.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2CE19C-09D0-4537-93F7-9C7ED84B7C7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7"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537164831"/>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E72D29-5858-42AE-B841-92C625304ED2}"/>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investment result rests on explicit assumptions that must be replaced or agreed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8A060AA-8E12-47A7-9C4A-16EB43F9F00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48</a:t>
            </a:r>
            <a:endParaRPr sz="1100"/>
          </a:p>
        </p:txBody>
      </p:sp>
      <p:sp>
        <p:nvSpPr>
          <p:cNvPr id="8" name="Unified source footer">
            <a:extLst xmlns:a="http://schemas.openxmlformats.org/drawingml/2006/main">
              <a:ext uri="{FF2B5EF4-FFF2-40B4-BE49-F238E27FC236}">
                <a16:creationId xmlns:a16="http://schemas.microsoft.com/office/drawing/2014/main" id="{EF809FBA-6FC0-4883-864D-3584A887CB73}"/>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ILLUSTRATIVE input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Value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must be validated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Catchment balance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Demand 6.0 / 6.8 / 7.6bn L; domestic deliveries 2.4 / 3.6 / 4.8bn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Steady-state stress points; M rounds 2022 Gauteng sales for scale. No national production forecast implied.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70% of imports via Durban; Vopak captures 80%; 90% goes to Lesedi; 8% domestic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Separate investment illustration with imported and domestic capture. Its shares differ from the Durban-only capture screen on </a:t>
                      </a:r>
                      <a:r>
                        <a:rPr sz="1200" b="0" u="none">
                          <a:solidFill>
                            <a:schemeClr val="dk1"/>
                          </a:solidFill>
                          <a:latin typeface="Lato"/>
                          <a:ea typeface="Lato"/>
                          <a:cs typeface="Lato"/>
                        </a:rPr>
                        <a:t>p16</a:t>
                      </a:r>
                      <a:r>
                        <a:rPr sz="1200" b="0" u="none">
                          <a:solidFill>
                            <a:schemeClr val="dk1"/>
                          </a:solidFill>
                          <a:latin typeface="Lato"/>
                          <a:ea typeface="Lato"/>
                          <a:cs typeface="Lato"/>
                        </a:rPr>
                        <a: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Operations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88.57% of gross; turns 1.25 existing / 1.50 improved; +40,000 gross 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159,429 working m³ with tanks at the same assumed fraction. Receipt/dispatch ceiling 3.5bn L/year remains illustrative.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R1,500 / gross m³/year rent on added contracted tanks; R60 / extra m³ contribution.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Chargeable excess services only, excluding rent/minimum-throughput inclusions. Added rent follows incremental storage use.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Capital and costs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R100m improvement + R500m tanks; fixed opex R5m + R12m/year; maintenance 1% capex/year.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Author-selected cost sensitivities; no Vopak quotation or engineering estimate.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Cash flow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 years at 10%; 50% / 75% / 100% operating ramp; capex upfront.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Pre-tax unlevered constant ZAR. Tax, working capital, construction timing and residual value excluded.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8C21A72-3396-43F8-9401-3D8FA2B97AB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xmlns:a="http://schemas.openxmlformats.org/drawingml/2006/main">
        <p:nvGraphicFramePr>
          <p:cNvPr id="5048"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1066105675"/>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A5FAE5-2BD6-41A0-8FE6-4540E3B1DC5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Capture and commercial assumptions can reverse the illustrated expansion choice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2736954-00DB-4B89-A401-92EA4DC311C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49</a:t>
            </a:r>
            <a:endParaRPr sz="1100"/>
          </a:p>
        </p:txBody>
      </p:sp>
      <p:sp>
        <p:nvSpPr>
          <p:cNvPr id="8" name="Unified source footer">
            <a:extLst xmlns:a="http://schemas.openxmlformats.org/drawingml/2006/main">
              <a:ext uri="{FF2B5EF4-FFF2-40B4-BE49-F238E27FC236}">
                <a16:creationId xmlns:a16="http://schemas.microsoft.com/office/drawing/2014/main" id="{FFC2AA92-721F-4931-8AFB-B842620C6F5D}"/>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a:extLst xmlns:a="http://schemas.openxmlformats.org/drawingml/2006/main">
              <a:ext uri="{FF2B5EF4-FFF2-40B4-BE49-F238E27FC236}">
                <a16:creationId xmlns:a16="http://schemas.microsoft.com/office/drawing/2014/main" id="{25F712FC-256E-4AF8-97C8-E7AD40DFC31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graphicFrame>
        <p:nvGraphicFramePr>
          <p:cNvPr id="56" name=""/>
          <p:cNvGraphicFramePr/>
          <p:nvPr/>
        </p:nvGraphicFramePr>
        <p:xfrm>
          <a:off xmlns:a="http://schemas.openxmlformats.org/drawingml/2006/main" x="457200" y="1657350"/>
          <a:ext xmlns:a="http://schemas.openxmlformats.org/drawingml/2006/main" cx="10652760" cy="3746500"/>
        </p:xfrm>
        <a:graphic xmlns:a="http://schemas.openxmlformats.org/drawingml/2006/main">
          <a:graphicData uri="http://schemas.openxmlformats.org/drawingml/2006/table">
            <a:tbl>
              <a:tblPr firstRow="0" bandRow="0"/>
              <a:tblGrid>
                <a:gridCol w="3556000"/>
                <a:gridCol w="1778000"/>
                <a:gridCol w="1778000"/>
                <a:gridCol w="3543300"/>
              </a:tblGrid>
              <a:tr h="624417">
                <a:tc>
                  <a:txBody>
                    <a:bodyPr/>
                    <a:lstStyle/>
                    <a:p>
                      <a:r>
                        <a:rPr sz="1275" b="1">
                          <a:solidFill>
                            <a:srgbClr val="0B2475"/>
                          </a:solidFill>
                          <a:latin typeface="Lato"/>
                          <a:ea typeface="Lato"/>
                          <a:cs typeface="Lato"/>
                        </a:rPr>
                        <a:t>Independent sensitivity</a:t>
                      </a:r>
                    </a:p>
                  </a:txBody>
                  <a:tcPr marL="91440" marR="91440" marT="45720" marB="45720" anchor="ctr">
                    <a:solidFill>
                      <a:srgbClr val="F5F5F5"/>
                    </a:solidFill>
                  </a:tcPr>
                </a:tc>
                <a:tc>
                  <a:txBody>
                    <a:bodyPr/>
                    <a:lstStyle/>
                    <a:p>
                      <a:r>
                        <a:rPr sz="1275" b="1">
                          <a:solidFill>
                            <a:srgbClr val="202020"/>
                          </a:solidFill>
                          <a:latin typeface="Lato"/>
                          <a:ea typeface="Lato"/>
                          <a:cs typeface="Lato"/>
                        </a:rPr>
                        <a:t>Improve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Tanks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Preferred package</a:t>
                      </a:r>
                    </a:p>
                  </a:txBody>
                  <a:tcPr marL="91440" marR="91440" marT="45720" marB="45720" anchor="ctr">
                    <a:solidFill>
                      <a:srgbClr val="F5F5F5"/>
                    </a:solidFill>
                  </a:tcPr>
                </a:tc>
              </a:tr>
              <a:tr h="624417">
                <a:tc>
                  <a:txBody>
                    <a:bodyPr/>
                    <a:lstStyle/>
                    <a:p>
                      <a:r>
                        <a:rPr sz="1350" b="1">
                          <a:solidFill>
                            <a:srgbClr val="0B2475"/>
                          </a:solidFill>
                          <a:latin typeface="Lato"/>
                          <a:ea typeface="Lato"/>
                          <a:cs typeface="Lato"/>
                        </a:rPr>
                        <a:t>Base illustration</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+82.2</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 add tanks</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Capex +25%</a:t>
                      </a:r>
                    </a:p>
                  </a:txBody>
                  <a:tcPr marL="91440" marR="91440" marT="45720" marB="45720" anchor="ctr">
                    <a:solidFill>
                      <a:srgbClr val="FFFFFF"/>
                    </a:solidFill>
                  </a:tcPr>
                </a:tc>
                <a:tc>
                  <a:txBody>
                    <a:bodyPr/>
                    <a:lstStyle/>
                    <a:p>
                      <a:r>
                        <a:rPr sz="1350" b="0">
                          <a:solidFill>
                            <a:srgbClr val="202020"/>
                          </a:solidFill>
                          <a:latin typeface="Lato"/>
                          <a:ea typeface="Lato"/>
                          <a:cs typeface="Lato"/>
                        </a:rPr>
                        <a:t>-2.9</a:t>
                      </a:r>
                    </a:p>
                  </a:txBody>
                  <a:tcPr marL="91440" marR="91440" marT="45720" marB="45720" anchor="ctr">
                    <a:solidFill>
                      <a:srgbClr val="FFFFFF"/>
                    </a:solidFill>
                  </a:tcPr>
                </a:tc>
                <a:tc>
                  <a:txBody>
                    <a:bodyPr/>
                    <a:lstStyle/>
                    <a:p>
                      <a:r>
                        <a:rPr sz="1350" b="0">
                          <a:solidFill>
                            <a:srgbClr val="202020"/>
                          </a:solidFill>
                          <a:latin typeface="Lato"/>
                          <a:ea typeface="Lato"/>
                          <a:cs typeface="Lato"/>
                        </a:rPr>
                        <a:t>-80.6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No chargeable excess services</a:t>
                      </a:r>
                    </a:p>
                  </a:txBody>
                  <a:tcPr marL="91440" marR="91440" marT="45720" marB="45720" anchor="ctr">
                    <a:solidFill>
                      <a:srgbClr val="FFFFFF"/>
                    </a:solidFill>
                  </a:tcPr>
                </a:tc>
                <a:tc>
                  <a:txBody>
                    <a:bodyPr/>
                    <a:lstStyle/>
                    <a:p>
                      <a:r>
                        <a:rPr sz="1350" b="0">
                          <a:solidFill>
                            <a:srgbClr val="202020"/>
                          </a:solidFill>
                          <a:latin typeface="Lato"/>
                          <a:ea typeface="Lato"/>
                          <a:cs typeface="Lato"/>
                        </a:rPr>
                        <a:t>-151.1</a:t>
                      </a:r>
                    </a:p>
                  </a:txBody>
                  <a:tcPr marL="91440" marR="91440" marT="45720" marB="45720" anchor="ctr">
                    <a:solidFill>
                      <a:srgbClr val="FFFFFF"/>
                    </a:solidFill>
                  </a:tcPr>
                </a:tc>
                <a:tc>
                  <a:txBody>
                    <a:bodyPr/>
                    <a:lstStyle/>
                    <a:p>
                      <a:r>
                        <a:rPr sz="1350" b="0">
                          <a:solidFill>
                            <a:srgbClr val="202020"/>
                          </a:solidFill>
                          <a:latin typeface="Lato"/>
                          <a:ea typeface="Lato"/>
                          <a:cs typeface="Lato"/>
                        </a:rPr>
                        <a:t>-366.7</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Vopak gateway capture 60%</a:t>
                      </a:r>
                    </a:p>
                  </a:txBody>
                  <a:tcPr marL="91440" marR="91440" marT="45720" marB="45720" anchor="ctr">
                    <a:solidFill>
                      <a:srgbClr val="FFFFFF"/>
                    </a:solidFill>
                  </a:tcPr>
                </a:tc>
                <a:tc>
                  <a:txBody>
                    <a:bodyPr/>
                    <a:lstStyle/>
                    <a:p>
                      <a:r>
                        <a:rPr sz="1350" b="0">
                          <a:solidFill>
                            <a:srgbClr val="202020"/>
                          </a:solidFill>
                          <a:latin typeface="Lato"/>
                          <a:ea typeface="Lato"/>
                          <a:cs typeface="Lato"/>
                        </a:rPr>
                        <a:t>-10.9</a:t>
                      </a:r>
                    </a:p>
                  </a:txBody>
                  <a:tcPr marL="91440" marR="91440" marT="45720" marB="45720" anchor="ctr">
                    <a:solidFill>
                      <a:srgbClr val="FFFFFF"/>
                    </a:solidFill>
                  </a:tcPr>
                </a:tc>
                <a:tc>
                  <a:txBody>
                    <a:bodyPr/>
                    <a:lstStyle/>
                    <a:p>
                      <a:r>
                        <a:rPr sz="1350" b="0">
                          <a:solidFill>
                            <a:srgbClr val="202020"/>
                          </a:solidFill>
                          <a:latin typeface="Lato"/>
                          <a:ea typeface="Lato"/>
                          <a:cs typeface="Lato"/>
                        </a:rPr>
                        <a:t>-655.6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Captured volume -10%</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-258.1</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access / dispatch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E7064438-ACE1-4E5C-B2C8-29AA9586F97D}"/>
              </a:ext>
            </a:extLst>
          </p:cNvPr>
          <p:cNvSpPr>
            <a:spLocks xmlns:a="http://schemas.openxmlformats.org/drawingml/2006/main" noGrp="1"/>
          </p:cNvSpPr>
          <p:nvPr/>
        </p:nvSpPr>
        <p:spPr>
          <a:xfrm xmlns:a="http://schemas.openxmlformats.org/drawingml/2006/main">
            <a:off x="457200" y="56134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202020"/>
                </a:solidFill>
                <a:latin typeface="Lato"/>
                <a:ea typeface="Lato"/>
                <a:cs typeface="Lato"/>
              </a:defRPr>
            </a:pPr>
            <a:r>
              <a:rPr sz="1125">
                <a:solidFill>
                  <a:srgbClr val="202020"/>
                </a:solidFill>
                <a:latin typeface="Lato"/>
                <a:ea typeface="Lato"/>
                <a:cs typeface="Lato"/>
              </a:rPr>
              <a:t>The lower working-capacity estimate increases assumed incremental rental in the model. The tank option still loses under the tested downside cases. Validate rental inclusions, customer volumes and project costs.</a:t>
            </a:r>
          </a:p>
        </p:txBody>
      </p:sp>
      <p:graphicFrame xmlns:a="http://schemas.openxmlformats.org/drawingml/2006/main">
        <p:nvGraphicFramePr>
          <p:cNvPr id="5049" name="brand-pptx section navigation">
            <a:extLst>
              <a:ext uri="{FF2B5EF4-FFF2-40B4-BE49-F238E27FC236}">
                <a16:creationId xmlns:a16="http://schemas.microsoft.com/office/drawing/2014/main" id="{6DF19C97-B7FC-0E4C-A7EB-10DE7C1745A9}"/>
              </a:ext>
            </a:extLst>
          </p:cNvPr>
          <p:cNvGraphicFramePr/>
          <p:nvPr>
            <p:extLst>
              <p:ext uri="{D42A27DB-BD31-4B8C-83A1-F6EECF244321}">
                <p14:modId xmlns:p14="http://schemas.microsoft.com/office/powerpoint/2010/main" val="1874791688"/>
              </p:ext>
            </p:extLst>
          </p:nvPr>
        </p:nvGraphicFramePr>
        <p:xfrm>
          <a:off x="457200" y="82296"/>
          <a:ext cx="10652760" cy="283464"/>
        </p:xfrm>
        <a:graphic>
          <a:graphicData uri="http://schemas.openxmlformats.org/drawingml/2006/diagram">
            <dgm:relIds xmlns:dgm="http://schemas.openxmlformats.org/drawingml/2006/diagram" xmlns:r="http://schemas.openxmlformats.org/officeDocument/2006/relationships" r:dm="rIdSmartArt3" r:lo="rIdSmartArt4" r:qs="rIdSmartArt5" r:cs="rIdSmartArt6"/>
          </a:graphicData>
        </a:graphic>
      </p:graphicFrame>
    </p:spTree>
    <p:extLst>
      <p:ext uri="{BB962C8B-B14F-4D97-AF65-F5344CB8AC3E}">
        <p14:creationId xmlns:p14="http://schemas.microsoft.com/office/powerpoint/2010/main" val="2784110054"/>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2026-10-11T08:51:09.3830000Z</dcterms:created>
  <dcterms:modified xsi:type="dcterms:W3CDTF">2026-10-11T08:51:09.3830000Z</dcterms:modified>
</coreProperties>
</file>