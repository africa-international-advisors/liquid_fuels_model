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257a42775846e9" /><Relationship Type="http://schemas.openxmlformats.org/officeDocument/2006/relationships/extended-properties" Target="/docProps/app.xml" Id="R1bc1abb987b24c96" /><Relationship Type="http://schemas.openxmlformats.org/officeDocument/2006/relationships/officeDocument" Target="/ppt/presentation.xml" Id="Re67680e743214e88"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86fd9c52ce5146b4"/>
  </p:sldMasterIdLst>
  <p:notesMasterIdLst>
    <p:notesMasterId xmlns:r="http://schemas.openxmlformats.org/officeDocument/2006/relationships" r:id="R7c07e7292e154b16"/>
  </p:notesMasterIdLst>
  <p:sldIdLst>
    <p:sldId xmlns:r="http://schemas.openxmlformats.org/officeDocument/2006/relationships" id="256" r:id="R4eea4ce4d0b545ba"/>
    <p:sldId xmlns:r="http://schemas.openxmlformats.org/officeDocument/2006/relationships" id="257" r:id="Ra75929ab68ed4ce1"/>
    <p:sldId xmlns:r="http://schemas.openxmlformats.org/officeDocument/2006/relationships" id="258" r:id="R7b063cd4be1f43f2"/>
    <p:sldId xmlns:r="http://schemas.openxmlformats.org/officeDocument/2006/relationships" id="259" r:id="Rdeee290ccf674428"/>
    <p:sldId xmlns:r="http://schemas.openxmlformats.org/officeDocument/2006/relationships" id="260" r:id="R569b5a9c93d749aa"/>
    <p:sldId xmlns:r="http://schemas.openxmlformats.org/officeDocument/2006/relationships" id="261" r:id="R5e6a039c4b5f4578"/>
    <p:sldId xmlns:r="http://schemas.openxmlformats.org/officeDocument/2006/relationships" id="262" r:id="R0ba6fd215aa14578"/>
    <p:sldId xmlns:r="http://schemas.openxmlformats.org/officeDocument/2006/relationships" id="263" r:id="Rbc53c32e689844c4"/>
    <p:sldId xmlns:r="http://schemas.openxmlformats.org/officeDocument/2006/relationships" id="264" r:id="R21a325a5ce854956"/>
    <p:sldId xmlns:r="http://schemas.openxmlformats.org/officeDocument/2006/relationships" id="265" r:id="Re83fd209182f4b24"/>
    <p:sldId xmlns:r="http://schemas.openxmlformats.org/officeDocument/2006/relationships" id="266" r:id="Ra4a0b972df23447a"/>
    <p:sldId xmlns:r="http://schemas.openxmlformats.org/officeDocument/2006/relationships" id="267" r:id="Rfc06be19b8074d32"/>
    <p:sldId xmlns:r="http://schemas.openxmlformats.org/officeDocument/2006/relationships" id="268" r:id="R86744d021d9a4a54"/>
    <p:sldId xmlns:r="http://schemas.openxmlformats.org/officeDocument/2006/relationships" id="269" r:id="Raef9acb2d0214e56"/>
    <p:sldId xmlns:r="http://schemas.openxmlformats.org/officeDocument/2006/relationships" id="270" r:id="Rf0c6b25cb1894fc8"/>
    <p:sldId xmlns:r="http://schemas.openxmlformats.org/officeDocument/2006/relationships" id="271" r:id="R9abdbaa643d44d74"/>
    <p:sldId xmlns:r="http://schemas.openxmlformats.org/officeDocument/2006/relationships" id="272" r:id="R0ecd9c98d81c4658"/>
    <p:sldId xmlns:r="http://schemas.openxmlformats.org/officeDocument/2006/relationships" id="273" r:id="R90738d61ea894285"/>
    <p:sldId xmlns:r="http://schemas.openxmlformats.org/officeDocument/2006/relationships" id="274" r:id="Re178928fb3754a70"/>
    <p:sldId xmlns:r="http://schemas.openxmlformats.org/officeDocument/2006/relationships" id="275" r:id="Rddb79ad6ff2843bd"/>
    <p:sldId xmlns:r="http://schemas.openxmlformats.org/officeDocument/2006/relationships" id="276" r:id="R7a92a93b105a40f8"/>
    <p:sldId xmlns:r="http://schemas.openxmlformats.org/officeDocument/2006/relationships" id="277" r:id="Rfa1fb35e5d00493f"/>
    <p:sldId xmlns:r="http://schemas.openxmlformats.org/officeDocument/2006/relationships" id="278" r:id="Rdd847c5fdaa1444d"/>
    <p:sldId xmlns:r="http://schemas.openxmlformats.org/officeDocument/2006/relationships" id="279" r:id="Rb717410dc16044cc"/>
    <p:sldId xmlns:r="http://schemas.openxmlformats.org/officeDocument/2006/relationships" id="280" r:id="R0e6a9ae3e43643ca"/>
    <p:sldId xmlns:r="http://schemas.openxmlformats.org/officeDocument/2006/relationships" id="281" r:id="Re50144f797974ff9"/>
    <p:sldId xmlns:r="http://schemas.openxmlformats.org/officeDocument/2006/relationships" id="282" r:id="R04b480ad79bf4b98"/>
    <p:sldId xmlns:r="http://schemas.openxmlformats.org/officeDocument/2006/relationships" id="283" r:id="R1a886943e7e24be1"/>
    <p:sldId xmlns:r="http://schemas.openxmlformats.org/officeDocument/2006/relationships" id="284" r:id="R4e29a54a61ea46a6"/>
    <p:sldId xmlns:r="http://schemas.openxmlformats.org/officeDocument/2006/relationships" id="285" r:id="R1130d17dd5784562"/>
    <p:sldId xmlns:r="http://schemas.openxmlformats.org/officeDocument/2006/relationships" id="286" r:id="R590bae993ce54419"/>
    <p:sldId xmlns:r="http://schemas.openxmlformats.org/officeDocument/2006/relationships" id="287" r:id="Rc05bf6aaa705488c"/>
    <p:sldId xmlns:r="http://schemas.openxmlformats.org/officeDocument/2006/relationships" id="288" r:id="Re3a2d975bf1a493a"/>
    <p:sldId xmlns:r="http://schemas.openxmlformats.org/officeDocument/2006/relationships" id="289" r:id="Ra3d9216ab6994ed5"/>
    <p:sldId xmlns:r="http://schemas.openxmlformats.org/officeDocument/2006/relationships" id="290" r:id="R4bb925b9020d408d"/>
    <p:sldId xmlns:r="http://schemas.openxmlformats.org/officeDocument/2006/relationships" id="291" r:id="R95ebe9119a774d0d"/>
    <p:sldId xmlns:r="http://schemas.openxmlformats.org/officeDocument/2006/relationships" id="292" r:id="R9d7e3d2ba6fd4a8b"/>
    <p:sldId xmlns:r="http://schemas.openxmlformats.org/officeDocument/2006/relationships" id="293" r:id="Rc616f053689b4fc1"/>
    <p:sldId xmlns:r="http://schemas.openxmlformats.org/officeDocument/2006/relationships" id="294" r:id="Recdaa9530f5344e9"/>
    <p:sldId xmlns:r="http://schemas.openxmlformats.org/officeDocument/2006/relationships" id="295" r:id="R59e8b8fbe3ef442e"/>
    <p:sldId xmlns:r="http://schemas.openxmlformats.org/officeDocument/2006/relationships" id="296" r:id="Rffaeeecc5511422e"/>
    <p:sldId xmlns:r="http://schemas.openxmlformats.org/officeDocument/2006/relationships" id="297" r:id="R6dc21236364c4200"/>
    <p:sldId xmlns:r="http://schemas.openxmlformats.org/officeDocument/2006/relationships" id="298" r:id="Rf7ef9ea90c0a4fec"/>
  </p:sldIdLst>
  <p:sldSz cx="11588750" cy="6858000"/>
  <p:notesSz cx="6858000" cy="9144000"/>
  <p:embeddedFontLst>
    <p:embeddedFont>
      <p:font typeface="Lato"/>
      <p:regular xmlns:r="http://schemas.openxmlformats.org/officeDocument/2006/relationships" r:id="R7286a0c29f3245f7"/>
      <p:bold xmlns:r="http://schemas.openxmlformats.org/officeDocument/2006/relationships" r:id="R570b07045c9d4999"/>
      <p:italic xmlns:r="http://schemas.openxmlformats.org/officeDocument/2006/relationships" r:id="R5970cf95e23e456f"/>
      <p:boldItalic xmlns:r="http://schemas.openxmlformats.org/officeDocument/2006/relationships" r:id="Ra0c30a543c164742"/>
    </p:embeddedFont>
  </p:embeddedFontLst>
</p:presentation>
</file>

<file path=ppt/authors.xml><?xml version="1.0" encoding="utf-8"?>
<p188:authorLst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05a2a2f45854c01" /><Relationship Type="http://schemas.openxmlformats.org/officeDocument/2006/relationships/slideMaster" Target="/ppt/slideMasters/slideMaster1.xml" Id="R86fd9c52ce5146b4" /><Relationship Type="http://schemas.openxmlformats.org/officeDocument/2006/relationships/notesMaster" Target="/ppt/notesMasters/notesMaster1.xml" Id="R7c07e7292e154b16" /><Relationship Type="http://schemas.openxmlformats.org/officeDocument/2006/relationships/presProps" Target="/ppt/presProps.xml" Id="Ra0ecd21a609a4497" /><Relationship Type="http://schemas.openxmlformats.org/officeDocument/2006/relationships/viewProps" Target="/ppt/viewProps.xml" Id="R111d927274244194" /><Relationship Type="http://schemas.openxmlformats.org/officeDocument/2006/relationships/tableStyles" Target="/ppt/tableStyles.xml" Id="R9982e4e989db4acf" /><Relationship Type="http://schemas.openxmlformats.org/officeDocument/2006/relationships/font" Target="/ppt/fonts/font.dat" Id="R7286a0c29f3245f7" /><Relationship Type="http://schemas.openxmlformats.org/officeDocument/2006/relationships/font" Target="/ppt/fonts/font2.dat" Id="R570b07045c9d4999" /><Relationship Type="http://schemas.openxmlformats.org/officeDocument/2006/relationships/font" Target="/ppt/fonts/font3.dat" Id="R5970cf95e23e456f" /><Relationship Type="http://schemas.openxmlformats.org/officeDocument/2006/relationships/font" Target="/ppt/fonts/font4.dat" Id="Ra0c30a543c164742" /><Relationship Type="http://schemas.microsoft.com/office/2018/10/relationships/authors" Target="/ppt/authors.xml" Id="R98106f4ba40e4a60" /><Relationship Type="http://schemas.openxmlformats.org/officeDocument/2006/relationships/slide" Target="/ppt/slides/slide1.xml" Id="R4eea4ce4d0b545ba" /><Relationship Type="http://schemas.openxmlformats.org/officeDocument/2006/relationships/slide" Target="/ppt/slides/slide2.xml" Id="Ra75929ab68ed4ce1" /><Relationship Type="http://schemas.openxmlformats.org/officeDocument/2006/relationships/slide" Target="/ppt/slides/slide3.xml" Id="R7b063cd4be1f43f2" /><Relationship Type="http://schemas.openxmlformats.org/officeDocument/2006/relationships/slide" Target="/ppt/slides/slide4.xml" Id="Rdeee290ccf674428" /><Relationship Type="http://schemas.openxmlformats.org/officeDocument/2006/relationships/slide" Target="/ppt/slides/slide5.xml" Id="R569b5a9c93d749aa" /><Relationship Type="http://schemas.openxmlformats.org/officeDocument/2006/relationships/slide" Target="/ppt/slides/slide6.xml" Id="R5e6a039c4b5f4578" /><Relationship Type="http://schemas.openxmlformats.org/officeDocument/2006/relationships/slide" Target="/ppt/slides/slide7.xml" Id="R0ba6fd215aa14578" /><Relationship Type="http://schemas.openxmlformats.org/officeDocument/2006/relationships/slide" Target="/ppt/slides/slide8.xml" Id="Rbc53c32e689844c4" /><Relationship Type="http://schemas.openxmlformats.org/officeDocument/2006/relationships/slide" Target="/ppt/slides/slide9.xml" Id="R21a325a5ce854956" /><Relationship Type="http://schemas.openxmlformats.org/officeDocument/2006/relationships/slide" Target="/ppt/slides/slide10.xml" Id="Re83fd209182f4b24" /><Relationship Type="http://schemas.openxmlformats.org/officeDocument/2006/relationships/slide" Target="/ppt/slides/slide11.xml" Id="Ra4a0b972df23447a" /><Relationship Type="http://schemas.openxmlformats.org/officeDocument/2006/relationships/slide" Target="/ppt/slides/slide12.xml" Id="Rfc06be19b8074d32" /><Relationship Type="http://schemas.openxmlformats.org/officeDocument/2006/relationships/slide" Target="/ppt/slides/slide13.xml" Id="R86744d021d9a4a54" /><Relationship Type="http://schemas.openxmlformats.org/officeDocument/2006/relationships/slide" Target="/ppt/slides/slide14.xml" Id="Raef9acb2d0214e56" /><Relationship Type="http://schemas.openxmlformats.org/officeDocument/2006/relationships/slide" Target="/ppt/slides/slide15.xml" Id="Rf0c6b25cb1894fc8" /><Relationship Type="http://schemas.openxmlformats.org/officeDocument/2006/relationships/slide" Target="/ppt/slides/slide16.xml" Id="R9abdbaa643d44d74" /><Relationship Type="http://schemas.openxmlformats.org/officeDocument/2006/relationships/slide" Target="/ppt/slides/slide17.xml" Id="R0ecd9c98d81c4658" /><Relationship Type="http://schemas.openxmlformats.org/officeDocument/2006/relationships/slide" Target="/ppt/slides/slide18.xml" Id="R90738d61ea894285" /><Relationship Type="http://schemas.openxmlformats.org/officeDocument/2006/relationships/slide" Target="/ppt/slides/slide19.xml" Id="Re178928fb3754a70" /><Relationship Type="http://schemas.openxmlformats.org/officeDocument/2006/relationships/slide" Target="/ppt/slides/slide20.xml" Id="Rddb79ad6ff2843bd" /><Relationship Type="http://schemas.openxmlformats.org/officeDocument/2006/relationships/slide" Target="/ppt/slides/slide21.xml" Id="R7a92a93b105a40f8" /><Relationship Type="http://schemas.openxmlformats.org/officeDocument/2006/relationships/slide" Target="/ppt/slides/slide22.xml" Id="Rfa1fb35e5d00493f" /><Relationship Type="http://schemas.openxmlformats.org/officeDocument/2006/relationships/slide" Target="/ppt/slides/slide23.xml" Id="Rdd847c5fdaa1444d" /><Relationship Type="http://schemas.openxmlformats.org/officeDocument/2006/relationships/slide" Target="/ppt/slides/slide24.xml" Id="Rb717410dc16044cc" /><Relationship Type="http://schemas.openxmlformats.org/officeDocument/2006/relationships/slide" Target="/ppt/slides/slide25.xml" Id="R0e6a9ae3e43643ca" /><Relationship Type="http://schemas.openxmlformats.org/officeDocument/2006/relationships/slide" Target="/ppt/slides/slide26.xml" Id="Re50144f797974ff9" /><Relationship Type="http://schemas.openxmlformats.org/officeDocument/2006/relationships/slide" Target="/ppt/slides/slide27.xml" Id="R04b480ad79bf4b98" /><Relationship Type="http://schemas.openxmlformats.org/officeDocument/2006/relationships/slide" Target="/ppt/slides/slide28.xml" Id="R1a886943e7e24be1" /><Relationship Type="http://schemas.openxmlformats.org/officeDocument/2006/relationships/slide" Target="/ppt/slides/slide29.xml" Id="R4e29a54a61ea46a6" /><Relationship Type="http://schemas.openxmlformats.org/officeDocument/2006/relationships/slide" Target="/ppt/slides/slide30.xml" Id="R1130d17dd5784562" /><Relationship Type="http://schemas.openxmlformats.org/officeDocument/2006/relationships/slide" Target="/ppt/slides/slide31.xml" Id="R590bae993ce54419" /><Relationship Type="http://schemas.openxmlformats.org/officeDocument/2006/relationships/slide" Target="/ppt/slides/slide32.xml" Id="Rc05bf6aaa705488c" /><Relationship Type="http://schemas.openxmlformats.org/officeDocument/2006/relationships/slide" Target="/ppt/slides/slide33.xml" Id="Re3a2d975bf1a493a" /><Relationship Type="http://schemas.openxmlformats.org/officeDocument/2006/relationships/slide" Target="/ppt/slides/slide34.xml" Id="Ra3d9216ab6994ed5" /><Relationship Type="http://schemas.openxmlformats.org/officeDocument/2006/relationships/slide" Target="/ppt/slides/slide35.xml" Id="R4bb925b9020d408d" /><Relationship Type="http://schemas.openxmlformats.org/officeDocument/2006/relationships/slide" Target="/ppt/slides/slide36.xml" Id="R95ebe9119a774d0d" /><Relationship Type="http://schemas.openxmlformats.org/officeDocument/2006/relationships/slide" Target="/ppt/slides/slide37.xml" Id="R9d7e3d2ba6fd4a8b" /><Relationship Type="http://schemas.openxmlformats.org/officeDocument/2006/relationships/slide" Target="/ppt/slides/slide38.xml" Id="Rc616f053689b4fc1" /><Relationship Type="http://schemas.openxmlformats.org/officeDocument/2006/relationships/slide" Target="/ppt/slides/slide39.xml" Id="Recdaa9530f5344e9" /><Relationship Type="http://schemas.openxmlformats.org/officeDocument/2006/relationships/slide" Target="/ppt/slides/slide40.xml" Id="R59e8b8fbe3ef442e" /><Relationship Type="http://schemas.openxmlformats.org/officeDocument/2006/relationships/slide" Target="/ppt/slides/slide41.xml" Id="Rffaeeecc5511422e" /><Relationship Type="http://schemas.openxmlformats.org/officeDocument/2006/relationships/slide" Target="/ppt/slides/slide42.xml" Id="R6dc21236364c4200" /><Relationship Type="http://schemas.openxmlformats.org/officeDocument/2006/relationships/slide" Target="/ppt/slides/slide43.xml" Id="Rf7ef9ea90c0a4f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141d25f5714d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032e9b401b4d1d" /><Relationship Type="http://schemas.openxmlformats.org/officeDocument/2006/relationships/notesMaster" Target="/ppt/notesMasters/notesMaster1.xml" Id="R2db621407d8441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62518c45a548d1" /><Relationship Type="http://schemas.openxmlformats.org/officeDocument/2006/relationships/notesMaster" Target="/ppt/notesMasters/notesMaster1.xml" Id="R6342e62a10c247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74e908944a4b71" /><Relationship Type="http://schemas.openxmlformats.org/officeDocument/2006/relationships/notesMaster" Target="/ppt/notesMasters/notesMaster1.xml" Id="R00af9ab7bcc44b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7ab30f4ffb4fca" /><Relationship Type="http://schemas.openxmlformats.org/officeDocument/2006/relationships/notesMaster" Target="/ppt/notesMasters/notesMaster1.xml" Id="R6550b3e004c947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2350d297f74172" /><Relationship Type="http://schemas.openxmlformats.org/officeDocument/2006/relationships/notesMaster" Target="/ppt/notesMasters/notesMaster1.xml" Id="R68dbb09cd4524a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7a8a4500374704" /><Relationship Type="http://schemas.openxmlformats.org/officeDocument/2006/relationships/notesMaster" Target="/ppt/notesMasters/notesMaster1.xml" Id="R91168613121244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37017f169642f2" /><Relationship Type="http://schemas.openxmlformats.org/officeDocument/2006/relationships/notesMaster" Target="/ppt/notesMasters/notesMaster1.xml" Id="Rbdd71f89c7c944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04fe333ccf48a6" /><Relationship Type="http://schemas.openxmlformats.org/officeDocument/2006/relationships/notesMaster" Target="/ppt/notesMasters/notesMaster1.xml" Id="R8092cef21eda45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b0043b7de84e2b" /><Relationship Type="http://schemas.openxmlformats.org/officeDocument/2006/relationships/notesMaster" Target="/ppt/notesMasters/notesMaster1.xml" Id="Re9a90476a0364e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300a256c31441e" /><Relationship Type="http://schemas.openxmlformats.org/officeDocument/2006/relationships/notesMaster" Target="/ppt/notesMasters/notesMaster1.xml" Id="R8566d00981ec41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44155c44024e63" /><Relationship Type="http://schemas.openxmlformats.org/officeDocument/2006/relationships/notesMaster" Target="/ppt/notesMasters/notesMaster1.xml" Id="R387817b1e1b445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b8be4c758f425d" /><Relationship Type="http://schemas.openxmlformats.org/officeDocument/2006/relationships/notesMaster" Target="/ppt/notesMasters/notesMaster1.xml" Id="R3e1caede3ccb4e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b0102f28a74b6b" /><Relationship Type="http://schemas.openxmlformats.org/officeDocument/2006/relationships/notesMaster" Target="/ppt/notesMasters/notesMaster1.xml" Id="R3cd6fcdb90b644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f102d979f54cc6" /><Relationship Type="http://schemas.openxmlformats.org/officeDocument/2006/relationships/notesMaster" Target="/ppt/notesMasters/notesMaster1.xml" Id="Rd631eb46bf4148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cecc69deb14a7f" /><Relationship Type="http://schemas.openxmlformats.org/officeDocument/2006/relationships/notesMaster" Target="/ppt/notesMasters/notesMaster1.xml" Id="Ra5ce22ae02234d2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668e50fb4c4d58" /><Relationship Type="http://schemas.openxmlformats.org/officeDocument/2006/relationships/notesMaster" Target="/ppt/notesMasters/notesMaster1.xml" Id="Rcfc147326dce48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ce9bddcb364165" /><Relationship Type="http://schemas.openxmlformats.org/officeDocument/2006/relationships/notesMaster" Target="/ppt/notesMasters/notesMaster1.xml" Id="R0ef1b2b4d6f64d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093af87c67b4f92" /><Relationship Type="http://schemas.openxmlformats.org/officeDocument/2006/relationships/notesMaster" Target="/ppt/notesMasters/notesMaster1.xml" Id="R16d6e00ff7644ca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2b987b79eb943e7" /><Relationship Type="http://schemas.openxmlformats.org/officeDocument/2006/relationships/notesMaster" Target="/ppt/notesMasters/notesMaster1.xml" Id="Ra3d8b578488c4e7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b99b651b7344aef" /><Relationship Type="http://schemas.openxmlformats.org/officeDocument/2006/relationships/notesMaster" Target="/ppt/notesMasters/notesMaster1.xml" Id="R03867cc8e3f0431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1dea8e1f597488d" /><Relationship Type="http://schemas.openxmlformats.org/officeDocument/2006/relationships/notesMaster" Target="/ppt/notesMasters/notesMaster1.xml" Id="R40d11dff02ff4f0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4b8d592a1bb43e7" /><Relationship Type="http://schemas.openxmlformats.org/officeDocument/2006/relationships/notesMaster" Target="/ppt/notesMasters/notesMaster1.xml" Id="R6e2408633b924c0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5939601193a4c00" /><Relationship Type="http://schemas.openxmlformats.org/officeDocument/2006/relationships/notesMaster" Target="/ppt/notesMasters/notesMaster1.xml" Id="R922d1d0e64564de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e2fed31f7f74069" /><Relationship Type="http://schemas.openxmlformats.org/officeDocument/2006/relationships/notesMaster" Target="/ppt/notesMasters/notesMaster1.xml" Id="R2fc15005a9be466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87a86675f2741ed" /><Relationship Type="http://schemas.openxmlformats.org/officeDocument/2006/relationships/notesMaster" Target="/ppt/notesMasters/notesMaster1.xml" Id="R19c55816ccea45a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c72494eba034770" /><Relationship Type="http://schemas.openxmlformats.org/officeDocument/2006/relationships/notesMaster" Target="/ppt/notesMasters/notesMaster1.xml" Id="R712eba4196de46b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24dcded1ab744cb" /><Relationship Type="http://schemas.openxmlformats.org/officeDocument/2006/relationships/notesMaster" Target="/ppt/notesMasters/notesMaster1.xml" Id="R546a649f53cc44d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00642311b6c492e" /><Relationship Type="http://schemas.openxmlformats.org/officeDocument/2006/relationships/notesMaster" Target="/ppt/notesMasters/notesMaster1.xml" Id="R3a6d092619f242a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30a06e02f5f4fae" /><Relationship Type="http://schemas.openxmlformats.org/officeDocument/2006/relationships/notesMaster" Target="/ppt/notesMasters/notesMaster1.xml" Id="R443460f1bb474a7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6b96f0fb4a04d65" /><Relationship Type="http://schemas.openxmlformats.org/officeDocument/2006/relationships/notesMaster" Target="/ppt/notesMasters/notesMaster1.xml" Id="Rd8156e58d8f5408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b98689317cf4677" /><Relationship Type="http://schemas.openxmlformats.org/officeDocument/2006/relationships/notesMaster" Target="/ppt/notesMasters/notesMaster1.xml" Id="R991a39156a844ad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297d39e2ae94688" /><Relationship Type="http://schemas.openxmlformats.org/officeDocument/2006/relationships/notesMaster" Target="/ppt/notesMasters/notesMaster1.xml" Id="R73e9b1c2c4aa402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0909f9e3a9c4837" /><Relationship Type="http://schemas.openxmlformats.org/officeDocument/2006/relationships/notesMaster" Target="/ppt/notesMasters/notesMaster1.xml" Id="R49664c6fc190411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16f87e5a8af4f28" /><Relationship Type="http://schemas.openxmlformats.org/officeDocument/2006/relationships/notesMaster" Target="/ppt/notesMasters/notesMaster1.xml" Id="R36404b18a49e47b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5586d4babe6466b" /><Relationship Type="http://schemas.openxmlformats.org/officeDocument/2006/relationships/notesMaster" Target="/ppt/notesMasters/notesMaster1.xml" Id="R32af434352904bf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206b9035d3241d6" /><Relationship Type="http://schemas.openxmlformats.org/officeDocument/2006/relationships/notesMaster" Target="/ppt/notesMasters/notesMaster1.xml" Id="R553ebb6caad2484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d0cfdea29b24de1" /><Relationship Type="http://schemas.openxmlformats.org/officeDocument/2006/relationships/notesMaster" Target="/ppt/notesMasters/notesMaster1.xml" Id="Rba8da1283aeb4b6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2b025d92a604d00" /><Relationship Type="http://schemas.openxmlformats.org/officeDocument/2006/relationships/notesMaster" Target="/ppt/notesMasters/notesMaster1.xml" Id="Ra347a38252604f0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62bc4f4b0f04b30" /><Relationship Type="http://schemas.openxmlformats.org/officeDocument/2006/relationships/notesMaster" Target="/ppt/notesMasters/notesMaster1.xml" Id="R9a2623d216f7437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9f43d2e320e4605" /><Relationship Type="http://schemas.openxmlformats.org/officeDocument/2006/relationships/notesMaster" Target="/ppt/notesMasters/notesMaster1.xml" Id="Rcdf4020eddc5414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faaa0c0476e4750" /><Relationship Type="http://schemas.openxmlformats.org/officeDocument/2006/relationships/notesMaster" Target="/ppt/notesMasters/notesMaster1.xml" Id="Rbbe59a26b251401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89d0f52c58c4988" /><Relationship Type="http://schemas.openxmlformats.org/officeDocument/2006/relationships/notesMaster" Target="/ppt/notesMasters/notesMaster1.xml" Id="R9de1b41a1c4f408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5fe4dccf6d7464e" /><Relationship Type="http://schemas.openxmlformats.org/officeDocument/2006/relationships/notesMaster" Target="/ppt/notesMasters/notesMaster1.xml" Id="Re308b3fd89d342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Speaker note: Walk through four sections: the project question, the analytical</a:t>
            </a:r>
          </a:p>
          <a:p xmlns:a="http://schemas.openxmlformats.org/drawingml/2006/main">
            <a:r>
              <a:t>requirements, the model-build problem and the delivery approach. The purpose is to</a:t>
            </a:r>
          </a:p>
          <a:p xmlns:a="http://schemas.openxmlformats.org/drawingml/2006/main">
            <a:r>
              <a:t>connect the analyst's tasks to the decisions the engagement needs to support.</a:t>
            </a:r>
          </a:p>
          <a:p xmlns:a="http://schemas.openxmlformats.org/drawingml/2006/main">
            <a:r>
              <a:t>Week 1 analytical pack, 6 October 2026. Existing kickoff cover/closing reused at user request.</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Department sales 2013-2023; 2023 total 21.94bn L. FIASA 2024 total 20.76bn L is unverified; no 2025 sales. SARS imports 2020-2025. Eskom FY2025 own diesel + kerosene. M/M remains an uncalibrated reference.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latest comparable national scale and sales-source qualification.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Working recommendation supported by an authored Lesedi illustration, not a calibrated forecast. Reported capacity is used; capture, working capacity, tariffs, capex and discount rate are assumptions. No customer volume is represented as secured.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ONLY. 100% project basis, constant ZAR; capex at t0; operating ramp 50%/75%/100%; no tax, working capital, construction delay, inflation or residual value. Turnover and occupancy are distinct. Full assumptions, benchmarks, options and downside tests: pp39–42.</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p41; downside: p42.</a:t>
            </a:r>
            <a:endParaRPr/>
          </a:p>
          <a:p xmlns:a="http://schemas.openxmlformats.org/drawingml/2006/main">
            <a:r>
              <a:t/>
            </a:r>
            <a:endParaRPr/>
          </a:p>
          <a:p xmlns:a="http://schemas.openxmlformats.org/drawingml/2006/main">
            <a:r>
              <a:t>Original import-direction framework: [["LOW demand\nD1–D5", "L / H\nLOWEST IMPORT PRESSURE\nDomestic routing and customer capture still determine terminal turns.", "L / M\nLower imports than baseline.\nTest utilisation and customer capture.", "L / L\nDemand and supply both fall.\nNet import effect depends on their relative change."], ["MEDIUM demand\nD1–D5", "M / H\nLower imports than baseline.\nSupply recovery reduces import needs.", "M / M\nBASELINE\nReference sourcing, captured throughput, required turns and headroom.", "M / L\nHigher imports than baseline.\nSupply losses increase import needs."], ["HIGH demand\nD1–D5", "H / H\nDemand and supply both rise.\nNet import effect depends on their relative change.", "H / M\nHigher imports than baseline.\nDemand growth increases import needs.", "H / L\nHIGHEST IMPORT PRESSURE\nTest the captured flow against working capacity and achievable turns."]]</a:t>
            </a:r>
            <a:endParaRPr/>
          </a:p>
          <a:p xmlns:a="http://schemas.openxmlformats.org/drawingml/2006/main">
            <a:r>
              <a:t>The nine numerical cells use an authored regional supply-delivery bridge, not calibrated national refinery output. Original qualitative rail/EV investment priorities remain in v23 and p15.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Department sales 2013-2023: petrol CAGR -2.08%, diesel +0.82%. FIASA 2024 is excluded from the trend. Workbook History Q71/R71. RAF levy evidence uses fiscal years and still needs reconciliation.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Keep comparable 2013-2023 chart; add latest-year coverage and reconciliation caution.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sector fuel scale and the freight-operator proxy without changing measured support bars.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Sector history M6/O6/R9, M16/O16/R19, M22/O22/R25. Department energy balance to 2021; later fuel estimated with activity and average intensity. Sector attribution and road overlap require review.</a:t>
            </a:r>
            <a:endParaRPr/>
          </a:p>
          <a:p xmlns:a="http://schemas.openxmlformats.org/drawingml/2006/main">
            <a:r>
              <a:t/>
            </a:r>
            <a:endParaRPr/>
          </a:p>
          <a:p xmlns:a="http://schemas.openxmlformats.org/drawingml/2006/main">
            <a:r>
              <a:t>Three sector rows with comparable, zero-based horizontal bars. 2019/2021 observations; 2024 activity-based estimates. Values unchanged from v26.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SARS customs 2025, registered fuel_trade_sars_by_office.csv. Office of clearance is a gateway proxy, not a measured Vopak terminal receipt. Do not divide 2025 imports by 2023 sales to infer current import penetration.</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SARS litre-reported petrol/diesel codes, complete calendar years. 2020–2025 changes are historical comparisons, not plant-level causal attribution. Export histories retained in the source report; unit/blend exclusions remain.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Show gross versus net imports and preserve sales/production boundaries.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Transnet Pipelines 2025 printed p8: https://www.transnet.net/getFile.ashx?id=6121. Annualised use 5.460bn L and capacity 7.696bn L using 52 weeks. All shippers; no deduction of road/rail volumes from mismatched customs and demand years.</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Sources: Vopak terminal directory; Annual Report 2025 confirms Lesedi expansion commissioned in 2025. Published capacity is not working capacity or throughput. Operating data request: p18. Illustrative turnover sensitivity moved to p43; it is not observed utilisation.</a:t>
            </a:r>
            <a:endParaRPr/>
          </a:p>
          <a:p xmlns:a="http://schemas.openxmlformats.org/drawingml/2006/main">
            <a:r>
              <a:t/>
            </a:r>
            <a:endParaRPr/>
          </a:p>
          <a:p xmlns:a="http://schemas.openxmlformats.org/drawingml/2006/main">
            <a:r>
              <a:t>Page 10 establishes the situation following corridor geography. Commercial and operational evidence remains open; do not infer spare capacity from gross tankage.</a:t>
            </a:r>
            <a:endParaRPr/>
          </a:p>
          <a:p xmlns:a="http://schemas.openxmlformats.org/drawingml/2006/main">
            <a:r>
              <a:t>Workbook source commit: 8a3c884b0d26a3c5819a9a0b702024ab60485d1e</a:t>
            </a:r>
            <a:endParaRPr/>
          </a:p>
          <a:p xmlns:a="http://schemas.openxmlformats.org/drawingml/2006/main">
            <a:r>
              <a:t>Clarify that the commissioned Lesedi expansion is included in the existing footprint.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Stats SA freight; naamsa all-market sales 2019-2025, Workbook Vehicle history S31:S36. BEV/PHEV/HEV sales are distinct from fleet shares. Efficiency paths remain model assumptions, with OEM history and annual calibration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Separate observed drivetrain sales from assumed efficiency and adoption paths.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generation.yaml contains new_1 1000MW and new_2 2000MW, alongside older capacities. Current model power estimate around 3.58bn L (2024) differs from FY2024 Eskom plus estimated IPP fuel around 1.60bn L and FY2025 around 0.89bn L. Fiscal/calendar alignment and private backup remain unresolved. No engine recalibration was adopted in this presentation update.</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FY ending March: reported own diesel + kerosene; Eskom/IPP GWh include kerosene output. Workbook Power fleet separates the four diesel stations. Gas switch, coal-site repowering and L/M/H settings await Nigel/Henry review.</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Distinguish own reported burn from combined generation-derived estimates and proposed cases.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Compare common product, destination, price date and tax basis. Emerging gateways must be considered; no relative cost ranking is asserted without quotes and verified access. Landlocked SADC opportunities require separate market/access evidence.</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8 October PS framework; workbook History Q71/R71. 2023 Department sales 21.94bn L; 2024 FIASA 20.76bn L, unverified. Estimate accessible markets, then verify actual capture. Shared flows and client operating/economic inputs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Integrate the approved issue tree into Resolution with updated baseline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p39; these do not constitute engineered rail or EV project estimates.</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DR01-DR09 register and 8 October PS handback. Prepared, not sent; receipt not recorded. DR09 EV adjacency remains separate. Public estimates can proceed while client data is pending.</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Replace the request summary with all active baseline, route, demand, supply and client gaps.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p>
          <a:p xmlns:a="http://schemas.openxmlformats.org/drawingml/2006/main">
            <a:r>
              <a:t/>
            </a:r>
          </a:p>
          <a:p xmlns:a="http://schemas.openxmlformats.org/drawingml/2006/main">
            <a:r>
              <a:t>Previous revision notes retained for source history; revised slide values take precedence:</a:t>
            </a:r>
          </a:p>
          <a:p xmlns:a="http://schemas.openxmlformats.org/drawingml/2006/main">
            <a:r>
              <a:t>Speaker note: Walk through four sections: the project question, the analytical</a:t>
            </a:r>
          </a:p>
          <a:p xmlns:a="http://schemas.openxmlformats.org/drawingml/2006/main">
            <a:r>
              <a:t>requirements, the model-build problem and the delivery approach. The purpose is to</a:t>
            </a:r>
          </a:p>
          <a:p xmlns:a="http://schemas.openxmlformats.org/drawingml/2006/main">
            <a:r>
              <a:t>connect the analyst's tasks to the decisions the engagement needs to support.</a:t>
            </a:r>
          </a:p>
          <a:p xmlns:a="http://schemas.openxmlformats.org/drawingml/2006/main">
            <a:r>
              <a:t>Week 1 analytical pack, 6 October 2026. Existing kickoff cover/closing reused at user request.</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a:p xmlns:a="http://schemas.openxmlformats.org/drawingml/2006/main">
            <a:r>
              <a:t>SCR delivery order: page 1 of 16. Gap IDs and original evidence references retained in notes.</a:t>
            </a:r>
          </a:p>
          <a:p xmlns:a="http://schemas.openxmlformats.org/drawingml/2006/main">
            <a:r>
              <a:t>6 October SCR editorial pass: presentation copy and map hierarchy only. Source observations, example volumes and model inputs unchanged.</a:t>
            </a:r>
          </a:p>
          <a:p xmlns:a="http://schemas.openxmlformats.org/drawingml/2006/main">
            <a:r>
              <a:t>Convergence order: national accounting p3; provincial map p4; history/estimates p5. Current page 1.</a:t>
            </a:r>
          </a:p>
          <a:p xmlns:a="http://schemas.openxmlformats.org/drawingml/2006/main">
            <a:r>
              <a:t>Final structure: baseline pp3–6; changes pp7–11 (forecast framework p9); outlook pp12–17 (market choices p16, inventory p17). Current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story runs from the opening thesis to the investment tests. The added lever register and power/supply calibration pages record what remains to be populated.</a:t>
            </a:r>
          </a:p>
          <a:p xmlns:a="http://schemas.openxmlformats.org/drawingml/2006/main">
            <a:endParaRPr/>
          </a:p>
          <a:p xmlns:a="http://schemas.openxmlformats.org/drawingml/2006/main">
            <a:r>
              <a:t>Workbook source commit: 8a3c884b0d26a3c5819a9a0b702024ab60485d1e
Refresh evidence navigation to include the added workbook exhibits.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Staged GDP and department fuel sales, indices 2013=100. Sector attribution remains open; COVID distorts short-period comparisons.</a:t>
            </a:r>
          </a:p>
          <a:p xmlns:a="http://schemas.openxmlformats.org/drawingml/2006/main">
            <a:endParaRPr/>
          </a:p>
          <a:p xmlns:a="http://schemas.openxmlformats.org/drawingml/2006/main">
            <a:r>
              <a:t>Workbook source commit: 8a3c884b0d26a3c5819a9a0b702024ab60485d1e
Link aggregate GDP chart to the sector intensity exhibit rather than assume uniform fuel elasticity.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Bank WDI, FDI net inflows and gross fixed capital formation as % of GDP, 2010–2025. Confidence series remains an evidence gap.</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Sector history R7/R9/R17/R19/S23/S25 and History R117/R124/R125. Sector litres after 2021 are estimates; jet 2024 uses unverified FIASA. Index base 2019=100; GVA in 2015 prices.</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Quantify sector and jet context from the workbook while preserving sector definitions.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Department fuel-price history, nominal R/litre. No quantified geopolitical premium or calibrated EV adoption response is asserted.</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Vehicle history S6:S8/S24/S26. Apparent retirements are not verified scrappage. Stone et al. study uses a 2014 base; no recent OEM efficiency history or fuel-by-class stock is established.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observed apparent replacement and distinguish cohort assumptions from efficiency history.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Vehicle history S6:S8/S18:S20/S24/S26/S31:S36/Q52. NaTIS and naamsa classes are not identical. Apparent retirement is not verified scrappage; petrol diagnostic compares different scopes.</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New requested fleet and model-calibration evidence, with scope limits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Eskom Integrated Report 2025, FY March, own diesel + kerosene. Workbook combined generation includes IPPs and kerosene stations; multiplying it by 0.31 L/kWh is an estimate, not reported diesel burn. Private backup remains unmeasured.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Retain comparable own-fleet reported fuel; qualify scope relative to the new fleet page.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Stats SA payload and transport-industry fuel purchases. Workbook Diesel by use Q28: spending / average diesel price, hire-and-reward firms only; may include petrol/lubricants. Road residual includes unseparated uses; tonne-km and rail traction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the spending-based operator fuel proxy; preserve the tonne-kilometre evidence gap.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User-supplied AIA Transnet Funding Brief, Sep 2026, pp1–2; cites FY2026 AFS and Network Statement v4 Annexure 17. Primary figures not independently reconciled.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Department provincial sales through 2022; workbook History Q84/Q104 and R84/R104 estimate later volumes. 2024 also uses unverified FIASA national sales. The chart retains observed 2013-2022 sales history, not current market share.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estimated provincial updates without converting sales or capacity into current share.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HML response has 29 levers. Examples: BEV adoption, rail diversion, mileage, prices, hybrids, truck/LCV electrification and neighbouring exports. All replacement ranges remain proposals; no forecast inputs are adopted in this pack.</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Expose the expanded lever register without adopting analyst proposals.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Power fleet F11:S15 and N63:N65; proposed scenarios, not forecasts. Generation includes kerosene. IPP renewal, gas availability and coal-site repowering are not established. Historical burn must match scope and period.</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Replace generic fleet-data gap wording with the assembled fleet and remaining dispatch dependencies.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Power fleet F11:F15, N63:N65 and S63:S65. Proposed cases, Nigel/Henry review D22. 0.31 L/kWh, backup fraction, load factors, gas supply and coal-site repowering need review. Kerosene stations and private backup are separate.</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New fleet inventory and analyst power scenarios, expressly unapproved.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Existing capacity illustrations retained. Workbook History R53/S53: Sasol all-refined-products output, June FY. Department product production stops at 2021; stocks, plant yields and restart calibration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Add operator output context and reinforce product-output versus nameplate distinction.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Existing capacity-scale ratios retained, not throughput shares. Workbook provincial estimates: 2023 estimated shares; 2024 estimated shares plus unverified national sales. Client throughput and commercial access remain open.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Explain the accessible-market method alongside existing footprint proxies.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Workbook History Q59/Q64/R59/R64/S36:S40/R70. RAF-derived 24.42bn L is combined fuel, fiscal/accrual basis, not an adopted calendar sales total. Product output after 2021 and stocks remain missing; 2025 trade is not 2025 consumption.</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Extend national evidence, add RAF reconciliation flag and retain production/stock gap.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Screening functions tested with synthetic cases; commercial outputs remain unpopulated. Not integrated into the forecast engine or independently reviewed. Owners, request IDs and expiry triggers: workstreams/WS0_governance/workplan/sa_investment_bridge_2026_10_08.csv.</a:t>
            </a:r>
            <a:endParaRPr/>
          </a:p>
          <a:p xmlns:a="http://schemas.openxmlformats.org/drawingml/2006/main">
            <a:r>
              <a:t/>
            </a:r>
            <a:endParaRPr/>
          </a:p>
          <a:p xmlns:a="http://schemas.openxmlformats.org/drawingml/2006/main">
            <a:r>
              <a:t>Workbook source commit: 8a3c884b0d26a3c5819a9a0b702024ab60485d1e</a:t>
            </a:r>
            <a:endParaRPr/>
          </a:p>
          <a:p xmlns:a="http://schemas.openxmlformats.org/drawingml/2006/main">
            <a:r>
              <a:t>Refresh implementation status for the analyst workbook, without asserting forecast integration.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p>
          <a:p xmlns:a="http://schemas.openxmlformats.org/drawingml/2006/main">
            <a:endParaRPr/>
          </a:p>
          <a:p xmlns:a="http://schemas.openxmlformats.org/drawingml/2006/main">
            <a:r>
              <a:t>Workbook source commit: 8a3c884b0d26a3c5819a9a0b702024ab60485d1e
Align original synthesis with the updated consumption scale.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endParaRP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Vopak Annual Report 2025 pp36/39, 63, 213 and 324; FY2025 Analyst Presentation p24; official terminal directory checked 8 Oct 2026. All other business units includes multiple countries; do not allocate its profit to South Africa. URLs, downloaded originals and hashes retained.</a:t>
            </a:r>
          </a:p>
          <a:p xmlns:a="http://schemas.openxmlformats.org/drawingml/2006/main">
            <a:endParaRPr/>
          </a:p>
          <a:p xmlns:a="http://schemas.openxmlformats.org/drawingml/2006/main">
            <a:r>
              <a:t>Workbook source commit: 8a3c884b0d26a3c5819a9a0b702024ab60485d1e
Prevent double-counting the commissioned Lesedi expansion in the asset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Every illustrative value is registered in assumptions/2026/vopak_investment_illustration.yaml. Not a forecast, commercial offer or approval. Proposed validation: Nigel coordinates Vopak commercial/operations; Manish reconciles; independent review outstanding.</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October revision</a:t>
            </a:r>
          </a:p>
          <a:p xmlns:a="http://schemas.openxmlformats.org/drawingml/2006/main">
            <a:r>
              <a:t/>
            </a:r>
            <a:endParaRPr/>
          </a:p>
          <a:p xmlns:a="http://schemas.openxmlformats.org/drawingml/2006/main">
            <a:r>
              <a:t>Sources and assumptions: output/delivered/market_review_2026_10_10/market_review.json; assumptions/2026/market_review.yaml; terminal_site_assumptions.csv; Manish Master_data_book.xlsx and DR01/04/07/08 handback through 9 October. Investment outputs: output/delivered/vopak_illustration_2026_10_10/results.json. Public observations, estimates and authored sensitivities retain their stated scopes. Pipeline source: https://www.transnet.net/getFile.ashx?id=6121, printed p8. No independent approval inferred.</a:t>
            </a:r>
            <a:endParaRPr/>
          </a:p>
          <a:p xmlns:a="http://schemas.openxmlformats.org/drawingml/2006/main">
            <a:r>
              <a:t/>
            </a:r>
            <a:endParaRPr/>
          </a:p>
          <a:p xmlns:a="http://schemas.openxmlformats.org/drawingml/2006/main">
            <a:r>
              <a:t>Previous revision notes retained for source history; revised slide values take precedence:</a:t>
            </a:r>
            <a:endParaRPr/>
          </a:p>
          <a:p xmlns:a="http://schemas.openxmlformats.org/drawingml/2006/main">
            <a:r>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4d0ec3628d45f4" /><Relationship Type="http://schemas.openxmlformats.org/officeDocument/2006/relationships/image" Target="/ppt/media/image.jpeg" Id="R7885e987eea249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3ce0da4b634274" /><Relationship Type="http://schemas.openxmlformats.org/officeDocument/2006/relationships/image" Target="/ppt/media/image2.jpeg" Id="Rfbab81881a574c9f" /><Relationship Type="http://schemas.openxmlformats.org/officeDocument/2006/relationships/image" Target="/ppt/media/image2.png" Id="Rcf85f6a7de2a4c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2ffbbcbea34a1a" /><Relationship Type="http://schemas.openxmlformats.org/officeDocument/2006/relationships/image" Target="/ppt/media/image2.jpeg" Id="R17cf0e120f4d49db" /><Relationship Type="http://schemas.openxmlformats.org/officeDocument/2006/relationships/image" Target="/ppt/media/image2.png" Id="R6838def4bce24d9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64b79b0fe84a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02c991ee8c42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8db9f742164833" /></Relationships>
</file>

<file path=ppt/slideLayouts/slideLayout1.xml><?xml version="1.0" encoding="utf-8"?>
<p:sldLayout xmlns:p="http://schemas.openxmlformats.org/presentationml/2006/main" preserve="1" userDrawn="1">
  <p:cSld name="Title">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pic>
        <p:nvPicPr>
          <p:cNvPr id="12" name="Picture 3"/>
          <p:cNvPicPr>
            <a:picLocks xmlns:a="http://schemas.openxmlformats.org/drawingml/2006/main" noChangeAspect="1"/>
          </p:cNvPicPr>
          <p:nvPr/>
        </p:nvPicPr>
        <p:blipFill rotWithShape="1">
          <a:blip xmlns:r="http://schemas.openxmlformats.org/officeDocument/2006/relationships" xmlns:a="http://schemas.openxmlformats.org/drawingml/2006/main" r:embed="R7885e987eea249c7"/>
          <a:srcRect xmlns:a="http://schemas.openxmlformats.org/drawingml/2006/main" l="0" t="0" r="0" b="0"/>
          <a:stretch xmlns:a="http://schemas.openxmlformats.org/drawingml/2006/main"/>
        </p:blipFill>
        <p:spPr>
          <a:xfrm xmlns:a="http://schemas.openxmlformats.org/drawingml/2006/main">
            <a:off x="0" y="1"/>
            <a:ext cx="11588750" cy="6858000"/>
          </a:xfrm>
          <a:prstGeom xmlns:a="http://schemas.openxmlformats.org/drawingml/2006/main" prst="rect">
            <a:avLst/>
          </a:prstGeom>
        </p:spPr>
      </p:pic>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 y="5137149"/>
            <a:ext cx="4933950" cy="1571625"/>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Tree>
  </p:cSld>
</p:sldLayout>
</file>

<file path=ppt/slideLayouts/slideLayout2.xml><?xml version="1.0" encoding="utf-8"?>
<p:sldLayout xmlns:p="http://schemas.openxmlformats.org/presentationml/2006/main" preserve="1" userDrawn="1">
  <p:cSld name="1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fbab81881a574c9f"/>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7" name="Rectangle 6">
            <a:extLst xmlns:a="http://schemas.openxmlformats.org/drawingml/2006/main">
              <a:ext uri="{FF2B5EF4-FFF2-40B4-BE49-F238E27FC236}">
                <a16:creationId xmlns:a16="http://schemas.microsoft.com/office/drawing/2014/main" id="{3E92D3BD-B933-88AB-9C21-59605B00713D}"/>
              </a:ext>
            </a:extLst>
          </p:cNvPr>
          <p:cNvSpPr>
            <a:spLocks xmlns:a="http://schemas.openxmlformats.org/drawingml/2006/main" noGrp="1"/>
          </p:cNvSpPr>
          <p:nvPr/>
        </p:nvSpPr>
        <p:spPr>
          <a:xfrm xmlns:a="http://schemas.openxmlformats.org/drawingml/2006/main">
            <a:off x="5111750" y="5727050"/>
            <a:ext cx="6477000" cy="4571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10" name="Cover title panel">
            <a:extLst xmlns:a="http://schemas.openxmlformats.org/drawingml/2006/main">
              <a:ext uri="{FF2B5EF4-FFF2-40B4-BE49-F238E27FC236}">
                <a16:creationId xmlns:a16="http://schemas.microsoft.com/office/drawing/2014/main" id="{B6CC79FF-F297-46B4-B0E4-850EE5B89B78}"/>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 name="Vopak cover logo"/>
          <p:cNvPicPr>
            <a:picLocks xmlns:a="http://schemas.openxmlformats.org/drawingml/2006/main" noChangeAspect="1"/>
          </p:cNvPicPr>
          <p:nvPr/>
        </p:nvPicPr>
        <p:blipFill>
          <a:blip xmlns:r="http://schemas.openxmlformats.org/officeDocument/2006/relationships" xmlns:a="http://schemas.openxmlformats.org/drawingml/2006/main" r:embed="Rcf85f6a7de2a4c51"/>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3.xml><?xml version="1.0" encoding="utf-8"?>
<p:sldLayout xmlns:p="http://schemas.openxmlformats.org/presentationml/2006/main" preserve="1" userDrawn="1">
  <p:cSld name="2_Title">
    <p:spTree>
      <p:nvGrpSpPr>
        <p:cNvPr id="1" name=""/>
        <p:cNvGrpSpPr/>
        <p:nvPr/>
      </p:nvGrpSpPr>
      <p:grpSpPr>
        <a:xfrm xmlns:a="http://schemas.openxmlformats.org/drawingml/2006/main"/>
      </p:grpSpPr>
      <p:pic>
        <p:nvPicPr>
          <p:cNvPr id="13" name="Picture 1"/>
          <p:cNvPicPr>
            <a:picLocks xmlns:a="http://schemas.openxmlformats.org/drawingml/2006/main" noChangeAspect="1"/>
          </p:cNvPicPr>
          <p:nvPr/>
        </p:nvPicPr>
        <p:blipFill>
          <a:blip xmlns:r="http://schemas.openxmlformats.org/officeDocument/2006/relationships" xmlns:a="http://schemas.openxmlformats.org/drawingml/2006/main" r:embed="R17cf0e120f4d49db"/>
          <a:srcRect xmlns:a="http://schemas.openxmlformats.org/drawingml/2006/main" l="1233" t="15791" r="178" b="318"/>
          <a:stretch xmlns:a="http://schemas.openxmlformats.org/drawingml/2006/main">
            <a:fillRect l="0" t="0" r="0" b="0"/>
          </a:stretch>
        </p:blipFill>
        <p:spPr>
          <a:xfrm xmlns:a="http://schemas.openxmlformats.org/drawingml/2006/main">
            <a:off x="1" y="-12700"/>
            <a:ext cx="11588749" cy="5753329"/>
          </a:xfrm>
          <a:prstGeom xmlns:a="http://schemas.openxmlformats.org/drawingml/2006/main" prst="rect">
            <a:avLst/>
          </a:prstGeom>
        </p:spPr>
      </p:pic>
      <p:sp>
        <p:nvSpPr>
          <p:cNvPr id="3" name="Slide Number Placeholder 2">
            <a:extLst xmlns:a="http://schemas.openxmlformats.org/drawingml/2006/main">
              <a:ext uri="{FF2B5EF4-FFF2-40B4-BE49-F238E27FC236}">
                <a16:creationId xmlns:a16="http://schemas.microsoft.com/office/drawing/2014/main" id="{9509FAFE-21DB-4F6B-8EA1-32FA210B705A}"/>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p xmlns:a="http://schemas.openxmlformats.org/drawingml/2006/main">
            <a:fld id="{5E48029D-87D6-48C3-BA4B-1065A63511DF}" type="slidenum">
              <a:rPr>
                <a:solidFill>
                  <a:schemeClr val="tx1"/>
                </a:solidFill>
              </a:rPr>
              <a:t>‹#›</a:t>
            </a:fld>
            <a:endParaRPr>
              <a:solidFill>
                <a:schemeClr val="tx1"/>
              </a:solidFill>
            </a:endParaRPr>
          </a:p>
        </p:txBody>
      </p:sp>
      <p:sp>
        <p:nvSpPr>
          <p:cNvPr id="4" name="Rectangle 3">
            <a:extLst xmlns:a="http://schemas.openxmlformats.org/drawingml/2006/main">
              <a:ext uri="{FF2B5EF4-FFF2-40B4-BE49-F238E27FC236}">
                <a16:creationId xmlns:a16="http://schemas.microsoft.com/office/drawing/2014/main" id="{FC81615D-618B-242E-BA84-0838689DFC39}"/>
              </a:ext>
            </a:extLst>
          </p:cNvPr>
          <p:cNvSpPr>
            <a:spLocks xmlns:a="http://schemas.openxmlformats.org/drawingml/2006/main" noGrp="1"/>
          </p:cNvSpPr>
          <p:nvPr/>
        </p:nvSpPr>
        <p:spPr>
          <a:xfrm xmlns:a="http://schemas.openxmlformats.org/drawingml/2006/main">
            <a:off x="1" y="5661025"/>
            <a:ext cx="11588749" cy="1200604"/>
          </a:xfrm>
          <a:prstGeom xmlns:a="http://schemas.openxmlformats.org/drawingml/2006/main" prst="rect">
            <a:avLst/>
          </a:prstGeom>
          <a:solidFill xmlns:a="http://schemas.openxmlformats.org/drawingml/2006/main">
            <a:srgbClr val="326757"/>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Text Placeholder 8">
            <a:extLst xmlns:a="http://schemas.openxmlformats.org/drawingml/2006/main">
              <a:ext uri="{FF2B5EF4-FFF2-40B4-BE49-F238E27FC236}">
                <a16:creationId xmlns:a16="http://schemas.microsoft.com/office/drawing/2014/main" id="{F597E07F-A0B2-4C60-A493-63795665B2AC}"/>
              </a:ext>
            </a:extLst>
          </p:cNvPr>
          <p:cNvSpPr>
            <a:spLocks xmlns:a="http://schemas.openxmlformats.org/drawingml/2006/main" noGrp="1"/>
          </p:cNvSpPr>
          <p:nvPr>
            <p:ph type="body" idx="11"/>
          </p:nvPr>
        </p:nvSpPr>
        <p:spPr>
          <a:xfrm xmlns:a="http://schemas.openxmlformats.org/drawingml/2006/main">
            <a:off x="177800" y="5205413"/>
            <a:ext cx="4933950" cy="1652587"/>
          </a:xfrm>
          <a:prstGeom xmlns:a="http://schemas.openxmlformats.org/drawingml/2006/main" prst="rect">
            <a:avLst/>
          </a:prstGeom>
          <a:solidFill xmlns:a="http://schemas.openxmlformats.org/drawingml/2006/main">
            <a:schemeClr val="bg1">
              <a:alpha val="50000"/>
            </a:schemeClr>
          </a:solidFill>
        </p:spPr>
        <p:txBody>
          <a:bodyPr xmlns:a="http://schemas.openxmlformats.org/drawingml/2006/main" anchor="ctr">
            <a:noAutofit/>
          </a:bodyPr>
          <a:lstStyle xmlns:a="http://schemas.openxmlformats.org/drawingml/2006/main">
            <a:lvl1pPr marL="0" indent="0">
              <a:buNone/>
              <a:defRPr sz="2400" b="1">
                <a:solidFill>
                  <a:schemeClr val="tx1"/>
                </a:solidFill>
              </a:defRPr>
            </a:lvl1pPr>
            <a:lvl2pPr>
              <a:buNone/>
              <a:defRPr sz="2000" b="1">
                <a:solidFill>
                  <a:schemeClr val="tx1"/>
                </a:solidFill>
              </a:defRPr>
            </a:lvl2pPr>
            <a:lvl3pPr>
              <a:buNone/>
              <a:defRPr sz="1800" b="1">
                <a:solidFill>
                  <a:schemeClr val="tx1"/>
                </a:solidFill>
              </a:defRPr>
            </a:lvl3pPr>
            <a:lvl4pPr>
              <a:buNone/>
              <a:defRPr sz="1600" b="1">
                <a:solidFill>
                  <a:schemeClr val="tx1"/>
                </a:solidFill>
              </a:defRPr>
            </a:lvl4pPr>
            <a:lvl5pPr>
              <a:buNone/>
              <a:defRPr sz="1600" b="1">
                <a:solidFill>
                  <a:schemeClr val="tx1"/>
                </a:solidFill>
              </a:defRPr>
            </a:lvl5pPr>
          </a:lstStyle>
          <a:p xmlns:a="http://schemas.openxmlformats.org/drawingml/2006/main">
            <a:pPr lvl="0">
              <a:buNone/>
            </a:pPr>
            <a:r>
              <a:rPr>
                <a:solidFill>
                  <a:schemeClr val="tx1"/>
                </a:solidFill>
              </a:rPr>
              <a:t>Click to edit Master text styles</a:t>
            </a:r>
          </a:p>
        </p:txBody>
      </p:sp>
      <p:sp>
        <p:nvSpPr>
          <p:cNvPr id="10" name="Cover title panel">
            <a:extLst xmlns:a="http://schemas.openxmlformats.org/drawingml/2006/main">
              <a:ext uri="{FF2B5EF4-FFF2-40B4-BE49-F238E27FC236}">
                <a16:creationId xmlns:a16="http://schemas.microsoft.com/office/drawing/2014/main" id="{571FD3DD-6D32-43BA-B044-BAFA89A96F83}"/>
              </a:ext>
            </a:extLst>
          </p:cNvPr>
          <p:cNvSpPr>
            <a:spLocks xmlns:a="http://schemas.openxmlformats.org/drawingml/2006/main" noGrp="1"/>
          </p:cNvSpPr>
          <p:nvPr/>
        </p:nvSpPr>
        <p:spPr>
          <a:xfrm xmlns:a="http://schemas.openxmlformats.org/drawingml/2006/main">
            <a:off x="118872" y="4690872"/>
            <a:ext cx="4992624" cy="1993392"/>
          </a:xfrm>
          <a:prstGeom xmlns:a="http://schemas.openxmlformats.org/drawingml/2006/main" prst="rect">
            <a:avLst/>
          </a:prstGeom>
          <a:solidFill xmlns:a="http://schemas.openxmlformats.org/drawingml/2006/main">
            <a:srgbClr val="E7E6E6">
              <a:alpha val="60000"/>
            </a:srgb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Vopak cover logo"/>
          <p:cNvPicPr>
            <a:picLocks xmlns:a="http://schemas.openxmlformats.org/drawingml/2006/main" noChangeAspect="1"/>
          </p:cNvPicPr>
          <p:nvPr/>
        </p:nvPicPr>
        <p:blipFill>
          <a:blip xmlns:r="http://schemas.openxmlformats.org/officeDocument/2006/relationships" xmlns:a="http://schemas.openxmlformats.org/drawingml/2006/main" r:embed="R6838def4bce24d96"/>
          <a:stretch xmlns:a="http://schemas.openxmlformats.org/drawingml/2006/main">
            <a:fillRect l="0" t="0" r="0" b="0"/>
          </a:stretch>
        </p:blipFill>
        <p:spPr>
          <a:xfrm xmlns:a="http://schemas.openxmlformats.org/drawingml/2006/main">
            <a:off x="2229814" y="5675739"/>
            <a:ext cx="2518046" cy="564539"/>
          </a:xfrm>
          <a:prstGeom xmlns:a="http://schemas.openxmlformats.org/drawingml/2006/main" prst="rect">
            <a:avLst/>
          </a:prstGeom>
        </p:spPr>
      </p:pic>
    </p:spTree>
  </p:cSld>
</p:sldLayout>
</file>

<file path=ppt/slideLayouts/slideLayout4.xml><?xml version="1.0" encoding="utf-8"?>
<p:sldLayout xmlns:p="http://schemas.openxmlformats.org/presentationml/2006/main" preserve="1" userDrawn="1">
  <p:cSld name="1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4299527"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5.xml><?xml version="1.0" encoding="utf-8"?>
<p:sldLayout xmlns:p="http://schemas.openxmlformats.org/presentationml/2006/main" preserve="1" userDrawn="1">
  <p:cSld name="2_Agenda">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01460789-817F-4161-99E1-BBB95ED4BDDD}"/>
              </a:ext>
            </a:extLst>
          </p:cNvPr>
          <p:cNvSpPr>
            <a:spLocks xmlns:a="http://schemas.openxmlformats.org/drawingml/2006/main" noGrp="1"/>
          </p:cNvSpPr>
          <p:nvPr>
            <p:ph type="sldNum" idx="10"/>
          </p:nvPr>
        </p:nvSpPr>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sp>
        <p:nvSpPr>
          <p:cNvPr id="8" name="Rectangle 7">
            <a:extLst xmlns:a="http://schemas.openxmlformats.org/drawingml/2006/main">
              <a:ext uri="{FF2B5EF4-FFF2-40B4-BE49-F238E27FC236}">
                <a16:creationId xmlns:a16="http://schemas.microsoft.com/office/drawing/2014/main" id="{EB4FC8D6-72B7-40D6-89CC-331B0BF40A6F}"/>
              </a:ext>
            </a:extLst>
          </p:cNvPr>
          <p:cNvSpPr>
            <a:spLocks xmlns:a="http://schemas.openxmlformats.org/drawingml/2006/main" noGrp="1"/>
          </p:cNvSpPr>
          <p:nvPr/>
        </p:nvSpPr>
        <p:spPr>
          <a:xfrm xmlns:a="http://schemas.openxmlformats.org/drawingml/2006/main">
            <a:off x="9079200" y="0"/>
            <a:ext cx="2509074" cy="1035049"/>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tx1"/>
              </a:solidFill>
            </a:endParaRPr>
          </a:p>
        </p:txBody>
      </p:sp>
      <p:sp>
        <p:nvSpPr>
          <p:cNvPr id="9" name="Rectangle 8">
            <a:extLst xmlns:a="http://schemas.openxmlformats.org/drawingml/2006/main">
              <a:ext uri="{FF2B5EF4-FFF2-40B4-BE49-F238E27FC236}">
                <a16:creationId xmlns:a16="http://schemas.microsoft.com/office/drawing/2014/main" id="{41EDA466-D75C-48F1-9F3F-47B154E770B8}"/>
              </a:ext>
            </a:extLst>
          </p:cNvPr>
          <p:cNvSpPr>
            <a:spLocks xmlns:a="http://schemas.openxmlformats.org/drawingml/2006/main" noGrp="1"/>
          </p:cNvSpPr>
          <p:nvPr/>
        </p:nvSpPr>
        <p:spPr>
          <a:xfrm xmlns:a="http://schemas.openxmlformats.org/drawingml/2006/main">
            <a:off x="-29153" y="0"/>
            <a:ext cx="5823528" cy="6858000"/>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endParaRPr sz="2800" b="1">
              <a:solidFill>
                <a:schemeClr val="tx1"/>
              </a:solidFill>
            </a:endParaRPr>
          </a:p>
          <a:p xmlns:a="http://schemas.openxmlformats.org/drawingml/2006/main">
            <a:pPr algn="ctr">
              <a:buNone/>
            </a:pPr>
            <a:endParaRPr sz="2800" b="1">
              <a:solidFill>
                <a:schemeClr val="tx1"/>
              </a:solidFill>
            </a:endParaRPr>
          </a:p>
        </p:txBody>
      </p:sp>
    </p:spTree>
  </p:cSld>
</p:sldLayout>
</file>

<file path=ppt/slideLayouts/slideLayout6.xml><?xml version="1.0" encoding="utf-8"?>
<p:sldLayout xmlns:p="http://schemas.openxmlformats.org/presentationml/2006/main" preserve="1" userDrawn="1">
  <p:cSld name="Header only">
    <p:spTree>
      <p:nvGrpSpPr>
        <p:cNvPr id="1" name=""/>
        <p:cNvGrpSpPr/>
        <p:nvPr/>
      </p:nvGrpSpPr>
      <p:grpSpPr>
        <a:xfrm xmlns:a="http://schemas.openxmlformats.org/drawingml/2006/main"/>
      </p:grpSpPr>
      <p:sp>
        <p:nvSpPr>
          <p:cNvPr id="6" name="Slide Number Placeholder 5">
            <a:extLst xmlns:a="http://schemas.openxmlformats.org/drawingml/2006/main">
              <a:ext uri="{FF2B5EF4-FFF2-40B4-BE49-F238E27FC236}">
                <a16:creationId xmlns:a16="http://schemas.microsoft.com/office/drawing/2014/main" id="{2196FAB5-3A31-4A82-B70E-C4CDDAD20A82}"/>
              </a:ext>
            </a:extLst>
          </p:cNvPr>
          <p:cNvSpPr>
            <a:spLocks xmlns:a="http://schemas.openxmlformats.org/drawingml/2006/main" noGrp="1"/>
          </p:cNvSpPr>
          <p:nvPr>
            <p:ph type="sldNum" idx="12"/>
          </p:nvPr>
        </p:nvSpPr>
        <p:spPr>
          <a:xfrm xmlns:a="http://schemas.openxmlformats.org/drawingml/2006/main">
            <a:off x="10605599" y="6489700"/>
            <a:ext cx="805350" cy="287338"/>
          </a:xfrm>
        </p:spPr>
        <p:txBody>
          <a:bodyPr xmlns:a="http://schemas.openxmlformats.org/drawingml/2006/main"/>
          <a:lstStyle xmlns:a="http://schemas.openxmlformats.org/drawingml/2006/main">
            <a:lvl1pPr>
              <a:buNone/>
              <a:defRPr sz="1000">
                <a:solidFill>
                  <a:schemeClr val="tx1"/>
                </a:solidFill>
              </a:defRPr>
            </a:lvl1pPr>
          </a:lstStyle>
          <a:p xmlns:a="http://schemas.openxmlformats.org/drawingml/2006/main">
            <a:fld id="{A65E4EDC-57F8-4D5C-B13E-A981C5F2F71A}" type="slidenum">
              <a:rPr>
                <a:solidFill>
                  <a:schemeClr val="tx1"/>
                </a:solidFill>
              </a:rPr>
              <a:t>‹#›</a:t>
            </a:fld>
            <a:endParaRPr>
              <a:solidFill>
                <a:schemeClr val="tx1"/>
              </a:solidFill>
            </a:endParaRPr>
          </a:p>
        </p:txBody>
      </p:sp>
      <p:sp>
        <p:nvSpPr>
          <p:cNvPr id="3" name="Title Placeholder 1">
            <a:extLst xmlns:a="http://schemas.openxmlformats.org/drawingml/2006/main">
              <a:ext uri="{FF2B5EF4-FFF2-40B4-BE49-F238E27FC236}">
                <a16:creationId xmlns:a16="http://schemas.microsoft.com/office/drawing/2014/main" id="{8395ED8E-92E9-32C5-9BE4-BAF8026DD357}"/>
              </a:ext>
            </a:extLst>
          </p:cNvPr>
          <p:cNvSpPr>
            <a:spLocks xmlns:a="http://schemas.openxmlformats.org/drawingml/2006/main" noGrp="1"/>
          </p:cNvSpPr>
          <p:nvPr>
            <p:ph type="title" idx="0"/>
          </p:nvPr>
        </p:nvSpPr>
        <p:spPr>
          <a:xfrm xmlns:a="http://schemas.openxmlformats.org/drawingml/2006/main">
            <a:off x="457200" y="585216"/>
            <a:ext cx="10561320" cy="82296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rPr>
                <a:solidFill>
                  <a:schemeClr val="tx1"/>
                </a:solidFill>
              </a:rPr>
              <a:t>Click to edit Master title style</a:t>
            </a:r>
          </a:p>
        </p:txBody>
      </p:sp>
      <p:sp>
        <p:nvSpPr>
          <p:cNvPr id="7" name="Title and body separator">
            <a:extLst xmlns:a="http://schemas.openxmlformats.org/drawingml/2006/main">
              <a:ext uri="{FF2B5EF4-FFF2-40B4-BE49-F238E27FC236}">
                <a16:creationId xmlns:a16="http://schemas.microsoft.com/office/drawing/2014/main" id="{6079D373-E04F-4CB2-8D62-0EE11526CD3C}"/>
              </a:ext>
            </a:extLst>
          </p:cNvPr>
          <p:cNvSpPr>
            <a:spLocks xmlns:a="http://schemas.openxmlformats.org/drawingml/2006/main" noGrp="1"/>
          </p:cNvSpPr>
          <p:nvPr/>
        </p:nvSpPr>
        <p:spPr>
          <a:xfrm xmlns:a="http://schemas.openxmlformats.org/drawingml/2006/main">
            <a:off x="457200" y="1444752"/>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b677f9039a114f8b" /><Relationship Type="http://schemas.openxmlformats.org/officeDocument/2006/relationships/theme" Target="/ppt/slideMasters/theme/theme2.xml" Id="R1de3b7fce90c48a4" /><Relationship Type="http://schemas.openxmlformats.org/officeDocument/2006/relationships/slideLayout" Target="/ppt/slideLayouts/slideLayout1.xml" Id="Re657fd8d7b774e37" /><Relationship Type="http://schemas.openxmlformats.org/officeDocument/2006/relationships/slideLayout" Target="/ppt/slideLayouts/slideLayout2.xml" Id="R1db88cfc6136493f" /><Relationship Type="http://schemas.openxmlformats.org/officeDocument/2006/relationships/slideLayout" Target="/ppt/slideLayouts/slideLayout3.xml" Id="Rfe54499b7ba9449a" /><Relationship Type="http://schemas.openxmlformats.org/officeDocument/2006/relationships/slideLayout" Target="/ppt/slideLayouts/slideLayout4.xml" Id="R9db0dace298d4faf" /><Relationship Type="http://schemas.openxmlformats.org/officeDocument/2006/relationships/slideLayout" Target="/ppt/slideLayouts/slideLayout5.xml" Id="Rfa82c34ed1cd4ce5" /><Relationship Type="http://schemas.openxmlformats.org/officeDocument/2006/relationships/slideLayout" Target="/ppt/slideLayouts/slideLayout6.xml" Id="R971216250c66430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5C860AC-EA18-440E-B23B-E92B7C49F015}"/>
              </a:ext>
            </a:extLst>
          </p:cNvPr>
          <p:cNvSpPr>
            <a:spLocks xmlns:a="http://schemas.openxmlformats.org/drawingml/2006/main" noGrp="1"/>
          </p:cNvSpPr>
          <p:nvPr>
            <p:ph type="title" idx="0"/>
          </p:nvPr>
        </p:nvSpPr>
        <p:spPr>
          <a:xfrm xmlns:a="http://schemas.openxmlformats.org/drawingml/2006/main">
            <a:off x="177801" y="368299"/>
            <a:ext cx="11233148" cy="690101"/>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8C59D33E-9E34-4BB4-9EFE-331A0FF3C833}"/>
              </a:ext>
            </a:extLst>
          </p:cNvPr>
          <p:cNvSpPr>
            <a:spLocks xmlns:a="http://schemas.openxmlformats.org/drawingml/2006/main" noGrp="1"/>
          </p:cNvSpPr>
          <p:nvPr>
            <p:ph type="body" idx="1"/>
          </p:nvPr>
        </p:nvSpPr>
        <p:spPr>
          <a:xfrm xmlns:a="http://schemas.openxmlformats.org/drawingml/2006/main">
            <a:off x="177801" y="1233488"/>
            <a:ext cx="11233149" cy="5256212"/>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endParaRPr/>
          </a:p>
        </p:txBody>
      </p:sp>
      <p:sp>
        <p:nvSpPr>
          <p:cNvPr id="6" name="Slide Number Placeholder 5">
            <a:extLst xmlns:a="http://schemas.openxmlformats.org/drawingml/2006/main">
              <a:ext uri="{FF2B5EF4-FFF2-40B4-BE49-F238E27FC236}">
                <a16:creationId xmlns:a16="http://schemas.microsoft.com/office/drawing/2014/main" id="{A722AEE9-FEF7-46B6-98E2-A569C4A8AD3C}"/>
              </a:ext>
            </a:extLst>
          </p:cNvPr>
          <p:cNvSpPr>
            <a:spLocks xmlns:a="http://schemas.openxmlformats.org/drawingml/2006/main" noGrp="1"/>
          </p:cNvSpPr>
          <p:nvPr>
            <p:ph type="sldNum" idx="4"/>
          </p:nvPr>
        </p:nvSpPr>
        <p:spPr>
          <a:xfrm xmlns:a="http://schemas.openxmlformats.org/drawingml/2006/main">
            <a:off x="10605599" y="6489700"/>
            <a:ext cx="805350" cy="28733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fld id="{5E48029D-87D6-48C3-BA4B-1065A63511DF}" type="slidenum">
              <a:rPr>
                <a:solidFill>
                  <a:schemeClr val="tx1"/>
                </a:solidFill>
              </a:rPr>
              <a:t>‹#›</a:t>
            </a:fld>
            <a:endParaRPr>
              <a:solidFill>
                <a:schemeClr val="tx1"/>
              </a:solidFill>
            </a:endParaRPr>
          </a:p>
        </p:txBody>
      </p:sp>
      <p:pic>
        <p:nvPicPr>
          <p:cNvPr id="15" name="Picture 2"/>
          <p:cNvPicPr>
            <a:picLocks xmlns:a="http://schemas.openxmlformats.org/drawingml/2006/main" noChangeAspect="1"/>
          </p:cNvPicPr>
          <p:nvPr/>
        </p:nvPicPr>
        <p:blipFill>
          <a:blip xmlns:r="http://schemas.openxmlformats.org/officeDocument/2006/relationships" xmlns:a="http://schemas.openxmlformats.org/drawingml/2006/main" r:embed="Rb677f9039a114f8b"/>
          <a:srcRect xmlns:a="http://schemas.openxmlformats.org/drawingml/2006/main" l="0" t="0" r="0" b="0"/>
          <a:stretch xmlns:a="http://schemas.openxmlformats.org/drawingml/2006/main">
            <a:fillRect l="0" t="0" r="0" b="0"/>
          </a:stretch>
        </p:blipFill>
        <p:spPr>
          <a:xfrm xmlns:a="http://schemas.openxmlformats.org/drawingml/2006/main">
            <a:off x="9906000" y="6515100"/>
            <a:ext cx="952500" cy="212558"/>
          </a:xfrm>
          <a:prstGeom xmlns:a="http://schemas.openxmlformats.org/drawingml/2006/main" prst="rect">
            <a:avLst/>
          </a:prstGeom>
        </p:spPr>
      </p:pic>
      <p:sp>
        <p:nvSpPr>
          <p:cNvPr id="9" name="Text Placeholder 6">
            <a:extLst xmlns:a="http://schemas.openxmlformats.org/drawingml/2006/main">
              <a:ext uri="{FF2B5EF4-FFF2-40B4-BE49-F238E27FC236}">
                <a16:creationId xmlns:a16="http://schemas.microsoft.com/office/drawing/2014/main" id="{5CB3F387-66D0-18CC-51EE-24B908A792B7}"/>
              </a:ext>
            </a:extLst>
          </p:cNvPr>
          <p:cNvSpPr>
            <a:spLocks xmlns:a="http://schemas.openxmlformats.org/drawingml/2006/main" noGrp="1"/>
          </p:cNvSpPr>
          <p:nvPr/>
        </p:nvSpPr>
        <p:spPr>
          <a:xfrm xmlns:a="http://schemas.openxmlformats.org/drawingml/2006/main">
            <a:off x="457200" y="6528816"/>
            <a:ext cx="8595360" cy="228600"/>
          </a:xfrm>
          <a:prstGeom xmlns:a="http://schemas.openxmlformats.org/drawingml/2006/main" prst="rect">
            <a:avLst/>
          </a:prstGeom>
        </p:spPr>
        <p:txBody>
          <a:bodyPr xmlns:a="http://schemas.openxmlformats.org/drawingml/2006/main" tIns="0" bIns="0" anchor="ctr">
            <a:normAutofit/>
          </a:bodyPr>
          <a:lstStyle xmlns:a="http://schemas.openxmlformats.org/drawingml/2006/main">
            <a:lvl1pPr marL="0" indent="0" algn="l" defTabSz="869137">
              <a:lnSpc>
                <a:spcPct val="90000"/>
              </a:lnSpc>
              <a:spcBef>
                <a:spcPts val="951"/>
              </a:spcBef>
              <a:buFont typeface="Arial"/>
              <a:buNone/>
              <a:defRPr sz="1000" kern="1200">
                <a:solidFill>
                  <a:schemeClr val="tx1"/>
                </a:solidFill>
                <a:latin typeface="+mn-lt"/>
                <a:ea typeface="+mn-lt"/>
                <a:cs typeface="+mn-lt"/>
              </a:defRPr>
            </a:lvl1pPr>
            <a:lvl2pPr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marL="3693833" indent="-217284" algn="l" defTabSz="869137">
              <a:lnSpc>
                <a:spcPct val="90000"/>
              </a:lnSpc>
              <a:spcBef>
                <a:spcPts val="475"/>
              </a:spcBef>
              <a:buFont typeface="Arial"/>
              <a:buChar char="•"/>
              <a:defRPr sz="1711" kern="1200">
                <a:solidFill>
                  <a:schemeClr val="tx1"/>
                </a:solidFill>
                <a:latin typeface="+mn-lt"/>
                <a:ea typeface="+mn-lt"/>
                <a:cs typeface="+mn-lt"/>
              </a:defRPr>
            </a:lvl9pPr>
          </a:lstStyle>
          <a:p xmlns:a="http://schemas.openxmlformats.org/drawingml/2006/main">
            <a:pPr>
              <a:buNone/>
              <a:defRPr sz="800">
                <a:solidFill>
                  <a:srgbClr val="404040"/>
                </a:solidFill>
                <a:latin typeface="Lato"/>
                <a:ea typeface="Lato"/>
                <a:cs typeface="Lato"/>
              </a:defRPr>
            </a:pPr>
            <a:endParaRPr/>
          </a:p>
        </p:txBody>
      </p:sp>
      <p:sp>
        <p:nvSpPr>
          <p:cNvPr id="10" name="Fine footer rule">
            <a:extLst xmlns:a="http://schemas.openxmlformats.org/drawingml/2006/main">
              <a:ext uri="{FF2B5EF4-FFF2-40B4-BE49-F238E27FC236}">
                <a16:creationId xmlns:a16="http://schemas.microsoft.com/office/drawing/2014/main" id="{B4062CE9-9215-4788-A6E3-2613DEB91A9E}"/>
              </a:ext>
            </a:extLst>
          </p:cNvPr>
          <p:cNvSpPr>
            <a:spLocks xmlns:a="http://schemas.openxmlformats.org/drawingml/2006/main" noGrp="1"/>
          </p:cNvSpPr>
          <p:nvPr/>
        </p:nvSpPr>
        <p:spPr>
          <a:xfrm xmlns:a="http://schemas.openxmlformats.org/drawingml/2006/main">
            <a:off x="457200" y="6437376"/>
            <a:ext cx="10652760" cy="0"/>
          </a:xfrm>
          <a:prstGeom xmlns:a="http://schemas.openxmlformats.org/drawingml/2006/main" prst="line">
            <a:avLst/>
          </a:prstGeom>
          <a:ln xmlns:a="http://schemas.openxmlformats.org/drawingml/2006/main" w="3175">
            <a:solidFill>
              <a:srgbClr val="B0B0B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57fd8d7b774e37"/>
    <p:sldLayoutId xmlns:r="http://schemas.openxmlformats.org/officeDocument/2006/relationships" id="2147483650" r:id="R1db88cfc6136493f"/>
    <p:sldLayoutId xmlns:r="http://schemas.openxmlformats.org/officeDocument/2006/relationships" id="2147483651" r:id="Rfe54499b7ba9449a"/>
    <p:sldLayoutId xmlns:r="http://schemas.openxmlformats.org/officeDocument/2006/relationships" id="2147483652" r:id="R9db0dace298d4faf"/>
    <p:sldLayoutId xmlns:r="http://schemas.openxmlformats.org/officeDocument/2006/relationships" id="2147483653" r:id="Rfa82c34ed1cd4ce5"/>
    <p:sldLayoutId xmlns:r="http://schemas.openxmlformats.org/officeDocument/2006/relationships" id="2147483654" r:id="R971216250c664306"/>
  </p:sldLayoutIdLst>
  <p:hf hdr="0" ftr="0" dt="0"/>
  <p:txStyles>
    <p:titleStyle>
      <a:lvl1pPr xmlns:a="http://schemas.openxmlformats.org/drawingml/2006/main" algn="l" defTabSz="869137">
        <a:lnSpc>
          <a:spcPct val="90000"/>
        </a:lnSpc>
        <a:spcBef>
          <a:spcPct val="0"/>
        </a:spcBef>
        <a:buNone/>
        <a:defRPr sz="2200" b="1" kern="1200">
          <a:solidFill>
            <a:schemeClr val="tx1"/>
          </a:solidFill>
          <a:latin typeface="+mj-lt"/>
          <a:ea typeface="+mj-lt"/>
          <a:cs typeface="+mj-lt"/>
        </a:defRPr>
      </a:lvl1pPr>
    </p:titleStyle>
    <p:bodyStyle>
      <a:lvl1pPr xmlns:a="http://schemas.openxmlformats.org/drawingml/2006/main" marL="217284" indent="-217284" algn="l" defTabSz="869137">
        <a:lnSpc>
          <a:spcPct val="90000"/>
        </a:lnSpc>
        <a:spcBef>
          <a:spcPts val="951"/>
        </a:spcBef>
        <a:buFont typeface="Arial"/>
        <a:buChar char="•"/>
        <a:defRPr sz="2000" kern="1200">
          <a:solidFill>
            <a:schemeClr val="tx1"/>
          </a:solidFill>
          <a:latin typeface="+mn-lt"/>
          <a:ea typeface="+mn-lt"/>
          <a:cs typeface="+mn-lt"/>
        </a:defRPr>
      </a:lvl1pPr>
      <a:lvl2pPr xmlns:a="http://schemas.openxmlformats.org/drawingml/2006/main" marL="651853" indent="-217284" algn="l" defTabSz="869137">
        <a:lnSpc>
          <a:spcPct val="90000"/>
        </a:lnSpc>
        <a:spcBef>
          <a:spcPts val="475"/>
        </a:spcBef>
        <a:buFont typeface="Arial"/>
        <a:buChar char="•"/>
        <a:defRPr sz="1800" kern="1200">
          <a:solidFill>
            <a:schemeClr val="tx1"/>
          </a:solidFill>
          <a:latin typeface="+mn-lt"/>
          <a:ea typeface="+mn-lt"/>
          <a:cs typeface="+mn-lt"/>
        </a:defRPr>
      </a:lvl2pPr>
      <a:lvl3pPr xmlns:a="http://schemas.openxmlformats.org/drawingml/2006/main" marL="1086422" indent="-217284" algn="l" defTabSz="869137">
        <a:lnSpc>
          <a:spcPct val="90000"/>
        </a:lnSpc>
        <a:spcBef>
          <a:spcPts val="475"/>
        </a:spcBef>
        <a:buFont typeface="Arial"/>
        <a:buChar char="•"/>
        <a:defRPr sz="1600" kern="1200">
          <a:solidFill>
            <a:schemeClr val="tx1"/>
          </a:solidFill>
          <a:latin typeface="+mn-lt"/>
          <a:ea typeface="+mn-lt"/>
          <a:cs typeface="+mn-lt"/>
        </a:defRPr>
      </a:lvl3pPr>
      <a:lvl4pPr xmlns:a="http://schemas.openxmlformats.org/drawingml/2006/main" marL="1520990" indent="-217284" algn="l" defTabSz="869137">
        <a:lnSpc>
          <a:spcPct val="90000"/>
        </a:lnSpc>
        <a:spcBef>
          <a:spcPts val="475"/>
        </a:spcBef>
        <a:buFont typeface="Arial"/>
        <a:buChar char="•"/>
        <a:defRPr sz="1400" kern="1200">
          <a:solidFill>
            <a:schemeClr val="tx1"/>
          </a:solidFill>
          <a:latin typeface="+mn-lt"/>
          <a:ea typeface="+mn-lt"/>
          <a:cs typeface="+mn-lt"/>
        </a:defRPr>
      </a:lvl4pPr>
      <a:lvl5pPr xmlns:a="http://schemas.openxmlformats.org/drawingml/2006/main" marL="1955559" indent="-217284" algn="l" defTabSz="869137">
        <a:lnSpc>
          <a:spcPct val="90000"/>
        </a:lnSpc>
        <a:spcBef>
          <a:spcPts val="475"/>
        </a:spcBef>
        <a:buFont typeface="Arial"/>
        <a:buChar char="•"/>
        <a:defRPr sz="1400" kern="1200">
          <a:solidFill>
            <a:schemeClr val="tx1"/>
          </a:solidFill>
          <a:latin typeface="+mn-lt"/>
          <a:ea typeface="+mn-lt"/>
          <a:cs typeface="+mn-lt"/>
        </a:defRPr>
      </a:lvl5pPr>
      <a:lvl6pPr xmlns:a="http://schemas.openxmlformats.org/drawingml/2006/main" marL="2390127" indent="-217284" algn="l" defTabSz="869137">
        <a:lnSpc>
          <a:spcPct val="90000"/>
        </a:lnSpc>
        <a:spcBef>
          <a:spcPts val="475"/>
        </a:spcBef>
        <a:buFont typeface="Arial"/>
        <a:buChar char="•"/>
        <a:defRPr sz="1711" kern="1200">
          <a:solidFill>
            <a:schemeClr val="tx1"/>
          </a:solidFill>
          <a:latin typeface="+mn-lt"/>
          <a:ea typeface="+mn-lt"/>
          <a:cs typeface="+mn-lt"/>
        </a:defRPr>
      </a:lvl6pPr>
      <a:lvl7pPr xmlns:a="http://schemas.openxmlformats.org/drawingml/2006/main" marL="2824696" indent="-217284" algn="l" defTabSz="869137">
        <a:lnSpc>
          <a:spcPct val="90000"/>
        </a:lnSpc>
        <a:spcBef>
          <a:spcPts val="475"/>
        </a:spcBef>
        <a:buFont typeface="Arial"/>
        <a:buChar char="•"/>
        <a:defRPr sz="1711" kern="1200">
          <a:solidFill>
            <a:schemeClr val="tx1"/>
          </a:solidFill>
          <a:latin typeface="+mn-lt"/>
          <a:ea typeface="+mn-lt"/>
          <a:cs typeface="+mn-lt"/>
        </a:defRPr>
      </a:lvl7pPr>
      <a:lvl8pPr xmlns:a="http://schemas.openxmlformats.org/drawingml/2006/main" marL="3259265" indent="-217284" algn="l" defTabSz="869137">
        <a:lnSpc>
          <a:spcPct val="90000"/>
        </a:lnSpc>
        <a:spcBef>
          <a:spcPts val="475"/>
        </a:spcBef>
        <a:buFont typeface="Arial"/>
        <a:buChar char="•"/>
        <a:defRPr sz="1711" kern="1200">
          <a:solidFill>
            <a:schemeClr val="tx1"/>
          </a:solidFill>
          <a:latin typeface="+mn-lt"/>
          <a:ea typeface="+mn-lt"/>
          <a:cs typeface="+mn-lt"/>
        </a:defRPr>
      </a:lvl8pPr>
      <a:lvl9pPr xmlns:a="http://schemas.openxmlformats.org/drawingml/2006/main" marL="3693833" indent="-217284" algn="l" defTabSz="869137">
        <a:lnSpc>
          <a:spcPct val="90000"/>
        </a:lnSpc>
        <a:spcBef>
          <a:spcPts val="475"/>
        </a:spcBef>
        <a:buFont typeface="Arial"/>
        <a:buChar char="•"/>
        <a:defRPr sz="1711" kern="1200">
          <a:solidFill>
            <a:schemeClr val="tx1"/>
          </a:solidFill>
          <a:latin typeface="+mn-lt"/>
          <a:ea typeface="+mn-lt"/>
          <a:cs typeface="+mn-lt"/>
        </a:defRPr>
      </a:lvl9pPr>
    </p:bodyStyle>
    <p:otherStyle>
      <a:lvl1pPr xmlns:a="http://schemas.openxmlformats.org/drawingml/2006/main" marL="0" algn="l" defTabSz="869137">
        <a:buNone/>
        <a:defRPr sz="1711" kern="1200">
          <a:solidFill>
            <a:schemeClr val="tx1"/>
          </a:solidFill>
          <a:latin typeface="+mn-lt"/>
          <a:ea typeface="+mn-lt"/>
          <a:cs typeface="+mn-lt"/>
        </a:defRPr>
      </a:lvl1pPr>
      <a:lvl2pPr xmlns:a="http://schemas.openxmlformats.org/drawingml/2006/main" marL="434569" algn="l" defTabSz="869137">
        <a:buNone/>
        <a:defRPr sz="1711" kern="1200">
          <a:solidFill>
            <a:schemeClr val="tx1"/>
          </a:solidFill>
          <a:latin typeface="+mn-lt"/>
          <a:ea typeface="+mn-lt"/>
          <a:cs typeface="+mn-lt"/>
        </a:defRPr>
      </a:lvl2pPr>
      <a:lvl3pPr xmlns:a="http://schemas.openxmlformats.org/drawingml/2006/main" marL="869137" algn="l" defTabSz="869137">
        <a:buNone/>
        <a:defRPr sz="1711" kern="1200">
          <a:solidFill>
            <a:schemeClr val="tx1"/>
          </a:solidFill>
          <a:latin typeface="+mn-lt"/>
          <a:ea typeface="+mn-lt"/>
          <a:cs typeface="+mn-lt"/>
        </a:defRPr>
      </a:lvl3pPr>
      <a:lvl4pPr xmlns:a="http://schemas.openxmlformats.org/drawingml/2006/main" marL="1303706" algn="l" defTabSz="869137">
        <a:buNone/>
        <a:defRPr sz="1711" kern="1200">
          <a:solidFill>
            <a:schemeClr val="tx1"/>
          </a:solidFill>
          <a:latin typeface="+mn-lt"/>
          <a:ea typeface="+mn-lt"/>
          <a:cs typeface="+mn-lt"/>
        </a:defRPr>
      </a:lvl4pPr>
      <a:lvl5pPr xmlns:a="http://schemas.openxmlformats.org/drawingml/2006/main" marL="1738274" algn="l" defTabSz="869137">
        <a:buNone/>
        <a:defRPr sz="1711" kern="1200">
          <a:solidFill>
            <a:schemeClr val="tx1"/>
          </a:solidFill>
          <a:latin typeface="+mn-lt"/>
          <a:ea typeface="+mn-lt"/>
          <a:cs typeface="+mn-lt"/>
        </a:defRPr>
      </a:lvl5pPr>
      <a:lvl6pPr xmlns:a="http://schemas.openxmlformats.org/drawingml/2006/main" marL="2172843" algn="l" defTabSz="869137">
        <a:buNone/>
        <a:defRPr sz="1711" kern="1200">
          <a:solidFill>
            <a:schemeClr val="tx1"/>
          </a:solidFill>
          <a:latin typeface="+mn-lt"/>
          <a:ea typeface="+mn-lt"/>
          <a:cs typeface="+mn-lt"/>
        </a:defRPr>
      </a:lvl6pPr>
      <a:lvl7pPr xmlns:a="http://schemas.openxmlformats.org/drawingml/2006/main" marL="2607412" algn="l" defTabSz="869137">
        <a:buNone/>
        <a:defRPr sz="1711" kern="1200">
          <a:solidFill>
            <a:schemeClr val="tx1"/>
          </a:solidFill>
          <a:latin typeface="+mn-lt"/>
          <a:ea typeface="+mn-lt"/>
          <a:cs typeface="+mn-lt"/>
        </a:defRPr>
      </a:lvl7pPr>
      <a:lvl8pPr xmlns:a="http://schemas.openxmlformats.org/drawingml/2006/main" marL="3041980" algn="l" defTabSz="869137">
        <a:buNone/>
        <a:defRPr sz="1711" kern="1200">
          <a:solidFill>
            <a:schemeClr val="tx1"/>
          </a:solidFill>
          <a:latin typeface="+mn-lt"/>
          <a:ea typeface="+mn-lt"/>
          <a:cs typeface="+mn-lt"/>
        </a:defRPr>
      </a:lvl8pPr>
      <a:lvl9pPr xmlns:a="http://schemas.openxmlformats.org/drawingml/2006/main" marL="3476549" algn="l" defTabSz="869137">
        <a:buNone/>
        <a:defRPr sz="1711" kern="1200">
          <a:solidFill>
            <a:schemeClr val="tx1"/>
          </a:solidFill>
          <a:latin typeface="+mn-lt"/>
          <a:ea typeface="+mn-lt"/>
          <a:cs typeface="+mn-lt"/>
        </a:defRPr>
      </a:lvl9pPr>
    </p:otherStyle>
  </p:txStyles>
  <p:extLst>
    <p:ext uri="{27BBF7A9-308A-43DC-89C8-2F10F3537804}">
      <p15:sldGuideLst xmlns:p15="http://schemas.microsoft.com/office/powerpoint/2012/main">
        <p15:guide id="12" orient="horz" pos="2160" userDrawn="1">
          <p15:clr>
            <a:srgbClr xmlns:a="http://schemas.openxmlformats.org/drawingml/2006/main" val="F26B43"/>
          </p15:clr>
        </p15:guide>
        <p15:guide id="13" pos="112" userDrawn="1">
          <p15:clr>
            <a:srgbClr xmlns:a="http://schemas.openxmlformats.org/drawingml/2006/main" val="F26B43"/>
          </p15:clr>
        </p15:guide>
        <p15:guide id="14" orient="horz" pos="4269" userDrawn="1">
          <p15:clr>
            <a:srgbClr xmlns:a="http://schemas.openxmlformats.org/drawingml/2006/main" val="F26B43"/>
          </p15:clr>
        </p15:guide>
        <p15:guide id="15" pos="3650" userDrawn="1">
          <p15:clr>
            <a:srgbClr xmlns:a="http://schemas.openxmlformats.org/drawingml/2006/main" val="F26B43"/>
          </p15:clr>
        </p15:guide>
        <p15:guide id="16" pos="7188" userDrawn="1">
          <p15:clr>
            <a:srgbClr xmlns:a="http://schemas.openxmlformats.org/drawingml/2006/main" val="F26B43"/>
          </p15:clr>
        </p15:guide>
        <p15:guide id="17" orient="horz" pos="28" userDrawn="1">
          <p15:clr>
            <a:srgbClr xmlns:a="http://schemas.openxmlformats.org/drawingml/2006/main" val="F26B43"/>
          </p15:clr>
        </p15:guide>
        <p15:guide id="18" orient="horz" pos="686" userDrawn="1">
          <p15:clr>
            <a:srgbClr xmlns:a="http://schemas.openxmlformats.org/drawingml/2006/main" val="F26B43"/>
          </p15:clr>
        </p15:guide>
        <p15:guide id="19" orient="horz" pos="777" userDrawn="1">
          <p15:clr>
            <a:srgbClr xmlns:a="http://schemas.openxmlformats.org/drawingml/2006/main" val="F26B43"/>
          </p15:clr>
        </p15:guide>
        <p15:guide id="20" orient="horz" pos="4088" userDrawn="1">
          <p15:clr>
            <a:srgbClr xmlns:a="http://schemas.openxmlformats.org/drawingml/2006/main" val="F26B43"/>
          </p15:clr>
        </p15:guide>
        <p15:guide id="21" orient="horz" pos="3680" userDrawn="1">
          <p15:clr>
            <a:srgbClr xmlns:a="http://schemas.openxmlformats.org/drawingml/2006/main" val="F26B43"/>
          </p15:clr>
        </p15:guide>
        <p15:guide id="22" orient="horz" pos="3566" userDrawn="1">
          <p15:clr>
            <a:srgbClr xmlns:a="http://schemas.openxmlformats.org/drawingml/2006/main" val="F26B43"/>
          </p15:clr>
        </p15:guide>
        <p15:guide id="23" pos="5805" userDrawn="1">
          <p15:clr>
            <a:srgbClr xmlns:a="http://schemas.openxmlformats.org/drawingml/2006/main" val="F26B43"/>
          </p15:clr>
        </p15:guide>
      </p15:sldGuideLst>
    </p:ext>
  </p:extLst>
</p:sldMaster>
</file>

<file path=ppt/slideMasters/theme/theme2.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ed14ec22772440b" /><Relationship Type="http://schemas.openxmlformats.org/officeDocument/2006/relationships/image" Target="/ppt/media/image3.jpeg" Id="Rf3f117644d9441cf" /><Relationship Type="http://schemas.openxmlformats.org/officeDocument/2006/relationships/image" Target="/ppt/media/image3.png" Id="R52bf8d68816b4338" /><Relationship Type="http://schemas.openxmlformats.org/officeDocument/2006/relationships/notesSlide" Target="/ppt/notesSlides/notesSlide1.xml" Id="Rddb030f41c5a40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87ba4eb5c7c4bba" /><Relationship Type="http://schemas.openxmlformats.org/officeDocument/2006/relationships/image" Target="/ppt/media/image4.png" Id="Rde77cbae9ac84956" /><Relationship Type="http://schemas.openxmlformats.org/officeDocument/2006/relationships/image" Target="/ppt/media/image5.png" Id="R7aeedd5e52c64d64" /><Relationship Type="http://schemas.openxmlformats.org/officeDocument/2006/relationships/image" Target="/ppt/media/image6.png" Id="R88430c9521dc4ff3" /><Relationship Type="http://schemas.openxmlformats.org/officeDocument/2006/relationships/image" Target="/ppt/media/image7.png" Id="R988062a777e14d43" /><Relationship Type="http://schemas.openxmlformats.org/officeDocument/2006/relationships/notesSlide" Target="/ppt/notesSlides/notesSlide2.xml" Id="Recab293f80f842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60e5e8e258488c" /><Relationship Type="http://schemas.openxmlformats.org/officeDocument/2006/relationships/image" Target="/ppt/media/image4.png" Id="Rfc0395b659fb4712" /><Relationship Type="http://schemas.openxmlformats.org/officeDocument/2006/relationships/image" Target="/ppt/media/image5.png" Id="Ree9b1c416e6542c4" /><Relationship Type="http://schemas.openxmlformats.org/officeDocument/2006/relationships/image" Target="/ppt/media/image6.png" Id="R2eafd2c35680441f" /><Relationship Type="http://schemas.openxmlformats.org/officeDocument/2006/relationships/image" Target="/ppt/media/image7.png" Id="R4f3c8625f64542a3" /><Relationship Type="http://schemas.openxmlformats.org/officeDocument/2006/relationships/notesSlide" Target="/ppt/notesSlides/notesSlide3.xml" Id="Rf9ecc2de199f4c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8c7044cd87047fd" /><Relationship Type="http://schemas.openxmlformats.org/officeDocument/2006/relationships/image" Target="/ppt/media/image8.png" Id="R723e4cfb2f764c39" /><Relationship Type="http://schemas.openxmlformats.org/officeDocument/2006/relationships/image" Target="/ppt/media/image9.png" Id="Recdb214ce3ba46e9" /><Relationship Type="http://schemas.openxmlformats.org/officeDocument/2006/relationships/image" Target="/ppt/media/image10.png" Id="R46be0e545e42411c" /><Relationship Type="http://schemas.openxmlformats.org/officeDocument/2006/relationships/image" Target="/ppt/media/image11.png" Id="Rd4ff8ee42fd446f5" /><Relationship Type="http://schemas.openxmlformats.org/officeDocument/2006/relationships/notesSlide" Target="/ppt/notesSlides/notesSlide4.xml" Id="Rb25dd52d764940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189a6a8cbe4f28" /><Relationship Type="http://schemas.openxmlformats.org/officeDocument/2006/relationships/notesSlide" Target="/ppt/notesSlides/notesSlide5.xml" Id="R2ad757f810e641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8a9d4218814458" /><Relationship Type="http://schemas.openxmlformats.org/officeDocument/2006/relationships/image" Target="/ppt/media/image12.png" Id="Rfbc6cfbbe7af4269" /><Relationship Type="http://schemas.openxmlformats.org/officeDocument/2006/relationships/notesSlide" Target="/ppt/notesSlides/notesSlide6.xml" Id="Ref8958e8753e42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5c87c89c3b40c4" /><Relationship Type="http://schemas.openxmlformats.org/officeDocument/2006/relationships/image" Target="/ppt/media/image13.png" Id="R024b00eb65ab404f" /><Relationship Type="http://schemas.openxmlformats.org/officeDocument/2006/relationships/image" Target="/ppt/media/image8.png" Id="R99dfae90d5d0426a" /><Relationship Type="http://schemas.openxmlformats.org/officeDocument/2006/relationships/image" Target="/ppt/media/image14.png" Id="Rbe1b29a0c030436a" /><Relationship Type="http://schemas.openxmlformats.org/officeDocument/2006/relationships/image" Target="/ppt/media/image15.png" Id="Rca8bf9f3e06446d8" /><Relationship Type="http://schemas.openxmlformats.org/officeDocument/2006/relationships/image" Target="/ppt/media/image16.png" Id="R49dc1e97e3d147d3" /><Relationship Type="http://schemas.openxmlformats.org/officeDocument/2006/relationships/image" Target="/ppt/media/image17.png" Id="R63874a065ac24d1d" /><Relationship Type="http://schemas.openxmlformats.org/officeDocument/2006/relationships/image" Target="/ppt/media/image18.png" Id="Refa8a524d89d42d8" /><Relationship Type="http://schemas.openxmlformats.org/officeDocument/2006/relationships/notesSlide" Target="/ppt/notesSlides/notesSlide7.xml" Id="R79859efa0dbc43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7989071945f4364" /><Relationship Type="http://schemas.openxmlformats.org/officeDocument/2006/relationships/notesSlide" Target="/ppt/notesSlides/notesSlide8.xml" Id="Re5103f0ecd2741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d24d9c2a3fa44cc" /><Relationship Type="http://schemas.openxmlformats.org/officeDocument/2006/relationships/image" Target="/ppt/media/image19.png" Id="R72b7efb8008d43b6" /><Relationship Type="http://schemas.openxmlformats.org/officeDocument/2006/relationships/notesSlide" Target="/ppt/notesSlides/notesSlide9.xml" Id="R7bab28ba6d204a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e1292c2d5514c60" /><Relationship Type="http://schemas.openxmlformats.org/officeDocument/2006/relationships/image" Target="/ppt/media/image20.png" Id="R24514be1363a425d" /><Relationship Type="http://schemas.openxmlformats.org/officeDocument/2006/relationships/notesSlide" Target="/ppt/notesSlides/notesSlide10.xml" Id="R1e419680a84646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9df05681fad467c" /><Relationship Type="http://schemas.openxmlformats.org/officeDocument/2006/relationships/notesSlide" Target="/ppt/notesSlides/notesSlide11.xml" Id="R95b98ab9519044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ce334af376e4779" /><Relationship Type="http://schemas.openxmlformats.org/officeDocument/2006/relationships/image" Target="/ppt/media/image21.png" Id="R81a71409944f4823" /><Relationship Type="http://schemas.openxmlformats.org/officeDocument/2006/relationships/notesSlide" Target="/ppt/notesSlides/notesSlide12.xml" Id="Rf9ad0173787f47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a564a9999de423b" /><Relationship Type="http://schemas.openxmlformats.org/officeDocument/2006/relationships/image" Target="/ppt/media/image22.png" Id="R7dce77a397094350" /><Relationship Type="http://schemas.openxmlformats.org/officeDocument/2006/relationships/notesSlide" Target="/ppt/notesSlides/notesSlide13.xml" Id="R3e6f2ec85ccd48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dfb0116ddac4651" /><Relationship Type="http://schemas.openxmlformats.org/officeDocument/2006/relationships/image" Target="/ppt/media/image23.png" Id="R2a22c6e48bd7497f" /><Relationship Type="http://schemas.openxmlformats.org/officeDocument/2006/relationships/notesSlide" Target="/ppt/notesSlides/notesSlide14.xml" Id="Rde2de41eb2ec44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8b9d49a52b84cf1" /><Relationship Type="http://schemas.openxmlformats.org/officeDocument/2006/relationships/notesSlide" Target="/ppt/notesSlides/notesSlide15.xml" Id="R8a9f8edf45494f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4949f33a1974ed9" /><Relationship Type="http://schemas.openxmlformats.org/officeDocument/2006/relationships/notesSlide" Target="/ppt/notesSlides/notesSlide16.xml" Id="Ra56638947cb548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a04fa75287d4057" /><Relationship Type="http://schemas.openxmlformats.org/officeDocument/2006/relationships/image" Target="/ppt/media/image24.png" Id="Rd049208c7b9446aa" /><Relationship Type="http://schemas.openxmlformats.org/officeDocument/2006/relationships/image" Target="/ppt/media/image8.png" Id="R813de1c2ee284658" /><Relationship Type="http://schemas.openxmlformats.org/officeDocument/2006/relationships/image" Target="/ppt/media/image25.png" Id="Re9d4b0a71b5e4912" /><Relationship Type="http://schemas.openxmlformats.org/officeDocument/2006/relationships/image" Target="/ppt/media/image13.png" Id="R1d7f443abad74569" /><Relationship Type="http://schemas.openxmlformats.org/officeDocument/2006/relationships/notesSlide" Target="/ppt/notesSlides/notesSlide17.xml" Id="Re1c5b1dc9eb944a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b3a82a9ab404922" /><Relationship Type="http://schemas.openxmlformats.org/officeDocument/2006/relationships/notesSlide" Target="/ppt/notesSlides/notesSlide18.xml" Id="Rc32382612aed41b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496e132cb91e448b" /><Relationship Type="http://schemas.openxmlformats.org/officeDocument/2006/relationships/image" Target="/ppt/media/image3.jpeg" Id="Ra6e097a9b99c4c08" /><Relationship Type="http://schemas.openxmlformats.org/officeDocument/2006/relationships/image" Target="/ppt/media/image3.png" Id="R7b2357a06d8346ed" /><Relationship Type="http://schemas.openxmlformats.org/officeDocument/2006/relationships/notesSlide" Target="/ppt/notesSlides/notesSlide19.xml" Id="Re7146a37197e4c5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8a2e6953bce4278" /><Relationship Type="http://schemas.openxmlformats.org/officeDocument/2006/relationships/notesSlide" Target="/ppt/notesSlides/notesSlide20.xml" Id="R15c5808c3ca944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bebe01f511e4e12" /><Relationship Type="http://schemas.openxmlformats.org/officeDocument/2006/relationships/image" Target="/ppt/media/image26.png" Id="R034a200f32f349cd" /><Relationship Type="http://schemas.openxmlformats.org/officeDocument/2006/relationships/notesSlide" Target="/ppt/notesSlides/notesSlide21.xml" Id="Rb23cf8aaa5fe49e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2c6d19fa3cf4b1c" /><Relationship Type="http://schemas.openxmlformats.org/officeDocument/2006/relationships/image" Target="/ppt/media/image27.png" Id="Rb4d80e1ba4dc4fcd" /><Relationship Type="http://schemas.openxmlformats.org/officeDocument/2006/relationships/notesSlide" Target="/ppt/notesSlides/notesSlide22.xml" Id="R590a9e3b2588433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a12988142164b49" /><Relationship Type="http://schemas.openxmlformats.org/officeDocument/2006/relationships/notesSlide" Target="/ppt/notesSlides/notesSlide23.xml" Id="R10bd654bb5ac484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305f9bf1f634a7e" /><Relationship Type="http://schemas.openxmlformats.org/officeDocument/2006/relationships/image" Target="/ppt/media/image28.png" Id="Rc61fad28eac74ab7" /><Relationship Type="http://schemas.openxmlformats.org/officeDocument/2006/relationships/notesSlide" Target="/ppt/notesSlides/notesSlide24.xml" Id="R2b024f1e1407425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b6dffc3868941d1" /><Relationship Type="http://schemas.openxmlformats.org/officeDocument/2006/relationships/notesSlide" Target="/ppt/notesSlides/notesSlide25.xml" Id="R71ac769893904aa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392c43af6b549e5" /><Relationship Type="http://schemas.openxmlformats.org/officeDocument/2006/relationships/notesSlide" Target="/ppt/notesSlides/notesSlide26.xml" Id="R12e06759e649446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d488bb9449b4dc2" /><Relationship Type="http://schemas.openxmlformats.org/officeDocument/2006/relationships/image" Target="/ppt/media/image29.png" Id="R4484913c83244a72" /><Relationship Type="http://schemas.openxmlformats.org/officeDocument/2006/relationships/notesSlide" Target="/ppt/notesSlides/notesSlide27.xml" Id="Rbd681af11e4b46f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b7f0c0dcab04eee" /><Relationship Type="http://schemas.openxmlformats.org/officeDocument/2006/relationships/image" Target="/ppt/media/image30.png" Id="Re976ba3ab5f649e6" /><Relationship Type="http://schemas.openxmlformats.org/officeDocument/2006/relationships/notesSlide" Target="/ppt/notesSlides/notesSlide28.xml" Id="R84bbf3da1d01449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e0a2a1ce217402e" /><Relationship Type="http://schemas.openxmlformats.org/officeDocument/2006/relationships/notesSlide" Target="/ppt/notesSlides/notesSlide29.xml" Id="R73ef4b5644df4d4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8709f93641c4372" /><Relationship Type="http://schemas.openxmlformats.org/officeDocument/2006/relationships/image" Target="/ppt/media/image31.png" Id="R5bbdd098fc084252" /><Relationship Type="http://schemas.openxmlformats.org/officeDocument/2006/relationships/notesSlide" Target="/ppt/notesSlides/notesSlide30.xml" Id="R39f30b96f3b6483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32419d05ddb4bf7" /><Relationship Type="http://schemas.openxmlformats.org/officeDocument/2006/relationships/notesSlide" Target="/ppt/notesSlides/notesSlide31.xml" Id="R355f766c72684a0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da3c9c3474a4f8e" /><Relationship Type="http://schemas.openxmlformats.org/officeDocument/2006/relationships/notesSlide" Target="/ppt/notesSlides/notesSlide32.xml" Id="R77463eeaeef74e6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cd3bda5a3954f17" /><Relationship Type="http://schemas.openxmlformats.org/officeDocument/2006/relationships/notesSlide" Target="/ppt/notesSlides/notesSlide33.xml" Id="R660b9c8e34714b5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71fbe0cd8b848ed" /><Relationship Type="http://schemas.openxmlformats.org/officeDocument/2006/relationships/notesSlide" Target="/ppt/notesSlides/notesSlide34.xml" Id="R3fe1c825f17f486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52ba0156d7f4453" /><Relationship Type="http://schemas.openxmlformats.org/officeDocument/2006/relationships/notesSlide" Target="/ppt/notesSlides/notesSlide35.xml" Id="R0c911cd71ab146e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411d22aeda946bc" /><Relationship Type="http://schemas.openxmlformats.org/officeDocument/2006/relationships/notesSlide" Target="/ppt/notesSlides/notesSlide36.xml" Id="Re83edb23d03f4aa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4079419be7548a3" /><Relationship Type="http://schemas.openxmlformats.org/officeDocument/2006/relationships/notesSlide" Target="/ppt/notesSlides/notesSlide37.xml" Id="Rc38071ea1a6f48e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a9cfcba480d4460" /><Relationship Type="http://schemas.openxmlformats.org/officeDocument/2006/relationships/image" Target="/ppt/media/image8.png" Id="R6aa2d61fdca14aa9" /><Relationship Type="http://schemas.openxmlformats.org/officeDocument/2006/relationships/image" Target="/ppt/media/image13.png" Id="R2f704c72f3b44af4" /><Relationship Type="http://schemas.openxmlformats.org/officeDocument/2006/relationships/image" Target="/ppt/media/image10.png" Id="Ra3a0fe51cdc14969" /><Relationship Type="http://schemas.openxmlformats.org/officeDocument/2006/relationships/image" Target="/ppt/media/image9.png" Id="Rb61aa031fa7c4bf4" /><Relationship Type="http://schemas.openxmlformats.org/officeDocument/2006/relationships/image" Target="/ppt/media/image11.png" Id="R9d1fabcab2b346b3" /><Relationship Type="http://schemas.openxmlformats.org/officeDocument/2006/relationships/notesSlide" Target="/ppt/notesSlides/notesSlide38.xml" Id="R976289f12125470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5c1e1c532a1442a" /><Relationship Type="http://schemas.openxmlformats.org/officeDocument/2006/relationships/notesSlide" Target="/ppt/notesSlides/notesSlide39.xml" Id="Ra4c30672cdfb420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8d8a72badf348df" /><Relationship Type="http://schemas.openxmlformats.org/officeDocument/2006/relationships/notesSlide" Target="/ppt/notesSlides/notesSlide40.xml" Id="R6575ea760ea1449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500759468944460" /><Relationship Type="http://schemas.openxmlformats.org/officeDocument/2006/relationships/notesSlide" Target="/ppt/notesSlides/notesSlide41.xml" Id="Ra3820bcb201945c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512252fca50489f" /><Relationship Type="http://schemas.openxmlformats.org/officeDocument/2006/relationships/notesSlide" Target="/ppt/notesSlides/notesSlide42.xml" Id="Ree717781614548b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c59d8d1834f143dd" /><Relationship Type="http://schemas.openxmlformats.org/officeDocument/2006/relationships/notesSlide" Target="/ppt/notesSlides/notesSlide43.xml" Id="R882ad8fdc7c34c5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7C39121-817A-4D3C-899A-D0A0C1F58930}"/>
              </a:ext>
            </a:extLst>
          </p:cNvPr>
          <p:cNvSpPr>
            <a:spLocks xmlns:a="http://schemas.openxmlformats.org/drawingml/2006/main" noGrp="1"/>
          </p:cNvSpPr>
          <p:nvPr/>
        </p:nvSpPr>
        <p:spPr>
          <a:xfrm xmlns:a="http://schemas.openxmlformats.org/drawingml/2006/main">
            <a:off x="0" y="0"/>
            <a:ext cx="11588750" cy="6858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a:solidFill>
                  <a:srgbClr val="FFFFFF"/>
                </a:solidFill>
              </a:defRPr>
            </a:pPr>
            <a:endParaRP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f3f117644d9441cf"/>
          <a:srcRect xmlns:a="http://schemas.openxmlformats.org/drawingml/2006/main" l="21836" t="0" r="21836" b="0"/>
          <a:stretch xmlns:a="http://schemas.openxmlformats.org/drawingml/2006/main">
            <a:fillRect l="0" t="0" r="0" b="0"/>
          </a:stretch>
        </p:blipFill>
        <p:spPr>
          <a:xfrm xmlns:a="http://schemas.openxmlformats.org/drawingml/2006/main">
            <a:off x="5794375" y="0"/>
            <a:ext cx="5794375" cy="6858000"/>
          </a:xfrm>
          <a:prstGeom xmlns:a="http://schemas.openxmlformats.org/drawingml/2006/main" prst="rect">
            <a:avLst/>
          </a:prstGeom>
        </p:spPr>
      </p:pic>
      <p:pic>
        <p:nvPicPr>
          <p:cNvPr id="17" name="Picture 3"/>
          <p:cNvPicPr>
            <a:picLocks xmlns:a="http://schemas.openxmlformats.org/drawingml/2006/main" noChangeAspect="1"/>
          </p:cNvPicPr>
          <p:nvPr/>
        </p:nvPicPr>
        <p:blipFill>
          <a:blip xmlns:r="http://schemas.openxmlformats.org/officeDocument/2006/relationships" xmlns:a="http://schemas.openxmlformats.org/drawingml/2006/main" r:embed="R52bf8d68816b4338"/>
          <a:srcRect xmlns:a="http://schemas.openxmlformats.org/drawingml/2006/main" l="0" t="0" r="0" b="0"/>
          <a:stretch xmlns:a="http://schemas.openxmlformats.org/drawingml/2006/main">
            <a:fillRect l="0" t="0" r="0" b="0"/>
          </a:stretch>
        </p:blipFill>
        <p:spPr>
          <a:xfrm xmlns:a="http://schemas.openxmlformats.org/drawingml/2006/main">
            <a:off x="502920" y="457200"/>
            <a:ext cx="1965960" cy="438614"/>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5FD954C5-04DB-4280-B44C-D964E6C9CDDA}"/>
              </a:ext>
            </a:extLst>
          </p:cNvPr>
          <p:cNvSpPr>
            <a:spLocks xmlns:a="http://schemas.openxmlformats.org/drawingml/2006/main" noGrp="1"/>
          </p:cNvSpPr>
          <p:nvPr/>
        </p:nvSpPr>
        <p:spPr>
          <a:xfrm xmlns:a="http://schemas.openxmlformats.org/drawingml/2006/main">
            <a:off x="594360" y="2468880"/>
            <a:ext cx="4709160" cy="163634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South Africa
liquid fuels
market story</a:t>
            </a:r>
            <a:endParaRPr>
              <a:solidFill>
                <a:srgbClr val="FFFFFF"/>
              </a:solidFill>
            </a:endParaRPr>
          </a:p>
        </p:txBody>
      </p:sp>
      <p:sp>
        <p:nvSpPr>
          <p:cNvPr id="6" name="Connector 5">
            <a:extLst xmlns:a="http://schemas.openxmlformats.org/drawingml/2006/main">
              <a:ext uri="{FF2B5EF4-FFF2-40B4-BE49-F238E27FC236}">
                <a16:creationId xmlns:a16="http://schemas.microsoft.com/office/drawing/2014/main" id="{8AC3AB0E-746B-4AF6-ABCD-D6526DA2BFFE}"/>
              </a:ext>
            </a:extLst>
          </p:cNvPr>
          <p:cNvSpPr>
            <a:spLocks xmlns:a="http://schemas.openxmlformats.org/drawingml/2006/main" noGrp="1"/>
          </p:cNvSpPr>
          <p:nvPr/>
        </p:nvSpPr>
        <p:spPr>
          <a:xfrm xmlns:a="http://schemas.openxmlformats.org/drawingml/2006/main">
            <a:off x="594360" y="4251960"/>
            <a:ext cx="4617720" cy="0"/>
          </a:xfrm>
          <a:prstGeom xmlns:a="http://schemas.openxmlformats.org/drawingml/2006/main" prst="line">
            <a:avLst/>
          </a:prstGeom>
          <a:ln xmlns:a="http://schemas.openxmlformats.org/drawingml/2006/main" w="7620">
            <a:solidFill>
              <a:srgbClr val="FFFFF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2702DF3-0D72-4A19-ADCB-903E36583053}"/>
              </a:ext>
            </a:extLst>
          </p:cNvPr>
          <p:cNvSpPr>
            <a:spLocks xmlns:a="http://schemas.openxmlformats.org/drawingml/2006/main" noGrp="1"/>
          </p:cNvSpPr>
          <p:nvPr/>
        </p:nvSpPr>
        <p:spPr>
          <a:xfrm xmlns:a="http://schemas.openxmlformats.org/drawingml/2006/main">
            <a:off x="594360" y="4617720"/>
            <a:ext cx="4572000" cy="5232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2100" b="0">
                <a:solidFill>
                  <a:srgbClr val="FFFFFF"/>
                </a:solidFill>
                <a:latin typeface="Lato"/>
                <a:ea typeface="Lato"/>
                <a:cs typeface="Lato"/>
              </a:defRPr>
            </a:pPr>
            <a:r>
              <a:rPr sz="1700">
                <a:solidFill>
                  <a:srgbClr val="FFFFFF"/>
                </a:solidFill>
              </a:rPr>
              <a:t>Inland supply, corridor capture and tank turnover</a:t>
            </a:r>
            <a:endParaRPr sz="1700">
              <a:solidFill>
                <a:srgbClr val="FFFFFF"/>
              </a:solidFill>
            </a:endParaRPr>
          </a:p>
        </p:txBody>
      </p:sp>
      <p:sp>
        <p:nvSpPr>
          <p:cNvPr id="8" name="TextBox 7">
            <a:extLst xmlns:a="http://schemas.openxmlformats.org/drawingml/2006/main">
              <a:ext uri="{FF2B5EF4-FFF2-40B4-BE49-F238E27FC236}">
                <a16:creationId xmlns:a16="http://schemas.microsoft.com/office/drawing/2014/main" id="{C5CB190A-7488-44E1-8968-36FDC90EDA0B}"/>
              </a:ext>
            </a:extLst>
          </p:cNvPr>
          <p:cNvSpPr>
            <a:spLocks xmlns:a="http://schemas.openxmlformats.org/drawingml/2006/main" noGrp="1"/>
          </p:cNvSpPr>
          <p:nvPr/>
        </p:nvSpPr>
        <p:spPr>
          <a:xfrm xmlns:a="http://schemas.openxmlformats.org/drawingml/2006/main">
            <a:off x="594360" y="52395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Durban–Lesedi corridor into Gauteng</a:t>
            </a:r>
            <a:endParaRPr>
              <a:solidFill>
                <a:srgbClr val="FFFFFF"/>
              </a:solidFill>
            </a:endParaRPr>
          </a:p>
        </p:txBody>
      </p:sp>
      <p:sp>
        <p:nvSpPr>
          <p:cNvPr id="9" name="TextBox 8">
            <a:extLst xmlns:a="http://schemas.openxmlformats.org/drawingml/2006/main">
              <a:ext uri="{FF2B5EF4-FFF2-40B4-BE49-F238E27FC236}">
                <a16:creationId xmlns:a16="http://schemas.microsoft.com/office/drawing/2014/main" id="{D208E6D2-5587-493C-AED5-50FFAEFBCE44}"/>
              </a:ext>
            </a:extLst>
          </p:cNvPr>
          <p:cNvSpPr>
            <a:spLocks xmlns:a="http://schemas.openxmlformats.org/drawingml/2006/main" noGrp="1"/>
          </p:cNvSpPr>
          <p:nvPr/>
        </p:nvSpPr>
        <p:spPr>
          <a:xfrm xmlns:a="http://schemas.openxmlformats.org/drawingml/2006/main">
            <a:off x="594360" y="56967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10 October 2026</a:t>
            </a:r>
            <a:endParaRPr>
              <a:solidFill>
                <a:srgbClr val="FFFFFF"/>
              </a:solidFill>
            </a:endParaRPr>
          </a:p>
        </p:txBody>
      </p:sp>
      <p:sp>
        <p:nvSpPr>
          <p:cNvPr id="10" name="TextBox 9">
            <a:extLst xmlns:a="http://schemas.openxmlformats.org/drawingml/2006/main">
              <a:ext uri="{FF2B5EF4-FFF2-40B4-BE49-F238E27FC236}">
                <a16:creationId xmlns:a16="http://schemas.microsoft.com/office/drawing/2014/main" id="{15A94E5E-E17D-406B-B780-6593F829C0CA}"/>
              </a:ext>
            </a:extLst>
          </p:cNvPr>
          <p:cNvSpPr>
            <a:spLocks xmlns:a="http://schemas.openxmlformats.org/drawingml/2006/main" noGrp="1"/>
          </p:cNvSpPr>
          <p:nvPr/>
        </p:nvSpPr>
        <p:spPr>
          <a:xfrm xmlns:a="http://schemas.openxmlformats.org/drawingml/2006/main">
            <a:off x="594360" y="6053328"/>
            <a:ext cx="4572000" cy="3693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200" b="0">
                <a:solidFill>
                  <a:srgbClr val="FFFFFF"/>
                </a:solidFill>
                <a:latin typeface="Lato"/>
                <a:ea typeface="Lato"/>
                <a:cs typeface="Lato"/>
              </a:defRPr>
            </a:pPr>
            <a:r>
              <a:rPr sz="1200">
                <a:solidFill>
                  <a:srgbClr val="FFFFFF"/>
                </a:solidFill>
              </a:rPr>
              <a:t>Public evidence and illustrative capture cases. Customer access, operating limits and returns remain provisional.</a:t>
            </a:r>
            <a:endParaRPr sz="1200">
              <a:solidFill>
                <a:srgbClr val="FFFFFF"/>
              </a:solidFill>
            </a:endParaRPr>
          </a:p>
        </p:txBody>
      </p:sp>
      <p:sp>
        <p:nvSpPr>
          <p:cNvPr id="11" name="Photo source credit">
            <a:extLst xmlns:a="http://schemas.openxmlformats.org/drawingml/2006/main">
              <a:ext uri="{FF2B5EF4-FFF2-40B4-BE49-F238E27FC236}">
                <a16:creationId xmlns:a16="http://schemas.microsoft.com/office/drawing/2014/main" id="{605235CD-EC7B-4D28-A4DA-C6360164F0A7}"/>
              </a:ext>
            </a:extLst>
          </p:cNvPr>
          <p:cNvSpPr>
            <a:spLocks xmlns:a="http://schemas.openxmlformats.org/drawingml/2006/main" noGrp="1"/>
          </p:cNvSpPr>
          <p:nvPr/>
        </p:nvSpPr>
        <p:spPr>
          <a:xfrm xmlns:a="http://schemas.openxmlformats.org/drawingml/2006/main">
            <a:off x="594360" y="6400800"/>
            <a:ext cx="4754880" cy="1645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xmlns:a="http://schemas.openxmlformats.org/drawingml/2006/main">
              <a:ext uri="{FF2B5EF4-FFF2-40B4-BE49-F238E27FC236}">
                <a16:creationId xmlns:a16="http://schemas.microsoft.com/office/drawing/2014/main" id="{ED5236C5-84CC-47CC-8ACF-9C81666786AA}"/>
              </a:ext>
            </a:extLst>
          </p:cNvPr>
          <p:cNvSpPr>
            <a:spLocks xmlns:a="http://schemas.openxmlformats.org/drawingml/2006/main" noGrp="1"/>
          </p:cNvSpPr>
          <p:nvPr/>
        </p:nvSpPr>
        <p:spPr>
          <a:xfrm xmlns:a="http://schemas.openxmlformats.org/drawingml/2006/main">
            <a:off x="59436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BDBEC1"/>
                </a:solidFill>
                <a:latin typeface="Lato"/>
                <a:ea typeface="Lato"/>
                <a:cs typeface="Lato"/>
              </a:defRPr>
            </a:pPr>
            <a:r>
              <a:t>Strictly Confidential</a:t>
            </a:r>
          </a:p>
        </p:txBody>
      </p:sp>
    </p:spTree>
    <p:extLst>
      <p:ext uri="{BB962C8B-B14F-4D97-AF65-F5344CB8AC3E}">
        <p14:creationId xmlns:p14="http://schemas.microsoft.com/office/powerpoint/2010/main" val="74530231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F123D7-09E3-4A57-950D-7E074EF5CBF7}"/>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Import dependence supports the terminal opportunity, while customer access determines Vopak capture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49B869F3-46DF-465F-B4AA-B2AE3EC480E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a:t>
            </a:r>
            <a:endParaRPr sz="1100"/>
          </a:p>
        </p:txBody>
      </p:sp>
      <p:sp>
        <p:nvSpPr>
          <p:cNvPr id="8" name="Unified source footer">
            <a:extLst xmlns:a="http://schemas.openxmlformats.org/drawingml/2006/main">
              <a:ext uri="{FF2B5EF4-FFF2-40B4-BE49-F238E27FC236}">
                <a16:creationId xmlns:a16="http://schemas.microsoft.com/office/drawing/2014/main" id="{53788589-4CBC-42C2-9950-732FB84F49C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sales 2023; SARS customs 2025. Transnet Pipelines 2025 p8. Capture screen: 20% gateway share, 50% routed through Lesedi, two turns/month. Conditional illustration, no customer commitment.</a:t>
            </a:r>
            <a:endParaRPr sz="650"/>
          </a:p>
        </p:txBody>
      </p:sp>
      <p:graphicFrame>
        <p:nvGraphicFramePr>
          <p:cNvPr id="57"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Baseline / reference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the evidence establishes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changes the outlook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Fuel demand
and power</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2023 Department sales: 21.94bn L.
Petrol CAGR -2.08%; diesel +0.82%.
Own Eskom fuel fell 40% in FY2025.</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Sector activity, fleet replacement and
power dispatch change fuel use.
2024 sales remain unverified.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Domestic supply
and imports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gross imports: 16.70bn L.
Net imports: 15.15bn L.
Durban customs: 13.16bn L (79%).</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SAPREF and PetroSA restart paths,
Secunda gas/MRG and Natref output
can change domestic supply.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Corridor position
and tank turnover</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Shared MPP pipeline: 105 / 148ML
per week in FY2025, 70.9% used.
Vopak access remains unverified.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Route costs, access and customer
capture determine flow; achievable
turnover determines handling headroom.</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Capture sensitivity
and nine worlds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Base capture screen: Durban 2.63bn L;
Lesedi 1.32bn L within that flow.
Assumed shares, not measured volumes.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Capture cases are shown on p35.
The nine-world investment illustration
uses separate capture assumptions.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3F45C794-E950-4BF9-A7F6-C3A7418861A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2CF3951A-A899-DC35-9D57-2959614A3D2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2D93A382-E852-639E-5959-D2DC1811AD93}"/>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F003A279-89E8-A115-95AC-AF99BD7AD9FA}"/>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29A5ABB3-597B-135A-9D2F-C83453C0BD99}"/>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3" name="Picture 13"/>
          <p:cNvPicPr>
            <a:picLocks xmlns:a="http://schemas.openxmlformats.org/drawingml/2006/main" noChangeAspect="1"/>
          </p:cNvPicPr>
          <p:nvPr/>
        </p:nvPicPr>
        <p:blipFill>
          <a:blip xmlns:r="http://schemas.openxmlformats.org/officeDocument/2006/relationships" xmlns:a="http://schemas.openxmlformats.org/drawingml/2006/main" r:embed="Rde77cbae9ac84956"/>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4" name="Picture 15"/>
          <p:cNvPicPr>
            <a:picLocks xmlns:a="http://schemas.openxmlformats.org/drawingml/2006/main" noChangeAspect="1"/>
          </p:cNvPicPr>
          <p:nvPr/>
        </p:nvPicPr>
        <p:blipFill>
          <a:blip xmlns:r="http://schemas.openxmlformats.org/officeDocument/2006/relationships" xmlns:a="http://schemas.openxmlformats.org/drawingml/2006/main" r:embed="R7aeedd5e52c64d64"/>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5" name="Picture 17"/>
          <p:cNvPicPr>
            <a:picLocks xmlns:a="http://schemas.openxmlformats.org/drawingml/2006/main" noChangeAspect="1"/>
          </p:cNvPicPr>
          <p:nvPr/>
        </p:nvPicPr>
        <p:blipFill>
          <a:blip xmlns:r="http://schemas.openxmlformats.org/officeDocument/2006/relationships" xmlns:a="http://schemas.openxmlformats.org/drawingml/2006/main" r:embed="R88430c9521dc4ff3"/>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66" name="Picture 19"/>
          <p:cNvPicPr>
            <a:picLocks xmlns:a="http://schemas.openxmlformats.org/drawingml/2006/main" noChangeAspect="1"/>
          </p:cNvPicPr>
          <p:nvPr/>
        </p:nvPicPr>
        <p:blipFill>
          <a:blip xmlns:r="http://schemas.openxmlformats.org/officeDocument/2006/relationships" xmlns:a="http://schemas.openxmlformats.org/drawingml/2006/main" r:embed="R988062a777e14d43"/>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7884852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D178F9-F6DF-4CA1-9254-116BDF04742E}"/>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Existing assets provide the starting point for capturing demand and testing expansion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B564B9E2-E701-4097-A4BC-909A5DF2842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a:t>
            </a:r>
            <a:endParaRPr sz="1100"/>
          </a:p>
        </p:txBody>
      </p:sp>
      <p:sp>
        <p:nvSpPr>
          <p:cNvPr id="8" name="Unified source footer">
            <a:extLst xmlns:a="http://schemas.openxmlformats.org/drawingml/2006/main">
              <a:ext uri="{FF2B5EF4-FFF2-40B4-BE49-F238E27FC236}">
                <a16:creationId xmlns:a16="http://schemas.microsoft.com/office/drawing/2014/main" id="{3196C3B8-4C77-4179-862C-1389A89AF983}"/>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Working recommendation supported by an authored Lesedi illustration, not a calibrated forecast. Reported capacity is used; capture, working capacity, tariffs, capex and discount rate are assumptions. No customer volume is represented as secured.</a:t>
            </a:r>
            <a:endParaRPr sz="750"/>
          </a:p>
        </p:txBody>
      </p:sp>
      <p:graphicFrame>
        <p:nvGraphicFramePr>
          <p:cNvPr id="61"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Working recommendation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Investment logic</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Condition for commitment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Capture inland
supply</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Win accessible customer flows from imported and domestic sources.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Prove delivered competitiveness and sufficient customer volume.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Use existing
assets first</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The worked illustration favours existing assets in six worlds; access/dispatch improvement in two.</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Confirm working capacity and the actual operating constraint.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Stage corridor
and capacity spend</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High demand / low domestic supply favours extra tanks in the illustration. Working-capacity assumptions materially affect its value.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Fund the least-cost viable option that removes the proven constraint.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Keep strategic
options open</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all nine worlds and emerging gateways; screen EV adjacencies separately.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Validate capture, chargeable revenues and capex. The illustrated tank choice reverses in the downside tests.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EBB3CD0-57E6-4B7B-9657-2FDA673E4EE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967BCA86-4787-793C-9BAF-B52395C15ED1}"/>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820E6367-02AA-EFC7-E696-5F9FB9FC8B50}"/>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69AF3DC7-6FA2-8B1B-84EA-43740FECF2F0}"/>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E00D3C3D-620E-1E52-A22A-1A32C71711EB}"/>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7" name="Picture 13"/>
          <p:cNvPicPr>
            <a:picLocks xmlns:a="http://schemas.openxmlformats.org/drawingml/2006/main" noChangeAspect="1"/>
          </p:cNvPicPr>
          <p:nvPr/>
        </p:nvPicPr>
        <p:blipFill>
          <a:blip xmlns:r="http://schemas.openxmlformats.org/officeDocument/2006/relationships" xmlns:a="http://schemas.openxmlformats.org/drawingml/2006/main" r:embed="Rfc0395b659fb4712"/>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8" name="Picture 15"/>
          <p:cNvPicPr>
            <a:picLocks xmlns:a="http://schemas.openxmlformats.org/drawingml/2006/main" noChangeAspect="1"/>
          </p:cNvPicPr>
          <p:nvPr/>
        </p:nvPicPr>
        <p:blipFill>
          <a:blip xmlns:r="http://schemas.openxmlformats.org/officeDocument/2006/relationships" xmlns:a="http://schemas.openxmlformats.org/drawingml/2006/main" r:embed="Ree9b1c416e6542c4"/>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9" name="Picture 17"/>
          <p:cNvPicPr>
            <a:picLocks xmlns:a="http://schemas.openxmlformats.org/drawingml/2006/main" noChangeAspect="1"/>
          </p:cNvPicPr>
          <p:nvPr/>
        </p:nvPicPr>
        <p:blipFill>
          <a:blip xmlns:r="http://schemas.openxmlformats.org/officeDocument/2006/relationships" xmlns:a="http://schemas.openxmlformats.org/drawingml/2006/main" r:embed="R2eafd2c35680441f"/>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70" name="Picture 19"/>
          <p:cNvPicPr>
            <a:picLocks xmlns:a="http://schemas.openxmlformats.org/drawingml/2006/main" noChangeAspect="1"/>
          </p:cNvPicPr>
          <p:nvPr/>
        </p:nvPicPr>
        <p:blipFill>
          <a:blip xmlns:r="http://schemas.openxmlformats.org/officeDocument/2006/relationships" xmlns:a="http://schemas.openxmlformats.org/drawingml/2006/main" r:embed="R4f3c8625f64542a3"/>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pic>
        <p:nvPicPr>
          <p:cNvPr id="71" name="Argument icon ship"/>
          <p:cNvPicPr>
            <a:picLocks xmlns:a="http://schemas.openxmlformats.org/drawingml/2006/main" noChangeAspect="1"/>
          </p:cNvPicPr>
          <p:nvPr/>
        </p:nvPicPr>
        <p:blipFill>
          <a:blip xmlns:r="http://schemas.openxmlformats.org/officeDocument/2006/relationships" xmlns:a="http://schemas.openxmlformats.org/drawingml/2006/main" r:embed="Rfc0395b659fb4712"/>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72" name="Argument icon route"/>
          <p:cNvPicPr>
            <a:picLocks xmlns:a="http://schemas.openxmlformats.org/drawingml/2006/main" noChangeAspect="1"/>
          </p:cNvPicPr>
          <p:nvPr/>
        </p:nvPicPr>
        <p:blipFill>
          <a:blip xmlns:r="http://schemas.openxmlformats.org/officeDocument/2006/relationships" xmlns:a="http://schemas.openxmlformats.org/drawingml/2006/main" r:embed="Ree9b1c416e6542c4"/>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73" name="Argument icon turns"/>
          <p:cNvPicPr>
            <a:picLocks xmlns:a="http://schemas.openxmlformats.org/drawingml/2006/main" noChangeAspect="1"/>
          </p:cNvPicPr>
          <p:nvPr/>
        </p:nvPicPr>
        <p:blipFill>
          <a:blip xmlns:r="http://schemas.openxmlformats.org/officeDocument/2006/relationships" xmlns:a="http://schemas.openxmlformats.org/drawingml/2006/main" r:embed="R2eafd2c35680441f"/>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74" name="Argument icon matrix"/>
          <p:cNvPicPr>
            <a:picLocks xmlns:a="http://schemas.openxmlformats.org/drawingml/2006/main" noChangeAspect="1"/>
          </p:cNvPicPr>
          <p:nvPr/>
        </p:nvPicPr>
        <p:blipFill>
          <a:blip xmlns:r="http://schemas.openxmlformats.org/officeDocument/2006/relationships" xmlns:a="http://schemas.openxmlformats.org/drawingml/2006/main" r:embed="R4f3c8625f64542a3"/>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10303590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868DDA-2FB2-498C-B0F0-3F50A81EAF5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The revised working-capacity assumption changes the illustrated expansion value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61DCC61-7AD3-4B0F-8286-59851EBE0EE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a:t>
            </a:r>
            <a:endParaRPr sz="1100"/>
          </a:p>
        </p:txBody>
      </p:sp>
      <p:sp>
        <p:nvSpPr>
          <p:cNvPr id="8" name="Unified source footer">
            <a:extLst xmlns:a="http://schemas.openxmlformats.org/drawingml/2006/main">
              <a:ext uri="{FF2B5EF4-FFF2-40B4-BE49-F238E27FC236}">
                <a16:creationId xmlns:a16="http://schemas.microsoft.com/office/drawing/2014/main" id="{6C049F97-8F1A-42D6-B947-BDE484068F9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ILLUSTRATIVE ONLY. Working tankage aligned to 124,000 m³. Difference was R8m at 126,000 m³; it is now R58m because the assumed rental allocation changes. Commercial terms and engineering remain unvalidated. Details pp39–42.</a:t>
            </a:r>
            <a:endParaRPr sz="650"/>
          </a:p>
        </p:txBody>
      </p:sp>
      <p:graphicFrame>
        <p:nvGraphicFramePr>
          <p:cNvPr id="57"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1778000"/>
                <a:gridCol w="2730500"/>
                <a:gridCol w="3175000"/>
                <a:gridCol w="2969260"/>
              </a:tblGrid>
              <a:tr h="355600">
                <a:tc>
                  <a:txBody>
                    <a:bodyPr/>
                    <a:lstStyle/>
                    <a:p>
                      <a:pPr>
                        <a:spcAft>
                          <a:spcPts val="0"/>
                        </a:spcAft>
                        <a:buNone/>
                      </a:pPr>
                      <a:r>
                        <a:rPr sz="1200" b="1" u="none">
                          <a:solidFill>
                            <a:schemeClr val="dk1"/>
                          </a:solidFill>
                          <a:latin typeface="Lato"/>
                          <a:ea typeface="Lato"/>
                          <a:cs typeface="Lato"/>
                        </a:rPr>
                        <a:t>Decision test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Numeric condition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ILLUSTRATIVE high / low case</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Still needs verification</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Customer
volume</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Tanks must outperform improving existing capacity.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Assumed capture 2.813bn L/year; tanks win above 2.765bn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No secured volumes inferred. Validate customer capture and contract duration.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Route
economics</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Delivered-cost headroom ≥ R0/m³.</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R750 allowable less R650 assumed logistics = R100/m³ headroom.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Both prices are authored. Compare actual Durban, Maputo, Walvis Bay and domestic quotes.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Capacity
constraint</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Captured flow exceeds achievable handling.</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Existing 1.860bn L/year; improvement 2.232bn; tanks 2.870bn.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124,000 m³ working estimate; 36,000 m³ estimated. Turns 1.25 / 1.50 remain assumptions.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Incremental
return</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Positive NPV and better value than the alternative.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Improvement NPV R+24m; combined R+82m. Difference R58m.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10% discount rate, 20 years, pre-tax. Actual tariffs, cost, tax and project schedule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DC08C4B-F80F-4A40-9A6B-8E1E4FB46FB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4" name="SCR 1">
            <a:extLst xmlns:a="http://schemas.openxmlformats.org/drawingml/2006/main">
              <a:ext uri="{FF2B5EF4-FFF2-40B4-BE49-F238E27FC236}">
                <a16:creationId xmlns:a16="http://schemas.microsoft.com/office/drawing/2014/main" id="{60C484AC-0D2C-DDE7-9E69-054236FBB38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6" name="SCR 2">
            <a:extLst xmlns:a="http://schemas.openxmlformats.org/drawingml/2006/main">
              <a:ext uri="{FF2B5EF4-FFF2-40B4-BE49-F238E27FC236}">
                <a16:creationId xmlns:a16="http://schemas.microsoft.com/office/drawing/2014/main" id="{AF19F4CF-14AC-E8DE-AB63-98A0906FCBB4}"/>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3" name="SCR 3">
            <a:extLst xmlns:a="http://schemas.openxmlformats.org/drawingml/2006/main">
              <a:ext uri="{FF2B5EF4-FFF2-40B4-BE49-F238E27FC236}">
                <a16:creationId xmlns:a16="http://schemas.microsoft.com/office/drawing/2014/main" id="{0AA5688E-E74B-FF16-A43B-BC23F0AD33A8}"/>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5" name="SCR 4">
            <a:extLst xmlns:a="http://schemas.openxmlformats.org/drawingml/2006/main">
              <a:ext uri="{FF2B5EF4-FFF2-40B4-BE49-F238E27FC236}">
                <a16:creationId xmlns:a16="http://schemas.microsoft.com/office/drawing/2014/main" id="{5423936A-FE34-4C3C-8775-921DAFFD540E}"/>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3"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723e4cfb2f764c39"/>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4" name="Argument icon corridor"/>
          <p:cNvPicPr>
            <a:picLocks xmlns:a="http://schemas.openxmlformats.org/drawingml/2006/main" noChangeAspect="1"/>
          </p:cNvPicPr>
          <p:nvPr/>
        </p:nvPicPr>
        <p:blipFill>
          <a:blip xmlns:r="http://schemas.openxmlformats.org/officeDocument/2006/relationships" xmlns:a="http://schemas.openxmlformats.org/drawingml/2006/main" r:embed="Recdb214ce3ba46e9"/>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5" name="Argument icon supply"/>
          <p:cNvPicPr>
            <a:picLocks xmlns:a="http://schemas.openxmlformats.org/drawingml/2006/main" noChangeAspect="1"/>
          </p:cNvPicPr>
          <p:nvPr/>
        </p:nvPicPr>
        <p:blipFill>
          <a:blip xmlns:r="http://schemas.openxmlformats.org/officeDocument/2006/relationships" xmlns:a="http://schemas.openxmlformats.org/drawingml/2006/main" r:embed="R46be0e545e42411c"/>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66" name="Argument icon investment"/>
          <p:cNvPicPr>
            <a:picLocks xmlns:a="http://schemas.openxmlformats.org/drawingml/2006/main" noChangeAspect="1"/>
          </p:cNvPicPr>
          <p:nvPr/>
        </p:nvPicPr>
        <p:blipFill>
          <a:blip xmlns:r="http://schemas.openxmlformats.org/officeDocument/2006/relationships" xmlns:a="http://schemas.openxmlformats.org/drawingml/2006/main" r:embed="Rd4ff8ee42fd446f5"/>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245504092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4F7A8B-B46B-4276-81B9-76218F9F508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Only one illustrative world favours tanks; six favour existing assets and two favour improvement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5BCE4E9-A59E-40B2-892F-B8DEF653050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5</a:t>
            </a:r>
            <a:endParaRPr sz="1100"/>
          </a:p>
        </p:txBody>
      </p:sp>
      <p:sp>
        <p:nvSpPr>
          <p:cNvPr id="8" name="Unified source footer">
            <a:extLst xmlns:a="http://schemas.openxmlformats.org/drawingml/2006/main">
              <a:ext uri="{FF2B5EF4-FFF2-40B4-BE49-F238E27FC236}">
                <a16:creationId xmlns:a16="http://schemas.microsoft.com/office/drawing/2014/main" id="{A7CB78CE-CA3F-434B-8E23-7462E50E14A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p41; downside: p42.</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089400"/>
        </p:xfrm>
        <a:graphic xmlns:a="http://schemas.openxmlformats.org/drawingml/2006/main">
          <a:graphicData uri="http://schemas.openxmlformats.org/drawingml/2006/table">
            <a:tbl>
              <a:tblPr firstRow="1" bandRow="1">
                <a:tableStyleId>{2D5ABB26-0587-4C30-8999-92F81FD0307C}</a:tableStyleId>
              </a:tblPr>
              <a:tblGrid>
                <a:gridCol w="1524000"/>
                <a:gridCol w="3035300"/>
                <a:gridCol w="3035300"/>
                <a:gridCol w="3058160"/>
              </a:tblGrid>
              <a:tr h="508000">
                <a:tc>
                  <a:txBody>
                    <a:bodyPr/>
                    <a:lstStyle/>
                    <a:p>
                      <a:pPr>
                        <a:spcAft>
                          <a:spcPts val="0"/>
                        </a:spcAft>
                        <a:buNone/>
                      </a:pPr>
                      <a:r>
                        <a:rPr sz="1200" b="1" u="none">
                          <a:solidFill>
                            <a:schemeClr val="dk1"/>
                          </a:solidFill>
                          <a:latin typeface="Lato"/>
                          <a:ea typeface="Lato"/>
                          <a:cs typeface="Lato"/>
                        </a:rPr>
                        <a:t>Gauteng demand /
domestic supply</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HIGH deliveries
4.8bn L/year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MEDIUM deliveries
3.6bn L/year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LOW deliveries
2.4bn L/year</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LOW demand
6.0bn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1" u="none">
                          <a:solidFill>
                            <a:schemeClr val="accent1"/>
                          </a:solidFill>
                          <a:latin typeface="Lato"/>
                          <a:ea typeface="Lato"/>
                          <a:cs typeface="Lato"/>
                        </a:rPr>
                        <a:t>L / H
USE EXISTING ASSETS
Capture 0.99bn L/year
Incremental NPV R+0m</a:t>
                      </a:r>
                      <a:endParaRPr sz="1200" b="1" u="none">
                        <a:solidFill>
                          <a:schemeClr val="accent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chemeClr val="accent1">
                        <a:tint val="15000"/>
                      </a:schemeClr>
                    </a:solidFill>
                  </a:tcPr>
                </a:tc>
                <a:tc>
                  <a:txBody>
                    <a:bodyPr/>
                    <a:lstStyle/>
                    <a:p>
                      <a:pPr>
                        <a:spcAft>
                          <a:spcPts val="0"/>
                        </a:spcAft>
                        <a:buNone/>
                      </a:pPr>
                      <a:r>
                        <a:rPr sz="1200" b="0" u="none">
                          <a:solidFill>
                            <a:schemeClr val="dk1"/>
                          </a:solidFill>
                          <a:latin typeface="Lato"/>
                          <a:ea typeface="Lato"/>
                          <a:cs typeface="Lato"/>
                        </a:rPr>
                        <a:t>L / M
USE EXISTING ASSETS
Capture 1.50bn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L / L
USE EXISTING ASSETS
Capture 2.01bn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MEDIUM demand
6.8bn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 / H
USE EXISTING ASSETS
Capture 1.39bn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1" u="none">
                          <a:solidFill>
                            <a:schemeClr val="lt1"/>
                          </a:solidFill>
                          <a:latin typeface="Lato"/>
                          <a:ea typeface="Lato"/>
                          <a:cs typeface="Lato"/>
                        </a:rPr>
                        <a:t>M / M | REFERENCE
USE EXISTING ASSETS
Capture 1.90bn L/year
Incremental NPV R+0m</a:t>
                      </a:r>
                      <a:endParaRPr sz="1200" b="1" u="none">
                        <a:solidFill>
                          <a:schemeClr val="lt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chemeClr val="accent1"/>
                    </a:solidFill>
                  </a:tcPr>
                </a:tc>
                <a:tc>
                  <a:txBody>
                    <a:bodyPr/>
                    <a:lstStyle/>
                    <a:p>
                      <a:pPr>
                        <a:spcAft>
                          <a:spcPts val="0"/>
                        </a:spcAft>
                        <a:buNone/>
                      </a:pPr>
                      <a:r>
                        <a:rPr sz="1200" b="0" u="none">
                          <a:solidFill>
                            <a:schemeClr val="dk1"/>
                          </a:solidFill>
                          <a:latin typeface="Lato"/>
                          <a:ea typeface="Lato"/>
                          <a:cs typeface="Lato"/>
                        </a:rPr>
                        <a:t>M / L
IMPROVE ACCESS / DISPATCH
Capture 2.41bn L/year
Incremental NPV R+24m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1193800">
                <a:tc>
                  <a:txBody>
                    <a:bodyPr/>
                    <a:lstStyle/>
                    <a:p>
                      <a:pPr>
                        <a:spcAft>
                          <a:spcPts val="0"/>
                        </a:spcAft>
                        <a:buNone/>
                      </a:pPr>
                      <a:r>
                        <a:rPr sz="1200" b="1" u="none">
                          <a:solidFill>
                            <a:schemeClr val="dk1"/>
                          </a:solidFill>
                          <a:latin typeface="Lato"/>
                          <a:ea typeface="Lato"/>
                          <a:cs typeface="Lato"/>
                        </a:rPr>
                        <a:t>HIGH demand
7.6bn L/year</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H / H
USE EXISTING ASSETS
Capture 1.80bn L/year
Incremental NPV R+0m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H / M
IMPROVE ACCESS / DISPATCH
Capture 2.30bn L/year
Incremental NPV R+24m</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1" u="none">
                          <a:solidFill>
                            <a:schemeClr val="accent1"/>
                          </a:solidFill>
                          <a:latin typeface="Lato"/>
                          <a:ea typeface="Lato"/>
                          <a:cs typeface="Lato"/>
                        </a:rPr>
                        <a:t>H / L
TEST IMPROVEMENT + TANKS
Capture 2.81bn L/year
Incremental NPV R+82m</a:t>
                      </a:r>
                      <a:endParaRPr sz="1200" b="1" u="none">
                        <a:solidFill>
                          <a:schemeClr val="accent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chemeClr val="accent1">
                        <a:tint val="15000"/>
                      </a:schemeClr>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C2D67B7-FB28-44F2-9034-DA8092D085A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13" name="Cell outputs">
            <a:extLst xmlns:a="http://schemas.openxmlformats.org/drawingml/2006/main">
              <a:ext uri="{FF2B5EF4-FFF2-40B4-BE49-F238E27FC236}">
                <a16:creationId xmlns:a16="http://schemas.microsoft.com/office/drawing/2014/main" id="{80C551B0-D528-A7CB-091A-0E0CED318C82}"/>
              </a:ext>
            </a:extLst>
          </p:cNvPr>
          <p:cNvSpPr>
            <a:spLocks xmlns:a="http://schemas.openxmlformats.org/drawingml/2006/main" noGrp="1"/>
          </p:cNvSpPr>
          <p:nvPr/>
        </p:nvSpPr>
        <p:spPr>
          <a:xfrm xmlns:a="http://schemas.openxmlformats.org/drawingml/2006/main">
            <a:off x="533400" y="5816600"/>
            <a:ext cx="10477500" cy="169277"/>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100">
                <a:solidFill>
                  <a:schemeClr val="dk1"/>
                </a:solidFill>
                <a:latin typeface="Lato"/>
                <a:ea typeface="Lato"/>
                <a:cs typeface="Lato"/>
              </a:rPr>
              <a:t>Highest incremental NPV among three illustrative packages; R0 means retain existing assets, not zero terminal value.</a:t>
            </a:r>
            <a:endParaRPr sz="1100">
              <a:solidFill>
                <a:schemeClr val="dk1"/>
              </a:solidFill>
              <a:latin typeface="Lato"/>
              <a:ea typeface="Lato"/>
              <a:cs typeface="Lato"/>
            </a:endParaRPr>
          </a:p>
        </p:txBody>
      </p:sp>
      <p:sp>
        <p:nvSpPr>
          <p:cNvPr id="4" name="SCR 1">
            <a:extLst xmlns:a="http://schemas.openxmlformats.org/drawingml/2006/main">
              <a:ext uri="{FF2B5EF4-FFF2-40B4-BE49-F238E27FC236}">
                <a16:creationId xmlns:a16="http://schemas.microsoft.com/office/drawing/2014/main" id="{0C68F690-E368-ECBA-10F3-479C773D0792}"/>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Executive summary</a:t>
            </a:r>
          </a:p>
        </p:txBody>
      </p:sp>
      <p:sp>
        <p:nvSpPr>
          <p:cNvPr id="5" name="SCR 2">
            <a:extLst xmlns:a="http://schemas.openxmlformats.org/drawingml/2006/main">
              <a:ext uri="{FF2B5EF4-FFF2-40B4-BE49-F238E27FC236}">
                <a16:creationId xmlns:a16="http://schemas.microsoft.com/office/drawing/2014/main" id="{EC07A52D-4501-3CA9-C10F-94FA47840AE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6" name="SCR 3">
            <a:extLst xmlns:a="http://schemas.openxmlformats.org/drawingml/2006/main">
              <a:ext uri="{FF2B5EF4-FFF2-40B4-BE49-F238E27FC236}">
                <a16:creationId xmlns:a16="http://schemas.microsoft.com/office/drawing/2014/main" id="{82B0CF40-803C-79C5-086A-07D11B28AC5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7" name="SCR 4">
            <a:extLst xmlns:a="http://schemas.openxmlformats.org/drawingml/2006/main">
              <a:ext uri="{FF2B5EF4-FFF2-40B4-BE49-F238E27FC236}">
                <a16:creationId xmlns:a16="http://schemas.microsoft.com/office/drawing/2014/main" id="{2929D8D1-57E6-AAE1-EE03-E5C7B7E0CA4A}"/>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Tree>
    <p:extLst>
      <p:ext uri="{BB962C8B-B14F-4D97-AF65-F5344CB8AC3E}">
        <p14:creationId xmlns:p14="http://schemas.microsoft.com/office/powerpoint/2010/main" val="161062022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E837240-3FEB-4152-BBEC-548614CDC870}"/>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Petrol demand declined while diesel grew slowly over 2013–2023</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A050DE0-A852-4217-961B-900033DDB78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6</a:t>
            </a:r>
            <a:endParaRPr sz="1100"/>
          </a:p>
        </p:txBody>
      </p:sp>
      <p:sp>
        <p:nvSpPr>
          <p:cNvPr id="8" name="Unified source footer">
            <a:extLst xmlns:a="http://schemas.openxmlformats.org/drawingml/2006/main">
              <a:ext uri="{FF2B5EF4-FFF2-40B4-BE49-F238E27FC236}">
                <a16:creationId xmlns:a16="http://schemas.microsoft.com/office/drawing/2014/main" id="{EC3FFED6-F1E3-4129-B916-C3ED2A1CCC18}"/>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sales 2013-2023: petrol CAGR -2.08%, diesel +0.82%. FIASA 2024 is excluded from the trend. Workbook History Q71/R71. RAF levy evidence uses fiscal years and still needs reconciliation.</a:t>
            </a:r>
            <a:endParaRPr sz="650"/>
          </a:p>
        </p:txBody>
      </p:sp>
      <p:sp>
        <p:nvSpPr>
          <p:cNvPr id="48" name="Strictly Confidential footer">
            <a:extLst xmlns:a="http://schemas.openxmlformats.org/drawingml/2006/main">
              <a:ext uri="{FF2B5EF4-FFF2-40B4-BE49-F238E27FC236}">
                <a16:creationId xmlns:a16="http://schemas.microsoft.com/office/drawing/2014/main" id="{B3A3E5B5-8B8F-43A2-9BD5-23871560B60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AC5F3F9-4F59-13ED-19D4-0013D487315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316F29AD-D7FE-6F92-5257-CF455AA08A0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408A53D6-704E-7FB6-6013-379E29EB6DAF}"/>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193202C4-E619-6D6C-D555-717EA9A26526}"/>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82C4BDB8-6541-63B8-D72B-1E0C6E25D71E}"/>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2023 Department sales total 21.94bn L. The 2024 FIASA comparison is 20.76bn L, unverified; no 2025 sales figure is available.</a:t>
            </a:r>
            <a:endParaRPr sz="105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fbc6cfbbe7af4269"/>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A32BFB1A-7005-8829-3986-E9C6574D4BF6}"/>
              </a:ext>
            </a:extLst>
          </p:cNvPr>
          <p:cNvSpPr>
            <a:spLocks xmlns:a="http://schemas.openxmlformats.org/drawingml/2006/main" noGrp="1"/>
          </p:cNvSpPr>
          <p:nvPr/>
        </p:nvSpPr>
        <p:spPr>
          <a:xfrm xmlns:a="http://schemas.openxmlformats.org/drawingml/2006/main">
            <a:off x="457200" y="1625600"/>
            <a:ext cx="6900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Demand trend</a:t>
            </a:r>
          </a:p>
        </p:txBody>
      </p:sp>
      <p:sp>
        <p:nvSpPr>
          <p:cNvPr id="16" name="Aligned panel subtitle">
            <a:extLst xmlns:a="http://schemas.openxmlformats.org/drawingml/2006/main">
              <a:ext uri="{FF2B5EF4-FFF2-40B4-BE49-F238E27FC236}">
                <a16:creationId xmlns:a16="http://schemas.microsoft.com/office/drawing/2014/main" id="{B34C4DB0-C252-C5B2-9A2B-64E4954C1BC2}"/>
              </a:ext>
            </a:extLst>
          </p:cNvPr>
          <p:cNvSpPr>
            <a:spLocks xmlns:a="http://schemas.openxmlformats.org/drawingml/2006/main" noGrp="1"/>
          </p:cNvSpPr>
          <p:nvPr/>
        </p:nvSpPr>
        <p:spPr>
          <a:xfrm xmlns:a="http://schemas.openxmlformats.org/drawingml/2006/main">
            <a:off x="7637318" y="1625600"/>
            <a:ext cx="3472642"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Change over 2013–2023</a:t>
            </a:r>
          </a:p>
        </p:txBody>
      </p:sp>
      <p:sp>
        <p:nvSpPr>
          <p:cNvPr id="13" name="Content margin panel rule">
            <a:extLst xmlns:a="http://schemas.openxmlformats.org/drawingml/2006/main">
              <a:ext uri="{FF2B5EF4-FFF2-40B4-BE49-F238E27FC236}">
                <a16:creationId xmlns:a16="http://schemas.microsoft.com/office/drawing/2014/main" id="{B2C5106D-FBBF-4FE5-8413-188D7806E7EA}"/>
              </a:ext>
            </a:extLst>
          </p:cNvPr>
          <p:cNvSpPr>
            <a:spLocks xmlns:a="http://schemas.openxmlformats.org/drawingml/2006/main" noGrp="1"/>
          </p:cNvSpPr>
          <p:nvPr/>
        </p:nvSpPr>
        <p:spPr>
          <a:xfrm xmlns:a="http://schemas.openxmlformats.org/drawingml/2006/main">
            <a:off x="7637318" y="1907308"/>
            <a:ext cx="3472642"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E6B55515-B3CB-489E-8F07-D7BEB6372047}"/>
              </a:ext>
            </a:extLst>
          </p:cNvPr>
          <p:cNvSpPr>
            <a:spLocks xmlns:a="http://schemas.openxmlformats.org/drawingml/2006/main" noGrp="1"/>
          </p:cNvSpPr>
          <p:nvPr/>
        </p:nvSpPr>
        <p:spPr>
          <a:xfrm xmlns:a="http://schemas.openxmlformats.org/drawingml/2006/main">
            <a:off x="457200" y="1907308"/>
            <a:ext cx="6926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6791279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9D8B57-E12F-4ED5-A6C1-386CFF7E5BBA}"/>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Power recovery reduces diesel support while freight and sector activity remain important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E252A0DD-9282-4CC1-8370-441588BB85D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7</a:t>
            </a:r>
            <a:endParaRPr sz="1100"/>
          </a:p>
        </p:txBody>
      </p:sp>
      <p:sp>
        <p:nvSpPr>
          <p:cNvPr id="8" name="Unified source footer">
            <a:extLst xmlns:a="http://schemas.openxmlformats.org/drawingml/2006/main">
              <a:ext uri="{FF2B5EF4-FFF2-40B4-BE49-F238E27FC236}">
                <a16:creationId xmlns:a16="http://schemas.microsoft.com/office/drawing/2014/main" id="{1F634E31-70BD-403B-AE1C-10E188BC24D9}"/>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endParaRPr sz="650"/>
          </a:p>
        </p:txBody>
      </p:sp>
      <p:graphicFrame>
        <p:nvGraphicFramePr>
          <p:cNvPr id="60" name="Table 46"/>
          <p:cNvGraphicFramePr/>
          <p:nvPr/>
        </p:nvGraphicFramePr>
        <p:xfrm>
          <a:off xmlns:a="http://schemas.openxmlformats.org/drawingml/2006/main" x="457200" y="1651000"/>
          <a:ext xmlns:a="http://schemas.openxmlformats.org/drawingml/2006/main" cx="10652760" cy="4444999"/>
        </p:xfrm>
        <a:graphic xmlns:a="http://schemas.openxmlformats.org/drawingml/2006/main">
          <a:graphicData uri="http://schemas.openxmlformats.org/drawingml/2006/table">
            <a:tbl>
              <a:tblPr firstRow="1" bandRow="1">
                <a:tableStyleId>{2D5ABB26-0587-4C30-8999-92F81FD0307C}</a:tableStyleId>
              </a:tblPr>
              <a:tblGrid>
                <a:gridCol w="2095500"/>
                <a:gridCol w="4635500"/>
                <a:gridCol w="3921760"/>
              </a:tblGrid>
              <a:tr h="355600">
                <a:tc>
                  <a:txBody>
                    <a:bodyPr/>
                    <a:lstStyle/>
                    <a:p>
                      <a:pPr>
                        <a:spcAft>
                          <a:spcPts val="0"/>
                        </a:spcAft>
                        <a:buNone/>
                      </a:pPr>
                      <a:r>
                        <a:rPr sz="1300" b="1" u="none">
                          <a:solidFill>
                            <a:schemeClr val="dk1"/>
                          </a:solidFill>
                          <a:latin typeface="Lato"/>
                          <a:ea typeface="Lato"/>
                          <a:cs typeface="Lato"/>
                        </a:rPr>
                        <a:t>Demand support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2024 vs 2025</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demand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Power
generation</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450m fewer litres in one year. Sustained recovery reduces diesel demand; retirements and replacement timing could reverse it.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Road
freight</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Road carries 85.3% of tonnes.
Workbook truck-fuel proxy: 3.15bn L
in 2023, partial operator coverage.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Sector
activity</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activity-based diesel estimates:
mining 1.406, industry residual 0.165,
agriculture 1.131bn L. Uses can overlap.</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5ED7406-5490-45E0-8E00-E22648ABC4B4}"/>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83CF9B2C-740D-465A-2E04-EF1E6C04AB3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3D74F809-1D99-8AD3-6C6D-E9292C8CF143}"/>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A4627725-22FB-78CC-5D0D-7DCC9CBDF7C5}"/>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878996B7-8B88-DFD0-723B-13DD7E2F1599}"/>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66" name="Argument icon power"/>
          <p:cNvPicPr>
            <a:picLocks xmlns:a="http://schemas.openxmlformats.org/drawingml/2006/main" noChangeAspect="1"/>
          </p:cNvPicPr>
          <p:nvPr/>
        </p:nvPicPr>
        <p:blipFill>
          <a:blip xmlns:r="http://schemas.openxmlformats.org/officeDocument/2006/relationships" xmlns:a="http://schemas.openxmlformats.org/drawingml/2006/main" r:embed="R024b00eb65ab404f"/>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7"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99dfae90d5d0426a"/>
          <a:stretch xmlns:a="http://schemas.openxmlformats.org/drawingml/2006/main">
            <a:fillRect l="0" t="0" r="0" b="0"/>
          </a:stretch>
        </p:blipFill>
        <p:spPr>
          <a:xfrm xmlns:a="http://schemas.openxmlformats.org/drawingml/2006/main">
            <a:off x="508000" y="3484033"/>
            <a:ext cx="317500" cy="317500"/>
          </a:xfrm>
          <a:prstGeom xmlns:a="http://schemas.openxmlformats.org/drawingml/2006/main" prst="rect">
            <a:avLst/>
          </a:prstGeom>
        </p:spPr>
      </p:pic>
      <p:pic>
        <p:nvPicPr>
          <p:cNvPr id="68" name="Argument icon sector"/>
          <p:cNvPicPr>
            <a:picLocks xmlns:a="http://schemas.openxmlformats.org/drawingml/2006/main" noChangeAspect="1"/>
          </p:cNvPicPr>
          <p:nvPr/>
        </p:nvPicPr>
        <p:blipFill>
          <a:blip xmlns:r="http://schemas.openxmlformats.org/officeDocument/2006/relationships" xmlns:a="http://schemas.openxmlformats.org/drawingml/2006/main" r:embed="Rbe1b29a0c030436a"/>
          <a:stretch xmlns:a="http://schemas.openxmlformats.org/drawingml/2006/main">
            <a:fillRect l="0" t="0" r="0" b="0"/>
          </a:stretch>
        </p:blipFill>
        <p:spPr>
          <a:xfrm xmlns:a="http://schemas.openxmlformats.org/drawingml/2006/main">
            <a:off x="508000" y="4847166"/>
            <a:ext cx="317500" cy="317500"/>
          </a:xfrm>
          <a:prstGeom xmlns:a="http://schemas.openxmlformats.org/drawingml/2006/main" prst="rect">
            <a:avLst/>
          </a:prstGeom>
        </p:spPr>
      </p:pic>
      <p:sp>
        <p:nvSpPr>
          <p:cNvPr id="4" name="Comparison unit">
            <a:extLst xmlns:a="http://schemas.openxmlformats.org/drawingml/2006/main">
              <a:ext uri="{FF2B5EF4-FFF2-40B4-BE49-F238E27FC236}">
                <a16:creationId xmlns:a16="http://schemas.microsoft.com/office/drawing/2014/main" id="{6848D3B9-9DAE-E5DE-C318-9C697203955D}"/>
              </a:ext>
            </a:extLst>
          </p:cNvPr>
          <p:cNvSpPr>
            <a:spLocks xmlns:a="http://schemas.openxmlformats.org/drawingml/2006/main" noGrp="1"/>
          </p:cNvSpPr>
          <p:nvPr/>
        </p:nvSpPr>
        <p:spPr>
          <a:xfrm xmlns:a="http://schemas.openxmlformats.org/drawingml/2006/main">
            <a:off x="2590800" y="2082800"/>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Own OCGT fuel · million litres · financial years</a:t>
            </a:r>
            <a:endParaRPr sz="1000">
              <a:solidFill>
                <a:schemeClr val="dk1"/>
              </a:solidFill>
              <a:latin typeface="Lato"/>
              <a:ea typeface="Lato"/>
              <a:cs typeface="Lato"/>
            </a:endParaRPr>
          </a:p>
        </p:txBody>
      </p:sp>
      <p:pic>
        <p:nvPicPr>
          <p:cNvPr id="70" name="Demand comparison power"/>
          <p:cNvPicPr>
            <a:picLocks xmlns:a="http://schemas.openxmlformats.org/drawingml/2006/main" noChangeAspect="1"/>
          </p:cNvPicPr>
          <p:nvPr/>
        </p:nvPicPr>
        <p:blipFill>
          <a:blip xmlns:r="http://schemas.openxmlformats.org/officeDocument/2006/relationships" xmlns:a="http://schemas.openxmlformats.org/drawingml/2006/main" r:embed="Rca8bf9f3e06446d8"/>
          <a:stretch xmlns:a="http://schemas.openxmlformats.org/drawingml/2006/main">
            <a:fillRect l="0" t="0" r="0" b="0"/>
          </a:stretch>
        </p:blipFill>
        <p:spPr>
          <a:xfrm xmlns:a="http://schemas.openxmlformats.org/drawingml/2006/main">
            <a:off x="2590800" y="2159000"/>
            <a:ext cx="4508500" cy="1217295"/>
          </a:xfrm>
          <a:prstGeom xmlns:a="http://schemas.openxmlformats.org/drawingml/2006/main" prst="rect">
            <a:avLst/>
          </a:prstGeom>
        </p:spPr>
      </p:pic>
      <p:sp>
        <p:nvSpPr>
          <p:cNvPr id="15" name="Comparison unit">
            <a:extLst xmlns:a="http://schemas.openxmlformats.org/drawingml/2006/main">
              <a:ext uri="{FF2B5EF4-FFF2-40B4-BE49-F238E27FC236}">
                <a16:creationId xmlns:a16="http://schemas.microsoft.com/office/drawing/2014/main" id="{B8C7AEBC-8080-1E55-90D9-764484D5A075}"/>
              </a:ext>
            </a:extLst>
          </p:cNvPr>
          <p:cNvSpPr>
            <a:spLocks xmlns:a="http://schemas.openxmlformats.org/drawingml/2006/main" noGrp="1"/>
          </p:cNvSpPr>
          <p:nvPr/>
        </p:nvSpPr>
        <p:spPr>
          <a:xfrm xmlns:a="http://schemas.openxmlformats.org/drawingml/2006/main">
            <a:off x="2590800" y="3445933"/>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Reported payload · million tonnes · calendar years</a:t>
            </a:r>
            <a:endParaRPr sz="1000">
              <a:solidFill>
                <a:schemeClr val="dk1"/>
              </a:solidFill>
              <a:latin typeface="Lato"/>
              <a:ea typeface="Lato"/>
              <a:cs typeface="Lato"/>
            </a:endParaRPr>
          </a:p>
        </p:txBody>
      </p:sp>
      <p:pic>
        <p:nvPicPr>
          <p:cNvPr id="72" name="Demand comparison freight"/>
          <p:cNvPicPr>
            <a:picLocks xmlns:a="http://schemas.openxmlformats.org/drawingml/2006/main" noChangeAspect="1"/>
          </p:cNvPicPr>
          <p:nvPr/>
        </p:nvPicPr>
        <p:blipFill>
          <a:blip xmlns:r="http://schemas.openxmlformats.org/officeDocument/2006/relationships" xmlns:a="http://schemas.openxmlformats.org/drawingml/2006/main" r:embed="R49dc1e97e3d147d3"/>
          <a:stretch xmlns:a="http://schemas.openxmlformats.org/drawingml/2006/main">
            <a:fillRect l="0" t="0" r="0" b="0"/>
          </a:stretch>
        </p:blipFill>
        <p:spPr>
          <a:xfrm xmlns:a="http://schemas.openxmlformats.org/drawingml/2006/main">
            <a:off x="2590800" y="3522133"/>
            <a:ext cx="4508500" cy="1217295"/>
          </a:xfrm>
          <a:prstGeom xmlns:a="http://schemas.openxmlformats.org/drawingml/2006/main" prst="rect">
            <a:avLst/>
          </a:prstGeom>
        </p:spPr>
      </p:pic>
      <p:sp>
        <p:nvSpPr>
          <p:cNvPr id="18" name="Comparison unit">
            <a:extLst xmlns:a="http://schemas.openxmlformats.org/drawingml/2006/main">
              <a:ext uri="{FF2B5EF4-FFF2-40B4-BE49-F238E27FC236}">
                <a16:creationId xmlns:a16="http://schemas.microsoft.com/office/drawing/2014/main" id="{050F5819-3F46-6939-E5CF-0124C47BDEA2}"/>
              </a:ext>
            </a:extLst>
          </p:cNvPr>
          <p:cNvSpPr>
            <a:spLocks xmlns:a="http://schemas.openxmlformats.org/drawingml/2006/main" noGrp="1"/>
          </p:cNvSpPr>
          <p:nvPr/>
        </p:nvSpPr>
        <p:spPr>
          <a:xfrm xmlns:a="http://schemas.openxmlformats.org/drawingml/2006/main">
            <a:off x="2590800" y="4809066"/>
            <a:ext cx="4508500" cy="153888"/>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000">
                <a:solidFill>
                  <a:schemeClr val="dk1"/>
                </a:solidFill>
                <a:latin typeface="Lato"/>
                <a:ea typeface="Lato"/>
                <a:cs typeface="Lato"/>
              </a:rPr>
              <a:t>Real GVA · Rbn, 2015 prices · calendar years</a:t>
            </a:r>
            <a:endParaRPr sz="1000">
              <a:solidFill>
                <a:schemeClr val="dk1"/>
              </a:solidFill>
              <a:latin typeface="Lato"/>
              <a:ea typeface="Lato"/>
              <a:cs typeface="Lato"/>
            </a:endParaRPr>
          </a:p>
        </p:txBody>
      </p:sp>
      <p:pic>
        <p:nvPicPr>
          <p:cNvPr id="74" name="Demand comparison sector"/>
          <p:cNvPicPr>
            <a:picLocks xmlns:a="http://schemas.openxmlformats.org/drawingml/2006/main" noChangeAspect="1"/>
          </p:cNvPicPr>
          <p:nvPr/>
        </p:nvPicPr>
        <p:blipFill>
          <a:blip xmlns:r="http://schemas.openxmlformats.org/officeDocument/2006/relationships" xmlns:a="http://schemas.openxmlformats.org/drawingml/2006/main" r:embed="R63874a065ac24d1d"/>
          <a:stretch xmlns:a="http://schemas.openxmlformats.org/drawingml/2006/main">
            <a:fillRect l="0" t="0" r="0" b="0"/>
          </a:stretch>
        </p:blipFill>
        <p:spPr>
          <a:xfrm xmlns:a="http://schemas.openxmlformats.org/drawingml/2006/main">
            <a:off x="2590800" y="4885266"/>
            <a:ext cx="4508500" cy="1217295"/>
          </a:xfrm>
          <a:prstGeom xmlns:a="http://schemas.openxmlformats.org/drawingml/2006/main" prst="rect">
            <a:avLst/>
          </a:prstGeom>
        </p:spPr>
      </p:pic>
      <p:pic>
        <p:nvPicPr>
          <p:cNvPr id="75" name="Picture 15"/>
          <p:cNvPicPr>
            <a:picLocks xmlns:a="http://schemas.openxmlformats.org/drawingml/2006/main" noChangeAspect="1"/>
          </p:cNvPicPr>
          <p:nvPr/>
        </p:nvPicPr>
        <p:blipFill>
          <a:blip xmlns:r="http://schemas.openxmlformats.org/officeDocument/2006/relationships" xmlns:a="http://schemas.openxmlformats.org/drawingml/2006/main" r:embed="Refa8a524d89d42d8"/>
          <a:stretch xmlns:a="http://schemas.openxmlformats.org/drawingml/2006/main">
            <a:fillRect l="0" t="0" r="0" b="0"/>
          </a:stretch>
        </p:blipFill>
        <p:spPr>
          <a:xfrm xmlns:a="http://schemas.openxmlformats.org/drawingml/2006/main">
            <a:off x="4889500" y="1739900"/>
            <a:ext cx="1397000" cy="180213"/>
          </a:xfrm>
          <a:prstGeom xmlns:a="http://schemas.openxmlformats.org/drawingml/2006/main" prst="rect">
            <a:avLst/>
          </a:prstGeom>
        </p:spPr>
      </p:pic>
    </p:spTree>
    <p:extLst>
      <p:ext uri="{BB962C8B-B14F-4D97-AF65-F5344CB8AC3E}">
        <p14:creationId xmlns:p14="http://schemas.microsoft.com/office/powerpoint/2010/main" val="11839180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DC42CF-A65D-4828-BD5C-71A7C61F1B3D}"/>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Mining, manufacturing and agriculture link diesel demand to sector activity</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7BE8C34-E80C-4B62-A747-E3AB6CD0EC2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8</a:t>
            </a:r>
            <a:endParaRPr sz="1100"/>
          </a:p>
        </p:txBody>
      </p:sp>
      <p:sp>
        <p:nvSpPr>
          <p:cNvPr id="8" name="Unified source footer">
            <a:extLst xmlns:a="http://schemas.openxmlformats.org/drawingml/2006/main">
              <a:ext uri="{FF2B5EF4-FFF2-40B4-BE49-F238E27FC236}">
                <a16:creationId xmlns:a16="http://schemas.microsoft.com/office/drawing/2014/main" id="{E495F583-3D31-436D-A60F-E104578FC8F7}"/>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Manish master workbook, DR01 sector activity: 2025 activity × historical average intensity. Department energy balance ends in 2021. Later sector litres are estimates; attribution and road overlap remain open.</a:t>
            </a:r>
            <a:endParaRPr sz="650"/>
          </a:p>
        </p:txBody>
      </p:sp>
      <p:sp>
        <p:nvSpPr>
          <p:cNvPr id="48" name="Strictly Confidential footer">
            <a:extLst xmlns:a="http://schemas.openxmlformats.org/drawingml/2006/main">
              <a:ext uri="{FF2B5EF4-FFF2-40B4-BE49-F238E27FC236}">
                <a16:creationId xmlns:a16="http://schemas.microsoft.com/office/drawing/2014/main" id="{C49621DB-C9C6-4488-AD70-0DA3579B092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6" name="Sector heading">
            <a:extLst xmlns:a="http://schemas.openxmlformats.org/drawingml/2006/main">
              <a:ext uri="{FF2B5EF4-FFF2-40B4-BE49-F238E27FC236}">
                <a16:creationId xmlns:a16="http://schemas.microsoft.com/office/drawing/2014/main" id="{65A169A8-D9BF-7E72-B48E-771CD77BA7BB}"/>
              </a:ext>
            </a:extLst>
          </p:cNvPr>
          <p:cNvSpPr>
            <a:spLocks xmlns:a="http://schemas.openxmlformats.org/drawingml/2006/main" noGrp="1"/>
          </p:cNvSpPr>
          <p:nvPr/>
        </p:nvSpPr>
        <p:spPr>
          <a:xfrm xmlns:a="http://schemas.openxmlformats.org/drawingml/2006/main">
            <a:off x="457200" y="1600200"/>
            <a:ext cx="19685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Sector</a:t>
            </a:r>
          </a:p>
        </p:txBody>
      </p:sp>
      <p:sp>
        <p:nvSpPr>
          <p:cNvPr id="7" name="Chart heading">
            <a:extLst xmlns:a="http://schemas.openxmlformats.org/drawingml/2006/main">
              <a:ext uri="{FF2B5EF4-FFF2-40B4-BE49-F238E27FC236}">
                <a16:creationId xmlns:a16="http://schemas.microsoft.com/office/drawing/2014/main" id="{DBA7DC2C-F2EF-95EA-707F-2D271224C408}"/>
              </a:ext>
            </a:extLst>
          </p:cNvPr>
          <p:cNvSpPr>
            <a:spLocks xmlns:a="http://schemas.openxmlformats.org/drawingml/2006/main" noGrp="1"/>
          </p:cNvSpPr>
          <p:nvPr/>
        </p:nvSpPr>
        <p:spPr>
          <a:xfrm xmlns:a="http://schemas.openxmlformats.org/drawingml/2006/main">
            <a:off x="2552700" y="1600200"/>
            <a:ext cx="44323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Diesel use, billion litres / year</a:t>
            </a:r>
            <a:endParaRPr sz="1200" b="1">
              <a:solidFill>
                <a:schemeClr val="dk1"/>
              </a:solidFill>
              <a:latin typeface="Lato"/>
              <a:ea typeface="Lato"/>
              <a:cs typeface="Lato"/>
            </a:endParaRPr>
          </a:p>
        </p:txBody>
      </p:sp>
      <p:sp>
        <p:nvSpPr>
          <p:cNvPr id="13" name="Activity heading">
            <a:extLst xmlns:a="http://schemas.openxmlformats.org/drawingml/2006/main">
              <a:ext uri="{FF2B5EF4-FFF2-40B4-BE49-F238E27FC236}">
                <a16:creationId xmlns:a16="http://schemas.microsoft.com/office/drawing/2014/main" id="{73F4E311-4081-9D8E-F2A8-1E30E7DE3FE6}"/>
              </a:ext>
            </a:extLst>
          </p:cNvPr>
          <p:cNvSpPr>
            <a:spLocks xmlns:a="http://schemas.openxmlformats.org/drawingml/2006/main" noGrp="1"/>
          </p:cNvSpPr>
          <p:nvPr/>
        </p:nvSpPr>
        <p:spPr>
          <a:xfrm xmlns:a="http://schemas.openxmlformats.org/drawingml/2006/main">
            <a:off x="7480300" y="1600200"/>
            <a:ext cx="36322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00" b="1">
                <a:solidFill>
                  <a:schemeClr val="dk1"/>
                </a:solidFill>
                <a:latin typeface="Lato"/>
                <a:ea typeface="Lato"/>
                <a:cs typeface="Lato"/>
              </a:rPr>
              <a:t>Activity and interpretation</a:t>
            </a:r>
          </a:p>
        </p:txBody>
      </p:sp>
      <p:cxnSp>
        <p:nvCxnSpPr>
          <p:cNvPr id="68" name="Sector heading rule"/>
          <p:cNvCxnSpPr/>
          <p:nvPr/>
        </p:nvCxnSpPr>
        <p:spPr>
          <a:xfrm xmlns:a="http://schemas.openxmlformats.org/drawingml/2006/main">
            <a:off x="457200" y="19050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5" name="Sector label 0">
            <a:extLst xmlns:a="http://schemas.openxmlformats.org/drawingml/2006/main">
              <a:ext uri="{FF2B5EF4-FFF2-40B4-BE49-F238E27FC236}">
                <a16:creationId xmlns:a16="http://schemas.microsoft.com/office/drawing/2014/main" id="{E6CDC96F-13DA-9293-6FD3-08DE11006E7F}"/>
              </a:ext>
            </a:extLst>
          </p:cNvPr>
          <p:cNvSpPr>
            <a:spLocks xmlns:a="http://schemas.openxmlformats.org/drawingml/2006/main" noGrp="1"/>
          </p:cNvSpPr>
          <p:nvPr/>
        </p:nvSpPr>
        <p:spPr>
          <a:xfrm xmlns:a="http://schemas.openxmlformats.org/drawingml/2006/main">
            <a:off x="457200" y="2158999"/>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Mining</a:t>
            </a:r>
          </a:p>
        </p:txBody>
      </p:sp>
      <p:sp>
        <p:nvSpPr>
          <p:cNvPr id="16" name="Sector interpretation 0">
            <a:extLst xmlns:a="http://schemas.openxmlformats.org/drawingml/2006/main">
              <a:ext uri="{FF2B5EF4-FFF2-40B4-BE49-F238E27FC236}">
                <a16:creationId xmlns:a16="http://schemas.microsoft.com/office/drawing/2014/main" id="{0E18B143-84EF-D0CF-5516-1798DD1E7F3E}"/>
              </a:ext>
            </a:extLst>
          </p:cNvPr>
          <p:cNvSpPr>
            <a:spLocks xmlns:a="http://schemas.openxmlformats.org/drawingml/2006/main" noGrp="1"/>
          </p:cNvSpPr>
          <p:nvPr/>
        </p:nvSpPr>
        <p:spPr>
          <a:xfrm xmlns:a="http://schemas.openxmlformats.org/drawingml/2006/main">
            <a:off x="7480300" y="21716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Mining activity drives the estimate. Average historical intensity and road-use overlap remain uncertain.</a:t>
            </a:r>
            <a:endParaRPr sz="1250">
              <a:solidFill>
                <a:schemeClr val="dk1"/>
              </a:solidFill>
              <a:latin typeface="Lato"/>
              <a:ea typeface="Lato"/>
              <a:cs typeface="Lato"/>
            </a:endParaRPr>
          </a:p>
        </p:txBody>
      </p:sp>
      <p:cxnSp>
        <p:nvCxnSpPr>
          <p:cNvPr id="71" name="Zero axis 0"/>
          <p:cNvCxnSpPr/>
          <p:nvPr/>
        </p:nvCxnSpPr>
        <p:spPr>
          <a:xfrm xmlns:a="http://schemas.openxmlformats.org/drawingml/2006/main">
            <a:off x="3263900" y="21336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8" name="Year 0 0">
            <a:extLst xmlns:a="http://schemas.openxmlformats.org/drawingml/2006/main">
              <a:ext uri="{FF2B5EF4-FFF2-40B4-BE49-F238E27FC236}">
                <a16:creationId xmlns:a16="http://schemas.microsoft.com/office/drawing/2014/main" id="{BCFCEDD5-B360-0731-6047-74636FEA33D4}"/>
              </a:ext>
            </a:extLst>
          </p:cNvPr>
          <p:cNvSpPr>
            <a:spLocks xmlns:a="http://schemas.openxmlformats.org/drawingml/2006/main" noGrp="1"/>
          </p:cNvSpPr>
          <p:nvPr/>
        </p:nvSpPr>
        <p:spPr>
          <a:xfrm xmlns:a="http://schemas.openxmlformats.org/drawingml/2006/main">
            <a:off x="2552700" y="21463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19" name="Sector bar 0 0">
            <a:extLst xmlns:a="http://schemas.openxmlformats.org/drawingml/2006/main">
              <a:ext uri="{FF2B5EF4-FFF2-40B4-BE49-F238E27FC236}">
                <a16:creationId xmlns:a16="http://schemas.microsoft.com/office/drawing/2014/main" id="{F6B91932-F480-7CD7-3C01-05C3B5BF243E}"/>
              </a:ext>
            </a:extLst>
          </p:cNvPr>
          <p:cNvSpPr>
            <a:spLocks xmlns:a="http://schemas.openxmlformats.org/drawingml/2006/main" noGrp="1"/>
          </p:cNvSpPr>
          <p:nvPr/>
        </p:nvSpPr>
        <p:spPr>
          <a:xfrm xmlns:a="http://schemas.openxmlformats.org/drawingml/2006/main">
            <a:off x="3263900" y="2159000"/>
            <a:ext cx="2905633"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Value 0 0">
            <a:extLst xmlns:a="http://schemas.openxmlformats.org/drawingml/2006/main">
              <a:ext uri="{FF2B5EF4-FFF2-40B4-BE49-F238E27FC236}">
                <a16:creationId xmlns:a16="http://schemas.microsoft.com/office/drawing/2014/main" id="{0F4B7BD1-8E3D-B7D8-352E-867A026E823A}"/>
              </a:ext>
            </a:extLst>
          </p:cNvPr>
          <p:cNvSpPr>
            <a:spLocks xmlns:a="http://schemas.openxmlformats.org/drawingml/2006/main" noGrp="1"/>
          </p:cNvSpPr>
          <p:nvPr/>
        </p:nvSpPr>
        <p:spPr>
          <a:xfrm xmlns:a="http://schemas.openxmlformats.org/drawingml/2006/main">
            <a:off x="6245733" y="21463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1.67</a:t>
            </a:r>
          </a:p>
        </p:txBody>
      </p:sp>
      <p:sp>
        <p:nvSpPr>
          <p:cNvPr id="21" name="Year 0 1">
            <a:extLst xmlns:a="http://schemas.openxmlformats.org/drawingml/2006/main">
              <a:ext uri="{FF2B5EF4-FFF2-40B4-BE49-F238E27FC236}">
                <a16:creationId xmlns:a16="http://schemas.microsoft.com/office/drawing/2014/main" id="{14C66B96-9647-0C1B-9CDF-F43C5BFEB805}"/>
              </a:ext>
            </a:extLst>
          </p:cNvPr>
          <p:cNvSpPr>
            <a:spLocks xmlns:a="http://schemas.openxmlformats.org/drawingml/2006/main" noGrp="1"/>
          </p:cNvSpPr>
          <p:nvPr/>
        </p:nvSpPr>
        <p:spPr>
          <a:xfrm xmlns:a="http://schemas.openxmlformats.org/drawingml/2006/main">
            <a:off x="2552700" y="24511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22" name="Sector bar 0 1">
            <a:extLst xmlns:a="http://schemas.openxmlformats.org/drawingml/2006/main">
              <a:ext uri="{FF2B5EF4-FFF2-40B4-BE49-F238E27FC236}">
                <a16:creationId xmlns:a16="http://schemas.microsoft.com/office/drawing/2014/main" id="{94723423-E844-4220-848F-C8B42910C0D5}"/>
              </a:ext>
            </a:extLst>
          </p:cNvPr>
          <p:cNvSpPr>
            <a:spLocks xmlns:a="http://schemas.openxmlformats.org/drawingml/2006/main" noGrp="1"/>
          </p:cNvSpPr>
          <p:nvPr/>
        </p:nvSpPr>
        <p:spPr>
          <a:xfrm xmlns:a="http://schemas.openxmlformats.org/drawingml/2006/main">
            <a:off x="3263900" y="2463800"/>
            <a:ext cx="2244471"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Value 0 1">
            <a:extLst xmlns:a="http://schemas.openxmlformats.org/drawingml/2006/main">
              <a:ext uri="{FF2B5EF4-FFF2-40B4-BE49-F238E27FC236}">
                <a16:creationId xmlns:a16="http://schemas.microsoft.com/office/drawing/2014/main" id="{6E983A38-9C73-873C-063F-C72993543FD6}"/>
              </a:ext>
            </a:extLst>
          </p:cNvPr>
          <p:cNvSpPr>
            <a:spLocks xmlns:a="http://schemas.openxmlformats.org/drawingml/2006/main" noGrp="1"/>
          </p:cNvSpPr>
          <p:nvPr/>
        </p:nvSpPr>
        <p:spPr>
          <a:xfrm xmlns:a="http://schemas.openxmlformats.org/drawingml/2006/main">
            <a:off x="5584571" y="24511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1.29</a:t>
            </a:r>
          </a:p>
        </p:txBody>
      </p:sp>
      <p:sp>
        <p:nvSpPr>
          <p:cNvPr id="24" name="Year 0 2">
            <a:extLst xmlns:a="http://schemas.openxmlformats.org/drawingml/2006/main">
              <a:ext uri="{FF2B5EF4-FFF2-40B4-BE49-F238E27FC236}">
                <a16:creationId xmlns:a16="http://schemas.microsoft.com/office/drawing/2014/main" id="{38003D4B-57B3-CE60-122C-9120C89C55C9}"/>
              </a:ext>
            </a:extLst>
          </p:cNvPr>
          <p:cNvSpPr>
            <a:spLocks xmlns:a="http://schemas.openxmlformats.org/drawingml/2006/main" noGrp="1"/>
          </p:cNvSpPr>
          <p:nvPr/>
        </p:nvSpPr>
        <p:spPr>
          <a:xfrm xmlns:a="http://schemas.openxmlformats.org/drawingml/2006/main">
            <a:off x="2552700" y="27559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25" name="Sector bar 0 2">
            <a:extLst xmlns:a="http://schemas.openxmlformats.org/drawingml/2006/main">
              <a:ext uri="{FF2B5EF4-FFF2-40B4-BE49-F238E27FC236}">
                <a16:creationId xmlns:a16="http://schemas.microsoft.com/office/drawing/2014/main" id="{A388A7E3-B0B3-2918-1E99-E7410D28228A}"/>
              </a:ext>
            </a:extLst>
          </p:cNvPr>
          <p:cNvSpPr>
            <a:spLocks xmlns:a="http://schemas.openxmlformats.org/drawingml/2006/main" noGrp="1"/>
          </p:cNvSpPr>
          <p:nvPr/>
        </p:nvSpPr>
        <p:spPr>
          <a:xfrm xmlns:a="http://schemas.openxmlformats.org/drawingml/2006/main">
            <a:off x="3263900" y="2768600"/>
            <a:ext cx="2446903"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Value 0 2">
            <a:extLst xmlns:a="http://schemas.openxmlformats.org/drawingml/2006/main">
              <a:ext uri="{FF2B5EF4-FFF2-40B4-BE49-F238E27FC236}">
                <a16:creationId xmlns:a16="http://schemas.microsoft.com/office/drawing/2014/main" id="{A13295E8-E5CE-36FE-C86A-8F808A9BA76F}"/>
              </a:ext>
            </a:extLst>
          </p:cNvPr>
          <p:cNvSpPr>
            <a:spLocks xmlns:a="http://schemas.openxmlformats.org/drawingml/2006/main" noGrp="1"/>
          </p:cNvSpPr>
          <p:nvPr/>
        </p:nvSpPr>
        <p:spPr>
          <a:xfrm xmlns:a="http://schemas.openxmlformats.org/drawingml/2006/main">
            <a:off x="5787003" y="27559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1.41</a:t>
            </a:r>
          </a:p>
        </p:txBody>
      </p:sp>
      <p:cxnSp>
        <p:nvCxnSpPr>
          <p:cNvPr id="81" name="Sector row rule 0"/>
          <p:cNvCxnSpPr/>
          <p:nvPr/>
        </p:nvCxnSpPr>
        <p:spPr>
          <a:xfrm xmlns:a="http://schemas.openxmlformats.org/drawingml/2006/main">
            <a:off x="457200" y="31750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8" name="Sector label 1">
            <a:extLst xmlns:a="http://schemas.openxmlformats.org/drawingml/2006/main">
              <a:ext uri="{FF2B5EF4-FFF2-40B4-BE49-F238E27FC236}">
                <a16:creationId xmlns:a16="http://schemas.microsoft.com/office/drawing/2014/main" id="{BBDB7AF9-6122-31BD-BE04-9ACF0FFD77A1}"/>
              </a:ext>
            </a:extLst>
          </p:cNvPr>
          <p:cNvSpPr>
            <a:spLocks xmlns:a="http://schemas.openxmlformats.org/drawingml/2006/main" noGrp="1"/>
          </p:cNvSpPr>
          <p:nvPr/>
        </p:nvSpPr>
        <p:spPr>
          <a:xfrm xmlns:a="http://schemas.openxmlformats.org/drawingml/2006/main">
            <a:off x="457200" y="3416300"/>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Manufacturing / non-specified industry</a:t>
            </a:r>
          </a:p>
        </p:txBody>
      </p:sp>
      <p:sp>
        <p:nvSpPr>
          <p:cNvPr id="29" name="Sector interpretation 1">
            <a:extLst xmlns:a="http://schemas.openxmlformats.org/drawingml/2006/main">
              <a:ext uri="{FF2B5EF4-FFF2-40B4-BE49-F238E27FC236}">
                <a16:creationId xmlns:a16="http://schemas.microsoft.com/office/drawing/2014/main" id="{BFC2BDC1-F459-EAAA-BB5E-806FD2D52D46}"/>
              </a:ext>
            </a:extLst>
          </p:cNvPr>
          <p:cNvSpPr>
            <a:spLocks xmlns:a="http://schemas.openxmlformats.org/drawingml/2006/main" noGrp="1"/>
          </p:cNvSpPr>
          <p:nvPr/>
        </p:nvSpPr>
        <p:spPr>
          <a:xfrm xmlns:a="http://schemas.openxmlformats.org/drawingml/2006/main">
            <a:off x="7480300" y="34289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Industry residual excludes mining and construction. This is an estimate, not a complete industrial census.</a:t>
            </a:r>
            <a:endParaRPr sz="1250">
              <a:solidFill>
                <a:schemeClr val="dk1"/>
              </a:solidFill>
              <a:latin typeface="Lato"/>
              <a:ea typeface="Lato"/>
              <a:cs typeface="Lato"/>
            </a:endParaRPr>
          </a:p>
        </p:txBody>
      </p:sp>
      <p:cxnSp>
        <p:nvCxnSpPr>
          <p:cNvPr id="84" name="Zero axis 1"/>
          <p:cNvCxnSpPr/>
          <p:nvPr/>
        </p:nvCxnSpPr>
        <p:spPr>
          <a:xfrm xmlns:a="http://schemas.openxmlformats.org/drawingml/2006/main">
            <a:off x="3263900" y="33909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31" name="Year 1 0">
            <a:extLst xmlns:a="http://schemas.openxmlformats.org/drawingml/2006/main">
              <a:ext uri="{FF2B5EF4-FFF2-40B4-BE49-F238E27FC236}">
                <a16:creationId xmlns:a16="http://schemas.microsoft.com/office/drawing/2014/main" id="{16B0186D-8604-9086-8124-5B59F61AB1A9}"/>
              </a:ext>
            </a:extLst>
          </p:cNvPr>
          <p:cNvSpPr>
            <a:spLocks xmlns:a="http://schemas.openxmlformats.org/drawingml/2006/main" noGrp="1"/>
          </p:cNvSpPr>
          <p:nvPr/>
        </p:nvSpPr>
        <p:spPr>
          <a:xfrm xmlns:a="http://schemas.openxmlformats.org/drawingml/2006/main">
            <a:off x="2552700" y="34036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32" name="Sector bar 1 0">
            <a:extLst xmlns:a="http://schemas.openxmlformats.org/drawingml/2006/main">
              <a:ext uri="{FF2B5EF4-FFF2-40B4-BE49-F238E27FC236}">
                <a16:creationId xmlns:a16="http://schemas.microsoft.com/office/drawing/2014/main" id="{2DA6DBBB-2E07-06BE-2A17-FB5203EBAC94}"/>
              </a:ext>
            </a:extLst>
          </p:cNvPr>
          <p:cNvSpPr>
            <a:spLocks xmlns:a="http://schemas.openxmlformats.org/drawingml/2006/main" noGrp="1"/>
          </p:cNvSpPr>
          <p:nvPr/>
        </p:nvSpPr>
        <p:spPr>
          <a:xfrm xmlns:a="http://schemas.openxmlformats.org/drawingml/2006/main">
            <a:off x="3263900" y="3416300"/>
            <a:ext cx="400177"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Value 1 0">
            <a:extLst xmlns:a="http://schemas.openxmlformats.org/drawingml/2006/main">
              <a:ext uri="{FF2B5EF4-FFF2-40B4-BE49-F238E27FC236}">
                <a16:creationId xmlns:a16="http://schemas.microsoft.com/office/drawing/2014/main" id="{17BCCB4B-9BA0-D28F-AF5E-09327B282841}"/>
              </a:ext>
            </a:extLst>
          </p:cNvPr>
          <p:cNvSpPr>
            <a:spLocks xmlns:a="http://schemas.openxmlformats.org/drawingml/2006/main" noGrp="1"/>
          </p:cNvSpPr>
          <p:nvPr/>
        </p:nvSpPr>
        <p:spPr>
          <a:xfrm xmlns:a="http://schemas.openxmlformats.org/drawingml/2006/main">
            <a:off x="3740277" y="34036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0.23</a:t>
            </a:r>
          </a:p>
        </p:txBody>
      </p:sp>
      <p:sp>
        <p:nvSpPr>
          <p:cNvPr id="34" name="Year 1 1">
            <a:extLst xmlns:a="http://schemas.openxmlformats.org/drawingml/2006/main">
              <a:ext uri="{FF2B5EF4-FFF2-40B4-BE49-F238E27FC236}">
                <a16:creationId xmlns:a16="http://schemas.microsoft.com/office/drawing/2014/main" id="{136F52DC-B196-9F98-C031-615B735A15BB}"/>
              </a:ext>
            </a:extLst>
          </p:cNvPr>
          <p:cNvSpPr>
            <a:spLocks xmlns:a="http://schemas.openxmlformats.org/drawingml/2006/main" noGrp="1"/>
          </p:cNvSpPr>
          <p:nvPr/>
        </p:nvSpPr>
        <p:spPr>
          <a:xfrm xmlns:a="http://schemas.openxmlformats.org/drawingml/2006/main">
            <a:off x="2552700" y="37084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35" name="Sector bar 1 1">
            <a:extLst xmlns:a="http://schemas.openxmlformats.org/drawingml/2006/main">
              <a:ext uri="{FF2B5EF4-FFF2-40B4-BE49-F238E27FC236}">
                <a16:creationId xmlns:a16="http://schemas.microsoft.com/office/drawing/2014/main" id="{4965B220-CF36-3D8E-8803-FFFF46126B6C}"/>
              </a:ext>
            </a:extLst>
          </p:cNvPr>
          <p:cNvSpPr>
            <a:spLocks xmlns:a="http://schemas.openxmlformats.org/drawingml/2006/main" noGrp="1"/>
          </p:cNvSpPr>
          <p:nvPr/>
        </p:nvSpPr>
        <p:spPr>
          <a:xfrm xmlns:a="http://schemas.openxmlformats.org/drawingml/2006/main">
            <a:off x="3263900" y="3721100"/>
            <a:ext cx="278384"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Value 1 1">
            <a:extLst xmlns:a="http://schemas.openxmlformats.org/drawingml/2006/main">
              <a:ext uri="{FF2B5EF4-FFF2-40B4-BE49-F238E27FC236}">
                <a16:creationId xmlns:a16="http://schemas.microsoft.com/office/drawing/2014/main" id="{C2AD154B-6A28-84F2-FD3A-53898FEA8469}"/>
              </a:ext>
            </a:extLst>
          </p:cNvPr>
          <p:cNvSpPr>
            <a:spLocks xmlns:a="http://schemas.openxmlformats.org/drawingml/2006/main" noGrp="1"/>
          </p:cNvSpPr>
          <p:nvPr/>
        </p:nvSpPr>
        <p:spPr>
          <a:xfrm xmlns:a="http://schemas.openxmlformats.org/drawingml/2006/main">
            <a:off x="3618484" y="37084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0.16</a:t>
            </a:r>
          </a:p>
        </p:txBody>
      </p:sp>
      <p:sp>
        <p:nvSpPr>
          <p:cNvPr id="37" name="Year 1 2">
            <a:extLst xmlns:a="http://schemas.openxmlformats.org/drawingml/2006/main">
              <a:ext uri="{FF2B5EF4-FFF2-40B4-BE49-F238E27FC236}">
                <a16:creationId xmlns:a16="http://schemas.microsoft.com/office/drawing/2014/main" id="{ADCEAD1A-F95E-16BE-B8E7-E7150E877487}"/>
              </a:ext>
            </a:extLst>
          </p:cNvPr>
          <p:cNvSpPr>
            <a:spLocks xmlns:a="http://schemas.openxmlformats.org/drawingml/2006/main" noGrp="1"/>
          </p:cNvSpPr>
          <p:nvPr/>
        </p:nvSpPr>
        <p:spPr>
          <a:xfrm xmlns:a="http://schemas.openxmlformats.org/drawingml/2006/main">
            <a:off x="2552700" y="40132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38" name="Sector bar 1 2">
            <a:extLst xmlns:a="http://schemas.openxmlformats.org/drawingml/2006/main">
              <a:ext uri="{FF2B5EF4-FFF2-40B4-BE49-F238E27FC236}">
                <a16:creationId xmlns:a16="http://schemas.microsoft.com/office/drawing/2014/main" id="{7F8F2217-2E77-347C-505D-DBF279785080}"/>
              </a:ext>
            </a:extLst>
          </p:cNvPr>
          <p:cNvSpPr>
            <a:spLocks xmlns:a="http://schemas.openxmlformats.org/drawingml/2006/main" noGrp="1"/>
          </p:cNvSpPr>
          <p:nvPr/>
        </p:nvSpPr>
        <p:spPr>
          <a:xfrm xmlns:a="http://schemas.openxmlformats.org/drawingml/2006/main">
            <a:off x="3263900" y="4025900"/>
            <a:ext cx="287216"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Value 1 2">
            <a:extLst xmlns:a="http://schemas.openxmlformats.org/drawingml/2006/main">
              <a:ext uri="{FF2B5EF4-FFF2-40B4-BE49-F238E27FC236}">
                <a16:creationId xmlns:a16="http://schemas.microsoft.com/office/drawing/2014/main" id="{814FCAB5-F5DB-7991-9CED-5828A76BF304}"/>
              </a:ext>
            </a:extLst>
          </p:cNvPr>
          <p:cNvSpPr>
            <a:spLocks xmlns:a="http://schemas.openxmlformats.org/drawingml/2006/main" noGrp="1"/>
          </p:cNvSpPr>
          <p:nvPr/>
        </p:nvSpPr>
        <p:spPr>
          <a:xfrm xmlns:a="http://schemas.openxmlformats.org/drawingml/2006/main">
            <a:off x="3627316" y="40132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0.17</a:t>
            </a:r>
          </a:p>
        </p:txBody>
      </p:sp>
      <p:cxnSp>
        <p:nvCxnSpPr>
          <p:cNvPr id="94" name="Sector row rule 1"/>
          <p:cNvCxnSpPr/>
          <p:nvPr/>
        </p:nvCxnSpPr>
        <p:spPr>
          <a:xfrm xmlns:a="http://schemas.openxmlformats.org/drawingml/2006/main">
            <a:off x="457200" y="44323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41" name="Sector label 2">
            <a:extLst xmlns:a="http://schemas.openxmlformats.org/drawingml/2006/main">
              <a:ext uri="{FF2B5EF4-FFF2-40B4-BE49-F238E27FC236}">
                <a16:creationId xmlns:a16="http://schemas.microsoft.com/office/drawing/2014/main" id="{432BC058-6345-93A7-631D-3D57222DD209}"/>
              </a:ext>
            </a:extLst>
          </p:cNvPr>
          <p:cNvSpPr>
            <a:spLocks xmlns:a="http://schemas.openxmlformats.org/drawingml/2006/main" noGrp="1"/>
          </p:cNvSpPr>
          <p:nvPr/>
        </p:nvSpPr>
        <p:spPr>
          <a:xfrm xmlns:a="http://schemas.openxmlformats.org/drawingml/2006/main">
            <a:off x="457200" y="4673599"/>
            <a:ext cx="1968500" cy="711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300" b="1">
                <a:solidFill>
                  <a:schemeClr val="accent1"/>
                </a:solidFill>
                <a:latin typeface="Lato"/>
                <a:ea typeface="Lato"/>
                <a:cs typeface="Lato"/>
              </a:rPr>
              <a:t>Agriculture / forestry</a:t>
            </a:r>
          </a:p>
        </p:txBody>
      </p:sp>
      <p:sp>
        <p:nvSpPr>
          <p:cNvPr id="42" name="Sector interpretation 2">
            <a:extLst xmlns:a="http://schemas.openxmlformats.org/drawingml/2006/main">
              <a:ext uri="{FF2B5EF4-FFF2-40B4-BE49-F238E27FC236}">
                <a16:creationId xmlns:a16="http://schemas.microsoft.com/office/drawing/2014/main" id="{D9A929E7-20BF-D9F1-A9E4-59AD7B63F9DD}"/>
              </a:ext>
            </a:extLst>
          </p:cNvPr>
          <p:cNvSpPr>
            <a:spLocks xmlns:a="http://schemas.openxmlformats.org/drawingml/2006/main" noGrp="1"/>
          </p:cNvSpPr>
          <p:nvPr/>
        </p:nvSpPr>
        <p:spPr>
          <a:xfrm xmlns:a="http://schemas.openxmlformats.org/drawingml/2006/main">
            <a:off x="7480300" y="4686299"/>
            <a:ext cx="3632200" cy="825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250">
                <a:solidFill>
                  <a:schemeClr val="dk1"/>
                </a:solidFill>
                <a:latin typeface="Lato"/>
                <a:ea typeface="Lato"/>
                <a:cs typeface="Lato"/>
              </a:rPr>
              <a:t>2025 real GVA R134.8bn, 2015 prices. Weather, irrigation and transport affect fuel intensity.</a:t>
            </a:r>
            <a:endParaRPr sz="1250">
              <a:solidFill>
                <a:schemeClr val="dk1"/>
              </a:solidFill>
              <a:latin typeface="Lato"/>
              <a:ea typeface="Lato"/>
              <a:cs typeface="Lato"/>
            </a:endParaRPr>
          </a:p>
        </p:txBody>
      </p:sp>
      <p:cxnSp>
        <p:nvCxnSpPr>
          <p:cNvPr id="97" name="Zero axis 2"/>
          <p:cNvCxnSpPr/>
          <p:nvPr/>
        </p:nvCxnSpPr>
        <p:spPr>
          <a:xfrm xmlns:a="http://schemas.openxmlformats.org/drawingml/2006/main">
            <a:off x="3263900" y="4648200"/>
            <a:ext cx="0" cy="87630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44" name="Year 2 0">
            <a:extLst xmlns:a="http://schemas.openxmlformats.org/drawingml/2006/main">
              <a:ext uri="{FF2B5EF4-FFF2-40B4-BE49-F238E27FC236}">
                <a16:creationId xmlns:a16="http://schemas.microsoft.com/office/drawing/2014/main" id="{9A46EBB9-80A4-EB24-BF84-58836D7A29C2}"/>
              </a:ext>
            </a:extLst>
          </p:cNvPr>
          <p:cNvSpPr>
            <a:spLocks xmlns:a="http://schemas.openxmlformats.org/drawingml/2006/main" noGrp="1"/>
          </p:cNvSpPr>
          <p:nvPr/>
        </p:nvSpPr>
        <p:spPr>
          <a:xfrm xmlns:a="http://schemas.openxmlformats.org/drawingml/2006/main">
            <a:off x="2552700" y="46609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2019</a:t>
            </a:r>
          </a:p>
        </p:txBody>
      </p:sp>
      <p:sp>
        <p:nvSpPr>
          <p:cNvPr id="45" name="Sector bar 2 0">
            <a:extLst xmlns:a="http://schemas.openxmlformats.org/drawingml/2006/main">
              <a:ext uri="{FF2B5EF4-FFF2-40B4-BE49-F238E27FC236}">
                <a16:creationId xmlns:a16="http://schemas.microsoft.com/office/drawing/2014/main" id="{A778E9EF-151C-CB12-5F7F-F2E63EF28409}"/>
              </a:ext>
            </a:extLst>
          </p:cNvPr>
          <p:cNvSpPr>
            <a:spLocks xmlns:a="http://schemas.openxmlformats.org/drawingml/2006/main" noGrp="1"/>
          </p:cNvSpPr>
          <p:nvPr/>
        </p:nvSpPr>
        <p:spPr>
          <a:xfrm xmlns:a="http://schemas.openxmlformats.org/drawingml/2006/main">
            <a:off x="3263900" y="4673600"/>
            <a:ext cx="1600708" cy="152400"/>
          </a:xfrm>
          <a:prstGeom xmlns:a="http://schemas.openxmlformats.org/drawingml/2006/main" prst="rect">
            <a:avLst/>
          </a:prstGeom>
          <a:solidFill xmlns:a="http://schemas.openxmlformats.org/drawingml/2006/main">
            <a:schemeClr val="accent2"/>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Value 2 0">
            <a:extLst xmlns:a="http://schemas.openxmlformats.org/drawingml/2006/main">
              <a:ext uri="{FF2B5EF4-FFF2-40B4-BE49-F238E27FC236}">
                <a16:creationId xmlns:a16="http://schemas.microsoft.com/office/drawing/2014/main" id="{C19BD180-4226-7FCB-5122-31F30A9F3DA0}"/>
              </a:ext>
            </a:extLst>
          </p:cNvPr>
          <p:cNvSpPr>
            <a:spLocks xmlns:a="http://schemas.openxmlformats.org/drawingml/2006/main" noGrp="1"/>
          </p:cNvSpPr>
          <p:nvPr/>
        </p:nvSpPr>
        <p:spPr>
          <a:xfrm xmlns:a="http://schemas.openxmlformats.org/drawingml/2006/main">
            <a:off x="4940808" y="46609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0.92</a:t>
            </a:r>
          </a:p>
        </p:txBody>
      </p:sp>
      <p:sp>
        <p:nvSpPr>
          <p:cNvPr id="47" name="Year 2 1">
            <a:extLst xmlns:a="http://schemas.openxmlformats.org/drawingml/2006/main">
              <a:ext uri="{FF2B5EF4-FFF2-40B4-BE49-F238E27FC236}">
                <a16:creationId xmlns:a16="http://schemas.microsoft.com/office/drawing/2014/main" id="{203F43BB-C4C4-EF5B-62D7-C983F44D5D80}"/>
              </a:ext>
            </a:extLst>
          </p:cNvPr>
          <p:cNvSpPr>
            <a:spLocks xmlns:a="http://schemas.openxmlformats.org/drawingml/2006/main" noGrp="1"/>
          </p:cNvSpPr>
          <p:nvPr/>
        </p:nvSpPr>
        <p:spPr>
          <a:xfrm xmlns:a="http://schemas.openxmlformats.org/drawingml/2006/main">
            <a:off x="2552700" y="49657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2021</a:t>
            </a:r>
          </a:p>
        </p:txBody>
      </p:sp>
      <p:sp>
        <p:nvSpPr>
          <p:cNvPr id="49" name="Sector bar 2 1">
            <a:extLst xmlns:a="http://schemas.openxmlformats.org/drawingml/2006/main">
              <a:ext uri="{FF2B5EF4-FFF2-40B4-BE49-F238E27FC236}">
                <a16:creationId xmlns:a16="http://schemas.microsoft.com/office/drawing/2014/main" id="{9A65D64C-A255-0484-9B4C-DB1D888CA75A}"/>
              </a:ext>
            </a:extLst>
          </p:cNvPr>
          <p:cNvSpPr>
            <a:spLocks xmlns:a="http://schemas.openxmlformats.org/drawingml/2006/main" noGrp="1"/>
          </p:cNvSpPr>
          <p:nvPr/>
        </p:nvSpPr>
        <p:spPr>
          <a:xfrm xmlns:a="http://schemas.openxmlformats.org/drawingml/2006/main">
            <a:off x="3263900" y="4978400"/>
            <a:ext cx="1844294" cy="152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Value 2 1">
            <a:extLst xmlns:a="http://schemas.openxmlformats.org/drawingml/2006/main">
              <a:ext uri="{FF2B5EF4-FFF2-40B4-BE49-F238E27FC236}">
                <a16:creationId xmlns:a16="http://schemas.microsoft.com/office/drawing/2014/main" id="{2639BBAA-BF87-EB2E-3B26-AD87F77D4799}"/>
              </a:ext>
            </a:extLst>
          </p:cNvPr>
          <p:cNvSpPr>
            <a:spLocks xmlns:a="http://schemas.openxmlformats.org/drawingml/2006/main" noGrp="1"/>
          </p:cNvSpPr>
          <p:nvPr/>
        </p:nvSpPr>
        <p:spPr>
          <a:xfrm xmlns:a="http://schemas.openxmlformats.org/drawingml/2006/main">
            <a:off x="5184394" y="49657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1.06</a:t>
            </a:r>
          </a:p>
        </p:txBody>
      </p:sp>
      <p:sp>
        <p:nvSpPr>
          <p:cNvPr id="51" name="Year 2 2">
            <a:extLst xmlns:a="http://schemas.openxmlformats.org/drawingml/2006/main">
              <a:ext uri="{FF2B5EF4-FFF2-40B4-BE49-F238E27FC236}">
                <a16:creationId xmlns:a16="http://schemas.microsoft.com/office/drawing/2014/main" id="{64995438-4D77-DCFE-8013-D3F2C856DF1C}"/>
              </a:ext>
            </a:extLst>
          </p:cNvPr>
          <p:cNvSpPr>
            <a:spLocks xmlns:a="http://schemas.openxmlformats.org/drawingml/2006/main" noGrp="1"/>
          </p:cNvSpPr>
          <p:nvPr/>
        </p:nvSpPr>
        <p:spPr>
          <a:xfrm xmlns:a="http://schemas.openxmlformats.org/drawingml/2006/main">
            <a:off x="2552700" y="5270500"/>
            <a:ext cx="6604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a:solidFill>
                  <a:schemeClr val="dk1"/>
                </a:solidFill>
                <a:latin typeface="Lato"/>
                <a:ea typeface="Lato"/>
                <a:cs typeface="Lato"/>
              </a:rPr>
              <a:t>2025 est.</a:t>
            </a:r>
          </a:p>
        </p:txBody>
      </p:sp>
      <p:sp>
        <p:nvSpPr>
          <p:cNvPr id="52" name="Sector bar 2 2">
            <a:extLst xmlns:a="http://schemas.openxmlformats.org/drawingml/2006/main">
              <a:ext uri="{FF2B5EF4-FFF2-40B4-BE49-F238E27FC236}">
                <a16:creationId xmlns:a16="http://schemas.microsoft.com/office/drawing/2014/main" id="{15ABB96F-19D1-4B54-F98E-900FC6B40019}"/>
              </a:ext>
            </a:extLst>
          </p:cNvPr>
          <p:cNvSpPr>
            <a:spLocks xmlns:a="http://schemas.openxmlformats.org/drawingml/2006/main" noGrp="1"/>
          </p:cNvSpPr>
          <p:nvPr/>
        </p:nvSpPr>
        <p:spPr>
          <a:xfrm xmlns:a="http://schemas.openxmlformats.org/drawingml/2006/main">
            <a:off x="3263900" y="5283200"/>
            <a:ext cx="1968218" cy="152400"/>
          </a:xfrm>
          <a:prstGeom xmlns:a="http://schemas.openxmlformats.org/drawingml/2006/main" prst="rect">
            <a:avLst/>
          </a:prstGeom>
          <a:solidFill xmlns:a="http://schemas.openxmlformats.org/drawingml/2006/main">
            <a:schemeClr val="lt1"/>
          </a:solidFill>
          <a:ln xmlns:a="http://schemas.openxmlformats.org/drawingml/2006/main" w="11430" cmpd="sng">
            <a:solidFill>
              <a:schemeClr val="accent1"/>
            </a:solidFill>
            <a:prstDash val="dash"/>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Value 2 2">
            <a:extLst xmlns:a="http://schemas.openxmlformats.org/drawingml/2006/main">
              <a:ext uri="{FF2B5EF4-FFF2-40B4-BE49-F238E27FC236}">
                <a16:creationId xmlns:a16="http://schemas.microsoft.com/office/drawing/2014/main" id="{85D836A3-6D30-F8E0-F284-6B823EE75E71}"/>
              </a:ext>
            </a:extLst>
          </p:cNvPr>
          <p:cNvSpPr>
            <a:spLocks xmlns:a="http://schemas.openxmlformats.org/drawingml/2006/main" noGrp="1"/>
          </p:cNvSpPr>
          <p:nvPr/>
        </p:nvSpPr>
        <p:spPr>
          <a:xfrm xmlns:a="http://schemas.openxmlformats.org/drawingml/2006/main">
            <a:off x="5308318" y="5270500"/>
            <a:ext cx="5461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00" b="1">
                <a:solidFill>
                  <a:schemeClr val="accent1"/>
                </a:solidFill>
                <a:latin typeface="Lato"/>
                <a:ea typeface="Lato"/>
                <a:cs typeface="Lato"/>
              </a:rPr>
              <a:t>1.13</a:t>
            </a:r>
          </a:p>
        </p:txBody>
      </p:sp>
      <p:cxnSp>
        <p:nvCxnSpPr>
          <p:cNvPr id="107" name="Sector row rule 2"/>
          <p:cNvCxnSpPr/>
          <p:nvPr/>
        </p:nvCxnSpPr>
        <p:spPr>
          <a:xfrm xmlns:a="http://schemas.openxmlformats.org/drawingml/2006/main">
            <a:off x="457200" y="5689600"/>
            <a:ext cx="10652760" cy="0"/>
          </a:xfrm>
          <a:prstGeom xmlns:a="http://schemas.openxmlformats.org/drawingml/2006/main" prst="straightConnector1">
            <a:avLst/>
          </a:prstGeom>
          <a:ln xmlns:a="http://schemas.openxmlformats.org/drawingml/2006/main" w="5080">
            <a:solidFill>
              <a:schemeClr val="dk1">
                <a:tint val="1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5" name="Chart scale note">
            <a:extLst xmlns:a="http://schemas.openxmlformats.org/drawingml/2006/main">
              <a:ext uri="{FF2B5EF4-FFF2-40B4-BE49-F238E27FC236}">
                <a16:creationId xmlns:a16="http://schemas.microsoft.com/office/drawing/2014/main" id="{108C89DE-252D-F272-16FF-23DAE5529CC0}"/>
              </a:ext>
            </a:extLst>
          </p:cNvPr>
          <p:cNvSpPr>
            <a:spLocks xmlns:a="http://schemas.openxmlformats.org/drawingml/2006/main" noGrp="1"/>
          </p:cNvSpPr>
          <p:nvPr/>
        </p:nvSpPr>
        <p:spPr>
          <a:xfrm xmlns:a="http://schemas.openxmlformats.org/drawingml/2006/main">
            <a:off x="2552700" y="5740399"/>
            <a:ext cx="8382000" cy="2032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900">
                <a:solidFill>
                  <a:schemeClr val="dk1"/>
                </a:solidFill>
                <a:latin typeface="Lato"/>
                <a:ea typeface="Lato"/>
                <a:cs typeface="Lato"/>
              </a:rPr>
              <a:t>Bars start at zero; all sectors use the same 0-2bn litre scale. Outlined bars are estimates.</a:t>
            </a:r>
            <a:endParaRPr sz="900">
              <a:solidFill>
                <a:schemeClr val="dk1"/>
              </a:solidFill>
              <a:latin typeface="Lato"/>
              <a:ea typeface="Lato"/>
              <a:cs typeface="Lato"/>
            </a:endParaRPr>
          </a:p>
        </p:txBody>
      </p:sp>
      <p:sp>
        <p:nvSpPr>
          <p:cNvPr id="56" name="Interpretation">
            <a:extLst xmlns:a="http://schemas.openxmlformats.org/drawingml/2006/main">
              <a:ext uri="{FF2B5EF4-FFF2-40B4-BE49-F238E27FC236}">
                <a16:creationId xmlns:a16="http://schemas.microsoft.com/office/drawing/2014/main" id="{13AC0CB5-A862-29E0-D32E-F0683B42E7CF}"/>
              </a:ext>
            </a:extLst>
          </p:cNvPr>
          <p:cNvSpPr>
            <a:spLocks xmlns:a="http://schemas.openxmlformats.org/drawingml/2006/main" noGrp="1"/>
          </p:cNvSpPr>
          <p:nvPr/>
        </p:nvSpPr>
        <p:spPr>
          <a:xfrm xmlns:a="http://schemas.openxmlformats.org/drawingml/2006/main">
            <a:off x="457200" y="5969000"/>
            <a:ext cx="10655300" cy="190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950">
                <a:solidFill>
                  <a:schemeClr val="dk1"/>
                </a:solidFill>
                <a:latin typeface="Lato"/>
                <a:ea typeface="Lato"/>
                <a:cs typeface="Lato"/>
              </a:rPr>
              <a:t>2025 estimates apply average 2018–2021 intensity to sector activity. They require reconciliation with road use and total diesel sales.</a:t>
            </a:r>
            <a:endParaRPr sz="950">
              <a:solidFill>
                <a:schemeClr val="dk1"/>
              </a:solidFill>
              <a:latin typeface="Lato"/>
              <a:ea typeface="Lato"/>
              <a:cs typeface="Lato"/>
            </a:endParaRPr>
          </a:p>
        </p:txBody>
      </p:sp>
    </p:spTree>
    <p:extLst>
      <p:ext uri="{BB962C8B-B14F-4D97-AF65-F5344CB8AC3E}">
        <p14:creationId xmlns:p14="http://schemas.microsoft.com/office/powerpoint/2010/main" val="263440836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EB0B56F-08DA-4B85-8416-CC3ADB7A5A1B}"/>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Refinery shutdowns have increased reliance on imported petrol and diesel</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EFA7B83-3726-45DF-A5AB-B24342BB24D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9</a:t>
            </a:r>
            <a:endParaRPr sz="1100"/>
          </a:p>
        </p:txBody>
      </p:sp>
      <p:sp>
        <p:nvSpPr>
          <p:cNvPr id="8" name="Unified source footer">
            <a:extLst xmlns:a="http://schemas.openxmlformats.org/drawingml/2006/main">
              <a:ext uri="{FF2B5EF4-FFF2-40B4-BE49-F238E27FC236}">
                <a16:creationId xmlns:a16="http://schemas.microsoft.com/office/drawing/2014/main" id="{16008754-6803-44E9-AEE0-1B2AA7EF993B}"/>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SARS litre-reported petrol/diesel codes, complete calendar years. 2020–2025 changes are historical comparisons, not plant-level causal attribution. Export histories retained in the source report; unit/blend exclusions remain.</a:t>
            </a:r>
            <a:endParaRPr sz="650"/>
          </a:p>
        </p:txBody>
      </p:sp>
      <p:sp>
        <p:nvSpPr>
          <p:cNvPr id="48" name="Strictly Confidential footer">
            <a:extLst xmlns:a="http://schemas.openxmlformats.org/drawingml/2006/main">
              <a:ext uri="{FF2B5EF4-FFF2-40B4-BE49-F238E27FC236}">
                <a16:creationId xmlns:a16="http://schemas.microsoft.com/office/drawing/2014/main" id="{2B92F5C3-2C5B-49AA-A8C1-20D197C425D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8C93CB81-07B7-7E70-D004-32567DD5FEDA}"/>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16E1A541-338A-EB56-1595-3D44EA29246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7FEED33D-4506-B40B-29F1-4255470AA997}"/>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C412178A-32D9-EFE7-A6BA-4576A3E07765}"/>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1F651618-E88B-F09E-4383-953C0C2A27BA}"/>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2025 imports: diesel 12.25bn L and petrol 4.45bn L, net 15.15bn L. Durban customs accounts for 13.16bn L; terminal capture remains unverified.</a:t>
            </a:r>
            <a:endParaRPr sz="105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72b7efb8008d43b6"/>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932354EC-65B1-0EF2-A176-8E881B4387C0}"/>
              </a:ext>
            </a:extLst>
          </p:cNvPr>
          <p:cNvSpPr>
            <a:spLocks xmlns:a="http://schemas.openxmlformats.org/drawingml/2006/main" noGrp="1"/>
          </p:cNvSpPr>
          <p:nvPr/>
        </p:nvSpPr>
        <p:spPr>
          <a:xfrm xmlns:a="http://schemas.openxmlformats.org/drawingml/2006/main">
            <a:off x="457200" y="1625600"/>
            <a:ext cx="6900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Import trend</a:t>
            </a:r>
          </a:p>
        </p:txBody>
      </p:sp>
      <p:sp>
        <p:nvSpPr>
          <p:cNvPr id="16" name="Aligned panel subtitle">
            <a:extLst xmlns:a="http://schemas.openxmlformats.org/drawingml/2006/main">
              <a:ext uri="{FF2B5EF4-FFF2-40B4-BE49-F238E27FC236}">
                <a16:creationId xmlns:a16="http://schemas.microsoft.com/office/drawing/2014/main" id="{A6FB8A44-2E10-A3A7-1081-800C64B998A5}"/>
              </a:ext>
            </a:extLst>
          </p:cNvPr>
          <p:cNvSpPr>
            <a:spLocks xmlns:a="http://schemas.openxmlformats.org/drawingml/2006/main" noGrp="1"/>
          </p:cNvSpPr>
          <p:nvPr/>
        </p:nvSpPr>
        <p:spPr>
          <a:xfrm xmlns:a="http://schemas.openxmlformats.org/drawingml/2006/main">
            <a:off x="7637318" y="1625600"/>
            <a:ext cx="3472642"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Change since 2020</a:t>
            </a:r>
          </a:p>
        </p:txBody>
      </p:sp>
      <p:sp>
        <p:nvSpPr>
          <p:cNvPr id="13" name="Content margin panel rule">
            <a:extLst xmlns:a="http://schemas.openxmlformats.org/drawingml/2006/main">
              <a:ext uri="{FF2B5EF4-FFF2-40B4-BE49-F238E27FC236}">
                <a16:creationId xmlns:a16="http://schemas.microsoft.com/office/drawing/2014/main" id="{D6DC779E-728D-455D-A589-41B88D770255}"/>
              </a:ext>
            </a:extLst>
          </p:cNvPr>
          <p:cNvSpPr>
            <a:spLocks xmlns:a="http://schemas.openxmlformats.org/drawingml/2006/main" noGrp="1"/>
          </p:cNvSpPr>
          <p:nvPr/>
        </p:nvSpPr>
        <p:spPr>
          <a:xfrm xmlns:a="http://schemas.openxmlformats.org/drawingml/2006/main">
            <a:off x="7637318" y="1907308"/>
            <a:ext cx="3472642"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DAE682B4-99EA-4AAA-91A8-BE5345521110}"/>
              </a:ext>
            </a:extLst>
          </p:cNvPr>
          <p:cNvSpPr>
            <a:spLocks xmlns:a="http://schemas.openxmlformats.org/drawingml/2006/main" noGrp="1"/>
          </p:cNvSpPr>
          <p:nvPr/>
        </p:nvSpPr>
        <p:spPr>
          <a:xfrm xmlns:a="http://schemas.openxmlformats.org/drawingml/2006/main">
            <a:off x="457200" y="1907308"/>
            <a:ext cx="6926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140922770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BF2DF0-4DD1-43F1-BB63-EC445950331B}"/>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Emerging Maputo and Walvis Bay routes must be tested alongside Durban and domestic supply</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D135D3A-C5B5-498F-9667-7478E830595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10</a:t>
            </a:r>
            <a:endParaRPr sz="1100"/>
          </a:p>
        </p:txBody>
      </p:sp>
      <p:sp>
        <p:nvSpPr>
          <p:cNvPr id="8" name="Unified source footer">
            <a:extLst xmlns:a="http://schemas.openxmlformats.org/drawingml/2006/main">
              <a:ext uri="{FF2B5EF4-FFF2-40B4-BE49-F238E27FC236}">
                <a16:creationId xmlns:a16="http://schemas.microsoft.com/office/drawing/2014/main" id="{56547A1D-F847-4BD0-A092-249BAA32B349}"/>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sz="750"/>
          </a:p>
        </p:txBody>
      </p:sp>
      <p:sp>
        <p:nvSpPr>
          <p:cNvPr id="48" name="Strictly Confidential footer">
            <a:extLst xmlns:a="http://schemas.openxmlformats.org/drawingml/2006/main">
              <a:ext uri="{FF2B5EF4-FFF2-40B4-BE49-F238E27FC236}">
                <a16:creationId xmlns:a16="http://schemas.microsoft.com/office/drawing/2014/main" id="{65AD0587-6905-4E92-8C6E-C186A5C1BC0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9BE0BDC-1283-E261-F55A-1C6A60822E28}"/>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1BBA0217-A689-9C15-E686-7EA4A2C9E77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219F7F0B-97E6-1C22-9CD8-56F25F0F6A83}"/>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70880E68-04F4-B011-F986-4C6BC5F62AC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1516117D-4450-D13E-2623-2F637C71BC06}"/>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MPP use averaged 105ML/week in FY2025 against 148ML/week capacity. Compare route costs and access by destination; average spare capacity gives no Vopak entitlement.</a:t>
            </a:r>
            <a:endParaRPr sz="120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24514be1363a425d"/>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D1C964E9-5708-A42E-3984-1415C36B1638}"/>
              </a:ext>
            </a:extLst>
          </p:cNvPr>
          <p:cNvSpPr>
            <a:spLocks xmlns:a="http://schemas.openxmlformats.org/drawingml/2006/main" noGrp="1"/>
          </p:cNvSpPr>
          <p:nvPr/>
        </p:nvSpPr>
        <p:spPr>
          <a:xfrm xmlns:a="http://schemas.openxmlformats.org/drawingml/2006/main">
            <a:off x="457200" y="1625600"/>
            <a:ext cx="6554354"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Competing supply corridors</a:t>
            </a:r>
          </a:p>
        </p:txBody>
      </p:sp>
      <p:sp>
        <p:nvSpPr>
          <p:cNvPr id="16" name="Aligned panel subtitle">
            <a:extLst xmlns:a="http://schemas.openxmlformats.org/drawingml/2006/main">
              <a:ext uri="{FF2B5EF4-FFF2-40B4-BE49-F238E27FC236}">
                <a16:creationId xmlns:a16="http://schemas.microsoft.com/office/drawing/2014/main" id="{404BB07F-45B9-2C46-75B8-8E01DEEB4FC0}"/>
              </a:ext>
            </a:extLst>
          </p:cNvPr>
          <p:cNvSpPr>
            <a:spLocks xmlns:a="http://schemas.openxmlformats.org/drawingml/2006/main" noGrp="1"/>
          </p:cNvSpPr>
          <p:nvPr/>
        </p:nvSpPr>
        <p:spPr>
          <a:xfrm xmlns:a="http://schemas.openxmlformats.org/drawingml/2006/main">
            <a:off x="7290954" y="1625600"/>
            <a:ext cx="3819005"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Same product, same destination</a:t>
            </a:r>
          </a:p>
        </p:txBody>
      </p:sp>
      <p:sp>
        <p:nvSpPr>
          <p:cNvPr id="13" name="Content margin panel rule">
            <a:extLst xmlns:a="http://schemas.openxmlformats.org/drawingml/2006/main">
              <a:ext uri="{FF2B5EF4-FFF2-40B4-BE49-F238E27FC236}">
                <a16:creationId xmlns:a16="http://schemas.microsoft.com/office/drawing/2014/main" id="{C974DB04-0502-4558-89FC-5F09F4B51542}"/>
              </a:ext>
            </a:extLst>
          </p:cNvPr>
          <p:cNvSpPr>
            <a:spLocks xmlns:a="http://schemas.openxmlformats.org/drawingml/2006/main" noGrp="1"/>
          </p:cNvSpPr>
          <p:nvPr/>
        </p:nvSpPr>
        <p:spPr>
          <a:xfrm xmlns:a="http://schemas.openxmlformats.org/drawingml/2006/main">
            <a:off x="7290954" y="1907308"/>
            <a:ext cx="3819006"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CF52A104-DBDB-4AB9-BEC6-9CA4D194D7DB}"/>
              </a:ext>
            </a:extLst>
          </p:cNvPr>
          <p:cNvSpPr>
            <a:spLocks xmlns:a="http://schemas.openxmlformats.org/drawingml/2006/main" noGrp="1"/>
          </p:cNvSpPr>
          <p:nvPr/>
        </p:nvSpPr>
        <p:spPr>
          <a:xfrm xmlns:a="http://schemas.openxmlformats.org/drawingml/2006/main">
            <a:off x="457200" y="1907308"/>
            <a:ext cx="6579754"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233341370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98C25B-368D-4D35-972F-9DD7B29DBC15}"/>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Durban and Lesedi connect coastal supply to Gauteng; operating data must establish room for growth</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1AFBDFB-5C3E-4912-878A-87639B0BF6B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11</a:t>
            </a:r>
            <a:endParaRPr sz="1100"/>
          </a:p>
        </p:txBody>
      </p:sp>
      <p:sp>
        <p:nvSpPr>
          <p:cNvPr id="8" name="Unified source footer">
            <a:extLst xmlns:a="http://schemas.openxmlformats.org/drawingml/2006/main">
              <a:ext uri="{FF2B5EF4-FFF2-40B4-BE49-F238E27FC236}">
                <a16:creationId xmlns:a16="http://schemas.microsoft.com/office/drawing/2014/main" id="{07ACD7EF-36C8-4B8B-A542-B65218D9C1DD}"/>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Vopak terminal directory; NERSA Lesedi licence documents; registered terminal_site_assumptions.csv; Transnet Pipelines 2025 p8. Gross capacity, estimated working tankage and annual throughput have different meanings.</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Asset / measure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Established position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must be established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Durban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360,246 m³ published gross capacity.
Coastal receipt and onward distribution; mixed products.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146,000 m³ estimated working subset from the 162,000 m³ expansion. Full petrol/diesel allocation still needs confirmation.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Lesedi</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140,000 m3 clean-product capacity.
Includes the 40,000 m3 expansion
commissioned in October 2025.</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124,000 m³ working estimate: 88,000 documented plus 36,000 estimated for newer tanks. Actual throughput remains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Operating constraints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MPP use/capacity: 105 / 148ML per week in FY2025. Shared annualised use 5.46bn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Measure receipt, pipeline and dispatch limits, seasonal peaks and stock requirements.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Implication for growth</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Actual throughput and achievable turns are not yet established in this review.</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No spare capacity is claimed. Test captured demand against verified handling limits before selecting investment.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BA702CC3-37E5-4009-AD9A-1C8DD0C784D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Tree>
    <p:extLst>
      <p:ext uri="{BB962C8B-B14F-4D97-AF65-F5344CB8AC3E}">
        <p14:creationId xmlns:p14="http://schemas.microsoft.com/office/powerpoint/2010/main" val="130289609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7AB03F0-AE1A-4C9B-BB07-014163B5941F}"/>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Rail recovery, EV adoption and combustion-vehicle efficiency could reduce transport fuel demand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B53DC3C2-49F9-4B3B-90FA-25F28D0A84E8}"/>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12</a:t>
            </a:r>
            <a:endParaRPr sz="1100"/>
          </a:p>
        </p:txBody>
      </p:sp>
      <p:sp>
        <p:nvSpPr>
          <p:cNvPr id="8" name="Unified source footer">
            <a:extLst xmlns:a="http://schemas.openxmlformats.org/drawingml/2006/main">
              <a:ext uri="{FF2B5EF4-FFF2-40B4-BE49-F238E27FC236}">
                <a16:creationId xmlns:a16="http://schemas.microsoft.com/office/drawing/2014/main" id="{99B0A201-5477-4714-A143-4880B140D7E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Stats SA freight; naamsa all-market sales 2019-2025, Workbook Vehicle history S31:S36. BEV/PHEV/HEV sales are distinct from fleet shares. Efficiency paths remain model assumptions, with OEM history and annual calibration open.</a:t>
            </a:r>
            <a:endParaRPr sz="650"/>
          </a:p>
        </p:txBody>
      </p:sp>
      <p:sp>
        <p:nvSpPr>
          <p:cNvPr id="48" name="Strictly Confidential footer">
            <a:extLst xmlns:a="http://schemas.openxmlformats.org/drawingml/2006/main">
              <a:ext uri="{FF2B5EF4-FFF2-40B4-BE49-F238E27FC236}">
                <a16:creationId xmlns:a16="http://schemas.microsoft.com/office/drawing/2014/main" id="{76B43FBB-F26F-41FD-A4FF-60A741BC470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A9FE9DB-A7B9-8D69-C615-C56477C90215}"/>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138103FD-60F0-1D52-83B7-120DD9B43DC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D50E0E10-BE04-5DDC-0186-93D6ED9D6991}"/>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C1089FD-0B69-C240-3B7E-FD08C0DF9C83}"/>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81a71409944f4823"/>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1E4A0915-F513-C2B4-1FEC-0FAB08989DA6}"/>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2025 BEV sales were 0.18% of new sales. Manish reviewed the implemented EV/efficiency pair; hybrid savings and rail diversion still need explicit combination rules.</a:t>
            </a:r>
            <a:endParaRPr sz="1050">
              <a:solidFill>
                <a:schemeClr val="dk1"/>
              </a:solidFill>
              <a:latin typeface="Lato"/>
              <a:ea typeface="Lato"/>
              <a:cs typeface="Lato"/>
            </a:endParaRPr>
          </a:p>
        </p:txBody>
      </p:sp>
    </p:spTree>
    <p:extLst>
      <p:ext uri="{BB962C8B-B14F-4D97-AF65-F5344CB8AC3E}">
        <p14:creationId xmlns:p14="http://schemas.microsoft.com/office/powerpoint/2010/main" val="33722401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89D150-EAFA-48A7-99C8-0E1F697BFF25}"/>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Power generation recovery could lower diesel use further, while outages and replacement delays could sustain domestic demand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70B2B05-BEFB-434E-9E2C-5351B95876C6}"/>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13</a:t>
            </a:r>
            <a:endParaRPr sz="1100"/>
          </a:p>
        </p:txBody>
      </p:sp>
      <p:sp>
        <p:nvSpPr>
          <p:cNvPr id="8" name="Unified source footer">
            <a:extLst xmlns:a="http://schemas.openxmlformats.org/drawingml/2006/main">
              <a:ext uri="{FF2B5EF4-FFF2-40B4-BE49-F238E27FC236}">
                <a16:creationId xmlns:a16="http://schemas.microsoft.com/office/drawing/2014/main" id="{94C50196-EBAD-4F9B-9225-FA27920ACCC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FY ending March: reported own diesel + kerosene; Eskom/IPP GWh include kerosene output. Workbook Power fleet separates the four diesel stations. Gas switch, coal-site repowering and L/M/H settings await Nigel/Henry review.</a:t>
            </a:r>
            <a:endParaRPr sz="650"/>
          </a:p>
        </p:txBody>
      </p:sp>
      <p:sp>
        <p:nvSpPr>
          <p:cNvPr id="48" name="Strictly Confidential footer">
            <a:extLst xmlns:a="http://schemas.openxmlformats.org/drawingml/2006/main">
              <a:ext uri="{FF2B5EF4-FFF2-40B4-BE49-F238E27FC236}">
                <a16:creationId xmlns:a16="http://schemas.microsoft.com/office/drawing/2014/main" id="{F656CD02-15EA-45B2-BBFF-FC5E660F495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68104FD1-D03E-613C-EADF-9CBAD2040D4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E81801EC-F6BA-CCE9-DE2E-8EE41751C19B}"/>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0DB85F31-F707-8CF4-8C81-115F7726D01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1DBC1C8-7174-E49A-3855-5054BA72C2CD}"/>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F675C8EF-7362-9FCC-FB56-1545DD74A102}"/>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The engine still includes 3,000MW of notional plants. Reconcile power and road baselines jointly against reported Eskom fuel and estimated IPP burn before forecasting.</a:t>
            </a:r>
            <a:endParaRPr sz="105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7dce77a397094350"/>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6" name="Aligned panel subtitle">
            <a:extLst xmlns:a="http://schemas.openxmlformats.org/drawingml/2006/main">
              <a:ext uri="{FF2B5EF4-FFF2-40B4-BE49-F238E27FC236}">
                <a16:creationId xmlns:a16="http://schemas.microsoft.com/office/drawing/2014/main" id="{9B1BAE31-E9DC-F48A-FBAB-11CD20EF25A5}"/>
              </a:ext>
            </a:extLst>
          </p:cNvPr>
          <p:cNvSpPr>
            <a:spLocks xmlns:a="http://schemas.openxmlformats.org/drawingml/2006/main" noGrp="1"/>
          </p:cNvSpPr>
          <p:nvPr/>
        </p:nvSpPr>
        <p:spPr>
          <a:xfrm xmlns:a="http://schemas.openxmlformats.org/drawingml/2006/main">
            <a:off x="457200" y="1625600"/>
            <a:ext cx="3471718"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Diesel use</a:t>
            </a:r>
          </a:p>
        </p:txBody>
      </p:sp>
      <p:sp>
        <p:nvSpPr>
          <p:cNvPr id="17" name="Aligned panel subtitle">
            <a:extLst xmlns:a="http://schemas.openxmlformats.org/drawingml/2006/main">
              <a:ext uri="{FF2B5EF4-FFF2-40B4-BE49-F238E27FC236}">
                <a16:creationId xmlns:a16="http://schemas.microsoft.com/office/drawing/2014/main" id="{422D356C-8F8B-BE3B-7BA1-F10680E53CDD}"/>
              </a:ext>
            </a:extLst>
          </p:cNvPr>
          <p:cNvSpPr>
            <a:spLocks xmlns:a="http://schemas.openxmlformats.org/drawingml/2006/main" noGrp="1"/>
          </p:cNvSpPr>
          <p:nvPr/>
        </p:nvSpPr>
        <p:spPr>
          <a:xfrm xmlns:a="http://schemas.openxmlformats.org/drawingml/2006/main">
            <a:off x="4208318" y="1625600"/>
            <a:ext cx="3091873"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Fleet availability</a:t>
            </a:r>
          </a:p>
        </p:txBody>
      </p:sp>
      <p:sp>
        <p:nvSpPr>
          <p:cNvPr id="18" name="Aligned panel subtitle">
            <a:extLst xmlns:a="http://schemas.openxmlformats.org/drawingml/2006/main">
              <a:ext uri="{FF2B5EF4-FFF2-40B4-BE49-F238E27FC236}">
                <a16:creationId xmlns:a16="http://schemas.microsoft.com/office/drawing/2014/main" id="{9696205B-021F-AFFC-619E-3E3C643F6B2D}"/>
              </a:ext>
            </a:extLst>
          </p:cNvPr>
          <p:cNvSpPr>
            <a:spLocks xmlns:a="http://schemas.openxmlformats.org/drawingml/2006/main" noGrp="1"/>
          </p:cNvSpPr>
          <p:nvPr/>
        </p:nvSpPr>
        <p:spPr>
          <a:xfrm xmlns:a="http://schemas.openxmlformats.org/drawingml/2006/main">
            <a:off x="7579591" y="1625600"/>
            <a:ext cx="3530369"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Peaking generation</a:t>
            </a:r>
          </a:p>
        </p:txBody>
      </p:sp>
      <p:sp>
        <p:nvSpPr>
          <p:cNvPr id="13" name="Content margin panel rule">
            <a:extLst xmlns:a="http://schemas.openxmlformats.org/drawingml/2006/main">
              <a:ext uri="{FF2B5EF4-FFF2-40B4-BE49-F238E27FC236}">
                <a16:creationId xmlns:a16="http://schemas.microsoft.com/office/drawing/2014/main" id="{357AFD1F-DF72-441B-A7D5-83C02BC5D202}"/>
              </a:ext>
            </a:extLst>
          </p:cNvPr>
          <p:cNvSpPr>
            <a:spLocks xmlns:a="http://schemas.openxmlformats.org/drawingml/2006/main" noGrp="1"/>
          </p:cNvSpPr>
          <p:nvPr/>
        </p:nvSpPr>
        <p:spPr>
          <a:xfrm xmlns:a="http://schemas.openxmlformats.org/drawingml/2006/main">
            <a:off x="4208318" y="1907308"/>
            <a:ext cx="3117273"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Content margin panel rule">
            <a:extLst xmlns:a="http://schemas.openxmlformats.org/drawingml/2006/main">
              <a:ext uri="{FF2B5EF4-FFF2-40B4-BE49-F238E27FC236}">
                <a16:creationId xmlns:a16="http://schemas.microsoft.com/office/drawing/2014/main" id="{6146D809-2D0D-48BF-8553-8D930C225FA8}"/>
              </a:ext>
            </a:extLst>
          </p:cNvPr>
          <p:cNvSpPr>
            <a:spLocks xmlns:a="http://schemas.openxmlformats.org/drawingml/2006/main" noGrp="1"/>
          </p:cNvSpPr>
          <p:nvPr/>
        </p:nvSpPr>
        <p:spPr>
          <a:xfrm xmlns:a="http://schemas.openxmlformats.org/drawingml/2006/main">
            <a:off x="7579591" y="1907308"/>
            <a:ext cx="3530369"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1DD368BD-DEA8-4D35-96BE-6C4C66DE22DD}"/>
              </a:ext>
            </a:extLst>
          </p:cNvPr>
          <p:cNvSpPr>
            <a:spLocks xmlns:a="http://schemas.openxmlformats.org/drawingml/2006/main" noGrp="1"/>
          </p:cNvSpPr>
          <p:nvPr/>
        </p:nvSpPr>
        <p:spPr>
          <a:xfrm xmlns:a="http://schemas.openxmlformats.org/drawingml/2006/main">
            <a:off x="457200" y="1907308"/>
            <a:ext cx="3497118"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58327774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4020F9-64DE-43C9-BD6F-9E0E1CFC603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SAPREF could expand the supply footprint, while Natref unavailability would reduce it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DD1AEE1-18E3-4337-8F78-950A54E83FF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14</a:t>
            </a:r>
            <a:endParaRPr sz="1100"/>
          </a:p>
        </p:txBody>
      </p:sp>
      <p:sp>
        <p:nvSpPr>
          <p:cNvPr id="8" name="Unified source footer">
            <a:extLst xmlns:a="http://schemas.openxmlformats.org/drawingml/2006/main">
              <a:ext uri="{FF2B5EF4-FFF2-40B4-BE49-F238E27FC236}">
                <a16:creationId xmlns:a16="http://schemas.microsoft.com/office/drawing/2014/main" id="{2A7FBDCA-7921-4452-9EAF-45DAEA0888F2}"/>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a:extLst xmlns:a="http://schemas.openxmlformats.org/drawingml/2006/main">
              <a:ext uri="{FF2B5EF4-FFF2-40B4-BE49-F238E27FC236}">
                <a16:creationId xmlns:a16="http://schemas.microsoft.com/office/drawing/2014/main" id="{FBA1E938-C0FF-4EF5-B072-4257F8E7306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33A2CBD4-DADE-06FC-DAA1-79FEEC12F6BB}"/>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F4773F92-650A-67FF-991A-9CC907CF308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95466396-4F3E-F5C6-FE51-8442919301C0}"/>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3E40C6C5-566E-BD31-51EF-6813560C32CE}"/>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
        <p:nvSpPr>
          <p:cNvPr id="15" name="Interpretation">
            <a:extLst xmlns:a="http://schemas.openxmlformats.org/drawingml/2006/main">
              <a:ext uri="{FF2B5EF4-FFF2-40B4-BE49-F238E27FC236}">
                <a16:creationId xmlns:a16="http://schemas.microsoft.com/office/drawing/2014/main" id="{9CC2AEFF-6D66-1976-385C-0512507A5D4D}"/>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SAPREF’s import-terminal phase can compete before any refinery restart. Natref availability and Secunda output also matter; these capacity cases are not product forecasts.</a:t>
            </a:r>
            <a:endParaRPr sz="1200">
              <a:solidFill>
                <a:schemeClr val="dk1"/>
              </a:solidFill>
              <a:latin typeface="Lato"/>
              <a:ea typeface="Lato"/>
              <a:cs typeface="Lato"/>
            </a:endParaRPr>
          </a:p>
        </p:txBody>
      </p:sp>
      <p:pic>
        <p:nvPicPr>
          <p:cNvPr id="59" name="Evidence chart"/>
          <p:cNvPicPr>
            <a:picLocks xmlns:a="http://schemas.openxmlformats.org/drawingml/2006/main" noChangeAspect="1"/>
          </p:cNvPicPr>
          <p:nvPr/>
        </p:nvPicPr>
        <p:blipFill>
          <a:blip xmlns:r="http://schemas.openxmlformats.org/officeDocument/2006/relationships" xmlns:a="http://schemas.openxmlformats.org/drawingml/2006/main" r:embed="R2a22c6e48bd7497f"/>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4" name="Aligned panel subtitle">
            <a:extLst xmlns:a="http://schemas.openxmlformats.org/drawingml/2006/main">
              <a:ext uri="{FF2B5EF4-FFF2-40B4-BE49-F238E27FC236}">
                <a16:creationId xmlns:a16="http://schemas.microsoft.com/office/drawing/2014/main" id="{063231E6-9BEF-65A8-610E-23EDEA876B26}"/>
              </a:ext>
            </a:extLst>
          </p:cNvPr>
          <p:cNvSpPr>
            <a:spLocks xmlns:a="http://schemas.openxmlformats.org/drawingml/2006/main" noGrp="1"/>
          </p:cNvSpPr>
          <p:nvPr/>
        </p:nvSpPr>
        <p:spPr>
          <a:xfrm xmlns:a="http://schemas.openxmlformats.org/drawingml/2006/main">
            <a:off x="457200" y="1625600"/>
            <a:ext cx="3841173"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Reported history</a:t>
            </a:r>
          </a:p>
        </p:txBody>
      </p:sp>
      <p:sp>
        <p:nvSpPr>
          <p:cNvPr id="16" name="Aligned panel subtitle">
            <a:extLst xmlns:a="http://schemas.openxmlformats.org/drawingml/2006/main">
              <a:ext uri="{FF2B5EF4-FFF2-40B4-BE49-F238E27FC236}">
                <a16:creationId xmlns:a16="http://schemas.microsoft.com/office/drawing/2014/main" id="{FAEA5F44-DACF-B58C-7B4A-AD9753A18B4D}"/>
              </a:ext>
            </a:extLst>
          </p:cNvPr>
          <p:cNvSpPr>
            <a:spLocks xmlns:a="http://schemas.openxmlformats.org/drawingml/2006/main" noGrp="1"/>
          </p:cNvSpPr>
          <p:nvPr/>
        </p:nvSpPr>
        <p:spPr>
          <a:xfrm xmlns:a="http://schemas.openxmlformats.org/drawingml/2006/main">
            <a:off x="4577773" y="1625600"/>
            <a:ext cx="6532187" cy="184666"/>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b="1">
                <a:solidFill>
                  <a:schemeClr val="dk1"/>
                </a:solidFill>
                <a:latin typeface="Lato"/>
                <a:ea typeface="Lato"/>
                <a:cs typeface="Lato"/>
              </a:rPr>
              <a:t>Illustrative 2036 capacity cases</a:t>
            </a:r>
          </a:p>
        </p:txBody>
      </p:sp>
      <p:sp>
        <p:nvSpPr>
          <p:cNvPr id="13" name="Content margin panel rule">
            <a:extLst xmlns:a="http://schemas.openxmlformats.org/drawingml/2006/main">
              <a:ext uri="{FF2B5EF4-FFF2-40B4-BE49-F238E27FC236}">
                <a16:creationId xmlns:a16="http://schemas.microsoft.com/office/drawing/2014/main" id="{B0416782-AD09-4E90-9F07-5072B873771A}"/>
              </a:ext>
            </a:extLst>
          </p:cNvPr>
          <p:cNvSpPr>
            <a:spLocks xmlns:a="http://schemas.openxmlformats.org/drawingml/2006/main" noGrp="1"/>
          </p:cNvSpPr>
          <p:nvPr/>
        </p:nvSpPr>
        <p:spPr>
          <a:xfrm xmlns:a="http://schemas.openxmlformats.org/drawingml/2006/main">
            <a:off x="4577773" y="1907308"/>
            <a:ext cx="6532187"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Content margin panel rule">
            <a:extLst xmlns:a="http://schemas.openxmlformats.org/drawingml/2006/main">
              <a:ext uri="{FF2B5EF4-FFF2-40B4-BE49-F238E27FC236}">
                <a16:creationId xmlns:a16="http://schemas.microsoft.com/office/drawing/2014/main" id="{56523987-A6B3-4635-9E06-6A9A22F28E59}"/>
              </a:ext>
            </a:extLst>
          </p:cNvPr>
          <p:cNvSpPr>
            <a:spLocks xmlns:a="http://schemas.openxmlformats.org/drawingml/2006/main" noGrp="1"/>
          </p:cNvSpPr>
          <p:nvPr/>
        </p:nvSpPr>
        <p:spPr>
          <a:xfrm xmlns:a="http://schemas.openxmlformats.org/drawingml/2006/main">
            <a:off x="457200" y="1907308"/>
            <a:ext cx="3866573" cy="0"/>
          </a:xfrm>
          <a:prstGeom xmlns:a="http://schemas.openxmlformats.org/drawingml/2006/main" prst="line">
            <a:avLst/>
          </a:prstGeom>
          <a:ln xmlns:a="http://schemas.openxmlformats.org/drawingml/2006/main" w="6350">
            <a:solidFill>
              <a:schemeClr val="dk1">
                <a:alpha val="45000"/>
              </a:schemeClr>
            </a:solidFill>
            <a:prstDash val="solid"/>
            <a:headEnd type="none" w="med" len="med"/>
            <a:tailEnd type="none" w="med" len="me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176755451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3A25867-A152-4AF0-9910-596947DD352E}"/>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Emerging gateways could redirect inland growth; delivered cost and reliable access determine capture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61F3FAF-62E5-471E-B4FE-4C411C79043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15</a:t>
            </a:r>
            <a:endParaRPr sz="1100"/>
          </a:p>
        </p:txBody>
      </p:sp>
      <p:sp>
        <p:nvSpPr>
          <p:cNvPr id="8" name="Unified source footer">
            <a:extLst xmlns:a="http://schemas.openxmlformats.org/drawingml/2006/main">
              <a:ext uri="{FF2B5EF4-FFF2-40B4-BE49-F238E27FC236}">
                <a16:creationId xmlns:a16="http://schemas.microsoft.com/office/drawing/2014/main" id="{CCED4392-D526-4568-B262-BADE54F53E5F}"/>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Compare common product, destination, price date and tax basis. Emerging gateways must be considered; no relative cost ranking is asserted without quotes and verified access. Landlocked SADC opportunities require separate market/access evidence.</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Competing route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What changes the choice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Investment implication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Durban–Lesedi</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FY2025 MPP 105 / 148ML per week. Match tariffs, injection rights and reliable inland dispatch by customer.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access and handling improvements that protect competitive customer supply.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Maputo / Matola</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Delivered cost, border time and capacity into each inland destination.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Include as an emerging alternative; test customer exposure and corridor responses.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Walvis Bay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Distance, transit, border costs and feasible destination coverage.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Consider emerging inland opportunities; compare reach customer by customer.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Domestic sources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Secunda / Natref availability, product output and distribution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Test inland handling and connections as well as import infrastructure.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03FCB94-D0FF-4600-86A1-20BAD7C32BD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Resolution</a:t>
            </a:r>
          </a:p>
        </p:txBody>
      </p:sp>
    </p:spTree>
    <p:extLst>
      <p:ext uri="{BB962C8B-B14F-4D97-AF65-F5344CB8AC3E}">
        <p14:creationId xmlns:p14="http://schemas.microsoft.com/office/powerpoint/2010/main" val="73897090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B89C0B-9C65-4A8A-AA1A-1B16A6CFB44A}"/>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Durban and Lesedi market sizing and investment issue tree</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30C5375-C5BC-4994-A040-C2B9FB773F8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16</a:t>
            </a:r>
            <a:endParaRPr sz="1100"/>
          </a:p>
        </p:txBody>
      </p:sp>
      <p:sp>
        <p:nvSpPr>
          <p:cNvPr id="8" name="Unified source footer">
            <a:extLst xmlns:a="http://schemas.openxmlformats.org/drawingml/2006/main">
              <a:ext uri="{FF2B5EF4-FFF2-40B4-BE49-F238E27FC236}">
                <a16:creationId xmlns:a16="http://schemas.microsoft.com/office/drawing/2014/main" id="{15D4BEE9-50D7-488E-9F31-6371512319CF}"/>
              </a:ext>
            </a:extLst>
          </p:cNvPr>
          <p:cNvSpPr>
            <a:spLocks xmlns:a="http://schemas.openxmlformats.org/drawingml/2006/main" noGrp="1"/>
          </p:cNvSpPr>
          <p:nvPr/>
        </p:nvSpPr>
        <p:spPr>
          <a:xfrm xmlns:a="http://schemas.openxmlformats.org/drawingml/2006/main">
            <a:off x="457200" y="6172199"/>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Registered market_review.yaml and terminal_site_assumptions.csv. 2023 sales, 2025 customs and 2022 catchments retain separate periods. The 8.88bn L mixed-year residual is withdrawn as evidence of inland flow. Capture assumptions: p35.</a:t>
            </a:r>
            <a:endParaRPr sz="650"/>
          </a:p>
        </p:txBody>
      </p:sp>
      <p:sp>
        <p:nvSpPr>
          <p:cNvPr id="48" name="Strictly Confidential footer">
            <a:extLst xmlns:a="http://schemas.openxmlformats.org/drawingml/2006/main">
              <a:ext uri="{FF2B5EF4-FFF2-40B4-BE49-F238E27FC236}">
                <a16:creationId xmlns:a16="http://schemas.microsoft.com/office/drawing/2014/main" id="{FA0CDA0B-279B-4ECE-AFE5-E9EE74F6CFE2}"/>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sp>
        <p:nvSpPr>
          <p:cNvPr id="4" name="Demand heading">
            <a:extLst xmlns:a="http://schemas.openxmlformats.org/drawingml/2006/main">
              <a:ext uri="{FF2B5EF4-FFF2-40B4-BE49-F238E27FC236}">
                <a16:creationId xmlns:a16="http://schemas.microsoft.com/office/drawing/2014/main" id="{14CD1435-9493-0D95-498F-FDC83E6EE04F}"/>
              </a:ext>
            </a:extLst>
          </p:cNvPr>
          <p:cNvSpPr>
            <a:spLocks xmlns:a="http://schemas.openxmlformats.org/drawingml/2006/main" noGrp="1"/>
          </p:cNvSpPr>
          <p:nvPr/>
        </p:nvSpPr>
        <p:spPr>
          <a:xfrm xmlns:a="http://schemas.openxmlformats.org/drawingml/2006/main">
            <a:off x="457200" y="1638300"/>
            <a:ext cx="22098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1  NATIONAL DEMAND</a:t>
            </a:r>
          </a:p>
        </p:txBody>
      </p:sp>
      <p:sp>
        <p:nvSpPr>
          <p:cNvPr id="5" name="System heading">
            <a:extLst xmlns:a="http://schemas.openxmlformats.org/drawingml/2006/main">
              <a:ext uri="{FF2B5EF4-FFF2-40B4-BE49-F238E27FC236}">
                <a16:creationId xmlns:a16="http://schemas.microsoft.com/office/drawing/2014/main" id="{C0C17D29-17F6-811C-2016-AEB107CEAD1B}"/>
              </a:ext>
            </a:extLst>
          </p:cNvPr>
          <p:cNvSpPr>
            <a:spLocks xmlns:a="http://schemas.openxmlformats.org/drawingml/2006/main" noGrp="1"/>
          </p:cNvSpPr>
          <p:nvPr/>
        </p:nvSpPr>
        <p:spPr>
          <a:xfrm xmlns:a="http://schemas.openxmlformats.org/drawingml/2006/main">
            <a:off x="3111500" y="1638300"/>
            <a:ext cx="40894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2  SUPPLY AND DELIVERY</a:t>
            </a:r>
          </a:p>
        </p:txBody>
      </p:sp>
      <p:sp>
        <p:nvSpPr>
          <p:cNvPr id="6" name="Terminal heading">
            <a:extLst xmlns:a="http://schemas.openxmlformats.org/drawingml/2006/main">
              <a:ext uri="{FF2B5EF4-FFF2-40B4-BE49-F238E27FC236}">
                <a16:creationId xmlns:a16="http://schemas.microsoft.com/office/drawing/2014/main" id="{5CA9319A-5A43-DDF4-3153-ED80CD691028}"/>
              </a:ext>
            </a:extLst>
          </p:cNvPr>
          <p:cNvSpPr>
            <a:spLocks xmlns:a="http://schemas.openxmlformats.org/drawingml/2006/main" noGrp="1"/>
          </p:cNvSpPr>
          <p:nvPr/>
        </p:nvSpPr>
        <p:spPr>
          <a:xfrm xmlns:a="http://schemas.openxmlformats.org/drawingml/2006/main">
            <a:off x="7899400" y="1638300"/>
            <a:ext cx="3213100" cy="241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3  VOPAK OPPORTUNITY</a:t>
            </a:r>
          </a:p>
        </p:txBody>
      </p:sp>
      <p:cxnSp>
        <p:nvCxnSpPr>
          <p:cNvPr id="64" name="Column heading rule"/>
          <p:cNvCxnSpPr/>
          <p:nvPr/>
        </p:nvCxnSpPr>
        <p:spPr>
          <a:xfrm xmlns:a="http://schemas.openxmlformats.org/drawingml/2006/main">
            <a:off x="457200" y="1917700"/>
            <a:ext cx="22098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65" name="Column heading rule"/>
          <p:cNvCxnSpPr/>
          <p:nvPr/>
        </p:nvCxnSpPr>
        <p:spPr>
          <a:xfrm xmlns:a="http://schemas.openxmlformats.org/drawingml/2006/main">
            <a:off x="3111500" y="1917700"/>
            <a:ext cx="41148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66" name="Column heading rule"/>
          <p:cNvCxnSpPr/>
          <p:nvPr/>
        </p:nvCxnSpPr>
        <p:spPr>
          <a:xfrm xmlns:a="http://schemas.openxmlformats.org/drawingml/2006/main">
            <a:off x="7899400" y="1917700"/>
            <a:ext cx="3213100" cy="0"/>
          </a:xfrm>
          <a:prstGeom xmlns:a="http://schemas.openxmlformats.org/drawingml/2006/main" prst="straightConnector1">
            <a:avLst/>
          </a:prstGeom>
          <a:ln xmlns:a="http://schemas.openxmlformats.org/drawingml/2006/main" w="8255">
            <a:solidFill>
              <a:schemeClr val="dk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5" name="National market">
            <a:extLst xmlns:a="http://schemas.openxmlformats.org/drawingml/2006/main">
              <a:ext uri="{FF2B5EF4-FFF2-40B4-BE49-F238E27FC236}">
                <a16:creationId xmlns:a16="http://schemas.microsoft.com/office/drawing/2014/main" id="{C937B83A-DBC2-5EAB-CFE4-6A5A27B56F2A}"/>
              </a:ext>
            </a:extLst>
          </p:cNvPr>
          <p:cNvSpPr>
            <a:spLocks xmlns:a="http://schemas.openxmlformats.org/drawingml/2006/main" noGrp="1"/>
          </p:cNvSpPr>
          <p:nvPr/>
        </p:nvSpPr>
        <p:spPr>
          <a:xfrm xmlns:a="http://schemas.openxmlformats.org/drawingml/2006/main">
            <a:off x="457200" y="2108199"/>
            <a:ext cx="2209800" cy="10287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150" b="1">
                <a:solidFill>
                  <a:schemeClr val="accent1"/>
                </a:solidFill>
                <a:latin typeface="Lato"/>
                <a:ea typeface="Lato"/>
                <a:cs typeface="Lato"/>
              </a:rPr>
              <a:t>National sales baseline</a:t>
            </a:r>
          </a:p>
          <a:p xmlns:a="http://schemas.openxmlformats.org/drawingml/2006/main">
            <a:pPr>
              <a:spcAft>
                <a:spcPts val="500"/>
              </a:spcAft>
              <a:buNone/>
            </a:pPr>
            <a:r>
              <a:rPr sz="1150" b="1">
                <a:solidFill>
                  <a:schemeClr val="accent1"/>
                </a:solidFill>
                <a:latin typeface="Lato"/>
                <a:ea typeface="Lato"/>
                <a:cs typeface="Lato"/>
              </a:rPr>
              <a:t>2023: 21.94bn litres</a:t>
            </a:r>
          </a:p>
          <a:p xmlns:a="http://schemas.openxmlformats.org/drawingml/2006/main">
            <a:pPr>
              <a:spcAft>
                <a:spcPts val="500"/>
              </a:spcAft>
              <a:buNone/>
            </a:pPr>
            <a:r>
              <a:rPr sz="1150" b="1">
                <a:solidFill>
                  <a:schemeClr val="accent1"/>
                </a:solidFill>
                <a:latin typeface="Lato"/>
                <a:ea typeface="Lato"/>
                <a:cs typeface="Lato"/>
              </a:rPr>
              <a:t>2024 source unverified</a:t>
            </a:r>
          </a:p>
          <a:p xmlns:a="http://schemas.openxmlformats.org/drawingml/2006/main">
            <a:pPr>
              <a:spcAft>
                <a:spcPts val="500"/>
              </a:spcAft>
              <a:buNone/>
            </a:pPr>
            <a:r>
              <a:rPr sz="1150" b="1">
                <a:solidFill>
                  <a:schemeClr val="accent1"/>
                </a:solidFill>
                <a:latin typeface="Lato"/>
                <a:ea typeface="Lato"/>
                <a:cs typeface="Lato"/>
              </a:rPr>
              <a:t>2025 sales unavailable</a:t>
            </a:r>
            <a:endParaRPr sz="1150">
              <a:solidFill>
                <a:schemeClr val="dk1"/>
              </a:solidFill>
              <a:latin typeface="Lato"/>
              <a:ea typeface="Lato"/>
              <a:cs typeface="Lato"/>
            </a:endParaRPr>
          </a:p>
        </p:txBody>
      </p:sp>
      <p:sp>
        <p:nvSpPr>
          <p:cNvPr id="16" name="Sector demand">
            <a:extLst xmlns:a="http://schemas.openxmlformats.org/drawingml/2006/main">
              <a:ext uri="{FF2B5EF4-FFF2-40B4-BE49-F238E27FC236}">
                <a16:creationId xmlns:a16="http://schemas.microsoft.com/office/drawing/2014/main" id="{7E776481-8BEE-CC1B-C185-4BE139C5F27F}"/>
              </a:ext>
            </a:extLst>
          </p:cNvPr>
          <p:cNvSpPr>
            <a:spLocks xmlns:a="http://schemas.openxmlformats.org/drawingml/2006/main" noGrp="1"/>
          </p:cNvSpPr>
          <p:nvPr/>
        </p:nvSpPr>
        <p:spPr>
          <a:xfrm xmlns:a="http://schemas.openxmlformats.org/drawingml/2006/main">
            <a:off x="457200" y="3251199"/>
            <a:ext cx="2209800" cy="812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150" b="1">
                <a:solidFill>
                  <a:schemeClr val="accent1"/>
                </a:solidFill>
                <a:latin typeface="Lato"/>
                <a:ea typeface="Lato"/>
                <a:cs typeface="Lato"/>
              </a:rPr>
              <a:t>Demand by use</a:t>
            </a:r>
          </a:p>
          <a:p xmlns:a="http://schemas.openxmlformats.org/drawingml/2006/main">
            <a:pPr>
              <a:spcAft>
                <a:spcPts val="200"/>
              </a:spcAft>
              <a:buNone/>
            </a:pPr>
            <a:r>
              <a:rPr sz="1150">
                <a:solidFill>
                  <a:schemeClr val="dk1"/>
                </a:solidFill>
                <a:latin typeface="Lato"/>
                <a:ea typeface="Lato"/>
                <a:cs typeface="Lato"/>
              </a:rPr>
              <a:t>Road, mining, industry, agriculture</a:t>
            </a:r>
          </a:p>
          <a:p xmlns:a="http://schemas.openxmlformats.org/drawingml/2006/main">
            <a:pPr>
              <a:spcAft>
                <a:spcPts val="200"/>
              </a:spcAft>
              <a:buNone/>
            </a:pPr>
            <a:r>
              <a:rPr sz="1150">
                <a:solidFill>
                  <a:schemeClr val="dk1"/>
                </a:solidFill>
                <a:latin typeface="Lato"/>
                <a:ea typeface="Lato"/>
                <a:cs typeface="Lato"/>
              </a:rPr>
              <a:t>Power and other uses</a:t>
            </a:r>
            <a:endParaRPr sz="1150">
              <a:solidFill>
                <a:schemeClr val="dk1"/>
              </a:solidFill>
              <a:latin typeface="Lato"/>
              <a:ea typeface="Lato"/>
              <a:cs typeface="Lato"/>
            </a:endParaRPr>
          </a:p>
        </p:txBody>
      </p:sp>
      <p:cxnSp>
        <p:nvCxnSpPr>
          <p:cNvPr id="69" name="Uses determine demand"/>
          <p:cNvCxnSpPr/>
          <p:nvPr/>
        </p:nvCxnSpPr>
        <p:spPr>
          <a:xfrm xmlns:a="http://schemas.openxmlformats.org/drawingml/2006/main" flipV="1">
            <a:off x="1524000" y="3162300"/>
            <a:ext cx="0" cy="8890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8" name="Demand parameters">
            <a:extLst xmlns:a="http://schemas.openxmlformats.org/drawingml/2006/main">
              <a:ext uri="{FF2B5EF4-FFF2-40B4-BE49-F238E27FC236}">
                <a16:creationId xmlns:a16="http://schemas.microsoft.com/office/drawing/2014/main" id="{05889CF0-02DA-D49E-34DB-0FE1C05F9592}"/>
              </a:ext>
            </a:extLst>
          </p:cNvPr>
          <p:cNvSpPr>
            <a:spLocks xmlns:a="http://schemas.openxmlformats.org/drawingml/2006/main" noGrp="1"/>
          </p:cNvSpPr>
          <p:nvPr/>
        </p:nvSpPr>
        <p:spPr>
          <a:xfrm xmlns:a="http://schemas.openxmlformats.org/drawingml/2006/main">
            <a:off x="457200" y="4203699"/>
            <a:ext cx="2209800" cy="8636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100" b="1">
                <a:solidFill>
                  <a:schemeClr val="accent1"/>
                </a:solidFill>
                <a:latin typeface="Lato"/>
                <a:ea typeface="Lato"/>
                <a:cs typeface="Lato"/>
              </a:rPr>
              <a:t>Demand parameters</a:t>
            </a:r>
          </a:p>
          <a:p xmlns:a="http://schemas.openxmlformats.org/drawingml/2006/main">
            <a:pPr>
              <a:spcAft>
                <a:spcPts val="200"/>
              </a:spcAft>
              <a:buNone/>
            </a:pPr>
            <a:r>
              <a:rPr sz="1100">
                <a:solidFill>
                  <a:schemeClr val="dk1"/>
                </a:solidFill>
                <a:latin typeface="Lato"/>
                <a:ea typeface="Lato"/>
                <a:cs typeface="Lato"/>
              </a:rPr>
              <a:t>GDP and sector activity</a:t>
            </a:r>
          </a:p>
          <a:p xmlns:a="http://schemas.openxmlformats.org/drawingml/2006/main">
            <a:pPr>
              <a:spcAft>
                <a:spcPts val="200"/>
              </a:spcAft>
              <a:buNone/>
            </a:pPr>
            <a:r>
              <a:rPr sz="1100">
                <a:solidFill>
                  <a:schemeClr val="dk1"/>
                </a:solidFill>
                <a:latin typeface="Lato"/>
                <a:ea typeface="Lato"/>
                <a:cs typeface="Lato"/>
              </a:rPr>
              <a:t>EVs, fleet turnover, ICE efficiency</a:t>
            </a:r>
          </a:p>
          <a:p xmlns:a="http://schemas.openxmlformats.org/drawingml/2006/main">
            <a:pPr>
              <a:spcAft>
                <a:spcPts val="200"/>
              </a:spcAft>
              <a:buNone/>
            </a:pPr>
            <a:r>
              <a:rPr sz="1100">
                <a:solidFill>
                  <a:schemeClr val="dk1"/>
                </a:solidFill>
                <a:latin typeface="Lato"/>
                <a:ea typeface="Lato"/>
                <a:cs typeface="Lato"/>
              </a:rPr>
              <a:t>Freight shift, prices, power dispatch</a:t>
            </a:r>
            <a:endParaRPr sz="1100">
              <a:solidFill>
                <a:schemeClr val="dk1"/>
              </a:solidFill>
              <a:latin typeface="Lato"/>
              <a:ea typeface="Lato"/>
              <a:cs typeface="Lato"/>
            </a:endParaRPr>
          </a:p>
        </p:txBody>
      </p:sp>
      <p:cxnSp>
        <p:nvCxnSpPr>
          <p:cNvPr id="71" name="Demand parameter effect"/>
          <p:cNvCxnSpPr/>
          <p:nvPr/>
        </p:nvCxnSpPr>
        <p:spPr>
          <a:xfrm xmlns:a="http://schemas.openxmlformats.org/drawingml/2006/main" flipV="1">
            <a:off x="1524000" y="4064000"/>
            <a:ext cx="0" cy="139700"/>
          </a:xfrm>
          <a:prstGeom xmlns:a="http://schemas.openxmlformats.org/drawingml/2006/main" prst="straightConnector1">
            <a:avLst/>
          </a:prstGeom>
          <a:ln xmlns:a="http://schemas.openxmlformats.org/drawingml/2006/main" w="12700">
            <a:solidFill>
              <a:schemeClr val="accent1"/>
            </a:solidFill>
            <a:prstDash val="dash"/>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0" name="Imports">
            <a:extLst xmlns:a="http://schemas.openxmlformats.org/drawingml/2006/main">
              <a:ext uri="{FF2B5EF4-FFF2-40B4-BE49-F238E27FC236}">
                <a16:creationId xmlns:a16="http://schemas.microsoft.com/office/drawing/2014/main" id="{23F72AF9-31E3-D1F7-A839-88E56F43423D}"/>
              </a:ext>
            </a:extLst>
          </p:cNvPr>
          <p:cNvSpPr>
            <a:spLocks xmlns:a="http://schemas.openxmlformats.org/drawingml/2006/main" noGrp="1"/>
          </p:cNvSpPr>
          <p:nvPr/>
        </p:nvSpPr>
        <p:spPr>
          <a:xfrm xmlns:a="http://schemas.openxmlformats.org/drawingml/2006/main">
            <a:off x="3111500" y="2108199"/>
            <a:ext cx="1854200" cy="8509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200" b="1">
                <a:solidFill>
                  <a:schemeClr val="accent1"/>
                </a:solidFill>
                <a:latin typeface="Lato"/>
                <a:ea typeface="Lato"/>
                <a:cs typeface="Lato"/>
              </a:rPr>
              <a:t>Gross imports, 2025</a:t>
            </a:r>
          </a:p>
          <a:p xmlns:a="http://schemas.openxmlformats.org/drawingml/2006/main">
            <a:pPr>
              <a:spcAft>
                <a:spcPts val="200"/>
              </a:spcAft>
              <a:buNone/>
            </a:pPr>
            <a:r>
              <a:rPr sz="1200">
                <a:solidFill>
                  <a:schemeClr val="dk1"/>
                </a:solidFill>
                <a:latin typeface="Lato"/>
                <a:ea typeface="Lato"/>
                <a:cs typeface="Lato"/>
              </a:rPr>
              <a:t>16.70bn L petrol and diesel</a:t>
            </a:r>
          </a:p>
          <a:p xmlns:a="http://schemas.openxmlformats.org/drawingml/2006/main">
            <a:pPr>
              <a:spcAft>
                <a:spcPts val="200"/>
              </a:spcAft>
              <a:buNone/>
            </a:pPr>
            <a:r>
              <a:rPr sz="1200">
                <a:solidFill>
                  <a:schemeClr val="dk1"/>
                </a:solidFill>
                <a:latin typeface="Lato"/>
                <a:ea typeface="Lato"/>
                <a:cs typeface="Lato"/>
              </a:rPr>
              <a:t>Net imports: 15.15bn L</a:t>
            </a:r>
            <a:endParaRPr sz="1200">
              <a:solidFill>
                <a:schemeClr val="dk1"/>
              </a:solidFill>
              <a:latin typeface="Lato"/>
              <a:ea typeface="Lato"/>
              <a:cs typeface="Lato"/>
            </a:endParaRPr>
          </a:p>
        </p:txBody>
      </p:sp>
      <p:sp>
        <p:nvSpPr>
          <p:cNvPr id="21" name="Production">
            <a:extLst xmlns:a="http://schemas.openxmlformats.org/drawingml/2006/main">
              <a:ext uri="{FF2B5EF4-FFF2-40B4-BE49-F238E27FC236}">
                <a16:creationId xmlns:a16="http://schemas.microsoft.com/office/drawing/2014/main" id="{4EBBA8B2-2B37-C76A-4D00-E142B3C50D55}"/>
              </a:ext>
            </a:extLst>
          </p:cNvPr>
          <p:cNvSpPr>
            <a:spLocks xmlns:a="http://schemas.openxmlformats.org/drawingml/2006/main" noGrp="1"/>
          </p:cNvSpPr>
          <p:nvPr/>
        </p:nvSpPr>
        <p:spPr>
          <a:xfrm xmlns:a="http://schemas.openxmlformats.org/drawingml/2006/main">
            <a:off x="5257800" y="2108199"/>
            <a:ext cx="1968500" cy="8509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200" b="1">
                <a:solidFill>
                  <a:schemeClr val="accent1"/>
                </a:solidFill>
                <a:latin typeface="Lato"/>
                <a:ea typeface="Lato"/>
                <a:cs typeface="Lato"/>
              </a:rPr>
              <a:t>Domestic production</a:t>
            </a:r>
          </a:p>
          <a:p xmlns:a="http://schemas.openxmlformats.org/drawingml/2006/main">
            <a:pPr>
              <a:spcAft>
                <a:spcPts val="200"/>
              </a:spcAft>
              <a:buNone/>
            </a:pPr>
            <a:r>
              <a:rPr sz="1200">
                <a:solidFill>
                  <a:schemeClr val="dk1"/>
                </a:solidFill>
                <a:latin typeface="Lato"/>
                <a:ea typeface="Lato"/>
                <a:cs typeface="Lato"/>
              </a:rPr>
              <a:t>Refinery location, output, yields</a:t>
            </a:r>
          </a:p>
          <a:p xmlns:a="http://schemas.openxmlformats.org/drawingml/2006/main">
            <a:pPr>
              <a:spcAft>
                <a:spcPts val="200"/>
              </a:spcAft>
              <a:buNone/>
            </a:pPr>
            <a:r>
              <a:rPr sz="1200">
                <a:solidFill>
                  <a:schemeClr val="dk1"/>
                </a:solidFill>
                <a:latin typeface="Lato"/>
                <a:ea typeface="Lato"/>
                <a:cs typeface="Lato"/>
              </a:rPr>
              <a:t>Own storage and distribution</a:t>
            </a:r>
            <a:endParaRPr sz="1200">
              <a:solidFill>
                <a:schemeClr val="dk1"/>
              </a:solidFill>
              <a:latin typeface="Lato"/>
              <a:ea typeface="Lato"/>
              <a:cs typeface="Lato"/>
            </a:endParaRPr>
          </a:p>
        </p:txBody>
      </p:sp>
      <p:sp>
        <p:nvSpPr>
          <p:cNvPr id="22" name="Routes">
            <a:extLst xmlns:a="http://schemas.openxmlformats.org/drawingml/2006/main">
              <a:ext uri="{FF2B5EF4-FFF2-40B4-BE49-F238E27FC236}">
                <a16:creationId xmlns:a16="http://schemas.microsoft.com/office/drawing/2014/main" id="{8848F489-2B26-24D4-5939-007123C4EF82}"/>
              </a:ext>
            </a:extLst>
          </p:cNvPr>
          <p:cNvSpPr>
            <a:spLocks xmlns:a="http://schemas.openxmlformats.org/drawingml/2006/main" noGrp="1"/>
          </p:cNvSpPr>
          <p:nvPr/>
        </p:nvSpPr>
        <p:spPr>
          <a:xfrm xmlns:a="http://schemas.openxmlformats.org/drawingml/2006/main">
            <a:off x="3111500" y="3238499"/>
            <a:ext cx="4114800" cy="876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150" b="1">
                <a:solidFill>
                  <a:schemeClr val="accent1"/>
                </a:solidFill>
                <a:latin typeface="Lato"/>
                <a:ea typeface="Lato"/>
                <a:cs typeface="Lato"/>
              </a:rPr>
              <a:t>Ports and inland delivery network</a:t>
            </a:r>
          </a:p>
          <a:p xmlns:a="http://schemas.openxmlformats.org/drawingml/2006/main">
            <a:pPr>
              <a:spcAft>
                <a:spcPts val="200"/>
              </a:spcAft>
              <a:buNone/>
            </a:pPr>
            <a:r>
              <a:rPr sz="1150">
                <a:solidFill>
                  <a:schemeClr val="dk1"/>
                </a:solidFill>
                <a:latin typeface="Lato"/>
                <a:ea typeface="Lato"/>
                <a:cs typeface="Lato"/>
              </a:rPr>
              <a:t>Durban, Richards Bay and other gateways</a:t>
            </a:r>
          </a:p>
          <a:p xmlns:a="http://schemas.openxmlformats.org/drawingml/2006/main">
            <a:pPr>
              <a:spcAft>
                <a:spcPts val="200"/>
              </a:spcAft>
              <a:buNone/>
            </a:pPr>
            <a:r>
              <a:rPr sz="1150">
                <a:solidFill>
                  <a:schemeClr val="dk1"/>
                </a:solidFill>
                <a:latin typeface="Lato"/>
                <a:ea typeface="Lato"/>
                <a:cs typeface="Lato"/>
              </a:rPr>
              <a:t>MPP FY2025: 5.46bn L annualised use</a:t>
            </a:r>
          </a:p>
          <a:p xmlns:a="http://schemas.openxmlformats.org/drawingml/2006/main">
            <a:pPr>
              <a:spcAft>
                <a:spcPts val="200"/>
              </a:spcAft>
              <a:buNone/>
            </a:pPr>
            <a:r>
              <a:rPr sz="1150">
                <a:solidFill>
                  <a:schemeClr val="dk1"/>
                </a:solidFill>
                <a:latin typeface="Lato"/>
                <a:ea typeface="Lato"/>
                <a:cs typeface="Lato"/>
              </a:rPr>
              <a:t>Vopak access and product allocation open</a:t>
            </a:r>
            <a:endParaRPr sz="1150">
              <a:solidFill>
                <a:schemeClr val="dk1"/>
              </a:solidFill>
              <a:latin typeface="Lato"/>
              <a:ea typeface="Lato"/>
              <a:cs typeface="Lato"/>
            </a:endParaRPr>
          </a:p>
        </p:txBody>
      </p:sp>
      <p:cxnSp>
        <p:nvCxnSpPr>
          <p:cNvPr id="75" name="Import route"/>
          <p:cNvCxnSpPr/>
          <p:nvPr/>
        </p:nvCxnSpPr>
        <p:spPr>
          <a:xfrm xmlns:a="http://schemas.openxmlformats.org/drawingml/2006/main">
            <a:off x="4000500" y="2959100"/>
            <a:ext cx="0" cy="21590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76" name="Domestic route"/>
          <p:cNvCxnSpPr/>
          <p:nvPr/>
        </p:nvCxnSpPr>
        <p:spPr>
          <a:xfrm xmlns:a="http://schemas.openxmlformats.org/drawingml/2006/main">
            <a:off x="6210300" y="2959100"/>
            <a:ext cx="0" cy="21590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77" name="Demand determines destinations 1"/>
          <p:cNvCxnSpPr/>
          <p:nvPr/>
        </p:nvCxnSpPr>
        <p:spPr>
          <a:xfrm xmlns:a="http://schemas.openxmlformats.org/drawingml/2006/main">
            <a:off x="2667000" y="2590800"/>
            <a:ext cx="177800" cy="0"/>
          </a:xfrm>
          <a:prstGeom xmlns:a="http://schemas.openxmlformats.org/drawingml/2006/main" prst="straightConnector1">
            <a:avLst/>
          </a:prstGeom>
          <a:ln xmlns:a="http://schemas.openxmlformats.org/drawingml/2006/main" w="825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78" name="Demand determines destinations 2"/>
          <p:cNvCxnSpPr/>
          <p:nvPr/>
        </p:nvCxnSpPr>
        <p:spPr>
          <a:xfrm xmlns:a="http://schemas.openxmlformats.org/drawingml/2006/main">
            <a:off x="2844800" y="2590800"/>
            <a:ext cx="0" cy="965200"/>
          </a:xfrm>
          <a:prstGeom xmlns:a="http://schemas.openxmlformats.org/drawingml/2006/main" prst="straightConnector1">
            <a:avLst/>
          </a:prstGeom>
          <a:ln xmlns:a="http://schemas.openxmlformats.org/drawingml/2006/main" w="825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79" name="Demand determines destinations 3"/>
          <p:cNvCxnSpPr/>
          <p:nvPr/>
        </p:nvCxnSpPr>
        <p:spPr>
          <a:xfrm xmlns:a="http://schemas.openxmlformats.org/drawingml/2006/main">
            <a:off x="2844800" y="3556000"/>
            <a:ext cx="215900" cy="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8" name="Supply and route parameters">
            <a:extLst xmlns:a="http://schemas.openxmlformats.org/drawingml/2006/main">
              <a:ext uri="{FF2B5EF4-FFF2-40B4-BE49-F238E27FC236}">
                <a16:creationId xmlns:a16="http://schemas.microsoft.com/office/drawing/2014/main" id="{8EA8E5F2-832B-8638-B5D1-32001AF01788}"/>
              </a:ext>
            </a:extLst>
          </p:cNvPr>
          <p:cNvSpPr>
            <a:spLocks xmlns:a="http://schemas.openxmlformats.org/drawingml/2006/main" noGrp="1"/>
          </p:cNvSpPr>
          <p:nvPr/>
        </p:nvSpPr>
        <p:spPr>
          <a:xfrm xmlns:a="http://schemas.openxmlformats.org/drawingml/2006/main">
            <a:off x="3111500" y="4203699"/>
            <a:ext cx="4114800" cy="8636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100" b="1">
                <a:solidFill>
                  <a:schemeClr val="accent1"/>
                </a:solidFill>
                <a:latin typeface="Lato"/>
                <a:ea typeface="Lato"/>
                <a:cs typeface="Lato"/>
              </a:rPr>
              <a:t>Supply and route parameters</a:t>
            </a:r>
          </a:p>
          <a:p xmlns:a="http://schemas.openxmlformats.org/drawingml/2006/main">
            <a:pPr>
              <a:spcAft>
                <a:spcPts val="200"/>
              </a:spcAft>
              <a:buNone/>
            </a:pPr>
            <a:r>
              <a:rPr sz="1100">
                <a:solidFill>
                  <a:schemeClr val="dk1"/>
                </a:solidFill>
                <a:latin typeface="Lato"/>
                <a:ea typeface="Lato"/>
                <a:cs typeface="Lato"/>
              </a:rPr>
              <a:t>Refinery closures / restarts and gas availability</a:t>
            </a:r>
          </a:p>
          <a:p xmlns:a="http://schemas.openxmlformats.org/drawingml/2006/main">
            <a:pPr>
              <a:spcAft>
                <a:spcPts val="200"/>
              </a:spcAft>
              <a:buNone/>
            </a:pPr>
            <a:r>
              <a:rPr sz="1100">
                <a:solidFill>
                  <a:schemeClr val="dk1"/>
                </a:solidFill>
                <a:latin typeface="Lato"/>
                <a:ea typeface="Lato"/>
                <a:cs typeface="Lato"/>
              </a:rPr>
              <a:t>Delivered cost, competing routes, access and contracts</a:t>
            </a:r>
          </a:p>
          <a:p xmlns:a="http://schemas.openxmlformats.org/drawingml/2006/main">
            <a:pPr>
              <a:spcAft>
                <a:spcPts val="200"/>
              </a:spcAft>
              <a:buNone/>
            </a:pPr>
            <a:r>
              <a:rPr sz="1100">
                <a:solidFill>
                  <a:schemeClr val="dk1"/>
                </a:solidFill>
                <a:latin typeface="Lato"/>
                <a:ea typeface="Lato"/>
                <a:cs typeface="Lato"/>
              </a:rPr>
              <a:t>Port, pipeline and rail capacity and reliability</a:t>
            </a:r>
            <a:endParaRPr sz="1100">
              <a:solidFill>
                <a:schemeClr val="dk1"/>
              </a:solidFill>
              <a:latin typeface="Lato"/>
              <a:ea typeface="Lato"/>
              <a:cs typeface="Lato"/>
            </a:endParaRPr>
          </a:p>
        </p:txBody>
      </p:sp>
      <p:cxnSp>
        <p:nvCxnSpPr>
          <p:cNvPr id="81" name="Supply parameter effect"/>
          <p:cNvCxnSpPr/>
          <p:nvPr/>
        </p:nvCxnSpPr>
        <p:spPr>
          <a:xfrm xmlns:a="http://schemas.openxmlformats.org/drawingml/2006/main" flipV="1">
            <a:off x="6210300" y="4102100"/>
            <a:ext cx="0" cy="101600"/>
          </a:xfrm>
          <a:prstGeom xmlns:a="http://schemas.openxmlformats.org/drawingml/2006/main" prst="straightConnector1">
            <a:avLst/>
          </a:prstGeom>
          <a:ln xmlns:a="http://schemas.openxmlformats.org/drawingml/2006/main" w="12700">
            <a:solidFill>
              <a:schemeClr val="accent1"/>
            </a:solidFill>
            <a:prstDash val="dash"/>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30" name="Durban opportunity">
            <a:extLst xmlns:a="http://schemas.openxmlformats.org/drawingml/2006/main">
              <a:ext uri="{FF2B5EF4-FFF2-40B4-BE49-F238E27FC236}">
                <a16:creationId xmlns:a16="http://schemas.microsoft.com/office/drawing/2014/main" id="{CF05637F-F5E3-0913-E697-D51422A5D04C}"/>
              </a:ext>
            </a:extLst>
          </p:cNvPr>
          <p:cNvSpPr>
            <a:spLocks xmlns:a="http://schemas.openxmlformats.org/drawingml/2006/main" noGrp="1"/>
          </p:cNvSpPr>
          <p:nvPr/>
        </p:nvSpPr>
        <p:spPr>
          <a:xfrm xmlns:a="http://schemas.openxmlformats.org/drawingml/2006/main">
            <a:off x="7899400" y="2108199"/>
            <a:ext cx="3213100" cy="7493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200" b="1">
                <a:solidFill>
                  <a:schemeClr val="accent1"/>
                </a:solidFill>
                <a:latin typeface="Lato"/>
                <a:ea typeface="Lato"/>
                <a:cs typeface="Lato"/>
              </a:rPr>
              <a:t>Durban gateway context</a:t>
            </a:r>
          </a:p>
          <a:p xmlns:a="http://schemas.openxmlformats.org/drawingml/2006/main">
            <a:pPr>
              <a:spcAft>
                <a:spcPts val="200"/>
              </a:spcAft>
              <a:buNone/>
            </a:pPr>
            <a:r>
              <a:rPr sz="1200">
                <a:solidFill>
                  <a:schemeClr val="dk1"/>
                </a:solidFill>
                <a:latin typeface="Lato"/>
                <a:ea typeface="Lato"/>
                <a:cs typeface="Lato"/>
              </a:rPr>
              <a:t>2025 customs imports: 13.16bn L</a:t>
            </a:r>
          </a:p>
          <a:p xmlns:a="http://schemas.openxmlformats.org/drawingml/2006/main">
            <a:pPr>
              <a:spcAft>
                <a:spcPts val="200"/>
              </a:spcAft>
              <a:buNone/>
            </a:pPr>
            <a:r>
              <a:rPr sz="1200">
                <a:solidFill>
                  <a:schemeClr val="dk1"/>
                </a:solidFill>
                <a:latin typeface="Lato"/>
                <a:ea typeface="Lato"/>
                <a:cs typeface="Lato"/>
              </a:rPr>
              <a:t>Accessible customer share remains open</a:t>
            </a:r>
            <a:endParaRPr sz="1200">
              <a:solidFill>
                <a:schemeClr val="dk1"/>
              </a:solidFill>
              <a:latin typeface="Lato"/>
              <a:ea typeface="Lato"/>
              <a:cs typeface="Lato"/>
            </a:endParaRPr>
          </a:p>
        </p:txBody>
      </p:sp>
      <p:sp>
        <p:nvSpPr>
          <p:cNvPr id="31" name="Lesedi opportunity">
            <a:extLst xmlns:a="http://schemas.openxmlformats.org/drawingml/2006/main">
              <a:ext uri="{FF2B5EF4-FFF2-40B4-BE49-F238E27FC236}">
                <a16:creationId xmlns:a16="http://schemas.microsoft.com/office/drawing/2014/main" id="{B036927C-17A7-76AA-143E-BADF5A482926}"/>
              </a:ext>
            </a:extLst>
          </p:cNvPr>
          <p:cNvSpPr>
            <a:spLocks xmlns:a="http://schemas.openxmlformats.org/drawingml/2006/main" noGrp="1"/>
          </p:cNvSpPr>
          <p:nvPr/>
        </p:nvSpPr>
        <p:spPr>
          <a:xfrm xmlns:a="http://schemas.openxmlformats.org/drawingml/2006/main">
            <a:off x="7899400" y="3047999"/>
            <a:ext cx="3213100" cy="8128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200" b="1">
                <a:solidFill>
                  <a:schemeClr val="accent1"/>
                </a:solidFill>
                <a:latin typeface="Lato"/>
                <a:ea typeface="Lato"/>
                <a:cs typeface="Lato"/>
              </a:rPr>
              <a:t>Lesedi demand context</a:t>
            </a:r>
          </a:p>
          <a:p xmlns:a="http://schemas.openxmlformats.org/drawingml/2006/main">
            <a:pPr>
              <a:spcAft>
                <a:spcPts val="200"/>
              </a:spcAft>
              <a:buNone/>
            </a:pPr>
            <a:r>
              <a:rPr sz="1200">
                <a:solidFill>
                  <a:schemeClr val="dk1"/>
                </a:solidFill>
                <a:latin typeface="Lato"/>
                <a:ea typeface="Lato"/>
                <a:cs typeface="Lato"/>
              </a:rPr>
              <a:t>Gauteng 6.81bn L, inland 11.95bn L</a:t>
            </a:r>
          </a:p>
          <a:p xmlns:a="http://schemas.openxmlformats.org/drawingml/2006/main">
            <a:pPr>
              <a:spcAft>
                <a:spcPts val="200"/>
              </a:spcAft>
              <a:buNone/>
            </a:pPr>
            <a:r>
              <a:rPr sz="1200">
                <a:solidFill>
                  <a:schemeClr val="dk1"/>
                </a:solidFill>
                <a:latin typeface="Lato"/>
                <a:ea typeface="Lato"/>
                <a:cs typeface="Lato"/>
              </a:rPr>
              <a:t>2022 catchments overlap the import pool</a:t>
            </a:r>
            <a:endParaRPr sz="1200">
              <a:solidFill>
                <a:schemeClr val="dk1"/>
              </a:solidFill>
              <a:latin typeface="Lato"/>
              <a:ea typeface="Lato"/>
              <a:cs typeface="Lato"/>
            </a:endParaRPr>
          </a:p>
        </p:txBody>
      </p:sp>
      <p:cxnSp>
        <p:nvCxnSpPr>
          <p:cNvPr id="84" name="Access screen trunk"/>
          <p:cNvCxnSpPr/>
          <p:nvPr/>
        </p:nvCxnSpPr>
        <p:spPr>
          <a:xfrm xmlns:a="http://schemas.openxmlformats.org/drawingml/2006/main">
            <a:off x="7226300" y="3556000"/>
            <a:ext cx="266700" cy="0"/>
          </a:xfrm>
          <a:prstGeom xmlns:a="http://schemas.openxmlformats.org/drawingml/2006/main" prst="straightConnector1">
            <a:avLst/>
          </a:prstGeom>
          <a:ln xmlns:a="http://schemas.openxmlformats.org/drawingml/2006/main" w="825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85" name="Access screen fork"/>
          <p:cNvCxnSpPr/>
          <p:nvPr/>
        </p:nvCxnSpPr>
        <p:spPr>
          <a:xfrm xmlns:a="http://schemas.openxmlformats.org/drawingml/2006/main">
            <a:off x="7493000" y="2489200"/>
            <a:ext cx="0" cy="1066800"/>
          </a:xfrm>
          <a:prstGeom xmlns:a="http://schemas.openxmlformats.org/drawingml/2006/main" prst="straightConnector1">
            <a:avLst/>
          </a:prstGeom>
          <a:ln xmlns:a="http://schemas.openxmlformats.org/drawingml/2006/main" w="825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86" name="Access to Durban"/>
          <p:cNvCxnSpPr/>
          <p:nvPr/>
        </p:nvCxnSpPr>
        <p:spPr>
          <a:xfrm xmlns:a="http://schemas.openxmlformats.org/drawingml/2006/main">
            <a:off x="7493000" y="2489200"/>
            <a:ext cx="330200" cy="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87" name="Access to Lesedi"/>
          <p:cNvCxnSpPr/>
          <p:nvPr/>
        </p:nvCxnSpPr>
        <p:spPr>
          <a:xfrm xmlns:a="http://schemas.openxmlformats.org/drawingml/2006/main">
            <a:off x="7493000" y="3429000"/>
            <a:ext cx="330200" cy="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36" name="Share and headroom">
            <a:extLst xmlns:a="http://schemas.openxmlformats.org/drawingml/2006/main">
              <a:ext uri="{FF2B5EF4-FFF2-40B4-BE49-F238E27FC236}">
                <a16:creationId xmlns:a16="http://schemas.microsoft.com/office/drawing/2014/main" id="{635C5460-B18A-91DA-3C22-EBCCAF085E94}"/>
              </a:ext>
            </a:extLst>
          </p:cNvPr>
          <p:cNvSpPr>
            <a:spLocks xmlns:a="http://schemas.openxmlformats.org/drawingml/2006/main" noGrp="1"/>
          </p:cNvSpPr>
          <p:nvPr/>
        </p:nvSpPr>
        <p:spPr>
          <a:xfrm xmlns:a="http://schemas.openxmlformats.org/drawingml/2006/main">
            <a:off x="7899400" y="4165599"/>
            <a:ext cx="3213100" cy="9144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100" b="1">
                <a:solidFill>
                  <a:schemeClr val="accent1"/>
                </a:solidFill>
                <a:latin typeface="Lato"/>
                <a:ea typeface="Lato"/>
                <a:cs typeface="Lato"/>
              </a:rPr>
              <a:t>Conditional capture screen, p35</a:t>
            </a:r>
          </a:p>
          <a:p xmlns:a="http://schemas.openxmlformats.org/drawingml/2006/main">
            <a:pPr>
              <a:spcAft>
                <a:spcPts val="200"/>
              </a:spcAft>
              <a:buNone/>
            </a:pPr>
            <a:r>
              <a:rPr sz="1100">
                <a:solidFill>
                  <a:schemeClr val="dk1"/>
                </a:solidFill>
                <a:latin typeface="Lato"/>
                <a:ea typeface="Lato"/>
                <a:cs typeface="Lato"/>
              </a:rPr>
              <a:t>Base: Durban 2.63bn L, Lesedi 1.32bn L</a:t>
            </a:r>
          </a:p>
          <a:p xmlns:a="http://schemas.openxmlformats.org/drawingml/2006/main">
            <a:pPr>
              <a:spcAft>
                <a:spcPts val="200"/>
              </a:spcAft>
              <a:buNone/>
            </a:pPr>
            <a:r>
              <a:rPr sz="1100">
                <a:solidFill>
                  <a:schemeClr val="dk1"/>
                </a:solidFill>
                <a:latin typeface="Lato"/>
                <a:ea typeface="Lato"/>
                <a:cs typeface="Lato"/>
              </a:rPr>
              <a:t>Unique flow 2.63bn L; Lesedi is a subset</a:t>
            </a:r>
          </a:p>
          <a:p xmlns:a="http://schemas.openxmlformats.org/drawingml/2006/main">
            <a:pPr>
              <a:spcAft>
                <a:spcPts val="200"/>
              </a:spcAft>
              <a:buNone/>
            </a:pPr>
            <a:r>
              <a:rPr sz="1100">
                <a:solidFill>
                  <a:schemeClr val="dk1"/>
                </a:solidFill>
                <a:latin typeface="Lato"/>
                <a:ea typeface="Lato"/>
                <a:cs typeface="Lato"/>
              </a:rPr>
              <a:t>Actual share and incremental volume open</a:t>
            </a:r>
            <a:endParaRPr sz="1100">
              <a:solidFill>
                <a:schemeClr val="dk1"/>
              </a:solidFill>
              <a:latin typeface="Lato"/>
              <a:ea typeface="Lato"/>
              <a:cs typeface="Lato"/>
            </a:endParaRPr>
          </a:p>
        </p:txBody>
      </p:sp>
      <p:cxnSp>
        <p:nvCxnSpPr>
          <p:cNvPr id="89" name="Durban into share 1"/>
          <p:cNvCxnSpPr/>
          <p:nvPr/>
        </p:nvCxnSpPr>
        <p:spPr>
          <a:xfrm xmlns:a="http://schemas.openxmlformats.org/drawingml/2006/main">
            <a:off x="11074400" y="2857500"/>
            <a:ext cx="203200" cy="0"/>
          </a:xfrm>
          <a:prstGeom xmlns:a="http://schemas.openxmlformats.org/drawingml/2006/main" prst="straightConnector1">
            <a:avLst/>
          </a:prstGeom>
          <a:ln xmlns:a="http://schemas.openxmlformats.org/drawingml/2006/main" w="825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0" name="Durban into share 2"/>
          <p:cNvCxnSpPr/>
          <p:nvPr/>
        </p:nvCxnSpPr>
        <p:spPr>
          <a:xfrm xmlns:a="http://schemas.openxmlformats.org/drawingml/2006/main">
            <a:off x="11277600" y="2857500"/>
            <a:ext cx="0" cy="1574800"/>
          </a:xfrm>
          <a:prstGeom xmlns:a="http://schemas.openxmlformats.org/drawingml/2006/main" prst="straightConnector1">
            <a:avLst/>
          </a:prstGeom>
          <a:ln xmlns:a="http://schemas.openxmlformats.org/drawingml/2006/main" w="825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1" name="Durban into share 3"/>
          <p:cNvCxnSpPr/>
          <p:nvPr/>
        </p:nvCxnSpPr>
        <p:spPr>
          <a:xfrm xmlns:a="http://schemas.openxmlformats.org/drawingml/2006/main" flipH="1">
            <a:off x="11163300" y="4432300"/>
            <a:ext cx="114300" cy="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2" name="Lesedi into share"/>
          <p:cNvCxnSpPr/>
          <p:nvPr/>
        </p:nvCxnSpPr>
        <p:spPr>
          <a:xfrm xmlns:a="http://schemas.openxmlformats.org/drawingml/2006/main">
            <a:off x="9486900" y="3860800"/>
            <a:ext cx="0" cy="21590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3" name="Capture into investment 1"/>
          <p:cNvCxnSpPr/>
          <p:nvPr/>
        </p:nvCxnSpPr>
        <p:spPr>
          <a:xfrm xmlns:a="http://schemas.openxmlformats.org/drawingml/2006/main">
            <a:off x="9486900" y="5080000"/>
            <a:ext cx="0" cy="101600"/>
          </a:xfrm>
          <a:prstGeom xmlns:a="http://schemas.openxmlformats.org/drawingml/2006/main" prst="straightConnector1">
            <a:avLst/>
          </a:prstGeom>
          <a:ln xmlns:a="http://schemas.openxmlformats.org/drawingml/2006/main" w="825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4" name="Capture into investment 2"/>
          <p:cNvCxnSpPr/>
          <p:nvPr/>
        </p:nvCxnSpPr>
        <p:spPr>
          <a:xfrm xmlns:a="http://schemas.openxmlformats.org/drawingml/2006/main" flipH="1">
            <a:off x="1524000" y="5181600"/>
            <a:ext cx="7962900" cy="0"/>
          </a:xfrm>
          <a:prstGeom xmlns:a="http://schemas.openxmlformats.org/drawingml/2006/main" prst="straightConnector1">
            <a:avLst/>
          </a:prstGeom>
          <a:ln xmlns:a="http://schemas.openxmlformats.org/drawingml/2006/main" w="825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95" name="Capture into investment 3"/>
          <p:cNvCxnSpPr/>
          <p:nvPr/>
        </p:nvCxnSpPr>
        <p:spPr>
          <a:xfrm xmlns:a="http://schemas.openxmlformats.org/drawingml/2006/main">
            <a:off x="1524000" y="5181600"/>
            <a:ext cx="0" cy="15240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44" name="Additional capture">
            <a:extLst xmlns:a="http://schemas.openxmlformats.org/drawingml/2006/main">
              <a:ext uri="{FF2B5EF4-FFF2-40B4-BE49-F238E27FC236}">
                <a16:creationId xmlns:a16="http://schemas.microsoft.com/office/drawing/2014/main" id="{A47E906C-8F7F-EAA3-2F80-B829DEA82C6B}"/>
              </a:ext>
            </a:extLst>
          </p:cNvPr>
          <p:cNvSpPr>
            <a:spLocks xmlns:a="http://schemas.openxmlformats.org/drawingml/2006/main" noGrp="1"/>
          </p:cNvSpPr>
          <p:nvPr/>
        </p:nvSpPr>
        <p:spPr>
          <a:xfrm xmlns:a="http://schemas.openxmlformats.org/drawingml/2006/main">
            <a:off x="457200" y="5422899"/>
            <a:ext cx="2349500" cy="5715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050" b="1">
                <a:solidFill>
                  <a:schemeClr val="accent1"/>
                </a:solidFill>
                <a:latin typeface="Lato"/>
                <a:ea typeface="Lato"/>
                <a:cs typeface="Lato"/>
              </a:rPr>
              <a:t>Achievable additional capture</a:t>
            </a:r>
          </a:p>
          <a:p xmlns:a="http://schemas.openxmlformats.org/drawingml/2006/main">
            <a:pPr>
              <a:spcAft>
                <a:spcPts val="200"/>
              </a:spcAft>
              <a:buNone/>
            </a:pPr>
            <a:r>
              <a:rPr sz="1050">
                <a:solidFill>
                  <a:schemeClr val="dk1"/>
                </a:solidFill>
                <a:latin typeface="Lato"/>
                <a:ea typeface="Lato"/>
                <a:cs typeface="Lato"/>
              </a:rPr>
              <a:t>Customers, contracts, competition</a:t>
            </a:r>
          </a:p>
          <a:p xmlns:a="http://schemas.openxmlformats.org/drawingml/2006/main">
            <a:pPr>
              <a:spcAft>
                <a:spcPts val="200"/>
              </a:spcAft>
              <a:buNone/>
            </a:pPr>
            <a:r>
              <a:rPr sz="1050">
                <a:solidFill>
                  <a:schemeClr val="dk1"/>
                </a:solidFill>
                <a:latin typeface="Lato"/>
                <a:ea typeface="Lato"/>
                <a:cs typeface="Lato"/>
              </a:rPr>
              <a:t>Test capture within the opportunity</a:t>
            </a:r>
            <a:endParaRPr sz="1050">
              <a:solidFill>
                <a:schemeClr val="dk1"/>
              </a:solidFill>
              <a:latin typeface="Lato"/>
              <a:ea typeface="Lato"/>
              <a:cs typeface="Lato"/>
            </a:endParaRPr>
          </a:p>
        </p:txBody>
      </p:sp>
      <p:sp>
        <p:nvSpPr>
          <p:cNvPr id="45" name="Existing capacity">
            <a:extLst xmlns:a="http://schemas.openxmlformats.org/drawingml/2006/main">
              <a:ext uri="{FF2B5EF4-FFF2-40B4-BE49-F238E27FC236}">
                <a16:creationId xmlns:a16="http://schemas.microsoft.com/office/drawing/2014/main" id="{BAE5CA36-0E1A-4F01-DBF5-2E904D4B5702}"/>
              </a:ext>
            </a:extLst>
          </p:cNvPr>
          <p:cNvSpPr>
            <a:spLocks xmlns:a="http://schemas.openxmlformats.org/drawingml/2006/main" noGrp="1"/>
          </p:cNvSpPr>
          <p:nvPr/>
        </p:nvSpPr>
        <p:spPr>
          <a:xfrm xmlns:a="http://schemas.openxmlformats.org/drawingml/2006/main">
            <a:off x="3340100" y="5422899"/>
            <a:ext cx="2578100" cy="5715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050" b="1">
                <a:solidFill>
                  <a:schemeClr val="accent1"/>
                </a:solidFill>
                <a:latin typeface="Lato"/>
                <a:ea typeface="Lato"/>
                <a:cs typeface="Lato"/>
              </a:rPr>
              <a:t>Existing assets and improvements</a:t>
            </a:r>
          </a:p>
          <a:p xmlns:a="http://schemas.openxmlformats.org/drawingml/2006/main">
            <a:pPr>
              <a:spcAft>
                <a:spcPts val="200"/>
              </a:spcAft>
              <a:buNone/>
            </a:pPr>
            <a:r>
              <a:rPr sz="1050">
                <a:solidFill>
                  <a:schemeClr val="dk1"/>
                </a:solidFill>
                <a:latin typeface="Lato"/>
                <a:ea typeface="Lato"/>
                <a:cs typeface="Lato"/>
              </a:rPr>
              <a:t>Working tanks, turns and constraints</a:t>
            </a:r>
          </a:p>
          <a:p xmlns:a="http://schemas.openxmlformats.org/drawingml/2006/main">
            <a:pPr>
              <a:spcAft>
                <a:spcPts val="200"/>
              </a:spcAft>
              <a:buNone/>
            </a:pPr>
            <a:r>
              <a:rPr sz="1050">
                <a:solidFill>
                  <a:schemeClr val="dk1"/>
                </a:solidFill>
                <a:latin typeface="Lato"/>
                <a:ea typeface="Lato"/>
                <a:cs typeface="Lato"/>
              </a:rPr>
              <a:t>Test receipt, storage and dispatch</a:t>
            </a:r>
            <a:endParaRPr sz="1050">
              <a:solidFill>
                <a:schemeClr val="dk1"/>
              </a:solidFill>
              <a:latin typeface="Lato"/>
              <a:ea typeface="Lato"/>
              <a:cs typeface="Lato"/>
            </a:endParaRPr>
          </a:p>
        </p:txBody>
      </p:sp>
      <p:sp>
        <p:nvSpPr>
          <p:cNvPr id="46" name="Investment economics">
            <a:extLst xmlns:a="http://schemas.openxmlformats.org/drawingml/2006/main">
              <a:ext uri="{FF2B5EF4-FFF2-40B4-BE49-F238E27FC236}">
                <a16:creationId xmlns:a16="http://schemas.microsoft.com/office/drawing/2014/main" id="{B2606EE2-8E42-5172-39DE-5B783889B2F3}"/>
              </a:ext>
            </a:extLst>
          </p:cNvPr>
          <p:cNvSpPr>
            <a:spLocks xmlns:a="http://schemas.openxmlformats.org/drawingml/2006/main" noGrp="1"/>
          </p:cNvSpPr>
          <p:nvPr/>
        </p:nvSpPr>
        <p:spPr>
          <a:xfrm xmlns:a="http://schemas.openxmlformats.org/drawingml/2006/main">
            <a:off x="6451600" y="5422899"/>
            <a:ext cx="2514600" cy="5715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050" b="1">
                <a:solidFill>
                  <a:schemeClr val="accent1"/>
                </a:solidFill>
                <a:latin typeface="Lato"/>
                <a:ea typeface="Lato"/>
                <a:cs typeface="Lato"/>
              </a:rPr>
              <a:t>New investment and returns</a:t>
            </a:r>
          </a:p>
          <a:p xmlns:a="http://schemas.openxmlformats.org/drawingml/2006/main">
            <a:pPr>
              <a:spcAft>
                <a:spcPts val="200"/>
              </a:spcAft>
              <a:buNone/>
            </a:pPr>
            <a:r>
              <a:rPr sz="1050">
                <a:solidFill>
                  <a:schemeClr val="dk1"/>
                </a:solidFill>
                <a:latin typeface="Lato"/>
                <a:ea typeface="Lato"/>
                <a:cs typeface="Lato"/>
              </a:rPr>
              <a:t>Incremental volume, cost and capex</a:t>
            </a:r>
          </a:p>
          <a:p xmlns:a="http://schemas.openxmlformats.org/drawingml/2006/main">
            <a:pPr>
              <a:spcAft>
                <a:spcPts val="200"/>
              </a:spcAft>
              <a:buNone/>
            </a:pPr>
            <a:r>
              <a:rPr sz="1050">
                <a:solidFill>
                  <a:schemeClr val="dk1"/>
                </a:solidFill>
                <a:latin typeface="Lato"/>
                <a:ea typeface="Lato"/>
                <a:cs typeface="Lato"/>
              </a:rPr>
              <a:t>Compare alternatives and downside</a:t>
            </a:r>
            <a:endParaRPr sz="1050">
              <a:solidFill>
                <a:schemeClr val="dk1"/>
              </a:solidFill>
              <a:latin typeface="Lato"/>
              <a:ea typeface="Lato"/>
              <a:cs typeface="Lato"/>
            </a:endParaRPr>
          </a:p>
        </p:txBody>
      </p:sp>
      <p:sp>
        <p:nvSpPr>
          <p:cNvPr id="49" name="Resolution">
            <a:extLst xmlns:a="http://schemas.openxmlformats.org/drawingml/2006/main">
              <a:ext uri="{FF2B5EF4-FFF2-40B4-BE49-F238E27FC236}">
                <a16:creationId xmlns:a16="http://schemas.microsoft.com/office/drawing/2014/main" id="{36518D2A-834F-FA12-49E1-ECE1CE59DFA9}"/>
              </a:ext>
            </a:extLst>
          </p:cNvPr>
          <p:cNvSpPr>
            <a:spLocks xmlns:a="http://schemas.openxmlformats.org/drawingml/2006/main" noGrp="1"/>
          </p:cNvSpPr>
          <p:nvPr/>
        </p:nvSpPr>
        <p:spPr>
          <a:xfrm xmlns:a="http://schemas.openxmlformats.org/drawingml/2006/main">
            <a:off x="9512300" y="5422899"/>
            <a:ext cx="1600200" cy="571500"/>
          </a:xfrm>
          <a:prstGeom xmlns:a="http://schemas.openxmlformats.org/drawingml/2006/main" prst="rect">
            <a:avLst/>
          </a:prstGeom>
          <a:noFill xmlns:a="http://schemas.openxmlformats.org/drawingml/2006/main"/>
        </p:spPr>
        <p:txBody>
          <a:bodyPr xmlns:a="http://schemas.openxmlformats.org/drawingml/2006/main" vert="horz" wrap="square" lIns="0" tIns="0" rIns="0" bIns="0">
            <a:noAutofit/>
          </a:bodyPr>
          <a:lstStyle xmlns:a="http://schemas.openxmlformats.org/drawingml/2006/main"/>
          <a:p xmlns:a="http://schemas.openxmlformats.org/drawingml/2006/main">
            <a:pPr>
              <a:spcAft>
                <a:spcPts val="500"/>
              </a:spcAft>
              <a:buNone/>
            </a:pPr>
            <a:r>
              <a:rPr sz="1050" b="1">
                <a:solidFill>
                  <a:schemeClr val="accent1"/>
                </a:solidFill>
                <a:latin typeface="Lato"/>
                <a:ea typeface="Lato"/>
                <a:cs typeface="Lato"/>
              </a:rPr>
              <a:t>Resolution</a:t>
            </a:r>
          </a:p>
          <a:p xmlns:a="http://schemas.openxmlformats.org/drawingml/2006/main">
            <a:pPr>
              <a:spcAft>
                <a:spcPts val="200"/>
              </a:spcAft>
              <a:buNone/>
            </a:pPr>
            <a:r>
              <a:rPr sz="1050">
                <a:solidFill>
                  <a:schemeClr val="dk1"/>
                </a:solidFill>
                <a:latin typeface="Lato"/>
                <a:ea typeface="Lato"/>
                <a:cs typeface="Lato"/>
              </a:rPr>
              <a:t>Vopak share at each site</a:t>
            </a:r>
          </a:p>
          <a:p xmlns:a="http://schemas.openxmlformats.org/drawingml/2006/main">
            <a:pPr>
              <a:spcAft>
                <a:spcPts val="200"/>
              </a:spcAft>
              <a:buNone/>
            </a:pPr>
            <a:r>
              <a:rPr sz="1050">
                <a:solidFill>
                  <a:schemeClr val="dk1"/>
                </a:solidFill>
                <a:latin typeface="Lato"/>
                <a:ea typeface="Lato"/>
                <a:cs typeface="Lato"/>
              </a:rPr>
              <a:t>Scope for new investment</a:t>
            </a:r>
            <a:endParaRPr sz="1050">
              <a:solidFill>
                <a:schemeClr val="dk1"/>
              </a:solidFill>
              <a:latin typeface="Lato"/>
              <a:ea typeface="Lato"/>
              <a:cs typeface="Lato"/>
            </a:endParaRPr>
          </a:p>
        </p:txBody>
      </p:sp>
      <p:cxnSp>
        <p:nvCxnSpPr>
          <p:cNvPr id="100" name="Capture to capacity"/>
          <p:cNvCxnSpPr/>
          <p:nvPr/>
        </p:nvCxnSpPr>
        <p:spPr>
          <a:xfrm xmlns:a="http://schemas.openxmlformats.org/drawingml/2006/main">
            <a:off x="2844800" y="5664200"/>
            <a:ext cx="393700" cy="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01" name="Capacity to returns"/>
          <p:cNvCxnSpPr/>
          <p:nvPr/>
        </p:nvCxnSpPr>
        <p:spPr>
          <a:xfrm xmlns:a="http://schemas.openxmlformats.org/drawingml/2006/main">
            <a:off x="5956300" y="5664200"/>
            <a:ext cx="393700" cy="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02" name="Returns to resolution"/>
          <p:cNvCxnSpPr/>
          <p:nvPr/>
        </p:nvCxnSpPr>
        <p:spPr>
          <a:xfrm xmlns:a="http://schemas.openxmlformats.org/drawingml/2006/main">
            <a:off x="8991600" y="5664200"/>
            <a:ext cx="419100" cy="0"/>
          </a:xfrm>
          <a:prstGeom xmlns:a="http://schemas.openxmlformats.org/drawingml/2006/main" prst="straightConnector1">
            <a:avLst/>
          </a:prstGeom>
          <a:ln xmlns:a="http://schemas.openxmlformats.org/drawingml/2006/main" w="12700">
            <a:solidFill>
              <a:schemeClr val="accent1"/>
            </a:solidFill>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Tree>
    <p:extLst>
      <p:ext uri="{BB962C8B-B14F-4D97-AF65-F5344CB8AC3E}">
        <p14:creationId xmlns:p14="http://schemas.microsoft.com/office/powerpoint/2010/main" val="201926275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1AB70F7-EA84-41CE-8779-4E94F733F7D5}"/>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Choose the investment that removes the proven constraint—and earns a return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BA9F673-7E36-486B-888F-F173A676DAF7}"/>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17</a:t>
            </a:r>
            <a:endParaRPr sz="1100"/>
          </a:p>
        </p:txBody>
      </p:sp>
      <p:sp>
        <p:nvSpPr>
          <p:cNvPr id="8" name="Unified source footer">
            <a:extLst xmlns:a="http://schemas.openxmlformats.org/drawingml/2006/main">
              <a:ext uri="{FF2B5EF4-FFF2-40B4-BE49-F238E27FC236}">
                <a16:creationId xmlns:a16="http://schemas.microsoft.com/office/drawing/2014/main" id="{B38C5981-D465-4814-BAFC-66EFA73B962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p39; these do not constitute engineered rail or EV project estimates.</a:t>
            </a:r>
            <a:endParaRPr sz="650"/>
          </a:p>
        </p:txBody>
      </p:sp>
      <p:graphicFrame>
        <p:nvGraphicFramePr>
          <p:cNvPr id="57"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Investment option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When it becomes relevant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Decision / commitment trigger</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Existing assets /
debottlenecking</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Customer growth can be served through better tank turns, scheduling or receipt/dispatch.</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Use available working capacity; invest in the specific bottleneck where incremental value is positive.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Corridor / rail
access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Competitive customer flows are constrained by transport capacity, cost or reliability.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Secure service and volume commitments. Compare access contracts, loading assets and partnership investment.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Additional
tank capacity</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Profitable captured flows exceed achievable handling and storage remains the binding constraint.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Size and stage tanks against contracted demand; pass the four tests and downside cases.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EV-related
adjacencies</a:t>
                      </a:r>
                      <a:endParaRPr sz="13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Identified charging / fleet-energy customers offer a viable opportunity as transport electrifies.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Screen partnerships or dedicated assets separately: demand, power access, strategic fit and return must be proven.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772614B6-00E7-4ECB-95F7-491F5148017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3DA1376E-FCD2-DCED-F061-B9CFE8F82385}"/>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7BFD4F5A-91C7-92BA-98A8-8215D1569241}"/>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19EF2103-D9E3-FD8D-01B5-EED567E5342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146B9E65-3287-B65C-5CE7-33C886334ACF}"/>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lt1"/>
                </a:solidFill>
                <a:latin typeface="Lato"/>
                <a:ea typeface="Lato"/>
                <a:cs typeface="Lato"/>
              </a:rPr>
              <a:t>Resolution</a:t>
            </a:r>
          </a:p>
        </p:txBody>
      </p:sp>
      <p:pic>
        <p:nvPicPr>
          <p:cNvPr id="63" name="Argument icon turnover"/>
          <p:cNvPicPr>
            <a:picLocks xmlns:a="http://schemas.openxmlformats.org/drawingml/2006/main" noChangeAspect="1"/>
          </p:cNvPicPr>
          <p:nvPr/>
        </p:nvPicPr>
        <p:blipFill>
          <a:blip xmlns:r="http://schemas.openxmlformats.org/officeDocument/2006/relationships" xmlns:a="http://schemas.openxmlformats.org/drawingml/2006/main" r:embed="Rd049208c7b9446aa"/>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4"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813de1c2ee284658"/>
          <a:stretch xmlns:a="http://schemas.openxmlformats.org/drawingml/2006/main">
            <a:fillRect l="0" t="0" r="0" b="0"/>
          </a:stretch>
        </p:blipFill>
        <p:spPr>
          <a:xfrm xmlns:a="http://schemas.openxmlformats.org/drawingml/2006/main">
            <a:off x="508000" y="3143250"/>
            <a:ext cx="317500" cy="317500"/>
          </a:xfrm>
          <a:prstGeom xmlns:a="http://schemas.openxmlformats.org/drawingml/2006/main" prst="rect">
            <a:avLst/>
          </a:prstGeom>
        </p:spPr>
      </p:pic>
      <p:pic>
        <p:nvPicPr>
          <p:cNvPr id="65" name="Argument icon headroom"/>
          <p:cNvPicPr>
            <a:picLocks xmlns:a="http://schemas.openxmlformats.org/drawingml/2006/main" noChangeAspect="1"/>
          </p:cNvPicPr>
          <p:nvPr/>
        </p:nvPicPr>
        <p:blipFill>
          <a:blip xmlns:r="http://schemas.openxmlformats.org/officeDocument/2006/relationships" xmlns:a="http://schemas.openxmlformats.org/drawingml/2006/main" r:embed="Re9d4b0a71b5e4912"/>
          <a:stretch xmlns:a="http://schemas.openxmlformats.org/drawingml/2006/main">
            <a:fillRect l="0" t="0" r="0" b="0"/>
          </a:stretch>
        </p:blipFill>
        <p:spPr>
          <a:xfrm xmlns:a="http://schemas.openxmlformats.org/drawingml/2006/main">
            <a:off x="508000" y="4165600"/>
            <a:ext cx="317500" cy="317500"/>
          </a:xfrm>
          <a:prstGeom xmlns:a="http://schemas.openxmlformats.org/drawingml/2006/main" prst="rect">
            <a:avLst/>
          </a:prstGeom>
        </p:spPr>
      </p:pic>
      <p:pic>
        <p:nvPicPr>
          <p:cNvPr id="66" name="Argument icon power"/>
          <p:cNvPicPr>
            <a:picLocks xmlns:a="http://schemas.openxmlformats.org/drawingml/2006/main" noChangeAspect="1"/>
          </p:cNvPicPr>
          <p:nvPr/>
        </p:nvPicPr>
        <p:blipFill>
          <a:blip xmlns:r="http://schemas.openxmlformats.org/officeDocument/2006/relationships" xmlns:a="http://schemas.openxmlformats.org/drawingml/2006/main" r:embed="R1d7f443abad74569"/>
          <a:stretch xmlns:a="http://schemas.openxmlformats.org/drawingml/2006/main">
            <a:fillRect l="0" t="0" r="0" b="0"/>
          </a:stretch>
        </p:blipFill>
        <p:spPr>
          <a:xfrm xmlns:a="http://schemas.openxmlformats.org/drawingml/2006/main">
            <a:off x="508000" y="5187950"/>
            <a:ext cx="317500" cy="317500"/>
          </a:xfrm>
          <a:prstGeom xmlns:a="http://schemas.openxmlformats.org/drawingml/2006/main" prst="rect">
            <a:avLst/>
          </a:prstGeom>
        </p:spPr>
      </p:pic>
    </p:spTree>
    <p:extLst>
      <p:ext uri="{BB962C8B-B14F-4D97-AF65-F5344CB8AC3E}">
        <p14:creationId xmlns:p14="http://schemas.microsoft.com/office/powerpoint/2010/main" val="63132089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8A7A13-C275-4575-AE2B-934674DE7786}"/>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Resolve customer volume, working capacity and project economics first to determine the investment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3E144A1-5920-4F1F-9A2F-F2AA3F363D5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18</a:t>
            </a:r>
            <a:endParaRPr sz="1100"/>
          </a:p>
        </p:txBody>
      </p:sp>
      <p:sp>
        <p:nvSpPr>
          <p:cNvPr id="8" name="Unified source footer">
            <a:extLst xmlns:a="http://schemas.openxmlformats.org/drawingml/2006/main">
              <a:ext uri="{FF2B5EF4-FFF2-40B4-BE49-F238E27FC236}">
                <a16:creationId xmlns:a16="http://schemas.microsoft.com/office/drawing/2014/main" id="{CF4D009C-8B12-404C-9C45-D356B246EAC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Public handback DR01/04/07/08 received and updated through 9 October. Client DR02/05/03/06 prepared; sending and receipt not recorded. Review workbook covers all nine requests, including separate DR09 EV adjacency.</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400050">
                <a:tc>
                  <a:txBody>
                    <a:bodyPr/>
                    <a:lstStyle/>
                    <a:p>
                      <a:pPr>
                        <a:spcAft>
                          <a:spcPts val="0"/>
                        </a:spcAft>
                        <a:buNone/>
                      </a:pPr>
                      <a:r>
                        <a:rPr sz="1200" b="1" u="none">
                          <a:solidFill>
                            <a:schemeClr val="dk1"/>
                          </a:solidFill>
                          <a:latin typeface="Lato"/>
                          <a:ea typeface="Lato"/>
                          <a:cs typeface="Lato"/>
                        </a:rPr>
                        <a:t>Outstanding request / coordinator</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Required data / handback</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Decision supported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DR01 | Manish; Nigel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sales, customs and energy balance to 2021. Open: stocks, product output after 2021 and comparable 2024–25 sales.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Reconciled current market scale.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DR04 | Manish; Nigel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entry, tariff and FY2025 MPP evidence. Open: customer access, route quotes and modal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Accessible Durban and Lesedi markets.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DR07/08 | Manish; Nigel/Henry review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Received: power, fleet, refinery and EV/efficiency review. Open: joint baseline and hybrid/rail rules.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Demand and domestic-output paths.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DR02/05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36 months of site/product movements, shared transfers, destinations, customer commitments and contracts.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Actual market share and achievable capture.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DR03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Working/committed tankage, turns, occupancy, downtime and receipt/dispatch limits.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Operating headroom and bottlenecks.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28650">
                <a:tc>
                  <a:txBody>
                    <a:bodyPr/>
                    <a:lstStyle/>
                    <a:p>
                      <a:pPr>
                        <a:spcAft>
                          <a:spcPts val="0"/>
                        </a:spcAft>
                        <a:buNone/>
                      </a:pPr>
                      <a:r>
                        <a:rPr sz="1200" b="1" u="none">
                          <a:solidFill>
                            <a:schemeClr val="dk1"/>
                          </a:solidFill>
                          <a:latin typeface="Lato"/>
                          <a:ea typeface="Lato"/>
                          <a:cs typeface="Lato"/>
                        </a:rPr>
                        <a:t>DR06 | Nigel coordinates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Storage/handling terms, costs, capex, timing, tax, working capital and hurdle rate.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Incremental returns and investment scope.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273D8B24-C4C6-46FE-A9C3-B70C70F94B76}"/>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3DA1376E-FCD2-DCED-F061-B9CFE8F82385}"/>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Executive summary</a:t>
            </a:r>
          </a:p>
        </p:txBody>
      </p:sp>
      <p:sp>
        <p:nvSpPr>
          <p:cNvPr id="10" name="SCR 2">
            <a:extLst xmlns:a="http://schemas.openxmlformats.org/drawingml/2006/main">
              <a:ext uri="{FF2B5EF4-FFF2-40B4-BE49-F238E27FC236}">
                <a16:creationId xmlns:a16="http://schemas.microsoft.com/office/drawing/2014/main" id="{7BFD4F5A-91C7-92BA-98A8-8215D1569241}"/>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Situation</a:t>
            </a:r>
          </a:p>
        </p:txBody>
      </p:sp>
      <p:sp>
        <p:nvSpPr>
          <p:cNvPr id="11" name="SCR 3">
            <a:extLst xmlns:a="http://schemas.openxmlformats.org/drawingml/2006/main">
              <a:ext uri="{FF2B5EF4-FFF2-40B4-BE49-F238E27FC236}">
                <a16:creationId xmlns:a16="http://schemas.microsoft.com/office/drawing/2014/main" id="{19EF2103-D9E3-FD8D-01B5-EED567E5342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Complication</a:t>
            </a:r>
          </a:p>
        </p:txBody>
      </p:sp>
      <p:sp>
        <p:nvSpPr>
          <p:cNvPr id="12" name="SCR 4">
            <a:extLst xmlns:a="http://schemas.openxmlformats.org/drawingml/2006/main">
              <a:ext uri="{FF2B5EF4-FFF2-40B4-BE49-F238E27FC236}">
                <a16:creationId xmlns:a16="http://schemas.microsoft.com/office/drawing/2014/main" id="{146B9E65-3287-B65C-5CE7-33C886334ACF}"/>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accent1"/>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latin typeface="Lato"/>
                <a:ea typeface="Lato"/>
                <a:cs typeface="Lato"/>
              </a:rPr>
              <a:t>Resolution</a:t>
            </a:r>
          </a:p>
        </p:txBody>
      </p:sp>
    </p:spTree>
    <p:extLst>
      <p:ext uri="{BB962C8B-B14F-4D97-AF65-F5344CB8AC3E}">
        <p14:creationId xmlns:p14="http://schemas.microsoft.com/office/powerpoint/2010/main" val="333178180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C39D6BC-9A58-46C9-81C2-2895E5D1C1E4}"/>
              </a:ext>
            </a:extLst>
          </p:cNvPr>
          <p:cNvSpPr>
            <a:spLocks xmlns:a="http://schemas.openxmlformats.org/drawingml/2006/main" noGrp="1"/>
          </p:cNvSpPr>
          <p:nvPr/>
        </p:nvSpPr>
        <p:spPr>
          <a:xfrm xmlns:a="http://schemas.openxmlformats.org/drawingml/2006/main">
            <a:off x="0" y="0"/>
            <a:ext cx="11588750" cy="6858000"/>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defRPr>
                <a:solidFill>
                  <a:srgbClr val="FFFFFF"/>
                </a:solidFill>
              </a:defRPr>
            </a:pPr>
            <a:endParaRPr/>
          </a:p>
        </p:txBody>
      </p:sp>
      <p:pic>
        <p:nvPicPr>
          <p:cNvPr id="17" name="Picture 2"/>
          <p:cNvPicPr>
            <a:picLocks xmlns:a="http://schemas.openxmlformats.org/drawingml/2006/main" noChangeAspect="1"/>
          </p:cNvPicPr>
          <p:nvPr/>
        </p:nvPicPr>
        <p:blipFill>
          <a:blip xmlns:r="http://schemas.openxmlformats.org/officeDocument/2006/relationships" xmlns:a="http://schemas.openxmlformats.org/drawingml/2006/main" r:embed="Ra6e097a9b99c4c08"/>
          <a:srcRect xmlns:a="http://schemas.openxmlformats.org/drawingml/2006/main" l="21836" t="0" r="21836" b="0"/>
          <a:stretch xmlns:a="http://schemas.openxmlformats.org/drawingml/2006/main">
            <a:fillRect l="0" t="0" r="0" b="0"/>
          </a:stretch>
        </p:blipFill>
        <p:spPr>
          <a:xfrm xmlns:a="http://schemas.openxmlformats.org/drawingml/2006/main">
            <a:off x="5794375" y="0"/>
            <a:ext cx="5794375" cy="6858000"/>
          </a:xfrm>
          <a:prstGeom xmlns:a="http://schemas.openxmlformats.org/drawingml/2006/main" prst="rect">
            <a:avLst/>
          </a:prstGeom>
        </p:spPr>
      </p:pic>
      <p:pic>
        <p:nvPicPr>
          <p:cNvPr id="18" name="Picture 3"/>
          <p:cNvPicPr>
            <a:picLocks xmlns:a="http://schemas.openxmlformats.org/drawingml/2006/main" noChangeAspect="1"/>
          </p:cNvPicPr>
          <p:nvPr/>
        </p:nvPicPr>
        <p:blipFill>
          <a:blip xmlns:r="http://schemas.openxmlformats.org/officeDocument/2006/relationships" xmlns:a="http://schemas.openxmlformats.org/drawingml/2006/main" r:embed="R7b2357a06d8346ed"/>
          <a:srcRect xmlns:a="http://schemas.openxmlformats.org/drawingml/2006/main" l="0" t="0" r="0" b="0"/>
          <a:stretch xmlns:a="http://schemas.openxmlformats.org/drawingml/2006/main">
            <a:fillRect l="0" t="0" r="0" b="0"/>
          </a:stretch>
        </p:blipFill>
        <p:spPr>
          <a:xfrm xmlns:a="http://schemas.openxmlformats.org/drawingml/2006/main">
            <a:off x="502920" y="457200"/>
            <a:ext cx="1965960" cy="438614"/>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11CCE102-5E72-4ADA-A662-058DB7D9B820}"/>
              </a:ext>
            </a:extLst>
          </p:cNvPr>
          <p:cNvSpPr>
            <a:spLocks xmlns:a="http://schemas.openxmlformats.org/drawingml/2006/main" noGrp="1"/>
          </p:cNvSpPr>
          <p:nvPr/>
        </p:nvSpPr>
        <p:spPr>
          <a:xfrm xmlns:a="http://schemas.openxmlformats.org/drawingml/2006/main">
            <a:off x="594360" y="2468880"/>
            <a:ext cx="4709160" cy="47705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3100" b="0">
                <a:solidFill>
                  <a:srgbClr val="FFFFFF"/>
                </a:solidFill>
                <a:latin typeface="Lato"/>
                <a:ea typeface="Lato"/>
                <a:cs typeface="Lato"/>
              </a:defRPr>
            </a:pPr>
            <a:r>
              <a:rPr>
                <a:solidFill>
                  <a:srgbClr val="FFFFFF"/>
                </a:solidFill>
              </a:rPr>
              <a:t>Appendix</a:t>
            </a:r>
            <a:endParaRPr>
              <a:solidFill>
                <a:srgbClr val="FFFFFF"/>
              </a:solidFill>
            </a:endParaRPr>
          </a:p>
        </p:txBody>
      </p:sp>
      <p:sp>
        <p:nvSpPr>
          <p:cNvPr id="6" name="Connector 5">
            <a:extLst xmlns:a="http://schemas.openxmlformats.org/drawingml/2006/main">
              <a:ext uri="{FF2B5EF4-FFF2-40B4-BE49-F238E27FC236}">
                <a16:creationId xmlns:a16="http://schemas.microsoft.com/office/drawing/2014/main" id="{3870E250-7F10-4F6F-AA37-E1E95E308EE2}"/>
              </a:ext>
            </a:extLst>
          </p:cNvPr>
          <p:cNvSpPr>
            <a:spLocks xmlns:a="http://schemas.openxmlformats.org/drawingml/2006/main" noGrp="1"/>
          </p:cNvSpPr>
          <p:nvPr/>
        </p:nvSpPr>
        <p:spPr>
          <a:xfrm xmlns:a="http://schemas.openxmlformats.org/drawingml/2006/main">
            <a:off x="594360" y="4251960"/>
            <a:ext cx="4617720" cy="0"/>
          </a:xfrm>
          <a:prstGeom xmlns:a="http://schemas.openxmlformats.org/drawingml/2006/main" prst="line">
            <a:avLst/>
          </a:prstGeom>
          <a:ln xmlns:a="http://schemas.openxmlformats.org/drawingml/2006/main" w="7620">
            <a:solidFill>
              <a:srgbClr val="FFFFF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8CD92FC-E601-4D87-85EA-5D969A169D0D}"/>
              </a:ext>
            </a:extLst>
          </p:cNvPr>
          <p:cNvSpPr>
            <a:spLocks xmlns:a="http://schemas.openxmlformats.org/drawingml/2006/main" noGrp="1"/>
          </p:cNvSpPr>
          <p:nvPr/>
        </p:nvSpPr>
        <p:spPr>
          <a:xfrm xmlns:a="http://schemas.openxmlformats.org/drawingml/2006/main">
            <a:off x="594360" y="4617720"/>
            <a:ext cx="4572000" cy="26161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2100" b="0">
                <a:solidFill>
                  <a:srgbClr val="FFFFFF"/>
                </a:solidFill>
                <a:latin typeface="Lato"/>
                <a:ea typeface="Lato"/>
                <a:cs typeface="Lato"/>
              </a:defRPr>
            </a:pPr>
            <a:r>
              <a:rPr sz="1700">
                <a:solidFill>
                  <a:srgbClr val="FFFFFF"/>
                </a:solidFill>
              </a:rPr>
              <a:t>Supporting evidence and calibration</a:t>
            </a:r>
            <a:endParaRPr sz="1700">
              <a:solidFill>
                <a:srgbClr val="FFFFFF"/>
              </a:solidFill>
            </a:endParaRPr>
          </a:p>
        </p:txBody>
      </p:sp>
      <p:sp>
        <p:nvSpPr>
          <p:cNvPr id="8" name="TextBox 7">
            <a:extLst xmlns:a="http://schemas.openxmlformats.org/drawingml/2006/main">
              <a:ext uri="{FF2B5EF4-FFF2-40B4-BE49-F238E27FC236}">
                <a16:creationId xmlns:a16="http://schemas.microsoft.com/office/drawing/2014/main" id="{8064CCA5-B6D0-47B2-81A2-7276544851CC}"/>
              </a:ext>
            </a:extLst>
          </p:cNvPr>
          <p:cNvSpPr>
            <a:spLocks xmlns:a="http://schemas.openxmlformats.org/drawingml/2006/main" noGrp="1"/>
          </p:cNvSpPr>
          <p:nvPr/>
        </p:nvSpPr>
        <p:spPr>
          <a:xfrm xmlns:a="http://schemas.openxmlformats.org/drawingml/2006/main">
            <a:off x="594360" y="52395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Durban–Lesedi corridor into Gauteng</a:t>
            </a:r>
            <a:endParaRPr>
              <a:solidFill>
                <a:srgbClr val="FFFFFF"/>
              </a:solidFill>
            </a:endParaRPr>
          </a:p>
        </p:txBody>
      </p:sp>
      <p:sp>
        <p:nvSpPr>
          <p:cNvPr id="9" name="TextBox 8">
            <a:extLst xmlns:a="http://schemas.openxmlformats.org/drawingml/2006/main">
              <a:ext uri="{FF2B5EF4-FFF2-40B4-BE49-F238E27FC236}">
                <a16:creationId xmlns:a16="http://schemas.microsoft.com/office/drawing/2014/main" id="{479C54E4-8D1C-48B7-BC1D-500B9C3E2D2C}"/>
              </a:ext>
            </a:extLst>
          </p:cNvPr>
          <p:cNvSpPr>
            <a:spLocks xmlns:a="http://schemas.openxmlformats.org/drawingml/2006/main" noGrp="1"/>
          </p:cNvSpPr>
          <p:nvPr/>
        </p:nvSpPr>
        <p:spPr>
          <a:xfrm xmlns:a="http://schemas.openxmlformats.org/drawingml/2006/main">
            <a:off x="594360" y="5696712"/>
            <a:ext cx="4572000" cy="200055"/>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300" b="0">
                <a:solidFill>
                  <a:srgbClr val="FFFFFF"/>
                </a:solidFill>
                <a:latin typeface="Lato"/>
                <a:ea typeface="Lato"/>
                <a:cs typeface="Lato"/>
              </a:defRPr>
            </a:pPr>
            <a:r>
              <a:rPr>
                <a:solidFill>
                  <a:srgbClr val="FFFFFF"/>
                </a:solidFill>
              </a:rPr>
              <a:t>10 October 2026</a:t>
            </a:r>
            <a:endParaRPr>
              <a:solidFill>
                <a:srgbClr val="FFFFFF"/>
              </a:solidFill>
            </a:endParaRPr>
          </a:p>
        </p:txBody>
      </p:sp>
      <p:sp>
        <p:nvSpPr>
          <p:cNvPr id="10" name="TextBox 9">
            <a:extLst xmlns:a="http://schemas.openxmlformats.org/drawingml/2006/main">
              <a:ext uri="{FF2B5EF4-FFF2-40B4-BE49-F238E27FC236}">
                <a16:creationId xmlns:a16="http://schemas.microsoft.com/office/drawing/2014/main" id="{9357DF05-46F3-4275-9A6C-5F6E4748BDE4}"/>
              </a:ext>
            </a:extLst>
          </p:cNvPr>
          <p:cNvSpPr>
            <a:spLocks xmlns:a="http://schemas.openxmlformats.org/drawingml/2006/main" noGrp="1"/>
          </p:cNvSpPr>
          <p:nvPr/>
        </p:nvSpPr>
        <p:spPr>
          <a:xfrm xmlns:a="http://schemas.openxmlformats.org/drawingml/2006/main">
            <a:off x="594360" y="6053328"/>
            <a:ext cx="4572000" cy="3693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spcAft>
                <a:spcPts val="800"/>
              </a:spcAft>
              <a:buNone/>
              <a:defRPr sz="1200" b="0">
                <a:solidFill>
                  <a:srgbClr val="FFFFFF"/>
                </a:solidFill>
                <a:latin typeface="Lato"/>
                <a:ea typeface="Lato"/>
                <a:cs typeface="Lato"/>
              </a:defRPr>
            </a:pPr>
            <a:r>
              <a:rPr sz="1200">
                <a:solidFill>
                  <a:srgbClr val="FFFFFF"/>
                </a:solidFill>
              </a:rPr>
              <a:t>Detailed evidence, assumptions and remaining calibration requirements</a:t>
            </a:r>
            <a:endParaRPr sz="1200">
              <a:solidFill>
                <a:srgbClr val="FFFFFF"/>
              </a:solidFill>
            </a:endParaRPr>
          </a:p>
        </p:txBody>
      </p:sp>
      <p:sp>
        <p:nvSpPr>
          <p:cNvPr id="11" name="Photo source credit">
            <a:extLst xmlns:a="http://schemas.openxmlformats.org/drawingml/2006/main">
              <a:ext uri="{FF2B5EF4-FFF2-40B4-BE49-F238E27FC236}">
                <a16:creationId xmlns:a16="http://schemas.microsoft.com/office/drawing/2014/main" id="{D4E55EE2-7F7C-4486-8391-FAEFE3FFC3FC}"/>
              </a:ext>
            </a:extLst>
          </p:cNvPr>
          <p:cNvSpPr>
            <a:spLocks xmlns:a="http://schemas.openxmlformats.org/drawingml/2006/main" noGrp="1"/>
          </p:cNvSpPr>
          <p:nvPr/>
        </p:nvSpPr>
        <p:spPr>
          <a:xfrm xmlns:a="http://schemas.openxmlformats.org/drawingml/2006/main">
            <a:off x="594360" y="6400800"/>
            <a:ext cx="4754880" cy="1645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800"/>
              </a:spcAft>
              <a:buNone/>
              <a:defRPr sz="800" b="0">
                <a:solidFill>
                  <a:srgbClr val="FFFFFF"/>
                </a:solidFill>
                <a:latin typeface="Lato"/>
                <a:ea typeface="Lato"/>
                <a:cs typeface="Lato"/>
              </a:defRPr>
            </a:pPr>
            <a:r>
              <a:rPr>
                <a:solidFill>
                  <a:srgbClr val="FFFFFF"/>
                </a:solidFill>
              </a:rPr>
              <a:t>Photo source: Royal Vopak | Terminal Durban | vopak.com</a:t>
            </a:r>
          </a:p>
        </p:txBody>
      </p:sp>
      <p:sp>
        <p:nvSpPr>
          <p:cNvPr id="12" name="Strictly Confidential footer">
            <a:extLst xmlns:a="http://schemas.openxmlformats.org/drawingml/2006/main">
              <a:ext uri="{FF2B5EF4-FFF2-40B4-BE49-F238E27FC236}">
                <a16:creationId xmlns:a16="http://schemas.microsoft.com/office/drawing/2014/main" id="{9F5A648E-331C-441B-986D-01157676656C}"/>
              </a:ext>
            </a:extLst>
          </p:cNvPr>
          <p:cNvSpPr>
            <a:spLocks xmlns:a="http://schemas.openxmlformats.org/drawingml/2006/main" noGrp="1"/>
          </p:cNvSpPr>
          <p:nvPr/>
        </p:nvSpPr>
        <p:spPr>
          <a:xfrm xmlns:a="http://schemas.openxmlformats.org/drawingml/2006/main">
            <a:off x="59436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BDBEC1"/>
                </a:solidFill>
                <a:latin typeface="Lato"/>
                <a:ea typeface="Lato"/>
                <a:cs typeface="Lato"/>
              </a:defRPr>
            </a:pPr>
            <a:r>
              <a:t>Strictly Confidential</a:t>
            </a:r>
          </a:p>
        </p:txBody>
      </p:sp>
      <p:sp>
        <p:nvSpPr>
          <p:cNvPr id="13" name="Appendix page number">
            <a:extLst xmlns:a="http://schemas.openxmlformats.org/drawingml/2006/main">
              <a:ext uri="{FF2B5EF4-FFF2-40B4-BE49-F238E27FC236}">
                <a16:creationId xmlns:a16="http://schemas.microsoft.com/office/drawing/2014/main" id="{0522BF82-0323-6187-CAC1-CB8F852202A2}"/>
              </a:ext>
            </a:extLst>
          </p:cNvPr>
          <p:cNvSpPr>
            <a:spLocks xmlns:a="http://schemas.openxmlformats.org/drawingml/2006/main" noGrp="1"/>
          </p:cNvSpPr>
          <p:nvPr/>
        </p:nvSpPr>
        <p:spPr>
          <a:xfrm xmlns:a="http://schemas.openxmlformats.org/drawingml/2006/main">
            <a:off x="10972800" y="6515100"/>
            <a:ext cx="355600" cy="261610"/>
          </a:xfrm>
          <a:prstGeom xmlns:a="http://schemas.openxmlformats.org/drawingml/2006/main" prst="rect">
            <a:avLst/>
          </a:prstGeom>
          <a:noFill xmlns:a="http://schemas.openxmlformats.org/drawingml/2006/main"/>
        </p:spPr>
        <p:txBody>
          <a:bodyPr xmlns:a="http://schemas.openxmlformats.org/drawingml/2006/main" vert="horz">
            <a:spAutoFit/>
          </a:bodyPr>
          <a:lstStyle xmlns:a="http://schemas.openxmlformats.org/drawingml/2006/main"/>
          <a:p xmlns:a="http://schemas.openxmlformats.org/drawingml/2006/main">
            <a:r>
              <a:rPr sz="1100">
                <a:latin typeface="Lato"/>
                <a:ea typeface="Lato"/>
                <a:cs typeface="Lato"/>
              </a:rPr>
              <a:t>19</a:t>
            </a:r>
          </a:p>
        </p:txBody>
      </p:sp>
    </p:spTree>
    <p:extLst>
      <p:ext uri="{BB962C8B-B14F-4D97-AF65-F5344CB8AC3E}">
        <p14:creationId xmlns:p14="http://schemas.microsoft.com/office/powerpoint/2010/main" val="121299002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3713D9-CCEB-4366-A32B-E0FE2E5D9CF4}"/>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The supporting evidence calibrates demand, supply and the terminal investment tests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8493639C-19D5-4E45-AB5C-411EE4DE3B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20</a:t>
            </a:r>
            <a:endParaRPr sz="1100"/>
          </a:p>
        </p:txBody>
      </p:sp>
      <p:sp>
        <p:nvSpPr>
          <p:cNvPr id="8" name="Unified source footer">
            <a:extLst xmlns:a="http://schemas.openxmlformats.org/drawingml/2006/main">
              <a:ext uri="{FF2B5EF4-FFF2-40B4-BE49-F238E27FC236}">
                <a16:creationId xmlns:a16="http://schemas.microsoft.com/office/drawing/2014/main" id="{19C69D44-84B2-492F-B8E5-0658047C9722}"/>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The main story runs from the opening thesis to the investment tests. The added lever register and power/supply calibration pages record what remains to be populated.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 group</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Detail retained</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Connection to the story</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Demand</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Workbook sector history, vehicle stock/sales, diesel-use estimates, freight and power fleet.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Observed history and labelled estimates inform D1-D5; annual L/M/H paths still require agreement.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Supply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Plant output, gas availability and restart timing</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S1–S4 create the three domestic-supply paths.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Capture and operations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Routes, customer share, working tankage and turnover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T1–T5 translate each world into terminal flows and constraints.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Returns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Rates, costs, capex and funding; separate EV adjacency economics.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F1 translates each investment option into cash flow and returns.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6B7584DD-7BCD-4C07-8789-00DA68B72B3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6E13EAF1-FC5F-41FB-E93B-57A2DCD84E77}"/>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88A9838A-D738-73AB-9AE8-857836BA0A6B}"/>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B767E082-E6F9-7C23-8801-D08A12B7232D}"/>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217FEB5C-B9C9-53B2-9C7A-EBB9627DF92D}"/>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85548518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E8B0A2-A286-4D34-8BFF-7A5EF76F6DBA}"/>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Fuel demand has diverged from GDP, so sector activity and fuel intensity need separate treatment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CE3A5BC-4D8E-4ECC-9BCF-4128CC815B4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21</a:t>
            </a:r>
            <a:endParaRPr sz="1100"/>
          </a:p>
        </p:txBody>
      </p:sp>
      <p:sp>
        <p:nvSpPr>
          <p:cNvPr id="8" name="Unified source footer">
            <a:extLst xmlns:a="http://schemas.openxmlformats.org/drawingml/2006/main">
              <a:ext uri="{FF2B5EF4-FFF2-40B4-BE49-F238E27FC236}">
                <a16:creationId xmlns:a16="http://schemas.microsoft.com/office/drawing/2014/main" id="{3DC9376E-4BC8-4D50-B3C4-F93F79644BD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Staged GDP and department fuel sales, indices 2013=100. Sector attribution remains open; COVID distorts short-period comparisons.</a:t>
            </a:r>
            <a:endParaRPr sz="650"/>
          </a:p>
        </p:txBody>
      </p:sp>
      <p:sp>
        <p:nvSpPr>
          <p:cNvPr id="48" name="Strictly Confidential footer">
            <a:extLst xmlns:a="http://schemas.openxmlformats.org/drawingml/2006/main">
              <a:ext uri="{FF2B5EF4-FFF2-40B4-BE49-F238E27FC236}">
                <a16:creationId xmlns:a16="http://schemas.microsoft.com/office/drawing/2014/main" id="{34492F48-BEFC-4C07-97A4-B78E5FB0EFE0}"/>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1CE59F08-688D-53B8-0BB2-10390494FFA0}"/>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4DBE05E5-74B7-21B3-F7F8-AFF0B7D37FA4}"/>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9694899F-BE8C-94B4-521C-E74C27A91FE8}"/>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307E618B-E5BB-2639-7CFB-D4A90851A5E0}"/>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034a200f32f349cd"/>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CBB5D0FF-C724-A09C-3DDB-AA52E776886C}"/>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The workbook separates mining/manufacturing indices and agricultural GVA from fuel intensity. Post-2021 sector litres are estimates; GDP alone cannot explain fuel demand.</a:t>
            </a:r>
            <a:endParaRPr sz="1050">
              <a:solidFill>
                <a:schemeClr val="dk1"/>
              </a:solidFill>
              <a:latin typeface="Lato"/>
              <a:ea typeface="Lato"/>
              <a:cs typeface="Lato"/>
            </a:endParaRPr>
          </a:p>
        </p:txBody>
      </p:sp>
    </p:spTree>
    <p:extLst>
      <p:ext uri="{BB962C8B-B14F-4D97-AF65-F5344CB8AC3E}">
        <p14:creationId xmlns:p14="http://schemas.microsoft.com/office/powerpoint/2010/main" val="137031875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BA7A89-2B33-4327-85DF-4A2CC8DD396E}"/>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Fixed investment has weakened while FDI fluctuates, limiting a simple growth-led fuel argument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3E51BAAD-99D0-4D27-B4EC-053D5BD15E2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22</a:t>
            </a:r>
            <a:endParaRPr sz="1100"/>
          </a:p>
        </p:txBody>
      </p:sp>
      <p:sp>
        <p:nvSpPr>
          <p:cNvPr id="8" name="Unified source footer">
            <a:extLst xmlns:a="http://schemas.openxmlformats.org/drawingml/2006/main">
              <a:ext uri="{FF2B5EF4-FFF2-40B4-BE49-F238E27FC236}">
                <a16:creationId xmlns:a16="http://schemas.microsoft.com/office/drawing/2014/main" id="{D296D4A1-EDD0-4438-880F-E2EFCD3BA822}"/>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World Bank WDI, FDI net inflows and gross fixed capital formation as % of GDP, 2010–2025. Confidence series remains an evidence gap.</a:t>
            </a:r>
            <a:endParaRPr sz="750"/>
          </a:p>
        </p:txBody>
      </p:sp>
      <p:sp>
        <p:nvSpPr>
          <p:cNvPr id="48" name="Strictly Confidential footer">
            <a:extLst xmlns:a="http://schemas.openxmlformats.org/drawingml/2006/main">
              <a:ext uri="{FF2B5EF4-FFF2-40B4-BE49-F238E27FC236}">
                <a16:creationId xmlns:a16="http://schemas.microsoft.com/office/drawing/2014/main" id="{08DA5E0E-477B-4ACC-A8C8-9FFC44650BD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ED5F67D8-2381-9F85-2B50-C1B65A1FC521}"/>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63771E43-775A-1251-8B2B-6160BEEA177D}"/>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94F82267-D969-3DB1-7EEC-7CD34265A96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4AC079CE-1C94-6427-5D63-FC870D2F4A7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b4d80e1ba4dc4fcd"/>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2D238C5F-E9FA-F924-D01B-7726C7D59700}"/>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Fixed investment helps frame productive capacity. FDI can include large transactions; neither series is a direct investor-confidence measure or an additional fuel-demand multiplier.</a:t>
            </a:r>
            <a:endParaRPr sz="1200">
              <a:solidFill>
                <a:schemeClr val="dk1"/>
              </a:solidFill>
              <a:latin typeface="Lato"/>
              <a:ea typeface="Lato"/>
              <a:cs typeface="Lato"/>
            </a:endParaRPr>
          </a:p>
        </p:txBody>
      </p:sp>
    </p:spTree>
    <p:extLst>
      <p:ext uri="{BB962C8B-B14F-4D97-AF65-F5344CB8AC3E}">
        <p14:creationId xmlns:p14="http://schemas.microsoft.com/office/powerpoint/2010/main" val="275091025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E12F4BA-A417-42FC-A7A9-7E87C6657609}"/>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Mining, agriculture and aviation expose fuel demand to different activity drivers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8F75B90-1BC9-46FC-8BF7-6E62FE188F7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23</a:t>
            </a:r>
            <a:endParaRPr sz="1100"/>
          </a:p>
        </p:txBody>
      </p:sp>
      <p:sp>
        <p:nvSpPr>
          <p:cNvPr id="8" name="Unified source footer">
            <a:extLst xmlns:a="http://schemas.openxmlformats.org/drawingml/2006/main">
              <a:ext uri="{FF2B5EF4-FFF2-40B4-BE49-F238E27FC236}">
                <a16:creationId xmlns:a16="http://schemas.microsoft.com/office/drawing/2014/main" id="{C942CBF2-3C80-44B8-BF98-B0BCCAD3A6E9}"/>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Sector history R7/R9/R17/R19/S23/S25 and History R117/R124/R125. Sector litres after 2021 are estimates; jet 2024 uses unverified FIASA. Index base 2019=100; GVA in 2015 prices.</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Mining</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activity-based diesel estimate: 1.406bn L. Post-2021 fuel volumes are estimated.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Use activity and intensity separately; balance intensity varies materially.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Manufacturing</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industry-residual diesel estimate: 0.165bn L. Sector boundary needs review.</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Industry less mining/construction. This is not a complete industrial diesel census.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Agriculture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real GVA R134.8bn (2015 prices); indicative diesel 1.13bn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Fuel estimate holds 2018-2021 intensity; crop and irrigation exposure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Aviation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2024 jet sales 1.96bn L; 456,214 ACSA movements; 4,285 L/movement.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FIASA sales unverified; movements omit non-ACSA airports. Fuel mix and routes are not separated.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7B509058-07D7-4873-99C3-4CE1EDF4A63D}"/>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CEAB406C-8A26-9685-C8EF-41479C4B736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7F79B7CC-7B34-A87C-3A8A-AB08219123E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7B560B87-272F-A5DF-713D-F8CB88A64FC5}"/>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CEAAEF26-61C9-96DA-98B5-4F89644773D6}"/>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60078980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7C1A94-EC5B-4D42-948E-2731836F100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Higher fuel prices strengthen EV running-cost incentives, but ownership economics determine uptake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0719496-603D-444A-84CD-8D0401968BA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24</a:t>
            </a:r>
            <a:endParaRPr sz="1100"/>
          </a:p>
        </p:txBody>
      </p:sp>
      <p:sp>
        <p:nvSpPr>
          <p:cNvPr id="8" name="Unified source footer">
            <a:extLst xmlns:a="http://schemas.openxmlformats.org/drawingml/2006/main">
              <a:ext uri="{FF2B5EF4-FFF2-40B4-BE49-F238E27FC236}">
                <a16:creationId xmlns:a16="http://schemas.microsoft.com/office/drawing/2014/main" id="{03001EB3-8847-4D13-AF09-D8935AFD40F6}"/>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Department fuel-price history, nominal R/litre. No quantified geopolitical premium or calibrated EV adoption response is asserted.</a:t>
            </a:r>
            <a:endParaRPr sz="750"/>
          </a:p>
        </p:txBody>
      </p:sp>
      <p:sp>
        <p:nvSpPr>
          <p:cNvPr id="48" name="Strictly Confidential footer">
            <a:extLst xmlns:a="http://schemas.openxmlformats.org/drawingml/2006/main">
              <a:ext uri="{FF2B5EF4-FFF2-40B4-BE49-F238E27FC236}">
                <a16:creationId xmlns:a16="http://schemas.microsoft.com/office/drawing/2014/main" id="{FDE1D42B-8B51-4EC4-B69C-4C556D2FBB9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369661E-E492-EE8D-1250-5FA89D7D790A}"/>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6B16049C-D303-BE92-5B4B-6B5BDF377BAA}"/>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A098090B-3095-34C7-4918-9BFA70996277}"/>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3ACF2BFA-537D-ED35-0600-F4E0E1467B5C}"/>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c61fad28eac74ab7"/>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7A02EA4D-EBA7-B1FD-2E26-F896DA08FFD5}"/>
              </a:ext>
            </a:extLst>
          </p:cNvPr>
          <p:cNvSpPr>
            <a:spLocks xmlns:a="http://schemas.openxmlformats.org/drawingml/2006/main" noGrp="1"/>
          </p:cNvSpPr>
          <p:nvPr/>
        </p:nvSpPr>
        <p:spPr>
          <a:xfrm xmlns:a="http://schemas.openxmlformats.org/drawingml/2006/main">
            <a:off x="533400" y="5613400"/>
            <a:ext cx="10477500" cy="369332"/>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1200">
                <a:solidFill>
                  <a:schemeClr val="dk1"/>
                </a:solidFill>
                <a:latin typeface="Lato"/>
                <a:ea typeface="Lato"/>
                <a:cs typeface="Lato"/>
              </a:rPr>
              <a:t>Shipping disruption, crude prices and FX can move fuel costs temporarily. EV adoption depends on sustained total ownership cost, purchase affordability, charging access and fleet replacement.</a:t>
            </a:r>
            <a:endParaRPr sz="1200">
              <a:solidFill>
                <a:schemeClr val="dk1"/>
              </a:solidFill>
              <a:latin typeface="Lato"/>
              <a:ea typeface="Lato"/>
              <a:cs typeface="Lato"/>
            </a:endParaRPr>
          </a:p>
        </p:txBody>
      </p:sp>
    </p:spTree>
    <p:extLst>
      <p:ext uri="{BB962C8B-B14F-4D97-AF65-F5344CB8AC3E}">
        <p14:creationId xmlns:p14="http://schemas.microsoft.com/office/powerpoint/2010/main" val="80832283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63A905C-66EC-4A2A-80AF-539DF8DC82D3}"/>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New-vehicle efficiency gains affect fuel demand gradually as older vehicles leave the fleet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B18E2DA-7226-4325-BDB3-172930229DB2}"/>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25</a:t>
            </a:r>
            <a:endParaRPr sz="1100"/>
          </a:p>
        </p:txBody>
      </p:sp>
      <p:sp>
        <p:nvSpPr>
          <p:cNvPr id="8" name="Unified source footer">
            <a:extLst xmlns:a="http://schemas.openxmlformats.org/drawingml/2006/main">
              <a:ext uri="{FF2B5EF4-FFF2-40B4-BE49-F238E27FC236}">
                <a16:creationId xmlns:a16="http://schemas.microsoft.com/office/drawing/2014/main" id="{7F810AF1-CB99-4711-B709-517B9F73F97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Vehicle history S6:S8/S24/S26. Apparent retirements are not verified scrappage. Stone et al. study uses a 2014 base; no recent OEM efficiency history or fuel-by-class stock is established.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Fleet growth</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cars 8.18m; LCVs 2.78m; trucks 0.405m.</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Registered stock shows scale; fuel within class and opening cohort age remain unknown.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Replacement</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2025 apparent retirement: cars 2.36%, LCVs 3.42%. Model settings: 4% and 5%.</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Stock plus sales less next stock is a diagnostic, including deregistration, exports and classification effects.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363133">
                <a:tc>
                  <a:txBody>
                    <a:bodyPr/>
                    <a:lstStyle/>
                    <a:p>
                      <a:pPr>
                        <a:spcAft>
                          <a:spcPts val="0"/>
                        </a:spcAft>
                        <a:buNone/>
                      </a:pPr>
                      <a:r>
                        <a:rPr sz="1300" b="1" u="none">
                          <a:solidFill>
                            <a:schemeClr val="dk1"/>
                          </a:solidFill>
                          <a:latin typeface="Lato"/>
                          <a:ea typeface="Lato"/>
                          <a:cs typeface="Lato"/>
                        </a:rPr>
                        <a:t>Efficiency / EVs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Study mileage/fuel-use benchmarks and separate BEV, PHEV and hybrid sales are available.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Implemented EV/efficiency pair reviewed. New-cohort efficiency applies to combustion vehicles. Avoid counting hybrid savings twice.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A5609673-E9C0-40F4-A535-9E89A0857358}"/>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1555294B-868D-E689-1EA3-D920195AD42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A6604E9E-363C-866A-E1DA-2C633C001436}"/>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0EEFA624-C3D6-6E6C-5435-4DE101B1CF53}"/>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73CC640F-82D3-258E-C08E-8E6BF8A76CD1}"/>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18968566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ABB612-43C0-4282-B573-24FFA0733EC9}"/>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Vehicle stock and sales expose fuel-demand calibration gaps</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FC151B4F-89BB-4641-84F8-A2811DD10B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26</a:t>
            </a:r>
            <a:endParaRPr sz="1100"/>
          </a:p>
        </p:txBody>
      </p:sp>
      <p:sp>
        <p:nvSpPr>
          <p:cNvPr id="8" name="Unified source footer">
            <a:extLst xmlns:a="http://schemas.openxmlformats.org/drawingml/2006/main">
              <a:ext uri="{FF2B5EF4-FFF2-40B4-BE49-F238E27FC236}">
                <a16:creationId xmlns:a16="http://schemas.microsoft.com/office/drawing/2014/main" id="{B68787E9-80B1-4505-8D3F-F6D980B0114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Vehicle history S6:S8/S18:S20/S24/S26/S31:S36/Q52. NaTIS and naamsa classes are not identical. Apparent retirement is not verified scrappage; petrol diagnostic compares different scopes.</a:t>
            </a:r>
            <a:endParaRPr sz="650"/>
          </a:p>
        </p:txBody>
      </p:sp>
      <p:sp>
        <p:nvSpPr>
          <p:cNvPr id="48" name="Strictly Confidential footer">
            <a:extLst xmlns:a="http://schemas.openxmlformats.org/drawingml/2006/main">
              <a:ext uri="{FF2B5EF4-FFF2-40B4-BE49-F238E27FC236}">
                <a16:creationId xmlns:a16="http://schemas.microsoft.com/office/drawing/2014/main" id="{6C6CB18C-004A-4839-9134-3A6CEBE0E41C}"/>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graphicFrame>
        <p:nvGraphicFramePr>
          <p:cNvPr id="58" name="Native evidence table"/>
          <p:cNvGraphicFramePr/>
          <p:nvPr/>
        </p:nvGraphicFramePr>
        <p:xfrm>
          <a:off xmlns:a="http://schemas.openxmlformats.org/drawingml/2006/main" x="457199" y="1651000"/>
          <a:ext xmlns:a="http://schemas.openxmlformats.org/drawingml/2006/main" cx="10652760" cy="4165600"/>
        </p:xfrm>
        <a:graphic xmlns:a="http://schemas.openxmlformats.org/drawingml/2006/main">
          <a:graphicData uri="http://schemas.openxmlformats.org/drawingml/2006/table">
            <a:tbl>
              <a:tblPr firstRow="1" bandRow="1">
                <a:tableStyleId>{5C22544A-7EE6-4342-B048-85BDC9FD1C3A}</a:tableStyleId>
              </a:tblPr>
              <a:tblGrid>
                <a:gridCol w="1841500"/>
                <a:gridCol w="2984500"/>
                <a:gridCol w="1778000"/>
                <a:gridCol w="4048760"/>
              </a:tblGrid>
              <a:tr h="355600">
                <a:tc>
                  <a:txBody>
                    <a:bodyPr/>
                    <a:lstStyle/>
                    <a:p>
                      <a:pPr>
                        <a:spcAft>
                          <a:spcPts val="0"/>
                        </a:spcAft>
                        <a:buNone/>
                      </a:pPr>
                      <a:r>
                        <a:rPr sz="1200" b="1">
                          <a:solidFill>
                            <a:schemeClr val="dk1"/>
                          </a:solidFill>
                          <a:latin typeface="Lato"/>
                          <a:ea typeface="Lato"/>
                          <a:cs typeface="Lato"/>
                        </a:rPr>
                        <a:t>Calibration item</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Observed evidence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Model / calibration reference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Implication / limitation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762000">
                <a:tc>
                  <a:txBody>
                    <a:bodyPr/>
                    <a:lstStyle/>
                    <a:p>
                      <a:pPr>
                        <a:spcAft>
                          <a:spcPts val="0"/>
                        </a:spcAft>
                        <a:buNone/>
                      </a:pPr>
                      <a:r>
                        <a:rPr sz="1200" b="1">
                          <a:solidFill>
                            <a:schemeClr val="accent1"/>
                          </a:solidFill>
                          <a:latin typeface="Lato"/>
                          <a:ea typeface="Lato"/>
                          <a:cs typeface="Lato"/>
                        </a:rPr>
                        <a:t>2025 registered fleet</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8.18m; LCVs 2.78m; trucks 0.405m.</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Opening cohorts need review.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Age and fuel within class are missing; all-class fuel counts are available only for December 2023.</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New-sales mix,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70.7%; LCVs 24.1%; medium/heavy 5.2%.</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78% / 18% / 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Observed class mix differs. Agree segmentation before adopting a replacement.</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Apparent retirement,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Cars 2.36%; LCVs 3.42%.</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 cars; 5% LCVs.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Derived from stock and new sales; includes classification changes, exports and deregistrations.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New drivetrains,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BEV 1,088; PHEV 2,810; conventional hybrid 12,818.</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BEV observed share 0.18%.</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Fuel/class splits and electric-LCV paths remain estimates. Sales shares do not establish fleet shares or hybrid fuel savings.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762000">
                <a:tc>
                  <a:txBody>
                    <a:bodyPr/>
                    <a:lstStyle/>
                    <a:p>
                      <a:pPr>
                        <a:spcAft>
                          <a:spcPts val="0"/>
                        </a:spcAft>
                        <a:buNone/>
                      </a:pPr>
                      <a:r>
                        <a:rPr sz="1200" b="1">
                          <a:solidFill>
                            <a:schemeClr val="accent1"/>
                          </a:solidFill>
                          <a:latin typeface="Lato"/>
                          <a:ea typeface="Lato"/>
                          <a:cs typeface="Lato"/>
                        </a:rPr>
                        <a:t>Petrol-use diagnostic, 2023</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1,056 L per registered petrol vehicle.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Passenger setting implies 1,615 L/year.</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Aggregate versus passenger scope differs. Investigate mileage and fuel-use calibration, not a direct replacement.</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Tree>
    <p:extLst>
      <p:ext uri="{BB962C8B-B14F-4D97-AF65-F5344CB8AC3E}">
        <p14:creationId xmlns:p14="http://schemas.microsoft.com/office/powerpoint/2010/main" val="188549678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5DE78F-B351-4415-ABC8-9904E1252003}"/>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Eskom’s own OCGT fuel use fell 40% in FY2025 as availability improved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2379130-E02F-4C5C-9FDF-CA4D582069B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27</a:t>
            </a:r>
            <a:endParaRPr sz="1100"/>
          </a:p>
        </p:txBody>
      </p:sp>
      <p:sp>
        <p:nvSpPr>
          <p:cNvPr id="8" name="Unified source footer">
            <a:extLst xmlns:a="http://schemas.openxmlformats.org/drawingml/2006/main">
              <a:ext uri="{FF2B5EF4-FFF2-40B4-BE49-F238E27FC236}">
                <a16:creationId xmlns:a16="http://schemas.microsoft.com/office/drawing/2014/main" id="{108E5F43-6476-4F1B-9F3B-32F89C2D1942}"/>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Eskom Integrated Report 2025, FY March, own diesel + kerosene. Workbook combined generation includes IPPs and kerosene stations; multiplying it by 0.31 L/kWh is an estimate, not reported diesel burn. Private backup remains unmeasured.</a:t>
            </a:r>
            <a:endParaRPr sz="650"/>
          </a:p>
        </p:txBody>
      </p:sp>
      <p:sp>
        <p:nvSpPr>
          <p:cNvPr id="48" name="Strictly Confidential footer">
            <a:extLst xmlns:a="http://schemas.openxmlformats.org/drawingml/2006/main">
              <a:ext uri="{FF2B5EF4-FFF2-40B4-BE49-F238E27FC236}">
                <a16:creationId xmlns:a16="http://schemas.microsoft.com/office/drawing/2014/main" id="{CD8420AE-234B-4C9D-AE9F-8B8AB6FC1BD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1BDEAED2-943E-E9D5-1E14-5C737852B75D}"/>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885F6CB6-BEDF-49DB-347F-B4F159FB0EC0}"/>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D1AE1CC-A5ED-00B6-9D63-750099116E9D}"/>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31E038EA-E9F7-AC88-3FCD-D886DE7672F1}"/>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4484913c83244a72"/>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AAC9EE7F-7B53-00E0-36C0-C40EF77100A3}"/>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Own-fleet fuel fell from 1,129.5 to 679.1m L. FY2025 Eskom plus estimated IPP fuel is ~0.89bn L; the model’s power/road split needs joint recalibration.</a:t>
            </a:r>
            <a:endParaRPr sz="1050">
              <a:solidFill>
                <a:schemeClr val="dk1"/>
              </a:solidFill>
              <a:latin typeface="Lato"/>
              <a:ea typeface="Lato"/>
              <a:cs typeface="Lato"/>
            </a:endParaRPr>
          </a:p>
        </p:txBody>
      </p:sp>
    </p:spTree>
    <p:extLst>
      <p:ext uri="{BB962C8B-B14F-4D97-AF65-F5344CB8AC3E}">
        <p14:creationId xmlns:p14="http://schemas.microsoft.com/office/powerpoint/2010/main" val="160024319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C60BC9-3E7C-4EF0-915A-1CC07DC3AE3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Road carries most reported freight tonnage, making transferable haul distance a key diesel lever</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4C4B621-B62B-4B4C-9795-C2CDF603807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28</a:t>
            </a:r>
            <a:endParaRPr sz="1100"/>
          </a:p>
        </p:txBody>
      </p:sp>
      <p:sp>
        <p:nvSpPr>
          <p:cNvPr id="8" name="Unified source footer">
            <a:extLst xmlns:a="http://schemas.openxmlformats.org/drawingml/2006/main">
              <a:ext uri="{FF2B5EF4-FFF2-40B4-BE49-F238E27FC236}">
                <a16:creationId xmlns:a16="http://schemas.microsoft.com/office/drawing/2014/main" id="{41B324F5-19D8-4A34-B609-73D7DEC59B11}"/>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Stats SA payload and transport-industry fuel purchases. Workbook Diesel by use Q28: spending / average diesel price, hire-and-reward firms only; may include petrol/lubricants. Road residual includes unseparated uses; tonne-km and rail traction remain open.</a:t>
            </a:r>
            <a:endParaRPr sz="650"/>
          </a:p>
        </p:txBody>
      </p:sp>
      <p:sp>
        <p:nvSpPr>
          <p:cNvPr id="48" name="Strictly Confidential footer">
            <a:extLst xmlns:a="http://schemas.openxmlformats.org/drawingml/2006/main">
              <a:ext uri="{FF2B5EF4-FFF2-40B4-BE49-F238E27FC236}">
                <a16:creationId xmlns:a16="http://schemas.microsoft.com/office/drawing/2014/main" id="{412FFE2F-2361-48BD-9517-599D30EB0CC7}"/>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CCC4277F-C3D5-1A8B-18B5-9C1AE60F43EF}"/>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BFB52F8C-BCE4-7DB9-6069-A035DD33B0E8}"/>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DA40A8B0-7865-24F9-2729-2330B29F631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F8E5F641-5488-AFD7-2FD4-B8C8CC3EFAC5}"/>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e976ba3ab5f649e6"/>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0BD0A93A-8DFF-B036-9E2F-738F1CCBC16D}"/>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Apply freight diversion once to a defined road baseline. The ~3.15bn L operator-spending proxy has partial coverage and does not establish corridor tonne-km.</a:t>
            </a:r>
            <a:endParaRPr sz="1050">
              <a:solidFill>
                <a:schemeClr val="dk1"/>
              </a:solidFill>
              <a:latin typeface="Lato"/>
              <a:ea typeface="Lato"/>
              <a:cs typeface="Lato"/>
            </a:endParaRPr>
          </a:p>
        </p:txBody>
      </p:sp>
    </p:spTree>
    <p:extLst>
      <p:ext uri="{BB962C8B-B14F-4D97-AF65-F5344CB8AC3E}">
        <p14:creationId xmlns:p14="http://schemas.microsoft.com/office/powerpoint/2010/main" val="248514353"/>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86F17E-0F6B-4789-B86D-8823ACECF818}"/>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Rail funding and reliable service determine how much road freight can return to rail</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FD68D24-4B97-49EF-8F49-508B520602C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29</a:t>
            </a:r>
            <a:endParaRPr sz="1100"/>
          </a:p>
        </p:txBody>
      </p:sp>
      <p:sp>
        <p:nvSpPr>
          <p:cNvPr id="8" name="Unified source footer">
            <a:extLst xmlns:a="http://schemas.openxmlformats.org/drawingml/2006/main">
              <a:ext uri="{FF2B5EF4-FFF2-40B4-BE49-F238E27FC236}">
                <a16:creationId xmlns:a16="http://schemas.microsoft.com/office/drawing/2014/main" id="{2A69EE83-2099-4200-8CD4-4525FA139FA9}"/>
              </a:ext>
            </a:extLst>
          </p:cNvPr>
          <p:cNvSpPr>
            <a:spLocks xmlns:a="http://schemas.openxmlformats.org/drawingml/2006/main" noGrp="1"/>
          </p:cNvSpPr>
          <p:nvPr/>
        </p:nvSpPr>
        <p:spPr>
          <a:xfrm xmlns:a="http://schemas.openxmlformats.org/drawingml/2006/main">
            <a:off x="457200" y="6184900"/>
            <a:ext cx="10652760" cy="1154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User-supplied AIA Transnet Funding Brief, Sep 2026, pp1–2; cites FY2026 AFS and Network Statement v4 Annexure 17. Primary figures not independently reconciled.</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Implication for Vopak</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Network ambition</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300" b="0" u="none">
                          <a:solidFill>
                            <a:schemeClr val="dk1"/>
                          </a:solidFill>
                          <a:latin typeface="Lato"/>
                          <a:ea typeface="Lato"/>
                          <a:cs typeface="Lato"/>
                        </a:rPr>
                        <a:t>The supplied brief reports a 250 Mt target dependent on a funding plan.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Do not treat every additional rail tonne as road displacement. Commodity, corridor and origin matter.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Funding constraint</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Brief: R46.34bn approved over five years, including R1.71bn expansion.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Maintenance and sustaining spend dominate. A published plan is insufficient evidence of delivered capacity.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Container corridor</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Brief: R2.11bn in 2026/27–2028/29; private funding expected thereafter.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Prioritise Durban–Gauteng road/rail competition and reconcile the corridor to Network Statement v4.</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Two fuel effects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Rail can displace truck diesel while improved infrastructure also changes fuel-distribution economics.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Apply road-to-rail diversion once to eligible freight activity. Separately assess the route used to distribute fuel inland.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5B79B205-FB05-4D36-B8FF-93295187F1B3}"/>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20AC212D-110C-D683-56B1-7C56442F25AF}"/>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B66C94D0-F8F6-527B-D5D7-FD8EC7A6F31B}"/>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3371DB6A-AB6F-6B80-9401-228626E00217}"/>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26FEC4B4-F9A9-E4CF-4BC6-F7B2640E4B1D}"/>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31304737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51EAB8-9634-4572-8ACC-7697A9F7E755}"/>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Gauteng demand establishes market scale, while Lesedi capture and turnover determine throughput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D5C80C3-6E0E-44EF-B3A9-19D3C8F066DE}"/>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30</a:t>
            </a:r>
            <a:endParaRPr sz="1100"/>
          </a:p>
        </p:txBody>
      </p:sp>
      <p:sp>
        <p:nvSpPr>
          <p:cNvPr id="8" name="Unified source footer">
            <a:extLst xmlns:a="http://schemas.openxmlformats.org/drawingml/2006/main">
              <a:ext uri="{FF2B5EF4-FFF2-40B4-BE49-F238E27FC236}">
                <a16:creationId xmlns:a16="http://schemas.microsoft.com/office/drawing/2014/main" id="{E8A7884A-32B8-4756-BC25-3E20827318B0}"/>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Department provincial sales through 2022; workbook History Q84/Q104 and R84/R104 estimate later volumes. 2024 also uses unverified FIASA national sales. The chart retains observed 2013-2022 sales history, not current market share.</a:t>
            </a:r>
            <a:endParaRPr sz="650"/>
          </a:p>
        </p:txBody>
      </p:sp>
      <p:sp>
        <p:nvSpPr>
          <p:cNvPr id="48" name="Strictly Confidential footer">
            <a:extLst xmlns:a="http://schemas.openxmlformats.org/drawingml/2006/main">
              <a:ext uri="{FF2B5EF4-FFF2-40B4-BE49-F238E27FC236}">
                <a16:creationId xmlns:a16="http://schemas.microsoft.com/office/drawing/2014/main" id="{275234E6-ED48-48F0-B28E-85A6A7331E64}"/>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72F49C4D-9748-5B80-6C60-8FB945CB4D0E}"/>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12394638-FEDF-B8FE-C747-72008332852A}"/>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15DAA536-BD18-5CF9-0EA7-D857B1E1285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8A92432F-7DC3-DE3E-D12D-8FB27ABEB3A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pic>
        <p:nvPicPr>
          <p:cNvPr id="58" name="Evidence chart"/>
          <p:cNvPicPr>
            <a:picLocks xmlns:a="http://schemas.openxmlformats.org/drawingml/2006/main" noChangeAspect="1"/>
          </p:cNvPicPr>
          <p:nvPr/>
        </p:nvPicPr>
        <p:blipFill>
          <a:blip xmlns:r="http://schemas.openxmlformats.org/officeDocument/2006/relationships" xmlns:a="http://schemas.openxmlformats.org/drawingml/2006/main" r:embed="R5bbdd098fc084252"/>
          <a:stretch xmlns:a="http://schemas.openxmlformats.org/drawingml/2006/main">
            <a:fillRect l="0" t="0" r="0" b="0"/>
          </a:stretch>
        </p:blipFill>
        <p:spPr>
          <a:xfrm xmlns:a="http://schemas.openxmlformats.org/drawingml/2006/main">
            <a:off x="698500" y="1549400"/>
            <a:ext cx="10160000" cy="3925443"/>
          </a:xfrm>
          <a:prstGeom xmlns:a="http://schemas.openxmlformats.org/drawingml/2006/main" prst="rect">
            <a:avLst/>
          </a:prstGeom>
        </p:spPr>
      </p:pic>
      <p:sp>
        <p:nvSpPr>
          <p:cNvPr id="15" name="Interpretation">
            <a:extLst xmlns:a="http://schemas.openxmlformats.org/drawingml/2006/main">
              <a:ext uri="{FF2B5EF4-FFF2-40B4-BE49-F238E27FC236}">
                <a16:creationId xmlns:a16="http://schemas.microsoft.com/office/drawing/2014/main" id="{FB0F21B2-9907-8E03-22E4-3A4E235A20C6}"/>
              </a:ext>
            </a:extLst>
          </p:cNvPr>
          <p:cNvSpPr>
            <a:spLocks xmlns:a="http://schemas.openxmlformats.org/drawingml/2006/main" noGrp="1"/>
          </p:cNvSpPr>
          <p:nvPr/>
        </p:nvSpPr>
        <p:spPr>
          <a:xfrm xmlns:a="http://schemas.openxmlformats.org/drawingml/2006/main">
            <a:off x="533400" y="5600699"/>
            <a:ext cx="10477500" cy="482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r>
              <a:rPr sz="1050">
                <a:solidFill>
                  <a:schemeClr val="dk1"/>
                </a:solidFill>
                <a:latin typeface="Lato"/>
                <a:ea typeface="Lato"/>
                <a:cs typeface="Lato"/>
              </a:rPr>
              <a:t>Gauteng sales were 6.81bn L in 2022; the six inland provinces totalled 11.95bn L. These are nested catchments, not low/high Lesedi market scenarios.</a:t>
            </a:r>
            <a:endParaRPr sz="1050">
              <a:solidFill>
                <a:schemeClr val="dk1"/>
              </a:solidFill>
              <a:latin typeface="Lato"/>
              <a:ea typeface="Lato"/>
              <a:cs typeface="Lato"/>
            </a:endParaRPr>
          </a:p>
        </p:txBody>
      </p:sp>
    </p:spTree>
    <p:extLst>
      <p:ext uri="{BB962C8B-B14F-4D97-AF65-F5344CB8AC3E}">
        <p14:creationId xmlns:p14="http://schemas.microsoft.com/office/powerpoint/2010/main" val="361664632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1B7AA6-3C14-4177-A829-5A002B58A922}"/>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Every market world passes through explicit demand, supply, capture and operating levers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0FEB81A9-F07F-421C-B449-108D2EEE908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31</a:t>
            </a:r>
            <a:endParaRPr sz="1100"/>
          </a:p>
        </p:txBody>
      </p:sp>
      <p:sp>
        <p:nvSpPr>
          <p:cNvPr id="8" name="Unified source footer">
            <a:extLst xmlns:a="http://schemas.openxmlformats.org/drawingml/2006/main">
              <a:ext uri="{FF2B5EF4-FFF2-40B4-BE49-F238E27FC236}">
                <a16:creationId xmlns:a16="http://schemas.microsoft.com/office/drawing/2014/main" id="{F59C79DE-4058-472C-8092-0550AB445375}"/>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HML response has 29 levers. Examples: BEV adoption, rail diversion, mileage, prices, hybrids, truck/LCV electrification and neighbouring exports. All replacement ranges remain proposals; no forecast inputs are adopted in this pack.</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Lever IDs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Inputs to calibrate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Output / remaining evidence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D1–D5 demand</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D1 sector growth; D2 rail; D3 EV adoption; D4 efficiency; D5 power.</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EV/efficiency pair reviewed. Hybrid, freight/rail and baseline combination rules remain open. Proposed annual paths require agreement.</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S1–S4 supply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S1 SAPREF; S2 Secunda gas/MRG; S3 Natref; S4 PetroSA.</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Output, yields and feedstock dependencies remain open. Reconcile proposed capacity, utilisation and gas assumptions.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T1–T2 capture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T1 delivered route economics/access; T2 customer/product/destination capture.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Allocate domestic and imported fuel to unique terminal deliveries. Tariffs, rights and commercial allocation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T3–T5 operations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T3 eligible working tankage; T4 turnover; T5 receipt/dispatch, peaks and stock policy.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Working-tank sensitivity uses Durban 146,000 and Lesedi 124,000 m³, both partly estimated. Validate turns, peaks and route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817880">
                <a:tc>
                  <a:txBody>
                    <a:bodyPr/>
                    <a:lstStyle/>
                    <a:p>
                      <a:pPr>
                        <a:spcAft>
                          <a:spcPts val="0"/>
                        </a:spcAft>
                        <a:buNone/>
                      </a:pPr>
                      <a:r>
                        <a:rPr sz="1300" b="1" u="none">
                          <a:solidFill>
                            <a:schemeClr val="dk1"/>
                          </a:solidFill>
                          <a:latin typeface="Lato"/>
                          <a:ea typeface="Lato"/>
                          <a:cs typeface="Lato"/>
                        </a:rPr>
                        <a:t>F1 finance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Storage/handling terms, costs, capex, tax, working capital and hurdle rate.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Translate constrained throughput into cash flow, NPV, IRR and investment triggers. Commercial inputs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AC93260-662B-499F-94A1-D60DC2B8C41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5944D4C0-D789-3EFD-3C14-55F8A8D4F2A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1CA254AD-65FE-82DB-9747-A6FE2164774C}"/>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68085162-A6DD-F2B1-1FC8-9975F6EB9F7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17794797-3418-10F5-B60B-7D18DD779BC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79265204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76427D-4BB2-4CAD-AFAC-3FDC7523D701}"/>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Generation timing must close the power balance before residual diesel can be forecast</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CF83A97E-51D7-4A7C-8CF8-00F35C37742C}"/>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32</a:t>
            </a:r>
            <a:endParaRPr sz="1100"/>
          </a:p>
        </p:txBody>
      </p:sp>
      <p:sp>
        <p:nvSpPr>
          <p:cNvPr id="8" name="Unified source footer">
            <a:extLst xmlns:a="http://schemas.openxmlformats.org/drawingml/2006/main">
              <a:ext uri="{FF2B5EF4-FFF2-40B4-BE49-F238E27FC236}">
                <a16:creationId xmlns:a16="http://schemas.microsoft.com/office/drawing/2014/main" id="{BC55EAEB-EA76-4649-B7CD-69F7918CE0A4}"/>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Power fleet F11:S15 and N63:N65; proposed scenarios, not forecasts. Generation includes kerosene. IPP renewal, gas availability and coal-site repowering are not established. Historical burn must match scope and period.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Time series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Assumption / lever</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Evidence status and next use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Recovery history</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Own Eskom fuel/EAF and Eskom/IPP GWh are assembled; generation-based litres are estimated.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Align FY/calendar scope. Reconcile the model’s 3.58bn L power estimate with reported/estimated fuel and other demand uses.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Fleet and retirements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Four diesel stations: 3,089 MW. Avon/Dedisa PPA endings and coal retirement dates are assembled.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Contract end is not confirmed shutdown. Siting, renewal and actual coal decisions remain open.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Replacement / gas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Ankerlig/Gourikwa gas switch and coal-site turbines are case dependencies, not committed outcomes.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Engine includes 3,000MW of notional plants. Treat these separately from the four existing stations and proposed coal-site cases.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Proposed L/M/H cases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2030 power diesel: 86 / 637 / 4,224m L in the workbook scenarios.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Nigel/Henry review D22: conversion rate, backup share, load factors, repowering location and gas supply.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0E11C88A-BD5F-4917-9B21-B7EE2F303E0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DFA39896-8D41-C1C6-E898-B283CD20B596}"/>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7635898F-DEBC-20DD-620A-F3901A3A6BA9}"/>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B4833148-1B9A-B124-6C68-77B30CAC8A12}"/>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0B7D399C-0301-71C2-0BBA-BB638B724AE7}"/>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9282223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DBAAD0-C6F7-4B47-B559-096F6E9C4830}"/>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a:solidFill>
                  <a:schemeClr val="dk1"/>
                </a:solidFill>
                <a:latin typeface="Lato"/>
                <a:ea typeface="Lato"/>
                <a:cs typeface="Lato"/>
              </a:rPr>
              <a:t>The diesel fleet and replacement timing define the power-demand cases</a:t>
            </a:r>
            <a:endParaRPr>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7508541C-1BC2-496C-A20C-9C851E00B079}"/>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33</a:t>
            </a:r>
            <a:endParaRPr sz="1100"/>
          </a:p>
        </p:txBody>
      </p:sp>
      <p:sp>
        <p:nvSpPr>
          <p:cNvPr id="8" name="Unified source footer">
            <a:extLst xmlns:a="http://schemas.openxmlformats.org/drawingml/2006/main">
              <a:ext uri="{FF2B5EF4-FFF2-40B4-BE49-F238E27FC236}">
                <a16:creationId xmlns:a16="http://schemas.microsoft.com/office/drawing/2014/main" id="{D6A154D6-B0D0-4D16-8B29-31E62CD38A3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Power fleet F11:F15, N63:N65 and S63:S65. Proposed cases, Nigel/Henry review D22. 0.31 L/kWh, backup fraction, load factors, gas supply and coal-site repowering need review. Kerosene stations and private backup are separate.</a:t>
            </a:r>
            <a:endParaRPr sz="650"/>
          </a:p>
        </p:txBody>
      </p:sp>
      <p:sp>
        <p:nvSpPr>
          <p:cNvPr id="48" name="Strictly Confidential footer">
            <a:extLst xmlns:a="http://schemas.openxmlformats.org/drawingml/2006/main">
              <a:ext uri="{FF2B5EF4-FFF2-40B4-BE49-F238E27FC236}">
                <a16:creationId xmlns:a16="http://schemas.microsoft.com/office/drawing/2014/main" id="{7C153E1F-B2D2-4962-BB17-6CDA6AD0CF97}"/>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65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
        <p:nvSpPr>
          <p:cNvPr id="4" name="Fleet heading">
            <a:extLst xmlns:a="http://schemas.openxmlformats.org/drawingml/2006/main">
              <a:ext uri="{FF2B5EF4-FFF2-40B4-BE49-F238E27FC236}">
                <a16:creationId xmlns:a16="http://schemas.microsoft.com/office/drawing/2014/main" id="{26C66294-3AFA-17AD-1DD9-AE345133A1E2}"/>
              </a:ext>
            </a:extLst>
          </p:cNvPr>
          <p:cNvSpPr>
            <a:spLocks xmlns:a="http://schemas.openxmlformats.org/drawingml/2006/main" noGrp="1"/>
          </p:cNvSpPr>
          <p:nvPr/>
        </p:nvSpPr>
        <p:spPr>
          <a:xfrm xmlns:a="http://schemas.openxmlformats.org/drawingml/2006/main">
            <a:off x="457200" y="1600200"/>
            <a:ext cx="55118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OPERATING DIESEL FLEET: 3,089 MW</a:t>
            </a:r>
          </a:p>
        </p:txBody>
      </p:sp>
      <p:graphicFrame>
        <p:nvGraphicFramePr>
          <p:cNvPr id="60" name="Operating fleet table"/>
          <p:cNvGraphicFramePr/>
          <p:nvPr/>
        </p:nvGraphicFramePr>
        <p:xfrm>
          <a:off xmlns:a="http://schemas.openxmlformats.org/drawingml/2006/main" x="457200" y="1879600"/>
          <a:ext xmlns:a="http://schemas.openxmlformats.org/drawingml/2006/main" cx="5461000" cy="1739900"/>
        </p:xfrm>
        <a:graphic xmlns:a="http://schemas.openxmlformats.org/drawingml/2006/main">
          <a:graphicData uri="http://schemas.openxmlformats.org/drawingml/2006/table">
            <a:tbl>
              <a:tblPr firstRow="1" bandRow="1">
                <a:tableStyleId>{5C22544A-7EE6-4342-B048-85BDC9FD1C3A}</a:tableStyleId>
              </a:tblPr>
              <a:tblGrid>
                <a:gridCol w="2413000"/>
                <a:gridCol w="1206500"/>
                <a:gridCol w="1841500"/>
              </a:tblGrid>
              <a:tr h="317500">
                <a:tc>
                  <a:txBody>
                    <a:bodyPr/>
                    <a:lstStyle/>
                    <a:p>
                      <a:pPr>
                        <a:spcAft>
                          <a:spcPts val="0"/>
                        </a:spcAft>
                        <a:buNone/>
                      </a:pPr>
                      <a:r>
                        <a:rPr sz="1200" b="1">
                          <a:solidFill>
                            <a:schemeClr val="dk1"/>
                          </a:solidFill>
                          <a:latin typeface="Lato"/>
                          <a:ea typeface="Lato"/>
                          <a:cs typeface="Lato"/>
                        </a:rPr>
                        <a:t>Diesel station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MW</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Owner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355600">
                <a:tc>
                  <a:txBody>
                    <a:bodyPr/>
                    <a:lstStyle/>
                    <a:p>
                      <a:pPr>
                        <a:spcAft>
                          <a:spcPts val="0"/>
                        </a:spcAft>
                        <a:buNone/>
                      </a:pPr>
                      <a:r>
                        <a:rPr sz="1200" b="1">
                          <a:solidFill>
                            <a:schemeClr val="accent1"/>
                          </a:solidFill>
                          <a:latin typeface="Lato"/>
                          <a:ea typeface="Lato"/>
                          <a:cs typeface="Lato"/>
                        </a:rPr>
                        <a:t>Ankerlig</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1,338</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Eskom</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Gourikwa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746</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Eskom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Avon</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670</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355600">
                <a:tc>
                  <a:txBody>
                    <a:bodyPr/>
                    <a:lstStyle/>
                    <a:p>
                      <a:pPr>
                        <a:spcAft>
                          <a:spcPts val="0"/>
                        </a:spcAft>
                        <a:buNone/>
                      </a:pPr>
                      <a:r>
                        <a:rPr sz="1200" b="1">
                          <a:solidFill>
                            <a:schemeClr val="accent1"/>
                          </a:solidFill>
                          <a:latin typeface="Lato"/>
                          <a:ea typeface="Lato"/>
                          <a:cs typeface="Lato"/>
                        </a:rPr>
                        <a:t>Dedisa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335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
        <p:nvSpPr>
          <p:cNvPr id="6" name="Timing heading">
            <a:extLst xmlns:a="http://schemas.openxmlformats.org/drawingml/2006/main">
              <a:ext uri="{FF2B5EF4-FFF2-40B4-BE49-F238E27FC236}">
                <a16:creationId xmlns:a16="http://schemas.microsoft.com/office/drawing/2014/main" id="{692D2DDD-4539-574B-52E7-2287D43EF72D}"/>
              </a:ext>
            </a:extLst>
          </p:cNvPr>
          <p:cNvSpPr>
            <a:spLocks xmlns:a="http://schemas.openxmlformats.org/drawingml/2006/main" noGrp="1"/>
          </p:cNvSpPr>
          <p:nvPr/>
        </p:nvSpPr>
        <p:spPr>
          <a:xfrm xmlns:a="http://schemas.openxmlformats.org/drawingml/2006/main">
            <a:off x="6311900" y="1600200"/>
            <a:ext cx="48006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TIMING AND DEPENDENCIES</a:t>
            </a:r>
          </a:p>
        </p:txBody>
      </p:sp>
      <p:sp>
        <p:nvSpPr>
          <p:cNvPr id="7" name="Timing conditions">
            <a:extLst xmlns:a="http://schemas.openxmlformats.org/drawingml/2006/main">
              <a:ext uri="{FF2B5EF4-FFF2-40B4-BE49-F238E27FC236}">
                <a16:creationId xmlns:a16="http://schemas.microsoft.com/office/drawing/2014/main" id="{8BA0247D-6497-AD08-227D-A2EDCBC502B4}"/>
              </a:ext>
            </a:extLst>
          </p:cNvPr>
          <p:cNvSpPr>
            <a:spLocks xmlns:a="http://schemas.openxmlformats.org/drawingml/2006/main" noGrp="1"/>
          </p:cNvSpPr>
          <p:nvPr/>
        </p:nvSpPr>
        <p:spPr>
          <a:xfrm xmlns:a="http://schemas.openxmlformats.org/drawingml/2006/main">
            <a:off x="6311900" y="1955800"/>
            <a:ext cx="4800600" cy="13335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300">
                <a:solidFill>
                  <a:schemeClr val="dk1"/>
                </a:solidFill>
                <a:latin typeface="Lato"/>
                <a:ea typeface="Lato"/>
                <a:cs typeface="Lato"/>
              </a:rPr>
              <a:t>Avon / Dedisa PPAs end in 2031 / 2030.
Five coal sites have exemptions to March 2030; final outcomes remain open.
Gas-switch and turbine locations are assumptions, not committed projects.</a:t>
            </a:r>
            <a:endParaRPr sz="1300">
              <a:solidFill>
                <a:schemeClr val="dk1"/>
              </a:solidFill>
              <a:latin typeface="Lato"/>
              <a:ea typeface="Lato"/>
              <a:cs typeface="Lato"/>
            </a:endParaRPr>
          </a:p>
        </p:txBody>
      </p:sp>
      <p:sp>
        <p:nvSpPr>
          <p:cNvPr id="13" name="Scenario heading">
            <a:extLst xmlns:a="http://schemas.openxmlformats.org/drawingml/2006/main">
              <a:ext uri="{FF2B5EF4-FFF2-40B4-BE49-F238E27FC236}">
                <a16:creationId xmlns:a16="http://schemas.microsoft.com/office/drawing/2014/main" id="{BDD1F9F5-2913-0C39-4F9C-A881D8297609}"/>
              </a:ext>
            </a:extLst>
          </p:cNvPr>
          <p:cNvSpPr>
            <a:spLocks xmlns:a="http://schemas.openxmlformats.org/drawingml/2006/main" noGrp="1"/>
          </p:cNvSpPr>
          <p:nvPr/>
        </p:nvSpPr>
        <p:spPr>
          <a:xfrm xmlns:a="http://schemas.openxmlformats.org/drawingml/2006/main">
            <a:off x="457200" y="3898900"/>
            <a:ext cx="10655300" cy="2286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1200" b="1">
                <a:solidFill>
                  <a:schemeClr val="accent1"/>
                </a:solidFill>
                <a:latin typeface="Lato"/>
                <a:ea typeface="Lato"/>
                <a:cs typeface="Lato"/>
              </a:rPr>
              <a:t>PROPOSED WORKBOOK CASES — NIGEL / HENRY REVIEW</a:t>
            </a:r>
            <a:endParaRPr sz="1200" b="1">
              <a:solidFill>
                <a:schemeClr val="accent1"/>
              </a:solidFill>
              <a:latin typeface="Lato"/>
              <a:ea typeface="Lato"/>
              <a:cs typeface="Lato"/>
            </a:endParaRPr>
          </a:p>
        </p:txBody>
      </p:sp>
      <p:graphicFrame>
        <p:nvGraphicFramePr>
          <p:cNvPr id="64" name="Proposed cases table"/>
          <p:cNvGraphicFramePr/>
          <p:nvPr/>
        </p:nvGraphicFramePr>
        <p:xfrm>
          <a:off xmlns:a="http://schemas.openxmlformats.org/drawingml/2006/main" x="457199" y="4203700"/>
          <a:ext xmlns:a="http://schemas.openxmlformats.org/drawingml/2006/main" cx="10652760" cy="1714500"/>
        </p:xfrm>
        <a:graphic xmlns:a="http://schemas.openxmlformats.org/drawingml/2006/main">
          <a:graphicData uri="http://schemas.openxmlformats.org/drawingml/2006/table">
            <a:tbl>
              <a:tblPr firstRow="1" bandRow="1">
                <a:tableStyleId>{5C22544A-7EE6-4342-B048-85BDC9FD1C3A}</a:tableStyleId>
              </a:tblPr>
              <a:tblGrid>
                <a:gridCol w="1968500"/>
                <a:gridCol w="1397000"/>
                <a:gridCol w="1397000"/>
                <a:gridCol w="5890260"/>
              </a:tblGrid>
              <a:tr h="317500">
                <a:tc>
                  <a:txBody>
                    <a:bodyPr/>
                    <a:lstStyle/>
                    <a:p>
                      <a:pPr>
                        <a:spcAft>
                          <a:spcPts val="0"/>
                        </a:spcAft>
                        <a:buNone/>
                      </a:pPr>
                      <a:r>
                        <a:rPr sz="1200" b="1">
                          <a:solidFill>
                            <a:schemeClr val="dk1"/>
                          </a:solidFill>
                          <a:latin typeface="Lato"/>
                          <a:ea typeface="Lato"/>
                          <a:cs typeface="Lato"/>
                        </a:rPr>
                        <a:t>Proposed case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2030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2035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buNone/>
                      </a:pPr>
                      <a:r>
                        <a:rPr sz="1200" b="1">
                          <a:solidFill>
                            <a:schemeClr val="dk1"/>
                          </a:solidFill>
                          <a:latin typeface="Lato"/>
                          <a:ea typeface="Lato"/>
                          <a:cs typeface="Lato"/>
                        </a:rPr>
                        <a:t>Key dependency</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r>
              <a:tr h="465667">
                <a:tc>
                  <a:txBody>
                    <a:bodyPr/>
                    <a:lstStyle/>
                    <a:p>
                      <a:pPr>
                        <a:spcAft>
                          <a:spcPts val="0"/>
                        </a:spcAft>
                        <a:buNone/>
                      </a:pPr>
                      <a:r>
                        <a:rPr sz="1200" b="1">
                          <a:solidFill>
                            <a:schemeClr val="accent1"/>
                          </a:solidFill>
                          <a:latin typeface="Lato"/>
                          <a:ea typeface="Lato"/>
                          <a:cs typeface="Lato"/>
                        </a:rPr>
                        <a:t>Low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86</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20</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Gas switch; PPAs end; no coal-site turbines.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r>
              <a:tr h="465667">
                <a:tc>
                  <a:txBody>
                    <a:bodyPr/>
                    <a:lstStyle/>
                    <a:p>
                      <a:pPr>
                        <a:spcAft>
                          <a:spcPts val="0"/>
                        </a:spcAft>
                        <a:buNone/>
                      </a:pPr>
                      <a:r>
                        <a:rPr sz="1200" b="1">
                          <a:solidFill>
                            <a:schemeClr val="accent1"/>
                          </a:solidFill>
                          <a:latin typeface="Lato"/>
                          <a:ea typeface="Lato"/>
                          <a:cs typeface="Lato"/>
                        </a:rPr>
                        <a:t>Medium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3 GW at coal sites; gas available; diesel backup.</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r h="465667">
                <a:tc>
                  <a:txBody>
                    <a:bodyPr/>
                    <a:lstStyle/>
                    <a:p>
                      <a:pPr>
                        <a:spcAft>
                          <a:spcPts val="0"/>
                        </a:spcAft>
                        <a:buNone/>
                      </a:pPr>
                      <a:r>
                        <a:rPr sz="1200" b="1">
                          <a:solidFill>
                            <a:schemeClr val="accent1"/>
                          </a:solidFill>
                          <a:latin typeface="Lato"/>
                          <a:ea typeface="Lato"/>
                          <a:cs typeface="Lato"/>
                        </a:rPr>
                        <a:t>High</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buNone/>
                      </a:pPr>
                      <a:r>
                        <a:rPr sz="1200" b="0">
                          <a:solidFill>
                            <a:schemeClr val="dk1"/>
                          </a:solidFill>
                          <a:latin typeface="Lato"/>
                          <a:ea typeface="Lato"/>
                          <a:cs typeface="Lato"/>
                        </a:rPr>
                        <a:t>6 GW at coal sites; no gas; diesel peakers.</a:t>
                      </a:r>
                      <a:endParaRPr sz="1200" b="0">
                        <a:solidFill>
                          <a:schemeClr val="dk1"/>
                        </a:solidFill>
                        <a:latin typeface="Lato"/>
                        <a:ea typeface="Lato"/>
                        <a:cs typeface="Lato"/>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r>
            </a:tbl>
          </a:graphicData>
        </a:graphic>
      </p:graphicFrame>
      <p:sp>
        <p:nvSpPr>
          <p:cNvPr id="15" name="Case qualification">
            <a:extLst xmlns:a="http://schemas.openxmlformats.org/drawingml/2006/main">
              <a:ext uri="{FF2B5EF4-FFF2-40B4-BE49-F238E27FC236}">
                <a16:creationId xmlns:a16="http://schemas.microsoft.com/office/drawing/2014/main" id="{BBB424CB-1400-A003-0615-24B690A56902}"/>
              </a:ext>
            </a:extLst>
          </p:cNvPr>
          <p:cNvSpPr>
            <a:spLocks xmlns:a="http://schemas.openxmlformats.org/drawingml/2006/main" noGrp="1"/>
          </p:cNvSpPr>
          <p:nvPr/>
        </p:nvSpPr>
        <p:spPr>
          <a:xfrm xmlns:a="http://schemas.openxmlformats.org/drawingml/2006/main">
            <a:off x="495300" y="5994399"/>
            <a:ext cx="10541000" cy="15240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a:spcAft>
                <a:spcPts val="200"/>
              </a:spcAft>
              <a:buNone/>
            </a:pPr>
            <a:r>
              <a:rPr sz="900">
                <a:solidFill>
                  <a:schemeClr val="dk1"/>
                </a:solidFill>
                <a:latin typeface="Lato"/>
                <a:ea typeface="Lato"/>
                <a:cs typeface="Lato"/>
              </a:rPr>
              <a:t>The engine also contains 3,000MW of notional capacity. Reconcile it with these cases and historical power/road use before adopting a forecast.</a:t>
            </a:r>
            <a:endParaRPr sz="900">
              <a:solidFill>
                <a:schemeClr val="dk1"/>
              </a:solidFill>
              <a:latin typeface="Lato"/>
              <a:ea typeface="Lato"/>
              <a:cs typeface="Lato"/>
            </a:endParaRPr>
          </a:p>
        </p:txBody>
      </p:sp>
    </p:spTree>
    <p:extLst>
      <p:ext uri="{BB962C8B-B14F-4D97-AF65-F5344CB8AC3E}">
        <p14:creationId xmlns:p14="http://schemas.microsoft.com/office/powerpoint/2010/main" val="1586841154"/>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45AC4B-DCD7-4DBC-BBBD-20D077E38257}"/>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SAPREF and Natref define capacity sensitivities; plant output must complete the supply paths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3E4527F-93AA-4D33-9BED-5A08A1474F9B}"/>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34</a:t>
            </a:r>
            <a:endParaRPr sz="1100"/>
          </a:p>
        </p:txBody>
      </p:sp>
      <p:sp>
        <p:nvSpPr>
          <p:cNvPr id="8" name="Unified source footer">
            <a:extLst xmlns:a="http://schemas.openxmlformats.org/drawingml/2006/main">
              <a:ext uri="{FF2B5EF4-FFF2-40B4-BE49-F238E27FC236}">
                <a16:creationId xmlns:a16="http://schemas.microsoft.com/office/drawing/2014/main" id="{269A2F55-A3CC-4B61-821C-D47D774B73EA}"/>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Manish DR08 refinery evidence, updated 9 October; Sasol FY2026 metrics; Glencore/Astron evidence; CEF SAPREF roadmap. FY output, calendar capacity and product yields differ. Capacity sensitivities remain illustrative.</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300" b="1" u="none">
                          <a:solidFill>
                            <a:schemeClr val="dk1"/>
                          </a:solidFill>
                          <a:latin typeface="Lato"/>
                          <a:ea typeface="Lato"/>
                          <a:cs typeface="Lato"/>
                        </a:rPr>
                        <a:t>Plant lever</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Required time-series inputs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Scenario treatment</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S1 SAPREF</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High capacity illustration adds 400 kbpd from assumed 2033 availability.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SAPREF plans an import-terminal phase before refining. No committed refinery restart date or product slate is established.</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S3 Natref</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108 kbpd remains in Medium/High; excluded in the Low 2036 stress case.</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Natref is separate from Secunda. FY2026 Sasol output uses co-owner capacity; do not scale by historic ownership mechanically.</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S2 Secunda</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All-refined-products output: 29.1m barrels FY2024, 27.6m FY2025 and 30.6m FY2026.</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June fiscal years; product mix differs. Gas/MRG affects liquid output; do not equate barrels with diesel litres.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300" b="1" u="none">
                          <a:solidFill>
                            <a:schemeClr val="dk1"/>
                          </a:solidFill>
                          <a:latin typeface="Lato"/>
                          <a:ea typeface="Lato"/>
                          <a:cs typeface="Lato"/>
                        </a:rPr>
                        <a:t>Other plant inputs</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Astron output evidence is available; its petrol/diesel 50/50 split is an assumption. PetroSA restart remains uncertain.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Confirm product yields and actual operator output. No PetroSA addition appears in the existing capacity illustration.</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2FE5D48F-D882-4304-AC76-6EA9A74A031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D2673ED8-656C-3C9E-9793-168AA4A31892}"/>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7DB413E-C059-D52C-A752-5243055EC462}"/>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199976F3-E58B-4FA9-D52A-836EA3DC92C9}"/>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CF98BFE7-2E5D-741B-D8FA-6492D1DA8BB9}"/>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595975257"/>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E52915-201C-4CA1-BA20-AABA9B5039DE}"/>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A conditional Durban import-capture screen gives a 2.63bn litre base case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94C3983-AC6C-4225-B1EA-6ACA014C926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35</a:t>
            </a:r>
            <a:endParaRPr sz="1100"/>
          </a:p>
        </p:txBody>
      </p:sp>
      <p:sp>
        <p:nvSpPr>
          <p:cNvPr id="8" name="Unified source footer">
            <a:extLst xmlns:a="http://schemas.openxmlformats.org/drawingml/2006/main">
              <a:ext uri="{FF2B5EF4-FFF2-40B4-BE49-F238E27FC236}">
                <a16:creationId xmlns:a16="http://schemas.microsoft.com/office/drawing/2014/main" id="{156109CB-1C09-4928-9826-33DD198DD09C}"/>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Registered market_review.yaml and terminal_site_assumptions.csv; 2025 Durban customs proxy 13.1605bn L. No forecast probabilities, measured market share or incremental revenue. Product mix, access and working tankage need validation.</a:t>
            </a:r>
            <a:endParaRPr sz="650"/>
          </a:p>
        </p:txBody>
      </p:sp>
      <p:graphicFrame>
        <p:nvGraphicFramePr>
          <p:cNvPr id="54" name="Table 46"/>
          <p:cNvGraphicFramePr/>
          <p:nvPr/>
        </p:nvGraphicFramePr>
        <p:xfrm>
          <a:off xmlns:a="http://schemas.openxmlformats.org/drawingml/2006/main" x="457200" y="1651000"/>
          <a:ext xmlns:a="http://schemas.openxmlformats.org/drawingml/2006/main" cx="10652760" cy="4133078"/>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81000">
                <a:tc>
                  <a:txBody>
                    <a:bodyPr/>
                    <a:lstStyle/>
                    <a:p>
                      <a:pPr>
                        <a:spcAft>
                          <a:spcPts val="0"/>
                        </a:spcAft>
                        <a:buNone/>
                      </a:pPr>
                      <a:r>
                        <a:rPr sz="1300" b="1" u="none">
                          <a:solidFill>
                            <a:schemeClr val="dk1"/>
                          </a:solidFill>
                          <a:latin typeface="Lato"/>
                          <a:ea typeface="Lato"/>
                          <a:cs typeface="Lato"/>
                        </a:rPr>
                        <a:t>Illustrative case</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Annual physical volumes</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300" b="1" u="none">
                          <a:solidFill>
                            <a:schemeClr val="dk1"/>
                          </a:solidFill>
                          <a:latin typeface="Lato"/>
                          <a:ea typeface="Lato"/>
                          <a:cs typeface="Lato"/>
                        </a:rPr>
                        <a:t>Assumptions and interpretation</a:t>
                      </a:r>
                      <a:endParaRPr sz="13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Low</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10%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1.32bn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0.66bn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1.32bn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Conditional on customer allocation and terminal/pipeline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Base</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20%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2.63bn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1.32bn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2.63bn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Conditional on customer allocation and terminal/pipeline access.</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104900">
                <a:tc>
                  <a:txBody>
                    <a:bodyPr/>
                    <a:lstStyle/>
                    <a:p>
                      <a:pPr>
                        <a:spcAft>
                          <a:spcPts val="0"/>
                        </a:spcAft>
                        <a:buNone/>
                      </a:pPr>
                      <a:r>
                        <a:rPr sz="1300" b="1" u="none">
                          <a:solidFill>
                            <a:schemeClr val="dk1"/>
                          </a:solidFill>
                          <a:latin typeface="Lato"/>
                          <a:ea typeface="Lato"/>
                          <a:cs typeface="Lato"/>
                        </a:rPr>
                        <a:t>High</a:t>
                      </a:r>
                      <a:endParaRPr sz="1300" b="1" u="none">
                        <a:solidFill>
                          <a:schemeClr val="dk1"/>
                        </a:solidFill>
                        <a:latin typeface="Lato"/>
                        <a:ea typeface="Lato"/>
                        <a:cs typeface="Lato"/>
                      </a:endParaRPr>
                    </a:p>
                    <a:p>
                      <a:pPr>
                        <a:spcAft>
                          <a:spcPts val="0"/>
                        </a:spcAft>
                        <a:buNone/>
                      </a:pPr>
                      <a:r>
                        <a:rPr sz="1300" b="1" u="none">
                          <a:solidFill>
                            <a:schemeClr val="dk1"/>
                          </a:solidFill>
                          <a:latin typeface="Lato"/>
                          <a:ea typeface="Lato"/>
                          <a:cs typeface="Lato"/>
                        </a:rPr>
                        <a:t>30% gateway share</a:t>
                      </a:r>
                      <a:endParaRPr sz="13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Durban 3.50bn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Lesedi 1.75bn L</a:t>
                      </a:r>
                      <a:endParaRPr sz="1300" b="0" u="none">
                        <a:solidFill>
                          <a:schemeClr val="dk1"/>
                        </a:solidFill>
                        <a:latin typeface="Lato"/>
                        <a:ea typeface="Lato"/>
                        <a:cs typeface="Lato"/>
                      </a:endParaRPr>
                    </a:p>
                    <a:p>
                      <a:pPr>
                        <a:spcAft>
                          <a:spcPts val="0"/>
                        </a:spcAft>
                        <a:buNone/>
                      </a:pPr>
                      <a:r>
                        <a:rPr sz="1300" b="0" u="none">
                          <a:solidFill>
                            <a:schemeClr val="dk1"/>
                          </a:solidFill>
                          <a:latin typeface="Lato"/>
                          <a:ea typeface="Lato"/>
                          <a:cs typeface="Lato"/>
                        </a:rPr>
                        <a:t>Unique flow 3.50bn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300" b="0" u="none">
                          <a:solidFill>
                            <a:schemeClr val="dk1"/>
                          </a:solidFill>
                          <a:latin typeface="Lato"/>
                          <a:ea typeface="Lato"/>
                          <a:cs typeface="Lato"/>
                        </a:rPr>
                        <a:t>50% of captured Durban flow routed to Lesedi. Durban tank screen caps the requested 3.95bn L at 3.50bn L.</a:t>
                      </a:r>
                      <a:endParaRPr sz="13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3CB4DBA-279F-46CA-BE4A-6C8E3C76984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43AA7B3A-3772-E466-352F-697EF3D36F28}"/>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3AF8E1A9-B364-8115-C901-16E71935F38C}"/>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E8F6195D-18F0-5029-7E37-A7A530E8013C}"/>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90684F3-D240-DCBA-2A69-EB87E0C71FE4}"/>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
        <p:nvSpPr>
          <p:cNvPr id="50" name="Review interpretation">
            <a:extLst xmlns:a="http://schemas.openxmlformats.org/drawingml/2006/main">
              <a:ext uri="{FF2B5EF4-FFF2-40B4-BE49-F238E27FC236}">
                <a16:creationId xmlns:a16="http://schemas.microsoft.com/office/drawing/2014/main" id="{49A1B104-130B-4B82-944B-FF3BD97E71C0}"/>
              </a:ext>
            </a:extLst>
          </p:cNvPr>
          <p:cNvSpPr>
            <a:spLocks xmlns:a="http://schemas.openxmlformats.org/drawingml/2006/main" noGrp="1"/>
          </p:cNvSpPr>
          <p:nvPr/>
        </p:nvSpPr>
        <p:spPr>
          <a:xfrm xmlns:a="http://schemas.openxmlformats.org/drawingml/2006/main">
            <a:off x="457200" y="5553075"/>
            <a:ext cx="10648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202020"/>
                </a:solidFill>
                <a:latin typeface="Lato"/>
                <a:ea typeface="Lato"/>
                <a:cs typeface="Lato"/>
              </a:defRPr>
            </a:pPr>
            <a:r>
              <a:rPr sz="1125">
                <a:solidFill>
                  <a:srgbClr val="202020"/>
                </a:solidFill>
                <a:latin typeface="Lato"/>
                <a:ea typeface="Lato"/>
                <a:cs typeface="Lato"/>
              </a:rPr>
              <a:t>10/20/30% shares and 50% routing are authored sensitivities. Base turns fixed at two/month. Lesedi is a subset, so volumes are counted once. Domestic and other-terminal Lesedi receipts are excluded.</a:t>
            </a:r>
          </a:p>
        </p:txBody>
      </p:sp>
    </p:spTree>
    <p:extLst>
      <p:ext uri="{BB962C8B-B14F-4D97-AF65-F5344CB8AC3E}">
        <p14:creationId xmlns:p14="http://schemas.microsoft.com/office/powerpoint/2010/main" val="319241594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BD88DA-CCC3-4D1A-A2E6-6EB0F38DCF30}"/>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A matched demand snapshot is available, but the domestic supply balance still needs reconciliation</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99C0B53E-8870-4B82-B017-3287DBBFCFD5}"/>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36</a:t>
            </a:r>
            <a:endParaRPr sz="1100"/>
          </a:p>
        </p:txBody>
      </p:sp>
      <p:sp>
        <p:nvSpPr>
          <p:cNvPr id="8" name="Unified source footer">
            <a:extLst xmlns:a="http://schemas.openxmlformats.org/drawingml/2006/main">
              <a:ext uri="{FF2B5EF4-FFF2-40B4-BE49-F238E27FC236}">
                <a16:creationId xmlns:a16="http://schemas.microsoft.com/office/drawing/2014/main" id="{73B1843E-18F8-4CCB-8143-95E88A76C256}"/>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Workbook History Q59/Q64/R59/R64/S36:S40/R70. RAF-derived 24.42bn L is combined fuel, fiscal/accrual basis, not an adopted calendar sales total. Product output after 2021 and stocks remain missing; 2025 trade is not 2025 consumption.</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794000"/>
                <a:gridCol w="3929380"/>
                <a:gridCol w="3929380"/>
              </a:tblGrid>
              <a:tr h="355600">
                <a:tc>
                  <a:txBody>
                    <a:bodyPr/>
                    <a:lstStyle/>
                    <a:p>
                      <a:pPr>
                        <a:spcAft>
                          <a:spcPts val="0"/>
                        </a:spcAft>
                        <a:buNone/>
                      </a:pPr>
                      <a:r>
                        <a:rPr sz="1200" b="1" u="none">
                          <a:solidFill>
                            <a:schemeClr val="dk1"/>
                          </a:solidFill>
                          <a:latin typeface="Lato"/>
                          <a:ea typeface="Lato"/>
                          <a:cs typeface="Lato"/>
                        </a:rPr>
                        <a:t>Evidence / bn litres</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Petrol</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Diesel</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2023 Department sales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9.04</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12.91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2024 FIASA sales, unverified</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9.03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11.73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2025 SARS imports / exports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4.45 / 0.80</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12.25 / 0.75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64633">
                <a:tc>
                  <a:txBody>
                    <a:bodyPr/>
                    <a:lstStyle/>
                    <a:p>
                      <a:pPr>
                        <a:spcAft>
                          <a:spcPts val="0"/>
                        </a:spcAft>
                        <a:buNone/>
                      </a:pPr>
                      <a:r>
                        <a:rPr sz="1200" b="1" u="none">
                          <a:solidFill>
                            <a:schemeClr val="dk1"/>
                          </a:solidFill>
                          <a:latin typeface="Lato"/>
                          <a:ea typeface="Lato"/>
                          <a:cs typeface="Lato"/>
                        </a:rPr>
                        <a:t>2025 sales / product output</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Sales absent; product production series ends 2021.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Sales absent; product production series ends 2021.</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64633">
                <a:tc>
                  <a:txBody>
                    <a:bodyPr/>
                    <a:lstStyle/>
                    <a:p>
                      <a:pPr>
                        <a:spcAft>
                          <a:spcPts val="0"/>
                        </a:spcAft>
                        <a:buNone/>
                      </a:pPr>
                      <a:r>
                        <a:rPr sz="1200" b="1" u="none">
                          <a:solidFill>
                            <a:schemeClr val="dk1"/>
                          </a:solidFill>
                          <a:latin typeface="Lato"/>
                          <a:ea typeface="Lato"/>
                          <a:cs typeface="Lato"/>
                        </a:rPr>
                        <a:t>RAF levy cross-check</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Combined levied volume 24.42bn L, year to March 2025.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Fiscal/accrual versus calendar sales. Reconcile coverage before interpreting the difference.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64633">
                <a:tc>
                  <a:txBody>
                    <a:bodyPr/>
                    <a:lstStyle/>
                    <a:p>
                      <a:pPr>
                        <a:spcAft>
                          <a:spcPts val="0"/>
                        </a:spcAft>
                        <a:buNone/>
                      </a:pPr>
                      <a:r>
                        <a:rPr sz="1200" b="1" u="none">
                          <a:solidFill>
                            <a:schemeClr val="dk1"/>
                          </a:solidFill>
                          <a:latin typeface="Lato"/>
                          <a:ea typeface="Lato"/>
                          <a:cs typeface="Lato"/>
                        </a:rPr>
                        <a:t>Decision consequence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2025 gross imports 16.70bn L; net 15.15bn L. Durban customs 13.16bn L.</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Current import penetration cannot be calculated using 2023 sales. Post-2021 production and stocks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47A44DF-F4D5-46DD-936A-FC9F7FF69911}"/>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69993497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EF80F7-5E95-4254-AADA-2529610CE858}"/>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The six-step bridge is implemented for screening; calibration now depends on the requested inputs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8C9FD287-0B0A-48C0-824D-9FC486A65C96}"/>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37</a:t>
            </a:r>
            <a:endParaRPr sz="1100"/>
          </a:p>
        </p:txBody>
      </p:sp>
      <p:sp>
        <p:nvSpPr>
          <p:cNvPr id="8" name="Unified source footer">
            <a:extLst xmlns:a="http://schemas.openxmlformats.org/drawingml/2006/main">
              <a:ext uri="{FF2B5EF4-FFF2-40B4-BE49-F238E27FC236}">
                <a16:creationId xmlns:a16="http://schemas.microsoft.com/office/drawing/2014/main" id="{1EFAD885-8982-429D-AB56-3670F5B2980D}"/>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Screening functions tested with synthetic cases; commercial outputs remain unpopulated. Not integrated into the forecast engine or independently reviewed. Owners, request IDs and expiry triggers: workstreams/WS0_governance/workplan/sa_investment_bridge_2026_10_08.csv.</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095500"/>
                <a:gridCol w="4178300"/>
                <a:gridCol w="4378960"/>
              </a:tblGrid>
              <a:tr h="355600">
                <a:tc>
                  <a:txBody>
                    <a:bodyPr/>
                    <a:lstStyle/>
                    <a:p>
                      <a:pPr>
                        <a:spcAft>
                          <a:spcPts val="0"/>
                        </a:spcAft>
                        <a:buNone/>
                      </a:pPr>
                      <a:r>
                        <a:rPr sz="1200" b="1" u="none">
                          <a:solidFill>
                            <a:schemeClr val="dk1"/>
                          </a:solidFill>
                          <a:latin typeface="Lato"/>
                          <a:ea typeface="Lato"/>
                          <a:cs typeface="Lato"/>
                        </a:rPr>
                        <a:t>Work package</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Implemented now</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Input needed to complete the decision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1 | Baseline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Public handback received through 9 October. Review workbook maps all nine requests and source-level limitations.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Agree baseline year/source; reconcile production, stocks, scopes and fiscal/calendar periods.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2 | Route competition</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Delivered cost and bearable-charge calculation; route readiness register.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Matched quotes, service capacity and access.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3 | Vopak capture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Conditional Durban import-capture cases now quantified. Shared Lesedi transfers count once, see p35.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Customer allocation and unique terminal deliveries.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4 | Existing assets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Required-turn and operating-bottleneck calculation; gross-turn screen.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Working capacity, achievable turns and peak limits.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5 | Investment options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Pre-tax break-even volume calculation.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Commercial inputs and full incremental cash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6 | Nine worlds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Nine-cell output register and demand/supply balance calculation.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EV/efficiency implementation review complete for the pair. Baseline, hybrid/rail interactions and annual paths remain open.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0AC7B3C-96B7-423B-8615-4ADEA24A194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98786143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B4585F-2FDB-4473-AD6F-DD26D7A681E1}"/>
              </a:ext>
            </a:extLst>
          </p:cNvPr>
          <p:cNvSpPr>
            <a:spLocks xmlns:a="http://schemas.openxmlformats.org/drawingml/2006/main" noGrp="1"/>
          </p:cNvSpPr>
          <p:nvPr>
            <p:ph type="title" idx="0"/>
          </p:nvPr>
        </p:nvSpPr>
        <p:spPr/>
        <p:txBody>
          <a:bodyPr xmlns:a="http://schemas.openxmlformats.org/drawingml/2006/main">
            <a:normAutofit/>
          </a:bodyPr>
          <a:lstStyle xmlns:a="http://schemas.openxmlformats.org/drawingml/2006/main"/>
          <a:p xmlns:a="http://schemas.openxmlformats.org/drawingml/2006/main">
            <a:r>
              <a:rPr sz="2300">
                <a:solidFill>
                  <a:schemeClr val="dk1"/>
                </a:solidFill>
                <a:latin typeface="Lato"/>
                <a:ea typeface="Lato"/>
                <a:cs typeface="Lato"/>
              </a:rPr>
              <a:t>Demand, supply and corridor access translate into captured throughput and required tank turns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ADE59FE1-CC8C-42A3-A30F-3E84E3DB47F9}"/>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38</a:t>
            </a:r>
            <a:endParaRPr sz="1100"/>
          </a:p>
        </p:txBody>
      </p:sp>
      <p:sp>
        <p:nvSpPr>
          <p:cNvPr id="8" name="Unified source footer">
            <a:extLst xmlns:a="http://schemas.openxmlformats.org/drawingml/2006/main">
              <a:ext uri="{FF2B5EF4-FFF2-40B4-BE49-F238E27FC236}">
                <a16:creationId xmlns:a16="http://schemas.microsoft.com/office/drawing/2014/main" id="{9F46A5CE-F125-4B5D-AD64-EA2486FAD9A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sz="650"/>
          </a:p>
        </p:txBody>
      </p:sp>
      <p:graphicFrame>
        <p:nvGraphicFramePr>
          <p:cNvPr id="58"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1524000"/>
                <a:gridCol w="3035300"/>
                <a:gridCol w="3035300"/>
                <a:gridCol w="3058160"/>
              </a:tblGrid>
              <a:tr h="355600">
                <a:tc>
                  <a:txBody>
                    <a:bodyPr/>
                    <a:lstStyle/>
                    <a:p>
                      <a:pPr>
                        <a:spcAft>
                          <a:spcPts val="0"/>
                        </a:spcAft>
                        <a:buNone/>
                      </a:pPr>
                      <a:r>
                        <a:rPr sz="1200" b="1" u="none">
                          <a:solidFill>
                            <a:schemeClr val="dk1"/>
                          </a:solidFill>
                          <a:latin typeface="Lato"/>
                          <a:ea typeface="Lato"/>
                          <a:cs typeface="Lato"/>
                        </a:rPr>
                        <a:t>Argument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Situation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Complication</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Resolution / decision</a:t>
                      </a:r>
                      <a:endParaRPr sz="1200" b="1" u="none">
                        <a:solidFill>
                          <a:schemeClr val="dk1"/>
                        </a:solidFill>
                        <a:latin typeface="Lato"/>
                        <a:ea typeface="Lato"/>
                        <a:cs typeface="Lato"/>
                      </a:endParaRPr>
                    </a:p>
                  </a:txBody>
                  <a:tcPr marL="38100" marR="114300" marT="88900" marB="50800">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Transport
demand</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2023 petrol/diesel sales total 21.94bn L; sector activity and fleet evidence explain different fuel exposures.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Sector growth, rail recovery, EVs and efficiency change fuel demand.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D1–D4 define activity, rail, EV and efficiency paths. Translate them into capturable product demand.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Power
demand</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Power shortages supported diesel use; Eskom consumption has recently fallen.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Recovery may persist or reverse through outages and replacement delays.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D5 adds fleet recovery, replacement timing and diesel dispatch to the same demand paths.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Domestic
supply</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Reduced local production has increased reliance on imports.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SAPREF, Natref and Secunda can change domestic fuel output materially.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S1–S4 define plant output and sourcing mix. Imports are one consequence of the domestic balance.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Corridor
competition</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Durban connects imported fuel to inland customers.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Alternative gateways, delivered costs, reliability and access alter flows.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T1–T2 compare delivered economics and capture for domestic and imported fuel serving common destinations.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817880">
                <a:tc>
                  <a:txBody>
                    <a:bodyPr/>
                    <a:lstStyle/>
                    <a:p>
                      <a:pPr>
                        <a:spcAft>
                          <a:spcPts val="0"/>
                        </a:spcAft>
                        <a:buNone/>
                      </a:pPr>
                      <a:r>
                        <a:rPr sz="1200" b="1" u="none">
                          <a:solidFill>
                            <a:schemeClr val="dk1"/>
                          </a:solidFill>
                          <a:latin typeface="Lato"/>
                          <a:ea typeface="Lato"/>
                          <a:cs typeface="Lato"/>
                        </a:rPr>
                        <a:t>Vopak
investment</a:t>
                      </a:r>
                      <a:endParaRPr sz="1200" b="1" u="none">
                        <a:solidFill>
                          <a:schemeClr val="dk1"/>
                        </a:solidFill>
                        <a:latin typeface="Lato"/>
                        <a:ea typeface="Lato"/>
                        <a:cs typeface="Lato"/>
                      </a:endParaRPr>
                    </a:p>
                  </a:txBody>
                  <a:tcPr marL="4445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Durban and Lesedi provide connected assets whose throughput can rise through higher turnover.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Working tankage, receipt/dispatch, peaks and stock requirements constrain achievable turnover.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rgbClr val="0A2373"/>
                          </a:solidFill>
                          <a:latin typeface="Lato"/>
                          <a:ea typeface="Lato"/>
                          <a:cs typeface="Lato"/>
                        </a:rPr>
                        <a:t>T3–T5 compare working capacity, required/achievable turns and dispatch limits. F1 tests incremental returns.</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89CBC80E-6861-4DC2-B4DA-CB3014B71A09}"/>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pic>
        <p:nvPicPr>
          <p:cNvPr id="60" name="Argument icon transport"/>
          <p:cNvPicPr>
            <a:picLocks xmlns:a="http://schemas.openxmlformats.org/drawingml/2006/main" noChangeAspect="1"/>
          </p:cNvPicPr>
          <p:nvPr/>
        </p:nvPicPr>
        <p:blipFill>
          <a:blip xmlns:r="http://schemas.openxmlformats.org/officeDocument/2006/relationships" xmlns:a="http://schemas.openxmlformats.org/drawingml/2006/main" r:embed="R6aa2d61fdca14aa9"/>
          <a:stretch xmlns:a="http://schemas.openxmlformats.org/drawingml/2006/main">
            <a:fillRect l="0" t="0" r="0" b="0"/>
          </a:stretch>
        </p:blipFill>
        <p:spPr>
          <a:xfrm xmlns:a="http://schemas.openxmlformats.org/drawingml/2006/main">
            <a:off x="508000" y="2120900"/>
            <a:ext cx="317500" cy="317500"/>
          </a:xfrm>
          <a:prstGeom xmlns:a="http://schemas.openxmlformats.org/drawingml/2006/main" prst="rect">
            <a:avLst/>
          </a:prstGeom>
        </p:spPr>
      </p:pic>
      <p:pic>
        <p:nvPicPr>
          <p:cNvPr id="61" name="Argument icon power"/>
          <p:cNvPicPr>
            <a:picLocks xmlns:a="http://schemas.openxmlformats.org/drawingml/2006/main" noChangeAspect="1"/>
          </p:cNvPicPr>
          <p:nvPr/>
        </p:nvPicPr>
        <p:blipFill>
          <a:blip xmlns:r="http://schemas.openxmlformats.org/officeDocument/2006/relationships" xmlns:a="http://schemas.openxmlformats.org/drawingml/2006/main" r:embed="R2f704c72f3b44af4"/>
          <a:stretch xmlns:a="http://schemas.openxmlformats.org/drawingml/2006/main">
            <a:fillRect l="0" t="0" r="0" b="0"/>
          </a:stretch>
        </p:blipFill>
        <p:spPr>
          <a:xfrm xmlns:a="http://schemas.openxmlformats.org/drawingml/2006/main">
            <a:off x="508000" y="2938780"/>
            <a:ext cx="317500" cy="317500"/>
          </a:xfrm>
          <a:prstGeom xmlns:a="http://schemas.openxmlformats.org/drawingml/2006/main" prst="rect">
            <a:avLst/>
          </a:prstGeom>
        </p:spPr>
      </p:pic>
      <p:pic>
        <p:nvPicPr>
          <p:cNvPr id="62" name="Argument icon supply"/>
          <p:cNvPicPr>
            <a:picLocks xmlns:a="http://schemas.openxmlformats.org/drawingml/2006/main" noChangeAspect="1"/>
          </p:cNvPicPr>
          <p:nvPr/>
        </p:nvPicPr>
        <p:blipFill>
          <a:blip xmlns:r="http://schemas.openxmlformats.org/officeDocument/2006/relationships" xmlns:a="http://schemas.openxmlformats.org/drawingml/2006/main" r:embed="Ra3a0fe51cdc14969"/>
          <a:stretch xmlns:a="http://schemas.openxmlformats.org/drawingml/2006/main">
            <a:fillRect l="0" t="0" r="0" b="0"/>
          </a:stretch>
        </p:blipFill>
        <p:spPr>
          <a:xfrm xmlns:a="http://schemas.openxmlformats.org/drawingml/2006/main">
            <a:off x="508000" y="3756660"/>
            <a:ext cx="317500" cy="317500"/>
          </a:xfrm>
          <a:prstGeom xmlns:a="http://schemas.openxmlformats.org/drawingml/2006/main" prst="rect">
            <a:avLst/>
          </a:prstGeom>
        </p:spPr>
      </p:pic>
      <p:pic>
        <p:nvPicPr>
          <p:cNvPr id="63" name="Argument icon corridor"/>
          <p:cNvPicPr>
            <a:picLocks xmlns:a="http://schemas.openxmlformats.org/drawingml/2006/main" noChangeAspect="1"/>
          </p:cNvPicPr>
          <p:nvPr/>
        </p:nvPicPr>
        <p:blipFill>
          <a:blip xmlns:r="http://schemas.openxmlformats.org/officeDocument/2006/relationships" xmlns:a="http://schemas.openxmlformats.org/drawingml/2006/main" r:embed="Rb61aa031fa7c4bf4"/>
          <a:stretch xmlns:a="http://schemas.openxmlformats.org/drawingml/2006/main">
            <a:fillRect l="0" t="0" r="0" b="0"/>
          </a:stretch>
        </p:blipFill>
        <p:spPr>
          <a:xfrm xmlns:a="http://schemas.openxmlformats.org/drawingml/2006/main">
            <a:off x="508000" y="4574540"/>
            <a:ext cx="317500" cy="317500"/>
          </a:xfrm>
          <a:prstGeom xmlns:a="http://schemas.openxmlformats.org/drawingml/2006/main" prst="rect">
            <a:avLst/>
          </a:prstGeom>
        </p:spPr>
      </p:pic>
      <p:pic>
        <p:nvPicPr>
          <p:cNvPr id="64" name="Argument icon investment"/>
          <p:cNvPicPr>
            <a:picLocks xmlns:a="http://schemas.openxmlformats.org/drawingml/2006/main" noChangeAspect="1"/>
          </p:cNvPicPr>
          <p:nvPr/>
        </p:nvPicPr>
        <p:blipFill>
          <a:blip xmlns:r="http://schemas.openxmlformats.org/officeDocument/2006/relationships" xmlns:a="http://schemas.openxmlformats.org/drawingml/2006/main" r:embed="R9d1fabcab2b346b3"/>
          <a:stretch xmlns:a="http://schemas.openxmlformats.org/drawingml/2006/main">
            <a:fillRect l="0" t="0" r="0" b="0"/>
          </a:stretch>
        </p:blipFill>
        <p:spPr>
          <a:xfrm xmlns:a="http://schemas.openxmlformats.org/drawingml/2006/main">
            <a:off x="508000" y="5392420"/>
            <a:ext cx="317500" cy="317500"/>
          </a:xfrm>
          <a:prstGeom xmlns:a="http://schemas.openxmlformats.org/drawingml/2006/main" prst="rect">
            <a:avLst/>
          </a:prstGeom>
        </p:spPr>
      </p:pic>
      <p:sp>
        <p:nvSpPr>
          <p:cNvPr id="4" name="SCR 1">
            <a:extLst xmlns:a="http://schemas.openxmlformats.org/drawingml/2006/main">
              <a:ext uri="{FF2B5EF4-FFF2-40B4-BE49-F238E27FC236}">
                <a16:creationId xmlns:a16="http://schemas.microsoft.com/office/drawing/2014/main" id="{60C484AC-0D2C-DDE7-9E69-054236FBB38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6" name="SCR 2">
            <a:extLst xmlns:a="http://schemas.openxmlformats.org/drawingml/2006/main">
              <a:ext uri="{FF2B5EF4-FFF2-40B4-BE49-F238E27FC236}">
                <a16:creationId xmlns:a16="http://schemas.microsoft.com/office/drawing/2014/main" id="{AF19F4CF-14AC-E8DE-AB63-98A0906FCBB4}"/>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3" name="SCR 3">
            <a:extLst xmlns:a="http://schemas.openxmlformats.org/drawingml/2006/main">
              <a:ext uri="{FF2B5EF4-FFF2-40B4-BE49-F238E27FC236}">
                <a16:creationId xmlns:a16="http://schemas.microsoft.com/office/drawing/2014/main" id="{0AA5688E-E74B-FF16-A43B-BC23F0AD33A8}"/>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5" name="SCR 4">
            <a:extLst xmlns:a="http://schemas.openxmlformats.org/drawingml/2006/main">
              <a:ext uri="{FF2B5EF4-FFF2-40B4-BE49-F238E27FC236}">
                <a16:creationId xmlns:a16="http://schemas.microsoft.com/office/drawing/2014/main" id="{5423936A-FE34-4C3C-8775-921DAFFD540E}"/>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4159950910"/>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F1159C-464E-4FAD-B145-AC35FC2B43D6}"/>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The revised illustration gives extra tanks R58m more NPV than improvement alone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1B9D3B2F-37CA-45BE-BCC8-48F30464A1BD}"/>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39</a:t>
            </a:r>
            <a:endParaRPr sz="1100"/>
          </a:p>
        </p:txBody>
      </p:sp>
      <p:sp>
        <p:nvSpPr>
          <p:cNvPr id="8" name="Unified source footer">
            <a:extLst xmlns:a="http://schemas.openxmlformats.org/drawingml/2006/main">
              <a:ext uri="{FF2B5EF4-FFF2-40B4-BE49-F238E27FC236}">
                <a16:creationId xmlns:a16="http://schemas.microsoft.com/office/drawing/2014/main" id="{22FE3AA1-35B2-4197-931D-902540352AE6}"/>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ILLUSTRATIVE, 100% site basis, pre-tax at 10% for 20 years. Working tankage reduced from 126,000 to 124,000 m³. Model allocates more incremental contracted storage to added tanks, increasing assumed rent. This is model sensitivity, not new commercial evidence.</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High demand / low supply</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Capital and throughput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Incremental value versus existing</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Existing</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R0m capex
1.860bn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R+0.0m
Unserved 0.953bn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Improve access / dispatch</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R100m capex
2.232bn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R+24.2m
Unserved 0.581bn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Improve + add tanks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R600m capex
2.813bn L/year served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NPV R+82.2m
Unserved 0.000bn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Decision threshold</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Improvement beats existing above 2.181bn L/year.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Tanks beat improvement above 2.765bn L/year; assumed capture 2.813bn.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A1084881-E89D-47F7-9A40-95AF37B76EC5}"/>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3437290842"/>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F67A96-9D75-4908-9D26-D932BE12AD7A}"/>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Vopak reports anchor capacity and the revenue model; they do not disclose Lesedi project economics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2D2CCA37-A41E-4FAE-999A-329E85A20FDA}"/>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40</a:t>
            </a:r>
            <a:endParaRPr sz="1100"/>
          </a:p>
        </p:txBody>
      </p:sp>
      <p:sp>
        <p:nvSpPr>
          <p:cNvPr id="8" name="Unified source footer">
            <a:extLst xmlns:a="http://schemas.openxmlformats.org/drawingml/2006/main">
              <a:ext uri="{FF2B5EF4-FFF2-40B4-BE49-F238E27FC236}">
                <a16:creationId xmlns:a16="http://schemas.microsoft.com/office/drawing/2014/main" id="{87998E70-B65F-4A5D-A10E-E03A54B4B3FF}"/>
              </a:ext>
            </a:extLst>
          </p:cNvPr>
          <p:cNvSpPr>
            <a:spLocks xmlns:a="http://schemas.openxmlformats.org/drawingml/2006/main" noGrp="1"/>
          </p:cNvSpPr>
          <p:nvPr/>
        </p:nvSpPr>
        <p:spPr>
          <a:xfrm xmlns:a="http://schemas.openxmlformats.org/drawingml/2006/main">
            <a:off x="457200" y="6172200"/>
            <a:ext cx="10652760" cy="24130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650"/>
              <a:t>Vopak Annual Report 2025 pp36/39, 63, 213 and 324; FY2025 Analyst Presentation p24; official terminal directory checked 8 Oct 2026. All other business units includes multiple countries; do not allocate its profit to South Africa. URLs, downloaded originals and hashes retained.</a:t>
            </a:r>
            <a:endParaRPr sz="6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Evidence class</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What the sources establish</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How it is used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Assets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Lesedi: 140,000 m³; Durban: 360,246 m³. Vopak share: 70% at each site.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Full physical capacity for operations. The commissioned 40,000 m3 Lesedi expansion is included in 140,000 m3.</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Revenue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Storage services: EUR1,058.8m of EUR1,298.9m consolidated revenue in 2025.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81.5% is storage revenue. Rental may include minimum throughput; extra turns are not automatically extra revenue.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INFERRED | Group ratio</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EUR93.9 revenue / gross m³/year: proportional revenue divided by year-end proportional capacity.</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Mixed-portfolio scale indicator only. Not a Lesedi tariff, margin or estimate of site revenue.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1022350">
                <a:tc>
                  <a:txBody>
                    <a:bodyPr/>
                    <a:lstStyle/>
                    <a:p>
                      <a:pPr>
                        <a:spcAft>
                          <a:spcPts val="0"/>
                        </a:spcAft>
                        <a:buNone/>
                      </a:pPr>
                      <a:r>
                        <a:rPr sz="1200" b="1" u="none">
                          <a:solidFill>
                            <a:schemeClr val="dk1"/>
                          </a:solidFill>
                          <a:latin typeface="Lato"/>
                          <a:ea typeface="Lato"/>
                          <a:cs typeface="Lato"/>
                        </a:rPr>
                        <a:t>REPORTED | Benchmarks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15.6% group operating cash return; 5–7x capex/EBITDA for gas/industrial and 4–8x for transition infrastructure.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Context, not South Africa fuel-project hurdle rates. Authored 10% discount rate is separate.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D32CE19C-09D0-4537-93F7-9C7ED84B7C7F}"/>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537164831"/>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E72D29-5858-42AE-B841-92C625304ED2}"/>
              </a:ext>
            </a:extLst>
          </p:cNvPr>
          <p:cNvSpPr>
            <a:spLocks xmlns:a="http://schemas.openxmlformats.org/drawingml/2006/main" noGrp="1"/>
          </p:cNvSpPr>
          <p:nvPr>
            <p:ph type="title" idx="0"/>
          </p:nvPr>
        </p:nvSpPr>
        <p:spPr/>
        <p:txBody>
          <a:bodyPr xmlns:a="http://schemas.openxmlformats.org/drawingml/2006/main">
            <a:normAutofit fontScale="90000"/>
          </a:bodyPr>
          <a:lstStyle xmlns:a="http://schemas.openxmlformats.org/drawingml/2006/main"/>
          <a:p xmlns:a="http://schemas.openxmlformats.org/drawingml/2006/main">
            <a:r>
              <a:rPr sz="2300">
                <a:solidFill>
                  <a:schemeClr val="dk1"/>
                </a:solidFill>
                <a:latin typeface="Lato"/>
                <a:ea typeface="Lato"/>
                <a:cs typeface="Lato"/>
              </a:rPr>
              <a:t>The investment result rests on explicit assumptions that must be replaced or agreed</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58A060AA-8E12-47A7-9C4A-16EB43F9F004}"/>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41</a:t>
            </a:r>
            <a:endParaRPr sz="1100"/>
          </a:p>
        </p:txBody>
      </p:sp>
      <p:sp>
        <p:nvSpPr>
          <p:cNvPr id="8" name="Unified source footer">
            <a:extLst xmlns:a="http://schemas.openxmlformats.org/drawingml/2006/main">
              <a:ext uri="{FF2B5EF4-FFF2-40B4-BE49-F238E27FC236}">
                <a16:creationId xmlns:a16="http://schemas.microsoft.com/office/drawing/2014/main" id="{EF809FBA-6FC0-4883-864D-3584A887CB73}"/>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Every illustrative value is registered in assumptions/2026/vopak_investment_illustration.yaml. Not a forecast, commercial offer or approval. Proposed validation: Nigel coordinates Vopak commercial/operations; Manish reconciles; independent review outstanding.</a:t>
            </a:r>
            <a:endParaRPr sz="750"/>
          </a:p>
        </p:txBody>
      </p:sp>
      <p:graphicFrame>
        <p:nvGraphicFramePr>
          <p:cNvPr id="53" name="Table 46"/>
          <p:cNvGraphicFramePr/>
          <p:nvPr/>
        </p:nvGraphicFramePr>
        <p:xfrm>
          <a:off xmlns:a="http://schemas.openxmlformats.org/drawingml/2006/main" x="457200" y="1651000"/>
          <a:ext xmlns:a="http://schemas.openxmlformats.org/drawingml/2006/main" cx="10652760" cy="4445000"/>
        </p:xfrm>
        <a:graphic xmlns:a="http://schemas.openxmlformats.org/drawingml/2006/main">
          <a:graphicData uri="http://schemas.openxmlformats.org/drawingml/2006/table">
            <a:tbl>
              <a:tblPr firstRow="1" bandRow="1">
                <a:tableStyleId>{2D5ABB26-0587-4C30-8999-92F81FD0307C}</a:tableStyleId>
              </a:tblPr>
              <a:tblGrid>
                <a:gridCol w="2222500"/>
                <a:gridCol w="4127500"/>
                <a:gridCol w="4302760"/>
              </a:tblGrid>
              <a:tr h="355600">
                <a:tc>
                  <a:txBody>
                    <a:bodyPr/>
                    <a:lstStyle/>
                    <a:p>
                      <a:pPr>
                        <a:spcAft>
                          <a:spcPts val="0"/>
                        </a:spcAft>
                        <a:buNone/>
                      </a:pPr>
                      <a:r>
                        <a:rPr sz="1200" b="1" u="none">
                          <a:solidFill>
                            <a:schemeClr val="dk1"/>
                          </a:solidFill>
                          <a:latin typeface="Lato"/>
                          <a:ea typeface="Lato"/>
                          <a:cs typeface="Lato"/>
                        </a:rPr>
                        <a:t>ILLUSTRATIVE input</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Value used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c>
                  <a:txBody>
                    <a:bodyPr/>
                    <a:lstStyle/>
                    <a:p>
                      <a:pPr>
                        <a:spcAft>
                          <a:spcPts val="0"/>
                        </a:spcAft>
                        <a:buNone/>
                      </a:pPr>
                      <a:r>
                        <a:rPr sz="1200" b="1" u="none">
                          <a:solidFill>
                            <a:schemeClr val="dk1"/>
                          </a:solidFill>
                          <a:latin typeface="Lato"/>
                          <a:ea typeface="Lato"/>
                          <a:cs typeface="Lato"/>
                        </a:rPr>
                        <a:t>What must be validated</a:t>
                      </a:r>
                      <a:endParaRPr sz="1200" b="1" u="none">
                        <a:solidFill>
                          <a:schemeClr val="dk1"/>
                        </a:solidFill>
                        <a:latin typeface="Lato"/>
                        <a:ea typeface="Lato"/>
                        <a:cs typeface="Lato"/>
                      </a:endParaRPr>
                    </a:p>
                  </a:txBody>
                  <a:tcPr marL="38100" marR="114300" marT="88900" marB="50800">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Catchment balance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buNone/>
                      </a:pPr>
                      <a:r>
                        <a:rPr sz="1200" b="0" u="none">
                          <a:solidFill>
                            <a:schemeClr val="dk1"/>
                          </a:solidFill>
                          <a:latin typeface="Lato"/>
                          <a:ea typeface="Lato"/>
                          <a:cs typeface="Lato"/>
                        </a:rPr>
                        <a:t>Demand 6.0 / 6.8 / 7.6bn L; domestic deliveries 2.4 / 3.6 / 4.8bn L.</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Steady-state stress points; M rounds 2022 Gauteng sales for scale. No national production forecast implied.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Capture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70% of imports via Durban; Vopak captures 80%; 90% goes to Lesedi; 8% domestic capture.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Separate investment illustration with imported and domestic capture. Its shares differ from the Durban-only capture screen on p35.</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Operations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124,000 m³ working, 88.57% of gross; turns 1.25 existing / 1.50 improved; +40,000 gross m³.</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159,429 working m³ with tanks at the same assumed fraction. Receipt/dispatch ceiling 3.5bn L/year remains illustrative.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r h="681567">
                <a:tc>
                  <a:txBody>
                    <a:bodyPr/>
                    <a:lstStyle/>
                    <a:p>
                      <a:pPr>
                        <a:spcAft>
                          <a:spcPts val="0"/>
                        </a:spcAft>
                        <a:buNone/>
                      </a:pPr>
                      <a:r>
                        <a:rPr sz="1200" b="1" u="none">
                          <a:solidFill>
                            <a:schemeClr val="dk1"/>
                          </a:solidFill>
                          <a:latin typeface="Lato"/>
                          <a:ea typeface="Lato"/>
                          <a:cs typeface="Lato"/>
                        </a:rPr>
                        <a:t>Revenue</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R1,500 / gross m³/year rent on added contracted tanks; R60 / extra m³ contribution.</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Chargeable excess services only, excluding rent/minimum-throughput inclusions. Added rent follows incremental storage use.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Capital and costs</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R100m improvement + R500m tanks; fixed opex R5m + R12m/year; maintenance 1% capex/year.</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c>
                  <a:txBody>
                    <a:bodyPr/>
                    <a:lstStyle/>
                    <a:p>
                      <a:pPr>
                        <a:spcAft>
                          <a:spcPts val="0"/>
                        </a:spcAft>
                        <a:buNone/>
                      </a:pPr>
                      <a:r>
                        <a:rPr sz="1200" b="0" u="none">
                          <a:solidFill>
                            <a:schemeClr val="dk1"/>
                          </a:solidFill>
                          <a:latin typeface="Lato"/>
                          <a:ea typeface="Lato"/>
                          <a:cs typeface="Lato"/>
                        </a:rPr>
                        <a:t>Author-selected cost sensitivities; no Vopak quotation or engineering estimate.</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cmpd="sng">
                      <a:solidFill>
                        <a:srgbClr val="EEEEEE"/>
                      </a:solidFill>
                      <a:prstDash val="solid"/>
                    </a:lnB>
                    <a:solidFill>
                      <a:srgbClr val="FFFFFF"/>
                    </a:solidFill>
                  </a:tcPr>
                </a:tc>
              </a:tr>
              <a:tr h="681567">
                <a:tc>
                  <a:txBody>
                    <a:bodyPr/>
                    <a:lstStyle/>
                    <a:p>
                      <a:pPr>
                        <a:spcAft>
                          <a:spcPts val="0"/>
                        </a:spcAft>
                        <a:buNone/>
                      </a:pPr>
                      <a:r>
                        <a:rPr sz="1200" b="1" u="none">
                          <a:solidFill>
                            <a:schemeClr val="dk1"/>
                          </a:solidFill>
                          <a:latin typeface="Lato"/>
                          <a:ea typeface="Lato"/>
                          <a:cs typeface="Lato"/>
                        </a:rPr>
                        <a:t>Cash flow</a:t>
                      </a:r>
                      <a:endParaRPr sz="1200" b="1"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20 years at 10%; 50% / 75% / 100% operating ramp; capex upfront.</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c>
                  <a:txBody>
                    <a:bodyPr/>
                    <a:lstStyle/>
                    <a:p>
                      <a:pPr>
                        <a:spcAft>
                          <a:spcPts val="0"/>
                        </a:spcAft>
                        <a:buNone/>
                      </a:pPr>
                      <a:r>
                        <a:rPr sz="1200" b="0" u="none">
                          <a:solidFill>
                            <a:schemeClr val="dk1"/>
                          </a:solidFill>
                          <a:latin typeface="Lato"/>
                          <a:ea typeface="Lato"/>
                          <a:cs typeface="Lato"/>
                        </a:rPr>
                        <a:t>Pre-tax unlevered constant ZAR. Tax, working capital, construction timing and residual value excluded.</a:t>
                      </a:r>
                      <a:endParaRPr sz="1200" b="0" u="none">
                        <a:solidFill>
                          <a:schemeClr val="dk1"/>
                        </a:solidFill>
                        <a:latin typeface="Lato"/>
                        <a:ea typeface="Lato"/>
                        <a:cs typeface="Lato"/>
                      </a:endParaRPr>
                    </a:p>
                  </a:txBody>
                  <a:tcPr marL="38100" marR="114300" marT="88900" marB="50800">
                    <a:lnT w="7620" cmpd="sng">
                      <a:solidFill>
                        <a:srgbClr val="EEEEEE"/>
                      </a:solidFill>
                      <a:prstDash val="solid"/>
                    </a:lnT>
                    <a:lnB w="7620">
                      <a:solidFill>
                        <a:srgbClr val="EEEEEE"/>
                      </a:solidFill>
                    </a:lnB>
                    <a:solidFill>
                      <a:srgbClr val="FFFFFF"/>
                    </a:solidFill>
                  </a:tcPr>
                </a:tc>
              </a:tr>
            </a:tbl>
          </a:graphicData>
        </a:graphic>
      </p:graphicFrame>
      <p:sp>
        <p:nvSpPr>
          <p:cNvPr id="48" name="Strictly Confidential footer">
            <a:extLst xmlns:a="http://schemas.openxmlformats.org/drawingml/2006/main">
              <a:ext uri="{FF2B5EF4-FFF2-40B4-BE49-F238E27FC236}">
                <a16:creationId xmlns:a16="http://schemas.microsoft.com/office/drawing/2014/main" id="{98C21A72-3396-43F8-9401-3D8FA2B97ABB}"/>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F6826E68-0B27-3E9A-731F-737F28F0FB19}"/>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DB3FBD92-8DAF-542E-83C8-61B53DE1024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8954CB5A-2161-59A0-D177-7E44BC8E444E}"/>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9E01BBF5-098D-3FC4-718C-6B01C403EC02}"/>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spTree>
    <p:extLst>
      <p:ext uri="{BB962C8B-B14F-4D97-AF65-F5344CB8AC3E}">
        <p14:creationId xmlns:p14="http://schemas.microsoft.com/office/powerpoint/2010/main" val="106610567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A5FAE5-2BD6-41A0-8FE6-4540E3B1DC51}"/>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Capture and commercial assumptions can reverse the illustrated expansion choice</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62736954-00DB-4B89-A401-92EA4DC311C1}"/>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42</a:t>
            </a:r>
            <a:endParaRPr sz="1100"/>
          </a:p>
        </p:txBody>
      </p:sp>
      <p:sp>
        <p:nvSpPr>
          <p:cNvPr id="8" name="Unified source footer">
            <a:extLst xmlns:a="http://schemas.openxmlformats.org/drawingml/2006/main">
              <a:ext uri="{FF2B5EF4-FFF2-40B4-BE49-F238E27FC236}">
                <a16:creationId xmlns:a16="http://schemas.microsoft.com/office/drawing/2014/main" id="{FFC2AA92-721F-4931-8AFB-B842620C6F5D}"/>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sz="750"/>
          </a:p>
        </p:txBody>
      </p:sp>
      <p:sp>
        <p:nvSpPr>
          <p:cNvPr id="48" name="Strictly Confidential footer">
            <a:extLst xmlns:a="http://schemas.openxmlformats.org/drawingml/2006/main">
              <a:ext uri="{FF2B5EF4-FFF2-40B4-BE49-F238E27FC236}">
                <a16:creationId xmlns:a16="http://schemas.microsoft.com/office/drawing/2014/main" id="{25F712FC-256E-4AF8-97C8-E7AD40DFC31A}"/>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0AC5F3F9-4F59-13ED-19D4-0013D4873153}"/>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316F29AD-D7FE-6F92-5257-CF455AA08A0F}"/>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408A53D6-704E-7FB6-6013-379E29EB6DAF}"/>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193202C4-E619-6D6C-D555-717EA9A26526}"/>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graphicFrame>
        <p:nvGraphicFramePr>
          <p:cNvPr id="59" name=""/>
          <p:cNvGraphicFramePr/>
          <p:nvPr/>
        </p:nvGraphicFramePr>
        <p:xfrm>
          <a:off xmlns:a="http://schemas.openxmlformats.org/drawingml/2006/main" x="457200" y="1657350"/>
          <a:ext xmlns:a="http://schemas.openxmlformats.org/drawingml/2006/main" cx="10652760" cy="3746500"/>
        </p:xfrm>
        <a:graphic xmlns:a="http://schemas.openxmlformats.org/drawingml/2006/main">
          <a:graphicData uri="http://schemas.openxmlformats.org/drawingml/2006/table">
            <a:tbl>
              <a:tblPr firstRow="0" bandRow="0"/>
              <a:tblGrid>
                <a:gridCol w="3556000"/>
                <a:gridCol w="1778000"/>
                <a:gridCol w="1778000"/>
                <a:gridCol w="3543300"/>
              </a:tblGrid>
              <a:tr h="624417">
                <a:tc>
                  <a:txBody>
                    <a:bodyPr/>
                    <a:lstStyle/>
                    <a:p>
                      <a:r>
                        <a:rPr sz="1275" b="1">
                          <a:solidFill>
                            <a:srgbClr val="0B2475"/>
                          </a:solidFill>
                          <a:latin typeface="Lato"/>
                          <a:ea typeface="Lato"/>
                          <a:cs typeface="Lato"/>
                        </a:rPr>
                        <a:t>Independent sensitivity</a:t>
                      </a:r>
                    </a:p>
                  </a:txBody>
                  <a:tcPr marL="91440" marR="91440" marT="45720" marB="45720" anchor="ctr">
                    <a:solidFill>
                      <a:srgbClr val="F5F5F5"/>
                    </a:solidFill>
                  </a:tcPr>
                </a:tc>
                <a:tc>
                  <a:txBody>
                    <a:bodyPr/>
                    <a:lstStyle/>
                    <a:p>
                      <a:r>
                        <a:rPr sz="1275" b="1">
                          <a:solidFill>
                            <a:srgbClr val="202020"/>
                          </a:solidFill>
                          <a:latin typeface="Lato"/>
                          <a:ea typeface="Lato"/>
                          <a:cs typeface="Lato"/>
                        </a:rPr>
                        <a:t>Improve NPV Rm</a:t>
                      </a:r>
                    </a:p>
                  </a:txBody>
                  <a:tcPr marL="91440" marR="91440" marT="45720" marB="45720" anchor="ctr">
                    <a:solidFill>
                      <a:srgbClr val="F5F5F5"/>
                    </a:solidFill>
                  </a:tcPr>
                </a:tc>
                <a:tc>
                  <a:txBody>
                    <a:bodyPr/>
                    <a:lstStyle/>
                    <a:p>
                      <a:r>
                        <a:rPr sz="1275" b="1">
                          <a:solidFill>
                            <a:srgbClr val="202020"/>
                          </a:solidFill>
                          <a:latin typeface="Lato"/>
                          <a:ea typeface="Lato"/>
                          <a:cs typeface="Lato"/>
                        </a:rPr>
                        <a:t>Tanks NPV Rm</a:t>
                      </a:r>
                    </a:p>
                  </a:txBody>
                  <a:tcPr marL="91440" marR="91440" marT="45720" marB="45720" anchor="ctr">
                    <a:solidFill>
                      <a:srgbClr val="F5F5F5"/>
                    </a:solidFill>
                  </a:tcPr>
                </a:tc>
                <a:tc>
                  <a:txBody>
                    <a:bodyPr/>
                    <a:lstStyle/>
                    <a:p>
                      <a:r>
                        <a:rPr sz="1275" b="1">
                          <a:solidFill>
                            <a:srgbClr val="202020"/>
                          </a:solidFill>
                          <a:latin typeface="Lato"/>
                          <a:ea typeface="Lato"/>
                          <a:cs typeface="Lato"/>
                        </a:rPr>
                        <a:t>Preferred package</a:t>
                      </a:r>
                    </a:p>
                  </a:txBody>
                  <a:tcPr marL="91440" marR="91440" marT="45720" marB="45720" anchor="ctr">
                    <a:solidFill>
                      <a:srgbClr val="F5F5F5"/>
                    </a:solidFill>
                  </a:tcPr>
                </a:tc>
              </a:tr>
              <a:tr h="624417">
                <a:tc>
                  <a:txBody>
                    <a:bodyPr/>
                    <a:lstStyle/>
                    <a:p>
                      <a:r>
                        <a:rPr sz="1350" b="1">
                          <a:solidFill>
                            <a:srgbClr val="0B2475"/>
                          </a:solidFill>
                          <a:latin typeface="Lato"/>
                          <a:ea typeface="Lato"/>
                          <a:cs typeface="Lato"/>
                        </a:rPr>
                        <a:t>Base illustration</a:t>
                      </a:r>
                    </a:p>
                  </a:txBody>
                  <a:tcPr marL="91440" marR="91440" marT="45720" marB="45720" anchor="ctr">
                    <a:solidFill>
                      <a:srgbClr val="FFFFFF"/>
                    </a:solidFill>
                  </a:tcPr>
                </a:tc>
                <a:tc>
                  <a:txBody>
                    <a:bodyPr/>
                    <a:lstStyle/>
                    <a:p>
                      <a:r>
                        <a:rPr sz="1350" b="0">
                          <a:solidFill>
                            <a:srgbClr val="202020"/>
                          </a:solidFill>
                          <a:latin typeface="Lato"/>
                          <a:ea typeface="Lato"/>
                          <a:cs typeface="Lato"/>
                        </a:rPr>
                        <a:t>+24.2</a:t>
                      </a:r>
                    </a:p>
                  </a:txBody>
                  <a:tcPr marL="91440" marR="91440" marT="45720" marB="45720" anchor="ctr">
                    <a:solidFill>
                      <a:srgbClr val="FFFFFF"/>
                    </a:solidFill>
                  </a:tcPr>
                </a:tc>
                <a:tc>
                  <a:txBody>
                    <a:bodyPr/>
                    <a:lstStyle/>
                    <a:p>
                      <a:r>
                        <a:rPr sz="1350" b="0">
                          <a:solidFill>
                            <a:srgbClr val="202020"/>
                          </a:solidFill>
                          <a:latin typeface="Lato"/>
                          <a:ea typeface="Lato"/>
                          <a:cs typeface="Lato"/>
                        </a:rPr>
                        <a:t>+82.2</a:t>
                      </a:r>
                    </a:p>
                  </a:txBody>
                  <a:tcPr marL="91440" marR="91440" marT="45720" marB="45720" anchor="ctr">
                    <a:solidFill>
                      <a:srgbClr val="FFFFFF"/>
                    </a:solidFill>
                  </a:tcPr>
                </a:tc>
                <a:tc>
                  <a:txBody>
                    <a:bodyPr/>
                    <a:lstStyle/>
                    <a:p>
                      <a:r>
                        <a:rPr sz="1350" b="0">
                          <a:solidFill>
                            <a:srgbClr val="202020"/>
                          </a:solidFill>
                          <a:latin typeface="Lato"/>
                          <a:ea typeface="Lato"/>
                          <a:cs typeface="Lato"/>
                        </a:rPr>
                        <a:t>Improve + add tanks</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Capex +25%</a:t>
                      </a:r>
                    </a:p>
                  </a:txBody>
                  <a:tcPr marL="91440" marR="91440" marT="45720" marB="45720" anchor="ctr">
                    <a:solidFill>
                      <a:srgbClr val="FFFFFF"/>
                    </a:solidFill>
                  </a:tcPr>
                </a:tc>
                <a:tc>
                  <a:txBody>
                    <a:bodyPr/>
                    <a:lstStyle/>
                    <a:p>
                      <a:r>
                        <a:rPr sz="1350" b="0">
                          <a:solidFill>
                            <a:srgbClr val="202020"/>
                          </a:solidFill>
                          <a:latin typeface="Lato"/>
                          <a:ea typeface="Lato"/>
                          <a:cs typeface="Lato"/>
                        </a:rPr>
                        <a:t>-2.9</a:t>
                      </a:r>
                    </a:p>
                  </a:txBody>
                  <a:tcPr marL="91440" marR="91440" marT="45720" marB="45720" anchor="ctr">
                    <a:solidFill>
                      <a:srgbClr val="FFFFFF"/>
                    </a:solidFill>
                  </a:tcPr>
                </a:tc>
                <a:tc>
                  <a:txBody>
                    <a:bodyPr/>
                    <a:lstStyle/>
                    <a:p>
                      <a:r>
                        <a:rPr sz="1350" b="0">
                          <a:solidFill>
                            <a:srgbClr val="202020"/>
                          </a:solidFill>
                          <a:latin typeface="Lato"/>
                          <a:ea typeface="Lato"/>
                          <a:cs typeface="Lato"/>
                        </a:rPr>
                        <a:t>-80.6</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No chargeable excess services</a:t>
                      </a:r>
                    </a:p>
                  </a:txBody>
                  <a:tcPr marL="91440" marR="91440" marT="45720" marB="45720" anchor="ctr">
                    <a:solidFill>
                      <a:srgbClr val="FFFFFF"/>
                    </a:solidFill>
                  </a:tcPr>
                </a:tc>
                <a:tc>
                  <a:txBody>
                    <a:bodyPr/>
                    <a:lstStyle/>
                    <a:p>
                      <a:r>
                        <a:rPr sz="1350" b="0">
                          <a:solidFill>
                            <a:srgbClr val="202020"/>
                          </a:solidFill>
                          <a:latin typeface="Lato"/>
                          <a:ea typeface="Lato"/>
                          <a:cs typeface="Lato"/>
                        </a:rPr>
                        <a:t>-151.1</a:t>
                      </a:r>
                    </a:p>
                  </a:txBody>
                  <a:tcPr marL="91440" marR="91440" marT="45720" marB="45720" anchor="ctr">
                    <a:solidFill>
                      <a:srgbClr val="FFFFFF"/>
                    </a:solidFill>
                  </a:tcPr>
                </a:tc>
                <a:tc>
                  <a:txBody>
                    <a:bodyPr/>
                    <a:lstStyle/>
                    <a:p>
                      <a:r>
                        <a:rPr sz="1350" b="0">
                          <a:solidFill>
                            <a:srgbClr val="202020"/>
                          </a:solidFill>
                          <a:latin typeface="Lato"/>
                          <a:ea typeface="Lato"/>
                          <a:cs typeface="Lato"/>
                        </a:rPr>
                        <a:t>-366.7</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Vopak gateway capture 60%</a:t>
                      </a:r>
                    </a:p>
                  </a:txBody>
                  <a:tcPr marL="91440" marR="91440" marT="45720" marB="45720" anchor="ctr">
                    <a:solidFill>
                      <a:srgbClr val="FFFFFF"/>
                    </a:solidFill>
                  </a:tcPr>
                </a:tc>
                <a:tc>
                  <a:txBody>
                    <a:bodyPr/>
                    <a:lstStyle/>
                    <a:p>
                      <a:r>
                        <a:rPr sz="1350" b="0">
                          <a:solidFill>
                            <a:srgbClr val="202020"/>
                          </a:solidFill>
                          <a:latin typeface="Lato"/>
                          <a:ea typeface="Lato"/>
                          <a:cs typeface="Lato"/>
                        </a:rPr>
                        <a:t>-10.9</a:t>
                      </a:r>
                    </a:p>
                  </a:txBody>
                  <a:tcPr marL="91440" marR="91440" marT="45720" marB="45720" anchor="ctr">
                    <a:solidFill>
                      <a:srgbClr val="FFFFFF"/>
                    </a:solidFill>
                  </a:tcPr>
                </a:tc>
                <a:tc>
                  <a:txBody>
                    <a:bodyPr/>
                    <a:lstStyle/>
                    <a:p>
                      <a:r>
                        <a:rPr sz="1350" b="0">
                          <a:solidFill>
                            <a:srgbClr val="202020"/>
                          </a:solidFill>
                          <a:latin typeface="Lato"/>
                          <a:ea typeface="Lato"/>
                          <a:cs typeface="Lato"/>
                        </a:rPr>
                        <a:t>-655.6</a:t>
                      </a:r>
                    </a:p>
                  </a:txBody>
                  <a:tcPr marL="91440" marR="91440" marT="45720" marB="45720" anchor="ctr">
                    <a:solidFill>
                      <a:srgbClr val="FFFFFF"/>
                    </a:solidFill>
                  </a:tcPr>
                </a:tc>
                <a:tc>
                  <a:txBody>
                    <a:bodyPr/>
                    <a:lstStyle/>
                    <a:p>
                      <a:r>
                        <a:rPr sz="1350" b="0">
                          <a:solidFill>
                            <a:srgbClr val="202020"/>
                          </a:solidFill>
                          <a:latin typeface="Lato"/>
                          <a:ea typeface="Lato"/>
                          <a:cs typeface="Lato"/>
                        </a:rPr>
                        <a:t>Existing</a:t>
                      </a:r>
                    </a:p>
                  </a:txBody>
                  <a:tcPr marL="91440" marR="91440" marT="45720" marB="45720" anchor="ctr">
                    <a:solidFill>
                      <a:srgbClr val="FFFFFF"/>
                    </a:solidFill>
                  </a:tcPr>
                </a:tc>
              </a:tr>
              <a:tr h="624417">
                <a:tc>
                  <a:txBody>
                    <a:bodyPr/>
                    <a:lstStyle/>
                    <a:p>
                      <a:r>
                        <a:rPr sz="1350" b="1">
                          <a:solidFill>
                            <a:srgbClr val="0B2475"/>
                          </a:solidFill>
                          <a:latin typeface="Lato"/>
                          <a:ea typeface="Lato"/>
                          <a:cs typeface="Lato"/>
                        </a:rPr>
                        <a:t>Captured volume -10%</a:t>
                      </a:r>
                    </a:p>
                  </a:txBody>
                  <a:tcPr marL="91440" marR="91440" marT="45720" marB="45720" anchor="ctr">
                    <a:solidFill>
                      <a:srgbClr val="FFFFFF"/>
                    </a:solidFill>
                  </a:tcPr>
                </a:tc>
                <a:tc>
                  <a:txBody>
                    <a:bodyPr/>
                    <a:lstStyle/>
                    <a:p>
                      <a:r>
                        <a:rPr sz="1350" b="0">
                          <a:solidFill>
                            <a:srgbClr val="202020"/>
                          </a:solidFill>
                          <a:latin typeface="Lato"/>
                          <a:ea typeface="Lato"/>
                          <a:cs typeface="Lato"/>
                        </a:rPr>
                        <a:t>+24.2</a:t>
                      </a:r>
                    </a:p>
                  </a:txBody>
                  <a:tcPr marL="91440" marR="91440" marT="45720" marB="45720" anchor="ctr">
                    <a:solidFill>
                      <a:srgbClr val="FFFFFF"/>
                    </a:solidFill>
                  </a:tcPr>
                </a:tc>
                <a:tc>
                  <a:txBody>
                    <a:bodyPr/>
                    <a:lstStyle/>
                    <a:p>
                      <a:r>
                        <a:rPr sz="1350" b="0">
                          <a:solidFill>
                            <a:srgbClr val="202020"/>
                          </a:solidFill>
                          <a:latin typeface="Lato"/>
                          <a:ea typeface="Lato"/>
                          <a:cs typeface="Lato"/>
                        </a:rPr>
                        <a:t>-258.1</a:t>
                      </a:r>
                    </a:p>
                  </a:txBody>
                  <a:tcPr marL="91440" marR="91440" marT="45720" marB="45720" anchor="ctr">
                    <a:solidFill>
                      <a:srgbClr val="FFFFFF"/>
                    </a:solidFill>
                  </a:tcPr>
                </a:tc>
                <a:tc>
                  <a:txBody>
                    <a:bodyPr/>
                    <a:lstStyle/>
                    <a:p>
                      <a:r>
                        <a:rPr sz="1350" b="0">
                          <a:solidFill>
                            <a:srgbClr val="202020"/>
                          </a:solidFill>
                          <a:latin typeface="Lato"/>
                          <a:ea typeface="Lato"/>
                          <a:cs typeface="Lato"/>
                        </a:rPr>
                        <a:t>Improve access / dispatch</a:t>
                      </a:r>
                    </a:p>
                  </a:txBody>
                  <a:tcPr marL="91440" marR="91440" marT="45720" marB="45720" anchor="ctr">
                    <a:solidFill>
                      <a:srgbClr val="FFFFFF"/>
                    </a:solidFill>
                  </a:tcPr>
                </a:tc>
              </a:tr>
            </a:tbl>
          </a:graphicData>
        </a:graphic>
      </p:graphicFrame>
      <p:sp>
        <p:nvSpPr>
          <p:cNvPr id="50" name="Review interpretation">
            <a:extLst xmlns:a="http://schemas.openxmlformats.org/drawingml/2006/main">
              <a:ext uri="{FF2B5EF4-FFF2-40B4-BE49-F238E27FC236}">
                <a16:creationId xmlns:a16="http://schemas.microsoft.com/office/drawing/2014/main" id="{E7064438-ACE1-4E5C-B2C8-29AA9586F97D}"/>
              </a:ext>
            </a:extLst>
          </p:cNvPr>
          <p:cNvSpPr>
            <a:spLocks xmlns:a="http://schemas.openxmlformats.org/drawingml/2006/main" noGrp="1"/>
          </p:cNvSpPr>
          <p:nvPr/>
        </p:nvSpPr>
        <p:spPr>
          <a:xfrm xmlns:a="http://schemas.openxmlformats.org/drawingml/2006/main">
            <a:off x="457200" y="5613400"/>
            <a:ext cx="10648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202020"/>
                </a:solidFill>
                <a:latin typeface="Lato"/>
                <a:ea typeface="Lato"/>
                <a:cs typeface="Lato"/>
              </a:defRPr>
            </a:pPr>
            <a:r>
              <a:rPr sz="1125">
                <a:solidFill>
                  <a:srgbClr val="202020"/>
                </a:solidFill>
                <a:latin typeface="Lato"/>
                <a:ea typeface="Lato"/>
                <a:cs typeface="Lato"/>
              </a:rPr>
              <a:t>The lower working-capacity estimate increases assumed incremental rental in the model. The tank option still loses under the tested downside cases. Validate rental inclusions, customer volumes and project costs.</a:t>
            </a:r>
          </a:p>
        </p:txBody>
      </p:sp>
    </p:spTree>
    <p:extLst>
      <p:ext uri="{BB962C8B-B14F-4D97-AF65-F5344CB8AC3E}">
        <p14:creationId xmlns:p14="http://schemas.microsoft.com/office/powerpoint/2010/main" val="278411005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BB442C-A53C-4A32-9E55-10EBFA84A8EC}"/>
              </a:ext>
            </a:extLst>
          </p:cNvPr>
          <p:cNvSpPr>
            <a:spLocks xmlns:a="http://schemas.openxmlformats.org/drawingml/2006/main" noGrp="1"/>
          </p:cNvSpPr>
          <p:nvPr>
            <p:ph type="title" idx="0"/>
          </p:nvPr>
        </p:nvSpPr>
        <p:spPr/>
        <p:txBody>
          <a:bodyPr xmlns:a="http://schemas.openxmlformats.org/drawingml/2006/main">
            <a:normAutofit fontScale="100000"/>
          </a:bodyPr>
          <a:lstStyle xmlns:a="http://schemas.openxmlformats.org/drawingml/2006/main"/>
          <a:p xmlns:a="http://schemas.openxmlformats.org/drawingml/2006/main">
            <a:r>
              <a:rPr sz="2300">
                <a:solidFill>
                  <a:schemeClr val="dk1"/>
                </a:solidFill>
                <a:latin typeface="Lato"/>
                <a:ea typeface="Lato"/>
                <a:cs typeface="Lato"/>
              </a:rPr>
              <a:t>Estimated working tankage supports a handling sensitivity of 3.50 and 2.98bn litres at two turns</a:t>
            </a:r>
            <a:endParaRPr sz="2300">
              <a:solidFill>
                <a:schemeClr val="dk1"/>
              </a:solidFill>
              <a:latin typeface="Lato"/>
              <a:ea typeface="Lato"/>
              <a:cs typeface="Lato"/>
            </a:endParaRPr>
          </a:p>
        </p:txBody>
      </p:sp>
      <p:sp>
        <p:nvSpPr>
          <p:cNvPr id="3" name="Slide Number Placeholder">
            <a:extLst xmlns:a="http://schemas.openxmlformats.org/drawingml/2006/main">
              <a:ext uri="{FF2B5EF4-FFF2-40B4-BE49-F238E27FC236}">
                <a16:creationId xmlns:a16="http://schemas.microsoft.com/office/drawing/2014/main" id="{E5B510A9-64F3-4C35-B195-FBC1E6C4F61F}"/>
              </a:ext>
            </a:extLst>
          </p:cNvPr>
          <p:cNvSpPr>
            <a:spLocks xmlns:a="http://schemas.openxmlformats.org/drawingml/2006/main" noGrp="1"/>
          </p:cNvSpPr>
          <p:nvPr>
            <p:ph type="sldNum" idx="12"/>
          </p:nvPr>
        </p:nvSpPr>
        <p:spPr>
          <a:xfrm xmlns:a="http://schemas.openxmlformats.org/drawingml/2006/main">
            <a:off x="10972800" y="6515100"/>
            <a:ext cx="355600" cy="241300"/>
          </a:xfrm>
        </p:spPr>
        <p:txBody>
          <a:bodyPr xmlns:a="http://schemas.openxmlformats.org/drawingml/2006/main"/>
          <a:lstStyle xmlns:a="http://schemas.openxmlformats.org/drawingml/2006/main"/>
          <a:p xmlns:a="http://schemas.openxmlformats.org/drawingml/2006/main">
            <a:pPr>
              <a:buNone/>
              <a:defRPr sz="1000">
                <a:latin typeface="Lato"/>
                <a:ea typeface="Lato"/>
                <a:cs typeface="Lato"/>
              </a:defRPr>
            </a:pPr>
            <a:r>
              <a:rPr sz="1100"/>
              <a:t>43</a:t>
            </a:r>
            <a:endParaRPr sz="1100"/>
          </a:p>
        </p:txBody>
      </p:sp>
      <p:sp>
        <p:nvSpPr>
          <p:cNvPr id="8" name="Unified source footer">
            <a:extLst xmlns:a="http://schemas.openxmlformats.org/drawingml/2006/main">
              <a:ext uri="{FF2B5EF4-FFF2-40B4-BE49-F238E27FC236}">
                <a16:creationId xmlns:a16="http://schemas.microsoft.com/office/drawing/2014/main" id="{A0C587D7-8D9F-42CD-BD70-40B4CA2240AF}"/>
              </a:ext>
            </a:extLst>
          </p:cNvPr>
          <p:cNvSpPr>
            <a:spLocks xmlns:a="http://schemas.openxmlformats.org/drawingml/2006/main" noGrp="1"/>
          </p:cNvSpPr>
          <p:nvPr/>
        </p:nvSpPr>
        <p:spPr>
          <a:xfrm xmlns:a="http://schemas.openxmlformats.org/drawingml/2006/main">
            <a:off x="457200" y="6184900"/>
            <a:ext cx="10652760" cy="2308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ts val="900"/>
              </a:lnSpc>
              <a:spcBef>
                <a:spcPts val="0"/>
              </a:spcBef>
              <a:spcAft>
                <a:spcPts val="0"/>
              </a:spcAft>
              <a:buNone/>
              <a:defRPr sz="750" b="0">
                <a:solidFill>
                  <a:srgbClr val="000000"/>
                </a:solidFill>
                <a:latin typeface="Lato"/>
                <a:ea typeface="Lato"/>
                <a:cs typeface="Lato"/>
              </a:defRPr>
            </a:pPr>
            <a:r>
              <a:rPr sz="750"/>
              <a:t>Registered terminal_site_assumptions.csv. Capture cases hold base turns at two/month; the investment illustration separately tests 1.25 / 1.50 turns with the same Lesedi starting working capacity. Product allocation, access, peaks and downtime require validation.</a:t>
            </a:r>
            <a:endParaRPr sz="750"/>
          </a:p>
        </p:txBody>
      </p:sp>
      <p:sp>
        <p:nvSpPr>
          <p:cNvPr id="48" name="Strictly Confidential footer">
            <a:extLst xmlns:a="http://schemas.openxmlformats.org/drawingml/2006/main">
              <a:ext uri="{FF2B5EF4-FFF2-40B4-BE49-F238E27FC236}">
                <a16:creationId xmlns:a16="http://schemas.microsoft.com/office/drawing/2014/main" id="{54B9CA1A-9CC3-4DE3-A1E3-9B61B6D4ED3E}"/>
              </a:ext>
            </a:extLst>
          </p:cNvPr>
          <p:cNvSpPr>
            <a:spLocks xmlns:a="http://schemas.openxmlformats.org/drawingml/2006/main" noGrp="1"/>
          </p:cNvSpPr>
          <p:nvPr/>
        </p:nvSpPr>
        <p:spPr>
          <a:xfrm xmlns:a="http://schemas.openxmlformats.org/drawingml/2006/main">
            <a:off x="457200" y="6729984"/>
            <a:ext cx="2011680" cy="118872"/>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spcBef>
                <a:spcPts val="0"/>
              </a:spcBef>
              <a:spcAft>
                <a:spcPts val="0"/>
              </a:spcAft>
              <a:buNone/>
              <a:defRPr sz="750">
                <a:solidFill>
                  <a:srgbClr val="767676"/>
                </a:solidFill>
                <a:latin typeface="Lato"/>
                <a:ea typeface="Lato"/>
                <a:cs typeface="Lato"/>
              </a:defRPr>
            </a:pPr>
            <a:r>
              <a:t>Strictly Confidential</a:t>
            </a:r>
          </a:p>
        </p:txBody>
      </p:sp>
      <p:sp>
        <p:nvSpPr>
          <p:cNvPr id="9" name="SCR 1">
            <a:extLst xmlns:a="http://schemas.openxmlformats.org/drawingml/2006/main">
              <a:ext uri="{FF2B5EF4-FFF2-40B4-BE49-F238E27FC236}">
                <a16:creationId xmlns:a16="http://schemas.microsoft.com/office/drawing/2014/main" id="{62407EC9-1612-094C-1705-85382BC15FE1}"/>
              </a:ext>
            </a:extLst>
          </p:cNvPr>
          <p:cNvSpPr>
            <a:spLocks xmlns:a="http://schemas.openxmlformats.org/drawingml/2006/main" noGrp="1"/>
          </p:cNvSpPr>
          <p:nvPr/>
        </p:nvSpPr>
        <p:spPr>
          <a:xfrm xmlns:a="http://schemas.openxmlformats.org/drawingml/2006/main">
            <a:off x="4572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Appendix</a:t>
            </a:r>
          </a:p>
        </p:txBody>
      </p:sp>
      <p:sp>
        <p:nvSpPr>
          <p:cNvPr id="10" name="SCR 2">
            <a:extLst xmlns:a="http://schemas.openxmlformats.org/drawingml/2006/main">
              <a:ext uri="{FF2B5EF4-FFF2-40B4-BE49-F238E27FC236}">
                <a16:creationId xmlns:a16="http://schemas.microsoft.com/office/drawing/2014/main" id="{3A778276-599C-2A6B-6C50-6DCD33805BF9}"/>
              </a:ext>
            </a:extLst>
          </p:cNvPr>
          <p:cNvSpPr>
            <a:spLocks xmlns:a="http://schemas.openxmlformats.org/drawingml/2006/main" noGrp="1"/>
          </p:cNvSpPr>
          <p:nvPr/>
        </p:nvSpPr>
        <p:spPr>
          <a:xfrm xmlns:a="http://schemas.openxmlformats.org/drawingml/2006/main">
            <a:off x="31496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Supporting evidence</a:t>
            </a:r>
          </a:p>
        </p:txBody>
      </p:sp>
      <p:sp>
        <p:nvSpPr>
          <p:cNvPr id="11" name="SCR 3">
            <a:extLst xmlns:a="http://schemas.openxmlformats.org/drawingml/2006/main">
              <a:ext uri="{FF2B5EF4-FFF2-40B4-BE49-F238E27FC236}">
                <a16:creationId xmlns:a16="http://schemas.microsoft.com/office/drawing/2014/main" id="{BB20E8F9-3771-6C49-6A40-18406754706D}"/>
              </a:ext>
            </a:extLst>
          </p:cNvPr>
          <p:cNvSpPr>
            <a:spLocks xmlns:a="http://schemas.openxmlformats.org/drawingml/2006/main" noGrp="1"/>
          </p:cNvSpPr>
          <p:nvPr/>
        </p:nvSpPr>
        <p:spPr>
          <a:xfrm xmlns:a="http://schemas.openxmlformats.org/drawingml/2006/main">
            <a:off x="58420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Calibration</a:t>
            </a:r>
          </a:p>
        </p:txBody>
      </p:sp>
      <p:sp>
        <p:nvSpPr>
          <p:cNvPr id="12" name="SCR 4">
            <a:extLst xmlns:a="http://schemas.openxmlformats.org/drawingml/2006/main">
              <a:ext uri="{FF2B5EF4-FFF2-40B4-BE49-F238E27FC236}">
                <a16:creationId xmlns:a16="http://schemas.microsoft.com/office/drawing/2014/main" id="{F5A0E947-B3B3-EB62-5A96-928310C79DFF}"/>
              </a:ext>
            </a:extLst>
          </p:cNvPr>
          <p:cNvSpPr>
            <a:spLocks xmlns:a="http://schemas.openxmlformats.org/drawingml/2006/main" noGrp="1"/>
          </p:cNvSpPr>
          <p:nvPr/>
        </p:nvSpPr>
        <p:spPr>
          <a:xfrm xmlns:a="http://schemas.openxmlformats.org/drawingml/2006/main">
            <a:off x="8534400" y="88900"/>
            <a:ext cx="2575560" cy="279400"/>
          </a:xfrm>
          <a:prstGeom xmlns:a="http://schemas.openxmlformats.org/drawingml/2006/main" prst="rect">
            <a:avLst/>
          </a:prstGeom>
          <a:solidFill xmlns:a="http://schemas.openxmlformats.org/drawingml/2006/main">
            <a:schemeClr val="lt1">
              <a:shade val="92000"/>
            </a:schemeClr>
          </a:solidFill>
          <a:ln xmlns:a="http://schemas.openxmlformats.org/drawingml/2006/main" w="12700" cmpd="sng">
            <a:no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25400" bIns="0" anchor="ctr"/>
          <a:lstStyle xmlns:a="http://schemas.openxmlformats.org/drawingml/2006/main"/>
          <a:p xmlns:a="http://schemas.openxmlformats.org/drawingml/2006/main">
            <a:pPr algn="ctr">
              <a:buNone/>
            </a:pPr>
            <a:r>
              <a:rPr sz="1100">
                <a:solidFill>
                  <a:schemeClr val="accent1"/>
                </a:solidFill>
                <a:latin typeface="Lato"/>
                <a:ea typeface="Lato"/>
                <a:cs typeface="Lato"/>
              </a:rPr>
              <a:t>Reference detail</a:t>
            </a:r>
          </a:p>
        </p:txBody>
      </p:sp>
      <p:graphicFrame>
        <p:nvGraphicFramePr>
          <p:cNvPr id="59" name=""/>
          <p:cNvGraphicFramePr/>
          <p:nvPr/>
        </p:nvGraphicFramePr>
        <p:xfrm>
          <a:off xmlns:a="http://schemas.openxmlformats.org/drawingml/2006/main" x="457200" y="1657350"/>
          <a:ext xmlns:a="http://schemas.openxmlformats.org/drawingml/2006/main" cx="10652760" cy="3048000"/>
        </p:xfrm>
        <a:graphic xmlns:a="http://schemas.openxmlformats.org/drawingml/2006/main">
          <a:graphicData uri="http://schemas.openxmlformats.org/drawingml/2006/table">
            <a:tbl>
              <a:tblPr firstRow="0" bandRow="0"/>
              <a:tblGrid>
                <a:gridCol w="1587500"/>
                <a:gridCol w="2413000"/>
                <a:gridCol w="2159000"/>
                <a:gridCol w="2159000"/>
                <a:gridCol w="2336800"/>
              </a:tblGrid>
              <a:tr h="1016000">
                <a:tc>
                  <a:txBody>
                    <a:bodyPr/>
                    <a:lstStyle/>
                    <a:p>
                      <a:r>
                        <a:rPr sz="1275" b="1">
                          <a:solidFill>
                            <a:srgbClr val="0B2475"/>
                          </a:solidFill>
                          <a:latin typeface="Lato"/>
                          <a:ea typeface="Lato"/>
                          <a:cs typeface="Lato"/>
                        </a:rPr>
                        <a:t>Site</a:t>
                      </a:r>
                    </a:p>
                  </a:txBody>
                  <a:tcPr marL="91440" marR="91440" marT="45720" marB="45720" anchor="ctr">
                    <a:solidFill>
                      <a:srgbClr val="F5F5F5"/>
                    </a:solidFill>
                  </a:tcPr>
                </a:tc>
                <a:tc>
                  <a:txBody>
                    <a:bodyPr/>
                    <a:lstStyle/>
                    <a:p>
                      <a:r>
                        <a:rPr sz="1275" b="1">
                          <a:solidFill>
                            <a:srgbClr val="202020"/>
                          </a:solidFill>
                          <a:latin typeface="Lato"/>
                          <a:ea typeface="Lato"/>
                          <a:cs typeface="Lato"/>
                        </a:rPr>
                        <a:t>Working estimate</a:t>
                      </a:r>
                    </a:p>
                  </a:txBody>
                  <a:tcPr marL="91440" marR="91440" marT="45720" marB="45720" anchor="ctr">
                    <a:solidFill>
                      <a:srgbClr val="F5F5F5"/>
                    </a:solidFill>
                  </a:tcPr>
                </a:tc>
                <a:tc>
                  <a:txBody>
                    <a:bodyPr/>
                    <a:lstStyle/>
                    <a:p>
                      <a:r>
                        <a:rPr sz="1275" b="1">
                          <a:solidFill>
                            <a:srgbClr val="202020"/>
                          </a:solidFill>
                          <a:latin typeface="Lato"/>
                          <a:ea typeface="Lato"/>
                          <a:cs typeface="Lato"/>
                        </a:rPr>
                        <a:t>Low turns</a:t>
                      </a:r>
                    </a:p>
                  </a:txBody>
                  <a:tcPr marL="91440" marR="91440" marT="45720" marB="45720" anchor="ctr">
                    <a:solidFill>
                      <a:srgbClr val="F5F5F5"/>
                    </a:solidFill>
                  </a:tcPr>
                </a:tc>
                <a:tc>
                  <a:txBody>
                    <a:bodyPr/>
                    <a:lstStyle/>
                    <a:p>
                      <a:r>
                        <a:rPr sz="1275" b="1">
                          <a:solidFill>
                            <a:srgbClr val="202020"/>
                          </a:solidFill>
                          <a:latin typeface="Lato"/>
                          <a:ea typeface="Lato"/>
                          <a:cs typeface="Lato"/>
                        </a:rPr>
                        <a:t>Base turns</a:t>
                      </a:r>
                    </a:p>
                  </a:txBody>
                  <a:tcPr marL="91440" marR="91440" marT="45720" marB="45720" anchor="ctr">
                    <a:solidFill>
                      <a:srgbClr val="F5F5F5"/>
                    </a:solidFill>
                  </a:tcPr>
                </a:tc>
                <a:tc>
                  <a:txBody>
                    <a:bodyPr/>
                    <a:lstStyle/>
                    <a:p>
                      <a:r>
                        <a:rPr sz="1275" b="1">
                          <a:solidFill>
                            <a:srgbClr val="202020"/>
                          </a:solidFill>
                          <a:latin typeface="Lato"/>
                          <a:ea typeface="Lato"/>
                          <a:cs typeface="Lato"/>
                        </a:rPr>
                        <a:t>High turns</a:t>
                      </a:r>
                    </a:p>
                  </a:txBody>
                  <a:tcPr marL="91440" marR="91440" marT="45720" marB="45720" anchor="ctr">
                    <a:solidFill>
                      <a:srgbClr val="F5F5F5"/>
                    </a:solidFill>
                  </a:tcPr>
                </a:tc>
              </a:tr>
              <a:tr h="1016000">
                <a:tc>
                  <a:txBody>
                    <a:bodyPr/>
                    <a:lstStyle/>
                    <a:p>
                      <a:r>
                        <a:rPr sz="1350" b="1">
                          <a:solidFill>
                            <a:srgbClr val="0B2475"/>
                          </a:solidFill>
                          <a:latin typeface="Lato"/>
                          <a:ea typeface="Lato"/>
                          <a:cs typeface="Lato"/>
                        </a:rPr>
                        <a:t>Durban</a:t>
                      </a:r>
                    </a:p>
                  </a:txBody>
                  <a:tcPr marL="91440" marR="91440" marT="45720" marB="45720" anchor="ctr">
                    <a:solidFill>
                      <a:srgbClr val="FFFFFF"/>
                    </a:solidFill>
                  </a:tcPr>
                </a:tc>
                <a:tc>
                  <a:txBody>
                    <a:bodyPr/>
                    <a:lstStyle/>
                    <a:p>
                      <a:r>
                        <a:rPr sz="1350" b="0">
                          <a:solidFill>
                            <a:srgbClr val="202020"/>
                          </a:solidFill>
                          <a:latin typeface="Lato"/>
                          <a:ea typeface="Lato"/>
                          <a:cs typeface="Lato"/>
                        </a:rPr>
                        <a:t>146,000 m³</a:t>
                      </a:r>
                    </a:p>
                  </a:txBody>
                  <a:tcPr marL="91440" marR="91440" marT="45720" marB="45720" anchor="ctr">
                    <a:solidFill>
                      <a:srgbClr val="FFFFFF"/>
                    </a:solidFill>
                  </a:tcPr>
                </a:tc>
                <a:tc>
                  <a:txBody>
                    <a:bodyPr/>
                    <a:lstStyle/>
                    <a:p>
                      <a:r>
                        <a:rPr sz="1350" b="0">
                          <a:solidFill>
                            <a:srgbClr val="202020"/>
                          </a:solidFill>
                          <a:latin typeface="Lato"/>
                          <a:ea typeface="Lato"/>
                          <a:cs typeface="Lato"/>
                        </a:rPr>
                        <a:t>1.75bn L</a:t>
                      </a:r>
                    </a:p>
                    <a:p>
                      <a:r>
                        <a:rPr sz="1350" b="0">
                          <a:solidFill>
                            <a:srgbClr val="202020"/>
                          </a:solidFill>
                          <a:latin typeface="Lato"/>
                          <a:ea typeface="Lato"/>
                          <a:cs typeface="Lato"/>
                        </a:rPr>
                        <a:t>1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3.50bn L</a:t>
                      </a:r>
                    </a:p>
                    <a:p>
                      <a:r>
                        <a:rPr sz="1350" b="0">
                          <a:solidFill>
                            <a:srgbClr val="202020"/>
                          </a:solidFill>
                          <a:latin typeface="Lato"/>
                          <a:ea typeface="Lato"/>
                          <a:cs typeface="Lato"/>
                        </a:rPr>
                        <a:t>2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5.26bn L</a:t>
                      </a:r>
                    </a:p>
                    <a:p>
                      <a:r>
                        <a:rPr sz="1350" b="0">
                          <a:solidFill>
                            <a:srgbClr val="202020"/>
                          </a:solidFill>
                          <a:latin typeface="Lato"/>
                          <a:ea typeface="Lato"/>
                          <a:cs typeface="Lato"/>
                        </a:rPr>
                        <a:t>3 turns/month</a:t>
                      </a:r>
                    </a:p>
                  </a:txBody>
                  <a:tcPr marL="91440" marR="91440" marT="45720" marB="45720" anchor="ctr">
                    <a:solidFill>
                      <a:srgbClr val="FFFFFF"/>
                    </a:solidFill>
                  </a:tcPr>
                </a:tc>
              </a:tr>
              <a:tr h="1016000">
                <a:tc>
                  <a:txBody>
                    <a:bodyPr/>
                    <a:lstStyle/>
                    <a:p>
                      <a:r>
                        <a:rPr sz="1350" b="1">
                          <a:solidFill>
                            <a:srgbClr val="0B2475"/>
                          </a:solidFill>
                          <a:latin typeface="Lato"/>
                          <a:ea typeface="Lato"/>
                          <a:cs typeface="Lato"/>
                        </a:rPr>
                        <a:t>Lesedi</a:t>
                      </a:r>
                    </a:p>
                  </a:txBody>
                  <a:tcPr marL="91440" marR="91440" marT="45720" marB="45720" anchor="ctr">
                    <a:solidFill>
                      <a:srgbClr val="FFFFFF"/>
                    </a:solidFill>
                  </a:tcPr>
                </a:tc>
                <a:tc>
                  <a:txBody>
                    <a:bodyPr/>
                    <a:lstStyle/>
                    <a:p>
                      <a:r>
                        <a:rPr sz="1350" b="0">
                          <a:solidFill>
                            <a:srgbClr val="202020"/>
                          </a:solidFill>
                          <a:latin typeface="Lato"/>
                          <a:ea typeface="Lato"/>
                          <a:cs typeface="Lato"/>
                        </a:rPr>
                        <a:t>124,000 m³</a:t>
                      </a:r>
                    </a:p>
                  </a:txBody>
                  <a:tcPr marL="91440" marR="91440" marT="45720" marB="45720" anchor="ctr">
                    <a:solidFill>
                      <a:srgbClr val="FFFFFF"/>
                    </a:solidFill>
                  </a:tcPr>
                </a:tc>
                <a:tc>
                  <a:txBody>
                    <a:bodyPr/>
                    <a:lstStyle/>
                    <a:p>
                      <a:r>
                        <a:rPr sz="1350" b="0">
                          <a:solidFill>
                            <a:srgbClr val="202020"/>
                          </a:solidFill>
                          <a:latin typeface="Lato"/>
                          <a:ea typeface="Lato"/>
                          <a:cs typeface="Lato"/>
                        </a:rPr>
                        <a:t>1.49bn L</a:t>
                      </a:r>
                    </a:p>
                    <a:p>
                      <a:r>
                        <a:rPr sz="1350" b="0">
                          <a:solidFill>
                            <a:srgbClr val="202020"/>
                          </a:solidFill>
                          <a:latin typeface="Lato"/>
                          <a:ea typeface="Lato"/>
                          <a:cs typeface="Lato"/>
                        </a:rPr>
                        <a:t>1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2.98bn L</a:t>
                      </a:r>
                    </a:p>
                    <a:p>
                      <a:r>
                        <a:rPr sz="1350" b="0">
                          <a:solidFill>
                            <a:srgbClr val="202020"/>
                          </a:solidFill>
                          <a:latin typeface="Lato"/>
                          <a:ea typeface="Lato"/>
                          <a:cs typeface="Lato"/>
                        </a:rPr>
                        <a:t>2 turns/month</a:t>
                      </a:r>
                    </a:p>
                  </a:txBody>
                  <a:tcPr marL="91440" marR="91440" marT="45720" marB="45720" anchor="ctr">
                    <a:solidFill>
                      <a:srgbClr val="FFFFFF"/>
                    </a:solidFill>
                  </a:tcPr>
                </a:tc>
                <a:tc>
                  <a:txBody>
                    <a:bodyPr/>
                    <a:lstStyle/>
                    <a:p>
                      <a:r>
                        <a:rPr sz="1350" b="0">
                          <a:solidFill>
                            <a:srgbClr val="202020"/>
                          </a:solidFill>
                          <a:latin typeface="Lato"/>
                          <a:ea typeface="Lato"/>
                          <a:cs typeface="Lato"/>
                        </a:rPr>
                        <a:t>3.57bn L</a:t>
                      </a:r>
                    </a:p>
                    <a:p>
                      <a:r>
                        <a:rPr sz="1350" b="0">
                          <a:solidFill>
                            <a:srgbClr val="202020"/>
                          </a:solidFill>
                          <a:latin typeface="Lato"/>
                          <a:ea typeface="Lato"/>
                          <a:cs typeface="Lato"/>
                        </a:rPr>
                        <a:t>2.4 turns/month</a:t>
                      </a:r>
                    </a:p>
                  </a:txBody>
                  <a:tcPr marL="91440" marR="91440" marT="45720" marB="45720" anchor="ctr">
                    <a:solidFill>
                      <a:srgbClr val="FFFFFF"/>
                    </a:solidFill>
                  </a:tcPr>
                </a:tc>
              </a:tr>
            </a:tbl>
          </a:graphicData>
        </a:graphic>
      </p:graphicFrame>
      <p:sp>
        <p:nvSpPr>
          <p:cNvPr id="50" name="Review interpretation">
            <a:extLst xmlns:a="http://schemas.openxmlformats.org/drawingml/2006/main">
              <a:ext uri="{FF2B5EF4-FFF2-40B4-BE49-F238E27FC236}">
                <a16:creationId xmlns:a16="http://schemas.microsoft.com/office/drawing/2014/main" id="{F9C06B21-56AB-4138-8BA0-D5AE9599C7C8}"/>
              </a:ext>
            </a:extLst>
          </p:cNvPr>
          <p:cNvSpPr>
            <a:spLocks xmlns:a="http://schemas.openxmlformats.org/drawingml/2006/main" noGrp="1"/>
          </p:cNvSpPr>
          <p:nvPr/>
        </p:nvSpPr>
        <p:spPr>
          <a:xfrm xmlns:a="http://schemas.openxmlformats.org/drawingml/2006/main">
            <a:off x="457200" y="4914900"/>
            <a:ext cx="10648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202020"/>
                </a:solidFill>
                <a:latin typeface="Lato"/>
                <a:ea typeface="Lato"/>
                <a:cs typeface="Lato"/>
              </a:defRPr>
            </a:pPr>
            <a:r>
              <a:rPr sz="1125">
                <a:solidFill>
                  <a:srgbClr val="202020"/>
                </a:solidFill>
                <a:latin typeface="Lato"/>
                <a:ea typeface="Lato"/>
                <a:cs typeface="Lato"/>
              </a:rPr>
              <a:t>Durban: estimated petrol/diesel subset, not all gross tankage. Lesedi: 88,000 m³ documented plus 36,000 estimated. Handling sensitivities are not measured throughput or guaranteed operating limits.</a:t>
            </a:r>
          </a:p>
        </p:txBody>
      </p:sp>
    </p:spTree>
    <p:extLst>
      <p:ext uri="{BB962C8B-B14F-4D97-AF65-F5344CB8AC3E}">
        <p14:creationId xmlns:p14="http://schemas.microsoft.com/office/powerpoint/2010/main" val="74646006"/>
      </p:ext>
    </p:extLst>
  </p:cSld>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Vopa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2026-10-10T11:17:26.8370000Z</dcterms:created>
  <dcterms:modified xsi:type="dcterms:W3CDTF">2026-10-10T11:17:26.8370000Z</dcterms:modified>
</coreProperties>
</file>