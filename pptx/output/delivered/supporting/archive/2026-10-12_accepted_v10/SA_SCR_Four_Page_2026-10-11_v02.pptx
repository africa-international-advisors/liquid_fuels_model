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diagrams/v32_s1_data1.xml" ContentType="application/vnd.openxmlformats-officedocument.drawingml.diagramData+xml"/>
  <Override PartName="/ppt/diagrams/v32_s1_layout1.xml" ContentType="application/vnd.openxmlformats-officedocument.drawingml.diagramLayout+xml"/>
  <Override PartName="/ppt/diagrams/v32_s1_quickStyle1.xml" ContentType="application/vnd.openxmlformats-officedocument.drawingml.diagramStyle+xml"/>
  <Override PartName="/ppt/diagrams/v32_s1_colors1.xml" ContentType="application/vnd.openxmlformats-officedocument.drawingml.diagramColors+xml"/>
  <Override PartName="/ppt/diagrams/v32_s1_drawing1.xml" ContentType="application/vnd.ms-office.drawingml.diagramDrawing+xml"/>
  <Override PartName="/ppt/diagrams/v32_s2_data1.xml" ContentType="application/vnd.openxmlformats-officedocument.drawingml.diagramData+xml"/>
  <Override PartName="/ppt/diagrams/v32_s2_layout1.xml" ContentType="application/vnd.openxmlformats-officedocument.drawingml.diagramLayout+xml"/>
  <Override PartName="/ppt/diagrams/v32_s2_quickStyle1.xml" ContentType="application/vnd.openxmlformats-officedocument.drawingml.diagramStyle+xml"/>
  <Override PartName="/ppt/diagrams/v32_s2_colors1.xml" ContentType="application/vnd.openxmlformats-officedocument.drawingml.diagramColors+xml"/>
  <Override PartName="/ppt/diagrams/v32_s2_drawing1.xml" ContentType="application/vnd.ms-office.drawingml.diagramDrawing+xml"/>
  <Override PartName="/ppt/diagrams/v32_s3_data1.xml" ContentType="application/vnd.openxmlformats-officedocument.drawingml.diagramData+xml"/>
  <Override PartName="/ppt/diagrams/v32_s3_layout1.xml" ContentType="application/vnd.openxmlformats-officedocument.drawingml.diagramLayout+xml"/>
  <Override PartName="/ppt/diagrams/v32_s3_quickStyle1.xml" ContentType="application/vnd.openxmlformats-officedocument.drawingml.diagramStyle+xml"/>
  <Override PartName="/ppt/diagrams/v32_s3_colors1.xml" ContentType="application/vnd.openxmlformats-officedocument.drawingml.diagramColors+xml"/>
  <Override PartName="/ppt/diagrams/v32_s3_drawing1.xml" ContentType="application/vnd.ms-office.drawingml.diagramDrawing+xml"/>
  <Override PartName="/ppt/diagrams/v32_s4_data1.xml" ContentType="application/vnd.openxmlformats-officedocument.drawingml.diagramData+xml"/>
  <Override PartName="/ppt/diagrams/v32_s4_layout1.xml" ContentType="application/vnd.openxmlformats-officedocument.drawingml.diagramLayout+xml"/>
  <Override PartName="/ppt/diagrams/v32_s4_quickStyle1.xml" ContentType="application/vnd.openxmlformats-officedocument.drawingml.diagramStyle+xml"/>
  <Override PartName="/ppt/diagrams/v32_s4_colors1.xml" ContentType="application/vnd.openxmlformats-officedocument.drawingml.diagramColors+xml"/>
  <Override PartName="/ppt/diagrams/v32_s4_drawing1.xml" ContentType="application/vnd.ms-office.drawingml.diagramDrawin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2ca26d9f2145b0" /><Relationship Type="http://schemas.openxmlformats.org/officeDocument/2006/relationships/extended-properties" Target="/docProps/app.xml" Id="R4f70c0a67aa54c00" /><Relationship Type="http://schemas.openxmlformats.org/officeDocument/2006/relationships/officeDocument" Target="/ppt/presentation.xml" Id="R6ecb29dc40034d61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77c7f5e56da64afe"/>
  </p:sldMasterIdLst>
  <p:notesMasterIdLst>
    <p:notesMasterId xmlns:r="http://schemas.openxmlformats.org/officeDocument/2006/relationships" r:id="R6ed43740247e4df7"/>
  </p:notesMasterIdLst>
  <p:sldIdLst>
    <p:sldId xmlns:r="http://schemas.openxmlformats.org/officeDocument/2006/relationships" id="256" r:id="R14a71fc0555e4a24"/>
    <p:sldId xmlns:r="http://schemas.openxmlformats.org/officeDocument/2006/relationships" id="257" r:id="R3a5bf399ae134bd9"/>
    <p:sldId xmlns:r="http://schemas.openxmlformats.org/officeDocument/2006/relationships" id="258" r:id="R9aa17a264d4948a0"/>
    <p:sldId xmlns:r="http://schemas.openxmlformats.org/officeDocument/2006/relationships" id="259" r:id="R8c867893ed034b6b"/>
  </p:sldIdLst>
  <p:sldSz cx="11588750" cy="6858000"/>
  <p:notesSz cx="6858000" cy="9144000"/>
  <p:embeddedFontLst>
    <p:embeddedFont>
      <p:font typeface="Lato"/>
      <p:regular xmlns:r="http://schemas.openxmlformats.org/officeDocument/2006/relationships" r:id="R1a62ed2101ee4110"/>
      <p:bold xmlns:r="http://schemas.openxmlformats.org/officeDocument/2006/relationships" r:id="Rb6fe870f61cf4fcf"/>
      <p:italic xmlns:r="http://schemas.openxmlformats.org/officeDocument/2006/relationships" r:id="R3750b3c2d4cd49a2"/>
      <p:boldItalic xmlns:r="http://schemas.openxmlformats.org/officeDocument/2006/relationships" r:id="Ra2625c58c3c042cb"/>
    </p:embeddedFont>
  </p:embeddedFontLst>
</p:presentation>
</file>

<file path=ppt/authors.xml><?xml version="1.0" encoding="utf-8"?>
<p188:authorLst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a9ce951d0fb4a18"/><Relationship Type="http://schemas.openxmlformats.org/officeDocument/2006/relationships/slideMaster" Target="/ppt/slideMasters/slideMaster1.xml" Id="R77c7f5e56da64afe"/><Relationship Type="http://schemas.openxmlformats.org/officeDocument/2006/relationships/notesMaster" Target="/ppt/notesMasters/notesMaster1.xml" Id="R6ed43740247e4df7"/><Relationship Type="http://schemas.openxmlformats.org/officeDocument/2006/relationships/presProps" Target="/ppt/presProps.xml" Id="R8b2caeb4dc184b3a"/><Relationship Type="http://schemas.openxmlformats.org/officeDocument/2006/relationships/viewProps" Target="/ppt/viewProps.xml" Id="R604b39075ecd4ab8"/><Relationship Type="http://schemas.openxmlformats.org/officeDocument/2006/relationships/tableStyles" Target="/ppt/tableStyles.xml" Id="R9b764183ebb645e1"/><Relationship Type="http://schemas.openxmlformats.org/officeDocument/2006/relationships/font" Target="/ppt/fonts/font.dat" Id="R1a62ed2101ee4110"/><Relationship Type="http://schemas.openxmlformats.org/officeDocument/2006/relationships/font" Target="/ppt/fonts/font2.dat" Id="Rb6fe870f61cf4fcf"/><Relationship Type="http://schemas.openxmlformats.org/officeDocument/2006/relationships/font" Target="/ppt/fonts/font3.dat" Id="R3750b3c2d4cd49a2"/><Relationship Type="http://schemas.openxmlformats.org/officeDocument/2006/relationships/font" Target="/ppt/fonts/font4.dat" Id="Ra2625c58c3c042cb"/><Relationship Type="http://schemas.microsoft.com/office/2018/10/relationships/authors" Target="/ppt/authors.xml" Id="R1cff13de313f46e2"/><Relationship Type="http://schemas.openxmlformats.org/officeDocument/2006/relationships/slide" Target="/ppt/slides/slide1.xml" Id="R14a71fc0555e4a24"/><Relationship Type="http://schemas.openxmlformats.org/officeDocument/2006/relationships/slide" Target="/ppt/slides/slide2.xml" Id="R3a5bf399ae134bd9"/><Relationship Type="http://schemas.openxmlformats.org/officeDocument/2006/relationships/slide" Target="/ppt/slides/slide3.xml" Id="R9aa17a264d4948a0"/><Relationship Type="http://schemas.openxmlformats.org/officeDocument/2006/relationships/slide" Target="/ppt/slides/slide4.xml" Id="R8c867893ed034b6b"/></Relationships>
</file>

<file path=ppt/diagrams/v32_s1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" minVer="http://schemas.openxmlformats.org/drawingml/2006/diagram"/>
    </a:ext>
  </dgm:extLst>
</dgm:dataModel>
</file>

<file path=ppt/diagrams/v32_s1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" minVer="http://schemas.openxmlformats.org/drawingml/2006/diagram"/>
    </a:ext>
  </dgm:extLst>
</dgm:dataModel>
</file>

<file path=ppt/diagrams/v32_s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3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3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3" minVer="http://schemas.openxmlformats.org/drawingml/2006/diagram"/>
    </a:ext>
  </dgm:extLst>
</dgm:dataModel>
</file>

<file path=ppt/diagrams/v32_s3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3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3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4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4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4" minVer="http://schemas.openxmlformats.org/drawingml/2006/diagram"/>
    </a:ext>
  </dgm:extLst>
</dgm:dataModel>
</file>

<file path=ppt/diagrams/v32_s4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4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4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d5a8e5c141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4d116bf19a49d6" /><Relationship Type="http://schemas.openxmlformats.org/officeDocument/2006/relationships/notesMaster" Target="/ppt/notesMasters/notesMaster1.xml" Id="R96bd04c6350b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6815eef2b546d0" /><Relationship Type="http://schemas.openxmlformats.org/officeDocument/2006/relationships/notesMaster" Target="/ppt/notesMasters/notesMaster1.xml" Id="R9bde8ee3ac9d49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dd69860aa4a8b" /><Relationship Type="http://schemas.openxmlformats.org/officeDocument/2006/relationships/notesMaster" Target="/ppt/notesMasters/notesMaster1.xml" Id="R2eda90d2368745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ce3645ee0d4035" /><Relationship Type="http://schemas.openxmlformats.org/officeDocument/2006/relationships/notesMaster" Target="/ppt/notesMasters/notesMaster1.xml" Id="R1c8491fa573047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 xmlns:a="http://schemas.openxmlformats.org/drawingml/2006/main">
            <a:r>
              <a:t>Figures reused from South Africa market story v37; no new model assumptions.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 xmlns:a="http://schemas.openxmlformats.org/drawingml/2006/main">
            <a:r>
              <a:t>Figures reused from South Africa market story v37; no new model assumptions.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 xmlns:a="http://schemas.openxmlformats.org/drawingml/2006/main">
            <a:r>
              <a:t>Figures reused from South Africa market story v37; no new model assumptions.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 xmlns:a="http://schemas.openxmlformats.org/drawingml/2006/main">
            <a:r>
              <a:t>Figures reused from South Africa market story v37; no new model assumptions.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79002a802452b" /><Relationship Type="http://schemas.openxmlformats.org/officeDocument/2006/relationships/image" Target="/ppt/media/image.jpeg" Id="Rf8bb8bf951694a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7848a30c0426c" /><Relationship Type="http://schemas.openxmlformats.org/officeDocument/2006/relationships/image" Target="/ppt/media/image2.jpeg" Id="R9ea44367e34f4d7b" /><Relationship Type="http://schemas.openxmlformats.org/officeDocument/2006/relationships/image" Target="/ppt/media/image2.png" Id="R9acb6eac50514d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5896360fc4c7e" /><Relationship Type="http://schemas.openxmlformats.org/officeDocument/2006/relationships/image" Target="/ppt/media/image2.jpeg" Id="R6731ff544bf24048" /><Relationship Type="http://schemas.openxmlformats.org/officeDocument/2006/relationships/image" Target="/ppt/media/image2.png" Id="R995ffa0940b445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52f69a0e045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56911f6c84c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b064b910244ba" /></Relationships>
</file>

<file path=ppt/slideLayouts/slideLayout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bb8bf951694a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1"/>
            <a:ext cx="1158875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" y="5137149"/>
            <a:ext cx="49339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44367e34f4d7b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5727050"/>
            <a:ext cx="647700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b6eac5051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1ff544bf24048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ffa0940b4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4299527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58235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05599" y="6489700"/>
            <a:ext cx="805350" cy="287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85216"/>
            <a:ext cx="1056132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 xmlns:a="http://schemas.openxmlformats.org/drawingml/2006/main"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4752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16e7b7e5b0c46d5" /><Relationship Type="http://schemas.openxmlformats.org/officeDocument/2006/relationships/theme" Target="/ppt/slideMasters/theme/theme2.xml" Id="R9ee155babe1c43d6" /><Relationship Type="http://schemas.openxmlformats.org/officeDocument/2006/relationships/slideLayout" Target="/ppt/slideLayouts/slideLayout1.xml" Id="R0e0181c924014a1b" /><Relationship Type="http://schemas.openxmlformats.org/officeDocument/2006/relationships/slideLayout" Target="/ppt/slideLayouts/slideLayout2.xml" Id="R72f9aee26e744186" /><Relationship Type="http://schemas.openxmlformats.org/officeDocument/2006/relationships/slideLayout" Target="/ppt/slideLayouts/slideLayout3.xml" Id="R7caf0dd940504637" /><Relationship Type="http://schemas.openxmlformats.org/officeDocument/2006/relationships/slideLayout" Target="/ppt/slideLayouts/slideLayout4.xml" Id="R259038ae512c472f" /><Relationship Type="http://schemas.openxmlformats.org/officeDocument/2006/relationships/slideLayout" Target="/ppt/slideLayouts/slideLayout5.xml" Id="R5d5890242bca4d81" /><Relationship Type="http://schemas.openxmlformats.org/officeDocument/2006/relationships/slideLayout" Target="/ppt/slideLayouts/slideLayout6.xml" Id="R46810c88c2c24dd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7801" y="368299"/>
            <a:ext cx="11233148" cy="690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7801" y="1233488"/>
            <a:ext cx="11233149" cy="52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05599" y="6489700"/>
            <a:ext cx="805350" cy="287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e7b7e5b0c46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0" y="6515100"/>
            <a:ext cx="952500" cy="212558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85953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rmAutofit/>
          </a:bodyPr>
          <a:lstStyle xmlns:a="http://schemas.openxmlformats.org/drawingml/2006/main"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 xmlns:a="http://schemas.openxmlformats.org/drawingml/2006/main"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0181c924014a1b"/>
    <p:sldLayoutId xmlns:r="http://schemas.openxmlformats.org/officeDocument/2006/relationships" id="2147483650" r:id="R72f9aee26e744186"/>
    <p:sldLayoutId xmlns:r="http://schemas.openxmlformats.org/officeDocument/2006/relationships" id="2147483651" r:id="R7caf0dd940504637"/>
    <p:sldLayoutId xmlns:r="http://schemas.openxmlformats.org/officeDocument/2006/relationships" id="2147483652" r:id="R259038ae512c472f"/>
    <p:sldLayoutId xmlns:r="http://schemas.openxmlformats.org/officeDocument/2006/relationships" id="2147483653" r:id="R5d5890242bca4d81"/>
    <p:sldLayoutId xmlns:r="http://schemas.openxmlformats.org/officeDocument/2006/relationships" id="2147483654" r:id="R46810c88c2c24dd3"/>
  </p:sldLayoutIdLst>
  <p:hf hdr="0" ftr="0" dt="0"/>
  <p:txStyles>
    <p:titleStyle>
      <a:lvl1pPr xmlns:a="http://schemas.openxmlformats.org/drawingml/2006/main"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xmlns:a="http://schemas.openxmlformats.org/drawingml/2006/main" val="F26B43"/>
          </p15:clr>
        </p15:guide>
        <p15:guide id="13" pos="112" userDrawn="1">
          <p15:clr>
            <a:srgbClr xmlns:a="http://schemas.openxmlformats.org/drawingml/2006/main" val="F26B43"/>
          </p15:clr>
        </p15:guide>
        <p15:guide id="14" orient="horz" pos="4269" userDrawn="1">
          <p15:clr>
            <a:srgbClr xmlns:a="http://schemas.openxmlformats.org/drawingml/2006/main" val="F26B43"/>
          </p15:clr>
        </p15:guide>
        <p15:guide id="15" pos="3650" userDrawn="1">
          <p15:clr>
            <a:srgbClr xmlns:a="http://schemas.openxmlformats.org/drawingml/2006/main" val="F26B43"/>
          </p15:clr>
        </p15:guide>
        <p15:guide id="16" pos="7188" userDrawn="1">
          <p15:clr>
            <a:srgbClr xmlns:a="http://schemas.openxmlformats.org/drawingml/2006/main" val="F26B43"/>
          </p15:clr>
        </p15:guide>
        <p15:guide id="17" orient="horz" pos="28" userDrawn="1">
          <p15:clr>
            <a:srgbClr xmlns:a="http://schemas.openxmlformats.org/drawingml/2006/main" val="F26B43"/>
          </p15:clr>
        </p15:guide>
        <p15:guide id="18" orient="horz" pos="686" userDrawn="1">
          <p15:clr>
            <a:srgbClr xmlns:a="http://schemas.openxmlformats.org/drawingml/2006/main" val="F26B43"/>
          </p15:clr>
        </p15:guide>
        <p15:guide id="19" orient="horz" pos="777" userDrawn="1">
          <p15:clr>
            <a:srgbClr xmlns:a="http://schemas.openxmlformats.org/drawingml/2006/main" val="F26B43"/>
          </p15:clr>
        </p15:guide>
        <p15:guide id="20" orient="horz" pos="4088" userDrawn="1">
          <p15:clr>
            <a:srgbClr xmlns:a="http://schemas.openxmlformats.org/drawingml/2006/main" val="F26B43"/>
          </p15:clr>
        </p15:guide>
        <p15:guide id="21" orient="horz" pos="3680" userDrawn="1">
          <p15:clr>
            <a:srgbClr xmlns:a="http://schemas.openxmlformats.org/drawingml/2006/main" val="F26B43"/>
          </p15:clr>
        </p15:guide>
        <p15:guide id="22" orient="horz" pos="3566" userDrawn="1">
          <p15:clr>
            <a:srgbClr xmlns:a="http://schemas.openxmlformats.org/drawingml/2006/main" val="F26B43"/>
          </p15:clr>
        </p15:guide>
        <p15:guide id="23" pos="5805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c78f92bcdc4e29"/><Relationship Type="http://schemas.openxmlformats.org/officeDocument/2006/relationships/notesSlide" Target="/ppt/notesSlides/notesSlide1.xml" Id="Rfd5cee3492964de8"/><Relationship Id="rIdSmartArt3" Type="http://schemas.openxmlformats.org/officeDocument/2006/relationships/diagramData" Target="../diagrams/v32_s1_data1.xml"/><Relationship Id="rIdSmartArt4" Type="http://schemas.openxmlformats.org/officeDocument/2006/relationships/diagramLayout" Target="../diagrams/v32_s1_layout1.xml"/><Relationship Id="rIdSmartArt5" Type="http://schemas.openxmlformats.org/officeDocument/2006/relationships/diagramQuickStyle" Target="../diagrams/v32_s1_quickStyle1.xml"/><Relationship Id="rIdSmartArt6" Type="http://schemas.openxmlformats.org/officeDocument/2006/relationships/diagramColors" Target="../diagrams/v32_s1_colors1.xml"/><Relationship Id="rIdV32Drawing1" Type="http://schemas.microsoft.com/office/2007/relationships/diagramDrawing" Target="../diagrams/v32_s1_drawing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3774e7ac1b4af4"/><Relationship Type="http://schemas.openxmlformats.org/officeDocument/2006/relationships/notesSlide" Target="/ppt/notesSlides/notesSlide2.xml" Id="R212c2d6622d94278"/><Relationship Id="rIdSmartArt3" Type="http://schemas.openxmlformats.org/officeDocument/2006/relationships/diagramData" Target="../diagrams/v32_s2_data1.xml"/><Relationship Id="rIdSmartArt4" Type="http://schemas.openxmlformats.org/officeDocument/2006/relationships/diagramLayout" Target="../diagrams/v32_s2_layout1.xml"/><Relationship Id="rIdSmartArt5" Type="http://schemas.openxmlformats.org/officeDocument/2006/relationships/diagramQuickStyle" Target="../diagrams/v32_s2_quickStyle1.xml"/><Relationship Id="rIdSmartArt6" Type="http://schemas.openxmlformats.org/officeDocument/2006/relationships/diagramColors" Target="../diagrams/v32_s2_colors1.xml"/><Relationship Id="rIdV32Drawing2" Type="http://schemas.microsoft.com/office/2007/relationships/diagramDrawing" Target="../diagrams/v32_s2_drawing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b33cfa5fde451f"/><Relationship Type="http://schemas.openxmlformats.org/officeDocument/2006/relationships/notesSlide" Target="/ppt/notesSlides/notesSlide3.xml" Id="R02605710e15941a1"/><Relationship Id="rIdSmartArt3" Type="http://schemas.openxmlformats.org/officeDocument/2006/relationships/diagramData" Target="../diagrams/v32_s3_data1.xml"/><Relationship Id="rIdSmartArt4" Type="http://schemas.openxmlformats.org/officeDocument/2006/relationships/diagramLayout" Target="../diagrams/v32_s3_layout1.xml"/><Relationship Id="rIdSmartArt5" Type="http://schemas.openxmlformats.org/officeDocument/2006/relationships/diagramQuickStyle" Target="../diagrams/v32_s3_quickStyle1.xml"/><Relationship Id="rIdSmartArt6" Type="http://schemas.openxmlformats.org/officeDocument/2006/relationships/diagramColors" Target="../diagrams/v32_s3_colors1.xml"/><Relationship Id="rIdV32Drawing3" Type="http://schemas.microsoft.com/office/2007/relationships/diagramDrawing" Target="../diagrams/v32_s3_drawing1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fd350270be468f"/><Relationship Type="http://schemas.openxmlformats.org/officeDocument/2006/relationships/notesSlide" Target="/ppt/notesSlides/notesSlide4.xml" Id="Rd0a07ba5c8d44bfa"/><Relationship Id="rIdSmartArt3" Type="http://schemas.openxmlformats.org/officeDocument/2006/relationships/diagramData" Target="../diagrams/v32_s4_data1.xml"/><Relationship Id="rIdSmartArt4" Type="http://schemas.openxmlformats.org/officeDocument/2006/relationships/diagramLayout" Target="../diagrams/v32_s4_layout1.xml"/><Relationship Id="rIdSmartArt5" Type="http://schemas.openxmlformats.org/officeDocument/2006/relationships/diagramQuickStyle" Target="../diagrams/v32_s4_quickStyle1.xml"/><Relationship Id="rIdSmartArt6" Type="http://schemas.openxmlformats.org/officeDocument/2006/relationships/diagramColors" Target="../diagrams/v32_s4_colors1.xml"/><Relationship Id="rIdV32Drawing4" Type="http://schemas.microsoft.com/office/2007/relationships/diagramDrawing" Target="../diagrams/v32_s4_drawing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large fuel market relies on substantial imports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national sales; SARS 2025 trade; analytical workbook v02. 2025 demand is estimated; 5.8bn L production is a planning assumption. Gross import need includes exports and assumes no stock change.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metric 0">
            <a:extLst xmlns:a="http://schemas.openxmlformats.org/drawingml/2006/main">
              <a:ext uri="{FF2B5EF4-FFF2-40B4-BE49-F238E27FC236}">
                <a16:creationId xmlns:a16="http://schemas.microsoft.com/office/drawing/2014/main" id="{0056185C-78E9-44CE-9220-1775AD24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21.0bn L</a:t>
            </a:r>
          </a:p>
        </p:txBody>
      </p:sp>
      <p:sp>
        <p:nvSpPr>
          <p:cNvPr id="50" name="S label 0">
            <a:extLst xmlns:a="http://schemas.openxmlformats.org/drawingml/2006/main">
              <a:ext uri="{FF2B5EF4-FFF2-40B4-BE49-F238E27FC236}">
                <a16:creationId xmlns:a16="http://schemas.microsoft.com/office/drawing/2014/main" id="{D9CFED31-4AD0-443B-87DE-80B105B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demand, 2025</a:t>
            </a:r>
          </a:p>
        </p:txBody>
      </p:sp>
      <p:sp>
        <p:nvSpPr>
          <p:cNvPr id="51" name="S detail 0">
            <a:extLst xmlns:a="http://schemas.openxmlformats.org/drawingml/2006/main">
              <a:ext uri="{FF2B5EF4-FFF2-40B4-BE49-F238E27FC236}">
                <a16:creationId xmlns:a16="http://schemas.microsoft.com/office/drawing/2014/main" id="{88589379-83A5-49BD-8848-22599F1D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8.9bn petrol and 12.1bn diesel</a:t>
            </a:r>
          </a:p>
        </p:txBody>
      </p:sp>
      <p:sp>
        <p:nvSpPr>
          <p:cNvPr id="52" name="S metric rule 0">
            <a:extLst xmlns:a="http://schemas.openxmlformats.org/drawingml/2006/main">
              <a:ext uri="{FF2B5EF4-FFF2-40B4-BE49-F238E27FC236}">
                <a16:creationId xmlns:a16="http://schemas.microsoft.com/office/drawing/2014/main" id="{437C3A28-9863-4D3D-AF1E-63ADC2E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S metric 1">
            <a:extLst xmlns:a="http://schemas.openxmlformats.org/drawingml/2006/main">
              <a:ext uri="{FF2B5EF4-FFF2-40B4-BE49-F238E27FC236}">
                <a16:creationId xmlns:a16="http://schemas.microsoft.com/office/drawing/2014/main" id="{1ACEB2A2-97A4-4875-B37B-33E3F59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</a:t>
            </a:r>
          </a:p>
        </p:txBody>
      </p:sp>
      <p:sp>
        <p:nvSpPr>
          <p:cNvPr id="54" name="S label 1">
            <a:extLst xmlns:a="http://schemas.openxmlformats.org/drawingml/2006/main">
              <a:ext uri="{FF2B5EF4-FFF2-40B4-BE49-F238E27FC236}">
                <a16:creationId xmlns:a16="http://schemas.microsoft.com/office/drawing/2014/main" id="{659837CB-191D-489B-95DB-879CD63A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assumption</a:t>
            </a:r>
          </a:p>
        </p:txBody>
      </p:sp>
      <p:sp>
        <p:nvSpPr>
          <p:cNvPr id="55" name="S detail 1">
            <a:extLst xmlns:a="http://schemas.openxmlformats.org/drawingml/2006/main">
              <a:ext uri="{FF2B5EF4-FFF2-40B4-BE49-F238E27FC236}">
                <a16:creationId xmlns:a16="http://schemas.microsoft.com/office/drawing/2014/main" id="{11CFDD20-295B-41B2-A07A-CDB08FD7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National planning baseline</a:t>
            </a:r>
          </a:p>
        </p:txBody>
      </p:sp>
      <p:sp>
        <p:nvSpPr>
          <p:cNvPr id="56" name="S metric rule 1">
            <a:extLst xmlns:a="http://schemas.openxmlformats.org/drawingml/2006/main">
              <a:ext uri="{FF2B5EF4-FFF2-40B4-BE49-F238E27FC236}">
                <a16:creationId xmlns:a16="http://schemas.microsoft.com/office/drawing/2014/main" id="{FB06EEBF-DAC1-47BB-BB56-429D120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7" name="S metric 2">
            <a:extLst xmlns:a="http://schemas.openxmlformats.org/drawingml/2006/main">
              <a:ext uri="{FF2B5EF4-FFF2-40B4-BE49-F238E27FC236}">
                <a16:creationId xmlns:a16="http://schemas.microsoft.com/office/drawing/2014/main" id="{9632F14C-483D-4BA9-8EC6-7818D4A7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16.7bn L</a:t>
            </a:r>
          </a:p>
        </p:txBody>
      </p:sp>
      <p:sp>
        <p:nvSpPr>
          <p:cNvPr id="58" name="S label 2">
            <a:extLst xmlns:a="http://schemas.openxmlformats.org/drawingml/2006/main">
              <a:ext uri="{FF2B5EF4-FFF2-40B4-BE49-F238E27FC236}">
                <a16:creationId xmlns:a16="http://schemas.microsoft.com/office/drawing/2014/main" id="{3B5C7083-93D0-4879-9383-31EC8D79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</a:t>
            </a:r>
          </a:p>
        </p:txBody>
      </p:sp>
      <p:sp>
        <p:nvSpPr>
          <p:cNvPr id="59" name="S detail 2">
            <a:extLst xmlns:a="http://schemas.openxmlformats.org/drawingml/2006/main">
              <a:ext uri="{FF2B5EF4-FFF2-40B4-BE49-F238E27FC236}">
                <a16:creationId xmlns:a16="http://schemas.microsoft.com/office/drawing/2014/main" id="{B27F8D56-8239-4DC4-B0C6-FDE4D087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Broadly matches recorded imports</a:t>
            </a:r>
          </a:p>
        </p:txBody>
      </p:sp>
      <p:sp>
        <p:nvSpPr>
          <p:cNvPr id="60" name="S metric rule 2">
            <a:extLst xmlns:a="http://schemas.openxmlformats.org/drawingml/2006/main">
              <a:ext uri="{FF2B5EF4-FFF2-40B4-BE49-F238E27FC236}">
                <a16:creationId xmlns:a16="http://schemas.microsoft.com/office/drawing/2014/main" id="{778AE3F6-0A40-44E6-A351-58508964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61" name="S demand heading">
            <a:extLst xmlns:a="http://schemas.openxmlformats.org/drawingml/2006/main">
              <a:ext uri="{FF2B5EF4-FFF2-40B4-BE49-F238E27FC236}">
                <a16:creationId xmlns:a16="http://schemas.microsoft.com/office/drawing/2014/main" id="{D0F58188-85A9-4800-86A5-925B05B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substantial demand base</a:t>
            </a:r>
          </a:p>
        </p:txBody>
      </p:sp>
      <p:sp>
        <p:nvSpPr>
          <p:cNvPr id="62" name="S demand body">
            <a:extLst xmlns:a="http://schemas.openxmlformats.org/drawingml/2006/main">
              <a:ext uri="{FF2B5EF4-FFF2-40B4-BE49-F238E27FC236}">
                <a16:creationId xmlns:a16="http://schemas.microsoft.com/office/drawing/2014/main" id="{3CB40869-BD64-4F90-98F8-D5077074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905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transport is the largest use. Mining, agriculture, manufacturing and power also contribute.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Demand has eased from 21.9bn litres in 2023 to an estimated 21.0bn in 2025.</a:t>
            </a:r>
          </a:p>
        </p:txBody>
      </p:sp>
      <p:sp>
        <p:nvSpPr>
          <p:cNvPr id="63" name="S route heading">
            <a:extLst xmlns:a="http://schemas.openxmlformats.org/drawingml/2006/main">
              <a:ext uri="{FF2B5EF4-FFF2-40B4-BE49-F238E27FC236}">
                <a16:creationId xmlns:a16="http://schemas.microsoft.com/office/drawing/2014/main" id="{A6B6B718-F6BC-4C4A-A74F-3BAB607A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4332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Durban connects imports to inland customers</a:t>
            </a:r>
          </a:p>
        </p:txBody>
      </p:sp>
      <p:sp>
        <p:nvSpPr>
          <p:cNvPr id="64" name="S route body">
            <a:extLst xmlns:a="http://schemas.openxmlformats.org/drawingml/2006/main">
              <a:ext uri="{FF2B5EF4-FFF2-40B4-BE49-F238E27FC236}">
                <a16:creationId xmlns:a16="http://schemas.microsoft.com/office/drawing/2014/main" id="{D962EAE8-7B5E-4572-88BC-C9DE63A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Durban customs recorded 13.16bn litres of imports in 2025. The Durban–Lesedi route provides access to inland demand, subject to customer and logistics access.</a:t>
            </a:r>
          </a:p>
        </p:txBody>
      </p:sp>
      <p:sp>
        <p:nvSpPr>
          <p:cNvPr id="65" name="S takeaway">
            <a:extLst xmlns:a="http://schemas.openxmlformats.org/drawingml/2006/main">
              <a:ext uri="{FF2B5EF4-FFF2-40B4-BE49-F238E27FC236}">
                <a16:creationId xmlns:a16="http://schemas.microsoft.com/office/drawing/2014/main" id="{7BF3E1B2-DD81-4C47-A63C-1D1ECCA3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South Africa has an established import market serving a large national fuel requirement.</a:t>
            </a:r>
          </a:p>
        </p:txBody>
      </p:sp>
      <p:graphicFrame xmlns:a="http://schemas.openxmlformats.org/drawingml/2006/main">
        <p:nvGraphicFramePr>
          <p:cNvPr id="5001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sector activity and freight; Eskom Integrated Report 2025 p141; Sasol and Glencore production disclosures; Galp and Petromoc infrastructure disclosures. Detailed evidence: South Africa story v37 pp7–11.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790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57550"/>
                <a:gridCol w="739140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Sector activity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Mining, manufacturing and agriculture follow different growth paths, changing equipment and freight demand.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Eskom recovery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More reliable electricity reduces peaking and backup diesel at utilities, mines, factories and farms.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Road-to-rail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Freight transferred from trucks to rail reduces road diesel use; the net effect also depends on rail traction.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Vehicle efficiency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Lower fuel consumption per kilometre reduces demand for a given level of road activity.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Domestic production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Higher refinery output or restarts could displace imports. Lower output increases import dependence.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Competing gateways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Matola offers an alternative inland route. Assess Walvis Bay on delivered cost, reliability and access; diversion is unquantified.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C takeaway">
            <a:extLst xmlns:a="http://schemas.openxmlformats.org/drawingml/2006/main">
              <a:ext uri="{FF2B5EF4-FFF2-40B4-BE49-F238E27FC236}">
                <a16:creationId xmlns:a16="http://schemas.microsoft.com/office/drawing/2014/main" id="{8C8A8661-523C-4A3E-B8B2-8D57846A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graphicFrame xmlns:a="http://schemas.openxmlformats.org/drawingml/2006/main">
        <p:nvGraphicFramePr>
          <p:cNvPr id="5002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3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57200" y="1657350"/>
          <a:ext xmlns:a="http://schemas.openxmlformats.org/drawingml/2006/main" cx="1064895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14600"/>
                <a:gridCol w="5734050"/>
                <a:gridCol w="2400300"/>
              </a:tblGrid>
              <a:tr h="400050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 marL="91440" marR="91440" marT="45720" marB="45720" anchor="t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demand by end-use segment; apply sector, power, rail and efficiency drivers.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Gateway allocation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to Durban, other SA ports and Matola; assess Walvis Bay. Compare delivered cost, reliability and access.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Durban-served pool</a:t>
                      </a:r>
                    </a:p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flows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Identify customers and products Vopak can serve, given routes, contracts and terminal access.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Customer-level assessment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Apply achievable customer capture; identify Lesedi onward volumes within the same Durban fuel flow.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2.63bn L illustration</a:t>
                      </a:r>
                    </a:p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Includes 1.32bn L Lesedi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incremental captured flow with usable tanks, stock turns, receipt and dispatch capacity.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88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 marL="91440" marR="91440" marT="45720" marB="45720" anchor="t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M takeaway">
            <a:extLst xmlns:a="http://schemas.openxmlformats.org/drawingml/2006/main">
              <a:ext uri="{FF2B5EF4-FFF2-40B4-BE49-F238E27FC236}">
                <a16:creationId xmlns:a16="http://schemas.microsoft.com/office/drawing/2014/main" id="{AF096997-A45A-49FE-9462-B83EA29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64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Size total demand, addressable flows and capture separately; count Durban–Lesedi fuel once.</a:t>
            </a:r>
          </a:p>
        </p:txBody>
      </p:sp>
      <p:graphicFrame xmlns:a="http://schemas.openxmlformats.org/drawingml/2006/main">
        <p:nvGraphicFramePr>
          <p:cNvPr id="5003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4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 xmlns:a="http://schemas.openxmlformats.org/drawingml/2006/main">
              <a:ext uri="{FF2B5EF4-FFF2-40B4-BE49-F238E27FC236}">
                <a16:creationId xmlns:a16="http://schemas.microsoft.com/office/drawing/2014/main" id="{201F8A29-8230-4D18-89D8-EAA659D6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 xmlns:a="http://schemas.openxmlformats.org/drawingml/2006/main">
              <a:ext uri="{FF2B5EF4-FFF2-40B4-BE49-F238E27FC236}">
                <a16:creationId xmlns:a16="http://schemas.microsoft.com/office/drawing/2014/main" id="{FCCABB1F-B01C-4CF9-B172-D2AC7F23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 xmlns:a="http://schemas.openxmlformats.org/drawingml/2006/main">
              <a:ext uri="{FF2B5EF4-FFF2-40B4-BE49-F238E27FC236}">
                <a16:creationId xmlns:a16="http://schemas.microsoft.com/office/drawing/2014/main" id="{671976E7-044C-42C7-A39F-75290CC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 xmlns:a="http://schemas.openxmlformats.org/drawingml/2006/main">
              <a:ext uri="{FF2B5EF4-FFF2-40B4-BE49-F238E27FC236}">
                <a16:creationId xmlns:a16="http://schemas.microsoft.com/office/drawing/2014/main" id="{0EE477B8-D091-4E03-A14F-57C19E43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 xmlns:a="http://schemas.openxmlformats.org/drawingml/2006/main">
              <a:ext uri="{FF2B5EF4-FFF2-40B4-BE49-F238E27FC236}">
                <a16:creationId xmlns:a16="http://schemas.microsoft.com/office/drawing/2014/main" id="{63D0C103-C01B-406D-88CB-4A3C1786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907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 xmlns:a="http://schemas.openxmlformats.org/drawingml/2006/main">
              <a:ext uri="{FF2B5EF4-FFF2-40B4-BE49-F238E27FC236}">
                <a16:creationId xmlns:a16="http://schemas.microsoft.com/office/drawing/2014/main" id="{1B11BE38-F220-4D4D-B1B0-5D7E58D8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32385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 xmlns:a="http://schemas.openxmlformats.org/drawingml/2006/main">
              <a:ext uri="{FF2B5EF4-FFF2-40B4-BE49-F238E27FC236}">
                <a16:creationId xmlns:a16="http://schemas.microsoft.com/office/drawing/2014/main" id="{39AF10DE-83B9-4C68-B4A2-0B84276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31527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 xmlns:a="http://schemas.openxmlformats.org/drawingml/2006/main">
              <a:ext uri="{FF2B5EF4-FFF2-40B4-BE49-F238E27FC236}">
                <a16:creationId xmlns:a16="http://schemas.microsoft.com/office/drawing/2014/main" id="{C97B0EB4-9AD8-4568-BFDE-FA18CCB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33700"/>
            <a:ext cx="315277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 xmlns:a="http://schemas.openxmlformats.org/drawingml/2006/main">
              <a:ext uri="{FF2B5EF4-FFF2-40B4-BE49-F238E27FC236}">
                <a16:creationId xmlns:a16="http://schemas.microsoft.com/office/drawing/2014/main" id="{15F01439-354A-4A86-9999-B374E890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8" name="R takeaway">
            <a:extLst xmlns:a="http://schemas.openxmlformats.org/drawingml/2006/main">
              <a:ext uri="{FF2B5EF4-FFF2-40B4-BE49-F238E27FC236}">
                <a16:creationId xmlns:a16="http://schemas.microsoft.com/office/drawing/2014/main" id="{F55CA77C-9C1F-44E1-B205-DB7FE327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4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graphicFrame xmlns:a="http://schemas.openxmlformats.org/drawingml/2006/main">
        <p:nvGraphicFramePr>
          <p:cNvPr id="5004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2026-10-11T21:38:31.7080000Z</dcterms:created>
  <dcterms:modified xsi:type="dcterms:W3CDTF">2026-10-11T21:38:31.7080000Z</dcterms:modified>
</coreProperties>
</file>