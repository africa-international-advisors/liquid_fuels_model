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diagrams/v32_s2_data1.xml" ContentType="application/vnd.openxmlformats-officedocument.drawingml.diagramData+xml"/>
  <Override PartName="/ppt/diagrams/v32_s2_layout1.xml" ContentType="application/vnd.openxmlformats-officedocument.drawingml.diagramLayout+xml"/>
  <Override PartName="/ppt/diagrams/v32_s2_quickStyle1.xml" ContentType="application/vnd.openxmlformats-officedocument.drawingml.diagramStyle+xml"/>
  <Override PartName="/ppt/diagrams/v32_s2_colors1.xml" ContentType="application/vnd.openxmlformats-officedocument.drawingml.diagramColors+xml"/>
  <Override PartName="/ppt/diagrams/v32_s2_drawing1.xml" ContentType="application/vnd.ms-office.drawingml.diagramDrawing+xml"/>
  <Override PartName="/ppt/diagrams/v32_s3_data1.xml" ContentType="application/vnd.openxmlformats-officedocument.drawingml.diagramData+xml"/>
  <Override PartName="/ppt/diagrams/v32_s3_layout1.xml" ContentType="application/vnd.openxmlformats-officedocument.drawingml.diagramLayout+xml"/>
  <Override PartName="/ppt/diagrams/v32_s3_quickStyle1.xml" ContentType="application/vnd.openxmlformats-officedocument.drawingml.diagramStyle+xml"/>
  <Override PartName="/ppt/diagrams/v32_s3_colors1.xml" ContentType="application/vnd.openxmlformats-officedocument.drawingml.diagramColors+xml"/>
  <Override PartName="/ppt/diagrams/v32_s3_drawing1.xml" ContentType="application/vnd.ms-office.drawingml.diagramDrawing+xml"/>
  <Override PartName="/ppt/diagrams/v32_s4_data1.xml" ContentType="application/vnd.openxmlformats-officedocument.drawingml.diagramData+xml"/>
  <Override PartName="/ppt/diagrams/v32_s4_layout1.xml" ContentType="application/vnd.openxmlformats-officedocument.drawingml.diagramLayout+xml"/>
  <Override PartName="/ppt/diagrams/v32_s4_quickStyle1.xml" ContentType="application/vnd.openxmlformats-officedocument.drawingml.diagramStyle+xml"/>
  <Override PartName="/ppt/diagrams/v32_s4_colors1.xml" ContentType="application/vnd.openxmlformats-officedocument.drawingml.diagramColors+xml"/>
  <Override PartName="/ppt/diagrams/v32_s4_drawing1.xml" ContentType="application/vnd.ms-office.drawingml.diagramDrawing+xml"/>
  <Override PartName="/ppt/diagrams/v32_s5_data1.xml" ContentType="application/vnd.openxmlformats-officedocument.drawingml.diagramData+xml"/>
  <Override PartName="/ppt/diagrams/v32_s5_layout1.xml" ContentType="application/vnd.openxmlformats-officedocument.drawingml.diagramLayout+xml"/>
  <Override PartName="/ppt/diagrams/v32_s5_quickStyle1.xml" ContentType="application/vnd.openxmlformats-officedocument.drawingml.diagramStyle+xml"/>
  <Override PartName="/ppt/diagrams/v32_s5_colors1.xml" ContentType="application/vnd.openxmlformats-officedocument.drawingml.diagramColors+xml"/>
  <Override PartName="/ppt/diagrams/v32_s5_drawing1.xml" ContentType="application/vnd.ms-office.drawingml.diagramDrawing+xml"/>
  <Override PartName="/ppt/diagrams/v32_s6_data1.xml" ContentType="application/vnd.openxmlformats-officedocument.drawingml.diagramData+xml"/>
  <Override PartName="/ppt/diagrams/v32_s6_layout1.xml" ContentType="application/vnd.openxmlformats-officedocument.drawingml.diagramLayout+xml"/>
  <Override PartName="/ppt/diagrams/v32_s6_quickStyle1.xml" ContentType="application/vnd.openxmlformats-officedocument.drawingml.diagramStyle+xml"/>
  <Override PartName="/ppt/diagrams/v32_s6_colors1.xml" ContentType="application/vnd.openxmlformats-officedocument.drawingml.diagramColors+xml"/>
  <Override PartName="/ppt/diagrams/v32_s6_drawing1.xml" ContentType="application/vnd.ms-office.drawingml.diagramDrawing+xml"/>
  <Override PartName="/ppt/diagrams/v32_s7_data1.xml" ContentType="application/vnd.openxmlformats-officedocument.drawingml.diagramData+xml"/>
  <Override PartName="/ppt/diagrams/v32_s7_layout1.xml" ContentType="application/vnd.openxmlformats-officedocument.drawingml.diagramLayout+xml"/>
  <Override PartName="/ppt/diagrams/v32_s7_quickStyle1.xml" ContentType="application/vnd.openxmlformats-officedocument.drawingml.diagramStyle+xml"/>
  <Override PartName="/ppt/diagrams/v32_s7_colors1.xml" ContentType="application/vnd.openxmlformats-officedocument.drawingml.diagramColors+xml"/>
  <Override PartName="/ppt/diagrams/v32_s7_drawing1.xml" ContentType="application/vnd.ms-office.drawingml.diagramDrawing+xml"/>
  <Override PartName="/ppt/diagrams/v32_s8_data1.xml" ContentType="application/vnd.openxmlformats-officedocument.drawingml.diagramData+xml"/>
  <Override PartName="/ppt/diagrams/v32_s8_layout1.xml" ContentType="application/vnd.openxmlformats-officedocument.drawingml.diagramLayout+xml"/>
  <Override PartName="/ppt/diagrams/v32_s8_quickStyle1.xml" ContentType="application/vnd.openxmlformats-officedocument.drawingml.diagramStyle+xml"/>
  <Override PartName="/ppt/diagrams/v32_s8_colors1.xml" ContentType="application/vnd.openxmlformats-officedocument.drawingml.diagramColors+xml"/>
  <Override PartName="/ppt/diagrams/v32_s8_drawing1.xml" ContentType="application/vnd.ms-office.drawingml.diagramDrawing+xml"/>
  <Override PartName="/ppt/diagrams/v32_s9_data1.xml" ContentType="application/vnd.openxmlformats-officedocument.drawingml.diagramData+xml"/>
  <Override PartName="/ppt/diagrams/v32_s9_layout1.xml" ContentType="application/vnd.openxmlformats-officedocument.drawingml.diagramLayout+xml"/>
  <Override PartName="/ppt/diagrams/v32_s9_quickStyle1.xml" ContentType="application/vnd.openxmlformats-officedocument.drawingml.diagramStyle+xml"/>
  <Override PartName="/ppt/diagrams/v32_s9_colors1.xml" ContentType="application/vnd.openxmlformats-officedocument.drawingml.diagramColors+xml"/>
  <Override PartName="/ppt/diagrams/v32_s9_drawing1.xml" ContentType="application/vnd.ms-office.drawingml.diagramDrawing+xml"/>
  <Override PartName="/ppt/diagrams/v32_s10_data1.xml" ContentType="application/vnd.openxmlformats-officedocument.drawingml.diagramData+xml"/>
  <Override PartName="/ppt/diagrams/v32_s10_layout1.xml" ContentType="application/vnd.openxmlformats-officedocument.drawingml.diagramLayout+xml"/>
  <Override PartName="/ppt/diagrams/v32_s10_quickStyle1.xml" ContentType="application/vnd.openxmlformats-officedocument.drawingml.diagramStyle+xml"/>
  <Override PartName="/ppt/diagrams/v32_s10_colors1.xml" ContentType="application/vnd.openxmlformats-officedocument.drawingml.diagramColors+xml"/>
  <Override PartName="/ppt/diagrams/v32_s10_drawing1.xml" ContentType="application/vnd.ms-office.drawingml.diagramDrawing+xml"/>
  <Override PartName="/ppt/diagrams/v32_s11_data1.xml" ContentType="application/vnd.openxmlformats-officedocument.drawingml.diagramData+xml"/>
  <Override PartName="/ppt/diagrams/v32_s11_layout1.xml" ContentType="application/vnd.openxmlformats-officedocument.drawingml.diagramLayout+xml"/>
  <Override PartName="/ppt/diagrams/v32_s11_quickStyle1.xml" ContentType="application/vnd.openxmlformats-officedocument.drawingml.diagramStyle+xml"/>
  <Override PartName="/ppt/diagrams/v32_s11_colors1.xml" ContentType="application/vnd.openxmlformats-officedocument.drawingml.diagramColors+xml"/>
  <Override PartName="/ppt/diagrams/v32_s11_drawing1.xml" ContentType="application/vnd.ms-office.drawingml.diagramDrawing+xml"/>
  <Override PartName="/ppt/diagrams/v32_s12_data1.xml" ContentType="application/vnd.openxmlformats-officedocument.drawingml.diagramData+xml"/>
  <Override PartName="/ppt/diagrams/v32_s12_layout1.xml" ContentType="application/vnd.openxmlformats-officedocument.drawingml.diagramLayout+xml"/>
  <Override PartName="/ppt/diagrams/v32_s12_quickStyle1.xml" ContentType="application/vnd.openxmlformats-officedocument.drawingml.diagramStyle+xml"/>
  <Override PartName="/ppt/diagrams/v32_s12_colors1.xml" ContentType="application/vnd.openxmlformats-officedocument.drawingml.diagramColors+xml"/>
  <Override PartName="/ppt/diagrams/v32_s12_drawing1.xml" ContentType="application/vnd.ms-office.drawingml.diagramDrawing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bd457b64e14bc3" /><Relationship Type="http://schemas.openxmlformats.org/officeDocument/2006/relationships/extended-properties" Target="/docProps/app.xml" Id="Rf66ec40b1bc146ba" /><Relationship Type="http://schemas.openxmlformats.org/officeDocument/2006/relationships/officeDocument" Target="/ppt/presentation.xml" Id="Re17a429299e74d09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f154f2863fb74b3e"/>
  </p:sldMasterIdLst>
  <p:notesMasterIdLst>
    <p:notesMasterId xmlns:r="http://schemas.openxmlformats.org/officeDocument/2006/relationships" r:id="Rfc47e4bd921e4f0a"/>
  </p:notesMasterIdLst>
  <p:sldIdLst>
    <p:sldId xmlns:r="http://schemas.openxmlformats.org/officeDocument/2006/relationships" id="256" r:id="Rde1d7d0652734eb5"/>
    <p:sldId xmlns:r="http://schemas.openxmlformats.org/officeDocument/2006/relationships" id="257" r:id="R6e530737d79349d1"/>
    <p:sldId xmlns:r="http://schemas.openxmlformats.org/officeDocument/2006/relationships" id="258" r:id="Rcc2c1124ebd54ab3"/>
    <p:sldId xmlns:r="http://schemas.openxmlformats.org/officeDocument/2006/relationships" id="259" r:id="R9ef7c17a156243bb"/>
    <p:sldId xmlns:r="http://schemas.openxmlformats.org/officeDocument/2006/relationships" id="260" r:id="R1d84e429ce3542b5"/>
    <p:sldId xmlns:r="http://schemas.openxmlformats.org/officeDocument/2006/relationships" id="261" r:id="R8b1804a7a3d349ef"/>
    <p:sldId xmlns:r="http://schemas.openxmlformats.org/officeDocument/2006/relationships" id="262" r:id="Rf05867f3ad7c411b"/>
    <p:sldId xmlns:r="http://schemas.openxmlformats.org/officeDocument/2006/relationships" id="263" r:id="R6e0a56fe23a04d21"/>
    <p:sldId xmlns:r="http://schemas.openxmlformats.org/officeDocument/2006/relationships" id="264" r:id="R363e7ae116ab42e1"/>
    <p:sldId xmlns:r="http://schemas.openxmlformats.org/officeDocument/2006/relationships" id="265" r:id="R54879962e22243df"/>
    <p:sldId xmlns:r="http://schemas.openxmlformats.org/officeDocument/2006/relationships" id="266" r:id="R8cfb313233d34e6c"/>
    <p:sldId xmlns:r="http://schemas.openxmlformats.org/officeDocument/2006/relationships" id="267" r:id="R93deffc11f9f4a36"/>
    <p:sldId xmlns:r="http://schemas.openxmlformats.org/officeDocument/2006/relationships" id="268" r:id="Rde68a0a9b56a4544"/>
  </p:sldIdLst>
  <p:sldSz cx="11588750" cy="6858000"/>
  <p:notesSz cx="6858000" cy="9144000"/>
  <p:embeddedFontLst>
    <p:embeddedFont>
      <p:font typeface="Lato"/>
      <p:regular xmlns:r="http://schemas.openxmlformats.org/officeDocument/2006/relationships" r:id="R6f6a21fd9dab4458"/>
      <p:bold xmlns:r="http://schemas.openxmlformats.org/officeDocument/2006/relationships" r:id="R1a55c0929b024969"/>
      <p:italic xmlns:r="http://schemas.openxmlformats.org/officeDocument/2006/relationships" r:id="R9a583c9c69ed4467"/>
      <p:boldItalic xmlns:r="http://schemas.openxmlformats.org/officeDocument/2006/relationships" r:id="R37e916c1a4254e9b"/>
    </p:embeddedFont>
  </p:embeddedFontLst>
</p:presentation>
</file>

<file path=ppt/authors.xml><?xml version="1.0" encoding="utf-8"?>
<p188:authorLst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e34a308b75204909"/><Relationship Type="http://schemas.openxmlformats.org/officeDocument/2006/relationships/slideMaster" Target="/ppt/slideMasters/slideMaster1.xml" Id="Rf154f2863fb74b3e"/><Relationship Type="http://schemas.openxmlformats.org/officeDocument/2006/relationships/notesMaster" Target="/ppt/notesMasters/notesMaster1.xml" Id="Rfc47e4bd921e4f0a"/><Relationship Type="http://schemas.openxmlformats.org/officeDocument/2006/relationships/presProps" Target="/ppt/presProps.xml" Id="R344878132aed4165"/><Relationship Type="http://schemas.openxmlformats.org/officeDocument/2006/relationships/viewProps" Target="/ppt/viewProps.xml" Id="Reecdd8b8666b46d0"/><Relationship Type="http://schemas.openxmlformats.org/officeDocument/2006/relationships/tableStyles" Target="/ppt/tableStyles.xml" Id="R392c0b4856514ff3"/><Relationship Type="http://schemas.openxmlformats.org/officeDocument/2006/relationships/font" Target="/ppt/fonts/font.dat" Id="R6f6a21fd9dab4458"/><Relationship Type="http://schemas.openxmlformats.org/officeDocument/2006/relationships/font" Target="/ppt/fonts/font2.dat" Id="R1a55c0929b024969"/><Relationship Type="http://schemas.openxmlformats.org/officeDocument/2006/relationships/font" Target="/ppt/fonts/font3.dat" Id="R9a583c9c69ed4467"/><Relationship Type="http://schemas.openxmlformats.org/officeDocument/2006/relationships/font" Target="/ppt/fonts/font4.dat" Id="R37e916c1a4254e9b"/><Relationship Type="http://schemas.microsoft.com/office/2018/10/relationships/authors" Target="/ppt/authors.xml" Id="Rf5e7f6d463b34a77"/><Relationship Type="http://schemas.openxmlformats.org/officeDocument/2006/relationships/slide" Target="/ppt/slides/slide1.xml" Id="Rde1d7d0652734eb5"/><Relationship Type="http://schemas.openxmlformats.org/officeDocument/2006/relationships/slide" Target="/ppt/slides/slide2.xml" Id="R6e530737d79349d1"/><Relationship Type="http://schemas.openxmlformats.org/officeDocument/2006/relationships/slide" Target="/ppt/slides/slide3.xml" Id="Rcc2c1124ebd54ab3"/><Relationship Type="http://schemas.openxmlformats.org/officeDocument/2006/relationships/slide" Target="/ppt/slides/slide4.xml" Id="R9ef7c17a156243bb"/><Relationship Type="http://schemas.openxmlformats.org/officeDocument/2006/relationships/slide" Target="/ppt/slides/slide5.xml" Id="R1d84e429ce3542b5"/><Relationship Type="http://schemas.openxmlformats.org/officeDocument/2006/relationships/slide" Target="/ppt/slides/slide6.xml" Id="R8b1804a7a3d349ef"/><Relationship Type="http://schemas.openxmlformats.org/officeDocument/2006/relationships/slide" Target="/ppt/slides/slide7.xml" Id="Rf05867f3ad7c411b"/><Relationship Type="http://schemas.openxmlformats.org/officeDocument/2006/relationships/slide" Target="/ppt/slides/slide8.xml" Id="R6e0a56fe23a04d21"/><Relationship Type="http://schemas.openxmlformats.org/officeDocument/2006/relationships/slide" Target="/ppt/slides/slide9.xml" Id="R363e7ae116ab42e1"/><Relationship Type="http://schemas.openxmlformats.org/officeDocument/2006/relationships/slide" Target="/ppt/slides/slide10.xml" Id="R54879962e22243df"/><Relationship Type="http://schemas.openxmlformats.org/officeDocument/2006/relationships/slide" Target="/ppt/slides/slide11.xml" Id="R8cfb313233d34e6c"/><Relationship Type="http://schemas.openxmlformats.org/officeDocument/2006/relationships/slide" Target="/ppt/slides/slide12.xml" Id="R93deffc11f9f4a36"/><Relationship Type="http://schemas.openxmlformats.org/officeDocument/2006/relationships/slide" Target="/ppt/slides/slide13.xml" Id="Rde68a0a9b56a4544"/></Relationships>
</file>

<file path=ppt/diagrams/v32_s2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2_data1.xml><?xml version="1.0" encoding="utf-8"?>
<dgm:dataModel xmlns:dgm="http://schemas.openxmlformats.org/drawingml/2006/diagram" xmlns:a="http://schemas.openxmlformats.org/drawingml/2006/main">
  <dgm:ptLst>
    <dgm:pt modelId="{89EDD9F4-517A-423A-8062-52F906573F3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AC981AEB-3240-40F7-8BC7-3462D77E5EEF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B8BA5E-0640-44FB-AA31-9E7844B28449}" type="parTrans" cxnId="{24D59777-028E-451A-82DA-909A1AEC3027}">
      <dgm:prSet/>
      <dgm:spPr>
        <a:ln>
          <a:noFill/>
        </a:ln>
      </dgm:spPr>
    </dgm:pt>
    <dgm:pt modelId="{A9960062-BEFF-4C31-BFD0-6D440E5FE1E1}" type="sibTrans" cxnId="{24D59777-028E-451A-82DA-909A1AEC3027}">
      <dgm:prSet/>
      <dgm:spPr>
        <a:ln>
          <a:noFill/>
        </a:ln>
      </dgm:spPr>
    </dgm:pt>
    <dgm:pt modelId="{87F06D40-41DD-4A2F-9F9C-1ED0B44BA962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gm:t>
    </dgm:pt>
    <dgm:pt modelId="{6FBBE429-3EA0-4B1D-A348-FCAA80388784}" type="parTrans" cxnId="{C7F0E118-69A9-4B8A-9E68-80201368D004}">
      <dgm:prSet/>
      <dgm:spPr>
        <a:ln>
          <a:noFill/>
        </a:ln>
      </dgm:spPr>
    </dgm:pt>
    <dgm:pt modelId="{664B6AAE-09E3-44FF-B508-272C0951CC9B}" type="sibTrans" cxnId="{C7F0E118-69A9-4B8A-9E68-80201368D004}">
      <dgm:prSet/>
      <dgm:spPr>
        <a:ln>
          <a:noFill/>
        </a:ln>
      </dgm:spPr>
    </dgm:pt>
    <dgm:pt modelId="{76DF3A45-5741-4BF8-90F1-4A7020D88F3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AA39D22C-D631-42B8-8A60-DABAE6EE922F}" type="parTrans" cxnId="{110A6484-7110-4C95-9B49-775F40941B1B}">
      <dgm:prSet/>
      <dgm:spPr>
        <a:ln>
          <a:noFill/>
        </a:ln>
      </dgm:spPr>
    </dgm:pt>
    <dgm:pt modelId="{046FAA88-BA00-4B76-992A-C499E3920AED}" type="sibTrans" cxnId="{110A6484-7110-4C95-9B49-775F40941B1B}">
      <dgm:prSet/>
      <dgm:spPr>
        <a:ln>
          <a:noFill/>
        </a:ln>
      </dgm:spPr>
    </dgm:pt>
    <dgm:pt modelId="{EC8A132B-7A37-405A-AE61-D0A4AC9C84D4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32CD99DD-DBD5-46DF-9738-9B2F36BDE0E4}" type="parTrans" cxnId="{B5EE44BA-904D-416F-8BB4-76FF1C1AF67F}">
      <dgm:prSet/>
      <dgm:spPr>
        <a:ln>
          <a:noFill/>
        </a:ln>
      </dgm:spPr>
    </dgm:pt>
    <dgm:pt modelId="{9CDDEC2B-949A-41B6-A712-E77569C8E717}" type="sibTrans" cxnId="{B5EE44BA-904D-416F-8BB4-76FF1C1AF67F}">
      <dgm:prSet/>
      <dgm:spPr>
        <a:ln>
          <a:noFill/>
        </a:ln>
      </dgm:spPr>
    </dgm:pt>
    <dgm:pt modelId="{15F593F2-40E2-4653-8025-677035C3DC9D}" type="pres">
      <dgm:prSet presAssocID="{89EDD9F4-517A-423A-8062-52F906573F3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C4EF7803-CBF7-4F68-B5E2-A27214E782BF}" type="pres">
      <dgm:prSet presAssocID="{AC981AEB-3240-40F7-8BC7-3462D77E5EEF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F42B213-6EC2-4A7A-98EE-FD00CE627AC2}" type="pres">
      <dgm:prSet presAssocID="{A9960062-BEFF-4C31-BFD0-6D440E5FE1E1}" presName="parTxOnlySpace" presStyleCnt="0"/>
      <dgm:spPr>
        <a:ln>
          <a:noFill/>
        </a:ln>
      </dgm:spPr>
    </dgm:pt>
    <dgm:pt modelId="{C17A1487-1862-4A32-B801-89B618873E04}" type="pres">
      <dgm:prSet presAssocID="{87F06D40-41DD-4A2F-9F9C-1ED0B44BA962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C1C00FF-9A18-4423-93D0-E6C21EE159AE}" type="pres">
      <dgm:prSet presAssocID="{664B6AAE-09E3-44FF-B508-272C0951CC9B}" presName="parTxOnlySpace" presStyleCnt="0"/>
      <dgm:spPr>
        <a:ln>
          <a:noFill/>
        </a:ln>
      </dgm:spPr>
    </dgm:pt>
    <dgm:pt modelId="{9F404DEC-4EC8-4518-BE85-93B7692E5638}" type="pres">
      <dgm:prSet presAssocID="{76DF3A45-5741-4BF8-90F1-4A7020D88F3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4707A9-14D8-4951-8914-17DD9D9F43B5}" type="pres">
      <dgm:prSet presAssocID="{046FAA88-BA00-4B76-992A-C499E3920AED}" presName="parTxOnlySpace" presStyleCnt="0"/>
      <dgm:spPr>
        <a:ln>
          <a:noFill/>
        </a:ln>
      </dgm:spPr>
    </dgm:pt>
    <dgm:pt modelId="{E56216AE-4B62-49BF-B577-95F970D228C9}" type="pres">
      <dgm:prSet presAssocID="{EC8A132B-7A37-405A-AE61-D0A4AC9C84D4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C7F0E118-69A9-4B8A-9E68-80201368D004}" srcId="{89EDD9F4-517A-423A-8062-52F906573F35}" destId="{87F06D40-41DD-4A2F-9F9C-1ED0B44BA962}" srcOrd="1" destOrd="0" parTransId="{6FBBE429-3EA0-4B1D-A348-FCAA80388784}" sibTransId="{664B6AAE-09E3-44FF-B508-272C0951CC9B}"/>
    <dgm:cxn modelId="{38C55C22-FD2D-45CC-9831-7470FFECD64E}" type="presOf" srcId="{89EDD9F4-517A-423A-8062-52F906573F35}" destId="{15F593F2-40E2-4653-8025-677035C3DC9D}" srcOrd="0" destOrd="0" presId="urn:microsoft.com/office/officeart/2005/8/layout/chevron1"/>
    <dgm:cxn modelId="{02074744-DBB7-4014-8363-60EC43DBA6CD}" type="presOf" srcId="{76DF3A45-5741-4BF8-90F1-4A7020D88F3E}" destId="{9F404DEC-4EC8-4518-BE85-93B7692E5638}" srcOrd="0" destOrd="0" presId="urn:microsoft.com/office/officeart/2005/8/layout/chevron1"/>
    <dgm:cxn modelId="{24D59777-028E-451A-82DA-909A1AEC3027}" srcId="{89EDD9F4-517A-423A-8062-52F906573F35}" destId="{AC981AEB-3240-40F7-8BC7-3462D77E5EEF}" srcOrd="0" destOrd="0" parTransId="{D0B8BA5E-0640-44FB-AA31-9E7844B28449}" sibTransId="{A9960062-BEFF-4C31-BFD0-6D440E5FE1E1}"/>
    <dgm:cxn modelId="{110A6484-7110-4C95-9B49-775F40941B1B}" srcId="{89EDD9F4-517A-423A-8062-52F906573F35}" destId="{76DF3A45-5741-4BF8-90F1-4A7020D88F3E}" srcOrd="2" destOrd="0" parTransId="{AA39D22C-D631-42B8-8A60-DABAE6EE922F}" sibTransId="{046FAA88-BA00-4B76-992A-C499E3920AED}"/>
    <dgm:cxn modelId="{B5EE44BA-904D-416F-8BB4-76FF1C1AF67F}" srcId="{89EDD9F4-517A-423A-8062-52F906573F35}" destId="{EC8A132B-7A37-405A-AE61-D0A4AC9C84D4}" srcOrd="3" destOrd="0" parTransId="{32CD99DD-DBD5-46DF-9738-9B2F36BDE0E4}" sibTransId="{9CDDEC2B-949A-41B6-A712-E77569C8E717}"/>
    <dgm:cxn modelId="{25C83AEB-7E6A-4811-811C-48DC57D32A63}" type="presOf" srcId="{AC981AEB-3240-40F7-8BC7-3462D77E5EEF}" destId="{C4EF7803-CBF7-4F68-B5E2-A27214E782BF}" srcOrd="0" destOrd="0" presId="urn:microsoft.com/office/officeart/2005/8/layout/chevron1"/>
    <dgm:cxn modelId="{C2106DF6-D6A2-49E4-BAFA-5D750DDEF7C3}" type="presOf" srcId="{EC8A132B-7A37-405A-AE61-D0A4AC9C84D4}" destId="{E56216AE-4B62-49BF-B577-95F970D228C9}" srcOrd="0" destOrd="0" presId="urn:microsoft.com/office/officeart/2005/8/layout/chevron1"/>
    <dgm:cxn modelId="{C8ED67F8-207C-47C2-85A0-36C82DA29F5A}" type="presOf" srcId="{87F06D40-41DD-4A2F-9F9C-1ED0B44BA962}" destId="{C17A1487-1862-4A32-B801-89B618873E04}" srcOrd="0" destOrd="0" presId="urn:microsoft.com/office/officeart/2005/8/layout/chevron1"/>
    <dgm:cxn modelId="{D0EFF3B6-E4F2-4B6D-A9D3-5680F8F7DDBC}" type="presParOf" srcId="{15F593F2-40E2-4653-8025-677035C3DC9D}" destId="{C4EF7803-CBF7-4F68-B5E2-A27214E782BF}" srcOrd="0" destOrd="0" presId="urn:microsoft.com/office/officeart/2005/8/layout/chevron1"/>
    <dgm:cxn modelId="{4DF86A96-FF9B-43FA-B523-DE662ABFEBFD}" type="presParOf" srcId="{15F593F2-40E2-4653-8025-677035C3DC9D}" destId="{7F42B213-6EC2-4A7A-98EE-FD00CE627AC2}" srcOrd="1" destOrd="0" presId="urn:microsoft.com/office/officeart/2005/8/layout/chevron1"/>
    <dgm:cxn modelId="{6ECCF7C3-0645-4626-A41E-BEE32AE1FD38}" type="presParOf" srcId="{15F593F2-40E2-4653-8025-677035C3DC9D}" destId="{C17A1487-1862-4A32-B801-89B618873E04}" srcOrd="2" destOrd="0" presId="urn:microsoft.com/office/officeart/2005/8/layout/chevron1"/>
    <dgm:cxn modelId="{E5B8DE1C-33F9-4E01-9629-46FA7E111D45}" type="presParOf" srcId="{15F593F2-40E2-4653-8025-677035C3DC9D}" destId="{4C1C00FF-9A18-4423-93D0-E6C21EE159AE}" srcOrd="3" destOrd="0" presId="urn:microsoft.com/office/officeart/2005/8/layout/chevron1"/>
    <dgm:cxn modelId="{51034CBE-7419-4500-8460-737D374B25E9}" type="presParOf" srcId="{15F593F2-40E2-4653-8025-677035C3DC9D}" destId="{9F404DEC-4EC8-4518-BE85-93B7692E5638}" srcOrd="4" destOrd="0" presId="urn:microsoft.com/office/officeart/2005/8/layout/chevron1"/>
    <dgm:cxn modelId="{5CF547D9-5245-4382-8157-6EC67EB041B9}" type="presParOf" srcId="{15F593F2-40E2-4653-8025-677035C3DC9D}" destId="{4B4707A9-14D8-4951-8914-17DD9D9F43B5}" srcOrd="5" destOrd="0" presId="urn:microsoft.com/office/officeart/2005/8/layout/chevron1"/>
    <dgm:cxn modelId="{C4DDF6FA-AEF9-483D-B368-FE146FCD804F}" type="presParOf" srcId="{15F593F2-40E2-4653-8025-677035C3DC9D}" destId="{E56216AE-4B62-49BF-B577-95F970D228C9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2" minVer="http://schemas.openxmlformats.org/drawingml/2006/diagram"/>
    </a:ext>
  </dgm:extLst>
</dgm:dataModel>
</file>

<file path=ppt/diagrams/v32_s2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F7803-CBF7-4F68-B5E2-A27214E782BF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C17A1487-1862-4A32-B801-89B618873E04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9F404DEC-4EC8-4518-BE85-93B7692E5638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E56216AE-4B62-49BF-B577-95F970D228C9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2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2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3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3_data1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"/>
    <dgm:cxn modelId="{AC4F6029-1BF4-47CB-8BA5-680A584F2DDF}" type="presOf" srcId="{D5012695-E636-436E-8E3E-60550BC3080E}" destId="{54D1D34D-643C-499A-B330-F91526D1DBE8}" srcOrd="0" destOrd="0" presId="urn:microsoft.com/office/officeart/2005/8/layout/chevron1"/>
    <dgm:cxn modelId="{6B6CE272-F2F3-4936-B001-E499C3B681C4}" type="presOf" srcId="{8FC3E99C-7BCE-40A0-B316-2E0BBFF2573F}" destId="{EC812F4D-EF66-448A-B027-679DD9AEE63D}" srcOrd="0" destOrd="0" presId="urn:microsoft.com/office/officeart/2005/8/layout/chevron1"/>
    <dgm:cxn modelId="{33E33F55-80EC-484E-A613-EF53AA13C72A}" type="presOf" srcId="{66535F52-61D9-45C6-A6A4-51615B77690B}" destId="{6636E125-B383-4A9D-B027-3EFC54D58BB6}" srcOrd="0" destOrd="0" presId="urn:microsoft.com/office/officeart/2005/8/layout/chevron1"/>
    <dgm:cxn modelId="{5A1E9998-D021-48E7-9F22-4B7E9E7C1B1C}" type="presOf" srcId="{78F4C9A7-4E95-49A6-8310-38E561C483BA}" destId="{4BCE8E4B-4C6F-4AB8-BA87-94EBADC2C5D0}" srcOrd="0" destOrd="0" presId="urn:microsoft.com/office/officeart/2005/8/layout/chevron1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"/>
    <dgm:cxn modelId="{C8ED28C5-1DD9-4885-840B-086B2A7EB6BC}" type="presParOf" srcId="{19B0610F-282C-4322-866B-0055FAF46627}" destId="{4B66681B-9D4C-436C-87BB-82E64E68F6C8}" srcOrd="1" destOrd="0" presId="urn:microsoft.com/office/officeart/2005/8/layout/chevron1"/>
    <dgm:cxn modelId="{032CB6FE-5464-43D9-9665-77F40DBF7861}" type="presParOf" srcId="{19B0610F-282C-4322-866B-0055FAF46627}" destId="{6636E125-B383-4A9D-B027-3EFC54D58BB6}" srcOrd="2" destOrd="0" presId="urn:microsoft.com/office/officeart/2005/8/layout/chevron1"/>
    <dgm:cxn modelId="{79F4CB33-4866-48D9-9DC6-0390A47EA9E6}" type="presParOf" srcId="{19B0610F-282C-4322-866B-0055FAF46627}" destId="{B7D1B483-87CF-4091-8E45-AEF05E32D037}" srcOrd="3" destOrd="0" presId="urn:microsoft.com/office/officeart/2005/8/layout/chevron1"/>
    <dgm:cxn modelId="{AF7401B2-4231-4570-8711-83F5617B87E6}" type="presParOf" srcId="{19B0610F-282C-4322-866B-0055FAF46627}" destId="{EC812F4D-EF66-448A-B027-679DD9AEE63D}" srcOrd="4" destOrd="0" presId="urn:microsoft.com/office/officeart/2005/8/layout/chevron1"/>
    <dgm:cxn modelId="{DD643616-A114-43CF-8265-2475291604A2}" type="presParOf" srcId="{19B0610F-282C-4322-866B-0055FAF46627}" destId="{AA5BB0A8-BEB9-4A1C-ADF5-7F8122850824}" srcOrd="5" destOrd="0" presId="urn:microsoft.com/office/officeart/2005/8/layout/chevron1"/>
    <dgm:cxn modelId="{03454C2C-BB9D-46BA-B390-3C3B24C9F4BC}" type="presParOf" srcId="{19B0610F-282C-4322-866B-0055FAF46627}" destId="{4BCE8E4B-4C6F-4AB8-BA87-94EBADC2C5D0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3" minVer="http://schemas.openxmlformats.org/drawingml/2006/diagram"/>
    </a:ext>
  </dgm:extLst>
</dgm:dataModel>
</file>

<file path=ppt/diagrams/v32_s3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3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3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4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4_data1.xml><?xml version="1.0" encoding="utf-8"?>
<dgm:dataModel xmlns:dgm="http://schemas.openxmlformats.org/drawingml/2006/diagram" xmlns:a="http://schemas.openxmlformats.org/drawingml/2006/main">
  <dgm:ptLst>
    <dgm:pt modelId="{89EDD9F4-517A-423A-8062-52F906573F3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AC981AEB-3240-40F7-8BC7-3462D77E5EEF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B8BA5E-0640-44FB-AA31-9E7844B28449}" type="parTrans" cxnId="{24D59777-028E-451A-82DA-909A1AEC3027}">
      <dgm:prSet/>
      <dgm:spPr>
        <a:ln>
          <a:noFill/>
        </a:ln>
      </dgm:spPr>
    </dgm:pt>
    <dgm:pt modelId="{A9960062-BEFF-4C31-BFD0-6D440E5FE1E1}" type="sibTrans" cxnId="{24D59777-028E-451A-82DA-909A1AEC3027}">
      <dgm:prSet/>
      <dgm:spPr>
        <a:ln>
          <a:noFill/>
        </a:ln>
      </dgm:spPr>
    </dgm:pt>
    <dgm:pt modelId="{87F06D40-41DD-4A2F-9F9C-1ED0B44BA962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gm:t>
    </dgm:pt>
    <dgm:pt modelId="{6FBBE429-3EA0-4B1D-A348-FCAA80388784}" type="parTrans" cxnId="{C7F0E118-69A9-4B8A-9E68-80201368D004}">
      <dgm:prSet/>
      <dgm:spPr>
        <a:ln>
          <a:noFill/>
        </a:ln>
      </dgm:spPr>
    </dgm:pt>
    <dgm:pt modelId="{664B6AAE-09E3-44FF-B508-272C0951CC9B}" type="sibTrans" cxnId="{C7F0E118-69A9-4B8A-9E68-80201368D004}">
      <dgm:prSet/>
      <dgm:spPr>
        <a:ln>
          <a:noFill/>
        </a:ln>
      </dgm:spPr>
    </dgm:pt>
    <dgm:pt modelId="{76DF3A45-5741-4BF8-90F1-4A7020D88F3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AA39D22C-D631-42B8-8A60-DABAE6EE922F}" type="parTrans" cxnId="{110A6484-7110-4C95-9B49-775F40941B1B}">
      <dgm:prSet/>
      <dgm:spPr>
        <a:ln>
          <a:noFill/>
        </a:ln>
      </dgm:spPr>
    </dgm:pt>
    <dgm:pt modelId="{046FAA88-BA00-4B76-992A-C499E3920AED}" type="sibTrans" cxnId="{110A6484-7110-4C95-9B49-775F40941B1B}">
      <dgm:prSet/>
      <dgm:spPr>
        <a:ln>
          <a:noFill/>
        </a:ln>
      </dgm:spPr>
    </dgm:pt>
    <dgm:pt modelId="{EC8A132B-7A37-405A-AE61-D0A4AC9C84D4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32CD99DD-DBD5-46DF-9738-9B2F36BDE0E4}" type="parTrans" cxnId="{B5EE44BA-904D-416F-8BB4-76FF1C1AF67F}">
      <dgm:prSet/>
      <dgm:spPr>
        <a:ln>
          <a:noFill/>
        </a:ln>
      </dgm:spPr>
    </dgm:pt>
    <dgm:pt modelId="{9CDDEC2B-949A-41B6-A712-E77569C8E717}" type="sibTrans" cxnId="{B5EE44BA-904D-416F-8BB4-76FF1C1AF67F}">
      <dgm:prSet/>
      <dgm:spPr>
        <a:ln>
          <a:noFill/>
        </a:ln>
      </dgm:spPr>
    </dgm:pt>
    <dgm:pt modelId="{15F593F2-40E2-4653-8025-677035C3DC9D}" type="pres">
      <dgm:prSet presAssocID="{89EDD9F4-517A-423A-8062-52F906573F3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C4EF7803-CBF7-4F68-B5E2-A27214E782BF}" type="pres">
      <dgm:prSet presAssocID="{AC981AEB-3240-40F7-8BC7-3462D77E5EEF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F42B213-6EC2-4A7A-98EE-FD00CE627AC2}" type="pres">
      <dgm:prSet presAssocID="{A9960062-BEFF-4C31-BFD0-6D440E5FE1E1}" presName="parTxOnlySpace" presStyleCnt="0"/>
      <dgm:spPr>
        <a:ln>
          <a:noFill/>
        </a:ln>
      </dgm:spPr>
    </dgm:pt>
    <dgm:pt modelId="{C17A1487-1862-4A32-B801-89B618873E04}" type="pres">
      <dgm:prSet presAssocID="{87F06D40-41DD-4A2F-9F9C-1ED0B44BA962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C1C00FF-9A18-4423-93D0-E6C21EE159AE}" type="pres">
      <dgm:prSet presAssocID="{664B6AAE-09E3-44FF-B508-272C0951CC9B}" presName="parTxOnlySpace" presStyleCnt="0"/>
      <dgm:spPr>
        <a:ln>
          <a:noFill/>
        </a:ln>
      </dgm:spPr>
    </dgm:pt>
    <dgm:pt modelId="{9F404DEC-4EC8-4518-BE85-93B7692E5638}" type="pres">
      <dgm:prSet presAssocID="{76DF3A45-5741-4BF8-90F1-4A7020D88F3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4707A9-14D8-4951-8914-17DD9D9F43B5}" type="pres">
      <dgm:prSet presAssocID="{046FAA88-BA00-4B76-992A-C499E3920AED}" presName="parTxOnlySpace" presStyleCnt="0"/>
      <dgm:spPr>
        <a:ln>
          <a:noFill/>
        </a:ln>
      </dgm:spPr>
    </dgm:pt>
    <dgm:pt modelId="{E56216AE-4B62-49BF-B577-95F970D228C9}" type="pres">
      <dgm:prSet presAssocID="{EC8A132B-7A37-405A-AE61-D0A4AC9C84D4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C7F0E118-69A9-4B8A-9E68-80201368D004}" srcId="{89EDD9F4-517A-423A-8062-52F906573F35}" destId="{87F06D40-41DD-4A2F-9F9C-1ED0B44BA962}" srcOrd="1" destOrd="0" parTransId="{6FBBE429-3EA0-4B1D-A348-FCAA80388784}" sibTransId="{664B6AAE-09E3-44FF-B508-272C0951CC9B}"/>
    <dgm:cxn modelId="{38C55C22-FD2D-45CC-9831-7470FFECD64E}" type="presOf" srcId="{89EDD9F4-517A-423A-8062-52F906573F35}" destId="{15F593F2-40E2-4653-8025-677035C3DC9D}" srcOrd="0" destOrd="0" presId="urn:microsoft.com/office/officeart/2005/8/layout/chevron1"/>
    <dgm:cxn modelId="{02074744-DBB7-4014-8363-60EC43DBA6CD}" type="presOf" srcId="{76DF3A45-5741-4BF8-90F1-4A7020D88F3E}" destId="{9F404DEC-4EC8-4518-BE85-93B7692E5638}" srcOrd="0" destOrd="0" presId="urn:microsoft.com/office/officeart/2005/8/layout/chevron1"/>
    <dgm:cxn modelId="{24D59777-028E-451A-82DA-909A1AEC3027}" srcId="{89EDD9F4-517A-423A-8062-52F906573F35}" destId="{AC981AEB-3240-40F7-8BC7-3462D77E5EEF}" srcOrd="0" destOrd="0" parTransId="{D0B8BA5E-0640-44FB-AA31-9E7844B28449}" sibTransId="{A9960062-BEFF-4C31-BFD0-6D440E5FE1E1}"/>
    <dgm:cxn modelId="{110A6484-7110-4C95-9B49-775F40941B1B}" srcId="{89EDD9F4-517A-423A-8062-52F906573F35}" destId="{76DF3A45-5741-4BF8-90F1-4A7020D88F3E}" srcOrd="2" destOrd="0" parTransId="{AA39D22C-D631-42B8-8A60-DABAE6EE922F}" sibTransId="{046FAA88-BA00-4B76-992A-C499E3920AED}"/>
    <dgm:cxn modelId="{B5EE44BA-904D-416F-8BB4-76FF1C1AF67F}" srcId="{89EDD9F4-517A-423A-8062-52F906573F35}" destId="{EC8A132B-7A37-405A-AE61-D0A4AC9C84D4}" srcOrd="3" destOrd="0" parTransId="{32CD99DD-DBD5-46DF-9738-9B2F36BDE0E4}" sibTransId="{9CDDEC2B-949A-41B6-A712-E77569C8E717}"/>
    <dgm:cxn modelId="{25C83AEB-7E6A-4811-811C-48DC57D32A63}" type="presOf" srcId="{AC981AEB-3240-40F7-8BC7-3462D77E5EEF}" destId="{C4EF7803-CBF7-4F68-B5E2-A27214E782BF}" srcOrd="0" destOrd="0" presId="urn:microsoft.com/office/officeart/2005/8/layout/chevron1"/>
    <dgm:cxn modelId="{C2106DF6-D6A2-49E4-BAFA-5D750DDEF7C3}" type="presOf" srcId="{EC8A132B-7A37-405A-AE61-D0A4AC9C84D4}" destId="{E56216AE-4B62-49BF-B577-95F970D228C9}" srcOrd="0" destOrd="0" presId="urn:microsoft.com/office/officeart/2005/8/layout/chevron1"/>
    <dgm:cxn modelId="{C8ED67F8-207C-47C2-85A0-36C82DA29F5A}" type="presOf" srcId="{87F06D40-41DD-4A2F-9F9C-1ED0B44BA962}" destId="{C17A1487-1862-4A32-B801-89B618873E04}" srcOrd="0" destOrd="0" presId="urn:microsoft.com/office/officeart/2005/8/layout/chevron1"/>
    <dgm:cxn modelId="{D0EFF3B6-E4F2-4B6D-A9D3-5680F8F7DDBC}" type="presParOf" srcId="{15F593F2-40E2-4653-8025-677035C3DC9D}" destId="{C4EF7803-CBF7-4F68-B5E2-A27214E782BF}" srcOrd="0" destOrd="0" presId="urn:microsoft.com/office/officeart/2005/8/layout/chevron1"/>
    <dgm:cxn modelId="{4DF86A96-FF9B-43FA-B523-DE662ABFEBFD}" type="presParOf" srcId="{15F593F2-40E2-4653-8025-677035C3DC9D}" destId="{7F42B213-6EC2-4A7A-98EE-FD00CE627AC2}" srcOrd="1" destOrd="0" presId="urn:microsoft.com/office/officeart/2005/8/layout/chevron1"/>
    <dgm:cxn modelId="{6ECCF7C3-0645-4626-A41E-BEE32AE1FD38}" type="presParOf" srcId="{15F593F2-40E2-4653-8025-677035C3DC9D}" destId="{C17A1487-1862-4A32-B801-89B618873E04}" srcOrd="2" destOrd="0" presId="urn:microsoft.com/office/officeart/2005/8/layout/chevron1"/>
    <dgm:cxn modelId="{E5B8DE1C-33F9-4E01-9629-46FA7E111D45}" type="presParOf" srcId="{15F593F2-40E2-4653-8025-677035C3DC9D}" destId="{4C1C00FF-9A18-4423-93D0-E6C21EE159AE}" srcOrd="3" destOrd="0" presId="urn:microsoft.com/office/officeart/2005/8/layout/chevron1"/>
    <dgm:cxn modelId="{51034CBE-7419-4500-8460-737D374B25E9}" type="presParOf" srcId="{15F593F2-40E2-4653-8025-677035C3DC9D}" destId="{9F404DEC-4EC8-4518-BE85-93B7692E5638}" srcOrd="4" destOrd="0" presId="urn:microsoft.com/office/officeart/2005/8/layout/chevron1"/>
    <dgm:cxn modelId="{5CF547D9-5245-4382-8157-6EC67EB041B9}" type="presParOf" srcId="{15F593F2-40E2-4653-8025-677035C3DC9D}" destId="{4B4707A9-14D8-4951-8914-17DD9D9F43B5}" srcOrd="5" destOrd="0" presId="urn:microsoft.com/office/officeart/2005/8/layout/chevron1"/>
    <dgm:cxn modelId="{C4DDF6FA-AEF9-483D-B368-FE146FCD804F}" type="presParOf" srcId="{15F593F2-40E2-4653-8025-677035C3DC9D}" destId="{E56216AE-4B62-49BF-B577-95F970D228C9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4" minVer="http://schemas.openxmlformats.org/drawingml/2006/diagram"/>
    </a:ext>
  </dgm:extLst>
</dgm:dataModel>
</file>

<file path=ppt/diagrams/v32_s4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F7803-CBF7-4F68-B5E2-A27214E782BF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C17A1487-1862-4A32-B801-89B618873E04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9F404DEC-4EC8-4518-BE85-93B7692E5638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E56216AE-4B62-49BF-B577-95F970D228C9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4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4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5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5_data1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"/>
    <dgm:cxn modelId="{AC4F6029-1BF4-47CB-8BA5-680A584F2DDF}" type="presOf" srcId="{D5012695-E636-436E-8E3E-60550BC3080E}" destId="{54D1D34D-643C-499A-B330-F91526D1DBE8}" srcOrd="0" destOrd="0" presId="urn:microsoft.com/office/officeart/2005/8/layout/chevron1"/>
    <dgm:cxn modelId="{6B6CE272-F2F3-4936-B001-E499C3B681C4}" type="presOf" srcId="{8FC3E99C-7BCE-40A0-B316-2E0BBFF2573F}" destId="{EC812F4D-EF66-448A-B027-679DD9AEE63D}" srcOrd="0" destOrd="0" presId="urn:microsoft.com/office/officeart/2005/8/layout/chevron1"/>
    <dgm:cxn modelId="{33E33F55-80EC-484E-A613-EF53AA13C72A}" type="presOf" srcId="{66535F52-61D9-45C6-A6A4-51615B77690B}" destId="{6636E125-B383-4A9D-B027-3EFC54D58BB6}" srcOrd="0" destOrd="0" presId="urn:microsoft.com/office/officeart/2005/8/layout/chevron1"/>
    <dgm:cxn modelId="{5A1E9998-D021-48E7-9F22-4B7E9E7C1B1C}" type="presOf" srcId="{78F4C9A7-4E95-49A6-8310-38E561C483BA}" destId="{4BCE8E4B-4C6F-4AB8-BA87-94EBADC2C5D0}" srcOrd="0" destOrd="0" presId="urn:microsoft.com/office/officeart/2005/8/layout/chevron1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"/>
    <dgm:cxn modelId="{C8ED28C5-1DD9-4885-840B-086B2A7EB6BC}" type="presParOf" srcId="{19B0610F-282C-4322-866B-0055FAF46627}" destId="{4B66681B-9D4C-436C-87BB-82E64E68F6C8}" srcOrd="1" destOrd="0" presId="urn:microsoft.com/office/officeart/2005/8/layout/chevron1"/>
    <dgm:cxn modelId="{032CB6FE-5464-43D9-9665-77F40DBF7861}" type="presParOf" srcId="{19B0610F-282C-4322-866B-0055FAF46627}" destId="{6636E125-B383-4A9D-B027-3EFC54D58BB6}" srcOrd="2" destOrd="0" presId="urn:microsoft.com/office/officeart/2005/8/layout/chevron1"/>
    <dgm:cxn modelId="{79F4CB33-4866-48D9-9DC6-0390A47EA9E6}" type="presParOf" srcId="{19B0610F-282C-4322-866B-0055FAF46627}" destId="{B7D1B483-87CF-4091-8E45-AEF05E32D037}" srcOrd="3" destOrd="0" presId="urn:microsoft.com/office/officeart/2005/8/layout/chevron1"/>
    <dgm:cxn modelId="{AF7401B2-4231-4570-8711-83F5617B87E6}" type="presParOf" srcId="{19B0610F-282C-4322-866B-0055FAF46627}" destId="{EC812F4D-EF66-448A-B027-679DD9AEE63D}" srcOrd="4" destOrd="0" presId="urn:microsoft.com/office/officeart/2005/8/layout/chevron1"/>
    <dgm:cxn modelId="{DD643616-A114-43CF-8265-2475291604A2}" type="presParOf" srcId="{19B0610F-282C-4322-866B-0055FAF46627}" destId="{AA5BB0A8-BEB9-4A1C-ADF5-7F8122850824}" srcOrd="5" destOrd="0" presId="urn:microsoft.com/office/officeart/2005/8/layout/chevron1"/>
    <dgm:cxn modelId="{03454C2C-BB9D-46BA-B390-3C3B24C9F4BC}" type="presParOf" srcId="{19B0610F-282C-4322-866B-0055FAF46627}" destId="{4BCE8E4B-4C6F-4AB8-BA87-94EBADC2C5D0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5" minVer="http://schemas.openxmlformats.org/drawingml/2006/diagram"/>
    </a:ext>
  </dgm:extLst>
</dgm:dataModel>
</file>

<file path=ppt/diagrams/v32_s5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5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5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6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6_data1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"/>
    <dgm:cxn modelId="{AC4F6029-1BF4-47CB-8BA5-680A584F2DDF}" type="presOf" srcId="{D5012695-E636-436E-8E3E-60550BC3080E}" destId="{54D1D34D-643C-499A-B330-F91526D1DBE8}" srcOrd="0" destOrd="0" presId="urn:microsoft.com/office/officeart/2005/8/layout/chevron1"/>
    <dgm:cxn modelId="{6B6CE272-F2F3-4936-B001-E499C3B681C4}" type="presOf" srcId="{8FC3E99C-7BCE-40A0-B316-2E0BBFF2573F}" destId="{EC812F4D-EF66-448A-B027-679DD9AEE63D}" srcOrd="0" destOrd="0" presId="urn:microsoft.com/office/officeart/2005/8/layout/chevron1"/>
    <dgm:cxn modelId="{33E33F55-80EC-484E-A613-EF53AA13C72A}" type="presOf" srcId="{66535F52-61D9-45C6-A6A4-51615B77690B}" destId="{6636E125-B383-4A9D-B027-3EFC54D58BB6}" srcOrd="0" destOrd="0" presId="urn:microsoft.com/office/officeart/2005/8/layout/chevron1"/>
    <dgm:cxn modelId="{5A1E9998-D021-48E7-9F22-4B7E9E7C1B1C}" type="presOf" srcId="{78F4C9A7-4E95-49A6-8310-38E561C483BA}" destId="{4BCE8E4B-4C6F-4AB8-BA87-94EBADC2C5D0}" srcOrd="0" destOrd="0" presId="urn:microsoft.com/office/officeart/2005/8/layout/chevron1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"/>
    <dgm:cxn modelId="{C8ED28C5-1DD9-4885-840B-086B2A7EB6BC}" type="presParOf" srcId="{19B0610F-282C-4322-866B-0055FAF46627}" destId="{4B66681B-9D4C-436C-87BB-82E64E68F6C8}" srcOrd="1" destOrd="0" presId="urn:microsoft.com/office/officeart/2005/8/layout/chevron1"/>
    <dgm:cxn modelId="{032CB6FE-5464-43D9-9665-77F40DBF7861}" type="presParOf" srcId="{19B0610F-282C-4322-866B-0055FAF46627}" destId="{6636E125-B383-4A9D-B027-3EFC54D58BB6}" srcOrd="2" destOrd="0" presId="urn:microsoft.com/office/officeart/2005/8/layout/chevron1"/>
    <dgm:cxn modelId="{79F4CB33-4866-48D9-9DC6-0390A47EA9E6}" type="presParOf" srcId="{19B0610F-282C-4322-866B-0055FAF46627}" destId="{B7D1B483-87CF-4091-8E45-AEF05E32D037}" srcOrd="3" destOrd="0" presId="urn:microsoft.com/office/officeart/2005/8/layout/chevron1"/>
    <dgm:cxn modelId="{AF7401B2-4231-4570-8711-83F5617B87E6}" type="presParOf" srcId="{19B0610F-282C-4322-866B-0055FAF46627}" destId="{EC812F4D-EF66-448A-B027-679DD9AEE63D}" srcOrd="4" destOrd="0" presId="urn:microsoft.com/office/officeart/2005/8/layout/chevron1"/>
    <dgm:cxn modelId="{DD643616-A114-43CF-8265-2475291604A2}" type="presParOf" srcId="{19B0610F-282C-4322-866B-0055FAF46627}" destId="{AA5BB0A8-BEB9-4A1C-ADF5-7F8122850824}" srcOrd="5" destOrd="0" presId="urn:microsoft.com/office/officeart/2005/8/layout/chevron1"/>
    <dgm:cxn modelId="{03454C2C-BB9D-46BA-B390-3C3B24C9F4BC}" type="presParOf" srcId="{19B0610F-282C-4322-866B-0055FAF46627}" destId="{4BCE8E4B-4C6F-4AB8-BA87-94EBADC2C5D0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6" minVer="http://schemas.openxmlformats.org/drawingml/2006/diagram"/>
    </a:ext>
  </dgm:extLst>
</dgm:dataModel>
</file>

<file path=ppt/diagrams/v32_s6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6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6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7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7_data1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"/>
    <dgm:cxn modelId="{AC4F6029-1BF4-47CB-8BA5-680A584F2DDF}" type="presOf" srcId="{D5012695-E636-436E-8E3E-60550BC3080E}" destId="{54D1D34D-643C-499A-B330-F91526D1DBE8}" srcOrd="0" destOrd="0" presId="urn:microsoft.com/office/officeart/2005/8/layout/chevron1"/>
    <dgm:cxn modelId="{6B6CE272-F2F3-4936-B001-E499C3B681C4}" type="presOf" srcId="{8FC3E99C-7BCE-40A0-B316-2E0BBFF2573F}" destId="{EC812F4D-EF66-448A-B027-679DD9AEE63D}" srcOrd="0" destOrd="0" presId="urn:microsoft.com/office/officeart/2005/8/layout/chevron1"/>
    <dgm:cxn modelId="{33E33F55-80EC-484E-A613-EF53AA13C72A}" type="presOf" srcId="{66535F52-61D9-45C6-A6A4-51615B77690B}" destId="{6636E125-B383-4A9D-B027-3EFC54D58BB6}" srcOrd="0" destOrd="0" presId="urn:microsoft.com/office/officeart/2005/8/layout/chevron1"/>
    <dgm:cxn modelId="{5A1E9998-D021-48E7-9F22-4B7E9E7C1B1C}" type="presOf" srcId="{78F4C9A7-4E95-49A6-8310-38E561C483BA}" destId="{4BCE8E4B-4C6F-4AB8-BA87-94EBADC2C5D0}" srcOrd="0" destOrd="0" presId="urn:microsoft.com/office/officeart/2005/8/layout/chevron1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"/>
    <dgm:cxn modelId="{C8ED28C5-1DD9-4885-840B-086B2A7EB6BC}" type="presParOf" srcId="{19B0610F-282C-4322-866B-0055FAF46627}" destId="{4B66681B-9D4C-436C-87BB-82E64E68F6C8}" srcOrd="1" destOrd="0" presId="urn:microsoft.com/office/officeart/2005/8/layout/chevron1"/>
    <dgm:cxn modelId="{032CB6FE-5464-43D9-9665-77F40DBF7861}" type="presParOf" srcId="{19B0610F-282C-4322-866B-0055FAF46627}" destId="{6636E125-B383-4A9D-B027-3EFC54D58BB6}" srcOrd="2" destOrd="0" presId="urn:microsoft.com/office/officeart/2005/8/layout/chevron1"/>
    <dgm:cxn modelId="{79F4CB33-4866-48D9-9DC6-0390A47EA9E6}" type="presParOf" srcId="{19B0610F-282C-4322-866B-0055FAF46627}" destId="{B7D1B483-87CF-4091-8E45-AEF05E32D037}" srcOrd="3" destOrd="0" presId="urn:microsoft.com/office/officeart/2005/8/layout/chevron1"/>
    <dgm:cxn modelId="{AF7401B2-4231-4570-8711-83F5617B87E6}" type="presParOf" srcId="{19B0610F-282C-4322-866B-0055FAF46627}" destId="{EC812F4D-EF66-448A-B027-679DD9AEE63D}" srcOrd="4" destOrd="0" presId="urn:microsoft.com/office/officeart/2005/8/layout/chevron1"/>
    <dgm:cxn modelId="{DD643616-A114-43CF-8265-2475291604A2}" type="presParOf" srcId="{19B0610F-282C-4322-866B-0055FAF46627}" destId="{AA5BB0A8-BEB9-4A1C-ADF5-7F8122850824}" srcOrd="5" destOrd="0" presId="urn:microsoft.com/office/officeart/2005/8/layout/chevron1"/>
    <dgm:cxn modelId="{03454C2C-BB9D-46BA-B390-3C3B24C9F4BC}" type="presParOf" srcId="{19B0610F-282C-4322-866B-0055FAF46627}" destId="{4BCE8E4B-4C6F-4AB8-BA87-94EBADC2C5D0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7" minVer="http://schemas.openxmlformats.org/drawingml/2006/diagram"/>
    </a:ext>
  </dgm:extLst>
</dgm:dataModel>
</file>

<file path=ppt/diagrams/v32_s7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7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7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8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8_data1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"/>
    <dgm:cxn modelId="{AC4F6029-1BF4-47CB-8BA5-680A584F2DDF}" type="presOf" srcId="{D5012695-E636-436E-8E3E-60550BC3080E}" destId="{54D1D34D-643C-499A-B330-F91526D1DBE8}" srcOrd="0" destOrd="0" presId="urn:microsoft.com/office/officeart/2005/8/layout/chevron1"/>
    <dgm:cxn modelId="{6B6CE272-F2F3-4936-B001-E499C3B681C4}" type="presOf" srcId="{8FC3E99C-7BCE-40A0-B316-2E0BBFF2573F}" destId="{EC812F4D-EF66-448A-B027-679DD9AEE63D}" srcOrd="0" destOrd="0" presId="urn:microsoft.com/office/officeart/2005/8/layout/chevron1"/>
    <dgm:cxn modelId="{33E33F55-80EC-484E-A613-EF53AA13C72A}" type="presOf" srcId="{66535F52-61D9-45C6-A6A4-51615B77690B}" destId="{6636E125-B383-4A9D-B027-3EFC54D58BB6}" srcOrd="0" destOrd="0" presId="urn:microsoft.com/office/officeart/2005/8/layout/chevron1"/>
    <dgm:cxn modelId="{5A1E9998-D021-48E7-9F22-4B7E9E7C1B1C}" type="presOf" srcId="{78F4C9A7-4E95-49A6-8310-38E561C483BA}" destId="{4BCE8E4B-4C6F-4AB8-BA87-94EBADC2C5D0}" srcOrd="0" destOrd="0" presId="urn:microsoft.com/office/officeart/2005/8/layout/chevron1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"/>
    <dgm:cxn modelId="{C8ED28C5-1DD9-4885-840B-086B2A7EB6BC}" type="presParOf" srcId="{19B0610F-282C-4322-866B-0055FAF46627}" destId="{4B66681B-9D4C-436C-87BB-82E64E68F6C8}" srcOrd="1" destOrd="0" presId="urn:microsoft.com/office/officeart/2005/8/layout/chevron1"/>
    <dgm:cxn modelId="{032CB6FE-5464-43D9-9665-77F40DBF7861}" type="presParOf" srcId="{19B0610F-282C-4322-866B-0055FAF46627}" destId="{6636E125-B383-4A9D-B027-3EFC54D58BB6}" srcOrd="2" destOrd="0" presId="urn:microsoft.com/office/officeart/2005/8/layout/chevron1"/>
    <dgm:cxn modelId="{79F4CB33-4866-48D9-9DC6-0390A47EA9E6}" type="presParOf" srcId="{19B0610F-282C-4322-866B-0055FAF46627}" destId="{B7D1B483-87CF-4091-8E45-AEF05E32D037}" srcOrd="3" destOrd="0" presId="urn:microsoft.com/office/officeart/2005/8/layout/chevron1"/>
    <dgm:cxn modelId="{AF7401B2-4231-4570-8711-83F5617B87E6}" type="presParOf" srcId="{19B0610F-282C-4322-866B-0055FAF46627}" destId="{EC812F4D-EF66-448A-B027-679DD9AEE63D}" srcOrd="4" destOrd="0" presId="urn:microsoft.com/office/officeart/2005/8/layout/chevron1"/>
    <dgm:cxn modelId="{DD643616-A114-43CF-8265-2475291604A2}" type="presParOf" srcId="{19B0610F-282C-4322-866B-0055FAF46627}" destId="{AA5BB0A8-BEB9-4A1C-ADF5-7F8122850824}" srcOrd="5" destOrd="0" presId="urn:microsoft.com/office/officeart/2005/8/layout/chevron1"/>
    <dgm:cxn modelId="{03454C2C-BB9D-46BA-B390-3C3B24C9F4BC}" type="presParOf" srcId="{19B0610F-282C-4322-866B-0055FAF46627}" destId="{4BCE8E4B-4C6F-4AB8-BA87-94EBADC2C5D0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8" minVer="http://schemas.openxmlformats.org/drawingml/2006/diagram"/>
    </a:ext>
  </dgm:extLst>
</dgm:dataModel>
</file>

<file path=ppt/diagrams/v32_s8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8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8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9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9_data1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"/>
    <dgm:cxn modelId="{AC4F6029-1BF4-47CB-8BA5-680A584F2DDF}" type="presOf" srcId="{D5012695-E636-436E-8E3E-60550BC3080E}" destId="{54D1D34D-643C-499A-B330-F91526D1DBE8}" srcOrd="0" destOrd="0" presId="urn:microsoft.com/office/officeart/2005/8/layout/chevron1"/>
    <dgm:cxn modelId="{6B6CE272-F2F3-4936-B001-E499C3B681C4}" type="presOf" srcId="{8FC3E99C-7BCE-40A0-B316-2E0BBFF2573F}" destId="{EC812F4D-EF66-448A-B027-679DD9AEE63D}" srcOrd="0" destOrd="0" presId="urn:microsoft.com/office/officeart/2005/8/layout/chevron1"/>
    <dgm:cxn modelId="{33E33F55-80EC-484E-A613-EF53AA13C72A}" type="presOf" srcId="{66535F52-61D9-45C6-A6A4-51615B77690B}" destId="{6636E125-B383-4A9D-B027-3EFC54D58BB6}" srcOrd="0" destOrd="0" presId="urn:microsoft.com/office/officeart/2005/8/layout/chevron1"/>
    <dgm:cxn modelId="{5A1E9998-D021-48E7-9F22-4B7E9E7C1B1C}" type="presOf" srcId="{78F4C9A7-4E95-49A6-8310-38E561C483BA}" destId="{4BCE8E4B-4C6F-4AB8-BA87-94EBADC2C5D0}" srcOrd="0" destOrd="0" presId="urn:microsoft.com/office/officeart/2005/8/layout/chevron1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"/>
    <dgm:cxn modelId="{C8ED28C5-1DD9-4885-840B-086B2A7EB6BC}" type="presParOf" srcId="{19B0610F-282C-4322-866B-0055FAF46627}" destId="{4B66681B-9D4C-436C-87BB-82E64E68F6C8}" srcOrd="1" destOrd="0" presId="urn:microsoft.com/office/officeart/2005/8/layout/chevron1"/>
    <dgm:cxn modelId="{032CB6FE-5464-43D9-9665-77F40DBF7861}" type="presParOf" srcId="{19B0610F-282C-4322-866B-0055FAF46627}" destId="{6636E125-B383-4A9D-B027-3EFC54D58BB6}" srcOrd="2" destOrd="0" presId="urn:microsoft.com/office/officeart/2005/8/layout/chevron1"/>
    <dgm:cxn modelId="{79F4CB33-4866-48D9-9DC6-0390A47EA9E6}" type="presParOf" srcId="{19B0610F-282C-4322-866B-0055FAF46627}" destId="{B7D1B483-87CF-4091-8E45-AEF05E32D037}" srcOrd="3" destOrd="0" presId="urn:microsoft.com/office/officeart/2005/8/layout/chevron1"/>
    <dgm:cxn modelId="{AF7401B2-4231-4570-8711-83F5617B87E6}" type="presParOf" srcId="{19B0610F-282C-4322-866B-0055FAF46627}" destId="{EC812F4D-EF66-448A-B027-679DD9AEE63D}" srcOrd="4" destOrd="0" presId="urn:microsoft.com/office/officeart/2005/8/layout/chevron1"/>
    <dgm:cxn modelId="{DD643616-A114-43CF-8265-2475291604A2}" type="presParOf" srcId="{19B0610F-282C-4322-866B-0055FAF46627}" destId="{AA5BB0A8-BEB9-4A1C-ADF5-7F8122850824}" srcOrd="5" destOrd="0" presId="urn:microsoft.com/office/officeart/2005/8/layout/chevron1"/>
    <dgm:cxn modelId="{03454C2C-BB9D-46BA-B390-3C3B24C9F4BC}" type="presParOf" srcId="{19B0610F-282C-4322-866B-0055FAF46627}" destId="{4BCE8E4B-4C6F-4AB8-BA87-94EBADC2C5D0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9" minVer="http://schemas.openxmlformats.org/drawingml/2006/diagram"/>
    </a:ext>
  </dgm:extLst>
</dgm:dataModel>
</file>

<file path=ppt/diagrams/v32_s9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9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9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10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10_data1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"/>
    <dgm:cxn modelId="{AC4F6029-1BF4-47CB-8BA5-680A584F2DDF}" type="presOf" srcId="{D5012695-E636-436E-8E3E-60550BC3080E}" destId="{54D1D34D-643C-499A-B330-F91526D1DBE8}" srcOrd="0" destOrd="0" presId="urn:microsoft.com/office/officeart/2005/8/layout/chevron1"/>
    <dgm:cxn modelId="{6B6CE272-F2F3-4936-B001-E499C3B681C4}" type="presOf" srcId="{8FC3E99C-7BCE-40A0-B316-2E0BBFF2573F}" destId="{EC812F4D-EF66-448A-B027-679DD9AEE63D}" srcOrd="0" destOrd="0" presId="urn:microsoft.com/office/officeart/2005/8/layout/chevron1"/>
    <dgm:cxn modelId="{33E33F55-80EC-484E-A613-EF53AA13C72A}" type="presOf" srcId="{66535F52-61D9-45C6-A6A4-51615B77690B}" destId="{6636E125-B383-4A9D-B027-3EFC54D58BB6}" srcOrd="0" destOrd="0" presId="urn:microsoft.com/office/officeart/2005/8/layout/chevron1"/>
    <dgm:cxn modelId="{5A1E9998-D021-48E7-9F22-4B7E9E7C1B1C}" type="presOf" srcId="{78F4C9A7-4E95-49A6-8310-38E561C483BA}" destId="{4BCE8E4B-4C6F-4AB8-BA87-94EBADC2C5D0}" srcOrd="0" destOrd="0" presId="urn:microsoft.com/office/officeart/2005/8/layout/chevron1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"/>
    <dgm:cxn modelId="{C8ED28C5-1DD9-4885-840B-086B2A7EB6BC}" type="presParOf" srcId="{19B0610F-282C-4322-866B-0055FAF46627}" destId="{4B66681B-9D4C-436C-87BB-82E64E68F6C8}" srcOrd="1" destOrd="0" presId="urn:microsoft.com/office/officeart/2005/8/layout/chevron1"/>
    <dgm:cxn modelId="{032CB6FE-5464-43D9-9665-77F40DBF7861}" type="presParOf" srcId="{19B0610F-282C-4322-866B-0055FAF46627}" destId="{6636E125-B383-4A9D-B027-3EFC54D58BB6}" srcOrd="2" destOrd="0" presId="urn:microsoft.com/office/officeart/2005/8/layout/chevron1"/>
    <dgm:cxn modelId="{79F4CB33-4866-48D9-9DC6-0390A47EA9E6}" type="presParOf" srcId="{19B0610F-282C-4322-866B-0055FAF46627}" destId="{B7D1B483-87CF-4091-8E45-AEF05E32D037}" srcOrd="3" destOrd="0" presId="urn:microsoft.com/office/officeart/2005/8/layout/chevron1"/>
    <dgm:cxn modelId="{AF7401B2-4231-4570-8711-83F5617B87E6}" type="presParOf" srcId="{19B0610F-282C-4322-866B-0055FAF46627}" destId="{EC812F4D-EF66-448A-B027-679DD9AEE63D}" srcOrd="4" destOrd="0" presId="urn:microsoft.com/office/officeart/2005/8/layout/chevron1"/>
    <dgm:cxn modelId="{DD643616-A114-43CF-8265-2475291604A2}" type="presParOf" srcId="{19B0610F-282C-4322-866B-0055FAF46627}" destId="{AA5BB0A8-BEB9-4A1C-ADF5-7F8122850824}" srcOrd="5" destOrd="0" presId="urn:microsoft.com/office/officeart/2005/8/layout/chevron1"/>
    <dgm:cxn modelId="{03454C2C-BB9D-46BA-B390-3C3B24C9F4BC}" type="presParOf" srcId="{19B0610F-282C-4322-866B-0055FAF46627}" destId="{4BCE8E4B-4C6F-4AB8-BA87-94EBADC2C5D0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10" minVer="http://schemas.openxmlformats.org/drawingml/2006/diagram"/>
    </a:ext>
  </dgm:extLst>
</dgm:dataModel>
</file>

<file path=ppt/diagrams/v32_s10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10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10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11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11_data1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"/>
    <dgm:cxn modelId="{5F8D4429-3512-4733-9D28-C39DEC6D5A46}" type="presOf" srcId="{09E83A0D-6FEF-41DF-A1A8-06E9FFC85F71}" destId="{E9EC313E-C07D-4024-9AF7-7BAA82F22646}" srcOrd="0" destOrd="0" presId="urn:microsoft.com/office/officeart/2005/8/layout/chevron1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"/>
    <dgm:cxn modelId="{FDC2920E-D462-4099-AAD9-7061DA75790D}" type="presParOf" srcId="{AFDF9144-0890-4741-9012-683715D91BA8}" destId="{E9EC313E-C07D-4024-9AF7-7BAA82F22646}" srcOrd="0" destOrd="0" presId="urn:microsoft.com/office/officeart/2005/8/layout/chevron1"/>
    <dgm:cxn modelId="{BE9CD0F0-86E3-473D-ACC0-0A1CDB83D02D}" type="presParOf" srcId="{AFDF9144-0890-4741-9012-683715D91BA8}" destId="{1254BCE1-0659-4C9C-A343-41153979CEE1}" srcOrd="1" destOrd="0" presId="urn:microsoft.com/office/officeart/2005/8/layout/chevron1"/>
    <dgm:cxn modelId="{23C3C8E6-6442-4A61-9F3C-66FB5F60C029}" type="presParOf" srcId="{AFDF9144-0890-4741-9012-683715D91BA8}" destId="{4F9DEA38-A8FA-418A-B139-308095C75DE5}" srcOrd="2" destOrd="0" presId="urn:microsoft.com/office/officeart/2005/8/layout/chevron1"/>
    <dgm:cxn modelId="{ECF28035-C4C2-4F0A-91A6-54605395BB01}" type="presParOf" srcId="{AFDF9144-0890-4741-9012-683715D91BA8}" destId="{F32AF327-A8A7-42ED-9A3A-FD065AEF35CC}" srcOrd="3" destOrd="0" presId="urn:microsoft.com/office/officeart/2005/8/layout/chevron1"/>
    <dgm:cxn modelId="{1EA5E5A7-6379-4647-82EB-47293F901444}" type="presParOf" srcId="{AFDF9144-0890-4741-9012-683715D91BA8}" destId="{DB2DC495-4888-4FB0-8E56-94B7ED74FA00}" srcOrd="4" destOrd="0" presId="urn:microsoft.com/office/officeart/2005/8/layout/chevron1"/>
    <dgm:cxn modelId="{05C2C0AF-C649-43A1-9660-BD856B630B95}" type="presParOf" srcId="{AFDF9144-0890-4741-9012-683715D91BA8}" destId="{3128D3E7-1249-4292-B711-881F04FEB888}" srcOrd="5" destOrd="0" presId="urn:microsoft.com/office/officeart/2005/8/layout/chevron1"/>
    <dgm:cxn modelId="{39A0DD8E-E4B6-47DF-81A2-0B69F2B95DCA}" type="presParOf" srcId="{AFDF9144-0890-4741-9012-683715D91BA8}" destId="{89AA18CC-6C77-44F3-85A7-38695F314F3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11" minVer="http://schemas.openxmlformats.org/drawingml/2006/diagram"/>
    </a:ext>
  </dgm:extLst>
</dgm:dataModel>
</file>

<file path=ppt/diagrams/v32_s11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11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11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12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12_data1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"/>
    <dgm:cxn modelId="{5F8D4429-3512-4733-9D28-C39DEC6D5A46}" type="presOf" srcId="{09E83A0D-6FEF-41DF-A1A8-06E9FFC85F71}" destId="{E9EC313E-C07D-4024-9AF7-7BAA82F22646}" srcOrd="0" destOrd="0" presId="urn:microsoft.com/office/officeart/2005/8/layout/chevron1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"/>
    <dgm:cxn modelId="{FDC2920E-D462-4099-AAD9-7061DA75790D}" type="presParOf" srcId="{AFDF9144-0890-4741-9012-683715D91BA8}" destId="{E9EC313E-C07D-4024-9AF7-7BAA82F22646}" srcOrd="0" destOrd="0" presId="urn:microsoft.com/office/officeart/2005/8/layout/chevron1"/>
    <dgm:cxn modelId="{BE9CD0F0-86E3-473D-ACC0-0A1CDB83D02D}" type="presParOf" srcId="{AFDF9144-0890-4741-9012-683715D91BA8}" destId="{1254BCE1-0659-4C9C-A343-41153979CEE1}" srcOrd="1" destOrd="0" presId="urn:microsoft.com/office/officeart/2005/8/layout/chevron1"/>
    <dgm:cxn modelId="{23C3C8E6-6442-4A61-9F3C-66FB5F60C029}" type="presParOf" srcId="{AFDF9144-0890-4741-9012-683715D91BA8}" destId="{4F9DEA38-A8FA-418A-B139-308095C75DE5}" srcOrd="2" destOrd="0" presId="urn:microsoft.com/office/officeart/2005/8/layout/chevron1"/>
    <dgm:cxn modelId="{ECF28035-C4C2-4F0A-91A6-54605395BB01}" type="presParOf" srcId="{AFDF9144-0890-4741-9012-683715D91BA8}" destId="{F32AF327-A8A7-42ED-9A3A-FD065AEF35CC}" srcOrd="3" destOrd="0" presId="urn:microsoft.com/office/officeart/2005/8/layout/chevron1"/>
    <dgm:cxn modelId="{1EA5E5A7-6379-4647-82EB-47293F901444}" type="presParOf" srcId="{AFDF9144-0890-4741-9012-683715D91BA8}" destId="{DB2DC495-4888-4FB0-8E56-94B7ED74FA00}" srcOrd="4" destOrd="0" presId="urn:microsoft.com/office/officeart/2005/8/layout/chevron1"/>
    <dgm:cxn modelId="{05C2C0AF-C649-43A1-9660-BD856B630B95}" type="presParOf" srcId="{AFDF9144-0890-4741-9012-683715D91BA8}" destId="{3128D3E7-1249-4292-B711-881F04FEB888}" srcOrd="5" destOrd="0" presId="urn:microsoft.com/office/officeart/2005/8/layout/chevron1"/>
    <dgm:cxn modelId="{39A0DD8E-E4B6-47DF-81A2-0B69F2B95DCA}" type="presParOf" srcId="{AFDF9144-0890-4741-9012-683715D91BA8}" destId="{89AA18CC-6C77-44F3-85A7-38695F314F3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12" minVer="http://schemas.openxmlformats.org/drawingml/2006/diagram"/>
    </a:ext>
  </dgm:extLst>
</dgm:dataModel>
</file>

<file path=ppt/diagrams/v32_s12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12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12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d61ca592654f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c6b92cc67f4cd5" /><Relationship Type="http://schemas.openxmlformats.org/officeDocument/2006/relationships/notesMaster" Target="/ppt/notesMasters/notesMaster1.xml" Id="R1af0e0312bad4a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980d0f17534e15" /><Relationship Type="http://schemas.openxmlformats.org/officeDocument/2006/relationships/notesMaster" Target="/ppt/notesMasters/notesMaster1.xml" Id="R06d78e9051e046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9abe3923ce4bb7" /><Relationship Type="http://schemas.openxmlformats.org/officeDocument/2006/relationships/notesMaster" Target="/ppt/notesMasters/notesMaster1.xml" Id="R43353b4fa3644a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968eab631f4eaf" /><Relationship Type="http://schemas.openxmlformats.org/officeDocument/2006/relationships/notesMaster" Target="/ppt/notesMasters/notesMaster1.xml" Id="Re0b32ea793b94b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4585a0fb594b3a" /><Relationship Type="http://schemas.openxmlformats.org/officeDocument/2006/relationships/notesMaster" Target="/ppt/notesMasters/notesMaster1.xml" Id="Reea3858857d240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7d48c53efc41bd" /><Relationship Type="http://schemas.openxmlformats.org/officeDocument/2006/relationships/notesMaster" Target="/ppt/notesMasters/notesMaster1.xml" Id="Rfdbde08b51ed4a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ca32da3a6d4a3b" /><Relationship Type="http://schemas.openxmlformats.org/officeDocument/2006/relationships/notesMaster" Target="/ppt/notesMasters/notesMaster1.xml" Id="Rf612b5b4fd2742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6026898a644399" /><Relationship Type="http://schemas.openxmlformats.org/officeDocument/2006/relationships/notesMaster" Target="/ppt/notesMasters/notesMaster1.xml" Id="R8becee4b7a9c4a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0af56e17224d03" /><Relationship Type="http://schemas.openxmlformats.org/officeDocument/2006/relationships/notesMaster" Target="/ppt/notesMasters/notesMaster1.xml" Id="R2a1eb0624a564a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5e032845804d0d" /><Relationship Type="http://schemas.openxmlformats.org/officeDocument/2006/relationships/notesMaster" Target="/ppt/notesMasters/notesMaster1.xml" Id="Rd1d45e9cd33141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9799996fc5436b" /><Relationship Type="http://schemas.openxmlformats.org/officeDocument/2006/relationships/notesMaster" Target="/ppt/notesMasters/notesMaster1.xml" Id="Ra177ecbbba7a48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a6b10ff433480f" /><Relationship Type="http://schemas.openxmlformats.org/officeDocument/2006/relationships/notesMaster" Target="/ppt/notesMasters/notesMaster1.xml" Id="Rcbf1eb69de2746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ea73981f214cda" /><Relationship Type="http://schemas.openxmlformats.org/officeDocument/2006/relationships/notesMaster" Target="/ppt/notesMasters/notesMaster1.xml" Id="Rad30ab649dc047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South Africa fuel market outlook. Sources and assumptions are stated on the analytical pages. Cover photograph: Royal Vopak, Terminal Durban.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national sales; SARS 2025 trade; analytical workbook v02. 2025 demand is estimated; 5.8bn L production is a planning assumption. Gross import need includes exports and assumes no stock change.</a:t>
            </a:r>
          </a:p>
          <a:p xmlns:a="http://schemas.openxmlformats.org/drawingml/2006/main"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Stats SA sector activity and freight; Eskom Integrated Report 2025 p141; Sasol and Glencore production disclosures; Galp and Petromoc infrastructure disclosures. Detailed evidence: South Africa story v37 pp7–11.</a:t>
            </a:r>
          </a:p>
          <a:p xmlns:a="http://schemas.openxmlformats.org/drawingml/2006/main"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</a:p>
          <a:p xmlns:a="http://schemas.openxmlformats.org/drawingml/2006/main">
            <a:r>
              <a:t>Demand is estimated at 20.99bn litres in 2025; road uses account for most allocated demand.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Stats SA mining/manufacturing indices and agriculture real GVA; mean 2018–2021 fuel intensity. Sector diesel values after 2021 are estimates.</a:t>
            </a:r>
          </a:p>
          <a:p xmlns:a="http://schemas.openxmlformats.org/drawingml/2006/main">
            <a:r>
              <a:t>Sector activity produces different demand paths; applying one GDP growth rate would hide these differences.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</a:p>
          <a:p xmlns:a="http://schemas.openxmlformats.org/drawingml/2006/main">
            <a:r>
              <a:t>Improved electricity supply reduces peaking and backup fuel use; the private-backup contribution remains estimated.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Stats SA P7162 December 2025 p7; all reported freight. Analytical workbook v02, Evidence.</a:t>
            </a:r>
          </a:p>
          <a:p xmlns:a="http://schemas.openxmlformats.org/drawingml/2006/main">
            <a:r>
              <a:t>Road remains the dominant freight mode; sustained rail recovery could change the diesel required to move goods.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naamsa all-market sales 2025; master workbook Vehicle history S31:S36; evidence retained in market story v27 p11. Analytical workbook v02: efficiency is a planning assumption; avoid double-counting hybrid savings.</a:t>
            </a:r>
          </a:p>
          <a:p xmlns:a="http://schemas.openxmlformats.org/drawingml/2006/main">
            <a:r>
              <a:t>The model’s fuel-efficiency path is a planning assumption; new-vehicle sales alone do not quantify national fuel savings.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Sasol production metrics FY2025 and FY2026; Glencore annual reports 2024 and 2025; 2025 plant assessment. Fiscal and calendar periods and reporting scopes differ. Product yields and reporting scopes require reconciliation to the 5.8bn-litre planning baseline.</a:t>
            </a:r>
          </a:p>
          <a:p xmlns:a="http://schemas.openxmlformats.org/drawingml/2006/main">
            <a:r>
              <a:t>The 5.8bn-litre 2025 petrol/diesel baseline is a planning assumption; these differently scoped plant disclosures do not sum directly to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SARS customs 2022/2025; Galp Matola commissioning, 3 December 2020; Petromoc logistics; existing Durban–Lesedi corridor evidence in market-sizing workbook. Walvis Bay diversion is unquantified; comparable delivered-cost evidence remains open.</a:t>
            </a:r>
          </a:p>
          <a:p xmlns:a="http://schemas.openxmlformats.org/drawingml/2006/main">
            <a:r>
              <a:t>Compare the same product and inland destination across routes; Matola and Walvis Bay affect gateway share, not national demand.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</a:p>
          <a:p xmlns:a="http://schemas.openxmlformats.org/drawingml/2006/main"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</a:p>
          <a:p xmlns:a="http://schemas.openxmlformats.org/drawingml/2006/main"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discussion. Cover photograph: Royal Vopak, Terminal Durban.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33ae85fc7946fe" /><Relationship Type="http://schemas.openxmlformats.org/officeDocument/2006/relationships/image" Target="/ppt/media/image.jpeg" Id="R864035aaa10c49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eaff9f5d94ff2" /><Relationship Type="http://schemas.openxmlformats.org/officeDocument/2006/relationships/image" Target="/ppt/media/image2.jpeg" Id="Rc65086f5c69740f8" /><Relationship Type="http://schemas.openxmlformats.org/officeDocument/2006/relationships/image" Target="/ppt/media/image2.png" Id="Rc0ef0e0ccded41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ead0ad07e4a3b" /><Relationship Type="http://schemas.openxmlformats.org/officeDocument/2006/relationships/image" Target="/ppt/media/image2.jpeg" Id="R09299c9814ad41b9" /><Relationship Type="http://schemas.openxmlformats.org/officeDocument/2006/relationships/image" Target="/ppt/media/image2.png" Id="Rc90b11e525cb48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1d488145e4a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24d5a90ef49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868f34ad34e06" /></Relationships>
</file>

<file path=ppt/slideLayouts/slideLayout1.xml><?xml version="1.0" encoding="utf-8"?>
<p:sldLayout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2" name="Picture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64035aaa10c497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1"/>
            <a:ext cx="1158875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" y="5137149"/>
            <a:ext cx="49339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086f5c69740f8"/>
          <a:srcRect xmlns:a="http://schemas.openxmlformats.org/drawingml/2006/main" l="1233" t="15791" r="178" b="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-12700"/>
            <a:ext cx="11588749" cy="5753329"/>
          </a:xfrm>
          <a:prstGeom xmlns:a="http://schemas.openxmlformats.org/drawingml/2006/main" prst="rect">
            <a:avLst/>
          </a:prstGeom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5661025"/>
            <a:ext cx="11588749" cy="1200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77800" y="5205413"/>
            <a:ext cx="4933950" cy="165258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5727050"/>
            <a:ext cx="6477000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Cover title panel">
            <a:extLst xmlns:a="http://schemas.openxmlformats.org/drawingml/2006/main">
              <a:ext uri="{FF2B5EF4-FFF2-40B4-BE49-F238E27FC236}">
                <a16:creationId xmlns:a16="http://schemas.microsoft.com/office/drawing/2014/main" id="{B6CC79FF-F297-46B4-B0E4-850EE5B8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4690872"/>
            <a:ext cx="4992624" cy="1993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>
              <a:alpha val="6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9" name="Vopak cov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f0e0ccded41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9814" y="5675739"/>
            <a:ext cx="2518046" cy="5645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99c9814ad41b9"/>
          <a:srcRect xmlns:a="http://schemas.openxmlformats.org/drawingml/2006/main" l="1233" t="15791" r="178" b="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-12700"/>
            <a:ext cx="11588749" cy="5753329"/>
          </a:xfrm>
          <a:prstGeom xmlns:a="http://schemas.openxmlformats.org/drawingml/2006/main" prst="rect">
            <a:avLst/>
          </a:prstGeom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5661025"/>
            <a:ext cx="11588749" cy="1200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77800" y="5205413"/>
            <a:ext cx="4933950" cy="165258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>
            <a:extLst xmlns:a="http://schemas.openxmlformats.org/drawingml/2006/main">
              <a:ext uri="{FF2B5EF4-FFF2-40B4-BE49-F238E27FC236}">
                <a16:creationId xmlns:a16="http://schemas.microsoft.com/office/drawing/2014/main" id="{571FD3DD-6D32-43BA-B044-BAFA89A9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4690872"/>
            <a:ext cx="4992624" cy="1993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>
              <a:alpha val="6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8" name="Vopak cov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b11e525cb48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9814" y="5675739"/>
            <a:ext cx="2518046" cy="5645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00" y="0"/>
            <a:ext cx="2509074" cy="10350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153" y="0"/>
            <a:ext cx="4299527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00" y="0"/>
            <a:ext cx="2509074" cy="10350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153" y="0"/>
            <a:ext cx="58235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05599" y="6489700"/>
            <a:ext cx="805350" cy="28733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85216"/>
            <a:ext cx="10561320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 xmlns:a="http://schemas.openxmlformats.org/drawingml/2006/main"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4752"/>
            <a:ext cx="10652760" cy="0"/>
          </a:xfrm>
          <a:prstGeom xmlns:a="http://schemas.openxmlformats.org/drawingml/2006/main" prst="line">
            <a:avLst/>
          </a:prstGeom>
          <a:ln xmlns:a="http://schemas.openxmlformats.org/drawingml/2006/main" w="3175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701e1ddd66543ab" /><Relationship Type="http://schemas.openxmlformats.org/officeDocument/2006/relationships/theme" Target="/ppt/slideMasters/theme/theme2.xml" Id="R88458f758fd14f65" /><Relationship Type="http://schemas.openxmlformats.org/officeDocument/2006/relationships/slideLayout" Target="/ppt/slideLayouts/slideLayout1.xml" Id="R35eb97043bb04143" /><Relationship Type="http://schemas.openxmlformats.org/officeDocument/2006/relationships/slideLayout" Target="/ppt/slideLayouts/slideLayout2.xml" Id="Re3228f7c297547bf" /><Relationship Type="http://schemas.openxmlformats.org/officeDocument/2006/relationships/slideLayout" Target="/ppt/slideLayouts/slideLayout3.xml" Id="R02f3f7307f7b41a2" /><Relationship Type="http://schemas.openxmlformats.org/officeDocument/2006/relationships/slideLayout" Target="/ppt/slideLayouts/slideLayout4.xml" Id="R49e130b057f74316" /><Relationship Type="http://schemas.openxmlformats.org/officeDocument/2006/relationships/slideLayout" Target="/ppt/slideLayouts/slideLayout5.xml" Id="Ree60497d68da43a1" /><Relationship Type="http://schemas.openxmlformats.org/officeDocument/2006/relationships/slideLayout" Target="/ppt/slideLayouts/slideLayout6.xml" Id="R19f851ddc7ee4d4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5C860AC-EA18-440E-B23B-E92B7C49F0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7801" y="368299"/>
            <a:ext cx="11233148" cy="6901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59D33E-9E34-4BB4-9EFE-331A0FF3C8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7801" y="1233488"/>
            <a:ext cx="11233149" cy="52562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22AEE9-FEF7-46B6-98E2-A569C4A8AD3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605599" y="6489700"/>
            <a:ext cx="805350" cy="287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1e1ddd66543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0" y="6515100"/>
            <a:ext cx="952500" cy="212558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85953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0" bIns="0" anchor="ctr">
            <a:normAutofit/>
          </a:bodyPr>
          <a:lstStyle xmlns:a="http://schemas.openxmlformats.org/drawingml/2006/main">
            <a:lvl1pPr marL="0" indent="0" algn="l" defTabSz="869137">
              <a:lnSpc>
                <a:spcPct val="90000"/>
              </a:lnSpc>
              <a:spcBef>
                <a:spcPts val="951"/>
              </a:spcBef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185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86422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20990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5559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90127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24696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59265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383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800">
                <a:solidFill>
                  <a:srgbClr val="404040"/>
                </a:solidFill>
                <a:latin typeface="Lato"/>
                <a:ea typeface="Lato"/>
                <a:cs typeface="Lato"/>
              </a:defRPr>
            </a:pPr>
            <a:endParaRPr/>
          </a:p>
        </p:txBody>
      </p:sp>
      <p:sp>
        <p:nvSpPr>
          <p:cNvPr id="10" name="Fine footer rule">
            <a:extLst xmlns:a="http://schemas.openxmlformats.org/drawingml/2006/main">
              <a:ext uri="{FF2B5EF4-FFF2-40B4-BE49-F238E27FC236}">
                <a16:creationId xmlns:a16="http://schemas.microsoft.com/office/drawing/2014/main" id="{B4062CE9-9215-4788-A6E3-2613DEB9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7376"/>
            <a:ext cx="10652760" cy="0"/>
          </a:xfrm>
          <a:prstGeom xmlns:a="http://schemas.openxmlformats.org/drawingml/2006/main" prst="line">
            <a:avLst/>
          </a:prstGeom>
          <a:ln xmlns:a="http://schemas.openxmlformats.org/drawingml/2006/main" w="3175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eb97043bb04143"/>
    <p:sldLayoutId xmlns:r="http://schemas.openxmlformats.org/officeDocument/2006/relationships" id="2147483650" r:id="Re3228f7c297547bf"/>
    <p:sldLayoutId xmlns:r="http://schemas.openxmlformats.org/officeDocument/2006/relationships" id="2147483651" r:id="R02f3f7307f7b41a2"/>
    <p:sldLayoutId xmlns:r="http://schemas.openxmlformats.org/officeDocument/2006/relationships" id="2147483652" r:id="R49e130b057f74316"/>
    <p:sldLayoutId xmlns:r="http://schemas.openxmlformats.org/officeDocument/2006/relationships" id="2147483653" r:id="Ree60497d68da43a1"/>
    <p:sldLayoutId xmlns:r="http://schemas.openxmlformats.org/officeDocument/2006/relationships" id="2147483654" r:id="R19f851ddc7ee4d4b"/>
  </p:sldLayoutIdLst>
  <p:hf hdr="0" ftr="0" dt="0"/>
  <p:txStyles>
    <p:titleStyle>
      <a:lvl1pPr xmlns:a="http://schemas.openxmlformats.org/drawingml/2006/main" algn="l" defTabSz="869137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17284" indent="-217284" algn="l" defTabSz="869137">
        <a:lnSpc>
          <a:spcPct val="90000"/>
        </a:lnSpc>
        <a:spcBef>
          <a:spcPts val="951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185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6422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20990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5559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90127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24696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9265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9383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456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9137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3706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8274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72843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7412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4198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7654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xmlns:a="http://schemas.openxmlformats.org/drawingml/2006/main" val="F26B43"/>
          </p15:clr>
        </p15:guide>
        <p15:guide id="13" pos="112" userDrawn="1">
          <p15:clr>
            <a:srgbClr xmlns:a="http://schemas.openxmlformats.org/drawingml/2006/main" val="F26B43"/>
          </p15:clr>
        </p15:guide>
        <p15:guide id="14" orient="horz" pos="4269" userDrawn="1">
          <p15:clr>
            <a:srgbClr xmlns:a="http://schemas.openxmlformats.org/drawingml/2006/main" val="F26B43"/>
          </p15:clr>
        </p15:guide>
        <p15:guide id="15" pos="3650" userDrawn="1">
          <p15:clr>
            <a:srgbClr xmlns:a="http://schemas.openxmlformats.org/drawingml/2006/main" val="F26B43"/>
          </p15:clr>
        </p15:guide>
        <p15:guide id="16" pos="7188" userDrawn="1">
          <p15:clr>
            <a:srgbClr xmlns:a="http://schemas.openxmlformats.org/drawingml/2006/main" val="F26B43"/>
          </p15:clr>
        </p15:guide>
        <p15:guide id="17" orient="horz" pos="28" userDrawn="1">
          <p15:clr>
            <a:srgbClr xmlns:a="http://schemas.openxmlformats.org/drawingml/2006/main" val="F26B43"/>
          </p15:clr>
        </p15:guide>
        <p15:guide id="18" orient="horz" pos="686" userDrawn="1">
          <p15:clr>
            <a:srgbClr xmlns:a="http://schemas.openxmlformats.org/drawingml/2006/main" val="F26B43"/>
          </p15:clr>
        </p15:guide>
        <p15:guide id="19" orient="horz" pos="777" userDrawn="1">
          <p15:clr>
            <a:srgbClr xmlns:a="http://schemas.openxmlformats.org/drawingml/2006/main" val="F26B43"/>
          </p15:clr>
        </p15:guide>
        <p15:guide id="20" orient="horz" pos="4088" userDrawn="1">
          <p15:clr>
            <a:srgbClr xmlns:a="http://schemas.openxmlformats.org/drawingml/2006/main" val="F26B43"/>
          </p15:clr>
        </p15:guide>
        <p15:guide id="21" orient="horz" pos="3680" userDrawn="1">
          <p15:clr>
            <a:srgbClr xmlns:a="http://schemas.openxmlformats.org/drawingml/2006/main" val="F26B43"/>
          </p15:clr>
        </p15:guide>
        <p15:guide id="22" orient="horz" pos="3566" userDrawn="1">
          <p15:clr>
            <a:srgbClr xmlns:a="http://schemas.openxmlformats.org/drawingml/2006/main" val="F26B43"/>
          </p15:clr>
        </p15:guide>
        <p15:guide id="23" pos="5805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102f0b800a4af8" /><Relationship Type="http://schemas.openxmlformats.org/officeDocument/2006/relationships/image" Target="/ppt/media/image3.jpeg" Id="R70ca0116d82f425f" /><Relationship Type="http://schemas.openxmlformats.org/officeDocument/2006/relationships/image" Target="/ppt/media/image3.png" Id="Rcfd90875e9a5466b" /><Relationship Type="http://schemas.openxmlformats.org/officeDocument/2006/relationships/notesSlide" Target="/ppt/notesSlides/notesSlide1.xml" Id="Rc7bc06cf1f914af5" 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e411b3390624a2f"/><Relationship Type="http://schemas.openxmlformats.org/officeDocument/2006/relationships/notesSlide" Target="/ppt/notesSlides/notesSlide2.xml" Id="R65e3a9eab233490f"/><Relationship Id="rIdSmartArt3" Type="http://schemas.openxmlformats.org/officeDocument/2006/relationships/diagramData" Target="../diagrams/v32_s2_data1.xml"/><Relationship Id="rIdSmartArt4" Type="http://schemas.openxmlformats.org/officeDocument/2006/relationships/diagramLayout" Target="../diagrams/v32_s2_layout1.xml"/><Relationship Id="rIdSmartArt5" Type="http://schemas.openxmlformats.org/officeDocument/2006/relationships/diagramQuickStyle" Target="../diagrams/v32_s2_quickStyle1.xml"/><Relationship Id="rIdSmartArt6" Type="http://schemas.openxmlformats.org/officeDocument/2006/relationships/diagramColors" Target="../diagrams/v32_s2_colors1.xml"/><Relationship Id="rIdV32Drawing2" Type="http://schemas.microsoft.com/office/2007/relationships/diagramDrawing" Target="../diagrams/v32_s2_drawing1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862cf10549f43b5"/><Relationship Type="http://schemas.openxmlformats.org/officeDocument/2006/relationships/notesSlide" Target="/ppt/notesSlides/notesSlide3.xml" Id="R2e737e2694ad4fad"/><Relationship Id="rIdSmartArt3" Type="http://schemas.openxmlformats.org/officeDocument/2006/relationships/diagramData" Target="../diagrams/v32_s3_data1.xml"/><Relationship Id="rIdSmartArt4" Type="http://schemas.openxmlformats.org/officeDocument/2006/relationships/diagramLayout" Target="../diagrams/v32_s3_layout1.xml"/><Relationship Id="rIdSmartArt5" Type="http://schemas.openxmlformats.org/officeDocument/2006/relationships/diagramQuickStyle" Target="../diagrams/v32_s3_quickStyle1.xml"/><Relationship Id="rIdSmartArt6" Type="http://schemas.openxmlformats.org/officeDocument/2006/relationships/diagramColors" Target="../diagrams/v32_s3_colors1.xml"/><Relationship Id="rIdV32Drawing3" Type="http://schemas.microsoft.com/office/2007/relationships/diagramDrawing" Target="../diagrams/v32_s3_drawing1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cb68e65626f467a"/><Relationship Type="http://schemas.openxmlformats.org/officeDocument/2006/relationships/chart" Target="/ppt/slides/charts/chart1.xml" Id="R4f1cc00a01ed400c"/><Relationship Type="http://schemas.openxmlformats.org/officeDocument/2006/relationships/notesSlide" Target="/ppt/notesSlides/notesSlide4.xml" Id="Rc0ab11cbe14a4848"/><Relationship Id="rIdSmartArt4" Type="http://schemas.openxmlformats.org/officeDocument/2006/relationships/diagramData" Target="../diagrams/v32_s4_data1.xml"/><Relationship Id="rIdSmartArt5" Type="http://schemas.openxmlformats.org/officeDocument/2006/relationships/diagramLayout" Target="../diagrams/v32_s4_layout1.xml"/><Relationship Id="rIdSmartArt6" Type="http://schemas.openxmlformats.org/officeDocument/2006/relationships/diagramQuickStyle" Target="../diagrams/v32_s4_quickStyle1.xml"/><Relationship Id="rIdSmartArt7" Type="http://schemas.openxmlformats.org/officeDocument/2006/relationships/diagramColors" Target="../diagrams/v32_s4_colors1.xml"/><Relationship Id="rIdV32Drawing4" Type="http://schemas.microsoft.com/office/2007/relationships/diagramDrawing" Target="../diagrams/v32_s4_drawing1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46da8860442491a"/><Relationship Type="http://schemas.openxmlformats.org/officeDocument/2006/relationships/chart" Target="/ppt/slides/charts/chart2.xml" Id="R54bae0ddf2b54e1e"/><Relationship Type="http://schemas.openxmlformats.org/officeDocument/2006/relationships/notesSlide" Target="/ppt/notesSlides/notesSlide5.xml" Id="R867fede6711b4fbf"/><Relationship Id="rIdSmartArt4" Type="http://schemas.openxmlformats.org/officeDocument/2006/relationships/diagramData" Target="../diagrams/v32_s5_data1.xml"/><Relationship Id="rIdSmartArt5" Type="http://schemas.openxmlformats.org/officeDocument/2006/relationships/diagramLayout" Target="../diagrams/v32_s5_layout1.xml"/><Relationship Id="rIdSmartArt6" Type="http://schemas.openxmlformats.org/officeDocument/2006/relationships/diagramQuickStyle" Target="../diagrams/v32_s5_quickStyle1.xml"/><Relationship Id="rIdSmartArt7" Type="http://schemas.openxmlformats.org/officeDocument/2006/relationships/diagramColors" Target="../diagrams/v32_s5_colors1.xml"/><Relationship Id="rIdV32Drawing5" Type="http://schemas.microsoft.com/office/2007/relationships/diagramDrawing" Target="../diagrams/v32_s5_drawing1.xml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9f0e4f95171481b"/><Relationship Type="http://schemas.openxmlformats.org/officeDocument/2006/relationships/chart" Target="/ppt/slides/charts/chart3.xml" Id="R63df67568b84471d"/><Relationship Type="http://schemas.openxmlformats.org/officeDocument/2006/relationships/notesSlide" Target="/ppt/notesSlides/notesSlide6.xml" Id="R4c93822a27bd4265"/><Relationship Id="rIdSmartArt4" Type="http://schemas.openxmlformats.org/officeDocument/2006/relationships/diagramData" Target="../diagrams/v32_s6_data1.xml"/><Relationship Id="rIdSmartArt5" Type="http://schemas.openxmlformats.org/officeDocument/2006/relationships/diagramLayout" Target="../diagrams/v32_s6_layout1.xml"/><Relationship Id="rIdSmartArt6" Type="http://schemas.openxmlformats.org/officeDocument/2006/relationships/diagramQuickStyle" Target="../diagrams/v32_s6_quickStyle1.xml"/><Relationship Id="rIdSmartArt7" Type="http://schemas.openxmlformats.org/officeDocument/2006/relationships/diagramColors" Target="../diagrams/v32_s6_colors1.xml"/><Relationship Id="rIdV32Drawing6" Type="http://schemas.microsoft.com/office/2007/relationships/diagramDrawing" Target="../diagrams/v32_s6_drawing1.xml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aeb3d7a1cd242d7"/><Relationship Type="http://schemas.openxmlformats.org/officeDocument/2006/relationships/chart" Target="/ppt/slides/charts/chart4.xml" Id="Rf5c1d757d56a492b"/><Relationship Type="http://schemas.openxmlformats.org/officeDocument/2006/relationships/notesSlide" Target="/ppt/notesSlides/notesSlide7.xml" Id="R16c383f3c20d40fc"/><Relationship Id="rIdSmartArt4" Type="http://schemas.openxmlformats.org/officeDocument/2006/relationships/diagramData" Target="../diagrams/v32_s7_data1.xml"/><Relationship Id="rIdSmartArt5" Type="http://schemas.openxmlformats.org/officeDocument/2006/relationships/diagramLayout" Target="../diagrams/v32_s7_layout1.xml"/><Relationship Id="rIdSmartArt6" Type="http://schemas.openxmlformats.org/officeDocument/2006/relationships/diagramQuickStyle" Target="../diagrams/v32_s7_quickStyle1.xml"/><Relationship Id="rIdSmartArt7" Type="http://schemas.openxmlformats.org/officeDocument/2006/relationships/diagramColors" Target="../diagrams/v32_s7_colors1.xml"/><Relationship Id="rIdV32Drawing7" Type="http://schemas.microsoft.com/office/2007/relationships/diagramDrawing" Target="../diagrams/v32_s7_drawing1.xml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6f4513bf53644be"/><Relationship Type="http://schemas.openxmlformats.org/officeDocument/2006/relationships/chart" Target="/ppt/slides/charts/chart5.xml" Id="R492c429b6274439f"/><Relationship Type="http://schemas.openxmlformats.org/officeDocument/2006/relationships/notesSlide" Target="/ppt/notesSlides/notesSlide8.xml" Id="Rdc0935323c21425a"/><Relationship Id="rIdSmartArt4" Type="http://schemas.openxmlformats.org/officeDocument/2006/relationships/diagramData" Target="../diagrams/v32_s8_data1.xml"/><Relationship Id="rIdSmartArt5" Type="http://schemas.openxmlformats.org/officeDocument/2006/relationships/diagramLayout" Target="../diagrams/v32_s8_layout1.xml"/><Relationship Id="rIdSmartArt6" Type="http://schemas.openxmlformats.org/officeDocument/2006/relationships/diagramQuickStyle" Target="../diagrams/v32_s8_quickStyle1.xml"/><Relationship Id="rIdSmartArt7" Type="http://schemas.openxmlformats.org/officeDocument/2006/relationships/diagramColors" Target="../diagrams/v32_s8_colors1.xml"/><Relationship Id="rIdV32Drawing8" Type="http://schemas.microsoft.com/office/2007/relationships/diagramDrawing" Target="../diagrams/v32_s8_drawing1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b302577956a4758"/><Relationship Type="http://schemas.openxmlformats.org/officeDocument/2006/relationships/notesSlide" Target="/ppt/notesSlides/notesSlide9.xml" Id="R6f860cc2887d4cea"/><Relationship Id="rIdSmartArt3" Type="http://schemas.openxmlformats.org/officeDocument/2006/relationships/diagramData" Target="../diagrams/v32_s9_data1.xml"/><Relationship Id="rIdSmartArt4" Type="http://schemas.openxmlformats.org/officeDocument/2006/relationships/diagramLayout" Target="../diagrams/v32_s9_layout1.xml"/><Relationship Id="rIdSmartArt5" Type="http://schemas.openxmlformats.org/officeDocument/2006/relationships/diagramQuickStyle" Target="../diagrams/v32_s9_quickStyle1.xml"/><Relationship Id="rIdSmartArt6" Type="http://schemas.openxmlformats.org/officeDocument/2006/relationships/diagramColors" Target="../diagrams/v32_s9_colors1.xml"/><Relationship Id="rIdV32Drawing9" Type="http://schemas.microsoft.com/office/2007/relationships/diagramDrawing" Target="../diagrams/v32_s9_drawing1.xml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f981bef53a54532"/><Relationship Type="http://schemas.openxmlformats.org/officeDocument/2006/relationships/notesSlide" Target="/ppt/notesSlides/notesSlide10.xml" Id="Rf4e6d72b8f1444fd"/><Relationship Id="rIdSmartArt3" Type="http://schemas.openxmlformats.org/officeDocument/2006/relationships/diagramData" Target="../diagrams/v32_s10_data1.xml"/><Relationship Id="rIdSmartArt4" Type="http://schemas.openxmlformats.org/officeDocument/2006/relationships/diagramLayout" Target="../diagrams/v32_s10_layout1.xml"/><Relationship Id="rIdSmartArt5" Type="http://schemas.openxmlformats.org/officeDocument/2006/relationships/diagramQuickStyle" Target="../diagrams/v32_s10_quickStyle1.xml"/><Relationship Id="rIdSmartArt6" Type="http://schemas.openxmlformats.org/officeDocument/2006/relationships/diagramColors" Target="../diagrams/v32_s10_colors1.xml"/><Relationship Id="rIdV32Drawing10" Type="http://schemas.microsoft.com/office/2007/relationships/diagramDrawing" Target="../diagrams/v32_s10_drawing1.xml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5020cd3de0d48f9"/><Relationship Type="http://schemas.openxmlformats.org/officeDocument/2006/relationships/notesSlide" Target="/ppt/notesSlides/notesSlide11.xml" Id="Rb3c1cdbb99ef4ccd"/><Relationship Id="rIdSmartArt3" Type="http://schemas.openxmlformats.org/officeDocument/2006/relationships/diagramData" Target="../diagrams/v32_s11_data1.xml"/><Relationship Id="rIdSmartArt4" Type="http://schemas.openxmlformats.org/officeDocument/2006/relationships/diagramLayout" Target="../diagrams/v32_s11_layout1.xml"/><Relationship Id="rIdSmartArt5" Type="http://schemas.openxmlformats.org/officeDocument/2006/relationships/diagramQuickStyle" Target="../diagrams/v32_s11_quickStyle1.xml"/><Relationship Id="rIdSmartArt6" Type="http://schemas.openxmlformats.org/officeDocument/2006/relationships/diagramColors" Target="../diagrams/v32_s11_colors1.xml"/><Relationship Id="rIdV32Drawing11" Type="http://schemas.microsoft.com/office/2007/relationships/diagramDrawing" Target="../diagrams/v32_s11_drawing1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9088fe6521742e8"/><Relationship Type="http://schemas.openxmlformats.org/officeDocument/2006/relationships/notesSlide" Target="/ppt/notesSlides/notesSlide12.xml" Id="Rb2daa741509a488c"/><Relationship Id="rIdSmartArt3" Type="http://schemas.openxmlformats.org/officeDocument/2006/relationships/diagramData" Target="../diagrams/v32_s12_data1.xml"/><Relationship Id="rIdSmartArt4" Type="http://schemas.openxmlformats.org/officeDocument/2006/relationships/diagramLayout" Target="../diagrams/v32_s12_layout1.xml"/><Relationship Id="rIdSmartArt5" Type="http://schemas.openxmlformats.org/officeDocument/2006/relationships/diagramQuickStyle" Target="../diagrams/v32_s12_quickStyle1.xml"/><Relationship Id="rIdSmartArt6" Type="http://schemas.openxmlformats.org/officeDocument/2006/relationships/diagramColors" Target="../diagrams/v32_s12_colors1.xml"/><Relationship Id="rIdV32Drawing12" Type="http://schemas.microsoft.com/office/2007/relationships/diagramDrawing" Target="../diagrams/v32_s12_drawing1.xml"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f2749fab184b17" /><Relationship Type="http://schemas.openxmlformats.org/officeDocument/2006/relationships/image" Target="/ppt/media/image3.jpeg" Id="R042c04e267824e38" /><Relationship Type="http://schemas.openxmlformats.org/officeDocument/2006/relationships/image" Target="/ppt/media/image3.png" Id="Ra3cffc6217cc4e06" /><Relationship Type="http://schemas.openxmlformats.org/officeDocument/2006/relationships/notesSlide" Target="/ppt/notesSlides/notesSlide13.xml" Id="Ra0a8f91ae23e473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Petrol</c:v>
          </c:tx>
          <c:spPr>
            <a:solidFill xmlns:a="http://schemas.openxmlformats.org/drawingml/2006/main">
              <a:srgbClr val="0A2373"/>
            </a:solidFill>
            <a:ln xmlns:a="http://schemas.openxmlformats.org/drawingml/2006/main"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Data'!$B$2:$B$14</c:f>
              <c:numCache>
                <c:formatCode>0.00</c:formatCode>
                <c:ptCount val="13"/>
                <c:pt idx="0">
                  <c:v>11.439925235</c:v>
                </c:pt>
                <c:pt idx="1">
                  <c:v>10.890207679</c:v>
                </c:pt>
                <c:pt idx="2">
                  <c:v>11.475709420318</c:v>
                </c:pt>
                <c:pt idx="3">
                  <c:v>11.462252466686</c:v>
                </c:pt>
                <c:pt idx="4">
                  <c:v>11.17408298037</c:v>
                </c:pt>
                <c:pt idx="5">
                  <c:v>11.141630546702</c:v>
                </c:pt>
                <c:pt idx="6">
                  <c:v>10.773208065062</c:v>
                </c:pt>
                <c:pt idx="7">
                  <c:v>8.761470961496</c:v>
                </c:pt>
                <c:pt idx="8">
                  <c:v>9.301584227683</c:v>
                </c:pt>
                <c:pt idx="9">
                  <c:v>9.184869915573</c:v>
                </c:pt>
                <c:pt idx="10">
                  <c:v>9.036950113492</c:v>
                </c:pt>
                <c:pt idx="11">
                  <c:v>8.94590284109857</c:v>
                </c:pt>
                <c:pt idx="12">
                  <c:v>8.8557728699745</c:v>
                </c:pt>
              </c:numCache>
            </c:numRef>
          </c:val>
          <c:smooth val="0"/>
        </c:ser>
        <c:ser>
          <c:idx val="1"/>
          <c:order val="1"/>
          <c:tx>
            <c:v>Diesel</c:v>
          </c:tx>
          <c:spPr>
            <a:solidFill xmlns:a="http://schemas.openxmlformats.org/drawingml/2006/main">
              <a:srgbClr val="6782B4"/>
            </a:solidFill>
            <a:ln xmlns:a="http://schemas.openxmlformats.org/drawingml/2006/main"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Data'!$D$2:$D$14</c:f>
              <c:numCache>
                <c:formatCode>0.00</c:formatCode>
                <c:ptCount val="13"/>
                <c:pt idx="0">
                  <c:v>12.141281548</c:v>
                </c:pt>
                <c:pt idx="1">
                  <c:v>12.615023359</c:v>
                </c:pt>
                <c:pt idx="2">
                  <c:v>13.52013925195</c:v>
                </c:pt>
                <c:pt idx="3">
                  <c:v>12.082374038422</c:v>
                </c:pt>
                <c:pt idx="4">
                  <c:v>12.147245167189</c:v>
                </c:pt>
                <c:pt idx="5">
                  <c:v>12.538744325998</c:v>
                </c:pt>
                <c:pt idx="6">
                  <c:v>12.908631232217</c:v>
                </c:pt>
                <c:pt idx="7">
                  <c:v>11.689957759296</c:v>
                </c:pt>
                <c:pt idx="8">
                  <c:v>12.945782750435</c:v>
                </c:pt>
                <c:pt idx="9">
                  <c:v>12.717326319019</c:v>
                </c:pt>
                <c:pt idx="10">
                  <c:v>12.907499965808</c:v>
                </c:pt>
                <c:pt idx="11">
                  <c:v>13.1352061654661</c:v>
                </c:pt>
                <c:pt idx="12">
                  <c:v>12.1316153271207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33333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Mining</c:v>
          </c:tx>
          <c:spPr>
            <a:solidFill xmlns:a="http://schemas.openxmlformats.org/drawingml/2006/main">
              <a:srgbClr val="0A2373"/>
            </a:solidFill>
            <a:ln xmlns:a="http://schemas.openxmlformats.org/drawingml/2006/main"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1.39596645708743</c:v>
                </c:pt>
                <c:pt idx="1">
                  <c:v>1.40372043669139</c:v>
                </c:pt>
                <c:pt idx="2">
                  <c:v>1.40634678462176</c:v>
                </c:pt>
              </c:numCache>
            </c:numRef>
          </c:val>
          <c:smooth val="0"/>
        </c:ser>
        <c:ser>
          <c:idx val="1"/>
          <c:order val="1"/>
          <c:tx>
            <c:v>Agriculture</c:v>
          </c:tx>
          <c:spPr>
            <a:solidFill xmlns:a="http://schemas.openxmlformats.org/drawingml/2006/main">
              <a:srgbClr val="6782B4"/>
            </a:solidFill>
            <a:ln xmlns:a="http://schemas.openxmlformats.org/drawingml/2006/main"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1.05527552036594</c:v>
                </c:pt>
                <c:pt idx="1">
                  <c:v>0.963340315350475</c:v>
                </c:pt>
                <c:pt idx="2">
                  <c:v>1.13122469823652</c:v>
                </c:pt>
              </c:numCache>
            </c:numRef>
          </c:val>
          <c:smooth val="0"/>
        </c:ser>
        <c:ser>
          <c:idx val="2"/>
          <c:order val="2"/>
          <c:tx>
            <c:v>Manufacturing</c:v>
          </c:tx>
          <c:spPr>
            <a:solidFill xmlns:a="http://schemas.openxmlformats.org/drawingml/2006/main">
              <a:srgbClr val="868686"/>
            </a:solidFill>
            <a:ln xmlns:a="http://schemas.openxmlformats.org/drawingml/2006/main" w="23813">
              <a:solidFill>
                <a:srgbClr val="868686"/>
              </a:solidFill>
            </a:ln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0.167897867441392</c:v>
                </c:pt>
                <c:pt idx="1">
                  <c:v>0.167211107535443</c:v>
                </c:pt>
                <c:pt idx="2">
                  <c:v>0.165076180001731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33333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Eskom diesel + kerosene, bn litres</c:v>
          </c:tx>
          <c:spPr>
            <a:solidFill xmlns:a="http://schemas.openxmlformats.org/drawingml/2006/main">
              <a:srgbClr val="0A2373"/>
            </a:solidFill>
            <a:ln xmlns:a="http://schemas.openxmlformats.org/drawingml/2006/main" w="23813">
              <a:solidFill>
                <a:srgbClr val="0A2373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0.9375</c:v>
                </c:pt>
                <c:pt idx="1">
                  <c:v>1.1295</c:v>
                </c:pt>
                <c:pt idx="2">
                  <c:v>0.6791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Road, million tonnes</c:v>
          </c:tx>
          <c:spPr>
            <a:solidFill xmlns:a="http://schemas.openxmlformats.org/drawingml/2006/main">
              <a:srgbClr val="0A2373"/>
            </a:solidFill>
            <a:ln xmlns:a="http://schemas.openxmlformats.org/drawingml/2006/main" w="23813">
              <a:solidFill>
                <a:srgbClr val="0A2373"/>
              </a:solidFill>
            </a:ln>
          </c:spPr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979.798</c:v>
                </c:pt>
                <c:pt idx="1">
                  <c:v>976.468</c:v>
                </c:pt>
              </c:numCache>
            </c:numRef>
          </c:val>
        </c:ser>
        <c:ser>
          <c:idx val="1"/>
          <c:order val="1"/>
          <c:tx>
            <c:v>Rail, million tonnes</c:v>
          </c:tx>
          <c:spPr>
            <a:solidFill xmlns:a="http://schemas.openxmlformats.org/drawingml/2006/main">
              <a:srgbClr val="6782B4"/>
            </a:solidFill>
            <a:ln xmlns:a="http://schemas.openxmlformats.org/drawingml/2006/main" w="23813">
              <a:solidFill>
                <a:srgbClr val="6782B4"/>
              </a:solidFill>
            </a:ln>
          </c:spPr>
          <c:cat>
            <c:numRef>
              <c:f>'Chart Data'!$C$2:$C$3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160.745</c:v>
                </c:pt>
                <c:pt idx="1">
                  <c:v>168.263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new sales</c:v>
          </c:tx>
          <c:spPr>
            <a:solidFill xmlns:a="http://schemas.openxmlformats.org/drawingml/2006/main">
              <a:srgbClr val="0A2373"/>
            </a:solidFill>
            <a:ln xmlns:a="http://schemas.openxmlformats.org/drawingml/2006/main" w="23813">
              <a:solidFill>
                <a:srgbClr val="0A2373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BEV</c:v>
                </c:pt>
                <c:pt idx="1">
                  <c:v>Plug-in hybrid</c:v>
                </c:pt>
                <c:pt idx="2">
                  <c:v>Conventional hybrid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1088</c:v>
                </c:pt>
                <c:pt idx="1">
                  <c:v>2810</c:v>
                </c:pt>
                <c:pt idx="2">
                  <c:v>12818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58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a0116d82f425f"/>
          <a:srcRect xmlns:a="http://schemas.openxmlformats.org/drawingml/2006/main" l="21836" t="0" r="218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4375" y="0"/>
            <a:ext cx="5794375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90875e9a546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7200"/>
            <a:ext cx="1965960" cy="438614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68880"/>
            <a:ext cx="4709160" cy="16363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South Africa</a:t>
            </a:r>
            <a:endParaRPr>
              <a:solidFill>
                <a:srgbClr val="FFFFFF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liquid fuels</a:t>
            </a:r>
            <a:endParaRPr>
              <a:solidFill>
                <a:srgbClr val="FFFFFF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market outlook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51960"/>
            <a:ext cx="461772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17720"/>
            <a:ext cx="45720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Demand, supply and routes — implications for Vopak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239512"/>
            <a:ext cx="457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Durban and Lesedi | Market-sizing framework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696712"/>
            <a:ext cx="457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053328"/>
            <a:ext cx="4572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FFFFFF"/>
                </a:solidFill>
              </a:rPr>
              <a:t>Planning estimates and illustrative capture. Customer access and usable capacity remain to be established.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>
            <a:extLst xmlns:a="http://schemas.openxmlformats.org/drawingml/2006/main"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00800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large fuel market relies on substantial imports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2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national sales; SARS 2025 trade; analytical workbook v02. 2025 demand is estimated; 5.8bn L production is a planning assumption. Gross import need includes exports and assumes no stock change.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S metric 0">
            <a:extLst xmlns:a="http://schemas.openxmlformats.org/drawingml/2006/main">
              <a:ext uri="{FF2B5EF4-FFF2-40B4-BE49-F238E27FC236}">
                <a16:creationId xmlns:a16="http://schemas.microsoft.com/office/drawing/2014/main" id="{385448C1-FE78-4C12-98C9-6D268049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21.0bn L</a:t>
            </a:r>
          </a:p>
        </p:txBody>
      </p:sp>
      <p:sp>
        <p:nvSpPr>
          <p:cNvPr id="50" name="S label 0">
            <a:extLst xmlns:a="http://schemas.openxmlformats.org/drawingml/2006/main">
              <a:ext uri="{FF2B5EF4-FFF2-40B4-BE49-F238E27FC236}">
                <a16:creationId xmlns:a16="http://schemas.microsoft.com/office/drawing/2014/main" id="{9C6651FD-6BF7-491B-BA51-4834A8C2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Estimated demand, 2025</a:t>
            </a:r>
          </a:p>
        </p:txBody>
      </p:sp>
      <p:sp>
        <p:nvSpPr>
          <p:cNvPr id="51" name="S detail 0">
            <a:extLst xmlns:a="http://schemas.openxmlformats.org/drawingml/2006/main">
              <a:ext uri="{FF2B5EF4-FFF2-40B4-BE49-F238E27FC236}">
                <a16:creationId xmlns:a16="http://schemas.microsoft.com/office/drawing/2014/main" id="{EB4118C7-F97E-4678-BEAD-14AE07BE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8.9bn petrol and 12.1bn diesel</a:t>
            </a:r>
          </a:p>
        </p:txBody>
      </p:sp>
      <p:sp>
        <p:nvSpPr>
          <p:cNvPr id="52" name="S metric rule 0">
            <a:extLst xmlns:a="http://schemas.openxmlformats.org/drawingml/2006/main">
              <a:ext uri="{FF2B5EF4-FFF2-40B4-BE49-F238E27FC236}">
                <a16:creationId xmlns:a16="http://schemas.microsoft.com/office/drawing/2014/main" id="{1CFA08B3-8079-40AE-8C8A-B83AAC26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3" name="S metric 1">
            <a:extLst xmlns:a="http://schemas.openxmlformats.org/drawingml/2006/main">
              <a:ext uri="{FF2B5EF4-FFF2-40B4-BE49-F238E27FC236}">
                <a16:creationId xmlns:a16="http://schemas.microsoft.com/office/drawing/2014/main" id="{98A97C7C-9C42-4DC2-A26A-8F2719D5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526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5.8bn L</a:t>
            </a:r>
          </a:p>
        </p:txBody>
      </p:sp>
      <p:sp>
        <p:nvSpPr>
          <p:cNvPr id="54" name="S label 1">
            <a:extLst xmlns:a="http://schemas.openxmlformats.org/drawingml/2006/main">
              <a:ext uri="{FF2B5EF4-FFF2-40B4-BE49-F238E27FC236}">
                <a16:creationId xmlns:a16="http://schemas.microsoft.com/office/drawing/2014/main" id="{2E63E327-1663-4F04-8F58-D4129ABE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193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Domestic production assumption</a:t>
            </a:r>
          </a:p>
        </p:txBody>
      </p:sp>
      <p:sp>
        <p:nvSpPr>
          <p:cNvPr id="55" name="S detail 1">
            <a:extLst xmlns:a="http://schemas.openxmlformats.org/drawingml/2006/main">
              <a:ext uri="{FF2B5EF4-FFF2-40B4-BE49-F238E27FC236}">
                <a16:creationId xmlns:a16="http://schemas.microsoft.com/office/drawing/2014/main" id="{85B18B7E-1771-4005-BA84-A335F091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384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National planning baseline</a:t>
            </a:r>
          </a:p>
        </p:txBody>
      </p:sp>
      <p:sp>
        <p:nvSpPr>
          <p:cNvPr id="56" name="S metric rule 1">
            <a:extLst xmlns:a="http://schemas.openxmlformats.org/drawingml/2006/main">
              <a:ext uri="{FF2B5EF4-FFF2-40B4-BE49-F238E27FC236}">
                <a16:creationId xmlns:a16="http://schemas.microsoft.com/office/drawing/2014/main" id="{8B68512C-A8E0-44B5-A1BB-994E6A11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7" name="S metric 2">
            <a:extLst xmlns:a="http://schemas.openxmlformats.org/drawingml/2006/main">
              <a:ext uri="{FF2B5EF4-FFF2-40B4-BE49-F238E27FC236}">
                <a16:creationId xmlns:a16="http://schemas.microsoft.com/office/drawing/2014/main" id="{E33F8DFD-A039-42DB-BF83-59542A4E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526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16.7bn L</a:t>
            </a:r>
          </a:p>
        </p:txBody>
      </p:sp>
      <p:sp>
        <p:nvSpPr>
          <p:cNvPr id="58" name="S label 2">
            <a:extLst xmlns:a="http://schemas.openxmlformats.org/drawingml/2006/main">
              <a:ext uri="{FF2B5EF4-FFF2-40B4-BE49-F238E27FC236}">
                <a16:creationId xmlns:a16="http://schemas.microsoft.com/office/drawing/2014/main" id="{90376FFE-C479-4E74-B7EC-F68F6FB2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193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Gross import requirement</a:t>
            </a:r>
          </a:p>
        </p:txBody>
      </p:sp>
      <p:sp>
        <p:nvSpPr>
          <p:cNvPr id="59" name="S detail 2">
            <a:extLst xmlns:a="http://schemas.openxmlformats.org/drawingml/2006/main">
              <a:ext uri="{FF2B5EF4-FFF2-40B4-BE49-F238E27FC236}">
                <a16:creationId xmlns:a16="http://schemas.microsoft.com/office/drawing/2014/main" id="{578B9F72-9562-440E-B8D4-9E2C7EA9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384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Broadly matches recorded imports</a:t>
            </a:r>
          </a:p>
        </p:txBody>
      </p:sp>
      <p:sp>
        <p:nvSpPr>
          <p:cNvPr id="60" name="S metric rule 2">
            <a:extLst xmlns:a="http://schemas.openxmlformats.org/drawingml/2006/main">
              <a:ext uri="{FF2B5EF4-FFF2-40B4-BE49-F238E27FC236}">
                <a16:creationId xmlns:a16="http://schemas.microsoft.com/office/drawing/2014/main" id="{E3317981-7F4A-4303-8ED7-69ED8C64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29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61" name="S demand heading">
            <a:extLst xmlns:a="http://schemas.openxmlformats.org/drawingml/2006/main">
              <a:ext uri="{FF2B5EF4-FFF2-40B4-BE49-F238E27FC236}">
                <a16:creationId xmlns:a16="http://schemas.microsoft.com/office/drawing/2014/main" id="{F36B889D-2B22-42F0-96E7-FFB2AF54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substantial demand base</a:t>
            </a:r>
          </a:p>
        </p:txBody>
      </p:sp>
      <p:sp>
        <p:nvSpPr>
          <p:cNvPr id="62" name="S demand body">
            <a:extLst xmlns:a="http://schemas.openxmlformats.org/drawingml/2006/main">
              <a:ext uri="{FF2B5EF4-FFF2-40B4-BE49-F238E27FC236}">
                <a16:creationId xmlns:a16="http://schemas.microsoft.com/office/drawing/2014/main" id="{6CA2E0BC-B7F2-4BE6-AEBC-BDF15A38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4905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Road transport is the largest use. Mining, agriculture, manufacturing and power also contribute.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Demand has eased from 21.9bn litres in 2023 to an estimated 21.0bn in 2025.</a:t>
            </a:r>
          </a:p>
        </p:txBody>
      </p:sp>
      <p:sp>
        <p:nvSpPr>
          <p:cNvPr id="63" name="S route heading">
            <a:extLst xmlns:a="http://schemas.openxmlformats.org/drawingml/2006/main">
              <a:ext uri="{FF2B5EF4-FFF2-40B4-BE49-F238E27FC236}">
                <a16:creationId xmlns:a16="http://schemas.microsoft.com/office/drawing/2014/main" id="{57A81112-B252-4444-B97C-08BAB8C8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43325"/>
            <a:ext cx="519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Durban connects imports to inland customers</a:t>
            </a:r>
          </a:p>
        </p:txBody>
      </p:sp>
      <p:sp>
        <p:nvSpPr>
          <p:cNvPr id="64" name="S route body">
            <a:extLst xmlns:a="http://schemas.openxmlformats.org/drawingml/2006/main">
              <a:ext uri="{FF2B5EF4-FFF2-40B4-BE49-F238E27FC236}">
                <a16:creationId xmlns:a16="http://schemas.microsoft.com/office/drawing/2014/main" id="{49798A2E-BA63-4FF6-A9F3-840463B1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Durban customs recorded 13.16bn litres of imports in 2025. The Durban–Lesedi route provides access to inland demand, subject to customer and logistics access.</a:t>
            </a:r>
          </a:p>
        </p:txBody>
      </p:sp>
      <p:sp>
        <p:nvSpPr>
          <p:cNvPr id="65" name="S takeaway">
            <a:extLst xmlns:a="http://schemas.openxmlformats.org/drawingml/2006/main">
              <a:ext uri="{FF2B5EF4-FFF2-40B4-BE49-F238E27FC236}">
                <a16:creationId xmlns:a16="http://schemas.microsoft.com/office/drawing/2014/main" id="{CC3A3E20-9691-4E11-8731-ACA9C0BF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South Africa has an established import market serving a large national fuel requirement.</a:t>
            </a:r>
          </a:p>
        </p:txBody>
      </p:sp>
      <p:graphicFrame xmlns:a="http://schemas.openxmlformats.org/drawingml/2006/main">
        <p:nvGraphicFramePr>
          <p:cNvPr id="5002" name="brand-pptx section navigation">
            <a:extLst>
              <a:ext uri="{FF2B5EF4-FFF2-40B4-BE49-F238E27FC236}">
                <a16:creationId xmlns:a16="http://schemas.microsoft.com/office/drawing/2014/main" id="{1842EBDA-FB36-CC65-2DF5-3F7E4B0CD8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1702407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demand, domestic supply and import routes could reduce flows through Durban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3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Demand baseline: p4. Driver evidence: pp5–10. Stats SA; Eskom Integrated Report 2025 p141; Sasol, Glencore, Galp and Petromoc disclosures; naamsa vehicle sales.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2476500"/>
                <a:gridCol w="63627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Complication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Driver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What changes for fuel demand and Durban flows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  Demand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Sector activity | p5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Mining, manufacturing and agriculture drive equipment and freight demand along different growth paths.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/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Eskom recovery | p6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Reliable electricity reduces peaking and backup diesel at utilities, mines, factories and farms.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/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Road-to-rail | p7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Freight shifted from trucks reduces road diesel use; net savings depend on rail traction.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/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Vehicle efficiency | p8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Lower fuel consumption per kilometre reduces demand at a given level of road activity.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  Domestic supply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Refinery output and restarts | p9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Higher production displaces imports; outages or lower output increase import dependence.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3  Import routes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Ports and inland connections | p10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Matola competes for inland supply. Assess Walvis Bay, pipeline access and delivered cost; Walvis Bay diversion is unquantified.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C takeaway">
            <a:extLst xmlns:a="http://schemas.openxmlformats.org/drawingml/2006/main">
              <a:ext uri="{FF2B5EF4-FFF2-40B4-BE49-F238E27FC236}">
                <a16:creationId xmlns:a16="http://schemas.microsoft.com/office/drawing/2014/main" id="{8EDB4A11-F00B-43B5-90A8-7BAE0B45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64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large national import market does not automatically translate into growth for Vopak.</a:t>
            </a:r>
          </a:p>
        </p:txBody>
      </p:sp>
      <p:graphicFrame xmlns:a="http://schemas.openxmlformats.org/drawingml/2006/main">
        <p:nvGraphicFramePr>
          <p:cNvPr id="5003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estimated 21bn-litre fuel market is dominated by road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4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Evidence chart heading">
            <a:extLst xmlns:a="http://schemas.openxmlformats.org/drawingml/2006/main">
              <a:ext uri="{FF2B5EF4-FFF2-40B4-BE49-F238E27FC236}">
                <a16:creationId xmlns:a16="http://schemas.microsoft.com/office/drawing/2014/main" id="{BA4E8490-1F60-499F-B6BF-5A77A43D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7825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Petrol and diesel demand, 2013–2025</a:t>
            </a:r>
          </a:p>
        </p:txBody>
      </p:sp>
      <p:sp>
        <p:nvSpPr>
          <p:cNvPr id="50" name="Evidence chart rule">
            <a:extLst xmlns:a="http://schemas.openxmlformats.org/drawingml/2006/main">
              <a:ext uri="{FF2B5EF4-FFF2-40B4-BE49-F238E27FC236}">
                <a16:creationId xmlns:a16="http://schemas.microsoft.com/office/drawing/2014/main" id="{8FA2C587-C3BA-4DA8-8C84-08F3A2EB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1" name="Evidence insight rule">
            <a:extLst xmlns:a="http://schemas.openxmlformats.org/drawingml/2006/main">
              <a:ext uri="{FF2B5EF4-FFF2-40B4-BE49-F238E27FC236}">
                <a16:creationId xmlns:a16="http://schemas.microsoft.com/office/drawing/2014/main" id="{166F2904-F186-4E7B-B4C1-3700FED4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2" name="Evidence divider">
            <a:extLst xmlns:a="http://schemas.openxmlformats.org/drawingml/2006/main">
              <a:ext uri="{FF2B5EF4-FFF2-40B4-BE49-F238E27FC236}">
                <a16:creationId xmlns:a16="http://schemas.microsoft.com/office/drawing/2014/main" id="{5BBAE355-ACD1-4A04-AE8D-BCCBF7B1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47825"/>
            <a:ext cx="95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3" name="Evidence unit">
            <a:extLst xmlns:a="http://schemas.openxmlformats.org/drawingml/2006/main">
              <a:ext uri="{FF2B5EF4-FFF2-40B4-BE49-F238E27FC236}">
                <a16:creationId xmlns:a16="http://schemas.microsoft.com/office/drawing/2014/main" id="{CE11BB42-2F58-4DB0-B03D-997F7CBF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mlns:a="http://schemas.openxmlformats.org/drawingml/2006/main" x="457200" y="2324100"/>
          <a:ext xmlns:a="http://schemas.openxmlformats.org/drawingml/2006/main" cx="7334250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1cc00a01ed400c"/>
          </a:graphicData>
        </a:graphic>
      </p:graphicFrame>
      <p:sp>
        <p:nvSpPr>
          <p:cNvPr id="55" name="Evidence insight heading">
            <a:extLst xmlns:a="http://schemas.openxmlformats.org/drawingml/2006/main">
              <a:ext uri="{FF2B5EF4-FFF2-40B4-BE49-F238E27FC236}">
                <a16:creationId xmlns:a16="http://schemas.microsoft.com/office/drawing/2014/main" id="{45AF3DC0-23F7-40A1-AE6D-1A4BDE91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47825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2025 estimated demand</a:t>
            </a:r>
          </a:p>
        </p:txBody>
      </p:sp>
      <p:sp>
        <p:nvSpPr>
          <p:cNvPr id="56" name="Evidence insights">
            <a:extLst xmlns:a="http://schemas.openxmlformats.org/drawingml/2006/main">
              <a:ext uri="{FF2B5EF4-FFF2-40B4-BE49-F238E27FC236}">
                <a16:creationId xmlns:a16="http://schemas.microsoft.com/office/drawing/2014/main" id="{FCE7A989-7F27-4238-BBD6-07720078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0099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Petrol road 8.59 | Freight 4.82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Other road diesel 1.61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 1.41 | Agriculture 1.13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Power 1.08 | Manufacturing 0.17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Other petrol 0.27 | Other diesel 1.91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All values: bn litres. Allocations are estimates; manufacturing is an industry residual.</a:t>
            </a:r>
          </a:p>
        </p:txBody>
      </p:sp>
      <p:sp>
        <p:nvSpPr>
          <p:cNvPr id="57" name="Evidence takeaway">
            <a:extLst xmlns:a="http://schemas.openxmlformats.org/drawingml/2006/main">
              <a:ext uri="{FF2B5EF4-FFF2-40B4-BE49-F238E27FC236}">
                <a16:creationId xmlns:a16="http://schemas.microsoft.com/office/drawing/2014/main" id="{8988A7A0-2695-41BD-B859-B6625661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64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Demand is estimated at 20.99bn litres in 2025; road uses account for most allocated demand.</a:t>
            </a:r>
          </a:p>
        </p:txBody>
      </p:sp>
      <p:graphicFrame xmlns:a="http://schemas.openxmlformats.org/drawingml/2006/main">
        <p:nvGraphicFramePr>
          <p:cNvPr id="5004" name="brand-pptx section navigation">
            <a:extLst>
              <a:ext uri="{FF2B5EF4-FFF2-40B4-BE49-F238E27FC236}">
                <a16:creationId xmlns:a16="http://schemas.microsoft.com/office/drawing/2014/main" id="{1842EBDA-FB36-CC65-2DF5-3F7E4B0CD8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1702407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4" r:lo="rIdSmartArt5" r:qs="rIdSmartArt6" r:cs="rIdSmartArt7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Agricultural fuel demand rebounds while mining and manufacturing remain broadly flat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5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mining/manufacturing indices and agriculture real GVA; mean 2018–2021 fuel intensity. Sector diesel values after 2021 are estimates.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Evidence chart heading">
            <a:extLst xmlns:a="http://schemas.openxmlformats.org/drawingml/2006/main">
              <a:ext uri="{FF2B5EF4-FFF2-40B4-BE49-F238E27FC236}">
                <a16:creationId xmlns:a16="http://schemas.microsoft.com/office/drawing/2014/main" id="{3F750480-4167-42BA-9657-2B5404CE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7825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Estimated sector diesel demand</a:t>
            </a:r>
          </a:p>
        </p:txBody>
      </p:sp>
      <p:sp>
        <p:nvSpPr>
          <p:cNvPr id="50" name="Evidence chart rule">
            <a:extLst xmlns:a="http://schemas.openxmlformats.org/drawingml/2006/main">
              <a:ext uri="{FF2B5EF4-FFF2-40B4-BE49-F238E27FC236}">
                <a16:creationId xmlns:a16="http://schemas.microsoft.com/office/drawing/2014/main" id="{DD6D4CA9-A56B-48BC-91BC-279B4051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1" name="Evidence insight rule">
            <a:extLst xmlns:a="http://schemas.openxmlformats.org/drawingml/2006/main">
              <a:ext uri="{FF2B5EF4-FFF2-40B4-BE49-F238E27FC236}">
                <a16:creationId xmlns:a16="http://schemas.microsoft.com/office/drawing/2014/main" id="{4A4D0377-5276-4DC8-B68B-F55B4652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2" name="Evidence divider">
            <a:extLst xmlns:a="http://schemas.openxmlformats.org/drawingml/2006/main">
              <a:ext uri="{FF2B5EF4-FFF2-40B4-BE49-F238E27FC236}">
                <a16:creationId xmlns:a16="http://schemas.microsoft.com/office/drawing/2014/main" id="{1DF9764A-B445-4A9F-868B-95A69A8D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47825"/>
            <a:ext cx="95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3" name="Evidence unit">
            <a:extLst xmlns:a="http://schemas.openxmlformats.org/drawingml/2006/main">
              <a:ext uri="{FF2B5EF4-FFF2-40B4-BE49-F238E27FC236}">
                <a16:creationId xmlns:a16="http://schemas.microsoft.com/office/drawing/2014/main" id="{B2F54BB6-3DF1-494B-A1D0-ED247468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mlns:a="http://schemas.openxmlformats.org/drawingml/2006/main" x="457200" y="2324100"/>
          <a:ext xmlns:a="http://schemas.openxmlformats.org/drawingml/2006/main" cx="7334250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bae0ddf2b54e1e"/>
          </a:graphicData>
        </a:graphic>
      </p:graphicFrame>
      <p:sp>
        <p:nvSpPr>
          <p:cNvPr id="55" name="Evidence insight heading">
            <a:extLst xmlns:a="http://schemas.openxmlformats.org/drawingml/2006/main">
              <a:ext uri="{FF2B5EF4-FFF2-40B4-BE49-F238E27FC236}">
                <a16:creationId xmlns:a16="http://schemas.microsoft.com/office/drawing/2014/main" id="{D9AF9B99-C3DB-4013-A57F-8793D405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47825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Estimated diesel use</a:t>
            </a:r>
          </a:p>
        </p:txBody>
      </p:sp>
      <p:sp>
        <p:nvSpPr>
          <p:cNvPr id="56" name="Evidence insights">
            <a:extLst xmlns:a="http://schemas.openxmlformats.org/drawingml/2006/main">
              <a:ext uri="{FF2B5EF4-FFF2-40B4-BE49-F238E27FC236}">
                <a16:creationId xmlns:a16="http://schemas.microsoft.com/office/drawing/2014/main" id="{73EB2C9D-54D5-4881-B5D3-76093EDE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0099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Mining: 1.40 → 1.41bn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Agriculture: 1.06 → 1.13bn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Manufacturing: about 0.17bn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 covers the energy-balance industry residual, not a complete industrial census.</a:t>
            </a:r>
          </a:p>
        </p:txBody>
      </p:sp>
      <p:sp>
        <p:nvSpPr>
          <p:cNvPr id="57" name="Evidence takeaway">
            <a:extLst xmlns:a="http://schemas.openxmlformats.org/drawingml/2006/main">
              <a:ext uri="{FF2B5EF4-FFF2-40B4-BE49-F238E27FC236}">
                <a16:creationId xmlns:a16="http://schemas.microsoft.com/office/drawing/2014/main" id="{F3035DD3-9A13-4DB4-82F9-7FE50E57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64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Sector activity produces different demand paths; applying one GDP growth rate would hide these differences.</a:t>
            </a:r>
          </a:p>
        </p:txBody>
      </p:sp>
      <p:graphicFrame xmlns:a="http://schemas.openxmlformats.org/drawingml/2006/main">
        <p:nvGraphicFramePr>
          <p:cNvPr id="5005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4" r:lo="rIdSmartArt5" r:qs="rIdSmartArt6" r:cs="rIdSmartArt7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Eskom’s fuel use fell by 40% in FY2025 as electricity supply improved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6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Evidence chart heading">
            <a:extLst xmlns:a="http://schemas.openxmlformats.org/drawingml/2006/main">
              <a:ext uri="{FF2B5EF4-FFF2-40B4-BE49-F238E27FC236}">
                <a16:creationId xmlns:a16="http://schemas.microsoft.com/office/drawing/2014/main" id="{AF2DD85A-B7D1-4D64-A461-8B1C92B8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7825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Eskom diesel and kerosene use</a:t>
            </a:r>
          </a:p>
        </p:txBody>
      </p:sp>
      <p:sp>
        <p:nvSpPr>
          <p:cNvPr id="50" name="Evidence chart rule">
            <a:extLst xmlns:a="http://schemas.openxmlformats.org/drawingml/2006/main">
              <a:ext uri="{FF2B5EF4-FFF2-40B4-BE49-F238E27FC236}">
                <a16:creationId xmlns:a16="http://schemas.microsoft.com/office/drawing/2014/main" id="{5157AD22-E5AB-462B-BEFA-BBC899D2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1" name="Evidence insight rule">
            <a:extLst xmlns:a="http://schemas.openxmlformats.org/drawingml/2006/main">
              <a:ext uri="{FF2B5EF4-FFF2-40B4-BE49-F238E27FC236}">
                <a16:creationId xmlns:a16="http://schemas.microsoft.com/office/drawing/2014/main" id="{2576EC8E-CB58-4CD8-8FEB-44C019CD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2" name="Evidence divider">
            <a:extLst xmlns:a="http://schemas.openxmlformats.org/drawingml/2006/main">
              <a:ext uri="{FF2B5EF4-FFF2-40B4-BE49-F238E27FC236}">
                <a16:creationId xmlns:a16="http://schemas.microsoft.com/office/drawing/2014/main" id="{53E62462-1940-4FBC-81B1-FE966034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47825"/>
            <a:ext cx="95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3" name="Evidence unit">
            <a:extLst xmlns:a="http://schemas.openxmlformats.org/drawingml/2006/main">
              <a:ext uri="{FF2B5EF4-FFF2-40B4-BE49-F238E27FC236}">
                <a16:creationId xmlns:a16="http://schemas.microsoft.com/office/drawing/2014/main" id="{1D76C1D3-E0D1-4DF8-8BFF-19EE5B12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mlns:a="http://schemas.openxmlformats.org/drawingml/2006/main" x="457200" y="2324100"/>
          <a:ext xmlns:a="http://schemas.openxmlformats.org/drawingml/2006/main" cx="7334250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df67568b84471d"/>
          </a:graphicData>
        </a:graphic>
      </p:graphicFrame>
      <p:sp>
        <p:nvSpPr>
          <p:cNvPr id="55" name="Evidence insight heading">
            <a:extLst xmlns:a="http://schemas.openxmlformats.org/drawingml/2006/main">
              <a:ext uri="{FF2B5EF4-FFF2-40B4-BE49-F238E27FC236}">
                <a16:creationId xmlns:a16="http://schemas.microsoft.com/office/drawing/2014/main" id="{12C07C70-FACD-4038-B9A3-3079ABD4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47825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Power fuel use</a:t>
            </a:r>
          </a:p>
        </p:txBody>
      </p:sp>
      <p:sp>
        <p:nvSpPr>
          <p:cNvPr id="56" name="Evidence insights">
            <a:extLst xmlns:a="http://schemas.openxmlformats.org/drawingml/2006/main">
              <a:ext uri="{FF2B5EF4-FFF2-40B4-BE49-F238E27FC236}">
                <a16:creationId xmlns:a16="http://schemas.microsoft.com/office/drawing/2014/main" id="{4CD8A506-5D30-43C8-9E33-1BCF7AE3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0099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Eskom: 1.130bn L in FY2024 → 0.679bn L in FY2025 (diesel + kerosene).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2025 utility + private power estimate: 1.08bn L, including 0.20bn L assumed private backup.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IPP conversion and fiscal-year proxies are estimates; private use is not measured by Eskom.</a:t>
            </a:r>
          </a:p>
        </p:txBody>
      </p:sp>
      <p:sp>
        <p:nvSpPr>
          <p:cNvPr id="57" name="Evidence takeaway">
            <a:extLst xmlns:a="http://schemas.openxmlformats.org/drawingml/2006/main">
              <a:ext uri="{FF2B5EF4-FFF2-40B4-BE49-F238E27FC236}">
                <a16:creationId xmlns:a16="http://schemas.microsoft.com/office/drawing/2014/main" id="{8D46E9F3-0652-401F-9297-93C9F698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64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Improved electricity supply reduces peaking and backup fuel use; the private-backup contribution remains estimated.</a:t>
            </a:r>
          </a:p>
        </p:txBody>
      </p:sp>
      <p:graphicFrame xmlns:a="http://schemas.openxmlformats.org/drawingml/2006/main">
        <p:nvGraphicFramePr>
          <p:cNvPr id="5006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4" r:lo="rIdSmartArt5" r:qs="rIdSmartArt6" r:cs="rIdSmartArt7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Rail volumes are recovering, creating scope to reduce road diesel use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7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P7162 December 2025 p7; all reported freight. Analytical workbook v02, Evidence.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Evidence chart heading">
            <a:extLst xmlns:a="http://schemas.openxmlformats.org/drawingml/2006/main">
              <a:ext uri="{FF2B5EF4-FFF2-40B4-BE49-F238E27FC236}">
                <a16:creationId xmlns:a16="http://schemas.microsoft.com/office/drawing/2014/main" id="{99EE32A7-277E-4533-9035-9C64446D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7825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Reported road and rail freight</a:t>
            </a:r>
          </a:p>
        </p:txBody>
      </p:sp>
      <p:sp>
        <p:nvSpPr>
          <p:cNvPr id="50" name="Evidence chart rule">
            <a:extLst xmlns:a="http://schemas.openxmlformats.org/drawingml/2006/main">
              <a:ext uri="{FF2B5EF4-FFF2-40B4-BE49-F238E27FC236}">
                <a16:creationId xmlns:a16="http://schemas.microsoft.com/office/drawing/2014/main" id="{A5DB1B3E-7F4B-4AC5-8830-4EB830EE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1" name="Evidence insight rule">
            <a:extLst xmlns:a="http://schemas.openxmlformats.org/drawingml/2006/main">
              <a:ext uri="{FF2B5EF4-FFF2-40B4-BE49-F238E27FC236}">
                <a16:creationId xmlns:a16="http://schemas.microsoft.com/office/drawing/2014/main" id="{2893FA2F-0F29-45B2-8970-5840A49F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2" name="Evidence divider">
            <a:extLst xmlns:a="http://schemas.openxmlformats.org/drawingml/2006/main">
              <a:ext uri="{FF2B5EF4-FFF2-40B4-BE49-F238E27FC236}">
                <a16:creationId xmlns:a16="http://schemas.microsoft.com/office/drawing/2014/main" id="{B04DC137-A7D4-4235-AF7D-4F68B55C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47825"/>
            <a:ext cx="95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3" name="Evidence unit">
            <a:extLst xmlns:a="http://schemas.openxmlformats.org/drawingml/2006/main">
              <a:ext uri="{FF2B5EF4-FFF2-40B4-BE49-F238E27FC236}">
                <a16:creationId xmlns:a16="http://schemas.microsoft.com/office/drawing/2014/main" id="{46D7730D-DAEB-4247-BEB8-65B71E75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Million tonnes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mlns:a="http://schemas.openxmlformats.org/drawingml/2006/main" x="457200" y="2324100"/>
          <a:ext xmlns:a="http://schemas.openxmlformats.org/drawingml/2006/main" cx="7334250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c1d757d56a492b"/>
          </a:graphicData>
        </a:graphic>
      </p:graphicFrame>
      <p:sp>
        <p:nvSpPr>
          <p:cNvPr id="55" name="Evidence insight heading">
            <a:extLst xmlns:a="http://schemas.openxmlformats.org/drawingml/2006/main">
              <a:ext uri="{FF2B5EF4-FFF2-40B4-BE49-F238E27FC236}">
                <a16:creationId xmlns:a16="http://schemas.microsoft.com/office/drawing/2014/main" id="{50A590BF-0B96-451D-BAFD-5BF8CEDC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47825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Recovery and displacement</a:t>
            </a:r>
          </a:p>
        </p:txBody>
      </p:sp>
      <p:sp>
        <p:nvSpPr>
          <p:cNvPr id="56" name="Evidence insights">
            <a:extLst xmlns:a="http://schemas.openxmlformats.org/drawingml/2006/main">
              <a:ext uri="{FF2B5EF4-FFF2-40B4-BE49-F238E27FC236}">
                <a16:creationId xmlns:a16="http://schemas.microsoft.com/office/drawing/2014/main" id="{A99F6146-19FF-452C-8900-2955E23F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0099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Rail: 160.7m tonnes in 2024 to 168.3m in 2025. Road: 979.8m to 976.5m tonnes.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 shift of mining, agricultural and manufactured goods to rail can reduce truck fuel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 growth alone does not prove road displacement; distance, cargo and traction mix matter.</a:t>
            </a:r>
          </a:p>
        </p:txBody>
      </p:sp>
      <p:sp>
        <p:nvSpPr>
          <p:cNvPr id="57" name="Evidence takeaway">
            <a:extLst xmlns:a="http://schemas.openxmlformats.org/drawingml/2006/main">
              <a:ext uri="{FF2B5EF4-FFF2-40B4-BE49-F238E27FC236}">
                <a16:creationId xmlns:a16="http://schemas.microsoft.com/office/drawing/2014/main" id="{C9201D2F-AD35-4F1E-80D5-1C262355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64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Road remains the dominant freight mode; sustained rail recovery could change the diesel required to move goods.</a:t>
            </a:r>
          </a:p>
        </p:txBody>
      </p:sp>
      <p:graphicFrame xmlns:a="http://schemas.openxmlformats.org/drawingml/2006/main">
        <p:nvGraphicFramePr>
          <p:cNvPr id="5007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4" r:lo="rIdSmartArt5" r:qs="rIdSmartArt6" r:cs="rIdSmartArt7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Hybrids dominate electrified new-vehicle sales; fleet fuel savings emerge as vehicles turn over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8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naamsa all-market sales 2025; master workbook Vehicle history S31:S36; evidence retained in market story v27 p11. Analytical workbook v02: efficiency is a planning assumption; avoid double-counting hybrid savings.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Evidence chart heading">
            <a:extLst xmlns:a="http://schemas.openxmlformats.org/drawingml/2006/main">
              <a:ext uri="{FF2B5EF4-FFF2-40B4-BE49-F238E27FC236}">
                <a16:creationId xmlns:a16="http://schemas.microsoft.com/office/drawing/2014/main" id="{974B62E4-146E-4FF9-8E06-1656A4E7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7825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Electrified vehicle sales, 2025</a:t>
            </a:r>
          </a:p>
        </p:txBody>
      </p:sp>
      <p:sp>
        <p:nvSpPr>
          <p:cNvPr id="50" name="Evidence chart rule">
            <a:extLst xmlns:a="http://schemas.openxmlformats.org/drawingml/2006/main">
              <a:ext uri="{FF2B5EF4-FFF2-40B4-BE49-F238E27FC236}">
                <a16:creationId xmlns:a16="http://schemas.microsoft.com/office/drawing/2014/main" id="{BEAD31A7-6FAD-4E02-84CE-7CBE461F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1" name="Evidence insight rule">
            <a:extLst xmlns:a="http://schemas.openxmlformats.org/drawingml/2006/main">
              <a:ext uri="{FF2B5EF4-FFF2-40B4-BE49-F238E27FC236}">
                <a16:creationId xmlns:a16="http://schemas.microsoft.com/office/drawing/2014/main" id="{D014AAC5-7564-4B89-9B72-CFE67695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2" name="Evidence divider">
            <a:extLst xmlns:a="http://schemas.openxmlformats.org/drawingml/2006/main">
              <a:ext uri="{FF2B5EF4-FFF2-40B4-BE49-F238E27FC236}">
                <a16:creationId xmlns:a16="http://schemas.microsoft.com/office/drawing/2014/main" id="{DE2F2137-A6E8-4742-94E1-FD63D2AE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47825"/>
            <a:ext cx="95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3" name="Evidence unit">
            <a:extLst xmlns:a="http://schemas.openxmlformats.org/drawingml/2006/main"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Vehicles sold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mlns:a="http://schemas.openxmlformats.org/drawingml/2006/main" x="457200" y="2324100"/>
          <a:ext xmlns:a="http://schemas.openxmlformats.org/drawingml/2006/main" cx="7334250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2c429b6274439f"/>
          </a:graphicData>
        </a:graphic>
      </p:graphicFrame>
      <p:sp>
        <p:nvSpPr>
          <p:cNvPr id="55" name="Evidence insight heading">
            <a:extLst xmlns:a="http://schemas.openxmlformats.org/drawingml/2006/main">
              <a:ext uri="{FF2B5EF4-FFF2-40B4-BE49-F238E27FC236}">
                <a16:creationId xmlns:a16="http://schemas.microsoft.com/office/drawing/2014/main" id="{A4A27CC4-7D05-4A2A-928A-9127A29A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47825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Different fuel-use effects</a:t>
            </a:r>
          </a:p>
        </p:txBody>
      </p:sp>
      <p:sp>
        <p:nvSpPr>
          <p:cNvPr id="56" name="Evidence insights">
            <a:extLst xmlns:a="http://schemas.openxmlformats.org/drawingml/2006/main"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0099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BEV: 1,088 sales, or 0.18% of all new vehicles.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PHEVs and conventional hybrids still consume fuel; savings depend on usage.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New sales are not fleet penetration. Efficiency and mileage must be modelled separately.</a:t>
            </a:r>
          </a:p>
        </p:txBody>
      </p:sp>
      <p:sp>
        <p:nvSpPr>
          <p:cNvPr id="57" name="Evidence takeaway">
            <a:extLst xmlns:a="http://schemas.openxmlformats.org/drawingml/2006/main"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64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model’s fuel-efficiency path is a planning assumption; new-vehicle sales alone do not quantify national fuel savings.</a:t>
            </a:r>
          </a:p>
        </p:txBody>
      </p:sp>
      <p:graphicFrame xmlns:a="http://schemas.openxmlformats.org/drawingml/2006/main">
        <p:nvGraphicFramePr>
          <p:cNvPr id="5008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4" r:lo="rIdSmartArt5" r:qs="rIdSmartArt6" r:cs="rIdSmartArt7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refinery output alter the volume that imports must supply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9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Sasol production metrics FY2025 and FY2026; Glencore annual reports 2024 and 2025; 2025 plant assessment. Fiscal and calendar periods and reporting scopes differ. Product yields and reporting scopes require reconciliation to the 5.8bn-litre planning baseline.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790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4048125"/>
                <a:gridCol w="4314825"/>
              </a:tblGrid>
              <a:tr h="4000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Domestic supply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Reported evidence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Implication for imports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Secunda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Refined-products output: 29.1m barrels in FY2024; 27.6m in FY2025; 30.6m in FY2026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Operating recovery can increase domestic supply; petrol and diesel yields determine import displacement.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Natref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Sasol-reported output: 17.8m barrels in FY2024; 14.7m in FY2025; 25.8m in FY2026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FY2026 includes above-share production, so the latest reported change cannot be treated as a like-for-like change in whole-plant output.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Astron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Reported refined products: 166,204 billion Btu in 2024; 164,365 billion Btu in 2025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Output and product mix affect supply; energy units require conversion before comparison with customs litres.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SAPREF and PetroSA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No refining contribution included in the 2025 production assessment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Restored refining would displace imports only when plants produce saleable products. Terminal handling is not refinery output.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Evidence takeaway">
            <a:extLst xmlns:a="http://schemas.openxmlformats.org/drawingml/2006/main">
              <a:ext uri="{FF2B5EF4-FFF2-40B4-BE49-F238E27FC236}">
                <a16:creationId xmlns:a16="http://schemas.microsoft.com/office/drawing/2014/main" id="{222DB38A-5E8B-4C52-9852-C354D2C5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64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5.8bn-litre 2025 petrol/diesel baseline is a planning assumption; these differently scoped plant disclosures do not sum directly to it.</a:t>
            </a:r>
          </a:p>
        </p:txBody>
      </p:sp>
      <p:graphicFrame xmlns:a="http://schemas.openxmlformats.org/drawingml/2006/main">
        <p:nvGraphicFramePr>
          <p:cNvPr id="5009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Durban’s inland share depends on competing gateways and reliable onward connections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10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SARS customs 2022/2025; Galp Matola commissioning, 3 December 2020; Petromoc logistics; existing Durban–Lesedi corridor evidence in market-sizing workbook. Walvis Bay diversion is unquantified; comparable delivered-cost evidence remains open.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790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3981450"/>
                <a:gridCol w="4333875"/>
              </a:tblGrid>
              <a:tr h="4000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Supply route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Evidence available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Implication for addressable flows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Durban and other SA ports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Durban customs: 13.16bn L of petrol/diesel imports in 2025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Allocate national imports across gateways before assessing inland customer reach.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Durban–NMPP–Lesedi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Existing coastal-to-inland connection; customer and product access remain to be established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Pipeline, receipt and dispatch constraints determine the flows Vopak can serve.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Matola infrastructure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Galp/IPG: 60,000m³ petrol/diesel storage; Petromoc: 390,000m³ across liquid fuels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Do not add potentially overlapping capacities or equate tankage with annual SA deliveries.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Observed Mozambique route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Komatipoort recorded imports: 0.303bn L in 2022 → 0.086bn L in 2025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Observed cross-border flows provide a firmer volume anchor than storage capacity.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Walvis Bay alternative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Comparable delivered-cost, access and SA flow evidence is not established in this review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Retain as a route to assess; no quantified diversion or customer capture is assigned.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Evidence takeaway">
            <a:extLst xmlns:a="http://schemas.openxmlformats.org/drawingml/2006/main">
              <a:ext uri="{FF2B5EF4-FFF2-40B4-BE49-F238E27FC236}">
                <a16:creationId xmlns:a16="http://schemas.microsoft.com/office/drawing/2014/main" id="{558E6A23-98FB-44A0-A6FC-932B4DA5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64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Compare the same product and inland destination across routes; Matola and Walvis Bay affect gateway share, not national demand.</a:t>
            </a:r>
          </a:p>
        </p:txBody>
      </p:sp>
      <p:graphicFrame xmlns:a="http://schemas.openxmlformats.org/drawingml/2006/main">
        <p:nvGraphicFramePr>
          <p:cNvPr id="5010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How the national fuel market translates into Vopak’s addressable volume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11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4038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00300"/>
                <a:gridCol w="5772150"/>
                <a:gridCol w="2476500"/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Sizing step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the calculation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Market measure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  National demand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Petrol and diesel by end use: road, mining, manufacturing, agriculture and power. Apply activity, rail and efficiency drivers.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21.0bn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Estimated demand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  Import requirement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Demand − domestic production + exports + stock build (or − stock draw).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16.7bn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Gross import need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3  Ports and inland routes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Allocate imports across ports; assess pipeline, road and rail connections. Compare Durban with Matola and potential Walvis Bay routes.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Supply pool by catchment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Route shares to establish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4  Addressable market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Size product and customer flows Durban and Lesedi can each serve, by catchment, logistics access and competing supply. Reconcile shared flows.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Addressable volume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site, product and customer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5  Achievable capture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Establish current Vopak throughput, volumes retained and additional customer volumes it can win. Assess competition and contracts; count shared fuel once.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Current + incremental capture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 and customer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6  Capacity and investment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Compare captured throughput with usable tanks, stock turns, receipt and dispatch capacity; identify the incremental constraint.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Capacity shortfall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investment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M takeaway">
            <a:extLst xmlns:a="http://schemas.openxmlformats.org/drawingml/2006/main">
              <a:ext uri="{FF2B5EF4-FFF2-40B4-BE49-F238E27FC236}">
                <a16:creationId xmlns:a16="http://schemas.microsoft.com/office/drawing/2014/main" id="{494014AF-E149-4482-8FCD-16CEC002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64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Steps 4–5 size Vopak’s opportunity: addressable customer flows, then achievable capture.</a:t>
            </a:r>
          </a:p>
        </p:txBody>
      </p:sp>
      <p:graphicFrame xmlns:a="http://schemas.openxmlformats.org/drawingml/2006/main">
        <p:nvGraphicFramePr>
          <p:cNvPr id="5011" name="brand-pptx section navigation">
            <a:extLst>
              <a:ext uri="{FF2B5EF4-FFF2-40B4-BE49-F238E27FC236}">
                <a16:creationId xmlns:a16="http://schemas.microsoft.com/office/drawing/2014/main" id="{3C81AA2F-B17F-2F36-2EA7-40E65BDD8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65726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Substantial imports sustain the market, while customer capture determines Vopak’s expansion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12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R import number">
            <a:extLst xmlns:a="http://schemas.openxmlformats.org/drawingml/2006/main">
              <a:ext uri="{FF2B5EF4-FFF2-40B4-BE49-F238E27FC236}">
                <a16:creationId xmlns:a16="http://schemas.microsoft.com/office/drawing/2014/main" id="{260BAFE8-15A8-41E9-B151-B19C2116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16.6bn L</a:t>
            </a:r>
          </a:p>
        </p:txBody>
      </p:sp>
      <p:sp>
        <p:nvSpPr>
          <p:cNvPr id="50" name="R import label">
            <a:extLst xmlns:a="http://schemas.openxmlformats.org/drawingml/2006/main">
              <a:ext uri="{FF2B5EF4-FFF2-40B4-BE49-F238E27FC236}">
                <a16:creationId xmlns:a16="http://schemas.microsoft.com/office/drawing/2014/main" id="{C9FFBA8D-480C-4A1F-A8C7-B8EB1088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077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2030 national imports</a:t>
            </a:r>
          </a:p>
        </p:txBody>
      </p:sp>
      <p:sp>
        <p:nvSpPr>
          <p:cNvPr id="51" name="R import explanation">
            <a:extLst xmlns:a="http://schemas.openxmlformats.org/drawingml/2006/main">
              <a:ext uri="{FF2B5EF4-FFF2-40B4-BE49-F238E27FC236}">
                <a16:creationId xmlns:a16="http://schemas.microsoft.com/office/drawing/2014/main" id="{23C30C66-5E1C-44A5-B25D-90D80611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319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Base-case imports across all gateways. Activity growth broadly offsets power, rail and efficiency reductions; domestic production stays at 5.8bn litres.</a:t>
            </a:r>
          </a:p>
        </p:txBody>
      </p:sp>
      <p:sp>
        <p:nvSpPr>
          <p:cNvPr id="52" name="R capture number">
            <a:extLst xmlns:a="http://schemas.openxmlformats.org/drawingml/2006/main">
              <a:ext uri="{FF2B5EF4-FFF2-40B4-BE49-F238E27FC236}">
                <a16:creationId xmlns:a16="http://schemas.microsoft.com/office/drawing/2014/main" id="{73F80A3F-D9B3-4000-A4AB-8E2E01D3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2.63bn L</a:t>
            </a:r>
          </a:p>
        </p:txBody>
      </p:sp>
      <p:sp>
        <p:nvSpPr>
          <p:cNvPr id="53" name="R capture label">
            <a:extLst xmlns:a="http://schemas.openxmlformats.org/drawingml/2006/main">
              <a:ext uri="{FF2B5EF4-FFF2-40B4-BE49-F238E27FC236}">
                <a16:creationId xmlns:a16="http://schemas.microsoft.com/office/drawing/2014/main" id="{EE6602FD-9CFB-455B-B275-89691F62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907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Illustrative Durban capture</a:t>
            </a:r>
          </a:p>
        </p:txBody>
      </p:sp>
      <p:sp>
        <p:nvSpPr>
          <p:cNvPr id="54" name="R capture explanation">
            <a:extLst xmlns:a="http://schemas.openxmlformats.org/drawingml/2006/main">
              <a:ext uri="{FF2B5EF4-FFF2-40B4-BE49-F238E27FC236}">
                <a16:creationId xmlns:a16="http://schemas.microsoft.com/office/drawing/2014/main" id="{554DE4F0-5279-41A6-99D7-8E85850A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86100"/>
            <a:ext cx="323850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Assumes 20% of Durban’s 2025 import pool. Includes 1.32bn litres onward through Lesedi within the same fuel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Illustrative share; no explicit deduction for Matola or Walvis Bay diversion.</a:t>
            </a:r>
          </a:p>
        </p:txBody>
      </p:sp>
      <p:sp>
        <p:nvSpPr>
          <p:cNvPr id="55" name="R investment header">
            <a:extLst xmlns:a="http://schemas.openxmlformats.org/drawingml/2006/main">
              <a:ext uri="{FF2B5EF4-FFF2-40B4-BE49-F238E27FC236}">
                <a16:creationId xmlns:a16="http://schemas.microsoft.com/office/drawing/2014/main" id="{6A925A1A-A629-4397-BA11-F03C2572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38325"/>
            <a:ext cx="31527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Expansion follows</a:t>
            </a:r>
          </a:p>
          <a:p xmlns:a="http://schemas.openxmlformats.org/drawingml/2006/main"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secured incremental flow</a:t>
            </a:r>
          </a:p>
        </p:txBody>
      </p:sp>
      <p:sp>
        <p:nvSpPr>
          <p:cNvPr id="56" name="R investment explanation">
            <a:extLst xmlns:a="http://schemas.openxmlformats.org/drawingml/2006/main">
              <a:ext uri="{FF2B5EF4-FFF2-40B4-BE49-F238E27FC236}">
                <a16:creationId xmlns:a16="http://schemas.microsoft.com/office/drawing/2014/main" id="{8186998E-16B1-4433-9175-288EE1C9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33700"/>
            <a:ext cx="3152775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The illustrative flow fits the preliminary working-tank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Secure additional customer volumes, establish usable capacity, and identify the constraint that investment would solve.</a:t>
            </a:r>
          </a:p>
        </p:txBody>
      </p:sp>
      <p:sp>
        <p:nvSpPr>
          <p:cNvPr id="57" name="R bottom rule">
            <a:extLst xmlns:a="http://schemas.openxmlformats.org/drawingml/2006/main">
              <a:ext uri="{FF2B5EF4-FFF2-40B4-BE49-F238E27FC236}">
                <a16:creationId xmlns:a16="http://schemas.microsoft.com/office/drawing/2014/main" id="{1DD97E1A-8A77-4409-8E52-CAB8F618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8" name="R takeaway">
            <a:extLst xmlns:a="http://schemas.openxmlformats.org/drawingml/2006/main">
              <a:ext uri="{FF2B5EF4-FFF2-40B4-BE49-F238E27FC236}">
                <a16:creationId xmlns:a16="http://schemas.microsoft.com/office/drawing/2014/main" id="{9484190C-CA09-41A4-9196-410D3AB2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4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Invest where secured additional volumes create a demonstrated capacity shortfall.</a:t>
            </a:r>
          </a:p>
        </p:txBody>
      </p:sp>
      <p:graphicFrame xmlns:a="http://schemas.openxmlformats.org/drawingml/2006/main">
        <p:nvGraphicFramePr>
          <p:cNvPr id="5012" name="brand-pptx section navigation">
            <a:extLst>
              <a:ext uri="{FF2B5EF4-FFF2-40B4-BE49-F238E27FC236}">
                <a16:creationId xmlns:a16="http://schemas.microsoft.com/office/drawing/2014/main" id="{3C81AA2F-B17F-2F36-2EA7-40E65BDD8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65726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58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c04e267824e38"/>
          <a:srcRect xmlns:a="http://schemas.openxmlformats.org/drawingml/2006/main" l="21836" t="0" r="218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4375" y="0"/>
            <a:ext cx="5794375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ffc6217cc4e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7200"/>
            <a:ext cx="1965960" cy="438614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68880"/>
            <a:ext cx="4709160" cy="16363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Thank you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51960"/>
            <a:ext cx="461772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17720"/>
            <a:ext cx="45720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South Africa fuel market and Vopak opportunity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239512"/>
            <a:ext cx="457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Discussion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696712"/>
            <a:ext cx="457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053328"/>
            <a:ext cx="4572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FFFFFF"/>
                </a:solidFill>
              </a:rPr>
              <a:t/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>
            <a:extLst xmlns:a="http://schemas.openxmlformats.org/drawingml/2006/main"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00800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2026-10-11T22:01:42.1310000Z</dcterms:created>
  <dcterms:modified xsi:type="dcterms:W3CDTF">2026-10-11T22:01:42.1310000Z</dcterms:modified>
</coreProperties>
</file>