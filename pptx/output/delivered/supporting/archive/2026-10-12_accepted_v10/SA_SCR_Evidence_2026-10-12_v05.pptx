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158875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71-4A9C-9D08-603FEE1AD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#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#1"/>
    <dgm:cxn modelId="{02074744-DBB7-4014-8363-60EC43DBA6CD}" type="presOf" srcId="{76DF3A45-5741-4BF8-90F1-4A7020D88F3E}" destId="{9F404DEC-4EC8-4518-BE85-93B7692E5638}" srcOrd="0" destOrd="0" presId="urn:microsoft.com/office/officeart/2005/8/layout/chevron1#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#1"/>
    <dgm:cxn modelId="{C2106DF6-D6A2-49E4-BAFA-5D750DDEF7C3}" type="presOf" srcId="{EC8A132B-7A37-405A-AE61-D0A4AC9C84D4}" destId="{E56216AE-4B62-49BF-B577-95F970D228C9}" srcOrd="0" destOrd="0" presId="urn:microsoft.com/office/officeart/2005/8/layout/chevron1#1"/>
    <dgm:cxn modelId="{C8ED67F8-207C-47C2-85A0-36C82DA29F5A}" type="presOf" srcId="{87F06D40-41DD-4A2F-9F9C-1ED0B44BA962}" destId="{C17A1487-1862-4A32-B801-89B618873E04}" srcOrd="0" destOrd="0" presId="urn:microsoft.com/office/officeart/2005/8/layout/chevron1#1"/>
    <dgm:cxn modelId="{D0EFF3B6-E4F2-4B6D-A9D3-5680F8F7DDBC}" type="presParOf" srcId="{15F593F2-40E2-4653-8025-677035C3DC9D}" destId="{C4EF7803-CBF7-4F68-B5E2-A27214E782BF}" srcOrd="0" destOrd="0" presId="urn:microsoft.com/office/officeart/2005/8/layout/chevron1#1"/>
    <dgm:cxn modelId="{4DF86A96-FF9B-43FA-B523-DE662ABFEBFD}" type="presParOf" srcId="{15F593F2-40E2-4653-8025-677035C3DC9D}" destId="{7F42B213-6EC2-4A7A-98EE-FD00CE627AC2}" srcOrd="1" destOrd="0" presId="urn:microsoft.com/office/officeart/2005/8/layout/chevron1#1"/>
    <dgm:cxn modelId="{6ECCF7C3-0645-4626-A41E-BEE32AE1FD38}" type="presParOf" srcId="{15F593F2-40E2-4653-8025-677035C3DC9D}" destId="{C17A1487-1862-4A32-B801-89B618873E04}" srcOrd="2" destOrd="0" presId="urn:microsoft.com/office/officeart/2005/8/layout/chevron1#1"/>
    <dgm:cxn modelId="{E5B8DE1C-33F9-4E01-9629-46FA7E111D45}" type="presParOf" srcId="{15F593F2-40E2-4653-8025-677035C3DC9D}" destId="{4C1C00FF-9A18-4423-93D0-E6C21EE159AE}" srcOrd="3" destOrd="0" presId="urn:microsoft.com/office/officeart/2005/8/layout/chevron1#1"/>
    <dgm:cxn modelId="{51034CBE-7419-4500-8460-737D374B25E9}" type="presParOf" srcId="{15F593F2-40E2-4653-8025-677035C3DC9D}" destId="{9F404DEC-4EC8-4518-BE85-93B7692E5638}" srcOrd="4" destOrd="0" presId="urn:microsoft.com/office/officeart/2005/8/layout/chevron1#1"/>
    <dgm:cxn modelId="{5CF547D9-5245-4382-8157-6EC67EB041B9}" type="presParOf" srcId="{15F593F2-40E2-4653-8025-677035C3DC9D}" destId="{4B4707A9-14D8-4951-8914-17DD9D9F43B5}" srcOrd="5" destOrd="0" presId="urn:microsoft.com/office/officeart/2005/8/layout/chevron1#1"/>
    <dgm:cxn modelId="{C4DDF6FA-AEF9-483D-B368-FE146FCD804F}" type="presParOf" srcId="{15F593F2-40E2-4653-8025-677035C3DC9D}" destId="{E56216AE-4B62-49BF-B577-95F970D228C9}" srcOrd="6" destOrd="0" presId="urn:microsoft.com/office/officeart/2005/8/layout/chevron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2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2"/>
    <dgm:cxn modelId="{AC4F6029-1BF4-47CB-8BA5-680A584F2DDF}" type="presOf" srcId="{D5012695-E636-436E-8E3E-60550BC3080E}" destId="{54D1D34D-643C-499A-B330-F91526D1DBE8}" srcOrd="0" destOrd="0" presId="urn:microsoft.com/office/officeart/2005/8/layout/chevron1#2"/>
    <dgm:cxn modelId="{6B6CE272-F2F3-4936-B001-E499C3B681C4}" type="presOf" srcId="{8FC3E99C-7BCE-40A0-B316-2E0BBFF2573F}" destId="{EC812F4D-EF66-448A-B027-679DD9AEE63D}" srcOrd="0" destOrd="0" presId="urn:microsoft.com/office/officeart/2005/8/layout/chevron1#2"/>
    <dgm:cxn modelId="{33E33F55-80EC-484E-A613-EF53AA13C72A}" type="presOf" srcId="{66535F52-61D9-45C6-A6A4-51615B77690B}" destId="{6636E125-B383-4A9D-B027-3EFC54D58BB6}" srcOrd="0" destOrd="0" presId="urn:microsoft.com/office/officeart/2005/8/layout/chevron1#2"/>
    <dgm:cxn modelId="{5A1E9998-D021-48E7-9F22-4B7E9E7C1B1C}" type="presOf" srcId="{78F4C9A7-4E95-49A6-8310-38E561C483BA}" destId="{4BCE8E4B-4C6F-4AB8-BA87-94EBADC2C5D0}" srcOrd="0" destOrd="0" presId="urn:microsoft.com/office/officeart/2005/8/layout/chevron1#2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2"/>
    <dgm:cxn modelId="{C8ED28C5-1DD9-4885-840B-086B2A7EB6BC}" type="presParOf" srcId="{19B0610F-282C-4322-866B-0055FAF46627}" destId="{4B66681B-9D4C-436C-87BB-82E64E68F6C8}" srcOrd="1" destOrd="0" presId="urn:microsoft.com/office/officeart/2005/8/layout/chevron1#2"/>
    <dgm:cxn modelId="{032CB6FE-5464-43D9-9665-77F40DBF7861}" type="presParOf" srcId="{19B0610F-282C-4322-866B-0055FAF46627}" destId="{6636E125-B383-4A9D-B027-3EFC54D58BB6}" srcOrd="2" destOrd="0" presId="urn:microsoft.com/office/officeart/2005/8/layout/chevron1#2"/>
    <dgm:cxn modelId="{79F4CB33-4866-48D9-9DC6-0390A47EA9E6}" type="presParOf" srcId="{19B0610F-282C-4322-866B-0055FAF46627}" destId="{B7D1B483-87CF-4091-8E45-AEF05E32D037}" srcOrd="3" destOrd="0" presId="urn:microsoft.com/office/officeart/2005/8/layout/chevron1#2"/>
    <dgm:cxn modelId="{AF7401B2-4231-4570-8711-83F5617B87E6}" type="presParOf" srcId="{19B0610F-282C-4322-866B-0055FAF46627}" destId="{EC812F4D-EF66-448A-B027-679DD9AEE63D}" srcOrd="4" destOrd="0" presId="urn:microsoft.com/office/officeart/2005/8/layout/chevron1#2"/>
    <dgm:cxn modelId="{DD643616-A114-43CF-8265-2475291604A2}" type="presParOf" srcId="{19B0610F-282C-4322-866B-0055FAF46627}" destId="{AA5BB0A8-BEB9-4A1C-ADF5-7F8122850824}" srcOrd="5" destOrd="0" presId="urn:microsoft.com/office/officeart/2005/8/layout/chevron1#2"/>
    <dgm:cxn modelId="{03454C2C-BB9D-46BA-B390-3C3B24C9F4BC}" type="presParOf" srcId="{19B0610F-282C-4322-866B-0055FAF46627}" destId="{4BCE8E4B-4C6F-4AB8-BA87-94EBADC2C5D0}" srcOrd="6" destOrd="0" presId="urn:microsoft.com/office/officeart/2005/8/layout/chevron1#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#3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#3"/>
    <dgm:cxn modelId="{02074744-DBB7-4014-8363-60EC43DBA6CD}" type="presOf" srcId="{76DF3A45-5741-4BF8-90F1-4A7020D88F3E}" destId="{9F404DEC-4EC8-4518-BE85-93B7692E5638}" srcOrd="0" destOrd="0" presId="urn:microsoft.com/office/officeart/2005/8/layout/chevron1#3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#3"/>
    <dgm:cxn modelId="{C2106DF6-D6A2-49E4-BAFA-5D750DDEF7C3}" type="presOf" srcId="{EC8A132B-7A37-405A-AE61-D0A4AC9C84D4}" destId="{E56216AE-4B62-49BF-B577-95F970D228C9}" srcOrd="0" destOrd="0" presId="urn:microsoft.com/office/officeart/2005/8/layout/chevron1#3"/>
    <dgm:cxn modelId="{C8ED67F8-207C-47C2-85A0-36C82DA29F5A}" type="presOf" srcId="{87F06D40-41DD-4A2F-9F9C-1ED0B44BA962}" destId="{C17A1487-1862-4A32-B801-89B618873E04}" srcOrd="0" destOrd="0" presId="urn:microsoft.com/office/officeart/2005/8/layout/chevron1#3"/>
    <dgm:cxn modelId="{D0EFF3B6-E4F2-4B6D-A9D3-5680F8F7DDBC}" type="presParOf" srcId="{15F593F2-40E2-4653-8025-677035C3DC9D}" destId="{C4EF7803-CBF7-4F68-B5E2-A27214E782BF}" srcOrd="0" destOrd="0" presId="urn:microsoft.com/office/officeart/2005/8/layout/chevron1#3"/>
    <dgm:cxn modelId="{4DF86A96-FF9B-43FA-B523-DE662ABFEBFD}" type="presParOf" srcId="{15F593F2-40E2-4653-8025-677035C3DC9D}" destId="{7F42B213-6EC2-4A7A-98EE-FD00CE627AC2}" srcOrd="1" destOrd="0" presId="urn:microsoft.com/office/officeart/2005/8/layout/chevron1#3"/>
    <dgm:cxn modelId="{6ECCF7C3-0645-4626-A41E-BEE32AE1FD38}" type="presParOf" srcId="{15F593F2-40E2-4653-8025-677035C3DC9D}" destId="{C17A1487-1862-4A32-B801-89B618873E04}" srcOrd="2" destOrd="0" presId="urn:microsoft.com/office/officeart/2005/8/layout/chevron1#3"/>
    <dgm:cxn modelId="{E5B8DE1C-33F9-4E01-9629-46FA7E111D45}" type="presParOf" srcId="{15F593F2-40E2-4653-8025-677035C3DC9D}" destId="{4C1C00FF-9A18-4423-93D0-E6C21EE159AE}" srcOrd="3" destOrd="0" presId="urn:microsoft.com/office/officeart/2005/8/layout/chevron1#3"/>
    <dgm:cxn modelId="{51034CBE-7419-4500-8460-737D374B25E9}" type="presParOf" srcId="{15F593F2-40E2-4653-8025-677035C3DC9D}" destId="{9F404DEC-4EC8-4518-BE85-93B7692E5638}" srcOrd="4" destOrd="0" presId="urn:microsoft.com/office/officeart/2005/8/layout/chevron1#3"/>
    <dgm:cxn modelId="{5CF547D9-5245-4382-8157-6EC67EB041B9}" type="presParOf" srcId="{15F593F2-40E2-4653-8025-677035C3DC9D}" destId="{4B4707A9-14D8-4951-8914-17DD9D9F43B5}" srcOrd="5" destOrd="0" presId="urn:microsoft.com/office/officeart/2005/8/layout/chevron1#3"/>
    <dgm:cxn modelId="{C4DDF6FA-AEF9-483D-B368-FE146FCD804F}" type="presParOf" srcId="{15F593F2-40E2-4653-8025-677035C3DC9D}" destId="{E56216AE-4B62-49BF-B577-95F970D228C9}" srcOrd="6" destOrd="0" presId="urn:microsoft.com/office/officeart/2005/8/layout/chevron1#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4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4"/>
    <dgm:cxn modelId="{AC4F6029-1BF4-47CB-8BA5-680A584F2DDF}" type="presOf" srcId="{D5012695-E636-436E-8E3E-60550BC3080E}" destId="{54D1D34D-643C-499A-B330-F91526D1DBE8}" srcOrd="0" destOrd="0" presId="urn:microsoft.com/office/officeart/2005/8/layout/chevron1#4"/>
    <dgm:cxn modelId="{6B6CE272-F2F3-4936-B001-E499C3B681C4}" type="presOf" srcId="{8FC3E99C-7BCE-40A0-B316-2E0BBFF2573F}" destId="{EC812F4D-EF66-448A-B027-679DD9AEE63D}" srcOrd="0" destOrd="0" presId="urn:microsoft.com/office/officeart/2005/8/layout/chevron1#4"/>
    <dgm:cxn modelId="{33E33F55-80EC-484E-A613-EF53AA13C72A}" type="presOf" srcId="{66535F52-61D9-45C6-A6A4-51615B77690B}" destId="{6636E125-B383-4A9D-B027-3EFC54D58BB6}" srcOrd="0" destOrd="0" presId="urn:microsoft.com/office/officeart/2005/8/layout/chevron1#4"/>
    <dgm:cxn modelId="{5A1E9998-D021-48E7-9F22-4B7E9E7C1B1C}" type="presOf" srcId="{78F4C9A7-4E95-49A6-8310-38E561C483BA}" destId="{4BCE8E4B-4C6F-4AB8-BA87-94EBADC2C5D0}" srcOrd="0" destOrd="0" presId="urn:microsoft.com/office/officeart/2005/8/layout/chevron1#4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4"/>
    <dgm:cxn modelId="{C8ED28C5-1DD9-4885-840B-086B2A7EB6BC}" type="presParOf" srcId="{19B0610F-282C-4322-866B-0055FAF46627}" destId="{4B66681B-9D4C-436C-87BB-82E64E68F6C8}" srcOrd="1" destOrd="0" presId="urn:microsoft.com/office/officeart/2005/8/layout/chevron1#4"/>
    <dgm:cxn modelId="{032CB6FE-5464-43D9-9665-77F40DBF7861}" type="presParOf" srcId="{19B0610F-282C-4322-866B-0055FAF46627}" destId="{6636E125-B383-4A9D-B027-3EFC54D58BB6}" srcOrd="2" destOrd="0" presId="urn:microsoft.com/office/officeart/2005/8/layout/chevron1#4"/>
    <dgm:cxn modelId="{79F4CB33-4866-48D9-9DC6-0390A47EA9E6}" type="presParOf" srcId="{19B0610F-282C-4322-866B-0055FAF46627}" destId="{B7D1B483-87CF-4091-8E45-AEF05E32D037}" srcOrd="3" destOrd="0" presId="urn:microsoft.com/office/officeart/2005/8/layout/chevron1#4"/>
    <dgm:cxn modelId="{AF7401B2-4231-4570-8711-83F5617B87E6}" type="presParOf" srcId="{19B0610F-282C-4322-866B-0055FAF46627}" destId="{EC812F4D-EF66-448A-B027-679DD9AEE63D}" srcOrd="4" destOrd="0" presId="urn:microsoft.com/office/officeart/2005/8/layout/chevron1#4"/>
    <dgm:cxn modelId="{DD643616-A114-43CF-8265-2475291604A2}" type="presParOf" srcId="{19B0610F-282C-4322-866B-0055FAF46627}" destId="{AA5BB0A8-BEB9-4A1C-ADF5-7F8122850824}" srcOrd="5" destOrd="0" presId="urn:microsoft.com/office/officeart/2005/8/layout/chevron1#4"/>
    <dgm:cxn modelId="{03454C2C-BB9D-46BA-B390-3C3B24C9F4BC}" type="presParOf" srcId="{19B0610F-282C-4322-866B-0055FAF46627}" destId="{4BCE8E4B-4C6F-4AB8-BA87-94EBADC2C5D0}" srcOrd="6" destOrd="0" presId="urn:microsoft.com/office/officeart/2005/8/layout/chevron1#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5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5"/>
    <dgm:cxn modelId="{AC4F6029-1BF4-47CB-8BA5-680A584F2DDF}" type="presOf" srcId="{D5012695-E636-436E-8E3E-60550BC3080E}" destId="{54D1D34D-643C-499A-B330-F91526D1DBE8}" srcOrd="0" destOrd="0" presId="urn:microsoft.com/office/officeart/2005/8/layout/chevron1#5"/>
    <dgm:cxn modelId="{6B6CE272-F2F3-4936-B001-E499C3B681C4}" type="presOf" srcId="{8FC3E99C-7BCE-40A0-B316-2E0BBFF2573F}" destId="{EC812F4D-EF66-448A-B027-679DD9AEE63D}" srcOrd="0" destOrd="0" presId="urn:microsoft.com/office/officeart/2005/8/layout/chevron1#5"/>
    <dgm:cxn modelId="{33E33F55-80EC-484E-A613-EF53AA13C72A}" type="presOf" srcId="{66535F52-61D9-45C6-A6A4-51615B77690B}" destId="{6636E125-B383-4A9D-B027-3EFC54D58BB6}" srcOrd="0" destOrd="0" presId="urn:microsoft.com/office/officeart/2005/8/layout/chevron1#5"/>
    <dgm:cxn modelId="{5A1E9998-D021-48E7-9F22-4B7E9E7C1B1C}" type="presOf" srcId="{78F4C9A7-4E95-49A6-8310-38E561C483BA}" destId="{4BCE8E4B-4C6F-4AB8-BA87-94EBADC2C5D0}" srcOrd="0" destOrd="0" presId="urn:microsoft.com/office/officeart/2005/8/layout/chevron1#5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5"/>
    <dgm:cxn modelId="{C8ED28C5-1DD9-4885-840B-086B2A7EB6BC}" type="presParOf" srcId="{19B0610F-282C-4322-866B-0055FAF46627}" destId="{4B66681B-9D4C-436C-87BB-82E64E68F6C8}" srcOrd="1" destOrd="0" presId="urn:microsoft.com/office/officeart/2005/8/layout/chevron1#5"/>
    <dgm:cxn modelId="{032CB6FE-5464-43D9-9665-77F40DBF7861}" type="presParOf" srcId="{19B0610F-282C-4322-866B-0055FAF46627}" destId="{6636E125-B383-4A9D-B027-3EFC54D58BB6}" srcOrd="2" destOrd="0" presId="urn:microsoft.com/office/officeart/2005/8/layout/chevron1#5"/>
    <dgm:cxn modelId="{79F4CB33-4866-48D9-9DC6-0390A47EA9E6}" type="presParOf" srcId="{19B0610F-282C-4322-866B-0055FAF46627}" destId="{B7D1B483-87CF-4091-8E45-AEF05E32D037}" srcOrd="3" destOrd="0" presId="urn:microsoft.com/office/officeart/2005/8/layout/chevron1#5"/>
    <dgm:cxn modelId="{AF7401B2-4231-4570-8711-83F5617B87E6}" type="presParOf" srcId="{19B0610F-282C-4322-866B-0055FAF46627}" destId="{EC812F4D-EF66-448A-B027-679DD9AEE63D}" srcOrd="4" destOrd="0" presId="urn:microsoft.com/office/officeart/2005/8/layout/chevron1#5"/>
    <dgm:cxn modelId="{DD643616-A114-43CF-8265-2475291604A2}" type="presParOf" srcId="{19B0610F-282C-4322-866B-0055FAF46627}" destId="{AA5BB0A8-BEB9-4A1C-ADF5-7F8122850824}" srcOrd="5" destOrd="0" presId="urn:microsoft.com/office/officeart/2005/8/layout/chevron1#5"/>
    <dgm:cxn modelId="{03454C2C-BB9D-46BA-B390-3C3B24C9F4BC}" type="presParOf" srcId="{19B0610F-282C-4322-866B-0055FAF46627}" destId="{4BCE8E4B-4C6F-4AB8-BA87-94EBADC2C5D0}" srcOrd="6" destOrd="0" presId="urn:microsoft.com/office/officeart/2005/8/layout/chevron1#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6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6"/>
    <dgm:cxn modelId="{AC4F6029-1BF4-47CB-8BA5-680A584F2DDF}" type="presOf" srcId="{D5012695-E636-436E-8E3E-60550BC3080E}" destId="{54D1D34D-643C-499A-B330-F91526D1DBE8}" srcOrd="0" destOrd="0" presId="urn:microsoft.com/office/officeart/2005/8/layout/chevron1#6"/>
    <dgm:cxn modelId="{6B6CE272-F2F3-4936-B001-E499C3B681C4}" type="presOf" srcId="{8FC3E99C-7BCE-40A0-B316-2E0BBFF2573F}" destId="{EC812F4D-EF66-448A-B027-679DD9AEE63D}" srcOrd="0" destOrd="0" presId="urn:microsoft.com/office/officeart/2005/8/layout/chevron1#6"/>
    <dgm:cxn modelId="{33E33F55-80EC-484E-A613-EF53AA13C72A}" type="presOf" srcId="{66535F52-61D9-45C6-A6A4-51615B77690B}" destId="{6636E125-B383-4A9D-B027-3EFC54D58BB6}" srcOrd="0" destOrd="0" presId="urn:microsoft.com/office/officeart/2005/8/layout/chevron1#6"/>
    <dgm:cxn modelId="{5A1E9998-D021-48E7-9F22-4B7E9E7C1B1C}" type="presOf" srcId="{78F4C9A7-4E95-49A6-8310-38E561C483BA}" destId="{4BCE8E4B-4C6F-4AB8-BA87-94EBADC2C5D0}" srcOrd="0" destOrd="0" presId="urn:microsoft.com/office/officeart/2005/8/layout/chevron1#6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6"/>
    <dgm:cxn modelId="{C8ED28C5-1DD9-4885-840B-086B2A7EB6BC}" type="presParOf" srcId="{19B0610F-282C-4322-866B-0055FAF46627}" destId="{4B66681B-9D4C-436C-87BB-82E64E68F6C8}" srcOrd="1" destOrd="0" presId="urn:microsoft.com/office/officeart/2005/8/layout/chevron1#6"/>
    <dgm:cxn modelId="{032CB6FE-5464-43D9-9665-77F40DBF7861}" type="presParOf" srcId="{19B0610F-282C-4322-866B-0055FAF46627}" destId="{6636E125-B383-4A9D-B027-3EFC54D58BB6}" srcOrd="2" destOrd="0" presId="urn:microsoft.com/office/officeart/2005/8/layout/chevron1#6"/>
    <dgm:cxn modelId="{79F4CB33-4866-48D9-9DC6-0390A47EA9E6}" type="presParOf" srcId="{19B0610F-282C-4322-866B-0055FAF46627}" destId="{B7D1B483-87CF-4091-8E45-AEF05E32D037}" srcOrd="3" destOrd="0" presId="urn:microsoft.com/office/officeart/2005/8/layout/chevron1#6"/>
    <dgm:cxn modelId="{AF7401B2-4231-4570-8711-83F5617B87E6}" type="presParOf" srcId="{19B0610F-282C-4322-866B-0055FAF46627}" destId="{EC812F4D-EF66-448A-B027-679DD9AEE63D}" srcOrd="4" destOrd="0" presId="urn:microsoft.com/office/officeart/2005/8/layout/chevron1#6"/>
    <dgm:cxn modelId="{DD643616-A114-43CF-8265-2475291604A2}" type="presParOf" srcId="{19B0610F-282C-4322-866B-0055FAF46627}" destId="{AA5BB0A8-BEB9-4A1C-ADF5-7F8122850824}" srcOrd="5" destOrd="0" presId="urn:microsoft.com/office/officeart/2005/8/layout/chevron1#6"/>
    <dgm:cxn modelId="{03454C2C-BB9D-46BA-B390-3C3B24C9F4BC}" type="presParOf" srcId="{19B0610F-282C-4322-866B-0055FAF46627}" destId="{4BCE8E4B-4C6F-4AB8-BA87-94EBADC2C5D0}" srcOrd="6" destOrd="0" presId="urn:microsoft.com/office/officeart/2005/8/layout/chevron1#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7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7"/>
    <dgm:cxn modelId="{AC4F6029-1BF4-47CB-8BA5-680A584F2DDF}" type="presOf" srcId="{D5012695-E636-436E-8E3E-60550BC3080E}" destId="{54D1D34D-643C-499A-B330-F91526D1DBE8}" srcOrd="0" destOrd="0" presId="urn:microsoft.com/office/officeart/2005/8/layout/chevron1#7"/>
    <dgm:cxn modelId="{6B6CE272-F2F3-4936-B001-E499C3B681C4}" type="presOf" srcId="{8FC3E99C-7BCE-40A0-B316-2E0BBFF2573F}" destId="{EC812F4D-EF66-448A-B027-679DD9AEE63D}" srcOrd="0" destOrd="0" presId="urn:microsoft.com/office/officeart/2005/8/layout/chevron1#7"/>
    <dgm:cxn modelId="{33E33F55-80EC-484E-A613-EF53AA13C72A}" type="presOf" srcId="{66535F52-61D9-45C6-A6A4-51615B77690B}" destId="{6636E125-B383-4A9D-B027-3EFC54D58BB6}" srcOrd="0" destOrd="0" presId="urn:microsoft.com/office/officeart/2005/8/layout/chevron1#7"/>
    <dgm:cxn modelId="{5A1E9998-D021-48E7-9F22-4B7E9E7C1B1C}" type="presOf" srcId="{78F4C9A7-4E95-49A6-8310-38E561C483BA}" destId="{4BCE8E4B-4C6F-4AB8-BA87-94EBADC2C5D0}" srcOrd="0" destOrd="0" presId="urn:microsoft.com/office/officeart/2005/8/layout/chevron1#7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7"/>
    <dgm:cxn modelId="{C8ED28C5-1DD9-4885-840B-086B2A7EB6BC}" type="presParOf" srcId="{19B0610F-282C-4322-866B-0055FAF46627}" destId="{4B66681B-9D4C-436C-87BB-82E64E68F6C8}" srcOrd="1" destOrd="0" presId="urn:microsoft.com/office/officeart/2005/8/layout/chevron1#7"/>
    <dgm:cxn modelId="{032CB6FE-5464-43D9-9665-77F40DBF7861}" type="presParOf" srcId="{19B0610F-282C-4322-866B-0055FAF46627}" destId="{6636E125-B383-4A9D-B027-3EFC54D58BB6}" srcOrd="2" destOrd="0" presId="urn:microsoft.com/office/officeart/2005/8/layout/chevron1#7"/>
    <dgm:cxn modelId="{79F4CB33-4866-48D9-9DC6-0390A47EA9E6}" type="presParOf" srcId="{19B0610F-282C-4322-866B-0055FAF46627}" destId="{B7D1B483-87CF-4091-8E45-AEF05E32D037}" srcOrd="3" destOrd="0" presId="urn:microsoft.com/office/officeart/2005/8/layout/chevron1#7"/>
    <dgm:cxn modelId="{AF7401B2-4231-4570-8711-83F5617B87E6}" type="presParOf" srcId="{19B0610F-282C-4322-866B-0055FAF46627}" destId="{EC812F4D-EF66-448A-B027-679DD9AEE63D}" srcOrd="4" destOrd="0" presId="urn:microsoft.com/office/officeart/2005/8/layout/chevron1#7"/>
    <dgm:cxn modelId="{DD643616-A114-43CF-8265-2475291604A2}" type="presParOf" srcId="{19B0610F-282C-4322-866B-0055FAF46627}" destId="{AA5BB0A8-BEB9-4A1C-ADF5-7F8122850824}" srcOrd="5" destOrd="0" presId="urn:microsoft.com/office/officeart/2005/8/layout/chevron1#7"/>
    <dgm:cxn modelId="{03454C2C-BB9D-46BA-B390-3C3B24C9F4BC}" type="presParOf" srcId="{19B0610F-282C-4322-866B-0055FAF46627}" destId="{4BCE8E4B-4C6F-4AB8-BA87-94EBADC2C5D0}" srcOrd="6" destOrd="0" presId="urn:microsoft.com/office/officeart/2005/8/layout/chevron1#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8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8"/>
    <dgm:cxn modelId="{AC4F6029-1BF4-47CB-8BA5-680A584F2DDF}" type="presOf" srcId="{D5012695-E636-436E-8E3E-60550BC3080E}" destId="{54D1D34D-643C-499A-B330-F91526D1DBE8}" srcOrd="0" destOrd="0" presId="urn:microsoft.com/office/officeart/2005/8/layout/chevron1#8"/>
    <dgm:cxn modelId="{6B6CE272-F2F3-4936-B001-E499C3B681C4}" type="presOf" srcId="{8FC3E99C-7BCE-40A0-B316-2E0BBFF2573F}" destId="{EC812F4D-EF66-448A-B027-679DD9AEE63D}" srcOrd="0" destOrd="0" presId="urn:microsoft.com/office/officeart/2005/8/layout/chevron1#8"/>
    <dgm:cxn modelId="{33E33F55-80EC-484E-A613-EF53AA13C72A}" type="presOf" srcId="{66535F52-61D9-45C6-A6A4-51615B77690B}" destId="{6636E125-B383-4A9D-B027-3EFC54D58BB6}" srcOrd="0" destOrd="0" presId="urn:microsoft.com/office/officeart/2005/8/layout/chevron1#8"/>
    <dgm:cxn modelId="{5A1E9998-D021-48E7-9F22-4B7E9E7C1B1C}" type="presOf" srcId="{78F4C9A7-4E95-49A6-8310-38E561C483BA}" destId="{4BCE8E4B-4C6F-4AB8-BA87-94EBADC2C5D0}" srcOrd="0" destOrd="0" presId="urn:microsoft.com/office/officeart/2005/8/layout/chevron1#8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8"/>
    <dgm:cxn modelId="{C8ED28C5-1DD9-4885-840B-086B2A7EB6BC}" type="presParOf" srcId="{19B0610F-282C-4322-866B-0055FAF46627}" destId="{4B66681B-9D4C-436C-87BB-82E64E68F6C8}" srcOrd="1" destOrd="0" presId="urn:microsoft.com/office/officeart/2005/8/layout/chevron1#8"/>
    <dgm:cxn modelId="{032CB6FE-5464-43D9-9665-77F40DBF7861}" type="presParOf" srcId="{19B0610F-282C-4322-866B-0055FAF46627}" destId="{6636E125-B383-4A9D-B027-3EFC54D58BB6}" srcOrd="2" destOrd="0" presId="urn:microsoft.com/office/officeart/2005/8/layout/chevron1#8"/>
    <dgm:cxn modelId="{79F4CB33-4866-48D9-9DC6-0390A47EA9E6}" type="presParOf" srcId="{19B0610F-282C-4322-866B-0055FAF46627}" destId="{B7D1B483-87CF-4091-8E45-AEF05E32D037}" srcOrd="3" destOrd="0" presId="urn:microsoft.com/office/officeart/2005/8/layout/chevron1#8"/>
    <dgm:cxn modelId="{AF7401B2-4231-4570-8711-83F5617B87E6}" type="presParOf" srcId="{19B0610F-282C-4322-866B-0055FAF46627}" destId="{EC812F4D-EF66-448A-B027-679DD9AEE63D}" srcOrd="4" destOrd="0" presId="urn:microsoft.com/office/officeart/2005/8/layout/chevron1#8"/>
    <dgm:cxn modelId="{DD643616-A114-43CF-8265-2475291604A2}" type="presParOf" srcId="{19B0610F-282C-4322-866B-0055FAF46627}" destId="{AA5BB0A8-BEB9-4A1C-ADF5-7F8122850824}" srcOrd="5" destOrd="0" presId="urn:microsoft.com/office/officeart/2005/8/layout/chevron1#8"/>
    <dgm:cxn modelId="{03454C2C-BB9D-46BA-B390-3C3B24C9F4BC}" type="presParOf" srcId="{19B0610F-282C-4322-866B-0055FAF46627}" destId="{4BCE8E4B-4C6F-4AB8-BA87-94EBADC2C5D0}" srcOrd="6" destOrd="0" presId="urn:microsoft.com/office/officeart/2005/8/layout/chevron1#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#9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#9"/>
    <dgm:cxn modelId="{AC4F6029-1BF4-47CB-8BA5-680A584F2DDF}" type="presOf" srcId="{D5012695-E636-436E-8E3E-60550BC3080E}" destId="{54D1D34D-643C-499A-B330-F91526D1DBE8}" srcOrd="0" destOrd="0" presId="urn:microsoft.com/office/officeart/2005/8/layout/chevron1#9"/>
    <dgm:cxn modelId="{6B6CE272-F2F3-4936-B001-E499C3B681C4}" type="presOf" srcId="{8FC3E99C-7BCE-40A0-B316-2E0BBFF2573F}" destId="{EC812F4D-EF66-448A-B027-679DD9AEE63D}" srcOrd="0" destOrd="0" presId="urn:microsoft.com/office/officeart/2005/8/layout/chevron1#9"/>
    <dgm:cxn modelId="{33E33F55-80EC-484E-A613-EF53AA13C72A}" type="presOf" srcId="{66535F52-61D9-45C6-A6A4-51615B77690B}" destId="{6636E125-B383-4A9D-B027-3EFC54D58BB6}" srcOrd="0" destOrd="0" presId="urn:microsoft.com/office/officeart/2005/8/layout/chevron1#9"/>
    <dgm:cxn modelId="{5A1E9998-D021-48E7-9F22-4B7E9E7C1B1C}" type="presOf" srcId="{78F4C9A7-4E95-49A6-8310-38E561C483BA}" destId="{4BCE8E4B-4C6F-4AB8-BA87-94EBADC2C5D0}" srcOrd="0" destOrd="0" presId="urn:microsoft.com/office/officeart/2005/8/layout/chevron1#9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#9"/>
    <dgm:cxn modelId="{C8ED28C5-1DD9-4885-840B-086B2A7EB6BC}" type="presParOf" srcId="{19B0610F-282C-4322-866B-0055FAF46627}" destId="{4B66681B-9D4C-436C-87BB-82E64E68F6C8}" srcOrd="1" destOrd="0" presId="urn:microsoft.com/office/officeart/2005/8/layout/chevron1#9"/>
    <dgm:cxn modelId="{032CB6FE-5464-43D9-9665-77F40DBF7861}" type="presParOf" srcId="{19B0610F-282C-4322-866B-0055FAF46627}" destId="{6636E125-B383-4A9D-B027-3EFC54D58BB6}" srcOrd="2" destOrd="0" presId="urn:microsoft.com/office/officeart/2005/8/layout/chevron1#9"/>
    <dgm:cxn modelId="{79F4CB33-4866-48D9-9DC6-0390A47EA9E6}" type="presParOf" srcId="{19B0610F-282C-4322-866B-0055FAF46627}" destId="{B7D1B483-87CF-4091-8E45-AEF05E32D037}" srcOrd="3" destOrd="0" presId="urn:microsoft.com/office/officeart/2005/8/layout/chevron1#9"/>
    <dgm:cxn modelId="{AF7401B2-4231-4570-8711-83F5617B87E6}" type="presParOf" srcId="{19B0610F-282C-4322-866B-0055FAF46627}" destId="{EC812F4D-EF66-448A-B027-679DD9AEE63D}" srcOrd="4" destOrd="0" presId="urn:microsoft.com/office/officeart/2005/8/layout/chevron1#9"/>
    <dgm:cxn modelId="{DD643616-A114-43CF-8265-2475291604A2}" type="presParOf" srcId="{19B0610F-282C-4322-866B-0055FAF46627}" destId="{AA5BB0A8-BEB9-4A1C-ADF5-7F8122850824}" srcOrd="5" destOrd="0" presId="urn:microsoft.com/office/officeart/2005/8/layout/chevron1#9"/>
    <dgm:cxn modelId="{03454C2C-BB9D-46BA-B390-3C3B24C9F4BC}" type="presParOf" srcId="{19B0610F-282C-4322-866B-0055FAF46627}" destId="{4BCE8E4B-4C6F-4AB8-BA87-94EBADC2C5D0}" srcOrd="6" destOrd="0" presId="urn:microsoft.com/office/officeart/2005/8/layout/chevron1#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0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0"/>
    <dgm:cxn modelId="{5F8D4429-3512-4733-9D28-C39DEC6D5A46}" type="presOf" srcId="{09E83A0D-6FEF-41DF-A1A8-06E9FFC85F71}" destId="{E9EC313E-C07D-4024-9AF7-7BAA82F22646}" srcOrd="0" destOrd="0" presId="urn:microsoft.com/office/officeart/2005/8/layout/chevron1#10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0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0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0"/>
    <dgm:cxn modelId="{FDC2920E-D462-4099-AAD9-7061DA75790D}" type="presParOf" srcId="{AFDF9144-0890-4741-9012-683715D91BA8}" destId="{E9EC313E-C07D-4024-9AF7-7BAA82F22646}" srcOrd="0" destOrd="0" presId="urn:microsoft.com/office/officeart/2005/8/layout/chevron1#10"/>
    <dgm:cxn modelId="{BE9CD0F0-86E3-473D-ACC0-0A1CDB83D02D}" type="presParOf" srcId="{AFDF9144-0890-4741-9012-683715D91BA8}" destId="{1254BCE1-0659-4C9C-A343-41153979CEE1}" srcOrd="1" destOrd="0" presId="urn:microsoft.com/office/officeart/2005/8/layout/chevron1#10"/>
    <dgm:cxn modelId="{23C3C8E6-6442-4A61-9F3C-66FB5F60C029}" type="presParOf" srcId="{AFDF9144-0890-4741-9012-683715D91BA8}" destId="{4F9DEA38-A8FA-418A-B139-308095C75DE5}" srcOrd="2" destOrd="0" presId="urn:microsoft.com/office/officeart/2005/8/layout/chevron1#10"/>
    <dgm:cxn modelId="{ECF28035-C4C2-4F0A-91A6-54605395BB01}" type="presParOf" srcId="{AFDF9144-0890-4741-9012-683715D91BA8}" destId="{F32AF327-A8A7-42ED-9A3A-FD065AEF35CC}" srcOrd="3" destOrd="0" presId="urn:microsoft.com/office/officeart/2005/8/layout/chevron1#10"/>
    <dgm:cxn modelId="{1EA5E5A7-6379-4647-82EB-47293F901444}" type="presParOf" srcId="{AFDF9144-0890-4741-9012-683715D91BA8}" destId="{DB2DC495-4888-4FB0-8E56-94B7ED74FA00}" srcOrd="4" destOrd="0" presId="urn:microsoft.com/office/officeart/2005/8/layout/chevron1#10"/>
    <dgm:cxn modelId="{05C2C0AF-C649-43A1-9660-BD856B630B95}" type="presParOf" srcId="{AFDF9144-0890-4741-9012-683715D91BA8}" destId="{3128D3E7-1249-4292-B711-881F04FEB888}" srcOrd="5" destOrd="0" presId="urn:microsoft.com/office/officeart/2005/8/layout/chevron1#10"/>
    <dgm:cxn modelId="{39A0DD8E-E4B6-47DF-81A2-0B69F2B95DCA}" type="presParOf" srcId="{AFDF9144-0890-4741-9012-683715D91BA8}" destId="{89AA18CC-6C77-44F3-85A7-38695F314F32}" srcOrd="6" destOrd="0" presId="urn:microsoft.com/office/officeart/2005/8/layout/chevron1#10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0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0"/>
    <dgm:cxn modelId="{5F8D4429-3512-4733-9D28-C39DEC6D5A46}" type="presOf" srcId="{09E83A0D-6FEF-41DF-A1A8-06E9FFC85F71}" destId="{E9EC313E-C07D-4024-9AF7-7BAA82F22646}" srcOrd="0" destOrd="0" presId="urn:microsoft.com/office/officeart/2005/8/layout/chevron1#10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0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0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0"/>
    <dgm:cxn modelId="{FDC2920E-D462-4099-AAD9-7061DA75790D}" type="presParOf" srcId="{AFDF9144-0890-4741-9012-683715D91BA8}" destId="{E9EC313E-C07D-4024-9AF7-7BAA82F22646}" srcOrd="0" destOrd="0" presId="urn:microsoft.com/office/officeart/2005/8/layout/chevron1#10"/>
    <dgm:cxn modelId="{BE9CD0F0-86E3-473D-ACC0-0A1CDB83D02D}" type="presParOf" srcId="{AFDF9144-0890-4741-9012-683715D91BA8}" destId="{1254BCE1-0659-4C9C-A343-41153979CEE1}" srcOrd="1" destOrd="0" presId="urn:microsoft.com/office/officeart/2005/8/layout/chevron1#10"/>
    <dgm:cxn modelId="{23C3C8E6-6442-4A61-9F3C-66FB5F60C029}" type="presParOf" srcId="{AFDF9144-0890-4741-9012-683715D91BA8}" destId="{4F9DEA38-A8FA-418A-B139-308095C75DE5}" srcOrd="2" destOrd="0" presId="urn:microsoft.com/office/officeart/2005/8/layout/chevron1#10"/>
    <dgm:cxn modelId="{ECF28035-C4C2-4F0A-91A6-54605395BB01}" type="presParOf" srcId="{AFDF9144-0890-4741-9012-683715D91BA8}" destId="{F32AF327-A8A7-42ED-9A3A-FD065AEF35CC}" srcOrd="3" destOrd="0" presId="urn:microsoft.com/office/officeart/2005/8/layout/chevron1#10"/>
    <dgm:cxn modelId="{1EA5E5A7-6379-4647-82EB-47293F901444}" type="presParOf" srcId="{AFDF9144-0890-4741-9012-683715D91BA8}" destId="{DB2DC495-4888-4FB0-8E56-94B7ED74FA00}" srcOrd="4" destOrd="0" presId="urn:microsoft.com/office/officeart/2005/8/layout/chevron1#10"/>
    <dgm:cxn modelId="{05C2C0AF-C649-43A1-9660-BD856B630B95}" type="presParOf" srcId="{AFDF9144-0890-4741-9012-683715D91BA8}" destId="{3128D3E7-1249-4292-B711-881F04FEB888}" srcOrd="5" destOrd="0" presId="urn:microsoft.com/office/officeart/2005/8/layout/chevron1#10"/>
    <dgm:cxn modelId="{39A0DD8E-E4B6-47DF-81A2-0B69F2B95DCA}" type="presParOf" srcId="{AFDF9144-0890-4741-9012-683715D91BA8}" destId="{89AA18CC-6C77-44F3-85A7-38695F314F32}" srcOrd="6" destOrd="0" presId="urn:microsoft.com/office/officeart/2005/8/layout/chevron1#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#1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#11"/>
    <dgm:cxn modelId="{5F8D4429-3512-4733-9D28-C39DEC6D5A46}" type="presOf" srcId="{09E83A0D-6FEF-41DF-A1A8-06E9FFC85F71}" destId="{E9EC313E-C07D-4024-9AF7-7BAA82F22646}" srcOrd="0" destOrd="0" presId="urn:microsoft.com/office/officeart/2005/8/layout/chevron1#1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#1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#1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#11"/>
    <dgm:cxn modelId="{FDC2920E-D462-4099-AAD9-7061DA75790D}" type="presParOf" srcId="{AFDF9144-0890-4741-9012-683715D91BA8}" destId="{E9EC313E-C07D-4024-9AF7-7BAA82F22646}" srcOrd="0" destOrd="0" presId="urn:microsoft.com/office/officeart/2005/8/layout/chevron1#11"/>
    <dgm:cxn modelId="{BE9CD0F0-86E3-473D-ACC0-0A1CDB83D02D}" type="presParOf" srcId="{AFDF9144-0890-4741-9012-683715D91BA8}" destId="{1254BCE1-0659-4C9C-A343-41153979CEE1}" srcOrd="1" destOrd="0" presId="urn:microsoft.com/office/officeart/2005/8/layout/chevron1#11"/>
    <dgm:cxn modelId="{23C3C8E6-6442-4A61-9F3C-66FB5F60C029}" type="presParOf" srcId="{AFDF9144-0890-4741-9012-683715D91BA8}" destId="{4F9DEA38-A8FA-418A-B139-308095C75DE5}" srcOrd="2" destOrd="0" presId="urn:microsoft.com/office/officeart/2005/8/layout/chevron1#11"/>
    <dgm:cxn modelId="{ECF28035-C4C2-4F0A-91A6-54605395BB01}" type="presParOf" srcId="{AFDF9144-0890-4741-9012-683715D91BA8}" destId="{F32AF327-A8A7-42ED-9A3A-FD065AEF35CC}" srcOrd="3" destOrd="0" presId="urn:microsoft.com/office/officeart/2005/8/layout/chevron1#11"/>
    <dgm:cxn modelId="{1EA5E5A7-6379-4647-82EB-47293F901444}" type="presParOf" srcId="{AFDF9144-0890-4741-9012-683715D91BA8}" destId="{DB2DC495-4888-4FB0-8E56-94B7ED74FA00}" srcOrd="4" destOrd="0" presId="urn:microsoft.com/office/officeart/2005/8/layout/chevron1#11"/>
    <dgm:cxn modelId="{05C2C0AF-C649-43A1-9660-BD856B630B95}" type="presParOf" srcId="{AFDF9144-0890-4741-9012-683715D91BA8}" destId="{3128D3E7-1249-4292-B711-881F04FEB888}" srcOrd="5" destOrd="0" presId="urn:microsoft.com/office/officeart/2005/8/layout/chevron1#11"/>
    <dgm:cxn modelId="{39A0DD8E-E4B6-47DF-81A2-0B69F2B95DCA}" type="presParOf" srcId="{AFDF9144-0890-4741-9012-683715D91BA8}" destId="{89AA18CC-6C77-44F3-85A7-38695F314F32}" srcOrd="6" destOrd="0" presId="urn:microsoft.com/office/officeart/2005/8/layout/chevron1#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ln w="12700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#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#2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#3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#4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#5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#6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#7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#8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#9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#10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#10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#1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Sasol production metrics FY2025 and FY2026; Glencore annual reports 2024 and 2025; 2025 plant assessment. Fiscal and calendar periods and reporting scopes differ. Product yields and reporting scopes require reconciliation to the 5.8bn-litre planning baseline.</a:t>
            </a:r>
          </a:p>
          <a:p>
            <a:r>
              <a:t>The 5.8bn-litre 2025 petrol/diesel baseline is a planning assumption; these differently scoped plant disclosures do not sum directly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SARS customs 2022/2025; Galp Matola commissioning, 3 December 2020; Petromoc logistics; existing Durban–Lesedi corridor evidence in market-sizing workbook. Walvis Bay diversion is unquantified; comparable delivered-cost evidence remains open.</a:t>
            </a:r>
          </a:p>
          <a:p>
            <a:r>
              <a:t>Compare the same product and inland destination across routes; Matola and Walvis Bay affect gateway share, not national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microsoft.com/office/2007/relationships/diagramDrawing" Target="../diagrams/drawing2.xml"/><Relationship Id="rId3" Type="http://schemas.openxmlformats.org/officeDocument/2006/relationships/slide" Target="slide5.xml"/><Relationship Id="rId7" Type="http://schemas.openxmlformats.org/officeDocument/2006/relationships/slide" Target="slide9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8.xml"/><Relationship Id="rId11" Type="http://schemas.openxmlformats.org/officeDocument/2006/relationships/diagramQuickStyle" Target="../diagrams/quickStyle2.xml"/><Relationship Id="rId5" Type="http://schemas.openxmlformats.org/officeDocument/2006/relationships/slide" Target="slide7.xml"/><Relationship Id="rId10" Type="http://schemas.openxmlformats.org/officeDocument/2006/relationships/diagramLayout" Target="../diagrams/layout2.xml"/><Relationship Id="rId4" Type="http://schemas.openxmlformats.org/officeDocument/2006/relationships/slide" Target="slide6.xml"/><Relationship Id="rId9" Type="http://schemas.openxmlformats.org/officeDocument/2006/relationships/diagramData" Target="../diagrams/data2.xml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chart" Target="../charts/chart1.xml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chart" Target="../charts/chart2.xml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chart" Target="../charts/chart3.xml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chart" Target="../charts/chart4.xml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chart" Target="../charts/chart5.xml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slide" Target="slide4.xml"/><Relationship Id="rId7" Type="http://schemas.openxmlformats.org/officeDocument/2006/relationships/slide" Target="slide10.xml"/><Relationship Id="rId12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5.xml"/><Relationship Id="rId11" Type="http://schemas.openxmlformats.org/officeDocument/2006/relationships/diagramColors" Target="../diagrams/colors10.xml"/><Relationship Id="rId5" Type="http://schemas.openxmlformats.org/officeDocument/2006/relationships/slide" Target="slide9.xml"/><Relationship Id="rId10" Type="http://schemas.openxmlformats.org/officeDocument/2006/relationships/diagramQuickStyle" Target="../diagrams/quickStyle10.xml"/><Relationship Id="rId4" Type="http://schemas.openxmlformats.org/officeDocument/2006/relationships/slide" Target="slide2.xml"/><Relationship Id="rId9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large fuel market relies on substantial imports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national sales; SARS 2025 trade; analytical workbook v02. 2025 demand is estimated; 5.8bn L production is a planning assumption. Gross import need includes exports and assumes no stock change.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metric 0">
            <a:extLst>
              <a:ext uri="{FF2B5EF4-FFF2-40B4-BE49-F238E27FC236}">
                <a16:creationId xmlns:a16="http://schemas.microsoft.com/office/drawing/2014/main" id="{385448C1-FE78-4C12-98C9-6D268049824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21.0bn L</a:t>
            </a:r>
          </a:p>
        </p:txBody>
      </p:sp>
      <p:sp>
        <p:nvSpPr>
          <p:cNvPr id="50" name="S label 0">
            <a:extLst>
              <a:ext uri="{FF2B5EF4-FFF2-40B4-BE49-F238E27FC236}">
                <a16:creationId xmlns:a16="http://schemas.microsoft.com/office/drawing/2014/main" id="{9C6651FD-6BF7-491B-BA51-4834A8C23894}"/>
              </a:ext>
            </a:extLst>
          </p:cNvPr>
          <p:cNvSpPr>
            <a:spLocks noGrp="1"/>
          </p:cNvSpPr>
          <p:nvPr/>
        </p:nvSpPr>
        <p:spPr>
          <a:xfrm>
            <a:off x="4572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demand, 2025</a:t>
            </a:r>
          </a:p>
        </p:txBody>
      </p:sp>
      <p:sp>
        <p:nvSpPr>
          <p:cNvPr id="51" name="S detail 0">
            <a:extLst>
              <a:ext uri="{FF2B5EF4-FFF2-40B4-BE49-F238E27FC236}">
                <a16:creationId xmlns:a16="http://schemas.microsoft.com/office/drawing/2014/main" id="{EB4118C7-F97E-4678-BEAD-14AE07BEC130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8.9bn petrol and 12.1bn diesel</a:t>
            </a:r>
          </a:p>
        </p:txBody>
      </p:sp>
      <p:sp>
        <p:nvSpPr>
          <p:cNvPr id="52" name="S metric rule 0">
            <a:extLst>
              <a:ext uri="{FF2B5EF4-FFF2-40B4-BE49-F238E27FC236}">
                <a16:creationId xmlns:a16="http://schemas.microsoft.com/office/drawing/2014/main" id="{1CFA08B3-8079-40AE-8C8A-B83AAC26BA9D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S metric 1">
            <a:extLst>
              <a:ext uri="{FF2B5EF4-FFF2-40B4-BE49-F238E27FC236}">
                <a16:creationId xmlns:a16="http://schemas.microsoft.com/office/drawing/2014/main" id="{98A97C7C-9C42-4DC2-A26A-8F2719D5017E}"/>
              </a:ext>
            </a:extLst>
          </p:cNvPr>
          <p:cNvSpPr>
            <a:spLocks noGrp="1"/>
          </p:cNvSpPr>
          <p:nvPr/>
        </p:nvSpPr>
        <p:spPr>
          <a:xfrm>
            <a:off x="40767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</a:t>
            </a:r>
          </a:p>
        </p:txBody>
      </p:sp>
      <p:sp>
        <p:nvSpPr>
          <p:cNvPr id="54" name="S label 1">
            <a:extLst>
              <a:ext uri="{FF2B5EF4-FFF2-40B4-BE49-F238E27FC236}">
                <a16:creationId xmlns:a16="http://schemas.microsoft.com/office/drawing/2014/main" id="{2E63E327-1663-4F04-8F58-D4129ABE7AF2}"/>
              </a:ext>
            </a:extLst>
          </p:cNvPr>
          <p:cNvSpPr>
            <a:spLocks noGrp="1"/>
          </p:cNvSpPr>
          <p:nvPr/>
        </p:nvSpPr>
        <p:spPr>
          <a:xfrm>
            <a:off x="40767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assumption</a:t>
            </a:r>
          </a:p>
        </p:txBody>
      </p:sp>
      <p:sp>
        <p:nvSpPr>
          <p:cNvPr id="55" name="S detail 1">
            <a:extLst>
              <a:ext uri="{FF2B5EF4-FFF2-40B4-BE49-F238E27FC236}">
                <a16:creationId xmlns:a16="http://schemas.microsoft.com/office/drawing/2014/main" id="{85B18B7E-1771-4005-BA84-A335F091E8BD}"/>
              </a:ext>
            </a:extLst>
          </p:cNvPr>
          <p:cNvSpPr>
            <a:spLocks noGrp="1"/>
          </p:cNvSpPr>
          <p:nvPr/>
        </p:nvSpPr>
        <p:spPr>
          <a:xfrm>
            <a:off x="40767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National planning baseline</a:t>
            </a:r>
          </a:p>
        </p:txBody>
      </p:sp>
      <p:sp>
        <p:nvSpPr>
          <p:cNvPr id="56" name="S metric rule 1">
            <a:extLst>
              <a:ext uri="{FF2B5EF4-FFF2-40B4-BE49-F238E27FC236}">
                <a16:creationId xmlns:a16="http://schemas.microsoft.com/office/drawing/2014/main" id="{8B68512C-A8E0-44B5-A1BB-994E6A11880B}"/>
              </a:ext>
            </a:extLst>
          </p:cNvPr>
          <p:cNvSpPr>
            <a:spLocks noGrp="1"/>
          </p:cNvSpPr>
          <p:nvPr/>
        </p:nvSpPr>
        <p:spPr>
          <a:xfrm>
            <a:off x="40767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7" name="S metric 2">
            <a:extLst>
              <a:ext uri="{FF2B5EF4-FFF2-40B4-BE49-F238E27FC236}">
                <a16:creationId xmlns:a16="http://schemas.microsoft.com/office/drawing/2014/main" id="{E33F8DFD-A039-42DB-BF83-59542A4E6A79}"/>
              </a:ext>
            </a:extLst>
          </p:cNvPr>
          <p:cNvSpPr>
            <a:spLocks noGrp="1"/>
          </p:cNvSpPr>
          <p:nvPr/>
        </p:nvSpPr>
        <p:spPr>
          <a:xfrm>
            <a:off x="7696200" y="17526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16.7bn L</a:t>
            </a:r>
          </a:p>
        </p:txBody>
      </p:sp>
      <p:sp>
        <p:nvSpPr>
          <p:cNvPr id="58" name="S label 2">
            <a:extLst>
              <a:ext uri="{FF2B5EF4-FFF2-40B4-BE49-F238E27FC236}">
                <a16:creationId xmlns:a16="http://schemas.microsoft.com/office/drawing/2014/main" id="{90376FFE-C479-4E74-B7EC-F68F6FB2A837}"/>
              </a:ext>
            </a:extLst>
          </p:cNvPr>
          <p:cNvSpPr>
            <a:spLocks noGrp="1"/>
          </p:cNvSpPr>
          <p:nvPr/>
        </p:nvSpPr>
        <p:spPr>
          <a:xfrm>
            <a:off x="7696200" y="2419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</a:t>
            </a:r>
          </a:p>
        </p:txBody>
      </p:sp>
      <p:sp>
        <p:nvSpPr>
          <p:cNvPr id="59" name="S detail 2">
            <a:extLst>
              <a:ext uri="{FF2B5EF4-FFF2-40B4-BE49-F238E27FC236}">
                <a16:creationId xmlns:a16="http://schemas.microsoft.com/office/drawing/2014/main" id="{578B9F72-9562-440E-B8D4-9E2C7EA91330}"/>
              </a:ext>
            </a:extLst>
          </p:cNvPr>
          <p:cNvSpPr>
            <a:spLocks noGrp="1"/>
          </p:cNvSpPr>
          <p:nvPr/>
        </p:nvSpPr>
        <p:spPr>
          <a:xfrm>
            <a:off x="7696200" y="28384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Broadly matches recorded imports</a:t>
            </a:r>
          </a:p>
        </p:txBody>
      </p:sp>
      <p:sp>
        <p:nvSpPr>
          <p:cNvPr id="60" name="S metric rule 2">
            <a:extLst>
              <a:ext uri="{FF2B5EF4-FFF2-40B4-BE49-F238E27FC236}">
                <a16:creationId xmlns:a16="http://schemas.microsoft.com/office/drawing/2014/main" id="{E3317981-7F4A-4303-8ED7-69ED8C64FC79}"/>
              </a:ext>
            </a:extLst>
          </p:cNvPr>
          <p:cNvSpPr>
            <a:spLocks noGrp="1"/>
          </p:cNvSpPr>
          <p:nvPr/>
        </p:nvSpPr>
        <p:spPr>
          <a:xfrm>
            <a:off x="7696200" y="3429000"/>
            <a:ext cx="33337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61" name="S demand heading">
            <a:extLst>
              <a:ext uri="{FF2B5EF4-FFF2-40B4-BE49-F238E27FC236}">
                <a16:creationId xmlns:a16="http://schemas.microsoft.com/office/drawing/2014/main" id="{F36B889D-2B22-42F0-96E7-FFB2AF546465}"/>
              </a:ext>
            </a:extLst>
          </p:cNvPr>
          <p:cNvSpPr>
            <a:spLocks noGrp="1"/>
          </p:cNvSpPr>
          <p:nvPr/>
        </p:nvSpPr>
        <p:spPr>
          <a:xfrm>
            <a:off x="457200" y="3743325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substantial demand base</a:t>
            </a:r>
          </a:p>
        </p:txBody>
      </p:sp>
      <p:sp>
        <p:nvSpPr>
          <p:cNvPr id="62" name="S demand body">
            <a:extLst>
              <a:ext uri="{FF2B5EF4-FFF2-40B4-BE49-F238E27FC236}">
                <a16:creationId xmlns:a16="http://schemas.microsoft.com/office/drawing/2014/main" id="{6CA2E0BC-B7F2-4BE6-AEBC-BDF15A382E54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4905375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transport is the largest use. Mining, agriculture, manufacturing and power also contribute.</a:t>
            </a:r>
          </a:p>
          <a:p>
            <a:endParaRPr sz="1575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Demand has eased from 21.9bn litres in 2023 to an estimated 21.0bn in 2025.</a:t>
            </a:r>
          </a:p>
        </p:txBody>
      </p:sp>
      <p:sp>
        <p:nvSpPr>
          <p:cNvPr id="63" name="S route heading">
            <a:extLst>
              <a:ext uri="{FF2B5EF4-FFF2-40B4-BE49-F238E27FC236}">
                <a16:creationId xmlns:a16="http://schemas.microsoft.com/office/drawing/2014/main" id="{57A81112-B252-4444-B97C-08BAB8C8D266}"/>
              </a:ext>
            </a:extLst>
          </p:cNvPr>
          <p:cNvSpPr>
            <a:spLocks noGrp="1"/>
          </p:cNvSpPr>
          <p:nvPr/>
        </p:nvSpPr>
        <p:spPr>
          <a:xfrm>
            <a:off x="5905500" y="3743325"/>
            <a:ext cx="519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Durban connects imports to inland customers</a:t>
            </a:r>
          </a:p>
        </p:txBody>
      </p:sp>
      <p:sp>
        <p:nvSpPr>
          <p:cNvPr id="64" name="S route body">
            <a:extLst>
              <a:ext uri="{FF2B5EF4-FFF2-40B4-BE49-F238E27FC236}">
                <a16:creationId xmlns:a16="http://schemas.microsoft.com/office/drawing/2014/main" id="{49798A2E-BA63-4FF6-A9F3-840463B170F0}"/>
              </a:ext>
            </a:extLst>
          </p:cNvPr>
          <p:cNvSpPr>
            <a:spLocks noGrp="1"/>
          </p:cNvSpPr>
          <p:nvPr/>
        </p:nvSpPr>
        <p:spPr>
          <a:xfrm>
            <a:off x="5905500" y="4476750"/>
            <a:ext cx="519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Durban customs recorded 13.16bn litres of imports in 2025. The Durban–Lesedi route provides access to inland demand, subject to customer and logistics access.</a:t>
            </a:r>
          </a:p>
        </p:txBody>
      </p:sp>
      <p:sp>
        <p:nvSpPr>
          <p:cNvPr id="65" name="S takeaway">
            <a:extLst>
              <a:ext uri="{FF2B5EF4-FFF2-40B4-BE49-F238E27FC236}">
                <a16:creationId xmlns:a16="http://schemas.microsoft.com/office/drawing/2014/main" id="{CC3A3E20-9691-4E11-8731-ACA9C0BF16AA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South Africa has an established import market serving a large national fuel requirement.</a:t>
            </a:r>
          </a:p>
        </p:txBody>
      </p:sp>
      <p:graphicFrame>
        <p:nvGraphicFramePr>
          <p:cNvPr id="5002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pp5–10. Stats SA; Eskom Integrated Report 2025 p141; Sasol, Glencore, Galp and Petromoc disclosures; naamsa vehicle sales.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1100963448"/>
              </p:ext>
            </p:extLst>
          </p:nvPr>
        </p:nvGraphicFramePr>
        <p:xfrm>
          <a:off x="457200" y="1657350"/>
          <a:ext cx="10648950" cy="3905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A2373"/>
                          </a:solidFill>
                          <a:latin typeface="Lato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425" b="0">
                        <a:solidFill>
                          <a:srgbClr val="0A2373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A2373"/>
                          </a:solidFill>
                          <a:latin typeface="Lato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425" b="0">
                        <a:solidFill>
                          <a:srgbClr val="0A2373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A2373"/>
                          </a:solidFill>
                          <a:latin typeface="Lato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425" b="0">
                        <a:solidFill>
                          <a:srgbClr val="0A2373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A2373"/>
                          </a:solidFill>
                          <a:latin typeface="Lato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efficiency | p8</a:t>
                      </a:r>
                      <a:endParaRPr sz="1425" b="0">
                        <a:solidFill>
                          <a:srgbClr val="0A2373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A2373"/>
                          </a:solidFill>
                          <a:latin typeface="Lato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output and restarts | p9</a:t>
                      </a:r>
                      <a:endParaRPr sz="1425" b="0">
                        <a:solidFill>
                          <a:srgbClr val="0A2373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A2373"/>
                          </a:solidFill>
                          <a:latin typeface="Lato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p10</a:t>
                      </a:r>
                      <a:endParaRPr sz="1425" b="0">
                        <a:solidFill>
                          <a:srgbClr val="0A2373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graphicFrame>
        <p:nvGraphicFramePr>
          <p:cNvPr id="5003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4" name="Demand baseline link">
            <a:extLst>
              <a:ext uri="{FF2B5EF4-FFF2-40B4-BE49-F238E27FC236}">
                <a16:creationId xmlns:a16="http://schemas.microsoft.com/office/drawing/2014/main" id="{328A0745-7427-1AB5-D9F0-F80BC43B3609}"/>
              </a:ext>
            </a:extLst>
          </p:cNvPr>
          <p:cNvSpPr txBox="1"/>
          <p:nvPr/>
        </p:nvSpPr>
        <p:spPr>
          <a:xfrm>
            <a:off x="8255000" y="1479550"/>
            <a:ext cx="28575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ZA" sz="1100" b="1">
                <a:solidFill>
                  <a:srgbClr val="0A2373"/>
                </a:solidFill>
                <a:latin typeface="Lato" panose="020F0502020204030203" pitchFamily="34" charset="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Demand baseline → p4</a:t>
            </a:r>
            <a:endParaRPr lang="en-ZA" sz="1100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BA4E8490-1F60-499F-B6BF-5A77A43D1CA7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Petrol and diesel demand, 2013–2025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8FA2C587-C3BA-4DA8-8C84-08F3A2EB357F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166F2904-F186-4E7B-B4C1-3700FED43B42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5BBAE355-ACD1-4A04-AE8D-BCCBF7B13B56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45AF3DC0-23F7-40A1-AE6D-1A4BDE91EBBB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2025 estimated demand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graphicFrame>
        <p:nvGraphicFramePr>
          <p:cNvPr id="5004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3F750480-4167-42BA-9657-2B5404CEB3A6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sector diesel demand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DD6D4CA9-A56B-48BC-91BC-279B40518F5C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4A4D0377-5276-4DC8-B68B-F55B46521FC5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1DF9764A-B445-4A9F-868B-95A69A8D7EE6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D9AF9B99-C3DB-4013-A57F-8793D405215A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diesel use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graphicFrame>
        <p:nvGraphicFramePr>
          <p:cNvPr id="5005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AF2DD85A-B7D1-4D64-A461-8B1C92B8FD9F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Eskom diesel and kerosene use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5157AD22-E5AB-462B-BEFA-BBC899D297C8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2576EC8E-CB58-4CD8-8FEB-44C019CDE908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53E62462-1940-4FBC-81B1-FE966034267B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12C07C70-FACD-4038-B9A3-3079ABD43856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Power fuel use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graphicFrame>
        <p:nvGraphicFramePr>
          <p:cNvPr id="5006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99EE32A7-277E-4533-9035-9C64446DDAA9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Reported road and rail freight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A5DB1B3E-7F4B-4AC5-8830-4EB830EED419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2893FA2F-0F29-45B2-8970-5840A49F6B02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B04DC137-A7D4-4235-AF7D-4F68B55C1AE3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50A590BF-0B96-451D-BAFD-5BF8CEDC09BB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Recovery and displacement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graphicFrame>
        <p:nvGraphicFramePr>
          <p:cNvPr id="5007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Evidence chart heading">
            <a:extLst>
              <a:ext uri="{FF2B5EF4-FFF2-40B4-BE49-F238E27FC236}">
                <a16:creationId xmlns:a16="http://schemas.microsoft.com/office/drawing/2014/main" id="{974B62E4-146E-4FF9-8E06-1656A4E7336A}"/>
              </a:ext>
            </a:extLst>
          </p:cNvPr>
          <p:cNvSpPr>
            <a:spLocks noGrp="1"/>
          </p:cNvSpPr>
          <p:nvPr/>
        </p:nvSpPr>
        <p:spPr>
          <a:xfrm>
            <a:off x="457200" y="164782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Electrified vehicle sales, 2025</a:t>
            </a:r>
          </a:p>
        </p:txBody>
      </p:sp>
      <p:sp>
        <p:nvSpPr>
          <p:cNvPr id="50" name="Evidence chart rule">
            <a:extLst>
              <a:ext uri="{FF2B5EF4-FFF2-40B4-BE49-F238E27FC236}">
                <a16:creationId xmlns:a16="http://schemas.microsoft.com/office/drawing/2014/main" id="{BEAD31A7-6FAD-4E02-84CE-7CBE461F58DD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73342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1" name="Evidence insight rule">
            <a:extLst>
              <a:ext uri="{FF2B5EF4-FFF2-40B4-BE49-F238E27FC236}">
                <a16:creationId xmlns:a16="http://schemas.microsoft.com/office/drawing/2014/main" id="{D014AAC5-7564-4B89-9B72-CFE676954D43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0990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2" name="Evidence divider">
            <a:extLst>
              <a:ext uri="{FF2B5EF4-FFF2-40B4-BE49-F238E27FC236}">
                <a16:creationId xmlns:a16="http://schemas.microsoft.com/office/drawing/2014/main" id="{DE2F2137-A6E8-4742-94E1-FD63D2AE3584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9525" cy="36671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523875" y="2038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24100"/>
          <a:ext cx="73342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Evidence insight heading">
            <a:extLst>
              <a:ext uri="{FF2B5EF4-FFF2-40B4-BE49-F238E27FC236}">
                <a16:creationId xmlns:a16="http://schemas.microsoft.com/office/drawing/2014/main" id="{A4A27CC4-7D05-4A2A-928A-9127A29A9642}"/>
              </a:ext>
            </a:extLst>
          </p:cNvPr>
          <p:cNvSpPr>
            <a:spLocks noGrp="1"/>
          </p:cNvSpPr>
          <p:nvPr/>
        </p:nvSpPr>
        <p:spPr>
          <a:xfrm>
            <a:off x="8096250" y="1647825"/>
            <a:ext cx="30099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Different fuel-use effects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099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graphicFrame>
        <p:nvGraphicFramePr>
          <p:cNvPr id="5008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refinery output alter the volume that imports must supply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Sasol production metrics FY2025 and FY2026; Glencore annual reports 2024 and 2025; 2025 plant assessment. Fiscal and calendar periods and reporting scopes differ. Product yields and reporting scopes require reconciliation to the 5.8bn-litre planning baseline.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37909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Domestic supply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Reported evidence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Implication for imports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Secunda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Refined-products output: 29.1m barrels in FY2024; 27.6m in FY2025; 30.6m in FY2026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Operating recovery can increase domestic supply; petrol and diesel yields determine import displacement.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Natref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Sasol-reported output: 17.8m barrels in FY2024; 14.7m in FY2025; 25.8m in FY2026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FY2026 includes above-share production, so the latest reported change cannot be treated as a like-for-like change in whole-plant output.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Astron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Reported refined products: 166,204 billion Btu in 2024; 164,365 billion Btu in 2025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Output and product mix affect supply; energy units require conversion before comparison with customs litres.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SAPREF and PetroSA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No refining contribution included in the 2025 production assessment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Restored refining would displace imports only when plants produce saleable products. Terminal handling is not refinery output.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Evidence takeaway">
            <a:extLst>
              <a:ext uri="{FF2B5EF4-FFF2-40B4-BE49-F238E27FC236}">
                <a16:creationId xmlns:a16="http://schemas.microsoft.com/office/drawing/2014/main" id="{222DB38A-5E8B-4C52-9852-C354D2C5CA7F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5.8bn-litre 2025 petrol/diesel baseline is a planning assumption; these differently scoped plant disclosures do not sum directly to it.</a:t>
            </a:r>
          </a:p>
        </p:txBody>
      </p:sp>
      <p:graphicFrame>
        <p:nvGraphicFramePr>
          <p:cNvPr id="5009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SARS customs 2022/2025; Galp Matola commissioning, 3 December 2020; Petromoc logistics; existing Durban–Lesedi corridor evidence in market-sizing workbook. Walvis Bay diversion is unquantified; comparable delivered-cost evidence remains open.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379095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route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Evidence available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Implication for addressable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 and other SA ports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 customs: 13.16bn L of petrol/diesel imports in 2025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national imports across gateways before assessing inland customer reach.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Durban–NMPP–Lesedi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Existing coastal-to-inland connection; customer and product access remain to be established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Pipeline, receipt and dispatch constraints determine the flows Vopak can serve.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infrastructure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Galp/IPG: 60,000m³ petrol/diesel storage; Petromoc: 390,000m³ across liquid fuels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 not add potentially overlapping capacities or equate tankage with annual SA deliveries.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Observed Mozambique route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Komatipoort recorded imports: 0.303bn L in 2022 → 0.086bn L in 2025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Observed cross-border flows provide a firmer volume anchor than storage capacity.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Walvis Bay alternative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Comparable delivered-cost, access and SA flow evidence is not established in this review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Retain as a route to assess; no quantified diversion or customer capture is assigned.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" name="Evidence takeaway">
            <a:extLst>
              <a:ext uri="{FF2B5EF4-FFF2-40B4-BE49-F238E27FC236}">
                <a16:creationId xmlns:a16="http://schemas.microsoft.com/office/drawing/2014/main" id="{558E6A23-98FB-44A0-A6FC-932B4DA52E2C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6489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Compare the same product and inland destination across routes; Matola and Walvis Bay affect gateway share, not national demand.</a:t>
            </a:r>
          </a:p>
        </p:txBody>
      </p:sp>
      <p:graphicFrame>
        <p:nvGraphicFramePr>
          <p:cNvPr id="5010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184900"/>
            <a:ext cx="10652760" cy="1048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7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7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Durban 2.63B L, Lesedi 1.32B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Lesedi included in Durban flow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estimate; demand p4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capture; p13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sp>
        <p:nvSpPr>
          <p:cNvPr id="60" name="National market deep dive">
            <a:extLst>
              <a:ext uri="{FF2B5EF4-FFF2-40B4-BE49-F238E27FC236}">
                <a16:creationId xmlns:a16="http://schemas.microsoft.com/office/drawing/2014/main" id="{3BE2602E-B5FC-2BC9-6286-37376567F3F6}"/>
              </a:ext>
            </a:extLst>
          </p:cNvPr>
          <p:cNvSpPr>
            <a:spLocks noGrp="1"/>
          </p:cNvSpPr>
          <p:nvPr/>
        </p:nvSpPr>
        <p:spPr>
          <a:xfrm>
            <a:off x="2159000" y="19304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p4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1" name="Imports deep dive">
            <a:extLst>
              <a:ext uri="{FF2B5EF4-FFF2-40B4-BE49-F238E27FC236}">
                <a16:creationId xmlns:a16="http://schemas.microsoft.com/office/drawing/2014/main" id="{205B3093-2A83-4BC6-7D49-EE3530AB9340}"/>
              </a:ext>
            </a:extLst>
          </p:cNvPr>
          <p:cNvSpPr>
            <a:spLocks noGrp="1"/>
          </p:cNvSpPr>
          <p:nvPr/>
        </p:nvSpPr>
        <p:spPr>
          <a:xfrm>
            <a:off x="3987800" y="19304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p2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2" name="Production deep dive">
            <a:extLst>
              <a:ext uri="{FF2B5EF4-FFF2-40B4-BE49-F238E27FC236}">
                <a16:creationId xmlns:a16="http://schemas.microsoft.com/office/drawing/2014/main" id="{F4E98FFE-C861-95F7-0401-7EFD82A3A984}"/>
              </a:ext>
            </a:extLst>
          </p:cNvPr>
          <p:cNvSpPr>
            <a:spLocks noGrp="1"/>
          </p:cNvSpPr>
          <p:nvPr/>
        </p:nvSpPr>
        <p:spPr>
          <a:xfrm>
            <a:off x="5664200" y="19304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p9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3" name="Product demand deep dive">
            <a:extLst>
              <a:ext uri="{FF2B5EF4-FFF2-40B4-BE49-F238E27FC236}">
                <a16:creationId xmlns:a16="http://schemas.microsoft.com/office/drawing/2014/main" id="{D8E1194A-502E-D7EA-7BA1-21D85CF7E1EF}"/>
              </a:ext>
            </a:extLst>
          </p:cNvPr>
          <p:cNvSpPr>
            <a:spLocks noGrp="1"/>
          </p:cNvSpPr>
          <p:nvPr/>
        </p:nvSpPr>
        <p:spPr>
          <a:xfrm>
            <a:off x="2159000" y="29972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p4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4" name="Sector demand deep dive">
            <a:extLst>
              <a:ext uri="{FF2B5EF4-FFF2-40B4-BE49-F238E27FC236}">
                <a16:creationId xmlns:a16="http://schemas.microsoft.com/office/drawing/2014/main" id="{7BF876C7-E26D-B9A8-CACD-1CBABA0B01DC}"/>
              </a:ext>
            </a:extLst>
          </p:cNvPr>
          <p:cNvSpPr>
            <a:spLocks noGrp="1"/>
          </p:cNvSpPr>
          <p:nvPr/>
        </p:nvSpPr>
        <p:spPr>
          <a:xfrm>
            <a:off x="2159000" y="40640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p5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5" name="Demand parameters deep dive">
            <a:extLst>
              <a:ext uri="{FF2B5EF4-FFF2-40B4-BE49-F238E27FC236}">
                <a16:creationId xmlns:a16="http://schemas.microsoft.com/office/drawing/2014/main" id="{37E93972-72CB-1C74-2402-27E64172030F}"/>
              </a:ext>
            </a:extLst>
          </p:cNvPr>
          <p:cNvSpPr>
            <a:spLocks noGrp="1"/>
          </p:cNvSpPr>
          <p:nvPr/>
        </p:nvSpPr>
        <p:spPr>
          <a:xfrm>
            <a:off x="2159000" y="51308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pp5–8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6" name="Ports deep dive">
            <a:extLst>
              <a:ext uri="{FF2B5EF4-FFF2-40B4-BE49-F238E27FC236}">
                <a16:creationId xmlns:a16="http://schemas.microsoft.com/office/drawing/2014/main" id="{E79F01C8-B6F1-659B-E077-2ABB6B2E26E0}"/>
              </a:ext>
            </a:extLst>
          </p:cNvPr>
          <p:cNvSpPr>
            <a:spLocks noGrp="1"/>
          </p:cNvSpPr>
          <p:nvPr/>
        </p:nvSpPr>
        <p:spPr>
          <a:xfrm>
            <a:off x="3987800" y="29972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p10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7" name="Inland deep dive">
            <a:extLst>
              <a:ext uri="{FF2B5EF4-FFF2-40B4-BE49-F238E27FC236}">
                <a16:creationId xmlns:a16="http://schemas.microsoft.com/office/drawing/2014/main" id="{491917A0-89D8-1547-1F46-04863CB6050F}"/>
              </a:ext>
            </a:extLst>
          </p:cNvPr>
          <p:cNvSpPr>
            <a:spLocks noGrp="1"/>
          </p:cNvSpPr>
          <p:nvPr/>
        </p:nvSpPr>
        <p:spPr>
          <a:xfrm>
            <a:off x="5664200" y="29972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lang="en-ZA" sz="800" b="1">
                <a:solidFill>
                  <a:srgbClr val="FFFFFF"/>
                </a:solidFill>
                <a:latin typeface="Lato"/>
                <a:ea typeface="Lato"/>
                <a:cs typeface="Lato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p10</a:t>
            </a:r>
            <a:endParaRPr sz="800" b="1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Deep dive legend marker">
            <a:extLst>
              <a:ext uri="{FF2B5EF4-FFF2-40B4-BE49-F238E27FC236}">
                <a16:creationId xmlns:a16="http://schemas.microsoft.com/office/drawing/2014/main" id="{8F3BA9D6-AD69-F791-95C5-458F92393FD4}"/>
              </a:ext>
            </a:extLst>
          </p:cNvPr>
          <p:cNvSpPr>
            <a:spLocks noGrp="1"/>
          </p:cNvSpPr>
          <p:nvPr/>
        </p:nvSpPr>
        <p:spPr>
          <a:xfrm>
            <a:off x="9486900" y="1219200"/>
            <a:ext cx="330200" cy="152400"/>
          </a:xfrm>
          <a:prstGeom prst="round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p.#</a:t>
            </a:r>
          </a:p>
        </p:txBody>
      </p:sp>
      <p:sp>
        <p:nvSpPr>
          <p:cNvPr id="69" name="Deep dive legend">
            <a:extLst>
              <a:ext uri="{FF2B5EF4-FFF2-40B4-BE49-F238E27FC236}">
                <a16:creationId xmlns:a16="http://schemas.microsoft.com/office/drawing/2014/main" id="{3B01CA1A-8FE5-A44A-3486-E3210E84D4D8}"/>
              </a:ext>
            </a:extLst>
          </p:cNvPr>
          <p:cNvSpPr>
            <a:spLocks noGrp="1"/>
          </p:cNvSpPr>
          <p:nvPr/>
        </p:nvSpPr>
        <p:spPr>
          <a:xfrm>
            <a:off x="9893300" y="121285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chemeClr val="dk1"/>
                </a:solidFill>
                <a:latin typeface="Lato"/>
                <a:ea typeface="Lato"/>
                <a:cs typeface="Lato"/>
              </a:rPr>
              <a:t>Deep dive on that page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brand-pptx section navigation">
            <a:extLst>
              <a:ext uri="{FF2B5EF4-FFF2-40B4-BE49-F238E27FC236}">
                <a16:creationId xmlns:a16="http://schemas.microsoft.com/office/drawing/2014/main" id="{A21C21CE-E3AA-DFBD-8C57-8D68305A3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01540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40386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graphicFrame>
        <p:nvGraphicFramePr>
          <p:cNvPr id="5011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064895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5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graphicFrame>
        <p:nvGraphicFramePr>
          <p:cNvPr id="5012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2986</Words>
  <Application>Microsoft Office PowerPoint</Application>
  <DocSecurity>0</DocSecurity>
  <PresentationFormat>Custom</PresentationFormat>
  <Paragraphs>385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Lato</vt:lpstr>
      <vt:lpstr>Vopak Theme</vt:lpstr>
      <vt:lpstr>PowerPoint Presentation</vt:lpstr>
      <vt:lpstr>South Africa’s large fuel market relies on substantial imports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Changes in refinery output alter the volume that imports must supply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Nigel Zhuwaki</cp:lastModifiedBy>
  <cp:revision>1</cp:revision>
  <dcterms:created xsi:type="dcterms:W3CDTF">2026-10-11T22:01:42Z</dcterms:created>
  <dcterms:modified xsi:type="dcterms:W3CDTF">2026-10-11T22:19:04Z</dcterms:modified>
</cp:coreProperties>
</file>