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VopakExhibitV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158875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11.475709420318</c:v>
                </c:pt>
                <c:pt idx="3">
                  <c:v>11.462252466686</c:v>
                </c:pt>
                <c:pt idx="4">
                  <c:v>11.17408298037</c:v>
                </c:pt>
                <c:pt idx="5">
                  <c:v>11.141630546702</c:v>
                </c:pt>
                <c:pt idx="6">
                  <c:v>10.773208065062</c:v>
                </c:pt>
                <c:pt idx="7">
                  <c:v>8.761470961496</c:v>
                </c:pt>
                <c:pt idx="8">
                  <c:v>9.301584227683</c:v>
                </c:pt>
                <c:pt idx="9">
                  <c:v>9.184869915573</c:v>
                </c:pt>
                <c:pt idx="10">
                  <c:v>9.036950113492</c:v>
                </c:pt>
                <c:pt idx="11">
                  <c:v>8.94590284109857</c:v>
                </c:pt>
                <c:pt idx="12">
                  <c:v>8.8557728699745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12.908631232217</c:v>
                </c:pt>
                <c:pt idx="7">
                  <c:v>11.689957759296</c:v>
                </c:pt>
                <c:pt idx="8">
                  <c:v>12.945782750435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1.39596645708743</c:v>
                </c:pt>
                <c:pt idx="1">
                  <c:v>1.40372043669139</c:v>
                </c:pt>
                <c:pt idx="2">
                  <c:v>1.40634678462176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</c:v>
                </c:pt>
                <c:pt idx="1">
                  <c:v>0.963340315350475</c:v>
                </c:pt>
                <c:pt idx="2">
                  <c:v>1.13122469823652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</c:v>
                </c:pt>
                <c:pt idx="1">
                  <c:v>0.167211107535443</c:v>
                </c:pt>
                <c:pt idx="2">
                  <c:v>0.165076180001731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1.1295</c:v>
                </c:pt>
                <c:pt idx="2">
                  <c:v>0.6791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2025 new sales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BEV</c:v>
                </c:pt>
                <c:pt idx="1">
                  <c:v>Plug-in hybrid</c:v>
                </c:pt>
                <c:pt idx="2">
                  <c:v>Conventional hybrid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1088</c:v>
                </c:pt>
                <c:pt idx="1">
                  <c:v>2810</c:v>
                </c:pt>
                <c:pt idx="2">
                  <c:v>12818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71-4A9C-9D08-603FEE1AD9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10.82816</c:v>
                </c:pt>
                <c:pt idx="1">
                  <c:v>10.457813</c:v>
                </c:pt>
                <c:pt idx="2">
                  <c:v>10.393066</c:v>
                </c:pt>
                <c:pt idx="3">
                  <c:v>9.43444</c:v>
                </c:pt>
                <c:pt idx="4">
                  <c:v>9.97456</c:v>
                </c:pt>
                <c:pt idx="5">
                  <c:v>10.424467</c:v>
                </c:pt>
                <c:pt idx="6">
                  <c:v>7.895</c:v>
                </c:pt>
                <c:pt idx="7">
                  <c:v>6.351306667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D-47DD-853A-9C05BDBF11D4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9.58774</c:v>
                </c:pt>
                <c:pt idx="1">
                  <c:v>9.368482</c:v>
                </c:pt>
                <c:pt idx="2">
                  <c:v>9.01419</c:v>
                </c:pt>
                <c:pt idx="3">
                  <c:v>7.921726</c:v>
                </c:pt>
                <c:pt idx="4">
                  <c:v>8.425262</c:v>
                </c:pt>
                <c:pt idx="5">
                  <c:v>9.080357</c:v>
                </c:pt>
                <c:pt idx="6">
                  <c:v>6.4478095</c:v>
                </c:pt>
                <c:pt idx="7">
                  <c:v>5.314964286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D-47DD-853A-9C05BDBF1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ChartSnapshot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#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#1"/>
    <dgm:cxn modelId="{02074744-DBB7-4014-8363-60EC43DBA6CD}" type="presOf" srcId="{76DF3A45-5741-4BF8-90F1-4A7020D88F3E}" destId="{9F404DEC-4EC8-4518-BE85-93B7692E5638}" srcOrd="0" destOrd="0" presId="urn:microsoft.com/office/officeart/2005/8/layout/chevron1#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#1"/>
    <dgm:cxn modelId="{C2106DF6-D6A2-49E4-BAFA-5D750DDEF7C3}" type="presOf" srcId="{EC8A132B-7A37-405A-AE61-D0A4AC9C84D4}" destId="{E56216AE-4B62-49BF-B577-95F970D228C9}" srcOrd="0" destOrd="0" presId="urn:microsoft.com/office/officeart/2005/8/layout/chevron1#1"/>
    <dgm:cxn modelId="{C8ED67F8-207C-47C2-85A0-36C82DA29F5A}" type="presOf" srcId="{87F06D40-41DD-4A2F-9F9C-1ED0B44BA962}" destId="{C17A1487-1862-4A32-B801-89B618873E04}" srcOrd="0" destOrd="0" presId="urn:microsoft.com/office/officeart/2005/8/layout/chevron1#1"/>
    <dgm:cxn modelId="{D0EFF3B6-E4F2-4B6D-A9D3-5680F8F7DDBC}" type="presParOf" srcId="{15F593F2-40E2-4653-8025-677035C3DC9D}" destId="{C4EF7803-CBF7-4F68-B5E2-A27214E782BF}" srcOrd="0" destOrd="0" presId="urn:microsoft.com/office/officeart/2005/8/layout/chevron1#1"/>
    <dgm:cxn modelId="{4DF86A96-FF9B-43FA-B523-DE662ABFEBFD}" type="presParOf" srcId="{15F593F2-40E2-4653-8025-677035C3DC9D}" destId="{7F42B213-6EC2-4A7A-98EE-FD00CE627AC2}" srcOrd="1" destOrd="0" presId="urn:microsoft.com/office/officeart/2005/8/layout/chevron1#1"/>
    <dgm:cxn modelId="{6ECCF7C3-0645-4626-A41E-BEE32AE1FD38}" type="presParOf" srcId="{15F593F2-40E2-4653-8025-677035C3DC9D}" destId="{C17A1487-1862-4A32-B801-89B618873E04}" srcOrd="2" destOrd="0" presId="urn:microsoft.com/office/officeart/2005/8/layout/chevron1#1"/>
    <dgm:cxn modelId="{E5B8DE1C-33F9-4E01-9629-46FA7E111D45}" type="presParOf" srcId="{15F593F2-40E2-4653-8025-677035C3DC9D}" destId="{4C1C00FF-9A18-4423-93D0-E6C21EE159AE}" srcOrd="3" destOrd="0" presId="urn:microsoft.com/office/officeart/2005/8/layout/chevron1#1"/>
    <dgm:cxn modelId="{51034CBE-7419-4500-8460-737D374B25E9}" type="presParOf" srcId="{15F593F2-40E2-4653-8025-677035C3DC9D}" destId="{9F404DEC-4EC8-4518-BE85-93B7692E5638}" srcOrd="4" destOrd="0" presId="urn:microsoft.com/office/officeart/2005/8/layout/chevron1#1"/>
    <dgm:cxn modelId="{5CF547D9-5245-4382-8157-6EC67EB041B9}" type="presParOf" srcId="{15F593F2-40E2-4653-8025-677035C3DC9D}" destId="{4B4707A9-14D8-4951-8914-17DD9D9F43B5}" srcOrd="5" destOrd="0" presId="urn:microsoft.com/office/officeart/2005/8/layout/chevron1#1"/>
    <dgm:cxn modelId="{C4DDF6FA-AEF9-483D-B368-FE146FCD804F}" type="presParOf" srcId="{15F593F2-40E2-4653-8025-677035C3DC9D}" destId="{E56216AE-4B62-49BF-B577-95F970D228C9}" srcOrd="6" destOrd="0" presId="urn:microsoft.com/office/officeart/2005/8/layout/chevron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2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2"/>
    <dgm:cxn modelId="{AC4F6029-1BF4-47CB-8BA5-680A584F2DDF}" type="presOf" srcId="{D5012695-E636-436E-8E3E-60550BC3080E}" destId="{54D1D34D-643C-499A-B330-F91526D1DBE8}" srcOrd="0" destOrd="0" presId="urn:microsoft.com/office/officeart/2005/8/layout/chevron1#2"/>
    <dgm:cxn modelId="{6B6CE272-F2F3-4936-B001-E499C3B681C4}" type="presOf" srcId="{8FC3E99C-7BCE-40A0-B316-2E0BBFF2573F}" destId="{EC812F4D-EF66-448A-B027-679DD9AEE63D}" srcOrd="0" destOrd="0" presId="urn:microsoft.com/office/officeart/2005/8/layout/chevron1#2"/>
    <dgm:cxn modelId="{33E33F55-80EC-484E-A613-EF53AA13C72A}" type="presOf" srcId="{66535F52-61D9-45C6-A6A4-51615B77690B}" destId="{6636E125-B383-4A9D-B027-3EFC54D58BB6}" srcOrd="0" destOrd="0" presId="urn:microsoft.com/office/officeart/2005/8/layout/chevron1#2"/>
    <dgm:cxn modelId="{5A1E9998-D021-48E7-9F22-4B7E9E7C1B1C}" type="presOf" srcId="{78F4C9A7-4E95-49A6-8310-38E561C483BA}" destId="{4BCE8E4B-4C6F-4AB8-BA87-94EBADC2C5D0}" srcOrd="0" destOrd="0" presId="urn:microsoft.com/office/officeart/2005/8/layout/chevron1#2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2"/>
    <dgm:cxn modelId="{C8ED28C5-1DD9-4885-840B-086B2A7EB6BC}" type="presParOf" srcId="{19B0610F-282C-4322-866B-0055FAF46627}" destId="{4B66681B-9D4C-436C-87BB-82E64E68F6C8}" srcOrd="1" destOrd="0" presId="urn:microsoft.com/office/officeart/2005/8/layout/chevron1#2"/>
    <dgm:cxn modelId="{032CB6FE-5464-43D9-9665-77F40DBF7861}" type="presParOf" srcId="{19B0610F-282C-4322-866B-0055FAF46627}" destId="{6636E125-B383-4A9D-B027-3EFC54D58BB6}" srcOrd="2" destOrd="0" presId="urn:microsoft.com/office/officeart/2005/8/layout/chevron1#2"/>
    <dgm:cxn modelId="{79F4CB33-4866-48D9-9DC6-0390A47EA9E6}" type="presParOf" srcId="{19B0610F-282C-4322-866B-0055FAF46627}" destId="{B7D1B483-87CF-4091-8E45-AEF05E32D037}" srcOrd="3" destOrd="0" presId="urn:microsoft.com/office/officeart/2005/8/layout/chevron1#2"/>
    <dgm:cxn modelId="{AF7401B2-4231-4570-8711-83F5617B87E6}" type="presParOf" srcId="{19B0610F-282C-4322-866B-0055FAF46627}" destId="{EC812F4D-EF66-448A-B027-679DD9AEE63D}" srcOrd="4" destOrd="0" presId="urn:microsoft.com/office/officeart/2005/8/layout/chevron1#2"/>
    <dgm:cxn modelId="{DD643616-A114-43CF-8265-2475291604A2}" type="presParOf" srcId="{19B0610F-282C-4322-866B-0055FAF46627}" destId="{AA5BB0A8-BEB9-4A1C-ADF5-7F8122850824}" srcOrd="5" destOrd="0" presId="urn:microsoft.com/office/officeart/2005/8/layout/chevron1#2"/>
    <dgm:cxn modelId="{03454C2C-BB9D-46BA-B390-3C3B24C9F4BC}" type="presParOf" srcId="{19B0610F-282C-4322-866B-0055FAF46627}" destId="{4BCE8E4B-4C6F-4AB8-BA87-94EBADC2C5D0}" srcOrd="6" destOrd="0" presId="urn:microsoft.com/office/officeart/2005/8/layout/chevron1#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#3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#3"/>
    <dgm:cxn modelId="{02074744-DBB7-4014-8363-60EC43DBA6CD}" type="presOf" srcId="{76DF3A45-5741-4BF8-90F1-4A7020D88F3E}" destId="{9F404DEC-4EC8-4518-BE85-93B7692E5638}" srcOrd="0" destOrd="0" presId="urn:microsoft.com/office/officeart/2005/8/layout/chevron1#3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#3"/>
    <dgm:cxn modelId="{C2106DF6-D6A2-49E4-BAFA-5D750DDEF7C3}" type="presOf" srcId="{EC8A132B-7A37-405A-AE61-D0A4AC9C84D4}" destId="{E56216AE-4B62-49BF-B577-95F970D228C9}" srcOrd="0" destOrd="0" presId="urn:microsoft.com/office/officeart/2005/8/layout/chevron1#3"/>
    <dgm:cxn modelId="{C8ED67F8-207C-47C2-85A0-36C82DA29F5A}" type="presOf" srcId="{87F06D40-41DD-4A2F-9F9C-1ED0B44BA962}" destId="{C17A1487-1862-4A32-B801-89B618873E04}" srcOrd="0" destOrd="0" presId="urn:microsoft.com/office/officeart/2005/8/layout/chevron1#3"/>
    <dgm:cxn modelId="{D0EFF3B6-E4F2-4B6D-A9D3-5680F8F7DDBC}" type="presParOf" srcId="{15F593F2-40E2-4653-8025-677035C3DC9D}" destId="{C4EF7803-CBF7-4F68-B5E2-A27214E782BF}" srcOrd="0" destOrd="0" presId="urn:microsoft.com/office/officeart/2005/8/layout/chevron1#3"/>
    <dgm:cxn modelId="{4DF86A96-FF9B-43FA-B523-DE662ABFEBFD}" type="presParOf" srcId="{15F593F2-40E2-4653-8025-677035C3DC9D}" destId="{7F42B213-6EC2-4A7A-98EE-FD00CE627AC2}" srcOrd="1" destOrd="0" presId="urn:microsoft.com/office/officeart/2005/8/layout/chevron1#3"/>
    <dgm:cxn modelId="{6ECCF7C3-0645-4626-A41E-BEE32AE1FD38}" type="presParOf" srcId="{15F593F2-40E2-4653-8025-677035C3DC9D}" destId="{C17A1487-1862-4A32-B801-89B618873E04}" srcOrd="2" destOrd="0" presId="urn:microsoft.com/office/officeart/2005/8/layout/chevron1#3"/>
    <dgm:cxn modelId="{E5B8DE1C-33F9-4E01-9629-46FA7E111D45}" type="presParOf" srcId="{15F593F2-40E2-4653-8025-677035C3DC9D}" destId="{4C1C00FF-9A18-4423-93D0-E6C21EE159AE}" srcOrd="3" destOrd="0" presId="urn:microsoft.com/office/officeart/2005/8/layout/chevron1#3"/>
    <dgm:cxn modelId="{51034CBE-7419-4500-8460-737D374B25E9}" type="presParOf" srcId="{15F593F2-40E2-4653-8025-677035C3DC9D}" destId="{9F404DEC-4EC8-4518-BE85-93B7692E5638}" srcOrd="4" destOrd="0" presId="urn:microsoft.com/office/officeart/2005/8/layout/chevron1#3"/>
    <dgm:cxn modelId="{5CF547D9-5245-4382-8157-6EC67EB041B9}" type="presParOf" srcId="{15F593F2-40E2-4653-8025-677035C3DC9D}" destId="{4B4707A9-14D8-4951-8914-17DD9D9F43B5}" srcOrd="5" destOrd="0" presId="urn:microsoft.com/office/officeart/2005/8/layout/chevron1#3"/>
    <dgm:cxn modelId="{C4DDF6FA-AEF9-483D-B368-FE146FCD804F}" type="presParOf" srcId="{15F593F2-40E2-4653-8025-677035C3DC9D}" destId="{E56216AE-4B62-49BF-B577-95F970D228C9}" srcOrd="6" destOrd="0" presId="urn:microsoft.com/office/officeart/2005/8/layout/chevron1#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4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4"/>
    <dgm:cxn modelId="{AC4F6029-1BF4-47CB-8BA5-680A584F2DDF}" type="presOf" srcId="{D5012695-E636-436E-8E3E-60550BC3080E}" destId="{54D1D34D-643C-499A-B330-F91526D1DBE8}" srcOrd="0" destOrd="0" presId="urn:microsoft.com/office/officeart/2005/8/layout/chevron1#4"/>
    <dgm:cxn modelId="{6B6CE272-F2F3-4936-B001-E499C3B681C4}" type="presOf" srcId="{8FC3E99C-7BCE-40A0-B316-2E0BBFF2573F}" destId="{EC812F4D-EF66-448A-B027-679DD9AEE63D}" srcOrd="0" destOrd="0" presId="urn:microsoft.com/office/officeart/2005/8/layout/chevron1#4"/>
    <dgm:cxn modelId="{33E33F55-80EC-484E-A613-EF53AA13C72A}" type="presOf" srcId="{66535F52-61D9-45C6-A6A4-51615B77690B}" destId="{6636E125-B383-4A9D-B027-3EFC54D58BB6}" srcOrd="0" destOrd="0" presId="urn:microsoft.com/office/officeart/2005/8/layout/chevron1#4"/>
    <dgm:cxn modelId="{5A1E9998-D021-48E7-9F22-4B7E9E7C1B1C}" type="presOf" srcId="{78F4C9A7-4E95-49A6-8310-38E561C483BA}" destId="{4BCE8E4B-4C6F-4AB8-BA87-94EBADC2C5D0}" srcOrd="0" destOrd="0" presId="urn:microsoft.com/office/officeart/2005/8/layout/chevron1#4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4"/>
    <dgm:cxn modelId="{C8ED28C5-1DD9-4885-840B-086B2A7EB6BC}" type="presParOf" srcId="{19B0610F-282C-4322-866B-0055FAF46627}" destId="{4B66681B-9D4C-436C-87BB-82E64E68F6C8}" srcOrd="1" destOrd="0" presId="urn:microsoft.com/office/officeart/2005/8/layout/chevron1#4"/>
    <dgm:cxn modelId="{032CB6FE-5464-43D9-9665-77F40DBF7861}" type="presParOf" srcId="{19B0610F-282C-4322-866B-0055FAF46627}" destId="{6636E125-B383-4A9D-B027-3EFC54D58BB6}" srcOrd="2" destOrd="0" presId="urn:microsoft.com/office/officeart/2005/8/layout/chevron1#4"/>
    <dgm:cxn modelId="{79F4CB33-4866-48D9-9DC6-0390A47EA9E6}" type="presParOf" srcId="{19B0610F-282C-4322-866B-0055FAF46627}" destId="{B7D1B483-87CF-4091-8E45-AEF05E32D037}" srcOrd="3" destOrd="0" presId="urn:microsoft.com/office/officeart/2005/8/layout/chevron1#4"/>
    <dgm:cxn modelId="{AF7401B2-4231-4570-8711-83F5617B87E6}" type="presParOf" srcId="{19B0610F-282C-4322-866B-0055FAF46627}" destId="{EC812F4D-EF66-448A-B027-679DD9AEE63D}" srcOrd="4" destOrd="0" presId="urn:microsoft.com/office/officeart/2005/8/layout/chevron1#4"/>
    <dgm:cxn modelId="{DD643616-A114-43CF-8265-2475291604A2}" type="presParOf" srcId="{19B0610F-282C-4322-866B-0055FAF46627}" destId="{AA5BB0A8-BEB9-4A1C-ADF5-7F8122850824}" srcOrd="5" destOrd="0" presId="urn:microsoft.com/office/officeart/2005/8/layout/chevron1#4"/>
    <dgm:cxn modelId="{03454C2C-BB9D-46BA-B390-3C3B24C9F4BC}" type="presParOf" srcId="{19B0610F-282C-4322-866B-0055FAF46627}" destId="{4BCE8E4B-4C6F-4AB8-BA87-94EBADC2C5D0}" srcOrd="6" destOrd="0" presId="urn:microsoft.com/office/officeart/2005/8/layout/chevron1#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5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5"/>
    <dgm:cxn modelId="{AC4F6029-1BF4-47CB-8BA5-680A584F2DDF}" type="presOf" srcId="{D5012695-E636-436E-8E3E-60550BC3080E}" destId="{54D1D34D-643C-499A-B330-F91526D1DBE8}" srcOrd="0" destOrd="0" presId="urn:microsoft.com/office/officeart/2005/8/layout/chevron1#5"/>
    <dgm:cxn modelId="{6B6CE272-F2F3-4936-B001-E499C3B681C4}" type="presOf" srcId="{8FC3E99C-7BCE-40A0-B316-2E0BBFF2573F}" destId="{EC812F4D-EF66-448A-B027-679DD9AEE63D}" srcOrd="0" destOrd="0" presId="urn:microsoft.com/office/officeart/2005/8/layout/chevron1#5"/>
    <dgm:cxn modelId="{33E33F55-80EC-484E-A613-EF53AA13C72A}" type="presOf" srcId="{66535F52-61D9-45C6-A6A4-51615B77690B}" destId="{6636E125-B383-4A9D-B027-3EFC54D58BB6}" srcOrd="0" destOrd="0" presId="urn:microsoft.com/office/officeart/2005/8/layout/chevron1#5"/>
    <dgm:cxn modelId="{5A1E9998-D021-48E7-9F22-4B7E9E7C1B1C}" type="presOf" srcId="{78F4C9A7-4E95-49A6-8310-38E561C483BA}" destId="{4BCE8E4B-4C6F-4AB8-BA87-94EBADC2C5D0}" srcOrd="0" destOrd="0" presId="urn:microsoft.com/office/officeart/2005/8/layout/chevron1#5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5"/>
    <dgm:cxn modelId="{C8ED28C5-1DD9-4885-840B-086B2A7EB6BC}" type="presParOf" srcId="{19B0610F-282C-4322-866B-0055FAF46627}" destId="{4B66681B-9D4C-436C-87BB-82E64E68F6C8}" srcOrd="1" destOrd="0" presId="urn:microsoft.com/office/officeart/2005/8/layout/chevron1#5"/>
    <dgm:cxn modelId="{032CB6FE-5464-43D9-9665-77F40DBF7861}" type="presParOf" srcId="{19B0610F-282C-4322-866B-0055FAF46627}" destId="{6636E125-B383-4A9D-B027-3EFC54D58BB6}" srcOrd="2" destOrd="0" presId="urn:microsoft.com/office/officeart/2005/8/layout/chevron1#5"/>
    <dgm:cxn modelId="{79F4CB33-4866-48D9-9DC6-0390A47EA9E6}" type="presParOf" srcId="{19B0610F-282C-4322-866B-0055FAF46627}" destId="{B7D1B483-87CF-4091-8E45-AEF05E32D037}" srcOrd="3" destOrd="0" presId="urn:microsoft.com/office/officeart/2005/8/layout/chevron1#5"/>
    <dgm:cxn modelId="{AF7401B2-4231-4570-8711-83F5617B87E6}" type="presParOf" srcId="{19B0610F-282C-4322-866B-0055FAF46627}" destId="{EC812F4D-EF66-448A-B027-679DD9AEE63D}" srcOrd="4" destOrd="0" presId="urn:microsoft.com/office/officeart/2005/8/layout/chevron1#5"/>
    <dgm:cxn modelId="{DD643616-A114-43CF-8265-2475291604A2}" type="presParOf" srcId="{19B0610F-282C-4322-866B-0055FAF46627}" destId="{AA5BB0A8-BEB9-4A1C-ADF5-7F8122850824}" srcOrd="5" destOrd="0" presId="urn:microsoft.com/office/officeart/2005/8/layout/chevron1#5"/>
    <dgm:cxn modelId="{03454C2C-BB9D-46BA-B390-3C3B24C9F4BC}" type="presParOf" srcId="{19B0610F-282C-4322-866B-0055FAF46627}" destId="{4BCE8E4B-4C6F-4AB8-BA87-94EBADC2C5D0}" srcOrd="6" destOrd="0" presId="urn:microsoft.com/office/officeart/2005/8/layout/chevron1#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6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6"/>
    <dgm:cxn modelId="{AC4F6029-1BF4-47CB-8BA5-680A584F2DDF}" type="presOf" srcId="{D5012695-E636-436E-8E3E-60550BC3080E}" destId="{54D1D34D-643C-499A-B330-F91526D1DBE8}" srcOrd="0" destOrd="0" presId="urn:microsoft.com/office/officeart/2005/8/layout/chevron1#6"/>
    <dgm:cxn modelId="{6B6CE272-F2F3-4936-B001-E499C3B681C4}" type="presOf" srcId="{8FC3E99C-7BCE-40A0-B316-2E0BBFF2573F}" destId="{EC812F4D-EF66-448A-B027-679DD9AEE63D}" srcOrd="0" destOrd="0" presId="urn:microsoft.com/office/officeart/2005/8/layout/chevron1#6"/>
    <dgm:cxn modelId="{33E33F55-80EC-484E-A613-EF53AA13C72A}" type="presOf" srcId="{66535F52-61D9-45C6-A6A4-51615B77690B}" destId="{6636E125-B383-4A9D-B027-3EFC54D58BB6}" srcOrd="0" destOrd="0" presId="urn:microsoft.com/office/officeart/2005/8/layout/chevron1#6"/>
    <dgm:cxn modelId="{5A1E9998-D021-48E7-9F22-4B7E9E7C1B1C}" type="presOf" srcId="{78F4C9A7-4E95-49A6-8310-38E561C483BA}" destId="{4BCE8E4B-4C6F-4AB8-BA87-94EBADC2C5D0}" srcOrd="0" destOrd="0" presId="urn:microsoft.com/office/officeart/2005/8/layout/chevron1#6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6"/>
    <dgm:cxn modelId="{C8ED28C5-1DD9-4885-840B-086B2A7EB6BC}" type="presParOf" srcId="{19B0610F-282C-4322-866B-0055FAF46627}" destId="{4B66681B-9D4C-436C-87BB-82E64E68F6C8}" srcOrd="1" destOrd="0" presId="urn:microsoft.com/office/officeart/2005/8/layout/chevron1#6"/>
    <dgm:cxn modelId="{032CB6FE-5464-43D9-9665-77F40DBF7861}" type="presParOf" srcId="{19B0610F-282C-4322-866B-0055FAF46627}" destId="{6636E125-B383-4A9D-B027-3EFC54D58BB6}" srcOrd="2" destOrd="0" presId="urn:microsoft.com/office/officeart/2005/8/layout/chevron1#6"/>
    <dgm:cxn modelId="{79F4CB33-4866-48D9-9DC6-0390A47EA9E6}" type="presParOf" srcId="{19B0610F-282C-4322-866B-0055FAF46627}" destId="{B7D1B483-87CF-4091-8E45-AEF05E32D037}" srcOrd="3" destOrd="0" presId="urn:microsoft.com/office/officeart/2005/8/layout/chevron1#6"/>
    <dgm:cxn modelId="{AF7401B2-4231-4570-8711-83F5617B87E6}" type="presParOf" srcId="{19B0610F-282C-4322-866B-0055FAF46627}" destId="{EC812F4D-EF66-448A-B027-679DD9AEE63D}" srcOrd="4" destOrd="0" presId="urn:microsoft.com/office/officeart/2005/8/layout/chevron1#6"/>
    <dgm:cxn modelId="{DD643616-A114-43CF-8265-2475291604A2}" type="presParOf" srcId="{19B0610F-282C-4322-866B-0055FAF46627}" destId="{AA5BB0A8-BEB9-4A1C-ADF5-7F8122850824}" srcOrd="5" destOrd="0" presId="urn:microsoft.com/office/officeart/2005/8/layout/chevron1#6"/>
    <dgm:cxn modelId="{03454C2C-BB9D-46BA-B390-3C3B24C9F4BC}" type="presParOf" srcId="{19B0610F-282C-4322-866B-0055FAF46627}" destId="{4BCE8E4B-4C6F-4AB8-BA87-94EBADC2C5D0}" srcOrd="6" destOrd="0" presId="urn:microsoft.com/office/officeart/2005/8/layout/chevron1#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7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7"/>
    <dgm:cxn modelId="{AC4F6029-1BF4-47CB-8BA5-680A584F2DDF}" type="presOf" srcId="{D5012695-E636-436E-8E3E-60550BC3080E}" destId="{54D1D34D-643C-499A-B330-F91526D1DBE8}" srcOrd="0" destOrd="0" presId="urn:microsoft.com/office/officeart/2005/8/layout/chevron1#7"/>
    <dgm:cxn modelId="{6B6CE272-F2F3-4936-B001-E499C3B681C4}" type="presOf" srcId="{8FC3E99C-7BCE-40A0-B316-2E0BBFF2573F}" destId="{EC812F4D-EF66-448A-B027-679DD9AEE63D}" srcOrd="0" destOrd="0" presId="urn:microsoft.com/office/officeart/2005/8/layout/chevron1#7"/>
    <dgm:cxn modelId="{33E33F55-80EC-484E-A613-EF53AA13C72A}" type="presOf" srcId="{66535F52-61D9-45C6-A6A4-51615B77690B}" destId="{6636E125-B383-4A9D-B027-3EFC54D58BB6}" srcOrd="0" destOrd="0" presId="urn:microsoft.com/office/officeart/2005/8/layout/chevron1#7"/>
    <dgm:cxn modelId="{5A1E9998-D021-48E7-9F22-4B7E9E7C1B1C}" type="presOf" srcId="{78F4C9A7-4E95-49A6-8310-38E561C483BA}" destId="{4BCE8E4B-4C6F-4AB8-BA87-94EBADC2C5D0}" srcOrd="0" destOrd="0" presId="urn:microsoft.com/office/officeart/2005/8/layout/chevron1#7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7"/>
    <dgm:cxn modelId="{C8ED28C5-1DD9-4885-840B-086B2A7EB6BC}" type="presParOf" srcId="{19B0610F-282C-4322-866B-0055FAF46627}" destId="{4B66681B-9D4C-436C-87BB-82E64E68F6C8}" srcOrd="1" destOrd="0" presId="urn:microsoft.com/office/officeart/2005/8/layout/chevron1#7"/>
    <dgm:cxn modelId="{032CB6FE-5464-43D9-9665-77F40DBF7861}" type="presParOf" srcId="{19B0610F-282C-4322-866B-0055FAF46627}" destId="{6636E125-B383-4A9D-B027-3EFC54D58BB6}" srcOrd="2" destOrd="0" presId="urn:microsoft.com/office/officeart/2005/8/layout/chevron1#7"/>
    <dgm:cxn modelId="{79F4CB33-4866-48D9-9DC6-0390A47EA9E6}" type="presParOf" srcId="{19B0610F-282C-4322-866B-0055FAF46627}" destId="{B7D1B483-87CF-4091-8E45-AEF05E32D037}" srcOrd="3" destOrd="0" presId="urn:microsoft.com/office/officeart/2005/8/layout/chevron1#7"/>
    <dgm:cxn modelId="{AF7401B2-4231-4570-8711-83F5617B87E6}" type="presParOf" srcId="{19B0610F-282C-4322-866B-0055FAF46627}" destId="{EC812F4D-EF66-448A-B027-679DD9AEE63D}" srcOrd="4" destOrd="0" presId="urn:microsoft.com/office/officeart/2005/8/layout/chevron1#7"/>
    <dgm:cxn modelId="{DD643616-A114-43CF-8265-2475291604A2}" type="presParOf" srcId="{19B0610F-282C-4322-866B-0055FAF46627}" destId="{AA5BB0A8-BEB9-4A1C-ADF5-7F8122850824}" srcOrd="5" destOrd="0" presId="urn:microsoft.com/office/officeart/2005/8/layout/chevron1#7"/>
    <dgm:cxn modelId="{03454C2C-BB9D-46BA-B390-3C3B24C9F4BC}" type="presParOf" srcId="{19B0610F-282C-4322-866B-0055FAF46627}" destId="{4BCE8E4B-4C6F-4AB8-BA87-94EBADC2C5D0}" srcOrd="6" destOrd="0" presId="urn:microsoft.com/office/officeart/2005/8/layout/chevron1#7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8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8"/>
    <dgm:cxn modelId="{AC4F6029-1BF4-47CB-8BA5-680A584F2DDF}" type="presOf" srcId="{D5012695-E636-436E-8E3E-60550BC3080E}" destId="{54D1D34D-643C-499A-B330-F91526D1DBE8}" srcOrd="0" destOrd="0" presId="urn:microsoft.com/office/officeart/2005/8/layout/chevron1#8"/>
    <dgm:cxn modelId="{6B6CE272-F2F3-4936-B001-E499C3B681C4}" type="presOf" srcId="{8FC3E99C-7BCE-40A0-B316-2E0BBFF2573F}" destId="{EC812F4D-EF66-448A-B027-679DD9AEE63D}" srcOrd="0" destOrd="0" presId="urn:microsoft.com/office/officeart/2005/8/layout/chevron1#8"/>
    <dgm:cxn modelId="{33E33F55-80EC-484E-A613-EF53AA13C72A}" type="presOf" srcId="{66535F52-61D9-45C6-A6A4-51615B77690B}" destId="{6636E125-B383-4A9D-B027-3EFC54D58BB6}" srcOrd="0" destOrd="0" presId="urn:microsoft.com/office/officeart/2005/8/layout/chevron1#8"/>
    <dgm:cxn modelId="{5A1E9998-D021-48E7-9F22-4B7E9E7C1B1C}" type="presOf" srcId="{78F4C9A7-4E95-49A6-8310-38E561C483BA}" destId="{4BCE8E4B-4C6F-4AB8-BA87-94EBADC2C5D0}" srcOrd="0" destOrd="0" presId="urn:microsoft.com/office/officeart/2005/8/layout/chevron1#8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8"/>
    <dgm:cxn modelId="{C8ED28C5-1DD9-4885-840B-086B2A7EB6BC}" type="presParOf" srcId="{19B0610F-282C-4322-866B-0055FAF46627}" destId="{4B66681B-9D4C-436C-87BB-82E64E68F6C8}" srcOrd="1" destOrd="0" presId="urn:microsoft.com/office/officeart/2005/8/layout/chevron1#8"/>
    <dgm:cxn modelId="{032CB6FE-5464-43D9-9665-77F40DBF7861}" type="presParOf" srcId="{19B0610F-282C-4322-866B-0055FAF46627}" destId="{6636E125-B383-4A9D-B027-3EFC54D58BB6}" srcOrd="2" destOrd="0" presId="urn:microsoft.com/office/officeart/2005/8/layout/chevron1#8"/>
    <dgm:cxn modelId="{79F4CB33-4866-48D9-9DC6-0390A47EA9E6}" type="presParOf" srcId="{19B0610F-282C-4322-866B-0055FAF46627}" destId="{B7D1B483-87CF-4091-8E45-AEF05E32D037}" srcOrd="3" destOrd="0" presId="urn:microsoft.com/office/officeart/2005/8/layout/chevron1#8"/>
    <dgm:cxn modelId="{AF7401B2-4231-4570-8711-83F5617B87E6}" type="presParOf" srcId="{19B0610F-282C-4322-866B-0055FAF46627}" destId="{EC812F4D-EF66-448A-B027-679DD9AEE63D}" srcOrd="4" destOrd="0" presId="urn:microsoft.com/office/officeart/2005/8/layout/chevron1#8"/>
    <dgm:cxn modelId="{DD643616-A114-43CF-8265-2475291604A2}" type="presParOf" srcId="{19B0610F-282C-4322-866B-0055FAF46627}" destId="{AA5BB0A8-BEB9-4A1C-ADF5-7F8122850824}" srcOrd="5" destOrd="0" presId="urn:microsoft.com/office/officeart/2005/8/layout/chevron1#8"/>
    <dgm:cxn modelId="{03454C2C-BB9D-46BA-B390-3C3B24C9F4BC}" type="presParOf" srcId="{19B0610F-282C-4322-866B-0055FAF46627}" destId="{4BCE8E4B-4C6F-4AB8-BA87-94EBADC2C5D0}" srcOrd="6" destOrd="0" presId="urn:microsoft.com/office/officeart/2005/8/layout/chevron1#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9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9"/>
    <dgm:cxn modelId="{AC4F6029-1BF4-47CB-8BA5-680A584F2DDF}" type="presOf" srcId="{D5012695-E636-436E-8E3E-60550BC3080E}" destId="{54D1D34D-643C-499A-B330-F91526D1DBE8}" srcOrd="0" destOrd="0" presId="urn:microsoft.com/office/officeart/2005/8/layout/chevron1#9"/>
    <dgm:cxn modelId="{6B6CE272-F2F3-4936-B001-E499C3B681C4}" type="presOf" srcId="{8FC3E99C-7BCE-40A0-B316-2E0BBFF2573F}" destId="{EC812F4D-EF66-448A-B027-679DD9AEE63D}" srcOrd="0" destOrd="0" presId="urn:microsoft.com/office/officeart/2005/8/layout/chevron1#9"/>
    <dgm:cxn modelId="{33E33F55-80EC-484E-A613-EF53AA13C72A}" type="presOf" srcId="{66535F52-61D9-45C6-A6A4-51615B77690B}" destId="{6636E125-B383-4A9D-B027-3EFC54D58BB6}" srcOrd="0" destOrd="0" presId="urn:microsoft.com/office/officeart/2005/8/layout/chevron1#9"/>
    <dgm:cxn modelId="{5A1E9998-D021-48E7-9F22-4B7E9E7C1B1C}" type="presOf" srcId="{78F4C9A7-4E95-49A6-8310-38E561C483BA}" destId="{4BCE8E4B-4C6F-4AB8-BA87-94EBADC2C5D0}" srcOrd="0" destOrd="0" presId="urn:microsoft.com/office/officeart/2005/8/layout/chevron1#9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9"/>
    <dgm:cxn modelId="{C8ED28C5-1DD9-4885-840B-086B2A7EB6BC}" type="presParOf" srcId="{19B0610F-282C-4322-866B-0055FAF46627}" destId="{4B66681B-9D4C-436C-87BB-82E64E68F6C8}" srcOrd="1" destOrd="0" presId="urn:microsoft.com/office/officeart/2005/8/layout/chevron1#9"/>
    <dgm:cxn modelId="{032CB6FE-5464-43D9-9665-77F40DBF7861}" type="presParOf" srcId="{19B0610F-282C-4322-866B-0055FAF46627}" destId="{6636E125-B383-4A9D-B027-3EFC54D58BB6}" srcOrd="2" destOrd="0" presId="urn:microsoft.com/office/officeart/2005/8/layout/chevron1#9"/>
    <dgm:cxn modelId="{79F4CB33-4866-48D9-9DC6-0390A47EA9E6}" type="presParOf" srcId="{19B0610F-282C-4322-866B-0055FAF46627}" destId="{B7D1B483-87CF-4091-8E45-AEF05E32D037}" srcOrd="3" destOrd="0" presId="urn:microsoft.com/office/officeart/2005/8/layout/chevron1#9"/>
    <dgm:cxn modelId="{AF7401B2-4231-4570-8711-83F5617B87E6}" type="presParOf" srcId="{19B0610F-282C-4322-866B-0055FAF46627}" destId="{EC812F4D-EF66-448A-B027-679DD9AEE63D}" srcOrd="4" destOrd="0" presId="urn:microsoft.com/office/officeart/2005/8/layout/chevron1#9"/>
    <dgm:cxn modelId="{DD643616-A114-43CF-8265-2475291604A2}" type="presParOf" srcId="{19B0610F-282C-4322-866B-0055FAF46627}" destId="{AA5BB0A8-BEB9-4A1C-ADF5-7F8122850824}" srcOrd="5" destOrd="0" presId="urn:microsoft.com/office/officeart/2005/8/layout/chevron1#9"/>
    <dgm:cxn modelId="{03454C2C-BB9D-46BA-B390-3C3B24C9F4BC}" type="presParOf" srcId="{19B0610F-282C-4322-866B-0055FAF46627}" destId="{4BCE8E4B-4C6F-4AB8-BA87-94EBADC2C5D0}" srcOrd="6" destOrd="0" presId="urn:microsoft.com/office/officeart/2005/8/layout/chevron1#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#10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#10"/>
    <dgm:cxn modelId="{5F8D4429-3512-4733-9D28-C39DEC6D5A46}" type="presOf" srcId="{09E83A0D-6FEF-41DF-A1A8-06E9FFC85F71}" destId="{E9EC313E-C07D-4024-9AF7-7BAA82F22646}" srcOrd="0" destOrd="0" presId="urn:microsoft.com/office/officeart/2005/8/layout/chevron1#10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#10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#10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#10"/>
    <dgm:cxn modelId="{FDC2920E-D462-4099-AAD9-7061DA75790D}" type="presParOf" srcId="{AFDF9144-0890-4741-9012-683715D91BA8}" destId="{E9EC313E-C07D-4024-9AF7-7BAA82F22646}" srcOrd="0" destOrd="0" presId="urn:microsoft.com/office/officeart/2005/8/layout/chevron1#10"/>
    <dgm:cxn modelId="{BE9CD0F0-86E3-473D-ACC0-0A1CDB83D02D}" type="presParOf" srcId="{AFDF9144-0890-4741-9012-683715D91BA8}" destId="{1254BCE1-0659-4C9C-A343-41153979CEE1}" srcOrd="1" destOrd="0" presId="urn:microsoft.com/office/officeart/2005/8/layout/chevron1#10"/>
    <dgm:cxn modelId="{23C3C8E6-6442-4A61-9F3C-66FB5F60C029}" type="presParOf" srcId="{AFDF9144-0890-4741-9012-683715D91BA8}" destId="{4F9DEA38-A8FA-418A-B139-308095C75DE5}" srcOrd="2" destOrd="0" presId="urn:microsoft.com/office/officeart/2005/8/layout/chevron1#10"/>
    <dgm:cxn modelId="{ECF28035-C4C2-4F0A-91A6-54605395BB01}" type="presParOf" srcId="{AFDF9144-0890-4741-9012-683715D91BA8}" destId="{F32AF327-A8A7-42ED-9A3A-FD065AEF35CC}" srcOrd="3" destOrd="0" presId="urn:microsoft.com/office/officeart/2005/8/layout/chevron1#10"/>
    <dgm:cxn modelId="{1EA5E5A7-6379-4647-82EB-47293F901444}" type="presParOf" srcId="{AFDF9144-0890-4741-9012-683715D91BA8}" destId="{DB2DC495-4888-4FB0-8E56-94B7ED74FA00}" srcOrd="4" destOrd="0" presId="urn:microsoft.com/office/officeart/2005/8/layout/chevron1#10"/>
    <dgm:cxn modelId="{05C2C0AF-C649-43A1-9660-BD856B630B95}" type="presParOf" srcId="{AFDF9144-0890-4741-9012-683715D91BA8}" destId="{3128D3E7-1249-4292-B711-881F04FEB888}" srcOrd="5" destOrd="0" presId="urn:microsoft.com/office/officeart/2005/8/layout/chevron1#10"/>
    <dgm:cxn modelId="{39A0DD8E-E4B6-47DF-81A2-0B69F2B95DCA}" type="presParOf" srcId="{AFDF9144-0890-4741-9012-683715D91BA8}" destId="{89AA18CC-6C77-44F3-85A7-38695F314F32}" srcOrd="6" destOrd="0" presId="urn:microsoft.com/office/officeart/2005/8/layout/chevron1#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#10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#10"/>
    <dgm:cxn modelId="{5F8D4429-3512-4733-9D28-C39DEC6D5A46}" type="presOf" srcId="{09E83A0D-6FEF-41DF-A1A8-06E9FFC85F71}" destId="{E9EC313E-C07D-4024-9AF7-7BAA82F22646}" srcOrd="0" destOrd="0" presId="urn:microsoft.com/office/officeart/2005/8/layout/chevron1#10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#10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#10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#10"/>
    <dgm:cxn modelId="{FDC2920E-D462-4099-AAD9-7061DA75790D}" type="presParOf" srcId="{AFDF9144-0890-4741-9012-683715D91BA8}" destId="{E9EC313E-C07D-4024-9AF7-7BAA82F22646}" srcOrd="0" destOrd="0" presId="urn:microsoft.com/office/officeart/2005/8/layout/chevron1#10"/>
    <dgm:cxn modelId="{BE9CD0F0-86E3-473D-ACC0-0A1CDB83D02D}" type="presParOf" srcId="{AFDF9144-0890-4741-9012-683715D91BA8}" destId="{1254BCE1-0659-4C9C-A343-41153979CEE1}" srcOrd="1" destOrd="0" presId="urn:microsoft.com/office/officeart/2005/8/layout/chevron1#10"/>
    <dgm:cxn modelId="{23C3C8E6-6442-4A61-9F3C-66FB5F60C029}" type="presParOf" srcId="{AFDF9144-0890-4741-9012-683715D91BA8}" destId="{4F9DEA38-A8FA-418A-B139-308095C75DE5}" srcOrd="2" destOrd="0" presId="urn:microsoft.com/office/officeart/2005/8/layout/chevron1#10"/>
    <dgm:cxn modelId="{ECF28035-C4C2-4F0A-91A6-54605395BB01}" type="presParOf" srcId="{AFDF9144-0890-4741-9012-683715D91BA8}" destId="{F32AF327-A8A7-42ED-9A3A-FD065AEF35CC}" srcOrd="3" destOrd="0" presId="urn:microsoft.com/office/officeart/2005/8/layout/chevron1#10"/>
    <dgm:cxn modelId="{1EA5E5A7-6379-4647-82EB-47293F901444}" type="presParOf" srcId="{AFDF9144-0890-4741-9012-683715D91BA8}" destId="{DB2DC495-4888-4FB0-8E56-94B7ED74FA00}" srcOrd="4" destOrd="0" presId="urn:microsoft.com/office/officeart/2005/8/layout/chevron1#10"/>
    <dgm:cxn modelId="{05C2C0AF-C649-43A1-9660-BD856B630B95}" type="presParOf" srcId="{AFDF9144-0890-4741-9012-683715D91BA8}" destId="{3128D3E7-1249-4292-B711-881F04FEB888}" srcOrd="5" destOrd="0" presId="urn:microsoft.com/office/officeart/2005/8/layout/chevron1#10"/>
    <dgm:cxn modelId="{39A0DD8E-E4B6-47DF-81A2-0B69F2B95DCA}" type="presParOf" srcId="{AFDF9144-0890-4741-9012-683715D91BA8}" destId="{89AA18CC-6C77-44F3-85A7-38695F314F32}" srcOrd="6" destOrd="0" presId="urn:microsoft.com/office/officeart/2005/8/layout/chevron1#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#1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#11"/>
    <dgm:cxn modelId="{5F8D4429-3512-4733-9D28-C39DEC6D5A46}" type="presOf" srcId="{09E83A0D-6FEF-41DF-A1A8-06E9FFC85F71}" destId="{E9EC313E-C07D-4024-9AF7-7BAA82F22646}" srcOrd="0" destOrd="0" presId="urn:microsoft.com/office/officeart/2005/8/layout/chevron1#1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#1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#1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#11"/>
    <dgm:cxn modelId="{FDC2920E-D462-4099-AAD9-7061DA75790D}" type="presParOf" srcId="{AFDF9144-0890-4741-9012-683715D91BA8}" destId="{E9EC313E-C07D-4024-9AF7-7BAA82F22646}" srcOrd="0" destOrd="0" presId="urn:microsoft.com/office/officeart/2005/8/layout/chevron1#11"/>
    <dgm:cxn modelId="{BE9CD0F0-86E3-473D-ACC0-0A1CDB83D02D}" type="presParOf" srcId="{AFDF9144-0890-4741-9012-683715D91BA8}" destId="{1254BCE1-0659-4C9C-A343-41153979CEE1}" srcOrd="1" destOrd="0" presId="urn:microsoft.com/office/officeart/2005/8/layout/chevron1#11"/>
    <dgm:cxn modelId="{23C3C8E6-6442-4A61-9F3C-66FB5F60C029}" type="presParOf" srcId="{AFDF9144-0890-4741-9012-683715D91BA8}" destId="{4F9DEA38-A8FA-418A-B139-308095C75DE5}" srcOrd="2" destOrd="0" presId="urn:microsoft.com/office/officeart/2005/8/layout/chevron1#11"/>
    <dgm:cxn modelId="{ECF28035-C4C2-4F0A-91A6-54605395BB01}" type="presParOf" srcId="{AFDF9144-0890-4741-9012-683715D91BA8}" destId="{F32AF327-A8A7-42ED-9A3A-FD065AEF35CC}" srcOrd="3" destOrd="0" presId="urn:microsoft.com/office/officeart/2005/8/layout/chevron1#11"/>
    <dgm:cxn modelId="{1EA5E5A7-6379-4647-82EB-47293F901444}" type="presParOf" srcId="{AFDF9144-0890-4741-9012-683715D91BA8}" destId="{DB2DC495-4888-4FB0-8E56-94B7ED74FA00}" srcOrd="4" destOrd="0" presId="urn:microsoft.com/office/officeart/2005/8/layout/chevron1#11"/>
    <dgm:cxn modelId="{05C2C0AF-C649-43A1-9660-BD856B630B95}" type="presParOf" srcId="{AFDF9144-0890-4741-9012-683715D91BA8}" destId="{3128D3E7-1249-4292-B711-881F04FEB888}" srcOrd="5" destOrd="0" presId="urn:microsoft.com/office/officeart/2005/8/layout/chevron1#11"/>
    <dgm:cxn modelId="{39A0DD8E-E4B6-47DF-81A2-0B69F2B95DCA}" type="presParOf" srcId="{AFDF9144-0890-4741-9012-683715D91BA8}" destId="{89AA18CC-6C77-44F3-85A7-38695F314F32}" srcOrd="6" destOrd="0" presId="urn:microsoft.com/office/officeart/2005/8/layout/chevron1#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4941" y="0"/>
          <a:ext cx="2876453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4941" y="0"/>
        <a:ext cx="2819760" cy="283464"/>
      </dsp:txXfrm>
    </dsp:sp>
    <dsp:sp modelId="{6636E125-B383-4A9D-B027-3EFC54D58BB6}">
      <dsp:nvSpPr>
        <dsp:cNvPr id="0" name=""/>
        <dsp:cNvSpPr/>
      </dsp:nvSpPr>
      <dsp:spPr>
        <a:xfrm>
          <a:off x="2593749" y="0"/>
          <a:ext cx="2876453" cy="283464"/>
        </a:xfrm>
        <a:prstGeom prst="chevron">
          <a:avLst/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5481" y="0"/>
        <a:ext cx="2592989" cy="283464"/>
      </dsp:txXfrm>
    </dsp:sp>
    <dsp:sp modelId="{EC812F4D-EF66-448A-B027-679DD9AEE63D}">
      <dsp:nvSpPr>
        <dsp:cNvPr id="0" name=""/>
        <dsp:cNvSpPr/>
      </dsp:nvSpPr>
      <dsp:spPr>
        <a:xfrm>
          <a:off x="5182557" y="0"/>
          <a:ext cx="2876453" cy="283464"/>
        </a:xfrm>
        <a:prstGeom prst="chevron">
          <a:avLst/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324289" y="0"/>
        <a:ext cx="2592989" cy="283464"/>
      </dsp:txXfrm>
    </dsp:sp>
    <dsp:sp modelId="{4BCE8E4B-4C6F-4AB8-BA87-94EBADC2C5D0}">
      <dsp:nvSpPr>
        <dsp:cNvPr id="0" name=""/>
        <dsp:cNvSpPr/>
      </dsp:nvSpPr>
      <dsp:spPr>
        <a:xfrm>
          <a:off x="7771365" y="0"/>
          <a:ext cx="2876453" cy="283464"/>
        </a:xfrm>
        <a:prstGeom prst="chevron">
          <a:avLst/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7913097" y="0"/>
        <a:ext cx="2592989" cy="2834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#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#2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#3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#4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#5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#6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#7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#8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#9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#10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#10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#1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532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VopakExhibitV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VopakExhibitV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Vopak Exhibit + Commentary v1">
  <p:cSld name="Vopak Exhibit + Commentary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VopakExhibitV1" Type="http://schemas.openxmlformats.org/officeDocument/2006/relationships/slideLayout" Target="../slideLayouts/slideLayoutVopakExhibitV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VopakExhibitV1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diagramColors" Target="../diagrams/colors2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7.xml"/><Relationship Id="rId11" Type="http://schemas.openxmlformats.org/officeDocument/2006/relationships/diagramLayout" Target="../diagrams/layout2.xml"/><Relationship Id="rId5" Type="http://schemas.openxmlformats.org/officeDocument/2006/relationships/slide" Target="slide6.xml"/><Relationship Id="rId10" Type="http://schemas.openxmlformats.org/officeDocument/2006/relationships/diagramData" Target="../diagrams/data2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microsoft.com/office/2007/relationships/diagramDrawing" Target="../diagrams/drawing2.xml"/></Relationships>
</file>

<file path=ppt/slides/_rels/slide4.xml.rels><?xml version='1.0' encoding='UTF-8' standalone='yes'?>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chart" Target="../charts/chart1.xml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VopakExhibitV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'1.0' encoding='UTF-8' standalone='yes'?>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chart" Target="../charts/chart2.xml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VopakExhibitV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'1.0' encoding='UTF-8' standalone='yes'?>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chart" Target="../charts/chart3.xml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VopakExhibitV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'1.0' encoding='UTF-8' standalone='yes'?>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chart" Target="../charts/chart4.xml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VopakExhibitV1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'1.0' encoding='UTF-8' standalone='yes'?>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chart" Target="../charts/chart5.xml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VopakExhibitV1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'1.0' encoding='UTF-8' standalone='yes'?>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VopakExhibitV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'1.0' encoding='UTF-8' standalone='yes'?>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VopakExhibitV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large fuel market relies on substantial imports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national sales; SARS 2025 trade; analytical workbook v02. 2025 demand is estimated; 5.8bn L production is a planning assumption. Gross import need includes exports and assumes no stock change.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S metric 0">
            <a:extLst>
              <a:ext uri="{FF2B5EF4-FFF2-40B4-BE49-F238E27FC236}">
                <a16:creationId xmlns:a16="http://schemas.microsoft.com/office/drawing/2014/main" id="{385448C1-FE78-4C12-98C9-6D268049824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21.0bn L</a:t>
            </a:r>
          </a:p>
        </p:txBody>
      </p:sp>
      <p:sp>
        <p:nvSpPr>
          <p:cNvPr id="50" name="S label 0">
            <a:extLst>
              <a:ext uri="{FF2B5EF4-FFF2-40B4-BE49-F238E27FC236}">
                <a16:creationId xmlns:a16="http://schemas.microsoft.com/office/drawing/2014/main" id="{9C6651FD-6BF7-491B-BA51-4834A8C23894}"/>
              </a:ext>
            </a:extLst>
          </p:cNvPr>
          <p:cNvSpPr>
            <a:spLocks noGrp="1"/>
          </p:cNvSpPr>
          <p:nvPr/>
        </p:nvSpPr>
        <p:spPr>
          <a:xfrm>
            <a:off x="457200" y="2419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demand, 2025</a:t>
            </a:r>
          </a:p>
        </p:txBody>
      </p:sp>
      <p:sp>
        <p:nvSpPr>
          <p:cNvPr id="51" name="S detail 0">
            <a:extLst>
              <a:ext uri="{FF2B5EF4-FFF2-40B4-BE49-F238E27FC236}">
                <a16:creationId xmlns:a16="http://schemas.microsoft.com/office/drawing/2014/main" id="{EB4118C7-F97E-4678-BEAD-14AE07BEC130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8.9bn petrol and 12.1bn diesel</a:t>
            </a:r>
          </a:p>
        </p:txBody>
      </p:sp>
      <p:sp>
        <p:nvSpPr>
          <p:cNvPr id="52" name="S metric rule 0">
            <a:extLst>
              <a:ext uri="{FF2B5EF4-FFF2-40B4-BE49-F238E27FC236}">
                <a16:creationId xmlns:a16="http://schemas.microsoft.com/office/drawing/2014/main" id="{1CFA08B3-8079-40AE-8C8A-B83AAC26BA9D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33337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S metric 1">
            <a:extLst>
              <a:ext uri="{FF2B5EF4-FFF2-40B4-BE49-F238E27FC236}">
                <a16:creationId xmlns:a16="http://schemas.microsoft.com/office/drawing/2014/main" id="{98A97C7C-9C42-4DC2-A26A-8F2719D5017E}"/>
              </a:ext>
            </a:extLst>
          </p:cNvPr>
          <p:cNvSpPr>
            <a:spLocks noGrp="1"/>
          </p:cNvSpPr>
          <p:nvPr/>
        </p:nvSpPr>
        <p:spPr>
          <a:xfrm>
            <a:off x="4076700" y="175260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5.8bn L</a:t>
            </a:r>
          </a:p>
        </p:txBody>
      </p:sp>
      <p:sp>
        <p:nvSpPr>
          <p:cNvPr id="54" name="S label 1">
            <a:extLst>
              <a:ext uri="{FF2B5EF4-FFF2-40B4-BE49-F238E27FC236}">
                <a16:creationId xmlns:a16="http://schemas.microsoft.com/office/drawing/2014/main" id="{2E63E327-1663-4F04-8F58-D4129ABE7AF2}"/>
              </a:ext>
            </a:extLst>
          </p:cNvPr>
          <p:cNvSpPr>
            <a:spLocks noGrp="1"/>
          </p:cNvSpPr>
          <p:nvPr/>
        </p:nvSpPr>
        <p:spPr>
          <a:xfrm>
            <a:off x="4076700" y="2419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Domestic production assumption</a:t>
            </a:r>
          </a:p>
        </p:txBody>
      </p:sp>
      <p:sp>
        <p:nvSpPr>
          <p:cNvPr id="55" name="S detail 1">
            <a:extLst>
              <a:ext uri="{FF2B5EF4-FFF2-40B4-BE49-F238E27FC236}">
                <a16:creationId xmlns:a16="http://schemas.microsoft.com/office/drawing/2014/main" id="{85B18B7E-1771-4005-BA84-A335F091E8BD}"/>
              </a:ext>
            </a:extLst>
          </p:cNvPr>
          <p:cNvSpPr>
            <a:spLocks noGrp="1"/>
          </p:cNvSpPr>
          <p:nvPr/>
        </p:nvSpPr>
        <p:spPr>
          <a:xfrm>
            <a:off x="4076700" y="28384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National planning baseline</a:t>
            </a:r>
          </a:p>
        </p:txBody>
      </p:sp>
      <p:sp>
        <p:nvSpPr>
          <p:cNvPr id="56" name="S metric rule 1">
            <a:extLst>
              <a:ext uri="{FF2B5EF4-FFF2-40B4-BE49-F238E27FC236}">
                <a16:creationId xmlns:a16="http://schemas.microsoft.com/office/drawing/2014/main" id="{8B68512C-A8E0-44B5-A1BB-994E6A11880B}"/>
              </a:ext>
            </a:extLst>
          </p:cNvPr>
          <p:cNvSpPr>
            <a:spLocks noGrp="1"/>
          </p:cNvSpPr>
          <p:nvPr/>
        </p:nvSpPr>
        <p:spPr>
          <a:xfrm>
            <a:off x="4076700" y="3429000"/>
            <a:ext cx="33337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7" name="S metric 2">
            <a:extLst>
              <a:ext uri="{FF2B5EF4-FFF2-40B4-BE49-F238E27FC236}">
                <a16:creationId xmlns:a16="http://schemas.microsoft.com/office/drawing/2014/main" id="{E33F8DFD-A039-42DB-BF83-59542A4E6A79}"/>
              </a:ext>
            </a:extLst>
          </p:cNvPr>
          <p:cNvSpPr>
            <a:spLocks noGrp="1"/>
          </p:cNvSpPr>
          <p:nvPr/>
        </p:nvSpPr>
        <p:spPr>
          <a:xfrm>
            <a:off x="7696200" y="175260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16.7bn L</a:t>
            </a:r>
          </a:p>
        </p:txBody>
      </p:sp>
      <p:sp>
        <p:nvSpPr>
          <p:cNvPr id="58" name="S label 2">
            <a:extLst>
              <a:ext uri="{FF2B5EF4-FFF2-40B4-BE49-F238E27FC236}">
                <a16:creationId xmlns:a16="http://schemas.microsoft.com/office/drawing/2014/main" id="{90376FFE-C479-4E74-B7EC-F68F6FB2A837}"/>
              </a:ext>
            </a:extLst>
          </p:cNvPr>
          <p:cNvSpPr>
            <a:spLocks noGrp="1"/>
          </p:cNvSpPr>
          <p:nvPr/>
        </p:nvSpPr>
        <p:spPr>
          <a:xfrm>
            <a:off x="7696200" y="2419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Gross import requirement</a:t>
            </a:r>
          </a:p>
        </p:txBody>
      </p:sp>
      <p:sp>
        <p:nvSpPr>
          <p:cNvPr id="59" name="S detail 2">
            <a:extLst>
              <a:ext uri="{FF2B5EF4-FFF2-40B4-BE49-F238E27FC236}">
                <a16:creationId xmlns:a16="http://schemas.microsoft.com/office/drawing/2014/main" id="{578B9F72-9562-440E-B8D4-9E2C7EA91330}"/>
              </a:ext>
            </a:extLst>
          </p:cNvPr>
          <p:cNvSpPr>
            <a:spLocks noGrp="1"/>
          </p:cNvSpPr>
          <p:nvPr/>
        </p:nvSpPr>
        <p:spPr>
          <a:xfrm>
            <a:off x="7696200" y="28384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Broadly matches recorded imports</a:t>
            </a:r>
          </a:p>
        </p:txBody>
      </p:sp>
      <p:sp>
        <p:nvSpPr>
          <p:cNvPr id="60" name="S metric rule 2">
            <a:extLst>
              <a:ext uri="{FF2B5EF4-FFF2-40B4-BE49-F238E27FC236}">
                <a16:creationId xmlns:a16="http://schemas.microsoft.com/office/drawing/2014/main" id="{E3317981-7F4A-4303-8ED7-69ED8C64FC79}"/>
              </a:ext>
            </a:extLst>
          </p:cNvPr>
          <p:cNvSpPr>
            <a:spLocks noGrp="1"/>
          </p:cNvSpPr>
          <p:nvPr/>
        </p:nvSpPr>
        <p:spPr>
          <a:xfrm>
            <a:off x="7696200" y="3429000"/>
            <a:ext cx="33337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61" name="S demand heading">
            <a:extLst>
              <a:ext uri="{FF2B5EF4-FFF2-40B4-BE49-F238E27FC236}">
                <a16:creationId xmlns:a16="http://schemas.microsoft.com/office/drawing/2014/main" id="{F36B889D-2B22-42F0-96E7-FFB2AF546465}"/>
              </a:ext>
            </a:extLst>
          </p:cNvPr>
          <p:cNvSpPr>
            <a:spLocks noGrp="1"/>
          </p:cNvSpPr>
          <p:nvPr/>
        </p:nvSpPr>
        <p:spPr>
          <a:xfrm>
            <a:off x="457200" y="3743325"/>
            <a:ext cx="4857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substantial demand base</a:t>
            </a:r>
          </a:p>
        </p:txBody>
      </p:sp>
      <p:sp>
        <p:nvSpPr>
          <p:cNvPr id="62" name="S demand body">
            <a:extLst>
              <a:ext uri="{FF2B5EF4-FFF2-40B4-BE49-F238E27FC236}">
                <a16:creationId xmlns:a16="http://schemas.microsoft.com/office/drawing/2014/main" id="{6CA2E0BC-B7F2-4BE6-AEBC-BDF15A382E54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4905375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Road transport is the largest use. Mining, agriculture, manufacturing and power also contribute.</a:t>
            </a:r>
          </a:p>
          <a:p>
            <a:endParaRPr sz="1575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Demand has eased from 21.9bn litres in 2023 to an estimated 21.0bn in 2025.</a:t>
            </a:r>
          </a:p>
        </p:txBody>
      </p:sp>
      <p:sp>
        <p:nvSpPr>
          <p:cNvPr id="63" name="S route heading">
            <a:extLst>
              <a:ext uri="{FF2B5EF4-FFF2-40B4-BE49-F238E27FC236}">
                <a16:creationId xmlns:a16="http://schemas.microsoft.com/office/drawing/2014/main" id="{57A81112-B252-4444-B97C-08BAB8C8D266}"/>
              </a:ext>
            </a:extLst>
          </p:cNvPr>
          <p:cNvSpPr>
            <a:spLocks noGrp="1"/>
          </p:cNvSpPr>
          <p:nvPr/>
        </p:nvSpPr>
        <p:spPr>
          <a:xfrm>
            <a:off x="5905500" y="3743325"/>
            <a:ext cx="519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Durban connects imports to inland customers</a:t>
            </a:r>
          </a:p>
        </p:txBody>
      </p:sp>
      <p:sp>
        <p:nvSpPr>
          <p:cNvPr id="64" name="S route body">
            <a:extLst>
              <a:ext uri="{FF2B5EF4-FFF2-40B4-BE49-F238E27FC236}">
                <a16:creationId xmlns:a16="http://schemas.microsoft.com/office/drawing/2014/main" id="{49798A2E-BA63-4FF6-A9F3-840463B170F0}"/>
              </a:ext>
            </a:extLst>
          </p:cNvPr>
          <p:cNvSpPr>
            <a:spLocks noGrp="1"/>
          </p:cNvSpPr>
          <p:nvPr/>
        </p:nvSpPr>
        <p:spPr>
          <a:xfrm>
            <a:off x="5905500" y="4476750"/>
            <a:ext cx="519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Durban customs recorded 13.16bn litres of imports in 2025. The Durban–Lesedi route provides access to inland demand, subject to customer and logistics access.</a:t>
            </a:r>
          </a:p>
        </p:txBody>
      </p:sp>
      <p:sp>
        <p:nvSpPr>
          <p:cNvPr id="65" name="S takeaway">
            <a:extLst>
              <a:ext uri="{FF2B5EF4-FFF2-40B4-BE49-F238E27FC236}">
                <a16:creationId xmlns:a16="http://schemas.microsoft.com/office/drawing/2014/main" id="{CC3A3E20-9691-4E11-8731-ACA9C0BF16AA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South Africa has an established import market serving a large national fuel requirement.</a:t>
            </a:r>
          </a:p>
        </p:txBody>
      </p:sp>
      <p:sp>
        <p:nvSpPr>
          <p:cNvPr id="6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pp5–10. Stats SA; Eskom Integrated Report 2025 p141; Sasol, Glencore, Galp and Petromoc disclosures; naamsa vehicle sales.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601289401"/>
              </p:ext>
            </p:extLst>
          </p:nvPr>
        </p:nvGraphicFramePr>
        <p:xfrm>
          <a:off x="457200" y="1657350"/>
          <a:ext cx="10648950" cy="39052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ZA"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Baseline</a:t>
                      </a:r>
                      <a:endParaRPr sz="1350" b="1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Baseline demand | p4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Estimated 21.0bn-litre market in 2025; petrol/diesel history and the end-use split establish the starting point.</a:t>
                      </a:r>
                      <a:endParaRPr sz="1350" b="0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8216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efficiency | p8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output and restarts | p9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p10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Petrol road 8.59 | Freight 4.82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road diesel 1.61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 1.41 | Agriculture 1.13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Power 1.08 | Manufacturing 0.17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petrol 0.27 | Other diesel 1.91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All values: 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Petrol and diesel demand, 2013–2025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estimated demand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Estimated sector diesel demand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diesel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Eskom diesel and kerosene use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Power fuel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road and rail freight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Recovery and displacement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all-market sales 2025; master workbook Vehicle history S31:S36; evidence retained in market story v27 p11. Analytical workbook v02: efficiency is a planning assumption; avoid double-counting hybrid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sales, or 0.18% of all new vehicles.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Electrified vehicle sales, 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Different fuel-use effects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Reported fuel production declined through 2021; the 2025 baseline assumes 5.8bn litres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" name="Production units">
            <a:extLst>
              <a:ext uri="{FF2B5EF4-FFF2-40B4-BE49-F238E27FC236}">
                <a16:creationId xmlns:a16="http://schemas.microsoft.com/office/drawing/2014/main" id="{598D68E6-506B-83CF-E42D-20F1DB24959C}"/>
              </a:ext>
            </a:extLst>
          </p:cNvPr>
          <p:cNvSpPr txBox="1"/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75">
                <a:solidFill>
                  <a:srgbClr val="11151A"/>
                </a:solidFill>
                <a:latin typeface="Lato" panose="020F0502020204030203" pitchFamily="34" charset="0"/>
              </a:rPr>
              <a:t>Billion litres | reported history, 2014–2021</a:t>
            </a:r>
            <a:endParaRPr lang="en-ZA" sz="9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515D85-FD08-E500-C29D-270AD8216A10}"/>
              </a:ext>
            </a:extLst>
          </p:cNvPr>
          <p:cNvGraphicFramePr/>
          <p:nvPr/>
        </p:nvGraphicFramePr>
        <p:xfrm>
          <a:off x="457200" y="2333625"/>
          <a:ext cx="64465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9" name="Production assumption">
            <a:extLst>
              <a:ext uri="{FF2B5EF4-FFF2-40B4-BE49-F238E27FC236}">
                <a16:creationId xmlns:a16="http://schemas.microsoft.com/office/drawing/2014/main" id="{51A3749D-D6C3-C4BC-7358-CD309F40E23B}"/>
              </a:ext>
            </a:extLst>
          </p:cNvPr>
          <p:cNvSpPr txBox="1"/>
          <p:nvPr/>
        </p:nvSpPr>
        <p:spPr>
          <a:xfrm>
            <a:off x="7424928" y="2190750"/>
            <a:ext cx="3685032" cy="5334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2625" b="1">
                <a:solidFill>
                  <a:srgbClr val="0A2373"/>
                </a:solidFill>
                <a:latin typeface="Lato" panose="020F0502020204030203" pitchFamily="34" charset="0"/>
              </a:rPr>
              <a:t>5.8bn litres</a:t>
            </a:r>
          </a:p>
        </p:txBody>
      </p:sp>
      <p:sp>
        <p:nvSpPr>
          <p:cNvPr id="10" name="Production commentary">
            <a:extLst>
              <a:ext uri="{FF2B5EF4-FFF2-40B4-BE49-F238E27FC236}">
                <a16:creationId xmlns:a16="http://schemas.microsoft.com/office/drawing/2014/main" id="{DE27518A-7FCE-6AAE-5765-F02BEA973D8D}"/>
              </a:ext>
            </a:extLst>
          </p:cNvPr>
          <p:cNvSpPr txBox="1"/>
          <p:nvPr/>
        </p:nvSpPr>
        <p:spPr>
          <a:xfrm>
            <a:off x="7424928" y="2857500"/>
            <a:ext cx="3685032" cy="3048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50">
                <a:solidFill>
                  <a:srgbClr val="11151A"/>
                </a:solidFill>
                <a:latin typeface="Lato" panose="020F0502020204030203" pitchFamily="34" charset="0"/>
              </a:rPr>
              <a:t>Petrol/diesel planning assumption; not a reported national observation.
Reported combined production fell from 20.42bn L in 2014 to 11.67bn L in 2021.
SAPREF and PetroSA contribute no refining output in the 2025 assessment. Operating output and product yields determine import displacement.</a:t>
            </a:r>
            <a:endParaRPr lang="en-ZA" sz="135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1" name="Production events">
            <a:extLst>
              <a:ext uri="{FF2B5EF4-FFF2-40B4-BE49-F238E27FC236}">
                <a16:creationId xmlns:a16="http://schemas.microsoft.com/office/drawing/2014/main" id="{FD879A5F-C40E-C552-1498-C800F603FC6B}"/>
              </a:ext>
            </a:extLst>
          </p:cNvPr>
          <p:cNvSpPr txBox="1"/>
          <p:nvPr/>
        </p:nvSpPr>
        <p:spPr>
          <a:xfrm>
            <a:off x="457200" y="5381625"/>
            <a:ext cx="6446520" cy="857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Plant context: Secunda 27.6m barrels in FY2025 → 30.6m in FY2026.
Natref reporting scope changes; Astron reports in energy units. These disclosures cannot be summed directly.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petrol and diesel production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planning baseline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DDE40-D6E5-8A32-5BF0-18595D11E6B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>
            <a:fillRect/>
          </a:stretch>
        </p:blipFill>
        <p:spPr>
          <a:xfrm>
            <a:off x="870585" y="2190750"/>
            <a:ext cx="5619750" cy="3476752"/>
          </a:xfrm>
          <a:prstGeom prst="rect">
            <a:avLst/>
          </a:prstGeom>
        </p:spPr>
      </p:pic>
      <p:sp>
        <p:nvSpPr>
          <p:cNvPr id="9" name="Map scope">
            <a:extLst>
              <a:ext uri="{FF2B5EF4-FFF2-40B4-BE49-F238E27FC236}">
                <a16:creationId xmlns:a16="http://schemas.microsoft.com/office/drawing/2014/main" id="{905265E0-B937-247C-8142-C47B5C28982E}"/>
              </a:ext>
            </a:extLst>
          </p:cNvPr>
          <p:cNvSpPr txBox="1"/>
          <p:nvPr/>
        </p:nvSpPr>
        <p:spPr>
          <a:xfrm>
            <a:off x="457200" y="5762625"/>
            <a:ext cx="6446520" cy="5524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Mapped road and rail connectivity; tanker access and operating services require confirmation. NMPP is the established inland connection discussed at right. Walvis Bay is a potential alternative.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0" name="Route heading 0">
            <a:extLst>
              <a:ext uri="{FF2B5EF4-FFF2-40B4-BE49-F238E27FC236}">
                <a16:creationId xmlns:a16="http://schemas.microsoft.com/office/drawing/2014/main" id="{9C91F214-0886-18AE-5A7D-6B9E3F11554F}"/>
              </a:ext>
            </a:extLst>
          </p:cNvPr>
          <p:cNvSpPr txBox="1"/>
          <p:nvPr/>
        </p:nvSpPr>
        <p:spPr>
          <a:xfrm>
            <a:off x="7424928" y="21431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 b="1">
                <a:solidFill>
                  <a:srgbClr val="0A2373"/>
                </a:solidFill>
                <a:latin typeface="Lato" panose="020F0502020204030203" pitchFamily="34" charset="0"/>
              </a:rPr>
              <a:t>Durban and other SA ports</a:t>
            </a:r>
            <a:endParaRPr lang="en-ZA" sz="12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1" name="Route body 0">
            <a:extLst>
              <a:ext uri="{FF2B5EF4-FFF2-40B4-BE49-F238E27FC236}">
                <a16:creationId xmlns:a16="http://schemas.microsoft.com/office/drawing/2014/main" id="{27F897E1-6B8F-6349-848C-9704A41A5A51}"/>
              </a:ext>
            </a:extLst>
          </p:cNvPr>
          <p:cNvSpPr txBox="1"/>
          <p:nvPr/>
        </p:nvSpPr>
        <p:spPr>
          <a:xfrm>
            <a:off x="7424928" y="23907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2025 Durban customs: 13.16bn L. Allocate national imports across ports before sizing inland reach.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2" name="Route heading 1">
            <a:extLst>
              <a:ext uri="{FF2B5EF4-FFF2-40B4-BE49-F238E27FC236}">
                <a16:creationId xmlns:a16="http://schemas.microsoft.com/office/drawing/2014/main" id="{B1D50922-8300-F3B4-3178-A313020D6938}"/>
              </a:ext>
            </a:extLst>
          </p:cNvPr>
          <p:cNvSpPr txBox="1"/>
          <p:nvPr/>
        </p:nvSpPr>
        <p:spPr>
          <a:xfrm>
            <a:off x="7424928" y="29622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Durban–NMPP–Lesedi</a:t>
            </a:r>
          </a:p>
        </p:txBody>
      </p:sp>
      <p:sp>
        <p:nvSpPr>
          <p:cNvPr id="13" name="Route body 1">
            <a:extLst>
              <a:ext uri="{FF2B5EF4-FFF2-40B4-BE49-F238E27FC236}">
                <a16:creationId xmlns:a16="http://schemas.microsoft.com/office/drawing/2014/main" id="{704C5A7C-5F95-D67E-A777-0B73AAD65701}"/>
              </a:ext>
            </a:extLst>
          </p:cNvPr>
          <p:cNvSpPr txBox="1"/>
          <p:nvPr/>
        </p:nvSpPr>
        <p:spPr>
          <a:xfrm>
            <a:off x="7424928" y="32099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Existing inland connection; customer/product access, receipt and dispatch constraints determine serviceable flows.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4" name="Route heading 2">
            <a:extLst>
              <a:ext uri="{FF2B5EF4-FFF2-40B4-BE49-F238E27FC236}">
                <a16:creationId xmlns:a16="http://schemas.microsoft.com/office/drawing/2014/main" id="{35F6054D-F452-9A14-9F3F-3CF2D29C8F2C}"/>
              </a:ext>
            </a:extLst>
          </p:cNvPr>
          <p:cNvSpPr txBox="1"/>
          <p:nvPr/>
        </p:nvSpPr>
        <p:spPr>
          <a:xfrm>
            <a:off x="7424928" y="37814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Matola infrastructure</a:t>
            </a:r>
          </a:p>
        </p:txBody>
      </p:sp>
      <p:sp>
        <p:nvSpPr>
          <p:cNvPr id="15" name="Route body 2">
            <a:extLst>
              <a:ext uri="{FF2B5EF4-FFF2-40B4-BE49-F238E27FC236}">
                <a16:creationId xmlns:a16="http://schemas.microsoft.com/office/drawing/2014/main" id="{EAF0A4B6-60EE-0EC4-DA02-2B6D38BD3709}"/>
              </a:ext>
            </a:extLst>
          </p:cNvPr>
          <p:cNvSpPr txBox="1"/>
          <p:nvPr/>
        </p:nvSpPr>
        <p:spPr>
          <a:xfrm>
            <a:off x="7424928" y="40290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Galp/IPG: 60,000m³ petrol/diesel; Petromoc: 390,000m³ across fuels. Do not add overlapping capacities or equate storage with SA throughput.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6" name="Route heading 3">
            <a:extLst>
              <a:ext uri="{FF2B5EF4-FFF2-40B4-BE49-F238E27FC236}">
                <a16:creationId xmlns:a16="http://schemas.microsoft.com/office/drawing/2014/main" id="{CB01BB12-737E-A100-EB73-EB27F8553432}"/>
              </a:ext>
            </a:extLst>
          </p:cNvPr>
          <p:cNvSpPr txBox="1"/>
          <p:nvPr/>
        </p:nvSpPr>
        <p:spPr>
          <a:xfrm>
            <a:off x="7424928" y="46005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Mozambique flows</a:t>
            </a:r>
          </a:p>
        </p:txBody>
      </p:sp>
      <p:sp>
        <p:nvSpPr>
          <p:cNvPr id="17" name="Route body 3">
            <a:extLst>
              <a:ext uri="{FF2B5EF4-FFF2-40B4-BE49-F238E27FC236}">
                <a16:creationId xmlns:a16="http://schemas.microsoft.com/office/drawing/2014/main" id="{CDC39F14-E76C-9556-4E87-FBB74EF62A89}"/>
              </a:ext>
            </a:extLst>
          </p:cNvPr>
          <p:cNvSpPr txBox="1"/>
          <p:nvPr/>
        </p:nvSpPr>
        <p:spPr>
          <a:xfrm>
            <a:off x="7424928" y="48482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Komatipoort imports: 0.303bn L in 2022 → 0.086bn L in 2025. Observed flows anchor route volumes.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8" name="Route heading 4">
            <a:extLst>
              <a:ext uri="{FF2B5EF4-FFF2-40B4-BE49-F238E27FC236}">
                <a16:creationId xmlns:a16="http://schemas.microsoft.com/office/drawing/2014/main" id="{EFD8D388-52FB-EB1B-C2F9-2A68721DFCFB}"/>
              </a:ext>
            </a:extLst>
          </p:cNvPr>
          <p:cNvSpPr txBox="1"/>
          <p:nvPr/>
        </p:nvSpPr>
        <p:spPr>
          <a:xfrm>
            <a:off x="7424928" y="54197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Walvis Bay</a:t>
            </a:r>
          </a:p>
        </p:txBody>
      </p:sp>
      <p:sp>
        <p:nvSpPr>
          <p:cNvPr id="19" name="Route body 4">
            <a:extLst>
              <a:ext uri="{FF2B5EF4-FFF2-40B4-BE49-F238E27FC236}">
                <a16:creationId xmlns:a16="http://schemas.microsoft.com/office/drawing/2014/main" id="{AA1EF178-90D5-0BD5-B832-8373C625E947}"/>
              </a:ext>
            </a:extLst>
          </p:cNvPr>
          <p:cNvSpPr txBox="1"/>
          <p:nvPr/>
        </p:nvSpPr>
        <p:spPr>
          <a:xfrm>
            <a:off x="7424928" y="56673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Comparable delivered cost, access and SA flows remain unestablished. No quantified diversion or capture is assigned.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Competing inland supply corridors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Evidence and implications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0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Durban 2.63B L, Lesedi 1.32B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Lesedi included in Durban flow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demand estimate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182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183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184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1280183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/>
        </p:nvGraphicFramePr>
        <p:xfrm>
          <a:off x="457200" y="1657350"/>
          <a:ext cx="10648950" cy="40386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Sizing step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the calculation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measure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National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and diesel by end use: road, mining, manufacturing, agriculture and power. Apply activity, rail and efficiency drivers.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21.0bn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Import requirement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− domestic production + exports + stock build (or − stock draw).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 need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Ports and inland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imports across ports; assess pipeline, road and rail connections. Compare Durban with Matola and potential Walvis Bay routes.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pool by catchment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shares to establish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  Addressable market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Size product and customer flows Durban and Lesedi can each serve, by catchment, logistics access and competing supply. Reconcile shared flows.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Addressable volume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site, product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  Achievable capture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Establish current Vopak throughput, volumes retained and additional customer volumes it can win. Assess competition and contracts; count shared fuel once.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Current + incremental capture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  Capacity and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Compare captured throughput with usable tanks, stock turns, receipt and dispatch capacity; identify the incremental constraint.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Capacity shortfall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Steps 4–5 size Vopak’s opportunity: addressable customer flows, then achievable capture.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litres onward through Lesedi within the same fuel flow.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sp>
        <p:nvSpPr>
          <p:cNvPr id="59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0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1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2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2869</Words>
  <Application>Microsoft Office PowerPoint</Application>
  <DocSecurity>0</DocSecurity>
  <PresentationFormat>Custom</PresentationFormat>
  <Paragraphs>359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Lato</vt:lpstr>
      <vt:lpstr>Arial</vt:lpstr>
      <vt:lpstr>Vopak Theme</vt:lpstr>
      <vt:lpstr>PowerPoint Presentation</vt:lpstr>
      <vt:lpstr>South Africa’s large fuel market relies on substantial imports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Reported fuel production declined through 2021; the 2025 baseline assumes 5.8bn litres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Nigel Zhuwaki</cp:lastModifiedBy>
  <cp:revision>2</cp:revision>
  <dcterms:created xsi:type="dcterms:W3CDTF">2026-10-11T22:01:42Z</dcterms:created>
  <dcterms:modified xsi:type="dcterms:W3CDTF">2026-10-11T22:44:10Z</dcterms:modified>
</cp:coreProperties>
</file>