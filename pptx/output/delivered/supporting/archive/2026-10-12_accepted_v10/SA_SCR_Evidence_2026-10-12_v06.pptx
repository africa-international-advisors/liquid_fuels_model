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9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1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2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13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1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66" r:id="rId13"/>
    <p:sldId id="267" r:id="rId14"/>
    <p:sldId id="268" r:id="rId15"/>
  </p:sldIdLst>
  <p:sldSz cx="11588750" cy="6858000"/>
  <p:notesSz cx="6858000" cy="9144000"/>
  <p:embeddedFontLst>
    <p:embeddedFont>
      <p:font typeface="Lato" panose="020F0502020204030203" pitchFamily="3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460B812-FB11-E744-2EAF-0F2DA0ECD4BF}" name="Henry Gilfillan" initials="HG" userId="S::Henry.G@africaia.com::20d8d1d5-b81d-4db2-8d49-9db47f87700a" providerId="AD"/>
  <p188:author id="{80F3E917-8A40-6377-B501-C0BF4583C07C}" name="Maria-Salome Milanzi" initials="MM" userId="S::Maria-Salome.M@africaia.com::27b80f15-cda9-458b-a241-0020d0d18b2b" providerId="AD"/>
  <p188:author id="{8653DC3D-E5A6-54BA-B06A-0D6999879F26}" name="Joseph Kihara" initials="JK" userId="S::joseph.k@africaia.com::89b38e7e-ff17-4223-9856-6d82edda0c7c" providerId="AD"/>
  <p188:author id="{79DE144E-B764-F176-BA11-B9193ABDC8E5}" name="Davies Tsikayi" initials="DT" userId="S::Davies.T@africaia.com::87c07fce-c37d-4ded-b6b5-65d5c8b951c1" providerId="AD"/>
  <p188:author id="{31278C59-D498-87BD-2E87-AF9308A52A9D}" name="Shannon Kurz" initials="SK" userId="Shannon Kurz" providerId="None"/>
  <p188:author id="{68AE2466-B378-7AA2-581F-E86841585307}" name="Paayal Kanjee Govind" initials="PK" userId="S::Paayal.KG@africaia.com::50637073-a9d2-4dfa-96c0-927604d7cc3c" providerId="AD"/>
  <p188:author id="{C5B1668E-F34A-2E98-0466-BAF8D463548D}" name="Manish Ramjeawon" initials="MR" userId="S::manish.r@africaia.com::530ca382-ae44-4c47-aaca-bb6bff7153ab" providerId="AD"/>
  <p188:author id="{F720B396-19C0-DB41-D221-DFCF831531AE}" name="Henry Gilfillan" initials="HG" userId="Henry Gilfillan" providerId="None"/>
  <p188:author id="{9FBE07B6-A3E1-BFC7-95A7-1EBCABB54112}" name="Karabo Mashabane" initials="KM" userId="S::Karabo.M@africaia.com::def9b110-1e86-4623-94be-634dc77ab82b" providerId="AD"/>
  <p188:author id="{53709FFD-5FBE-8519-0B68-00C91B158654}" name="James Brown" initials="JB" userId="James Brown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Relationships xmlns="http://schemas.openxmlformats.org/package/2006/relationships"><Relationship Id="rIdChartSnapshot1" Type="http://schemas.openxmlformats.org/officeDocument/2006/relationships/package" Target="../embeddings/chart-data-snapshot-00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Petrol</c:v>
          </c:tx>
          <c:spPr>
            <a:ln w="23813">
              <a:solidFill>
                <a:srgbClr val="0A2373"/>
              </a:solidFill>
            </a:ln>
          </c:spPr>
          <c:marker>
            <c:symbol val="none"/>
          </c:marker>
          <c:cat>
            <c:strRef>
              <c:f>'Chart Data'!$A$2:$A$14</c:f>
              <c:strCache>
                <c:ptCount val="13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2024E</c:v>
                </c:pt>
                <c:pt idx="12">
                  <c:v>2025E</c:v>
                </c:pt>
              </c:strCache>
            </c:strRef>
          </c:cat>
          <c:val>
            <c:numRef>
              <c:f>'Chart Data'!$B$2:$B$14</c:f>
              <c:numCache>
                <c:formatCode>0.00</c:formatCode>
                <c:ptCount val="13"/>
                <c:pt idx="0">
                  <c:v>11.439925235</c:v>
                </c:pt>
                <c:pt idx="1">
                  <c:v>10.890207679</c:v>
                </c:pt>
                <c:pt idx="2">
                  <c:v>11.475709420318</c:v>
                </c:pt>
                <c:pt idx="3">
                  <c:v>11.462252466686</c:v>
                </c:pt>
                <c:pt idx="4">
                  <c:v>11.17408298037</c:v>
                </c:pt>
                <c:pt idx="5">
                  <c:v>11.141630546702</c:v>
                </c:pt>
                <c:pt idx="6">
                  <c:v>10.773208065062</c:v>
                </c:pt>
                <c:pt idx="7">
                  <c:v>8.761470961496</c:v>
                </c:pt>
                <c:pt idx="8">
                  <c:v>9.301584227683</c:v>
                </c:pt>
                <c:pt idx="9">
                  <c:v>9.184869915573</c:v>
                </c:pt>
                <c:pt idx="10">
                  <c:v>9.036950113492</c:v>
                </c:pt>
                <c:pt idx="11">
                  <c:v>8.94590284109857</c:v>
                </c:pt>
                <c:pt idx="12">
                  <c:v>8.8557728699745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499-4ABA-B741-0B7E1B91FC7B}"/>
            </c:ext>
          </c:extLst>
        </c:ser>
        <c:ser>
          <c:idx val="1"/>
          <c:order val="1"/>
          <c:tx>
            <c:v>Diesel</c:v>
          </c:tx>
          <c:spPr>
            <a:ln w="23813">
              <a:solidFill>
                <a:srgbClr val="6782B4"/>
              </a:solidFill>
            </a:ln>
          </c:spPr>
          <c:marker>
            <c:symbol val="none"/>
          </c:marker>
          <c:cat>
            <c:strRef>
              <c:f>'Chart Data'!$C$2:$C$14</c:f>
              <c:strCache>
                <c:ptCount val="13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2024E</c:v>
                </c:pt>
                <c:pt idx="12">
                  <c:v>2025E</c:v>
                </c:pt>
              </c:strCache>
            </c:strRef>
          </c:cat>
          <c:val>
            <c:numRef>
              <c:f>'Chart Data'!$D$2:$D$14</c:f>
              <c:numCache>
                <c:formatCode>0.00</c:formatCode>
                <c:ptCount val="13"/>
                <c:pt idx="0">
                  <c:v>12.141281548</c:v>
                </c:pt>
                <c:pt idx="1">
                  <c:v>12.615023359</c:v>
                </c:pt>
                <c:pt idx="2">
                  <c:v>13.52013925195</c:v>
                </c:pt>
                <c:pt idx="3">
                  <c:v>12.082374038422</c:v>
                </c:pt>
                <c:pt idx="4">
                  <c:v>12.147245167189</c:v>
                </c:pt>
                <c:pt idx="5">
                  <c:v>12.538744325998</c:v>
                </c:pt>
                <c:pt idx="6">
                  <c:v>12.908631232217</c:v>
                </c:pt>
                <c:pt idx="7">
                  <c:v>11.689957759296</c:v>
                </c:pt>
                <c:pt idx="8">
                  <c:v>12.945782750435</c:v>
                </c:pt>
                <c:pt idx="9">
                  <c:v>12.717326319019</c:v>
                </c:pt>
                <c:pt idx="10">
                  <c:v>12.907499965808</c:v>
                </c:pt>
                <c:pt idx="11">
                  <c:v>13.1352061654661</c:v>
                </c:pt>
                <c:pt idx="12">
                  <c:v>12.1316153271207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499-4ABA-B741-0B7E1B91FC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Mining</c:v>
          </c:tx>
          <c:spPr>
            <a:ln w="23813">
              <a:solidFill>
                <a:srgbClr val="0A2373"/>
              </a:solidFill>
            </a:ln>
          </c:spPr>
          <c:marker>
            <c:symbol val="none"/>
          </c:marker>
          <c:cat>
            <c:strRef>
              <c:f>'Chart Data'!$A$2:$A$4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1.39596645708743</c:v>
                </c:pt>
                <c:pt idx="1">
                  <c:v>1.40372043669139</c:v>
                </c:pt>
                <c:pt idx="2">
                  <c:v>1.40634678462176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34E-4C88-AF1B-02EEF2721A0E}"/>
            </c:ext>
          </c:extLst>
        </c:ser>
        <c:ser>
          <c:idx val="1"/>
          <c:order val="1"/>
          <c:tx>
            <c:v>Agriculture</c:v>
          </c:tx>
          <c:spPr>
            <a:ln w="23813">
              <a:solidFill>
                <a:srgbClr val="6782B4"/>
              </a:solidFill>
            </a:ln>
          </c:spPr>
          <c:marker>
            <c:symbol val="none"/>
          </c:marker>
          <c:cat>
            <c:strRef>
              <c:f>'Chart Data'!$C$2:$C$4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1.05527552036594</c:v>
                </c:pt>
                <c:pt idx="1">
                  <c:v>0.963340315350475</c:v>
                </c:pt>
                <c:pt idx="2">
                  <c:v>1.13122469823652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34E-4C88-AF1B-02EEF2721A0E}"/>
            </c:ext>
          </c:extLst>
        </c:ser>
        <c:ser>
          <c:idx val="2"/>
          <c:order val="2"/>
          <c:tx>
            <c:v>Manufacturing</c:v>
          </c:tx>
          <c:spPr>
            <a:ln w="23813">
              <a:solidFill>
                <a:srgbClr val="868686"/>
              </a:solidFill>
            </a:ln>
          </c:spPr>
          <c:marker>
            <c:symbol val="none"/>
          </c:marker>
          <c:cat>
            <c:strRef>
              <c:f>'Chart Data'!$E$2:$E$4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'Chart Data'!$F$2:$F$4</c:f>
              <c:numCache>
                <c:formatCode>0.00</c:formatCode>
                <c:ptCount val="3"/>
                <c:pt idx="0">
                  <c:v>0.167897867441392</c:v>
                </c:pt>
                <c:pt idx="1">
                  <c:v>0.167211107535443</c:v>
                </c:pt>
                <c:pt idx="2">
                  <c:v>0.165076180001731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34E-4C88-AF1B-02EEF2721A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Eskom diesel + kerosene, bn litres</c:v>
          </c:tx>
          <c:spPr>
            <a:solidFill>
              <a:srgbClr val="0A2373"/>
            </a:solidFill>
            <a:ln w="23813">
              <a:solidFill>
                <a:srgbClr val="0A2373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>
                    <a:solidFill>
                      <a:srgbClr val="3333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FY2023</c:v>
                </c:pt>
                <c:pt idx="1">
                  <c:v>FY2024</c:v>
                </c:pt>
                <c:pt idx="2">
                  <c:v>FY2025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0.9375</c:v>
                </c:pt>
                <c:pt idx="1">
                  <c:v>1.1295</c:v>
                </c:pt>
                <c:pt idx="2">
                  <c:v>0.6791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3813">
                    <a:solidFill>
                      <a:srgbClr val="0A2373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CE5C-482E-870C-C7109AA53DE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Road, million tonnes</c:v>
          </c:tx>
          <c:spPr>
            <a:solidFill>
              <a:srgbClr val="0A2373"/>
            </a:solidFill>
            <a:ln w="23813">
              <a:solidFill>
                <a:srgbClr val="0A2373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>
                    <a:solidFill>
                      <a:srgbClr val="3333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979.798</c:v>
                </c:pt>
                <c:pt idx="1">
                  <c:v>976.468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3813">
                    <a:solidFill>
                      <a:srgbClr val="0A2373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4381-4800-BBB0-336A2215AD99}"/>
            </c:ext>
          </c:extLst>
        </c:ser>
        <c:ser>
          <c:idx val="1"/>
          <c:order val="1"/>
          <c:tx>
            <c:v>Rail, million tonnes</c:v>
          </c:tx>
          <c:spPr>
            <a:solidFill>
              <a:srgbClr val="6782B4"/>
            </a:solidFill>
            <a:ln w="23813">
              <a:solidFill>
                <a:srgbClr val="6782B4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>
                    <a:solidFill>
                      <a:srgbClr val="3333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Data'!$C$2:$C$3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'Chart Data'!$D$2:$D$3</c:f>
              <c:numCache>
                <c:formatCode>0.00</c:formatCode>
                <c:ptCount val="2"/>
                <c:pt idx="0">
                  <c:v>160.745</c:v>
                </c:pt>
                <c:pt idx="1">
                  <c:v>168.263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3813">
                    <a:solidFill>
                      <a:srgbClr val="6782B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4381-4800-BBB0-336A2215AD9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2025 new sales</c:v>
          </c:tx>
          <c:spPr>
            <a:solidFill>
              <a:srgbClr val="0A2373"/>
            </a:solidFill>
            <a:ln w="23813">
              <a:solidFill>
                <a:srgbClr val="0A2373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>
                    <a:solidFill>
                      <a:srgbClr val="3333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BEV</c:v>
                </c:pt>
                <c:pt idx="1">
                  <c:v>Plug-in hybrid</c:v>
                </c:pt>
                <c:pt idx="2">
                  <c:v>Conventional hybrid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1088</c:v>
                </c:pt>
                <c:pt idx="1">
                  <c:v>2810</c:v>
                </c:pt>
                <c:pt idx="2">
                  <c:v>12818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3813">
                    <a:solidFill>
                      <a:srgbClr val="0A2373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C371-4A9C-9D08-603FEE1AD92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1"/>
        <c:ser>
          <c:idx val="0"/>
          <c:order val="0"/>
          <c:tx>
            <c:v>Petrol</c:v>
          </c:tx>
          <c:spPr>
            <a:ln w="23813">
              <a:solidFill>
                <a:srgbClr val="0A2373"/>
              </a:solidFill>
            </a:ln>
          </c:spPr>
          <c:marker>
            <c:symbol val="none"/>
          </c:marker>
          <c:cat>
            <c:numRef>
              <c:f>'Chart Data'!$A$2:$A$9</c:f>
              <c:numCache>
                <c:formatCode>General</c:formatCode>
                <c:ptCount val="8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</c:numCache>
            </c:numRef>
          </c:cat>
          <c:val>
            <c:numRef>
              <c:f>'Chart Data'!$B$2:$B$9</c:f>
              <c:numCache>
                <c:formatCode>0.00</c:formatCode>
                <c:ptCount val="8"/>
                <c:pt idx="0">
                  <c:v>10.82816</c:v>
                </c:pt>
                <c:pt idx="1">
                  <c:v>10.457813</c:v>
                </c:pt>
                <c:pt idx="2">
                  <c:v>10.393066</c:v>
                </c:pt>
                <c:pt idx="3">
                  <c:v>9.43444</c:v>
                </c:pt>
                <c:pt idx="4">
                  <c:v>9.97456</c:v>
                </c:pt>
                <c:pt idx="5">
                  <c:v>10.424467</c:v>
                </c:pt>
                <c:pt idx="6">
                  <c:v>7.895</c:v>
                </c:pt>
                <c:pt idx="7">
                  <c:v>6.351306667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14D-47DD-853A-9C05BDBF11D4}"/>
            </c:ext>
          </c:extLst>
        </c:ser>
        <c:ser>
          <c:idx val="1"/>
          <c:order val="1"/>
          <c:tx>
            <c:v>Diesel</c:v>
          </c:tx>
          <c:spPr>
            <a:ln w="23813">
              <a:solidFill>
                <a:srgbClr val="6782B4"/>
              </a:solidFill>
            </a:ln>
          </c:spPr>
          <c:marker>
            <c:symbol val="none"/>
          </c:marker>
          <c:cat>
            <c:numRef>
              <c:f>'Chart Data'!$C$2:$C$9</c:f>
              <c:numCache>
                <c:formatCode>General</c:formatCode>
                <c:ptCount val="8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</c:numCache>
            </c:numRef>
          </c:cat>
          <c:val>
            <c:numRef>
              <c:f>'Chart Data'!$D$2:$D$9</c:f>
              <c:numCache>
                <c:formatCode>0.00</c:formatCode>
                <c:ptCount val="8"/>
                <c:pt idx="0">
                  <c:v>9.58774</c:v>
                </c:pt>
                <c:pt idx="1">
                  <c:v>9.368482</c:v>
                </c:pt>
                <c:pt idx="2">
                  <c:v>9.01419</c:v>
                </c:pt>
                <c:pt idx="3">
                  <c:v>7.921726</c:v>
                </c:pt>
                <c:pt idx="4">
                  <c:v>8.425262</c:v>
                </c:pt>
                <c:pt idx="5">
                  <c:v>9.080357</c:v>
                </c:pt>
                <c:pt idx="6">
                  <c:v>6.4478095</c:v>
                </c:pt>
                <c:pt idx="7">
                  <c:v>5.314964286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14D-47DD-853A-9C05BDBF11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  <c:externalData r:id="rIdChartSnapshot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EDD9F4-517A-423A-8062-52F906573F35}" type="doc">
      <dgm:prSet loTypeId="urn:microsoft.com/office/officeart/2005/8/layout/chevron1#1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AC981AEB-3240-40F7-8BC7-3462D77E5EEF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D0B8BA5E-0640-44FB-AA31-9E7844B28449}" type="parTrans" cxnId="{24D59777-028E-451A-82DA-909A1AEC3027}">
      <dgm:prSet/>
      <dgm:spPr>
        <a:ln>
          <a:noFill/>
        </a:ln>
      </dgm:spPr>
    </dgm:pt>
    <dgm:pt modelId="{A9960062-BEFF-4C31-BFD0-6D440E5FE1E1}" type="sibTrans" cxnId="{24D59777-028E-451A-82DA-909A1AEC3027}">
      <dgm:prSet/>
      <dgm:spPr>
        <a:ln>
          <a:noFill/>
        </a:ln>
      </dgm:spPr>
    </dgm:pt>
    <dgm:pt modelId="{87F06D40-41DD-4A2F-9F9C-1ED0B44BA962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Situation</a:t>
          </a:r>
        </a:p>
      </dgm:t>
    </dgm:pt>
    <dgm:pt modelId="{6FBBE429-3EA0-4B1D-A348-FCAA80388784}" type="parTrans" cxnId="{C7F0E118-69A9-4B8A-9E68-80201368D004}">
      <dgm:prSet/>
      <dgm:spPr>
        <a:ln>
          <a:noFill/>
        </a:ln>
      </dgm:spPr>
    </dgm:pt>
    <dgm:pt modelId="{664B6AAE-09E3-44FF-B508-272C0951CC9B}" type="sibTrans" cxnId="{C7F0E118-69A9-4B8A-9E68-80201368D004}">
      <dgm:prSet/>
      <dgm:spPr>
        <a:ln>
          <a:noFill/>
        </a:ln>
      </dgm:spPr>
    </dgm:pt>
    <dgm:pt modelId="{76DF3A45-5741-4BF8-90F1-4A7020D88F3E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gm:t>
    </dgm:pt>
    <dgm:pt modelId="{AA39D22C-D631-42B8-8A60-DABAE6EE922F}" type="parTrans" cxnId="{110A6484-7110-4C95-9B49-775F40941B1B}">
      <dgm:prSet/>
      <dgm:spPr>
        <a:ln>
          <a:noFill/>
        </a:ln>
      </dgm:spPr>
    </dgm:pt>
    <dgm:pt modelId="{046FAA88-BA00-4B76-992A-C499E3920AED}" type="sibTrans" cxnId="{110A6484-7110-4C95-9B49-775F40941B1B}">
      <dgm:prSet/>
      <dgm:spPr>
        <a:ln>
          <a:noFill/>
        </a:ln>
      </dgm:spPr>
    </dgm:pt>
    <dgm:pt modelId="{EC8A132B-7A37-405A-AE61-D0A4AC9C84D4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gm:t>
    </dgm:pt>
    <dgm:pt modelId="{32CD99DD-DBD5-46DF-9738-9B2F36BDE0E4}" type="parTrans" cxnId="{B5EE44BA-904D-416F-8BB4-76FF1C1AF67F}">
      <dgm:prSet/>
      <dgm:spPr>
        <a:ln>
          <a:noFill/>
        </a:ln>
      </dgm:spPr>
    </dgm:pt>
    <dgm:pt modelId="{9CDDEC2B-949A-41B6-A712-E77569C8E717}" type="sibTrans" cxnId="{B5EE44BA-904D-416F-8BB4-76FF1C1AF67F}">
      <dgm:prSet/>
      <dgm:spPr>
        <a:ln>
          <a:noFill/>
        </a:ln>
      </dgm:spPr>
    </dgm:pt>
    <dgm:pt modelId="{15F593F2-40E2-4653-8025-677035C3DC9D}" type="pres">
      <dgm:prSet presAssocID="{89EDD9F4-517A-423A-8062-52F906573F35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C4EF7803-CBF7-4F68-B5E2-A27214E782BF}" type="pres">
      <dgm:prSet presAssocID="{AC981AEB-3240-40F7-8BC7-3462D77E5EEF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7F42B213-6EC2-4A7A-98EE-FD00CE627AC2}" type="pres">
      <dgm:prSet presAssocID="{A9960062-BEFF-4C31-BFD0-6D440E5FE1E1}" presName="parTxOnlySpace" presStyleCnt="0"/>
      <dgm:spPr>
        <a:ln>
          <a:noFill/>
        </a:ln>
      </dgm:spPr>
    </dgm:pt>
    <dgm:pt modelId="{C17A1487-1862-4A32-B801-89B618873E04}" type="pres">
      <dgm:prSet presAssocID="{87F06D40-41DD-4A2F-9F9C-1ED0B44BA962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4C1C00FF-9A18-4423-93D0-E6C21EE159AE}" type="pres">
      <dgm:prSet presAssocID="{664B6AAE-09E3-44FF-B508-272C0951CC9B}" presName="parTxOnlySpace" presStyleCnt="0"/>
      <dgm:spPr>
        <a:ln>
          <a:noFill/>
        </a:ln>
      </dgm:spPr>
    </dgm:pt>
    <dgm:pt modelId="{9F404DEC-4EC8-4518-BE85-93B7692E5638}" type="pres">
      <dgm:prSet presAssocID="{76DF3A45-5741-4BF8-90F1-4A7020D88F3E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4B4707A9-14D8-4951-8914-17DD9D9F43B5}" type="pres">
      <dgm:prSet presAssocID="{046FAA88-BA00-4B76-992A-C499E3920AED}" presName="parTxOnlySpace" presStyleCnt="0"/>
      <dgm:spPr>
        <a:ln>
          <a:noFill/>
        </a:ln>
      </dgm:spPr>
    </dgm:pt>
    <dgm:pt modelId="{E56216AE-4B62-49BF-B577-95F970D228C9}" type="pres">
      <dgm:prSet presAssocID="{EC8A132B-7A37-405A-AE61-D0A4AC9C84D4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C7F0E118-69A9-4B8A-9E68-80201368D004}" srcId="{89EDD9F4-517A-423A-8062-52F906573F35}" destId="{87F06D40-41DD-4A2F-9F9C-1ED0B44BA962}" srcOrd="1" destOrd="0" parTransId="{6FBBE429-3EA0-4B1D-A348-FCAA80388784}" sibTransId="{664B6AAE-09E3-44FF-B508-272C0951CC9B}"/>
    <dgm:cxn modelId="{38C55C22-FD2D-45CC-9831-7470FFECD64E}" type="presOf" srcId="{89EDD9F4-517A-423A-8062-52F906573F35}" destId="{15F593F2-40E2-4653-8025-677035C3DC9D}" srcOrd="0" destOrd="0" presId="urn:microsoft.com/office/officeart/2005/8/layout/chevron1#1"/>
    <dgm:cxn modelId="{02074744-DBB7-4014-8363-60EC43DBA6CD}" type="presOf" srcId="{76DF3A45-5741-4BF8-90F1-4A7020D88F3E}" destId="{9F404DEC-4EC8-4518-BE85-93B7692E5638}" srcOrd="0" destOrd="0" presId="urn:microsoft.com/office/officeart/2005/8/layout/chevron1#1"/>
    <dgm:cxn modelId="{24D59777-028E-451A-82DA-909A1AEC3027}" srcId="{89EDD9F4-517A-423A-8062-52F906573F35}" destId="{AC981AEB-3240-40F7-8BC7-3462D77E5EEF}" srcOrd="0" destOrd="0" parTransId="{D0B8BA5E-0640-44FB-AA31-9E7844B28449}" sibTransId="{A9960062-BEFF-4C31-BFD0-6D440E5FE1E1}"/>
    <dgm:cxn modelId="{110A6484-7110-4C95-9B49-775F40941B1B}" srcId="{89EDD9F4-517A-423A-8062-52F906573F35}" destId="{76DF3A45-5741-4BF8-90F1-4A7020D88F3E}" srcOrd="2" destOrd="0" parTransId="{AA39D22C-D631-42B8-8A60-DABAE6EE922F}" sibTransId="{046FAA88-BA00-4B76-992A-C499E3920AED}"/>
    <dgm:cxn modelId="{B5EE44BA-904D-416F-8BB4-76FF1C1AF67F}" srcId="{89EDD9F4-517A-423A-8062-52F906573F35}" destId="{EC8A132B-7A37-405A-AE61-D0A4AC9C84D4}" srcOrd="3" destOrd="0" parTransId="{32CD99DD-DBD5-46DF-9738-9B2F36BDE0E4}" sibTransId="{9CDDEC2B-949A-41B6-A712-E77569C8E717}"/>
    <dgm:cxn modelId="{25C83AEB-7E6A-4811-811C-48DC57D32A63}" type="presOf" srcId="{AC981AEB-3240-40F7-8BC7-3462D77E5EEF}" destId="{C4EF7803-CBF7-4F68-B5E2-A27214E782BF}" srcOrd="0" destOrd="0" presId="urn:microsoft.com/office/officeart/2005/8/layout/chevron1#1"/>
    <dgm:cxn modelId="{C2106DF6-D6A2-49E4-BAFA-5D750DDEF7C3}" type="presOf" srcId="{EC8A132B-7A37-405A-AE61-D0A4AC9C84D4}" destId="{E56216AE-4B62-49BF-B577-95F970D228C9}" srcOrd="0" destOrd="0" presId="urn:microsoft.com/office/officeart/2005/8/layout/chevron1#1"/>
    <dgm:cxn modelId="{C8ED67F8-207C-47C2-85A0-36C82DA29F5A}" type="presOf" srcId="{87F06D40-41DD-4A2F-9F9C-1ED0B44BA962}" destId="{C17A1487-1862-4A32-B801-89B618873E04}" srcOrd="0" destOrd="0" presId="urn:microsoft.com/office/officeart/2005/8/layout/chevron1#1"/>
    <dgm:cxn modelId="{D0EFF3B6-E4F2-4B6D-A9D3-5680F8F7DDBC}" type="presParOf" srcId="{15F593F2-40E2-4653-8025-677035C3DC9D}" destId="{C4EF7803-CBF7-4F68-B5E2-A27214E782BF}" srcOrd="0" destOrd="0" presId="urn:microsoft.com/office/officeart/2005/8/layout/chevron1#1"/>
    <dgm:cxn modelId="{4DF86A96-FF9B-43FA-B523-DE662ABFEBFD}" type="presParOf" srcId="{15F593F2-40E2-4653-8025-677035C3DC9D}" destId="{7F42B213-6EC2-4A7A-98EE-FD00CE627AC2}" srcOrd="1" destOrd="0" presId="urn:microsoft.com/office/officeart/2005/8/layout/chevron1#1"/>
    <dgm:cxn modelId="{6ECCF7C3-0645-4626-A41E-BEE32AE1FD38}" type="presParOf" srcId="{15F593F2-40E2-4653-8025-677035C3DC9D}" destId="{C17A1487-1862-4A32-B801-89B618873E04}" srcOrd="2" destOrd="0" presId="urn:microsoft.com/office/officeart/2005/8/layout/chevron1#1"/>
    <dgm:cxn modelId="{E5B8DE1C-33F9-4E01-9629-46FA7E111D45}" type="presParOf" srcId="{15F593F2-40E2-4653-8025-677035C3DC9D}" destId="{4C1C00FF-9A18-4423-93D0-E6C21EE159AE}" srcOrd="3" destOrd="0" presId="urn:microsoft.com/office/officeart/2005/8/layout/chevron1#1"/>
    <dgm:cxn modelId="{51034CBE-7419-4500-8460-737D374B25E9}" type="presParOf" srcId="{15F593F2-40E2-4653-8025-677035C3DC9D}" destId="{9F404DEC-4EC8-4518-BE85-93B7692E5638}" srcOrd="4" destOrd="0" presId="urn:microsoft.com/office/officeart/2005/8/layout/chevron1#1"/>
    <dgm:cxn modelId="{5CF547D9-5245-4382-8157-6EC67EB041B9}" type="presParOf" srcId="{15F593F2-40E2-4653-8025-677035C3DC9D}" destId="{4B4707A9-14D8-4951-8914-17DD9D9F43B5}" srcOrd="5" destOrd="0" presId="urn:microsoft.com/office/officeart/2005/8/layout/chevron1#1"/>
    <dgm:cxn modelId="{C4DDF6FA-AEF9-483D-B368-FE146FCD804F}" type="presParOf" srcId="{15F593F2-40E2-4653-8025-677035C3DC9D}" destId="{E56216AE-4B62-49BF-B577-95F970D228C9}" srcOrd="6" destOrd="0" presId="urn:microsoft.com/office/officeart/2005/8/layout/chevron1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2FB6087-18D1-4D29-8D38-D69068CDCAA1}" type="doc">
      <dgm:prSet loTypeId="urn:microsoft.com/office/officeart/2005/8/layout/chevron1#2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D5012695-E636-436E-8E3E-60550BC3080E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D011BB17-273C-43A7-9534-7D6867EB323B}" type="parTrans" cxnId="{B5C4A2E6-F87E-4C30-B8FF-DA9D8274F805}">
      <dgm:prSet/>
      <dgm:spPr>
        <a:ln>
          <a:noFill/>
        </a:ln>
      </dgm:spPr>
    </dgm:pt>
    <dgm:pt modelId="{5A8C8C40-ED59-4A53-BBF4-00D4DDB77587}" type="sibTrans" cxnId="{B5C4A2E6-F87E-4C30-B8FF-DA9D8274F805}">
      <dgm:prSet/>
      <dgm:spPr>
        <a:ln>
          <a:noFill/>
        </a:ln>
      </dgm:spPr>
    </dgm:pt>
    <dgm:pt modelId="{66535F52-61D9-45C6-A6A4-51615B77690B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gm:t>
    </dgm:pt>
    <dgm:pt modelId="{445B3268-3ED4-442B-8356-5972CB7E5BD9}" type="parTrans" cxnId="{E47AA7E2-1FAD-4FEC-AA84-3AA156AC703E}">
      <dgm:prSet/>
      <dgm:spPr>
        <a:ln>
          <a:noFill/>
        </a:ln>
      </dgm:spPr>
    </dgm:pt>
    <dgm:pt modelId="{4C48BA04-16AB-426D-9FF7-5B3917EEC521}" type="sibTrans" cxnId="{E47AA7E2-1FAD-4FEC-AA84-3AA156AC703E}">
      <dgm:prSet/>
      <dgm:spPr>
        <a:ln>
          <a:noFill/>
        </a:ln>
      </dgm:spPr>
    </dgm:pt>
    <dgm:pt modelId="{8FC3E99C-7BCE-40A0-B316-2E0BBFF2573F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gm:t>
    </dgm:pt>
    <dgm:pt modelId="{EE417929-F4EB-484C-B448-8FB7F6FAA560}" type="parTrans" cxnId="{60C38AB2-83D2-4382-8B8B-D0B73A2D5C3E}">
      <dgm:prSet/>
      <dgm:spPr>
        <a:ln>
          <a:noFill/>
        </a:ln>
      </dgm:spPr>
    </dgm:pt>
    <dgm:pt modelId="{28CC5E52-56CA-4ED8-9E57-361314D7E4E7}" type="sibTrans" cxnId="{60C38AB2-83D2-4382-8B8B-D0B73A2D5C3E}">
      <dgm:prSet/>
      <dgm:spPr>
        <a:ln>
          <a:noFill/>
        </a:ln>
      </dgm:spPr>
    </dgm:pt>
    <dgm:pt modelId="{78F4C9A7-4E95-49A6-8310-38E561C483BA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gm:t>
    </dgm:pt>
    <dgm:pt modelId="{1A4C9B87-5E60-4AF8-90DD-5092BDC56D0A}" type="parTrans" cxnId="{CE83A0D4-461A-4608-ACF2-4D983D460C8B}">
      <dgm:prSet/>
      <dgm:spPr>
        <a:ln>
          <a:noFill/>
        </a:ln>
      </dgm:spPr>
    </dgm:pt>
    <dgm:pt modelId="{16161CE9-EF96-438E-8D2F-6C98A6668D83}" type="sibTrans" cxnId="{CE83A0D4-461A-4608-ACF2-4D983D460C8B}">
      <dgm:prSet/>
      <dgm:spPr>
        <a:ln>
          <a:noFill/>
        </a:ln>
      </dgm:spPr>
    </dgm:pt>
    <dgm:pt modelId="{19B0610F-282C-4322-866B-0055FAF46627}" type="pres">
      <dgm:prSet presAssocID="{62FB6087-18D1-4D29-8D38-D69068CDCAA1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54D1D34D-643C-499A-B330-F91526D1DBE8}" type="pres">
      <dgm:prSet presAssocID="{D5012695-E636-436E-8E3E-60550BC3080E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4B66681B-9D4C-436C-87BB-82E64E68F6C8}" type="pres">
      <dgm:prSet presAssocID="{5A8C8C40-ED59-4A53-BBF4-00D4DDB77587}" presName="parTxOnlySpace" presStyleCnt="0"/>
      <dgm:spPr>
        <a:ln>
          <a:noFill/>
        </a:ln>
      </dgm:spPr>
    </dgm:pt>
    <dgm:pt modelId="{6636E125-B383-4A9D-B027-3EFC54D58BB6}" type="pres">
      <dgm:prSet presAssocID="{66535F52-61D9-45C6-A6A4-51615B77690B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B7D1B483-87CF-4091-8E45-AEF05E32D037}" type="pres">
      <dgm:prSet presAssocID="{4C48BA04-16AB-426D-9FF7-5B3917EEC521}" presName="parTxOnlySpace" presStyleCnt="0"/>
      <dgm:spPr>
        <a:ln>
          <a:noFill/>
        </a:ln>
      </dgm:spPr>
    </dgm:pt>
    <dgm:pt modelId="{EC812F4D-EF66-448A-B027-679DD9AEE63D}" type="pres">
      <dgm:prSet presAssocID="{8FC3E99C-7BCE-40A0-B316-2E0BBFF2573F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AA5BB0A8-BEB9-4A1C-ADF5-7F8122850824}" type="pres">
      <dgm:prSet presAssocID="{28CC5E52-56CA-4ED8-9E57-361314D7E4E7}" presName="parTxOnlySpace" presStyleCnt="0"/>
      <dgm:spPr>
        <a:ln>
          <a:noFill/>
        </a:ln>
      </dgm:spPr>
    </dgm:pt>
    <dgm:pt modelId="{4BCE8E4B-4C6F-4AB8-BA87-94EBADC2C5D0}" type="pres">
      <dgm:prSet presAssocID="{78F4C9A7-4E95-49A6-8310-38E561C483BA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55783121-B2C6-4347-969B-6E2E8594B33B}" type="presOf" srcId="{62FB6087-18D1-4D29-8D38-D69068CDCAA1}" destId="{19B0610F-282C-4322-866B-0055FAF46627}" srcOrd="0" destOrd="0" presId="urn:microsoft.com/office/officeart/2005/8/layout/chevron1#2"/>
    <dgm:cxn modelId="{AC4F6029-1BF4-47CB-8BA5-680A584F2DDF}" type="presOf" srcId="{D5012695-E636-436E-8E3E-60550BC3080E}" destId="{54D1D34D-643C-499A-B330-F91526D1DBE8}" srcOrd="0" destOrd="0" presId="urn:microsoft.com/office/officeart/2005/8/layout/chevron1#2"/>
    <dgm:cxn modelId="{6B6CE272-F2F3-4936-B001-E499C3B681C4}" type="presOf" srcId="{8FC3E99C-7BCE-40A0-B316-2E0BBFF2573F}" destId="{EC812F4D-EF66-448A-B027-679DD9AEE63D}" srcOrd="0" destOrd="0" presId="urn:microsoft.com/office/officeart/2005/8/layout/chevron1#2"/>
    <dgm:cxn modelId="{33E33F55-80EC-484E-A613-EF53AA13C72A}" type="presOf" srcId="{66535F52-61D9-45C6-A6A4-51615B77690B}" destId="{6636E125-B383-4A9D-B027-3EFC54D58BB6}" srcOrd="0" destOrd="0" presId="urn:microsoft.com/office/officeart/2005/8/layout/chevron1#2"/>
    <dgm:cxn modelId="{5A1E9998-D021-48E7-9F22-4B7E9E7C1B1C}" type="presOf" srcId="{78F4C9A7-4E95-49A6-8310-38E561C483BA}" destId="{4BCE8E4B-4C6F-4AB8-BA87-94EBADC2C5D0}" srcOrd="0" destOrd="0" presId="urn:microsoft.com/office/officeart/2005/8/layout/chevron1#2"/>
    <dgm:cxn modelId="{60C38AB2-83D2-4382-8B8B-D0B73A2D5C3E}" srcId="{62FB6087-18D1-4D29-8D38-D69068CDCAA1}" destId="{8FC3E99C-7BCE-40A0-B316-2E0BBFF2573F}" srcOrd="2" destOrd="0" parTransId="{EE417929-F4EB-484C-B448-8FB7F6FAA560}" sibTransId="{28CC5E52-56CA-4ED8-9E57-361314D7E4E7}"/>
    <dgm:cxn modelId="{CE83A0D4-461A-4608-ACF2-4D983D460C8B}" srcId="{62FB6087-18D1-4D29-8D38-D69068CDCAA1}" destId="{78F4C9A7-4E95-49A6-8310-38E561C483BA}" srcOrd="3" destOrd="0" parTransId="{1A4C9B87-5E60-4AF8-90DD-5092BDC56D0A}" sibTransId="{16161CE9-EF96-438E-8D2F-6C98A6668D83}"/>
    <dgm:cxn modelId="{E47AA7E2-1FAD-4FEC-AA84-3AA156AC703E}" srcId="{62FB6087-18D1-4D29-8D38-D69068CDCAA1}" destId="{66535F52-61D9-45C6-A6A4-51615B77690B}" srcOrd="1" destOrd="0" parTransId="{445B3268-3ED4-442B-8356-5972CB7E5BD9}" sibTransId="{4C48BA04-16AB-426D-9FF7-5B3917EEC521}"/>
    <dgm:cxn modelId="{B5C4A2E6-F87E-4C30-B8FF-DA9D8274F805}" srcId="{62FB6087-18D1-4D29-8D38-D69068CDCAA1}" destId="{D5012695-E636-436E-8E3E-60550BC3080E}" srcOrd="0" destOrd="0" parTransId="{D011BB17-273C-43A7-9534-7D6867EB323B}" sibTransId="{5A8C8C40-ED59-4A53-BBF4-00D4DDB77587}"/>
    <dgm:cxn modelId="{9DDA5030-F4D5-4F60-81FE-17C64614F518}" type="presParOf" srcId="{19B0610F-282C-4322-866B-0055FAF46627}" destId="{54D1D34D-643C-499A-B330-F91526D1DBE8}" srcOrd="0" destOrd="0" presId="urn:microsoft.com/office/officeart/2005/8/layout/chevron1#2"/>
    <dgm:cxn modelId="{C8ED28C5-1DD9-4885-840B-086B2A7EB6BC}" type="presParOf" srcId="{19B0610F-282C-4322-866B-0055FAF46627}" destId="{4B66681B-9D4C-436C-87BB-82E64E68F6C8}" srcOrd="1" destOrd="0" presId="urn:microsoft.com/office/officeart/2005/8/layout/chevron1#2"/>
    <dgm:cxn modelId="{032CB6FE-5464-43D9-9665-77F40DBF7861}" type="presParOf" srcId="{19B0610F-282C-4322-866B-0055FAF46627}" destId="{6636E125-B383-4A9D-B027-3EFC54D58BB6}" srcOrd="2" destOrd="0" presId="urn:microsoft.com/office/officeart/2005/8/layout/chevron1#2"/>
    <dgm:cxn modelId="{79F4CB33-4866-48D9-9DC6-0390A47EA9E6}" type="presParOf" srcId="{19B0610F-282C-4322-866B-0055FAF46627}" destId="{B7D1B483-87CF-4091-8E45-AEF05E32D037}" srcOrd="3" destOrd="0" presId="urn:microsoft.com/office/officeart/2005/8/layout/chevron1#2"/>
    <dgm:cxn modelId="{AF7401B2-4231-4570-8711-83F5617B87E6}" type="presParOf" srcId="{19B0610F-282C-4322-866B-0055FAF46627}" destId="{EC812F4D-EF66-448A-B027-679DD9AEE63D}" srcOrd="4" destOrd="0" presId="urn:microsoft.com/office/officeart/2005/8/layout/chevron1#2"/>
    <dgm:cxn modelId="{DD643616-A114-43CF-8265-2475291604A2}" type="presParOf" srcId="{19B0610F-282C-4322-866B-0055FAF46627}" destId="{AA5BB0A8-BEB9-4A1C-ADF5-7F8122850824}" srcOrd="5" destOrd="0" presId="urn:microsoft.com/office/officeart/2005/8/layout/chevron1#2"/>
    <dgm:cxn modelId="{03454C2C-BB9D-46BA-B390-3C3B24C9F4BC}" type="presParOf" srcId="{19B0610F-282C-4322-866B-0055FAF46627}" destId="{4BCE8E4B-4C6F-4AB8-BA87-94EBADC2C5D0}" srcOrd="6" destOrd="0" presId="urn:microsoft.com/office/officeart/2005/8/layout/chevron1#2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9EDD9F4-517A-423A-8062-52F906573F35}" type="doc">
      <dgm:prSet loTypeId="urn:microsoft.com/office/officeart/2005/8/layout/chevron1#3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AC981AEB-3240-40F7-8BC7-3462D77E5EEF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D0B8BA5E-0640-44FB-AA31-9E7844B28449}" type="parTrans" cxnId="{24D59777-028E-451A-82DA-909A1AEC3027}">
      <dgm:prSet/>
      <dgm:spPr>
        <a:ln>
          <a:noFill/>
        </a:ln>
      </dgm:spPr>
    </dgm:pt>
    <dgm:pt modelId="{A9960062-BEFF-4C31-BFD0-6D440E5FE1E1}" type="sibTrans" cxnId="{24D59777-028E-451A-82DA-909A1AEC3027}">
      <dgm:prSet/>
      <dgm:spPr>
        <a:ln>
          <a:noFill/>
        </a:ln>
      </dgm:spPr>
    </dgm:pt>
    <dgm:pt modelId="{87F06D40-41DD-4A2F-9F9C-1ED0B44BA962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Situation</a:t>
          </a:r>
        </a:p>
      </dgm:t>
    </dgm:pt>
    <dgm:pt modelId="{6FBBE429-3EA0-4B1D-A348-FCAA80388784}" type="parTrans" cxnId="{C7F0E118-69A9-4B8A-9E68-80201368D004}">
      <dgm:prSet/>
      <dgm:spPr>
        <a:ln>
          <a:noFill/>
        </a:ln>
      </dgm:spPr>
    </dgm:pt>
    <dgm:pt modelId="{664B6AAE-09E3-44FF-B508-272C0951CC9B}" type="sibTrans" cxnId="{C7F0E118-69A9-4B8A-9E68-80201368D004}">
      <dgm:prSet/>
      <dgm:spPr>
        <a:ln>
          <a:noFill/>
        </a:ln>
      </dgm:spPr>
    </dgm:pt>
    <dgm:pt modelId="{76DF3A45-5741-4BF8-90F1-4A7020D88F3E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gm:t>
    </dgm:pt>
    <dgm:pt modelId="{AA39D22C-D631-42B8-8A60-DABAE6EE922F}" type="parTrans" cxnId="{110A6484-7110-4C95-9B49-775F40941B1B}">
      <dgm:prSet/>
      <dgm:spPr>
        <a:ln>
          <a:noFill/>
        </a:ln>
      </dgm:spPr>
    </dgm:pt>
    <dgm:pt modelId="{046FAA88-BA00-4B76-992A-C499E3920AED}" type="sibTrans" cxnId="{110A6484-7110-4C95-9B49-775F40941B1B}">
      <dgm:prSet/>
      <dgm:spPr>
        <a:ln>
          <a:noFill/>
        </a:ln>
      </dgm:spPr>
    </dgm:pt>
    <dgm:pt modelId="{EC8A132B-7A37-405A-AE61-D0A4AC9C84D4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gm:t>
    </dgm:pt>
    <dgm:pt modelId="{32CD99DD-DBD5-46DF-9738-9B2F36BDE0E4}" type="parTrans" cxnId="{B5EE44BA-904D-416F-8BB4-76FF1C1AF67F}">
      <dgm:prSet/>
      <dgm:spPr>
        <a:ln>
          <a:noFill/>
        </a:ln>
      </dgm:spPr>
    </dgm:pt>
    <dgm:pt modelId="{9CDDEC2B-949A-41B6-A712-E77569C8E717}" type="sibTrans" cxnId="{B5EE44BA-904D-416F-8BB4-76FF1C1AF67F}">
      <dgm:prSet/>
      <dgm:spPr>
        <a:ln>
          <a:noFill/>
        </a:ln>
      </dgm:spPr>
    </dgm:pt>
    <dgm:pt modelId="{15F593F2-40E2-4653-8025-677035C3DC9D}" type="pres">
      <dgm:prSet presAssocID="{89EDD9F4-517A-423A-8062-52F906573F35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C4EF7803-CBF7-4F68-B5E2-A27214E782BF}" type="pres">
      <dgm:prSet presAssocID="{AC981AEB-3240-40F7-8BC7-3462D77E5EEF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7F42B213-6EC2-4A7A-98EE-FD00CE627AC2}" type="pres">
      <dgm:prSet presAssocID="{A9960062-BEFF-4C31-BFD0-6D440E5FE1E1}" presName="parTxOnlySpace" presStyleCnt="0"/>
      <dgm:spPr>
        <a:ln>
          <a:noFill/>
        </a:ln>
      </dgm:spPr>
    </dgm:pt>
    <dgm:pt modelId="{C17A1487-1862-4A32-B801-89B618873E04}" type="pres">
      <dgm:prSet presAssocID="{87F06D40-41DD-4A2F-9F9C-1ED0B44BA962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4C1C00FF-9A18-4423-93D0-E6C21EE159AE}" type="pres">
      <dgm:prSet presAssocID="{664B6AAE-09E3-44FF-B508-272C0951CC9B}" presName="parTxOnlySpace" presStyleCnt="0"/>
      <dgm:spPr>
        <a:ln>
          <a:noFill/>
        </a:ln>
      </dgm:spPr>
    </dgm:pt>
    <dgm:pt modelId="{9F404DEC-4EC8-4518-BE85-93B7692E5638}" type="pres">
      <dgm:prSet presAssocID="{76DF3A45-5741-4BF8-90F1-4A7020D88F3E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4B4707A9-14D8-4951-8914-17DD9D9F43B5}" type="pres">
      <dgm:prSet presAssocID="{046FAA88-BA00-4B76-992A-C499E3920AED}" presName="parTxOnlySpace" presStyleCnt="0"/>
      <dgm:spPr>
        <a:ln>
          <a:noFill/>
        </a:ln>
      </dgm:spPr>
    </dgm:pt>
    <dgm:pt modelId="{E56216AE-4B62-49BF-B577-95F970D228C9}" type="pres">
      <dgm:prSet presAssocID="{EC8A132B-7A37-405A-AE61-D0A4AC9C84D4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C7F0E118-69A9-4B8A-9E68-80201368D004}" srcId="{89EDD9F4-517A-423A-8062-52F906573F35}" destId="{87F06D40-41DD-4A2F-9F9C-1ED0B44BA962}" srcOrd="1" destOrd="0" parTransId="{6FBBE429-3EA0-4B1D-A348-FCAA80388784}" sibTransId="{664B6AAE-09E3-44FF-B508-272C0951CC9B}"/>
    <dgm:cxn modelId="{38C55C22-FD2D-45CC-9831-7470FFECD64E}" type="presOf" srcId="{89EDD9F4-517A-423A-8062-52F906573F35}" destId="{15F593F2-40E2-4653-8025-677035C3DC9D}" srcOrd="0" destOrd="0" presId="urn:microsoft.com/office/officeart/2005/8/layout/chevron1#3"/>
    <dgm:cxn modelId="{02074744-DBB7-4014-8363-60EC43DBA6CD}" type="presOf" srcId="{76DF3A45-5741-4BF8-90F1-4A7020D88F3E}" destId="{9F404DEC-4EC8-4518-BE85-93B7692E5638}" srcOrd="0" destOrd="0" presId="urn:microsoft.com/office/officeart/2005/8/layout/chevron1#3"/>
    <dgm:cxn modelId="{24D59777-028E-451A-82DA-909A1AEC3027}" srcId="{89EDD9F4-517A-423A-8062-52F906573F35}" destId="{AC981AEB-3240-40F7-8BC7-3462D77E5EEF}" srcOrd="0" destOrd="0" parTransId="{D0B8BA5E-0640-44FB-AA31-9E7844B28449}" sibTransId="{A9960062-BEFF-4C31-BFD0-6D440E5FE1E1}"/>
    <dgm:cxn modelId="{110A6484-7110-4C95-9B49-775F40941B1B}" srcId="{89EDD9F4-517A-423A-8062-52F906573F35}" destId="{76DF3A45-5741-4BF8-90F1-4A7020D88F3E}" srcOrd="2" destOrd="0" parTransId="{AA39D22C-D631-42B8-8A60-DABAE6EE922F}" sibTransId="{046FAA88-BA00-4B76-992A-C499E3920AED}"/>
    <dgm:cxn modelId="{B5EE44BA-904D-416F-8BB4-76FF1C1AF67F}" srcId="{89EDD9F4-517A-423A-8062-52F906573F35}" destId="{EC8A132B-7A37-405A-AE61-D0A4AC9C84D4}" srcOrd="3" destOrd="0" parTransId="{32CD99DD-DBD5-46DF-9738-9B2F36BDE0E4}" sibTransId="{9CDDEC2B-949A-41B6-A712-E77569C8E717}"/>
    <dgm:cxn modelId="{25C83AEB-7E6A-4811-811C-48DC57D32A63}" type="presOf" srcId="{AC981AEB-3240-40F7-8BC7-3462D77E5EEF}" destId="{C4EF7803-CBF7-4F68-B5E2-A27214E782BF}" srcOrd="0" destOrd="0" presId="urn:microsoft.com/office/officeart/2005/8/layout/chevron1#3"/>
    <dgm:cxn modelId="{C2106DF6-D6A2-49E4-BAFA-5D750DDEF7C3}" type="presOf" srcId="{EC8A132B-7A37-405A-AE61-D0A4AC9C84D4}" destId="{E56216AE-4B62-49BF-B577-95F970D228C9}" srcOrd="0" destOrd="0" presId="urn:microsoft.com/office/officeart/2005/8/layout/chevron1#3"/>
    <dgm:cxn modelId="{C8ED67F8-207C-47C2-85A0-36C82DA29F5A}" type="presOf" srcId="{87F06D40-41DD-4A2F-9F9C-1ED0B44BA962}" destId="{C17A1487-1862-4A32-B801-89B618873E04}" srcOrd="0" destOrd="0" presId="urn:microsoft.com/office/officeart/2005/8/layout/chevron1#3"/>
    <dgm:cxn modelId="{D0EFF3B6-E4F2-4B6D-A9D3-5680F8F7DDBC}" type="presParOf" srcId="{15F593F2-40E2-4653-8025-677035C3DC9D}" destId="{C4EF7803-CBF7-4F68-B5E2-A27214E782BF}" srcOrd="0" destOrd="0" presId="urn:microsoft.com/office/officeart/2005/8/layout/chevron1#3"/>
    <dgm:cxn modelId="{4DF86A96-FF9B-43FA-B523-DE662ABFEBFD}" type="presParOf" srcId="{15F593F2-40E2-4653-8025-677035C3DC9D}" destId="{7F42B213-6EC2-4A7A-98EE-FD00CE627AC2}" srcOrd="1" destOrd="0" presId="urn:microsoft.com/office/officeart/2005/8/layout/chevron1#3"/>
    <dgm:cxn modelId="{6ECCF7C3-0645-4626-A41E-BEE32AE1FD38}" type="presParOf" srcId="{15F593F2-40E2-4653-8025-677035C3DC9D}" destId="{C17A1487-1862-4A32-B801-89B618873E04}" srcOrd="2" destOrd="0" presId="urn:microsoft.com/office/officeart/2005/8/layout/chevron1#3"/>
    <dgm:cxn modelId="{E5B8DE1C-33F9-4E01-9629-46FA7E111D45}" type="presParOf" srcId="{15F593F2-40E2-4653-8025-677035C3DC9D}" destId="{4C1C00FF-9A18-4423-93D0-E6C21EE159AE}" srcOrd="3" destOrd="0" presId="urn:microsoft.com/office/officeart/2005/8/layout/chevron1#3"/>
    <dgm:cxn modelId="{51034CBE-7419-4500-8460-737D374B25E9}" type="presParOf" srcId="{15F593F2-40E2-4653-8025-677035C3DC9D}" destId="{9F404DEC-4EC8-4518-BE85-93B7692E5638}" srcOrd="4" destOrd="0" presId="urn:microsoft.com/office/officeart/2005/8/layout/chevron1#3"/>
    <dgm:cxn modelId="{5CF547D9-5245-4382-8157-6EC67EB041B9}" type="presParOf" srcId="{15F593F2-40E2-4653-8025-677035C3DC9D}" destId="{4B4707A9-14D8-4951-8914-17DD9D9F43B5}" srcOrd="5" destOrd="0" presId="urn:microsoft.com/office/officeart/2005/8/layout/chevron1#3"/>
    <dgm:cxn modelId="{C4DDF6FA-AEF9-483D-B368-FE146FCD804F}" type="presParOf" srcId="{15F593F2-40E2-4653-8025-677035C3DC9D}" destId="{E56216AE-4B62-49BF-B577-95F970D228C9}" srcOrd="6" destOrd="0" presId="urn:microsoft.com/office/officeart/2005/8/layout/chevron1#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2FB6087-18D1-4D29-8D38-D69068CDCAA1}" type="doc">
      <dgm:prSet loTypeId="urn:microsoft.com/office/officeart/2005/8/layout/chevron1#4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D5012695-E636-436E-8E3E-60550BC3080E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D011BB17-273C-43A7-9534-7D6867EB323B}" type="parTrans" cxnId="{B5C4A2E6-F87E-4C30-B8FF-DA9D8274F805}">
      <dgm:prSet/>
      <dgm:spPr>
        <a:ln>
          <a:noFill/>
        </a:ln>
      </dgm:spPr>
    </dgm:pt>
    <dgm:pt modelId="{5A8C8C40-ED59-4A53-BBF4-00D4DDB77587}" type="sibTrans" cxnId="{B5C4A2E6-F87E-4C30-B8FF-DA9D8274F805}">
      <dgm:prSet/>
      <dgm:spPr>
        <a:ln>
          <a:noFill/>
        </a:ln>
      </dgm:spPr>
    </dgm:pt>
    <dgm:pt modelId="{66535F52-61D9-45C6-A6A4-51615B77690B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gm:t>
    </dgm:pt>
    <dgm:pt modelId="{445B3268-3ED4-442B-8356-5972CB7E5BD9}" type="parTrans" cxnId="{E47AA7E2-1FAD-4FEC-AA84-3AA156AC703E}">
      <dgm:prSet/>
      <dgm:spPr>
        <a:ln>
          <a:noFill/>
        </a:ln>
      </dgm:spPr>
    </dgm:pt>
    <dgm:pt modelId="{4C48BA04-16AB-426D-9FF7-5B3917EEC521}" type="sibTrans" cxnId="{E47AA7E2-1FAD-4FEC-AA84-3AA156AC703E}">
      <dgm:prSet/>
      <dgm:spPr>
        <a:ln>
          <a:noFill/>
        </a:ln>
      </dgm:spPr>
    </dgm:pt>
    <dgm:pt modelId="{8FC3E99C-7BCE-40A0-B316-2E0BBFF2573F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gm:t>
    </dgm:pt>
    <dgm:pt modelId="{EE417929-F4EB-484C-B448-8FB7F6FAA560}" type="parTrans" cxnId="{60C38AB2-83D2-4382-8B8B-D0B73A2D5C3E}">
      <dgm:prSet/>
      <dgm:spPr>
        <a:ln>
          <a:noFill/>
        </a:ln>
      </dgm:spPr>
    </dgm:pt>
    <dgm:pt modelId="{28CC5E52-56CA-4ED8-9E57-361314D7E4E7}" type="sibTrans" cxnId="{60C38AB2-83D2-4382-8B8B-D0B73A2D5C3E}">
      <dgm:prSet/>
      <dgm:spPr>
        <a:ln>
          <a:noFill/>
        </a:ln>
      </dgm:spPr>
    </dgm:pt>
    <dgm:pt modelId="{78F4C9A7-4E95-49A6-8310-38E561C483BA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gm:t>
    </dgm:pt>
    <dgm:pt modelId="{1A4C9B87-5E60-4AF8-90DD-5092BDC56D0A}" type="parTrans" cxnId="{CE83A0D4-461A-4608-ACF2-4D983D460C8B}">
      <dgm:prSet/>
      <dgm:spPr>
        <a:ln>
          <a:noFill/>
        </a:ln>
      </dgm:spPr>
    </dgm:pt>
    <dgm:pt modelId="{16161CE9-EF96-438E-8D2F-6C98A6668D83}" type="sibTrans" cxnId="{CE83A0D4-461A-4608-ACF2-4D983D460C8B}">
      <dgm:prSet/>
      <dgm:spPr>
        <a:ln>
          <a:noFill/>
        </a:ln>
      </dgm:spPr>
    </dgm:pt>
    <dgm:pt modelId="{19B0610F-282C-4322-866B-0055FAF46627}" type="pres">
      <dgm:prSet presAssocID="{62FB6087-18D1-4D29-8D38-D69068CDCAA1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54D1D34D-643C-499A-B330-F91526D1DBE8}" type="pres">
      <dgm:prSet presAssocID="{D5012695-E636-436E-8E3E-60550BC3080E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4B66681B-9D4C-436C-87BB-82E64E68F6C8}" type="pres">
      <dgm:prSet presAssocID="{5A8C8C40-ED59-4A53-BBF4-00D4DDB77587}" presName="parTxOnlySpace" presStyleCnt="0"/>
      <dgm:spPr>
        <a:ln>
          <a:noFill/>
        </a:ln>
      </dgm:spPr>
    </dgm:pt>
    <dgm:pt modelId="{6636E125-B383-4A9D-B027-3EFC54D58BB6}" type="pres">
      <dgm:prSet presAssocID="{66535F52-61D9-45C6-A6A4-51615B77690B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B7D1B483-87CF-4091-8E45-AEF05E32D037}" type="pres">
      <dgm:prSet presAssocID="{4C48BA04-16AB-426D-9FF7-5B3917EEC521}" presName="parTxOnlySpace" presStyleCnt="0"/>
      <dgm:spPr>
        <a:ln>
          <a:noFill/>
        </a:ln>
      </dgm:spPr>
    </dgm:pt>
    <dgm:pt modelId="{EC812F4D-EF66-448A-B027-679DD9AEE63D}" type="pres">
      <dgm:prSet presAssocID="{8FC3E99C-7BCE-40A0-B316-2E0BBFF2573F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AA5BB0A8-BEB9-4A1C-ADF5-7F8122850824}" type="pres">
      <dgm:prSet presAssocID="{28CC5E52-56CA-4ED8-9E57-361314D7E4E7}" presName="parTxOnlySpace" presStyleCnt="0"/>
      <dgm:spPr>
        <a:ln>
          <a:noFill/>
        </a:ln>
      </dgm:spPr>
    </dgm:pt>
    <dgm:pt modelId="{4BCE8E4B-4C6F-4AB8-BA87-94EBADC2C5D0}" type="pres">
      <dgm:prSet presAssocID="{78F4C9A7-4E95-49A6-8310-38E561C483BA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55783121-B2C6-4347-969B-6E2E8594B33B}" type="presOf" srcId="{62FB6087-18D1-4D29-8D38-D69068CDCAA1}" destId="{19B0610F-282C-4322-866B-0055FAF46627}" srcOrd="0" destOrd="0" presId="urn:microsoft.com/office/officeart/2005/8/layout/chevron1#4"/>
    <dgm:cxn modelId="{AC4F6029-1BF4-47CB-8BA5-680A584F2DDF}" type="presOf" srcId="{D5012695-E636-436E-8E3E-60550BC3080E}" destId="{54D1D34D-643C-499A-B330-F91526D1DBE8}" srcOrd="0" destOrd="0" presId="urn:microsoft.com/office/officeart/2005/8/layout/chevron1#4"/>
    <dgm:cxn modelId="{6B6CE272-F2F3-4936-B001-E499C3B681C4}" type="presOf" srcId="{8FC3E99C-7BCE-40A0-B316-2E0BBFF2573F}" destId="{EC812F4D-EF66-448A-B027-679DD9AEE63D}" srcOrd="0" destOrd="0" presId="urn:microsoft.com/office/officeart/2005/8/layout/chevron1#4"/>
    <dgm:cxn modelId="{33E33F55-80EC-484E-A613-EF53AA13C72A}" type="presOf" srcId="{66535F52-61D9-45C6-A6A4-51615B77690B}" destId="{6636E125-B383-4A9D-B027-3EFC54D58BB6}" srcOrd="0" destOrd="0" presId="urn:microsoft.com/office/officeart/2005/8/layout/chevron1#4"/>
    <dgm:cxn modelId="{5A1E9998-D021-48E7-9F22-4B7E9E7C1B1C}" type="presOf" srcId="{78F4C9A7-4E95-49A6-8310-38E561C483BA}" destId="{4BCE8E4B-4C6F-4AB8-BA87-94EBADC2C5D0}" srcOrd="0" destOrd="0" presId="urn:microsoft.com/office/officeart/2005/8/layout/chevron1#4"/>
    <dgm:cxn modelId="{60C38AB2-83D2-4382-8B8B-D0B73A2D5C3E}" srcId="{62FB6087-18D1-4D29-8D38-D69068CDCAA1}" destId="{8FC3E99C-7BCE-40A0-B316-2E0BBFF2573F}" srcOrd="2" destOrd="0" parTransId="{EE417929-F4EB-484C-B448-8FB7F6FAA560}" sibTransId="{28CC5E52-56CA-4ED8-9E57-361314D7E4E7}"/>
    <dgm:cxn modelId="{CE83A0D4-461A-4608-ACF2-4D983D460C8B}" srcId="{62FB6087-18D1-4D29-8D38-D69068CDCAA1}" destId="{78F4C9A7-4E95-49A6-8310-38E561C483BA}" srcOrd="3" destOrd="0" parTransId="{1A4C9B87-5E60-4AF8-90DD-5092BDC56D0A}" sibTransId="{16161CE9-EF96-438E-8D2F-6C98A6668D83}"/>
    <dgm:cxn modelId="{E47AA7E2-1FAD-4FEC-AA84-3AA156AC703E}" srcId="{62FB6087-18D1-4D29-8D38-D69068CDCAA1}" destId="{66535F52-61D9-45C6-A6A4-51615B77690B}" srcOrd="1" destOrd="0" parTransId="{445B3268-3ED4-442B-8356-5972CB7E5BD9}" sibTransId="{4C48BA04-16AB-426D-9FF7-5B3917EEC521}"/>
    <dgm:cxn modelId="{B5C4A2E6-F87E-4C30-B8FF-DA9D8274F805}" srcId="{62FB6087-18D1-4D29-8D38-D69068CDCAA1}" destId="{D5012695-E636-436E-8E3E-60550BC3080E}" srcOrd="0" destOrd="0" parTransId="{D011BB17-273C-43A7-9534-7D6867EB323B}" sibTransId="{5A8C8C40-ED59-4A53-BBF4-00D4DDB77587}"/>
    <dgm:cxn modelId="{9DDA5030-F4D5-4F60-81FE-17C64614F518}" type="presParOf" srcId="{19B0610F-282C-4322-866B-0055FAF46627}" destId="{54D1D34D-643C-499A-B330-F91526D1DBE8}" srcOrd="0" destOrd="0" presId="urn:microsoft.com/office/officeart/2005/8/layout/chevron1#4"/>
    <dgm:cxn modelId="{C8ED28C5-1DD9-4885-840B-086B2A7EB6BC}" type="presParOf" srcId="{19B0610F-282C-4322-866B-0055FAF46627}" destId="{4B66681B-9D4C-436C-87BB-82E64E68F6C8}" srcOrd="1" destOrd="0" presId="urn:microsoft.com/office/officeart/2005/8/layout/chevron1#4"/>
    <dgm:cxn modelId="{032CB6FE-5464-43D9-9665-77F40DBF7861}" type="presParOf" srcId="{19B0610F-282C-4322-866B-0055FAF46627}" destId="{6636E125-B383-4A9D-B027-3EFC54D58BB6}" srcOrd="2" destOrd="0" presId="urn:microsoft.com/office/officeart/2005/8/layout/chevron1#4"/>
    <dgm:cxn modelId="{79F4CB33-4866-48D9-9DC6-0390A47EA9E6}" type="presParOf" srcId="{19B0610F-282C-4322-866B-0055FAF46627}" destId="{B7D1B483-87CF-4091-8E45-AEF05E32D037}" srcOrd="3" destOrd="0" presId="urn:microsoft.com/office/officeart/2005/8/layout/chevron1#4"/>
    <dgm:cxn modelId="{AF7401B2-4231-4570-8711-83F5617B87E6}" type="presParOf" srcId="{19B0610F-282C-4322-866B-0055FAF46627}" destId="{EC812F4D-EF66-448A-B027-679DD9AEE63D}" srcOrd="4" destOrd="0" presId="urn:microsoft.com/office/officeart/2005/8/layout/chevron1#4"/>
    <dgm:cxn modelId="{DD643616-A114-43CF-8265-2475291604A2}" type="presParOf" srcId="{19B0610F-282C-4322-866B-0055FAF46627}" destId="{AA5BB0A8-BEB9-4A1C-ADF5-7F8122850824}" srcOrd="5" destOrd="0" presId="urn:microsoft.com/office/officeart/2005/8/layout/chevron1#4"/>
    <dgm:cxn modelId="{03454C2C-BB9D-46BA-B390-3C3B24C9F4BC}" type="presParOf" srcId="{19B0610F-282C-4322-866B-0055FAF46627}" destId="{4BCE8E4B-4C6F-4AB8-BA87-94EBADC2C5D0}" srcOrd="6" destOrd="0" presId="urn:microsoft.com/office/officeart/2005/8/layout/chevron1#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2FB6087-18D1-4D29-8D38-D69068CDCAA1}" type="doc">
      <dgm:prSet loTypeId="urn:microsoft.com/office/officeart/2005/8/layout/chevron1#5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D5012695-E636-436E-8E3E-60550BC3080E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D011BB17-273C-43A7-9534-7D6867EB323B}" type="parTrans" cxnId="{B5C4A2E6-F87E-4C30-B8FF-DA9D8274F805}">
      <dgm:prSet/>
      <dgm:spPr>
        <a:ln>
          <a:noFill/>
        </a:ln>
      </dgm:spPr>
    </dgm:pt>
    <dgm:pt modelId="{5A8C8C40-ED59-4A53-BBF4-00D4DDB77587}" type="sibTrans" cxnId="{B5C4A2E6-F87E-4C30-B8FF-DA9D8274F805}">
      <dgm:prSet/>
      <dgm:spPr>
        <a:ln>
          <a:noFill/>
        </a:ln>
      </dgm:spPr>
    </dgm:pt>
    <dgm:pt modelId="{66535F52-61D9-45C6-A6A4-51615B77690B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gm:t>
    </dgm:pt>
    <dgm:pt modelId="{445B3268-3ED4-442B-8356-5972CB7E5BD9}" type="parTrans" cxnId="{E47AA7E2-1FAD-4FEC-AA84-3AA156AC703E}">
      <dgm:prSet/>
      <dgm:spPr>
        <a:ln>
          <a:noFill/>
        </a:ln>
      </dgm:spPr>
    </dgm:pt>
    <dgm:pt modelId="{4C48BA04-16AB-426D-9FF7-5B3917EEC521}" type="sibTrans" cxnId="{E47AA7E2-1FAD-4FEC-AA84-3AA156AC703E}">
      <dgm:prSet/>
      <dgm:spPr>
        <a:ln>
          <a:noFill/>
        </a:ln>
      </dgm:spPr>
    </dgm:pt>
    <dgm:pt modelId="{8FC3E99C-7BCE-40A0-B316-2E0BBFF2573F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gm:t>
    </dgm:pt>
    <dgm:pt modelId="{EE417929-F4EB-484C-B448-8FB7F6FAA560}" type="parTrans" cxnId="{60C38AB2-83D2-4382-8B8B-D0B73A2D5C3E}">
      <dgm:prSet/>
      <dgm:spPr>
        <a:ln>
          <a:noFill/>
        </a:ln>
      </dgm:spPr>
    </dgm:pt>
    <dgm:pt modelId="{28CC5E52-56CA-4ED8-9E57-361314D7E4E7}" type="sibTrans" cxnId="{60C38AB2-83D2-4382-8B8B-D0B73A2D5C3E}">
      <dgm:prSet/>
      <dgm:spPr>
        <a:ln>
          <a:noFill/>
        </a:ln>
      </dgm:spPr>
    </dgm:pt>
    <dgm:pt modelId="{78F4C9A7-4E95-49A6-8310-38E561C483BA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gm:t>
    </dgm:pt>
    <dgm:pt modelId="{1A4C9B87-5E60-4AF8-90DD-5092BDC56D0A}" type="parTrans" cxnId="{CE83A0D4-461A-4608-ACF2-4D983D460C8B}">
      <dgm:prSet/>
      <dgm:spPr>
        <a:ln>
          <a:noFill/>
        </a:ln>
      </dgm:spPr>
    </dgm:pt>
    <dgm:pt modelId="{16161CE9-EF96-438E-8D2F-6C98A6668D83}" type="sibTrans" cxnId="{CE83A0D4-461A-4608-ACF2-4D983D460C8B}">
      <dgm:prSet/>
      <dgm:spPr>
        <a:ln>
          <a:noFill/>
        </a:ln>
      </dgm:spPr>
    </dgm:pt>
    <dgm:pt modelId="{19B0610F-282C-4322-866B-0055FAF46627}" type="pres">
      <dgm:prSet presAssocID="{62FB6087-18D1-4D29-8D38-D69068CDCAA1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54D1D34D-643C-499A-B330-F91526D1DBE8}" type="pres">
      <dgm:prSet presAssocID="{D5012695-E636-436E-8E3E-60550BC3080E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4B66681B-9D4C-436C-87BB-82E64E68F6C8}" type="pres">
      <dgm:prSet presAssocID="{5A8C8C40-ED59-4A53-BBF4-00D4DDB77587}" presName="parTxOnlySpace" presStyleCnt="0"/>
      <dgm:spPr>
        <a:ln>
          <a:noFill/>
        </a:ln>
      </dgm:spPr>
    </dgm:pt>
    <dgm:pt modelId="{6636E125-B383-4A9D-B027-3EFC54D58BB6}" type="pres">
      <dgm:prSet presAssocID="{66535F52-61D9-45C6-A6A4-51615B77690B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B7D1B483-87CF-4091-8E45-AEF05E32D037}" type="pres">
      <dgm:prSet presAssocID="{4C48BA04-16AB-426D-9FF7-5B3917EEC521}" presName="parTxOnlySpace" presStyleCnt="0"/>
      <dgm:spPr>
        <a:ln>
          <a:noFill/>
        </a:ln>
      </dgm:spPr>
    </dgm:pt>
    <dgm:pt modelId="{EC812F4D-EF66-448A-B027-679DD9AEE63D}" type="pres">
      <dgm:prSet presAssocID="{8FC3E99C-7BCE-40A0-B316-2E0BBFF2573F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AA5BB0A8-BEB9-4A1C-ADF5-7F8122850824}" type="pres">
      <dgm:prSet presAssocID="{28CC5E52-56CA-4ED8-9E57-361314D7E4E7}" presName="parTxOnlySpace" presStyleCnt="0"/>
      <dgm:spPr>
        <a:ln>
          <a:noFill/>
        </a:ln>
      </dgm:spPr>
    </dgm:pt>
    <dgm:pt modelId="{4BCE8E4B-4C6F-4AB8-BA87-94EBADC2C5D0}" type="pres">
      <dgm:prSet presAssocID="{78F4C9A7-4E95-49A6-8310-38E561C483BA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55783121-B2C6-4347-969B-6E2E8594B33B}" type="presOf" srcId="{62FB6087-18D1-4D29-8D38-D69068CDCAA1}" destId="{19B0610F-282C-4322-866B-0055FAF46627}" srcOrd="0" destOrd="0" presId="urn:microsoft.com/office/officeart/2005/8/layout/chevron1#5"/>
    <dgm:cxn modelId="{AC4F6029-1BF4-47CB-8BA5-680A584F2DDF}" type="presOf" srcId="{D5012695-E636-436E-8E3E-60550BC3080E}" destId="{54D1D34D-643C-499A-B330-F91526D1DBE8}" srcOrd="0" destOrd="0" presId="urn:microsoft.com/office/officeart/2005/8/layout/chevron1#5"/>
    <dgm:cxn modelId="{6B6CE272-F2F3-4936-B001-E499C3B681C4}" type="presOf" srcId="{8FC3E99C-7BCE-40A0-B316-2E0BBFF2573F}" destId="{EC812F4D-EF66-448A-B027-679DD9AEE63D}" srcOrd="0" destOrd="0" presId="urn:microsoft.com/office/officeart/2005/8/layout/chevron1#5"/>
    <dgm:cxn modelId="{33E33F55-80EC-484E-A613-EF53AA13C72A}" type="presOf" srcId="{66535F52-61D9-45C6-A6A4-51615B77690B}" destId="{6636E125-B383-4A9D-B027-3EFC54D58BB6}" srcOrd="0" destOrd="0" presId="urn:microsoft.com/office/officeart/2005/8/layout/chevron1#5"/>
    <dgm:cxn modelId="{5A1E9998-D021-48E7-9F22-4B7E9E7C1B1C}" type="presOf" srcId="{78F4C9A7-4E95-49A6-8310-38E561C483BA}" destId="{4BCE8E4B-4C6F-4AB8-BA87-94EBADC2C5D0}" srcOrd="0" destOrd="0" presId="urn:microsoft.com/office/officeart/2005/8/layout/chevron1#5"/>
    <dgm:cxn modelId="{60C38AB2-83D2-4382-8B8B-D0B73A2D5C3E}" srcId="{62FB6087-18D1-4D29-8D38-D69068CDCAA1}" destId="{8FC3E99C-7BCE-40A0-B316-2E0BBFF2573F}" srcOrd="2" destOrd="0" parTransId="{EE417929-F4EB-484C-B448-8FB7F6FAA560}" sibTransId="{28CC5E52-56CA-4ED8-9E57-361314D7E4E7}"/>
    <dgm:cxn modelId="{CE83A0D4-461A-4608-ACF2-4D983D460C8B}" srcId="{62FB6087-18D1-4D29-8D38-D69068CDCAA1}" destId="{78F4C9A7-4E95-49A6-8310-38E561C483BA}" srcOrd="3" destOrd="0" parTransId="{1A4C9B87-5E60-4AF8-90DD-5092BDC56D0A}" sibTransId="{16161CE9-EF96-438E-8D2F-6C98A6668D83}"/>
    <dgm:cxn modelId="{E47AA7E2-1FAD-4FEC-AA84-3AA156AC703E}" srcId="{62FB6087-18D1-4D29-8D38-D69068CDCAA1}" destId="{66535F52-61D9-45C6-A6A4-51615B77690B}" srcOrd="1" destOrd="0" parTransId="{445B3268-3ED4-442B-8356-5972CB7E5BD9}" sibTransId="{4C48BA04-16AB-426D-9FF7-5B3917EEC521}"/>
    <dgm:cxn modelId="{B5C4A2E6-F87E-4C30-B8FF-DA9D8274F805}" srcId="{62FB6087-18D1-4D29-8D38-D69068CDCAA1}" destId="{D5012695-E636-436E-8E3E-60550BC3080E}" srcOrd="0" destOrd="0" parTransId="{D011BB17-273C-43A7-9534-7D6867EB323B}" sibTransId="{5A8C8C40-ED59-4A53-BBF4-00D4DDB77587}"/>
    <dgm:cxn modelId="{9DDA5030-F4D5-4F60-81FE-17C64614F518}" type="presParOf" srcId="{19B0610F-282C-4322-866B-0055FAF46627}" destId="{54D1D34D-643C-499A-B330-F91526D1DBE8}" srcOrd="0" destOrd="0" presId="urn:microsoft.com/office/officeart/2005/8/layout/chevron1#5"/>
    <dgm:cxn modelId="{C8ED28C5-1DD9-4885-840B-086B2A7EB6BC}" type="presParOf" srcId="{19B0610F-282C-4322-866B-0055FAF46627}" destId="{4B66681B-9D4C-436C-87BB-82E64E68F6C8}" srcOrd="1" destOrd="0" presId="urn:microsoft.com/office/officeart/2005/8/layout/chevron1#5"/>
    <dgm:cxn modelId="{032CB6FE-5464-43D9-9665-77F40DBF7861}" type="presParOf" srcId="{19B0610F-282C-4322-866B-0055FAF46627}" destId="{6636E125-B383-4A9D-B027-3EFC54D58BB6}" srcOrd="2" destOrd="0" presId="urn:microsoft.com/office/officeart/2005/8/layout/chevron1#5"/>
    <dgm:cxn modelId="{79F4CB33-4866-48D9-9DC6-0390A47EA9E6}" type="presParOf" srcId="{19B0610F-282C-4322-866B-0055FAF46627}" destId="{B7D1B483-87CF-4091-8E45-AEF05E32D037}" srcOrd="3" destOrd="0" presId="urn:microsoft.com/office/officeart/2005/8/layout/chevron1#5"/>
    <dgm:cxn modelId="{AF7401B2-4231-4570-8711-83F5617B87E6}" type="presParOf" srcId="{19B0610F-282C-4322-866B-0055FAF46627}" destId="{EC812F4D-EF66-448A-B027-679DD9AEE63D}" srcOrd="4" destOrd="0" presId="urn:microsoft.com/office/officeart/2005/8/layout/chevron1#5"/>
    <dgm:cxn modelId="{DD643616-A114-43CF-8265-2475291604A2}" type="presParOf" srcId="{19B0610F-282C-4322-866B-0055FAF46627}" destId="{AA5BB0A8-BEB9-4A1C-ADF5-7F8122850824}" srcOrd="5" destOrd="0" presId="urn:microsoft.com/office/officeart/2005/8/layout/chevron1#5"/>
    <dgm:cxn modelId="{03454C2C-BB9D-46BA-B390-3C3B24C9F4BC}" type="presParOf" srcId="{19B0610F-282C-4322-866B-0055FAF46627}" destId="{4BCE8E4B-4C6F-4AB8-BA87-94EBADC2C5D0}" srcOrd="6" destOrd="0" presId="urn:microsoft.com/office/officeart/2005/8/layout/chevron1#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2FB6087-18D1-4D29-8D38-D69068CDCAA1}" type="doc">
      <dgm:prSet loTypeId="urn:microsoft.com/office/officeart/2005/8/layout/chevron1#6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D5012695-E636-436E-8E3E-60550BC3080E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D011BB17-273C-43A7-9534-7D6867EB323B}" type="parTrans" cxnId="{B5C4A2E6-F87E-4C30-B8FF-DA9D8274F805}">
      <dgm:prSet/>
      <dgm:spPr>
        <a:ln>
          <a:noFill/>
        </a:ln>
      </dgm:spPr>
    </dgm:pt>
    <dgm:pt modelId="{5A8C8C40-ED59-4A53-BBF4-00D4DDB77587}" type="sibTrans" cxnId="{B5C4A2E6-F87E-4C30-B8FF-DA9D8274F805}">
      <dgm:prSet/>
      <dgm:spPr>
        <a:ln>
          <a:noFill/>
        </a:ln>
      </dgm:spPr>
    </dgm:pt>
    <dgm:pt modelId="{66535F52-61D9-45C6-A6A4-51615B77690B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gm:t>
    </dgm:pt>
    <dgm:pt modelId="{445B3268-3ED4-442B-8356-5972CB7E5BD9}" type="parTrans" cxnId="{E47AA7E2-1FAD-4FEC-AA84-3AA156AC703E}">
      <dgm:prSet/>
      <dgm:spPr>
        <a:ln>
          <a:noFill/>
        </a:ln>
      </dgm:spPr>
    </dgm:pt>
    <dgm:pt modelId="{4C48BA04-16AB-426D-9FF7-5B3917EEC521}" type="sibTrans" cxnId="{E47AA7E2-1FAD-4FEC-AA84-3AA156AC703E}">
      <dgm:prSet/>
      <dgm:spPr>
        <a:ln>
          <a:noFill/>
        </a:ln>
      </dgm:spPr>
    </dgm:pt>
    <dgm:pt modelId="{8FC3E99C-7BCE-40A0-B316-2E0BBFF2573F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gm:t>
    </dgm:pt>
    <dgm:pt modelId="{EE417929-F4EB-484C-B448-8FB7F6FAA560}" type="parTrans" cxnId="{60C38AB2-83D2-4382-8B8B-D0B73A2D5C3E}">
      <dgm:prSet/>
      <dgm:spPr>
        <a:ln>
          <a:noFill/>
        </a:ln>
      </dgm:spPr>
    </dgm:pt>
    <dgm:pt modelId="{28CC5E52-56CA-4ED8-9E57-361314D7E4E7}" type="sibTrans" cxnId="{60C38AB2-83D2-4382-8B8B-D0B73A2D5C3E}">
      <dgm:prSet/>
      <dgm:spPr>
        <a:ln>
          <a:noFill/>
        </a:ln>
      </dgm:spPr>
    </dgm:pt>
    <dgm:pt modelId="{78F4C9A7-4E95-49A6-8310-38E561C483BA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gm:t>
    </dgm:pt>
    <dgm:pt modelId="{1A4C9B87-5E60-4AF8-90DD-5092BDC56D0A}" type="parTrans" cxnId="{CE83A0D4-461A-4608-ACF2-4D983D460C8B}">
      <dgm:prSet/>
      <dgm:spPr>
        <a:ln>
          <a:noFill/>
        </a:ln>
      </dgm:spPr>
    </dgm:pt>
    <dgm:pt modelId="{16161CE9-EF96-438E-8D2F-6C98A6668D83}" type="sibTrans" cxnId="{CE83A0D4-461A-4608-ACF2-4D983D460C8B}">
      <dgm:prSet/>
      <dgm:spPr>
        <a:ln>
          <a:noFill/>
        </a:ln>
      </dgm:spPr>
    </dgm:pt>
    <dgm:pt modelId="{19B0610F-282C-4322-866B-0055FAF46627}" type="pres">
      <dgm:prSet presAssocID="{62FB6087-18D1-4D29-8D38-D69068CDCAA1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54D1D34D-643C-499A-B330-F91526D1DBE8}" type="pres">
      <dgm:prSet presAssocID="{D5012695-E636-436E-8E3E-60550BC3080E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4B66681B-9D4C-436C-87BB-82E64E68F6C8}" type="pres">
      <dgm:prSet presAssocID="{5A8C8C40-ED59-4A53-BBF4-00D4DDB77587}" presName="parTxOnlySpace" presStyleCnt="0"/>
      <dgm:spPr>
        <a:ln>
          <a:noFill/>
        </a:ln>
      </dgm:spPr>
    </dgm:pt>
    <dgm:pt modelId="{6636E125-B383-4A9D-B027-3EFC54D58BB6}" type="pres">
      <dgm:prSet presAssocID="{66535F52-61D9-45C6-A6A4-51615B77690B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B7D1B483-87CF-4091-8E45-AEF05E32D037}" type="pres">
      <dgm:prSet presAssocID="{4C48BA04-16AB-426D-9FF7-5B3917EEC521}" presName="parTxOnlySpace" presStyleCnt="0"/>
      <dgm:spPr>
        <a:ln>
          <a:noFill/>
        </a:ln>
      </dgm:spPr>
    </dgm:pt>
    <dgm:pt modelId="{EC812F4D-EF66-448A-B027-679DD9AEE63D}" type="pres">
      <dgm:prSet presAssocID="{8FC3E99C-7BCE-40A0-B316-2E0BBFF2573F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AA5BB0A8-BEB9-4A1C-ADF5-7F8122850824}" type="pres">
      <dgm:prSet presAssocID="{28CC5E52-56CA-4ED8-9E57-361314D7E4E7}" presName="parTxOnlySpace" presStyleCnt="0"/>
      <dgm:spPr>
        <a:ln>
          <a:noFill/>
        </a:ln>
      </dgm:spPr>
    </dgm:pt>
    <dgm:pt modelId="{4BCE8E4B-4C6F-4AB8-BA87-94EBADC2C5D0}" type="pres">
      <dgm:prSet presAssocID="{78F4C9A7-4E95-49A6-8310-38E561C483BA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55783121-B2C6-4347-969B-6E2E8594B33B}" type="presOf" srcId="{62FB6087-18D1-4D29-8D38-D69068CDCAA1}" destId="{19B0610F-282C-4322-866B-0055FAF46627}" srcOrd="0" destOrd="0" presId="urn:microsoft.com/office/officeart/2005/8/layout/chevron1#6"/>
    <dgm:cxn modelId="{AC4F6029-1BF4-47CB-8BA5-680A584F2DDF}" type="presOf" srcId="{D5012695-E636-436E-8E3E-60550BC3080E}" destId="{54D1D34D-643C-499A-B330-F91526D1DBE8}" srcOrd="0" destOrd="0" presId="urn:microsoft.com/office/officeart/2005/8/layout/chevron1#6"/>
    <dgm:cxn modelId="{6B6CE272-F2F3-4936-B001-E499C3B681C4}" type="presOf" srcId="{8FC3E99C-7BCE-40A0-B316-2E0BBFF2573F}" destId="{EC812F4D-EF66-448A-B027-679DD9AEE63D}" srcOrd="0" destOrd="0" presId="urn:microsoft.com/office/officeart/2005/8/layout/chevron1#6"/>
    <dgm:cxn modelId="{33E33F55-80EC-484E-A613-EF53AA13C72A}" type="presOf" srcId="{66535F52-61D9-45C6-A6A4-51615B77690B}" destId="{6636E125-B383-4A9D-B027-3EFC54D58BB6}" srcOrd="0" destOrd="0" presId="urn:microsoft.com/office/officeart/2005/8/layout/chevron1#6"/>
    <dgm:cxn modelId="{5A1E9998-D021-48E7-9F22-4B7E9E7C1B1C}" type="presOf" srcId="{78F4C9A7-4E95-49A6-8310-38E561C483BA}" destId="{4BCE8E4B-4C6F-4AB8-BA87-94EBADC2C5D0}" srcOrd="0" destOrd="0" presId="urn:microsoft.com/office/officeart/2005/8/layout/chevron1#6"/>
    <dgm:cxn modelId="{60C38AB2-83D2-4382-8B8B-D0B73A2D5C3E}" srcId="{62FB6087-18D1-4D29-8D38-D69068CDCAA1}" destId="{8FC3E99C-7BCE-40A0-B316-2E0BBFF2573F}" srcOrd="2" destOrd="0" parTransId="{EE417929-F4EB-484C-B448-8FB7F6FAA560}" sibTransId="{28CC5E52-56CA-4ED8-9E57-361314D7E4E7}"/>
    <dgm:cxn modelId="{CE83A0D4-461A-4608-ACF2-4D983D460C8B}" srcId="{62FB6087-18D1-4D29-8D38-D69068CDCAA1}" destId="{78F4C9A7-4E95-49A6-8310-38E561C483BA}" srcOrd="3" destOrd="0" parTransId="{1A4C9B87-5E60-4AF8-90DD-5092BDC56D0A}" sibTransId="{16161CE9-EF96-438E-8D2F-6C98A6668D83}"/>
    <dgm:cxn modelId="{E47AA7E2-1FAD-4FEC-AA84-3AA156AC703E}" srcId="{62FB6087-18D1-4D29-8D38-D69068CDCAA1}" destId="{66535F52-61D9-45C6-A6A4-51615B77690B}" srcOrd="1" destOrd="0" parTransId="{445B3268-3ED4-442B-8356-5972CB7E5BD9}" sibTransId="{4C48BA04-16AB-426D-9FF7-5B3917EEC521}"/>
    <dgm:cxn modelId="{B5C4A2E6-F87E-4C30-B8FF-DA9D8274F805}" srcId="{62FB6087-18D1-4D29-8D38-D69068CDCAA1}" destId="{D5012695-E636-436E-8E3E-60550BC3080E}" srcOrd="0" destOrd="0" parTransId="{D011BB17-273C-43A7-9534-7D6867EB323B}" sibTransId="{5A8C8C40-ED59-4A53-BBF4-00D4DDB77587}"/>
    <dgm:cxn modelId="{9DDA5030-F4D5-4F60-81FE-17C64614F518}" type="presParOf" srcId="{19B0610F-282C-4322-866B-0055FAF46627}" destId="{54D1D34D-643C-499A-B330-F91526D1DBE8}" srcOrd="0" destOrd="0" presId="urn:microsoft.com/office/officeart/2005/8/layout/chevron1#6"/>
    <dgm:cxn modelId="{C8ED28C5-1DD9-4885-840B-086B2A7EB6BC}" type="presParOf" srcId="{19B0610F-282C-4322-866B-0055FAF46627}" destId="{4B66681B-9D4C-436C-87BB-82E64E68F6C8}" srcOrd="1" destOrd="0" presId="urn:microsoft.com/office/officeart/2005/8/layout/chevron1#6"/>
    <dgm:cxn modelId="{032CB6FE-5464-43D9-9665-77F40DBF7861}" type="presParOf" srcId="{19B0610F-282C-4322-866B-0055FAF46627}" destId="{6636E125-B383-4A9D-B027-3EFC54D58BB6}" srcOrd="2" destOrd="0" presId="urn:microsoft.com/office/officeart/2005/8/layout/chevron1#6"/>
    <dgm:cxn modelId="{79F4CB33-4866-48D9-9DC6-0390A47EA9E6}" type="presParOf" srcId="{19B0610F-282C-4322-866B-0055FAF46627}" destId="{B7D1B483-87CF-4091-8E45-AEF05E32D037}" srcOrd="3" destOrd="0" presId="urn:microsoft.com/office/officeart/2005/8/layout/chevron1#6"/>
    <dgm:cxn modelId="{AF7401B2-4231-4570-8711-83F5617B87E6}" type="presParOf" srcId="{19B0610F-282C-4322-866B-0055FAF46627}" destId="{EC812F4D-EF66-448A-B027-679DD9AEE63D}" srcOrd="4" destOrd="0" presId="urn:microsoft.com/office/officeart/2005/8/layout/chevron1#6"/>
    <dgm:cxn modelId="{DD643616-A114-43CF-8265-2475291604A2}" type="presParOf" srcId="{19B0610F-282C-4322-866B-0055FAF46627}" destId="{AA5BB0A8-BEB9-4A1C-ADF5-7F8122850824}" srcOrd="5" destOrd="0" presId="urn:microsoft.com/office/officeart/2005/8/layout/chevron1#6"/>
    <dgm:cxn modelId="{03454C2C-BB9D-46BA-B390-3C3B24C9F4BC}" type="presParOf" srcId="{19B0610F-282C-4322-866B-0055FAF46627}" destId="{4BCE8E4B-4C6F-4AB8-BA87-94EBADC2C5D0}" srcOrd="6" destOrd="0" presId="urn:microsoft.com/office/officeart/2005/8/layout/chevron1#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2FB6087-18D1-4D29-8D38-D69068CDCAA1}" type="doc">
      <dgm:prSet loTypeId="urn:microsoft.com/office/officeart/2005/8/layout/chevron1#7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D5012695-E636-436E-8E3E-60550BC3080E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D011BB17-273C-43A7-9534-7D6867EB323B}" type="parTrans" cxnId="{B5C4A2E6-F87E-4C30-B8FF-DA9D8274F805}">
      <dgm:prSet/>
      <dgm:spPr>
        <a:ln>
          <a:noFill/>
        </a:ln>
      </dgm:spPr>
    </dgm:pt>
    <dgm:pt modelId="{5A8C8C40-ED59-4A53-BBF4-00D4DDB77587}" type="sibTrans" cxnId="{B5C4A2E6-F87E-4C30-B8FF-DA9D8274F805}">
      <dgm:prSet/>
      <dgm:spPr>
        <a:ln>
          <a:noFill/>
        </a:ln>
      </dgm:spPr>
    </dgm:pt>
    <dgm:pt modelId="{66535F52-61D9-45C6-A6A4-51615B77690B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gm:t>
    </dgm:pt>
    <dgm:pt modelId="{445B3268-3ED4-442B-8356-5972CB7E5BD9}" type="parTrans" cxnId="{E47AA7E2-1FAD-4FEC-AA84-3AA156AC703E}">
      <dgm:prSet/>
      <dgm:spPr>
        <a:ln>
          <a:noFill/>
        </a:ln>
      </dgm:spPr>
    </dgm:pt>
    <dgm:pt modelId="{4C48BA04-16AB-426D-9FF7-5B3917EEC521}" type="sibTrans" cxnId="{E47AA7E2-1FAD-4FEC-AA84-3AA156AC703E}">
      <dgm:prSet/>
      <dgm:spPr>
        <a:ln>
          <a:noFill/>
        </a:ln>
      </dgm:spPr>
    </dgm:pt>
    <dgm:pt modelId="{8FC3E99C-7BCE-40A0-B316-2E0BBFF2573F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gm:t>
    </dgm:pt>
    <dgm:pt modelId="{EE417929-F4EB-484C-B448-8FB7F6FAA560}" type="parTrans" cxnId="{60C38AB2-83D2-4382-8B8B-D0B73A2D5C3E}">
      <dgm:prSet/>
      <dgm:spPr>
        <a:ln>
          <a:noFill/>
        </a:ln>
      </dgm:spPr>
    </dgm:pt>
    <dgm:pt modelId="{28CC5E52-56CA-4ED8-9E57-361314D7E4E7}" type="sibTrans" cxnId="{60C38AB2-83D2-4382-8B8B-D0B73A2D5C3E}">
      <dgm:prSet/>
      <dgm:spPr>
        <a:ln>
          <a:noFill/>
        </a:ln>
      </dgm:spPr>
    </dgm:pt>
    <dgm:pt modelId="{78F4C9A7-4E95-49A6-8310-38E561C483BA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gm:t>
    </dgm:pt>
    <dgm:pt modelId="{1A4C9B87-5E60-4AF8-90DD-5092BDC56D0A}" type="parTrans" cxnId="{CE83A0D4-461A-4608-ACF2-4D983D460C8B}">
      <dgm:prSet/>
      <dgm:spPr>
        <a:ln>
          <a:noFill/>
        </a:ln>
      </dgm:spPr>
    </dgm:pt>
    <dgm:pt modelId="{16161CE9-EF96-438E-8D2F-6C98A6668D83}" type="sibTrans" cxnId="{CE83A0D4-461A-4608-ACF2-4D983D460C8B}">
      <dgm:prSet/>
      <dgm:spPr>
        <a:ln>
          <a:noFill/>
        </a:ln>
      </dgm:spPr>
    </dgm:pt>
    <dgm:pt modelId="{19B0610F-282C-4322-866B-0055FAF46627}" type="pres">
      <dgm:prSet presAssocID="{62FB6087-18D1-4D29-8D38-D69068CDCAA1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54D1D34D-643C-499A-B330-F91526D1DBE8}" type="pres">
      <dgm:prSet presAssocID="{D5012695-E636-436E-8E3E-60550BC3080E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4B66681B-9D4C-436C-87BB-82E64E68F6C8}" type="pres">
      <dgm:prSet presAssocID="{5A8C8C40-ED59-4A53-BBF4-00D4DDB77587}" presName="parTxOnlySpace" presStyleCnt="0"/>
      <dgm:spPr>
        <a:ln>
          <a:noFill/>
        </a:ln>
      </dgm:spPr>
    </dgm:pt>
    <dgm:pt modelId="{6636E125-B383-4A9D-B027-3EFC54D58BB6}" type="pres">
      <dgm:prSet presAssocID="{66535F52-61D9-45C6-A6A4-51615B77690B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B7D1B483-87CF-4091-8E45-AEF05E32D037}" type="pres">
      <dgm:prSet presAssocID="{4C48BA04-16AB-426D-9FF7-5B3917EEC521}" presName="parTxOnlySpace" presStyleCnt="0"/>
      <dgm:spPr>
        <a:ln>
          <a:noFill/>
        </a:ln>
      </dgm:spPr>
    </dgm:pt>
    <dgm:pt modelId="{EC812F4D-EF66-448A-B027-679DD9AEE63D}" type="pres">
      <dgm:prSet presAssocID="{8FC3E99C-7BCE-40A0-B316-2E0BBFF2573F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AA5BB0A8-BEB9-4A1C-ADF5-7F8122850824}" type="pres">
      <dgm:prSet presAssocID="{28CC5E52-56CA-4ED8-9E57-361314D7E4E7}" presName="parTxOnlySpace" presStyleCnt="0"/>
      <dgm:spPr>
        <a:ln>
          <a:noFill/>
        </a:ln>
      </dgm:spPr>
    </dgm:pt>
    <dgm:pt modelId="{4BCE8E4B-4C6F-4AB8-BA87-94EBADC2C5D0}" type="pres">
      <dgm:prSet presAssocID="{78F4C9A7-4E95-49A6-8310-38E561C483BA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55783121-B2C6-4347-969B-6E2E8594B33B}" type="presOf" srcId="{62FB6087-18D1-4D29-8D38-D69068CDCAA1}" destId="{19B0610F-282C-4322-866B-0055FAF46627}" srcOrd="0" destOrd="0" presId="urn:microsoft.com/office/officeart/2005/8/layout/chevron1#7"/>
    <dgm:cxn modelId="{AC4F6029-1BF4-47CB-8BA5-680A584F2DDF}" type="presOf" srcId="{D5012695-E636-436E-8E3E-60550BC3080E}" destId="{54D1D34D-643C-499A-B330-F91526D1DBE8}" srcOrd="0" destOrd="0" presId="urn:microsoft.com/office/officeart/2005/8/layout/chevron1#7"/>
    <dgm:cxn modelId="{6B6CE272-F2F3-4936-B001-E499C3B681C4}" type="presOf" srcId="{8FC3E99C-7BCE-40A0-B316-2E0BBFF2573F}" destId="{EC812F4D-EF66-448A-B027-679DD9AEE63D}" srcOrd="0" destOrd="0" presId="urn:microsoft.com/office/officeart/2005/8/layout/chevron1#7"/>
    <dgm:cxn modelId="{33E33F55-80EC-484E-A613-EF53AA13C72A}" type="presOf" srcId="{66535F52-61D9-45C6-A6A4-51615B77690B}" destId="{6636E125-B383-4A9D-B027-3EFC54D58BB6}" srcOrd="0" destOrd="0" presId="urn:microsoft.com/office/officeart/2005/8/layout/chevron1#7"/>
    <dgm:cxn modelId="{5A1E9998-D021-48E7-9F22-4B7E9E7C1B1C}" type="presOf" srcId="{78F4C9A7-4E95-49A6-8310-38E561C483BA}" destId="{4BCE8E4B-4C6F-4AB8-BA87-94EBADC2C5D0}" srcOrd="0" destOrd="0" presId="urn:microsoft.com/office/officeart/2005/8/layout/chevron1#7"/>
    <dgm:cxn modelId="{60C38AB2-83D2-4382-8B8B-D0B73A2D5C3E}" srcId="{62FB6087-18D1-4D29-8D38-D69068CDCAA1}" destId="{8FC3E99C-7BCE-40A0-B316-2E0BBFF2573F}" srcOrd="2" destOrd="0" parTransId="{EE417929-F4EB-484C-B448-8FB7F6FAA560}" sibTransId="{28CC5E52-56CA-4ED8-9E57-361314D7E4E7}"/>
    <dgm:cxn modelId="{CE83A0D4-461A-4608-ACF2-4D983D460C8B}" srcId="{62FB6087-18D1-4D29-8D38-D69068CDCAA1}" destId="{78F4C9A7-4E95-49A6-8310-38E561C483BA}" srcOrd="3" destOrd="0" parTransId="{1A4C9B87-5E60-4AF8-90DD-5092BDC56D0A}" sibTransId="{16161CE9-EF96-438E-8D2F-6C98A6668D83}"/>
    <dgm:cxn modelId="{E47AA7E2-1FAD-4FEC-AA84-3AA156AC703E}" srcId="{62FB6087-18D1-4D29-8D38-D69068CDCAA1}" destId="{66535F52-61D9-45C6-A6A4-51615B77690B}" srcOrd="1" destOrd="0" parTransId="{445B3268-3ED4-442B-8356-5972CB7E5BD9}" sibTransId="{4C48BA04-16AB-426D-9FF7-5B3917EEC521}"/>
    <dgm:cxn modelId="{B5C4A2E6-F87E-4C30-B8FF-DA9D8274F805}" srcId="{62FB6087-18D1-4D29-8D38-D69068CDCAA1}" destId="{D5012695-E636-436E-8E3E-60550BC3080E}" srcOrd="0" destOrd="0" parTransId="{D011BB17-273C-43A7-9534-7D6867EB323B}" sibTransId="{5A8C8C40-ED59-4A53-BBF4-00D4DDB77587}"/>
    <dgm:cxn modelId="{9DDA5030-F4D5-4F60-81FE-17C64614F518}" type="presParOf" srcId="{19B0610F-282C-4322-866B-0055FAF46627}" destId="{54D1D34D-643C-499A-B330-F91526D1DBE8}" srcOrd="0" destOrd="0" presId="urn:microsoft.com/office/officeart/2005/8/layout/chevron1#7"/>
    <dgm:cxn modelId="{C8ED28C5-1DD9-4885-840B-086B2A7EB6BC}" type="presParOf" srcId="{19B0610F-282C-4322-866B-0055FAF46627}" destId="{4B66681B-9D4C-436C-87BB-82E64E68F6C8}" srcOrd="1" destOrd="0" presId="urn:microsoft.com/office/officeart/2005/8/layout/chevron1#7"/>
    <dgm:cxn modelId="{032CB6FE-5464-43D9-9665-77F40DBF7861}" type="presParOf" srcId="{19B0610F-282C-4322-866B-0055FAF46627}" destId="{6636E125-B383-4A9D-B027-3EFC54D58BB6}" srcOrd="2" destOrd="0" presId="urn:microsoft.com/office/officeart/2005/8/layout/chevron1#7"/>
    <dgm:cxn modelId="{79F4CB33-4866-48D9-9DC6-0390A47EA9E6}" type="presParOf" srcId="{19B0610F-282C-4322-866B-0055FAF46627}" destId="{B7D1B483-87CF-4091-8E45-AEF05E32D037}" srcOrd="3" destOrd="0" presId="urn:microsoft.com/office/officeart/2005/8/layout/chevron1#7"/>
    <dgm:cxn modelId="{AF7401B2-4231-4570-8711-83F5617B87E6}" type="presParOf" srcId="{19B0610F-282C-4322-866B-0055FAF46627}" destId="{EC812F4D-EF66-448A-B027-679DD9AEE63D}" srcOrd="4" destOrd="0" presId="urn:microsoft.com/office/officeart/2005/8/layout/chevron1#7"/>
    <dgm:cxn modelId="{DD643616-A114-43CF-8265-2475291604A2}" type="presParOf" srcId="{19B0610F-282C-4322-866B-0055FAF46627}" destId="{AA5BB0A8-BEB9-4A1C-ADF5-7F8122850824}" srcOrd="5" destOrd="0" presId="urn:microsoft.com/office/officeart/2005/8/layout/chevron1#7"/>
    <dgm:cxn modelId="{03454C2C-BB9D-46BA-B390-3C3B24C9F4BC}" type="presParOf" srcId="{19B0610F-282C-4322-866B-0055FAF46627}" destId="{4BCE8E4B-4C6F-4AB8-BA87-94EBADC2C5D0}" srcOrd="6" destOrd="0" presId="urn:microsoft.com/office/officeart/2005/8/layout/chevron1#7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2FB6087-18D1-4D29-8D38-D69068CDCAA1}" type="doc">
      <dgm:prSet loTypeId="urn:microsoft.com/office/officeart/2005/8/layout/chevron1#8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D5012695-E636-436E-8E3E-60550BC3080E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D011BB17-273C-43A7-9534-7D6867EB323B}" type="parTrans" cxnId="{B5C4A2E6-F87E-4C30-B8FF-DA9D8274F805}">
      <dgm:prSet/>
      <dgm:spPr>
        <a:ln>
          <a:noFill/>
        </a:ln>
      </dgm:spPr>
    </dgm:pt>
    <dgm:pt modelId="{5A8C8C40-ED59-4A53-BBF4-00D4DDB77587}" type="sibTrans" cxnId="{B5C4A2E6-F87E-4C30-B8FF-DA9D8274F805}">
      <dgm:prSet/>
      <dgm:spPr>
        <a:ln>
          <a:noFill/>
        </a:ln>
      </dgm:spPr>
    </dgm:pt>
    <dgm:pt modelId="{66535F52-61D9-45C6-A6A4-51615B77690B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gm:t>
    </dgm:pt>
    <dgm:pt modelId="{445B3268-3ED4-442B-8356-5972CB7E5BD9}" type="parTrans" cxnId="{E47AA7E2-1FAD-4FEC-AA84-3AA156AC703E}">
      <dgm:prSet/>
      <dgm:spPr>
        <a:ln>
          <a:noFill/>
        </a:ln>
      </dgm:spPr>
    </dgm:pt>
    <dgm:pt modelId="{4C48BA04-16AB-426D-9FF7-5B3917EEC521}" type="sibTrans" cxnId="{E47AA7E2-1FAD-4FEC-AA84-3AA156AC703E}">
      <dgm:prSet/>
      <dgm:spPr>
        <a:ln>
          <a:noFill/>
        </a:ln>
      </dgm:spPr>
    </dgm:pt>
    <dgm:pt modelId="{8FC3E99C-7BCE-40A0-B316-2E0BBFF2573F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gm:t>
    </dgm:pt>
    <dgm:pt modelId="{EE417929-F4EB-484C-B448-8FB7F6FAA560}" type="parTrans" cxnId="{60C38AB2-83D2-4382-8B8B-D0B73A2D5C3E}">
      <dgm:prSet/>
      <dgm:spPr>
        <a:ln>
          <a:noFill/>
        </a:ln>
      </dgm:spPr>
    </dgm:pt>
    <dgm:pt modelId="{28CC5E52-56CA-4ED8-9E57-361314D7E4E7}" type="sibTrans" cxnId="{60C38AB2-83D2-4382-8B8B-D0B73A2D5C3E}">
      <dgm:prSet/>
      <dgm:spPr>
        <a:ln>
          <a:noFill/>
        </a:ln>
      </dgm:spPr>
    </dgm:pt>
    <dgm:pt modelId="{78F4C9A7-4E95-49A6-8310-38E561C483BA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gm:t>
    </dgm:pt>
    <dgm:pt modelId="{1A4C9B87-5E60-4AF8-90DD-5092BDC56D0A}" type="parTrans" cxnId="{CE83A0D4-461A-4608-ACF2-4D983D460C8B}">
      <dgm:prSet/>
      <dgm:spPr>
        <a:ln>
          <a:noFill/>
        </a:ln>
      </dgm:spPr>
    </dgm:pt>
    <dgm:pt modelId="{16161CE9-EF96-438E-8D2F-6C98A6668D83}" type="sibTrans" cxnId="{CE83A0D4-461A-4608-ACF2-4D983D460C8B}">
      <dgm:prSet/>
      <dgm:spPr>
        <a:ln>
          <a:noFill/>
        </a:ln>
      </dgm:spPr>
    </dgm:pt>
    <dgm:pt modelId="{19B0610F-282C-4322-866B-0055FAF46627}" type="pres">
      <dgm:prSet presAssocID="{62FB6087-18D1-4D29-8D38-D69068CDCAA1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54D1D34D-643C-499A-B330-F91526D1DBE8}" type="pres">
      <dgm:prSet presAssocID="{D5012695-E636-436E-8E3E-60550BC3080E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4B66681B-9D4C-436C-87BB-82E64E68F6C8}" type="pres">
      <dgm:prSet presAssocID="{5A8C8C40-ED59-4A53-BBF4-00D4DDB77587}" presName="parTxOnlySpace" presStyleCnt="0"/>
      <dgm:spPr>
        <a:ln>
          <a:noFill/>
        </a:ln>
      </dgm:spPr>
    </dgm:pt>
    <dgm:pt modelId="{6636E125-B383-4A9D-B027-3EFC54D58BB6}" type="pres">
      <dgm:prSet presAssocID="{66535F52-61D9-45C6-A6A4-51615B77690B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B7D1B483-87CF-4091-8E45-AEF05E32D037}" type="pres">
      <dgm:prSet presAssocID="{4C48BA04-16AB-426D-9FF7-5B3917EEC521}" presName="parTxOnlySpace" presStyleCnt="0"/>
      <dgm:spPr>
        <a:ln>
          <a:noFill/>
        </a:ln>
      </dgm:spPr>
    </dgm:pt>
    <dgm:pt modelId="{EC812F4D-EF66-448A-B027-679DD9AEE63D}" type="pres">
      <dgm:prSet presAssocID="{8FC3E99C-7BCE-40A0-B316-2E0BBFF2573F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AA5BB0A8-BEB9-4A1C-ADF5-7F8122850824}" type="pres">
      <dgm:prSet presAssocID="{28CC5E52-56CA-4ED8-9E57-361314D7E4E7}" presName="parTxOnlySpace" presStyleCnt="0"/>
      <dgm:spPr>
        <a:ln>
          <a:noFill/>
        </a:ln>
      </dgm:spPr>
    </dgm:pt>
    <dgm:pt modelId="{4BCE8E4B-4C6F-4AB8-BA87-94EBADC2C5D0}" type="pres">
      <dgm:prSet presAssocID="{78F4C9A7-4E95-49A6-8310-38E561C483BA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55783121-B2C6-4347-969B-6E2E8594B33B}" type="presOf" srcId="{62FB6087-18D1-4D29-8D38-D69068CDCAA1}" destId="{19B0610F-282C-4322-866B-0055FAF46627}" srcOrd="0" destOrd="0" presId="urn:microsoft.com/office/officeart/2005/8/layout/chevron1#8"/>
    <dgm:cxn modelId="{AC4F6029-1BF4-47CB-8BA5-680A584F2DDF}" type="presOf" srcId="{D5012695-E636-436E-8E3E-60550BC3080E}" destId="{54D1D34D-643C-499A-B330-F91526D1DBE8}" srcOrd="0" destOrd="0" presId="urn:microsoft.com/office/officeart/2005/8/layout/chevron1#8"/>
    <dgm:cxn modelId="{6B6CE272-F2F3-4936-B001-E499C3B681C4}" type="presOf" srcId="{8FC3E99C-7BCE-40A0-B316-2E0BBFF2573F}" destId="{EC812F4D-EF66-448A-B027-679DD9AEE63D}" srcOrd="0" destOrd="0" presId="urn:microsoft.com/office/officeart/2005/8/layout/chevron1#8"/>
    <dgm:cxn modelId="{33E33F55-80EC-484E-A613-EF53AA13C72A}" type="presOf" srcId="{66535F52-61D9-45C6-A6A4-51615B77690B}" destId="{6636E125-B383-4A9D-B027-3EFC54D58BB6}" srcOrd="0" destOrd="0" presId="urn:microsoft.com/office/officeart/2005/8/layout/chevron1#8"/>
    <dgm:cxn modelId="{5A1E9998-D021-48E7-9F22-4B7E9E7C1B1C}" type="presOf" srcId="{78F4C9A7-4E95-49A6-8310-38E561C483BA}" destId="{4BCE8E4B-4C6F-4AB8-BA87-94EBADC2C5D0}" srcOrd="0" destOrd="0" presId="urn:microsoft.com/office/officeart/2005/8/layout/chevron1#8"/>
    <dgm:cxn modelId="{60C38AB2-83D2-4382-8B8B-D0B73A2D5C3E}" srcId="{62FB6087-18D1-4D29-8D38-D69068CDCAA1}" destId="{8FC3E99C-7BCE-40A0-B316-2E0BBFF2573F}" srcOrd="2" destOrd="0" parTransId="{EE417929-F4EB-484C-B448-8FB7F6FAA560}" sibTransId="{28CC5E52-56CA-4ED8-9E57-361314D7E4E7}"/>
    <dgm:cxn modelId="{CE83A0D4-461A-4608-ACF2-4D983D460C8B}" srcId="{62FB6087-18D1-4D29-8D38-D69068CDCAA1}" destId="{78F4C9A7-4E95-49A6-8310-38E561C483BA}" srcOrd="3" destOrd="0" parTransId="{1A4C9B87-5E60-4AF8-90DD-5092BDC56D0A}" sibTransId="{16161CE9-EF96-438E-8D2F-6C98A6668D83}"/>
    <dgm:cxn modelId="{E47AA7E2-1FAD-4FEC-AA84-3AA156AC703E}" srcId="{62FB6087-18D1-4D29-8D38-D69068CDCAA1}" destId="{66535F52-61D9-45C6-A6A4-51615B77690B}" srcOrd="1" destOrd="0" parTransId="{445B3268-3ED4-442B-8356-5972CB7E5BD9}" sibTransId="{4C48BA04-16AB-426D-9FF7-5B3917EEC521}"/>
    <dgm:cxn modelId="{B5C4A2E6-F87E-4C30-B8FF-DA9D8274F805}" srcId="{62FB6087-18D1-4D29-8D38-D69068CDCAA1}" destId="{D5012695-E636-436E-8E3E-60550BC3080E}" srcOrd="0" destOrd="0" parTransId="{D011BB17-273C-43A7-9534-7D6867EB323B}" sibTransId="{5A8C8C40-ED59-4A53-BBF4-00D4DDB77587}"/>
    <dgm:cxn modelId="{9DDA5030-F4D5-4F60-81FE-17C64614F518}" type="presParOf" srcId="{19B0610F-282C-4322-866B-0055FAF46627}" destId="{54D1D34D-643C-499A-B330-F91526D1DBE8}" srcOrd="0" destOrd="0" presId="urn:microsoft.com/office/officeart/2005/8/layout/chevron1#8"/>
    <dgm:cxn modelId="{C8ED28C5-1DD9-4885-840B-086B2A7EB6BC}" type="presParOf" srcId="{19B0610F-282C-4322-866B-0055FAF46627}" destId="{4B66681B-9D4C-436C-87BB-82E64E68F6C8}" srcOrd="1" destOrd="0" presId="urn:microsoft.com/office/officeart/2005/8/layout/chevron1#8"/>
    <dgm:cxn modelId="{032CB6FE-5464-43D9-9665-77F40DBF7861}" type="presParOf" srcId="{19B0610F-282C-4322-866B-0055FAF46627}" destId="{6636E125-B383-4A9D-B027-3EFC54D58BB6}" srcOrd="2" destOrd="0" presId="urn:microsoft.com/office/officeart/2005/8/layout/chevron1#8"/>
    <dgm:cxn modelId="{79F4CB33-4866-48D9-9DC6-0390A47EA9E6}" type="presParOf" srcId="{19B0610F-282C-4322-866B-0055FAF46627}" destId="{B7D1B483-87CF-4091-8E45-AEF05E32D037}" srcOrd="3" destOrd="0" presId="urn:microsoft.com/office/officeart/2005/8/layout/chevron1#8"/>
    <dgm:cxn modelId="{AF7401B2-4231-4570-8711-83F5617B87E6}" type="presParOf" srcId="{19B0610F-282C-4322-866B-0055FAF46627}" destId="{EC812F4D-EF66-448A-B027-679DD9AEE63D}" srcOrd="4" destOrd="0" presId="urn:microsoft.com/office/officeart/2005/8/layout/chevron1#8"/>
    <dgm:cxn modelId="{DD643616-A114-43CF-8265-2475291604A2}" type="presParOf" srcId="{19B0610F-282C-4322-866B-0055FAF46627}" destId="{AA5BB0A8-BEB9-4A1C-ADF5-7F8122850824}" srcOrd="5" destOrd="0" presId="urn:microsoft.com/office/officeart/2005/8/layout/chevron1#8"/>
    <dgm:cxn modelId="{03454C2C-BB9D-46BA-B390-3C3B24C9F4BC}" type="presParOf" srcId="{19B0610F-282C-4322-866B-0055FAF46627}" destId="{4BCE8E4B-4C6F-4AB8-BA87-94EBADC2C5D0}" srcOrd="6" destOrd="0" presId="urn:microsoft.com/office/officeart/2005/8/layout/chevron1#8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2FB6087-18D1-4D29-8D38-D69068CDCAA1}" type="doc">
      <dgm:prSet loTypeId="urn:microsoft.com/office/officeart/2005/8/layout/chevron1#9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D5012695-E636-436E-8E3E-60550BC3080E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D011BB17-273C-43A7-9534-7D6867EB323B}" type="parTrans" cxnId="{B5C4A2E6-F87E-4C30-B8FF-DA9D8274F805}">
      <dgm:prSet/>
      <dgm:spPr>
        <a:ln>
          <a:noFill/>
        </a:ln>
      </dgm:spPr>
    </dgm:pt>
    <dgm:pt modelId="{5A8C8C40-ED59-4A53-BBF4-00D4DDB77587}" type="sibTrans" cxnId="{B5C4A2E6-F87E-4C30-B8FF-DA9D8274F805}">
      <dgm:prSet/>
      <dgm:spPr>
        <a:ln>
          <a:noFill/>
        </a:ln>
      </dgm:spPr>
    </dgm:pt>
    <dgm:pt modelId="{66535F52-61D9-45C6-A6A4-51615B77690B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gm:t>
    </dgm:pt>
    <dgm:pt modelId="{445B3268-3ED4-442B-8356-5972CB7E5BD9}" type="parTrans" cxnId="{E47AA7E2-1FAD-4FEC-AA84-3AA156AC703E}">
      <dgm:prSet/>
      <dgm:spPr>
        <a:ln>
          <a:noFill/>
        </a:ln>
      </dgm:spPr>
    </dgm:pt>
    <dgm:pt modelId="{4C48BA04-16AB-426D-9FF7-5B3917EEC521}" type="sibTrans" cxnId="{E47AA7E2-1FAD-4FEC-AA84-3AA156AC703E}">
      <dgm:prSet/>
      <dgm:spPr>
        <a:ln>
          <a:noFill/>
        </a:ln>
      </dgm:spPr>
    </dgm:pt>
    <dgm:pt modelId="{8FC3E99C-7BCE-40A0-B316-2E0BBFF2573F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gm:t>
    </dgm:pt>
    <dgm:pt modelId="{EE417929-F4EB-484C-B448-8FB7F6FAA560}" type="parTrans" cxnId="{60C38AB2-83D2-4382-8B8B-D0B73A2D5C3E}">
      <dgm:prSet/>
      <dgm:spPr>
        <a:ln>
          <a:noFill/>
        </a:ln>
      </dgm:spPr>
    </dgm:pt>
    <dgm:pt modelId="{28CC5E52-56CA-4ED8-9E57-361314D7E4E7}" type="sibTrans" cxnId="{60C38AB2-83D2-4382-8B8B-D0B73A2D5C3E}">
      <dgm:prSet/>
      <dgm:spPr>
        <a:ln>
          <a:noFill/>
        </a:ln>
      </dgm:spPr>
    </dgm:pt>
    <dgm:pt modelId="{78F4C9A7-4E95-49A6-8310-38E561C483BA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gm:t>
    </dgm:pt>
    <dgm:pt modelId="{1A4C9B87-5E60-4AF8-90DD-5092BDC56D0A}" type="parTrans" cxnId="{CE83A0D4-461A-4608-ACF2-4D983D460C8B}">
      <dgm:prSet/>
      <dgm:spPr>
        <a:ln>
          <a:noFill/>
        </a:ln>
      </dgm:spPr>
    </dgm:pt>
    <dgm:pt modelId="{16161CE9-EF96-438E-8D2F-6C98A6668D83}" type="sibTrans" cxnId="{CE83A0D4-461A-4608-ACF2-4D983D460C8B}">
      <dgm:prSet/>
      <dgm:spPr>
        <a:ln>
          <a:noFill/>
        </a:ln>
      </dgm:spPr>
    </dgm:pt>
    <dgm:pt modelId="{19B0610F-282C-4322-866B-0055FAF46627}" type="pres">
      <dgm:prSet presAssocID="{62FB6087-18D1-4D29-8D38-D69068CDCAA1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54D1D34D-643C-499A-B330-F91526D1DBE8}" type="pres">
      <dgm:prSet presAssocID="{D5012695-E636-436E-8E3E-60550BC3080E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4B66681B-9D4C-436C-87BB-82E64E68F6C8}" type="pres">
      <dgm:prSet presAssocID="{5A8C8C40-ED59-4A53-BBF4-00D4DDB77587}" presName="parTxOnlySpace" presStyleCnt="0"/>
      <dgm:spPr>
        <a:ln>
          <a:noFill/>
        </a:ln>
      </dgm:spPr>
    </dgm:pt>
    <dgm:pt modelId="{6636E125-B383-4A9D-B027-3EFC54D58BB6}" type="pres">
      <dgm:prSet presAssocID="{66535F52-61D9-45C6-A6A4-51615B77690B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B7D1B483-87CF-4091-8E45-AEF05E32D037}" type="pres">
      <dgm:prSet presAssocID="{4C48BA04-16AB-426D-9FF7-5B3917EEC521}" presName="parTxOnlySpace" presStyleCnt="0"/>
      <dgm:spPr>
        <a:ln>
          <a:noFill/>
        </a:ln>
      </dgm:spPr>
    </dgm:pt>
    <dgm:pt modelId="{EC812F4D-EF66-448A-B027-679DD9AEE63D}" type="pres">
      <dgm:prSet presAssocID="{8FC3E99C-7BCE-40A0-B316-2E0BBFF2573F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AA5BB0A8-BEB9-4A1C-ADF5-7F8122850824}" type="pres">
      <dgm:prSet presAssocID="{28CC5E52-56CA-4ED8-9E57-361314D7E4E7}" presName="parTxOnlySpace" presStyleCnt="0"/>
      <dgm:spPr>
        <a:ln>
          <a:noFill/>
        </a:ln>
      </dgm:spPr>
    </dgm:pt>
    <dgm:pt modelId="{4BCE8E4B-4C6F-4AB8-BA87-94EBADC2C5D0}" type="pres">
      <dgm:prSet presAssocID="{78F4C9A7-4E95-49A6-8310-38E561C483BA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55783121-B2C6-4347-969B-6E2E8594B33B}" type="presOf" srcId="{62FB6087-18D1-4D29-8D38-D69068CDCAA1}" destId="{19B0610F-282C-4322-866B-0055FAF46627}" srcOrd="0" destOrd="0" presId="urn:microsoft.com/office/officeart/2005/8/layout/chevron1#9"/>
    <dgm:cxn modelId="{AC4F6029-1BF4-47CB-8BA5-680A584F2DDF}" type="presOf" srcId="{D5012695-E636-436E-8E3E-60550BC3080E}" destId="{54D1D34D-643C-499A-B330-F91526D1DBE8}" srcOrd="0" destOrd="0" presId="urn:microsoft.com/office/officeart/2005/8/layout/chevron1#9"/>
    <dgm:cxn modelId="{6B6CE272-F2F3-4936-B001-E499C3B681C4}" type="presOf" srcId="{8FC3E99C-7BCE-40A0-B316-2E0BBFF2573F}" destId="{EC812F4D-EF66-448A-B027-679DD9AEE63D}" srcOrd="0" destOrd="0" presId="urn:microsoft.com/office/officeart/2005/8/layout/chevron1#9"/>
    <dgm:cxn modelId="{33E33F55-80EC-484E-A613-EF53AA13C72A}" type="presOf" srcId="{66535F52-61D9-45C6-A6A4-51615B77690B}" destId="{6636E125-B383-4A9D-B027-3EFC54D58BB6}" srcOrd="0" destOrd="0" presId="urn:microsoft.com/office/officeart/2005/8/layout/chevron1#9"/>
    <dgm:cxn modelId="{5A1E9998-D021-48E7-9F22-4B7E9E7C1B1C}" type="presOf" srcId="{78F4C9A7-4E95-49A6-8310-38E561C483BA}" destId="{4BCE8E4B-4C6F-4AB8-BA87-94EBADC2C5D0}" srcOrd="0" destOrd="0" presId="urn:microsoft.com/office/officeart/2005/8/layout/chevron1#9"/>
    <dgm:cxn modelId="{60C38AB2-83D2-4382-8B8B-D0B73A2D5C3E}" srcId="{62FB6087-18D1-4D29-8D38-D69068CDCAA1}" destId="{8FC3E99C-7BCE-40A0-B316-2E0BBFF2573F}" srcOrd="2" destOrd="0" parTransId="{EE417929-F4EB-484C-B448-8FB7F6FAA560}" sibTransId="{28CC5E52-56CA-4ED8-9E57-361314D7E4E7}"/>
    <dgm:cxn modelId="{CE83A0D4-461A-4608-ACF2-4D983D460C8B}" srcId="{62FB6087-18D1-4D29-8D38-D69068CDCAA1}" destId="{78F4C9A7-4E95-49A6-8310-38E561C483BA}" srcOrd="3" destOrd="0" parTransId="{1A4C9B87-5E60-4AF8-90DD-5092BDC56D0A}" sibTransId="{16161CE9-EF96-438E-8D2F-6C98A6668D83}"/>
    <dgm:cxn modelId="{E47AA7E2-1FAD-4FEC-AA84-3AA156AC703E}" srcId="{62FB6087-18D1-4D29-8D38-D69068CDCAA1}" destId="{66535F52-61D9-45C6-A6A4-51615B77690B}" srcOrd="1" destOrd="0" parTransId="{445B3268-3ED4-442B-8356-5972CB7E5BD9}" sibTransId="{4C48BA04-16AB-426D-9FF7-5B3917EEC521}"/>
    <dgm:cxn modelId="{B5C4A2E6-F87E-4C30-B8FF-DA9D8274F805}" srcId="{62FB6087-18D1-4D29-8D38-D69068CDCAA1}" destId="{D5012695-E636-436E-8E3E-60550BC3080E}" srcOrd="0" destOrd="0" parTransId="{D011BB17-273C-43A7-9534-7D6867EB323B}" sibTransId="{5A8C8C40-ED59-4A53-BBF4-00D4DDB77587}"/>
    <dgm:cxn modelId="{9DDA5030-F4D5-4F60-81FE-17C64614F518}" type="presParOf" srcId="{19B0610F-282C-4322-866B-0055FAF46627}" destId="{54D1D34D-643C-499A-B330-F91526D1DBE8}" srcOrd="0" destOrd="0" presId="urn:microsoft.com/office/officeart/2005/8/layout/chevron1#9"/>
    <dgm:cxn modelId="{C8ED28C5-1DD9-4885-840B-086B2A7EB6BC}" type="presParOf" srcId="{19B0610F-282C-4322-866B-0055FAF46627}" destId="{4B66681B-9D4C-436C-87BB-82E64E68F6C8}" srcOrd="1" destOrd="0" presId="urn:microsoft.com/office/officeart/2005/8/layout/chevron1#9"/>
    <dgm:cxn modelId="{032CB6FE-5464-43D9-9665-77F40DBF7861}" type="presParOf" srcId="{19B0610F-282C-4322-866B-0055FAF46627}" destId="{6636E125-B383-4A9D-B027-3EFC54D58BB6}" srcOrd="2" destOrd="0" presId="urn:microsoft.com/office/officeart/2005/8/layout/chevron1#9"/>
    <dgm:cxn modelId="{79F4CB33-4866-48D9-9DC6-0390A47EA9E6}" type="presParOf" srcId="{19B0610F-282C-4322-866B-0055FAF46627}" destId="{B7D1B483-87CF-4091-8E45-AEF05E32D037}" srcOrd="3" destOrd="0" presId="urn:microsoft.com/office/officeart/2005/8/layout/chevron1#9"/>
    <dgm:cxn modelId="{AF7401B2-4231-4570-8711-83F5617B87E6}" type="presParOf" srcId="{19B0610F-282C-4322-866B-0055FAF46627}" destId="{EC812F4D-EF66-448A-B027-679DD9AEE63D}" srcOrd="4" destOrd="0" presId="urn:microsoft.com/office/officeart/2005/8/layout/chevron1#9"/>
    <dgm:cxn modelId="{DD643616-A114-43CF-8265-2475291604A2}" type="presParOf" srcId="{19B0610F-282C-4322-866B-0055FAF46627}" destId="{AA5BB0A8-BEB9-4A1C-ADF5-7F8122850824}" srcOrd="5" destOrd="0" presId="urn:microsoft.com/office/officeart/2005/8/layout/chevron1#9"/>
    <dgm:cxn modelId="{03454C2C-BB9D-46BA-B390-3C3B24C9F4BC}" type="presParOf" srcId="{19B0610F-282C-4322-866B-0055FAF46627}" destId="{4BCE8E4B-4C6F-4AB8-BA87-94EBADC2C5D0}" srcOrd="6" destOrd="0" presId="urn:microsoft.com/office/officeart/2005/8/layout/chevron1#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5CEF05A0-8592-4E19-B534-CF8DA92D5C85}" type="doc">
      <dgm:prSet loTypeId="urn:microsoft.com/office/officeart/2005/8/layout/chevron1#10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09E83A0D-6FEF-41DF-A1A8-06E9FFC85F71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FFD59D49-A026-4E00-87EA-187DB5D6A066}" type="parTrans" cxnId="{307E2D55-0313-446A-83D1-63117C21C296}">
      <dgm:prSet/>
      <dgm:spPr>
        <a:ln>
          <a:noFill/>
        </a:ln>
      </dgm:spPr>
    </dgm:pt>
    <dgm:pt modelId="{36CCA29F-F965-4645-9D7F-1EDA4C75E57E}" type="sibTrans" cxnId="{307E2D55-0313-446A-83D1-63117C21C296}">
      <dgm:prSet/>
      <dgm:spPr>
        <a:ln>
          <a:noFill/>
        </a:ln>
      </dgm:spPr>
    </dgm:pt>
    <dgm:pt modelId="{D400241C-DEAF-4E77-A8FB-95CBA722C5BF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gm:t>
    </dgm:pt>
    <dgm:pt modelId="{926D2AE0-ECB9-48CF-AB6F-BD18F9C28779}" type="parTrans" cxnId="{EB33419B-0263-433C-9BC9-665F9D4DD10F}">
      <dgm:prSet/>
      <dgm:spPr>
        <a:ln>
          <a:noFill/>
        </a:ln>
      </dgm:spPr>
    </dgm:pt>
    <dgm:pt modelId="{55CA4814-D433-4485-9603-A24EF1C3B8F7}" type="sibTrans" cxnId="{EB33419B-0263-433C-9BC9-665F9D4DD10F}">
      <dgm:prSet/>
      <dgm:spPr>
        <a:ln>
          <a:noFill/>
        </a:ln>
      </dgm:spPr>
    </dgm:pt>
    <dgm:pt modelId="{EFC05841-292D-4BFD-B586-9DB1A0F0999E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gm:t>
    </dgm:pt>
    <dgm:pt modelId="{6BEBE1E2-7ADD-46DB-A390-E1FE68A19EE5}" type="parTrans" cxnId="{20E123D7-F393-4E76-84F8-B897C6CC5ADB}">
      <dgm:prSet/>
      <dgm:spPr>
        <a:ln>
          <a:noFill/>
        </a:ln>
      </dgm:spPr>
    </dgm:pt>
    <dgm:pt modelId="{EB0BFDBB-37BC-44A5-9757-FDC45C28EECB}" type="sibTrans" cxnId="{20E123D7-F393-4E76-84F8-B897C6CC5ADB}">
      <dgm:prSet/>
      <dgm:spPr>
        <a:ln>
          <a:noFill/>
        </a:ln>
      </dgm:spPr>
    </dgm:pt>
    <dgm:pt modelId="{845485CC-7F42-4E91-A00B-AD1808266A59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Resolution</a:t>
          </a:r>
        </a:p>
      </dgm:t>
    </dgm:pt>
    <dgm:pt modelId="{E396826C-359F-461F-B222-F959C3793F61}" type="parTrans" cxnId="{4BD81A2D-98E6-4436-8D1C-4401C7EA7C2E}">
      <dgm:prSet/>
      <dgm:spPr>
        <a:ln>
          <a:noFill/>
        </a:ln>
      </dgm:spPr>
    </dgm:pt>
    <dgm:pt modelId="{89E51C20-2D62-4186-8997-F2A21022C6CF}" type="sibTrans" cxnId="{4BD81A2D-98E6-4436-8D1C-4401C7EA7C2E}">
      <dgm:prSet/>
      <dgm:spPr>
        <a:ln>
          <a:noFill/>
        </a:ln>
      </dgm:spPr>
    </dgm:pt>
    <dgm:pt modelId="{AFDF9144-0890-4741-9012-683715D91BA8}" type="pres">
      <dgm:prSet presAssocID="{5CEF05A0-8592-4E19-B534-CF8DA92D5C85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E9EC313E-C07D-4024-9AF7-7BAA82F22646}" type="pres">
      <dgm:prSet presAssocID="{09E83A0D-6FEF-41DF-A1A8-06E9FFC85F71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1254BCE1-0659-4C9C-A343-41153979CEE1}" type="pres">
      <dgm:prSet presAssocID="{36CCA29F-F965-4645-9D7F-1EDA4C75E57E}" presName="parTxOnlySpace" presStyleCnt="0"/>
      <dgm:spPr>
        <a:ln>
          <a:noFill/>
        </a:ln>
      </dgm:spPr>
    </dgm:pt>
    <dgm:pt modelId="{4F9DEA38-A8FA-418A-B139-308095C75DE5}" type="pres">
      <dgm:prSet presAssocID="{D400241C-DEAF-4E77-A8FB-95CBA722C5BF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F32AF327-A8A7-42ED-9A3A-FD065AEF35CC}" type="pres">
      <dgm:prSet presAssocID="{55CA4814-D433-4485-9603-A24EF1C3B8F7}" presName="parTxOnlySpace" presStyleCnt="0"/>
      <dgm:spPr>
        <a:ln>
          <a:noFill/>
        </a:ln>
      </dgm:spPr>
    </dgm:pt>
    <dgm:pt modelId="{DB2DC495-4888-4FB0-8E56-94B7ED74FA00}" type="pres">
      <dgm:prSet presAssocID="{EFC05841-292D-4BFD-B586-9DB1A0F0999E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3128D3E7-1249-4292-B711-881F04FEB888}" type="pres">
      <dgm:prSet presAssocID="{EB0BFDBB-37BC-44A5-9757-FDC45C28EECB}" presName="parTxOnlySpace" presStyleCnt="0"/>
      <dgm:spPr>
        <a:ln>
          <a:noFill/>
        </a:ln>
      </dgm:spPr>
    </dgm:pt>
    <dgm:pt modelId="{89AA18CC-6C77-44F3-85A7-38695F314F32}" type="pres">
      <dgm:prSet presAssocID="{845485CC-7F42-4E91-A00B-AD1808266A59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B47B7A01-EE41-406A-A38E-3E45A6AB1E2D}" type="presOf" srcId="{5CEF05A0-8592-4E19-B534-CF8DA92D5C85}" destId="{AFDF9144-0890-4741-9012-683715D91BA8}" srcOrd="0" destOrd="0" presId="urn:microsoft.com/office/officeart/2005/8/layout/chevron1#10"/>
    <dgm:cxn modelId="{5F8D4429-3512-4733-9D28-C39DEC6D5A46}" type="presOf" srcId="{09E83A0D-6FEF-41DF-A1A8-06E9FFC85F71}" destId="{E9EC313E-C07D-4024-9AF7-7BAA82F22646}" srcOrd="0" destOrd="0" presId="urn:microsoft.com/office/officeart/2005/8/layout/chevron1#10"/>
    <dgm:cxn modelId="{4BD81A2D-98E6-4436-8D1C-4401C7EA7C2E}" srcId="{5CEF05A0-8592-4E19-B534-CF8DA92D5C85}" destId="{845485CC-7F42-4E91-A00B-AD1808266A59}" srcOrd="3" destOrd="0" parTransId="{E396826C-359F-461F-B222-F959C3793F61}" sibTransId="{89E51C20-2D62-4186-8997-F2A21022C6CF}"/>
    <dgm:cxn modelId="{7E781441-A50F-4E46-A2D9-E957B894E573}" type="presOf" srcId="{D400241C-DEAF-4E77-A8FB-95CBA722C5BF}" destId="{4F9DEA38-A8FA-418A-B139-308095C75DE5}" srcOrd="0" destOrd="0" presId="urn:microsoft.com/office/officeart/2005/8/layout/chevron1#10"/>
    <dgm:cxn modelId="{307E2D55-0313-446A-83D1-63117C21C296}" srcId="{5CEF05A0-8592-4E19-B534-CF8DA92D5C85}" destId="{09E83A0D-6FEF-41DF-A1A8-06E9FFC85F71}" srcOrd="0" destOrd="0" parTransId="{FFD59D49-A026-4E00-87EA-187DB5D6A066}" sibTransId="{36CCA29F-F965-4645-9D7F-1EDA4C75E57E}"/>
    <dgm:cxn modelId="{D8FBB08B-BBD3-47DB-A200-8EBC561DA62F}" type="presOf" srcId="{845485CC-7F42-4E91-A00B-AD1808266A59}" destId="{89AA18CC-6C77-44F3-85A7-38695F314F32}" srcOrd="0" destOrd="0" presId="urn:microsoft.com/office/officeart/2005/8/layout/chevron1#10"/>
    <dgm:cxn modelId="{EB33419B-0263-433C-9BC9-665F9D4DD10F}" srcId="{5CEF05A0-8592-4E19-B534-CF8DA92D5C85}" destId="{D400241C-DEAF-4E77-A8FB-95CBA722C5BF}" srcOrd="1" destOrd="0" parTransId="{926D2AE0-ECB9-48CF-AB6F-BD18F9C28779}" sibTransId="{55CA4814-D433-4485-9603-A24EF1C3B8F7}"/>
    <dgm:cxn modelId="{20E123D7-F393-4E76-84F8-B897C6CC5ADB}" srcId="{5CEF05A0-8592-4E19-B534-CF8DA92D5C85}" destId="{EFC05841-292D-4BFD-B586-9DB1A0F0999E}" srcOrd="2" destOrd="0" parTransId="{6BEBE1E2-7ADD-46DB-A390-E1FE68A19EE5}" sibTransId="{EB0BFDBB-37BC-44A5-9757-FDC45C28EECB}"/>
    <dgm:cxn modelId="{69FB16EC-B9B6-4DD2-8F60-D3C62BC2C822}" type="presOf" srcId="{EFC05841-292D-4BFD-B586-9DB1A0F0999E}" destId="{DB2DC495-4888-4FB0-8E56-94B7ED74FA00}" srcOrd="0" destOrd="0" presId="urn:microsoft.com/office/officeart/2005/8/layout/chevron1#10"/>
    <dgm:cxn modelId="{FDC2920E-D462-4099-AAD9-7061DA75790D}" type="presParOf" srcId="{AFDF9144-0890-4741-9012-683715D91BA8}" destId="{E9EC313E-C07D-4024-9AF7-7BAA82F22646}" srcOrd="0" destOrd="0" presId="urn:microsoft.com/office/officeart/2005/8/layout/chevron1#10"/>
    <dgm:cxn modelId="{BE9CD0F0-86E3-473D-ACC0-0A1CDB83D02D}" type="presParOf" srcId="{AFDF9144-0890-4741-9012-683715D91BA8}" destId="{1254BCE1-0659-4C9C-A343-41153979CEE1}" srcOrd="1" destOrd="0" presId="urn:microsoft.com/office/officeart/2005/8/layout/chevron1#10"/>
    <dgm:cxn modelId="{23C3C8E6-6442-4A61-9F3C-66FB5F60C029}" type="presParOf" srcId="{AFDF9144-0890-4741-9012-683715D91BA8}" destId="{4F9DEA38-A8FA-418A-B139-308095C75DE5}" srcOrd="2" destOrd="0" presId="urn:microsoft.com/office/officeart/2005/8/layout/chevron1#10"/>
    <dgm:cxn modelId="{ECF28035-C4C2-4F0A-91A6-54605395BB01}" type="presParOf" srcId="{AFDF9144-0890-4741-9012-683715D91BA8}" destId="{F32AF327-A8A7-42ED-9A3A-FD065AEF35CC}" srcOrd="3" destOrd="0" presId="urn:microsoft.com/office/officeart/2005/8/layout/chevron1#10"/>
    <dgm:cxn modelId="{1EA5E5A7-6379-4647-82EB-47293F901444}" type="presParOf" srcId="{AFDF9144-0890-4741-9012-683715D91BA8}" destId="{DB2DC495-4888-4FB0-8E56-94B7ED74FA00}" srcOrd="4" destOrd="0" presId="urn:microsoft.com/office/officeart/2005/8/layout/chevron1#10"/>
    <dgm:cxn modelId="{05C2C0AF-C649-43A1-9660-BD856B630B95}" type="presParOf" srcId="{AFDF9144-0890-4741-9012-683715D91BA8}" destId="{3128D3E7-1249-4292-B711-881F04FEB888}" srcOrd="5" destOrd="0" presId="urn:microsoft.com/office/officeart/2005/8/layout/chevron1#10"/>
    <dgm:cxn modelId="{39A0DD8E-E4B6-47DF-81A2-0B69F2B95DCA}" type="presParOf" srcId="{AFDF9144-0890-4741-9012-683715D91BA8}" destId="{89AA18CC-6C77-44F3-85A7-38695F314F32}" srcOrd="6" destOrd="0" presId="urn:microsoft.com/office/officeart/2005/8/layout/chevron1#10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5CEF05A0-8592-4E19-B534-CF8DA92D5C85}" type="doc">
      <dgm:prSet loTypeId="urn:microsoft.com/office/officeart/2005/8/layout/chevron1#10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09E83A0D-6FEF-41DF-A1A8-06E9FFC85F71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FFD59D49-A026-4E00-87EA-187DB5D6A066}" type="parTrans" cxnId="{307E2D55-0313-446A-83D1-63117C21C296}">
      <dgm:prSet/>
      <dgm:spPr>
        <a:ln>
          <a:noFill/>
        </a:ln>
      </dgm:spPr>
    </dgm:pt>
    <dgm:pt modelId="{36CCA29F-F965-4645-9D7F-1EDA4C75E57E}" type="sibTrans" cxnId="{307E2D55-0313-446A-83D1-63117C21C296}">
      <dgm:prSet/>
      <dgm:spPr>
        <a:ln>
          <a:noFill/>
        </a:ln>
      </dgm:spPr>
    </dgm:pt>
    <dgm:pt modelId="{D400241C-DEAF-4E77-A8FB-95CBA722C5BF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gm:t>
    </dgm:pt>
    <dgm:pt modelId="{926D2AE0-ECB9-48CF-AB6F-BD18F9C28779}" type="parTrans" cxnId="{EB33419B-0263-433C-9BC9-665F9D4DD10F}">
      <dgm:prSet/>
      <dgm:spPr>
        <a:ln>
          <a:noFill/>
        </a:ln>
      </dgm:spPr>
    </dgm:pt>
    <dgm:pt modelId="{55CA4814-D433-4485-9603-A24EF1C3B8F7}" type="sibTrans" cxnId="{EB33419B-0263-433C-9BC9-665F9D4DD10F}">
      <dgm:prSet/>
      <dgm:spPr>
        <a:ln>
          <a:noFill/>
        </a:ln>
      </dgm:spPr>
    </dgm:pt>
    <dgm:pt modelId="{EFC05841-292D-4BFD-B586-9DB1A0F0999E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gm:t>
    </dgm:pt>
    <dgm:pt modelId="{6BEBE1E2-7ADD-46DB-A390-E1FE68A19EE5}" type="parTrans" cxnId="{20E123D7-F393-4E76-84F8-B897C6CC5ADB}">
      <dgm:prSet/>
      <dgm:spPr>
        <a:ln>
          <a:noFill/>
        </a:ln>
      </dgm:spPr>
    </dgm:pt>
    <dgm:pt modelId="{EB0BFDBB-37BC-44A5-9757-FDC45C28EECB}" type="sibTrans" cxnId="{20E123D7-F393-4E76-84F8-B897C6CC5ADB}">
      <dgm:prSet/>
      <dgm:spPr>
        <a:ln>
          <a:noFill/>
        </a:ln>
      </dgm:spPr>
    </dgm:pt>
    <dgm:pt modelId="{845485CC-7F42-4E91-A00B-AD1808266A59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Resolution</a:t>
          </a:r>
        </a:p>
      </dgm:t>
    </dgm:pt>
    <dgm:pt modelId="{E396826C-359F-461F-B222-F959C3793F61}" type="parTrans" cxnId="{4BD81A2D-98E6-4436-8D1C-4401C7EA7C2E}">
      <dgm:prSet/>
      <dgm:spPr>
        <a:ln>
          <a:noFill/>
        </a:ln>
      </dgm:spPr>
    </dgm:pt>
    <dgm:pt modelId="{89E51C20-2D62-4186-8997-F2A21022C6CF}" type="sibTrans" cxnId="{4BD81A2D-98E6-4436-8D1C-4401C7EA7C2E}">
      <dgm:prSet/>
      <dgm:spPr>
        <a:ln>
          <a:noFill/>
        </a:ln>
      </dgm:spPr>
    </dgm:pt>
    <dgm:pt modelId="{AFDF9144-0890-4741-9012-683715D91BA8}" type="pres">
      <dgm:prSet presAssocID="{5CEF05A0-8592-4E19-B534-CF8DA92D5C85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E9EC313E-C07D-4024-9AF7-7BAA82F22646}" type="pres">
      <dgm:prSet presAssocID="{09E83A0D-6FEF-41DF-A1A8-06E9FFC85F71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1254BCE1-0659-4C9C-A343-41153979CEE1}" type="pres">
      <dgm:prSet presAssocID="{36CCA29F-F965-4645-9D7F-1EDA4C75E57E}" presName="parTxOnlySpace" presStyleCnt="0"/>
      <dgm:spPr>
        <a:ln>
          <a:noFill/>
        </a:ln>
      </dgm:spPr>
    </dgm:pt>
    <dgm:pt modelId="{4F9DEA38-A8FA-418A-B139-308095C75DE5}" type="pres">
      <dgm:prSet presAssocID="{D400241C-DEAF-4E77-A8FB-95CBA722C5BF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F32AF327-A8A7-42ED-9A3A-FD065AEF35CC}" type="pres">
      <dgm:prSet presAssocID="{55CA4814-D433-4485-9603-A24EF1C3B8F7}" presName="parTxOnlySpace" presStyleCnt="0"/>
      <dgm:spPr>
        <a:ln>
          <a:noFill/>
        </a:ln>
      </dgm:spPr>
    </dgm:pt>
    <dgm:pt modelId="{DB2DC495-4888-4FB0-8E56-94B7ED74FA00}" type="pres">
      <dgm:prSet presAssocID="{EFC05841-292D-4BFD-B586-9DB1A0F0999E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3128D3E7-1249-4292-B711-881F04FEB888}" type="pres">
      <dgm:prSet presAssocID="{EB0BFDBB-37BC-44A5-9757-FDC45C28EECB}" presName="parTxOnlySpace" presStyleCnt="0"/>
      <dgm:spPr>
        <a:ln>
          <a:noFill/>
        </a:ln>
      </dgm:spPr>
    </dgm:pt>
    <dgm:pt modelId="{89AA18CC-6C77-44F3-85A7-38695F314F32}" type="pres">
      <dgm:prSet presAssocID="{845485CC-7F42-4E91-A00B-AD1808266A59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B47B7A01-EE41-406A-A38E-3E45A6AB1E2D}" type="presOf" srcId="{5CEF05A0-8592-4E19-B534-CF8DA92D5C85}" destId="{AFDF9144-0890-4741-9012-683715D91BA8}" srcOrd="0" destOrd="0" presId="urn:microsoft.com/office/officeart/2005/8/layout/chevron1#10"/>
    <dgm:cxn modelId="{5F8D4429-3512-4733-9D28-C39DEC6D5A46}" type="presOf" srcId="{09E83A0D-6FEF-41DF-A1A8-06E9FFC85F71}" destId="{E9EC313E-C07D-4024-9AF7-7BAA82F22646}" srcOrd="0" destOrd="0" presId="urn:microsoft.com/office/officeart/2005/8/layout/chevron1#10"/>
    <dgm:cxn modelId="{4BD81A2D-98E6-4436-8D1C-4401C7EA7C2E}" srcId="{5CEF05A0-8592-4E19-B534-CF8DA92D5C85}" destId="{845485CC-7F42-4E91-A00B-AD1808266A59}" srcOrd="3" destOrd="0" parTransId="{E396826C-359F-461F-B222-F959C3793F61}" sibTransId="{89E51C20-2D62-4186-8997-F2A21022C6CF}"/>
    <dgm:cxn modelId="{7E781441-A50F-4E46-A2D9-E957B894E573}" type="presOf" srcId="{D400241C-DEAF-4E77-A8FB-95CBA722C5BF}" destId="{4F9DEA38-A8FA-418A-B139-308095C75DE5}" srcOrd="0" destOrd="0" presId="urn:microsoft.com/office/officeart/2005/8/layout/chevron1#10"/>
    <dgm:cxn modelId="{307E2D55-0313-446A-83D1-63117C21C296}" srcId="{5CEF05A0-8592-4E19-B534-CF8DA92D5C85}" destId="{09E83A0D-6FEF-41DF-A1A8-06E9FFC85F71}" srcOrd="0" destOrd="0" parTransId="{FFD59D49-A026-4E00-87EA-187DB5D6A066}" sibTransId="{36CCA29F-F965-4645-9D7F-1EDA4C75E57E}"/>
    <dgm:cxn modelId="{D8FBB08B-BBD3-47DB-A200-8EBC561DA62F}" type="presOf" srcId="{845485CC-7F42-4E91-A00B-AD1808266A59}" destId="{89AA18CC-6C77-44F3-85A7-38695F314F32}" srcOrd="0" destOrd="0" presId="urn:microsoft.com/office/officeart/2005/8/layout/chevron1#10"/>
    <dgm:cxn modelId="{EB33419B-0263-433C-9BC9-665F9D4DD10F}" srcId="{5CEF05A0-8592-4E19-B534-CF8DA92D5C85}" destId="{D400241C-DEAF-4E77-A8FB-95CBA722C5BF}" srcOrd="1" destOrd="0" parTransId="{926D2AE0-ECB9-48CF-AB6F-BD18F9C28779}" sibTransId="{55CA4814-D433-4485-9603-A24EF1C3B8F7}"/>
    <dgm:cxn modelId="{20E123D7-F393-4E76-84F8-B897C6CC5ADB}" srcId="{5CEF05A0-8592-4E19-B534-CF8DA92D5C85}" destId="{EFC05841-292D-4BFD-B586-9DB1A0F0999E}" srcOrd="2" destOrd="0" parTransId="{6BEBE1E2-7ADD-46DB-A390-E1FE68A19EE5}" sibTransId="{EB0BFDBB-37BC-44A5-9757-FDC45C28EECB}"/>
    <dgm:cxn modelId="{69FB16EC-B9B6-4DD2-8F60-D3C62BC2C822}" type="presOf" srcId="{EFC05841-292D-4BFD-B586-9DB1A0F0999E}" destId="{DB2DC495-4888-4FB0-8E56-94B7ED74FA00}" srcOrd="0" destOrd="0" presId="urn:microsoft.com/office/officeart/2005/8/layout/chevron1#10"/>
    <dgm:cxn modelId="{FDC2920E-D462-4099-AAD9-7061DA75790D}" type="presParOf" srcId="{AFDF9144-0890-4741-9012-683715D91BA8}" destId="{E9EC313E-C07D-4024-9AF7-7BAA82F22646}" srcOrd="0" destOrd="0" presId="urn:microsoft.com/office/officeart/2005/8/layout/chevron1#10"/>
    <dgm:cxn modelId="{BE9CD0F0-86E3-473D-ACC0-0A1CDB83D02D}" type="presParOf" srcId="{AFDF9144-0890-4741-9012-683715D91BA8}" destId="{1254BCE1-0659-4C9C-A343-41153979CEE1}" srcOrd="1" destOrd="0" presId="urn:microsoft.com/office/officeart/2005/8/layout/chevron1#10"/>
    <dgm:cxn modelId="{23C3C8E6-6442-4A61-9F3C-66FB5F60C029}" type="presParOf" srcId="{AFDF9144-0890-4741-9012-683715D91BA8}" destId="{4F9DEA38-A8FA-418A-B139-308095C75DE5}" srcOrd="2" destOrd="0" presId="urn:microsoft.com/office/officeart/2005/8/layout/chevron1#10"/>
    <dgm:cxn modelId="{ECF28035-C4C2-4F0A-91A6-54605395BB01}" type="presParOf" srcId="{AFDF9144-0890-4741-9012-683715D91BA8}" destId="{F32AF327-A8A7-42ED-9A3A-FD065AEF35CC}" srcOrd="3" destOrd="0" presId="urn:microsoft.com/office/officeart/2005/8/layout/chevron1#10"/>
    <dgm:cxn modelId="{1EA5E5A7-6379-4647-82EB-47293F901444}" type="presParOf" srcId="{AFDF9144-0890-4741-9012-683715D91BA8}" destId="{DB2DC495-4888-4FB0-8E56-94B7ED74FA00}" srcOrd="4" destOrd="0" presId="urn:microsoft.com/office/officeart/2005/8/layout/chevron1#10"/>
    <dgm:cxn modelId="{05C2C0AF-C649-43A1-9660-BD856B630B95}" type="presParOf" srcId="{AFDF9144-0890-4741-9012-683715D91BA8}" destId="{3128D3E7-1249-4292-B711-881F04FEB888}" srcOrd="5" destOrd="0" presId="urn:microsoft.com/office/officeart/2005/8/layout/chevron1#10"/>
    <dgm:cxn modelId="{39A0DD8E-E4B6-47DF-81A2-0B69F2B95DCA}" type="presParOf" srcId="{AFDF9144-0890-4741-9012-683715D91BA8}" destId="{89AA18CC-6C77-44F3-85A7-38695F314F32}" srcOrd="6" destOrd="0" presId="urn:microsoft.com/office/officeart/2005/8/layout/chevron1#10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5CEF05A0-8592-4E19-B534-CF8DA92D5C85}" type="doc">
      <dgm:prSet loTypeId="urn:microsoft.com/office/officeart/2005/8/layout/chevron1#11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09E83A0D-6FEF-41DF-A1A8-06E9FFC85F71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FFD59D49-A026-4E00-87EA-187DB5D6A066}" type="parTrans" cxnId="{307E2D55-0313-446A-83D1-63117C21C296}">
      <dgm:prSet/>
      <dgm:spPr>
        <a:ln>
          <a:noFill/>
        </a:ln>
      </dgm:spPr>
    </dgm:pt>
    <dgm:pt modelId="{36CCA29F-F965-4645-9D7F-1EDA4C75E57E}" type="sibTrans" cxnId="{307E2D55-0313-446A-83D1-63117C21C296}">
      <dgm:prSet/>
      <dgm:spPr>
        <a:ln>
          <a:noFill/>
        </a:ln>
      </dgm:spPr>
    </dgm:pt>
    <dgm:pt modelId="{D400241C-DEAF-4E77-A8FB-95CBA722C5BF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gm:t>
    </dgm:pt>
    <dgm:pt modelId="{926D2AE0-ECB9-48CF-AB6F-BD18F9C28779}" type="parTrans" cxnId="{EB33419B-0263-433C-9BC9-665F9D4DD10F}">
      <dgm:prSet/>
      <dgm:spPr>
        <a:ln>
          <a:noFill/>
        </a:ln>
      </dgm:spPr>
    </dgm:pt>
    <dgm:pt modelId="{55CA4814-D433-4485-9603-A24EF1C3B8F7}" type="sibTrans" cxnId="{EB33419B-0263-433C-9BC9-665F9D4DD10F}">
      <dgm:prSet/>
      <dgm:spPr>
        <a:ln>
          <a:noFill/>
        </a:ln>
      </dgm:spPr>
    </dgm:pt>
    <dgm:pt modelId="{EFC05841-292D-4BFD-B586-9DB1A0F0999E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gm:t>
    </dgm:pt>
    <dgm:pt modelId="{6BEBE1E2-7ADD-46DB-A390-E1FE68A19EE5}" type="parTrans" cxnId="{20E123D7-F393-4E76-84F8-B897C6CC5ADB}">
      <dgm:prSet/>
      <dgm:spPr>
        <a:ln>
          <a:noFill/>
        </a:ln>
      </dgm:spPr>
    </dgm:pt>
    <dgm:pt modelId="{EB0BFDBB-37BC-44A5-9757-FDC45C28EECB}" type="sibTrans" cxnId="{20E123D7-F393-4E76-84F8-B897C6CC5ADB}">
      <dgm:prSet/>
      <dgm:spPr>
        <a:ln>
          <a:noFill/>
        </a:ln>
      </dgm:spPr>
    </dgm:pt>
    <dgm:pt modelId="{845485CC-7F42-4E91-A00B-AD1808266A59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Resolution</a:t>
          </a:r>
        </a:p>
      </dgm:t>
    </dgm:pt>
    <dgm:pt modelId="{E396826C-359F-461F-B222-F959C3793F61}" type="parTrans" cxnId="{4BD81A2D-98E6-4436-8D1C-4401C7EA7C2E}">
      <dgm:prSet/>
      <dgm:spPr>
        <a:ln>
          <a:noFill/>
        </a:ln>
      </dgm:spPr>
    </dgm:pt>
    <dgm:pt modelId="{89E51C20-2D62-4186-8997-F2A21022C6CF}" type="sibTrans" cxnId="{4BD81A2D-98E6-4436-8D1C-4401C7EA7C2E}">
      <dgm:prSet/>
      <dgm:spPr>
        <a:ln>
          <a:noFill/>
        </a:ln>
      </dgm:spPr>
    </dgm:pt>
    <dgm:pt modelId="{AFDF9144-0890-4741-9012-683715D91BA8}" type="pres">
      <dgm:prSet presAssocID="{5CEF05A0-8592-4E19-B534-CF8DA92D5C85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E9EC313E-C07D-4024-9AF7-7BAA82F22646}" type="pres">
      <dgm:prSet presAssocID="{09E83A0D-6FEF-41DF-A1A8-06E9FFC85F71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1254BCE1-0659-4C9C-A343-41153979CEE1}" type="pres">
      <dgm:prSet presAssocID="{36CCA29F-F965-4645-9D7F-1EDA4C75E57E}" presName="parTxOnlySpace" presStyleCnt="0"/>
      <dgm:spPr>
        <a:ln>
          <a:noFill/>
        </a:ln>
      </dgm:spPr>
    </dgm:pt>
    <dgm:pt modelId="{4F9DEA38-A8FA-418A-B139-308095C75DE5}" type="pres">
      <dgm:prSet presAssocID="{D400241C-DEAF-4E77-A8FB-95CBA722C5BF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F32AF327-A8A7-42ED-9A3A-FD065AEF35CC}" type="pres">
      <dgm:prSet presAssocID="{55CA4814-D433-4485-9603-A24EF1C3B8F7}" presName="parTxOnlySpace" presStyleCnt="0"/>
      <dgm:spPr>
        <a:ln>
          <a:noFill/>
        </a:ln>
      </dgm:spPr>
    </dgm:pt>
    <dgm:pt modelId="{DB2DC495-4888-4FB0-8E56-94B7ED74FA00}" type="pres">
      <dgm:prSet presAssocID="{EFC05841-292D-4BFD-B586-9DB1A0F0999E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3128D3E7-1249-4292-B711-881F04FEB888}" type="pres">
      <dgm:prSet presAssocID="{EB0BFDBB-37BC-44A5-9757-FDC45C28EECB}" presName="parTxOnlySpace" presStyleCnt="0"/>
      <dgm:spPr>
        <a:ln>
          <a:noFill/>
        </a:ln>
      </dgm:spPr>
    </dgm:pt>
    <dgm:pt modelId="{89AA18CC-6C77-44F3-85A7-38695F314F32}" type="pres">
      <dgm:prSet presAssocID="{845485CC-7F42-4E91-A00B-AD1808266A59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B47B7A01-EE41-406A-A38E-3E45A6AB1E2D}" type="presOf" srcId="{5CEF05A0-8592-4E19-B534-CF8DA92D5C85}" destId="{AFDF9144-0890-4741-9012-683715D91BA8}" srcOrd="0" destOrd="0" presId="urn:microsoft.com/office/officeart/2005/8/layout/chevron1#11"/>
    <dgm:cxn modelId="{5F8D4429-3512-4733-9D28-C39DEC6D5A46}" type="presOf" srcId="{09E83A0D-6FEF-41DF-A1A8-06E9FFC85F71}" destId="{E9EC313E-C07D-4024-9AF7-7BAA82F22646}" srcOrd="0" destOrd="0" presId="urn:microsoft.com/office/officeart/2005/8/layout/chevron1#11"/>
    <dgm:cxn modelId="{4BD81A2D-98E6-4436-8D1C-4401C7EA7C2E}" srcId="{5CEF05A0-8592-4E19-B534-CF8DA92D5C85}" destId="{845485CC-7F42-4E91-A00B-AD1808266A59}" srcOrd="3" destOrd="0" parTransId="{E396826C-359F-461F-B222-F959C3793F61}" sibTransId="{89E51C20-2D62-4186-8997-F2A21022C6CF}"/>
    <dgm:cxn modelId="{7E781441-A50F-4E46-A2D9-E957B894E573}" type="presOf" srcId="{D400241C-DEAF-4E77-A8FB-95CBA722C5BF}" destId="{4F9DEA38-A8FA-418A-B139-308095C75DE5}" srcOrd="0" destOrd="0" presId="urn:microsoft.com/office/officeart/2005/8/layout/chevron1#11"/>
    <dgm:cxn modelId="{307E2D55-0313-446A-83D1-63117C21C296}" srcId="{5CEF05A0-8592-4E19-B534-CF8DA92D5C85}" destId="{09E83A0D-6FEF-41DF-A1A8-06E9FFC85F71}" srcOrd="0" destOrd="0" parTransId="{FFD59D49-A026-4E00-87EA-187DB5D6A066}" sibTransId="{36CCA29F-F965-4645-9D7F-1EDA4C75E57E}"/>
    <dgm:cxn modelId="{D8FBB08B-BBD3-47DB-A200-8EBC561DA62F}" type="presOf" srcId="{845485CC-7F42-4E91-A00B-AD1808266A59}" destId="{89AA18CC-6C77-44F3-85A7-38695F314F32}" srcOrd="0" destOrd="0" presId="urn:microsoft.com/office/officeart/2005/8/layout/chevron1#11"/>
    <dgm:cxn modelId="{EB33419B-0263-433C-9BC9-665F9D4DD10F}" srcId="{5CEF05A0-8592-4E19-B534-CF8DA92D5C85}" destId="{D400241C-DEAF-4E77-A8FB-95CBA722C5BF}" srcOrd="1" destOrd="0" parTransId="{926D2AE0-ECB9-48CF-AB6F-BD18F9C28779}" sibTransId="{55CA4814-D433-4485-9603-A24EF1C3B8F7}"/>
    <dgm:cxn modelId="{20E123D7-F393-4E76-84F8-B897C6CC5ADB}" srcId="{5CEF05A0-8592-4E19-B534-CF8DA92D5C85}" destId="{EFC05841-292D-4BFD-B586-9DB1A0F0999E}" srcOrd="2" destOrd="0" parTransId="{6BEBE1E2-7ADD-46DB-A390-E1FE68A19EE5}" sibTransId="{EB0BFDBB-37BC-44A5-9757-FDC45C28EECB}"/>
    <dgm:cxn modelId="{69FB16EC-B9B6-4DD2-8F60-D3C62BC2C822}" type="presOf" srcId="{EFC05841-292D-4BFD-B586-9DB1A0F0999E}" destId="{DB2DC495-4888-4FB0-8E56-94B7ED74FA00}" srcOrd="0" destOrd="0" presId="urn:microsoft.com/office/officeart/2005/8/layout/chevron1#11"/>
    <dgm:cxn modelId="{FDC2920E-D462-4099-AAD9-7061DA75790D}" type="presParOf" srcId="{AFDF9144-0890-4741-9012-683715D91BA8}" destId="{E9EC313E-C07D-4024-9AF7-7BAA82F22646}" srcOrd="0" destOrd="0" presId="urn:microsoft.com/office/officeart/2005/8/layout/chevron1#11"/>
    <dgm:cxn modelId="{BE9CD0F0-86E3-473D-ACC0-0A1CDB83D02D}" type="presParOf" srcId="{AFDF9144-0890-4741-9012-683715D91BA8}" destId="{1254BCE1-0659-4C9C-A343-41153979CEE1}" srcOrd="1" destOrd="0" presId="urn:microsoft.com/office/officeart/2005/8/layout/chevron1#11"/>
    <dgm:cxn modelId="{23C3C8E6-6442-4A61-9F3C-66FB5F60C029}" type="presParOf" srcId="{AFDF9144-0890-4741-9012-683715D91BA8}" destId="{4F9DEA38-A8FA-418A-B139-308095C75DE5}" srcOrd="2" destOrd="0" presId="urn:microsoft.com/office/officeart/2005/8/layout/chevron1#11"/>
    <dgm:cxn modelId="{ECF28035-C4C2-4F0A-91A6-54605395BB01}" type="presParOf" srcId="{AFDF9144-0890-4741-9012-683715D91BA8}" destId="{F32AF327-A8A7-42ED-9A3A-FD065AEF35CC}" srcOrd="3" destOrd="0" presId="urn:microsoft.com/office/officeart/2005/8/layout/chevron1#11"/>
    <dgm:cxn modelId="{1EA5E5A7-6379-4647-82EB-47293F901444}" type="presParOf" srcId="{AFDF9144-0890-4741-9012-683715D91BA8}" destId="{DB2DC495-4888-4FB0-8E56-94B7ED74FA00}" srcOrd="4" destOrd="0" presId="urn:microsoft.com/office/officeart/2005/8/layout/chevron1#11"/>
    <dgm:cxn modelId="{05C2C0AF-C649-43A1-9660-BD856B630B95}" type="presParOf" srcId="{AFDF9144-0890-4741-9012-683715D91BA8}" destId="{3128D3E7-1249-4292-B711-881F04FEB888}" srcOrd="5" destOrd="0" presId="urn:microsoft.com/office/officeart/2005/8/layout/chevron1#11"/>
    <dgm:cxn modelId="{39A0DD8E-E4B6-47DF-81A2-0B69F2B95DCA}" type="presParOf" srcId="{AFDF9144-0890-4741-9012-683715D91BA8}" destId="{89AA18CC-6C77-44F3-85A7-38695F314F32}" srcOrd="6" destOrd="0" presId="urn:microsoft.com/office/officeart/2005/8/layout/chevron1#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EF7803-CBF7-4F68-B5E2-A27214E782BF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C17A1487-1862-4A32-B801-89B618873E04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9F404DEC-4EC8-4518-BE85-93B7692E5638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E56216AE-4B62-49BF-B577-95F970D228C9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D1D34D-643C-499A-B330-F91526D1DBE8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6636E125-B383-4A9D-B027-3EFC54D58BB6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EC812F4D-EF66-448A-B027-679DD9AEE63D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4BCE8E4B-4C6F-4AB8-BA87-94EBADC2C5D0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EF7803-CBF7-4F68-B5E2-A27214E782BF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C17A1487-1862-4A32-B801-89B618873E04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9F404DEC-4EC8-4518-BE85-93B7692E5638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E56216AE-4B62-49BF-B577-95F970D228C9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D1D34D-643C-499A-B330-F91526D1DBE8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6636E125-B383-4A9D-B027-3EFC54D58BB6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EC812F4D-EF66-448A-B027-679DD9AEE63D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4BCE8E4B-4C6F-4AB8-BA87-94EBADC2C5D0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D1D34D-643C-499A-B330-F91526D1DBE8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6636E125-B383-4A9D-B027-3EFC54D58BB6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EC812F4D-EF66-448A-B027-679DD9AEE63D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4BCE8E4B-4C6F-4AB8-BA87-94EBADC2C5D0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D1D34D-643C-499A-B330-F91526D1DBE8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6636E125-B383-4A9D-B027-3EFC54D58BB6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EC812F4D-EF66-448A-B027-679DD9AEE63D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4BCE8E4B-4C6F-4AB8-BA87-94EBADC2C5D0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D1D34D-643C-499A-B330-F91526D1DBE8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6636E125-B383-4A9D-B027-3EFC54D58BB6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EC812F4D-EF66-448A-B027-679DD9AEE63D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4BCE8E4B-4C6F-4AB8-BA87-94EBADC2C5D0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D1D34D-643C-499A-B330-F91526D1DBE8}">
      <dsp:nvSpPr>
        <dsp:cNvPr id="0" name=""/>
        <dsp:cNvSpPr/>
      </dsp:nvSpPr>
      <dsp:spPr>
        <a:xfrm>
          <a:off x="4941" y="0"/>
          <a:ext cx="2876453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4941" y="0"/>
        <a:ext cx="2819760" cy="283464"/>
      </dsp:txXfrm>
    </dsp:sp>
    <dsp:sp modelId="{6636E125-B383-4A9D-B027-3EFC54D58BB6}">
      <dsp:nvSpPr>
        <dsp:cNvPr id="0" name=""/>
        <dsp:cNvSpPr/>
      </dsp:nvSpPr>
      <dsp:spPr>
        <a:xfrm>
          <a:off x="2593749" y="0"/>
          <a:ext cx="2876453" cy="283464"/>
        </a:xfrm>
        <a:prstGeom prst="chevron">
          <a:avLst/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sp:txBody>
      <dsp:txXfrm>
        <a:off x="2735481" y="0"/>
        <a:ext cx="2592989" cy="283464"/>
      </dsp:txXfrm>
    </dsp:sp>
    <dsp:sp modelId="{EC812F4D-EF66-448A-B027-679DD9AEE63D}">
      <dsp:nvSpPr>
        <dsp:cNvPr id="0" name=""/>
        <dsp:cNvSpPr/>
      </dsp:nvSpPr>
      <dsp:spPr>
        <a:xfrm>
          <a:off x="5182557" y="0"/>
          <a:ext cx="2876453" cy="283464"/>
        </a:xfrm>
        <a:prstGeom prst="chevron">
          <a:avLst/>
        </a:prstGeom>
        <a:solidFill>
          <a:srgbClr val="0A2373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324289" y="0"/>
        <a:ext cx="2592989" cy="283464"/>
      </dsp:txXfrm>
    </dsp:sp>
    <dsp:sp modelId="{4BCE8E4B-4C6F-4AB8-BA87-94EBADC2C5D0}">
      <dsp:nvSpPr>
        <dsp:cNvPr id="0" name=""/>
        <dsp:cNvSpPr/>
      </dsp:nvSpPr>
      <dsp:spPr>
        <a:xfrm>
          <a:off x="7771365" y="0"/>
          <a:ext cx="2876453" cy="283464"/>
        </a:xfrm>
        <a:prstGeom prst="chevron">
          <a:avLst/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sp:txBody>
      <dsp:txXfrm>
        <a:off x="7913097" y="0"/>
        <a:ext cx="2592989" cy="28346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D1D34D-643C-499A-B330-F91526D1DBE8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6636E125-B383-4A9D-B027-3EFC54D58BB6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EC812F4D-EF66-448A-B027-679DD9AEE63D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4BCE8E4B-4C6F-4AB8-BA87-94EBADC2C5D0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EC313E-C07D-4024-9AF7-7BAA82F22646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4F9DEA38-A8FA-418A-B139-308095C75DE5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DB2DC495-4888-4FB0-8E56-94B7ED74FA00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89AA18CC-6C77-44F3-85A7-38695F314F32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EC313E-C07D-4024-9AF7-7BAA82F22646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4F9DEA38-A8FA-418A-B139-308095C75DE5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DB2DC495-4888-4FB0-8E56-94B7ED74FA00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89AA18CC-6C77-44F3-85A7-38695F314F32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EC313E-C07D-4024-9AF7-7BAA82F22646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4F9DEA38-A8FA-418A-B139-308095C75DE5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DB2DC495-4888-4FB0-8E56-94B7ED74FA00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89AA18CC-6C77-44F3-85A7-38695F314F32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#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#2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#3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#4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1#5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evron1#6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hevron1#7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hevron1#8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chevron1#9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chevron1#10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chevron1#10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chevron1#1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South Africa fuel market outlook. Sources and assumptions are stated on the analytical pages. Cover photograph: Royal Vopak, Terminal Durban.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Department national sales; SARS 2025 trade; analytical workbook v02. 2025 demand is estimated; 5.8bn L production is a planning assumption. Gross import need includes exports and assumes no stock change.</a:t>
            </a:r>
          </a:p>
          <a:p>
            <a:r>
              <a:t>Figures reused from South Africa market story v37; no new model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Stats SA sector activity and freight; Eskom Integrated Report 2025 p141; Sasol and Glencore production disclosures; Galp and Petromoc infrastructure disclosures. Detailed evidence: South Africa story v37 pp7–11.</a:t>
            </a:r>
          </a:p>
          <a:p>
            <a:r>
              <a:t>Figures reused from South Africa market story v37; no new model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Department annual sales, 2013–2023. Estimated 2024–2025: analytical workbook v02. The Department series is used consistently. Segment split: analytical workbook v02, Segments. Displayed figures rounded; other diesel remains unallocated.</a:t>
            </a:r>
          </a:p>
          <a:p>
            <a:r>
              <a:t>Demand is estimated at 20.99bn litres in 2025; road uses account for most allocated demand.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Stats SA mining/manufacturing indices and agriculture real GVA; mean 2018–2021 fuel intensity. Sector diesel values after 2021 are estimates.</a:t>
            </a:r>
          </a:p>
          <a:p>
            <a:r>
              <a:t>Sector activity produces different demand paths; applying one GDP growth rate would hide these differences.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Eskom Integrated Report 2025, p141. Fiscal years end in March. Reported series includes diesel and kerosene; private backup consumption is outside this series. Analytical workbook v02, Segments: IPP conversion and private-backup assumptions.</a:t>
            </a:r>
          </a:p>
          <a:p>
            <a:r>
              <a:t>Improved electricity supply reduces peaking and backup fuel use; the private-backup contribution remains estimated.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Stats SA P7162 December 2025 p7; all reported freight. Analytical workbook v02, Evidence.</a:t>
            </a:r>
          </a:p>
          <a:p>
            <a:r>
              <a:t>Road remains the dominant freight mode; sustained rail recovery could change the diesel required to move goods.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naamsa all-market sales 2025; master workbook Vehicle history S31:S36; evidence retained in market story v27 p11. Analytical workbook v02: efficiency is a planning assumption; avoid double-counting hybrid savings.</a:t>
            </a:r>
          </a:p>
          <a:p>
            <a:r>
              <a:t>The model’s fuel-efficiency path is a planning assumption; new-vehicle sales alone do not quantify national fuel savings.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Department energy balances 2014–2021; consolidated review workbook, DR01 national balance rows 8/17. Sasol FY2025/FY2026; Glencore 2024/2025. 2025: 5.8bn L planning assumption. Historical production ends in 2021; no interpolated observations.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SARS 2022/2025; Galp Matola, 3 Dec 2020; Petromoc logistics; market-sizing workbook. Map: © OpenStreetMap contributors / Geofabrik; Natural Earth; geoBoundaries. Routes show connectivity, not validated tanker access. Compare the same product and destination.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Market-sizing issue tree reused from market-sizing v2000, slide 3. National demand/product estimates and production assumption aligned to analytical workbook v02. Provincial catchments retain 2022 source periods. Capture remains illustrative; Walvis Bay diversion unquantified.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455321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Framework: analytical workbook v02 and market-sizing workbook. Gateway shares and customer access require validation. Walvis Bay is a route to assess; no diversion volume is assigned. Stock build increases import need; stock draw reduces it.</a:t>
            </a:r>
          </a:p>
          <a:p>
            <a:r>
              <a:t>Figures reused from South Africa market story v37; no new model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Analytical workbook v02 base scenario; market-sizing workbook and working-capacity assessment. Capture is illustrative; Lesedi is included within Durban flow. Contracted share, product balance and usable capacity remain to be established.</a:t>
            </a:r>
          </a:p>
          <a:p>
            <a:r>
              <a:t>Figures reused from South Africa market story v37; no new model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Closing discussion. Cover photograph: Royal Vopak, Terminal Durban.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pic>
        <p:nvPicPr>
          <p:cNvPr id="12" name="Picture 3"/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0" y="1"/>
            <a:ext cx="1158875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" y="5137149"/>
            <a:ext cx="4933950" cy="1571625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>
                <a:solidFill>
                  <a:schemeClr val="tx1"/>
                </a:solidFill>
              </a:defRPr>
            </a:lvl2pPr>
            <a:lvl3pPr>
              <a:buNone/>
              <a:defRPr sz="1800" b="1">
                <a:solidFill>
                  <a:schemeClr val="tx1"/>
                </a:solidFill>
              </a:defRPr>
            </a:lvl3pPr>
            <a:lvl4pPr>
              <a:buNone/>
              <a:defRPr sz="1600" b="1">
                <a:solidFill>
                  <a:schemeClr val="tx1"/>
                </a:solidFill>
              </a:defRPr>
            </a:lvl4pPr>
            <a:lvl5pPr>
              <a:buNone/>
              <a:defRPr sz="1600" b="1">
                <a:solidFill>
                  <a:schemeClr val="tx1"/>
                </a:solidFill>
              </a:defRPr>
            </a:lvl5pPr>
          </a:lstStyle>
          <a:p>
            <a:pPr lvl="0">
              <a:buNone/>
            </a:pPr>
            <a:r>
              <a:rPr>
                <a:solidFill>
                  <a:schemeClr val="tx1"/>
                </a:solidFill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"/>
          <p:cNvPicPr>
            <a:picLocks noChangeAspect="1"/>
          </p:cNvPicPr>
          <p:nvPr/>
        </p:nvPicPr>
        <p:blipFill>
          <a:blip r:embed="rId2"/>
          <a:srcRect l="1233" t="15791" r="178" b="318"/>
          <a:stretch>
            <a:fillRect/>
          </a:stretch>
        </p:blipFill>
        <p:spPr>
          <a:xfrm>
            <a:off x="1" y="-12700"/>
            <a:ext cx="11588749" cy="575332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81615D-618B-242E-BA84-0838689DFC39}"/>
              </a:ext>
            </a:extLst>
          </p:cNvPr>
          <p:cNvSpPr>
            <a:spLocks noGrp="1"/>
          </p:cNvSpPr>
          <p:nvPr/>
        </p:nvSpPr>
        <p:spPr>
          <a:xfrm>
            <a:off x="1" y="5661025"/>
            <a:ext cx="11588749" cy="1200604"/>
          </a:xfrm>
          <a:prstGeom prst="rect">
            <a:avLst/>
          </a:prstGeom>
          <a:solidFill>
            <a:srgbClr val="326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77800" y="5205413"/>
            <a:ext cx="4933950" cy="1652587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>
                <a:solidFill>
                  <a:schemeClr val="tx1"/>
                </a:solidFill>
              </a:defRPr>
            </a:lvl2pPr>
            <a:lvl3pPr>
              <a:buNone/>
              <a:defRPr sz="1800" b="1">
                <a:solidFill>
                  <a:schemeClr val="tx1"/>
                </a:solidFill>
              </a:defRPr>
            </a:lvl3pPr>
            <a:lvl4pPr>
              <a:buNone/>
              <a:defRPr sz="1600" b="1">
                <a:solidFill>
                  <a:schemeClr val="tx1"/>
                </a:solidFill>
              </a:defRPr>
            </a:lvl4pPr>
            <a:lvl5pPr>
              <a:buNone/>
              <a:defRPr sz="1600" b="1">
                <a:solidFill>
                  <a:schemeClr val="tx1"/>
                </a:solidFill>
              </a:defRPr>
            </a:lvl5pPr>
          </a:lstStyle>
          <a:p>
            <a:pPr lvl="0">
              <a:buNone/>
            </a:pPr>
            <a:r>
              <a:rPr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92D3BD-B933-88AB-9C21-59605B00713D}"/>
              </a:ext>
            </a:extLst>
          </p:cNvPr>
          <p:cNvSpPr>
            <a:spLocks noGrp="1"/>
          </p:cNvSpPr>
          <p:nvPr/>
        </p:nvSpPr>
        <p:spPr>
          <a:xfrm>
            <a:off x="5111750" y="5727050"/>
            <a:ext cx="647700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0" name="Cover title panel">
            <a:extLst>
              <a:ext uri="{FF2B5EF4-FFF2-40B4-BE49-F238E27FC236}">
                <a16:creationId xmlns:a16="http://schemas.microsoft.com/office/drawing/2014/main" id="{B6CC79FF-F297-46B4-B0E4-850EE5B89B78}"/>
              </a:ext>
            </a:extLst>
          </p:cNvPr>
          <p:cNvSpPr>
            <a:spLocks noGrp="1"/>
          </p:cNvSpPr>
          <p:nvPr/>
        </p:nvSpPr>
        <p:spPr>
          <a:xfrm>
            <a:off x="118872" y="4690872"/>
            <a:ext cx="4992624" cy="1993392"/>
          </a:xfrm>
          <a:prstGeom prst="rect">
            <a:avLst/>
          </a:prstGeom>
          <a:solidFill>
            <a:srgbClr val="E7E6E6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9" name="Vopak cover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814" y="5675739"/>
            <a:ext cx="2518046" cy="5645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"/>
          <p:cNvPicPr>
            <a:picLocks noChangeAspect="1"/>
          </p:cNvPicPr>
          <p:nvPr/>
        </p:nvPicPr>
        <p:blipFill>
          <a:blip r:embed="rId2"/>
          <a:srcRect l="1233" t="15791" r="178" b="318"/>
          <a:stretch>
            <a:fillRect/>
          </a:stretch>
        </p:blipFill>
        <p:spPr>
          <a:xfrm>
            <a:off x="1" y="-12700"/>
            <a:ext cx="11588749" cy="575332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81615D-618B-242E-BA84-0838689DFC39}"/>
              </a:ext>
            </a:extLst>
          </p:cNvPr>
          <p:cNvSpPr>
            <a:spLocks noGrp="1"/>
          </p:cNvSpPr>
          <p:nvPr/>
        </p:nvSpPr>
        <p:spPr>
          <a:xfrm>
            <a:off x="1" y="5661025"/>
            <a:ext cx="11588749" cy="1200604"/>
          </a:xfrm>
          <a:prstGeom prst="rect">
            <a:avLst/>
          </a:prstGeom>
          <a:solidFill>
            <a:srgbClr val="326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77800" y="5205413"/>
            <a:ext cx="4933950" cy="1652587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>
                <a:solidFill>
                  <a:schemeClr val="tx1"/>
                </a:solidFill>
              </a:defRPr>
            </a:lvl2pPr>
            <a:lvl3pPr>
              <a:buNone/>
              <a:defRPr sz="1800" b="1">
                <a:solidFill>
                  <a:schemeClr val="tx1"/>
                </a:solidFill>
              </a:defRPr>
            </a:lvl3pPr>
            <a:lvl4pPr>
              <a:buNone/>
              <a:defRPr sz="1600" b="1">
                <a:solidFill>
                  <a:schemeClr val="tx1"/>
                </a:solidFill>
              </a:defRPr>
            </a:lvl4pPr>
            <a:lvl5pPr>
              <a:buNone/>
              <a:defRPr sz="1600" b="1">
                <a:solidFill>
                  <a:schemeClr val="tx1"/>
                </a:solidFill>
              </a:defRPr>
            </a:lvl5pPr>
          </a:lstStyle>
          <a:p>
            <a:pPr lvl="0">
              <a:buNone/>
            </a:pPr>
            <a:r>
              <a:rPr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0" name="Cover title panel">
            <a:extLst>
              <a:ext uri="{FF2B5EF4-FFF2-40B4-BE49-F238E27FC236}">
                <a16:creationId xmlns:a16="http://schemas.microsoft.com/office/drawing/2014/main" id="{571FD3DD-6D32-43BA-B044-BAFA89A96F83}"/>
              </a:ext>
            </a:extLst>
          </p:cNvPr>
          <p:cNvSpPr>
            <a:spLocks noGrp="1"/>
          </p:cNvSpPr>
          <p:nvPr/>
        </p:nvSpPr>
        <p:spPr>
          <a:xfrm>
            <a:off x="118872" y="4690872"/>
            <a:ext cx="4992624" cy="1993392"/>
          </a:xfrm>
          <a:prstGeom prst="rect">
            <a:avLst/>
          </a:prstGeom>
          <a:solidFill>
            <a:srgbClr val="E7E6E6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8" name="Vopak cover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814" y="5675739"/>
            <a:ext cx="2518046" cy="5645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460789-817F-4161-99E1-BBB95ED4BDDD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buNone/>
              <a:defRPr sz="1000">
                <a:solidFill>
                  <a:schemeClr val="tx1"/>
                </a:solidFill>
              </a:defRPr>
            </a:lvl1pPr>
          </a:lstStyle>
          <a:p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4FC8D6-72B7-40D6-89CC-331B0BF40A6F}"/>
              </a:ext>
            </a:extLst>
          </p:cNvPr>
          <p:cNvSpPr>
            <a:spLocks noGrp="1"/>
          </p:cNvSpPr>
          <p:nvPr/>
        </p:nvSpPr>
        <p:spPr>
          <a:xfrm>
            <a:off x="9079200" y="0"/>
            <a:ext cx="2509074" cy="10350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EDA466-D75C-48F1-9F3F-47B154E770B8}"/>
              </a:ext>
            </a:extLst>
          </p:cNvPr>
          <p:cNvSpPr>
            <a:spLocks noGrp="1"/>
          </p:cNvSpPr>
          <p:nvPr/>
        </p:nvSpPr>
        <p:spPr>
          <a:xfrm>
            <a:off x="-29153" y="0"/>
            <a:ext cx="4299527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sz="2800" b="1">
              <a:solidFill>
                <a:schemeClr val="tx1"/>
              </a:solidFill>
            </a:endParaRPr>
          </a:p>
          <a:p>
            <a:pPr algn="ctr">
              <a:buNone/>
            </a:pPr>
            <a:endParaRPr sz="28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460789-817F-4161-99E1-BBB95ED4BDDD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buNone/>
              <a:defRPr sz="1000">
                <a:solidFill>
                  <a:schemeClr val="tx1"/>
                </a:solidFill>
              </a:defRPr>
            </a:lvl1pPr>
          </a:lstStyle>
          <a:p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4FC8D6-72B7-40D6-89CC-331B0BF40A6F}"/>
              </a:ext>
            </a:extLst>
          </p:cNvPr>
          <p:cNvSpPr>
            <a:spLocks noGrp="1"/>
          </p:cNvSpPr>
          <p:nvPr/>
        </p:nvSpPr>
        <p:spPr>
          <a:xfrm>
            <a:off x="9079200" y="0"/>
            <a:ext cx="2509074" cy="10350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EDA466-D75C-48F1-9F3F-47B154E770B8}"/>
              </a:ext>
            </a:extLst>
          </p:cNvPr>
          <p:cNvSpPr>
            <a:spLocks noGrp="1"/>
          </p:cNvSpPr>
          <p:nvPr/>
        </p:nvSpPr>
        <p:spPr>
          <a:xfrm>
            <a:off x="-29153" y="0"/>
            <a:ext cx="5823528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sz="2800" b="1">
              <a:solidFill>
                <a:schemeClr val="tx1"/>
              </a:solidFill>
            </a:endParaRPr>
          </a:p>
          <a:p>
            <a:pPr algn="ctr">
              <a:buNone/>
            </a:pPr>
            <a:endParaRPr sz="28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6FAB5-3A31-4A82-B70E-C4CDDAD20A8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605599" y="6489700"/>
            <a:ext cx="805350" cy="287338"/>
          </a:xfrm>
        </p:spPr>
        <p:txBody>
          <a:bodyPr/>
          <a:lstStyle>
            <a:lvl1pPr>
              <a:buNone/>
              <a:defRPr sz="1000">
                <a:solidFill>
                  <a:schemeClr val="tx1"/>
                </a:solidFill>
              </a:defRPr>
            </a:lvl1pPr>
          </a:lstStyle>
          <a:p>
            <a:fld id="{A65E4EDC-57F8-4D5C-B13E-A981C5F2F71A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8395ED8E-92E9-32C5-9BE4-BAF8026DD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85216"/>
            <a:ext cx="10561320" cy="82296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rPr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7" name="Title and body separator">
            <a:extLst>
              <a:ext uri="{FF2B5EF4-FFF2-40B4-BE49-F238E27FC236}">
                <a16:creationId xmlns:a16="http://schemas.microsoft.com/office/drawing/2014/main" id="{6079D373-E04F-4CB2-8D62-0EE11526CD3C}"/>
              </a:ext>
            </a:extLst>
          </p:cNvPr>
          <p:cNvSpPr>
            <a:spLocks noGrp="1"/>
          </p:cNvSpPr>
          <p:nvPr/>
        </p:nvSpPr>
        <p:spPr>
          <a:xfrm>
            <a:off x="457200" y="1444752"/>
            <a:ext cx="10652760" cy="0"/>
          </a:xfrm>
          <a:prstGeom prst="line">
            <a:avLst/>
          </a:prstGeom>
          <a:ln w="3175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C860AC-EA18-440E-B23B-E92B7C49F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1" y="368299"/>
            <a:ext cx="11233148" cy="690101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9D33E-9E34-4BB4-9EFE-331A0FF3C8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7801" y="1233488"/>
            <a:ext cx="11233149" cy="5256212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2AEE9-FEF7-46B6-98E2-A569C4A8AD3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0605599" y="6489700"/>
            <a:ext cx="805350" cy="287338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000">
                <a:solidFill>
                  <a:schemeClr val="tx1"/>
                </a:solidFill>
              </a:defRPr>
            </a:lvl1pPr>
          </a:lstStyle>
          <a:p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pic>
        <p:nvPicPr>
          <p:cNvPr id="15" name="Picture 2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9906000" y="6515100"/>
            <a:ext cx="952500" cy="212558"/>
          </a:xfrm>
          <a:prstGeom prst="rect">
            <a:avLst/>
          </a:prstGeom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CB3F387-66D0-18CC-51EE-24B908A792B7}"/>
              </a:ext>
            </a:extLst>
          </p:cNvPr>
          <p:cNvSpPr>
            <a:spLocks noGrp="1"/>
          </p:cNvSpPr>
          <p:nvPr/>
        </p:nvSpPr>
        <p:spPr>
          <a:xfrm>
            <a:off x="457200" y="6528816"/>
            <a:ext cx="8595360" cy="228600"/>
          </a:xfrm>
          <a:prstGeom prst="rect">
            <a:avLst/>
          </a:prstGeom>
        </p:spPr>
        <p:txBody>
          <a:bodyPr tIns="0" bIns="0" anchor="ctr">
            <a:normAutofit/>
          </a:bodyPr>
          <a:lstStyle>
            <a:lvl1pPr marL="0" indent="0" algn="l" defTabSz="869137">
              <a:lnSpc>
                <a:spcPct val="90000"/>
              </a:lnSpc>
              <a:spcBef>
                <a:spcPts val="951"/>
              </a:spcBef>
              <a:buFont typeface="Arial"/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51853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86422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20990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955559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390127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71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824696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71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59265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71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93833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71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buNone/>
              <a:defRPr sz="800">
                <a:solidFill>
                  <a:srgbClr val="404040"/>
                </a:solidFill>
                <a:latin typeface="Lato"/>
                <a:ea typeface="Lato"/>
                <a:cs typeface="Lato"/>
              </a:defRPr>
            </a:pPr>
            <a:endParaRPr/>
          </a:p>
        </p:txBody>
      </p:sp>
      <p:sp>
        <p:nvSpPr>
          <p:cNvPr id="10" name="Fine footer rule">
            <a:extLst>
              <a:ext uri="{FF2B5EF4-FFF2-40B4-BE49-F238E27FC236}">
                <a16:creationId xmlns:a16="http://schemas.microsoft.com/office/drawing/2014/main" id="{B4062CE9-9215-4788-A6E3-2613DEB91A9E}"/>
              </a:ext>
            </a:extLst>
          </p:cNvPr>
          <p:cNvSpPr>
            <a:spLocks noGrp="1"/>
          </p:cNvSpPr>
          <p:nvPr/>
        </p:nvSpPr>
        <p:spPr>
          <a:xfrm>
            <a:off x="457200" y="6437376"/>
            <a:ext cx="10652760" cy="0"/>
          </a:xfrm>
          <a:prstGeom prst="line">
            <a:avLst/>
          </a:prstGeom>
          <a:ln w="3175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 algn="l" defTabSz="869137">
        <a:lnSpc>
          <a:spcPct val="90000"/>
        </a:lnSpc>
        <a:spcBef>
          <a:spcPct val="0"/>
        </a:spcBef>
        <a:buNone/>
        <a:defRPr sz="2200" b="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17284" indent="-217284" algn="l" defTabSz="869137">
        <a:lnSpc>
          <a:spcPct val="90000"/>
        </a:lnSpc>
        <a:spcBef>
          <a:spcPts val="951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1pPr>
      <a:lvl2pPr marL="651853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1086422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3pPr>
      <a:lvl4pPr marL="1520990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4pPr>
      <a:lvl5pPr marL="1955559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5pPr>
      <a:lvl6pPr marL="2390127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lt"/>
          <a:cs typeface="+mn-lt"/>
        </a:defRPr>
      </a:lvl6pPr>
      <a:lvl7pPr marL="2824696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lt"/>
          <a:cs typeface="+mn-lt"/>
        </a:defRPr>
      </a:lvl7pPr>
      <a:lvl8pPr marL="3259265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lt"/>
          <a:cs typeface="+mn-lt"/>
        </a:defRPr>
      </a:lvl8pPr>
      <a:lvl9pPr marL="3693833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1pPr>
      <a:lvl2pPr marL="434569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2pPr>
      <a:lvl3pPr marL="869137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3pPr>
      <a:lvl4pPr marL="1303706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4pPr>
      <a:lvl5pPr marL="1738274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5pPr>
      <a:lvl6pPr marL="2172843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6pPr>
      <a:lvl7pPr marL="2607412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7pPr>
      <a:lvl8pPr marL="3041980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8pPr>
      <a:lvl9pPr marL="3476549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2" orient="horz" pos="2160" userDrawn="1">
          <p15:clr>
            <a:srgbClr val="F26B43"/>
          </p15:clr>
        </p15:guide>
        <p15:guide id="13" pos="112" userDrawn="1">
          <p15:clr>
            <a:srgbClr val="F26B43"/>
          </p15:clr>
        </p15:guide>
        <p15:guide id="14" orient="horz" pos="4269" userDrawn="1">
          <p15:clr>
            <a:srgbClr val="F26B43"/>
          </p15:clr>
        </p15:guide>
        <p15:guide id="15" pos="3650" userDrawn="1">
          <p15:clr>
            <a:srgbClr val="F26B43"/>
          </p15:clr>
        </p15:guide>
        <p15:guide id="16" pos="7188" userDrawn="1">
          <p15:clr>
            <a:srgbClr val="F26B43"/>
          </p15:clr>
        </p15:guide>
        <p15:guide id="17" orient="horz" pos="28" userDrawn="1">
          <p15:clr>
            <a:srgbClr val="F26B43"/>
          </p15:clr>
        </p15:guide>
        <p15:guide id="18" orient="horz" pos="686" userDrawn="1">
          <p15:clr>
            <a:srgbClr val="F26B43"/>
          </p15:clr>
        </p15:guide>
        <p15:guide id="19" orient="horz" pos="777" userDrawn="1">
          <p15:clr>
            <a:srgbClr val="F26B43"/>
          </p15:clr>
        </p15:guide>
        <p15:guide id="20" orient="horz" pos="4088" userDrawn="1">
          <p15:clr>
            <a:srgbClr val="F26B43"/>
          </p15:clr>
        </p15:guide>
        <p15:guide id="21" orient="horz" pos="3680" userDrawn="1">
          <p15:clr>
            <a:srgbClr val="F26B43"/>
          </p15:clr>
        </p15:guide>
        <p15:guide id="22" orient="horz" pos="3566" userDrawn="1">
          <p15:clr>
            <a:srgbClr val="F26B43"/>
          </p15:clr>
        </p15:guide>
        <p15:guide id="23" pos="580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13" Type="http://schemas.openxmlformats.org/officeDocument/2006/relationships/diagramColors" Target="../diagrams/colors2.xml"/><Relationship Id="rId3" Type="http://schemas.openxmlformats.org/officeDocument/2006/relationships/slide" Target="slide4.xml"/><Relationship Id="rId7" Type="http://schemas.openxmlformats.org/officeDocument/2006/relationships/slide" Target="slide8.xml"/><Relationship Id="rId12" Type="http://schemas.openxmlformats.org/officeDocument/2006/relationships/diagramQuickStyle" Target="../diagrams/quickStyle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slide" Target="slide7.xml"/><Relationship Id="rId11" Type="http://schemas.openxmlformats.org/officeDocument/2006/relationships/diagramLayout" Target="../diagrams/layout2.xml"/><Relationship Id="rId5" Type="http://schemas.openxmlformats.org/officeDocument/2006/relationships/slide" Target="slide6.xml"/><Relationship Id="rId10" Type="http://schemas.openxmlformats.org/officeDocument/2006/relationships/diagramData" Target="../diagrams/data2.xml"/><Relationship Id="rId4" Type="http://schemas.openxmlformats.org/officeDocument/2006/relationships/slide" Target="slide5.xml"/><Relationship Id="rId9" Type="http://schemas.openxmlformats.org/officeDocument/2006/relationships/slide" Target="slide10.xml"/><Relationship Id="rId14" Type="http://schemas.microsoft.com/office/2007/relationships/diagramDrawing" Target="../diagrams/drawing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chart" Target="../charts/chart1.xml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chart" Target="../charts/chart2.xml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chart" Target="../charts/chart3.xml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chart" Target="../charts/chart4.xml"/><Relationship Id="rId7" Type="http://schemas.openxmlformats.org/officeDocument/2006/relationships/diagramColors" Target="../diagrams/colors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chart" Target="../charts/chart5.xml"/><Relationship Id="rId7" Type="http://schemas.openxmlformats.org/officeDocument/2006/relationships/diagramColors" Target="../diagrams/colors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C39121-817A-4D3C-899A-D0A0C1F589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5887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6" name="Picture 2"/>
          <p:cNvPicPr>
            <a:picLocks noChangeAspect="1"/>
          </p:cNvPicPr>
          <p:nvPr/>
        </p:nvPicPr>
        <p:blipFill>
          <a:blip r:embed="rId3"/>
          <a:srcRect l="21836" r="21836"/>
          <a:stretch>
            <a:fillRect/>
          </a:stretch>
        </p:blipFill>
        <p:spPr>
          <a:xfrm>
            <a:off x="5794375" y="0"/>
            <a:ext cx="5794375" cy="6858000"/>
          </a:xfrm>
          <a:prstGeom prst="rect">
            <a:avLst/>
          </a:prstGeom>
        </p:spPr>
      </p:pic>
      <p:pic>
        <p:nvPicPr>
          <p:cNvPr id="17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02920" y="457200"/>
            <a:ext cx="1965960" cy="4386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D954C5-04DB-4280-B44C-D964E6C9CDDA}"/>
              </a:ext>
            </a:extLst>
          </p:cNvPr>
          <p:cNvSpPr>
            <a:spLocks noGrp="1"/>
          </p:cNvSpPr>
          <p:nvPr/>
        </p:nvSpPr>
        <p:spPr>
          <a:xfrm>
            <a:off x="594360" y="2468880"/>
            <a:ext cx="4709160" cy="163634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3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South Africa</a:t>
            </a:r>
          </a:p>
          <a:p>
            <a:pPr>
              <a:spcAft>
                <a:spcPts val="800"/>
              </a:spcAft>
              <a:buNone/>
              <a:defRPr sz="3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liquid fuels</a:t>
            </a:r>
          </a:p>
          <a:p>
            <a:pPr>
              <a:spcAft>
                <a:spcPts val="800"/>
              </a:spcAft>
              <a:buNone/>
              <a:defRPr sz="3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market outlook</a:t>
            </a:r>
          </a:p>
        </p:txBody>
      </p:sp>
      <p:sp>
        <p:nvSpPr>
          <p:cNvPr id="6" name="Connector 5">
            <a:extLst>
              <a:ext uri="{FF2B5EF4-FFF2-40B4-BE49-F238E27FC236}">
                <a16:creationId xmlns:a16="http://schemas.microsoft.com/office/drawing/2014/main" id="{8AC3AB0E-746B-4AF6-ABCD-D6526DA2BFFE}"/>
              </a:ext>
            </a:extLst>
          </p:cNvPr>
          <p:cNvSpPr>
            <a:spLocks noGrp="1"/>
          </p:cNvSpPr>
          <p:nvPr/>
        </p:nvSpPr>
        <p:spPr>
          <a:xfrm>
            <a:off x="594360" y="4251960"/>
            <a:ext cx="4617720" cy="0"/>
          </a:xfrm>
          <a:prstGeom prst="line">
            <a:avLst/>
          </a:prstGeom>
          <a:ln w="76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702DF3-0D72-4A19-ADCB-903E36583053}"/>
              </a:ext>
            </a:extLst>
          </p:cNvPr>
          <p:cNvSpPr>
            <a:spLocks noGrp="1"/>
          </p:cNvSpPr>
          <p:nvPr/>
        </p:nvSpPr>
        <p:spPr>
          <a:xfrm>
            <a:off x="594360" y="4617720"/>
            <a:ext cx="4572000" cy="5232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2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700">
                <a:solidFill>
                  <a:srgbClr val="FFFFFF"/>
                </a:solidFill>
              </a:rPr>
              <a:t>Demand, supply and routes — implications for Vopak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CB190A-7488-44E1-8968-36FDC90EDA0B}"/>
              </a:ext>
            </a:extLst>
          </p:cNvPr>
          <p:cNvSpPr>
            <a:spLocks noGrp="1"/>
          </p:cNvSpPr>
          <p:nvPr/>
        </p:nvSpPr>
        <p:spPr>
          <a:xfrm>
            <a:off x="594360" y="5239512"/>
            <a:ext cx="4572000" cy="20005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13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Durban and Lesedi | Market-sizing framework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08E6D2-5587-493C-AED5-50FFAEFBCE44}"/>
              </a:ext>
            </a:extLst>
          </p:cNvPr>
          <p:cNvSpPr>
            <a:spLocks noGrp="1"/>
          </p:cNvSpPr>
          <p:nvPr/>
        </p:nvSpPr>
        <p:spPr>
          <a:xfrm>
            <a:off x="594360" y="5696712"/>
            <a:ext cx="4572000" cy="20005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13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11 October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A94E5E-E17D-406B-B780-6593F829C0CA}"/>
              </a:ext>
            </a:extLst>
          </p:cNvPr>
          <p:cNvSpPr>
            <a:spLocks noGrp="1"/>
          </p:cNvSpPr>
          <p:nvPr/>
        </p:nvSpPr>
        <p:spPr>
          <a:xfrm>
            <a:off x="594360" y="6053328"/>
            <a:ext cx="4572000" cy="36933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12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200">
                <a:solidFill>
                  <a:srgbClr val="FFFFFF"/>
                </a:solidFill>
              </a:rPr>
              <a:t>Planning estimates and illustrative capture. Customer access and usable capacity remain to be established.</a:t>
            </a:r>
          </a:p>
        </p:txBody>
      </p:sp>
      <p:sp>
        <p:nvSpPr>
          <p:cNvPr id="11" name="Photo source credit">
            <a:extLst>
              <a:ext uri="{FF2B5EF4-FFF2-40B4-BE49-F238E27FC236}">
                <a16:creationId xmlns:a16="http://schemas.microsoft.com/office/drawing/2014/main" id="{605235CD-EC7B-4D28-A4DA-C6360164F0A7}"/>
              </a:ext>
            </a:extLst>
          </p:cNvPr>
          <p:cNvSpPr>
            <a:spLocks noGrp="1"/>
          </p:cNvSpPr>
          <p:nvPr/>
        </p:nvSpPr>
        <p:spPr>
          <a:xfrm>
            <a:off x="594360" y="6400800"/>
            <a:ext cx="4754880" cy="16459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800"/>
              </a:spcAft>
              <a:buNone/>
              <a:defRPr sz="8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Photo source: Royal Vopak | Terminal Durban | vopak.com</a:t>
            </a:r>
          </a:p>
        </p:txBody>
      </p:sp>
      <p:sp>
        <p:nvSpPr>
          <p:cNvPr id="12" name="Strictly Confidential footer">
            <a:extLst>
              <a:ext uri="{FF2B5EF4-FFF2-40B4-BE49-F238E27FC236}">
                <a16:creationId xmlns:a16="http://schemas.microsoft.com/office/drawing/2014/main" id="{ED5236C5-84CC-47CC-8ACF-9C81666786AA}"/>
              </a:ext>
            </a:extLst>
          </p:cNvPr>
          <p:cNvSpPr>
            <a:spLocks noGrp="1"/>
          </p:cNvSpPr>
          <p:nvPr/>
        </p:nvSpPr>
        <p:spPr>
          <a:xfrm>
            <a:off x="59436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BDBEC1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745302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South Africa’s large fuel market relies on substantial imports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2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172200"/>
            <a:ext cx="10648950" cy="23812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563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563">
                <a:solidFill>
                  <a:srgbClr val="111111"/>
                </a:solidFill>
                <a:latin typeface="Lato"/>
                <a:ea typeface="Lato"/>
                <a:cs typeface="Lato"/>
              </a:rPr>
              <a:t>Department national sales; SARS 2025 trade; analytical workbook v02. 2025 demand is estimated; 5.8bn L production is a planning assumption. Gross import need includes exports and assumes no stock change.</a:t>
            </a:r>
            <a:endParaRPr sz="65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49" name="S metric 0">
            <a:extLst>
              <a:ext uri="{FF2B5EF4-FFF2-40B4-BE49-F238E27FC236}">
                <a16:creationId xmlns:a16="http://schemas.microsoft.com/office/drawing/2014/main" id="{385448C1-FE78-4C12-98C9-6D2680498243}"/>
              </a:ext>
            </a:extLst>
          </p:cNvPr>
          <p:cNvSpPr>
            <a:spLocks noGrp="1"/>
          </p:cNvSpPr>
          <p:nvPr/>
        </p:nvSpPr>
        <p:spPr>
          <a:xfrm>
            <a:off x="457200" y="1752600"/>
            <a:ext cx="3333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322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21.0bn L</a:t>
            </a:r>
          </a:p>
        </p:txBody>
      </p:sp>
      <p:sp>
        <p:nvSpPr>
          <p:cNvPr id="50" name="S label 0">
            <a:extLst>
              <a:ext uri="{FF2B5EF4-FFF2-40B4-BE49-F238E27FC236}">
                <a16:creationId xmlns:a16="http://schemas.microsoft.com/office/drawing/2014/main" id="{9C6651FD-6BF7-491B-BA51-4834A8C23894}"/>
              </a:ext>
            </a:extLst>
          </p:cNvPr>
          <p:cNvSpPr>
            <a:spLocks noGrp="1"/>
          </p:cNvSpPr>
          <p:nvPr/>
        </p:nvSpPr>
        <p:spPr>
          <a:xfrm>
            <a:off x="457200" y="2419350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Estimated demand, 2025</a:t>
            </a:r>
          </a:p>
        </p:txBody>
      </p:sp>
      <p:sp>
        <p:nvSpPr>
          <p:cNvPr id="51" name="S detail 0">
            <a:extLst>
              <a:ext uri="{FF2B5EF4-FFF2-40B4-BE49-F238E27FC236}">
                <a16:creationId xmlns:a16="http://schemas.microsoft.com/office/drawing/2014/main" id="{EB4118C7-F97E-4678-BEAD-14AE07BEC130}"/>
              </a:ext>
            </a:extLst>
          </p:cNvPr>
          <p:cNvSpPr>
            <a:spLocks noGrp="1"/>
          </p:cNvSpPr>
          <p:nvPr/>
        </p:nvSpPr>
        <p:spPr>
          <a:xfrm>
            <a:off x="457200" y="2838450"/>
            <a:ext cx="33337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11151A"/>
                </a:solidFill>
                <a:latin typeface="Lato"/>
                <a:ea typeface="Lato"/>
                <a:cs typeface="Lato"/>
              </a:rPr>
              <a:t>8.9bn petrol and 12.1bn diesel</a:t>
            </a:r>
          </a:p>
        </p:txBody>
      </p:sp>
      <p:sp>
        <p:nvSpPr>
          <p:cNvPr id="52" name="S metric rule 0">
            <a:extLst>
              <a:ext uri="{FF2B5EF4-FFF2-40B4-BE49-F238E27FC236}">
                <a16:creationId xmlns:a16="http://schemas.microsoft.com/office/drawing/2014/main" id="{1CFA08B3-8079-40AE-8C8A-B83AAC26BA9D}"/>
              </a:ext>
            </a:extLst>
          </p:cNvPr>
          <p:cNvSpPr>
            <a:spLocks noGrp="1"/>
          </p:cNvSpPr>
          <p:nvPr/>
        </p:nvSpPr>
        <p:spPr>
          <a:xfrm>
            <a:off x="457200" y="3429000"/>
            <a:ext cx="3333750" cy="9525"/>
          </a:xfrm>
          <a:prstGeom prst="rect">
            <a:avLst/>
          </a:prstGeom>
          <a:solidFill>
            <a:srgbClr val="C5C5C5"/>
          </a:solidFill>
          <a:ln w="0">
            <a:noFill/>
          </a:ln>
        </p:spPr>
      </p:sp>
      <p:sp>
        <p:nvSpPr>
          <p:cNvPr id="53" name="S metric 1">
            <a:extLst>
              <a:ext uri="{FF2B5EF4-FFF2-40B4-BE49-F238E27FC236}">
                <a16:creationId xmlns:a16="http://schemas.microsoft.com/office/drawing/2014/main" id="{98A97C7C-9C42-4DC2-A26A-8F2719D5017E}"/>
              </a:ext>
            </a:extLst>
          </p:cNvPr>
          <p:cNvSpPr>
            <a:spLocks noGrp="1"/>
          </p:cNvSpPr>
          <p:nvPr/>
        </p:nvSpPr>
        <p:spPr>
          <a:xfrm>
            <a:off x="4076700" y="1752600"/>
            <a:ext cx="3333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322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5.8bn L</a:t>
            </a:r>
          </a:p>
        </p:txBody>
      </p:sp>
      <p:sp>
        <p:nvSpPr>
          <p:cNvPr id="54" name="S label 1">
            <a:extLst>
              <a:ext uri="{FF2B5EF4-FFF2-40B4-BE49-F238E27FC236}">
                <a16:creationId xmlns:a16="http://schemas.microsoft.com/office/drawing/2014/main" id="{2E63E327-1663-4F04-8F58-D4129ABE7AF2}"/>
              </a:ext>
            </a:extLst>
          </p:cNvPr>
          <p:cNvSpPr>
            <a:spLocks noGrp="1"/>
          </p:cNvSpPr>
          <p:nvPr/>
        </p:nvSpPr>
        <p:spPr>
          <a:xfrm>
            <a:off x="4076700" y="2419350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Domestic production assumption</a:t>
            </a:r>
          </a:p>
        </p:txBody>
      </p:sp>
      <p:sp>
        <p:nvSpPr>
          <p:cNvPr id="55" name="S detail 1">
            <a:extLst>
              <a:ext uri="{FF2B5EF4-FFF2-40B4-BE49-F238E27FC236}">
                <a16:creationId xmlns:a16="http://schemas.microsoft.com/office/drawing/2014/main" id="{85B18B7E-1771-4005-BA84-A335F091E8BD}"/>
              </a:ext>
            </a:extLst>
          </p:cNvPr>
          <p:cNvSpPr>
            <a:spLocks noGrp="1"/>
          </p:cNvSpPr>
          <p:nvPr/>
        </p:nvSpPr>
        <p:spPr>
          <a:xfrm>
            <a:off x="4076700" y="2838450"/>
            <a:ext cx="33337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11151A"/>
                </a:solidFill>
                <a:latin typeface="Lato"/>
                <a:ea typeface="Lato"/>
                <a:cs typeface="Lato"/>
              </a:rPr>
              <a:t>National planning baseline</a:t>
            </a:r>
          </a:p>
        </p:txBody>
      </p:sp>
      <p:sp>
        <p:nvSpPr>
          <p:cNvPr id="56" name="S metric rule 1">
            <a:extLst>
              <a:ext uri="{FF2B5EF4-FFF2-40B4-BE49-F238E27FC236}">
                <a16:creationId xmlns:a16="http://schemas.microsoft.com/office/drawing/2014/main" id="{8B68512C-A8E0-44B5-A1BB-994E6A11880B}"/>
              </a:ext>
            </a:extLst>
          </p:cNvPr>
          <p:cNvSpPr>
            <a:spLocks noGrp="1"/>
          </p:cNvSpPr>
          <p:nvPr/>
        </p:nvSpPr>
        <p:spPr>
          <a:xfrm>
            <a:off x="4076700" y="3429000"/>
            <a:ext cx="3333750" cy="9525"/>
          </a:xfrm>
          <a:prstGeom prst="rect">
            <a:avLst/>
          </a:prstGeom>
          <a:solidFill>
            <a:srgbClr val="C5C5C5"/>
          </a:solidFill>
          <a:ln w="0">
            <a:noFill/>
          </a:ln>
        </p:spPr>
      </p:sp>
      <p:sp>
        <p:nvSpPr>
          <p:cNvPr id="57" name="S metric 2">
            <a:extLst>
              <a:ext uri="{FF2B5EF4-FFF2-40B4-BE49-F238E27FC236}">
                <a16:creationId xmlns:a16="http://schemas.microsoft.com/office/drawing/2014/main" id="{E33F8DFD-A039-42DB-BF83-59542A4E6A79}"/>
              </a:ext>
            </a:extLst>
          </p:cNvPr>
          <p:cNvSpPr>
            <a:spLocks noGrp="1"/>
          </p:cNvSpPr>
          <p:nvPr/>
        </p:nvSpPr>
        <p:spPr>
          <a:xfrm>
            <a:off x="7696200" y="1752600"/>
            <a:ext cx="3333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322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16.7bn L</a:t>
            </a:r>
          </a:p>
        </p:txBody>
      </p:sp>
      <p:sp>
        <p:nvSpPr>
          <p:cNvPr id="58" name="S label 2">
            <a:extLst>
              <a:ext uri="{FF2B5EF4-FFF2-40B4-BE49-F238E27FC236}">
                <a16:creationId xmlns:a16="http://schemas.microsoft.com/office/drawing/2014/main" id="{90376FFE-C479-4E74-B7EC-F68F6FB2A837}"/>
              </a:ext>
            </a:extLst>
          </p:cNvPr>
          <p:cNvSpPr>
            <a:spLocks noGrp="1"/>
          </p:cNvSpPr>
          <p:nvPr/>
        </p:nvSpPr>
        <p:spPr>
          <a:xfrm>
            <a:off x="7696200" y="2419350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Gross import requirement</a:t>
            </a:r>
          </a:p>
        </p:txBody>
      </p:sp>
      <p:sp>
        <p:nvSpPr>
          <p:cNvPr id="59" name="S detail 2">
            <a:extLst>
              <a:ext uri="{FF2B5EF4-FFF2-40B4-BE49-F238E27FC236}">
                <a16:creationId xmlns:a16="http://schemas.microsoft.com/office/drawing/2014/main" id="{578B9F72-9562-440E-B8D4-9E2C7EA91330}"/>
              </a:ext>
            </a:extLst>
          </p:cNvPr>
          <p:cNvSpPr>
            <a:spLocks noGrp="1"/>
          </p:cNvSpPr>
          <p:nvPr/>
        </p:nvSpPr>
        <p:spPr>
          <a:xfrm>
            <a:off x="7696200" y="2838450"/>
            <a:ext cx="33337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11151A"/>
                </a:solidFill>
                <a:latin typeface="Lato"/>
                <a:ea typeface="Lato"/>
                <a:cs typeface="Lato"/>
              </a:rPr>
              <a:t>Broadly matches recorded imports</a:t>
            </a:r>
          </a:p>
        </p:txBody>
      </p:sp>
      <p:sp>
        <p:nvSpPr>
          <p:cNvPr id="60" name="S metric rule 2">
            <a:extLst>
              <a:ext uri="{FF2B5EF4-FFF2-40B4-BE49-F238E27FC236}">
                <a16:creationId xmlns:a16="http://schemas.microsoft.com/office/drawing/2014/main" id="{E3317981-7F4A-4303-8ED7-69ED8C64FC79}"/>
              </a:ext>
            </a:extLst>
          </p:cNvPr>
          <p:cNvSpPr>
            <a:spLocks noGrp="1"/>
          </p:cNvSpPr>
          <p:nvPr/>
        </p:nvSpPr>
        <p:spPr>
          <a:xfrm>
            <a:off x="7696200" y="3429000"/>
            <a:ext cx="3333750" cy="9525"/>
          </a:xfrm>
          <a:prstGeom prst="rect">
            <a:avLst/>
          </a:prstGeom>
          <a:solidFill>
            <a:srgbClr val="C5C5C5"/>
          </a:solidFill>
          <a:ln w="0">
            <a:noFill/>
          </a:ln>
        </p:spPr>
      </p:sp>
      <p:sp>
        <p:nvSpPr>
          <p:cNvPr id="61" name="S demand heading">
            <a:extLst>
              <a:ext uri="{FF2B5EF4-FFF2-40B4-BE49-F238E27FC236}">
                <a16:creationId xmlns:a16="http://schemas.microsoft.com/office/drawing/2014/main" id="{F36B889D-2B22-42F0-96E7-FFB2AF546465}"/>
              </a:ext>
            </a:extLst>
          </p:cNvPr>
          <p:cNvSpPr>
            <a:spLocks noGrp="1"/>
          </p:cNvSpPr>
          <p:nvPr/>
        </p:nvSpPr>
        <p:spPr>
          <a:xfrm>
            <a:off x="457200" y="3743325"/>
            <a:ext cx="48577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A substantial demand base</a:t>
            </a:r>
          </a:p>
        </p:txBody>
      </p:sp>
      <p:sp>
        <p:nvSpPr>
          <p:cNvPr id="62" name="S demand body">
            <a:extLst>
              <a:ext uri="{FF2B5EF4-FFF2-40B4-BE49-F238E27FC236}">
                <a16:creationId xmlns:a16="http://schemas.microsoft.com/office/drawing/2014/main" id="{6CA2E0BC-B7F2-4BE6-AEBC-BDF15A382E54}"/>
              </a:ext>
            </a:extLst>
          </p:cNvPr>
          <p:cNvSpPr>
            <a:spLocks noGrp="1"/>
          </p:cNvSpPr>
          <p:nvPr/>
        </p:nvSpPr>
        <p:spPr>
          <a:xfrm>
            <a:off x="457200" y="4171950"/>
            <a:ext cx="4905375" cy="1200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11151A"/>
                </a:solidFill>
                <a:latin typeface="Lato"/>
                <a:ea typeface="Lato"/>
                <a:cs typeface="Lato"/>
              </a:rPr>
              <a:t>Road transport is the largest use. Mining, agriculture, manufacturing and power also contribute.</a:t>
            </a:r>
          </a:p>
          <a:p>
            <a:endParaRPr sz="1575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575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11151A"/>
                </a:solidFill>
                <a:latin typeface="Lato"/>
                <a:ea typeface="Lato"/>
                <a:cs typeface="Lato"/>
              </a:rPr>
              <a:t>Demand has eased from 21.9bn litres in 2023 to an estimated 21.0bn in 2025.</a:t>
            </a:r>
          </a:p>
        </p:txBody>
      </p:sp>
      <p:sp>
        <p:nvSpPr>
          <p:cNvPr id="63" name="S route heading">
            <a:extLst>
              <a:ext uri="{FF2B5EF4-FFF2-40B4-BE49-F238E27FC236}">
                <a16:creationId xmlns:a16="http://schemas.microsoft.com/office/drawing/2014/main" id="{57A81112-B252-4444-B97C-08BAB8C8D266}"/>
              </a:ext>
            </a:extLst>
          </p:cNvPr>
          <p:cNvSpPr>
            <a:spLocks noGrp="1"/>
          </p:cNvSpPr>
          <p:nvPr/>
        </p:nvSpPr>
        <p:spPr>
          <a:xfrm>
            <a:off x="5905500" y="3743325"/>
            <a:ext cx="519112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Durban connects imports to inland customers</a:t>
            </a:r>
          </a:p>
        </p:txBody>
      </p:sp>
      <p:sp>
        <p:nvSpPr>
          <p:cNvPr id="64" name="S route body">
            <a:extLst>
              <a:ext uri="{FF2B5EF4-FFF2-40B4-BE49-F238E27FC236}">
                <a16:creationId xmlns:a16="http://schemas.microsoft.com/office/drawing/2014/main" id="{49798A2E-BA63-4FF6-A9F3-840463B170F0}"/>
              </a:ext>
            </a:extLst>
          </p:cNvPr>
          <p:cNvSpPr>
            <a:spLocks noGrp="1"/>
          </p:cNvSpPr>
          <p:nvPr/>
        </p:nvSpPr>
        <p:spPr>
          <a:xfrm>
            <a:off x="5905500" y="4476750"/>
            <a:ext cx="5191125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11151A"/>
                </a:solidFill>
                <a:latin typeface="Lato"/>
                <a:ea typeface="Lato"/>
                <a:cs typeface="Lato"/>
              </a:rPr>
              <a:t>Durban customs recorded 13.16bn litres of imports in 2025. The Durban–Lesedi route provides access to inland demand, subject to customer and logistics access.</a:t>
            </a:r>
          </a:p>
        </p:txBody>
      </p:sp>
      <p:sp>
        <p:nvSpPr>
          <p:cNvPr id="65" name="S takeaway">
            <a:extLst>
              <a:ext uri="{FF2B5EF4-FFF2-40B4-BE49-F238E27FC236}">
                <a16:creationId xmlns:a16="http://schemas.microsoft.com/office/drawing/2014/main" id="{CC3A3E20-9691-4E11-8731-ACA9C0BF16AA}"/>
              </a:ext>
            </a:extLst>
          </p:cNvPr>
          <p:cNvSpPr>
            <a:spLocks noGrp="1"/>
          </p:cNvSpPr>
          <p:nvPr/>
        </p:nvSpPr>
        <p:spPr>
          <a:xfrm>
            <a:off x="457200" y="5657850"/>
            <a:ext cx="106489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South Africa has an established import market serving a large national fuel requirement.</a:t>
            </a:r>
          </a:p>
        </p:txBody>
      </p:sp>
      <p:graphicFrame>
        <p:nvGraphicFramePr>
          <p:cNvPr id="5002" name="brand-pptx section navigation">
            <a:extLst>
              <a:ext uri="{FF2B5EF4-FFF2-40B4-BE49-F238E27FC236}">
                <a16:creationId xmlns:a16="http://schemas.microsoft.com/office/drawing/2014/main" id="{1842EBDA-FB36-CC65-2DF5-3F7E4B0CD8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71702407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Changes in demand, domestic supply and import routes could reduce flows through Durban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3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172200"/>
            <a:ext cx="10648950" cy="23812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563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563">
                <a:solidFill>
                  <a:srgbClr val="111111"/>
                </a:solidFill>
                <a:latin typeface="Lato"/>
                <a:ea typeface="Lato"/>
                <a:cs typeface="Lato"/>
              </a:rPr>
              <a:t>Demand baseline: p4. Driver evidence: pp5–10. Stats SA; Eskom Integrated Report 2025 p141; Sasol, Glencore, Galp and Petromoc disclosures; naamsa vehicle sales.</a:t>
            </a:r>
            <a:endParaRPr sz="65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graphicFrame>
        <p:nvGraphicFramePr>
          <p:cNvPr id="55" name="Table 54"/>
          <p:cNvGraphicFramePr/>
          <p:nvPr>
            <p:extLst>
              <p:ext uri="{D42A27DB-BD31-4B8C-83A1-F6EECF244321}">
                <p14:modId xmlns:p14="http://schemas.microsoft.com/office/powerpoint/2010/main" val="601289401"/>
              </p:ext>
            </p:extLst>
          </p:nvPr>
        </p:nvGraphicFramePr>
        <p:xfrm>
          <a:off x="457200" y="1657350"/>
          <a:ext cx="10648950" cy="39052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6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Complication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Driver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What changes for fuel demand and Durban flows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lang="en-ZA"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Baseline</a:t>
                      </a:r>
                      <a:endParaRPr sz="1350" b="1">
                        <a:solidFill>
                          <a:srgbClr val="11151A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1350" b="0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3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Baseline demand | p4</a:t>
                      </a:r>
                      <a:endParaRPr sz="1350" b="0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Estimated 21.0bn-litre market in 2025; petrol/diesel history and the end-use split establish the starting point.</a:t>
                      </a:r>
                      <a:endParaRPr sz="1350" b="0">
                        <a:solidFill>
                          <a:srgbClr val="11151A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4382165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1  Demand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4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Sector activity | p5</a:t>
                      </a:r>
                      <a:endParaRPr sz="1350" b="0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Mining, manufacturing and agriculture drive equipment and freight demand along different growth paths.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endParaRPr sz="1350" b="1">
                        <a:latin typeface="Lato" panose="020F0502020204030203" pitchFamily="34" charset="0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5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Eskom recovery | p6</a:t>
                      </a:r>
                      <a:endParaRPr sz="1350" b="0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Reliable electricity reduces peaking and backup diesel at utilities, mines, factories and farms.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endParaRPr sz="1350" b="1">
                        <a:latin typeface="Lato" panose="020F0502020204030203" pitchFamily="34" charset="0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6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Road-to-rail | p7</a:t>
                      </a:r>
                      <a:endParaRPr sz="1350" b="0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Freight shifted from trucks reduces road diesel use; net savings depend on rail traction.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endParaRPr sz="1350" b="1">
                        <a:latin typeface="Lato" panose="020F0502020204030203" pitchFamily="34" charset="0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7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Vehicle efficiency | p8</a:t>
                      </a:r>
                      <a:endParaRPr sz="1350" b="0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Lower fuel consumption per kilometre reduces demand at a given level of road activity.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2  Domestic supply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8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Refinery output and restarts | p9</a:t>
                      </a:r>
                      <a:endParaRPr sz="1350" b="0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Higher production displaces imports; outages or lower output increase import dependence.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3  Import routes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9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Ports and inland connections | p10</a:t>
                      </a:r>
                      <a:endParaRPr sz="1350" b="0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Matola competes for inland supply. Assess Walvis Bay, pipeline access and delivered cost; Walvis Bay diversion is unquantified.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0" name="C takeaway">
            <a:extLst>
              <a:ext uri="{FF2B5EF4-FFF2-40B4-BE49-F238E27FC236}">
                <a16:creationId xmlns:a16="http://schemas.microsoft.com/office/drawing/2014/main" id="{8EDB4A11-F00B-43B5-90A8-7BAE0B454DB7}"/>
              </a:ext>
            </a:extLst>
          </p:cNvPr>
          <p:cNvSpPr>
            <a:spLocks noGrp="1"/>
          </p:cNvSpPr>
          <p:nvPr/>
        </p:nvSpPr>
        <p:spPr>
          <a:xfrm>
            <a:off x="457200" y="5657850"/>
            <a:ext cx="106489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A large national import market does not automatically translate into growth for Vopak.</a:t>
            </a:r>
          </a:p>
        </p:txBody>
      </p:sp>
      <p:graphicFrame>
        <p:nvGraphicFramePr>
          <p:cNvPr id="5003" name="brand-pptx section navigation">
            <a:extLst>
              <a:ext uri="{FF2B5EF4-FFF2-40B4-BE49-F238E27FC236}">
                <a16:creationId xmlns:a16="http://schemas.microsoft.com/office/drawing/2014/main" id="{EC476A2F-58C3-0732-D966-0F511ABE1F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6591989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South Africa’s estimated 21bn-litre fuel market is dominated by road demand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4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172200"/>
            <a:ext cx="10648950" cy="23812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563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563">
                <a:solidFill>
                  <a:srgbClr val="111111"/>
                </a:solidFill>
                <a:latin typeface="Lato"/>
                <a:ea typeface="Lato"/>
                <a:cs typeface="Lato"/>
              </a:rPr>
              <a:t>Department annual sales, 2013–2023. Estimated 2024–2025: analytical workbook v02. The Department series is used consistently. Segment split: analytical workbook v02, Segments. Displayed figures rounded; other diesel remains unallocated.</a:t>
            </a:r>
            <a:endParaRPr sz="65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49" name="Evidence chart heading">
            <a:extLst>
              <a:ext uri="{FF2B5EF4-FFF2-40B4-BE49-F238E27FC236}">
                <a16:creationId xmlns:a16="http://schemas.microsoft.com/office/drawing/2014/main" id="{BA4E8490-1F60-499F-B6BF-5A77A43D1CA7}"/>
              </a:ext>
            </a:extLst>
          </p:cNvPr>
          <p:cNvSpPr>
            <a:spLocks noGrp="1"/>
          </p:cNvSpPr>
          <p:nvPr/>
        </p:nvSpPr>
        <p:spPr>
          <a:xfrm>
            <a:off x="457200" y="1647825"/>
            <a:ext cx="73342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Petrol and diesel demand, 2013–2025</a:t>
            </a:r>
          </a:p>
        </p:txBody>
      </p:sp>
      <p:sp>
        <p:nvSpPr>
          <p:cNvPr id="50" name="Evidence chart rule">
            <a:extLst>
              <a:ext uri="{FF2B5EF4-FFF2-40B4-BE49-F238E27FC236}">
                <a16:creationId xmlns:a16="http://schemas.microsoft.com/office/drawing/2014/main" id="{8FA2C587-C3BA-4DA8-8C84-08F3A2EB357F}"/>
              </a:ext>
            </a:extLst>
          </p:cNvPr>
          <p:cNvSpPr>
            <a:spLocks noGrp="1"/>
          </p:cNvSpPr>
          <p:nvPr/>
        </p:nvSpPr>
        <p:spPr>
          <a:xfrm>
            <a:off x="457200" y="2000250"/>
            <a:ext cx="7334250" cy="9525"/>
          </a:xfrm>
          <a:prstGeom prst="rect">
            <a:avLst/>
          </a:prstGeom>
          <a:solidFill>
            <a:srgbClr val="C5C5C5"/>
          </a:solidFill>
          <a:ln w="0">
            <a:noFill/>
          </a:ln>
        </p:spPr>
      </p:sp>
      <p:sp>
        <p:nvSpPr>
          <p:cNvPr id="51" name="Evidence insight rule">
            <a:extLst>
              <a:ext uri="{FF2B5EF4-FFF2-40B4-BE49-F238E27FC236}">
                <a16:creationId xmlns:a16="http://schemas.microsoft.com/office/drawing/2014/main" id="{166F2904-F186-4E7B-B4C1-3700FED43B42}"/>
              </a:ext>
            </a:extLst>
          </p:cNvPr>
          <p:cNvSpPr>
            <a:spLocks noGrp="1"/>
          </p:cNvSpPr>
          <p:nvPr/>
        </p:nvSpPr>
        <p:spPr>
          <a:xfrm>
            <a:off x="8096250" y="2000250"/>
            <a:ext cx="3009900" cy="9525"/>
          </a:xfrm>
          <a:prstGeom prst="rect">
            <a:avLst/>
          </a:prstGeom>
          <a:solidFill>
            <a:srgbClr val="C5C5C5"/>
          </a:solidFill>
          <a:ln w="0">
            <a:noFill/>
          </a:ln>
        </p:spPr>
      </p:sp>
      <p:sp>
        <p:nvSpPr>
          <p:cNvPr id="52" name="Evidence divider">
            <a:extLst>
              <a:ext uri="{FF2B5EF4-FFF2-40B4-BE49-F238E27FC236}">
                <a16:creationId xmlns:a16="http://schemas.microsoft.com/office/drawing/2014/main" id="{5BBAE355-ACD1-4A04-AE8D-BCCBF7B13B56}"/>
              </a:ext>
            </a:extLst>
          </p:cNvPr>
          <p:cNvSpPr>
            <a:spLocks noGrp="1"/>
          </p:cNvSpPr>
          <p:nvPr/>
        </p:nvSpPr>
        <p:spPr>
          <a:xfrm>
            <a:off x="7924800" y="1647825"/>
            <a:ext cx="9525" cy="3667125"/>
          </a:xfrm>
          <a:prstGeom prst="rect">
            <a:avLst/>
          </a:prstGeom>
          <a:solidFill>
            <a:srgbClr val="C5C5C5"/>
          </a:solidFill>
          <a:ln w="0">
            <a:noFill/>
          </a:ln>
        </p:spPr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CE11BB42-2F58-4DB0-B03D-997F7CBFE311}"/>
              </a:ext>
            </a:extLst>
          </p:cNvPr>
          <p:cNvSpPr>
            <a:spLocks noGrp="1"/>
          </p:cNvSpPr>
          <p:nvPr/>
        </p:nvSpPr>
        <p:spPr>
          <a:xfrm>
            <a:off x="523875" y="20383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Billion litres</a:t>
            </a:r>
          </a:p>
        </p:txBody>
      </p:sp>
      <p:graphicFrame>
        <p:nvGraphicFramePr>
          <p:cNvPr id="67" name="Chart"/>
          <p:cNvGraphicFramePr/>
          <p:nvPr/>
        </p:nvGraphicFramePr>
        <p:xfrm>
          <a:off x="457200" y="2324100"/>
          <a:ext cx="7334250" cy="2914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5" name="Evidence insight heading">
            <a:extLst>
              <a:ext uri="{FF2B5EF4-FFF2-40B4-BE49-F238E27FC236}">
                <a16:creationId xmlns:a16="http://schemas.microsoft.com/office/drawing/2014/main" id="{45AF3DC0-23F7-40A1-AE6D-1A4BDE91EBBB}"/>
              </a:ext>
            </a:extLst>
          </p:cNvPr>
          <p:cNvSpPr>
            <a:spLocks noGrp="1"/>
          </p:cNvSpPr>
          <p:nvPr/>
        </p:nvSpPr>
        <p:spPr>
          <a:xfrm>
            <a:off x="8096250" y="1647825"/>
            <a:ext cx="30099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2025 estimated demand</a:t>
            </a:r>
          </a:p>
        </p:txBody>
      </p:sp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FCE7A989-7F27-4238-BBD6-07720078ECF6}"/>
              </a:ext>
            </a:extLst>
          </p:cNvPr>
          <p:cNvSpPr>
            <a:spLocks noGrp="1"/>
          </p:cNvSpPr>
          <p:nvPr/>
        </p:nvSpPr>
        <p:spPr>
          <a:xfrm>
            <a:off x="8096250" y="2190750"/>
            <a:ext cx="3009900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Petrol road 8.59 | Freight 4.82</a:t>
            </a:r>
          </a:p>
          <a:p>
            <a:endParaRPr sz="120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2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Other road diesel 1.61</a:t>
            </a:r>
          </a:p>
          <a:p>
            <a:endParaRPr sz="120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2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Mining 1.41 | Agriculture 1.13</a:t>
            </a:r>
          </a:p>
          <a:p>
            <a:endParaRPr sz="120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2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Power 1.08 | Manufacturing 0.17</a:t>
            </a:r>
          </a:p>
          <a:p>
            <a:endParaRPr sz="120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2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Other petrol 0.27 | Other diesel 1.91</a:t>
            </a:r>
          </a:p>
          <a:p>
            <a:endParaRPr sz="120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2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All values: bn litres. Allocations are estimates; manufacturing is an industry residual.</a:t>
            </a: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8988A7A0-2695-41BD-B859-B66256617D61}"/>
              </a:ext>
            </a:extLst>
          </p:cNvPr>
          <p:cNvSpPr>
            <a:spLocks noGrp="1"/>
          </p:cNvSpPr>
          <p:nvPr/>
        </p:nvSpPr>
        <p:spPr>
          <a:xfrm>
            <a:off x="457200" y="5638800"/>
            <a:ext cx="106489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Demand is estimated at 20.99bn litres in 2025; road uses account for most allocated demand.</a:t>
            </a:r>
          </a:p>
        </p:txBody>
      </p:sp>
      <p:graphicFrame>
        <p:nvGraphicFramePr>
          <p:cNvPr id="5004" name="brand-pptx section navigation">
            <a:extLst>
              <a:ext uri="{FF2B5EF4-FFF2-40B4-BE49-F238E27FC236}">
                <a16:creationId xmlns:a16="http://schemas.microsoft.com/office/drawing/2014/main" id="{1842EBDA-FB36-CC65-2DF5-3F7E4B0CD8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71702407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Agricultural fuel demand rebounds while mining and manufacturing remain broadly flat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5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172200"/>
            <a:ext cx="10648950" cy="23812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563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563">
                <a:solidFill>
                  <a:srgbClr val="111111"/>
                </a:solidFill>
                <a:latin typeface="Lato"/>
                <a:ea typeface="Lato"/>
                <a:cs typeface="Lato"/>
              </a:rPr>
              <a:t>Stats SA mining/manufacturing indices and agriculture real GVA; mean 2018–2021 fuel intensity. Sector diesel values after 2021 are estimates.</a:t>
            </a:r>
            <a:endParaRPr sz="65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49" name="Evidence chart heading">
            <a:extLst>
              <a:ext uri="{FF2B5EF4-FFF2-40B4-BE49-F238E27FC236}">
                <a16:creationId xmlns:a16="http://schemas.microsoft.com/office/drawing/2014/main" id="{3F750480-4167-42BA-9657-2B5404CEB3A6}"/>
              </a:ext>
            </a:extLst>
          </p:cNvPr>
          <p:cNvSpPr>
            <a:spLocks noGrp="1"/>
          </p:cNvSpPr>
          <p:nvPr/>
        </p:nvSpPr>
        <p:spPr>
          <a:xfrm>
            <a:off x="457200" y="1647825"/>
            <a:ext cx="73342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Estimated sector diesel demand</a:t>
            </a:r>
          </a:p>
        </p:txBody>
      </p:sp>
      <p:sp>
        <p:nvSpPr>
          <p:cNvPr id="50" name="Evidence chart rule">
            <a:extLst>
              <a:ext uri="{FF2B5EF4-FFF2-40B4-BE49-F238E27FC236}">
                <a16:creationId xmlns:a16="http://schemas.microsoft.com/office/drawing/2014/main" id="{DD6D4CA9-A56B-48BC-91BC-279B40518F5C}"/>
              </a:ext>
            </a:extLst>
          </p:cNvPr>
          <p:cNvSpPr>
            <a:spLocks noGrp="1"/>
          </p:cNvSpPr>
          <p:nvPr/>
        </p:nvSpPr>
        <p:spPr>
          <a:xfrm>
            <a:off x="457200" y="2000250"/>
            <a:ext cx="7334250" cy="9525"/>
          </a:xfrm>
          <a:prstGeom prst="rect">
            <a:avLst/>
          </a:prstGeom>
          <a:solidFill>
            <a:srgbClr val="C5C5C5"/>
          </a:solidFill>
          <a:ln w="0">
            <a:noFill/>
          </a:ln>
        </p:spPr>
      </p:sp>
      <p:sp>
        <p:nvSpPr>
          <p:cNvPr id="51" name="Evidence insight rule">
            <a:extLst>
              <a:ext uri="{FF2B5EF4-FFF2-40B4-BE49-F238E27FC236}">
                <a16:creationId xmlns:a16="http://schemas.microsoft.com/office/drawing/2014/main" id="{4A4D0377-5276-4DC8-B68B-F55B46521FC5}"/>
              </a:ext>
            </a:extLst>
          </p:cNvPr>
          <p:cNvSpPr>
            <a:spLocks noGrp="1"/>
          </p:cNvSpPr>
          <p:nvPr/>
        </p:nvSpPr>
        <p:spPr>
          <a:xfrm>
            <a:off x="8096250" y="2000250"/>
            <a:ext cx="3009900" cy="9525"/>
          </a:xfrm>
          <a:prstGeom prst="rect">
            <a:avLst/>
          </a:prstGeom>
          <a:solidFill>
            <a:srgbClr val="C5C5C5"/>
          </a:solidFill>
          <a:ln w="0">
            <a:noFill/>
          </a:ln>
        </p:spPr>
      </p:sp>
      <p:sp>
        <p:nvSpPr>
          <p:cNvPr id="52" name="Evidence divider">
            <a:extLst>
              <a:ext uri="{FF2B5EF4-FFF2-40B4-BE49-F238E27FC236}">
                <a16:creationId xmlns:a16="http://schemas.microsoft.com/office/drawing/2014/main" id="{1DF9764A-B445-4A9F-868B-95A69A8D7EE6}"/>
              </a:ext>
            </a:extLst>
          </p:cNvPr>
          <p:cNvSpPr>
            <a:spLocks noGrp="1"/>
          </p:cNvSpPr>
          <p:nvPr/>
        </p:nvSpPr>
        <p:spPr>
          <a:xfrm>
            <a:off x="7924800" y="1647825"/>
            <a:ext cx="9525" cy="3667125"/>
          </a:xfrm>
          <a:prstGeom prst="rect">
            <a:avLst/>
          </a:prstGeom>
          <a:solidFill>
            <a:srgbClr val="C5C5C5"/>
          </a:solidFill>
          <a:ln w="0">
            <a:noFill/>
          </a:ln>
        </p:spPr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B2F54BB6-3DF1-494B-A1D0-ED247468EB78}"/>
              </a:ext>
            </a:extLst>
          </p:cNvPr>
          <p:cNvSpPr>
            <a:spLocks noGrp="1"/>
          </p:cNvSpPr>
          <p:nvPr/>
        </p:nvSpPr>
        <p:spPr>
          <a:xfrm>
            <a:off x="523875" y="20383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Billion litres</a:t>
            </a:r>
          </a:p>
        </p:txBody>
      </p:sp>
      <p:graphicFrame>
        <p:nvGraphicFramePr>
          <p:cNvPr id="67" name="Chart"/>
          <p:cNvGraphicFramePr/>
          <p:nvPr/>
        </p:nvGraphicFramePr>
        <p:xfrm>
          <a:off x="457200" y="2324100"/>
          <a:ext cx="7334250" cy="2914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5" name="Evidence insight heading">
            <a:extLst>
              <a:ext uri="{FF2B5EF4-FFF2-40B4-BE49-F238E27FC236}">
                <a16:creationId xmlns:a16="http://schemas.microsoft.com/office/drawing/2014/main" id="{D9AF9B99-C3DB-4013-A57F-8793D405215A}"/>
              </a:ext>
            </a:extLst>
          </p:cNvPr>
          <p:cNvSpPr>
            <a:spLocks noGrp="1"/>
          </p:cNvSpPr>
          <p:nvPr/>
        </p:nvSpPr>
        <p:spPr>
          <a:xfrm>
            <a:off x="8096250" y="1647825"/>
            <a:ext cx="30099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Estimated diesel use</a:t>
            </a:r>
          </a:p>
        </p:txBody>
      </p:sp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73EB2C9D-54D5-4881-B5D3-76093EDE63DB}"/>
              </a:ext>
            </a:extLst>
          </p:cNvPr>
          <p:cNvSpPr>
            <a:spLocks noGrp="1"/>
          </p:cNvSpPr>
          <p:nvPr/>
        </p:nvSpPr>
        <p:spPr>
          <a:xfrm>
            <a:off x="8096250" y="2190750"/>
            <a:ext cx="3009900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Mining: 1.40 → 1.41bn L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Agriculture: 1.06 → 1.13bn L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Manufacturing: about 0.17bn L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Manufacturing covers the energy-balance industry residual, not a complete industrial census.</a:t>
            </a: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F3035DD3-9A13-4DB4-82F9-7FE50E5794A6}"/>
              </a:ext>
            </a:extLst>
          </p:cNvPr>
          <p:cNvSpPr>
            <a:spLocks noGrp="1"/>
          </p:cNvSpPr>
          <p:nvPr/>
        </p:nvSpPr>
        <p:spPr>
          <a:xfrm>
            <a:off x="457200" y="5638800"/>
            <a:ext cx="106489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Sector activity produces different demand paths; applying one GDP growth rate would hide these differences.</a:t>
            </a:r>
          </a:p>
        </p:txBody>
      </p:sp>
      <p:graphicFrame>
        <p:nvGraphicFramePr>
          <p:cNvPr id="5005" name="brand-pptx section navigation">
            <a:extLst>
              <a:ext uri="{FF2B5EF4-FFF2-40B4-BE49-F238E27FC236}">
                <a16:creationId xmlns:a16="http://schemas.microsoft.com/office/drawing/2014/main" id="{EC476A2F-58C3-0732-D966-0F511ABE1F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6591989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Eskom’s fuel use fell by 40% in FY2025 as electricity supply improved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6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172200"/>
            <a:ext cx="10648950" cy="23812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563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563">
                <a:solidFill>
                  <a:srgbClr val="111111"/>
                </a:solidFill>
                <a:latin typeface="Lato"/>
                <a:ea typeface="Lato"/>
                <a:cs typeface="Lato"/>
              </a:rPr>
              <a:t>Eskom Integrated Report 2025, p141. Fiscal years end in March. Reported series includes diesel and kerosene; private backup consumption is outside this series. Analytical workbook v02, Segments: IPP conversion and private-backup assumptions.</a:t>
            </a:r>
            <a:endParaRPr sz="65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49" name="Evidence chart heading">
            <a:extLst>
              <a:ext uri="{FF2B5EF4-FFF2-40B4-BE49-F238E27FC236}">
                <a16:creationId xmlns:a16="http://schemas.microsoft.com/office/drawing/2014/main" id="{AF2DD85A-B7D1-4D64-A461-8B1C92B8FD9F}"/>
              </a:ext>
            </a:extLst>
          </p:cNvPr>
          <p:cNvSpPr>
            <a:spLocks noGrp="1"/>
          </p:cNvSpPr>
          <p:nvPr/>
        </p:nvSpPr>
        <p:spPr>
          <a:xfrm>
            <a:off x="457200" y="1647825"/>
            <a:ext cx="73342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Eskom diesel and kerosene use</a:t>
            </a:r>
          </a:p>
        </p:txBody>
      </p:sp>
      <p:sp>
        <p:nvSpPr>
          <p:cNvPr id="50" name="Evidence chart rule">
            <a:extLst>
              <a:ext uri="{FF2B5EF4-FFF2-40B4-BE49-F238E27FC236}">
                <a16:creationId xmlns:a16="http://schemas.microsoft.com/office/drawing/2014/main" id="{5157AD22-E5AB-462B-BEFA-BBC899D297C8}"/>
              </a:ext>
            </a:extLst>
          </p:cNvPr>
          <p:cNvSpPr>
            <a:spLocks noGrp="1"/>
          </p:cNvSpPr>
          <p:nvPr/>
        </p:nvSpPr>
        <p:spPr>
          <a:xfrm>
            <a:off x="457200" y="2000250"/>
            <a:ext cx="7334250" cy="9525"/>
          </a:xfrm>
          <a:prstGeom prst="rect">
            <a:avLst/>
          </a:prstGeom>
          <a:solidFill>
            <a:srgbClr val="C5C5C5"/>
          </a:solidFill>
          <a:ln w="0">
            <a:noFill/>
          </a:ln>
        </p:spPr>
      </p:sp>
      <p:sp>
        <p:nvSpPr>
          <p:cNvPr id="51" name="Evidence insight rule">
            <a:extLst>
              <a:ext uri="{FF2B5EF4-FFF2-40B4-BE49-F238E27FC236}">
                <a16:creationId xmlns:a16="http://schemas.microsoft.com/office/drawing/2014/main" id="{2576EC8E-CB58-4CD8-8FEB-44C019CDE908}"/>
              </a:ext>
            </a:extLst>
          </p:cNvPr>
          <p:cNvSpPr>
            <a:spLocks noGrp="1"/>
          </p:cNvSpPr>
          <p:nvPr/>
        </p:nvSpPr>
        <p:spPr>
          <a:xfrm>
            <a:off x="8096250" y="2000250"/>
            <a:ext cx="3009900" cy="9525"/>
          </a:xfrm>
          <a:prstGeom prst="rect">
            <a:avLst/>
          </a:prstGeom>
          <a:solidFill>
            <a:srgbClr val="C5C5C5"/>
          </a:solidFill>
          <a:ln w="0">
            <a:noFill/>
          </a:ln>
        </p:spPr>
      </p:sp>
      <p:sp>
        <p:nvSpPr>
          <p:cNvPr id="52" name="Evidence divider">
            <a:extLst>
              <a:ext uri="{FF2B5EF4-FFF2-40B4-BE49-F238E27FC236}">
                <a16:creationId xmlns:a16="http://schemas.microsoft.com/office/drawing/2014/main" id="{53E62462-1940-4FBC-81B1-FE966034267B}"/>
              </a:ext>
            </a:extLst>
          </p:cNvPr>
          <p:cNvSpPr>
            <a:spLocks noGrp="1"/>
          </p:cNvSpPr>
          <p:nvPr/>
        </p:nvSpPr>
        <p:spPr>
          <a:xfrm>
            <a:off x="7924800" y="1647825"/>
            <a:ext cx="9525" cy="3667125"/>
          </a:xfrm>
          <a:prstGeom prst="rect">
            <a:avLst/>
          </a:prstGeom>
          <a:solidFill>
            <a:srgbClr val="C5C5C5"/>
          </a:solidFill>
          <a:ln w="0">
            <a:noFill/>
          </a:ln>
        </p:spPr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1D76C1D3-E0D1-4DF8-8BFF-19EE5B120BFC}"/>
              </a:ext>
            </a:extLst>
          </p:cNvPr>
          <p:cNvSpPr>
            <a:spLocks noGrp="1"/>
          </p:cNvSpPr>
          <p:nvPr/>
        </p:nvSpPr>
        <p:spPr>
          <a:xfrm>
            <a:off x="523875" y="20383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Billion litres</a:t>
            </a:r>
          </a:p>
        </p:txBody>
      </p:sp>
      <p:graphicFrame>
        <p:nvGraphicFramePr>
          <p:cNvPr id="67" name="Chart"/>
          <p:cNvGraphicFramePr/>
          <p:nvPr/>
        </p:nvGraphicFramePr>
        <p:xfrm>
          <a:off x="457200" y="2324100"/>
          <a:ext cx="7334250" cy="2914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5" name="Evidence insight heading">
            <a:extLst>
              <a:ext uri="{FF2B5EF4-FFF2-40B4-BE49-F238E27FC236}">
                <a16:creationId xmlns:a16="http://schemas.microsoft.com/office/drawing/2014/main" id="{12C07C70-FACD-4038-B9A3-3079ABD43856}"/>
              </a:ext>
            </a:extLst>
          </p:cNvPr>
          <p:cNvSpPr>
            <a:spLocks noGrp="1"/>
          </p:cNvSpPr>
          <p:nvPr/>
        </p:nvSpPr>
        <p:spPr>
          <a:xfrm>
            <a:off x="8096250" y="1647825"/>
            <a:ext cx="30099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Power fuel use</a:t>
            </a:r>
          </a:p>
        </p:txBody>
      </p:sp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4CD8A506-5D30-43C8-9E33-1BCF7AE33E90}"/>
              </a:ext>
            </a:extLst>
          </p:cNvPr>
          <p:cNvSpPr>
            <a:spLocks noGrp="1"/>
          </p:cNvSpPr>
          <p:nvPr/>
        </p:nvSpPr>
        <p:spPr>
          <a:xfrm>
            <a:off x="8096250" y="2190750"/>
            <a:ext cx="3009900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Eskom: 1.130bn L in FY2024 → 0.679bn L in FY2025 (diesel + kerosene).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2025 utility + private power estimate: 1.08bn L, including 0.20bn L assumed private backup.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IPP conversion and fiscal-year proxies are estimates; private use is not measured by Eskom.</a:t>
            </a: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8D46E9F3-0652-401F-9297-93C9F69858AE}"/>
              </a:ext>
            </a:extLst>
          </p:cNvPr>
          <p:cNvSpPr>
            <a:spLocks noGrp="1"/>
          </p:cNvSpPr>
          <p:nvPr/>
        </p:nvSpPr>
        <p:spPr>
          <a:xfrm>
            <a:off x="457200" y="5638800"/>
            <a:ext cx="106489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Improved electricity supply reduces peaking and backup fuel use; the private-backup contribution remains estimated.</a:t>
            </a:r>
          </a:p>
        </p:txBody>
      </p:sp>
      <p:graphicFrame>
        <p:nvGraphicFramePr>
          <p:cNvPr id="5006" name="brand-pptx section navigation">
            <a:extLst>
              <a:ext uri="{FF2B5EF4-FFF2-40B4-BE49-F238E27FC236}">
                <a16:creationId xmlns:a16="http://schemas.microsoft.com/office/drawing/2014/main" id="{EC476A2F-58C3-0732-D966-0F511ABE1F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6591989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Rail volumes are recovering, creating scope to reduce road diesel use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7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172200"/>
            <a:ext cx="10648950" cy="23812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563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563">
                <a:solidFill>
                  <a:srgbClr val="111111"/>
                </a:solidFill>
                <a:latin typeface="Lato"/>
                <a:ea typeface="Lato"/>
                <a:cs typeface="Lato"/>
              </a:rPr>
              <a:t>Stats SA P7162 December 2025 p7; all reported freight. Analytical workbook v02, Evidence.</a:t>
            </a:r>
            <a:endParaRPr sz="65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49" name="Evidence chart heading">
            <a:extLst>
              <a:ext uri="{FF2B5EF4-FFF2-40B4-BE49-F238E27FC236}">
                <a16:creationId xmlns:a16="http://schemas.microsoft.com/office/drawing/2014/main" id="{99EE32A7-277E-4533-9035-9C64446DDAA9}"/>
              </a:ext>
            </a:extLst>
          </p:cNvPr>
          <p:cNvSpPr>
            <a:spLocks noGrp="1"/>
          </p:cNvSpPr>
          <p:nvPr/>
        </p:nvSpPr>
        <p:spPr>
          <a:xfrm>
            <a:off x="457200" y="1647825"/>
            <a:ext cx="73342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Reported road and rail freight</a:t>
            </a:r>
          </a:p>
        </p:txBody>
      </p:sp>
      <p:sp>
        <p:nvSpPr>
          <p:cNvPr id="50" name="Evidence chart rule">
            <a:extLst>
              <a:ext uri="{FF2B5EF4-FFF2-40B4-BE49-F238E27FC236}">
                <a16:creationId xmlns:a16="http://schemas.microsoft.com/office/drawing/2014/main" id="{A5DB1B3E-7F4B-4AC5-8830-4EB830EED419}"/>
              </a:ext>
            </a:extLst>
          </p:cNvPr>
          <p:cNvSpPr>
            <a:spLocks noGrp="1"/>
          </p:cNvSpPr>
          <p:nvPr/>
        </p:nvSpPr>
        <p:spPr>
          <a:xfrm>
            <a:off x="457200" y="2000250"/>
            <a:ext cx="7334250" cy="9525"/>
          </a:xfrm>
          <a:prstGeom prst="rect">
            <a:avLst/>
          </a:prstGeom>
          <a:solidFill>
            <a:srgbClr val="C5C5C5"/>
          </a:solidFill>
          <a:ln w="0">
            <a:noFill/>
          </a:ln>
        </p:spPr>
      </p:sp>
      <p:sp>
        <p:nvSpPr>
          <p:cNvPr id="51" name="Evidence insight rule">
            <a:extLst>
              <a:ext uri="{FF2B5EF4-FFF2-40B4-BE49-F238E27FC236}">
                <a16:creationId xmlns:a16="http://schemas.microsoft.com/office/drawing/2014/main" id="{2893FA2F-0F29-45B2-8970-5840A49F6B02}"/>
              </a:ext>
            </a:extLst>
          </p:cNvPr>
          <p:cNvSpPr>
            <a:spLocks noGrp="1"/>
          </p:cNvSpPr>
          <p:nvPr/>
        </p:nvSpPr>
        <p:spPr>
          <a:xfrm>
            <a:off x="8096250" y="2000250"/>
            <a:ext cx="3009900" cy="9525"/>
          </a:xfrm>
          <a:prstGeom prst="rect">
            <a:avLst/>
          </a:prstGeom>
          <a:solidFill>
            <a:srgbClr val="C5C5C5"/>
          </a:solidFill>
          <a:ln w="0">
            <a:noFill/>
          </a:ln>
        </p:spPr>
      </p:sp>
      <p:sp>
        <p:nvSpPr>
          <p:cNvPr id="52" name="Evidence divider">
            <a:extLst>
              <a:ext uri="{FF2B5EF4-FFF2-40B4-BE49-F238E27FC236}">
                <a16:creationId xmlns:a16="http://schemas.microsoft.com/office/drawing/2014/main" id="{B04DC137-A7D4-4235-AF7D-4F68B55C1AE3}"/>
              </a:ext>
            </a:extLst>
          </p:cNvPr>
          <p:cNvSpPr>
            <a:spLocks noGrp="1"/>
          </p:cNvSpPr>
          <p:nvPr/>
        </p:nvSpPr>
        <p:spPr>
          <a:xfrm>
            <a:off x="7924800" y="1647825"/>
            <a:ext cx="9525" cy="3667125"/>
          </a:xfrm>
          <a:prstGeom prst="rect">
            <a:avLst/>
          </a:prstGeom>
          <a:solidFill>
            <a:srgbClr val="C5C5C5"/>
          </a:solidFill>
          <a:ln w="0">
            <a:noFill/>
          </a:ln>
        </p:spPr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46D7730D-DAEB-4247-BEB8-65B71E753D87}"/>
              </a:ext>
            </a:extLst>
          </p:cNvPr>
          <p:cNvSpPr>
            <a:spLocks noGrp="1"/>
          </p:cNvSpPr>
          <p:nvPr/>
        </p:nvSpPr>
        <p:spPr>
          <a:xfrm>
            <a:off x="523875" y="20383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Million tonnes</a:t>
            </a:r>
          </a:p>
        </p:txBody>
      </p:sp>
      <p:graphicFrame>
        <p:nvGraphicFramePr>
          <p:cNvPr id="67" name="Chart"/>
          <p:cNvGraphicFramePr/>
          <p:nvPr/>
        </p:nvGraphicFramePr>
        <p:xfrm>
          <a:off x="457200" y="2324100"/>
          <a:ext cx="7334250" cy="2914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5" name="Evidence insight heading">
            <a:extLst>
              <a:ext uri="{FF2B5EF4-FFF2-40B4-BE49-F238E27FC236}">
                <a16:creationId xmlns:a16="http://schemas.microsoft.com/office/drawing/2014/main" id="{50A590BF-0B96-451D-BAFD-5BF8CEDC09BB}"/>
              </a:ext>
            </a:extLst>
          </p:cNvPr>
          <p:cNvSpPr>
            <a:spLocks noGrp="1"/>
          </p:cNvSpPr>
          <p:nvPr/>
        </p:nvSpPr>
        <p:spPr>
          <a:xfrm>
            <a:off x="8096250" y="1647825"/>
            <a:ext cx="30099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Recovery and displacement</a:t>
            </a:r>
          </a:p>
        </p:txBody>
      </p:sp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A99F6146-19FF-452C-8900-2955E23FAB66}"/>
              </a:ext>
            </a:extLst>
          </p:cNvPr>
          <p:cNvSpPr>
            <a:spLocks noGrp="1"/>
          </p:cNvSpPr>
          <p:nvPr/>
        </p:nvSpPr>
        <p:spPr>
          <a:xfrm>
            <a:off x="8096250" y="2190750"/>
            <a:ext cx="3009900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Rail: 160.7m tonnes in 2024 to 168.3m in 2025. Road: 979.8m to 976.5m tonnes.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A shift of mining, agricultural and manufactured goods to rail can reduce truck fuel use.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Rail growth alone does not prove road displacement; distance, cargo and traction mix matter.</a:t>
            </a: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C9201D2F-AD35-4F1E-80D5-1C262355C9FE}"/>
              </a:ext>
            </a:extLst>
          </p:cNvPr>
          <p:cNvSpPr>
            <a:spLocks noGrp="1"/>
          </p:cNvSpPr>
          <p:nvPr/>
        </p:nvSpPr>
        <p:spPr>
          <a:xfrm>
            <a:off x="457200" y="5638800"/>
            <a:ext cx="106489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Road remains the dominant freight mode; sustained rail recovery could change the diesel required to move goods.</a:t>
            </a:r>
          </a:p>
        </p:txBody>
      </p:sp>
      <p:graphicFrame>
        <p:nvGraphicFramePr>
          <p:cNvPr id="5007" name="brand-pptx section navigation">
            <a:extLst>
              <a:ext uri="{FF2B5EF4-FFF2-40B4-BE49-F238E27FC236}">
                <a16:creationId xmlns:a16="http://schemas.microsoft.com/office/drawing/2014/main" id="{EC476A2F-58C3-0732-D966-0F511ABE1F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6591989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Hybrids dominate electrified new-vehicle sales; fleet fuel savings emerge as vehicles turn over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8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172200"/>
            <a:ext cx="10648950" cy="23812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563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563">
                <a:solidFill>
                  <a:srgbClr val="111111"/>
                </a:solidFill>
                <a:latin typeface="Lato"/>
                <a:ea typeface="Lato"/>
                <a:cs typeface="Lato"/>
              </a:rPr>
              <a:t>naamsa all-market sales 2025; master workbook Vehicle history S31:S36; evidence retained in market story v27 p11. Analytical workbook v02: efficiency is a planning assumption; avoid double-counting hybrid savings.</a:t>
            </a:r>
            <a:endParaRPr sz="65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49" name="Evidence chart heading">
            <a:extLst>
              <a:ext uri="{FF2B5EF4-FFF2-40B4-BE49-F238E27FC236}">
                <a16:creationId xmlns:a16="http://schemas.microsoft.com/office/drawing/2014/main" id="{974B62E4-146E-4FF9-8E06-1656A4E7336A}"/>
              </a:ext>
            </a:extLst>
          </p:cNvPr>
          <p:cNvSpPr>
            <a:spLocks noGrp="1"/>
          </p:cNvSpPr>
          <p:nvPr/>
        </p:nvSpPr>
        <p:spPr>
          <a:xfrm>
            <a:off x="457200" y="1647825"/>
            <a:ext cx="73342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Electrified vehicle sales, 2025</a:t>
            </a:r>
          </a:p>
        </p:txBody>
      </p:sp>
      <p:sp>
        <p:nvSpPr>
          <p:cNvPr id="50" name="Evidence chart rule">
            <a:extLst>
              <a:ext uri="{FF2B5EF4-FFF2-40B4-BE49-F238E27FC236}">
                <a16:creationId xmlns:a16="http://schemas.microsoft.com/office/drawing/2014/main" id="{BEAD31A7-6FAD-4E02-84CE-7CBE461F58DD}"/>
              </a:ext>
            </a:extLst>
          </p:cNvPr>
          <p:cNvSpPr>
            <a:spLocks noGrp="1"/>
          </p:cNvSpPr>
          <p:nvPr/>
        </p:nvSpPr>
        <p:spPr>
          <a:xfrm>
            <a:off x="457200" y="2000250"/>
            <a:ext cx="7334250" cy="9525"/>
          </a:xfrm>
          <a:prstGeom prst="rect">
            <a:avLst/>
          </a:prstGeom>
          <a:solidFill>
            <a:srgbClr val="C5C5C5"/>
          </a:solidFill>
          <a:ln w="0">
            <a:noFill/>
          </a:ln>
        </p:spPr>
      </p:sp>
      <p:sp>
        <p:nvSpPr>
          <p:cNvPr id="51" name="Evidence insight rule">
            <a:extLst>
              <a:ext uri="{FF2B5EF4-FFF2-40B4-BE49-F238E27FC236}">
                <a16:creationId xmlns:a16="http://schemas.microsoft.com/office/drawing/2014/main" id="{D014AAC5-7564-4B89-9B72-CFE676954D43}"/>
              </a:ext>
            </a:extLst>
          </p:cNvPr>
          <p:cNvSpPr>
            <a:spLocks noGrp="1"/>
          </p:cNvSpPr>
          <p:nvPr/>
        </p:nvSpPr>
        <p:spPr>
          <a:xfrm>
            <a:off x="8096250" y="2000250"/>
            <a:ext cx="3009900" cy="9525"/>
          </a:xfrm>
          <a:prstGeom prst="rect">
            <a:avLst/>
          </a:prstGeom>
          <a:solidFill>
            <a:srgbClr val="C5C5C5"/>
          </a:solidFill>
          <a:ln w="0">
            <a:noFill/>
          </a:ln>
        </p:spPr>
      </p:sp>
      <p:sp>
        <p:nvSpPr>
          <p:cNvPr id="52" name="Evidence divider">
            <a:extLst>
              <a:ext uri="{FF2B5EF4-FFF2-40B4-BE49-F238E27FC236}">
                <a16:creationId xmlns:a16="http://schemas.microsoft.com/office/drawing/2014/main" id="{DE2F2137-A6E8-4742-94E1-FD63D2AE3584}"/>
              </a:ext>
            </a:extLst>
          </p:cNvPr>
          <p:cNvSpPr>
            <a:spLocks noGrp="1"/>
          </p:cNvSpPr>
          <p:nvPr/>
        </p:nvSpPr>
        <p:spPr>
          <a:xfrm>
            <a:off x="7924800" y="1647825"/>
            <a:ext cx="9525" cy="3667125"/>
          </a:xfrm>
          <a:prstGeom prst="rect">
            <a:avLst/>
          </a:prstGeom>
          <a:solidFill>
            <a:srgbClr val="C5C5C5"/>
          </a:solidFill>
          <a:ln w="0">
            <a:noFill/>
          </a:ln>
        </p:spPr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2D7877C5-B65D-4837-9FE4-2B32D94EE59D}"/>
              </a:ext>
            </a:extLst>
          </p:cNvPr>
          <p:cNvSpPr>
            <a:spLocks noGrp="1"/>
          </p:cNvSpPr>
          <p:nvPr/>
        </p:nvSpPr>
        <p:spPr>
          <a:xfrm>
            <a:off x="523875" y="20383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Vehicles sold</a:t>
            </a:r>
          </a:p>
        </p:txBody>
      </p:sp>
      <p:graphicFrame>
        <p:nvGraphicFramePr>
          <p:cNvPr id="67" name="Chart"/>
          <p:cNvGraphicFramePr/>
          <p:nvPr/>
        </p:nvGraphicFramePr>
        <p:xfrm>
          <a:off x="457200" y="2324100"/>
          <a:ext cx="7334250" cy="2914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5" name="Evidence insight heading">
            <a:extLst>
              <a:ext uri="{FF2B5EF4-FFF2-40B4-BE49-F238E27FC236}">
                <a16:creationId xmlns:a16="http://schemas.microsoft.com/office/drawing/2014/main" id="{A4A27CC4-7D05-4A2A-928A-9127A29A9642}"/>
              </a:ext>
            </a:extLst>
          </p:cNvPr>
          <p:cNvSpPr>
            <a:spLocks noGrp="1"/>
          </p:cNvSpPr>
          <p:nvPr/>
        </p:nvSpPr>
        <p:spPr>
          <a:xfrm>
            <a:off x="8096250" y="1647825"/>
            <a:ext cx="30099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Different fuel-use effects</a:t>
            </a:r>
          </a:p>
        </p:txBody>
      </p:sp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33C62F36-CE4A-4CE7-AA40-33340BDFC8F1}"/>
              </a:ext>
            </a:extLst>
          </p:cNvPr>
          <p:cNvSpPr>
            <a:spLocks noGrp="1"/>
          </p:cNvSpPr>
          <p:nvPr/>
        </p:nvSpPr>
        <p:spPr>
          <a:xfrm>
            <a:off x="8096250" y="2190750"/>
            <a:ext cx="3009900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BEV: 1,088 sales, or 0.18% of all new vehicles.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PHEVs and conventional hybrids still consume fuel; savings depend on usage.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New sales are not fleet penetration. Efficiency and mileage must be modelled separately.</a:t>
            </a: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B6C53BD9-36CF-4A69-841C-FDA40E078E5B}"/>
              </a:ext>
            </a:extLst>
          </p:cNvPr>
          <p:cNvSpPr>
            <a:spLocks noGrp="1"/>
          </p:cNvSpPr>
          <p:nvPr/>
        </p:nvSpPr>
        <p:spPr>
          <a:xfrm>
            <a:off x="457200" y="5638800"/>
            <a:ext cx="106489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The model’s fuel-efficiency path is a planning assumption; new-vehicle sales alone do not quantify national fuel savings.</a:t>
            </a:r>
          </a:p>
        </p:txBody>
      </p:sp>
      <p:graphicFrame>
        <p:nvGraphicFramePr>
          <p:cNvPr id="5008" name="brand-pptx section navigation">
            <a:extLst>
              <a:ext uri="{FF2B5EF4-FFF2-40B4-BE49-F238E27FC236}">
                <a16:creationId xmlns:a16="http://schemas.microsoft.com/office/drawing/2014/main" id="{EC476A2F-58C3-0732-D966-0F511ABE1F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6591989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lang="en-GB"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Reported fuel production declined through 2021; the 2025 baseline assumes 5.8bn litres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9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172200"/>
            <a:ext cx="10648950" cy="23812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563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lang="en-ZA" sz="563">
                <a:solidFill>
                  <a:srgbClr val="111111"/>
                </a:solidFill>
                <a:latin typeface="Lato"/>
                <a:ea typeface="Lato"/>
                <a:cs typeface="Lato"/>
              </a:rPr>
              <a:t>Department energy balances 2014–2021; consolidated review workbook, DR01 national balance rows 8/17. Sasol FY2025/FY2026; Glencore 2024/2025. 2025: 5.8bn L planning assumption. Historical production ends in 2021; no interpolated observations.</a:t>
            </a:r>
            <a:endParaRPr sz="65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graphicFrame>
        <p:nvGraphicFramePr>
          <p:cNvPr id="5009" name="brand-pptx section navigation">
            <a:extLst>
              <a:ext uri="{FF2B5EF4-FFF2-40B4-BE49-F238E27FC236}">
                <a16:creationId xmlns:a16="http://schemas.microsoft.com/office/drawing/2014/main" id="{EC476A2F-58C3-0732-D966-0F511ABE1F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6591989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Production history heading">
            <a:extLst>
              <a:ext uri="{FF2B5EF4-FFF2-40B4-BE49-F238E27FC236}">
                <a16:creationId xmlns:a16="http://schemas.microsoft.com/office/drawing/2014/main" id="{FC915BFD-42B7-942D-4B33-428309172805}"/>
              </a:ext>
            </a:extLst>
          </p:cNvPr>
          <p:cNvSpPr txBox="1"/>
          <p:nvPr/>
        </p:nvSpPr>
        <p:spPr>
          <a:xfrm>
            <a:off x="457200" y="1676400"/>
            <a:ext cx="7096125" cy="24237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575" b="1">
                <a:solidFill>
                  <a:srgbClr val="0A2373"/>
                </a:solidFill>
                <a:latin typeface="Lato" panose="020F0502020204030203" pitchFamily="34" charset="0"/>
              </a:rPr>
              <a:t>Reported petrol and diesel production</a:t>
            </a:r>
            <a:endParaRPr lang="en-ZA" sz="1575" b="1">
              <a:solidFill>
                <a:srgbClr val="0A2373"/>
              </a:solidFill>
              <a:latin typeface="Lato" panose="020F0502020204030203" pitchFamily="34" charset="0"/>
            </a:endParaRPr>
          </a:p>
        </p:txBody>
      </p:sp>
      <p:sp>
        <p:nvSpPr>
          <p:cNvPr id="5" name="Production units">
            <a:extLst>
              <a:ext uri="{FF2B5EF4-FFF2-40B4-BE49-F238E27FC236}">
                <a16:creationId xmlns:a16="http://schemas.microsoft.com/office/drawing/2014/main" id="{598D68E6-506B-83CF-E42D-20F1DB24959C}"/>
              </a:ext>
            </a:extLst>
          </p:cNvPr>
          <p:cNvSpPr txBox="1"/>
          <p:nvPr/>
        </p:nvSpPr>
        <p:spPr>
          <a:xfrm>
            <a:off x="457200" y="2009775"/>
            <a:ext cx="7096125" cy="15004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975">
                <a:solidFill>
                  <a:srgbClr val="11151A"/>
                </a:solidFill>
                <a:latin typeface="Lato" panose="020F0502020204030203" pitchFamily="34" charset="0"/>
              </a:rPr>
              <a:t>Billion litres | reported history, 2014–2021</a:t>
            </a:r>
            <a:endParaRPr lang="en-ZA" sz="975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graphicFrame>
        <p:nvGraphicFramePr>
          <p:cNvPr id="6" name="Chart">
            <a:extLst>
              <a:ext uri="{FF2B5EF4-FFF2-40B4-BE49-F238E27FC236}">
                <a16:creationId xmlns:a16="http://schemas.microsoft.com/office/drawing/2014/main" id="{C4515D85-FD08-E500-C29D-270AD8216A10}"/>
              </a:ext>
            </a:extLst>
          </p:cNvPr>
          <p:cNvGraphicFramePr/>
          <p:nvPr/>
        </p:nvGraphicFramePr>
        <p:xfrm>
          <a:off x="457200" y="2286000"/>
          <a:ext cx="7096125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7" name="Production implication">
            <a:extLst>
              <a:ext uri="{FF2B5EF4-FFF2-40B4-BE49-F238E27FC236}">
                <a16:creationId xmlns:a16="http://schemas.microsoft.com/office/drawing/2014/main" id="{B899B6B9-FFA8-AD61-DB65-E5E70F1A692D}"/>
              </a:ext>
            </a:extLst>
          </p:cNvPr>
          <p:cNvSpPr txBox="1"/>
          <p:nvPr/>
        </p:nvSpPr>
        <p:spPr>
          <a:xfrm>
            <a:off x="7953375" y="1676400"/>
            <a:ext cx="3162300" cy="24237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ZA" sz="1575" b="1">
                <a:solidFill>
                  <a:srgbClr val="0A2373"/>
                </a:solidFill>
                <a:latin typeface="Lato" panose="020F0502020204030203" pitchFamily="34" charset="0"/>
              </a:rPr>
              <a:t>2025 planning baseline</a:t>
            </a:r>
          </a:p>
        </p:txBody>
      </p:sp>
      <p:sp>
        <p:nvSpPr>
          <p:cNvPr id="9" name="Production assumption">
            <a:extLst>
              <a:ext uri="{FF2B5EF4-FFF2-40B4-BE49-F238E27FC236}">
                <a16:creationId xmlns:a16="http://schemas.microsoft.com/office/drawing/2014/main" id="{51A3749D-D6C3-C4BC-7358-CD309F40E23B}"/>
              </a:ext>
            </a:extLst>
          </p:cNvPr>
          <p:cNvSpPr txBox="1"/>
          <p:nvPr/>
        </p:nvSpPr>
        <p:spPr>
          <a:xfrm>
            <a:off x="7953375" y="2124075"/>
            <a:ext cx="3162300" cy="40395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ZA" sz="2625" b="1">
                <a:solidFill>
                  <a:srgbClr val="0A2373"/>
                </a:solidFill>
                <a:latin typeface="Lato" panose="020F0502020204030203" pitchFamily="34" charset="0"/>
              </a:rPr>
              <a:t>5.8bn litres</a:t>
            </a:r>
          </a:p>
        </p:txBody>
      </p:sp>
      <p:sp>
        <p:nvSpPr>
          <p:cNvPr id="10" name="Production commentary">
            <a:extLst>
              <a:ext uri="{FF2B5EF4-FFF2-40B4-BE49-F238E27FC236}">
                <a16:creationId xmlns:a16="http://schemas.microsoft.com/office/drawing/2014/main" id="{DE27518A-7FCE-6AAE-5765-F02BEA973D8D}"/>
              </a:ext>
            </a:extLst>
          </p:cNvPr>
          <p:cNvSpPr txBox="1"/>
          <p:nvPr/>
        </p:nvSpPr>
        <p:spPr>
          <a:xfrm>
            <a:off x="7953375" y="2800350"/>
            <a:ext cx="3162300" cy="207749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350">
                <a:solidFill>
                  <a:srgbClr val="11151A"/>
                </a:solidFill>
                <a:latin typeface="Lato" panose="020F0502020204030203" pitchFamily="34" charset="0"/>
              </a:rPr>
              <a:t>Petrol/diesel planning assumption; not a reported national observation.
Reported combined production fell from 20.42bn L in 2014 to 11.67bn L in 2021.
SAPREF and PetroSA contribute no refining output in the 2025 assessment. Operating output and product yields determine import displacement.</a:t>
            </a:r>
            <a:endParaRPr lang="en-ZA" sz="1350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11" name="Production events">
            <a:extLst>
              <a:ext uri="{FF2B5EF4-FFF2-40B4-BE49-F238E27FC236}">
                <a16:creationId xmlns:a16="http://schemas.microsoft.com/office/drawing/2014/main" id="{FD879A5F-C40E-C552-1498-C800F603FC6B}"/>
              </a:ext>
            </a:extLst>
          </p:cNvPr>
          <p:cNvSpPr txBox="1"/>
          <p:nvPr/>
        </p:nvSpPr>
        <p:spPr>
          <a:xfrm>
            <a:off x="457200" y="5238750"/>
            <a:ext cx="7096125" cy="58862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275">
                <a:solidFill>
                  <a:srgbClr val="11151A"/>
                </a:solidFill>
                <a:latin typeface="Lato" panose="020F0502020204030203" pitchFamily="34" charset="0"/>
              </a:rPr>
              <a:t>Plant context: Secunda 27.6m barrels in FY2025 → 30.6m in FY2026.
Natref reporting scope changes; Astron reports in energy units. These disclosures cannot be summed directly.</a:t>
            </a:r>
            <a:endParaRPr lang="en-ZA" sz="1275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9000" name="Panel divider 0">
            <a:extLst>
              <a:ext uri="{FF2B5EF4-FFF2-40B4-BE49-F238E27FC236}">
                <a16:creationId xmlns:a16="http://schemas.microsoft.com/office/drawing/2014/main" id="{5BBAE355-ACD1-4A04-AE8D-BCCBF7B13B56}"/>
              </a:ext>
            </a:extLst>
          </p:cNvPr>
          <p:cNvSpPr>
            <a:spLocks noGrp="1"/>
          </p:cNvSpPr>
          <p:nvPr/>
        </p:nvSpPr>
        <p:spPr>
          <a:xfrm>
            <a:off x="457200" y="2000250"/>
            <a:ext cx="7096125" cy="9525"/>
          </a:xfrm>
          <a:prstGeom prst="rect">
            <a:avLst/>
          </a:prstGeom>
          <a:solidFill>
            <a:srgbClr val="C5C5C5"/>
          </a:solidFill>
          <a:ln w="0">
            <a:noFill/>
          </a:ln>
        </p:spPr>
      </p:sp>
      <p:sp>
        <p:nvSpPr>
          <p:cNvPr id="9001" name="Panel divider 1">
            <a:extLst>
              <a:ext uri="{FF2B5EF4-FFF2-40B4-BE49-F238E27FC236}">
                <a16:creationId xmlns:a16="http://schemas.microsoft.com/office/drawing/2014/main" id="{5BBAE355-ACD1-4A04-AE8D-BCCBF7B13B56}"/>
              </a:ext>
            </a:extLst>
          </p:cNvPr>
          <p:cNvSpPr>
            <a:spLocks noGrp="1"/>
          </p:cNvSpPr>
          <p:nvPr/>
        </p:nvSpPr>
        <p:spPr>
          <a:xfrm>
            <a:off x="7953375" y="2000250"/>
            <a:ext cx="3162300" cy="9525"/>
          </a:xfrm>
          <a:prstGeom prst="rect">
            <a:avLst/>
          </a:prstGeom>
          <a:solidFill>
            <a:srgbClr val="C5C5C5"/>
          </a:solidFill>
          <a:ln w="0">
            <a:noFill/>
          </a:ln>
        </p:spPr>
      </p:sp>
      <p:sp>
        <p:nvSpPr>
          <p:cNvPr id="9002" name="Panel divider 2">
            <a:extLst>
              <a:ext uri="{FF2B5EF4-FFF2-40B4-BE49-F238E27FC236}">
                <a16:creationId xmlns:a16="http://schemas.microsoft.com/office/drawing/2014/main" id="{5BBAE355-ACD1-4A04-AE8D-BCCBF7B13B56}"/>
              </a:ext>
            </a:extLst>
          </p:cNvPr>
          <p:cNvSpPr>
            <a:spLocks noGrp="1"/>
          </p:cNvSpPr>
          <p:nvPr/>
        </p:nvSpPr>
        <p:spPr>
          <a:xfrm>
            <a:off x="7772400" y="1647825"/>
            <a:ext cx="9525" cy="3714750"/>
          </a:xfrm>
          <a:prstGeom prst="rect">
            <a:avLst/>
          </a:prstGeom>
          <a:solidFill>
            <a:srgbClr val="C5C5C5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Durban’s inland share depends on competing gateways and reliable onward connections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10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172200"/>
            <a:ext cx="10648950" cy="23812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563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lang="en-ZA" sz="563">
                <a:solidFill>
                  <a:srgbClr val="111111"/>
                </a:solidFill>
                <a:latin typeface="Lato"/>
                <a:ea typeface="Lato"/>
                <a:cs typeface="Lato"/>
              </a:rPr>
              <a:t>SARS 2022/2025; Galp Matola, 3 Dec 2020; Petromoc logistics; market-sizing workbook. Map: © OpenStreetMap contributors / Geofabrik; Natural Earth; geoBoundaries. Routes show connectivity, not validated tanker access. Compare the same product and destination.</a:t>
            </a:r>
            <a:endParaRPr sz="65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graphicFrame>
        <p:nvGraphicFramePr>
          <p:cNvPr id="5010" name="brand-pptx section navigation">
            <a:extLst>
              <a:ext uri="{FF2B5EF4-FFF2-40B4-BE49-F238E27FC236}">
                <a16:creationId xmlns:a16="http://schemas.microsoft.com/office/drawing/2014/main" id="{EC476A2F-58C3-0732-D966-0F511ABE1F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6591989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Map heading">
            <a:extLst>
              <a:ext uri="{FF2B5EF4-FFF2-40B4-BE49-F238E27FC236}">
                <a16:creationId xmlns:a16="http://schemas.microsoft.com/office/drawing/2014/main" id="{84C918C8-BDC0-70DC-8BCB-25219D888679}"/>
              </a:ext>
            </a:extLst>
          </p:cNvPr>
          <p:cNvSpPr txBox="1"/>
          <p:nvPr/>
        </p:nvSpPr>
        <p:spPr>
          <a:xfrm>
            <a:off x="457200" y="1676400"/>
            <a:ext cx="4905375" cy="24237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ZA" sz="1575" b="1">
                <a:solidFill>
                  <a:srgbClr val="0A2373"/>
                </a:solidFill>
                <a:latin typeface="Lato" panose="020F0502020204030203" pitchFamily="34" charset="0"/>
              </a:rPr>
              <a:t>Competing inland supply corridors</a:t>
            </a:r>
          </a:p>
        </p:txBody>
      </p:sp>
      <p:sp>
        <p:nvSpPr>
          <p:cNvPr id="5" name="Map evidence heading">
            <a:extLst>
              <a:ext uri="{FF2B5EF4-FFF2-40B4-BE49-F238E27FC236}">
                <a16:creationId xmlns:a16="http://schemas.microsoft.com/office/drawing/2014/main" id="{32F42E75-8F60-7863-1FAC-DFEAC62235F7}"/>
              </a:ext>
            </a:extLst>
          </p:cNvPr>
          <p:cNvSpPr txBox="1"/>
          <p:nvPr/>
        </p:nvSpPr>
        <p:spPr>
          <a:xfrm>
            <a:off x="5619750" y="1676400"/>
            <a:ext cx="5486400" cy="24237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ZA" sz="1575" b="1">
                <a:solidFill>
                  <a:srgbClr val="0A2373"/>
                </a:solidFill>
                <a:latin typeface="Lato" panose="020F0502020204030203" pitchFamily="34" charset="0"/>
              </a:rPr>
              <a:t>Evidence and implications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8DDE40-D6E5-8A32-5BF0-18595D11E6B1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500"/>
          <a:stretch>
            <a:fillRect/>
          </a:stretch>
        </p:blipFill>
        <p:spPr>
          <a:xfrm>
            <a:off x="457200" y="2235200"/>
            <a:ext cx="4762500" cy="2946400"/>
          </a:xfrm>
          <a:prstGeom prst="rect">
            <a:avLst/>
          </a:prstGeom>
        </p:spPr>
      </p:pic>
      <p:sp>
        <p:nvSpPr>
          <p:cNvPr id="9" name="Map scope">
            <a:extLst>
              <a:ext uri="{FF2B5EF4-FFF2-40B4-BE49-F238E27FC236}">
                <a16:creationId xmlns:a16="http://schemas.microsoft.com/office/drawing/2014/main" id="{905265E0-B937-247C-8142-C47B5C28982E}"/>
              </a:ext>
            </a:extLst>
          </p:cNvPr>
          <p:cNvSpPr txBox="1"/>
          <p:nvPr/>
        </p:nvSpPr>
        <p:spPr>
          <a:xfrm>
            <a:off x="457200" y="5257800"/>
            <a:ext cx="47625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200">
                <a:solidFill>
                  <a:srgbClr val="11151A"/>
                </a:solidFill>
                <a:latin typeface="Lato" panose="020F0502020204030203" pitchFamily="34" charset="0"/>
              </a:rPr>
              <a:t>Mapped road and rail connectivity; tanker access and operating services require confirmation. NMPP is the established inland connection discussed at right. Walvis Bay is a potential alternative.</a:t>
            </a:r>
            <a:endParaRPr lang="en-ZA" sz="1200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10" name="Route heading 0">
            <a:extLst>
              <a:ext uri="{FF2B5EF4-FFF2-40B4-BE49-F238E27FC236}">
                <a16:creationId xmlns:a16="http://schemas.microsoft.com/office/drawing/2014/main" id="{9C91F214-0886-18AE-5A7D-6B9E3F11554F}"/>
              </a:ext>
            </a:extLst>
          </p:cNvPr>
          <p:cNvSpPr txBox="1"/>
          <p:nvPr/>
        </p:nvSpPr>
        <p:spPr>
          <a:xfrm>
            <a:off x="5619750" y="2085975"/>
            <a:ext cx="5486400" cy="19620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275" b="1">
                <a:solidFill>
                  <a:srgbClr val="0A2373"/>
                </a:solidFill>
                <a:latin typeface="Lato" panose="020F0502020204030203" pitchFamily="34" charset="0"/>
              </a:rPr>
              <a:t>Durban and other SA ports</a:t>
            </a:r>
            <a:endParaRPr lang="en-ZA" sz="1275" b="1">
              <a:solidFill>
                <a:srgbClr val="0A2373"/>
              </a:solidFill>
              <a:latin typeface="Lato" panose="020F0502020204030203" pitchFamily="34" charset="0"/>
            </a:endParaRPr>
          </a:p>
        </p:txBody>
      </p:sp>
      <p:sp>
        <p:nvSpPr>
          <p:cNvPr id="11" name="Route body 0">
            <a:extLst>
              <a:ext uri="{FF2B5EF4-FFF2-40B4-BE49-F238E27FC236}">
                <a16:creationId xmlns:a16="http://schemas.microsoft.com/office/drawing/2014/main" id="{27F897E1-6B8F-6349-848C-9704A41A5A51}"/>
              </a:ext>
            </a:extLst>
          </p:cNvPr>
          <p:cNvSpPr txBox="1"/>
          <p:nvPr/>
        </p:nvSpPr>
        <p:spPr>
          <a:xfrm>
            <a:off x="5619750" y="2324100"/>
            <a:ext cx="54864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200">
                <a:solidFill>
                  <a:srgbClr val="11151A"/>
                </a:solidFill>
                <a:latin typeface="Lato" panose="020F0502020204030203" pitchFamily="34" charset="0"/>
              </a:rPr>
              <a:t>2025 Durban customs: 13.16bn L. Allocate national imports across ports before sizing inland reach.</a:t>
            </a:r>
            <a:endParaRPr lang="en-ZA" sz="1200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12" name="Route heading 1">
            <a:extLst>
              <a:ext uri="{FF2B5EF4-FFF2-40B4-BE49-F238E27FC236}">
                <a16:creationId xmlns:a16="http://schemas.microsoft.com/office/drawing/2014/main" id="{B1D50922-8300-F3B4-3178-A313020D6938}"/>
              </a:ext>
            </a:extLst>
          </p:cNvPr>
          <p:cNvSpPr txBox="1"/>
          <p:nvPr/>
        </p:nvSpPr>
        <p:spPr>
          <a:xfrm>
            <a:off x="5619750" y="2828925"/>
            <a:ext cx="5486400" cy="19620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ZA" sz="1275" b="1">
                <a:solidFill>
                  <a:srgbClr val="0A2373"/>
                </a:solidFill>
                <a:latin typeface="Lato" panose="020F0502020204030203" pitchFamily="34" charset="0"/>
              </a:rPr>
              <a:t>Durban–NMPP–Lesedi</a:t>
            </a:r>
          </a:p>
        </p:txBody>
      </p:sp>
      <p:sp>
        <p:nvSpPr>
          <p:cNvPr id="13" name="Route body 1">
            <a:extLst>
              <a:ext uri="{FF2B5EF4-FFF2-40B4-BE49-F238E27FC236}">
                <a16:creationId xmlns:a16="http://schemas.microsoft.com/office/drawing/2014/main" id="{704C5A7C-5F95-D67E-A777-0B73AAD65701}"/>
              </a:ext>
            </a:extLst>
          </p:cNvPr>
          <p:cNvSpPr txBox="1"/>
          <p:nvPr/>
        </p:nvSpPr>
        <p:spPr>
          <a:xfrm>
            <a:off x="5619750" y="3067050"/>
            <a:ext cx="54864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200">
                <a:solidFill>
                  <a:srgbClr val="11151A"/>
                </a:solidFill>
                <a:latin typeface="Lato" panose="020F0502020204030203" pitchFamily="34" charset="0"/>
              </a:rPr>
              <a:t>Existing inland connection; customer/product access, receipt and dispatch constraints determine serviceable flows.</a:t>
            </a:r>
            <a:endParaRPr lang="en-ZA" sz="1200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14" name="Route heading 2">
            <a:extLst>
              <a:ext uri="{FF2B5EF4-FFF2-40B4-BE49-F238E27FC236}">
                <a16:creationId xmlns:a16="http://schemas.microsoft.com/office/drawing/2014/main" id="{35F6054D-F452-9A14-9F3F-3CF2D29C8F2C}"/>
              </a:ext>
            </a:extLst>
          </p:cNvPr>
          <p:cNvSpPr txBox="1"/>
          <p:nvPr/>
        </p:nvSpPr>
        <p:spPr>
          <a:xfrm>
            <a:off x="5619750" y="3571875"/>
            <a:ext cx="5486400" cy="19620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ZA" sz="1275" b="1">
                <a:solidFill>
                  <a:srgbClr val="0A2373"/>
                </a:solidFill>
                <a:latin typeface="Lato" panose="020F0502020204030203" pitchFamily="34" charset="0"/>
              </a:rPr>
              <a:t>Matola infrastructure</a:t>
            </a:r>
          </a:p>
        </p:txBody>
      </p:sp>
      <p:sp>
        <p:nvSpPr>
          <p:cNvPr id="15" name="Route body 2">
            <a:extLst>
              <a:ext uri="{FF2B5EF4-FFF2-40B4-BE49-F238E27FC236}">
                <a16:creationId xmlns:a16="http://schemas.microsoft.com/office/drawing/2014/main" id="{EAF0A4B6-60EE-0EC4-DA02-2B6D38BD3709}"/>
              </a:ext>
            </a:extLst>
          </p:cNvPr>
          <p:cNvSpPr txBox="1"/>
          <p:nvPr/>
        </p:nvSpPr>
        <p:spPr>
          <a:xfrm>
            <a:off x="5619750" y="3810000"/>
            <a:ext cx="54864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200">
                <a:solidFill>
                  <a:srgbClr val="11151A"/>
                </a:solidFill>
                <a:latin typeface="Lato" panose="020F0502020204030203" pitchFamily="34" charset="0"/>
              </a:rPr>
              <a:t>Galp/IPG: 60,000m³ petrol/diesel; Petromoc: 390,000m³ across fuels. Do not add overlapping capacities or equate storage with SA throughput.</a:t>
            </a:r>
            <a:endParaRPr lang="en-ZA" sz="1200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16" name="Route heading 3">
            <a:extLst>
              <a:ext uri="{FF2B5EF4-FFF2-40B4-BE49-F238E27FC236}">
                <a16:creationId xmlns:a16="http://schemas.microsoft.com/office/drawing/2014/main" id="{CB01BB12-737E-A100-EB73-EB27F8553432}"/>
              </a:ext>
            </a:extLst>
          </p:cNvPr>
          <p:cNvSpPr txBox="1"/>
          <p:nvPr/>
        </p:nvSpPr>
        <p:spPr>
          <a:xfrm>
            <a:off x="5619750" y="4314825"/>
            <a:ext cx="5486400" cy="19620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ZA" sz="1275" b="1">
                <a:solidFill>
                  <a:srgbClr val="0A2373"/>
                </a:solidFill>
                <a:latin typeface="Lato" panose="020F0502020204030203" pitchFamily="34" charset="0"/>
              </a:rPr>
              <a:t>Mozambique flows</a:t>
            </a:r>
          </a:p>
        </p:txBody>
      </p:sp>
      <p:sp>
        <p:nvSpPr>
          <p:cNvPr id="17" name="Route body 3">
            <a:extLst>
              <a:ext uri="{FF2B5EF4-FFF2-40B4-BE49-F238E27FC236}">
                <a16:creationId xmlns:a16="http://schemas.microsoft.com/office/drawing/2014/main" id="{CDC39F14-E76C-9556-4E87-FBB74EF62A89}"/>
              </a:ext>
            </a:extLst>
          </p:cNvPr>
          <p:cNvSpPr txBox="1"/>
          <p:nvPr/>
        </p:nvSpPr>
        <p:spPr>
          <a:xfrm>
            <a:off x="5619750" y="4552950"/>
            <a:ext cx="54864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200">
                <a:solidFill>
                  <a:srgbClr val="11151A"/>
                </a:solidFill>
                <a:latin typeface="Lato" panose="020F0502020204030203" pitchFamily="34" charset="0"/>
              </a:rPr>
              <a:t>Komatipoort imports: 0.303bn L in 2022 → 0.086bn L in 2025. Observed flows anchor route volumes.</a:t>
            </a:r>
            <a:endParaRPr lang="en-ZA" sz="1200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18" name="Route heading 4">
            <a:extLst>
              <a:ext uri="{FF2B5EF4-FFF2-40B4-BE49-F238E27FC236}">
                <a16:creationId xmlns:a16="http://schemas.microsoft.com/office/drawing/2014/main" id="{EFD8D388-52FB-EB1B-C2F9-2A68721DFCFB}"/>
              </a:ext>
            </a:extLst>
          </p:cNvPr>
          <p:cNvSpPr txBox="1"/>
          <p:nvPr/>
        </p:nvSpPr>
        <p:spPr>
          <a:xfrm>
            <a:off x="5619750" y="5057775"/>
            <a:ext cx="5486400" cy="19620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ZA" sz="1275" b="1">
                <a:solidFill>
                  <a:srgbClr val="0A2373"/>
                </a:solidFill>
                <a:latin typeface="Lato" panose="020F0502020204030203" pitchFamily="34" charset="0"/>
              </a:rPr>
              <a:t>Walvis Bay</a:t>
            </a:r>
          </a:p>
        </p:txBody>
      </p:sp>
      <p:sp>
        <p:nvSpPr>
          <p:cNvPr id="19" name="Route body 4">
            <a:extLst>
              <a:ext uri="{FF2B5EF4-FFF2-40B4-BE49-F238E27FC236}">
                <a16:creationId xmlns:a16="http://schemas.microsoft.com/office/drawing/2014/main" id="{AA1EF178-90D5-0BD5-B832-8373C625E947}"/>
              </a:ext>
            </a:extLst>
          </p:cNvPr>
          <p:cNvSpPr txBox="1"/>
          <p:nvPr/>
        </p:nvSpPr>
        <p:spPr>
          <a:xfrm>
            <a:off x="5619750" y="5295900"/>
            <a:ext cx="54864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200">
                <a:solidFill>
                  <a:srgbClr val="11151A"/>
                </a:solidFill>
                <a:latin typeface="Lato" panose="020F0502020204030203" pitchFamily="34" charset="0"/>
              </a:rPr>
              <a:t>Comparable delivered cost, access and SA flows remain unestablished. No quantified diversion or capture is assigned.</a:t>
            </a:r>
            <a:endParaRPr lang="en-ZA" sz="1200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9000" name="Panel divider 0">
            <a:extLst>
              <a:ext uri="{FF2B5EF4-FFF2-40B4-BE49-F238E27FC236}">
                <a16:creationId xmlns:a16="http://schemas.microsoft.com/office/drawing/2014/main" id="{5BBAE355-ACD1-4A04-AE8D-BCCBF7B13B56}"/>
              </a:ext>
            </a:extLst>
          </p:cNvPr>
          <p:cNvSpPr>
            <a:spLocks noGrp="1"/>
          </p:cNvSpPr>
          <p:nvPr/>
        </p:nvSpPr>
        <p:spPr>
          <a:xfrm>
            <a:off x="457200" y="2000250"/>
            <a:ext cx="4762500" cy="9525"/>
          </a:xfrm>
          <a:prstGeom prst="rect">
            <a:avLst/>
          </a:prstGeom>
          <a:solidFill>
            <a:srgbClr val="C5C5C5"/>
          </a:solidFill>
          <a:ln w="0">
            <a:noFill/>
          </a:ln>
        </p:spPr>
      </p:sp>
      <p:sp>
        <p:nvSpPr>
          <p:cNvPr id="9001" name="Panel divider 1">
            <a:extLst>
              <a:ext uri="{FF2B5EF4-FFF2-40B4-BE49-F238E27FC236}">
                <a16:creationId xmlns:a16="http://schemas.microsoft.com/office/drawing/2014/main" id="{5BBAE355-ACD1-4A04-AE8D-BCCBF7B13B56}"/>
              </a:ext>
            </a:extLst>
          </p:cNvPr>
          <p:cNvSpPr>
            <a:spLocks noGrp="1"/>
          </p:cNvSpPr>
          <p:nvPr/>
        </p:nvSpPr>
        <p:spPr>
          <a:xfrm>
            <a:off x="5619750" y="2000250"/>
            <a:ext cx="5486400" cy="9525"/>
          </a:xfrm>
          <a:prstGeom prst="rect">
            <a:avLst/>
          </a:prstGeom>
          <a:solidFill>
            <a:srgbClr val="C5C5C5"/>
          </a:solidFill>
          <a:ln w="0">
            <a:noFill/>
          </a:ln>
        </p:spPr>
      </p:sp>
      <p:sp>
        <p:nvSpPr>
          <p:cNvPr id="9002" name="Panel divider 2">
            <a:extLst>
              <a:ext uri="{FF2B5EF4-FFF2-40B4-BE49-F238E27FC236}">
                <a16:creationId xmlns:a16="http://schemas.microsoft.com/office/drawing/2014/main" id="{5BBAE355-ACD1-4A04-AE8D-BCCBF7B13B56}"/>
              </a:ext>
            </a:extLst>
          </p:cNvPr>
          <p:cNvSpPr>
            <a:spLocks noGrp="1"/>
          </p:cNvSpPr>
          <p:nvPr/>
        </p:nvSpPr>
        <p:spPr>
          <a:xfrm>
            <a:off x="5429250" y="1647825"/>
            <a:ext cx="9525" cy="4191000"/>
          </a:xfrm>
          <a:prstGeom prst="rect">
            <a:avLst/>
          </a:prstGeom>
          <a:solidFill>
            <a:srgbClr val="C5C5C5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29820-6AD7-45D4-9363-60B3BAF1A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solidFill>
                  <a:schemeClr val="dk1"/>
                </a:solidFill>
                <a:latin typeface="Lato"/>
                <a:ea typeface="Lato"/>
                <a:cs typeface="Lato"/>
              </a:rPr>
              <a:t>Durban and Lesedi market sizing and investment issue tree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6A4E33D8-8941-444F-A929-A253CD7660A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11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4A247A30-8235-4513-B205-84A25D462858}"/>
              </a:ext>
            </a:extLst>
          </p:cNvPr>
          <p:cNvSpPr>
            <a:spLocks noGrp="1"/>
          </p:cNvSpPr>
          <p:nvPr/>
        </p:nvSpPr>
        <p:spPr>
          <a:xfrm>
            <a:off x="457200" y="6184900"/>
            <a:ext cx="10652760" cy="1048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750" b="0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lang="en-GB" sz="670"/>
              <a:t>Analytical workbook v02; SARS 2025; provincial demand 2022; Transnet Pipelines FY2025. Production is a planning assumption; capture is illustrative. Shared Durban–Lesedi fuel is counted once. Historical catchments retain their stated years.</a:t>
            </a:r>
            <a:endParaRPr sz="67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6C61FD50-75B5-4875-BAFA-6D41D2E7A1FD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4" name="Demand panel">
            <a:extLst>
              <a:ext uri="{FF2B5EF4-FFF2-40B4-BE49-F238E27FC236}">
                <a16:creationId xmlns:a16="http://schemas.microsoft.com/office/drawing/2014/main" id="{13D7FB2A-425B-4C88-DAC4-6B5E0F4F15E9}"/>
              </a:ext>
            </a:extLst>
          </p:cNvPr>
          <p:cNvSpPr>
            <a:spLocks noGrp="1"/>
          </p:cNvSpPr>
          <p:nvPr/>
        </p:nvSpPr>
        <p:spPr>
          <a:xfrm>
            <a:off x="355600" y="1549400"/>
            <a:ext cx="2108200" cy="4597400"/>
          </a:xfrm>
          <a:prstGeom prst="rect">
            <a:avLst/>
          </a:prstGeom>
          <a:solidFill>
            <a:srgbClr val="EEF1F6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Supply panel">
            <a:extLst>
              <a:ext uri="{FF2B5EF4-FFF2-40B4-BE49-F238E27FC236}">
                <a16:creationId xmlns:a16="http://schemas.microsoft.com/office/drawing/2014/main" id="{EDF9E6D9-DC05-D64B-93EE-3112FC8385C1}"/>
              </a:ext>
            </a:extLst>
          </p:cNvPr>
          <p:cNvSpPr>
            <a:spLocks noGrp="1"/>
          </p:cNvSpPr>
          <p:nvPr/>
        </p:nvSpPr>
        <p:spPr>
          <a:xfrm>
            <a:off x="2565400" y="1549400"/>
            <a:ext cx="3403600" cy="4597400"/>
          </a:xfrm>
          <a:prstGeom prst="rect">
            <a:avLst/>
          </a:prstGeom>
          <a:solidFill>
            <a:srgbClr val="EEF1F6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Opportunity panel">
            <a:extLst>
              <a:ext uri="{FF2B5EF4-FFF2-40B4-BE49-F238E27FC236}">
                <a16:creationId xmlns:a16="http://schemas.microsoft.com/office/drawing/2014/main" id="{41E361D9-0C89-9050-52FE-9860D18566DF}"/>
              </a:ext>
            </a:extLst>
          </p:cNvPr>
          <p:cNvSpPr>
            <a:spLocks noGrp="1"/>
          </p:cNvSpPr>
          <p:nvPr/>
        </p:nvSpPr>
        <p:spPr>
          <a:xfrm>
            <a:off x="6070600" y="1549400"/>
            <a:ext cx="3060700" cy="4597400"/>
          </a:xfrm>
          <a:prstGeom prst="rect">
            <a:avLst/>
          </a:prstGeom>
          <a:solidFill>
            <a:srgbClr val="EEF1F6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Investment panel">
            <a:extLst>
              <a:ext uri="{FF2B5EF4-FFF2-40B4-BE49-F238E27FC236}">
                <a16:creationId xmlns:a16="http://schemas.microsoft.com/office/drawing/2014/main" id="{7EB7908E-9958-408F-3537-2A89642FDC6D}"/>
              </a:ext>
            </a:extLst>
          </p:cNvPr>
          <p:cNvSpPr>
            <a:spLocks noGrp="1"/>
          </p:cNvSpPr>
          <p:nvPr/>
        </p:nvSpPr>
        <p:spPr>
          <a:xfrm>
            <a:off x="9232900" y="1549400"/>
            <a:ext cx="1981200" cy="4597400"/>
          </a:xfrm>
          <a:prstGeom prst="rect">
            <a:avLst/>
          </a:prstGeom>
          <a:solidFill>
            <a:srgbClr val="EEF1F6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Demand heading">
            <a:extLst>
              <a:ext uri="{FF2B5EF4-FFF2-40B4-BE49-F238E27FC236}">
                <a16:creationId xmlns:a16="http://schemas.microsoft.com/office/drawing/2014/main" id="{5E10CFA9-C012-27D2-B26F-FF5D806DD0C9}"/>
              </a:ext>
            </a:extLst>
          </p:cNvPr>
          <p:cNvSpPr>
            <a:spLocks noGrp="1"/>
          </p:cNvSpPr>
          <p:nvPr/>
        </p:nvSpPr>
        <p:spPr>
          <a:xfrm>
            <a:off x="457200" y="1638300"/>
            <a:ext cx="1905000" cy="2413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12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1  NATIONAL DEMAND</a:t>
            </a:r>
          </a:p>
        </p:txBody>
      </p:sp>
      <p:sp>
        <p:nvSpPr>
          <p:cNvPr id="14" name="System heading">
            <a:extLst>
              <a:ext uri="{FF2B5EF4-FFF2-40B4-BE49-F238E27FC236}">
                <a16:creationId xmlns:a16="http://schemas.microsoft.com/office/drawing/2014/main" id="{D1B803F8-148F-F52B-6733-F8C59DCFA18E}"/>
              </a:ext>
            </a:extLst>
          </p:cNvPr>
          <p:cNvSpPr>
            <a:spLocks noGrp="1"/>
          </p:cNvSpPr>
          <p:nvPr/>
        </p:nvSpPr>
        <p:spPr>
          <a:xfrm>
            <a:off x="2667000" y="1638300"/>
            <a:ext cx="3200400" cy="2413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12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  SUPPLY AND DELIVERY</a:t>
            </a:r>
          </a:p>
        </p:txBody>
      </p:sp>
      <p:sp>
        <p:nvSpPr>
          <p:cNvPr id="15" name="Terminal heading">
            <a:extLst>
              <a:ext uri="{FF2B5EF4-FFF2-40B4-BE49-F238E27FC236}">
                <a16:creationId xmlns:a16="http://schemas.microsoft.com/office/drawing/2014/main" id="{EA11C542-C5C8-C25B-C917-5395829365FA}"/>
              </a:ext>
            </a:extLst>
          </p:cNvPr>
          <p:cNvSpPr>
            <a:spLocks noGrp="1"/>
          </p:cNvSpPr>
          <p:nvPr/>
        </p:nvSpPr>
        <p:spPr>
          <a:xfrm>
            <a:off x="6172200" y="1638300"/>
            <a:ext cx="2857500" cy="2413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12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3  VOPAK OPPORTUNITY</a:t>
            </a:r>
          </a:p>
        </p:txBody>
      </p:sp>
      <p:sp>
        <p:nvSpPr>
          <p:cNvPr id="16" name="Investment heading">
            <a:extLst>
              <a:ext uri="{FF2B5EF4-FFF2-40B4-BE49-F238E27FC236}">
                <a16:creationId xmlns:a16="http://schemas.microsoft.com/office/drawing/2014/main" id="{788AB381-C5D3-5D15-F133-8717DE0477FB}"/>
              </a:ext>
            </a:extLst>
          </p:cNvPr>
          <p:cNvSpPr>
            <a:spLocks noGrp="1"/>
          </p:cNvSpPr>
          <p:nvPr/>
        </p:nvSpPr>
        <p:spPr>
          <a:xfrm>
            <a:off x="9334500" y="1638300"/>
            <a:ext cx="1778000" cy="2413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12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4  INVESTMENT</a:t>
            </a:r>
          </a:p>
        </p:txBody>
      </p:sp>
      <p:cxnSp>
        <p:nvCxnSpPr>
          <p:cNvPr id="108" name="Column heading rule"/>
          <p:cNvCxnSpPr/>
          <p:nvPr/>
        </p:nvCxnSpPr>
        <p:spPr>
          <a:xfrm>
            <a:off x="457200" y="1917700"/>
            <a:ext cx="1905000" cy="0"/>
          </a:xfrm>
          <a:prstGeom prst="straightConnector1">
            <a:avLst/>
          </a:prstGeom>
          <a:ln w="8255"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lumn heading rule"/>
          <p:cNvCxnSpPr/>
          <p:nvPr/>
        </p:nvCxnSpPr>
        <p:spPr>
          <a:xfrm>
            <a:off x="2667000" y="1917700"/>
            <a:ext cx="3200400" cy="0"/>
          </a:xfrm>
          <a:prstGeom prst="straightConnector1">
            <a:avLst/>
          </a:prstGeom>
          <a:ln w="8255"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lumn heading rule"/>
          <p:cNvCxnSpPr/>
          <p:nvPr/>
        </p:nvCxnSpPr>
        <p:spPr>
          <a:xfrm>
            <a:off x="6172200" y="1917700"/>
            <a:ext cx="2857500" cy="0"/>
          </a:xfrm>
          <a:prstGeom prst="straightConnector1">
            <a:avLst/>
          </a:prstGeom>
          <a:ln w="8255"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lumn heading rule"/>
          <p:cNvCxnSpPr/>
          <p:nvPr/>
        </p:nvCxnSpPr>
        <p:spPr>
          <a:xfrm>
            <a:off x="9334500" y="1917700"/>
            <a:ext cx="1778000" cy="0"/>
          </a:xfrm>
          <a:prstGeom prst="straightConnector1">
            <a:avLst/>
          </a:prstGeom>
          <a:ln w="8255"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National market">
            <a:extLst>
              <a:ext uri="{FF2B5EF4-FFF2-40B4-BE49-F238E27FC236}">
                <a16:creationId xmlns:a16="http://schemas.microsoft.com/office/drawing/2014/main" id="{1F4039F1-5645-86DE-916D-FF2ABE7750B0}"/>
              </a:ext>
            </a:extLst>
          </p:cNvPr>
          <p:cNvSpPr>
            <a:spLocks noGrp="1"/>
          </p:cNvSpPr>
          <p:nvPr/>
        </p:nvSpPr>
        <p:spPr>
          <a:xfrm>
            <a:off x="457200" y="2006600"/>
            <a:ext cx="1905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lang="fr-FR"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National consumption
2025 estimate
21.0bn litres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2" name="Product demand">
            <a:extLst>
              <a:ext uri="{FF2B5EF4-FFF2-40B4-BE49-F238E27FC236}">
                <a16:creationId xmlns:a16="http://schemas.microsoft.com/office/drawing/2014/main" id="{FC0C19CA-8D25-70AE-0BD5-852428AD766E}"/>
              </a:ext>
            </a:extLst>
          </p:cNvPr>
          <p:cNvSpPr>
            <a:spLocks noGrp="1"/>
          </p:cNvSpPr>
          <p:nvPr/>
        </p:nvSpPr>
        <p:spPr>
          <a:xfrm>
            <a:off x="457200" y="3073400"/>
            <a:ext cx="1905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lang="en-GB"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Demand by product
Petrol 8.9bn L
Diesel 12.1bn L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3" name="Sector demand">
            <a:extLst>
              <a:ext uri="{FF2B5EF4-FFF2-40B4-BE49-F238E27FC236}">
                <a16:creationId xmlns:a16="http://schemas.microsoft.com/office/drawing/2014/main" id="{0F861E75-7AA1-B3FD-4B6B-FE7B0ECE42C9}"/>
              </a:ext>
            </a:extLst>
          </p:cNvPr>
          <p:cNvSpPr>
            <a:spLocks noGrp="1"/>
          </p:cNvSpPr>
          <p:nvPr/>
        </p:nvSpPr>
        <p:spPr>
          <a:xfrm>
            <a:off x="457200" y="4140200"/>
            <a:ext cx="1905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lang="en-GB"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Demand by use
Road, mining, agriculture
Manufacturing and power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4" name="Demand parameters">
            <a:extLst>
              <a:ext uri="{FF2B5EF4-FFF2-40B4-BE49-F238E27FC236}">
                <a16:creationId xmlns:a16="http://schemas.microsoft.com/office/drawing/2014/main" id="{79B1AEA4-0900-4A1F-2A44-2F05809E06FC}"/>
              </a:ext>
            </a:extLst>
          </p:cNvPr>
          <p:cNvSpPr>
            <a:spLocks noGrp="1"/>
          </p:cNvSpPr>
          <p:nvPr/>
        </p:nvSpPr>
        <p:spPr>
          <a:xfrm>
            <a:off x="457200" y="5207000"/>
            <a:ext cx="1905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Demand parameters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GDP and sectors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EVs, fleet, efficiency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Freight, prices, power</a:t>
            </a:r>
          </a:p>
        </p:txBody>
      </p:sp>
      <p:sp>
        <p:nvSpPr>
          <p:cNvPr id="25" name="Imports">
            <a:extLst>
              <a:ext uri="{FF2B5EF4-FFF2-40B4-BE49-F238E27FC236}">
                <a16:creationId xmlns:a16="http://schemas.microsoft.com/office/drawing/2014/main" id="{724C6B42-EF01-8CC4-3352-533547797903}"/>
              </a:ext>
            </a:extLst>
          </p:cNvPr>
          <p:cNvSpPr>
            <a:spLocks noGrp="1"/>
          </p:cNvSpPr>
          <p:nvPr/>
        </p:nvSpPr>
        <p:spPr>
          <a:xfrm>
            <a:off x="2667000" y="2006600"/>
            <a:ext cx="1524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Gross imports, 2025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Petrol 4.45B L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Diesel 12.25B L</a:t>
            </a:r>
          </a:p>
        </p:txBody>
      </p:sp>
      <p:sp>
        <p:nvSpPr>
          <p:cNvPr id="26" name="Production">
            <a:extLst>
              <a:ext uri="{FF2B5EF4-FFF2-40B4-BE49-F238E27FC236}">
                <a16:creationId xmlns:a16="http://schemas.microsoft.com/office/drawing/2014/main" id="{0F3927D4-99CC-B20A-F042-9B8286A9C86F}"/>
              </a:ext>
            </a:extLst>
          </p:cNvPr>
          <p:cNvSpPr>
            <a:spLocks noGrp="1"/>
          </p:cNvSpPr>
          <p:nvPr/>
        </p:nvSpPr>
        <p:spPr>
          <a:xfrm>
            <a:off x="4343400" y="2006600"/>
            <a:ext cx="1524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lang="en-GB"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Domestic production
5.8bn L in 2025
Planning assumption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7" name="Ports">
            <a:extLst>
              <a:ext uri="{FF2B5EF4-FFF2-40B4-BE49-F238E27FC236}">
                <a16:creationId xmlns:a16="http://schemas.microsoft.com/office/drawing/2014/main" id="{2B5A0F96-8E3F-071A-F8DA-79BFBC4EB29F}"/>
              </a:ext>
            </a:extLst>
          </p:cNvPr>
          <p:cNvSpPr>
            <a:spLocks noGrp="1"/>
          </p:cNvSpPr>
          <p:nvPr/>
        </p:nvSpPr>
        <p:spPr>
          <a:xfrm>
            <a:off x="2667000" y="3073400"/>
            <a:ext cx="1524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lang="en-GB"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Ports and alternatives
Durban, Matola
Assess Walvis Bay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8" name="Inland">
            <a:extLst>
              <a:ext uri="{FF2B5EF4-FFF2-40B4-BE49-F238E27FC236}">
                <a16:creationId xmlns:a16="http://schemas.microsoft.com/office/drawing/2014/main" id="{6DE5F7CC-0E48-CEF6-8887-230FDB8586C9}"/>
              </a:ext>
            </a:extLst>
          </p:cNvPr>
          <p:cNvSpPr>
            <a:spLocks noGrp="1"/>
          </p:cNvSpPr>
          <p:nvPr/>
        </p:nvSpPr>
        <p:spPr>
          <a:xfrm>
            <a:off x="4343400" y="3073400"/>
            <a:ext cx="1524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Inland delivery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NMPP trunk line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Road and rail</a:t>
            </a:r>
          </a:p>
        </p:txBody>
      </p:sp>
      <p:sp>
        <p:nvSpPr>
          <p:cNvPr id="29" name="Coastal demand">
            <a:extLst>
              <a:ext uri="{FF2B5EF4-FFF2-40B4-BE49-F238E27FC236}">
                <a16:creationId xmlns:a16="http://schemas.microsoft.com/office/drawing/2014/main" id="{57507AA1-D9BB-C5C3-2D0D-F57B42E1B24B}"/>
              </a:ext>
            </a:extLst>
          </p:cNvPr>
          <p:cNvSpPr>
            <a:spLocks noGrp="1"/>
          </p:cNvSpPr>
          <p:nvPr/>
        </p:nvSpPr>
        <p:spPr>
          <a:xfrm>
            <a:off x="2667000" y="4140200"/>
            <a:ext cx="1524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Coastal demand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KZN, WC, EC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Port-adjacent markets</a:t>
            </a:r>
          </a:p>
        </p:txBody>
      </p:sp>
      <p:sp>
        <p:nvSpPr>
          <p:cNvPr id="30" name="Inland demand">
            <a:extLst>
              <a:ext uri="{FF2B5EF4-FFF2-40B4-BE49-F238E27FC236}">
                <a16:creationId xmlns:a16="http://schemas.microsoft.com/office/drawing/2014/main" id="{17D23A6F-391A-B4D0-0390-170FB56988A5}"/>
              </a:ext>
            </a:extLst>
          </p:cNvPr>
          <p:cNvSpPr>
            <a:spLocks noGrp="1"/>
          </p:cNvSpPr>
          <p:nvPr/>
        </p:nvSpPr>
        <p:spPr>
          <a:xfrm>
            <a:off x="4343400" y="4140200"/>
            <a:ext cx="1524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Inland demand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Gauteng and interior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Six inland provinces</a:t>
            </a:r>
          </a:p>
        </p:txBody>
      </p:sp>
      <p:sp>
        <p:nvSpPr>
          <p:cNvPr id="31" name="Supply and route parameters">
            <a:extLst>
              <a:ext uri="{FF2B5EF4-FFF2-40B4-BE49-F238E27FC236}">
                <a16:creationId xmlns:a16="http://schemas.microsoft.com/office/drawing/2014/main" id="{2AB4CDEB-D76D-6E84-27BA-C508DCB5FD97}"/>
              </a:ext>
            </a:extLst>
          </p:cNvPr>
          <p:cNvSpPr>
            <a:spLocks noGrp="1"/>
          </p:cNvSpPr>
          <p:nvPr/>
        </p:nvSpPr>
        <p:spPr>
          <a:xfrm>
            <a:off x="2667000" y="5207000"/>
            <a:ext cx="32004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Supply and route parameters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Refinery closures, restarts, gas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Delivered cost, routes, contracts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Port, pipeline, rail capacity</a:t>
            </a:r>
          </a:p>
        </p:txBody>
      </p:sp>
      <p:sp>
        <p:nvSpPr>
          <p:cNvPr id="32" name="Market sizing">
            <a:extLst>
              <a:ext uri="{FF2B5EF4-FFF2-40B4-BE49-F238E27FC236}">
                <a16:creationId xmlns:a16="http://schemas.microsoft.com/office/drawing/2014/main" id="{91CBF5AA-AFA2-4C43-CD42-91247C5EBFB1}"/>
              </a:ext>
            </a:extLst>
          </p:cNvPr>
          <p:cNvSpPr>
            <a:spLocks noGrp="1"/>
          </p:cNvSpPr>
          <p:nvPr/>
        </p:nvSpPr>
        <p:spPr>
          <a:xfrm>
            <a:off x="6172200" y="2006600"/>
            <a:ext cx="28575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Market context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2025 Durban customs 13.16B L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Catchments and gateway overlap</a:t>
            </a:r>
          </a:p>
        </p:txBody>
      </p:sp>
      <p:sp>
        <p:nvSpPr>
          <p:cNvPr id="33" name="Durban opportunity">
            <a:extLst>
              <a:ext uri="{FF2B5EF4-FFF2-40B4-BE49-F238E27FC236}">
                <a16:creationId xmlns:a16="http://schemas.microsoft.com/office/drawing/2014/main" id="{AD85D3EA-9660-11AF-4D62-53DF642A83A9}"/>
              </a:ext>
            </a:extLst>
          </p:cNvPr>
          <p:cNvSpPr>
            <a:spLocks noGrp="1"/>
          </p:cNvSpPr>
          <p:nvPr/>
        </p:nvSpPr>
        <p:spPr>
          <a:xfrm>
            <a:off x="6172200" y="3073400"/>
            <a:ext cx="13716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Durban context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Imports 13.16B L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KZN sales 4.28B L</a:t>
            </a:r>
          </a:p>
        </p:txBody>
      </p:sp>
      <p:sp>
        <p:nvSpPr>
          <p:cNvPr id="34" name="Lesedi opportunity">
            <a:extLst>
              <a:ext uri="{FF2B5EF4-FFF2-40B4-BE49-F238E27FC236}">
                <a16:creationId xmlns:a16="http://schemas.microsoft.com/office/drawing/2014/main" id="{63890191-72E5-0DCF-2859-0532EF4E4C33}"/>
              </a:ext>
            </a:extLst>
          </p:cNvPr>
          <p:cNvSpPr>
            <a:spLocks noGrp="1"/>
          </p:cNvSpPr>
          <p:nvPr/>
        </p:nvSpPr>
        <p:spPr>
          <a:xfrm>
            <a:off x="7658100" y="3073400"/>
            <a:ext cx="13716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Lesedi catchments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Gauteng 6.81B L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Inland 11.95B L</a:t>
            </a:r>
          </a:p>
        </p:txBody>
      </p:sp>
      <p:sp>
        <p:nvSpPr>
          <p:cNvPr id="35" name="Share">
            <a:extLst>
              <a:ext uri="{FF2B5EF4-FFF2-40B4-BE49-F238E27FC236}">
                <a16:creationId xmlns:a16="http://schemas.microsoft.com/office/drawing/2014/main" id="{824CBCA9-E304-3B46-C99C-02F33E9F9976}"/>
              </a:ext>
            </a:extLst>
          </p:cNvPr>
          <p:cNvSpPr>
            <a:spLocks noGrp="1"/>
          </p:cNvSpPr>
          <p:nvPr/>
        </p:nvSpPr>
        <p:spPr>
          <a:xfrm>
            <a:off x="6172200" y="4140200"/>
            <a:ext cx="28575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Conditional base capture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Durban 2.63B L, Lesedi 1.32B L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Lesedi included in Durban flow</a:t>
            </a:r>
          </a:p>
        </p:txBody>
      </p:sp>
      <p:sp>
        <p:nvSpPr>
          <p:cNvPr id="36" name="Headroom">
            <a:extLst>
              <a:ext uri="{FF2B5EF4-FFF2-40B4-BE49-F238E27FC236}">
                <a16:creationId xmlns:a16="http://schemas.microsoft.com/office/drawing/2014/main" id="{05E0AD0B-A792-4BDD-1EB7-B01AECA4226C}"/>
              </a:ext>
            </a:extLst>
          </p:cNvPr>
          <p:cNvSpPr>
            <a:spLocks noGrp="1"/>
          </p:cNvSpPr>
          <p:nvPr/>
        </p:nvSpPr>
        <p:spPr>
          <a:xfrm>
            <a:off x="6172200" y="5207000"/>
            <a:ext cx="28575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Incremental opportunity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Needs existing throughput baseline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Access and commitments unverified</a:t>
            </a:r>
          </a:p>
        </p:txBody>
      </p:sp>
      <p:sp>
        <p:nvSpPr>
          <p:cNvPr id="37" name="Additional capture">
            <a:extLst>
              <a:ext uri="{FF2B5EF4-FFF2-40B4-BE49-F238E27FC236}">
                <a16:creationId xmlns:a16="http://schemas.microsoft.com/office/drawing/2014/main" id="{6E600B91-FC4C-0363-791E-1A64E047C78A}"/>
              </a:ext>
            </a:extLst>
          </p:cNvPr>
          <p:cNvSpPr>
            <a:spLocks noGrp="1"/>
          </p:cNvSpPr>
          <p:nvPr/>
        </p:nvSpPr>
        <p:spPr>
          <a:xfrm>
            <a:off x="9334500" y="2006600"/>
            <a:ext cx="1778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Additional capture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Customers, contracts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Competition</a:t>
            </a:r>
          </a:p>
        </p:txBody>
      </p:sp>
      <p:sp>
        <p:nvSpPr>
          <p:cNvPr id="38" name="Existing capacity">
            <a:extLst>
              <a:ext uri="{FF2B5EF4-FFF2-40B4-BE49-F238E27FC236}">
                <a16:creationId xmlns:a16="http://schemas.microsoft.com/office/drawing/2014/main" id="{DFB2E8DF-FA37-1759-42B2-545E0BF9734F}"/>
              </a:ext>
            </a:extLst>
          </p:cNvPr>
          <p:cNvSpPr>
            <a:spLocks noGrp="1"/>
          </p:cNvSpPr>
          <p:nvPr/>
        </p:nvSpPr>
        <p:spPr>
          <a:xfrm>
            <a:off x="9334500" y="3073400"/>
            <a:ext cx="1778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Existing assets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Tanks and turns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Receipt and dispatch</a:t>
            </a:r>
          </a:p>
        </p:txBody>
      </p:sp>
      <p:sp>
        <p:nvSpPr>
          <p:cNvPr id="39" name="Investment economics">
            <a:extLst>
              <a:ext uri="{FF2B5EF4-FFF2-40B4-BE49-F238E27FC236}">
                <a16:creationId xmlns:a16="http://schemas.microsoft.com/office/drawing/2014/main" id="{060FE6FB-6025-293B-144C-0BFFB8319407}"/>
              </a:ext>
            </a:extLst>
          </p:cNvPr>
          <p:cNvSpPr>
            <a:spLocks noGrp="1"/>
          </p:cNvSpPr>
          <p:nvPr/>
        </p:nvSpPr>
        <p:spPr>
          <a:xfrm>
            <a:off x="9334500" y="4140200"/>
            <a:ext cx="1778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New investment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Volume, capex, returns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Alternatives, downside</a:t>
            </a:r>
          </a:p>
        </p:txBody>
      </p:sp>
      <p:sp>
        <p:nvSpPr>
          <p:cNvPr id="40" name="Resolution">
            <a:extLst>
              <a:ext uri="{FF2B5EF4-FFF2-40B4-BE49-F238E27FC236}">
                <a16:creationId xmlns:a16="http://schemas.microsoft.com/office/drawing/2014/main" id="{10B2C088-2253-7876-FF66-3F71B4F5F524}"/>
              </a:ext>
            </a:extLst>
          </p:cNvPr>
          <p:cNvSpPr>
            <a:spLocks noGrp="1"/>
          </p:cNvSpPr>
          <p:nvPr/>
        </p:nvSpPr>
        <p:spPr>
          <a:xfrm>
            <a:off x="9334500" y="5207000"/>
            <a:ext cx="1778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Resolution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Vopak share by site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Scope for investment</a:t>
            </a:r>
          </a:p>
        </p:txBody>
      </p:sp>
      <p:sp>
        <p:nvSpPr>
          <p:cNvPr id="41" name="National market tag">
            <a:extLst>
              <a:ext uri="{FF2B5EF4-FFF2-40B4-BE49-F238E27FC236}">
                <a16:creationId xmlns:a16="http://schemas.microsoft.com/office/drawing/2014/main" id="{8D1DF495-2867-B96E-BBC0-866DC91750D0}"/>
              </a:ext>
            </a:extLst>
          </p:cNvPr>
          <p:cNvSpPr>
            <a:spLocks noGrp="1"/>
          </p:cNvSpPr>
          <p:nvPr/>
        </p:nvSpPr>
        <p:spPr>
          <a:xfrm>
            <a:off x="533400" y="2705100"/>
            <a:ext cx="1752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lang="en-ZA"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2025 demand estimate</a:t>
            </a:r>
            <a:endParaRPr sz="900" b="1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2" name="Product demand tag">
            <a:extLst>
              <a:ext uri="{FF2B5EF4-FFF2-40B4-BE49-F238E27FC236}">
                <a16:creationId xmlns:a16="http://schemas.microsoft.com/office/drawing/2014/main" id="{506514FF-4240-195A-1129-AC4FE8DA6F4C}"/>
              </a:ext>
            </a:extLst>
          </p:cNvPr>
          <p:cNvSpPr>
            <a:spLocks noGrp="1"/>
          </p:cNvSpPr>
          <p:nvPr/>
        </p:nvSpPr>
        <p:spPr>
          <a:xfrm>
            <a:off x="533400" y="3771900"/>
            <a:ext cx="1752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lang="en-ZA"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2025 estimates</a:t>
            </a:r>
            <a:endParaRPr sz="900" b="1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3" name="Sector demand tag">
            <a:extLst>
              <a:ext uri="{FF2B5EF4-FFF2-40B4-BE49-F238E27FC236}">
                <a16:creationId xmlns:a16="http://schemas.microsoft.com/office/drawing/2014/main" id="{8249794E-311C-E01E-4EBA-076C8507785A}"/>
              </a:ext>
            </a:extLst>
          </p:cNvPr>
          <p:cNvSpPr>
            <a:spLocks noGrp="1"/>
          </p:cNvSpPr>
          <p:nvPr/>
        </p:nvSpPr>
        <p:spPr>
          <a:xfrm>
            <a:off x="533400" y="4838700"/>
            <a:ext cx="1752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lang="en-ZA"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2025 segment estimates</a:t>
            </a:r>
            <a:endParaRPr sz="900" b="1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4" name="Imports tag">
            <a:extLst>
              <a:ext uri="{FF2B5EF4-FFF2-40B4-BE49-F238E27FC236}">
                <a16:creationId xmlns:a16="http://schemas.microsoft.com/office/drawing/2014/main" id="{45D45AB1-1162-38C5-E090-A37FA7AA51E7}"/>
              </a:ext>
            </a:extLst>
          </p:cNvPr>
          <p:cNvSpPr>
            <a:spLocks noGrp="1"/>
          </p:cNvSpPr>
          <p:nvPr/>
        </p:nvSpPr>
        <p:spPr>
          <a:xfrm>
            <a:off x="2743200" y="27051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2025 gross 16.70B L</a:t>
            </a:r>
          </a:p>
        </p:txBody>
      </p:sp>
      <p:sp>
        <p:nvSpPr>
          <p:cNvPr id="45" name="Production tag">
            <a:extLst>
              <a:ext uri="{FF2B5EF4-FFF2-40B4-BE49-F238E27FC236}">
                <a16:creationId xmlns:a16="http://schemas.microsoft.com/office/drawing/2014/main" id="{201F4CC4-568A-0AF6-9662-B95C70B285AF}"/>
              </a:ext>
            </a:extLst>
          </p:cNvPr>
          <p:cNvSpPr>
            <a:spLocks noGrp="1"/>
          </p:cNvSpPr>
          <p:nvPr/>
        </p:nvSpPr>
        <p:spPr>
          <a:xfrm>
            <a:off x="4419600" y="27051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lang="en-ZA"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5.8bn L planning baseline</a:t>
            </a:r>
            <a:endParaRPr sz="900" b="1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6" name="Ports tag">
            <a:extLst>
              <a:ext uri="{FF2B5EF4-FFF2-40B4-BE49-F238E27FC236}">
                <a16:creationId xmlns:a16="http://schemas.microsoft.com/office/drawing/2014/main" id="{51B6C907-0FB6-0E43-7CE6-E139C7D0A042}"/>
              </a:ext>
            </a:extLst>
          </p:cNvPr>
          <p:cNvSpPr>
            <a:spLocks noGrp="1"/>
          </p:cNvSpPr>
          <p:nvPr/>
        </p:nvSpPr>
        <p:spPr>
          <a:xfrm>
            <a:off x="2743200" y="37719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2025 · Durban 13.2B L</a:t>
            </a:r>
          </a:p>
        </p:txBody>
      </p:sp>
      <p:sp>
        <p:nvSpPr>
          <p:cNvPr id="49" name="Inland tag">
            <a:extLst>
              <a:ext uri="{FF2B5EF4-FFF2-40B4-BE49-F238E27FC236}">
                <a16:creationId xmlns:a16="http://schemas.microsoft.com/office/drawing/2014/main" id="{17EC9F05-1A0A-C138-1FA5-7412DE30E3BA}"/>
              </a:ext>
            </a:extLst>
          </p:cNvPr>
          <p:cNvSpPr>
            <a:spLocks noGrp="1"/>
          </p:cNvSpPr>
          <p:nvPr/>
        </p:nvSpPr>
        <p:spPr>
          <a:xfrm>
            <a:off x="4419600" y="37719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FY25 use 5.46B L/yr</a:t>
            </a:r>
          </a:p>
        </p:txBody>
      </p:sp>
      <p:sp>
        <p:nvSpPr>
          <p:cNvPr id="50" name="Coastal demand tag">
            <a:extLst>
              <a:ext uri="{FF2B5EF4-FFF2-40B4-BE49-F238E27FC236}">
                <a16:creationId xmlns:a16="http://schemas.microsoft.com/office/drawing/2014/main" id="{956E9484-D3A6-A1C6-A247-860F334D3AC4}"/>
              </a:ext>
            </a:extLst>
          </p:cNvPr>
          <p:cNvSpPr>
            <a:spLocks noGrp="1"/>
          </p:cNvSpPr>
          <p:nvPr/>
        </p:nvSpPr>
        <p:spPr>
          <a:xfrm>
            <a:off x="2743200" y="48387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2022 · 10.0B L · proxy</a:t>
            </a:r>
          </a:p>
        </p:txBody>
      </p:sp>
      <p:sp>
        <p:nvSpPr>
          <p:cNvPr id="51" name="Inland demand tag">
            <a:extLst>
              <a:ext uri="{FF2B5EF4-FFF2-40B4-BE49-F238E27FC236}">
                <a16:creationId xmlns:a16="http://schemas.microsoft.com/office/drawing/2014/main" id="{9E107268-37A7-23B8-39C5-7A9C2AB058F2}"/>
              </a:ext>
            </a:extLst>
          </p:cNvPr>
          <p:cNvSpPr>
            <a:spLocks noGrp="1"/>
          </p:cNvSpPr>
          <p:nvPr/>
        </p:nvSpPr>
        <p:spPr>
          <a:xfrm>
            <a:off x="4419600" y="48387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2022 · 12.0B L · proxy</a:t>
            </a:r>
          </a:p>
        </p:txBody>
      </p:sp>
      <p:sp>
        <p:nvSpPr>
          <p:cNvPr id="52" name="Market sizing tag">
            <a:extLst>
              <a:ext uri="{FF2B5EF4-FFF2-40B4-BE49-F238E27FC236}">
                <a16:creationId xmlns:a16="http://schemas.microsoft.com/office/drawing/2014/main" id="{C096C2C5-D37B-3528-AA9C-63E04EEC5FF3}"/>
              </a:ext>
            </a:extLst>
          </p:cNvPr>
          <p:cNvSpPr>
            <a:spLocks noGrp="1"/>
          </p:cNvSpPr>
          <p:nvPr/>
        </p:nvSpPr>
        <p:spPr>
          <a:xfrm>
            <a:off x="6248400" y="2705100"/>
            <a:ext cx="27051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Gateway proxy; capture not observed</a:t>
            </a:r>
          </a:p>
        </p:txBody>
      </p:sp>
      <p:sp>
        <p:nvSpPr>
          <p:cNvPr id="53" name="Durban opportunity tag">
            <a:extLst>
              <a:ext uri="{FF2B5EF4-FFF2-40B4-BE49-F238E27FC236}">
                <a16:creationId xmlns:a16="http://schemas.microsoft.com/office/drawing/2014/main" id="{9E9902C2-0AF9-C9D5-B8FE-F017EB81602A}"/>
              </a:ext>
            </a:extLst>
          </p:cNvPr>
          <p:cNvSpPr>
            <a:spLocks noGrp="1"/>
          </p:cNvSpPr>
          <p:nvPr/>
        </p:nvSpPr>
        <p:spPr>
          <a:xfrm>
            <a:off x="6248400" y="3771900"/>
            <a:ext cx="12192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2025 / 2022 context</a:t>
            </a:r>
          </a:p>
        </p:txBody>
      </p:sp>
      <p:sp>
        <p:nvSpPr>
          <p:cNvPr id="54" name="Lesedi opportunity tag">
            <a:extLst>
              <a:ext uri="{FF2B5EF4-FFF2-40B4-BE49-F238E27FC236}">
                <a16:creationId xmlns:a16="http://schemas.microsoft.com/office/drawing/2014/main" id="{5B840FCC-C4C2-9CED-168F-98C14A7C2F24}"/>
              </a:ext>
            </a:extLst>
          </p:cNvPr>
          <p:cNvSpPr>
            <a:spLocks noGrp="1"/>
          </p:cNvSpPr>
          <p:nvPr/>
        </p:nvSpPr>
        <p:spPr>
          <a:xfrm>
            <a:off x="7734300" y="3771900"/>
            <a:ext cx="12192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2022 nested demand</a:t>
            </a:r>
          </a:p>
        </p:txBody>
      </p:sp>
      <p:sp>
        <p:nvSpPr>
          <p:cNvPr id="55" name="Share tag">
            <a:extLst>
              <a:ext uri="{FF2B5EF4-FFF2-40B4-BE49-F238E27FC236}">
                <a16:creationId xmlns:a16="http://schemas.microsoft.com/office/drawing/2014/main" id="{9D1D8A45-42BD-CA85-EB3F-5061EFCF24A3}"/>
              </a:ext>
            </a:extLst>
          </p:cNvPr>
          <p:cNvSpPr>
            <a:spLocks noGrp="1"/>
          </p:cNvSpPr>
          <p:nvPr/>
        </p:nvSpPr>
        <p:spPr>
          <a:xfrm>
            <a:off x="6248400" y="4838700"/>
            <a:ext cx="27051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lang="en-ZA"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Illustrative capture</a:t>
            </a:r>
            <a:endParaRPr sz="900" b="1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6" name="Headroom tag">
            <a:extLst>
              <a:ext uri="{FF2B5EF4-FFF2-40B4-BE49-F238E27FC236}">
                <a16:creationId xmlns:a16="http://schemas.microsoft.com/office/drawing/2014/main" id="{2F7794D4-8CCE-E4F1-4E7A-13708B4520F0}"/>
              </a:ext>
            </a:extLst>
          </p:cNvPr>
          <p:cNvSpPr>
            <a:spLocks noGrp="1"/>
          </p:cNvSpPr>
          <p:nvPr/>
        </p:nvSpPr>
        <p:spPr>
          <a:xfrm>
            <a:off x="6248400" y="5905500"/>
            <a:ext cx="27051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>
                <a:solidFill>
                  <a:srgbClr val="808080"/>
                </a:solidFill>
                <a:latin typeface="Lato"/>
                <a:ea typeface="Lato"/>
                <a:cs typeface="Lato"/>
              </a:rPr>
              <a:t>Pending · DR02/05</a:t>
            </a:r>
          </a:p>
        </p:txBody>
      </p:sp>
      <p:sp>
        <p:nvSpPr>
          <p:cNvPr id="57" name="Additional capture tag">
            <a:extLst>
              <a:ext uri="{FF2B5EF4-FFF2-40B4-BE49-F238E27FC236}">
                <a16:creationId xmlns:a16="http://schemas.microsoft.com/office/drawing/2014/main" id="{D3F3C301-3CD5-70ED-3897-AC853D7F1384}"/>
              </a:ext>
            </a:extLst>
          </p:cNvPr>
          <p:cNvSpPr>
            <a:spLocks noGrp="1"/>
          </p:cNvSpPr>
          <p:nvPr/>
        </p:nvSpPr>
        <p:spPr>
          <a:xfrm>
            <a:off x="9410700" y="2705100"/>
            <a:ext cx="1625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>
                <a:solidFill>
                  <a:srgbClr val="808080"/>
                </a:solidFill>
                <a:latin typeface="Lato"/>
                <a:ea typeface="Lato"/>
                <a:cs typeface="Lato"/>
              </a:rPr>
              <a:t>Pending · DR02/05</a:t>
            </a:r>
          </a:p>
        </p:txBody>
      </p:sp>
      <p:sp>
        <p:nvSpPr>
          <p:cNvPr id="58" name="Existing capacity tag">
            <a:extLst>
              <a:ext uri="{FF2B5EF4-FFF2-40B4-BE49-F238E27FC236}">
                <a16:creationId xmlns:a16="http://schemas.microsoft.com/office/drawing/2014/main" id="{7033E250-411E-32FA-83F3-A34FD61AA039}"/>
              </a:ext>
            </a:extLst>
          </p:cNvPr>
          <p:cNvSpPr>
            <a:spLocks noGrp="1"/>
          </p:cNvSpPr>
          <p:nvPr/>
        </p:nvSpPr>
        <p:spPr>
          <a:xfrm>
            <a:off x="9410700" y="3771900"/>
            <a:ext cx="1625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>
                <a:solidFill>
                  <a:srgbClr val="808080"/>
                </a:solidFill>
                <a:latin typeface="Lato"/>
                <a:ea typeface="Lato"/>
                <a:cs typeface="Lato"/>
              </a:rPr>
              <a:t>Pending · DR03</a:t>
            </a:r>
          </a:p>
        </p:txBody>
      </p:sp>
      <p:sp>
        <p:nvSpPr>
          <p:cNvPr id="59" name="Investment economics tag">
            <a:extLst>
              <a:ext uri="{FF2B5EF4-FFF2-40B4-BE49-F238E27FC236}">
                <a16:creationId xmlns:a16="http://schemas.microsoft.com/office/drawing/2014/main" id="{1A45A8CC-C6B7-7080-3CEA-0E352F2696E8}"/>
              </a:ext>
            </a:extLst>
          </p:cNvPr>
          <p:cNvSpPr>
            <a:spLocks noGrp="1"/>
          </p:cNvSpPr>
          <p:nvPr/>
        </p:nvSpPr>
        <p:spPr>
          <a:xfrm>
            <a:off x="9410700" y="4838700"/>
            <a:ext cx="1625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>
                <a:solidFill>
                  <a:srgbClr val="808080"/>
                </a:solidFill>
                <a:latin typeface="Lato"/>
                <a:ea typeface="Lato"/>
                <a:cs typeface="Lato"/>
              </a:rPr>
              <a:t>Pending · DR06</a:t>
            </a:r>
          </a:p>
        </p:txBody>
      </p:sp>
      <p:cxnSp>
        <p:nvCxnSpPr>
          <p:cNvPr id="159" name="Product sums to consumption"/>
          <p:cNvCxnSpPr>
            <a:stCxn id="22" idx="0"/>
            <a:endCxn id="21" idx="2"/>
          </p:cNvCxnSpPr>
          <p:nvPr/>
        </p:nvCxnSpPr>
        <p:spPr>
          <a:xfrm flipV="1">
            <a:off x="1409700" y="28956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Uses determine product demand"/>
          <p:cNvCxnSpPr>
            <a:stCxn id="23" idx="0"/>
            <a:endCxn id="22" idx="2"/>
          </p:cNvCxnSpPr>
          <p:nvPr/>
        </p:nvCxnSpPr>
        <p:spPr>
          <a:xfrm flipV="1">
            <a:off x="1409700" y="39624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Demand parameter effect"/>
          <p:cNvCxnSpPr>
            <a:stCxn id="24" idx="0"/>
            <a:endCxn id="23" idx="2"/>
          </p:cNvCxnSpPr>
          <p:nvPr/>
        </p:nvCxnSpPr>
        <p:spPr>
          <a:xfrm flipV="1">
            <a:off x="1409700" y="50292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Demand sets import requirement"/>
          <p:cNvCxnSpPr>
            <a:stCxn id="21" idx="3"/>
            <a:endCxn id="25" idx="1"/>
          </p:cNvCxnSpPr>
          <p:nvPr/>
        </p:nvCxnSpPr>
        <p:spPr>
          <a:xfrm>
            <a:off x="2362200" y="2451100"/>
            <a:ext cx="304800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Imports land at ports"/>
          <p:cNvCxnSpPr>
            <a:stCxn id="25" idx="2"/>
            <a:endCxn id="27" idx="0"/>
          </p:cNvCxnSpPr>
          <p:nvPr/>
        </p:nvCxnSpPr>
        <p:spPr>
          <a:xfrm>
            <a:off x="3429000" y="28956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Domestic output moves inland"/>
          <p:cNvCxnSpPr>
            <a:stCxn id="26" idx="2"/>
            <a:endCxn id="28" idx="0"/>
          </p:cNvCxnSpPr>
          <p:nvPr/>
        </p:nvCxnSpPr>
        <p:spPr>
          <a:xfrm>
            <a:off x="5105400" y="28956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Ports to inland delivery"/>
          <p:cNvCxnSpPr>
            <a:stCxn id="27" idx="3"/>
            <a:endCxn id="28" idx="1"/>
          </p:cNvCxnSpPr>
          <p:nvPr/>
        </p:nvCxnSpPr>
        <p:spPr>
          <a:xfrm>
            <a:off x="4191000" y="3517900"/>
            <a:ext cx="152400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Ports serve coastal demand"/>
          <p:cNvCxnSpPr>
            <a:stCxn id="27" idx="2"/>
            <a:endCxn id="29" idx="0"/>
          </p:cNvCxnSpPr>
          <p:nvPr/>
        </p:nvCxnSpPr>
        <p:spPr>
          <a:xfrm>
            <a:off x="3429000" y="39624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Inland delivery serves inland demand"/>
          <p:cNvCxnSpPr>
            <a:stCxn id="28" idx="2"/>
            <a:endCxn id="30" idx="0"/>
          </p:cNvCxnSpPr>
          <p:nvPr/>
        </p:nvCxnSpPr>
        <p:spPr>
          <a:xfrm>
            <a:off x="5105400" y="39624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upply parameter effect on coastal"/>
          <p:cNvCxnSpPr>
            <a:endCxn id="29" idx="2"/>
          </p:cNvCxnSpPr>
          <p:nvPr/>
        </p:nvCxnSpPr>
        <p:spPr>
          <a:xfrm flipV="1">
            <a:off x="3429000" y="50292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upply parameter effect on inland"/>
          <p:cNvCxnSpPr>
            <a:endCxn id="30" idx="2"/>
          </p:cNvCxnSpPr>
          <p:nvPr/>
        </p:nvCxnSpPr>
        <p:spPr>
          <a:xfrm flipV="1">
            <a:off x="5105400" y="50292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Routes into market sizing"/>
          <p:cNvCxnSpPr>
            <a:stCxn id="28" idx="3"/>
            <a:endCxn id="32" idx="1"/>
          </p:cNvCxnSpPr>
          <p:nvPr/>
        </p:nvCxnSpPr>
        <p:spPr>
          <a:xfrm flipV="1">
            <a:off x="5867400" y="2451100"/>
            <a:ext cx="304800" cy="1066800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Destinations into market sizing"/>
          <p:cNvCxnSpPr>
            <a:stCxn id="30" idx="3"/>
            <a:endCxn id="32" idx="1"/>
          </p:cNvCxnSpPr>
          <p:nvPr/>
        </p:nvCxnSpPr>
        <p:spPr>
          <a:xfrm flipV="1">
            <a:off x="5867400" y="2451100"/>
            <a:ext cx="304800" cy="2133600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Market sizing to Durban"/>
          <p:cNvCxnSpPr>
            <a:endCxn id="33" idx="0"/>
          </p:cNvCxnSpPr>
          <p:nvPr/>
        </p:nvCxnSpPr>
        <p:spPr>
          <a:xfrm>
            <a:off x="6858000" y="28956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Market sizing to Lesedi"/>
          <p:cNvCxnSpPr>
            <a:endCxn id="34" idx="0"/>
          </p:cNvCxnSpPr>
          <p:nvPr/>
        </p:nvCxnSpPr>
        <p:spPr>
          <a:xfrm>
            <a:off x="8343900" y="28956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Durban into share"/>
          <p:cNvCxnSpPr/>
          <p:nvPr/>
        </p:nvCxnSpPr>
        <p:spPr>
          <a:xfrm>
            <a:off x="6858000" y="39624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Lesedi into share"/>
          <p:cNvCxnSpPr/>
          <p:nvPr/>
        </p:nvCxnSpPr>
        <p:spPr>
          <a:xfrm>
            <a:off x="8343900" y="39624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hare to headroom"/>
          <p:cNvCxnSpPr>
            <a:stCxn id="35" idx="2"/>
            <a:endCxn id="36" idx="0"/>
          </p:cNvCxnSpPr>
          <p:nvPr/>
        </p:nvCxnSpPr>
        <p:spPr>
          <a:xfrm>
            <a:off x="7600950" y="50292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Headroom into investment"/>
          <p:cNvCxnSpPr>
            <a:stCxn id="36" idx="3"/>
            <a:endCxn id="37" idx="1"/>
          </p:cNvCxnSpPr>
          <p:nvPr/>
        </p:nvCxnSpPr>
        <p:spPr>
          <a:xfrm flipV="1">
            <a:off x="9029700" y="2451100"/>
            <a:ext cx="304800" cy="3200400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Capture to capacity"/>
          <p:cNvCxnSpPr>
            <a:stCxn id="37" idx="2"/>
            <a:endCxn id="38" idx="0"/>
          </p:cNvCxnSpPr>
          <p:nvPr/>
        </p:nvCxnSpPr>
        <p:spPr>
          <a:xfrm>
            <a:off x="10223500" y="28956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apacity to returns"/>
          <p:cNvCxnSpPr>
            <a:stCxn id="38" idx="2"/>
            <a:endCxn id="39" idx="0"/>
          </p:cNvCxnSpPr>
          <p:nvPr/>
        </p:nvCxnSpPr>
        <p:spPr>
          <a:xfrm>
            <a:off x="10223500" y="39624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Returns to resolution"/>
          <p:cNvCxnSpPr>
            <a:stCxn id="39" idx="2"/>
            <a:endCxn id="40" idx="0"/>
          </p:cNvCxnSpPr>
          <p:nvPr/>
        </p:nvCxnSpPr>
        <p:spPr>
          <a:xfrm>
            <a:off x="10223500" y="50292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brand-pptx section navigation">
            <a:extLst>
              <a:ext uri="{FF2B5EF4-FFF2-40B4-BE49-F238E27FC236}">
                <a16:creationId xmlns:a16="http://schemas.microsoft.com/office/drawing/2014/main" id="{A21C21CE-E3AA-DFBD-8C57-8D68305A32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101540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801835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How the national fuel market translates into Vopak’s addressable volume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12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172200"/>
            <a:ext cx="10648950" cy="23812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563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563">
                <a:solidFill>
                  <a:srgbClr val="111111"/>
                </a:solidFill>
                <a:latin typeface="Lato"/>
                <a:ea typeface="Lato"/>
                <a:cs typeface="Lato"/>
              </a:rPr>
              <a:t>Framework: analytical workbook v02 and market-sizing workbook. Gateway shares and customer access require validation. Walvis Bay is a route to assess; no diversion volume is assigned. Stock build increases import need; stock draw reduces it.</a:t>
            </a:r>
            <a:endParaRPr sz="65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graphicFrame>
        <p:nvGraphicFramePr>
          <p:cNvPr id="55" name="Table 54"/>
          <p:cNvGraphicFramePr/>
          <p:nvPr/>
        </p:nvGraphicFramePr>
        <p:xfrm>
          <a:off x="457200" y="1657350"/>
          <a:ext cx="10648950" cy="4038600"/>
        </p:xfrm>
        <a:graphic>
          <a:graphicData uri="http://schemas.openxmlformats.org/drawingml/2006/table">
            <a:tbl>
              <a:tblPr/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2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Sizing step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Basis for the calculation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Market measure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1  National demand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Petrol and diesel by end use: road, mining, manufacturing, agriculture and power. Apply activity, rail and efficiency drivers.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21.0bn L in 2025</a:t>
                      </a:r>
                    </a:p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Estimated demand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2  Import requirement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Demand − domestic production + exports + stock build (or − stock draw).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16.7bn L in 2025</a:t>
                      </a:r>
                    </a:p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Gross import need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3  Ports and inland routes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Allocate imports across ports; assess pipeline, road and rail connections. Compare Durban with Matola and potential Walvis Bay routes.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Supply pool by catchment</a:t>
                      </a:r>
                    </a:p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Route shares to establish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4  Addressable market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Size product and customer flows Durban and Lesedi can each serve, by catchment, logistics access and competing supply. Reconcile shared flows.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Addressable volume</a:t>
                      </a:r>
                    </a:p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By site, product and customer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5  Achievable capture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Establish current Vopak throughput, volumes retained and additional customer volumes it can win. Assess competition and contracts; count shared fuel once.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Current + incremental capture</a:t>
                      </a:r>
                    </a:p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By site and customer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6  Capacity and investment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Compare captured throughput with usable tanks, stock turns, receipt and dispatch capacity; identify the incremental constraint.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Capacity shortfall</a:t>
                      </a:r>
                    </a:p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Basis for investment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0" name="M takeaway">
            <a:extLst>
              <a:ext uri="{FF2B5EF4-FFF2-40B4-BE49-F238E27FC236}">
                <a16:creationId xmlns:a16="http://schemas.microsoft.com/office/drawing/2014/main" id="{494014AF-E149-4482-8FCD-16CEC0025A82}"/>
              </a:ext>
            </a:extLst>
          </p:cNvPr>
          <p:cNvSpPr>
            <a:spLocks noGrp="1"/>
          </p:cNvSpPr>
          <p:nvPr/>
        </p:nvSpPr>
        <p:spPr>
          <a:xfrm>
            <a:off x="457200" y="5829300"/>
            <a:ext cx="106489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Steps 4–5 size Vopak’s opportunity: addressable customer flows, then achievable capture.</a:t>
            </a:r>
          </a:p>
        </p:txBody>
      </p:sp>
      <p:graphicFrame>
        <p:nvGraphicFramePr>
          <p:cNvPr id="5011" name="brand-pptx section navigation">
            <a:extLst>
              <a:ext uri="{FF2B5EF4-FFF2-40B4-BE49-F238E27FC236}">
                <a16:creationId xmlns:a16="http://schemas.microsoft.com/office/drawing/2014/main" id="{3C81AA2F-B17F-2F36-2EA7-40E65BDD80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33657269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Substantial imports sustain the market, while customer capture determines Vopak’s expansion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13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172200"/>
            <a:ext cx="10648950" cy="23812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563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563">
                <a:solidFill>
                  <a:srgbClr val="111111"/>
                </a:solidFill>
                <a:latin typeface="Lato"/>
                <a:ea typeface="Lato"/>
                <a:cs typeface="Lato"/>
              </a:rPr>
              <a:t>Analytical workbook v02 base scenario; market-sizing workbook and working-capacity assessment. Capture is illustrative; Lesedi is included within Durban flow. Contracted share, product balance and usable capacity remain to be established.</a:t>
            </a:r>
            <a:endParaRPr sz="65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49" name="R import number">
            <a:extLst>
              <a:ext uri="{FF2B5EF4-FFF2-40B4-BE49-F238E27FC236}">
                <a16:creationId xmlns:a16="http://schemas.microsoft.com/office/drawing/2014/main" id="{260BAFE8-15A8-41E9-B151-B19C2116E893}"/>
              </a:ext>
            </a:extLst>
          </p:cNvPr>
          <p:cNvSpPr>
            <a:spLocks noGrp="1"/>
          </p:cNvSpPr>
          <p:nvPr/>
        </p:nvSpPr>
        <p:spPr>
          <a:xfrm>
            <a:off x="457200" y="1752600"/>
            <a:ext cx="319087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31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16.6bn L</a:t>
            </a:r>
          </a:p>
        </p:txBody>
      </p:sp>
      <p:sp>
        <p:nvSpPr>
          <p:cNvPr id="50" name="R import label">
            <a:extLst>
              <a:ext uri="{FF2B5EF4-FFF2-40B4-BE49-F238E27FC236}">
                <a16:creationId xmlns:a16="http://schemas.microsoft.com/office/drawing/2014/main" id="{C9FFBA8D-480C-4A1F-A8C7-B8EB1088BA82}"/>
              </a:ext>
            </a:extLst>
          </p:cNvPr>
          <p:cNvSpPr>
            <a:spLocks noGrp="1"/>
          </p:cNvSpPr>
          <p:nvPr/>
        </p:nvSpPr>
        <p:spPr>
          <a:xfrm>
            <a:off x="457200" y="2390775"/>
            <a:ext cx="319087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2030 national imports</a:t>
            </a:r>
          </a:p>
        </p:txBody>
      </p:sp>
      <p:sp>
        <p:nvSpPr>
          <p:cNvPr id="51" name="R import explanation">
            <a:extLst>
              <a:ext uri="{FF2B5EF4-FFF2-40B4-BE49-F238E27FC236}">
                <a16:creationId xmlns:a16="http://schemas.microsoft.com/office/drawing/2014/main" id="{23C30C66-5E1C-44A5-B25D-90D8061177E8}"/>
              </a:ext>
            </a:extLst>
          </p:cNvPr>
          <p:cNvSpPr>
            <a:spLocks noGrp="1"/>
          </p:cNvSpPr>
          <p:nvPr/>
        </p:nvSpPr>
        <p:spPr>
          <a:xfrm>
            <a:off x="457200" y="2895600"/>
            <a:ext cx="3190875" cy="1524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Base-case imports across all gateways. Activity growth broadly offsets power, rail and efficiency reductions; domestic production stays at 5.8bn litres.</a:t>
            </a:r>
          </a:p>
        </p:txBody>
      </p:sp>
      <p:sp>
        <p:nvSpPr>
          <p:cNvPr id="52" name="R capture number">
            <a:extLst>
              <a:ext uri="{FF2B5EF4-FFF2-40B4-BE49-F238E27FC236}">
                <a16:creationId xmlns:a16="http://schemas.microsoft.com/office/drawing/2014/main" id="{73F80A3F-D9B3-4000-A4AB-8E2E01D3C4A7}"/>
              </a:ext>
            </a:extLst>
          </p:cNvPr>
          <p:cNvSpPr>
            <a:spLocks noGrp="1"/>
          </p:cNvSpPr>
          <p:nvPr/>
        </p:nvSpPr>
        <p:spPr>
          <a:xfrm>
            <a:off x="4191000" y="1752600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31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2.63bn L</a:t>
            </a:r>
          </a:p>
        </p:txBody>
      </p:sp>
      <p:sp>
        <p:nvSpPr>
          <p:cNvPr id="53" name="R capture label">
            <a:extLst>
              <a:ext uri="{FF2B5EF4-FFF2-40B4-BE49-F238E27FC236}">
                <a16:creationId xmlns:a16="http://schemas.microsoft.com/office/drawing/2014/main" id="{EE6602FD-9CFB-455B-B275-89691F622F23}"/>
              </a:ext>
            </a:extLst>
          </p:cNvPr>
          <p:cNvSpPr>
            <a:spLocks noGrp="1"/>
          </p:cNvSpPr>
          <p:nvPr/>
        </p:nvSpPr>
        <p:spPr>
          <a:xfrm>
            <a:off x="4191000" y="2390775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Illustrative Durban capture</a:t>
            </a:r>
          </a:p>
        </p:txBody>
      </p:sp>
      <p:sp>
        <p:nvSpPr>
          <p:cNvPr id="54" name="R capture explanation">
            <a:extLst>
              <a:ext uri="{FF2B5EF4-FFF2-40B4-BE49-F238E27FC236}">
                <a16:creationId xmlns:a16="http://schemas.microsoft.com/office/drawing/2014/main" id="{554DE4F0-5279-41A6-99D7-8E85850A18E9}"/>
              </a:ext>
            </a:extLst>
          </p:cNvPr>
          <p:cNvSpPr>
            <a:spLocks noGrp="1"/>
          </p:cNvSpPr>
          <p:nvPr/>
        </p:nvSpPr>
        <p:spPr>
          <a:xfrm>
            <a:off x="4191000" y="3086100"/>
            <a:ext cx="3238500" cy="1819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Assumes 20% of Durban’s 2025 import pool. Includes 1.32bn litres onward through Lesedi within the same fuel flow.</a:t>
            </a:r>
          </a:p>
          <a:p>
            <a:endParaRPr sz="150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Illustrative share; no explicit deduction for Matola or Walvis Bay diversion.</a:t>
            </a:r>
          </a:p>
        </p:txBody>
      </p:sp>
      <p:sp>
        <p:nvSpPr>
          <p:cNvPr id="55" name="R investment header">
            <a:extLst>
              <a:ext uri="{FF2B5EF4-FFF2-40B4-BE49-F238E27FC236}">
                <a16:creationId xmlns:a16="http://schemas.microsoft.com/office/drawing/2014/main" id="{6A925A1A-A629-4397-BA11-F03C2572F53B}"/>
              </a:ext>
            </a:extLst>
          </p:cNvPr>
          <p:cNvSpPr>
            <a:spLocks noGrp="1"/>
          </p:cNvSpPr>
          <p:nvPr/>
        </p:nvSpPr>
        <p:spPr>
          <a:xfrm>
            <a:off x="7953375" y="1838325"/>
            <a:ext cx="3152775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Expansion follows</a:t>
            </a:r>
          </a:p>
          <a:p>
            <a:pPr>
              <a:defRPr sz="18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secured incremental flow</a:t>
            </a:r>
          </a:p>
        </p:txBody>
      </p:sp>
      <p:sp>
        <p:nvSpPr>
          <p:cNvPr id="56" name="R investment explanation">
            <a:extLst>
              <a:ext uri="{FF2B5EF4-FFF2-40B4-BE49-F238E27FC236}">
                <a16:creationId xmlns:a16="http://schemas.microsoft.com/office/drawing/2014/main" id="{8186998E-16B1-4433-9175-288EE1C95EF8}"/>
              </a:ext>
            </a:extLst>
          </p:cNvPr>
          <p:cNvSpPr>
            <a:spLocks noGrp="1"/>
          </p:cNvSpPr>
          <p:nvPr/>
        </p:nvSpPr>
        <p:spPr>
          <a:xfrm>
            <a:off x="7953375" y="2933700"/>
            <a:ext cx="3152775" cy="1990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The illustrative flow fits the preliminary working-tank calculation.</a:t>
            </a:r>
          </a:p>
          <a:p>
            <a:endParaRPr sz="150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Secure additional customer volumes, establish usable capacity, and identify the constraint that investment would solve.</a:t>
            </a:r>
          </a:p>
        </p:txBody>
      </p:sp>
      <p:sp>
        <p:nvSpPr>
          <p:cNvPr id="57" name="R bottom rule">
            <a:extLst>
              <a:ext uri="{FF2B5EF4-FFF2-40B4-BE49-F238E27FC236}">
                <a16:creationId xmlns:a16="http://schemas.microsoft.com/office/drawing/2014/main" id="{1DD97E1A-8A77-4409-8E52-CAB8F618A46A}"/>
              </a:ext>
            </a:extLst>
          </p:cNvPr>
          <p:cNvSpPr>
            <a:spLocks noGrp="1"/>
          </p:cNvSpPr>
          <p:nvPr/>
        </p:nvSpPr>
        <p:spPr>
          <a:xfrm>
            <a:off x="457200" y="5305425"/>
            <a:ext cx="10648950" cy="9525"/>
          </a:xfrm>
          <a:prstGeom prst="rect">
            <a:avLst/>
          </a:prstGeom>
          <a:solidFill>
            <a:srgbClr val="C5C5C5"/>
          </a:solidFill>
          <a:ln w="0">
            <a:noFill/>
          </a:ln>
        </p:spPr>
      </p:sp>
      <p:sp>
        <p:nvSpPr>
          <p:cNvPr id="58" name="R takeaway">
            <a:extLst>
              <a:ext uri="{FF2B5EF4-FFF2-40B4-BE49-F238E27FC236}">
                <a16:creationId xmlns:a16="http://schemas.microsoft.com/office/drawing/2014/main" id="{9484190C-CA09-41A4-9196-410D3AB213F5}"/>
              </a:ext>
            </a:extLst>
          </p:cNvPr>
          <p:cNvSpPr>
            <a:spLocks noGrp="1"/>
          </p:cNvSpPr>
          <p:nvPr/>
        </p:nvSpPr>
        <p:spPr>
          <a:xfrm>
            <a:off x="457200" y="5619750"/>
            <a:ext cx="106489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Invest where secured additional volumes create a demonstrated capacity shortfall.</a:t>
            </a:r>
          </a:p>
        </p:txBody>
      </p:sp>
      <p:graphicFrame>
        <p:nvGraphicFramePr>
          <p:cNvPr id="5012" name="brand-pptx section navigation">
            <a:extLst>
              <a:ext uri="{FF2B5EF4-FFF2-40B4-BE49-F238E27FC236}">
                <a16:creationId xmlns:a16="http://schemas.microsoft.com/office/drawing/2014/main" id="{3C81AA2F-B17F-2F36-2EA7-40E65BDD80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33657269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C39121-817A-4D3C-899A-D0A0C1F589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5887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6" name="Picture 2"/>
          <p:cNvPicPr>
            <a:picLocks noChangeAspect="1"/>
          </p:cNvPicPr>
          <p:nvPr/>
        </p:nvPicPr>
        <p:blipFill>
          <a:blip r:embed="rId3"/>
          <a:srcRect l="21836" r="21836"/>
          <a:stretch>
            <a:fillRect/>
          </a:stretch>
        </p:blipFill>
        <p:spPr>
          <a:xfrm>
            <a:off x="5794375" y="0"/>
            <a:ext cx="5794375" cy="6858000"/>
          </a:xfrm>
          <a:prstGeom prst="rect">
            <a:avLst/>
          </a:prstGeom>
        </p:spPr>
      </p:pic>
      <p:pic>
        <p:nvPicPr>
          <p:cNvPr id="17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02920" y="457200"/>
            <a:ext cx="1965960" cy="4386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D954C5-04DB-4280-B44C-D964E6C9CDDA}"/>
              </a:ext>
            </a:extLst>
          </p:cNvPr>
          <p:cNvSpPr>
            <a:spLocks noGrp="1"/>
          </p:cNvSpPr>
          <p:nvPr/>
        </p:nvSpPr>
        <p:spPr>
          <a:xfrm>
            <a:off x="594360" y="2468880"/>
            <a:ext cx="4709160" cy="163634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3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Connector 5">
            <a:extLst>
              <a:ext uri="{FF2B5EF4-FFF2-40B4-BE49-F238E27FC236}">
                <a16:creationId xmlns:a16="http://schemas.microsoft.com/office/drawing/2014/main" id="{8AC3AB0E-746B-4AF6-ABCD-D6526DA2BFFE}"/>
              </a:ext>
            </a:extLst>
          </p:cNvPr>
          <p:cNvSpPr>
            <a:spLocks noGrp="1"/>
          </p:cNvSpPr>
          <p:nvPr/>
        </p:nvSpPr>
        <p:spPr>
          <a:xfrm>
            <a:off x="594360" y="4251960"/>
            <a:ext cx="4617720" cy="0"/>
          </a:xfrm>
          <a:prstGeom prst="line">
            <a:avLst/>
          </a:prstGeom>
          <a:ln w="76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702DF3-0D72-4A19-ADCB-903E36583053}"/>
              </a:ext>
            </a:extLst>
          </p:cNvPr>
          <p:cNvSpPr>
            <a:spLocks noGrp="1"/>
          </p:cNvSpPr>
          <p:nvPr/>
        </p:nvSpPr>
        <p:spPr>
          <a:xfrm>
            <a:off x="594360" y="4617720"/>
            <a:ext cx="4572000" cy="5232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2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700">
                <a:solidFill>
                  <a:srgbClr val="FFFFFF"/>
                </a:solidFill>
              </a:rPr>
              <a:t>South Africa fuel market and Vopak opportunity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CB190A-7488-44E1-8968-36FDC90EDA0B}"/>
              </a:ext>
            </a:extLst>
          </p:cNvPr>
          <p:cNvSpPr>
            <a:spLocks noGrp="1"/>
          </p:cNvSpPr>
          <p:nvPr/>
        </p:nvSpPr>
        <p:spPr>
          <a:xfrm>
            <a:off x="594360" y="5239512"/>
            <a:ext cx="4572000" cy="20005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13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Discussion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08E6D2-5587-493C-AED5-50FFAEFBCE44}"/>
              </a:ext>
            </a:extLst>
          </p:cNvPr>
          <p:cNvSpPr>
            <a:spLocks noGrp="1"/>
          </p:cNvSpPr>
          <p:nvPr/>
        </p:nvSpPr>
        <p:spPr>
          <a:xfrm>
            <a:off x="594360" y="5696712"/>
            <a:ext cx="4572000" cy="20005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13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11 October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A94E5E-E17D-406B-B780-6593F829C0CA}"/>
              </a:ext>
            </a:extLst>
          </p:cNvPr>
          <p:cNvSpPr>
            <a:spLocks noGrp="1"/>
          </p:cNvSpPr>
          <p:nvPr/>
        </p:nvSpPr>
        <p:spPr>
          <a:xfrm>
            <a:off x="594360" y="6053328"/>
            <a:ext cx="4572000" cy="36933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12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endParaRPr sz="1200">
              <a:solidFill>
                <a:srgbClr val="FFFFFF"/>
              </a:solidFill>
            </a:endParaRPr>
          </a:p>
        </p:txBody>
      </p:sp>
      <p:sp>
        <p:nvSpPr>
          <p:cNvPr id="11" name="Photo source credit">
            <a:extLst>
              <a:ext uri="{FF2B5EF4-FFF2-40B4-BE49-F238E27FC236}">
                <a16:creationId xmlns:a16="http://schemas.microsoft.com/office/drawing/2014/main" id="{605235CD-EC7B-4D28-A4DA-C6360164F0A7}"/>
              </a:ext>
            </a:extLst>
          </p:cNvPr>
          <p:cNvSpPr>
            <a:spLocks noGrp="1"/>
          </p:cNvSpPr>
          <p:nvPr/>
        </p:nvSpPr>
        <p:spPr>
          <a:xfrm>
            <a:off x="594360" y="6400800"/>
            <a:ext cx="4754880" cy="16459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800"/>
              </a:spcAft>
              <a:buNone/>
              <a:defRPr sz="8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Photo source: Royal Vopak | Terminal Durban | vopak.com</a:t>
            </a:r>
          </a:p>
        </p:txBody>
      </p:sp>
      <p:sp>
        <p:nvSpPr>
          <p:cNvPr id="12" name="Strictly Confidential footer">
            <a:extLst>
              <a:ext uri="{FF2B5EF4-FFF2-40B4-BE49-F238E27FC236}">
                <a16:creationId xmlns:a16="http://schemas.microsoft.com/office/drawing/2014/main" id="{ED5236C5-84CC-47CC-8ACF-9C81666786AA}"/>
              </a:ext>
            </a:extLst>
          </p:cNvPr>
          <p:cNvSpPr>
            <a:spLocks noGrp="1"/>
          </p:cNvSpPr>
          <p:nvPr/>
        </p:nvSpPr>
        <p:spPr>
          <a:xfrm>
            <a:off x="59436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BDBEC1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745302315"/>
      </p:ext>
    </p:extLst>
  </p:cSld>
  <p:clrMapOvr>
    <a:masterClrMapping/>
  </p:clrMapOvr>
</p:sld>
</file>

<file path=ppt/theme/theme1.xml><?xml version="1.0" encoding="utf-8"?>
<a:theme xmlns:a="http://schemas.openxmlformats.org/drawingml/2006/main" name="Vopak Theme">
  <a:themeElements>
    <a:clrScheme name="Vopak">
      <a:dk1>
        <a:srgbClr val="000000"/>
      </a:dk1>
      <a:lt1>
        <a:srgbClr val="FFFFFF"/>
      </a:lt1>
      <a:dk2>
        <a:srgbClr val="11151A"/>
      </a:dk2>
      <a:lt2>
        <a:srgbClr val="E7E6E6"/>
      </a:lt2>
      <a:accent1>
        <a:srgbClr val="0A2373"/>
      </a:accent1>
      <a:accent2>
        <a:srgbClr val="546CA2"/>
      </a:accent2>
      <a:accent3>
        <a:srgbClr val="BDBEC1"/>
      </a:accent3>
      <a:accent4>
        <a:srgbClr val="404040"/>
      </a:accent4>
      <a:accent5>
        <a:srgbClr val="767676"/>
      </a:accent5>
      <a:accent6>
        <a:srgbClr val="D9D9D9"/>
      </a:accent6>
      <a:hlink>
        <a:srgbClr val="0A2373"/>
      </a:hlink>
      <a:folHlink>
        <a:srgbClr val="546CA2"/>
      </a:folHlink>
    </a:clrScheme>
    <a:fontScheme name="AIA_2017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Vopak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Vopak Theme">
  <a:themeElements>
    <a:clrScheme name="Vopak">
      <a:dk1>
        <a:srgbClr val="000000"/>
      </a:dk1>
      <a:lt1>
        <a:srgbClr val="FFFFFF"/>
      </a:lt1>
      <a:dk2>
        <a:srgbClr val="11151A"/>
      </a:dk2>
      <a:lt2>
        <a:srgbClr val="E7E6E6"/>
      </a:lt2>
      <a:accent1>
        <a:srgbClr val="0A2373"/>
      </a:accent1>
      <a:accent2>
        <a:srgbClr val="546CA2"/>
      </a:accent2>
      <a:accent3>
        <a:srgbClr val="BDBEC1"/>
      </a:accent3>
      <a:accent4>
        <a:srgbClr val="404040"/>
      </a:accent4>
      <a:accent5>
        <a:srgbClr val="767676"/>
      </a:accent5>
      <a:accent6>
        <a:srgbClr val="D9D9D9"/>
      </a:accent6>
      <a:hlink>
        <a:srgbClr val="0A2373"/>
      </a:hlink>
      <a:folHlink>
        <a:srgbClr val="546CA2"/>
      </a:folHlink>
    </a:clrScheme>
    <a:fontScheme name="AIA_2017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Vopak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2869</Words>
  <Application>Microsoft Office PowerPoint</Application>
  <DocSecurity>0</DocSecurity>
  <PresentationFormat>Custom</PresentationFormat>
  <Paragraphs>359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Lato</vt:lpstr>
      <vt:lpstr>Arial</vt:lpstr>
      <vt:lpstr>Vopak Theme</vt:lpstr>
      <vt:lpstr>PowerPoint Presentation</vt:lpstr>
      <vt:lpstr>South Africa’s large fuel market relies on substantial imports</vt:lpstr>
      <vt:lpstr>Changes in demand, domestic supply and import routes could reduce flows through Durban</vt:lpstr>
      <vt:lpstr>South Africa’s estimated 21bn-litre fuel market is dominated by road demand</vt:lpstr>
      <vt:lpstr>Agricultural fuel demand rebounds while mining and manufacturing remain broadly flat</vt:lpstr>
      <vt:lpstr>Eskom’s fuel use fell by 40% in FY2025 as electricity supply improved</vt:lpstr>
      <vt:lpstr>Rail volumes are recovering, creating scope to reduce road diesel use</vt:lpstr>
      <vt:lpstr>Hybrids dominate electrified new-vehicle sales; fleet fuel savings emerge as vehicles turn over</vt:lpstr>
      <vt:lpstr>Reported fuel production declined through 2021; the 2025 baseline assumes 5.8bn litres</vt:lpstr>
      <vt:lpstr>Durban’s inland share depends on competing gateways and reliable onward connections</vt:lpstr>
      <vt:lpstr>Durban and Lesedi market sizing and investment issue tree</vt:lpstr>
      <vt:lpstr>How the national fuel market translates into Vopak’s addressable volume</vt:lpstr>
      <vt:lpstr>Substantial imports sustain the market, while customer capture determines Vopak’s expansion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Nigel Zhuwaki</cp:lastModifiedBy>
  <cp:revision>2</cp:revision>
  <dcterms:created xsi:type="dcterms:W3CDTF">2026-10-11T22:01:42Z</dcterms:created>
  <dcterms:modified xsi:type="dcterms:W3CDTF">2026-10-11T22:44:10Z</dcterms:modified>
</cp:coreProperties>
</file>