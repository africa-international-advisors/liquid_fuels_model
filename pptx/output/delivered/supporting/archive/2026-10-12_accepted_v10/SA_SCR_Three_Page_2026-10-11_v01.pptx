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diagrams/v32_s1_data1.xml" ContentType="application/vnd.openxmlformats-officedocument.drawingml.diagramData+xml"/>
  <Override PartName="/ppt/diagrams/v32_s1_layout1.xml" ContentType="application/vnd.openxmlformats-officedocument.drawingml.diagramLayout+xml"/>
  <Override PartName="/ppt/diagrams/v32_s1_quickStyle1.xml" ContentType="application/vnd.openxmlformats-officedocument.drawingml.diagramStyle+xml"/>
  <Override PartName="/ppt/diagrams/v32_s1_colors1.xml" ContentType="application/vnd.openxmlformats-officedocument.drawingml.diagramColors+xml"/>
  <Override PartName="/ppt/diagrams/v32_s1_drawing1.xml" ContentType="application/vnd.ms-office.drawingml.diagramDrawing+xml"/>
  <Override PartName="/ppt/diagrams/v32_s2_data1.xml" ContentType="application/vnd.openxmlformats-officedocument.drawingml.diagramData+xml"/>
  <Override PartName="/ppt/diagrams/v32_s2_layout1.xml" ContentType="application/vnd.openxmlformats-officedocument.drawingml.diagramLayout+xml"/>
  <Override PartName="/ppt/diagrams/v32_s2_quickStyle1.xml" ContentType="application/vnd.openxmlformats-officedocument.drawingml.diagramStyle+xml"/>
  <Override PartName="/ppt/diagrams/v32_s2_colors1.xml" ContentType="application/vnd.openxmlformats-officedocument.drawingml.diagramColors+xml"/>
  <Override PartName="/ppt/diagrams/v32_s2_drawing1.xml" ContentType="application/vnd.ms-office.drawingml.diagramDrawing+xml"/>
  <Override PartName="/ppt/diagrams/v32_s3_data1.xml" ContentType="application/vnd.openxmlformats-officedocument.drawingml.diagramData+xml"/>
  <Override PartName="/ppt/diagrams/v32_s3_layout1.xml" ContentType="application/vnd.openxmlformats-officedocument.drawingml.diagramLayout+xml"/>
  <Override PartName="/ppt/diagrams/v32_s3_quickStyle1.xml" ContentType="application/vnd.openxmlformats-officedocument.drawingml.diagramStyle+xml"/>
  <Override PartName="/ppt/diagrams/v32_s3_colors1.xml" ContentType="application/vnd.openxmlformats-officedocument.drawingml.diagramColors+xml"/>
  <Override PartName="/ppt/diagrams/v32_s3_drawing1.xml" ContentType="application/vnd.ms-office.drawingml.diagramDrawin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cb896f32324b69" /><Relationship Type="http://schemas.openxmlformats.org/officeDocument/2006/relationships/extended-properties" Target="/docProps/app.xml" Id="R686a8e063be54a5f" /><Relationship Type="http://schemas.openxmlformats.org/officeDocument/2006/relationships/officeDocument" Target="/ppt/presentation.xml" Id="R750085b0ed82418c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924a6955b8b44c8"/>
  </p:sldMasterIdLst>
  <p:notesMasterIdLst>
    <p:notesMasterId xmlns:r="http://schemas.openxmlformats.org/officeDocument/2006/relationships" r:id="R6921cb5b19754ac7"/>
  </p:notesMasterIdLst>
  <p:sldIdLst>
    <p:sldId xmlns:r="http://schemas.openxmlformats.org/officeDocument/2006/relationships" id="256" r:id="Rb2c0249f3d1f48e7"/>
    <p:sldId xmlns:r="http://schemas.openxmlformats.org/officeDocument/2006/relationships" id="257" r:id="R84825a2f50fc4d9c"/>
    <p:sldId xmlns:r="http://schemas.openxmlformats.org/officeDocument/2006/relationships" id="258" r:id="Rae749489cc514435"/>
  </p:sldIdLst>
  <p:sldSz cx="11588750" cy="6858000"/>
  <p:notesSz cx="6858000" cy="9144000"/>
  <p:embeddedFontLst>
    <p:embeddedFont>
      <p:font typeface="Lato"/>
      <p:regular xmlns:r="http://schemas.openxmlformats.org/officeDocument/2006/relationships" r:id="R8443b5be839e418f"/>
      <p:bold xmlns:r="http://schemas.openxmlformats.org/officeDocument/2006/relationships" r:id="R0789d840557643ad"/>
      <p:italic xmlns:r="http://schemas.openxmlformats.org/officeDocument/2006/relationships" r:id="R5d36477935254890"/>
      <p:boldItalic xmlns:r="http://schemas.openxmlformats.org/officeDocument/2006/relationships" r:id="R1ff38bc2381e4b88"/>
    </p:embeddedFont>
  </p:embeddedFontLst>
</p:presentation>
</file>

<file path=ppt/authors.xml><?xml version="1.0" encoding="utf-8"?>
<p188:authorLst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be2d4e3d63a4730"/><Relationship Type="http://schemas.openxmlformats.org/officeDocument/2006/relationships/slideMaster" Target="/ppt/slideMasters/slideMaster1.xml" Id="R0924a6955b8b44c8"/><Relationship Type="http://schemas.openxmlformats.org/officeDocument/2006/relationships/notesMaster" Target="/ppt/notesMasters/notesMaster1.xml" Id="R6921cb5b19754ac7"/><Relationship Type="http://schemas.openxmlformats.org/officeDocument/2006/relationships/presProps" Target="/ppt/presProps.xml" Id="R738614855d144990"/><Relationship Type="http://schemas.openxmlformats.org/officeDocument/2006/relationships/viewProps" Target="/ppt/viewProps.xml" Id="Rcb7cbc57accf49dc"/><Relationship Type="http://schemas.openxmlformats.org/officeDocument/2006/relationships/tableStyles" Target="/ppt/tableStyles.xml" Id="R037b51be12c6408a"/><Relationship Type="http://schemas.openxmlformats.org/officeDocument/2006/relationships/font" Target="/ppt/fonts/font.dat" Id="R8443b5be839e418f"/><Relationship Type="http://schemas.openxmlformats.org/officeDocument/2006/relationships/font" Target="/ppt/fonts/font2.dat" Id="R0789d840557643ad"/><Relationship Type="http://schemas.openxmlformats.org/officeDocument/2006/relationships/font" Target="/ppt/fonts/font3.dat" Id="R5d36477935254890"/><Relationship Type="http://schemas.openxmlformats.org/officeDocument/2006/relationships/font" Target="/ppt/fonts/font4.dat" Id="R1ff38bc2381e4b88"/><Relationship Type="http://schemas.microsoft.com/office/2018/10/relationships/authors" Target="/ppt/authors.xml" Id="Rf01cb9b465bf47b2"/><Relationship Type="http://schemas.openxmlformats.org/officeDocument/2006/relationships/slide" Target="/ppt/slides/slide1.xml" Id="Rb2c0249f3d1f48e7"/><Relationship Type="http://schemas.openxmlformats.org/officeDocument/2006/relationships/slide" Target="/ppt/slides/slide2.xml" Id="R84825a2f50fc4d9c"/><Relationship Type="http://schemas.openxmlformats.org/officeDocument/2006/relationships/slide" Target="/ppt/slides/slide3.xml" Id="Rae749489cc514435"/></Relationships>
</file>

<file path=ppt/diagrams/v32_s1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1_data1.xml><?xml version="1.0" encoding="utf-8"?>
<dgm:dataModel xmlns:dgm="http://schemas.openxmlformats.org/drawingml/2006/diagram" xmlns:a="http://schemas.openxmlformats.org/drawingml/2006/main">
  <dgm:ptLst>
    <dgm:pt modelId="{89EDD9F4-517A-423A-8062-52F906573F3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AC981AEB-3240-40F7-8BC7-3462D77E5EEF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B8BA5E-0640-44FB-AA31-9E7844B28449}" type="parTrans" cxnId="{24D59777-028E-451A-82DA-909A1AEC3027}">
      <dgm:prSet/>
      <dgm:spPr>
        <a:ln>
          <a:noFill/>
        </a:ln>
      </dgm:spPr>
    </dgm:pt>
    <dgm:pt modelId="{A9960062-BEFF-4C31-BFD0-6D440E5FE1E1}" type="sibTrans" cxnId="{24D59777-028E-451A-82DA-909A1AEC3027}">
      <dgm:prSet/>
      <dgm:spPr>
        <a:ln>
          <a:noFill/>
        </a:ln>
      </dgm:spPr>
    </dgm:pt>
    <dgm:pt modelId="{87F06D40-41DD-4A2F-9F9C-1ED0B44BA962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gm:t>
    </dgm:pt>
    <dgm:pt modelId="{6FBBE429-3EA0-4B1D-A348-FCAA80388784}" type="parTrans" cxnId="{C7F0E118-69A9-4B8A-9E68-80201368D004}">
      <dgm:prSet/>
      <dgm:spPr>
        <a:ln>
          <a:noFill/>
        </a:ln>
      </dgm:spPr>
    </dgm:pt>
    <dgm:pt modelId="{664B6AAE-09E3-44FF-B508-272C0951CC9B}" type="sibTrans" cxnId="{C7F0E118-69A9-4B8A-9E68-80201368D004}">
      <dgm:prSet/>
      <dgm:spPr>
        <a:ln>
          <a:noFill/>
        </a:ln>
      </dgm:spPr>
    </dgm:pt>
    <dgm:pt modelId="{76DF3A45-5741-4BF8-90F1-4A7020D88F3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AA39D22C-D631-42B8-8A60-DABAE6EE922F}" type="parTrans" cxnId="{110A6484-7110-4C95-9B49-775F40941B1B}">
      <dgm:prSet/>
      <dgm:spPr>
        <a:ln>
          <a:noFill/>
        </a:ln>
      </dgm:spPr>
    </dgm:pt>
    <dgm:pt modelId="{046FAA88-BA00-4B76-992A-C499E3920AED}" type="sibTrans" cxnId="{110A6484-7110-4C95-9B49-775F40941B1B}">
      <dgm:prSet/>
      <dgm:spPr>
        <a:ln>
          <a:noFill/>
        </a:ln>
      </dgm:spPr>
    </dgm:pt>
    <dgm:pt modelId="{EC8A132B-7A37-405A-AE61-D0A4AC9C84D4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32CD99DD-DBD5-46DF-9738-9B2F36BDE0E4}" type="parTrans" cxnId="{B5EE44BA-904D-416F-8BB4-76FF1C1AF67F}">
      <dgm:prSet/>
      <dgm:spPr>
        <a:ln>
          <a:noFill/>
        </a:ln>
      </dgm:spPr>
    </dgm:pt>
    <dgm:pt modelId="{9CDDEC2B-949A-41B6-A712-E77569C8E717}" type="sibTrans" cxnId="{B5EE44BA-904D-416F-8BB4-76FF1C1AF67F}">
      <dgm:prSet/>
      <dgm:spPr>
        <a:ln>
          <a:noFill/>
        </a:ln>
      </dgm:spPr>
    </dgm:pt>
    <dgm:pt modelId="{15F593F2-40E2-4653-8025-677035C3DC9D}" type="pres">
      <dgm:prSet presAssocID="{89EDD9F4-517A-423A-8062-52F906573F3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C4EF7803-CBF7-4F68-B5E2-A27214E782BF}" type="pres">
      <dgm:prSet presAssocID="{AC981AEB-3240-40F7-8BC7-3462D77E5EEF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7F42B213-6EC2-4A7A-98EE-FD00CE627AC2}" type="pres">
      <dgm:prSet presAssocID="{A9960062-BEFF-4C31-BFD0-6D440E5FE1E1}" presName="parTxOnlySpace" presStyleCnt="0"/>
      <dgm:spPr>
        <a:ln>
          <a:noFill/>
        </a:ln>
      </dgm:spPr>
    </dgm:pt>
    <dgm:pt modelId="{C17A1487-1862-4A32-B801-89B618873E04}" type="pres">
      <dgm:prSet presAssocID="{87F06D40-41DD-4A2F-9F9C-1ED0B44BA962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C1C00FF-9A18-4423-93D0-E6C21EE159AE}" type="pres">
      <dgm:prSet presAssocID="{664B6AAE-09E3-44FF-B508-272C0951CC9B}" presName="parTxOnlySpace" presStyleCnt="0"/>
      <dgm:spPr>
        <a:ln>
          <a:noFill/>
        </a:ln>
      </dgm:spPr>
    </dgm:pt>
    <dgm:pt modelId="{9F404DEC-4EC8-4518-BE85-93B7692E5638}" type="pres">
      <dgm:prSet presAssocID="{76DF3A45-5741-4BF8-90F1-4A7020D88F3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4707A9-14D8-4951-8914-17DD9D9F43B5}" type="pres">
      <dgm:prSet presAssocID="{046FAA88-BA00-4B76-992A-C499E3920AED}" presName="parTxOnlySpace" presStyleCnt="0"/>
      <dgm:spPr>
        <a:ln>
          <a:noFill/>
        </a:ln>
      </dgm:spPr>
    </dgm:pt>
    <dgm:pt modelId="{E56216AE-4B62-49BF-B577-95F970D228C9}" type="pres">
      <dgm:prSet presAssocID="{EC8A132B-7A37-405A-AE61-D0A4AC9C84D4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C7F0E118-69A9-4B8A-9E68-80201368D004}" srcId="{89EDD9F4-517A-423A-8062-52F906573F35}" destId="{87F06D40-41DD-4A2F-9F9C-1ED0B44BA962}" srcOrd="1" destOrd="0" parTransId="{6FBBE429-3EA0-4B1D-A348-FCAA80388784}" sibTransId="{664B6AAE-09E3-44FF-B508-272C0951CC9B}"/>
    <dgm:cxn modelId="{38C55C22-FD2D-45CC-9831-7470FFECD64E}" type="presOf" srcId="{89EDD9F4-517A-423A-8062-52F906573F35}" destId="{15F593F2-40E2-4653-8025-677035C3DC9D}" srcOrd="0" destOrd="0" presId="urn:microsoft.com/office/officeart/2005/8/layout/chevron1"/>
    <dgm:cxn modelId="{02074744-DBB7-4014-8363-60EC43DBA6CD}" type="presOf" srcId="{76DF3A45-5741-4BF8-90F1-4A7020D88F3E}" destId="{9F404DEC-4EC8-4518-BE85-93B7692E5638}" srcOrd="0" destOrd="0" presId="urn:microsoft.com/office/officeart/2005/8/layout/chevron1"/>
    <dgm:cxn modelId="{24D59777-028E-451A-82DA-909A1AEC3027}" srcId="{89EDD9F4-517A-423A-8062-52F906573F35}" destId="{AC981AEB-3240-40F7-8BC7-3462D77E5EEF}" srcOrd="0" destOrd="0" parTransId="{D0B8BA5E-0640-44FB-AA31-9E7844B28449}" sibTransId="{A9960062-BEFF-4C31-BFD0-6D440E5FE1E1}"/>
    <dgm:cxn modelId="{110A6484-7110-4C95-9B49-775F40941B1B}" srcId="{89EDD9F4-517A-423A-8062-52F906573F35}" destId="{76DF3A45-5741-4BF8-90F1-4A7020D88F3E}" srcOrd="2" destOrd="0" parTransId="{AA39D22C-D631-42B8-8A60-DABAE6EE922F}" sibTransId="{046FAA88-BA00-4B76-992A-C499E3920AED}"/>
    <dgm:cxn modelId="{B5EE44BA-904D-416F-8BB4-76FF1C1AF67F}" srcId="{89EDD9F4-517A-423A-8062-52F906573F35}" destId="{EC8A132B-7A37-405A-AE61-D0A4AC9C84D4}" srcOrd="3" destOrd="0" parTransId="{32CD99DD-DBD5-46DF-9738-9B2F36BDE0E4}" sibTransId="{9CDDEC2B-949A-41B6-A712-E77569C8E717}"/>
    <dgm:cxn modelId="{25C83AEB-7E6A-4811-811C-48DC57D32A63}" type="presOf" srcId="{AC981AEB-3240-40F7-8BC7-3462D77E5EEF}" destId="{C4EF7803-CBF7-4F68-B5E2-A27214E782BF}" srcOrd="0" destOrd="0" presId="urn:microsoft.com/office/officeart/2005/8/layout/chevron1"/>
    <dgm:cxn modelId="{C2106DF6-D6A2-49E4-BAFA-5D750DDEF7C3}" type="presOf" srcId="{EC8A132B-7A37-405A-AE61-D0A4AC9C84D4}" destId="{E56216AE-4B62-49BF-B577-95F970D228C9}" srcOrd="0" destOrd="0" presId="urn:microsoft.com/office/officeart/2005/8/layout/chevron1"/>
    <dgm:cxn modelId="{C8ED67F8-207C-47C2-85A0-36C82DA29F5A}" type="presOf" srcId="{87F06D40-41DD-4A2F-9F9C-1ED0B44BA962}" destId="{C17A1487-1862-4A32-B801-89B618873E04}" srcOrd="0" destOrd="0" presId="urn:microsoft.com/office/officeart/2005/8/layout/chevron1"/>
    <dgm:cxn modelId="{D0EFF3B6-E4F2-4B6D-A9D3-5680F8F7DDBC}" type="presParOf" srcId="{15F593F2-40E2-4653-8025-677035C3DC9D}" destId="{C4EF7803-CBF7-4F68-B5E2-A27214E782BF}" srcOrd="0" destOrd="0" presId="urn:microsoft.com/office/officeart/2005/8/layout/chevron1"/>
    <dgm:cxn modelId="{4DF86A96-FF9B-43FA-B523-DE662ABFEBFD}" type="presParOf" srcId="{15F593F2-40E2-4653-8025-677035C3DC9D}" destId="{7F42B213-6EC2-4A7A-98EE-FD00CE627AC2}" srcOrd="1" destOrd="0" presId="urn:microsoft.com/office/officeart/2005/8/layout/chevron1"/>
    <dgm:cxn modelId="{6ECCF7C3-0645-4626-A41E-BEE32AE1FD38}" type="presParOf" srcId="{15F593F2-40E2-4653-8025-677035C3DC9D}" destId="{C17A1487-1862-4A32-B801-89B618873E04}" srcOrd="2" destOrd="0" presId="urn:microsoft.com/office/officeart/2005/8/layout/chevron1"/>
    <dgm:cxn modelId="{E5B8DE1C-33F9-4E01-9629-46FA7E111D45}" type="presParOf" srcId="{15F593F2-40E2-4653-8025-677035C3DC9D}" destId="{4C1C00FF-9A18-4423-93D0-E6C21EE159AE}" srcOrd="3" destOrd="0" presId="urn:microsoft.com/office/officeart/2005/8/layout/chevron1"/>
    <dgm:cxn modelId="{51034CBE-7419-4500-8460-737D374B25E9}" type="presParOf" srcId="{15F593F2-40E2-4653-8025-677035C3DC9D}" destId="{9F404DEC-4EC8-4518-BE85-93B7692E5638}" srcOrd="4" destOrd="0" presId="urn:microsoft.com/office/officeart/2005/8/layout/chevron1"/>
    <dgm:cxn modelId="{5CF547D9-5245-4382-8157-6EC67EB041B9}" type="presParOf" srcId="{15F593F2-40E2-4653-8025-677035C3DC9D}" destId="{4B4707A9-14D8-4951-8914-17DD9D9F43B5}" srcOrd="5" destOrd="0" presId="urn:microsoft.com/office/officeart/2005/8/layout/chevron1"/>
    <dgm:cxn modelId="{C4DDF6FA-AEF9-483D-B368-FE146FCD804F}" type="presParOf" srcId="{15F593F2-40E2-4653-8025-677035C3DC9D}" destId="{E56216AE-4B62-49BF-B577-95F970D228C9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1" minVer="http://schemas.openxmlformats.org/drawingml/2006/diagram"/>
    </a:ext>
  </dgm:extLst>
</dgm:dataModel>
</file>

<file path=ppt/diagrams/v32_s1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F7803-CBF7-4F68-B5E2-A27214E782BF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C17A1487-1862-4A32-B801-89B618873E04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9F404DEC-4EC8-4518-BE85-93B7692E5638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E56216AE-4B62-49BF-B577-95F970D228C9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1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1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2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2_data1.xml><?xml version="1.0" encoding="utf-8"?>
<dgm:dataModel xmlns:dgm="http://schemas.openxmlformats.org/drawingml/2006/diagram" xmlns:a="http://schemas.openxmlformats.org/drawingml/2006/main">
  <dgm:ptLst>
    <dgm:pt modelId="{62FB6087-18D1-4D29-8D38-D69068CDCA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D5012695-E636-436E-8E3E-60550BC3080E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D011BB17-273C-43A7-9534-7D6867EB323B}" type="parTrans" cxnId="{B5C4A2E6-F87E-4C30-B8FF-DA9D8274F805}">
      <dgm:prSet/>
      <dgm:spPr>
        <a:ln>
          <a:noFill/>
        </a:ln>
      </dgm:spPr>
    </dgm:pt>
    <dgm:pt modelId="{5A8C8C40-ED59-4A53-BBF4-00D4DDB77587}" type="sibTrans" cxnId="{B5C4A2E6-F87E-4C30-B8FF-DA9D8274F805}">
      <dgm:prSet/>
      <dgm:spPr>
        <a:ln>
          <a:noFill/>
        </a:ln>
      </dgm:spPr>
    </dgm:pt>
    <dgm:pt modelId="{66535F52-61D9-45C6-A6A4-51615B77690B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445B3268-3ED4-442B-8356-5972CB7E5BD9}" type="parTrans" cxnId="{E47AA7E2-1FAD-4FEC-AA84-3AA156AC703E}">
      <dgm:prSet/>
      <dgm:spPr>
        <a:ln>
          <a:noFill/>
        </a:ln>
      </dgm:spPr>
    </dgm:pt>
    <dgm:pt modelId="{4C48BA04-16AB-426D-9FF7-5B3917EEC521}" type="sibTrans" cxnId="{E47AA7E2-1FAD-4FEC-AA84-3AA156AC703E}">
      <dgm:prSet/>
      <dgm:spPr>
        <a:ln>
          <a:noFill/>
        </a:ln>
      </dgm:spPr>
    </dgm:pt>
    <dgm:pt modelId="{8FC3E99C-7BCE-40A0-B316-2E0BBFF2573F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gm:t>
    </dgm:pt>
    <dgm:pt modelId="{EE417929-F4EB-484C-B448-8FB7F6FAA560}" type="parTrans" cxnId="{60C38AB2-83D2-4382-8B8B-D0B73A2D5C3E}">
      <dgm:prSet/>
      <dgm:spPr>
        <a:ln>
          <a:noFill/>
        </a:ln>
      </dgm:spPr>
    </dgm:pt>
    <dgm:pt modelId="{28CC5E52-56CA-4ED8-9E57-361314D7E4E7}" type="sibTrans" cxnId="{60C38AB2-83D2-4382-8B8B-D0B73A2D5C3E}">
      <dgm:prSet/>
      <dgm:spPr>
        <a:ln>
          <a:noFill/>
        </a:ln>
      </dgm:spPr>
    </dgm:pt>
    <dgm:pt modelId="{78F4C9A7-4E95-49A6-8310-38E561C483BA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gm:t>
    </dgm:pt>
    <dgm:pt modelId="{1A4C9B87-5E60-4AF8-90DD-5092BDC56D0A}" type="parTrans" cxnId="{CE83A0D4-461A-4608-ACF2-4D983D460C8B}">
      <dgm:prSet/>
      <dgm:spPr>
        <a:ln>
          <a:noFill/>
        </a:ln>
      </dgm:spPr>
    </dgm:pt>
    <dgm:pt modelId="{16161CE9-EF96-438E-8D2F-6C98A6668D83}" type="sibTrans" cxnId="{CE83A0D4-461A-4608-ACF2-4D983D460C8B}">
      <dgm:prSet/>
      <dgm:spPr>
        <a:ln>
          <a:noFill/>
        </a:ln>
      </dgm:spPr>
    </dgm:pt>
    <dgm:pt modelId="{19B0610F-282C-4322-866B-0055FAF46627}" type="pres">
      <dgm:prSet presAssocID="{62FB6087-18D1-4D29-8D38-D69068CDCAA1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54D1D34D-643C-499A-B330-F91526D1DBE8}" type="pres">
      <dgm:prSet presAssocID="{D5012695-E636-436E-8E3E-60550BC3080E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4B66681B-9D4C-436C-87BB-82E64E68F6C8}" type="pres">
      <dgm:prSet presAssocID="{5A8C8C40-ED59-4A53-BBF4-00D4DDB77587}" presName="parTxOnlySpace" presStyleCnt="0"/>
      <dgm:spPr>
        <a:ln>
          <a:noFill/>
        </a:ln>
      </dgm:spPr>
    </dgm:pt>
    <dgm:pt modelId="{6636E125-B383-4A9D-B027-3EFC54D58BB6}" type="pres">
      <dgm:prSet presAssocID="{66535F52-61D9-45C6-A6A4-51615B77690B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B7D1B483-87CF-4091-8E45-AEF05E32D037}" type="pres">
      <dgm:prSet presAssocID="{4C48BA04-16AB-426D-9FF7-5B3917EEC521}" presName="parTxOnlySpace" presStyleCnt="0"/>
      <dgm:spPr>
        <a:ln>
          <a:noFill/>
        </a:ln>
      </dgm:spPr>
    </dgm:pt>
    <dgm:pt modelId="{EC812F4D-EF66-448A-B027-679DD9AEE63D}" type="pres">
      <dgm:prSet presAssocID="{8FC3E99C-7BCE-40A0-B316-2E0BBFF2573F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AA5BB0A8-BEB9-4A1C-ADF5-7F8122850824}" type="pres">
      <dgm:prSet presAssocID="{28CC5E52-56CA-4ED8-9E57-361314D7E4E7}" presName="parTxOnlySpace" presStyleCnt="0"/>
      <dgm:spPr>
        <a:ln>
          <a:noFill/>
        </a:ln>
      </dgm:spPr>
    </dgm:pt>
    <dgm:pt modelId="{4BCE8E4B-4C6F-4AB8-BA87-94EBADC2C5D0}" type="pres">
      <dgm:prSet presAssocID="{78F4C9A7-4E95-49A6-8310-38E561C483BA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55783121-B2C6-4347-969B-6E2E8594B33B}" type="presOf" srcId="{62FB6087-18D1-4D29-8D38-D69068CDCAA1}" destId="{19B0610F-282C-4322-866B-0055FAF46627}" srcOrd="0" destOrd="0" presId="urn:microsoft.com/office/officeart/2005/8/layout/chevron1"/>
    <dgm:cxn modelId="{AC4F6029-1BF4-47CB-8BA5-680A584F2DDF}" type="presOf" srcId="{D5012695-E636-436E-8E3E-60550BC3080E}" destId="{54D1D34D-643C-499A-B330-F91526D1DBE8}" srcOrd="0" destOrd="0" presId="urn:microsoft.com/office/officeart/2005/8/layout/chevron1"/>
    <dgm:cxn modelId="{6B6CE272-F2F3-4936-B001-E499C3B681C4}" type="presOf" srcId="{8FC3E99C-7BCE-40A0-B316-2E0BBFF2573F}" destId="{EC812F4D-EF66-448A-B027-679DD9AEE63D}" srcOrd="0" destOrd="0" presId="urn:microsoft.com/office/officeart/2005/8/layout/chevron1"/>
    <dgm:cxn modelId="{33E33F55-80EC-484E-A613-EF53AA13C72A}" type="presOf" srcId="{66535F52-61D9-45C6-A6A4-51615B77690B}" destId="{6636E125-B383-4A9D-B027-3EFC54D58BB6}" srcOrd="0" destOrd="0" presId="urn:microsoft.com/office/officeart/2005/8/layout/chevron1"/>
    <dgm:cxn modelId="{5A1E9998-D021-48E7-9F22-4B7E9E7C1B1C}" type="presOf" srcId="{78F4C9A7-4E95-49A6-8310-38E561C483BA}" destId="{4BCE8E4B-4C6F-4AB8-BA87-94EBADC2C5D0}" srcOrd="0" destOrd="0" presId="urn:microsoft.com/office/officeart/2005/8/layout/chevron1"/>
    <dgm:cxn modelId="{60C38AB2-83D2-4382-8B8B-D0B73A2D5C3E}" srcId="{62FB6087-18D1-4D29-8D38-D69068CDCAA1}" destId="{8FC3E99C-7BCE-40A0-B316-2E0BBFF2573F}" srcOrd="2" destOrd="0" parTransId="{EE417929-F4EB-484C-B448-8FB7F6FAA560}" sibTransId="{28CC5E52-56CA-4ED8-9E57-361314D7E4E7}"/>
    <dgm:cxn modelId="{CE83A0D4-461A-4608-ACF2-4D983D460C8B}" srcId="{62FB6087-18D1-4D29-8D38-D69068CDCAA1}" destId="{78F4C9A7-4E95-49A6-8310-38E561C483BA}" srcOrd="3" destOrd="0" parTransId="{1A4C9B87-5E60-4AF8-90DD-5092BDC56D0A}" sibTransId="{16161CE9-EF96-438E-8D2F-6C98A6668D83}"/>
    <dgm:cxn modelId="{E47AA7E2-1FAD-4FEC-AA84-3AA156AC703E}" srcId="{62FB6087-18D1-4D29-8D38-D69068CDCAA1}" destId="{66535F52-61D9-45C6-A6A4-51615B77690B}" srcOrd="1" destOrd="0" parTransId="{445B3268-3ED4-442B-8356-5972CB7E5BD9}" sibTransId="{4C48BA04-16AB-426D-9FF7-5B3917EEC521}"/>
    <dgm:cxn modelId="{B5C4A2E6-F87E-4C30-B8FF-DA9D8274F805}" srcId="{62FB6087-18D1-4D29-8D38-D69068CDCAA1}" destId="{D5012695-E636-436E-8E3E-60550BC3080E}" srcOrd="0" destOrd="0" parTransId="{D011BB17-273C-43A7-9534-7D6867EB323B}" sibTransId="{5A8C8C40-ED59-4A53-BBF4-00D4DDB77587}"/>
    <dgm:cxn modelId="{9DDA5030-F4D5-4F60-81FE-17C64614F518}" type="presParOf" srcId="{19B0610F-282C-4322-866B-0055FAF46627}" destId="{54D1D34D-643C-499A-B330-F91526D1DBE8}" srcOrd="0" destOrd="0" presId="urn:microsoft.com/office/officeart/2005/8/layout/chevron1"/>
    <dgm:cxn modelId="{C8ED28C5-1DD9-4885-840B-086B2A7EB6BC}" type="presParOf" srcId="{19B0610F-282C-4322-866B-0055FAF46627}" destId="{4B66681B-9D4C-436C-87BB-82E64E68F6C8}" srcOrd="1" destOrd="0" presId="urn:microsoft.com/office/officeart/2005/8/layout/chevron1"/>
    <dgm:cxn modelId="{032CB6FE-5464-43D9-9665-77F40DBF7861}" type="presParOf" srcId="{19B0610F-282C-4322-866B-0055FAF46627}" destId="{6636E125-B383-4A9D-B027-3EFC54D58BB6}" srcOrd="2" destOrd="0" presId="urn:microsoft.com/office/officeart/2005/8/layout/chevron1"/>
    <dgm:cxn modelId="{79F4CB33-4866-48D9-9DC6-0390A47EA9E6}" type="presParOf" srcId="{19B0610F-282C-4322-866B-0055FAF46627}" destId="{B7D1B483-87CF-4091-8E45-AEF05E32D037}" srcOrd="3" destOrd="0" presId="urn:microsoft.com/office/officeart/2005/8/layout/chevron1"/>
    <dgm:cxn modelId="{AF7401B2-4231-4570-8711-83F5617B87E6}" type="presParOf" srcId="{19B0610F-282C-4322-866B-0055FAF46627}" destId="{EC812F4D-EF66-448A-B027-679DD9AEE63D}" srcOrd="4" destOrd="0" presId="urn:microsoft.com/office/officeart/2005/8/layout/chevron1"/>
    <dgm:cxn modelId="{DD643616-A114-43CF-8265-2475291604A2}" type="presParOf" srcId="{19B0610F-282C-4322-866B-0055FAF46627}" destId="{AA5BB0A8-BEB9-4A1C-ADF5-7F8122850824}" srcOrd="5" destOrd="0" presId="urn:microsoft.com/office/officeart/2005/8/layout/chevron1"/>
    <dgm:cxn modelId="{03454C2C-BB9D-46BA-B390-3C3B24C9F4BC}" type="presParOf" srcId="{19B0610F-282C-4322-866B-0055FAF46627}" destId="{4BCE8E4B-4C6F-4AB8-BA87-94EBADC2C5D0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2" minVer="http://schemas.openxmlformats.org/drawingml/2006/diagram"/>
    </a:ext>
  </dgm:extLst>
</dgm:dataModel>
</file>

<file path=ppt/diagrams/v32_s2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D34D-643C-499A-B330-F91526D1DBE8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6636E125-B383-4A9D-B027-3EFC54D58BB6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EC812F4D-EF66-448A-B027-679DD9AEE63D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4BCE8E4B-4C6F-4AB8-BA87-94EBADC2C5D0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2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2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v32_s3_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v32_s3_data1.xml><?xml version="1.0" encoding="utf-8"?>
<dgm:dataModel xmlns:dgm="http://schemas.openxmlformats.org/drawingml/2006/diagram" xmlns:a="http://schemas.openxmlformats.org/drawingml/2006/main">
  <dgm:ptLst>
    <dgm:pt modelId="{5CEF05A0-8592-4E19-B534-CF8DA92D5C8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ln>
          <a:noFill/>
        </a:ln>
      </dgm:spPr>
    </dgm:pt>
    <dgm:pt modelId="{09E83A0D-6FEF-41DF-A1A8-06E9FFC85F71}">
      <dgm:prSet phldrT="[Text]" custT="1"/>
      <dgm:spPr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gm:t>
    </dgm:pt>
    <dgm:pt modelId="{FFD59D49-A026-4E00-87EA-187DB5D6A066}" type="parTrans" cxnId="{307E2D55-0313-446A-83D1-63117C21C296}">
      <dgm:prSet/>
      <dgm:spPr>
        <a:ln>
          <a:noFill/>
        </a:ln>
      </dgm:spPr>
    </dgm:pt>
    <dgm:pt modelId="{36CCA29F-F965-4645-9D7F-1EDA4C75E57E}" type="sibTrans" cxnId="{307E2D55-0313-446A-83D1-63117C21C296}">
      <dgm:prSet/>
      <dgm:spPr>
        <a:ln>
          <a:noFill/>
        </a:ln>
      </dgm:spPr>
    </dgm:pt>
    <dgm:pt modelId="{D400241C-DEAF-4E77-A8FB-95CBA722C5BF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gm:t>
    </dgm:pt>
    <dgm:pt modelId="{926D2AE0-ECB9-48CF-AB6F-BD18F9C28779}" type="parTrans" cxnId="{EB33419B-0263-433C-9BC9-665F9D4DD10F}">
      <dgm:prSet/>
      <dgm:spPr>
        <a:ln>
          <a:noFill/>
        </a:ln>
      </dgm:spPr>
    </dgm:pt>
    <dgm:pt modelId="{55CA4814-D433-4485-9603-A24EF1C3B8F7}" type="sibTrans" cxnId="{EB33419B-0263-433C-9BC9-665F9D4DD10F}">
      <dgm:prSet/>
      <dgm:spPr>
        <a:ln>
          <a:noFill/>
        </a:ln>
      </dgm:spPr>
    </dgm:pt>
    <dgm:pt modelId="{EFC05841-292D-4BFD-B586-9DB1A0F0999E}">
      <dgm:prSet phldrT="[Text]" custT="1"/>
      <dgm:spPr>
        <a:solidFill>
          <a:srgbClr val="F5F5F5"/>
        </a:solidFill>
        <a:ln>
          <a:noFill/>
        </a:ln>
      </dgm:spPr>
      <dgm:t>
        <a:bodyPr/>
        <a:lstStyle/>
        <a:p>
          <a:r>
            <a:rPr lang="en-ZA" sz="1050" b="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gm:t>
    </dgm:pt>
    <dgm:pt modelId="{6BEBE1E2-7ADD-46DB-A390-E1FE68A19EE5}" type="parTrans" cxnId="{20E123D7-F393-4E76-84F8-B897C6CC5ADB}">
      <dgm:prSet/>
      <dgm:spPr>
        <a:ln>
          <a:noFill/>
        </a:ln>
      </dgm:spPr>
    </dgm:pt>
    <dgm:pt modelId="{EB0BFDBB-37BC-44A5-9757-FDC45C28EECB}" type="sibTrans" cxnId="{20E123D7-F393-4E76-84F8-B897C6CC5ADB}">
      <dgm:prSet/>
      <dgm:spPr>
        <a:ln>
          <a:noFill/>
        </a:ln>
      </dgm:spPr>
    </dgm:pt>
    <dgm:pt modelId="{845485CC-7F42-4E91-A00B-AD1808266A59}">
      <dgm:prSet phldrT="[Text]" custT="1"/>
      <dgm:spPr>
        <a:solidFill>
          <a:srgbClr val="0A2373"/>
        </a:solidFill>
        <a:ln>
          <a:noFill/>
        </a:ln>
      </dgm:spPr>
      <dgm:t>
        <a:bodyPr/>
        <a:lstStyle/>
        <a:p>
          <a:r>
            <a:rPr lang="en-ZA" sz="1050" b="1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gm:t>
    </dgm:pt>
    <dgm:pt modelId="{E396826C-359F-461F-B222-F959C3793F61}" type="parTrans" cxnId="{4BD81A2D-98E6-4436-8D1C-4401C7EA7C2E}">
      <dgm:prSet/>
      <dgm:spPr>
        <a:ln>
          <a:noFill/>
        </a:ln>
      </dgm:spPr>
    </dgm:pt>
    <dgm:pt modelId="{89E51C20-2D62-4186-8997-F2A21022C6CF}" type="sibTrans" cxnId="{4BD81A2D-98E6-4436-8D1C-4401C7EA7C2E}">
      <dgm:prSet/>
      <dgm:spPr>
        <a:ln>
          <a:noFill/>
        </a:ln>
      </dgm:spPr>
    </dgm:pt>
    <dgm:pt modelId="{AFDF9144-0890-4741-9012-683715D91BA8}" type="pres">
      <dgm:prSet presAssocID="{5CEF05A0-8592-4E19-B534-CF8DA92D5C85}" presName="Name0" presStyleCnt="0">
        <dgm:presLayoutVars>
          <dgm:dir/>
          <dgm:animLvl val="lvl"/>
          <dgm:resizeHandles val="exact"/>
        </dgm:presLayoutVars>
      </dgm:prSet>
      <dgm:spPr>
        <a:ln>
          <a:noFill/>
        </a:ln>
      </dgm:spPr>
    </dgm:pt>
    <dgm:pt modelId="{E9EC313E-C07D-4024-9AF7-7BAA82F22646}" type="pres">
      <dgm:prSet presAssocID="{09E83A0D-6FEF-41DF-A1A8-06E9FFC85F71}" presName="parTxOnly" presStyleLbl="node1" presStyleIdx="0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1254BCE1-0659-4C9C-A343-41153979CEE1}" type="pres">
      <dgm:prSet presAssocID="{36CCA29F-F965-4645-9D7F-1EDA4C75E57E}" presName="parTxOnlySpace" presStyleCnt="0"/>
      <dgm:spPr>
        <a:ln>
          <a:noFill/>
        </a:ln>
      </dgm:spPr>
    </dgm:pt>
    <dgm:pt modelId="{4F9DEA38-A8FA-418A-B139-308095C75DE5}" type="pres">
      <dgm:prSet presAssocID="{D400241C-DEAF-4E77-A8FB-95CBA722C5BF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F32AF327-A8A7-42ED-9A3A-FD065AEF35CC}" type="pres">
      <dgm:prSet presAssocID="{55CA4814-D433-4485-9603-A24EF1C3B8F7}" presName="parTxOnlySpace" presStyleCnt="0"/>
      <dgm:spPr>
        <a:ln>
          <a:noFill/>
        </a:ln>
      </dgm:spPr>
    </dgm:pt>
    <dgm:pt modelId="{DB2DC495-4888-4FB0-8E56-94B7ED74FA00}" type="pres">
      <dgm:prSet presAssocID="{EFC05841-292D-4BFD-B586-9DB1A0F0999E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  <dgm:pt modelId="{3128D3E7-1249-4292-B711-881F04FEB888}" type="pres">
      <dgm:prSet presAssocID="{EB0BFDBB-37BC-44A5-9757-FDC45C28EECB}" presName="parTxOnlySpace" presStyleCnt="0"/>
      <dgm:spPr>
        <a:ln>
          <a:noFill/>
        </a:ln>
      </dgm:spPr>
    </dgm:pt>
    <dgm:pt modelId="{89AA18CC-6C77-44F3-85A7-38695F314F32}" type="pres">
      <dgm:prSet presAssocID="{845485CC-7F42-4E91-A00B-AD1808266A59}" presName="parTxOnly" presStyleLbl="node1" presStyleIdx="3" presStyleCnt="4">
        <dgm:presLayoutVars>
          <dgm:chMax val="0"/>
          <dgm:chPref val="0"/>
          <dgm:bulletEnabled val="1"/>
        </dgm:presLayoutVars>
      </dgm:prSet>
      <dgm:spPr>
        <a:ln>
          <a:noFill/>
        </a:ln>
      </dgm:spPr>
    </dgm:pt>
  </dgm:ptLst>
  <dgm:cxnLst>
    <dgm:cxn modelId="{B47B7A01-EE41-406A-A38E-3E45A6AB1E2D}" type="presOf" srcId="{5CEF05A0-8592-4E19-B534-CF8DA92D5C85}" destId="{AFDF9144-0890-4741-9012-683715D91BA8}" srcOrd="0" destOrd="0" presId="urn:microsoft.com/office/officeart/2005/8/layout/chevron1"/>
    <dgm:cxn modelId="{5F8D4429-3512-4733-9D28-C39DEC6D5A46}" type="presOf" srcId="{09E83A0D-6FEF-41DF-A1A8-06E9FFC85F71}" destId="{E9EC313E-C07D-4024-9AF7-7BAA82F22646}" srcOrd="0" destOrd="0" presId="urn:microsoft.com/office/officeart/2005/8/layout/chevron1"/>
    <dgm:cxn modelId="{4BD81A2D-98E6-4436-8D1C-4401C7EA7C2E}" srcId="{5CEF05A0-8592-4E19-B534-CF8DA92D5C85}" destId="{845485CC-7F42-4E91-A00B-AD1808266A59}" srcOrd="3" destOrd="0" parTransId="{E396826C-359F-461F-B222-F959C3793F61}" sibTransId="{89E51C20-2D62-4186-8997-F2A21022C6CF}"/>
    <dgm:cxn modelId="{7E781441-A50F-4E46-A2D9-E957B894E573}" type="presOf" srcId="{D400241C-DEAF-4E77-A8FB-95CBA722C5BF}" destId="{4F9DEA38-A8FA-418A-B139-308095C75DE5}" srcOrd="0" destOrd="0" presId="urn:microsoft.com/office/officeart/2005/8/layout/chevron1"/>
    <dgm:cxn modelId="{307E2D55-0313-446A-83D1-63117C21C296}" srcId="{5CEF05A0-8592-4E19-B534-CF8DA92D5C85}" destId="{09E83A0D-6FEF-41DF-A1A8-06E9FFC85F71}" srcOrd="0" destOrd="0" parTransId="{FFD59D49-A026-4E00-87EA-187DB5D6A066}" sibTransId="{36CCA29F-F965-4645-9D7F-1EDA4C75E57E}"/>
    <dgm:cxn modelId="{D8FBB08B-BBD3-47DB-A200-8EBC561DA62F}" type="presOf" srcId="{845485CC-7F42-4E91-A00B-AD1808266A59}" destId="{89AA18CC-6C77-44F3-85A7-38695F314F32}" srcOrd="0" destOrd="0" presId="urn:microsoft.com/office/officeart/2005/8/layout/chevron1"/>
    <dgm:cxn modelId="{EB33419B-0263-433C-9BC9-665F9D4DD10F}" srcId="{5CEF05A0-8592-4E19-B534-CF8DA92D5C85}" destId="{D400241C-DEAF-4E77-A8FB-95CBA722C5BF}" srcOrd="1" destOrd="0" parTransId="{926D2AE0-ECB9-48CF-AB6F-BD18F9C28779}" sibTransId="{55CA4814-D433-4485-9603-A24EF1C3B8F7}"/>
    <dgm:cxn modelId="{20E123D7-F393-4E76-84F8-B897C6CC5ADB}" srcId="{5CEF05A0-8592-4E19-B534-CF8DA92D5C85}" destId="{EFC05841-292D-4BFD-B586-9DB1A0F0999E}" srcOrd="2" destOrd="0" parTransId="{6BEBE1E2-7ADD-46DB-A390-E1FE68A19EE5}" sibTransId="{EB0BFDBB-37BC-44A5-9757-FDC45C28EECB}"/>
    <dgm:cxn modelId="{69FB16EC-B9B6-4DD2-8F60-D3C62BC2C822}" type="presOf" srcId="{EFC05841-292D-4BFD-B586-9DB1A0F0999E}" destId="{DB2DC495-4888-4FB0-8E56-94B7ED74FA00}" srcOrd="0" destOrd="0" presId="urn:microsoft.com/office/officeart/2005/8/layout/chevron1"/>
    <dgm:cxn modelId="{FDC2920E-D462-4099-AAD9-7061DA75790D}" type="presParOf" srcId="{AFDF9144-0890-4741-9012-683715D91BA8}" destId="{E9EC313E-C07D-4024-9AF7-7BAA82F22646}" srcOrd="0" destOrd="0" presId="urn:microsoft.com/office/officeart/2005/8/layout/chevron1"/>
    <dgm:cxn modelId="{BE9CD0F0-86E3-473D-ACC0-0A1CDB83D02D}" type="presParOf" srcId="{AFDF9144-0890-4741-9012-683715D91BA8}" destId="{1254BCE1-0659-4C9C-A343-41153979CEE1}" srcOrd="1" destOrd="0" presId="urn:microsoft.com/office/officeart/2005/8/layout/chevron1"/>
    <dgm:cxn modelId="{23C3C8E6-6442-4A61-9F3C-66FB5F60C029}" type="presParOf" srcId="{AFDF9144-0890-4741-9012-683715D91BA8}" destId="{4F9DEA38-A8FA-418A-B139-308095C75DE5}" srcOrd="2" destOrd="0" presId="urn:microsoft.com/office/officeart/2005/8/layout/chevron1"/>
    <dgm:cxn modelId="{ECF28035-C4C2-4F0A-91A6-54605395BB01}" type="presParOf" srcId="{AFDF9144-0890-4741-9012-683715D91BA8}" destId="{F32AF327-A8A7-42ED-9A3A-FD065AEF35CC}" srcOrd="3" destOrd="0" presId="urn:microsoft.com/office/officeart/2005/8/layout/chevron1"/>
    <dgm:cxn modelId="{1EA5E5A7-6379-4647-82EB-47293F901444}" type="presParOf" srcId="{AFDF9144-0890-4741-9012-683715D91BA8}" destId="{DB2DC495-4888-4FB0-8E56-94B7ED74FA00}" srcOrd="4" destOrd="0" presId="urn:microsoft.com/office/officeart/2005/8/layout/chevron1"/>
    <dgm:cxn modelId="{05C2C0AF-C649-43A1-9660-BD856B630B95}" type="presParOf" srcId="{AFDF9144-0890-4741-9012-683715D91BA8}" destId="{3128D3E7-1249-4292-B711-881F04FEB888}" srcOrd="5" destOrd="0" presId="urn:microsoft.com/office/officeart/2005/8/layout/chevron1"/>
    <dgm:cxn modelId="{39A0DD8E-E4B6-47DF-81A2-0B69F2B95DCA}" type="presParOf" srcId="{AFDF9144-0890-4741-9012-683715D91BA8}" destId="{89AA18CC-6C77-44F3-85A7-38695F314F3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V32Drawing3" minVer="http://schemas.openxmlformats.org/drawingml/2006/diagram"/>
    </a:ext>
  </dgm:extLst>
</dgm:dataModel>
</file>

<file path=ppt/diagrams/v32_s3_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C313E-C07D-4024-9AF7-7BAA82F22646}">
      <dsp:nvSpPr>
        <dsp:cNvPr id="0" name=""/>
        <dsp:cNvSpPr/>
      </dsp:nvSpPr>
      <dsp:spPr>
        <a:xfrm>
          <a:off x="0" y="0"/>
          <a:ext cx="2622042" cy="283464"/>
        </a:xfrm>
        <a:prstGeom prst="rightArrow">
          <a:avLst>
            <a:gd name="adj1" fmla="val 100000"/>
            <a:gd name="adj2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Executive summary</a:t>
          </a:r>
        </a:p>
      </dsp:txBody>
      <dsp:txXfrm>
        <a:off x="56693" y="0"/>
        <a:ext cx="2508656" cy="283464"/>
      </dsp:txXfrm>
    </dsp:sp>
    <dsp:sp modelId="{4F9DEA38-A8FA-418A-B139-308095C75DE5}">
      <dsp:nvSpPr>
        <dsp:cNvPr id="0" name=""/>
        <dsp:cNvSpPr/>
      </dsp:nvSpPr>
      <dsp:spPr>
        <a:xfrm>
          <a:off x="2676906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Situation</a:t>
          </a:r>
        </a:p>
      </dsp:txBody>
      <dsp:txXfrm>
        <a:off x="2733599" y="0"/>
        <a:ext cx="2508656" cy="283464"/>
      </dsp:txXfrm>
    </dsp:sp>
    <dsp:sp modelId="{DB2DC495-4888-4FB0-8E56-94B7ED74FA00}">
      <dsp:nvSpPr>
        <dsp:cNvPr id="0" name=""/>
        <dsp:cNvSpPr/>
      </dsp:nvSpPr>
      <dsp:spPr>
        <a:xfrm>
          <a:off x="5353812" y="0"/>
          <a:ext cx="2622042" cy="283464"/>
        </a:xfrm>
        <a:prstGeom prst="chevron">
          <a:avLst>
            <a:gd name="adj" fmla="val 20000"/>
          </a:avLst>
        </a:prstGeom>
        <a:solidFill>
          <a:srgbClr val="F5F5F5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0" kern="1200">
              <a:solidFill>
                <a:srgbClr val="0A2373"/>
              </a:solidFill>
              <a:latin typeface="Lato" panose="020F0502020204030203" pitchFamily="34" charset="0"/>
            </a:rPr>
            <a:t>Complication</a:t>
          </a:r>
        </a:p>
      </dsp:txBody>
      <dsp:txXfrm>
        <a:off x="5410505" y="0"/>
        <a:ext cx="2508656" cy="283464"/>
      </dsp:txXfrm>
    </dsp:sp>
    <dsp:sp modelId="{89AA18CC-6C77-44F3-85A7-38695F314F32}">
      <dsp:nvSpPr>
        <dsp:cNvPr id="0" name=""/>
        <dsp:cNvSpPr/>
      </dsp:nvSpPr>
      <dsp:spPr>
        <a:xfrm>
          <a:off x="8030718" y="0"/>
          <a:ext cx="2622042" cy="283464"/>
        </a:xfrm>
        <a:prstGeom prst="chevron">
          <a:avLst>
            <a:gd name="adj" fmla="val 20000"/>
          </a:avLst>
        </a:prstGeom>
        <a:solidFill>
          <a:srgbClr val="0A2373"/>
        </a:solidFill>
        <a:effectLst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50" b="1" kern="1200">
              <a:solidFill>
                <a:srgbClr val="FFFFFF"/>
              </a:solidFill>
              <a:latin typeface="Lato" panose="020F0502020204030203" pitchFamily="34" charset="0"/>
            </a:rPr>
            <a:t>Resolution</a:t>
          </a:r>
        </a:p>
      </dsp:txBody>
      <dsp:txXfrm>
        <a:off x="8087411" y="0"/>
        <a:ext cx="2508656" cy="283464"/>
      </dsp:txXfrm>
    </dsp:sp>
  </dsp:spTree>
</dsp:drawing>
</file>

<file path=ppt/diagrams/v32_s3_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4.32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v32_s3_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b2c9c1a0140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45b9ff6154a21" /><Relationship Type="http://schemas.openxmlformats.org/officeDocument/2006/relationships/notesMaster" Target="/ppt/notesMasters/notesMaster1.xml" Id="R60b4e565e46046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6eca742517418b" /><Relationship Type="http://schemas.openxmlformats.org/officeDocument/2006/relationships/notesMaster" Target="/ppt/notesMasters/notesMaster1.xml" Id="R99ec4a45905447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0ad136c70e4b3a" /><Relationship Type="http://schemas.openxmlformats.org/officeDocument/2006/relationships/notesMaster" Target="/ppt/notesMasters/notesMaster1.xml" Id="Rbfb7f42a712a4e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 xmlns:a="http://schemas.openxmlformats.org/drawingml/2006/main">
            <a:r>
              <a:t>Figures reused from South Africa market story v37; no new model assumptions.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 xmlns:a="http://schemas.openxmlformats.org/drawingml/2006/main">
            <a:r>
              <a:t>Figures reused from South Africa market story v37; no new model assumptions.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 xmlns:a="http://schemas.openxmlformats.org/drawingml/2006/main">
            <a:r>
              <a:t>Figures reused from South Africa market story v37; no new model assumptions.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5c1a938de4ff5" /><Relationship Type="http://schemas.openxmlformats.org/officeDocument/2006/relationships/image" Target="/ppt/media/image.jpeg" Id="R2538b370af1241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351d0835f4cb2" /><Relationship Type="http://schemas.openxmlformats.org/officeDocument/2006/relationships/image" Target="/ppt/media/image2.jpeg" Id="R15f9b9e093264158" /><Relationship Type="http://schemas.openxmlformats.org/officeDocument/2006/relationships/image" Target="/ppt/media/image2.png" Id="Re4d023819aca42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e6f22a3c8472f" /><Relationship Type="http://schemas.openxmlformats.org/officeDocument/2006/relationships/image" Target="/ppt/media/image2.jpeg" Id="Rfa9404d399f9442e" /><Relationship Type="http://schemas.openxmlformats.org/officeDocument/2006/relationships/image" Target="/ppt/media/image2.png" Id="R5a5b890046734d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5edb1dd2041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b1414d87142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d92a89e2b43be" /></Relationships>
</file>

<file path=ppt/slideLayouts/slideLayout1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38b370af1241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1"/>
            <a:ext cx="1158875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" y="5137149"/>
            <a:ext cx="49339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9b9e093264158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5727050"/>
            <a:ext cx="647700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023819aca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404d399f9442e"/>
          <a:srcRect xmlns:a="http://schemas.openxmlformats.org/drawingml/2006/main" l="1233" t="15791" r="178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-12700"/>
            <a:ext cx="11588749" cy="5753329"/>
          </a:xfrm>
          <a:prstGeom xmlns:a="http://schemas.openxmlformats.org/drawingml/2006/main" prst="rect">
            <a:avLst/>
          </a:prstGeom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661025"/>
            <a:ext cx="11588749" cy="1200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177800" y="5205413"/>
            <a:ext cx="4933950" cy="16525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 xmlns:a="http://schemas.openxmlformats.org/drawingml/2006/main"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" y="4690872"/>
            <a:ext cx="4992624" cy="1993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b890046734d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814" y="5675739"/>
            <a:ext cx="2518046" cy="5645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4299527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200" y="0"/>
            <a:ext cx="2509074" cy="10350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153" y="0"/>
            <a:ext cx="58235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05599" y="6489700"/>
            <a:ext cx="805350" cy="287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85216"/>
            <a:ext cx="1056132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 xmlns:a="http://schemas.openxmlformats.org/drawingml/2006/main"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4752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864d038b84b41c1" /><Relationship Type="http://schemas.openxmlformats.org/officeDocument/2006/relationships/theme" Target="/ppt/slideMasters/theme/theme2.xml" Id="Rcf58a21144c440d2" /><Relationship Type="http://schemas.openxmlformats.org/officeDocument/2006/relationships/slideLayout" Target="/ppt/slideLayouts/slideLayout1.xml" Id="R439b5e073c554468" /><Relationship Type="http://schemas.openxmlformats.org/officeDocument/2006/relationships/slideLayout" Target="/ppt/slideLayouts/slideLayout2.xml" Id="R0a6b944688914775" /><Relationship Type="http://schemas.openxmlformats.org/officeDocument/2006/relationships/slideLayout" Target="/ppt/slideLayouts/slideLayout3.xml" Id="R5a98944eabc84f3c" /><Relationship Type="http://schemas.openxmlformats.org/officeDocument/2006/relationships/slideLayout" Target="/ppt/slideLayouts/slideLayout4.xml" Id="Rebc707e17c8c47e0" /><Relationship Type="http://schemas.openxmlformats.org/officeDocument/2006/relationships/slideLayout" Target="/ppt/slideLayouts/slideLayout5.xml" Id="R404f493920254238" /><Relationship Type="http://schemas.openxmlformats.org/officeDocument/2006/relationships/slideLayout" Target="/ppt/slideLayouts/slideLayout6.xml" Id="Rc0162e56b36f4b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7801" y="368299"/>
            <a:ext cx="11233148" cy="690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7801" y="1233488"/>
            <a:ext cx="11233149" cy="52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05599" y="6489700"/>
            <a:ext cx="805350" cy="287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4d038b84b41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0" y="6515100"/>
            <a:ext cx="952500" cy="212558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8816"/>
            <a:ext cx="85953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0" bIns="0" anchor="ctr">
            <a:normAutofit/>
          </a:bodyPr>
          <a:lstStyle xmlns:a="http://schemas.openxmlformats.org/drawingml/2006/main"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 xmlns:a="http://schemas.openxmlformats.org/drawingml/2006/main"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065276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b5e073c554468"/>
    <p:sldLayoutId xmlns:r="http://schemas.openxmlformats.org/officeDocument/2006/relationships" id="2147483650" r:id="R0a6b944688914775"/>
    <p:sldLayoutId xmlns:r="http://schemas.openxmlformats.org/officeDocument/2006/relationships" id="2147483651" r:id="R5a98944eabc84f3c"/>
    <p:sldLayoutId xmlns:r="http://schemas.openxmlformats.org/officeDocument/2006/relationships" id="2147483652" r:id="Rebc707e17c8c47e0"/>
    <p:sldLayoutId xmlns:r="http://schemas.openxmlformats.org/officeDocument/2006/relationships" id="2147483653" r:id="R404f493920254238"/>
    <p:sldLayoutId xmlns:r="http://schemas.openxmlformats.org/officeDocument/2006/relationships" id="2147483654" r:id="Rc0162e56b36f4b8f"/>
  </p:sldLayoutIdLst>
  <p:hf hdr="0" ftr="0" dt="0"/>
  <p:txStyles>
    <p:titleStyle>
      <a:lvl1pPr xmlns:a="http://schemas.openxmlformats.org/drawingml/2006/main"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xmlns:a="http://schemas.openxmlformats.org/drawingml/2006/main" val="F26B43"/>
          </p15:clr>
        </p15:guide>
        <p15:guide id="13" pos="112" userDrawn="1">
          <p15:clr>
            <a:srgbClr xmlns:a="http://schemas.openxmlformats.org/drawingml/2006/main" val="F26B43"/>
          </p15:clr>
        </p15:guide>
        <p15:guide id="14" orient="horz" pos="4269" userDrawn="1">
          <p15:clr>
            <a:srgbClr xmlns:a="http://schemas.openxmlformats.org/drawingml/2006/main" val="F26B43"/>
          </p15:clr>
        </p15:guide>
        <p15:guide id="15" pos="3650" userDrawn="1">
          <p15:clr>
            <a:srgbClr xmlns:a="http://schemas.openxmlformats.org/drawingml/2006/main" val="F26B43"/>
          </p15:clr>
        </p15:guide>
        <p15:guide id="16" pos="7188" userDrawn="1">
          <p15:clr>
            <a:srgbClr xmlns:a="http://schemas.openxmlformats.org/drawingml/2006/main" val="F26B43"/>
          </p15:clr>
        </p15:guide>
        <p15:guide id="17" orient="horz" pos="28" userDrawn="1">
          <p15:clr>
            <a:srgbClr xmlns:a="http://schemas.openxmlformats.org/drawingml/2006/main" val="F26B43"/>
          </p15:clr>
        </p15:guide>
        <p15:guide id="18" orient="horz" pos="686" userDrawn="1">
          <p15:clr>
            <a:srgbClr xmlns:a="http://schemas.openxmlformats.org/drawingml/2006/main" val="F26B43"/>
          </p15:clr>
        </p15:guide>
        <p15:guide id="19" orient="horz" pos="777" userDrawn="1">
          <p15:clr>
            <a:srgbClr xmlns:a="http://schemas.openxmlformats.org/drawingml/2006/main" val="F26B43"/>
          </p15:clr>
        </p15:guide>
        <p15:guide id="20" orient="horz" pos="4088" userDrawn="1">
          <p15:clr>
            <a:srgbClr xmlns:a="http://schemas.openxmlformats.org/drawingml/2006/main" val="F26B43"/>
          </p15:clr>
        </p15:guide>
        <p15:guide id="21" orient="horz" pos="3680" userDrawn="1">
          <p15:clr>
            <a:srgbClr xmlns:a="http://schemas.openxmlformats.org/drawingml/2006/main" val="F26B43"/>
          </p15:clr>
        </p15:guide>
        <p15:guide id="22" orient="horz" pos="3566" userDrawn="1">
          <p15:clr>
            <a:srgbClr xmlns:a="http://schemas.openxmlformats.org/drawingml/2006/main" val="F26B43"/>
          </p15:clr>
        </p15:guide>
        <p15:guide id="23" pos="5805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722c8d4612c4c66"/><Relationship Type="http://schemas.openxmlformats.org/officeDocument/2006/relationships/notesSlide" Target="/ppt/notesSlides/notesSlide1.xml" Id="R996c375f80714822"/><Relationship Id="rIdSmartArt3" Type="http://schemas.openxmlformats.org/officeDocument/2006/relationships/diagramData" Target="../diagrams/v32_s1_data1.xml"/><Relationship Id="rIdSmartArt4" Type="http://schemas.openxmlformats.org/officeDocument/2006/relationships/diagramLayout" Target="../diagrams/v32_s1_layout1.xml"/><Relationship Id="rIdSmartArt5" Type="http://schemas.openxmlformats.org/officeDocument/2006/relationships/diagramQuickStyle" Target="../diagrams/v32_s1_quickStyle1.xml"/><Relationship Id="rIdSmartArt6" Type="http://schemas.openxmlformats.org/officeDocument/2006/relationships/diagramColors" Target="../diagrams/v32_s1_colors1.xml"/><Relationship Id="rIdV32Drawing1" Type="http://schemas.microsoft.com/office/2007/relationships/diagramDrawing" Target="../diagrams/v32_s1_drawing1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fed4609c996486e"/><Relationship Type="http://schemas.openxmlformats.org/officeDocument/2006/relationships/notesSlide" Target="/ppt/notesSlides/notesSlide2.xml" Id="R244c5bd3b5854c64"/><Relationship Id="rIdSmartArt3" Type="http://schemas.openxmlformats.org/officeDocument/2006/relationships/diagramData" Target="../diagrams/v32_s2_data1.xml"/><Relationship Id="rIdSmartArt4" Type="http://schemas.openxmlformats.org/officeDocument/2006/relationships/diagramLayout" Target="../diagrams/v32_s2_layout1.xml"/><Relationship Id="rIdSmartArt5" Type="http://schemas.openxmlformats.org/officeDocument/2006/relationships/diagramQuickStyle" Target="../diagrams/v32_s2_quickStyle1.xml"/><Relationship Id="rIdSmartArt6" Type="http://schemas.openxmlformats.org/officeDocument/2006/relationships/diagramColors" Target="../diagrams/v32_s2_colors1.xml"/><Relationship Id="rIdV32Drawing2" Type="http://schemas.microsoft.com/office/2007/relationships/diagramDrawing" Target="../diagrams/v32_s2_drawing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37014a1ad8a4a27"/><Relationship Type="http://schemas.openxmlformats.org/officeDocument/2006/relationships/notesSlide" Target="/ppt/notesSlides/notesSlide3.xml" Id="R8c4d6c19de694360"/><Relationship Id="rIdSmartArt3" Type="http://schemas.openxmlformats.org/officeDocument/2006/relationships/diagramData" Target="../diagrams/v32_s3_data1.xml"/><Relationship Id="rIdSmartArt4" Type="http://schemas.openxmlformats.org/officeDocument/2006/relationships/diagramLayout" Target="../diagrams/v32_s3_layout1.xml"/><Relationship Id="rIdSmartArt5" Type="http://schemas.openxmlformats.org/officeDocument/2006/relationships/diagramQuickStyle" Target="../diagrams/v32_s3_quickStyle1.xml"/><Relationship Id="rIdSmartArt6" Type="http://schemas.openxmlformats.org/officeDocument/2006/relationships/diagramColors" Target="../diagrams/v32_s3_colors1.xml"/><Relationship Id="rIdV32Drawing3" Type="http://schemas.microsoft.com/office/2007/relationships/diagramDrawing" Target="../diagrams/v32_s3_drawing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large fuel market relies on substantial imports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1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national sales; SARS 2025 trade; analytical workbook v02. 2025 demand is estimated; 5.8bn L production is a planning assumption. Gross import need includes exports and assumes no stock change.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S metric 0">
            <a:extLst xmlns:a="http://schemas.openxmlformats.org/drawingml/2006/main">
              <a:ext uri="{FF2B5EF4-FFF2-40B4-BE49-F238E27FC236}">
                <a16:creationId xmlns:a16="http://schemas.microsoft.com/office/drawing/2014/main" id="{F4C84045-BEED-4AFB-B7F5-B38532CB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21.0bn L</a:t>
            </a:r>
          </a:p>
        </p:txBody>
      </p:sp>
      <p:sp>
        <p:nvSpPr>
          <p:cNvPr id="50" name="S label 0">
            <a:extLst xmlns:a="http://schemas.openxmlformats.org/drawingml/2006/main">
              <a:ext uri="{FF2B5EF4-FFF2-40B4-BE49-F238E27FC236}">
                <a16:creationId xmlns:a16="http://schemas.microsoft.com/office/drawing/2014/main" id="{4130CA41-A5E1-463A-B23D-49669D6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Estimated demand, 2025</a:t>
            </a:r>
          </a:p>
        </p:txBody>
      </p:sp>
      <p:sp>
        <p:nvSpPr>
          <p:cNvPr id="51" name="S detail 0">
            <a:extLst xmlns:a="http://schemas.openxmlformats.org/drawingml/2006/main">
              <a:ext uri="{FF2B5EF4-FFF2-40B4-BE49-F238E27FC236}">
                <a16:creationId xmlns:a16="http://schemas.microsoft.com/office/drawing/2014/main" id="{0491A622-304C-4F47-848E-2A5370A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8.9bn petrol and 12.1bn diesel</a:t>
            </a:r>
          </a:p>
        </p:txBody>
      </p:sp>
      <p:sp>
        <p:nvSpPr>
          <p:cNvPr id="52" name="S metric rule 0">
            <a:extLst xmlns:a="http://schemas.openxmlformats.org/drawingml/2006/main">
              <a:ext uri="{FF2B5EF4-FFF2-40B4-BE49-F238E27FC236}">
                <a16:creationId xmlns:a16="http://schemas.microsoft.com/office/drawing/2014/main" id="{44034667-FE0E-406D-A8A5-82DCC2DB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3" name="S metric 1">
            <a:extLst xmlns:a="http://schemas.openxmlformats.org/drawingml/2006/main">
              <a:ext uri="{FF2B5EF4-FFF2-40B4-BE49-F238E27FC236}">
                <a16:creationId xmlns:a16="http://schemas.microsoft.com/office/drawing/2014/main" id="{815E0D55-D4DF-45D5-A568-E8003F34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5.8bn L</a:t>
            </a:r>
          </a:p>
        </p:txBody>
      </p:sp>
      <p:sp>
        <p:nvSpPr>
          <p:cNvPr id="54" name="S label 1">
            <a:extLst xmlns:a="http://schemas.openxmlformats.org/drawingml/2006/main">
              <a:ext uri="{FF2B5EF4-FFF2-40B4-BE49-F238E27FC236}">
                <a16:creationId xmlns:a16="http://schemas.microsoft.com/office/drawing/2014/main" id="{B8D5B3CE-A398-40BD-8A72-B11C9C5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 assumption</a:t>
            </a:r>
          </a:p>
        </p:txBody>
      </p:sp>
      <p:sp>
        <p:nvSpPr>
          <p:cNvPr id="55" name="S detail 1">
            <a:extLst xmlns:a="http://schemas.openxmlformats.org/drawingml/2006/main">
              <a:ext uri="{FF2B5EF4-FFF2-40B4-BE49-F238E27FC236}">
                <a16:creationId xmlns:a16="http://schemas.microsoft.com/office/drawing/2014/main" id="{F7941973-4622-40BA-8DD9-2317596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National planning baseline</a:t>
            </a:r>
          </a:p>
        </p:txBody>
      </p:sp>
      <p:sp>
        <p:nvSpPr>
          <p:cNvPr id="56" name="S metric rule 1">
            <a:extLst xmlns:a="http://schemas.openxmlformats.org/drawingml/2006/main">
              <a:ext uri="{FF2B5EF4-FFF2-40B4-BE49-F238E27FC236}">
                <a16:creationId xmlns:a16="http://schemas.microsoft.com/office/drawing/2014/main" id="{5822C543-4141-4089-A289-A689481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7" name="S metric 2">
            <a:extLst xmlns:a="http://schemas.openxmlformats.org/drawingml/2006/main">
              <a:ext uri="{FF2B5EF4-FFF2-40B4-BE49-F238E27FC236}">
                <a16:creationId xmlns:a16="http://schemas.microsoft.com/office/drawing/2014/main" id="{61D44689-3CB3-425A-ADD4-D344C24F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16.7bn L</a:t>
            </a:r>
          </a:p>
        </p:txBody>
      </p:sp>
      <p:sp>
        <p:nvSpPr>
          <p:cNvPr id="58" name="S label 2">
            <a:extLst xmlns:a="http://schemas.openxmlformats.org/drawingml/2006/main">
              <a:ext uri="{FF2B5EF4-FFF2-40B4-BE49-F238E27FC236}">
                <a16:creationId xmlns:a16="http://schemas.microsoft.com/office/drawing/2014/main" id="{A1BCA5BE-6F3A-4458-91A7-9F520424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Gross import requirement</a:t>
            </a:r>
          </a:p>
        </p:txBody>
      </p:sp>
      <p:sp>
        <p:nvSpPr>
          <p:cNvPr id="59" name="S detail 2">
            <a:extLst xmlns:a="http://schemas.openxmlformats.org/drawingml/2006/main">
              <a:ext uri="{FF2B5EF4-FFF2-40B4-BE49-F238E27FC236}">
                <a16:creationId xmlns:a16="http://schemas.microsoft.com/office/drawing/2014/main" id="{CB2324CE-513A-43D9-A07C-7B499444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Broadly matches recorded imports</a:t>
            </a:r>
          </a:p>
        </p:txBody>
      </p:sp>
      <p:sp>
        <p:nvSpPr>
          <p:cNvPr id="60" name="S metric rule 2">
            <a:extLst xmlns:a="http://schemas.openxmlformats.org/drawingml/2006/main">
              <a:ext uri="{FF2B5EF4-FFF2-40B4-BE49-F238E27FC236}">
                <a16:creationId xmlns:a16="http://schemas.microsoft.com/office/drawing/2014/main" id="{F83A608E-68E0-4239-8828-FC281680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61" name="S demand heading">
            <a:extLst xmlns:a="http://schemas.openxmlformats.org/drawingml/2006/main">
              <a:ext uri="{FF2B5EF4-FFF2-40B4-BE49-F238E27FC236}">
                <a16:creationId xmlns:a16="http://schemas.microsoft.com/office/drawing/2014/main" id="{67E6AFB2-6F6C-4582-81CD-4670B82D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substantial demand base</a:t>
            </a:r>
          </a:p>
        </p:txBody>
      </p:sp>
      <p:sp>
        <p:nvSpPr>
          <p:cNvPr id="62" name="S demand body">
            <a:extLst xmlns:a="http://schemas.openxmlformats.org/drawingml/2006/main">
              <a:ext uri="{FF2B5EF4-FFF2-40B4-BE49-F238E27FC236}">
                <a16:creationId xmlns:a16="http://schemas.microsoft.com/office/drawing/2014/main" id="{20299231-CDC8-4CDE-AFC3-859395C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4905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Road transport is the largest use. Mining, agriculture, manufacturing and power also contribute.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Demand has eased from 21.9bn litres in 2023 to an estimated 21.0bn in 2025.</a:t>
            </a:r>
          </a:p>
        </p:txBody>
      </p:sp>
      <p:sp>
        <p:nvSpPr>
          <p:cNvPr id="63" name="S route heading">
            <a:extLst xmlns:a="http://schemas.openxmlformats.org/drawingml/2006/main">
              <a:ext uri="{FF2B5EF4-FFF2-40B4-BE49-F238E27FC236}">
                <a16:creationId xmlns:a16="http://schemas.microsoft.com/office/drawing/2014/main" id="{CE5A6013-04AE-44C0-B891-1AF4F021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4332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Durban connects imports to inland customers</a:t>
            </a:r>
          </a:p>
        </p:txBody>
      </p:sp>
      <p:sp>
        <p:nvSpPr>
          <p:cNvPr id="64" name="S route body">
            <a:extLst xmlns:a="http://schemas.openxmlformats.org/drawingml/2006/main">
              <a:ext uri="{FF2B5EF4-FFF2-40B4-BE49-F238E27FC236}">
                <a16:creationId xmlns:a16="http://schemas.microsoft.com/office/drawing/2014/main" id="{375E5C80-DCC6-4CAE-A2DC-AC09543D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1151A"/>
                </a:solidFill>
                <a:latin typeface="Lato"/>
                <a:ea typeface="Lato"/>
                <a:cs typeface="Lato"/>
              </a:rPr>
              <a:t>Durban customs recorded 13.16bn litres of imports in 2025. The Durban–Lesedi route provides access to inland demand, subject to customer and logistics access.</a:t>
            </a:r>
          </a:p>
        </p:txBody>
      </p:sp>
      <p:sp>
        <p:nvSpPr>
          <p:cNvPr id="65" name="S takeaway">
            <a:extLst xmlns:a="http://schemas.openxmlformats.org/drawingml/2006/main">
              <a:ext uri="{FF2B5EF4-FFF2-40B4-BE49-F238E27FC236}">
                <a16:creationId xmlns:a16="http://schemas.microsoft.com/office/drawing/2014/main" id="{CB52B121-BB7C-4751-939C-FA9551CE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South Africa has an established import market serving a large national fuel requirement.</a:t>
            </a:r>
          </a:p>
        </p:txBody>
      </p:sp>
      <p:graphicFrame xmlns:a="http://schemas.openxmlformats.org/drawingml/2006/main">
        <p:nvGraphicFramePr>
          <p:cNvPr id="5001" name="brand-pptx section navigation">
            <a:extLst>
              <a:ext uri="{FF2B5EF4-FFF2-40B4-BE49-F238E27FC236}">
                <a16:creationId xmlns:a16="http://schemas.microsoft.com/office/drawing/2014/main" id="{1842EBDA-FB36-CC65-2DF5-3F7E4B0CD8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702407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2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sector activity and freight; Eskom Integrated Report 2025 p141; Sasol and Glencore production disclosures; Galp and Petromoc infrastructure disclosures. Detailed evidence: South Africa story v37 pp7–11.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C left heading">
            <a:extLst xmlns:a="http://schemas.openxmlformats.org/drawingml/2006/main">
              <a:ext uri="{FF2B5EF4-FFF2-40B4-BE49-F238E27FC236}">
                <a16:creationId xmlns:a16="http://schemas.microsoft.com/office/drawing/2014/main" id="{EF7F5F06-B528-4F2E-BFD5-914AFA50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Driver</a:t>
            </a:r>
          </a:p>
        </p:txBody>
      </p:sp>
      <p:sp>
        <p:nvSpPr>
          <p:cNvPr id="50" name="C right heading">
            <a:extLst xmlns:a="http://schemas.openxmlformats.org/drawingml/2006/main">
              <a:ext uri="{FF2B5EF4-FFF2-40B4-BE49-F238E27FC236}">
                <a16:creationId xmlns:a16="http://schemas.microsoft.com/office/drawing/2014/main" id="{A378D8EB-E0DF-47C7-BA64-1C759929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04975"/>
            <a:ext cx="739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What changes for fuel demand and Durban flows</a:t>
            </a:r>
          </a:p>
        </p:txBody>
      </p:sp>
      <p:sp>
        <p:nvSpPr>
          <p:cNvPr id="51" name="C header rule">
            <a:extLst xmlns:a="http://schemas.openxmlformats.org/drawingml/2006/main">
              <a:ext uri="{FF2B5EF4-FFF2-40B4-BE49-F238E27FC236}">
                <a16:creationId xmlns:a16="http://schemas.microsoft.com/office/drawing/2014/main" id="{BA57892C-DE36-4939-8122-6B764CA3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2" name="C driver 0">
            <a:extLst xmlns:a="http://schemas.openxmlformats.org/drawingml/2006/main">
              <a:ext uri="{FF2B5EF4-FFF2-40B4-BE49-F238E27FC236}">
                <a16:creationId xmlns:a16="http://schemas.microsoft.com/office/drawing/2014/main" id="{56BC710E-234C-4B7A-845A-B6E09547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</a:t>
            </a:r>
          </a:p>
        </p:txBody>
      </p:sp>
      <p:sp>
        <p:nvSpPr>
          <p:cNvPr id="53" name="C effect 0">
            <a:extLst xmlns:a="http://schemas.openxmlformats.org/drawingml/2006/main">
              <a:ext uri="{FF2B5EF4-FFF2-40B4-BE49-F238E27FC236}">
                <a16:creationId xmlns:a16="http://schemas.microsoft.com/office/drawing/2014/main" id="{9F1D2778-6016-4131-A2C8-5D2A162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739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Mining, manufacturing and agriculture follow different growth paths, changing equipment and freight demand.</a:t>
            </a:r>
          </a:p>
        </p:txBody>
      </p:sp>
      <p:sp>
        <p:nvSpPr>
          <p:cNvPr id="54" name="C rule 0">
            <a:extLst xmlns:a="http://schemas.openxmlformats.org/drawingml/2006/main">
              <a:ext uri="{FF2B5EF4-FFF2-40B4-BE49-F238E27FC236}">
                <a16:creationId xmlns:a16="http://schemas.microsoft.com/office/drawing/2014/main" id="{5DB4C185-4429-4EE6-862A-7B627BEF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5" name="C driver 1">
            <a:extLst xmlns:a="http://schemas.openxmlformats.org/drawingml/2006/main">
              <a:ext uri="{FF2B5EF4-FFF2-40B4-BE49-F238E27FC236}">
                <a16:creationId xmlns:a16="http://schemas.microsoft.com/office/drawing/2014/main" id="{6D74F255-9C67-4ECD-B02B-C65AC4B8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89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Eskom recovery</a:t>
            </a:r>
          </a:p>
        </p:txBody>
      </p:sp>
      <p:sp>
        <p:nvSpPr>
          <p:cNvPr id="56" name="C effect 1">
            <a:extLst xmlns:a="http://schemas.openxmlformats.org/drawingml/2006/main">
              <a:ext uri="{FF2B5EF4-FFF2-40B4-BE49-F238E27FC236}">
                <a16:creationId xmlns:a16="http://schemas.microsoft.com/office/drawing/2014/main" id="{1D25F6A3-4BF8-47F8-94F8-4045C9E6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739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More reliable electricity reduces peaking and backup diesel at utilities, mines, factories and farms.</a:t>
            </a:r>
          </a:p>
        </p:txBody>
      </p:sp>
      <p:sp>
        <p:nvSpPr>
          <p:cNvPr id="57" name="C rule 1">
            <a:extLst xmlns:a="http://schemas.openxmlformats.org/drawingml/2006/main">
              <a:ext uri="{FF2B5EF4-FFF2-40B4-BE49-F238E27FC236}">
                <a16:creationId xmlns:a16="http://schemas.microsoft.com/office/drawing/2014/main" id="{9B56DD92-94B1-403D-8F68-3A49A75F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8" name="C driver 2">
            <a:extLst xmlns:a="http://schemas.openxmlformats.org/drawingml/2006/main">
              <a:ext uri="{FF2B5EF4-FFF2-40B4-BE49-F238E27FC236}">
                <a16:creationId xmlns:a16="http://schemas.microsoft.com/office/drawing/2014/main" id="{0456132F-BF82-404A-91ED-FA0289A1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Road-to-rail and efficiency</a:t>
            </a:r>
          </a:p>
        </p:txBody>
      </p:sp>
      <p:sp>
        <p:nvSpPr>
          <p:cNvPr id="59" name="C effect 2">
            <a:extLst xmlns:a="http://schemas.openxmlformats.org/drawingml/2006/main">
              <a:ext uri="{FF2B5EF4-FFF2-40B4-BE49-F238E27FC236}">
                <a16:creationId xmlns:a16="http://schemas.microsoft.com/office/drawing/2014/main" id="{1BC56347-030A-423C-ABB3-03AE863E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739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recovery and vehicle efficiency can reduce the fuel required to move goods. Rail growth alone does not prove road displacement.</a:t>
            </a:r>
          </a:p>
        </p:txBody>
      </p:sp>
      <p:sp>
        <p:nvSpPr>
          <p:cNvPr id="60" name="C rule 2">
            <a:extLst xmlns:a="http://schemas.openxmlformats.org/drawingml/2006/main">
              <a:ext uri="{FF2B5EF4-FFF2-40B4-BE49-F238E27FC236}">
                <a16:creationId xmlns:a16="http://schemas.microsoft.com/office/drawing/2014/main" id="{15D7ACED-EF70-4594-B850-7B9262FB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61" name="C driver 3">
            <a:extLst xmlns:a="http://schemas.openxmlformats.org/drawingml/2006/main">
              <a:ext uri="{FF2B5EF4-FFF2-40B4-BE49-F238E27FC236}">
                <a16:creationId xmlns:a16="http://schemas.microsoft.com/office/drawing/2014/main" id="{140C9776-5C17-409C-B514-8BE3B20D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Domestic production</a:t>
            </a:r>
          </a:p>
        </p:txBody>
      </p:sp>
      <p:sp>
        <p:nvSpPr>
          <p:cNvPr id="62" name="C effect 3">
            <a:extLst xmlns:a="http://schemas.openxmlformats.org/drawingml/2006/main">
              <a:ext uri="{FF2B5EF4-FFF2-40B4-BE49-F238E27FC236}">
                <a16:creationId xmlns:a16="http://schemas.microsoft.com/office/drawing/2014/main" id="{0C4DED4C-FDD8-4C55-B5DA-0BBEB613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67175"/>
            <a:ext cx="739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Higher refinery output or restarts could displace imports. Lower output would increase import dependence.</a:t>
            </a:r>
          </a:p>
        </p:txBody>
      </p:sp>
      <p:sp>
        <p:nvSpPr>
          <p:cNvPr id="63" name="C rule 3">
            <a:extLst xmlns:a="http://schemas.openxmlformats.org/drawingml/2006/main">
              <a:ext uri="{FF2B5EF4-FFF2-40B4-BE49-F238E27FC236}">
                <a16:creationId xmlns:a16="http://schemas.microsoft.com/office/drawing/2014/main" id="{5F1F44BF-CF63-4510-92B6-7935D85B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64" name="C driver 4">
            <a:extLst xmlns:a="http://schemas.openxmlformats.org/drawingml/2006/main">
              <a:ext uri="{FF2B5EF4-FFF2-40B4-BE49-F238E27FC236}">
                <a16:creationId xmlns:a16="http://schemas.microsoft.com/office/drawing/2014/main" id="{E3F11677-E6DA-4DD7-A4FC-0378809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Competing gateways</a:t>
            </a:r>
          </a:p>
        </p:txBody>
      </p:sp>
      <p:sp>
        <p:nvSpPr>
          <p:cNvPr id="65" name="C effect 4">
            <a:extLst xmlns:a="http://schemas.openxmlformats.org/drawingml/2006/main">
              <a:ext uri="{FF2B5EF4-FFF2-40B4-BE49-F238E27FC236}">
                <a16:creationId xmlns:a16="http://schemas.microsoft.com/office/drawing/2014/main" id="{105C7AC5-850F-4B1A-860F-3600B7CA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739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Matola provides an alternative route for inland customers. Delivered cost, reliability and access determine the volumes it can win.</a:t>
            </a:r>
          </a:p>
        </p:txBody>
      </p:sp>
      <p:sp>
        <p:nvSpPr>
          <p:cNvPr id="66" name="C rule 4">
            <a:extLst xmlns:a="http://schemas.openxmlformats.org/drawingml/2006/main">
              <a:ext uri="{FF2B5EF4-FFF2-40B4-BE49-F238E27FC236}">
                <a16:creationId xmlns:a16="http://schemas.microsoft.com/office/drawing/2014/main" id="{D9596C40-7081-40F6-9303-43AEA2C9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67" name="C takeaway">
            <a:extLst xmlns:a="http://schemas.openxmlformats.org/drawingml/2006/main">
              <a:ext uri="{FF2B5EF4-FFF2-40B4-BE49-F238E27FC236}">
                <a16:creationId xmlns:a16="http://schemas.microsoft.com/office/drawing/2014/main" id="{10F55868-4C57-4AEB-871D-68715F73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64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graphicFrame xmlns:a="http://schemas.openxmlformats.org/drawingml/2006/main">
        <p:nvGraphicFramePr>
          <p:cNvPr id="5002" name="brand-pptx section navigation">
            <a:extLst>
              <a:ext uri="{FF2B5EF4-FFF2-40B4-BE49-F238E27FC236}">
                <a16:creationId xmlns:a16="http://schemas.microsoft.com/office/drawing/2014/main" id="{EC476A2F-58C3-0732-D966-0F511ABE1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59198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123D7-09E3-4A57-950D-7E074EF5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 xmlns:a="http://schemas.openxmlformats.org/drawingml/2006/main">
              <a:ext uri="{FF2B5EF4-FFF2-40B4-BE49-F238E27FC236}">
                <a16:creationId xmlns:a16="http://schemas.microsoft.com/office/drawing/2014/main" id="{49B869F3-46DF-465F-B4AA-B2AE3EC480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800" y="6515100"/>
            <a:ext cx="3556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sz="1100"/>
              <a:t>3</a:t>
            </a:r>
            <a:endParaRPr sz="1100"/>
          </a:p>
        </p:txBody>
      </p:sp>
      <p:sp>
        <p:nvSpPr>
          <p:cNvPr id="8" name="Unified source footer">
            <a:extLst xmlns:a="http://schemas.openxmlformats.org/drawingml/2006/main">
              <a:ext uri="{FF2B5EF4-FFF2-40B4-BE49-F238E27FC236}">
                <a16:creationId xmlns:a16="http://schemas.microsoft.com/office/drawing/2014/main" id="{53788589-4CBC-42C2-9950-732FB84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563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563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50"/>
          </a:p>
        </p:txBody>
      </p:sp>
      <p:sp>
        <p:nvSpPr>
          <p:cNvPr id="48" name="Strictly Confidential footer">
            <a:extLst xmlns:a="http://schemas.openxmlformats.org/drawingml/2006/main">
              <a:ext uri="{FF2B5EF4-FFF2-40B4-BE49-F238E27FC236}">
                <a16:creationId xmlns:a16="http://schemas.microsoft.com/office/drawing/2014/main" id="{3F45C794-E950-4BF9-A7F6-C3A7418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9984"/>
            <a:ext cx="20116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 xmlns:a="http://schemas.openxmlformats.org/drawingml/2006/main">
              <a:ext uri="{FF2B5EF4-FFF2-40B4-BE49-F238E27FC236}">
                <a16:creationId xmlns:a16="http://schemas.microsoft.com/office/drawing/2014/main" id="{636A1422-0A99-4465-B72B-D3F0FBFA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 xmlns:a="http://schemas.openxmlformats.org/drawingml/2006/main">
              <a:ext uri="{FF2B5EF4-FFF2-40B4-BE49-F238E27FC236}">
                <a16:creationId xmlns:a16="http://schemas.microsoft.com/office/drawing/2014/main" id="{7A8C8E3F-5BA5-4BA2-9F05-6238D65B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base-case imports</a:t>
            </a:r>
          </a:p>
        </p:txBody>
      </p:sp>
      <p:sp>
        <p:nvSpPr>
          <p:cNvPr id="51" name="R import explanation">
            <a:extLst xmlns:a="http://schemas.openxmlformats.org/drawingml/2006/main">
              <a:ext uri="{FF2B5EF4-FFF2-40B4-BE49-F238E27FC236}">
                <a16:creationId xmlns:a16="http://schemas.microsoft.com/office/drawing/2014/main" id="{8A2F4961-E66B-49D4-AE73-7AA6AE7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Activity growth broadly offsets power, rail and efficiency reductions. Domestic production stays at the 5.8bn-litre planning baseline.</a:t>
            </a:r>
          </a:p>
        </p:txBody>
      </p:sp>
      <p:sp>
        <p:nvSpPr>
          <p:cNvPr id="52" name="R capture number">
            <a:extLst xmlns:a="http://schemas.openxmlformats.org/drawingml/2006/main">
              <a:ext uri="{FF2B5EF4-FFF2-40B4-BE49-F238E27FC236}">
                <a16:creationId xmlns:a16="http://schemas.microsoft.com/office/drawing/2014/main" id="{C0B5C43C-E5DA-4FF6-949F-D0FBDF06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 xmlns:a="http://schemas.openxmlformats.org/drawingml/2006/main">
              <a:ext uri="{FF2B5EF4-FFF2-40B4-BE49-F238E27FC236}">
                <a16:creationId xmlns:a16="http://schemas.microsoft.com/office/drawing/2014/main" id="{6BD53640-7BC1-473A-841D-94E60EDF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907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 xmlns:a="http://schemas.openxmlformats.org/drawingml/2006/main">
              <a:ext uri="{FF2B5EF4-FFF2-40B4-BE49-F238E27FC236}">
                <a16:creationId xmlns:a16="http://schemas.microsoft.com/office/drawing/2014/main" id="{01B3E966-E4A6-4FA5-B60C-352F0D48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32385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This is a capture scenario, not an established customer share.</a:t>
            </a:r>
          </a:p>
        </p:txBody>
      </p:sp>
      <p:sp>
        <p:nvSpPr>
          <p:cNvPr id="55" name="R investment header">
            <a:extLst xmlns:a="http://schemas.openxmlformats.org/drawingml/2006/main">
              <a:ext uri="{FF2B5EF4-FFF2-40B4-BE49-F238E27FC236}">
                <a16:creationId xmlns:a16="http://schemas.microsoft.com/office/drawing/2014/main" id="{585CA154-5CE6-4090-AC62-2A87C319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31527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 xmlns:a="http://schemas.openxmlformats.org/drawingml/2006/main"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 xmlns:a="http://schemas.openxmlformats.org/drawingml/2006/main">
              <a:ext uri="{FF2B5EF4-FFF2-40B4-BE49-F238E27FC236}">
                <a16:creationId xmlns:a16="http://schemas.microsoft.com/office/drawing/2014/main" id="{242BB8B4-DA70-4329-BD60-479D5304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33700"/>
            <a:ext cx="315277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 xmlns:a="http://schemas.openxmlformats.org/drawingml/2006/main">
              <a:ext uri="{FF2B5EF4-FFF2-40B4-BE49-F238E27FC236}">
                <a16:creationId xmlns:a16="http://schemas.microsoft.com/office/drawing/2014/main" id="{11BA6D6C-CF28-485E-8A58-97FE705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5C5"/>
          </a:solidFill>
          <a:ln xmlns:a="http://schemas.openxmlformats.org/drawingml/2006/main" w="0">
            <a:noFill/>
          </a:ln>
        </p:spPr>
      </p:sp>
      <p:sp>
        <p:nvSpPr>
          <p:cNvPr id="58" name="R takeaway">
            <a:extLst xmlns:a="http://schemas.openxmlformats.org/drawingml/2006/main">
              <a:ext uri="{FF2B5EF4-FFF2-40B4-BE49-F238E27FC236}">
                <a16:creationId xmlns:a16="http://schemas.microsoft.com/office/drawing/2014/main" id="{A0258E10-125C-4013-B7EC-4249ADC6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4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graphicFrame xmlns:a="http://schemas.openxmlformats.org/drawingml/2006/main">
        <p:nvGraphicFramePr>
          <p:cNvPr id="5003" name="brand-pptx section navigation">
            <a:extLst>
              <a:ext uri="{FF2B5EF4-FFF2-40B4-BE49-F238E27FC236}">
                <a16:creationId xmlns:a16="http://schemas.microsoft.com/office/drawing/2014/main" id="{3C81AA2F-B17F-2F36-2EA7-40E65BDD80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657269"/>
              </p:ext>
            </p:extLst>
          </p:nvPr>
        </p:nvGraphicFramePr>
        <p:xfrm>
          <a:off x="457200" y="82296"/>
          <a:ext cx="10652760" cy="283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SmartArt3" r:lo="rIdSmartArt4" r:qs="rIdSmartArt5" r:cs="rIdSmartArt6"/>
          </a:graphicData>
        </a:graphic>
      </p:graphicFrame>
    </p:spTree>
    <p:extLst>
      <p:ext uri="{BB962C8B-B14F-4D97-AF65-F5344CB8AC3E}">
        <p14:creationId xmlns:p14="http://schemas.microsoft.com/office/powerpoint/2010/main" val="788485202"/>
      </p:ext>
    </p:extLst>
  </p:cSld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2026-10-11T20:31:22.1710000Z</dcterms:created>
  <dcterms:modified xsi:type="dcterms:W3CDTF">2026-10-11T20:31:22.1710000Z</dcterms:modified>
</coreProperties>
</file>