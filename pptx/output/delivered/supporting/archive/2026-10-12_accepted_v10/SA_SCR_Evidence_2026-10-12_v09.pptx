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9" r:id="rId13"/>
    <p:sldId id="266" r:id="rId14"/>
    <p:sldId id="271" r:id="rId15"/>
    <p:sldId id="267" r:id="rId16"/>
    <p:sldId id="268" r:id="rId17"/>
  </p:sldIdLst>
  <p:sldSz cx="1158875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microsoft.com/office/2018/10/relationships/authors" Target="authors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16.70219144022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ChartSnapshot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11.475709420318</c:v>
                </c:pt>
                <c:pt idx="3">
                  <c:v>11.462252466686</c:v>
                </c:pt>
                <c:pt idx="4">
                  <c:v>11.17408298037</c:v>
                </c:pt>
                <c:pt idx="5">
                  <c:v>11.141630546702</c:v>
                </c:pt>
                <c:pt idx="6">
                  <c:v>10.773208065062</c:v>
                </c:pt>
                <c:pt idx="7">
                  <c:v>8.761470961496</c:v>
                </c:pt>
                <c:pt idx="8">
                  <c:v>9.301584227683</c:v>
                </c:pt>
                <c:pt idx="9">
                  <c:v>9.184869915573</c:v>
                </c:pt>
                <c:pt idx="10">
                  <c:v>9.036950113492</c:v>
                </c:pt>
                <c:pt idx="11">
                  <c:v>8.94590284109857</c:v>
                </c:pt>
                <c:pt idx="12">
                  <c:v>8.8557728699745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12.908631232217</c:v>
                </c:pt>
                <c:pt idx="7">
                  <c:v>11.689957759296</c:v>
                </c:pt>
                <c:pt idx="8">
                  <c:v>12.945782750435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1.39596645708743</c:v>
                </c:pt>
                <c:pt idx="1">
                  <c:v>1.40372043669139</c:v>
                </c:pt>
                <c:pt idx="2">
                  <c:v>1.40634678462176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</c:v>
                </c:pt>
                <c:pt idx="1">
                  <c:v>0.963340315350475</c:v>
                </c:pt>
                <c:pt idx="2">
                  <c:v>1.13122469823652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</c:v>
                </c:pt>
                <c:pt idx="1">
                  <c:v>0.167211107535443</c:v>
                </c:pt>
                <c:pt idx="2">
                  <c:v>0.165076180001731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1.1295</c:v>
                </c:pt>
                <c:pt idx="2">
                  <c:v>0.6791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2025 new sales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BEV</c:v>
                </c:pt>
                <c:pt idx="1">
                  <c:v>Plug-in hybrid</c:v>
                </c:pt>
                <c:pt idx="2">
                  <c:v>Conventional hybrid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1088</c:v>
                </c:pt>
                <c:pt idx="1">
                  <c:v>2810</c:v>
                </c:pt>
                <c:pt idx="2">
                  <c:v>12818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71-4A9C-9D08-603FEE1AD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2030 effect vs 2025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Activity growth</c:v>
                </c:pt>
                <c:pt idx="1">
                  <c:v>Vehicle efficiency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1.53818879985528</c:v>
                </c:pt>
                <c:pt idx="1">
                  <c:v>-0.79316985514452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B-40EC-AE78-F0B1F8FA20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10.393066</c:v>
                </c:pt>
                <c:pt idx="3">
                  <c:v>9.43444</c:v>
                </c:pt>
                <c:pt idx="4">
                  <c:v>9.97456</c:v>
                </c:pt>
                <c:pt idx="5">
                  <c:v>10.424467</c:v>
                </c:pt>
                <c:pt idx="6">
                  <c:v>7.895</c:v>
                </c:pt>
                <c:pt idx="7">
                  <c:v>6.351306667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</c:v>
                </c:pt>
                <c:pt idx="1">
                  <c:v>9.368482</c:v>
                </c:pt>
                <c:pt idx="2">
                  <c:v>9.01419</c:v>
                </c:pt>
                <c:pt idx="3">
                  <c:v>7.921726</c:v>
                </c:pt>
                <c:pt idx="4">
                  <c:v>8.425262</c:v>
                </c:pt>
                <c:pt idx="5">
                  <c:v>9.080357</c:v>
                </c:pt>
                <c:pt idx="6">
                  <c:v>6.4478095</c:v>
                </c:pt>
                <c:pt idx="7">
                  <c:v>5.314964286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Low imports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16.1649850898511</c:v>
                </c:pt>
                <c:pt idx="2">
                  <c:v>15.5983645642248</c:v>
                </c:pt>
                <c:pt idx="3">
                  <c:v>15.0359352753671</c:v>
                </c:pt>
                <c:pt idx="4">
                  <c:v>11.644311431365</c:v>
                </c:pt>
                <c:pt idx="5">
                  <c:v>8.25677283009669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57-4CA9-AD2A-3657A817E3C7}"/>
            </c:ext>
          </c:extLst>
        </c:ser>
        <c:ser>
          <c:idx val="1"/>
          <c:order val="1"/>
          <c:tx>
            <c:v>Base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16.7358508731652</c:v>
                </c:pt>
                <c:pt idx="1">
                  <c:v>16.7080359068366</c:v>
                </c:pt>
                <c:pt idx="2">
                  <c:v>16.6810375302384</c:v>
                </c:pt>
                <c:pt idx="3">
                  <c:v>16.6548693095932</c:v>
                </c:pt>
                <c:pt idx="4">
                  <c:v>16.6295450366319</c:v>
                </c:pt>
                <c:pt idx="5">
                  <c:v>16.6050787321592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57-4CA9-AD2A-3657A817E3C7}"/>
            </c:ext>
          </c:extLst>
        </c:ser>
        <c:ser>
          <c:idx val="2"/>
          <c:order val="2"/>
          <c:tx>
            <c:v>High imports</c:v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16.7358508731652</c:v>
                </c:pt>
                <c:pt idx="1">
                  <c:v>17.3082936211733</c:v>
                </c:pt>
                <c:pt idx="2">
                  <c:v>17.8888406280197</c:v>
                </c:pt>
                <c:pt idx="3">
                  <c:v>18.4776598514453</c:v>
                </c:pt>
                <c:pt idx="4">
                  <c:v>19.0749228043164</c:v>
                </c:pt>
                <c:pt idx="5">
                  <c:v>19.6808046315979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57-4CA9-AD2A-3657A817E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rIns="22860" tIns="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Petrol road 8.59 | Freight 4.82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road diesel 1.61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 1.41 | Agriculture 1.13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Power 1.08 | Manufacturing 0.17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Other petrol 0.27 | Other diesel 1.91</a:t>
            </a:r>
          </a:p>
          <a:p>
            <a:endParaRPr sz="12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All values: 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estimated demand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all-market sales 2025; master workbook Vehicle history S31:S36; evidence retained in market story v27 p11.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sales, or 0.18% of all new vehicles.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versus 2025 | modelled base-case effects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Engine and vehicle improvements, fleet renewal and operating practices can lower fuel use per kilometre.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Activity and efficiency effects by 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868091FB-E293-A565-29C2-21D2FCD881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394084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NMPP is the established inland connection discussed at right.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Durban 2.63B L, Lesedi 1.32B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Lesedi included in Durban flow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/>
        </p:nvGraphicFramePr>
        <p:xfrm>
          <a:off x="457200" y="1657350"/>
          <a:ext cx="10648950" cy="40386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Sizing step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the calculation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Market measure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  National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Petrol and diesel by end use: road, mining, manufacturing, agriculture and power. Apply activity, rail and efficiency drivers.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21.0bn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Estimated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2  Import requirement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Demand − domestic production + exports + stock build (or − stock draw).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16.7bn L in 2025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Gross import need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3  Ports and inland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Allocate imports across ports; assess pipeline, road and rail connections. Compare Durban with Matola and potential Walvis Bay routes.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Supply pool by catchment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Route shares to establish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4  Addressable market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Size product and customer flows Durban and Lesedi can each serve, by catchment, logistics access and competing supply. Reconcile shared flows.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Addressable volume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site, product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5  Achievable capture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Establish current Vopak throughput, volumes retained and additional customer volumes it can win. Assess competition and contracts; count shared fuel once.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Current + incremental capture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By site and customer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6  Capacity and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Compare captured throughput with usable tanks, stock turns, receipt and dispatch capacity; identify the incremental constraint.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Capacity shortfall</a:t>
                      </a:r>
                    </a:p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/>
                          <a:ea typeface="Lato"/>
                          <a:cs typeface="Lato"/>
                        </a:rPr>
                        <a:t>Basis for investment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Steps 4–5 size Vopak’s opportunity: addressable customer flows, then achievable capture.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Gross import requirement,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E4FB408B-3022-BC37-CBE7-5FEF1AFBF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1950206"/>
              </p:ext>
            </p:extLst>
          </p:nvPr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2.63bn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Durban capture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Durban’s 2025 import pool. Includes 1.32bn litres onward through Lesedi within the same fuel flow.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3364</Words>
  <Application>Microsoft Office PowerPoint</Application>
  <DocSecurity>0</DocSecurity>
  <PresentationFormat>Custom</PresentationFormat>
  <Paragraphs>376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Nigel Zhuwaki</cp:lastModifiedBy>
  <cp:revision>4</cp:revision>
  <dcterms:created xsi:type="dcterms:W3CDTF">2026-10-11T22:01:42Z</dcterms:created>
  <dcterms:modified xsi:type="dcterms:W3CDTF">2026-10-11T23:35:21Z</dcterms:modified>
</cp:coreProperties>
</file>