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9" r:id="rId13"/>
    <p:sldId id="266" r:id="rId14"/>
    <p:sldId id="271" r:id="rId15"/>
    <p:sldId id="267" r:id="rId16"/>
    <p:sldId id="268" r:id="rId17"/>
  </p:sldIdLst>
  <p:sldSz cx="1158875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1.39596645708743</c:v>
                </c:pt>
                <c:pt idx="1">
                  <c:v>1.40372043669139</c:v>
                </c:pt>
                <c:pt idx="2">
                  <c:v>1.40634678462176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</c:v>
                </c:pt>
                <c:pt idx="1">
                  <c:v>0.963340315350475</c:v>
                </c:pt>
                <c:pt idx="2">
                  <c:v>1.13122469823652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</c:v>
                </c:pt>
                <c:pt idx="1">
                  <c:v>0.167211107535443</c:v>
                </c:pt>
                <c:pt idx="2">
                  <c:v>0.165076180001731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1.1295</c:v>
                </c:pt>
                <c:pt idx="2">
                  <c:v>0.6791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2025 new sales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BEV</c:v>
                </c:pt>
                <c:pt idx="1">
                  <c:v>Plug-in hybrid</c:v>
                </c:pt>
                <c:pt idx="2">
                  <c:v>Conventional hybrid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1088</c:v>
                </c:pt>
                <c:pt idx="1">
                  <c:v>2810</c:v>
                </c:pt>
                <c:pt idx="2">
                  <c:v>12818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71-4A9C-9D08-603FEE1AD9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2030 effect vs 2025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Activity growth</c:v>
                </c:pt>
                <c:pt idx="1">
                  <c:v>Vehicle efficiency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1.53818879985528</c:v>
                </c:pt>
                <c:pt idx="1">
                  <c:v>-0.79316985514452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8B-40EC-AE78-F0B1F8FA20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ChartSnapshot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10.393066</c:v>
                </c:pt>
                <c:pt idx="3">
                  <c:v>9.43444</c:v>
                </c:pt>
                <c:pt idx="4">
                  <c:v>9.97456</c:v>
                </c:pt>
                <c:pt idx="5">
                  <c:v>10.424467</c:v>
                </c:pt>
                <c:pt idx="6">
                  <c:v>7.895</c:v>
                </c:pt>
                <c:pt idx="7">
                  <c:v>6.351306667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</c:v>
                </c:pt>
                <c:pt idx="1">
                  <c:v>9.368482</c:v>
                </c:pt>
                <c:pt idx="2">
                  <c:v>9.01419</c:v>
                </c:pt>
                <c:pt idx="3">
                  <c:v>7.921726</c:v>
                </c:pt>
                <c:pt idx="4">
                  <c:v>8.425262</c:v>
                </c:pt>
                <c:pt idx="5">
                  <c:v>9.080357</c:v>
                </c:pt>
                <c:pt idx="6">
                  <c:v>6.4478095</c:v>
                </c:pt>
                <c:pt idx="7">
                  <c:v>5.314964286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Low imports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16.7358508731652</c:v>
                </c:pt>
                <c:pt idx="1">
                  <c:v>16.1649850898511</c:v>
                </c:pt>
                <c:pt idx="2">
                  <c:v>15.5983645642248</c:v>
                </c:pt>
                <c:pt idx="3">
                  <c:v>15.0359352753671</c:v>
                </c:pt>
                <c:pt idx="4">
                  <c:v>11.644311431365</c:v>
                </c:pt>
                <c:pt idx="5">
                  <c:v>8.25677283009669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57-4CA9-AD2A-3657A817E3C7}"/>
            </c:ext>
          </c:extLst>
        </c:ser>
        <c:ser>
          <c:idx val="1"/>
          <c:order val="1"/>
          <c:tx>
            <c:v>Base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16.7358508731652</c:v>
                </c:pt>
                <c:pt idx="1">
                  <c:v>16.7080359068366</c:v>
                </c:pt>
                <c:pt idx="2">
                  <c:v>16.6810375302384</c:v>
                </c:pt>
                <c:pt idx="3">
                  <c:v>16.6548693095932</c:v>
                </c:pt>
                <c:pt idx="4">
                  <c:v>16.6295450366319</c:v>
                </c:pt>
                <c:pt idx="5">
                  <c:v>16.6050787321592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57-4CA9-AD2A-3657A817E3C7}"/>
            </c:ext>
          </c:extLst>
        </c:ser>
        <c:ser>
          <c:idx val="2"/>
          <c:order val="2"/>
          <c:tx>
            <c:v>High imports</c:v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16.7358508731652</c:v>
                </c:pt>
                <c:pt idx="1">
                  <c:v>17.3082936211733</c:v>
                </c:pt>
                <c:pt idx="2">
                  <c:v>17.8888406280197</c:v>
                </c:pt>
                <c:pt idx="3">
                  <c:v>18.4776598514453</c:v>
                </c:pt>
                <c:pt idx="4">
                  <c:v>19.0749228043164</c:v>
                </c:pt>
                <c:pt idx="5">
                  <c:v>19.6808046315979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57-4CA9-AD2A-3657A817E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pak Exhibit + Commentary v1" preserve="1" userDrawn="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11" Type="http://schemas.openxmlformats.org/officeDocument/2006/relationships/slide" Target="slide11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2025 production and imports broadly cover consumption and exports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Balance; SARS calendar-2025 customs. Demand estimated; production assumed; trade recorded. Stock change and statistical/scope differences unresolved. Values rounded; the 0.034bn L gap uses unrounded data.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4" name="Balance value 0">
            <a:extLst>
              <a:ext uri="{FF2B5EF4-FFF2-40B4-BE49-F238E27FC236}">
                <a16:creationId xmlns:a16="http://schemas.microsoft.com/office/drawing/2014/main" id="{4BE9486E-4C37-8EA0-8E1E-760226B5F495}"/>
              </a:ext>
            </a:extLst>
          </p:cNvPr>
          <p:cNvSpPr txBox="1"/>
          <p:nvPr/>
        </p:nvSpPr>
        <p:spPr>
          <a:xfrm>
            <a:off x="457200" y="182880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2775" b="1">
                <a:solidFill>
                  <a:srgbClr val="0A2373"/>
                </a:solidFill>
                <a:latin typeface="Lato" panose="020F0502020204030203" pitchFamily="34" charset="0"/>
              </a:rPr>
              <a:t>20.99bn L</a:t>
            </a:r>
          </a:p>
        </p:txBody>
      </p:sp>
      <p:sp>
        <p:nvSpPr>
          <p:cNvPr id="5" name="Balance label 0">
            <a:extLst>
              <a:ext uri="{FF2B5EF4-FFF2-40B4-BE49-F238E27FC236}">
                <a16:creationId xmlns:a16="http://schemas.microsoft.com/office/drawing/2014/main" id="{FC0587C7-BEA3-5F93-1DED-275F9079BB25}"/>
              </a:ext>
            </a:extLst>
          </p:cNvPr>
          <p:cNvSpPr txBox="1"/>
          <p:nvPr/>
        </p:nvSpPr>
        <p:spPr>
          <a:xfrm>
            <a:off x="457200" y="24193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1650" b="1">
                <a:solidFill>
                  <a:srgbClr val="0A2373"/>
                </a:solidFill>
                <a:latin typeface="Lato" panose="020F0502020204030203" pitchFamily="34" charset="0"/>
              </a:rPr>
              <a:t>Consumption</a:t>
            </a:r>
          </a:p>
        </p:txBody>
      </p:sp>
      <p:sp>
        <p:nvSpPr>
          <p:cNvPr id="6" name="Balance basis 0">
            <a:extLst>
              <a:ext uri="{FF2B5EF4-FFF2-40B4-BE49-F238E27FC236}">
                <a16:creationId xmlns:a16="http://schemas.microsoft.com/office/drawing/2014/main" id="{2777CA7F-4033-C709-1621-0B267711EA44}"/>
              </a:ext>
            </a:extLst>
          </p:cNvPr>
          <p:cNvSpPr txBox="1"/>
          <p:nvPr/>
        </p:nvSpPr>
        <p:spPr>
          <a:xfrm>
            <a:off x="457200" y="2828925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1350">
                <a:solidFill>
                  <a:srgbClr val="000000"/>
                </a:solidFill>
                <a:latin typeface="Lato" panose="020F0502020204030203" pitchFamily="34" charset="0"/>
              </a:rPr>
              <a:t>2025 estimate</a:t>
            </a:r>
          </a:p>
        </p:txBody>
      </p:sp>
      <p:sp>
        <p:nvSpPr>
          <p:cNvPr id="7" name="Balance value 1">
            <a:extLst>
              <a:ext uri="{FF2B5EF4-FFF2-40B4-BE49-F238E27FC236}">
                <a16:creationId xmlns:a16="http://schemas.microsoft.com/office/drawing/2014/main" id="{0452EE95-23AF-1BCF-E254-461565775D39}"/>
              </a:ext>
            </a:extLst>
          </p:cNvPr>
          <p:cNvSpPr txBox="1"/>
          <p:nvPr/>
        </p:nvSpPr>
        <p:spPr>
          <a:xfrm>
            <a:off x="3162300" y="182880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2775" b="1">
                <a:solidFill>
                  <a:srgbClr val="0A2373"/>
                </a:solidFill>
                <a:latin typeface="Lato" panose="020F0502020204030203" pitchFamily="34" charset="0"/>
              </a:rPr>
              <a:t>5.80bn L</a:t>
            </a:r>
          </a:p>
        </p:txBody>
      </p:sp>
      <p:sp>
        <p:nvSpPr>
          <p:cNvPr id="9" name="Balance label 1">
            <a:extLst>
              <a:ext uri="{FF2B5EF4-FFF2-40B4-BE49-F238E27FC236}">
                <a16:creationId xmlns:a16="http://schemas.microsoft.com/office/drawing/2014/main" id="{DF536531-A96C-3197-BBF5-0334A6561D83}"/>
              </a:ext>
            </a:extLst>
          </p:cNvPr>
          <p:cNvSpPr txBox="1"/>
          <p:nvPr/>
        </p:nvSpPr>
        <p:spPr>
          <a:xfrm>
            <a:off x="3162300" y="24193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1650" b="1">
                <a:solidFill>
                  <a:srgbClr val="0A2373"/>
                </a:solidFill>
                <a:latin typeface="Lato" panose="020F0502020204030203" pitchFamily="34" charset="0"/>
              </a:rPr>
              <a:t>Domestic production</a:t>
            </a:r>
          </a:p>
        </p:txBody>
      </p:sp>
      <p:sp>
        <p:nvSpPr>
          <p:cNvPr id="10" name="Balance basis 1">
            <a:extLst>
              <a:ext uri="{FF2B5EF4-FFF2-40B4-BE49-F238E27FC236}">
                <a16:creationId xmlns:a16="http://schemas.microsoft.com/office/drawing/2014/main" id="{867802E2-9BA4-66FA-0F45-2B10F1BCAA75}"/>
              </a:ext>
            </a:extLst>
          </p:cNvPr>
          <p:cNvSpPr txBox="1"/>
          <p:nvPr/>
        </p:nvSpPr>
        <p:spPr>
          <a:xfrm>
            <a:off x="3162300" y="2828925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1350">
                <a:solidFill>
                  <a:srgbClr val="000000"/>
                </a:solidFill>
                <a:latin typeface="Lato" panose="020F0502020204030203" pitchFamily="34" charset="0"/>
              </a:rPr>
              <a:t>2025 planning assumption</a:t>
            </a:r>
          </a:p>
        </p:txBody>
      </p:sp>
      <p:sp>
        <p:nvSpPr>
          <p:cNvPr id="11" name="Balance value 2">
            <a:extLst>
              <a:ext uri="{FF2B5EF4-FFF2-40B4-BE49-F238E27FC236}">
                <a16:creationId xmlns:a16="http://schemas.microsoft.com/office/drawing/2014/main" id="{52409B98-8F8A-A33E-F45F-2A02293CB08E}"/>
              </a:ext>
            </a:extLst>
          </p:cNvPr>
          <p:cNvSpPr txBox="1"/>
          <p:nvPr/>
        </p:nvSpPr>
        <p:spPr>
          <a:xfrm>
            <a:off x="5867400" y="182880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2775" b="1">
                <a:solidFill>
                  <a:srgbClr val="0A2373"/>
                </a:solidFill>
                <a:latin typeface="Lato" panose="020F0502020204030203" pitchFamily="34" charset="0"/>
              </a:rPr>
              <a:t>16.70bn L</a:t>
            </a:r>
          </a:p>
        </p:txBody>
      </p:sp>
      <p:sp>
        <p:nvSpPr>
          <p:cNvPr id="12" name="Balance label 2">
            <a:extLst>
              <a:ext uri="{FF2B5EF4-FFF2-40B4-BE49-F238E27FC236}">
                <a16:creationId xmlns:a16="http://schemas.microsoft.com/office/drawing/2014/main" id="{766217A4-41F0-5DA0-C66E-AD887F550559}"/>
              </a:ext>
            </a:extLst>
          </p:cNvPr>
          <p:cNvSpPr txBox="1"/>
          <p:nvPr/>
        </p:nvSpPr>
        <p:spPr>
          <a:xfrm>
            <a:off x="5867400" y="24193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1650" b="1">
                <a:solidFill>
                  <a:srgbClr val="0A2373"/>
                </a:solidFill>
                <a:latin typeface="Lato" panose="020F0502020204030203" pitchFamily="34" charset="0"/>
              </a:rPr>
              <a:t>Gross imports</a:t>
            </a:r>
          </a:p>
        </p:txBody>
      </p:sp>
      <p:sp>
        <p:nvSpPr>
          <p:cNvPr id="13" name="Balance basis 2">
            <a:extLst>
              <a:ext uri="{FF2B5EF4-FFF2-40B4-BE49-F238E27FC236}">
                <a16:creationId xmlns:a16="http://schemas.microsoft.com/office/drawing/2014/main" id="{84FD5732-7F51-1ADC-2A7B-C7A01887411E}"/>
              </a:ext>
            </a:extLst>
          </p:cNvPr>
          <p:cNvSpPr txBox="1"/>
          <p:nvPr/>
        </p:nvSpPr>
        <p:spPr>
          <a:xfrm>
            <a:off x="5867400" y="2828925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1350">
                <a:solidFill>
                  <a:srgbClr val="000000"/>
                </a:solidFill>
                <a:latin typeface="Lato" panose="020F0502020204030203" pitchFamily="34" charset="0"/>
              </a:rPr>
              <a:t>2025 recorded customs</a:t>
            </a:r>
          </a:p>
        </p:txBody>
      </p:sp>
      <p:sp>
        <p:nvSpPr>
          <p:cNvPr id="14" name="Balance value 3">
            <a:extLst>
              <a:ext uri="{FF2B5EF4-FFF2-40B4-BE49-F238E27FC236}">
                <a16:creationId xmlns:a16="http://schemas.microsoft.com/office/drawing/2014/main" id="{8C2B6ABE-0973-A653-5175-7C4ACB51AD16}"/>
              </a:ext>
            </a:extLst>
          </p:cNvPr>
          <p:cNvSpPr txBox="1"/>
          <p:nvPr/>
        </p:nvSpPr>
        <p:spPr>
          <a:xfrm>
            <a:off x="8572500" y="182880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2775" b="1">
                <a:solidFill>
                  <a:srgbClr val="0A2373"/>
                </a:solidFill>
                <a:latin typeface="Lato" panose="020F0502020204030203" pitchFamily="34" charset="0"/>
              </a:rPr>
              <a:t>1.55bn L</a:t>
            </a:r>
          </a:p>
        </p:txBody>
      </p:sp>
      <p:sp>
        <p:nvSpPr>
          <p:cNvPr id="15" name="Balance label 3">
            <a:extLst>
              <a:ext uri="{FF2B5EF4-FFF2-40B4-BE49-F238E27FC236}">
                <a16:creationId xmlns:a16="http://schemas.microsoft.com/office/drawing/2014/main" id="{A2A56E66-0FE2-C486-BEDE-5FE470C8F0E4}"/>
              </a:ext>
            </a:extLst>
          </p:cNvPr>
          <p:cNvSpPr txBox="1"/>
          <p:nvPr/>
        </p:nvSpPr>
        <p:spPr>
          <a:xfrm>
            <a:off x="8572500" y="24193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1650" b="1">
                <a:solidFill>
                  <a:srgbClr val="0A2373"/>
                </a:solidFill>
                <a:latin typeface="Lato" panose="020F0502020204030203" pitchFamily="34" charset="0"/>
              </a:rPr>
              <a:t>Exports</a:t>
            </a:r>
          </a:p>
        </p:txBody>
      </p:sp>
      <p:sp>
        <p:nvSpPr>
          <p:cNvPr id="16" name="Balance basis 3">
            <a:extLst>
              <a:ext uri="{FF2B5EF4-FFF2-40B4-BE49-F238E27FC236}">
                <a16:creationId xmlns:a16="http://schemas.microsoft.com/office/drawing/2014/main" id="{F1316D4C-2C43-1216-0F5E-4D474EB0298D}"/>
              </a:ext>
            </a:extLst>
          </p:cNvPr>
          <p:cNvSpPr txBox="1"/>
          <p:nvPr/>
        </p:nvSpPr>
        <p:spPr>
          <a:xfrm>
            <a:off x="8572500" y="2828925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ZA" sz="1350">
                <a:solidFill>
                  <a:srgbClr val="000000"/>
                </a:solidFill>
                <a:latin typeface="Lato" panose="020F0502020204030203" pitchFamily="34" charset="0"/>
              </a:rPr>
              <a:t>2025 recorded customs</a:t>
            </a:r>
          </a:p>
        </p:txBody>
      </p:sp>
      <p:sp>
        <p:nvSpPr>
          <p:cNvPr id="17" name="Balance equation heading">
            <a:extLst>
              <a:ext uri="{FF2B5EF4-FFF2-40B4-BE49-F238E27FC236}">
                <a16:creationId xmlns:a16="http://schemas.microsoft.com/office/drawing/2014/main" id="{5008EB7E-0BF6-63C5-7718-B13F318314E3}"/>
              </a:ext>
            </a:extLst>
          </p:cNvPr>
          <p:cNvSpPr txBox="1"/>
          <p:nvPr/>
        </p:nvSpPr>
        <p:spPr>
          <a:xfrm>
            <a:off x="457200" y="3467100"/>
            <a:ext cx="106489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b="1">
                <a:solidFill>
                  <a:srgbClr val="0A2373"/>
                </a:solidFill>
                <a:latin typeface="Lato" panose="020F0502020204030203" pitchFamily="34" charset="0"/>
              </a:rPr>
              <a:t>Production + imports − exports = availability before stock change</a:t>
            </a:r>
            <a:endParaRPr lang="en-ZA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8" name="Balance equation">
            <a:extLst>
              <a:ext uri="{FF2B5EF4-FFF2-40B4-BE49-F238E27FC236}">
                <a16:creationId xmlns:a16="http://schemas.microsoft.com/office/drawing/2014/main" id="{7DF97E3C-7E5B-0E8A-B985-B64D6239E9AF}"/>
              </a:ext>
            </a:extLst>
          </p:cNvPr>
          <p:cNvSpPr txBox="1"/>
          <p:nvPr/>
        </p:nvSpPr>
        <p:spPr>
          <a:xfrm>
            <a:off x="457200" y="3933825"/>
            <a:ext cx="106489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25" b="1">
                <a:solidFill>
                  <a:srgbClr val="000000"/>
                </a:solidFill>
                <a:latin typeface="Lato" panose="020F0502020204030203" pitchFamily="34" charset="0"/>
              </a:rPr>
              <a:t>5.80 + 16.70 − 1.55 = 20.95bn litres</a:t>
            </a:r>
            <a:endParaRPr lang="en-ZA" sz="2325" b="1">
              <a:solidFill>
                <a:srgbClr val="000000"/>
              </a:solidFill>
              <a:latin typeface="Lato" panose="020F0502020204030203" pitchFamily="34" charset="0"/>
            </a:endParaRPr>
          </a:p>
        </p:txBody>
      </p:sp>
      <p:sp>
        <p:nvSpPr>
          <p:cNvPr id="19" name="Balance reconciliation">
            <a:extLst>
              <a:ext uri="{FF2B5EF4-FFF2-40B4-BE49-F238E27FC236}">
                <a16:creationId xmlns:a16="http://schemas.microsoft.com/office/drawing/2014/main" id="{E61514A6-4444-0D44-86E8-2B1519C06633}"/>
              </a:ext>
            </a:extLst>
          </p:cNvPr>
          <p:cNvSpPr txBox="1"/>
          <p:nvPr/>
        </p:nvSpPr>
        <p:spPr>
          <a:xfrm>
            <a:off x="457200" y="4543425"/>
            <a:ext cx="106489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575">
                <a:solidFill>
                  <a:srgbClr val="000000"/>
                </a:solidFill>
                <a:latin typeface="Lato" panose="020F0502020204030203" pitchFamily="34" charset="0"/>
              </a:rPr>
              <a:t>Availability is 0.034bn litres below estimated consumption. Stock change is unmeasured; this difference remains a reconciliation item.</a:t>
            </a:r>
            <a:endParaRPr lang="en-ZA" sz="1575">
              <a:solidFill>
                <a:srgbClr val="000000"/>
              </a:solidFill>
              <a:latin typeface="Lato" panose="020F0502020204030203" pitchFamily="34" charset="0"/>
            </a:endParaRPr>
          </a:p>
        </p:txBody>
      </p:sp>
      <p:sp>
        <p:nvSpPr>
          <p:cNvPr id="20" name="Product reconciliation">
            <a:extLst>
              <a:ext uri="{FF2B5EF4-FFF2-40B4-BE49-F238E27FC236}">
                <a16:creationId xmlns:a16="http://schemas.microsoft.com/office/drawing/2014/main" id="{97CD8243-E178-80AC-9256-5977CD0B29F2}"/>
              </a:ext>
            </a:extLst>
          </p:cNvPr>
          <p:cNvSpPr txBox="1"/>
          <p:nvPr/>
        </p:nvSpPr>
        <p:spPr>
          <a:xfrm>
            <a:off x="457200" y="5257800"/>
            <a:ext cx="106489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500">
                <a:solidFill>
                  <a:srgbClr val="000000"/>
                </a:solidFill>
                <a:latin typeface="Lato" panose="020F0502020204030203" pitchFamily="34" charset="0"/>
              </a:rPr>
              <a:t>Petrol and diesel differences offset: −2.00bn L petrol and +1.97bn L diesel. The aggregate match does not establish a reconciled product balance.</a:t>
            </a:r>
            <a:endParaRPr lang="en-ZA" sz="1500">
              <a:solidFill>
                <a:srgbClr val="000000"/>
              </a:solidFill>
              <a:latin typeface="Lato" panose="020F0502020204030203" pitchFamily="34" charset="0"/>
            </a:endParaRPr>
          </a:p>
        </p:txBody>
      </p:sp>
      <p:sp>
        <p:nvSpPr>
          <p:cNvPr id="21" name="Balance implication">
            <a:extLst>
              <a:ext uri="{FF2B5EF4-FFF2-40B4-BE49-F238E27FC236}">
                <a16:creationId xmlns:a16="http://schemas.microsoft.com/office/drawing/2014/main" id="{4EC62C5C-8C66-90A8-6448-2454FC29D9A2}"/>
              </a:ext>
            </a:extLst>
          </p:cNvPr>
          <p:cNvSpPr txBox="1"/>
          <p:nvPr/>
        </p:nvSpPr>
        <p:spPr>
          <a:xfrm>
            <a:off x="457200" y="5962650"/>
            <a:ext cx="106489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GB" sz="1650" b="1">
                <a:solidFill>
                  <a:srgbClr val="0A2373"/>
                </a:solidFill>
                <a:latin typeface="Lato" panose="020F0502020204030203" pitchFamily="34" charset="0"/>
              </a:rPr>
              <a:t>Track consumption, production, imports, exports and stock change together.</a:t>
            </a:r>
            <a:endParaRPr lang="en-ZA" sz="1650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pp5–11. Restored import outlook: p14. Stats SA; Eskom; Sasol; Glencore; Galp; Petromoc; naamsa. Scenario outcomes are separate from observed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3145589907"/>
              </p:ext>
            </p:extLst>
          </p:nvPr>
        </p:nvGraphicFramePr>
        <p:xfrm>
          <a:off x="457200" y="1657350"/>
          <a:ext cx="10648950" cy="3905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sales p8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Efficiency p9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history p10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Outlook p14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p11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 road 8.59 | Freight 4.82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road diesel 1.61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 1.41 | Agriculture 1.13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1.08 | Manufacturing 0.17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petrol 0.27 | Other diesel 1.91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All values: 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estimated demand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all-market sales 2025; master workbook Vehicle history S31:S36; evidence retained in market story v27 p11.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sales, or 0.18% of all new vehicles.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Improving vehicle efficiency partly offsets growth in fuel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versus 2025 | modelled base-case effects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Engine and vehicle improvements, fleet renewal and operating practices can lower fuel use per kilometre.
The base case assumes 1% annual improvement in road-fuel efficiency, saving 0.79bn L by 2030.
Activity adds 1.54bn L across non-power uses. Rail and power effects are accounted for separately.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efficiency effect is a planning assumption; new-vehicle sales do not measure fleet-wide fuel savings.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400" b="1">
                <a:latin typeface="Lato"/>
              </a:rPr>
              <a:t>Activity and efficiency effects by 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Less fuel for each kilometre travelled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868091FB-E293-A565-29C2-21D2FCD881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394084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531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NMPP is the established inland connection discussed at right.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Durban 2.63B L, Lesedi 1.32B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Lesedi included in Durban flow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40386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recovery could materially reduce imports from the 16.6bn-litre base case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existing combined scenarios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2030 imports: base 16.61bn L; low-import case 8.26bn L; high-import case 19.68bn L.
The low-import case adds 0.87bn L of operating output and 5.67bn L from assumed restarts.
Demand assumptions also vary across these cases. The chart is not an isolated refinery sensitivity or a probability forecast.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Higher domestic output displaces imports; restart timing, utilisation and product yields determine the effect.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Gross import requirement, 2025–2030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Domestic supply drives the largest reduction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4FB408B-3022-BC37-CBE7-5FEF1AFBF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950206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498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3371</Words>
  <Application>Microsoft Office PowerPoint</Application>
  <DocSecurity>0</DocSecurity>
  <PresentationFormat>Custom</PresentationFormat>
  <Paragraphs>388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Vopak Theme</vt:lpstr>
      <vt:lpstr>PowerPoint Presentation</vt:lpstr>
      <vt:lpstr>2025 production and imports broadly cover consumption and exports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Improving vehicle efficiency partly offsets growth in fuel demand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Refinery recovery could materially reduce imports from the 16.6bn-litre base case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Nigel Zhuwaki</cp:lastModifiedBy>
  <cp:revision>3</cp:revision>
  <dcterms:created xsi:type="dcterms:W3CDTF">2026-10-11T22:01:42Z</dcterms:created>
  <dcterms:modified xsi:type="dcterms:W3CDTF">2026-10-11T23:24:06Z</dcterms:modified>
</cp:coreProperties>
</file>