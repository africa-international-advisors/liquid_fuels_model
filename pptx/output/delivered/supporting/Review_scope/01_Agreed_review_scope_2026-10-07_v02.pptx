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4" r:id="rId4"/>
  </p:sldMasterIdLst>
  <p:notesMasterIdLst>
    <p:notesMasterId r:id="rId17"/>
  </p:notesMasterIdLst>
  <p:sldIdLst>
    <p:sldId id="25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</p:sldIdLst>
  <p:sldSz cx="1158875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Henry Gilfillan" initials="HG [2]" lastIdx="8" clrIdx="6">
    <p:extLst>
      <p:ext uri="{19B8F6BF-5375-455C-9EA6-DF929625EA0E}">
        <p15:presenceInfo xmlns:p15="http://schemas.microsoft.com/office/powerpoint/2012/main" userId="S::henry.g@africaia.com::20d8d1d5-b81d-4db2-8d49-9db47f87700a" providerId="AD"/>
      </p:ext>
    </p:extLst>
  </p:cmAuthor>
  <p:cmAuthor id="1" name="Abbas Bilgrami" initials="AB [2]" lastIdx="8" clrIdx="0">
    <p:extLst>
      <p:ext uri="{19B8F6BF-5375-455C-9EA6-DF929625EA0E}">
        <p15:presenceInfo xmlns:p15="http://schemas.microsoft.com/office/powerpoint/2012/main" userId="da833efe2a07dd73" providerId="Windows Live"/>
      </p:ext>
    </p:extLst>
  </p:cmAuthor>
  <p:cmAuthor id="8" name="Abbas Bilgrami" initials="AB" lastIdx="34" clrIdx="7">
    <p:extLst>
      <p:ext uri="{19B8F6BF-5375-455C-9EA6-DF929625EA0E}">
        <p15:presenceInfo xmlns:p15="http://schemas.microsoft.com/office/powerpoint/2012/main" userId="S::abbas.b@africaia.com::09d4207e-ca10-48c5-9e33-f8dec02b9ddc" providerId="AD"/>
      </p:ext>
    </p:extLst>
  </p:cmAuthor>
  <p:cmAuthor id="2" name="Henry Gilfillan" initials="HG" lastIdx="82" clrIdx="1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9" name="Paayal Kanjee Govind" initials="PKG" lastIdx="4" clrIdx="8">
    <p:extLst>
      <p:ext uri="{19B8F6BF-5375-455C-9EA6-DF929625EA0E}">
        <p15:presenceInfo xmlns:p15="http://schemas.microsoft.com/office/powerpoint/2012/main" userId="Paayal Kanjee Govind" providerId="None"/>
      </p:ext>
    </p:extLst>
  </p:cmAuthor>
  <p:cmAuthor id="3" name="Ismaeel" initials="I" lastIdx="104" clrIdx="2">
    <p:extLst>
      <p:ext uri="{19B8F6BF-5375-455C-9EA6-DF929625EA0E}">
        <p15:presenceInfo xmlns:p15="http://schemas.microsoft.com/office/powerpoint/2012/main" userId="Ismaeel" providerId="None"/>
      </p:ext>
    </p:extLst>
  </p:cmAuthor>
  <p:cmAuthor id="4" name="Jennifer Zeiss" initials="JZ" lastIdx="19" clrIdx="3">
    <p:extLst>
      <p:ext uri="{19B8F6BF-5375-455C-9EA6-DF929625EA0E}">
        <p15:presenceInfo xmlns:p15="http://schemas.microsoft.com/office/powerpoint/2012/main" userId="Jennifer Zeiss" providerId="None"/>
      </p:ext>
    </p:extLst>
  </p:cmAuthor>
  <p:cmAuthor id="5" name="Gabrielle Knott" initials="GK" lastIdx="2" clrIdx="4">
    <p:extLst>
      <p:ext uri="{19B8F6BF-5375-455C-9EA6-DF929625EA0E}">
        <p15:presenceInfo xmlns:p15="http://schemas.microsoft.com/office/powerpoint/2012/main" userId="Gabrielle Knott" providerId="None"/>
      </p:ext>
    </p:extLst>
  </p:cmAuthor>
  <p:cmAuthor id="6" name="James Brown" initials="JB" lastIdx="2" clrIdx="5">
    <p:extLst>
      <p:ext uri="{19B8F6BF-5375-455C-9EA6-DF929625EA0E}">
        <p15:presenceInfo xmlns:p15="http://schemas.microsoft.com/office/powerpoint/2012/main" userId="S::james@africaia.com::5c3cb27f-96be-4c72-848f-aa01b93992f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52"/>
    <a:srgbClr val="EBF9FE"/>
    <a:srgbClr val="FDD9A4"/>
    <a:srgbClr val="2D6196"/>
    <a:srgbClr val="326757"/>
    <a:srgbClr val="728A94"/>
    <a:srgbClr val="F01C24"/>
    <a:srgbClr val="56787A"/>
    <a:srgbClr val="CFDFF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7D74-0723-4269-ADB4-1C2880134AC4}" v="1" dt="2026-10-01T12:10:2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note: Walk through four sections: the project question, the analytical</a:t>
            </a:r>
          </a:p>
          <a:p>
            <a:r>
              <a:t>requirements, the model-build problem and the delivery approach. The purpose is to</a:t>
            </a:r>
          </a:p>
          <a:p>
            <a:r>
              <a:t>connect the analyst's tasks to the decisions the engagement needs to support.</a:t>
            </a:r>
          </a:p>
          <a:p>
            <a:r>
              <a:t>Week 1 analytical pack, 6 October 2026. Existing kickoff cover/closing reused at user request.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Final structure: baseline pp3–6; changes pp7–11 (forecast framework p9); outlook pp12–17 (market choices p16, inventory p17).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Final structure: baseline pp3–6; changes pp7–11 (forecast framework p9); outlook pp12–17 (market choices p16, inventory p17). Current page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Source: user feedback and explicit scope sign-off in this conversation, 7 October 2026. Style and existing coverage references: Vopak_Convergence_current.pptx, inspected 7 October 2026. Repository boundaries: CLAUDE.md; GATE_CHECKLIST.md; workstreams/README.md. No new market research or quantitative findings are asserted. Approval covers this review scope and work programme. It does not verify data or approve model results.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Source: user feedback and explicit scope sign-off in this conversation, 7 October 2026. Style and existing coverage references: Vopak_Convergence_current.pptx, inspected 7 October 2026. Repository boundaries: CLAUDE.md; GATE_CHECKLIST.md; workstreams/README.md. No new market research or quantitative findings are asserted. Existing pack starting points: slides 16-17, 19 and 21. Coverage references are not source validation.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Source: user feedback and explicit scope sign-off in this conversation, 7 October 2026. Style and existing coverage references: Vopak_Convergence_current.pptx, inspected 7 October 2026. Repository boundaries: CLAUDE.md; GATE_CHECKLIST.md; workstreams/README.md. No new market research or quantitative findings are asserted. Existing pack starting points: slides 16-17 and 19. Transnet's cited target remains unverified in this review.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Source: user feedback and explicit scope sign-off in this conversation, 7 October 2026. Style and existing coverage references: Vopak_Convergence_current.pptx, inspected 7 October 2026. Repository boundaries: CLAUDE.md; GATE_CHECKLIST.md; workstreams/README.md. No new market research or quantitative findings are asserted. Existing pack starting points: slides 4, 6 and 26. Proposed integrated exhibit: approximately one page.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Source: user feedback and explicit scope sign-off in this conversation, 7 October 2026. Style and existing coverage references: Vopak_Convergence_current.pptx, inspected 7 October 2026. Repository boundaries: CLAUDE.md; GATE_CHECKLIST.md; workstreams/README.md. No new market research or quantitative findings are asserted. L / M / H describes the level of each input; it does not automatically indicate the direction of total fuel demand.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Source: user feedback and explicit scope sign-off in this conversation, 7 October 2026. Style and existing coverage references: Vopak_Convergence_current.pptx, inspected 7 October 2026. Repository boundaries: CLAUDE.md; GATE_CHECKLIST.md; workstreams/README.md. No new market research or quantitative findings are asserted. Link to the Eskom volumes, expenditure and EAF exhibit. No scenario values or completed demand estimates are approved here.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Source: user feedback and explicit scope sign-off in this conversation, 7 October 2026. Style and existing coverage references: Vopak_Convergence_current.pptx, inspected 7 October 2026. Repository boundaries: CLAUDE.md; GATE_CHECKLIST.md; workstreams/README.md. No new market research or quantitative findings are asserted. Existing pack starting points: slides 6, 18 and 27. Restart and gas assumptions require explicit confirmation.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Source: user feedback and explicit scope sign-off in this conversation, 7 October 2026. Style and existing coverage references: Vopak_Convergence_current.pptx, inspected 7 October 2026. Repository boundaries: CLAUDE.md; GATE_CHECKLIST.md; workstreams/README.md. No new market research or quantitative findings are asserted. Existing pack starting points: slides 7-8, 11 and 23. Fuel distribution competition is distinct from the road-to-rail demand lever.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Source: user feedback and explicit scope sign-off in this conversation, 7 October 2026. Style and existing coverage references: Vopak_Convergence_current.pptx, inspected 7 October 2026. Repository boundaries: CLAUDE.md; GATE_CHECKLIST.md; workstreams/README.md. No new market research or quantitative findings are asserted. Existing pack starting points: slides 9-11, 22-24 and 28. Market headroom is not itself a commercially justified investment.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Source: user feedback and explicit scope sign-off in this conversation, 7 October 2026. Style and existing coverage references: Vopak_Convergence_current.pptx, inspected 7 October 2026. Repository boundaries: CLAUDE.md; GATE_CHECKLIST.md; workstreams/README.md. No new market research or quantitative findings are asserted. No staffing dates or new deadlines are committed by this review. Automated checks do not replace peer review or business approval.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Source: user feedback and explicit scope sign-off in this conversation, 7 October 2026. Style and existing coverage references: Vopak_Convergence_current.pptx, inspected 7 October 2026. Repository boundaries: CLAUDE.md; GATE_CHECKLIST.md; workstreams/README.md. No new market research or quantitative findings are asserted. Source: signed-off conversation, 7 October 2026; repository architecture and release-gate documents. This is the approved work programme.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sky, building, outdoor, city&#10;&#10;Description automatically generated">
            <a:extLst>
              <a:ext uri="{FF2B5EF4-FFF2-40B4-BE49-F238E27FC236}">
                <a16:creationId xmlns:a16="http://schemas.microsoft.com/office/drawing/2014/main" id="{AF958CDF-21C2-4696-B1FF-98C6C6923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5137149"/>
            <a:ext cx="4933950" cy="1571625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3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/>
          <p:nvPr userDrawn="1"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Click to edit Master title style</a:t>
            </a:r>
          </a:p>
        </p:txBody>
      </p:sp>
      <p:cxnSp>
        <p:nvCxnSpPr>
          <p:cNvPr id="7" name="Title and body separator"/>
          <p:cNvCxnSpPr/>
          <p:nvPr/>
        </p:nvCxn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96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65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3CB578-80E0-884E-8515-53279D5DAC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120" y="6556248"/>
            <a:ext cx="777240" cy="17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 txBox="1">
            <a:spLocks/>
          </p:cNvSpPr>
          <p:nvPr userDrawn="1"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 rtl="0" eaLnBrk="1" latinLnBrk="0" hangingPunct="1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185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422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990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559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127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4696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265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383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00">
                <a:solidFill>
                  <a:srgbClr val="404040"/>
                </a:solidFill>
                <a:latin typeface="Lato"/>
              </a:defRPr>
            </a:pPr>
            <a:endParaRPr/>
          </a:p>
        </p:txBody>
      </p:sp>
      <p:cxnSp>
        <p:nvCxnSpPr>
          <p:cNvPr id="10" name="Fine footer rule"/>
          <p:cNvCxnSpPr/>
          <p:nvPr/>
        </p:nvCxn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1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8" r:id="rId2"/>
    <p:sldLayoutId id="2147483723" r:id="rId3"/>
    <p:sldLayoutId id="2147483724" r:id="rId4"/>
    <p:sldLayoutId id="2147483725" r:id="rId5"/>
    <p:sldLayoutId id="2147483698" r:id="rId6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opak.com/terminals/vopak-terminal-durban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South Africa</a:t>
            </a:r>
          </a:p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market story</a:t>
            </a:r>
          </a:p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review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617720"/>
            <a:ext cx="4572000" cy="2923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Lato"/>
              </a:defRPr>
            </a:pPr>
            <a:r>
              <a:rPr lang="en-GB" sz="1900">
                <a:solidFill>
                  <a:srgbClr val="FFFFFF"/>
                </a:solidFill>
              </a:rPr>
              <a:t>Agreed scope and work programme</a:t>
            </a:r>
            <a:endParaRPr sz="190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Durban and the Lesedi catchment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rPr lang="en-ZW">
                <a:solidFill>
                  <a:srgbClr val="FFFFFF"/>
                </a:solidFill>
              </a:rPr>
              <a:t>7 October 2026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457200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Scope signed off | Analysis pending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" name="Photo source credit"/>
          <p:cNvSpPr txBox="1"/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/>
          <p:cNvSpPr txBox="1"/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BDBEC1"/>
                </a:solidFill>
                <a:latin typeface="Lato"/>
              </a:defRPr>
            </a:pPr>
            <a:r>
              <a:t>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latin typeface="Lato" panose="020F0502020204030203" pitchFamily="34" charset="0"/>
              </a:rPr>
              <a:t>The agreed review connects market evidence to Vopak's investment opportunity</a:t>
            </a:r>
            <a:endParaRPr sz="2300">
              <a:latin typeface="Lato" panose="020F0502020204030203" pitchFamily="34" charset="0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latin typeface="Lato"/>
              </a:defRPr>
            </a:pPr>
            <a:r>
              <a:rPr lang="en-ZW"/>
              <a:t>2</a:t>
            </a:r>
            <a:endParaRPr/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lt1"/>
                </a:solidFill>
                <a:latin typeface="Lato"/>
              </a:defRPr>
            </a:pPr>
            <a:r>
              <a:rPr sz="1050">
                <a:solidFill>
                  <a:schemeClr val="lt1"/>
                </a:solidFill>
              </a:rPr>
              <a:t>1  Overview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1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2  Market baseline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3  Market changes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4  Vopak outlook</a:t>
            </a:r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492240"/>
            <a:ext cx="9326880" cy="106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20"/>
              <a:t>Approval covers this review scope and work programme. It does not verify data or approve model results.</a:t>
            </a:r>
            <a:endParaRPr sz="720"/>
          </a:p>
        </p:txBody>
      </p:sp>
      <p:sp>
        <p:nvSpPr>
          <p:cNvPr id="46" name="TextBox 45"/>
          <p:cNvSpPr txBox="1"/>
          <p:nvPr/>
        </p:nvSpPr>
        <p:spPr>
          <a:xfrm>
            <a:off x="457200" y="1627632"/>
            <a:ext cx="732251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 b="1">
                <a:latin typeface="Lato"/>
              </a:rPr>
              <a:t>Scope signed off on 7 October 2026 | Analysis and investment conclusions remain to be completed</a:t>
            </a:r>
            <a:endParaRPr sz="1300" b="1">
              <a:latin typeface="Lato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234216"/>
              </p:ext>
            </p:extLst>
          </p:nvPr>
        </p:nvGraphicFramePr>
        <p:xfrm>
          <a:off x="457200" y="210312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Story stage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Question to answer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Required output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89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Situation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How have South African fuel demand and domestic supply developed?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Historical exhibits and an evidence audit covering six themes.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89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Which trends could persist or reverse, and where do constraints arise?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Four explicit complications, supported by scenario levers.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89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Resolution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What is Vopak's share in Durban and the Lesedi catchment? Is further investment justified?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Current and scenario shares, capacity headroom and conditional investment conclusions.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latin typeface="Lato" panose="020F0502020204030203" pitchFamily="34" charset="0"/>
              </a:rPr>
              <a:t>Demand history needs a stronger economic and vehicle-use explanation</a:t>
            </a:r>
            <a:endParaRPr sz="2300">
              <a:latin typeface="Lato" panose="020F0502020204030203" pitchFamily="34" charset="0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latin typeface="Lato"/>
              </a:defRPr>
            </a:pPr>
            <a:r>
              <a:rPr lang="en-ZW"/>
              <a:t>3</a:t>
            </a:r>
            <a:endParaRPr/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1  Overview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1">
                <a:solidFill>
                  <a:schemeClr val="lt1"/>
                </a:solidFill>
                <a:latin typeface="Lato"/>
              </a:defRPr>
            </a:pPr>
            <a:r>
              <a:rPr sz="1050">
                <a:solidFill>
                  <a:schemeClr val="lt1"/>
                </a:solidFill>
              </a:rPr>
              <a:t>2  Market baseline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3  Market changes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4  Vopak outlook</a:t>
            </a:r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492240"/>
            <a:ext cx="9326880" cy="106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20"/>
              <a:t>Existing pack starting points: slides 16-17, 19 and 21. Coverage references are not source validation.</a:t>
            </a:r>
            <a:endParaRPr sz="720"/>
          </a:p>
        </p:txBody>
      </p:sp>
      <p:sp>
        <p:nvSpPr>
          <p:cNvPr id="46" name="TextBox 45"/>
          <p:cNvSpPr txBox="1"/>
          <p:nvPr/>
        </p:nvSpPr>
        <p:spPr>
          <a:xfrm>
            <a:off x="457200" y="1627632"/>
            <a:ext cx="500778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 b="1">
                <a:latin typeface="Lato"/>
              </a:rPr>
              <a:t>Situation | Working hypotheses to verify; existing coverage to audit</a:t>
            </a:r>
            <a:endParaRPr sz="1300" b="1">
              <a:latin typeface="Lato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418971"/>
              </p:ext>
            </p:extLst>
          </p:nvPr>
        </p:nvGraphicFramePr>
        <p:xfrm>
          <a:off x="457200" y="210312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Theme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and exhibit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Work required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89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Growth and investment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Petrol/diesel volumes alongside real GDP, fixed investment, FDI and confidence.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the view that volumes were broadly flat over the past decade; explain COVID and recovery. Separate economic weakness from structural change.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89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 prices and EVs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Fuel-price history and paths linked to EV purchase prices and fuel/electricity running costs.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Existing price assumptions need an ownership-cost exhibit. Distinguish geopolitical shocks from sustained changes; calibrate adoption response.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89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Vehicle efficiency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OEM historical and expected consumption rates by segment; fleet growth and replacement.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Translate new-vehicle gains through fleet turnover and real-world use. Show the net fuel effect of fleet size, mileage and efficiency; separate EV switching.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5843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latin typeface="Lato" panose="020F0502020204030203" pitchFamily="34" charset="0"/>
              </a:rPr>
              <a:t>Power and freight need evidence that translates activity into diesel volumes</a:t>
            </a:r>
            <a:endParaRPr sz="2300">
              <a:latin typeface="Lato" panose="020F0502020204030203" pitchFamily="34" charset="0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latin typeface="Lato"/>
              </a:defRPr>
            </a:pPr>
            <a:r>
              <a:rPr lang="en-ZW"/>
              <a:t>4</a:t>
            </a:r>
            <a:endParaRPr/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1  Overview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1">
                <a:solidFill>
                  <a:schemeClr val="lt1"/>
                </a:solidFill>
                <a:latin typeface="Lato"/>
              </a:defRPr>
            </a:pPr>
            <a:r>
              <a:rPr sz="1050">
                <a:solidFill>
                  <a:schemeClr val="lt1"/>
                </a:solidFill>
              </a:rPr>
              <a:t>2  Market baseline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3  Market changes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4  Vopak outlook</a:t>
            </a:r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492240"/>
            <a:ext cx="9326880" cy="106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20"/>
              <a:t>Existing pack starting points: slides 16-17 and 19. Transnet's cited target remains unverified in this review.</a:t>
            </a:r>
            <a:endParaRPr sz="720"/>
          </a:p>
        </p:txBody>
      </p:sp>
      <p:sp>
        <p:nvSpPr>
          <p:cNvPr id="46" name="TextBox 45"/>
          <p:cNvSpPr txBox="1"/>
          <p:nvPr/>
        </p:nvSpPr>
        <p:spPr>
          <a:xfrm>
            <a:off x="457200" y="1627632"/>
            <a:ext cx="5437386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 b="1">
                <a:latin typeface="Lato"/>
              </a:rPr>
              <a:t>Situation | Establish separate baselines before introducing scenario levers</a:t>
            </a:r>
            <a:endParaRPr sz="1300" b="1">
              <a:latin typeface="Lato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092629"/>
              </p:ext>
            </p:extLst>
          </p:nvPr>
        </p:nvGraphicFramePr>
        <p:xfrm>
          <a:off x="457200" y="210312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Theme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and exhibit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Work required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89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Eskom diesel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Annual diesel volumes and expenditure alongside EAF and diesel generation.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Align periods and plant coverage. Verify the proposed relationship between improved EAF and lower diesel use; obtain consumption rates.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89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Power-system plans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Fleet retirement/decommissioning and replacement wind, solar and gas commissioning plans.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Record timing, capacity and delivery uncertainty. Keep Eskom and non-Eskom diesel demand separate.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89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Road and rail freight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Historical payloads by corridor and commodity; road/rail network overlay and planned rail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Verify the cited Transnet ambition of 250 Mt by 2030. Confirm the roughly four national road corridors; identify transferable freight, haul distances and net diesel effects.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21787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latin typeface="Lato" panose="020F0502020204030203" pitchFamily="34" charset="0"/>
              </a:rPr>
              <a:t>The domestic supply timeline must include Secunda and Mossgas</a:t>
            </a:r>
            <a:endParaRPr sz="2300">
              <a:latin typeface="Lato" panose="020F0502020204030203" pitchFamily="34" charset="0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latin typeface="Lato"/>
              </a:defRPr>
            </a:pPr>
            <a:r>
              <a:rPr lang="en-ZW"/>
              <a:t>5</a:t>
            </a:r>
            <a:endParaRPr/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1  Overview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1">
                <a:solidFill>
                  <a:schemeClr val="lt1"/>
                </a:solidFill>
                <a:latin typeface="Lato"/>
              </a:defRPr>
            </a:pPr>
            <a:r>
              <a:rPr sz="1050">
                <a:solidFill>
                  <a:schemeClr val="lt1"/>
                </a:solidFill>
              </a:rPr>
              <a:t>2  Market baseline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3  Market changes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4  Vopak outlook</a:t>
            </a:r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492240"/>
            <a:ext cx="9326880" cy="106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20"/>
              <a:t>Existing pack starting points: slides 4, 6 and 26. Proposed integrated exhibit: approximately one page.</a:t>
            </a:r>
            <a:endParaRPr sz="720"/>
          </a:p>
        </p:txBody>
      </p:sp>
      <p:sp>
        <p:nvSpPr>
          <p:cNvPr id="46" name="TextBox 45"/>
          <p:cNvSpPr txBox="1"/>
          <p:nvPr/>
        </p:nvSpPr>
        <p:spPr>
          <a:xfrm>
            <a:off x="457200" y="1627632"/>
            <a:ext cx="6681316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 b="1">
                <a:latin typeface="Lato"/>
              </a:rPr>
              <a:t>Situation | Extend existing refinery and import coverage into one integrated supply exhibit</a:t>
            </a:r>
            <a:endParaRPr sz="1300" b="1">
              <a:latin typeface="Lato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831181"/>
              </p:ext>
            </p:extLst>
          </p:nvPr>
        </p:nvGraphicFramePr>
        <p:xfrm>
          <a:off x="457200" y="210312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Coverage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required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Exhibit treatment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Conventional refineries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Operating status, production, capacity and major changes over time.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Retain the refinery timeline; distinguish nameplate capacity from actual product output.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Secunda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Production trajectory, operating challenges and petrol/diesel yields.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Add time-series annotations or a callout showing the implications for liquid-fuel supply.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Mossgas / PetroSA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Plant-specific shutdown dates, operating status and lost fuel production.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Distinguish stopped production from permanent closure; verify the status before labelling.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Imports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Existing import series reconciled with domestic production and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Show changing import dependence; do not attribute every import increase to lost local supply.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35506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latin typeface="Lato" panose="020F0502020204030203" pitchFamily="34" charset="0"/>
              </a:rPr>
              <a:t>Transport shifts could weaken historical support for petrol and diesel demand</a:t>
            </a:r>
            <a:endParaRPr sz="2300">
              <a:latin typeface="Lato" panose="020F0502020204030203" pitchFamily="34" charset="0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latin typeface="Lato"/>
              </a:defRPr>
            </a:pPr>
            <a:r>
              <a:rPr lang="en-ZW"/>
              <a:t>6</a:t>
            </a:r>
            <a:endParaRPr/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1  Overview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1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2  Market baseline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lt1"/>
                </a:solidFill>
                <a:latin typeface="Lato"/>
              </a:defRPr>
            </a:pPr>
            <a:r>
              <a:rPr sz="1050">
                <a:solidFill>
                  <a:schemeClr val="lt1"/>
                </a:solidFill>
              </a:rPr>
              <a:t>3  Market changes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4  Vopak outlook</a:t>
            </a:r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492240"/>
            <a:ext cx="9326880" cy="106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20"/>
              <a:t>L / M / H describes the level of each input; it does not automatically indicate the direction of total fuel demand.</a:t>
            </a:r>
            <a:endParaRPr sz="720"/>
          </a:p>
        </p:txBody>
      </p:sp>
      <p:sp>
        <p:nvSpPr>
          <p:cNvPr id="46" name="TextBox 45"/>
          <p:cNvSpPr txBox="1"/>
          <p:nvPr/>
        </p:nvSpPr>
        <p:spPr>
          <a:xfrm>
            <a:off x="457200" y="1627632"/>
            <a:ext cx="5826916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 b="1">
                <a:latin typeface="Lato"/>
              </a:rPr>
              <a:t>Complication 1 | Economic recovery may be partly offset by structural changes</a:t>
            </a:r>
            <a:endParaRPr sz="1300" b="1">
              <a:latin typeface="Lato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957657"/>
              </p:ext>
            </p:extLst>
          </p:nvPr>
        </p:nvGraphicFramePr>
        <p:xfrm>
          <a:off x="457200" y="210312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Change to test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Scenario levers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 translation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Road freight returns to rail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High / medium / low rail recovery by corridor; capacity delivery, utilisation and transferable freight.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Estimate displaced road tonne-kilometres and fuel, allowing for additional diesel rail traction.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 adoption accelerates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 purchase-price declines, fuel/electricity costs and fleet replacement.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Link ownership economics to adoption; distinguish temporary price shocks from sustained incentives.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Vehicles become more efficient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Efficiency gains by segment, real-world adjustment, mileage and fleet turnover.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Apply gains to incoming cohorts; avoid double counting vehicles already shifted to EVs.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Growth improves or stalls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GDP, sector activity and investment outcomes.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Treat growth as a common scenario assumption. Avoid adding FDI/confidence multipliers on top of the same GDP effect.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18567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latin typeface="Lato" panose="020F0502020204030203" pitchFamily="34" charset="0"/>
              </a:rPr>
              <a:t>Power-system recovery could persist or reverse</a:t>
            </a:r>
            <a:endParaRPr sz="2300">
              <a:latin typeface="Lato" panose="020F0502020204030203" pitchFamily="34" charset="0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latin typeface="Lato"/>
              </a:defRPr>
            </a:pPr>
            <a:r>
              <a:rPr lang="en-ZW"/>
              <a:t>7</a:t>
            </a:r>
            <a:endParaRPr/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1  Overview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1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2  Market baseline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lt1"/>
                </a:solidFill>
                <a:latin typeface="Lato"/>
              </a:defRPr>
            </a:pPr>
            <a:r>
              <a:rPr sz="1050">
                <a:solidFill>
                  <a:schemeClr val="lt1"/>
                </a:solidFill>
              </a:rPr>
              <a:t>3  Market changes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4  Vopak outlook</a:t>
            </a:r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492240"/>
            <a:ext cx="9326880" cy="106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20"/>
              <a:t>Link to the Eskom volumes, expenditure and EAF exhibit. No scenario values or completed demand estimates are approved here.</a:t>
            </a:r>
            <a:endParaRPr sz="720"/>
          </a:p>
        </p:txBody>
      </p:sp>
      <p:sp>
        <p:nvSpPr>
          <p:cNvPr id="46" name="TextBox 45"/>
          <p:cNvSpPr txBox="1"/>
          <p:nvPr/>
        </p:nvSpPr>
        <p:spPr>
          <a:xfrm>
            <a:off x="457200" y="1627632"/>
            <a:ext cx="606416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 b="1">
                <a:latin typeface="Lato"/>
              </a:rPr>
              <a:t>Complication 2 | Keep power and load shedding as a standalone scenario question</a:t>
            </a:r>
            <a:endParaRPr sz="1300" b="1">
              <a:latin typeface="Lato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605058"/>
              </p:ext>
            </p:extLst>
          </p:nvPr>
        </p:nvGraphicFramePr>
        <p:xfrm>
          <a:off x="457200" y="210312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Scenario driver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Levers to test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to quantify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Sustained recovery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Higher or sustained EAF and fewer fleet breakdowns.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Whether lower diesel generation can persist, and how much historical demand support unwinds.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Availability setbacks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Lower EAF, outages and major fleet breakdowns.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Additional residual generation needs and feasible diesel dispatch.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Retirement before replacement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Earlier decommissioning; delayed wind, solar or gas capacity and commissioning.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timing and scale of any supply gap; installed capacity alone is not dependable generation.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Eskom and private response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Diesel generation availability, fuel consumption and operating constraints; non-Eskom response.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Estimate Eskom diesel and backup/self-generation separately. Do not equate Eskom diesel dispatch directly with load shedding.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619648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latin typeface="Lato" panose="020F0502020204030203" pitchFamily="34" charset="0"/>
              </a:rPr>
              <a:t>Domestic fuel supply could recover or contract further</a:t>
            </a:r>
            <a:endParaRPr sz="2300">
              <a:latin typeface="Lato" panose="020F0502020204030203" pitchFamily="34" charset="0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latin typeface="Lato"/>
              </a:defRPr>
            </a:pPr>
            <a:r>
              <a:rPr lang="en-ZW"/>
              <a:t>8</a:t>
            </a:r>
            <a:endParaRPr/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1  Overview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1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2  Market baseline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lt1"/>
                </a:solidFill>
                <a:latin typeface="Lato"/>
              </a:defRPr>
            </a:pPr>
            <a:r>
              <a:rPr sz="1050">
                <a:solidFill>
                  <a:schemeClr val="lt1"/>
                </a:solidFill>
              </a:rPr>
              <a:t>3  Market changes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4  Vopak outlook</a:t>
            </a:r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492240"/>
            <a:ext cx="9326880" cy="106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20"/>
              <a:t>Existing pack starting points: slides 6, 18 and 27. Restart and gas assumptions require explicit confirmation.</a:t>
            </a:r>
            <a:endParaRPr sz="720"/>
          </a:p>
        </p:txBody>
      </p:sp>
      <p:sp>
        <p:nvSpPr>
          <p:cNvPr id="46" name="TextBox 45"/>
          <p:cNvSpPr txBox="1"/>
          <p:nvPr/>
        </p:nvSpPr>
        <p:spPr>
          <a:xfrm>
            <a:off x="457200" y="1627632"/>
            <a:ext cx="6524222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W" sz="1300" b="1">
                <a:latin typeface="Lato"/>
              </a:rPr>
              <a:t>Complication 3 | Production changes alter import requirements for a given demand level</a:t>
            </a:r>
            <a:endParaRPr sz="1300" b="1">
              <a:latin typeface="Lato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971189"/>
              </p:ext>
            </p:extLst>
          </p:nvPr>
        </p:nvGraphicFramePr>
        <p:xfrm>
          <a:off x="457200" y="210312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Supply uncertainty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Levers to develop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or definition needed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Major refinery restart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Restart timing, commissioning ramp-up, utilisation and petrol/diesel yields.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Confirm the facility and proposal; distinguish ambition, financed commitment and achievable output.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Secunda production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Gas-related production improvement, availability and product allocation.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Clarify the intended gas driver and substantiate its effect on output. Test any diversion away from liquid fuels.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Natref's future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Continued operation, investment, utilisation or reduced output.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Establish the operating outlook, required investment and credible alternatives.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Import consequences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Combined domestic production paths against each demand scenario.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Quantify imports consistently. Diversion away from fuel production constrains domestic supply, not end-user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06300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latin typeface="Lato" panose="020F0502020204030203" pitchFamily="34" charset="0"/>
              </a:rPr>
              <a:t>Competing corridors could change how inland fuel demand is served</a:t>
            </a:r>
            <a:endParaRPr sz="2300">
              <a:latin typeface="Lato" panose="020F0502020204030203" pitchFamily="34" charset="0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latin typeface="Lato"/>
              </a:defRPr>
            </a:pPr>
            <a:r>
              <a:rPr lang="en-ZW"/>
              <a:t>9</a:t>
            </a:r>
            <a:endParaRPr/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1  Overview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1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2  Market baseline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lt1"/>
                </a:solidFill>
                <a:latin typeface="Lato"/>
              </a:defRPr>
            </a:pPr>
            <a:r>
              <a:rPr sz="1050">
                <a:solidFill>
                  <a:schemeClr val="lt1"/>
                </a:solidFill>
              </a:rPr>
              <a:t>3  Market changes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4  Vopak outlook</a:t>
            </a:r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492240"/>
            <a:ext cx="9326880" cy="106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20"/>
              <a:t>Existing pack starting points: slides 7-8, 11 and 23. Fuel distribution competition is distinct from the road-to-rail demand lever.</a:t>
            </a:r>
            <a:endParaRPr sz="720"/>
          </a:p>
        </p:txBody>
      </p:sp>
      <p:sp>
        <p:nvSpPr>
          <p:cNvPr id="46" name="TextBox 45"/>
          <p:cNvSpPr txBox="1"/>
          <p:nvPr/>
        </p:nvSpPr>
        <p:spPr>
          <a:xfrm>
            <a:off x="457200" y="1627632"/>
            <a:ext cx="6553076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 b="1">
                <a:latin typeface="Lato"/>
              </a:rPr>
              <a:t>Complication 4 | Compare access and delivered economics within each reachable market</a:t>
            </a:r>
            <a:endParaRPr sz="1300" b="1">
              <a:latin typeface="Lato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281220"/>
              </p:ext>
            </p:extLst>
          </p:nvPr>
        </p:nvGraphicFramePr>
        <p:xfrm>
          <a:off x="457200" y="210312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Corridor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Comparison needed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Levers and output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Road and rail costs, capacity, reliability and constraints; pipeline benchmark.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route competitiveness, bottlenecks and expansion; establish the accessible inland market.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Matola / Maputo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Reachable destinations, inland logistics, border constraints, costs and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whether feasible routes can capture demand currently or potentially served via Durban.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Walvis Bay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Reachable markets, distances, delivered costs, transit times and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Assess where it competes credibly; do not presume all inland markets are addressable.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Combined assessment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Corridor map and comparable delivered-cost/throughput assessment.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Allocate scenario flows with physical and commercial constraints. Higher SA imports do not automatically benefit Durban or Vopak.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54201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latin typeface="Lato" panose="020F0502020204030203" pitchFamily="34" charset="0"/>
              </a:rPr>
              <a:t>The resolution must quantify Vopak's share and investment headroom</a:t>
            </a:r>
            <a:endParaRPr sz="2300">
              <a:latin typeface="Lato" panose="020F0502020204030203" pitchFamily="34" charset="0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latin typeface="Lato"/>
              </a:defRPr>
            </a:pPr>
            <a:r>
              <a:rPr lang="en-ZW"/>
              <a:t>10</a:t>
            </a:r>
            <a:endParaRPr/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1  Overview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1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2  Market baseline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3  Market changes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lt1"/>
                </a:solidFill>
                <a:latin typeface="Lato"/>
              </a:defRPr>
            </a:pPr>
            <a:r>
              <a:rPr sz="1050">
                <a:solidFill>
                  <a:schemeClr val="lt1"/>
                </a:solidFill>
              </a:rPr>
              <a:t>4  Vopak outlook</a:t>
            </a:r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492240"/>
            <a:ext cx="9326880" cy="106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20"/>
              <a:t>Existing pack starting points: slides 9-11, 22-24 and 28. Market headroom is not itself a commercially justified investment.</a:t>
            </a:r>
            <a:endParaRPr sz="720"/>
          </a:p>
        </p:txBody>
      </p:sp>
      <p:sp>
        <p:nvSpPr>
          <p:cNvPr id="46" name="TextBox 45"/>
          <p:cNvSpPr txBox="1"/>
          <p:nvPr/>
        </p:nvSpPr>
        <p:spPr>
          <a:xfrm>
            <a:off x="457200" y="1627632"/>
            <a:ext cx="4791376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 b="1">
                <a:latin typeface="Lato"/>
              </a:rPr>
              <a:t>Resolution | Report Durban and the Lesedi catchment separately</a:t>
            </a:r>
            <a:endParaRPr sz="1300" b="1">
              <a:latin typeface="Lato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716153"/>
              </p:ext>
            </p:extLst>
          </p:nvPr>
        </p:nvGraphicFramePr>
        <p:xfrm>
          <a:off x="457200" y="210312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Required answer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Work needed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Decision exhibit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Current market share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Define catchments, products, period and addressable-market denominator; obtain comparable Vopak throughput.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Vopak throughput / relevant market throughput. Show storage-capacity share separately if used.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Future market share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Translate demand, supply and route scenarios into accessible volumes; account for competitors and customers.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Market size and Vopak throughput/share by scenario; avoid double counting transfers between locations.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Capacity headroom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Compare potential throughput with usable capacity, utilisation, bottlenecks and competitor expansion.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Existing capacity versus scenario requirements; distinguish gross tankage from effective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Investment case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Assess customer commitments, commercial terms, capex and required returns.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Whether, where, when and at what scale to invest; triggers for investment, phasing or deferral.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84841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latin typeface="Lato" panose="020F0502020204030203" pitchFamily="34" charset="0"/>
              </a:rPr>
              <a:t>The agreed work sequence builds evidence before scenario conclusions</a:t>
            </a:r>
            <a:endParaRPr sz="2300">
              <a:latin typeface="Lato" panose="020F0502020204030203" pitchFamily="34" charset="0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latin typeface="Lato"/>
              </a:defRPr>
            </a:pPr>
            <a:r>
              <a:rPr lang="en-ZW"/>
              <a:t>11</a:t>
            </a:r>
            <a:endParaRPr/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lt1"/>
                </a:solidFill>
                <a:latin typeface="Lato"/>
              </a:defRPr>
            </a:pPr>
            <a:r>
              <a:rPr sz="1050">
                <a:solidFill>
                  <a:schemeClr val="lt1"/>
                </a:solidFill>
              </a:rPr>
              <a:t>1  Overview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1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2  Market baseline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3  Market changes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4  Vopak outlook</a:t>
            </a:r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492240"/>
            <a:ext cx="9326880" cy="106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20"/>
              <a:t>No staffing dates or new deadlines are committed by this review. Automated checks do not replace peer review or business approval.</a:t>
            </a:r>
            <a:endParaRPr sz="720"/>
          </a:p>
        </p:txBody>
      </p:sp>
      <p:sp>
        <p:nvSpPr>
          <p:cNvPr id="46" name="TextBox 45"/>
          <p:cNvSpPr txBox="1"/>
          <p:nvPr/>
        </p:nvSpPr>
        <p:spPr>
          <a:xfrm>
            <a:off x="457200" y="1627632"/>
            <a:ext cx="4675960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 b="1">
                <a:latin typeface="Lato"/>
              </a:rPr>
              <a:t>Delivery | Preserve the practical sequence agreed in the review</a:t>
            </a:r>
            <a:endParaRPr sz="1300" b="1">
              <a:latin typeface="Lato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603339"/>
              </p:ext>
            </p:extLst>
          </p:nvPr>
        </p:nvGraphicFramePr>
        <p:xfrm>
          <a:off x="457200" y="210312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Step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Work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Completion evidence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4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1. Audit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Review the existing pack, data and model against the signed-off scope.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Covered / exhibit needed / verification needed / missing data / model development.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4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2. Define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Resolve corridors, catchment, share denominators, restart candidate and Secunda gas driver.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Explicit definitions and recorded decisions.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4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3. Evidence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Close source gaps and build situation exhibits.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Sources, periods, units and limitations documented.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4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4. Levers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Map evidence to existing or required model functionality.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Vintaged, registered assumptions; consistent boundaries and no double counting.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4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5. Scenarios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Run demand, supply, imports and routing to addressable Vopak throughput.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Coherent scenario outputs with traceable assumptions.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4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6. Resolution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Build market-share and investment exhibits; complete relevant checks and reviews.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Conditional conclusions, open limitations and review status.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616291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latin typeface="Lato" panose="020F0502020204030203" pitchFamily="34" charset="0"/>
              </a:rPr>
              <a:t>The audit must make every gap, decision and limitation traceable</a:t>
            </a:r>
            <a:endParaRPr sz="2300">
              <a:latin typeface="Lato" panose="020F0502020204030203" pitchFamily="34" charset="0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latin typeface="Lato"/>
              </a:defRPr>
            </a:pPr>
            <a:r>
              <a:rPr lang="en-ZW"/>
              <a:t>12</a:t>
            </a:r>
            <a:endParaRPr/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lt1"/>
                </a:solidFill>
                <a:latin typeface="Lato"/>
              </a:defRPr>
            </a:pPr>
            <a:r>
              <a:rPr sz="1050">
                <a:solidFill>
                  <a:schemeClr val="lt1"/>
                </a:solidFill>
              </a:rPr>
              <a:t>1  Overview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1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2  Market baseline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3  Market changes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chemeClr val="lt1">
              <a:shade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>
              <a:defRPr sz="1050" b="0">
                <a:solidFill>
                  <a:schemeClr val="accent1"/>
                </a:solidFill>
                <a:latin typeface="Lato"/>
              </a:defRPr>
            </a:pPr>
            <a:r>
              <a:rPr sz="1050">
                <a:solidFill>
                  <a:schemeClr val="accent1"/>
                </a:solidFill>
              </a:rPr>
              <a:t>4  Vopak outlook</a:t>
            </a:r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492240"/>
            <a:ext cx="9326880" cy="106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20"/>
              <a:t>Source: signed-off conversation, 7 October 2026; repository architecture and release-gate documents. This is the approved work programme.</a:t>
            </a:r>
            <a:endParaRPr sz="720"/>
          </a:p>
        </p:txBody>
      </p:sp>
      <p:sp>
        <p:nvSpPr>
          <p:cNvPr id="46" name="TextBox 45"/>
          <p:cNvSpPr txBox="1"/>
          <p:nvPr/>
        </p:nvSpPr>
        <p:spPr>
          <a:xfrm>
            <a:off x="457200" y="1627632"/>
            <a:ext cx="706603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 b="1">
                <a:latin typeface="Lato"/>
              </a:rPr>
              <a:t>Execution control | Assign owners explicitly; do not infer evidence approval from scope sign-off</a:t>
            </a:r>
            <a:endParaRPr sz="1300" b="1">
              <a:latin typeface="Lato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261305"/>
              </p:ext>
            </p:extLst>
          </p:nvPr>
        </p:nvGraphicFramePr>
        <p:xfrm>
          <a:off x="457200" y="210312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Control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Required record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Resolution trigger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3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tracker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Story point; exhibit; source; gap; lever; owner; resolution trigger; status.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Resolve each material gap before the related assumption or exhibit is adopted.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3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Definitions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Four road corridors; Lesedi catchment; market-share denominator; restart facility; Secunda gas driver.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Confirm before routing, share calculations or supply-case calibration.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3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Model boundary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Audit current scenario wiring and the additional routing, terminal-throughput and investment work needed.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National balances alone cannot establish Vopak share. Resolve functionality before presenting quantified resolution.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53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Review status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Record this conversation's scope approval separately from data verification, peer review and business approval.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acceptance before adoption; technical review before reliance; commercial approval before investment.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53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Responsibilities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Use existing workstream responsibilities as a starting point; assign individual items during the audit.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Named owners and expiry/resolution triggers for every unresolved input or technical limitation.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77556108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pak Theme" id="{EB158558-B090-4A15-9406-52ADAF46E73D}" vid="{169915E9-BA5A-4298-BC78-09D681881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9E3C0-DBBA-4E87-A833-D4D671FDC2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40e1679-9fef-4664-be92-b7e3c5432c2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  <SharedWithUsers xmlns="62b85a0e-09bb-4b0f-bd28-e34020cdc070">
      <UserInfo>
        <DisplayName>Joseph Kihara</DisplayName>
        <AccountId>3747</AccountId>
        <AccountType/>
      </UserInfo>
    </SharedWithUsers>
    <Archive xmlns="265cb39c-7109-435c-af5d-13dc21a2db6b">false</Archive>
  </documentManagement>
</p:properties>
</file>

<file path=customXml/itemProps1.xml><?xml version="1.0" encoding="utf-8"?>
<ds:datastoreItem xmlns:ds="http://schemas.openxmlformats.org/officeDocument/2006/customXml" ds:itemID="{1B9F3023-3460-4C94-AC6C-4F171062BD4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FA9FA0-2CB2-436E-A336-3A77ADFE4CF1}">
  <ds:schemaRefs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65cb39c-7109-435c-af5d-13dc21a2db6b"/>
    <ds:schemaRef ds:uri="http://purl.org/dc/elements/1.1/"/>
    <ds:schemaRef ds:uri="62b85a0e-09bb-4b0f-bd28-e34020cdc07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Vopak Theme</Template>
  <TotalTime>0</TotalTime>
  <Words>3829</Words>
  <Application>Microsoft Office PowerPoint</Application>
  <PresentationFormat>Custom</PresentationFormat>
  <Paragraphs>325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Lato</vt:lpstr>
      <vt:lpstr>Arial</vt:lpstr>
      <vt:lpstr>Vopak Theme</vt:lpstr>
      <vt:lpstr>PowerPoint Presentation</vt:lpstr>
      <vt:lpstr>The agreed review connects market evidence to Vopak's investment opportunity</vt:lpstr>
      <vt:lpstr>Demand history needs a stronger economic and vehicle-use explanation</vt:lpstr>
      <vt:lpstr>Power and freight need evidence that translates activity into diesel volumes</vt:lpstr>
      <vt:lpstr>The domestic supply timeline must include Secunda and Mossgas</vt:lpstr>
      <vt:lpstr>Transport shifts could weaken historical support for petrol and diesel demand</vt:lpstr>
      <vt:lpstr>Power-system recovery could persist or reverse</vt:lpstr>
      <vt:lpstr>Domestic fuel supply could recover or contract further</vt:lpstr>
      <vt:lpstr>Competing corridors could change how inland fuel demand is served</vt:lpstr>
      <vt:lpstr>The resolution must quantify Vopak's share and investment headroom</vt:lpstr>
      <vt:lpstr>The agreed work sequence builds evidence before scenario conclusions</vt:lpstr>
      <vt:lpstr>The audit must make every gap, decision and limitation traceable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Africa liquid fuels: Week 1 analytical maps</dc:title>
  <dc:subject>Illustrative demand geography and conditional Vopak market access</dc:subject>
  <dc:creator>Africa International Advisors</dc:creator>
  <cp:lastModifiedBy>Nigel Zhuwaki</cp:lastModifiedBy>
  <cp:revision>2</cp:revision>
  <dcterms:created xsi:type="dcterms:W3CDTF">2017-11-16T09:19:07Z</dcterms:created>
  <dcterms:modified xsi:type="dcterms:W3CDTF">2026-10-07T17:59:00Z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