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94" r:id="rId4"/>
  </p:sldMasterIdLst>
  <p:notesMasterIdLst>
    <p:notesMasterId r:id="rId17"/>
  </p:notesMasterIdLst>
  <p:sldIdLst>
    <p:sldId id="25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</p:sldIdLst>
  <p:sldSz cx="11588750" cy="6858000"/>
  <p:notesSz cx="6858000" cy="9144000"/>
  <p:embeddedFontLst>
    <p:embeddedFont>
      <p:font typeface="Lato" panose="020F0502020204030203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60B812-FB11-E744-2EAF-0F2DA0ECD4BF}" name="Henry Gilfillan" initials="HG" userId="S::Henry.G@africaia.com::20d8d1d5-b81d-4db2-8d49-9db47f87700a" providerId="AD"/>
  <p188:author id="{80F3E917-8A40-6377-B501-C0BF4583C07C}" name="Maria-Salome Milanzi" initials="MM" userId="S::Maria-Salome.M@africaia.com::27b80f15-cda9-458b-a241-0020d0d18b2b" providerId="AD"/>
  <p188:author id="{8653DC3D-E5A6-54BA-B06A-0D6999879F26}" name="Joseph Kihara" initials="JK" userId="S::joseph.k@africaia.com::89b38e7e-ff17-4223-9856-6d82edda0c7c" providerId="AD"/>
  <p188:author id="{79DE144E-B764-F176-BA11-B9193ABDC8E5}" name="Davies Tsikayi" initials="DT" userId="S::Davies.T@africaia.com::87c07fce-c37d-4ded-b6b5-65d5c8b951c1" providerId="AD"/>
  <p188:author id="{31278C59-D498-87BD-2E87-AF9308A52A9D}" name="Shannon Kurz" initials="SK" userId="Shannon Kurz" providerId="None"/>
  <p188:author id="{68AE2466-B378-7AA2-581F-E86841585307}" name="Paayal Kanjee Govind" initials="PK" userId="S::Paayal.KG@africaia.com::50637073-a9d2-4dfa-96c0-927604d7cc3c" providerId="AD"/>
  <p188:author id="{C5B1668E-F34A-2E98-0466-BAF8D463548D}" name="Manish Ramjeawon" initials="MR" userId="S::manish.r@africaia.com::530ca382-ae44-4c47-aaca-bb6bff7153ab" providerId="AD"/>
  <p188:author id="{F720B396-19C0-DB41-D221-DFCF831531AE}" name="Henry Gilfillan" initials="HG" userId="Henry Gilfillan" providerId="None"/>
  <p188:author id="{9FBE07B6-A3E1-BFC7-95A7-1EBCABB54112}" name="Karabo Mashabane" initials="KM" userId="S::Karabo.M@africaia.com::def9b110-1e86-4623-94be-634dc77ab82b" providerId="AD"/>
  <p188:author id="{53709FFD-5FBE-8519-0B68-00C91B158654}" name="James Brown" initials="JB" userId="James Brow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Henry Gilfillan" initials="HG [2]" lastIdx="8" clrIdx="6">
    <p:extLst>
      <p:ext uri="{19B8F6BF-5375-455C-9EA6-DF929625EA0E}">
        <p15:presenceInfo xmlns:p15="http://schemas.microsoft.com/office/powerpoint/2012/main" userId="S::henry.g@africaia.com::20d8d1d5-b81d-4db2-8d49-9db47f87700a" providerId="AD"/>
      </p:ext>
    </p:extLst>
  </p:cmAuthor>
  <p:cmAuthor id="1" name="Abbas Bilgrami" initials="AB [2]" lastIdx="8" clrIdx="0">
    <p:extLst>
      <p:ext uri="{19B8F6BF-5375-455C-9EA6-DF929625EA0E}">
        <p15:presenceInfo xmlns:p15="http://schemas.microsoft.com/office/powerpoint/2012/main" userId="da833efe2a07dd73" providerId="Windows Live"/>
      </p:ext>
    </p:extLst>
  </p:cmAuthor>
  <p:cmAuthor id="8" name="Abbas Bilgrami" initials="AB" lastIdx="34" clrIdx="7">
    <p:extLst>
      <p:ext uri="{19B8F6BF-5375-455C-9EA6-DF929625EA0E}">
        <p15:presenceInfo xmlns:p15="http://schemas.microsoft.com/office/powerpoint/2012/main" userId="S::abbas.b@africaia.com::09d4207e-ca10-48c5-9e33-f8dec02b9ddc" providerId="AD"/>
      </p:ext>
    </p:extLst>
  </p:cmAuthor>
  <p:cmAuthor id="2" name="Henry Gilfillan" initials="HG" lastIdx="82" clrIdx="1">
    <p:extLst>
      <p:ext uri="{19B8F6BF-5375-455C-9EA6-DF929625EA0E}">
        <p15:presenceInfo xmlns:p15="http://schemas.microsoft.com/office/powerpoint/2012/main" userId="Henry Gilfillan" providerId="None"/>
      </p:ext>
    </p:extLst>
  </p:cmAuthor>
  <p:cmAuthor id="9" name="Paayal Kanjee Govind" initials="PKG" lastIdx="4" clrIdx="8">
    <p:extLst>
      <p:ext uri="{19B8F6BF-5375-455C-9EA6-DF929625EA0E}">
        <p15:presenceInfo xmlns:p15="http://schemas.microsoft.com/office/powerpoint/2012/main" userId="Paayal Kanjee Govind" providerId="None"/>
      </p:ext>
    </p:extLst>
  </p:cmAuthor>
  <p:cmAuthor id="3" name="Ismaeel" initials="I" lastIdx="104" clrIdx="2">
    <p:extLst>
      <p:ext uri="{19B8F6BF-5375-455C-9EA6-DF929625EA0E}">
        <p15:presenceInfo xmlns:p15="http://schemas.microsoft.com/office/powerpoint/2012/main" userId="Ismaeel" providerId="None"/>
      </p:ext>
    </p:extLst>
  </p:cmAuthor>
  <p:cmAuthor id="4" name="Jennifer Zeiss" initials="JZ" lastIdx="19" clrIdx="3">
    <p:extLst>
      <p:ext uri="{19B8F6BF-5375-455C-9EA6-DF929625EA0E}">
        <p15:presenceInfo xmlns:p15="http://schemas.microsoft.com/office/powerpoint/2012/main" userId="Jennifer Zeiss" providerId="None"/>
      </p:ext>
    </p:extLst>
  </p:cmAuthor>
  <p:cmAuthor id="5" name="Gabrielle Knott" initials="GK" lastIdx="2" clrIdx="4">
    <p:extLst>
      <p:ext uri="{19B8F6BF-5375-455C-9EA6-DF929625EA0E}">
        <p15:presenceInfo xmlns:p15="http://schemas.microsoft.com/office/powerpoint/2012/main" userId="Gabrielle Knott" providerId="None"/>
      </p:ext>
    </p:extLst>
  </p:cmAuthor>
  <p:cmAuthor id="6" name="James Brown" initials="JB" lastIdx="2" clrIdx="5">
    <p:extLst>
      <p:ext uri="{19B8F6BF-5375-455C-9EA6-DF929625EA0E}">
        <p15:presenceInfo xmlns:p15="http://schemas.microsoft.com/office/powerpoint/2012/main" userId="S::james@africaia.com::5c3cb27f-96be-4c72-848f-aa01b93992f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3552"/>
    <a:srgbClr val="EBF9FE"/>
    <a:srgbClr val="FDD9A4"/>
    <a:srgbClr val="2D6196"/>
    <a:srgbClr val="326757"/>
    <a:srgbClr val="728A94"/>
    <a:srgbClr val="F01C24"/>
    <a:srgbClr val="56787A"/>
    <a:srgbClr val="CFDFF0"/>
    <a:srgbClr val="008E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C87D74-0723-4269-ADB4-1C2880134AC4}" v="1" dt="2026-10-01T12:10:22.3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7D6B1-D525-4628-ADA5-8E1FE74ADA4C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20738" y="1143000"/>
            <a:ext cx="5216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01EB5-DFDD-47C4-B7E0-8A0182602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944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note: Walk through four sections: the project question, the analytical</a:t>
            </a:r>
          </a:p>
          <a:p>
            <a:r>
              <a:t>requirements, the model-build problem and the delivery approach. The purpose is to</a:t>
            </a:r>
          </a:p>
          <a:p>
            <a:r>
              <a:t>connect the analyst's tasks to the decisions the engagement needs to support.</a:t>
            </a:r>
          </a:p>
          <a:p>
            <a:r>
              <a:t>Week 1 analytical pack, 6 October 2026. Existing kickoff cover/closing reused at user request.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Convergence order: national accounting p3; provincial map p4; history/estimates p5. Current page 1.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Convergence order: national accounting p3; provincial map p4; history/estimates p5. Current page 1.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Convergence order: national accounting p3; provincial map p4; history/estimates p5. Current page 1.</a:t>
            </a:r>
          </a:p>
          <a:p>
            <a:r>
              <a:t>Final structure: baseline pp3–6; changes pp7–11 (forecast framework p9); outlook pp12–17 (market choices p16, inventory p17). Current page 1.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Convergence order: national accounting p3; provincial map p4; history/estimates p5. Current page 1.</a:t>
            </a:r>
          </a:p>
          <a:p>
            <a:r>
              <a:t>Final structure: baseline pp3–6; changes pp7–11 (forecast framework p9); outlook pp12–17 (market choices p16, inventory p17). Current page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Approval covers this review scope and work programme. It does not verify data or approve model results.</a:t>
            </a:r>
          </a:p>
          <a:p>
            <a:r>
              <a:rPr lang="en-GB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Existing pack starting points: slides 16-17, 19 and 21. Coverage references are not source validation.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Transnet 250 Mt ambition is network-wide. Supplied AIA brief cites funding dependency; primary corridor tables still require reconciliation.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Existing pack starting points: slides 4, 6 and 26. Proposed integrated exhibit: approximately one page.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Scenario levels and dates will follow separately. Freight displacement and fuel-distribution routing are distinct calculations.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Power and load shedding remain a standalone complication. No new forecast paths are calibrated in this revision.</a:t>
            </a:r>
          </a:p>
          <a:p>
            <a:r>
              <a:rPr lang="en-GB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Research candidates confirmed: SAPREF and Natref. Secunda driver corrected to gas decline and MRG diversion; scenarios deferred.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Delivered-cost module specification: origin + destination + product + period; compare feasible routes and their maximum affordable logistics charge.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Commercial inputs are unavailable. Provide a transparent share inference now; quantify the financial forecast once commercial assumptions are supplied and reviewed.</a:t>
            </a:r>
          </a:p>
          <a:p>
            <a:r>
              <a:rPr lang="en-GB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No staffing dates or new deadlines are committed by this review. Automated checks do not replace peer review or business approval.</a:t>
            </a:r>
          </a:p>
          <a:p>
            <a:r>
              <a:rPr lang="en-GB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All annotated comments have a disposition in the accompanying comment log. Scope sign-off does not approve new evidence or results.</a:t>
            </a:r>
          </a:p>
          <a:p>
            <a:r>
              <a:rPr lang="en-GB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4" name="Picture 3" descr="A picture containing sky, building, outdoor, city&#10;&#10;Description automatically generated">
            <a:extLst>
              <a:ext uri="{FF2B5EF4-FFF2-40B4-BE49-F238E27FC236}">
                <a16:creationId xmlns:a16="http://schemas.microsoft.com/office/drawing/2014/main" id="{AF958CDF-21C2-4696-B1FF-98C6C69234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158875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" y="5137149"/>
            <a:ext cx="4933950" cy="1571625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1437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opak offering simultaneous LNG bunkering service in Rotterdam - Offshore  Energy">
            <a:extLst>
              <a:ext uri="{FF2B5EF4-FFF2-40B4-BE49-F238E27FC236}">
                <a16:creationId xmlns:a16="http://schemas.microsoft.com/office/drawing/2014/main" id="{04892275-F272-DCB3-8D5D-1CEB80A85C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/>
          <p:nvPr userDrawn="1"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7800" y="5205413"/>
            <a:ext cx="4933950" cy="1652587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92D3BD-B933-88AB-9C21-59605B00713D}"/>
              </a:ext>
            </a:extLst>
          </p:cNvPr>
          <p:cNvSpPr/>
          <p:nvPr userDrawn="1"/>
        </p:nvSpPr>
        <p:spPr>
          <a:xfrm>
            <a:off x="5111750" y="5727050"/>
            <a:ext cx="6477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ver title panel"/>
          <p:cNvSpPr/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Vopak cover logo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643500E-BA42-ED40-0D0F-F69255A71C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436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opak offering simultaneous LNG bunkering service in Rotterdam - Offshore  Energy">
            <a:extLst>
              <a:ext uri="{FF2B5EF4-FFF2-40B4-BE49-F238E27FC236}">
                <a16:creationId xmlns:a16="http://schemas.microsoft.com/office/drawing/2014/main" id="{04892275-F272-DCB3-8D5D-1CEB80A85C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/>
          <p:nvPr userDrawn="1"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7800" y="5205413"/>
            <a:ext cx="4933950" cy="1652587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0" name="Cover title panel"/>
          <p:cNvSpPr/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Vopak cover logo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643500E-BA42-ED40-0D0F-F69255A71C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106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/>
          <p:nvPr userDrawn="1"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/>
          <p:nvPr userDrawn="1"/>
        </p:nvSpPr>
        <p:spPr>
          <a:xfrm>
            <a:off x="-29153" y="0"/>
            <a:ext cx="429952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b="1">
              <a:solidFill>
                <a:schemeClr val="tx1"/>
              </a:solidFill>
            </a:endParaRPr>
          </a:p>
          <a:p>
            <a:pPr algn="ctr"/>
            <a:endParaRPr lang="en-GB" sz="28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2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/>
          <p:nvPr userDrawn="1"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/>
          <p:nvPr userDrawn="1"/>
        </p:nvSpPr>
        <p:spPr>
          <a:xfrm>
            <a:off x="-29153" y="0"/>
            <a:ext cx="582352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b="1">
              <a:solidFill>
                <a:schemeClr val="tx1"/>
              </a:solidFill>
            </a:endParaRPr>
          </a:p>
          <a:p>
            <a:pPr algn="ctr"/>
            <a:endParaRPr lang="en-GB" sz="28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766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A65E4EDC-57F8-4D5C-B13E-A981C5F2F71A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5216"/>
            <a:ext cx="1056132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Click to edit Master title style</a:t>
            </a:r>
          </a:p>
        </p:txBody>
      </p:sp>
      <p:cxnSp>
        <p:nvCxnSpPr>
          <p:cNvPr id="7" name="Title and body separator"/>
          <p:cNvCxnSpPr/>
          <p:nvPr/>
        </p:nvCxnSpPr>
        <p:spPr>
          <a:xfrm>
            <a:off x="457200" y="1444752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964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65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801" y="368299"/>
            <a:ext cx="11233148" cy="690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801" y="1233488"/>
            <a:ext cx="11233149" cy="5256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05599" y="6489700"/>
            <a:ext cx="8053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43CB578-80E0-884E-8515-53279D5DAC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0" y="6515100"/>
            <a:ext cx="952500" cy="212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CB3F387-66D0-18CC-51EE-24B908A792B7}"/>
              </a:ext>
            </a:extLst>
          </p:cNvPr>
          <p:cNvSpPr txBox="1">
            <a:spLocks/>
          </p:cNvSpPr>
          <p:nvPr userDrawn="1"/>
        </p:nvSpPr>
        <p:spPr>
          <a:xfrm>
            <a:off x="457200" y="6528816"/>
            <a:ext cx="8595360" cy="228600"/>
          </a:xfrm>
          <a:prstGeom prst="rect">
            <a:avLst/>
          </a:prstGeom>
        </p:spPr>
        <p:txBody>
          <a:bodyPr tIns="0" bIns="0" anchor="ctr">
            <a:normAutofit/>
          </a:bodyPr>
          <a:lstStyle>
            <a:lvl1pPr marL="0" indent="0" algn="l" defTabSz="869137" rtl="0" eaLnBrk="1" latinLnBrk="0" hangingPunct="1">
              <a:lnSpc>
                <a:spcPct val="90000"/>
              </a:lnSpc>
              <a:spcBef>
                <a:spcPts val="951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1853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6422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0990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5559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0127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24696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9265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93833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800">
                <a:solidFill>
                  <a:srgbClr val="404040"/>
                </a:solidFill>
                <a:latin typeface="Lato"/>
              </a:defRPr>
            </a:pPr>
            <a:endParaRPr/>
          </a:p>
        </p:txBody>
      </p:sp>
      <p:cxnSp>
        <p:nvCxnSpPr>
          <p:cNvPr id="10" name="Fine footer rule"/>
          <p:cNvCxnSpPr/>
          <p:nvPr/>
        </p:nvCxnSpPr>
        <p:spPr>
          <a:xfrm>
            <a:off x="457200" y="6437376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01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8" r:id="rId2"/>
    <p:sldLayoutId id="2147483723" r:id="rId3"/>
    <p:sldLayoutId id="2147483724" r:id="rId4"/>
    <p:sldLayoutId id="2147483725" r:id="rId5"/>
    <p:sldLayoutId id="2147483698" r:id="rId6"/>
  </p:sldLayoutIdLst>
  <p:hf hdr="0" ftr="0" dt="0"/>
  <p:txStyles>
    <p:titleStyle>
      <a:lvl1pPr algn="l" defTabSz="869137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7284" indent="-217284" algn="l" defTabSz="869137" rtl="0" eaLnBrk="1" latinLnBrk="0" hangingPunct="1">
        <a:lnSpc>
          <a:spcPct val="90000"/>
        </a:lnSpc>
        <a:spcBef>
          <a:spcPts val="95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5185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86422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520990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955559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390127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824696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259265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69383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1pPr>
      <a:lvl2pPr marL="43456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2pPr>
      <a:lvl3pPr marL="869137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3pPr>
      <a:lvl4pPr marL="1303706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4pPr>
      <a:lvl5pPr marL="1738274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5pPr>
      <a:lvl6pPr marL="2172843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607412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04198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47654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2" orient="horz" pos="2160" userDrawn="1">
          <p15:clr>
            <a:srgbClr val="F26B43"/>
          </p15:clr>
        </p15:guide>
        <p15:guide id="13" pos="112" userDrawn="1">
          <p15:clr>
            <a:srgbClr val="F26B43"/>
          </p15:clr>
        </p15:guide>
        <p15:guide id="14" orient="horz" pos="4269" userDrawn="1">
          <p15:clr>
            <a:srgbClr val="F26B43"/>
          </p15:clr>
        </p15:guide>
        <p15:guide id="15" pos="3650" userDrawn="1">
          <p15:clr>
            <a:srgbClr val="F26B43"/>
          </p15:clr>
        </p15:guide>
        <p15:guide id="16" pos="7188" userDrawn="1">
          <p15:clr>
            <a:srgbClr val="F26B43"/>
          </p15:clr>
        </p15:guide>
        <p15:guide id="17" orient="horz" pos="28" userDrawn="1">
          <p15:clr>
            <a:srgbClr val="F26B43"/>
          </p15:clr>
        </p15:guide>
        <p15:guide id="18" orient="horz" pos="686" userDrawn="1">
          <p15:clr>
            <a:srgbClr val="F26B43"/>
          </p15:clr>
        </p15:guide>
        <p15:guide id="19" orient="horz" pos="777" userDrawn="1">
          <p15:clr>
            <a:srgbClr val="F26B43"/>
          </p15:clr>
        </p15:guide>
        <p15:guide id="20" orient="horz" pos="4088" userDrawn="1">
          <p15:clr>
            <a:srgbClr val="F26B43"/>
          </p15:clr>
        </p15:guide>
        <p15:guide id="21" orient="horz" pos="3680" userDrawn="1">
          <p15:clr>
            <a:srgbClr val="F26B43"/>
          </p15:clr>
        </p15:guide>
        <p15:guide id="22" orient="horz" pos="3566" userDrawn="1">
          <p15:clr>
            <a:srgbClr val="F26B43"/>
          </p15:clr>
        </p15:guide>
        <p15:guide id="23" pos="580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vopak.com/terminals/vopak-terminal-durban" TargetMode="Externa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slide" Target="slide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slide" Target="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slide" Target="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slide" Target="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588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rcRect l="21836" r="21836"/>
          <a:stretch>
            <a:fillRect/>
          </a:stretch>
        </p:blipFill>
        <p:spPr>
          <a:xfrm>
            <a:off x="5794375" y="0"/>
            <a:ext cx="5794375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2920" y="457200"/>
            <a:ext cx="1965960" cy="4386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2468880"/>
            <a:ext cx="4709160" cy="163634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defRPr sz="3100" b="0">
                <a:solidFill>
                  <a:srgbClr val="FFFFFF"/>
                </a:solidFill>
                <a:latin typeface="Lato"/>
              </a:defRPr>
            </a:pPr>
            <a:r>
              <a:rPr lang="en-GB">
                <a:solidFill>
                  <a:srgbClr val="FFFFFF"/>
                </a:solidFill>
              </a:rPr>
              <a:t>South Africa
market review
work programme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94360" y="4251960"/>
            <a:ext cx="46177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4617720"/>
            <a:ext cx="4572000" cy="26161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Lato"/>
              </a:defRPr>
            </a:pPr>
            <a:r>
              <a:rPr lang="en-ZW" sz="1700">
                <a:solidFill>
                  <a:srgbClr val="FFFFFF"/>
                </a:solidFill>
              </a:rPr>
              <a:t>Revised following review comments</a:t>
            </a:r>
            <a:endParaRPr sz="170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52395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Lato"/>
              </a:defRPr>
            </a:pPr>
            <a:r>
              <a:rPr lang="en-GB">
                <a:solidFill>
                  <a:srgbClr val="FFFFFF"/>
                </a:solidFill>
              </a:rPr>
              <a:t>Durban and Gauteng (Lesedi catchment)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56967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Lato"/>
              </a:defRPr>
            </a:pPr>
            <a:r>
              <a:rPr lang="en-ZW">
                <a:solidFill>
                  <a:srgbClr val="FFFFFF"/>
                </a:solidFill>
              </a:rPr>
              <a:t>7 October 2026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6053328"/>
            <a:ext cx="4572000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Lato"/>
              </a:defRPr>
            </a:pPr>
            <a:r>
              <a:rPr lang="en-GB" sz="1200">
                <a:solidFill>
                  <a:srgbClr val="FFFFFF"/>
                </a:solidFill>
              </a:rPr>
              <a:t>Scope approved; revised delivery specification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" name="Photo source credit"/>
          <p:cNvSpPr txBox="1"/>
          <p:nvPr/>
        </p:nvSpPr>
        <p:spPr>
          <a:xfrm>
            <a:off x="594360" y="6400800"/>
            <a:ext cx="475488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FFFFFF"/>
                </a:solidFill>
                <a:latin typeface="Lato"/>
              </a:defRPr>
            </a:pPr>
            <a:r>
              <a:rPr>
                <a:solidFill>
                  <a:srgbClr val="FFFFFF"/>
                </a:solidFill>
              </a:rPr>
              <a:t>Photo source: Royal Vopak | Terminal Durban | vopak.com</a:t>
            </a:r>
          </a:p>
        </p:txBody>
      </p:sp>
      <p:sp>
        <p:nvSpPr>
          <p:cNvPr id="12" name="Strictly Confidential footer"/>
          <p:cNvSpPr txBox="1"/>
          <p:nvPr/>
        </p:nvSpPr>
        <p:spPr>
          <a:xfrm>
            <a:off x="59436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BDBEC1"/>
                </a:solidFill>
                <a:latin typeface="Lato"/>
              </a:defRPr>
            </a:pPr>
            <a:r>
              <a:t>Strictly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The agreed review connects market evidence to Vopak's investment opportunity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2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Approval covers this review scope and work programme. It does not verify data or approve model results.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639432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Story stage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Question to answer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Required output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Situation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How have South African fuel demand and domestic supply developed?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Historical exhibits and an evidence audit covering six themes.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Complication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Which trends could persist or reverse, and where do constraints arise?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Four explicit complications. Evidence and mechanics now; scenario calibration deferred.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Resolution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What is Vopak's share in Durban and the Lesedi catchment? Is further investment justified?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Share inference, catchment dashboards and a specified financial forecast. Commercial inputs remain open.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3B3E7C84-E5DD-B174-3AFC-004E9BDA7E70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BE4A4D8E-5AB2-E187-275C-AC65DC8A60D0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2D55323D-B490-89E9-8A10-B4CC58677CF1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Demand history needs a stronger economic and vehicle-use explanation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3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Existing pack starting points: slides 16-17, 19 and 21. Coverage references are not source validation.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47270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Theme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 and exhibit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Work required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Growth and investment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Petrol/diesel volumes alongside real GDP, fixed investment, FDI and confidence.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Explain weak real activity and investment separately from changes in sector mix. Test manufacturing trends and agriculture headwinds; do not assume either causes the full fuel trend.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Fuel prices and EVs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Fuel-price history and paths linked to EV purchase prices and fuel/electricity running costs.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Separate short shipping/crude/FX shocks from persistent delivered-price changes. Test EV total ownership cost, then adoption and fleet turnover. Energy savings alone do not establish uptake.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Vehicle efficiency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OEM historical and expected consumption rates by segment; fleet growth and replacement.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Translate new-vehicle gains through fleet turnover and real-world use. Show the net fuel effect of fleet size, mileage and efficiency; separate EV switching.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2EC51A21-E02F-7059-F501-671022A9BDE6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B0282844-0F5A-29DF-B8C7-B1CE87E2CE85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0D594704-D5B8-0628-5E7D-80D8DD9959A3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136034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Power and freight need evidence that translates activity into diesel volumes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4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Transnet 250 Mt ambition is network-wide. Supplied AIA brief cites funding dependency; primary corridor tables still require reconciliation.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922925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Theme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 and exhibit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Work required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Eskom diesel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Annual diesel volumes and expenditure alongside EAF and diesel generation.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Align periods and plant coverage. Verify the proposed relationship between improved EAF and lower diesel use; obtain consumption rates.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Power-system plans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Fleet retirement/decommissioning and replacement wind, solar and gas commissioning plans.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Record timing, capacity and delivery uncertainty. Keep Eskom and non-Eskom diesel demand separate.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Road and rail freight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Historical payloads by corridor and commodity; road/rail network overlay and planned rail capacity.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Prioritise Durban–Gauteng road and rail, with pipeline as fuel benchmark. Use the supplied funding brief, then verify Network Statement v4 / Annexure 17 capacity, funding and delivery milestones.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FACB8BEA-3FFC-C09B-E4D4-78BB0F400F7A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56DC2975-600E-4E3D-1028-E90D984816F8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775303FB-CA6B-A4EB-A495-5535CFCE1404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4276957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The domestic supply timeline must include Secunda and Mossgas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5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Existing pack starting points: slides 4, 6 and 26. Proposed integrated exhibit: approximately one page.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908860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Coverage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 required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Exhibit treatment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Conventional refineries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Operating status, production, capacity and major changes over time.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Retain the refinery timeline; distinguish nameplate capacity from actual product output.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Secunda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Production trajectory, operating challenges and petrol/diesel yields.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Add time-series annotations or a callout showing the implications for liquid-fuel supply.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Mossgas / PetroSA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Plant-specific shutdown dates, operating status and lost fuel production.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Distinguish stopped production from permanent closure; verify the status before labelling.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Imports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Existing import series reconciled with domestic production and demand.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Show changing import dependence; do not attribute every import increase to lost local supply.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AA870103-1E78-2E86-A369-1CB28D7A0591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0F64A8B6-28A3-AED5-1A11-47E376695144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806DD0DA-001D-7D14-6986-B2E9BE8440B6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4273516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Transport shifts could weaken historical support for petrol and diesel demand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6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Scenario levels and dates will follow separately. Freight displacement and fuel-distribution routing are distinct calculations.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959535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Change to test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Mechanics to develop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Demand translation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Road freight returns to rail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Durban–Gauteng first: transferable commodities, haul distance, rail capacity, reliability and funding milestones.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Estimate displaced road tonne-kilometres and fuel, allowing for additional diesel rail traction.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 adoption accelerates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 purchase-price declines, fuel/electricity costs and fleet replacement.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Link ownership economics to adoption; distinguish temporary price shocks from sustained incentives.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Vehicles become more efficient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Efficiency gains by segment, real-world adjustment, mileage and fleet turnover.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Apply gains to incoming cohorts; avoid double counting vehicles already shifted to EVs.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Growth improves or stalls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Mining output, agriculture activity and aviation traffic, supported by GDP and investment evidence.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Separate mining/agriculture diesel from aviation jet fuel. Manufacturing is contextual. Avoid adding FDI or confidence multipliers to the same activity effect.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128BFB16-64A8-5FA5-FCD8-00DF79427D4C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40307B3B-6FD6-DC12-F660-ECB04AF640C4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8E28C774-43FE-CCD5-EE21-201A422C1A48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2124245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Power-system recovery could persist or reverse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7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Power and load shedding remain a standalone complication. No new forecast paths are calibrated in this revision.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670125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Power-system driver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Levers to test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Implication to quantify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Sustained recovery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Higher or sustained EAF and fewer fleet breakdowns.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Whether lower diesel generation can persist, and how much historical demand support unwinds.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Availability setbacks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Lower EAF, outages and major fleet breakdowns.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Additional residual generation needs and feasible diesel dispatch.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Retirement before replacement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Earlier decommissioning; delayed wind, solar or gas capacity and commissioning.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 timing and scale of any supply gap; installed capacity alone is not dependable generation.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Eskom and private response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Diesel generation availability, fuel consumption and operating constraints; non-Eskom response.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Estimate Eskom diesel and backup/self-generation separately. Do not equate Eskom diesel dispatch directly with load shedding.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B8A2663E-3EF4-452B-B60D-2B0BB80E90AD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E9C23582-1D9A-E337-57DD-4ADC5FF21A41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CE288950-C2FC-053B-1994-4008C789292A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3358253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Domestic fuel supply could recover or contract further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8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Research candidates confirmed: SAPREF and Natref. Secunda driver corrected to gas decline and MRG diversion; scenarios deferred.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334138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Supply uncertainty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Levers to develop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 or definition needed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SAPREF restart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Separate finished-product import operations from a future refinery restart and ramp-up.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CEF roadmap identifies staged ambitions, subject to investment and approvals. Capacity announcements are not operating output.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Secunda production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Declining gas supply and diversion to methane-rich gas (MRG) could reduce liquid-fuel output.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User clarification adopted. Source the gas balance and marginal liquid yield before quantifying the loss.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Natref's future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Continued operation, investment, utilisation or reduced output.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Establish the operating outlook, required investment and credible alternatives.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Import consequences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Combined domestic production paths against each demand scenario.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Quantify imports consistently. Diversion away from fuel production constrains domestic supply, not end-user demand.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73818F48-EE7B-E665-D91F-1D469B206470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ADB58976-2047-D333-7BD6-7E2C5098C7F2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C7A38229-D4A2-900A-EAF8-B378F8DC9567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3904690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Competing corridors could change how inland fuel demand is served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9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Delivered-cost module specification: origin + destination + product + period; compare feasible routes and their maximum affordable logistics charge.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796916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Corridor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Comparison needed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Levers and output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Durban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Road and rail costs, capacity, reliability and constraints; pipeline benchmark.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Test route competitiveness, bottlenecks and expansion; establish the accessible inland market.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Matola / Maputo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Reachable destinations, inland logistics, border constraints, costs and capacity.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Test whether feasible routes can capture demand currently or potentially served via Durban.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Walvis Bay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Reachable markets, distances, delivered costs, transit times and capacity.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Assess where it competes credibly; do not presume all inland markets are addressable.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Origin–destination submodel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Delivered fuel cost for the same product and destination via Durban, Matola and Walvis Bay.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Calculate price bearability, route headroom and feasible volume. Include border costs, losses, inventory finance, reliability and capacity constraints.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8A35DFAE-2158-8212-4D35-1EC5456EADCD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A9B38B5F-4202-456D-35BE-52968BB114F6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E3C1C056-A890-0B1B-6F91-19EF2CC09BB7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2058712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Catchment dashboards must connect Vopak's market position to a financial forecast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10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Commercial inputs are unavailable. Provide a transparent share inference now; quantify the financial forecast once commercial assumptions are supplied and reviewed.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078904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Required answer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Work needed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Decision exhibit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Current market share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Gauteng is the provisional Lesedi catchment. Test capacity-based inference while actual terminal throughput remains unavailable.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Separate observed demand, capacity proxies and inferred throughput. Show denominator coverage and transfers between Durban and Lesedi.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Catchment deep dives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Separate Durban and Gauteng dashboards: demand, imports/supply, routes, competitor capacity and inferred share.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Include source vintage, uncertainty and capacity headroom. Future scenario outputs follow after calibration.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Capacity headroom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Compare potential throughput with usable capacity, utilisation, bottlenecks and competitor expansion.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Existing capacity versus scenario requirements; distinguish gross tankage from effective capacity.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Financial forecast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Translate contracted storage and billable handling into revenue, opex, EBITDA and cash flow, then capex, NPV and IRR.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Investment-board decision page: returns, utilisation/break-even, funding, phasing and triggers. Rates, contracts, capex and hurdle rate remain open.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2666CFF2-FC4D-09A0-FE72-CD4CAD9B35B3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8177EA63-4380-7050-857B-E6097841DAE6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1E22726E-6245-F4E4-A3D5-06A5AACEFB84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329701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The agreed work sequence builds evidence before scenario conclusions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11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No staffing dates or new deadlines are committed by this review. Automated checks do not replace peer review or business approval.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822701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Step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Work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Completion evidence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156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1. Audit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Review the existing pack, data and model against the signed-off scope.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Covered / exhibit needed / verification needed / missing data / model development.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156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2. Define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Gauteng catchment and SAPREF/Natref scope adopted. Prioritise Durban–Gauteng; validate remaining corridor definitions.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Explicit definitions and recorded decisions.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156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3. Evidence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Close source gaps and build situation exhibits.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Sources, periods, units and limitations documented.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156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4. Levers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Map evidence to existing or required model functionality.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Vintaged, registered assumptions; consistent boundaries and no double counting.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156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5. Scenarios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Deferred by user. Retain the step for later calibration of coherent demand, supply and routing paths.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Coherent scenario outputs with traceable assumptions.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156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6. Resolution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Build share-inference dashboards and financial forecast structure, then populate with reviewed commercial inputs.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Conditional conclusions, open limitations and review status.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E7E39D9D-EC04-5E37-6E58-2A52911DA1E5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CD941D79-FFB2-378E-2983-1C5089B7E428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5496EDC6-60B6-2C5D-7B03-FB79FF2400E6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3306584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The audit must make every gap, decision and limitation traceable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12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All annotated comments have a disposition in the accompanying comment log. Scope sign-off does not approve new evidence or results.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550920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Control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Required record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Resolution trigger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78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 tracker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Story point; exhibit; source; gap; lever; owner; resolution trigger; status.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Resolve each material gap before the related assumption or exhibit is adopted.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78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Definitions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Gauteng provisional catchment; SAPREF/Natref candidates; Secunda gas decline/MRG driver. Remaining routes and denominators require evidence.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Confirm before routing, share calculations or supply-case calibration.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78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Model boundary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Origin–destination delivered-cost submodel, unique terminal deliveries, and storage/handling financial forecast.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National balances alone cannot establish Vopak share. Resolve functionality before presenting quantified resolution.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78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Review status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Record this conversation's scope approval separately from data verification, peer review and business approval.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 acceptance before adoption; technical review before reliance; commercial approval before investment.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78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2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Responsibilities</a:t>
                      </a:r>
                      <a:endParaRPr sz="12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Use existing workstream responsibilities as a starting point; assign individual items during the audit.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2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Named owners and expiry/resolution triggers for every unresolved input or technical limitation.</a:t>
                      </a:r>
                      <a:endParaRPr sz="12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847C9916-5D93-F971-80ED-5AE8D43E3E52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637EBE65-378D-282E-9EDC-DC7CD932E0BD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7E3B7606-826C-FD0D-DA6D-3674DB159426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263325397"/>
      </p:ext>
    </p:extLst>
  </p:cSld>
  <p:clrMapOvr>
    <a:masterClrMapping/>
  </p:clrMapOvr>
</p:sld>
</file>

<file path=ppt/theme/theme1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opak Theme" id="{EB158558-B090-4A15-9406-52ADAF46E73D}" vid="{169915E9-BA5A-4298-BC78-09D6818817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A2373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729E3C0-DBBA-4E87-A833-D4D671FDC2D1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440e1679-9fef-4664-be92-b7e3c5432c29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14DAA3CC024F49A081857B4C9CD92A" ma:contentTypeVersion="20" ma:contentTypeDescription="Create a new document." ma:contentTypeScope="" ma:versionID="cdb2463664abbc9cc5ebc4769b50ad18">
  <xsd:schema xmlns:xsd="http://www.w3.org/2001/XMLSchema" xmlns:xs="http://www.w3.org/2001/XMLSchema" xmlns:p="http://schemas.microsoft.com/office/2006/metadata/properties" xmlns:ns2="265cb39c-7109-435c-af5d-13dc21a2db6b" xmlns:ns3="62b85a0e-09bb-4b0f-bd28-e34020cdc070" targetNamespace="http://schemas.microsoft.com/office/2006/metadata/properties" ma:root="true" ma:fieldsID="ee545d7bb76dd121542a05c73fb4a941" ns2:_="" ns3:_="">
    <xsd:import namespace="265cb39c-7109-435c-af5d-13dc21a2db6b"/>
    <xsd:import namespace="62b85a0e-09bb-4b0f-bd28-e34020cdc0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Archiv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5cb39c-7109-435c-af5d-13dc21a2d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f3d1728-64fa-4f01-bb7d-5585de3a980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rchive" ma:index="26" nillable="true" ma:displayName="Archive" ma:default="0" ma:description="Folder to be backed up, archived and removed from SharePoint" ma:format="Dropdown" ma:internalName="Archive">
      <xsd:simpleType>
        <xsd:restriction base="dms:Boolean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b85a0e-09bb-4b0f-bd28-e34020cdc070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44b13c9-2708-4b8b-a658-00962d7928c2}" ma:internalName="TaxCatchAll" ma:showField="CatchAllData" ma:web="62b85a0e-09bb-4b0f-bd28-e34020cdc0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65cb39c-7109-435c-af5d-13dc21a2db6b">
      <Terms xmlns="http://schemas.microsoft.com/office/infopath/2007/PartnerControls"/>
    </lcf76f155ced4ddcb4097134ff3c332f>
    <TaxCatchAll xmlns="62b85a0e-09bb-4b0f-bd28-e34020cdc070" xsi:nil="true"/>
    <SharedWithUsers xmlns="62b85a0e-09bb-4b0f-bd28-e34020cdc070">
      <UserInfo>
        <DisplayName>Joseph Kihara</DisplayName>
        <AccountId>3747</AccountId>
        <AccountType/>
      </UserInfo>
    </SharedWithUsers>
    <Archive xmlns="265cb39c-7109-435c-af5d-13dc21a2db6b">false</Archive>
  </documentManagement>
</p:properties>
</file>

<file path=customXml/itemProps1.xml><?xml version="1.0" encoding="utf-8"?>
<ds:datastoreItem xmlns:ds="http://schemas.openxmlformats.org/officeDocument/2006/customXml" ds:itemID="{1B9F3023-3460-4C94-AC6C-4F171062BD4F}">
  <ds:schemaRefs>
    <ds:schemaRef ds:uri="265cb39c-7109-435c-af5d-13dc21a2db6b"/>
    <ds:schemaRef ds:uri="62b85a0e-09bb-4b0f-bd28-e34020cdc07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E0AC09D-7AB9-4C7E-89AA-55CFDED1BC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FA9FA0-2CB2-436E-A336-3A77ADFE4CF1}">
  <ds:schemaRefs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265cb39c-7109-435c-af5d-13dc21a2db6b"/>
    <ds:schemaRef ds:uri="http://purl.org/dc/elements/1.1/"/>
    <ds:schemaRef ds:uri="62b85a0e-09bb-4b0f-bd28-e34020cdc070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Vopak Theme</Template>
  <TotalTime>0</TotalTime>
  <Words>3563</Words>
  <Application>Microsoft Office PowerPoint</Application>
  <PresentationFormat>Custom</PresentationFormat>
  <Paragraphs>312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Arial</vt:lpstr>
      <vt:lpstr>Lato</vt:lpstr>
      <vt:lpstr>Vopak Theme</vt:lpstr>
      <vt:lpstr>PowerPoint Presentation</vt:lpstr>
      <vt:lpstr>The agreed review connects market evidence to Vopak's investment opportunity</vt:lpstr>
      <vt:lpstr>Demand history needs a stronger economic and vehicle-use explanation</vt:lpstr>
      <vt:lpstr>Power and freight need evidence that translates activity into diesel volumes</vt:lpstr>
      <vt:lpstr>The domestic supply timeline must include Secunda and Mossgas</vt:lpstr>
      <vt:lpstr>Transport shifts could weaken historical support for petrol and diesel demand</vt:lpstr>
      <vt:lpstr>Power-system recovery could persist or reverse</vt:lpstr>
      <vt:lpstr>Domestic fuel supply could recover or contract further</vt:lpstr>
      <vt:lpstr>Competing corridors could change how inland fuel demand is served</vt:lpstr>
      <vt:lpstr>Catchment dashboards must connect Vopak's market position to a financial forecast</vt:lpstr>
      <vt:lpstr>The agreed work sequence builds evidence before scenario conclusions</vt:lpstr>
      <vt:lpstr>The audit must make every gap, decision and limitation traceable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 Africa liquid fuels: Week 1 analytical maps</dc:title>
  <dc:subject>Illustrative demand geography and conditional Vopak market access</dc:subject>
  <dc:creator>Africa International Advisors</dc:creator>
  <cp:lastModifiedBy>Nigel Zhuwaki</cp:lastModifiedBy>
  <cp:revision>2</cp:revision>
  <dcterms:created xsi:type="dcterms:W3CDTF">2017-11-16T09:19:07Z</dcterms:created>
  <dcterms:modified xsi:type="dcterms:W3CDTF">2026-10-07T19:16:16Z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0x010100BB14DAA3CC024F49A081857B4C9CD92A</vt:lpwstr>
  </property>
  <property fmtid="{D5CDD505-2E9C-101B-9397-08002B2CF9AE}" pid="3" name="MediaServiceImageTags">
    <vt:lpwstr/>
  </property>
</Properties>
</file>