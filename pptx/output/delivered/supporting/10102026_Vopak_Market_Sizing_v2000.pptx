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1e98813cc64d55" /><Relationship Type="http://schemas.openxmlformats.org/officeDocument/2006/relationships/extended-properties" Target="/docProps/app.xml" Id="R65ec5f4b91804ee4" /><Relationship Type="http://schemas.openxmlformats.org/officeDocument/2006/relationships/officeDocument" Target="/ppt/presentation.xml" Id="Rf09f04a4e0834888"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1d4d548c06af42e0"/>
  </p:sldMasterIdLst>
  <p:notesMasterIdLst>
    <p:notesMasterId xmlns:r="http://schemas.openxmlformats.org/officeDocument/2006/relationships" r:id="Rc431c02c4c204291"/>
  </p:notesMasterIdLst>
  <p:sldIdLst>
    <p:sldId xmlns:r="http://schemas.openxmlformats.org/officeDocument/2006/relationships" id="256" r:id="R8a1c1c2c370f47da"/>
    <p:sldId xmlns:r="http://schemas.openxmlformats.org/officeDocument/2006/relationships" id="257" r:id="Rd28cb4d30e884fde"/>
    <p:sldId xmlns:r="http://schemas.openxmlformats.org/officeDocument/2006/relationships" id="258" r:id="Rb48470d0eebe4fc9"/>
    <p:sldId xmlns:r="http://schemas.openxmlformats.org/officeDocument/2006/relationships" id="259" r:id="R677cd1d13dd748c6"/>
    <p:sldId xmlns:r="http://schemas.openxmlformats.org/officeDocument/2006/relationships" id="260" r:id="R4bfb8e5fa6be4aef"/>
    <p:sldId xmlns:r="http://schemas.openxmlformats.org/officeDocument/2006/relationships" id="261" r:id="R55dee504e78e4827"/>
    <p:sldId xmlns:r="http://schemas.openxmlformats.org/officeDocument/2006/relationships" id="262" r:id="Rd89aa61c6c074b46"/>
    <p:sldId xmlns:r="http://schemas.openxmlformats.org/officeDocument/2006/relationships" id="263" r:id="Rce58bfa27d6944df"/>
    <p:sldId xmlns:r="http://schemas.openxmlformats.org/officeDocument/2006/relationships" id="264" r:id="Rebb8924d70f34811"/>
  </p:sldIdLst>
  <p:sldSz cx="11588750" cy="6858000"/>
  <p:notesSz cx="6858000" cy="9144000"/>
  <p:embeddedFontLst>
    <p:embeddedFont>
      <p:font typeface="Lato"/>
      <p:regular xmlns:r="http://schemas.openxmlformats.org/officeDocument/2006/relationships" r:id="R35efc652f8b84404"/>
      <p:bold xmlns:r="http://schemas.openxmlformats.org/officeDocument/2006/relationships" r:id="R97033649fdaf4ef5"/>
      <p:italic xmlns:r="http://schemas.openxmlformats.org/officeDocument/2006/relationships" r:id="Re29c1d131bed42bc"/>
      <p:boldItalic xmlns:r="http://schemas.openxmlformats.org/officeDocument/2006/relationships" r:id="R006de34d3dd34f0c"/>
    </p:embeddedFont>
  </p:embeddedFontLst>
</p:presentation>
</file>

<file path=ppt/authors.xml><?xml version="1.0" encoding="utf-8"?>
<p188:authorLst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6a2f6f3fbd742e7" /><Relationship Type="http://schemas.openxmlformats.org/officeDocument/2006/relationships/slideMaster" Target="/ppt/slideMasters/slideMaster1.xml" Id="R1d4d548c06af42e0" /><Relationship Type="http://schemas.openxmlformats.org/officeDocument/2006/relationships/notesMaster" Target="/ppt/notesMasters/notesMaster1.xml" Id="Rc431c02c4c204291" /><Relationship Type="http://schemas.openxmlformats.org/officeDocument/2006/relationships/presProps" Target="/ppt/presProps.xml" Id="Rb002c8a88b6d4881" /><Relationship Type="http://schemas.openxmlformats.org/officeDocument/2006/relationships/viewProps" Target="/ppt/viewProps.xml" Id="R0b8b5150b5ef4b99" /><Relationship Type="http://schemas.openxmlformats.org/officeDocument/2006/relationships/tableStyles" Target="/ppt/tableStyles.xml" Id="Rc8d11ca4882940be" /><Relationship Type="http://schemas.openxmlformats.org/officeDocument/2006/relationships/font" Target="/ppt/fonts/font.dat" Id="R35efc652f8b84404" /><Relationship Type="http://schemas.openxmlformats.org/officeDocument/2006/relationships/font" Target="/ppt/fonts/font2.dat" Id="R97033649fdaf4ef5" /><Relationship Type="http://schemas.openxmlformats.org/officeDocument/2006/relationships/font" Target="/ppt/fonts/font3.dat" Id="Re29c1d131bed42bc" /><Relationship Type="http://schemas.openxmlformats.org/officeDocument/2006/relationships/font" Target="/ppt/fonts/font4.dat" Id="R006de34d3dd34f0c" /><Relationship Type="http://schemas.microsoft.com/office/2018/10/relationships/authors" Target="/ppt/authors.xml" Id="R0daa52dc5f844866" /><Relationship Type="http://schemas.openxmlformats.org/officeDocument/2006/relationships/slide" Target="/ppt/slides/slide1.xml" Id="R8a1c1c2c370f47da" /><Relationship Type="http://schemas.openxmlformats.org/officeDocument/2006/relationships/slide" Target="/ppt/slides/slide2.xml" Id="Rd28cb4d30e884fde" /><Relationship Type="http://schemas.openxmlformats.org/officeDocument/2006/relationships/slide" Target="/ppt/slides/slide3.xml" Id="Rb48470d0eebe4fc9" /><Relationship Type="http://schemas.openxmlformats.org/officeDocument/2006/relationships/slide" Target="/ppt/slides/slide4.xml" Id="R677cd1d13dd748c6" /><Relationship Type="http://schemas.openxmlformats.org/officeDocument/2006/relationships/slide" Target="/ppt/slides/slide5.xml" Id="R4bfb8e5fa6be4aef" /><Relationship Type="http://schemas.openxmlformats.org/officeDocument/2006/relationships/slide" Target="/ppt/slides/slide6.xml" Id="R55dee504e78e4827" /><Relationship Type="http://schemas.openxmlformats.org/officeDocument/2006/relationships/slide" Target="/ppt/slides/slide7.xml" Id="Rd89aa61c6c074b46" /><Relationship Type="http://schemas.openxmlformats.org/officeDocument/2006/relationships/slide" Target="/ppt/slides/slide8.xml" Id="Rce58bfa27d6944df" /><Relationship Type="http://schemas.openxmlformats.org/officeDocument/2006/relationships/slide" Target="/ppt/slides/slide9.xml" Id="Rebb8924d70f348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734142c10343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a1fd97effc4d78" /><Relationship Type="http://schemas.openxmlformats.org/officeDocument/2006/relationships/notesMaster" Target="/ppt/notesMasters/notesMaster1.xml" Id="R2a5b24e35f7344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967ecabdd145f4" /><Relationship Type="http://schemas.openxmlformats.org/officeDocument/2006/relationships/notesMaster" Target="/ppt/notesMasters/notesMaster1.xml" Id="R0aa1e59be9b444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af1046d0354c1d" /><Relationship Type="http://schemas.openxmlformats.org/officeDocument/2006/relationships/notesMaster" Target="/ppt/notesMasters/notesMaster1.xml" Id="R6a67a18a61ad4d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7c960c7d484a1d" /><Relationship Type="http://schemas.openxmlformats.org/officeDocument/2006/relationships/notesMaster" Target="/ppt/notesMasters/notesMaster1.xml" Id="R5e438ce7189f4d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f4ba5f7c6f4bc9" /><Relationship Type="http://schemas.openxmlformats.org/officeDocument/2006/relationships/notesMaster" Target="/ppt/notesMasters/notesMaster1.xml" Id="R6dd890d1be0c49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01e7487e3540b5" /><Relationship Type="http://schemas.openxmlformats.org/officeDocument/2006/relationships/notesMaster" Target="/ppt/notesMasters/notesMaster1.xml" Id="R62095c8020504c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0283243cba4462" /><Relationship Type="http://schemas.openxmlformats.org/officeDocument/2006/relationships/notesMaster" Target="/ppt/notesMasters/notesMaster1.xml" Id="Rd6919d5191b54d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8452932c6e4d24" /><Relationship Type="http://schemas.openxmlformats.org/officeDocument/2006/relationships/notesMaster" Target="/ppt/notesMasters/notesMaster1.xml" Id="R69fb353869e943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97aecef74f4abe" /><Relationship Type="http://schemas.openxmlformats.org/officeDocument/2006/relationships/notesMaster" Target="/ppt/notesMasters/notesMaster1.xml" Id="Ra06d5390538e47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endParaRP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Cover from the supplied Vopak 1_Title layout (reference: SA_Market_Story_2026-10-08_v25.pptx, slide 1); photo credit retained. Page numbers start after the cover so the p.# deep-dive markers on the issue tree match.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endParaRP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National balance above the issue tree: production + imports - exports - sales = supply less sales, where supply less sales is the stock change and statistical difference together. All figures are Manish's DR01 balance file (workstreams/WS1_data_validation/fuel_balance_petrol_diesel_2009_2025_2026-10-06.csv): production from the department energy balances (none after 2021), trade from SARS customs, sales from the department. No residual is labelled as production. v9 showed implied production for 2023-24, energy-balance trade for 2021 and FIASA sales for 2024; all three are withdrawn (overlap log, items 1-3). The 2021 energy balance uses higher imports than customs (diesel 11.2 against 9.8B L), unexplained and open with Manish. The PS session figure of about 20B L has no department source after 2023; FIASA and JODI are excluded by instruction.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Source: workstreams/WS0_governance/meetings/2026-10-08_ps_session_manish_ramjeawon.docx and Nigel's supplied market sizing.jpg storyboard.</a:t>
            </a:r>
          </a:p>
          <a:p xmlns:a="http://schemas.openxmlformats.org/drawingml/2006/main">
            <a:r>
              <a:t>This is the issue-tree framework requested after the PS session. The roughly 20 billion litres is the discussion's provisional annual petrol-plus-diesel consumption total. It is not gross imports, addressable terminal volume or verified throughput. No market shares have been calculated.</a:t>
            </a:r>
          </a:p>
          <a:p xmlns:a="http://schemas.openxmlformats.org/drawingml/2006/main">
            <a:r>
              <a:t>Reconcile product/year consumption against actual domestic production, gross imports, exports and stock changes. Keep statistical differences explicit. Capacity is not production.</a:t>
            </a:r>
          </a:p>
          <a:p xmlns:a="http://schemas.openxmlformats.org/drawingml/2006/main">
            <a:r>
              <a:t>Estimate the accessible annual market separately for Durban and Lesedi from product compatibility, destination demand, feasible routes, delivered cost and terminal access. Both imported and domestic fuel can influence each site's opportunity. Customer and contractual restrictions narrow achievable capture.</a:t>
            </a:r>
          </a:p>
          <a:p xmlns:a="http://schemas.openxmlformats.org/drawingml/2006/main">
            <a:r>
              <a:t>Request site/product throughput, actual working tanks, turns, occupancy, receipt and dispatch limits and customer commitments from the client. Calculate current accessible-market share and national-market share with explicit denominators. Trace common Durban-Lesedi flows so the combined opportunity is deduplicated.</a:t>
            </a:r>
            <a:endParaRPr/>
          </a:p>
          <a:p xmlns:a="http://schemas.openxmlformats.org/drawingml/2006/main">
            <a:r>
              <a:t>Compare additional achievable capture with existing handling capability, then operational improvements and expansion alternatives. Annual throughput in litres cannot directly determine storage cubic metres. Investment requires incremental cash flows and downside tests across coherent demand and domestic-supply worlds.</a:t>
            </a:r>
            <a:endParaRPr/>
          </a:p>
          <a:p xmlns:a="http://schemas.openxmlformats.org/drawingml/2006/main">
            <a:r>
              <a:t>Parameters have different effects: road-to-rail changes freight diesel use and delivery choices; EV turnover and ICE efficiency affect road fuel demand; Eskom recovery and IPP delivery affect power diesel demand; refinery output and closures affect the import requirement and origin of flows; infrastructure capacity and access limit routes and terminal capture.</a:t>
            </a:r>
            <a:endParaRPr/>
          </a:p>
          <a:p xmlns:a="http://schemas.openxmlformats.org/drawingml/2006/main">
            <a:r>
              <a:t>Manish handback: close evidence gaps, consolidate the baseline and build the terminal market-size methodology with source/year/unit, observed or estimated status, owner and unresolved gaps. Nigel coordinates client inputs. Nigel and Henry review scenario and capture assumptions. No commercial commitment or business approval is implied.</a:t>
            </a:r>
            <a:endParaRPr/>
          </a:p>
          <a:p xmlns:a="http://schemas.openxmlformats.org/drawingml/2006/main">
            <a:r>
              <a:t>Layout: four columns and four rows. Column 2 reads source (imports, production), route (ports, inland delivery), destination (coastal, inland demand) then parameters. Sources and destinations each add to national consumption; routes are throughput and overlap, so they do not add. Volume tags come from pptx/story/issue_tree_volumes_2026_10_08.json, built by pptx/scripts/issue_tree_volumes.py: 2023 department sales (observed), 2023 department trade review (rounded narrative, not customs), production implied as sales less imports plus exports with stock change unknown, and 2022 provincial sales split into coastal (KZN, WC, EC) and inland provinces as a presentation proxy, not a registered assumption. The PS figure of about 20B litres likely reflects 2024; FIASA 2024 (20.8B) remains unverified. All other tags are pending the named data requests.</a:t>
            </a:r>
            <a:endParaRPr/>
          </a:p>
          <a:p xmlns:a="http://schemas.openxmlformats.org/drawingml/2006/main">
            <a:r>
              <a:t>Template provenance: copied from the current SA_Market_Story_2026-10-08_v25.pptx, slide 14, with its supplied Vopak master and named Header only layout retained. Original preserved. All diagram content is editable native PowerPoint text and connectors.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 dive for Demand by product on the issue tree. Provincial petrol and diesel sales from workstreams/WS1_data_validation/provincial_petrol_diesel_2013_2024_2026-10-06.csv (Manish, DR01). 2022 is the last fully observed year; 2023 splits the national total by first-quarter 2023 shares, back-tested at 2.5 share points for petrol and 5.3 for diesel. Gauteng maps to Lesedi's catchment and KZN to Durban's coastal catchment; the pipeline also carries Durban imports inland, so catchment is not the same as site market. The coastal grouping is a presentation choice and needs a register row before any model use.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endParaRP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Deep dive for Demand by use. Three sources are shown side by side for calibration with Manish; none is adopted here. The balance is 2021 final consumption, petrol and diesel; the model baseline is the engine's 2024 high-demand segments with Manish's sourced starting values (agriculture 1.06 and industry 1.50 diesel, both provisional); reported power is Eskom's turbine fuel plus independent plants estimated from generation at 0.31 litres per kWh (DR07). Power diesel is not final consumption in the balance. The model's generation segment is well above reported burn in every recent year, and the balance's commercial and public line has no model counterpart. Calibration decision owners: Nigel and Manish.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endParaRP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Deep dive for Demand parameters. Values are read from workstreams/WS2_model_development/fuel_lever_response_2026-10-07.csv: for each lever the baseline, and 2035 low / medium / high as proposed by Manish, with how many of Nigel's proposed values he revised. Supply levers (plant utilisation, yields, restart capacity) belong to the supply side and are not shown. Exports to neighbours are terminal throughput, not South African demand. No lever value is an accepted input; Nigel and Henry review scenario settings. The rail and road activity levers overlap, as do EV share and new-cohort efficiency: the DR07 acceptance test (no double count) is still open.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endParaRP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Rows compare modes: network, actual throughput, capacity and use, relevance to Durban and Lesedi. Manish's DR04 and DR08 evidence (8 October, merged as PR #1) is primary; tags marked 'pack research' are public sources found separately the same day and not in DR04. Overlaps are recorded in workstreams/WS0_governance/workplan/overlap_log_2026_10_08.md (item 4). Transnet FY24 = year to March 2024. Not found publicly: per-port liquid bulk after 2021, a petroleum-only port split, Durban berth capacity, Durban-to-Gauteng fuel by rail or road, and an inland supply split by mode in volumes. The 38.9 port figure is printed as million kilometres in the TNPA table; treated as million kilolitres pending confirmation. TPL volumes include crude to Natref and Natref/Secunda product in the inland network, so they are not all Durban imports. The FY26 14.3B L figure is news only and is not shown.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This page groups the outstanding requests in the existing DR01-DR09 register and adds the explicit evidence gaps raised in the 8 October PS session. It is a request summary, not evidence that requests were sent or data received. No new delivery dates are committed.</a:t>
            </a:r>
          </a:p>
          <a:p xmlns:a="http://schemas.openxmlformats.org/drawingml/2006/main">
            <a:r>
              <a:t>Manish: assemble public evidence, retain original source files, consolidate observed versus estimated data, and estimate accessible terminal markets while client inputs are pending. Nigel coordinates commercial requests and reviews the baseline. Henry's review concerns scenario settings and specialist power assumptions.</a:t>
            </a:r>
          </a:p>
          <a:p xmlns:a="http://schemas.openxmlformats.org/drawingml/2006/main">
            <a:r>
              <a:t>DR01: compatible product/year definitions, actual output and explicit stock changes/statistical differences. Resolve the 2024 sales source and blank 2025 national sales rather than manufacturing observations.</a:t>
            </a:r>
          </a:p>
          <a:p xmlns:a="http://schemas.openxmlformats.org/drawingml/2006/main">
            <a:r>
              <a:t>DR04: public port liquid-bulk capacity and pipeline/road/rail connections; confirm working service capacity, actual access rights and destination-matched route economics with operators. Geographic connectivity alone does not establish customer access.</a:t>
            </a:r>
          </a:p>
          <a:p xmlns:a="http://schemas.openxmlformats.org/drawingml/2006/main">
            <a:r>
              <a:t>DR07: reported historical Eskom litres rather than generation-based estimates, vehicle composition by province/class, historical petrol/diesel efficiency, and the source paper behind retirement and road diesel split assumptions. Document renewable and gas commissioning dependencies, coal retirements and rail traction. Nigel/Henry review low/medium/high assumptions; scenarios must avoid double counting. Marine remains an open baseline gap; jet evidence is assembled but a separate model is not agreed in this handback.</a:t>
            </a:r>
          </a:p>
          <a:p xmlns:a="http://schemas.openxmlformats.org/drawingml/2006/main">
            <a:r>
              <a:t>DR08: complete refinery/synfuels inventory including PetroSA/Mossgas, Secunda, Natref, SAPREF and other national sites, with actual annual product output, feedstock and restart/closure dependencies. Capacity alone does not establish production.</a:t>
            </a:r>
          </a:p>
          <a:p xmlns:a="http://schemas.openxmlformats.org/drawingml/2006/main">
            <a:r>
              <a:t>DR02/05: latest 36 complete months of anonymised product/site movements, destinations, customer commitments, contestable volumes and contracts. Explicitly flag shared Durban-Lesedi flows and final deliveries. Verify market share against an explicit accessible-market denominator.</a:t>
            </a:r>
          </a:p>
          <a:p xmlns:a="http://schemas.openxmlformats.org/drawingml/2006/main">
            <a:r>
              <a:t>DR03: product-compatible working and unavailable/committed tankage, stock policy, observed turns, occupancy, downtime and peak receipt/dispatch limits.</a:t>
            </a:r>
          </a:p>
          <a:p xmlns:a="http://schemas.openxmlformats.org/drawingml/2006/main">
            <a:r>
              <a:t>DR06: storage and handling revenue terms, incremental operating costs, capex, schedule, ramp-up, tax, working capital, asset life and hurdle rate. Compare existing assets, operating improvements and expansion on incremental cash flows.</a:t>
            </a:r>
          </a:p>
          <a:p xmlns:a="http://schemas.openxmlformats.org/drawingml/2006/main">
            <a:r>
              <a:t>DR09 is still outstanding but is a separate EV adjacency case, not a prerequisite to the petrol/diesel terminal market-sizing bridge.</a:t>
            </a:r>
          </a:p>
          <a:p xmlns:a="http://schemas.openxmlformats.org/drawingml/2006/main">
            <a:r>
              <a:t>The underlying register and full acceptance tests follow:</a:t>
            </a:r>
          </a:p>
          <a:p xmlns:a="http://schemas.openxmlformats.org/drawingml/2006/main">
            <a:r>
              <a:t>[</a:t>
            </a:r>
          </a:p>
          <a:p xmlns:a="http://schemas.openxmlformats.org/drawingml/2006/main">
            <a:r>
              <a:t>    {</a:t>
            </a:r>
          </a:p>
          <a:p xmlns:a="http://schemas.openxmlformats.org/drawingml/2006/main">
            <a:r>
              <a:t>        "id":  "DR01",</a:t>
            </a:r>
          </a:p>
          <a:p xmlns:a="http://schemas.openxmlformats.org/drawingml/2006/main">
            <a:r>
              <a:t>        "priority":  "P1",</a:t>
            </a:r>
          </a:p>
          <a:p xmlns:a="http://schemas.openxmlformats.org/drawingml/2006/main">
            <a:r>
              <a:t>        "step":  "Baseline",</a:t>
            </a:r>
          </a:p>
          <a:p xmlns:a="http://schemas.openxmlformats.org/drawingml/2006/main">
            <a:r>
              <a:t>        "request":  "National product balance",</a:t>
            </a:r>
          </a:p>
          <a:p xmlns:a="http://schemas.openxmlformats.org/drawingml/2006/main">
            <a:r>
              <a:t>        "required_fields_and_period":  "Latest complete calendar year and 2021/2022 bridge; petrol/diesel production, imports, exports, stock changes and statistical differences; units and coverage",</a:t>
            </a:r>
          </a:p>
          <a:p xmlns:a="http://schemas.openxmlformats.org/drawingml/2006/main">
            <a:r>
              <a:t>        "proposed_coordinator":  "Manish / Nigel review",</a:t>
            </a:r>
          </a:p>
          <a:p xmlns:a="http://schemas.openxmlformats.org/drawingml/2006/main">
            <a:r>
              <a:t>        "proposed_data_provider":  "Department / SARS / producers",</a:t>
            </a:r>
          </a:p>
          <a:p xmlns:a="http://schemas.openxmlformats.org/drawingml/2006/main">
            <a:r>
              <a:t>        "expiry_trigger":  "Before baseline adoption",</a:t>
            </a:r>
          </a:p>
          <a:p xmlns:a="http://schemas.openxmlformats.org/drawingml/2006/main">
            <a:r>
              <a:t>        "acceptance_test":  "Reconcile definitions and source revisions; no residual labelled as production",</a:t>
            </a:r>
          </a:p>
          <a:p xmlns:a="http://schemas.openxmlformats.org/drawingml/2006/main">
            <a:r>
              <a:t>        "status":  "Prepared; not sent",</a:t>
            </a:r>
          </a:p>
          <a:p xmlns:a="http://schemas.openxmlformats.org/drawingml/2006/main">
            <a:r>
              <a:t>        "received_file":  "",</a:t>
            </a:r>
          </a:p>
          <a:p xmlns:a="http://schemas.openxmlformats.org/drawingml/2006/main">
            <a:r>
              <a:t>        "received_date":  ""</a:t>
            </a:r>
          </a:p>
          <a:p xmlns:a="http://schemas.openxmlformats.org/drawingml/2006/main">
            <a:r>
              <a:t>    },</a:t>
            </a:r>
          </a:p>
          <a:p xmlns:a="http://schemas.openxmlformats.org/drawingml/2006/main">
            <a:r>
              <a:t>    {</a:t>
            </a:r>
          </a:p>
          <a:p xmlns:a="http://schemas.openxmlformats.org/drawingml/2006/main">
            <a:r>
              <a:t>        "id":  "DR02",</a:t>
            </a:r>
          </a:p>
          <a:p xmlns:a="http://schemas.openxmlformats.org/drawingml/2006/main">
            <a:r>
              <a:t>        "priority":  "P1",</a:t>
            </a:r>
          </a:p>
          <a:p xmlns:a="http://schemas.openxmlformats.org/drawingml/2006/main">
            <a:r>
              <a:t>        "step":  "Capture",</a:t>
            </a:r>
          </a:p>
          <a:p xmlns:a="http://schemas.openxmlformats.org/drawingml/2006/main">
            <a:r>
              <a:t>        "request":  "Terminal movements",</a:t>
            </a:r>
          </a:p>
          <a:p xmlns:a="http://schemas.openxmlformats.org/drawingml/2006/main">
            <a:r>
              <a:t>        "required_fields_and_period":  "Latest 36 complete months; terminal, product, origin, destination, customer ID, receipt/dispatch m3; flag Durban-Lesedi transfers and final customer deliveries",</a:t>
            </a:r>
          </a:p>
          <a:p xmlns:a="http://schemas.openxmlformats.org/drawingml/2006/main">
            <a:r>
              <a:t>        "proposed_coordinator":  "Nigel to coordinate",</a:t>
            </a:r>
          </a:p>
          <a:p xmlns:a="http://schemas.openxmlformats.org/drawingml/2006/main">
            <a:r>
              <a:t>        "proposed_data_provider":  "Vopak operations / commercial",</a:t>
            </a:r>
          </a:p>
          <a:p xmlns:a="http://schemas.openxmlformats.org/drawingml/2006/main">
            <a:r>
              <a:t>        "expiry_trigger":  "Before market-share estimate",</a:t>
            </a:r>
          </a:p>
          <a:p xmlns:a="http://schemas.openxmlformats.org/drawingml/2006/main">
            <a:r>
              <a:t>        "acceptance_test":  "Deduplicate chain deliveries; reconcile monthly totals to operating reports",</a:t>
            </a:r>
          </a:p>
          <a:p xmlns:a="http://schemas.openxmlformats.org/drawingml/2006/main">
            <a:r>
              <a:t>        "status":  "Prepared; not sent",</a:t>
            </a:r>
          </a:p>
          <a:p xmlns:a="http://schemas.openxmlformats.org/drawingml/2006/main">
            <a:r>
              <a:t>        "received_file":  "",</a:t>
            </a:r>
          </a:p>
          <a:p xmlns:a="http://schemas.openxmlformats.org/drawingml/2006/main">
            <a:r>
              <a:t>        "received_date":  ""</a:t>
            </a:r>
          </a:p>
          <a:p xmlns:a="http://schemas.openxmlformats.org/drawingml/2006/main">
            <a:r>
              <a:t>    },</a:t>
            </a:r>
          </a:p>
          <a:p xmlns:a="http://schemas.openxmlformats.org/drawingml/2006/main">
            <a:r>
              <a:t>    {</a:t>
            </a:r>
          </a:p>
          <a:p xmlns:a="http://schemas.openxmlformats.org/drawingml/2006/main">
            <a:r>
              <a:t>        "id":  "DR03",</a:t>
            </a:r>
          </a:p>
          <a:p xmlns:a="http://schemas.openxmlformats.org/drawingml/2006/main">
            <a:r>
              <a:t>        "priority":  "P1",</a:t>
            </a:r>
          </a:p>
          <a:p xmlns:a="http://schemas.openxmlformats.org/drawingml/2006/main">
            <a:r>
              <a:t>        "step":  "Assets",</a:t>
            </a:r>
          </a:p>
          <a:p xmlns:a="http://schemas.openxmlformats.org/drawingml/2006/main">
            <a:r>
              <a:t>        "request":  "Working capacity and service limits",</a:t>
            </a:r>
          </a:p>
          <a:p xmlns:a="http://schemas.openxmlformats.org/drawingml/2006/main">
            <a:r>
              <a:t>        "required_fields_and_period":  "Tank/product gross and working m3; unavailable/committed capacity; stock policy; actual turns; monthly receipt/dispatch m3; hourly and peak limits; downtime",</a:t>
            </a:r>
          </a:p>
          <a:p xmlns:a="http://schemas.openxmlformats.org/drawingml/2006/main">
            <a:r>
              <a:t>        "proposed_coordinator":  "Nigel to coordinate",</a:t>
            </a:r>
          </a:p>
          <a:p xmlns:a="http://schemas.openxmlformats.org/drawingml/2006/main">
            <a:r>
              <a:t>        "proposed_data_provider":  "Vopak operations",</a:t>
            </a:r>
          </a:p>
          <a:p xmlns:a="http://schemas.openxmlformats.org/drawingml/2006/main">
            <a:r>
              <a:t>        "expiry_trigger":  "Before capacity-shortfall conclusion",</a:t>
            </a:r>
          </a:p>
          <a:p xmlns:a="http://schemas.openxmlformats.org/drawingml/2006/main">
            <a:r>
              <a:t>        "acceptance_test":  "Eligible working tankage and achievable throughput reconciled by product and terminal",</a:t>
            </a:r>
          </a:p>
          <a:p xmlns:a="http://schemas.openxmlformats.org/drawingml/2006/main">
            <a:r>
              <a:t>        "status":  "Prepared; not sent",</a:t>
            </a:r>
          </a:p>
          <a:p xmlns:a="http://schemas.openxmlformats.org/drawingml/2006/main">
            <a:r>
              <a:t>        "received_file":  "",</a:t>
            </a:r>
          </a:p>
          <a:p xmlns:a="http://schemas.openxmlformats.org/drawingml/2006/main">
            <a:r>
              <a:t>        "received_date":  ""</a:t>
            </a:r>
          </a:p>
          <a:p xmlns:a="http://schemas.openxmlformats.org/drawingml/2006/main">
            <a:r>
              <a:t>    },</a:t>
            </a:r>
          </a:p>
          <a:p xmlns:a="http://schemas.openxmlformats.org/drawingml/2006/main">
            <a:r>
              <a:t>    {</a:t>
            </a:r>
          </a:p>
          <a:p xmlns:a="http://schemas.openxmlformats.org/drawingml/2006/main">
            <a:r>
              <a:t>        "id":  "DR04",</a:t>
            </a:r>
          </a:p>
          <a:p xmlns:a="http://schemas.openxmlformats.org/drawingml/2006/main">
            <a:r>
              <a:t>        "priority":  "P1",</a:t>
            </a:r>
          </a:p>
          <a:p xmlns:a="http://schemas.openxmlformats.org/drawingml/2006/main">
            <a:r>
              <a:t>        "step":  "Routes",</a:t>
            </a:r>
          </a:p>
          <a:p xmlns:a="http://schemas.openxmlformats.org/drawingml/2006/main">
            <a:r>
              <a:t>        "request":  "Matched delivered economics",</a:t>
            </a:r>
          </a:p>
          <a:p xmlns:a="http://schemas.openxmlformats.org/drawingml/2006/main">
            <a:r>
              <a:t>        "required_fields_and_period":  "Same petrol/diesel spec and inland destination; dated product basis and handling/road/rail/pipeline/border/loss/finance costs; tax basis, currency, transit time, access rights and available annual capacity",</a:t>
            </a:r>
          </a:p>
          <a:p xmlns:a="http://schemas.openxmlformats.org/drawingml/2006/main">
            <a:r>
              <a:t>        "proposed_coordinator":  "Manish / Nigel review",</a:t>
            </a:r>
          </a:p>
          <a:p xmlns:a="http://schemas.openxmlformats.org/drawingml/2006/main">
            <a:r>
              <a:t>        "proposed_data_provider":  "Logistics operators / Vopak",</a:t>
            </a:r>
          </a:p>
          <a:p xmlns:a="http://schemas.openxmlformats.org/drawingml/2006/main">
            <a:r>
              <a:t>        "expiry_trigger":  "Before corridor ranking",</a:t>
            </a:r>
          </a:p>
          <a:p xmlns:a="http://schemas.openxmlformats.org/drawingml/2006/main">
            <a:r>
              <a:t>        "acceptance_test":  "Compare same product/date/destination; confirm tanker access and service availability",</a:t>
            </a:r>
          </a:p>
          <a:p xmlns:a="http://schemas.openxmlformats.org/drawingml/2006/main">
            <a:r>
              <a:t>        "status":  "Prepared; not sent",</a:t>
            </a:r>
          </a:p>
          <a:p xmlns:a="http://schemas.openxmlformats.org/drawingml/2006/main">
            <a:r>
              <a:t>        "received_file":  "",</a:t>
            </a:r>
          </a:p>
          <a:p xmlns:a="http://schemas.openxmlformats.org/drawingml/2006/main">
            <a:r>
              <a:t>        "received_date":  ""</a:t>
            </a:r>
          </a:p>
          <a:p xmlns:a="http://schemas.openxmlformats.org/drawingml/2006/main">
            <a:r>
              <a:t>    },</a:t>
            </a:r>
          </a:p>
          <a:p xmlns:a="http://schemas.openxmlformats.org/drawingml/2006/main">
            <a:r>
              <a:t>    {</a:t>
            </a:r>
          </a:p>
          <a:p xmlns:a="http://schemas.openxmlformats.org/drawingml/2006/main">
            <a:r>
              <a:t>        "id":  "DR05",</a:t>
            </a:r>
          </a:p>
          <a:p xmlns:a="http://schemas.openxmlformats.org/drawingml/2006/main">
            <a:r>
              <a:t>        "priority":  "P1",</a:t>
            </a:r>
          </a:p>
          <a:p xmlns:a="http://schemas.openxmlformats.org/drawingml/2006/main">
            <a:r>
              <a:t>        "step":  "Capture",</a:t>
            </a:r>
          </a:p>
          <a:p xmlns:a="http://schemas.openxmlformats.org/drawingml/2006/main">
            <a:r>
              <a:t>        "request":  "Customer access and commitments",</a:t>
            </a:r>
          </a:p>
          <a:p xmlns:a="http://schemas.openxmlformats.org/drawingml/2006/main">
            <a:r>
              <a:t>        "required_fields_and_period":  "Anonymised customer/product/destination annual m3; sourcing alternatives, contract dates, committed vs contestable volumes and renewal assumptions",</a:t>
            </a:r>
          </a:p>
          <a:p xmlns:a="http://schemas.openxmlformats.org/drawingml/2006/main">
            <a:r>
              <a:t>        "proposed_coordinator":  "Nigel to coordinate",</a:t>
            </a:r>
          </a:p>
          <a:p xmlns:a="http://schemas.openxmlformats.org/drawingml/2006/main">
            <a:r>
              <a:t>        "proposed_data_provider":  "Vopak commercial",</a:t>
            </a:r>
          </a:p>
          <a:p xmlns:a="http://schemas.openxmlformats.org/drawingml/2006/main">
            <a:r>
              <a:t>        "expiry_trigger":  "Before capturable-volume adoption",</a:t>
            </a:r>
          </a:p>
          <a:p xmlns:a="http://schemas.openxmlformats.org/drawingml/2006/main">
            <a:r>
              <a:t>        "acceptance_test":  "Mutually exclusive customer pools; confirmed rights and no assumed capacity-share proxy",</a:t>
            </a:r>
          </a:p>
          <a:p xmlns:a="http://schemas.openxmlformats.org/drawingml/2006/main">
            <a:r>
              <a:t>        "status":  "Prepared; not sent",</a:t>
            </a:r>
          </a:p>
          <a:p xmlns:a="http://schemas.openxmlformats.org/drawingml/2006/main">
            <a:r>
              <a:t>        "received_file":  "",</a:t>
            </a:r>
          </a:p>
          <a:p xmlns:a="http://schemas.openxmlformats.org/drawingml/2006/main">
            <a:r>
              <a:t>        "received_date":  ""</a:t>
            </a:r>
          </a:p>
          <a:p xmlns:a="http://schemas.openxmlformats.org/drawingml/2006/main">
            <a:r>
              <a:t>    },</a:t>
            </a:r>
          </a:p>
          <a:p xmlns:a="http://schemas.openxmlformats.org/drawingml/2006/main">
            <a:r>
              <a:t>    {</a:t>
            </a:r>
          </a:p>
          <a:p xmlns:a="http://schemas.openxmlformats.org/drawingml/2006/main">
            <a:r>
              <a:t>        "id":  "DR06",</a:t>
            </a:r>
          </a:p>
          <a:p xmlns:a="http://schemas.openxmlformats.org/drawingml/2006/main">
            <a:r>
              <a:t>        "priority":  "P1",</a:t>
            </a:r>
          </a:p>
          <a:p xmlns:a="http://schemas.openxmlformats.org/drawingml/2006/main">
            <a:r>
              <a:t>        "step":  "Returns",</a:t>
            </a:r>
          </a:p>
          <a:p xmlns:a="http://schemas.openxmlformats.org/drawingml/2006/main">
            <a:r>
              <a:t>        "request":  "Commercial terms and project options",</a:t>
            </a:r>
          </a:p>
          <a:p xmlns:a="http://schemas.openxmlformats.org/drawingml/2006/main">
            <a:r>
              <a:t>        "required_fields_and_period":  "Incremental storage/handling revenue, variable and fixed costs; tank/debottleneck capex, schedule, ramp-up, working capital, tax, hurdle rate and asset life; effects on existing revenue",</a:t>
            </a:r>
          </a:p>
          <a:p xmlns:a="http://schemas.openxmlformats.org/drawingml/2006/main">
            <a:r>
              <a:t>        "proposed_coordinator":  "Nigel to coordinate",</a:t>
            </a:r>
          </a:p>
          <a:p xmlns:a="http://schemas.openxmlformats.org/drawingml/2006/main">
            <a:r>
              <a:t>        "proposed_data_provider":  "Vopak finance / engineering / commercial",</a:t>
            </a:r>
          </a:p>
          <a:p xmlns:a="http://schemas.openxmlformats.org/drawingml/2006/main">
            <a:r>
              <a:t>        "expiry_trigger":  "Before investment recommendation",</a:t>
            </a:r>
          </a:p>
          <a:p xmlns:a="http://schemas.openxmlformats.org/drawingml/2006/main">
            <a:r>
              <a:t>        "acceptance_test":  "Compare existing assets, debottleneck and expansion on incremental cash flows",</a:t>
            </a:r>
          </a:p>
          <a:p xmlns:a="http://schemas.openxmlformats.org/drawingml/2006/main">
            <a:r>
              <a:t>        "status":  "Prepared; not sent",</a:t>
            </a:r>
          </a:p>
          <a:p xmlns:a="http://schemas.openxmlformats.org/drawingml/2006/main">
            <a:r>
              <a:t>        "received_file":  "",</a:t>
            </a:r>
          </a:p>
          <a:p xmlns:a="http://schemas.openxmlformats.org/drawingml/2006/main">
            <a:r>
              <a:t>        "received_date":  ""</a:t>
            </a:r>
          </a:p>
          <a:p xmlns:a="http://schemas.openxmlformats.org/drawingml/2006/main">
            <a:r>
              <a:t>    },</a:t>
            </a:r>
          </a:p>
          <a:p xmlns:a="http://schemas.openxmlformats.org/drawingml/2006/main">
            <a:r>
              <a:t>    {</a:t>
            </a:r>
          </a:p>
          <a:p xmlns:a="http://schemas.openxmlformats.org/drawingml/2006/main">
            <a:r>
              <a:t>        "id":  "DR07",</a:t>
            </a:r>
          </a:p>
          <a:p xmlns:a="http://schemas.openxmlformats.org/drawingml/2006/main">
            <a:r>
              <a:t>        "priority":  "P2",</a:t>
            </a:r>
          </a:p>
          <a:p xmlns:a="http://schemas.openxmlformats.org/drawingml/2006/main">
            <a:r>
              <a:t>        "step":  "Demand worlds",</a:t>
            </a:r>
          </a:p>
          <a:p xmlns:a="http://schemas.openxmlformats.org/drawingml/2006/main">
            <a:r>
              <a:t>        "request":  "Annual demand lever calibration",</a:t>
            </a:r>
          </a:p>
          <a:p xmlns:a="http://schemas.openxmlformats.org/drawingml/2006/main">
            <a:r>
              <a:t>        "required_fields_and_period":  "Product/sector activity, transferable freight tonne-km, rail traction, EV fleet replacement, ICE efficiency; Eskom/IPP/private backup separately; generation commissioning and retirements",</a:t>
            </a:r>
          </a:p>
          <a:p xmlns:a="http://schemas.openxmlformats.org/drawingml/2006/main">
            <a:r>
              <a:t>        "proposed_coordinator":  "Manish / Nigel review",</a:t>
            </a:r>
          </a:p>
          <a:p xmlns:a="http://schemas.openxmlformats.org/drawingml/2006/main">
            <a:r>
              <a:t>        "proposed_data_provider":  "Public sources / sector specialists",</a:t>
            </a:r>
          </a:p>
          <a:p xmlns:a="http://schemas.openxmlformats.org/drawingml/2006/main">
            <a:r>
              <a:t>        "expiry_trigger":  "Before L/M/H demand adoption",</a:t>
            </a:r>
          </a:p>
          <a:p xmlns:a="http://schemas.openxmlformats.org/drawingml/2006/main">
            <a:r>
              <a:t>        "acceptance_test":  "No rail/EV/efficiency double count; power balance and dispatch constrain diesel",</a:t>
            </a:r>
          </a:p>
          <a:p xmlns:a="http://schemas.openxmlformats.org/drawingml/2006/main">
            <a:r>
              <a:t>        "status":  "Prepared; not sent",</a:t>
            </a:r>
          </a:p>
          <a:p xmlns:a="http://schemas.openxmlformats.org/drawingml/2006/main">
            <a:r>
              <a:t>        "received_file":  "",</a:t>
            </a:r>
          </a:p>
          <a:p xmlns:a="http://schemas.openxmlformats.org/drawingml/2006/main">
            <a:r>
              <a:t>        "received_date":  ""</a:t>
            </a:r>
          </a:p>
          <a:p xmlns:a="http://schemas.openxmlformats.org/drawingml/2006/main">
            <a:r>
              <a:t>    },</a:t>
            </a:r>
          </a:p>
          <a:p xmlns:a="http://schemas.openxmlformats.org/drawingml/2006/main">
            <a:r>
              <a:t>    {</a:t>
            </a:r>
          </a:p>
          <a:p xmlns:a="http://schemas.openxmlformats.org/drawingml/2006/main">
            <a:r>
              <a:t>        "id":  "DR08",</a:t>
            </a:r>
          </a:p>
          <a:p xmlns:a="http://schemas.openxmlformats.org/drawingml/2006/main">
            <a:r>
              <a:t>        "priority":  "P2",</a:t>
            </a:r>
          </a:p>
          <a:p xmlns:a="http://schemas.openxmlformats.org/drawingml/2006/main">
            <a:r>
              <a:t>        "step":  "Supply worlds",</a:t>
            </a:r>
          </a:p>
          <a:p xmlns:a="http://schemas.openxmlformats.org/drawingml/2006/main">
            <a:r>
              <a:t>        "request":  "Annual plant output calibration",</a:t>
            </a:r>
          </a:p>
          <a:p xmlns:a="http://schemas.openxmlformats.org/drawingml/2006/main">
            <a:r>
              <a:t>        "required_fields_and_period":  "SAPREF funded timing/ramp/yields; Natref availability/utilisation; Secunda gas/MRG liquids penalty; PetroSA feedstock/restart; product-specific annual output",</a:t>
            </a:r>
          </a:p>
          <a:p xmlns:a="http://schemas.openxmlformats.org/drawingml/2006/main">
            <a:r>
              <a:t>        "proposed_coordinator":  "Manish / Nigel review",</a:t>
            </a:r>
          </a:p>
          <a:p xmlns:a="http://schemas.openxmlformats.org/drawingml/2006/main">
            <a:r>
              <a:t>        "proposed_data_provider":  "Producers / public disclosures",</a:t>
            </a:r>
          </a:p>
          <a:p xmlns:a="http://schemas.openxmlformats.org/drawingml/2006/main">
            <a:r>
              <a:t>        "expiry_trigger":  "Before L/M/H supply adoption",</a:t>
            </a:r>
          </a:p>
          <a:p xmlns:a="http://schemas.openxmlformats.org/drawingml/2006/main">
            <a:r>
              <a:t>        "acceptance_test":  "Nameplate converted to output; dependencies and scenario consistency reviewed",</a:t>
            </a:r>
          </a:p>
          <a:p xmlns:a="http://schemas.openxmlformats.org/drawingml/2006/main">
            <a:r>
              <a:t>        "status":  "Prepared; not sent",</a:t>
            </a:r>
          </a:p>
          <a:p xmlns:a="http://schemas.openxmlformats.org/drawingml/2006/main">
            <a:r>
              <a:t>        "received_file":  "",</a:t>
            </a:r>
          </a:p>
          <a:p xmlns:a="http://schemas.openxmlformats.org/drawingml/2006/main">
            <a:r>
              <a:t>        "received_date":  ""</a:t>
            </a:r>
          </a:p>
          <a:p xmlns:a="http://schemas.openxmlformats.org/drawingml/2006/main">
            <a:r>
              <a:t>    },</a:t>
            </a:r>
          </a:p>
          <a:p xmlns:a="http://schemas.openxmlformats.org/drawingml/2006/main">
            <a:r>
              <a:t>    {</a:t>
            </a:r>
          </a:p>
          <a:p xmlns:a="http://schemas.openxmlformats.org/drawingml/2006/main">
            <a:r>
              <a:t>        "id":  "DR09",</a:t>
            </a:r>
          </a:p>
          <a:p xmlns:a="http://schemas.openxmlformats.org/drawingml/2006/main">
            <a:r>
              <a:t>        "priority":  "P2",</a:t>
            </a:r>
          </a:p>
          <a:p xmlns:a="http://schemas.openxmlformats.org/drawingml/2006/main">
            <a:r>
              <a:t>        "step":  "EV adjacency",</a:t>
            </a:r>
          </a:p>
          <a:p xmlns:a="http://schemas.openxmlformats.org/drawingml/2006/main">
            <a:r>
              <a:t>        "request":  "Separate EV investment case",</a:t>
            </a:r>
          </a:p>
          <a:p xmlns:a="http://schemas.openxmlformats.org/drawingml/2006/main">
            <a:r>
              <a:t>        "required_fields_and_period":  "Customer energy and charging demand; utilisation by location; power connection and tariff; capex, costs, commercial terms, partner model and strategic mandate",</a:t>
            </a:r>
          </a:p>
          <a:p xmlns:a="http://schemas.openxmlformats.org/drawingml/2006/main">
            <a:r>
              <a:t>        "proposed_coordinator":  "Nigel to coordinate",</a:t>
            </a:r>
          </a:p>
          <a:p xmlns:a="http://schemas.openxmlformats.org/drawingml/2006/main">
            <a:r>
              <a:t>        "proposed_data_provider":  "Potential customers / Vopak strategy / power partners",</a:t>
            </a:r>
          </a:p>
          <a:p xmlns:a="http://schemas.openxmlformats.org/drawingml/2006/main">
            <a:r>
              <a:t>        "expiry_trigger":  "Before EV investment screening",</a:t>
            </a:r>
          </a:p>
          <a:p xmlns:a="http://schemas.openxmlformats.org/drawingml/2006/main">
            <a:r>
              <a:t>        "acceptance_test":  "Standalone customer, power-access and incremental-return case; not inferred from low fuel demand",</a:t>
            </a:r>
            <a:endParaRPr/>
          </a:p>
          <a:p xmlns:a="http://schemas.openxmlformats.org/drawingml/2006/main">
            <a:r>
              <a:t>        "status":  "Prepared; not sent",</a:t>
            </a:r>
            <a:endParaRPr/>
          </a:p>
          <a:p xmlns:a="http://schemas.openxmlformats.org/drawingml/2006/main">
            <a:r>
              <a:t>        "received_file":  "",</a:t>
            </a:r>
            <a:endParaRPr/>
          </a:p>
          <a:p xmlns:a="http://schemas.openxmlformats.org/drawingml/2006/main">
            <a:r>
              <a:t>        "received_date":  ""</a:t>
            </a:r>
            <a:endParaRPr/>
          </a:p>
          <a:p xmlns:a="http://schemas.openxmlformats.org/drawingml/2006/main">
            <a:r>
              <a:t>    }</a:t>
            </a:r>
            <a:endParaRPr/>
          </a:p>
          <a:p xmlns:a="http://schemas.openxmlformats.org/drawingml/2006/main">
            <a:r>
              <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endParaRP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Closing page. Decisions: the demand-by-use baseline (overlap log item 6, page 4), the demand lever cases and the open DR07 double-count test (page 5), and whether to register the coastal and inland grouping (page 3). Requests: client data DR02/05, DR03 and DR06 (prepared, not sent); operator output by product and stock change (DR08, DR01 gaps); current trunk-line capacity and whether Vopak Durban can inject into the NMPP (DR04 gaps). Build next: the Durban and Lesedi market sizing method, an independent figure check for this pack, and recording receipt of DR01, DR04, DR07 and DR08 in the register file. No delivery dates are committed.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9de5dcb44d41a5" /><Relationship Type="http://schemas.openxmlformats.org/officeDocument/2006/relationships/image" Target="/ppt/media/image.jpeg" Id="Rf0185fdf5cd744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62519a23324558" /><Relationship Type="http://schemas.openxmlformats.org/officeDocument/2006/relationships/image" Target="/ppt/media/image2.jpeg" Id="Rcfa5d35185854cd4" /><Relationship Type="http://schemas.openxmlformats.org/officeDocument/2006/relationships/image" Target="/ppt/media/image2.png" Id="Ra07577b7df3241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7129b0a0d445c9" /><Relationship Type="http://schemas.openxmlformats.org/officeDocument/2006/relationships/image" Target="/ppt/media/image2.jpeg" Id="R7bede5f50bed445f" /><Relationship Type="http://schemas.openxmlformats.org/officeDocument/2006/relationships/image" Target="/ppt/media/image2.png" Id="Rcbdf8d2aec6d47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d87a115eae4d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051932155441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b20b73c45d40aa" /></Relationships>
</file>

<file path=ppt/slideLayouts/slideLayout1.xml><?xml version="1.0" encoding="utf-8"?>
<p:sldLayout xmlns:p="http://schemas.openxmlformats.org/presentationml/2006/main" preserve="1" userDrawn="1">
  <p:cSld name="Titl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pic>
        <p:nvPicPr>
          <p:cNvPr id="12" name="Picture 3"/>
          <p:cNvPicPr>
            <a:picLocks xmlns:a="http://schemas.openxmlformats.org/drawingml/2006/main" noChangeAspect="1"/>
          </p:cNvPicPr>
          <p:nvPr/>
        </p:nvPicPr>
        <p:blipFill rotWithShape="1">
          <a:blip xmlns:r="http://schemas.openxmlformats.org/officeDocument/2006/relationships" xmlns:a="http://schemas.openxmlformats.org/drawingml/2006/main" r:embed="Rf0185fdf5cd74465"/>
          <a:srcRect xmlns:a="http://schemas.openxmlformats.org/drawingml/2006/main" l="0" t="0" r="0" b="0"/>
          <a:stretch xmlns:a="http://schemas.openxmlformats.org/drawingml/2006/main"/>
        </p:blipFill>
        <p:spPr>
          <a:xfrm xmlns:a="http://schemas.openxmlformats.org/drawingml/2006/main">
            <a:off x="0" y="1"/>
            <a:ext cx="11588750" cy="6858000"/>
          </a:xfrm>
          <a:prstGeom xmlns:a="http://schemas.openxmlformats.org/drawingml/2006/main" prst="rect">
            <a:avLst/>
          </a:prstGeom>
        </p:spPr>
      </p:pic>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 y="5137149"/>
            <a:ext cx="4933950" cy="1571625"/>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Tree>
  </p:cSld>
</p:sldLayout>
</file>

<file path=ppt/slideLayouts/slideLayout2.xml><?xml version="1.0" encoding="utf-8"?>
<p:sldLayout xmlns:p="http://schemas.openxmlformats.org/presentationml/2006/main" preserve="1" userDrawn="1">
  <p:cSld name="1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cfa5d35185854cd4"/>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7" name="Rectangle 6">
            <a:extLst xmlns:a="http://schemas.openxmlformats.org/drawingml/2006/main">
              <a:ext uri="{FF2B5EF4-FFF2-40B4-BE49-F238E27FC236}">
                <a16:creationId xmlns:a16="http://schemas.microsoft.com/office/drawing/2014/main" id="{3E92D3BD-B933-88AB-9C21-59605B00713D}"/>
              </a:ext>
            </a:extLst>
          </p:cNvPr>
          <p:cNvSpPr>
            <a:spLocks xmlns:a="http://schemas.openxmlformats.org/drawingml/2006/main" noGrp="1"/>
          </p:cNvSpPr>
          <p:nvPr/>
        </p:nvSpPr>
        <p:spPr>
          <a:xfrm xmlns:a="http://schemas.openxmlformats.org/drawingml/2006/main">
            <a:off x="5111750" y="5727050"/>
            <a:ext cx="6477000" cy="4571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10" name="Cover title panel">
            <a:extLst xmlns:a="http://schemas.openxmlformats.org/drawingml/2006/main">
              <a:ext uri="{FF2B5EF4-FFF2-40B4-BE49-F238E27FC236}">
                <a16:creationId xmlns:a16="http://schemas.microsoft.com/office/drawing/2014/main" id="{C4245A97-BC9D-4258-8694-78304A5708A4}"/>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Vopak cover logo"/>
          <p:cNvPicPr>
            <a:picLocks xmlns:a="http://schemas.openxmlformats.org/drawingml/2006/main" noChangeAspect="1"/>
          </p:cNvPicPr>
          <p:nvPr/>
        </p:nvPicPr>
        <p:blipFill>
          <a:blip xmlns:r="http://schemas.openxmlformats.org/officeDocument/2006/relationships" xmlns:a="http://schemas.openxmlformats.org/drawingml/2006/main" r:embed="Ra07577b7df3241b3"/>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3.xml><?xml version="1.0" encoding="utf-8"?>
<p:sldLayout xmlns:p="http://schemas.openxmlformats.org/presentationml/2006/main" preserve="1" userDrawn="1">
  <p:cSld name="2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7bede5f50bed445f"/>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10" name="Cover title panel">
            <a:extLst xmlns:a="http://schemas.openxmlformats.org/drawingml/2006/main">
              <a:ext uri="{FF2B5EF4-FFF2-40B4-BE49-F238E27FC236}">
                <a16:creationId xmlns:a16="http://schemas.microsoft.com/office/drawing/2014/main" id="{2DB62E6D-8405-4234-A534-12637411EDD2}"/>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Vopak cover logo"/>
          <p:cNvPicPr>
            <a:picLocks xmlns:a="http://schemas.openxmlformats.org/drawingml/2006/main" noChangeAspect="1"/>
          </p:cNvPicPr>
          <p:nvPr/>
        </p:nvPicPr>
        <p:blipFill>
          <a:blip xmlns:r="http://schemas.openxmlformats.org/officeDocument/2006/relationships" xmlns:a="http://schemas.openxmlformats.org/drawingml/2006/main" r:embed="Rcbdf8d2aec6d47a1"/>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userDrawn="1">
  <p:cSld name="1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4299527"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5.xml><?xml version="1.0" encoding="utf-8"?>
<p:sldLayout xmlns:p="http://schemas.openxmlformats.org/presentationml/2006/main" preserve="1" userDrawn="1">
  <p:cSld name="2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5823528"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6.xml><?xml version="1.0" encoding="utf-8"?>
<p:sldLayout xmlns:p="http://schemas.openxmlformats.org/presentationml/2006/main" preserve="1" userDrawn="1">
  <p:cSld name="Header only">
    <p:spTree>
      <p:nvGrpSpPr>
        <p:cNvPr id="1" name=""/>
        <p:cNvGrpSpPr/>
        <p:nvPr/>
      </p:nvGrpSpPr>
      <p:grpSpPr>
        <a:xfrm xmlns:a="http://schemas.openxmlformats.org/drawingml/2006/main"/>
      </p:grpSpPr>
      <p:sp>
        <p:nvSpPr>
          <p:cNvPr id="6" name="Slide Number Placeholder 5">
            <a:extLst xmlns:a="http://schemas.openxmlformats.org/drawingml/2006/main">
              <a:ext uri="{FF2B5EF4-FFF2-40B4-BE49-F238E27FC236}">
                <a16:creationId xmlns:a16="http://schemas.microsoft.com/office/drawing/2014/main" id="{F9CBAD8B-F7E5-4AA1-AF49-BF7360314613}"/>
              </a:ext>
            </a:extLst>
          </p:cNvPr>
          <p:cNvSpPr>
            <a:spLocks xmlns:a="http://schemas.openxmlformats.org/drawingml/2006/main" noGrp="1"/>
          </p:cNvSpPr>
          <p:nvPr>
            <p:ph type="sldNum" idx="12"/>
          </p:nvPr>
        </p:nvSpPr>
        <p:spPr>
          <a:xfrm xmlns:a="http://schemas.openxmlformats.org/drawingml/2006/main">
            <a:off x="10605599" y="6489700"/>
            <a:ext cx="805350" cy="287338"/>
          </a:xfrm>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A65E4EDC-57F8-4D5C-B13E-A981C5F2F71A}" type="slidenum">
              <a:rPr>
                <a:solidFill>
                  <a:schemeClr val="tx1"/>
                </a:solidFill>
              </a:rPr>
              <a:t>‹#›</a:t>
            </a:fld>
            <a:endParaRPr>
              <a:solidFill>
                <a:schemeClr val="tx1"/>
              </a:solidFill>
            </a:endParaRPr>
          </a:p>
        </p:txBody>
      </p:sp>
      <p:sp>
        <p:nvSpPr>
          <p:cNvPr id="3" name="Title Placeholder 1">
            <a:extLst xmlns:a="http://schemas.openxmlformats.org/drawingml/2006/main">
              <a:ext uri="{FF2B5EF4-FFF2-40B4-BE49-F238E27FC236}">
                <a16:creationId xmlns:a16="http://schemas.microsoft.com/office/drawing/2014/main" id="{8395ED8E-92E9-32C5-9BE4-BAF8026DD357}"/>
              </a:ext>
            </a:extLst>
          </p:cNvPr>
          <p:cNvSpPr>
            <a:spLocks xmlns:a="http://schemas.openxmlformats.org/drawingml/2006/main" noGrp="1"/>
          </p:cNvSpPr>
          <p:nvPr>
            <p:ph type="title" idx="0"/>
          </p:nvPr>
        </p:nvSpPr>
        <p:spPr>
          <a:xfrm xmlns:a="http://schemas.openxmlformats.org/drawingml/2006/main">
            <a:off x="457200" y="585216"/>
            <a:ext cx="10561320" cy="82296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rPr>
                <a:solidFill>
                  <a:schemeClr val="tx1"/>
                </a:solidFill>
              </a:rPr>
              <a:t>Click to edit Master title style</a:t>
            </a:r>
          </a:p>
        </p:txBody>
      </p:sp>
      <p:sp>
        <p:nvSpPr>
          <p:cNvPr id="7" name="Title and body separator">
            <a:extLst xmlns:a="http://schemas.openxmlformats.org/drawingml/2006/main">
              <a:ext uri="{FF2B5EF4-FFF2-40B4-BE49-F238E27FC236}">
                <a16:creationId xmlns:a16="http://schemas.microsoft.com/office/drawing/2014/main" id="{5D0E1ABD-AFB5-4019-9968-9862065ED1B1}"/>
              </a:ext>
            </a:extLst>
          </p:cNvPr>
          <p:cNvSpPr>
            <a:spLocks xmlns:a="http://schemas.openxmlformats.org/drawingml/2006/main" noGrp="1"/>
          </p:cNvSpPr>
          <p:nvPr/>
        </p:nvSpPr>
        <p:spPr>
          <a:xfrm xmlns:a="http://schemas.openxmlformats.org/drawingml/2006/main">
            <a:off x="457200" y="1444752"/>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6173afe81928476c" /><Relationship Type="http://schemas.openxmlformats.org/officeDocument/2006/relationships/theme" Target="/ppt/slideMasters/theme/theme2.xml" Id="R707808ea66954516" /><Relationship Type="http://schemas.openxmlformats.org/officeDocument/2006/relationships/slideLayout" Target="/ppt/slideLayouts/slideLayout1.xml" Id="R983a14739c71484f" /><Relationship Type="http://schemas.openxmlformats.org/officeDocument/2006/relationships/slideLayout" Target="/ppt/slideLayouts/slideLayout2.xml" Id="Rfc8ffa49fe904c3e" /><Relationship Type="http://schemas.openxmlformats.org/officeDocument/2006/relationships/slideLayout" Target="/ppt/slideLayouts/slideLayout3.xml" Id="R606e443654e247f3" /><Relationship Type="http://schemas.openxmlformats.org/officeDocument/2006/relationships/slideLayout" Target="/ppt/slideLayouts/slideLayout4.xml" Id="R9b557d1db064457c" /><Relationship Type="http://schemas.openxmlformats.org/officeDocument/2006/relationships/slideLayout" Target="/ppt/slideLayouts/slideLayout5.xml" Id="R78e71889209b478a" /><Relationship Type="http://schemas.openxmlformats.org/officeDocument/2006/relationships/slideLayout" Target="/ppt/slideLayouts/slideLayout6.xml" Id="R2b474ae6bd9c4f9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24C0874-BA61-4747-9E45-EC1874732CE3}"/>
              </a:ext>
            </a:extLst>
          </p:cNvPr>
          <p:cNvSpPr>
            <a:spLocks xmlns:a="http://schemas.openxmlformats.org/drawingml/2006/main" noGrp="1"/>
          </p:cNvSpPr>
          <p:nvPr>
            <p:ph type="title" idx="0"/>
          </p:nvPr>
        </p:nvSpPr>
        <p:spPr>
          <a:xfrm xmlns:a="http://schemas.openxmlformats.org/drawingml/2006/main">
            <a:off x="177801" y="368299"/>
            <a:ext cx="11233148" cy="690101"/>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3FC23D3E-5182-4250-8573-F0E1ACE45DF6}"/>
              </a:ext>
            </a:extLst>
          </p:cNvPr>
          <p:cNvSpPr>
            <a:spLocks xmlns:a="http://schemas.openxmlformats.org/drawingml/2006/main" noGrp="1"/>
          </p:cNvSpPr>
          <p:nvPr>
            <p:ph type="body" idx="1"/>
          </p:nvPr>
        </p:nvSpPr>
        <p:spPr>
          <a:xfrm xmlns:a="http://schemas.openxmlformats.org/drawingml/2006/main">
            <a:off x="177801" y="1233488"/>
            <a:ext cx="11233149" cy="5256212"/>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endParaRPr/>
          </a:p>
        </p:txBody>
      </p:sp>
      <p:sp>
        <p:nvSpPr>
          <p:cNvPr id="6" name="Slide Number Placeholder 5">
            <a:extLst xmlns:a="http://schemas.openxmlformats.org/drawingml/2006/main">
              <a:ext uri="{FF2B5EF4-FFF2-40B4-BE49-F238E27FC236}">
                <a16:creationId xmlns:a16="http://schemas.microsoft.com/office/drawing/2014/main" id="{E0701658-BDC9-428A-84FB-87D9DD9154DB}"/>
              </a:ext>
            </a:extLst>
          </p:cNvPr>
          <p:cNvSpPr>
            <a:spLocks xmlns:a="http://schemas.openxmlformats.org/drawingml/2006/main" noGrp="1"/>
          </p:cNvSpPr>
          <p:nvPr>
            <p:ph type="sldNum" idx="4"/>
          </p:nvPr>
        </p:nvSpPr>
        <p:spPr>
          <a:xfrm xmlns:a="http://schemas.openxmlformats.org/drawingml/2006/main">
            <a:off x="10605599" y="6489700"/>
            <a:ext cx="805350" cy="28733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pic>
        <p:nvPicPr>
          <p:cNvPr id="15" name="Picture 2"/>
          <p:cNvPicPr>
            <a:picLocks xmlns:a="http://schemas.openxmlformats.org/drawingml/2006/main" noChangeAspect="1"/>
          </p:cNvPicPr>
          <p:nvPr/>
        </p:nvPicPr>
        <p:blipFill>
          <a:blip xmlns:r="http://schemas.openxmlformats.org/officeDocument/2006/relationships" xmlns:a="http://schemas.openxmlformats.org/drawingml/2006/main" r:embed="R6173afe81928476c"/>
          <a:srcRect xmlns:a="http://schemas.openxmlformats.org/drawingml/2006/main" l="0" t="0" r="0" b="0"/>
          <a:stretch xmlns:a="http://schemas.openxmlformats.org/drawingml/2006/main">
            <a:fillRect l="0" t="0" r="0" b="0"/>
          </a:stretch>
        </p:blipFill>
        <p:spPr>
          <a:xfrm xmlns:a="http://schemas.openxmlformats.org/drawingml/2006/main">
            <a:off x="9906000" y="6515100"/>
            <a:ext cx="952500" cy="212558"/>
          </a:xfrm>
          <a:prstGeom xmlns:a="http://schemas.openxmlformats.org/drawingml/2006/main" prst="rect">
            <a:avLst/>
          </a:prstGeom>
        </p:spPr>
      </p:pic>
      <p:sp>
        <p:nvSpPr>
          <p:cNvPr id="9" name="Text Placeholder 6">
            <a:extLst xmlns:a="http://schemas.openxmlformats.org/drawingml/2006/main">
              <a:ext uri="{FF2B5EF4-FFF2-40B4-BE49-F238E27FC236}">
                <a16:creationId xmlns:a16="http://schemas.microsoft.com/office/drawing/2014/main" id="{5CB3F387-66D0-18CC-51EE-24B908A792B7}"/>
              </a:ext>
            </a:extLst>
          </p:cNvPr>
          <p:cNvSpPr>
            <a:spLocks xmlns:a="http://schemas.openxmlformats.org/drawingml/2006/main" noGrp="1"/>
          </p:cNvSpPr>
          <p:nvPr/>
        </p:nvSpPr>
        <p:spPr>
          <a:xfrm xmlns:a="http://schemas.openxmlformats.org/drawingml/2006/main">
            <a:off x="457200" y="6528816"/>
            <a:ext cx="8595360" cy="228600"/>
          </a:xfrm>
          <a:prstGeom xmlns:a="http://schemas.openxmlformats.org/drawingml/2006/main" prst="rect">
            <a:avLst/>
          </a:prstGeom>
        </p:spPr>
        <p:txBody>
          <a:bodyPr xmlns:a="http://schemas.openxmlformats.org/drawingml/2006/main" tIns="0" bIns="0" anchor="ctr">
            <a:normAutofit/>
          </a:bodyPr>
          <a:lstStyle xmlns:a="http://schemas.openxmlformats.org/drawingml/2006/main">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xmlns:a="http://schemas.openxmlformats.org/drawingml/2006/main">
            <a:pPr>
              <a:buNone/>
              <a:defRPr sz="800">
                <a:solidFill>
                  <a:srgbClr val="404040"/>
                </a:solidFill>
                <a:latin typeface="Lato"/>
                <a:ea typeface="Lato"/>
                <a:cs typeface="Lato"/>
              </a:defRPr>
            </a:pPr>
            <a:endParaRPr/>
          </a:p>
        </p:txBody>
      </p:sp>
      <p:sp>
        <p:nvSpPr>
          <p:cNvPr id="10" name="Fine footer rule">
            <a:extLst xmlns:a="http://schemas.openxmlformats.org/drawingml/2006/main">
              <a:ext uri="{FF2B5EF4-FFF2-40B4-BE49-F238E27FC236}">
                <a16:creationId xmlns:a16="http://schemas.microsoft.com/office/drawing/2014/main" id="{1365BF48-9DDE-4E5B-A910-76FA2EE181D6}"/>
              </a:ext>
            </a:extLst>
          </p:cNvPr>
          <p:cNvSpPr>
            <a:spLocks xmlns:a="http://schemas.openxmlformats.org/drawingml/2006/main" noGrp="1"/>
          </p:cNvSpPr>
          <p:nvPr/>
        </p:nvSpPr>
        <p:spPr>
          <a:xfrm xmlns:a="http://schemas.openxmlformats.org/drawingml/2006/main">
            <a:off x="457200" y="6437376"/>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3a14739c71484f"/>
    <p:sldLayoutId xmlns:r="http://schemas.openxmlformats.org/officeDocument/2006/relationships" id="2147483650" r:id="Rfc8ffa49fe904c3e"/>
    <p:sldLayoutId xmlns:r="http://schemas.openxmlformats.org/officeDocument/2006/relationships" id="2147483651" r:id="R606e443654e247f3"/>
    <p:sldLayoutId xmlns:r="http://schemas.openxmlformats.org/officeDocument/2006/relationships" id="2147483652" r:id="R9b557d1db064457c"/>
    <p:sldLayoutId xmlns:r="http://schemas.openxmlformats.org/officeDocument/2006/relationships" id="2147483653" r:id="R78e71889209b478a"/>
    <p:sldLayoutId xmlns:r="http://schemas.openxmlformats.org/officeDocument/2006/relationships" id="2147483654" r:id="R2b474ae6bd9c4f98"/>
  </p:sldLayoutIdLst>
  <p:hf hdr="0" ftr="0" dt="0"/>
  <p:txStyles>
    <p:titleStyle>
      <a:lvl1pPr xmlns:a="http://schemas.openxmlformats.org/drawingml/2006/main" algn="l" defTabSz="869137">
        <a:lnSpc>
          <a:spcPct val="90000"/>
        </a:lnSpc>
        <a:spcBef>
          <a:spcPct val="0"/>
        </a:spcBef>
        <a:buNone/>
        <a:defRPr sz="2200" b="1" kern="1200">
          <a:solidFill>
            <a:schemeClr val="tx1"/>
          </a:solidFill>
          <a:latin typeface="+mj-lt"/>
          <a:ea typeface="+mj-lt"/>
          <a:cs typeface="+mj-lt"/>
        </a:defRPr>
      </a:lvl1pPr>
    </p:titleStyle>
    <p:bodyStyle>
      <a:lvl1pPr xmlns:a="http://schemas.openxmlformats.org/drawingml/2006/main"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xmlns:a="http://schemas.openxmlformats.org/drawingml/2006/main"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xmlns:a="http://schemas.openxmlformats.org/drawingml/2006/main"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xmlns:a="http://schemas.openxmlformats.org/drawingml/2006/main"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xmlns:a="http://schemas.openxmlformats.org/drawingml/2006/main"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xmlns:a="http://schemas.openxmlformats.org/drawingml/2006/main"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xmlns:a="http://schemas.openxmlformats.org/drawingml/2006/main"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xmlns:a="http://schemas.openxmlformats.org/drawingml/2006/main"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xmlns:a="http://schemas.openxmlformats.org/drawingml/2006/main"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xmlns:a="http://schemas.openxmlformats.org/drawingml/2006/main" marL="0" algn="l" defTabSz="869137">
        <a:buNone/>
        <a:defRPr sz="1711" kern="1200">
          <a:solidFill>
            <a:schemeClr val="tx1"/>
          </a:solidFill>
          <a:latin typeface="+mn-lt"/>
          <a:ea typeface="+mn-lt"/>
          <a:cs typeface="+mn-lt"/>
        </a:defRPr>
      </a:lvl1pPr>
      <a:lvl2pPr xmlns:a="http://schemas.openxmlformats.org/drawingml/2006/main" marL="434569" algn="l" defTabSz="869137">
        <a:buNone/>
        <a:defRPr sz="1711" kern="1200">
          <a:solidFill>
            <a:schemeClr val="tx1"/>
          </a:solidFill>
          <a:latin typeface="+mn-lt"/>
          <a:ea typeface="+mn-lt"/>
          <a:cs typeface="+mn-lt"/>
        </a:defRPr>
      </a:lvl2pPr>
      <a:lvl3pPr xmlns:a="http://schemas.openxmlformats.org/drawingml/2006/main" marL="869137" algn="l" defTabSz="869137">
        <a:buNone/>
        <a:defRPr sz="1711" kern="1200">
          <a:solidFill>
            <a:schemeClr val="tx1"/>
          </a:solidFill>
          <a:latin typeface="+mn-lt"/>
          <a:ea typeface="+mn-lt"/>
          <a:cs typeface="+mn-lt"/>
        </a:defRPr>
      </a:lvl3pPr>
      <a:lvl4pPr xmlns:a="http://schemas.openxmlformats.org/drawingml/2006/main" marL="1303706" algn="l" defTabSz="869137">
        <a:buNone/>
        <a:defRPr sz="1711" kern="1200">
          <a:solidFill>
            <a:schemeClr val="tx1"/>
          </a:solidFill>
          <a:latin typeface="+mn-lt"/>
          <a:ea typeface="+mn-lt"/>
          <a:cs typeface="+mn-lt"/>
        </a:defRPr>
      </a:lvl4pPr>
      <a:lvl5pPr xmlns:a="http://schemas.openxmlformats.org/drawingml/2006/main" marL="1738274" algn="l" defTabSz="869137">
        <a:buNone/>
        <a:defRPr sz="1711" kern="1200">
          <a:solidFill>
            <a:schemeClr val="tx1"/>
          </a:solidFill>
          <a:latin typeface="+mn-lt"/>
          <a:ea typeface="+mn-lt"/>
          <a:cs typeface="+mn-lt"/>
        </a:defRPr>
      </a:lvl5pPr>
      <a:lvl6pPr xmlns:a="http://schemas.openxmlformats.org/drawingml/2006/main" marL="2172843" algn="l" defTabSz="869137">
        <a:buNone/>
        <a:defRPr sz="1711" kern="1200">
          <a:solidFill>
            <a:schemeClr val="tx1"/>
          </a:solidFill>
          <a:latin typeface="+mn-lt"/>
          <a:ea typeface="+mn-lt"/>
          <a:cs typeface="+mn-lt"/>
        </a:defRPr>
      </a:lvl6pPr>
      <a:lvl7pPr xmlns:a="http://schemas.openxmlformats.org/drawingml/2006/main" marL="2607412" algn="l" defTabSz="869137">
        <a:buNone/>
        <a:defRPr sz="1711" kern="1200">
          <a:solidFill>
            <a:schemeClr val="tx1"/>
          </a:solidFill>
          <a:latin typeface="+mn-lt"/>
          <a:ea typeface="+mn-lt"/>
          <a:cs typeface="+mn-lt"/>
        </a:defRPr>
      </a:lvl7pPr>
      <a:lvl8pPr xmlns:a="http://schemas.openxmlformats.org/drawingml/2006/main" marL="3041980" algn="l" defTabSz="869137">
        <a:buNone/>
        <a:defRPr sz="1711" kern="1200">
          <a:solidFill>
            <a:schemeClr val="tx1"/>
          </a:solidFill>
          <a:latin typeface="+mn-lt"/>
          <a:ea typeface="+mn-lt"/>
          <a:cs typeface="+mn-lt"/>
        </a:defRPr>
      </a:lvl8pPr>
      <a:lvl9pPr xmlns:a="http://schemas.openxmlformats.org/drawingml/2006/main"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xmlns:a="http://schemas.openxmlformats.org/drawingml/2006/main" val="F26B43"/>
          </p15:clr>
        </p15:guide>
        <p15:guide id="13" pos="112" userDrawn="1">
          <p15:clr>
            <a:srgbClr xmlns:a="http://schemas.openxmlformats.org/drawingml/2006/main" val="F26B43"/>
          </p15:clr>
        </p15:guide>
        <p15:guide id="14" orient="horz" pos="4269" userDrawn="1">
          <p15:clr>
            <a:srgbClr xmlns:a="http://schemas.openxmlformats.org/drawingml/2006/main" val="F26B43"/>
          </p15:clr>
        </p15:guide>
        <p15:guide id="15" pos="3650" userDrawn="1">
          <p15:clr>
            <a:srgbClr xmlns:a="http://schemas.openxmlformats.org/drawingml/2006/main" val="F26B43"/>
          </p15:clr>
        </p15:guide>
        <p15:guide id="16" pos="7188" userDrawn="1">
          <p15:clr>
            <a:srgbClr xmlns:a="http://schemas.openxmlformats.org/drawingml/2006/main" val="F26B43"/>
          </p15:clr>
        </p15:guide>
        <p15:guide id="17" orient="horz" pos="28" userDrawn="1">
          <p15:clr>
            <a:srgbClr xmlns:a="http://schemas.openxmlformats.org/drawingml/2006/main" val="F26B43"/>
          </p15:clr>
        </p15:guide>
        <p15:guide id="18" orient="horz" pos="686" userDrawn="1">
          <p15:clr>
            <a:srgbClr xmlns:a="http://schemas.openxmlformats.org/drawingml/2006/main" val="F26B43"/>
          </p15:clr>
        </p15:guide>
        <p15:guide id="19" orient="horz" pos="777" userDrawn="1">
          <p15:clr>
            <a:srgbClr xmlns:a="http://schemas.openxmlformats.org/drawingml/2006/main" val="F26B43"/>
          </p15:clr>
        </p15:guide>
        <p15:guide id="20" orient="horz" pos="4088" userDrawn="1">
          <p15:clr>
            <a:srgbClr xmlns:a="http://schemas.openxmlformats.org/drawingml/2006/main" val="F26B43"/>
          </p15:clr>
        </p15:guide>
        <p15:guide id="21" orient="horz" pos="3680" userDrawn="1">
          <p15:clr>
            <a:srgbClr xmlns:a="http://schemas.openxmlformats.org/drawingml/2006/main" val="F26B43"/>
          </p15:clr>
        </p15:guide>
        <p15:guide id="22" orient="horz" pos="3566" userDrawn="1">
          <p15:clr>
            <a:srgbClr xmlns:a="http://schemas.openxmlformats.org/drawingml/2006/main" val="F26B43"/>
          </p15:clr>
        </p15:guide>
        <p15:guide id="23" pos="5805" userDrawn="1">
          <p15:clr>
            <a:srgbClr xmlns:a="http://schemas.openxmlformats.org/drawingml/2006/main" val="F26B43"/>
          </p15:clr>
        </p15:guide>
      </p15:sldGuideLst>
    </p:ext>
  </p:extLst>
</p:sldMaster>
</file>

<file path=ppt/slideMasters/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8077f08453c4142" /><Relationship Type="http://schemas.openxmlformats.org/officeDocument/2006/relationships/image" Target="/ppt/media/image3.jpeg" Id="R56867c39ac0642f0" /><Relationship Type="http://schemas.openxmlformats.org/officeDocument/2006/relationships/image" Target="/ppt/media/image3.png" Id="R479a6425b8744449" /><Relationship Type="http://schemas.openxmlformats.org/officeDocument/2006/relationships/notesSlide" Target="/ppt/notesSlides/notesSlide1.xml" Id="Rd0bdf54e0fa147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4399926507142bd" /><Relationship Type="http://schemas.openxmlformats.org/officeDocument/2006/relationships/notesSlide" Target="/ppt/notesSlides/notesSlide2.xml" Id="Rba2a71de6f824d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f69945455a3464b" /><Relationship Type="http://schemas.openxmlformats.org/officeDocument/2006/relationships/notesSlide" Target="/ppt/notesSlides/notesSlide3.xml" Id="R5cc529726e7a47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e97c9ad15b494c" /><Relationship Type="http://schemas.openxmlformats.org/officeDocument/2006/relationships/notesSlide" Target="/ppt/notesSlides/notesSlide4.xml" Id="R0a0fac4fd70b4b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951862552b2411b" /><Relationship Type="http://schemas.openxmlformats.org/officeDocument/2006/relationships/notesSlide" Target="/ppt/notesSlides/notesSlide5.xml" Id="R6d3b68fd1d0f41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e8c9d0200f4397" /><Relationship Type="http://schemas.openxmlformats.org/officeDocument/2006/relationships/notesSlide" Target="/ppt/notesSlides/notesSlide6.xml" Id="R2f92afcec5d64a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a9c48604294b6f" /><Relationship Type="http://schemas.openxmlformats.org/officeDocument/2006/relationships/notesSlide" Target="/ppt/notesSlides/notesSlide7.xml" Id="R576c2cf4fab243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bbb48919a9a4098" /><Relationship Type="http://schemas.openxmlformats.org/officeDocument/2006/relationships/notesSlide" Target="/ppt/notesSlides/notesSlide8.xml" Id="R9ea312c86a9449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b624c52e30b428d" /><Relationship Type="http://schemas.openxmlformats.org/officeDocument/2006/relationships/notesSlide" Target="/ppt/notesSlides/notesSlide9.xml" Id="Refe1261c0ed847c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6DA3AFA-C9DA-4FAB-9597-0EB993A2F3FC}"/>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56867c39ac0642f0"/>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7" name="Picture 3"/>
          <p:cNvPicPr>
            <a:picLocks xmlns:a="http://schemas.openxmlformats.org/drawingml/2006/main" noChangeAspect="1"/>
          </p:cNvPicPr>
          <p:nvPr/>
        </p:nvPicPr>
        <p:blipFill>
          <a:blip xmlns:r="http://schemas.openxmlformats.org/officeDocument/2006/relationships" xmlns:a="http://schemas.openxmlformats.org/drawingml/2006/main" r:embed="R479a6425b8744449"/>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E08827C6-FEED-4116-9DCE-5E2EA028D450}"/>
              </a:ext>
            </a:extLst>
          </p:cNvPr>
          <p:cNvSpPr>
            <a:spLocks xmlns:a="http://schemas.openxmlformats.org/drawingml/2006/main" noGrp="1"/>
          </p:cNvSpPr>
          <p:nvPr/>
        </p:nvSpPr>
        <p:spPr>
          <a:xfrm xmlns:a="http://schemas.openxmlformats.org/drawingml/2006/main">
            <a:off x="594360" y="2468880"/>
            <a:ext cx="4709160" cy="10567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Durban and Lesedi</a:t>
            </a:r>
          </a:p>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market sizing</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88D2DB9B-FF35-4AA7-ADA3-2B264CE75BCA}"/>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DEE4F3E1-E264-49A3-A181-36466AD0EA56}"/>
              </a:ext>
            </a:extLst>
          </p:cNvPr>
          <p:cNvSpPr>
            <a:spLocks xmlns:a="http://schemas.openxmlformats.org/drawingml/2006/main" noGrp="1"/>
          </p:cNvSpPr>
          <p:nvPr/>
        </p:nvSpPr>
        <p:spPr>
          <a:xfrm xmlns:a="http://schemas.openxmlformats.org/drawingml/2006/main">
            <a:off x="594360" y="4617720"/>
            <a:ext cx="4572000" cy="26161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National balance, issue tree and deep dives</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7ED48EC1-1681-4EFF-8773-C5EA7F3F1F12}"/>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South Africa petrol and diesel, Durban-Lesedi corridor</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E36E07FC-8435-4E96-951E-2CDAE34BE136}"/>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10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C5B57B13-2DBB-4F0F-AF09-0DFF7E22957F}"/>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Public evidence and illustrative capture cases. Customer access, operating limits and returns remain provisional.</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CB86ADBD-3133-47BA-B710-2274A556C897}"/>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2BABC6B4-30F8-4568-A363-15F965735927}"/>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223718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D21735-ADEF-411D-8249-B171BAE593B9}"/>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a:solidFill>
                  <a:schemeClr val="dk1"/>
                </a:solidFill>
                <a:latin typeface="Lato"/>
                <a:ea typeface="Lato"/>
                <a:cs typeface="Lato"/>
              </a:rPr>
              <a:t>National petrol and diesel sales were 21.94bn litres in 2023</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5213E65-E8A1-478E-A171-2A4E03854AA0}"/>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a:t>
            </a:r>
            <a:endParaRPr sz="1100"/>
          </a:p>
        </p:txBody>
      </p:sp>
      <p:sp>
        <p:nvSpPr>
          <p:cNvPr id="8" name="Unified source footer">
            <a:extLst xmlns:a="http://schemas.openxmlformats.org/drawingml/2006/main">
              <a:ext uri="{FF2B5EF4-FFF2-40B4-BE49-F238E27FC236}">
                <a16:creationId xmlns:a16="http://schemas.microsoft.com/office/drawing/2014/main" id="{A0AC40B2-E1F6-48CE-A22A-948361BE9829}"/>
              </a:ext>
            </a:extLst>
          </p:cNvPr>
          <p:cNvSpPr>
            <a:spLocks xmlns:a="http://schemas.openxmlformats.org/drawingml/2006/main" noGrp="1"/>
          </p:cNvSpPr>
          <p:nvPr/>
        </p:nvSpPr>
        <p:spPr>
          <a:xfrm xmlns:a="http://schemas.openxmlformats.org/drawingml/2006/main">
            <a:off x="457200" y="6184900"/>
            <a:ext cx="10652760" cy="1143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70"/>
              <a:t>Manish DR01, updated 9 Oct: energy balance through 2021; department sales through 2023; SARS customs through 2025. Supply less sales includes stock change and statistical difference. Figures retain their source periods.</a:t>
            </a:r>
            <a:endParaRPr sz="670"/>
          </a:p>
        </p:txBody>
      </p:sp>
      <p:sp>
        <p:nvSpPr>
          <p:cNvPr id="48" name="Strictly Confidential footer">
            <a:extLst xmlns:a="http://schemas.openxmlformats.org/drawingml/2006/main">
              <a:ext uri="{FF2B5EF4-FFF2-40B4-BE49-F238E27FC236}">
                <a16:creationId xmlns:a16="http://schemas.microsoft.com/office/drawing/2014/main" id="{722C014E-BDEB-41A6-90E3-1E1FC08F7357}"/>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
        <p:nvSpPr>
          <p:cNvPr id="47" name="Balance panel">
            <a:extLst xmlns:a="http://schemas.openxmlformats.org/drawingml/2006/main">
              <a:ext uri="{FF2B5EF4-FFF2-40B4-BE49-F238E27FC236}">
                <a16:creationId xmlns:a16="http://schemas.microsoft.com/office/drawing/2014/main" id="{BFFFA5DA-A6DA-AC64-5A21-DFB306F69414}"/>
              </a:ext>
            </a:extLst>
          </p:cNvPr>
          <p:cNvSpPr>
            <a:spLocks xmlns:a="http://schemas.openxmlformats.org/drawingml/2006/main" noGrp="1"/>
          </p:cNvSpPr>
          <p:nvPr/>
        </p:nvSpPr>
        <p:spPr>
          <a:xfrm xmlns:a="http://schemas.openxmlformats.org/drawingml/2006/main">
            <a:off x="355600" y="1447800"/>
            <a:ext cx="10858500" cy="332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Findings panel">
            <a:extLst xmlns:a="http://schemas.openxmlformats.org/drawingml/2006/main">
              <a:ext uri="{FF2B5EF4-FFF2-40B4-BE49-F238E27FC236}">
                <a16:creationId xmlns:a16="http://schemas.microsoft.com/office/drawing/2014/main" id="{269B3908-E989-0312-3135-51FB7E974C44}"/>
              </a:ext>
            </a:extLst>
          </p:cNvPr>
          <p:cNvSpPr>
            <a:spLocks xmlns:a="http://schemas.openxmlformats.org/drawingml/2006/main" noGrp="1"/>
          </p:cNvSpPr>
          <p:nvPr/>
        </p:nvSpPr>
        <p:spPr>
          <a:xfrm xmlns:a="http://schemas.openxmlformats.org/drawingml/2006/main">
            <a:off x="355600" y="4876800"/>
            <a:ext cx="10858500" cy="13208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3" name="Year heading">
            <a:extLst xmlns:a="http://schemas.openxmlformats.org/drawingml/2006/main">
              <a:ext uri="{FF2B5EF4-FFF2-40B4-BE49-F238E27FC236}">
                <a16:creationId xmlns:a16="http://schemas.microsoft.com/office/drawing/2014/main" id="{3FCABC6B-89C1-0616-F77C-D2160BC917D8}"/>
              </a:ext>
            </a:extLst>
          </p:cNvPr>
          <p:cNvSpPr>
            <a:spLocks xmlns:a="http://schemas.openxmlformats.org/drawingml/2006/main" noGrp="1"/>
          </p:cNvSpPr>
          <p:nvPr/>
        </p:nvSpPr>
        <p:spPr>
          <a:xfrm xmlns:a="http://schemas.openxmlformats.org/drawingml/2006/main">
            <a:off x="457200" y="1638300"/>
            <a:ext cx="889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Year</a:t>
            </a:r>
          </a:p>
        </p:txBody>
      </p:sp>
      <p:sp>
        <p:nvSpPr>
          <p:cNvPr id="94" name="Term heading production">
            <a:extLst xmlns:a="http://schemas.openxmlformats.org/drawingml/2006/main">
              <a:ext uri="{FF2B5EF4-FFF2-40B4-BE49-F238E27FC236}">
                <a16:creationId xmlns:a16="http://schemas.microsoft.com/office/drawing/2014/main" id="{1995937B-213B-7E69-397D-849063821BD5}"/>
              </a:ext>
            </a:extLst>
          </p:cNvPr>
          <p:cNvSpPr>
            <a:spLocks xmlns:a="http://schemas.openxmlformats.org/drawingml/2006/main" noGrp="1"/>
          </p:cNvSpPr>
          <p:nvPr/>
        </p:nvSpPr>
        <p:spPr>
          <a:xfrm xmlns:a="http://schemas.openxmlformats.org/drawingml/2006/main">
            <a:off x="1536700" y="1638300"/>
            <a:ext cx="1651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b="1">
                <a:solidFill>
                  <a:schemeClr val="accent1"/>
                </a:solidFill>
                <a:latin typeface="Lato"/>
                <a:ea typeface="Lato"/>
                <a:cs typeface="Lato"/>
              </a:rPr>
              <a:t>Domestic production</a:t>
            </a:r>
          </a:p>
        </p:txBody>
      </p:sp>
      <p:sp>
        <p:nvSpPr>
          <p:cNvPr id="95" name="Term heading imports">
            <a:extLst xmlns:a="http://schemas.openxmlformats.org/drawingml/2006/main">
              <a:ext uri="{FF2B5EF4-FFF2-40B4-BE49-F238E27FC236}">
                <a16:creationId xmlns:a16="http://schemas.microsoft.com/office/drawing/2014/main" id="{967109CB-0A4F-AA78-B578-6EAB503E5403}"/>
              </a:ext>
            </a:extLst>
          </p:cNvPr>
          <p:cNvSpPr>
            <a:spLocks xmlns:a="http://schemas.openxmlformats.org/drawingml/2006/main" noGrp="1"/>
          </p:cNvSpPr>
          <p:nvPr/>
        </p:nvSpPr>
        <p:spPr>
          <a:xfrm xmlns:a="http://schemas.openxmlformats.org/drawingml/2006/main">
            <a:off x="3505200" y="1638300"/>
            <a:ext cx="1651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b="1">
                <a:solidFill>
                  <a:schemeClr val="accent1"/>
                </a:solidFill>
                <a:latin typeface="Lato"/>
                <a:ea typeface="Lato"/>
                <a:cs typeface="Lato"/>
              </a:rPr>
              <a:t>Gross imports</a:t>
            </a:r>
          </a:p>
        </p:txBody>
      </p:sp>
      <p:sp>
        <p:nvSpPr>
          <p:cNvPr id="96" name="Term heading exports">
            <a:extLst xmlns:a="http://schemas.openxmlformats.org/drawingml/2006/main">
              <a:ext uri="{FF2B5EF4-FFF2-40B4-BE49-F238E27FC236}">
                <a16:creationId xmlns:a16="http://schemas.microsoft.com/office/drawing/2014/main" id="{1FC0356D-810B-C0B6-F58B-AC5F24D340BB}"/>
              </a:ext>
            </a:extLst>
          </p:cNvPr>
          <p:cNvSpPr>
            <a:spLocks xmlns:a="http://schemas.openxmlformats.org/drawingml/2006/main" noGrp="1"/>
          </p:cNvSpPr>
          <p:nvPr/>
        </p:nvSpPr>
        <p:spPr>
          <a:xfrm xmlns:a="http://schemas.openxmlformats.org/drawingml/2006/main">
            <a:off x="5473700" y="1638300"/>
            <a:ext cx="1651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b="1">
                <a:solidFill>
                  <a:schemeClr val="accent1"/>
                </a:solidFill>
                <a:latin typeface="Lato"/>
                <a:ea typeface="Lato"/>
                <a:cs typeface="Lato"/>
              </a:rPr>
              <a:t>Exports</a:t>
            </a:r>
          </a:p>
        </p:txBody>
      </p:sp>
      <p:sp>
        <p:nvSpPr>
          <p:cNvPr id="97" name="Term heading sales">
            <a:extLst xmlns:a="http://schemas.openxmlformats.org/drawingml/2006/main">
              <a:ext uri="{FF2B5EF4-FFF2-40B4-BE49-F238E27FC236}">
                <a16:creationId xmlns:a16="http://schemas.microsoft.com/office/drawing/2014/main" id="{06364C64-4ECC-19D3-8E89-8B6BED0ECF90}"/>
              </a:ext>
            </a:extLst>
          </p:cNvPr>
          <p:cNvSpPr>
            <a:spLocks xmlns:a="http://schemas.openxmlformats.org/drawingml/2006/main" noGrp="1"/>
          </p:cNvSpPr>
          <p:nvPr/>
        </p:nvSpPr>
        <p:spPr>
          <a:xfrm xmlns:a="http://schemas.openxmlformats.org/drawingml/2006/main">
            <a:off x="7442200" y="1638300"/>
            <a:ext cx="1651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b="1">
                <a:solidFill>
                  <a:schemeClr val="accent1"/>
                </a:solidFill>
                <a:latin typeface="Lato"/>
                <a:ea typeface="Lato"/>
                <a:cs typeface="Lato"/>
              </a:rPr>
              <a:t>Sales</a:t>
            </a:r>
          </a:p>
        </p:txBody>
      </p:sp>
      <p:sp>
        <p:nvSpPr>
          <p:cNvPr id="98" name="Term heading supply_less_sales">
            <a:extLst xmlns:a="http://schemas.openxmlformats.org/drawingml/2006/main">
              <a:ext uri="{FF2B5EF4-FFF2-40B4-BE49-F238E27FC236}">
                <a16:creationId xmlns:a16="http://schemas.microsoft.com/office/drawing/2014/main" id="{9FF410DD-AF05-8CE3-205B-9AF65276D0F4}"/>
              </a:ext>
            </a:extLst>
          </p:cNvPr>
          <p:cNvSpPr>
            <a:spLocks xmlns:a="http://schemas.openxmlformats.org/drawingml/2006/main" noGrp="1"/>
          </p:cNvSpPr>
          <p:nvPr/>
        </p:nvSpPr>
        <p:spPr>
          <a:xfrm xmlns:a="http://schemas.openxmlformats.org/drawingml/2006/main">
            <a:off x="9410700" y="1638300"/>
            <a:ext cx="1651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b="1">
                <a:solidFill>
                  <a:schemeClr val="accent1"/>
                </a:solidFill>
                <a:latin typeface="Lato"/>
                <a:ea typeface="Lato"/>
                <a:cs typeface="Lato"/>
              </a:rPr>
              <a:t>Supply less sales</a:t>
            </a:r>
          </a:p>
        </p:txBody>
      </p:sp>
      <p:cxnSp>
        <p:nvCxnSpPr>
          <p:cNvPr id="167" name="Equation heading rule"/>
          <p:cNvCxnSpPr/>
          <p:nvPr/>
        </p:nvCxnSpPr>
        <p:spPr>
          <a:xfrm xmlns:a="http://schemas.openxmlformats.org/drawingml/2006/main">
            <a:off x="457200" y="1917700"/>
            <a:ext cx="106045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0" name="Year 2019">
            <a:extLst xmlns:a="http://schemas.openxmlformats.org/drawingml/2006/main">
              <a:ext uri="{FF2B5EF4-FFF2-40B4-BE49-F238E27FC236}">
                <a16:creationId xmlns:a16="http://schemas.microsoft.com/office/drawing/2014/main" id="{C7C6C0C1-F9FC-FF7C-425F-AE18FB8FC4B4}"/>
              </a:ext>
            </a:extLst>
          </p:cNvPr>
          <p:cNvSpPr>
            <a:spLocks xmlns:a="http://schemas.openxmlformats.org/drawingml/2006/main" noGrp="1"/>
          </p:cNvSpPr>
          <p:nvPr/>
        </p:nvSpPr>
        <p:spPr>
          <a:xfrm xmlns:a="http://schemas.openxmlformats.org/drawingml/2006/main">
            <a:off x="457200" y="2108199"/>
            <a:ext cx="9906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400" b="1">
                <a:solidFill>
                  <a:schemeClr val="accent1"/>
                </a:solidFill>
                <a:latin typeface="Lato"/>
                <a:ea typeface="Lato"/>
                <a:cs typeface="Lato"/>
              </a:rPr>
              <a:t>2019</a:t>
            </a:r>
          </a:p>
          <a:p xmlns:a="http://schemas.openxmlformats.org/drawingml/2006/main">
            <a:pPr>
              <a:spcAft>
                <a:spcPts val="200"/>
              </a:spcAft>
              <a:buNone/>
            </a:pPr>
            <a:r>
              <a:rPr sz="900">
                <a:solidFill>
                  <a:schemeClr val="dk1"/>
                </a:solidFill>
                <a:latin typeface="Lato"/>
                <a:ea typeface="Lato"/>
                <a:cs typeface="Lato"/>
              </a:rPr>
              <a:t>Energy balance, customs, sales</a:t>
            </a:r>
            <a:endParaRPr sz="900">
              <a:solidFill>
                <a:schemeClr val="dk1"/>
              </a:solidFill>
              <a:latin typeface="Lato"/>
              <a:ea typeface="Lato"/>
              <a:cs typeface="Lato"/>
            </a:endParaRPr>
          </a:p>
        </p:txBody>
      </p:sp>
      <p:sp>
        <p:nvSpPr>
          <p:cNvPr id="101" name="Balance 2019 production">
            <a:extLst xmlns:a="http://schemas.openxmlformats.org/drawingml/2006/main">
              <a:ext uri="{FF2B5EF4-FFF2-40B4-BE49-F238E27FC236}">
                <a16:creationId xmlns:a16="http://schemas.microsoft.com/office/drawing/2014/main" id="{8793FF46-BDEC-ED71-F0E1-C2A0BAF3FFF5}"/>
              </a:ext>
            </a:extLst>
          </p:cNvPr>
          <p:cNvSpPr>
            <a:spLocks xmlns:a="http://schemas.openxmlformats.org/drawingml/2006/main" noGrp="1"/>
          </p:cNvSpPr>
          <p:nvPr/>
        </p:nvSpPr>
        <p:spPr>
          <a:xfrm xmlns:a="http://schemas.openxmlformats.org/drawingml/2006/main">
            <a:off x="1536700" y="20320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19.5B L</a:t>
            </a:r>
          </a:p>
          <a:p xmlns:a="http://schemas.openxmlformats.org/drawingml/2006/main">
            <a:pPr>
              <a:spcAft>
                <a:spcPts val="200"/>
              </a:spcAft>
              <a:buNone/>
            </a:pPr>
            <a:r>
              <a:rPr sz="950">
                <a:solidFill>
                  <a:schemeClr val="dk1"/>
                </a:solidFill>
                <a:latin typeface="Lato"/>
                <a:ea typeface="Lato"/>
                <a:cs typeface="Lato"/>
              </a:rPr>
              <a:t>Petrol 10.4 · diesel 9.1</a:t>
            </a:r>
          </a:p>
        </p:txBody>
      </p:sp>
      <p:sp>
        <p:nvSpPr>
          <p:cNvPr id="102" name="Balance 2019 production tag">
            <a:extLst xmlns:a="http://schemas.openxmlformats.org/drawingml/2006/main">
              <a:ext uri="{FF2B5EF4-FFF2-40B4-BE49-F238E27FC236}">
                <a16:creationId xmlns:a16="http://schemas.microsoft.com/office/drawing/2014/main" id="{6088C2A8-2742-1F2C-94D7-443FC33F1A3B}"/>
              </a:ext>
            </a:extLst>
          </p:cNvPr>
          <p:cNvSpPr>
            <a:spLocks xmlns:a="http://schemas.openxmlformats.org/drawingml/2006/main" noGrp="1"/>
          </p:cNvSpPr>
          <p:nvPr/>
        </p:nvSpPr>
        <p:spPr>
          <a:xfrm xmlns:a="http://schemas.openxmlformats.org/drawingml/2006/main">
            <a:off x="1612900" y="26289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observed · DR01</a:t>
            </a:r>
          </a:p>
        </p:txBody>
      </p:sp>
      <p:sp>
        <p:nvSpPr>
          <p:cNvPr id="103" name="Operator 2019 0">
            <a:extLst xmlns:a="http://schemas.openxmlformats.org/drawingml/2006/main">
              <a:ext uri="{FF2B5EF4-FFF2-40B4-BE49-F238E27FC236}">
                <a16:creationId xmlns:a16="http://schemas.microsoft.com/office/drawing/2014/main" id="{8FBEB7AC-CD71-D014-6B6C-EDE055EA6886}"/>
              </a:ext>
            </a:extLst>
          </p:cNvPr>
          <p:cNvSpPr>
            <a:spLocks xmlns:a="http://schemas.openxmlformats.org/drawingml/2006/main" noGrp="1"/>
          </p:cNvSpPr>
          <p:nvPr/>
        </p:nvSpPr>
        <p:spPr>
          <a:xfrm xmlns:a="http://schemas.openxmlformats.org/drawingml/2006/main">
            <a:off x="3187700" y="22859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04" name="Balance 2019 imports">
            <a:extLst xmlns:a="http://schemas.openxmlformats.org/drawingml/2006/main">
              <a:ext uri="{FF2B5EF4-FFF2-40B4-BE49-F238E27FC236}">
                <a16:creationId xmlns:a16="http://schemas.microsoft.com/office/drawing/2014/main" id="{75C03FF0-4016-958E-A196-502118E05687}"/>
              </a:ext>
            </a:extLst>
          </p:cNvPr>
          <p:cNvSpPr>
            <a:spLocks xmlns:a="http://schemas.openxmlformats.org/drawingml/2006/main" noGrp="1"/>
          </p:cNvSpPr>
          <p:nvPr/>
        </p:nvSpPr>
        <p:spPr>
          <a:xfrm xmlns:a="http://schemas.openxmlformats.org/drawingml/2006/main">
            <a:off x="3505200" y="20320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7.1B L</a:t>
            </a:r>
          </a:p>
          <a:p xmlns:a="http://schemas.openxmlformats.org/drawingml/2006/main">
            <a:pPr>
              <a:spcAft>
                <a:spcPts val="200"/>
              </a:spcAft>
              <a:buNone/>
            </a:pPr>
            <a:r>
              <a:rPr sz="950">
                <a:solidFill>
                  <a:schemeClr val="dk1"/>
                </a:solidFill>
                <a:latin typeface="Lato"/>
                <a:ea typeface="Lato"/>
                <a:cs typeface="Lato"/>
              </a:rPr>
              <a:t>Petrol 1.5 · diesel 5.6</a:t>
            </a:r>
          </a:p>
        </p:txBody>
      </p:sp>
      <p:sp>
        <p:nvSpPr>
          <p:cNvPr id="105" name="Balance 2019 imports tag">
            <a:extLst xmlns:a="http://schemas.openxmlformats.org/drawingml/2006/main">
              <a:ext uri="{FF2B5EF4-FFF2-40B4-BE49-F238E27FC236}">
                <a16:creationId xmlns:a16="http://schemas.microsoft.com/office/drawing/2014/main" id="{6641D113-4915-C3C7-B465-604E97E7A040}"/>
              </a:ext>
            </a:extLst>
          </p:cNvPr>
          <p:cNvSpPr>
            <a:spLocks xmlns:a="http://schemas.openxmlformats.org/drawingml/2006/main" noGrp="1"/>
          </p:cNvSpPr>
          <p:nvPr/>
        </p:nvSpPr>
        <p:spPr>
          <a:xfrm xmlns:a="http://schemas.openxmlformats.org/drawingml/2006/main">
            <a:off x="3581400" y="26289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customs · DR01</a:t>
            </a:r>
          </a:p>
        </p:txBody>
      </p:sp>
      <p:sp>
        <p:nvSpPr>
          <p:cNvPr id="106" name="Operator 2019 1">
            <a:extLst xmlns:a="http://schemas.openxmlformats.org/drawingml/2006/main">
              <a:ext uri="{FF2B5EF4-FFF2-40B4-BE49-F238E27FC236}">
                <a16:creationId xmlns:a16="http://schemas.microsoft.com/office/drawing/2014/main" id="{DC62A3FA-EE08-10F0-D3F7-CB1050F13835}"/>
              </a:ext>
            </a:extLst>
          </p:cNvPr>
          <p:cNvSpPr>
            <a:spLocks xmlns:a="http://schemas.openxmlformats.org/drawingml/2006/main" noGrp="1"/>
          </p:cNvSpPr>
          <p:nvPr/>
        </p:nvSpPr>
        <p:spPr>
          <a:xfrm xmlns:a="http://schemas.openxmlformats.org/drawingml/2006/main">
            <a:off x="5156200" y="22859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07" name="Balance 2019 exports">
            <a:extLst xmlns:a="http://schemas.openxmlformats.org/drawingml/2006/main">
              <a:ext uri="{FF2B5EF4-FFF2-40B4-BE49-F238E27FC236}">
                <a16:creationId xmlns:a16="http://schemas.microsoft.com/office/drawing/2014/main" id="{595A774B-0D02-7F2D-6017-2B8BB7C2DCED}"/>
              </a:ext>
            </a:extLst>
          </p:cNvPr>
          <p:cNvSpPr>
            <a:spLocks xmlns:a="http://schemas.openxmlformats.org/drawingml/2006/main" noGrp="1"/>
          </p:cNvSpPr>
          <p:nvPr/>
        </p:nvSpPr>
        <p:spPr>
          <a:xfrm xmlns:a="http://schemas.openxmlformats.org/drawingml/2006/main">
            <a:off x="5473700" y="20320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2.9B L</a:t>
            </a:r>
          </a:p>
          <a:p xmlns:a="http://schemas.openxmlformats.org/drawingml/2006/main">
            <a:pPr>
              <a:spcAft>
                <a:spcPts val="200"/>
              </a:spcAft>
              <a:buNone/>
            </a:pPr>
            <a:r>
              <a:rPr sz="950">
                <a:solidFill>
                  <a:schemeClr val="dk1"/>
                </a:solidFill>
                <a:latin typeface="Lato"/>
                <a:ea typeface="Lato"/>
                <a:cs typeface="Lato"/>
              </a:rPr>
              <a:t>Petrol 1.2 · diesel 1.7</a:t>
            </a:r>
          </a:p>
        </p:txBody>
      </p:sp>
      <p:sp>
        <p:nvSpPr>
          <p:cNvPr id="108" name="Balance 2019 exports tag">
            <a:extLst xmlns:a="http://schemas.openxmlformats.org/drawingml/2006/main">
              <a:ext uri="{FF2B5EF4-FFF2-40B4-BE49-F238E27FC236}">
                <a16:creationId xmlns:a16="http://schemas.microsoft.com/office/drawing/2014/main" id="{6000E00C-7842-5E18-1839-4567B7C076FC}"/>
              </a:ext>
            </a:extLst>
          </p:cNvPr>
          <p:cNvSpPr>
            <a:spLocks xmlns:a="http://schemas.openxmlformats.org/drawingml/2006/main" noGrp="1"/>
          </p:cNvSpPr>
          <p:nvPr/>
        </p:nvSpPr>
        <p:spPr>
          <a:xfrm xmlns:a="http://schemas.openxmlformats.org/drawingml/2006/main">
            <a:off x="5549900" y="26289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customs · DR01</a:t>
            </a:r>
          </a:p>
        </p:txBody>
      </p:sp>
      <p:sp>
        <p:nvSpPr>
          <p:cNvPr id="109" name="Operator 2019 2">
            <a:extLst xmlns:a="http://schemas.openxmlformats.org/drawingml/2006/main">
              <a:ext uri="{FF2B5EF4-FFF2-40B4-BE49-F238E27FC236}">
                <a16:creationId xmlns:a16="http://schemas.microsoft.com/office/drawing/2014/main" id="{5BB12999-4C85-3CEE-5667-DD07D885E007}"/>
              </a:ext>
            </a:extLst>
          </p:cNvPr>
          <p:cNvSpPr>
            <a:spLocks xmlns:a="http://schemas.openxmlformats.org/drawingml/2006/main" noGrp="1"/>
          </p:cNvSpPr>
          <p:nvPr/>
        </p:nvSpPr>
        <p:spPr>
          <a:xfrm xmlns:a="http://schemas.openxmlformats.org/drawingml/2006/main">
            <a:off x="7124700" y="22859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10" name="Balance 2019 sales">
            <a:extLst xmlns:a="http://schemas.openxmlformats.org/drawingml/2006/main">
              <a:ext uri="{FF2B5EF4-FFF2-40B4-BE49-F238E27FC236}">
                <a16:creationId xmlns:a16="http://schemas.microsoft.com/office/drawing/2014/main" id="{A7A3F402-AF30-9770-CF81-2844F0AE9A6D}"/>
              </a:ext>
            </a:extLst>
          </p:cNvPr>
          <p:cNvSpPr>
            <a:spLocks xmlns:a="http://schemas.openxmlformats.org/drawingml/2006/main" noGrp="1"/>
          </p:cNvSpPr>
          <p:nvPr/>
        </p:nvSpPr>
        <p:spPr>
          <a:xfrm xmlns:a="http://schemas.openxmlformats.org/drawingml/2006/main">
            <a:off x="7442200" y="20320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23.7B L</a:t>
            </a:r>
          </a:p>
          <a:p xmlns:a="http://schemas.openxmlformats.org/drawingml/2006/main">
            <a:pPr>
              <a:spcAft>
                <a:spcPts val="200"/>
              </a:spcAft>
              <a:buNone/>
            </a:pPr>
            <a:r>
              <a:rPr sz="950">
                <a:solidFill>
                  <a:schemeClr val="dk1"/>
                </a:solidFill>
                <a:latin typeface="Lato"/>
                <a:ea typeface="Lato"/>
                <a:cs typeface="Lato"/>
              </a:rPr>
              <a:t>Petrol 10.8 · diesel 12.9</a:t>
            </a:r>
          </a:p>
        </p:txBody>
      </p:sp>
      <p:sp>
        <p:nvSpPr>
          <p:cNvPr id="111" name="Balance 2019 sales tag">
            <a:extLst xmlns:a="http://schemas.openxmlformats.org/drawingml/2006/main">
              <a:ext uri="{FF2B5EF4-FFF2-40B4-BE49-F238E27FC236}">
                <a16:creationId xmlns:a16="http://schemas.microsoft.com/office/drawing/2014/main" id="{3C89BC3A-9D9F-5B8D-99E2-5E849ABC06CC}"/>
              </a:ext>
            </a:extLst>
          </p:cNvPr>
          <p:cNvSpPr>
            <a:spLocks xmlns:a="http://schemas.openxmlformats.org/drawingml/2006/main" noGrp="1"/>
          </p:cNvSpPr>
          <p:nvPr/>
        </p:nvSpPr>
        <p:spPr>
          <a:xfrm xmlns:a="http://schemas.openxmlformats.org/drawingml/2006/main">
            <a:off x="7518400" y="26289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observed · DR01</a:t>
            </a:r>
          </a:p>
        </p:txBody>
      </p:sp>
      <p:sp>
        <p:nvSpPr>
          <p:cNvPr id="112" name="Operator 2019 3">
            <a:extLst xmlns:a="http://schemas.openxmlformats.org/drawingml/2006/main">
              <a:ext uri="{FF2B5EF4-FFF2-40B4-BE49-F238E27FC236}">
                <a16:creationId xmlns:a16="http://schemas.microsoft.com/office/drawing/2014/main" id="{9D813D0A-FB30-2666-F9F9-444BF0E4ECEA}"/>
              </a:ext>
            </a:extLst>
          </p:cNvPr>
          <p:cNvSpPr>
            <a:spLocks xmlns:a="http://schemas.openxmlformats.org/drawingml/2006/main" noGrp="1"/>
          </p:cNvSpPr>
          <p:nvPr/>
        </p:nvSpPr>
        <p:spPr>
          <a:xfrm xmlns:a="http://schemas.openxmlformats.org/drawingml/2006/main">
            <a:off x="9093200" y="22859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13" name="Balance 2019 supply_less_sales">
            <a:extLst xmlns:a="http://schemas.openxmlformats.org/drawingml/2006/main">
              <a:ext uri="{FF2B5EF4-FFF2-40B4-BE49-F238E27FC236}">
                <a16:creationId xmlns:a16="http://schemas.microsoft.com/office/drawing/2014/main" id="{36B44F4C-D7BC-F030-F9CB-0140A84144E7}"/>
              </a:ext>
            </a:extLst>
          </p:cNvPr>
          <p:cNvSpPr>
            <a:spLocks xmlns:a="http://schemas.openxmlformats.org/drawingml/2006/main" noGrp="1"/>
          </p:cNvSpPr>
          <p:nvPr/>
        </p:nvSpPr>
        <p:spPr>
          <a:xfrm xmlns:a="http://schemas.openxmlformats.org/drawingml/2006/main">
            <a:off x="9410700" y="20320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0.0B L</a:t>
            </a:r>
          </a:p>
          <a:p xmlns:a="http://schemas.openxmlformats.org/drawingml/2006/main">
            <a:pPr>
              <a:spcAft>
                <a:spcPts val="200"/>
              </a:spcAft>
              <a:buNone/>
            </a:pPr>
            <a:r>
              <a:rPr sz="950">
                <a:solidFill>
                  <a:schemeClr val="dk1"/>
                </a:solidFill>
                <a:latin typeface="Lato"/>
                <a:ea typeface="Lato"/>
                <a:cs typeface="Lato"/>
              </a:rPr>
              <a:t>Petrol 0.0 · diesel 0.0</a:t>
            </a:r>
          </a:p>
        </p:txBody>
      </p:sp>
      <p:sp>
        <p:nvSpPr>
          <p:cNvPr id="114" name="Balance 2019 supply_less_sales tag">
            <a:extLst xmlns:a="http://schemas.openxmlformats.org/drawingml/2006/main">
              <a:ext uri="{FF2B5EF4-FFF2-40B4-BE49-F238E27FC236}">
                <a16:creationId xmlns:a16="http://schemas.microsoft.com/office/drawing/2014/main" id="{BDF00586-C6B5-2AC3-3810-3BB10A239DDF}"/>
              </a:ext>
            </a:extLst>
          </p:cNvPr>
          <p:cNvSpPr>
            <a:spLocks xmlns:a="http://schemas.openxmlformats.org/drawingml/2006/main" noGrp="1"/>
          </p:cNvSpPr>
          <p:nvPr/>
        </p:nvSpPr>
        <p:spPr>
          <a:xfrm xmlns:a="http://schemas.openxmlformats.org/drawingml/2006/main">
            <a:off x="9486900" y="26289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Stocks + stat. difference</a:t>
            </a:r>
          </a:p>
        </p:txBody>
      </p:sp>
      <p:sp>
        <p:nvSpPr>
          <p:cNvPr id="115" name="Year 2021">
            <a:extLst xmlns:a="http://schemas.openxmlformats.org/drawingml/2006/main">
              <a:ext uri="{FF2B5EF4-FFF2-40B4-BE49-F238E27FC236}">
                <a16:creationId xmlns:a16="http://schemas.microsoft.com/office/drawing/2014/main" id="{0C7E7682-6DAC-9F65-7F1D-7503F944E248}"/>
              </a:ext>
            </a:extLst>
          </p:cNvPr>
          <p:cNvSpPr>
            <a:spLocks xmlns:a="http://schemas.openxmlformats.org/drawingml/2006/main" noGrp="1"/>
          </p:cNvSpPr>
          <p:nvPr/>
        </p:nvSpPr>
        <p:spPr>
          <a:xfrm xmlns:a="http://schemas.openxmlformats.org/drawingml/2006/main">
            <a:off x="457200" y="3022599"/>
            <a:ext cx="9906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400" b="1">
                <a:solidFill>
                  <a:schemeClr val="accent1"/>
                </a:solidFill>
                <a:latin typeface="Lato"/>
                <a:ea typeface="Lato"/>
                <a:cs typeface="Lato"/>
              </a:rPr>
              <a:t>2021</a:t>
            </a:r>
          </a:p>
          <a:p xmlns:a="http://schemas.openxmlformats.org/drawingml/2006/main">
            <a:pPr>
              <a:spcAft>
                <a:spcPts val="200"/>
              </a:spcAft>
              <a:buNone/>
            </a:pPr>
            <a:r>
              <a:rPr sz="900">
                <a:solidFill>
                  <a:schemeClr val="dk1"/>
                </a:solidFill>
                <a:latin typeface="Lato"/>
                <a:ea typeface="Lato"/>
                <a:cs typeface="Lato"/>
              </a:rPr>
              <a:t>Energy balance, customs, sales</a:t>
            </a:r>
            <a:endParaRPr sz="900">
              <a:solidFill>
                <a:schemeClr val="dk1"/>
              </a:solidFill>
              <a:latin typeface="Lato"/>
              <a:ea typeface="Lato"/>
              <a:cs typeface="Lato"/>
            </a:endParaRPr>
          </a:p>
        </p:txBody>
      </p:sp>
      <p:sp>
        <p:nvSpPr>
          <p:cNvPr id="116" name="Balance 2021 production">
            <a:extLst xmlns:a="http://schemas.openxmlformats.org/drawingml/2006/main">
              <a:ext uri="{FF2B5EF4-FFF2-40B4-BE49-F238E27FC236}">
                <a16:creationId xmlns:a16="http://schemas.microsoft.com/office/drawing/2014/main" id="{8819DCB4-11BC-72BA-E58A-945B16554D77}"/>
              </a:ext>
            </a:extLst>
          </p:cNvPr>
          <p:cNvSpPr>
            <a:spLocks xmlns:a="http://schemas.openxmlformats.org/drawingml/2006/main" noGrp="1"/>
          </p:cNvSpPr>
          <p:nvPr/>
        </p:nvSpPr>
        <p:spPr>
          <a:xfrm xmlns:a="http://schemas.openxmlformats.org/drawingml/2006/main">
            <a:off x="1536700" y="29464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11.7B L</a:t>
            </a:r>
          </a:p>
          <a:p xmlns:a="http://schemas.openxmlformats.org/drawingml/2006/main">
            <a:pPr>
              <a:spcAft>
                <a:spcPts val="200"/>
              </a:spcAft>
              <a:buNone/>
            </a:pPr>
            <a:r>
              <a:rPr sz="950">
                <a:solidFill>
                  <a:schemeClr val="dk1"/>
                </a:solidFill>
                <a:latin typeface="Lato"/>
                <a:ea typeface="Lato"/>
                <a:cs typeface="Lato"/>
              </a:rPr>
              <a:t>Petrol 6.4 · diesel 5.3</a:t>
            </a:r>
          </a:p>
        </p:txBody>
      </p:sp>
      <p:sp>
        <p:nvSpPr>
          <p:cNvPr id="117" name="Balance 2021 production tag">
            <a:extLst xmlns:a="http://schemas.openxmlformats.org/drawingml/2006/main">
              <a:ext uri="{FF2B5EF4-FFF2-40B4-BE49-F238E27FC236}">
                <a16:creationId xmlns:a16="http://schemas.microsoft.com/office/drawing/2014/main" id="{E9C553BF-4C41-DECE-2D77-2D3D4B7DF3B3}"/>
              </a:ext>
            </a:extLst>
          </p:cNvPr>
          <p:cNvSpPr>
            <a:spLocks xmlns:a="http://schemas.openxmlformats.org/drawingml/2006/main" noGrp="1"/>
          </p:cNvSpPr>
          <p:nvPr/>
        </p:nvSpPr>
        <p:spPr>
          <a:xfrm xmlns:a="http://schemas.openxmlformats.org/drawingml/2006/main">
            <a:off x="1612900" y="35433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observed · DR01</a:t>
            </a:r>
          </a:p>
        </p:txBody>
      </p:sp>
      <p:sp>
        <p:nvSpPr>
          <p:cNvPr id="118" name="Operator 2021 0">
            <a:extLst xmlns:a="http://schemas.openxmlformats.org/drawingml/2006/main">
              <a:ext uri="{FF2B5EF4-FFF2-40B4-BE49-F238E27FC236}">
                <a16:creationId xmlns:a16="http://schemas.microsoft.com/office/drawing/2014/main" id="{D82C0C40-9D89-8107-FEC8-FC261C351389}"/>
              </a:ext>
            </a:extLst>
          </p:cNvPr>
          <p:cNvSpPr>
            <a:spLocks xmlns:a="http://schemas.openxmlformats.org/drawingml/2006/main" noGrp="1"/>
          </p:cNvSpPr>
          <p:nvPr/>
        </p:nvSpPr>
        <p:spPr>
          <a:xfrm xmlns:a="http://schemas.openxmlformats.org/drawingml/2006/main">
            <a:off x="3187700" y="32003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19" name="Balance 2021 imports">
            <a:extLst xmlns:a="http://schemas.openxmlformats.org/drawingml/2006/main">
              <a:ext uri="{FF2B5EF4-FFF2-40B4-BE49-F238E27FC236}">
                <a16:creationId xmlns:a16="http://schemas.microsoft.com/office/drawing/2014/main" id="{9ABB3B85-E3F2-7C8F-BED5-FCB813DD12A7}"/>
              </a:ext>
            </a:extLst>
          </p:cNvPr>
          <p:cNvSpPr>
            <a:spLocks xmlns:a="http://schemas.openxmlformats.org/drawingml/2006/main" noGrp="1"/>
          </p:cNvSpPr>
          <p:nvPr/>
        </p:nvSpPr>
        <p:spPr>
          <a:xfrm xmlns:a="http://schemas.openxmlformats.org/drawingml/2006/main">
            <a:off x="3505200" y="29464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13.8B L</a:t>
            </a:r>
          </a:p>
          <a:p xmlns:a="http://schemas.openxmlformats.org/drawingml/2006/main">
            <a:pPr>
              <a:spcAft>
                <a:spcPts val="200"/>
              </a:spcAft>
              <a:buNone/>
            </a:pPr>
            <a:r>
              <a:rPr sz="950">
                <a:solidFill>
                  <a:schemeClr val="dk1"/>
                </a:solidFill>
                <a:latin typeface="Lato"/>
                <a:ea typeface="Lato"/>
                <a:cs typeface="Lato"/>
              </a:rPr>
              <a:t>Petrol 4.0 · diesel 9.8</a:t>
            </a:r>
          </a:p>
        </p:txBody>
      </p:sp>
      <p:sp>
        <p:nvSpPr>
          <p:cNvPr id="120" name="Balance 2021 imports tag">
            <a:extLst xmlns:a="http://schemas.openxmlformats.org/drawingml/2006/main">
              <a:ext uri="{FF2B5EF4-FFF2-40B4-BE49-F238E27FC236}">
                <a16:creationId xmlns:a16="http://schemas.microsoft.com/office/drawing/2014/main" id="{935C7730-A0A5-AEE1-4710-919AF45F4517}"/>
              </a:ext>
            </a:extLst>
          </p:cNvPr>
          <p:cNvSpPr>
            <a:spLocks xmlns:a="http://schemas.openxmlformats.org/drawingml/2006/main" noGrp="1"/>
          </p:cNvSpPr>
          <p:nvPr/>
        </p:nvSpPr>
        <p:spPr>
          <a:xfrm xmlns:a="http://schemas.openxmlformats.org/drawingml/2006/main">
            <a:off x="3581400" y="35433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customs · DR01</a:t>
            </a:r>
          </a:p>
        </p:txBody>
      </p:sp>
      <p:sp>
        <p:nvSpPr>
          <p:cNvPr id="121" name="Operator 2021 1">
            <a:extLst xmlns:a="http://schemas.openxmlformats.org/drawingml/2006/main">
              <a:ext uri="{FF2B5EF4-FFF2-40B4-BE49-F238E27FC236}">
                <a16:creationId xmlns:a16="http://schemas.microsoft.com/office/drawing/2014/main" id="{BD172232-F2D1-AA2C-63D0-48717F5A546C}"/>
              </a:ext>
            </a:extLst>
          </p:cNvPr>
          <p:cNvSpPr>
            <a:spLocks xmlns:a="http://schemas.openxmlformats.org/drawingml/2006/main" noGrp="1"/>
          </p:cNvSpPr>
          <p:nvPr/>
        </p:nvSpPr>
        <p:spPr>
          <a:xfrm xmlns:a="http://schemas.openxmlformats.org/drawingml/2006/main">
            <a:off x="5156200" y="32003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22" name="Balance 2021 exports">
            <a:extLst xmlns:a="http://schemas.openxmlformats.org/drawingml/2006/main">
              <a:ext uri="{FF2B5EF4-FFF2-40B4-BE49-F238E27FC236}">
                <a16:creationId xmlns:a16="http://schemas.microsoft.com/office/drawing/2014/main" id="{FE15F966-873B-F97F-CC2B-AAE62F553F89}"/>
              </a:ext>
            </a:extLst>
          </p:cNvPr>
          <p:cNvSpPr>
            <a:spLocks xmlns:a="http://schemas.openxmlformats.org/drawingml/2006/main" noGrp="1"/>
          </p:cNvSpPr>
          <p:nvPr/>
        </p:nvSpPr>
        <p:spPr>
          <a:xfrm xmlns:a="http://schemas.openxmlformats.org/drawingml/2006/main">
            <a:off x="5473700" y="29464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1.9B L</a:t>
            </a:r>
          </a:p>
          <a:p xmlns:a="http://schemas.openxmlformats.org/drawingml/2006/main">
            <a:pPr>
              <a:spcAft>
                <a:spcPts val="200"/>
              </a:spcAft>
              <a:buNone/>
            </a:pPr>
            <a:r>
              <a:rPr sz="950">
                <a:solidFill>
                  <a:schemeClr val="dk1"/>
                </a:solidFill>
                <a:latin typeface="Lato"/>
                <a:ea typeface="Lato"/>
                <a:cs typeface="Lato"/>
              </a:rPr>
              <a:t>Petrol 1.1 · diesel 0.9</a:t>
            </a:r>
          </a:p>
        </p:txBody>
      </p:sp>
      <p:sp>
        <p:nvSpPr>
          <p:cNvPr id="123" name="Balance 2021 exports tag">
            <a:extLst xmlns:a="http://schemas.openxmlformats.org/drawingml/2006/main">
              <a:ext uri="{FF2B5EF4-FFF2-40B4-BE49-F238E27FC236}">
                <a16:creationId xmlns:a16="http://schemas.microsoft.com/office/drawing/2014/main" id="{FCDC4F3C-CF6A-D5CA-F5B3-98F733CCE056}"/>
              </a:ext>
            </a:extLst>
          </p:cNvPr>
          <p:cNvSpPr>
            <a:spLocks xmlns:a="http://schemas.openxmlformats.org/drawingml/2006/main" noGrp="1"/>
          </p:cNvSpPr>
          <p:nvPr/>
        </p:nvSpPr>
        <p:spPr>
          <a:xfrm xmlns:a="http://schemas.openxmlformats.org/drawingml/2006/main">
            <a:off x="5549900" y="35433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customs · DR01</a:t>
            </a:r>
          </a:p>
        </p:txBody>
      </p:sp>
      <p:sp>
        <p:nvSpPr>
          <p:cNvPr id="124" name="Operator 2021 2">
            <a:extLst xmlns:a="http://schemas.openxmlformats.org/drawingml/2006/main">
              <a:ext uri="{FF2B5EF4-FFF2-40B4-BE49-F238E27FC236}">
                <a16:creationId xmlns:a16="http://schemas.microsoft.com/office/drawing/2014/main" id="{DD57F84D-F7F0-4A80-72C8-F6875EBE09E5}"/>
              </a:ext>
            </a:extLst>
          </p:cNvPr>
          <p:cNvSpPr>
            <a:spLocks xmlns:a="http://schemas.openxmlformats.org/drawingml/2006/main" noGrp="1"/>
          </p:cNvSpPr>
          <p:nvPr/>
        </p:nvSpPr>
        <p:spPr>
          <a:xfrm xmlns:a="http://schemas.openxmlformats.org/drawingml/2006/main">
            <a:off x="7124700" y="32003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25" name="Balance 2021 sales">
            <a:extLst xmlns:a="http://schemas.openxmlformats.org/drawingml/2006/main">
              <a:ext uri="{FF2B5EF4-FFF2-40B4-BE49-F238E27FC236}">
                <a16:creationId xmlns:a16="http://schemas.microsoft.com/office/drawing/2014/main" id="{BF4A0810-47C6-BDC0-204A-5187AE2CADEA}"/>
              </a:ext>
            </a:extLst>
          </p:cNvPr>
          <p:cNvSpPr>
            <a:spLocks xmlns:a="http://schemas.openxmlformats.org/drawingml/2006/main" noGrp="1"/>
          </p:cNvSpPr>
          <p:nvPr/>
        </p:nvSpPr>
        <p:spPr>
          <a:xfrm xmlns:a="http://schemas.openxmlformats.org/drawingml/2006/main">
            <a:off x="7442200" y="29464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22.2B L</a:t>
            </a:r>
          </a:p>
          <a:p xmlns:a="http://schemas.openxmlformats.org/drawingml/2006/main">
            <a:pPr>
              <a:spcAft>
                <a:spcPts val="200"/>
              </a:spcAft>
              <a:buNone/>
            </a:pPr>
            <a:r>
              <a:rPr sz="950">
                <a:solidFill>
                  <a:schemeClr val="dk1"/>
                </a:solidFill>
                <a:latin typeface="Lato"/>
                <a:ea typeface="Lato"/>
                <a:cs typeface="Lato"/>
              </a:rPr>
              <a:t>Petrol 9.3 · diesel 12.9</a:t>
            </a:r>
          </a:p>
        </p:txBody>
      </p:sp>
      <p:sp>
        <p:nvSpPr>
          <p:cNvPr id="126" name="Balance 2021 sales tag">
            <a:extLst xmlns:a="http://schemas.openxmlformats.org/drawingml/2006/main">
              <a:ext uri="{FF2B5EF4-FFF2-40B4-BE49-F238E27FC236}">
                <a16:creationId xmlns:a16="http://schemas.microsoft.com/office/drawing/2014/main" id="{04407A56-CFCC-19A0-242F-2338FE47F103}"/>
              </a:ext>
            </a:extLst>
          </p:cNvPr>
          <p:cNvSpPr>
            <a:spLocks xmlns:a="http://schemas.openxmlformats.org/drawingml/2006/main" noGrp="1"/>
          </p:cNvSpPr>
          <p:nvPr/>
        </p:nvSpPr>
        <p:spPr>
          <a:xfrm xmlns:a="http://schemas.openxmlformats.org/drawingml/2006/main">
            <a:off x="7518400" y="35433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observed · DR01</a:t>
            </a:r>
          </a:p>
        </p:txBody>
      </p:sp>
      <p:sp>
        <p:nvSpPr>
          <p:cNvPr id="127" name="Operator 2021 3">
            <a:extLst xmlns:a="http://schemas.openxmlformats.org/drawingml/2006/main">
              <a:ext uri="{FF2B5EF4-FFF2-40B4-BE49-F238E27FC236}">
                <a16:creationId xmlns:a16="http://schemas.microsoft.com/office/drawing/2014/main" id="{C6525679-8515-9F1D-153D-093024DE1DCD}"/>
              </a:ext>
            </a:extLst>
          </p:cNvPr>
          <p:cNvSpPr>
            <a:spLocks xmlns:a="http://schemas.openxmlformats.org/drawingml/2006/main" noGrp="1"/>
          </p:cNvSpPr>
          <p:nvPr/>
        </p:nvSpPr>
        <p:spPr>
          <a:xfrm xmlns:a="http://schemas.openxmlformats.org/drawingml/2006/main">
            <a:off x="9093200" y="32003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28" name="Balance 2021 supply_less_sales">
            <a:extLst xmlns:a="http://schemas.openxmlformats.org/drawingml/2006/main">
              <a:ext uri="{FF2B5EF4-FFF2-40B4-BE49-F238E27FC236}">
                <a16:creationId xmlns:a16="http://schemas.microsoft.com/office/drawing/2014/main" id="{019319D0-CB23-3D2D-B7BC-2E4CC497FB1A}"/>
              </a:ext>
            </a:extLst>
          </p:cNvPr>
          <p:cNvSpPr>
            <a:spLocks xmlns:a="http://schemas.openxmlformats.org/drawingml/2006/main" noGrp="1"/>
          </p:cNvSpPr>
          <p:nvPr/>
        </p:nvSpPr>
        <p:spPr>
          <a:xfrm xmlns:a="http://schemas.openxmlformats.org/drawingml/2006/main">
            <a:off x="9410700" y="29464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+1.2B L</a:t>
            </a:r>
          </a:p>
          <a:p xmlns:a="http://schemas.openxmlformats.org/drawingml/2006/main">
            <a:pPr>
              <a:spcAft>
                <a:spcPts val="200"/>
              </a:spcAft>
              <a:buNone/>
            </a:pPr>
            <a:r>
              <a:rPr sz="950">
                <a:solidFill>
                  <a:schemeClr val="dk1"/>
                </a:solidFill>
                <a:latin typeface="Lato"/>
                <a:ea typeface="Lato"/>
                <a:cs typeface="Lato"/>
              </a:rPr>
              <a:t>Petrol 0.0 · diesel 1.2</a:t>
            </a:r>
          </a:p>
        </p:txBody>
      </p:sp>
      <p:sp>
        <p:nvSpPr>
          <p:cNvPr id="129" name="Balance 2021 supply_less_sales tag">
            <a:extLst xmlns:a="http://schemas.openxmlformats.org/drawingml/2006/main">
              <a:ext uri="{FF2B5EF4-FFF2-40B4-BE49-F238E27FC236}">
                <a16:creationId xmlns:a16="http://schemas.microsoft.com/office/drawing/2014/main" id="{E8FEA905-C8BB-2E58-FA6D-3B7E67712D21}"/>
              </a:ext>
            </a:extLst>
          </p:cNvPr>
          <p:cNvSpPr>
            <a:spLocks xmlns:a="http://schemas.openxmlformats.org/drawingml/2006/main" noGrp="1"/>
          </p:cNvSpPr>
          <p:nvPr/>
        </p:nvSpPr>
        <p:spPr>
          <a:xfrm xmlns:a="http://schemas.openxmlformats.org/drawingml/2006/main">
            <a:off x="9486900" y="35433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Stocks + stat. difference</a:t>
            </a:r>
          </a:p>
        </p:txBody>
      </p:sp>
      <p:sp>
        <p:nvSpPr>
          <p:cNvPr id="130" name="Year 2023">
            <a:extLst xmlns:a="http://schemas.openxmlformats.org/drawingml/2006/main">
              <a:ext uri="{FF2B5EF4-FFF2-40B4-BE49-F238E27FC236}">
                <a16:creationId xmlns:a16="http://schemas.microsoft.com/office/drawing/2014/main" id="{EC2C3E92-4A27-F2D4-9218-6BB3F107366E}"/>
              </a:ext>
            </a:extLst>
          </p:cNvPr>
          <p:cNvSpPr>
            <a:spLocks xmlns:a="http://schemas.openxmlformats.org/drawingml/2006/main" noGrp="1"/>
          </p:cNvSpPr>
          <p:nvPr/>
        </p:nvSpPr>
        <p:spPr>
          <a:xfrm xmlns:a="http://schemas.openxmlformats.org/drawingml/2006/main">
            <a:off x="457200" y="3936999"/>
            <a:ext cx="9906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400" b="1">
                <a:solidFill>
                  <a:schemeClr val="accent1"/>
                </a:solidFill>
                <a:latin typeface="Lato"/>
                <a:ea typeface="Lato"/>
                <a:cs typeface="Lato"/>
              </a:rPr>
              <a:t>2023</a:t>
            </a:r>
          </a:p>
          <a:p xmlns:a="http://schemas.openxmlformats.org/drawingml/2006/main">
            <a:pPr>
              <a:spcAft>
                <a:spcPts val="200"/>
              </a:spcAft>
              <a:buNone/>
            </a:pPr>
            <a:r>
              <a:rPr sz="900">
                <a:solidFill>
                  <a:schemeClr val="dk1"/>
                </a:solidFill>
                <a:latin typeface="Lato"/>
                <a:ea typeface="Lato"/>
                <a:cs typeface="Lato"/>
              </a:rPr>
              <a:t>Customs and sales</a:t>
            </a:r>
          </a:p>
        </p:txBody>
      </p:sp>
      <p:sp>
        <p:nvSpPr>
          <p:cNvPr id="131" name="Balance 2023 production">
            <a:extLst xmlns:a="http://schemas.openxmlformats.org/drawingml/2006/main">
              <a:ext uri="{FF2B5EF4-FFF2-40B4-BE49-F238E27FC236}">
                <a16:creationId xmlns:a16="http://schemas.microsoft.com/office/drawing/2014/main" id="{6D21A704-8E37-FB78-590B-957E52C8C4B9}"/>
              </a:ext>
            </a:extLst>
          </p:cNvPr>
          <p:cNvSpPr>
            <a:spLocks xmlns:a="http://schemas.openxmlformats.org/drawingml/2006/main" noGrp="1"/>
          </p:cNvSpPr>
          <p:nvPr/>
        </p:nvSpPr>
        <p:spPr>
          <a:xfrm xmlns:a="http://schemas.openxmlformats.org/drawingml/2006/main">
            <a:off x="1536700" y="38608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rgbClr val="808080"/>
                </a:solidFill>
                <a:latin typeface="Lato"/>
                <a:ea typeface="Lato"/>
                <a:cs typeface="Lato"/>
              </a:rPr>
              <a:t>Not published</a:t>
            </a:r>
          </a:p>
          <a:p xmlns:a="http://schemas.openxmlformats.org/drawingml/2006/main">
            <a:pPr>
              <a:spcAft>
                <a:spcPts val="200"/>
              </a:spcAft>
              <a:buNone/>
            </a:pPr>
            <a:r>
              <a:rPr sz="950">
                <a:solidFill>
                  <a:schemeClr val="dk1"/>
                </a:solidFill>
                <a:latin typeface="Lato"/>
                <a:ea typeface="Lato"/>
                <a:cs typeface="Lato"/>
              </a:rPr>
              <a:t>No balance after 2021</a:t>
            </a:r>
            <a:endParaRPr sz="950">
              <a:solidFill>
                <a:schemeClr val="dk1"/>
              </a:solidFill>
              <a:latin typeface="Lato"/>
              <a:ea typeface="Lato"/>
              <a:cs typeface="Lato"/>
            </a:endParaRPr>
          </a:p>
        </p:txBody>
      </p:sp>
      <p:sp>
        <p:nvSpPr>
          <p:cNvPr id="132" name="Balance 2023 production tag">
            <a:extLst xmlns:a="http://schemas.openxmlformats.org/drawingml/2006/main">
              <a:ext uri="{FF2B5EF4-FFF2-40B4-BE49-F238E27FC236}">
                <a16:creationId xmlns:a16="http://schemas.microsoft.com/office/drawing/2014/main" id="{EE1A18C3-D687-F2C6-2F2F-1A5B1B489966}"/>
              </a:ext>
            </a:extLst>
          </p:cNvPr>
          <p:cNvSpPr>
            <a:spLocks xmlns:a="http://schemas.openxmlformats.org/drawingml/2006/main" noGrp="1"/>
          </p:cNvSpPr>
          <p:nvPr/>
        </p:nvSpPr>
        <p:spPr>
          <a:xfrm xmlns:a="http://schemas.openxmlformats.org/drawingml/2006/main">
            <a:off x="1612900" y="44577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DR08 operators</a:t>
            </a:r>
          </a:p>
        </p:txBody>
      </p:sp>
      <p:sp>
        <p:nvSpPr>
          <p:cNvPr id="133" name="Operator 2023 0">
            <a:extLst xmlns:a="http://schemas.openxmlformats.org/drawingml/2006/main">
              <a:ext uri="{FF2B5EF4-FFF2-40B4-BE49-F238E27FC236}">
                <a16:creationId xmlns:a16="http://schemas.microsoft.com/office/drawing/2014/main" id="{9ED45170-0E5B-7AD9-9CE3-88E9343DC96B}"/>
              </a:ext>
            </a:extLst>
          </p:cNvPr>
          <p:cNvSpPr>
            <a:spLocks xmlns:a="http://schemas.openxmlformats.org/drawingml/2006/main" noGrp="1"/>
          </p:cNvSpPr>
          <p:nvPr/>
        </p:nvSpPr>
        <p:spPr>
          <a:xfrm xmlns:a="http://schemas.openxmlformats.org/drawingml/2006/main">
            <a:off x="3187700" y="41147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34" name="Balance 2023 imports">
            <a:extLst xmlns:a="http://schemas.openxmlformats.org/drawingml/2006/main">
              <a:ext uri="{FF2B5EF4-FFF2-40B4-BE49-F238E27FC236}">
                <a16:creationId xmlns:a16="http://schemas.microsoft.com/office/drawing/2014/main" id="{EB655857-2865-50DA-F89B-D34FAFBB03AA}"/>
              </a:ext>
            </a:extLst>
          </p:cNvPr>
          <p:cNvSpPr>
            <a:spLocks xmlns:a="http://schemas.openxmlformats.org/drawingml/2006/main" noGrp="1"/>
          </p:cNvSpPr>
          <p:nvPr/>
        </p:nvSpPr>
        <p:spPr>
          <a:xfrm xmlns:a="http://schemas.openxmlformats.org/drawingml/2006/main">
            <a:off x="3505200" y="38608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17.4B L</a:t>
            </a:r>
          </a:p>
          <a:p xmlns:a="http://schemas.openxmlformats.org/drawingml/2006/main">
            <a:pPr>
              <a:spcAft>
                <a:spcPts val="200"/>
              </a:spcAft>
              <a:buNone/>
            </a:pPr>
            <a:r>
              <a:rPr sz="950">
                <a:solidFill>
                  <a:schemeClr val="dk1"/>
                </a:solidFill>
                <a:latin typeface="Lato"/>
                <a:ea typeface="Lato"/>
                <a:cs typeface="Lato"/>
              </a:rPr>
              <a:t>Petrol 4.5 · diesel 12.9</a:t>
            </a:r>
          </a:p>
        </p:txBody>
      </p:sp>
      <p:sp>
        <p:nvSpPr>
          <p:cNvPr id="135" name="Balance 2023 imports tag">
            <a:extLst xmlns:a="http://schemas.openxmlformats.org/drawingml/2006/main">
              <a:ext uri="{FF2B5EF4-FFF2-40B4-BE49-F238E27FC236}">
                <a16:creationId xmlns:a16="http://schemas.microsoft.com/office/drawing/2014/main" id="{53F25B8D-DF2C-34B4-E681-DC97DD9F77E3}"/>
              </a:ext>
            </a:extLst>
          </p:cNvPr>
          <p:cNvSpPr>
            <a:spLocks xmlns:a="http://schemas.openxmlformats.org/drawingml/2006/main" noGrp="1"/>
          </p:cNvSpPr>
          <p:nvPr/>
        </p:nvSpPr>
        <p:spPr>
          <a:xfrm xmlns:a="http://schemas.openxmlformats.org/drawingml/2006/main">
            <a:off x="3581400" y="44577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customs · DR01</a:t>
            </a:r>
          </a:p>
        </p:txBody>
      </p:sp>
      <p:sp>
        <p:nvSpPr>
          <p:cNvPr id="136" name="Operator 2023 1">
            <a:extLst xmlns:a="http://schemas.openxmlformats.org/drawingml/2006/main">
              <a:ext uri="{FF2B5EF4-FFF2-40B4-BE49-F238E27FC236}">
                <a16:creationId xmlns:a16="http://schemas.microsoft.com/office/drawing/2014/main" id="{1C7C5F3A-F409-3698-328B-C4B08EA338AD}"/>
              </a:ext>
            </a:extLst>
          </p:cNvPr>
          <p:cNvSpPr>
            <a:spLocks xmlns:a="http://schemas.openxmlformats.org/drawingml/2006/main" noGrp="1"/>
          </p:cNvSpPr>
          <p:nvPr/>
        </p:nvSpPr>
        <p:spPr>
          <a:xfrm xmlns:a="http://schemas.openxmlformats.org/drawingml/2006/main">
            <a:off x="5156200" y="41147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37" name="Balance 2023 exports">
            <a:extLst xmlns:a="http://schemas.openxmlformats.org/drawingml/2006/main">
              <a:ext uri="{FF2B5EF4-FFF2-40B4-BE49-F238E27FC236}">
                <a16:creationId xmlns:a16="http://schemas.microsoft.com/office/drawing/2014/main" id="{2B319284-3510-F515-5BD0-6DD4E947D2FD}"/>
              </a:ext>
            </a:extLst>
          </p:cNvPr>
          <p:cNvSpPr>
            <a:spLocks xmlns:a="http://schemas.openxmlformats.org/drawingml/2006/main" noGrp="1"/>
          </p:cNvSpPr>
          <p:nvPr/>
        </p:nvSpPr>
        <p:spPr>
          <a:xfrm xmlns:a="http://schemas.openxmlformats.org/drawingml/2006/main">
            <a:off x="5473700" y="38608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1.9B L</a:t>
            </a:r>
          </a:p>
          <a:p xmlns:a="http://schemas.openxmlformats.org/drawingml/2006/main">
            <a:pPr>
              <a:spcAft>
                <a:spcPts val="200"/>
              </a:spcAft>
              <a:buNone/>
            </a:pPr>
            <a:r>
              <a:rPr sz="950">
                <a:solidFill>
                  <a:schemeClr val="dk1"/>
                </a:solidFill>
                <a:latin typeface="Lato"/>
                <a:ea typeface="Lato"/>
                <a:cs typeface="Lato"/>
              </a:rPr>
              <a:t>Petrol 1.0 · diesel 0.9</a:t>
            </a:r>
          </a:p>
        </p:txBody>
      </p:sp>
      <p:sp>
        <p:nvSpPr>
          <p:cNvPr id="138" name="Balance 2023 exports tag">
            <a:extLst xmlns:a="http://schemas.openxmlformats.org/drawingml/2006/main">
              <a:ext uri="{FF2B5EF4-FFF2-40B4-BE49-F238E27FC236}">
                <a16:creationId xmlns:a16="http://schemas.microsoft.com/office/drawing/2014/main" id="{61D7E4E0-E1EB-6D9F-6E90-FA314DE77629}"/>
              </a:ext>
            </a:extLst>
          </p:cNvPr>
          <p:cNvSpPr>
            <a:spLocks xmlns:a="http://schemas.openxmlformats.org/drawingml/2006/main" noGrp="1"/>
          </p:cNvSpPr>
          <p:nvPr/>
        </p:nvSpPr>
        <p:spPr>
          <a:xfrm xmlns:a="http://schemas.openxmlformats.org/drawingml/2006/main">
            <a:off x="5549900" y="44577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customs · DR01</a:t>
            </a:r>
          </a:p>
        </p:txBody>
      </p:sp>
      <p:sp>
        <p:nvSpPr>
          <p:cNvPr id="139" name="Operator 2023 2">
            <a:extLst xmlns:a="http://schemas.openxmlformats.org/drawingml/2006/main">
              <a:ext uri="{FF2B5EF4-FFF2-40B4-BE49-F238E27FC236}">
                <a16:creationId xmlns:a16="http://schemas.microsoft.com/office/drawing/2014/main" id="{80A46187-7FD4-36DD-6357-58B4E78464FB}"/>
              </a:ext>
            </a:extLst>
          </p:cNvPr>
          <p:cNvSpPr>
            <a:spLocks xmlns:a="http://schemas.openxmlformats.org/drawingml/2006/main" noGrp="1"/>
          </p:cNvSpPr>
          <p:nvPr/>
        </p:nvSpPr>
        <p:spPr>
          <a:xfrm xmlns:a="http://schemas.openxmlformats.org/drawingml/2006/main">
            <a:off x="7124700" y="41147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40" name="Balance 2023 sales">
            <a:extLst xmlns:a="http://schemas.openxmlformats.org/drawingml/2006/main">
              <a:ext uri="{FF2B5EF4-FFF2-40B4-BE49-F238E27FC236}">
                <a16:creationId xmlns:a16="http://schemas.microsoft.com/office/drawing/2014/main" id="{DBA3668A-B23E-FA83-676B-AE20CE9AFE73}"/>
              </a:ext>
            </a:extLst>
          </p:cNvPr>
          <p:cNvSpPr>
            <a:spLocks xmlns:a="http://schemas.openxmlformats.org/drawingml/2006/main" noGrp="1"/>
          </p:cNvSpPr>
          <p:nvPr/>
        </p:nvSpPr>
        <p:spPr>
          <a:xfrm xmlns:a="http://schemas.openxmlformats.org/drawingml/2006/main">
            <a:off x="7442200" y="38608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21.9B L</a:t>
            </a:r>
          </a:p>
          <a:p xmlns:a="http://schemas.openxmlformats.org/drawingml/2006/main">
            <a:pPr>
              <a:spcAft>
                <a:spcPts val="200"/>
              </a:spcAft>
              <a:buNone/>
            </a:pPr>
            <a:r>
              <a:rPr sz="950">
                <a:solidFill>
                  <a:schemeClr val="dk1"/>
                </a:solidFill>
                <a:latin typeface="Lato"/>
                <a:ea typeface="Lato"/>
                <a:cs typeface="Lato"/>
              </a:rPr>
              <a:t>Petrol 9.0 · diesel 12.9</a:t>
            </a:r>
          </a:p>
        </p:txBody>
      </p:sp>
      <p:sp>
        <p:nvSpPr>
          <p:cNvPr id="141" name="Balance 2023 sales tag">
            <a:extLst xmlns:a="http://schemas.openxmlformats.org/drawingml/2006/main">
              <a:ext uri="{FF2B5EF4-FFF2-40B4-BE49-F238E27FC236}">
                <a16:creationId xmlns:a16="http://schemas.microsoft.com/office/drawing/2014/main" id="{63E05355-CDA4-99D1-0C73-E9E7473EB3BC}"/>
              </a:ext>
            </a:extLst>
          </p:cNvPr>
          <p:cNvSpPr>
            <a:spLocks xmlns:a="http://schemas.openxmlformats.org/drawingml/2006/main" noGrp="1"/>
          </p:cNvSpPr>
          <p:nvPr/>
        </p:nvSpPr>
        <p:spPr>
          <a:xfrm xmlns:a="http://schemas.openxmlformats.org/drawingml/2006/main">
            <a:off x="7518400" y="44577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observed · DR01</a:t>
            </a:r>
          </a:p>
        </p:txBody>
      </p:sp>
      <p:sp>
        <p:nvSpPr>
          <p:cNvPr id="142" name="Operator 2023 3">
            <a:extLst xmlns:a="http://schemas.openxmlformats.org/drawingml/2006/main">
              <a:ext uri="{FF2B5EF4-FFF2-40B4-BE49-F238E27FC236}">
                <a16:creationId xmlns:a16="http://schemas.microsoft.com/office/drawing/2014/main" id="{1B098D57-4909-1B41-A6E9-89C54D407174}"/>
              </a:ext>
            </a:extLst>
          </p:cNvPr>
          <p:cNvSpPr>
            <a:spLocks xmlns:a="http://schemas.openxmlformats.org/drawingml/2006/main" noGrp="1"/>
          </p:cNvSpPr>
          <p:nvPr/>
        </p:nvSpPr>
        <p:spPr>
          <a:xfrm xmlns:a="http://schemas.openxmlformats.org/drawingml/2006/main">
            <a:off x="9093200" y="4114799"/>
            <a:ext cx="317500" cy="279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gn="ctr">
              <a:spcAft>
                <a:spcPts val="200"/>
              </a:spcAft>
              <a:buNone/>
            </a:pPr>
            <a:r>
              <a:rPr sz="1600" b="1">
                <a:solidFill>
                  <a:schemeClr val="accent1"/>
                </a:solidFill>
                <a:latin typeface="Lato"/>
                <a:ea typeface="Lato"/>
                <a:cs typeface="Lato"/>
              </a:rPr>
              <a:t>=</a:t>
            </a:r>
          </a:p>
        </p:txBody>
      </p:sp>
      <p:sp>
        <p:nvSpPr>
          <p:cNvPr id="143" name="Balance 2023 supply_less_sales">
            <a:extLst xmlns:a="http://schemas.openxmlformats.org/drawingml/2006/main">
              <a:ext uri="{FF2B5EF4-FFF2-40B4-BE49-F238E27FC236}">
                <a16:creationId xmlns:a16="http://schemas.microsoft.com/office/drawing/2014/main" id="{3632F2DF-F411-4512-4E84-75AE1297F100}"/>
              </a:ext>
            </a:extLst>
          </p:cNvPr>
          <p:cNvSpPr>
            <a:spLocks xmlns:a="http://schemas.openxmlformats.org/drawingml/2006/main" noGrp="1"/>
          </p:cNvSpPr>
          <p:nvPr/>
        </p:nvSpPr>
        <p:spPr>
          <a:xfrm xmlns:a="http://schemas.openxmlformats.org/drawingml/2006/main">
            <a:off x="9410700" y="38608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rgbClr val="808080"/>
                </a:solidFill>
                <a:latin typeface="Lato"/>
                <a:ea typeface="Lato"/>
                <a:cs typeface="Lato"/>
              </a:rPr>
              <a:t>Cannot close</a:t>
            </a:r>
          </a:p>
          <a:p xmlns:a="http://schemas.openxmlformats.org/drawingml/2006/main">
            <a:pPr>
              <a:spcAft>
                <a:spcPts val="200"/>
              </a:spcAft>
              <a:buNone/>
            </a:pPr>
            <a:r>
              <a:rPr sz="950">
                <a:solidFill>
                  <a:schemeClr val="dk1"/>
                </a:solidFill>
                <a:latin typeface="Lato"/>
                <a:ea typeface="Lato"/>
                <a:cs typeface="Lato"/>
              </a:rPr>
              <a:t>Needs production</a:t>
            </a:r>
          </a:p>
        </p:txBody>
      </p:sp>
      <p:sp>
        <p:nvSpPr>
          <p:cNvPr id="144" name="Balance 2023 supply_less_sales tag">
            <a:extLst xmlns:a="http://schemas.openxmlformats.org/drawingml/2006/main">
              <a:ext uri="{FF2B5EF4-FFF2-40B4-BE49-F238E27FC236}">
                <a16:creationId xmlns:a16="http://schemas.microsoft.com/office/drawing/2014/main" id="{D8A2B4BA-5074-5AFF-487D-57CD85F048BA}"/>
              </a:ext>
            </a:extLst>
          </p:cNvPr>
          <p:cNvSpPr>
            <a:spLocks xmlns:a="http://schemas.openxmlformats.org/drawingml/2006/main" noGrp="1"/>
          </p:cNvSpPr>
          <p:nvPr/>
        </p:nvSpPr>
        <p:spPr>
          <a:xfrm xmlns:a="http://schemas.openxmlformats.org/drawingml/2006/main">
            <a:off x="9486900" y="44577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production, stocks</a:t>
            </a:r>
          </a:p>
        </p:txBody>
      </p:sp>
      <p:sp>
        <p:nvSpPr>
          <p:cNvPr id="145" name="Finding 1">
            <a:extLst xmlns:a="http://schemas.openxmlformats.org/drawingml/2006/main">
              <a:ext uri="{FF2B5EF4-FFF2-40B4-BE49-F238E27FC236}">
                <a16:creationId xmlns:a16="http://schemas.microsoft.com/office/drawing/2014/main" id="{67A99350-7EFD-C30A-63B5-B61C300B3D18}"/>
              </a:ext>
            </a:extLst>
          </p:cNvPr>
          <p:cNvSpPr>
            <a:spLocks xmlns:a="http://schemas.openxmlformats.org/drawingml/2006/main" noGrp="1"/>
          </p:cNvSpPr>
          <p:nvPr/>
        </p:nvSpPr>
        <p:spPr>
          <a:xfrm xmlns:a="http://schemas.openxmlformats.org/drawingml/2006/main">
            <a:off x="457200" y="5003800"/>
            <a:ext cx="3416300" cy="1066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Production fell as imports rose</a:t>
            </a:r>
          </a:p>
          <a:p xmlns:a="http://schemas.openxmlformats.org/drawingml/2006/main">
            <a:pPr>
              <a:spcAft>
                <a:spcPts val="200"/>
              </a:spcAft>
              <a:buNone/>
            </a:pPr>
            <a:r>
              <a:rPr sz="1050">
                <a:solidFill>
                  <a:schemeClr val="dk1"/>
                </a:solidFill>
                <a:latin typeface="Lato"/>
                <a:ea typeface="Lato"/>
                <a:cs typeface="Lato"/>
              </a:rPr>
              <a:t>Production 19.5B L (2019) to 11.7B L (2021)</a:t>
            </a:r>
          </a:p>
          <a:p xmlns:a="http://schemas.openxmlformats.org/drawingml/2006/main">
            <a:pPr>
              <a:spcAft>
                <a:spcPts val="200"/>
              </a:spcAft>
              <a:buNone/>
            </a:pPr>
            <a:r>
              <a:rPr sz="1050">
                <a:solidFill>
                  <a:schemeClr val="dk1"/>
                </a:solidFill>
                <a:latin typeface="Lato"/>
                <a:ea typeface="Lato"/>
                <a:cs typeface="Lato"/>
              </a:rPr>
              <a:t>Imports 7.1B L (2019) to 17.4B L (2023)</a:t>
            </a:r>
            <a:endParaRPr sz="1050">
              <a:solidFill>
                <a:schemeClr val="dk1"/>
              </a:solidFill>
              <a:latin typeface="Lato"/>
              <a:ea typeface="Lato"/>
              <a:cs typeface="Lato"/>
            </a:endParaRPr>
          </a:p>
        </p:txBody>
      </p:sp>
      <p:sp>
        <p:nvSpPr>
          <p:cNvPr id="146" name="Finding 1 tag">
            <a:extLst xmlns:a="http://schemas.openxmlformats.org/drawingml/2006/main">
              <a:ext uri="{FF2B5EF4-FFF2-40B4-BE49-F238E27FC236}">
                <a16:creationId xmlns:a16="http://schemas.microsoft.com/office/drawing/2014/main" id="{BE5A9A40-60D5-8A20-C455-822D15C21B1A}"/>
              </a:ext>
            </a:extLst>
          </p:cNvPr>
          <p:cNvSpPr>
            <a:spLocks xmlns:a="http://schemas.openxmlformats.org/drawingml/2006/main" noGrp="1"/>
          </p:cNvSpPr>
          <p:nvPr/>
        </p:nvSpPr>
        <p:spPr>
          <a:xfrm xmlns:a="http://schemas.openxmlformats.org/drawingml/2006/main">
            <a:off x="533400" y="5880100"/>
            <a:ext cx="32639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DR01 · energy balance, customs</a:t>
            </a:r>
          </a:p>
        </p:txBody>
      </p:sp>
      <p:sp>
        <p:nvSpPr>
          <p:cNvPr id="147" name="Finding 2">
            <a:extLst xmlns:a="http://schemas.openxmlformats.org/drawingml/2006/main">
              <a:ext uri="{FF2B5EF4-FFF2-40B4-BE49-F238E27FC236}">
                <a16:creationId xmlns:a16="http://schemas.microsoft.com/office/drawing/2014/main" id="{5E3BDA19-BBDE-FF3C-324B-08FF1785D6A8}"/>
              </a:ext>
            </a:extLst>
          </p:cNvPr>
          <p:cNvSpPr>
            <a:spLocks xmlns:a="http://schemas.openxmlformats.org/drawingml/2006/main" noGrp="1"/>
          </p:cNvSpPr>
          <p:nvPr/>
        </p:nvSpPr>
        <p:spPr>
          <a:xfrm xmlns:a="http://schemas.openxmlformats.org/drawingml/2006/main">
            <a:off x="4076700" y="5003800"/>
            <a:ext cx="3416300" cy="1066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Balance assembled through 2021</a:t>
            </a:r>
          </a:p>
          <a:p xmlns:a="http://schemas.openxmlformats.org/drawingml/2006/main">
            <a:pPr>
              <a:spcAft>
                <a:spcPts val="200"/>
              </a:spcAft>
              <a:buNone/>
            </a:pPr>
            <a:r>
              <a:rPr sz="1050">
                <a:solidFill>
                  <a:schemeClr val="dk1"/>
                </a:solidFill>
                <a:latin typeface="Lato"/>
                <a:ea typeface="Lato"/>
                <a:cs typeface="Lato"/>
              </a:rPr>
              <a:t>Residuals remain, including diesel 2021</a:t>
            </a:r>
          </a:p>
          <a:p xmlns:a="http://schemas.openxmlformats.org/drawingml/2006/main">
            <a:pPr>
              <a:spcAft>
                <a:spcPts val="200"/>
              </a:spcAft>
              <a:buNone/>
            </a:pPr>
            <a:r>
              <a:rPr sz="1050">
                <a:solidFill>
                  <a:schemeClr val="dk1"/>
                </a:solidFill>
                <a:latin typeface="Lato"/>
                <a:ea typeface="Lato"/>
                <a:cs typeface="Lato"/>
              </a:rPr>
              <a:t>Stocks and statistical differences unresolved</a:t>
            </a:r>
            <a:endParaRPr sz="1050">
              <a:solidFill>
                <a:schemeClr val="dk1"/>
              </a:solidFill>
              <a:latin typeface="Lato"/>
              <a:ea typeface="Lato"/>
              <a:cs typeface="Lato"/>
            </a:endParaRPr>
          </a:p>
        </p:txBody>
      </p:sp>
      <p:sp>
        <p:nvSpPr>
          <p:cNvPr id="148" name="Finding 2 tag">
            <a:extLst xmlns:a="http://schemas.openxmlformats.org/drawingml/2006/main">
              <a:ext uri="{FF2B5EF4-FFF2-40B4-BE49-F238E27FC236}">
                <a16:creationId xmlns:a16="http://schemas.microsoft.com/office/drawing/2014/main" id="{C2030EE2-9B86-A36D-21DF-D42838906EC5}"/>
              </a:ext>
            </a:extLst>
          </p:cNvPr>
          <p:cNvSpPr>
            <a:spLocks xmlns:a="http://schemas.openxmlformats.org/drawingml/2006/main" noGrp="1"/>
          </p:cNvSpPr>
          <p:nvPr/>
        </p:nvSpPr>
        <p:spPr>
          <a:xfrm xmlns:a="http://schemas.openxmlformats.org/drawingml/2006/main">
            <a:off x="4152900" y="5880100"/>
            <a:ext cx="32639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DR01 · calculated</a:t>
            </a:r>
          </a:p>
        </p:txBody>
      </p:sp>
      <p:sp>
        <p:nvSpPr>
          <p:cNvPr id="149" name="Finding 3">
            <a:extLst xmlns:a="http://schemas.openxmlformats.org/drawingml/2006/main">
              <a:ext uri="{FF2B5EF4-FFF2-40B4-BE49-F238E27FC236}">
                <a16:creationId xmlns:a16="http://schemas.microsoft.com/office/drawing/2014/main" id="{ABC6553E-4460-9634-2157-2E0BEFA9D76F}"/>
              </a:ext>
            </a:extLst>
          </p:cNvPr>
          <p:cNvSpPr>
            <a:spLocks xmlns:a="http://schemas.openxmlformats.org/drawingml/2006/main" noGrp="1"/>
          </p:cNvSpPr>
          <p:nvPr/>
        </p:nvSpPr>
        <p:spPr>
          <a:xfrm xmlns:a="http://schemas.openxmlformats.org/drawingml/2006/main">
            <a:off x="7696200" y="5003800"/>
            <a:ext cx="3416300" cy="1066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2025 trade is available</a:t>
            </a:r>
          </a:p>
          <a:p xmlns:a="http://schemas.openxmlformats.org/drawingml/2006/main">
            <a:pPr>
              <a:spcAft>
                <a:spcPts val="200"/>
              </a:spcAft>
              <a:buNone/>
            </a:pPr>
            <a:r>
              <a:rPr sz="1050">
                <a:solidFill>
                  <a:schemeClr val="dk1"/>
                </a:solidFill>
                <a:latin typeface="Lato"/>
                <a:ea typeface="Lato"/>
                <a:cs typeface="Lato"/>
              </a:rPr>
              <a:t>Gross imports 16.70B L; net 15.15B L</a:t>
            </a:r>
          </a:p>
          <a:p xmlns:a="http://schemas.openxmlformats.org/drawingml/2006/main">
            <a:pPr>
              <a:spcAft>
                <a:spcPts val="200"/>
              </a:spcAft>
              <a:buNone/>
            </a:pPr>
            <a:r>
              <a:rPr sz="1050">
                <a:solidFill>
                  <a:schemeClr val="dk1"/>
                </a:solidFill>
                <a:latin typeface="Lato"/>
                <a:ea typeface="Lato"/>
                <a:cs typeface="Lato"/>
              </a:rPr>
              <a:t>2025 sales and product output unavailable</a:t>
            </a:r>
            <a:endParaRPr sz="1050">
              <a:solidFill>
                <a:schemeClr val="dk1"/>
              </a:solidFill>
              <a:latin typeface="Lato"/>
              <a:ea typeface="Lato"/>
              <a:cs typeface="Lato"/>
            </a:endParaRPr>
          </a:p>
        </p:txBody>
      </p:sp>
      <p:sp>
        <p:nvSpPr>
          <p:cNvPr id="150" name="Finding 3 tag">
            <a:extLst xmlns:a="http://schemas.openxmlformats.org/drawingml/2006/main">
              <a:ext uri="{FF2B5EF4-FFF2-40B4-BE49-F238E27FC236}">
                <a16:creationId xmlns:a16="http://schemas.microsoft.com/office/drawing/2014/main" id="{F3AB4B93-6F8F-4038-FBE3-C8308D808E91}"/>
              </a:ext>
            </a:extLst>
          </p:cNvPr>
          <p:cNvSpPr>
            <a:spLocks xmlns:a="http://schemas.openxmlformats.org/drawingml/2006/main" noGrp="1"/>
          </p:cNvSpPr>
          <p:nvPr/>
        </p:nvSpPr>
        <p:spPr>
          <a:xfrm xmlns:a="http://schemas.openxmlformats.org/drawingml/2006/main">
            <a:off x="7772400" y="5880100"/>
            <a:ext cx="32639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SARS customs; production and stocks open</a:t>
            </a:r>
            <a:endParaRPr sz="900">
              <a:solidFill>
                <a:srgbClr val="808080"/>
              </a:solidFill>
              <a:latin typeface="Lato"/>
              <a:ea typeface="Lato"/>
              <a:cs typeface="Lato"/>
            </a:endParaRPr>
          </a:p>
        </p:txBody>
      </p:sp>
    </p:spTree>
    <p:extLst>
      <p:ext uri="{BB962C8B-B14F-4D97-AF65-F5344CB8AC3E}">
        <p14:creationId xmlns:p14="http://schemas.microsoft.com/office/powerpoint/2010/main" val="28998863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D29820-6AD7-45D4-9363-60B3BAF1A46E}"/>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Durban and Lesedi market sizing and investment issue tree</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A4E33D8-8941-444F-A929-A253CD7660A3}"/>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a:t>
            </a:r>
            <a:endParaRPr sz="1100"/>
          </a:p>
        </p:txBody>
      </p:sp>
      <p:sp>
        <p:nvSpPr>
          <p:cNvPr id="8" name="Unified source footer">
            <a:extLst xmlns:a="http://schemas.openxmlformats.org/drawingml/2006/main">
              <a:ext uri="{FF2B5EF4-FFF2-40B4-BE49-F238E27FC236}">
                <a16:creationId xmlns:a16="http://schemas.microsoft.com/office/drawing/2014/main" id="{4A247A30-8235-4513-B205-84A25D462858}"/>
              </a:ext>
            </a:extLst>
          </p:cNvPr>
          <p:cNvSpPr>
            <a:spLocks xmlns:a="http://schemas.openxmlformats.org/drawingml/2006/main" noGrp="1"/>
          </p:cNvSpPr>
          <p:nvPr/>
        </p:nvSpPr>
        <p:spPr>
          <a:xfrm xmlns:a="http://schemas.openxmlformats.org/drawingml/2006/main">
            <a:off x="457200" y="6184900"/>
            <a:ext cx="10652760" cy="1143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70"/>
              <a:t>SARS 2025; department sales 2023 and provinces 2022; Transnet Pipelines 2025. Gateway, catchment and terminal throughput are separate measures. No inference of an 8.88B L inland flow from mixed-year subtraction.</a:t>
            </a:r>
            <a:endParaRPr sz="670"/>
          </a:p>
        </p:txBody>
      </p:sp>
      <p:sp>
        <p:nvSpPr>
          <p:cNvPr id="48" name="Strictly Confidential footer">
            <a:extLst xmlns:a="http://schemas.openxmlformats.org/drawingml/2006/main">
              <a:ext uri="{FF2B5EF4-FFF2-40B4-BE49-F238E27FC236}">
                <a16:creationId xmlns:a16="http://schemas.microsoft.com/office/drawing/2014/main" id="{6C61FD50-75B5-4875-BAFA-6D41D2E7A1FD}"/>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
        <p:nvSpPr>
          <p:cNvPr id="4" name="Demand panel">
            <a:extLst xmlns:a="http://schemas.openxmlformats.org/drawingml/2006/main">
              <a:ext uri="{FF2B5EF4-FFF2-40B4-BE49-F238E27FC236}">
                <a16:creationId xmlns:a16="http://schemas.microsoft.com/office/drawing/2014/main" id="{13D7FB2A-425B-4C88-DAC4-6B5E0F4F15E9}"/>
              </a:ext>
            </a:extLst>
          </p:cNvPr>
          <p:cNvSpPr>
            <a:spLocks xmlns:a="http://schemas.openxmlformats.org/drawingml/2006/main" noGrp="1"/>
          </p:cNvSpPr>
          <p:nvPr/>
        </p:nvSpPr>
        <p:spPr>
          <a:xfrm xmlns:a="http://schemas.openxmlformats.org/drawingml/2006/main">
            <a:off x="355600" y="1549400"/>
            <a:ext cx="21082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Supply panel">
            <a:extLst xmlns:a="http://schemas.openxmlformats.org/drawingml/2006/main">
              <a:ext uri="{FF2B5EF4-FFF2-40B4-BE49-F238E27FC236}">
                <a16:creationId xmlns:a16="http://schemas.microsoft.com/office/drawing/2014/main" id="{EDF9E6D9-DC05-D64B-93EE-3112FC8385C1}"/>
              </a:ext>
            </a:extLst>
          </p:cNvPr>
          <p:cNvSpPr>
            <a:spLocks xmlns:a="http://schemas.openxmlformats.org/drawingml/2006/main" noGrp="1"/>
          </p:cNvSpPr>
          <p:nvPr/>
        </p:nvSpPr>
        <p:spPr>
          <a:xfrm xmlns:a="http://schemas.openxmlformats.org/drawingml/2006/main">
            <a:off x="2565400" y="1549400"/>
            <a:ext cx="34036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pportunity panel">
            <a:extLst xmlns:a="http://schemas.openxmlformats.org/drawingml/2006/main">
              <a:ext uri="{FF2B5EF4-FFF2-40B4-BE49-F238E27FC236}">
                <a16:creationId xmlns:a16="http://schemas.microsoft.com/office/drawing/2014/main" id="{41E361D9-0C89-9050-52FE-9860D18566DF}"/>
              </a:ext>
            </a:extLst>
          </p:cNvPr>
          <p:cNvSpPr>
            <a:spLocks xmlns:a="http://schemas.openxmlformats.org/drawingml/2006/main" noGrp="1"/>
          </p:cNvSpPr>
          <p:nvPr/>
        </p:nvSpPr>
        <p:spPr>
          <a:xfrm xmlns:a="http://schemas.openxmlformats.org/drawingml/2006/main">
            <a:off x="6070600" y="1549400"/>
            <a:ext cx="30607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Investment panel">
            <a:extLst xmlns:a="http://schemas.openxmlformats.org/drawingml/2006/main">
              <a:ext uri="{FF2B5EF4-FFF2-40B4-BE49-F238E27FC236}">
                <a16:creationId xmlns:a16="http://schemas.microsoft.com/office/drawing/2014/main" id="{7EB7908E-9958-408F-3537-2A89642FDC6D}"/>
              </a:ext>
            </a:extLst>
          </p:cNvPr>
          <p:cNvSpPr>
            <a:spLocks xmlns:a="http://schemas.openxmlformats.org/drawingml/2006/main" noGrp="1"/>
          </p:cNvSpPr>
          <p:nvPr/>
        </p:nvSpPr>
        <p:spPr>
          <a:xfrm xmlns:a="http://schemas.openxmlformats.org/drawingml/2006/main">
            <a:off x="9232900" y="1549400"/>
            <a:ext cx="19812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Demand heading">
            <a:extLst xmlns:a="http://schemas.openxmlformats.org/drawingml/2006/main">
              <a:ext uri="{FF2B5EF4-FFF2-40B4-BE49-F238E27FC236}">
                <a16:creationId xmlns:a16="http://schemas.microsoft.com/office/drawing/2014/main" id="{5E10CFA9-C012-27D2-B26F-FF5D806DD0C9}"/>
              </a:ext>
            </a:extLst>
          </p:cNvPr>
          <p:cNvSpPr>
            <a:spLocks xmlns:a="http://schemas.openxmlformats.org/drawingml/2006/main" noGrp="1"/>
          </p:cNvSpPr>
          <p:nvPr/>
        </p:nvSpPr>
        <p:spPr>
          <a:xfrm xmlns:a="http://schemas.openxmlformats.org/drawingml/2006/main">
            <a:off x="457200" y="1638300"/>
            <a:ext cx="1905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1  NATIONAL DEMAND</a:t>
            </a:r>
          </a:p>
        </p:txBody>
      </p:sp>
      <p:sp>
        <p:nvSpPr>
          <p:cNvPr id="14" name="System heading">
            <a:extLst xmlns:a="http://schemas.openxmlformats.org/drawingml/2006/main">
              <a:ext uri="{FF2B5EF4-FFF2-40B4-BE49-F238E27FC236}">
                <a16:creationId xmlns:a16="http://schemas.microsoft.com/office/drawing/2014/main" id="{D1B803F8-148F-F52B-6733-F8C59DCFA18E}"/>
              </a:ext>
            </a:extLst>
          </p:cNvPr>
          <p:cNvSpPr>
            <a:spLocks xmlns:a="http://schemas.openxmlformats.org/drawingml/2006/main" noGrp="1"/>
          </p:cNvSpPr>
          <p:nvPr/>
        </p:nvSpPr>
        <p:spPr>
          <a:xfrm xmlns:a="http://schemas.openxmlformats.org/drawingml/2006/main">
            <a:off x="2667000" y="1638300"/>
            <a:ext cx="32004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2  SUPPLY AND DELIVERY</a:t>
            </a:r>
          </a:p>
        </p:txBody>
      </p:sp>
      <p:sp>
        <p:nvSpPr>
          <p:cNvPr id="15" name="Terminal heading">
            <a:extLst xmlns:a="http://schemas.openxmlformats.org/drawingml/2006/main">
              <a:ext uri="{FF2B5EF4-FFF2-40B4-BE49-F238E27FC236}">
                <a16:creationId xmlns:a16="http://schemas.microsoft.com/office/drawing/2014/main" id="{EA11C542-C5C8-C25B-C917-5395829365FA}"/>
              </a:ext>
            </a:extLst>
          </p:cNvPr>
          <p:cNvSpPr>
            <a:spLocks xmlns:a="http://schemas.openxmlformats.org/drawingml/2006/main" noGrp="1"/>
          </p:cNvSpPr>
          <p:nvPr/>
        </p:nvSpPr>
        <p:spPr>
          <a:xfrm xmlns:a="http://schemas.openxmlformats.org/drawingml/2006/main">
            <a:off x="6172200" y="1638300"/>
            <a:ext cx="28575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3  VOPAK OPPORTUNITY</a:t>
            </a:r>
          </a:p>
        </p:txBody>
      </p:sp>
      <p:sp>
        <p:nvSpPr>
          <p:cNvPr id="16" name="Investment heading">
            <a:extLst xmlns:a="http://schemas.openxmlformats.org/drawingml/2006/main">
              <a:ext uri="{FF2B5EF4-FFF2-40B4-BE49-F238E27FC236}">
                <a16:creationId xmlns:a16="http://schemas.microsoft.com/office/drawing/2014/main" id="{788AB381-C5D3-5D15-F133-8717DE0477FB}"/>
              </a:ext>
            </a:extLst>
          </p:cNvPr>
          <p:cNvSpPr>
            <a:spLocks xmlns:a="http://schemas.openxmlformats.org/drawingml/2006/main" noGrp="1"/>
          </p:cNvSpPr>
          <p:nvPr/>
        </p:nvSpPr>
        <p:spPr>
          <a:xfrm xmlns:a="http://schemas.openxmlformats.org/drawingml/2006/main">
            <a:off x="9334500" y="1638300"/>
            <a:ext cx="1778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4  INVESTMENT</a:t>
            </a:r>
          </a:p>
        </p:txBody>
      </p:sp>
      <p:cxnSp>
        <p:nvCxnSpPr>
          <p:cNvPr id="108" name="Column heading rule"/>
          <p:cNvCxnSpPr/>
          <p:nvPr/>
        </p:nvCxnSpPr>
        <p:spPr>
          <a:xfrm xmlns:a="http://schemas.openxmlformats.org/drawingml/2006/main">
            <a:off x="457200" y="1917700"/>
            <a:ext cx="19050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09" name="Column heading rule"/>
          <p:cNvCxnSpPr/>
          <p:nvPr/>
        </p:nvCxnSpPr>
        <p:spPr>
          <a:xfrm xmlns:a="http://schemas.openxmlformats.org/drawingml/2006/main">
            <a:off x="2667000" y="1917700"/>
            <a:ext cx="32004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10" name="Column heading rule"/>
          <p:cNvCxnSpPr/>
          <p:nvPr/>
        </p:nvCxnSpPr>
        <p:spPr>
          <a:xfrm xmlns:a="http://schemas.openxmlformats.org/drawingml/2006/main">
            <a:off x="6172200" y="1917700"/>
            <a:ext cx="28575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11" name="Column heading rule"/>
          <p:cNvCxnSpPr/>
          <p:nvPr/>
        </p:nvCxnSpPr>
        <p:spPr>
          <a:xfrm xmlns:a="http://schemas.openxmlformats.org/drawingml/2006/main">
            <a:off x="9334500" y="1917700"/>
            <a:ext cx="17780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1" name="National market">
            <a:extLst xmlns:a="http://schemas.openxmlformats.org/drawingml/2006/main">
              <a:ext uri="{FF2B5EF4-FFF2-40B4-BE49-F238E27FC236}">
                <a16:creationId xmlns:a16="http://schemas.microsoft.com/office/drawing/2014/main" id="{1F4039F1-5645-86DE-916D-FF2ABE7750B0}"/>
              </a:ext>
            </a:extLst>
          </p:cNvPr>
          <p:cNvSpPr>
            <a:spLocks xmlns:a="http://schemas.openxmlformats.org/drawingml/2006/main" noGrp="1"/>
          </p:cNvSpPr>
          <p:nvPr/>
        </p:nvSpPr>
        <p:spPr>
          <a:xfrm xmlns:a="http://schemas.openxmlformats.org/drawingml/2006/main">
            <a:off x="457200" y="2006600"/>
            <a:ext cx="1905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National consumption</a:t>
            </a:r>
          </a:p>
          <a:p xmlns:a="http://schemas.openxmlformats.org/drawingml/2006/main">
            <a:pPr>
              <a:spcAft>
                <a:spcPts val="200"/>
              </a:spcAft>
              <a:buNone/>
            </a:pPr>
            <a:r>
              <a:rPr sz="1050">
                <a:solidFill>
                  <a:schemeClr val="dk1"/>
                </a:solidFill>
                <a:latin typeface="Lato"/>
                <a:ea typeface="Lato"/>
                <a:cs typeface="Lato"/>
              </a:rPr>
              <a:t>Petrol and diesel sales</a:t>
            </a:r>
          </a:p>
          <a:p xmlns:a="http://schemas.openxmlformats.org/drawingml/2006/main">
            <a:pPr>
              <a:spcAft>
                <a:spcPts val="200"/>
              </a:spcAft>
              <a:buNone/>
            </a:pPr>
            <a:r>
              <a:rPr sz="1050">
                <a:solidFill>
                  <a:schemeClr val="dk1"/>
                </a:solidFill>
                <a:latin typeface="Lato"/>
                <a:ea typeface="Lato"/>
                <a:cs typeface="Lato"/>
              </a:rPr>
              <a:t>2023: 21.94B L</a:t>
            </a:r>
            <a:endParaRPr sz="1050">
              <a:solidFill>
                <a:schemeClr val="dk1"/>
              </a:solidFill>
              <a:latin typeface="Lato"/>
              <a:ea typeface="Lato"/>
              <a:cs typeface="Lato"/>
            </a:endParaRPr>
          </a:p>
        </p:txBody>
      </p:sp>
      <p:sp>
        <p:nvSpPr>
          <p:cNvPr id="22" name="Product demand">
            <a:extLst xmlns:a="http://schemas.openxmlformats.org/drawingml/2006/main">
              <a:ext uri="{FF2B5EF4-FFF2-40B4-BE49-F238E27FC236}">
                <a16:creationId xmlns:a16="http://schemas.microsoft.com/office/drawing/2014/main" id="{FC0C19CA-8D25-70AE-0BD5-852428AD766E}"/>
              </a:ext>
            </a:extLst>
          </p:cNvPr>
          <p:cNvSpPr>
            <a:spLocks xmlns:a="http://schemas.openxmlformats.org/drawingml/2006/main" noGrp="1"/>
          </p:cNvSpPr>
          <p:nvPr/>
        </p:nvSpPr>
        <p:spPr>
          <a:xfrm xmlns:a="http://schemas.openxmlformats.org/drawingml/2006/main">
            <a:off x="457200" y="3073400"/>
            <a:ext cx="1905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Demand by product</a:t>
            </a:r>
          </a:p>
          <a:p xmlns:a="http://schemas.openxmlformats.org/drawingml/2006/main">
            <a:pPr>
              <a:spcAft>
                <a:spcPts val="200"/>
              </a:spcAft>
              <a:buNone/>
            </a:pPr>
            <a:r>
              <a:rPr sz="1050">
                <a:solidFill>
                  <a:schemeClr val="dk1"/>
                </a:solidFill>
                <a:latin typeface="Lato"/>
                <a:ea typeface="Lato"/>
                <a:cs typeface="Lato"/>
              </a:rPr>
              <a:t>Petrol 9.0B L</a:t>
            </a:r>
          </a:p>
          <a:p xmlns:a="http://schemas.openxmlformats.org/drawingml/2006/main">
            <a:pPr>
              <a:spcAft>
                <a:spcPts val="200"/>
              </a:spcAft>
              <a:buNone/>
            </a:pPr>
            <a:r>
              <a:rPr sz="1050">
                <a:solidFill>
                  <a:schemeClr val="dk1"/>
                </a:solidFill>
                <a:latin typeface="Lato"/>
                <a:ea typeface="Lato"/>
                <a:cs typeface="Lato"/>
              </a:rPr>
              <a:t>Diesel 12.9B L</a:t>
            </a:r>
            <a:endParaRPr sz="1050">
              <a:solidFill>
                <a:schemeClr val="dk1"/>
              </a:solidFill>
              <a:latin typeface="Lato"/>
              <a:ea typeface="Lato"/>
              <a:cs typeface="Lato"/>
            </a:endParaRPr>
          </a:p>
        </p:txBody>
      </p:sp>
      <p:sp>
        <p:nvSpPr>
          <p:cNvPr id="23" name="Sector demand">
            <a:extLst xmlns:a="http://schemas.openxmlformats.org/drawingml/2006/main">
              <a:ext uri="{FF2B5EF4-FFF2-40B4-BE49-F238E27FC236}">
                <a16:creationId xmlns:a16="http://schemas.microsoft.com/office/drawing/2014/main" id="{0F861E75-7AA1-B3FD-4B6B-FE7B0ECE42C9}"/>
              </a:ext>
            </a:extLst>
          </p:cNvPr>
          <p:cNvSpPr>
            <a:spLocks xmlns:a="http://schemas.openxmlformats.org/drawingml/2006/main" noGrp="1"/>
          </p:cNvSpPr>
          <p:nvPr/>
        </p:nvSpPr>
        <p:spPr>
          <a:xfrm xmlns:a="http://schemas.openxmlformats.org/drawingml/2006/main">
            <a:off x="457200" y="4140200"/>
            <a:ext cx="1905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Demand by use</a:t>
            </a:r>
          </a:p>
          <a:p xmlns:a="http://schemas.openxmlformats.org/drawingml/2006/main">
            <a:pPr>
              <a:spcAft>
                <a:spcPts val="200"/>
              </a:spcAft>
              <a:buNone/>
            </a:pPr>
            <a:r>
              <a:rPr sz="1050">
                <a:solidFill>
                  <a:schemeClr val="dk1"/>
                </a:solidFill>
                <a:latin typeface="Lato"/>
                <a:ea typeface="Lato"/>
                <a:cs typeface="Lato"/>
              </a:rPr>
              <a:t>Road 15.1B, industry 1.6B</a:t>
            </a:r>
          </a:p>
          <a:p xmlns:a="http://schemas.openxmlformats.org/drawingml/2006/main">
            <a:pPr>
              <a:spcAft>
                <a:spcPts val="200"/>
              </a:spcAft>
              <a:buNone/>
            </a:pPr>
            <a:r>
              <a:rPr sz="1050">
                <a:solidFill>
                  <a:schemeClr val="dk1"/>
                </a:solidFill>
                <a:latin typeface="Lato"/>
                <a:ea typeface="Lato"/>
                <a:cs typeface="Lato"/>
              </a:rPr>
              <a:t>Agri 1.2B, other 5.3B</a:t>
            </a:r>
            <a:endParaRPr sz="1050">
              <a:solidFill>
                <a:schemeClr val="dk1"/>
              </a:solidFill>
              <a:latin typeface="Lato"/>
              <a:ea typeface="Lato"/>
              <a:cs typeface="Lato"/>
            </a:endParaRPr>
          </a:p>
        </p:txBody>
      </p:sp>
      <p:sp>
        <p:nvSpPr>
          <p:cNvPr id="24" name="Demand parameters">
            <a:extLst xmlns:a="http://schemas.openxmlformats.org/drawingml/2006/main">
              <a:ext uri="{FF2B5EF4-FFF2-40B4-BE49-F238E27FC236}">
                <a16:creationId xmlns:a16="http://schemas.microsoft.com/office/drawing/2014/main" id="{79B1AEA4-0900-4A1F-2A44-2F05809E06FC}"/>
              </a:ext>
            </a:extLst>
          </p:cNvPr>
          <p:cNvSpPr>
            <a:spLocks xmlns:a="http://schemas.openxmlformats.org/drawingml/2006/main" noGrp="1"/>
          </p:cNvSpPr>
          <p:nvPr/>
        </p:nvSpPr>
        <p:spPr>
          <a:xfrm xmlns:a="http://schemas.openxmlformats.org/drawingml/2006/main">
            <a:off x="457200" y="5207000"/>
            <a:ext cx="1905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Demand parameters</a:t>
            </a:r>
          </a:p>
          <a:p xmlns:a="http://schemas.openxmlformats.org/drawingml/2006/main">
            <a:pPr>
              <a:spcAft>
                <a:spcPts val="200"/>
              </a:spcAft>
              <a:buNone/>
            </a:pPr>
            <a:r>
              <a:rPr sz="1050">
                <a:solidFill>
                  <a:schemeClr val="dk1"/>
                </a:solidFill>
                <a:latin typeface="Lato"/>
                <a:ea typeface="Lato"/>
                <a:cs typeface="Lato"/>
              </a:rPr>
              <a:t>GDP and sectors</a:t>
            </a:r>
          </a:p>
          <a:p xmlns:a="http://schemas.openxmlformats.org/drawingml/2006/main">
            <a:pPr>
              <a:spcAft>
                <a:spcPts val="200"/>
              </a:spcAft>
              <a:buNone/>
            </a:pPr>
            <a:r>
              <a:rPr sz="1050">
                <a:solidFill>
                  <a:schemeClr val="dk1"/>
                </a:solidFill>
                <a:latin typeface="Lato"/>
                <a:ea typeface="Lato"/>
                <a:cs typeface="Lato"/>
              </a:rPr>
              <a:t>EVs, fleet, efficiency</a:t>
            </a:r>
          </a:p>
          <a:p xmlns:a="http://schemas.openxmlformats.org/drawingml/2006/main">
            <a:pPr>
              <a:spcAft>
                <a:spcPts val="200"/>
              </a:spcAft>
              <a:buNone/>
            </a:pPr>
            <a:r>
              <a:rPr sz="1050">
                <a:solidFill>
                  <a:schemeClr val="dk1"/>
                </a:solidFill>
                <a:latin typeface="Lato"/>
                <a:ea typeface="Lato"/>
                <a:cs typeface="Lato"/>
              </a:rPr>
              <a:t>Freight, prices, power</a:t>
            </a:r>
            <a:endParaRPr sz="1050">
              <a:solidFill>
                <a:schemeClr val="dk1"/>
              </a:solidFill>
              <a:latin typeface="Lato"/>
              <a:ea typeface="Lato"/>
              <a:cs typeface="Lato"/>
            </a:endParaRPr>
          </a:p>
        </p:txBody>
      </p:sp>
      <p:sp>
        <p:nvSpPr>
          <p:cNvPr id="25" name="Imports">
            <a:extLst xmlns:a="http://schemas.openxmlformats.org/drawingml/2006/main">
              <a:ext uri="{FF2B5EF4-FFF2-40B4-BE49-F238E27FC236}">
                <a16:creationId xmlns:a16="http://schemas.microsoft.com/office/drawing/2014/main" id="{724C6B42-EF01-8CC4-3352-533547797903}"/>
              </a:ext>
            </a:extLst>
          </p:cNvPr>
          <p:cNvSpPr>
            <a:spLocks xmlns:a="http://schemas.openxmlformats.org/drawingml/2006/main" noGrp="1"/>
          </p:cNvSpPr>
          <p:nvPr/>
        </p:nvSpPr>
        <p:spPr>
          <a:xfrm xmlns:a="http://schemas.openxmlformats.org/drawingml/2006/main">
            <a:off x="2667000" y="2006600"/>
            <a:ext cx="1524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Gross imports, 2025</a:t>
            </a:r>
          </a:p>
          <a:p xmlns:a="http://schemas.openxmlformats.org/drawingml/2006/main">
            <a:pPr>
              <a:spcAft>
                <a:spcPts val="200"/>
              </a:spcAft>
              <a:buNone/>
            </a:pPr>
            <a:r>
              <a:rPr sz="1050">
                <a:solidFill>
                  <a:schemeClr val="dk1"/>
                </a:solidFill>
                <a:latin typeface="Lato"/>
                <a:ea typeface="Lato"/>
                <a:cs typeface="Lato"/>
              </a:rPr>
              <a:t>Petrol 4.45B L</a:t>
            </a:r>
          </a:p>
          <a:p xmlns:a="http://schemas.openxmlformats.org/drawingml/2006/main">
            <a:pPr>
              <a:spcAft>
                <a:spcPts val="200"/>
              </a:spcAft>
              <a:buNone/>
            </a:pPr>
            <a:r>
              <a:rPr sz="1050">
                <a:solidFill>
                  <a:schemeClr val="dk1"/>
                </a:solidFill>
                <a:latin typeface="Lato"/>
                <a:ea typeface="Lato"/>
                <a:cs typeface="Lato"/>
              </a:rPr>
              <a:t>Diesel 12.25B L</a:t>
            </a:r>
          </a:p>
        </p:txBody>
      </p:sp>
      <p:sp>
        <p:nvSpPr>
          <p:cNvPr id="26" name="Production">
            <a:extLst xmlns:a="http://schemas.openxmlformats.org/drawingml/2006/main">
              <a:ext uri="{FF2B5EF4-FFF2-40B4-BE49-F238E27FC236}">
                <a16:creationId xmlns:a16="http://schemas.microsoft.com/office/drawing/2014/main" id="{0F3927D4-99CC-B20A-F042-9B8286A9C86F}"/>
              </a:ext>
            </a:extLst>
          </p:cNvPr>
          <p:cNvSpPr>
            <a:spLocks xmlns:a="http://schemas.openxmlformats.org/drawingml/2006/main" noGrp="1"/>
          </p:cNvSpPr>
          <p:nvPr/>
        </p:nvSpPr>
        <p:spPr>
          <a:xfrm xmlns:a="http://schemas.openxmlformats.org/drawingml/2006/main">
            <a:off x="4343400" y="2006600"/>
            <a:ext cx="1524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Domestic production</a:t>
            </a:r>
          </a:p>
          <a:p xmlns:a="http://schemas.openxmlformats.org/drawingml/2006/main">
            <a:pPr>
              <a:spcAft>
                <a:spcPts val="200"/>
              </a:spcAft>
              <a:buNone/>
            </a:pPr>
            <a:r>
              <a:rPr sz="1050">
                <a:solidFill>
                  <a:schemeClr val="dk1"/>
                </a:solidFill>
                <a:latin typeface="Lato"/>
                <a:ea typeface="Lato"/>
                <a:cs typeface="Lato"/>
              </a:rPr>
              <a:t>Refinery and synfuels</a:t>
            </a:r>
          </a:p>
          <a:p xmlns:a="http://schemas.openxmlformats.org/drawingml/2006/main">
            <a:pPr>
              <a:spcAft>
                <a:spcPts val="200"/>
              </a:spcAft>
              <a:buNone/>
            </a:pPr>
            <a:r>
              <a:rPr sz="1050">
                <a:solidFill>
                  <a:schemeClr val="dk1"/>
                </a:solidFill>
                <a:latin typeface="Lato"/>
                <a:ea typeface="Lato"/>
                <a:cs typeface="Lato"/>
              </a:rPr>
              <a:t>No data after 2021</a:t>
            </a:r>
            <a:endParaRPr sz="1050">
              <a:solidFill>
                <a:schemeClr val="dk1"/>
              </a:solidFill>
              <a:latin typeface="Lato"/>
              <a:ea typeface="Lato"/>
              <a:cs typeface="Lato"/>
            </a:endParaRPr>
          </a:p>
        </p:txBody>
      </p:sp>
      <p:sp>
        <p:nvSpPr>
          <p:cNvPr id="27" name="Ports">
            <a:extLst xmlns:a="http://schemas.openxmlformats.org/drawingml/2006/main">
              <a:ext uri="{FF2B5EF4-FFF2-40B4-BE49-F238E27FC236}">
                <a16:creationId xmlns:a16="http://schemas.microsoft.com/office/drawing/2014/main" id="{2B5A0F96-8E3F-071A-F8DA-79BFBC4EB29F}"/>
              </a:ext>
            </a:extLst>
          </p:cNvPr>
          <p:cNvSpPr>
            <a:spLocks xmlns:a="http://schemas.openxmlformats.org/drawingml/2006/main" noGrp="1"/>
          </p:cNvSpPr>
          <p:nvPr/>
        </p:nvSpPr>
        <p:spPr>
          <a:xfrm xmlns:a="http://schemas.openxmlformats.org/drawingml/2006/main">
            <a:off x="2667000" y="3073400"/>
            <a:ext cx="1524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Ports</a:t>
            </a:r>
          </a:p>
          <a:p xmlns:a="http://schemas.openxmlformats.org/drawingml/2006/main">
            <a:pPr>
              <a:spcAft>
                <a:spcPts val="200"/>
              </a:spcAft>
              <a:buNone/>
            </a:pPr>
            <a:r>
              <a:rPr sz="1050">
                <a:solidFill>
                  <a:schemeClr val="dk1"/>
                </a:solidFill>
                <a:latin typeface="Lato"/>
                <a:ea typeface="Lato"/>
                <a:cs typeface="Lato"/>
              </a:rPr>
              <a:t>Durban, Richards Bay</a:t>
            </a:r>
          </a:p>
          <a:p xmlns:a="http://schemas.openxmlformats.org/drawingml/2006/main">
            <a:pPr>
              <a:spcAft>
                <a:spcPts val="200"/>
              </a:spcAft>
              <a:buNone/>
            </a:pPr>
            <a:r>
              <a:rPr sz="1050">
                <a:solidFill>
                  <a:schemeClr val="dk1"/>
                </a:solidFill>
                <a:latin typeface="Lato"/>
                <a:ea typeface="Lato"/>
                <a:cs typeface="Lato"/>
              </a:rPr>
              <a:t>Other gateways</a:t>
            </a:r>
            <a:endParaRPr sz="1050">
              <a:solidFill>
                <a:schemeClr val="dk1"/>
              </a:solidFill>
              <a:latin typeface="Lato"/>
              <a:ea typeface="Lato"/>
              <a:cs typeface="Lato"/>
            </a:endParaRPr>
          </a:p>
        </p:txBody>
      </p:sp>
      <p:sp>
        <p:nvSpPr>
          <p:cNvPr id="28" name="Inland">
            <a:extLst xmlns:a="http://schemas.openxmlformats.org/drawingml/2006/main">
              <a:ext uri="{FF2B5EF4-FFF2-40B4-BE49-F238E27FC236}">
                <a16:creationId xmlns:a16="http://schemas.microsoft.com/office/drawing/2014/main" id="{6DE5F7CC-0E48-CEF6-8887-230FDB8586C9}"/>
              </a:ext>
            </a:extLst>
          </p:cNvPr>
          <p:cNvSpPr>
            <a:spLocks xmlns:a="http://schemas.openxmlformats.org/drawingml/2006/main" noGrp="1"/>
          </p:cNvSpPr>
          <p:nvPr/>
        </p:nvSpPr>
        <p:spPr>
          <a:xfrm xmlns:a="http://schemas.openxmlformats.org/drawingml/2006/main">
            <a:off x="4343400" y="3073400"/>
            <a:ext cx="1524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Inland delivery</a:t>
            </a:r>
          </a:p>
          <a:p xmlns:a="http://schemas.openxmlformats.org/drawingml/2006/main">
            <a:pPr>
              <a:spcAft>
                <a:spcPts val="200"/>
              </a:spcAft>
              <a:buNone/>
            </a:pPr>
            <a:r>
              <a:rPr sz="1050">
                <a:solidFill>
                  <a:schemeClr val="dk1"/>
                </a:solidFill>
                <a:latin typeface="Lato"/>
                <a:ea typeface="Lato"/>
                <a:cs typeface="Lato"/>
              </a:rPr>
              <a:t>NMPP trunk line</a:t>
            </a:r>
          </a:p>
          <a:p xmlns:a="http://schemas.openxmlformats.org/drawingml/2006/main">
            <a:pPr>
              <a:spcAft>
                <a:spcPts val="200"/>
              </a:spcAft>
              <a:buNone/>
            </a:pPr>
            <a:r>
              <a:rPr sz="1050">
                <a:solidFill>
                  <a:schemeClr val="dk1"/>
                </a:solidFill>
                <a:latin typeface="Lato"/>
                <a:ea typeface="Lato"/>
                <a:cs typeface="Lato"/>
              </a:rPr>
              <a:t>Road and rail</a:t>
            </a:r>
            <a:endParaRPr sz="1050">
              <a:solidFill>
                <a:schemeClr val="dk1"/>
              </a:solidFill>
              <a:latin typeface="Lato"/>
              <a:ea typeface="Lato"/>
              <a:cs typeface="Lato"/>
            </a:endParaRPr>
          </a:p>
        </p:txBody>
      </p:sp>
      <p:sp>
        <p:nvSpPr>
          <p:cNvPr id="29" name="Coastal demand">
            <a:extLst xmlns:a="http://schemas.openxmlformats.org/drawingml/2006/main">
              <a:ext uri="{FF2B5EF4-FFF2-40B4-BE49-F238E27FC236}">
                <a16:creationId xmlns:a16="http://schemas.microsoft.com/office/drawing/2014/main" id="{57507AA1-D9BB-C5C3-2D0D-F57B42E1B24B}"/>
              </a:ext>
            </a:extLst>
          </p:cNvPr>
          <p:cNvSpPr>
            <a:spLocks xmlns:a="http://schemas.openxmlformats.org/drawingml/2006/main" noGrp="1"/>
          </p:cNvSpPr>
          <p:nvPr/>
        </p:nvSpPr>
        <p:spPr>
          <a:xfrm xmlns:a="http://schemas.openxmlformats.org/drawingml/2006/main">
            <a:off x="2667000" y="4140200"/>
            <a:ext cx="1524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Coastal demand</a:t>
            </a:r>
          </a:p>
          <a:p xmlns:a="http://schemas.openxmlformats.org/drawingml/2006/main">
            <a:pPr>
              <a:spcAft>
                <a:spcPts val="200"/>
              </a:spcAft>
              <a:buNone/>
            </a:pPr>
            <a:r>
              <a:rPr sz="1050">
                <a:solidFill>
                  <a:schemeClr val="dk1"/>
                </a:solidFill>
                <a:latin typeface="Lato"/>
                <a:ea typeface="Lato"/>
                <a:cs typeface="Lato"/>
              </a:rPr>
              <a:t>KZN, WC, EC</a:t>
            </a:r>
          </a:p>
          <a:p xmlns:a="http://schemas.openxmlformats.org/drawingml/2006/main">
            <a:pPr>
              <a:spcAft>
                <a:spcPts val="200"/>
              </a:spcAft>
              <a:buNone/>
            </a:pPr>
            <a:r>
              <a:rPr sz="1050">
                <a:solidFill>
                  <a:schemeClr val="dk1"/>
                </a:solidFill>
                <a:latin typeface="Lato"/>
                <a:ea typeface="Lato"/>
                <a:cs typeface="Lato"/>
              </a:rPr>
              <a:t>Port-adjacent markets</a:t>
            </a:r>
            <a:endParaRPr sz="1050">
              <a:solidFill>
                <a:schemeClr val="dk1"/>
              </a:solidFill>
              <a:latin typeface="Lato"/>
              <a:ea typeface="Lato"/>
              <a:cs typeface="Lato"/>
            </a:endParaRPr>
          </a:p>
        </p:txBody>
      </p:sp>
      <p:sp>
        <p:nvSpPr>
          <p:cNvPr id="30" name="Inland demand">
            <a:extLst xmlns:a="http://schemas.openxmlformats.org/drawingml/2006/main">
              <a:ext uri="{FF2B5EF4-FFF2-40B4-BE49-F238E27FC236}">
                <a16:creationId xmlns:a16="http://schemas.microsoft.com/office/drawing/2014/main" id="{17D23A6F-391A-B4D0-0390-170FB56988A5}"/>
              </a:ext>
            </a:extLst>
          </p:cNvPr>
          <p:cNvSpPr>
            <a:spLocks xmlns:a="http://schemas.openxmlformats.org/drawingml/2006/main" noGrp="1"/>
          </p:cNvSpPr>
          <p:nvPr/>
        </p:nvSpPr>
        <p:spPr>
          <a:xfrm xmlns:a="http://schemas.openxmlformats.org/drawingml/2006/main">
            <a:off x="4343400" y="4140200"/>
            <a:ext cx="1524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Inland demand</a:t>
            </a:r>
          </a:p>
          <a:p xmlns:a="http://schemas.openxmlformats.org/drawingml/2006/main">
            <a:pPr>
              <a:spcAft>
                <a:spcPts val="200"/>
              </a:spcAft>
              <a:buNone/>
            </a:pPr>
            <a:r>
              <a:rPr sz="1050">
                <a:solidFill>
                  <a:schemeClr val="dk1"/>
                </a:solidFill>
                <a:latin typeface="Lato"/>
                <a:ea typeface="Lato"/>
                <a:cs typeface="Lato"/>
              </a:rPr>
              <a:t>Gauteng and interior</a:t>
            </a:r>
          </a:p>
          <a:p xmlns:a="http://schemas.openxmlformats.org/drawingml/2006/main">
            <a:pPr>
              <a:spcAft>
                <a:spcPts val="200"/>
              </a:spcAft>
              <a:buNone/>
            </a:pPr>
            <a:r>
              <a:rPr sz="1050">
                <a:solidFill>
                  <a:schemeClr val="dk1"/>
                </a:solidFill>
                <a:latin typeface="Lato"/>
                <a:ea typeface="Lato"/>
                <a:cs typeface="Lato"/>
              </a:rPr>
              <a:t>Six inland provinces</a:t>
            </a:r>
            <a:endParaRPr sz="1050">
              <a:solidFill>
                <a:schemeClr val="dk1"/>
              </a:solidFill>
              <a:latin typeface="Lato"/>
              <a:ea typeface="Lato"/>
              <a:cs typeface="Lato"/>
            </a:endParaRPr>
          </a:p>
        </p:txBody>
      </p:sp>
      <p:sp>
        <p:nvSpPr>
          <p:cNvPr id="31" name="Supply and route parameters">
            <a:extLst xmlns:a="http://schemas.openxmlformats.org/drawingml/2006/main">
              <a:ext uri="{FF2B5EF4-FFF2-40B4-BE49-F238E27FC236}">
                <a16:creationId xmlns:a16="http://schemas.microsoft.com/office/drawing/2014/main" id="{2AB4CDEB-D76D-6E84-27BA-C508DCB5FD97}"/>
              </a:ext>
            </a:extLst>
          </p:cNvPr>
          <p:cNvSpPr>
            <a:spLocks xmlns:a="http://schemas.openxmlformats.org/drawingml/2006/main" noGrp="1"/>
          </p:cNvSpPr>
          <p:nvPr/>
        </p:nvSpPr>
        <p:spPr>
          <a:xfrm xmlns:a="http://schemas.openxmlformats.org/drawingml/2006/main">
            <a:off x="2667000" y="5207000"/>
            <a:ext cx="32004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Supply and route parameters</a:t>
            </a:r>
          </a:p>
          <a:p xmlns:a="http://schemas.openxmlformats.org/drawingml/2006/main">
            <a:pPr>
              <a:spcAft>
                <a:spcPts val="200"/>
              </a:spcAft>
              <a:buNone/>
            </a:pPr>
            <a:r>
              <a:rPr sz="1050">
                <a:solidFill>
                  <a:schemeClr val="dk1"/>
                </a:solidFill>
                <a:latin typeface="Lato"/>
                <a:ea typeface="Lato"/>
                <a:cs typeface="Lato"/>
              </a:rPr>
              <a:t>Refinery closures, restarts, gas</a:t>
            </a:r>
          </a:p>
          <a:p xmlns:a="http://schemas.openxmlformats.org/drawingml/2006/main">
            <a:pPr>
              <a:spcAft>
                <a:spcPts val="200"/>
              </a:spcAft>
              <a:buNone/>
            </a:pPr>
            <a:r>
              <a:rPr sz="1050">
                <a:solidFill>
                  <a:schemeClr val="dk1"/>
                </a:solidFill>
                <a:latin typeface="Lato"/>
                <a:ea typeface="Lato"/>
                <a:cs typeface="Lato"/>
              </a:rPr>
              <a:t>Delivered cost, routes, contracts</a:t>
            </a:r>
          </a:p>
          <a:p xmlns:a="http://schemas.openxmlformats.org/drawingml/2006/main">
            <a:pPr>
              <a:spcAft>
                <a:spcPts val="200"/>
              </a:spcAft>
              <a:buNone/>
            </a:pPr>
            <a:r>
              <a:rPr sz="1050">
                <a:solidFill>
                  <a:schemeClr val="dk1"/>
                </a:solidFill>
                <a:latin typeface="Lato"/>
                <a:ea typeface="Lato"/>
                <a:cs typeface="Lato"/>
              </a:rPr>
              <a:t>Port, pipeline, rail capacity</a:t>
            </a:r>
            <a:endParaRPr sz="1050">
              <a:solidFill>
                <a:schemeClr val="dk1"/>
              </a:solidFill>
              <a:latin typeface="Lato"/>
              <a:ea typeface="Lato"/>
              <a:cs typeface="Lato"/>
            </a:endParaRPr>
          </a:p>
        </p:txBody>
      </p:sp>
      <p:sp>
        <p:nvSpPr>
          <p:cNvPr id="32" name="Market sizing">
            <a:extLst xmlns:a="http://schemas.openxmlformats.org/drawingml/2006/main">
              <a:ext uri="{FF2B5EF4-FFF2-40B4-BE49-F238E27FC236}">
                <a16:creationId xmlns:a16="http://schemas.microsoft.com/office/drawing/2014/main" id="{91CBF5AA-AFA2-4C43-CD42-91247C5EBFB1}"/>
              </a:ext>
            </a:extLst>
          </p:cNvPr>
          <p:cNvSpPr>
            <a:spLocks xmlns:a="http://schemas.openxmlformats.org/drawingml/2006/main" noGrp="1"/>
          </p:cNvSpPr>
          <p:nvPr/>
        </p:nvSpPr>
        <p:spPr>
          <a:xfrm xmlns:a="http://schemas.openxmlformats.org/drawingml/2006/main">
            <a:off x="6172200" y="2006600"/>
            <a:ext cx="28575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Market context</a:t>
            </a:r>
          </a:p>
          <a:p xmlns:a="http://schemas.openxmlformats.org/drawingml/2006/main">
            <a:pPr>
              <a:spcAft>
                <a:spcPts val="200"/>
              </a:spcAft>
              <a:buNone/>
            </a:pPr>
            <a:r>
              <a:rPr sz="1050">
                <a:solidFill>
                  <a:schemeClr val="dk1"/>
                </a:solidFill>
                <a:latin typeface="Lato"/>
                <a:ea typeface="Lato"/>
                <a:cs typeface="Lato"/>
              </a:rPr>
              <a:t>2025 Durban customs 13.16B L</a:t>
            </a:r>
          </a:p>
          <a:p xmlns:a="http://schemas.openxmlformats.org/drawingml/2006/main">
            <a:pPr>
              <a:spcAft>
                <a:spcPts val="200"/>
              </a:spcAft>
              <a:buNone/>
            </a:pPr>
            <a:r>
              <a:rPr sz="1050">
                <a:solidFill>
                  <a:schemeClr val="dk1"/>
                </a:solidFill>
                <a:latin typeface="Lato"/>
                <a:ea typeface="Lato"/>
                <a:cs typeface="Lato"/>
              </a:rPr>
              <a:t>Catchments and gateway overlap</a:t>
            </a:r>
            <a:endParaRPr sz="1050">
              <a:solidFill>
                <a:schemeClr val="dk1"/>
              </a:solidFill>
              <a:latin typeface="Lato"/>
              <a:ea typeface="Lato"/>
              <a:cs typeface="Lato"/>
            </a:endParaRPr>
          </a:p>
        </p:txBody>
      </p:sp>
      <p:sp>
        <p:nvSpPr>
          <p:cNvPr id="33" name="Durban opportunity">
            <a:extLst xmlns:a="http://schemas.openxmlformats.org/drawingml/2006/main">
              <a:ext uri="{FF2B5EF4-FFF2-40B4-BE49-F238E27FC236}">
                <a16:creationId xmlns:a16="http://schemas.microsoft.com/office/drawing/2014/main" id="{AD85D3EA-9660-11AF-4D62-53DF642A83A9}"/>
              </a:ext>
            </a:extLst>
          </p:cNvPr>
          <p:cNvSpPr>
            <a:spLocks xmlns:a="http://schemas.openxmlformats.org/drawingml/2006/main" noGrp="1"/>
          </p:cNvSpPr>
          <p:nvPr/>
        </p:nvSpPr>
        <p:spPr>
          <a:xfrm xmlns:a="http://schemas.openxmlformats.org/drawingml/2006/main">
            <a:off x="6172200" y="3073400"/>
            <a:ext cx="13716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Durban context</a:t>
            </a:r>
          </a:p>
          <a:p xmlns:a="http://schemas.openxmlformats.org/drawingml/2006/main">
            <a:pPr>
              <a:spcAft>
                <a:spcPts val="200"/>
              </a:spcAft>
              <a:buNone/>
            </a:pPr>
            <a:r>
              <a:rPr sz="1050">
                <a:solidFill>
                  <a:schemeClr val="dk1"/>
                </a:solidFill>
                <a:latin typeface="Lato"/>
                <a:ea typeface="Lato"/>
                <a:cs typeface="Lato"/>
              </a:rPr>
              <a:t>Imports 13.16B L</a:t>
            </a:r>
          </a:p>
          <a:p xmlns:a="http://schemas.openxmlformats.org/drawingml/2006/main">
            <a:pPr>
              <a:spcAft>
                <a:spcPts val="200"/>
              </a:spcAft>
              <a:buNone/>
            </a:pPr>
            <a:r>
              <a:rPr sz="1050">
                <a:solidFill>
                  <a:schemeClr val="dk1"/>
                </a:solidFill>
                <a:latin typeface="Lato"/>
                <a:ea typeface="Lato"/>
                <a:cs typeface="Lato"/>
              </a:rPr>
              <a:t>KZN sales 4.28B L</a:t>
            </a:r>
            <a:endParaRPr sz="1050">
              <a:solidFill>
                <a:schemeClr val="dk1"/>
              </a:solidFill>
              <a:latin typeface="Lato"/>
              <a:ea typeface="Lato"/>
              <a:cs typeface="Lato"/>
            </a:endParaRPr>
          </a:p>
        </p:txBody>
      </p:sp>
      <p:sp>
        <p:nvSpPr>
          <p:cNvPr id="34" name="Lesedi opportunity">
            <a:extLst xmlns:a="http://schemas.openxmlformats.org/drawingml/2006/main">
              <a:ext uri="{FF2B5EF4-FFF2-40B4-BE49-F238E27FC236}">
                <a16:creationId xmlns:a16="http://schemas.microsoft.com/office/drawing/2014/main" id="{63890191-72E5-0DCF-2859-0532EF4E4C33}"/>
              </a:ext>
            </a:extLst>
          </p:cNvPr>
          <p:cNvSpPr>
            <a:spLocks xmlns:a="http://schemas.openxmlformats.org/drawingml/2006/main" noGrp="1"/>
          </p:cNvSpPr>
          <p:nvPr/>
        </p:nvSpPr>
        <p:spPr>
          <a:xfrm xmlns:a="http://schemas.openxmlformats.org/drawingml/2006/main">
            <a:off x="7658100" y="3073400"/>
            <a:ext cx="13716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Lesedi catchments</a:t>
            </a:r>
          </a:p>
          <a:p xmlns:a="http://schemas.openxmlformats.org/drawingml/2006/main">
            <a:pPr>
              <a:spcAft>
                <a:spcPts val="200"/>
              </a:spcAft>
              <a:buNone/>
            </a:pPr>
            <a:r>
              <a:rPr sz="1050">
                <a:solidFill>
                  <a:schemeClr val="dk1"/>
                </a:solidFill>
                <a:latin typeface="Lato"/>
                <a:ea typeface="Lato"/>
                <a:cs typeface="Lato"/>
              </a:rPr>
              <a:t>Gauteng 6.81B L</a:t>
            </a:r>
          </a:p>
          <a:p xmlns:a="http://schemas.openxmlformats.org/drawingml/2006/main">
            <a:pPr>
              <a:spcAft>
                <a:spcPts val="200"/>
              </a:spcAft>
              <a:buNone/>
            </a:pPr>
            <a:r>
              <a:rPr sz="1050">
                <a:solidFill>
                  <a:schemeClr val="dk1"/>
                </a:solidFill>
                <a:latin typeface="Lato"/>
                <a:ea typeface="Lato"/>
                <a:cs typeface="Lato"/>
              </a:rPr>
              <a:t>Inland 11.95B L</a:t>
            </a:r>
          </a:p>
        </p:txBody>
      </p:sp>
      <p:sp>
        <p:nvSpPr>
          <p:cNvPr id="35" name="Share">
            <a:extLst xmlns:a="http://schemas.openxmlformats.org/drawingml/2006/main">
              <a:ext uri="{FF2B5EF4-FFF2-40B4-BE49-F238E27FC236}">
                <a16:creationId xmlns:a16="http://schemas.microsoft.com/office/drawing/2014/main" id="{824CBCA9-E304-3B46-C99C-02F33E9F9976}"/>
              </a:ext>
            </a:extLst>
          </p:cNvPr>
          <p:cNvSpPr>
            <a:spLocks xmlns:a="http://schemas.openxmlformats.org/drawingml/2006/main" noGrp="1"/>
          </p:cNvSpPr>
          <p:nvPr/>
        </p:nvSpPr>
        <p:spPr>
          <a:xfrm xmlns:a="http://schemas.openxmlformats.org/drawingml/2006/main">
            <a:off x="6172200" y="4140200"/>
            <a:ext cx="28575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Conditional base capture</a:t>
            </a:r>
          </a:p>
          <a:p xmlns:a="http://schemas.openxmlformats.org/drawingml/2006/main">
            <a:pPr>
              <a:spcAft>
                <a:spcPts val="200"/>
              </a:spcAft>
              <a:buNone/>
            </a:pPr>
            <a:r>
              <a:rPr sz="1050">
                <a:solidFill>
                  <a:schemeClr val="dk1"/>
                </a:solidFill>
                <a:latin typeface="Lato"/>
                <a:ea typeface="Lato"/>
                <a:cs typeface="Lato"/>
              </a:rPr>
              <a:t>Durban 2.63B L, Lesedi 1.32B L</a:t>
            </a:r>
          </a:p>
          <a:p xmlns:a="http://schemas.openxmlformats.org/drawingml/2006/main">
            <a:pPr>
              <a:spcAft>
                <a:spcPts val="200"/>
              </a:spcAft>
              <a:buNone/>
            </a:pPr>
            <a:r>
              <a:rPr sz="1050">
                <a:solidFill>
                  <a:schemeClr val="dk1"/>
                </a:solidFill>
                <a:latin typeface="Lato"/>
                <a:ea typeface="Lato"/>
                <a:cs typeface="Lato"/>
              </a:rPr>
              <a:t>Lesedi included in Durban flow</a:t>
            </a:r>
            <a:endParaRPr sz="1050">
              <a:solidFill>
                <a:schemeClr val="dk1"/>
              </a:solidFill>
              <a:latin typeface="Lato"/>
              <a:ea typeface="Lato"/>
              <a:cs typeface="Lato"/>
            </a:endParaRPr>
          </a:p>
        </p:txBody>
      </p:sp>
      <p:sp>
        <p:nvSpPr>
          <p:cNvPr id="36" name="Headroom">
            <a:extLst xmlns:a="http://schemas.openxmlformats.org/drawingml/2006/main">
              <a:ext uri="{FF2B5EF4-FFF2-40B4-BE49-F238E27FC236}">
                <a16:creationId xmlns:a16="http://schemas.microsoft.com/office/drawing/2014/main" id="{05E0AD0B-A792-4BDD-1EB7-B01AECA4226C}"/>
              </a:ext>
            </a:extLst>
          </p:cNvPr>
          <p:cNvSpPr>
            <a:spLocks xmlns:a="http://schemas.openxmlformats.org/drawingml/2006/main" noGrp="1"/>
          </p:cNvSpPr>
          <p:nvPr/>
        </p:nvSpPr>
        <p:spPr>
          <a:xfrm xmlns:a="http://schemas.openxmlformats.org/drawingml/2006/main">
            <a:off x="6172200" y="5207000"/>
            <a:ext cx="28575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Incremental opportunity</a:t>
            </a:r>
          </a:p>
          <a:p xmlns:a="http://schemas.openxmlformats.org/drawingml/2006/main">
            <a:pPr>
              <a:spcAft>
                <a:spcPts val="200"/>
              </a:spcAft>
              <a:buNone/>
            </a:pPr>
            <a:r>
              <a:rPr sz="1050">
                <a:solidFill>
                  <a:schemeClr val="dk1"/>
                </a:solidFill>
                <a:latin typeface="Lato"/>
                <a:ea typeface="Lato"/>
                <a:cs typeface="Lato"/>
              </a:rPr>
              <a:t>Needs existing throughput baseline</a:t>
            </a:r>
          </a:p>
          <a:p xmlns:a="http://schemas.openxmlformats.org/drawingml/2006/main">
            <a:pPr>
              <a:spcAft>
                <a:spcPts val="200"/>
              </a:spcAft>
              <a:buNone/>
            </a:pPr>
            <a:r>
              <a:rPr sz="1050">
                <a:solidFill>
                  <a:schemeClr val="dk1"/>
                </a:solidFill>
                <a:latin typeface="Lato"/>
                <a:ea typeface="Lato"/>
                <a:cs typeface="Lato"/>
              </a:rPr>
              <a:t>Access and commitments unverified</a:t>
            </a:r>
            <a:endParaRPr sz="1050">
              <a:solidFill>
                <a:schemeClr val="dk1"/>
              </a:solidFill>
              <a:latin typeface="Lato"/>
              <a:ea typeface="Lato"/>
              <a:cs typeface="Lato"/>
            </a:endParaRPr>
          </a:p>
        </p:txBody>
      </p:sp>
      <p:sp>
        <p:nvSpPr>
          <p:cNvPr id="37" name="Additional capture">
            <a:extLst xmlns:a="http://schemas.openxmlformats.org/drawingml/2006/main">
              <a:ext uri="{FF2B5EF4-FFF2-40B4-BE49-F238E27FC236}">
                <a16:creationId xmlns:a16="http://schemas.microsoft.com/office/drawing/2014/main" id="{6E600B91-FC4C-0363-791E-1A64E047C78A}"/>
              </a:ext>
            </a:extLst>
          </p:cNvPr>
          <p:cNvSpPr>
            <a:spLocks xmlns:a="http://schemas.openxmlformats.org/drawingml/2006/main" noGrp="1"/>
          </p:cNvSpPr>
          <p:nvPr/>
        </p:nvSpPr>
        <p:spPr>
          <a:xfrm xmlns:a="http://schemas.openxmlformats.org/drawingml/2006/main">
            <a:off x="9334500" y="2006600"/>
            <a:ext cx="1778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Additional capture</a:t>
            </a:r>
          </a:p>
          <a:p xmlns:a="http://schemas.openxmlformats.org/drawingml/2006/main">
            <a:pPr>
              <a:spcAft>
                <a:spcPts val="200"/>
              </a:spcAft>
              <a:buNone/>
            </a:pPr>
            <a:r>
              <a:rPr sz="1050">
                <a:solidFill>
                  <a:schemeClr val="dk1"/>
                </a:solidFill>
                <a:latin typeface="Lato"/>
                <a:ea typeface="Lato"/>
                <a:cs typeface="Lato"/>
              </a:rPr>
              <a:t>Customers, contracts</a:t>
            </a:r>
          </a:p>
          <a:p xmlns:a="http://schemas.openxmlformats.org/drawingml/2006/main">
            <a:pPr>
              <a:spcAft>
                <a:spcPts val="200"/>
              </a:spcAft>
              <a:buNone/>
            </a:pPr>
            <a:r>
              <a:rPr sz="1050">
                <a:solidFill>
                  <a:schemeClr val="dk1"/>
                </a:solidFill>
                <a:latin typeface="Lato"/>
                <a:ea typeface="Lato"/>
                <a:cs typeface="Lato"/>
              </a:rPr>
              <a:t>Competition</a:t>
            </a:r>
            <a:endParaRPr sz="1050">
              <a:solidFill>
                <a:schemeClr val="dk1"/>
              </a:solidFill>
              <a:latin typeface="Lato"/>
              <a:ea typeface="Lato"/>
              <a:cs typeface="Lato"/>
            </a:endParaRPr>
          </a:p>
        </p:txBody>
      </p:sp>
      <p:sp>
        <p:nvSpPr>
          <p:cNvPr id="38" name="Existing capacity">
            <a:extLst xmlns:a="http://schemas.openxmlformats.org/drawingml/2006/main">
              <a:ext uri="{FF2B5EF4-FFF2-40B4-BE49-F238E27FC236}">
                <a16:creationId xmlns:a16="http://schemas.microsoft.com/office/drawing/2014/main" id="{DFB2E8DF-FA37-1759-42B2-545E0BF9734F}"/>
              </a:ext>
            </a:extLst>
          </p:cNvPr>
          <p:cNvSpPr>
            <a:spLocks xmlns:a="http://schemas.openxmlformats.org/drawingml/2006/main" noGrp="1"/>
          </p:cNvSpPr>
          <p:nvPr/>
        </p:nvSpPr>
        <p:spPr>
          <a:xfrm xmlns:a="http://schemas.openxmlformats.org/drawingml/2006/main">
            <a:off x="9334500" y="3073400"/>
            <a:ext cx="1778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Existing assets</a:t>
            </a:r>
          </a:p>
          <a:p xmlns:a="http://schemas.openxmlformats.org/drawingml/2006/main">
            <a:pPr>
              <a:spcAft>
                <a:spcPts val="200"/>
              </a:spcAft>
              <a:buNone/>
            </a:pPr>
            <a:r>
              <a:rPr sz="1050">
                <a:solidFill>
                  <a:schemeClr val="dk1"/>
                </a:solidFill>
                <a:latin typeface="Lato"/>
                <a:ea typeface="Lato"/>
                <a:cs typeface="Lato"/>
              </a:rPr>
              <a:t>Tanks and turns</a:t>
            </a:r>
          </a:p>
          <a:p xmlns:a="http://schemas.openxmlformats.org/drawingml/2006/main">
            <a:pPr>
              <a:spcAft>
                <a:spcPts val="200"/>
              </a:spcAft>
              <a:buNone/>
            </a:pPr>
            <a:r>
              <a:rPr sz="1050">
                <a:solidFill>
                  <a:schemeClr val="dk1"/>
                </a:solidFill>
                <a:latin typeface="Lato"/>
                <a:ea typeface="Lato"/>
                <a:cs typeface="Lato"/>
              </a:rPr>
              <a:t>Receipt and dispatch</a:t>
            </a:r>
            <a:endParaRPr sz="1050">
              <a:solidFill>
                <a:schemeClr val="dk1"/>
              </a:solidFill>
              <a:latin typeface="Lato"/>
              <a:ea typeface="Lato"/>
              <a:cs typeface="Lato"/>
            </a:endParaRPr>
          </a:p>
        </p:txBody>
      </p:sp>
      <p:sp>
        <p:nvSpPr>
          <p:cNvPr id="39" name="Investment economics">
            <a:extLst xmlns:a="http://schemas.openxmlformats.org/drawingml/2006/main">
              <a:ext uri="{FF2B5EF4-FFF2-40B4-BE49-F238E27FC236}">
                <a16:creationId xmlns:a16="http://schemas.microsoft.com/office/drawing/2014/main" id="{060FE6FB-6025-293B-144C-0BFFB8319407}"/>
              </a:ext>
            </a:extLst>
          </p:cNvPr>
          <p:cNvSpPr>
            <a:spLocks xmlns:a="http://schemas.openxmlformats.org/drawingml/2006/main" noGrp="1"/>
          </p:cNvSpPr>
          <p:nvPr/>
        </p:nvSpPr>
        <p:spPr>
          <a:xfrm xmlns:a="http://schemas.openxmlformats.org/drawingml/2006/main">
            <a:off x="9334500" y="4140200"/>
            <a:ext cx="1778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New investment</a:t>
            </a:r>
          </a:p>
          <a:p xmlns:a="http://schemas.openxmlformats.org/drawingml/2006/main">
            <a:pPr>
              <a:spcAft>
                <a:spcPts val="200"/>
              </a:spcAft>
              <a:buNone/>
            </a:pPr>
            <a:r>
              <a:rPr sz="1050">
                <a:solidFill>
                  <a:schemeClr val="dk1"/>
                </a:solidFill>
                <a:latin typeface="Lato"/>
                <a:ea typeface="Lato"/>
                <a:cs typeface="Lato"/>
              </a:rPr>
              <a:t>Volume, capex, returns</a:t>
            </a:r>
          </a:p>
          <a:p xmlns:a="http://schemas.openxmlformats.org/drawingml/2006/main">
            <a:pPr>
              <a:spcAft>
                <a:spcPts val="200"/>
              </a:spcAft>
              <a:buNone/>
            </a:pPr>
            <a:r>
              <a:rPr sz="1050">
                <a:solidFill>
                  <a:schemeClr val="dk1"/>
                </a:solidFill>
                <a:latin typeface="Lato"/>
                <a:ea typeface="Lato"/>
                <a:cs typeface="Lato"/>
              </a:rPr>
              <a:t>Alternatives, downside</a:t>
            </a:r>
            <a:endParaRPr sz="1050">
              <a:solidFill>
                <a:schemeClr val="dk1"/>
              </a:solidFill>
              <a:latin typeface="Lato"/>
              <a:ea typeface="Lato"/>
              <a:cs typeface="Lato"/>
            </a:endParaRPr>
          </a:p>
        </p:txBody>
      </p:sp>
      <p:sp>
        <p:nvSpPr>
          <p:cNvPr id="40" name="Resolution">
            <a:extLst xmlns:a="http://schemas.openxmlformats.org/drawingml/2006/main">
              <a:ext uri="{FF2B5EF4-FFF2-40B4-BE49-F238E27FC236}">
                <a16:creationId xmlns:a16="http://schemas.microsoft.com/office/drawing/2014/main" id="{10B2C088-2253-7876-FF66-3F71B4F5F524}"/>
              </a:ext>
            </a:extLst>
          </p:cNvPr>
          <p:cNvSpPr>
            <a:spLocks xmlns:a="http://schemas.openxmlformats.org/drawingml/2006/main" noGrp="1"/>
          </p:cNvSpPr>
          <p:nvPr/>
        </p:nvSpPr>
        <p:spPr>
          <a:xfrm xmlns:a="http://schemas.openxmlformats.org/drawingml/2006/main">
            <a:off x="9334500" y="5207000"/>
            <a:ext cx="17780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Resolution</a:t>
            </a:r>
          </a:p>
          <a:p xmlns:a="http://schemas.openxmlformats.org/drawingml/2006/main">
            <a:pPr>
              <a:spcAft>
                <a:spcPts val="200"/>
              </a:spcAft>
              <a:buNone/>
            </a:pPr>
            <a:r>
              <a:rPr sz="1050">
                <a:solidFill>
                  <a:schemeClr val="dk1"/>
                </a:solidFill>
                <a:latin typeface="Lato"/>
                <a:ea typeface="Lato"/>
                <a:cs typeface="Lato"/>
              </a:rPr>
              <a:t>Vopak share by site</a:t>
            </a:r>
          </a:p>
          <a:p xmlns:a="http://schemas.openxmlformats.org/drawingml/2006/main">
            <a:pPr>
              <a:spcAft>
                <a:spcPts val="200"/>
              </a:spcAft>
              <a:buNone/>
            </a:pPr>
            <a:r>
              <a:rPr sz="1050">
                <a:solidFill>
                  <a:schemeClr val="dk1"/>
                </a:solidFill>
                <a:latin typeface="Lato"/>
                <a:ea typeface="Lato"/>
                <a:cs typeface="Lato"/>
              </a:rPr>
              <a:t>Scope for investment</a:t>
            </a:r>
            <a:endParaRPr sz="1050">
              <a:solidFill>
                <a:schemeClr val="dk1"/>
              </a:solidFill>
              <a:latin typeface="Lato"/>
              <a:ea typeface="Lato"/>
              <a:cs typeface="Lato"/>
            </a:endParaRPr>
          </a:p>
        </p:txBody>
      </p:sp>
      <p:sp>
        <p:nvSpPr>
          <p:cNvPr id="41" name="National market tag">
            <a:extLst xmlns:a="http://schemas.openxmlformats.org/drawingml/2006/main">
              <a:ext uri="{FF2B5EF4-FFF2-40B4-BE49-F238E27FC236}">
                <a16:creationId xmlns:a16="http://schemas.microsoft.com/office/drawing/2014/main" id="{8D1DF495-2867-B96E-BBC0-866DC91750D0}"/>
              </a:ext>
            </a:extLst>
          </p:cNvPr>
          <p:cNvSpPr>
            <a:spLocks xmlns:a="http://schemas.openxmlformats.org/drawingml/2006/main" noGrp="1"/>
          </p:cNvSpPr>
          <p:nvPr/>
        </p:nvSpPr>
        <p:spPr>
          <a:xfrm xmlns:a="http://schemas.openxmlformats.org/drawingml/2006/main">
            <a:off x="533400" y="2705100"/>
            <a:ext cx="1752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2023 · 21.9B L · observed</a:t>
            </a:r>
          </a:p>
        </p:txBody>
      </p:sp>
      <p:sp>
        <p:nvSpPr>
          <p:cNvPr id="42" name="Product demand tag">
            <a:extLst xmlns:a="http://schemas.openxmlformats.org/drawingml/2006/main">
              <a:ext uri="{FF2B5EF4-FFF2-40B4-BE49-F238E27FC236}">
                <a16:creationId xmlns:a16="http://schemas.microsoft.com/office/drawing/2014/main" id="{506514FF-4240-195A-1129-AC4FE8DA6F4C}"/>
              </a:ext>
            </a:extLst>
          </p:cNvPr>
          <p:cNvSpPr>
            <a:spLocks xmlns:a="http://schemas.openxmlformats.org/drawingml/2006/main" noGrp="1"/>
          </p:cNvSpPr>
          <p:nvPr/>
        </p:nvSpPr>
        <p:spPr>
          <a:xfrm xmlns:a="http://schemas.openxmlformats.org/drawingml/2006/main">
            <a:off x="533400" y="3771900"/>
            <a:ext cx="1752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2023 · observed</a:t>
            </a:r>
          </a:p>
        </p:txBody>
      </p:sp>
      <p:sp>
        <p:nvSpPr>
          <p:cNvPr id="43" name="Sector demand tag">
            <a:extLst xmlns:a="http://schemas.openxmlformats.org/drawingml/2006/main">
              <a:ext uri="{FF2B5EF4-FFF2-40B4-BE49-F238E27FC236}">
                <a16:creationId xmlns:a16="http://schemas.microsoft.com/office/drawing/2014/main" id="{8249794E-311C-E01E-4EBA-076C8507785A}"/>
              </a:ext>
            </a:extLst>
          </p:cNvPr>
          <p:cNvSpPr>
            <a:spLocks xmlns:a="http://schemas.openxmlformats.org/drawingml/2006/main" noGrp="1"/>
          </p:cNvSpPr>
          <p:nvPr/>
        </p:nvSpPr>
        <p:spPr>
          <a:xfrm xmlns:a="http://schemas.openxmlformats.org/drawingml/2006/main">
            <a:off x="533400" y="4838700"/>
            <a:ext cx="1752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2021 · 23.2B L · balance</a:t>
            </a:r>
          </a:p>
        </p:txBody>
      </p:sp>
      <p:sp>
        <p:nvSpPr>
          <p:cNvPr id="44" name="Imports tag">
            <a:extLst xmlns:a="http://schemas.openxmlformats.org/drawingml/2006/main">
              <a:ext uri="{FF2B5EF4-FFF2-40B4-BE49-F238E27FC236}">
                <a16:creationId xmlns:a16="http://schemas.microsoft.com/office/drawing/2014/main" id="{45D45AB1-1162-38C5-E090-A37FA7AA51E7}"/>
              </a:ext>
            </a:extLst>
          </p:cNvPr>
          <p:cNvSpPr>
            <a:spLocks xmlns:a="http://schemas.openxmlformats.org/drawingml/2006/main" noGrp="1"/>
          </p:cNvSpPr>
          <p:nvPr/>
        </p:nvSpPr>
        <p:spPr>
          <a:xfrm xmlns:a="http://schemas.openxmlformats.org/drawingml/2006/main">
            <a:off x="2743200" y="2705100"/>
            <a:ext cx="1371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2025 gross 16.70B L</a:t>
            </a:r>
          </a:p>
        </p:txBody>
      </p:sp>
      <p:sp>
        <p:nvSpPr>
          <p:cNvPr id="45" name="Production tag">
            <a:extLst xmlns:a="http://schemas.openxmlformats.org/drawingml/2006/main">
              <a:ext uri="{FF2B5EF4-FFF2-40B4-BE49-F238E27FC236}">
                <a16:creationId xmlns:a16="http://schemas.microsoft.com/office/drawing/2014/main" id="{201F4CC4-568A-0AF6-9662-B95C70B285AF}"/>
              </a:ext>
            </a:extLst>
          </p:cNvPr>
          <p:cNvSpPr>
            <a:spLocks xmlns:a="http://schemas.openxmlformats.org/drawingml/2006/main" noGrp="1"/>
          </p:cNvSpPr>
          <p:nvPr/>
        </p:nvSpPr>
        <p:spPr>
          <a:xfrm xmlns:a="http://schemas.openxmlformats.org/drawingml/2006/main">
            <a:off x="4419600" y="2705100"/>
            <a:ext cx="1371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2021 · 11.7B L · latest</a:t>
            </a:r>
          </a:p>
        </p:txBody>
      </p:sp>
      <p:sp>
        <p:nvSpPr>
          <p:cNvPr id="46" name="Ports tag">
            <a:extLst xmlns:a="http://schemas.openxmlformats.org/drawingml/2006/main">
              <a:ext uri="{FF2B5EF4-FFF2-40B4-BE49-F238E27FC236}">
                <a16:creationId xmlns:a16="http://schemas.microsoft.com/office/drawing/2014/main" id="{51B6C907-0FB6-0E43-7CE6-E139C7D0A042}"/>
              </a:ext>
            </a:extLst>
          </p:cNvPr>
          <p:cNvSpPr>
            <a:spLocks xmlns:a="http://schemas.openxmlformats.org/drawingml/2006/main" noGrp="1"/>
          </p:cNvSpPr>
          <p:nvPr/>
        </p:nvSpPr>
        <p:spPr>
          <a:xfrm xmlns:a="http://schemas.openxmlformats.org/drawingml/2006/main">
            <a:off x="2743200" y="3771900"/>
            <a:ext cx="1371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2025 · Durban 13.2B L</a:t>
            </a:r>
          </a:p>
        </p:txBody>
      </p:sp>
      <p:sp>
        <p:nvSpPr>
          <p:cNvPr id="49" name="Inland tag">
            <a:extLst xmlns:a="http://schemas.openxmlformats.org/drawingml/2006/main">
              <a:ext uri="{FF2B5EF4-FFF2-40B4-BE49-F238E27FC236}">
                <a16:creationId xmlns:a16="http://schemas.microsoft.com/office/drawing/2014/main" id="{17EC9F05-1A0A-C138-1FA5-7412DE30E3BA}"/>
              </a:ext>
            </a:extLst>
          </p:cNvPr>
          <p:cNvSpPr>
            <a:spLocks xmlns:a="http://schemas.openxmlformats.org/drawingml/2006/main" noGrp="1"/>
          </p:cNvSpPr>
          <p:nvPr/>
        </p:nvSpPr>
        <p:spPr>
          <a:xfrm xmlns:a="http://schemas.openxmlformats.org/drawingml/2006/main">
            <a:off x="4419600" y="3771900"/>
            <a:ext cx="1371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FY25 use 5.46B L/yr</a:t>
            </a:r>
          </a:p>
        </p:txBody>
      </p:sp>
      <p:sp>
        <p:nvSpPr>
          <p:cNvPr id="50" name="Coastal demand tag">
            <a:extLst xmlns:a="http://schemas.openxmlformats.org/drawingml/2006/main">
              <a:ext uri="{FF2B5EF4-FFF2-40B4-BE49-F238E27FC236}">
                <a16:creationId xmlns:a16="http://schemas.microsoft.com/office/drawing/2014/main" id="{956E9484-D3A6-A1C6-A247-860F334D3AC4}"/>
              </a:ext>
            </a:extLst>
          </p:cNvPr>
          <p:cNvSpPr>
            <a:spLocks xmlns:a="http://schemas.openxmlformats.org/drawingml/2006/main" noGrp="1"/>
          </p:cNvSpPr>
          <p:nvPr/>
        </p:nvSpPr>
        <p:spPr>
          <a:xfrm xmlns:a="http://schemas.openxmlformats.org/drawingml/2006/main">
            <a:off x="2743200" y="4838700"/>
            <a:ext cx="1371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10.0B L · proxy</a:t>
            </a:r>
          </a:p>
        </p:txBody>
      </p:sp>
      <p:sp>
        <p:nvSpPr>
          <p:cNvPr id="51" name="Inland demand tag">
            <a:extLst xmlns:a="http://schemas.openxmlformats.org/drawingml/2006/main">
              <a:ext uri="{FF2B5EF4-FFF2-40B4-BE49-F238E27FC236}">
                <a16:creationId xmlns:a16="http://schemas.microsoft.com/office/drawing/2014/main" id="{9E107268-37A7-23B8-39C5-7A9C2AB058F2}"/>
              </a:ext>
            </a:extLst>
          </p:cNvPr>
          <p:cNvSpPr>
            <a:spLocks xmlns:a="http://schemas.openxmlformats.org/drawingml/2006/main" noGrp="1"/>
          </p:cNvSpPr>
          <p:nvPr/>
        </p:nvSpPr>
        <p:spPr>
          <a:xfrm xmlns:a="http://schemas.openxmlformats.org/drawingml/2006/main">
            <a:off x="4419600" y="4838700"/>
            <a:ext cx="1371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12.0B L · proxy</a:t>
            </a:r>
          </a:p>
        </p:txBody>
      </p:sp>
      <p:sp>
        <p:nvSpPr>
          <p:cNvPr id="52" name="Market sizing tag">
            <a:extLst xmlns:a="http://schemas.openxmlformats.org/drawingml/2006/main">
              <a:ext uri="{FF2B5EF4-FFF2-40B4-BE49-F238E27FC236}">
                <a16:creationId xmlns:a16="http://schemas.microsoft.com/office/drawing/2014/main" id="{C096C2C5-D37B-3528-AA9C-63E04EEC5FF3}"/>
              </a:ext>
            </a:extLst>
          </p:cNvPr>
          <p:cNvSpPr>
            <a:spLocks xmlns:a="http://schemas.openxmlformats.org/drawingml/2006/main" noGrp="1"/>
          </p:cNvSpPr>
          <p:nvPr/>
        </p:nvSpPr>
        <p:spPr>
          <a:xfrm xmlns:a="http://schemas.openxmlformats.org/drawingml/2006/main">
            <a:off x="6248400" y="2705100"/>
            <a:ext cx="27051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Gateway proxy; capture not observed</a:t>
            </a:r>
          </a:p>
        </p:txBody>
      </p:sp>
      <p:sp>
        <p:nvSpPr>
          <p:cNvPr id="53" name="Durban opportunity tag">
            <a:extLst xmlns:a="http://schemas.openxmlformats.org/drawingml/2006/main">
              <a:ext uri="{FF2B5EF4-FFF2-40B4-BE49-F238E27FC236}">
                <a16:creationId xmlns:a16="http://schemas.microsoft.com/office/drawing/2014/main" id="{9E9902C2-0AF9-C9D5-B8FE-F017EB81602A}"/>
              </a:ext>
            </a:extLst>
          </p:cNvPr>
          <p:cNvSpPr>
            <a:spLocks xmlns:a="http://schemas.openxmlformats.org/drawingml/2006/main" noGrp="1"/>
          </p:cNvSpPr>
          <p:nvPr/>
        </p:nvSpPr>
        <p:spPr>
          <a:xfrm xmlns:a="http://schemas.openxmlformats.org/drawingml/2006/main">
            <a:off x="6248400" y="3771900"/>
            <a:ext cx="12192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2025 / 2022 context</a:t>
            </a:r>
          </a:p>
        </p:txBody>
      </p:sp>
      <p:sp>
        <p:nvSpPr>
          <p:cNvPr id="54" name="Lesedi opportunity tag">
            <a:extLst xmlns:a="http://schemas.openxmlformats.org/drawingml/2006/main">
              <a:ext uri="{FF2B5EF4-FFF2-40B4-BE49-F238E27FC236}">
                <a16:creationId xmlns:a16="http://schemas.microsoft.com/office/drawing/2014/main" id="{5B840FCC-C4C2-9CED-168F-98C14A7C2F24}"/>
              </a:ext>
            </a:extLst>
          </p:cNvPr>
          <p:cNvSpPr>
            <a:spLocks xmlns:a="http://schemas.openxmlformats.org/drawingml/2006/main" noGrp="1"/>
          </p:cNvSpPr>
          <p:nvPr/>
        </p:nvSpPr>
        <p:spPr>
          <a:xfrm xmlns:a="http://schemas.openxmlformats.org/drawingml/2006/main">
            <a:off x="7734300" y="3771900"/>
            <a:ext cx="12192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nested demand</a:t>
            </a:r>
          </a:p>
        </p:txBody>
      </p:sp>
      <p:sp>
        <p:nvSpPr>
          <p:cNvPr id="55" name="Share tag">
            <a:extLst xmlns:a="http://schemas.openxmlformats.org/drawingml/2006/main">
              <a:ext uri="{FF2B5EF4-FFF2-40B4-BE49-F238E27FC236}">
                <a16:creationId xmlns:a16="http://schemas.microsoft.com/office/drawing/2014/main" id="{9D1D8A45-42BD-CA85-EB3F-5061EFCF24A3}"/>
              </a:ext>
            </a:extLst>
          </p:cNvPr>
          <p:cNvSpPr>
            <a:spLocks xmlns:a="http://schemas.openxmlformats.org/drawingml/2006/main" noGrp="1"/>
          </p:cNvSpPr>
          <p:nvPr/>
        </p:nvSpPr>
        <p:spPr>
          <a:xfrm xmlns:a="http://schemas.openxmlformats.org/drawingml/2006/main">
            <a:off x="6248400" y="4838700"/>
            <a:ext cx="27051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Assumed capture; details p.8</a:t>
            </a:r>
          </a:p>
        </p:txBody>
      </p:sp>
      <p:sp>
        <p:nvSpPr>
          <p:cNvPr id="56" name="Headroom tag">
            <a:extLst xmlns:a="http://schemas.openxmlformats.org/drawingml/2006/main">
              <a:ext uri="{FF2B5EF4-FFF2-40B4-BE49-F238E27FC236}">
                <a16:creationId xmlns:a16="http://schemas.microsoft.com/office/drawing/2014/main" id="{2F7794D4-8CCE-E4F1-4E7A-13708B4520F0}"/>
              </a:ext>
            </a:extLst>
          </p:cNvPr>
          <p:cNvSpPr>
            <a:spLocks xmlns:a="http://schemas.openxmlformats.org/drawingml/2006/main" noGrp="1"/>
          </p:cNvSpPr>
          <p:nvPr/>
        </p:nvSpPr>
        <p:spPr>
          <a:xfrm xmlns:a="http://schemas.openxmlformats.org/drawingml/2006/main">
            <a:off x="6248400" y="5905500"/>
            <a:ext cx="27051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DR02/05</a:t>
            </a:r>
          </a:p>
        </p:txBody>
      </p:sp>
      <p:sp>
        <p:nvSpPr>
          <p:cNvPr id="57" name="Additional capture tag">
            <a:extLst xmlns:a="http://schemas.openxmlformats.org/drawingml/2006/main">
              <a:ext uri="{FF2B5EF4-FFF2-40B4-BE49-F238E27FC236}">
                <a16:creationId xmlns:a16="http://schemas.microsoft.com/office/drawing/2014/main" id="{D3F3C301-3CD5-70ED-3897-AC853D7F1384}"/>
              </a:ext>
            </a:extLst>
          </p:cNvPr>
          <p:cNvSpPr>
            <a:spLocks xmlns:a="http://schemas.openxmlformats.org/drawingml/2006/main" noGrp="1"/>
          </p:cNvSpPr>
          <p:nvPr/>
        </p:nvSpPr>
        <p:spPr>
          <a:xfrm xmlns:a="http://schemas.openxmlformats.org/drawingml/2006/main">
            <a:off x="9410700" y="2705100"/>
            <a:ext cx="1625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DR02/05</a:t>
            </a:r>
          </a:p>
        </p:txBody>
      </p:sp>
      <p:sp>
        <p:nvSpPr>
          <p:cNvPr id="58" name="Existing capacity tag">
            <a:extLst xmlns:a="http://schemas.openxmlformats.org/drawingml/2006/main">
              <a:ext uri="{FF2B5EF4-FFF2-40B4-BE49-F238E27FC236}">
                <a16:creationId xmlns:a16="http://schemas.microsoft.com/office/drawing/2014/main" id="{7033E250-411E-32FA-83F3-A34FD61AA039}"/>
              </a:ext>
            </a:extLst>
          </p:cNvPr>
          <p:cNvSpPr>
            <a:spLocks xmlns:a="http://schemas.openxmlformats.org/drawingml/2006/main" noGrp="1"/>
          </p:cNvSpPr>
          <p:nvPr/>
        </p:nvSpPr>
        <p:spPr>
          <a:xfrm xmlns:a="http://schemas.openxmlformats.org/drawingml/2006/main">
            <a:off x="9410700" y="3771900"/>
            <a:ext cx="1625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DR03</a:t>
            </a:r>
          </a:p>
        </p:txBody>
      </p:sp>
      <p:sp>
        <p:nvSpPr>
          <p:cNvPr id="59" name="Investment economics tag">
            <a:extLst xmlns:a="http://schemas.openxmlformats.org/drawingml/2006/main">
              <a:ext uri="{FF2B5EF4-FFF2-40B4-BE49-F238E27FC236}">
                <a16:creationId xmlns:a16="http://schemas.microsoft.com/office/drawing/2014/main" id="{1A45A8CC-C6B7-7080-3CEA-0E352F2696E8}"/>
              </a:ext>
            </a:extLst>
          </p:cNvPr>
          <p:cNvSpPr>
            <a:spLocks xmlns:a="http://schemas.openxmlformats.org/drawingml/2006/main" noGrp="1"/>
          </p:cNvSpPr>
          <p:nvPr/>
        </p:nvSpPr>
        <p:spPr>
          <a:xfrm xmlns:a="http://schemas.openxmlformats.org/drawingml/2006/main">
            <a:off x="9410700" y="4838700"/>
            <a:ext cx="1625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DR06</a:t>
            </a:r>
          </a:p>
        </p:txBody>
      </p:sp>
      <p:sp>
        <p:nvSpPr>
          <p:cNvPr id="60" name="National market deep dive">
            <a:extLst xmlns:a="http://schemas.openxmlformats.org/drawingml/2006/main">
              <a:ext uri="{FF2B5EF4-FFF2-40B4-BE49-F238E27FC236}">
                <a16:creationId xmlns:a16="http://schemas.microsoft.com/office/drawing/2014/main" id="{3BE2602E-B5FC-2BC9-6286-37376567F3F6}"/>
              </a:ext>
            </a:extLst>
          </p:cNvPr>
          <p:cNvSpPr>
            <a:spLocks xmlns:a="http://schemas.openxmlformats.org/drawingml/2006/main" noGrp="1"/>
          </p:cNvSpPr>
          <p:nvPr/>
        </p:nvSpPr>
        <p:spPr>
          <a:xfrm xmlns:a="http://schemas.openxmlformats.org/drawingml/2006/main">
            <a:off x="2159000" y="1930400"/>
            <a:ext cx="330200" cy="152400"/>
          </a:xfrm>
          <a:prstGeom xmlns:a="http://schemas.openxmlformats.org/drawingml/2006/main" prst="round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lIns="0" tIns="0" rIns="0" bIns="0" anchor="ctr"/>
          <a:lstStyle xmlns:a="http://schemas.openxmlformats.org/drawingml/2006/main"/>
          <a:p xmlns:a="http://schemas.openxmlformats.org/drawingml/2006/main">
            <a:pPr algn="ctr">
              <a:buNone/>
            </a:pPr>
            <a:r>
              <a:rPr sz="800" b="1">
                <a:solidFill>
                  <a:srgbClr val="FFFFFF"/>
                </a:solidFill>
                <a:latin typeface="Lato"/>
                <a:ea typeface="Lato"/>
                <a:cs typeface="Lato"/>
              </a:rPr>
              <a:t>p.1</a:t>
            </a:r>
          </a:p>
        </p:txBody>
      </p:sp>
      <p:sp>
        <p:nvSpPr>
          <p:cNvPr id="61" name="Imports deep dive">
            <a:extLst xmlns:a="http://schemas.openxmlformats.org/drawingml/2006/main">
              <a:ext uri="{FF2B5EF4-FFF2-40B4-BE49-F238E27FC236}">
                <a16:creationId xmlns:a16="http://schemas.microsoft.com/office/drawing/2014/main" id="{205B3093-2A83-4BC6-7D49-EE3530AB9340}"/>
              </a:ext>
            </a:extLst>
          </p:cNvPr>
          <p:cNvSpPr>
            <a:spLocks xmlns:a="http://schemas.openxmlformats.org/drawingml/2006/main" noGrp="1"/>
          </p:cNvSpPr>
          <p:nvPr/>
        </p:nvSpPr>
        <p:spPr>
          <a:xfrm xmlns:a="http://schemas.openxmlformats.org/drawingml/2006/main">
            <a:off x="3987800" y="1930400"/>
            <a:ext cx="330200" cy="152400"/>
          </a:xfrm>
          <a:prstGeom xmlns:a="http://schemas.openxmlformats.org/drawingml/2006/main" prst="round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lIns="0" tIns="0" rIns="0" bIns="0" anchor="ctr"/>
          <a:lstStyle xmlns:a="http://schemas.openxmlformats.org/drawingml/2006/main"/>
          <a:p xmlns:a="http://schemas.openxmlformats.org/drawingml/2006/main">
            <a:pPr algn="ctr">
              <a:buNone/>
            </a:pPr>
            <a:r>
              <a:rPr sz="800" b="1">
                <a:solidFill>
                  <a:srgbClr val="FFFFFF"/>
                </a:solidFill>
                <a:latin typeface="Lato"/>
                <a:ea typeface="Lato"/>
                <a:cs typeface="Lato"/>
              </a:rPr>
              <a:t>p.1</a:t>
            </a:r>
          </a:p>
        </p:txBody>
      </p:sp>
      <p:sp>
        <p:nvSpPr>
          <p:cNvPr id="62" name="Production deep dive">
            <a:extLst xmlns:a="http://schemas.openxmlformats.org/drawingml/2006/main">
              <a:ext uri="{FF2B5EF4-FFF2-40B4-BE49-F238E27FC236}">
                <a16:creationId xmlns:a16="http://schemas.microsoft.com/office/drawing/2014/main" id="{F4E98FFE-C861-95F7-0401-7EFD82A3A984}"/>
              </a:ext>
            </a:extLst>
          </p:cNvPr>
          <p:cNvSpPr>
            <a:spLocks xmlns:a="http://schemas.openxmlformats.org/drawingml/2006/main" noGrp="1"/>
          </p:cNvSpPr>
          <p:nvPr/>
        </p:nvSpPr>
        <p:spPr>
          <a:xfrm xmlns:a="http://schemas.openxmlformats.org/drawingml/2006/main">
            <a:off x="5664200" y="1930400"/>
            <a:ext cx="330200" cy="152400"/>
          </a:xfrm>
          <a:prstGeom xmlns:a="http://schemas.openxmlformats.org/drawingml/2006/main" prst="round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lIns="0" tIns="0" rIns="0" bIns="0" anchor="ctr"/>
          <a:lstStyle xmlns:a="http://schemas.openxmlformats.org/drawingml/2006/main"/>
          <a:p xmlns:a="http://schemas.openxmlformats.org/drawingml/2006/main">
            <a:pPr algn="ctr">
              <a:buNone/>
            </a:pPr>
            <a:r>
              <a:rPr sz="800" b="1">
                <a:solidFill>
                  <a:srgbClr val="FFFFFF"/>
                </a:solidFill>
                <a:latin typeface="Lato"/>
                <a:ea typeface="Lato"/>
                <a:cs typeface="Lato"/>
              </a:rPr>
              <a:t>p.1</a:t>
            </a:r>
          </a:p>
        </p:txBody>
      </p:sp>
      <p:sp>
        <p:nvSpPr>
          <p:cNvPr id="63" name="Product demand deep dive">
            <a:extLst xmlns:a="http://schemas.openxmlformats.org/drawingml/2006/main">
              <a:ext uri="{FF2B5EF4-FFF2-40B4-BE49-F238E27FC236}">
                <a16:creationId xmlns:a16="http://schemas.microsoft.com/office/drawing/2014/main" id="{D8E1194A-502E-D7EA-7BA1-21D85CF7E1EF}"/>
              </a:ext>
            </a:extLst>
          </p:cNvPr>
          <p:cNvSpPr>
            <a:spLocks xmlns:a="http://schemas.openxmlformats.org/drawingml/2006/main" noGrp="1"/>
          </p:cNvSpPr>
          <p:nvPr/>
        </p:nvSpPr>
        <p:spPr>
          <a:xfrm xmlns:a="http://schemas.openxmlformats.org/drawingml/2006/main">
            <a:off x="2159000" y="2997200"/>
            <a:ext cx="330200" cy="152400"/>
          </a:xfrm>
          <a:prstGeom xmlns:a="http://schemas.openxmlformats.org/drawingml/2006/main" prst="round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lIns="0" tIns="0" rIns="0" bIns="0" anchor="ctr"/>
          <a:lstStyle xmlns:a="http://schemas.openxmlformats.org/drawingml/2006/main"/>
          <a:p xmlns:a="http://schemas.openxmlformats.org/drawingml/2006/main">
            <a:pPr algn="ctr">
              <a:buNone/>
            </a:pPr>
            <a:r>
              <a:rPr sz="800" b="1">
                <a:solidFill>
                  <a:srgbClr val="FFFFFF"/>
                </a:solidFill>
                <a:latin typeface="Lato"/>
                <a:ea typeface="Lato"/>
                <a:cs typeface="Lato"/>
              </a:rPr>
              <a:t>p.3</a:t>
            </a:r>
          </a:p>
        </p:txBody>
      </p:sp>
      <p:sp>
        <p:nvSpPr>
          <p:cNvPr id="64" name="Sector demand deep dive">
            <a:extLst xmlns:a="http://schemas.openxmlformats.org/drawingml/2006/main">
              <a:ext uri="{FF2B5EF4-FFF2-40B4-BE49-F238E27FC236}">
                <a16:creationId xmlns:a16="http://schemas.microsoft.com/office/drawing/2014/main" id="{7BF876C7-E26D-B9A8-CACD-1CBABA0B01DC}"/>
              </a:ext>
            </a:extLst>
          </p:cNvPr>
          <p:cNvSpPr>
            <a:spLocks xmlns:a="http://schemas.openxmlformats.org/drawingml/2006/main" noGrp="1"/>
          </p:cNvSpPr>
          <p:nvPr/>
        </p:nvSpPr>
        <p:spPr>
          <a:xfrm xmlns:a="http://schemas.openxmlformats.org/drawingml/2006/main">
            <a:off x="2159000" y="4064000"/>
            <a:ext cx="330200" cy="152400"/>
          </a:xfrm>
          <a:prstGeom xmlns:a="http://schemas.openxmlformats.org/drawingml/2006/main" prst="round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lIns="0" tIns="0" rIns="0" bIns="0" anchor="ctr"/>
          <a:lstStyle xmlns:a="http://schemas.openxmlformats.org/drawingml/2006/main"/>
          <a:p xmlns:a="http://schemas.openxmlformats.org/drawingml/2006/main">
            <a:pPr algn="ctr">
              <a:buNone/>
            </a:pPr>
            <a:r>
              <a:rPr sz="800" b="1">
                <a:solidFill>
                  <a:srgbClr val="FFFFFF"/>
                </a:solidFill>
                <a:latin typeface="Lato"/>
                <a:ea typeface="Lato"/>
                <a:cs typeface="Lato"/>
              </a:rPr>
              <a:t>p.4</a:t>
            </a:r>
          </a:p>
        </p:txBody>
      </p:sp>
      <p:sp>
        <p:nvSpPr>
          <p:cNvPr id="65" name="Demand parameters deep dive">
            <a:extLst xmlns:a="http://schemas.openxmlformats.org/drawingml/2006/main">
              <a:ext uri="{FF2B5EF4-FFF2-40B4-BE49-F238E27FC236}">
                <a16:creationId xmlns:a16="http://schemas.microsoft.com/office/drawing/2014/main" id="{37E93972-72CB-1C74-2402-27E64172030F}"/>
              </a:ext>
            </a:extLst>
          </p:cNvPr>
          <p:cNvSpPr>
            <a:spLocks xmlns:a="http://schemas.openxmlformats.org/drawingml/2006/main" noGrp="1"/>
          </p:cNvSpPr>
          <p:nvPr/>
        </p:nvSpPr>
        <p:spPr>
          <a:xfrm xmlns:a="http://schemas.openxmlformats.org/drawingml/2006/main">
            <a:off x="2159000" y="5130800"/>
            <a:ext cx="330200" cy="152400"/>
          </a:xfrm>
          <a:prstGeom xmlns:a="http://schemas.openxmlformats.org/drawingml/2006/main" prst="round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lIns="0" tIns="0" rIns="0" bIns="0" anchor="ctr"/>
          <a:lstStyle xmlns:a="http://schemas.openxmlformats.org/drawingml/2006/main"/>
          <a:p xmlns:a="http://schemas.openxmlformats.org/drawingml/2006/main">
            <a:pPr algn="ctr">
              <a:buNone/>
            </a:pPr>
            <a:r>
              <a:rPr sz="800" b="1">
                <a:solidFill>
                  <a:srgbClr val="FFFFFF"/>
                </a:solidFill>
                <a:latin typeface="Lato"/>
                <a:ea typeface="Lato"/>
                <a:cs typeface="Lato"/>
              </a:rPr>
              <a:t>p.5</a:t>
            </a:r>
          </a:p>
        </p:txBody>
      </p:sp>
      <p:sp>
        <p:nvSpPr>
          <p:cNvPr id="66" name="Ports deep dive">
            <a:extLst xmlns:a="http://schemas.openxmlformats.org/drawingml/2006/main">
              <a:ext uri="{FF2B5EF4-FFF2-40B4-BE49-F238E27FC236}">
                <a16:creationId xmlns:a16="http://schemas.microsoft.com/office/drawing/2014/main" id="{E79F01C8-B6F1-659B-E077-2ABB6B2E26E0}"/>
              </a:ext>
            </a:extLst>
          </p:cNvPr>
          <p:cNvSpPr>
            <a:spLocks xmlns:a="http://schemas.openxmlformats.org/drawingml/2006/main" noGrp="1"/>
          </p:cNvSpPr>
          <p:nvPr/>
        </p:nvSpPr>
        <p:spPr>
          <a:xfrm xmlns:a="http://schemas.openxmlformats.org/drawingml/2006/main">
            <a:off x="3987800" y="2997200"/>
            <a:ext cx="330200" cy="152400"/>
          </a:xfrm>
          <a:prstGeom xmlns:a="http://schemas.openxmlformats.org/drawingml/2006/main" prst="round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lIns="0" tIns="0" rIns="0" bIns="0" anchor="ctr"/>
          <a:lstStyle xmlns:a="http://schemas.openxmlformats.org/drawingml/2006/main"/>
          <a:p xmlns:a="http://schemas.openxmlformats.org/drawingml/2006/main">
            <a:pPr algn="ctr">
              <a:buNone/>
            </a:pPr>
            <a:r>
              <a:rPr sz="800" b="1">
                <a:solidFill>
                  <a:srgbClr val="FFFFFF"/>
                </a:solidFill>
                <a:latin typeface="Lato"/>
                <a:ea typeface="Lato"/>
                <a:cs typeface="Lato"/>
              </a:rPr>
              <a:t>p.6</a:t>
            </a:r>
          </a:p>
        </p:txBody>
      </p:sp>
      <p:sp>
        <p:nvSpPr>
          <p:cNvPr id="67" name="Inland deep dive">
            <a:extLst xmlns:a="http://schemas.openxmlformats.org/drawingml/2006/main">
              <a:ext uri="{FF2B5EF4-FFF2-40B4-BE49-F238E27FC236}">
                <a16:creationId xmlns:a16="http://schemas.microsoft.com/office/drawing/2014/main" id="{491917A0-89D8-1547-1F46-04863CB6050F}"/>
              </a:ext>
            </a:extLst>
          </p:cNvPr>
          <p:cNvSpPr>
            <a:spLocks xmlns:a="http://schemas.openxmlformats.org/drawingml/2006/main" noGrp="1"/>
          </p:cNvSpPr>
          <p:nvPr/>
        </p:nvSpPr>
        <p:spPr>
          <a:xfrm xmlns:a="http://schemas.openxmlformats.org/drawingml/2006/main">
            <a:off x="5664200" y="2997200"/>
            <a:ext cx="330200" cy="152400"/>
          </a:xfrm>
          <a:prstGeom xmlns:a="http://schemas.openxmlformats.org/drawingml/2006/main" prst="round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lIns="0" tIns="0" rIns="0" bIns="0" anchor="ctr"/>
          <a:lstStyle xmlns:a="http://schemas.openxmlformats.org/drawingml/2006/main"/>
          <a:p xmlns:a="http://schemas.openxmlformats.org/drawingml/2006/main">
            <a:pPr algn="ctr">
              <a:buNone/>
            </a:pPr>
            <a:r>
              <a:rPr sz="800" b="1">
                <a:solidFill>
                  <a:srgbClr val="FFFFFF"/>
                </a:solidFill>
                <a:latin typeface="Lato"/>
                <a:ea typeface="Lato"/>
                <a:cs typeface="Lato"/>
              </a:rPr>
              <a:t>p.6</a:t>
            </a:r>
          </a:p>
        </p:txBody>
      </p:sp>
      <p:sp>
        <p:nvSpPr>
          <p:cNvPr id="68" name="Deep dive legend marker">
            <a:extLst xmlns:a="http://schemas.openxmlformats.org/drawingml/2006/main">
              <a:ext uri="{FF2B5EF4-FFF2-40B4-BE49-F238E27FC236}">
                <a16:creationId xmlns:a16="http://schemas.microsoft.com/office/drawing/2014/main" id="{8F3BA9D6-AD69-F791-95C5-458F92393FD4}"/>
              </a:ext>
            </a:extLst>
          </p:cNvPr>
          <p:cNvSpPr>
            <a:spLocks xmlns:a="http://schemas.openxmlformats.org/drawingml/2006/main" noGrp="1"/>
          </p:cNvSpPr>
          <p:nvPr/>
        </p:nvSpPr>
        <p:spPr>
          <a:xfrm xmlns:a="http://schemas.openxmlformats.org/drawingml/2006/main">
            <a:off x="9486900" y="1219200"/>
            <a:ext cx="330200" cy="152400"/>
          </a:xfrm>
          <a:prstGeom xmlns:a="http://schemas.openxmlformats.org/drawingml/2006/main" prst="round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none" lIns="0" tIns="0" rIns="0" bIns="0" anchor="ctr"/>
          <a:lstStyle xmlns:a="http://schemas.openxmlformats.org/drawingml/2006/main"/>
          <a:p xmlns:a="http://schemas.openxmlformats.org/drawingml/2006/main">
            <a:pPr algn="ctr">
              <a:buNone/>
            </a:pPr>
            <a:r>
              <a:rPr sz="800" b="1">
                <a:solidFill>
                  <a:srgbClr val="FFFFFF"/>
                </a:solidFill>
                <a:latin typeface="Lato"/>
                <a:ea typeface="Lato"/>
                <a:cs typeface="Lato"/>
              </a:rPr>
              <a:t>p.#</a:t>
            </a:r>
          </a:p>
        </p:txBody>
      </p:sp>
      <p:sp>
        <p:nvSpPr>
          <p:cNvPr id="69" name="Deep dive legend">
            <a:extLst xmlns:a="http://schemas.openxmlformats.org/drawingml/2006/main">
              <a:ext uri="{FF2B5EF4-FFF2-40B4-BE49-F238E27FC236}">
                <a16:creationId xmlns:a16="http://schemas.microsoft.com/office/drawing/2014/main" id="{3B01CA1A-8FE5-A44A-3486-E3210E84D4D8}"/>
              </a:ext>
            </a:extLst>
          </p:cNvPr>
          <p:cNvSpPr>
            <a:spLocks xmlns:a="http://schemas.openxmlformats.org/drawingml/2006/main" noGrp="1"/>
          </p:cNvSpPr>
          <p:nvPr/>
        </p:nvSpPr>
        <p:spPr>
          <a:xfrm xmlns:a="http://schemas.openxmlformats.org/drawingml/2006/main">
            <a:off x="9893300" y="1212850"/>
            <a:ext cx="12192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chemeClr val="dk1"/>
                </a:solidFill>
                <a:latin typeface="Lato"/>
                <a:ea typeface="Lato"/>
                <a:cs typeface="Lato"/>
              </a:rPr>
              <a:t>Deep dive on that page</a:t>
            </a:r>
            <a:endParaRPr sz="900">
              <a:solidFill>
                <a:schemeClr val="dk1"/>
              </a:solidFill>
              <a:latin typeface="Lato"/>
              <a:ea typeface="Lato"/>
              <a:cs typeface="Lato"/>
            </a:endParaRPr>
          </a:p>
        </p:txBody>
      </p:sp>
      <p:cxnSp>
        <p:nvCxnSpPr>
          <p:cNvPr id="159" name="Product sums to consumption"/>
          <p:cNvCxnSpPr>
            <a:stCxn xmlns:a="http://schemas.openxmlformats.org/drawingml/2006/main" id="22" idx="0"/>
            <a:endCxn xmlns:a="http://schemas.openxmlformats.org/drawingml/2006/main" id="21" idx="2"/>
          </p:cNvCxnSpPr>
          <p:nvPr/>
        </p:nvCxnSpPr>
        <p:spPr>
          <a:xfrm xmlns:a="http://schemas.openxmlformats.org/drawingml/2006/main" flipV="1">
            <a:off x="1409700" y="28956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0" name="Uses determine product demand"/>
          <p:cNvCxnSpPr>
            <a:stCxn xmlns:a="http://schemas.openxmlformats.org/drawingml/2006/main" id="23" idx="0"/>
            <a:endCxn xmlns:a="http://schemas.openxmlformats.org/drawingml/2006/main" id="22" idx="2"/>
          </p:cNvCxnSpPr>
          <p:nvPr/>
        </p:nvCxnSpPr>
        <p:spPr>
          <a:xfrm xmlns:a="http://schemas.openxmlformats.org/drawingml/2006/main" flipV="1">
            <a:off x="1409700" y="39624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1" name="Demand parameter effect"/>
          <p:cNvCxnSpPr>
            <a:stCxn xmlns:a="http://schemas.openxmlformats.org/drawingml/2006/main" id="24" idx="0"/>
            <a:endCxn xmlns:a="http://schemas.openxmlformats.org/drawingml/2006/main" id="23" idx="2"/>
          </p:cNvCxnSpPr>
          <p:nvPr/>
        </p:nvCxnSpPr>
        <p:spPr>
          <a:xfrm xmlns:a="http://schemas.openxmlformats.org/drawingml/2006/main" flipV="1">
            <a:off x="1409700" y="5029200"/>
            <a:ext cx="0" cy="177800"/>
          </a:xfrm>
          <a:prstGeom xmlns:a="http://schemas.openxmlformats.org/drawingml/2006/main" prst="straightConnector1">
            <a:avLst/>
          </a:prstGeom>
          <a:ln xmlns:a="http://schemas.openxmlformats.org/drawingml/2006/main" w="12700">
            <a:solidFill>
              <a:schemeClr val="accent1"/>
            </a:solidFill>
            <a:prstDash val="dash"/>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2" name="Demand sets import requirement"/>
          <p:cNvCxnSpPr>
            <a:stCxn xmlns:a="http://schemas.openxmlformats.org/drawingml/2006/main" id="21" idx="3"/>
            <a:endCxn xmlns:a="http://schemas.openxmlformats.org/drawingml/2006/main" id="25" idx="1"/>
          </p:cNvCxnSpPr>
          <p:nvPr/>
        </p:nvCxnSpPr>
        <p:spPr>
          <a:xfrm xmlns:a="http://schemas.openxmlformats.org/drawingml/2006/main">
            <a:off x="2362200" y="2451100"/>
            <a:ext cx="304800" cy="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3" name="Imports land at ports"/>
          <p:cNvCxnSpPr>
            <a:stCxn xmlns:a="http://schemas.openxmlformats.org/drawingml/2006/main" id="25" idx="2"/>
            <a:endCxn xmlns:a="http://schemas.openxmlformats.org/drawingml/2006/main" id="27" idx="0"/>
          </p:cNvCxnSpPr>
          <p:nvPr/>
        </p:nvCxnSpPr>
        <p:spPr>
          <a:xfrm xmlns:a="http://schemas.openxmlformats.org/drawingml/2006/main">
            <a:off x="3429000" y="28956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4" name="Domestic output moves inland"/>
          <p:cNvCxnSpPr>
            <a:stCxn xmlns:a="http://schemas.openxmlformats.org/drawingml/2006/main" id="26" idx="2"/>
            <a:endCxn xmlns:a="http://schemas.openxmlformats.org/drawingml/2006/main" id="28" idx="0"/>
          </p:cNvCxnSpPr>
          <p:nvPr/>
        </p:nvCxnSpPr>
        <p:spPr>
          <a:xfrm xmlns:a="http://schemas.openxmlformats.org/drawingml/2006/main">
            <a:off x="5105400" y="28956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5" name="Ports to inland delivery"/>
          <p:cNvCxnSpPr>
            <a:stCxn xmlns:a="http://schemas.openxmlformats.org/drawingml/2006/main" id="27" idx="3"/>
            <a:endCxn xmlns:a="http://schemas.openxmlformats.org/drawingml/2006/main" id="28" idx="1"/>
          </p:cNvCxnSpPr>
          <p:nvPr/>
        </p:nvCxnSpPr>
        <p:spPr>
          <a:xfrm xmlns:a="http://schemas.openxmlformats.org/drawingml/2006/main">
            <a:off x="4191000" y="3517900"/>
            <a:ext cx="152400" cy="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6" name="Ports serve coastal demand"/>
          <p:cNvCxnSpPr>
            <a:stCxn xmlns:a="http://schemas.openxmlformats.org/drawingml/2006/main" id="27" idx="2"/>
            <a:endCxn xmlns:a="http://schemas.openxmlformats.org/drawingml/2006/main" id="29" idx="0"/>
          </p:cNvCxnSpPr>
          <p:nvPr/>
        </p:nvCxnSpPr>
        <p:spPr>
          <a:xfrm xmlns:a="http://schemas.openxmlformats.org/drawingml/2006/main">
            <a:off x="3429000" y="39624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7" name="Inland delivery serves inland demand"/>
          <p:cNvCxnSpPr>
            <a:stCxn xmlns:a="http://schemas.openxmlformats.org/drawingml/2006/main" id="28" idx="2"/>
            <a:endCxn xmlns:a="http://schemas.openxmlformats.org/drawingml/2006/main" id="30" idx="0"/>
          </p:cNvCxnSpPr>
          <p:nvPr/>
        </p:nvCxnSpPr>
        <p:spPr>
          <a:xfrm xmlns:a="http://schemas.openxmlformats.org/drawingml/2006/main">
            <a:off x="5105400" y="39624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8" name="Supply parameter effect on coastal"/>
          <p:cNvCxnSpPr>
            <a:endCxn xmlns:a="http://schemas.openxmlformats.org/drawingml/2006/main" id="29" idx="2"/>
          </p:cNvCxnSpPr>
          <p:nvPr/>
        </p:nvCxnSpPr>
        <p:spPr>
          <a:xfrm xmlns:a="http://schemas.openxmlformats.org/drawingml/2006/main" flipV="1">
            <a:off x="3429000" y="5029200"/>
            <a:ext cx="0" cy="177800"/>
          </a:xfrm>
          <a:prstGeom xmlns:a="http://schemas.openxmlformats.org/drawingml/2006/main" prst="straightConnector1">
            <a:avLst/>
          </a:prstGeom>
          <a:ln xmlns:a="http://schemas.openxmlformats.org/drawingml/2006/main" w="12700">
            <a:solidFill>
              <a:schemeClr val="accent1"/>
            </a:solidFill>
            <a:prstDash val="dash"/>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69" name="Supply parameter effect on inland"/>
          <p:cNvCxnSpPr>
            <a:endCxn xmlns:a="http://schemas.openxmlformats.org/drawingml/2006/main" id="30" idx="2"/>
          </p:cNvCxnSpPr>
          <p:nvPr/>
        </p:nvCxnSpPr>
        <p:spPr>
          <a:xfrm xmlns:a="http://schemas.openxmlformats.org/drawingml/2006/main" flipV="1">
            <a:off x="5105400" y="5029200"/>
            <a:ext cx="0" cy="177800"/>
          </a:xfrm>
          <a:prstGeom xmlns:a="http://schemas.openxmlformats.org/drawingml/2006/main" prst="straightConnector1">
            <a:avLst/>
          </a:prstGeom>
          <a:ln xmlns:a="http://schemas.openxmlformats.org/drawingml/2006/main" w="12700">
            <a:solidFill>
              <a:schemeClr val="accent1"/>
            </a:solidFill>
            <a:prstDash val="dash"/>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0" name="Routes into market sizing"/>
          <p:cNvCxnSpPr>
            <a:stCxn xmlns:a="http://schemas.openxmlformats.org/drawingml/2006/main" id="28" idx="3"/>
            <a:endCxn xmlns:a="http://schemas.openxmlformats.org/drawingml/2006/main" id="32" idx="1"/>
          </p:cNvCxnSpPr>
          <p:nvPr/>
        </p:nvCxnSpPr>
        <p:spPr>
          <a:xfrm xmlns:a="http://schemas.openxmlformats.org/drawingml/2006/main" flipV="1">
            <a:off x="5867400" y="2451100"/>
            <a:ext cx="304800" cy="1066800"/>
          </a:xfrm>
          <a:prstGeom xmlns:a="http://schemas.openxmlformats.org/drawingml/2006/main" prst="bentConnector3">
            <a:avLst>
              <a:gd name="adj1" fmla="val 50000"/>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1" name="Destinations into market sizing"/>
          <p:cNvCxnSpPr>
            <a:stCxn xmlns:a="http://schemas.openxmlformats.org/drawingml/2006/main" id="30" idx="3"/>
            <a:endCxn xmlns:a="http://schemas.openxmlformats.org/drawingml/2006/main" id="32" idx="1"/>
          </p:cNvCxnSpPr>
          <p:nvPr/>
        </p:nvCxnSpPr>
        <p:spPr>
          <a:xfrm xmlns:a="http://schemas.openxmlformats.org/drawingml/2006/main" flipV="1">
            <a:off x="5867400" y="2451100"/>
            <a:ext cx="304800" cy="2133600"/>
          </a:xfrm>
          <a:prstGeom xmlns:a="http://schemas.openxmlformats.org/drawingml/2006/main" prst="bentConnector3">
            <a:avLst>
              <a:gd name="adj1" fmla="val 50000"/>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2" name="Market sizing to Durban"/>
          <p:cNvCxnSpPr>
            <a:endCxn xmlns:a="http://schemas.openxmlformats.org/drawingml/2006/main" id="33" idx="0"/>
          </p:cNvCxnSpPr>
          <p:nvPr/>
        </p:nvCxnSpPr>
        <p:spPr>
          <a:xfrm xmlns:a="http://schemas.openxmlformats.org/drawingml/2006/main">
            <a:off x="6858000" y="28956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3" name="Market sizing to Lesedi"/>
          <p:cNvCxnSpPr>
            <a:endCxn xmlns:a="http://schemas.openxmlformats.org/drawingml/2006/main" id="34" idx="0"/>
          </p:cNvCxnSpPr>
          <p:nvPr/>
        </p:nvCxnSpPr>
        <p:spPr>
          <a:xfrm xmlns:a="http://schemas.openxmlformats.org/drawingml/2006/main">
            <a:off x="8343900" y="28956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4" name="Durban into share"/>
          <p:cNvCxnSpPr/>
          <p:nvPr/>
        </p:nvCxnSpPr>
        <p:spPr>
          <a:xfrm xmlns:a="http://schemas.openxmlformats.org/drawingml/2006/main">
            <a:off x="6858000" y="39624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5" name="Lesedi into share"/>
          <p:cNvCxnSpPr/>
          <p:nvPr/>
        </p:nvCxnSpPr>
        <p:spPr>
          <a:xfrm xmlns:a="http://schemas.openxmlformats.org/drawingml/2006/main">
            <a:off x="8343900" y="39624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6" name="Share to headroom"/>
          <p:cNvCxnSpPr>
            <a:stCxn xmlns:a="http://schemas.openxmlformats.org/drawingml/2006/main" id="35" idx="2"/>
            <a:endCxn xmlns:a="http://schemas.openxmlformats.org/drawingml/2006/main" id="36" idx="0"/>
          </p:cNvCxnSpPr>
          <p:nvPr/>
        </p:nvCxnSpPr>
        <p:spPr>
          <a:xfrm xmlns:a="http://schemas.openxmlformats.org/drawingml/2006/main">
            <a:off x="7600950" y="50292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7" name="Headroom into investment"/>
          <p:cNvCxnSpPr>
            <a:stCxn xmlns:a="http://schemas.openxmlformats.org/drawingml/2006/main" id="36" idx="3"/>
            <a:endCxn xmlns:a="http://schemas.openxmlformats.org/drawingml/2006/main" id="37" idx="1"/>
          </p:cNvCxnSpPr>
          <p:nvPr/>
        </p:nvCxnSpPr>
        <p:spPr>
          <a:xfrm xmlns:a="http://schemas.openxmlformats.org/drawingml/2006/main" flipV="1">
            <a:off x="9029700" y="2451100"/>
            <a:ext cx="304800" cy="3200400"/>
          </a:xfrm>
          <a:prstGeom xmlns:a="http://schemas.openxmlformats.org/drawingml/2006/main" prst="bentConnector3">
            <a:avLst>
              <a:gd name="adj1" fmla="val 50000"/>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8" name="Capture to capacity"/>
          <p:cNvCxnSpPr>
            <a:stCxn xmlns:a="http://schemas.openxmlformats.org/drawingml/2006/main" id="37" idx="2"/>
            <a:endCxn xmlns:a="http://schemas.openxmlformats.org/drawingml/2006/main" id="38" idx="0"/>
          </p:cNvCxnSpPr>
          <p:nvPr/>
        </p:nvCxnSpPr>
        <p:spPr>
          <a:xfrm xmlns:a="http://schemas.openxmlformats.org/drawingml/2006/main">
            <a:off x="10223500" y="28956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9" name="Capacity to returns"/>
          <p:cNvCxnSpPr>
            <a:stCxn xmlns:a="http://schemas.openxmlformats.org/drawingml/2006/main" id="38" idx="2"/>
            <a:endCxn xmlns:a="http://schemas.openxmlformats.org/drawingml/2006/main" id="39" idx="0"/>
          </p:cNvCxnSpPr>
          <p:nvPr/>
        </p:nvCxnSpPr>
        <p:spPr>
          <a:xfrm xmlns:a="http://schemas.openxmlformats.org/drawingml/2006/main">
            <a:off x="10223500" y="39624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80" name="Returns to resolution"/>
          <p:cNvCxnSpPr>
            <a:stCxn xmlns:a="http://schemas.openxmlformats.org/drawingml/2006/main" id="39" idx="2"/>
            <a:endCxn xmlns:a="http://schemas.openxmlformats.org/drawingml/2006/main" id="40" idx="0"/>
          </p:cNvCxnSpPr>
          <p:nvPr/>
        </p:nvCxnSpPr>
        <p:spPr>
          <a:xfrm xmlns:a="http://schemas.openxmlformats.org/drawingml/2006/main">
            <a:off x="10223500" y="5029200"/>
            <a:ext cx="0" cy="177800"/>
          </a:xfrm>
          <a:prstGeom xmlns:a="http://schemas.openxmlformats.org/drawingml/2006/main" prst="straightConnector1">
            <a:avLst/>
          </a:prstGeom>
          <a:ln xmlns:a="http://schemas.openxmlformats.org/drawingml/2006/main" w="12700">
            <a:solidFill>
              <a:schemeClr val="accent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Tree>
    <p:extLst>
      <p:ext uri="{BB962C8B-B14F-4D97-AF65-F5344CB8AC3E}">
        <p14:creationId xmlns:p14="http://schemas.microsoft.com/office/powerpoint/2010/main" val="73897090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E8FCF8-AD5C-4A48-BECC-ABC116130187}"/>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Demand by product and province: where the litres are sold</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75D809A-C41F-4180-B8F3-4C4E5451BDC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a:t>
            </a:r>
            <a:endParaRPr sz="1100"/>
          </a:p>
        </p:txBody>
      </p:sp>
      <p:sp>
        <p:nvSpPr>
          <p:cNvPr id="8" name="Unified source footer">
            <a:extLst xmlns:a="http://schemas.openxmlformats.org/drawingml/2006/main">
              <a:ext uri="{FF2B5EF4-FFF2-40B4-BE49-F238E27FC236}">
                <a16:creationId xmlns:a16="http://schemas.microsoft.com/office/drawing/2014/main" id="{0620CC1A-F349-492C-8A8E-9E88F69B5727}"/>
              </a:ext>
            </a:extLst>
          </p:cNvPr>
          <p:cNvSpPr>
            <a:spLocks xmlns:a="http://schemas.openxmlformats.org/drawingml/2006/main" noGrp="1"/>
          </p:cNvSpPr>
          <p:nvPr/>
        </p:nvSpPr>
        <p:spPr>
          <a:xfrm xmlns:a="http://schemas.openxmlformats.org/drawingml/2006/main">
            <a:off x="457200" y="6184900"/>
            <a:ext cx="10652760" cy="10483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70"/>
              <a:t>Source: Manish DR01 provincial file: department sales by magisterial district summed to province, 2013-2022 observed; 2023 estimated from first-quarter shares. Coastal = KZN, WC, EC (presentation grouping, not registered). Petrol and diesel.</a:t>
            </a:r>
            <a:endParaRPr sz="670"/>
          </a:p>
        </p:txBody>
      </p:sp>
      <p:sp>
        <p:nvSpPr>
          <p:cNvPr id="48" name="Strictly Confidential footer">
            <a:extLst xmlns:a="http://schemas.openxmlformats.org/drawingml/2006/main">
              <a:ext uri="{FF2B5EF4-FFF2-40B4-BE49-F238E27FC236}">
                <a16:creationId xmlns:a16="http://schemas.microsoft.com/office/drawing/2014/main" id="{6A47E573-58F2-4657-AE6F-943C5055E58D}"/>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
        <p:nvSpPr>
          <p:cNvPr id="47" name="Coastal panel">
            <a:extLst xmlns:a="http://schemas.openxmlformats.org/drawingml/2006/main">
              <a:ext uri="{FF2B5EF4-FFF2-40B4-BE49-F238E27FC236}">
                <a16:creationId xmlns:a16="http://schemas.microsoft.com/office/drawing/2014/main" id="{A320DF9E-457E-8473-8DF5-DFC6FE172EE9}"/>
              </a:ext>
            </a:extLst>
          </p:cNvPr>
          <p:cNvSpPr>
            <a:spLocks xmlns:a="http://schemas.openxmlformats.org/drawingml/2006/main" noGrp="1"/>
          </p:cNvSpPr>
          <p:nvPr/>
        </p:nvSpPr>
        <p:spPr>
          <a:xfrm xmlns:a="http://schemas.openxmlformats.org/drawingml/2006/main">
            <a:off x="355600" y="1549400"/>
            <a:ext cx="26289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Coastal panel heading">
            <a:extLst xmlns:a="http://schemas.openxmlformats.org/drawingml/2006/main">
              <a:ext uri="{FF2B5EF4-FFF2-40B4-BE49-F238E27FC236}">
                <a16:creationId xmlns:a16="http://schemas.microsoft.com/office/drawing/2014/main" id="{2B2A2A7C-0ECC-5D31-3B78-978609CBC795}"/>
              </a:ext>
            </a:extLst>
          </p:cNvPr>
          <p:cNvSpPr>
            <a:spLocks xmlns:a="http://schemas.openxmlformats.org/drawingml/2006/main" noGrp="1"/>
          </p:cNvSpPr>
          <p:nvPr/>
        </p:nvSpPr>
        <p:spPr>
          <a:xfrm xmlns:a="http://schemas.openxmlformats.org/drawingml/2006/main">
            <a:off x="457200" y="1638300"/>
            <a:ext cx="24257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1  COASTAL · 10.0B L</a:t>
            </a:r>
          </a:p>
        </p:txBody>
      </p:sp>
      <p:cxnSp>
        <p:nvCxnSpPr>
          <p:cNvPr id="134" name="Column heading rule"/>
          <p:cNvCxnSpPr/>
          <p:nvPr/>
        </p:nvCxnSpPr>
        <p:spPr>
          <a:xfrm xmlns:a="http://schemas.openxmlformats.org/drawingml/2006/main">
            <a:off x="457200" y="1917700"/>
            <a:ext cx="24257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4" name="Inland panel">
            <a:extLst xmlns:a="http://schemas.openxmlformats.org/drawingml/2006/main">
              <a:ext uri="{FF2B5EF4-FFF2-40B4-BE49-F238E27FC236}">
                <a16:creationId xmlns:a16="http://schemas.microsoft.com/office/drawing/2014/main" id="{C871C13C-5B61-E5D7-6E5F-4789A8D2D081}"/>
              </a:ext>
            </a:extLst>
          </p:cNvPr>
          <p:cNvSpPr>
            <a:spLocks xmlns:a="http://schemas.openxmlformats.org/drawingml/2006/main" noGrp="1"/>
          </p:cNvSpPr>
          <p:nvPr/>
        </p:nvSpPr>
        <p:spPr>
          <a:xfrm xmlns:a="http://schemas.openxmlformats.org/drawingml/2006/main">
            <a:off x="3098800" y="1549400"/>
            <a:ext cx="53721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5" name="Inland panel heading">
            <a:extLst xmlns:a="http://schemas.openxmlformats.org/drawingml/2006/main">
              <a:ext uri="{FF2B5EF4-FFF2-40B4-BE49-F238E27FC236}">
                <a16:creationId xmlns:a16="http://schemas.microsoft.com/office/drawing/2014/main" id="{8B61D5BD-04F2-3D78-E894-D55C860EA316}"/>
              </a:ext>
            </a:extLst>
          </p:cNvPr>
          <p:cNvSpPr>
            <a:spLocks xmlns:a="http://schemas.openxmlformats.org/drawingml/2006/main" noGrp="1"/>
          </p:cNvSpPr>
          <p:nvPr/>
        </p:nvSpPr>
        <p:spPr>
          <a:xfrm xmlns:a="http://schemas.openxmlformats.org/drawingml/2006/main">
            <a:off x="3200400" y="1638300"/>
            <a:ext cx="51689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2  INLAND · 12.0B L</a:t>
            </a:r>
          </a:p>
        </p:txBody>
      </p:sp>
      <p:cxnSp>
        <p:nvCxnSpPr>
          <p:cNvPr id="137" name="Column heading rule"/>
          <p:cNvCxnSpPr/>
          <p:nvPr/>
        </p:nvCxnSpPr>
        <p:spPr>
          <a:xfrm xmlns:a="http://schemas.openxmlformats.org/drawingml/2006/main">
            <a:off x="3200400" y="1917700"/>
            <a:ext cx="51689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7" name="Meaning panel">
            <a:extLst xmlns:a="http://schemas.openxmlformats.org/drawingml/2006/main">
              <a:ext uri="{FF2B5EF4-FFF2-40B4-BE49-F238E27FC236}">
                <a16:creationId xmlns:a16="http://schemas.microsoft.com/office/drawing/2014/main" id="{72D688CC-29EA-488E-F97C-535E34B2D6BE}"/>
              </a:ext>
            </a:extLst>
          </p:cNvPr>
          <p:cNvSpPr>
            <a:spLocks xmlns:a="http://schemas.openxmlformats.org/drawingml/2006/main" noGrp="1"/>
          </p:cNvSpPr>
          <p:nvPr/>
        </p:nvSpPr>
        <p:spPr>
          <a:xfrm xmlns:a="http://schemas.openxmlformats.org/drawingml/2006/main">
            <a:off x="8585200" y="1549400"/>
            <a:ext cx="26289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8" name="Meaning panel heading">
            <a:extLst xmlns:a="http://schemas.openxmlformats.org/drawingml/2006/main">
              <a:ext uri="{FF2B5EF4-FFF2-40B4-BE49-F238E27FC236}">
                <a16:creationId xmlns:a16="http://schemas.microsoft.com/office/drawing/2014/main" id="{96959AFD-92E6-3E6B-86C5-5691AB8090CB}"/>
              </a:ext>
            </a:extLst>
          </p:cNvPr>
          <p:cNvSpPr>
            <a:spLocks xmlns:a="http://schemas.openxmlformats.org/drawingml/2006/main" noGrp="1"/>
          </p:cNvSpPr>
          <p:nvPr/>
        </p:nvSpPr>
        <p:spPr>
          <a:xfrm xmlns:a="http://schemas.openxmlformats.org/drawingml/2006/main">
            <a:off x="8686800" y="1638300"/>
            <a:ext cx="24257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3  WHAT IT MEANS</a:t>
            </a:r>
          </a:p>
        </p:txBody>
      </p:sp>
      <p:cxnSp>
        <p:nvCxnSpPr>
          <p:cNvPr id="140" name="Column heading rule"/>
          <p:cNvCxnSpPr/>
          <p:nvPr/>
        </p:nvCxnSpPr>
        <p:spPr>
          <a:xfrm xmlns:a="http://schemas.openxmlformats.org/drawingml/2006/main">
            <a:off x="8686800" y="1917700"/>
            <a:ext cx="24257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0" name="Province KZN">
            <a:extLst xmlns:a="http://schemas.openxmlformats.org/drawingml/2006/main">
              <a:ext uri="{FF2B5EF4-FFF2-40B4-BE49-F238E27FC236}">
                <a16:creationId xmlns:a16="http://schemas.microsoft.com/office/drawing/2014/main" id="{72A6C533-13F1-7A13-AB84-F549C15CF82F}"/>
              </a:ext>
            </a:extLst>
          </p:cNvPr>
          <p:cNvSpPr>
            <a:spLocks xmlns:a="http://schemas.openxmlformats.org/drawingml/2006/main" noGrp="1"/>
          </p:cNvSpPr>
          <p:nvPr/>
        </p:nvSpPr>
        <p:spPr>
          <a:xfrm xmlns:a="http://schemas.openxmlformats.org/drawingml/2006/main">
            <a:off x="457200" y="20320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KwaZulu-Natal · 20%</a:t>
            </a:r>
          </a:p>
          <a:p xmlns:a="http://schemas.openxmlformats.org/drawingml/2006/main">
            <a:pPr>
              <a:spcAft>
                <a:spcPts val="200"/>
              </a:spcAft>
              <a:buNone/>
            </a:pPr>
            <a:r>
              <a:rPr sz="1050">
                <a:solidFill>
                  <a:schemeClr val="dk1"/>
                </a:solidFill>
                <a:latin typeface="Lato"/>
                <a:ea typeface="Lato"/>
                <a:cs typeface="Lato"/>
              </a:rPr>
              <a:t>Petrol 1.5 · diesel 2.8B L</a:t>
            </a:r>
          </a:p>
          <a:p xmlns:a="http://schemas.openxmlformats.org/drawingml/2006/main">
            <a:pPr>
              <a:spcAft>
                <a:spcPts val="200"/>
              </a:spcAft>
              <a:buNone/>
            </a:pPr>
            <a:r>
              <a:rPr sz="1050">
                <a:solidFill>
                  <a:schemeClr val="dk1"/>
                </a:solidFill>
                <a:latin typeface="Lato"/>
                <a:ea typeface="Lato"/>
                <a:cs typeface="Lato"/>
              </a:rPr>
              <a:t>Since 2013: +5%</a:t>
            </a:r>
          </a:p>
        </p:txBody>
      </p:sp>
      <p:sp>
        <p:nvSpPr>
          <p:cNvPr id="101" name="Province KZN tag">
            <a:extLst xmlns:a="http://schemas.openxmlformats.org/drawingml/2006/main">
              <a:ext uri="{FF2B5EF4-FFF2-40B4-BE49-F238E27FC236}">
                <a16:creationId xmlns:a16="http://schemas.microsoft.com/office/drawing/2014/main" id="{88F79C83-41CD-465C-F587-25ABB1F6D30A}"/>
              </a:ext>
            </a:extLst>
          </p:cNvPr>
          <p:cNvSpPr>
            <a:spLocks xmlns:a="http://schemas.openxmlformats.org/drawingml/2006/main" noGrp="1"/>
          </p:cNvSpPr>
          <p:nvPr/>
        </p:nvSpPr>
        <p:spPr>
          <a:xfrm xmlns:a="http://schemas.openxmlformats.org/drawingml/2006/main">
            <a:off x="533400" y="30607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4.3B L · observed</a:t>
            </a:r>
          </a:p>
        </p:txBody>
      </p:sp>
      <p:sp>
        <p:nvSpPr>
          <p:cNvPr id="102" name="Province WC">
            <a:extLst xmlns:a="http://schemas.openxmlformats.org/drawingml/2006/main">
              <a:ext uri="{FF2B5EF4-FFF2-40B4-BE49-F238E27FC236}">
                <a16:creationId xmlns:a16="http://schemas.microsoft.com/office/drawing/2014/main" id="{01E7F5E8-F632-6D53-D94D-D6F55ED2C4A8}"/>
              </a:ext>
            </a:extLst>
          </p:cNvPr>
          <p:cNvSpPr>
            <a:spLocks xmlns:a="http://schemas.openxmlformats.org/drawingml/2006/main" noGrp="1"/>
          </p:cNvSpPr>
          <p:nvPr/>
        </p:nvSpPr>
        <p:spPr>
          <a:xfrm xmlns:a="http://schemas.openxmlformats.org/drawingml/2006/main">
            <a:off x="457200" y="34544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Western Cape · 18%</a:t>
            </a:r>
          </a:p>
          <a:p xmlns:a="http://schemas.openxmlformats.org/drawingml/2006/main">
            <a:pPr>
              <a:spcAft>
                <a:spcPts val="200"/>
              </a:spcAft>
              <a:buNone/>
            </a:pPr>
            <a:r>
              <a:rPr sz="1050">
                <a:solidFill>
                  <a:schemeClr val="dk1"/>
                </a:solidFill>
                <a:latin typeface="Lato"/>
                <a:ea typeface="Lato"/>
                <a:cs typeface="Lato"/>
              </a:rPr>
              <a:t>Petrol 1.4 · diesel 2.5B L</a:t>
            </a:r>
          </a:p>
          <a:p xmlns:a="http://schemas.openxmlformats.org/drawingml/2006/main">
            <a:pPr>
              <a:spcAft>
                <a:spcPts val="200"/>
              </a:spcAft>
              <a:buNone/>
            </a:pPr>
            <a:r>
              <a:rPr sz="1050">
                <a:solidFill>
                  <a:schemeClr val="dk1"/>
                </a:solidFill>
                <a:latin typeface="Lato"/>
                <a:ea typeface="Lato"/>
                <a:cs typeface="Lato"/>
              </a:rPr>
              <a:t>Since 2013: +6%</a:t>
            </a:r>
          </a:p>
        </p:txBody>
      </p:sp>
      <p:sp>
        <p:nvSpPr>
          <p:cNvPr id="103" name="Province WC tag">
            <a:extLst xmlns:a="http://schemas.openxmlformats.org/drawingml/2006/main">
              <a:ext uri="{FF2B5EF4-FFF2-40B4-BE49-F238E27FC236}">
                <a16:creationId xmlns:a16="http://schemas.microsoft.com/office/drawing/2014/main" id="{8347151F-EAAB-CA67-6E40-E50B13DB0BB3}"/>
              </a:ext>
            </a:extLst>
          </p:cNvPr>
          <p:cNvSpPr>
            <a:spLocks xmlns:a="http://schemas.openxmlformats.org/drawingml/2006/main" noGrp="1"/>
          </p:cNvSpPr>
          <p:nvPr/>
        </p:nvSpPr>
        <p:spPr>
          <a:xfrm xmlns:a="http://schemas.openxmlformats.org/drawingml/2006/main">
            <a:off x="533400" y="44831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3.9B L · observed</a:t>
            </a:r>
          </a:p>
        </p:txBody>
      </p:sp>
      <p:sp>
        <p:nvSpPr>
          <p:cNvPr id="104" name="Province EC">
            <a:extLst xmlns:a="http://schemas.openxmlformats.org/drawingml/2006/main">
              <a:ext uri="{FF2B5EF4-FFF2-40B4-BE49-F238E27FC236}">
                <a16:creationId xmlns:a16="http://schemas.microsoft.com/office/drawing/2014/main" id="{596423DD-A90E-12F7-C6A4-A6A5D8949863}"/>
              </a:ext>
            </a:extLst>
          </p:cNvPr>
          <p:cNvSpPr>
            <a:spLocks xmlns:a="http://schemas.openxmlformats.org/drawingml/2006/main" noGrp="1"/>
          </p:cNvSpPr>
          <p:nvPr/>
        </p:nvSpPr>
        <p:spPr>
          <a:xfrm xmlns:a="http://schemas.openxmlformats.org/drawingml/2006/main">
            <a:off x="457200" y="48768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Eastern Cape · 8%</a:t>
            </a:r>
          </a:p>
          <a:p xmlns:a="http://schemas.openxmlformats.org/drawingml/2006/main">
            <a:pPr>
              <a:spcAft>
                <a:spcPts val="200"/>
              </a:spcAft>
              <a:buNone/>
            </a:pPr>
            <a:r>
              <a:rPr sz="1050">
                <a:solidFill>
                  <a:schemeClr val="dk1"/>
                </a:solidFill>
                <a:latin typeface="Lato"/>
                <a:ea typeface="Lato"/>
                <a:cs typeface="Lato"/>
              </a:rPr>
              <a:t>Petrol 0.7 · diesel 1.0B L</a:t>
            </a:r>
          </a:p>
          <a:p xmlns:a="http://schemas.openxmlformats.org/drawingml/2006/main">
            <a:pPr>
              <a:spcAft>
                <a:spcPts val="200"/>
              </a:spcAft>
              <a:buNone/>
            </a:pPr>
            <a:r>
              <a:rPr sz="1050">
                <a:solidFill>
                  <a:schemeClr val="dk1"/>
                </a:solidFill>
                <a:latin typeface="Lato"/>
                <a:ea typeface="Lato"/>
                <a:cs typeface="Lato"/>
              </a:rPr>
              <a:t>Since 2013: +9%</a:t>
            </a:r>
            <a:endParaRPr sz="1050">
              <a:solidFill>
                <a:schemeClr val="dk1"/>
              </a:solidFill>
              <a:latin typeface="Lato"/>
              <a:ea typeface="Lato"/>
              <a:cs typeface="Lato"/>
            </a:endParaRPr>
          </a:p>
        </p:txBody>
      </p:sp>
      <p:sp>
        <p:nvSpPr>
          <p:cNvPr id="105" name="Province EC tag">
            <a:extLst xmlns:a="http://schemas.openxmlformats.org/drawingml/2006/main">
              <a:ext uri="{FF2B5EF4-FFF2-40B4-BE49-F238E27FC236}">
                <a16:creationId xmlns:a16="http://schemas.microsoft.com/office/drawing/2014/main" id="{C649A806-AF11-F8AB-9886-DDB4371DFD23}"/>
              </a:ext>
            </a:extLst>
          </p:cNvPr>
          <p:cNvSpPr>
            <a:spLocks xmlns:a="http://schemas.openxmlformats.org/drawingml/2006/main" noGrp="1"/>
          </p:cNvSpPr>
          <p:nvPr/>
        </p:nvSpPr>
        <p:spPr>
          <a:xfrm xmlns:a="http://schemas.openxmlformats.org/drawingml/2006/main">
            <a:off x="533400" y="59055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1.7B L · observed</a:t>
            </a:r>
          </a:p>
        </p:txBody>
      </p:sp>
      <p:sp>
        <p:nvSpPr>
          <p:cNvPr id="106" name="Province GP">
            <a:extLst xmlns:a="http://schemas.openxmlformats.org/drawingml/2006/main">
              <a:ext uri="{FF2B5EF4-FFF2-40B4-BE49-F238E27FC236}">
                <a16:creationId xmlns:a16="http://schemas.microsoft.com/office/drawing/2014/main" id="{1B004C7D-FA85-8F87-1A12-BECCC1CB851C}"/>
              </a:ext>
            </a:extLst>
          </p:cNvPr>
          <p:cNvSpPr>
            <a:spLocks xmlns:a="http://schemas.openxmlformats.org/drawingml/2006/main" noGrp="1"/>
          </p:cNvSpPr>
          <p:nvPr/>
        </p:nvSpPr>
        <p:spPr>
          <a:xfrm xmlns:a="http://schemas.openxmlformats.org/drawingml/2006/main">
            <a:off x="3200400" y="2032000"/>
            <a:ext cx="243205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Gauteng · 31%</a:t>
            </a:r>
          </a:p>
          <a:p xmlns:a="http://schemas.openxmlformats.org/drawingml/2006/main">
            <a:pPr>
              <a:spcAft>
                <a:spcPts val="200"/>
              </a:spcAft>
              <a:buNone/>
            </a:pPr>
            <a:r>
              <a:rPr sz="1050">
                <a:solidFill>
                  <a:schemeClr val="dk1"/>
                </a:solidFill>
                <a:latin typeface="Lato"/>
                <a:ea typeface="Lato"/>
                <a:cs typeface="Lato"/>
              </a:rPr>
              <a:t>Petrol 3.5 · diesel 3.3B L</a:t>
            </a:r>
          </a:p>
          <a:p xmlns:a="http://schemas.openxmlformats.org/drawingml/2006/main">
            <a:pPr>
              <a:spcAft>
                <a:spcPts val="200"/>
              </a:spcAft>
              <a:buNone/>
            </a:pPr>
            <a:r>
              <a:rPr sz="1050">
                <a:solidFill>
                  <a:schemeClr val="dk1"/>
                </a:solidFill>
                <a:latin typeface="Lato"/>
                <a:ea typeface="Lato"/>
                <a:cs typeface="Lato"/>
              </a:rPr>
              <a:t>Since 2013: -2%</a:t>
            </a:r>
            <a:endParaRPr sz="1050">
              <a:solidFill>
                <a:schemeClr val="dk1"/>
              </a:solidFill>
              <a:latin typeface="Lato"/>
              <a:ea typeface="Lato"/>
              <a:cs typeface="Lato"/>
            </a:endParaRPr>
          </a:p>
        </p:txBody>
      </p:sp>
      <p:sp>
        <p:nvSpPr>
          <p:cNvPr id="107" name="Province GP tag">
            <a:extLst xmlns:a="http://schemas.openxmlformats.org/drawingml/2006/main">
              <a:ext uri="{FF2B5EF4-FFF2-40B4-BE49-F238E27FC236}">
                <a16:creationId xmlns:a16="http://schemas.microsoft.com/office/drawing/2014/main" id="{9EE7F06E-C3DF-6365-AA5D-FD84285149F4}"/>
              </a:ext>
            </a:extLst>
          </p:cNvPr>
          <p:cNvSpPr>
            <a:spLocks xmlns:a="http://schemas.openxmlformats.org/drawingml/2006/main" noGrp="1"/>
          </p:cNvSpPr>
          <p:nvPr/>
        </p:nvSpPr>
        <p:spPr>
          <a:xfrm xmlns:a="http://schemas.openxmlformats.org/drawingml/2006/main">
            <a:off x="3276600" y="3060700"/>
            <a:ext cx="227965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6.8B L · observed</a:t>
            </a:r>
          </a:p>
        </p:txBody>
      </p:sp>
      <p:sp>
        <p:nvSpPr>
          <p:cNvPr id="108" name="Province MP">
            <a:extLst xmlns:a="http://schemas.openxmlformats.org/drawingml/2006/main">
              <a:ext uri="{FF2B5EF4-FFF2-40B4-BE49-F238E27FC236}">
                <a16:creationId xmlns:a16="http://schemas.microsoft.com/office/drawing/2014/main" id="{11D02282-1735-6EC6-FFD2-81CAC266B220}"/>
              </a:ext>
            </a:extLst>
          </p:cNvPr>
          <p:cNvSpPr>
            <a:spLocks xmlns:a="http://schemas.openxmlformats.org/drawingml/2006/main" noGrp="1"/>
          </p:cNvSpPr>
          <p:nvPr/>
        </p:nvSpPr>
        <p:spPr>
          <a:xfrm xmlns:a="http://schemas.openxmlformats.org/drawingml/2006/main">
            <a:off x="5937250" y="2032000"/>
            <a:ext cx="243205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Mpumalanga · 8%</a:t>
            </a:r>
          </a:p>
          <a:p xmlns:a="http://schemas.openxmlformats.org/drawingml/2006/main">
            <a:pPr>
              <a:spcAft>
                <a:spcPts val="200"/>
              </a:spcAft>
              <a:buNone/>
            </a:pPr>
            <a:r>
              <a:rPr sz="1050">
                <a:solidFill>
                  <a:schemeClr val="dk1"/>
                </a:solidFill>
                <a:latin typeface="Lato"/>
                <a:ea typeface="Lato"/>
                <a:cs typeface="Lato"/>
              </a:rPr>
              <a:t>Petrol 0.6 · diesel 1.1B L</a:t>
            </a:r>
          </a:p>
          <a:p xmlns:a="http://schemas.openxmlformats.org/drawingml/2006/main">
            <a:pPr>
              <a:spcAft>
                <a:spcPts val="200"/>
              </a:spcAft>
              <a:buNone/>
            </a:pPr>
            <a:r>
              <a:rPr sz="1050">
                <a:solidFill>
                  <a:schemeClr val="dk1"/>
                </a:solidFill>
                <a:latin typeface="Lato"/>
                <a:ea typeface="Lato"/>
                <a:cs typeface="Lato"/>
              </a:rPr>
              <a:t>Since 2013: -24%</a:t>
            </a:r>
          </a:p>
        </p:txBody>
      </p:sp>
      <p:sp>
        <p:nvSpPr>
          <p:cNvPr id="109" name="Province MP tag">
            <a:extLst xmlns:a="http://schemas.openxmlformats.org/drawingml/2006/main">
              <a:ext uri="{FF2B5EF4-FFF2-40B4-BE49-F238E27FC236}">
                <a16:creationId xmlns:a16="http://schemas.microsoft.com/office/drawing/2014/main" id="{72325E91-CB4D-237C-C4FD-8AD26D877C0B}"/>
              </a:ext>
            </a:extLst>
          </p:cNvPr>
          <p:cNvSpPr>
            <a:spLocks xmlns:a="http://schemas.openxmlformats.org/drawingml/2006/main" noGrp="1"/>
          </p:cNvSpPr>
          <p:nvPr/>
        </p:nvSpPr>
        <p:spPr>
          <a:xfrm xmlns:a="http://schemas.openxmlformats.org/drawingml/2006/main">
            <a:off x="6013450" y="3060700"/>
            <a:ext cx="227965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1.8B L · observed</a:t>
            </a:r>
          </a:p>
        </p:txBody>
      </p:sp>
      <p:sp>
        <p:nvSpPr>
          <p:cNvPr id="110" name="Province FS">
            <a:extLst xmlns:a="http://schemas.openxmlformats.org/drawingml/2006/main">
              <a:ext uri="{FF2B5EF4-FFF2-40B4-BE49-F238E27FC236}">
                <a16:creationId xmlns:a16="http://schemas.microsoft.com/office/drawing/2014/main" id="{8A83D6B6-1733-1D1F-055D-107DC1A2D43E}"/>
              </a:ext>
            </a:extLst>
          </p:cNvPr>
          <p:cNvSpPr>
            <a:spLocks xmlns:a="http://schemas.openxmlformats.org/drawingml/2006/main" noGrp="1"/>
          </p:cNvSpPr>
          <p:nvPr/>
        </p:nvSpPr>
        <p:spPr>
          <a:xfrm xmlns:a="http://schemas.openxmlformats.org/drawingml/2006/main">
            <a:off x="3200400" y="3454400"/>
            <a:ext cx="243205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Free State · 6%</a:t>
            </a:r>
          </a:p>
          <a:p xmlns:a="http://schemas.openxmlformats.org/drawingml/2006/main">
            <a:pPr>
              <a:spcAft>
                <a:spcPts val="200"/>
              </a:spcAft>
              <a:buNone/>
            </a:pPr>
            <a:r>
              <a:rPr sz="1050">
                <a:solidFill>
                  <a:schemeClr val="dk1"/>
                </a:solidFill>
                <a:latin typeface="Lato"/>
                <a:ea typeface="Lato"/>
                <a:cs typeface="Lato"/>
              </a:rPr>
              <a:t>Petrol 0.6 · diesel 0.8B L</a:t>
            </a:r>
          </a:p>
          <a:p xmlns:a="http://schemas.openxmlformats.org/drawingml/2006/main">
            <a:pPr>
              <a:spcAft>
                <a:spcPts val="200"/>
              </a:spcAft>
              <a:buNone/>
            </a:pPr>
            <a:r>
              <a:rPr sz="1050">
                <a:solidFill>
                  <a:schemeClr val="dk1"/>
                </a:solidFill>
                <a:latin typeface="Lato"/>
                <a:ea typeface="Lato"/>
                <a:cs typeface="Lato"/>
              </a:rPr>
              <a:t>Since 2013: -39%</a:t>
            </a:r>
            <a:endParaRPr sz="1050">
              <a:solidFill>
                <a:schemeClr val="dk1"/>
              </a:solidFill>
              <a:latin typeface="Lato"/>
              <a:ea typeface="Lato"/>
              <a:cs typeface="Lato"/>
            </a:endParaRPr>
          </a:p>
        </p:txBody>
      </p:sp>
      <p:sp>
        <p:nvSpPr>
          <p:cNvPr id="111" name="Province FS tag">
            <a:extLst xmlns:a="http://schemas.openxmlformats.org/drawingml/2006/main">
              <a:ext uri="{FF2B5EF4-FFF2-40B4-BE49-F238E27FC236}">
                <a16:creationId xmlns:a16="http://schemas.microsoft.com/office/drawing/2014/main" id="{6B613400-DAC0-E172-1035-C260EE64B74A}"/>
              </a:ext>
            </a:extLst>
          </p:cNvPr>
          <p:cNvSpPr>
            <a:spLocks xmlns:a="http://schemas.openxmlformats.org/drawingml/2006/main" noGrp="1"/>
          </p:cNvSpPr>
          <p:nvPr/>
        </p:nvSpPr>
        <p:spPr>
          <a:xfrm xmlns:a="http://schemas.openxmlformats.org/drawingml/2006/main">
            <a:off x="3276600" y="4483100"/>
            <a:ext cx="227965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1.4B L · observed</a:t>
            </a:r>
          </a:p>
        </p:txBody>
      </p:sp>
      <p:sp>
        <p:nvSpPr>
          <p:cNvPr id="112" name="Province NW">
            <a:extLst xmlns:a="http://schemas.openxmlformats.org/drawingml/2006/main">
              <a:ext uri="{FF2B5EF4-FFF2-40B4-BE49-F238E27FC236}">
                <a16:creationId xmlns:a16="http://schemas.microsoft.com/office/drawing/2014/main" id="{F1BA8755-BA90-DCEF-1983-3FF7C0771875}"/>
              </a:ext>
            </a:extLst>
          </p:cNvPr>
          <p:cNvSpPr>
            <a:spLocks xmlns:a="http://schemas.openxmlformats.org/drawingml/2006/main" noGrp="1"/>
          </p:cNvSpPr>
          <p:nvPr/>
        </p:nvSpPr>
        <p:spPr>
          <a:xfrm xmlns:a="http://schemas.openxmlformats.org/drawingml/2006/main">
            <a:off x="5937250" y="3454400"/>
            <a:ext cx="243205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North West · 5%</a:t>
            </a:r>
          </a:p>
          <a:p xmlns:a="http://schemas.openxmlformats.org/drawingml/2006/main">
            <a:pPr>
              <a:spcAft>
                <a:spcPts val="200"/>
              </a:spcAft>
              <a:buNone/>
            </a:pPr>
            <a:r>
              <a:rPr sz="1050">
                <a:solidFill>
                  <a:schemeClr val="dk1"/>
                </a:solidFill>
                <a:latin typeface="Lato"/>
                <a:ea typeface="Lato"/>
                <a:cs typeface="Lato"/>
              </a:rPr>
              <a:t>Petrol 0.4 · diesel 0.6B L</a:t>
            </a:r>
          </a:p>
          <a:p xmlns:a="http://schemas.openxmlformats.org/drawingml/2006/main">
            <a:pPr>
              <a:spcAft>
                <a:spcPts val="200"/>
              </a:spcAft>
              <a:buNone/>
            </a:pPr>
            <a:r>
              <a:rPr sz="1050">
                <a:solidFill>
                  <a:schemeClr val="dk1"/>
                </a:solidFill>
                <a:latin typeface="Lato"/>
                <a:ea typeface="Lato"/>
                <a:cs typeface="Lato"/>
              </a:rPr>
              <a:t>Since 2013: -16%</a:t>
            </a:r>
            <a:endParaRPr sz="1050">
              <a:solidFill>
                <a:schemeClr val="dk1"/>
              </a:solidFill>
              <a:latin typeface="Lato"/>
              <a:ea typeface="Lato"/>
              <a:cs typeface="Lato"/>
            </a:endParaRPr>
          </a:p>
        </p:txBody>
      </p:sp>
      <p:sp>
        <p:nvSpPr>
          <p:cNvPr id="113" name="Province NW tag">
            <a:extLst xmlns:a="http://schemas.openxmlformats.org/drawingml/2006/main">
              <a:ext uri="{FF2B5EF4-FFF2-40B4-BE49-F238E27FC236}">
                <a16:creationId xmlns:a16="http://schemas.microsoft.com/office/drawing/2014/main" id="{2F43AA67-487C-8948-9796-BF34B48BDC7B}"/>
              </a:ext>
            </a:extLst>
          </p:cNvPr>
          <p:cNvSpPr>
            <a:spLocks xmlns:a="http://schemas.openxmlformats.org/drawingml/2006/main" noGrp="1"/>
          </p:cNvSpPr>
          <p:nvPr/>
        </p:nvSpPr>
        <p:spPr>
          <a:xfrm xmlns:a="http://schemas.openxmlformats.org/drawingml/2006/main">
            <a:off x="6013450" y="4483100"/>
            <a:ext cx="227965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1.1B L · observed</a:t>
            </a:r>
          </a:p>
        </p:txBody>
      </p:sp>
      <p:sp>
        <p:nvSpPr>
          <p:cNvPr id="114" name="Province LP">
            <a:extLst xmlns:a="http://schemas.openxmlformats.org/drawingml/2006/main">
              <a:ext uri="{FF2B5EF4-FFF2-40B4-BE49-F238E27FC236}">
                <a16:creationId xmlns:a16="http://schemas.microsoft.com/office/drawing/2014/main" id="{321EBECE-8B9A-8032-D6A5-D66DF938952E}"/>
              </a:ext>
            </a:extLst>
          </p:cNvPr>
          <p:cNvSpPr>
            <a:spLocks xmlns:a="http://schemas.openxmlformats.org/drawingml/2006/main" noGrp="1"/>
          </p:cNvSpPr>
          <p:nvPr/>
        </p:nvSpPr>
        <p:spPr>
          <a:xfrm xmlns:a="http://schemas.openxmlformats.org/drawingml/2006/main">
            <a:off x="3200400" y="4876800"/>
            <a:ext cx="243205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Limpopo · 2%</a:t>
            </a:r>
          </a:p>
          <a:p xmlns:a="http://schemas.openxmlformats.org/drawingml/2006/main">
            <a:pPr>
              <a:spcAft>
                <a:spcPts val="200"/>
              </a:spcAft>
              <a:buNone/>
            </a:pPr>
            <a:r>
              <a:rPr sz="1050">
                <a:solidFill>
                  <a:schemeClr val="dk1"/>
                </a:solidFill>
                <a:latin typeface="Lato"/>
                <a:ea typeface="Lato"/>
                <a:cs typeface="Lato"/>
              </a:rPr>
              <a:t>Petrol 0.3 · diesel 0.2B L</a:t>
            </a:r>
          </a:p>
          <a:p xmlns:a="http://schemas.openxmlformats.org/drawingml/2006/main">
            <a:pPr>
              <a:spcAft>
                <a:spcPts val="200"/>
              </a:spcAft>
              <a:buNone/>
            </a:pPr>
            <a:r>
              <a:rPr sz="1050">
                <a:solidFill>
                  <a:schemeClr val="dk1"/>
                </a:solidFill>
                <a:latin typeface="Lato"/>
                <a:ea typeface="Lato"/>
                <a:cs typeface="Lato"/>
              </a:rPr>
              <a:t>Since 2013: -40%</a:t>
            </a:r>
          </a:p>
        </p:txBody>
      </p:sp>
      <p:sp>
        <p:nvSpPr>
          <p:cNvPr id="115" name="Province LP tag">
            <a:extLst xmlns:a="http://schemas.openxmlformats.org/drawingml/2006/main">
              <a:ext uri="{FF2B5EF4-FFF2-40B4-BE49-F238E27FC236}">
                <a16:creationId xmlns:a16="http://schemas.microsoft.com/office/drawing/2014/main" id="{8F943AA4-1A57-A597-3CB9-ECCE9BBB55C9}"/>
              </a:ext>
            </a:extLst>
          </p:cNvPr>
          <p:cNvSpPr>
            <a:spLocks xmlns:a="http://schemas.openxmlformats.org/drawingml/2006/main" noGrp="1"/>
          </p:cNvSpPr>
          <p:nvPr/>
        </p:nvSpPr>
        <p:spPr>
          <a:xfrm xmlns:a="http://schemas.openxmlformats.org/drawingml/2006/main">
            <a:off x="3276600" y="5905500"/>
            <a:ext cx="227965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0.5B L · observed</a:t>
            </a:r>
          </a:p>
        </p:txBody>
      </p:sp>
      <p:sp>
        <p:nvSpPr>
          <p:cNvPr id="116" name="Province NC">
            <a:extLst xmlns:a="http://schemas.openxmlformats.org/drawingml/2006/main">
              <a:ext uri="{FF2B5EF4-FFF2-40B4-BE49-F238E27FC236}">
                <a16:creationId xmlns:a16="http://schemas.microsoft.com/office/drawing/2014/main" id="{C9046BEB-F94F-1097-C63B-A89C365C168B}"/>
              </a:ext>
            </a:extLst>
          </p:cNvPr>
          <p:cNvSpPr>
            <a:spLocks xmlns:a="http://schemas.openxmlformats.org/drawingml/2006/main" noGrp="1"/>
          </p:cNvSpPr>
          <p:nvPr/>
        </p:nvSpPr>
        <p:spPr>
          <a:xfrm xmlns:a="http://schemas.openxmlformats.org/drawingml/2006/main">
            <a:off x="5937250" y="4876800"/>
            <a:ext cx="243205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Northern Cape · 2%</a:t>
            </a:r>
          </a:p>
          <a:p xmlns:a="http://schemas.openxmlformats.org/drawingml/2006/main">
            <a:pPr>
              <a:spcAft>
                <a:spcPts val="200"/>
              </a:spcAft>
              <a:buNone/>
            </a:pPr>
            <a:r>
              <a:rPr sz="1050">
                <a:solidFill>
                  <a:schemeClr val="dk1"/>
                </a:solidFill>
                <a:latin typeface="Lato"/>
                <a:ea typeface="Lato"/>
                <a:cs typeface="Lato"/>
              </a:rPr>
              <a:t>Petrol 0.1 · diesel 0.4B L</a:t>
            </a:r>
          </a:p>
          <a:p xmlns:a="http://schemas.openxmlformats.org/drawingml/2006/main">
            <a:pPr>
              <a:spcAft>
                <a:spcPts val="200"/>
              </a:spcAft>
              <a:buNone/>
            </a:pPr>
            <a:r>
              <a:rPr sz="1050">
                <a:solidFill>
                  <a:schemeClr val="dk1"/>
                </a:solidFill>
                <a:latin typeface="Lato"/>
                <a:ea typeface="Lato"/>
                <a:cs typeface="Lato"/>
              </a:rPr>
              <a:t>Since 2013: -23%</a:t>
            </a:r>
            <a:endParaRPr sz="1050">
              <a:solidFill>
                <a:schemeClr val="dk1"/>
              </a:solidFill>
              <a:latin typeface="Lato"/>
              <a:ea typeface="Lato"/>
              <a:cs typeface="Lato"/>
            </a:endParaRPr>
          </a:p>
        </p:txBody>
      </p:sp>
      <p:sp>
        <p:nvSpPr>
          <p:cNvPr id="117" name="Province NC tag">
            <a:extLst xmlns:a="http://schemas.openxmlformats.org/drawingml/2006/main">
              <a:ext uri="{FF2B5EF4-FFF2-40B4-BE49-F238E27FC236}">
                <a16:creationId xmlns:a16="http://schemas.microsoft.com/office/drawing/2014/main" id="{054EB95D-C97D-E243-175F-EF19528740A3}"/>
              </a:ext>
            </a:extLst>
          </p:cNvPr>
          <p:cNvSpPr>
            <a:spLocks xmlns:a="http://schemas.openxmlformats.org/drawingml/2006/main" noGrp="1"/>
          </p:cNvSpPr>
          <p:nvPr/>
        </p:nvSpPr>
        <p:spPr>
          <a:xfrm xmlns:a="http://schemas.openxmlformats.org/drawingml/2006/main">
            <a:off x="6013450" y="5905500"/>
            <a:ext cx="227965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0.5B L · observed</a:t>
            </a:r>
          </a:p>
        </p:txBody>
      </p:sp>
      <p:sp>
        <p:nvSpPr>
          <p:cNvPr id="118" name="Province finding 1">
            <a:extLst xmlns:a="http://schemas.openxmlformats.org/drawingml/2006/main">
              <a:ext uri="{FF2B5EF4-FFF2-40B4-BE49-F238E27FC236}">
                <a16:creationId xmlns:a16="http://schemas.microsoft.com/office/drawing/2014/main" id="{0953624E-84D8-EC64-6D32-47D2A8A397A3}"/>
              </a:ext>
            </a:extLst>
          </p:cNvPr>
          <p:cNvSpPr>
            <a:spLocks xmlns:a="http://schemas.openxmlformats.org/drawingml/2006/main" noGrp="1"/>
          </p:cNvSpPr>
          <p:nvPr/>
        </p:nvSpPr>
        <p:spPr>
          <a:xfrm xmlns:a="http://schemas.openxmlformats.org/drawingml/2006/main">
            <a:off x="8686800" y="20320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Gauteng anchors inland</a:t>
            </a:r>
          </a:p>
          <a:p xmlns:a="http://schemas.openxmlformats.org/drawingml/2006/main">
            <a:pPr>
              <a:spcAft>
                <a:spcPts val="200"/>
              </a:spcAft>
              <a:buNone/>
            </a:pPr>
            <a:r>
              <a:rPr sz="1050">
                <a:solidFill>
                  <a:schemeClr val="dk1"/>
                </a:solidFill>
                <a:latin typeface="Lato"/>
                <a:ea typeface="Lato"/>
                <a:cs typeface="Lato"/>
              </a:rPr>
              <a:t>6.8B L, 31% of the national total</a:t>
            </a:r>
          </a:p>
          <a:p xmlns:a="http://schemas.openxmlformats.org/drawingml/2006/main">
            <a:pPr>
              <a:spcAft>
                <a:spcPts val="200"/>
              </a:spcAft>
              <a:buNone/>
            </a:pPr>
            <a:r>
              <a:rPr sz="1050">
                <a:solidFill>
                  <a:schemeClr val="dk1"/>
                </a:solidFill>
                <a:latin typeface="Lato"/>
                <a:ea typeface="Lato"/>
                <a:cs typeface="Lato"/>
              </a:rPr>
              <a:t>Lesedi's catchment</a:t>
            </a:r>
            <a:endParaRPr sz="1050">
              <a:solidFill>
                <a:schemeClr val="dk1"/>
              </a:solidFill>
              <a:latin typeface="Lato"/>
              <a:ea typeface="Lato"/>
              <a:cs typeface="Lato"/>
            </a:endParaRPr>
          </a:p>
        </p:txBody>
      </p:sp>
      <p:sp>
        <p:nvSpPr>
          <p:cNvPr id="119" name="Province finding 1 tag">
            <a:extLst xmlns:a="http://schemas.openxmlformats.org/drawingml/2006/main">
              <a:ext uri="{FF2B5EF4-FFF2-40B4-BE49-F238E27FC236}">
                <a16:creationId xmlns:a16="http://schemas.microsoft.com/office/drawing/2014/main" id="{163CFE39-DB7D-2E15-2E8A-B9D24EBF4EED}"/>
              </a:ext>
            </a:extLst>
          </p:cNvPr>
          <p:cNvSpPr>
            <a:spLocks xmlns:a="http://schemas.openxmlformats.org/drawingml/2006/main" noGrp="1"/>
          </p:cNvSpPr>
          <p:nvPr/>
        </p:nvSpPr>
        <p:spPr>
          <a:xfrm xmlns:a="http://schemas.openxmlformats.org/drawingml/2006/main">
            <a:off x="8763000" y="30607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2022 · observed · DR01</a:t>
            </a:r>
          </a:p>
        </p:txBody>
      </p:sp>
      <p:sp>
        <p:nvSpPr>
          <p:cNvPr id="120" name="Province finding 2">
            <a:extLst xmlns:a="http://schemas.openxmlformats.org/drawingml/2006/main">
              <a:ext uri="{FF2B5EF4-FFF2-40B4-BE49-F238E27FC236}">
                <a16:creationId xmlns:a16="http://schemas.microsoft.com/office/drawing/2014/main" id="{6641261C-4809-F51B-8187-D5B80A9B08C4}"/>
              </a:ext>
            </a:extLst>
          </p:cNvPr>
          <p:cNvSpPr>
            <a:spLocks xmlns:a="http://schemas.openxmlformats.org/drawingml/2006/main" noGrp="1"/>
          </p:cNvSpPr>
          <p:nvPr/>
        </p:nvSpPr>
        <p:spPr>
          <a:xfrm xmlns:a="http://schemas.openxmlformats.org/drawingml/2006/main">
            <a:off x="8686800" y="34544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Diesel grew on the coast</a:t>
            </a:r>
          </a:p>
          <a:p xmlns:a="http://schemas.openxmlformats.org/drawingml/2006/main">
            <a:pPr>
              <a:spcAft>
                <a:spcPts val="200"/>
              </a:spcAft>
              <a:buNone/>
            </a:pPr>
            <a:r>
              <a:rPr sz="1050">
                <a:solidFill>
                  <a:schemeClr val="dk1"/>
                </a:solidFill>
                <a:latin typeface="Lato"/>
                <a:ea typeface="Lato"/>
                <a:cs typeface="Lato"/>
              </a:rPr>
              <a:t>KZN 2.3 to 2.8, WC 2.0 to 2.5B L</a:t>
            </a:r>
          </a:p>
          <a:p xmlns:a="http://schemas.openxmlformats.org/drawingml/2006/main">
            <a:pPr>
              <a:spcAft>
                <a:spcPts val="200"/>
              </a:spcAft>
              <a:buNone/>
            </a:pPr>
            <a:r>
              <a:rPr sz="1050">
                <a:solidFill>
                  <a:schemeClr val="dk1"/>
                </a:solidFill>
                <a:latin typeface="Lato"/>
                <a:ea typeface="Lato"/>
                <a:cs typeface="Lato"/>
              </a:rPr>
              <a:t>Petrol fell in every province</a:t>
            </a:r>
            <a:endParaRPr sz="1050">
              <a:solidFill>
                <a:schemeClr val="dk1"/>
              </a:solidFill>
              <a:latin typeface="Lato"/>
              <a:ea typeface="Lato"/>
              <a:cs typeface="Lato"/>
            </a:endParaRPr>
          </a:p>
        </p:txBody>
      </p:sp>
      <p:sp>
        <p:nvSpPr>
          <p:cNvPr id="121" name="Province finding 2 tag">
            <a:extLst xmlns:a="http://schemas.openxmlformats.org/drawingml/2006/main">
              <a:ext uri="{FF2B5EF4-FFF2-40B4-BE49-F238E27FC236}">
                <a16:creationId xmlns:a16="http://schemas.microsoft.com/office/drawing/2014/main" id="{B3C8628C-A4D8-0594-60EE-ECAA2539FC6D}"/>
              </a:ext>
            </a:extLst>
          </p:cNvPr>
          <p:cNvSpPr>
            <a:spLocks xmlns:a="http://schemas.openxmlformats.org/drawingml/2006/main" noGrp="1"/>
          </p:cNvSpPr>
          <p:nvPr/>
        </p:nvSpPr>
        <p:spPr>
          <a:xfrm xmlns:a="http://schemas.openxmlformats.org/drawingml/2006/main">
            <a:off x="8763000" y="44831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2013-2022 · observed</a:t>
            </a:r>
          </a:p>
        </p:txBody>
      </p:sp>
      <p:sp>
        <p:nvSpPr>
          <p:cNvPr id="122" name="Province finding 3">
            <a:extLst xmlns:a="http://schemas.openxmlformats.org/drawingml/2006/main">
              <a:ext uri="{FF2B5EF4-FFF2-40B4-BE49-F238E27FC236}">
                <a16:creationId xmlns:a16="http://schemas.microsoft.com/office/drawing/2014/main" id="{94F61B7E-02E1-7CCE-58BF-FA1B16DBBC3E}"/>
              </a:ext>
            </a:extLst>
          </p:cNvPr>
          <p:cNvSpPr>
            <a:spLocks xmlns:a="http://schemas.openxmlformats.org/drawingml/2006/main" noGrp="1"/>
          </p:cNvSpPr>
          <p:nvPr/>
        </p:nvSpPr>
        <p:spPr>
          <a:xfrm xmlns:a="http://schemas.openxmlformats.org/drawingml/2006/main">
            <a:off x="8686800" y="48768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2023 is estimated</a:t>
            </a:r>
          </a:p>
          <a:p xmlns:a="http://schemas.openxmlformats.org/drawingml/2006/main">
            <a:pPr>
              <a:spcAft>
                <a:spcPts val="200"/>
              </a:spcAft>
              <a:buNone/>
            </a:pPr>
            <a:r>
              <a:rPr sz="1050">
                <a:solidFill>
                  <a:schemeClr val="dk1"/>
                </a:solidFill>
                <a:latin typeface="Lato"/>
                <a:ea typeface="Lato"/>
                <a:cs typeface="Lato"/>
              </a:rPr>
              <a:t>First-quarter shares of the total</a:t>
            </a:r>
          </a:p>
          <a:p xmlns:a="http://schemas.openxmlformats.org/drawingml/2006/main">
            <a:pPr>
              <a:spcAft>
                <a:spcPts val="200"/>
              </a:spcAft>
              <a:buNone/>
            </a:pPr>
            <a:r>
              <a:rPr sz="1050">
                <a:solidFill>
                  <a:schemeClr val="dk1"/>
                </a:solidFill>
                <a:latin typeface="Lato"/>
                <a:ea typeface="Lato"/>
                <a:cs typeface="Lato"/>
              </a:rPr>
              <a:t>Error 2.5 pts petrol, 5.3 diesel</a:t>
            </a:r>
            <a:endParaRPr sz="1050">
              <a:solidFill>
                <a:schemeClr val="dk1"/>
              </a:solidFill>
              <a:latin typeface="Lato"/>
              <a:ea typeface="Lato"/>
              <a:cs typeface="Lato"/>
            </a:endParaRPr>
          </a:p>
        </p:txBody>
      </p:sp>
      <p:sp>
        <p:nvSpPr>
          <p:cNvPr id="123" name="Province finding 3 tag">
            <a:extLst xmlns:a="http://schemas.openxmlformats.org/drawingml/2006/main">
              <a:ext uri="{FF2B5EF4-FFF2-40B4-BE49-F238E27FC236}">
                <a16:creationId xmlns:a16="http://schemas.microsoft.com/office/drawing/2014/main" id="{35C37F83-D779-54C8-334B-D481EBA96989}"/>
              </a:ext>
            </a:extLst>
          </p:cNvPr>
          <p:cNvSpPr>
            <a:spLocks xmlns:a="http://schemas.openxmlformats.org/drawingml/2006/main" noGrp="1"/>
          </p:cNvSpPr>
          <p:nvPr/>
        </p:nvSpPr>
        <p:spPr>
          <a:xfrm xmlns:a="http://schemas.openxmlformats.org/drawingml/2006/main">
            <a:off x="8763000" y="59055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Back-test · DR01</a:t>
            </a:r>
          </a:p>
        </p:txBody>
      </p:sp>
    </p:spTree>
    <p:extLst>
      <p:ext uri="{BB962C8B-B14F-4D97-AF65-F5344CB8AC3E}">
        <p14:creationId xmlns:p14="http://schemas.microsoft.com/office/powerpoint/2010/main" val="184489120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C5A97E-D58C-4C09-959C-C5F409A2C3F1}"/>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Demand by use: three sources to calibrate</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CFC35524-2418-4543-AD23-DDA1BEA1516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a:t>
            </a:r>
            <a:endParaRPr sz="1100"/>
          </a:p>
        </p:txBody>
      </p:sp>
      <p:sp>
        <p:nvSpPr>
          <p:cNvPr id="8" name="Unified source footer">
            <a:extLst xmlns:a="http://schemas.openxmlformats.org/drawingml/2006/main">
              <a:ext uri="{FF2B5EF4-FFF2-40B4-BE49-F238E27FC236}">
                <a16:creationId xmlns:a16="http://schemas.microsoft.com/office/drawing/2014/main" id="{FECA0BC0-BA7A-46E9-9FEE-E3834E1505E1}"/>
              </a:ext>
            </a:extLst>
          </p:cNvPr>
          <p:cNvSpPr>
            <a:spLocks xmlns:a="http://schemas.openxmlformats.org/drawingml/2006/main" noGrp="1"/>
          </p:cNvSpPr>
          <p:nvPr/>
        </p:nvSpPr>
        <p:spPr>
          <a:xfrm xmlns:a="http://schemas.openxmlformats.org/drawingml/2006/main">
            <a:off x="457200" y="6184900"/>
            <a:ext cx="10652760" cy="10483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70"/>
              <a:t>Source: department energy balance 2021 (petrol and diesel final consumption); Manish sector baselines (model, high demand, 2024; road petrol and diesel, other sectors diesel); DR07 (Eskom reported litres; independents estimated at 0.31 L/kWh). Not reconciled: overlap log item 6.</a:t>
            </a:r>
            <a:endParaRPr sz="670"/>
          </a:p>
        </p:txBody>
      </p:sp>
      <p:sp>
        <p:nvSpPr>
          <p:cNvPr id="48" name="Strictly Confidential footer">
            <a:extLst xmlns:a="http://schemas.openxmlformats.org/drawingml/2006/main">
              <a:ext uri="{FF2B5EF4-FFF2-40B4-BE49-F238E27FC236}">
                <a16:creationId xmlns:a16="http://schemas.microsoft.com/office/drawing/2014/main" id="{607EDD74-7780-4F88-AB39-08A829CF8977}"/>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
        <p:nvSpPr>
          <p:cNvPr id="47" name="Sources panel">
            <a:extLst xmlns:a="http://schemas.openxmlformats.org/drawingml/2006/main">
              <a:ext uri="{FF2B5EF4-FFF2-40B4-BE49-F238E27FC236}">
                <a16:creationId xmlns:a16="http://schemas.microsoft.com/office/drawing/2014/main" id="{C0175478-3066-0409-C162-100B2EF0916A}"/>
              </a:ext>
            </a:extLst>
          </p:cNvPr>
          <p:cNvSpPr>
            <a:spLocks xmlns:a="http://schemas.openxmlformats.org/drawingml/2006/main" noGrp="1"/>
          </p:cNvSpPr>
          <p:nvPr/>
        </p:nvSpPr>
        <p:spPr>
          <a:xfrm xmlns:a="http://schemas.openxmlformats.org/drawingml/2006/main">
            <a:off x="355600" y="1447800"/>
            <a:ext cx="10858500" cy="332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Calibration panel">
            <a:extLst xmlns:a="http://schemas.openxmlformats.org/drawingml/2006/main">
              <a:ext uri="{FF2B5EF4-FFF2-40B4-BE49-F238E27FC236}">
                <a16:creationId xmlns:a16="http://schemas.microsoft.com/office/drawing/2014/main" id="{B9082CD0-00A0-7187-D02A-0A8832B6EDD2}"/>
              </a:ext>
            </a:extLst>
          </p:cNvPr>
          <p:cNvSpPr>
            <a:spLocks xmlns:a="http://schemas.openxmlformats.org/drawingml/2006/main" noGrp="1"/>
          </p:cNvSpPr>
          <p:nvPr/>
        </p:nvSpPr>
        <p:spPr>
          <a:xfrm xmlns:a="http://schemas.openxmlformats.org/drawingml/2006/main">
            <a:off x="355600" y="4876800"/>
            <a:ext cx="10858500" cy="13208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3" name="Source heading">
            <a:extLst xmlns:a="http://schemas.openxmlformats.org/drawingml/2006/main">
              <a:ext uri="{FF2B5EF4-FFF2-40B4-BE49-F238E27FC236}">
                <a16:creationId xmlns:a16="http://schemas.microsoft.com/office/drawing/2014/main" id="{C8545251-01C0-5313-E66A-E01DB892308D}"/>
              </a:ext>
            </a:extLst>
          </p:cNvPr>
          <p:cNvSpPr>
            <a:spLocks xmlns:a="http://schemas.openxmlformats.org/drawingml/2006/main" noGrp="1"/>
          </p:cNvSpPr>
          <p:nvPr/>
        </p:nvSpPr>
        <p:spPr>
          <a:xfrm xmlns:a="http://schemas.openxmlformats.org/drawingml/2006/main">
            <a:off x="457200" y="1638300"/>
            <a:ext cx="889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Source</a:t>
            </a:r>
          </a:p>
        </p:txBody>
      </p:sp>
      <p:sp>
        <p:nvSpPr>
          <p:cNvPr id="94" name="Sector heading 0">
            <a:extLst xmlns:a="http://schemas.openxmlformats.org/drawingml/2006/main">
              <a:ext uri="{FF2B5EF4-FFF2-40B4-BE49-F238E27FC236}">
                <a16:creationId xmlns:a16="http://schemas.microsoft.com/office/drawing/2014/main" id="{BADA26CC-5FA0-3779-3EB2-0C8C480536F1}"/>
              </a:ext>
            </a:extLst>
          </p:cNvPr>
          <p:cNvSpPr>
            <a:spLocks xmlns:a="http://schemas.openxmlformats.org/drawingml/2006/main" noGrp="1"/>
          </p:cNvSpPr>
          <p:nvPr/>
        </p:nvSpPr>
        <p:spPr>
          <a:xfrm xmlns:a="http://schemas.openxmlformats.org/drawingml/2006/main">
            <a:off x="1536700" y="1638300"/>
            <a:ext cx="1651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b="1">
                <a:solidFill>
                  <a:schemeClr val="accent1"/>
                </a:solidFill>
                <a:latin typeface="Lato"/>
                <a:ea typeface="Lato"/>
                <a:cs typeface="Lato"/>
              </a:rPr>
              <a:t>Road transport</a:t>
            </a:r>
          </a:p>
        </p:txBody>
      </p:sp>
      <p:sp>
        <p:nvSpPr>
          <p:cNvPr id="95" name="Sector heading 1">
            <a:extLst xmlns:a="http://schemas.openxmlformats.org/drawingml/2006/main">
              <a:ext uri="{FF2B5EF4-FFF2-40B4-BE49-F238E27FC236}">
                <a16:creationId xmlns:a16="http://schemas.microsoft.com/office/drawing/2014/main" id="{23B58194-9029-0144-08BF-7E365F20734E}"/>
              </a:ext>
            </a:extLst>
          </p:cNvPr>
          <p:cNvSpPr>
            <a:spLocks xmlns:a="http://schemas.openxmlformats.org/drawingml/2006/main" noGrp="1"/>
          </p:cNvSpPr>
          <p:nvPr/>
        </p:nvSpPr>
        <p:spPr>
          <a:xfrm xmlns:a="http://schemas.openxmlformats.org/drawingml/2006/main">
            <a:off x="3505200" y="1638300"/>
            <a:ext cx="1651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b="1">
                <a:solidFill>
                  <a:schemeClr val="accent1"/>
                </a:solidFill>
                <a:latin typeface="Lato"/>
                <a:ea typeface="Lato"/>
                <a:cs typeface="Lato"/>
              </a:rPr>
              <a:t>Mining and industry</a:t>
            </a:r>
          </a:p>
        </p:txBody>
      </p:sp>
      <p:sp>
        <p:nvSpPr>
          <p:cNvPr id="96" name="Sector heading 2">
            <a:extLst xmlns:a="http://schemas.openxmlformats.org/drawingml/2006/main">
              <a:ext uri="{FF2B5EF4-FFF2-40B4-BE49-F238E27FC236}">
                <a16:creationId xmlns:a16="http://schemas.microsoft.com/office/drawing/2014/main" id="{28A91B41-185E-57BD-E1BD-08AE8DA9241F}"/>
              </a:ext>
            </a:extLst>
          </p:cNvPr>
          <p:cNvSpPr>
            <a:spLocks xmlns:a="http://schemas.openxmlformats.org/drawingml/2006/main" noGrp="1"/>
          </p:cNvSpPr>
          <p:nvPr/>
        </p:nvSpPr>
        <p:spPr>
          <a:xfrm xmlns:a="http://schemas.openxmlformats.org/drawingml/2006/main">
            <a:off x="5473700" y="1638300"/>
            <a:ext cx="1651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b="1">
                <a:solidFill>
                  <a:schemeClr val="accent1"/>
                </a:solidFill>
                <a:latin typeface="Lato"/>
                <a:ea typeface="Lato"/>
                <a:cs typeface="Lato"/>
              </a:rPr>
              <a:t>Agriculture</a:t>
            </a:r>
          </a:p>
        </p:txBody>
      </p:sp>
      <p:sp>
        <p:nvSpPr>
          <p:cNvPr id="97" name="Sector heading 3">
            <a:extLst xmlns:a="http://schemas.openxmlformats.org/drawingml/2006/main">
              <a:ext uri="{FF2B5EF4-FFF2-40B4-BE49-F238E27FC236}">
                <a16:creationId xmlns:a16="http://schemas.microsoft.com/office/drawing/2014/main" id="{35B34390-51DF-E5F8-0E26-0B9CAA83F0BE}"/>
              </a:ext>
            </a:extLst>
          </p:cNvPr>
          <p:cNvSpPr>
            <a:spLocks xmlns:a="http://schemas.openxmlformats.org/drawingml/2006/main" noGrp="1"/>
          </p:cNvSpPr>
          <p:nvPr/>
        </p:nvSpPr>
        <p:spPr>
          <a:xfrm xmlns:a="http://schemas.openxmlformats.org/drawingml/2006/main">
            <a:off x="7442200" y="1638300"/>
            <a:ext cx="1651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b="1">
                <a:solidFill>
                  <a:schemeClr val="accent1"/>
                </a:solidFill>
                <a:latin typeface="Lato"/>
                <a:ea typeface="Lato"/>
                <a:cs typeface="Lato"/>
              </a:rPr>
              <a:t>Power generation</a:t>
            </a:r>
          </a:p>
        </p:txBody>
      </p:sp>
      <p:sp>
        <p:nvSpPr>
          <p:cNvPr id="98" name="Sector heading 4">
            <a:extLst xmlns:a="http://schemas.openxmlformats.org/drawingml/2006/main">
              <a:ext uri="{FF2B5EF4-FFF2-40B4-BE49-F238E27FC236}">
                <a16:creationId xmlns:a16="http://schemas.microsoft.com/office/drawing/2014/main" id="{EEA26F31-8505-D559-B3E3-11DFF5F51E76}"/>
              </a:ext>
            </a:extLst>
          </p:cNvPr>
          <p:cNvSpPr>
            <a:spLocks xmlns:a="http://schemas.openxmlformats.org/drawingml/2006/main" noGrp="1"/>
          </p:cNvSpPr>
          <p:nvPr/>
        </p:nvSpPr>
        <p:spPr>
          <a:xfrm xmlns:a="http://schemas.openxmlformats.org/drawingml/2006/main">
            <a:off x="9410700" y="1638300"/>
            <a:ext cx="16510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b="1">
                <a:solidFill>
                  <a:schemeClr val="accent1"/>
                </a:solidFill>
                <a:latin typeface="Lato"/>
                <a:ea typeface="Lato"/>
                <a:cs typeface="Lato"/>
              </a:rPr>
              <a:t>Other and marine</a:t>
            </a:r>
          </a:p>
        </p:txBody>
      </p:sp>
      <p:cxnSp>
        <p:nvCxnSpPr>
          <p:cNvPr id="155" name="Sector heading rule"/>
          <p:cNvCxnSpPr/>
          <p:nvPr/>
        </p:nvCxnSpPr>
        <p:spPr>
          <a:xfrm xmlns:a="http://schemas.openxmlformats.org/drawingml/2006/main">
            <a:off x="457200" y="1917700"/>
            <a:ext cx="106045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0" name="Source balance">
            <a:extLst xmlns:a="http://schemas.openxmlformats.org/drawingml/2006/main">
              <a:ext uri="{FF2B5EF4-FFF2-40B4-BE49-F238E27FC236}">
                <a16:creationId xmlns:a16="http://schemas.microsoft.com/office/drawing/2014/main" id="{B23BFEDF-628E-9136-F189-3C1C73E1BF64}"/>
              </a:ext>
            </a:extLst>
          </p:cNvPr>
          <p:cNvSpPr>
            <a:spLocks xmlns:a="http://schemas.openxmlformats.org/drawingml/2006/main" noGrp="1"/>
          </p:cNvSpPr>
          <p:nvPr/>
        </p:nvSpPr>
        <p:spPr>
          <a:xfrm xmlns:a="http://schemas.openxmlformats.org/drawingml/2006/main">
            <a:off x="457200" y="2108199"/>
            <a:ext cx="9906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Energy balance</a:t>
            </a:r>
          </a:p>
          <a:p xmlns:a="http://schemas.openxmlformats.org/drawingml/2006/main">
            <a:pPr>
              <a:spcAft>
                <a:spcPts val="200"/>
              </a:spcAft>
              <a:buNone/>
            </a:pPr>
            <a:r>
              <a:rPr sz="900">
                <a:solidFill>
                  <a:schemeClr val="dk1"/>
                </a:solidFill>
                <a:latin typeface="Lato"/>
                <a:ea typeface="Lato"/>
                <a:cs typeface="Lato"/>
              </a:rPr>
              <a:t>2021, final use</a:t>
            </a:r>
            <a:endParaRPr sz="900">
              <a:solidFill>
                <a:schemeClr val="dk1"/>
              </a:solidFill>
              <a:latin typeface="Lato"/>
              <a:ea typeface="Lato"/>
              <a:cs typeface="Lato"/>
            </a:endParaRPr>
          </a:p>
        </p:txBody>
      </p:sp>
      <p:sp>
        <p:nvSpPr>
          <p:cNvPr id="101" name="Use balance road">
            <a:extLst xmlns:a="http://schemas.openxmlformats.org/drawingml/2006/main">
              <a:ext uri="{FF2B5EF4-FFF2-40B4-BE49-F238E27FC236}">
                <a16:creationId xmlns:a16="http://schemas.microsoft.com/office/drawing/2014/main" id="{925DD6D8-748D-3BFF-BD12-35D29D8B0446}"/>
              </a:ext>
            </a:extLst>
          </p:cNvPr>
          <p:cNvSpPr>
            <a:spLocks xmlns:a="http://schemas.openxmlformats.org/drawingml/2006/main" noGrp="1"/>
          </p:cNvSpPr>
          <p:nvPr/>
        </p:nvSpPr>
        <p:spPr>
          <a:xfrm xmlns:a="http://schemas.openxmlformats.org/drawingml/2006/main">
            <a:off x="1536700" y="20320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15.1B L</a:t>
            </a:r>
          </a:p>
          <a:p xmlns:a="http://schemas.openxmlformats.org/drawingml/2006/main">
            <a:pPr>
              <a:spcAft>
                <a:spcPts val="200"/>
              </a:spcAft>
              <a:buNone/>
            </a:pPr>
            <a:r>
              <a:rPr sz="1050">
                <a:solidFill>
                  <a:schemeClr val="dk1"/>
                </a:solidFill>
                <a:latin typeface="Lato"/>
                <a:ea typeface="Lato"/>
                <a:cs typeface="Lato"/>
              </a:rPr>
              <a:t>Petrol and diesel</a:t>
            </a:r>
          </a:p>
        </p:txBody>
      </p:sp>
      <p:sp>
        <p:nvSpPr>
          <p:cNvPr id="102" name="Use balance road tag">
            <a:extLst xmlns:a="http://schemas.openxmlformats.org/drawingml/2006/main">
              <a:ext uri="{FF2B5EF4-FFF2-40B4-BE49-F238E27FC236}">
                <a16:creationId xmlns:a16="http://schemas.microsoft.com/office/drawing/2014/main" id="{645AC1A8-84A6-CBE5-D3CC-EC4BD97868ED}"/>
              </a:ext>
            </a:extLst>
          </p:cNvPr>
          <p:cNvSpPr>
            <a:spLocks xmlns:a="http://schemas.openxmlformats.org/drawingml/2006/main" noGrp="1"/>
          </p:cNvSpPr>
          <p:nvPr/>
        </p:nvSpPr>
        <p:spPr>
          <a:xfrm xmlns:a="http://schemas.openxmlformats.org/drawingml/2006/main">
            <a:off x="1612900" y="26289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2021 · energy balance</a:t>
            </a:r>
          </a:p>
        </p:txBody>
      </p:sp>
      <p:sp>
        <p:nvSpPr>
          <p:cNvPr id="103" name="Use balance industry">
            <a:extLst xmlns:a="http://schemas.openxmlformats.org/drawingml/2006/main">
              <a:ext uri="{FF2B5EF4-FFF2-40B4-BE49-F238E27FC236}">
                <a16:creationId xmlns:a16="http://schemas.microsoft.com/office/drawing/2014/main" id="{E4CDE121-91AC-941A-6FB2-DBC8ECEFBE89}"/>
              </a:ext>
            </a:extLst>
          </p:cNvPr>
          <p:cNvSpPr>
            <a:spLocks xmlns:a="http://schemas.openxmlformats.org/drawingml/2006/main" noGrp="1"/>
          </p:cNvSpPr>
          <p:nvPr/>
        </p:nvSpPr>
        <p:spPr>
          <a:xfrm xmlns:a="http://schemas.openxmlformats.org/drawingml/2006/main">
            <a:off x="3505200" y="20320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1.6B L</a:t>
            </a:r>
          </a:p>
          <a:p xmlns:a="http://schemas.openxmlformats.org/drawingml/2006/main">
            <a:pPr>
              <a:spcAft>
                <a:spcPts val="200"/>
              </a:spcAft>
              <a:buNone/>
            </a:pPr>
            <a:r>
              <a:rPr sz="1050">
                <a:solidFill>
                  <a:schemeClr val="dk1"/>
                </a:solidFill>
                <a:latin typeface="Lato"/>
                <a:ea typeface="Lato"/>
                <a:cs typeface="Lato"/>
              </a:rPr>
              <a:t>Incl. mining 1.3</a:t>
            </a:r>
            <a:endParaRPr sz="1050">
              <a:solidFill>
                <a:schemeClr val="dk1"/>
              </a:solidFill>
              <a:latin typeface="Lato"/>
              <a:ea typeface="Lato"/>
              <a:cs typeface="Lato"/>
            </a:endParaRPr>
          </a:p>
        </p:txBody>
      </p:sp>
      <p:sp>
        <p:nvSpPr>
          <p:cNvPr id="104" name="Use balance industry tag">
            <a:extLst xmlns:a="http://schemas.openxmlformats.org/drawingml/2006/main">
              <a:ext uri="{FF2B5EF4-FFF2-40B4-BE49-F238E27FC236}">
                <a16:creationId xmlns:a16="http://schemas.microsoft.com/office/drawing/2014/main" id="{74020A08-DAC2-618D-1A60-9A77EF35200E}"/>
              </a:ext>
            </a:extLst>
          </p:cNvPr>
          <p:cNvSpPr>
            <a:spLocks xmlns:a="http://schemas.openxmlformats.org/drawingml/2006/main" noGrp="1"/>
          </p:cNvSpPr>
          <p:nvPr/>
        </p:nvSpPr>
        <p:spPr>
          <a:xfrm xmlns:a="http://schemas.openxmlformats.org/drawingml/2006/main">
            <a:off x="3581400" y="26289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2021 · energy balance</a:t>
            </a:r>
          </a:p>
        </p:txBody>
      </p:sp>
      <p:sp>
        <p:nvSpPr>
          <p:cNvPr id="105" name="Use balance agriculture">
            <a:extLst xmlns:a="http://schemas.openxmlformats.org/drawingml/2006/main">
              <a:ext uri="{FF2B5EF4-FFF2-40B4-BE49-F238E27FC236}">
                <a16:creationId xmlns:a16="http://schemas.microsoft.com/office/drawing/2014/main" id="{182E448F-4310-4E58-D43E-66DA0C4C7C71}"/>
              </a:ext>
            </a:extLst>
          </p:cNvPr>
          <p:cNvSpPr>
            <a:spLocks xmlns:a="http://schemas.openxmlformats.org/drawingml/2006/main" noGrp="1"/>
          </p:cNvSpPr>
          <p:nvPr/>
        </p:nvSpPr>
        <p:spPr>
          <a:xfrm xmlns:a="http://schemas.openxmlformats.org/drawingml/2006/main">
            <a:off x="5473700" y="20320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1.2B L</a:t>
            </a:r>
          </a:p>
          <a:p xmlns:a="http://schemas.openxmlformats.org/drawingml/2006/main">
            <a:pPr>
              <a:spcAft>
                <a:spcPts val="200"/>
              </a:spcAft>
              <a:buNone/>
            </a:pPr>
            <a:r>
              <a:rPr sz="1050">
                <a:solidFill>
                  <a:schemeClr val="dk1"/>
                </a:solidFill>
                <a:latin typeface="Lato"/>
                <a:ea typeface="Lato"/>
                <a:cs typeface="Lato"/>
              </a:rPr>
              <a:t>Petrol and diesel</a:t>
            </a:r>
          </a:p>
        </p:txBody>
      </p:sp>
      <p:sp>
        <p:nvSpPr>
          <p:cNvPr id="106" name="Use balance agriculture tag">
            <a:extLst xmlns:a="http://schemas.openxmlformats.org/drawingml/2006/main">
              <a:ext uri="{FF2B5EF4-FFF2-40B4-BE49-F238E27FC236}">
                <a16:creationId xmlns:a16="http://schemas.microsoft.com/office/drawing/2014/main" id="{4B1FE2F4-9385-E9A6-035A-AAC102E26371}"/>
              </a:ext>
            </a:extLst>
          </p:cNvPr>
          <p:cNvSpPr>
            <a:spLocks xmlns:a="http://schemas.openxmlformats.org/drawingml/2006/main" noGrp="1"/>
          </p:cNvSpPr>
          <p:nvPr/>
        </p:nvSpPr>
        <p:spPr>
          <a:xfrm xmlns:a="http://schemas.openxmlformats.org/drawingml/2006/main">
            <a:off x="5549900" y="26289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2021 · energy balance</a:t>
            </a:r>
          </a:p>
        </p:txBody>
      </p:sp>
      <p:sp>
        <p:nvSpPr>
          <p:cNvPr id="107" name="Use balance power">
            <a:extLst xmlns:a="http://schemas.openxmlformats.org/drawingml/2006/main">
              <a:ext uri="{FF2B5EF4-FFF2-40B4-BE49-F238E27FC236}">
                <a16:creationId xmlns:a16="http://schemas.microsoft.com/office/drawing/2014/main" id="{87B81758-588A-2897-E706-3BE318CA1E8B}"/>
              </a:ext>
            </a:extLst>
          </p:cNvPr>
          <p:cNvSpPr>
            <a:spLocks xmlns:a="http://schemas.openxmlformats.org/drawingml/2006/main" noGrp="1"/>
          </p:cNvSpPr>
          <p:nvPr/>
        </p:nvSpPr>
        <p:spPr>
          <a:xfrm xmlns:a="http://schemas.openxmlformats.org/drawingml/2006/main">
            <a:off x="7442200" y="20320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100" b="1">
                <a:solidFill>
                  <a:srgbClr val="808080"/>
                </a:solidFill>
                <a:latin typeface="Lato"/>
                <a:ea typeface="Lato"/>
                <a:cs typeface="Lato"/>
              </a:rPr>
              <a:t>Not in final use</a:t>
            </a:r>
          </a:p>
          <a:p xmlns:a="http://schemas.openxmlformats.org/drawingml/2006/main">
            <a:pPr>
              <a:spcAft>
                <a:spcPts val="200"/>
              </a:spcAft>
              <a:buNone/>
            </a:pPr>
            <a:r>
              <a:rPr sz="1050">
                <a:solidFill>
                  <a:schemeClr val="dk1"/>
                </a:solidFill>
                <a:latin typeface="Lato"/>
                <a:ea typeface="Lato"/>
                <a:cs typeface="Lato"/>
              </a:rPr>
              <a:t>Transformation input</a:t>
            </a:r>
            <a:endParaRPr sz="1050">
              <a:solidFill>
                <a:schemeClr val="dk1"/>
              </a:solidFill>
              <a:latin typeface="Lato"/>
              <a:ea typeface="Lato"/>
              <a:cs typeface="Lato"/>
            </a:endParaRPr>
          </a:p>
        </p:txBody>
      </p:sp>
      <p:sp>
        <p:nvSpPr>
          <p:cNvPr id="108" name="Use balance power tag">
            <a:extLst xmlns:a="http://schemas.openxmlformats.org/drawingml/2006/main">
              <a:ext uri="{FF2B5EF4-FFF2-40B4-BE49-F238E27FC236}">
                <a16:creationId xmlns:a16="http://schemas.microsoft.com/office/drawing/2014/main" id="{574F0E5B-B253-22BD-B9D6-3066F7BF1A65}"/>
              </a:ext>
            </a:extLst>
          </p:cNvPr>
          <p:cNvSpPr>
            <a:spLocks xmlns:a="http://schemas.openxmlformats.org/drawingml/2006/main" noGrp="1"/>
          </p:cNvSpPr>
          <p:nvPr/>
        </p:nvSpPr>
        <p:spPr>
          <a:xfrm xmlns:a="http://schemas.openxmlformats.org/drawingml/2006/main">
            <a:off x="7518400" y="26289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none published</a:t>
            </a:r>
          </a:p>
        </p:txBody>
      </p:sp>
      <p:sp>
        <p:nvSpPr>
          <p:cNvPr id="109" name="Use balance other">
            <a:extLst xmlns:a="http://schemas.openxmlformats.org/drawingml/2006/main">
              <a:ext uri="{FF2B5EF4-FFF2-40B4-BE49-F238E27FC236}">
                <a16:creationId xmlns:a16="http://schemas.microsoft.com/office/drawing/2014/main" id="{6BA14F33-BC59-1770-26A1-D048A42E2028}"/>
              </a:ext>
            </a:extLst>
          </p:cNvPr>
          <p:cNvSpPr>
            <a:spLocks xmlns:a="http://schemas.openxmlformats.org/drawingml/2006/main" noGrp="1"/>
          </p:cNvSpPr>
          <p:nvPr/>
        </p:nvSpPr>
        <p:spPr>
          <a:xfrm xmlns:a="http://schemas.openxmlformats.org/drawingml/2006/main">
            <a:off x="9410700" y="20320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5.3B L</a:t>
            </a:r>
          </a:p>
          <a:p xmlns:a="http://schemas.openxmlformats.org/drawingml/2006/main">
            <a:pPr>
              <a:spcAft>
                <a:spcPts val="200"/>
              </a:spcAft>
              <a:buNone/>
            </a:pPr>
            <a:r>
              <a:rPr sz="1050">
                <a:solidFill>
                  <a:schemeClr val="dk1"/>
                </a:solidFill>
                <a:latin typeface="Lato"/>
                <a:ea typeface="Lato"/>
                <a:cs typeface="Lato"/>
              </a:rPr>
              <a:t>Petrol and diesel</a:t>
            </a:r>
          </a:p>
        </p:txBody>
      </p:sp>
      <p:sp>
        <p:nvSpPr>
          <p:cNvPr id="110" name="Use balance other tag">
            <a:extLst xmlns:a="http://schemas.openxmlformats.org/drawingml/2006/main">
              <a:ext uri="{FF2B5EF4-FFF2-40B4-BE49-F238E27FC236}">
                <a16:creationId xmlns:a16="http://schemas.microsoft.com/office/drawing/2014/main" id="{E2AFAD87-B802-EBF5-1ABA-392CDD1F711C}"/>
              </a:ext>
            </a:extLst>
          </p:cNvPr>
          <p:cNvSpPr>
            <a:spLocks xmlns:a="http://schemas.openxmlformats.org/drawingml/2006/main" noGrp="1"/>
          </p:cNvSpPr>
          <p:nvPr/>
        </p:nvSpPr>
        <p:spPr>
          <a:xfrm xmlns:a="http://schemas.openxmlformats.org/drawingml/2006/main">
            <a:off x="9486900" y="26289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2021 · energy balance</a:t>
            </a:r>
          </a:p>
        </p:txBody>
      </p:sp>
      <p:sp>
        <p:nvSpPr>
          <p:cNvPr id="111" name="Source model">
            <a:extLst xmlns:a="http://schemas.openxmlformats.org/drawingml/2006/main">
              <a:ext uri="{FF2B5EF4-FFF2-40B4-BE49-F238E27FC236}">
                <a16:creationId xmlns:a16="http://schemas.microsoft.com/office/drawing/2014/main" id="{5BF25C24-1F40-E538-A0FC-CE4023B04198}"/>
              </a:ext>
            </a:extLst>
          </p:cNvPr>
          <p:cNvSpPr>
            <a:spLocks xmlns:a="http://schemas.openxmlformats.org/drawingml/2006/main" noGrp="1"/>
          </p:cNvSpPr>
          <p:nvPr/>
        </p:nvSpPr>
        <p:spPr>
          <a:xfrm xmlns:a="http://schemas.openxmlformats.org/drawingml/2006/main">
            <a:off x="457200" y="3022599"/>
            <a:ext cx="9906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Model baseline</a:t>
            </a:r>
          </a:p>
          <a:p xmlns:a="http://schemas.openxmlformats.org/drawingml/2006/main">
            <a:pPr>
              <a:spcAft>
                <a:spcPts val="200"/>
              </a:spcAft>
              <a:buNone/>
            </a:pPr>
            <a:r>
              <a:rPr sz="900">
                <a:solidFill>
                  <a:schemeClr val="dk1"/>
                </a:solidFill>
                <a:latin typeface="Lato"/>
                <a:ea typeface="Lato"/>
                <a:cs typeface="Lato"/>
              </a:rPr>
              <a:t>2024, high demand</a:t>
            </a:r>
            <a:endParaRPr sz="900">
              <a:solidFill>
                <a:schemeClr val="dk1"/>
              </a:solidFill>
              <a:latin typeface="Lato"/>
              <a:ea typeface="Lato"/>
              <a:cs typeface="Lato"/>
            </a:endParaRPr>
          </a:p>
        </p:txBody>
      </p:sp>
      <p:sp>
        <p:nvSpPr>
          <p:cNvPr id="112" name="Use model road">
            <a:extLst xmlns:a="http://schemas.openxmlformats.org/drawingml/2006/main">
              <a:ext uri="{FF2B5EF4-FFF2-40B4-BE49-F238E27FC236}">
                <a16:creationId xmlns:a16="http://schemas.microsoft.com/office/drawing/2014/main" id="{88FC071A-99F7-44B8-C624-6B464EEB3959}"/>
              </a:ext>
            </a:extLst>
          </p:cNvPr>
          <p:cNvSpPr>
            <a:spLocks xmlns:a="http://schemas.openxmlformats.org/drawingml/2006/main" noGrp="1"/>
          </p:cNvSpPr>
          <p:nvPr/>
        </p:nvSpPr>
        <p:spPr>
          <a:xfrm xmlns:a="http://schemas.openxmlformats.org/drawingml/2006/main">
            <a:off x="1536700" y="29464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16.4B L</a:t>
            </a:r>
          </a:p>
          <a:p xmlns:a="http://schemas.openxmlformats.org/drawingml/2006/main">
            <a:pPr>
              <a:spcAft>
                <a:spcPts val="200"/>
              </a:spcAft>
              <a:buNone/>
            </a:pPr>
            <a:r>
              <a:rPr sz="1050">
                <a:solidFill>
                  <a:schemeClr val="dk1"/>
                </a:solidFill>
                <a:latin typeface="Lato"/>
                <a:ea typeface="Lato"/>
                <a:cs typeface="Lato"/>
              </a:rPr>
              <a:t>Petrol and diesel</a:t>
            </a:r>
          </a:p>
        </p:txBody>
      </p:sp>
      <p:sp>
        <p:nvSpPr>
          <p:cNvPr id="113" name="Use model road tag">
            <a:extLst xmlns:a="http://schemas.openxmlformats.org/drawingml/2006/main">
              <a:ext uri="{FF2B5EF4-FFF2-40B4-BE49-F238E27FC236}">
                <a16:creationId xmlns:a16="http://schemas.microsoft.com/office/drawing/2014/main" id="{DD102E10-0C56-EE72-C633-B3C91C9FC0B7}"/>
              </a:ext>
            </a:extLst>
          </p:cNvPr>
          <p:cNvSpPr>
            <a:spLocks xmlns:a="http://schemas.openxmlformats.org/drawingml/2006/main" noGrp="1"/>
          </p:cNvSpPr>
          <p:nvPr/>
        </p:nvSpPr>
        <p:spPr>
          <a:xfrm xmlns:a="http://schemas.openxmlformats.org/drawingml/2006/main">
            <a:off x="1612900" y="35433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2024 · model, sourced</a:t>
            </a:r>
          </a:p>
        </p:txBody>
      </p:sp>
      <p:sp>
        <p:nvSpPr>
          <p:cNvPr id="114" name="Use model industry">
            <a:extLst xmlns:a="http://schemas.openxmlformats.org/drawingml/2006/main">
              <a:ext uri="{FF2B5EF4-FFF2-40B4-BE49-F238E27FC236}">
                <a16:creationId xmlns:a16="http://schemas.microsoft.com/office/drawing/2014/main" id="{8221445E-E4D9-6F3C-ADDB-2C9437B43548}"/>
              </a:ext>
            </a:extLst>
          </p:cNvPr>
          <p:cNvSpPr>
            <a:spLocks xmlns:a="http://schemas.openxmlformats.org/drawingml/2006/main" noGrp="1"/>
          </p:cNvSpPr>
          <p:nvPr/>
        </p:nvSpPr>
        <p:spPr>
          <a:xfrm xmlns:a="http://schemas.openxmlformats.org/drawingml/2006/main">
            <a:off x="3505200" y="29464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1.5B L</a:t>
            </a:r>
          </a:p>
          <a:p xmlns:a="http://schemas.openxmlformats.org/drawingml/2006/main">
            <a:pPr>
              <a:spcAft>
                <a:spcPts val="200"/>
              </a:spcAft>
              <a:buNone/>
            </a:pPr>
            <a:r>
              <a:rPr sz="1050">
                <a:solidFill>
                  <a:schemeClr val="dk1"/>
                </a:solidFill>
                <a:latin typeface="Lato"/>
                <a:ea typeface="Lato"/>
                <a:cs typeface="Lato"/>
              </a:rPr>
              <a:t>Diesel</a:t>
            </a:r>
          </a:p>
        </p:txBody>
      </p:sp>
      <p:sp>
        <p:nvSpPr>
          <p:cNvPr id="115" name="Use model industry tag">
            <a:extLst xmlns:a="http://schemas.openxmlformats.org/drawingml/2006/main">
              <a:ext uri="{FF2B5EF4-FFF2-40B4-BE49-F238E27FC236}">
                <a16:creationId xmlns:a16="http://schemas.microsoft.com/office/drawing/2014/main" id="{3E1FF6D0-135C-6DFD-6F1D-8E39CD749DFC}"/>
              </a:ext>
            </a:extLst>
          </p:cNvPr>
          <p:cNvSpPr>
            <a:spLocks xmlns:a="http://schemas.openxmlformats.org/drawingml/2006/main" noGrp="1"/>
          </p:cNvSpPr>
          <p:nvPr/>
        </p:nvSpPr>
        <p:spPr>
          <a:xfrm xmlns:a="http://schemas.openxmlformats.org/drawingml/2006/main">
            <a:off x="3581400" y="35433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2024 · model, sourced</a:t>
            </a:r>
          </a:p>
        </p:txBody>
      </p:sp>
      <p:sp>
        <p:nvSpPr>
          <p:cNvPr id="116" name="Use model agriculture">
            <a:extLst xmlns:a="http://schemas.openxmlformats.org/drawingml/2006/main">
              <a:ext uri="{FF2B5EF4-FFF2-40B4-BE49-F238E27FC236}">
                <a16:creationId xmlns:a16="http://schemas.microsoft.com/office/drawing/2014/main" id="{5EA6EE13-EACF-D21F-BB6C-FF1DD0BCD5E8}"/>
              </a:ext>
            </a:extLst>
          </p:cNvPr>
          <p:cNvSpPr>
            <a:spLocks xmlns:a="http://schemas.openxmlformats.org/drawingml/2006/main" noGrp="1"/>
          </p:cNvSpPr>
          <p:nvPr/>
        </p:nvSpPr>
        <p:spPr>
          <a:xfrm xmlns:a="http://schemas.openxmlformats.org/drawingml/2006/main">
            <a:off x="5473700" y="29464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1.1B L</a:t>
            </a:r>
          </a:p>
          <a:p xmlns:a="http://schemas.openxmlformats.org/drawingml/2006/main">
            <a:pPr>
              <a:spcAft>
                <a:spcPts val="200"/>
              </a:spcAft>
              <a:buNone/>
            </a:pPr>
            <a:r>
              <a:rPr sz="1050">
                <a:solidFill>
                  <a:schemeClr val="dk1"/>
                </a:solidFill>
                <a:latin typeface="Lato"/>
                <a:ea typeface="Lato"/>
                <a:cs typeface="Lato"/>
              </a:rPr>
              <a:t>Diesel</a:t>
            </a:r>
          </a:p>
        </p:txBody>
      </p:sp>
      <p:sp>
        <p:nvSpPr>
          <p:cNvPr id="117" name="Use model agriculture tag">
            <a:extLst xmlns:a="http://schemas.openxmlformats.org/drawingml/2006/main">
              <a:ext uri="{FF2B5EF4-FFF2-40B4-BE49-F238E27FC236}">
                <a16:creationId xmlns:a16="http://schemas.microsoft.com/office/drawing/2014/main" id="{AB1C8F83-F287-7CA5-DCF1-985B8CE490C4}"/>
              </a:ext>
            </a:extLst>
          </p:cNvPr>
          <p:cNvSpPr>
            <a:spLocks xmlns:a="http://schemas.openxmlformats.org/drawingml/2006/main" noGrp="1"/>
          </p:cNvSpPr>
          <p:nvPr/>
        </p:nvSpPr>
        <p:spPr>
          <a:xfrm xmlns:a="http://schemas.openxmlformats.org/drawingml/2006/main">
            <a:off x="5549900" y="35433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2024 · model, sourced</a:t>
            </a:r>
          </a:p>
        </p:txBody>
      </p:sp>
      <p:sp>
        <p:nvSpPr>
          <p:cNvPr id="118" name="Use model power">
            <a:extLst xmlns:a="http://schemas.openxmlformats.org/drawingml/2006/main">
              <a:ext uri="{FF2B5EF4-FFF2-40B4-BE49-F238E27FC236}">
                <a16:creationId xmlns:a16="http://schemas.microsoft.com/office/drawing/2014/main" id="{30C91FD1-798F-81C7-ACCE-977C06224EC1}"/>
              </a:ext>
            </a:extLst>
          </p:cNvPr>
          <p:cNvSpPr>
            <a:spLocks xmlns:a="http://schemas.openxmlformats.org/drawingml/2006/main" noGrp="1"/>
          </p:cNvSpPr>
          <p:nvPr/>
        </p:nvSpPr>
        <p:spPr>
          <a:xfrm xmlns:a="http://schemas.openxmlformats.org/drawingml/2006/main">
            <a:off x="7442200" y="29464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3.6B L</a:t>
            </a:r>
          </a:p>
          <a:p xmlns:a="http://schemas.openxmlformats.org/drawingml/2006/main">
            <a:pPr>
              <a:spcAft>
                <a:spcPts val="200"/>
              </a:spcAft>
              <a:buNone/>
            </a:pPr>
            <a:r>
              <a:rPr sz="1050">
                <a:solidFill>
                  <a:schemeClr val="dk1"/>
                </a:solidFill>
                <a:latin typeface="Lato"/>
                <a:ea typeface="Lato"/>
                <a:cs typeface="Lato"/>
              </a:rPr>
              <a:t>Diesel</a:t>
            </a:r>
          </a:p>
        </p:txBody>
      </p:sp>
      <p:sp>
        <p:nvSpPr>
          <p:cNvPr id="119" name="Use model power tag">
            <a:extLst xmlns:a="http://schemas.openxmlformats.org/drawingml/2006/main">
              <a:ext uri="{FF2B5EF4-FFF2-40B4-BE49-F238E27FC236}">
                <a16:creationId xmlns:a16="http://schemas.microsoft.com/office/drawing/2014/main" id="{D44D093D-7F7F-E7F9-F2B4-0613126BDFA9}"/>
              </a:ext>
            </a:extLst>
          </p:cNvPr>
          <p:cNvSpPr>
            <a:spLocks xmlns:a="http://schemas.openxmlformats.org/drawingml/2006/main" noGrp="1"/>
          </p:cNvSpPr>
          <p:nvPr/>
        </p:nvSpPr>
        <p:spPr>
          <a:xfrm xmlns:a="http://schemas.openxmlformats.org/drawingml/2006/main">
            <a:off x="7518400" y="35433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2024; notional plants</a:t>
            </a:r>
          </a:p>
        </p:txBody>
      </p:sp>
      <p:sp>
        <p:nvSpPr>
          <p:cNvPr id="120" name="Use model other">
            <a:extLst xmlns:a="http://schemas.openxmlformats.org/drawingml/2006/main">
              <a:ext uri="{FF2B5EF4-FFF2-40B4-BE49-F238E27FC236}">
                <a16:creationId xmlns:a16="http://schemas.microsoft.com/office/drawing/2014/main" id="{0EF29985-A6EC-F9F2-877F-9E857EB8D365}"/>
              </a:ext>
            </a:extLst>
          </p:cNvPr>
          <p:cNvSpPr>
            <a:spLocks xmlns:a="http://schemas.openxmlformats.org/drawingml/2006/main" noGrp="1"/>
          </p:cNvSpPr>
          <p:nvPr/>
        </p:nvSpPr>
        <p:spPr>
          <a:xfrm xmlns:a="http://schemas.openxmlformats.org/drawingml/2006/main">
            <a:off x="9410700" y="29464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0.8B L</a:t>
            </a:r>
          </a:p>
          <a:p xmlns:a="http://schemas.openxmlformats.org/drawingml/2006/main">
            <a:pPr>
              <a:spcAft>
                <a:spcPts val="200"/>
              </a:spcAft>
              <a:buNone/>
            </a:pPr>
            <a:r>
              <a:rPr sz="1050">
                <a:solidFill>
                  <a:schemeClr val="dk1"/>
                </a:solidFill>
                <a:latin typeface="Lato"/>
                <a:ea typeface="Lato"/>
                <a:cs typeface="Lato"/>
              </a:rPr>
              <a:t>Marine diesel only</a:t>
            </a:r>
            <a:endParaRPr sz="1050">
              <a:solidFill>
                <a:schemeClr val="dk1"/>
              </a:solidFill>
              <a:latin typeface="Lato"/>
              <a:ea typeface="Lato"/>
              <a:cs typeface="Lato"/>
            </a:endParaRPr>
          </a:p>
        </p:txBody>
      </p:sp>
      <p:sp>
        <p:nvSpPr>
          <p:cNvPr id="121" name="Use model other tag">
            <a:extLst xmlns:a="http://schemas.openxmlformats.org/drawingml/2006/main">
              <a:ext uri="{FF2B5EF4-FFF2-40B4-BE49-F238E27FC236}">
                <a16:creationId xmlns:a16="http://schemas.microsoft.com/office/drawing/2014/main" id="{3368D9EC-19AC-8869-4D12-F1961C0F1B5B}"/>
              </a:ext>
            </a:extLst>
          </p:cNvPr>
          <p:cNvSpPr>
            <a:spLocks xmlns:a="http://schemas.openxmlformats.org/drawingml/2006/main" noGrp="1"/>
          </p:cNvSpPr>
          <p:nvPr/>
        </p:nvSpPr>
        <p:spPr>
          <a:xfrm xmlns:a="http://schemas.openxmlformats.org/drawingml/2006/main">
            <a:off x="9486900" y="35433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2024 · model, sourced</a:t>
            </a:r>
          </a:p>
        </p:txBody>
      </p:sp>
      <p:sp>
        <p:nvSpPr>
          <p:cNvPr id="122" name="Source reported">
            <a:extLst xmlns:a="http://schemas.openxmlformats.org/drawingml/2006/main">
              <a:ext uri="{FF2B5EF4-FFF2-40B4-BE49-F238E27FC236}">
                <a16:creationId xmlns:a16="http://schemas.microsoft.com/office/drawing/2014/main" id="{775E3633-C4CB-6B18-B212-1860A2ECF0D8}"/>
              </a:ext>
            </a:extLst>
          </p:cNvPr>
          <p:cNvSpPr>
            <a:spLocks xmlns:a="http://schemas.openxmlformats.org/drawingml/2006/main" noGrp="1"/>
          </p:cNvSpPr>
          <p:nvPr/>
        </p:nvSpPr>
        <p:spPr>
          <a:xfrm xmlns:a="http://schemas.openxmlformats.org/drawingml/2006/main">
            <a:off x="457200" y="3936999"/>
            <a:ext cx="9906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Reported</a:t>
            </a:r>
          </a:p>
          <a:p xmlns:a="http://schemas.openxmlformats.org/drawingml/2006/main">
            <a:pPr>
              <a:spcAft>
                <a:spcPts val="200"/>
              </a:spcAft>
              <a:buNone/>
            </a:pPr>
            <a:r>
              <a:rPr sz="900">
                <a:solidFill>
                  <a:schemeClr val="dk1"/>
                </a:solidFill>
                <a:latin typeface="Lato"/>
                <a:ea typeface="Lato"/>
                <a:cs typeface="Lato"/>
              </a:rPr>
              <a:t>separately</a:t>
            </a:r>
          </a:p>
        </p:txBody>
      </p:sp>
      <p:sp>
        <p:nvSpPr>
          <p:cNvPr id="123" name="Use reported road">
            <a:extLst xmlns:a="http://schemas.openxmlformats.org/drawingml/2006/main">
              <a:ext uri="{FF2B5EF4-FFF2-40B4-BE49-F238E27FC236}">
                <a16:creationId xmlns:a16="http://schemas.microsoft.com/office/drawing/2014/main" id="{B4F46F61-B13C-0CBF-8145-EF16CF5CD306}"/>
              </a:ext>
            </a:extLst>
          </p:cNvPr>
          <p:cNvSpPr>
            <a:spLocks xmlns:a="http://schemas.openxmlformats.org/drawingml/2006/main" noGrp="1"/>
          </p:cNvSpPr>
          <p:nvPr/>
        </p:nvSpPr>
        <p:spPr>
          <a:xfrm xmlns:a="http://schemas.openxmlformats.org/drawingml/2006/main">
            <a:off x="1536700" y="38608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100" b="1">
                <a:solidFill>
                  <a:srgbClr val="808080"/>
                </a:solidFill>
                <a:latin typeface="Lato"/>
                <a:ea typeface="Lato"/>
                <a:cs typeface="Lato"/>
              </a:rPr>
              <a:t>No separate series</a:t>
            </a:r>
          </a:p>
          <a:p xmlns:a="http://schemas.openxmlformats.org/drawingml/2006/main">
            <a:pPr>
              <a:spcAft>
                <a:spcPts val="200"/>
              </a:spcAft>
              <a:buNone/>
            </a:pPr>
            <a:r>
              <a:rPr sz="1050">
                <a:solidFill>
                  <a:schemeClr val="dk1"/>
                </a:solidFill>
                <a:latin typeface="Lato"/>
                <a:ea typeface="Lato"/>
                <a:cs typeface="Lato"/>
              </a:rPr>
              <a:t>Inside sales totals</a:t>
            </a:r>
            <a:endParaRPr sz="1050">
              <a:solidFill>
                <a:schemeClr val="dk1"/>
              </a:solidFill>
              <a:latin typeface="Lato"/>
              <a:ea typeface="Lato"/>
              <a:cs typeface="Lato"/>
            </a:endParaRPr>
          </a:p>
        </p:txBody>
      </p:sp>
      <p:sp>
        <p:nvSpPr>
          <p:cNvPr id="124" name="Use reported road tag">
            <a:extLst xmlns:a="http://schemas.openxmlformats.org/drawingml/2006/main">
              <a:ext uri="{FF2B5EF4-FFF2-40B4-BE49-F238E27FC236}">
                <a16:creationId xmlns:a16="http://schemas.microsoft.com/office/drawing/2014/main" id="{BC3E048F-2B8D-A05C-68C8-1D707D87656B}"/>
              </a:ext>
            </a:extLst>
          </p:cNvPr>
          <p:cNvSpPr>
            <a:spLocks xmlns:a="http://schemas.openxmlformats.org/drawingml/2006/main" noGrp="1"/>
          </p:cNvSpPr>
          <p:nvPr/>
        </p:nvSpPr>
        <p:spPr>
          <a:xfrm xmlns:a="http://schemas.openxmlformats.org/drawingml/2006/main">
            <a:off x="1612900" y="44577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none published</a:t>
            </a:r>
          </a:p>
        </p:txBody>
      </p:sp>
      <p:sp>
        <p:nvSpPr>
          <p:cNvPr id="125" name="Use reported industry">
            <a:extLst xmlns:a="http://schemas.openxmlformats.org/drawingml/2006/main">
              <a:ext uri="{FF2B5EF4-FFF2-40B4-BE49-F238E27FC236}">
                <a16:creationId xmlns:a16="http://schemas.microsoft.com/office/drawing/2014/main" id="{09629289-C5E1-9C01-78F9-34098F2F2ED0}"/>
              </a:ext>
            </a:extLst>
          </p:cNvPr>
          <p:cNvSpPr>
            <a:spLocks xmlns:a="http://schemas.openxmlformats.org/drawingml/2006/main" noGrp="1"/>
          </p:cNvSpPr>
          <p:nvPr/>
        </p:nvSpPr>
        <p:spPr>
          <a:xfrm xmlns:a="http://schemas.openxmlformats.org/drawingml/2006/main">
            <a:off x="3505200" y="38608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100" b="1">
                <a:solidFill>
                  <a:srgbClr val="808080"/>
                </a:solidFill>
                <a:latin typeface="Lato"/>
                <a:ea typeface="Lato"/>
                <a:cs typeface="Lato"/>
              </a:rPr>
              <a:t>No separate series</a:t>
            </a:r>
          </a:p>
          <a:p xmlns:a="http://schemas.openxmlformats.org/drawingml/2006/main">
            <a:pPr>
              <a:spcAft>
                <a:spcPts val="200"/>
              </a:spcAft>
              <a:buNone/>
            </a:pPr>
            <a:r>
              <a:rPr sz="1050">
                <a:solidFill>
                  <a:schemeClr val="dk1"/>
                </a:solidFill>
                <a:latin typeface="Lato"/>
                <a:ea typeface="Lato"/>
                <a:cs typeface="Lato"/>
              </a:rPr>
              <a:t>Inside sales totals</a:t>
            </a:r>
            <a:endParaRPr sz="1050">
              <a:solidFill>
                <a:schemeClr val="dk1"/>
              </a:solidFill>
              <a:latin typeface="Lato"/>
              <a:ea typeface="Lato"/>
              <a:cs typeface="Lato"/>
            </a:endParaRPr>
          </a:p>
        </p:txBody>
      </p:sp>
      <p:sp>
        <p:nvSpPr>
          <p:cNvPr id="126" name="Use reported industry tag">
            <a:extLst xmlns:a="http://schemas.openxmlformats.org/drawingml/2006/main">
              <a:ext uri="{FF2B5EF4-FFF2-40B4-BE49-F238E27FC236}">
                <a16:creationId xmlns:a16="http://schemas.microsoft.com/office/drawing/2014/main" id="{3679FA35-2DA2-FAA4-DC06-4D2B2DF6E736}"/>
              </a:ext>
            </a:extLst>
          </p:cNvPr>
          <p:cNvSpPr>
            <a:spLocks xmlns:a="http://schemas.openxmlformats.org/drawingml/2006/main" noGrp="1"/>
          </p:cNvSpPr>
          <p:nvPr/>
        </p:nvSpPr>
        <p:spPr>
          <a:xfrm xmlns:a="http://schemas.openxmlformats.org/drawingml/2006/main">
            <a:off x="3581400" y="44577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none published</a:t>
            </a:r>
          </a:p>
        </p:txBody>
      </p:sp>
      <p:sp>
        <p:nvSpPr>
          <p:cNvPr id="127" name="Use reported agriculture">
            <a:extLst xmlns:a="http://schemas.openxmlformats.org/drawingml/2006/main">
              <a:ext uri="{FF2B5EF4-FFF2-40B4-BE49-F238E27FC236}">
                <a16:creationId xmlns:a16="http://schemas.microsoft.com/office/drawing/2014/main" id="{0C30F12E-A4E9-0B23-5FB8-E1B86C3D27A6}"/>
              </a:ext>
            </a:extLst>
          </p:cNvPr>
          <p:cNvSpPr>
            <a:spLocks xmlns:a="http://schemas.openxmlformats.org/drawingml/2006/main" noGrp="1"/>
          </p:cNvSpPr>
          <p:nvPr/>
        </p:nvSpPr>
        <p:spPr>
          <a:xfrm xmlns:a="http://schemas.openxmlformats.org/drawingml/2006/main">
            <a:off x="5473700" y="38608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100" b="1">
                <a:solidFill>
                  <a:srgbClr val="808080"/>
                </a:solidFill>
                <a:latin typeface="Lato"/>
                <a:ea typeface="Lato"/>
                <a:cs typeface="Lato"/>
              </a:rPr>
              <a:t>No separate series</a:t>
            </a:r>
          </a:p>
          <a:p xmlns:a="http://schemas.openxmlformats.org/drawingml/2006/main">
            <a:pPr>
              <a:spcAft>
                <a:spcPts val="200"/>
              </a:spcAft>
              <a:buNone/>
            </a:pPr>
            <a:r>
              <a:rPr sz="1050">
                <a:solidFill>
                  <a:schemeClr val="dk1"/>
                </a:solidFill>
                <a:latin typeface="Lato"/>
                <a:ea typeface="Lato"/>
                <a:cs typeface="Lato"/>
              </a:rPr>
              <a:t>Inside sales totals</a:t>
            </a:r>
            <a:endParaRPr sz="1050">
              <a:solidFill>
                <a:schemeClr val="dk1"/>
              </a:solidFill>
              <a:latin typeface="Lato"/>
              <a:ea typeface="Lato"/>
              <a:cs typeface="Lato"/>
            </a:endParaRPr>
          </a:p>
        </p:txBody>
      </p:sp>
      <p:sp>
        <p:nvSpPr>
          <p:cNvPr id="128" name="Use reported agriculture tag">
            <a:extLst xmlns:a="http://schemas.openxmlformats.org/drawingml/2006/main">
              <a:ext uri="{FF2B5EF4-FFF2-40B4-BE49-F238E27FC236}">
                <a16:creationId xmlns:a16="http://schemas.microsoft.com/office/drawing/2014/main" id="{9B902552-B256-E6D8-363A-B558EBD6F23D}"/>
              </a:ext>
            </a:extLst>
          </p:cNvPr>
          <p:cNvSpPr>
            <a:spLocks xmlns:a="http://schemas.openxmlformats.org/drawingml/2006/main" noGrp="1"/>
          </p:cNvSpPr>
          <p:nvPr/>
        </p:nvSpPr>
        <p:spPr>
          <a:xfrm xmlns:a="http://schemas.openxmlformats.org/drawingml/2006/main">
            <a:off x="5549900" y="44577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none published</a:t>
            </a:r>
          </a:p>
        </p:txBody>
      </p:sp>
      <p:sp>
        <p:nvSpPr>
          <p:cNvPr id="129" name="Use reported power">
            <a:extLst xmlns:a="http://schemas.openxmlformats.org/drawingml/2006/main">
              <a:ext uri="{FF2B5EF4-FFF2-40B4-BE49-F238E27FC236}">
                <a16:creationId xmlns:a16="http://schemas.microsoft.com/office/drawing/2014/main" id="{7772405E-DCB4-9B4B-0139-4619953A5D0A}"/>
              </a:ext>
            </a:extLst>
          </p:cNvPr>
          <p:cNvSpPr>
            <a:spLocks xmlns:a="http://schemas.openxmlformats.org/drawingml/2006/main" noGrp="1"/>
          </p:cNvSpPr>
          <p:nvPr/>
        </p:nvSpPr>
        <p:spPr>
          <a:xfrm xmlns:a="http://schemas.openxmlformats.org/drawingml/2006/main">
            <a:off x="7442200" y="38608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500" b="1">
                <a:solidFill>
                  <a:schemeClr val="accent1"/>
                </a:solidFill>
                <a:latin typeface="Lato"/>
                <a:ea typeface="Lato"/>
                <a:cs typeface="Lato"/>
              </a:rPr>
              <a:t>0.89B L</a:t>
            </a:r>
          </a:p>
          <a:p xmlns:a="http://schemas.openxmlformats.org/drawingml/2006/main">
            <a:pPr>
              <a:spcAft>
                <a:spcPts val="200"/>
              </a:spcAft>
              <a:buNone/>
            </a:pPr>
            <a:r>
              <a:rPr sz="1050">
                <a:solidFill>
                  <a:schemeClr val="dk1"/>
                </a:solidFill>
                <a:latin typeface="Lato"/>
                <a:ea typeface="Lato"/>
                <a:cs typeface="Lato"/>
              </a:rPr>
              <a:t>FY25; FY24 1.60B L</a:t>
            </a:r>
          </a:p>
        </p:txBody>
      </p:sp>
      <p:sp>
        <p:nvSpPr>
          <p:cNvPr id="130" name="Use reported power tag">
            <a:extLst xmlns:a="http://schemas.openxmlformats.org/drawingml/2006/main">
              <a:ext uri="{FF2B5EF4-FFF2-40B4-BE49-F238E27FC236}">
                <a16:creationId xmlns:a16="http://schemas.microsoft.com/office/drawing/2014/main" id="{40A48B34-97C2-F154-D622-C1982BB21889}"/>
              </a:ext>
            </a:extLst>
          </p:cNvPr>
          <p:cNvSpPr>
            <a:spLocks xmlns:a="http://schemas.openxmlformats.org/drawingml/2006/main" noGrp="1"/>
          </p:cNvSpPr>
          <p:nvPr/>
        </p:nvSpPr>
        <p:spPr>
          <a:xfrm xmlns:a="http://schemas.openxmlformats.org/drawingml/2006/main">
            <a:off x="7518400" y="44577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Eskom + estimated IPPs</a:t>
            </a:r>
          </a:p>
        </p:txBody>
      </p:sp>
      <p:sp>
        <p:nvSpPr>
          <p:cNvPr id="131" name="Use reported other">
            <a:extLst xmlns:a="http://schemas.openxmlformats.org/drawingml/2006/main">
              <a:ext uri="{FF2B5EF4-FFF2-40B4-BE49-F238E27FC236}">
                <a16:creationId xmlns:a16="http://schemas.microsoft.com/office/drawing/2014/main" id="{19A149B6-BB62-7EB3-69B7-A25A01DA57F1}"/>
              </a:ext>
            </a:extLst>
          </p:cNvPr>
          <p:cNvSpPr>
            <a:spLocks xmlns:a="http://schemas.openxmlformats.org/drawingml/2006/main" noGrp="1"/>
          </p:cNvSpPr>
          <p:nvPr/>
        </p:nvSpPr>
        <p:spPr>
          <a:xfrm xmlns:a="http://schemas.openxmlformats.org/drawingml/2006/main">
            <a:off x="9410700" y="3860800"/>
            <a:ext cx="1651000" cy="7874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100" b="1">
                <a:solidFill>
                  <a:srgbClr val="808080"/>
                </a:solidFill>
                <a:latin typeface="Lato"/>
                <a:ea typeface="Lato"/>
                <a:cs typeface="Lato"/>
              </a:rPr>
              <a:t>No separate series</a:t>
            </a:r>
          </a:p>
          <a:p xmlns:a="http://schemas.openxmlformats.org/drawingml/2006/main">
            <a:pPr>
              <a:spcAft>
                <a:spcPts val="200"/>
              </a:spcAft>
              <a:buNone/>
            </a:pPr>
            <a:r>
              <a:rPr sz="1050">
                <a:solidFill>
                  <a:schemeClr val="dk1"/>
                </a:solidFill>
                <a:latin typeface="Lato"/>
                <a:ea typeface="Lato"/>
                <a:cs typeface="Lato"/>
              </a:rPr>
              <a:t>Inside sales totals</a:t>
            </a:r>
            <a:endParaRPr sz="1050">
              <a:solidFill>
                <a:schemeClr val="dk1"/>
              </a:solidFill>
              <a:latin typeface="Lato"/>
              <a:ea typeface="Lato"/>
              <a:cs typeface="Lato"/>
            </a:endParaRPr>
          </a:p>
        </p:txBody>
      </p:sp>
      <p:sp>
        <p:nvSpPr>
          <p:cNvPr id="132" name="Use reported other tag">
            <a:extLst xmlns:a="http://schemas.openxmlformats.org/drawingml/2006/main">
              <a:ext uri="{FF2B5EF4-FFF2-40B4-BE49-F238E27FC236}">
                <a16:creationId xmlns:a16="http://schemas.microsoft.com/office/drawing/2014/main" id="{DB1D0A1B-EF0D-BD14-351A-A0AC6A25ADE6}"/>
              </a:ext>
            </a:extLst>
          </p:cNvPr>
          <p:cNvSpPr>
            <a:spLocks xmlns:a="http://schemas.openxmlformats.org/drawingml/2006/main" noGrp="1"/>
          </p:cNvSpPr>
          <p:nvPr/>
        </p:nvSpPr>
        <p:spPr>
          <a:xfrm xmlns:a="http://schemas.openxmlformats.org/drawingml/2006/main">
            <a:off x="9486900" y="4457700"/>
            <a:ext cx="14986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none published</a:t>
            </a:r>
          </a:p>
        </p:txBody>
      </p:sp>
      <p:sp>
        <p:nvSpPr>
          <p:cNvPr id="133" name="Use finding 1">
            <a:extLst xmlns:a="http://schemas.openxmlformats.org/drawingml/2006/main">
              <a:ext uri="{FF2B5EF4-FFF2-40B4-BE49-F238E27FC236}">
                <a16:creationId xmlns:a16="http://schemas.microsoft.com/office/drawing/2014/main" id="{06B14E10-6413-0D02-60DE-5C07EABB7E1D}"/>
              </a:ext>
            </a:extLst>
          </p:cNvPr>
          <p:cNvSpPr>
            <a:spLocks xmlns:a="http://schemas.openxmlformats.org/drawingml/2006/main" noGrp="1"/>
          </p:cNvSpPr>
          <p:nvPr/>
        </p:nvSpPr>
        <p:spPr>
          <a:xfrm xmlns:a="http://schemas.openxmlformats.org/drawingml/2006/main">
            <a:off x="457200" y="5003800"/>
            <a:ext cx="3416300" cy="1066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Years and scopes differ</a:t>
            </a:r>
          </a:p>
          <a:p xmlns:a="http://schemas.openxmlformats.org/drawingml/2006/main">
            <a:pPr>
              <a:spcAft>
                <a:spcPts val="200"/>
              </a:spcAft>
              <a:buNone/>
            </a:pPr>
            <a:r>
              <a:rPr sz="1050">
                <a:solidFill>
                  <a:schemeClr val="dk1"/>
                </a:solidFill>
                <a:latin typeface="Lato"/>
                <a:ea typeface="Lato"/>
                <a:cs typeface="Lato"/>
              </a:rPr>
              <a:t>Balance 23.2B L (2021), model 23.4B L (2024)</a:t>
            </a:r>
          </a:p>
          <a:p xmlns:a="http://schemas.openxmlformats.org/drawingml/2006/main">
            <a:pPr>
              <a:spcAft>
                <a:spcPts val="200"/>
              </a:spcAft>
              <a:buNone/>
            </a:pPr>
            <a:r>
              <a:rPr sz="1050">
                <a:solidFill>
                  <a:schemeClr val="dk1"/>
                </a:solidFill>
                <a:latin typeface="Lato"/>
                <a:ea typeface="Lato"/>
                <a:cs typeface="Lato"/>
              </a:rPr>
              <a:t>Similar totals do not validate sector allocation</a:t>
            </a:r>
            <a:endParaRPr sz="1050">
              <a:solidFill>
                <a:schemeClr val="dk1"/>
              </a:solidFill>
              <a:latin typeface="Lato"/>
              <a:ea typeface="Lato"/>
              <a:cs typeface="Lato"/>
            </a:endParaRPr>
          </a:p>
        </p:txBody>
      </p:sp>
      <p:sp>
        <p:nvSpPr>
          <p:cNvPr id="134" name="Use finding 1 tag">
            <a:extLst xmlns:a="http://schemas.openxmlformats.org/drawingml/2006/main">
              <a:ext uri="{FF2B5EF4-FFF2-40B4-BE49-F238E27FC236}">
                <a16:creationId xmlns:a16="http://schemas.microsoft.com/office/drawing/2014/main" id="{32775A3A-0494-AEC9-230B-18F023564298}"/>
              </a:ext>
            </a:extLst>
          </p:cNvPr>
          <p:cNvSpPr>
            <a:spLocks xmlns:a="http://schemas.openxmlformats.org/drawingml/2006/main" noGrp="1"/>
          </p:cNvSpPr>
          <p:nvPr/>
        </p:nvSpPr>
        <p:spPr>
          <a:xfrm xmlns:a="http://schemas.openxmlformats.org/drawingml/2006/main">
            <a:off x="533400" y="5880100"/>
            <a:ext cx="32639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To calibrate</a:t>
            </a:r>
          </a:p>
        </p:txBody>
      </p:sp>
      <p:sp>
        <p:nvSpPr>
          <p:cNvPr id="135" name="Use finding 2">
            <a:extLst xmlns:a="http://schemas.openxmlformats.org/drawingml/2006/main">
              <a:ext uri="{FF2B5EF4-FFF2-40B4-BE49-F238E27FC236}">
                <a16:creationId xmlns:a16="http://schemas.microsoft.com/office/drawing/2014/main" id="{D4CDDD69-4950-FB89-D756-F43345D50B7C}"/>
              </a:ext>
            </a:extLst>
          </p:cNvPr>
          <p:cNvSpPr>
            <a:spLocks xmlns:a="http://schemas.openxmlformats.org/drawingml/2006/main" noGrp="1"/>
          </p:cNvSpPr>
          <p:nvPr/>
        </p:nvSpPr>
        <p:spPr>
          <a:xfrm xmlns:a="http://schemas.openxmlformats.org/drawingml/2006/main">
            <a:off x="4076700" y="5003800"/>
            <a:ext cx="3416300" cy="1066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Power baseline needs joint review</a:t>
            </a:r>
          </a:p>
          <a:p xmlns:a="http://schemas.openxmlformats.org/drawingml/2006/main">
            <a:pPr>
              <a:spcAft>
                <a:spcPts val="200"/>
              </a:spcAft>
              <a:buNone/>
            </a:pPr>
            <a:r>
              <a:rPr sz="1050">
                <a:solidFill>
                  <a:schemeClr val="dk1"/>
                </a:solidFill>
                <a:latin typeface="Lato"/>
                <a:ea typeface="Lato"/>
                <a:cs typeface="Lato"/>
              </a:rPr>
              <a:t>Engine includes 3,000MW notional plants</a:t>
            </a:r>
          </a:p>
          <a:p xmlns:a="http://schemas.openxmlformats.org/drawingml/2006/main">
            <a:pPr>
              <a:spcAft>
                <a:spcPts val="200"/>
              </a:spcAft>
              <a:buNone/>
            </a:pPr>
            <a:r>
              <a:rPr sz="1050">
                <a:solidFill>
                  <a:schemeClr val="dk1"/>
                </a:solidFill>
                <a:latin typeface="Lato"/>
                <a:ea typeface="Lato"/>
                <a:cs typeface="Lato"/>
              </a:rPr>
              <a:t>Recalibrate power and road together</a:t>
            </a:r>
            <a:endParaRPr sz="1050">
              <a:solidFill>
                <a:schemeClr val="dk1"/>
              </a:solidFill>
              <a:latin typeface="Lato"/>
              <a:ea typeface="Lato"/>
              <a:cs typeface="Lato"/>
            </a:endParaRPr>
          </a:p>
        </p:txBody>
      </p:sp>
      <p:sp>
        <p:nvSpPr>
          <p:cNvPr id="136" name="Use finding 2 tag">
            <a:extLst xmlns:a="http://schemas.openxmlformats.org/drawingml/2006/main">
              <a:ext uri="{FF2B5EF4-FFF2-40B4-BE49-F238E27FC236}">
                <a16:creationId xmlns:a16="http://schemas.microsoft.com/office/drawing/2014/main" id="{84C22911-D4F9-E60E-EC64-783CB8A271D3}"/>
              </a:ext>
            </a:extLst>
          </p:cNvPr>
          <p:cNvSpPr>
            <a:spLocks xmlns:a="http://schemas.openxmlformats.org/drawingml/2006/main" noGrp="1"/>
          </p:cNvSpPr>
          <p:nvPr/>
        </p:nvSpPr>
        <p:spPr>
          <a:xfrm xmlns:a="http://schemas.openxmlformats.org/drawingml/2006/main">
            <a:off x="4152900" y="5880100"/>
            <a:ext cx="32639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DR07 · to calibrate</a:t>
            </a:r>
          </a:p>
        </p:txBody>
      </p:sp>
      <p:sp>
        <p:nvSpPr>
          <p:cNvPr id="137" name="Use finding 3">
            <a:extLst xmlns:a="http://schemas.openxmlformats.org/drawingml/2006/main">
              <a:ext uri="{FF2B5EF4-FFF2-40B4-BE49-F238E27FC236}">
                <a16:creationId xmlns:a16="http://schemas.microsoft.com/office/drawing/2014/main" id="{C63A769D-D3E2-B82A-08E0-43F9B4C80552}"/>
              </a:ext>
            </a:extLst>
          </p:cNvPr>
          <p:cNvSpPr>
            <a:spLocks xmlns:a="http://schemas.openxmlformats.org/drawingml/2006/main" noGrp="1"/>
          </p:cNvSpPr>
          <p:nvPr/>
        </p:nvSpPr>
        <p:spPr>
          <a:xfrm xmlns:a="http://schemas.openxmlformats.org/drawingml/2006/main">
            <a:off x="7696200" y="5003800"/>
            <a:ext cx="3416300" cy="1066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"Other" is large in the balance</a:t>
            </a:r>
          </a:p>
          <a:p xmlns:a="http://schemas.openxmlformats.org/drawingml/2006/main">
            <a:pPr>
              <a:spcAft>
                <a:spcPts val="200"/>
              </a:spcAft>
              <a:buNone/>
            </a:pPr>
            <a:r>
              <a:rPr sz="1050">
                <a:solidFill>
                  <a:schemeClr val="dk1"/>
                </a:solidFill>
                <a:latin typeface="Lato"/>
                <a:ea typeface="Lato"/>
                <a:cs typeface="Lato"/>
              </a:rPr>
              <a:t>5.3B L, mostly commercial and public</a:t>
            </a:r>
          </a:p>
          <a:p xmlns:a="http://schemas.openxmlformats.org/drawingml/2006/main">
            <a:pPr>
              <a:spcAft>
                <a:spcPts val="200"/>
              </a:spcAft>
              <a:buNone/>
            </a:pPr>
            <a:r>
              <a:rPr sz="1050">
                <a:solidFill>
                  <a:schemeClr val="dk1"/>
                </a:solidFill>
                <a:latin typeface="Lato"/>
                <a:ea typeface="Lato"/>
                <a:cs typeface="Lato"/>
              </a:rPr>
              <a:t>The model has no matching segment</a:t>
            </a:r>
            <a:endParaRPr sz="1050">
              <a:solidFill>
                <a:schemeClr val="dk1"/>
              </a:solidFill>
              <a:latin typeface="Lato"/>
              <a:ea typeface="Lato"/>
              <a:cs typeface="Lato"/>
            </a:endParaRPr>
          </a:p>
        </p:txBody>
      </p:sp>
      <p:sp>
        <p:nvSpPr>
          <p:cNvPr id="138" name="Use finding 3 tag">
            <a:extLst xmlns:a="http://schemas.openxmlformats.org/drawingml/2006/main">
              <a:ext uri="{FF2B5EF4-FFF2-40B4-BE49-F238E27FC236}">
                <a16:creationId xmlns:a16="http://schemas.microsoft.com/office/drawing/2014/main" id="{64C6198F-EDAF-3D6A-5146-A8429BF2F57D}"/>
              </a:ext>
            </a:extLst>
          </p:cNvPr>
          <p:cNvSpPr>
            <a:spLocks xmlns:a="http://schemas.openxmlformats.org/drawingml/2006/main" noGrp="1"/>
          </p:cNvSpPr>
          <p:nvPr/>
        </p:nvSpPr>
        <p:spPr>
          <a:xfrm xmlns:a="http://schemas.openxmlformats.org/drawingml/2006/main">
            <a:off x="7772400" y="5880100"/>
            <a:ext cx="32639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To calibrate</a:t>
            </a:r>
          </a:p>
        </p:txBody>
      </p:sp>
    </p:spTree>
    <p:extLst>
      <p:ext uri="{BB962C8B-B14F-4D97-AF65-F5344CB8AC3E}">
        <p14:creationId xmlns:p14="http://schemas.microsoft.com/office/powerpoint/2010/main" val="24832028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5F3669-B1FB-4A9A-A7BC-B075C5AE9154}"/>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Demand parameters: the levers and their 2035 cases</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2063D2A-DA82-4AE4-AD88-1EF91327C28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5</a:t>
            </a:r>
            <a:endParaRPr sz="1100"/>
          </a:p>
        </p:txBody>
      </p:sp>
      <p:sp>
        <p:nvSpPr>
          <p:cNvPr id="8" name="Unified source footer">
            <a:extLst xmlns:a="http://schemas.openxmlformats.org/drawingml/2006/main">
              <a:ext uri="{FF2B5EF4-FFF2-40B4-BE49-F238E27FC236}">
                <a16:creationId xmlns:a16="http://schemas.microsoft.com/office/drawing/2014/main" id="{40C695A4-E5FC-4FEC-8C6C-91E637661717}"/>
              </a:ext>
            </a:extLst>
          </p:cNvPr>
          <p:cNvSpPr>
            <a:spLocks xmlns:a="http://schemas.openxmlformats.org/drawingml/2006/main" noGrp="1"/>
          </p:cNvSpPr>
          <p:nvPr/>
        </p:nvSpPr>
        <p:spPr>
          <a:xfrm xmlns:a="http://schemas.openxmlformats.org/drawingml/2006/main">
            <a:off x="457200" y="6184900"/>
            <a:ext cx="10652760" cy="1143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70"/>
              <a:t>Manish proposed lever cases remain unapproved. Implemented EV/efficiency pair reviewed in the 9 Oct handback. Hybrid savings, road activity/rail diversion and inferred fuel/class splits still need rules and calibration.</a:t>
            </a:r>
            <a:endParaRPr sz="670"/>
          </a:p>
        </p:txBody>
      </p:sp>
      <p:sp>
        <p:nvSpPr>
          <p:cNvPr id="48" name="Strictly Confidential footer">
            <a:extLst xmlns:a="http://schemas.openxmlformats.org/drawingml/2006/main">
              <a:ext uri="{FF2B5EF4-FFF2-40B4-BE49-F238E27FC236}">
                <a16:creationId xmlns:a16="http://schemas.microsoft.com/office/drawing/2014/main" id="{B25294E6-0DE0-4EB7-9B28-7651E7A51186}"/>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
        <p:nvSpPr>
          <p:cNvPr id="47" name="Lever panel 0">
            <a:extLst xmlns:a="http://schemas.openxmlformats.org/drawingml/2006/main">
              <a:ext uri="{FF2B5EF4-FFF2-40B4-BE49-F238E27FC236}">
                <a16:creationId xmlns:a16="http://schemas.microsoft.com/office/drawing/2014/main" id="{208987BB-F0F5-F891-4AFB-C42B752086EC}"/>
              </a:ext>
            </a:extLst>
          </p:cNvPr>
          <p:cNvSpPr>
            <a:spLocks xmlns:a="http://schemas.openxmlformats.org/drawingml/2006/main" noGrp="1"/>
          </p:cNvSpPr>
          <p:nvPr/>
        </p:nvSpPr>
        <p:spPr>
          <a:xfrm xmlns:a="http://schemas.openxmlformats.org/drawingml/2006/main">
            <a:off x="355600" y="1549400"/>
            <a:ext cx="26289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Lever panel 0 heading">
            <a:extLst xmlns:a="http://schemas.openxmlformats.org/drawingml/2006/main">
              <a:ext uri="{FF2B5EF4-FFF2-40B4-BE49-F238E27FC236}">
                <a16:creationId xmlns:a16="http://schemas.microsoft.com/office/drawing/2014/main" id="{4666D56F-D64E-1E36-B3EE-8193ACF29ACE}"/>
              </a:ext>
            </a:extLst>
          </p:cNvPr>
          <p:cNvSpPr>
            <a:spLocks xmlns:a="http://schemas.openxmlformats.org/drawingml/2006/main" noGrp="1"/>
          </p:cNvSpPr>
          <p:nvPr/>
        </p:nvSpPr>
        <p:spPr>
          <a:xfrm xmlns:a="http://schemas.openxmlformats.org/drawingml/2006/main">
            <a:off x="457200" y="1638300"/>
            <a:ext cx="24257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1  ECONOMIC ACTIVITY</a:t>
            </a:r>
          </a:p>
        </p:txBody>
      </p:sp>
      <p:cxnSp>
        <p:nvCxnSpPr>
          <p:cNvPr id="137" name="Column heading rule"/>
          <p:cNvCxnSpPr/>
          <p:nvPr/>
        </p:nvCxnSpPr>
        <p:spPr>
          <a:xfrm xmlns:a="http://schemas.openxmlformats.org/drawingml/2006/main">
            <a:off x="457200" y="1917700"/>
            <a:ext cx="24257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4" name="Lever 0 0">
            <a:extLst xmlns:a="http://schemas.openxmlformats.org/drawingml/2006/main">
              <a:ext uri="{FF2B5EF4-FFF2-40B4-BE49-F238E27FC236}">
                <a16:creationId xmlns:a16="http://schemas.microsoft.com/office/drawing/2014/main" id="{5B564420-4FEE-5F8D-E0F8-08405D5799F9}"/>
              </a:ext>
            </a:extLst>
          </p:cNvPr>
          <p:cNvSpPr>
            <a:spLocks xmlns:a="http://schemas.openxmlformats.org/drawingml/2006/main" noGrp="1"/>
          </p:cNvSpPr>
          <p:nvPr/>
        </p:nvSpPr>
        <p:spPr>
          <a:xfrm xmlns:a="http://schemas.openxmlformats.org/drawingml/2006/main">
            <a:off x="457200" y="20320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GDP growth</a:t>
            </a:r>
          </a:p>
          <a:p xmlns:a="http://schemas.openxmlformats.org/drawingml/2006/main">
            <a:pPr>
              <a:spcAft>
                <a:spcPts val="200"/>
              </a:spcAft>
              <a:buNone/>
            </a:pPr>
            <a:r>
              <a:rPr sz="1050">
                <a:solidFill>
                  <a:schemeClr val="dk1"/>
                </a:solidFill>
                <a:latin typeface="Lato"/>
                <a:ea typeface="Lato"/>
                <a:cs typeface="Lato"/>
              </a:rPr>
              <a:t>Baseline: 0.5% a year</a:t>
            </a:r>
          </a:p>
          <a:p xmlns:a="http://schemas.openxmlformats.org/drawingml/2006/main">
            <a:pPr>
              <a:spcAft>
                <a:spcPts val="200"/>
              </a:spcAft>
              <a:buNone/>
            </a:pPr>
            <a:r>
              <a:rPr sz="1050">
                <a:solidFill>
                  <a:schemeClr val="dk1"/>
                </a:solidFill>
                <a:latin typeface="Lato"/>
                <a:ea typeface="Lato"/>
                <a:cs typeface="Lato"/>
              </a:rPr>
              <a:t>2035: 0.7 / 1.6 / 2</a:t>
            </a:r>
            <a:endParaRPr sz="1050">
              <a:solidFill>
                <a:schemeClr val="dk1"/>
              </a:solidFill>
              <a:latin typeface="Lato"/>
              <a:ea typeface="Lato"/>
              <a:cs typeface="Lato"/>
            </a:endParaRPr>
          </a:p>
        </p:txBody>
      </p:sp>
      <p:sp>
        <p:nvSpPr>
          <p:cNvPr id="95" name="Lever 0 0 tag">
            <a:extLst xmlns:a="http://schemas.openxmlformats.org/drawingml/2006/main">
              <a:ext uri="{FF2B5EF4-FFF2-40B4-BE49-F238E27FC236}">
                <a16:creationId xmlns:a16="http://schemas.microsoft.com/office/drawing/2014/main" id="{2413FAF4-D4DF-98A0-2820-6217B8F96B37}"/>
              </a:ext>
            </a:extLst>
          </p:cNvPr>
          <p:cNvSpPr>
            <a:spLocks xmlns:a="http://schemas.openxmlformats.org/drawingml/2006/main" noGrp="1"/>
          </p:cNvSpPr>
          <p:nvPr/>
        </p:nvSpPr>
        <p:spPr>
          <a:xfrm xmlns:a="http://schemas.openxmlformats.org/drawingml/2006/main">
            <a:off x="533400" y="30607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Manish revised 3 of 3 · not accepted</a:t>
            </a:r>
            <a:endParaRPr sz="900" b="1">
              <a:solidFill>
                <a:schemeClr val="accent1"/>
              </a:solidFill>
              <a:latin typeface="Lato"/>
              <a:ea typeface="Lato"/>
              <a:cs typeface="Lato"/>
            </a:endParaRPr>
          </a:p>
        </p:txBody>
      </p:sp>
      <p:sp>
        <p:nvSpPr>
          <p:cNvPr id="96" name="Lever 0 1">
            <a:extLst xmlns:a="http://schemas.openxmlformats.org/drawingml/2006/main">
              <a:ext uri="{FF2B5EF4-FFF2-40B4-BE49-F238E27FC236}">
                <a16:creationId xmlns:a16="http://schemas.microsoft.com/office/drawing/2014/main" id="{4908B939-7709-5C28-8A5F-7FBAB0E9DEBF}"/>
              </a:ext>
            </a:extLst>
          </p:cNvPr>
          <p:cNvSpPr>
            <a:spLocks xmlns:a="http://schemas.openxmlformats.org/drawingml/2006/main" noGrp="1"/>
          </p:cNvSpPr>
          <p:nvPr/>
        </p:nvSpPr>
        <p:spPr>
          <a:xfrm xmlns:a="http://schemas.openxmlformats.org/drawingml/2006/main">
            <a:off x="457200" y="34544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Road freight activity</a:t>
            </a:r>
          </a:p>
          <a:p xmlns:a="http://schemas.openxmlformats.org/drawingml/2006/main">
            <a:pPr>
              <a:spcAft>
                <a:spcPts val="200"/>
              </a:spcAft>
              <a:buNone/>
            </a:pPr>
            <a:r>
              <a:rPr sz="1050">
                <a:solidFill>
                  <a:schemeClr val="dk1"/>
                </a:solidFill>
                <a:latin typeface="Lato"/>
                <a:ea typeface="Lato"/>
                <a:cs typeface="Lato"/>
              </a:rPr>
              <a:t>Baseline: 100 (2024 = 100)</a:t>
            </a:r>
          </a:p>
          <a:p xmlns:a="http://schemas.openxmlformats.org/drawingml/2006/main">
            <a:pPr>
              <a:spcAft>
                <a:spcPts val="200"/>
              </a:spcAft>
              <a:buNone/>
            </a:pPr>
            <a:r>
              <a:rPr sz="1050">
                <a:solidFill>
                  <a:schemeClr val="dk1"/>
                </a:solidFill>
                <a:latin typeface="Lato"/>
                <a:ea typeface="Lato"/>
                <a:cs typeface="Lato"/>
              </a:rPr>
              <a:t>2035: 95 / 135 / 150</a:t>
            </a:r>
            <a:endParaRPr sz="1050">
              <a:solidFill>
                <a:schemeClr val="dk1"/>
              </a:solidFill>
              <a:latin typeface="Lato"/>
              <a:ea typeface="Lato"/>
              <a:cs typeface="Lato"/>
            </a:endParaRPr>
          </a:p>
        </p:txBody>
      </p:sp>
      <p:sp>
        <p:nvSpPr>
          <p:cNvPr id="97" name="Lever 0 1 tag">
            <a:extLst xmlns:a="http://schemas.openxmlformats.org/drawingml/2006/main">
              <a:ext uri="{FF2B5EF4-FFF2-40B4-BE49-F238E27FC236}">
                <a16:creationId xmlns:a16="http://schemas.microsoft.com/office/drawing/2014/main" id="{C14197B8-3B11-D80F-CE23-D10767377AD8}"/>
              </a:ext>
            </a:extLst>
          </p:cNvPr>
          <p:cNvSpPr>
            <a:spLocks xmlns:a="http://schemas.openxmlformats.org/drawingml/2006/main" noGrp="1"/>
          </p:cNvSpPr>
          <p:nvPr/>
        </p:nvSpPr>
        <p:spPr>
          <a:xfrm xmlns:a="http://schemas.openxmlformats.org/drawingml/2006/main">
            <a:off x="533400" y="44831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Manish revised 1 of 3 · not accepted</a:t>
            </a:r>
            <a:endParaRPr sz="900" b="1">
              <a:solidFill>
                <a:schemeClr val="accent1"/>
              </a:solidFill>
              <a:latin typeface="Lato"/>
              <a:ea typeface="Lato"/>
              <a:cs typeface="Lato"/>
            </a:endParaRPr>
          </a:p>
        </p:txBody>
      </p:sp>
      <p:sp>
        <p:nvSpPr>
          <p:cNvPr id="98" name="Lever 0 2">
            <a:extLst xmlns:a="http://schemas.openxmlformats.org/drawingml/2006/main">
              <a:ext uri="{FF2B5EF4-FFF2-40B4-BE49-F238E27FC236}">
                <a16:creationId xmlns:a16="http://schemas.microsoft.com/office/drawing/2014/main" id="{1B405D82-340F-2DBD-EE47-C4FCA692A372}"/>
              </a:ext>
            </a:extLst>
          </p:cNvPr>
          <p:cNvSpPr>
            <a:spLocks xmlns:a="http://schemas.openxmlformats.org/drawingml/2006/main" noGrp="1"/>
          </p:cNvSpPr>
          <p:nvPr/>
        </p:nvSpPr>
        <p:spPr>
          <a:xfrm xmlns:a="http://schemas.openxmlformats.org/drawingml/2006/main">
            <a:off x="457200" y="48768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Real fuel price</a:t>
            </a:r>
          </a:p>
          <a:p xmlns:a="http://schemas.openxmlformats.org/drawingml/2006/main">
            <a:pPr>
              <a:spcAft>
                <a:spcPts val="200"/>
              </a:spcAft>
              <a:buNone/>
            </a:pPr>
            <a:r>
              <a:rPr sz="1050">
                <a:solidFill>
                  <a:schemeClr val="dk1"/>
                </a:solidFill>
                <a:latin typeface="Lato"/>
                <a:ea typeface="Lato"/>
                <a:cs typeface="Lato"/>
              </a:rPr>
              <a:t>Baseline: 100 (2024 = 100)</a:t>
            </a:r>
          </a:p>
          <a:p xmlns:a="http://schemas.openxmlformats.org/drawingml/2006/main">
            <a:pPr>
              <a:spcAft>
                <a:spcPts val="200"/>
              </a:spcAft>
              <a:buNone/>
            </a:pPr>
            <a:r>
              <a:rPr sz="1050">
                <a:solidFill>
                  <a:schemeClr val="dk1"/>
                </a:solidFill>
                <a:latin typeface="Lato"/>
                <a:ea typeface="Lato"/>
                <a:cs typeface="Lato"/>
              </a:rPr>
              <a:t>Petrol 2035: 80 / 100 / 120</a:t>
            </a:r>
          </a:p>
          <a:p xmlns:a="http://schemas.openxmlformats.org/drawingml/2006/main">
            <a:pPr>
              <a:spcAft>
                <a:spcPts val="200"/>
              </a:spcAft>
              <a:buNone/>
            </a:pPr>
            <a:r>
              <a:rPr sz="1050">
                <a:solidFill>
                  <a:schemeClr val="dk1"/>
                </a:solidFill>
                <a:latin typeface="Lato"/>
                <a:ea typeface="Lato"/>
                <a:cs typeface="Lato"/>
              </a:rPr>
              <a:t>Diesel 2035: 80 / 100 / 140</a:t>
            </a:r>
          </a:p>
        </p:txBody>
      </p:sp>
      <p:sp>
        <p:nvSpPr>
          <p:cNvPr id="99" name="Lever 0 2 tag">
            <a:extLst xmlns:a="http://schemas.openxmlformats.org/drawingml/2006/main">
              <a:ext uri="{FF2B5EF4-FFF2-40B4-BE49-F238E27FC236}">
                <a16:creationId xmlns:a16="http://schemas.microsoft.com/office/drawing/2014/main" id="{779CBCD6-A0EF-73CF-8CAB-B5C5E47FB3E4}"/>
              </a:ext>
            </a:extLst>
          </p:cNvPr>
          <p:cNvSpPr>
            <a:spLocks xmlns:a="http://schemas.openxmlformats.org/drawingml/2006/main" noGrp="1"/>
          </p:cNvSpPr>
          <p:nvPr/>
        </p:nvSpPr>
        <p:spPr>
          <a:xfrm xmlns:a="http://schemas.openxmlformats.org/drawingml/2006/main">
            <a:off x="533400" y="59055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Added by Manish · not accepted</a:t>
            </a:r>
            <a:endParaRPr sz="900" b="1">
              <a:solidFill>
                <a:schemeClr val="accent1"/>
              </a:solidFill>
              <a:latin typeface="Lato"/>
              <a:ea typeface="Lato"/>
              <a:cs typeface="Lato"/>
            </a:endParaRPr>
          </a:p>
        </p:txBody>
      </p:sp>
      <p:sp>
        <p:nvSpPr>
          <p:cNvPr id="100" name="Lever panel 1">
            <a:extLst xmlns:a="http://schemas.openxmlformats.org/drawingml/2006/main">
              <a:ext uri="{FF2B5EF4-FFF2-40B4-BE49-F238E27FC236}">
                <a16:creationId xmlns:a16="http://schemas.microsoft.com/office/drawing/2014/main" id="{18B101AF-D469-BDC2-9D42-7453D209A90C}"/>
              </a:ext>
            </a:extLst>
          </p:cNvPr>
          <p:cNvSpPr>
            <a:spLocks xmlns:a="http://schemas.openxmlformats.org/drawingml/2006/main" noGrp="1"/>
          </p:cNvSpPr>
          <p:nvPr/>
        </p:nvSpPr>
        <p:spPr>
          <a:xfrm xmlns:a="http://schemas.openxmlformats.org/drawingml/2006/main">
            <a:off x="3098800" y="1549400"/>
            <a:ext cx="26289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1" name="Lever panel 1 heading">
            <a:extLst xmlns:a="http://schemas.openxmlformats.org/drawingml/2006/main">
              <a:ext uri="{FF2B5EF4-FFF2-40B4-BE49-F238E27FC236}">
                <a16:creationId xmlns:a16="http://schemas.microsoft.com/office/drawing/2014/main" id="{037BC954-7AC6-A7F0-ABE1-154F8AF9F90B}"/>
              </a:ext>
            </a:extLst>
          </p:cNvPr>
          <p:cNvSpPr>
            <a:spLocks xmlns:a="http://schemas.openxmlformats.org/drawingml/2006/main" noGrp="1"/>
          </p:cNvSpPr>
          <p:nvPr/>
        </p:nvSpPr>
        <p:spPr>
          <a:xfrm xmlns:a="http://schemas.openxmlformats.org/drawingml/2006/main">
            <a:off x="3200400" y="1638300"/>
            <a:ext cx="24257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2  VEHICLE FLEET</a:t>
            </a:r>
          </a:p>
        </p:txBody>
      </p:sp>
      <p:cxnSp>
        <p:nvCxnSpPr>
          <p:cNvPr id="146" name="Column heading rule"/>
          <p:cNvCxnSpPr/>
          <p:nvPr/>
        </p:nvCxnSpPr>
        <p:spPr>
          <a:xfrm xmlns:a="http://schemas.openxmlformats.org/drawingml/2006/main">
            <a:off x="3200400" y="1917700"/>
            <a:ext cx="24257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3" name="Lever 1 0">
            <a:extLst xmlns:a="http://schemas.openxmlformats.org/drawingml/2006/main">
              <a:ext uri="{FF2B5EF4-FFF2-40B4-BE49-F238E27FC236}">
                <a16:creationId xmlns:a16="http://schemas.microsoft.com/office/drawing/2014/main" id="{B0AF59C8-54B8-E5EA-B73D-9E08665406A5}"/>
              </a:ext>
            </a:extLst>
          </p:cNvPr>
          <p:cNvSpPr>
            <a:spLocks xmlns:a="http://schemas.openxmlformats.org/drawingml/2006/main" noGrp="1"/>
          </p:cNvSpPr>
          <p:nvPr/>
        </p:nvSpPr>
        <p:spPr>
          <a:xfrm xmlns:a="http://schemas.openxmlformats.org/drawingml/2006/main">
            <a:off x="3200400" y="20320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Battery EV share of new sales</a:t>
            </a:r>
          </a:p>
          <a:p xmlns:a="http://schemas.openxmlformats.org/drawingml/2006/main">
            <a:pPr>
              <a:spcAft>
                <a:spcPts val="200"/>
              </a:spcAft>
              <a:buNone/>
            </a:pPr>
            <a:r>
              <a:rPr sz="1050">
                <a:solidFill>
                  <a:schemeClr val="dk1"/>
                </a:solidFill>
                <a:latin typeface="Lato"/>
                <a:ea typeface="Lato"/>
                <a:cs typeface="Lato"/>
              </a:rPr>
              <a:t>Baseline: 0.2%</a:t>
            </a:r>
          </a:p>
          <a:p xmlns:a="http://schemas.openxmlformats.org/drawingml/2006/main">
            <a:pPr>
              <a:spcAft>
                <a:spcPts val="200"/>
              </a:spcAft>
              <a:buNone/>
            </a:pPr>
            <a:r>
              <a:rPr sz="1050">
                <a:solidFill>
                  <a:schemeClr val="dk1"/>
                </a:solidFill>
                <a:latin typeface="Lato"/>
                <a:ea typeface="Lato"/>
                <a:cs typeface="Lato"/>
              </a:rPr>
              <a:t>2035: 2 / 15 / 40</a:t>
            </a:r>
            <a:endParaRPr sz="1050">
              <a:solidFill>
                <a:schemeClr val="dk1"/>
              </a:solidFill>
              <a:latin typeface="Lato"/>
              <a:ea typeface="Lato"/>
              <a:cs typeface="Lato"/>
            </a:endParaRPr>
          </a:p>
        </p:txBody>
      </p:sp>
      <p:sp>
        <p:nvSpPr>
          <p:cNvPr id="104" name="Lever 1 0 tag">
            <a:extLst xmlns:a="http://schemas.openxmlformats.org/drawingml/2006/main">
              <a:ext uri="{FF2B5EF4-FFF2-40B4-BE49-F238E27FC236}">
                <a16:creationId xmlns:a16="http://schemas.microsoft.com/office/drawing/2014/main" id="{6A496226-D2B8-332A-AC1A-F8DE3FCC55EE}"/>
              </a:ext>
            </a:extLst>
          </p:cNvPr>
          <p:cNvSpPr>
            <a:spLocks xmlns:a="http://schemas.openxmlformats.org/drawingml/2006/main" noGrp="1"/>
          </p:cNvSpPr>
          <p:nvPr/>
        </p:nvSpPr>
        <p:spPr>
          <a:xfrm xmlns:a="http://schemas.openxmlformats.org/drawingml/2006/main">
            <a:off x="3276600" y="30607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Manish revised 3 of 3 · not accepted</a:t>
            </a:r>
            <a:endParaRPr sz="900" b="1">
              <a:solidFill>
                <a:schemeClr val="accent1"/>
              </a:solidFill>
              <a:latin typeface="Lato"/>
              <a:ea typeface="Lato"/>
              <a:cs typeface="Lato"/>
            </a:endParaRPr>
          </a:p>
        </p:txBody>
      </p:sp>
      <p:sp>
        <p:nvSpPr>
          <p:cNvPr id="105" name="Lever 1 1">
            <a:extLst xmlns:a="http://schemas.openxmlformats.org/drawingml/2006/main">
              <a:ext uri="{FF2B5EF4-FFF2-40B4-BE49-F238E27FC236}">
                <a16:creationId xmlns:a16="http://schemas.microsoft.com/office/drawing/2014/main" id="{ABF6A1BE-0B9C-1FA5-9ABE-D53E43595D5E}"/>
              </a:ext>
            </a:extLst>
          </p:cNvPr>
          <p:cNvSpPr>
            <a:spLocks xmlns:a="http://schemas.openxmlformats.org/drawingml/2006/main" noGrp="1"/>
          </p:cNvSpPr>
          <p:nvPr/>
        </p:nvSpPr>
        <p:spPr>
          <a:xfrm xmlns:a="http://schemas.openxmlformats.org/drawingml/2006/main">
            <a:off x="3200400" y="34544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New-vehicle efficiency</a:t>
            </a:r>
          </a:p>
          <a:p xmlns:a="http://schemas.openxmlformats.org/drawingml/2006/main">
            <a:pPr>
              <a:spcAft>
                <a:spcPts val="200"/>
              </a:spcAft>
              <a:buNone/>
            </a:pPr>
            <a:r>
              <a:rPr sz="1050">
                <a:solidFill>
                  <a:schemeClr val="dk1"/>
                </a:solidFill>
                <a:latin typeface="Lato"/>
                <a:ea typeface="Lato"/>
                <a:cs typeface="Lato"/>
              </a:rPr>
              <a:t>2035 cases, % a year:</a:t>
            </a:r>
          </a:p>
          <a:p xmlns:a="http://schemas.openxmlformats.org/drawingml/2006/main">
            <a:pPr>
              <a:spcAft>
                <a:spcPts val="200"/>
              </a:spcAft>
              <a:buNone/>
            </a:pPr>
            <a:r>
              <a:rPr sz="1050">
                <a:solidFill>
                  <a:schemeClr val="dk1"/>
                </a:solidFill>
                <a:latin typeface="Lato"/>
                <a:ea typeface="Lato"/>
                <a:cs typeface="Lato"/>
              </a:rPr>
              <a:t>Petrol 1 / 1.25 / 1.5</a:t>
            </a:r>
          </a:p>
          <a:p xmlns:a="http://schemas.openxmlformats.org/drawingml/2006/main">
            <a:pPr>
              <a:spcAft>
                <a:spcPts val="200"/>
              </a:spcAft>
              <a:buNone/>
            </a:pPr>
            <a:r>
              <a:rPr sz="1050">
                <a:solidFill>
                  <a:schemeClr val="dk1"/>
                </a:solidFill>
                <a:latin typeface="Lato"/>
                <a:ea typeface="Lato"/>
                <a:cs typeface="Lato"/>
              </a:rPr>
              <a:t>Diesel 0.5 / 0.75 / 1</a:t>
            </a:r>
            <a:endParaRPr sz="1050">
              <a:solidFill>
                <a:schemeClr val="dk1"/>
              </a:solidFill>
              <a:latin typeface="Lato"/>
              <a:ea typeface="Lato"/>
              <a:cs typeface="Lato"/>
            </a:endParaRPr>
          </a:p>
        </p:txBody>
      </p:sp>
      <p:sp>
        <p:nvSpPr>
          <p:cNvPr id="106" name="Lever 1 1 tag">
            <a:extLst xmlns:a="http://schemas.openxmlformats.org/drawingml/2006/main">
              <a:ext uri="{FF2B5EF4-FFF2-40B4-BE49-F238E27FC236}">
                <a16:creationId xmlns:a16="http://schemas.microsoft.com/office/drawing/2014/main" id="{F7C9E0E8-7089-76F6-15A1-2C45D5E6F964}"/>
              </a:ext>
            </a:extLst>
          </p:cNvPr>
          <p:cNvSpPr>
            <a:spLocks xmlns:a="http://schemas.openxmlformats.org/drawingml/2006/main" noGrp="1"/>
          </p:cNvSpPr>
          <p:nvPr/>
        </p:nvSpPr>
        <p:spPr>
          <a:xfrm xmlns:a="http://schemas.openxmlformats.org/drawingml/2006/main">
            <a:off x="3276600" y="44831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Nigel proposal kept · not accepted</a:t>
            </a:r>
            <a:endParaRPr sz="900" b="1">
              <a:solidFill>
                <a:schemeClr val="accent1"/>
              </a:solidFill>
              <a:latin typeface="Lato"/>
              <a:ea typeface="Lato"/>
              <a:cs typeface="Lato"/>
            </a:endParaRPr>
          </a:p>
        </p:txBody>
      </p:sp>
      <p:sp>
        <p:nvSpPr>
          <p:cNvPr id="107" name="Lever 1 2">
            <a:extLst xmlns:a="http://schemas.openxmlformats.org/drawingml/2006/main">
              <a:ext uri="{FF2B5EF4-FFF2-40B4-BE49-F238E27FC236}">
                <a16:creationId xmlns:a16="http://schemas.microsoft.com/office/drawing/2014/main" id="{7DF79640-E8A7-E9E6-E772-F26590EB0ED8}"/>
              </a:ext>
            </a:extLst>
          </p:cNvPr>
          <p:cNvSpPr>
            <a:spLocks xmlns:a="http://schemas.openxmlformats.org/drawingml/2006/main" noGrp="1"/>
          </p:cNvSpPr>
          <p:nvPr/>
        </p:nvSpPr>
        <p:spPr>
          <a:xfrm xmlns:a="http://schemas.openxmlformats.org/drawingml/2006/main">
            <a:off x="3200400" y="48768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Hybrid share of new sales</a:t>
            </a:r>
          </a:p>
          <a:p xmlns:a="http://schemas.openxmlformats.org/drawingml/2006/main">
            <a:pPr>
              <a:spcAft>
                <a:spcPts val="200"/>
              </a:spcAft>
              <a:buNone/>
            </a:pPr>
            <a:r>
              <a:rPr sz="1050">
                <a:solidFill>
                  <a:schemeClr val="dk1"/>
                </a:solidFill>
                <a:latin typeface="Lato"/>
                <a:ea typeface="Lato"/>
                <a:cs typeface="Lato"/>
              </a:rPr>
              <a:t>Baseline: 2.1%</a:t>
            </a:r>
          </a:p>
          <a:p xmlns:a="http://schemas.openxmlformats.org/drawingml/2006/main">
            <a:pPr>
              <a:spcAft>
                <a:spcPts val="200"/>
              </a:spcAft>
              <a:buNone/>
            </a:pPr>
            <a:r>
              <a:rPr sz="1050">
                <a:solidFill>
                  <a:schemeClr val="dk1"/>
                </a:solidFill>
                <a:latin typeface="Lato"/>
                <a:ea typeface="Lato"/>
                <a:cs typeface="Lato"/>
              </a:rPr>
              <a:t>2035: 2.1 / 6.7 / 11.3</a:t>
            </a:r>
            <a:endParaRPr sz="1050">
              <a:solidFill>
                <a:schemeClr val="dk1"/>
              </a:solidFill>
              <a:latin typeface="Lato"/>
              <a:ea typeface="Lato"/>
              <a:cs typeface="Lato"/>
            </a:endParaRPr>
          </a:p>
        </p:txBody>
      </p:sp>
      <p:sp>
        <p:nvSpPr>
          <p:cNvPr id="108" name="Lever 1 2 tag">
            <a:extLst xmlns:a="http://schemas.openxmlformats.org/drawingml/2006/main">
              <a:ext uri="{FF2B5EF4-FFF2-40B4-BE49-F238E27FC236}">
                <a16:creationId xmlns:a16="http://schemas.microsoft.com/office/drawing/2014/main" id="{38A26656-EE5B-B6F8-44DC-78DB8463573E}"/>
              </a:ext>
            </a:extLst>
          </p:cNvPr>
          <p:cNvSpPr>
            <a:spLocks xmlns:a="http://schemas.openxmlformats.org/drawingml/2006/main" noGrp="1"/>
          </p:cNvSpPr>
          <p:nvPr/>
        </p:nvSpPr>
        <p:spPr>
          <a:xfrm xmlns:a="http://schemas.openxmlformats.org/drawingml/2006/main">
            <a:off x="3276600" y="59055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Added by Manish · not accepted</a:t>
            </a:r>
            <a:endParaRPr sz="900" b="1">
              <a:solidFill>
                <a:schemeClr val="accent1"/>
              </a:solidFill>
              <a:latin typeface="Lato"/>
              <a:ea typeface="Lato"/>
              <a:cs typeface="Lato"/>
            </a:endParaRPr>
          </a:p>
        </p:txBody>
      </p:sp>
      <p:sp>
        <p:nvSpPr>
          <p:cNvPr id="109" name="Lever panel 2">
            <a:extLst xmlns:a="http://schemas.openxmlformats.org/drawingml/2006/main">
              <a:ext uri="{FF2B5EF4-FFF2-40B4-BE49-F238E27FC236}">
                <a16:creationId xmlns:a16="http://schemas.microsoft.com/office/drawing/2014/main" id="{24E92792-874E-6CF5-EBC6-F261CFDF061C}"/>
              </a:ext>
            </a:extLst>
          </p:cNvPr>
          <p:cNvSpPr>
            <a:spLocks xmlns:a="http://schemas.openxmlformats.org/drawingml/2006/main" noGrp="1"/>
          </p:cNvSpPr>
          <p:nvPr/>
        </p:nvSpPr>
        <p:spPr>
          <a:xfrm xmlns:a="http://schemas.openxmlformats.org/drawingml/2006/main">
            <a:off x="5842000" y="1549400"/>
            <a:ext cx="26289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 name="Lever panel 2 heading">
            <a:extLst xmlns:a="http://schemas.openxmlformats.org/drawingml/2006/main">
              <a:ext uri="{FF2B5EF4-FFF2-40B4-BE49-F238E27FC236}">
                <a16:creationId xmlns:a16="http://schemas.microsoft.com/office/drawing/2014/main" id="{6EFF0B0D-63DF-52CA-2C80-D4973A93A355}"/>
              </a:ext>
            </a:extLst>
          </p:cNvPr>
          <p:cNvSpPr>
            <a:spLocks xmlns:a="http://schemas.openxmlformats.org/drawingml/2006/main" noGrp="1"/>
          </p:cNvSpPr>
          <p:nvPr/>
        </p:nvSpPr>
        <p:spPr>
          <a:xfrm xmlns:a="http://schemas.openxmlformats.org/drawingml/2006/main">
            <a:off x="5943600" y="1638300"/>
            <a:ext cx="24257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3  FREIGHT AND RAIL</a:t>
            </a:r>
          </a:p>
        </p:txBody>
      </p:sp>
      <p:cxnSp>
        <p:nvCxnSpPr>
          <p:cNvPr id="155" name="Column heading rule"/>
          <p:cNvCxnSpPr/>
          <p:nvPr/>
        </p:nvCxnSpPr>
        <p:spPr>
          <a:xfrm xmlns:a="http://schemas.openxmlformats.org/drawingml/2006/main">
            <a:off x="5943600" y="1917700"/>
            <a:ext cx="24257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12" name="Lever 2 0">
            <a:extLst xmlns:a="http://schemas.openxmlformats.org/drawingml/2006/main">
              <a:ext uri="{FF2B5EF4-FFF2-40B4-BE49-F238E27FC236}">
                <a16:creationId xmlns:a16="http://schemas.microsoft.com/office/drawing/2014/main" id="{69297925-01E5-57A6-8073-F57576E70663}"/>
              </a:ext>
            </a:extLst>
          </p:cNvPr>
          <p:cNvSpPr>
            <a:spLocks xmlns:a="http://schemas.openxmlformats.org/drawingml/2006/main" noGrp="1"/>
          </p:cNvSpPr>
          <p:nvPr/>
        </p:nvSpPr>
        <p:spPr>
          <a:xfrm xmlns:a="http://schemas.openxmlformats.org/drawingml/2006/main">
            <a:off x="5943600" y="20320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Road freight moved to rail</a:t>
            </a:r>
          </a:p>
          <a:p xmlns:a="http://schemas.openxmlformats.org/drawingml/2006/main">
            <a:pPr>
              <a:spcAft>
                <a:spcPts val="200"/>
              </a:spcAft>
              <a:buNone/>
            </a:pPr>
            <a:r>
              <a:rPr sz="1050">
                <a:solidFill>
                  <a:schemeClr val="dk1"/>
                </a:solidFill>
                <a:latin typeface="Lato"/>
                <a:ea typeface="Lato"/>
                <a:cs typeface="Lato"/>
              </a:rPr>
              <a:t>Baseline: 0%</a:t>
            </a:r>
          </a:p>
          <a:p xmlns:a="http://schemas.openxmlformats.org/drawingml/2006/main">
            <a:pPr>
              <a:spcAft>
                <a:spcPts val="200"/>
              </a:spcAft>
              <a:buNone/>
            </a:pPr>
            <a:r>
              <a:rPr sz="1050">
                <a:solidFill>
                  <a:schemeClr val="dk1"/>
                </a:solidFill>
                <a:latin typeface="Lato"/>
                <a:ea typeface="Lato"/>
                <a:cs typeface="Lato"/>
              </a:rPr>
              <a:t>2035: 0 / 7 / 13</a:t>
            </a:r>
            <a:endParaRPr sz="1050">
              <a:solidFill>
                <a:schemeClr val="dk1"/>
              </a:solidFill>
              <a:latin typeface="Lato"/>
              <a:ea typeface="Lato"/>
              <a:cs typeface="Lato"/>
            </a:endParaRPr>
          </a:p>
        </p:txBody>
      </p:sp>
      <p:sp>
        <p:nvSpPr>
          <p:cNvPr id="113" name="Lever 2 0 tag">
            <a:extLst xmlns:a="http://schemas.openxmlformats.org/drawingml/2006/main">
              <a:ext uri="{FF2B5EF4-FFF2-40B4-BE49-F238E27FC236}">
                <a16:creationId xmlns:a16="http://schemas.microsoft.com/office/drawing/2014/main" id="{6876A76F-35EB-E8F6-9945-2651E1221CA6}"/>
              </a:ext>
            </a:extLst>
          </p:cNvPr>
          <p:cNvSpPr>
            <a:spLocks xmlns:a="http://schemas.openxmlformats.org/drawingml/2006/main" noGrp="1"/>
          </p:cNvSpPr>
          <p:nvPr/>
        </p:nvSpPr>
        <p:spPr>
          <a:xfrm xmlns:a="http://schemas.openxmlformats.org/drawingml/2006/main">
            <a:off x="6019800" y="30607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Manish revised 2 of 3 · not accepted</a:t>
            </a:r>
            <a:endParaRPr sz="900" b="1">
              <a:solidFill>
                <a:schemeClr val="accent1"/>
              </a:solidFill>
              <a:latin typeface="Lato"/>
              <a:ea typeface="Lato"/>
              <a:cs typeface="Lato"/>
            </a:endParaRPr>
          </a:p>
        </p:txBody>
      </p:sp>
      <p:sp>
        <p:nvSpPr>
          <p:cNvPr id="114" name="Lever 2 1">
            <a:extLst xmlns:a="http://schemas.openxmlformats.org/drawingml/2006/main">
              <a:ext uri="{FF2B5EF4-FFF2-40B4-BE49-F238E27FC236}">
                <a16:creationId xmlns:a16="http://schemas.microsoft.com/office/drawing/2014/main" id="{EB7041EF-3BDC-28FE-188D-18AC466BF1CD}"/>
              </a:ext>
            </a:extLst>
          </p:cNvPr>
          <p:cNvSpPr>
            <a:spLocks xmlns:a="http://schemas.openxmlformats.org/drawingml/2006/main" noGrp="1"/>
          </p:cNvSpPr>
          <p:nvPr/>
        </p:nvSpPr>
        <p:spPr>
          <a:xfrm xmlns:a="http://schemas.openxmlformats.org/drawingml/2006/main">
            <a:off x="5943600" y="34544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Electric share of new trucks</a:t>
            </a:r>
          </a:p>
          <a:p xmlns:a="http://schemas.openxmlformats.org/drawingml/2006/main">
            <a:pPr>
              <a:spcAft>
                <a:spcPts val="200"/>
              </a:spcAft>
              <a:buNone/>
            </a:pPr>
            <a:r>
              <a:rPr sz="1050">
                <a:solidFill>
                  <a:schemeClr val="dk1"/>
                </a:solidFill>
                <a:latin typeface="Lato"/>
                <a:ea typeface="Lato"/>
                <a:cs typeface="Lato"/>
              </a:rPr>
              <a:t>Baseline: not reported</a:t>
            </a:r>
          </a:p>
          <a:p xmlns:a="http://schemas.openxmlformats.org/drawingml/2006/main">
            <a:pPr>
              <a:spcAft>
                <a:spcPts val="200"/>
              </a:spcAft>
              <a:buNone/>
            </a:pPr>
            <a:r>
              <a:rPr sz="1050">
                <a:solidFill>
                  <a:schemeClr val="dk1"/>
                </a:solidFill>
                <a:latin typeface="Lato"/>
                <a:ea typeface="Lato"/>
                <a:cs typeface="Lato"/>
              </a:rPr>
              <a:t>2035: 0 / 3 / 9</a:t>
            </a:r>
            <a:endParaRPr sz="1050">
              <a:solidFill>
                <a:schemeClr val="dk1"/>
              </a:solidFill>
              <a:latin typeface="Lato"/>
              <a:ea typeface="Lato"/>
              <a:cs typeface="Lato"/>
            </a:endParaRPr>
          </a:p>
        </p:txBody>
      </p:sp>
      <p:sp>
        <p:nvSpPr>
          <p:cNvPr id="115" name="Lever 2 1 tag">
            <a:extLst xmlns:a="http://schemas.openxmlformats.org/drawingml/2006/main">
              <a:ext uri="{FF2B5EF4-FFF2-40B4-BE49-F238E27FC236}">
                <a16:creationId xmlns:a16="http://schemas.microsoft.com/office/drawing/2014/main" id="{7B8945D9-89C6-B2EB-B467-2E2BC21A5CAE}"/>
              </a:ext>
            </a:extLst>
          </p:cNvPr>
          <p:cNvSpPr>
            <a:spLocks xmlns:a="http://schemas.openxmlformats.org/drawingml/2006/main" noGrp="1"/>
          </p:cNvSpPr>
          <p:nvPr/>
        </p:nvSpPr>
        <p:spPr>
          <a:xfrm xmlns:a="http://schemas.openxmlformats.org/drawingml/2006/main">
            <a:off x="6019800" y="44831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Added by Manish · not accepted</a:t>
            </a:r>
            <a:endParaRPr sz="900" b="1">
              <a:solidFill>
                <a:schemeClr val="accent1"/>
              </a:solidFill>
              <a:latin typeface="Lato"/>
              <a:ea typeface="Lato"/>
              <a:cs typeface="Lato"/>
            </a:endParaRPr>
          </a:p>
        </p:txBody>
      </p:sp>
      <p:sp>
        <p:nvSpPr>
          <p:cNvPr id="116" name="Lever 2 2">
            <a:extLst xmlns:a="http://schemas.openxmlformats.org/drawingml/2006/main">
              <a:ext uri="{FF2B5EF4-FFF2-40B4-BE49-F238E27FC236}">
                <a16:creationId xmlns:a16="http://schemas.microsoft.com/office/drawing/2014/main" id="{96F4211F-5C4A-A9A4-8281-2F50FADEEA54}"/>
              </a:ext>
            </a:extLst>
          </p:cNvPr>
          <p:cNvSpPr>
            <a:spLocks xmlns:a="http://schemas.openxmlformats.org/drawingml/2006/main" noGrp="1"/>
          </p:cNvSpPr>
          <p:nvPr/>
        </p:nvSpPr>
        <p:spPr>
          <a:xfrm xmlns:a="http://schemas.openxmlformats.org/drawingml/2006/main">
            <a:off x="5943600" y="48768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Rail passenger journeys</a:t>
            </a:r>
          </a:p>
          <a:p xmlns:a="http://schemas.openxmlformats.org/drawingml/2006/main">
            <a:pPr>
              <a:spcAft>
                <a:spcPts val="200"/>
              </a:spcAft>
              <a:buNone/>
            </a:pPr>
            <a:r>
              <a:rPr sz="1050">
                <a:solidFill>
                  <a:schemeClr val="dk1"/>
                </a:solidFill>
                <a:latin typeface="Lato"/>
                <a:ea typeface="Lato"/>
                <a:cs typeface="Lato"/>
              </a:rPr>
              <a:t>Baseline: 74m a year</a:t>
            </a:r>
          </a:p>
          <a:p xmlns:a="http://schemas.openxmlformats.org/drawingml/2006/main">
            <a:pPr>
              <a:spcAft>
                <a:spcPts val="200"/>
              </a:spcAft>
              <a:buNone/>
            </a:pPr>
            <a:r>
              <a:rPr sz="1050">
                <a:solidFill>
                  <a:schemeClr val="dk1"/>
                </a:solidFill>
                <a:latin typeface="Lato"/>
                <a:ea typeface="Lato"/>
                <a:cs typeface="Lato"/>
              </a:rPr>
              <a:t>2035: 100 / 250 / 320</a:t>
            </a:r>
            <a:endParaRPr sz="1050">
              <a:solidFill>
                <a:schemeClr val="dk1"/>
              </a:solidFill>
              <a:latin typeface="Lato"/>
              <a:ea typeface="Lato"/>
              <a:cs typeface="Lato"/>
            </a:endParaRPr>
          </a:p>
        </p:txBody>
      </p:sp>
      <p:sp>
        <p:nvSpPr>
          <p:cNvPr id="117" name="Lever 2 2 tag">
            <a:extLst xmlns:a="http://schemas.openxmlformats.org/drawingml/2006/main">
              <a:ext uri="{FF2B5EF4-FFF2-40B4-BE49-F238E27FC236}">
                <a16:creationId xmlns:a16="http://schemas.microsoft.com/office/drawing/2014/main" id="{BBCA709A-8133-F5F1-F565-FBAF28B203A9}"/>
              </a:ext>
            </a:extLst>
          </p:cNvPr>
          <p:cNvSpPr>
            <a:spLocks xmlns:a="http://schemas.openxmlformats.org/drawingml/2006/main" noGrp="1"/>
          </p:cNvSpPr>
          <p:nvPr/>
        </p:nvSpPr>
        <p:spPr>
          <a:xfrm xmlns:a="http://schemas.openxmlformats.org/drawingml/2006/main">
            <a:off x="6019800" y="59055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Added by Manish · not accepted</a:t>
            </a:r>
            <a:endParaRPr sz="900" b="1">
              <a:solidFill>
                <a:schemeClr val="accent1"/>
              </a:solidFill>
              <a:latin typeface="Lato"/>
              <a:ea typeface="Lato"/>
              <a:cs typeface="Lato"/>
            </a:endParaRPr>
          </a:p>
        </p:txBody>
      </p:sp>
      <p:sp>
        <p:nvSpPr>
          <p:cNvPr id="118" name="Lever panel 3">
            <a:extLst xmlns:a="http://schemas.openxmlformats.org/drawingml/2006/main">
              <a:ext uri="{FF2B5EF4-FFF2-40B4-BE49-F238E27FC236}">
                <a16:creationId xmlns:a16="http://schemas.microsoft.com/office/drawing/2014/main" id="{2831922F-8A74-DF4A-5EDD-2A0E9088BB9A}"/>
              </a:ext>
            </a:extLst>
          </p:cNvPr>
          <p:cNvSpPr>
            <a:spLocks xmlns:a="http://schemas.openxmlformats.org/drawingml/2006/main" noGrp="1"/>
          </p:cNvSpPr>
          <p:nvPr/>
        </p:nvSpPr>
        <p:spPr>
          <a:xfrm xmlns:a="http://schemas.openxmlformats.org/drawingml/2006/main">
            <a:off x="8585200" y="1549400"/>
            <a:ext cx="26289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9" name="Lever panel 3 heading">
            <a:extLst xmlns:a="http://schemas.openxmlformats.org/drawingml/2006/main">
              <a:ext uri="{FF2B5EF4-FFF2-40B4-BE49-F238E27FC236}">
                <a16:creationId xmlns:a16="http://schemas.microsoft.com/office/drawing/2014/main" id="{69B6CDFA-ADA3-FCE2-BBE7-B4E45DDD1692}"/>
              </a:ext>
            </a:extLst>
          </p:cNvPr>
          <p:cNvSpPr>
            <a:spLocks xmlns:a="http://schemas.openxmlformats.org/drawingml/2006/main" noGrp="1"/>
          </p:cNvSpPr>
          <p:nvPr/>
        </p:nvSpPr>
        <p:spPr>
          <a:xfrm xmlns:a="http://schemas.openxmlformats.org/drawingml/2006/main">
            <a:off x="8686800" y="1638300"/>
            <a:ext cx="24257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4  POWER</a:t>
            </a:r>
          </a:p>
        </p:txBody>
      </p:sp>
      <p:cxnSp>
        <p:nvCxnSpPr>
          <p:cNvPr id="164" name="Column heading rule"/>
          <p:cNvCxnSpPr/>
          <p:nvPr/>
        </p:nvCxnSpPr>
        <p:spPr>
          <a:xfrm xmlns:a="http://schemas.openxmlformats.org/drawingml/2006/main">
            <a:off x="8686800" y="1917700"/>
            <a:ext cx="24257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21" name="Lever 3 0">
            <a:extLst xmlns:a="http://schemas.openxmlformats.org/drawingml/2006/main">
              <a:ext uri="{FF2B5EF4-FFF2-40B4-BE49-F238E27FC236}">
                <a16:creationId xmlns:a16="http://schemas.microsoft.com/office/drawing/2014/main" id="{9D29B069-F933-9D39-F860-989E95E1E929}"/>
              </a:ext>
            </a:extLst>
          </p:cNvPr>
          <p:cNvSpPr>
            <a:spLocks xmlns:a="http://schemas.openxmlformats.org/drawingml/2006/main" noGrp="1"/>
          </p:cNvSpPr>
          <p:nvPr/>
        </p:nvSpPr>
        <p:spPr>
          <a:xfrm xmlns:a="http://schemas.openxmlformats.org/drawingml/2006/main">
            <a:off x="8686800" y="20320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Diesel turbine output</a:t>
            </a:r>
          </a:p>
          <a:p xmlns:a="http://schemas.openxmlformats.org/drawingml/2006/main">
            <a:pPr>
              <a:spcAft>
                <a:spcPts val="200"/>
              </a:spcAft>
              <a:buNone/>
            </a:pPr>
            <a:r>
              <a:rPr sz="1050">
                <a:solidFill>
                  <a:schemeClr val="dk1"/>
                </a:solidFill>
                <a:latin typeface="Lato"/>
                <a:ea typeface="Lato"/>
                <a:cs typeface="Lato"/>
              </a:rPr>
              <a:t>Baseline: 100 (FY24 = 100)</a:t>
            </a:r>
          </a:p>
          <a:p xmlns:a="http://schemas.openxmlformats.org/drawingml/2006/main">
            <a:pPr>
              <a:spcAft>
                <a:spcPts val="200"/>
              </a:spcAft>
              <a:buNone/>
            </a:pPr>
            <a:r>
              <a:rPr sz="1050">
                <a:solidFill>
                  <a:schemeClr val="dk1"/>
                </a:solidFill>
                <a:latin typeface="Lato"/>
                <a:ea typeface="Lato"/>
                <a:cs typeface="Lato"/>
              </a:rPr>
              <a:t>2035: 5 / 15 / 50</a:t>
            </a:r>
          </a:p>
        </p:txBody>
      </p:sp>
      <p:sp>
        <p:nvSpPr>
          <p:cNvPr id="122" name="Lever 3 0 tag">
            <a:extLst xmlns:a="http://schemas.openxmlformats.org/drawingml/2006/main">
              <a:ext uri="{FF2B5EF4-FFF2-40B4-BE49-F238E27FC236}">
                <a16:creationId xmlns:a16="http://schemas.microsoft.com/office/drawing/2014/main" id="{B12892DA-646E-6393-8AEB-16620FA1DA42}"/>
              </a:ext>
            </a:extLst>
          </p:cNvPr>
          <p:cNvSpPr>
            <a:spLocks xmlns:a="http://schemas.openxmlformats.org/drawingml/2006/main" noGrp="1"/>
          </p:cNvSpPr>
          <p:nvPr/>
        </p:nvSpPr>
        <p:spPr>
          <a:xfrm xmlns:a="http://schemas.openxmlformats.org/drawingml/2006/main">
            <a:off x="8763000" y="30607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Nigel proposal kept · not accepted</a:t>
            </a:r>
            <a:endParaRPr sz="900" b="1">
              <a:solidFill>
                <a:schemeClr val="accent1"/>
              </a:solidFill>
              <a:latin typeface="Lato"/>
              <a:ea typeface="Lato"/>
              <a:cs typeface="Lato"/>
            </a:endParaRPr>
          </a:p>
        </p:txBody>
      </p:sp>
      <p:sp>
        <p:nvSpPr>
          <p:cNvPr id="123" name="Lever 3 1">
            <a:extLst xmlns:a="http://schemas.openxmlformats.org/drawingml/2006/main">
              <a:ext uri="{FF2B5EF4-FFF2-40B4-BE49-F238E27FC236}">
                <a16:creationId xmlns:a16="http://schemas.microsoft.com/office/drawing/2014/main" id="{D33B4308-B87E-F719-28C2-0D61E7183A9B}"/>
              </a:ext>
            </a:extLst>
          </p:cNvPr>
          <p:cNvSpPr>
            <a:spLocks xmlns:a="http://schemas.openxmlformats.org/drawingml/2006/main" noGrp="1"/>
          </p:cNvSpPr>
          <p:nvPr/>
        </p:nvSpPr>
        <p:spPr>
          <a:xfrm xmlns:a="http://schemas.openxmlformats.org/drawingml/2006/main">
            <a:off x="8686800" y="34544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Private backup generation</a:t>
            </a:r>
          </a:p>
          <a:p xmlns:a="http://schemas.openxmlformats.org/drawingml/2006/main">
            <a:pPr>
              <a:spcAft>
                <a:spcPts val="200"/>
              </a:spcAft>
              <a:buNone/>
            </a:pPr>
            <a:r>
              <a:rPr sz="1050">
                <a:solidFill>
                  <a:schemeClr val="dk1"/>
                </a:solidFill>
                <a:latin typeface="Lato"/>
                <a:ea typeface="Lato"/>
                <a:cs typeface="Lato"/>
              </a:rPr>
              <a:t>Baseline: not measured</a:t>
            </a:r>
          </a:p>
          <a:p xmlns:a="http://schemas.openxmlformats.org/drawingml/2006/main">
            <a:pPr>
              <a:spcAft>
                <a:spcPts val="200"/>
              </a:spcAft>
              <a:buNone/>
            </a:pPr>
            <a:r>
              <a:rPr sz="1050">
                <a:solidFill>
                  <a:schemeClr val="dk1"/>
                </a:solidFill>
                <a:latin typeface="Lato"/>
                <a:ea typeface="Lato"/>
                <a:cs typeface="Lato"/>
              </a:rPr>
              <a:t>2035: 0 / 0 / 0.5</a:t>
            </a:r>
            <a:endParaRPr sz="1050">
              <a:solidFill>
                <a:schemeClr val="dk1"/>
              </a:solidFill>
              <a:latin typeface="Lato"/>
              <a:ea typeface="Lato"/>
              <a:cs typeface="Lato"/>
            </a:endParaRPr>
          </a:p>
        </p:txBody>
      </p:sp>
      <p:sp>
        <p:nvSpPr>
          <p:cNvPr id="124" name="Lever 3 1 tag">
            <a:extLst xmlns:a="http://schemas.openxmlformats.org/drawingml/2006/main">
              <a:ext uri="{FF2B5EF4-FFF2-40B4-BE49-F238E27FC236}">
                <a16:creationId xmlns:a16="http://schemas.microsoft.com/office/drawing/2014/main" id="{85B05894-0115-1B62-01B0-B9E902499CE9}"/>
              </a:ext>
            </a:extLst>
          </p:cNvPr>
          <p:cNvSpPr>
            <a:spLocks xmlns:a="http://schemas.openxmlformats.org/drawingml/2006/main" noGrp="1"/>
          </p:cNvSpPr>
          <p:nvPr/>
        </p:nvSpPr>
        <p:spPr>
          <a:xfrm xmlns:a="http://schemas.openxmlformats.org/drawingml/2006/main">
            <a:off x="8763000" y="44831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Added by Manish · not accepted</a:t>
            </a:r>
            <a:endParaRPr sz="900" b="1">
              <a:solidFill>
                <a:schemeClr val="accent1"/>
              </a:solidFill>
              <a:latin typeface="Lato"/>
              <a:ea typeface="Lato"/>
              <a:cs typeface="Lato"/>
            </a:endParaRPr>
          </a:p>
        </p:txBody>
      </p:sp>
      <p:sp>
        <p:nvSpPr>
          <p:cNvPr id="125" name="Lever 3 reported">
            <a:extLst xmlns:a="http://schemas.openxmlformats.org/drawingml/2006/main">
              <a:ext uri="{FF2B5EF4-FFF2-40B4-BE49-F238E27FC236}">
                <a16:creationId xmlns:a16="http://schemas.microsoft.com/office/drawing/2014/main" id="{564E2D8A-05CF-8F5C-7B5B-2E1962B6545F}"/>
              </a:ext>
            </a:extLst>
          </p:cNvPr>
          <p:cNvSpPr>
            <a:spLocks xmlns:a="http://schemas.openxmlformats.org/drawingml/2006/main" noGrp="1"/>
          </p:cNvSpPr>
          <p:nvPr/>
        </p:nvSpPr>
        <p:spPr>
          <a:xfrm xmlns:a="http://schemas.openxmlformats.org/drawingml/2006/main">
            <a:off x="8686800" y="4876800"/>
            <a:ext cx="2425700" cy="12192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Eskom + estimated IPP fuel</a:t>
            </a:r>
          </a:p>
          <a:p xmlns:a="http://schemas.openxmlformats.org/drawingml/2006/main">
            <a:pPr>
              <a:spcAft>
                <a:spcPts val="200"/>
              </a:spcAft>
              <a:buNone/>
            </a:pPr>
            <a:r>
              <a:rPr sz="1050">
                <a:solidFill>
                  <a:schemeClr val="dk1"/>
                </a:solidFill>
                <a:latin typeface="Lato"/>
                <a:ea typeface="Lato"/>
                <a:cs typeface="Lato"/>
              </a:rPr>
              <a:t>FY24 ~1.60B L, FY25 ~0.89B L</a:t>
            </a:r>
          </a:p>
          <a:p xmlns:a="http://schemas.openxmlformats.org/drawingml/2006/main">
            <a:pPr>
              <a:spcAft>
                <a:spcPts val="200"/>
              </a:spcAft>
              <a:buNone/>
            </a:pPr>
            <a:r>
              <a:rPr sz="1050">
                <a:solidFill>
                  <a:schemeClr val="dk1"/>
                </a:solidFill>
                <a:latin typeface="Lato"/>
                <a:ea typeface="Lato"/>
                <a:cs typeface="Lato"/>
              </a:rPr>
              <a:t>Private backup remains unmeasured</a:t>
            </a:r>
            <a:endParaRPr sz="1050">
              <a:solidFill>
                <a:schemeClr val="dk1"/>
              </a:solidFill>
              <a:latin typeface="Lato"/>
              <a:ea typeface="Lato"/>
              <a:cs typeface="Lato"/>
            </a:endParaRPr>
          </a:p>
        </p:txBody>
      </p:sp>
      <p:sp>
        <p:nvSpPr>
          <p:cNvPr id="126" name="Lever 3 reported tag">
            <a:extLst xmlns:a="http://schemas.openxmlformats.org/drawingml/2006/main">
              <a:ext uri="{FF2B5EF4-FFF2-40B4-BE49-F238E27FC236}">
                <a16:creationId xmlns:a16="http://schemas.microsoft.com/office/drawing/2014/main" id="{402974DC-6D49-90B3-8391-CCF060EF41D0}"/>
              </a:ext>
            </a:extLst>
          </p:cNvPr>
          <p:cNvSpPr>
            <a:spLocks xmlns:a="http://schemas.openxmlformats.org/drawingml/2006/main" noGrp="1"/>
          </p:cNvSpPr>
          <p:nvPr/>
        </p:nvSpPr>
        <p:spPr>
          <a:xfrm xmlns:a="http://schemas.openxmlformats.org/drawingml/2006/main">
            <a:off x="8763000" y="59055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Observed and estimated · DR07</a:t>
            </a:r>
          </a:p>
        </p:txBody>
      </p:sp>
    </p:spTree>
    <p:extLst>
      <p:ext uri="{BB962C8B-B14F-4D97-AF65-F5344CB8AC3E}">
        <p14:creationId xmlns:p14="http://schemas.microsoft.com/office/powerpoint/2010/main" val="229680238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20D74F-988C-4615-92A4-083F0E3B116E}"/>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Port and logistics system: how fuel reaches coastal and inland demand</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DC2EDCB0-0B14-48F5-9EEE-C1A644EDB9C7}"/>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6</a:t>
            </a:r>
            <a:endParaRPr sz="1100"/>
          </a:p>
        </p:txBody>
      </p:sp>
      <p:sp>
        <p:nvSpPr>
          <p:cNvPr id="8" name="Unified source footer">
            <a:extLst xmlns:a="http://schemas.openxmlformats.org/drawingml/2006/main">
              <a:ext uri="{FF2B5EF4-FFF2-40B4-BE49-F238E27FC236}">
                <a16:creationId xmlns:a16="http://schemas.microsoft.com/office/drawing/2014/main" id="{3B47DA2E-EB8F-4857-8AE0-6696E4FD7A22}"/>
              </a:ext>
            </a:extLst>
          </p:cNvPr>
          <p:cNvSpPr>
            <a:spLocks xmlns:a="http://schemas.openxmlformats.org/drawingml/2006/main" noGrp="1"/>
          </p:cNvSpPr>
          <p:nvPr/>
        </p:nvSpPr>
        <p:spPr>
          <a:xfrm xmlns:a="http://schemas.openxmlformats.org/drawingml/2006/main">
            <a:off x="457200" y="6184900"/>
            <a:ext cx="10652760" cy="1143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70"/>
              <a:t>DR04/08 and Transnet Pipelines 2025 p8, https://www.transnet.net/getFile.ashx?id=6121. 52-week annualisation is arithmetic. MPP, system petroleum, customs and customer flows have different scopes. Average unused capacity is not shipper access.</a:t>
            </a:r>
            <a:endParaRPr sz="670"/>
          </a:p>
        </p:txBody>
      </p:sp>
      <p:sp>
        <p:nvSpPr>
          <p:cNvPr id="48" name="Strictly Confidential footer">
            <a:extLst xmlns:a="http://schemas.openxmlformats.org/drawingml/2006/main">
              <a:ext uri="{FF2B5EF4-FFF2-40B4-BE49-F238E27FC236}">
                <a16:creationId xmlns:a16="http://schemas.microsoft.com/office/drawing/2014/main" id="{BB328F13-47FE-4BFD-85C0-B7F7F2F84D84}"/>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
        <p:nvSpPr>
          <p:cNvPr id="47" name="Mode panel 1">
            <a:extLst xmlns:a="http://schemas.openxmlformats.org/drawingml/2006/main">
              <a:ext uri="{FF2B5EF4-FFF2-40B4-BE49-F238E27FC236}">
                <a16:creationId xmlns:a16="http://schemas.microsoft.com/office/drawing/2014/main" id="{A07671E3-091C-D54E-75AB-D6C0BEB3118F}"/>
              </a:ext>
            </a:extLst>
          </p:cNvPr>
          <p:cNvSpPr>
            <a:spLocks xmlns:a="http://schemas.openxmlformats.org/drawingml/2006/main" noGrp="1"/>
          </p:cNvSpPr>
          <p:nvPr/>
        </p:nvSpPr>
        <p:spPr>
          <a:xfrm xmlns:a="http://schemas.openxmlformats.org/drawingml/2006/main">
            <a:off x="355600" y="1549400"/>
            <a:ext cx="26289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Mode heading 1">
            <a:extLst xmlns:a="http://schemas.openxmlformats.org/drawingml/2006/main">
              <a:ext uri="{FF2B5EF4-FFF2-40B4-BE49-F238E27FC236}">
                <a16:creationId xmlns:a16="http://schemas.microsoft.com/office/drawing/2014/main" id="{7DDCBDD8-5378-6ED4-AB37-8C191E4248B6}"/>
              </a:ext>
            </a:extLst>
          </p:cNvPr>
          <p:cNvSpPr>
            <a:spLocks xmlns:a="http://schemas.openxmlformats.org/drawingml/2006/main" noGrp="1"/>
          </p:cNvSpPr>
          <p:nvPr/>
        </p:nvSpPr>
        <p:spPr>
          <a:xfrm xmlns:a="http://schemas.openxmlformats.org/drawingml/2006/main">
            <a:off x="457200" y="1638300"/>
            <a:ext cx="24257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1  PORTS AND LIQUID BULK</a:t>
            </a:r>
            <a:endParaRPr sz="1200" b="1">
              <a:solidFill>
                <a:schemeClr val="accent1"/>
              </a:solidFill>
              <a:latin typeface="Lato"/>
              <a:ea typeface="Lato"/>
              <a:cs typeface="Lato"/>
            </a:endParaRPr>
          </a:p>
        </p:txBody>
      </p:sp>
      <p:cxnSp>
        <p:nvCxnSpPr>
          <p:cNvPr id="145" name="Column heading rule"/>
          <p:cNvCxnSpPr/>
          <p:nvPr/>
        </p:nvCxnSpPr>
        <p:spPr>
          <a:xfrm xmlns:a="http://schemas.openxmlformats.org/drawingml/2006/main">
            <a:off x="457200" y="1917700"/>
            <a:ext cx="24257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4" name="Mode 1 row 1">
            <a:extLst xmlns:a="http://schemas.openxmlformats.org/drawingml/2006/main">
              <a:ext uri="{FF2B5EF4-FFF2-40B4-BE49-F238E27FC236}">
                <a16:creationId xmlns:a16="http://schemas.microsoft.com/office/drawing/2014/main" id="{425EDADE-BC0E-DAD5-3F1E-07E3DD3D7A66}"/>
              </a:ext>
            </a:extLst>
          </p:cNvPr>
          <p:cNvSpPr>
            <a:spLocks xmlns:a="http://schemas.openxmlformats.org/drawingml/2006/main" noGrp="1"/>
          </p:cNvSpPr>
          <p:nvPr/>
        </p:nvSpPr>
        <p:spPr>
          <a:xfrm xmlns:a="http://schemas.openxmlformats.org/drawingml/2006/main">
            <a:off x="457200" y="20066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Port network</a:t>
            </a:r>
          </a:p>
          <a:p xmlns:a="http://schemas.openxmlformats.org/drawingml/2006/main">
            <a:pPr>
              <a:spcAft>
                <a:spcPts val="200"/>
              </a:spcAft>
              <a:buNone/>
            </a:pPr>
            <a:r>
              <a:rPr sz="1050">
                <a:solidFill>
                  <a:schemeClr val="dk1"/>
                </a:solidFill>
                <a:latin typeface="Lato"/>
                <a:ea typeface="Lato"/>
                <a:cs typeface="Lato"/>
              </a:rPr>
              <a:t>Durban 8 liquid-bulk berths</a:t>
            </a:r>
          </a:p>
          <a:p xmlns:a="http://schemas.openxmlformats.org/drawingml/2006/main">
            <a:pPr>
              <a:spcAft>
                <a:spcPts val="200"/>
              </a:spcAft>
              <a:buNone/>
            </a:pPr>
            <a:r>
              <a:rPr sz="1050">
                <a:solidFill>
                  <a:schemeClr val="dk1"/>
                </a:solidFill>
                <a:latin typeface="Lato"/>
                <a:ea typeface="Lato"/>
                <a:cs typeface="Lato"/>
              </a:rPr>
              <a:t>Richards Bay 2; Island View hub</a:t>
            </a:r>
            <a:endParaRPr sz="1050">
              <a:solidFill>
                <a:schemeClr val="dk1"/>
              </a:solidFill>
              <a:latin typeface="Lato"/>
              <a:ea typeface="Lato"/>
              <a:cs typeface="Lato"/>
            </a:endParaRPr>
          </a:p>
        </p:txBody>
      </p:sp>
      <p:sp>
        <p:nvSpPr>
          <p:cNvPr id="95" name="Mode 1 row 1 tag">
            <a:extLst xmlns:a="http://schemas.openxmlformats.org/drawingml/2006/main">
              <a:ext uri="{FF2B5EF4-FFF2-40B4-BE49-F238E27FC236}">
                <a16:creationId xmlns:a16="http://schemas.microsoft.com/office/drawing/2014/main" id="{5D107B9B-6B47-A1DD-8000-648629ED0AC4}"/>
              </a:ext>
            </a:extLst>
          </p:cNvPr>
          <p:cNvSpPr>
            <a:spLocks xmlns:a="http://schemas.openxmlformats.org/drawingml/2006/main" noGrp="1"/>
          </p:cNvSpPr>
          <p:nvPr/>
        </p:nvSpPr>
        <p:spPr>
          <a:xfrm xmlns:a="http://schemas.openxmlformats.org/drawingml/2006/main">
            <a:off x="533400" y="27051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DR04 · TNPA Our Ports</a:t>
            </a:r>
          </a:p>
        </p:txBody>
      </p:sp>
      <p:sp>
        <p:nvSpPr>
          <p:cNvPr id="96" name="Mode 1 row 2">
            <a:extLst xmlns:a="http://schemas.openxmlformats.org/drawingml/2006/main">
              <a:ext uri="{FF2B5EF4-FFF2-40B4-BE49-F238E27FC236}">
                <a16:creationId xmlns:a16="http://schemas.microsoft.com/office/drawing/2014/main" id="{C50BD853-8724-21F0-019B-A28620DFE72F}"/>
              </a:ext>
            </a:extLst>
          </p:cNvPr>
          <p:cNvSpPr>
            <a:spLocks xmlns:a="http://schemas.openxmlformats.org/drawingml/2006/main" noGrp="1"/>
          </p:cNvSpPr>
          <p:nvPr/>
        </p:nvSpPr>
        <p:spPr>
          <a:xfrm xmlns:a="http://schemas.openxmlformats.org/drawingml/2006/main">
            <a:off x="457200" y="30734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Imports by customs office, 2025</a:t>
            </a:r>
          </a:p>
          <a:p xmlns:a="http://schemas.openxmlformats.org/drawingml/2006/main">
            <a:pPr>
              <a:spcAft>
                <a:spcPts val="200"/>
              </a:spcAft>
              <a:buNone/>
            </a:pPr>
            <a:r>
              <a:rPr sz="1050">
                <a:solidFill>
                  <a:schemeClr val="dk1"/>
                </a:solidFill>
                <a:latin typeface="Lato"/>
                <a:ea typeface="Lato"/>
                <a:cs typeface="Lato"/>
              </a:rPr>
              <a:t>Durban 13.16 of 16.70B L (79%)</a:t>
            </a:r>
          </a:p>
          <a:p xmlns:a="http://schemas.openxmlformats.org/drawingml/2006/main">
            <a:pPr>
              <a:spcAft>
                <a:spcPts val="200"/>
              </a:spcAft>
              <a:buNone/>
            </a:pPr>
            <a:r>
              <a:rPr sz="1050">
                <a:solidFill>
                  <a:schemeClr val="dk1"/>
                </a:solidFill>
                <a:latin typeface="Lato"/>
                <a:ea typeface="Lato"/>
                <a:cs typeface="Lato"/>
              </a:rPr>
              <a:t>Office is a gateway proxy</a:t>
            </a:r>
            <a:endParaRPr sz="1050">
              <a:solidFill>
                <a:schemeClr val="dk1"/>
              </a:solidFill>
              <a:latin typeface="Lato"/>
              <a:ea typeface="Lato"/>
              <a:cs typeface="Lato"/>
            </a:endParaRPr>
          </a:p>
        </p:txBody>
      </p:sp>
      <p:sp>
        <p:nvSpPr>
          <p:cNvPr id="97" name="Mode 1 row 2 tag">
            <a:extLst xmlns:a="http://schemas.openxmlformats.org/drawingml/2006/main">
              <a:ext uri="{FF2B5EF4-FFF2-40B4-BE49-F238E27FC236}">
                <a16:creationId xmlns:a16="http://schemas.microsoft.com/office/drawing/2014/main" id="{F5D96509-F6DE-F38E-FE7D-39B0028491C2}"/>
              </a:ext>
            </a:extLst>
          </p:cNvPr>
          <p:cNvSpPr>
            <a:spLocks xmlns:a="http://schemas.openxmlformats.org/drawingml/2006/main" noGrp="1"/>
          </p:cNvSpPr>
          <p:nvPr/>
        </p:nvSpPr>
        <p:spPr>
          <a:xfrm xmlns:a="http://schemas.openxmlformats.org/drawingml/2006/main">
            <a:off x="533400" y="37719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2025 · petrol, diesel · customs · DR04</a:t>
            </a:r>
          </a:p>
        </p:txBody>
      </p:sp>
      <p:sp>
        <p:nvSpPr>
          <p:cNvPr id="98" name="Mode 1 row 3">
            <a:extLst xmlns:a="http://schemas.openxmlformats.org/drawingml/2006/main">
              <a:ext uri="{FF2B5EF4-FFF2-40B4-BE49-F238E27FC236}">
                <a16:creationId xmlns:a16="http://schemas.microsoft.com/office/drawing/2014/main" id="{F741CA14-4982-E916-852C-B0A94F09B6D9}"/>
              </a:ext>
            </a:extLst>
          </p:cNvPr>
          <p:cNvSpPr>
            <a:spLocks xmlns:a="http://schemas.openxmlformats.org/drawingml/2006/main" noGrp="1"/>
          </p:cNvSpPr>
          <p:nvPr/>
        </p:nvSpPr>
        <p:spPr>
          <a:xfrm xmlns:a="http://schemas.openxmlformats.org/drawingml/2006/main">
            <a:off x="457200" y="41402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All liquids landed, 2025</a:t>
            </a:r>
          </a:p>
          <a:p xmlns:a="http://schemas.openxmlformats.org/drawingml/2006/main">
            <a:pPr>
              <a:spcAft>
                <a:spcPts val="200"/>
              </a:spcAft>
              <a:buNone/>
            </a:pPr>
            <a:r>
              <a:rPr sz="1050">
                <a:solidFill>
                  <a:schemeClr val="dk1"/>
                </a:solidFill>
                <a:latin typeface="Lato"/>
                <a:ea typeface="Lato"/>
                <a:cs typeface="Lato"/>
              </a:rPr>
              <a:t>Durban 20.7 of 31.3M t (66%)</a:t>
            </a:r>
          </a:p>
          <a:p xmlns:a="http://schemas.openxmlformats.org/drawingml/2006/main">
            <a:pPr>
              <a:spcAft>
                <a:spcPts val="200"/>
              </a:spcAft>
              <a:buNone/>
            </a:pPr>
            <a:r>
              <a:rPr sz="1050">
                <a:solidFill>
                  <a:schemeClr val="dk1"/>
                </a:solidFill>
                <a:latin typeface="Lato"/>
                <a:ea typeface="Lato"/>
                <a:cs typeface="Lato"/>
              </a:rPr>
              <a:t>Crude, fuels, gas and chemicals</a:t>
            </a:r>
            <a:endParaRPr sz="1050">
              <a:solidFill>
                <a:schemeClr val="dk1"/>
              </a:solidFill>
              <a:latin typeface="Lato"/>
              <a:ea typeface="Lato"/>
              <a:cs typeface="Lato"/>
            </a:endParaRPr>
          </a:p>
        </p:txBody>
      </p:sp>
      <p:sp>
        <p:nvSpPr>
          <p:cNvPr id="99" name="Mode 1 row 3 tag">
            <a:extLst xmlns:a="http://schemas.openxmlformats.org/drawingml/2006/main">
              <a:ext uri="{FF2B5EF4-FFF2-40B4-BE49-F238E27FC236}">
                <a16:creationId xmlns:a16="http://schemas.microsoft.com/office/drawing/2014/main" id="{835579ED-3B5A-80A1-07F8-3FA821FE943E}"/>
              </a:ext>
            </a:extLst>
          </p:cNvPr>
          <p:cNvSpPr>
            <a:spLocks xmlns:a="http://schemas.openxmlformats.org/drawingml/2006/main" noGrp="1"/>
          </p:cNvSpPr>
          <p:nvPr/>
        </p:nvSpPr>
        <p:spPr>
          <a:xfrm xmlns:a="http://schemas.openxmlformats.org/drawingml/2006/main">
            <a:off x="533400" y="48387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2025 · TNPA tonnes, all products · DR04</a:t>
            </a:r>
            <a:endParaRPr sz="900" b="1">
              <a:solidFill>
                <a:schemeClr val="accent1"/>
              </a:solidFill>
              <a:latin typeface="Lato"/>
              <a:ea typeface="Lato"/>
              <a:cs typeface="Lato"/>
            </a:endParaRPr>
          </a:p>
        </p:txBody>
      </p:sp>
      <p:sp>
        <p:nvSpPr>
          <p:cNvPr id="100" name="Mode 1 row 4">
            <a:extLst xmlns:a="http://schemas.openxmlformats.org/drawingml/2006/main">
              <a:ext uri="{FF2B5EF4-FFF2-40B4-BE49-F238E27FC236}">
                <a16:creationId xmlns:a16="http://schemas.microsoft.com/office/drawing/2014/main" id="{71AB1C0D-1125-3C5B-6DBA-4B7BD747B556}"/>
              </a:ext>
            </a:extLst>
          </p:cNvPr>
          <p:cNvSpPr>
            <a:spLocks xmlns:a="http://schemas.openxmlformats.org/drawingml/2006/main" noGrp="1"/>
          </p:cNvSpPr>
          <p:nvPr/>
        </p:nvSpPr>
        <p:spPr>
          <a:xfrm xmlns:a="http://schemas.openxmlformats.org/drawingml/2006/main">
            <a:off x="457200" y="52070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Durban role</a:t>
            </a:r>
          </a:p>
          <a:p xmlns:a="http://schemas.openxmlformats.org/drawingml/2006/main">
            <a:pPr>
              <a:spcAft>
                <a:spcPts val="200"/>
              </a:spcAft>
              <a:buNone/>
            </a:pPr>
            <a:r>
              <a:rPr sz="1050">
                <a:solidFill>
                  <a:schemeClr val="dk1"/>
                </a:solidFill>
                <a:latin typeface="Lato"/>
                <a:ea typeface="Lato"/>
                <a:cs typeface="Lato"/>
              </a:rPr>
              <a:t>Ship receipt; dispatch mainly road</a:t>
            </a:r>
          </a:p>
          <a:p xmlns:a="http://schemas.openxmlformats.org/drawingml/2006/main">
            <a:pPr>
              <a:spcAft>
                <a:spcPts val="200"/>
              </a:spcAft>
              <a:buNone/>
            </a:pPr>
            <a:r>
              <a:rPr sz="1050">
                <a:solidFill>
                  <a:schemeClr val="dk1"/>
                </a:solidFill>
                <a:latin typeface="Lato"/>
                <a:ea typeface="Lato"/>
                <a:cs typeface="Lato"/>
              </a:rPr>
              <a:t>Trunk-line injection to confirm</a:t>
            </a:r>
            <a:endParaRPr sz="1050">
              <a:solidFill>
                <a:schemeClr val="dk1"/>
              </a:solidFill>
              <a:latin typeface="Lato"/>
              <a:ea typeface="Lato"/>
              <a:cs typeface="Lato"/>
            </a:endParaRPr>
          </a:p>
        </p:txBody>
      </p:sp>
      <p:sp>
        <p:nvSpPr>
          <p:cNvPr id="101" name="Mode 1 row 4 tag">
            <a:extLst xmlns:a="http://schemas.openxmlformats.org/drawingml/2006/main">
              <a:ext uri="{FF2B5EF4-FFF2-40B4-BE49-F238E27FC236}">
                <a16:creationId xmlns:a16="http://schemas.microsoft.com/office/drawing/2014/main" id="{5F7D3476-5A45-DE82-327E-0EC546511CC4}"/>
              </a:ext>
            </a:extLst>
          </p:cNvPr>
          <p:cNvSpPr>
            <a:spLocks xmlns:a="http://schemas.openxmlformats.org/drawingml/2006/main" noGrp="1"/>
          </p:cNvSpPr>
          <p:nvPr/>
        </p:nvSpPr>
        <p:spPr>
          <a:xfrm xmlns:a="http://schemas.openxmlformats.org/drawingml/2006/main">
            <a:off x="533400" y="59055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DR04 · Vopak NERSA filing</a:t>
            </a:r>
          </a:p>
        </p:txBody>
      </p:sp>
      <p:sp>
        <p:nvSpPr>
          <p:cNvPr id="102" name="Mode panel 2">
            <a:extLst xmlns:a="http://schemas.openxmlformats.org/drawingml/2006/main">
              <a:ext uri="{FF2B5EF4-FFF2-40B4-BE49-F238E27FC236}">
                <a16:creationId xmlns:a16="http://schemas.microsoft.com/office/drawing/2014/main" id="{96AA7104-E789-7725-C915-02BACEDBAE28}"/>
              </a:ext>
            </a:extLst>
          </p:cNvPr>
          <p:cNvSpPr>
            <a:spLocks xmlns:a="http://schemas.openxmlformats.org/drawingml/2006/main" noGrp="1"/>
          </p:cNvSpPr>
          <p:nvPr/>
        </p:nvSpPr>
        <p:spPr>
          <a:xfrm xmlns:a="http://schemas.openxmlformats.org/drawingml/2006/main">
            <a:off x="3098800" y="1549400"/>
            <a:ext cx="26289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3" name="Mode heading 2">
            <a:extLst xmlns:a="http://schemas.openxmlformats.org/drawingml/2006/main">
              <a:ext uri="{FF2B5EF4-FFF2-40B4-BE49-F238E27FC236}">
                <a16:creationId xmlns:a16="http://schemas.microsoft.com/office/drawing/2014/main" id="{199524B9-04A2-C6B0-4EA5-0053843ABB0A}"/>
              </a:ext>
            </a:extLst>
          </p:cNvPr>
          <p:cNvSpPr>
            <a:spLocks xmlns:a="http://schemas.openxmlformats.org/drawingml/2006/main" noGrp="1"/>
          </p:cNvSpPr>
          <p:nvPr/>
        </p:nvSpPr>
        <p:spPr>
          <a:xfrm xmlns:a="http://schemas.openxmlformats.org/drawingml/2006/main">
            <a:off x="3200400" y="1638300"/>
            <a:ext cx="24257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2  PIPELINES</a:t>
            </a:r>
          </a:p>
        </p:txBody>
      </p:sp>
      <p:cxnSp>
        <p:nvCxnSpPr>
          <p:cNvPr id="156" name="Column heading rule"/>
          <p:cNvCxnSpPr/>
          <p:nvPr/>
        </p:nvCxnSpPr>
        <p:spPr>
          <a:xfrm xmlns:a="http://schemas.openxmlformats.org/drawingml/2006/main">
            <a:off x="3200400" y="1917700"/>
            <a:ext cx="24257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5" name="Mode 2 row 1">
            <a:extLst xmlns:a="http://schemas.openxmlformats.org/drawingml/2006/main">
              <a:ext uri="{FF2B5EF4-FFF2-40B4-BE49-F238E27FC236}">
                <a16:creationId xmlns:a16="http://schemas.microsoft.com/office/drawing/2014/main" id="{6E8D1EF6-A58D-44FB-5FB9-022E6059F864}"/>
              </a:ext>
            </a:extLst>
          </p:cNvPr>
          <p:cNvSpPr>
            <a:spLocks xmlns:a="http://schemas.openxmlformats.org/drawingml/2006/main" noGrp="1"/>
          </p:cNvSpPr>
          <p:nvPr/>
        </p:nvSpPr>
        <p:spPr>
          <a:xfrm xmlns:a="http://schemas.openxmlformats.org/drawingml/2006/main">
            <a:off x="3200400" y="20066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Pipeline network</a:t>
            </a:r>
          </a:p>
          <a:p xmlns:a="http://schemas.openxmlformats.org/drawingml/2006/main">
            <a:pPr>
              <a:spcAft>
                <a:spcPts val="200"/>
              </a:spcAft>
              <a:buNone/>
            </a:pPr>
            <a:r>
              <a:rPr sz="1050">
                <a:solidFill>
                  <a:schemeClr val="dk1"/>
                </a:solidFill>
                <a:latin typeface="Lato"/>
                <a:ea typeface="Lato"/>
                <a:cs typeface="Lato"/>
              </a:rPr>
              <a:t>NMPP Durban to Jameson Park</a:t>
            </a:r>
          </a:p>
          <a:p xmlns:a="http://schemas.openxmlformats.org/drawingml/2006/main">
            <a:pPr>
              <a:spcAft>
                <a:spcPts val="200"/>
              </a:spcAft>
              <a:buNone/>
            </a:pPr>
            <a:r>
              <a:rPr sz="1050">
                <a:solidFill>
                  <a:schemeClr val="dk1"/>
                </a:solidFill>
                <a:latin typeface="Lato"/>
                <a:ea typeface="Lato"/>
                <a:cs typeface="Lato"/>
              </a:rPr>
              <a:t>(TM2, 180M L); old DJP retiring</a:t>
            </a:r>
            <a:endParaRPr sz="1050">
              <a:solidFill>
                <a:schemeClr val="dk1"/>
              </a:solidFill>
              <a:latin typeface="Lato"/>
              <a:ea typeface="Lato"/>
              <a:cs typeface="Lato"/>
            </a:endParaRPr>
          </a:p>
        </p:txBody>
      </p:sp>
      <p:sp>
        <p:nvSpPr>
          <p:cNvPr id="106" name="Mode 2 row 1 tag">
            <a:extLst xmlns:a="http://schemas.openxmlformats.org/drawingml/2006/main">
              <a:ext uri="{FF2B5EF4-FFF2-40B4-BE49-F238E27FC236}">
                <a16:creationId xmlns:a16="http://schemas.microsoft.com/office/drawing/2014/main" id="{FEACB5E6-6863-862F-791C-FBD4E4498187}"/>
              </a:ext>
            </a:extLst>
          </p:cNvPr>
          <p:cNvSpPr>
            <a:spLocks xmlns:a="http://schemas.openxmlformats.org/drawingml/2006/main" noGrp="1"/>
          </p:cNvSpPr>
          <p:nvPr/>
        </p:nvSpPr>
        <p:spPr>
          <a:xfrm xmlns:a="http://schemas.openxmlformats.org/drawingml/2006/main">
            <a:off x="3276600" y="27051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DR04 · Transnet Pipelines 2020</a:t>
            </a:r>
          </a:p>
        </p:txBody>
      </p:sp>
      <p:sp>
        <p:nvSpPr>
          <p:cNvPr id="107" name="Mode 2 row 2">
            <a:extLst xmlns:a="http://schemas.openxmlformats.org/drawingml/2006/main">
              <a:ext uri="{FF2B5EF4-FFF2-40B4-BE49-F238E27FC236}">
                <a16:creationId xmlns:a16="http://schemas.microsoft.com/office/drawing/2014/main" id="{7284871D-8B0C-A75D-7E68-A83D14CCD1B4}"/>
              </a:ext>
            </a:extLst>
          </p:cNvPr>
          <p:cNvSpPr>
            <a:spLocks xmlns:a="http://schemas.openxmlformats.org/drawingml/2006/main" noGrp="1"/>
          </p:cNvSpPr>
          <p:nvPr/>
        </p:nvSpPr>
        <p:spPr>
          <a:xfrm xmlns:a="http://schemas.openxmlformats.org/drawingml/2006/main">
            <a:off x="3200400" y="30734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Whole pipeline system, FY25</a:t>
            </a:r>
          </a:p>
          <a:p xmlns:a="http://schemas.openxmlformats.org/drawingml/2006/main">
            <a:pPr>
              <a:spcAft>
                <a:spcPts val="200"/>
              </a:spcAft>
              <a:buNone/>
            </a:pPr>
            <a:r>
              <a:rPr sz="1050">
                <a:solidFill>
                  <a:schemeClr val="dk1"/>
                </a:solidFill>
                <a:latin typeface="Lato"/>
                <a:ea typeface="Lato"/>
                <a:cs typeface="Lato"/>
              </a:rPr>
              <a:t>Petroleum total 13.372B L</a:t>
            </a:r>
          </a:p>
          <a:p xmlns:a="http://schemas.openxmlformats.org/drawingml/2006/main">
            <a:pPr>
              <a:spcAft>
                <a:spcPts val="200"/>
              </a:spcAft>
              <a:buNone/>
            </a:pPr>
            <a:r>
              <a:rPr sz="1050">
                <a:solidFill>
                  <a:schemeClr val="dk1"/>
                </a:solidFill>
                <a:latin typeface="Lato"/>
                <a:ea typeface="Lato"/>
                <a:cs typeface="Lato"/>
              </a:rPr>
              <a:t>Refined petrol/diesel 8.619B L</a:t>
            </a:r>
            <a:endParaRPr sz="1050">
              <a:solidFill>
                <a:schemeClr val="dk1"/>
              </a:solidFill>
              <a:latin typeface="Lato"/>
              <a:ea typeface="Lato"/>
              <a:cs typeface="Lato"/>
            </a:endParaRPr>
          </a:p>
        </p:txBody>
      </p:sp>
      <p:sp>
        <p:nvSpPr>
          <p:cNvPr id="108" name="Mode 2 row 2 tag">
            <a:extLst xmlns:a="http://schemas.openxmlformats.org/drawingml/2006/main">
              <a:ext uri="{FF2B5EF4-FFF2-40B4-BE49-F238E27FC236}">
                <a16:creationId xmlns:a16="http://schemas.microsoft.com/office/drawing/2014/main" id="{CBB045CE-CFFA-2143-E907-A17C37CEF49D}"/>
              </a:ext>
            </a:extLst>
          </p:cNvPr>
          <p:cNvSpPr>
            <a:spLocks xmlns:a="http://schemas.openxmlformats.org/drawingml/2006/main" noGrp="1"/>
          </p:cNvSpPr>
          <p:nvPr/>
        </p:nvSpPr>
        <p:spPr>
          <a:xfrm xmlns:a="http://schemas.openxmlformats.org/drawingml/2006/main">
            <a:off x="3276600" y="37719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TPL 2025 p8; different from MPP trunk</a:t>
            </a:r>
            <a:endParaRPr sz="900" b="1">
              <a:solidFill>
                <a:schemeClr val="accent1"/>
              </a:solidFill>
              <a:latin typeface="Lato"/>
              <a:ea typeface="Lato"/>
              <a:cs typeface="Lato"/>
            </a:endParaRPr>
          </a:p>
        </p:txBody>
      </p:sp>
      <p:sp>
        <p:nvSpPr>
          <p:cNvPr id="109" name="Mode 2 row 3">
            <a:extLst xmlns:a="http://schemas.openxmlformats.org/drawingml/2006/main">
              <a:ext uri="{FF2B5EF4-FFF2-40B4-BE49-F238E27FC236}">
                <a16:creationId xmlns:a16="http://schemas.microsoft.com/office/drawing/2014/main" id="{E7262ADF-7B2F-6B15-00EA-A44D16052F02}"/>
              </a:ext>
            </a:extLst>
          </p:cNvPr>
          <p:cNvSpPr>
            <a:spLocks xmlns:a="http://schemas.openxmlformats.org/drawingml/2006/main" noGrp="1"/>
          </p:cNvSpPr>
          <p:nvPr/>
        </p:nvSpPr>
        <p:spPr>
          <a:xfrm xmlns:a="http://schemas.openxmlformats.org/drawingml/2006/main">
            <a:off x="3200400" y="41402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MPP usage / capacity, FY25</a:t>
            </a:r>
          </a:p>
          <a:p xmlns:a="http://schemas.openxmlformats.org/drawingml/2006/main">
            <a:pPr>
              <a:spcAft>
                <a:spcPts val="200"/>
              </a:spcAft>
              <a:buNone/>
            </a:pPr>
            <a:r>
              <a:rPr sz="1050">
                <a:solidFill>
                  <a:schemeClr val="dk1"/>
                </a:solidFill>
                <a:latin typeface="Lato"/>
                <a:ea typeface="Lato"/>
                <a:cs typeface="Lato"/>
              </a:rPr>
              <a:t>105 / 148ML per week (70.9%)</a:t>
            </a:r>
          </a:p>
          <a:p xmlns:a="http://schemas.openxmlformats.org/drawingml/2006/main">
            <a:pPr>
              <a:spcAft>
                <a:spcPts val="200"/>
              </a:spcAft>
              <a:buNone/>
            </a:pPr>
            <a:r>
              <a:rPr sz="1050">
                <a:solidFill>
                  <a:schemeClr val="dk1"/>
                </a:solidFill>
                <a:latin typeface="Lato"/>
                <a:ea typeface="Lato"/>
                <a:cs typeface="Lato"/>
              </a:rPr>
              <a:t>Annualised 5.46 / 7.70B L</a:t>
            </a:r>
            <a:endParaRPr sz="1050">
              <a:solidFill>
                <a:schemeClr val="dk1"/>
              </a:solidFill>
              <a:latin typeface="Lato"/>
              <a:ea typeface="Lato"/>
              <a:cs typeface="Lato"/>
            </a:endParaRPr>
          </a:p>
        </p:txBody>
      </p:sp>
      <p:sp>
        <p:nvSpPr>
          <p:cNvPr id="110" name="Mode 2 row 3 tag">
            <a:extLst xmlns:a="http://schemas.openxmlformats.org/drawingml/2006/main">
              <a:ext uri="{FF2B5EF4-FFF2-40B4-BE49-F238E27FC236}">
                <a16:creationId xmlns:a16="http://schemas.microsoft.com/office/drawing/2014/main" id="{274EB244-96F0-2EAD-31F6-B6E738CE0B57}"/>
              </a:ext>
            </a:extLst>
          </p:cNvPr>
          <p:cNvSpPr>
            <a:spLocks xmlns:a="http://schemas.openxmlformats.org/drawingml/2006/main" noGrp="1"/>
          </p:cNvSpPr>
          <p:nvPr/>
        </p:nvSpPr>
        <p:spPr>
          <a:xfrm xmlns:a="http://schemas.openxmlformats.org/drawingml/2006/main">
            <a:off x="3276600" y="48387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TPL 2025 p8; shared, not Vopak rights</a:t>
            </a:r>
            <a:endParaRPr sz="900" b="1">
              <a:solidFill>
                <a:schemeClr val="accent1"/>
              </a:solidFill>
              <a:latin typeface="Lato"/>
              <a:ea typeface="Lato"/>
              <a:cs typeface="Lato"/>
            </a:endParaRPr>
          </a:p>
        </p:txBody>
      </p:sp>
      <p:sp>
        <p:nvSpPr>
          <p:cNvPr id="111" name="Mode 2 row 4">
            <a:extLst xmlns:a="http://schemas.openxmlformats.org/drawingml/2006/main">
              <a:ext uri="{FF2B5EF4-FFF2-40B4-BE49-F238E27FC236}">
                <a16:creationId xmlns:a16="http://schemas.microsoft.com/office/drawing/2014/main" id="{888EEA20-8449-7289-060A-4A7F8F06C70B}"/>
              </a:ext>
            </a:extLst>
          </p:cNvPr>
          <p:cNvSpPr>
            <a:spLocks xmlns:a="http://schemas.openxmlformats.org/drawingml/2006/main" noGrp="1"/>
          </p:cNvSpPr>
          <p:nvPr/>
        </p:nvSpPr>
        <p:spPr>
          <a:xfrm xmlns:a="http://schemas.openxmlformats.org/drawingml/2006/main">
            <a:off x="3200400" y="52070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Lesedi role</a:t>
            </a:r>
          </a:p>
          <a:p xmlns:a="http://schemas.openxmlformats.org/drawingml/2006/main">
            <a:pPr>
              <a:spcAft>
                <a:spcPts val="200"/>
              </a:spcAft>
              <a:buNone/>
            </a:pPr>
            <a:r>
              <a:rPr sz="1050">
                <a:solidFill>
                  <a:schemeClr val="dk1"/>
                </a:solidFill>
                <a:latin typeface="Lato"/>
                <a:ea typeface="Lato"/>
                <a:cs typeface="Lato"/>
              </a:rPr>
              <a:t>4 pipeline intakes, 8 road bays</a:t>
            </a:r>
          </a:p>
          <a:p xmlns:a="http://schemas.openxmlformats.org/drawingml/2006/main">
            <a:pPr>
              <a:spcAft>
                <a:spcPts val="200"/>
              </a:spcAft>
              <a:buNone/>
            </a:pPr>
            <a:r>
              <a:rPr sz="1050">
                <a:solidFill>
                  <a:schemeClr val="dk1"/>
                </a:solidFill>
                <a:latin typeface="Lato"/>
                <a:ea typeface="Lato"/>
                <a:cs typeface="Lato"/>
              </a:rPr>
              <a:t>Customers ship via the trunk line</a:t>
            </a:r>
            <a:endParaRPr sz="1050">
              <a:solidFill>
                <a:schemeClr val="dk1"/>
              </a:solidFill>
              <a:latin typeface="Lato"/>
              <a:ea typeface="Lato"/>
              <a:cs typeface="Lato"/>
            </a:endParaRPr>
          </a:p>
        </p:txBody>
      </p:sp>
      <p:sp>
        <p:nvSpPr>
          <p:cNvPr id="112" name="Mode 2 row 4 tag">
            <a:extLst xmlns:a="http://schemas.openxmlformats.org/drawingml/2006/main">
              <a:ext uri="{FF2B5EF4-FFF2-40B4-BE49-F238E27FC236}">
                <a16:creationId xmlns:a16="http://schemas.microsoft.com/office/drawing/2014/main" id="{1EFE5112-44F1-FA8D-3855-8D7D041B5588}"/>
              </a:ext>
            </a:extLst>
          </p:cNvPr>
          <p:cNvSpPr>
            <a:spLocks xmlns:a="http://schemas.openxmlformats.org/drawingml/2006/main" noGrp="1"/>
          </p:cNvSpPr>
          <p:nvPr/>
        </p:nvSpPr>
        <p:spPr>
          <a:xfrm xmlns:a="http://schemas.openxmlformats.org/drawingml/2006/main">
            <a:off x="3276600" y="59055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DR04 · NERSA, Feb 2026</a:t>
            </a:r>
          </a:p>
        </p:txBody>
      </p:sp>
      <p:sp>
        <p:nvSpPr>
          <p:cNvPr id="113" name="Mode panel 3">
            <a:extLst xmlns:a="http://schemas.openxmlformats.org/drawingml/2006/main">
              <a:ext uri="{FF2B5EF4-FFF2-40B4-BE49-F238E27FC236}">
                <a16:creationId xmlns:a16="http://schemas.microsoft.com/office/drawing/2014/main" id="{D8665F9C-6187-DE41-03F0-41235AEAF57F}"/>
              </a:ext>
            </a:extLst>
          </p:cNvPr>
          <p:cNvSpPr>
            <a:spLocks xmlns:a="http://schemas.openxmlformats.org/drawingml/2006/main" noGrp="1"/>
          </p:cNvSpPr>
          <p:nvPr/>
        </p:nvSpPr>
        <p:spPr>
          <a:xfrm xmlns:a="http://schemas.openxmlformats.org/drawingml/2006/main">
            <a:off x="5842000" y="1549400"/>
            <a:ext cx="26289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4" name="Mode heading 3">
            <a:extLst xmlns:a="http://schemas.openxmlformats.org/drawingml/2006/main">
              <a:ext uri="{FF2B5EF4-FFF2-40B4-BE49-F238E27FC236}">
                <a16:creationId xmlns:a16="http://schemas.microsoft.com/office/drawing/2014/main" id="{A7BDBE30-A0C4-55F2-BE65-E46433282DEF}"/>
              </a:ext>
            </a:extLst>
          </p:cNvPr>
          <p:cNvSpPr>
            <a:spLocks xmlns:a="http://schemas.openxmlformats.org/drawingml/2006/main" noGrp="1"/>
          </p:cNvSpPr>
          <p:nvPr/>
        </p:nvSpPr>
        <p:spPr>
          <a:xfrm xmlns:a="http://schemas.openxmlformats.org/drawingml/2006/main">
            <a:off x="5943600" y="1638300"/>
            <a:ext cx="24257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3  RAIL</a:t>
            </a:r>
          </a:p>
        </p:txBody>
      </p:sp>
      <p:cxnSp>
        <p:nvCxnSpPr>
          <p:cNvPr id="167" name="Column heading rule"/>
          <p:cNvCxnSpPr/>
          <p:nvPr/>
        </p:nvCxnSpPr>
        <p:spPr>
          <a:xfrm xmlns:a="http://schemas.openxmlformats.org/drawingml/2006/main">
            <a:off x="5943600" y="1917700"/>
            <a:ext cx="24257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16" name="Mode 3 row 1">
            <a:extLst xmlns:a="http://schemas.openxmlformats.org/drawingml/2006/main">
              <a:ext uri="{FF2B5EF4-FFF2-40B4-BE49-F238E27FC236}">
                <a16:creationId xmlns:a16="http://schemas.microsoft.com/office/drawing/2014/main" id="{534C474A-C3A1-EEC5-78C2-84B7B6EF3274}"/>
              </a:ext>
            </a:extLst>
          </p:cNvPr>
          <p:cNvSpPr>
            <a:spLocks xmlns:a="http://schemas.openxmlformats.org/drawingml/2006/main" noGrp="1"/>
          </p:cNvSpPr>
          <p:nvPr/>
        </p:nvSpPr>
        <p:spPr>
          <a:xfrm xmlns:a="http://schemas.openxmlformats.org/drawingml/2006/main">
            <a:off x="5943600" y="20066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Rail network</a:t>
            </a:r>
          </a:p>
          <a:p xmlns:a="http://schemas.openxmlformats.org/drawingml/2006/main">
            <a:pPr>
              <a:spcAft>
                <a:spcPts val="200"/>
              </a:spcAft>
              <a:buNone/>
            </a:pPr>
            <a:r>
              <a:rPr sz="1050">
                <a:solidFill>
                  <a:schemeClr val="dk1"/>
                </a:solidFill>
                <a:latin typeface="Lato"/>
                <a:ea typeface="Lato"/>
                <a:cs typeface="Lato"/>
              </a:rPr>
              <a:t>Island View rail gantries</a:t>
            </a:r>
          </a:p>
          <a:p xmlns:a="http://schemas.openxmlformats.org/drawingml/2006/main">
            <a:pPr>
              <a:spcAft>
                <a:spcPts val="200"/>
              </a:spcAft>
              <a:buNone/>
            </a:pPr>
            <a:r>
              <a:rPr sz="1050">
                <a:solidFill>
                  <a:schemeClr val="dk1"/>
                </a:solidFill>
                <a:latin typeface="Lato"/>
                <a:ea typeface="Lato"/>
                <a:cs typeface="Lato"/>
              </a:rPr>
              <a:t>Durban and Matola to Gauteng</a:t>
            </a:r>
            <a:endParaRPr sz="1050">
              <a:solidFill>
                <a:schemeClr val="dk1"/>
              </a:solidFill>
              <a:latin typeface="Lato"/>
              <a:ea typeface="Lato"/>
              <a:cs typeface="Lato"/>
            </a:endParaRPr>
          </a:p>
        </p:txBody>
      </p:sp>
      <p:sp>
        <p:nvSpPr>
          <p:cNvPr id="117" name="Mode 3 row 1 tag">
            <a:extLst xmlns:a="http://schemas.openxmlformats.org/drawingml/2006/main">
              <a:ext uri="{FF2B5EF4-FFF2-40B4-BE49-F238E27FC236}">
                <a16:creationId xmlns:a16="http://schemas.microsoft.com/office/drawing/2014/main" id="{175247A4-0A75-3CE5-44EE-B449F7A3ADBD}"/>
              </a:ext>
            </a:extLst>
          </p:cNvPr>
          <p:cNvSpPr>
            <a:spLocks xmlns:a="http://schemas.openxmlformats.org/drawingml/2006/main" noGrp="1"/>
          </p:cNvSpPr>
          <p:nvPr/>
        </p:nvSpPr>
        <p:spPr>
          <a:xfrm xmlns:a="http://schemas.openxmlformats.org/drawingml/2006/main">
            <a:off x="6019800" y="27051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Pack research · NERSA 2026</a:t>
            </a:r>
          </a:p>
        </p:txBody>
      </p:sp>
      <p:sp>
        <p:nvSpPr>
          <p:cNvPr id="118" name="Mode 3 row 2">
            <a:extLst xmlns:a="http://schemas.openxmlformats.org/drawingml/2006/main">
              <a:ext uri="{FF2B5EF4-FFF2-40B4-BE49-F238E27FC236}">
                <a16:creationId xmlns:a16="http://schemas.microsoft.com/office/drawing/2014/main" id="{9108293C-83A1-5E57-4B22-B5463047062D}"/>
              </a:ext>
            </a:extLst>
          </p:cNvPr>
          <p:cNvSpPr>
            <a:spLocks xmlns:a="http://schemas.openxmlformats.org/drawingml/2006/main" noGrp="1"/>
          </p:cNvSpPr>
          <p:nvPr/>
        </p:nvSpPr>
        <p:spPr>
          <a:xfrm xmlns:a="http://schemas.openxmlformats.org/drawingml/2006/main">
            <a:off x="5943600" y="30734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Rail throughput</a:t>
            </a:r>
          </a:p>
          <a:p xmlns:a="http://schemas.openxmlformats.org/drawingml/2006/main">
            <a:pPr>
              <a:spcAft>
                <a:spcPts val="200"/>
              </a:spcAft>
              <a:buNone/>
            </a:pPr>
            <a:r>
              <a:rPr sz="1050">
                <a:solidFill>
                  <a:schemeClr val="dk1"/>
                </a:solidFill>
                <a:latin typeface="Lato"/>
                <a:ea typeface="Lato"/>
                <a:cs typeface="Lato"/>
              </a:rPr>
              <a:t>Durban-Gauteng fuel: not published</a:t>
            </a:r>
          </a:p>
          <a:p xmlns:a="http://schemas.openxmlformats.org/drawingml/2006/main">
            <a:pPr>
              <a:spcAft>
                <a:spcPts val="200"/>
              </a:spcAft>
              <a:buNone/>
            </a:pPr>
            <a:r>
              <a:rPr sz="1050">
                <a:solidFill>
                  <a:schemeClr val="dk1"/>
                </a:solidFill>
                <a:latin typeface="Lato"/>
                <a:ea typeface="Lato"/>
                <a:cs typeface="Lato"/>
              </a:rPr>
              <a:t>Airport jet by rail: 37% to 5%</a:t>
            </a:r>
            <a:endParaRPr sz="1050">
              <a:solidFill>
                <a:schemeClr val="dk1"/>
              </a:solidFill>
              <a:latin typeface="Lato"/>
              <a:ea typeface="Lato"/>
              <a:cs typeface="Lato"/>
            </a:endParaRPr>
          </a:p>
        </p:txBody>
      </p:sp>
      <p:sp>
        <p:nvSpPr>
          <p:cNvPr id="119" name="Mode 3 row 2 tag">
            <a:extLst xmlns:a="http://schemas.openxmlformats.org/drawingml/2006/main">
              <a:ext uri="{FF2B5EF4-FFF2-40B4-BE49-F238E27FC236}">
                <a16:creationId xmlns:a16="http://schemas.microsoft.com/office/drawing/2014/main" id="{3A9158F5-FD46-185E-6C83-8C0D88F1CA0C}"/>
              </a:ext>
            </a:extLst>
          </p:cNvPr>
          <p:cNvSpPr>
            <a:spLocks xmlns:a="http://schemas.openxmlformats.org/drawingml/2006/main" noGrp="1"/>
          </p:cNvSpPr>
          <p:nvPr/>
        </p:nvSpPr>
        <p:spPr>
          <a:xfrm xmlns:a="http://schemas.openxmlformats.org/drawingml/2006/main">
            <a:off x="6019800" y="37719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Transnet; jet FY18-FY22</a:t>
            </a:r>
          </a:p>
        </p:txBody>
      </p:sp>
      <p:sp>
        <p:nvSpPr>
          <p:cNvPr id="120" name="Mode 3 row 3">
            <a:extLst xmlns:a="http://schemas.openxmlformats.org/drawingml/2006/main">
              <a:ext uri="{FF2B5EF4-FFF2-40B4-BE49-F238E27FC236}">
                <a16:creationId xmlns:a16="http://schemas.microsoft.com/office/drawing/2014/main" id="{719BB9A3-E70B-47A6-7809-1ED6E212F85E}"/>
              </a:ext>
            </a:extLst>
          </p:cNvPr>
          <p:cNvSpPr>
            <a:spLocks xmlns:a="http://schemas.openxmlformats.org/drawingml/2006/main" noGrp="1"/>
          </p:cNvSpPr>
          <p:nvPr/>
        </p:nvSpPr>
        <p:spPr>
          <a:xfrm xmlns:a="http://schemas.openxmlformats.org/drawingml/2006/main">
            <a:off x="5943600" y="41402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Capacity and reliability</a:t>
            </a:r>
          </a:p>
          <a:p xmlns:a="http://schemas.openxmlformats.org/drawingml/2006/main">
            <a:pPr>
              <a:spcAft>
                <a:spcPts val="200"/>
              </a:spcAft>
              <a:buNone/>
            </a:pPr>
            <a:r>
              <a:rPr sz="1050">
                <a:solidFill>
                  <a:schemeClr val="dk1"/>
                </a:solidFill>
                <a:latin typeface="Lato"/>
                <a:ea typeface="Lato"/>
                <a:cs typeface="Lato"/>
              </a:rPr>
              <a:t>Wagon turnaround 33 days</a:t>
            </a:r>
          </a:p>
          <a:p xmlns:a="http://schemas.openxmlformats.org/drawingml/2006/main">
            <a:pPr>
              <a:spcAft>
                <a:spcPts val="200"/>
              </a:spcAft>
              <a:buNone/>
            </a:pPr>
            <a:r>
              <a:rPr sz="1050">
                <a:solidFill>
                  <a:schemeClr val="dk1"/>
                </a:solidFill>
                <a:latin typeface="Lato"/>
                <a:ea typeface="Lato"/>
                <a:cs typeface="Lato"/>
              </a:rPr>
              <a:t>against 14-day design</a:t>
            </a:r>
            <a:endParaRPr sz="1050">
              <a:solidFill>
                <a:schemeClr val="dk1"/>
              </a:solidFill>
              <a:latin typeface="Lato"/>
              <a:ea typeface="Lato"/>
              <a:cs typeface="Lato"/>
            </a:endParaRPr>
          </a:p>
        </p:txBody>
      </p:sp>
      <p:sp>
        <p:nvSpPr>
          <p:cNvPr id="121" name="Mode 3 row 3 tag">
            <a:extLst xmlns:a="http://schemas.openxmlformats.org/drawingml/2006/main">
              <a:ext uri="{FF2B5EF4-FFF2-40B4-BE49-F238E27FC236}">
                <a16:creationId xmlns:a16="http://schemas.microsoft.com/office/drawing/2014/main" id="{18F2FF32-8691-83A5-62D9-2C903004533F}"/>
              </a:ext>
            </a:extLst>
          </p:cNvPr>
          <p:cNvSpPr>
            <a:spLocks xmlns:a="http://schemas.openxmlformats.org/drawingml/2006/main" noGrp="1"/>
          </p:cNvSpPr>
          <p:nvPr/>
        </p:nvSpPr>
        <p:spPr>
          <a:xfrm xmlns:a="http://schemas.openxmlformats.org/drawingml/2006/main">
            <a:off x="6019800" y="48387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Pack research · industry, via NERSA</a:t>
            </a:r>
            <a:endParaRPr sz="900" b="1">
              <a:solidFill>
                <a:schemeClr val="accent1"/>
              </a:solidFill>
              <a:latin typeface="Lato"/>
              <a:ea typeface="Lato"/>
              <a:cs typeface="Lato"/>
            </a:endParaRPr>
          </a:p>
        </p:txBody>
      </p:sp>
      <p:sp>
        <p:nvSpPr>
          <p:cNvPr id="122" name="Mode 3 row 4">
            <a:extLst xmlns:a="http://schemas.openxmlformats.org/drawingml/2006/main">
              <a:ext uri="{FF2B5EF4-FFF2-40B4-BE49-F238E27FC236}">
                <a16:creationId xmlns:a16="http://schemas.microsoft.com/office/drawing/2014/main" id="{87303674-DD7C-54A8-60C8-ADAF73AA1BD5}"/>
              </a:ext>
            </a:extLst>
          </p:cNvPr>
          <p:cNvSpPr>
            <a:spLocks xmlns:a="http://schemas.openxmlformats.org/drawingml/2006/main" noGrp="1"/>
          </p:cNvSpPr>
          <p:nvPr/>
        </p:nvSpPr>
        <p:spPr>
          <a:xfrm xmlns:a="http://schemas.openxmlformats.org/drawingml/2006/main">
            <a:off x="5943600" y="52070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Relevance</a:t>
            </a:r>
          </a:p>
          <a:p xmlns:a="http://schemas.openxmlformats.org/drawingml/2006/main">
            <a:pPr>
              <a:spcAft>
                <a:spcPts val="200"/>
              </a:spcAft>
              <a:buNone/>
            </a:pPr>
            <a:r>
              <a:rPr sz="1050">
                <a:solidFill>
                  <a:schemeClr val="dk1"/>
                </a:solidFill>
                <a:latin typeface="Lato"/>
                <a:ea typeface="Lato"/>
                <a:cs typeface="Lato"/>
              </a:rPr>
              <a:t>Airport jet shifted to pipeline,</a:t>
            </a:r>
          </a:p>
          <a:p xmlns:a="http://schemas.openxmlformats.org/drawingml/2006/main">
            <a:pPr>
              <a:spcAft>
                <a:spcPts val="200"/>
              </a:spcAft>
              <a:buNone/>
            </a:pPr>
            <a:r>
              <a:rPr sz="1050">
                <a:solidFill>
                  <a:schemeClr val="dk1"/>
                </a:solidFill>
                <a:latin typeface="Lato"/>
                <a:ea typeface="Lato"/>
                <a:cs typeface="Lato"/>
              </a:rPr>
              <a:t>rail to pipeline 30:70 to ~10:90</a:t>
            </a:r>
            <a:endParaRPr sz="1050">
              <a:solidFill>
                <a:schemeClr val="dk1"/>
              </a:solidFill>
              <a:latin typeface="Lato"/>
              <a:ea typeface="Lato"/>
              <a:cs typeface="Lato"/>
            </a:endParaRPr>
          </a:p>
        </p:txBody>
      </p:sp>
      <p:sp>
        <p:nvSpPr>
          <p:cNvPr id="123" name="Mode 3 row 4 tag">
            <a:extLst xmlns:a="http://schemas.openxmlformats.org/drawingml/2006/main">
              <a:ext uri="{FF2B5EF4-FFF2-40B4-BE49-F238E27FC236}">
                <a16:creationId xmlns:a16="http://schemas.microsoft.com/office/drawing/2014/main" id="{CD9C6C6B-D067-1310-FC5E-20356B8A4FC1}"/>
              </a:ext>
            </a:extLst>
          </p:cNvPr>
          <p:cNvSpPr>
            <a:spLocks xmlns:a="http://schemas.openxmlformats.org/drawingml/2006/main" noGrp="1"/>
          </p:cNvSpPr>
          <p:nvPr/>
        </p:nvSpPr>
        <p:spPr>
          <a:xfrm xmlns:a="http://schemas.openxmlformats.org/drawingml/2006/main">
            <a:off x="6019800" y="59055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Pack research · NERSA 2026</a:t>
            </a:r>
          </a:p>
        </p:txBody>
      </p:sp>
      <p:sp>
        <p:nvSpPr>
          <p:cNvPr id="124" name="Mode panel 4">
            <a:extLst xmlns:a="http://schemas.openxmlformats.org/drawingml/2006/main">
              <a:ext uri="{FF2B5EF4-FFF2-40B4-BE49-F238E27FC236}">
                <a16:creationId xmlns:a16="http://schemas.microsoft.com/office/drawing/2014/main" id="{D4DE040B-4711-EDBC-5F93-C7E8DFF29494}"/>
              </a:ext>
            </a:extLst>
          </p:cNvPr>
          <p:cNvSpPr>
            <a:spLocks xmlns:a="http://schemas.openxmlformats.org/drawingml/2006/main" noGrp="1"/>
          </p:cNvSpPr>
          <p:nvPr/>
        </p:nvSpPr>
        <p:spPr>
          <a:xfrm xmlns:a="http://schemas.openxmlformats.org/drawingml/2006/main">
            <a:off x="8585200" y="1549400"/>
            <a:ext cx="2628900" cy="4597400"/>
          </a:xfrm>
          <a:prstGeom xmlns:a="http://schemas.openxmlformats.org/drawingml/2006/main" prst="rect">
            <a:avLst/>
          </a:prstGeom>
          <a:solidFill xmlns:a="http://schemas.openxmlformats.org/drawingml/2006/main">
            <a:srgbClr val="EEF1F6"/>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5" name="Mode heading 4">
            <a:extLst xmlns:a="http://schemas.openxmlformats.org/drawingml/2006/main">
              <a:ext uri="{FF2B5EF4-FFF2-40B4-BE49-F238E27FC236}">
                <a16:creationId xmlns:a16="http://schemas.microsoft.com/office/drawing/2014/main" id="{4153EFA1-750A-EBB7-5A2A-7230A8C61490}"/>
              </a:ext>
            </a:extLst>
          </p:cNvPr>
          <p:cNvSpPr>
            <a:spLocks xmlns:a="http://schemas.openxmlformats.org/drawingml/2006/main" noGrp="1"/>
          </p:cNvSpPr>
          <p:nvPr/>
        </p:nvSpPr>
        <p:spPr>
          <a:xfrm xmlns:a="http://schemas.openxmlformats.org/drawingml/2006/main">
            <a:off x="8686800" y="1638300"/>
            <a:ext cx="24257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4  ROAD</a:t>
            </a:r>
          </a:p>
        </p:txBody>
      </p:sp>
      <p:cxnSp>
        <p:nvCxnSpPr>
          <p:cNvPr id="178" name="Column heading rule"/>
          <p:cNvCxnSpPr/>
          <p:nvPr/>
        </p:nvCxnSpPr>
        <p:spPr>
          <a:xfrm xmlns:a="http://schemas.openxmlformats.org/drawingml/2006/main">
            <a:off x="8686800" y="1917700"/>
            <a:ext cx="24257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27" name="Mode 4 row 1">
            <a:extLst xmlns:a="http://schemas.openxmlformats.org/drawingml/2006/main">
              <a:ext uri="{FF2B5EF4-FFF2-40B4-BE49-F238E27FC236}">
                <a16:creationId xmlns:a16="http://schemas.microsoft.com/office/drawing/2014/main" id="{25804FBA-B338-52A9-86FB-332167196FA2}"/>
              </a:ext>
            </a:extLst>
          </p:cNvPr>
          <p:cNvSpPr>
            <a:spLocks xmlns:a="http://schemas.openxmlformats.org/drawingml/2006/main" noGrp="1"/>
          </p:cNvSpPr>
          <p:nvPr/>
        </p:nvSpPr>
        <p:spPr>
          <a:xfrm xmlns:a="http://schemas.openxmlformats.org/drawingml/2006/main">
            <a:off x="8686800" y="20066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Road network</a:t>
            </a:r>
          </a:p>
          <a:p xmlns:a="http://schemas.openxmlformats.org/drawingml/2006/main">
            <a:pPr>
              <a:spcAft>
                <a:spcPts val="200"/>
              </a:spcAft>
              <a:buNone/>
            </a:pPr>
            <a:r>
              <a:rPr sz="1050">
                <a:solidFill>
                  <a:schemeClr val="dk1"/>
                </a:solidFill>
                <a:latin typeface="Lato"/>
                <a:ea typeface="Lato"/>
                <a:cs typeface="Lato"/>
              </a:rPr>
              <a:t>Tankers, coast to inland</a:t>
            </a:r>
          </a:p>
          <a:p xmlns:a="http://schemas.openxmlformats.org/drawingml/2006/main">
            <a:pPr>
              <a:spcAft>
                <a:spcPts val="200"/>
              </a:spcAft>
              <a:buNone/>
            </a:pPr>
            <a:r>
              <a:rPr sz="1050">
                <a:solidFill>
                  <a:schemeClr val="dk1"/>
                </a:solidFill>
                <a:latin typeface="Lato"/>
                <a:ea typeface="Lato"/>
                <a:cs typeface="Lato"/>
              </a:rPr>
              <a:t>Mozambique road imports 0.5%</a:t>
            </a:r>
            <a:endParaRPr sz="1050">
              <a:solidFill>
                <a:schemeClr val="dk1"/>
              </a:solidFill>
              <a:latin typeface="Lato"/>
              <a:ea typeface="Lato"/>
              <a:cs typeface="Lato"/>
            </a:endParaRPr>
          </a:p>
        </p:txBody>
      </p:sp>
      <p:sp>
        <p:nvSpPr>
          <p:cNvPr id="128" name="Mode 4 row 1 tag">
            <a:extLst xmlns:a="http://schemas.openxmlformats.org/drawingml/2006/main">
              <a:ext uri="{FF2B5EF4-FFF2-40B4-BE49-F238E27FC236}">
                <a16:creationId xmlns:a16="http://schemas.microsoft.com/office/drawing/2014/main" id="{97B641BD-686C-0FA3-EA2B-1693508859BC}"/>
              </a:ext>
            </a:extLst>
          </p:cNvPr>
          <p:cNvSpPr>
            <a:spLocks xmlns:a="http://schemas.openxmlformats.org/drawingml/2006/main" noGrp="1"/>
          </p:cNvSpPr>
          <p:nvPr/>
        </p:nvSpPr>
        <p:spPr>
          <a:xfrm xmlns:a="http://schemas.openxmlformats.org/drawingml/2006/main">
            <a:off x="8763000" y="27051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2025 · customs · DR04</a:t>
            </a:r>
          </a:p>
        </p:txBody>
      </p:sp>
      <p:sp>
        <p:nvSpPr>
          <p:cNvPr id="129" name="Mode 4 row 2">
            <a:extLst xmlns:a="http://schemas.openxmlformats.org/drawingml/2006/main">
              <a:ext uri="{FF2B5EF4-FFF2-40B4-BE49-F238E27FC236}">
                <a16:creationId xmlns:a16="http://schemas.microsoft.com/office/drawing/2014/main" id="{48F482A6-6E2D-5E46-BD90-EFC049B4FEC9}"/>
              </a:ext>
            </a:extLst>
          </p:cNvPr>
          <p:cNvSpPr>
            <a:spLocks xmlns:a="http://schemas.openxmlformats.org/drawingml/2006/main" noGrp="1"/>
          </p:cNvSpPr>
          <p:nvPr/>
        </p:nvSpPr>
        <p:spPr>
          <a:xfrm xmlns:a="http://schemas.openxmlformats.org/drawingml/2006/main">
            <a:off x="8686800" y="30734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Road and rail volumes</a:t>
            </a:r>
          </a:p>
          <a:p xmlns:a="http://schemas.openxmlformats.org/drawingml/2006/main">
            <a:pPr>
              <a:spcAft>
                <a:spcPts val="200"/>
              </a:spcAft>
              <a:buNone/>
            </a:pPr>
            <a:r>
              <a:rPr sz="1050">
                <a:solidFill>
                  <a:schemeClr val="dk1"/>
                </a:solidFill>
                <a:latin typeface="Lato"/>
                <a:ea typeface="Lato"/>
                <a:cs typeface="Lato"/>
              </a:rPr>
              <a:t>No matched corridor flow series</a:t>
            </a:r>
          </a:p>
          <a:p xmlns:a="http://schemas.openxmlformats.org/drawingml/2006/main">
            <a:pPr>
              <a:spcAft>
                <a:spcPts val="200"/>
              </a:spcAft>
              <a:buNone/>
            </a:pPr>
            <a:r>
              <a:rPr sz="1050">
                <a:solidFill>
                  <a:schemeClr val="dk1"/>
                </a:solidFill>
                <a:latin typeface="Lato"/>
                <a:ea typeface="Lato"/>
                <a:cs typeface="Lato"/>
              </a:rPr>
              <a:t>Mixed-year residual withdrawn</a:t>
            </a:r>
            <a:endParaRPr sz="1050">
              <a:solidFill>
                <a:schemeClr val="dk1"/>
              </a:solidFill>
              <a:latin typeface="Lato"/>
              <a:ea typeface="Lato"/>
              <a:cs typeface="Lato"/>
            </a:endParaRPr>
          </a:p>
        </p:txBody>
      </p:sp>
      <p:sp>
        <p:nvSpPr>
          <p:cNvPr id="130" name="Mode 4 row 2 tag">
            <a:extLst xmlns:a="http://schemas.openxmlformats.org/drawingml/2006/main">
              <a:ext uri="{FF2B5EF4-FFF2-40B4-BE49-F238E27FC236}">
                <a16:creationId xmlns:a16="http://schemas.microsoft.com/office/drawing/2014/main" id="{2B4D9637-C115-3AF2-1CB7-D9DDAB1C4561}"/>
              </a:ext>
            </a:extLst>
          </p:cNvPr>
          <p:cNvSpPr>
            <a:spLocks xmlns:a="http://schemas.openxmlformats.org/drawingml/2006/main" noGrp="1"/>
          </p:cNvSpPr>
          <p:nvPr/>
        </p:nvSpPr>
        <p:spPr>
          <a:xfrm xmlns:a="http://schemas.openxmlformats.org/drawingml/2006/main">
            <a:off x="8763000" y="37719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a:solidFill>
                  <a:srgbClr val="808080"/>
                </a:solidFill>
                <a:latin typeface="Lato"/>
                <a:ea typeface="Lato"/>
                <a:cs typeface="Lato"/>
              </a:rPr>
              <a:t>Pending · DR04 open</a:t>
            </a:r>
          </a:p>
        </p:txBody>
      </p:sp>
      <p:sp>
        <p:nvSpPr>
          <p:cNvPr id="131" name="Mode 4 row 3">
            <a:extLst xmlns:a="http://schemas.openxmlformats.org/drawingml/2006/main">
              <a:ext uri="{FF2B5EF4-FFF2-40B4-BE49-F238E27FC236}">
                <a16:creationId xmlns:a16="http://schemas.microsoft.com/office/drawing/2014/main" id="{7CC2D568-3036-6982-E3AE-E5BB9414EAFC}"/>
              </a:ext>
            </a:extLst>
          </p:cNvPr>
          <p:cNvSpPr>
            <a:spLocks xmlns:a="http://schemas.openxmlformats.org/drawingml/2006/main" noGrp="1"/>
          </p:cNvSpPr>
          <p:nvPr/>
        </p:nvSpPr>
        <p:spPr>
          <a:xfrm xmlns:a="http://schemas.openxmlformats.org/drawingml/2006/main">
            <a:off x="8686800" y="41402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Cost and constraints</a:t>
            </a:r>
          </a:p>
          <a:p xmlns:a="http://schemas.openxmlformats.org/drawingml/2006/main">
            <a:pPr>
              <a:spcAft>
                <a:spcPts val="200"/>
              </a:spcAft>
              <a:buNone/>
            </a:pPr>
            <a:r>
              <a:rPr sz="1050">
                <a:solidFill>
                  <a:schemeClr val="dk1"/>
                </a:solidFill>
                <a:latin typeface="Lato"/>
                <a:ea typeface="Lato"/>
                <a:cs typeface="Lato"/>
              </a:rPr>
              <a:t>Pipeline tariff 68 to 77 c/l</a:t>
            </a:r>
          </a:p>
          <a:p xmlns:a="http://schemas.openxmlformats.org/drawingml/2006/main">
            <a:pPr>
              <a:spcAft>
                <a:spcPts val="200"/>
              </a:spcAft>
              <a:buNone/>
            </a:pPr>
            <a:r>
              <a:rPr sz="1050">
                <a:solidFill>
                  <a:schemeClr val="dk1"/>
                </a:solidFill>
                <a:latin typeface="Lato"/>
                <a:ea typeface="Lato"/>
                <a:cs typeface="Lato"/>
              </a:rPr>
              <a:t>Gauteng allowance 83 to 91 c/l</a:t>
            </a:r>
            <a:endParaRPr sz="1050">
              <a:solidFill>
                <a:schemeClr val="dk1"/>
              </a:solidFill>
              <a:latin typeface="Lato"/>
              <a:ea typeface="Lato"/>
              <a:cs typeface="Lato"/>
            </a:endParaRPr>
          </a:p>
        </p:txBody>
      </p:sp>
      <p:sp>
        <p:nvSpPr>
          <p:cNvPr id="132" name="Mode 4 row 3 tag">
            <a:extLst xmlns:a="http://schemas.openxmlformats.org/drawingml/2006/main">
              <a:ext uri="{FF2B5EF4-FFF2-40B4-BE49-F238E27FC236}">
                <a16:creationId xmlns:a16="http://schemas.microsoft.com/office/drawing/2014/main" id="{8B65186D-74D7-1FD2-F57D-F5E83DE0A15C}"/>
              </a:ext>
            </a:extLst>
          </p:cNvPr>
          <p:cNvSpPr>
            <a:spLocks xmlns:a="http://schemas.openxmlformats.org/drawingml/2006/main" noGrp="1"/>
          </p:cNvSpPr>
          <p:nvPr/>
        </p:nvSpPr>
        <p:spPr>
          <a:xfrm xmlns:a="http://schemas.openxmlformats.org/drawingml/2006/main">
            <a:off x="8763000" y="48387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2024-26 · NERSA, dept · DR04</a:t>
            </a:r>
          </a:p>
        </p:txBody>
      </p:sp>
      <p:sp>
        <p:nvSpPr>
          <p:cNvPr id="133" name="Mode 4 row 4">
            <a:extLst xmlns:a="http://schemas.openxmlformats.org/drawingml/2006/main">
              <a:ext uri="{FF2B5EF4-FFF2-40B4-BE49-F238E27FC236}">
                <a16:creationId xmlns:a16="http://schemas.microsoft.com/office/drawing/2014/main" id="{3698897C-9F08-8ED1-7131-71F495CA9B18}"/>
              </a:ext>
            </a:extLst>
          </p:cNvPr>
          <p:cNvSpPr>
            <a:spLocks xmlns:a="http://schemas.openxmlformats.org/drawingml/2006/main" noGrp="1"/>
          </p:cNvSpPr>
          <p:nvPr/>
        </p:nvSpPr>
        <p:spPr>
          <a:xfrm xmlns:a="http://schemas.openxmlformats.org/drawingml/2006/main">
            <a:off x="8686800" y="5207000"/>
            <a:ext cx="2425700" cy="8890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accent1"/>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76200" tIns="50800" rIns="76200" bIns="38100" anchor="t"/>
          <a:lstStyle xmlns:a="http://schemas.openxmlformats.org/drawingml/2006/main"/>
          <a:p xmlns:a="http://schemas.openxmlformats.org/drawingml/2006/main">
            <a:pPr>
              <a:spcAft>
                <a:spcPts val="400"/>
              </a:spcAft>
              <a:buNone/>
            </a:pPr>
            <a:r>
              <a:rPr sz="1050" b="1">
                <a:solidFill>
                  <a:schemeClr val="accent1"/>
                </a:solidFill>
                <a:latin typeface="Lato"/>
                <a:ea typeface="Lato"/>
                <a:cs typeface="Lato"/>
              </a:rPr>
              <a:t>Relevance</a:t>
            </a:r>
          </a:p>
          <a:p xmlns:a="http://schemas.openxmlformats.org/drawingml/2006/main">
            <a:pPr>
              <a:spcAft>
                <a:spcPts val="200"/>
              </a:spcAft>
              <a:buNone/>
            </a:pPr>
            <a:r>
              <a:rPr sz="1050">
                <a:solidFill>
                  <a:schemeClr val="dk1"/>
                </a:solidFill>
                <a:latin typeface="Lato"/>
                <a:ea typeface="Lato"/>
                <a:cs typeface="Lato"/>
              </a:rPr>
              <a:t>Shippers moving to road</a:t>
            </a:r>
          </a:p>
          <a:p xmlns:a="http://schemas.openxmlformats.org/drawingml/2006/main">
            <a:pPr>
              <a:spcAft>
                <a:spcPts val="200"/>
              </a:spcAft>
              <a:buNone/>
            </a:pPr>
            <a:r>
              <a:rPr sz="1050">
                <a:solidFill>
                  <a:schemeClr val="dk1"/>
                </a:solidFill>
                <a:latin typeface="Lato"/>
                <a:ea typeface="Lato"/>
                <a:cs typeface="Lato"/>
              </a:rPr>
              <a:t>Sapref: planned import terminal</a:t>
            </a:r>
            <a:endParaRPr sz="1050">
              <a:solidFill>
                <a:schemeClr val="dk1"/>
              </a:solidFill>
              <a:latin typeface="Lato"/>
              <a:ea typeface="Lato"/>
              <a:cs typeface="Lato"/>
            </a:endParaRPr>
          </a:p>
        </p:txBody>
      </p:sp>
      <p:sp>
        <p:nvSpPr>
          <p:cNvPr id="134" name="Mode 4 row 4 tag">
            <a:extLst xmlns:a="http://schemas.openxmlformats.org/drawingml/2006/main">
              <a:ext uri="{FF2B5EF4-FFF2-40B4-BE49-F238E27FC236}">
                <a16:creationId xmlns:a16="http://schemas.microsoft.com/office/drawing/2014/main" id="{5A4F8F2A-D2A9-7615-DE58-9AB9BEDE4C60}"/>
              </a:ext>
            </a:extLst>
          </p:cNvPr>
          <p:cNvSpPr>
            <a:spLocks xmlns:a="http://schemas.openxmlformats.org/drawingml/2006/main" noGrp="1"/>
          </p:cNvSpPr>
          <p:nvPr/>
        </p:nvSpPr>
        <p:spPr>
          <a:xfrm xmlns:a="http://schemas.openxmlformats.org/drawingml/2006/main">
            <a:off x="8763000" y="5905500"/>
            <a:ext cx="2273300" cy="152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00" b="1">
                <a:solidFill>
                  <a:schemeClr val="accent1"/>
                </a:solidFill>
                <a:latin typeface="Lato"/>
                <a:ea typeface="Lato"/>
                <a:cs typeface="Lato"/>
              </a:rPr>
              <a:t>DR04, DR08 · news, CEF</a:t>
            </a:r>
          </a:p>
        </p:txBody>
      </p:sp>
    </p:spTree>
    <p:extLst>
      <p:ext uri="{BB962C8B-B14F-4D97-AF65-F5344CB8AC3E}">
        <p14:creationId xmlns:p14="http://schemas.microsoft.com/office/powerpoint/2010/main" val="9544608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2B414A-9B5D-4D87-990D-2488B452E6FF}"/>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Outstanding data for market share and investment testing</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0F1F560-9AD3-40B4-B88C-3C5E99DFAFE6}"/>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7</a:t>
            </a:r>
            <a:endParaRPr sz="1100"/>
          </a:p>
        </p:txBody>
      </p:sp>
      <p:sp>
        <p:nvSpPr>
          <p:cNvPr id="8" name="Unified source footer">
            <a:extLst xmlns:a="http://schemas.openxmlformats.org/drawingml/2006/main">
              <a:ext uri="{FF2B5EF4-FFF2-40B4-BE49-F238E27FC236}">
                <a16:creationId xmlns:a16="http://schemas.microsoft.com/office/drawing/2014/main" id="{E0DDAAB1-662C-4E92-85F6-8B21C2B9F002}"/>
              </a:ext>
            </a:extLst>
          </p:cNvPr>
          <p:cNvSpPr>
            <a:spLocks xmlns:a="http://schemas.openxmlformats.org/drawingml/2006/main" noGrp="1"/>
          </p:cNvSpPr>
          <p:nvPr/>
        </p:nvSpPr>
        <p:spPr>
          <a:xfrm xmlns:a="http://schemas.openxmlformats.org/drawingml/2006/main">
            <a:off x="457200" y="6184900"/>
            <a:ext cx="10652760" cy="1143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70"/>
              <a:t>Public DR01/04/07/08 handback received through 9 Oct. Client DR02/05/03/06 prepared; sending/receipt not recorded. Review workbook maps all nine requests. No source review or business approval inferred from receipt.</a:t>
            </a:r>
            <a:endParaRPr sz="670"/>
          </a:p>
        </p:txBody>
      </p:sp>
      <p:sp>
        <p:nvSpPr>
          <p:cNvPr id="48" name="Strictly Confidential footer">
            <a:extLst xmlns:a="http://schemas.openxmlformats.org/drawingml/2006/main">
              <a:ext uri="{FF2B5EF4-FFF2-40B4-BE49-F238E27FC236}">
                <a16:creationId xmlns:a16="http://schemas.microsoft.com/office/drawing/2014/main" id="{13F170CB-980E-4C61-A568-C7386DA229BD}"/>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
        <p:nvSpPr>
          <p:cNvPr id="47" name="Request ownership">
            <a:extLst xmlns:a="http://schemas.openxmlformats.org/drawingml/2006/main">
              <a:ext uri="{FF2B5EF4-FFF2-40B4-BE49-F238E27FC236}">
                <a16:creationId xmlns:a16="http://schemas.microsoft.com/office/drawing/2014/main" id="{E728862D-913B-D9DE-8786-82C9D9F325A9}"/>
              </a:ext>
            </a:extLst>
          </p:cNvPr>
          <p:cNvSpPr>
            <a:spLocks xmlns:a="http://schemas.openxmlformats.org/drawingml/2006/main" noGrp="1"/>
          </p:cNvSpPr>
          <p:nvPr/>
        </p:nvSpPr>
        <p:spPr>
          <a:xfrm xmlns:a="http://schemas.openxmlformats.org/drawingml/2006/main">
            <a:off x="457200" y="1638300"/>
            <a:ext cx="10655300" cy="2159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100">
                <a:solidFill>
                  <a:schemeClr val="dk1"/>
                </a:solidFill>
                <a:latin typeface="Lato"/>
                <a:ea typeface="Lato"/>
                <a:cs typeface="Lato"/>
              </a:rPr>
              <a:t>Manish assembles public evidence and estimates. Nigel coordinates client requests. Nigel / Henry review scenario settings.</a:t>
            </a:r>
            <a:endParaRPr sz="1100">
              <a:solidFill>
                <a:schemeClr val="dk1"/>
              </a:solidFill>
              <a:latin typeface="Lato"/>
              <a:ea typeface="Lato"/>
              <a:cs typeface="Lato"/>
            </a:endParaRPr>
          </a:p>
        </p:txBody>
      </p:sp>
      <p:graphicFrame>
        <p:nvGraphicFramePr>
          <p:cNvPr id="104" name="Outstanding requests native table"/>
          <p:cNvGraphicFramePr/>
          <p:nvPr/>
        </p:nvGraphicFramePr>
        <p:xfrm>
          <a:off xmlns:a="http://schemas.openxmlformats.org/drawingml/2006/main" x="457199" y="1955800"/>
          <a:ext xmlns:a="http://schemas.openxmlformats.org/drawingml/2006/main" cx="10655300" cy="3860800"/>
        </p:xfrm>
        <a:graphic xmlns:a="http://schemas.openxmlformats.org/drawingml/2006/main">
          <a:graphicData uri="http://schemas.openxmlformats.org/drawingml/2006/table">
            <a:tbl>
              <a:tblPr firstRow="1" bandRow="1">
                <a:tableStyleId>{5C22544A-7EE6-4342-B048-85BDC9FD1C3A}</a:tableStyleId>
              </a:tblPr>
              <a:tblGrid>
                <a:gridCol w="1841500"/>
                <a:gridCol w="5105400"/>
                <a:gridCol w="1308100"/>
                <a:gridCol w="2400300"/>
              </a:tblGrid>
              <a:tr h="304800">
                <a:tc>
                  <a:txBody>
                    <a:bodyPr/>
                    <a:lstStyle/>
                    <a:p>
                      <a:pPr>
                        <a:spcAft>
                          <a:spcPts val="0"/>
                        </a:spcAft>
                        <a:buNone/>
                      </a:pPr>
                      <a:r>
                        <a:rPr sz="1150" b="1">
                          <a:solidFill>
                            <a:schemeClr val="dk1"/>
                          </a:solidFill>
                          <a:latin typeface="Lato"/>
                          <a:ea typeface="Lato"/>
                          <a:cs typeface="Lato"/>
                        </a:rPr>
                        <a:t>Outstanding request</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150" b="1">
                          <a:solidFill>
                            <a:schemeClr val="dk1"/>
                          </a:solidFill>
                          <a:latin typeface="Lato"/>
                          <a:ea typeface="Lato"/>
                          <a:cs typeface="Lato"/>
                        </a:rPr>
                        <a:t>Status and what remains open</a:t>
                      </a:r>
                      <a:endParaRPr sz="1150" b="1">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150" b="1">
                          <a:solidFill>
                            <a:schemeClr val="dk1"/>
                          </a:solidFill>
                          <a:latin typeface="Lato"/>
                          <a:ea typeface="Lato"/>
                          <a:cs typeface="Lato"/>
                        </a:rPr>
                        <a:t>Coordinator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150" b="1">
                          <a:solidFill>
                            <a:schemeClr val="dk1"/>
                          </a:solidFill>
                          <a:latin typeface="Lato"/>
                          <a:ea typeface="Lato"/>
                          <a:cs typeface="Lato"/>
                        </a:rPr>
                        <a:t>Decision supported</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508000">
                <a:tc>
                  <a:txBody>
                    <a:bodyPr/>
                    <a:lstStyle/>
                    <a:p>
                      <a:pPr>
                        <a:spcAft>
                          <a:spcPts val="0"/>
                        </a:spcAft>
                        <a:buNone/>
                      </a:pPr>
                      <a:r>
                        <a:rPr sz="1100" b="1">
                          <a:solidFill>
                            <a:schemeClr val="accent1"/>
                          </a:solidFill>
                          <a:latin typeface="Lato"/>
                          <a:ea typeface="Lato"/>
                          <a:cs typeface="Lato"/>
                        </a:rPr>
                        <a:t>DR01  National balance</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Received through 9 Oct: balance assembled to 2021. Residuals and stock changes unresolved; later product production and comparable sales still missing.</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Manish</a:t>
                      </a:r>
                    </a:p>
                    <a:p>
                      <a:pPr>
                        <a:spcAft>
                          <a:spcPts val="0"/>
                        </a:spcAft>
                        <a:buNone/>
                      </a:pPr>
                      <a:r>
                        <a:rPr sz="1100" b="0">
                          <a:solidFill>
                            <a:schemeClr val="dk1"/>
                          </a:solidFill>
                          <a:latin typeface="Lato"/>
                          <a:ea typeface="Lato"/>
                          <a:cs typeface="Lato"/>
                        </a:rPr>
                        <a:t>Nigel reviews</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Current market size</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508000">
                <a:tc>
                  <a:txBody>
                    <a:bodyPr/>
                    <a:lstStyle/>
                    <a:p>
                      <a:pPr>
                        <a:spcAft>
                          <a:spcPts val="0"/>
                        </a:spcAft>
                        <a:buNone/>
                      </a:pPr>
                      <a:r>
                        <a:rPr sz="1100" b="1">
                          <a:solidFill>
                            <a:schemeClr val="accent1"/>
                          </a:solidFill>
                          <a:latin typeface="Lato"/>
                          <a:ea typeface="Lato"/>
                          <a:cs typeface="Lato"/>
                        </a:rPr>
                        <a:t>DR04  Routes and access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Received: entry offices, tariffs, access evidence. FY2025 MPP updated. Open: product/customer access, quoted road/rail costs and matched corridor volumes.</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Manish</a:t>
                      </a:r>
                    </a:p>
                    <a:p>
                      <a:pPr>
                        <a:spcAft>
                          <a:spcPts val="0"/>
                        </a:spcAft>
                        <a:buNone/>
                      </a:pPr>
                      <a:r>
                        <a:rPr sz="1100" b="0">
                          <a:solidFill>
                            <a:schemeClr val="dk1"/>
                          </a:solidFill>
                          <a:latin typeface="Lato"/>
                          <a:ea typeface="Lato"/>
                          <a:cs typeface="Lato"/>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Accessible market at each terminal</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508000">
                <a:tc>
                  <a:txBody>
                    <a:bodyPr/>
                    <a:lstStyle/>
                    <a:p>
                      <a:pPr>
                        <a:spcAft>
                          <a:spcPts val="0"/>
                        </a:spcAft>
                        <a:buNone/>
                      </a:pPr>
                      <a:r>
                        <a:rPr sz="1100" b="1">
                          <a:solidFill>
                            <a:schemeClr val="accent1"/>
                          </a:solidFill>
                          <a:latin typeface="Lato"/>
                          <a:ea typeface="Lato"/>
                          <a:cs typeface="Lato"/>
                        </a:rPr>
                        <a:t>DR07  Demand evidence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Received: power and fleet evidence; implemented EV/efficiency review complete. Open: joint baseline reconciliation and hybrid/rail combination rules.</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Manish</a:t>
                      </a:r>
                    </a:p>
                    <a:p>
                      <a:pPr>
                        <a:spcAft>
                          <a:spcPts val="0"/>
                        </a:spcAft>
                        <a:buNone/>
                      </a:pPr>
                      <a:r>
                        <a:rPr sz="1100" b="0">
                          <a:solidFill>
                            <a:schemeClr val="dk1"/>
                          </a:solidFill>
                          <a:latin typeface="Lato"/>
                          <a:ea typeface="Lato"/>
                          <a:cs typeface="Lato"/>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Demand baseline and scenario calibration</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508000">
                <a:tc>
                  <a:txBody>
                    <a:bodyPr/>
                    <a:lstStyle/>
                    <a:p>
                      <a:pPr>
                        <a:spcAft>
                          <a:spcPts val="0"/>
                        </a:spcAft>
                        <a:buNone/>
                      </a:pPr>
                      <a:r>
                        <a:rPr sz="1100" b="1">
                          <a:solidFill>
                            <a:schemeClr val="accent1"/>
                          </a:solidFill>
                          <a:latin typeface="Lato"/>
                          <a:ea typeface="Lato"/>
                          <a:cs typeface="Lato"/>
                        </a:rPr>
                        <a:t>DR08  Refinery supply</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Received: plant status and operator output, including Secunda FY2026. Open: product yields, Natref ownership basis and stocks; Astron 50/50 split assumed.</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Manish</a:t>
                      </a:r>
                    </a:p>
                    <a:p>
                      <a:pPr>
                        <a:spcAft>
                          <a:spcPts val="0"/>
                        </a:spcAft>
                        <a:buNone/>
                      </a:pPr>
                      <a:r>
                        <a:rPr sz="1100" b="0">
                          <a:solidFill>
                            <a:schemeClr val="dk1"/>
                          </a:solidFill>
                          <a:latin typeface="Lato"/>
                          <a:ea typeface="Lato"/>
                          <a:cs typeface="Lato"/>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Domestic output and import requirement</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508000">
                <a:tc>
                  <a:txBody>
                    <a:bodyPr/>
                    <a:lstStyle/>
                    <a:p>
                      <a:pPr>
                        <a:spcAft>
                          <a:spcPts val="0"/>
                        </a:spcAft>
                        <a:buNone/>
                      </a:pPr>
                      <a:r>
                        <a:rPr sz="1100" b="1">
                          <a:solidFill>
                            <a:schemeClr val="accent1"/>
                          </a:solidFill>
                          <a:latin typeface="Lato"/>
                          <a:ea typeface="Lato"/>
                          <a:cs typeface="Lato"/>
                        </a:rPr>
                        <a:t>DR02/05  Client capture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36 months of site/product receipts and dispatches, linked transfers, customer destinations and contract volumes.</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Nigel</a:t>
                      </a:r>
                    </a:p>
                    <a:p>
                      <a:pPr>
                        <a:spcAft>
                          <a:spcPts val="0"/>
                        </a:spcAft>
                        <a:buNone/>
                      </a:pPr>
                      <a:r>
                        <a:rPr sz="1100" b="0">
                          <a:solidFill>
                            <a:schemeClr val="dk1"/>
                          </a:solidFill>
                          <a:latin typeface="Lato"/>
                          <a:ea typeface="Lato"/>
                          <a:cs typeface="Lato"/>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Current share and achievable capture</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508000">
                <a:tc>
                  <a:txBody>
                    <a:bodyPr/>
                    <a:lstStyle/>
                    <a:p>
                      <a:pPr>
                        <a:spcAft>
                          <a:spcPts val="0"/>
                        </a:spcAft>
                        <a:buNone/>
                      </a:pPr>
                      <a:r>
                        <a:rPr sz="1100" b="1">
                          <a:solidFill>
                            <a:schemeClr val="accent1"/>
                          </a:solidFill>
                          <a:latin typeface="Lato"/>
                          <a:ea typeface="Lato"/>
                          <a:cs typeface="Lato"/>
                        </a:rPr>
                        <a:t>DR03  Client operations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Working and committed tanks, turns, occupancy, downtime and receipt/dispatch limits, by site and product.</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Nigel</a:t>
                      </a:r>
                    </a:p>
                    <a:p>
                      <a:pPr>
                        <a:spcAft>
                          <a:spcPts val="0"/>
                        </a:spcAft>
                        <a:buNone/>
                      </a:pPr>
                      <a:r>
                        <a:rPr sz="1100" b="0">
                          <a:solidFill>
                            <a:schemeClr val="dk1"/>
                          </a:solidFill>
                          <a:latin typeface="Lato"/>
                          <a:ea typeface="Lato"/>
                          <a:cs typeface="Lato"/>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Usable capacity and bottlenecks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508000">
                <a:tc>
                  <a:txBody>
                    <a:bodyPr/>
                    <a:lstStyle/>
                    <a:p>
                      <a:pPr>
                        <a:spcAft>
                          <a:spcPts val="0"/>
                        </a:spcAft>
                        <a:buNone/>
                      </a:pPr>
                      <a:r>
                        <a:rPr sz="1100" b="1">
                          <a:solidFill>
                            <a:schemeClr val="accent1"/>
                          </a:solidFill>
                          <a:latin typeface="Lato"/>
                          <a:ea typeface="Lato"/>
                          <a:cs typeface="Lato"/>
                        </a:rPr>
                        <a:t>DR06  Investment inputs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Handling/storage terms, operating costs, project capex, timing, tax, working capital and hurdle rate.</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Nigel</a:t>
                      </a:r>
                    </a:p>
                    <a:p>
                      <a:pPr>
                        <a:spcAft>
                          <a:spcPts val="0"/>
                        </a:spcAft>
                        <a:buNone/>
                      </a:pPr>
                      <a:r>
                        <a:rPr sz="1100" b="0">
                          <a:solidFill>
                            <a:schemeClr val="dk1"/>
                          </a:solidFill>
                          <a:latin typeface="Lato"/>
                          <a:ea typeface="Lato"/>
                          <a:cs typeface="Lato"/>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100" b="0">
                          <a:solidFill>
                            <a:schemeClr val="dk1"/>
                          </a:solidFill>
                          <a:latin typeface="Lato"/>
                          <a:ea typeface="Lato"/>
                          <a:cs typeface="Lato"/>
                        </a:rPr>
                        <a:t>Incremental returns and project alternatives</a:t>
                      </a:r>
                      <a:endParaRPr sz="11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
        <p:nvSpPr>
          <p:cNvPr id="93" name="Separate EV request">
            <a:extLst xmlns:a="http://schemas.openxmlformats.org/drawingml/2006/main">
              <a:ext uri="{FF2B5EF4-FFF2-40B4-BE49-F238E27FC236}">
                <a16:creationId xmlns:a16="http://schemas.microsoft.com/office/drawing/2014/main" id="{1F9866CA-B7EE-066F-CB57-DEF779DF266C}"/>
              </a:ext>
            </a:extLst>
          </p:cNvPr>
          <p:cNvSpPr>
            <a:spLocks xmlns:a="http://schemas.openxmlformats.org/drawingml/2006/main" noGrp="1"/>
          </p:cNvSpPr>
          <p:nvPr/>
        </p:nvSpPr>
        <p:spPr>
          <a:xfrm xmlns:a="http://schemas.openxmlformats.org/drawingml/2006/main">
            <a:off x="457200" y="5930900"/>
            <a:ext cx="10655300" cy="1905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950">
                <a:solidFill>
                  <a:schemeClr val="dk1"/>
                </a:solidFill>
                <a:latin typeface="Lato"/>
                <a:ea typeface="Lato"/>
                <a:cs typeface="Lato"/>
              </a:rPr>
              <a:t>DR09 remains separate: EV adjacency needs customer demand, power access and standalone economics. Nigel coordinates.</a:t>
            </a:r>
            <a:endParaRPr sz="950">
              <a:solidFill>
                <a:schemeClr val="dk1"/>
              </a:solidFill>
              <a:latin typeface="Lato"/>
              <a:ea typeface="Lato"/>
              <a:cs typeface="Lato"/>
            </a:endParaRPr>
          </a:p>
        </p:txBody>
      </p:sp>
    </p:spTree>
    <p:extLst>
      <p:ext uri="{BB962C8B-B14F-4D97-AF65-F5344CB8AC3E}">
        <p14:creationId xmlns:p14="http://schemas.microsoft.com/office/powerpoint/2010/main" val="190399764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013018-3966-471D-9F68-870D44BA6EFE}"/>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a:solidFill>
                  <a:schemeClr val="dk1"/>
                </a:solidFill>
                <a:latin typeface="Lato"/>
                <a:ea typeface="Lato"/>
                <a:cs typeface="Lato"/>
              </a:rPr>
              <a:t>The base capture screen gives Durban 2.63bn litres and Lesedi 1.32bn within that flow</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E5A308B1-BF92-49D1-90C5-46BDB8594987}"/>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8</a:t>
            </a:r>
            <a:endParaRPr sz="1100"/>
          </a:p>
        </p:txBody>
      </p:sp>
      <p:sp>
        <p:nvSpPr>
          <p:cNvPr id="8" name="Unified source footer">
            <a:extLst xmlns:a="http://schemas.openxmlformats.org/drawingml/2006/main">
              <a:ext uri="{FF2B5EF4-FFF2-40B4-BE49-F238E27FC236}">
                <a16:creationId xmlns:a16="http://schemas.microsoft.com/office/drawing/2014/main" id="{49E7B911-16BC-4835-B51B-871154EF7D03}"/>
              </a:ext>
            </a:extLst>
          </p:cNvPr>
          <p:cNvSpPr>
            <a:spLocks xmlns:a="http://schemas.openxmlformats.org/drawingml/2006/main" noGrp="1"/>
          </p:cNvSpPr>
          <p:nvPr/>
        </p:nvSpPr>
        <p:spPr>
          <a:xfrm xmlns:a="http://schemas.openxmlformats.org/drawingml/2006/main">
            <a:off x="457200" y="6184900"/>
            <a:ext cx="10652760" cy="2286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70"/>
              <a:t>2025 Durban customs proxy 13.1605bn L. Registered market_review.yaml: authored sensitivities, no probabilities. Working estimates: Durban 146,000 m³; Lesedi 124,000 m³. Customer contestability, product allocation and pipeline access remain unverified. Other-terminal and domestic Lesedi receipts excluded.</a:t>
            </a:r>
            <a:endParaRPr sz="670"/>
          </a:p>
        </p:txBody>
      </p:sp>
      <p:sp>
        <p:nvSpPr>
          <p:cNvPr id="48" name="Strictly Confidential footer">
            <a:extLst xmlns:a="http://schemas.openxmlformats.org/drawingml/2006/main">
              <a:ext uri="{FF2B5EF4-FFF2-40B4-BE49-F238E27FC236}">
                <a16:creationId xmlns:a16="http://schemas.microsoft.com/office/drawing/2014/main" id="{DE76A751-1A40-494E-88B9-31279CB359D4}"/>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graphicFrame>
        <p:nvGraphicFramePr>
          <p:cNvPr id="59" name=""/>
          <p:cNvGraphicFramePr/>
          <p:nvPr/>
        </p:nvGraphicFramePr>
        <p:xfrm>
          <a:off xmlns:a="http://schemas.openxmlformats.org/drawingml/2006/main" x="457200" y="1657350"/>
          <a:ext xmlns:a="http://schemas.openxmlformats.org/drawingml/2006/main" cx="10652760" cy="3111500"/>
        </p:xfrm>
        <a:graphic xmlns:a="http://schemas.openxmlformats.org/drawingml/2006/main">
          <a:graphicData uri="http://schemas.openxmlformats.org/drawingml/2006/table">
            <a:tbl>
              <a:tblPr firstRow="0" bandRow="0"/>
              <a:tblGrid>
                <a:gridCol w="3619500"/>
                <a:gridCol w="2349500"/>
                <a:gridCol w="2349500"/>
                <a:gridCol w="2336800"/>
              </a:tblGrid>
              <a:tr h="777875">
                <a:tc>
                  <a:txBody>
                    <a:bodyPr/>
                    <a:lstStyle/>
                    <a:p>
                      <a:r>
                        <a:rPr sz="1275" b="1">
                          <a:solidFill>
                            <a:srgbClr val="0B2475"/>
                          </a:solidFill>
                          <a:latin typeface="Lato"/>
                          <a:ea typeface="Lato"/>
                          <a:cs typeface="Lato"/>
                        </a:rPr>
                        <a:t>Illustrative case</a:t>
                      </a:r>
                    </a:p>
                  </a:txBody>
                  <a:tcPr marL="91440" marR="91440" marT="45720" marB="45720" anchor="ctr">
                    <a:solidFill>
                      <a:srgbClr val="F5F5F5"/>
                    </a:solidFill>
                  </a:tcPr>
                </a:tc>
                <a:tc>
                  <a:txBody>
                    <a:bodyPr/>
                    <a:lstStyle/>
                    <a:p>
                      <a:r>
                        <a:rPr sz="1275" b="1">
                          <a:solidFill>
                            <a:srgbClr val="202020"/>
                          </a:solidFill>
                          <a:latin typeface="Lato"/>
                          <a:ea typeface="Lato"/>
                          <a:cs typeface="Lato"/>
                        </a:rPr>
                        <a:t>Durban bn L</a:t>
                      </a:r>
                    </a:p>
                  </a:txBody>
                  <a:tcPr marL="91440" marR="91440" marT="45720" marB="45720" anchor="ctr">
                    <a:solidFill>
                      <a:srgbClr val="F5F5F5"/>
                    </a:solidFill>
                  </a:tcPr>
                </a:tc>
                <a:tc>
                  <a:txBody>
                    <a:bodyPr/>
                    <a:lstStyle/>
                    <a:p>
                      <a:r>
                        <a:rPr sz="1275" b="1">
                          <a:solidFill>
                            <a:srgbClr val="202020"/>
                          </a:solidFill>
                          <a:latin typeface="Lato"/>
                          <a:ea typeface="Lato"/>
                          <a:cs typeface="Lato"/>
                        </a:rPr>
                        <a:t>Lesedi bn L</a:t>
                      </a:r>
                    </a:p>
                  </a:txBody>
                  <a:tcPr marL="91440" marR="91440" marT="45720" marB="45720" anchor="ctr">
                    <a:solidFill>
                      <a:srgbClr val="F5F5F5"/>
                    </a:solidFill>
                  </a:tcPr>
                </a:tc>
                <a:tc>
                  <a:txBody>
                    <a:bodyPr/>
                    <a:lstStyle/>
                    <a:p>
                      <a:r>
                        <a:rPr sz="1275" b="1">
                          <a:solidFill>
                            <a:srgbClr val="202020"/>
                          </a:solidFill>
                          <a:latin typeface="Lato"/>
                          <a:ea typeface="Lato"/>
                          <a:cs typeface="Lato"/>
                        </a:rPr>
                        <a:t>Unique bn L</a:t>
                      </a:r>
                    </a:p>
                  </a:txBody>
                  <a:tcPr marL="91440" marR="91440" marT="45720" marB="45720" anchor="ctr">
                    <a:solidFill>
                      <a:srgbClr val="F5F5F5"/>
                    </a:solidFill>
                  </a:tcPr>
                </a:tc>
              </a:tr>
              <a:tr h="777875">
                <a:tc>
                  <a:txBody>
                    <a:bodyPr/>
                    <a:lstStyle/>
                    <a:p>
                      <a:r>
                        <a:rPr sz="1350" b="1">
                          <a:solidFill>
                            <a:srgbClr val="0B2475"/>
                          </a:solidFill>
                          <a:latin typeface="Lato"/>
                          <a:ea typeface="Lato"/>
                          <a:cs typeface="Lato"/>
                        </a:rPr>
                        <a:t>Low (10%)</a:t>
                      </a:r>
                    </a:p>
                  </a:txBody>
                  <a:tcPr marL="91440" marR="91440" marT="45720" marB="45720" anchor="ctr">
                    <a:solidFill>
                      <a:srgbClr val="FFFFFF"/>
                    </a:solidFill>
                  </a:tcPr>
                </a:tc>
                <a:tc>
                  <a:txBody>
                    <a:bodyPr/>
                    <a:lstStyle/>
                    <a:p>
                      <a:r>
                        <a:rPr sz="1350" b="0">
                          <a:solidFill>
                            <a:srgbClr val="202020"/>
                          </a:solidFill>
                          <a:latin typeface="Lato"/>
                          <a:ea typeface="Lato"/>
                          <a:cs typeface="Lato"/>
                        </a:rPr>
                        <a:t>1.32</a:t>
                      </a:r>
                    </a:p>
                  </a:txBody>
                  <a:tcPr marL="91440" marR="91440" marT="45720" marB="45720" anchor="ctr">
                    <a:solidFill>
                      <a:srgbClr val="FFFFFF"/>
                    </a:solidFill>
                  </a:tcPr>
                </a:tc>
                <a:tc>
                  <a:txBody>
                    <a:bodyPr/>
                    <a:lstStyle/>
                    <a:p>
                      <a:r>
                        <a:rPr sz="1350" b="0">
                          <a:solidFill>
                            <a:srgbClr val="202020"/>
                          </a:solidFill>
                          <a:latin typeface="Lato"/>
                          <a:ea typeface="Lato"/>
                          <a:cs typeface="Lato"/>
                        </a:rPr>
                        <a:t>0.66</a:t>
                      </a:r>
                    </a:p>
                  </a:txBody>
                  <a:tcPr marL="91440" marR="91440" marT="45720" marB="45720" anchor="ctr">
                    <a:solidFill>
                      <a:srgbClr val="FFFFFF"/>
                    </a:solidFill>
                  </a:tcPr>
                </a:tc>
                <a:tc>
                  <a:txBody>
                    <a:bodyPr/>
                    <a:lstStyle/>
                    <a:p>
                      <a:r>
                        <a:rPr sz="1350" b="0">
                          <a:solidFill>
                            <a:srgbClr val="202020"/>
                          </a:solidFill>
                          <a:latin typeface="Lato"/>
                          <a:ea typeface="Lato"/>
                          <a:cs typeface="Lato"/>
                        </a:rPr>
                        <a:t>1.32</a:t>
                      </a:r>
                    </a:p>
                  </a:txBody>
                  <a:tcPr marL="91440" marR="91440" marT="45720" marB="45720" anchor="ctr">
                    <a:solidFill>
                      <a:srgbClr val="FFFFFF"/>
                    </a:solidFill>
                  </a:tcPr>
                </a:tc>
              </a:tr>
              <a:tr h="777875">
                <a:tc>
                  <a:txBody>
                    <a:bodyPr/>
                    <a:lstStyle/>
                    <a:p>
                      <a:r>
                        <a:rPr sz="1350" b="1">
                          <a:solidFill>
                            <a:srgbClr val="0B2475"/>
                          </a:solidFill>
                          <a:latin typeface="Lato"/>
                          <a:ea typeface="Lato"/>
                          <a:cs typeface="Lato"/>
                        </a:rPr>
                        <a:t>Base (20%)</a:t>
                      </a:r>
                    </a:p>
                  </a:txBody>
                  <a:tcPr marL="91440" marR="91440" marT="45720" marB="45720" anchor="ctr">
                    <a:solidFill>
                      <a:srgbClr val="FFFFFF"/>
                    </a:solidFill>
                  </a:tcPr>
                </a:tc>
                <a:tc>
                  <a:txBody>
                    <a:bodyPr/>
                    <a:lstStyle/>
                    <a:p>
                      <a:r>
                        <a:rPr sz="1350" b="0">
                          <a:solidFill>
                            <a:srgbClr val="202020"/>
                          </a:solidFill>
                          <a:latin typeface="Lato"/>
                          <a:ea typeface="Lato"/>
                          <a:cs typeface="Lato"/>
                        </a:rPr>
                        <a:t>2.63</a:t>
                      </a:r>
                    </a:p>
                  </a:txBody>
                  <a:tcPr marL="91440" marR="91440" marT="45720" marB="45720" anchor="ctr">
                    <a:solidFill>
                      <a:srgbClr val="FFFFFF"/>
                    </a:solidFill>
                  </a:tcPr>
                </a:tc>
                <a:tc>
                  <a:txBody>
                    <a:bodyPr/>
                    <a:lstStyle/>
                    <a:p>
                      <a:r>
                        <a:rPr sz="1350" b="0">
                          <a:solidFill>
                            <a:srgbClr val="202020"/>
                          </a:solidFill>
                          <a:latin typeface="Lato"/>
                          <a:ea typeface="Lato"/>
                          <a:cs typeface="Lato"/>
                        </a:rPr>
                        <a:t>1.32</a:t>
                      </a:r>
                    </a:p>
                  </a:txBody>
                  <a:tcPr marL="91440" marR="91440" marT="45720" marB="45720" anchor="ctr">
                    <a:solidFill>
                      <a:srgbClr val="FFFFFF"/>
                    </a:solidFill>
                  </a:tcPr>
                </a:tc>
                <a:tc>
                  <a:txBody>
                    <a:bodyPr/>
                    <a:lstStyle/>
                    <a:p>
                      <a:r>
                        <a:rPr sz="1350" b="0">
                          <a:solidFill>
                            <a:srgbClr val="202020"/>
                          </a:solidFill>
                          <a:latin typeface="Lato"/>
                          <a:ea typeface="Lato"/>
                          <a:cs typeface="Lato"/>
                        </a:rPr>
                        <a:t>2.63</a:t>
                      </a:r>
                    </a:p>
                  </a:txBody>
                  <a:tcPr marL="91440" marR="91440" marT="45720" marB="45720" anchor="ctr">
                    <a:solidFill>
                      <a:srgbClr val="FFFFFF"/>
                    </a:solidFill>
                  </a:tcPr>
                </a:tc>
              </a:tr>
              <a:tr h="777875">
                <a:tc>
                  <a:txBody>
                    <a:bodyPr/>
                    <a:lstStyle/>
                    <a:p>
                      <a:r>
                        <a:rPr sz="1350" b="1">
                          <a:solidFill>
                            <a:srgbClr val="0B2475"/>
                          </a:solidFill>
                          <a:latin typeface="Lato"/>
                          <a:ea typeface="Lato"/>
                          <a:cs typeface="Lato"/>
                        </a:rPr>
                        <a:t>High (30%)</a:t>
                      </a:r>
                    </a:p>
                  </a:txBody>
                  <a:tcPr marL="91440" marR="91440" marT="45720" marB="45720" anchor="ctr">
                    <a:solidFill>
                      <a:srgbClr val="FFFFFF"/>
                    </a:solidFill>
                  </a:tcPr>
                </a:tc>
                <a:tc>
                  <a:txBody>
                    <a:bodyPr/>
                    <a:lstStyle/>
                    <a:p>
                      <a:r>
                        <a:rPr sz="1350" b="0">
                          <a:solidFill>
                            <a:srgbClr val="202020"/>
                          </a:solidFill>
                          <a:latin typeface="Lato"/>
                          <a:ea typeface="Lato"/>
                          <a:cs typeface="Lato"/>
                        </a:rPr>
                        <a:t>3.50</a:t>
                      </a:r>
                    </a:p>
                  </a:txBody>
                  <a:tcPr marL="91440" marR="91440" marT="45720" marB="45720" anchor="ctr">
                    <a:solidFill>
                      <a:srgbClr val="FFFFFF"/>
                    </a:solidFill>
                  </a:tcPr>
                </a:tc>
                <a:tc>
                  <a:txBody>
                    <a:bodyPr/>
                    <a:lstStyle/>
                    <a:p>
                      <a:r>
                        <a:rPr sz="1350" b="0">
                          <a:solidFill>
                            <a:srgbClr val="202020"/>
                          </a:solidFill>
                          <a:latin typeface="Lato"/>
                          <a:ea typeface="Lato"/>
                          <a:cs typeface="Lato"/>
                        </a:rPr>
                        <a:t>1.75</a:t>
                      </a:r>
                    </a:p>
                  </a:txBody>
                  <a:tcPr marL="91440" marR="91440" marT="45720" marB="45720" anchor="ctr">
                    <a:solidFill>
                      <a:srgbClr val="FFFFFF"/>
                    </a:solidFill>
                  </a:tcPr>
                </a:tc>
                <a:tc>
                  <a:txBody>
                    <a:bodyPr/>
                    <a:lstStyle/>
                    <a:p>
                      <a:r>
                        <a:rPr sz="1350" b="0">
                          <a:solidFill>
                            <a:srgbClr val="202020"/>
                          </a:solidFill>
                          <a:latin typeface="Lato"/>
                          <a:ea typeface="Lato"/>
                          <a:cs typeface="Lato"/>
                        </a:rPr>
                        <a:t>3.50</a:t>
                      </a:r>
                    </a:p>
                  </a:txBody>
                  <a:tcPr marL="91440" marR="91440" marT="45720" marB="45720" anchor="ctr">
                    <a:solidFill>
                      <a:srgbClr val="FFFFFF"/>
                    </a:solidFill>
                  </a:tcPr>
                </a:tc>
              </a:tr>
            </a:tbl>
          </a:graphicData>
        </a:graphic>
      </p:graphicFrame>
      <p:sp>
        <p:nvSpPr>
          <p:cNvPr id="50" name="Review interpretation">
            <a:extLst xmlns:a="http://schemas.openxmlformats.org/drawingml/2006/main">
              <a:ext uri="{FF2B5EF4-FFF2-40B4-BE49-F238E27FC236}">
                <a16:creationId xmlns:a16="http://schemas.microsoft.com/office/drawing/2014/main" id="{E4E64681-81C3-4631-B7E1-F1EA90B6D09E}"/>
              </a:ext>
            </a:extLst>
          </p:cNvPr>
          <p:cNvSpPr>
            <a:spLocks xmlns:a="http://schemas.openxmlformats.org/drawingml/2006/main" noGrp="1"/>
          </p:cNvSpPr>
          <p:nvPr/>
        </p:nvSpPr>
        <p:spPr>
          <a:xfrm xmlns:a="http://schemas.openxmlformats.org/drawingml/2006/main">
            <a:off x="457200" y="4978400"/>
            <a:ext cx="10648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202020"/>
                </a:solidFill>
                <a:latin typeface="Lato"/>
                <a:ea typeface="Lato"/>
                <a:cs typeface="Lato"/>
              </a:defRPr>
            </a:pPr>
            <a:r>
              <a:rPr sz="1125">
                <a:solidFill>
                  <a:srgbClr val="202020"/>
                </a:solidFill>
                <a:latin typeface="Lato"/>
                <a:ea typeface="Lato"/>
                <a:cs typeface="Lato"/>
              </a:rPr>
              <a:t>Assumed gateway capture: 10/20/30%. Half of captured Durban flow routes to Lesedi. At two turns/month, Durban’s tank screen caps the high case at 3.50bn L. These are conditional total volumes, not measured shares or incremental sales.</a:t>
            </a:r>
          </a:p>
        </p:txBody>
      </p:sp>
    </p:spTree>
    <p:extLst>
      <p:ext uri="{BB962C8B-B14F-4D97-AF65-F5344CB8AC3E}">
        <p14:creationId xmlns:p14="http://schemas.microsoft.com/office/powerpoint/2010/main" val="2262530614"/>
      </p:ext>
    </p:extLst>
  </p:cSld>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2026-10-10T11:18:05.8690000Z</dcterms:created>
  <dcterms:modified xsi:type="dcterms:W3CDTF">2026-10-10T11:18:05.8690000Z</dcterms:modified>
</coreProperties>
</file>