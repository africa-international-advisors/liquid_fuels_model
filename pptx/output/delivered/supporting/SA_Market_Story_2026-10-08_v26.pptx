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48"/>
  </p:notesMasterIdLst>
  <p:sldIdLst>
    <p:sldId id="256" r:id="rId5"/>
    <p:sldId id="277" r:id="rId6"/>
    <p:sldId id="278" r:id="rId7"/>
    <p:sldId id="279" r:id="rId8"/>
    <p:sldId id="280" r:id="rId9"/>
    <p:sldId id="281" r:id="rId10"/>
    <p:sldId id="282" r:id="rId11"/>
    <p:sldId id="316" r:id="rId12"/>
    <p:sldId id="283" r:id="rId13"/>
    <p:sldId id="284" r:id="rId14"/>
    <p:sldId id="315" r:id="rId15"/>
    <p:sldId id="286" r:id="rId16"/>
    <p:sldId id="287" r:id="rId17"/>
    <p:sldId id="288" r:id="rId18"/>
    <p:sldId id="289" r:id="rId19"/>
    <p:sldId id="317" r:id="rId20"/>
    <p:sldId id="290" r:id="rId21"/>
    <p:sldId id="306" r:id="rId22"/>
    <p:sldId id="305" r:id="rId23"/>
    <p:sldId id="291" r:id="rId24"/>
    <p:sldId id="292" r:id="rId25"/>
    <p:sldId id="293" r:id="rId26"/>
    <p:sldId id="294" r:id="rId27"/>
    <p:sldId id="295" r:id="rId28"/>
    <p:sldId id="296" r:id="rId29"/>
    <p:sldId id="318" r:id="rId30"/>
    <p:sldId id="297" r:id="rId31"/>
    <p:sldId id="298" r:id="rId32"/>
    <p:sldId id="299" r:id="rId33"/>
    <p:sldId id="300" r:id="rId34"/>
    <p:sldId id="301" r:id="rId35"/>
    <p:sldId id="302" r:id="rId36"/>
    <p:sldId id="319" r:id="rId37"/>
    <p:sldId id="303" r:id="rId38"/>
    <p:sldId id="304" r:id="rId39"/>
    <p:sldId id="307" r:id="rId40"/>
    <p:sldId id="308" r:id="rId41"/>
    <p:sldId id="309" r:id="rId42"/>
    <p:sldId id="310" r:id="rId43"/>
    <p:sldId id="311" r:id="rId44"/>
    <p:sldId id="312" r:id="rId45"/>
    <p:sldId id="313" r:id="rId46"/>
    <p:sldId id="314" r:id="rId47"/>
  </p:sldIdLst>
  <p:sldSz cx="11588750" cy="6858000"/>
  <p:notesSz cx="6858000" cy="9144000"/>
  <p:embeddedFontLst>
    <p:embeddedFont>
      <p:font typeface="Lato" panose="020F0502020204030203" pitchFamily="34" charset="0"/>
      <p:regular r:id="rId49"/>
      <p:bold r:id="rId50"/>
      <p:italic r:id="rId51"/>
      <p:boldItalic r:id="rId5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2023 total 21.94bn L. FIASA 2024 total 20.76bn L is unverified; no 2025 sales. SARS imports 2020-2025. Eskom FY2025 own diesel + kerosene. M/M remains an uncalibrated reference.</a:t>
            </a:r>
          </a:p>
          <a:p>
            <a:endParaRPr lang="en-GB"/>
          </a:p>
          <a:p>
            <a:r>
              <a:rPr lang="en-GB"/>
              <a:t>Workbook source commit: 8a3c884b0d26a3c5819a9a0b702024ab60485d1e
Add latest comparable national scale and sales-source qualification.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recommendation supported by an authored Lesedi illustration, not a calibrated forecast. Reported capacity is used; capture, working capacity, tariffs, capex and discount rate are assumptions. No customer volume is represented as secured.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100% project basis, constant ZAR; capex at t0; operating ramp 50%/75%/100%; no tax, working capital, construction delay, inflation or residual value. Turnover and occupancy are distinct. Full assumptions, benchmarks, options and downside tests: pp39–42.</a:t>
            </a:r>
          </a:p>
          <a:p>
            <a:endParaRPr lang="en-GB"/>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p>
          <a:p>
            <a:endParaRPr lang="en-GB"/>
          </a:p>
          <a:p>
            <a:r>
              <a:rPr lang="en-GB"/>
              <a:t>Original import-direction framework: [["LOW demand\nD1–D5", "L / H\nLOWEST IMPORT PRESSURE\nDomestic routing and customer capture still determine terminal turns.", "L / M\nLower imports than baseline.\nTest utilisation and customer capture.", "L / L\nDemand and supply both fall.\nNet import effect depends on their relative change."], ["MEDIUM demand\nD1–D5", "M / H\nLower imports than baseline.\nSupply recovery reduces import needs.", "M / M\nBASELINE\nReference sourcing, captured throughput, required turns and headroom.", "M / L\nHigher imports than baseline.\nSupply losses increase import needs."], ["HIGH demand\nD1–D5", "H / H\nDemand and supply both rise.\nNet import effect depends on their relative change.", "H / M\nHigher imports than baseline.\nDemand growth increases import needs.", "H / L\nHIGHEST IMPORT PRESSURE\nTest the captured flow against working capacity and achievable turns."]]
The nine numerical cells use an authored regional supply-delivery bridge, not calibrated national refinery output. Original qualitative rail/EV investment priorities remain in v23 and p15.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sales 2013-2023: petrol CAGR -2.08%, diesel +0.82%. FIASA 2024 is excluded from the trend. Workbook History Q71/R71. RAF levy evidence uses fiscal years and still needs reconciliation.</a:t>
            </a:r>
          </a:p>
          <a:p>
            <a:endParaRPr lang="en-GB"/>
          </a:p>
          <a:p>
            <a:r>
              <a:rPr lang="en-GB"/>
              <a:t>Workbook source commit: 8a3c884b0d26a3c5819a9a0b702024ab60485d1e
Keep comparable 2013-2023 chart; add latest-year coverage and reconciliation caution.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p>
          <a:p>
            <a:endParaRPr lang="en-GB"/>
          </a:p>
          <a:p>
            <a:r>
              <a:rPr lang="en-GB"/>
              <a:t>Workbook source commit: 8a3c884b0d26a3c5819a9a0b702024ab60485d1e
Add sector fuel scale and the freight-operator proxy without changing measured support bars.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Sector history M6/O6/R9, M16/O16/R19, M22/O22/R25. Department energy balance to 2021; later fuel estimated with activity and average intensity. Sector attribution and road overlap require review.</a:t>
            </a:r>
          </a:p>
          <a:p>
            <a:endParaRPr lang="en-GB"/>
          </a:p>
          <a:p>
            <a:r>
              <a:rPr lang="en-GB"/>
              <a:t>Workbook source commit: 8a3c884b0d26a3c5819a9a0b702024ab60485d1e
New requested sector exhibit; separate observed fuel history from activity-based estimates.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SARS litre-reported petrol/diesel codes, complete calendar years. 2020–2025 changes are historical comparisons, not plant-level causal attribution. Export histories retained in the source report; unit/blend exclusions remain.</a:t>
            </a:r>
          </a:p>
          <a:p>
            <a:endParaRPr lang="en-GB"/>
          </a:p>
          <a:p>
            <a:r>
              <a:rPr lang="en-GB"/>
              <a:t>Workbook source commit: 8a3c884b0d26a3c5819a9a0b702024ab60485d1e
Show gross versus net imports and preserve sales/production boundaries.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Sources: Vopak terminal directory; Annual Report 2025 confirms Lesedi expansion commissioned in 2025. Published capacity is not working capacity or throughput. Operating data request: p18. Illustrative turnover sensitivity moved to p43; it is not observed utilisation.</a:t>
            </a:r>
          </a:p>
          <a:p>
            <a:endParaRPr lang="en-GB"/>
          </a:p>
          <a:p>
            <a:r>
              <a:rPr lang="en-GB"/>
              <a:t>Page 10 establishes the situation following corridor geography. Commercial and operational evidence remains open; do not infer spare capacity from gross tankage.
Workbook source commit: 8a3c884b0d26a3c5819a9a0b702024ab60485d1e
Clarify that the commissioned Lesedi expansion is included in the existing footprint.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freight; naamsa all-market sales 2019-2025, Workbook Vehicle history S31:S36. BEV/PHEV/HEV sales are distinct from fleet shares. Efficiency paths remain model assumptions, with OEM history and annual calibration open.</a:t>
            </a:r>
          </a:p>
          <a:p>
            <a:endParaRPr lang="en-GB"/>
          </a:p>
          <a:p>
            <a:r>
              <a:rPr lang="en-GB"/>
              <a:t>Workbook source commit: 8a3c884b0d26a3c5819a9a0b702024ab60485d1e
Separate observed drivetrain sales from assumed efficiency and adoption paths.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FY ending March: reported own diesel + kerosene; Eskom/IPP GWh include kerosene output. Workbook Power fleet separates the four diesel stations. Gas switch, coal-site repowering and L/M/H settings await Nigel/Henry review.</a:t>
            </a:r>
          </a:p>
          <a:p>
            <a:endParaRPr lang="en-GB"/>
          </a:p>
          <a:p>
            <a:r>
              <a:rPr lang="en-GB"/>
              <a:t>Workbook source commit: 8a3c884b0d26a3c5819a9a0b702024ab60485d1e
Distinguish own reported burn from combined generation-derived estimates and proposed cases.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Compare common product, destination, price date and tax basis. Emerging gateways must be considered; no relative cost ranking is asserted without quotes and verified access. Landlocked SADC opportunities require separate market/access evidence.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8 October PS framework; workbook History Q71/R71. 2023 Department sales 21.94bn L; 2024 FIASA 20.76bn L, unverified. Estimate accessible markets, then verify actual capture. Shared flows and client operating/economic inputs remain open.</a:t>
            </a:r>
          </a:p>
          <a:p>
            <a:endParaRPr lang="en-GB"/>
          </a:p>
          <a:p>
            <a:r>
              <a:rPr lang="en-GB"/>
              <a:t>Workbook source commit: 8a3c884b0d26a3c5819a9a0b702024ab60485d1e
Integrate the approved issue tree into Resolution with updated baseline evidence.</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382323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p>
          <a:p>
            <a:endParaRPr lang="en-GB"/>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DR01-DR09 register and 8 October PS handback. Prepared, not sent; receipt not recorded. DR09 EV adjacency remains separate. Public estimates can proceed while client data is pending.</a:t>
            </a:r>
          </a:p>
          <a:p>
            <a:endParaRPr lang="en-GB"/>
          </a:p>
          <a:p>
            <a:r>
              <a:rPr lang="en-GB"/>
              <a:t>Workbook source commit: 8a3c884b0d26a3c5819a9a0b702024ab60485d1e
Replace the request summary with all active baseline, route, demand, supply and client gaps.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endParaRPr lang="en-GB"/>
          </a:p>
          <a:p>
            <a:r>
              <a:rPr lang="en-GB"/>
              <a:t>Workbook source commit: 8a3c884b0d26a3c5819a9a0b702024ab60485d1e
Refresh evidence navigation to include the added workbook exhibits.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Staged GDP and department fuel sales, indices 2013=100. Sector attribution remains open; COVID distorts short-period comparisons.</a:t>
            </a:r>
          </a:p>
          <a:p>
            <a:endParaRPr lang="en-GB"/>
          </a:p>
          <a:p>
            <a:r>
              <a:rPr lang="en-GB"/>
              <a:t>Workbook source commit: 8a3c884b0d26a3c5819a9a0b702024ab60485d1e
Link aggregate GDP chart to the sector intensity exhibit rather than assume uniform fuel elasticity.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World Bank WDI, FDI net inflows and gross fixed capital formation as % of GDP, 2010–2025. Confidence series remains an evidence gap.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Sector history R7/R9/R17/R19/S23/S25 and History R117/R124/R125. Sector litres after 2021 are estimates; jet 2024 uses unverified FIASA. Index base 2019=100; GVA in 2015 prices.</a:t>
            </a:r>
          </a:p>
          <a:p>
            <a:endParaRPr lang="en-GB"/>
          </a:p>
          <a:p>
            <a:r>
              <a:rPr lang="en-GB"/>
              <a:t>Workbook source commit: 8a3c884b0d26a3c5819a9a0b702024ab60485d1e
Quantify sector and jet context from the workbook while preserving sector definitions.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fuel-price history, nominal R/litre. No quantified geopolitical premium or calibrated EV adoption response is asserted.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Vehicle history S6:S8/S24/S26. Apparent retirements are not verified scrappage. Stone et al. study uses a 2014 base; no recent OEM efficiency history or fuel-by-class stock is established.</a:t>
            </a:r>
          </a:p>
          <a:p>
            <a:endParaRPr lang="en-GB"/>
          </a:p>
          <a:p>
            <a:r>
              <a:rPr lang="en-GB"/>
              <a:t>Workbook source commit: 8a3c884b0d26a3c5819a9a0b702024ab60485d1e
Add observed apparent replacement and distinguish cohort assumptions from efficiency history.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Vehicle history S6:S8/S18:S20/S24/S26/S31:S36/Q52. NaTIS and naamsa classes are not identical. Apparent retirement is not verified scrappage; petrol diagnostic compares different scopes.</a:t>
            </a:r>
          </a:p>
          <a:p>
            <a:endParaRPr lang="en-GB"/>
          </a:p>
          <a:p>
            <a:r>
              <a:rPr lang="en-GB"/>
              <a:t>Workbook source commit: 8a3c884b0d26a3c5819a9a0b702024ab60485d1e
New requested fleet and model-calibration evidence, with scope limits retained.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Eskom Integrated Report 2025, FY March, own diesel + kerosene. Workbook combined generation includes IPPs and kerosene stations; multiplying it by 0.31 L/kWh is an estimate, not reported diesel burn. Private backup remains unmeasured.</a:t>
            </a:r>
          </a:p>
          <a:p>
            <a:endParaRPr lang="en-GB"/>
          </a:p>
          <a:p>
            <a:r>
              <a:rPr lang="en-GB"/>
              <a:t>Workbook source commit: 8a3c884b0d26a3c5819a9a0b702024ab60485d1e
Retain comparable own-fleet reported fuel; qualify scope relative to the new fleet page.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Stats SA payload and transport-industry fuel purchases. Workbook Diesel by use Q28: spending / average diesel price, hire-and-reward firms only; may include petrol/lubricants. Road residual includes unseparated uses; tonne-km and rail traction remain open.</a:t>
            </a:r>
          </a:p>
          <a:p>
            <a:endParaRPr lang="en-GB"/>
          </a:p>
          <a:p>
            <a:r>
              <a:rPr lang="en-GB"/>
              <a:t>Workbook source commit: 8a3c884b0d26a3c5819a9a0b702024ab60485d1e
Add the spending-based operator fuel proxy; preserve the tonne-kilometre evidence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User-supplied AIA Transnet Funding Brief, Sep 2026, pp1–2; cites FY2026 AFS and Network Statement v4 Annexure 17. Primary figures not independently reconciled.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Department provincial sales through 2022; workbook History Q84/Q104 and R84/R104 estimate later volumes. 2024 also uses unverified FIASA national sales. The chart retains observed 2013-2022 sales history, not current market share.</a:t>
            </a:r>
          </a:p>
          <a:p>
            <a:endParaRPr lang="en-GB"/>
          </a:p>
          <a:p>
            <a:r>
              <a:rPr lang="en-GB"/>
              <a:t>Workbook source commit: 8a3c884b0d26a3c5819a9a0b702024ab60485d1e
Add estimated provincial updates without converting sales or capacity into current share.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HML response has 29 levers. Examples: BEV adoption, rail diversion, mileage, prices, hybrids, truck/LCV electrification and neighbouring exports. All replacement ranges remain proposals; no forecast inputs are adopted in this pack.</a:t>
            </a:r>
          </a:p>
          <a:p>
            <a:endParaRPr lang="en-GB"/>
          </a:p>
          <a:p>
            <a:r>
              <a:rPr lang="en-GB"/>
              <a:t>Workbook source commit: 8a3c884b0d26a3c5819a9a0b702024ab60485d1e
Expose the expanded lever register without adopting analyst proposals.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Power fleet F11:S15 and N63:N65; proposed scenarios, not forecasts. Generation includes kerosene. IPP renewal, gas availability and coal-site repowering are not established. Historical burn must match scope and period.</a:t>
            </a:r>
          </a:p>
          <a:p>
            <a:endParaRPr lang="en-GB"/>
          </a:p>
          <a:p>
            <a:r>
              <a:rPr lang="en-GB"/>
              <a:t>Workbook source commit: 8a3c884b0d26a3c5819a9a0b702024ab60485d1e
Replace generic fleet-data gap wording with the assembled fleet and remaining dispatch dependencies.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Power fleet F11:F15, N63:N65 and S63:S65. Proposed cases, Nigel/Henry review D22. 0.31 L/kWh, backup fraction, load factors, gas supply and coal-site repowering need review. Kerosene stations and private backup are separate.</a:t>
            </a:r>
          </a:p>
          <a:p>
            <a:endParaRPr lang="en-GB"/>
          </a:p>
          <a:p>
            <a:r>
              <a:rPr lang="en-GB"/>
              <a:t>Workbook source commit: 8a3c884b0d26a3c5819a9a0b702024ab60485d1e
New fleet inventory and analyst power scenarios, expressly unapproved.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Existing capacity illustrations retained. Workbook History R53/S53: Sasol all-refined-products output, June FY. Department product production stops at 2021; stocks, plant yields and restart calibration remain open.</a:t>
            </a:r>
          </a:p>
          <a:p>
            <a:endParaRPr lang="en-GB"/>
          </a:p>
          <a:p>
            <a:r>
              <a:rPr lang="en-GB"/>
              <a:t>Workbook source commit: 8a3c884b0d26a3c5819a9a0b702024ab60485d1e
Add operator output context and reinforce product-output versus nameplate distinction.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Existing capacity-scale ratios retained, not throughput shares. Workbook provincial estimates: 2023 estimated shares; 2024 estimated shares plus unverified national sales. Client throughput and commercial access remain open.</a:t>
            </a:r>
          </a:p>
          <a:p>
            <a:endParaRPr lang="en-GB"/>
          </a:p>
          <a:p>
            <a:r>
              <a:rPr lang="en-GB"/>
              <a:t>Workbook source commit: 8a3c884b0d26a3c5819a9a0b702024ab60485d1e
Explain the accessible-market method alongside existing footprint proxies.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Workbook History Q59/Q64/R59/R64/S36:S40/R70. RAF-derived 24.42bn L is combined fuel, fiscal/accrual basis, not an adopted calendar sales total. Product output after 2021 and stocks remain missing; 2025 trade is not 2025 consumption.</a:t>
            </a:r>
          </a:p>
          <a:p>
            <a:endParaRPr lang="en-GB"/>
          </a:p>
          <a:p>
            <a:r>
              <a:rPr lang="en-GB"/>
              <a:t>Workbook source commit: 8a3c884b0d26a3c5819a9a0b702024ab60485d1e
Extend national evidence, add RAF reconciliation flag and retain production/stock gap.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Screening functions tested with synthetic cases; commercial outputs remain unpopulated. Not integrated into the forecast engine or independently reviewed. Owners, request IDs and expiry triggers: workstreams/WS0_governance/workplan/sa_investment_bridge_2026_10_08.csv.</a:t>
            </a:r>
          </a:p>
          <a:p>
            <a:endParaRPr lang="en-GB"/>
          </a:p>
          <a:p>
            <a:r>
              <a:rPr lang="en-GB"/>
              <a:t>Workbook source commit: 8a3c884b0d26a3c5819a9a0b702024ab60485d1e
Refresh implementation status for the analyst workbook, without asserting forecast integration.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p>
          <a:p>
            <a:endParaRPr lang="en-GB"/>
          </a:p>
          <a:p>
            <a:r>
              <a:rPr lang="en-GB"/>
              <a:t>Workbook source commit: 8a3c884b0d26a3c5819a9a0b702024ab60485d1e
Align original synthesis with the updated consumption scale.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Vopak Annual Report 2025 pp36/39, 63, 213 and 324; FY2025 Analyst Presentation p24; official terminal directory checked 8 Oct 2026. All other business units includes multiple countries; do not allocate its profit to South Africa. URLs, downloaded originals and hashes retained.</a:t>
            </a:r>
          </a:p>
          <a:p>
            <a:endParaRPr lang="en-GB"/>
          </a:p>
          <a:p>
            <a:r>
              <a:rPr lang="en-GB"/>
              <a:t>Workbook source commit: 8a3c884b0d26a3c5819a9a0b702024ab60485d1e
Prevent double-counting the commissioned Lesedi expansion in the asset evidence.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Every illustrative value is registered in assumptions/2026/vopak_investment_illustration.yaml. Not a forecast, commercial offer or approval. Proposed validation: Nigel coordinates Vopak commercial/operations; Manish reconciles; independent review outstanding.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Reported Vopak context and illustrative investment economics; all commercial assumptions require validation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Slow demand growth and greater import reliance set the baseline; road-to-rail shifts, EV adoption, power recovery and refinery changes could reshape the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sales 2013-2023; 2023 total 21.94bn L. FIASA 2024 total 20.76bn L is unverified; no 2025 sales. SARS imports 2020-2025. Eskom FY2025 own diesel + kerosene. M/M remains an uncalibrated reference.</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61048750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2023 Department sales: 21.94bn L.
Petrol CAGR -2.08%; diesel +0.82%.
Own Eskom fuel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Sector activity, fleet replacement and
power dispatch change fuel use.
2024 sales remain unverified.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Prioritise capture and turnover through existing assets; expand where profitable demand exceeds achievable capacity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recommendation supported by an authored Lesedi illustration, not a calibrated forecast. Reported capacity is used; capture, working capacity, tariffs, capex and discount rate are assumptions. No customer volume is represented as secured.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42195622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Working recommendation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logic</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Condition for commitment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Win accessible customer flows from imported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Prove delivered competitiveness and sufficient customer volume.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existing
assets first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worked illustration favours existing assets in six worlds; access/dispatch improvement in two.</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working capacity and the actual operating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Stage corridor
and capacity spend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Only high demand / low domestic supply favours extra tanks, with a narrow advantage over improvement alone.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Fund the least-cost viable option that removes the proven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Keep strategic
options open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all nine worlds and emerging gateways; screen EV adjacencies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Validate capture, chargeable revenues and capex first; the illustrated choice reverses under downside tests.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pic>
        <p:nvPicPr>
          <p:cNvPr id="6" name="Argument icon ship">
            <a:extLst>
              <a:ext uri="{FF2B5EF4-FFF2-40B4-BE49-F238E27FC236}">
                <a16:creationId xmlns:a16="http://schemas.microsoft.com/office/drawing/2014/main" id="{87CF06A2-2E84-63BB-D567-6F100D78AF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7" name="Argument icon route">
            <a:extLst>
              <a:ext uri="{FF2B5EF4-FFF2-40B4-BE49-F238E27FC236}">
                <a16:creationId xmlns:a16="http://schemas.microsoft.com/office/drawing/2014/main" id="{31C14134-62AB-3256-04ED-33DD86B76A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22" name="Argument icon turns">
            <a:extLst>
              <a:ext uri="{FF2B5EF4-FFF2-40B4-BE49-F238E27FC236}">
                <a16:creationId xmlns:a16="http://schemas.microsoft.com/office/drawing/2014/main" id="{0B4613C7-3859-DFE1-7E02-3CD3F6931F5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4" name="Argument icon matrix">
            <a:extLst>
              <a:ext uri="{FF2B5EF4-FFF2-40B4-BE49-F238E27FC236}">
                <a16:creationId xmlns:a16="http://schemas.microsoft.com/office/drawing/2014/main" id="{BEC0AFB8-04AE-6680-611F-6A42BC571C4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illustrated expansion case passes narrowly—and depends on capture, revenue and capex</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ILLUSTRATIVE ONLY. 100% project basis, constant ZAR; capex at t0; operating ramp 50%/75%/100%; no tax, working capital, construction delay, inflation or residual value. Turnover and occupancy are distinct. Full assumptions, benchmarks, options and downside tests: pp39–42.</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81969280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778000">
                  <a:extLst>
                    <a:ext uri="{9D8B030D-6E8A-4147-A177-3AD203B41FA5}">
                      <a16:colId xmlns:a16="http://schemas.microsoft.com/office/drawing/2014/main" val="20000"/>
                    </a:ext>
                  </a:extLst>
                </a:gridCol>
                <a:gridCol w="2730500">
                  <a:extLst>
                    <a:ext uri="{9D8B030D-6E8A-4147-A177-3AD203B41FA5}">
                      <a16:colId xmlns:a16="http://schemas.microsoft.com/office/drawing/2014/main" val="20001"/>
                    </a:ext>
                  </a:extLst>
                </a:gridCol>
                <a:gridCol w="3175000">
                  <a:extLst>
                    <a:ext uri="{9D8B030D-6E8A-4147-A177-3AD203B41FA5}">
                      <a16:colId xmlns:a16="http://schemas.microsoft.com/office/drawing/2014/main" val="20002"/>
                    </a:ext>
                  </a:extLst>
                </a:gridCol>
                <a:gridCol w="29692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test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Numeric condition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high / low case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Still needs verification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Customer
volume</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Tanks must outperform improving existing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Assumed capture 2.813bn L/year; tanks win above 2.806bn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secured volumes inferred. Validate customer capture and contract duration.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Route
economics</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Delivered-cost headroom ≥ R0/m³.</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R750 allowable less R650 assumed logistics = R100/m³ headroom.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Both prices are authored. Compare actual Durban, Maputo, Walvis Bay and domestic quotes.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Capacity
constraint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Captured flow exceeds achievable handling.</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Existing 1.890bn L/year; improvement 2.268bn; tanks 2.916bn.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capacity and 1.25 / 1.50 monthly turns are assumptions, not reported operations.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Incremental
return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Positive NPV and better value than the alternative.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NPV R+27m; combined R+35m. Extra advantage only R8m.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10% discount rate, 20 years, pre-tax. Actual tariffs, cost, tax and project schedule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7" name="Argument icon transport">
            <a:extLst>
              <a:ext uri="{FF2B5EF4-FFF2-40B4-BE49-F238E27FC236}">
                <a16:creationId xmlns:a16="http://schemas.microsoft.com/office/drawing/2014/main" id="{CDF4F119-FDEF-22AD-8F9E-D71A3A35321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1" name="Argument icon corridor">
            <a:extLst>
              <a:ext uri="{FF2B5EF4-FFF2-40B4-BE49-F238E27FC236}">
                <a16:creationId xmlns:a16="http://schemas.microsoft.com/office/drawing/2014/main" id="{9526BB2F-3AE4-807C-64BA-51DF63105B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6" name="Argument icon supply">
            <a:extLst>
              <a:ext uri="{FF2B5EF4-FFF2-40B4-BE49-F238E27FC236}">
                <a16:creationId xmlns:a16="http://schemas.microsoft.com/office/drawing/2014/main" id="{9AC7A88F-EE1F-650F-0D5E-A43283F0486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8" name="Argument icon investment">
            <a:extLst>
              <a:ext uri="{FF2B5EF4-FFF2-40B4-BE49-F238E27FC236}">
                <a16:creationId xmlns:a16="http://schemas.microsoft.com/office/drawing/2014/main" id="{3B44A565-A667-39BE-D367-DFE7B8DC4B8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Only one illustrative world favours tanks; six favour existing assets and two favour improvement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ILLUSTRATIVE snapshot, not forecast or probabilities. Domestic supply here means assumed deliveries into Gauteng, not national refinery capacity. Shares, rates and costs held fixed across worlds. Rail/EV opportunities remain separate cases, not valued here. Each cell is relative to existing assets; unserved volumes can remain. Inputs: p41; downside: p42.</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542659755"/>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Gauteng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HIGH deliveries
4.8bn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deliveries
3.6bn L/year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LOW deliveries
2.4bn L/year</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LOW demand
6.0bn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USE EXISTING ASSETS
Capture 0.99bn L/year
Incremental NPV R+0m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USE EXISTING ASSETS
Capture 1.50bn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L
USE EXISTING ASSETS
Capture 2.01bn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MEDIUM demand
6.8bn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USE EXISTING ASSETS
Capture 1.39bn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 BASELINE
USE EXISTING ASSETS
Capture 1.90bn L/year
Incremental NPV R+0m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L
IMPROVE ACCESS / DISPATCH
Capture 2.41bn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HIGH demand
7.6bn L/year</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USE EXISTING ASSETS
Capture 1.80bn L/year
Incremental NPV R+0m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IMPROVE ACCESS / DISPATCH
Capture 2.30bn L/year
Incremental NPV R+27m</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TEST IMPROVEMENT + TANKS
Capture 2.81bn L/year
Incremental NPV R+35m</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Highest incremental NPV among three illustrative packages; R0 means retain existing assets, not zero terminal value.</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sales 2013-2023: petrol CAGR -2.08%, diesel +0.82%. FIASA 2024 is excluded from the trend. Workbook History Q71/R71. RAF levy evidence uses fiscal years and still needs reconciliation.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2023 Department sales total 21.94bn L. The 2024 FIASA comparison is 20.76bn L, unverified; no 2025 sales figure is available.</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ZW" sz="6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 Workbook Sector history: post-2021 litres estimated. Freight proxy = survey fuel spending / wholesale price; partial coverage.</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291882793"/>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450m fewer litres in one year. Sustained recovery reduces diesel demand; retirements and replacement timing could reverse it.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Road carries 85.3% of tonnes.
Workbook truck-fuel proxy: 3.15bn L
in 2023, partial operator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Sector
activity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Activity differs by sector.
2024 indicative diesel: mining 1.40,
industry residual 0.17, farms 0.96bn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Mining, manufacturing and agriculture link diesel demand to sector activity</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Sector history M6/O6/R9, M16/O16/R19, M22/O22/R25. Department energy balance to 2021; later fuel estimated with activity and average intensity. Sector attribution and road overlap require review.</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graphicFrame>
        <p:nvGraphicFramePr>
          <p:cNvPr id="4" name="Native evidence table">
            <a:extLst>
              <a:ext uri="{FF2B5EF4-FFF2-40B4-BE49-F238E27FC236}">
                <a16:creationId xmlns:a16="http://schemas.microsoft.com/office/drawing/2014/main" id="{742F7DFD-810C-4409-F37D-2E96E7321E18}"/>
              </a:ext>
            </a:extLst>
          </p:cNvPr>
          <p:cNvGraphicFramePr>
            <a:graphicFrameLocks noGrp="1"/>
          </p:cNvGraphicFramePr>
          <p:nvPr>
            <p:extLst>
              <p:ext uri="{D42A27DB-BD31-4B8C-83A1-F6EECF244321}">
                <p14:modId xmlns:p14="http://schemas.microsoft.com/office/powerpoint/2010/main" val="548607620"/>
              </p:ext>
            </p:extLst>
          </p:nvPr>
        </p:nvGraphicFramePr>
        <p:xfrm>
          <a:off x="457199" y="1651000"/>
          <a:ext cx="10652760" cy="38481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154773579"/>
                    </a:ext>
                  </a:extLst>
                </a:gridCol>
                <a:gridCol w="1397000">
                  <a:extLst>
                    <a:ext uri="{9D8B030D-6E8A-4147-A177-3AD203B41FA5}">
                      <a16:colId xmlns:a16="http://schemas.microsoft.com/office/drawing/2014/main" val="832923113"/>
                    </a:ext>
                  </a:extLst>
                </a:gridCol>
                <a:gridCol w="1397000">
                  <a:extLst>
                    <a:ext uri="{9D8B030D-6E8A-4147-A177-3AD203B41FA5}">
                      <a16:colId xmlns:a16="http://schemas.microsoft.com/office/drawing/2014/main" val="2422807819"/>
                    </a:ext>
                  </a:extLst>
                </a:gridCol>
                <a:gridCol w="1651000">
                  <a:extLst>
                    <a:ext uri="{9D8B030D-6E8A-4147-A177-3AD203B41FA5}">
                      <a16:colId xmlns:a16="http://schemas.microsoft.com/office/drawing/2014/main" val="1734030139"/>
                    </a:ext>
                  </a:extLst>
                </a:gridCol>
                <a:gridCol w="4366260">
                  <a:extLst>
                    <a:ext uri="{9D8B030D-6E8A-4147-A177-3AD203B41FA5}">
                      <a16:colId xmlns:a16="http://schemas.microsoft.com/office/drawing/2014/main" val="3778891827"/>
                    </a:ext>
                  </a:extLst>
                </a:gridCol>
              </a:tblGrid>
              <a:tr h="482600">
                <a:tc>
                  <a:txBody>
                    <a:bodyPr/>
                    <a:lstStyle/>
                    <a:p>
                      <a:pPr>
                        <a:spcAft>
                          <a:spcPts val="0"/>
                        </a:spcAft>
                      </a:pPr>
                      <a:r>
                        <a:rPr lang="en-ZA" sz="1250" b="1">
                          <a:solidFill>
                            <a:schemeClr val="dk1"/>
                          </a:solidFill>
                          <a:latin typeface="Lato" panose="020F0502020204030203" pitchFamily="34" charset="0"/>
                        </a:rPr>
                        <a:t>Sector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50" b="1">
                          <a:solidFill>
                            <a:schemeClr val="dk1"/>
                          </a:solidFill>
                          <a:latin typeface="Lato" panose="020F0502020204030203" pitchFamily="34" charset="0"/>
                        </a:rPr>
                        <a:t>2019 diesel
bn litres</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50" b="1">
                          <a:solidFill>
                            <a:schemeClr val="dk1"/>
                          </a:solidFill>
                          <a:latin typeface="Lato" panose="020F0502020204030203" pitchFamily="34" charset="0"/>
                        </a:rPr>
                        <a:t>2021 diesel
bn litres</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50" b="1">
                          <a:solidFill>
                            <a:schemeClr val="dk1"/>
                          </a:solidFill>
                          <a:latin typeface="Lato" panose="020F0502020204030203" pitchFamily="34" charset="0"/>
                        </a:rPr>
                        <a:t>2024 estimate
bn litres</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50" b="1">
                          <a:solidFill>
                            <a:schemeClr val="dk1"/>
                          </a:solidFill>
                          <a:latin typeface="Lato" panose="020F0502020204030203" pitchFamily="34" charset="0"/>
                        </a:rPr>
                        <a:t>Activity and interpretation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139988884"/>
                  </a:ext>
                </a:extLst>
              </a:tr>
              <a:tr h="1121833">
                <a:tc>
                  <a:txBody>
                    <a:bodyPr/>
                    <a:lstStyle/>
                    <a:p>
                      <a:pPr>
                        <a:spcAft>
                          <a:spcPts val="0"/>
                        </a:spcAft>
                      </a:pPr>
                      <a:r>
                        <a:rPr lang="en-ZA" sz="1250" b="1">
                          <a:solidFill>
                            <a:schemeClr val="accent1"/>
                          </a:solidFill>
                          <a:latin typeface="Lato" panose="020F0502020204030203" pitchFamily="34" charset="0"/>
                        </a:rPr>
                        <a:t>Mining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1.67</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1.29</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1.40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50" b="0">
                          <a:solidFill>
                            <a:schemeClr val="dk1"/>
                          </a:solidFill>
                          <a:latin typeface="Lato" panose="020F0502020204030203" pitchFamily="34" charset="0"/>
                        </a:rPr>
                        <a:t>2024 production index 93.5 (2019=100). Fuel intensity varies materially; mine and on-road use overlap.</a:t>
                      </a:r>
                      <a:endParaRPr lang="en-ZA" sz="125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1134636297"/>
                  </a:ext>
                </a:extLst>
              </a:tr>
              <a:tr h="1121833">
                <a:tc>
                  <a:txBody>
                    <a:bodyPr/>
                    <a:lstStyle/>
                    <a:p>
                      <a:pPr>
                        <a:spcAft>
                          <a:spcPts val="0"/>
                        </a:spcAft>
                      </a:pPr>
                      <a:r>
                        <a:rPr lang="en-ZA" sz="1250" b="1">
                          <a:solidFill>
                            <a:schemeClr val="accent1"/>
                          </a:solidFill>
                          <a:latin typeface="Lato" panose="020F0502020204030203" pitchFamily="34" charset="0"/>
                        </a:rPr>
                        <a:t>Manufacturing / non-specified industry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0.16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0.17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50" b="0">
                          <a:solidFill>
                            <a:schemeClr val="dk1"/>
                          </a:solidFill>
                          <a:latin typeface="Lato" panose="020F0502020204030203" pitchFamily="34" charset="0"/>
                        </a:rPr>
                        <a:t>2024 output index 93.3. Fuel is industry less mining/construction, not all industrial use.</a:t>
                      </a:r>
                      <a:endParaRPr lang="en-ZA" sz="125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918979086"/>
                  </a:ext>
                </a:extLst>
              </a:tr>
              <a:tr h="1121833">
                <a:tc>
                  <a:txBody>
                    <a:bodyPr/>
                    <a:lstStyle/>
                    <a:p>
                      <a:pPr>
                        <a:spcAft>
                          <a:spcPts val="0"/>
                        </a:spcAft>
                      </a:pPr>
                      <a:r>
                        <a:rPr lang="en-ZA" sz="1250" b="1">
                          <a:solidFill>
                            <a:schemeClr val="accent1"/>
                          </a:solidFill>
                          <a:latin typeface="Lato" panose="020F0502020204030203" pitchFamily="34" charset="0"/>
                        </a:rPr>
                        <a:t>Agriculture / forestry</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0.92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1.06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50" b="0">
                          <a:solidFill>
                            <a:schemeClr val="dk1"/>
                          </a:solidFill>
                          <a:latin typeface="Lato" panose="020F0502020204030203" pitchFamily="34" charset="0"/>
                        </a:rPr>
                        <a:t>0.96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50" b="0">
                          <a:solidFill>
                            <a:schemeClr val="dk1"/>
                          </a:solidFill>
                          <a:latin typeface="Lato" panose="020F0502020204030203" pitchFamily="34" charset="0"/>
                        </a:rPr>
                        <a:t>2024 GVA R114.8bn, 2015 prices. Weather, crop cycles, irrigation and transport affect exposure.</a:t>
                      </a:r>
                      <a:endParaRPr lang="en-ZA" sz="125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975647684"/>
                  </a:ext>
                </a:extLst>
              </a:tr>
            </a:tbl>
          </a:graphicData>
        </a:graphic>
      </p:graphicFrame>
      <p:sp>
        <p:nvSpPr>
          <p:cNvPr id="5" name="Interpretation">
            <a:extLst>
              <a:ext uri="{FF2B5EF4-FFF2-40B4-BE49-F238E27FC236}">
                <a16:creationId xmlns:a16="http://schemas.microsoft.com/office/drawing/2014/main" id="{D93A93C0-ED9C-C64A-3773-B1ED54B1D8F3}"/>
              </a:ext>
            </a:extLst>
          </p:cNvPr>
          <p:cNvSpPr txBox="1"/>
          <p:nvPr/>
        </p:nvSpPr>
        <p:spPr>
          <a:xfrm>
            <a:off x="495300" y="5689599"/>
            <a:ext cx="10566400" cy="393700"/>
          </a:xfrm>
          <a:prstGeom prst="rect">
            <a:avLst/>
          </a:prstGeom>
          <a:noFill/>
        </p:spPr>
        <p:txBody>
          <a:bodyPr vert="horz" lIns="0" tIns="0" rIns="0" bIns="0" rtlCol="0">
            <a:noAutofit/>
          </a:bodyPr>
          <a:lstStyle/>
          <a:p>
            <a:pPr>
              <a:spcAft>
                <a:spcPts val="200"/>
              </a:spcAft>
            </a:pPr>
            <a:r>
              <a:rPr lang="en-GB" sz="1100">
                <a:solidFill>
                  <a:schemeClr val="dk1"/>
                </a:solidFill>
                <a:latin typeface="Lato" panose="020F0502020204030203" pitchFamily="34" charset="0"/>
              </a:rPr>
              <a:t>Post-2021 fuel estimates hold 2018-2021 average intensity. Mining/manufacturing use litres per index point; agriculture uses litres per real rand of activity.</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263440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SARS litre-reported petrol/diesel codes, complete calendar years. 2020–2025 changes are historical comparisons, not plant-level causal attribution. Export histories retained in the source report; unit/blend exclusions remain.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2025 gross imports: diesel 12.25bn L and petrol 4.45bn L. Combined net imports: 15.15bn L; port allocation and Vopak capture remain open.</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Emerging Maputo and Walvis Bay routes must be tested alongside Durban and domestic supply</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 Emerging alternatives are in scope; relative competitiveness is not yet quantified.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Maputo and Walvis Bay are emerging alternatives to include by destination. Compare delivered cost, capacity and reliable access before estimating how much inland demand Vopak can capture.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Durban and Lesedi connect coastal supply to Gauteng; operating data must establish room for growth</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Sources: Vopak terminal directory; Annual Report 2025 confirms Lesedi expansion commissioned in 2025. Published capacity is not working capacity or throughput. Operating data request: p18. Illustrative turnover sensitivity moved to p43; it is not observed utilisation.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5195692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Asset /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Established position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must be established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360,246 m³ published gross capacity.
Coastal receipt and onward distribution; mixed products.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Isolate petrol/diesel working tankage and actual throughput by product.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140,000 m3 clean-product capacity.
Includes the 40,000 m3 expansion
commissioned in October 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Confirm usable working capacity, annual deliveries and monthly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Operating constraints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capacity establishes the asset footprint.
It does not establish annual handling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receipt, pipeline and dispatch limits, seasonal peaks and stock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Implication for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throughput and achievable turns are not yet established in this review.</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spare capacity is claimed. Test captured demand against verified handling limits before selecting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302896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Stats SA freight; naamsa all-market sales 2019-2025, Workbook Vehicle history S31:S36. BEV/PHEV/HEV sales are distinct from fleet shares. Efficiency paths remain model assumptions, with OEM history and annual calibration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2025 sales: 1,088 BEVs (0.18% of all new sales), 2,810 plug-in hybrids and 12,818 conventional hybrids. Each has a different fuel effect.</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Eskom FY ending March: reported own diesel + kerosene; Eskom/IPP GWh include kerosene output. Workbook Power fleet separates the four diesel stations. Gas switch, coal-site repowering and L/M/H settings await Nigel/Henry review.</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Own Eskom fuel is reported separately. The workbook adds Eskom/IPP generation and four diesel stations; litres derived from output and future dispatch remain estimates.</a:t>
            </a:r>
            <a:endParaRPr lang="en-ZA" sz="105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Emerging gateways could redirect inland growth; delivered cost and reliable access determine capture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Compare common product, destination, price date and tax basis. Emerging gateways must be considered; no relative cost ranking is asserted without quotes and verified access. Landlocked SADC opportunities require separate market/access evidence.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340449478"/>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Competing route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Pipeline, rail and road costs; reliable receipt and inland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access and handling improvements that protect competitive customer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Maputo / Matola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Delivered cost, border time and capacity into each inland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as an emerging alternative; test customer exposure and corridor responses.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Distance, transit, border costs and feasible destination coverage.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Consider emerging inland opportunities; compare reach customer by customer.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sources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Secunda / Natref availability, product output and distribution access.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inland handling and connections as well as import infrastructure.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Durban and Lesedi market sizing and investment issue tree</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72199"/>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8 October PS framework; workbook History Q71/R71. 2023 Department sales 21.94bn L; 2024 FIASA 20.76bn L, unverified. Estimate accessible markets, then verify actual capture. Shared flows and client operating/economic inputs remain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
        <p:nvSpPr>
          <p:cNvPr id="4" name="Demand heading">
            <a:extLst>
              <a:ext uri="{FF2B5EF4-FFF2-40B4-BE49-F238E27FC236}">
                <a16:creationId xmlns:a16="http://schemas.microsoft.com/office/drawing/2014/main" id="{14CD1435-9493-0D95-498F-FDC83E6EE04F}"/>
              </a:ext>
            </a:extLst>
          </p:cNvPr>
          <p:cNvSpPr txBox="1"/>
          <p:nvPr/>
        </p:nvSpPr>
        <p:spPr>
          <a:xfrm>
            <a:off x="457200" y="1638300"/>
            <a:ext cx="22098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1  NATIONAL DEMAND</a:t>
            </a:r>
          </a:p>
        </p:txBody>
      </p:sp>
      <p:sp>
        <p:nvSpPr>
          <p:cNvPr id="5" name="System heading">
            <a:extLst>
              <a:ext uri="{FF2B5EF4-FFF2-40B4-BE49-F238E27FC236}">
                <a16:creationId xmlns:a16="http://schemas.microsoft.com/office/drawing/2014/main" id="{C0C17D29-17F6-811C-2016-AEB107CEAD1B}"/>
              </a:ext>
            </a:extLst>
          </p:cNvPr>
          <p:cNvSpPr txBox="1"/>
          <p:nvPr/>
        </p:nvSpPr>
        <p:spPr>
          <a:xfrm>
            <a:off x="3111500" y="1638300"/>
            <a:ext cx="40894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2  SUPPLY AND DELIVERY</a:t>
            </a:r>
          </a:p>
        </p:txBody>
      </p:sp>
      <p:sp>
        <p:nvSpPr>
          <p:cNvPr id="6" name="Terminal heading">
            <a:extLst>
              <a:ext uri="{FF2B5EF4-FFF2-40B4-BE49-F238E27FC236}">
                <a16:creationId xmlns:a16="http://schemas.microsoft.com/office/drawing/2014/main" id="{5CA9319A-5A43-DDF4-3153-ED80CD691028}"/>
              </a:ext>
            </a:extLst>
          </p:cNvPr>
          <p:cNvSpPr txBox="1"/>
          <p:nvPr/>
        </p:nvSpPr>
        <p:spPr>
          <a:xfrm>
            <a:off x="7899400" y="1638300"/>
            <a:ext cx="3213100" cy="241300"/>
          </a:xfrm>
          <a:prstGeom prst="rect">
            <a:avLst/>
          </a:prstGeom>
          <a:noFill/>
        </p:spPr>
        <p:txBody>
          <a:bodyPr vert="horz" wrap="square" lIns="0" tIns="0" rIns="0" bIns="0" rtlCol="0">
            <a:noAutofit/>
          </a:bodyPr>
          <a:lstStyle/>
          <a:p>
            <a:pPr>
              <a:spcAft>
                <a:spcPts val="200"/>
              </a:spcAft>
            </a:pPr>
            <a:r>
              <a:rPr lang="en-ZA" sz="1200" b="1">
                <a:solidFill>
                  <a:schemeClr val="accent1"/>
                </a:solidFill>
                <a:latin typeface="Lato" panose="020F0502020204030203" pitchFamily="34" charset="0"/>
              </a:rPr>
              <a:t>3  VOPAK OPPORTUNITY</a:t>
            </a:r>
          </a:p>
        </p:txBody>
      </p:sp>
      <p:cxnSp>
        <p:nvCxnSpPr>
          <p:cNvPr id="7" name="Column heading rule">
            <a:extLst>
              <a:ext uri="{FF2B5EF4-FFF2-40B4-BE49-F238E27FC236}">
                <a16:creationId xmlns:a16="http://schemas.microsoft.com/office/drawing/2014/main" id="{9CD9C2EA-8B0C-6190-041D-53E7BCFC4E12}"/>
              </a:ext>
            </a:extLst>
          </p:cNvPr>
          <p:cNvCxnSpPr/>
          <p:nvPr/>
        </p:nvCxnSpPr>
        <p:spPr>
          <a:xfrm>
            <a:off x="457200" y="1917700"/>
            <a:ext cx="2209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3" name="Column heading rule">
            <a:extLst>
              <a:ext uri="{FF2B5EF4-FFF2-40B4-BE49-F238E27FC236}">
                <a16:creationId xmlns:a16="http://schemas.microsoft.com/office/drawing/2014/main" id="{8EB4746A-C908-7903-267C-329D465C94D0}"/>
              </a:ext>
            </a:extLst>
          </p:cNvPr>
          <p:cNvCxnSpPr/>
          <p:nvPr/>
        </p:nvCxnSpPr>
        <p:spPr>
          <a:xfrm>
            <a:off x="3111500" y="1917700"/>
            <a:ext cx="41148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4" name="Column heading rule">
            <a:extLst>
              <a:ext uri="{FF2B5EF4-FFF2-40B4-BE49-F238E27FC236}">
                <a16:creationId xmlns:a16="http://schemas.microsoft.com/office/drawing/2014/main" id="{AA858E4B-F07C-F90D-428F-E07E9E8C909B}"/>
              </a:ext>
            </a:extLst>
          </p:cNvPr>
          <p:cNvCxnSpPr/>
          <p:nvPr/>
        </p:nvCxnSpPr>
        <p:spPr>
          <a:xfrm>
            <a:off x="7899400" y="1917700"/>
            <a:ext cx="3213100" cy="0"/>
          </a:xfrm>
          <a:prstGeom prst="straightConnector1">
            <a:avLst/>
          </a:prstGeom>
          <a:ln w="8255">
            <a:solidFill>
              <a:schemeClr val="dk1"/>
            </a:solidFill>
          </a:ln>
        </p:spPr>
        <p:style>
          <a:lnRef idx="1">
            <a:schemeClr val="accent1"/>
          </a:lnRef>
          <a:fillRef idx="0">
            <a:schemeClr val="accent1"/>
          </a:fillRef>
          <a:effectRef idx="0">
            <a:schemeClr val="accent1"/>
          </a:effectRef>
          <a:fontRef idx="minor">
            <a:schemeClr val="tx1"/>
          </a:fontRef>
        </p:style>
      </p:cxnSp>
      <p:sp>
        <p:nvSpPr>
          <p:cNvPr id="15" name="National market">
            <a:extLst>
              <a:ext uri="{FF2B5EF4-FFF2-40B4-BE49-F238E27FC236}">
                <a16:creationId xmlns:a16="http://schemas.microsoft.com/office/drawing/2014/main" id="{C937B83A-DBC2-5EAB-CFE4-6A5A27B56F2A}"/>
              </a:ext>
            </a:extLst>
          </p:cNvPr>
          <p:cNvSpPr txBox="1"/>
          <p:nvPr/>
        </p:nvSpPr>
        <p:spPr>
          <a:xfrm>
            <a:off x="457200" y="2108199"/>
            <a:ext cx="2209800" cy="10287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National sales baseline</a:t>
            </a:r>
          </a:p>
          <a:p>
            <a:pPr>
              <a:spcAft>
                <a:spcPts val="500"/>
              </a:spcAft>
            </a:pPr>
            <a:r>
              <a:rPr lang="en-GB" sz="1150" b="1">
                <a:solidFill>
                  <a:schemeClr val="accent1"/>
                </a:solidFill>
                <a:latin typeface="Lato" panose="020F0502020204030203" pitchFamily="34" charset="0"/>
              </a:rPr>
              <a:t>2023: 21.94bn litres</a:t>
            </a:r>
          </a:p>
          <a:p>
            <a:pPr>
              <a:spcAft>
                <a:spcPts val="500"/>
              </a:spcAft>
            </a:pPr>
            <a:r>
              <a:rPr lang="en-GB" sz="1150" b="1">
                <a:solidFill>
                  <a:schemeClr val="accent1"/>
                </a:solidFill>
                <a:latin typeface="Lato" panose="020F0502020204030203" pitchFamily="34" charset="0"/>
              </a:rPr>
              <a:t>2024: 20.76bn, unverified</a:t>
            </a:r>
          </a:p>
          <a:p>
            <a:pPr>
              <a:spcAft>
                <a:spcPts val="500"/>
              </a:spcAft>
            </a:pPr>
            <a:r>
              <a:rPr lang="en-GB" sz="1150" b="1">
                <a:solidFill>
                  <a:schemeClr val="accent1"/>
                </a:solidFill>
                <a:latin typeface="Lato" panose="020F0502020204030203" pitchFamily="34" charset="0"/>
              </a:rPr>
              <a:t>2025 sales unavailable</a:t>
            </a:r>
            <a:endParaRPr lang="en-ZA" sz="1150">
              <a:solidFill>
                <a:schemeClr val="dk1"/>
              </a:solidFill>
              <a:latin typeface="Lato" panose="020F0502020204030203" pitchFamily="34" charset="0"/>
            </a:endParaRPr>
          </a:p>
        </p:txBody>
      </p:sp>
      <p:sp>
        <p:nvSpPr>
          <p:cNvPr id="16" name="Sector demand">
            <a:extLst>
              <a:ext uri="{FF2B5EF4-FFF2-40B4-BE49-F238E27FC236}">
                <a16:creationId xmlns:a16="http://schemas.microsoft.com/office/drawing/2014/main" id="{7E776481-8BEE-CC1B-C185-4BE139C5F27F}"/>
              </a:ext>
            </a:extLst>
          </p:cNvPr>
          <p:cNvSpPr txBox="1"/>
          <p:nvPr/>
        </p:nvSpPr>
        <p:spPr>
          <a:xfrm>
            <a:off x="457200" y="3251199"/>
            <a:ext cx="2209800" cy="8128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Demand by use</a:t>
            </a:r>
          </a:p>
          <a:p>
            <a:pPr>
              <a:spcAft>
                <a:spcPts val="200"/>
              </a:spcAft>
            </a:pPr>
            <a:r>
              <a:rPr lang="en-GB" sz="1150">
                <a:solidFill>
                  <a:schemeClr val="dk1"/>
                </a:solidFill>
                <a:latin typeface="Lato" panose="020F0502020204030203" pitchFamily="34" charset="0"/>
              </a:rPr>
              <a:t>Road, mining, industry, agriculture</a:t>
            </a:r>
          </a:p>
          <a:p>
            <a:pPr>
              <a:spcAft>
                <a:spcPts val="200"/>
              </a:spcAft>
            </a:pPr>
            <a:r>
              <a:rPr lang="en-GB" sz="1150">
                <a:solidFill>
                  <a:schemeClr val="dk1"/>
                </a:solidFill>
                <a:latin typeface="Lato" panose="020F0502020204030203" pitchFamily="34" charset="0"/>
              </a:rPr>
              <a:t>Power and other uses</a:t>
            </a:r>
            <a:endParaRPr lang="en-ZA" sz="1150">
              <a:solidFill>
                <a:schemeClr val="dk1"/>
              </a:solidFill>
              <a:latin typeface="Lato" panose="020F0502020204030203" pitchFamily="34" charset="0"/>
            </a:endParaRPr>
          </a:p>
        </p:txBody>
      </p:sp>
      <p:cxnSp>
        <p:nvCxnSpPr>
          <p:cNvPr id="17" name="Uses determine demand">
            <a:extLst>
              <a:ext uri="{FF2B5EF4-FFF2-40B4-BE49-F238E27FC236}">
                <a16:creationId xmlns:a16="http://schemas.microsoft.com/office/drawing/2014/main" id="{5BF87840-7B72-822C-EDF1-6766803F1E6A}"/>
              </a:ext>
            </a:extLst>
          </p:cNvPr>
          <p:cNvCxnSpPr/>
          <p:nvPr/>
        </p:nvCxnSpPr>
        <p:spPr>
          <a:xfrm flipV="1">
            <a:off x="1524000" y="3162300"/>
            <a:ext cx="0" cy="88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8" name="Demand parameters">
            <a:extLst>
              <a:ext uri="{FF2B5EF4-FFF2-40B4-BE49-F238E27FC236}">
                <a16:creationId xmlns:a16="http://schemas.microsoft.com/office/drawing/2014/main" id="{05889CF0-02DA-D49E-34DB-0FE1C05F9592}"/>
              </a:ext>
            </a:extLst>
          </p:cNvPr>
          <p:cNvSpPr txBox="1"/>
          <p:nvPr/>
        </p:nvSpPr>
        <p:spPr>
          <a:xfrm>
            <a:off x="457200" y="4203699"/>
            <a:ext cx="2209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Demand parameters</a:t>
            </a:r>
          </a:p>
          <a:p>
            <a:pPr>
              <a:spcAft>
                <a:spcPts val="200"/>
              </a:spcAft>
            </a:pPr>
            <a:r>
              <a:rPr lang="en-GB" sz="1100">
                <a:solidFill>
                  <a:schemeClr val="dk1"/>
                </a:solidFill>
                <a:latin typeface="Lato" panose="020F0502020204030203" pitchFamily="34" charset="0"/>
              </a:rPr>
              <a:t>GDP and sector activity</a:t>
            </a:r>
          </a:p>
          <a:p>
            <a:pPr>
              <a:spcAft>
                <a:spcPts val="200"/>
              </a:spcAft>
            </a:pPr>
            <a:r>
              <a:rPr lang="en-GB" sz="1100">
                <a:solidFill>
                  <a:schemeClr val="dk1"/>
                </a:solidFill>
                <a:latin typeface="Lato" panose="020F0502020204030203" pitchFamily="34" charset="0"/>
              </a:rPr>
              <a:t>EVs, fleet turnover, ICE efficiency</a:t>
            </a:r>
          </a:p>
          <a:p>
            <a:pPr>
              <a:spcAft>
                <a:spcPts val="200"/>
              </a:spcAft>
            </a:pPr>
            <a:r>
              <a:rPr lang="en-GB" sz="1100">
                <a:solidFill>
                  <a:schemeClr val="dk1"/>
                </a:solidFill>
                <a:latin typeface="Lato" panose="020F0502020204030203" pitchFamily="34" charset="0"/>
              </a:rPr>
              <a:t>Freight shift, prices, power dispatch</a:t>
            </a:r>
            <a:endParaRPr lang="en-ZA" sz="1100">
              <a:solidFill>
                <a:schemeClr val="dk1"/>
              </a:solidFill>
              <a:latin typeface="Lato" panose="020F0502020204030203" pitchFamily="34" charset="0"/>
            </a:endParaRPr>
          </a:p>
        </p:txBody>
      </p:sp>
      <p:cxnSp>
        <p:nvCxnSpPr>
          <p:cNvPr id="19" name="Demand parameter effect">
            <a:extLst>
              <a:ext uri="{FF2B5EF4-FFF2-40B4-BE49-F238E27FC236}">
                <a16:creationId xmlns:a16="http://schemas.microsoft.com/office/drawing/2014/main" id="{E99183C3-677B-3951-54F8-364FD7B4B043}"/>
              </a:ext>
            </a:extLst>
          </p:cNvPr>
          <p:cNvCxnSpPr/>
          <p:nvPr/>
        </p:nvCxnSpPr>
        <p:spPr>
          <a:xfrm flipV="1">
            <a:off x="1524000" y="4064000"/>
            <a:ext cx="0" cy="1397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 name="Imports">
            <a:extLst>
              <a:ext uri="{FF2B5EF4-FFF2-40B4-BE49-F238E27FC236}">
                <a16:creationId xmlns:a16="http://schemas.microsoft.com/office/drawing/2014/main" id="{23F72AF9-31E3-D1F7-A839-88E56F43423D}"/>
              </a:ext>
            </a:extLst>
          </p:cNvPr>
          <p:cNvSpPr txBox="1"/>
          <p:nvPr/>
        </p:nvSpPr>
        <p:spPr>
          <a:xfrm>
            <a:off x="3111500" y="2108199"/>
            <a:ext cx="18542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Gross imports</a:t>
            </a:r>
          </a:p>
          <a:p>
            <a:pPr>
              <a:spcAft>
                <a:spcPts val="200"/>
              </a:spcAft>
            </a:pPr>
            <a:r>
              <a:rPr lang="en-GB" sz="1200">
                <a:solidFill>
                  <a:schemeClr val="dk1"/>
                </a:solidFill>
                <a:latin typeface="Lato" panose="020F0502020204030203" pitchFamily="34" charset="0"/>
              </a:rPr>
              <a:t>By product and entry point</a:t>
            </a:r>
          </a:p>
          <a:p>
            <a:pPr>
              <a:spcAft>
                <a:spcPts val="200"/>
              </a:spcAft>
            </a:pPr>
            <a:r>
              <a:rPr lang="en-GB" sz="1200">
                <a:solidFill>
                  <a:schemeClr val="dk1"/>
                </a:solidFill>
                <a:latin typeface="Lato" panose="020F0502020204030203" pitchFamily="34" charset="0"/>
              </a:rPr>
              <a:t>Exports shown separately</a:t>
            </a:r>
            <a:endParaRPr lang="en-ZA" sz="1200">
              <a:solidFill>
                <a:schemeClr val="dk1"/>
              </a:solidFill>
              <a:latin typeface="Lato" panose="020F0502020204030203" pitchFamily="34" charset="0"/>
            </a:endParaRPr>
          </a:p>
        </p:txBody>
      </p:sp>
      <p:sp>
        <p:nvSpPr>
          <p:cNvPr id="21" name="Production">
            <a:extLst>
              <a:ext uri="{FF2B5EF4-FFF2-40B4-BE49-F238E27FC236}">
                <a16:creationId xmlns:a16="http://schemas.microsoft.com/office/drawing/2014/main" id="{4EBBA8B2-2B37-C76A-4D00-E142B3C50D55}"/>
              </a:ext>
            </a:extLst>
          </p:cNvPr>
          <p:cNvSpPr txBox="1"/>
          <p:nvPr/>
        </p:nvSpPr>
        <p:spPr>
          <a:xfrm>
            <a:off x="5257800" y="2108199"/>
            <a:ext cx="1968500" cy="8509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Domestic production</a:t>
            </a:r>
          </a:p>
          <a:p>
            <a:pPr>
              <a:spcAft>
                <a:spcPts val="200"/>
              </a:spcAft>
            </a:pPr>
            <a:r>
              <a:rPr lang="en-GB" sz="1200">
                <a:solidFill>
                  <a:schemeClr val="dk1"/>
                </a:solidFill>
                <a:latin typeface="Lato" panose="020F0502020204030203" pitchFamily="34" charset="0"/>
              </a:rPr>
              <a:t>Refinery location, output, yields</a:t>
            </a:r>
          </a:p>
          <a:p>
            <a:pPr>
              <a:spcAft>
                <a:spcPts val="200"/>
              </a:spcAft>
            </a:pPr>
            <a:r>
              <a:rPr lang="en-GB" sz="1200">
                <a:solidFill>
                  <a:schemeClr val="dk1"/>
                </a:solidFill>
                <a:latin typeface="Lato" panose="020F0502020204030203" pitchFamily="34" charset="0"/>
              </a:rPr>
              <a:t>Own storage and distribution</a:t>
            </a:r>
            <a:endParaRPr lang="en-ZA" sz="1200">
              <a:solidFill>
                <a:schemeClr val="dk1"/>
              </a:solidFill>
              <a:latin typeface="Lato" panose="020F0502020204030203" pitchFamily="34" charset="0"/>
            </a:endParaRPr>
          </a:p>
        </p:txBody>
      </p:sp>
      <p:sp>
        <p:nvSpPr>
          <p:cNvPr id="22" name="Routes">
            <a:extLst>
              <a:ext uri="{FF2B5EF4-FFF2-40B4-BE49-F238E27FC236}">
                <a16:creationId xmlns:a16="http://schemas.microsoft.com/office/drawing/2014/main" id="{8848F489-2B26-24D4-5939-007123C4EF82}"/>
              </a:ext>
            </a:extLst>
          </p:cNvPr>
          <p:cNvSpPr txBox="1"/>
          <p:nvPr/>
        </p:nvSpPr>
        <p:spPr>
          <a:xfrm>
            <a:off x="3111500" y="3238499"/>
            <a:ext cx="4114800" cy="876300"/>
          </a:xfrm>
          <a:prstGeom prst="rect">
            <a:avLst/>
          </a:prstGeom>
          <a:noFill/>
        </p:spPr>
        <p:txBody>
          <a:bodyPr vert="horz" wrap="square" lIns="0" tIns="0" rIns="0" bIns="0" rtlCol="0">
            <a:noAutofit/>
          </a:bodyPr>
          <a:lstStyle/>
          <a:p>
            <a:pPr>
              <a:spcAft>
                <a:spcPts val="500"/>
              </a:spcAft>
            </a:pPr>
            <a:r>
              <a:rPr lang="en-GB" sz="1150" b="1">
                <a:solidFill>
                  <a:schemeClr val="accent1"/>
                </a:solidFill>
                <a:latin typeface="Lato" panose="020F0502020204030203" pitchFamily="34" charset="0"/>
              </a:rPr>
              <a:t>Ports and inland delivery network</a:t>
            </a:r>
          </a:p>
          <a:p>
            <a:pPr>
              <a:spcAft>
                <a:spcPts val="200"/>
              </a:spcAft>
            </a:pPr>
            <a:r>
              <a:rPr lang="en-GB" sz="1150">
                <a:solidFill>
                  <a:schemeClr val="dk1"/>
                </a:solidFill>
                <a:latin typeface="Lato" panose="020F0502020204030203" pitchFamily="34" charset="0"/>
              </a:rPr>
              <a:t>Durban, Richards Bay, other gateways</a:t>
            </a:r>
          </a:p>
          <a:p>
            <a:pPr>
              <a:spcAft>
                <a:spcPts val="200"/>
              </a:spcAft>
            </a:pPr>
            <a:r>
              <a:rPr lang="en-GB" sz="1150">
                <a:solidFill>
                  <a:schemeClr val="dk1"/>
                </a:solidFill>
                <a:latin typeface="Lato" panose="020F0502020204030203" pitchFamily="34" charset="0"/>
              </a:rPr>
              <a:t>Pipeline, road and rail to customer catchments</a:t>
            </a:r>
          </a:p>
          <a:p>
            <a:pPr>
              <a:spcAft>
                <a:spcPts val="200"/>
              </a:spcAft>
            </a:pPr>
            <a:r>
              <a:rPr lang="en-GB" sz="1150">
                <a:solidFill>
                  <a:schemeClr val="dk1"/>
                </a:solidFill>
                <a:latin typeface="Lato" panose="020F0502020204030203" pitchFamily="34" charset="0"/>
              </a:rPr>
              <a:t>NMPP / TM2 / DJP links to verify</a:t>
            </a:r>
            <a:endParaRPr lang="en-ZA" sz="1150">
              <a:solidFill>
                <a:schemeClr val="dk1"/>
              </a:solidFill>
              <a:latin typeface="Lato" panose="020F0502020204030203" pitchFamily="34" charset="0"/>
            </a:endParaRPr>
          </a:p>
        </p:txBody>
      </p:sp>
      <p:cxnSp>
        <p:nvCxnSpPr>
          <p:cNvPr id="23" name="Import route">
            <a:extLst>
              <a:ext uri="{FF2B5EF4-FFF2-40B4-BE49-F238E27FC236}">
                <a16:creationId xmlns:a16="http://schemas.microsoft.com/office/drawing/2014/main" id="{941A3E88-6573-8982-109A-C2649445DCCD}"/>
              </a:ext>
            </a:extLst>
          </p:cNvPr>
          <p:cNvCxnSpPr/>
          <p:nvPr/>
        </p:nvCxnSpPr>
        <p:spPr>
          <a:xfrm>
            <a:off x="40005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Domestic route">
            <a:extLst>
              <a:ext uri="{FF2B5EF4-FFF2-40B4-BE49-F238E27FC236}">
                <a16:creationId xmlns:a16="http://schemas.microsoft.com/office/drawing/2014/main" id="{D8992EC8-915F-4CE6-C191-5C21DAA62765}"/>
              </a:ext>
            </a:extLst>
          </p:cNvPr>
          <p:cNvCxnSpPr/>
          <p:nvPr/>
        </p:nvCxnSpPr>
        <p:spPr>
          <a:xfrm>
            <a:off x="6210300" y="29591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5" name="Demand determines destinations 1">
            <a:extLst>
              <a:ext uri="{FF2B5EF4-FFF2-40B4-BE49-F238E27FC236}">
                <a16:creationId xmlns:a16="http://schemas.microsoft.com/office/drawing/2014/main" id="{070C45C0-6D45-336D-AEA8-B4839A45FEEF}"/>
              </a:ext>
            </a:extLst>
          </p:cNvPr>
          <p:cNvCxnSpPr/>
          <p:nvPr/>
        </p:nvCxnSpPr>
        <p:spPr>
          <a:xfrm>
            <a:off x="2667000" y="2590800"/>
            <a:ext cx="1778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Demand determines destinations 2">
            <a:extLst>
              <a:ext uri="{FF2B5EF4-FFF2-40B4-BE49-F238E27FC236}">
                <a16:creationId xmlns:a16="http://schemas.microsoft.com/office/drawing/2014/main" id="{3FB298E3-647A-A899-1E55-7EABEBD6C990}"/>
              </a:ext>
            </a:extLst>
          </p:cNvPr>
          <p:cNvCxnSpPr/>
          <p:nvPr/>
        </p:nvCxnSpPr>
        <p:spPr>
          <a:xfrm>
            <a:off x="2844800" y="2590800"/>
            <a:ext cx="0" cy="9652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Demand determines destinations 3">
            <a:extLst>
              <a:ext uri="{FF2B5EF4-FFF2-40B4-BE49-F238E27FC236}">
                <a16:creationId xmlns:a16="http://schemas.microsoft.com/office/drawing/2014/main" id="{59A73EBE-9DED-4970-8C1E-28FFA1521F91}"/>
              </a:ext>
            </a:extLst>
          </p:cNvPr>
          <p:cNvCxnSpPr/>
          <p:nvPr/>
        </p:nvCxnSpPr>
        <p:spPr>
          <a:xfrm>
            <a:off x="2844800" y="3556000"/>
            <a:ext cx="2159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8" name="Supply and route parameters">
            <a:extLst>
              <a:ext uri="{FF2B5EF4-FFF2-40B4-BE49-F238E27FC236}">
                <a16:creationId xmlns:a16="http://schemas.microsoft.com/office/drawing/2014/main" id="{8EA8E5F2-832B-8638-B5D1-32001AF01788}"/>
              </a:ext>
            </a:extLst>
          </p:cNvPr>
          <p:cNvSpPr txBox="1"/>
          <p:nvPr/>
        </p:nvSpPr>
        <p:spPr>
          <a:xfrm>
            <a:off x="3111500" y="4203699"/>
            <a:ext cx="4114800" cy="8636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Supply and route parameters</a:t>
            </a:r>
          </a:p>
          <a:p>
            <a:pPr>
              <a:spcAft>
                <a:spcPts val="200"/>
              </a:spcAft>
            </a:pPr>
            <a:r>
              <a:rPr lang="en-GB" sz="1100">
                <a:solidFill>
                  <a:schemeClr val="dk1"/>
                </a:solidFill>
                <a:latin typeface="Lato" panose="020F0502020204030203" pitchFamily="34" charset="0"/>
              </a:rPr>
              <a:t>Refinery closures / restarts and gas availability</a:t>
            </a:r>
          </a:p>
          <a:p>
            <a:pPr>
              <a:spcAft>
                <a:spcPts val="200"/>
              </a:spcAft>
            </a:pPr>
            <a:r>
              <a:rPr lang="en-GB" sz="1100">
                <a:solidFill>
                  <a:schemeClr val="dk1"/>
                </a:solidFill>
                <a:latin typeface="Lato" panose="020F0502020204030203" pitchFamily="34" charset="0"/>
              </a:rPr>
              <a:t>Delivered cost, competing routes, access and contracts</a:t>
            </a:r>
          </a:p>
          <a:p>
            <a:pPr>
              <a:spcAft>
                <a:spcPts val="200"/>
              </a:spcAft>
            </a:pPr>
            <a:r>
              <a:rPr lang="en-GB" sz="1100">
                <a:solidFill>
                  <a:schemeClr val="dk1"/>
                </a:solidFill>
                <a:latin typeface="Lato" panose="020F0502020204030203" pitchFamily="34" charset="0"/>
              </a:rPr>
              <a:t>Port, pipeline and rail capacity and reliability</a:t>
            </a:r>
            <a:endParaRPr lang="en-ZA" sz="1100">
              <a:solidFill>
                <a:schemeClr val="dk1"/>
              </a:solidFill>
              <a:latin typeface="Lato" panose="020F0502020204030203" pitchFamily="34" charset="0"/>
            </a:endParaRPr>
          </a:p>
        </p:txBody>
      </p:sp>
      <p:cxnSp>
        <p:nvCxnSpPr>
          <p:cNvPr id="29" name="Supply parameter effect">
            <a:extLst>
              <a:ext uri="{FF2B5EF4-FFF2-40B4-BE49-F238E27FC236}">
                <a16:creationId xmlns:a16="http://schemas.microsoft.com/office/drawing/2014/main" id="{2F2C4FE6-B6D4-94E5-E610-7318DEFBE0FC}"/>
              </a:ext>
            </a:extLst>
          </p:cNvPr>
          <p:cNvCxnSpPr/>
          <p:nvPr/>
        </p:nvCxnSpPr>
        <p:spPr>
          <a:xfrm flipV="1">
            <a:off x="6210300" y="4102100"/>
            <a:ext cx="0" cy="101600"/>
          </a:xfrm>
          <a:prstGeom prst="straightConnector1">
            <a:avLst/>
          </a:prstGeom>
          <a:ln w="12700">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Durban opportunity">
            <a:extLst>
              <a:ext uri="{FF2B5EF4-FFF2-40B4-BE49-F238E27FC236}">
                <a16:creationId xmlns:a16="http://schemas.microsoft.com/office/drawing/2014/main" id="{CF05637F-F5E3-0913-E697-D51422A5D04C}"/>
              </a:ext>
            </a:extLst>
          </p:cNvPr>
          <p:cNvSpPr txBox="1"/>
          <p:nvPr/>
        </p:nvSpPr>
        <p:spPr>
          <a:xfrm>
            <a:off x="7899400" y="2108199"/>
            <a:ext cx="3213100" cy="7493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Durban accessible market</a:t>
            </a:r>
          </a:p>
          <a:p>
            <a:pPr>
              <a:spcAft>
                <a:spcPts val="200"/>
              </a:spcAft>
            </a:pPr>
            <a:r>
              <a:rPr lang="en-GB" sz="1200">
                <a:solidFill>
                  <a:schemeClr val="dk1"/>
                </a:solidFill>
                <a:latin typeface="Lato" panose="020F0502020204030203" pitchFamily="34" charset="0"/>
              </a:rPr>
              <a:t>Feasible annual product volumes through</a:t>
            </a:r>
          </a:p>
          <a:p>
            <a:pPr>
              <a:spcAft>
                <a:spcPts val="200"/>
              </a:spcAft>
            </a:pPr>
            <a:r>
              <a:rPr lang="en-GB" sz="1200">
                <a:solidFill>
                  <a:schemeClr val="dk1"/>
                </a:solidFill>
                <a:latin typeface="Lato" panose="020F0502020204030203" pitchFamily="34" charset="0"/>
              </a:rPr>
              <a:t>Vopak Durban to reachable customers</a:t>
            </a:r>
            <a:endParaRPr lang="en-ZA" sz="1200">
              <a:solidFill>
                <a:schemeClr val="dk1"/>
              </a:solidFill>
              <a:latin typeface="Lato" panose="020F0502020204030203" pitchFamily="34" charset="0"/>
            </a:endParaRPr>
          </a:p>
        </p:txBody>
      </p:sp>
      <p:sp>
        <p:nvSpPr>
          <p:cNvPr id="31" name="Lesedi opportunity">
            <a:extLst>
              <a:ext uri="{FF2B5EF4-FFF2-40B4-BE49-F238E27FC236}">
                <a16:creationId xmlns:a16="http://schemas.microsoft.com/office/drawing/2014/main" id="{B036927C-17A7-76AA-143E-BADF5A482926}"/>
              </a:ext>
            </a:extLst>
          </p:cNvPr>
          <p:cNvSpPr txBox="1"/>
          <p:nvPr/>
        </p:nvSpPr>
        <p:spPr>
          <a:xfrm>
            <a:off x="7899400" y="3047999"/>
            <a:ext cx="3213100" cy="812800"/>
          </a:xfrm>
          <a:prstGeom prst="rect">
            <a:avLst/>
          </a:prstGeom>
          <a:noFill/>
        </p:spPr>
        <p:txBody>
          <a:bodyPr vert="horz" wrap="square" lIns="0" tIns="0" rIns="0" bIns="0" rtlCol="0">
            <a:noAutofit/>
          </a:bodyPr>
          <a:lstStyle/>
          <a:p>
            <a:pPr>
              <a:spcAft>
                <a:spcPts val="500"/>
              </a:spcAft>
            </a:pPr>
            <a:r>
              <a:rPr lang="en-GB" sz="1200" b="1">
                <a:solidFill>
                  <a:schemeClr val="accent1"/>
                </a:solidFill>
                <a:latin typeface="Lato" panose="020F0502020204030203" pitchFamily="34" charset="0"/>
              </a:rPr>
              <a:t>Lesedi accessible market</a:t>
            </a:r>
          </a:p>
          <a:p>
            <a:pPr>
              <a:spcAft>
                <a:spcPts val="200"/>
              </a:spcAft>
            </a:pPr>
            <a:r>
              <a:rPr lang="en-GB" sz="1200">
                <a:solidFill>
                  <a:schemeClr val="dk1"/>
                </a:solidFill>
                <a:latin typeface="Lato" panose="020F0502020204030203" pitchFamily="34" charset="0"/>
              </a:rPr>
              <a:t>Inland demand Lesedi can feasibly serve</a:t>
            </a:r>
          </a:p>
          <a:p>
            <a:pPr>
              <a:spcAft>
                <a:spcPts val="200"/>
              </a:spcAft>
            </a:pPr>
            <a:r>
              <a:rPr lang="en-GB" sz="1200">
                <a:solidFill>
                  <a:schemeClr val="dk1"/>
                </a:solidFill>
                <a:latin typeface="Lato" panose="020F0502020204030203" pitchFamily="34" charset="0"/>
              </a:rPr>
              <a:t>Catchment and receipt / dispatch connections</a:t>
            </a:r>
            <a:endParaRPr lang="en-ZA" sz="1200">
              <a:solidFill>
                <a:schemeClr val="dk1"/>
              </a:solidFill>
              <a:latin typeface="Lato" panose="020F0502020204030203" pitchFamily="34" charset="0"/>
            </a:endParaRPr>
          </a:p>
        </p:txBody>
      </p:sp>
      <p:cxnSp>
        <p:nvCxnSpPr>
          <p:cNvPr id="32" name="Access screen trunk">
            <a:extLst>
              <a:ext uri="{FF2B5EF4-FFF2-40B4-BE49-F238E27FC236}">
                <a16:creationId xmlns:a16="http://schemas.microsoft.com/office/drawing/2014/main" id="{F9A85249-0816-30DC-EDAB-DE7185F2EDE9}"/>
              </a:ext>
            </a:extLst>
          </p:cNvPr>
          <p:cNvCxnSpPr/>
          <p:nvPr/>
        </p:nvCxnSpPr>
        <p:spPr>
          <a:xfrm>
            <a:off x="7226300" y="3556000"/>
            <a:ext cx="2667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Access screen fork">
            <a:extLst>
              <a:ext uri="{FF2B5EF4-FFF2-40B4-BE49-F238E27FC236}">
                <a16:creationId xmlns:a16="http://schemas.microsoft.com/office/drawing/2014/main" id="{65DD1891-8EAF-16F7-CB81-D479FBC08C58}"/>
              </a:ext>
            </a:extLst>
          </p:cNvPr>
          <p:cNvCxnSpPr/>
          <p:nvPr/>
        </p:nvCxnSpPr>
        <p:spPr>
          <a:xfrm>
            <a:off x="7493000" y="2489200"/>
            <a:ext cx="0" cy="1066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Access to Durban">
            <a:extLst>
              <a:ext uri="{FF2B5EF4-FFF2-40B4-BE49-F238E27FC236}">
                <a16:creationId xmlns:a16="http://schemas.microsoft.com/office/drawing/2014/main" id="{D0597B71-903A-40F2-B919-EFACDFC84EC7}"/>
              </a:ext>
            </a:extLst>
          </p:cNvPr>
          <p:cNvCxnSpPr/>
          <p:nvPr/>
        </p:nvCxnSpPr>
        <p:spPr>
          <a:xfrm>
            <a:off x="7493000" y="24892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35" name="Access to Lesedi">
            <a:extLst>
              <a:ext uri="{FF2B5EF4-FFF2-40B4-BE49-F238E27FC236}">
                <a16:creationId xmlns:a16="http://schemas.microsoft.com/office/drawing/2014/main" id="{6E4F6017-9E5F-2CAA-70BB-D25565F1CE53}"/>
              </a:ext>
            </a:extLst>
          </p:cNvPr>
          <p:cNvCxnSpPr/>
          <p:nvPr/>
        </p:nvCxnSpPr>
        <p:spPr>
          <a:xfrm>
            <a:off x="7493000" y="3429000"/>
            <a:ext cx="3302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6" name="Share and headroom">
            <a:extLst>
              <a:ext uri="{FF2B5EF4-FFF2-40B4-BE49-F238E27FC236}">
                <a16:creationId xmlns:a16="http://schemas.microsoft.com/office/drawing/2014/main" id="{635C5460-B18A-91DA-3C22-EBCCAF085E94}"/>
              </a:ext>
            </a:extLst>
          </p:cNvPr>
          <p:cNvSpPr txBox="1"/>
          <p:nvPr/>
        </p:nvSpPr>
        <p:spPr>
          <a:xfrm>
            <a:off x="7899400" y="4165599"/>
            <a:ext cx="3213100" cy="914400"/>
          </a:xfrm>
          <a:prstGeom prst="rect">
            <a:avLst/>
          </a:prstGeom>
          <a:noFill/>
        </p:spPr>
        <p:txBody>
          <a:bodyPr vert="horz" wrap="square" lIns="0" tIns="0" rIns="0" bIns="0" rtlCol="0">
            <a:noAutofit/>
          </a:bodyPr>
          <a:lstStyle/>
          <a:p>
            <a:pPr>
              <a:spcAft>
                <a:spcPts val="500"/>
              </a:spcAft>
            </a:pPr>
            <a:r>
              <a:rPr lang="en-GB" sz="1100" b="1">
                <a:solidFill>
                  <a:schemeClr val="accent1"/>
                </a:solidFill>
                <a:latin typeface="Lato" panose="020F0502020204030203" pitchFamily="34" charset="0"/>
              </a:rPr>
              <a:t>Capture, market share and headroom</a:t>
            </a:r>
          </a:p>
          <a:p>
            <a:pPr>
              <a:spcAft>
                <a:spcPts val="200"/>
              </a:spcAft>
            </a:pPr>
            <a:r>
              <a:rPr lang="en-GB" sz="1100">
                <a:solidFill>
                  <a:schemeClr val="dk1"/>
                </a:solidFill>
                <a:latin typeface="Lato" panose="020F0502020204030203" pitchFamily="34" charset="0"/>
              </a:rPr>
              <a:t>Client throughput / accessible market = share</a:t>
            </a:r>
          </a:p>
          <a:p>
            <a:pPr>
              <a:spcAft>
                <a:spcPts val="200"/>
              </a:spcAft>
            </a:pPr>
            <a:r>
              <a:rPr lang="en-GB" sz="1100">
                <a:solidFill>
                  <a:schemeClr val="dk1"/>
                </a:solidFill>
                <a:latin typeface="Lato" panose="020F0502020204030203" pitchFamily="34" charset="0"/>
              </a:rPr>
              <a:t>Accessible market less current capture = headroom</a:t>
            </a:r>
          </a:p>
          <a:p>
            <a:pPr>
              <a:spcAft>
                <a:spcPts val="200"/>
              </a:spcAft>
            </a:pPr>
            <a:r>
              <a:rPr lang="en-GB" sz="1100">
                <a:solidFill>
                  <a:schemeClr val="dk1"/>
                </a:solidFill>
                <a:latin typeface="Lato" panose="020F0502020204030203" pitchFamily="34" charset="0"/>
              </a:rPr>
              <a:t>Track shared Durban-Lesedi flows once</a:t>
            </a:r>
            <a:endParaRPr lang="en-ZA" sz="1100">
              <a:solidFill>
                <a:schemeClr val="dk1"/>
              </a:solidFill>
              <a:latin typeface="Lato" panose="020F0502020204030203" pitchFamily="34" charset="0"/>
            </a:endParaRPr>
          </a:p>
        </p:txBody>
      </p:sp>
      <p:cxnSp>
        <p:nvCxnSpPr>
          <p:cNvPr id="37" name="Durban into share 1">
            <a:extLst>
              <a:ext uri="{FF2B5EF4-FFF2-40B4-BE49-F238E27FC236}">
                <a16:creationId xmlns:a16="http://schemas.microsoft.com/office/drawing/2014/main" id="{F9C8739E-CCBA-E322-676F-CFEC168B7612}"/>
              </a:ext>
            </a:extLst>
          </p:cNvPr>
          <p:cNvCxnSpPr/>
          <p:nvPr/>
        </p:nvCxnSpPr>
        <p:spPr>
          <a:xfrm>
            <a:off x="11074400" y="2857500"/>
            <a:ext cx="2032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Durban into share 2">
            <a:extLst>
              <a:ext uri="{FF2B5EF4-FFF2-40B4-BE49-F238E27FC236}">
                <a16:creationId xmlns:a16="http://schemas.microsoft.com/office/drawing/2014/main" id="{D93E9E65-5BC6-3832-E403-73067AA04918}"/>
              </a:ext>
            </a:extLst>
          </p:cNvPr>
          <p:cNvCxnSpPr/>
          <p:nvPr/>
        </p:nvCxnSpPr>
        <p:spPr>
          <a:xfrm>
            <a:off x="11277600" y="2857500"/>
            <a:ext cx="0" cy="15748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Durban into share 3">
            <a:extLst>
              <a:ext uri="{FF2B5EF4-FFF2-40B4-BE49-F238E27FC236}">
                <a16:creationId xmlns:a16="http://schemas.microsoft.com/office/drawing/2014/main" id="{D3B9CB9E-7166-6F75-6E91-00684ED9BF63}"/>
              </a:ext>
            </a:extLst>
          </p:cNvPr>
          <p:cNvCxnSpPr/>
          <p:nvPr/>
        </p:nvCxnSpPr>
        <p:spPr>
          <a:xfrm flipH="1">
            <a:off x="11163300" y="4432300"/>
            <a:ext cx="1143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Lesedi into share">
            <a:extLst>
              <a:ext uri="{FF2B5EF4-FFF2-40B4-BE49-F238E27FC236}">
                <a16:creationId xmlns:a16="http://schemas.microsoft.com/office/drawing/2014/main" id="{6A1FB962-2069-DDD3-AA27-F0FDF0DD9A19}"/>
              </a:ext>
            </a:extLst>
          </p:cNvPr>
          <p:cNvCxnSpPr/>
          <p:nvPr/>
        </p:nvCxnSpPr>
        <p:spPr>
          <a:xfrm>
            <a:off x="9486900" y="3860800"/>
            <a:ext cx="0" cy="2159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1" name="Capture into investment 1">
            <a:extLst>
              <a:ext uri="{FF2B5EF4-FFF2-40B4-BE49-F238E27FC236}">
                <a16:creationId xmlns:a16="http://schemas.microsoft.com/office/drawing/2014/main" id="{5635F7CB-40F4-B57E-16EB-2958BF1861A0}"/>
              </a:ext>
            </a:extLst>
          </p:cNvPr>
          <p:cNvCxnSpPr/>
          <p:nvPr/>
        </p:nvCxnSpPr>
        <p:spPr>
          <a:xfrm>
            <a:off x="9486900" y="5080000"/>
            <a:ext cx="0" cy="10160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Capture into investment 2">
            <a:extLst>
              <a:ext uri="{FF2B5EF4-FFF2-40B4-BE49-F238E27FC236}">
                <a16:creationId xmlns:a16="http://schemas.microsoft.com/office/drawing/2014/main" id="{EA92D7F4-947C-B3D8-B059-FB8855F1BCB5}"/>
              </a:ext>
            </a:extLst>
          </p:cNvPr>
          <p:cNvCxnSpPr/>
          <p:nvPr/>
        </p:nvCxnSpPr>
        <p:spPr>
          <a:xfrm flipH="1">
            <a:off x="1524000" y="5181600"/>
            <a:ext cx="7962900" cy="0"/>
          </a:xfrm>
          <a:prstGeom prst="straightConnector1">
            <a:avLst/>
          </a:prstGeom>
          <a:ln w="825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Capture into investment 3">
            <a:extLst>
              <a:ext uri="{FF2B5EF4-FFF2-40B4-BE49-F238E27FC236}">
                <a16:creationId xmlns:a16="http://schemas.microsoft.com/office/drawing/2014/main" id="{D9181569-E667-1A8F-CE83-4F35C9BCE845}"/>
              </a:ext>
            </a:extLst>
          </p:cNvPr>
          <p:cNvCxnSpPr/>
          <p:nvPr/>
        </p:nvCxnSpPr>
        <p:spPr>
          <a:xfrm>
            <a:off x="1524000" y="5181600"/>
            <a:ext cx="0" cy="15240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4" name="Additional capture">
            <a:extLst>
              <a:ext uri="{FF2B5EF4-FFF2-40B4-BE49-F238E27FC236}">
                <a16:creationId xmlns:a16="http://schemas.microsoft.com/office/drawing/2014/main" id="{A47E906C-8F7F-EAA3-2F80-B829DEA82C6B}"/>
              </a:ext>
            </a:extLst>
          </p:cNvPr>
          <p:cNvSpPr txBox="1"/>
          <p:nvPr/>
        </p:nvSpPr>
        <p:spPr>
          <a:xfrm>
            <a:off x="457200" y="5422899"/>
            <a:ext cx="23495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Achievable additional capture</a:t>
            </a:r>
          </a:p>
          <a:p>
            <a:pPr>
              <a:spcAft>
                <a:spcPts val="200"/>
              </a:spcAft>
            </a:pPr>
            <a:r>
              <a:rPr lang="en-GB" sz="1050">
                <a:solidFill>
                  <a:schemeClr val="dk1"/>
                </a:solidFill>
                <a:latin typeface="Lato" panose="020F0502020204030203" pitchFamily="34" charset="0"/>
              </a:rPr>
              <a:t>Customers, contracts, competition</a:t>
            </a:r>
          </a:p>
          <a:p>
            <a:pPr>
              <a:spcAft>
                <a:spcPts val="200"/>
              </a:spcAft>
            </a:pPr>
            <a:r>
              <a:rPr lang="en-GB" sz="1050">
                <a:solidFill>
                  <a:schemeClr val="dk1"/>
                </a:solidFill>
                <a:latin typeface="Lato" panose="020F0502020204030203" pitchFamily="34" charset="0"/>
              </a:rPr>
              <a:t>Test capture within the opportunity</a:t>
            </a:r>
            <a:endParaRPr lang="en-ZA" sz="1050">
              <a:solidFill>
                <a:schemeClr val="dk1"/>
              </a:solidFill>
              <a:latin typeface="Lato" panose="020F0502020204030203" pitchFamily="34" charset="0"/>
            </a:endParaRPr>
          </a:p>
        </p:txBody>
      </p:sp>
      <p:sp>
        <p:nvSpPr>
          <p:cNvPr id="45" name="Existing capacity">
            <a:extLst>
              <a:ext uri="{FF2B5EF4-FFF2-40B4-BE49-F238E27FC236}">
                <a16:creationId xmlns:a16="http://schemas.microsoft.com/office/drawing/2014/main" id="{BAE5CA36-0E1A-4F01-DBF5-2E904D4B5702}"/>
              </a:ext>
            </a:extLst>
          </p:cNvPr>
          <p:cNvSpPr txBox="1"/>
          <p:nvPr/>
        </p:nvSpPr>
        <p:spPr>
          <a:xfrm>
            <a:off x="3340100" y="5422899"/>
            <a:ext cx="25781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Existing assets and improvements</a:t>
            </a:r>
          </a:p>
          <a:p>
            <a:pPr>
              <a:spcAft>
                <a:spcPts val="200"/>
              </a:spcAft>
            </a:pPr>
            <a:r>
              <a:rPr lang="en-GB" sz="1050">
                <a:solidFill>
                  <a:schemeClr val="dk1"/>
                </a:solidFill>
                <a:latin typeface="Lato" panose="020F0502020204030203" pitchFamily="34" charset="0"/>
              </a:rPr>
              <a:t>Working tanks, turns and constraints</a:t>
            </a:r>
          </a:p>
          <a:p>
            <a:pPr>
              <a:spcAft>
                <a:spcPts val="200"/>
              </a:spcAft>
            </a:pPr>
            <a:r>
              <a:rPr lang="en-GB" sz="1050">
                <a:solidFill>
                  <a:schemeClr val="dk1"/>
                </a:solidFill>
                <a:latin typeface="Lato" panose="020F0502020204030203" pitchFamily="34" charset="0"/>
              </a:rPr>
              <a:t>Test receipt, storage and dispatch</a:t>
            </a:r>
            <a:endParaRPr lang="en-ZA" sz="1050">
              <a:solidFill>
                <a:schemeClr val="dk1"/>
              </a:solidFill>
              <a:latin typeface="Lato" panose="020F0502020204030203" pitchFamily="34" charset="0"/>
            </a:endParaRPr>
          </a:p>
        </p:txBody>
      </p:sp>
      <p:sp>
        <p:nvSpPr>
          <p:cNvPr id="46" name="Investment economics">
            <a:extLst>
              <a:ext uri="{FF2B5EF4-FFF2-40B4-BE49-F238E27FC236}">
                <a16:creationId xmlns:a16="http://schemas.microsoft.com/office/drawing/2014/main" id="{B2606EE2-8E42-5172-39DE-5B783889B2F3}"/>
              </a:ext>
            </a:extLst>
          </p:cNvPr>
          <p:cNvSpPr txBox="1"/>
          <p:nvPr/>
        </p:nvSpPr>
        <p:spPr>
          <a:xfrm>
            <a:off x="6451600" y="5422899"/>
            <a:ext cx="25146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New investment and returns</a:t>
            </a:r>
          </a:p>
          <a:p>
            <a:pPr>
              <a:spcAft>
                <a:spcPts val="200"/>
              </a:spcAft>
            </a:pPr>
            <a:r>
              <a:rPr lang="en-GB" sz="1050">
                <a:solidFill>
                  <a:schemeClr val="dk1"/>
                </a:solidFill>
                <a:latin typeface="Lato" panose="020F0502020204030203" pitchFamily="34" charset="0"/>
              </a:rPr>
              <a:t>Incremental volume, cost and capex</a:t>
            </a:r>
          </a:p>
          <a:p>
            <a:pPr>
              <a:spcAft>
                <a:spcPts val="200"/>
              </a:spcAft>
            </a:pPr>
            <a:r>
              <a:rPr lang="en-GB" sz="1050">
                <a:solidFill>
                  <a:schemeClr val="dk1"/>
                </a:solidFill>
                <a:latin typeface="Lato" panose="020F0502020204030203" pitchFamily="34" charset="0"/>
              </a:rPr>
              <a:t>Compare alternatives and downside</a:t>
            </a:r>
            <a:endParaRPr lang="en-ZA" sz="1050">
              <a:solidFill>
                <a:schemeClr val="dk1"/>
              </a:solidFill>
              <a:latin typeface="Lato" panose="020F0502020204030203" pitchFamily="34" charset="0"/>
            </a:endParaRPr>
          </a:p>
        </p:txBody>
      </p:sp>
      <p:sp>
        <p:nvSpPr>
          <p:cNvPr id="49" name="Resolution">
            <a:extLst>
              <a:ext uri="{FF2B5EF4-FFF2-40B4-BE49-F238E27FC236}">
                <a16:creationId xmlns:a16="http://schemas.microsoft.com/office/drawing/2014/main" id="{36518D2A-834F-FA12-49E1-ECE1CE59DFA9}"/>
              </a:ext>
            </a:extLst>
          </p:cNvPr>
          <p:cNvSpPr txBox="1"/>
          <p:nvPr/>
        </p:nvSpPr>
        <p:spPr>
          <a:xfrm>
            <a:off x="9512300" y="5422899"/>
            <a:ext cx="1600200" cy="571500"/>
          </a:xfrm>
          <a:prstGeom prst="rect">
            <a:avLst/>
          </a:prstGeom>
          <a:noFill/>
        </p:spPr>
        <p:txBody>
          <a:bodyPr vert="horz" wrap="square" lIns="0" tIns="0" rIns="0" bIns="0" rtlCol="0">
            <a:noAutofit/>
          </a:bodyPr>
          <a:lstStyle/>
          <a:p>
            <a:pPr>
              <a:spcAft>
                <a:spcPts val="500"/>
              </a:spcAft>
            </a:pPr>
            <a:r>
              <a:rPr lang="en-GB" sz="1050" b="1">
                <a:solidFill>
                  <a:schemeClr val="accent1"/>
                </a:solidFill>
                <a:latin typeface="Lato" panose="020F0502020204030203" pitchFamily="34" charset="0"/>
              </a:rPr>
              <a:t>Resolution</a:t>
            </a:r>
          </a:p>
          <a:p>
            <a:pPr>
              <a:spcAft>
                <a:spcPts val="200"/>
              </a:spcAft>
            </a:pPr>
            <a:r>
              <a:rPr lang="en-GB" sz="1050">
                <a:solidFill>
                  <a:schemeClr val="dk1"/>
                </a:solidFill>
                <a:latin typeface="Lato" panose="020F0502020204030203" pitchFamily="34" charset="0"/>
              </a:rPr>
              <a:t>Vopak share at each site</a:t>
            </a:r>
          </a:p>
          <a:p>
            <a:pPr>
              <a:spcAft>
                <a:spcPts val="200"/>
              </a:spcAft>
            </a:pPr>
            <a:r>
              <a:rPr lang="en-GB" sz="1050">
                <a:solidFill>
                  <a:schemeClr val="dk1"/>
                </a:solidFill>
                <a:latin typeface="Lato" panose="020F0502020204030203" pitchFamily="34" charset="0"/>
              </a:rPr>
              <a:t>Scope for new investment</a:t>
            </a:r>
            <a:endParaRPr lang="en-ZA" sz="1050">
              <a:solidFill>
                <a:schemeClr val="dk1"/>
              </a:solidFill>
              <a:latin typeface="Lato" panose="020F0502020204030203" pitchFamily="34" charset="0"/>
            </a:endParaRPr>
          </a:p>
        </p:txBody>
      </p:sp>
      <p:cxnSp>
        <p:nvCxnSpPr>
          <p:cNvPr id="50" name="Capture to capacity">
            <a:extLst>
              <a:ext uri="{FF2B5EF4-FFF2-40B4-BE49-F238E27FC236}">
                <a16:creationId xmlns:a16="http://schemas.microsoft.com/office/drawing/2014/main" id="{1A0CED58-7766-9E27-01D7-7E6CB9E0A1DA}"/>
              </a:ext>
            </a:extLst>
          </p:cNvPr>
          <p:cNvCxnSpPr/>
          <p:nvPr/>
        </p:nvCxnSpPr>
        <p:spPr>
          <a:xfrm>
            <a:off x="28448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1" name="Capacity to returns">
            <a:extLst>
              <a:ext uri="{FF2B5EF4-FFF2-40B4-BE49-F238E27FC236}">
                <a16:creationId xmlns:a16="http://schemas.microsoft.com/office/drawing/2014/main" id="{E7EDE825-97C8-5ECE-B656-1128616197AF}"/>
              </a:ext>
            </a:extLst>
          </p:cNvPr>
          <p:cNvCxnSpPr/>
          <p:nvPr/>
        </p:nvCxnSpPr>
        <p:spPr>
          <a:xfrm>
            <a:off x="5956300" y="5664200"/>
            <a:ext cx="3937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52" name="Returns to resolution">
            <a:extLst>
              <a:ext uri="{FF2B5EF4-FFF2-40B4-BE49-F238E27FC236}">
                <a16:creationId xmlns:a16="http://schemas.microsoft.com/office/drawing/2014/main" id="{924FFDD7-6647-B317-2296-3F19E0FAF00C}"/>
              </a:ext>
            </a:extLst>
          </p:cNvPr>
          <p:cNvCxnSpPr/>
          <p:nvPr/>
        </p:nvCxnSpPr>
        <p:spPr>
          <a:xfrm>
            <a:off x="8991600" y="5664200"/>
            <a:ext cx="419100" cy="0"/>
          </a:xfrm>
          <a:prstGeom prst="straightConnector1">
            <a:avLst/>
          </a:prstGeom>
          <a:ln w="127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262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Choose the investment that removes the proven constraint—and earns a return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Investment menu, not approved projects. Network rail recovery is an external fuel-demand driver; Vopak rail loading/access is a distinct investment option. EV uptake reduces some fuel demand; it does not itself prove an EV investment case. Project costs, contracts and returns remain open. Three fuel-logistics packages are priced illustratively on p39; these do not constitute engineered rail or EV project estimates.</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12159672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option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When it becomes relevant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 commitment trigger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Existing assets /
debottlenecking</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Customer growth can be served through better tank turns, scheduling or receipt/dispatch.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available working capacity; invest in the specific bottleneck where incremental value is positive.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Corridor / rail
access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Competitive customer flows are constrained by transport capacity, cost or reliability.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Secure service and volume commitments. Compare access contracts, loading assets and partnership investment.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Additional
tank capacity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Profitable captured flows exceed achievable handling and storage remains the binding constraint.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and stage tanks against contracted demand; pass the four tests and downside cases.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EV-related
adjacencies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Identified charging / fleet-energy customers offer a viable opportunity as transport electrifies.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Screen partnerships or dedicated assets separately: demand, power access, strategic fit and return must be proven.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6" name="Argument icon turnover">
            <a:extLst>
              <a:ext uri="{FF2B5EF4-FFF2-40B4-BE49-F238E27FC236}">
                <a16:creationId xmlns:a16="http://schemas.microsoft.com/office/drawing/2014/main" id="{BA6FB266-146A-4D87-EE83-A73075F126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5" name="Argument icon transport">
            <a:extLst>
              <a:ext uri="{FF2B5EF4-FFF2-40B4-BE49-F238E27FC236}">
                <a16:creationId xmlns:a16="http://schemas.microsoft.com/office/drawing/2014/main" id="{123D469F-315C-7FB5-C3A5-660211B54C5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Argument icon headroom">
            <a:extLst>
              <a:ext uri="{FF2B5EF4-FFF2-40B4-BE49-F238E27FC236}">
                <a16:creationId xmlns:a16="http://schemas.microsoft.com/office/drawing/2014/main" id="{5F1A2A76-F7B3-3178-767E-DCFA9227803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Argument icon power">
            <a:extLst>
              <a:ext uri="{FF2B5EF4-FFF2-40B4-BE49-F238E27FC236}">
                <a16:creationId xmlns:a16="http://schemas.microsoft.com/office/drawing/2014/main" id="{8B95344E-2FD8-34AD-5418-6BD86B8DCB6D}"/>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Resolve customer volume, working capacity and project economics first to determine the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DR01-DR09 register and 8 October PS handback. Prepared, not sent; receipt not recorded. DR09 EV adjacency remains separate. Public estimates can proceed while client data is pending.</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282441300"/>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Outstanding request / coordinator</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Required data / handback</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Decision supported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DR01 | Manish; Nigel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Product/year sales, gross imports, exports, actual production and stocks. Resolve 2024 source; 2025 sales are absent.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Reconciled current market scale.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DR04 | Manish; Nigel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Port/pipeline capacity, route access and destination-matched delivered economics.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Accessible Durban and Lesedi markets.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DR07/08 | Manish; Nigel/Henry review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Reported Eskom litres, fleet/efficiency, IPP timing and all refineries including PetroSA/Mossgas.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Demand and domestic-output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DR02/05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36 months of site/product movements, shared transfers, destinations, customer commitments and contracts.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Actual market share and achievable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4633">
                <a:tc>
                  <a:txBody>
                    <a:bodyPr/>
                    <a:lstStyle/>
                    <a:p>
                      <a:pPr>
                        <a:spcAft>
                          <a:spcPts val="0"/>
                        </a:spcAft>
                        <a:defRPr sz="1000" b="0">
                          <a:solidFill>
                            <a:srgbClr val="000000"/>
                          </a:solidFill>
                          <a:latin typeface="Lato"/>
                        </a:defRPr>
                      </a:pPr>
                      <a:r>
                        <a:rPr lang="en-GB" sz="1200" b="1" u="none">
                          <a:solidFill>
                            <a:schemeClr val="dk1"/>
                          </a:solidFill>
                          <a:latin typeface="Lato" panose="020F0502020204030203" pitchFamily="34" charset="0"/>
                        </a:rPr>
                        <a:t>DR03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Working/committed tankage, turns, occupancy, downtime and receipt/dispatch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Operating headroom and bottlenecks.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22749394"/>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DR06 | Nigel coordinates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timing,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Incremental returns and investment scope.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698630151"/>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latin typeface="Lato" panose="020F0502020204030203" pitchFamily="34" charset="0"/>
              </a:rPr>
              <a:t>Resolution</a:t>
            </a:r>
          </a:p>
        </p:txBody>
      </p:sp>
    </p:spTree>
    <p:extLst>
      <p:ext uri="{BB962C8B-B14F-4D97-AF65-F5344CB8AC3E}">
        <p14:creationId xmlns:p14="http://schemas.microsoft.com/office/powerpoint/2010/main" val="3331781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19</a:t>
            </a:r>
          </a:p>
        </p:txBody>
      </p:sp>
    </p:spTree>
    <p:extLst>
      <p:ext uri="{BB962C8B-B14F-4D97-AF65-F5344CB8AC3E}">
        <p14:creationId xmlns:p14="http://schemas.microsoft.com/office/powerpoint/2010/main" val="1212990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The main story runs from the opening thesis to the investment tests. The added lever register and power/supply calibration pages record what remains to be populated.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25626513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Workbook sector history, vehicle stock/sales, diesel-use estimates, freight and power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Observed history and labelled estimates inform D1-D5; annual L/M/H paths still require agreement.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 separate EV adjacency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Staged GDP and department fuel sales, indices 2013=100. Sector attribution remains open; COVID distorts short-period comparisons.</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The workbook separates mining/manufacturing indices and agricultural GVA from fuel intensity. Post-2021 sector litres are estimates; GDP alone cannot explain fuel demand.</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Sector history R7/R9/R17/R19/S23/S25 and History R117/R124/R125. Sector litres after 2021 are estimates; jet 2024 uses unverified FIASA. Index base 2019=100; GVA in 2015 prices.</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422190180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fr-FR" sz="1300" b="0" u="none">
                          <a:solidFill>
                            <a:schemeClr val="dk1"/>
                          </a:solidFill>
                          <a:latin typeface="Lato" panose="020F0502020204030203" pitchFamily="34" charset="0"/>
                        </a:rPr>
                        <a:t>2024 production index 93.5; indicative diesel 1.40bn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activity and intensity separately; balance intensity varies materially.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2024 output index 93.3; indicative industry residual 0.17bn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Industry less mining/construction. This is not a complete industrial diesel census.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2025 real GVA R134.8bn (2015 prices); indicative diesel 1.13bn 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Fuel estimate holds 2018-2021 intensity; crop and irrigation exposure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2024 jet sales 1.96bn L; 456,214 ACSA movements; 4,285 L/movement.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FIASA sales unverified; movements omit non-ACSA airports. Fuel mix and routes are not separated.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Vehicle history S6:S8/S24/S26. Apparent retirements are not verified scrappage. Stone et al. study uses a 2014 base; no recent OEM efficiency history or fuel-by-class stock is established.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73238068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2025 cars 8.18m; LCVs 2.78m; trucks 0.405m.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Registered stock shows scale; fuel within class and opening cohort age remain unknown.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Replacement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2025 apparent retirement: cars 2.36%, LCVs 3.42%. Model settings: 4% and 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Stock plus sales less next stock is a diagnostic, including deregistration, exports and classification effects.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 / EVs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Study mileage/fuel-use benchmarks and separate BEV, PHEV and hybrid sales are available.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Recent OEM efficiency history remains open. Apply gains to new cohorts and count EV transitions once.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Vehicle stock and sales expose fuel-demand calibration gaps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Vehicle history S6:S8/S18:S20/S24/S26/S31:S36/Q52. NaTIS and naamsa classes are not identical. Apparent retirement is not verified scrappage; petrol diagnostic compares different scopes.</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graphicFrame>
        <p:nvGraphicFramePr>
          <p:cNvPr id="4" name="Native evidence table">
            <a:extLst>
              <a:ext uri="{FF2B5EF4-FFF2-40B4-BE49-F238E27FC236}">
                <a16:creationId xmlns:a16="http://schemas.microsoft.com/office/drawing/2014/main" id="{ACC99456-07A8-9C23-7397-426F095DE1FB}"/>
              </a:ext>
            </a:extLst>
          </p:cNvPr>
          <p:cNvGraphicFramePr>
            <a:graphicFrameLocks noGrp="1"/>
          </p:cNvGraphicFramePr>
          <p:nvPr>
            <p:extLst>
              <p:ext uri="{D42A27DB-BD31-4B8C-83A1-F6EECF244321}">
                <p14:modId xmlns:p14="http://schemas.microsoft.com/office/powerpoint/2010/main" val="3183255910"/>
              </p:ext>
            </p:extLst>
          </p:nvPr>
        </p:nvGraphicFramePr>
        <p:xfrm>
          <a:off x="457199" y="1651000"/>
          <a:ext cx="10652760" cy="41656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485978477"/>
                    </a:ext>
                  </a:extLst>
                </a:gridCol>
                <a:gridCol w="2984500">
                  <a:extLst>
                    <a:ext uri="{9D8B030D-6E8A-4147-A177-3AD203B41FA5}">
                      <a16:colId xmlns:a16="http://schemas.microsoft.com/office/drawing/2014/main" val="558823937"/>
                    </a:ext>
                  </a:extLst>
                </a:gridCol>
                <a:gridCol w="1778000">
                  <a:extLst>
                    <a:ext uri="{9D8B030D-6E8A-4147-A177-3AD203B41FA5}">
                      <a16:colId xmlns:a16="http://schemas.microsoft.com/office/drawing/2014/main" val="3940173512"/>
                    </a:ext>
                  </a:extLst>
                </a:gridCol>
                <a:gridCol w="4048760">
                  <a:extLst>
                    <a:ext uri="{9D8B030D-6E8A-4147-A177-3AD203B41FA5}">
                      <a16:colId xmlns:a16="http://schemas.microsoft.com/office/drawing/2014/main" val="2616802346"/>
                    </a:ext>
                  </a:extLst>
                </a:gridCol>
              </a:tblGrid>
              <a:tr h="355600">
                <a:tc>
                  <a:txBody>
                    <a:bodyPr/>
                    <a:lstStyle/>
                    <a:p>
                      <a:pPr>
                        <a:spcAft>
                          <a:spcPts val="0"/>
                        </a:spcAft>
                      </a:pPr>
                      <a:r>
                        <a:rPr lang="en-ZA" sz="1200" b="1">
                          <a:solidFill>
                            <a:schemeClr val="dk1"/>
                          </a:solidFill>
                          <a:latin typeface="Lato" panose="020F0502020204030203" pitchFamily="34" charset="0"/>
                        </a:rPr>
                        <a:t>Calibration item</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Observed evidence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Model / calibration reference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Implication / limitation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573864855"/>
                  </a:ext>
                </a:extLst>
              </a:tr>
              <a:tr h="762000">
                <a:tc>
                  <a:txBody>
                    <a:bodyPr/>
                    <a:lstStyle/>
                    <a:p>
                      <a:pPr>
                        <a:spcAft>
                          <a:spcPts val="0"/>
                        </a:spcAft>
                      </a:pPr>
                      <a:r>
                        <a:rPr lang="en-ZA" sz="1200" b="1">
                          <a:solidFill>
                            <a:schemeClr val="accent1"/>
                          </a:solidFill>
                          <a:latin typeface="Lato" panose="020F0502020204030203" pitchFamily="34" charset="0"/>
                        </a:rPr>
                        <a:t>2025 registered fleet</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Cars 8.18m; LCVs 2.78m; trucks 0.405m.</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Opening cohorts need review.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Age and fuel within class are missing; all-class fuel counts are available only for December 2023.</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923578628"/>
                  </a:ext>
                </a:extLst>
              </a:tr>
              <a:tr h="762000">
                <a:tc>
                  <a:txBody>
                    <a:bodyPr/>
                    <a:lstStyle/>
                    <a:p>
                      <a:pPr>
                        <a:spcAft>
                          <a:spcPts val="0"/>
                        </a:spcAft>
                      </a:pPr>
                      <a:r>
                        <a:rPr lang="en-ZA" sz="1200" b="1">
                          <a:solidFill>
                            <a:schemeClr val="accent1"/>
                          </a:solidFill>
                          <a:latin typeface="Lato" panose="020F0502020204030203" pitchFamily="34" charset="0"/>
                        </a:rPr>
                        <a:t>New-sales mix,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Cars 70.7%; LCVs 24.1%; medium/heavy 5.2%.</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78% / 18% / 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Observed class mix differs. Agree segmentation before adopting a replacement.</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309142302"/>
                  </a:ext>
                </a:extLst>
              </a:tr>
              <a:tr h="762000">
                <a:tc>
                  <a:txBody>
                    <a:bodyPr/>
                    <a:lstStyle/>
                    <a:p>
                      <a:pPr>
                        <a:spcAft>
                          <a:spcPts val="0"/>
                        </a:spcAft>
                      </a:pPr>
                      <a:r>
                        <a:rPr lang="en-ZA" sz="1200" b="1">
                          <a:solidFill>
                            <a:schemeClr val="accent1"/>
                          </a:solidFill>
                          <a:latin typeface="Lato" panose="020F0502020204030203" pitchFamily="34" charset="0"/>
                        </a:rPr>
                        <a:t>Apparent retirement,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Cars 2.36%; LCVs 3.42%.</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 cars; 5% LCVs.</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Derived from stock and new sales; includes classification changes, exports and deregistrations.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4194439475"/>
                  </a:ext>
                </a:extLst>
              </a:tr>
              <a:tr h="762000">
                <a:tc>
                  <a:txBody>
                    <a:bodyPr/>
                    <a:lstStyle/>
                    <a:p>
                      <a:pPr>
                        <a:spcAft>
                          <a:spcPts val="0"/>
                        </a:spcAft>
                      </a:pPr>
                      <a:r>
                        <a:rPr lang="en-ZA" sz="1200" b="1">
                          <a:solidFill>
                            <a:schemeClr val="accent1"/>
                          </a:solidFill>
                          <a:latin typeface="Lato" panose="020F0502020204030203" pitchFamily="34" charset="0"/>
                        </a:rPr>
                        <a:t>New drivetrains, 2025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fr-FR" sz="1200" b="0">
                          <a:solidFill>
                            <a:schemeClr val="dk1"/>
                          </a:solidFill>
                          <a:latin typeface="Lato" panose="020F0502020204030203" pitchFamily="34" charset="0"/>
                        </a:rPr>
                        <a:t>BEV 1,088; PHEV 2,810; conventional hybrid 12,818.</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BEV observed share 0.18%.</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All new-sales denominator. Fleet share, charging behaviour and hybrid fuel savings differ.</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839864615"/>
                  </a:ext>
                </a:extLst>
              </a:tr>
              <a:tr h="762000">
                <a:tc>
                  <a:txBody>
                    <a:bodyPr/>
                    <a:lstStyle/>
                    <a:p>
                      <a:pPr>
                        <a:spcAft>
                          <a:spcPts val="0"/>
                        </a:spcAft>
                      </a:pPr>
                      <a:r>
                        <a:rPr lang="en-ZA" sz="1200" b="1">
                          <a:solidFill>
                            <a:schemeClr val="accent1"/>
                          </a:solidFill>
                          <a:latin typeface="Lato" panose="020F0502020204030203" pitchFamily="34" charset="0"/>
                        </a:rPr>
                        <a:t>Petrol-use diagnostic, 2023</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1,056 L per registered petrol vehicle.</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Passenger setting implies 1,615 L/year.</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Aggregate versus passenger scope differs. Investigate mileage and fuel-use calibration, not a direct replacement.</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779951999"/>
                  </a:ext>
                </a:extLst>
              </a:tr>
            </a:tbl>
          </a:graphicData>
        </a:graphic>
      </p:graphicFrame>
    </p:spTree>
    <p:extLst>
      <p:ext uri="{BB962C8B-B14F-4D97-AF65-F5344CB8AC3E}">
        <p14:creationId xmlns:p14="http://schemas.microsoft.com/office/powerpoint/2010/main" val="1885496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Eskom Integrated Report 2025, FY March, own diesel + kerosene. Workbook combined generation includes IPPs and kerosene stations; multiplying it by 0.31 L/kWh is an estimate, not reported diesel burn. Private backup remains unmeasured.</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Reported own-fleet fuel fell from 1,129.5 to 679.1m L as EAF improved. Eskom/IPP output and generation-derived litres are a broader, separate series.</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Stats SA payload and transport-industry fuel purchases. Workbook Diesel by use Q28: spending / average diesel price, hire-and-reward firms only; may include petrol/lubricants. Road residual includes unseparated uses; tonne-km and rail traction remain open.</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2023 freight-operator fuel purchases imply ~3.15bn L at list diesel prices. Partial coverage and the estimated vehicle split do not establish corridor tonne-km.</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Department provincial sales through 2022; workbook History Q84/Q104 and R84/R104 estimate later volumes. 2024 also uses unverified FIASA national sales. The chart retains observed 2013-2022 sales history, not current market share.</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00699"/>
            <a:ext cx="10477500" cy="482600"/>
          </a:xfrm>
          <a:prstGeom prst="rect">
            <a:avLst/>
          </a:prstGeom>
          <a:noFill/>
        </p:spPr>
        <p:txBody>
          <a:bodyPr vert="horz" lIns="0" tIns="0" rIns="0" bIns="0" rtlCol="0">
            <a:noAutofit/>
          </a:bodyPr>
          <a:lstStyle/>
          <a:p>
            <a:r>
              <a:rPr lang="en-GB" sz="1050">
                <a:solidFill>
                  <a:schemeClr val="dk1"/>
                </a:solidFill>
                <a:latin typeface="Lato" panose="020F0502020204030203" pitchFamily="34" charset="0"/>
              </a:rPr>
              <a:t>Gauteng sales: 6.81bn L observed in 2022; 6.81bn estimated in 2023 and 6.52bn in 2024. Customer catchment and actual Lesedi capture remain unverified.</a:t>
            </a:r>
            <a:endParaRPr lang="en-ZA" sz="105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31</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HML response has 29 levers. Examples: BEV adoption, rail diversion, mileage, prices, hybrids, truck/LCV electrification and neighbouring exports. All replacement ranges remain proposals; no forecast inputs are adopted in this pack.</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80317772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Lever IDs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Inputs to calibrate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Output / remaining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D1–D5 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D1 sector growth; D2 rail; D3 EV adoption; D4 efficiency; D5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29 proposed levers (20 original, nine added). 2030/2035 values need review; no agreed annual path yet.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S1–S4 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300" b="0" u="none">
                          <a:solidFill>
                            <a:schemeClr val="dk1"/>
                          </a:solidFill>
                          <a:latin typeface="Lato" panose="020F0502020204030203" pitchFamily="34" charset="0"/>
                        </a:rPr>
                        <a:t>S1 SAPREF; S2 Secunda gas/MRG; S3 Natref; S4 PetroSA.</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yields and feedstock dependencies remain open. Reconcile proposed capacity, utilisation and gas assumptions.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T1–T2 capture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 delivered route economics/access; T2 customer/product/destination capture.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Allocate domestic and imported fuel to unique terminal deliveries. Tariffs, rights and commercial allocation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T3–T5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T3 eligible working tankage; T4 turnover; T5 receipt/dispatch, peaks and stock policy.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required with achievable turns, occupancy and headroom. Existing 1/2/3-turn sensitivity is illustrative only.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F1 finance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Storage/handling terms, costs, capex, tax, working capital and hurdle 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Translate constrained throughput into cash flow, NPV, IRR and investment triggers. Commercial inputs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32</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Power fleet F11:S15 and N63:N65; proposed scenarios, not forecasts. Generation includes kerosene. IPP renewal, gas availability and coal-site repowering are not established. Historical burn must match scope and period.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99356030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Own Eskom fuel/EAF and Eskom/IPP GWh are assembled; generation-based litres are estimated.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Match financial and calendar periods. Obtain reported litres and private-backup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and retirements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Four diesel stations: 3,089 MW. Avon/Dedisa PPA endings and coal retirement dates are assembled.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Contract end is not confirmed shutdown. Siting, renewal and actual coal decisions remain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Replacement / gas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Ankerlig/Gourikwa gas switch and coal-site turbines are case dependencies, not committed outcomes.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Wind/solar/gas commissioning, fuel availability and dependable output constrain peaking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Proposed L/M/H cases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2030 power diesel: 86 / 637 / 4,224m L in the workbook scenarios.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Nigel/Henry review D22: conversion rate, backup share, load factors, repowering location and gas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solidFill>
                  <a:schemeClr val="dk1"/>
                </a:solidFill>
                <a:latin typeface="Lato"/>
              </a:rPr>
              <a:t>The diesel fleet and replacement timing define the power-demand cases</a:t>
            </a:r>
            <a:endParaRPr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33</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Power fleet F11:F15, N63:N65 and S63:S65. Proposed cases, Nigel/Henry review D22. 0.31 L/kWh, backup fraction, load factors, gas supply and coal-site repowering need review. Kerosene stations and private backup are separate.</a:t>
            </a:r>
            <a:endParaRPr sz="6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65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4" name="Fleet heading">
            <a:extLst>
              <a:ext uri="{FF2B5EF4-FFF2-40B4-BE49-F238E27FC236}">
                <a16:creationId xmlns:a16="http://schemas.microsoft.com/office/drawing/2014/main" id="{26C66294-3AFA-17AD-1DD9-AE345133A1E2}"/>
              </a:ext>
            </a:extLst>
          </p:cNvPr>
          <p:cNvSpPr txBox="1"/>
          <p:nvPr/>
        </p:nvSpPr>
        <p:spPr>
          <a:xfrm>
            <a:off x="457200" y="1600200"/>
            <a:ext cx="5511800" cy="228600"/>
          </a:xfrm>
          <a:prstGeom prst="rect">
            <a:avLst/>
          </a:prstGeom>
          <a:noFill/>
        </p:spPr>
        <p:txBody>
          <a:bodyPr vert="horz" lIns="0" tIns="0" rIns="0" bIns="0" rtlCol="0">
            <a:noAutofit/>
          </a:bodyPr>
          <a:lstStyle/>
          <a:p>
            <a:pPr>
              <a:spcAft>
                <a:spcPts val="200"/>
              </a:spcAft>
            </a:pPr>
            <a:r>
              <a:rPr lang="en-ZA" sz="1200" b="1">
                <a:solidFill>
                  <a:schemeClr val="accent1"/>
                </a:solidFill>
                <a:latin typeface="Lato" panose="020F0502020204030203" pitchFamily="34" charset="0"/>
              </a:rPr>
              <a:t>OPERATING DIESEL FLEET: 3,089 MW</a:t>
            </a:r>
          </a:p>
        </p:txBody>
      </p:sp>
      <p:graphicFrame>
        <p:nvGraphicFramePr>
          <p:cNvPr id="5" name="Operating fleet table">
            <a:extLst>
              <a:ext uri="{FF2B5EF4-FFF2-40B4-BE49-F238E27FC236}">
                <a16:creationId xmlns:a16="http://schemas.microsoft.com/office/drawing/2014/main" id="{63B91FD6-B117-06E7-DA4F-60DFE4B032D0}"/>
              </a:ext>
            </a:extLst>
          </p:cNvPr>
          <p:cNvGraphicFramePr>
            <a:graphicFrameLocks noGrp="1"/>
          </p:cNvGraphicFramePr>
          <p:nvPr>
            <p:extLst>
              <p:ext uri="{D42A27DB-BD31-4B8C-83A1-F6EECF244321}">
                <p14:modId xmlns:p14="http://schemas.microsoft.com/office/powerpoint/2010/main" val="3469766022"/>
              </p:ext>
            </p:extLst>
          </p:nvPr>
        </p:nvGraphicFramePr>
        <p:xfrm>
          <a:off x="457200" y="1879600"/>
          <a:ext cx="5461000" cy="17399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845088796"/>
                    </a:ext>
                  </a:extLst>
                </a:gridCol>
                <a:gridCol w="1206500">
                  <a:extLst>
                    <a:ext uri="{9D8B030D-6E8A-4147-A177-3AD203B41FA5}">
                      <a16:colId xmlns:a16="http://schemas.microsoft.com/office/drawing/2014/main" val="3501716829"/>
                    </a:ext>
                  </a:extLst>
                </a:gridCol>
                <a:gridCol w="1841500">
                  <a:extLst>
                    <a:ext uri="{9D8B030D-6E8A-4147-A177-3AD203B41FA5}">
                      <a16:colId xmlns:a16="http://schemas.microsoft.com/office/drawing/2014/main" val="2619142678"/>
                    </a:ext>
                  </a:extLst>
                </a:gridCol>
              </a:tblGrid>
              <a:tr h="317500">
                <a:tc>
                  <a:txBody>
                    <a:bodyPr/>
                    <a:lstStyle/>
                    <a:p>
                      <a:pPr>
                        <a:spcAft>
                          <a:spcPts val="0"/>
                        </a:spcAft>
                      </a:pPr>
                      <a:r>
                        <a:rPr lang="en-ZA" sz="1200" b="1">
                          <a:solidFill>
                            <a:schemeClr val="dk1"/>
                          </a:solidFill>
                          <a:latin typeface="Lato" panose="020F0502020204030203" pitchFamily="34" charset="0"/>
                        </a:rPr>
                        <a:t>Diesel station</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MW</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Owner</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1733906680"/>
                  </a:ext>
                </a:extLst>
              </a:tr>
              <a:tr h="355600">
                <a:tc>
                  <a:txBody>
                    <a:bodyPr/>
                    <a:lstStyle/>
                    <a:p>
                      <a:pPr>
                        <a:spcAft>
                          <a:spcPts val="0"/>
                        </a:spcAft>
                      </a:pPr>
                      <a:r>
                        <a:rPr lang="en-ZA" sz="1200" b="1">
                          <a:solidFill>
                            <a:schemeClr val="accent1"/>
                          </a:solidFill>
                          <a:latin typeface="Lato" panose="020F0502020204030203" pitchFamily="34" charset="0"/>
                        </a:rPr>
                        <a:t>Ankerlig</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1,338</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Eskom</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3752116119"/>
                  </a:ext>
                </a:extLst>
              </a:tr>
              <a:tr h="355600">
                <a:tc>
                  <a:txBody>
                    <a:bodyPr/>
                    <a:lstStyle/>
                    <a:p>
                      <a:pPr>
                        <a:spcAft>
                          <a:spcPts val="0"/>
                        </a:spcAft>
                      </a:pPr>
                      <a:r>
                        <a:rPr lang="en-ZA" sz="1200" b="1">
                          <a:solidFill>
                            <a:schemeClr val="accent1"/>
                          </a:solidFill>
                          <a:latin typeface="Lato" panose="020F0502020204030203" pitchFamily="34" charset="0"/>
                        </a:rPr>
                        <a:t>Gourikwa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746</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Eskom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510021424"/>
                  </a:ext>
                </a:extLst>
              </a:tr>
              <a:tr h="355600">
                <a:tc>
                  <a:txBody>
                    <a:bodyPr/>
                    <a:lstStyle/>
                    <a:p>
                      <a:pPr>
                        <a:spcAft>
                          <a:spcPts val="0"/>
                        </a:spcAft>
                      </a:pPr>
                      <a:r>
                        <a:rPr lang="en-ZA" sz="1200" b="1">
                          <a:solidFill>
                            <a:schemeClr val="accent1"/>
                          </a:solidFill>
                          <a:latin typeface="Lato" panose="020F0502020204030203" pitchFamily="34" charset="0"/>
                        </a:rPr>
                        <a:t>Avon</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670</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1582012135"/>
                  </a:ext>
                </a:extLst>
              </a:tr>
              <a:tr h="355600">
                <a:tc>
                  <a:txBody>
                    <a:bodyPr/>
                    <a:lstStyle/>
                    <a:p>
                      <a:pPr>
                        <a:spcAft>
                          <a:spcPts val="0"/>
                        </a:spcAft>
                      </a:pPr>
                      <a:r>
                        <a:rPr lang="en-ZA" sz="1200" b="1">
                          <a:solidFill>
                            <a:schemeClr val="accent1"/>
                          </a:solidFill>
                          <a:latin typeface="Lato" panose="020F0502020204030203" pitchFamily="34" charset="0"/>
                        </a:rPr>
                        <a:t>Dedisa</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335</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Independent</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47107425"/>
                  </a:ext>
                </a:extLst>
              </a:tr>
            </a:tbl>
          </a:graphicData>
        </a:graphic>
      </p:graphicFrame>
      <p:sp>
        <p:nvSpPr>
          <p:cNvPr id="6" name="Timing heading">
            <a:extLst>
              <a:ext uri="{FF2B5EF4-FFF2-40B4-BE49-F238E27FC236}">
                <a16:creationId xmlns:a16="http://schemas.microsoft.com/office/drawing/2014/main" id="{692D2DDD-4539-574B-52E7-2287D43EF72D}"/>
              </a:ext>
            </a:extLst>
          </p:cNvPr>
          <p:cNvSpPr txBox="1"/>
          <p:nvPr/>
        </p:nvSpPr>
        <p:spPr>
          <a:xfrm>
            <a:off x="6311900" y="1600200"/>
            <a:ext cx="4800600" cy="228600"/>
          </a:xfrm>
          <a:prstGeom prst="rect">
            <a:avLst/>
          </a:prstGeom>
          <a:noFill/>
        </p:spPr>
        <p:txBody>
          <a:bodyPr vert="horz" lIns="0" tIns="0" rIns="0" bIns="0" rtlCol="0">
            <a:noAutofit/>
          </a:bodyPr>
          <a:lstStyle/>
          <a:p>
            <a:pPr>
              <a:spcAft>
                <a:spcPts val="200"/>
              </a:spcAft>
            </a:pPr>
            <a:r>
              <a:rPr lang="en-ZA" sz="1200" b="1">
                <a:solidFill>
                  <a:schemeClr val="accent1"/>
                </a:solidFill>
                <a:latin typeface="Lato" panose="020F0502020204030203" pitchFamily="34" charset="0"/>
              </a:rPr>
              <a:t>TIMING AND DEPENDENCIES</a:t>
            </a:r>
          </a:p>
        </p:txBody>
      </p:sp>
      <p:sp>
        <p:nvSpPr>
          <p:cNvPr id="7" name="Timing conditions">
            <a:extLst>
              <a:ext uri="{FF2B5EF4-FFF2-40B4-BE49-F238E27FC236}">
                <a16:creationId xmlns:a16="http://schemas.microsoft.com/office/drawing/2014/main" id="{8BA0247D-6497-AD08-227D-A2EDCBC502B4}"/>
              </a:ext>
            </a:extLst>
          </p:cNvPr>
          <p:cNvSpPr txBox="1"/>
          <p:nvPr/>
        </p:nvSpPr>
        <p:spPr>
          <a:xfrm>
            <a:off x="6311900" y="1955800"/>
            <a:ext cx="4800600" cy="1333500"/>
          </a:xfrm>
          <a:prstGeom prst="rect">
            <a:avLst/>
          </a:prstGeom>
          <a:noFill/>
        </p:spPr>
        <p:txBody>
          <a:bodyPr vert="horz" lIns="0" tIns="0" rIns="0" bIns="0" rtlCol="0">
            <a:noAutofit/>
          </a:bodyPr>
          <a:lstStyle/>
          <a:p>
            <a:pPr>
              <a:spcAft>
                <a:spcPts val="200"/>
              </a:spcAft>
            </a:pPr>
            <a:r>
              <a:rPr lang="en-GB" sz="1300">
                <a:solidFill>
                  <a:schemeClr val="dk1"/>
                </a:solidFill>
                <a:latin typeface="Lato" panose="020F0502020204030203" pitchFamily="34" charset="0"/>
              </a:rPr>
              <a:t>Avon / Dedisa PPAs end in 2031 / 2030.
Five coal sites have exemptions to March 2030; final outcomes remain open.
Gas-switch and turbine locations are assumptions, not committed projects.</a:t>
            </a:r>
            <a:endParaRPr lang="en-ZA" sz="1300">
              <a:solidFill>
                <a:schemeClr val="dk1"/>
              </a:solidFill>
              <a:latin typeface="Lato" panose="020F0502020204030203" pitchFamily="34" charset="0"/>
            </a:endParaRPr>
          </a:p>
        </p:txBody>
      </p:sp>
      <p:sp>
        <p:nvSpPr>
          <p:cNvPr id="13" name="Scenario heading">
            <a:extLst>
              <a:ext uri="{FF2B5EF4-FFF2-40B4-BE49-F238E27FC236}">
                <a16:creationId xmlns:a16="http://schemas.microsoft.com/office/drawing/2014/main" id="{BDD1F9F5-2913-0C39-4F9C-A881D8297609}"/>
              </a:ext>
            </a:extLst>
          </p:cNvPr>
          <p:cNvSpPr txBox="1"/>
          <p:nvPr/>
        </p:nvSpPr>
        <p:spPr>
          <a:xfrm>
            <a:off x="457200" y="3898900"/>
            <a:ext cx="10655300" cy="228600"/>
          </a:xfrm>
          <a:prstGeom prst="rect">
            <a:avLst/>
          </a:prstGeom>
          <a:noFill/>
        </p:spPr>
        <p:txBody>
          <a:bodyPr vert="horz" lIns="0" tIns="0" rIns="0" bIns="0" rtlCol="0">
            <a:noAutofit/>
          </a:bodyPr>
          <a:lstStyle/>
          <a:p>
            <a:pPr>
              <a:spcAft>
                <a:spcPts val="200"/>
              </a:spcAft>
            </a:pPr>
            <a:r>
              <a:rPr lang="en-GB" sz="1200" b="1">
                <a:solidFill>
                  <a:schemeClr val="accent1"/>
                </a:solidFill>
                <a:latin typeface="Lato" panose="020F0502020204030203" pitchFamily="34" charset="0"/>
              </a:rPr>
              <a:t>PROPOSED WORKBOOK CASES — NIGEL / HENRY REVIEW</a:t>
            </a:r>
            <a:endParaRPr lang="en-ZA" sz="1200" b="1">
              <a:solidFill>
                <a:schemeClr val="accent1"/>
              </a:solidFill>
              <a:latin typeface="Lato" panose="020F0502020204030203" pitchFamily="34" charset="0"/>
            </a:endParaRPr>
          </a:p>
        </p:txBody>
      </p:sp>
      <p:graphicFrame>
        <p:nvGraphicFramePr>
          <p:cNvPr id="14" name="Proposed cases table">
            <a:extLst>
              <a:ext uri="{FF2B5EF4-FFF2-40B4-BE49-F238E27FC236}">
                <a16:creationId xmlns:a16="http://schemas.microsoft.com/office/drawing/2014/main" id="{1AF7AAEB-13E8-6D7B-CF79-1E8710195DEB}"/>
              </a:ext>
            </a:extLst>
          </p:cNvPr>
          <p:cNvGraphicFramePr>
            <a:graphicFrameLocks noGrp="1"/>
          </p:cNvGraphicFramePr>
          <p:nvPr>
            <p:extLst>
              <p:ext uri="{D42A27DB-BD31-4B8C-83A1-F6EECF244321}">
                <p14:modId xmlns:p14="http://schemas.microsoft.com/office/powerpoint/2010/main" val="2994773653"/>
              </p:ext>
            </p:extLst>
          </p:nvPr>
        </p:nvGraphicFramePr>
        <p:xfrm>
          <a:off x="457199" y="4203700"/>
          <a:ext cx="10652760" cy="1714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2116060486"/>
                    </a:ext>
                  </a:extLst>
                </a:gridCol>
                <a:gridCol w="1397000">
                  <a:extLst>
                    <a:ext uri="{9D8B030D-6E8A-4147-A177-3AD203B41FA5}">
                      <a16:colId xmlns:a16="http://schemas.microsoft.com/office/drawing/2014/main" val="1412976508"/>
                    </a:ext>
                  </a:extLst>
                </a:gridCol>
                <a:gridCol w="1397000">
                  <a:extLst>
                    <a:ext uri="{9D8B030D-6E8A-4147-A177-3AD203B41FA5}">
                      <a16:colId xmlns:a16="http://schemas.microsoft.com/office/drawing/2014/main" val="2472884808"/>
                    </a:ext>
                  </a:extLst>
                </a:gridCol>
                <a:gridCol w="5890260">
                  <a:extLst>
                    <a:ext uri="{9D8B030D-6E8A-4147-A177-3AD203B41FA5}">
                      <a16:colId xmlns:a16="http://schemas.microsoft.com/office/drawing/2014/main" val="1810442125"/>
                    </a:ext>
                  </a:extLst>
                </a:gridCol>
              </a:tblGrid>
              <a:tr h="317500">
                <a:tc>
                  <a:txBody>
                    <a:bodyPr/>
                    <a:lstStyle/>
                    <a:p>
                      <a:pPr>
                        <a:spcAft>
                          <a:spcPts val="0"/>
                        </a:spcAft>
                      </a:pPr>
                      <a:r>
                        <a:rPr lang="en-ZA" sz="1200" b="1">
                          <a:solidFill>
                            <a:schemeClr val="dk1"/>
                          </a:solidFill>
                          <a:latin typeface="Lato" panose="020F0502020204030203" pitchFamily="34" charset="0"/>
                        </a:rPr>
                        <a:t>Proposed case</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2030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2035 m L</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tc>
                  <a:txBody>
                    <a:bodyPr/>
                    <a:lstStyle/>
                    <a:p>
                      <a:pPr>
                        <a:spcAft>
                          <a:spcPts val="0"/>
                        </a:spcAft>
                      </a:pPr>
                      <a:r>
                        <a:rPr lang="en-ZA" sz="1200" b="1">
                          <a:solidFill>
                            <a:schemeClr val="dk1"/>
                          </a:solidFill>
                          <a:latin typeface="Lato" panose="020F0502020204030203" pitchFamily="34" charset="0"/>
                        </a:rPr>
                        <a:t>Key dependency</a:t>
                      </a:r>
                    </a:p>
                  </a:txBody>
                  <a:tcPr marL="38100" marR="114300" marT="50800" marB="38100">
                    <a:lnL w="12700" cmpd="sng">
                      <a:solidFill>
                        <a:schemeClr val="lt1"/>
                      </a:solidFill>
                    </a:lnL>
                    <a:lnR w="12700" cmpd="sng">
                      <a:solidFill>
                        <a:schemeClr val="lt1"/>
                      </a:solidFill>
                    </a:lnR>
                    <a:lnT w="12700" cmpd="sng">
                      <a:solidFill>
                        <a:schemeClr val="lt1"/>
                      </a:solidFill>
                    </a:lnT>
                    <a:lnB w="5080" cmpd="sng">
                      <a:solidFill>
                        <a:schemeClr val="dk1">
                          <a:tint val="35000"/>
                        </a:schemeClr>
                      </a:solidFill>
                    </a:lnB>
                    <a:noFill/>
                  </a:tcPr>
                </a:tc>
                <a:extLst>
                  <a:ext uri="{0D108BD9-81ED-4DB2-BD59-A6C34878D82A}">
                    <a16:rowId xmlns:a16="http://schemas.microsoft.com/office/drawing/2014/main" val="2149774383"/>
                  </a:ext>
                </a:extLst>
              </a:tr>
              <a:tr h="465667">
                <a:tc>
                  <a:txBody>
                    <a:bodyPr/>
                    <a:lstStyle/>
                    <a:p>
                      <a:pPr>
                        <a:spcAft>
                          <a:spcPts val="0"/>
                        </a:spcAft>
                      </a:pPr>
                      <a:r>
                        <a:rPr lang="en-ZA" sz="1200" b="1">
                          <a:solidFill>
                            <a:schemeClr val="accent1"/>
                          </a:solidFill>
                          <a:latin typeface="Lato" panose="020F0502020204030203" pitchFamily="34" charset="0"/>
                        </a:rPr>
                        <a:t>Low</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86</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20</a:t>
                      </a: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Gas switch; PPAs end; no coal-site turbines.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35000"/>
                        </a:schemeClr>
                      </a:solidFill>
                    </a:lnT>
                    <a:lnB w="5080" cmpd="sng">
                      <a:solidFill>
                        <a:schemeClr val="dk1">
                          <a:tint val="10000"/>
                        </a:schemeClr>
                      </a:solidFill>
                    </a:lnB>
                    <a:noFill/>
                  </a:tcPr>
                </a:tc>
                <a:extLst>
                  <a:ext uri="{0D108BD9-81ED-4DB2-BD59-A6C34878D82A}">
                    <a16:rowId xmlns:a16="http://schemas.microsoft.com/office/drawing/2014/main" val="2676296356"/>
                  </a:ext>
                </a:extLst>
              </a:tr>
              <a:tr h="465667">
                <a:tc>
                  <a:txBody>
                    <a:bodyPr/>
                    <a:lstStyle/>
                    <a:p>
                      <a:pPr>
                        <a:spcAft>
                          <a:spcPts val="0"/>
                        </a:spcAft>
                      </a:pPr>
                      <a:r>
                        <a:rPr lang="en-ZA" sz="1200" b="1">
                          <a:solidFill>
                            <a:schemeClr val="accent1"/>
                          </a:solidFill>
                          <a:latin typeface="Lato" panose="020F0502020204030203" pitchFamily="34" charset="0"/>
                        </a:rPr>
                        <a:t>Medium</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637</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3 GW at coal sites; gas available; diesel backup.</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3297839216"/>
                  </a:ext>
                </a:extLst>
              </a:tr>
              <a:tr h="465667">
                <a:tc>
                  <a:txBody>
                    <a:bodyPr/>
                    <a:lstStyle/>
                    <a:p>
                      <a:pPr>
                        <a:spcAft>
                          <a:spcPts val="0"/>
                        </a:spcAft>
                      </a:pPr>
                      <a:r>
                        <a:rPr lang="en-ZA" sz="1200" b="1">
                          <a:solidFill>
                            <a:schemeClr val="accent1"/>
                          </a:solidFill>
                          <a:latin typeface="Lato" panose="020F0502020204030203" pitchFamily="34" charset="0"/>
                        </a:rPr>
                        <a:t>High</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ZA" sz="1200" b="0">
                          <a:solidFill>
                            <a:schemeClr val="dk1"/>
                          </a:solidFill>
                          <a:latin typeface="Lato" panose="020F0502020204030203" pitchFamily="34" charset="0"/>
                        </a:rPr>
                        <a:t>4,224</a:t>
                      </a: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tc>
                  <a:txBody>
                    <a:bodyPr/>
                    <a:lstStyle/>
                    <a:p>
                      <a:pPr>
                        <a:spcAft>
                          <a:spcPts val="0"/>
                        </a:spcAft>
                      </a:pPr>
                      <a:r>
                        <a:rPr lang="en-GB" sz="1200" b="0">
                          <a:solidFill>
                            <a:schemeClr val="dk1"/>
                          </a:solidFill>
                          <a:latin typeface="Lato" panose="020F0502020204030203" pitchFamily="34" charset="0"/>
                        </a:rPr>
                        <a:t>6 GW at coal sites; no gas; diesel peakers.</a:t>
                      </a:r>
                      <a:endParaRPr lang="en-ZA" sz="1200" b="0">
                        <a:solidFill>
                          <a:schemeClr val="dk1"/>
                        </a:solidFill>
                        <a:latin typeface="Lato" panose="020F0502020204030203" pitchFamily="34" charset="0"/>
                      </a:endParaRPr>
                    </a:p>
                  </a:txBody>
                  <a:tcPr marL="38100" marR="114300" marT="50800" marB="38100">
                    <a:lnL w="12700" cmpd="sng">
                      <a:solidFill>
                        <a:schemeClr val="lt1"/>
                      </a:solidFill>
                    </a:lnL>
                    <a:lnR w="12700" cmpd="sng">
                      <a:solidFill>
                        <a:schemeClr val="lt1"/>
                      </a:solidFill>
                    </a:lnR>
                    <a:lnT w="5080" cmpd="sng">
                      <a:solidFill>
                        <a:schemeClr val="dk1">
                          <a:tint val="10000"/>
                        </a:schemeClr>
                      </a:solidFill>
                    </a:lnT>
                    <a:lnB w="5080" cmpd="sng">
                      <a:solidFill>
                        <a:schemeClr val="dk1">
                          <a:tint val="10000"/>
                        </a:schemeClr>
                      </a:solidFill>
                    </a:lnB>
                    <a:noFill/>
                  </a:tcPr>
                </a:tc>
                <a:extLst>
                  <a:ext uri="{0D108BD9-81ED-4DB2-BD59-A6C34878D82A}">
                    <a16:rowId xmlns:a16="http://schemas.microsoft.com/office/drawing/2014/main" val="2107878678"/>
                  </a:ext>
                </a:extLst>
              </a:tr>
            </a:tbl>
          </a:graphicData>
        </a:graphic>
      </p:graphicFrame>
      <p:sp>
        <p:nvSpPr>
          <p:cNvPr id="15" name="Case qualification">
            <a:extLst>
              <a:ext uri="{FF2B5EF4-FFF2-40B4-BE49-F238E27FC236}">
                <a16:creationId xmlns:a16="http://schemas.microsoft.com/office/drawing/2014/main" id="{BBB424CB-1400-A003-0615-24B690A56902}"/>
              </a:ext>
            </a:extLst>
          </p:cNvPr>
          <p:cNvSpPr txBox="1"/>
          <p:nvPr/>
        </p:nvSpPr>
        <p:spPr>
          <a:xfrm>
            <a:off x="495300" y="5994399"/>
            <a:ext cx="10541000" cy="152400"/>
          </a:xfrm>
          <a:prstGeom prst="rect">
            <a:avLst/>
          </a:prstGeom>
          <a:noFill/>
        </p:spPr>
        <p:txBody>
          <a:bodyPr vert="horz" lIns="0" tIns="0" rIns="0" bIns="0" rtlCol="0">
            <a:noAutofit/>
          </a:bodyPr>
          <a:lstStyle/>
          <a:p>
            <a:pPr>
              <a:spcAft>
                <a:spcPts val="200"/>
              </a:spcAft>
            </a:pPr>
            <a:r>
              <a:rPr lang="en-GB" sz="900">
                <a:solidFill>
                  <a:schemeClr val="dk1"/>
                </a:solidFill>
                <a:latin typeface="Lato" panose="020F0502020204030203" pitchFamily="34" charset="0"/>
              </a:rPr>
              <a:t>Gas supply, diesel intensity, backup use and coal-site repowering remain assumptions. No engine or approved scenario change is implied.</a:t>
            </a:r>
            <a:endParaRPr lang="en-ZA" sz="900">
              <a:solidFill>
                <a:schemeClr val="dk1"/>
              </a:solidFill>
              <a:latin typeface="Lato" panose="020F0502020204030203" pitchFamily="34" charset="0"/>
            </a:endParaRPr>
          </a:p>
        </p:txBody>
      </p:sp>
    </p:spTree>
    <p:extLst>
      <p:ext uri="{BB962C8B-B14F-4D97-AF65-F5344CB8AC3E}">
        <p14:creationId xmlns:p14="http://schemas.microsoft.com/office/powerpoint/2010/main" val="1586841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34</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Existing capacity illustrations retained. Workbook History R53/S53: Sasol all-refined-products output, June FY. Department product production stops at 2021; stocks, plant yields and restart calibration remain open.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73905202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High capacity illustration adds 400 kbpd from assumed 2033 availability.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Preserve the hypothetical case; actual funding, schedule, ramp-up and product yields need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remains in Medium/High; excluded in the Low 2036 stress case.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Availability stress only. No closure decision or date is established.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Operator all-products output: 29.1m barrels in FY2024 and 27.6m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June fiscal years; product mix differs. Gas/MRG affects liquid output; do not equate barrels with diesel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 the existing capacity illustration; workbook identifies the source gap.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Complete the Mossgas/PetroSA feedstock, funded scope, timing and yield evidence.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35</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Existing capacity-scale ratios retained, not throughput shares. Workbook provincial estimates: 2023 estimated shares; 2024 estimated shares plus unverified national sales. Client throughput and commercial access remain open.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8960023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300" b="0" u="none">
                          <a:solidFill>
                            <a:schemeClr val="dk1"/>
                          </a:solidFill>
                          <a:latin typeface="Lato" panose="020F0502020204030203" pitchFamily="34" charset="0"/>
                        </a:rPr>
                        <a:t>45.1% of two operators' published gross Durban tankage.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Incomplete, mixed-product capacity denominator. Estimate feasible product/customer flows before calculating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sales 6.81bn L; workbook estimates 6.81bn in 2023 and 6.52bn in 2024.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Provincial sales are a demand proxy. Lesedi catchment, eligible products and actual deliveries remain unverified.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Accessible market less current capture gives headroom; achievable additional capture must be tested.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shared Durban-Lesedi flows once. Compare customer volumes with working capacity, turns and 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A matched demand snapshot is available, but the domestic supply balance still needs reconciliation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36</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Workbook History Q59/Q64/R59/R64/S36:S40/R70. RAF-derived 24.42bn L is combined fuel, fiscal/accrual basis, not an adopted calendar sales total. Product output after 2021 and stocks remain missing; 2025 trade is not 2025 consumption.</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1769058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794000">
                  <a:extLst>
                    <a:ext uri="{9D8B030D-6E8A-4147-A177-3AD203B41FA5}">
                      <a16:colId xmlns:a16="http://schemas.microsoft.com/office/drawing/2014/main" val="20000"/>
                    </a:ext>
                  </a:extLst>
                </a:gridCol>
                <a:gridCol w="3929380">
                  <a:extLst>
                    <a:ext uri="{9D8B030D-6E8A-4147-A177-3AD203B41FA5}">
                      <a16:colId xmlns:a16="http://schemas.microsoft.com/office/drawing/2014/main" val="20001"/>
                    </a:ext>
                  </a:extLst>
                </a:gridCol>
                <a:gridCol w="392938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 bn litres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Petrol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Diesel</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2023 Department sales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9.04</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12.91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2024 FIASA sales, unverified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11.73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2025 SARS imports / exports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4.45 / 0.80</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12.25 / 0.75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2025 sales / product output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absent; product production series ends 2021.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absent; product production series ends 2021.</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RAF levy cross-check</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Combined levied volume 24.42bn L, year to March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Fiscal/accrual versus calendar sales. Reconcile coverage before interpreting the difference.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829265256"/>
                  </a:ext>
                </a:extLst>
              </a:tr>
              <a:tr h="664633">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consequence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Sales less net imports remains a residual.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Stocks and definitions remain unresolved.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438771679"/>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699934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six-step bridge is implemented for screening; calibration now depends on the requested inputs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37</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Screening functions tested with synthetic cases; commercial outputs remain unpopulated. Not integrated into the forecast engine or independently reviewed. Owners, request IDs and expiry triggers: workstreams/WS0_governance/workplan/sa_investment_bridge_2026_10_08.csv.</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304347957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Work package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Implemented now</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200" b="1" u="none">
                          <a:solidFill>
                            <a:schemeClr val="dk1"/>
                          </a:solidFill>
                          <a:latin typeface="Lato" panose="020F0502020204030203" pitchFamily="34" charset="0"/>
                        </a:rPr>
                        <a:t>Input needed to complete the decision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1 | Baseline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Workbook sales/trade, sector, vehicle and power history plus labelled estimates are assembled.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Agree baseline year/source; reconcile production, stocks, scopes and fiscal/calendar periods.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2 | Route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Delivered cost and bearable-charge calculation; route readiness register.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Matched quotes, service capacity and access.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3 | Vopak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Capture calculation constrained by accessible market and route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Customer allocation and unique terminal deliveries.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4 | Existing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Required-turn and operating-bottleneck calculation; gross-turn screen.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capacity, achievable turns and peak limits.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5 | Investment options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ZW" sz="1200" b="0" u="none">
                          <a:solidFill>
                            <a:schemeClr val="dk1"/>
                          </a:solidFill>
                          <a:latin typeface="Lato" panose="020F0502020204030203" pitchFamily="34" charset="0"/>
                        </a:rPr>
                        <a:t>Pre-tax break-even volume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Commercial inputs and full incremental cash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071703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6 | Nine worlds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Nine-cell output register and demand/supply balance calculation.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29 proposed levers and fleet cases inform review. Agree annual paths before rerunning routes, capture and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2747984756"/>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987861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Demand, supply and corridor access translate into captured throughput and required tank turns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38</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Lever IDs are mapped in the appendix. All nine market worlds use explicit routing, capture and operational assumptions. Tank occupancy, turnover and throughput utilisation are separate measures. Competitiveness varies by destination; neither alternative gateway is yet established as competitive into Gauteng.</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201911153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2023 petrol/diesel sales total 21.94bn L; sector activity and fleet evidence explain different fuel exposures.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4159950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illustration gives extra tanks only R8m more NPV than improvement alone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ONLY. Combined package = R100m access/dispatch improvement + R500m for a further 40,000 gross m³ beyond the reported 140,000 m³. Alternatives are authored packages, not engineered designs. Full incremental pre-tax cash flows in delivered CSV; 100% site basis. NPV uses 10% and 20 operating years; commercial and delivery risks uncalibrated.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548034764"/>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demand / low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Capital and throughput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Incremental value versus existing</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Existing</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R0m capex
1.890bn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R+0.0m
Unserved 0.923bn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access / dispatch</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capex
2.268bn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R+27.0m
Unserved 0.545bn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Improve + add tanks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R600m capex
2.813bn L/year served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NPV R+35.1m
Unserved 0.000bn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Decision threshold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Improvement beats existing above 2.211bn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Tanks beat improvement above 2.806bn L/year; assumed capture 2.813bn.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37290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Vopak reports anchor capacity and the revenue model; they do not disclose Lesedi project economics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40</a:t>
            </a:r>
            <a:endParaRPr sz="1100"/>
          </a:p>
        </p:txBody>
      </p:sp>
      <p:sp>
        <p:nvSpPr>
          <p:cNvPr id="8" name="Unified source footer"/>
          <p:cNvSpPr txBox="1"/>
          <p:nvPr/>
        </p:nvSpPr>
        <p:spPr>
          <a:xfrm>
            <a:off x="457200" y="6172200"/>
            <a:ext cx="10652760" cy="241300"/>
          </a:xfrm>
          <a:prstGeom prst="rect">
            <a:avLst/>
          </a:prstGeom>
          <a:noFill/>
        </p:spPr>
        <p:txBody>
          <a:bodyPr wrap="square" lIns="0" tIns="0" rIns="0" bIns="0">
            <a:noAutofit/>
          </a:bodyPr>
          <a:lstStyle/>
          <a:p>
            <a:pPr>
              <a:lnSpc>
                <a:spcPts val="900"/>
              </a:lnSpc>
              <a:spcBef>
                <a:spcPts val="0"/>
              </a:spcBef>
              <a:spcAft>
                <a:spcPts val="0"/>
              </a:spcAft>
              <a:defRPr sz="750" b="0">
                <a:solidFill>
                  <a:srgbClr val="000000"/>
                </a:solidFill>
                <a:latin typeface="Lato"/>
              </a:defRPr>
            </a:pPr>
            <a:r>
              <a:rPr lang="en-GB" sz="650"/>
              <a:t>Vopak Annual Report 2025 pp36/39, 63, 213 and 324; FY2025 Analyst Presentation p24; official terminal directory checked 8 Oct 2026. All other business units includes multiple countries; do not allocate its profit to South Africa. URLs, downloaded originals and hashes retained.</a:t>
            </a:r>
            <a:endParaRPr sz="650"/>
          </a:p>
        </p:txBody>
      </p:sp>
      <p:graphicFrame>
        <p:nvGraphicFramePr>
          <p:cNvPr id="47" name="Table 46"/>
          <p:cNvGraphicFramePr>
            <a:graphicFrameLocks noGrp="1"/>
          </p:cNvGraphicFramePr>
          <p:nvPr>
            <p:extLst>
              <p:ext uri="{D42A27DB-BD31-4B8C-83A1-F6EECF244321}">
                <p14:modId xmlns:p14="http://schemas.microsoft.com/office/powerpoint/2010/main" val="197259712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Evidence class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the sources establish</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How it is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Assets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a:solidFill>
                            <a:srgbClr val="000000"/>
                          </a:solidFill>
                          <a:latin typeface="Lato"/>
                        </a:defRPr>
                      </a:pPr>
                      <a:r>
                        <a:rPr lang="en-GB" sz="1200" b="0" u="none">
                          <a:solidFill>
                            <a:schemeClr val="dk1"/>
                          </a:solidFill>
                          <a:latin typeface="Lato" panose="020F0502020204030203" pitchFamily="34" charset="0"/>
                        </a:rPr>
                        <a:t>Lesedi: 140,000 m³; Durban: 360,246 m³. Vopak share: 70% at each site.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Full physical capacity for operations. The commissioned 40,000 m3 Lesedi expansion is included in 140,000 m3.</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 services: EUR1,058.8m of EUR1,298.9m consolidated revenue in 2025.</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81.5% is storage revenue. Rental may include minimum throughput; extra turns are not automatically extra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INFERRED | Group ratio</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EUR93.9 revenue / gross m³/year: proportional revenue divided by year-end proportional capacity.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Mixed-portfolio scale indicator only. Not a Lesedi tariff, margin or estimate of site revenue.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REPORTED | Benchmarks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15.6% group operating cash return; 5–7x capex/EBITDA for gas/industrial and 4–8x for transition infrastructure.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Context, not South Africa fuel-project hurdle rates. Authored 10% discount rate is separate.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5371648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a:solidFill>
                  <a:schemeClr val="dk1"/>
                </a:solidFill>
                <a:latin typeface="Lato"/>
              </a:rPr>
              <a:t>The investment result rests on explicit assumptions that must be replaced or agreed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41</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Every illustrative value is registered in assumptions/2026/vopak_investment_illustration.yaml. Not a forecast, commercial offer or approval. Proposed validation: Nigel coordinates Vopak commercial/operations; Manish reconciles; independent review outstanding.</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61949549"/>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222500">
                  <a:extLst>
                    <a:ext uri="{9D8B030D-6E8A-4147-A177-3AD203B41FA5}">
                      <a16:colId xmlns:a16="http://schemas.microsoft.com/office/drawing/2014/main" val="20000"/>
                    </a:ext>
                  </a:extLst>
                </a:gridCol>
                <a:gridCol w="4127500">
                  <a:extLst>
                    <a:ext uri="{9D8B030D-6E8A-4147-A177-3AD203B41FA5}">
                      <a16:colId xmlns:a16="http://schemas.microsoft.com/office/drawing/2014/main" val="20001"/>
                    </a:ext>
                  </a:extLst>
                </a:gridCol>
                <a:gridCol w="4302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ILLUSTRATIVE input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Value used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What must be validated</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Catchment balance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Demand 6.0 / 6.8 / 7.6bn L; domestic deliveries 2.4 / 3.6 / 4.8bn L.</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Steady-state stress points; M rounds 2022 Gauteng sales for scale. No national production forecast implied.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70% of imports via Durban; Vopak captures 80%; 90% goes to Lesedi; 8% domestic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No observed shares. Capture is unique Lesedi flow; Durban transfers are not added to market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90% working fraction; turns 1.25 existing / 1.50 improved; +40,000 gross m³ tanks.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126,000 working m³ initially; 162,000 with tanks. Assumed receipt/dispatch ceiling 3.5bn L/year.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Revenue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R1,500 / gross m³/year rent on added contracted tanks; R60 / extra m³ contribution.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Chargeable excess services only, excluding rent/minimum-throughput inclusions. Added rent follows incremental storage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Capital and costs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R100m improvement + R500m tanks; fixed opex R5m + R12m/year; maintenance 1% capex/year.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Author-selected cost sensitivities; no Vopak quotation or engineering estimate.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93350"/>
                  </a:ext>
                </a:extLst>
              </a:tr>
              <a:tr h="681567">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Cash flow</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20 years at 10%; 50% / 75% / 100% operating ramp; capex upfront.</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Pre-tax unlevered constant ZAR. Tax, working capital, construction timing and residual value excluded.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206911400"/>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0661056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Small changes in capture or economics overturn the illustrated tank-expansion choice</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42</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high-demand/low-domestic-delivery case. NPVs are incremental versus existing assets at 10%, pre-tax. Each shock applied separately: capex +25%; no chargeable excess services; Vopak gateway capture 80%→60%; captured Lesedi flow −10%. No probabilities. Full numeric outputs and cash flows retained.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illustration supports validating contracts and a low-capex improvement first. Extra tanks have only a narrow advantage and fail the tested downside cases.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DC12D282-6F4E-3E1C-36CA-D5ECFAD38A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Tree>
    <p:extLst>
      <p:ext uri="{BB962C8B-B14F-4D97-AF65-F5344CB8AC3E}">
        <p14:creationId xmlns:p14="http://schemas.microsoft.com/office/powerpoint/2010/main" val="27841100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Illustrative tank turns test handling potential; actual operating limits still need validation</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 Separate p4/p5 illustration assumes 90% working capacity and 1.25/1.50 turns; neither is inferred from group occupancy.</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46006"/>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11766</Words>
  <Application>Microsoft Office PowerPoint</Application>
  <PresentationFormat>Custom</PresentationFormat>
  <Paragraphs>1059</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Calibri</vt:lpstr>
      <vt:lpstr>Lato</vt:lpstr>
      <vt:lpstr>Arial</vt:lpstr>
      <vt:lpstr>Vopak Theme</vt:lpstr>
      <vt:lpstr>PowerPoint Presentation</vt:lpstr>
      <vt:lpstr>Slow demand growth and greater import reliance set the baseline; road-to-rail shifts, EV adoption, power recovery and refinery changes could reshape the outlook</vt:lpstr>
      <vt:lpstr>Prioritise capture and turnover through existing assets; expand where profitable demand exceeds achievable capacity</vt:lpstr>
      <vt:lpstr>The illustrated expansion case passes narrowly—and depends on capture, revenue and capex</vt:lpstr>
      <vt:lpstr>Only one illustrative world favours tanks; six favour existing assets and two favour improvement</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Mining, manufacturing and agriculture link diesel demand to sector activity</vt:lpstr>
      <vt:lpstr>The shut down of domestic refining capacity has lowered domestic production and has increased imports shifting how inland demand is supplied</vt:lpstr>
      <vt:lpstr>Emerging Maputo and Walvis Bay routes must be tested alongside Durban and domestic supply</vt:lpstr>
      <vt:lpstr>Durban and Lesedi connect coastal supply to Gauteng; operating data must establish room for growth</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Emerging gateways could redirect inland growth; delivered cost and reliable access determine capture</vt:lpstr>
      <vt:lpstr>Durban and Lesedi market sizing and investment issue tree</vt:lpstr>
      <vt:lpstr>Choose the investment that removes the proven constraint—and earns a return</vt:lpstr>
      <vt:lpstr>Resolve customer volume, working capacity and project economics first to determine the investment</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Vehicle stock and sales expose fuel-demand calibration gaps</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The diesel fleet and replacement timing define the power-demand cases</vt:lpstr>
      <vt:lpstr>SAPREF and Natref define capacity sensitivities; plant output must complete the supply paths</vt:lpstr>
      <vt:lpstr>Public capacity ratios establish scale but cannot substitute for realised terminal throughput</vt:lpstr>
      <vt:lpstr>A matched demand snapshot is available, but the domestic supply balance still needs reconciliation</vt:lpstr>
      <vt:lpstr>The six-step bridge is implemented for screening; calibration now depends on the requested inputs</vt:lpstr>
      <vt:lpstr>Demand, supply and corridor access translate into captured throughput and required tank turns</vt:lpstr>
      <vt:lpstr>The illustration gives extra tanks only R8m more NPV than improvement alone</vt:lpstr>
      <vt:lpstr>Vopak reports anchor capacity and the revenue model; they do not disclose Lesedi project economics</vt:lpstr>
      <vt:lpstr>The investment result rests on explicit assumptions that must be replaced or agreed</vt:lpstr>
      <vt:lpstr>Small changes in capture or economics overturn the illustrated tank-expansion choice</vt:lpstr>
      <vt:lpstr>Illustrative tank turns test handling potential; actual operating limits still need validation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30</cp:revision>
  <dcterms:created xsi:type="dcterms:W3CDTF">2017-11-16T09:19:07Z</dcterms:created>
  <dcterms:modified xsi:type="dcterms:W3CDTF">2026-10-08T14:20:25Z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