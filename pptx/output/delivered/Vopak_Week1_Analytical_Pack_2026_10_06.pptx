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4" r:id="rId4"/>
  </p:sldMasterIdLst>
  <p:notesMasterIdLst>
    <p:notesMasterId r:id="rId8"/>
  </p:notesMasterIdLst>
  <p:sldIdLst>
    <p:sldId id="256" r:id="rId7"/>
    <p:sldId id="267" r:id="rId22"/>
    <p:sldId id="262" r:id="rId17"/>
    <p:sldId id="263" r:id="rId6"/>
    <p:sldId id="268" r:id="rId23"/>
    <p:sldId id="264" r:id="rId19"/>
    <p:sldId id="269" r:id="rId24"/>
    <p:sldId id="270" r:id="rId25"/>
    <p:sldId id="258" r:id="rId5"/>
    <p:sldId id="271" r:id="rId26"/>
    <p:sldId id="259" r:id="rId16"/>
    <p:sldId id="265" r:id="rId20"/>
    <p:sldId id="272" r:id="rId27"/>
    <p:sldId id="266" r:id="rId21"/>
    <p:sldId id="273" r:id="rId28"/>
    <p:sldId id="261" r:id="rId18"/>
  </p:sldIdLst>
  <p:sldSz cx="1158875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460B812-FB11-E744-2EAF-0F2DA0ECD4BF}" name="Henry Gilfillan" initials="HG" userId="S::Henry.G@africaia.com::20d8d1d5-b81d-4db2-8d49-9db47f87700a" providerId="AD"/>
  <p188:author id="{80F3E917-8A40-6377-B501-C0BF4583C07C}" name="Maria-Salome Milanzi" initials="MM" userId="S::Maria-Salome.M@africaia.com::27b80f15-cda9-458b-a241-0020d0d18b2b" providerId="AD"/>
  <p188:author id="{8653DC3D-E5A6-54BA-B06A-0D6999879F26}" name="Joseph Kihara" initials="JK" userId="S::joseph.k@africaia.com::89b38e7e-ff17-4223-9856-6d82edda0c7c" providerId="AD"/>
  <p188:author id="{79DE144E-B764-F176-BA11-B9193ABDC8E5}" name="Davies Tsikayi" initials="DT" userId="S::Davies.T@africaia.com::87c07fce-c37d-4ded-b6b5-65d5c8b951c1" providerId="AD"/>
  <p188:author id="{31278C59-D498-87BD-2E87-AF9308A52A9D}" name="Shannon Kurz" initials="SK" userId="Shannon Kurz" providerId="None"/>
  <p188:author id="{68AE2466-B378-7AA2-581F-E86841585307}" name="Paayal Kanjee Govind" initials="PK" userId="S::Paayal.KG@africaia.com::50637073-a9d2-4dfa-96c0-927604d7cc3c" providerId="AD"/>
  <p188:author id="{C5B1668E-F34A-2E98-0466-BAF8D463548D}" name="Manish Ramjeawon" initials="MR" userId="S::manish.r@africaia.com::530ca382-ae44-4c47-aaca-bb6bff7153ab" providerId="AD"/>
  <p188:author id="{F720B396-19C0-DB41-D221-DFCF831531AE}" name="Henry Gilfillan" initials="HG" userId="Henry Gilfillan" providerId="None"/>
  <p188:author id="{9FBE07B6-A3E1-BFC7-95A7-1EBCABB54112}" name="Karabo Mashabane" initials="KM" userId="S::Karabo.M@africaia.com::def9b110-1e86-4623-94be-634dc77ab82b" providerId="AD"/>
  <p188:author id="{53709FFD-5FBE-8519-0B68-00C91B158654}" name="James Brown" initials="JB" userId="James Brown"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7" name="Henry Gilfillan" initials="HG [2]" lastIdx="8" clrIdx="6">
    <p:extLst>
      <p:ext uri="{19B8F6BF-5375-455C-9EA6-DF929625EA0E}">
        <p15:presenceInfo xmlns:p15="http://schemas.microsoft.com/office/powerpoint/2012/main" userId="S::henry.g@africaia.com::20d8d1d5-b81d-4db2-8d49-9db47f87700a" providerId="AD"/>
      </p:ext>
    </p:extLst>
  </p:cmAuthor>
  <p:cmAuthor id="1" name="Abbas Bilgrami" initials="AB [2]" lastIdx="8" clrIdx="0">
    <p:extLst>
      <p:ext uri="{19B8F6BF-5375-455C-9EA6-DF929625EA0E}">
        <p15:presenceInfo xmlns:p15="http://schemas.microsoft.com/office/powerpoint/2012/main" userId="da833efe2a07dd73" providerId="Windows Live"/>
      </p:ext>
    </p:extLst>
  </p:cmAuthor>
  <p:cmAuthor id="8" name="Abbas Bilgrami" initials="AB" lastIdx="34" clrIdx="7">
    <p:extLst>
      <p:ext uri="{19B8F6BF-5375-455C-9EA6-DF929625EA0E}">
        <p15:presenceInfo xmlns:p15="http://schemas.microsoft.com/office/powerpoint/2012/main" userId="S::abbas.b@africaia.com::09d4207e-ca10-48c5-9e33-f8dec02b9ddc" providerId="AD"/>
      </p:ext>
    </p:extLst>
  </p:cmAuthor>
  <p:cmAuthor id="2" name="Henry Gilfillan" initials="HG" lastIdx="82" clrIdx="1">
    <p:extLst>
      <p:ext uri="{19B8F6BF-5375-455C-9EA6-DF929625EA0E}">
        <p15:presenceInfo xmlns:p15="http://schemas.microsoft.com/office/powerpoint/2012/main" userId="Henry Gilfillan" providerId="None"/>
      </p:ext>
    </p:extLst>
  </p:cmAuthor>
  <p:cmAuthor id="9" name="Paayal Kanjee Govind" initials="PKG" lastIdx="4" clrIdx="8">
    <p:extLst>
      <p:ext uri="{19B8F6BF-5375-455C-9EA6-DF929625EA0E}">
        <p15:presenceInfo xmlns:p15="http://schemas.microsoft.com/office/powerpoint/2012/main" userId="Paayal Kanjee Govind" providerId="None"/>
      </p:ext>
    </p:extLst>
  </p:cmAuthor>
  <p:cmAuthor id="3" name="Ismaeel" initials="I" lastIdx="104" clrIdx="2">
    <p:extLst>
      <p:ext uri="{19B8F6BF-5375-455C-9EA6-DF929625EA0E}">
        <p15:presenceInfo xmlns:p15="http://schemas.microsoft.com/office/powerpoint/2012/main" userId="Ismaeel" providerId="None"/>
      </p:ext>
    </p:extLst>
  </p:cmAuthor>
  <p:cmAuthor id="4" name="Jennifer Zeiss" initials="JZ" lastIdx="19" clrIdx="3">
    <p:extLst>
      <p:ext uri="{19B8F6BF-5375-455C-9EA6-DF929625EA0E}">
        <p15:presenceInfo xmlns:p15="http://schemas.microsoft.com/office/powerpoint/2012/main" userId="Jennifer Zeiss" providerId="None"/>
      </p:ext>
    </p:extLst>
  </p:cmAuthor>
  <p:cmAuthor id="5" name="Gabrielle Knott" initials="GK" lastIdx="2" clrIdx="4">
    <p:extLst>
      <p:ext uri="{19B8F6BF-5375-455C-9EA6-DF929625EA0E}">
        <p15:presenceInfo xmlns:p15="http://schemas.microsoft.com/office/powerpoint/2012/main" userId="Gabrielle Knott" providerId="None"/>
      </p:ext>
    </p:extLst>
  </p:cmAuthor>
  <p:cmAuthor id="6" name="James Brown" initials="JB" lastIdx="2" clrIdx="5">
    <p:extLst>
      <p:ext uri="{19B8F6BF-5375-455C-9EA6-DF929625EA0E}">
        <p15:presenceInfo xmlns:p15="http://schemas.microsoft.com/office/powerpoint/2012/main" userId="S::james@africaia.com::5c3cb27f-96be-4c72-848f-aa01b93992f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3552"/>
    <a:srgbClr val="EBF9FE"/>
    <a:srgbClr val="FDD9A4"/>
    <a:srgbClr val="2D6196"/>
    <a:srgbClr val="326757"/>
    <a:srgbClr val="728A94"/>
    <a:srgbClr val="F01C24"/>
    <a:srgbClr val="56787A"/>
    <a:srgbClr val="CFDFF0"/>
    <a:srgbClr val="008E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C87D74-0723-4269-ADB4-1C2880134AC4}" v="1" dt="2026-10-01T12:10:22.3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77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xml"/><Relationship Id="rId6" Type="http://schemas.openxmlformats.org/officeDocument/2006/relationships/slide" Target="slides/slide6.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commentAuthors" Target="commentAuthors.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5/10/relationships/revisionInfo" Target="revisionInfo.xml"/><Relationship Id="rId15" Type="http://schemas.microsoft.com/office/2018/10/relationships/authors" Target="authors.xml"/><Relationship Id="rId16" Type="http://schemas.openxmlformats.org/officeDocument/2006/relationships/slide" Target="slides/slide3.xml"/><Relationship Id="rId17" Type="http://schemas.openxmlformats.org/officeDocument/2006/relationships/slide" Target="slides/slide5.xml"/><Relationship Id="rId18" Type="http://schemas.openxmlformats.org/officeDocument/2006/relationships/slide" Target="slides/slide4.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Gauteng</c:v>
                </c:pt>
              </c:strCache>
            </c:strRef>
          </c:tx>
          <c:spPr>
            <a:solidFill>
              <a:srgbClr val="0A2373"/>
            </a:solidFill>
            <a:ln w="25400">
              <a:solidFill>
                <a:srgbClr val="0A2373"/>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Sheet1!$B$2:$B$11</c:f>
              <c:numCache>
                <c:formatCode>General</c:formatCode>
                <c:ptCount val="10"/>
                <c:pt idx="0">
                  <c:v>6.957413325999999</c:v>
                </c:pt>
                <c:pt idx="1">
                  <c:v>7.098075129</c:v>
                </c:pt>
                <c:pt idx="2">
                  <c:v>7.27979359</c:v>
                </c:pt>
                <c:pt idx="3">
                  <c:v>7.130303529232998</c:v>
                </c:pt>
                <c:pt idx="4">
                  <c:v>7.213928482944991</c:v>
                </c:pt>
                <c:pt idx="5">
                  <c:v>7.317085261789984</c:v>
                </c:pt>
                <c:pt idx="6">
                  <c:v>7.641453661767985</c:v>
                </c:pt>
                <c:pt idx="7">
                  <c:v>6.085737662723995</c:v>
                </c:pt>
                <c:pt idx="8">
                  <c:v>6.646008731794994</c:v>
                </c:pt>
                <c:pt idx="9">
                  <c:v>6.809430758895994</c:v>
                </c:pt>
              </c:numCache>
            </c:numRef>
          </c:val>
          <c:smooth val="0"/>
        </c:ser>
        <c:ser>
          <c:idx val="1"/>
          <c:order val="1"/>
          <c:tx>
            <c:strRef>
              <c:f>Sheet1!$C$1</c:f>
              <c:strCache>
                <c:ptCount val="1"/>
                <c:pt idx="0">
                  <c:v>KwaZulu-Natal</c:v>
                </c:pt>
              </c:strCache>
            </c:strRef>
          </c:tx>
          <c:spPr>
            <a:solidFill>
              <a:srgbClr val="546CA2"/>
            </a:solidFill>
            <a:ln w="25400">
              <a:solidFill>
                <a:srgbClr val="546CA2"/>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Sheet1!$C$2:$C$11</c:f>
              <c:numCache>
                <c:formatCode>General</c:formatCode>
                <c:ptCount val="10"/>
                <c:pt idx="0">
                  <c:v>4.0649684520000005</c:v>
                </c:pt>
                <c:pt idx="1">
                  <c:v>3.852058702</c:v>
                </c:pt>
                <c:pt idx="2">
                  <c:v>3.912559734</c:v>
                </c:pt>
                <c:pt idx="3">
                  <c:v>3.942573461657999</c:v>
                </c:pt>
                <c:pt idx="4">
                  <c:v>4.185357397407999</c:v>
                </c:pt>
                <c:pt idx="5">
                  <c:v>4.006674294566998</c:v>
                </c:pt>
                <c:pt idx="6">
                  <c:v>4.254528753769998</c:v>
                </c:pt>
                <c:pt idx="7">
                  <c:v>4.058690247691</c:v>
                </c:pt>
                <c:pt idx="8">
                  <c:v>4.274344607906</c:v>
                </c:pt>
                <c:pt idx="9">
                  <c:v>4.284492695897999</c:v>
                </c:pt>
              </c:numCache>
            </c:numRef>
          </c:val>
          <c:smooth val="0"/>
        </c:ser>
        <c:ser>
          <c:idx val="2"/>
          <c:order val="2"/>
          <c:tx>
            <c:strRef>
              <c:f>Sheet1!$D$1</c:f>
              <c:strCache>
                <c:ptCount val="1"/>
                <c:pt idx="0">
                  <c:v>Western Cape</c:v>
                </c:pt>
              </c:strCache>
            </c:strRef>
          </c:tx>
          <c:spPr>
            <a:solidFill>
              <a:srgbClr val="404040"/>
            </a:solidFill>
            <a:ln w="25400">
              <a:solidFill>
                <a:srgbClr val="404040"/>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Sheet1!$D$2:$D$11</c:f>
              <c:numCache>
                <c:formatCode>General</c:formatCode>
                <c:ptCount val="10"/>
                <c:pt idx="0">
                  <c:v>3.711414673</c:v>
                </c:pt>
                <c:pt idx="1">
                  <c:v>4.092754441</c:v>
                </c:pt>
                <c:pt idx="2">
                  <c:v>4.69646532</c:v>
                </c:pt>
                <c:pt idx="3">
                  <c:v>3.721210313077999</c:v>
                </c:pt>
                <c:pt idx="4">
                  <c:v>3.627265157763995</c:v>
                </c:pt>
                <c:pt idx="5">
                  <c:v>3.5433597330979962</c:v>
                </c:pt>
                <c:pt idx="6">
                  <c:v>3.7198348359559983</c:v>
                </c:pt>
                <c:pt idx="7">
                  <c:v>3.156886221083998</c:v>
                </c:pt>
                <c:pt idx="8">
                  <c:v>4.010114112846999</c:v>
                </c:pt>
                <c:pt idx="9">
                  <c:v>3.9307750071499967</c:v>
                </c:pt>
              </c:numCache>
            </c:numRef>
          </c:val>
          <c:smooth val="0"/>
        </c:ser>
        <c:ser>
          <c:idx val="3"/>
          <c:order val="3"/>
          <c:tx>
            <c:strRef>
              <c:f>Sheet1!$E$1</c:f>
              <c:strCache>
                <c:ptCount val="1"/>
                <c:pt idx="0">
                  <c:v>Mpumalanga</c:v>
                </c:pt>
              </c:strCache>
            </c:strRef>
          </c:tx>
          <c:spPr>
            <a:solidFill>
              <a:srgbClr val="767676"/>
            </a:solidFill>
            <a:ln w="17780">
              <a:solidFill>
                <a:srgbClr val="546CA2"/>
              </a:solidFill>
              <a:prstDash val="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Sheet1!$E$2:$E$11</c:f>
              <c:numCache>
                <c:formatCode>General</c:formatCode>
                <c:ptCount val="10"/>
                <c:pt idx="0">
                  <c:v>2.320531335</c:v>
                </c:pt>
                <c:pt idx="1">
                  <c:v>2.341183354</c:v>
                </c:pt>
                <c:pt idx="2">
                  <c:v>2.454368402</c:v>
                </c:pt>
                <c:pt idx="3">
                  <c:v>2.6606009079020003</c:v>
                </c:pt>
                <c:pt idx="4">
                  <c:v>2.508828751910999</c:v>
                </c:pt>
                <c:pt idx="5">
                  <c:v>2.456646527283</c:v>
                </c:pt>
                <c:pt idx="6">
                  <c:v>2.236702405418999</c:v>
                </c:pt>
                <c:pt idx="7">
                  <c:v>1.9979355724919998</c:v>
                </c:pt>
                <c:pt idx="8">
                  <c:v>1.937230567748997</c:v>
                </c:pt>
                <c:pt idx="9">
                  <c:v>1.757189721943996</c:v>
                </c:pt>
              </c:numCache>
            </c:numRef>
          </c:val>
          <c:smooth val="0"/>
        </c:ser>
        <c:ser>
          <c:idx val="4"/>
          <c:order val="4"/>
          <c:tx>
            <c:strRef>
              <c:f>Sheet1!$F$1</c:f>
              <c:strCache>
                <c:ptCount val="1"/>
                <c:pt idx="0">
                  <c:v>Eastern Cape</c:v>
                </c:pt>
              </c:strCache>
            </c:strRef>
          </c:tx>
          <c:spPr>
            <a:solidFill>
              <a:srgbClr val="D9D9D9"/>
            </a:solidFill>
            <a:ln w="17780">
              <a:solidFill>
                <a:srgbClr val="767676"/>
              </a:solidFill>
              <a:prstDash val="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Sheet1!$F$2:$F$11</c:f>
              <c:numCache>
                <c:formatCode>General</c:formatCode>
                <c:ptCount val="10"/>
                <c:pt idx="0">
                  <c:v>1.585923527</c:v>
                </c:pt>
                <c:pt idx="1">
                  <c:v>1.626715828</c:v>
                </c:pt>
                <c:pt idx="2">
                  <c:v>1.7991415320000002</c:v>
                </c:pt>
                <c:pt idx="3">
                  <c:v>1.785883066283</c:v>
                </c:pt>
                <c:pt idx="4">
                  <c:v>1.7690115308639982</c:v>
                </c:pt>
                <c:pt idx="5">
                  <c:v>1.7703191081490002</c:v>
                </c:pt>
                <c:pt idx="6">
                  <c:v>1.7921445762510002</c:v>
                </c:pt>
                <c:pt idx="7">
                  <c:v>1.6156188919190002</c:v>
                </c:pt>
                <c:pt idx="8">
                  <c:v>1.7712447284709991</c:v>
                </c:pt>
                <c:pt idx="9">
                  <c:v>1.7354846274369988</c:v>
                </c:pt>
              </c:numCache>
            </c:numRef>
          </c:val>
          <c:smooth val="0"/>
        </c:ser>
        <c:ser>
          <c:idx val="5"/>
          <c:order val="5"/>
          <c:tx>
            <c:strRef>
              <c:f>Sheet1!$G$1</c:f>
              <c:strCache>
                <c:ptCount val="1"/>
                <c:pt idx="0">
                  <c:v>Free State</c:v>
                </c:pt>
              </c:strCache>
            </c:strRef>
          </c:tx>
          <c:spPr>
            <a:solidFill>
              <a:srgbClr val="0A2373"/>
            </a:solidFill>
            <a:ln w="17780">
              <a:solidFill>
                <a:srgbClr val="0A2373"/>
              </a:solidFill>
              <a:prstDash val="sys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Sheet1!$G$2:$G$11</c:f>
              <c:numCache>
                <c:formatCode>General</c:formatCode>
                <c:ptCount val="10"/>
                <c:pt idx="0">
                  <c:v>2.259494545</c:v>
                </c:pt>
                <c:pt idx="1">
                  <c:v>2.185901058</c:v>
                </c:pt>
                <c:pt idx="2">
                  <c:v>2.180302781</c:v>
                </c:pt>
                <c:pt idx="3">
                  <c:v>1.939700986869</c:v>
                </c:pt>
                <c:pt idx="4">
                  <c:v>1.744134882427</c:v>
                </c:pt>
                <c:pt idx="5">
                  <c:v>1.977904061572</c:v>
                </c:pt>
                <c:pt idx="6">
                  <c:v>1.8837452938370003</c:v>
                </c:pt>
                <c:pt idx="7">
                  <c:v>1.7546840298869997</c:v>
                </c:pt>
                <c:pt idx="8">
                  <c:v>1.720347936116999</c:v>
                </c:pt>
                <c:pt idx="9">
                  <c:v>1.3693191680130001</c:v>
                </c:pt>
              </c:numCache>
            </c:numRef>
          </c:val>
          <c:smooth val="0"/>
        </c:ser>
        <c:ser>
          <c:idx val="6"/>
          <c:order val="6"/>
          <c:tx>
            <c:strRef>
              <c:f>Sheet1!$H$1</c:f>
              <c:strCache>
                <c:ptCount val="1"/>
                <c:pt idx="0">
                  <c:v>North West</c:v>
                </c:pt>
              </c:strCache>
            </c:strRef>
          </c:tx>
          <c:spPr>
            <a:solidFill>
              <a:srgbClr val="546CA2"/>
            </a:solidFill>
            <a:ln w="17780">
              <a:solidFill>
                <a:srgbClr val="404040"/>
              </a:solidFill>
              <a:prstDash val="dash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Sheet1!$H$2:$H$11</c:f>
              <c:numCache>
                <c:formatCode>General</c:formatCode>
                <c:ptCount val="10"/>
                <c:pt idx="0">
                  <c:v>1.266432554</c:v>
                </c:pt>
                <c:pt idx="1">
                  <c:v>1.158286361</c:v>
                </c:pt>
                <c:pt idx="2">
                  <c:v>1.1888144409999999</c:v>
                </c:pt>
                <c:pt idx="3">
                  <c:v>1.1648558408760001</c:v>
                </c:pt>
                <c:pt idx="4">
                  <c:v>1.1013055398449991</c:v>
                </c:pt>
                <c:pt idx="5">
                  <c:v>0.991726319483997</c:v>
                </c:pt>
                <c:pt idx="6">
                  <c:v>1.007267117963999</c:v>
                </c:pt>
                <c:pt idx="7">
                  <c:v>0.847947157980999</c:v>
                </c:pt>
                <c:pt idx="8">
                  <c:v>0.9456235060149989</c:v>
                </c:pt>
                <c:pt idx="9">
                  <c:v>1.068062721037</c:v>
                </c:pt>
              </c:numCache>
            </c:numRef>
          </c:val>
          <c:smooth val="0"/>
        </c:ser>
        <c:ser>
          <c:idx val="7"/>
          <c:order val="7"/>
          <c:tx>
            <c:strRef>
              <c:f>Sheet1!$I$1</c:f>
              <c:strCache>
                <c:ptCount val="1"/>
                <c:pt idx="0">
                  <c:v>Limpopo</c:v>
                </c:pt>
              </c:strCache>
            </c:strRef>
          </c:tx>
          <c:spPr>
            <a:solidFill>
              <a:srgbClr val="404040"/>
            </a:solidFill>
            <a:ln w="17780">
              <a:solidFill>
                <a:srgbClr val="767676"/>
              </a:solidFill>
              <a:prstDash val="sys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Sheet1!$I$2:$I$11</c:f>
              <c:numCache>
                <c:formatCode>General</c:formatCode>
                <c:ptCount val="10"/>
                <c:pt idx="0">
                  <c:v>0.827670855</c:v>
                </c:pt>
                <c:pt idx="1">
                  <c:v>0.790816682</c:v>
                </c:pt>
                <c:pt idx="2">
                  <c:v>0.7817361970000001</c:v>
                </c:pt>
                <c:pt idx="3">
                  <c:v>0.666418652288</c:v>
                </c:pt>
                <c:pt idx="4">
                  <c:v>0.6305076475039999</c:v>
                </c:pt>
                <c:pt idx="5">
                  <c:v>0.662172038670999</c:v>
                </c:pt>
                <c:pt idx="6">
                  <c:v>0.6197556413229999</c:v>
                </c:pt>
                <c:pt idx="7">
                  <c:v>0.492636084695</c:v>
                </c:pt>
                <c:pt idx="8">
                  <c:v>0.48667479724299906</c:v>
                </c:pt>
                <c:pt idx="9">
                  <c:v>0.49563148529399903</c:v>
                </c:pt>
              </c:numCache>
            </c:numRef>
          </c:val>
          <c:smooth val="0"/>
        </c:ser>
        <c:ser>
          <c:idx val="8"/>
          <c:order val="8"/>
          <c:tx>
            <c:strRef>
              <c:f>Sheet1!$J$1</c:f>
              <c:strCache>
                <c:ptCount val="1"/>
                <c:pt idx="0">
                  <c:v>Northern Cape</c:v>
                </c:pt>
              </c:strCache>
            </c:strRef>
          </c:tx>
          <c:spPr>
            <a:solidFill>
              <a:srgbClr val="767676"/>
            </a:solidFill>
            <a:ln w="17780">
              <a:solidFill>
                <a:srgbClr val="BDBEC1"/>
              </a:solidFill>
              <a:prstDash val="lg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Sheet1!$J$2:$J$11</c:f>
              <c:numCache>
                <c:formatCode>General</c:formatCode>
                <c:ptCount val="10"/>
                <c:pt idx="0">
                  <c:v>0.587311879</c:v>
                </c:pt>
                <c:pt idx="1">
                  <c:v>0.628263196</c:v>
                </c:pt>
                <c:pt idx="2">
                  <c:v>0.6686238340000001</c:v>
                </c:pt>
                <c:pt idx="3">
                  <c:v>0.533079746921</c:v>
                </c:pt>
                <c:pt idx="4">
                  <c:v>0.538621802891</c:v>
                </c:pt>
                <c:pt idx="5">
                  <c:v>0.521732330259</c:v>
                </c:pt>
                <c:pt idx="6">
                  <c:v>0.5264070109910001</c:v>
                </c:pt>
                <c:pt idx="7">
                  <c:v>0.441292852319</c:v>
                </c:pt>
                <c:pt idx="8">
                  <c:v>0.45501325471200005</c:v>
                </c:pt>
                <c:pt idx="9">
                  <c:v>0.451810048923</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noMultiLvlLbl val="0"/>
      </c:catAx>
      <c:valAx>
        <c:axId val="2140495176"/>
        <c:scaling>
          <c:max val="8.0"/>
          <c:min val="0.0"/>
        </c:scaling>
        <c:delete val="0"/>
        <c:axPos val="l"/>
        <c:majorGridlines>
          <c:spPr>
            <a:ln w="6350">
              <a:solidFill>
                <a:srgbClr val="D8D8D8"/>
              </a:solidFill>
            </a:ln>
          </c:spPr>
        </c:majorGridlines>
        <c:numFmt formatCode="0.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2.0"/>
      </c:valAx>
    </c:plotArea>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Cars</c:v>
                </c:pt>
              </c:strCache>
            </c:strRef>
          </c:tx>
          <c:spPr>
            <a:solidFill>
              <a:srgbClr val="0A2373"/>
            </a:solidFill>
            <a:ln w="22860">
              <a:solidFill>
                <a:srgbClr val="0A2373"/>
              </a:solidFill>
            </a:ln>
          </c:spPr>
          <c:marker>
            <c:symbol val="none"/>
          </c:marker>
          <c:cat>
            <c:strRef>
              <c:f>Sheet1!$A$2:$A$6</c:f>
              <c:strCache>
                <c:ptCount val="5"/>
                <c:pt idx="0">
                  <c:v>2021</c:v>
                </c:pt>
                <c:pt idx="1">
                  <c:v>2022</c:v>
                </c:pt>
                <c:pt idx="2">
                  <c:v>2023</c:v>
                </c:pt>
                <c:pt idx="3">
                  <c:v>2024</c:v>
                </c:pt>
                <c:pt idx="4">
                  <c:v>2025</c:v>
                </c:pt>
              </c:strCache>
            </c:strRef>
          </c:cat>
          <c:val>
            <c:numRef>
              <c:f>Sheet1!$B$2:$B$6</c:f>
              <c:numCache>
                <c:formatCode>General</c:formatCode>
                <c:ptCount val="5"/>
                <c:pt idx="0">
                  <c:v>96.26131942850134</c:v>
                </c:pt>
                <c:pt idx="1">
                  <c:v>96.6774076881225</c:v>
                </c:pt>
                <c:pt idx="2">
                  <c:v>98.04874029392617</c:v>
                </c:pt>
                <c:pt idx="3">
                  <c:v>100.0</c:v>
                </c:pt>
                <c:pt idx="4">
                  <c:v>102.95418135616141</c:v>
                </c:pt>
              </c:numCache>
            </c:numRef>
          </c:val>
          <c:smooth val="0"/>
        </c:ser>
        <c:ser>
          <c:idx val="1"/>
          <c:order val="1"/>
          <c:tx>
            <c:strRef>
              <c:f>Sheet1!$C$1</c:f>
              <c:strCache>
                <c:ptCount val="1"/>
                <c:pt idx="0">
                  <c:v>Minibuses</c:v>
                </c:pt>
              </c:strCache>
            </c:strRef>
          </c:tx>
          <c:spPr>
            <a:solidFill>
              <a:srgbClr val="546CA2"/>
            </a:solidFill>
            <a:ln w="22860">
              <a:solidFill>
                <a:srgbClr val="546CA2"/>
              </a:solidFill>
            </a:ln>
          </c:spPr>
          <c:marker>
            <c:symbol val="none"/>
          </c:marker>
          <c:cat>
            <c:strRef>
              <c:f>Sheet1!$A$2:$A$6</c:f>
              <c:strCache>
                <c:ptCount val="5"/>
                <c:pt idx="0">
                  <c:v>2021</c:v>
                </c:pt>
                <c:pt idx="1">
                  <c:v>2022</c:v>
                </c:pt>
                <c:pt idx="2">
                  <c:v>2023</c:v>
                </c:pt>
                <c:pt idx="3">
                  <c:v>2024</c:v>
                </c:pt>
                <c:pt idx="4">
                  <c:v>2025</c:v>
                </c:pt>
              </c:strCache>
            </c:strRef>
          </c:cat>
          <c:val>
            <c:numRef>
              <c:f>Sheet1!$C$2:$C$6</c:f>
              <c:numCache>
                <c:formatCode>General</c:formatCode>
                <c:ptCount val="5"/>
                <c:pt idx="0">
                  <c:v>98.46032117002075</c:v>
                </c:pt>
                <c:pt idx="1">
                  <c:v>98.36571032750557</c:v>
                </c:pt>
                <c:pt idx="2">
                  <c:v>100.02703166929005</c:v>
                </c:pt>
                <c:pt idx="3">
                  <c:v>100.0</c:v>
                </c:pt>
                <c:pt idx="4">
                  <c:v>100.00168947933062</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Trucks</c:v>
                </c:pt>
              </c:strCache>
            </c:strRef>
          </c:tx>
          <c:spPr>
            <a:solidFill>
              <a:srgbClr val="0A2373"/>
            </a:solidFill>
            <a:ln w="22860">
              <a:solidFill>
                <a:srgbClr val="0A2373"/>
              </a:solidFill>
            </a:ln>
          </c:spPr>
          <c:marker>
            <c:symbol val="none"/>
          </c:marker>
          <c:cat>
            <c:strRef>
              <c:f>Sheet1!$A$2:$A$6</c:f>
              <c:strCache>
                <c:ptCount val="5"/>
                <c:pt idx="0">
                  <c:v>2021</c:v>
                </c:pt>
                <c:pt idx="1">
                  <c:v>2022</c:v>
                </c:pt>
                <c:pt idx="2">
                  <c:v>2023</c:v>
                </c:pt>
                <c:pt idx="3">
                  <c:v>2024</c:v>
                </c:pt>
                <c:pt idx="4">
                  <c:v>2025</c:v>
                </c:pt>
              </c:strCache>
            </c:strRef>
          </c:cat>
          <c:val>
            <c:numRef>
              <c:f>Sheet1!$B$2:$B$6</c:f>
              <c:numCache>
                <c:formatCode>General</c:formatCode>
                <c:ptCount val="5"/>
                <c:pt idx="0">
                  <c:v>97.63387547611042</c:v>
                </c:pt>
                <c:pt idx="1">
                  <c:v>96.8141375313016</c:v>
                </c:pt>
                <c:pt idx="2">
                  <c:v>98.44608598340953</c:v>
                </c:pt>
                <c:pt idx="3">
                  <c:v>100.0</c:v>
                </c:pt>
                <c:pt idx="4">
                  <c:v>101.55817956451264</c:v>
                </c:pt>
              </c:numCache>
            </c:numRef>
          </c:val>
          <c:smooth val="0"/>
        </c:ser>
        <c:ser>
          <c:idx val="1"/>
          <c:order val="1"/>
          <c:tx>
            <c:strRef>
              <c:f>Sheet1!$C$1</c:f>
              <c:strCache>
                <c:ptCount val="1"/>
                <c:pt idx="0">
                  <c:v>Light commercial</c:v>
                </c:pt>
              </c:strCache>
            </c:strRef>
          </c:tx>
          <c:spPr>
            <a:solidFill>
              <a:srgbClr val="546CA2"/>
            </a:solidFill>
            <a:ln w="22860">
              <a:solidFill>
                <a:srgbClr val="546CA2"/>
              </a:solidFill>
            </a:ln>
          </c:spPr>
          <c:marker>
            <c:symbol val="none"/>
          </c:marker>
          <c:cat>
            <c:strRef>
              <c:f>Sheet1!$A$2:$A$6</c:f>
              <c:strCache>
                <c:ptCount val="5"/>
                <c:pt idx="0">
                  <c:v>2021</c:v>
                </c:pt>
                <c:pt idx="1">
                  <c:v>2022</c:v>
                </c:pt>
                <c:pt idx="2">
                  <c:v>2023</c:v>
                </c:pt>
                <c:pt idx="3">
                  <c:v>2024</c:v>
                </c:pt>
                <c:pt idx="4">
                  <c:v>2025</c:v>
                </c:pt>
              </c:strCache>
            </c:strRef>
          </c:cat>
          <c:val>
            <c:numRef>
              <c:f>Sheet1!$C$2:$C$6</c:f>
              <c:numCache>
                <c:formatCode>General</c:formatCode>
                <c:ptCount val="5"/>
                <c:pt idx="0">
                  <c:v>98.0080760021808</c:v>
                </c:pt>
                <c:pt idx="1">
                  <c:v>97.53486013752538</c:v>
                </c:pt>
                <c:pt idx="2">
                  <c:v>98.66833284047658</c:v>
                </c:pt>
                <c:pt idx="3">
                  <c:v>100.0</c:v>
                </c:pt>
                <c:pt idx="4">
                  <c:v>101.8583757153455</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Agriculture / forestry / fishing</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91.28256704153631</c:v>
                </c:pt>
                <c:pt idx="1">
                  <c:v>107.03749574390915</c:v>
                </c:pt>
                <c:pt idx="2">
                  <c:v>112.36278804898116</c:v>
                </c:pt>
                <c:pt idx="3">
                  <c:v>114.79114653534522</c:v>
                </c:pt>
                <c:pt idx="4">
                  <c:v>109.54337771922417</c:v>
                </c:pt>
                <c:pt idx="5">
                  <c:v>100.0</c:v>
                </c:pt>
                <c:pt idx="6">
                  <c:v>117.4273182810752</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Manufacturing</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106.91402153970294</c:v>
                </c:pt>
                <c:pt idx="1">
                  <c:v>93.93975777561383</c:v>
                </c:pt>
                <c:pt idx="2">
                  <c:v>100.3352911803161</c:v>
                </c:pt>
                <c:pt idx="3">
                  <c:v>99.98853103058075</c:v>
                </c:pt>
                <c:pt idx="4">
                  <c:v>100.35228851065968</c:v>
                </c:pt>
                <c:pt idx="5">
                  <c:v>100.0</c:v>
                </c:pt>
                <c:pt idx="6">
                  <c:v>98.82154406890575</c:v>
                </c:pt>
              </c:numCache>
            </c:numRef>
          </c:val>
          <c:smooth val="0"/>
        </c:ser>
        <c:ser>
          <c:idx val="1"/>
          <c:order val="1"/>
          <c:tx>
            <c:strRef>
              <c:f>Sheet1!$C$1</c:f>
              <c:strCache>
                <c:ptCount val="1"/>
                <c:pt idx="0">
                  <c:v>Mining</c:v>
                </c:pt>
              </c:strCache>
            </c:strRef>
          </c:tx>
          <c:spPr>
            <a:solidFill>
              <a:srgbClr val="546CA2"/>
            </a:solidFill>
            <a:ln w="22860">
              <a:solidFill>
                <a:srgbClr val="546CA2"/>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Sheet1!$C$2:$C$8</c:f>
              <c:numCache>
                <c:formatCode>General</c:formatCode>
                <c:ptCount val="7"/>
                <c:pt idx="0">
                  <c:v>108.27503338847391</c:v>
                </c:pt>
                <c:pt idx="1">
                  <c:v>95.05621825451448</c:v>
                </c:pt>
                <c:pt idx="2">
                  <c:v>107.07378897120171</c:v>
                </c:pt>
                <c:pt idx="3">
                  <c:v>99.671954100789</c:v>
                </c:pt>
                <c:pt idx="4">
                  <c:v>99.56264424261717</c:v>
                </c:pt>
                <c:pt idx="5">
                  <c:v>100.00000000000001</c:v>
                </c:pt>
                <c:pt idx="6">
                  <c:v>100.16529192011501</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Eskom + IPP</c:v>
                </c:pt>
              </c:strCache>
            </c:strRef>
          </c:tx>
          <c:spPr>
            <a:solidFill>
              <a:srgbClr val="0A2373"/>
            </a:solidFill>
            <a:ln w="22860">
              <a:solidFill>
                <a:srgbClr val="0A2373"/>
              </a:solidFill>
            </a:ln>
          </c:spPr>
          <c:marker>
            <c:symbol val="none"/>
          </c:marker>
          <c:cat>
            <c:strRef>
              <c:f>Sheet1!$A$2:$A$5</c:f>
              <c:strCache>
                <c:ptCount val="4"/>
                <c:pt idx="0">
                  <c:v>2023</c:v>
                </c:pt>
                <c:pt idx="1">
                  <c:v>2024</c:v>
                </c:pt>
                <c:pt idx="2">
                  <c:v>2025</c:v>
                </c:pt>
                <c:pt idx="3">
                  <c:v>2026</c:v>
                </c:pt>
              </c:strCache>
            </c:strRef>
          </c:cat>
          <c:val>
            <c:numRef>
              <c:f>Sheet1!$B$2:$B$5</c:f>
              <c:numCache>
                <c:formatCode>General</c:formatCode>
                <c:ptCount val="4"/>
                <c:pt idx="0">
                  <c:v>80.03111024693759</c:v>
                </c:pt>
                <c:pt idx="1">
                  <c:v>100.0</c:v>
                </c:pt>
                <c:pt idx="2">
                  <c:v>55.18180050554151</c:v>
                </c:pt>
                <c:pt idx="3">
                  <c:v>20.97997277853393</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tickLblSkip val="1"/>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Road</c:v>
                </c:pt>
              </c:strCache>
            </c:strRef>
          </c:tx>
          <c:spPr>
            <a:solidFill>
              <a:srgbClr val="0A2373"/>
            </a:solidFill>
            <a:ln w="22860">
              <a:solidFill>
                <a:srgbClr val="0A2373"/>
              </a:solidFill>
            </a:ln>
          </c:spPr>
          <c:marker>
            <c:symbol val="none"/>
          </c:marker>
          <c:cat>
            <c:strRef>
              <c:f>Sheet1!$A$2:$A$3</c:f>
              <c:strCache>
                <c:ptCount val="2"/>
                <c:pt idx="0">
                  <c:v>2024</c:v>
                </c:pt>
                <c:pt idx="1">
                  <c:v>2025</c:v>
                </c:pt>
              </c:strCache>
            </c:strRef>
          </c:cat>
          <c:val>
            <c:numRef>
              <c:f>Sheet1!$B$2:$B$3</c:f>
              <c:numCache>
                <c:formatCode>General</c:formatCode>
                <c:ptCount val="2"/>
                <c:pt idx="0">
                  <c:v>100.0</c:v>
                </c:pt>
                <c:pt idx="1">
                  <c:v>99.6601340276261</c:v>
                </c:pt>
              </c:numCache>
            </c:numRef>
          </c:val>
          <c:smooth val="0"/>
        </c:ser>
        <c:ser>
          <c:idx val="1"/>
          <c:order val="1"/>
          <c:tx>
            <c:strRef>
              <c:f>Sheet1!$C$1</c:f>
              <c:strCache>
                <c:ptCount val="1"/>
                <c:pt idx="0">
                  <c:v>Rail</c:v>
                </c:pt>
              </c:strCache>
            </c:strRef>
          </c:tx>
          <c:spPr>
            <a:solidFill>
              <a:srgbClr val="546CA2"/>
            </a:solidFill>
            <a:ln w="22860">
              <a:solidFill>
                <a:srgbClr val="546CA2"/>
              </a:solidFill>
            </a:ln>
          </c:spPr>
          <c:marker>
            <c:symbol val="none"/>
          </c:marker>
          <c:cat>
            <c:strRef>
              <c:f>Sheet1!$A$2:$A$3</c:f>
              <c:strCache>
                <c:ptCount val="2"/>
                <c:pt idx="0">
                  <c:v>2024</c:v>
                </c:pt>
                <c:pt idx="1">
                  <c:v>2025</c:v>
                </c:pt>
              </c:strCache>
            </c:strRef>
          </c:cat>
          <c:val>
            <c:numRef>
              <c:f>Sheet1!$C$2:$C$3</c:f>
              <c:numCache>
                <c:formatCode>General</c:formatCode>
                <c:ptCount val="2"/>
                <c:pt idx="0">
                  <c:v>100.0</c:v>
                </c:pt>
                <c:pt idx="1">
                  <c:v>104.67697284518958</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tickLblSkip val="1"/>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BEV</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12.251392203659506</c:v>
                </c:pt>
                <c:pt idx="1">
                  <c:v>7.319013524264121</c:v>
                </c:pt>
                <c:pt idx="2">
                  <c:v>17.342879872712807</c:v>
                </c:pt>
                <c:pt idx="3">
                  <c:v>39.93635640413683</c:v>
                </c:pt>
                <c:pt idx="4">
                  <c:v>73.90612569610182</c:v>
                </c:pt>
                <c:pt idx="5">
                  <c:v>100.0</c:v>
                </c:pt>
                <c:pt idx="6">
                  <c:v>86.55529037390613</c:v>
                </c:pt>
              </c:numCache>
            </c:numRef>
          </c:val>
          <c:smooth val="0"/>
        </c:ser>
        <c:ser>
          <c:idx val="1"/>
          <c:order val="1"/>
          <c:tx>
            <c:strRef>
              <c:f>Sheet1!$C$1</c:f>
              <c:strCache>
                <c:ptCount val="1"/>
                <c:pt idx="0">
                  <c:v>Plug-in hybrid</c:v>
                </c:pt>
              </c:strCache>
            </c:strRef>
          </c:tx>
          <c:spPr>
            <a:solidFill>
              <a:srgbClr val="546CA2"/>
            </a:solidFill>
            <a:ln w="22860">
              <a:solidFill>
                <a:srgbClr val="546CA2"/>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Sheet1!$C$2:$C$8</c:f>
              <c:numCache>
                <c:formatCode>General</c:formatCode>
                <c:ptCount val="7"/>
                <c:pt idx="0">
                  <c:v>9.75609756097561</c:v>
                </c:pt>
                <c:pt idx="1">
                  <c:v>10.433604336043361</c:v>
                </c:pt>
                <c:pt idx="2">
                  <c:v>6.9105691056910565</c:v>
                </c:pt>
                <c:pt idx="3">
                  <c:v>16.531165311653115</c:v>
                </c:pt>
                <c:pt idx="4">
                  <c:v>49.86449864498645</c:v>
                </c:pt>
                <c:pt idx="5">
                  <c:v>100.0</c:v>
                </c:pt>
                <c:pt idx="6">
                  <c:v>380.75880758807585</c:v>
                </c:pt>
              </c:numCache>
            </c:numRef>
          </c:val>
          <c:smooth val="0"/>
        </c:ser>
        <c:ser>
          <c:idx val="2"/>
          <c:order val="2"/>
          <c:tx>
            <c:strRef>
              <c:f>Sheet1!$D$1</c:f>
              <c:strCache>
                <c:ptCount val="1"/>
                <c:pt idx="0">
                  <c:v>Hybrid</c:v>
                </c:pt>
              </c:strCache>
            </c:strRef>
          </c:tx>
          <c:spPr>
            <a:solidFill>
              <a:srgbClr val="404040"/>
            </a:solidFill>
            <a:ln w="22860">
              <a:solidFill>
                <a:srgbClr val="000000"/>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Sheet1!$D$2:$D$8</c:f>
              <c:numCache>
                <c:formatCode>General</c:formatCode>
                <c:ptCount val="7"/>
                <c:pt idx="0">
                  <c:v>1.3293184488836662</c:v>
                </c:pt>
                <c:pt idx="1">
                  <c:v>1.1383666274970623</c:v>
                </c:pt>
                <c:pt idx="2">
                  <c:v>4.604876615746181</c:v>
                </c:pt>
                <c:pt idx="3">
                  <c:v>29.891304347826086</c:v>
                </c:pt>
                <c:pt idx="4">
                  <c:v>47.62779083431257</c:v>
                </c:pt>
                <c:pt idx="5">
                  <c:v>100.0</c:v>
                </c:pt>
                <c:pt idx="6">
                  <c:v>94.13924794359578</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tickLblSkip val="2"/>
        <c:noMultiLvlLbl val="0"/>
      </c:catAx>
      <c:valAx>
        <c:axId val="2140495176"/>
        <c:scaling>
          <c:max val="4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areaChart>
        <c:grouping val="stacked"/>
        <c:varyColors val="0"/>
        <c:ser>
          <c:idx val="0"/>
          <c:order val="0"/>
          <c:tx>
            <c:strRef>
              <c:f>Sheet1!$B$1</c:f>
              <c:strCache>
                <c:ptCount val="1"/>
                <c:pt idx="0">
                  <c:v>Reported footprint / held flat</c:v>
                </c:pt>
              </c:strCache>
            </c:strRef>
          </c:tx>
          <c:spPr>
            <a:solidFill>
              <a:srgbClr val="0A2373"/>
            </a:solidFill>
            <a:ln>
              <a:solidFill>
                <a:srgbClr val="0A2373"/>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Sheet1!$B$2:$B$22</c:f>
              <c:numCache>
                <c:formatCode>General</c:formatCode>
                <c:ptCount val="21"/>
                <c:pt idx="0">
                  <c:v>718.0</c:v>
                </c:pt>
                <c:pt idx="1">
                  <c:v>718.0</c:v>
                </c:pt>
                <c:pt idx="2">
                  <c:v>718.0</c:v>
                </c:pt>
                <c:pt idx="3">
                  <c:v>718.0</c:v>
                </c:pt>
                <c:pt idx="4">
                  <c:v>718.0</c:v>
                </c:pt>
                <c:pt idx="5">
                  <c:v>538.0</c:v>
                </c:pt>
                <c:pt idx="6">
                  <c:v>358.0</c:v>
                </c:pt>
                <c:pt idx="7">
                  <c:v>358.0</c:v>
                </c:pt>
                <c:pt idx="8">
                  <c:v>358.0</c:v>
                </c:pt>
                <c:pt idx="9">
                  <c:v>358.0</c:v>
                </c:pt>
                <c:pt idx="10">
                  <c:v>358.0</c:v>
                </c:pt>
                <c:pt idx="11">
                  <c:v>358.0</c:v>
                </c:pt>
                <c:pt idx="12">
                  <c:v>358.0</c:v>
                </c:pt>
                <c:pt idx="13">
                  <c:v>358.0</c:v>
                </c:pt>
                <c:pt idx="14">
                  <c:v>358.0</c:v>
                </c:pt>
                <c:pt idx="15">
                  <c:v>358.0</c:v>
                </c:pt>
                <c:pt idx="16">
                  <c:v>358.0</c:v>
                </c:pt>
                <c:pt idx="17">
                  <c:v>358.0</c:v>
                </c:pt>
                <c:pt idx="18">
                  <c:v>358.0</c:v>
                </c:pt>
                <c:pt idx="19">
                  <c:v>358.0</c:v>
                </c:pt>
                <c:pt idx="20">
                  <c:v>358.0</c:v>
                </c:pt>
              </c:numCache>
            </c:numRef>
          </c:val>
        </c:ser>
        <c:ser>
          <c:idx val="1"/>
          <c:order val="1"/>
          <c:tx>
            <c:strRef>
              <c:f>Sheet1!$C$1</c:f>
              <c:strCache>
                <c:ptCount val="1"/>
                <c:pt idx="0">
                  <c:v>Conditional addition</c:v>
                </c:pt>
              </c:strCache>
            </c:strRef>
          </c:tx>
          <c:spPr>
            <a:solidFill>
              <a:srgbClr val="546CA2"/>
            </a:solidFill>
            <a:ln>
              <a:solidFill>
                <a:srgbClr val="546CA2"/>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Sheet1!$C$2:$C$22</c:f>
              <c:numCache>
                <c:formatCode>General</c:formatCode>
                <c:ptCount val="2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majorGridlines>
          <c:spPr>
            <a:ln w="6350">
              <a:solidFill>
                <a:srgbClr val="D8D8D8"/>
              </a:solidFill>
            </a:ln>
          </c:spPr>
        </c:majorGridlines>
        <c:numFmt formatCode="General" sourceLinked="1"/>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0718248"/>
        <c:crosses val="autoZero"/>
        <c:auto val="1"/>
        <c:lblAlgn val="ctr"/>
        <c:lblOffset val="100"/>
        <c:tickLblSkip val="4"/>
        <c:noMultiLvlLbl val="0"/>
      </c:catAx>
      <c:valAx>
        <c:axId val="-2100718248"/>
        <c:scaling>
          <c:orientation val="minMax"/>
          <c:max val="8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1159928"/>
        <c:crosses val="autoZero"/>
        <c:crossBetween val="midCat"/>
        <c:majorUnit val="200.0"/>
      </c:valAx>
    </c:plotArea>
    <c:plotVisOnly val="1"/>
    <c:dispBlanksAs val="zero"/>
    <c:showDLblsOverMax val="0"/>
  </c:chart>
  <c:txPr>
    <a:bodyPr/>
    <a:lstStyle/>
    <a:p>
      <a:pPr>
        <a:defRPr sz="1800"/>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areaChart>
        <c:grouping val="stacked"/>
        <c:varyColors val="0"/>
        <c:ser>
          <c:idx val="0"/>
          <c:order val="0"/>
          <c:tx>
            <c:strRef>
              <c:f>Sheet1!$B$1</c:f>
              <c:strCache>
                <c:ptCount val="1"/>
                <c:pt idx="0">
                  <c:v>Reported footprint / held flat</c:v>
                </c:pt>
              </c:strCache>
            </c:strRef>
          </c:tx>
          <c:spPr>
            <a:solidFill>
              <a:srgbClr val="0A2373"/>
            </a:solidFill>
            <a:ln>
              <a:solidFill>
                <a:srgbClr val="0A2373"/>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Sheet1!$B$2:$B$22</c:f>
              <c:numCache>
                <c:formatCode>General</c:formatCode>
                <c:ptCount val="21"/>
                <c:pt idx="0">
                  <c:v>718.0</c:v>
                </c:pt>
                <c:pt idx="1">
                  <c:v>718.0</c:v>
                </c:pt>
                <c:pt idx="2">
                  <c:v>718.0</c:v>
                </c:pt>
                <c:pt idx="3">
                  <c:v>718.0</c:v>
                </c:pt>
                <c:pt idx="4">
                  <c:v>718.0</c:v>
                </c:pt>
                <c:pt idx="5">
                  <c:v>538.0</c:v>
                </c:pt>
                <c:pt idx="6">
                  <c:v>358.0</c:v>
                </c:pt>
                <c:pt idx="7">
                  <c:v>358.0</c:v>
                </c:pt>
                <c:pt idx="8">
                  <c:v>358.0</c:v>
                </c:pt>
                <c:pt idx="9">
                  <c:v>358.0</c:v>
                </c:pt>
                <c:pt idx="10">
                  <c:v>358.0</c:v>
                </c:pt>
                <c:pt idx="11">
                  <c:v>358.0</c:v>
                </c:pt>
                <c:pt idx="12">
                  <c:v>358.0</c:v>
                </c:pt>
                <c:pt idx="13">
                  <c:v>358.0</c:v>
                </c:pt>
                <c:pt idx="14">
                  <c:v>358.0</c:v>
                </c:pt>
                <c:pt idx="15">
                  <c:v>358.0</c:v>
                </c:pt>
                <c:pt idx="16">
                  <c:v>358.0</c:v>
                </c:pt>
                <c:pt idx="17">
                  <c:v>358.0</c:v>
                </c:pt>
                <c:pt idx="18">
                  <c:v>358.0</c:v>
                </c:pt>
                <c:pt idx="19">
                  <c:v>358.0</c:v>
                </c:pt>
                <c:pt idx="20">
                  <c:v>358.0</c:v>
                </c:pt>
              </c:numCache>
            </c:numRef>
          </c:val>
        </c:ser>
        <c:ser>
          <c:idx val="1"/>
          <c:order val="1"/>
          <c:tx>
            <c:strRef>
              <c:f>Sheet1!$C$1</c:f>
              <c:strCache>
                <c:ptCount val="1"/>
                <c:pt idx="0">
                  <c:v>Conditional addition</c:v>
                </c:pt>
              </c:strCache>
            </c:strRef>
          </c:tx>
          <c:spPr>
            <a:solidFill>
              <a:srgbClr val="546CA2"/>
            </a:solidFill>
            <a:ln>
              <a:solidFill>
                <a:srgbClr val="546CA2"/>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Sheet1!$C$2:$C$22</c:f>
              <c:numCache>
                <c:formatCode>General</c:formatCode>
                <c:ptCount val="2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400.0</c:v>
                </c:pt>
                <c:pt idx="18">
                  <c:v>400.0</c:v>
                </c:pt>
                <c:pt idx="19">
                  <c:v>400.0</c:v>
                </c:pt>
                <c:pt idx="20">
                  <c:v>400.0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majorGridlines>
          <c:spPr>
            <a:ln w="6350">
              <a:solidFill>
                <a:srgbClr val="D8D8D8"/>
              </a:solidFill>
            </a:ln>
          </c:spPr>
        </c:majorGridlines>
        <c:numFmt formatCode="General" sourceLinked="1"/>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0718248"/>
        <c:crosses val="autoZero"/>
        <c:auto val="1"/>
        <c:lblAlgn val="ctr"/>
        <c:lblOffset val="100"/>
        <c:tickLblSkip val="4"/>
        <c:noMultiLvlLbl val="0"/>
      </c:catAx>
      <c:valAx>
        <c:axId val="-2100718248"/>
        <c:scaling>
          <c:orientation val="minMax"/>
          <c:max val="8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1159928"/>
        <c:crosses val="autoZero"/>
        <c:crossBetween val="midCat"/>
        <c:majorUnit val="200.0"/>
      </c:valAx>
    </c:plotArea>
    <c:plotVisOnly val="1"/>
    <c:dispBlanksAs val="zero"/>
    <c:showDLblsOverMax val="0"/>
  </c:chart>
  <c:txPr>
    <a:bodyPr/>
    <a:lstStyle/>
    <a:p>
      <a:pPr>
        <a:defRPr sz="1800"/>
      </a:pPr>
      <a:endParaR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47D6B1-D525-4628-ADA5-8E1FE74ADA4C}" type="datetimeFigureOut">
              <a:rPr lang="en-GB" smtClean="0"/>
              <a:t>01/10/2026</a:t>
            </a:fld>
            <a:endParaRPr lang="en-GB"/>
          </a:p>
        </p:txBody>
      </p:sp>
      <p:sp>
        <p:nvSpPr>
          <p:cNvPr id="4" name="Slide Image Placeholder 3"/>
          <p:cNvSpPr>
            <a:spLocks noGrp="1" noRot="1" noChangeAspect="1"/>
          </p:cNvSpPr>
          <p:nvPr>
            <p:ph type="sldImg" idx="2"/>
          </p:nvPr>
        </p:nvSpPr>
        <p:spPr>
          <a:xfrm>
            <a:off x="820738" y="1143000"/>
            <a:ext cx="521652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101EB5-DFDD-47C4-B7E0-8A018260211B}" type="slidenum">
              <a:rPr lang="en-GB" smtClean="0"/>
              <a:t>‹#›</a:t>
            </a:fld>
            <a:endParaRPr lang="en-GB"/>
          </a:p>
        </p:txBody>
      </p:sp>
    </p:spTree>
    <p:extLst>
      <p:ext uri="{BB962C8B-B14F-4D97-AF65-F5344CB8AC3E}">
        <p14:creationId xmlns:p14="http://schemas.microsoft.com/office/powerpoint/2010/main" val="1437944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Walk through four sections: the project question, the analytical</a:t>
            </a:r>
          </a:p>
          <a:p>
            <a:r>
              <a:t>requirements, the model-build problem and the delivery approach. The purpose is to</a:t>
            </a:r>
          </a:p>
          <a:p>
            <a:r>
              <a:t>connect the analyst's tasks to the decisions the engagement needs to support.</a:t>
            </a:r>
          </a:p>
          <a:p>
            <a:r>
              <a:t>Week 1 analytical pack, 6 October 2026. Existing kickoff cover/closing reused at user request.</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reporting sums four quarters separately for each province/product. Missing or incomplete years are gaps, never zeros or extrapolations. 2023 has Q1 only and is excluded. Source: assumptions/2026/timeseries/fuel_sales_department_by_province_quarterly.csv. Reported sales are a demand proxy; historical reporting requires analyst review, not a forecast.</a:t>
            </a:r>
          </a:p>
          <a:p>
            <a:r>
              <a:t>Provincial sum minus national petrol/diesel sales (bn L), mechanical flag tolerance 1 litre, not a materiality or validation threshold:</a:t>
            </a:r>
          </a:p>
          <a:p>
            <a:r>
              <a:t>{</a:t>
            </a:r>
          </a:p>
          <a:p>
            <a:r>
              <a:t>  "2013": 0.5379449579999971,</a:t>
            </a:r>
          </a:p>
          <a:p>
            <a:r>
              <a:t>  "2014": 0.2688237130000033,</a:t>
            </a:r>
          </a:p>
          <a:p>
            <a:r>
              <a:t>  "2015": -0.034042841268004054,</a:t>
            </a:r>
          </a:p>
          <a:p>
            <a:r>
              <a:t>  "2016": -7.105427357601002e-15,</a:t>
            </a:r>
          </a:p>
          <a:p>
            <a:r>
              <a:t>  "2017": -0.0023669540000135214,</a:t>
            </a:r>
          </a:p>
          <a:p>
            <a:r>
              <a:t>  "2018": -0.4327551978270243,</a:t>
            </a:r>
          </a:p>
          <a:p>
            <a:r>
              <a:t>  "2019": -1.7763568394002505e-14,</a:t>
            </a:r>
          </a:p>
          <a:p>
            <a:r>
              <a:t>  "2020": -1.0658141036401503e-14,</a:t>
            </a:r>
          </a:p>
          <a:p>
            <a:r>
              <a:t>  "2021": -0.0007647352630151261,</a:t>
            </a:r>
          </a:p>
          <a:p>
            <a:r>
              <a:t>  "2022": -1.7763568394002505e-14</a:t>
            </a:r>
          </a:p>
          <a:p>
            <a:r>
              <a:t>}</a:t>
            </a:r>
          </a:p>
          <a:p>
            <a:r>
              <a:t>SCR delivery order: page 4 of 16. Gap IDs and original evidence references retained in notes.</a:t>
            </a:r>
          </a:p>
          <a:p>
            <a:r>
              <a:t>SCR master row S1; linked roadmap page 2. Deep-dive page 4.</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uses WGS84 / Lambert azimuthal equal-area, centred 25°E, 29°S. Natural Earth 1:50m countries; schematic transport from the kickoff appendix. Scale is nominal at map centre. Facility points are approximate, inherited from the appendix, not surveyed GPS. Lesedi uses the inherited Jameson Park-area point. No operational service-area polygon or evidence-calibrated cost/time threshold is computed. Demand positions are regional annotations, not provincial centroids. All numerical volumes are illustrative and are not model outputs or actual Vopak flows. The graduated surface is illustrative delivered road transport cost: R0.15/litre dispatch plus R0.002/litre/km times shortest schematic-road distance and straight-line terminal/grid connections. These are authored example parameters, not carrier quotes or validated cost evidence. 25 km cells; cost classes &lt;=0.75, 0.75-1.25, 1.25-1.75, 1.75-2.25 and &gt;2.25 R/litre. Cells more than 100 km from the sampled road geometry or without a connected path remain unassessed. Fuel purchase price, tax, storage and pipeline tariffs are excluded. Operational speeds, capacity, permissions and commercial access are not evaluated. Natural Earth source: https://github.com/nvkelso/natural-earth-vector/blob/master/geojson/ne_50m_admin_0_countries.geojson</a:t>
            </a:r>
          </a:p>
          <a:p>
            <a:r>
              <a:t>Transnet lease offers are context only, not cost-model origins or available supply.</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SCR delivery order: page 9 of 16. Gap IDs and original evidence references retained in notes.</a:t>
            </a:r>
          </a:p>
          <a:p>
            <a:r>
              <a:t>SCR master row C3; linked roadmap page 2. Deep-dive page 9.</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uses WGS84 / Lambert azimuthal equal-area, centred 25°E, 29°S. Natural Earth 1:50m countries; schematic transport from the kickoff appendix. Scale is nominal at map centre. Facility points are approximate, inherited from the appendix, not surveyed GPS. Lesedi uses the inherited Jameson Park-area point. No operational service-area polygon or evidence-calibrated cost/time threshold is computed. Demand positions are regional annotations, not provincial centroids. All numerical volumes are illustrative and are not model outputs or actual Vopak flows. The graduated surface is illustrative delivered road transport cost: R0.15/litre dispatch plus R0.002/litre/km times shortest schematic-road distance and straight-line terminal/grid connections. These are authored example parameters, not carrier quotes or validated cost evidence. 25 km cells; cost classes &lt;=0.75, 0.75-1.25, 1.25-1.75, 1.75-2.25 and &gt;2.25 R/litre. Cells more than 100 km from the sampled road geometry or without a connected path remain unassessed. Fuel purchase price, tax, storage and pipeline tariffs are excluded. Operational speeds, capacity, permissions and commercial access are not evaluated. Natural Earth source: https://github.com/nvkelso/natural-earth-vector/blob/master/geojson/ne_50m_admin_0_countries.geojson</a:t>
            </a:r>
          </a:p>
          <a:p>
            <a:r>
              <a:t>Transnet lease offers are context only, not cost-model origins or available supply.</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SCR delivery order: page 11 of 16. Gap IDs and original evidence references retained in notes.</a:t>
            </a:r>
          </a:p>
          <a:p>
            <a:r>
              <a:t>SCR master row R1; linked roadmap page 2. Deep-dive page 11.</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Observed historical sales, separate from the illustrative market figures on slide 6.</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Historical sales are a demand-location proxy, not 2026 demand or customer delivery destinations. All 18 province/product series have four quarters in 2022; provincial sum matches national sales within 1 litre. No district-level smoothing or within-province hotspot is inferred. Colour measures total annual provincial volume, not litres per km2. Region borders use the authored province membership, not a service area. Eastern coastal=EC+KZN; Inland=GP+FS+LP+MP+NW; Western coastal=WC; Other=NC. The observed totals and regions are separate from the illustrative market figures on slide 6. Source CSV C:\Users\ITafr\Desktop\Insights\liquid_fuels_model\assumptions\2026\timeseries\fuel_sales_department_by_province_quarterly.csv; SHA256 aec82481b33f70429b6b8e7c9c02767d62a6e8c7bf6bda09e21123a5bc56c9d6; original workbook(s) ['2022-Quarter4-Magisterial-Districts-data.xlsx']. Department index: https://www.dmpr.gov.za/Portals/0/Energy_Website/files/media/media_SAVolumes.html. Boundary metadata/source/license: assets/maps/geoboundaries_zaf_adm1_metadata.json. Reporting evidence remains provisional pending analyst review; owner Manish, Nigel review. Refresh when the source supplies a later complete year; check every province/product quarter and reconcile national totals.</a:t>
            </a:r>
          </a:p>
          <a:p>
            <a:r>
              <a:t>SCR delivery order: page 3 of 16. Gap IDs and original evidence references retained in notes.</a:t>
            </a:r>
          </a:p>
          <a:p>
            <a:r>
              <a:t>SCR master row S1; linked roadmap page 2. Deep-dive page 3.</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 Closing cover photograph: Royal Vopak, Terminal Lesedi. https://www.vopak.com/terminals/vopak-terminal-lesedi</a:t>
            </a:r>
          </a:p>
          <a:p>
            <a:r>
              <a:t>Week 1 analytical pack, 6 October 2026. Existing kickoff cover/closing reused at user request.</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"status": "Illustrative allocation only; not observed provincial supply",</a:t>
            </a:r>
          </a:p>
          <a:p>
            <a:r>
              <a:t>  "demand_year": 2022,</a:t>
            </a:r>
          </a:p>
          <a:p>
            <a:r>
              <a:t>  "demand_source": "assumptions/2026/timeseries/fuel_sales_department_by_province_quarterly.csv",</a:t>
            </a:r>
          </a:p>
          <a:p>
            <a:r>
              <a:t>  "mix_source": "pptx/story/illustrative_national_balance.csv",</a:t>
            </a:r>
          </a:p>
          <a:p>
            <a:r>
              <a:t>  "method": "Apply the example domestic_supply/demand share separately for petrol and diesel to each province's reported sales; remaining volume is illustrative finished-product imports",</a:t>
            </a:r>
          </a:p>
          <a:p>
            <a:r>
              <a:t>  "geographic_assumption": "Uniform source shares by product across provinces; provincial product mix may differ",</a:t>
            </a:r>
          </a:p>
          <a:p>
            <a:r>
              <a:t>  "scope": "Finished petrol and diesel; domestically refined output counts as domestic even when crude is imported",</a:t>
            </a:r>
          </a:p>
          <a:p>
            <a:r>
              <a:t>  "owner": "Manish / Nigel review",</a:t>
            </a:r>
          </a:p>
          <a:p>
            <a:r>
              <a:t>  "replacement_trigger": "Matched-year reviewed national balance plus evidenced refinery/import-to-province flows, exports and stock reconciliation"</a:t>
            </a:r>
          </a:p>
          <a:p>
            <a:r>
              <a:t>}</a:t>
            </a:r>
          </a:p>
          <a:p>
            <a:r>
              <a:t>No provincial origin dataset was found in the reviewed source extract. Demand totals are reported 2022 sales; domestic/import segments are illustrative, not observed 2022 supply. The same example product-specific shares apply to every province. Imports mean finished products, not imported crude. Do not infer these flows from refinery locations or customs clearance province.</a:t>
            </a:r>
          </a:p>
          <a:p>
            <a:r>
              <a:t>SCR delivery order: page 6 of 16. Gap IDs and original evidence references retained in notes.</a:t>
            </a:r>
          </a:p>
          <a:p>
            <a:r>
              <a:t>SCR master row S2; linked roadmap page 2. Deep-dive page 6.</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Regional demand uses reported 2022 petrol/diesel sales, aggregated from all four quarters for nine provinces. Historical sales are a demand proxy, not current terminal catchments. No actual Vopak deliveries or contestable customer volumes were supplied for any region. No share percentage is calculated or imputed; unknown is not zero. The earlier illustrative 22.2/20.0% shares have been removed from this page. Other operators are potential competing or complementary storage providers, not confirmed direct competitors for every customer. Footprint is a starting inventory, not exhaustive. Storage capacities are stocks, not deliveries, and may include ineligible products. Obtain matched-year unique Vopak deliveries, customer destinations, transfer reconciliation, route costs, product-compatible capacity and contracts before calculating shares. Owner Manish; Nigel review. Refresh the source when a later complete provincial year is available. Sales file: C:\Users\ITafr\Desktop\Insights\liquid_fuels_model\assumptions\2026\timeseries\fuel_sales_department_by_province_quarterly.csv; SHA256 aec82481b33f70429b6b8e7c9c02767d62a6e8c7bf6bda09e21123a5bc56c9d6; received workbooks: ['2022-Quarter4-Magisterial-Districts-data.xlsx']. Regional totals (bn litres): {'Eastern coastal': 6.019977323334999, 'Inland': 11.499633855183989, 'Western coastal': 3.9307750071499967, 'Other / Northern Cape': 0.4518100489230001}.</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[1] Vopak: https://www.vopak.com/system/files/Vopak_Annual_Report_2025.pdf | 2025 reporting year | Not matched petrol/diesel terminal throughput</a:t>
            </a:r>
          </a:p>
          <a:p>
            <a:r>
              <a:t>[2] Bidvest Tank Terminals: https://www.bidtanks.com/pages/1562/about-us | Publication date not stated | Site capacities imply 955603 m3 versus homepage 868000 m3; includes non-petrol/diesel products</a:t>
            </a:r>
          </a:p>
          <a:p>
            <a:r>
              <a:t>[3] VTTI Burgan Cape Terminal: https://www.vtti.com/location/cape-town-south-africa-bct/ | Page date not stated; download published 2025-06-25 | Storage stock not throughput; available-capacity notice needs period confirmation</a:t>
            </a:r>
          </a:p>
          <a:p>
            <a:r>
              <a:t>[4] Shell: https://www.shell.co.za/motorists/shell-fuels/fuel-storage-facilities.html | Publication date not stated | Does not establish current independent terminal capacity or market share</a:t>
            </a:r>
          </a:p>
          <a:p>
            <a:r>
              <a:t>[5] NERSA: https://www.nersa.org.za/petroleum-pipelines/third-party-access | Index entries dated 2020-09-25 | Historical mechanisms are not current contracted customer volumes or a complete competitor census</a:t>
            </a:r>
          </a:p>
          <a:p>
            <a:r>
              <a:t>[6] Sasol: https://sasol.com/our-businesses/energy | Page date not stated; linked notice reporting year 2025/26 | Notice period ends March 2026; current access and site ownership need confirmation</a:t>
            </a:r>
          </a:p>
          <a:p>
            <a:r>
              <a:t>[7] Transnet Pipelines: https://www.transnet.net/TPL-Leasing-Opportunities | 2026-10-05 RFPs; manual commencement 2024-09-01 | Lease assets are not available operating supply; refurbishment licensing and award conditional; unknown capacity at Bethlehem/Magdala</a:t>
            </a:r>
          </a:p>
          <a:p>
            <a:r>
              <a:t>SCR delivery order: page 12 of 16. Gap IDs and original evidence references retained in notes.</a:t>
            </a:r>
          </a:p>
          <a:p>
            <a:r>
              <a:t>SCR master row R1; linked roadmap page 2. Deep-dive page 12.</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All eight locations use one linear axis, 0-850 thousand m3; no enlarged inset, axis break or minimum visual bar width. Location/value labels all use 12pt; ticks and legend 11pt. Gross stocks and RFP-stated lease tanks are not like-for-like usable operating capacity; no national total is inferred. Ladysmith: 8540 m3 petrol/diesel working, excluding 474 m3 intermixture; total working 9014 m3. Standerton: (1350000+220000+783000)/1000=2353 m3, basis unspecified. Kroonstad: approximately 3300 m3, basis unspecified. Bethlehem/Magdala petroleum storage is unquantified. Lease offers are excluded from operating supply and cost-model origins. Primary RFPs retained under external/data/raw/transnet_leasing_20261006/. https://www.transnet.net/TPL-Leasing-Opportunities</a:t>
            </a:r>
          </a:p>
          <a:p>
            <a:r>
              <a:t>SCR delivery order: page 14 of 16. Gap IDs and original evidence references retained in notes.</a:t>
            </a:r>
          </a:p>
          <a:p>
            <a:r>
              <a:t>SCR master row R2; linked roadmap page 2. Deep-dive page 14.</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Partner storyboard pp30-32 supplied in chat and preserved under external/partner_story_20261006/. Partner propositions are hypotheses, not assertions that reversals or refinery projects have occurred. All gap records are open pending the stated evidence and review. Work windows/owners are planning targets. Fuel-model integration takes precedence over broad infrastructure or detailed service sizing. Jet remains separately tracked and excluded from client petrol/diesel totals. Detailed analyst review: workstreams/WS3_reporting_delivery/partner_story_alignment_2026-10-06.md.</a:t>
            </a:r>
          </a:p>
          <a:p>
            <a:r>
              <a:t>{</a:t>
            </a:r>
          </a:p>
          <a:p>
            <a:r>
              <a:t>  "date": "2026-10-06",</a:t>
            </a:r>
          </a:p>
          <a:p>
            <a:r>
              <a:t>  "scope": "SA petrol/diesel; jet separate",</a:t>
            </a:r>
          </a:p>
          <a:p>
            <a:r>
              <a:t>  "status": "Review roadmap; not approval or forecast",</a:t>
            </a:r>
          </a:p>
          <a:p>
            <a:r>
              <a:t>  "partner_source": "external/partner_story_20261006 (received pp30-32 screenshots)",</a:t>
            </a:r>
          </a:p>
          <a:p>
            <a:r>
              <a:t>  "planning": "Week windows and analyst assignments proposed, not confirmed commitments",</a:t>
            </a:r>
          </a:p>
          <a:p>
            <a:r>
              <a:t>  "rows": [</a:t>
            </a:r>
          </a:p>
          <a:p>
            <a:r>
              <a:t>    {</a:t>
            </a:r>
          </a:p>
          <a:p>
            <a:r>
              <a:t>      "id": "SA01",</a:t>
            </a:r>
          </a:p>
          <a:p>
            <a:r>
              <a:t>      "story": "Situation",</a:t>
            </a:r>
          </a:p>
          <a:p>
            <a:r>
              <a:t>      "question": "SA demand history and regional market size",</a:t>
            </a:r>
          </a:p>
          <a:p>
            <a:r>
              <a:t>      "existing_work": "Pack pp2-3,7: quarterly provincial sales 2013-2022; national series 2005-2023; 2023 incomplete.",</a:t>
            </a:r>
          </a:p>
          <a:p>
            <a:r>
              <a:t>      "gap": "Later complete year; six provincial/national annual differences; historical driver contributions not quantified.",</a:t>
            </a:r>
          </a:p>
          <a:p>
            <a:r>
              <a:t>      "action": "Review 2013/14/15/17/18/21 against original workbooks; source later full years. Preserve 2022 historical label.",</a:t>
            </a:r>
          </a:p>
          <a:p>
            <a:r>
              <a:t>      "closure_evidence": "Old value, proposed value, source cell and reason for each correction; all province/product quarters; national tie.",</a:t>
            </a:r>
          </a:p>
          <a:p>
            <a:r>
              <a:t>      "owner": "Manish; Nigel review",</a:t>
            </a:r>
          </a:p>
          <a:p>
            <a:r>
              <a:t>      "timing": "W1 investigate; W2 reconcile",</a:t>
            </a:r>
          </a:p>
          <a:p>
            <a:r>
              <a:t>      "source_lead": "fuel_sales_department_by_province_quarterly.csv; fuel_sales_department.csv; DMPR index",</a:t>
            </a:r>
          </a:p>
          <a:p>
            <a:r>
              <a:t>      "refresh_method": "Manual workbook download and parser rerun; completeness and revisions checked.",</a:t>
            </a:r>
          </a:p>
          <a:p>
            <a:r>
              <a:t>      "model_connection": "pptx/scripts/provincial_demand_map.py::sales; reporting evidence, not approved model calibration.",</a:t>
            </a:r>
          </a:p>
          <a:p>
            <a:r>
              <a:t>      "priority": "P0",</a:t>
            </a:r>
          </a:p>
          <a:p>
            <a:r>
              <a:t>      "status": "Open; existing evidence does not establish closure"</a:t>
            </a:r>
          </a:p>
          <a:p>
            <a:r>
              <a:t>    },</a:t>
            </a:r>
          </a:p>
          <a:p>
            <a:r>
              <a:t>    {</a:t>
            </a:r>
          </a:p>
          <a:p>
            <a:r>
              <a:t>      "id": "SA02",</a:t>
            </a:r>
          </a:p>
          <a:p>
            <a:r>
              <a:t>      "story": "Situation",</a:t>
            </a:r>
          </a:p>
          <a:p>
            <a:r>
              <a:t>      "question": "Economically reachable eastern/inland market",</a:t>
            </a:r>
          </a:p>
          <a:p>
            <a:r>
              <a:t>      "existing_work": "Working province groups p2; illustrative road-cost map p5; storage footprint.",</a:t>
            </a:r>
          </a:p>
          <a:p>
            <a:r>
              <a:t>      "gap": "Actual customer destinations, cost threshold, route capacity and commercial rights.",</a:t>
            </a:r>
          </a:p>
          <a:p>
            <a:r>
              <a:t>      "action": "Use delivered transport cost R/litre for actual destinations; qualify physical reach and customer access separately.",</a:t>
            </a:r>
          </a:p>
          <a:p>
            <a:r>
              <a:t>      "closure_evidence": "Reachable and commercially accessible volume by product/destination/year; sourced costs and explicit unassessed residual.",</a:t>
            </a:r>
          </a:p>
          <a:p>
            <a:r>
              <a:t>      "owner": "Manish route evidence; Nigel client access",</a:t>
            </a:r>
          </a:p>
          <a:p>
            <a:r>
              <a:t>      "timing": "W1 define contract; W2-W4 integrate",</a:t>
            </a:r>
          </a:p>
          <a:p>
            <a:r>
              <a:t>      "source_lead": "Regional membership CSV; client destinations; route tariffs and quotations",</a:t>
            </a:r>
          </a:p>
          <a:p>
            <a:r>
              <a:t>      "refresh_method": "Manual client/route evidence; refresh tariff, access or destination changes.",</a:t>
            </a:r>
          </a:p>
          <a:p>
            <a:r>
              <a:t>      "model_connection": "Illustrative accessibility module is presentation only; no operational routing engine.",</a:t>
            </a:r>
          </a:p>
          <a:p>
            <a:r>
              <a:t>      "priority": "P0",</a:t>
            </a:r>
          </a:p>
          <a:p>
            <a:r>
              <a:t>      "status": "Open; existing evidence does not establish closure"</a:t>
            </a:r>
          </a:p>
          <a:p>
            <a:r>
              <a:t>    },</a:t>
            </a:r>
          </a:p>
          <a:p>
            <a:r>
              <a:t>    {</a:t>
            </a:r>
          </a:p>
          <a:p>
            <a:r>
              <a:t>      "id": "SA03",</a:t>
            </a:r>
          </a:p>
          <a:p>
            <a:r>
              <a:t>      "story": "Situation",</a:t>
            </a:r>
          </a:p>
          <a:p>
            <a:r>
              <a:t>      "question": "Domestic production versus finished imports",</a:t>
            </a:r>
          </a:p>
          <a:p>
            <a:r>
              <a:t>      "existing_work": "Pack page 5: 2024 FIASA sales and government imports/exports collected; explicit diesel-import disagreement. Latest staged domestic production remains 2021.",</a:t>
            </a:r>
          </a:p>
          <a:p>
            <a:r>
              <a:t>      "gap": "Matched recent demand, output, imports, exports and stocks; actual provincial origin unavailable.",</a:t>
            </a:r>
          </a:p>
          <a:p>
            <a:r>
              <a:t>      "action": "Reconcile national petrol/diesel first; retain provincial origin as unknown without evidence; separate crude and finished products.",</a:t>
            </a:r>
          </a:p>
          <a:p>
            <a:r>
              <a:t>      "closure_evidence": "Production + imports - exports - stock build = consumption by fuel/year; unit/coverage bridge and residual explained.",</a:t>
            </a:r>
          </a:p>
          <a:p>
            <a:r>
              <a:t>      "owner": "Manish; Nigel review",</a:t>
            </a:r>
          </a:p>
          <a:p>
            <a:r>
              <a:t>      "timing": "W1 mapping; W2 historical balance",</a:t>
            </a:r>
          </a:p>
          <a:p>
            <a:r>
              <a:t>      "source_lead": "energy_balance_department.csv; DMPR commodity flow; SARS trade data",</a:t>
            </a:r>
          </a:p>
          <a:p>
            <a:r>
              <a:t>      "refresh_method": "Manual annual energy workbook and monthly customs download; preserve revisions.",</a:t>
            </a:r>
          </a:p>
          <a:p>
            <a:r>
              <a:t>      "model_connection": "src/lfm/model/supply/flows.py::compute_balance currently demand less supply; exports/stocks not explicit.",</a:t>
            </a:r>
          </a:p>
          <a:p>
            <a:r>
              <a:t>      "priority": "P0",</a:t>
            </a:r>
          </a:p>
          <a:p>
            <a:r>
              <a:t>      "status": "Open; existing evidence does not establish closure"</a:t>
            </a:r>
          </a:p>
          <a:p>
            <a:r>
              <a:t>    },</a:t>
            </a:r>
          </a:p>
          <a:p>
            <a:r>
              <a:t>    {</a:t>
            </a:r>
          </a:p>
          <a:p>
            <a:r>
              <a:t>      "id": "SA04",</a:t>
            </a:r>
          </a:p>
          <a:p>
            <a:r>
              <a:t>      "story": "Situation",</a:t>
            </a:r>
          </a:p>
          <a:p>
            <a:r>
              <a:t>      "question": "Import entry ports and origin",</a:t>
            </a:r>
          </a:p>
          <a:p>
            <a:r>
              <a:t>      "existing_work": "Pack page 5: national trade collected; TNPA liquid bulk is broader than petrol/diesel. Product-specific port allocation remains open.",</a:t>
            </a:r>
          </a:p>
          <a:p>
            <a:r>
              <a:t>      "gap": "Product-specific finished imports by port/year and source country; liquid bulk is not all fuel.",</a:t>
            </a:r>
          </a:p>
          <a:p>
            <a:r>
              <a:t>      "action": "Bridge SARS product/quantity data to TNPA port cargo; check port identifier availability and density conversion.",</a:t>
            </a:r>
          </a:p>
          <a:p>
            <a:r>
              <a:t>      "closure_evidence": "National finished imports tied to evidenced port allocations; unallocated remainder explicit.",</a:t>
            </a:r>
          </a:p>
          <a:p>
            <a:r>
              <a:t>      "owner": "Manish; Nigel source access",</a:t>
            </a:r>
          </a:p>
          <a:p>
            <a:r>
              <a:t>      "timing": "W2-W3",</a:t>
            </a:r>
          </a:p>
          <a:p>
            <a:r>
              <a:t>      "source_lead": "https://tools.sars.gov.za/tradestatsportal/data_download.aspx ; https://www.transnetnationalportsauthority.net/Commercial%20and%20Marketing/Pages/Port-Statistics.aspx",</a:t>
            </a:r>
          </a:p>
          <a:p>
            <a:r>
              <a:t>      "refresh_method": "Manual portal downloads; check HS coverage, revisions, tonnes/litres and crude/nonfuel exclusions.",</a:t>
            </a:r>
          </a:p>
          <a:p>
            <a:r>
              <a:t>      "model_connection": "No imported-volume allocation by port/destination in current engine.",</a:t>
            </a:r>
          </a:p>
          <a:p>
            <a:r>
              <a:t>      "priority": "P1",</a:t>
            </a:r>
          </a:p>
          <a:p>
            <a:r>
              <a:t>      "status": "Open; existing evidence does not establish closure"</a:t>
            </a:r>
          </a:p>
          <a:p>
            <a:r>
              <a:t>    },</a:t>
            </a:r>
          </a:p>
          <a:p>
            <a:r>
              <a:t>    {</a:t>
            </a:r>
          </a:p>
          <a:p>
            <a:r>
              <a:t>      "id": "SA05",</a:t>
            </a:r>
          </a:p>
          <a:p>
            <a:r>
              <a:t>      "story": "Situation / Complication",</a:t>
            </a:r>
          </a:p>
          <a:p>
            <a:r>
              <a:t>      "question": "Power-generation diesel and potential reversal",</a:t>
            </a:r>
          </a:p>
          <a:p>
            <a:r>
              <a:t>      "existing_work": "Eskom OCGT observations 2022-2026 staged; engine capacity/load factor/efficiency path.",</a:t>
            </a:r>
          </a:p>
          <a:p>
            <a:r>
              <a:t>      "gap": "Eskom/IPP coverage, fiscal/calendar alignment, fuel conversion and forecast dispatch. No loadshedding does not mean no OCGT diesel.",</a:t>
            </a:r>
          </a:p>
          <a:p>
            <a:r>
              <a:t>      "action": "Reconcile generation and fuel burn by plant set; calibrate dispatch alternatives; avoid additive double-counting.",</a:t>
            </a:r>
          </a:p>
          <a:p>
            <a:r>
              <a:t>      "closure_evidence": "Historical GWh-to-litres tie; baseline/alternative dispatch, units, dates and incremental demand effect.",</a:t>
            </a:r>
          </a:p>
          <a:p>
            <a:r>
              <a:t>      "owner": "Manish; Nigel review",</a:t>
            </a:r>
          </a:p>
          <a:p>
            <a:r>
              <a:t>      "timing": "W1 lever; W2-W3 calibration",</a:t>
            </a:r>
          </a:p>
          <a:p>
            <a:r>
              <a:t>      "source_lead": "ocgt_generation_eskom.csv; generation.yaml; primary Eskom operating reports",</a:t>
            </a:r>
          </a:p>
          <a:p>
            <a:r>
              <a:t>      "refresh_method": "Manual quarterly/annual operating reports; scope and period checks.",</a:t>
            </a:r>
          </a:p>
          <a:p>
            <a:r>
              <a:t>      "model_connection": "src/lfm/model/demand/generation.py::compute_country_annual.",</a:t>
            </a:r>
          </a:p>
          <a:p>
            <a:r>
              <a:t>      "priority": "P0",</a:t>
            </a:r>
          </a:p>
          <a:p>
            <a:r>
              <a:t>      "status": "Open; existing evidence does not establish closure"</a:t>
            </a:r>
          </a:p>
          <a:p>
            <a:r>
              <a:t>    },</a:t>
            </a:r>
          </a:p>
          <a:p>
            <a:r>
              <a:t>    {</a:t>
            </a:r>
          </a:p>
          <a:p>
            <a:r>
              <a:t>      "id": "SA06",</a:t>
            </a:r>
          </a:p>
          <a:p>
            <a:r>
              <a:t>      "story": "Situation / Complication",</a:t>
            </a:r>
          </a:p>
          <a:p>
            <a:r>
              <a:t>      "question": "Road-to-rail freight shift",</a:t>
            </a:r>
          </a:p>
          <a:p>
            <a:r>
              <a:t>      "existing_work": "Road vehicle cohort calculation and schematic rail context; no mode-shift source series found in current vintage.",</a:t>
            </a:r>
          </a:p>
          <a:p>
            <a:r>
              <a:t>      "gap": "Road/rail freight, tonne-km, distance, payload, empty running and feasible rail intervention.",</a:t>
            </a:r>
          </a:p>
          <a:p>
            <a:r>
              <a:t>      "action": "Use Stats SA P7162 and operator traffic evidence; distinguish tonnes/revenue/tonne-km; convert displaced truck work into diesel.",</a:t>
            </a:r>
          </a:p>
          <a:p>
            <a:r>
              <a:t>      "closure_evidence": "Specific intervention with baseline/alternative mode shares, dates and diesel-intensity bridge; no duplicate mileage reduction.",</a:t>
            </a:r>
          </a:p>
          <a:p>
            <a:r>
              <a:t>      "owner": "Manish; Nigel intervention; Henry review",</a:t>
            </a:r>
          </a:p>
          <a:p>
            <a:r>
              <a:t>      "timing": "W1 lever definition; W2-W4 integration",</a:t>
            </a:r>
          </a:p>
          <a:p>
            <a:r>
              <a:t>      "source_lead": "https://www.statssa.gov.za/?PPN=P7162&amp;SCH=74110&amp;page_id=1854 ; Transnet freight traffic/access evidence",</a:t>
            </a:r>
          </a:p>
          <a:p>
            <a:r>
              <a:t>      "refresh_method": "Manual monthly survey and annual operator reports; coverage/revision checks.",</a:t>
            </a:r>
          </a:p>
          <a:p>
            <a:r>
              <a:t>      "model_connection": "vehicles.py has no explicit rail-shift lever.",</a:t>
            </a:r>
          </a:p>
          <a:p>
            <a:r>
              <a:t>      "priority": "P0",</a:t>
            </a:r>
          </a:p>
          <a:p>
            <a:r>
              <a:t>      "status": "Open; existing evidence does not establish closure"</a:t>
            </a:r>
          </a:p>
          <a:p>
            <a:r>
              <a:t>    },</a:t>
            </a:r>
          </a:p>
          <a:p>
            <a:r>
              <a:t>    {</a:t>
            </a:r>
          </a:p>
          <a:p>
            <a:r>
              <a:t>      "id": "SA07",</a:t>
            </a:r>
          </a:p>
          <a:p>
            <a:r>
              <a:t>      "story": "Situation / Complication",</a:t>
            </a:r>
          </a:p>
          <a:p>
            <a:r>
              <a:t>      "question": "BEV, hybrid, efficiency and charging effects",</a:t>
            </a:r>
          </a:p>
          <a:p>
            <a:r>
              <a:t>      "existing_work": "Naamsa NEV sales 2019-2025 staged; engine EV curve and efficiency parameters.",</a:t>
            </a:r>
          </a:p>
          <a:p>
            <a:r>
              <a:t>      "gap": "Sales versus stock, segment scope, BEV/HEV distinction, survival, mileage and charging intervention.",</a:t>
            </a:r>
          </a:p>
          <a:p>
            <a:r>
              <a:t>      "action": "Calibrate uptake and fleet turnover; retain hybrids as fuel users with separate efficiency; define charging policy/investment lever.",</a:t>
            </a:r>
          </a:p>
          <a:p>
            <a:r>
              <a:t>      "closure_evidence": "Opening-fleet/cohort tie; drivetrain-specific L/100km; dated uptake alternatives and litres effect.",</a:t>
            </a:r>
          </a:p>
          <a:p>
            <a:r>
              <a:t>      "owner": "Manish; Nigel review",</a:t>
            </a:r>
          </a:p>
          <a:p>
            <a:r>
              <a:t>      "timing": "W1 levers; W2-W3 calibration",</a:t>
            </a:r>
          </a:p>
          <a:p>
            <a:r>
              <a:t>      "source_lead": "nev_sales_naamsa.csv; vehicles.yaml; official registration evidence",</a:t>
            </a:r>
          </a:p>
          <a:p>
            <a:r>
              <a:t>      "refresh_method": "Manual quarterly/annual data; reconcile drivetrain taxonomy and scope.",</a:t>
            </a:r>
          </a:p>
          <a:p>
            <a:r>
              <a:t>      "model_connection": "src/lfm/model/demand/vehicles.py::compute_country_annual and _ev_penetration.",</a:t>
            </a:r>
          </a:p>
          <a:p>
            <a:r>
              <a:t>      "priority": "P0",</a:t>
            </a:r>
          </a:p>
          <a:p>
            <a:r>
              <a:t>      "status": "Open; existing evidence does not establish closure"</a:t>
            </a:r>
          </a:p>
          <a:p>
            <a:r>
              <a:t>    },</a:t>
            </a:r>
          </a:p>
          <a:p>
            <a:r>
              <a:t>    {</a:t>
            </a:r>
          </a:p>
          <a:p>
            <a:r>
              <a:t>      "id": "SA08",</a:t>
            </a:r>
          </a:p>
          <a:p>
            <a:r>
              <a:t>      "story": "Situation / Complication",</a:t>
            </a:r>
          </a:p>
          <a:p>
            <a:r>
              <a:t>      "question": "GDP, fuel prices and kilometres travelled",</a:t>
            </a:r>
          </a:p>
          <a:p>
            <a:r>
              <a:t>      "existing_work": "Macro sources staged; price series 2011-2024-04; engine GDP/capita new-sales relationship.",</a:t>
            </a:r>
          </a:p>
          <a:p>
            <a:r>
              <a:t>      "gap": "Real-price basis, causal activity effect, elasticities and actual/forecast extension.",</a:t>
            </a:r>
          </a:p>
          <a:p>
            <a:r>
              <a:t>      "action": "Map GDP source into provider with population/base-price rules; propose price-to-km response separately from efficiency.",</a:t>
            </a:r>
          </a:p>
          <a:p>
            <a:r>
              <a:t>      "closure_evidence": "Explicit historical/forecast boundary and consuming function; calibrated sensitivity without duplicate activity reductions.",</a:t>
            </a:r>
          </a:p>
          <a:p>
            <a:r>
              <a:t>      "owner": "Manish; Nigel review",</a:t>
            </a:r>
          </a:p>
          <a:p>
            <a:r>
              <a:t>      "timing": "W1 mapping; W2-W3 validation",</a:t>
            </a:r>
          </a:p>
          <a:p>
            <a:r>
              <a:t>      "source_lead": "macro_statssa.csv; macro_worldbank.csv; gdp_growth_treasury.csv; fuel_prices_department.csv",</a:t>
            </a:r>
          </a:p>
          <a:p>
            <a:r>
              <a:t>      "refresh_method": "Stats SA/Treasury/DMPR manual downloads; World Bank API; independent vintage and freshness checks.",</a:t>
            </a:r>
          </a:p>
          <a:p>
            <a:r>
              <a:t>      "model_connection": "vehicles.py GDP new-sales path; no explicit fuel-price-to-mileage response.",</a:t>
            </a:r>
          </a:p>
          <a:p>
            <a:r>
              <a:t>      "priority": "P0",</a:t>
            </a:r>
          </a:p>
          <a:p>
            <a:r>
              <a:t>      "status": "Open; existing evidence does not establish closure"</a:t>
            </a:r>
          </a:p>
          <a:p>
            <a:r>
              <a:t>    },</a:t>
            </a:r>
          </a:p>
          <a:p>
            <a:r>
              <a:t>    {</a:t>
            </a:r>
          </a:p>
          <a:p>
            <a:r>
              <a:t>      "id": "SA09",</a:t>
            </a:r>
          </a:p>
          <a:p>
            <a:r>
              <a:t>      "story": "Situation / Complication",</a:t>
            </a:r>
          </a:p>
          <a:p>
            <a:r>
              <a:t>      "question": "Refinery closures, availability and SAPREF proposal",</a:t>
            </a:r>
          </a:p>
          <a:p>
            <a:r>
              <a:t>      "existing_work": "Pack page 8: published 2016\u20132025 capacity footprint plus conditional CEF 400k bpd case. Existing refinery keys/output/yields remain unresolved.",</a:t>
            </a:r>
          </a:p>
          <a:p>
            <a:r>
              <a:t>      "gap": "Current output/yields/status; dated closures/restarts; SAPREF project evidence; 558 extra refinery rows unresolved.",</a:t>
            </a:r>
          </a:p>
          <a:p>
            <a:r>
              <a:t>      "action": "Resolve repeated keys against original named ranges; build refinery-year status and output; treat proposals as conditional scenarios.",</a:t>
            </a:r>
          </a:p>
          <a:p>
            <a:r>
              <a:t>      "closure_evidence": "Unique country/year/scenario keys with source cells; actual/proposed distinction; per-refinery output tie and import sensitivity.",</a:t>
            </a:r>
          </a:p>
          <a:p>
            <a:r>
              <a:t>      "owner": "Manish; Nigel review; Henry challenge",</a:t>
            </a:r>
          </a:p>
          <a:p>
            <a:r>
              <a:t>      "timing": "W1 duplicates; W2-W3 scenarios",</a:t>
            </a:r>
          </a:p>
          <a:p>
            <a:r>
              <a:t>      "source_lead": "supply.yaml; refinery_production.csv; original workbook; primary operator/CEF/PetroSA reports",</a:t>
            </a:r>
          </a:p>
          <a:p>
            <a:r>
              <a:t>      "refresh_method": "Manual reports; refresh outages, restart, ownership or sanctioned-project changes.",</a:t>
            </a:r>
          </a:p>
          <a:p>
            <a:r>
              <a:t>      "model_connection": "src/lfm/model/supply/flows.py::compute_supply.",</a:t>
            </a:r>
          </a:p>
          <a:p>
            <a:r>
              <a:t>      "priority": "P0",</a:t>
            </a:r>
          </a:p>
          <a:p>
            <a:r>
              <a:t>      "status": "Open; existing evidence does not establish closure"</a:t>
            </a:r>
          </a:p>
          <a:p>
            <a:r>
              <a:t>    },</a:t>
            </a:r>
          </a:p>
          <a:p>
            <a:r>
              <a:t>    {</a:t>
            </a:r>
          </a:p>
          <a:p>
            <a:r>
              <a:t>      "id": "SA10",</a:t>
            </a:r>
          </a:p>
          <a:p>
            <a:r>
              <a:t>      "story": "Complication",</a:t>
            </a:r>
          </a:p>
          <a:p>
            <a:r>
              <a:t>      "question": "Secunda gas/MRG and Natref future",</a:t>
            </a:r>
          </a:p>
          <a:p>
            <a:r>
              <a:t>      "existing_work": "Generic Sasol/Natref capacities, yields and utilisation; no plant-level gas-liquid linkage.",</a:t>
            </a:r>
          </a:p>
          <a:p>
            <a:r>
              <a:t>      "gap": "MRG timing and causal liquid-fuel effect; Natref future not established; partner propositions untested.",</a:t>
            </a:r>
          </a:p>
          <a:p>
            <a:r>
              <a:t>      "action": "Check latest primary Sasol disclosures; technical reviewer specifies mechanism before any fuel-output change.",</a:t>
            </a:r>
          </a:p>
          <a:p>
            <a:r>
              <a:t>      "closure_evidence": "Documented plant-level mechanism and dated scenario; no gas-to-liquid displacement inferred without evidence.",</a:t>
            </a:r>
          </a:p>
          <a:p>
            <a:r>
              <a:t>      "owner": "Manish sources; Henry technical review; Nigel scenarios",</a:t>
            </a:r>
          </a:p>
          <a:p>
            <a:r>
              <a:t>      "timing": "W2-W3",</a:t>
            </a:r>
          </a:p>
          <a:p>
            <a:r>
              <a:t>      "source_lead": "https://www.sasol.com/sasol-suite-reports ; 2026 Sasol SEC 20-F",</a:t>
            </a:r>
          </a:p>
          <a:p>
            <a:r>
              <a:t>      "refresh_method": "Manual quarterly/annual operating guidance and plant/gas changes.",</a:t>
            </a:r>
          </a:p>
          <a:p>
            <a:r>
              <a:t>      "model_connection": "No gas-to-fuel mechanism; utilisation/yield changes need explicit sourced scenario.",</a:t>
            </a:r>
          </a:p>
          <a:p>
            <a:r>
              <a:t>      "priority": "P1",</a:t>
            </a:r>
          </a:p>
          <a:p>
            <a:r>
              <a:t>      "status": "Open; existing evidence does not establish closure"</a:t>
            </a:r>
          </a:p>
          <a:p>
            <a:r>
              <a:t>    },</a:t>
            </a:r>
          </a:p>
          <a:p>
            <a:r>
              <a:t>    {</a:t>
            </a:r>
          </a:p>
          <a:p>
            <a:r>
              <a:t>      "id": "SA11",</a:t>
            </a:r>
          </a:p>
          <a:p>
            <a:r>
              <a:t>      "story": "Complication",</a:t>
            </a:r>
          </a:p>
          <a:p>
            <a:r>
              <a:t>      "question": "Durban-NMPP-Lesedi versus road/rail, Matola and Walvis Bay",</a:t>
            </a:r>
          </a:p>
          <a:p>
            <a:r>
              <a:t>      "existing_work": "Pack page 10: schematic Southern Africa corridor map; page 9 illustrative road-cost surface. No matched full delivered-cost or fuel-access allocation.",</a:t>
            </a:r>
          </a:p>
          <a:p>
            <a:r>
              <a:t>      "gap": "Comparable route costs, NMPP capacity/tariff, actual rail service and cross-border feasibility.",</a:t>
            </a:r>
          </a:p>
          <a:p>
            <a:r>
              <a:t>      "action": "Choose first product/customer destination; compare full handling/transport/transfer cost, border/FX where relevant, same period and basis.",</a:t>
            </a:r>
          </a:p>
          <a:p>
            <a:r>
              <a:t>      "closure_evidence": "Comparable delivered R/litre with cost components, capacity/access limits and dated sources; no national optimisation claim.",</a:t>
            </a:r>
          </a:p>
          <a:p>
            <a:r>
              <a:t>      "owner": "Manish evidence; Nigel corridor choice; Henry review",</a:t>
            </a:r>
          </a:p>
          <a:p>
            <a:r>
              <a:t>      "timing": "W1 comparison contract; W2-W4 first route",</a:t>
            </a:r>
          </a:p>
          <a:p>
            <a:r>
              <a:t>      "source_lead": "Client tariffs/quotes; current pipeline, port, road/rail and border operator evidence",</a:t>
            </a:r>
          </a:p>
          <a:p>
            <a:r>
              <a:t>      "refresh_method": "Manual published tariffs and dated quotes; tariff-year, FX and access refresh.",</a:t>
            </a:r>
          </a:p>
          <a:p>
            <a:r>
              <a:t>      "model_connection": "No operational route allocation or delivered-cost engine.",</a:t>
            </a:r>
          </a:p>
          <a:p>
            <a:r>
              <a:t>      "priority": "P0",</a:t>
            </a:r>
          </a:p>
          <a:p>
            <a:r>
              <a:t>      "status": "Open; existing evidence does not establish closure"</a:t>
            </a:r>
          </a:p>
          <a:p>
            <a:r>
              <a:t>    },</a:t>
            </a:r>
          </a:p>
          <a:p>
            <a:r>
              <a:t>    {</a:t>
            </a:r>
          </a:p>
          <a:p>
            <a:r>
              <a:t>      "id": "SA12",</a:t>
            </a:r>
          </a:p>
          <a:p>
            <a:r>
              <a:t>      "story": "Resolution",</a:t>
            </a:r>
          </a:p>
          <a:p>
            <a:r>
              <a:t>      "question": "Vopak market share at Durban and Lesedi",</a:t>
            </a:r>
          </a:p>
          <a:p>
            <a:r>
              <a:t>      "existing_work": "Pack page 13: illustrative 3.0 / 4.5 / 8.5 bn L milestones and required conditions; sourced regional sales page 12. Actual client flows and share remain unknown.",</a:t>
            </a:r>
          </a:p>
          <a:p>
            <a:r>
              <a:t>      "gap": "Unique customer deliveries, receipts, shared transfers, destinations and matched period.",</a:t>
            </a:r>
          </a:p>
          <a:p>
            <a:r>
              <a:t>      "action": "Nigel requests client flow extract; Manish reconciles receipt/transfer/final-delivery records and counts final demand once.",</a:t>
            </a:r>
          </a:p>
          <a:p>
            <a:r>
              <a:t>      "closure_evidence": "Separate terminal throughput and unique served-demand shares; matched-year/product denominator; traceable records, no capacity-as-share.",</a:t>
            </a:r>
          </a:p>
          <a:p>
            <a:r>
              <a:t>      "owner": "Nigel client request; Manish reconciliation",</a:t>
            </a:r>
          </a:p>
          <a:p>
            <a:r>
              <a:t>      "timing": "W1 request/schema; W2+ on receipt",</a:t>
            </a:r>
          </a:p>
          <a:p>
            <a:r>
              <a:t>      "source_lead": "Vopak operational/customer data; public unique-throughput data not established",</a:t>
            </a:r>
          </a:p>
          <a:p>
            <a:r>
              <a:t>      "refresh_method": "Client-approved monthly/annual extract with product/destination coverage and transfer IDs.",</a:t>
            </a:r>
          </a:p>
          <a:p>
            <a:r>
              <a:t>      "model_connection": "Current p6 flow volumes illustrative; future shared flow contract.",</a:t>
            </a:r>
          </a:p>
          <a:p>
            <a:r>
              <a:t>      "priority": "P0",</a:t>
            </a:r>
          </a:p>
          <a:p>
            <a:r>
              <a:t>      "status": "Open; existing evidence does not establish closure"</a:t>
            </a:r>
          </a:p>
          <a:p>
            <a:r>
              <a:t>    },</a:t>
            </a:r>
          </a:p>
          <a:p>
            <a:r>
              <a:t>    {</a:t>
            </a:r>
          </a:p>
          <a:p>
            <a:r>
              <a:t>      "id": "SA13",</a:t>
            </a:r>
          </a:p>
          <a:p>
            <a:r>
              <a:t>      "story": "Resolution",</a:t>
            </a:r>
          </a:p>
          <a:p>
            <a:r>
              <a:t>      "question": "Additional commercially contestable market",</a:t>
            </a:r>
          </a:p>
          <a:p>
            <a:r>
              <a:t>      "existing_work": "Pack page 13: delivered-cost, physical-capacity, customer-rights and volume-accounting gates. All candidate increments remain unassessed.",</a:t>
            </a:r>
          </a:p>
          <a:p>
            <a:r>
              <a:t>      "gap": "Usable product-compatible tanks, spare routes, contracts, switching, customer overlap and Northern Cape inventory.",</a:t>
            </a:r>
          </a:p>
          <a:p>
            <a:r>
              <a:t>      "action": "Combine customer destinations with evidenced routes and rights; separate physical reach, commercial envelope and potential capture.",</a:t>
            </a:r>
          </a:p>
          <a:p>
            <a:r>
              <a:t>      "closure_evidence": "Accessible demand by product/region/period; explicit assumptions and unassessed residual; competitors volume is not automatically capturable.",</a:t>
            </a:r>
          </a:p>
          <a:p>
            <a:r>
              <a:t>      "owner": "Manish evidence; Nigel commercial review",</a:t>
            </a:r>
          </a:p>
          <a:p>
            <a:r>
              <a:t>      "timing": "W2-W4",</a:t>
            </a:r>
          </a:p>
          <a:p>
            <a:r>
              <a:t>      "source_lead": "Storage/competitor CSVs; NERSA licences; client contracts and operator notices",</a:t>
            </a:r>
          </a:p>
          <a:p>
            <a:r>
              <a:t>      "refresh_method": "Manual licences/notices; refresh contractual period, site changes and lease milestones.",</a:t>
            </a:r>
          </a:p>
          <a:p>
            <a:r>
              <a:t>      "model_connection": "No validated commercial customer-flow allocation.",</a:t>
            </a:r>
          </a:p>
          <a:p>
            <a:r>
              <a:t>      "priority": "P1",</a:t>
            </a:r>
          </a:p>
          <a:p>
            <a:r>
              <a:t>      "status": "Open; existing evidence does not establish closure"</a:t>
            </a:r>
          </a:p>
          <a:p>
            <a:r>
              <a:t>    },</a:t>
            </a:r>
          </a:p>
          <a:p>
            <a:r>
              <a:t>    {</a:t>
            </a:r>
          </a:p>
          <a:p>
            <a:r>
              <a:t>      "id": "SA14",</a:t>
            </a:r>
          </a:p>
          <a:p>
            <a:r>
              <a:t>      "story": "Resolution",</a:t>
            </a:r>
          </a:p>
          <a:p>
            <a:r>
              <a:t>      "question": "New storage and investment scope",</a:t>
            </a:r>
          </a:p>
          <a:p>
            <a:r>
              <a:t>      "existing_work": "Partial gross/lease stocks, without client handling/inventory profile.",</a:t>
            </a:r>
          </a:p>
          <a:p>
            <a:r>
              <a:t>      "gap": "Incremental accessible flows, turnover/peak inventory, product compatibility, cost and commercial return criteria.",</a:t>
            </a:r>
          </a:p>
          <a:p>
            <a:r>
              <a:t>      "action": "Establish flow/access case first; then test service requirements and a separately scoped investment case.",</a:t>
            </a:r>
          </a:p>
          <a:p>
            <a:r>
              <a:t>      "closure_evidence": "Throughput-to-usable-stock bridge with seasonality, inventory days and dispatch limits; downside sensitivity; no investment claim from import deficit alone.",</a:t>
            </a:r>
          </a:p>
          <a:p>
            <a:r>
              <a:t>      "owner": "Nigel commercial gate; Manish; Henry review",</a:t>
            </a:r>
          </a:p>
          <a:p>
            <a:r>
              <a:t>      "timing": "W4-W6 only if prioritised",</a:t>
            </a:r>
          </a:p>
          <a:p>
            <a:r>
              <a:t>      "source_lead": "Client service/stock profiles and scoped cost evidence",</a:t>
            </a:r>
          </a:p>
          <a:p>
            <a:r>
              <a:t>      "refresh_method": "Manual client data; refresh on demand/access case changes.",</a:t>
            </a:r>
          </a:p>
          <a:p>
            <a:r>
              <a:t>      "model_connection": "Detailed service sizing deferred; infrastructure secondary to fuel integration.",</a:t>
            </a:r>
          </a:p>
          <a:p>
            <a:r>
              <a:t>      "priority": "P2",</a:t>
            </a:r>
          </a:p>
          <a:p>
            <a:r>
              <a:t>      "status": "Open; existing evidence does not establish closure"</a:t>
            </a:r>
          </a:p>
          <a:p>
            <a:r>
              <a:t>    }</a:t>
            </a:r>
          </a:p>
          <a:p>
            <a:r>
              <a:t>  ]</a:t>
            </a:r>
          </a:p>
          <a:p>
            <a:r>
              <a:t>}</a:t>
            </a:r>
          </a:p>
          <a:p>
            <a:r>
              <a:t>SCR delivery order: page 2 of 16. Gap IDs and original evidence references retained in notes.</a:t>
            </a:r>
          </a:p>
          <a:p>
            <a:r>
              <a:t>Master SCR rows: [('S1\nSituation', 'Demand baseline and regional market\nHave: provincial sales history and map. Reconcile six flagged years; refresh a complete year.', 'Manish\nNigel review', 'W1–W2\nSourced demand baseline', [3, 4]), ('S2\nSituation', 'Domestic supply, finished imports and entry ports\nHave: 2024 sales/trade; diesel imports conflict. Gap: matched output/stocks and product-specific port allocation.', 'Manish\nNigel access', 'W1–W3\nFuel balance + port bridge', [5, 6]), ('C1\nComplication', 'Demand drivers and levers\nHave: indexed passenger/freight stocks, agriculture/industry, power and road/rail. Source ICE splits and intensities; calibrate litres effects.', 'Manish\nNigel review', 'W1 define; W2–W4 test\nLever-to-demand bridge', [7]), ('C2\nComplication', 'Refinery and plant scenarios\nHave: published capacity history and conditional CEF case. Agree timing/yields; resolve repeated keys and plant mechanisms.', 'Manish\nHenry / Nigel', 'W1–W3\nPlant output + imports', [8]), ('C3\nComplication', 'Economic accessibility and competing routes\nCost map is illustrative. Compare Durban–NMPP–Lesedi, road/rail, Matola and Walvis Bay for the same product and destination.', 'Manish\nNigel / Henry', 'W1 scope; W2–W4 test\nDelivered R/litre + access', [9, 10]), ('R1\nResolution', 'Actual Vopak share and contestable customer demand\nShare is unknown. Test each candidate increment against cost, physical capacity, commercial rights and unique deliveries.', 'Nigel client data\nManish analysis', 'W1 request; W2–W4 test\nServed + contestable litres', [11, 12, 13]), ('R2\nResolution', 'Storage and optional investment\nPartial published stocks are available. Verify usable product capacity; size additional service needs only after the incremental flow case.', 'Nigel priority\nManish / Henry', 'W4–W6 if prioritised\nFlow-to-stock / investment', [14, 15])]</a:t>
            </a:r>
          </a:p>
          <a:p>
            <a:r>
              <a:t>Slide links connect each roadmap row to its deep dives; the overview chevron provides the return link. No visible SCR breadcrumb.</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"SA03",</a:t>
            </a:r>
          </a:p>
          <a:p>
            <a:r>
              <a:t>    "story": "Situation",</a:t>
            </a:r>
          </a:p>
          <a:p>
            <a:r>
              <a:t>    "question": "Domestic production versus finished imports",</a:t>
            </a:r>
          </a:p>
          <a:p>
            <a:r>
              <a:t>    "existing_work": "Pack page 5: 2024 FIASA sales and government imports/exports collected; explicit diesel-import disagreement. Latest staged domestic production remains 2021.",</a:t>
            </a:r>
          </a:p>
          <a:p>
            <a:r>
              <a:t>    "gap": "Matched recent demand, output, imports, exports and stocks; actual provincial origin unavailable.",</a:t>
            </a:r>
          </a:p>
          <a:p>
            <a:r>
              <a:t>    "action": "Reconcile national petrol/diesel first; retain provincial origin as unknown without evidence; separate crude and finished products.",</a:t>
            </a:r>
          </a:p>
          <a:p>
            <a:r>
              <a:t>    "closure_evidence": "Production + imports - exports - stock build = consumption by fuel/year; unit/coverage bridge and residual explained.",</a:t>
            </a:r>
          </a:p>
          <a:p>
            <a:r>
              <a:t>    "owner": "Manish; Nigel review",</a:t>
            </a:r>
          </a:p>
          <a:p>
            <a:r>
              <a:t>    "timing": "W1 mapping; W2 historical balance",</a:t>
            </a:r>
          </a:p>
          <a:p>
            <a:r>
              <a:t>    "source_lead": "energy_balance_department.csv; DMPR commodity flow; SARS trade data",</a:t>
            </a:r>
          </a:p>
          <a:p>
            <a:r>
              <a:t>    "refresh_method": "Manual annual energy workbook and monthly customs download; preserve revisions.",</a:t>
            </a:r>
          </a:p>
          <a:p>
            <a:r>
              <a:t>    "model_connection": "src/lfm/model/supply/flows.py::compute_balance currently demand less supply; exports/stocks not explicit.",</a:t>
            </a:r>
          </a:p>
          <a:p>
            <a:r>
              <a:t>    "priority": "P0",</a:t>
            </a:r>
          </a:p>
          <a:p>
            <a:r>
              <a:t>    "status": "Open; existing evidence does not establish closure"</a:t>
            </a:r>
          </a:p>
          <a:p>
            <a:r>
              <a:t>  },</a:t>
            </a:r>
          </a:p>
          <a:p>
            <a:r>
              <a:t>  {</a:t>
            </a:r>
          </a:p>
          <a:p>
            <a:r>
              <a:t>    "id": "SA04",</a:t>
            </a:r>
          </a:p>
          <a:p>
            <a:r>
              <a:t>    "story": "Situation",</a:t>
            </a:r>
          </a:p>
          <a:p>
            <a:r>
              <a:t>    "question": "Import entry ports and origin",</a:t>
            </a:r>
          </a:p>
          <a:p>
            <a:r>
              <a:t>    "existing_work": "Pack page 5: national trade collected; TNPA liquid bulk is broader than petrol/diesel. Product-specific port allocation remains open.",</a:t>
            </a:r>
          </a:p>
          <a:p>
            <a:r>
              <a:t>    "gap": "Product-specific finished imports by port/year and source country; liquid bulk is not all fuel.",</a:t>
            </a:r>
          </a:p>
          <a:p>
            <a:r>
              <a:t>    "action": "Bridge SARS product/quantity data to TNPA port cargo; check port identifier availability and density conversion.",</a:t>
            </a:r>
          </a:p>
          <a:p>
            <a:r>
              <a:t>    "closure_evidence": "National finished imports tied to evidenced port allocations; unallocated remainder explicit.",</a:t>
            </a:r>
          </a:p>
          <a:p>
            <a:r>
              <a:t>    "owner": "Manish; Nigel source access",</a:t>
            </a:r>
          </a:p>
          <a:p>
            <a:r>
              <a:t>    "timing": "W2-W3",</a:t>
            </a:r>
          </a:p>
          <a:p>
            <a:r>
              <a:t>    "source_lead": "https://tools.sars.gov.za/tradestatsportal/data_download.aspx ; https://www.transnetnationalportsauthority.net/Commercial%20and%20Marketing/Pages/Port-Statistics.aspx",</a:t>
            </a:r>
          </a:p>
          <a:p>
            <a:r>
              <a:t>    "refresh_method": "Manual portal downloads; check HS coverage, revisions, tonnes/litres and crude/nonfuel exclusions.",</a:t>
            </a:r>
          </a:p>
          <a:p>
            <a:r>
              <a:t>    "model_connection": "No imported-volume allocation by port/destination in current engine.",</a:t>
            </a:r>
          </a:p>
          <a:p>
            <a:r>
              <a:t>    "priority": "P1",</a:t>
            </a:r>
          </a:p>
          <a:p>
            <a:r>
              <a:t>    "status": "Open; existing evidence does not establish closure"</a:t>
            </a:r>
          </a:p>
          <a:p>
            <a:r>
              <a:t>  }</a:t>
            </a:r>
          </a:p>
          <a:p>
            <a:r>
              <a:t>]</a:t>
            </a:r>
          </a:p>
          <a:p>
            <a:r>
              <a:t>SCR delivery order: page 5 of 16. Gap IDs and original evidence references retained in notes.</a:t>
            </a:r>
          </a:p>
          <a:p>
            <a:r>
              <a:t>{</a:t>
            </a:r>
          </a:p>
          <a:p>
            <a:r>
              <a:t>  "retrieved": "2026-10-06",</a:t>
            </a:r>
          </a:p>
          <a:p>
            <a:r>
              <a:t>  "status": "staged reporting evidence; unreviewed; not consumed by engine",</a:t>
            </a:r>
          </a:p>
          <a:p>
            <a:r>
              <a:t>  "sources": [</a:t>
            </a:r>
          </a:p>
          <a:p>
            <a:r>
              <a:t>    {</a:t>
            </a:r>
          </a:p>
          <a:p>
            <a:r>
              <a:t>      "file": "trade2024.pdf",</a:t>
            </a:r>
          </a:p>
          <a:p>
            <a:r>
              <a:t>      "url": "https://www.dmpr.gov.za/Portals/0/Resources/Publications/Reports/Energy%20Sector%20Reports/SA%20Energy%20Trade%20Report/2024-South-African-Energy-Trade-Report.pdf",</a:t>
            </a:r>
          </a:p>
          <a:p>
            <a:r>
              <a:t>      "status": 200,</a:t>
            </a:r>
          </a:p>
          <a:p>
            <a:r>
              <a:t>      "sha256": "ad2c612c95e5ff3db7ce8b8280b1d30ac7ce13173f7c95a5e1ded3025c2d157d",</a:t>
            </a:r>
          </a:p>
          <a:p>
            <a:r>
              <a:t>      "retrieved": "2026-10-06",</a:t>
            </a:r>
          </a:p>
          <a:p>
            <a:r>
              <a:t>      "bytes": 1737491</a:t>
            </a:r>
          </a:p>
          <a:p>
            <a:r>
              <a:t>    },</a:t>
            </a:r>
          </a:p>
          <a:p>
            <a:r>
              <a:t>    {</a:t>
            </a:r>
          </a:p>
          <a:p>
            <a:r>
              <a:t>      "file": "trade2025_preliminary.pdf",</a:t>
            </a:r>
          </a:p>
          <a:p>
            <a:r>
              <a:t>      "url": "https://www.dmpr.gov.za/Portals/0/Resources/Publications/Reports/Energy%20Sector%20Reports/SA%20Energy%20Trade%20Report/2025-South-African-Energy-Preliminary-Trade-Report.pdf",</a:t>
            </a:r>
          </a:p>
          <a:p>
            <a:r>
              <a:t>      "error": "HTTP Error 404: Not Found",</a:t>
            </a:r>
          </a:p>
          <a:p>
            <a:r>
              <a:t>      "retrieved": "2026-10-06"</a:t>
            </a:r>
          </a:p>
          <a:p>
            <a:r>
              <a:t>    },</a:t>
            </a:r>
          </a:p>
          <a:p>
            <a:r>
              <a:t>    {</a:t>
            </a:r>
          </a:p>
          <a:p>
            <a:r>
              <a:t>      "file": "sector2025_preliminary.pdf",</a:t>
            </a:r>
          </a:p>
          <a:p>
            <a:r>
              <a:t>      "url": "https://www.dmpr.gov.za/Portals/0/Resources/Publications/Reports/Energy%20Sector%20Reports/SA%20Energy%20Sector%20Report/2025-South-African-Energy-Sector-Preliminary-Report.pdf",</a:t>
            </a:r>
          </a:p>
          <a:p>
            <a:r>
              <a:t>      "error": "HTTP Error 404: Not Found",</a:t>
            </a:r>
          </a:p>
          <a:p>
            <a:r>
              <a:t>      "retrieved": "2026-10-06"</a:t>
            </a:r>
          </a:p>
          <a:p>
            <a:r>
              <a:t>    },</a:t>
            </a:r>
          </a:p>
          <a:p>
            <a:r>
              <a:t>    {</a:t>
            </a:r>
          </a:p>
          <a:p>
            <a:r>
              <a:t>      "file": "tnpa_mar2025.pdf",</a:t>
            </a:r>
          </a:p>
          <a:p>
            <a:r>
              <a:t>      "url": "https://www.transnetnationalportsauthority.net/Commercial%20and%20Marketing/Port%20Cargo%20Statistics/Cargo%20-%20MAR%202025.pdf",</a:t>
            </a:r>
          </a:p>
          <a:p>
            <a:r>
              <a:t>      "error": "&lt;urlopen error [WinError 10060] A connection attempt failed because the connected party did not properly respond after a period of time, or established connection failed because connected host has failed to respond&gt;",</a:t>
            </a:r>
          </a:p>
          <a:p>
            <a:r>
              <a:t>      "retrieved": "2026-10-06"</a:t>
            </a:r>
          </a:p>
          <a:p>
            <a:r>
              <a:t>    },</a:t>
            </a:r>
          </a:p>
          <a:p>
            <a:r>
              <a:t>    {</a:t>
            </a:r>
          </a:p>
          <a:p>
            <a:r>
              <a:t>      "file": "energy_balance_index.html",</a:t>
            </a:r>
          </a:p>
          <a:p>
            <a:r>
              <a:t>      "url": "https://www.dmpr.gov.za/Portals/0/Energy_Website/files/media/Energy_Balances.html",</a:t>
            </a:r>
          </a:p>
          <a:p>
            <a:r>
              <a:t>      "status": 200,</a:t>
            </a:r>
          </a:p>
          <a:p>
            <a:r>
              <a:t>      "sha256": "0ac165e3575eb6b1b9540f4cbdd27462455608eff07f8520ac72ab765de65e12",</a:t>
            </a:r>
          </a:p>
          <a:p>
            <a:r>
              <a:t>      "retrieved": "2026-10-06",</a:t>
            </a:r>
          </a:p>
          <a:p>
            <a:r>
              <a:t>      "bytes": 23560</a:t>
            </a:r>
          </a:p>
          <a:p>
            <a:r>
              <a:t>    },</a:t>
            </a:r>
          </a:p>
          <a:p>
            <a:r>
              <a:t>    {</a:t>
            </a:r>
          </a:p>
          <a:p>
            <a:r>
              <a:t>      "file": "cef_refinery_update.html",</a:t>
            </a:r>
          </a:p>
          <a:p>
            <a:r>
              <a:t>      "url": "https://cefgroup.co.za/2026/09/23/cef-group-presents-five-year-financial-performance-governance-outcomes-and-sanpc-development-progress-to-parliament/",</a:t>
            </a:r>
          </a:p>
          <a:p>
            <a:r>
              <a:t>      "status": 200,</a:t>
            </a:r>
          </a:p>
          <a:p>
            <a:r>
              <a:t>      "sha256": "7c7804cd3d80dddb666da1507106aa2b6dcf48316dbf3ee9244a32a34be475d5",</a:t>
            </a:r>
          </a:p>
          <a:p>
            <a:r>
              <a:t>      "retrieved": "2026-10-06",</a:t>
            </a:r>
          </a:p>
          <a:p>
            <a:r>
              <a:t>      "bytes": 236086</a:t>
            </a:r>
          </a:p>
          <a:p>
            <a:r>
              <a:t>    },</a:t>
            </a:r>
          </a:p>
          <a:p>
            <a:r>
              <a:t>    {</a:t>
            </a:r>
          </a:p>
          <a:p>
            <a:r>
              <a:t>      "file": "trade2025_preliminary.pdf",</a:t>
            </a:r>
          </a:p>
          <a:p>
            <a:r>
              <a:t>      "url": "https://www.dmre.gov.za/Portals/0/Resources/Publications/Reports/Energy%20Sector%20Reports/SA%20Energy%20Trade%20Report/2025-South-African-Energy-Preliminary-Trade-Report.pdf?ver=2mpclUkL_LUiTkST4yWRNw%3D%3D",</a:t>
            </a:r>
          </a:p>
          <a:p>
            <a:r>
              <a:t>      "error": "&lt;urlopen error [WinError 10060] A connection attempt failed because the connected party did not properly respond after a period of time, or established connection failed because connected host has failed to respond&gt;",</a:t>
            </a:r>
          </a:p>
          <a:p>
            <a:r>
              <a:t>      "retrieved": "2026-10-06"</a:t>
            </a:r>
          </a:p>
          <a:p>
            <a:r>
              <a:t>    },</a:t>
            </a:r>
          </a:p>
          <a:p>
            <a:r>
              <a:t>    {</a:t>
            </a:r>
          </a:p>
          <a:p>
            <a:r>
              <a:t>      "file": "sector2025_preliminary.pdf",</a:t>
            </a:r>
          </a:p>
          <a:p>
            <a:r>
              <a:t>      "url": "https://www.dmre.gov.za/Portals/0/Resources/Publications/Reports/Energy%20Sector%20Reports/SA%20Energy%20Sector%20Report/2025-South-African-Energy-Sector-Preliminary-Report.pdf?ver=vj8mIFbD608QxnJWxaV2xw%3D%3D",</a:t>
            </a:r>
          </a:p>
          <a:p>
            <a:r>
              <a:t>      "error": "&lt;urlopen error [WinError 10060] A connection attempt failed because the connected party did not properly respond after a period of time, or established connection failed because connected host has failed to respond&gt;",</a:t>
            </a:r>
          </a:p>
          <a:p>
            <a:r>
              <a:t>      "retrieved": "2026-10-06"</a:t>
            </a:r>
          </a:p>
          <a:p>
            <a:r>
              <a:t>    }</a:t>
            </a:r>
          </a:p>
          <a:p>
            <a:r>
              <a:t>  ],</a:t>
            </a:r>
          </a:p>
          <a:p>
            <a:r>
              <a:t>  "capacity_source": {</a:t>
            </a:r>
          </a:p>
          <a:p>
            <a:r>
              <a:t>    "file": "annual-report-2025.pdf",</a:t>
            </a:r>
          </a:p>
          <a:p>
            <a:r>
              <a:t>    "pdf_page": 49,</a:t>
            </a:r>
          </a:p>
          <a:p>
            <a:r>
              <a:t>    "index": "https://fuelsindustry.org.za/publications/annual-reports/",</a:t>
            </a:r>
          </a:p>
          <a:p>
            <a:r>
              <a:t>    "sha256": "a37e04143fd3e2eb672cd79d16c26e8b7a027171172b38d689949e6b0b502ef7"</a:t>
            </a:r>
          </a:p>
          <a:p>
            <a:r>
              <a:t>  },</a:t>
            </a:r>
          </a:p>
          <a:p>
            <a:r>
              <a:t>  "refresh": "Download the next government trade report and FIASA annual report; rerun this extractor. Source changes require deliberate register reconciliation.",</a:t>
            </a:r>
          </a:p>
          <a:p>
            <a:r>
              <a:t>  "limitations": [</a:t>
            </a:r>
          </a:p>
          <a:p>
            <a:r>
              <a:t>    "Trade values are rounded narrative figures.",</a:t>
            </a:r>
          </a:p>
          <a:p>
            <a:r>
              <a:t>    "Capacity table includes crude-equivalent synthetic plants and idle nameplate capacity; not actual production or usable annual capacity.",</a:t>
            </a:r>
          </a:p>
          <a:p>
            <a:r>
              <a:t>    "2024 source disagreement is retained; no adoption decision or validation inferred.",</a:t>
            </a:r>
          </a:p>
          <a:p>
            <a:r>
              <a:t>    "Official balance index ends at 2021; no recent complete production/export/stock reconciliation established.",</a:t>
            </a:r>
          </a:p>
          <a:p>
            <a:r>
              <a:t>    "2025 preliminary reports and TNPA raw PDF downloads failed in this collection; see manifest."</a:t>
            </a:r>
          </a:p>
          <a:p>
            <a:r>
              <a:t>  ]</a:t>
            </a:r>
          </a:p>
          <a:p>
            <a:r>
              <a:t>}</a:t>
            </a:r>
          </a:p>
          <a:p>
            <a:r>
              <a:t>Trade source flag: [['Product', 'Reported\nsales', 'Imports', 'Exports', 'Net imports'], ['Petrol', '9.029', '4.000', '0.920', '3.080'], ['Diesel', '11.734', '10.800', '0.790', '10.010'], ['Combined', '20.763', '14.800', '1.710', '13.090']]</a:t>
            </a:r>
          </a:p>
          <a:p>
            <a:r>
              <a:t>SCR master row S2; linked roadmap page 2. Deep-dive page 5.</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"SA05",</a:t>
            </a:r>
          </a:p>
          <a:p>
            <a:r>
              <a:t>    "story": "Situation / Complication",</a:t>
            </a:r>
          </a:p>
          <a:p>
            <a:r>
              <a:t>    "question": "Power-generation diesel and potential reversal",</a:t>
            </a:r>
          </a:p>
          <a:p>
            <a:r>
              <a:t>    "existing_work": "Eskom OCGT observations 2022-2026 staged; engine capacity/load factor/efficiency path.",</a:t>
            </a:r>
          </a:p>
          <a:p>
            <a:r>
              <a:t>    "gap": "Eskom/IPP coverage, fiscal/calendar alignment, fuel conversion and forecast dispatch. No loadshedding does not mean no OCGT diesel.",</a:t>
            </a:r>
          </a:p>
          <a:p>
            <a:r>
              <a:t>    "action": "Reconcile generation and fuel burn by plant set; calibrate dispatch alternatives; avoid additive double-counting.",</a:t>
            </a:r>
          </a:p>
          <a:p>
            <a:r>
              <a:t>    "closure_evidence": "Historical GWh-to-litres tie; baseline/alternative dispatch, units, dates and incremental demand effect.",</a:t>
            </a:r>
          </a:p>
          <a:p>
            <a:r>
              <a:t>    "owner": "Manish; Nigel review",</a:t>
            </a:r>
          </a:p>
          <a:p>
            <a:r>
              <a:t>    "timing": "W1 lever; W2-W3 calibration",</a:t>
            </a:r>
          </a:p>
          <a:p>
            <a:r>
              <a:t>    "source_lead": "ocgt_generation_eskom.csv; generation.yaml; primary Eskom operating reports",</a:t>
            </a:r>
          </a:p>
          <a:p>
            <a:r>
              <a:t>    "refresh_method": "Manual quarterly/annual operating reports; scope and period checks.",</a:t>
            </a:r>
          </a:p>
          <a:p>
            <a:r>
              <a:t>    "model_connection": "src/lfm/model/demand/generation.py::compute_country_annual.",</a:t>
            </a:r>
          </a:p>
          <a:p>
            <a:r>
              <a:t>    "priority": "P0",</a:t>
            </a:r>
          </a:p>
          <a:p>
            <a:r>
              <a:t>    "status": "Open; existing evidence does not establish closure"</a:t>
            </a:r>
          </a:p>
          <a:p>
            <a:r>
              <a:t>  },</a:t>
            </a:r>
          </a:p>
          <a:p>
            <a:r>
              <a:t>  {</a:t>
            </a:r>
          </a:p>
          <a:p>
            <a:r>
              <a:t>    "id": "SA06",</a:t>
            </a:r>
          </a:p>
          <a:p>
            <a:r>
              <a:t>    "story": "Situation / Complication",</a:t>
            </a:r>
          </a:p>
          <a:p>
            <a:r>
              <a:t>    "question": "Road-to-rail freight shift",</a:t>
            </a:r>
          </a:p>
          <a:p>
            <a:r>
              <a:t>    "existing_work": "Road vehicle cohort calculation and schematic rail context; no mode-shift source series found in current vintage.",</a:t>
            </a:r>
          </a:p>
          <a:p>
            <a:r>
              <a:t>    "gap": "Road/rail freight, tonne-km, distance, payload, empty running and feasible rail intervention.",</a:t>
            </a:r>
          </a:p>
          <a:p>
            <a:r>
              <a:t>    "action": "Use Stats SA P7162 and operator traffic evidence; distinguish tonnes/revenue/tonne-km; convert displaced truck work into diesel.",</a:t>
            </a:r>
          </a:p>
          <a:p>
            <a:r>
              <a:t>    "closure_evidence": "Specific intervention with baseline/alternative mode shares, dates and diesel-intensity bridge; no duplicate mileage reduction.",</a:t>
            </a:r>
          </a:p>
          <a:p>
            <a:r>
              <a:t>    "owner": "Manish; Nigel intervention; Henry review",</a:t>
            </a:r>
          </a:p>
          <a:p>
            <a:r>
              <a:t>    "timing": "W1 lever definition; W2-W4 integration",</a:t>
            </a:r>
          </a:p>
          <a:p>
            <a:r>
              <a:t>    "source_lead": "https://www.statssa.gov.za/?PPN=P7162&amp;SCH=74110&amp;page_id=1854 ; Transnet freight traffic/access evidence",</a:t>
            </a:r>
          </a:p>
          <a:p>
            <a:r>
              <a:t>    "refresh_method": "Manual monthly survey and annual operator reports; coverage/revision checks.",</a:t>
            </a:r>
          </a:p>
          <a:p>
            <a:r>
              <a:t>    "model_connection": "vehicles.py has no explicit rail-shift lever.",</a:t>
            </a:r>
          </a:p>
          <a:p>
            <a:r>
              <a:t>    "priority": "P0",</a:t>
            </a:r>
          </a:p>
          <a:p>
            <a:r>
              <a:t>    "status": "Open; existing evidence does not establish closure"</a:t>
            </a:r>
          </a:p>
          <a:p>
            <a:r>
              <a:t>  },</a:t>
            </a:r>
          </a:p>
          <a:p>
            <a:r>
              <a:t>  {</a:t>
            </a:r>
          </a:p>
          <a:p>
            <a:r>
              <a:t>    "id": "SA07",</a:t>
            </a:r>
          </a:p>
          <a:p>
            <a:r>
              <a:t>    "story": "Situation / Complication",</a:t>
            </a:r>
          </a:p>
          <a:p>
            <a:r>
              <a:t>    "question": "BEV, hybrid, efficiency and charging effects",</a:t>
            </a:r>
          </a:p>
          <a:p>
            <a:r>
              <a:t>    "existing_work": "Naamsa NEV sales 2019-2025 staged; engine EV curve and efficiency parameters.",</a:t>
            </a:r>
          </a:p>
          <a:p>
            <a:r>
              <a:t>    "gap": "Sales versus stock, segment scope, BEV/HEV distinction, survival, mileage and charging intervention.",</a:t>
            </a:r>
          </a:p>
          <a:p>
            <a:r>
              <a:t>    "action": "Calibrate uptake and fleet turnover; retain hybrids as fuel users with separate efficiency; define charging policy/investment lever.",</a:t>
            </a:r>
          </a:p>
          <a:p>
            <a:r>
              <a:t>    "closure_evidence": "Opening-fleet/cohort tie; drivetrain-specific L/100km; dated uptake alternatives and litres effect.",</a:t>
            </a:r>
          </a:p>
          <a:p>
            <a:r>
              <a:t>    "owner": "Manish; Nigel review",</a:t>
            </a:r>
          </a:p>
          <a:p>
            <a:r>
              <a:t>    "timing": "W1 levers; W2-W3 calibration",</a:t>
            </a:r>
          </a:p>
          <a:p>
            <a:r>
              <a:t>    "source_lead": "nev_sales_naamsa.csv; vehicles.yaml; official registration evidence",</a:t>
            </a:r>
          </a:p>
          <a:p>
            <a:r>
              <a:t>    "refresh_method": "Manual quarterly/annual data; reconcile drivetrain taxonomy and scope.",</a:t>
            </a:r>
          </a:p>
          <a:p>
            <a:r>
              <a:t>    "model_connection": "src/lfm/model/demand/vehicles.py::compute_country_annual and _ev_penetration.",</a:t>
            </a:r>
          </a:p>
          <a:p>
            <a:r>
              <a:t>    "priority": "P0",</a:t>
            </a:r>
          </a:p>
          <a:p>
            <a:r>
              <a:t>    "status": "Open; existing evidence does not establish closure"</a:t>
            </a:r>
          </a:p>
          <a:p>
            <a:r>
              <a:t>  },</a:t>
            </a:r>
          </a:p>
          <a:p>
            <a:r>
              <a:t>  {</a:t>
            </a:r>
          </a:p>
          <a:p>
            <a:r>
              <a:t>    "id": "SA08",</a:t>
            </a:r>
          </a:p>
          <a:p>
            <a:r>
              <a:t>    "story": "Situation / Complication",</a:t>
            </a:r>
          </a:p>
          <a:p>
            <a:r>
              <a:t>    "question": "GDP, fuel prices and kilometres travelled",</a:t>
            </a:r>
          </a:p>
          <a:p>
            <a:r>
              <a:t>    "existing_work": "Macro sources staged; price series 2011-2024-04; engine GDP/capita new-sales relationship.",</a:t>
            </a:r>
          </a:p>
          <a:p>
            <a:r>
              <a:t>    "gap": "Real-price basis, causal activity effect, elasticities and actual/forecast extension.",</a:t>
            </a:r>
          </a:p>
          <a:p>
            <a:r>
              <a:t>    "action": "Map GDP source into provider with population/base-price rules; propose price-to-km response separately from efficiency.",</a:t>
            </a:r>
          </a:p>
          <a:p>
            <a:r>
              <a:t>    "closure_evidence": "Explicit historical/forecast boundary and consuming function; calibrated sensitivity without duplicate activity reductions.",</a:t>
            </a:r>
          </a:p>
          <a:p>
            <a:r>
              <a:t>    "owner": "Manish; Nigel review",</a:t>
            </a:r>
          </a:p>
          <a:p>
            <a:r>
              <a:t>    "timing": "W1 mapping; W2-W3 validation",</a:t>
            </a:r>
          </a:p>
          <a:p>
            <a:r>
              <a:t>    "source_lead": "macro_statssa.csv; macro_worldbank.csv; gdp_growth_treasury.csv; fuel_prices_department.csv",</a:t>
            </a:r>
          </a:p>
          <a:p>
            <a:r>
              <a:t>    "refresh_method": "Stats SA/Treasury/DMPR manual downloads; World Bank API; independent vintage and freshness checks.",</a:t>
            </a:r>
          </a:p>
          <a:p>
            <a:r>
              <a:t>    "model_connection": "vehicles.py GDP new-sales path; no explicit fuel-price-to-mileage response.",</a:t>
            </a:r>
          </a:p>
          <a:p>
            <a:r>
              <a:t>    "priority": "P0",</a:t>
            </a:r>
          </a:p>
          <a:p>
            <a:r>
              <a:t>    "status": "Open; existing evidence does not establish closure"</a:t>
            </a:r>
          </a:p>
          <a:p>
            <a:r>
              <a:t>  }</a:t>
            </a:r>
          </a:p>
          <a:p>
            <a:r>
              <a:t>]</a:t>
            </a:r>
          </a:p>
          <a:p>
            <a:r>
              <a:t>SCR delivery order: page 7 of 16. Gap IDs and original evidence references retained in notes.</a:t>
            </a:r>
          </a:p>
          <a:p>
            <a:r>
              <a:t>{</a:t>
            </a:r>
          </a:p>
          <a:p>
            <a:r>
              <a:t>  "base_year": 2024,</a:t>
            </a:r>
          </a:p>
          <a:p>
            <a:r>
              <a:t>  "formula": "100 * observed value / own 2024 value",</a:t>
            </a:r>
          </a:p>
          <a:p>
            <a:r>
              <a:t>  "series": [</a:t>
            </a:r>
          </a:p>
          <a:p>
            <a:r>
              <a:t>    [</a:t>
            </a:r>
          </a:p>
          <a:p>
            <a:r>
              <a:t>      "Passenger stock | all fuels; Dec",</a:t>
            </a:r>
          </a:p>
          <a:p>
            <a:r>
              <a:t>      [</a:t>
            </a:r>
          </a:p>
          <a:p>
            <a:r>
              <a:t>        [</a:t>
            </a:r>
          </a:p>
          <a:p>
            <a:r>
              <a:t>          "Cars",</a:t>
            </a:r>
          </a:p>
          <a:p>
            <a:r>
              <a:t>          {</a:t>
            </a:r>
          </a:p>
          <a:p>
            <a:r>
              <a:t>            "2021": 7652077.0,</a:t>
            </a:r>
          </a:p>
          <a:p>
            <a:r>
              <a:t>            "2022": 7685153.0,</a:t>
            </a:r>
          </a:p>
          <a:p>
            <a:r>
              <a:t>            "2023": 7794164.0,</a:t>
            </a:r>
          </a:p>
          <a:p>
            <a:r>
              <a:t>            "2024": 7949275.0,</a:t>
            </a:r>
          </a:p>
          <a:p>
            <a:r>
              <a:t>            "2025": 8184111.0</a:t>
            </a:r>
          </a:p>
          <a:p>
            <a:r>
              <a:t>          }</a:t>
            </a:r>
          </a:p>
          <a:p>
            <a:r>
              <a:t>        ],</a:t>
            </a:r>
          </a:p>
          <a:p>
            <a:r>
              <a:t>        [</a:t>
            </a:r>
          </a:p>
          <a:p>
            <a:r>
              <a:t>          "Minibuses",</a:t>
            </a:r>
          </a:p>
          <a:p>
            <a:r>
              <a:t>          {</a:t>
            </a:r>
          </a:p>
          <a:p>
            <a:r>
              <a:t>            "2021": 349671.0,</a:t>
            </a:r>
          </a:p>
          <a:p>
            <a:r>
              <a:t>            "2022": 349335.0,</a:t>
            </a:r>
          </a:p>
          <a:p>
            <a:r>
              <a:t>            "2023": 355235.0,</a:t>
            </a:r>
          </a:p>
          <a:p>
            <a:r>
              <a:t>            "2024": 355139.0,</a:t>
            </a:r>
          </a:p>
          <a:p>
            <a:r>
              <a:t>            "2025": 355145.0</a:t>
            </a:r>
          </a:p>
          <a:p>
            <a:r>
              <a:t>          }</a:t>
            </a:r>
          </a:p>
          <a:p>
            <a:r>
              <a:t>        ]</a:t>
            </a:r>
          </a:p>
          <a:p>
            <a:r>
              <a:t>      ]</a:t>
            </a:r>
          </a:p>
          <a:p>
            <a:r>
              <a:t>    ],</a:t>
            </a:r>
          </a:p>
          <a:p>
            <a:r>
              <a:t>    [</a:t>
            </a:r>
          </a:p>
          <a:p>
            <a:r>
              <a:t>      "Freight stock | all fuels; Dec",</a:t>
            </a:r>
          </a:p>
          <a:p>
            <a:r>
              <a:t>      [</a:t>
            </a:r>
          </a:p>
          <a:p>
            <a:r>
              <a:t>        [</a:t>
            </a:r>
          </a:p>
          <a:p>
            <a:r>
              <a:t>          "Trucks",</a:t>
            </a:r>
          </a:p>
          <a:p>
            <a:r>
              <a:t>          {</a:t>
            </a:r>
          </a:p>
          <a:p>
            <a:r>
              <a:t>            "2021": 389112.0,</a:t>
            </a:r>
          </a:p>
          <a:p>
            <a:r>
              <a:t>            "2022": 385845.0,</a:t>
            </a:r>
          </a:p>
          <a:p>
            <a:r>
              <a:t>            "2023": 392349.0,</a:t>
            </a:r>
          </a:p>
          <a:p>
            <a:r>
              <a:t>            "2024": 398542.0,</a:t>
            </a:r>
          </a:p>
          <a:p>
            <a:r>
              <a:t>            "2025": 404752.0</a:t>
            </a:r>
          </a:p>
          <a:p>
            <a:r>
              <a:t>          }</a:t>
            </a:r>
          </a:p>
          <a:p>
            <a:r>
              <a:t>        ],</a:t>
            </a:r>
          </a:p>
          <a:p>
            <a:r>
              <a:t>        [</a:t>
            </a:r>
          </a:p>
          <a:p>
            <a:r>
              <a:t>          "Light commercial",</a:t>
            </a:r>
          </a:p>
          <a:p>
            <a:r>
              <a:t>          {</a:t>
            </a:r>
          </a:p>
          <a:p>
            <a:r>
              <a:t>            "2021": 2671314.0,</a:t>
            </a:r>
          </a:p>
          <a:p>
            <a:r>
              <a:t>            "2022": 2658416.0,</a:t>
            </a:r>
          </a:p>
          <a:p>
            <a:r>
              <a:t>            "2023": 2689310.0,</a:t>
            </a:r>
          </a:p>
          <a:p>
            <a:r>
              <a:t>            "2024": 2725606.0,</a:t>
            </a:r>
          </a:p>
          <a:p>
            <a:r>
              <a:t>            "2025": 2776258.0</a:t>
            </a:r>
          </a:p>
          <a:p>
            <a:r>
              <a:t>          }</a:t>
            </a:r>
          </a:p>
          <a:p>
            <a:r>
              <a:t>        ]</a:t>
            </a:r>
          </a:p>
          <a:p>
            <a:r>
              <a:t>      ]</a:t>
            </a:r>
          </a:p>
          <a:p>
            <a:r>
              <a:t>    ],</a:t>
            </a:r>
          </a:p>
          <a:p>
            <a:r>
              <a:t>    [</a:t>
            </a:r>
          </a:p>
          <a:p>
            <a:r>
              <a:t>      "Agriculture | real value added, CY",</a:t>
            </a:r>
          </a:p>
          <a:p>
            <a:r>
              <a:t>      [</a:t>
            </a:r>
          </a:p>
          <a:p>
            <a:r>
              <a:t>        [</a:t>
            </a:r>
          </a:p>
          <a:p>
            <a:r>
              <a:t>          "Agriculture / forestry / fishing",</a:t>
            </a:r>
          </a:p>
          <a:p>
            <a:r>
              <a:t>          {</a:t>
            </a:r>
          </a:p>
          <a:p>
            <a:r>
              <a:t>            "2019": 104784757699.11429,</a:t>
            </a:r>
          </a:p>
          <a:p>
            <a:r>
              <a:t>            "2020": 122870099075.34619,</a:t>
            </a:r>
          </a:p>
          <a:p>
            <a:r>
              <a:t>            "2021": 128983089561.3611,</a:t>
            </a:r>
          </a:p>
          <a:p>
            <a:r>
              <a:t>            "2022": 131770642145.0265,</a:t>
            </a:r>
          </a:p>
          <a:p>
            <a:r>
              <a:t>            "2023": 125746642145.02654,</a:t>
            </a:r>
          </a:p>
          <a:p>
            <a:r>
              <a:t>            "2024": 114791642145.02654,</a:t>
            </a:r>
          </a:p>
          <a:p>
            <a:r>
              <a:t>            "2025": 134796746981.71317</a:t>
            </a:r>
          </a:p>
          <a:p>
            <a:r>
              <a:t>          }</a:t>
            </a:r>
          </a:p>
          <a:p>
            <a:r>
              <a:t>        ]</a:t>
            </a:r>
          </a:p>
          <a:p>
            <a:r>
              <a:t>      ]</a:t>
            </a:r>
          </a:p>
          <a:p>
            <a:r>
              <a:t>    ],</a:t>
            </a:r>
          </a:p>
          <a:p>
            <a:r>
              <a:t>    [</a:t>
            </a:r>
          </a:p>
          <a:p>
            <a:r>
              <a:t>      "Industry | real value added, CY",</a:t>
            </a:r>
          </a:p>
          <a:p>
            <a:r>
              <a:t>      [</a:t>
            </a:r>
          </a:p>
          <a:p>
            <a:r>
              <a:t>        [</a:t>
            </a:r>
          </a:p>
          <a:p>
            <a:r>
              <a:t>          "Manufacturing",</a:t>
            </a:r>
          </a:p>
          <a:p>
            <a:r>
              <a:t>          {</a:t>
            </a:r>
          </a:p>
          <a:p>
            <a:r>
              <a:t>            "2019": 559321509886.0238,</a:t>
            </a:r>
          </a:p>
          <a:p>
            <a:r>
              <a:t>            "2020": 491446551169.8276,</a:t>
            </a:r>
          </a:p>
          <a:p>
            <a:r>
              <a:t>            "2021": 524904832402.9977,</a:t>
            </a:r>
          </a:p>
          <a:p>
            <a:r>
              <a:t>            "2022": 523090754064.8606,</a:t>
            </a:r>
          </a:p>
          <a:p>
            <a:r>
              <a:t>            "2023": 524993754064.86096,</a:t>
            </a:r>
          </a:p>
          <a:p>
            <a:r>
              <a:t>            "2024": 523150754064.86096,</a:t>
            </a:r>
          </a:p>
          <a:p>
            <a:r>
              <a:t>            "2025": 516985652975.0193</a:t>
            </a:r>
          </a:p>
          <a:p>
            <a:r>
              <a:t>          }</a:t>
            </a:r>
          </a:p>
          <a:p>
            <a:r>
              <a:t>        ],</a:t>
            </a:r>
          </a:p>
          <a:p>
            <a:r>
              <a:t>        [</a:t>
            </a:r>
          </a:p>
          <a:p>
            <a:r>
              <a:t>          "Mining",</a:t>
            </a:r>
          </a:p>
          <a:p>
            <a:r>
              <a:t>          {</a:t>
            </a:r>
          </a:p>
          <a:p>
            <a:r>
              <a:t>            "2019": 222100060478.9847,</a:t>
            </a:r>
          </a:p>
          <a:p>
            <a:r>
              <a:t>            "2020": 194984856273.23434,</a:t>
            </a:r>
          </a:p>
          <a:p>
            <a:r>
              <a:t>            "2021": 219635997902.62903,</a:t>
            </a:r>
          </a:p>
          <a:p>
            <a:r>
              <a:t>            "2022": 204452922719.6744,</a:t>
            </a:r>
          </a:p>
          <a:p>
            <a:r>
              <a:t>            "2023": 204228699966.27374,</a:t>
            </a:r>
          </a:p>
          <a:p>
            <a:r>
              <a:t>            "2024": 205125829591.8731,</a:t>
            </a:r>
          </a:p>
          <a:p>
            <a:r>
              <a:t>            "2025": 205464886014.25735</a:t>
            </a:r>
          </a:p>
          <a:p>
            <a:r>
              <a:t>          }</a:t>
            </a:r>
          </a:p>
          <a:p>
            <a:r>
              <a:t>        ]</a:t>
            </a:r>
          </a:p>
          <a:p>
            <a:r>
              <a:t>      ]</a:t>
            </a:r>
          </a:p>
          <a:p>
            <a:r>
              <a:t>    ],</a:t>
            </a:r>
          </a:p>
          <a:p>
            <a:r>
              <a:t>    [</a:t>
            </a:r>
          </a:p>
          <a:p>
            <a:r>
              <a:t>      "Power | OCGT generation, FY",</a:t>
            </a:r>
          </a:p>
          <a:p>
            <a:r>
              <a:t>      [</a:t>
            </a:r>
          </a:p>
          <a:p>
            <a:r>
              <a:t>        [</a:t>
            </a:r>
          </a:p>
          <a:p>
            <a:r>
              <a:t>          "Eskom + IPP",</a:t>
            </a:r>
          </a:p>
          <a:p>
            <a:r>
              <a:t>          {</a:t>
            </a:r>
          </a:p>
          <a:p>
            <a:r>
              <a:t>            "2023": 4116.0,</a:t>
            </a:r>
          </a:p>
          <a:p>
            <a:r>
              <a:t>            "2024": 5143.0,</a:t>
            </a:r>
          </a:p>
          <a:p>
            <a:r>
              <a:t>            "2025": 2838.0,</a:t>
            </a:r>
          </a:p>
          <a:p>
            <a:r>
              <a:t>            "2026": 1079.0</a:t>
            </a:r>
          </a:p>
          <a:p>
            <a:r>
              <a:t>          }</a:t>
            </a:r>
          </a:p>
          <a:p>
            <a:r>
              <a:t>        ]</a:t>
            </a:r>
          </a:p>
          <a:p>
            <a:r>
              <a:t>      ]</a:t>
            </a:r>
          </a:p>
          <a:p>
            <a:r>
              <a:t>    ],</a:t>
            </a:r>
          </a:p>
          <a:p>
            <a:r>
              <a:t>    [</a:t>
            </a:r>
          </a:p>
          <a:p>
            <a:r>
              <a:t>      "Freight activity | payload, CY",</a:t>
            </a:r>
          </a:p>
          <a:p>
            <a:r>
              <a:t>      [</a:t>
            </a:r>
          </a:p>
          <a:p>
            <a:r>
              <a:t>        [</a:t>
            </a:r>
          </a:p>
          <a:p>
            <a:r>
              <a:t>          "Road",</a:t>
            </a:r>
          </a:p>
          <a:p>
            <a:r>
              <a:t>          {</a:t>
            </a:r>
          </a:p>
          <a:p>
            <a:r>
              <a:t>            "2024": 979798.0,</a:t>
            </a:r>
          </a:p>
          <a:p>
            <a:r>
              <a:t>            "2025": 976468.0</a:t>
            </a:r>
          </a:p>
          <a:p>
            <a:r>
              <a:t>          }</a:t>
            </a:r>
          </a:p>
          <a:p>
            <a:r>
              <a:t>        ],</a:t>
            </a:r>
          </a:p>
          <a:p>
            <a:r>
              <a:t>        [</a:t>
            </a:r>
          </a:p>
          <a:p>
            <a:r>
              <a:t>          "Rail",</a:t>
            </a:r>
          </a:p>
          <a:p>
            <a:r>
              <a:t>          {</a:t>
            </a:r>
          </a:p>
          <a:p>
            <a:r>
              <a:t>            "2024": 160745.0,</a:t>
            </a:r>
          </a:p>
          <a:p>
            <a:r>
              <a:t>            "2025": 168263.0</a:t>
            </a:r>
          </a:p>
          <a:p>
            <a:r>
              <a:t>          }</a:t>
            </a:r>
          </a:p>
          <a:p>
            <a:r>
              <a:t>        ]</a:t>
            </a:r>
          </a:p>
          <a:p>
            <a:r>
              <a:t>      ]</a:t>
            </a:r>
          </a:p>
          <a:p>
            <a:r>
              <a:t>    ]</a:t>
            </a:r>
          </a:p>
          <a:p>
            <a:r>
              <a:t>  ],</a:t>
            </a:r>
          </a:p>
          <a:p>
            <a:r>
              <a:t>  "status": "descriptive evidence; not causal contributions or forecast demand",</a:t>
            </a:r>
          </a:p>
          <a:p>
            <a:r>
              <a:t>  "price": "Annual extract stops 2023; no 2024 base available. Diesel prices are wholesale, petrol retail; no real-price elasticity calibrated.",</a:t>
            </a:r>
          </a:p>
          <a:p>
            <a:r>
              <a:t>  "freight_revision": {</a:t>
            </a:r>
          </a:p>
          <a:p>
            <a:r>
              <a:t>    "retrieved": "2026-10-06",</a:t>
            </a:r>
          </a:p>
          <a:p>
            <a:r>
              <a:t>    "status": "staged reporting; no diesel displacement inferred",</a:t>
            </a:r>
          </a:p>
          <a:p>
            <a:r>
              <a:t>    "refresh": "Download next P7162 December report; rerun extractor and compare overlapping years before adoption.",</a:t>
            </a:r>
          </a:p>
          <a:p>
            <a:r>
              <a:t>    "sources": [</a:t>
            </a:r>
          </a:p>
          <a:p>
            <a:r>
              <a:t>      {</a:t>
            </a:r>
          </a:p>
          <a:p>
            <a:r>
              <a:t>        "file": "P7162December2024.pdf",</a:t>
            </a:r>
          </a:p>
          <a:p>
            <a:r>
              <a:t>        "url": "https://www.statssa.gov.za/publications/P7162/P7162December2024.pdf",</a:t>
            </a:r>
          </a:p>
          <a:p>
            <a:r>
              <a:t>        "sha256": "ba0941c72c8f84b5dfbd2799e73b053ca45b421009c03eb286dbaaa9f271d9a6"</a:t>
            </a:r>
          </a:p>
          <a:p>
            <a:r>
              <a:t>      },</a:t>
            </a:r>
          </a:p>
          <a:p>
            <a:r>
              <a:t>      {</a:t>
            </a:r>
          </a:p>
          <a:p>
            <a:r>
              <a:t>        "file": "P7162December2025.pdf",</a:t>
            </a:r>
          </a:p>
          <a:p>
            <a:r>
              <a:t>        "url": "https://www.statssa.gov.za/publications/P7162/P7162December2025.pdf",</a:t>
            </a:r>
          </a:p>
          <a:p>
            <a:r>
              <a:t>        "sha256": "d6285729813c880a13582c9cda057c8f3c4c8ce0fe5788a93c84747dd33bcf51"</a:t>
            </a:r>
          </a:p>
          <a:p>
            <a:r>
              <a:t>      }</a:t>
            </a:r>
          </a:p>
          <a:p>
            <a:r>
              <a:t>    ],</a:t>
            </a:r>
          </a:p>
          <a:p>
            <a:r>
              <a:t>    "overlap_2024": [</a:t>
            </a:r>
          </a:p>
          <a:p>
            <a:r>
              <a:t>      {</a:t>
            </a:r>
          </a:p>
          <a:p>
            <a:r>
              <a:t>        "mode": "rail",</a:t>
            </a:r>
          </a:p>
          <a:p>
            <a:r>
              <a:t>        "old_value": 160993,</a:t>
            </a:r>
          </a:p>
          <a:p>
            <a:r>
              <a:t>        "new_value": 160745,</a:t>
            </a:r>
          </a:p>
          <a:p>
            <a:r>
              <a:t>        "delta": -248,</a:t>
            </a:r>
          </a:p>
          <a:p>
            <a:r>
              <a:t>        "status": "source revision; do not splice vintages"</a:t>
            </a:r>
          </a:p>
          <a:p>
            <a:r>
              <a:t>      },</a:t>
            </a:r>
          </a:p>
          <a:p>
            <a:r>
              <a:t>      {</a:t>
            </a:r>
          </a:p>
          <a:p>
            <a:r>
              <a:t>        "mode": "road",</a:t>
            </a:r>
          </a:p>
          <a:p>
            <a:r>
              <a:t>        "old_value": 790611,</a:t>
            </a:r>
          </a:p>
          <a:p>
            <a:r>
              <a:t>        "new_value": 979798,</a:t>
            </a:r>
          </a:p>
          <a:p>
            <a:r>
              <a:t>        "delta": 189187,</a:t>
            </a:r>
          </a:p>
          <a:p>
            <a:r>
              <a:t>        "status": "source revision; do not splice vintages"</a:t>
            </a:r>
          </a:p>
          <a:p>
            <a:r>
              <a:t>      }</a:t>
            </a:r>
          </a:p>
          <a:p>
            <a:r>
              <a:t>    ]</a:t>
            </a:r>
          </a:p>
          <a:p>
            <a:r>
              <a:t>  },</a:t>
            </a:r>
          </a:p>
          <a:p>
            <a:r>
              <a:t>  "fleet": "BEV, plug-in hybrid and conventional-hybrid new sales shown separately; stocks, survival, mileage and efficiency not inferred. Uptake chart uses 0\u2013400 to include the PHEV increase; six activity charts use 0\u2013120.",</a:t>
            </a:r>
          </a:p>
          <a:p>
            <a:r>
              <a:t>  "vehicle_stock_scope": "NaTIS all-fuel national December snapshots. Cars/minibuses do not cover buses/motorcycles; trucks/light-commercial do not establish diesel-only freight usage. No ICE mix or fuel demand is inferred.",</a:t>
            </a:r>
          </a:p>
          <a:p>
            <a:r>
              <a:t>  "sector_scope": "Real gross value added: agriculture includes forestry/fishing; industry shows manufacturing and mining separately, not all industrial fuel consumption.",</a:t>
            </a:r>
          </a:p>
          <a:p>
            <a:r>
              <a:t>  "power_change_percent": -79.02002722146607,</a:t>
            </a:r>
          </a:p>
          <a:p>
            <a:r>
              <a:t>  "uptake_observations": {</a:t>
            </a:r>
          </a:p>
          <a:p>
            <a:r>
              <a:t>    "BEV_new_sales": {</a:t>
            </a:r>
          </a:p>
          <a:p>
            <a:r>
              <a:t>      "2019": 154.0,</a:t>
            </a:r>
          </a:p>
          <a:p>
            <a:r>
              <a:t>      "2020": 92.0,</a:t>
            </a:r>
          </a:p>
          <a:p>
            <a:r>
              <a:t>      "2021": 218.0,</a:t>
            </a:r>
          </a:p>
          <a:p>
            <a:r>
              <a:t>      "2022": 502.0,</a:t>
            </a:r>
          </a:p>
          <a:p>
            <a:r>
              <a:t>      "2023": 929.0,</a:t>
            </a:r>
          </a:p>
          <a:p>
            <a:r>
              <a:t>      "2024": 1257.0,</a:t>
            </a:r>
          </a:p>
          <a:p>
            <a:r>
              <a:t>      "2025": 1088.0</a:t>
            </a:r>
          </a:p>
          <a:p>
            <a:r>
              <a:t>    },</a:t>
            </a:r>
          </a:p>
          <a:p>
            <a:r>
              <a:t>    "plug_in_hybrid_new_sales": {</a:t>
            </a:r>
          </a:p>
          <a:p>
            <a:r>
              <a:t>      "2019": 72.0,</a:t>
            </a:r>
          </a:p>
          <a:p>
            <a:r>
              <a:t>      "2020": 77.0,</a:t>
            </a:r>
          </a:p>
          <a:p>
            <a:r>
              <a:t>      "2021": 51.0,</a:t>
            </a:r>
          </a:p>
          <a:p>
            <a:r>
              <a:t>      "2022": 122.0,</a:t>
            </a:r>
          </a:p>
          <a:p>
            <a:r>
              <a:t>      "2023": 368.0,</a:t>
            </a:r>
          </a:p>
          <a:p>
            <a:r>
              <a:t>      "2024": 738.0,</a:t>
            </a:r>
          </a:p>
          <a:p>
            <a:r>
              <a:t>      "2025": 2810.0</a:t>
            </a:r>
          </a:p>
          <a:p>
            <a:r>
              <a:t>    },</a:t>
            </a:r>
          </a:p>
          <a:p>
            <a:r>
              <a:t>    "conventional_hybrid_new_sales": {</a:t>
            </a:r>
          </a:p>
          <a:p>
            <a:r>
              <a:t>      "2019": 181.0,</a:t>
            </a:r>
          </a:p>
          <a:p>
            <a:r>
              <a:t>      "2020": 155.0,</a:t>
            </a:r>
          </a:p>
          <a:p>
            <a:r>
              <a:t>      "2021": 627.0,</a:t>
            </a:r>
          </a:p>
          <a:p>
            <a:r>
              <a:t>      "2022": 4070.0,</a:t>
            </a:r>
          </a:p>
          <a:p>
            <a:r>
              <a:t>      "2023": 6485.0,</a:t>
            </a:r>
          </a:p>
          <a:p>
            <a:r>
              <a:t>      "2024": 13616.0,</a:t>
            </a:r>
          </a:p>
          <a:p>
            <a:r>
              <a:t>      "2025": 12818.0</a:t>
            </a:r>
          </a:p>
          <a:p>
            <a:r>
              <a:t>    }</a:t>
            </a:r>
          </a:p>
          <a:p>
            <a:r>
              <a:t>  },</a:t>
            </a:r>
          </a:p>
          <a:p>
            <a:r>
              <a:t>  "sector_changes_percent": {</a:t>
            </a:r>
          </a:p>
          <a:p>
            <a:r>
              <a:t>    "agriculture": 17.427318281075202,</a:t>
            </a:r>
          </a:p>
          <a:p>
            <a:r>
              <a:t>    "manufacturing": -1.1784559310942484</a:t>
            </a:r>
          </a:p>
          <a:p>
            <a:r>
              <a:t>  },</a:t>
            </a:r>
          </a:p>
          <a:p>
            <a:r>
              <a:t>  "freight_changes_percent": {</a:t>
            </a:r>
          </a:p>
          <a:p>
            <a:r>
              <a:t>    "rail": 4.676972845189575,</a:t>
            </a:r>
          </a:p>
          <a:p>
            <a:r>
              <a:t>    "road": -0.3398659723738984</a:t>
            </a:r>
          </a:p>
          <a:p>
            <a:r>
              <a:t>  }</a:t>
            </a:r>
          </a:p>
          <a:p>
            <a:r>
              <a:t>}</a:t>
            </a:r>
          </a:p>
          <a:p>
            <a:r>
              <a:t>SCR master row C1; linked roadmap page 2. Deep-dive page 7.</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"SA09",</a:t>
            </a:r>
          </a:p>
          <a:p>
            <a:r>
              <a:t>    "story": "Situation / Complication",</a:t>
            </a:r>
          </a:p>
          <a:p>
            <a:r>
              <a:t>    "question": "Refinery closures, availability and SAPREF proposal",</a:t>
            </a:r>
          </a:p>
          <a:p>
            <a:r>
              <a:t>    "existing_work": "Pack page 8: published 2016\u20132025 capacity footprint plus conditional CEF 400k bpd case. Existing refinery keys/output/yields remain unresolved.",</a:t>
            </a:r>
          </a:p>
          <a:p>
            <a:r>
              <a:t>    "gap": "Current output/yields/status; dated closures/restarts; SAPREF project evidence; 558 extra refinery rows unresolved.",</a:t>
            </a:r>
          </a:p>
          <a:p>
            <a:r>
              <a:t>    "action": "Resolve repeated keys against original named ranges; build refinery-year status and output; treat proposals as conditional scenarios.",</a:t>
            </a:r>
          </a:p>
          <a:p>
            <a:r>
              <a:t>    "closure_evidence": "Unique country/year/scenario keys with source cells; actual/proposed distinction; per-refinery output tie and import sensitivity.",</a:t>
            </a:r>
          </a:p>
          <a:p>
            <a:r>
              <a:t>    "owner": "Manish; Nigel review; Henry challenge",</a:t>
            </a:r>
          </a:p>
          <a:p>
            <a:r>
              <a:t>    "timing": "W1 duplicates; W2-W3 scenarios",</a:t>
            </a:r>
          </a:p>
          <a:p>
            <a:r>
              <a:t>    "source_lead": "supply.yaml; refinery_production.csv; original workbook; primary operator/CEF/PetroSA reports",</a:t>
            </a:r>
          </a:p>
          <a:p>
            <a:r>
              <a:t>    "refresh_method": "Manual reports; refresh outages, restart, ownership or sanctioned-project changes.",</a:t>
            </a:r>
          </a:p>
          <a:p>
            <a:r>
              <a:t>    "model_connection": "src/lfm/model/supply/flows.py::compute_supply.",</a:t>
            </a:r>
          </a:p>
          <a:p>
            <a:r>
              <a:t>    "priority": "P0",</a:t>
            </a:r>
          </a:p>
          <a:p>
            <a:r>
              <a:t>    "status": "Open; existing evidence does not establish closure"</a:t>
            </a:r>
          </a:p>
          <a:p>
            <a:r>
              <a:t>  },</a:t>
            </a:r>
          </a:p>
          <a:p>
            <a:r>
              <a:t>  {</a:t>
            </a:r>
          </a:p>
          <a:p>
            <a:r>
              <a:t>    "id": "SA10",</a:t>
            </a:r>
          </a:p>
          <a:p>
            <a:r>
              <a:t>    "story": "Complication",</a:t>
            </a:r>
          </a:p>
          <a:p>
            <a:r>
              <a:t>    "question": "Secunda gas/MRG and Natref future",</a:t>
            </a:r>
          </a:p>
          <a:p>
            <a:r>
              <a:t>    "existing_work": "Generic Sasol/Natref capacities, yields and utilisation; no plant-level gas-liquid linkage.",</a:t>
            </a:r>
          </a:p>
          <a:p>
            <a:r>
              <a:t>    "gap": "MRG timing and causal liquid-fuel effect; Natref future not established; partner propositions untested.",</a:t>
            </a:r>
          </a:p>
          <a:p>
            <a:r>
              <a:t>    "action": "Check latest primary Sasol disclosures; technical reviewer specifies mechanism before any fuel-output change.",</a:t>
            </a:r>
          </a:p>
          <a:p>
            <a:r>
              <a:t>    "closure_evidence": "Documented plant-level mechanism and dated scenario; no gas-to-liquid displacement inferred without evidence.",</a:t>
            </a:r>
          </a:p>
          <a:p>
            <a:r>
              <a:t>    "owner": "Manish sources; Henry technical review; Nigel scenarios",</a:t>
            </a:r>
          </a:p>
          <a:p>
            <a:r>
              <a:t>    "timing": "W2-W3",</a:t>
            </a:r>
          </a:p>
          <a:p>
            <a:r>
              <a:t>    "source_lead": "https://www.sasol.com/sasol-suite-reports ; 2026 Sasol SEC 20-F",</a:t>
            </a:r>
          </a:p>
          <a:p>
            <a:r>
              <a:t>    "refresh_method": "Manual quarterly/annual operating guidance and plant/gas changes.",</a:t>
            </a:r>
          </a:p>
          <a:p>
            <a:r>
              <a:t>    "model_connection": "No gas-to-fuel mechanism; utilisation/yield changes need explicit sourced scenario.",</a:t>
            </a:r>
          </a:p>
          <a:p>
            <a:r>
              <a:t>    "priority": "P1",</a:t>
            </a:r>
          </a:p>
          <a:p>
            <a:r>
              <a:t>    "status": "Open; existing evidence does not establish closure"</a:t>
            </a:r>
          </a:p>
          <a:p>
            <a:r>
              <a:t>  }</a:t>
            </a:r>
          </a:p>
          <a:p>
            <a:r>
              <a:t>]</a:t>
            </a:r>
          </a:p>
          <a:p>
            <a:r>
              <a:t>SCR delivery order: page 8 of 16. Gap IDs and original evidence references retained in notes.</a:t>
            </a:r>
          </a:p>
          <a:p>
            <a:r>
              <a:t>Capacity series: {2016: 718.0, 2017: 718.0, 2018: 718.0, 2019: 718.0, 2020: 718.0, 2021: 538.0, 2022: 358.0, 2023: 358.0, 2024: 358.0, 2025: 358.0}</a:t>
            </a:r>
          </a:p>
          <a:p>
            <a:r>
              <a:t>Illustrative assumptions: {"start_year": 2026, "horizon_year": 2036, "illustrative_fid_year": 2029, "construction_months": 48, "proposed_addition_bpd": 400000}</a:t>
            </a:r>
          </a:p>
          <a:p>
            <a:r>
              <a:t>CEF proposal is not FID or a committed restart. FIASA Enref 135k differs from workbook/Engen 120k; no engine parameter changed.</a:t>
            </a:r>
          </a:p>
          <a:p>
            <a:r>
              <a:t>SCR master row C2; linked roadmap page 2. Deep-dive page 8.</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"SA11",</a:t>
            </a:r>
          </a:p>
          <a:p>
            <a:r>
              <a:t>    "story": "Complication",</a:t>
            </a:r>
          </a:p>
          <a:p>
            <a:r>
              <a:t>    "question": "Durban-NMPP-Lesedi versus road/rail, Matola and Walvis Bay",</a:t>
            </a:r>
          </a:p>
          <a:p>
            <a:r>
              <a:t>    "existing_work": "Pack page 10: schematic Southern Africa corridor map; page 9 illustrative road-cost surface. No matched full delivered-cost or fuel-access allocation.",</a:t>
            </a:r>
          </a:p>
          <a:p>
            <a:r>
              <a:t>    "gap": "Comparable route costs, NMPP capacity/tariff, actual rail service and cross-border feasibility.",</a:t>
            </a:r>
          </a:p>
          <a:p>
            <a:r>
              <a:t>    "action": "Choose first product/customer destination; compare full handling/transport/transfer cost, border/FX where relevant, same period and basis.",</a:t>
            </a:r>
          </a:p>
          <a:p>
            <a:r>
              <a:t>    "closure_evidence": "Comparable delivered R/litre with cost components, capacity/access limits and dated sources; no national optimisation claim.",</a:t>
            </a:r>
          </a:p>
          <a:p>
            <a:r>
              <a:t>    "owner": "Manish evidence; Nigel corridor choice; Henry review",</a:t>
            </a:r>
          </a:p>
          <a:p>
            <a:r>
              <a:t>    "timing": "W1 comparison contract; W2-W4 first route",</a:t>
            </a:r>
          </a:p>
          <a:p>
            <a:r>
              <a:t>    "source_lead": "Client tariffs/quotes; current pipeline, port, road/rail and border operator evidence",</a:t>
            </a:r>
          </a:p>
          <a:p>
            <a:r>
              <a:t>    "refresh_method": "Manual published tariffs and dated quotes; tariff-year, FX and access refresh.",</a:t>
            </a:r>
          </a:p>
          <a:p>
            <a:r>
              <a:t>    "model_connection": "No operational route allocation or delivered-cost engine.",</a:t>
            </a:r>
          </a:p>
          <a:p>
            <a:r>
              <a:t>    "priority": "P0",</a:t>
            </a:r>
          </a:p>
          <a:p>
            <a:r>
              <a:t>    "status": "Open; existing evidence does not establish closure"</a:t>
            </a:r>
          </a:p>
          <a:p>
            <a:r>
              <a:t>  }</a:t>
            </a:r>
          </a:p>
          <a:p>
            <a:r>
              <a:t>]</a:t>
            </a:r>
          </a:p>
          <a:p>
            <a:r>
              <a:t>SCR delivery order: page 10 of 16. Gap IDs and original evidence references retained in notes.</a:t>
            </a:r>
          </a:p>
          <a:p>
            <a:r>
              <a:t>{</a:t>
            </a:r>
          </a:p>
          <a:p>
            <a:r>
              <a:t>  "status": "Geographic explanation; schematic candidate corridors, not validated fuel routes or catchments",</a:t>
            </a:r>
          </a:p>
          <a:p>
            <a:r>
              <a:t>  "projection": "+proj=laea +lat_0=-27 +lon_0=24 +datum=WGS84 +units=m +no_defs",</a:t>
            </a:r>
          </a:p>
          <a:p>
            <a:r>
              <a:t>  "extent": [</a:t>
            </a:r>
          </a:p>
          <a:p>
            <a:r>
              <a:t>    12.5,</a:t>
            </a:r>
          </a:p>
          <a:p>
            <a:r>
              <a:t>    -35.5,</a:t>
            </a:r>
          </a:p>
          <a:p>
            <a:r>
              <a:t>    35.5,</a:t>
            </a:r>
          </a:p>
          <a:p>
            <a:r>
              <a:t>    -17.0</a:t>
            </a:r>
          </a:p>
          <a:p>
            <a:r>
              <a:t>  ],</a:t>
            </a:r>
          </a:p>
          <a:p>
            <a:r>
              <a:t>  "sources": [</a:t>
            </a:r>
          </a:p>
          <a:p>
            <a:r>
              <a:t>    "https://www.wbcg.com.na/trans-kalahari-corridor/",</a:t>
            </a:r>
          </a:p>
          <a:p>
            <a:r>
              <a:t>    "https://tracn4.co.za/about-history/",</a:t>
            </a:r>
          </a:p>
          <a:p>
            <a:r>
              <a:t>    "Kickoff appendix: Durban-NMPP-Lesedi schematic"</a:t>
            </a:r>
          </a:p>
          <a:p>
            <a:r>
              <a:t>  ],</a:t>
            </a:r>
          </a:p>
          <a:p>
            <a:r>
              <a:t>  "points": {</a:t>
            </a:r>
          </a:p>
          <a:p>
            <a:r>
              <a:t>    "Walvis Bay": [</a:t>
            </a:r>
          </a:p>
          <a:p>
            <a:r>
              <a:t>      14.505,</a:t>
            </a:r>
          </a:p>
          <a:p>
            <a:r>
              <a:t>      -22.95</a:t>
            </a:r>
          </a:p>
          <a:p>
            <a:r>
              <a:t>    ],</a:t>
            </a:r>
          </a:p>
          <a:p>
            <a:r>
              <a:t>    "Windhoek": [</a:t>
            </a:r>
          </a:p>
          <a:p>
            <a:r>
              <a:t>      17.08,</a:t>
            </a:r>
          </a:p>
          <a:p>
            <a:r>
              <a:t>      -22.57</a:t>
            </a:r>
          </a:p>
          <a:p>
            <a:r>
              <a:t>    ],</a:t>
            </a:r>
          </a:p>
          <a:p>
            <a:r>
              <a:t>    "Gaborone": [</a:t>
            </a:r>
          </a:p>
          <a:p>
            <a:r>
              <a:t>      25.91,</a:t>
            </a:r>
          </a:p>
          <a:p>
            <a:r>
              <a:t>      -24.65</a:t>
            </a:r>
          </a:p>
          <a:p>
            <a:r>
              <a:t>    ],</a:t>
            </a:r>
          </a:p>
          <a:p>
            <a:r>
              <a:t>    "Matola / Maputo": [</a:t>
            </a:r>
          </a:p>
          <a:p>
            <a:r>
              <a:t>      32.47,</a:t>
            </a:r>
          </a:p>
          <a:p>
            <a:r>
              <a:t>      -25.96</a:t>
            </a:r>
          </a:p>
          <a:p>
            <a:r>
              <a:t>    ],</a:t>
            </a:r>
          </a:p>
          <a:p>
            <a:r>
              <a:t>    "Mbombela": [</a:t>
            </a:r>
          </a:p>
          <a:p>
            <a:r>
              <a:t>      30.99,</a:t>
            </a:r>
          </a:p>
          <a:p>
            <a:r>
              <a:t>      -25.47</a:t>
            </a:r>
          </a:p>
          <a:p>
            <a:r>
              <a:t>    ],</a:t>
            </a:r>
          </a:p>
          <a:p>
            <a:r>
              <a:t>    "Gauteng": [</a:t>
            </a:r>
          </a:p>
          <a:p>
            <a:r>
              <a:t>      28.04,</a:t>
            </a:r>
          </a:p>
          <a:p>
            <a:r>
              <a:t>      -26.2</a:t>
            </a:r>
          </a:p>
          <a:p>
            <a:r>
              <a:t>    ],</a:t>
            </a:r>
          </a:p>
          <a:p>
            <a:r>
              <a:t>    "Lesedi*": [</a:t>
            </a:r>
          </a:p>
          <a:p>
            <a:r>
              <a:t>      28.39,</a:t>
            </a:r>
          </a:p>
          <a:p>
            <a:r>
              <a:t>      -26.44</a:t>
            </a:r>
          </a:p>
          <a:p>
            <a:r>
              <a:t>    ],</a:t>
            </a:r>
          </a:p>
          <a:p>
            <a:r>
              <a:t>    "Durban": [</a:t>
            </a:r>
          </a:p>
          <a:p>
            <a:r>
              <a:t>      31.03,</a:t>
            </a:r>
          </a:p>
          <a:p>
            <a:r>
              <a:t>      -29.88</a:t>
            </a:r>
          </a:p>
          <a:p>
            <a:r>
              <a:t>    ],</a:t>
            </a:r>
          </a:p>
          <a:p>
            <a:r>
              <a:t>    "Komatipoort": [</a:t>
            </a:r>
          </a:p>
          <a:p>
            <a:r>
              <a:t>      31.95,</a:t>
            </a:r>
          </a:p>
          <a:p>
            <a:r>
              <a:t>      -25.44</a:t>
            </a:r>
          </a:p>
          <a:p>
            <a:r>
              <a:t>    ],</a:t>
            </a:r>
          </a:p>
          <a:p>
            <a:r>
              <a:t>    "Rustenburg": [</a:t>
            </a:r>
          </a:p>
          <a:p>
            <a:r>
              <a:t>      27.24,</a:t>
            </a:r>
          </a:p>
          <a:p>
            <a:r>
              <a:t>      -25.67</a:t>
            </a:r>
          </a:p>
          <a:p>
            <a:r>
              <a:t>    ]</a:t>
            </a:r>
          </a:p>
          <a:p>
            <a:r>
              <a:t>  },</a:t>
            </a:r>
          </a:p>
          <a:p>
            <a:r>
              <a:t>  "routes": [</a:t>
            </a:r>
          </a:p>
          <a:p>
            <a:r>
              <a:t>    {</a:t>
            </a:r>
          </a:p>
          <a:p>
            <a:r>
              <a:t>      "name": "Walvis: Trans-Kalahari candidate",</a:t>
            </a:r>
          </a:p>
          <a:p>
            <a:r>
              <a:t>      "style": "west",</a:t>
            </a:r>
          </a:p>
          <a:p>
            <a:r>
              <a:t>      "waypoints": [</a:t>
            </a:r>
          </a:p>
          <a:p>
            <a:r>
              <a:t>        [</a:t>
            </a:r>
          </a:p>
          <a:p>
            <a:r>
              <a:t>          14.505,</a:t>
            </a:r>
          </a:p>
          <a:p>
            <a:r>
              <a:t>          -22.95</a:t>
            </a:r>
          </a:p>
          <a:p>
            <a:r>
              <a:t>        ],</a:t>
            </a:r>
          </a:p>
          <a:p>
            <a:r>
              <a:t>        [</a:t>
            </a:r>
          </a:p>
          <a:p>
            <a:r>
              <a:t>          17.08,</a:t>
            </a:r>
          </a:p>
          <a:p>
            <a:r>
              <a:t>          -22.57</a:t>
            </a:r>
          </a:p>
          <a:p>
            <a:r>
              <a:t>        ],</a:t>
            </a:r>
          </a:p>
          <a:p>
            <a:r>
              <a:t>        [</a:t>
            </a:r>
          </a:p>
          <a:p>
            <a:r>
              <a:t>          18.97,</a:t>
            </a:r>
          </a:p>
          <a:p>
            <a:r>
              <a:t>          -22.45</a:t>
            </a:r>
          </a:p>
          <a:p>
            <a:r>
              <a:t>        ],</a:t>
            </a:r>
          </a:p>
          <a:p>
            <a:r>
              <a:t>        [</a:t>
            </a:r>
          </a:p>
          <a:p>
            <a:r>
              <a:t>          21.65,</a:t>
            </a:r>
          </a:p>
          <a:p>
            <a:r>
              <a:t>          -21.7</a:t>
            </a:r>
          </a:p>
          <a:p>
            <a:r>
              <a:t>        ],</a:t>
            </a:r>
          </a:p>
          <a:p>
            <a:r>
              <a:t>        [</a:t>
            </a:r>
          </a:p>
          <a:p>
            <a:r>
              <a:t>          23.96,</a:t>
            </a:r>
          </a:p>
          <a:p>
            <a:r>
              <a:t>          -24.4</a:t>
            </a:r>
          </a:p>
          <a:p>
            <a:r>
              <a:t>        ],</a:t>
            </a:r>
          </a:p>
          <a:p>
            <a:r>
              <a:t>        [</a:t>
            </a:r>
          </a:p>
          <a:p>
            <a:r>
              <a:t>          25.91,</a:t>
            </a:r>
          </a:p>
          <a:p>
            <a:r>
              <a:t>          -24.65</a:t>
            </a:r>
          </a:p>
          <a:p>
            <a:r>
              <a:t>        ],</a:t>
            </a:r>
          </a:p>
          <a:p>
            <a:r>
              <a:t>        [</a:t>
            </a:r>
          </a:p>
          <a:p>
            <a:r>
              <a:t>          25.7,</a:t>
            </a:r>
          </a:p>
          <a:p>
            <a:r>
              <a:t>          -25.25</a:t>
            </a:r>
          </a:p>
          <a:p>
            <a:r>
              <a:t>        ],</a:t>
            </a:r>
          </a:p>
          <a:p>
            <a:r>
              <a:t>        [</a:t>
            </a:r>
          </a:p>
          <a:p>
            <a:r>
              <a:t>          27.24,</a:t>
            </a:r>
          </a:p>
          <a:p>
            <a:r>
              <a:t>          -25.67</a:t>
            </a:r>
          </a:p>
          <a:p>
            <a:r>
              <a:t>        ],</a:t>
            </a:r>
          </a:p>
          <a:p>
            <a:r>
              <a:t>        [</a:t>
            </a:r>
          </a:p>
          <a:p>
            <a:r>
              <a:t>          28.04,</a:t>
            </a:r>
          </a:p>
          <a:p>
            <a:r>
              <a:t>          -26.2</a:t>
            </a:r>
          </a:p>
          <a:p>
            <a:r>
              <a:t>        ]</a:t>
            </a:r>
          </a:p>
          <a:p>
            <a:r>
              <a:t>      ]</a:t>
            </a:r>
          </a:p>
          <a:p>
            <a:r>
              <a:t>    },</a:t>
            </a:r>
          </a:p>
          <a:p>
            <a:r>
              <a:t>    {</a:t>
            </a:r>
          </a:p>
          <a:p>
            <a:r>
              <a:t>      "name": "Matola: N4 candidate",</a:t>
            </a:r>
          </a:p>
          <a:p>
            <a:r>
              <a:t>      "style": "east",</a:t>
            </a:r>
          </a:p>
          <a:p>
            <a:r>
              <a:t>      "waypoints": [</a:t>
            </a:r>
          </a:p>
          <a:p>
            <a:r>
              <a:t>        [</a:t>
            </a:r>
          </a:p>
          <a:p>
            <a:r>
              <a:t>          32.47,</a:t>
            </a:r>
          </a:p>
          <a:p>
            <a:r>
              <a:t>          -25.96</a:t>
            </a:r>
          </a:p>
          <a:p>
            <a:r>
              <a:t>        ],</a:t>
            </a:r>
          </a:p>
          <a:p>
            <a:r>
              <a:t>        [</a:t>
            </a:r>
          </a:p>
          <a:p>
            <a:r>
              <a:t>          31.95,</a:t>
            </a:r>
          </a:p>
          <a:p>
            <a:r>
              <a:t>          -25.44</a:t>
            </a:r>
          </a:p>
          <a:p>
            <a:r>
              <a:t>        ],</a:t>
            </a:r>
          </a:p>
          <a:p>
            <a:r>
              <a:t>        [</a:t>
            </a:r>
          </a:p>
          <a:p>
            <a:r>
              <a:t>          30.99,</a:t>
            </a:r>
          </a:p>
          <a:p>
            <a:r>
              <a:t>          -25.47</a:t>
            </a:r>
          </a:p>
          <a:p>
            <a:r>
              <a:t>        ],</a:t>
            </a:r>
          </a:p>
          <a:p>
            <a:r>
              <a:t>        [</a:t>
            </a:r>
          </a:p>
          <a:p>
            <a:r>
              <a:t>          29.24,</a:t>
            </a:r>
          </a:p>
          <a:p>
            <a:r>
              <a:t>          -25.87</a:t>
            </a:r>
          </a:p>
          <a:p>
            <a:r>
              <a:t>        ],</a:t>
            </a:r>
          </a:p>
          <a:p>
            <a:r>
              <a:t>        [</a:t>
            </a:r>
          </a:p>
          <a:p>
            <a:r>
              <a:t>          28.04,</a:t>
            </a:r>
          </a:p>
          <a:p>
            <a:r>
              <a:t>          -26.2</a:t>
            </a:r>
          </a:p>
          <a:p>
            <a:r>
              <a:t>        ]</a:t>
            </a:r>
          </a:p>
          <a:p>
            <a:r>
              <a:t>      ]</a:t>
            </a:r>
          </a:p>
          <a:p>
            <a:r>
              <a:t>    },</a:t>
            </a:r>
          </a:p>
          <a:p>
            <a:r>
              <a:t>    {</a:t>
            </a:r>
          </a:p>
          <a:p>
            <a:r>
              <a:t>      "name": "Durban: N3 / inland link",</a:t>
            </a:r>
          </a:p>
          <a:p>
            <a:r>
              <a:t>      "style": "vopak",</a:t>
            </a:r>
          </a:p>
          <a:p>
            <a:r>
              <a:t>      "waypoints": [</a:t>
            </a:r>
          </a:p>
          <a:p>
            <a:r>
              <a:t>        [</a:t>
            </a:r>
          </a:p>
          <a:p>
            <a:r>
              <a:t>          31.03,</a:t>
            </a:r>
          </a:p>
          <a:p>
            <a:r>
              <a:t>          -29.88</a:t>
            </a:r>
          </a:p>
          <a:p>
            <a:r>
              <a:t>        ],</a:t>
            </a:r>
          </a:p>
          <a:p>
            <a:r>
              <a:t>        [</a:t>
            </a:r>
          </a:p>
          <a:p>
            <a:r>
              <a:t>          29.6,</a:t>
            </a:r>
          </a:p>
          <a:p>
            <a:r>
              <a:t>          -29.6</a:t>
            </a:r>
          </a:p>
          <a:p>
            <a:r>
              <a:t>        ],</a:t>
            </a:r>
          </a:p>
          <a:p>
            <a:r>
              <a:t>        [</a:t>
            </a:r>
          </a:p>
          <a:p>
            <a:r>
              <a:t>          29.79,</a:t>
            </a:r>
          </a:p>
          <a:p>
            <a:r>
              <a:t>          -28.54</a:t>
            </a:r>
          </a:p>
          <a:p>
            <a:r>
              <a:t>        ],</a:t>
            </a:r>
          </a:p>
          <a:p>
            <a:r>
              <a:t>        [</a:t>
            </a:r>
          </a:p>
          <a:p>
            <a:r>
              <a:t>          28.98,</a:t>
            </a:r>
          </a:p>
          <a:p>
            <a:r>
              <a:t>          -28.27</a:t>
            </a:r>
          </a:p>
          <a:p>
            <a:r>
              <a:t>        ],</a:t>
            </a:r>
          </a:p>
          <a:p>
            <a:r>
              <a:t>        [</a:t>
            </a:r>
          </a:p>
          <a:p>
            <a:r>
              <a:t>          28.39,</a:t>
            </a:r>
          </a:p>
          <a:p>
            <a:r>
              <a:t>          -26.44</a:t>
            </a:r>
          </a:p>
          <a:p>
            <a:r>
              <a:t>        ],</a:t>
            </a:r>
          </a:p>
          <a:p>
            <a:r>
              <a:t>        [</a:t>
            </a:r>
          </a:p>
          <a:p>
            <a:r>
              <a:t>          28.04,</a:t>
            </a:r>
          </a:p>
          <a:p>
            <a:r>
              <a:t>          -26.2</a:t>
            </a:r>
          </a:p>
          <a:p>
            <a:r>
              <a:t>        ]</a:t>
            </a:r>
          </a:p>
          <a:p>
            <a:r>
              <a:t>      ]</a:t>
            </a:r>
          </a:p>
          <a:p>
            <a:r>
              <a:t>    },</a:t>
            </a:r>
          </a:p>
          <a:p>
            <a:r>
              <a:t>    {</a:t>
            </a:r>
          </a:p>
          <a:p>
            <a:r>
              <a:t>      "name": "Durban: NMPP schematic",</a:t>
            </a:r>
          </a:p>
          <a:p>
            <a:r>
              <a:t>      "style": "pipe",</a:t>
            </a:r>
          </a:p>
          <a:p>
            <a:r>
              <a:t>      "waypoints": [</a:t>
            </a:r>
          </a:p>
          <a:p>
            <a:r>
              <a:t>        [</a:t>
            </a:r>
          </a:p>
          <a:p>
            <a:r>
              <a:t>          31.03,</a:t>
            </a:r>
          </a:p>
          <a:p>
            <a:r>
              <a:t>          -29.88</a:t>
            </a:r>
          </a:p>
          <a:p>
            <a:r>
              <a:t>        ],</a:t>
            </a:r>
          </a:p>
          <a:p>
            <a:r>
              <a:t>        [</a:t>
            </a:r>
          </a:p>
          <a:p>
            <a:r>
              <a:t>          29.9,</a:t>
            </a:r>
          </a:p>
          <a:p>
            <a:r>
              <a:t>          -29.45</a:t>
            </a:r>
          </a:p>
          <a:p>
            <a:r>
              <a:t>        ],</a:t>
            </a:r>
          </a:p>
          <a:p>
            <a:r>
              <a:t>        [</a:t>
            </a:r>
          </a:p>
          <a:p>
            <a:r>
              <a:t>          29.8,</a:t>
            </a:r>
          </a:p>
          <a:p>
            <a:r>
              <a:t>          -28.5</a:t>
            </a:r>
          </a:p>
          <a:p>
            <a:r>
              <a:t>        ],</a:t>
            </a:r>
          </a:p>
          <a:p>
            <a:r>
              <a:t>        [</a:t>
            </a:r>
          </a:p>
          <a:p>
            <a:r>
              <a:t>          28.7,</a:t>
            </a:r>
          </a:p>
          <a:p>
            <a:r>
              <a:t>          -27.2</a:t>
            </a:r>
          </a:p>
          <a:p>
            <a:r>
              <a:t>        ],</a:t>
            </a:r>
          </a:p>
          <a:p>
            <a:r>
              <a:t>        [</a:t>
            </a:r>
          </a:p>
          <a:p>
            <a:r>
              <a:t>          28.39,</a:t>
            </a:r>
          </a:p>
          <a:p>
            <a:r>
              <a:t>          -26.44</a:t>
            </a:r>
          </a:p>
          <a:p>
            <a:r>
              <a:t>        ]</a:t>
            </a:r>
          </a:p>
          <a:p>
            <a:r>
              <a:t>      ]</a:t>
            </a:r>
          </a:p>
          <a:p>
            <a:r>
              <a:t>    }</a:t>
            </a:r>
          </a:p>
          <a:p>
            <a:r>
              <a:t>  ],</a:t>
            </a:r>
          </a:p>
          <a:p>
            <a:r>
              <a:t>  "limitations": "Named-place coordinates and line geometry are approximate authored cartography. No shortest-path distances, route tariff, pipeline allocation, rail service, border permit or customer right is inferred. Walvis is a comparator for selected inland destinations, not an established Vopak catchment. Matola fuel-compatible receipt and dispatch still need verification."</a:t>
            </a:r>
          </a:p>
          <a:p>
            <a:r>
              <a:t>}</a:t>
            </a:r>
          </a:p>
          <a:p>
            <a:r>
              <a:t>SCR master row C3; linked roadmap page 2. Deep-dive page 10.</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"SA12",</a:t>
            </a:r>
          </a:p>
          <a:p>
            <a:r>
              <a:t>    "story": "Resolution",</a:t>
            </a:r>
          </a:p>
          <a:p>
            <a:r>
              <a:t>    "question": "Vopak market share at Durban and Lesedi",</a:t>
            </a:r>
          </a:p>
          <a:p>
            <a:r>
              <a:t>    "existing_work": "Pack page 13: illustrative 3.0 / 4.5 / 8.5 bn L milestones and required conditions; sourced regional sales page 12. Actual client flows and share remain unknown.",</a:t>
            </a:r>
          </a:p>
          <a:p>
            <a:r>
              <a:t>    "gap": "Unique customer deliveries, receipts, shared transfers, destinations and matched period.",</a:t>
            </a:r>
          </a:p>
          <a:p>
            <a:r>
              <a:t>    "action": "Nigel requests client flow extract; Manish reconciles receipt/transfer/final-delivery records and counts final demand once.",</a:t>
            </a:r>
          </a:p>
          <a:p>
            <a:r>
              <a:t>    "closure_evidence": "Separate terminal throughput and unique served-demand shares; matched-year/product denominator; traceable records, no capacity-as-share.",</a:t>
            </a:r>
          </a:p>
          <a:p>
            <a:r>
              <a:t>    "owner": "Nigel client request; Manish reconciliation",</a:t>
            </a:r>
          </a:p>
          <a:p>
            <a:r>
              <a:t>    "timing": "W1 request/schema; W2+ on receipt",</a:t>
            </a:r>
          </a:p>
          <a:p>
            <a:r>
              <a:t>    "source_lead": "Vopak operational/customer data; public unique-throughput data not established",</a:t>
            </a:r>
          </a:p>
          <a:p>
            <a:r>
              <a:t>    "refresh_method": "Client-approved monthly/annual extract with product/destination coverage and transfer IDs.",</a:t>
            </a:r>
          </a:p>
          <a:p>
            <a:r>
              <a:t>    "model_connection": "Current p6 flow volumes illustrative; future shared flow contract.",</a:t>
            </a:r>
          </a:p>
          <a:p>
            <a:r>
              <a:t>    "priority": "P0",</a:t>
            </a:r>
          </a:p>
          <a:p>
            <a:r>
              <a:t>    "status": "Open; existing evidence does not establish closure"</a:t>
            </a:r>
          </a:p>
          <a:p>
            <a:r>
              <a:t>  },</a:t>
            </a:r>
          </a:p>
          <a:p>
            <a:r>
              <a:t>  {</a:t>
            </a:r>
          </a:p>
          <a:p>
            <a:r>
              <a:t>    "id": "SA13",</a:t>
            </a:r>
          </a:p>
          <a:p>
            <a:r>
              <a:t>    "story": "Resolution",</a:t>
            </a:r>
          </a:p>
          <a:p>
            <a:r>
              <a:t>    "question": "Additional commercially contestable market",</a:t>
            </a:r>
          </a:p>
          <a:p>
            <a:r>
              <a:t>    "existing_work": "Pack page 13: delivered-cost, physical-capacity, customer-rights and volume-accounting gates. All candidate increments remain unassessed.",</a:t>
            </a:r>
          </a:p>
          <a:p>
            <a:r>
              <a:t>    "gap": "Usable product-compatible tanks, spare routes, contracts, switching, customer overlap and Northern Cape inventory.",</a:t>
            </a:r>
          </a:p>
          <a:p>
            <a:r>
              <a:t>    "action": "Combine customer destinations with evidenced routes and rights; separate physical reach, commercial envelope and potential capture.",</a:t>
            </a:r>
          </a:p>
          <a:p>
            <a:r>
              <a:t>    "closure_evidence": "Accessible demand by product/region/period; explicit assumptions and unassessed residual; competitors volume is not automatically capturable.",</a:t>
            </a:r>
          </a:p>
          <a:p>
            <a:r>
              <a:t>    "owner": "Manish evidence; Nigel commercial review",</a:t>
            </a:r>
          </a:p>
          <a:p>
            <a:r>
              <a:t>    "timing": "W2-W4",</a:t>
            </a:r>
          </a:p>
          <a:p>
            <a:r>
              <a:t>    "source_lead": "Storage/competitor CSVs; NERSA licences; client contracts and operator notices",</a:t>
            </a:r>
          </a:p>
          <a:p>
            <a:r>
              <a:t>    "refresh_method": "Manual licences/notices; refresh contractual period, site changes and lease milestones.",</a:t>
            </a:r>
          </a:p>
          <a:p>
            <a:r>
              <a:t>    "model_connection": "No validated commercial customer-flow allocation.",</a:t>
            </a:r>
          </a:p>
          <a:p>
            <a:r>
              <a:t>    "priority": "P1",</a:t>
            </a:r>
          </a:p>
          <a:p>
            <a:r>
              <a:t>    "status": "Open; existing evidence does not establish closure"</a:t>
            </a:r>
          </a:p>
          <a:p>
            <a:r>
              <a:t>  }</a:t>
            </a:r>
          </a:p>
          <a:p>
            <a:r>
              <a:t>]</a:t>
            </a:r>
          </a:p>
          <a:p>
            <a:r>
              <a:t>SCR delivery order: page 13 of 16. Gap IDs and original evidence references retained in notes.</a:t>
            </a:r>
          </a:p>
          <a:p>
            <a:r>
              <a:t>Volume milestones derive only from the existing illustrative catchment CSV. Gates specify required evidence, not calculated allocation. No threshold assigned and no new model volume invented.</a:t>
            </a:r>
          </a:p>
          <a:p>
            <a:r>
              <a:t>SCR master row R1; linked roadmap page 2. Deep-dive page 13.</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"SA14",</a:t>
            </a:r>
          </a:p>
          <a:p>
            <a:r>
              <a:t>    "story": "Resolution",</a:t>
            </a:r>
          </a:p>
          <a:p>
            <a:r>
              <a:t>    "question": "New storage and investment scope",</a:t>
            </a:r>
          </a:p>
          <a:p>
            <a:r>
              <a:t>    "existing_work": "Partial gross/lease stocks, without client handling/inventory profile.",</a:t>
            </a:r>
          </a:p>
          <a:p>
            <a:r>
              <a:t>    "gap": "Incremental accessible flows, turnover/peak inventory, product compatibility, cost and commercial return criteria.",</a:t>
            </a:r>
          </a:p>
          <a:p>
            <a:r>
              <a:t>    "action": "Establish flow/access case first; then test service requirements and a separately scoped investment case.",</a:t>
            </a:r>
          </a:p>
          <a:p>
            <a:r>
              <a:t>    "closure_evidence": "Throughput-to-usable-stock bridge with seasonality, inventory days and dispatch limits; downside sensitivity; no investment claim from import deficit alone.",</a:t>
            </a:r>
          </a:p>
          <a:p>
            <a:r>
              <a:t>    "owner": "Nigel commercial gate; Manish; Henry review",</a:t>
            </a:r>
          </a:p>
          <a:p>
            <a:r>
              <a:t>    "timing": "W4-W6 only if prioritised",</a:t>
            </a:r>
          </a:p>
          <a:p>
            <a:r>
              <a:t>    "source_lead": "Client service/stock profiles and scoped cost evidence",</a:t>
            </a:r>
          </a:p>
          <a:p>
            <a:r>
              <a:t>    "refresh_method": "Manual client data; refresh on demand/access case changes.",</a:t>
            </a:r>
          </a:p>
          <a:p>
            <a:r>
              <a:t>    "model_connection": "Detailed service sizing deferred; infrastructure secondary to fuel integration.",</a:t>
            </a:r>
          </a:p>
          <a:p>
            <a:r>
              <a:t>    "priority": "P2",</a:t>
            </a:r>
          </a:p>
          <a:p>
            <a:r>
              <a:t>    "status": "Open; existing evidence does not establish closure"</a:t>
            </a:r>
          </a:p>
          <a:p>
            <a:r>
              <a:t>  }</a:t>
            </a:r>
          </a:p>
          <a:p>
            <a:r>
              <a:t>]</a:t>
            </a:r>
          </a:p>
          <a:p>
            <a:r>
              <a:t>SCR delivery order: page 15 of 16. Gap IDs and original evidence references retained in notes.</a:t>
            </a:r>
          </a:p>
          <a:p>
            <a:r>
              <a:t>SCR master row R2; linked roadmap page 2. Deep-dive page 15.</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pic>
        <p:nvPicPr>
          <p:cNvPr id="4" name="Picture 3" descr="A picture containing sky, building, outdoor, city&#10;&#10;Description automatically generated">
            <a:extLst>
              <a:ext uri="{FF2B5EF4-FFF2-40B4-BE49-F238E27FC236}">
                <a16:creationId xmlns:a16="http://schemas.microsoft.com/office/drawing/2014/main" id="{AF958CDF-21C2-4696-B1FF-98C6C69234CE}"/>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0" y="1"/>
            <a:ext cx="11588750" cy="6858000"/>
          </a:xfrm>
          <a:prstGeom prst="rect">
            <a:avLst/>
          </a:prstGeom>
        </p:spPr>
      </p:pic>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 y="5137149"/>
            <a:ext cx="4933950" cy="1571625"/>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Tree>
    <p:extLst>
      <p:ext uri="{BB962C8B-B14F-4D97-AF65-F5344CB8AC3E}">
        <p14:creationId xmlns:p14="http://schemas.microsoft.com/office/powerpoint/2010/main" val="1721437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7" name="Rectangle 6">
            <a:extLst>
              <a:ext uri="{FF2B5EF4-FFF2-40B4-BE49-F238E27FC236}">
                <a16:creationId xmlns:a16="http://schemas.microsoft.com/office/drawing/2014/main" id="{3E92D3BD-B933-88AB-9C21-59605B00713D}"/>
              </a:ext>
            </a:extLst>
          </p:cNvPr>
          <p:cNvSpPr/>
          <p:nvPr userDrawn="1"/>
        </p:nvSpPr>
        <p:spPr>
          <a:xfrm>
            <a:off x="5111750" y="5727050"/>
            <a:ext cx="6477000" cy="457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671436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1751062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429952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29172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582352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642766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er only">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10605599" y="6489700"/>
            <a:ext cx="805350" cy="287338"/>
          </a:xfrm>
        </p:spPr>
        <p:txBody>
          <a:bodyPr/>
          <a:lstStyle>
            <a:lvl1pPr>
              <a:defRPr sz="1000">
                <a:solidFill>
                  <a:schemeClr val="tx1"/>
                </a:solidFill>
              </a:defRPr>
            </a:lvl1pPr>
          </a:lstStyle>
          <a:p>
            <a:fld id="{A65E4EDC-57F8-4D5C-B13E-A981C5F2F71A}" type="slidenum">
              <a:rPr lang="en-GB" smtClean="0">
                <a:solidFill>
                  <a:schemeClr val="tx1"/>
                </a:solidFill>
              </a:rPr>
              <a:pPr/>
              <a:t>‹#›</a:t>
            </a:fld>
            <a:endParaRPr lang="en-GB">
              <a:solidFill>
                <a:schemeClr val="tx1"/>
              </a:solidFill>
            </a:endParaRPr>
          </a:p>
        </p:txBody>
      </p:sp>
      <p:sp>
        <p:nvSpPr>
          <p:cNvPr id="3" name="Title Placeholder 1">
            <a:extLst>
              <a:ext uri="{FF2B5EF4-FFF2-40B4-BE49-F238E27FC236}">
                <a16:creationId xmlns:a16="http://schemas.microsoft.com/office/drawing/2014/main" id="{8395ED8E-92E9-32C5-9BE4-BAF8026DD357}"/>
              </a:ext>
            </a:extLst>
          </p:cNvPr>
          <p:cNvSpPr>
            <a:spLocks noGrp="1"/>
          </p:cNvSpPr>
          <p:nvPr>
            <p:ph type="title"/>
          </p:nvPr>
        </p:nvSpPr>
        <p:spPr>
          <a:xfrm>
            <a:off x="457200" y="585216"/>
            <a:ext cx="10561320" cy="822960"/>
          </a:xfrm>
          <a:prstGeom prst="rect">
            <a:avLst/>
          </a:prstGeom>
        </p:spPr>
        <p:txBody>
          <a:bodyPr vert="horz" lIns="91440" tIns="45720" rIns="91440" bIns="45720" rtlCol="0" anchor="ctr">
            <a:normAutofit/>
          </a:bodyPr>
          <a:lstStyle/>
          <a:p>
            <a:r>
              <a:rPr lang="en-US">
                <a:solidFill>
                  <a:schemeClr val="tx1"/>
                </a:solidFill>
              </a:rPr>
              <a:t>Click to edit Master title style</a:t>
            </a:r>
          </a:p>
        </p:txBody>
      </p:sp>
      <p:cxnSp>
        <p:nvCxnSpPr>
          <p:cNvPr id="7" name="Title and body separator"/>
          <p:cNvCxnSpPr/>
          <p:nvPr/>
        </p:nvCxnSpPr>
        <p:spPr>
          <a:xfrm>
            <a:off x="457200" y="1444752"/>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38964405"/>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65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7801" y="368299"/>
            <a:ext cx="11233148" cy="690101"/>
          </a:xfrm>
          <a:prstGeom prst="rect">
            <a:avLst/>
          </a:prstGeom>
        </p:spPr>
        <p:txBody>
          <a:bodyPr vert="horz" lIns="91440" tIns="45720" rIns="91440" bIns="45720" rtlCol="0" anchor="ctr">
            <a:normAutofit/>
          </a:bodyPr>
          <a:lstStyle/>
          <a:p/>
        </p:txBody>
      </p:sp>
      <p:sp>
        <p:nvSpPr>
          <p:cNvPr id="3" name="Text Placeholder 2"/>
          <p:cNvSpPr>
            <a:spLocks noGrp="1"/>
          </p:cNvSpPr>
          <p:nvPr>
            <p:ph type="body" idx="1"/>
          </p:nvPr>
        </p:nvSpPr>
        <p:spPr>
          <a:xfrm>
            <a:off x="177801" y="1233488"/>
            <a:ext cx="11233149" cy="5256212"/>
          </a:xfrm>
          <a:prstGeom prst="rect">
            <a:avLst/>
          </a:prstGeom>
        </p:spPr>
        <p:txBody>
          <a:bodyPr vert="horz" lIns="91440" tIns="45720" rIns="91440" bIns="45720" rtlCol="0">
            <a:normAutofit/>
          </a:bodyPr>
          <a:lstStyle/>
          <a:p>
            <a:pPr lvl="0"/>
          </a:p>
        </p:txBody>
      </p:sp>
      <p:sp>
        <p:nvSpPr>
          <p:cNvPr id="6" name="Slide Number Placeholder 5"/>
          <p:cNvSpPr>
            <a:spLocks noGrp="1"/>
          </p:cNvSpPr>
          <p:nvPr>
            <p:ph type="sldNum" sz="quarter" idx="4"/>
          </p:nvPr>
        </p:nvSpPr>
        <p:spPr>
          <a:xfrm>
            <a:off x="10605599" y="6489700"/>
            <a:ext cx="805350" cy="287338"/>
          </a:xfrm>
          <a:prstGeom prst="rect">
            <a:avLst/>
          </a:prstGeom>
        </p:spPr>
        <p:txBody>
          <a:bodyPr vert="horz" lIns="91440" tIns="45720" rIns="91440" bIns="45720" rtlCol="0" anchor="ctr"/>
          <a:lstStyle>
            <a:lvl1pPr algn="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pic>
        <p:nvPicPr>
          <p:cNvPr id="4" name="Picture 2">
            <a:extLst>
              <a:ext uri="{FF2B5EF4-FFF2-40B4-BE49-F238E27FC236}">
                <a16:creationId xmlns:a16="http://schemas.microsoft.com/office/drawing/2014/main" id="{643CB578-80E0-884E-8515-53279D5DACC1}"/>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104120" y="6556248"/>
            <a:ext cx="777240" cy="173447"/>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6">
            <a:extLst>
              <a:ext uri="{FF2B5EF4-FFF2-40B4-BE49-F238E27FC236}">
                <a16:creationId xmlns:a16="http://schemas.microsoft.com/office/drawing/2014/main" id="{5CB3F387-66D0-18CC-51EE-24B908A792B7}"/>
              </a:ext>
            </a:extLst>
          </p:cNvPr>
          <p:cNvSpPr txBox="1">
            <a:spLocks/>
          </p:cNvSpPr>
          <p:nvPr userDrawn="1"/>
        </p:nvSpPr>
        <p:spPr>
          <a:xfrm>
            <a:off x="457200" y="6528816"/>
            <a:ext cx="8595360" cy="228600"/>
          </a:xfrm>
          <a:prstGeom prst="rect">
            <a:avLst/>
          </a:prstGeom>
        </p:spPr>
        <p:txBody>
          <a:bodyPr anchor="ctr" tIns="0" bIns="0">
            <a:normAutofit/>
          </a:bodyPr>
          <a:lstStyle>
            <a:lvl1pPr marL="0" indent="0" algn="l" defTabSz="869137" rtl="0" eaLnBrk="1" latinLnBrk="0" hangingPunct="1">
              <a:lnSpc>
                <a:spcPct val="90000"/>
              </a:lnSpc>
              <a:spcBef>
                <a:spcPts val="951"/>
              </a:spcBef>
              <a:buFont typeface="Arial" panose="020B0604020202020204" pitchFamily="34" charset="0"/>
              <a:buNone/>
              <a:defRPr sz="1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a:lstStyle>
          <a:p>
            <a:pPr>
              <a:defRPr sz="800">
                <a:solidFill>
                  <a:srgbClr val="404040"/>
                </a:solidFill>
                <a:latin typeface="Lato"/>
              </a:defRPr>
            </a:pPr>
          </a:p>
        </p:txBody>
      </p:sp>
      <p:cxnSp>
        <p:nvCxnSpPr>
          <p:cNvPr id="10" name="Fine footer rule"/>
          <p:cNvCxnSpPr/>
          <p:nvPr/>
        </p:nvCxnSpPr>
        <p:spPr>
          <a:xfrm>
            <a:off x="457200" y="6437376"/>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4016228"/>
      </p:ext>
    </p:extLst>
  </p:cSld>
  <p:clrMap bg1="lt1" tx1="dk1" bg2="lt2" tx2="dk2" accent1="accent1" accent2="accent2" accent3="accent3" accent4="accent4" accent5="accent5" accent6="accent6" hlink="hlink" folHlink="folHlink"/>
  <p:sldLayoutIdLst>
    <p:sldLayoutId id="2147483713" r:id="rId1"/>
    <p:sldLayoutId id="2147483718" r:id="rId2"/>
    <p:sldLayoutId id="2147483723" r:id="rId3"/>
    <p:sldLayoutId id="2147483724" r:id="rId4"/>
    <p:sldLayoutId id="2147483725" r:id="rId5"/>
    <p:sldLayoutId id="2147483698" r:id="rId6"/>
  </p:sldLayoutIdLst>
  <p:hf hdr="0" ftr="0" dt="0"/>
  <p:txStyles>
    <p:titleStyle>
      <a:lvl1pPr algn="l" defTabSz="869137" rtl="0" eaLnBrk="1" latinLnBrk="0" hangingPunct="1">
        <a:lnSpc>
          <a:spcPct val="90000"/>
        </a:lnSpc>
        <a:spcBef>
          <a:spcPct val="0"/>
        </a:spcBef>
        <a:buNone/>
        <a:defRPr sz="2200" b="1" kern="1200">
          <a:solidFill>
            <a:schemeClr val="tx1"/>
          </a:solidFill>
          <a:latin typeface="+mj-lt"/>
          <a:ea typeface="+mj-ea"/>
          <a:cs typeface="+mj-cs"/>
        </a:defRPr>
      </a:lvl1pPr>
    </p:titleStyle>
    <p:bodyStyle>
      <a:lvl1pPr marL="217284" indent="-217284" algn="l" defTabSz="869137" rtl="0" eaLnBrk="1" latinLnBrk="0" hangingPunct="1">
        <a:lnSpc>
          <a:spcPct val="90000"/>
        </a:lnSpc>
        <a:spcBef>
          <a:spcPts val="951"/>
        </a:spcBef>
        <a:buFont typeface="Arial" panose="020B0604020202020204" pitchFamily="34" charset="0"/>
        <a:buChar char="•"/>
        <a:defRPr sz="2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p:bodyStyle>
    <p:otherStyle>
      <a:defPPr>
        <a:defRPr lang="en-US"/>
      </a:defPPr>
      <a:lvl1pPr marL="0" algn="l" defTabSz="869137" rtl="0" eaLnBrk="1" latinLnBrk="0" hangingPunct="1">
        <a:defRPr sz="1711" kern="1200">
          <a:solidFill>
            <a:schemeClr val="tx1"/>
          </a:solidFill>
          <a:latin typeface="+mn-lt"/>
          <a:ea typeface="+mn-ea"/>
          <a:cs typeface="+mn-cs"/>
        </a:defRPr>
      </a:lvl1pPr>
      <a:lvl2pPr marL="434569" algn="l" defTabSz="869137" rtl="0" eaLnBrk="1" latinLnBrk="0" hangingPunct="1">
        <a:defRPr sz="1711" kern="1200">
          <a:solidFill>
            <a:schemeClr val="tx1"/>
          </a:solidFill>
          <a:latin typeface="+mn-lt"/>
          <a:ea typeface="+mn-ea"/>
          <a:cs typeface="+mn-cs"/>
        </a:defRPr>
      </a:lvl2pPr>
      <a:lvl3pPr marL="869137" algn="l" defTabSz="869137" rtl="0" eaLnBrk="1" latinLnBrk="0" hangingPunct="1">
        <a:defRPr sz="1711" kern="1200">
          <a:solidFill>
            <a:schemeClr val="tx1"/>
          </a:solidFill>
          <a:latin typeface="+mn-lt"/>
          <a:ea typeface="+mn-ea"/>
          <a:cs typeface="+mn-cs"/>
        </a:defRPr>
      </a:lvl3pPr>
      <a:lvl4pPr marL="1303706" algn="l" defTabSz="869137" rtl="0" eaLnBrk="1" latinLnBrk="0" hangingPunct="1">
        <a:defRPr sz="1711" kern="1200">
          <a:solidFill>
            <a:schemeClr val="tx1"/>
          </a:solidFill>
          <a:latin typeface="+mn-lt"/>
          <a:ea typeface="+mn-ea"/>
          <a:cs typeface="+mn-cs"/>
        </a:defRPr>
      </a:lvl4pPr>
      <a:lvl5pPr marL="1738274" algn="l" defTabSz="869137" rtl="0" eaLnBrk="1" latinLnBrk="0" hangingPunct="1">
        <a:defRPr sz="1711" kern="1200">
          <a:solidFill>
            <a:schemeClr val="tx1"/>
          </a:solidFill>
          <a:latin typeface="+mn-lt"/>
          <a:ea typeface="+mn-ea"/>
          <a:cs typeface="+mn-cs"/>
        </a:defRPr>
      </a:lvl5pPr>
      <a:lvl6pPr marL="2172843" algn="l" defTabSz="869137" rtl="0" eaLnBrk="1" latinLnBrk="0" hangingPunct="1">
        <a:defRPr sz="1711" kern="1200">
          <a:solidFill>
            <a:schemeClr val="tx1"/>
          </a:solidFill>
          <a:latin typeface="+mn-lt"/>
          <a:ea typeface="+mn-ea"/>
          <a:cs typeface="+mn-cs"/>
        </a:defRPr>
      </a:lvl6pPr>
      <a:lvl7pPr marL="2607412" algn="l" defTabSz="869137" rtl="0" eaLnBrk="1" latinLnBrk="0" hangingPunct="1">
        <a:defRPr sz="1711" kern="1200">
          <a:solidFill>
            <a:schemeClr val="tx1"/>
          </a:solidFill>
          <a:latin typeface="+mn-lt"/>
          <a:ea typeface="+mn-ea"/>
          <a:cs typeface="+mn-cs"/>
        </a:defRPr>
      </a:lvl7pPr>
      <a:lvl8pPr marL="3041980" algn="l" defTabSz="869137" rtl="0" eaLnBrk="1" latinLnBrk="0" hangingPunct="1">
        <a:defRPr sz="1711" kern="1200">
          <a:solidFill>
            <a:schemeClr val="tx1"/>
          </a:solidFill>
          <a:latin typeface="+mn-lt"/>
          <a:ea typeface="+mn-ea"/>
          <a:cs typeface="+mn-cs"/>
        </a:defRPr>
      </a:lvl8pPr>
      <a:lvl9pPr marL="3476549" algn="l" defTabSz="869137" rtl="0" eaLnBrk="1" latinLnBrk="0" hangingPunct="1">
        <a:defRPr sz="1711" kern="1200">
          <a:solidFill>
            <a:schemeClr val="tx1"/>
          </a:solidFill>
          <a:latin typeface="+mn-lt"/>
          <a:ea typeface="+mn-ea"/>
          <a:cs typeface="+mn-cs"/>
        </a:defRPr>
      </a:lvl9pPr>
    </p:otherStyle>
  </p:txStyles>
  <p:extLst>
    <p:ext uri="{27BBF7A9-308A-43DC-89C8-2F10F3537804}">
      <p15:sldGuideLst xmlns:p15="http://schemas.microsoft.com/office/powerpoint/2012/main">
        <p15:guide id="12" orient="horz" pos="2160" userDrawn="1">
          <p15:clr>
            <a:srgbClr val="F26B43"/>
          </p15:clr>
        </p15:guide>
        <p15:guide id="13" pos="112" userDrawn="1">
          <p15:clr>
            <a:srgbClr val="F26B43"/>
          </p15:clr>
        </p15:guide>
        <p15:guide id="14" orient="horz" pos="4269" userDrawn="1">
          <p15:clr>
            <a:srgbClr val="F26B43"/>
          </p15:clr>
        </p15:guide>
        <p15:guide id="15" pos="3650" userDrawn="1">
          <p15:clr>
            <a:srgbClr val="F26B43"/>
          </p15:clr>
        </p15:guide>
        <p15:guide id="16" pos="7188" userDrawn="1">
          <p15:clr>
            <a:srgbClr val="F26B43"/>
          </p15:clr>
        </p15:guide>
        <p15:guide id="17" orient="horz" pos="28" userDrawn="1">
          <p15:clr>
            <a:srgbClr val="F26B43"/>
          </p15:clr>
        </p15:guide>
        <p15:guide id="18" orient="horz" pos="686" userDrawn="1">
          <p15:clr>
            <a:srgbClr val="F26B43"/>
          </p15:clr>
        </p15:guide>
        <p15:guide id="19" orient="horz" pos="777" userDrawn="1">
          <p15:clr>
            <a:srgbClr val="F26B43"/>
          </p15:clr>
        </p15:guide>
        <p15:guide id="20" orient="horz" pos="4088" userDrawn="1">
          <p15:clr>
            <a:srgbClr val="F26B43"/>
          </p15:clr>
        </p15:guide>
        <p15:guide id="21" orient="horz" pos="3680" userDrawn="1">
          <p15:clr>
            <a:srgbClr val="F26B43"/>
          </p15:clr>
        </p15:guide>
        <p15:guide id="22" orient="horz" pos="3566" userDrawn="1">
          <p15:clr>
            <a:srgbClr val="F26B43"/>
          </p15:clr>
        </p15:guide>
        <p15:guide id="23" pos="5805"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image" Target="../media/image8.png"/><Relationship Id="rId4" Type="http://schemas.openxmlformats.org/officeDocument/2006/relationships/hyperlink" Target="https://www.vopak.com/terminals/vopak-terminal-durban" TargetMode="Externa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8.png"/><Relationship Id="rId4" Type="http://schemas.openxmlformats.org/officeDocument/2006/relationships/hyperlink" Target="https://www.vopak.com/terminals/vopak-terminal-lesedi" TargetMode="External"/><Relationship Id="rId5"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chart" Target="../charts/chart1.xml"/><Relationship Id="rId4" Type="http://schemas.openxmlformats.org/officeDocument/2006/relationships/slide" Target="slide10.xml"/><Relationship Id="rId5" Type="http://schemas.openxmlformats.org/officeDocument/2006/relationships/slide" Target="slide5.xml"/><Relationship Id="rId6" Type="http://schemas.openxmlformats.org/officeDocument/2006/relationships/slide" Target="slide12.xml"/><Relationship Id="rId7" Type="http://schemas.openxmlformats.org/officeDocument/2006/relationships/slide" Target="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hyperlink" Target="https://www.vopak.com/system/files/Vopak_Annual_Report_2025.pdf" TargetMode="External"/><Relationship Id="rId4" Type="http://schemas.openxmlformats.org/officeDocument/2006/relationships/hyperlink" Target="https://www.bidtanks.com/pages/1562/about-us" TargetMode="External"/><Relationship Id="rId5" Type="http://schemas.openxmlformats.org/officeDocument/2006/relationships/hyperlink" Target="https://www.vtti.com/location/cape-town-south-africa-bct/" TargetMode="External"/><Relationship Id="rId6" Type="http://schemas.openxmlformats.org/officeDocument/2006/relationships/hyperlink" Target="https://www.shell.co.za/motorists/shell-fuels/fuel-storage-facilities.html" TargetMode="External"/><Relationship Id="rId7" Type="http://schemas.openxmlformats.org/officeDocument/2006/relationships/hyperlink" Target="https://www.nersa.org.za/petroleum-pipelines/third-party-access" TargetMode="External"/><Relationship Id="rId8" Type="http://schemas.openxmlformats.org/officeDocument/2006/relationships/hyperlink" Target="https://sasol.com/our-businesses/energy" TargetMode="External"/><Relationship Id="rId9" Type="http://schemas.openxmlformats.org/officeDocument/2006/relationships/hyperlink" Target="https://www.transnet.net/TPL-Leasing-Opportunities" TargetMode="External"/><Relationship Id="rId10" Type="http://schemas.openxmlformats.org/officeDocument/2006/relationships/slide" Target="slide10.xml"/><Relationship Id="rId11" Type="http://schemas.openxmlformats.org/officeDocument/2006/relationships/slide" Target="slide5.xml"/><Relationship Id="rId12" Type="http://schemas.openxmlformats.org/officeDocument/2006/relationships/slide" Target="slide12.xml"/><Relationship Id="rId13" Type="http://schemas.openxmlformats.org/officeDocument/2006/relationships/slide" Target="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slide" Target="slide5.xml"/><Relationship Id="rId4" Type="http://schemas.openxmlformats.org/officeDocument/2006/relationships/slide" Target="slide6.xml"/><Relationship Id="rId5" Type="http://schemas.openxmlformats.org/officeDocument/2006/relationships/slide" Target="slide11.xml"/><Relationship Id="rId6" Type="http://schemas.openxmlformats.org/officeDocument/2006/relationships/slide" Target="slide7.xml"/><Relationship Id="rId7" Type="http://schemas.openxmlformats.org/officeDocument/2006/relationships/slide" Target="slide12.xml"/><Relationship Id="rId8" Type="http://schemas.openxmlformats.org/officeDocument/2006/relationships/slide" Target="slide13.xml"/><Relationship Id="rId9" Type="http://schemas.openxmlformats.org/officeDocument/2006/relationships/slide" Target="slide2.xml"/><Relationship Id="rId10" Type="http://schemas.openxmlformats.org/officeDocument/2006/relationships/slide" Target="slide14.xml"/><Relationship Id="rId11" Type="http://schemas.openxmlformats.org/officeDocument/2006/relationships/slide" Target="slide3.xml"/><Relationship Id="rId12" Type="http://schemas.openxmlformats.org/officeDocument/2006/relationships/slide" Target="slide8.xml"/><Relationship Id="rId13" Type="http://schemas.openxmlformats.org/officeDocument/2006/relationships/slide" Target="slide15.xml"/><Relationship Id="rId14" Type="http://schemas.openxmlformats.org/officeDocument/2006/relationships/slide" Target="slide9.xml"/><Relationship Id="rId15" Type="http://schemas.openxmlformats.org/officeDocument/2006/relationships/slide" Target="slide16.xml"/><Relationship Id="rId16" Type="http://schemas.openxmlformats.org/officeDocument/2006/relationships/slide" Target="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chart" Target="../charts/chart7.xml"/><Relationship Id="rId9" Type="http://schemas.openxmlformats.org/officeDocument/2006/relationships/chart" Target="../charts/chart8.xml"/><Relationship Id="rId10" Type="http://schemas.openxmlformats.org/officeDocument/2006/relationships/slide" Target="slide10.xml"/><Relationship Id="rId11" Type="http://schemas.openxmlformats.org/officeDocument/2006/relationships/slide" Target="slide5.xml"/><Relationship Id="rId12" Type="http://schemas.openxmlformats.org/officeDocument/2006/relationships/slide" Target="slide12.xml"/><Relationship Id="rId13" Type="http://schemas.openxmlformats.org/officeDocument/2006/relationships/slide" Target="sl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chart" Target="../charts/chart9.xml"/><Relationship Id="rId4" Type="http://schemas.openxmlformats.org/officeDocument/2006/relationships/chart" Target="../charts/chart10.xml"/><Relationship Id="rId5" Type="http://schemas.openxmlformats.org/officeDocument/2006/relationships/slide" Target="slide10.xml"/><Relationship Id="rId6" Type="http://schemas.openxmlformats.org/officeDocument/2006/relationships/slide" Target="slide5.xml"/><Relationship Id="rId7" Type="http://schemas.openxmlformats.org/officeDocument/2006/relationships/slide" Target="slide12.xml"/><Relationship Id="rId8" Type="http://schemas.openxmlformats.org/officeDocument/2006/relationships/slide" Target="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1836" r="21836"/>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Liquid fuels</a:t>
            </a:r>
          </a:p>
          <a:p>
            <a:pPr>
              <a:spcAft>
                <a:spcPts val="800"/>
              </a:spcAft>
              <a:defRPr sz="3100" b="0">
                <a:solidFill>
                  <a:srgbClr val="FFFFFF"/>
                </a:solidFill>
                <a:latin typeface="Lato"/>
              </a:defRPr>
            </a:pPr>
            <a:r>
              <a:t>demand and supply</a:t>
            </a:r>
          </a:p>
          <a:p>
            <a:pPr>
              <a:spcAft>
                <a:spcPts val="800"/>
              </a:spcAft>
              <a:defRPr sz="3100" b="0">
                <a:solidFill>
                  <a:srgbClr val="FFFFFF"/>
                </a:solidFill>
                <a:latin typeface="Lato"/>
              </a:defRPr>
            </a:pPr>
            <a:r>
              <a:t>model</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Week 1 analytical pack</a:t>
            </a:r>
          </a:p>
        </p:txBody>
      </p:sp>
      <p:sp>
        <p:nvSpPr>
          <p:cNvPr id="8" name="TextBox 7"/>
          <p:cNvSpPr txBox="1"/>
          <p:nvPr/>
        </p:nvSpPr>
        <p:spPr>
          <a:xfrm>
            <a:off x="594360" y="5239512"/>
            <a:ext cx="4572000" cy="36576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South Africa | Petrol and diesel</a:t>
            </a:r>
          </a:p>
        </p:txBody>
      </p:sp>
      <p:sp>
        <p:nvSpPr>
          <p:cNvPr id="9" name="TextBox 8"/>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6 October 2026</a:t>
            </a:r>
          </a:p>
        </p:txBody>
      </p:sp>
      <p:sp>
        <p:nvSpPr>
          <p:cNvPr id="10" name="TextBox 9"/>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1"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Durban | vopak.com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Map conditional market access from Durban and Lesedi</a:t>
            </a:r>
          </a:p>
        </p:txBody>
      </p:sp>
      <p:sp>
        <p:nvSpPr>
          <p:cNvPr id="3" name="Slide Number Placeholder"/>
          <p:cNvSpPr>
            <a:spLocks noGrp="1"/>
          </p:cNvSpPr>
          <p:nvPr>
            <p:ph type="sldNum" sz="quarter" idx="12"/>
          </p:nvPr>
        </p:nvSpPr>
        <p:spPr/>
        <p:txBody>
          <a:bodyPr/>
          <a:lstStyle/>
          <a:p>
            <a:fld id="{BF727970-95E9-49D7-9EB0-D67854984AD5}"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Existing appendix routes; illustrative candidate connections, not verified catchments. Natural Earth 1:50m.</a:t>
            </a:r>
          </a:p>
        </p:txBody>
      </p: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500 km</a:t>
            </a:r>
          </a:p>
        </p:txBody>
      </p:sp>
      <p:sp>
        <p:nvSpPr>
          <p:cNvPr id="402" name="Illustrative delivered road transport cost class None; reference terminal None"/>
          <p:cNvSpPr/>
          <p:nvPr/>
        </p:nvSpPr>
        <p:spPr>
          <a:xfrm>
            <a:off x="1777332" y="4003253"/>
            <a:ext cx="23246" cy="51234"/>
          </a:xfrm>
          <a:custGeom>
            <a:avLst/>
            <a:gdLst/>
            <a:ahLst/>
            <a:cxnLst/>
            <a:rect l="l" t="t" r="r" b="b"/>
            <a:pathLst>
              <a:path w="23246" h="51234">
                <a:moveTo>
                  <a:pt x="23246" y="51234"/>
                </a:moveTo>
                <a:lnTo>
                  <a:pt x="7894" y="29876"/>
                </a:lnTo>
                <a:lnTo>
                  <a:pt x="0" y="24297"/>
                </a:lnTo>
                <a:lnTo>
                  <a:pt x="8068" y="12224"/>
                </a:lnTo>
                <a:lnTo>
                  <a:pt x="23246" y="0"/>
                </a:lnTo>
                <a:lnTo>
                  <a:pt x="23246" y="5123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Illustrative delivered road transport cost class None; reference terminal None"/>
          <p:cNvSpPr/>
          <p:nvPr/>
        </p:nvSpPr>
        <p:spPr>
          <a:xfrm>
            <a:off x="1843178" y="4113755"/>
            <a:ext cx="15086" cy="24460"/>
          </a:xfrm>
          <a:custGeom>
            <a:avLst/>
            <a:gdLst/>
            <a:ahLst/>
            <a:cxnLst/>
            <a:rect l="l" t="t" r="r" b="b"/>
            <a:pathLst>
              <a:path w="15086" h="24460">
                <a:moveTo>
                  <a:pt x="15086" y="0"/>
                </a:moveTo>
                <a:lnTo>
                  <a:pt x="15086" y="24460"/>
                </a:lnTo>
                <a:lnTo>
                  <a:pt x="6687" y="9302"/>
                </a:lnTo>
                <a:lnTo>
                  <a:pt x="0" y="0"/>
                </a:lnTo>
                <a:lnTo>
                  <a:pt x="150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Illustrative delivered road transport cost class 4; reference terminal Lesedi"/>
          <p:cNvSpPr/>
          <p:nvPr/>
        </p:nvSpPr>
        <p:spPr>
          <a:xfrm>
            <a:off x="1801714" y="4056068"/>
            <a:ext cx="56550" cy="57687"/>
          </a:xfrm>
          <a:custGeom>
            <a:avLst/>
            <a:gdLst/>
            <a:ahLst/>
            <a:cxnLst/>
            <a:rect l="l" t="t" r="r" b="b"/>
            <a:pathLst>
              <a:path w="56550" h="57687">
                <a:moveTo>
                  <a:pt x="56550" y="0"/>
                </a:moveTo>
                <a:lnTo>
                  <a:pt x="56550" y="57687"/>
                </a:lnTo>
                <a:lnTo>
                  <a:pt x="41464" y="57687"/>
                </a:lnTo>
                <a:lnTo>
                  <a:pt x="0" y="0"/>
                </a:lnTo>
                <a:lnTo>
                  <a:pt x="565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Illustrative delivered road transport cost class 4; reference terminal Lesedi"/>
          <p:cNvSpPr/>
          <p:nvPr/>
        </p:nvSpPr>
        <p:spPr>
          <a:xfrm>
            <a:off x="1800578" y="3998382"/>
            <a:ext cx="57686" cy="57686"/>
          </a:xfrm>
          <a:custGeom>
            <a:avLst/>
            <a:gdLst/>
            <a:ahLst/>
            <a:cxnLst/>
            <a:rect l="l" t="t" r="r" b="b"/>
            <a:pathLst>
              <a:path w="57686" h="57686">
                <a:moveTo>
                  <a:pt x="57686" y="0"/>
                </a:moveTo>
                <a:lnTo>
                  <a:pt x="57686" y="57686"/>
                </a:lnTo>
                <a:lnTo>
                  <a:pt x="1136" y="57686"/>
                </a:lnTo>
                <a:lnTo>
                  <a:pt x="0" y="56105"/>
                </a:lnTo>
                <a:lnTo>
                  <a:pt x="0" y="4871"/>
                </a:lnTo>
                <a:lnTo>
                  <a:pt x="6049"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Illustrative delivered road transport cost class 4; reference terminal Lesedi"/>
          <p:cNvSpPr/>
          <p:nvPr/>
        </p:nvSpPr>
        <p:spPr>
          <a:xfrm>
            <a:off x="1806627" y="3940695"/>
            <a:ext cx="51637" cy="57687"/>
          </a:xfrm>
          <a:custGeom>
            <a:avLst/>
            <a:gdLst/>
            <a:ahLst/>
            <a:cxnLst/>
            <a:rect l="l" t="t" r="r" b="b"/>
            <a:pathLst>
              <a:path w="51637" h="57687">
                <a:moveTo>
                  <a:pt x="51637" y="0"/>
                </a:moveTo>
                <a:lnTo>
                  <a:pt x="51637" y="57687"/>
                </a:lnTo>
                <a:lnTo>
                  <a:pt x="0" y="57687"/>
                </a:lnTo>
                <a:lnTo>
                  <a:pt x="8502" y="50839"/>
                </a:lnTo>
                <a:lnTo>
                  <a:pt x="22328" y="43972"/>
                </a:lnTo>
                <a:lnTo>
                  <a:pt x="30073" y="46140"/>
                </a:lnTo>
                <a:lnTo>
                  <a:pt x="37022" y="39661"/>
                </a:lnTo>
                <a:lnTo>
                  <a:pt x="43159" y="24487"/>
                </a:lnTo>
                <a:lnTo>
                  <a:pt x="43800" y="10598"/>
                </a:lnTo>
                <a:lnTo>
                  <a:pt x="44977" y="0"/>
                </a:lnTo>
                <a:lnTo>
                  <a:pt x="5163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Illustrative delivered road transport cost class None; reference terminal None"/>
          <p:cNvSpPr/>
          <p:nvPr/>
        </p:nvSpPr>
        <p:spPr>
          <a:xfrm>
            <a:off x="1851604" y="3920521"/>
            <a:ext cx="6660" cy="20174"/>
          </a:xfrm>
          <a:custGeom>
            <a:avLst/>
            <a:gdLst/>
            <a:ahLst/>
            <a:cxnLst/>
            <a:rect l="l" t="t" r="r" b="b"/>
            <a:pathLst>
              <a:path w="6660" h="20174">
                <a:moveTo>
                  <a:pt x="6660" y="20174"/>
                </a:moveTo>
                <a:lnTo>
                  <a:pt x="0" y="20174"/>
                </a:lnTo>
                <a:lnTo>
                  <a:pt x="1015" y="11032"/>
                </a:lnTo>
                <a:lnTo>
                  <a:pt x="6660" y="0"/>
                </a:lnTo>
                <a:lnTo>
                  <a:pt x="6660" y="2017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Illustrative delivered road transport cost class 4; reference terminal Lesedi"/>
          <p:cNvSpPr/>
          <p:nvPr/>
        </p:nvSpPr>
        <p:spPr>
          <a:xfrm>
            <a:off x="1907099" y="4229128"/>
            <a:ext cx="8852" cy="23653"/>
          </a:xfrm>
          <a:custGeom>
            <a:avLst/>
            <a:gdLst/>
            <a:ahLst/>
            <a:cxnLst/>
            <a:rect l="l" t="t" r="r" b="b"/>
            <a:pathLst>
              <a:path w="8852" h="23653">
                <a:moveTo>
                  <a:pt x="8852" y="0"/>
                </a:moveTo>
                <a:lnTo>
                  <a:pt x="8852" y="23653"/>
                </a:lnTo>
                <a:lnTo>
                  <a:pt x="0" y="0"/>
                </a:lnTo>
                <a:lnTo>
                  <a:pt x="885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Illustrative delivered road transport cost class 4; reference terminal Lesedi"/>
          <p:cNvSpPr/>
          <p:nvPr/>
        </p:nvSpPr>
        <p:spPr>
          <a:xfrm>
            <a:off x="1876677" y="4171441"/>
            <a:ext cx="39274" cy="57687"/>
          </a:xfrm>
          <a:custGeom>
            <a:avLst/>
            <a:gdLst/>
            <a:ahLst/>
            <a:cxnLst/>
            <a:rect l="l" t="t" r="r" b="b"/>
            <a:pathLst>
              <a:path w="39274" h="57687">
                <a:moveTo>
                  <a:pt x="39274" y="0"/>
                </a:moveTo>
                <a:lnTo>
                  <a:pt x="39274" y="57687"/>
                </a:lnTo>
                <a:lnTo>
                  <a:pt x="30422" y="57687"/>
                </a:lnTo>
                <a:lnTo>
                  <a:pt x="27208" y="49100"/>
                </a:lnTo>
                <a:lnTo>
                  <a:pt x="0" y="0"/>
                </a:lnTo>
                <a:lnTo>
                  <a:pt x="3927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Illustrative delivered road transport cost class 4; reference terminal Lesedi"/>
          <p:cNvSpPr/>
          <p:nvPr/>
        </p:nvSpPr>
        <p:spPr>
          <a:xfrm>
            <a:off x="1858264" y="4113755"/>
            <a:ext cx="57687" cy="57686"/>
          </a:xfrm>
          <a:custGeom>
            <a:avLst/>
            <a:gdLst/>
            <a:ahLst/>
            <a:cxnLst/>
            <a:rect l="l" t="t" r="r" b="b"/>
            <a:pathLst>
              <a:path w="57687" h="57686">
                <a:moveTo>
                  <a:pt x="0" y="0"/>
                </a:moveTo>
                <a:lnTo>
                  <a:pt x="57687" y="0"/>
                </a:lnTo>
                <a:lnTo>
                  <a:pt x="57687" y="57686"/>
                </a:lnTo>
                <a:lnTo>
                  <a:pt x="18413" y="57686"/>
                </a:lnTo>
                <a:lnTo>
                  <a:pt x="0" y="2446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Illustrative delivered road transport cost class 4; reference terminal Lesedi"/>
          <p:cNvSpPr/>
          <p:nvPr/>
        </p:nvSpPr>
        <p:spPr>
          <a:xfrm>
            <a:off x="185826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Illustrative delivered road transport cost class 4; reference terminal Lesedi"/>
          <p:cNvSpPr/>
          <p:nvPr/>
        </p:nvSpPr>
        <p:spPr>
          <a:xfrm>
            <a:off x="185826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Illustrative delivered road transport cost class 4; reference terminal Lesedi"/>
          <p:cNvSpPr/>
          <p:nvPr/>
        </p:nvSpPr>
        <p:spPr>
          <a:xfrm>
            <a:off x="185826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Illustrative delivered road transport cost class 4; reference terminal Lesedi"/>
          <p:cNvSpPr/>
          <p:nvPr/>
        </p:nvSpPr>
        <p:spPr>
          <a:xfrm>
            <a:off x="1858264" y="3883008"/>
            <a:ext cx="57687" cy="57687"/>
          </a:xfrm>
          <a:custGeom>
            <a:avLst/>
            <a:gdLst/>
            <a:ahLst/>
            <a:cxnLst/>
            <a:rect l="l" t="t" r="r" b="b"/>
            <a:pathLst>
              <a:path w="57687" h="57687">
                <a:moveTo>
                  <a:pt x="57687" y="0"/>
                </a:moveTo>
                <a:lnTo>
                  <a:pt x="57687" y="57687"/>
                </a:lnTo>
                <a:lnTo>
                  <a:pt x="0" y="57687"/>
                </a:lnTo>
                <a:lnTo>
                  <a:pt x="0" y="37513"/>
                </a:lnTo>
                <a:lnTo>
                  <a:pt x="567" y="36406"/>
                </a:lnTo>
                <a:lnTo>
                  <a:pt x="6687" y="12614"/>
                </a:lnTo>
                <a:lnTo>
                  <a:pt x="16351"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Illustrative delivered road transport cost class None; reference terminal None"/>
          <p:cNvSpPr/>
          <p:nvPr/>
        </p:nvSpPr>
        <p:spPr>
          <a:xfrm>
            <a:off x="1874615" y="3868101"/>
            <a:ext cx="41336" cy="14907"/>
          </a:xfrm>
          <a:custGeom>
            <a:avLst/>
            <a:gdLst/>
            <a:ahLst/>
            <a:cxnLst/>
            <a:rect l="l" t="t" r="r" b="b"/>
            <a:pathLst>
              <a:path w="41336" h="14907">
                <a:moveTo>
                  <a:pt x="41336" y="14907"/>
                </a:moveTo>
                <a:lnTo>
                  <a:pt x="0" y="14907"/>
                </a:lnTo>
                <a:lnTo>
                  <a:pt x="2436" y="11727"/>
                </a:lnTo>
                <a:lnTo>
                  <a:pt x="29562" y="0"/>
                </a:lnTo>
                <a:lnTo>
                  <a:pt x="41336" y="6282"/>
                </a:lnTo>
                <a:lnTo>
                  <a:pt x="41336" y="1490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Illustrative delivered road transport cost class 4; reference terminal Lesedi"/>
          <p:cNvSpPr/>
          <p:nvPr/>
        </p:nvSpPr>
        <p:spPr>
          <a:xfrm>
            <a:off x="1950278" y="4344501"/>
            <a:ext cx="23360" cy="57687"/>
          </a:xfrm>
          <a:custGeom>
            <a:avLst/>
            <a:gdLst/>
            <a:ahLst/>
            <a:cxnLst/>
            <a:rect l="l" t="t" r="r" b="b"/>
            <a:pathLst>
              <a:path w="23360" h="57687">
                <a:moveTo>
                  <a:pt x="23360" y="0"/>
                </a:moveTo>
                <a:lnTo>
                  <a:pt x="23360" y="57687"/>
                </a:lnTo>
                <a:lnTo>
                  <a:pt x="22322" y="57687"/>
                </a:lnTo>
                <a:lnTo>
                  <a:pt x="18894" y="50486"/>
                </a:lnTo>
                <a:lnTo>
                  <a:pt x="0" y="0"/>
                </a:lnTo>
                <a:lnTo>
                  <a:pt x="2336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Illustrative delivered road transport cost class 4; reference terminal Lesedi"/>
          <p:cNvSpPr/>
          <p:nvPr/>
        </p:nvSpPr>
        <p:spPr>
          <a:xfrm>
            <a:off x="1928688" y="4286814"/>
            <a:ext cx="44950" cy="57687"/>
          </a:xfrm>
          <a:custGeom>
            <a:avLst/>
            <a:gdLst/>
            <a:ahLst/>
            <a:cxnLst/>
            <a:rect l="l" t="t" r="r" b="b"/>
            <a:pathLst>
              <a:path w="44950" h="57687">
                <a:moveTo>
                  <a:pt x="44950" y="0"/>
                </a:moveTo>
                <a:lnTo>
                  <a:pt x="44950" y="57687"/>
                </a:lnTo>
                <a:lnTo>
                  <a:pt x="21590" y="57687"/>
                </a:lnTo>
                <a:lnTo>
                  <a:pt x="0" y="0"/>
                </a:lnTo>
                <a:lnTo>
                  <a:pt x="449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Illustrative delivered road transport cost class 4; reference terminal Lesedi"/>
          <p:cNvSpPr/>
          <p:nvPr/>
        </p:nvSpPr>
        <p:spPr>
          <a:xfrm>
            <a:off x="1915951" y="4229128"/>
            <a:ext cx="57687" cy="57686"/>
          </a:xfrm>
          <a:custGeom>
            <a:avLst/>
            <a:gdLst/>
            <a:ahLst/>
            <a:cxnLst/>
            <a:rect l="l" t="t" r="r" b="b"/>
            <a:pathLst>
              <a:path w="57687" h="57686">
                <a:moveTo>
                  <a:pt x="0" y="0"/>
                </a:moveTo>
                <a:lnTo>
                  <a:pt x="57687" y="0"/>
                </a:lnTo>
                <a:lnTo>
                  <a:pt x="57687" y="57686"/>
                </a:lnTo>
                <a:lnTo>
                  <a:pt x="12737" y="57686"/>
                </a:lnTo>
                <a:lnTo>
                  <a:pt x="0" y="236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Illustrative delivered road transport cost class 4; reference terminal Lesedi"/>
          <p:cNvSpPr/>
          <p:nvPr/>
        </p:nvSpPr>
        <p:spPr>
          <a:xfrm>
            <a:off x="191595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0" name="Illustrative delivered road transport cost class 4; reference terminal Lesedi"/>
          <p:cNvSpPr/>
          <p:nvPr/>
        </p:nvSpPr>
        <p:spPr>
          <a:xfrm>
            <a:off x="191595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1" name="Illustrative delivered road transport cost class 4; reference terminal Lesedi"/>
          <p:cNvSpPr/>
          <p:nvPr/>
        </p:nvSpPr>
        <p:spPr>
          <a:xfrm>
            <a:off x="191595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2" name="Illustrative delivered road transport cost class 4; reference terminal Lesedi"/>
          <p:cNvSpPr/>
          <p:nvPr/>
        </p:nvSpPr>
        <p:spPr>
          <a:xfrm>
            <a:off x="191595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3" name="Illustrative delivered road transport cost class 4; reference terminal Lesedi"/>
          <p:cNvSpPr/>
          <p:nvPr/>
        </p:nvSpPr>
        <p:spPr>
          <a:xfrm>
            <a:off x="191595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4" name="Illustrative delivered road transport cost class 4; reference terminal Lesedi"/>
          <p:cNvSpPr/>
          <p:nvPr/>
        </p:nvSpPr>
        <p:spPr>
          <a:xfrm>
            <a:off x="1915951" y="3883008"/>
            <a:ext cx="57687" cy="57687"/>
          </a:xfrm>
          <a:custGeom>
            <a:avLst/>
            <a:gdLst/>
            <a:ahLst/>
            <a:cxnLst/>
            <a:rect l="l" t="t" r="r" b="b"/>
            <a:pathLst>
              <a:path w="57687" h="57687">
                <a:moveTo>
                  <a:pt x="57687" y="57687"/>
                </a:moveTo>
                <a:lnTo>
                  <a:pt x="0" y="57687"/>
                </a:lnTo>
                <a:lnTo>
                  <a:pt x="0" y="0"/>
                </a:lnTo>
                <a:lnTo>
                  <a:pt x="12664" y="0"/>
                </a:lnTo>
                <a:lnTo>
                  <a:pt x="19786" y="9055"/>
                </a:lnTo>
                <a:lnTo>
                  <a:pt x="24519" y="25768"/>
                </a:lnTo>
                <a:lnTo>
                  <a:pt x="34346" y="33348"/>
                </a:lnTo>
                <a:lnTo>
                  <a:pt x="49248" y="31805"/>
                </a:lnTo>
                <a:lnTo>
                  <a:pt x="57687" y="39160"/>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5" name="Illustrative delivered road transport cost class 4; reference terminal Lesedi"/>
          <p:cNvSpPr/>
          <p:nvPr/>
        </p:nvSpPr>
        <p:spPr>
          <a:xfrm>
            <a:off x="1915951" y="3874383"/>
            <a:ext cx="12664" cy="8625"/>
          </a:xfrm>
          <a:custGeom>
            <a:avLst/>
            <a:gdLst/>
            <a:ahLst/>
            <a:cxnLst/>
            <a:rect l="l" t="t" r="r" b="b"/>
            <a:pathLst>
              <a:path w="12664" h="8625">
                <a:moveTo>
                  <a:pt x="0" y="8625"/>
                </a:moveTo>
                <a:lnTo>
                  <a:pt x="0" y="0"/>
                </a:lnTo>
                <a:lnTo>
                  <a:pt x="10130" y="5404"/>
                </a:lnTo>
                <a:lnTo>
                  <a:pt x="12664" y="8625"/>
                </a:lnTo>
                <a:lnTo>
                  <a:pt x="0" y="8625"/>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6" name="Illustrative delivered road transport cost class 4; reference terminal Lesedi"/>
          <p:cNvSpPr/>
          <p:nvPr/>
        </p:nvSpPr>
        <p:spPr>
          <a:xfrm>
            <a:off x="2000058" y="4459874"/>
            <a:ext cx="31266" cy="57683"/>
          </a:xfrm>
          <a:custGeom>
            <a:avLst/>
            <a:gdLst/>
            <a:ahLst/>
            <a:cxnLst/>
            <a:rect l="l" t="t" r="r" b="b"/>
            <a:pathLst>
              <a:path w="31266" h="57683">
                <a:moveTo>
                  <a:pt x="31266" y="0"/>
                </a:moveTo>
                <a:lnTo>
                  <a:pt x="31266" y="57683"/>
                </a:lnTo>
                <a:lnTo>
                  <a:pt x="10000" y="21010"/>
                </a:lnTo>
                <a:lnTo>
                  <a:pt x="0" y="0"/>
                </a:lnTo>
                <a:lnTo>
                  <a:pt x="312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7" name="Illustrative delivered road transport cost class 4; reference terminal Lesedi"/>
          <p:cNvSpPr/>
          <p:nvPr/>
        </p:nvSpPr>
        <p:spPr>
          <a:xfrm>
            <a:off x="1973638" y="4402188"/>
            <a:ext cx="57686" cy="57686"/>
          </a:xfrm>
          <a:custGeom>
            <a:avLst/>
            <a:gdLst/>
            <a:ahLst/>
            <a:cxnLst/>
            <a:rect l="l" t="t" r="r" b="b"/>
            <a:pathLst>
              <a:path w="57686" h="57686">
                <a:moveTo>
                  <a:pt x="0" y="0"/>
                </a:moveTo>
                <a:lnTo>
                  <a:pt x="57686" y="0"/>
                </a:lnTo>
                <a:lnTo>
                  <a:pt x="57686" y="57686"/>
                </a:lnTo>
                <a:lnTo>
                  <a:pt x="26420" y="57686"/>
                </a:lnTo>
                <a:lnTo>
                  <a:pt x="0" y="218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8" name="Illustrative delivered road transport cost class 4; reference terminal Lesedi"/>
          <p:cNvSpPr/>
          <p:nvPr/>
        </p:nvSpPr>
        <p:spPr>
          <a:xfrm>
            <a:off x="197363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9" name="Illustrative delivered road transport cost class 4; reference terminal Lesedi"/>
          <p:cNvSpPr/>
          <p:nvPr/>
        </p:nvSpPr>
        <p:spPr>
          <a:xfrm>
            <a:off x="197363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0" name="Illustrative delivered road transport cost class 4; reference terminal Lesedi"/>
          <p:cNvSpPr/>
          <p:nvPr/>
        </p:nvSpPr>
        <p:spPr>
          <a:xfrm>
            <a:off x="197363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1" name="Illustrative delivered road transport cost class 4; reference terminal Lesedi"/>
          <p:cNvSpPr/>
          <p:nvPr/>
        </p:nvSpPr>
        <p:spPr>
          <a:xfrm>
            <a:off x="197363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2" name="Illustrative delivered road transport cost class 4; reference terminal Lesedi"/>
          <p:cNvSpPr/>
          <p:nvPr/>
        </p:nvSpPr>
        <p:spPr>
          <a:xfrm>
            <a:off x="197363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3" name="Illustrative delivered road transport cost class 4; reference terminal Lesedi"/>
          <p:cNvSpPr/>
          <p:nvPr/>
        </p:nvSpPr>
        <p:spPr>
          <a:xfrm>
            <a:off x="197363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4" name="Illustrative delivered road transport cost class 4; reference terminal Lesedi"/>
          <p:cNvSpPr/>
          <p:nvPr/>
        </p:nvSpPr>
        <p:spPr>
          <a:xfrm>
            <a:off x="1973638" y="3998382"/>
            <a:ext cx="57686" cy="57686"/>
          </a:xfrm>
          <a:custGeom>
            <a:avLst/>
            <a:gdLst/>
            <a:ahLst/>
            <a:cxnLst/>
            <a:rect l="l" t="t" r="r" b="b"/>
            <a:pathLst>
              <a:path w="57686" h="57686">
                <a:moveTo>
                  <a:pt x="57686" y="57686"/>
                </a:moveTo>
                <a:lnTo>
                  <a:pt x="0" y="57686"/>
                </a:lnTo>
                <a:lnTo>
                  <a:pt x="0" y="0"/>
                </a:lnTo>
                <a:lnTo>
                  <a:pt x="15412" y="0"/>
                </a:lnTo>
                <a:lnTo>
                  <a:pt x="15901" y="621"/>
                </a:lnTo>
                <a:lnTo>
                  <a:pt x="21308" y="15265"/>
                </a:lnTo>
                <a:lnTo>
                  <a:pt x="29800" y="34501"/>
                </a:lnTo>
                <a:lnTo>
                  <a:pt x="57686" y="41064"/>
                </a:lnTo>
                <a:lnTo>
                  <a:pt x="57686"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5" name="Illustrative delivered road transport cost class 4; reference terminal Lesedi"/>
          <p:cNvSpPr/>
          <p:nvPr/>
        </p:nvSpPr>
        <p:spPr>
          <a:xfrm>
            <a:off x="1973638" y="3940695"/>
            <a:ext cx="15412" cy="57687"/>
          </a:xfrm>
          <a:custGeom>
            <a:avLst/>
            <a:gdLst/>
            <a:ahLst/>
            <a:cxnLst/>
            <a:rect l="l" t="t" r="r" b="b"/>
            <a:pathLst>
              <a:path w="15412" h="57687">
                <a:moveTo>
                  <a:pt x="0" y="57687"/>
                </a:moveTo>
                <a:lnTo>
                  <a:pt x="0" y="0"/>
                </a:lnTo>
                <a:lnTo>
                  <a:pt x="8474" y="0"/>
                </a:lnTo>
                <a:lnTo>
                  <a:pt x="10213" y="4904"/>
                </a:lnTo>
                <a:lnTo>
                  <a:pt x="9967" y="20511"/>
                </a:lnTo>
                <a:lnTo>
                  <a:pt x="2091" y="30693"/>
                </a:lnTo>
                <a:lnTo>
                  <a:pt x="4087" y="43274"/>
                </a:lnTo>
                <a:lnTo>
                  <a:pt x="15412"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6" name="Illustrative delivered road transport cost class 4; reference terminal Lesedi"/>
          <p:cNvSpPr/>
          <p:nvPr/>
        </p:nvSpPr>
        <p:spPr>
          <a:xfrm>
            <a:off x="1973638" y="3922168"/>
            <a:ext cx="8474" cy="18527"/>
          </a:xfrm>
          <a:custGeom>
            <a:avLst/>
            <a:gdLst/>
            <a:ahLst/>
            <a:cxnLst/>
            <a:rect l="l" t="t" r="r" b="b"/>
            <a:pathLst>
              <a:path w="8474" h="18527">
                <a:moveTo>
                  <a:pt x="0" y="18527"/>
                </a:moveTo>
                <a:lnTo>
                  <a:pt x="0" y="0"/>
                </a:lnTo>
                <a:lnTo>
                  <a:pt x="2756" y="2402"/>
                </a:lnTo>
                <a:lnTo>
                  <a:pt x="8474" y="18527"/>
                </a:lnTo>
                <a:lnTo>
                  <a:pt x="0" y="185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7" name="Illustrative delivered road transport cost class 4; reference terminal Lesedi"/>
          <p:cNvSpPr/>
          <p:nvPr/>
        </p:nvSpPr>
        <p:spPr>
          <a:xfrm>
            <a:off x="2064777" y="4575247"/>
            <a:ext cx="24234" cy="41791"/>
          </a:xfrm>
          <a:custGeom>
            <a:avLst/>
            <a:gdLst/>
            <a:ahLst/>
            <a:cxnLst/>
            <a:rect l="l" t="t" r="r" b="b"/>
            <a:pathLst>
              <a:path w="24234" h="41791">
                <a:moveTo>
                  <a:pt x="24234" y="0"/>
                </a:moveTo>
                <a:lnTo>
                  <a:pt x="24234" y="41791"/>
                </a:lnTo>
                <a:lnTo>
                  <a:pt x="0" y="0"/>
                </a:lnTo>
                <a:lnTo>
                  <a:pt x="242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8" name="Illustrative delivered road transport cost class 4; reference terminal Lesedi"/>
          <p:cNvSpPr/>
          <p:nvPr/>
        </p:nvSpPr>
        <p:spPr>
          <a:xfrm>
            <a:off x="2031326" y="4517561"/>
            <a:ext cx="57685" cy="57686"/>
          </a:xfrm>
          <a:custGeom>
            <a:avLst/>
            <a:gdLst/>
            <a:ahLst/>
            <a:cxnLst/>
            <a:rect l="l" t="t" r="r" b="b"/>
            <a:pathLst>
              <a:path w="57685" h="57686">
                <a:moveTo>
                  <a:pt x="57685" y="0"/>
                </a:moveTo>
                <a:lnTo>
                  <a:pt x="57685" y="57686"/>
                </a:lnTo>
                <a:lnTo>
                  <a:pt x="33451" y="57686"/>
                </a:lnTo>
                <a:lnTo>
                  <a:pt x="0" y="0"/>
                </a:lnTo>
                <a:lnTo>
                  <a:pt x="5768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9" name="Illustrative delivered road transport cost class 4; reference terminal Lesedi"/>
          <p:cNvSpPr/>
          <p:nvPr/>
        </p:nvSpPr>
        <p:spPr>
          <a:xfrm>
            <a:off x="2031324" y="4459874"/>
            <a:ext cx="57687" cy="57687"/>
          </a:xfrm>
          <a:custGeom>
            <a:avLst/>
            <a:gdLst/>
            <a:ahLst/>
            <a:cxnLst/>
            <a:rect l="l" t="t" r="r" b="b"/>
            <a:pathLst>
              <a:path w="57687" h="57687">
                <a:moveTo>
                  <a:pt x="0" y="0"/>
                </a:moveTo>
                <a:lnTo>
                  <a:pt x="57687" y="0"/>
                </a:lnTo>
                <a:lnTo>
                  <a:pt x="57687" y="57687"/>
                </a:lnTo>
                <a:lnTo>
                  <a:pt x="2" y="57687"/>
                </a:lnTo>
                <a:lnTo>
                  <a:pt x="0" y="5768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0" name="Illustrative delivered road transport cost class 4; reference terminal Lesedi"/>
          <p:cNvSpPr/>
          <p:nvPr/>
        </p:nvSpPr>
        <p:spPr>
          <a:xfrm>
            <a:off x="203132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1" name="Illustrative delivered road transport cost class 4; reference terminal Lesedi"/>
          <p:cNvSpPr/>
          <p:nvPr/>
        </p:nvSpPr>
        <p:spPr>
          <a:xfrm>
            <a:off x="203132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2" name="Illustrative delivered road transport cost class 4; reference terminal Lesedi"/>
          <p:cNvSpPr/>
          <p:nvPr/>
        </p:nvSpPr>
        <p:spPr>
          <a:xfrm>
            <a:off x="203132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3" name="Illustrative delivered road transport cost class 4; reference terminal Lesedi"/>
          <p:cNvSpPr/>
          <p:nvPr/>
        </p:nvSpPr>
        <p:spPr>
          <a:xfrm>
            <a:off x="203132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4" name="Illustrative delivered road transport cost class 4; reference terminal Lesedi"/>
          <p:cNvSpPr/>
          <p:nvPr/>
        </p:nvSpPr>
        <p:spPr>
          <a:xfrm>
            <a:off x="203132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5" name="Illustrative delivered road transport cost class 4; reference terminal Lesedi"/>
          <p:cNvSpPr/>
          <p:nvPr/>
        </p:nvSpPr>
        <p:spPr>
          <a:xfrm>
            <a:off x="203132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6" name="Illustrative delivered road transport cost class 4; reference terminal Lesedi"/>
          <p:cNvSpPr/>
          <p:nvPr/>
        </p:nvSpPr>
        <p:spPr>
          <a:xfrm>
            <a:off x="203132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7" name="Illustrative delivered road transport cost class 4; reference terminal Lesedi"/>
          <p:cNvSpPr/>
          <p:nvPr/>
        </p:nvSpPr>
        <p:spPr>
          <a:xfrm>
            <a:off x="2031324" y="4039446"/>
            <a:ext cx="57687" cy="16622"/>
          </a:xfrm>
          <a:custGeom>
            <a:avLst/>
            <a:gdLst/>
            <a:ahLst/>
            <a:cxnLst/>
            <a:rect l="l" t="t" r="r" b="b"/>
            <a:pathLst>
              <a:path w="57687" h="16622">
                <a:moveTo>
                  <a:pt x="57687" y="16622"/>
                </a:moveTo>
                <a:lnTo>
                  <a:pt x="0" y="16622"/>
                </a:lnTo>
                <a:lnTo>
                  <a:pt x="0" y="0"/>
                </a:lnTo>
                <a:lnTo>
                  <a:pt x="10762" y="2533"/>
                </a:lnTo>
                <a:lnTo>
                  <a:pt x="29693" y="7851"/>
                </a:lnTo>
                <a:lnTo>
                  <a:pt x="57687" y="8068"/>
                </a:lnTo>
                <a:lnTo>
                  <a:pt x="57687" y="16622"/>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8" name="Illustrative delivered road transport cost class 4; reference terminal Lesedi"/>
          <p:cNvSpPr/>
          <p:nvPr/>
        </p:nvSpPr>
        <p:spPr>
          <a:xfrm>
            <a:off x="2140180" y="4690620"/>
            <a:ext cx="6517" cy="9236"/>
          </a:xfrm>
          <a:custGeom>
            <a:avLst/>
            <a:gdLst/>
            <a:ahLst/>
            <a:cxnLst/>
            <a:rect l="l" t="t" r="r" b="b"/>
            <a:pathLst>
              <a:path w="6517" h="9236">
                <a:moveTo>
                  <a:pt x="6517" y="0"/>
                </a:moveTo>
                <a:lnTo>
                  <a:pt x="6517" y="9236"/>
                </a:lnTo>
                <a:lnTo>
                  <a:pt x="0" y="0"/>
                </a:lnTo>
                <a:lnTo>
                  <a:pt x="651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9" name="Illustrative delivered road transport cost class 4; reference terminal Lesedi"/>
          <p:cNvSpPr/>
          <p:nvPr/>
        </p:nvSpPr>
        <p:spPr>
          <a:xfrm>
            <a:off x="2099475" y="4632934"/>
            <a:ext cx="47222" cy="57686"/>
          </a:xfrm>
          <a:custGeom>
            <a:avLst/>
            <a:gdLst/>
            <a:ahLst/>
            <a:cxnLst/>
            <a:rect l="l" t="t" r="r" b="b"/>
            <a:pathLst>
              <a:path w="47222" h="57686">
                <a:moveTo>
                  <a:pt x="47222" y="0"/>
                </a:moveTo>
                <a:lnTo>
                  <a:pt x="47222" y="57686"/>
                </a:lnTo>
                <a:lnTo>
                  <a:pt x="40705" y="57686"/>
                </a:lnTo>
                <a:lnTo>
                  <a:pt x="0" y="0"/>
                </a:lnTo>
                <a:lnTo>
                  <a:pt x="4722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0" name="Illustrative delivered road transport cost class 4; reference terminal Lesedi"/>
          <p:cNvSpPr/>
          <p:nvPr/>
        </p:nvSpPr>
        <p:spPr>
          <a:xfrm>
            <a:off x="2089011" y="4575247"/>
            <a:ext cx="57686" cy="57687"/>
          </a:xfrm>
          <a:custGeom>
            <a:avLst/>
            <a:gdLst/>
            <a:ahLst/>
            <a:cxnLst/>
            <a:rect l="l" t="t" r="r" b="b"/>
            <a:pathLst>
              <a:path w="57686" h="57687">
                <a:moveTo>
                  <a:pt x="0" y="0"/>
                </a:moveTo>
                <a:lnTo>
                  <a:pt x="57686" y="0"/>
                </a:lnTo>
                <a:lnTo>
                  <a:pt x="57686" y="57687"/>
                </a:lnTo>
                <a:lnTo>
                  <a:pt x="10464" y="57687"/>
                </a:lnTo>
                <a:lnTo>
                  <a:pt x="3467" y="47770"/>
                </a:lnTo>
                <a:lnTo>
                  <a:pt x="0" y="4179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1" name="Illustrative delivered road transport cost class 4; reference terminal Lesedi"/>
          <p:cNvSpPr/>
          <p:nvPr/>
        </p:nvSpPr>
        <p:spPr>
          <a:xfrm>
            <a:off x="208901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2" name="Illustrative delivered road transport cost class 4; reference terminal Lesedi"/>
          <p:cNvSpPr/>
          <p:nvPr/>
        </p:nvSpPr>
        <p:spPr>
          <a:xfrm>
            <a:off x="208901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3" name="Illustrative delivered road transport cost class 4; reference terminal Lesedi"/>
          <p:cNvSpPr/>
          <p:nvPr/>
        </p:nvSpPr>
        <p:spPr>
          <a:xfrm>
            <a:off x="208901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4" name="Illustrative delivered road transport cost class 4; reference terminal Lesedi"/>
          <p:cNvSpPr/>
          <p:nvPr/>
        </p:nvSpPr>
        <p:spPr>
          <a:xfrm>
            <a:off x="208901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5" name="Illustrative delivered road transport cost class 4; reference terminal Lesedi"/>
          <p:cNvSpPr/>
          <p:nvPr/>
        </p:nvSpPr>
        <p:spPr>
          <a:xfrm>
            <a:off x="208901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6" name="Illustrative delivered road transport cost class 4; reference terminal Lesedi"/>
          <p:cNvSpPr/>
          <p:nvPr/>
        </p:nvSpPr>
        <p:spPr>
          <a:xfrm>
            <a:off x="208901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7" name="Illustrative delivered road transport cost class 4; reference terminal Lesedi"/>
          <p:cNvSpPr/>
          <p:nvPr/>
        </p:nvSpPr>
        <p:spPr>
          <a:xfrm>
            <a:off x="208901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8" name="Illustrative delivered road transport cost class 4; reference terminal Lesedi"/>
          <p:cNvSpPr/>
          <p:nvPr/>
        </p:nvSpPr>
        <p:spPr>
          <a:xfrm>
            <a:off x="208901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9" name="Illustrative delivered road transport cost class 4; reference terminal Lesedi"/>
          <p:cNvSpPr/>
          <p:nvPr/>
        </p:nvSpPr>
        <p:spPr>
          <a:xfrm>
            <a:off x="2089011" y="4056068"/>
            <a:ext cx="57686" cy="57687"/>
          </a:xfrm>
          <a:custGeom>
            <a:avLst/>
            <a:gdLst/>
            <a:ahLst/>
            <a:cxnLst/>
            <a:rect l="l" t="t" r="r" b="b"/>
            <a:pathLst>
              <a:path w="57686" h="57687">
                <a:moveTo>
                  <a:pt x="57686" y="57687"/>
                </a:moveTo>
                <a:lnTo>
                  <a:pt x="0" y="57687"/>
                </a:lnTo>
                <a:lnTo>
                  <a:pt x="0" y="0"/>
                </a:lnTo>
                <a:lnTo>
                  <a:pt x="38095" y="0"/>
                </a:lnTo>
                <a:lnTo>
                  <a:pt x="57686" y="9190"/>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0" name="Illustrative delivered road transport cost class 4; reference terminal Lesedi"/>
          <p:cNvSpPr/>
          <p:nvPr/>
        </p:nvSpPr>
        <p:spPr>
          <a:xfrm>
            <a:off x="2089011" y="4047514"/>
            <a:ext cx="38095" cy="8554"/>
          </a:xfrm>
          <a:custGeom>
            <a:avLst/>
            <a:gdLst/>
            <a:ahLst/>
            <a:cxnLst/>
            <a:rect l="l" t="t" r="r" b="b"/>
            <a:pathLst>
              <a:path w="38095" h="8554">
                <a:moveTo>
                  <a:pt x="0" y="8554"/>
                </a:moveTo>
                <a:lnTo>
                  <a:pt x="0" y="0"/>
                </a:lnTo>
                <a:lnTo>
                  <a:pt x="4092" y="32"/>
                </a:lnTo>
                <a:lnTo>
                  <a:pt x="34812" y="7014"/>
                </a:lnTo>
                <a:lnTo>
                  <a:pt x="38095" y="8554"/>
                </a:lnTo>
                <a:lnTo>
                  <a:pt x="0" y="855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1" name="Illustrative delivered road transport cost class 4; reference terminal Lesedi"/>
          <p:cNvSpPr/>
          <p:nvPr/>
        </p:nvSpPr>
        <p:spPr>
          <a:xfrm>
            <a:off x="2192258" y="5152113"/>
            <a:ext cx="12126" cy="17590"/>
          </a:xfrm>
          <a:custGeom>
            <a:avLst/>
            <a:gdLst/>
            <a:ahLst/>
            <a:cxnLst/>
            <a:rect l="l" t="t" r="r" b="b"/>
            <a:pathLst>
              <a:path w="12126" h="17590">
                <a:moveTo>
                  <a:pt x="12126" y="0"/>
                </a:moveTo>
                <a:lnTo>
                  <a:pt x="12126" y="17590"/>
                </a:lnTo>
                <a:lnTo>
                  <a:pt x="4095" y="11974"/>
                </a:lnTo>
                <a:lnTo>
                  <a:pt x="0" y="0"/>
                </a:lnTo>
                <a:lnTo>
                  <a:pt x="1212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2" name="Illustrative delivered road transport cost class 4; reference terminal Lesedi"/>
          <p:cNvSpPr/>
          <p:nvPr/>
        </p:nvSpPr>
        <p:spPr>
          <a:xfrm>
            <a:off x="2163229" y="5094426"/>
            <a:ext cx="41155" cy="57687"/>
          </a:xfrm>
          <a:custGeom>
            <a:avLst/>
            <a:gdLst/>
            <a:ahLst/>
            <a:cxnLst/>
            <a:rect l="l" t="t" r="r" b="b"/>
            <a:pathLst>
              <a:path w="41155" h="57687">
                <a:moveTo>
                  <a:pt x="41155" y="0"/>
                </a:moveTo>
                <a:lnTo>
                  <a:pt x="41155" y="57687"/>
                </a:lnTo>
                <a:lnTo>
                  <a:pt x="29029" y="57687"/>
                </a:lnTo>
                <a:lnTo>
                  <a:pt x="24017" y="43031"/>
                </a:lnTo>
                <a:lnTo>
                  <a:pt x="5354" y="22405"/>
                </a:lnTo>
                <a:lnTo>
                  <a:pt x="0" y="0"/>
                </a:lnTo>
                <a:lnTo>
                  <a:pt x="4115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3" name="Illustrative delivered road transport cost class 4; reference terminal Lesedi"/>
          <p:cNvSpPr/>
          <p:nvPr/>
        </p:nvSpPr>
        <p:spPr>
          <a:xfrm>
            <a:off x="2160481" y="5051030"/>
            <a:ext cx="43903" cy="43396"/>
          </a:xfrm>
          <a:custGeom>
            <a:avLst/>
            <a:gdLst/>
            <a:ahLst/>
            <a:cxnLst/>
            <a:rect l="l" t="t" r="r" b="b"/>
            <a:pathLst>
              <a:path w="43903" h="43396">
                <a:moveTo>
                  <a:pt x="43903" y="43396"/>
                </a:moveTo>
                <a:lnTo>
                  <a:pt x="2748" y="43396"/>
                </a:lnTo>
                <a:lnTo>
                  <a:pt x="0" y="31896"/>
                </a:lnTo>
                <a:lnTo>
                  <a:pt x="8243" y="11636"/>
                </a:lnTo>
                <a:lnTo>
                  <a:pt x="22628" y="0"/>
                </a:lnTo>
                <a:lnTo>
                  <a:pt x="39098" y="16063"/>
                </a:lnTo>
                <a:lnTo>
                  <a:pt x="43903" y="14057"/>
                </a:lnTo>
                <a:lnTo>
                  <a:pt x="43903" y="433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4" name="Illustrative delivered road transport cost class 4; reference terminal Lesedi"/>
          <p:cNvSpPr/>
          <p:nvPr/>
        </p:nvSpPr>
        <p:spPr>
          <a:xfrm>
            <a:off x="2184391" y="4748307"/>
            <a:ext cx="19993" cy="24875"/>
          </a:xfrm>
          <a:custGeom>
            <a:avLst/>
            <a:gdLst/>
            <a:ahLst/>
            <a:cxnLst/>
            <a:rect l="l" t="t" r="r" b="b"/>
            <a:pathLst>
              <a:path w="19993" h="24875">
                <a:moveTo>
                  <a:pt x="19993" y="0"/>
                </a:moveTo>
                <a:lnTo>
                  <a:pt x="19993" y="24875"/>
                </a:lnTo>
                <a:lnTo>
                  <a:pt x="0" y="0"/>
                </a:lnTo>
                <a:lnTo>
                  <a:pt x="1999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5" name="Illustrative delivered road transport cost class 4; reference terminal Lesedi"/>
          <p:cNvSpPr/>
          <p:nvPr/>
        </p:nvSpPr>
        <p:spPr>
          <a:xfrm>
            <a:off x="2146697" y="4690620"/>
            <a:ext cx="57687" cy="57687"/>
          </a:xfrm>
          <a:custGeom>
            <a:avLst/>
            <a:gdLst/>
            <a:ahLst/>
            <a:cxnLst/>
            <a:rect l="l" t="t" r="r" b="b"/>
            <a:pathLst>
              <a:path w="57687" h="57687">
                <a:moveTo>
                  <a:pt x="0" y="0"/>
                </a:moveTo>
                <a:lnTo>
                  <a:pt x="57687" y="0"/>
                </a:lnTo>
                <a:lnTo>
                  <a:pt x="57687" y="57687"/>
                </a:lnTo>
                <a:lnTo>
                  <a:pt x="37694" y="57687"/>
                </a:lnTo>
                <a:lnTo>
                  <a:pt x="8976" y="21957"/>
                </a:lnTo>
                <a:lnTo>
                  <a:pt x="0" y="92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6" name="Illustrative delivered road transport cost class 4; reference terminal Lesedi"/>
          <p:cNvSpPr/>
          <p:nvPr/>
        </p:nvSpPr>
        <p:spPr>
          <a:xfrm>
            <a:off x="214669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7" name="Illustrative delivered road transport cost class 4; reference terminal Lesedi"/>
          <p:cNvSpPr/>
          <p:nvPr/>
        </p:nvSpPr>
        <p:spPr>
          <a:xfrm>
            <a:off x="214669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8" name="Illustrative delivered road transport cost class 4; reference terminal Lesedi"/>
          <p:cNvSpPr/>
          <p:nvPr/>
        </p:nvSpPr>
        <p:spPr>
          <a:xfrm>
            <a:off x="214669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9" name="Illustrative delivered road transport cost class 4; reference terminal Lesedi"/>
          <p:cNvSpPr/>
          <p:nvPr/>
        </p:nvSpPr>
        <p:spPr>
          <a:xfrm>
            <a:off x="214669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0" name="Illustrative delivered road transport cost class 4; reference terminal Lesedi"/>
          <p:cNvSpPr/>
          <p:nvPr/>
        </p:nvSpPr>
        <p:spPr>
          <a:xfrm>
            <a:off x="214669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1" name="Illustrative delivered road transport cost class 4; reference terminal Lesedi"/>
          <p:cNvSpPr/>
          <p:nvPr/>
        </p:nvSpPr>
        <p:spPr>
          <a:xfrm>
            <a:off x="214669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2" name="Illustrative delivered road transport cost class 4; reference terminal Lesedi"/>
          <p:cNvSpPr/>
          <p:nvPr/>
        </p:nvSpPr>
        <p:spPr>
          <a:xfrm>
            <a:off x="214669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3" name="Illustrative delivered road transport cost class 4; reference terminal Lesedi"/>
          <p:cNvSpPr/>
          <p:nvPr/>
        </p:nvSpPr>
        <p:spPr>
          <a:xfrm>
            <a:off x="214669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4" name="Illustrative delivered road transport cost class 4; reference terminal Lesedi"/>
          <p:cNvSpPr/>
          <p:nvPr/>
        </p:nvSpPr>
        <p:spPr>
          <a:xfrm>
            <a:off x="214669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5" name="Illustrative delivered road transport cost class 4; reference terminal Lesedi"/>
          <p:cNvSpPr/>
          <p:nvPr/>
        </p:nvSpPr>
        <p:spPr>
          <a:xfrm>
            <a:off x="214669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6" name="Illustrative delivered road transport cost class 4; reference terminal Lesedi"/>
          <p:cNvSpPr/>
          <p:nvPr/>
        </p:nvSpPr>
        <p:spPr>
          <a:xfrm>
            <a:off x="2146697" y="4065258"/>
            <a:ext cx="57687" cy="48497"/>
          </a:xfrm>
          <a:custGeom>
            <a:avLst/>
            <a:gdLst/>
            <a:ahLst/>
            <a:cxnLst/>
            <a:rect l="l" t="t" r="r" b="b"/>
            <a:pathLst>
              <a:path w="57687" h="48497">
                <a:moveTo>
                  <a:pt x="57687" y="48497"/>
                </a:moveTo>
                <a:lnTo>
                  <a:pt x="0" y="48497"/>
                </a:lnTo>
                <a:lnTo>
                  <a:pt x="0" y="0"/>
                </a:lnTo>
                <a:lnTo>
                  <a:pt x="6462" y="3031"/>
                </a:lnTo>
                <a:lnTo>
                  <a:pt x="53380" y="4073"/>
                </a:lnTo>
                <a:lnTo>
                  <a:pt x="57687" y="3306"/>
                </a:lnTo>
                <a:lnTo>
                  <a:pt x="57687" y="4849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7" name="Illustrative delivered road transport cost class 4; reference terminal Lesedi"/>
          <p:cNvSpPr/>
          <p:nvPr/>
        </p:nvSpPr>
        <p:spPr>
          <a:xfrm>
            <a:off x="2232266" y="5209799"/>
            <a:ext cx="29804" cy="26922"/>
          </a:xfrm>
          <a:custGeom>
            <a:avLst/>
            <a:gdLst/>
            <a:ahLst/>
            <a:cxnLst/>
            <a:rect l="l" t="t" r="r" b="b"/>
            <a:pathLst>
              <a:path w="29804" h="26922">
                <a:moveTo>
                  <a:pt x="29804" y="0"/>
                </a:moveTo>
                <a:lnTo>
                  <a:pt x="29804" y="26922"/>
                </a:lnTo>
                <a:lnTo>
                  <a:pt x="26094" y="19665"/>
                </a:lnTo>
                <a:lnTo>
                  <a:pt x="2611" y="4925"/>
                </a:lnTo>
                <a:lnTo>
                  <a:pt x="0" y="0"/>
                </a:lnTo>
                <a:lnTo>
                  <a:pt x="2980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8" name="Illustrative delivered road transport cost class 4; reference terminal Lesedi"/>
          <p:cNvSpPr/>
          <p:nvPr/>
        </p:nvSpPr>
        <p:spPr>
          <a:xfrm>
            <a:off x="2204384" y="5152113"/>
            <a:ext cx="57686" cy="57686"/>
          </a:xfrm>
          <a:custGeom>
            <a:avLst/>
            <a:gdLst/>
            <a:ahLst/>
            <a:cxnLst/>
            <a:rect l="l" t="t" r="r" b="b"/>
            <a:pathLst>
              <a:path w="57686" h="57686">
                <a:moveTo>
                  <a:pt x="0" y="0"/>
                </a:moveTo>
                <a:lnTo>
                  <a:pt x="57686" y="0"/>
                </a:lnTo>
                <a:lnTo>
                  <a:pt x="57686" y="57686"/>
                </a:lnTo>
                <a:lnTo>
                  <a:pt x="27882" y="57686"/>
                </a:lnTo>
                <a:lnTo>
                  <a:pt x="10528" y="24952"/>
                </a:lnTo>
                <a:lnTo>
                  <a:pt x="0" y="1759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9" name="Illustrative delivered road transport cost class 4; reference terminal Lesedi"/>
          <p:cNvSpPr/>
          <p:nvPr/>
        </p:nvSpPr>
        <p:spPr>
          <a:xfrm>
            <a:off x="220438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0" name="Illustrative delivered road transport cost class 4; reference terminal Lesedi"/>
          <p:cNvSpPr/>
          <p:nvPr/>
        </p:nvSpPr>
        <p:spPr>
          <a:xfrm>
            <a:off x="2204384" y="5036740"/>
            <a:ext cx="57686" cy="57686"/>
          </a:xfrm>
          <a:custGeom>
            <a:avLst/>
            <a:gdLst/>
            <a:ahLst/>
            <a:cxnLst/>
            <a:rect l="l" t="t" r="r" b="b"/>
            <a:pathLst>
              <a:path w="57686" h="57686">
                <a:moveTo>
                  <a:pt x="57686" y="0"/>
                </a:moveTo>
                <a:lnTo>
                  <a:pt x="57686" y="57686"/>
                </a:lnTo>
                <a:lnTo>
                  <a:pt x="0" y="57686"/>
                </a:lnTo>
                <a:lnTo>
                  <a:pt x="0" y="28347"/>
                </a:lnTo>
                <a:lnTo>
                  <a:pt x="13851" y="22565"/>
                </a:lnTo>
                <a:lnTo>
                  <a:pt x="35747"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1" name="Illustrative delivered road transport cost class 4; reference terminal Lesedi"/>
          <p:cNvSpPr/>
          <p:nvPr/>
        </p:nvSpPr>
        <p:spPr>
          <a:xfrm>
            <a:off x="2240131" y="4979053"/>
            <a:ext cx="21939" cy="57687"/>
          </a:xfrm>
          <a:custGeom>
            <a:avLst/>
            <a:gdLst/>
            <a:ahLst/>
            <a:cxnLst/>
            <a:rect l="l" t="t" r="r" b="b"/>
            <a:pathLst>
              <a:path w="21939" h="57687">
                <a:moveTo>
                  <a:pt x="21939" y="0"/>
                </a:moveTo>
                <a:lnTo>
                  <a:pt x="21939" y="57687"/>
                </a:lnTo>
                <a:lnTo>
                  <a:pt x="0" y="57687"/>
                </a:lnTo>
                <a:lnTo>
                  <a:pt x="3718" y="53856"/>
                </a:lnTo>
                <a:lnTo>
                  <a:pt x="17484" y="15299"/>
                </a:lnTo>
                <a:lnTo>
                  <a:pt x="16805" y="0"/>
                </a:lnTo>
                <a:lnTo>
                  <a:pt x="2193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2" name="Illustrative delivered road transport cost class 4; reference terminal Lesedi"/>
          <p:cNvSpPr/>
          <p:nvPr/>
        </p:nvSpPr>
        <p:spPr>
          <a:xfrm>
            <a:off x="2252747" y="4921367"/>
            <a:ext cx="9323" cy="57686"/>
          </a:xfrm>
          <a:custGeom>
            <a:avLst/>
            <a:gdLst/>
            <a:ahLst/>
            <a:cxnLst/>
            <a:rect l="l" t="t" r="r" b="b"/>
            <a:pathLst>
              <a:path w="9323" h="57686">
                <a:moveTo>
                  <a:pt x="9323" y="0"/>
                </a:moveTo>
                <a:lnTo>
                  <a:pt x="9323" y="57686"/>
                </a:lnTo>
                <a:lnTo>
                  <a:pt x="4189" y="57686"/>
                </a:lnTo>
                <a:lnTo>
                  <a:pt x="2195" y="12740"/>
                </a:lnTo>
                <a:lnTo>
                  <a:pt x="0" y="0"/>
                </a:lnTo>
                <a:lnTo>
                  <a:pt x="93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3" name="Illustrative delivered road transport cost class 4; reference terminal Lesedi"/>
          <p:cNvSpPr/>
          <p:nvPr/>
        </p:nvSpPr>
        <p:spPr>
          <a:xfrm>
            <a:off x="2238964" y="4863680"/>
            <a:ext cx="23106" cy="57687"/>
          </a:xfrm>
          <a:custGeom>
            <a:avLst/>
            <a:gdLst/>
            <a:ahLst/>
            <a:cxnLst/>
            <a:rect l="l" t="t" r="r" b="b"/>
            <a:pathLst>
              <a:path w="23106" h="57687">
                <a:moveTo>
                  <a:pt x="23106" y="0"/>
                </a:moveTo>
                <a:lnTo>
                  <a:pt x="23106" y="57687"/>
                </a:lnTo>
                <a:lnTo>
                  <a:pt x="13783" y="57687"/>
                </a:lnTo>
                <a:lnTo>
                  <a:pt x="9541" y="33071"/>
                </a:lnTo>
                <a:lnTo>
                  <a:pt x="0" y="0"/>
                </a:lnTo>
                <a:lnTo>
                  <a:pt x="2310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4" name="Illustrative delivered road transport cost class 4; reference terminal Lesedi"/>
          <p:cNvSpPr/>
          <p:nvPr/>
        </p:nvSpPr>
        <p:spPr>
          <a:xfrm>
            <a:off x="2222323" y="4805994"/>
            <a:ext cx="39747" cy="57686"/>
          </a:xfrm>
          <a:custGeom>
            <a:avLst/>
            <a:gdLst/>
            <a:ahLst/>
            <a:cxnLst/>
            <a:rect l="l" t="t" r="r" b="b"/>
            <a:pathLst>
              <a:path w="39747" h="57686">
                <a:moveTo>
                  <a:pt x="39747" y="0"/>
                </a:moveTo>
                <a:lnTo>
                  <a:pt x="39747" y="57686"/>
                </a:lnTo>
                <a:lnTo>
                  <a:pt x="16641" y="57686"/>
                </a:lnTo>
                <a:lnTo>
                  <a:pt x="0" y="0"/>
                </a:lnTo>
                <a:lnTo>
                  <a:pt x="3974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5" name="Illustrative delivered road transport cost class 4; reference terminal Lesedi"/>
          <p:cNvSpPr/>
          <p:nvPr/>
        </p:nvSpPr>
        <p:spPr>
          <a:xfrm>
            <a:off x="2204384" y="4748307"/>
            <a:ext cx="57686" cy="57687"/>
          </a:xfrm>
          <a:custGeom>
            <a:avLst/>
            <a:gdLst/>
            <a:ahLst/>
            <a:cxnLst/>
            <a:rect l="l" t="t" r="r" b="b"/>
            <a:pathLst>
              <a:path w="57686" h="57687">
                <a:moveTo>
                  <a:pt x="0" y="0"/>
                </a:moveTo>
                <a:lnTo>
                  <a:pt x="57686" y="0"/>
                </a:lnTo>
                <a:lnTo>
                  <a:pt x="57686" y="57687"/>
                </a:lnTo>
                <a:lnTo>
                  <a:pt x="17939" y="57687"/>
                </a:lnTo>
                <a:lnTo>
                  <a:pt x="16463" y="52570"/>
                </a:lnTo>
                <a:lnTo>
                  <a:pt x="4806" y="30855"/>
                </a:lnTo>
                <a:lnTo>
                  <a:pt x="0" y="2487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6" name="Illustrative delivered road transport cost class 4; reference terminal Lesedi"/>
          <p:cNvSpPr/>
          <p:nvPr/>
        </p:nvSpPr>
        <p:spPr>
          <a:xfrm>
            <a:off x="220438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7" name="Illustrative delivered road transport cost class 4; reference terminal Lesedi"/>
          <p:cNvSpPr/>
          <p:nvPr/>
        </p:nvSpPr>
        <p:spPr>
          <a:xfrm>
            <a:off x="220438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8" name="Illustrative delivered road transport cost class 4; reference terminal Lesedi"/>
          <p:cNvSpPr/>
          <p:nvPr/>
        </p:nvSpPr>
        <p:spPr>
          <a:xfrm>
            <a:off x="220438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9" name="Illustrative delivered road transport cost class 4; reference terminal Lesedi"/>
          <p:cNvSpPr/>
          <p:nvPr/>
        </p:nvSpPr>
        <p:spPr>
          <a:xfrm>
            <a:off x="220438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0" name="Illustrative delivered road transport cost class 4; reference terminal Lesedi"/>
          <p:cNvSpPr/>
          <p:nvPr/>
        </p:nvSpPr>
        <p:spPr>
          <a:xfrm>
            <a:off x="220438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1" name="Illustrative delivered road transport cost class 4; reference terminal Lesedi"/>
          <p:cNvSpPr/>
          <p:nvPr/>
        </p:nvSpPr>
        <p:spPr>
          <a:xfrm>
            <a:off x="220438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2" name="Illustrative delivered road transport cost class 4; reference terminal Lesedi"/>
          <p:cNvSpPr/>
          <p:nvPr/>
        </p:nvSpPr>
        <p:spPr>
          <a:xfrm>
            <a:off x="220438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3" name="Illustrative delivered road transport cost class 4; reference terminal Lesedi"/>
          <p:cNvSpPr/>
          <p:nvPr/>
        </p:nvSpPr>
        <p:spPr>
          <a:xfrm>
            <a:off x="220438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4" name="Illustrative delivered road transport cost class 4; reference terminal Lesedi"/>
          <p:cNvSpPr/>
          <p:nvPr/>
        </p:nvSpPr>
        <p:spPr>
          <a:xfrm>
            <a:off x="220438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5" name="Illustrative delivered road transport cost class 4; reference terminal Lesedi"/>
          <p:cNvSpPr/>
          <p:nvPr/>
        </p:nvSpPr>
        <p:spPr>
          <a:xfrm>
            <a:off x="220438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6" name="Illustrative delivered road transport cost class 4; reference terminal Lesedi"/>
          <p:cNvSpPr/>
          <p:nvPr/>
        </p:nvSpPr>
        <p:spPr>
          <a:xfrm>
            <a:off x="220438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7" name="Illustrative delivered road transport cost class 4; reference terminal Lesedi"/>
          <p:cNvSpPr/>
          <p:nvPr/>
        </p:nvSpPr>
        <p:spPr>
          <a:xfrm>
            <a:off x="2204384" y="4058286"/>
            <a:ext cx="57686" cy="55469"/>
          </a:xfrm>
          <a:custGeom>
            <a:avLst/>
            <a:gdLst/>
            <a:ahLst/>
            <a:cxnLst/>
            <a:rect l="l" t="t" r="r" b="b"/>
            <a:pathLst>
              <a:path w="57686" h="55469">
                <a:moveTo>
                  <a:pt x="57686" y="55469"/>
                </a:moveTo>
                <a:lnTo>
                  <a:pt x="0" y="55469"/>
                </a:lnTo>
                <a:lnTo>
                  <a:pt x="0" y="10278"/>
                </a:lnTo>
                <a:lnTo>
                  <a:pt x="57686" y="0"/>
                </a:lnTo>
                <a:lnTo>
                  <a:pt x="57686" y="55469"/>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8" name="Illustrative delivered road transport cost class 4; reference terminal Lesedi"/>
          <p:cNvSpPr/>
          <p:nvPr/>
        </p:nvSpPr>
        <p:spPr>
          <a:xfrm>
            <a:off x="2298674" y="5440546"/>
            <a:ext cx="17176" cy="22856"/>
          </a:xfrm>
          <a:custGeom>
            <a:avLst/>
            <a:gdLst/>
            <a:ahLst/>
            <a:cxnLst/>
            <a:rect l="l" t="t" r="r" b="b"/>
            <a:pathLst>
              <a:path w="17176" h="22856">
                <a:moveTo>
                  <a:pt x="15808" y="0"/>
                </a:moveTo>
                <a:lnTo>
                  <a:pt x="17176" y="22856"/>
                </a:lnTo>
                <a:lnTo>
                  <a:pt x="5490" y="10384"/>
                </a:lnTo>
                <a:lnTo>
                  <a:pt x="0" y="0"/>
                </a:lnTo>
                <a:lnTo>
                  <a:pt x="1580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9" name="Illustrative delivered road transport cost class 4; reference terminal Lesedi"/>
          <p:cNvSpPr/>
          <p:nvPr/>
        </p:nvSpPr>
        <p:spPr>
          <a:xfrm>
            <a:off x="2284267" y="5382859"/>
            <a:ext cx="35490" cy="57687"/>
          </a:xfrm>
          <a:custGeom>
            <a:avLst/>
            <a:gdLst/>
            <a:ahLst/>
            <a:cxnLst/>
            <a:rect l="l" t="t" r="r" b="b"/>
            <a:pathLst>
              <a:path w="35490" h="57687">
                <a:moveTo>
                  <a:pt x="35490" y="0"/>
                </a:moveTo>
                <a:lnTo>
                  <a:pt x="35490" y="20566"/>
                </a:lnTo>
                <a:lnTo>
                  <a:pt x="28847" y="34848"/>
                </a:lnTo>
                <a:lnTo>
                  <a:pt x="30215" y="57687"/>
                </a:lnTo>
                <a:lnTo>
                  <a:pt x="14407" y="57687"/>
                </a:lnTo>
                <a:lnTo>
                  <a:pt x="5806" y="41418"/>
                </a:lnTo>
                <a:lnTo>
                  <a:pt x="0" y="12455"/>
                </a:lnTo>
                <a:lnTo>
                  <a:pt x="821" y="0"/>
                </a:lnTo>
                <a:lnTo>
                  <a:pt x="354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Illustrative delivered road transport cost class 4; reference terminal Lesedi"/>
          <p:cNvSpPr/>
          <p:nvPr/>
        </p:nvSpPr>
        <p:spPr>
          <a:xfrm>
            <a:off x="2285088" y="5325173"/>
            <a:ext cx="34669" cy="57686"/>
          </a:xfrm>
          <a:custGeom>
            <a:avLst/>
            <a:gdLst/>
            <a:ahLst/>
            <a:cxnLst/>
            <a:rect l="l" t="t" r="r" b="b"/>
            <a:pathLst>
              <a:path w="34669" h="57686">
                <a:moveTo>
                  <a:pt x="34669" y="0"/>
                </a:moveTo>
                <a:lnTo>
                  <a:pt x="34669" y="57686"/>
                </a:lnTo>
                <a:lnTo>
                  <a:pt x="0" y="57686"/>
                </a:lnTo>
                <a:lnTo>
                  <a:pt x="1472" y="35343"/>
                </a:lnTo>
                <a:lnTo>
                  <a:pt x="24220" y="20879"/>
                </a:lnTo>
                <a:lnTo>
                  <a:pt x="21281" y="0"/>
                </a:lnTo>
                <a:lnTo>
                  <a:pt x="3466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Illustrative delivered road transport cost class 4; reference terminal Lesedi"/>
          <p:cNvSpPr/>
          <p:nvPr/>
        </p:nvSpPr>
        <p:spPr>
          <a:xfrm>
            <a:off x="2278956" y="5267486"/>
            <a:ext cx="40801" cy="57687"/>
          </a:xfrm>
          <a:custGeom>
            <a:avLst/>
            <a:gdLst/>
            <a:ahLst/>
            <a:cxnLst/>
            <a:rect l="l" t="t" r="r" b="b"/>
            <a:pathLst>
              <a:path w="40801" h="57687">
                <a:moveTo>
                  <a:pt x="40801" y="0"/>
                </a:moveTo>
                <a:lnTo>
                  <a:pt x="40801" y="57687"/>
                </a:lnTo>
                <a:lnTo>
                  <a:pt x="27413" y="57687"/>
                </a:lnTo>
                <a:lnTo>
                  <a:pt x="27083" y="55337"/>
                </a:lnTo>
                <a:lnTo>
                  <a:pt x="20834" y="35385"/>
                </a:lnTo>
                <a:lnTo>
                  <a:pt x="0" y="0"/>
                </a:lnTo>
                <a:lnTo>
                  <a:pt x="40801"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Illustrative delivered road transport cost class 4; reference terminal Lesedi"/>
          <p:cNvSpPr/>
          <p:nvPr/>
        </p:nvSpPr>
        <p:spPr>
          <a:xfrm>
            <a:off x="2262070" y="5209799"/>
            <a:ext cx="57687" cy="57687"/>
          </a:xfrm>
          <a:custGeom>
            <a:avLst/>
            <a:gdLst/>
            <a:ahLst/>
            <a:cxnLst/>
            <a:rect l="l" t="t" r="r" b="b"/>
            <a:pathLst>
              <a:path w="57687" h="57687">
                <a:moveTo>
                  <a:pt x="0" y="0"/>
                </a:moveTo>
                <a:lnTo>
                  <a:pt x="57687" y="0"/>
                </a:lnTo>
                <a:lnTo>
                  <a:pt x="57687" y="57687"/>
                </a:lnTo>
                <a:lnTo>
                  <a:pt x="16886" y="57687"/>
                </a:lnTo>
                <a:lnTo>
                  <a:pt x="8102" y="42768"/>
                </a:lnTo>
                <a:lnTo>
                  <a:pt x="0" y="2692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Illustrative delivered road transport cost class 4; reference terminal Lesedi"/>
          <p:cNvSpPr/>
          <p:nvPr/>
        </p:nvSpPr>
        <p:spPr>
          <a:xfrm>
            <a:off x="226207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Illustrative delivered road transport cost class 4; reference terminal Lesedi"/>
          <p:cNvSpPr/>
          <p:nvPr/>
        </p:nvSpPr>
        <p:spPr>
          <a:xfrm>
            <a:off x="226207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Illustrative delivered road transport cost class 4; reference terminal Lesedi"/>
          <p:cNvSpPr/>
          <p:nvPr/>
        </p:nvSpPr>
        <p:spPr>
          <a:xfrm>
            <a:off x="226207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Illustrative delivered road transport cost class 4; reference terminal Lesedi"/>
          <p:cNvSpPr/>
          <p:nvPr/>
        </p:nvSpPr>
        <p:spPr>
          <a:xfrm>
            <a:off x="226207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Illustrative delivered road transport cost class 4; reference terminal Lesedi"/>
          <p:cNvSpPr/>
          <p:nvPr/>
        </p:nvSpPr>
        <p:spPr>
          <a:xfrm>
            <a:off x="226207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Illustrative delivered road transport cost class 4; reference terminal Lesedi"/>
          <p:cNvSpPr/>
          <p:nvPr/>
        </p:nvSpPr>
        <p:spPr>
          <a:xfrm>
            <a:off x="226207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Illustrative delivered road transport cost class 4; reference terminal Lesedi"/>
          <p:cNvSpPr/>
          <p:nvPr/>
        </p:nvSpPr>
        <p:spPr>
          <a:xfrm>
            <a:off x="226207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Illustrative delivered road transport cost class 4; reference terminal Lesedi"/>
          <p:cNvSpPr/>
          <p:nvPr/>
        </p:nvSpPr>
        <p:spPr>
          <a:xfrm>
            <a:off x="226207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Illustrative delivered road transport cost class 4; reference terminal Lesedi"/>
          <p:cNvSpPr/>
          <p:nvPr/>
        </p:nvSpPr>
        <p:spPr>
          <a:xfrm>
            <a:off x="226207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Illustrative delivered road transport cost class 4; reference terminal Lesedi"/>
          <p:cNvSpPr/>
          <p:nvPr/>
        </p:nvSpPr>
        <p:spPr>
          <a:xfrm>
            <a:off x="226207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Illustrative delivered road transport cost class 4; reference terminal Lesedi"/>
          <p:cNvSpPr/>
          <p:nvPr/>
        </p:nvSpPr>
        <p:spPr>
          <a:xfrm>
            <a:off x="226207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Illustrative delivered road transport cost class 4; reference terminal Lesedi"/>
          <p:cNvSpPr/>
          <p:nvPr/>
        </p:nvSpPr>
        <p:spPr>
          <a:xfrm>
            <a:off x="226207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Illustrative delivered road transport cost class 4; reference terminal Lesedi"/>
          <p:cNvSpPr/>
          <p:nvPr/>
        </p:nvSpPr>
        <p:spPr>
          <a:xfrm>
            <a:off x="226207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6" name="Illustrative delivered road transport cost class 4; reference terminal Lesedi"/>
          <p:cNvSpPr/>
          <p:nvPr/>
        </p:nvSpPr>
        <p:spPr>
          <a:xfrm>
            <a:off x="226207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7" name="Illustrative delivered road transport cost class 4; reference terminal Lesedi"/>
          <p:cNvSpPr/>
          <p:nvPr/>
        </p:nvSpPr>
        <p:spPr>
          <a:xfrm>
            <a:off x="226207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8" name="Illustrative delivered road transport cost class 4; reference terminal Lesedi"/>
          <p:cNvSpPr/>
          <p:nvPr/>
        </p:nvSpPr>
        <p:spPr>
          <a:xfrm>
            <a:off x="226207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Illustrative delivered road transport cost class 4; reference terminal Lesedi"/>
          <p:cNvSpPr/>
          <p:nvPr/>
        </p:nvSpPr>
        <p:spPr>
          <a:xfrm>
            <a:off x="226207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0" name="Illustrative delivered road transport cost class 4; reference terminal Lesedi"/>
          <p:cNvSpPr/>
          <p:nvPr/>
        </p:nvSpPr>
        <p:spPr>
          <a:xfrm>
            <a:off x="226207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Illustrative delivered road transport cost class 4; reference terminal Lesedi"/>
          <p:cNvSpPr/>
          <p:nvPr/>
        </p:nvSpPr>
        <p:spPr>
          <a:xfrm>
            <a:off x="226207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2" name="Illustrative delivered road transport cost class 4; reference terminal Lesedi"/>
          <p:cNvSpPr/>
          <p:nvPr/>
        </p:nvSpPr>
        <p:spPr>
          <a:xfrm>
            <a:off x="2262070" y="4057828"/>
            <a:ext cx="57687" cy="55927"/>
          </a:xfrm>
          <a:custGeom>
            <a:avLst/>
            <a:gdLst/>
            <a:ahLst/>
            <a:cxnLst/>
            <a:rect l="l" t="t" r="r" b="b"/>
            <a:pathLst>
              <a:path w="57687" h="55927">
                <a:moveTo>
                  <a:pt x="57687" y="55927"/>
                </a:moveTo>
                <a:lnTo>
                  <a:pt x="0" y="55927"/>
                </a:lnTo>
                <a:lnTo>
                  <a:pt x="0" y="458"/>
                </a:lnTo>
                <a:lnTo>
                  <a:pt x="2572" y="0"/>
                </a:lnTo>
                <a:lnTo>
                  <a:pt x="56290" y="711"/>
                </a:lnTo>
                <a:lnTo>
                  <a:pt x="57687" y="1131"/>
                </a:lnTo>
                <a:lnTo>
                  <a:pt x="57687" y="559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3" name="Illustrative delivered road transport cost class 4; reference terminal Lesedi"/>
          <p:cNvSpPr/>
          <p:nvPr/>
        </p:nvSpPr>
        <p:spPr>
          <a:xfrm>
            <a:off x="2319757" y="5382859"/>
            <a:ext cx="57687" cy="20566"/>
          </a:xfrm>
          <a:custGeom>
            <a:avLst/>
            <a:gdLst/>
            <a:ahLst/>
            <a:cxnLst/>
            <a:rect l="l" t="t" r="r" b="b"/>
            <a:pathLst>
              <a:path w="57687" h="20566">
                <a:moveTo>
                  <a:pt x="0" y="0"/>
                </a:moveTo>
                <a:lnTo>
                  <a:pt x="57687" y="0"/>
                </a:lnTo>
                <a:lnTo>
                  <a:pt x="57687" y="11455"/>
                </a:lnTo>
                <a:lnTo>
                  <a:pt x="53664" y="9552"/>
                </a:lnTo>
                <a:lnTo>
                  <a:pt x="44260" y="7315"/>
                </a:lnTo>
                <a:lnTo>
                  <a:pt x="22335" y="9939"/>
                </a:lnTo>
                <a:lnTo>
                  <a:pt x="7314" y="12991"/>
                </a:lnTo>
                <a:lnTo>
                  <a:pt x="561" y="19360"/>
                </a:lnTo>
                <a:lnTo>
                  <a:pt x="0" y="2056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4" name="Illustrative delivered road transport cost class 4; reference terminal Lesedi"/>
          <p:cNvSpPr/>
          <p:nvPr/>
        </p:nvSpPr>
        <p:spPr>
          <a:xfrm>
            <a:off x="2319757"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5" name="Illustrative delivered road transport cost class 4; reference terminal Lesedi"/>
          <p:cNvSpPr/>
          <p:nvPr/>
        </p:nvSpPr>
        <p:spPr>
          <a:xfrm>
            <a:off x="2319757"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6" name="Illustrative delivered road transport cost class 4; reference terminal Lesedi"/>
          <p:cNvSpPr/>
          <p:nvPr/>
        </p:nvSpPr>
        <p:spPr>
          <a:xfrm>
            <a:off x="2319757"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Illustrative delivered road transport cost class 4; reference terminal Lesedi"/>
          <p:cNvSpPr/>
          <p:nvPr/>
        </p:nvSpPr>
        <p:spPr>
          <a:xfrm>
            <a:off x="231975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8" name="Illustrative delivered road transport cost class 4; reference terminal Lesedi"/>
          <p:cNvSpPr/>
          <p:nvPr/>
        </p:nvSpPr>
        <p:spPr>
          <a:xfrm>
            <a:off x="231975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Illustrative delivered road transport cost class 4; reference terminal Lesedi"/>
          <p:cNvSpPr/>
          <p:nvPr/>
        </p:nvSpPr>
        <p:spPr>
          <a:xfrm>
            <a:off x="231975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0" name="Illustrative delivered road transport cost class 4; reference terminal Lesedi"/>
          <p:cNvSpPr/>
          <p:nvPr/>
        </p:nvSpPr>
        <p:spPr>
          <a:xfrm>
            <a:off x="231975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1" name="Illustrative delivered road transport cost class 4; reference terminal Lesedi"/>
          <p:cNvSpPr/>
          <p:nvPr/>
        </p:nvSpPr>
        <p:spPr>
          <a:xfrm>
            <a:off x="231975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2" name="Illustrative delivered road transport cost class 4; reference terminal Lesedi"/>
          <p:cNvSpPr/>
          <p:nvPr/>
        </p:nvSpPr>
        <p:spPr>
          <a:xfrm>
            <a:off x="231975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3" name="Illustrative delivered road transport cost class 4; reference terminal Lesedi"/>
          <p:cNvSpPr/>
          <p:nvPr/>
        </p:nvSpPr>
        <p:spPr>
          <a:xfrm>
            <a:off x="231975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4" name="Illustrative delivered road transport cost class 4; reference terminal Lesedi"/>
          <p:cNvSpPr/>
          <p:nvPr/>
        </p:nvSpPr>
        <p:spPr>
          <a:xfrm>
            <a:off x="231975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5" name="Illustrative delivered road transport cost class 4; reference terminal Lesedi"/>
          <p:cNvSpPr/>
          <p:nvPr/>
        </p:nvSpPr>
        <p:spPr>
          <a:xfrm>
            <a:off x="231975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6" name="Illustrative delivered road transport cost class 4; reference terminal Lesedi"/>
          <p:cNvSpPr/>
          <p:nvPr/>
        </p:nvSpPr>
        <p:spPr>
          <a:xfrm>
            <a:off x="231975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7" name="Illustrative delivered road transport cost class 4; reference terminal Lesedi"/>
          <p:cNvSpPr/>
          <p:nvPr/>
        </p:nvSpPr>
        <p:spPr>
          <a:xfrm>
            <a:off x="231975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8" name="Illustrative delivered road transport cost class 4; reference terminal Lesedi"/>
          <p:cNvSpPr/>
          <p:nvPr/>
        </p:nvSpPr>
        <p:spPr>
          <a:xfrm>
            <a:off x="231975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9" name="Illustrative delivered road transport cost class 4; reference terminal Lesedi"/>
          <p:cNvSpPr/>
          <p:nvPr/>
        </p:nvSpPr>
        <p:spPr>
          <a:xfrm>
            <a:off x="231975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0" name="Illustrative delivered road transport cost class 4; reference terminal Lesedi"/>
          <p:cNvSpPr/>
          <p:nvPr/>
        </p:nvSpPr>
        <p:spPr>
          <a:xfrm>
            <a:off x="231975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1" name="Illustrative delivered road transport cost class 4; reference terminal Lesedi"/>
          <p:cNvSpPr/>
          <p:nvPr/>
        </p:nvSpPr>
        <p:spPr>
          <a:xfrm>
            <a:off x="231975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2" name="Illustrative delivered road transport cost class 4; reference terminal Lesedi"/>
          <p:cNvSpPr/>
          <p:nvPr/>
        </p:nvSpPr>
        <p:spPr>
          <a:xfrm>
            <a:off x="231975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3" name="Illustrative delivered road transport cost class 4; reference terminal Lesedi"/>
          <p:cNvSpPr/>
          <p:nvPr/>
        </p:nvSpPr>
        <p:spPr>
          <a:xfrm>
            <a:off x="231975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4" name="Illustrative delivered road transport cost class 4; reference terminal Lesedi"/>
          <p:cNvSpPr/>
          <p:nvPr/>
        </p:nvSpPr>
        <p:spPr>
          <a:xfrm>
            <a:off x="231975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Illustrative delivered road transport cost class 4; reference terminal Lesedi"/>
          <p:cNvSpPr/>
          <p:nvPr/>
        </p:nvSpPr>
        <p:spPr>
          <a:xfrm>
            <a:off x="231975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Illustrative delivered road transport cost class 4; reference terminal Lesedi"/>
          <p:cNvSpPr/>
          <p:nvPr/>
        </p:nvSpPr>
        <p:spPr>
          <a:xfrm>
            <a:off x="2319757" y="4058959"/>
            <a:ext cx="57687" cy="54796"/>
          </a:xfrm>
          <a:custGeom>
            <a:avLst/>
            <a:gdLst/>
            <a:ahLst/>
            <a:cxnLst/>
            <a:rect l="l" t="t" r="r" b="b"/>
            <a:pathLst>
              <a:path w="57687" h="54796">
                <a:moveTo>
                  <a:pt x="57687" y="54796"/>
                </a:moveTo>
                <a:lnTo>
                  <a:pt x="0" y="54796"/>
                </a:lnTo>
                <a:lnTo>
                  <a:pt x="0" y="0"/>
                </a:lnTo>
                <a:lnTo>
                  <a:pt x="41425" y="12459"/>
                </a:lnTo>
                <a:lnTo>
                  <a:pt x="57687" y="13126"/>
                </a:lnTo>
                <a:lnTo>
                  <a:pt x="57687" y="547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7" name="Illustrative delivered road transport cost class 4; reference terminal Lesedi"/>
          <p:cNvSpPr/>
          <p:nvPr/>
        </p:nvSpPr>
        <p:spPr>
          <a:xfrm>
            <a:off x="2392135" y="5440546"/>
            <a:ext cx="42995" cy="22866"/>
          </a:xfrm>
          <a:custGeom>
            <a:avLst/>
            <a:gdLst/>
            <a:ahLst/>
            <a:cxnLst/>
            <a:rect l="l" t="t" r="r" b="b"/>
            <a:pathLst>
              <a:path w="42995" h="22866">
                <a:moveTo>
                  <a:pt x="42995" y="0"/>
                </a:moveTo>
                <a:lnTo>
                  <a:pt x="42995" y="16296"/>
                </a:lnTo>
                <a:lnTo>
                  <a:pt x="27646" y="16299"/>
                </a:lnTo>
                <a:lnTo>
                  <a:pt x="17172" y="21189"/>
                </a:lnTo>
                <a:lnTo>
                  <a:pt x="2340" y="22866"/>
                </a:lnTo>
                <a:lnTo>
                  <a:pt x="0" y="5670"/>
                </a:lnTo>
                <a:lnTo>
                  <a:pt x="281" y="0"/>
                </a:lnTo>
                <a:lnTo>
                  <a:pt x="4299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Illustrative delivered road transport cost class 4; reference terminal Lesedi"/>
          <p:cNvSpPr/>
          <p:nvPr/>
        </p:nvSpPr>
        <p:spPr>
          <a:xfrm>
            <a:off x="2377444" y="5382859"/>
            <a:ext cx="57686" cy="57687"/>
          </a:xfrm>
          <a:custGeom>
            <a:avLst/>
            <a:gdLst/>
            <a:ahLst/>
            <a:cxnLst/>
            <a:rect l="l" t="t" r="r" b="b"/>
            <a:pathLst>
              <a:path w="57686" h="57687">
                <a:moveTo>
                  <a:pt x="0" y="0"/>
                </a:moveTo>
                <a:lnTo>
                  <a:pt x="57686" y="0"/>
                </a:lnTo>
                <a:lnTo>
                  <a:pt x="57686" y="57687"/>
                </a:lnTo>
                <a:lnTo>
                  <a:pt x="14972" y="57687"/>
                </a:lnTo>
                <a:lnTo>
                  <a:pt x="15233" y="52413"/>
                </a:lnTo>
                <a:lnTo>
                  <a:pt x="13341" y="35743"/>
                </a:lnTo>
                <a:lnTo>
                  <a:pt x="8403" y="15432"/>
                </a:lnTo>
                <a:lnTo>
                  <a:pt x="0" y="1145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9" name="Illustrative delivered road transport cost class 4; reference terminal Lesedi"/>
          <p:cNvSpPr/>
          <p:nvPr/>
        </p:nvSpPr>
        <p:spPr>
          <a:xfrm>
            <a:off x="2377444"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Illustrative delivered road transport cost class 4; reference terminal Lesedi"/>
          <p:cNvSpPr/>
          <p:nvPr/>
        </p:nvSpPr>
        <p:spPr>
          <a:xfrm>
            <a:off x="2377444"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1" name="Illustrative delivered road transport cost class 4; reference terminal Lesedi"/>
          <p:cNvSpPr/>
          <p:nvPr/>
        </p:nvSpPr>
        <p:spPr>
          <a:xfrm>
            <a:off x="2377444"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Illustrative delivered road transport cost class 4; reference terminal Lesedi"/>
          <p:cNvSpPr/>
          <p:nvPr/>
        </p:nvSpPr>
        <p:spPr>
          <a:xfrm>
            <a:off x="2377444"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3" name="Illustrative delivered road transport cost class 4; reference terminal Lesedi"/>
          <p:cNvSpPr/>
          <p:nvPr/>
        </p:nvSpPr>
        <p:spPr>
          <a:xfrm>
            <a:off x="237744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Illustrative delivered road transport cost class 4; reference terminal Lesedi"/>
          <p:cNvSpPr/>
          <p:nvPr/>
        </p:nvSpPr>
        <p:spPr>
          <a:xfrm>
            <a:off x="237744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5" name="Illustrative delivered road transport cost class 4; reference terminal Lesedi"/>
          <p:cNvSpPr/>
          <p:nvPr/>
        </p:nvSpPr>
        <p:spPr>
          <a:xfrm>
            <a:off x="237744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Illustrative delivered road transport cost class 4; reference terminal Lesedi"/>
          <p:cNvSpPr/>
          <p:nvPr/>
        </p:nvSpPr>
        <p:spPr>
          <a:xfrm>
            <a:off x="237744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7" name="Illustrative delivered road transport cost class 4; reference terminal Lesedi"/>
          <p:cNvSpPr/>
          <p:nvPr/>
        </p:nvSpPr>
        <p:spPr>
          <a:xfrm>
            <a:off x="237744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8" name="Illustrative delivered road transport cost class 4; reference terminal Lesedi"/>
          <p:cNvSpPr/>
          <p:nvPr/>
        </p:nvSpPr>
        <p:spPr>
          <a:xfrm>
            <a:off x="237744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9" name="Illustrative delivered road transport cost class 4; reference terminal Lesedi"/>
          <p:cNvSpPr/>
          <p:nvPr/>
        </p:nvSpPr>
        <p:spPr>
          <a:xfrm>
            <a:off x="237744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0" name="Illustrative delivered road transport cost class 4; reference terminal Lesedi"/>
          <p:cNvSpPr/>
          <p:nvPr/>
        </p:nvSpPr>
        <p:spPr>
          <a:xfrm>
            <a:off x="237744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1" name="Illustrative delivered road transport cost class 4; reference terminal Lesedi"/>
          <p:cNvSpPr/>
          <p:nvPr/>
        </p:nvSpPr>
        <p:spPr>
          <a:xfrm>
            <a:off x="237744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2" name="Illustrative delivered road transport cost class 4; reference terminal Lesedi"/>
          <p:cNvSpPr/>
          <p:nvPr/>
        </p:nvSpPr>
        <p:spPr>
          <a:xfrm>
            <a:off x="237744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3" name="Illustrative delivered road transport cost class 4; reference terminal Lesedi"/>
          <p:cNvSpPr/>
          <p:nvPr/>
        </p:nvSpPr>
        <p:spPr>
          <a:xfrm>
            <a:off x="237744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4" name="Illustrative delivered road transport cost class 4; reference terminal Lesedi"/>
          <p:cNvSpPr/>
          <p:nvPr/>
        </p:nvSpPr>
        <p:spPr>
          <a:xfrm>
            <a:off x="237744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5" name="Illustrative delivered road transport cost class 4; reference terminal Lesedi"/>
          <p:cNvSpPr/>
          <p:nvPr/>
        </p:nvSpPr>
        <p:spPr>
          <a:xfrm>
            <a:off x="237744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6" name="Illustrative delivered road transport cost class 4; reference terminal Lesedi"/>
          <p:cNvSpPr/>
          <p:nvPr/>
        </p:nvSpPr>
        <p:spPr>
          <a:xfrm>
            <a:off x="237744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7" name="Illustrative delivered road transport cost class 4; reference terminal Lesedi"/>
          <p:cNvSpPr/>
          <p:nvPr/>
        </p:nvSpPr>
        <p:spPr>
          <a:xfrm>
            <a:off x="237744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8" name="Illustrative delivered road transport cost class 4; reference terminal Lesedi"/>
          <p:cNvSpPr/>
          <p:nvPr/>
        </p:nvSpPr>
        <p:spPr>
          <a:xfrm>
            <a:off x="237744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9" name="Illustrative delivered road transport cost class 4; reference terminal Lesedi"/>
          <p:cNvSpPr/>
          <p:nvPr/>
        </p:nvSpPr>
        <p:spPr>
          <a:xfrm>
            <a:off x="237744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0" name="Illustrative delivered road transport cost class 4; reference terminal Lesedi"/>
          <p:cNvSpPr/>
          <p:nvPr/>
        </p:nvSpPr>
        <p:spPr>
          <a:xfrm>
            <a:off x="237744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1" name="Illustrative delivered road transport cost class 4; reference terminal Lesedi"/>
          <p:cNvSpPr/>
          <p:nvPr/>
        </p:nvSpPr>
        <p:spPr>
          <a:xfrm>
            <a:off x="2377444" y="4056068"/>
            <a:ext cx="57686" cy="57687"/>
          </a:xfrm>
          <a:custGeom>
            <a:avLst/>
            <a:gdLst/>
            <a:ahLst/>
            <a:cxnLst/>
            <a:rect l="l" t="t" r="r" b="b"/>
            <a:pathLst>
              <a:path w="57686" h="57687">
                <a:moveTo>
                  <a:pt x="57686" y="0"/>
                </a:moveTo>
                <a:lnTo>
                  <a:pt x="57686" y="57687"/>
                </a:lnTo>
                <a:lnTo>
                  <a:pt x="0" y="57687"/>
                </a:lnTo>
                <a:lnTo>
                  <a:pt x="0" y="16017"/>
                </a:lnTo>
                <a:lnTo>
                  <a:pt x="14325" y="16605"/>
                </a:lnTo>
                <a:lnTo>
                  <a:pt x="32739" y="6194"/>
                </a:lnTo>
                <a:lnTo>
                  <a:pt x="36035"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2" name="Illustrative delivered road transport cost class 4; reference terminal Lesedi"/>
          <p:cNvSpPr/>
          <p:nvPr/>
        </p:nvSpPr>
        <p:spPr>
          <a:xfrm>
            <a:off x="2413479" y="4015168"/>
            <a:ext cx="21651" cy="40900"/>
          </a:xfrm>
          <a:custGeom>
            <a:avLst/>
            <a:gdLst/>
            <a:ahLst/>
            <a:cxnLst/>
            <a:rect l="l" t="t" r="r" b="b"/>
            <a:pathLst>
              <a:path w="21651" h="40900">
                <a:moveTo>
                  <a:pt x="21651" y="40900"/>
                </a:moveTo>
                <a:lnTo>
                  <a:pt x="0" y="40900"/>
                </a:lnTo>
                <a:lnTo>
                  <a:pt x="4223" y="32964"/>
                </a:lnTo>
                <a:lnTo>
                  <a:pt x="834" y="15133"/>
                </a:lnTo>
                <a:lnTo>
                  <a:pt x="9667" y="3321"/>
                </a:lnTo>
                <a:lnTo>
                  <a:pt x="21651" y="0"/>
                </a:lnTo>
                <a:lnTo>
                  <a:pt x="21651" y="4090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3" name="Illustrative delivered road transport cost class 4; reference terminal Lesedi"/>
          <p:cNvSpPr/>
          <p:nvPr/>
        </p:nvSpPr>
        <p:spPr>
          <a:xfrm>
            <a:off x="2435130" y="5440546"/>
            <a:ext cx="57687" cy="39277"/>
          </a:xfrm>
          <a:custGeom>
            <a:avLst/>
            <a:gdLst/>
            <a:ahLst/>
            <a:cxnLst/>
            <a:rect l="l" t="t" r="r" b="b"/>
            <a:pathLst>
              <a:path w="57687" h="39277">
                <a:moveTo>
                  <a:pt x="0" y="0"/>
                </a:moveTo>
                <a:lnTo>
                  <a:pt x="57687" y="0"/>
                </a:lnTo>
                <a:lnTo>
                  <a:pt x="57687" y="39277"/>
                </a:lnTo>
                <a:lnTo>
                  <a:pt x="55343" y="36540"/>
                </a:lnTo>
                <a:lnTo>
                  <a:pt x="47632" y="30598"/>
                </a:lnTo>
                <a:lnTo>
                  <a:pt x="27459" y="32805"/>
                </a:lnTo>
                <a:lnTo>
                  <a:pt x="15740" y="16292"/>
                </a:lnTo>
                <a:lnTo>
                  <a:pt x="0" y="162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4" name="Illustrative delivered road transport cost class 4; reference terminal Lesedi"/>
          <p:cNvSpPr/>
          <p:nvPr/>
        </p:nvSpPr>
        <p:spPr>
          <a:xfrm>
            <a:off x="2435130"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5" name="Illustrative delivered road transport cost class 4; reference terminal Lesedi"/>
          <p:cNvSpPr/>
          <p:nvPr/>
        </p:nvSpPr>
        <p:spPr>
          <a:xfrm>
            <a:off x="2435130"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6" name="Illustrative delivered road transport cost class 4; reference terminal Lesedi"/>
          <p:cNvSpPr/>
          <p:nvPr/>
        </p:nvSpPr>
        <p:spPr>
          <a:xfrm>
            <a:off x="2435130"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7" name="Illustrative delivered road transport cost class 4; reference terminal Lesedi"/>
          <p:cNvSpPr/>
          <p:nvPr/>
        </p:nvSpPr>
        <p:spPr>
          <a:xfrm>
            <a:off x="2435130"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8" name="Illustrative delivered road transport cost class 4; reference terminal Lesedi"/>
          <p:cNvSpPr/>
          <p:nvPr/>
        </p:nvSpPr>
        <p:spPr>
          <a:xfrm>
            <a:off x="243513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9" name="Illustrative delivered road transport cost class 4; reference terminal Lesedi"/>
          <p:cNvSpPr/>
          <p:nvPr/>
        </p:nvSpPr>
        <p:spPr>
          <a:xfrm>
            <a:off x="243513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0" name="Illustrative delivered road transport cost class 4; reference terminal Lesedi"/>
          <p:cNvSpPr/>
          <p:nvPr/>
        </p:nvSpPr>
        <p:spPr>
          <a:xfrm>
            <a:off x="243513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1" name="Illustrative delivered road transport cost class 4; reference terminal Lesedi"/>
          <p:cNvSpPr/>
          <p:nvPr/>
        </p:nvSpPr>
        <p:spPr>
          <a:xfrm>
            <a:off x="243513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2" name="Illustrative delivered road transport cost class 4; reference terminal Lesedi"/>
          <p:cNvSpPr/>
          <p:nvPr/>
        </p:nvSpPr>
        <p:spPr>
          <a:xfrm>
            <a:off x="243513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3" name="Illustrative delivered road transport cost class 4; reference terminal Lesedi"/>
          <p:cNvSpPr/>
          <p:nvPr/>
        </p:nvSpPr>
        <p:spPr>
          <a:xfrm>
            <a:off x="243513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4" name="Illustrative delivered road transport cost class 4; reference terminal Lesedi"/>
          <p:cNvSpPr/>
          <p:nvPr/>
        </p:nvSpPr>
        <p:spPr>
          <a:xfrm>
            <a:off x="243513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5" name="Illustrative delivered road transport cost class 4; reference terminal Lesedi"/>
          <p:cNvSpPr/>
          <p:nvPr/>
        </p:nvSpPr>
        <p:spPr>
          <a:xfrm>
            <a:off x="243513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6" name="Illustrative delivered road transport cost class 4; reference terminal Lesedi"/>
          <p:cNvSpPr/>
          <p:nvPr/>
        </p:nvSpPr>
        <p:spPr>
          <a:xfrm>
            <a:off x="243513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7" name="Illustrative delivered road transport cost class 4; reference terminal Lesedi"/>
          <p:cNvSpPr/>
          <p:nvPr/>
        </p:nvSpPr>
        <p:spPr>
          <a:xfrm>
            <a:off x="243513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8" name="Illustrative delivered road transport cost class 4; reference terminal Lesedi"/>
          <p:cNvSpPr/>
          <p:nvPr/>
        </p:nvSpPr>
        <p:spPr>
          <a:xfrm>
            <a:off x="243513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9" name="Illustrative delivered road transport cost class 4; reference terminal Lesedi"/>
          <p:cNvSpPr/>
          <p:nvPr/>
        </p:nvSpPr>
        <p:spPr>
          <a:xfrm>
            <a:off x="243513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0" name="Illustrative delivered road transport cost class 4; reference terminal Lesedi"/>
          <p:cNvSpPr/>
          <p:nvPr/>
        </p:nvSpPr>
        <p:spPr>
          <a:xfrm>
            <a:off x="243513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1" name="Illustrative delivered road transport cost class None; reference terminal None"/>
          <p:cNvSpPr/>
          <p:nvPr/>
        </p:nvSpPr>
        <p:spPr>
          <a:xfrm>
            <a:off x="243513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2" name="Illustrative delivered road transport cost class None; reference terminal None"/>
          <p:cNvSpPr/>
          <p:nvPr/>
        </p:nvSpPr>
        <p:spPr>
          <a:xfrm>
            <a:off x="243513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3" name="Illustrative delivered road transport cost class 4; reference terminal Lesedi"/>
          <p:cNvSpPr/>
          <p:nvPr/>
        </p:nvSpPr>
        <p:spPr>
          <a:xfrm>
            <a:off x="243513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4" name="Illustrative delivered road transport cost class 4; reference terminal Lesedi"/>
          <p:cNvSpPr/>
          <p:nvPr/>
        </p:nvSpPr>
        <p:spPr>
          <a:xfrm>
            <a:off x="243513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5" name="Illustrative delivered road transport cost class 4; reference terminal Lesedi"/>
          <p:cNvSpPr/>
          <p:nvPr/>
        </p:nvSpPr>
        <p:spPr>
          <a:xfrm>
            <a:off x="243513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6" name="Illustrative delivered road transport cost class 4; reference terminal Lesedi"/>
          <p:cNvSpPr/>
          <p:nvPr/>
        </p:nvSpPr>
        <p:spPr>
          <a:xfrm>
            <a:off x="243513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7" name="Illustrative delivered road transport cost class 4; reference terminal Lesedi"/>
          <p:cNvSpPr/>
          <p:nvPr/>
        </p:nvSpPr>
        <p:spPr>
          <a:xfrm>
            <a:off x="2435130"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8" name="Illustrative delivered road transport cost class 4; reference terminal Lesedi"/>
          <p:cNvSpPr/>
          <p:nvPr/>
        </p:nvSpPr>
        <p:spPr>
          <a:xfrm>
            <a:off x="2435130" y="3998382"/>
            <a:ext cx="57687" cy="57686"/>
          </a:xfrm>
          <a:custGeom>
            <a:avLst/>
            <a:gdLst/>
            <a:ahLst/>
            <a:cxnLst/>
            <a:rect l="l" t="t" r="r" b="b"/>
            <a:pathLst>
              <a:path w="57687" h="57686">
                <a:moveTo>
                  <a:pt x="57687" y="0"/>
                </a:moveTo>
                <a:lnTo>
                  <a:pt x="57687" y="57686"/>
                </a:lnTo>
                <a:lnTo>
                  <a:pt x="0" y="57686"/>
                </a:lnTo>
                <a:lnTo>
                  <a:pt x="0" y="16786"/>
                </a:lnTo>
                <a:lnTo>
                  <a:pt x="9054" y="14278"/>
                </a:lnTo>
                <a:lnTo>
                  <a:pt x="25427"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9" name="Illustrative delivered road transport cost class 4; reference terminal Lesedi"/>
          <p:cNvSpPr/>
          <p:nvPr/>
        </p:nvSpPr>
        <p:spPr>
          <a:xfrm>
            <a:off x="2460557" y="3961764"/>
            <a:ext cx="32260" cy="36618"/>
          </a:xfrm>
          <a:custGeom>
            <a:avLst/>
            <a:gdLst/>
            <a:ahLst/>
            <a:cxnLst/>
            <a:rect l="l" t="t" r="r" b="b"/>
            <a:pathLst>
              <a:path w="32260" h="36618">
                <a:moveTo>
                  <a:pt x="32260" y="36618"/>
                </a:moveTo>
                <a:lnTo>
                  <a:pt x="0" y="36618"/>
                </a:lnTo>
                <a:lnTo>
                  <a:pt x="31" y="36591"/>
                </a:lnTo>
                <a:lnTo>
                  <a:pt x="11831" y="13751"/>
                </a:lnTo>
                <a:lnTo>
                  <a:pt x="32260" y="0"/>
                </a:lnTo>
                <a:lnTo>
                  <a:pt x="32260" y="3661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0" name="Illustrative delivered road transport cost class 4; reference terminal Durban"/>
          <p:cNvSpPr/>
          <p:nvPr/>
        </p:nvSpPr>
        <p:spPr>
          <a:xfrm>
            <a:off x="2496946" y="5498232"/>
            <a:ext cx="53557" cy="43173"/>
          </a:xfrm>
          <a:custGeom>
            <a:avLst/>
            <a:gdLst/>
            <a:ahLst/>
            <a:cxnLst/>
            <a:rect l="l" t="t" r="r" b="b"/>
            <a:pathLst>
              <a:path w="53557" h="43173">
                <a:moveTo>
                  <a:pt x="53557" y="0"/>
                </a:moveTo>
                <a:lnTo>
                  <a:pt x="53557" y="43173"/>
                </a:lnTo>
                <a:lnTo>
                  <a:pt x="19589" y="20766"/>
                </a:lnTo>
                <a:lnTo>
                  <a:pt x="0" y="24144"/>
                </a:lnTo>
                <a:lnTo>
                  <a:pt x="4671" y="12576"/>
                </a:lnTo>
                <a:lnTo>
                  <a:pt x="4986" y="0"/>
                </a:lnTo>
                <a:lnTo>
                  <a:pt x="5355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1" name="Illustrative delivered road transport cost class 4; reference terminal Lesedi"/>
          <p:cNvSpPr/>
          <p:nvPr/>
        </p:nvSpPr>
        <p:spPr>
          <a:xfrm>
            <a:off x="2492817" y="5440546"/>
            <a:ext cx="57686" cy="57686"/>
          </a:xfrm>
          <a:custGeom>
            <a:avLst/>
            <a:gdLst/>
            <a:ahLst/>
            <a:cxnLst/>
            <a:rect l="l" t="t" r="r" b="b"/>
            <a:pathLst>
              <a:path w="57686" h="57686">
                <a:moveTo>
                  <a:pt x="0" y="0"/>
                </a:moveTo>
                <a:lnTo>
                  <a:pt x="57686" y="0"/>
                </a:lnTo>
                <a:lnTo>
                  <a:pt x="57686" y="57686"/>
                </a:lnTo>
                <a:lnTo>
                  <a:pt x="9115" y="57686"/>
                </a:lnTo>
                <a:lnTo>
                  <a:pt x="9305" y="50144"/>
                </a:lnTo>
                <a:lnTo>
                  <a:pt x="0" y="3927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2" name="Illustrative delivered road transport cost class 4; reference terminal Lesedi"/>
          <p:cNvSpPr/>
          <p:nvPr/>
        </p:nvSpPr>
        <p:spPr>
          <a:xfrm>
            <a:off x="2492817"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3" name="Illustrative delivered road transport cost class 4; reference terminal Lesedi"/>
          <p:cNvSpPr/>
          <p:nvPr/>
        </p:nvSpPr>
        <p:spPr>
          <a:xfrm>
            <a:off x="2492817"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4" name="Illustrative delivered road transport cost class 4; reference terminal Lesedi"/>
          <p:cNvSpPr/>
          <p:nvPr/>
        </p:nvSpPr>
        <p:spPr>
          <a:xfrm>
            <a:off x="2492817"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5" name="Illustrative delivered road transport cost class 4; reference terminal Lesedi"/>
          <p:cNvSpPr/>
          <p:nvPr/>
        </p:nvSpPr>
        <p:spPr>
          <a:xfrm>
            <a:off x="2492817"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6" name="Illustrative delivered road transport cost class 4; reference terminal Lesedi"/>
          <p:cNvSpPr/>
          <p:nvPr/>
        </p:nvSpPr>
        <p:spPr>
          <a:xfrm>
            <a:off x="2492817"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7" name="Illustrative delivered road transport cost class 4; reference terminal Lesedi"/>
          <p:cNvSpPr/>
          <p:nvPr/>
        </p:nvSpPr>
        <p:spPr>
          <a:xfrm>
            <a:off x="2492817"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8" name="Illustrative delivered road transport cost class 4; reference terminal Lesedi"/>
          <p:cNvSpPr/>
          <p:nvPr/>
        </p:nvSpPr>
        <p:spPr>
          <a:xfrm>
            <a:off x="2492817"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9" name="Illustrative delivered road transport cost class 4; reference terminal Lesedi"/>
          <p:cNvSpPr/>
          <p:nvPr/>
        </p:nvSpPr>
        <p:spPr>
          <a:xfrm>
            <a:off x="2492817"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0" name="Illustrative delivered road transport cost class 4; reference terminal Lesedi"/>
          <p:cNvSpPr/>
          <p:nvPr/>
        </p:nvSpPr>
        <p:spPr>
          <a:xfrm>
            <a:off x="249281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1" name="Illustrative delivered road transport cost class 4; reference terminal Lesedi"/>
          <p:cNvSpPr/>
          <p:nvPr/>
        </p:nvSpPr>
        <p:spPr>
          <a:xfrm>
            <a:off x="249281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2" name="Illustrative delivered road transport cost class 4; reference terminal Lesedi"/>
          <p:cNvSpPr/>
          <p:nvPr/>
        </p:nvSpPr>
        <p:spPr>
          <a:xfrm>
            <a:off x="249281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3" name="Illustrative delivered road transport cost class 4; reference terminal Lesedi"/>
          <p:cNvSpPr/>
          <p:nvPr/>
        </p:nvSpPr>
        <p:spPr>
          <a:xfrm>
            <a:off x="249281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4" name="Illustrative delivered road transport cost class 4; reference terminal Lesedi"/>
          <p:cNvSpPr/>
          <p:nvPr/>
        </p:nvSpPr>
        <p:spPr>
          <a:xfrm>
            <a:off x="249281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5" name="Illustrative delivered road transport cost class 4; reference terminal Lesedi"/>
          <p:cNvSpPr/>
          <p:nvPr/>
        </p:nvSpPr>
        <p:spPr>
          <a:xfrm>
            <a:off x="249281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6" name="Illustrative delivered road transport cost class None; reference terminal None"/>
          <p:cNvSpPr/>
          <p:nvPr/>
        </p:nvSpPr>
        <p:spPr>
          <a:xfrm>
            <a:off x="249281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7" name="Illustrative delivered road transport cost class None; reference terminal None"/>
          <p:cNvSpPr/>
          <p:nvPr/>
        </p:nvSpPr>
        <p:spPr>
          <a:xfrm>
            <a:off x="249281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8" name="Illustrative delivered road transport cost class None; reference terminal None"/>
          <p:cNvSpPr/>
          <p:nvPr/>
        </p:nvSpPr>
        <p:spPr>
          <a:xfrm>
            <a:off x="249281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9" name="Illustrative delivered road transport cost class None; reference terminal None"/>
          <p:cNvSpPr/>
          <p:nvPr/>
        </p:nvSpPr>
        <p:spPr>
          <a:xfrm>
            <a:off x="249281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0" name="Illustrative delivered road transport cost class None; reference terminal None"/>
          <p:cNvSpPr/>
          <p:nvPr/>
        </p:nvSpPr>
        <p:spPr>
          <a:xfrm>
            <a:off x="2492817"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1" name="Illustrative delivered road transport cost class 4; reference terminal Lesedi"/>
          <p:cNvSpPr/>
          <p:nvPr/>
        </p:nvSpPr>
        <p:spPr>
          <a:xfrm>
            <a:off x="2492817"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2" name="Illustrative delivered road transport cost class 4; reference terminal Lesedi"/>
          <p:cNvSpPr/>
          <p:nvPr/>
        </p:nvSpPr>
        <p:spPr>
          <a:xfrm>
            <a:off x="2492817"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3" name="Illustrative delivered road transport cost class 4; reference terminal Lesedi"/>
          <p:cNvSpPr/>
          <p:nvPr/>
        </p:nvSpPr>
        <p:spPr>
          <a:xfrm>
            <a:off x="2492817"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4" name="Illustrative delivered road transport cost class 4; reference terminal Lesedi"/>
          <p:cNvSpPr/>
          <p:nvPr/>
        </p:nvSpPr>
        <p:spPr>
          <a:xfrm>
            <a:off x="2492817"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5" name="Illustrative delivered road transport cost class 4; reference terminal Lesedi"/>
          <p:cNvSpPr/>
          <p:nvPr/>
        </p:nvSpPr>
        <p:spPr>
          <a:xfrm>
            <a:off x="2492817"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6" name="Illustrative delivered road transport cost class 4; reference terminal Lesedi"/>
          <p:cNvSpPr/>
          <p:nvPr/>
        </p:nvSpPr>
        <p:spPr>
          <a:xfrm>
            <a:off x="2492817"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7" name="Illustrative delivered road transport cost class 4; reference terminal Lesedi"/>
          <p:cNvSpPr/>
          <p:nvPr/>
        </p:nvSpPr>
        <p:spPr>
          <a:xfrm>
            <a:off x="2492817" y="3940695"/>
            <a:ext cx="57686" cy="57687"/>
          </a:xfrm>
          <a:custGeom>
            <a:avLst/>
            <a:gdLst/>
            <a:ahLst/>
            <a:cxnLst/>
            <a:rect l="l" t="t" r="r" b="b"/>
            <a:pathLst>
              <a:path w="57686" h="57687">
                <a:moveTo>
                  <a:pt x="57686" y="0"/>
                </a:moveTo>
                <a:lnTo>
                  <a:pt x="57686" y="57687"/>
                </a:lnTo>
                <a:lnTo>
                  <a:pt x="0" y="57687"/>
                </a:lnTo>
                <a:lnTo>
                  <a:pt x="0" y="21069"/>
                </a:lnTo>
                <a:lnTo>
                  <a:pt x="8428" y="15396"/>
                </a:lnTo>
                <a:lnTo>
                  <a:pt x="52698"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8" name="Illustrative delivered road transport cost class 4; reference terminal Lesedi"/>
          <p:cNvSpPr/>
          <p:nvPr/>
        </p:nvSpPr>
        <p:spPr>
          <a:xfrm>
            <a:off x="2549204" y="3421516"/>
            <a:ext cx="1299" cy="32656"/>
          </a:xfrm>
          <a:custGeom>
            <a:avLst/>
            <a:gdLst/>
            <a:ahLst/>
            <a:cxnLst/>
            <a:rect l="l" t="t" r="r" b="b"/>
            <a:pathLst>
              <a:path w="1299" h="32656">
                <a:moveTo>
                  <a:pt x="1299" y="0"/>
                </a:moveTo>
                <a:lnTo>
                  <a:pt x="1299" y="32656"/>
                </a:lnTo>
                <a:lnTo>
                  <a:pt x="1081" y="27216"/>
                </a:lnTo>
                <a:lnTo>
                  <a:pt x="0" y="0"/>
                </a:lnTo>
                <a:lnTo>
                  <a:pt x="129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9" name="Illustrative delivered road transport cost class 4; reference terminal Lesedi"/>
          <p:cNvSpPr/>
          <p:nvPr/>
        </p:nvSpPr>
        <p:spPr>
          <a:xfrm>
            <a:off x="2546913" y="3363829"/>
            <a:ext cx="3590" cy="57687"/>
          </a:xfrm>
          <a:custGeom>
            <a:avLst/>
            <a:gdLst/>
            <a:ahLst/>
            <a:cxnLst/>
            <a:rect l="l" t="t" r="r" b="b"/>
            <a:pathLst>
              <a:path w="3590" h="57687">
                <a:moveTo>
                  <a:pt x="3590" y="0"/>
                </a:moveTo>
                <a:lnTo>
                  <a:pt x="3590" y="57687"/>
                </a:lnTo>
                <a:lnTo>
                  <a:pt x="2291" y="57687"/>
                </a:lnTo>
                <a:lnTo>
                  <a:pt x="0" y="0"/>
                </a:lnTo>
                <a:lnTo>
                  <a:pt x="35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0" name="Illustrative delivered road transport cost class 4; reference terminal Lesedi"/>
          <p:cNvSpPr/>
          <p:nvPr/>
        </p:nvSpPr>
        <p:spPr>
          <a:xfrm>
            <a:off x="2544635" y="3306143"/>
            <a:ext cx="5868" cy="57686"/>
          </a:xfrm>
          <a:custGeom>
            <a:avLst/>
            <a:gdLst/>
            <a:ahLst/>
            <a:cxnLst/>
            <a:rect l="l" t="t" r="r" b="b"/>
            <a:pathLst>
              <a:path w="5868" h="57686">
                <a:moveTo>
                  <a:pt x="5868" y="0"/>
                </a:moveTo>
                <a:lnTo>
                  <a:pt x="5868" y="57686"/>
                </a:lnTo>
                <a:lnTo>
                  <a:pt x="2278" y="57686"/>
                </a:lnTo>
                <a:lnTo>
                  <a:pt x="1135" y="28904"/>
                </a:lnTo>
                <a:lnTo>
                  <a:pt x="0" y="0"/>
                </a:lnTo>
                <a:lnTo>
                  <a:pt x="586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1" name="Illustrative delivered road transport cost class 4; reference terminal Lesedi"/>
          <p:cNvSpPr/>
          <p:nvPr/>
        </p:nvSpPr>
        <p:spPr>
          <a:xfrm>
            <a:off x="2542370" y="3248456"/>
            <a:ext cx="8133" cy="57687"/>
          </a:xfrm>
          <a:custGeom>
            <a:avLst/>
            <a:gdLst/>
            <a:ahLst/>
            <a:cxnLst/>
            <a:rect l="l" t="t" r="r" b="b"/>
            <a:pathLst>
              <a:path w="8133" h="57687">
                <a:moveTo>
                  <a:pt x="8133" y="0"/>
                </a:moveTo>
                <a:lnTo>
                  <a:pt x="8133" y="57687"/>
                </a:lnTo>
                <a:lnTo>
                  <a:pt x="2265" y="57687"/>
                </a:lnTo>
                <a:lnTo>
                  <a:pt x="0" y="0"/>
                </a:lnTo>
                <a:lnTo>
                  <a:pt x="813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2" name="Illustrative delivered road transport cost class 4; reference terminal Lesedi"/>
          <p:cNvSpPr/>
          <p:nvPr/>
        </p:nvSpPr>
        <p:spPr>
          <a:xfrm>
            <a:off x="2540119" y="3190770"/>
            <a:ext cx="10384" cy="57686"/>
          </a:xfrm>
          <a:custGeom>
            <a:avLst/>
            <a:gdLst/>
            <a:ahLst/>
            <a:cxnLst/>
            <a:rect l="l" t="t" r="r" b="b"/>
            <a:pathLst>
              <a:path w="10384" h="57686">
                <a:moveTo>
                  <a:pt x="10384" y="0"/>
                </a:moveTo>
                <a:lnTo>
                  <a:pt x="10384" y="57686"/>
                </a:lnTo>
                <a:lnTo>
                  <a:pt x="2251" y="57686"/>
                </a:lnTo>
                <a:lnTo>
                  <a:pt x="1189" y="30632"/>
                </a:lnTo>
                <a:lnTo>
                  <a:pt x="0" y="0"/>
                </a:lnTo>
                <a:lnTo>
                  <a:pt x="1038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3" name="Illustrative delivered road transport cost class 4; reference terminal Lesedi"/>
          <p:cNvSpPr/>
          <p:nvPr/>
        </p:nvSpPr>
        <p:spPr>
          <a:xfrm>
            <a:off x="2537880" y="3133083"/>
            <a:ext cx="12623" cy="57687"/>
          </a:xfrm>
          <a:custGeom>
            <a:avLst/>
            <a:gdLst/>
            <a:ahLst/>
            <a:cxnLst/>
            <a:rect l="l" t="t" r="r" b="b"/>
            <a:pathLst>
              <a:path w="12623" h="57687">
                <a:moveTo>
                  <a:pt x="12623" y="0"/>
                </a:moveTo>
                <a:lnTo>
                  <a:pt x="12623" y="57687"/>
                </a:lnTo>
                <a:lnTo>
                  <a:pt x="2239" y="57687"/>
                </a:lnTo>
                <a:lnTo>
                  <a:pt x="0" y="0"/>
                </a:lnTo>
                <a:lnTo>
                  <a:pt x="126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4" name="Illustrative delivered road transport cost class 4; reference terminal Lesedi"/>
          <p:cNvSpPr/>
          <p:nvPr/>
        </p:nvSpPr>
        <p:spPr>
          <a:xfrm>
            <a:off x="2535654" y="3075396"/>
            <a:ext cx="14849" cy="57687"/>
          </a:xfrm>
          <a:custGeom>
            <a:avLst/>
            <a:gdLst/>
            <a:ahLst/>
            <a:cxnLst/>
            <a:rect l="l" t="t" r="r" b="b"/>
            <a:pathLst>
              <a:path w="14849" h="57687">
                <a:moveTo>
                  <a:pt x="14849" y="0"/>
                </a:moveTo>
                <a:lnTo>
                  <a:pt x="14849" y="57687"/>
                </a:lnTo>
                <a:lnTo>
                  <a:pt x="2226" y="57687"/>
                </a:lnTo>
                <a:lnTo>
                  <a:pt x="1242" y="32353"/>
                </a:lnTo>
                <a:lnTo>
                  <a:pt x="0" y="0"/>
                </a:lnTo>
                <a:lnTo>
                  <a:pt x="1484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5" name="Illustrative delivered road transport cost class 4; reference terminal Lesedi"/>
          <p:cNvSpPr/>
          <p:nvPr/>
        </p:nvSpPr>
        <p:spPr>
          <a:xfrm>
            <a:off x="2533440" y="3017710"/>
            <a:ext cx="17063" cy="57686"/>
          </a:xfrm>
          <a:custGeom>
            <a:avLst/>
            <a:gdLst/>
            <a:ahLst/>
            <a:cxnLst/>
            <a:rect l="l" t="t" r="r" b="b"/>
            <a:pathLst>
              <a:path w="17063" h="57686">
                <a:moveTo>
                  <a:pt x="17063" y="0"/>
                </a:moveTo>
                <a:lnTo>
                  <a:pt x="17063" y="57686"/>
                </a:lnTo>
                <a:lnTo>
                  <a:pt x="2214" y="57686"/>
                </a:lnTo>
                <a:lnTo>
                  <a:pt x="0" y="0"/>
                </a:lnTo>
                <a:lnTo>
                  <a:pt x="1706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6" name="Illustrative delivered road transport cost class None; reference terminal None"/>
          <p:cNvSpPr/>
          <p:nvPr/>
        </p:nvSpPr>
        <p:spPr>
          <a:xfrm>
            <a:off x="2532778" y="3000452"/>
            <a:ext cx="17725" cy="17258"/>
          </a:xfrm>
          <a:custGeom>
            <a:avLst/>
            <a:gdLst/>
            <a:ahLst/>
            <a:cxnLst/>
            <a:rect l="l" t="t" r="r" b="b"/>
            <a:pathLst>
              <a:path w="17725" h="17258">
                <a:moveTo>
                  <a:pt x="17725" y="17258"/>
                </a:moveTo>
                <a:lnTo>
                  <a:pt x="662" y="17258"/>
                </a:lnTo>
                <a:lnTo>
                  <a:pt x="0" y="0"/>
                </a:lnTo>
                <a:lnTo>
                  <a:pt x="11517" y="7276"/>
                </a:lnTo>
                <a:lnTo>
                  <a:pt x="17725" y="11700"/>
                </a:lnTo>
                <a:lnTo>
                  <a:pt x="17725" y="172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7" name="Illustrative delivered road transport cost class 4; reference terminal Durban"/>
          <p:cNvSpPr/>
          <p:nvPr/>
        </p:nvSpPr>
        <p:spPr>
          <a:xfrm>
            <a:off x="2550503" y="5498232"/>
            <a:ext cx="57687" cy="56008"/>
          </a:xfrm>
          <a:custGeom>
            <a:avLst/>
            <a:gdLst/>
            <a:ahLst/>
            <a:cxnLst/>
            <a:rect l="l" t="t" r="r" b="b"/>
            <a:pathLst>
              <a:path w="57687" h="56008">
                <a:moveTo>
                  <a:pt x="0" y="0"/>
                </a:moveTo>
                <a:lnTo>
                  <a:pt x="57687" y="0"/>
                </a:lnTo>
                <a:lnTo>
                  <a:pt x="57687" y="54951"/>
                </a:lnTo>
                <a:lnTo>
                  <a:pt x="19459" y="56008"/>
                </a:lnTo>
                <a:lnTo>
                  <a:pt x="0" y="4317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8" name="Illustrative delivered road transport cost class 4; reference terminal Durban"/>
          <p:cNvSpPr/>
          <p:nvPr/>
        </p:nvSpPr>
        <p:spPr>
          <a:xfrm>
            <a:off x="2550503" y="544054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9" name="Illustrative delivered road transport cost class 4; reference terminal Durban"/>
          <p:cNvSpPr/>
          <p:nvPr/>
        </p:nvSpPr>
        <p:spPr>
          <a:xfrm>
            <a:off x="255050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0" name="Illustrative delivered road transport cost class 4; reference terminal Lesedi"/>
          <p:cNvSpPr/>
          <p:nvPr/>
        </p:nvSpPr>
        <p:spPr>
          <a:xfrm>
            <a:off x="255050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1" name="Illustrative delivered road transport cost class 4; reference terminal Lesedi"/>
          <p:cNvSpPr/>
          <p:nvPr/>
        </p:nvSpPr>
        <p:spPr>
          <a:xfrm>
            <a:off x="255050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2" name="Illustrative delivered road transport cost class 4; reference terminal Lesedi"/>
          <p:cNvSpPr/>
          <p:nvPr/>
        </p:nvSpPr>
        <p:spPr>
          <a:xfrm>
            <a:off x="255050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3" name="Illustrative delivered road transport cost class 4; reference terminal Lesedi"/>
          <p:cNvSpPr/>
          <p:nvPr/>
        </p:nvSpPr>
        <p:spPr>
          <a:xfrm>
            <a:off x="255050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4" name="Illustrative delivered road transport cost class 4; reference terminal Lesedi"/>
          <p:cNvSpPr/>
          <p:nvPr/>
        </p:nvSpPr>
        <p:spPr>
          <a:xfrm>
            <a:off x="255050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5" name="Illustrative delivered road transport cost class 4; reference terminal Lesedi"/>
          <p:cNvSpPr/>
          <p:nvPr/>
        </p:nvSpPr>
        <p:spPr>
          <a:xfrm>
            <a:off x="255050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6" name="Illustrative delivered road transport cost class 4; reference terminal Lesedi"/>
          <p:cNvSpPr/>
          <p:nvPr/>
        </p:nvSpPr>
        <p:spPr>
          <a:xfrm>
            <a:off x="255050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7" name="Illustrative delivered road transport cost class 4; reference terminal Lesedi"/>
          <p:cNvSpPr/>
          <p:nvPr/>
        </p:nvSpPr>
        <p:spPr>
          <a:xfrm>
            <a:off x="255050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8" name="Illustrative delivered road transport cost class 4; reference terminal Lesedi"/>
          <p:cNvSpPr/>
          <p:nvPr/>
        </p:nvSpPr>
        <p:spPr>
          <a:xfrm>
            <a:off x="255050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9" name="Illustrative delivered road transport cost class 4; reference terminal Lesedi"/>
          <p:cNvSpPr/>
          <p:nvPr/>
        </p:nvSpPr>
        <p:spPr>
          <a:xfrm>
            <a:off x="255050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0" name="Illustrative delivered road transport cost class None; reference terminal None"/>
          <p:cNvSpPr/>
          <p:nvPr/>
        </p:nvSpPr>
        <p:spPr>
          <a:xfrm>
            <a:off x="255050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1" name="Illustrative delivered road transport cost class None; reference terminal None"/>
          <p:cNvSpPr/>
          <p:nvPr/>
        </p:nvSpPr>
        <p:spPr>
          <a:xfrm>
            <a:off x="255050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2" name="Illustrative delivered road transport cost class None; reference terminal None"/>
          <p:cNvSpPr/>
          <p:nvPr/>
        </p:nvSpPr>
        <p:spPr>
          <a:xfrm>
            <a:off x="255050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3" name="Illustrative delivered road transport cost class None; reference terminal None"/>
          <p:cNvSpPr/>
          <p:nvPr/>
        </p:nvSpPr>
        <p:spPr>
          <a:xfrm>
            <a:off x="255050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4" name="Illustrative delivered road transport cost class None; reference terminal None"/>
          <p:cNvSpPr/>
          <p:nvPr/>
        </p:nvSpPr>
        <p:spPr>
          <a:xfrm>
            <a:off x="255050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5" name="Illustrative delivered road transport cost class None; reference terminal None"/>
          <p:cNvSpPr/>
          <p:nvPr/>
        </p:nvSpPr>
        <p:spPr>
          <a:xfrm>
            <a:off x="255050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6" name="Illustrative delivered road transport cost class None; reference terminal None"/>
          <p:cNvSpPr/>
          <p:nvPr/>
        </p:nvSpPr>
        <p:spPr>
          <a:xfrm>
            <a:off x="255050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7" name="Illustrative delivered road transport cost class None; reference terminal None"/>
          <p:cNvSpPr/>
          <p:nvPr/>
        </p:nvSpPr>
        <p:spPr>
          <a:xfrm>
            <a:off x="255050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8" name="Illustrative delivered road transport cost class None; reference terminal None"/>
          <p:cNvSpPr/>
          <p:nvPr/>
        </p:nvSpPr>
        <p:spPr>
          <a:xfrm>
            <a:off x="255050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9" name="Illustrative delivered road transport cost class 4; reference terminal Lesedi"/>
          <p:cNvSpPr/>
          <p:nvPr/>
        </p:nvSpPr>
        <p:spPr>
          <a:xfrm>
            <a:off x="255050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0" name="Illustrative delivered road transport cost class 4; reference terminal Lesedi"/>
          <p:cNvSpPr/>
          <p:nvPr/>
        </p:nvSpPr>
        <p:spPr>
          <a:xfrm>
            <a:off x="255050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1" name="Illustrative delivered road transport cost class 4; reference terminal Lesedi"/>
          <p:cNvSpPr/>
          <p:nvPr/>
        </p:nvSpPr>
        <p:spPr>
          <a:xfrm>
            <a:off x="255050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2" name="Illustrative delivered road transport cost class 4; reference terminal Lesedi"/>
          <p:cNvSpPr/>
          <p:nvPr/>
        </p:nvSpPr>
        <p:spPr>
          <a:xfrm>
            <a:off x="255050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3" name="Illustrative delivered road transport cost class 4; reference terminal Lesedi"/>
          <p:cNvSpPr/>
          <p:nvPr/>
        </p:nvSpPr>
        <p:spPr>
          <a:xfrm>
            <a:off x="255050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4" name="Illustrative delivered road transport cost class 4; reference terminal Lesedi"/>
          <p:cNvSpPr/>
          <p:nvPr/>
        </p:nvSpPr>
        <p:spPr>
          <a:xfrm>
            <a:off x="255050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5" name="Illustrative delivered road transport cost class 4; reference terminal Lesedi"/>
          <p:cNvSpPr/>
          <p:nvPr/>
        </p:nvSpPr>
        <p:spPr>
          <a:xfrm>
            <a:off x="2550503" y="3883008"/>
            <a:ext cx="57687" cy="57687"/>
          </a:xfrm>
          <a:custGeom>
            <a:avLst/>
            <a:gdLst/>
            <a:ahLst/>
            <a:cxnLst/>
            <a:rect l="l" t="t" r="r" b="b"/>
            <a:pathLst>
              <a:path w="57687" h="57687">
                <a:moveTo>
                  <a:pt x="57687" y="0"/>
                </a:moveTo>
                <a:lnTo>
                  <a:pt x="57687" y="57687"/>
                </a:lnTo>
                <a:lnTo>
                  <a:pt x="0" y="57687"/>
                </a:lnTo>
                <a:lnTo>
                  <a:pt x="0" y="57034"/>
                </a:lnTo>
                <a:lnTo>
                  <a:pt x="19858" y="56596"/>
                </a:lnTo>
                <a:lnTo>
                  <a:pt x="18352" y="20565"/>
                </a:lnTo>
                <a:lnTo>
                  <a:pt x="17499"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6" name="Illustrative delivered road transport cost class 4; reference terminal Lesedi"/>
          <p:cNvSpPr/>
          <p:nvPr/>
        </p:nvSpPr>
        <p:spPr>
          <a:xfrm>
            <a:off x="2565608" y="3825322"/>
            <a:ext cx="42582" cy="57686"/>
          </a:xfrm>
          <a:custGeom>
            <a:avLst/>
            <a:gdLst/>
            <a:ahLst/>
            <a:cxnLst/>
            <a:rect l="l" t="t" r="r" b="b"/>
            <a:pathLst>
              <a:path w="42582" h="57686">
                <a:moveTo>
                  <a:pt x="42582" y="0"/>
                </a:moveTo>
                <a:lnTo>
                  <a:pt x="42582" y="57686"/>
                </a:lnTo>
                <a:lnTo>
                  <a:pt x="2394" y="57686"/>
                </a:lnTo>
                <a:lnTo>
                  <a:pt x="0" y="0"/>
                </a:lnTo>
                <a:lnTo>
                  <a:pt x="425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7" name="Illustrative delivered road transport cost class 4; reference terminal Lesedi"/>
          <p:cNvSpPr/>
          <p:nvPr/>
        </p:nvSpPr>
        <p:spPr>
          <a:xfrm>
            <a:off x="2563224" y="3767635"/>
            <a:ext cx="44966" cy="57687"/>
          </a:xfrm>
          <a:custGeom>
            <a:avLst/>
            <a:gdLst/>
            <a:ahLst/>
            <a:cxnLst/>
            <a:rect l="l" t="t" r="r" b="b"/>
            <a:pathLst>
              <a:path w="44966" h="57687">
                <a:moveTo>
                  <a:pt x="44966" y="0"/>
                </a:moveTo>
                <a:lnTo>
                  <a:pt x="44966" y="57687"/>
                </a:lnTo>
                <a:lnTo>
                  <a:pt x="2384" y="57687"/>
                </a:lnTo>
                <a:lnTo>
                  <a:pt x="912" y="22206"/>
                </a:lnTo>
                <a:lnTo>
                  <a:pt x="0" y="0"/>
                </a:lnTo>
                <a:lnTo>
                  <a:pt x="449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8" name="Illustrative delivered road transport cost class 4; reference terminal Lesedi"/>
          <p:cNvSpPr/>
          <p:nvPr/>
        </p:nvSpPr>
        <p:spPr>
          <a:xfrm>
            <a:off x="2560856" y="3709949"/>
            <a:ext cx="47334" cy="57686"/>
          </a:xfrm>
          <a:custGeom>
            <a:avLst/>
            <a:gdLst/>
            <a:ahLst/>
            <a:cxnLst/>
            <a:rect l="l" t="t" r="r" b="b"/>
            <a:pathLst>
              <a:path w="47334" h="57686">
                <a:moveTo>
                  <a:pt x="47334" y="0"/>
                </a:moveTo>
                <a:lnTo>
                  <a:pt x="47334" y="57686"/>
                </a:lnTo>
                <a:lnTo>
                  <a:pt x="2368" y="57686"/>
                </a:lnTo>
                <a:lnTo>
                  <a:pt x="0" y="0"/>
                </a:lnTo>
                <a:lnTo>
                  <a:pt x="4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9" name="Illustrative delivered road transport cost class 4; reference terminal Lesedi"/>
          <p:cNvSpPr/>
          <p:nvPr/>
        </p:nvSpPr>
        <p:spPr>
          <a:xfrm>
            <a:off x="2558498" y="3652262"/>
            <a:ext cx="49692" cy="57687"/>
          </a:xfrm>
          <a:custGeom>
            <a:avLst/>
            <a:gdLst/>
            <a:ahLst/>
            <a:cxnLst/>
            <a:rect l="l" t="t" r="r" b="b"/>
            <a:pathLst>
              <a:path w="49692" h="57687">
                <a:moveTo>
                  <a:pt x="49692" y="0"/>
                </a:moveTo>
                <a:lnTo>
                  <a:pt x="49692" y="57687"/>
                </a:lnTo>
                <a:lnTo>
                  <a:pt x="2358" y="57687"/>
                </a:lnTo>
                <a:lnTo>
                  <a:pt x="969" y="23856"/>
                </a:lnTo>
                <a:lnTo>
                  <a:pt x="0" y="0"/>
                </a:lnTo>
                <a:lnTo>
                  <a:pt x="4969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0" name="Illustrative delivered road transport cost class 4; reference terminal Lesedi"/>
          <p:cNvSpPr/>
          <p:nvPr/>
        </p:nvSpPr>
        <p:spPr>
          <a:xfrm>
            <a:off x="2556156" y="3594576"/>
            <a:ext cx="52034" cy="57686"/>
          </a:xfrm>
          <a:custGeom>
            <a:avLst/>
            <a:gdLst/>
            <a:ahLst/>
            <a:cxnLst/>
            <a:rect l="l" t="t" r="r" b="b"/>
            <a:pathLst>
              <a:path w="52034" h="57686">
                <a:moveTo>
                  <a:pt x="52034" y="0"/>
                </a:moveTo>
                <a:lnTo>
                  <a:pt x="52034" y="57686"/>
                </a:lnTo>
                <a:lnTo>
                  <a:pt x="2342" y="57686"/>
                </a:lnTo>
                <a:lnTo>
                  <a:pt x="0" y="0"/>
                </a:lnTo>
                <a:lnTo>
                  <a:pt x="520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1" name="Illustrative delivered road transport cost class 4; reference terminal Lesedi"/>
          <p:cNvSpPr/>
          <p:nvPr/>
        </p:nvSpPr>
        <p:spPr>
          <a:xfrm>
            <a:off x="2553825" y="3536889"/>
            <a:ext cx="54365" cy="57687"/>
          </a:xfrm>
          <a:custGeom>
            <a:avLst/>
            <a:gdLst/>
            <a:ahLst/>
            <a:cxnLst/>
            <a:rect l="l" t="t" r="r" b="b"/>
            <a:pathLst>
              <a:path w="54365" h="57687">
                <a:moveTo>
                  <a:pt x="54365" y="0"/>
                </a:moveTo>
                <a:lnTo>
                  <a:pt x="54365" y="57687"/>
                </a:lnTo>
                <a:lnTo>
                  <a:pt x="2331" y="57687"/>
                </a:lnTo>
                <a:lnTo>
                  <a:pt x="1026" y="25543"/>
                </a:lnTo>
                <a:lnTo>
                  <a:pt x="0" y="0"/>
                </a:lnTo>
                <a:lnTo>
                  <a:pt x="5436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2" name="Illustrative delivered road transport cost class 4; reference terminal Lesedi"/>
          <p:cNvSpPr/>
          <p:nvPr/>
        </p:nvSpPr>
        <p:spPr>
          <a:xfrm>
            <a:off x="2551508" y="3479202"/>
            <a:ext cx="56682" cy="57687"/>
          </a:xfrm>
          <a:custGeom>
            <a:avLst/>
            <a:gdLst/>
            <a:ahLst/>
            <a:cxnLst/>
            <a:rect l="l" t="t" r="r" b="b"/>
            <a:pathLst>
              <a:path w="56682" h="57687">
                <a:moveTo>
                  <a:pt x="56682" y="0"/>
                </a:moveTo>
                <a:lnTo>
                  <a:pt x="56682" y="57687"/>
                </a:lnTo>
                <a:lnTo>
                  <a:pt x="2317" y="57687"/>
                </a:lnTo>
                <a:lnTo>
                  <a:pt x="0" y="0"/>
                </a:lnTo>
                <a:lnTo>
                  <a:pt x="566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3" name="Illustrative delivered road transport cost class 4; reference terminal Lesedi"/>
          <p:cNvSpPr/>
          <p:nvPr/>
        </p:nvSpPr>
        <p:spPr>
          <a:xfrm>
            <a:off x="2550503" y="3421516"/>
            <a:ext cx="57687" cy="57686"/>
          </a:xfrm>
          <a:custGeom>
            <a:avLst/>
            <a:gdLst/>
            <a:ahLst/>
            <a:cxnLst/>
            <a:rect l="l" t="t" r="r" b="b"/>
            <a:pathLst>
              <a:path w="57687" h="57686">
                <a:moveTo>
                  <a:pt x="0" y="0"/>
                </a:moveTo>
                <a:lnTo>
                  <a:pt x="57687" y="0"/>
                </a:lnTo>
                <a:lnTo>
                  <a:pt x="57687" y="57686"/>
                </a:lnTo>
                <a:lnTo>
                  <a:pt x="1005" y="57686"/>
                </a:lnTo>
                <a:lnTo>
                  <a:pt x="0" y="3265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4" name="Illustrative delivered road transport cost class 4; reference terminal Lesedi"/>
          <p:cNvSpPr/>
          <p:nvPr/>
        </p:nvSpPr>
        <p:spPr>
          <a:xfrm>
            <a:off x="255050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5" name="Illustrative delivered road transport cost class 4; reference terminal Lesedi"/>
          <p:cNvSpPr/>
          <p:nvPr/>
        </p:nvSpPr>
        <p:spPr>
          <a:xfrm>
            <a:off x="255050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6" name="Illustrative delivered road transport cost class 4; reference terminal Lesedi"/>
          <p:cNvSpPr/>
          <p:nvPr/>
        </p:nvSpPr>
        <p:spPr>
          <a:xfrm>
            <a:off x="255050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7" name="Illustrative delivered road transport cost class 4; reference terminal Lesedi"/>
          <p:cNvSpPr/>
          <p:nvPr/>
        </p:nvSpPr>
        <p:spPr>
          <a:xfrm>
            <a:off x="255050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8" name="Illustrative delivered road transport cost class 4; reference terminal Lesedi"/>
          <p:cNvSpPr/>
          <p:nvPr/>
        </p:nvSpPr>
        <p:spPr>
          <a:xfrm>
            <a:off x="255050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9" name="Illustrative delivered road transport cost class 4; reference terminal Lesedi"/>
          <p:cNvSpPr/>
          <p:nvPr/>
        </p:nvSpPr>
        <p:spPr>
          <a:xfrm>
            <a:off x="255050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0" name="Illustrative delivered road transport cost class 4; reference terminal Lesedi"/>
          <p:cNvSpPr/>
          <p:nvPr/>
        </p:nvSpPr>
        <p:spPr>
          <a:xfrm>
            <a:off x="2550503" y="3017710"/>
            <a:ext cx="57687" cy="57686"/>
          </a:xfrm>
          <a:custGeom>
            <a:avLst/>
            <a:gdLst/>
            <a:ahLst/>
            <a:cxnLst/>
            <a:rect l="l" t="t" r="r" b="b"/>
            <a:pathLst>
              <a:path w="57687" h="57686">
                <a:moveTo>
                  <a:pt x="57687" y="57686"/>
                </a:moveTo>
                <a:lnTo>
                  <a:pt x="0" y="57686"/>
                </a:lnTo>
                <a:lnTo>
                  <a:pt x="0" y="0"/>
                </a:lnTo>
                <a:lnTo>
                  <a:pt x="7800" y="0"/>
                </a:lnTo>
                <a:lnTo>
                  <a:pt x="57687" y="35548"/>
                </a:lnTo>
                <a:lnTo>
                  <a:pt x="57687"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1" name="Illustrative delivered road transport cost class None; reference terminal None"/>
          <p:cNvSpPr/>
          <p:nvPr/>
        </p:nvSpPr>
        <p:spPr>
          <a:xfrm>
            <a:off x="2550503" y="3012152"/>
            <a:ext cx="7800" cy="5558"/>
          </a:xfrm>
          <a:custGeom>
            <a:avLst/>
            <a:gdLst/>
            <a:ahLst/>
            <a:cxnLst/>
            <a:rect l="l" t="t" r="r" b="b"/>
            <a:pathLst>
              <a:path w="7800" h="5558">
                <a:moveTo>
                  <a:pt x="0" y="5558"/>
                </a:moveTo>
                <a:lnTo>
                  <a:pt x="0" y="0"/>
                </a:lnTo>
                <a:lnTo>
                  <a:pt x="7800" y="5558"/>
                </a:lnTo>
                <a:lnTo>
                  <a:pt x="0" y="55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2" name="Illustrative delivered road transport cost class 4; reference terminal Durban"/>
          <p:cNvSpPr/>
          <p:nvPr/>
        </p:nvSpPr>
        <p:spPr>
          <a:xfrm>
            <a:off x="2627732" y="5555919"/>
            <a:ext cx="27334" cy="2892"/>
          </a:xfrm>
          <a:custGeom>
            <a:avLst/>
            <a:gdLst/>
            <a:ahLst/>
            <a:cxnLst/>
            <a:rect l="l" t="t" r="r" b="b"/>
            <a:pathLst>
              <a:path w="27334" h="2892">
                <a:moveTo>
                  <a:pt x="27334" y="0"/>
                </a:moveTo>
                <a:lnTo>
                  <a:pt x="24061" y="2892"/>
                </a:lnTo>
                <a:lnTo>
                  <a:pt x="4009" y="955"/>
                </a:lnTo>
                <a:lnTo>
                  <a:pt x="0" y="0"/>
                </a:lnTo>
                <a:lnTo>
                  <a:pt x="2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3" name="Illustrative delivered road transport cost class 4; reference terminal Durban"/>
          <p:cNvSpPr/>
          <p:nvPr/>
        </p:nvSpPr>
        <p:spPr>
          <a:xfrm>
            <a:off x="2608190" y="5498232"/>
            <a:ext cx="57686" cy="57687"/>
          </a:xfrm>
          <a:custGeom>
            <a:avLst/>
            <a:gdLst/>
            <a:ahLst/>
            <a:cxnLst/>
            <a:rect l="l" t="t" r="r" b="b"/>
            <a:pathLst>
              <a:path w="57686" h="57687">
                <a:moveTo>
                  <a:pt x="0" y="0"/>
                </a:moveTo>
                <a:lnTo>
                  <a:pt x="57686" y="0"/>
                </a:lnTo>
                <a:lnTo>
                  <a:pt x="57686" y="48136"/>
                </a:lnTo>
                <a:lnTo>
                  <a:pt x="46876" y="57687"/>
                </a:lnTo>
                <a:lnTo>
                  <a:pt x="19542" y="57687"/>
                </a:lnTo>
                <a:lnTo>
                  <a:pt x="7220" y="54751"/>
                </a:lnTo>
                <a:lnTo>
                  <a:pt x="0" y="5495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4" name="Illustrative delivered road transport cost class 4; reference terminal Durban"/>
          <p:cNvSpPr/>
          <p:nvPr/>
        </p:nvSpPr>
        <p:spPr>
          <a:xfrm>
            <a:off x="2608190" y="544054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5" name="Illustrative delivered road transport cost class 4; reference terminal Durban"/>
          <p:cNvSpPr/>
          <p:nvPr/>
        </p:nvSpPr>
        <p:spPr>
          <a:xfrm>
            <a:off x="260819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6" name="Illustrative delivered road transport cost class 4; reference terminal Lesedi"/>
          <p:cNvSpPr/>
          <p:nvPr/>
        </p:nvSpPr>
        <p:spPr>
          <a:xfrm>
            <a:off x="260819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7" name="Illustrative delivered road transport cost class 4; reference terminal Lesedi"/>
          <p:cNvSpPr/>
          <p:nvPr/>
        </p:nvSpPr>
        <p:spPr>
          <a:xfrm>
            <a:off x="260819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8" name="Illustrative delivered road transport cost class 4; reference terminal Lesedi"/>
          <p:cNvSpPr/>
          <p:nvPr/>
        </p:nvSpPr>
        <p:spPr>
          <a:xfrm>
            <a:off x="260819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9" name="Illustrative delivered road transport cost class 4; reference terminal Lesedi"/>
          <p:cNvSpPr/>
          <p:nvPr/>
        </p:nvSpPr>
        <p:spPr>
          <a:xfrm>
            <a:off x="260819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0" name="Illustrative delivered road transport cost class 4; reference terminal Lesedi"/>
          <p:cNvSpPr/>
          <p:nvPr/>
        </p:nvSpPr>
        <p:spPr>
          <a:xfrm>
            <a:off x="260819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1" name="Illustrative delivered road transport cost class 4; reference terminal Lesedi"/>
          <p:cNvSpPr/>
          <p:nvPr/>
        </p:nvSpPr>
        <p:spPr>
          <a:xfrm>
            <a:off x="260819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2" name="Illustrative delivered road transport cost class 4; reference terminal Lesedi"/>
          <p:cNvSpPr/>
          <p:nvPr/>
        </p:nvSpPr>
        <p:spPr>
          <a:xfrm>
            <a:off x="260819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3" name="Illustrative delivered road transport cost class 4; reference terminal Lesedi"/>
          <p:cNvSpPr/>
          <p:nvPr/>
        </p:nvSpPr>
        <p:spPr>
          <a:xfrm>
            <a:off x="260819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4" name="Illustrative delivered road transport cost class None; reference terminal None"/>
          <p:cNvSpPr/>
          <p:nvPr/>
        </p:nvSpPr>
        <p:spPr>
          <a:xfrm>
            <a:off x="260819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5" name="Illustrative delivered road transport cost class None; reference terminal None"/>
          <p:cNvSpPr/>
          <p:nvPr/>
        </p:nvSpPr>
        <p:spPr>
          <a:xfrm>
            <a:off x="260819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6" name="Illustrative delivered road transport cost class None; reference terminal None"/>
          <p:cNvSpPr/>
          <p:nvPr/>
        </p:nvSpPr>
        <p:spPr>
          <a:xfrm>
            <a:off x="260819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7" name="Illustrative delivered road transport cost class None; reference terminal None"/>
          <p:cNvSpPr/>
          <p:nvPr/>
        </p:nvSpPr>
        <p:spPr>
          <a:xfrm>
            <a:off x="260819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8" name="Illustrative delivered road transport cost class None; reference terminal None"/>
          <p:cNvSpPr/>
          <p:nvPr/>
        </p:nvSpPr>
        <p:spPr>
          <a:xfrm>
            <a:off x="260819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9" name="Illustrative delivered road transport cost class None; reference terminal None"/>
          <p:cNvSpPr/>
          <p:nvPr/>
        </p:nvSpPr>
        <p:spPr>
          <a:xfrm>
            <a:off x="260819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0" name="Illustrative delivered road transport cost class None; reference terminal None"/>
          <p:cNvSpPr/>
          <p:nvPr/>
        </p:nvSpPr>
        <p:spPr>
          <a:xfrm>
            <a:off x="260819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1" name="Illustrative delivered road transport cost class None; reference terminal None"/>
          <p:cNvSpPr/>
          <p:nvPr/>
        </p:nvSpPr>
        <p:spPr>
          <a:xfrm>
            <a:off x="260819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2" name="Illustrative delivered road transport cost class None; reference terminal None"/>
          <p:cNvSpPr/>
          <p:nvPr/>
        </p:nvSpPr>
        <p:spPr>
          <a:xfrm>
            <a:off x="260819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3" name="Illustrative delivered road transport cost class None; reference terminal None"/>
          <p:cNvSpPr/>
          <p:nvPr/>
        </p:nvSpPr>
        <p:spPr>
          <a:xfrm>
            <a:off x="260819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4" name="Illustrative delivered road transport cost class None; reference terminal None"/>
          <p:cNvSpPr/>
          <p:nvPr/>
        </p:nvSpPr>
        <p:spPr>
          <a:xfrm>
            <a:off x="260819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5" name="Illustrative delivered road transport cost class None; reference terminal None"/>
          <p:cNvSpPr/>
          <p:nvPr/>
        </p:nvSpPr>
        <p:spPr>
          <a:xfrm>
            <a:off x="260819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6" name="Illustrative delivered road transport cost class 4; reference terminal Lesedi"/>
          <p:cNvSpPr/>
          <p:nvPr/>
        </p:nvSpPr>
        <p:spPr>
          <a:xfrm>
            <a:off x="260819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7" name="Illustrative delivered road transport cost class 4; reference terminal Lesedi"/>
          <p:cNvSpPr/>
          <p:nvPr/>
        </p:nvSpPr>
        <p:spPr>
          <a:xfrm>
            <a:off x="260819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8" name="Illustrative delivered road transport cost class 4; reference terminal Lesedi"/>
          <p:cNvSpPr/>
          <p:nvPr/>
        </p:nvSpPr>
        <p:spPr>
          <a:xfrm>
            <a:off x="260819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9" name="Illustrative delivered road transport cost class 4; reference terminal Lesedi"/>
          <p:cNvSpPr/>
          <p:nvPr/>
        </p:nvSpPr>
        <p:spPr>
          <a:xfrm>
            <a:off x="260819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0" name="Illustrative delivered road transport cost class 4; reference terminal Lesedi"/>
          <p:cNvSpPr/>
          <p:nvPr/>
        </p:nvSpPr>
        <p:spPr>
          <a:xfrm>
            <a:off x="260819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1" name="Illustrative delivered road transport cost class 4; reference terminal Lesedi"/>
          <p:cNvSpPr/>
          <p:nvPr/>
        </p:nvSpPr>
        <p:spPr>
          <a:xfrm>
            <a:off x="260819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2" name="Illustrative delivered road transport cost class 4; reference terminal Lesedi"/>
          <p:cNvSpPr/>
          <p:nvPr/>
        </p:nvSpPr>
        <p:spPr>
          <a:xfrm>
            <a:off x="260819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3" name="Illustrative delivered road transport cost class 4; reference terminal Lesedi"/>
          <p:cNvSpPr/>
          <p:nvPr/>
        </p:nvSpPr>
        <p:spPr>
          <a:xfrm>
            <a:off x="260819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4" name="Illustrative delivered road transport cost class 4; reference terminal Lesedi"/>
          <p:cNvSpPr/>
          <p:nvPr/>
        </p:nvSpPr>
        <p:spPr>
          <a:xfrm>
            <a:off x="260819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5" name="Illustrative delivered road transport cost class 4; reference terminal Lesedi"/>
          <p:cNvSpPr/>
          <p:nvPr/>
        </p:nvSpPr>
        <p:spPr>
          <a:xfrm>
            <a:off x="260819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6" name="Illustrative delivered road transport cost class 4; reference terminal Lesedi"/>
          <p:cNvSpPr/>
          <p:nvPr/>
        </p:nvSpPr>
        <p:spPr>
          <a:xfrm>
            <a:off x="260819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7" name="Illustrative delivered road transport cost class 4; reference terminal Lesedi"/>
          <p:cNvSpPr/>
          <p:nvPr/>
        </p:nvSpPr>
        <p:spPr>
          <a:xfrm>
            <a:off x="260819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8" name="Illustrative delivered road transport cost class 4; reference terminal Lesedi"/>
          <p:cNvSpPr/>
          <p:nvPr/>
        </p:nvSpPr>
        <p:spPr>
          <a:xfrm>
            <a:off x="260819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9" name="Illustrative delivered road transport cost class 4; reference terminal Lesedi"/>
          <p:cNvSpPr/>
          <p:nvPr/>
        </p:nvSpPr>
        <p:spPr>
          <a:xfrm>
            <a:off x="260819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0" name="Illustrative delivered road transport cost class 4; reference terminal Lesedi"/>
          <p:cNvSpPr/>
          <p:nvPr/>
        </p:nvSpPr>
        <p:spPr>
          <a:xfrm>
            <a:off x="260819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1" name="Illustrative delivered road transport cost class 4; reference terminal Lesedi"/>
          <p:cNvSpPr/>
          <p:nvPr/>
        </p:nvSpPr>
        <p:spPr>
          <a:xfrm>
            <a:off x="260819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2" name="Illustrative delivered road transport cost class 4; reference terminal Lesedi"/>
          <p:cNvSpPr/>
          <p:nvPr/>
        </p:nvSpPr>
        <p:spPr>
          <a:xfrm>
            <a:off x="260819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3" name="Illustrative delivered road transport cost class 4; reference terminal Lesedi"/>
          <p:cNvSpPr/>
          <p:nvPr/>
        </p:nvSpPr>
        <p:spPr>
          <a:xfrm>
            <a:off x="260819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4" name="Illustrative delivered road transport cost class 4; reference terminal Lesedi"/>
          <p:cNvSpPr/>
          <p:nvPr/>
        </p:nvSpPr>
        <p:spPr>
          <a:xfrm>
            <a:off x="2608190" y="3133083"/>
            <a:ext cx="57686" cy="57687"/>
          </a:xfrm>
          <a:custGeom>
            <a:avLst/>
            <a:gdLst/>
            <a:ahLst/>
            <a:cxnLst/>
            <a:rect l="l" t="t" r="r" b="b"/>
            <a:pathLst>
              <a:path w="57686" h="57687">
                <a:moveTo>
                  <a:pt x="57686" y="57687"/>
                </a:moveTo>
                <a:lnTo>
                  <a:pt x="0" y="57687"/>
                </a:lnTo>
                <a:lnTo>
                  <a:pt x="0" y="0"/>
                </a:lnTo>
                <a:lnTo>
                  <a:pt x="55191" y="0"/>
                </a:lnTo>
                <a:lnTo>
                  <a:pt x="57686" y="4983"/>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5" name="Illustrative delivered road transport cost class 4; reference terminal Lesedi"/>
          <p:cNvSpPr/>
          <p:nvPr/>
        </p:nvSpPr>
        <p:spPr>
          <a:xfrm>
            <a:off x="2608190" y="3075396"/>
            <a:ext cx="55191" cy="57687"/>
          </a:xfrm>
          <a:custGeom>
            <a:avLst/>
            <a:gdLst/>
            <a:ahLst/>
            <a:cxnLst/>
            <a:rect l="l" t="t" r="r" b="b"/>
            <a:pathLst>
              <a:path w="55191" h="57687">
                <a:moveTo>
                  <a:pt x="0" y="57687"/>
                </a:moveTo>
                <a:lnTo>
                  <a:pt x="0" y="0"/>
                </a:lnTo>
                <a:lnTo>
                  <a:pt x="21710" y="0"/>
                </a:lnTo>
                <a:lnTo>
                  <a:pt x="32863" y="15553"/>
                </a:lnTo>
                <a:lnTo>
                  <a:pt x="43399" y="34147"/>
                </a:lnTo>
                <a:lnTo>
                  <a:pt x="55191"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6" name="Illustrative delivered road transport cost class 4; reference terminal Lesedi"/>
          <p:cNvSpPr/>
          <p:nvPr/>
        </p:nvSpPr>
        <p:spPr>
          <a:xfrm>
            <a:off x="2608190" y="3053258"/>
            <a:ext cx="21710" cy="22138"/>
          </a:xfrm>
          <a:custGeom>
            <a:avLst/>
            <a:gdLst/>
            <a:ahLst/>
            <a:cxnLst/>
            <a:rect l="l" t="t" r="r" b="b"/>
            <a:pathLst>
              <a:path w="21710" h="22138">
                <a:moveTo>
                  <a:pt x="0" y="22138"/>
                </a:moveTo>
                <a:lnTo>
                  <a:pt x="0" y="0"/>
                </a:lnTo>
                <a:lnTo>
                  <a:pt x="11930" y="8502"/>
                </a:lnTo>
                <a:lnTo>
                  <a:pt x="21710" y="22138"/>
                </a:lnTo>
                <a:lnTo>
                  <a:pt x="0" y="2213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7" name="Illustrative delivered road transport cost class 4; reference terminal Durban"/>
          <p:cNvSpPr/>
          <p:nvPr/>
        </p:nvSpPr>
        <p:spPr>
          <a:xfrm>
            <a:off x="2665876" y="5498232"/>
            <a:ext cx="54480" cy="48136"/>
          </a:xfrm>
          <a:custGeom>
            <a:avLst/>
            <a:gdLst/>
            <a:ahLst/>
            <a:cxnLst/>
            <a:rect l="l" t="t" r="r" b="b"/>
            <a:pathLst>
              <a:path w="54480" h="48136">
                <a:moveTo>
                  <a:pt x="0" y="0"/>
                </a:moveTo>
                <a:lnTo>
                  <a:pt x="54480" y="0"/>
                </a:lnTo>
                <a:lnTo>
                  <a:pt x="0" y="481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8" name="Illustrative delivered road transport cost class 4; reference terminal Durban"/>
          <p:cNvSpPr/>
          <p:nvPr/>
        </p:nvSpPr>
        <p:spPr>
          <a:xfrm>
            <a:off x="2665876" y="5440546"/>
            <a:ext cx="57687" cy="57686"/>
          </a:xfrm>
          <a:custGeom>
            <a:avLst/>
            <a:gdLst/>
            <a:ahLst/>
            <a:cxnLst/>
            <a:rect l="l" t="t" r="r" b="b"/>
            <a:pathLst>
              <a:path w="57687" h="57686">
                <a:moveTo>
                  <a:pt x="0" y="57686"/>
                </a:moveTo>
                <a:lnTo>
                  <a:pt x="0" y="0"/>
                </a:lnTo>
                <a:lnTo>
                  <a:pt x="57687" y="0"/>
                </a:lnTo>
                <a:lnTo>
                  <a:pt x="57687" y="54853"/>
                </a:lnTo>
                <a:lnTo>
                  <a:pt x="54480"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9" name="Illustrative delivered road transport cost class 4; reference terminal Durban"/>
          <p:cNvSpPr/>
          <p:nvPr/>
        </p:nvSpPr>
        <p:spPr>
          <a:xfrm>
            <a:off x="266587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0" name="Illustrative delivered road transport cost class 4; reference terminal Durban"/>
          <p:cNvSpPr/>
          <p:nvPr/>
        </p:nvSpPr>
        <p:spPr>
          <a:xfrm>
            <a:off x="266587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1" name="Illustrative delivered road transport cost class 4; reference terminal Lesedi"/>
          <p:cNvSpPr/>
          <p:nvPr/>
        </p:nvSpPr>
        <p:spPr>
          <a:xfrm>
            <a:off x="266587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2" name="Illustrative delivered road transport cost class 4; reference terminal Lesedi"/>
          <p:cNvSpPr/>
          <p:nvPr/>
        </p:nvSpPr>
        <p:spPr>
          <a:xfrm>
            <a:off x="266587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3" name="Illustrative delivered road transport cost class 4; reference terminal Lesedi"/>
          <p:cNvSpPr/>
          <p:nvPr/>
        </p:nvSpPr>
        <p:spPr>
          <a:xfrm>
            <a:off x="266587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4" name="Illustrative delivered road transport cost class 4; reference terminal Lesedi"/>
          <p:cNvSpPr/>
          <p:nvPr/>
        </p:nvSpPr>
        <p:spPr>
          <a:xfrm>
            <a:off x="266587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5" name="Illustrative delivered road transport cost class 4; reference terminal Lesedi"/>
          <p:cNvSpPr/>
          <p:nvPr/>
        </p:nvSpPr>
        <p:spPr>
          <a:xfrm>
            <a:off x="266587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6" name="Illustrative delivered road transport cost class 4; reference terminal Lesedi"/>
          <p:cNvSpPr/>
          <p:nvPr/>
        </p:nvSpPr>
        <p:spPr>
          <a:xfrm>
            <a:off x="266587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7" name="Illustrative delivered road transport cost class 4; reference terminal Lesedi"/>
          <p:cNvSpPr/>
          <p:nvPr/>
        </p:nvSpPr>
        <p:spPr>
          <a:xfrm>
            <a:off x="266587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8" name="Illustrative delivered road transport cost class None; reference terminal None"/>
          <p:cNvSpPr/>
          <p:nvPr/>
        </p:nvSpPr>
        <p:spPr>
          <a:xfrm>
            <a:off x="266587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9" name="Illustrative delivered road transport cost class None; reference terminal None"/>
          <p:cNvSpPr/>
          <p:nvPr/>
        </p:nvSpPr>
        <p:spPr>
          <a:xfrm>
            <a:off x="266587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0" name="Illustrative delivered road transport cost class None; reference terminal None"/>
          <p:cNvSpPr/>
          <p:nvPr/>
        </p:nvSpPr>
        <p:spPr>
          <a:xfrm>
            <a:off x="266587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1" name="Illustrative delivered road transport cost class None; reference terminal None"/>
          <p:cNvSpPr/>
          <p:nvPr/>
        </p:nvSpPr>
        <p:spPr>
          <a:xfrm>
            <a:off x="266587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2" name="Illustrative delivered road transport cost class None; reference terminal None"/>
          <p:cNvSpPr/>
          <p:nvPr/>
        </p:nvSpPr>
        <p:spPr>
          <a:xfrm>
            <a:off x="266587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3" name="Illustrative delivered road transport cost class None; reference terminal None"/>
          <p:cNvSpPr/>
          <p:nvPr/>
        </p:nvSpPr>
        <p:spPr>
          <a:xfrm>
            <a:off x="266587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4" name="Illustrative delivered road transport cost class None; reference terminal None"/>
          <p:cNvSpPr/>
          <p:nvPr/>
        </p:nvSpPr>
        <p:spPr>
          <a:xfrm>
            <a:off x="266587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5" name="Illustrative delivered road transport cost class None; reference terminal None"/>
          <p:cNvSpPr/>
          <p:nvPr/>
        </p:nvSpPr>
        <p:spPr>
          <a:xfrm>
            <a:off x="266587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6" name="Illustrative delivered road transport cost class None; reference terminal None"/>
          <p:cNvSpPr/>
          <p:nvPr/>
        </p:nvSpPr>
        <p:spPr>
          <a:xfrm>
            <a:off x="266587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7" name="Illustrative delivered road transport cost class None; reference terminal None"/>
          <p:cNvSpPr/>
          <p:nvPr/>
        </p:nvSpPr>
        <p:spPr>
          <a:xfrm>
            <a:off x="266587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8" name="Illustrative delivered road transport cost class None; reference terminal None"/>
          <p:cNvSpPr/>
          <p:nvPr/>
        </p:nvSpPr>
        <p:spPr>
          <a:xfrm>
            <a:off x="266587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9" name="Illustrative delivered road transport cost class None; reference terminal None"/>
          <p:cNvSpPr/>
          <p:nvPr/>
        </p:nvSpPr>
        <p:spPr>
          <a:xfrm>
            <a:off x="266587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0" name="Illustrative delivered road transport cost class 4; reference terminal Lesedi"/>
          <p:cNvSpPr/>
          <p:nvPr/>
        </p:nvSpPr>
        <p:spPr>
          <a:xfrm>
            <a:off x="266587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1" name="Illustrative delivered road transport cost class 4; reference terminal Lesedi"/>
          <p:cNvSpPr/>
          <p:nvPr/>
        </p:nvSpPr>
        <p:spPr>
          <a:xfrm>
            <a:off x="266587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2" name="Illustrative delivered road transport cost class 4; reference terminal Lesedi"/>
          <p:cNvSpPr/>
          <p:nvPr/>
        </p:nvSpPr>
        <p:spPr>
          <a:xfrm>
            <a:off x="266587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3" name="Illustrative delivered road transport cost class 3; reference terminal Lesedi"/>
          <p:cNvSpPr/>
          <p:nvPr/>
        </p:nvSpPr>
        <p:spPr>
          <a:xfrm>
            <a:off x="266587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4" name="Illustrative delivered road transport cost class 3; reference terminal Lesedi"/>
          <p:cNvSpPr/>
          <p:nvPr/>
        </p:nvSpPr>
        <p:spPr>
          <a:xfrm>
            <a:off x="266587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5" name="Illustrative delivered road transport cost class 4; reference terminal Lesedi"/>
          <p:cNvSpPr/>
          <p:nvPr/>
        </p:nvSpPr>
        <p:spPr>
          <a:xfrm>
            <a:off x="266587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6" name="Illustrative delivered road transport cost class 4; reference terminal Lesedi"/>
          <p:cNvSpPr/>
          <p:nvPr/>
        </p:nvSpPr>
        <p:spPr>
          <a:xfrm>
            <a:off x="266587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7" name="Illustrative delivered road transport cost class 4; reference terminal Lesedi"/>
          <p:cNvSpPr/>
          <p:nvPr/>
        </p:nvSpPr>
        <p:spPr>
          <a:xfrm>
            <a:off x="266587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8" name="Illustrative delivered road transport cost class 4; reference terminal Lesedi"/>
          <p:cNvSpPr/>
          <p:nvPr/>
        </p:nvSpPr>
        <p:spPr>
          <a:xfrm>
            <a:off x="266587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9" name="Illustrative delivered road transport cost class 4; reference terminal Lesedi"/>
          <p:cNvSpPr/>
          <p:nvPr/>
        </p:nvSpPr>
        <p:spPr>
          <a:xfrm>
            <a:off x="266587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0" name="Illustrative delivered road transport cost class 4; reference terminal Lesedi"/>
          <p:cNvSpPr/>
          <p:nvPr/>
        </p:nvSpPr>
        <p:spPr>
          <a:xfrm>
            <a:off x="266587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1" name="Illustrative delivered road transport cost class 4; reference terminal Lesedi"/>
          <p:cNvSpPr/>
          <p:nvPr/>
        </p:nvSpPr>
        <p:spPr>
          <a:xfrm>
            <a:off x="266587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2" name="Illustrative delivered road transport cost class 4; reference terminal Lesedi"/>
          <p:cNvSpPr/>
          <p:nvPr/>
        </p:nvSpPr>
        <p:spPr>
          <a:xfrm>
            <a:off x="2665876" y="3479202"/>
            <a:ext cx="57687" cy="57687"/>
          </a:xfrm>
          <a:custGeom>
            <a:avLst/>
            <a:gdLst/>
            <a:ahLst/>
            <a:cxnLst/>
            <a:rect l="l" t="t" r="r" b="b"/>
            <a:pathLst>
              <a:path w="57687" h="57687">
                <a:moveTo>
                  <a:pt x="57687" y="57687"/>
                </a:moveTo>
                <a:lnTo>
                  <a:pt x="0" y="57687"/>
                </a:lnTo>
                <a:lnTo>
                  <a:pt x="0" y="0"/>
                </a:lnTo>
                <a:lnTo>
                  <a:pt x="35371" y="0"/>
                </a:lnTo>
                <a:lnTo>
                  <a:pt x="38098" y="17586"/>
                </a:lnTo>
                <a:lnTo>
                  <a:pt x="48817" y="37746"/>
                </a:lnTo>
                <a:lnTo>
                  <a:pt x="57687" y="42112"/>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3" name="Illustrative delivered road transport cost class 4; reference terminal Lesedi"/>
          <p:cNvSpPr/>
          <p:nvPr/>
        </p:nvSpPr>
        <p:spPr>
          <a:xfrm>
            <a:off x="2665876" y="3421516"/>
            <a:ext cx="35371" cy="57686"/>
          </a:xfrm>
          <a:custGeom>
            <a:avLst/>
            <a:gdLst/>
            <a:ahLst/>
            <a:cxnLst/>
            <a:rect l="l" t="t" r="r" b="b"/>
            <a:pathLst>
              <a:path w="35371" h="57686">
                <a:moveTo>
                  <a:pt x="0" y="57686"/>
                </a:moveTo>
                <a:lnTo>
                  <a:pt x="0" y="0"/>
                </a:lnTo>
                <a:lnTo>
                  <a:pt x="32074" y="0"/>
                </a:lnTo>
                <a:lnTo>
                  <a:pt x="31730" y="34214"/>
                </a:lnTo>
                <a:lnTo>
                  <a:pt x="35371"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4" name="Illustrative delivered road transport cost class 4; reference terminal Lesedi"/>
          <p:cNvSpPr/>
          <p:nvPr/>
        </p:nvSpPr>
        <p:spPr>
          <a:xfrm>
            <a:off x="2665876" y="3363829"/>
            <a:ext cx="57687" cy="57687"/>
          </a:xfrm>
          <a:custGeom>
            <a:avLst/>
            <a:gdLst/>
            <a:ahLst/>
            <a:cxnLst/>
            <a:rect l="l" t="t" r="r" b="b"/>
            <a:pathLst>
              <a:path w="57687" h="57687">
                <a:moveTo>
                  <a:pt x="0" y="57687"/>
                </a:moveTo>
                <a:lnTo>
                  <a:pt x="0" y="0"/>
                </a:lnTo>
                <a:lnTo>
                  <a:pt x="57687" y="0"/>
                </a:lnTo>
                <a:lnTo>
                  <a:pt x="57687" y="14138"/>
                </a:lnTo>
                <a:lnTo>
                  <a:pt x="47524" y="29733"/>
                </a:lnTo>
                <a:lnTo>
                  <a:pt x="32082" y="56825"/>
                </a:lnTo>
                <a:lnTo>
                  <a:pt x="32074"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5" name="Illustrative delivered road transport cost class 4; reference terminal Lesedi"/>
          <p:cNvSpPr/>
          <p:nvPr/>
        </p:nvSpPr>
        <p:spPr>
          <a:xfrm>
            <a:off x="266587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6" name="Illustrative delivered road transport cost class 4; reference terminal Lesedi"/>
          <p:cNvSpPr/>
          <p:nvPr/>
        </p:nvSpPr>
        <p:spPr>
          <a:xfrm>
            <a:off x="2665876" y="3248456"/>
            <a:ext cx="57687" cy="57687"/>
          </a:xfrm>
          <a:custGeom>
            <a:avLst/>
            <a:gdLst/>
            <a:ahLst/>
            <a:cxnLst/>
            <a:rect l="l" t="t" r="r" b="b"/>
            <a:pathLst>
              <a:path w="57687" h="57687">
                <a:moveTo>
                  <a:pt x="57687" y="57687"/>
                </a:moveTo>
                <a:lnTo>
                  <a:pt x="0" y="57687"/>
                </a:lnTo>
                <a:lnTo>
                  <a:pt x="0" y="0"/>
                </a:lnTo>
                <a:lnTo>
                  <a:pt x="49795" y="0"/>
                </a:lnTo>
                <a:lnTo>
                  <a:pt x="57687" y="17604"/>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7" name="Illustrative delivered road transport cost class 4; reference terminal Lesedi"/>
          <p:cNvSpPr/>
          <p:nvPr/>
        </p:nvSpPr>
        <p:spPr>
          <a:xfrm>
            <a:off x="2665876" y="3190770"/>
            <a:ext cx="49795" cy="57686"/>
          </a:xfrm>
          <a:custGeom>
            <a:avLst/>
            <a:gdLst/>
            <a:ahLst/>
            <a:cxnLst/>
            <a:rect l="l" t="t" r="r" b="b"/>
            <a:pathLst>
              <a:path w="49795" h="57686">
                <a:moveTo>
                  <a:pt x="0" y="57686"/>
                </a:moveTo>
                <a:lnTo>
                  <a:pt x="0" y="0"/>
                </a:lnTo>
                <a:lnTo>
                  <a:pt x="25307" y="0"/>
                </a:lnTo>
                <a:lnTo>
                  <a:pt x="45264" y="47580"/>
                </a:lnTo>
                <a:lnTo>
                  <a:pt x="49795"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8" name="Illustrative delivered road transport cost class 4; reference terminal Lesedi"/>
          <p:cNvSpPr/>
          <p:nvPr/>
        </p:nvSpPr>
        <p:spPr>
          <a:xfrm>
            <a:off x="2665876" y="3138066"/>
            <a:ext cx="25307" cy="52704"/>
          </a:xfrm>
          <a:custGeom>
            <a:avLst/>
            <a:gdLst/>
            <a:ahLst/>
            <a:cxnLst/>
            <a:rect l="l" t="t" r="r" b="b"/>
            <a:pathLst>
              <a:path w="25307" h="52704">
                <a:moveTo>
                  <a:pt x="0" y="52704"/>
                </a:moveTo>
                <a:lnTo>
                  <a:pt x="0" y="0"/>
                </a:lnTo>
                <a:lnTo>
                  <a:pt x="19680" y="39287"/>
                </a:lnTo>
                <a:lnTo>
                  <a:pt x="25307" y="52704"/>
                </a:lnTo>
                <a:lnTo>
                  <a:pt x="0" y="5270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9" name="Illustrative delivered road transport cost class 4; reference terminal Durban"/>
          <p:cNvSpPr/>
          <p:nvPr/>
        </p:nvSpPr>
        <p:spPr>
          <a:xfrm>
            <a:off x="2723563" y="5440546"/>
            <a:ext cx="57687" cy="54853"/>
          </a:xfrm>
          <a:custGeom>
            <a:avLst/>
            <a:gdLst/>
            <a:ahLst/>
            <a:cxnLst/>
            <a:rect l="l" t="t" r="r" b="b"/>
            <a:pathLst>
              <a:path w="57687" h="54853">
                <a:moveTo>
                  <a:pt x="0" y="0"/>
                </a:moveTo>
                <a:lnTo>
                  <a:pt x="57687" y="0"/>
                </a:lnTo>
                <a:lnTo>
                  <a:pt x="57687" y="27433"/>
                </a:lnTo>
                <a:lnTo>
                  <a:pt x="32235" y="31324"/>
                </a:lnTo>
                <a:lnTo>
                  <a:pt x="12559" y="43757"/>
                </a:lnTo>
                <a:lnTo>
                  <a:pt x="0" y="548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0" name="Illustrative delivered road transport cost class 4; reference terminal Durban"/>
          <p:cNvSpPr/>
          <p:nvPr/>
        </p:nvSpPr>
        <p:spPr>
          <a:xfrm>
            <a:off x="272356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1" name="Illustrative delivered road transport cost class 4; reference terminal Durban"/>
          <p:cNvSpPr/>
          <p:nvPr/>
        </p:nvSpPr>
        <p:spPr>
          <a:xfrm>
            <a:off x="272356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2" name="Illustrative delivered road transport cost class 4; reference terminal Lesedi"/>
          <p:cNvSpPr/>
          <p:nvPr/>
        </p:nvSpPr>
        <p:spPr>
          <a:xfrm>
            <a:off x="272356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3" name="Illustrative delivered road transport cost class 4; reference terminal Lesedi"/>
          <p:cNvSpPr/>
          <p:nvPr/>
        </p:nvSpPr>
        <p:spPr>
          <a:xfrm>
            <a:off x="272356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4" name="Illustrative delivered road transport cost class 4; reference terminal Lesedi"/>
          <p:cNvSpPr/>
          <p:nvPr/>
        </p:nvSpPr>
        <p:spPr>
          <a:xfrm>
            <a:off x="272356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5" name="Illustrative delivered road transport cost class 4; reference terminal Lesedi"/>
          <p:cNvSpPr/>
          <p:nvPr/>
        </p:nvSpPr>
        <p:spPr>
          <a:xfrm>
            <a:off x="272356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6" name="Illustrative delivered road transport cost class 4; reference terminal Lesedi"/>
          <p:cNvSpPr/>
          <p:nvPr/>
        </p:nvSpPr>
        <p:spPr>
          <a:xfrm>
            <a:off x="272356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7" name="Illustrative delivered road transport cost class 4; reference terminal Lesedi"/>
          <p:cNvSpPr/>
          <p:nvPr/>
        </p:nvSpPr>
        <p:spPr>
          <a:xfrm>
            <a:off x="272356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8" name="Illustrative delivered road transport cost class 4; reference terminal Lesedi"/>
          <p:cNvSpPr/>
          <p:nvPr/>
        </p:nvSpPr>
        <p:spPr>
          <a:xfrm>
            <a:off x="272356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9" name="Illustrative delivered road transport cost class 4; reference terminal Lesedi"/>
          <p:cNvSpPr/>
          <p:nvPr/>
        </p:nvSpPr>
        <p:spPr>
          <a:xfrm>
            <a:off x="272356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0" name="Illustrative delivered road transport cost class None; reference terminal None"/>
          <p:cNvSpPr/>
          <p:nvPr/>
        </p:nvSpPr>
        <p:spPr>
          <a:xfrm>
            <a:off x="272356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1" name="Illustrative delivered road transport cost class None; reference terminal None"/>
          <p:cNvSpPr/>
          <p:nvPr/>
        </p:nvSpPr>
        <p:spPr>
          <a:xfrm>
            <a:off x="272356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2" name="Illustrative delivered road transport cost class None; reference terminal None"/>
          <p:cNvSpPr/>
          <p:nvPr/>
        </p:nvSpPr>
        <p:spPr>
          <a:xfrm>
            <a:off x="272356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3" name="Illustrative delivered road transport cost class None; reference terminal None"/>
          <p:cNvSpPr/>
          <p:nvPr/>
        </p:nvSpPr>
        <p:spPr>
          <a:xfrm>
            <a:off x="272356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4" name="Illustrative delivered road transport cost class None; reference terminal None"/>
          <p:cNvSpPr/>
          <p:nvPr/>
        </p:nvSpPr>
        <p:spPr>
          <a:xfrm>
            <a:off x="272356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5" name="Illustrative delivered road transport cost class None; reference terminal None"/>
          <p:cNvSpPr/>
          <p:nvPr/>
        </p:nvSpPr>
        <p:spPr>
          <a:xfrm>
            <a:off x="272356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6" name="Illustrative delivered road transport cost class None; reference terminal None"/>
          <p:cNvSpPr/>
          <p:nvPr/>
        </p:nvSpPr>
        <p:spPr>
          <a:xfrm>
            <a:off x="272356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7" name="Illustrative delivered road transport cost class None; reference terminal None"/>
          <p:cNvSpPr/>
          <p:nvPr/>
        </p:nvSpPr>
        <p:spPr>
          <a:xfrm>
            <a:off x="272356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8" name="Illustrative delivered road transport cost class None; reference terminal None"/>
          <p:cNvSpPr/>
          <p:nvPr/>
        </p:nvSpPr>
        <p:spPr>
          <a:xfrm>
            <a:off x="272356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9" name="Illustrative delivered road transport cost class None; reference terminal None"/>
          <p:cNvSpPr/>
          <p:nvPr/>
        </p:nvSpPr>
        <p:spPr>
          <a:xfrm>
            <a:off x="272356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0" name="Illustrative delivered road transport cost class 3; reference terminal Lesedi"/>
          <p:cNvSpPr/>
          <p:nvPr/>
        </p:nvSpPr>
        <p:spPr>
          <a:xfrm>
            <a:off x="272356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1" name="Illustrative delivered road transport cost class 3; reference terminal Lesedi"/>
          <p:cNvSpPr/>
          <p:nvPr/>
        </p:nvSpPr>
        <p:spPr>
          <a:xfrm>
            <a:off x="272356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2" name="Illustrative delivered road transport cost class 3; reference terminal Lesedi"/>
          <p:cNvSpPr/>
          <p:nvPr/>
        </p:nvSpPr>
        <p:spPr>
          <a:xfrm>
            <a:off x="272356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3" name="Illustrative delivered road transport cost class 3; reference terminal Lesedi"/>
          <p:cNvSpPr/>
          <p:nvPr/>
        </p:nvSpPr>
        <p:spPr>
          <a:xfrm>
            <a:off x="272356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4" name="Illustrative delivered road transport cost class 3; reference terminal Lesedi"/>
          <p:cNvSpPr/>
          <p:nvPr/>
        </p:nvSpPr>
        <p:spPr>
          <a:xfrm>
            <a:off x="272356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5" name="Illustrative delivered road transport cost class 3; reference terminal Lesedi"/>
          <p:cNvSpPr/>
          <p:nvPr/>
        </p:nvSpPr>
        <p:spPr>
          <a:xfrm>
            <a:off x="272356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6" name="Illustrative delivered road transport cost class 4; reference terminal Lesedi"/>
          <p:cNvSpPr/>
          <p:nvPr/>
        </p:nvSpPr>
        <p:spPr>
          <a:xfrm>
            <a:off x="272356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7" name="Illustrative delivered road transport cost class 4; reference terminal Lesedi"/>
          <p:cNvSpPr/>
          <p:nvPr/>
        </p:nvSpPr>
        <p:spPr>
          <a:xfrm>
            <a:off x="272356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8" name="Illustrative delivered road transport cost class 4; reference terminal Lesedi"/>
          <p:cNvSpPr/>
          <p:nvPr/>
        </p:nvSpPr>
        <p:spPr>
          <a:xfrm>
            <a:off x="272356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9" name="Illustrative delivered road transport cost class 4; reference terminal Lesedi"/>
          <p:cNvSpPr/>
          <p:nvPr/>
        </p:nvSpPr>
        <p:spPr>
          <a:xfrm>
            <a:off x="272356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0" name="Illustrative delivered road transport cost class 4; reference terminal Lesedi"/>
          <p:cNvSpPr/>
          <p:nvPr/>
        </p:nvSpPr>
        <p:spPr>
          <a:xfrm>
            <a:off x="272356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1" name="Illustrative delivered road transport cost class 4; reference terminal Lesedi"/>
          <p:cNvSpPr/>
          <p:nvPr/>
        </p:nvSpPr>
        <p:spPr>
          <a:xfrm>
            <a:off x="272356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2" name="Illustrative delivered road transport cost class 4; reference terminal Lesedi"/>
          <p:cNvSpPr/>
          <p:nvPr/>
        </p:nvSpPr>
        <p:spPr>
          <a:xfrm>
            <a:off x="272356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3" name="Illustrative delivered road transport cost class 4; reference terminal Lesedi"/>
          <p:cNvSpPr/>
          <p:nvPr/>
        </p:nvSpPr>
        <p:spPr>
          <a:xfrm>
            <a:off x="2723563" y="3511963"/>
            <a:ext cx="57687" cy="24926"/>
          </a:xfrm>
          <a:custGeom>
            <a:avLst/>
            <a:gdLst/>
            <a:ahLst/>
            <a:cxnLst/>
            <a:rect l="l" t="t" r="r" b="b"/>
            <a:pathLst>
              <a:path w="57687" h="24926">
                <a:moveTo>
                  <a:pt x="57687" y="24926"/>
                </a:moveTo>
                <a:lnTo>
                  <a:pt x="0" y="24926"/>
                </a:lnTo>
                <a:lnTo>
                  <a:pt x="0" y="9351"/>
                </a:lnTo>
                <a:lnTo>
                  <a:pt x="3915" y="11278"/>
                </a:lnTo>
                <a:lnTo>
                  <a:pt x="33602" y="0"/>
                </a:lnTo>
                <a:lnTo>
                  <a:pt x="52730" y="2502"/>
                </a:lnTo>
                <a:lnTo>
                  <a:pt x="57687" y="3774"/>
                </a:lnTo>
                <a:lnTo>
                  <a:pt x="57687" y="2492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4" name="Illustrative delivered road transport cost class 4; reference terminal Lesedi"/>
          <p:cNvSpPr/>
          <p:nvPr/>
        </p:nvSpPr>
        <p:spPr>
          <a:xfrm>
            <a:off x="2723563" y="3363829"/>
            <a:ext cx="7574" cy="14138"/>
          </a:xfrm>
          <a:custGeom>
            <a:avLst/>
            <a:gdLst/>
            <a:ahLst/>
            <a:cxnLst/>
            <a:rect l="l" t="t" r="r" b="b"/>
            <a:pathLst>
              <a:path w="7574" h="14138">
                <a:moveTo>
                  <a:pt x="0" y="0"/>
                </a:moveTo>
                <a:lnTo>
                  <a:pt x="7574" y="0"/>
                </a:lnTo>
                <a:lnTo>
                  <a:pt x="2805" y="9834"/>
                </a:lnTo>
                <a:lnTo>
                  <a:pt x="0" y="14138"/>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5" name="Illustrative delivered road transport cost class 4; reference terminal Lesedi"/>
          <p:cNvSpPr/>
          <p:nvPr/>
        </p:nvSpPr>
        <p:spPr>
          <a:xfrm>
            <a:off x="2723563" y="3306143"/>
            <a:ext cx="16709" cy="57686"/>
          </a:xfrm>
          <a:custGeom>
            <a:avLst/>
            <a:gdLst/>
            <a:ahLst/>
            <a:cxnLst/>
            <a:rect l="l" t="t" r="r" b="b"/>
            <a:pathLst>
              <a:path w="16709" h="57686">
                <a:moveTo>
                  <a:pt x="0" y="57686"/>
                </a:moveTo>
                <a:lnTo>
                  <a:pt x="0" y="0"/>
                </a:lnTo>
                <a:lnTo>
                  <a:pt x="10418" y="0"/>
                </a:lnTo>
                <a:lnTo>
                  <a:pt x="13692" y="20167"/>
                </a:lnTo>
                <a:lnTo>
                  <a:pt x="16709" y="30307"/>
                </a:lnTo>
                <a:lnTo>
                  <a:pt x="15326" y="41698"/>
                </a:lnTo>
                <a:lnTo>
                  <a:pt x="7574"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6" name="Illustrative delivered road transport cost class 4; reference terminal Lesedi"/>
          <p:cNvSpPr/>
          <p:nvPr/>
        </p:nvSpPr>
        <p:spPr>
          <a:xfrm>
            <a:off x="2723563" y="3266060"/>
            <a:ext cx="10418" cy="40083"/>
          </a:xfrm>
          <a:custGeom>
            <a:avLst/>
            <a:gdLst/>
            <a:ahLst/>
            <a:cxnLst/>
            <a:rect l="l" t="t" r="r" b="b"/>
            <a:pathLst>
              <a:path w="10418" h="40083">
                <a:moveTo>
                  <a:pt x="0" y="40083"/>
                </a:moveTo>
                <a:lnTo>
                  <a:pt x="0" y="0"/>
                </a:lnTo>
                <a:lnTo>
                  <a:pt x="8178" y="18241"/>
                </a:lnTo>
                <a:lnTo>
                  <a:pt x="10324" y="39504"/>
                </a:lnTo>
                <a:lnTo>
                  <a:pt x="10418" y="40083"/>
                </a:lnTo>
                <a:lnTo>
                  <a:pt x="0" y="40083"/>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7" name="Illustrative delivered road transport cost class 4; reference terminal Durban"/>
          <p:cNvSpPr/>
          <p:nvPr/>
        </p:nvSpPr>
        <p:spPr>
          <a:xfrm>
            <a:off x="2781250" y="5440546"/>
            <a:ext cx="57686" cy="27433"/>
          </a:xfrm>
          <a:custGeom>
            <a:avLst/>
            <a:gdLst/>
            <a:ahLst/>
            <a:cxnLst/>
            <a:rect l="l" t="t" r="r" b="b"/>
            <a:pathLst>
              <a:path w="57686" h="27433">
                <a:moveTo>
                  <a:pt x="0" y="0"/>
                </a:moveTo>
                <a:lnTo>
                  <a:pt x="57686" y="0"/>
                </a:lnTo>
                <a:lnTo>
                  <a:pt x="57686" y="6629"/>
                </a:lnTo>
                <a:lnTo>
                  <a:pt x="48517" y="8933"/>
                </a:lnTo>
                <a:lnTo>
                  <a:pt x="26231" y="23423"/>
                </a:lnTo>
                <a:lnTo>
                  <a:pt x="0" y="2743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8" name="Illustrative delivered road transport cost class 4; reference terminal Durban"/>
          <p:cNvSpPr/>
          <p:nvPr/>
        </p:nvSpPr>
        <p:spPr>
          <a:xfrm>
            <a:off x="278125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9" name="Illustrative delivered road transport cost class 4; reference terminal Durban"/>
          <p:cNvSpPr/>
          <p:nvPr/>
        </p:nvSpPr>
        <p:spPr>
          <a:xfrm>
            <a:off x="278125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0" name="Illustrative delivered road transport cost class 4; reference terminal Lesedi"/>
          <p:cNvSpPr/>
          <p:nvPr/>
        </p:nvSpPr>
        <p:spPr>
          <a:xfrm>
            <a:off x="278125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1" name="Illustrative delivered road transport cost class 4; reference terminal Lesedi"/>
          <p:cNvSpPr/>
          <p:nvPr/>
        </p:nvSpPr>
        <p:spPr>
          <a:xfrm>
            <a:off x="278125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2" name="Illustrative delivered road transport cost class 4; reference terminal Lesedi"/>
          <p:cNvSpPr/>
          <p:nvPr/>
        </p:nvSpPr>
        <p:spPr>
          <a:xfrm>
            <a:off x="278125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3" name="Illustrative delivered road transport cost class 4; reference terminal Lesedi"/>
          <p:cNvSpPr/>
          <p:nvPr/>
        </p:nvSpPr>
        <p:spPr>
          <a:xfrm>
            <a:off x="278125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4" name="Illustrative delivered road transport cost class 4; reference terminal Lesedi"/>
          <p:cNvSpPr/>
          <p:nvPr/>
        </p:nvSpPr>
        <p:spPr>
          <a:xfrm>
            <a:off x="278125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5" name="Illustrative delivered road transport cost class 4; reference terminal Lesedi"/>
          <p:cNvSpPr/>
          <p:nvPr/>
        </p:nvSpPr>
        <p:spPr>
          <a:xfrm>
            <a:off x="278125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6" name="Illustrative delivered road transport cost class 4; reference terminal Lesedi"/>
          <p:cNvSpPr/>
          <p:nvPr/>
        </p:nvSpPr>
        <p:spPr>
          <a:xfrm>
            <a:off x="278125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7" name="Illustrative delivered road transport cost class 4; reference terminal Lesedi"/>
          <p:cNvSpPr/>
          <p:nvPr/>
        </p:nvSpPr>
        <p:spPr>
          <a:xfrm>
            <a:off x="278125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8" name="Illustrative delivered road transport cost class None; reference terminal None"/>
          <p:cNvSpPr/>
          <p:nvPr/>
        </p:nvSpPr>
        <p:spPr>
          <a:xfrm>
            <a:off x="278125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9" name="Illustrative delivered road transport cost class None; reference terminal None"/>
          <p:cNvSpPr/>
          <p:nvPr/>
        </p:nvSpPr>
        <p:spPr>
          <a:xfrm>
            <a:off x="278125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0" name="Illustrative delivered road transport cost class None; reference terminal None"/>
          <p:cNvSpPr/>
          <p:nvPr/>
        </p:nvSpPr>
        <p:spPr>
          <a:xfrm>
            <a:off x="278125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1" name="Illustrative delivered road transport cost class None; reference terminal None"/>
          <p:cNvSpPr/>
          <p:nvPr/>
        </p:nvSpPr>
        <p:spPr>
          <a:xfrm>
            <a:off x="278125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2" name="Illustrative delivered road transport cost class None; reference terminal None"/>
          <p:cNvSpPr/>
          <p:nvPr/>
        </p:nvSpPr>
        <p:spPr>
          <a:xfrm>
            <a:off x="278125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3" name="Illustrative delivered road transport cost class None; reference terminal None"/>
          <p:cNvSpPr/>
          <p:nvPr/>
        </p:nvSpPr>
        <p:spPr>
          <a:xfrm>
            <a:off x="278125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4" name="Illustrative delivered road transport cost class None; reference terminal None"/>
          <p:cNvSpPr/>
          <p:nvPr/>
        </p:nvSpPr>
        <p:spPr>
          <a:xfrm>
            <a:off x="278125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5" name="Illustrative delivered road transport cost class None; reference terminal None"/>
          <p:cNvSpPr/>
          <p:nvPr/>
        </p:nvSpPr>
        <p:spPr>
          <a:xfrm>
            <a:off x="278125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6" name="Illustrative delivered road transport cost class None; reference terminal None"/>
          <p:cNvSpPr/>
          <p:nvPr/>
        </p:nvSpPr>
        <p:spPr>
          <a:xfrm>
            <a:off x="278125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7" name="Illustrative delivered road transport cost class None; reference terminal None"/>
          <p:cNvSpPr/>
          <p:nvPr/>
        </p:nvSpPr>
        <p:spPr>
          <a:xfrm>
            <a:off x="278125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8" name="Illustrative delivered road transport cost class 3; reference terminal Lesedi"/>
          <p:cNvSpPr/>
          <p:nvPr/>
        </p:nvSpPr>
        <p:spPr>
          <a:xfrm>
            <a:off x="278125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9" name="Illustrative delivered road transport cost class 3; reference terminal Lesedi"/>
          <p:cNvSpPr/>
          <p:nvPr/>
        </p:nvSpPr>
        <p:spPr>
          <a:xfrm>
            <a:off x="278125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0" name="Illustrative delivered road transport cost class 3; reference terminal Lesedi"/>
          <p:cNvSpPr/>
          <p:nvPr/>
        </p:nvSpPr>
        <p:spPr>
          <a:xfrm>
            <a:off x="278125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1" name="Illustrative delivered road transport cost class 3; reference terminal Lesedi"/>
          <p:cNvSpPr/>
          <p:nvPr/>
        </p:nvSpPr>
        <p:spPr>
          <a:xfrm>
            <a:off x="278125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2" name="Illustrative delivered road transport cost class 3; reference terminal Lesedi"/>
          <p:cNvSpPr/>
          <p:nvPr/>
        </p:nvSpPr>
        <p:spPr>
          <a:xfrm>
            <a:off x="278125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3" name="Illustrative delivered road transport cost class 3; reference terminal Lesedi"/>
          <p:cNvSpPr/>
          <p:nvPr/>
        </p:nvSpPr>
        <p:spPr>
          <a:xfrm>
            <a:off x="278125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4" name="Illustrative delivered road transport cost class 3; reference terminal Lesedi"/>
          <p:cNvSpPr/>
          <p:nvPr/>
        </p:nvSpPr>
        <p:spPr>
          <a:xfrm>
            <a:off x="278125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5" name="Illustrative delivered road transport cost class 4; reference terminal Lesedi"/>
          <p:cNvSpPr/>
          <p:nvPr/>
        </p:nvSpPr>
        <p:spPr>
          <a:xfrm>
            <a:off x="278125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6" name="Illustrative delivered road transport cost class 4; reference terminal Lesedi"/>
          <p:cNvSpPr/>
          <p:nvPr/>
        </p:nvSpPr>
        <p:spPr>
          <a:xfrm>
            <a:off x="278125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7" name="Illustrative delivered road transport cost class 4; reference terminal Lesedi"/>
          <p:cNvSpPr/>
          <p:nvPr/>
        </p:nvSpPr>
        <p:spPr>
          <a:xfrm>
            <a:off x="278125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8" name="Illustrative delivered road transport cost class 4; reference terminal Lesedi"/>
          <p:cNvSpPr/>
          <p:nvPr/>
        </p:nvSpPr>
        <p:spPr>
          <a:xfrm>
            <a:off x="278125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9" name="Illustrative delivered road transport cost class 4; reference terminal Lesedi"/>
          <p:cNvSpPr/>
          <p:nvPr/>
        </p:nvSpPr>
        <p:spPr>
          <a:xfrm>
            <a:off x="278125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0" name="Illustrative delivered road transport cost class 4; reference terminal Lesedi"/>
          <p:cNvSpPr/>
          <p:nvPr/>
        </p:nvSpPr>
        <p:spPr>
          <a:xfrm>
            <a:off x="278125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1" name="Illustrative delivered road transport cost class None; reference terminal None"/>
          <p:cNvSpPr/>
          <p:nvPr/>
        </p:nvSpPr>
        <p:spPr>
          <a:xfrm>
            <a:off x="2781250" y="3515737"/>
            <a:ext cx="57686" cy="21152"/>
          </a:xfrm>
          <a:custGeom>
            <a:avLst/>
            <a:gdLst/>
            <a:ahLst/>
            <a:cxnLst/>
            <a:rect l="l" t="t" r="r" b="b"/>
            <a:pathLst>
              <a:path w="57686" h="21152">
                <a:moveTo>
                  <a:pt x="57686" y="21152"/>
                </a:moveTo>
                <a:lnTo>
                  <a:pt x="0" y="21152"/>
                </a:lnTo>
                <a:lnTo>
                  <a:pt x="0" y="0"/>
                </a:lnTo>
                <a:lnTo>
                  <a:pt x="22125" y="5679"/>
                </a:lnTo>
                <a:lnTo>
                  <a:pt x="57686" y="2617"/>
                </a:lnTo>
                <a:lnTo>
                  <a:pt x="57686" y="2115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2" name="Illustrative delivered road transport cost class 4; reference terminal Durban"/>
          <p:cNvSpPr/>
          <p:nvPr/>
        </p:nvSpPr>
        <p:spPr>
          <a:xfrm>
            <a:off x="2838936" y="5440546"/>
            <a:ext cx="57687" cy="8882"/>
          </a:xfrm>
          <a:custGeom>
            <a:avLst/>
            <a:gdLst/>
            <a:ahLst/>
            <a:cxnLst/>
            <a:rect l="l" t="t" r="r" b="b"/>
            <a:pathLst>
              <a:path w="57687" h="8882">
                <a:moveTo>
                  <a:pt x="0" y="0"/>
                </a:moveTo>
                <a:lnTo>
                  <a:pt x="57687" y="0"/>
                </a:lnTo>
                <a:lnTo>
                  <a:pt x="57687" y="8882"/>
                </a:lnTo>
                <a:lnTo>
                  <a:pt x="28340" y="2006"/>
                </a:lnTo>
                <a:lnTo>
                  <a:pt x="13442" y="3251"/>
                </a:lnTo>
                <a:lnTo>
                  <a:pt x="0" y="6629"/>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3" name="Illustrative delivered road transport cost class 4; reference terminal Durban"/>
          <p:cNvSpPr/>
          <p:nvPr/>
        </p:nvSpPr>
        <p:spPr>
          <a:xfrm>
            <a:off x="283893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4" name="Illustrative delivered road transport cost class 4; reference terminal Durban"/>
          <p:cNvSpPr/>
          <p:nvPr/>
        </p:nvSpPr>
        <p:spPr>
          <a:xfrm>
            <a:off x="283893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5" name="Illustrative delivered road transport cost class 4; reference terminal Lesedi"/>
          <p:cNvSpPr/>
          <p:nvPr/>
        </p:nvSpPr>
        <p:spPr>
          <a:xfrm>
            <a:off x="283893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6" name="Illustrative delivered road transport cost class 4; reference terminal Lesedi"/>
          <p:cNvSpPr/>
          <p:nvPr/>
        </p:nvSpPr>
        <p:spPr>
          <a:xfrm>
            <a:off x="283893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7" name="Illustrative delivered road transport cost class 4; reference terminal Lesedi"/>
          <p:cNvSpPr/>
          <p:nvPr/>
        </p:nvSpPr>
        <p:spPr>
          <a:xfrm>
            <a:off x="283893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8" name="Illustrative delivered road transport cost class 4; reference terminal Lesedi"/>
          <p:cNvSpPr/>
          <p:nvPr/>
        </p:nvSpPr>
        <p:spPr>
          <a:xfrm>
            <a:off x="283893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9" name="Illustrative delivered road transport cost class 4; reference terminal Lesedi"/>
          <p:cNvSpPr/>
          <p:nvPr/>
        </p:nvSpPr>
        <p:spPr>
          <a:xfrm>
            <a:off x="283893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0" name="Illustrative delivered road transport cost class 4; reference terminal Lesedi"/>
          <p:cNvSpPr/>
          <p:nvPr/>
        </p:nvSpPr>
        <p:spPr>
          <a:xfrm>
            <a:off x="283893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1" name="Illustrative delivered road transport cost class 4; reference terminal Lesedi"/>
          <p:cNvSpPr/>
          <p:nvPr/>
        </p:nvSpPr>
        <p:spPr>
          <a:xfrm>
            <a:off x="283893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2" name="Illustrative delivered road transport cost class 4; reference terminal Lesedi"/>
          <p:cNvSpPr/>
          <p:nvPr/>
        </p:nvSpPr>
        <p:spPr>
          <a:xfrm>
            <a:off x="283893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3" name="Illustrative delivered road transport cost class 4; reference terminal Lesedi"/>
          <p:cNvSpPr/>
          <p:nvPr/>
        </p:nvSpPr>
        <p:spPr>
          <a:xfrm>
            <a:off x="283893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4" name="Illustrative delivered road transport cost class None; reference terminal None"/>
          <p:cNvSpPr/>
          <p:nvPr/>
        </p:nvSpPr>
        <p:spPr>
          <a:xfrm>
            <a:off x="283893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5" name="Illustrative delivered road transport cost class None; reference terminal None"/>
          <p:cNvSpPr/>
          <p:nvPr/>
        </p:nvSpPr>
        <p:spPr>
          <a:xfrm>
            <a:off x="283893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6" name="Illustrative delivered road transport cost class None; reference terminal None"/>
          <p:cNvSpPr/>
          <p:nvPr/>
        </p:nvSpPr>
        <p:spPr>
          <a:xfrm>
            <a:off x="283893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7" name="Illustrative delivered road transport cost class None; reference terminal None"/>
          <p:cNvSpPr/>
          <p:nvPr/>
        </p:nvSpPr>
        <p:spPr>
          <a:xfrm>
            <a:off x="283893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8" name="Illustrative delivered road transport cost class None; reference terminal None"/>
          <p:cNvSpPr/>
          <p:nvPr/>
        </p:nvSpPr>
        <p:spPr>
          <a:xfrm>
            <a:off x="283893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9" name="Illustrative delivered road transport cost class None; reference terminal None"/>
          <p:cNvSpPr/>
          <p:nvPr/>
        </p:nvSpPr>
        <p:spPr>
          <a:xfrm>
            <a:off x="283893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0" name="Illustrative delivered road transport cost class None; reference terminal None"/>
          <p:cNvSpPr/>
          <p:nvPr/>
        </p:nvSpPr>
        <p:spPr>
          <a:xfrm>
            <a:off x="283893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1" name="Illustrative delivered road transport cost class None; reference terminal None"/>
          <p:cNvSpPr/>
          <p:nvPr/>
        </p:nvSpPr>
        <p:spPr>
          <a:xfrm>
            <a:off x="283893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2" name="Illustrative delivered road transport cost class 3; reference terminal Lesedi"/>
          <p:cNvSpPr/>
          <p:nvPr/>
        </p:nvSpPr>
        <p:spPr>
          <a:xfrm>
            <a:off x="283893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3" name="Illustrative delivered road transport cost class 3; reference terminal Lesedi"/>
          <p:cNvSpPr/>
          <p:nvPr/>
        </p:nvSpPr>
        <p:spPr>
          <a:xfrm>
            <a:off x="283893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4" name="Illustrative delivered road transport cost class 3; reference terminal Lesedi"/>
          <p:cNvSpPr/>
          <p:nvPr/>
        </p:nvSpPr>
        <p:spPr>
          <a:xfrm>
            <a:off x="283893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5" name="Illustrative delivered road transport cost class 3; reference terminal Lesedi"/>
          <p:cNvSpPr/>
          <p:nvPr/>
        </p:nvSpPr>
        <p:spPr>
          <a:xfrm>
            <a:off x="283893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6" name="Illustrative delivered road transport cost class 3; reference terminal Lesedi"/>
          <p:cNvSpPr/>
          <p:nvPr/>
        </p:nvSpPr>
        <p:spPr>
          <a:xfrm>
            <a:off x="283893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7" name="Illustrative delivered road transport cost class 3; reference terminal Lesedi"/>
          <p:cNvSpPr/>
          <p:nvPr/>
        </p:nvSpPr>
        <p:spPr>
          <a:xfrm>
            <a:off x="283893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8" name="Illustrative delivered road transport cost class 3; reference terminal Lesedi"/>
          <p:cNvSpPr/>
          <p:nvPr/>
        </p:nvSpPr>
        <p:spPr>
          <a:xfrm>
            <a:off x="283893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9" name="Illustrative delivered road transport cost class 3; reference terminal Lesedi"/>
          <p:cNvSpPr/>
          <p:nvPr/>
        </p:nvSpPr>
        <p:spPr>
          <a:xfrm>
            <a:off x="283893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0" name="Illustrative delivered road transport cost class 4; reference terminal Lesedi"/>
          <p:cNvSpPr/>
          <p:nvPr/>
        </p:nvSpPr>
        <p:spPr>
          <a:xfrm>
            <a:off x="283893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1" name="Illustrative delivered road transport cost class 4; reference terminal Lesedi"/>
          <p:cNvSpPr/>
          <p:nvPr/>
        </p:nvSpPr>
        <p:spPr>
          <a:xfrm>
            <a:off x="283893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2" name="Illustrative delivered road transport cost class 4; reference terminal Lesedi"/>
          <p:cNvSpPr/>
          <p:nvPr/>
        </p:nvSpPr>
        <p:spPr>
          <a:xfrm>
            <a:off x="283893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3" name="Illustrative delivered road transport cost class 4; reference terminal Lesedi"/>
          <p:cNvSpPr/>
          <p:nvPr/>
        </p:nvSpPr>
        <p:spPr>
          <a:xfrm>
            <a:off x="283893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4" name="Illustrative delivered road transport cost class 4; reference terminal Lesedi"/>
          <p:cNvSpPr/>
          <p:nvPr/>
        </p:nvSpPr>
        <p:spPr>
          <a:xfrm>
            <a:off x="283893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5" name="Illustrative delivered road transport cost class None; reference terminal None"/>
          <p:cNvSpPr/>
          <p:nvPr/>
        </p:nvSpPr>
        <p:spPr>
          <a:xfrm>
            <a:off x="283893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6" name="Illustrative delivered road transport cost class None; reference terminal None"/>
          <p:cNvSpPr/>
          <p:nvPr/>
        </p:nvSpPr>
        <p:spPr>
          <a:xfrm>
            <a:off x="2838936" y="3513850"/>
            <a:ext cx="57687" cy="23039"/>
          </a:xfrm>
          <a:custGeom>
            <a:avLst/>
            <a:gdLst/>
            <a:ahLst/>
            <a:cxnLst/>
            <a:rect l="l" t="t" r="r" b="b"/>
            <a:pathLst>
              <a:path w="57687" h="23039">
                <a:moveTo>
                  <a:pt x="57687" y="23039"/>
                </a:moveTo>
                <a:lnTo>
                  <a:pt x="0" y="23039"/>
                </a:lnTo>
                <a:lnTo>
                  <a:pt x="0" y="4504"/>
                </a:lnTo>
                <a:lnTo>
                  <a:pt x="52294" y="0"/>
                </a:lnTo>
                <a:lnTo>
                  <a:pt x="57687" y="1114"/>
                </a:lnTo>
                <a:lnTo>
                  <a:pt x="57687" y="2303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7" name="Illustrative delivered road transport cost class 4; reference terminal Durban"/>
          <p:cNvSpPr/>
          <p:nvPr/>
        </p:nvSpPr>
        <p:spPr>
          <a:xfrm>
            <a:off x="2896623" y="5440546"/>
            <a:ext cx="57686" cy="11486"/>
          </a:xfrm>
          <a:custGeom>
            <a:avLst/>
            <a:gdLst/>
            <a:ahLst/>
            <a:cxnLst/>
            <a:rect l="l" t="t" r="r" b="b"/>
            <a:pathLst>
              <a:path w="57686" h="11486">
                <a:moveTo>
                  <a:pt x="0" y="0"/>
                </a:moveTo>
                <a:lnTo>
                  <a:pt x="57686" y="0"/>
                </a:lnTo>
                <a:lnTo>
                  <a:pt x="57686" y="5027"/>
                </a:lnTo>
                <a:lnTo>
                  <a:pt x="32532" y="11090"/>
                </a:lnTo>
                <a:lnTo>
                  <a:pt x="11114" y="11486"/>
                </a:lnTo>
                <a:lnTo>
                  <a:pt x="0" y="888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8" name="Illustrative delivered road transport cost class 4; reference terminal Durban"/>
          <p:cNvSpPr/>
          <p:nvPr/>
        </p:nvSpPr>
        <p:spPr>
          <a:xfrm>
            <a:off x="2896623"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9" name="Illustrative delivered road transport cost class 4; reference terminal Lesedi"/>
          <p:cNvSpPr/>
          <p:nvPr/>
        </p:nvSpPr>
        <p:spPr>
          <a:xfrm>
            <a:off x="2896623"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0" name="Illustrative delivered road transport cost class 4; reference terminal Lesedi"/>
          <p:cNvSpPr/>
          <p:nvPr/>
        </p:nvSpPr>
        <p:spPr>
          <a:xfrm>
            <a:off x="2896623"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1" name="Illustrative delivered road transport cost class 4; reference terminal Lesedi"/>
          <p:cNvSpPr/>
          <p:nvPr/>
        </p:nvSpPr>
        <p:spPr>
          <a:xfrm>
            <a:off x="2896623"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2" name="Illustrative delivered road transport cost class 4; reference terminal Lesedi"/>
          <p:cNvSpPr/>
          <p:nvPr/>
        </p:nvSpPr>
        <p:spPr>
          <a:xfrm>
            <a:off x="2896623"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3" name="Illustrative delivered road transport cost class 4; reference terminal Lesedi"/>
          <p:cNvSpPr/>
          <p:nvPr/>
        </p:nvSpPr>
        <p:spPr>
          <a:xfrm>
            <a:off x="2896623"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4" name="Illustrative delivered road transport cost class 4; reference terminal Lesedi"/>
          <p:cNvSpPr/>
          <p:nvPr/>
        </p:nvSpPr>
        <p:spPr>
          <a:xfrm>
            <a:off x="2896623"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5" name="Illustrative delivered road transport cost class 4; reference terminal Lesedi"/>
          <p:cNvSpPr/>
          <p:nvPr/>
        </p:nvSpPr>
        <p:spPr>
          <a:xfrm>
            <a:off x="2896623"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6" name="Illustrative delivered road transport cost class 4; reference terminal Lesedi"/>
          <p:cNvSpPr/>
          <p:nvPr/>
        </p:nvSpPr>
        <p:spPr>
          <a:xfrm>
            <a:off x="2896623"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7" name="Illustrative delivered road transport cost class 4; reference terminal Lesedi"/>
          <p:cNvSpPr/>
          <p:nvPr/>
        </p:nvSpPr>
        <p:spPr>
          <a:xfrm>
            <a:off x="2896623"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8" name="Illustrative delivered road transport cost class 4; reference terminal Lesedi"/>
          <p:cNvSpPr/>
          <p:nvPr/>
        </p:nvSpPr>
        <p:spPr>
          <a:xfrm>
            <a:off x="2896623"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9" name="Illustrative delivered road transport cost class None; reference terminal None"/>
          <p:cNvSpPr/>
          <p:nvPr/>
        </p:nvSpPr>
        <p:spPr>
          <a:xfrm>
            <a:off x="2896623"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0" name="Illustrative delivered road transport cost class None; reference terminal None"/>
          <p:cNvSpPr/>
          <p:nvPr/>
        </p:nvSpPr>
        <p:spPr>
          <a:xfrm>
            <a:off x="2896623"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1" name="Illustrative delivered road transport cost class None; reference terminal None"/>
          <p:cNvSpPr/>
          <p:nvPr/>
        </p:nvSpPr>
        <p:spPr>
          <a:xfrm>
            <a:off x="2896623"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2" name="Illustrative delivered road transport cost class None; reference terminal None"/>
          <p:cNvSpPr/>
          <p:nvPr/>
        </p:nvSpPr>
        <p:spPr>
          <a:xfrm>
            <a:off x="289662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3" name="Illustrative delivered road transport cost class None; reference terminal None"/>
          <p:cNvSpPr/>
          <p:nvPr/>
        </p:nvSpPr>
        <p:spPr>
          <a:xfrm>
            <a:off x="289662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4" name="Illustrative delivered road transport cost class None; reference terminal None"/>
          <p:cNvSpPr/>
          <p:nvPr/>
        </p:nvSpPr>
        <p:spPr>
          <a:xfrm>
            <a:off x="289662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5" name="Illustrative delivered road transport cost class None; reference terminal None"/>
          <p:cNvSpPr/>
          <p:nvPr/>
        </p:nvSpPr>
        <p:spPr>
          <a:xfrm>
            <a:off x="289662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6" name="Illustrative delivered road transport cost class None; reference terminal None"/>
          <p:cNvSpPr/>
          <p:nvPr/>
        </p:nvSpPr>
        <p:spPr>
          <a:xfrm>
            <a:off x="289662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7" name="Illustrative delivered road transport cost class 3; reference terminal Lesedi"/>
          <p:cNvSpPr/>
          <p:nvPr/>
        </p:nvSpPr>
        <p:spPr>
          <a:xfrm>
            <a:off x="289662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8" name="Illustrative delivered road transport cost class 3; reference terminal Lesedi"/>
          <p:cNvSpPr/>
          <p:nvPr/>
        </p:nvSpPr>
        <p:spPr>
          <a:xfrm>
            <a:off x="289662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9" name="Illustrative delivered road transport cost class 3; reference terminal Lesedi"/>
          <p:cNvSpPr/>
          <p:nvPr/>
        </p:nvSpPr>
        <p:spPr>
          <a:xfrm>
            <a:off x="289662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0" name="Illustrative delivered road transport cost class 3; reference terminal Lesedi"/>
          <p:cNvSpPr/>
          <p:nvPr/>
        </p:nvSpPr>
        <p:spPr>
          <a:xfrm>
            <a:off x="289662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1" name="Illustrative delivered road transport cost class 3; reference terminal Lesedi"/>
          <p:cNvSpPr/>
          <p:nvPr/>
        </p:nvSpPr>
        <p:spPr>
          <a:xfrm>
            <a:off x="289662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2" name="Illustrative delivered road transport cost class 3; reference terminal Lesedi"/>
          <p:cNvSpPr/>
          <p:nvPr/>
        </p:nvSpPr>
        <p:spPr>
          <a:xfrm>
            <a:off x="289662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 name="Illustrative delivered road transport cost class 3; reference terminal Lesedi"/>
          <p:cNvSpPr/>
          <p:nvPr/>
        </p:nvSpPr>
        <p:spPr>
          <a:xfrm>
            <a:off x="289662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 name="Illustrative delivered road transport cost class 3; reference terminal Lesedi"/>
          <p:cNvSpPr/>
          <p:nvPr/>
        </p:nvSpPr>
        <p:spPr>
          <a:xfrm>
            <a:off x="289662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5" name="Illustrative delivered road transport cost class 3; reference terminal Lesedi"/>
          <p:cNvSpPr/>
          <p:nvPr/>
        </p:nvSpPr>
        <p:spPr>
          <a:xfrm>
            <a:off x="289662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6" name="Illustrative delivered road transport cost class 3; reference terminal Lesedi"/>
          <p:cNvSpPr/>
          <p:nvPr/>
        </p:nvSpPr>
        <p:spPr>
          <a:xfrm>
            <a:off x="289662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7" name="Illustrative delivered road transport cost class 3; reference terminal Lesedi"/>
          <p:cNvSpPr/>
          <p:nvPr/>
        </p:nvSpPr>
        <p:spPr>
          <a:xfrm>
            <a:off x="289662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8" name="Illustrative delivered road transport cost class 4; reference terminal Lesedi"/>
          <p:cNvSpPr/>
          <p:nvPr/>
        </p:nvSpPr>
        <p:spPr>
          <a:xfrm>
            <a:off x="289662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9" name="Illustrative delivered road transport cost class 4; reference terminal Lesedi"/>
          <p:cNvSpPr/>
          <p:nvPr/>
        </p:nvSpPr>
        <p:spPr>
          <a:xfrm>
            <a:off x="289662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0" name="Illustrative delivered road transport cost class None; reference terminal None"/>
          <p:cNvSpPr/>
          <p:nvPr/>
        </p:nvSpPr>
        <p:spPr>
          <a:xfrm>
            <a:off x="289662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1" name="Illustrative delivered road transport cost class None; reference terminal None"/>
          <p:cNvSpPr/>
          <p:nvPr/>
        </p:nvSpPr>
        <p:spPr>
          <a:xfrm>
            <a:off x="2896623" y="3506901"/>
            <a:ext cx="57686" cy="29988"/>
          </a:xfrm>
          <a:custGeom>
            <a:avLst/>
            <a:gdLst/>
            <a:ahLst/>
            <a:cxnLst/>
            <a:rect l="l" t="t" r="r" b="b"/>
            <a:pathLst>
              <a:path w="57686" h="29988">
                <a:moveTo>
                  <a:pt x="57686" y="29988"/>
                </a:moveTo>
                <a:lnTo>
                  <a:pt x="0" y="29988"/>
                </a:lnTo>
                <a:lnTo>
                  <a:pt x="0" y="8063"/>
                </a:lnTo>
                <a:lnTo>
                  <a:pt x="5311" y="9160"/>
                </a:lnTo>
                <a:lnTo>
                  <a:pt x="38607" y="11163"/>
                </a:lnTo>
                <a:lnTo>
                  <a:pt x="49619" y="7462"/>
                </a:lnTo>
                <a:lnTo>
                  <a:pt x="57686" y="0"/>
                </a:lnTo>
                <a:lnTo>
                  <a:pt x="57686" y="299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2" name="Illustrative delivered road transport cost class 4; reference terminal Durban"/>
          <p:cNvSpPr/>
          <p:nvPr/>
        </p:nvSpPr>
        <p:spPr>
          <a:xfrm>
            <a:off x="2954309" y="5440546"/>
            <a:ext cx="41969" cy="5027"/>
          </a:xfrm>
          <a:custGeom>
            <a:avLst/>
            <a:gdLst/>
            <a:ahLst/>
            <a:cxnLst/>
            <a:rect l="l" t="t" r="r" b="b"/>
            <a:pathLst>
              <a:path w="41969" h="5027">
                <a:moveTo>
                  <a:pt x="0" y="0"/>
                </a:moveTo>
                <a:lnTo>
                  <a:pt x="41969" y="0"/>
                </a:lnTo>
                <a:lnTo>
                  <a:pt x="17720" y="757"/>
                </a:lnTo>
                <a:lnTo>
                  <a:pt x="0" y="502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Illustrative delivered road transport cost class 4; reference terminal Durban"/>
          <p:cNvSpPr/>
          <p:nvPr/>
        </p:nvSpPr>
        <p:spPr>
          <a:xfrm>
            <a:off x="2954309" y="5382859"/>
            <a:ext cx="57687" cy="57687"/>
          </a:xfrm>
          <a:custGeom>
            <a:avLst/>
            <a:gdLst/>
            <a:ahLst/>
            <a:cxnLst/>
            <a:rect l="l" t="t" r="r" b="b"/>
            <a:pathLst>
              <a:path w="57687" h="57687">
                <a:moveTo>
                  <a:pt x="0" y="57687"/>
                </a:moveTo>
                <a:lnTo>
                  <a:pt x="0" y="0"/>
                </a:lnTo>
                <a:lnTo>
                  <a:pt x="57687" y="0"/>
                </a:lnTo>
                <a:lnTo>
                  <a:pt x="57687" y="57196"/>
                </a:lnTo>
                <a:lnTo>
                  <a:pt x="41969"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4" name="Illustrative delivered road transport cost class 4; reference terminal Durban"/>
          <p:cNvSpPr/>
          <p:nvPr/>
        </p:nvSpPr>
        <p:spPr>
          <a:xfrm>
            <a:off x="2954309"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5" name="Illustrative delivered road transport cost class 4; reference terminal Lesedi"/>
          <p:cNvSpPr/>
          <p:nvPr/>
        </p:nvSpPr>
        <p:spPr>
          <a:xfrm>
            <a:off x="2954309"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6" name="Illustrative delivered road transport cost class 4; reference terminal Lesedi"/>
          <p:cNvSpPr/>
          <p:nvPr/>
        </p:nvSpPr>
        <p:spPr>
          <a:xfrm>
            <a:off x="2954309"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7" name="Illustrative delivered road transport cost class 4; reference terminal Lesedi"/>
          <p:cNvSpPr/>
          <p:nvPr/>
        </p:nvSpPr>
        <p:spPr>
          <a:xfrm>
            <a:off x="2954309"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8" name="Illustrative delivered road transport cost class 4; reference terminal Lesedi"/>
          <p:cNvSpPr/>
          <p:nvPr/>
        </p:nvSpPr>
        <p:spPr>
          <a:xfrm>
            <a:off x="2954309"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9" name="Illustrative delivered road transport cost class 3; reference terminal Lesedi"/>
          <p:cNvSpPr/>
          <p:nvPr/>
        </p:nvSpPr>
        <p:spPr>
          <a:xfrm>
            <a:off x="2954309"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0" name="Illustrative delivered road transport cost class 3; reference terminal Lesedi"/>
          <p:cNvSpPr/>
          <p:nvPr/>
        </p:nvSpPr>
        <p:spPr>
          <a:xfrm>
            <a:off x="2954309"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1" name="Illustrative delivered road transport cost class 3; reference terminal Lesedi"/>
          <p:cNvSpPr/>
          <p:nvPr/>
        </p:nvSpPr>
        <p:spPr>
          <a:xfrm>
            <a:off x="2954309"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2" name="Illustrative delivered road transport cost class 3; reference terminal Lesedi"/>
          <p:cNvSpPr/>
          <p:nvPr/>
        </p:nvSpPr>
        <p:spPr>
          <a:xfrm>
            <a:off x="2954309"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3" name="Illustrative delivered road transport cost class 3; reference terminal Lesedi"/>
          <p:cNvSpPr/>
          <p:nvPr/>
        </p:nvSpPr>
        <p:spPr>
          <a:xfrm>
            <a:off x="2954309"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4" name="Illustrative delivered road transport cost class 4; reference terminal Lesedi"/>
          <p:cNvSpPr/>
          <p:nvPr/>
        </p:nvSpPr>
        <p:spPr>
          <a:xfrm>
            <a:off x="2954309"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5" name="Illustrative delivered road transport cost class None; reference terminal None"/>
          <p:cNvSpPr/>
          <p:nvPr/>
        </p:nvSpPr>
        <p:spPr>
          <a:xfrm>
            <a:off x="2954309"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6" name="Illustrative delivered road transport cost class None; reference terminal None"/>
          <p:cNvSpPr/>
          <p:nvPr/>
        </p:nvSpPr>
        <p:spPr>
          <a:xfrm>
            <a:off x="2954309"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7" name="Illustrative delivered road transport cost class None; reference terminal None"/>
          <p:cNvSpPr/>
          <p:nvPr/>
        </p:nvSpPr>
        <p:spPr>
          <a:xfrm>
            <a:off x="2954309"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8" name="Illustrative delivered road transport cost class None; reference terminal None"/>
          <p:cNvSpPr/>
          <p:nvPr/>
        </p:nvSpPr>
        <p:spPr>
          <a:xfrm>
            <a:off x="295430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9" name="Illustrative delivered road transport cost class None; reference terminal None"/>
          <p:cNvSpPr/>
          <p:nvPr/>
        </p:nvSpPr>
        <p:spPr>
          <a:xfrm>
            <a:off x="295430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0" name="Illustrative delivered road transport cost class None; reference terminal None"/>
          <p:cNvSpPr/>
          <p:nvPr/>
        </p:nvSpPr>
        <p:spPr>
          <a:xfrm>
            <a:off x="295430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1" name="Illustrative delivered road transport cost class 3; reference terminal Lesedi"/>
          <p:cNvSpPr/>
          <p:nvPr/>
        </p:nvSpPr>
        <p:spPr>
          <a:xfrm>
            <a:off x="295430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2" name="Illustrative delivered road transport cost class 3; reference terminal Lesedi"/>
          <p:cNvSpPr/>
          <p:nvPr/>
        </p:nvSpPr>
        <p:spPr>
          <a:xfrm>
            <a:off x="295430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3" name="Illustrative delivered road transport cost class 3; reference terminal Lesedi"/>
          <p:cNvSpPr/>
          <p:nvPr/>
        </p:nvSpPr>
        <p:spPr>
          <a:xfrm>
            <a:off x="295430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4" name="Illustrative delivered road transport cost class 3; reference terminal Lesedi"/>
          <p:cNvSpPr/>
          <p:nvPr/>
        </p:nvSpPr>
        <p:spPr>
          <a:xfrm>
            <a:off x="295430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5" name="Illustrative delivered road transport cost class 3; reference terminal Lesedi"/>
          <p:cNvSpPr/>
          <p:nvPr/>
        </p:nvSpPr>
        <p:spPr>
          <a:xfrm>
            <a:off x="295430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6" name="Illustrative delivered road transport cost class 3; reference terminal Lesedi"/>
          <p:cNvSpPr/>
          <p:nvPr/>
        </p:nvSpPr>
        <p:spPr>
          <a:xfrm>
            <a:off x="295430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7" name="Illustrative delivered road transport cost class 3; reference terminal Lesedi"/>
          <p:cNvSpPr/>
          <p:nvPr/>
        </p:nvSpPr>
        <p:spPr>
          <a:xfrm>
            <a:off x="295430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8" name="Illustrative delivered road transport cost class 3; reference terminal Lesedi"/>
          <p:cNvSpPr/>
          <p:nvPr/>
        </p:nvSpPr>
        <p:spPr>
          <a:xfrm>
            <a:off x="295430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9" name="Illustrative delivered road transport cost class 3; reference terminal Lesedi"/>
          <p:cNvSpPr/>
          <p:nvPr/>
        </p:nvSpPr>
        <p:spPr>
          <a:xfrm>
            <a:off x="295430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0" name="Illustrative delivered road transport cost class 3; reference terminal Lesedi"/>
          <p:cNvSpPr/>
          <p:nvPr/>
        </p:nvSpPr>
        <p:spPr>
          <a:xfrm>
            <a:off x="295430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1" name="Illustrative delivered road transport cost class 3; reference terminal Lesedi"/>
          <p:cNvSpPr/>
          <p:nvPr/>
        </p:nvSpPr>
        <p:spPr>
          <a:xfrm>
            <a:off x="295430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2" name="Illustrative delivered road transport cost class 3; reference terminal Lesedi"/>
          <p:cNvSpPr/>
          <p:nvPr/>
        </p:nvSpPr>
        <p:spPr>
          <a:xfrm>
            <a:off x="295430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3" name="Illustrative delivered road transport cost class 3; reference terminal Lesedi"/>
          <p:cNvSpPr/>
          <p:nvPr/>
        </p:nvSpPr>
        <p:spPr>
          <a:xfrm>
            <a:off x="295430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4" name="Illustrative delivered road transport cost class 3; reference terminal Lesedi"/>
          <p:cNvSpPr/>
          <p:nvPr/>
        </p:nvSpPr>
        <p:spPr>
          <a:xfrm>
            <a:off x="295430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5" name="Illustrative delivered road transport cost class 4; reference terminal Lesedi"/>
          <p:cNvSpPr/>
          <p:nvPr/>
        </p:nvSpPr>
        <p:spPr>
          <a:xfrm>
            <a:off x="295430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6" name="Illustrative delivered road transport cost class None; reference terminal None"/>
          <p:cNvSpPr/>
          <p:nvPr/>
        </p:nvSpPr>
        <p:spPr>
          <a:xfrm>
            <a:off x="2954309" y="3479202"/>
            <a:ext cx="57687" cy="57687"/>
          </a:xfrm>
          <a:custGeom>
            <a:avLst/>
            <a:gdLst/>
            <a:ahLst/>
            <a:cxnLst/>
            <a:rect l="l" t="t" r="r" b="b"/>
            <a:pathLst>
              <a:path w="57687" h="57687">
                <a:moveTo>
                  <a:pt x="57687" y="0"/>
                </a:moveTo>
                <a:lnTo>
                  <a:pt x="57687" y="57687"/>
                </a:lnTo>
                <a:lnTo>
                  <a:pt x="0" y="57687"/>
                </a:lnTo>
                <a:lnTo>
                  <a:pt x="0" y="27699"/>
                </a:lnTo>
                <a:lnTo>
                  <a:pt x="1644" y="26178"/>
                </a:lnTo>
                <a:lnTo>
                  <a:pt x="12518" y="1132"/>
                </a:lnTo>
                <a:lnTo>
                  <a:pt x="1388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7" name="Illustrative delivered road transport cost class None; reference terminal None"/>
          <p:cNvSpPr/>
          <p:nvPr/>
        </p:nvSpPr>
        <p:spPr>
          <a:xfrm>
            <a:off x="2968191" y="3461853"/>
            <a:ext cx="43805" cy="17349"/>
          </a:xfrm>
          <a:custGeom>
            <a:avLst/>
            <a:gdLst/>
            <a:ahLst/>
            <a:cxnLst/>
            <a:rect l="l" t="t" r="r" b="b"/>
            <a:pathLst>
              <a:path w="43805" h="17349">
                <a:moveTo>
                  <a:pt x="43805" y="17349"/>
                </a:moveTo>
                <a:lnTo>
                  <a:pt x="0" y="17349"/>
                </a:lnTo>
                <a:lnTo>
                  <a:pt x="8741" y="10096"/>
                </a:lnTo>
                <a:lnTo>
                  <a:pt x="27313" y="5420"/>
                </a:lnTo>
                <a:lnTo>
                  <a:pt x="43805" y="0"/>
                </a:lnTo>
                <a:lnTo>
                  <a:pt x="43805" y="1734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8" name="Illustrative delivered road transport cost class 4; reference terminal Durban"/>
          <p:cNvSpPr/>
          <p:nvPr/>
        </p:nvSpPr>
        <p:spPr>
          <a:xfrm>
            <a:off x="3011996" y="5382859"/>
            <a:ext cx="57686" cy="57196"/>
          </a:xfrm>
          <a:custGeom>
            <a:avLst/>
            <a:gdLst/>
            <a:ahLst/>
            <a:cxnLst/>
            <a:rect l="l" t="t" r="r" b="b"/>
            <a:pathLst>
              <a:path w="57686" h="57196">
                <a:moveTo>
                  <a:pt x="0" y="0"/>
                </a:moveTo>
                <a:lnTo>
                  <a:pt x="57686" y="0"/>
                </a:lnTo>
                <a:lnTo>
                  <a:pt x="57686" y="16696"/>
                </a:lnTo>
                <a:lnTo>
                  <a:pt x="10084" y="56881"/>
                </a:lnTo>
                <a:lnTo>
                  <a:pt x="0" y="571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9" name="Illustrative delivered road transport cost class 4; reference terminal Durban"/>
          <p:cNvSpPr/>
          <p:nvPr/>
        </p:nvSpPr>
        <p:spPr>
          <a:xfrm>
            <a:off x="3011996"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Illustrative delivered road transport cost class 4; reference terminal Lesedi"/>
          <p:cNvSpPr/>
          <p:nvPr/>
        </p:nvSpPr>
        <p:spPr>
          <a:xfrm>
            <a:off x="3011996"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 name="Illustrative delivered road transport cost class 4; reference terminal Lesedi"/>
          <p:cNvSpPr/>
          <p:nvPr/>
        </p:nvSpPr>
        <p:spPr>
          <a:xfrm>
            <a:off x="3011996"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Illustrative delivered road transport cost class 4; reference terminal Lesedi"/>
          <p:cNvSpPr/>
          <p:nvPr/>
        </p:nvSpPr>
        <p:spPr>
          <a:xfrm>
            <a:off x="3011996"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3" name="Illustrative delivered road transport cost class 4; reference terminal Lesedi"/>
          <p:cNvSpPr/>
          <p:nvPr/>
        </p:nvSpPr>
        <p:spPr>
          <a:xfrm>
            <a:off x="3011996"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4" name="Illustrative delivered road transport cost class 3; reference terminal Lesedi"/>
          <p:cNvSpPr/>
          <p:nvPr/>
        </p:nvSpPr>
        <p:spPr>
          <a:xfrm>
            <a:off x="3011996"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Illustrative delivered road transport cost class 3; reference terminal Lesedi"/>
          <p:cNvSpPr/>
          <p:nvPr/>
        </p:nvSpPr>
        <p:spPr>
          <a:xfrm>
            <a:off x="3011996"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6" name="Illustrative delivered road transport cost class 3; reference terminal Lesedi"/>
          <p:cNvSpPr/>
          <p:nvPr/>
        </p:nvSpPr>
        <p:spPr>
          <a:xfrm>
            <a:off x="3011996"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7" name="Illustrative delivered road transport cost class 3; reference terminal Lesedi"/>
          <p:cNvSpPr/>
          <p:nvPr/>
        </p:nvSpPr>
        <p:spPr>
          <a:xfrm>
            <a:off x="3011996"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Illustrative delivered road transport cost class 3; reference terminal Lesedi"/>
          <p:cNvSpPr/>
          <p:nvPr/>
        </p:nvSpPr>
        <p:spPr>
          <a:xfrm>
            <a:off x="3011996"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9" name="Illustrative delivered road transport cost class 3; reference terminal Lesedi"/>
          <p:cNvSpPr/>
          <p:nvPr/>
        </p:nvSpPr>
        <p:spPr>
          <a:xfrm>
            <a:off x="3011996"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0" name="Illustrative delivered road transport cost class None; reference terminal None"/>
          <p:cNvSpPr/>
          <p:nvPr/>
        </p:nvSpPr>
        <p:spPr>
          <a:xfrm>
            <a:off x="3011996"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Illustrative delivered road transport cost class None; reference terminal None"/>
          <p:cNvSpPr/>
          <p:nvPr/>
        </p:nvSpPr>
        <p:spPr>
          <a:xfrm>
            <a:off x="3011996"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2" name="Illustrative delivered road transport cost class None; reference terminal None"/>
          <p:cNvSpPr/>
          <p:nvPr/>
        </p:nvSpPr>
        <p:spPr>
          <a:xfrm>
            <a:off x="3011996"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Illustrative delivered road transport cost class None; reference terminal None"/>
          <p:cNvSpPr/>
          <p:nvPr/>
        </p:nvSpPr>
        <p:spPr>
          <a:xfrm>
            <a:off x="3011996"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4" name="Illustrative delivered road transport cost class None; reference terminal None"/>
          <p:cNvSpPr/>
          <p:nvPr/>
        </p:nvSpPr>
        <p:spPr>
          <a:xfrm>
            <a:off x="3011996"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Illustrative delivered road transport cost class None; reference terminal None"/>
          <p:cNvSpPr/>
          <p:nvPr/>
        </p:nvSpPr>
        <p:spPr>
          <a:xfrm>
            <a:off x="3011996"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6" name="Illustrative delivered road transport cost class 3; reference terminal Lesedi"/>
          <p:cNvSpPr/>
          <p:nvPr/>
        </p:nvSpPr>
        <p:spPr>
          <a:xfrm>
            <a:off x="3011996"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Illustrative delivered road transport cost class 3; reference terminal Lesedi"/>
          <p:cNvSpPr/>
          <p:nvPr/>
        </p:nvSpPr>
        <p:spPr>
          <a:xfrm>
            <a:off x="3011996"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8" name="Illustrative delivered road transport cost class 3; reference terminal Lesedi"/>
          <p:cNvSpPr/>
          <p:nvPr/>
        </p:nvSpPr>
        <p:spPr>
          <a:xfrm>
            <a:off x="3011996"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Illustrative delivered road transport cost class 3; reference terminal Lesedi"/>
          <p:cNvSpPr/>
          <p:nvPr/>
        </p:nvSpPr>
        <p:spPr>
          <a:xfrm>
            <a:off x="301199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0" name="Illustrative delivered road transport cost class 3; reference terminal Lesedi"/>
          <p:cNvSpPr/>
          <p:nvPr/>
        </p:nvSpPr>
        <p:spPr>
          <a:xfrm>
            <a:off x="301199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Illustrative delivered road transport cost class 3; reference terminal Lesedi"/>
          <p:cNvSpPr/>
          <p:nvPr/>
        </p:nvSpPr>
        <p:spPr>
          <a:xfrm>
            <a:off x="301199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 name="Illustrative delivered road transport cost class 3; reference terminal Lesedi"/>
          <p:cNvSpPr/>
          <p:nvPr/>
        </p:nvSpPr>
        <p:spPr>
          <a:xfrm>
            <a:off x="301199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Illustrative delivered road transport cost class 3; reference terminal Lesedi"/>
          <p:cNvSpPr/>
          <p:nvPr/>
        </p:nvSpPr>
        <p:spPr>
          <a:xfrm>
            <a:off x="301199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4" name="Illustrative delivered road transport cost class 3; reference terminal Lesedi"/>
          <p:cNvSpPr/>
          <p:nvPr/>
        </p:nvSpPr>
        <p:spPr>
          <a:xfrm>
            <a:off x="301199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Illustrative delivered road transport cost class 3; reference terminal Lesedi"/>
          <p:cNvSpPr/>
          <p:nvPr/>
        </p:nvSpPr>
        <p:spPr>
          <a:xfrm>
            <a:off x="301199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 name="Illustrative delivered road transport cost class 3; reference terminal Lesedi"/>
          <p:cNvSpPr/>
          <p:nvPr/>
        </p:nvSpPr>
        <p:spPr>
          <a:xfrm>
            <a:off x="301199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Illustrative delivered road transport cost class 3; reference terminal Lesedi"/>
          <p:cNvSpPr/>
          <p:nvPr/>
        </p:nvSpPr>
        <p:spPr>
          <a:xfrm>
            <a:off x="301199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8" name="Illustrative delivered road transport cost class 3; reference terminal Lesedi"/>
          <p:cNvSpPr/>
          <p:nvPr/>
        </p:nvSpPr>
        <p:spPr>
          <a:xfrm>
            <a:off x="301199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Illustrative delivered road transport cost class 3; reference terminal Lesedi"/>
          <p:cNvSpPr/>
          <p:nvPr/>
        </p:nvSpPr>
        <p:spPr>
          <a:xfrm>
            <a:off x="3011996"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0" name="Illustrative delivered road transport cost class 3; reference terminal Lesedi"/>
          <p:cNvSpPr/>
          <p:nvPr/>
        </p:nvSpPr>
        <p:spPr>
          <a:xfrm>
            <a:off x="3011996"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Illustrative delivered road transport cost class None; reference terminal None"/>
          <p:cNvSpPr/>
          <p:nvPr/>
        </p:nvSpPr>
        <p:spPr>
          <a:xfrm>
            <a:off x="3011996"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2" name="Illustrative delivered road transport cost class None; reference terminal None"/>
          <p:cNvSpPr/>
          <p:nvPr/>
        </p:nvSpPr>
        <p:spPr>
          <a:xfrm>
            <a:off x="3011996" y="3421516"/>
            <a:ext cx="57686" cy="57686"/>
          </a:xfrm>
          <a:custGeom>
            <a:avLst/>
            <a:gdLst/>
            <a:ahLst/>
            <a:cxnLst/>
            <a:rect l="l" t="t" r="r" b="b"/>
            <a:pathLst>
              <a:path w="57686" h="57686">
                <a:moveTo>
                  <a:pt x="57686" y="0"/>
                </a:moveTo>
                <a:lnTo>
                  <a:pt x="57686" y="57686"/>
                </a:lnTo>
                <a:lnTo>
                  <a:pt x="0" y="57686"/>
                </a:lnTo>
                <a:lnTo>
                  <a:pt x="0" y="40337"/>
                </a:lnTo>
                <a:lnTo>
                  <a:pt x="5481" y="38536"/>
                </a:lnTo>
                <a:lnTo>
                  <a:pt x="23520" y="23860"/>
                </a:lnTo>
                <a:lnTo>
                  <a:pt x="3700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Illustrative delivered road transport cost class None; reference terminal None"/>
          <p:cNvSpPr/>
          <p:nvPr/>
        </p:nvSpPr>
        <p:spPr>
          <a:xfrm>
            <a:off x="3049002" y="3391017"/>
            <a:ext cx="20680" cy="30499"/>
          </a:xfrm>
          <a:custGeom>
            <a:avLst/>
            <a:gdLst/>
            <a:ahLst/>
            <a:cxnLst/>
            <a:rect l="l" t="t" r="r" b="b"/>
            <a:pathLst>
              <a:path w="20680" h="30499">
                <a:moveTo>
                  <a:pt x="20680" y="30499"/>
                </a:moveTo>
                <a:lnTo>
                  <a:pt x="0" y="30499"/>
                </a:lnTo>
                <a:lnTo>
                  <a:pt x="14539" y="4776"/>
                </a:lnTo>
                <a:lnTo>
                  <a:pt x="20680" y="0"/>
                </a:lnTo>
                <a:lnTo>
                  <a:pt x="20680" y="3049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4" name="Illustrative delivered road transport cost class 4; reference terminal Durban"/>
          <p:cNvSpPr/>
          <p:nvPr/>
        </p:nvSpPr>
        <p:spPr>
          <a:xfrm>
            <a:off x="3069682" y="5382859"/>
            <a:ext cx="19778" cy="16696"/>
          </a:xfrm>
          <a:custGeom>
            <a:avLst/>
            <a:gdLst/>
            <a:ahLst/>
            <a:cxnLst/>
            <a:rect l="l" t="t" r="r" b="b"/>
            <a:pathLst>
              <a:path w="19778" h="16696">
                <a:moveTo>
                  <a:pt x="0" y="0"/>
                </a:moveTo>
                <a:lnTo>
                  <a:pt x="19778" y="0"/>
                </a:lnTo>
                <a:lnTo>
                  <a:pt x="0" y="166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Illustrative delivered road transport cost class 4; reference terminal Durban"/>
          <p:cNvSpPr/>
          <p:nvPr/>
        </p:nvSpPr>
        <p:spPr>
          <a:xfrm>
            <a:off x="3069682" y="5325173"/>
            <a:ext cx="57687" cy="57686"/>
          </a:xfrm>
          <a:custGeom>
            <a:avLst/>
            <a:gdLst/>
            <a:ahLst/>
            <a:cxnLst/>
            <a:rect l="l" t="t" r="r" b="b"/>
            <a:pathLst>
              <a:path w="57687" h="57686">
                <a:moveTo>
                  <a:pt x="0" y="57686"/>
                </a:moveTo>
                <a:lnTo>
                  <a:pt x="0" y="0"/>
                </a:lnTo>
                <a:lnTo>
                  <a:pt x="57687" y="0"/>
                </a:lnTo>
                <a:lnTo>
                  <a:pt x="57687" y="33061"/>
                </a:lnTo>
                <a:lnTo>
                  <a:pt x="47320" y="34436"/>
                </a:lnTo>
                <a:lnTo>
                  <a:pt x="19778"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6" name="Illustrative delivered road transport cost class 4; reference terminal Durban"/>
          <p:cNvSpPr/>
          <p:nvPr/>
        </p:nvSpPr>
        <p:spPr>
          <a:xfrm>
            <a:off x="306968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Illustrative delivered road transport cost class 4; reference terminal Lesedi"/>
          <p:cNvSpPr/>
          <p:nvPr/>
        </p:nvSpPr>
        <p:spPr>
          <a:xfrm>
            <a:off x="306968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8" name="Illustrative delivered road transport cost class 4; reference terminal Lesedi"/>
          <p:cNvSpPr/>
          <p:nvPr/>
        </p:nvSpPr>
        <p:spPr>
          <a:xfrm>
            <a:off x="306968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Illustrative delivered road transport cost class 3; reference terminal Lesedi"/>
          <p:cNvSpPr/>
          <p:nvPr/>
        </p:nvSpPr>
        <p:spPr>
          <a:xfrm>
            <a:off x="306968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0" name="Illustrative delivered road transport cost class 3; reference terminal Lesedi"/>
          <p:cNvSpPr/>
          <p:nvPr/>
        </p:nvSpPr>
        <p:spPr>
          <a:xfrm>
            <a:off x="306968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Illustrative delivered road transport cost class 3; reference terminal Lesedi"/>
          <p:cNvSpPr/>
          <p:nvPr/>
        </p:nvSpPr>
        <p:spPr>
          <a:xfrm>
            <a:off x="306968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2" name="Illustrative delivered road transport cost class 3; reference terminal Lesedi"/>
          <p:cNvSpPr/>
          <p:nvPr/>
        </p:nvSpPr>
        <p:spPr>
          <a:xfrm>
            <a:off x="306968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Illustrative delivered road transport cost class 3; reference terminal Lesedi"/>
          <p:cNvSpPr/>
          <p:nvPr/>
        </p:nvSpPr>
        <p:spPr>
          <a:xfrm>
            <a:off x="306968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4" name="Illustrative delivered road transport cost class 3; reference terminal Lesedi"/>
          <p:cNvSpPr/>
          <p:nvPr/>
        </p:nvSpPr>
        <p:spPr>
          <a:xfrm>
            <a:off x="306968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5" name="Illustrative delivered road transport cost class 3; reference terminal Lesedi"/>
          <p:cNvSpPr/>
          <p:nvPr/>
        </p:nvSpPr>
        <p:spPr>
          <a:xfrm>
            <a:off x="306968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6" name="Illustrative delivered road transport cost class 3; reference terminal Lesedi"/>
          <p:cNvSpPr/>
          <p:nvPr/>
        </p:nvSpPr>
        <p:spPr>
          <a:xfrm>
            <a:off x="306968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7" name="Illustrative delivered road transport cost class None; reference terminal None"/>
          <p:cNvSpPr/>
          <p:nvPr/>
        </p:nvSpPr>
        <p:spPr>
          <a:xfrm>
            <a:off x="306968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8" name="Illustrative delivered road transport cost class None; reference terminal None"/>
          <p:cNvSpPr/>
          <p:nvPr/>
        </p:nvSpPr>
        <p:spPr>
          <a:xfrm>
            <a:off x="306968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9" name="Illustrative delivered road transport cost class None; reference terminal None"/>
          <p:cNvSpPr/>
          <p:nvPr/>
        </p:nvSpPr>
        <p:spPr>
          <a:xfrm>
            <a:off x="306968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0" name="Illustrative delivered road transport cost class None; reference terminal None"/>
          <p:cNvSpPr/>
          <p:nvPr/>
        </p:nvSpPr>
        <p:spPr>
          <a:xfrm>
            <a:off x="306968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1" name="Illustrative delivered road transport cost class 3; reference terminal Lesedi"/>
          <p:cNvSpPr/>
          <p:nvPr/>
        </p:nvSpPr>
        <p:spPr>
          <a:xfrm>
            <a:off x="306968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2" name="Illustrative delivered road transport cost class 3; reference terminal Lesedi"/>
          <p:cNvSpPr/>
          <p:nvPr/>
        </p:nvSpPr>
        <p:spPr>
          <a:xfrm>
            <a:off x="306968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3" name="Illustrative delivered road transport cost class 3; reference terminal Lesedi"/>
          <p:cNvSpPr/>
          <p:nvPr/>
        </p:nvSpPr>
        <p:spPr>
          <a:xfrm>
            <a:off x="306968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4" name="Illustrative delivered road transport cost class 3; reference terminal Lesedi"/>
          <p:cNvSpPr/>
          <p:nvPr/>
        </p:nvSpPr>
        <p:spPr>
          <a:xfrm>
            <a:off x="306968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5" name="Illustrative delivered road transport cost class 3; reference terminal Lesedi"/>
          <p:cNvSpPr/>
          <p:nvPr/>
        </p:nvSpPr>
        <p:spPr>
          <a:xfrm>
            <a:off x="306968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6" name="Illustrative delivered road transport cost class 3; reference terminal Lesedi"/>
          <p:cNvSpPr/>
          <p:nvPr/>
        </p:nvSpPr>
        <p:spPr>
          <a:xfrm>
            <a:off x="306968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7" name="Illustrative delivered road transport cost class 3; reference terminal Lesedi"/>
          <p:cNvSpPr/>
          <p:nvPr/>
        </p:nvSpPr>
        <p:spPr>
          <a:xfrm>
            <a:off x="306968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8" name="Illustrative delivered road transport cost class 3; reference terminal Lesedi"/>
          <p:cNvSpPr/>
          <p:nvPr/>
        </p:nvSpPr>
        <p:spPr>
          <a:xfrm>
            <a:off x="306968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9" name="Illustrative delivered road transport cost class 3; reference terminal Lesedi"/>
          <p:cNvSpPr/>
          <p:nvPr/>
        </p:nvSpPr>
        <p:spPr>
          <a:xfrm>
            <a:off x="306968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0" name="Illustrative delivered road transport cost class 3; reference terminal Lesedi"/>
          <p:cNvSpPr/>
          <p:nvPr/>
        </p:nvSpPr>
        <p:spPr>
          <a:xfrm>
            <a:off x="306968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1" name="Illustrative delivered road transport cost class 3; reference terminal Lesedi"/>
          <p:cNvSpPr/>
          <p:nvPr/>
        </p:nvSpPr>
        <p:spPr>
          <a:xfrm>
            <a:off x="306968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2" name="Illustrative delivered road transport cost class 3; reference terminal Lesedi"/>
          <p:cNvSpPr/>
          <p:nvPr/>
        </p:nvSpPr>
        <p:spPr>
          <a:xfrm>
            <a:off x="306968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3" name="Illustrative delivered road transport cost class 3; reference terminal Lesedi"/>
          <p:cNvSpPr/>
          <p:nvPr/>
        </p:nvSpPr>
        <p:spPr>
          <a:xfrm>
            <a:off x="306968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4" name="Illustrative delivered road transport cost class 3; reference terminal Lesedi"/>
          <p:cNvSpPr/>
          <p:nvPr/>
        </p:nvSpPr>
        <p:spPr>
          <a:xfrm>
            <a:off x="306968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5" name="Illustrative delivered road transport cost class 3; reference terminal Lesedi"/>
          <p:cNvSpPr/>
          <p:nvPr/>
        </p:nvSpPr>
        <p:spPr>
          <a:xfrm>
            <a:off x="306968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6" name="Illustrative delivered road transport cost class 3; reference terminal Lesedi"/>
          <p:cNvSpPr/>
          <p:nvPr/>
        </p:nvSpPr>
        <p:spPr>
          <a:xfrm>
            <a:off x="306968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7" name="Illustrative delivered road transport cost class None; reference terminal None"/>
          <p:cNvSpPr/>
          <p:nvPr/>
        </p:nvSpPr>
        <p:spPr>
          <a:xfrm>
            <a:off x="306968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8" name="Illustrative delivered road transport cost class None; reference terminal None"/>
          <p:cNvSpPr/>
          <p:nvPr/>
        </p:nvSpPr>
        <p:spPr>
          <a:xfrm>
            <a:off x="306968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9" name="Illustrative delivered road transport cost class None; reference terminal None"/>
          <p:cNvSpPr/>
          <p:nvPr/>
        </p:nvSpPr>
        <p:spPr>
          <a:xfrm>
            <a:off x="3069682" y="3363829"/>
            <a:ext cx="57687" cy="57687"/>
          </a:xfrm>
          <a:custGeom>
            <a:avLst/>
            <a:gdLst/>
            <a:ahLst/>
            <a:cxnLst/>
            <a:rect l="l" t="t" r="r" b="b"/>
            <a:pathLst>
              <a:path w="57687" h="57687">
                <a:moveTo>
                  <a:pt x="57687" y="0"/>
                </a:moveTo>
                <a:lnTo>
                  <a:pt x="57687" y="57687"/>
                </a:lnTo>
                <a:lnTo>
                  <a:pt x="0" y="57687"/>
                </a:lnTo>
                <a:lnTo>
                  <a:pt x="0" y="27188"/>
                </a:lnTo>
                <a:lnTo>
                  <a:pt x="3495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0" name="Illustrative delivered road transport cost class None; reference terminal None"/>
          <p:cNvSpPr/>
          <p:nvPr/>
        </p:nvSpPr>
        <p:spPr>
          <a:xfrm>
            <a:off x="3104636" y="3347240"/>
            <a:ext cx="22733" cy="16589"/>
          </a:xfrm>
          <a:custGeom>
            <a:avLst/>
            <a:gdLst/>
            <a:ahLst/>
            <a:cxnLst/>
            <a:rect l="l" t="t" r="r" b="b"/>
            <a:pathLst>
              <a:path w="22733" h="16589">
                <a:moveTo>
                  <a:pt x="22733" y="16589"/>
                </a:moveTo>
                <a:lnTo>
                  <a:pt x="0" y="16589"/>
                </a:lnTo>
                <a:lnTo>
                  <a:pt x="16351" y="3871"/>
                </a:lnTo>
                <a:lnTo>
                  <a:pt x="22733" y="0"/>
                </a:lnTo>
                <a:lnTo>
                  <a:pt x="22733" y="1658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1" name="Illustrative delivered road transport cost class 4; reference terminal Durban"/>
          <p:cNvSpPr/>
          <p:nvPr/>
        </p:nvSpPr>
        <p:spPr>
          <a:xfrm>
            <a:off x="3127369" y="5325173"/>
            <a:ext cx="57686" cy="33061"/>
          </a:xfrm>
          <a:custGeom>
            <a:avLst/>
            <a:gdLst/>
            <a:ahLst/>
            <a:cxnLst/>
            <a:rect l="l" t="t" r="r" b="b"/>
            <a:pathLst>
              <a:path w="57686" h="33061">
                <a:moveTo>
                  <a:pt x="0" y="0"/>
                </a:moveTo>
                <a:lnTo>
                  <a:pt x="57686" y="0"/>
                </a:lnTo>
                <a:lnTo>
                  <a:pt x="57686" y="17782"/>
                </a:lnTo>
                <a:lnTo>
                  <a:pt x="54992" y="17834"/>
                </a:lnTo>
                <a:lnTo>
                  <a:pt x="25544" y="29674"/>
                </a:lnTo>
                <a:lnTo>
                  <a:pt x="0" y="3306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2" name="Illustrative delivered road transport cost class 4; reference terminal Durban"/>
          <p:cNvSpPr/>
          <p:nvPr/>
        </p:nvSpPr>
        <p:spPr>
          <a:xfrm>
            <a:off x="312736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3" name="Illustrative delivered road transport cost class 4; reference terminal Durban"/>
          <p:cNvSpPr/>
          <p:nvPr/>
        </p:nvSpPr>
        <p:spPr>
          <a:xfrm>
            <a:off x="312736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4" name="Illustrative delivered road transport cost class 4; reference terminal Lesedi"/>
          <p:cNvSpPr/>
          <p:nvPr/>
        </p:nvSpPr>
        <p:spPr>
          <a:xfrm>
            <a:off x="312736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5" name="Illustrative delivered road transport cost class 3; reference terminal Lesedi"/>
          <p:cNvSpPr/>
          <p:nvPr/>
        </p:nvSpPr>
        <p:spPr>
          <a:xfrm>
            <a:off x="312736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6" name="Illustrative delivered road transport cost class 3; reference terminal Lesedi"/>
          <p:cNvSpPr/>
          <p:nvPr/>
        </p:nvSpPr>
        <p:spPr>
          <a:xfrm>
            <a:off x="312736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7" name="Illustrative delivered road transport cost class 3; reference terminal Lesedi"/>
          <p:cNvSpPr/>
          <p:nvPr/>
        </p:nvSpPr>
        <p:spPr>
          <a:xfrm>
            <a:off x="312736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8" name="Illustrative delivered road transport cost class 3; reference terminal Lesedi"/>
          <p:cNvSpPr/>
          <p:nvPr/>
        </p:nvSpPr>
        <p:spPr>
          <a:xfrm>
            <a:off x="312736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9" name="Illustrative delivered road transport cost class 3; reference terminal Lesedi"/>
          <p:cNvSpPr/>
          <p:nvPr/>
        </p:nvSpPr>
        <p:spPr>
          <a:xfrm>
            <a:off x="312736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0" name="Illustrative delivered road transport cost class 3; reference terminal Lesedi"/>
          <p:cNvSpPr/>
          <p:nvPr/>
        </p:nvSpPr>
        <p:spPr>
          <a:xfrm>
            <a:off x="312736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1" name="Illustrative delivered road transport cost class 3; reference terminal Lesedi"/>
          <p:cNvSpPr/>
          <p:nvPr/>
        </p:nvSpPr>
        <p:spPr>
          <a:xfrm>
            <a:off x="312736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2" name="Illustrative delivered road transport cost class 3; reference terminal Lesedi"/>
          <p:cNvSpPr/>
          <p:nvPr/>
        </p:nvSpPr>
        <p:spPr>
          <a:xfrm>
            <a:off x="312736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3" name="Illustrative delivered road transport cost class 3; reference terminal Lesedi"/>
          <p:cNvSpPr/>
          <p:nvPr/>
        </p:nvSpPr>
        <p:spPr>
          <a:xfrm>
            <a:off x="312736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4" name="Illustrative delivered road transport cost class 3; reference terminal Lesedi"/>
          <p:cNvSpPr/>
          <p:nvPr/>
        </p:nvSpPr>
        <p:spPr>
          <a:xfrm>
            <a:off x="312736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5" name="Illustrative delivered road transport cost class None; reference terminal None"/>
          <p:cNvSpPr/>
          <p:nvPr/>
        </p:nvSpPr>
        <p:spPr>
          <a:xfrm>
            <a:off x="312736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6" name="Illustrative delivered road transport cost class None; reference terminal None"/>
          <p:cNvSpPr/>
          <p:nvPr/>
        </p:nvSpPr>
        <p:spPr>
          <a:xfrm>
            <a:off x="312736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7" name="Illustrative delivered road transport cost class 3; reference terminal Lesedi"/>
          <p:cNvSpPr/>
          <p:nvPr/>
        </p:nvSpPr>
        <p:spPr>
          <a:xfrm>
            <a:off x="312736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8" name="Illustrative delivered road transport cost class 3; reference terminal Lesedi"/>
          <p:cNvSpPr/>
          <p:nvPr/>
        </p:nvSpPr>
        <p:spPr>
          <a:xfrm>
            <a:off x="312736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9" name="Illustrative delivered road transport cost class 3; reference terminal Lesedi"/>
          <p:cNvSpPr/>
          <p:nvPr/>
        </p:nvSpPr>
        <p:spPr>
          <a:xfrm>
            <a:off x="312736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0" name="Illustrative delivered road transport cost class 3; reference terminal Lesedi"/>
          <p:cNvSpPr/>
          <p:nvPr/>
        </p:nvSpPr>
        <p:spPr>
          <a:xfrm>
            <a:off x="312736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1" name="Illustrative delivered road transport cost class 3; reference terminal Lesedi"/>
          <p:cNvSpPr/>
          <p:nvPr/>
        </p:nvSpPr>
        <p:spPr>
          <a:xfrm>
            <a:off x="312736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2" name="Illustrative delivered road transport cost class 3; reference terminal Lesedi"/>
          <p:cNvSpPr/>
          <p:nvPr/>
        </p:nvSpPr>
        <p:spPr>
          <a:xfrm>
            <a:off x="312736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3" name="Illustrative delivered road transport cost class 3; reference terminal Lesedi"/>
          <p:cNvSpPr/>
          <p:nvPr/>
        </p:nvSpPr>
        <p:spPr>
          <a:xfrm>
            <a:off x="312736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4" name="Illustrative delivered road transport cost class 3; reference terminal Lesedi"/>
          <p:cNvSpPr/>
          <p:nvPr/>
        </p:nvSpPr>
        <p:spPr>
          <a:xfrm>
            <a:off x="312736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5" name="Illustrative delivered road transport cost class 3; reference terminal Lesedi"/>
          <p:cNvSpPr/>
          <p:nvPr/>
        </p:nvSpPr>
        <p:spPr>
          <a:xfrm>
            <a:off x="312736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6" name="Illustrative delivered road transport cost class 3; reference terminal Lesedi"/>
          <p:cNvSpPr/>
          <p:nvPr/>
        </p:nvSpPr>
        <p:spPr>
          <a:xfrm>
            <a:off x="312736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7" name="Illustrative delivered road transport cost class 3; reference terminal Lesedi"/>
          <p:cNvSpPr/>
          <p:nvPr/>
        </p:nvSpPr>
        <p:spPr>
          <a:xfrm>
            <a:off x="312736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8" name="Illustrative delivered road transport cost class 3; reference terminal Lesedi"/>
          <p:cNvSpPr/>
          <p:nvPr/>
        </p:nvSpPr>
        <p:spPr>
          <a:xfrm>
            <a:off x="312736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9" name="Illustrative delivered road transport cost class 3; reference terminal Lesedi"/>
          <p:cNvSpPr/>
          <p:nvPr/>
        </p:nvSpPr>
        <p:spPr>
          <a:xfrm>
            <a:off x="312736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0" name="Illustrative delivered road transport cost class 3; reference terminal Lesedi"/>
          <p:cNvSpPr/>
          <p:nvPr/>
        </p:nvSpPr>
        <p:spPr>
          <a:xfrm>
            <a:off x="312736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1" name="Illustrative delivered road transport cost class 3; reference terminal Lesedi"/>
          <p:cNvSpPr/>
          <p:nvPr/>
        </p:nvSpPr>
        <p:spPr>
          <a:xfrm>
            <a:off x="312736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2" name="Illustrative delivered road transport cost class 3; reference terminal Lesedi"/>
          <p:cNvSpPr/>
          <p:nvPr/>
        </p:nvSpPr>
        <p:spPr>
          <a:xfrm>
            <a:off x="312736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3" name="Illustrative delivered road transport cost class 3; reference terminal Lesedi"/>
          <p:cNvSpPr/>
          <p:nvPr/>
        </p:nvSpPr>
        <p:spPr>
          <a:xfrm>
            <a:off x="312736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4" name="Illustrative delivered road transport cost class None; reference terminal None"/>
          <p:cNvSpPr/>
          <p:nvPr/>
        </p:nvSpPr>
        <p:spPr>
          <a:xfrm>
            <a:off x="312736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5" name="Illustrative delivered road transport cost class None; reference terminal None"/>
          <p:cNvSpPr/>
          <p:nvPr/>
        </p:nvSpPr>
        <p:spPr>
          <a:xfrm>
            <a:off x="312736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6" name="Illustrative delivered road transport cost class None; reference terminal None"/>
          <p:cNvSpPr/>
          <p:nvPr/>
        </p:nvSpPr>
        <p:spPr>
          <a:xfrm>
            <a:off x="3127369" y="3306143"/>
            <a:ext cx="57686" cy="57686"/>
          </a:xfrm>
          <a:custGeom>
            <a:avLst/>
            <a:gdLst/>
            <a:ahLst/>
            <a:cxnLst/>
            <a:rect l="l" t="t" r="r" b="b"/>
            <a:pathLst>
              <a:path w="57686" h="57686">
                <a:moveTo>
                  <a:pt x="57686" y="0"/>
                </a:moveTo>
                <a:lnTo>
                  <a:pt x="57686" y="57686"/>
                </a:lnTo>
                <a:lnTo>
                  <a:pt x="0" y="57686"/>
                </a:lnTo>
                <a:lnTo>
                  <a:pt x="0" y="41097"/>
                </a:lnTo>
                <a:lnTo>
                  <a:pt x="11340" y="34218"/>
                </a:lnTo>
                <a:lnTo>
                  <a:pt x="22425" y="22311"/>
                </a:lnTo>
                <a:lnTo>
                  <a:pt x="31958" y="6395"/>
                </a:lnTo>
                <a:lnTo>
                  <a:pt x="3422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7" name="Illustrative delivered road transport cost class None; reference terminal None"/>
          <p:cNvSpPr/>
          <p:nvPr/>
        </p:nvSpPr>
        <p:spPr>
          <a:xfrm>
            <a:off x="3161595" y="3248456"/>
            <a:ext cx="23460" cy="57687"/>
          </a:xfrm>
          <a:custGeom>
            <a:avLst/>
            <a:gdLst/>
            <a:ahLst/>
            <a:cxnLst/>
            <a:rect l="l" t="t" r="r" b="b"/>
            <a:pathLst>
              <a:path w="23460" h="57687">
                <a:moveTo>
                  <a:pt x="23460" y="0"/>
                </a:moveTo>
                <a:lnTo>
                  <a:pt x="23460" y="57687"/>
                </a:lnTo>
                <a:lnTo>
                  <a:pt x="0" y="57687"/>
                </a:lnTo>
                <a:lnTo>
                  <a:pt x="17253" y="9036"/>
                </a:lnTo>
                <a:lnTo>
                  <a:pt x="20158" y="0"/>
                </a:lnTo>
                <a:lnTo>
                  <a:pt x="2346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8" name="Illustrative delivered road transport cost class None; reference terminal None"/>
          <p:cNvSpPr/>
          <p:nvPr/>
        </p:nvSpPr>
        <p:spPr>
          <a:xfrm>
            <a:off x="3181753" y="3238184"/>
            <a:ext cx="3302" cy="10272"/>
          </a:xfrm>
          <a:custGeom>
            <a:avLst/>
            <a:gdLst/>
            <a:ahLst/>
            <a:cxnLst/>
            <a:rect l="l" t="t" r="r" b="b"/>
            <a:pathLst>
              <a:path w="3302" h="10272">
                <a:moveTo>
                  <a:pt x="3302" y="10272"/>
                </a:moveTo>
                <a:lnTo>
                  <a:pt x="0" y="10272"/>
                </a:lnTo>
                <a:lnTo>
                  <a:pt x="3302" y="0"/>
                </a:lnTo>
                <a:lnTo>
                  <a:pt x="3302" y="1027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9" name="Illustrative delivered road transport cost class 3; reference terminal Durban"/>
          <p:cNvSpPr/>
          <p:nvPr/>
        </p:nvSpPr>
        <p:spPr>
          <a:xfrm>
            <a:off x="3185055" y="5325173"/>
            <a:ext cx="57687" cy="23847"/>
          </a:xfrm>
          <a:custGeom>
            <a:avLst/>
            <a:gdLst/>
            <a:ahLst/>
            <a:cxnLst/>
            <a:rect l="l" t="t" r="r" b="b"/>
            <a:pathLst>
              <a:path w="57687" h="23847">
                <a:moveTo>
                  <a:pt x="0" y="0"/>
                </a:moveTo>
                <a:lnTo>
                  <a:pt x="57687" y="0"/>
                </a:lnTo>
                <a:lnTo>
                  <a:pt x="57687" y="23847"/>
                </a:lnTo>
                <a:lnTo>
                  <a:pt x="36069" y="17085"/>
                </a:lnTo>
                <a:lnTo>
                  <a:pt x="0" y="17782"/>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0" name="Illustrative delivered road transport cost class 3; reference terminal Durban"/>
          <p:cNvSpPr/>
          <p:nvPr/>
        </p:nvSpPr>
        <p:spPr>
          <a:xfrm>
            <a:off x="318505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1" name="Illustrative delivered road transport cost class 3; reference terminal Durban"/>
          <p:cNvSpPr/>
          <p:nvPr/>
        </p:nvSpPr>
        <p:spPr>
          <a:xfrm>
            <a:off x="318505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2" name="Illustrative delivered road transport cost class 4; reference terminal Durban"/>
          <p:cNvSpPr/>
          <p:nvPr/>
        </p:nvSpPr>
        <p:spPr>
          <a:xfrm>
            <a:off x="318505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3" name="Illustrative delivered road transport cost class 3; reference terminal Lesedi"/>
          <p:cNvSpPr/>
          <p:nvPr/>
        </p:nvSpPr>
        <p:spPr>
          <a:xfrm>
            <a:off x="318505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4" name="Illustrative delivered road transport cost class 3; reference terminal Lesedi"/>
          <p:cNvSpPr/>
          <p:nvPr/>
        </p:nvSpPr>
        <p:spPr>
          <a:xfrm>
            <a:off x="318505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5" name="Illustrative delivered road transport cost class 3; reference terminal Lesedi"/>
          <p:cNvSpPr/>
          <p:nvPr/>
        </p:nvSpPr>
        <p:spPr>
          <a:xfrm>
            <a:off x="318505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6" name="Illustrative delivered road transport cost class 3; reference terminal Lesedi"/>
          <p:cNvSpPr/>
          <p:nvPr/>
        </p:nvSpPr>
        <p:spPr>
          <a:xfrm>
            <a:off x="318505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7" name="Illustrative delivered road transport cost class 3; reference terminal Lesedi"/>
          <p:cNvSpPr/>
          <p:nvPr/>
        </p:nvSpPr>
        <p:spPr>
          <a:xfrm>
            <a:off x="318505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8" name="Illustrative delivered road transport cost class 3; reference terminal Lesedi"/>
          <p:cNvSpPr/>
          <p:nvPr/>
        </p:nvSpPr>
        <p:spPr>
          <a:xfrm>
            <a:off x="318505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9" name="Illustrative delivered road transport cost class 3; reference terminal Lesedi"/>
          <p:cNvSpPr/>
          <p:nvPr/>
        </p:nvSpPr>
        <p:spPr>
          <a:xfrm>
            <a:off x="318505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0" name="Illustrative delivered road transport cost class 3; reference terminal Lesedi"/>
          <p:cNvSpPr/>
          <p:nvPr/>
        </p:nvSpPr>
        <p:spPr>
          <a:xfrm>
            <a:off x="318505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1" name="Illustrative delivered road transport cost class 3; reference terminal Lesedi"/>
          <p:cNvSpPr/>
          <p:nvPr/>
        </p:nvSpPr>
        <p:spPr>
          <a:xfrm>
            <a:off x="318505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2" name="Illustrative delivered road transport cost class 3; reference terminal Lesedi"/>
          <p:cNvSpPr/>
          <p:nvPr/>
        </p:nvSpPr>
        <p:spPr>
          <a:xfrm>
            <a:off x="318505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3" name="Illustrative delivered road transport cost class 3; reference terminal Lesedi"/>
          <p:cNvSpPr/>
          <p:nvPr/>
        </p:nvSpPr>
        <p:spPr>
          <a:xfrm>
            <a:off x="318505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4" name="Illustrative delivered road transport cost class 3; reference terminal Lesedi"/>
          <p:cNvSpPr/>
          <p:nvPr/>
        </p:nvSpPr>
        <p:spPr>
          <a:xfrm>
            <a:off x="318505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5" name="Illustrative delivered road transport cost class 3; reference terminal Lesedi"/>
          <p:cNvSpPr/>
          <p:nvPr/>
        </p:nvSpPr>
        <p:spPr>
          <a:xfrm>
            <a:off x="318505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6" name="Illustrative delivered road transport cost class 3; reference terminal Lesedi"/>
          <p:cNvSpPr/>
          <p:nvPr/>
        </p:nvSpPr>
        <p:spPr>
          <a:xfrm>
            <a:off x="318505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7" name="Illustrative delivered road transport cost class 3; reference terminal Lesedi"/>
          <p:cNvSpPr/>
          <p:nvPr/>
        </p:nvSpPr>
        <p:spPr>
          <a:xfrm>
            <a:off x="318505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8" name="Illustrative delivered road transport cost class 2; reference terminal Lesedi"/>
          <p:cNvSpPr/>
          <p:nvPr/>
        </p:nvSpPr>
        <p:spPr>
          <a:xfrm>
            <a:off x="318505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9" name="Illustrative delivered road transport cost class 2; reference terminal Lesedi"/>
          <p:cNvSpPr/>
          <p:nvPr/>
        </p:nvSpPr>
        <p:spPr>
          <a:xfrm>
            <a:off x="318505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0" name="Illustrative delivered road transport cost class 3; reference terminal Lesedi"/>
          <p:cNvSpPr/>
          <p:nvPr/>
        </p:nvSpPr>
        <p:spPr>
          <a:xfrm>
            <a:off x="318505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1" name="Illustrative delivered road transport cost class 3; reference terminal Lesedi"/>
          <p:cNvSpPr/>
          <p:nvPr/>
        </p:nvSpPr>
        <p:spPr>
          <a:xfrm>
            <a:off x="318505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2" name="Illustrative delivered road transport cost class 3; reference terminal Lesedi"/>
          <p:cNvSpPr/>
          <p:nvPr/>
        </p:nvSpPr>
        <p:spPr>
          <a:xfrm>
            <a:off x="318505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3" name="Illustrative delivered road transport cost class None; reference terminal None"/>
          <p:cNvSpPr/>
          <p:nvPr/>
        </p:nvSpPr>
        <p:spPr>
          <a:xfrm>
            <a:off x="318505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4" name="Illustrative delivered road transport cost class 3; reference terminal Lesedi"/>
          <p:cNvSpPr/>
          <p:nvPr/>
        </p:nvSpPr>
        <p:spPr>
          <a:xfrm>
            <a:off x="318505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5" name="Illustrative delivered road transport cost class 3; reference terminal Lesedi"/>
          <p:cNvSpPr/>
          <p:nvPr/>
        </p:nvSpPr>
        <p:spPr>
          <a:xfrm>
            <a:off x="318505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6" name="Illustrative delivered road transport cost class 3; reference terminal Lesedi"/>
          <p:cNvSpPr/>
          <p:nvPr/>
        </p:nvSpPr>
        <p:spPr>
          <a:xfrm>
            <a:off x="318505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7" name="Illustrative delivered road transport cost class 3; reference terminal Lesedi"/>
          <p:cNvSpPr/>
          <p:nvPr/>
        </p:nvSpPr>
        <p:spPr>
          <a:xfrm>
            <a:off x="318505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8" name="Illustrative delivered road transport cost class 3; reference terminal Lesedi"/>
          <p:cNvSpPr/>
          <p:nvPr/>
        </p:nvSpPr>
        <p:spPr>
          <a:xfrm>
            <a:off x="318505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9" name="Illustrative delivered road transport cost class 3; reference terminal Lesedi"/>
          <p:cNvSpPr/>
          <p:nvPr/>
        </p:nvSpPr>
        <p:spPr>
          <a:xfrm>
            <a:off x="318505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0" name="Illustrative delivered road transport cost class 3; reference terminal Lesedi"/>
          <p:cNvSpPr/>
          <p:nvPr/>
        </p:nvSpPr>
        <p:spPr>
          <a:xfrm>
            <a:off x="318505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1" name="Illustrative delivered road transport cost class 3; reference terminal Lesedi"/>
          <p:cNvSpPr/>
          <p:nvPr/>
        </p:nvSpPr>
        <p:spPr>
          <a:xfrm>
            <a:off x="318505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2" name="Illustrative delivered road transport cost class None; reference terminal None"/>
          <p:cNvSpPr/>
          <p:nvPr/>
        </p:nvSpPr>
        <p:spPr>
          <a:xfrm>
            <a:off x="318505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3" name="Illustrative delivered road transport cost class None; reference terminal None"/>
          <p:cNvSpPr/>
          <p:nvPr/>
        </p:nvSpPr>
        <p:spPr>
          <a:xfrm>
            <a:off x="318505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4" name="Illustrative delivered road transport cost class None; reference terminal None"/>
          <p:cNvSpPr/>
          <p:nvPr/>
        </p:nvSpPr>
        <p:spPr>
          <a:xfrm>
            <a:off x="318505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5" name="Illustrative delivered road transport cost class None; reference terminal None"/>
          <p:cNvSpPr/>
          <p:nvPr/>
        </p:nvSpPr>
        <p:spPr>
          <a:xfrm>
            <a:off x="318505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6" name="Illustrative delivered road transport cost class None; reference terminal None"/>
          <p:cNvSpPr/>
          <p:nvPr/>
        </p:nvSpPr>
        <p:spPr>
          <a:xfrm>
            <a:off x="3185055" y="3190770"/>
            <a:ext cx="57687" cy="57686"/>
          </a:xfrm>
          <a:custGeom>
            <a:avLst/>
            <a:gdLst/>
            <a:ahLst/>
            <a:cxnLst/>
            <a:rect l="l" t="t" r="r" b="b"/>
            <a:pathLst>
              <a:path w="57687" h="57686">
                <a:moveTo>
                  <a:pt x="57687" y="0"/>
                </a:moveTo>
                <a:lnTo>
                  <a:pt x="57687" y="57686"/>
                </a:lnTo>
                <a:lnTo>
                  <a:pt x="0" y="57686"/>
                </a:lnTo>
                <a:lnTo>
                  <a:pt x="0" y="47414"/>
                </a:lnTo>
                <a:lnTo>
                  <a:pt x="8527" y="20894"/>
                </a:lnTo>
                <a:lnTo>
                  <a:pt x="1330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7" name="Illustrative delivered road transport cost class None; reference terminal None"/>
          <p:cNvSpPr/>
          <p:nvPr/>
        </p:nvSpPr>
        <p:spPr>
          <a:xfrm>
            <a:off x="3198361" y="3133083"/>
            <a:ext cx="44381" cy="57687"/>
          </a:xfrm>
          <a:custGeom>
            <a:avLst/>
            <a:gdLst/>
            <a:ahLst/>
            <a:cxnLst/>
            <a:rect l="l" t="t" r="r" b="b"/>
            <a:pathLst>
              <a:path w="44381" h="57687">
                <a:moveTo>
                  <a:pt x="44381" y="0"/>
                </a:moveTo>
                <a:lnTo>
                  <a:pt x="44381" y="57687"/>
                </a:lnTo>
                <a:lnTo>
                  <a:pt x="0" y="57687"/>
                </a:lnTo>
                <a:lnTo>
                  <a:pt x="151" y="57025"/>
                </a:lnTo>
                <a:lnTo>
                  <a:pt x="13453" y="21722"/>
                </a:lnTo>
                <a:lnTo>
                  <a:pt x="29229" y="0"/>
                </a:lnTo>
                <a:lnTo>
                  <a:pt x="44381"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8" name="Illustrative delivered road transport cost class None; reference terminal None"/>
          <p:cNvSpPr/>
          <p:nvPr/>
        </p:nvSpPr>
        <p:spPr>
          <a:xfrm>
            <a:off x="3227590" y="3121400"/>
            <a:ext cx="15152" cy="11683"/>
          </a:xfrm>
          <a:custGeom>
            <a:avLst/>
            <a:gdLst/>
            <a:ahLst/>
            <a:cxnLst/>
            <a:rect l="l" t="t" r="r" b="b"/>
            <a:pathLst>
              <a:path w="15152" h="11683">
                <a:moveTo>
                  <a:pt x="15152" y="11683"/>
                </a:moveTo>
                <a:lnTo>
                  <a:pt x="0" y="11683"/>
                </a:lnTo>
                <a:lnTo>
                  <a:pt x="688" y="10736"/>
                </a:lnTo>
                <a:lnTo>
                  <a:pt x="15152" y="0"/>
                </a:lnTo>
                <a:lnTo>
                  <a:pt x="15152" y="1168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9" name="Illustrative delivered road transport cost class 3; reference terminal Durban"/>
          <p:cNvSpPr/>
          <p:nvPr/>
        </p:nvSpPr>
        <p:spPr>
          <a:xfrm>
            <a:off x="3242742" y="5325173"/>
            <a:ext cx="57687" cy="31626"/>
          </a:xfrm>
          <a:custGeom>
            <a:avLst/>
            <a:gdLst/>
            <a:ahLst/>
            <a:cxnLst/>
            <a:rect l="l" t="t" r="r" b="b"/>
            <a:pathLst>
              <a:path w="57687" h="31626">
                <a:moveTo>
                  <a:pt x="0" y="0"/>
                </a:moveTo>
                <a:lnTo>
                  <a:pt x="57687" y="0"/>
                </a:lnTo>
                <a:lnTo>
                  <a:pt x="57687" y="31626"/>
                </a:lnTo>
                <a:lnTo>
                  <a:pt x="19183" y="29847"/>
                </a:lnTo>
                <a:lnTo>
                  <a:pt x="0" y="2384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0" name="Illustrative delivered road transport cost class 3; reference terminal Durban"/>
          <p:cNvSpPr/>
          <p:nvPr/>
        </p:nvSpPr>
        <p:spPr>
          <a:xfrm>
            <a:off x="324274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1" name="Illustrative delivered road transport cost class 3; reference terminal Durban"/>
          <p:cNvSpPr/>
          <p:nvPr/>
        </p:nvSpPr>
        <p:spPr>
          <a:xfrm>
            <a:off x="324274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2" name="Illustrative delivered road transport cost class 4; reference terminal Durban"/>
          <p:cNvSpPr/>
          <p:nvPr/>
        </p:nvSpPr>
        <p:spPr>
          <a:xfrm>
            <a:off x="324274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3" name="Illustrative delivered road transport cost class 3; reference terminal Lesedi"/>
          <p:cNvSpPr/>
          <p:nvPr/>
        </p:nvSpPr>
        <p:spPr>
          <a:xfrm>
            <a:off x="324274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4" name="Illustrative delivered road transport cost class 3; reference terminal Lesedi"/>
          <p:cNvSpPr/>
          <p:nvPr/>
        </p:nvSpPr>
        <p:spPr>
          <a:xfrm>
            <a:off x="324274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5" name="Illustrative delivered road transport cost class 3; reference terminal Lesedi"/>
          <p:cNvSpPr/>
          <p:nvPr/>
        </p:nvSpPr>
        <p:spPr>
          <a:xfrm>
            <a:off x="324274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6" name="Illustrative delivered road transport cost class 3; reference terminal Lesedi"/>
          <p:cNvSpPr/>
          <p:nvPr/>
        </p:nvSpPr>
        <p:spPr>
          <a:xfrm>
            <a:off x="324274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7" name="Illustrative delivered road transport cost class 3; reference terminal Lesedi"/>
          <p:cNvSpPr/>
          <p:nvPr/>
        </p:nvSpPr>
        <p:spPr>
          <a:xfrm>
            <a:off x="324274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8" name="Illustrative delivered road transport cost class 3; reference terminal Lesedi"/>
          <p:cNvSpPr/>
          <p:nvPr/>
        </p:nvSpPr>
        <p:spPr>
          <a:xfrm>
            <a:off x="324274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9" name="Illustrative delivered road transport cost class 3; reference terminal Lesedi"/>
          <p:cNvSpPr/>
          <p:nvPr/>
        </p:nvSpPr>
        <p:spPr>
          <a:xfrm>
            <a:off x="324274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0" name="Illustrative delivered road transport cost class 3; reference terminal Lesedi"/>
          <p:cNvSpPr/>
          <p:nvPr/>
        </p:nvSpPr>
        <p:spPr>
          <a:xfrm>
            <a:off x="324274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1" name="Illustrative delivered road transport cost class 3; reference terminal Lesedi"/>
          <p:cNvSpPr/>
          <p:nvPr/>
        </p:nvSpPr>
        <p:spPr>
          <a:xfrm>
            <a:off x="324274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2" name="Illustrative delivered road transport cost class 3; reference terminal Lesedi"/>
          <p:cNvSpPr/>
          <p:nvPr/>
        </p:nvSpPr>
        <p:spPr>
          <a:xfrm>
            <a:off x="324274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3" name="Illustrative delivered road transport cost class 3; reference terminal Lesedi"/>
          <p:cNvSpPr/>
          <p:nvPr/>
        </p:nvSpPr>
        <p:spPr>
          <a:xfrm>
            <a:off x="324274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4" name="Illustrative delivered road transport cost class 3; reference terminal Lesedi"/>
          <p:cNvSpPr/>
          <p:nvPr/>
        </p:nvSpPr>
        <p:spPr>
          <a:xfrm>
            <a:off x="324274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5" name="Illustrative delivered road transport cost class 3; reference terminal Lesedi"/>
          <p:cNvSpPr/>
          <p:nvPr/>
        </p:nvSpPr>
        <p:spPr>
          <a:xfrm>
            <a:off x="324274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6" name="Illustrative delivered road transport cost class 2; reference terminal Lesedi"/>
          <p:cNvSpPr/>
          <p:nvPr/>
        </p:nvSpPr>
        <p:spPr>
          <a:xfrm>
            <a:off x="324274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7" name="Illustrative delivered road transport cost class 2; reference terminal Lesedi"/>
          <p:cNvSpPr/>
          <p:nvPr/>
        </p:nvSpPr>
        <p:spPr>
          <a:xfrm>
            <a:off x="324274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8" name="Illustrative delivered road transport cost class 2; reference terminal Lesedi"/>
          <p:cNvSpPr/>
          <p:nvPr/>
        </p:nvSpPr>
        <p:spPr>
          <a:xfrm>
            <a:off x="324274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9" name="Illustrative delivered road transport cost class 2; reference terminal Lesedi"/>
          <p:cNvSpPr/>
          <p:nvPr/>
        </p:nvSpPr>
        <p:spPr>
          <a:xfrm>
            <a:off x="324274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0" name="Illustrative delivered road transport cost class 3; reference terminal Lesedi"/>
          <p:cNvSpPr/>
          <p:nvPr/>
        </p:nvSpPr>
        <p:spPr>
          <a:xfrm>
            <a:off x="324274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1" name="Illustrative delivered road transport cost class 3; reference terminal Lesedi"/>
          <p:cNvSpPr/>
          <p:nvPr/>
        </p:nvSpPr>
        <p:spPr>
          <a:xfrm>
            <a:off x="324274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2" name="Illustrative delivered road transport cost class 3; reference terminal Lesedi"/>
          <p:cNvSpPr/>
          <p:nvPr/>
        </p:nvSpPr>
        <p:spPr>
          <a:xfrm>
            <a:off x="324274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3" name="Illustrative delivered road transport cost class None; reference terminal None"/>
          <p:cNvSpPr/>
          <p:nvPr/>
        </p:nvSpPr>
        <p:spPr>
          <a:xfrm>
            <a:off x="324274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4" name="Illustrative delivered road transport cost class 3; reference terminal Lesedi"/>
          <p:cNvSpPr/>
          <p:nvPr/>
        </p:nvSpPr>
        <p:spPr>
          <a:xfrm>
            <a:off x="324274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5" name="Illustrative delivered road transport cost class 3; reference terminal Lesedi"/>
          <p:cNvSpPr/>
          <p:nvPr/>
        </p:nvSpPr>
        <p:spPr>
          <a:xfrm>
            <a:off x="324274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6" name="Illustrative delivered road transport cost class 3; reference terminal Lesedi"/>
          <p:cNvSpPr/>
          <p:nvPr/>
        </p:nvSpPr>
        <p:spPr>
          <a:xfrm>
            <a:off x="324274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7" name="Illustrative delivered road transport cost class 3; reference terminal Lesedi"/>
          <p:cNvSpPr/>
          <p:nvPr/>
        </p:nvSpPr>
        <p:spPr>
          <a:xfrm>
            <a:off x="324274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8" name="Illustrative delivered road transport cost class 3; reference terminal Lesedi"/>
          <p:cNvSpPr/>
          <p:nvPr/>
        </p:nvSpPr>
        <p:spPr>
          <a:xfrm>
            <a:off x="324274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9" name="Illustrative delivered road transport cost class 3; reference terminal Lesedi"/>
          <p:cNvSpPr/>
          <p:nvPr/>
        </p:nvSpPr>
        <p:spPr>
          <a:xfrm>
            <a:off x="324274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0" name="Illustrative delivered road transport cost class 3; reference terminal Lesedi"/>
          <p:cNvSpPr/>
          <p:nvPr/>
        </p:nvSpPr>
        <p:spPr>
          <a:xfrm>
            <a:off x="324274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1" name="Illustrative delivered road transport cost class 3; reference terminal Lesedi"/>
          <p:cNvSpPr/>
          <p:nvPr/>
        </p:nvSpPr>
        <p:spPr>
          <a:xfrm>
            <a:off x="324274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2" name="Illustrative delivered road transport cost class 3; reference terminal Lesedi"/>
          <p:cNvSpPr/>
          <p:nvPr/>
        </p:nvSpPr>
        <p:spPr>
          <a:xfrm>
            <a:off x="324274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3" name="Illustrative delivered road transport cost class None; reference terminal None"/>
          <p:cNvSpPr/>
          <p:nvPr/>
        </p:nvSpPr>
        <p:spPr>
          <a:xfrm>
            <a:off x="3242742"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4" name="Illustrative delivered road transport cost class None; reference terminal None"/>
          <p:cNvSpPr/>
          <p:nvPr/>
        </p:nvSpPr>
        <p:spPr>
          <a:xfrm>
            <a:off x="3242742"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5" name="Illustrative delivered road transport cost class None; reference terminal None"/>
          <p:cNvSpPr/>
          <p:nvPr/>
        </p:nvSpPr>
        <p:spPr>
          <a:xfrm>
            <a:off x="3242742"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6" name="Illustrative delivered road transport cost class None; reference terminal None"/>
          <p:cNvSpPr/>
          <p:nvPr/>
        </p:nvSpPr>
        <p:spPr>
          <a:xfrm>
            <a:off x="324274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7" name="Illustrative delivered road transport cost class None; reference terminal None"/>
          <p:cNvSpPr/>
          <p:nvPr/>
        </p:nvSpPr>
        <p:spPr>
          <a:xfrm>
            <a:off x="324274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8" name="Illustrative delivered road transport cost class None; reference terminal None"/>
          <p:cNvSpPr/>
          <p:nvPr/>
        </p:nvSpPr>
        <p:spPr>
          <a:xfrm>
            <a:off x="3242742" y="3104642"/>
            <a:ext cx="57687" cy="28441"/>
          </a:xfrm>
          <a:custGeom>
            <a:avLst/>
            <a:gdLst/>
            <a:ahLst/>
            <a:cxnLst/>
            <a:rect l="l" t="t" r="r" b="b"/>
            <a:pathLst>
              <a:path w="57687" h="28441">
                <a:moveTo>
                  <a:pt x="57687" y="28441"/>
                </a:moveTo>
                <a:lnTo>
                  <a:pt x="0" y="28441"/>
                </a:lnTo>
                <a:lnTo>
                  <a:pt x="0" y="16758"/>
                </a:lnTo>
                <a:lnTo>
                  <a:pt x="1801" y="15421"/>
                </a:lnTo>
                <a:lnTo>
                  <a:pt x="9993" y="12270"/>
                </a:lnTo>
                <a:lnTo>
                  <a:pt x="31104" y="5903"/>
                </a:lnTo>
                <a:lnTo>
                  <a:pt x="57687" y="0"/>
                </a:lnTo>
                <a:lnTo>
                  <a:pt x="57687" y="284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9" name="Illustrative delivered road transport cost class 3; reference terminal Durban"/>
          <p:cNvSpPr/>
          <p:nvPr/>
        </p:nvSpPr>
        <p:spPr>
          <a:xfrm>
            <a:off x="3300429" y="5325173"/>
            <a:ext cx="57686" cy="33224"/>
          </a:xfrm>
          <a:custGeom>
            <a:avLst/>
            <a:gdLst/>
            <a:ahLst/>
            <a:cxnLst/>
            <a:rect l="l" t="t" r="r" b="b"/>
            <a:pathLst>
              <a:path w="57686" h="33224">
                <a:moveTo>
                  <a:pt x="0" y="0"/>
                </a:moveTo>
                <a:lnTo>
                  <a:pt x="57686" y="0"/>
                </a:lnTo>
                <a:lnTo>
                  <a:pt x="57686" y="27360"/>
                </a:lnTo>
                <a:lnTo>
                  <a:pt x="52084" y="29844"/>
                </a:lnTo>
                <a:lnTo>
                  <a:pt x="34605" y="33224"/>
                </a:lnTo>
                <a:lnTo>
                  <a:pt x="0" y="3162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0" name="Illustrative delivered road transport cost class 3; reference terminal Durban"/>
          <p:cNvSpPr/>
          <p:nvPr/>
        </p:nvSpPr>
        <p:spPr>
          <a:xfrm>
            <a:off x="330042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1" name="Illustrative delivered road transport cost class 3; reference terminal Durban"/>
          <p:cNvSpPr/>
          <p:nvPr/>
        </p:nvSpPr>
        <p:spPr>
          <a:xfrm>
            <a:off x="330042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2" name="Illustrative delivered road transport cost class 3; reference terminal Durban"/>
          <p:cNvSpPr/>
          <p:nvPr/>
        </p:nvSpPr>
        <p:spPr>
          <a:xfrm>
            <a:off x="330042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3" name="Illustrative delivered road transport cost class 4; reference terminal Durban"/>
          <p:cNvSpPr/>
          <p:nvPr/>
        </p:nvSpPr>
        <p:spPr>
          <a:xfrm>
            <a:off x="330042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4" name="Illustrative delivered road transport cost class 3; reference terminal Lesedi"/>
          <p:cNvSpPr/>
          <p:nvPr/>
        </p:nvSpPr>
        <p:spPr>
          <a:xfrm>
            <a:off x="330042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5" name="Illustrative delivered road transport cost class 3; reference terminal Lesedi"/>
          <p:cNvSpPr/>
          <p:nvPr/>
        </p:nvSpPr>
        <p:spPr>
          <a:xfrm>
            <a:off x="330042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6" name="Illustrative delivered road transport cost class 3; reference terminal Lesedi"/>
          <p:cNvSpPr/>
          <p:nvPr/>
        </p:nvSpPr>
        <p:spPr>
          <a:xfrm>
            <a:off x="330042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7" name="Illustrative delivered road transport cost class 3; reference terminal Lesedi"/>
          <p:cNvSpPr/>
          <p:nvPr/>
        </p:nvSpPr>
        <p:spPr>
          <a:xfrm>
            <a:off x="330042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8" name="Illustrative delivered road transport cost class 3; reference terminal Lesedi"/>
          <p:cNvSpPr/>
          <p:nvPr/>
        </p:nvSpPr>
        <p:spPr>
          <a:xfrm>
            <a:off x="330042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9" name="Illustrative delivered road transport cost class 3; reference terminal Lesedi"/>
          <p:cNvSpPr/>
          <p:nvPr/>
        </p:nvSpPr>
        <p:spPr>
          <a:xfrm>
            <a:off x="330042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0" name="Illustrative delivered road transport cost class 3; reference terminal Lesedi"/>
          <p:cNvSpPr/>
          <p:nvPr/>
        </p:nvSpPr>
        <p:spPr>
          <a:xfrm>
            <a:off x="330042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1" name="Illustrative delivered road transport cost class 3; reference terminal Lesedi"/>
          <p:cNvSpPr/>
          <p:nvPr/>
        </p:nvSpPr>
        <p:spPr>
          <a:xfrm>
            <a:off x="330042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2" name="Illustrative delivered road transport cost class 3; reference terminal Lesedi"/>
          <p:cNvSpPr/>
          <p:nvPr/>
        </p:nvSpPr>
        <p:spPr>
          <a:xfrm>
            <a:off x="330042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3" name="Illustrative delivered road transport cost class 2; reference terminal Lesedi"/>
          <p:cNvSpPr/>
          <p:nvPr/>
        </p:nvSpPr>
        <p:spPr>
          <a:xfrm>
            <a:off x="330042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4" name="Illustrative delivered road transport cost class 2; reference terminal Lesedi"/>
          <p:cNvSpPr/>
          <p:nvPr/>
        </p:nvSpPr>
        <p:spPr>
          <a:xfrm>
            <a:off x="330042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5" name="Illustrative delivered road transport cost class 2; reference terminal Lesedi"/>
          <p:cNvSpPr/>
          <p:nvPr/>
        </p:nvSpPr>
        <p:spPr>
          <a:xfrm>
            <a:off x="330042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6" name="Illustrative delivered road transport cost class 2; reference terminal Lesedi"/>
          <p:cNvSpPr/>
          <p:nvPr/>
        </p:nvSpPr>
        <p:spPr>
          <a:xfrm>
            <a:off x="330042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7" name="Illustrative delivered road transport cost class 2; reference terminal Lesedi"/>
          <p:cNvSpPr/>
          <p:nvPr/>
        </p:nvSpPr>
        <p:spPr>
          <a:xfrm>
            <a:off x="330042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8" name="Illustrative delivered road transport cost class 2; reference terminal Lesedi"/>
          <p:cNvSpPr/>
          <p:nvPr/>
        </p:nvSpPr>
        <p:spPr>
          <a:xfrm>
            <a:off x="330042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9" name="Illustrative delivered road transport cost class 2; reference terminal Lesedi"/>
          <p:cNvSpPr/>
          <p:nvPr/>
        </p:nvSpPr>
        <p:spPr>
          <a:xfrm>
            <a:off x="330042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0" name="Illustrative delivered road transport cost class 2; reference terminal Lesedi"/>
          <p:cNvSpPr/>
          <p:nvPr/>
        </p:nvSpPr>
        <p:spPr>
          <a:xfrm>
            <a:off x="330042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1" name="Illustrative delivered road transport cost class 3; reference terminal Lesedi"/>
          <p:cNvSpPr/>
          <p:nvPr/>
        </p:nvSpPr>
        <p:spPr>
          <a:xfrm>
            <a:off x="330042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2" name="Illustrative delivered road transport cost class None; reference terminal None"/>
          <p:cNvSpPr/>
          <p:nvPr/>
        </p:nvSpPr>
        <p:spPr>
          <a:xfrm>
            <a:off x="330042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3" name="Illustrative delivered road transport cost class None; reference terminal None"/>
          <p:cNvSpPr/>
          <p:nvPr/>
        </p:nvSpPr>
        <p:spPr>
          <a:xfrm>
            <a:off x="330042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4" name="Illustrative delivered road transport cost class 3; reference terminal Lesedi"/>
          <p:cNvSpPr/>
          <p:nvPr/>
        </p:nvSpPr>
        <p:spPr>
          <a:xfrm>
            <a:off x="330042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5" name="Illustrative delivered road transport cost class 3; reference terminal Lesedi"/>
          <p:cNvSpPr/>
          <p:nvPr/>
        </p:nvSpPr>
        <p:spPr>
          <a:xfrm>
            <a:off x="330042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6" name="Illustrative delivered road transport cost class 3; reference terminal Lesedi"/>
          <p:cNvSpPr/>
          <p:nvPr/>
        </p:nvSpPr>
        <p:spPr>
          <a:xfrm>
            <a:off x="330042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7" name="Illustrative delivered road transport cost class 3; reference terminal Lesedi"/>
          <p:cNvSpPr/>
          <p:nvPr/>
        </p:nvSpPr>
        <p:spPr>
          <a:xfrm>
            <a:off x="330042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8" name="Illustrative delivered road transport cost class 3; reference terminal Lesedi"/>
          <p:cNvSpPr/>
          <p:nvPr/>
        </p:nvSpPr>
        <p:spPr>
          <a:xfrm>
            <a:off x="330042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9" name="Illustrative delivered road transport cost class 3; reference terminal Lesedi"/>
          <p:cNvSpPr/>
          <p:nvPr/>
        </p:nvSpPr>
        <p:spPr>
          <a:xfrm>
            <a:off x="330042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0" name="Illustrative delivered road transport cost class 3; reference terminal Lesedi"/>
          <p:cNvSpPr/>
          <p:nvPr/>
        </p:nvSpPr>
        <p:spPr>
          <a:xfrm>
            <a:off x="330042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1" name="Illustrative delivered road transport cost class 3; reference terminal Lesedi"/>
          <p:cNvSpPr/>
          <p:nvPr/>
        </p:nvSpPr>
        <p:spPr>
          <a:xfrm>
            <a:off x="330042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2" name="Illustrative delivered road transport cost class 3; reference terminal Lesedi"/>
          <p:cNvSpPr/>
          <p:nvPr/>
        </p:nvSpPr>
        <p:spPr>
          <a:xfrm>
            <a:off x="330042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3" name="Illustrative delivered road transport cost class None; reference terminal None"/>
          <p:cNvSpPr/>
          <p:nvPr/>
        </p:nvSpPr>
        <p:spPr>
          <a:xfrm>
            <a:off x="330042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4" name="Illustrative delivered road transport cost class None; reference terminal None"/>
          <p:cNvSpPr/>
          <p:nvPr/>
        </p:nvSpPr>
        <p:spPr>
          <a:xfrm>
            <a:off x="3300429"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5" name="Illustrative delivered road transport cost class None; reference terminal None"/>
          <p:cNvSpPr/>
          <p:nvPr/>
        </p:nvSpPr>
        <p:spPr>
          <a:xfrm>
            <a:off x="3300429"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6" name="Illustrative delivered road transport cost class None; reference terminal None"/>
          <p:cNvSpPr/>
          <p:nvPr/>
        </p:nvSpPr>
        <p:spPr>
          <a:xfrm>
            <a:off x="330042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7" name="Illustrative delivered road transport cost class None; reference terminal None"/>
          <p:cNvSpPr/>
          <p:nvPr/>
        </p:nvSpPr>
        <p:spPr>
          <a:xfrm>
            <a:off x="330042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8" name="Illustrative delivered road transport cost class None; reference terminal None"/>
          <p:cNvSpPr/>
          <p:nvPr/>
        </p:nvSpPr>
        <p:spPr>
          <a:xfrm>
            <a:off x="3300429" y="3104507"/>
            <a:ext cx="57686" cy="28576"/>
          </a:xfrm>
          <a:custGeom>
            <a:avLst/>
            <a:gdLst/>
            <a:ahLst/>
            <a:cxnLst/>
            <a:rect l="l" t="t" r="r" b="b"/>
            <a:pathLst>
              <a:path w="57686" h="28576">
                <a:moveTo>
                  <a:pt x="57686" y="28576"/>
                </a:moveTo>
                <a:lnTo>
                  <a:pt x="0" y="28576"/>
                </a:lnTo>
                <a:lnTo>
                  <a:pt x="0" y="135"/>
                </a:lnTo>
                <a:lnTo>
                  <a:pt x="606" y="0"/>
                </a:lnTo>
                <a:lnTo>
                  <a:pt x="29338" y="5946"/>
                </a:lnTo>
                <a:lnTo>
                  <a:pt x="57686" y="18023"/>
                </a:lnTo>
                <a:lnTo>
                  <a:pt x="57686" y="2857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9" name="Illustrative delivered road transport cost class 3; reference terminal Durban"/>
          <p:cNvSpPr/>
          <p:nvPr/>
        </p:nvSpPr>
        <p:spPr>
          <a:xfrm>
            <a:off x="3358115" y="5325173"/>
            <a:ext cx="57687" cy="27360"/>
          </a:xfrm>
          <a:custGeom>
            <a:avLst/>
            <a:gdLst/>
            <a:ahLst/>
            <a:cxnLst/>
            <a:rect l="l" t="t" r="r" b="b"/>
            <a:pathLst>
              <a:path w="57687" h="27360">
                <a:moveTo>
                  <a:pt x="0" y="0"/>
                </a:moveTo>
                <a:lnTo>
                  <a:pt x="57687" y="0"/>
                </a:lnTo>
                <a:lnTo>
                  <a:pt x="57687" y="8680"/>
                </a:lnTo>
                <a:lnTo>
                  <a:pt x="44245" y="7748"/>
                </a:lnTo>
                <a:lnTo>
                  <a:pt x="0" y="2736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0" name="Illustrative delivered road transport cost class 3; reference terminal Durban"/>
          <p:cNvSpPr/>
          <p:nvPr/>
        </p:nvSpPr>
        <p:spPr>
          <a:xfrm>
            <a:off x="335811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1" name="Illustrative delivered road transport cost class 3; reference terminal Durban"/>
          <p:cNvSpPr/>
          <p:nvPr/>
        </p:nvSpPr>
        <p:spPr>
          <a:xfrm>
            <a:off x="335811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2" name="Illustrative delivered road transport cost class 3; reference terminal Durban"/>
          <p:cNvSpPr/>
          <p:nvPr/>
        </p:nvSpPr>
        <p:spPr>
          <a:xfrm>
            <a:off x="335811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3" name="Illustrative delivered road transport cost class 3; reference terminal Durban"/>
          <p:cNvSpPr/>
          <p:nvPr/>
        </p:nvSpPr>
        <p:spPr>
          <a:xfrm>
            <a:off x="335811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4" name="Illustrative delivered road transport cost class None; reference terminal None"/>
          <p:cNvSpPr/>
          <p:nvPr/>
        </p:nvSpPr>
        <p:spPr>
          <a:xfrm>
            <a:off x="335811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5" name="Illustrative delivered road transport cost class 3; reference terminal Lesedi"/>
          <p:cNvSpPr/>
          <p:nvPr/>
        </p:nvSpPr>
        <p:spPr>
          <a:xfrm>
            <a:off x="335811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6" name="Illustrative delivered road transport cost class 3; reference terminal Lesedi"/>
          <p:cNvSpPr/>
          <p:nvPr/>
        </p:nvSpPr>
        <p:spPr>
          <a:xfrm>
            <a:off x="335811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7" name="Illustrative delivered road transport cost class 3; reference terminal Lesedi"/>
          <p:cNvSpPr/>
          <p:nvPr/>
        </p:nvSpPr>
        <p:spPr>
          <a:xfrm>
            <a:off x="335811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8" name="Illustrative delivered road transport cost class 3; reference terminal Lesedi"/>
          <p:cNvSpPr/>
          <p:nvPr/>
        </p:nvSpPr>
        <p:spPr>
          <a:xfrm>
            <a:off x="335811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9" name="Illustrative delivered road transport cost class 3; reference terminal Lesedi"/>
          <p:cNvSpPr/>
          <p:nvPr/>
        </p:nvSpPr>
        <p:spPr>
          <a:xfrm>
            <a:off x="335811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0" name="Illustrative delivered road transport cost class 3; reference terminal Lesedi"/>
          <p:cNvSpPr/>
          <p:nvPr/>
        </p:nvSpPr>
        <p:spPr>
          <a:xfrm>
            <a:off x="335811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1" name="Illustrative delivered road transport cost class 3; reference terminal Lesedi"/>
          <p:cNvSpPr/>
          <p:nvPr/>
        </p:nvSpPr>
        <p:spPr>
          <a:xfrm>
            <a:off x="335811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2" name="Illustrative delivered road transport cost class 2; reference terminal Lesedi"/>
          <p:cNvSpPr/>
          <p:nvPr/>
        </p:nvSpPr>
        <p:spPr>
          <a:xfrm>
            <a:off x="335811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3" name="Illustrative delivered road transport cost class 2; reference terminal Lesedi"/>
          <p:cNvSpPr/>
          <p:nvPr/>
        </p:nvSpPr>
        <p:spPr>
          <a:xfrm>
            <a:off x="335811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4" name="Illustrative delivered road transport cost class 2; reference terminal Lesedi"/>
          <p:cNvSpPr/>
          <p:nvPr/>
        </p:nvSpPr>
        <p:spPr>
          <a:xfrm>
            <a:off x="335811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5" name="Illustrative delivered road transport cost class 2; reference terminal Lesedi"/>
          <p:cNvSpPr/>
          <p:nvPr/>
        </p:nvSpPr>
        <p:spPr>
          <a:xfrm>
            <a:off x="335811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6" name="Illustrative delivered road transport cost class 2; reference terminal Lesedi"/>
          <p:cNvSpPr/>
          <p:nvPr/>
        </p:nvSpPr>
        <p:spPr>
          <a:xfrm>
            <a:off x="335811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7" name="Illustrative delivered road transport cost class 2; reference terminal Lesedi"/>
          <p:cNvSpPr/>
          <p:nvPr/>
        </p:nvSpPr>
        <p:spPr>
          <a:xfrm>
            <a:off x="335811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8" name="Illustrative delivered road transport cost class 2; reference terminal Lesedi"/>
          <p:cNvSpPr/>
          <p:nvPr/>
        </p:nvSpPr>
        <p:spPr>
          <a:xfrm>
            <a:off x="335811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9" name="Illustrative delivered road transport cost class 2; reference terminal Lesedi"/>
          <p:cNvSpPr/>
          <p:nvPr/>
        </p:nvSpPr>
        <p:spPr>
          <a:xfrm>
            <a:off x="335811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0" name="Illustrative delivered road transport cost class 2; reference terminal Lesedi"/>
          <p:cNvSpPr/>
          <p:nvPr/>
        </p:nvSpPr>
        <p:spPr>
          <a:xfrm>
            <a:off x="335811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1" name="Illustrative delivered road transport cost class 2; reference terminal Lesedi"/>
          <p:cNvSpPr/>
          <p:nvPr/>
        </p:nvSpPr>
        <p:spPr>
          <a:xfrm>
            <a:off x="335811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2" name="Illustrative delivered road transport cost class 2; reference terminal Lesedi"/>
          <p:cNvSpPr/>
          <p:nvPr/>
        </p:nvSpPr>
        <p:spPr>
          <a:xfrm>
            <a:off x="335811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3" name="Illustrative delivered road transport cost class None; reference terminal None"/>
          <p:cNvSpPr/>
          <p:nvPr/>
        </p:nvSpPr>
        <p:spPr>
          <a:xfrm>
            <a:off x="335811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4" name="Illustrative delivered road transport cost class None; reference terminal None"/>
          <p:cNvSpPr/>
          <p:nvPr/>
        </p:nvSpPr>
        <p:spPr>
          <a:xfrm>
            <a:off x="335811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5" name="Illustrative delivered road transport cost class 3; reference terminal Lesedi"/>
          <p:cNvSpPr/>
          <p:nvPr/>
        </p:nvSpPr>
        <p:spPr>
          <a:xfrm>
            <a:off x="335811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6" name="Illustrative delivered road transport cost class 3; reference terminal Lesedi"/>
          <p:cNvSpPr/>
          <p:nvPr/>
        </p:nvSpPr>
        <p:spPr>
          <a:xfrm>
            <a:off x="335811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7" name="Illustrative delivered road transport cost class 3; reference terminal Lesedi"/>
          <p:cNvSpPr/>
          <p:nvPr/>
        </p:nvSpPr>
        <p:spPr>
          <a:xfrm>
            <a:off x="335811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8" name="Illustrative delivered road transport cost class 3; reference terminal Lesedi"/>
          <p:cNvSpPr/>
          <p:nvPr/>
        </p:nvSpPr>
        <p:spPr>
          <a:xfrm>
            <a:off x="335811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9" name="Illustrative delivered road transport cost class 3; reference terminal Lesedi"/>
          <p:cNvSpPr/>
          <p:nvPr/>
        </p:nvSpPr>
        <p:spPr>
          <a:xfrm>
            <a:off x="335811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0" name="Illustrative delivered road transport cost class 3; reference terminal Lesedi"/>
          <p:cNvSpPr/>
          <p:nvPr/>
        </p:nvSpPr>
        <p:spPr>
          <a:xfrm>
            <a:off x="335811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1" name="Illustrative delivered road transport cost class 3; reference terminal Lesedi"/>
          <p:cNvSpPr/>
          <p:nvPr/>
        </p:nvSpPr>
        <p:spPr>
          <a:xfrm>
            <a:off x="335811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2" name="Illustrative delivered road transport cost class 3; reference terminal Lesedi"/>
          <p:cNvSpPr/>
          <p:nvPr/>
        </p:nvSpPr>
        <p:spPr>
          <a:xfrm>
            <a:off x="335811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3" name="Illustrative delivered road transport cost class None; reference terminal None"/>
          <p:cNvSpPr/>
          <p:nvPr/>
        </p:nvSpPr>
        <p:spPr>
          <a:xfrm>
            <a:off x="335811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4" name="Illustrative delivered road transport cost class None; reference terminal None"/>
          <p:cNvSpPr/>
          <p:nvPr/>
        </p:nvSpPr>
        <p:spPr>
          <a:xfrm>
            <a:off x="335811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5" name="Illustrative delivered road transport cost class None; reference terminal None"/>
          <p:cNvSpPr/>
          <p:nvPr/>
        </p:nvSpPr>
        <p:spPr>
          <a:xfrm>
            <a:off x="335811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6" name="Illustrative delivered road transport cost class None; reference terminal None"/>
          <p:cNvSpPr/>
          <p:nvPr/>
        </p:nvSpPr>
        <p:spPr>
          <a:xfrm>
            <a:off x="335811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7" name="Illustrative delivered road transport cost class None; reference terminal None"/>
          <p:cNvSpPr/>
          <p:nvPr/>
        </p:nvSpPr>
        <p:spPr>
          <a:xfrm>
            <a:off x="3358115" y="3133083"/>
            <a:ext cx="57687" cy="57687"/>
          </a:xfrm>
          <a:custGeom>
            <a:avLst/>
            <a:gdLst/>
            <a:ahLst/>
            <a:cxnLst/>
            <a:rect l="l" t="t" r="r" b="b"/>
            <a:pathLst>
              <a:path w="57687" h="57687">
                <a:moveTo>
                  <a:pt x="57687" y="57687"/>
                </a:moveTo>
                <a:lnTo>
                  <a:pt x="0" y="57687"/>
                </a:lnTo>
                <a:lnTo>
                  <a:pt x="0" y="0"/>
                </a:lnTo>
                <a:lnTo>
                  <a:pt x="17247" y="0"/>
                </a:lnTo>
                <a:lnTo>
                  <a:pt x="37452" y="13013"/>
                </a:lnTo>
                <a:lnTo>
                  <a:pt x="57687" y="28822"/>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8" name="Illustrative delivered road transport cost class None; reference terminal None"/>
          <p:cNvSpPr/>
          <p:nvPr/>
        </p:nvSpPr>
        <p:spPr>
          <a:xfrm>
            <a:off x="3358115" y="3122530"/>
            <a:ext cx="17247" cy="10553"/>
          </a:xfrm>
          <a:custGeom>
            <a:avLst/>
            <a:gdLst/>
            <a:ahLst/>
            <a:cxnLst/>
            <a:rect l="l" t="t" r="r" b="b"/>
            <a:pathLst>
              <a:path w="17247" h="10553">
                <a:moveTo>
                  <a:pt x="0" y="10553"/>
                </a:moveTo>
                <a:lnTo>
                  <a:pt x="0" y="0"/>
                </a:lnTo>
                <a:lnTo>
                  <a:pt x="2544" y="1083"/>
                </a:lnTo>
                <a:lnTo>
                  <a:pt x="17247" y="10553"/>
                </a:lnTo>
                <a:lnTo>
                  <a:pt x="0" y="1055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9" name="Illustrative delivered road transport cost class 3; reference terminal Durban"/>
          <p:cNvSpPr/>
          <p:nvPr/>
        </p:nvSpPr>
        <p:spPr>
          <a:xfrm>
            <a:off x="3415802" y="5325173"/>
            <a:ext cx="57686" cy="16967"/>
          </a:xfrm>
          <a:custGeom>
            <a:avLst/>
            <a:gdLst/>
            <a:ahLst/>
            <a:cxnLst/>
            <a:rect l="l" t="t" r="r" b="b"/>
            <a:pathLst>
              <a:path w="57686" h="16967">
                <a:moveTo>
                  <a:pt x="0" y="0"/>
                </a:moveTo>
                <a:lnTo>
                  <a:pt x="57686" y="0"/>
                </a:lnTo>
                <a:lnTo>
                  <a:pt x="57686" y="16967"/>
                </a:lnTo>
                <a:lnTo>
                  <a:pt x="10549" y="9411"/>
                </a:lnTo>
                <a:lnTo>
                  <a:pt x="0" y="868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0" name="Illustrative delivered road transport cost class 3; reference terminal Durban"/>
          <p:cNvSpPr/>
          <p:nvPr/>
        </p:nvSpPr>
        <p:spPr>
          <a:xfrm>
            <a:off x="3415802"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1" name="Illustrative delivered road transport cost class 3; reference terminal Durban"/>
          <p:cNvSpPr/>
          <p:nvPr/>
        </p:nvSpPr>
        <p:spPr>
          <a:xfrm>
            <a:off x="3415802"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2" name="Illustrative delivered road transport cost class 3; reference terminal Durban"/>
          <p:cNvSpPr/>
          <p:nvPr/>
        </p:nvSpPr>
        <p:spPr>
          <a:xfrm>
            <a:off x="3415802"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3" name="Illustrative delivered road transport cost class 3; reference terminal Durban"/>
          <p:cNvSpPr/>
          <p:nvPr/>
        </p:nvSpPr>
        <p:spPr>
          <a:xfrm>
            <a:off x="3415802"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4" name="Illustrative delivered road transport cost class None; reference terminal None"/>
          <p:cNvSpPr/>
          <p:nvPr/>
        </p:nvSpPr>
        <p:spPr>
          <a:xfrm>
            <a:off x="3415802"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5" name="Illustrative delivered road transport cost class None; reference terminal None"/>
          <p:cNvSpPr/>
          <p:nvPr/>
        </p:nvSpPr>
        <p:spPr>
          <a:xfrm>
            <a:off x="3415802"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6" name="Illustrative delivered road transport cost class 3; reference terminal Lesedi"/>
          <p:cNvSpPr/>
          <p:nvPr/>
        </p:nvSpPr>
        <p:spPr>
          <a:xfrm>
            <a:off x="3415802"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7" name="Illustrative delivered road transport cost class 3; reference terminal Lesedi"/>
          <p:cNvSpPr/>
          <p:nvPr/>
        </p:nvSpPr>
        <p:spPr>
          <a:xfrm>
            <a:off x="3415802"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8" name="Illustrative delivered road transport cost class 3; reference terminal Lesedi"/>
          <p:cNvSpPr/>
          <p:nvPr/>
        </p:nvSpPr>
        <p:spPr>
          <a:xfrm>
            <a:off x="3415802"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9" name="Illustrative delivered road transport cost class 3; reference terminal Lesedi"/>
          <p:cNvSpPr/>
          <p:nvPr/>
        </p:nvSpPr>
        <p:spPr>
          <a:xfrm>
            <a:off x="3415802"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0" name="Illustrative delivered road transport cost class 2; reference terminal Lesedi"/>
          <p:cNvSpPr/>
          <p:nvPr/>
        </p:nvSpPr>
        <p:spPr>
          <a:xfrm>
            <a:off x="3415802"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1" name="Illustrative delivered road transport cost class 2; reference terminal Lesedi"/>
          <p:cNvSpPr/>
          <p:nvPr/>
        </p:nvSpPr>
        <p:spPr>
          <a:xfrm>
            <a:off x="3415802"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2" name="Illustrative delivered road transport cost class 2; reference terminal Lesedi"/>
          <p:cNvSpPr/>
          <p:nvPr/>
        </p:nvSpPr>
        <p:spPr>
          <a:xfrm>
            <a:off x="3415802"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3" name="Illustrative delivered road transport cost class 2; reference terminal Lesedi"/>
          <p:cNvSpPr/>
          <p:nvPr/>
        </p:nvSpPr>
        <p:spPr>
          <a:xfrm>
            <a:off x="3415802"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4" name="Illustrative delivered road transport cost class 2; reference terminal Lesedi"/>
          <p:cNvSpPr/>
          <p:nvPr/>
        </p:nvSpPr>
        <p:spPr>
          <a:xfrm>
            <a:off x="3415802"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5" name="Illustrative delivered road transport cost class 2; reference terminal Lesedi"/>
          <p:cNvSpPr/>
          <p:nvPr/>
        </p:nvSpPr>
        <p:spPr>
          <a:xfrm>
            <a:off x="3415802"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6" name="Illustrative delivered road transport cost class 2; reference terminal Lesedi"/>
          <p:cNvSpPr/>
          <p:nvPr/>
        </p:nvSpPr>
        <p:spPr>
          <a:xfrm>
            <a:off x="3415802"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7" name="Illustrative delivered road transport cost class 2; reference terminal Lesedi"/>
          <p:cNvSpPr/>
          <p:nvPr/>
        </p:nvSpPr>
        <p:spPr>
          <a:xfrm>
            <a:off x="3415802"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8" name="Illustrative delivered road transport cost class 2; reference terminal Lesedi"/>
          <p:cNvSpPr/>
          <p:nvPr/>
        </p:nvSpPr>
        <p:spPr>
          <a:xfrm>
            <a:off x="3415802"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9" name="Illustrative delivered road transport cost class 2; reference terminal Lesedi"/>
          <p:cNvSpPr/>
          <p:nvPr/>
        </p:nvSpPr>
        <p:spPr>
          <a:xfrm>
            <a:off x="3415802"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0" name="Illustrative delivered road transport cost class 2; reference terminal Lesedi"/>
          <p:cNvSpPr/>
          <p:nvPr/>
        </p:nvSpPr>
        <p:spPr>
          <a:xfrm>
            <a:off x="3415802"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1" name="Illustrative delivered road transport cost class 2; reference terminal Lesedi"/>
          <p:cNvSpPr/>
          <p:nvPr/>
        </p:nvSpPr>
        <p:spPr>
          <a:xfrm>
            <a:off x="3415802"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2" name="Illustrative delivered road transport cost class 2; reference terminal Lesedi"/>
          <p:cNvSpPr/>
          <p:nvPr/>
        </p:nvSpPr>
        <p:spPr>
          <a:xfrm>
            <a:off x="3415802"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3" name="Illustrative delivered road transport cost class 2; reference terminal Lesedi"/>
          <p:cNvSpPr/>
          <p:nvPr/>
        </p:nvSpPr>
        <p:spPr>
          <a:xfrm>
            <a:off x="3415802"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4" name="Illustrative delivered road transport cost class 2; reference terminal Lesedi"/>
          <p:cNvSpPr/>
          <p:nvPr/>
        </p:nvSpPr>
        <p:spPr>
          <a:xfrm>
            <a:off x="3415802"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5" name="Illustrative delivered road transport cost class 2; reference terminal Lesedi"/>
          <p:cNvSpPr/>
          <p:nvPr/>
        </p:nvSpPr>
        <p:spPr>
          <a:xfrm>
            <a:off x="3415802"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6" name="Illustrative delivered road transport cost class 2; reference terminal Lesedi"/>
          <p:cNvSpPr/>
          <p:nvPr/>
        </p:nvSpPr>
        <p:spPr>
          <a:xfrm>
            <a:off x="3415802"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7" name="Illustrative delivered road transport cost class 2; reference terminal Lesedi"/>
          <p:cNvSpPr/>
          <p:nvPr/>
        </p:nvSpPr>
        <p:spPr>
          <a:xfrm>
            <a:off x="3415802"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8" name="Illustrative delivered road transport cost class 2; reference terminal Lesedi"/>
          <p:cNvSpPr/>
          <p:nvPr/>
        </p:nvSpPr>
        <p:spPr>
          <a:xfrm>
            <a:off x="3415802"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9" name="Illustrative delivered road transport cost class 2; reference terminal Lesedi"/>
          <p:cNvSpPr/>
          <p:nvPr/>
        </p:nvSpPr>
        <p:spPr>
          <a:xfrm>
            <a:off x="3415802"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0" name="Illustrative delivered road transport cost class 2; reference terminal Lesedi"/>
          <p:cNvSpPr/>
          <p:nvPr/>
        </p:nvSpPr>
        <p:spPr>
          <a:xfrm>
            <a:off x="3415802"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1" name="Illustrative delivered road transport cost class 2; reference terminal Lesedi"/>
          <p:cNvSpPr/>
          <p:nvPr/>
        </p:nvSpPr>
        <p:spPr>
          <a:xfrm>
            <a:off x="3415802"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2" name="Illustrative delivered road transport cost class 2; reference terminal Lesedi"/>
          <p:cNvSpPr/>
          <p:nvPr/>
        </p:nvSpPr>
        <p:spPr>
          <a:xfrm>
            <a:off x="3415802"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3" name="Illustrative delivered road transport cost class 3; reference terminal Lesedi"/>
          <p:cNvSpPr/>
          <p:nvPr/>
        </p:nvSpPr>
        <p:spPr>
          <a:xfrm>
            <a:off x="3415802"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4" name="Illustrative delivered road transport cost class None; reference terminal None"/>
          <p:cNvSpPr/>
          <p:nvPr/>
        </p:nvSpPr>
        <p:spPr>
          <a:xfrm>
            <a:off x="3415802"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5" name="Illustrative delivered road transport cost class None; reference terminal None"/>
          <p:cNvSpPr/>
          <p:nvPr/>
        </p:nvSpPr>
        <p:spPr>
          <a:xfrm>
            <a:off x="3415802"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6" name="Illustrative delivered road transport cost class None; reference terminal None"/>
          <p:cNvSpPr/>
          <p:nvPr/>
        </p:nvSpPr>
        <p:spPr>
          <a:xfrm>
            <a:off x="3415802" y="3190770"/>
            <a:ext cx="57686" cy="57686"/>
          </a:xfrm>
          <a:custGeom>
            <a:avLst/>
            <a:gdLst/>
            <a:ahLst/>
            <a:cxnLst/>
            <a:rect l="l" t="t" r="r" b="b"/>
            <a:pathLst>
              <a:path w="57686" h="57686">
                <a:moveTo>
                  <a:pt x="57686" y="57686"/>
                </a:moveTo>
                <a:lnTo>
                  <a:pt x="0" y="57686"/>
                </a:lnTo>
                <a:lnTo>
                  <a:pt x="0" y="0"/>
                </a:lnTo>
                <a:lnTo>
                  <a:pt x="39057" y="0"/>
                </a:lnTo>
                <a:lnTo>
                  <a:pt x="49542" y="3739"/>
                </a:lnTo>
                <a:lnTo>
                  <a:pt x="57686" y="425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7" name="Illustrative delivered road transport cost class None; reference terminal None"/>
          <p:cNvSpPr/>
          <p:nvPr/>
        </p:nvSpPr>
        <p:spPr>
          <a:xfrm>
            <a:off x="3415802" y="3161905"/>
            <a:ext cx="39057" cy="28865"/>
          </a:xfrm>
          <a:custGeom>
            <a:avLst/>
            <a:gdLst/>
            <a:ahLst/>
            <a:cxnLst/>
            <a:rect l="l" t="t" r="r" b="b"/>
            <a:pathLst>
              <a:path w="39057" h="28865">
                <a:moveTo>
                  <a:pt x="0" y="28865"/>
                </a:moveTo>
                <a:lnTo>
                  <a:pt x="0" y="0"/>
                </a:lnTo>
                <a:lnTo>
                  <a:pt x="15486" y="12099"/>
                </a:lnTo>
                <a:lnTo>
                  <a:pt x="31920" y="26320"/>
                </a:lnTo>
                <a:lnTo>
                  <a:pt x="39057" y="28865"/>
                </a:lnTo>
                <a:lnTo>
                  <a:pt x="0" y="2886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8" name="Illustrative delivered road transport cost class 3; reference terminal Durban"/>
          <p:cNvSpPr/>
          <p:nvPr/>
        </p:nvSpPr>
        <p:spPr>
          <a:xfrm>
            <a:off x="3473488" y="5325173"/>
            <a:ext cx="57687" cy="26403"/>
          </a:xfrm>
          <a:custGeom>
            <a:avLst/>
            <a:gdLst/>
            <a:ahLst/>
            <a:cxnLst/>
            <a:rect l="l" t="t" r="r" b="b"/>
            <a:pathLst>
              <a:path w="57687" h="26403">
                <a:moveTo>
                  <a:pt x="0" y="0"/>
                </a:moveTo>
                <a:lnTo>
                  <a:pt x="57687" y="0"/>
                </a:lnTo>
                <a:lnTo>
                  <a:pt x="57687" y="26403"/>
                </a:lnTo>
                <a:lnTo>
                  <a:pt x="56529" y="26029"/>
                </a:lnTo>
                <a:lnTo>
                  <a:pt x="0" y="1696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9" name="Illustrative delivered road transport cost class 3; reference terminal Durban"/>
          <p:cNvSpPr/>
          <p:nvPr/>
        </p:nvSpPr>
        <p:spPr>
          <a:xfrm>
            <a:off x="347348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0" name="Illustrative delivered road transport cost class 3; reference terminal Durban"/>
          <p:cNvSpPr/>
          <p:nvPr/>
        </p:nvSpPr>
        <p:spPr>
          <a:xfrm>
            <a:off x="347348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1" name="Illustrative delivered road transport cost class 3; reference terminal Durban"/>
          <p:cNvSpPr/>
          <p:nvPr/>
        </p:nvSpPr>
        <p:spPr>
          <a:xfrm>
            <a:off x="347348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2" name="Illustrative delivered road transport cost class 3; reference terminal Durban"/>
          <p:cNvSpPr/>
          <p:nvPr/>
        </p:nvSpPr>
        <p:spPr>
          <a:xfrm>
            <a:off x="347348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3" name="Illustrative delivered road transport cost class None; reference terminal None"/>
          <p:cNvSpPr/>
          <p:nvPr/>
        </p:nvSpPr>
        <p:spPr>
          <a:xfrm>
            <a:off x="347348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4" name="Illustrative delivered road transport cost class None; reference terminal None"/>
          <p:cNvSpPr/>
          <p:nvPr/>
        </p:nvSpPr>
        <p:spPr>
          <a:xfrm>
            <a:off x="347348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5" name="Illustrative delivered road transport cost class 3; reference terminal Lesedi"/>
          <p:cNvSpPr/>
          <p:nvPr/>
        </p:nvSpPr>
        <p:spPr>
          <a:xfrm>
            <a:off x="347348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6" name="Illustrative delivered road transport cost class 3; reference terminal Lesedi"/>
          <p:cNvSpPr/>
          <p:nvPr/>
        </p:nvSpPr>
        <p:spPr>
          <a:xfrm>
            <a:off x="347348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7" name="Illustrative delivered road transport cost class 3; reference terminal Lesedi"/>
          <p:cNvSpPr/>
          <p:nvPr/>
        </p:nvSpPr>
        <p:spPr>
          <a:xfrm>
            <a:off x="347348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8" name="Illustrative delivered road transport cost class 3; reference terminal Lesedi"/>
          <p:cNvSpPr/>
          <p:nvPr/>
        </p:nvSpPr>
        <p:spPr>
          <a:xfrm>
            <a:off x="347348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9" name="Illustrative delivered road transport cost class 2; reference terminal Lesedi"/>
          <p:cNvSpPr/>
          <p:nvPr/>
        </p:nvSpPr>
        <p:spPr>
          <a:xfrm>
            <a:off x="347348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0" name="Illustrative delivered road transport cost class 2; reference terminal Lesedi"/>
          <p:cNvSpPr/>
          <p:nvPr/>
        </p:nvSpPr>
        <p:spPr>
          <a:xfrm>
            <a:off x="347348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1" name="Illustrative delivered road transport cost class 2; reference terminal Lesedi"/>
          <p:cNvSpPr/>
          <p:nvPr/>
        </p:nvSpPr>
        <p:spPr>
          <a:xfrm>
            <a:off x="347348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2" name="Illustrative delivered road transport cost class 2; reference terminal Lesedi"/>
          <p:cNvSpPr/>
          <p:nvPr/>
        </p:nvSpPr>
        <p:spPr>
          <a:xfrm>
            <a:off x="347348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3" name="Illustrative delivered road transport cost class 2; reference terminal Lesedi"/>
          <p:cNvSpPr/>
          <p:nvPr/>
        </p:nvSpPr>
        <p:spPr>
          <a:xfrm>
            <a:off x="347348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4" name="Illustrative delivered road transport cost class 2; reference terminal Lesedi"/>
          <p:cNvSpPr/>
          <p:nvPr/>
        </p:nvSpPr>
        <p:spPr>
          <a:xfrm>
            <a:off x="347348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5" name="Illustrative delivered road transport cost class 2; reference terminal Lesedi"/>
          <p:cNvSpPr/>
          <p:nvPr/>
        </p:nvSpPr>
        <p:spPr>
          <a:xfrm>
            <a:off x="347348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6" name="Illustrative delivered road transport cost class 2; reference terminal Lesedi"/>
          <p:cNvSpPr/>
          <p:nvPr/>
        </p:nvSpPr>
        <p:spPr>
          <a:xfrm>
            <a:off x="347348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7" name="Illustrative delivered road transport cost class 2; reference terminal Lesedi"/>
          <p:cNvSpPr/>
          <p:nvPr/>
        </p:nvSpPr>
        <p:spPr>
          <a:xfrm>
            <a:off x="347348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8" name="Illustrative delivered road transport cost class 2; reference terminal Lesedi"/>
          <p:cNvSpPr/>
          <p:nvPr/>
        </p:nvSpPr>
        <p:spPr>
          <a:xfrm>
            <a:off x="347348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9" name="Illustrative delivered road transport cost class 2; reference terminal Lesedi"/>
          <p:cNvSpPr/>
          <p:nvPr/>
        </p:nvSpPr>
        <p:spPr>
          <a:xfrm>
            <a:off x="347348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0" name="Illustrative delivered road transport cost class 2; reference terminal Lesedi"/>
          <p:cNvSpPr/>
          <p:nvPr/>
        </p:nvSpPr>
        <p:spPr>
          <a:xfrm>
            <a:off x="347348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1" name="Illustrative delivered road transport cost class 2; reference terminal Lesedi"/>
          <p:cNvSpPr/>
          <p:nvPr/>
        </p:nvSpPr>
        <p:spPr>
          <a:xfrm>
            <a:off x="347348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2" name="Illustrative delivered road transport cost class 2; reference terminal Lesedi"/>
          <p:cNvSpPr/>
          <p:nvPr/>
        </p:nvSpPr>
        <p:spPr>
          <a:xfrm>
            <a:off x="347348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3" name="Illustrative delivered road transport cost class 2; reference terminal Lesedi"/>
          <p:cNvSpPr/>
          <p:nvPr/>
        </p:nvSpPr>
        <p:spPr>
          <a:xfrm>
            <a:off x="347348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4" name="Illustrative delivered road transport cost class 2; reference terminal Lesedi"/>
          <p:cNvSpPr/>
          <p:nvPr/>
        </p:nvSpPr>
        <p:spPr>
          <a:xfrm>
            <a:off x="347348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5" name="Illustrative delivered road transport cost class 2; reference terminal Lesedi"/>
          <p:cNvSpPr/>
          <p:nvPr/>
        </p:nvSpPr>
        <p:spPr>
          <a:xfrm>
            <a:off x="347348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6" name="Illustrative delivered road transport cost class 2; reference terminal Lesedi"/>
          <p:cNvSpPr/>
          <p:nvPr/>
        </p:nvSpPr>
        <p:spPr>
          <a:xfrm>
            <a:off x="347348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7" name="Illustrative delivered road transport cost class 2; reference terminal Lesedi"/>
          <p:cNvSpPr/>
          <p:nvPr/>
        </p:nvSpPr>
        <p:spPr>
          <a:xfrm>
            <a:off x="347348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8" name="Illustrative delivered road transport cost class 2; reference terminal Lesedi"/>
          <p:cNvSpPr/>
          <p:nvPr/>
        </p:nvSpPr>
        <p:spPr>
          <a:xfrm>
            <a:off x="347348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9" name="Illustrative delivered road transport cost class 2; reference terminal Lesedi"/>
          <p:cNvSpPr/>
          <p:nvPr/>
        </p:nvSpPr>
        <p:spPr>
          <a:xfrm>
            <a:off x="347348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0" name="Illustrative delivered road transport cost class 2; reference terminal Lesedi"/>
          <p:cNvSpPr/>
          <p:nvPr/>
        </p:nvSpPr>
        <p:spPr>
          <a:xfrm>
            <a:off x="347348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1" name="Illustrative delivered road transport cost class 2; reference terminal Lesedi"/>
          <p:cNvSpPr/>
          <p:nvPr/>
        </p:nvSpPr>
        <p:spPr>
          <a:xfrm>
            <a:off x="347348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2" name="Illustrative delivered road transport cost class 2; reference terminal Lesedi"/>
          <p:cNvSpPr/>
          <p:nvPr/>
        </p:nvSpPr>
        <p:spPr>
          <a:xfrm>
            <a:off x="347348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3" name="Illustrative delivered road transport cost class None; reference terminal None"/>
          <p:cNvSpPr/>
          <p:nvPr/>
        </p:nvSpPr>
        <p:spPr>
          <a:xfrm>
            <a:off x="347348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4" name="Illustrative delivered road transport cost class None; reference terminal None"/>
          <p:cNvSpPr/>
          <p:nvPr/>
        </p:nvSpPr>
        <p:spPr>
          <a:xfrm>
            <a:off x="347348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5" name="Illustrative delivered road transport cost class None; reference terminal None"/>
          <p:cNvSpPr/>
          <p:nvPr/>
        </p:nvSpPr>
        <p:spPr>
          <a:xfrm>
            <a:off x="3473488" y="3195029"/>
            <a:ext cx="57687" cy="53427"/>
          </a:xfrm>
          <a:custGeom>
            <a:avLst/>
            <a:gdLst/>
            <a:ahLst/>
            <a:cxnLst/>
            <a:rect l="l" t="t" r="r" b="b"/>
            <a:pathLst>
              <a:path w="57687" h="53427">
                <a:moveTo>
                  <a:pt x="57687" y="53427"/>
                </a:moveTo>
                <a:lnTo>
                  <a:pt x="0" y="53427"/>
                </a:lnTo>
                <a:lnTo>
                  <a:pt x="0" y="0"/>
                </a:lnTo>
                <a:lnTo>
                  <a:pt x="23158" y="1479"/>
                </a:lnTo>
                <a:lnTo>
                  <a:pt x="43665" y="837"/>
                </a:lnTo>
                <a:lnTo>
                  <a:pt x="57687" y="13049"/>
                </a:lnTo>
                <a:lnTo>
                  <a:pt x="57687" y="5342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6" name="Illustrative delivered road transport cost class 3; reference terminal Durban"/>
          <p:cNvSpPr/>
          <p:nvPr/>
        </p:nvSpPr>
        <p:spPr>
          <a:xfrm>
            <a:off x="3531175" y="5325173"/>
            <a:ext cx="57686" cy="45016"/>
          </a:xfrm>
          <a:custGeom>
            <a:avLst/>
            <a:gdLst/>
            <a:ahLst/>
            <a:cxnLst/>
            <a:rect l="l" t="t" r="r" b="b"/>
            <a:pathLst>
              <a:path w="57686" h="45016">
                <a:moveTo>
                  <a:pt x="0" y="0"/>
                </a:moveTo>
                <a:lnTo>
                  <a:pt x="57686" y="0"/>
                </a:lnTo>
                <a:lnTo>
                  <a:pt x="57686" y="45016"/>
                </a:lnTo>
                <a:lnTo>
                  <a:pt x="0" y="26403"/>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7" name="Illustrative delivered road transport cost class 3; reference terminal Durban"/>
          <p:cNvSpPr/>
          <p:nvPr/>
        </p:nvSpPr>
        <p:spPr>
          <a:xfrm>
            <a:off x="3531175"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8" name="Illustrative delivered road transport cost class 3; reference terminal Durban"/>
          <p:cNvSpPr/>
          <p:nvPr/>
        </p:nvSpPr>
        <p:spPr>
          <a:xfrm>
            <a:off x="353117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9" name="Illustrative delivered road transport cost class 3; reference terminal Durban"/>
          <p:cNvSpPr/>
          <p:nvPr/>
        </p:nvSpPr>
        <p:spPr>
          <a:xfrm>
            <a:off x="353117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0" name="Illustrative delivered road transport cost class 3; reference terminal Durban"/>
          <p:cNvSpPr/>
          <p:nvPr/>
        </p:nvSpPr>
        <p:spPr>
          <a:xfrm>
            <a:off x="353117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1" name="Illustrative delivered road transport cost class None; reference terminal None"/>
          <p:cNvSpPr/>
          <p:nvPr/>
        </p:nvSpPr>
        <p:spPr>
          <a:xfrm>
            <a:off x="353117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2" name="Illustrative delivered road transport cost class None; reference terminal None"/>
          <p:cNvSpPr/>
          <p:nvPr/>
        </p:nvSpPr>
        <p:spPr>
          <a:xfrm>
            <a:off x="353117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3" name="Illustrative delivered road transport cost class None; reference terminal None"/>
          <p:cNvSpPr/>
          <p:nvPr/>
        </p:nvSpPr>
        <p:spPr>
          <a:xfrm>
            <a:off x="353117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4" name="Illustrative delivered road transport cost class 3; reference terminal Lesedi"/>
          <p:cNvSpPr/>
          <p:nvPr/>
        </p:nvSpPr>
        <p:spPr>
          <a:xfrm>
            <a:off x="353117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5" name="Illustrative delivered road transport cost class 3; reference terminal Lesedi"/>
          <p:cNvSpPr/>
          <p:nvPr/>
        </p:nvSpPr>
        <p:spPr>
          <a:xfrm>
            <a:off x="353117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6" name="Illustrative delivered road transport cost class 3; reference terminal Lesedi"/>
          <p:cNvSpPr/>
          <p:nvPr/>
        </p:nvSpPr>
        <p:spPr>
          <a:xfrm>
            <a:off x="353117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7" name="Illustrative delivered road transport cost class 2; reference terminal Lesedi"/>
          <p:cNvSpPr/>
          <p:nvPr/>
        </p:nvSpPr>
        <p:spPr>
          <a:xfrm>
            <a:off x="353117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8" name="Illustrative delivered road transport cost class 2; reference terminal Lesedi"/>
          <p:cNvSpPr/>
          <p:nvPr/>
        </p:nvSpPr>
        <p:spPr>
          <a:xfrm>
            <a:off x="353117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9" name="Illustrative delivered road transport cost class 2; reference terminal Lesedi"/>
          <p:cNvSpPr/>
          <p:nvPr/>
        </p:nvSpPr>
        <p:spPr>
          <a:xfrm>
            <a:off x="353117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0" name="Illustrative delivered road transport cost class 2; reference terminal Lesedi"/>
          <p:cNvSpPr/>
          <p:nvPr/>
        </p:nvSpPr>
        <p:spPr>
          <a:xfrm>
            <a:off x="353117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1" name="Illustrative delivered road transport cost class 2; reference terminal Lesedi"/>
          <p:cNvSpPr/>
          <p:nvPr/>
        </p:nvSpPr>
        <p:spPr>
          <a:xfrm>
            <a:off x="353117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2" name="Illustrative delivered road transport cost class 2; reference terminal Lesedi"/>
          <p:cNvSpPr/>
          <p:nvPr/>
        </p:nvSpPr>
        <p:spPr>
          <a:xfrm>
            <a:off x="353117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3" name="Illustrative delivered road transport cost class 2; reference terminal Lesedi"/>
          <p:cNvSpPr/>
          <p:nvPr/>
        </p:nvSpPr>
        <p:spPr>
          <a:xfrm>
            <a:off x="353117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4" name="Illustrative delivered road transport cost class 2; reference terminal Lesedi"/>
          <p:cNvSpPr/>
          <p:nvPr/>
        </p:nvSpPr>
        <p:spPr>
          <a:xfrm>
            <a:off x="353117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5" name="Illustrative delivered road transport cost class 2; reference terminal Lesedi"/>
          <p:cNvSpPr/>
          <p:nvPr/>
        </p:nvSpPr>
        <p:spPr>
          <a:xfrm>
            <a:off x="353117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6" name="Illustrative delivered road transport cost class 2; reference terminal Lesedi"/>
          <p:cNvSpPr/>
          <p:nvPr/>
        </p:nvSpPr>
        <p:spPr>
          <a:xfrm>
            <a:off x="353117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7" name="Illustrative delivered road transport cost class 2; reference terminal Lesedi"/>
          <p:cNvSpPr/>
          <p:nvPr/>
        </p:nvSpPr>
        <p:spPr>
          <a:xfrm>
            <a:off x="353117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8" name="Illustrative delivered road transport cost class 1; reference terminal Lesedi"/>
          <p:cNvSpPr/>
          <p:nvPr/>
        </p:nvSpPr>
        <p:spPr>
          <a:xfrm>
            <a:off x="353117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9" name="Illustrative delivered road transport cost class 1; reference terminal Lesedi"/>
          <p:cNvSpPr/>
          <p:nvPr/>
        </p:nvSpPr>
        <p:spPr>
          <a:xfrm>
            <a:off x="353117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0" name="Illustrative delivered road transport cost class 1; reference terminal Lesedi"/>
          <p:cNvSpPr/>
          <p:nvPr/>
        </p:nvSpPr>
        <p:spPr>
          <a:xfrm>
            <a:off x="353117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1" name="Illustrative delivered road transport cost class 1; reference terminal Lesedi"/>
          <p:cNvSpPr/>
          <p:nvPr/>
        </p:nvSpPr>
        <p:spPr>
          <a:xfrm>
            <a:off x="353117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2" name="Illustrative delivered road transport cost class 1; reference terminal Lesedi"/>
          <p:cNvSpPr/>
          <p:nvPr/>
        </p:nvSpPr>
        <p:spPr>
          <a:xfrm>
            <a:off x="353117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3" name="Illustrative delivered road transport cost class 1; reference terminal Lesedi"/>
          <p:cNvSpPr/>
          <p:nvPr/>
        </p:nvSpPr>
        <p:spPr>
          <a:xfrm>
            <a:off x="353117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4" name="Illustrative delivered road transport cost class 1; reference terminal Lesedi"/>
          <p:cNvSpPr/>
          <p:nvPr/>
        </p:nvSpPr>
        <p:spPr>
          <a:xfrm>
            <a:off x="353117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5" name="Illustrative delivered road transport cost class 2; reference terminal Lesedi"/>
          <p:cNvSpPr/>
          <p:nvPr/>
        </p:nvSpPr>
        <p:spPr>
          <a:xfrm>
            <a:off x="353117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6" name="Illustrative delivered road transport cost class 2; reference terminal Lesedi"/>
          <p:cNvSpPr/>
          <p:nvPr/>
        </p:nvSpPr>
        <p:spPr>
          <a:xfrm>
            <a:off x="353117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7" name="Illustrative delivered road transport cost class 2; reference terminal Lesedi"/>
          <p:cNvSpPr/>
          <p:nvPr/>
        </p:nvSpPr>
        <p:spPr>
          <a:xfrm>
            <a:off x="353117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8" name="Illustrative delivered road transport cost class 2; reference terminal Lesedi"/>
          <p:cNvSpPr/>
          <p:nvPr/>
        </p:nvSpPr>
        <p:spPr>
          <a:xfrm>
            <a:off x="353117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9" name="Illustrative delivered road transport cost class 2; reference terminal Lesedi"/>
          <p:cNvSpPr/>
          <p:nvPr/>
        </p:nvSpPr>
        <p:spPr>
          <a:xfrm>
            <a:off x="353117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0" name="Illustrative delivered road transport cost class 2; reference terminal Lesedi"/>
          <p:cNvSpPr/>
          <p:nvPr/>
        </p:nvSpPr>
        <p:spPr>
          <a:xfrm>
            <a:off x="353117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1" name="Illustrative delivered road transport cost class 2; reference terminal Lesedi"/>
          <p:cNvSpPr/>
          <p:nvPr/>
        </p:nvSpPr>
        <p:spPr>
          <a:xfrm>
            <a:off x="353117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2" name="Illustrative delivered road transport cost class 3; reference terminal Lesedi"/>
          <p:cNvSpPr/>
          <p:nvPr/>
        </p:nvSpPr>
        <p:spPr>
          <a:xfrm>
            <a:off x="353117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3" name="Illustrative delivered road transport cost class None; reference terminal None"/>
          <p:cNvSpPr/>
          <p:nvPr/>
        </p:nvSpPr>
        <p:spPr>
          <a:xfrm>
            <a:off x="3531175" y="3208078"/>
            <a:ext cx="57686" cy="40378"/>
          </a:xfrm>
          <a:custGeom>
            <a:avLst/>
            <a:gdLst/>
            <a:ahLst/>
            <a:cxnLst/>
            <a:rect l="l" t="t" r="r" b="b"/>
            <a:pathLst>
              <a:path w="57686" h="40378">
                <a:moveTo>
                  <a:pt x="57686" y="40378"/>
                </a:moveTo>
                <a:lnTo>
                  <a:pt x="0" y="40378"/>
                </a:lnTo>
                <a:lnTo>
                  <a:pt x="0" y="0"/>
                </a:lnTo>
                <a:lnTo>
                  <a:pt x="18020" y="15694"/>
                </a:lnTo>
                <a:lnTo>
                  <a:pt x="34154" y="17382"/>
                </a:lnTo>
                <a:lnTo>
                  <a:pt x="57686" y="22831"/>
                </a:lnTo>
                <a:lnTo>
                  <a:pt x="57686" y="4037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4" name="Illustrative delivered road transport cost class 3; reference terminal Durban"/>
          <p:cNvSpPr/>
          <p:nvPr/>
        </p:nvSpPr>
        <p:spPr>
          <a:xfrm>
            <a:off x="3588861" y="5325173"/>
            <a:ext cx="57687" cy="54447"/>
          </a:xfrm>
          <a:custGeom>
            <a:avLst/>
            <a:gdLst/>
            <a:ahLst/>
            <a:cxnLst/>
            <a:rect l="l" t="t" r="r" b="b"/>
            <a:pathLst>
              <a:path w="57687" h="54447">
                <a:moveTo>
                  <a:pt x="0" y="0"/>
                </a:moveTo>
                <a:lnTo>
                  <a:pt x="57687" y="0"/>
                </a:lnTo>
                <a:lnTo>
                  <a:pt x="57687" y="53554"/>
                </a:lnTo>
                <a:lnTo>
                  <a:pt x="29228" y="54447"/>
                </a:lnTo>
                <a:lnTo>
                  <a:pt x="0" y="4501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5" name="Illustrative delivered road transport cost class 3; reference terminal Durban"/>
          <p:cNvSpPr/>
          <p:nvPr/>
        </p:nvSpPr>
        <p:spPr>
          <a:xfrm>
            <a:off x="358886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6" name="Illustrative delivered road transport cost class 3; reference terminal Durban"/>
          <p:cNvSpPr/>
          <p:nvPr/>
        </p:nvSpPr>
        <p:spPr>
          <a:xfrm>
            <a:off x="358886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7" name="Illustrative delivered road transport cost class 3; reference terminal Durban"/>
          <p:cNvSpPr/>
          <p:nvPr/>
        </p:nvSpPr>
        <p:spPr>
          <a:xfrm>
            <a:off x="358886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8" name="Illustrative delivered road transport cost class 3; reference terminal Durban"/>
          <p:cNvSpPr/>
          <p:nvPr/>
        </p:nvSpPr>
        <p:spPr>
          <a:xfrm>
            <a:off x="358886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9" name="Illustrative delivered road transport cost class 4; reference terminal Lesedi"/>
          <p:cNvSpPr/>
          <p:nvPr/>
        </p:nvSpPr>
        <p:spPr>
          <a:xfrm>
            <a:off x="358886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0" name="Illustrative delivered road transport cost class 3; reference terminal Lesedi"/>
          <p:cNvSpPr/>
          <p:nvPr/>
        </p:nvSpPr>
        <p:spPr>
          <a:xfrm>
            <a:off x="358886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1" name="Illustrative delivered road transport cost class 3; reference terminal Lesedi"/>
          <p:cNvSpPr/>
          <p:nvPr/>
        </p:nvSpPr>
        <p:spPr>
          <a:xfrm>
            <a:off x="358886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2" name="Illustrative delivered road transport cost class 3; reference terminal Lesedi"/>
          <p:cNvSpPr/>
          <p:nvPr/>
        </p:nvSpPr>
        <p:spPr>
          <a:xfrm>
            <a:off x="358886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3" name="Illustrative delivered road transport cost class 3; reference terminal Lesedi"/>
          <p:cNvSpPr/>
          <p:nvPr/>
        </p:nvSpPr>
        <p:spPr>
          <a:xfrm>
            <a:off x="358886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4" name="Illustrative delivered road transport cost class 3; reference terminal Lesedi"/>
          <p:cNvSpPr/>
          <p:nvPr/>
        </p:nvSpPr>
        <p:spPr>
          <a:xfrm>
            <a:off x="358886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5" name="Illustrative delivered road transport cost class 2; reference terminal Lesedi"/>
          <p:cNvSpPr/>
          <p:nvPr/>
        </p:nvSpPr>
        <p:spPr>
          <a:xfrm>
            <a:off x="358886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6" name="Illustrative delivered road transport cost class 2; reference terminal Lesedi"/>
          <p:cNvSpPr/>
          <p:nvPr/>
        </p:nvSpPr>
        <p:spPr>
          <a:xfrm>
            <a:off x="358886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7" name="Illustrative delivered road transport cost class 2; reference terminal Lesedi"/>
          <p:cNvSpPr/>
          <p:nvPr/>
        </p:nvSpPr>
        <p:spPr>
          <a:xfrm>
            <a:off x="358886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8" name="Illustrative delivered road transport cost class 2; reference terminal Lesedi"/>
          <p:cNvSpPr/>
          <p:nvPr/>
        </p:nvSpPr>
        <p:spPr>
          <a:xfrm>
            <a:off x="358886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9" name="Illustrative delivered road transport cost class 2; reference terminal Lesedi"/>
          <p:cNvSpPr/>
          <p:nvPr/>
        </p:nvSpPr>
        <p:spPr>
          <a:xfrm>
            <a:off x="358886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0" name="Illustrative delivered road transport cost class 2; reference terminal Lesedi"/>
          <p:cNvSpPr/>
          <p:nvPr/>
        </p:nvSpPr>
        <p:spPr>
          <a:xfrm>
            <a:off x="358886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1" name="Illustrative delivered road transport cost class 2; reference terminal Lesedi"/>
          <p:cNvSpPr/>
          <p:nvPr/>
        </p:nvSpPr>
        <p:spPr>
          <a:xfrm>
            <a:off x="358886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2" name="Illustrative delivered road transport cost class 2; reference terminal Lesedi"/>
          <p:cNvSpPr/>
          <p:nvPr/>
        </p:nvSpPr>
        <p:spPr>
          <a:xfrm>
            <a:off x="358886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3" name="Illustrative delivered road transport cost class 2; reference terminal Lesedi"/>
          <p:cNvSpPr/>
          <p:nvPr/>
        </p:nvSpPr>
        <p:spPr>
          <a:xfrm>
            <a:off x="358886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4" name="Illustrative delivered road transport cost class 2; reference terminal Lesedi"/>
          <p:cNvSpPr/>
          <p:nvPr/>
        </p:nvSpPr>
        <p:spPr>
          <a:xfrm>
            <a:off x="358886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5" name="Illustrative delivered road transport cost class 2; reference terminal Lesedi"/>
          <p:cNvSpPr/>
          <p:nvPr/>
        </p:nvSpPr>
        <p:spPr>
          <a:xfrm>
            <a:off x="358886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6" name="Illustrative delivered road transport cost class 1; reference terminal Lesedi"/>
          <p:cNvSpPr/>
          <p:nvPr/>
        </p:nvSpPr>
        <p:spPr>
          <a:xfrm>
            <a:off x="358886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7" name="Illustrative delivered road transport cost class 1; reference terminal Lesedi"/>
          <p:cNvSpPr/>
          <p:nvPr/>
        </p:nvSpPr>
        <p:spPr>
          <a:xfrm>
            <a:off x="358886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8" name="Illustrative delivered road transport cost class 1; reference terminal Lesedi"/>
          <p:cNvSpPr/>
          <p:nvPr/>
        </p:nvSpPr>
        <p:spPr>
          <a:xfrm>
            <a:off x="358886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9" name="Illustrative delivered road transport cost class 1; reference terminal Lesedi"/>
          <p:cNvSpPr/>
          <p:nvPr/>
        </p:nvSpPr>
        <p:spPr>
          <a:xfrm>
            <a:off x="358886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0" name="Illustrative delivered road transport cost class 1; reference terminal Lesedi"/>
          <p:cNvSpPr/>
          <p:nvPr/>
        </p:nvSpPr>
        <p:spPr>
          <a:xfrm>
            <a:off x="358886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1" name="Illustrative delivered road transport cost class 1; reference terminal Lesedi"/>
          <p:cNvSpPr/>
          <p:nvPr/>
        </p:nvSpPr>
        <p:spPr>
          <a:xfrm>
            <a:off x="358886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2" name="Illustrative delivered road transport cost class 1; reference terminal Lesedi"/>
          <p:cNvSpPr/>
          <p:nvPr/>
        </p:nvSpPr>
        <p:spPr>
          <a:xfrm>
            <a:off x="358886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3" name="Illustrative delivered road transport cost class 1; reference terminal Lesedi"/>
          <p:cNvSpPr/>
          <p:nvPr/>
        </p:nvSpPr>
        <p:spPr>
          <a:xfrm>
            <a:off x="358886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4" name="Illustrative delivered road transport cost class 2; reference terminal Lesedi"/>
          <p:cNvSpPr/>
          <p:nvPr/>
        </p:nvSpPr>
        <p:spPr>
          <a:xfrm>
            <a:off x="358886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5" name="Illustrative delivered road transport cost class 2; reference terminal Lesedi"/>
          <p:cNvSpPr/>
          <p:nvPr/>
        </p:nvSpPr>
        <p:spPr>
          <a:xfrm>
            <a:off x="358886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6" name="Illustrative delivered road transport cost class 2; reference terminal Lesedi"/>
          <p:cNvSpPr/>
          <p:nvPr/>
        </p:nvSpPr>
        <p:spPr>
          <a:xfrm>
            <a:off x="358886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7" name="Illustrative delivered road transport cost class 2; reference terminal Lesedi"/>
          <p:cNvSpPr/>
          <p:nvPr/>
        </p:nvSpPr>
        <p:spPr>
          <a:xfrm>
            <a:off x="358886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8" name="Illustrative delivered road transport cost class 2; reference terminal Lesedi"/>
          <p:cNvSpPr/>
          <p:nvPr/>
        </p:nvSpPr>
        <p:spPr>
          <a:xfrm>
            <a:off x="358886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9" name="Illustrative delivered road transport cost class 2; reference terminal Lesedi"/>
          <p:cNvSpPr/>
          <p:nvPr/>
        </p:nvSpPr>
        <p:spPr>
          <a:xfrm>
            <a:off x="358886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0" name="Illustrative delivered road transport cost class 3; reference terminal Lesedi"/>
          <p:cNvSpPr/>
          <p:nvPr/>
        </p:nvSpPr>
        <p:spPr>
          <a:xfrm>
            <a:off x="358886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1" name="Illustrative delivered road transport cost class 3; reference terminal Lesedi"/>
          <p:cNvSpPr/>
          <p:nvPr/>
        </p:nvSpPr>
        <p:spPr>
          <a:xfrm>
            <a:off x="3588861" y="3230909"/>
            <a:ext cx="57687" cy="17547"/>
          </a:xfrm>
          <a:custGeom>
            <a:avLst/>
            <a:gdLst/>
            <a:ahLst/>
            <a:cxnLst/>
            <a:rect l="l" t="t" r="r" b="b"/>
            <a:pathLst>
              <a:path w="57687" h="17547">
                <a:moveTo>
                  <a:pt x="57687" y="17547"/>
                </a:moveTo>
                <a:lnTo>
                  <a:pt x="0" y="17547"/>
                </a:lnTo>
                <a:lnTo>
                  <a:pt x="0" y="0"/>
                </a:lnTo>
                <a:lnTo>
                  <a:pt x="12547" y="2906"/>
                </a:lnTo>
                <a:lnTo>
                  <a:pt x="57082" y="11538"/>
                </a:lnTo>
                <a:lnTo>
                  <a:pt x="57687" y="11516"/>
                </a:lnTo>
                <a:lnTo>
                  <a:pt x="57687" y="1754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2" name="Illustrative delivered road transport cost class 3; reference terminal Durban"/>
          <p:cNvSpPr/>
          <p:nvPr/>
        </p:nvSpPr>
        <p:spPr>
          <a:xfrm>
            <a:off x="3646548" y="5325173"/>
            <a:ext cx="57687" cy="53554"/>
          </a:xfrm>
          <a:custGeom>
            <a:avLst/>
            <a:gdLst/>
            <a:ahLst/>
            <a:cxnLst/>
            <a:rect l="l" t="t" r="r" b="b"/>
            <a:pathLst>
              <a:path w="57687" h="53554">
                <a:moveTo>
                  <a:pt x="0" y="0"/>
                </a:moveTo>
                <a:lnTo>
                  <a:pt x="57687" y="0"/>
                </a:lnTo>
                <a:lnTo>
                  <a:pt x="57687" y="3597"/>
                </a:lnTo>
                <a:lnTo>
                  <a:pt x="37549" y="24965"/>
                </a:lnTo>
                <a:lnTo>
                  <a:pt x="20872" y="52899"/>
                </a:lnTo>
                <a:lnTo>
                  <a:pt x="0" y="53554"/>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3" name="Illustrative delivered road transport cost class 3; reference terminal Durban"/>
          <p:cNvSpPr/>
          <p:nvPr/>
        </p:nvSpPr>
        <p:spPr>
          <a:xfrm>
            <a:off x="364654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4" name="Illustrative delivered road transport cost class 3; reference terminal Durban"/>
          <p:cNvSpPr/>
          <p:nvPr/>
        </p:nvSpPr>
        <p:spPr>
          <a:xfrm>
            <a:off x="364654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5" name="Illustrative delivered road transport cost class 3; reference terminal Durban"/>
          <p:cNvSpPr/>
          <p:nvPr/>
        </p:nvSpPr>
        <p:spPr>
          <a:xfrm>
            <a:off x="364654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6" name="Illustrative delivered road transport cost class 3; reference terminal Durban"/>
          <p:cNvSpPr/>
          <p:nvPr/>
        </p:nvSpPr>
        <p:spPr>
          <a:xfrm>
            <a:off x="364654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7" name="Illustrative delivered road transport cost class 3; reference terminal Lesedi"/>
          <p:cNvSpPr/>
          <p:nvPr/>
        </p:nvSpPr>
        <p:spPr>
          <a:xfrm>
            <a:off x="364654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8" name="Illustrative delivered road transport cost class 3; reference terminal Lesedi"/>
          <p:cNvSpPr/>
          <p:nvPr/>
        </p:nvSpPr>
        <p:spPr>
          <a:xfrm>
            <a:off x="364654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9" name="Illustrative delivered road transport cost class 3; reference terminal Lesedi"/>
          <p:cNvSpPr/>
          <p:nvPr/>
        </p:nvSpPr>
        <p:spPr>
          <a:xfrm>
            <a:off x="364654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0" name="Illustrative delivered road transport cost class 3; reference terminal Lesedi"/>
          <p:cNvSpPr/>
          <p:nvPr/>
        </p:nvSpPr>
        <p:spPr>
          <a:xfrm>
            <a:off x="364654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1" name="Illustrative delivered road transport cost class 3; reference terminal Lesedi"/>
          <p:cNvSpPr/>
          <p:nvPr/>
        </p:nvSpPr>
        <p:spPr>
          <a:xfrm>
            <a:off x="364654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2" name="Illustrative delivered road transport cost class 3; reference terminal Lesedi"/>
          <p:cNvSpPr/>
          <p:nvPr/>
        </p:nvSpPr>
        <p:spPr>
          <a:xfrm>
            <a:off x="364654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3" name="Illustrative delivered road transport cost class 2; reference terminal Lesedi"/>
          <p:cNvSpPr/>
          <p:nvPr/>
        </p:nvSpPr>
        <p:spPr>
          <a:xfrm>
            <a:off x="364654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4" name="Illustrative delivered road transport cost class 2; reference terminal Lesedi"/>
          <p:cNvSpPr/>
          <p:nvPr/>
        </p:nvSpPr>
        <p:spPr>
          <a:xfrm>
            <a:off x="364654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5" name="Illustrative delivered road transport cost class 2; reference terminal Lesedi"/>
          <p:cNvSpPr/>
          <p:nvPr/>
        </p:nvSpPr>
        <p:spPr>
          <a:xfrm>
            <a:off x="364654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6" name="Illustrative delivered road transport cost class 2; reference terminal Lesedi"/>
          <p:cNvSpPr/>
          <p:nvPr/>
        </p:nvSpPr>
        <p:spPr>
          <a:xfrm>
            <a:off x="364654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7" name="Illustrative delivered road transport cost class 2; reference terminal Lesedi"/>
          <p:cNvSpPr/>
          <p:nvPr/>
        </p:nvSpPr>
        <p:spPr>
          <a:xfrm>
            <a:off x="364654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8" name="Illustrative delivered road transport cost class 2; reference terminal Lesedi"/>
          <p:cNvSpPr/>
          <p:nvPr/>
        </p:nvSpPr>
        <p:spPr>
          <a:xfrm>
            <a:off x="364654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9" name="Illustrative delivered road transport cost class 2; reference terminal Lesedi"/>
          <p:cNvSpPr/>
          <p:nvPr/>
        </p:nvSpPr>
        <p:spPr>
          <a:xfrm>
            <a:off x="364654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0" name="Illustrative delivered road transport cost class 2; reference terminal Lesedi"/>
          <p:cNvSpPr/>
          <p:nvPr/>
        </p:nvSpPr>
        <p:spPr>
          <a:xfrm>
            <a:off x="364654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1" name="Illustrative delivered road transport cost class 2; reference terminal Lesedi"/>
          <p:cNvSpPr/>
          <p:nvPr/>
        </p:nvSpPr>
        <p:spPr>
          <a:xfrm>
            <a:off x="364654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2" name="Illustrative delivered road transport cost class 2; reference terminal Lesedi"/>
          <p:cNvSpPr/>
          <p:nvPr/>
        </p:nvSpPr>
        <p:spPr>
          <a:xfrm>
            <a:off x="364654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3" name="Illustrative delivered road transport cost class 2; reference terminal Lesedi"/>
          <p:cNvSpPr/>
          <p:nvPr/>
        </p:nvSpPr>
        <p:spPr>
          <a:xfrm>
            <a:off x="364654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4" name="Illustrative delivered road transport cost class 1; reference terminal Lesedi"/>
          <p:cNvSpPr/>
          <p:nvPr/>
        </p:nvSpPr>
        <p:spPr>
          <a:xfrm>
            <a:off x="364654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5" name="Illustrative delivered road transport cost class 1; reference terminal Lesedi"/>
          <p:cNvSpPr/>
          <p:nvPr/>
        </p:nvSpPr>
        <p:spPr>
          <a:xfrm>
            <a:off x="364654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6" name="Illustrative delivered road transport cost class 1; reference terminal Lesedi"/>
          <p:cNvSpPr/>
          <p:nvPr/>
        </p:nvSpPr>
        <p:spPr>
          <a:xfrm>
            <a:off x="364654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7" name="Illustrative delivered road transport cost class 1; reference terminal Lesedi"/>
          <p:cNvSpPr/>
          <p:nvPr/>
        </p:nvSpPr>
        <p:spPr>
          <a:xfrm>
            <a:off x="364654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8" name="Illustrative delivered road transport cost class 1; reference terminal Lesedi"/>
          <p:cNvSpPr/>
          <p:nvPr/>
        </p:nvSpPr>
        <p:spPr>
          <a:xfrm>
            <a:off x="364654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9" name="Illustrative delivered road transport cost class 1; reference terminal Lesedi"/>
          <p:cNvSpPr/>
          <p:nvPr/>
        </p:nvSpPr>
        <p:spPr>
          <a:xfrm>
            <a:off x="364654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0" name="Illustrative delivered road transport cost class 1; reference terminal Lesedi"/>
          <p:cNvSpPr/>
          <p:nvPr/>
        </p:nvSpPr>
        <p:spPr>
          <a:xfrm>
            <a:off x="364654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1" name="Illustrative delivered road transport cost class 1; reference terminal Lesedi"/>
          <p:cNvSpPr/>
          <p:nvPr/>
        </p:nvSpPr>
        <p:spPr>
          <a:xfrm>
            <a:off x="364654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2" name="Illustrative delivered road transport cost class 1; reference terminal Lesedi"/>
          <p:cNvSpPr/>
          <p:nvPr/>
        </p:nvSpPr>
        <p:spPr>
          <a:xfrm>
            <a:off x="364654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3" name="Illustrative delivered road transport cost class 1; reference terminal Lesedi"/>
          <p:cNvSpPr/>
          <p:nvPr/>
        </p:nvSpPr>
        <p:spPr>
          <a:xfrm>
            <a:off x="364654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4" name="Illustrative delivered road transport cost class 2; reference terminal Lesedi"/>
          <p:cNvSpPr/>
          <p:nvPr/>
        </p:nvSpPr>
        <p:spPr>
          <a:xfrm>
            <a:off x="364654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5" name="Illustrative delivered road transport cost class 2; reference terminal Lesedi"/>
          <p:cNvSpPr/>
          <p:nvPr/>
        </p:nvSpPr>
        <p:spPr>
          <a:xfrm>
            <a:off x="364654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6" name="Illustrative delivered road transport cost class 2; reference terminal Lesedi"/>
          <p:cNvSpPr/>
          <p:nvPr/>
        </p:nvSpPr>
        <p:spPr>
          <a:xfrm>
            <a:off x="364654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7" name="Illustrative delivered road transport cost class 2; reference terminal Lesedi"/>
          <p:cNvSpPr/>
          <p:nvPr/>
        </p:nvSpPr>
        <p:spPr>
          <a:xfrm>
            <a:off x="364654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8" name="Illustrative delivered road transport cost class 3; reference terminal Lesedi"/>
          <p:cNvSpPr/>
          <p:nvPr/>
        </p:nvSpPr>
        <p:spPr>
          <a:xfrm>
            <a:off x="364654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9" name="Illustrative delivered road transport cost class 1; reference terminal Lesedi"/>
          <p:cNvSpPr/>
          <p:nvPr/>
        </p:nvSpPr>
        <p:spPr>
          <a:xfrm>
            <a:off x="3646548" y="3226184"/>
            <a:ext cx="57687" cy="22272"/>
          </a:xfrm>
          <a:custGeom>
            <a:avLst/>
            <a:gdLst/>
            <a:ahLst/>
            <a:cxnLst/>
            <a:rect l="l" t="t" r="r" b="b"/>
            <a:pathLst>
              <a:path w="57687" h="22272">
                <a:moveTo>
                  <a:pt x="57687" y="22272"/>
                </a:moveTo>
                <a:lnTo>
                  <a:pt x="0" y="22272"/>
                </a:lnTo>
                <a:lnTo>
                  <a:pt x="0" y="16241"/>
                </a:lnTo>
                <a:lnTo>
                  <a:pt x="27421" y="15221"/>
                </a:lnTo>
                <a:lnTo>
                  <a:pt x="57438" y="7"/>
                </a:lnTo>
                <a:lnTo>
                  <a:pt x="57687" y="0"/>
                </a:lnTo>
                <a:lnTo>
                  <a:pt x="57687" y="2227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0" name="Illustrative delivered road transport cost class 3; reference terminal Durban"/>
          <p:cNvSpPr/>
          <p:nvPr/>
        </p:nvSpPr>
        <p:spPr>
          <a:xfrm>
            <a:off x="3741731" y="5325173"/>
            <a:ext cx="20190" cy="5362"/>
          </a:xfrm>
          <a:custGeom>
            <a:avLst/>
            <a:gdLst/>
            <a:ahLst/>
            <a:cxnLst/>
            <a:rect l="l" t="t" r="r" b="b"/>
            <a:pathLst>
              <a:path w="20190" h="5362">
                <a:moveTo>
                  <a:pt x="20190" y="0"/>
                </a:moveTo>
                <a:lnTo>
                  <a:pt x="20190" y="5362"/>
                </a:lnTo>
                <a:lnTo>
                  <a:pt x="0" y="0"/>
                </a:lnTo>
                <a:lnTo>
                  <a:pt x="2019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1" name="Illustrative delivered road transport cost class 3; reference terminal Durban"/>
          <p:cNvSpPr/>
          <p:nvPr/>
        </p:nvSpPr>
        <p:spPr>
          <a:xfrm>
            <a:off x="3704235" y="5325173"/>
            <a:ext cx="32586" cy="3597"/>
          </a:xfrm>
          <a:custGeom>
            <a:avLst/>
            <a:gdLst/>
            <a:ahLst/>
            <a:cxnLst/>
            <a:rect l="l" t="t" r="r" b="b"/>
            <a:pathLst>
              <a:path w="32586" h="3597">
                <a:moveTo>
                  <a:pt x="0" y="0"/>
                </a:moveTo>
                <a:lnTo>
                  <a:pt x="32586" y="0"/>
                </a:lnTo>
                <a:lnTo>
                  <a:pt x="625" y="2934"/>
                </a:lnTo>
                <a:lnTo>
                  <a:pt x="0" y="359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2" name="Illustrative delivered road transport cost class 3; reference terminal Durban"/>
          <p:cNvSpPr/>
          <p:nvPr/>
        </p:nvSpPr>
        <p:spPr>
          <a:xfrm>
            <a:off x="3704235" y="5267486"/>
            <a:ext cx="57686" cy="57687"/>
          </a:xfrm>
          <a:custGeom>
            <a:avLst/>
            <a:gdLst/>
            <a:ahLst/>
            <a:cxnLst/>
            <a:rect l="l" t="t" r="r" b="b"/>
            <a:pathLst>
              <a:path w="57686" h="57687">
                <a:moveTo>
                  <a:pt x="0" y="57687"/>
                </a:moveTo>
                <a:lnTo>
                  <a:pt x="0" y="0"/>
                </a:lnTo>
                <a:lnTo>
                  <a:pt x="57686" y="0"/>
                </a:lnTo>
                <a:lnTo>
                  <a:pt x="57686" y="57687"/>
                </a:lnTo>
                <a:lnTo>
                  <a:pt x="37496" y="57687"/>
                </a:lnTo>
                <a:lnTo>
                  <a:pt x="36235" y="57352"/>
                </a:lnTo>
                <a:lnTo>
                  <a:pt x="325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3" name="Illustrative delivered road transport cost class 3; reference terminal Durban"/>
          <p:cNvSpPr/>
          <p:nvPr/>
        </p:nvSpPr>
        <p:spPr>
          <a:xfrm>
            <a:off x="370423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4" name="Illustrative delivered road transport cost class 3; reference terminal Durban"/>
          <p:cNvSpPr/>
          <p:nvPr/>
        </p:nvSpPr>
        <p:spPr>
          <a:xfrm>
            <a:off x="370423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5" name="Illustrative delivered road transport cost class 3; reference terminal Durban"/>
          <p:cNvSpPr/>
          <p:nvPr/>
        </p:nvSpPr>
        <p:spPr>
          <a:xfrm>
            <a:off x="370423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6" name="Illustrative delivered road transport cost class 3; reference terminal Lesedi"/>
          <p:cNvSpPr/>
          <p:nvPr/>
        </p:nvSpPr>
        <p:spPr>
          <a:xfrm>
            <a:off x="370423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7" name="Illustrative delivered road transport cost class 3; reference terminal Lesedi"/>
          <p:cNvSpPr/>
          <p:nvPr/>
        </p:nvSpPr>
        <p:spPr>
          <a:xfrm>
            <a:off x="370423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8" name="Illustrative delivered road transport cost class 3; reference terminal Lesedi"/>
          <p:cNvSpPr/>
          <p:nvPr/>
        </p:nvSpPr>
        <p:spPr>
          <a:xfrm>
            <a:off x="370423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9" name="Illustrative delivered road transport cost class 3; reference terminal Lesedi"/>
          <p:cNvSpPr/>
          <p:nvPr/>
        </p:nvSpPr>
        <p:spPr>
          <a:xfrm>
            <a:off x="370423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0" name="Illustrative delivered road transport cost class 3; reference terminal Lesedi"/>
          <p:cNvSpPr/>
          <p:nvPr/>
        </p:nvSpPr>
        <p:spPr>
          <a:xfrm>
            <a:off x="370423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1" name="Illustrative delivered road transport cost class 2; reference terminal Lesedi"/>
          <p:cNvSpPr/>
          <p:nvPr/>
        </p:nvSpPr>
        <p:spPr>
          <a:xfrm>
            <a:off x="370423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2" name="Illustrative delivered road transport cost class 2; reference terminal Lesedi"/>
          <p:cNvSpPr/>
          <p:nvPr/>
        </p:nvSpPr>
        <p:spPr>
          <a:xfrm>
            <a:off x="370423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3" name="Illustrative delivered road transport cost class 2; reference terminal Lesedi"/>
          <p:cNvSpPr/>
          <p:nvPr/>
        </p:nvSpPr>
        <p:spPr>
          <a:xfrm>
            <a:off x="370423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4" name="Illustrative delivered road transport cost class 2; reference terminal Lesedi"/>
          <p:cNvSpPr/>
          <p:nvPr/>
        </p:nvSpPr>
        <p:spPr>
          <a:xfrm>
            <a:off x="370423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5" name="Illustrative delivered road transport cost class 2; reference terminal Lesedi"/>
          <p:cNvSpPr/>
          <p:nvPr/>
        </p:nvSpPr>
        <p:spPr>
          <a:xfrm>
            <a:off x="370423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6" name="Illustrative delivered road transport cost class 2; reference terminal Lesedi"/>
          <p:cNvSpPr/>
          <p:nvPr/>
        </p:nvSpPr>
        <p:spPr>
          <a:xfrm>
            <a:off x="370423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7" name="Illustrative delivered road transport cost class 2; reference terminal Lesedi"/>
          <p:cNvSpPr/>
          <p:nvPr/>
        </p:nvSpPr>
        <p:spPr>
          <a:xfrm>
            <a:off x="370423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8" name="Illustrative delivered road transport cost class 2; reference terminal Lesedi"/>
          <p:cNvSpPr/>
          <p:nvPr/>
        </p:nvSpPr>
        <p:spPr>
          <a:xfrm>
            <a:off x="370423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9" name="Illustrative delivered road transport cost class 2; reference terminal Lesedi"/>
          <p:cNvSpPr/>
          <p:nvPr/>
        </p:nvSpPr>
        <p:spPr>
          <a:xfrm>
            <a:off x="370423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0" name="Illustrative delivered road transport cost class 2; reference terminal Lesedi"/>
          <p:cNvSpPr/>
          <p:nvPr/>
        </p:nvSpPr>
        <p:spPr>
          <a:xfrm>
            <a:off x="370423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1" name="Illustrative delivered road transport cost class 2; reference terminal Lesedi"/>
          <p:cNvSpPr/>
          <p:nvPr/>
        </p:nvSpPr>
        <p:spPr>
          <a:xfrm>
            <a:off x="370423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2" name="Illustrative delivered road transport cost class 2; reference terminal Lesedi"/>
          <p:cNvSpPr/>
          <p:nvPr/>
        </p:nvSpPr>
        <p:spPr>
          <a:xfrm>
            <a:off x="370423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3" name="Illustrative delivered road transport cost class 1; reference terminal Lesedi"/>
          <p:cNvSpPr/>
          <p:nvPr/>
        </p:nvSpPr>
        <p:spPr>
          <a:xfrm>
            <a:off x="370423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4" name="Illustrative delivered road transport cost class 1; reference terminal Lesedi"/>
          <p:cNvSpPr/>
          <p:nvPr/>
        </p:nvSpPr>
        <p:spPr>
          <a:xfrm>
            <a:off x="370423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5" name="Illustrative delivered road transport cost class 1; reference terminal Lesedi"/>
          <p:cNvSpPr/>
          <p:nvPr/>
        </p:nvSpPr>
        <p:spPr>
          <a:xfrm>
            <a:off x="370423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6" name="Illustrative delivered road transport cost class 1; reference terminal Lesedi"/>
          <p:cNvSpPr/>
          <p:nvPr/>
        </p:nvSpPr>
        <p:spPr>
          <a:xfrm>
            <a:off x="370423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7" name="Illustrative delivered road transport cost class 1; reference terminal Lesedi"/>
          <p:cNvSpPr/>
          <p:nvPr/>
        </p:nvSpPr>
        <p:spPr>
          <a:xfrm>
            <a:off x="370423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8" name="Illustrative delivered road transport cost class 1; reference terminal Lesedi"/>
          <p:cNvSpPr/>
          <p:nvPr/>
        </p:nvSpPr>
        <p:spPr>
          <a:xfrm>
            <a:off x="370423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9" name="Illustrative delivered road transport cost class 1; reference terminal Lesedi"/>
          <p:cNvSpPr/>
          <p:nvPr/>
        </p:nvSpPr>
        <p:spPr>
          <a:xfrm>
            <a:off x="370423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0" name="Illustrative delivered road transport cost class 1; reference terminal Lesedi"/>
          <p:cNvSpPr/>
          <p:nvPr/>
        </p:nvSpPr>
        <p:spPr>
          <a:xfrm>
            <a:off x="370423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1" name="Illustrative delivered road transport cost class 1; reference terminal Lesedi"/>
          <p:cNvSpPr/>
          <p:nvPr/>
        </p:nvSpPr>
        <p:spPr>
          <a:xfrm>
            <a:off x="370423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2" name="Illustrative delivered road transport cost class 1; reference terminal Lesedi"/>
          <p:cNvSpPr/>
          <p:nvPr/>
        </p:nvSpPr>
        <p:spPr>
          <a:xfrm>
            <a:off x="370423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3" name="Illustrative delivered road transport cost class 1; reference terminal Lesedi"/>
          <p:cNvSpPr/>
          <p:nvPr/>
        </p:nvSpPr>
        <p:spPr>
          <a:xfrm>
            <a:off x="370423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4" name="Illustrative delivered road transport cost class 2; reference terminal Lesedi"/>
          <p:cNvSpPr/>
          <p:nvPr/>
        </p:nvSpPr>
        <p:spPr>
          <a:xfrm>
            <a:off x="370423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5" name="Illustrative delivered road transport cost class 2; reference terminal Lesedi"/>
          <p:cNvSpPr/>
          <p:nvPr/>
        </p:nvSpPr>
        <p:spPr>
          <a:xfrm>
            <a:off x="370423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6" name="Illustrative delivered road transport cost class 2; reference terminal Lesedi"/>
          <p:cNvSpPr/>
          <p:nvPr/>
        </p:nvSpPr>
        <p:spPr>
          <a:xfrm>
            <a:off x="370423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7" name="Illustrative delivered road transport cost class 1; reference terminal Lesedi"/>
          <p:cNvSpPr/>
          <p:nvPr/>
        </p:nvSpPr>
        <p:spPr>
          <a:xfrm>
            <a:off x="370423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8" name="Illustrative delivered road transport cost class 1; reference terminal Lesedi"/>
          <p:cNvSpPr/>
          <p:nvPr/>
        </p:nvSpPr>
        <p:spPr>
          <a:xfrm>
            <a:off x="3704235" y="3225550"/>
            <a:ext cx="57686" cy="22906"/>
          </a:xfrm>
          <a:custGeom>
            <a:avLst/>
            <a:gdLst/>
            <a:ahLst/>
            <a:cxnLst/>
            <a:rect l="l" t="t" r="r" b="b"/>
            <a:pathLst>
              <a:path w="57686" h="22906">
                <a:moveTo>
                  <a:pt x="57686" y="22906"/>
                </a:moveTo>
                <a:lnTo>
                  <a:pt x="0" y="22906"/>
                </a:lnTo>
                <a:lnTo>
                  <a:pt x="0" y="634"/>
                </a:lnTo>
                <a:lnTo>
                  <a:pt x="21416" y="0"/>
                </a:lnTo>
                <a:lnTo>
                  <a:pt x="49412" y="1258"/>
                </a:lnTo>
                <a:lnTo>
                  <a:pt x="57686" y="156"/>
                </a:lnTo>
                <a:lnTo>
                  <a:pt x="57686" y="2290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9" name="Illustrative delivered road transport cost class 2; reference terminal Durban"/>
          <p:cNvSpPr/>
          <p:nvPr/>
        </p:nvSpPr>
        <p:spPr>
          <a:xfrm>
            <a:off x="3761921" y="5325173"/>
            <a:ext cx="57687" cy="18354"/>
          </a:xfrm>
          <a:custGeom>
            <a:avLst/>
            <a:gdLst/>
            <a:ahLst/>
            <a:cxnLst/>
            <a:rect l="l" t="t" r="r" b="b"/>
            <a:pathLst>
              <a:path w="57687" h="18354">
                <a:moveTo>
                  <a:pt x="0" y="0"/>
                </a:moveTo>
                <a:lnTo>
                  <a:pt x="57687" y="0"/>
                </a:lnTo>
                <a:lnTo>
                  <a:pt x="57687" y="18354"/>
                </a:lnTo>
                <a:lnTo>
                  <a:pt x="44123" y="17079"/>
                </a:lnTo>
                <a:lnTo>
                  <a:pt x="0" y="536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0" name="Illustrative delivered road transport cost class 2; reference terminal Durban"/>
          <p:cNvSpPr/>
          <p:nvPr/>
        </p:nvSpPr>
        <p:spPr>
          <a:xfrm>
            <a:off x="376192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1" name="Illustrative delivered road transport cost class 3; reference terminal Durban"/>
          <p:cNvSpPr/>
          <p:nvPr/>
        </p:nvSpPr>
        <p:spPr>
          <a:xfrm>
            <a:off x="376192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2" name="Illustrative delivered road transport cost class 3; reference terminal Durban"/>
          <p:cNvSpPr/>
          <p:nvPr/>
        </p:nvSpPr>
        <p:spPr>
          <a:xfrm>
            <a:off x="376192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3" name="Illustrative delivered road transport cost class 3; reference terminal Durban"/>
          <p:cNvSpPr/>
          <p:nvPr/>
        </p:nvSpPr>
        <p:spPr>
          <a:xfrm>
            <a:off x="376192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4" name="Illustrative delivered road transport cost class 3; reference terminal Lesedi"/>
          <p:cNvSpPr/>
          <p:nvPr/>
        </p:nvSpPr>
        <p:spPr>
          <a:xfrm>
            <a:off x="376192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5" name="Illustrative delivered road transport cost class 3; reference terminal Lesedi"/>
          <p:cNvSpPr/>
          <p:nvPr/>
        </p:nvSpPr>
        <p:spPr>
          <a:xfrm>
            <a:off x="376192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6" name="Illustrative delivered road transport cost class 3; reference terminal Lesedi"/>
          <p:cNvSpPr/>
          <p:nvPr/>
        </p:nvSpPr>
        <p:spPr>
          <a:xfrm>
            <a:off x="376192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7" name="Illustrative delivered road transport cost class 3; reference terminal Lesedi"/>
          <p:cNvSpPr/>
          <p:nvPr/>
        </p:nvSpPr>
        <p:spPr>
          <a:xfrm>
            <a:off x="376192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8" name="Illustrative delivered road transport cost class 3; reference terminal Lesedi"/>
          <p:cNvSpPr/>
          <p:nvPr/>
        </p:nvSpPr>
        <p:spPr>
          <a:xfrm>
            <a:off x="376192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9" name="Illustrative delivered road transport cost class 3; reference terminal Lesedi"/>
          <p:cNvSpPr/>
          <p:nvPr/>
        </p:nvSpPr>
        <p:spPr>
          <a:xfrm>
            <a:off x="376192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0" name="Illustrative delivered road transport cost class 2; reference terminal Lesedi"/>
          <p:cNvSpPr/>
          <p:nvPr/>
        </p:nvSpPr>
        <p:spPr>
          <a:xfrm>
            <a:off x="376192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1" name="Illustrative delivered road transport cost class 2; reference terminal Lesedi"/>
          <p:cNvSpPr/>
          <p:nvPr/>
        </p:nvSpPr>
        <p:spPr>
          <a:xfrm>
            <a:off x="376192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2" name="Illustrative delivered road transport cost class 2; reference terminal Lesedi"/>
          <p:cNvSpPr/>
          <p:nvPr/>
        </p:nvSpPr>
        <p:spPr>
          <a:xfrm>
            <a:off x="376192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3" name="Illustrative delivered road transport cost class 2; reference terminal Lesedi"/>
          <p:cNvSpPr/>
          <p:nvPr/>
        </p:nvSpPr>
        <p:spPr>
          <a:xfrm>
            <a:off x="376192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4" name="Illustrative delivered road transport cost class 2; reference terminal Lesedi"/>
          <p:cNvSpPr/>
          <p:nvPr/>
        </p:nvSpPr>
        <p:spPr>
          <a:xfrm>
            <a:off x="376192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5" name="Illustrative delivered road transport cost class 2; reference terminal Lesedi"/>
          <p:cNvSpPr/>
          <p:nvPr/>
        </p:nvSpPr>
        <p:spPr>
          <a:xfrm>
            <a:off x="376192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6" name="Illustrative delivered road transport cost class 2; reference terminal Lesedi"/>
          <p:cNvSpPr/>
          <p:nvPr/>
        </p:nvSpPr>
        <p:spPr>
          <a:xfrm>
            <a:off x="376192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7" name="Illustrative delivered road transport cost class 2; reference terminal Lesedi"/>
          <p:cNvSpPr/>
          <p:nvPr/>
        </p:nvSpPr>
        <p:spPr>
          <a:xfrm>
            <a:off x="376192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8" name="Illustrative delivered road transport cost class 2; reference terminal Lesedi"/>
          <p:cNvSpPr/>
          <p:nvPr/>
        </p:nvSpPr>
        <p:spPr>
          <a:xfrm>
            <a:off x="376192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9" name="Illustrative delivered road transport cost class 1; reference terminal Lesedi"/>
          <p:cNvSpPr/>
          <p:nvPr/>
        </p:nvSpPr>
        <p:spPr>
          <a:xfrm>
            <a:off x="376192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0" name="Illustrative delivered road transport cost class 1; reference terminal Lesedi"/>
          <p:cNvSpPr/>
          <p:nvPr/>
        </p:nvSpPr>
        <p:spPr>
          <a:xfrm>
            <a:off x="376192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1" name="Illustrative delivered road transport cost class 1; reference terminal Lesedi"/>
          <p:cNvSpPr/>
          <p:nvPr/>
        </p:nvSpPr>
        <p:spPr>
          <a:xfrm>
            <a:off x="376192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2" name="Illustrative delivered road transport cost class 1; reference terminal Lesedi"/>
          <p:cNvSpPr/>
          <p:nvPr/>
        </p:nvSpPr>
        <p:spPr>
          <a:xfrm>
            <a:off x="376192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3" name="Illustrative delivered road transport cost class 1; reference terminal Lesedi"/>
          <p:cNvSpPr/>
          <p:nvPr/>
        </p:nvSpPr>
        <p:spPr>
          <a:xfrm>
            <a:off x="376192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4" name="Illustrative delivered road transport cost class 1; reference terminal Lesedi"/>
          <p:cNvSpPr/>
          <p:nvPr/>
        </p:nvSpPr>
        <p:spPr>
          <a:xfrm>
            <a:off x="376192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5" name="Illustrative delivered road transport cost class 1; reference terminal Lesedi"/>
          <p:cNvSpPr/>
          <p:nvPr/>
        </p:nvSpPr>
        <p:spPr>
          <a:xfrm>
            <a:off x="376192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6" name="Illustrative delivered road transport cost class 1; reference terminal Lesedi"/>
          <p:cNvSpPr/>
          <p:nvPr/>
        </p:nvSpPr>
        <p:spPr>
          <a:xfrm>
            <a:off x="376192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7" name="Illustrative delivered road transport cost class 1; reference terminal Lesedi"/>
          <p:cNvSpPr/>
          <p:nvPr/>
        </p:nvSpPr>
        <p:spPr>
          <a:xfrm>
            <a:off x="376192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8" name="Illustrative delivered road transport cost class 1; reference terminal Lesedi"/>
          <p:cNvSpPr/>
          <p:nvPr/>
        </p:nvSpPr>
        <p:spPr>
          <a:xfrm>
            <a:off x="376192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9" name="Illustrative delivered road transport cost class 1; reference terminal Lesedi"/>
          <p:cNvSpPr/>
          <p:nvPr/>
        </p:nvSpPr>
        <p:spPr>
          <a:xfrm>
            <a:off x="376192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0" name="Illustrative delivered road transport cost class 1; reference terminal Lesedi"/>
          <p:cNvSpPr/>
          <p:nvPr/>
        </p:nvSpPr>
        <p:spPr>
          <a:xfrm>
            <a:off x="376192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1" name="Illustrative delivered road transport cost class 1; reference terminal Lesedi"/>
          <p:cNvSpPr/>
          <p:nvPr/>
        </p:nvSpPr>
        <p:spPr>
          <a:xfrm>
            <a:off x="376192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2" name="Illustrative delivered road transport cost class 2; reference terminal Lesedi"/>
          <p:cNvSpPr/>
          <p:nvPr/>
        </p:nvSpPr>
        <p:spPr>
          <a:xfrm>
            <a:off x="376192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3" name="Illustrative delivered road transport cost class 2; reference terminal Lesedi"/>
          <p:cNvSpPr/>
          <p:nvPr/>
        </p:nvSpPr>
        <p:spPr>
          <a:xfrm>
            <a:off x="376192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4" name="Illustrative delivered road transport cost class 2; reference terminal Lesedi"/>
          <p:cNvSpPr/>
          <p:nvPr/>
        </p:nvSpPr>
        <p:spPr>
          <a:xfrm>
            <a:off x="376192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5" name="Illustrative delivered road transport cost class 1; reference terminal Lesedi"/>
          <p:cNvSpPr/>
          <p:nvPr/>
        </p:nvSpPr>
        <p:spPr>
          <a:xfrm>
            <a:off x="376192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6" name="Illustrative delivered road transport cost class 1; reference terminal Lesedi"/>
          <p:cNvSpPr/>
          <p:nvPr/>
        </p:nvSpPr>
        <p:spPr>
          <a:xfrm>
            <a:off x="3761921" y="3206715"/>
            <a:ext cx="57687" cy="41741"/>
          </a:xfrm>
          <a:custGeom>
            <a:avLst/>
            <a:gdLst/>
            <a:ahLst/>
            <a:cxnLst/>
            <a:rect l="l" t="t" r="r" b="b"/>
            <a:pathLst>
              <a:path w="57687" h="41741">
                <a:moveTo>
                  <a:pt x="57687" y="41741"/>
                </a:moveTo>
                <a:lnTo>
                  <a:pt x="0" y="41741"/>
                </a:lnTo>
                <a:lnTo>
                  <a:pt x="0" y="18991"/>
                </a:lnTo>
                <a:lnTo>
                  <a:pt x="22493" y="15996"/>
                </a:lnTo>
                <a:lnTo>
                  <a:pt x="45088" y="9556"/>
                </a:lnTo>
                <a:lnTo>
                  <a:pt x="57687" y="0"/>
                </a:lnTo>
                <a:lnTo>
                  <a:pt x="57687" y="41741"/>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7" name="Illustrative delivered road transport cost class 2; reference terminal Durban"/>
          <p:cNvSpPr/>
          <p:nvPr/>
        </p:nvSpPr>
        <p:spPr>
          <a:xfrm>
            <a:off x="3819608" y="5325173"/>
            <a:ext cx="21824" cy="19022"/>
          </a:xfrm>
          <a:custGeom>
            <a:avLst/>
            <a:gdLst/>
            <a:ahLst/>
            <a:cxnLst/>
            <a:rect l="l" t="t" r="r" b="b"/>
            <a:pathLst>
              <a:path w="21824" h="19022">
                <a:moveTo>
                  <a:pt x="0" y="0"/>
                </a:moveTo>
                <a:lnTo>
                  <a:pt x="21824" y="0"/>
                </a:lnTo>
                <a:lnTo>
                  <a:pt x="20794" y="12902"/>
                </a:lnTo>
                <a:lnTo>
                  <a:pt x="7112" y="19022"/>
                </a:lnTo>
                <a:lnTo>
                  <a:pt x="0" y="18354"/>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8" name="Illustrative delivered road transport cost class 2; reference terminal Durban"/>
          <p:cNvSpPr/>
          <p:nvPr/>
        </p:nvSpPr>
        <p:spPr>
          <a:xfrm>
            <a:off x="3819608" y="5267486"/>
            <a:ext cx="57686" cy="57687"/>
          </a:xfrm>
          <a:custGeom>
            <a:avLst/>
            <a:gdLst/>
            <a:ahLst/>
            <a:cxnLst/>
            <a:rect l="l" t="t" r="r" b="b"/>
            <a:pathLst>
              <a:path w="57686" h="57687">
                <a:moveTo>
                  <a:pt x="0" y="57687"/>
                </a:moveTo>
                <a:lnTo>
                  <a:pt x="0" y="0"/>
                </a:lnTo>
                <a:lnTo>
                  <a:pt x="57686" y="0"/>
                </a:lnTo>
                <a:lnTo>
                  <a:pt x="57686" y="657"/>
                </a:lnTo>
                <a:lnTo>
                  <a:pt x="57101" y="750"/>
                </a:lnTo>
                <a:lnTo>
                  <a:pt x="24090" y="29307"/>
                </a:lnTo>
                <a:lnTo>
                  <a:pt x="21824"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9" name="Illustrative delivered road transport cost class 2; reference terminal Durban"/>
          <p:cNvSpPr/>
          <p:nvPr/>
        </p:nvSpPr>
        <p:spPr>
          <a:xfrm>
            <a:off x="3819608"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0" name="Illustrative delivered road transport cost class 2; reference terminal Durban"/>
          <p:cNvSpPr/>
          <p:nvPr/>
        </p:nvSpPr>
        <p:spPr>
          <a:xfrm>
            <a:off x="3819608"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1" name="Illustrative delivered road transport cost class 3; reference terminal Durban"/>
          <p:cNvSpPr/>
          <p:nvPr/>
        </p:nvSpPr>
        <p:spPr>
          <a:xfrm>
            <a:off x="3819608"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2" name="Illustrative delivered road transport cost class 3; reference terminal Lesedi"/>
          <p:cNvSpPr/>
          <p:nvPr/>
        </p:nvSpPr>
        <p:spPr>
          <a:xfrm>
            <a:off x="3819608"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3" name="Illustrative delivered road transport cost class 3; reference terminal Lesedi"/>
          <p:cNvSpPr/>
          <p:nvPr/>
        </p:nvSpPr>
        <p:spPr>
          <a:xfrm>
            <a:off x="3819608"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4" name="Illustrative delivered road transport cost class 3; reference terminal Lesedi"/>
          <p:cNvSpPr/>
          <p:nvPr/>
        </p:nvSpPr>
        <p:spPr>
          <a:xfrm>
            <a:off x="3819608"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5" name="Illustrative delivered road transport cost class 3; reference terminal Lesedi"/>
          <p:cNvSpPr/>
          <p:nvPr/>
        </p:nvSpPr>
        <p:spPr>
          <a:xfrm>
            <a:off x="3819608"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6" name="Illustrative delivered road transport cost class 3; reference terminal Lesedi"/>
          <p:cNvSpPr/>
          <p:nvPr/>
        </p:nvSpPr>
        <p:spPr>
          <a:xfrm>
            <a:off x="3819608"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7" name="Illustrative delivered road transport cost class 3; reference terminal Lesedi"/>
          <p:cNvSpPr/>
          <p:nvPr/>
        </p:nvSpPr>
        <p:spPr>
          <a:xfrm>
            <a:off x="3819608"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8" name="Illustrative delivered road transport cost class 3; reference terminal Lesedi"/>
          <p:cNvSpPr/>
          <p:nvPr/>
        </p:nvSpPr>
        <p:spPr>
          <a:xfrm>
            <a:off x="3819608"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9" name="Illustrative delivered road transport cost class 2; reference terminal Lesedi"/>
          <p:cNvSpPr/>
          <p:nvPr/>
        </p:nvSpPr>
        <p:spPr>
          <a:xfrm>
            <a:off x="3819608"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0" name="Illustrative delivered road transport cost class 2; reference terminal Lesedi"/>
          <p:cNvSpPr/>
          <p:nvPr/>
        </p:nvSpPr>
        <p:spPr>
          <a:xfrm>
            <a:off x="3819608"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1" name="Illustrative delivered road transport cost class 2; reference terminal Lesedi"/>
          <p:cNvSpPr/>
          <p:nvPr/>
        </p:nvSpPr>
        <p:spPr>
          <a:xfrm>
            <a:off x="3819608"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2" name="Illustrative delivered road transport cost class 2; reference terminal Lesedi"/>
          <p:cNvSpPr/>
          <p:nvPr/>
        </p:nvSpPr>
        <p:spPr>
          <a:xfrm>
            <a:off x="3819608"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3" name="Illustrative delivered road transport cost class 2; reference terminal Lesedi"/>
          <p:cNvSpPr/>
          <p:nvPr/>
        </p:nvSpPr>
        <p:spPr>
          <a:xfrm>
            <a:off x="3819608"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4" name="Illustrative delivered road transport cost class 2; reference terminal Lesedi"/>
          <p:cNvSpPr/>
          <p:nvPr/>
        </p:nvSpPr>
        <p:spPr>
          <a:xfrm>
            <a:off x="381960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5" name="Illustrative delivered road transport cost class 1; reference terminal Lesedi"/>
          <p:cNvSpPr/>
          <p:nvPr/>
        </p:nvSpPr>
        <p:spPr>
          <a:xfrm>
            <a:off x="381960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6" name="Illustrative delivered road transport cost class 1; reference terminal Lesedi"/>
          <p:cNvSpPr/>
          <p:nvPr/>
        </p:nvSpPr>
        <p:spPr>
          <a:xfrm>
            <a:off x="381960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7" name="Illustrative delivered road transport cost class 1; reference terminal Lesedi"/>
          <p:cNvSpPr/>
          <p:nvPr/>
        </p:nvSpPr>
        <p:spPr>
          <a:xfrm>
            <a:off x="381960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8" name="Illustrative delivered road transport cost class 1; reference terminal Lesedi"/>
          <p:cNvSpPr/>
          <p:nvPr/>
        </p:nvSpPr>
        <p:spPr>
          <a:xfrm>
            <a:off x="381960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9" name="Illustrative delivered road transport cost class 1; reference terminal Lesedi"/>
          <p:cNvSpPr/>
          <p:nvPr/>
        </p:nvSpPr>
        <p:spPr>
          <a:xfrm>
            <a:off x="381960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0" name="Illustrative delivered road transport cost class 1; reference terminal Lesedi"/>
          <p:cNvSpPr/>
          <p:nvPr/>
        </p:nvSpPr>
        <p:spPr>
          <a:xfrm>
            <a:off x="3819608"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1" name="Illustrative delivered road transport cost class 1; reference terminal Lesedi"/>
          <p:cNvSpPr/>
          <p:nvPr/>
        </p:nvSpPr>
        <p:spPr>
          <a:xfrm>
            <a:off x="3819608"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2" name="Illustrative delivered road transport cost class 1; reference terminal Lesedi"/>
          <p:cNvSpPr/>
          <p:nvPr/>
        </p:nvSpPr>
        <p:spPr>
          <a:xfrm>
            <a:off x="3819608"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3" name="Illustrative delivered road transport cost class 1; reference terminal Lesedi"/>
          <p:cNvSpPr/>
          <p:nvPr/>
        </p:nvSpPr>
        <p:spPr>
          <a:xfrm>
            <a:off x="3819608"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4" name="Illustrative delivered road transport cost class 1; reference terminal Lesedi"/>
          <p:cNvSpPr/>
          <p:nvPr/>
        </p:nvSpPr>
        <p:spPr>
          <a:xfrm>
            <a:off x="3819608"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5" name="Illustrative delivered road transport cost class 1; reference terminal Lesedi"/>
          <p:cNvSpPr/>
          <p:nvPr/>
        </p:nvSpPr>
        <p:spPr>
          <a:xfrm>
            <a:off x="3819608"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6" name="Illustrative delivered road transport cost class 1; reference terminal Lesedi"/>
          <p:cNvSpPr/>
          <p:nvPr/>
        </p:nvSpPr>
        <p:spPr>
          <a:xfrm>
            <a:off x="3819608"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7" name="Illustrative delivered road transport cost class 1; reference terminal Lesedi"/>
          <p:cNvSpPr/>
          <p:nvPr/>
        </p:nvSpPr>
        <p:spPr>
          <a:xfrm>
            <a:off x="3819608"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8" name="Illustrative delivered road transport cost class 1; reference terminal Lesedi"/>
          <p:cNvSpPr/>
          <p:nvPr/>
        </p:nvSpPr>
        <p:spPr>
          <a:xfrm>
            <a:off x="3819608"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9" name="Illustrative delivered road transport cost class 1; reference terminal Lesedi"/>
          <p:cNvSpPr/>
          <p:nvPr/>
        </p:nvSpPr>
        <p:spPr>
          <a:xfrm>
            <a:off x="3819608"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0" name="Illustrative delivered road transport cost class 1; reference terminal Lesedi"/>
          <p:cNvSpPr/>
          <p:nvPr/>
        </p:nvSpPr>
        <p:spPr>
          <a:xfrm>
            <a:off x="3819608"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1" name="Illustrative delivered road transport cost class 3; reference terminal Lesedi"/>
          <p:cNvSpPr/>
          <p:nvPr/>
        </p:nvSpPr>
        <p:spPr>
          <a:xfrm>
            <a:off x="3819608"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2" name="Illustrative delivered road transport cost class 1; reference terminal Lesedi"/>
          <p:cNvSpPr/>
          <p:nvPr/>
        </p:nvSpPr>
        <p:spPr>
          <a:xfrm>
            <a:off x="3819608"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3" name="Illustrative delivered road transport cost class 1; reference terminal Lesedi"/>
          <p:cNvSpPr/>
          <p:nvPr/>
        </p:nvSpPr>
        <p:spPr>
          <a:xfrm>
            <a:off x="3819608"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4" name="Illustrative delivered road transport cost class 1; reference terminal Lesedi"/>
          <p:cNvSpPr/>
          <p:nvPr/>
        </p:nvSpPr>
        <p:spPr>
          <a:xfrm>
            <a:off x="3819608" y="3190770"/>
            <a:ext cx="57686" cy="57686"/>
          </a:xfrm>
          <a:custGeom>
            <a:avLst/>
            <a:gdLst/>
            <a:ahLst/>
            <a:cxnLst/>
            <a:rect l="l" t="t" r="r" b="b"/>
            <a:pathLst>
              <a:path w="57686" h="57686">
                <a:moveTo>
                  <a:pt x="57686" y="0"/>
                </a:moveTo>
                <a:lnTo>
                  <a:pt x="57686" y="57686"/>
                </a:lnTo>
                <a:lnTo>
                  <a:pt x="0" y="57686"/>
                </a:lnTo>
                <a:lnTo>
                  <a:pt x="0" y="15945"/>
                </a:lnTo>
                <a:lnTo>
                  <a:pt x="4715" y="12368"/>
                </a:lnTo>
                <a:lnTo>
                  <a:pt x="17853"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5" name="Illustrative delivered road transport cost class 1; reference terminal Lesedi"/>
          <p:cNvSpPr/>
          <p:nvPr/>
        </p:nvSpPr>
        <p:spPr>
          <a:xfrm>
            <a:off x="3837461" y="3133083"/>
            <a:ext cx="39833" cy="57687"/>
          </a:xfrm>
          <a:custGeom>
            <a:avLst/>
            <a:gdLst/>
            <a:ahLst/>
            <a:cxnLst/>
            <a:rect l="l" t="t" r="r" b="b"/>
            <a:pathLst>
              <a:path w="39833" h="57687">
                <a:moveTo>
                  <a:pt x="39833" y="0"/>
                </a:moveTo>
                <a:lnTo>
                  <a:pt x="39833" y="57687"/>
                </a:lnTo>
                <a:lnTo>
                  <a:pt x="0" y="57687"/>
                </a:lnTo>
                <a:lnTo>
                  <a:pt x="2137" y="55675"/>
                </a:lnTo>
                <a:lnTo>
                  <a:pt x="19837" y="12745"/>
                </a:lnTo>
                <a:lnTo>
                  <a:pt x="23626" y="0"/>
                </a:lnTo>
                <a:lnTo>
                  <a:pt x="39833"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6" name="Illustrative delivered road transport cost class 1; reference terminal Lesedi"/>
          <p:cNvSpPr/>
          <p:nvPr/>
        </p:nvSpPr>
        <p:spPr>
          <a:xfrm>
            <a:off x="3861087" y="3086937"/>
            <a:ext cx="16207" cy="46146"/>
          </a:xfrm>
          <a:custGeom>
            <a:avLst/>
            <a:gdLst/>
            <a:ahLst/>
            <a:cxnLst/>
            <a:rect l="l" t="t" r="r" b="b"/>
            <a:pathLst>
              <a:path w="16207" h="46146">
                <a:moveTo>
                  <a:pt x="16207" y="46146"/>
                </a:moveTo>
                <a:lnTo>
                  <a:pt x="0" y="46146"/>
                </a:lnTo>
                <a:lnTo>
                  <a:pt x="6489" y="24315"/>
                </a:lnTo>
                <a:lnTo>
                  <a:pt x="16207" y="0"/>
                </a:lnTo>
                <a:lnTo>
                  <a:pt x="16207" y="4614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7" name="Illustrative delivered road transport cost class 2; reference terminal Durban"/>
          <p:cNvSpPr/>
          <p:nvPr/>
        </p:nvSpPr>
        <p:spPr>
          <a:xfrm>
            <a:off x="3877294" y="5209799"/>
            <a:ext cx="57687" cy="57687"/>
          </a:xfrm>
          <a:custGeom>
            <a:avLst/>
            <a:gdLst/>
            <a:ahLst/>
            <a:cxnLst/>
            <a:rect l="l" t="t" r="r" b="b"/>
            <a:pathLst>
              <a:path w="57687" h="57687">
                <a:moveTo>
                  <a:pt x="0" y="57687"/>
                </a:moveTo>
                <a:lnTo>
                  <a:pt x="0" y="0"/>
                </a:lnTo>
                <a:lnTo>
                  <a:pt x="57687" y="0"/>
                </a:lnTo>
                <a:lnTo>
                  <a:pt x="57687" y="54833"/>
                </a:lnTo>
                <a:lnTo>
                  <a:pt x="38789" y="52153"/>
                </a:lnTo>
                <a:lnTo>
                  <a:pt x="4115"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8" name="Illustrative delivered road transport cost class 2; reference terminal Durban"/>
          <p:cNvSpPr/>
          <p:nvPr/>
        </p:nvSpPr>
        <p:spPr>
          <a:xfrm>
            <a:off x="387729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9" name="Illustrative delivered road transport cost class 2; reference terminal Durban"/>
          <p:cNvSpPr/>
          <p:nvPr/>
        </p:nvSpPr>
        <p:spPr>
          <a:xfrm>
            <a:off x="387729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0" name="Illustrative delivered road transport cost class 2; reference terminal Durban"/>
          <p:cNvSpPr/>
          <p:nvPr/>
        </p:nvSpPr>
        <p:spPr>
          <a:xfrm>
            <a:off x="387729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1" name="Illustrative delivered road transport cost class 3; reference terminal Lesedi"/>
          <p:cNvSpPr/>
          <p:nvPr/>
        </p:nvSpPr>
        <p:spPr>
          <a:xfrm>
            <a:off x="387729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2" name="Illustrative delivered road transport cost class 3; reference terminal Lesedi"/>
          <p:cNvSpPr/>
          <p:nvPr/>
        </p:nvSpPr>
        <p:spPr>
          <a:xfrm>
            <a:off x="387729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3" name="Illustrative delivered road transport cost class 2; reference terminal Durban"/>
          <p:cNvSpPr/>
          <p:nvPr/>
        </p:nvSpPr>
        <p:spPr>
          <a:xfrm>
            <a:off x="387729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4" name="Illustrative delivered road transport cost class 2; reference terminal Durban"/>
          <p:cNvSpPr/>
          <p:nvPr/>
        </p:nvSpPr>
        <p:spPr>
          <a:xfrm>
            <a:off x="387729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5" name="Illustrative delivered road transport cost class 2; reference terminal Durban"/>
          <p:cNvSpPr/>
          <p:nvPr/>
        </p:nvSpPr>
        <p:spPr>
          <a:xfrm>
            <a:off x="387729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 name="Illustrative delivered road transport cost class 2; reference terminal Durban"/>
          <p:cNvSpPr/>
          <p:nvPr/>
        </p:nvSpPr>
        <p:spPr>
          <a:xfrm>
            <a:off x="387729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 name="Illustrative delivered road transport cost class 2; reference terminal Lesedi"/>
          <p:cNvSpPr/>
          <p:nvPr/>
        </p:nvSpPr>
        <p:spPr>
          <a:xfrm>
            <a:off x="387729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 name="Illustrative delivered road transport cost class 2; reference terminal Lesedi"/>
          <p:cNvSpPr/>
          <p:nvPr/>
        </p:nvSpPr>
        <p:spPr>
          <a:xfrm>
            <a:off x="387729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 name="Illustrative delivered road transport cost class 2; reference terminal Lesedi"/>
          <p:cNvSpPr/>
          <p:nvPr/>
        </p:nvSpPr>
        <p:spPr>
          <a:xfrm>
            <a:off x="387729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 name="Illustrative delivered road transport cost class 2; reference terminal Lesedi"/>
          <p:cNvSpPr/>
          <p:nvPr/>
        </p:nvSpPr>
        <p:spPr>
          <a:xfrm>
            <a:off x="387729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1" name="Illustrative delivered road transport cost class 2; reference terminal Lesedi"/>
          <p:cNvSpPr/>
          <p:nvPr/>
        </p:nvSpPr>
        <p:spPr>
          <a:xfrm>
            <a:off x="387729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2" name="Illustrative delivered road transport cost class 2; reference terminal Lesedi"/>
          <p:cNvSpPr/>
          <p:nvPr/>
        </p:nvSpPr>
        <p:spPr>
          <a:xfrm>
            <a:off x="387729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3" name="Illustrative delivered road transport cost class 1; reference terminal Lesedi"/>
          <p:cNvSpPr/>
          <p:nvPr/>
        </p:nvSpPr>
        <p:spPr>
          <a:xfrm>
            <a:off x="387729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4" name="Illustrative delivered road transport cost class 1; reference terminal Lesedi"/>
          <p:cNvSpPr/>
          <p:nvPr/>
        </p:nvSpPr>
        <p:spPr>
          <a:xfrm>
            <a:off x="387729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5" name="Illustrative delivered road transport cost class 1; reference terminal Lesedi"/>
          <p:cNvSpPr/>
          <p:nvPr/>
        </p:nvSpPr>
        <p:spPr>
          <a:xfrm>
            <a:off x="387729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6" name="Illustrative delivered road transport cost class 1; reference terminal Lesedi"/>
          <p:cNvSpPr/>
          <p:nvPr/>
        </p:nvSpPr>
        <p:spPr>
          <a:xfrm>
            <a:off x="387729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7" name="Illustrative delivered road transport cost class 1; reference terminal Lesedi"/>
          <p:cNvSpPr/>
          <p:nvPr/>
        </p:nvSpPr>
        <p:spPr>
          <a:xfrm>
            <a:off x="387729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8" name="Illustrative delivered road transport cost class 1; reference terminal Lesedi"/>
          <p:cNvSpPr/>
          <p:nvPr/>
        </p:nvSpPr>
        <p:spPr>
          <a:xfrm>
            <a:off x="387729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9" name="Illustrative delivered road transport cost class 1; reference terminal Lesedi"/>
          <p:cNvSpPr/>
          <p:nvPr/>
        </p:nvSpPr>
        <p:spPr>
          <a:xfrm>
            <a:off x="387729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0" name="Illustrative delivered road transport cost class 1; reference terminal Lesedi"/>
          <p:cNvSpPr/>
          <p:nvPr/>
        </p:nvSpPr>
        <p:spPr>
          <a:xfrm>
            <a:off x="387729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1" name="Illustrative delivered road transport cost class 1; reference terminal Lesedi"/>
          <p:cNvSpPr/>
          <p:nvPr/>
        </p:nvSpPr>
        <p:spPr>
          <a:xfrm>
            <a:off x="387729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2" name="Illustrative delivered road transport cost class 1; reference terminal Lesedi"/>
          <p:cNvSpPr/>
          <p:nvPr/>
        </p:nvSpPr>
        <p:spPr>
          <a:xfrm>
            <a:off x="387729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3" name="Illustrative delivered road transport cost class 1; reference terminal Lesedi"/>
          <p:cNvSpPr/>
          <p:nvPr/>
        </p:nvSpPr>
        <p:spPr>
          <a:xfrm>
            <a:off x="387729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4" name="Illustrative delivered road transport cost class 1; reference terminal Lesedi"/>
          <p:cNvSpPr/>
          <p:nvPr/>
        </p:nvSpPr>
        <p:spPr>
          <a:xfrm>
            <a:off x="387729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5" name="Illustrative delivered road transport cost class 0; reference terminal Lesedi"/>
          <p:cNvSpPr/>
          <p:nvPr/>
        </p:nvSpPr>
        <p:spPr>
          <a:xfrm>
            <a:off x="387729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6" name="Illustrative delivered road transport cost class 0; reference terminal Lesedi"/>
          <p:cNvSpPr/>
          <p:nvPr/>
        </p:nvSpPr>
        <p:spPr>
          <a:xfrm>
            <a:off x="387729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7" name="Illustrative delivered road transport cost class 0; reference terminal Lesedi"/>
          <p:cNvSpPr/>
          <p:nvPr/>
        </p:nvSpPr>
        <p:spPr>
          <a:xfrm>
            <a:off x="387729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8" name="Illustrative delivered road transport cost class 0; reference terminal Lesedi"/>
          <p:cNvSpPr/>
          <p:nvPr/>
        </p:nvSpPr>
        <p:spPr>
          <a:xfrm>
            <a:off x="387729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9" name="Illustrative delivered road transport cost class 0; reference terminal Lesedi"/>
          <p:cNvSpPr/>
          <p:nvPr/>
        </p:nvSpPr>
        <p:spPr>
          <a:xfrm>
            <a:off x="387729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0" name="Illustrative delivered road transport cost class 1; reference terminal Lesedi"/>
          <p:cNvSpPr/>
          <p:nvPr/>
        </p:nvSpPr>
        <p:spPr>
          <a:xfrm>
            <a:off x="387729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1" name="Illustrative delivered road transport cost class 1; reference terminal Lesedi"/>
          <p:cNvSpPr/>
          <p:nvPr/>
        </p:nvSpPr>
        <p:spPr>
          <a:xfrm>
            <a:off x="387729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2" name="Illustrative delivered road transport cost class 1; reference terminal Lesedi"/>
          <p:cNvSpPr/>
          <p:nvPr/>
        </p:nvSpPr>
        <p:spPr>
          <a:xfrm>
            <a:off x="387729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3" name="Illustrative delivered road transport cost class 1; reference terminal Lesedi"/>
          <p:cNvSpPr/>
          <p:nvPr/>
        </p:nvSpPr>
        <p:spPr>
          <a:xfrm>
            <a:off x="387729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4" name="Illustrative delivered road transport cost class 1; reference terminal Lesedi"/>
          <p:cNvSpPr/>
          <p:nvPr/>
        </p:nvSpPr>
        <p:spPr>
          <a:xfrm>
            <a:off x="3877294" y="3075396"/>
            <a:ext cx="57687" cy="57687"/>
          </a:xfrm>
          <a:custGeom>
            <a:avLst/>
            <a:gdLst/>
            <a:ahLst/>
            <a:cxnLst/>
            <a:rect l="l" t="t" r="r" b="b"/>
            <a:pathLst>
              <a:path w="57687" h="57687">
                <a:moveTo>
                  <a:pt x="57687" y="0"/>
                </a:moveTo>
                <a:lnTo>
                  <a:pt x="57687" y="57687"/>
                </a:lnTo>
                <a:lnTo>
                  <a:pt x="0" y="57687"/>
                </a:lnTo>
                <a:lnTo>
                  <a:pt x="0" y="11541"/>
                </a:lnTo>
                <a:lnTo>
                  <a:pt x="461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5" name="Illustrative delivered road transport cost class 1; reference terminal Lesedi"/>
          <p:cNvSpPr/>
          <p:nvPr/>
        </p:nvSpPr>
        <p:spPr>
          <a:xfrm>
            <a:off x="3881907" y="3017710"/>
            <a:ext cx="53074" cy="57686"/>
          </a:xfrm>
          <a:custGeom>
            <a:avLst/>
            <a:gdLst/>
            <a:ahLst/>
            <a:cxnLst/>
            <a:rect l="l" t="t" r="r" b="b"/>
            <a:pathLst>
              <a:path w="53074" h="57686">
                <a:moveTo>
                  <a:pt x="53074" y="0"/>
                </a:moveTo>
                <a:lnTo>
                  <a:pt x="53074" y="57686"/>
                </a:lnTo>
                <a:lnTo>
                  <a:pt x="0" y="57686"/>
                </a:lnTo>
                <a:lnTo>
                  <a:pt x="1547" y="53815"/>
                </a:lnTo>
                <a:lnTo>
                  <a:pt x="21099" y="0"/>
                </a:lnTo>
                <a:lnTo>
                  <a:pt x="5307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6" name="Illustrative delivered road transport cost class 1; reference terminal Lesedi"/>
          <p:cNvSpPr/>
          <p:nvPr/>
        </p:nvSpPr>
        <p:spPr>
          <a:xfrm>
            <a:off x="3903006" y="2962694"/>
            <a:ext cx="31975" cy="55016"/>
          </a:xfrm>
          <a:custGeom>
            <a:avLst/>
            <a:gdLst/>
            <a:ahLst/>
            <a:cxnLst/>
            <a:rect l="l" t="t" r="r" b="b"/>
            <a:pathLst>
              <a:path w="31975" h="55016">
                <a:moveTo>
                  <a:pt x="31975" y="55016"/>
                </a:moveTo>
                <a:lnTo>
                  <a:pt x="0" y="55016"/>
                </a:lnTo>
                <a:lnTo>
                  <a:pt x="8" y="54996"/>
                </a:lnTo>
                <a:lnTo>
                  <a:pt x="7115" y="17425"/>
                </a:lnTo>
                <a:lnTo>
                  <a:pt x="14254" y="7124"/>
                </a:lnTo>
                <a:lnTo>
                  <a:pt x="31975" y="0"/>
                </a:lnTo>
                <a:lnTo>
                  <a:pt x="31975" y="5501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7" name="Illustrative delivered road transport cost class 2; reference terminal Durban"/>
          <p:cNvSpPr/>
          <p:nvPr/>
        </p:nvSpPr>
        <p:spPr>
          <a:xfrm>
            <a:off x="3955112" y="5267486"/>
            <a:ext cx="37555" cy="5325"/>
          </a:xfrm>
          <a:custGeom>
            <a:avLst/>
            <a:gdLst/>
            <a:ahLst/>
            <a:cxnLst/>
            <a:rect l="l" t="t" r="r" b="b"/>
            <a:pathLst>
              <a:path w="37555" h="5325">
                <a:moveTo>
                  <a:pt x="37555" y="0"/>
                </a:moveTo>
                <a:lnTo>
                  <a:pt x="37555" y="5325"/>
                </a:lnTo>
                <a:lnTo>
                  <a:pt x="0" y="0"/>
                </a:lnTo>
                <a:lnTo>
                  <a:pt x="37555"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8" name="Illustrative delivered road transport cost class 2; reference terminal Durban"/>
          <p:cNvSpPr/>
          <p:nvPr/>
        </p:nvSpPr>
        <p:spPr>
          <a:xfrm>
            <a:off x="3934981" y="5209799"/>
            <a:ext cx="57686" cy="57687"/>
          </a:xfrm>
          <a:custGeom>
            <a:avLst/>
            <a:gdLst/>
            <a:ahLst/>
            <a:cxnLst/>
            <a:rect l="l" t="t" r="r" b="b"/>
            <a:pathLst>
              <a:path w="57686" h="57687">
                <a:moveTo>
                  <a:pt x="0" y="0"/>
                </a:moveTo>
                <a:lnTo>
                  <a:pt x="57686" y="0"/>
                </a:lnTo>
                <a:lnTo>
                  <a:pt x="57686" y="57687"/>
                </a:lnTo>
                <a:lnTo>
                  <a:pt x="20131" y="57687"/>
                </a:lnTo>
                <a:lnTo>
                  <a:pt x="0" y="5483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9" name="Illustrative delivered road transport cost class 2; reference terminal Durban"/>
          <p:cNvSpPr/>
          <p:nvPr/>
        </p:nvSpPr>
        <p:spPr>
          <a:xfrm>
            <a:off x="3934981"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0" name="Illustrative delivered road transport cost class 2; reference terminal Durban"/>
          <p:cNvSpPr/>
          <p:nvPr/>
        </p:nvSpPr>
        <p:spPr>
          <a:xfrm>
            <a:off x="393498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1" name="Illustrative delivered road transport cost class 2; reference terminal Durban"/>
          <p:cNvSpPr/>
          <p:nvPr/>
        </p:nvSpPr>
        <p:spPr>
          <a:xfrm>
            <a:off x="393498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2" name="Illustrative delivered road transport cost class 3; reference terminal Lesedi"/>
          <p:cNvSpPr/>
          <p:nvPr/>
        </p:nvSpPr>
        <p:spPr>
          <a:xfrm>
            <a:off x="393498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3" name="Illustrative delivered road transport cost class 2; reference terminal Durban"/>
          <p:cNvSpPr/>
          <p:nvPr/>
        </p:nvSpPr>
        <p:spPr>
          <a:xfrm>
            <a:off x="393498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4" name="Illustrative delivered road transport cost class 2; reference terminal Durban"/>
          <p:cNvSpPr/>
          <p:nvPr/>
        </p:nvSpPr>
        <p:spPr>
          <a:xfrm>
            <a:off x="393498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5" name="Illustrative delivered road transport cost class 2; reference terminal Durban"/>
          <p:cNvSpPr/>
          <p:nvPr/>
        </p:nvSpPr>
        <p:spPr>
          <a:xfrm>
            <a:off x="393498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6" name="Illustrative delivered road transport cost class 2; reference terminal Durban"/>
          <p:cNvSpPr/>
          <p:nvPr/>
        </p:nvSpPr>
        <p:spPr>
          <a:xfrm>
            <a:off x="393498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7" name="Illustrative delivered road transport cost class 2; reference terminal Durban"/>
          <p:cNvSpPr/>
          <p:nvPr/>
        </p:nvSpPr>
        <p:spPr>
          <a:xfrm>
            <a:off x="393498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8" name="Illustrative delivered road transport cost class 2; reference terminal Lesedi"/>
          <p:cNvSpPr/>
          <p:nvPr/>
        </p:nvSpPr>
        <p:spPr>
          <a:xfrm>
            <a:off x="393498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9" name="Illustrative delivered road transport cost class 2; reference terminal Lesedi"/>
          <p:cNvSpPr/>
          <p:nvPr/>
        </p:nvSpPr>
        <p:spPr>
          <a:xfrm>
            <a:off x="393498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0" name="Illustrative delivered road transport cost class 2; reference terminal Lesedi"/>
          <p:cNvSpPr/>
          <p:nvPr/>
        </p:nvSpPr>
        <p:spPr>
          <a:xfrm>
            <a:off x="393498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1" name="Illustrative delivered road transport cost class 2; reference terminal Lesedi"/>
          <p:cNvSpPr/>
          <p:nvPr/>
        </p:nvSpPr>
        <p:spPr>
          <a:xfrm>
            <a:off x="393498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2" name="Illustrative delivered road transport cost class 2; reference terminal Lesedi"/>
          <p:cNvSpPr/>
          <p:nvPr/>
        </p:nvSpPr>
        <p:spPr>
          <a:xfrm>
            <a:off x="393498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3" name="Illustrative delivered road transport cost class 2; reference terminal Lesedi"/>
          <p:cNvSpPr/>
          <p:nvPr/>
        </p:nvSpPr>
        <p:spPr>
          <a:xfrm>
            <a:off x="393498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4" name="Illustrative delivered road transport cost class 1; reference terminal Lesedi"/>
          <p:cNvSpPr/>
          <p:nvPr/>
        </p:nvSpPr>
        <p:spPr>
          <a:xfrm>
            <a:off x="393498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5" name="Illustrative delivered road transport cost class 1; reference terminal Lesedi"/>
          <p:cNvSpPr/>
          <p:nvPr/>
        </p:nvSpPr>
        <p:spPr>
          <a:xfrm>
            <a:off x="393498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6" name="Illustrative delivered road transport cost class 1; reference terminal Lesedi"/>
          <p:cNvSpPr/>
          <p:nvPr/>
        </p:nvSpPr>
        <p:spPr>
          <a:xfrm>
            <a:off x="393498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7" name="Illustrative delivered road transport cost class 1; reference terminal Lesedi"/>
          <p:cNvSpPr/>
          <p:nvPr/>
        </p:nvSpPr>
        <p:spPr>
          <a:xfrm>
            <a:off x="393498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8" name="Illustrative delivered road transport cost class 1; reference terminal Lesedi"/>
          <p:cNvSpPr/>
          <p:nvPr/>
        </p:nvSpPr>
        <p:spPr>
          <a:xfrm>
            <a:off x="393498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9" name="Illustrative delivered road transport cost class 1; reference terminal Lesedi"/>
          <p:cNvSpPr/>
          <p:nvPr/>
        </p:nvSpPr>
        <p:spPr>
          <a:xfrm>
            <a:off x="393498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0" name="Illustrative delivered road transport cost class 1; reference terminal Lesedi"/>
          <p:cNvSpPr/>
          <p:nvPr/>
        </p:nvSpPr>
        <p:spPr>
          <a:xfrm>
            <a:off x="393498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1" name="Illustrative delivered road transport cost class 1; reference terminal Lesedi"/>
          <p:cNvSpPr/>
          <p:nvPr/>
        </p:nvSpPr>
        <p:spPr>
          <a:xfrm>
            <a:off x="393498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2" name="Illustrative delivered road transport cost class 1; reference terminal Lesedi"/>
          <p:cNvSpPr/>
          <p:nvPr/>
        </p:nvSpPr>
        <p:spPr>
          <a:xfrm>
            <a:off x="393498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3" name="Illustrative delivered road transport cost class 1; reference terminal Lesedi"/>
          <p:cNvSpPr/>
          <p:nvPr/>
        </p:nvSpPr>
        <p:spPr>
          <a:xfrm>
            <a:off x="393498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4" name="Illustrative delivered road transport cost class 1; reference terminal Lesedi"/>
          <p:cNvSpPr/>
          <p:nvPr/>
        </p:nvSpPr>
        <p:spPr>
          <a:xfrm>
            <a:off x="393498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5" name="Illustrative delivered road transport cost class 0; reference terminal Lesedi"/>
          <p:cNvSpPr/>
          <p:nvPr/>
        </p:nvSpPr>
        <p:spPr>
          <a:xfrm>
            <a:off x="393498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6" name="Illustrative delivered road transport cost class 0; reference terminal Lesedi"/>
          <p:cNvSpPr/>
          <p:nvPr/>
        </p:nvSpPr>
        <p:spPr>
          <a:xfrm>
            <a:off x="393498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7" name="Illustrative delivered road transport cost class 0; reference terminal Lesedi"/>
          <p:cNvSpPr/>
          <p:nvPr/>
        </p:nvSpPr>
        <p:spPr>
          <a:xfrm>
            <a:off x="393498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8" name="Illustrative delivered road transport cost class 0; reference terminal Lesedi"/>
          <p:cNvSpPr/>
          <p:nvPr/>
        </p:nvSpPr>
        <p:spPr>
          <a:xfrm>
            <a:off x="393498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9" name="Illustrative delivered road transport cost class 0; reference terminal Lesedi"/>
          <p:cNvSpPr/>
          <p:nvPr/>
        </p:nvSpPr>
        <p:spPr>
          <a:xfrm>
            <a:off x="393498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0" name="Illustrative delivered road transport cost class 0; reference terminal Lesedi"/>
          <p:cNvSpPr/>
          <p:nvPr/>
        </p:nvSpPr>
        <p:spPr>
          <a:xfrm>
            <a:off x="393498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1" name="Illustrative delivered road transport cost class 0; reference terminal Lesedi"/>
          <p:cNvSpPr/>
          <p:nvPr/>
        </p:nvSpPr>
        <p:spPr>
          <a:xfrm>
            <a:off x="393498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2" name="Illustrative delivered road transport cost class 1; reference terminal Lesedi"/>
          <p:cNvSpPr/>
          <p:nvPr/>
        </p:nvSpPr>
        <p:spPr>
          <a:xfrm>
            <a:off x="393498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3" name="Illustrative delivered road transport cost class 1; reference terminal Lesedi"/>
          <p:cNvSpPr/>
          <p:nvPr/>
        </p:nvSpPr>
        <p:spPr>
          <a:xfrm>
            <a:off x="393498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4" name="Illustrative delivered road transport cost class 1; reference terminal Lesedi"/>
          <p:cNvSpPr/>
          <p:nvPr/>
        </p:nvSpPr>
        <p:spPr>
          <a:xfrm>
            <a:off x="393498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5" name="Illustrative delivered road transport cost class 1; reference terminal Lesedi"/>
          <p:cNvSpPr/>
          <p:nvPr/>
        </p:nvSpPr>
        <p:spPr>
          <a:xfrm>
            <a:off x="393498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6" name="Illustrative delivered road transport cost class 1; reference terminal Lesedi"/>
          <p:cNvSpPr/>
          <p:nvPr/>
        </p:nvSpPr>
        <p:spPr>
          <a:xfrm>
            <a:off x="393498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7" name="Illustrative delivered road transport cost class 1; reference terminal Lesedi"/>
          <p:cNvSpPr/>
          <p:nvPr/>
        </p:nvSpPr>
        <p:spPr>
          <a:xfrm>
            <a:off x="3934981" y="2960023"/>
            <a:ext cx="57686" cy="57687"/>
          </a:xfrm>
          <a:custGeom>
            <a:avLst/>
            <a:gdLst/>
            <a:ahLst/>
            <a:cxnLst/>
            <a:rect l="l" t="t" r="r" b="b"/>
            <a:pathLst>
              <a:path w="57686" h="57687">
                <a:moveTo>
                  <a:pt x="57686" y="0"/>
                </a:moveTo>
                <a:lnTo>
                  <a:pt x="57686" y="57687"/>
                </a:lnTo>
                <a:lnTo>
                  <a:pt x="0" y="57687"/>
                </a:lnTo>
                <a:lnTo>
                  <a:pt x="0" y="2671"/>
                </a:lnTo>
                <a:lnTo>
                  <a:pt x="6641"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8" name="Illustrative delivered road transport cost class 1; reference terminal Lesedi"/>
          <p:cNvSpPr/>
          <p:nvPr/>
        </p:nvSpPr>
        <p:spPr>
          <a:xfrm>
            <a:off x="3941622" y="2945357"/>
            <a:ext cx="51045" cy="14666"/>
          </a:xfrm>
          <a:custGeom>
            <a:avLst/>
            <a:gdLst/>
            <a:ahLst/>
            <a:cxnLst/>
            <a:rect l="l" t="t" r="r" b="b"/>
            <a:pathLst>
              <a:path w="51045" h="14666">
                <a:moveTo>
                  <a:pt x="51045" y="14666"/>
                </a:moveTo>
                <a:lnTo>
                  <a:pt x="0" y="14666"/>
                </a:lnTo>
                <a:lnTo>
                  <a:pt x="3690" y="13183"/>
                </a:lnTo>
                <a:lnTo>
                  <a:pt x="26892" y="5479"/>
                </a:lnTo>
                <a:lnTo>
                  <a:pt x="51045" y="0"/>
                </a:lnTo>
                <a:lnTo>
                  <a:pt x="51045" y="1466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9" name="Illustrative delivered road transport cost class 2; reference terminal Durban"/>
          <p:cNvSpPr/>
          <p:nvPr/>
        </p:nvSpPr>
        <p:spPr>
          <a:xfrm>
            <a:off x="3992667" y="5267486"/>
            <a:ext cx="41532" cy="7796"/>
          </a:xfrm>
          <a:custGeom>
            <a:avLst/>
            <a:gdLst/>
            <a:ahLst/>
            <a:cxnLst/>
            <a:rect l="l" t="t" r="r" b="b"/>
            <a:pathLst>
              <a:path w="41532" h="7796">
                <a:moveTo>
                  <a:pt x="0" y="0"/>
                </a:moveTo>
                <a:lnTo>
                  <a:pt x="41532" y="0"/>
                </a:lnTo>
                <a:lnTo>
                  <a:pt x="17428" y="7796"/>
                </a:lnTo>
                <a:lnTo>
                  <a:pt x="0" y="5325"/>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0" name="Illustrative delivered road transport cost class 2; reference terminal Durban"/>
          <p:cNvSpPr/>
          <p:nvPr/>
        </p:nvSpPr>
        <p:spPr>
          <a:xfrm>
            <a:off x="3992667" y="5209799"/>
            <a:ext cx="57687" cy="57687"/>
          </a:xfrm>
          <a:custGeom>
            <a:avLst/>
            <a:gdLst/>
            <a:ahLst/>
            <a:cxnLst/>
            <a:rect l="l" t="t" r="r" b="b"/>
            <a:pathLst>
              <a:path w="57687" h="57687">
                <a:moveTo>
                  <a:pt x="0" y="57687"/>
                </a:moveTo>
                <a:lnTo>
                  <a:pt x="0" y="0"/>
                </a:lnTo>
                <a:lnTo>
                  <a:pt x="57687" y="0"/>
                </a:lnTo>
                <a:lnTo>
                  <a:pt x="57687" y="52373"/>
                </a:lnTo>
                <a:lnTo>
                  <a:pt x="57034" y="52673"/>
                </a:lnTo>
                <a:lnTo>
                  <a:pt x="4153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1" name="Illustrative delivered road transport cost class 2; reference terminal Durban"/>
          <p:cNvSpPr/>
          <p:nvPr/>
        </p:nvSpPr>
        <p:spPr>
          <a:xfrm>
            <a:off x="399266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2" name="Illustrative delivered road transport cost class 2; reference terminal Durban"/>
          <p:cNvSpPr/>
          <p:nvPr/>
        </p:nvSpPr>
        <p:spPr>
          <a:xfrm>
            <a:off x="399266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3" name="Illustrative delivered road transport cost class 2; reference terminal Durban"/>
          <p:cNvSpPr/>
          <p:nvPr/>
        </p:nvSpPr>
        <p:spPr>
          <a:xfrm>
            <a:off x="399266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4" name="Illustrative delivered road transport cost class 2; reference terminal Durban"/>
          <p:cNvSpPr/>
          <p:nvPr/>
        </p:nvSpPr>
        <p:spPr>
          <a:xfrm>
            <a:off x="399266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5" name="Illustrative delivered road transport cost class 2; reference terminal Durban"/>
          <p:cNvSpPr/>
          <p:nvPr/>
        </p:nvSpPr>
        <p:spPr>
          <a:xfrm>
            <a:off x="399266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6" name="Illustrative delivered road transport cost class 2; reference terminal Durban"/>
          <p:cNvSpPr/>
          <p:nvPr/>
        </p:nvSpPr>
        <p:spPr>
          <a:xfrm>
            <a:off x="399266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7" name="Illustrative delivered road transport cost class 2; reference terminal Durban"/>
          <p:cNvSpPr/>
          <p:nvPr/>
        </p:nvSpPr>
        <p:spPr>
          <a:xfrm>
            <a:off x="399266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8" name="Illustrative delivered road transport cost class 2; reference terminal Durban"/>
          <p:cNvSpPr/>
          <p:nvPr/>
        </p:nvSpPr>
        <p:spPr>
          <a:xfrm>
            <a:off x="399266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9" name="Illustrative delivered road transport cost class 2; reference terminal Lesedi"/>
          <p:cNvSpPr/>
          <p:nvPr/>
        </p:nvSpPr>
        <p:spPr>
          <a:xfrm>
            <a:off x="399266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0" name="Illustrative delivered road transport cost class 2; reference terminal Lesedi"/>
          <p:cNvSpPr/>
          <p:nvPr/>
        </p:nvSpPr>
        <p:spPr>
          <a:xfrm>
            <a:off x="399266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1" name="Illustrative delivered road transport cost class 2; reference terminal Lesedi"/>
          <p:cNvSpPr/>
          <p:nvPr/>
        </p:nvSpPr>
        <p:spPr>
          <a:xfrm>
            <a:off x="399266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2" name="Illustrative delivered road transport cost class 2; reference terminal Lesedi"/>
          <p:cNvSpPr/>
          <p:nvPr/>
        </p:nvSpPr>
        <p:spPr>
          <a:xfrm>
            <a:off x="399266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3" name="Illustrative delivered road transport cost class 2; reference terminal Lesedi"/>
          <p:cNvSpPr/>
          <p:nvPr/>
        </p:nvSpPr>
        <p:spPr>
          <a:xfrm>
            <a:off x="399266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4" name="Illustrative delivered road transport cost class 2; reference terminal Lesedi"/>
          <p:cNvSpPr/>
          <p:nvPr/>
        </p:nvSpPr>
        <p:spPr>
          <a:xfrm>
            <a:off x="399266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5" name="Illustrative delivered road transport cost class 2; reference terminal Lesedi"/>
          <p:cNvSpPr/>
          <p:nvPr/>
        </p:nvSpPr>
        <p:spPr>
          <a:xfrm>
            <a:off x="399266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6" name="Illustrative delivered road transport cost class 1; reference terminal Lesedi"/>
          <p:cNvSpPr/>
          <p:nvPr/>
        </p:nvSpPr>
        <p:spPr>
          <a:xfrm>
            <a:off x="399266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7" name="Illustrative delivered road transport cost class 1; reference terminal Lesedi"/>
          <p:cNvSpPr/>
          <p:nvPr/>
        </p:nvSpPr>
        <p:spPr>
          <a:xfrm>
            <a:off x="399266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8" name="Illustrative delivered road transport cost class 1; reference terminal Lesedi"/>
          <p:cNvSpPr/>
          <p:nvPr/>
        </p:nvSpPr>
        <p:spPr>
          <a:xfrm>
            <a:off x="399266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9" name="Illustrative delivered road transport cost class 1; reference terminal Lesedi"/>
          <p:cNvSpPr/>
          <p:nvPr/>
        </p:nvSpPr>
        <p:spPr>
          <a:xfrm>
            <a:off x="399266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0" name="Illustrative delivered road transport cost class 1; reference terminal Lesedi"/>
          <p:cNvSpPr/>
          <p:nvPr/>
        </p:nvSpPr>
        <p:spPr>
          <a:xfrm>
            <a:off x="399266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1" name="Illustrative delivered road transport cost class 1; reference terminal Lesedi"/>
          <p:cNvSpPr/>
          <p:nvPr/>
        </p:nvSpPr>
        <p:spPr>
          <a:xfrm>
            <a:off x="399266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2" name="Illustrative delivered road transport cost class 1; reference terminal Lesedi"/>
          <p:cNvSpPr/>
          <p:nvPr/>
        </p:nvSpPr>
        <p:spPr>
          <a:xfrm>
            <a:off x="399266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3" name="Illustrative delivered road transport cost class 1; reference terminal Lesedi"/>
          <p:cNvSpPr/>
          <p:nvPr/>
        </p:nvSpPr>
        <p:spPr>
          <a:xfrm>
            <a:off x="399266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4" name="Illustrative delivered road transport cost class 1; reference terminal Lesedi"/>
          <p:cNvSpPr/>
          <p:nvPr/>
        </p:nvSpPr>
        <p:spPr>
          <a:xfrm>
            <a:off x="399266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5" name="Illustrative delivered road transport cost class 1; reference terminal Lesedi"/>
          <p:cNvSpPr/>
          <p:nvPr/>
        </p:nvSpPr>
        <p:spPr>
          <a:xfrm>
            <a:off x="399266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6" name="Illustrative delivered road transport cost class 1; reference terminal Lesedi"/>
          <p:cNvSpPr/>
          <p:nvPr/>
        </p:nvSpPr>
        <p:spPr>
          <a:xfrm>
            <a:off x="399266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7" name="Illustrative delivered road transport cost class 0; reference terminal Lesedi"/>
          <p:cNvSpPr/>
          <p:nvPr/>
        </p:nvSpPr>
        <p:spPr>
          <a:xfrm>
            <a:off x="399266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8" name="Illustrative delivered road transport cost class 0; reference terminal Lesedi"/>
          <p:cNvSpPr/>
          <p:nvPr/>
        </p:nvSpPr>
        <p:spPr>
          <a:xfrm>
            <a:off x="399266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9" name="Illustrative delivered road transport cost class 0; reference terminal Lesedi"/>
          <p:cNvSpPr/>
          <p:nvPr/>
        </p:nvSpPr>
        <p:spPr>
          <a:xfrm>
            <a:off x="399266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0" name="Illustrative delivered road transport cost class 0; reference terminal Lesedi"/>
          <p:cNvSpPr/>
          <p:nvPr/>
        </p:nvSpPr>
        <p:spPr>
          <a:xfrm>
            <a:off x="399266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1" name="Illustrative delivered road transport cost class 0; reference terminal Lesedi"/>
          <p:cNvSpPr/>
          <p:nvPr/>
        </p:nvSpPr>
        <p:spPr>
          <a:xfrm>
            <a:off x="399266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2" name="Illustrative delivered road transport cost class 0; reference terminal Lesedi"/>
          <p:cNvSpPr/>
          <p:nvPr/>
        </p:nvSpPr>
        <p:spPr>
          <a:xfrm>
            <a:off x="399266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3" name="Illustrative delivered road transport cost class 0; reference terminal Lesedi"/>
          <p:cNvSpPr/>
          <p:nvPr/>
        </p:nvSpPr>
        <p:spPr>
          <a:xfrm>
            <a:off x="399266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4" name="Illustrative delivered road transport cost class 0; reference terminal Lesedi"/>
          <p:cNvSpPr/>
          <p:nvPr/>
        </p:nvSpPr>
        <p:spPr>
          <a:xfrm>
            <a:off x="399266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5" name="Illustrative delivered road transport cost class 0; reference terminal Lesedi"/>
          <p:cNvSpPr/>
          <p:nvPr/>
        </p:nvSpPr>
        <p:spPr>
          <a:xfrm>
            <a:off x="399266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6" name="Illustrative delivered road transport cost class 0; reference terminal Lesedi"/>
          <p:cNvSpPr/>
          <p:nvPr/>
        </p:nvSpPr>
        <p:spPr>
          <a:xfrm>
            <a:off x="399266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7" name="Illustrative delivered road transport cost class 0; reference terminal Lesedi"/>
          <p:cNvSpPr/>
          <p:nvPr/>
        </p:nvSpPr>
        <p:spPr>
          <a:xfrm>
            <a:off x="399266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8" name="Illustrative delivered road transport cost class 1; reference terminal Lesedi"/>
          <p:cNvSpPr/>
          <p:nvPr/>
        </p:nvSpPr>
        <p:spPr>
          <a:xfrm>
            <a:off x="399266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9" name="Illustrative delivered road transport cost class 1; reference terminal Lesedi"/>
          <p:cNvSpPr/>
          <p:nvPr/>
        </p:nvSpPr>
        <p:spPr>
          <a:xfrm>
            <a:off x="399266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0" name="Illustrative delivered road transport cost class 1; reference terminal Lesedi"/>
          <p:cNvSpPr/>
          <p:nvPr/>
        </p:nvSpPr>
        <p:spPr>
          <a:xfrm>
            <a:off x="3992667" y="2919144"/>
            <a:ext cx="57687" cy="40879"/>
          </a:xfrm>
          <a:custGeom>
            <a:avLst/>
            <a:gdLst/>
            <a:ahLst/>
            <a:cxnLst/>
            <a:rect l="l" t="t" r="r" b="b"/>
            <a:pathLst>
              <a:path w="57687" h="40879">
                <a:moveTo>
                  <a:pt x="57687" y="40879"/>
                </a:moveTo>
                <a:lnTo>
                  <a:pt x="0" y="40879"/>
                </a:lnTo>
                <a:lnTo>
                  <a:pt x="0" y="26213"/>
                </a:lnTo>
                <a:lnTo>
                  <a:pt x="38235" y="17540"/>
                </a:lnTo>
                <a:lnTo>
                  <a:pt x="51084" y="9806"/>
                </a:lnTo>
                <a:lnTo>
                  <a:pt x="57687" y="0"/>
                </a:lnTo>
                <a:lnTo>
                  <a:pt x="57687" y="4087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1" name="Illustrative delivered road transport cost class 2; reference terminal Durban"/>
          <p:cNvSpPr/>
          <p:nvPr/>
        </p:nvSpPr>
        <p:spPr>
          <a:xfrm>
            <a:off x="4050354" y="5209799"/>
            <a:ext cx="57687" cy="52373"/>
          </a:xfrm>
          <a:custGeom>
            <a:avLst/>
            <a:gdLst/>
            <a:ahLst/>
            <a:cxnLst/>
            <a:rect l="l" t="t" r="r" b="b"/>
            <a:pathLst>
              <a:path w="57687" h="52373">
                <a:moveTo>
                  <a:pt x="0" y="0"/>
                </a:moveTo>
                <a:lnTo>
                  <a:pt x="57687" y="0"/>
                </a:lnTo>
                <a:lnTo>
                  <a:pt x="57687" y="25879"/>
                </a:lnTo>
                <a:lnTo>
                  <a:pt x="0" y="5237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2" name="Illustrative delivered road transport cost class 2; reference terminal Durban"/>
          <p:cNvSpPr/>
          <p:nvPr/>
        </p:nvSpPr>
        <p:spPr>
          <a:xfrm>
            <a:off x="405035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3" name="Illustrative delivered road transport cost class 2; reference terminal Durban"/>
          <p:cNvSpPr/>
          <p:nvPr/>
        </p:nvSpPr>
        <p:spPr>
          <a:xfrm>
            <a:off x="405035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4" name="Illustrative delivered road transport cost class 2; reference terminal Durban"/>
          <p:cNvSpPr/>
          <p:nvPr/>
        </p:nvSpPr>
        <p:spPr>
          <a:xfrm>
            <a:off x="405035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5" name="Illustrative delivered road transport cost class 2; reference terminal Durban"/>
          <p:cNvSpPr/>
          <p:nvPr/>
        </p:nvSpPr>
        <p:spPr>
          <a:xfrm>
            <a:off x="405035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6" name="Illustrative delivered road transport cost class 2; reference terminal Durban"/>
          <p:cNvSpPr/>
          <p:nvPr/>
        </p:nvSpPr>
        <p:spPr>
          <a:xfrm>
            <a:off x="405035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7" name="Illustrative delivered road transport cost class 2; reference terminal Durban"/>
          <p:cNvSpPr/>
          <p:nvPr/>
        </p:nvSpPr>
        <p:spPr>
          <a:xfrm>
            <a:off x="405035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8" name="Illustrative delivered road transport cost class 2; reference terminal Durban"/>
          <p:cNvSpPr/>
          <p:nvPr/>
        </p:nvSpPr>
        <p:spPr>
          <a:xfrm>
            <a:off x="405035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9" name="Illustrative delivered road transport cost class 2; reference terminal Durban"/>
          <p:cNvSpPr/>
          <p:nvPr/>
        </p:nvSpPr>
        <p:spPr>
          <a:xfrm>
            <a:off x="405035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0" name="Illustrative delivered road transport cost class 2; reference terminal Lesedi"/>
          <p:cNvSpPr/>
          <p:nvPr/>
        </p:nvSpPr>
        <p:spPr>
          <a:xfrm>
            <a:off x="405035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1" name="Illustrative delivered road transport cost class 2; reference terminal Lesedi"/>
          <p:cNvSpPr/>
          <p:nvPr/>
        </p:nvSpPr>
        <p:spPr>
          <a:xfrm>
            <a:off x="405035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2" name="Illustrative delivered road transport cost class 2; reference terminal Lesedi"/>
          <p:cNvSpPr/>
          <p:nvPr/>
        </p:nvSpPr>
        <p:spPr>
          <a:xfrm>
            <a:off x="405035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3" name="Illustrative delivered road transport cost class 2; reference terminal Lesedi"/>
          <p:cNvSpPr/>
          <p:nvPr/>
        </p:nvSpPr>
        <p:spPr>
          <a:xfrm>
            <a:off x="405035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4" name="Illustrative delivered road transport cost class 2; reference terminal Lesedi"/>
          <p:cNvSpPr/>
          <p:nvPr/>
        </p:nvSpPr>
        <p:spPr>
          <a:xfrm>
            <a:off x="405035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5" name="Illustrative delivered road transport cost class 2; reference terminal Lesedi"/>
          <p:cNvSpPr/>
          <p:nvPr/>
        </p:nvSpPr>
        <p:spPr>
          <a:xfrm>
            <a:off x="405035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6" name="Illustrative delivered road transport cost class 2; reference terminal Lesedi"/>
          <p:cNvSpPr/>
          <p:nvPr/>
        </p:nvSpPr>
        <p:spPr>
          <a:xfrm>
            <a:off x="405035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7" name="Illustrative delivered road transport cost class 1; reference terminal Lesedi"/>
          <p:cNvSpPr/>
          <p:nvPr/>
        </p:nvSpPr>
        <p:spPr>
          <a:xfrm>
            <a:off x="405035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8" name="Illustrative delivered road transport cost class 1; reference terminal Lesedi"/>
          <p:cNvSpPr/>
          <p:nvPr/>
        </p:nvSpPr>
        <p:spPr>
          <a:xfrm>
            <a:off x="405035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9" name="Illustrative delivered road transport cost class 1; reference terminal Lesedi"/>
          <p:cNvSpPr/>
          <p:nvPr/>
        </p:nvSpPr>
        <p:spPr>
          <a:xfrm>
            <a:off x="405035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0" name="Illustrative delivered road transport cost class 1; reference terminal Lesedi"/>
          <p:cNvSpPr/>
          <p:nvPr/>
        </p:nvSpPr>
        <p:spPr>
          <a:xfrm>
            <a:off x="405035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1" name="Illustrative delivered road transport cost class 1; reference terminal Lesedi"/>
          <p:cNvSpPr/>
          <p:nvPr/>
        </p:nvSpPr>
        <p:spPr>
          <a:xfrm>
            <a:off x="405035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2" name="Illustrative delivered road transport cost class 1; reference terminal Lesedi"/>
          <p:cNvSpPr/>
          <p:nvPr/>
        </p:nvSpPr>
        <p:spPr>
          <a:xfrm>
            <a:off x="405035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3" name="Illustrative delivered road transport cost class 1; reference terminal Lesedi"/>
          <p:cNvSpPr/>
          <p:nvPr/>
        </p:nvSpPr>
        <p:spPr>
          <a:xfrm>
            <a:off x="405035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4" name="Illustrative delivered road transport cost class 1; reference terminal Lesedi"/>
          <p:cNvSpPr/>
          <p:nvPr/>
        </p:nvSpPr>
        <p:spPr>
          <a:xfrm>
            <a:off x="405035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5" name="Illustrative delivered road transport cost class 1; reference terminal Lesedi"/>
          <p:cNvSpPr/>
          <p:nvPr/>
        </p:nvSpPr>
        <p:spPr>
          <a:xfrm>
            <a:off x="405035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6" name="Illustrative delivered road transport cost class 0; reference terminal Lesedi"/>
          <p:cNvSpPr/>
          <p:nvPr/>
        </p:nvSpPr>
        <p:spPr>
          <a:xfrm>
            <a:off x="405035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7" name="Illustrative delivered road transport cost class 0; reference terminal Lesedi"/>
          <p:cNvSpPr/>
          <p:nvPr/>
        </p:nvSpPr>
        <p:spPr>
          <a:xfrm>
            <a:off x="405035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8" name="Illustrative delivered road transport cost class 0; reference terminal Lesedi"/>
          <p:cNvSpPr/>
          <p:nvPr/>
        </p:nvSpPr>
        <p:spPr>
          <a:xfrm>
            <a:off x="405035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9" name="Illustrative delivered road transport cost class 0; reference terminal Lesedi"/>
          <p:cNvSpPr/>
          <p:nvPr/>
        </p:nvSpPr>
        <p:spPr>
          <a:xfrm>
            <a:off x="405035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0" name="Illustrative delivered road transport cost class 0; reference terminal Lesedi"/>
          <p:cNvSpPr/>
          <p:nvPr/>
        </p:nvSpPr>
        <p:spPr>
          <a:xfrm>
            <a:off x="405035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1" name="Illustrative delivered road transport cost class 0; reference terminal Lesedi"/>
          <p:cNvSpPr/>
          <p:nvPr/>
        </p:nvSpPr>
        <p:spPr>
          <a:xfrm>
            <a:off x="405035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2" name="Illustrative delivered road transport cost class 0; reference terminal Lesedi"/>
          <p:cNvSpPr/>
          <p:nvPr/>
        </p:nvSpPr>
        <p:spPr>
          <a:xfrm>
            <a:off x="405035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3" name="Illustrative delivered road transport cost class 0; reference terminal Lesedi"/>
          <p:cNvSpPr/>
          <p:nvPr/>
        </p:nvSpPr>
        <p:spPr>
          <a:xfrm>
            <a:off x="405035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4" name="Illustrative delivered road transport cost class 0; reference terminal Lesedi"/>
          <p:cNvSpPr/>
          <p:nvPr/>
        </p:nvSpPr>
        <p:spPr>
          <a:xfrm>
            <a:off x="405035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5" name="Illustrative delivered road transport cost class 0; reference terminal Lesedi"/>
          <p:cNvSpPr/>
          <p:nvPr/>
        </p:nvSpPr>
        <p:spPr>
          <a:xfrm>
            <a:off x="405035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6" name="Illustrative delivered road transport cost class 0; reference terminal Lesedi"/>
          <p:cNvSpPr/>
          <p:nvPr/>
        </p:nvSpPr>
        <p:spPr>
          <a:xfrm>
            <a:off x="405035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7" name="Illustrative delivered road transport cost class 0; reference terminal Lesedi"/>
          <p:cNvSpPr/>
          <p:nvPr/>
        </p:nvSpPr>
        <p:spPr>
          <a:xfrm>
            <a:off x="405035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8" name="Illustrative delivered road transport cost class 0; reference terminal Lesedi"/>
          <p:cNvSpPr/>
          <p:nvPr/>
        </p:nvSpPr>
        <p:spPr>
          <a:xfrm>
            <a:off x="4050354"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9" name="Illustrative delivered road transport cost class 0; reference terminal Lesedi"/>
          <p:cNvSpPr/>
          <p:nvPr/>
        </p:nvSpPr>
        <p:spPr>
          <a:xfrm>
            <a:off x="4050354"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0" name="Illustrative delivered road transport cost class 1; reference terminal Lesedi"/>
          <p:cNvSpPr/>
          <p:nvPr/>
        </p:nvSpPr>
        <p:spPr>
          <a:xfrm>
            <a:off x="4050354"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1" name="Illustrative delivered road transport cost class 1; reference terminal Lesedi"/>
          <p:cNvSpPr/>
          <p:nvPr/>
        </p:nvSpPr>
        <p:spPr>
          <a:xfrm>
            <a:off x="4050354" y="2902337"/>
            <a:ext cx="57687" cy="57686"/>
          </a:xfrm>
          <a:custGeom>
            <a:avLst/>
            <a:gdLst/>
            <a:ahLst/>
            <a:cxnLst/>
            <a:rect l="l" t="t" r="r" b="b"/>
            <a:pathLst>
              <a:path w="57687" h="57686">
                <a:moveTo>
                  <a:pt x="57687" y="0"/>
                </a:moveTo>
                <a:lnTo>
                  <a:pt x="57687" y="57686"/>
                </a:lnTo>
                <a:lnTo>
                  <a:pt x="0" y="57686"/>
                </a:lnTo>
                <a:lnTo>
                  <a:pt x="0" y="16807"/>
                </a:lnTo>
                <a:lnTo>
                  <a:pt x="5245" y="9018"/>
                </a:lnTo>
                <a:lnTo>
                  <a:pt x="1360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2" name="Illustrative delivered road transport cost class None; reference terminal None"/>
          <p:cNvSpPr/>
          <p:nvPr/>
        </p:nvSpPr>
        <p:spPr>
          <a:xfrm>
            <a:off x="4063957" y="2863525"/>
            <a:ext cx="44084" cy="38812"/>
          </a:xfrm>
          <a:custGeom>
            <a:avLst/>
            <a:gdLst/>
            <a:ahLst/>
            <a:cxnLst/>
            <a:rect l="l" t="t" r="r" b="b"/>
            <a:pathLst>
              <a:path w="44084" h="38812">
                <a:moveTo>
                  <a:pt x="44084" y="38812"/>
                </a:moveTo>
                <a:lnTo>
                  <a:pt x="0" y="38812"/>
                </a:lnTo>
                <a:lnTo>
                  <a:pt x="19199" y="18095"/>
                </a:lnTo>
                <a:lnTo>
                  <a:pt x="44084" y="0"/>
                </a:lnTo>
                <a:lnTo>
                  <a:pt x="44084" y="388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3" name="Illustrative delivered road transport cost class 2; reference terminal Durban"/>
          <p:cNvSpPr/>
          <p:nvPr/>
        </p:nvSpPr>
        <p:spPr>
          <a:xfrm>
            <a:off x="4108041" y="5209799"/>
            <a:ext cx="52253" cy="25879"/>
          </a:xfrm>
          <a:custGeom>
            <a:avLst/>
            <a:gdLst/>
            <a:ahLst/>
            <a:cxnLst/>
            <a:rect l="l" t="t" r="r" b="b"/>
            <a:pathLst>
              <a:path w="52253" h="25879">
                <a:moveTo>
                  <a:pt x="0" y="0"/>
                </a:moveTo>
                <a:lnTo>
                  <a:pt x="52253" y="0"/>
                </a:lnTo>
                <a:lnTo>
                  <a:pt x="41856" y="6655"/>
                </a:lnTo>
                <a:lnTo>
                  <a:pt x="0" y="2587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4" name="Illustrative delivered road transport cost class 2; reference terminal Durban"/>
          <p:cNvSpPr/>
          <p:nvPr/>
        </p:nvSpPr>
        <p:spPr>
          <a:xfrm>
            <a:off x="4108041" y="5152113"/>
            <a:ext cx="57686" cy="57686"/>
          </a:xfrm>
          <a:custGeom>
            <a:avLst/>
            <a:gdLst/>
            <a:ahLst/>
            <a:cxnLst/>
            <a:rect l="l" t="t" r="r" b="b"/>
            <a:pathLst>
              <a:path w="57686" h="57686">
                <a:moveTo>
                  <a:pt x="0" y="57686"/>
                </a:moveTo>
                <a:lnTo>
                  <a:pt x="0" y="0"/>
                </a:lnTo>
                <a:lnTo>
                  <a:pt x="57686" y="0"/>
                </a:lnTo>
                <a:lnTo>
                  <a:pt x="57686" y="54209"/>
                </a:lnTo>
                <a:lnTo>
                  <a:pt x="52253"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5" name="Illustrative delivered road transport cost class 2; reference terminal Durban"/>
          <p:cNvSpPr/>
          <p:nvPr/>
        </p:nvSpPr>
        <p:spPr>
          <a:xfrm>
            <a:off x="410804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6" name="Illustrative delivered road transport cost class 2; reference terminal Durban"/>
          <p:cNvSpPr/>
          <p:nvPr/>
        </p:nvSpPr>
        <p:spPr>
          <a:xfrm>
            <a:off x="410804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7" name="Illustrative delivered road transport cost class 2; reference terminal Durban"/>
          <p:cNvSpPr/>
          <p:nvPr/>
        </p:nvSpPr>
        <p:spPr>
          <a:xfrm>
            <a:off x="410804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8" name="Illustrative delivered road transport cost class 2; reference terminal Durban"/>
          <p:cNvSpPr/>
          <p:nvPr/>
        </p:nvSpPr>
        <p:spPr>
          <a:xfrm>
            <a:off x="410804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9" name="Illustrative delivered road transport cost class 2; reference terminal Durban"/>
          <p:cNvSpPr/>
          <p:nvPr/>
        </p:nvSpPr>
        <p:spPr>
          <a:xfrm>
            <a:off x="410804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0" name="Illustrative delivered road transport cost class 2; reference terminal Durban"/>
          <p:cNvSpPr/>
          <p:nvPr/>
        </p:nvSpPr>
        <p:spPr>
          <a:xfrm>
            <a:off x="410804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1" name="Illustrative delivered road transport cost class 2; reference terminal Durban"/>
          <p:cNvSpPr/>
          <p:nvPr/>
        </p:nvSpPr>
        <p:spPr>
          <a:xfrm>
            <a:off x="410804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2" name="Illustrative delivered road transport cost class 2; reference terminal Lesedi"/>
          <p:cNvSpPr/>
          <p:nvPr/>
        </p:nvSpPr>
        <p:spPr>
          <a:xfrm>
            <a:off x="410804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3" name="Illustrative delivered road transport cost class 2; reference terminal Lesedi"/>
          <p:cNvSpPr/>
          <p:nvPr/>
        </p:nvSpPr>
        <p:spPr>
          <a:xfrm>
            <a:off x="410804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4" name="Illustrative delivered road transport cost class 2; reference terminal Lesedi"/>
          <p:cNvSpPr/>
          <p:nvPr/>
        </p:nvSpPr>
        <p:spPr>
          <a:xfrm>
            <a:off x="410804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5" name="Illustrative delivered road transport cost class 2; reference terminal Lesedi"/>
          <p:cNvSpPr/>
          <p:nvPr/>
        </p:nvSpPr>
        <p:spPr>
          <a:xfrm>
            <a:off x="410804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6" name="Illustrative delivered road transport cost class 2; reference terminal Lesedi"/>
          <p:cNvSpPr/>
          <p:nvPr/>
        </p:nvSpPr>
        <p:spPr>
          <a:xfrm>
            <a:off x="410804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7" name="Illustrative delivered road transport cost class 2; reference terminal Lesedi"/>
          <p:cNvSpPr/>
          <p:nvPr/>
        </p:nvSpPr>
        <p:spPr>
          <a:xfrm>
            <a:off x="410804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8" name="Illustrative delivered road transport cost class 2; reference terminal Lesedi"/>
          <p:cNvSpPr/>
          <p:nvPr/>
        </p:nvSpPr>
        <p:spPr>
          <a:xfrm>
            <a:off x="410804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9" name="Illustrative delivered road transport cost class 2; reference terminal Lesedi"/>
          <p:cNvSpPr/>
          <p:nvPr/>
        </p:nvSpPr>
        <p:spPr>
          <a:xfrm>
            <a:off x="410804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0" name="Illustrative delivered road transport cost class 1; reference terminal Lesedi"/>
          <p:cNvSpPr/>
          <p:nvPr/>
        </p:nvSpPr>
        <p:spPr>
          <a:xfrm>
            <a:off x="4108041" y="4229128"/>
            <a:ext cx="57686" cy="57686"/>
          </a:xfrm>
          <a:custGeom>
            <a:avLst/>
            <a:gdLst/>
            <a:ahLst/>
            <a:cxnLst/>
            <a:rect l="l" t="t" r="r" b="b"/>
            <a:pathLst>
              <a:path w="57686" h="57686">
                <a:moveTo>
                  <a:pt x="57686" y="57686"/>
                </a:moveTo>
                <a:lnTo>
                  <a:pt x="0" y="57686"/>
                </a:lnTo>
                <a:lnTo>
                  <a:pt x="0" y="0"/>
                </a:lnTo>
                <a:lnTo>
                  <a:pt x="54598" y="0"/>
                </a:lnTo>
                <a:lnTo>
                  <a:pt x="54495" y="759"/>
                </a:lnTo>
                <a:lnTo>
                  <a:pt x="57686" y="9395"/>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1" name="Illustrative delivered road transport cost class 1; reference terminal Lesedi"/>
          <p:cNvSpPr/>
          <p:nvPr/>
        </p:nvSpPr>
        <p:spPr>
          <a:xfrm>
            <a:off x="4108041" y="4171441"/>
            <a:ext cx="57686" cy="57687"/>
          </a:xfrm>
          <a:custGeom>
            <a:avLst/>
            <a:gdLst/>
            <a:ahLst/>
            <a:cxnLst/>
            <a:rect l="l" t="t" r="r" b="b"/>
            <a:pathLst>
              <a:path w="57686" h="57687">
                <a:moveTo>
                  <a:pt x="0" y="57687"/>
                </a:moveTo>
                <a:lnTo>
                  <a:pt x="0" y="0"/>
                </a:lnTo>
                <a:lnTo>
                  <a:pt x="57686" y="0"/>
                </a:lnTo>
                <a:lnTo>
                  <a:pt x="57686" y="47216"/>
                </a:lnTo>
                <a:lnTo>
                  <a:pt x="55825" y="48626"/>
                </a:lnTo>
                <a:lnTo>
                  <a:pt x="5459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2" name="Illustrative delivered road transport cost class 1; reference terminal Lesedi"/>
          <p:cNvSpPr/>
          <p:nvPr/>
        </p:nvSpPr>
        <p:spPr>
          <a:xfrm>
            <a:off x="410804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3" name="Illustrative delivered road transport cost class 1; reference terminal Lesedi"/>
          <p:cNvSpPr/>
          <p:nvPr/>
        </p:nvSpPr>
        <p:spPr>
          <a:xfrm>
            <a:off x="410804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4" name="Illustrative delivered road transport cost class 1; reference terminal Lesedi"/>
          <p:cNvSpPr/>
          <p:nvPr/>
        </p:nvSpPr>
        <p:spPr>
          <a:xfrm>
            <a:off x="410804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5" name="Illustrative delivered road transport cost class 1; reference terminal Lesedi"/>
          <p:cNvSpPr/>
          <p:nvPr/>
        </p:nvSpPr>
        <p:spPr>
          <a:xfrm>
            <a:off x="410804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6" name="Illustrative delivered road transport cost class 1; reference terminal Lesedi"/>
          <p:cNvSpPr/>
          <p:nvPr/>
        </p:nvSpPr>
        <p:spPr>
          <a:xfrm>
            <a:off x="410804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7" name="Illustrative delivered road transport cost class 0; reference terminal Lesedi"/>
          <p:cNvSpPr/>
          <p:nvPr/>
        </p:nvSpPr>
        <p:spPr>
          <a:xfrm>
            <a:off x="410804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8" name="Illustrative delivered road transport cost class 0; reference terminal Lesedi"/>
          <p:cNvSpPr/>
          <p:nvPr/>
        </p:nvSpPr>
        <p:spPr>
          <a:xfrm>
            <a:off x="410804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9" name="Illustrative delivered road transport cost class 0; reference terminal Lesedi"/>
          <p:cNvSpPr/>
          <p:nvPr/>
        </p:nvSpPr>
        <p:spPr>
          <a:xfrm>
            <a:off x="410804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0" name="Illustrative delivered road transport cost class 0; reference terminal Lesedi"/>
          <p:cNvSpPr/>
          <p:nvPr/>
        </p:nvSpPr>
        <p:spPr>
          <a:xfrm>
            <a:off x="410804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1" name="Illustrative delivered road transport cost class 0; reference terminal Lesedi"/>
          <p:cNvSpPr/>
          <p:nvPr/>
        </p:nvSpPr>
        <p:spPr>
          <a:xfrm>
            <a:off x="410804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2" name="Illustrative delivered road transport cost class 0; reference terminal Lesedi"/>
          <p:cNvSpPr/>
          <p:nvPr/>
        </p:nvSpPr>
        <p:spPr>
          <a:xfrm>
            <a:off x="410804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3" name="Illustrative delivered road transport cost class 0; reference terminal Lesedi"/>
          <p:cNvSpPr/>
          <p:nvPr/>
        </p:nvSpPr>
        <p:spPr>
          <a:xfrm>
            <a:off x="410804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4" name="Illustrative delivered road transport cost class 0; reference terminal Lesedi"/>
          <p:cNvSpPr/>
          <p:nvPr/>
        </p:nvSpPr>
        <p:spPr>
          <a:xfrm>
            <a:off x="410804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5" name="Illustrative delivered road transport cost class 0; reference terminal Lesedi"/>
          <p:cNvSpPr/>
          <p:nvPr/>
        </p:nvSpPr>
        <p:spPr>
          <a:xfrm>
            <a:off x="410804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6" name="Illustrative delivered road transport cost class 0; reference terminal Lesedi"/>
          <p:cNvSpPr/>
          <p:nvPr/>
        </p:nvSpPr>
        <p:spPr>
          <a:xfrm>
            <a:off x="410804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7" name="Illustrative delivered road transport cost class 0; reference terminal Lesedi"/>
          <p:cNvSpPr/>
          <p:nvPr/>
        </p:nvSpPr>
        <p:spPr>
          <a:xfrm>
            <a:off x="410804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8" name="Illustrative delivered road transport cost class 0; reference terminal Lesedi"/>
          <p:cNvSpPr/>
          <p:nvPr/>
        </p:nvSpPr>
        <p:spPr>
          <a:xfrm>
            <a:off x="410804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9" name="Illustrative delivered road transport cost class 0; reference terminal Lesedi"/>
          <p:cNvSpPr/>
          <p:nvPr/>
        </p:nvSpPr>
        <p:spPr>
          <a:xfrm>
            <a:off x="410804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0" name="Illustrative delivered road transport cost class 0; reference terminal Lesedi"/>
          <p:cNvSpPr/>
          <p:nvPr/>
        </p:nvSpPr>
        <p:spPr>
          <a:xfrm>
            <a:off x="410804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1" name="Illustrative delivered road transport cost class 0; reference terminal Lesedi"/>
          <p:cNvSpPr/>
          <p:nvPr/>
        </p:nvSpPr>
        <p:spPr>
          <a:xfrm>
            <a:off x="410804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2" name="Illustrative delivered road transport cost class 1; reference terminal Lesedi"/>
          <p:cNvSpPr/>
          <p:nvPr/>
        </p:nvSpPr>
        <p:spPr>
          <a:xfrm>
            <a:off x="4108041"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3" name="Illustrative delivered road transport cost class None; reference terminal None"/>
          <p:cNvSpPr/>
          <p:nvPr/>
        </p:nvSpPr>
        <p:spPr>
          <a:xfrm>
            <a:off x="4108041"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4" name="Illustrative delivered road transport cost class None; reference terminal None"/>
          <p:cNvSpPr/>
          <p:nvPr/>
        </p:nvSpPr>
        <p:spPr>
          <a:xfrm>
            <a:off x="4108041" y="2844650"/>
            <a:ext cx="57686" cy="57687"/>
          </a:xfrm>
          <a:custGeom>
            <a:avLst/>
            <a:gdLst/>
            <a:ahLst/>
            <a:cxnLst/>
            <a:rect l="l" t="t" r="r" b="b"/>
            <a:pathLst>
              <a:path w="57686" h="57687">
                <a:moveTo>
                  <a:pt x="57686" y="0"/>
                </a:moveTo>
                <a:lnTo>
                  <a:pt x="57686" y="57687"/>
                </a:lnTo>
                <a:lnTo>
                  <a:pt x="0" y="57687"/>
                </a:lnTo>
                <a:lnTo>
                  <a:pt x="0" y="18875"/>
                </a:lnTo>
                <a:lnTo>
                  <a:pt x="9022" y="12315"/>
                </a:lnTo>
                <a:lnTo>
                  <a:pt x="24287"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5" name="Illustrative delivered road transport cost class None; reference terminal None"/>
          <p:cNvSpPr/>
          <p:nvPr/>
        </p:nvSpPr>
        <p:spPr>
          <a:xfrm>
            <a:off x="4132328" y="2786964"/>
            <a:ext cx="33399" cy="57686"/>
          </a:xfrm>
          <a:custGeom>
            <a:avLst/>
            <a:gdLst/>
            <a:ahLst/>
            <a:cxnLst/>
            <a:rect l="l" t="t" r="r" b="b"/>
            <a:pathLst>
              <a:path w="33399" h="57686">
                <a:moveTo>
                  <a:pt x="33399" y="0"/>
                </a:moveTo>
                <a:lnTo>
                  <a:pt x="33399" y="57686"/>
                </a:lnTo>
                <a:lnTo>
                  <a:pt x="0" y="57686"/>
                </a:lnTo>
                <a:lnTo>
                  <a:pt x="2260" y="55863"/>
                </a:lnTo>
                <a:lnTo>
                  <a:pt x="17708" y="0"/>
                </a:lnTo>
                <a:lnTo>
                  <a:pt x="33399"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6" name="Illustrative delivered road transport cost class None; reference terminal None"/>
          <p:cNvSpPr/>
          <p:nvPr/>
        </p:nvSpPr>
        <p:spPr>
          <a:xfrm>
            <a:off x="4150036" y="2730223"/>
            <a:ext cx="15691" cy="56741"/>
          </a:xfrm>
          <a:custGeom>
            <a:avLst/>
            <a:gdLst/>
            <a:ahLst/>
            <a:cxnLst/>
            <a:rect l="l" t="t" r="r" b="b"/>
            <a:pathLst>
              <a:path w="15691" h="56741">
                <a:moveTo>
                  <a:pt x="15691" y="56741"/>
                </a:moveTo>
                <a:lnTo>
                  <a:pt x="0" y="56741"/>
                </a:lnTo>
                <a:lnTo>
                  <a:pt x="15691" y="0"/>
                </a:lnTo>
                <a:lnTo>
                  <a:pt x="15691" y="567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7" name="Illustrative delivered road transport cost class 2; reference terminal Durban"/>
          <p:cNvSpPr/>
          <p:nvPr/>
        </p:nvSpPr>
        <p:spPr>
          <a:xfrm>
            <a:off x="4165727" y="5152113"/>
            <a:ext cx="57687" cy="54209"/>
          </a:xfrm>
          <a:custGeom>
            <a:avLst/>
            <a:gdLst/>
            <a:ahLst/>
            <a:cxnLst/>
            <a:rect l="l" t="t" r="r" b="b"/>
            <a:pathLst>
              <a:path w="57687" h="54209">
                <a:moveTo>
                  <a:pt x="0" y="0"/>
                </a:moveTo>
                <a:lnTo>
                  <a:pt x="57687" y="0"/>
                </a:lnTo>
                <a:lnTo>
                  <a:pt x="57687" y="16022"/>
                </a:lnTo>
                <a:lnTo>
                  <a:pt x="46487" y="24455"/>
                </a:lnTo>
                <a:lnTo>
                  <a:pt x="0" y="5420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8" name="Illustrative delivered road transport cost class 2; reference terminal Durban"/>
          <p:cNvSpPr/>
          <p:nvPr/>
        </p:nvSpPr>
        <p:spPr>
          <a:xfrm>
            <a:off x="416572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9" name="Illustrative delivered road transport cost class 2; reference terminal Durban"/>
          <p:cNvSpPr/>
          <p:nvPr/>
        </p:nvSpPr>
        <p:spPr>
          <a:xfrm>
            <a:off x="416572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0" name="Illustrative delivered road transport cost class 2; reference terminal Durban"/>
          <p:cNvSpPr/>
          <p:nvPr/>
        </p:nvSpPr>
        <p:spPr>
          <a:xfrm>
            <a:off x="416572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 name="Illustrative delivered road transport cost class 2; reference terminal Durban"/>
          <p:cNvSpPr/>
          <p:nvPr/>
        </p:nvSpPr>
        <p:spPr>
          <a:xfrm>
            <a:off x="416572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 name="Illustrative delivered road transport cost class 2; reference terminal Durban"/>
          <p:cNvSpPr/>
          <p:nvPr/>
        </p:nvSpPr>
        <p:spPr>
          <a:xfrm>
            <a:off x="416572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 name="Illustrative delivered road transport cost class 2; reference terminal Durban"/>
          <p:cNvSpPr/>
          <p:nvPr/>
        </p:nvSpPr>
        <p:spPr>
          <a:xfrm>
            <a:off x="416572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 name="Illustrative delivered road transport cost class 2; reference terminal Durban"/>
          <p:cNvSpPr/>
          <p:nvPr/>
        </p:nvSpPr>
        <p:spPr>
          <a:xfrm>
            <a:off x="416572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 name="Illustrative delivered road transport cost class 2; reference terminal Durban"/>
          <p:cNvSpPr/>
          <p:nvPr/>
        </p:nvSpPr>
        <p:spPr>
          <a:xfrm>
            <a:off x="416572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 name="Illustrative delivered road transport cost class 2; reference terminal Lesedi"/>
          <p:cNvSpPr/>
          <p:nvPr/>
        </p:nvSpPr>
        <p:spPr>
          <a:xfrm>
            <a:off x="416572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7" name="Illustrative delivered road transport cost class 2; reference terminal Lesedi"/>
          <p:cNvSpPr/>
          <p:nvPr/>
        </p:nvSpPr>
        <p:spPr>
          <a:xfrm>
            <a:off x="416572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8" name="Illustrative delivered road transport cost class 2; reference terminal Lesedi"/>
          <p:cNvSpPr/>
          <p:nvPr/>
        </p:nvSpPr>
        <p:spPr>
          <a:xfrm>
            <a:off x="416572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9" name="Illustrative delivered road transport cost class 2; reference terminal Lesedi"/>
          <p:cNvSpPr/>
          <p:nvPr/>
        </p:nvSpPr>
        <p:spPr>
          <a:xfrm>
            <a:off x="416572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0" name="Illustrative delivered road transport cost class 2; reference terminal Lesedi"/>
          <p:cNvSpPr/>
          <p:nvPr/>
        </p:nvSpPr>
        <p:spPr>
          <a:xfrm>
            <a:off x="416572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1" name="Illustrative delivered road transport cost class 2; reference terminal Lesedi"/>
          <p:cNvSpPr/>
          <p:nvPr/>
        </p:nvSpPr>
        <p:spPr>
          <a:xfrm>
            <a:off x="4165727" y="4344501"/>
            <a:ext cx="57687" cy="57687"/>
          </a:xfrm>
          <a:custGeom>
            <a:avLst/>
            <a:gdLst/>
            <a:ahLst/>
            <a:cxnLst/>
            <a:rect l="l" t="t" r="r" b="b"/>
            <a:pathLst>
              <a:path w="57687" h="57687">
                <a:moveTo>
                  <a:pt x="57687" y="57687"/>
                </a:moveTo>
                <a:lnTo>
                  <a:pt x="0" y="57687"/>
                </a:lnTo>
                <a:lnTo>
                  <a:pt x="0" y="0"/>
                </a:lnTo>
                <a:lnTo>
                  <a:pt x="53227" y="0"/>
                </a:lnTo>
                <a:lnTo>
                  <a:pt x="57687" y="6645"/>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2" name="Illustrative delivered road transport cost class 2; reference terminal Lesedi"/>
          <p:cNvSpPr/>
          <p:nvPr/>
        </p:nvSpPr>
        <p:spPr>
          <a:xfrm>
            <a:off x="4165727" y="4286814"/>
            <a:ext cx="53227" cy="57687"/>
          </a:xfrm>
          <a:custGeom>
            <a:avLst/>
            <a:gdLst/>
            <a:ahLst/>
            <a:cxnLst/>
            <a:rect l="l" t="t" r="r" b="b"/>
            <a:pathLst>
              <a:path w="53227" h="57687">
                <a:moveTo>
                  <a:pt x="0" y="57687"/>
                </a:moveTo>
                <a:lnTo>
                  <a:pt x="0" y="0"/>
                </a:lnTo>
                <a:lnTo>
                  <a:pt x="19572" y="0"/>
                </a:lnTo>
                <a:lnTo>
                  <a:pt x="27137" y="14551"/>
                </a:lnTo>
                <a:lnTo>
                  <a:pt x="37058" y="33677"/>
                </a:lnTo>
                <a:lnTo>
                  <a:pt x="52829" y="57094"/>
                </a:lnTo>
                <a:lnTo>
                  <a:pt x="5322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3" name="Illustrative delivered road transport cost class 2; reference terminal Lesedi"/>
          <p:cNvSpPr/>
          <p:nvPr/>
        </p:nvSpPr>
        <p:spPr>
          <a:xfrm>
            <a:off x="4165727" y="4238523"/>
            <a:ext cx="19572" cy="48291"/>
          </a:xfrm>
          <a:custGeom>
            <a:avLst/>
            <a:gdLst/>
            <a:ahLst/>
            <a:cxnLst/>
            <a:rect l="l" t="t" r="r" b="b"/>
            <a:pathLst>
              <a:path w="19572" h="48291">
                <a:moveTo>
                  <a:pt x="0" y="48291"/>
                </a:moveTo>
                <a:lnTo>
                  <a:pt x="0" y="0"/>
                </a:lnTo>
                <a:lnTo>
                  <a:pt x="5339" y="14450"/>
                </a:lnTo>
                <a:lnTo>
                  <a:pt x="13562" y="36733"/>
                </a:lnTo>
                <a:lnTo>
                  <a:pt x="19572" y="48291"/>
                </a:lnTo>
                <a:lnTo>
                  <a:pt x="0" y="48291"/>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4" name="Illustrative delivered road transport cost class 2; reference terminal Lesedi"/>
          <p:cNvSpPr/>
          <p:nvPr/>
        </p:nvSpPr>
        <p:spPr>
          <a:xfrm>
            <a:off x="4165727" y="4171441"/>
            <a:ext cx="57687" cy="47216"/>
          </a:xfrm>
          <a:custGeom>
            <a:avLst/>
            <a:gdLst/>
            <a:ahLst/>
            <a:cxnLst/>
            <a:rect l="l" t="t" r="r" b="b"/>
            <a:pathLst>
              <a:path w="57687" h="47216">
                <a:moveTo>
                  <a:pt x="0" y="0"/>
                </a:moveTo>
                <a:lnTo>
                  <a:pt x="57687" y="0"/>
                </a:lnTo>
                <a:lnTo>
                  <a:pt x="57687" y="15727"/>
                </a:lnTo>
                <a:lnTo>
                  <a:pt x="51753" y="22429"/>
                </a:lnTo>
                <a:lnTo>
                  <a:pt x="32104" y="30975"/>
                </a:lnTo>
                <a:lnTo>
                  <a:pt x="6812" y="42057"/>
                </a:lnTo>
                <a:lnTo>
                  <a:pt x="0" y="47216"/>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5" name="Illustrative delivered road transport cost class 1; reference terminal Lesedi"/>
          <p:cNvSpPr/>
          <p:nvPr/>
        </p:nvSpPr>
        <p:spPr>
          <a:xfrm>
            <a:off x="416572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6" name="Illustrative delivered road transport cost class 1; reference terminal Lesedi"/>
          <p:cNvSpPr/>
          <p:nvPr/>
        </p:nvSpPr>
        <p:spPr>
          <a:xfrm>
            <a:off x="416572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7" name="Illustrative delivered road transport cost class 1; reference terminal Lesedi"/>
          <p:cNvSpPr/>
          <p:nvPr/>
        </p:nvSpPr>
        <p:spPr>
          <a:xfrm>
            <a:off x="416572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8" name="Illustrative delivered road transport cost class 1; reference terminal Lesedi"/>
          <p:cNvSpPr/>
          <p:nvPr/>
        </p:nvSpPr>
        <p:spPr>
          <a:xfrm>
            <a:off x="416572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9" name="Illustrative delivered road transport cost class 1; reference terminal Lesedi"/>
          <p:cNvSpPr/>
          <p:nvPr/>
        </p:nvSpPr>
        <p:spPr>
          <a:xfrm>
            <a:off x="416572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0" name="Illustrative delivered road transport cost class 0; reference terminal Lesedi"/>
          <p:cNvSpPr/>
          <p:nvPr/>
        </p:nvSpPr>
        <p:spPr>
          <a:xfrm>
            <a:off x="416572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1" name="Illustrative delivered road transport cost class 0; reference terminal Lesedi"/>
          <p:cNvSpPr/>
          <p:nvPr/>
        </p:nvSpPr>
        <p:spPr>
          <a:xfrm>
            <a:off x="416572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2" name="Illustrative delivered road transport cost class 0; reference terminal Lesedi"/>
          <p:cNvSpPr/>
          <p:nvPr/>
        </p:nvSpPr>
        <p:spPr>
          <a:xfrm>
            <a:off x="416572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3" name="Illustrative delivered road transport cost class 0; reference terminal Lesedi"/>
          <p:cNvSpPr/>
          <p:nvPr/>
        </p:nvSpPr>
        <p:spPr>
          <a:xfrm>
            <a:off x="416572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4" name="Illustrative delivered road transport cost class 0; reference terminal Lesedi"/>
          <p:cNvSpPr/>
          <p:nvPr/>
        </p:nvSpPr>
        <p:spPr>
          <a:xfrm>
            <a:off x="416572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5" name="Illustrative delivered road transport cost class 0; reference terminal Lesedi"/>
          <p:cNvSpPr/>
          <p:nvPr/>
        </p:nvSpPr>
        <p:spPr>
          <a:xfrm>
            <a:off x="416572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6" name="Illustrative delivered road transport cost class 0; reference terminal Lesedi"/>
          <p:cNvSpPr/>
          <p:nvPr/>
        </p:nvSpPr>
        <p:spPr>
          <a:xfrm>
            <a:off x="416572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7" name="Illustrative delivered road transport cost class 0; reference terminal Lesedi"/>
          <p:cNvSpPr/>
          <p:nvPr/>
        </p:nvSpPr>
        <p:spPr>
          <a:xfrm>
            <a:off x="416572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8" name="Illustrative delivered road transport cost class 0; reference terminal Lesedi"/>
          <p:cNvSpPr/>
          <p:nvPr/>
        </p:nvSpPr>
        <p:spPr>
          <a:xfrm>
            <a:off x="416572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9" name="Illustrative delivered road transport cost class 0; reference terminal Lesedi"/>
          <p:cNvSpPr/>
          <p:nvPr/>
        </p:nvSpPr>
        <p:spPr>
          <a:xfrm>
            <a:off x="416572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0" name="Illustrative delivered road transport cost class 0; reference terminal Lesedi"/>
          <p:cNvSpPr/>
          <p:nvPr/>
        </p:nvSpPr>
        <p:spPr>
          <a:xfrm>
            <a:off x="416572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1" name="Illustrative delivered road transport cost class 0; reference terminal Lesedi"/>
          <p:cNvSpPr/>
          <p:nvPr/>
        </p:nvSpPr>
        <p:spPr>
          <a:xfrm>
            <a:off x="416572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2" name="Illustrative delivered road transport cost class 0; reference terminal Lesedi"/>
          <p:cNvSpPr/>
          <p:nvPr/>
        </p:nvSpPr>
        <p:spPr>
          <a:xfrm>
            <a:off x="416572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3" name="Illustrative delivered road transport cost class 0; reference terminal Lesedi"/>
          <p:cNvSpPr/>
          <p:nvPr/>
        </p:nvSpPr>
        <p:spPr>
          <a:xfrm>
            <a:off x="416572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4" name="Illustrative delivered road transport cost class 0; reference terminal Lesedi"/>
          <p:cNvSpPr/>
          <p:nvPr/>
        </p:nvSpPr>
        <p:spPr>
          <a:xfrm>
            <a:off x="416572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5" name="Illustrative delivered road transport cost class 0; reference terminal Lesedi"/>
          <p:cNvSpPr/>
          <p:nvPr/>
        </p:nvSpPr>
        <p:spPr>
          <a:xfrm>
            <a:off x="416572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6" name="Illustrative delivered road transport cost class None; reference terminal None"/>
          <p:cNvSpPr/>
          <p:nvPr/>
        </p:nvSpPr>
        <p:spPr>
          <a:xfrm>
            <a:off x="4165727"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7" name="Illustrative delivered road transport cost class None; reference terminal None"/>
          <p:cNvSpPr/>
          <p:nvPr/>
        </p:nvSpPr>
        <p:spPr>
          <a:xfrm>
            <a:off x="4165727"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8" name="Illustrative delivered road transport cost class None; reference terminal None"/>
          <p:cNvSpPr/>
          <p:nvPr/>
        </p:nvSpPr>
        <p:spPr>
          <a:xfrm>
            <a:off x="4165727"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9" name="Illustrative delivered road transport cost class None; reference terminal None"/>
          <p:cNvSpPr/>
          <p:nvPr/>
        </p:nvSpPr>
        <p:spPr>
          <a:xfrm>
            <a:off x="4165727" y="2729277"/>
            <a:ext cx="57687" cy="57687"/>
          </a:xfrm>
          <a:custGeom>
            <a:avLst/>
            <a:gdLst/>
            <a:ahLst/>
            <a:cxnLst/>
            <a:rect l="l" t="t" r="r" b="b"/>
            <a:pathLst>
              <a:path w="57687" h="57687">
                <a:moveTo>
                  <a:pt x="57687" y="0"/>
                </a:moveTo>
                <a:lnTo>
                  <a:pt x="57687" y="57687"/>
                </a:lnTo>
                <a:lnTo>
                  <a:pt x="0" y="57687"/>
                </a:lnTo>
                <a:lnTo>
                  <a:pt x="0" y="946"/>
                </a:lnTo>
                <a:lnTo>
                  <a:pt x="26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0" name="Illustrative delivered road transport cost class None; reference terminal None"/>
          <p:cNvSpPr/>
          <p:nvPr/>
        </p:nvSpPr>
        <p:spPr>
          <a:xfrm>
            <a:off x="4165989" y="2671590"/>
            <a:ext cx="57425" cy="57687"/>
          </a:xfrm>
          <a:custGeom>
            <a:avLst/>
            <a:gdLst/>
            <a:ahLst/>
            <a:cxnLst/>
            <a:rect l="l" t="t" r="r" b="b"/>
            <a:pathLst>
              <a:path w="57425" h="57687">
                <a:moveTo>
                  <a:pt x="57425" y="0"/>
                </a:moveTo>
                <a:lnTo>
                  <a:pt x="57425" y="57687"/>
                </a:lnTo>
                <a:lnTo>
                  <a:pt x="0" y="57687"/>
                </a:lnTo>
                <a:lnTo>
                  <a:pt x="2170" y="49838"/>
                </a:lnTo>
                <a:lnTo>
                  <a:pt x="6253" y="34865"/>
                </a:lnTo>
                <a:lnTo>
                  <a:pt x="29955" y="2910"/>
                </a:lnTo>
                <a:lnTo>
                  <a:pt x="33111" y="0"/>
                </a:lnTo>
                <a:lnTo>
                  <a:pt x="57425"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1" name="Illustrative delivered road transport cost class None; reference terminal None"/>
          <p:cNvSpPr/>
          <p:nvPr/>
        </p:nvSpPr>
        <p:spPr>
          <a:xfrm>
            <a:off x="4199100" y="2658698"/>
            <a:ext cx="24314" cy="12892"/>
          </a:xfrm>
          <a:custGeom>
            <a:avLst/>
            <a:gdLst/>
            <a:ahLst/>
            <a:cxnLst/>
            <a:rect l="l" t="t" r="r" b="b"/>
            <a:pathLst>
              <a:path w="24314" h="12892">
                <a:moveTo>
                  <a:pt x="24314" y="12892"/>
                </a:moveTo>
                <a:lnTo>
                  <a:pt x="0" y="12892"/>
                </a:lnTo>
                <a:lnTo>
                  <a:pt x="11401" y="2384"/>
                </a:lnTo>
                <a:lnTo>
                  <a:pt x="20640" y="2296"/>
                </a:lnTo>
                <a:lnTo>
                  <a:pt x="24314" y="0"/>
                </a:lnTo>
                <a:lnTo>
                  <a:pt x="24314" y="1289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2" name="Illustrative delivered road transport cost class 2; reference terminal Durban"/>
          <p:cNvSpPr/>
          <p:nvPr/>
        </p:nvSpPr>
        <p:spPr>
          <a:xfrm>
            <a:off x="4223414" y="5152113"/>
            <a:ext cx="21282" cy="16022"/>
          </a:xfrm>
          <a:custGeom>
            <a:avLst/>
            <a:gdLst/>
            <a:ahLst/>
            <a:cxnLst/>
            <a:rect l="l" t="t" r="r" b="b"/>
            <a:pathLst>
              <a:path w="21282" h="16022">
                <a:moveTo>
                  <a:pt x="0" y="0"/>
                </a:moveTo>
                <a:lnTo>
                  <a:pt x="21282" y="0"/>
                </a:lnTo>
                <a:lnTo>
                  <a:pt x="0" y="1602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3" name="Illustrative delivered road transport cost class 2; reference terminal Durban"/>
          <p:cNvSpPr/>
          <p:nvPr/>
        </p:nvSpPr>
        <p:spPr>
          <a:xfrm>
            <a:off x="4223414" y="5094426"/>
            <a:ext cx="57686" cy="57687"/>
          </a:xfrm>
          <a:custGeom>
            <a:avLst/>
            <a:gdLst/>
            <a:ahLst/>
            <a:cxnLst/>
            <a:rect l="l" t="t" r="r" b="b"/>
            <a:pathLst>
              <a:path w="57686" h="57687">
                <a:moveTo>
                  <a:pt x="0" y="57687"/>
                </a:moveTo>
                <a:lnTo>
                  <a:pt x="0" y="0"/>
                </a:lnTo>
                <a:lnTo>
                  <a:pt x="57686" y="0"/>
                </a:lnTo>
                <a:lnTo>
                  <a:pt x="57686" y="30279"/>
                </a:lnTo>
                <a:lnTo>
                  <a:pt x="2128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4" name="Illustrative delivered road transport cost class 2; reference terminal Durban"/>
          <p:cNvSpPr/>
          <p:nvPr/>
        </p:nvSpPr>
        <p:spPr>
          <a:xfrm>
            <a:off x="422341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5" name="Illustrative delivered road transport cost class 2; reference terminal Durban"/>
          <p:cNvSpPr/>
          <p:nvPr/>
        </p:nvSpPr>
        <p:spPr>
          <a:xfrm>
            <a:off x="422341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6" name="Illustrative delivered road transport cost class 1; reference terminal Durban"/>
          <p:cNvSpPr/>
          <p:nvPr/>
        </p:nvSpPr>
        <p:spPr>
          <a:xfrm>
            <a:off x="422341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7" name="Illustrative delivered road transport cost class 1; reference terminal Durban"/>
          <p:cNvSpPr/>
          <p:nvPr/>
        </p:nvSpPr>
        <p:spPr>
          <a:xfrm>
            <a:off x="422341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8" name="Illustrative delivered road transport cost class 1; reference terminal Durban"/>
          <p:cNvSpPr/>
          <p:nvPr/>
        </p:nvSpPr>
        <p:spPr>
          <a:xfrm>
            <a:off x="422341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9" name="Illustrative delivered road transport cost class 1; reference terminal Durban"/>
          <p:cNvSpPr/>
          <p:nvPr/>
        </p:nvSpPr>
        <p:spPr>
          <a:xfrm>
            <a:off x="422341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0" name="Illustrative delivered road transport cost class 2; reference terminal Durban"/>
          <p:cNvSpPr/>
          <p:nvPr/>
        </p:nvSpPr>
        <p:spPr>
          <a:xfrm>
            <a:off x="422341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1" name="Illustrative delivered road transport cost class 2; reference terminal Lesedi"/>
          <p:cNvSpPr/>
          <p:nvPr/>
        </p:nvSpPr>
        <p:spPr>
          <a:xfrm>
            <a:off x="422341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2" name="Illustrative delivered road transport cost class 2; reference terminal Lesedi"/>
          <p:cNvSpPr/>
          <p:nvPr/>
        </p:nvSpPr>
        <p:spPr>
          <a:xfrm>
            <a:off x="422341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3" name="Illustrative delivered road transport cost class 2; reference terminal Lesedi"/>
          <p:cNvSpPr/>
          <p:nvPr/>
        </p:nvSpPr>
        <p:spPr>
          <a:xfrm>
            <a:off x="422341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4" name="Illustrative delivered road transport cost class 2; reference terminal Lesedi"/>
          <p:cNvSpPr/>
          <p:nvPr/>
        </p:nvSpPr>
        <p:spPr>
          <a:xfrm>
            <a:off x="422341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5" name="Illustrative delivered road transport cost class 2; reference terminal Lesedi"/>
          <p:cNvSpPr/>
          <p:nvPr/>
        </p:nvSpPr>
        <p:spPr>
          <a:xfrm>
            <a:off x="4223414" y="4402188"/>
            <a:ext cx="57686" cy="57686"/>
          </a:xfrm>
          <a:custGeom>
            <a:avLst/>
            <a:gdLst/>
            <a:ahLst/>
            <a:cxnLst/>
            <a:rect l="l" t="t" r="r" b="b"/>
            <a:pathLst>
              <a:path w="57686" h="57686">
                <a:moveTo>
                  <a:pt x="57686" y="57686"/>
                </a:moveTo>
                <a:lnTo>
                  <a:pt x="0" y="57686"/>
                </a:lnTo>
                <a:lnTo>
                  <a:pt x="0" y="0"/>
                </a:lnTo>
                <a:lnTo>
                  <a:pt x="17701" y="0"/>
                </a:lnTo>
                <a:lnTo>
                  <a:pt x="20286" y="1798"/>
                </a:lnTo>
                <a:lnTo>
                  <a:pt x="33574" y="8598"/>
                </a:lnTo>
                <a:lnTo>
                  <a:pt x="36706" y="13013"/>
                </a:lnTo>
                <a:lnTo>
                  <a:pt x="45952" y="20958"/>
                </a:lnTo>
                <a:lnTo>
                  <a:pt x="54637" y="35267"/>
                </a:lnTo>
                <a:lnTo>
                  <a:pt x="57686" y="38904"/>
                </a:lnTo>
                <a:lnTo>
                  <a:pt x="57686"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6" name="Illustrative delivered road transport cost class 2; reference terminal Lesedi"/>
          <p:cNvSpPr/>
          <p:nvPr/>
        </p:nvSpPr>
        <p:spPr>
          <a:xfrm>
            <a:off x="4223414" y="4351146"/>
            <a:ext cx="17701" cy="51042"/>
          </a:xfrm>
          <a:custGeom>
            <a:avLst/>
            <a:gdLst/>
            <a:ahLst/>
            <a:cxnLst/>
            <a:rect l="l" t="t" r="r" b="b"/>
            <a:pathLst>
              <a:path w="17701" h="51042">
                <a:moveTo>
                  <a:pt x="0" y="51042"/>
                </a:moveTo>
                <a:lnTo>
                  <a:pt x="0" y="0"/>
                </a:lnTo>
                <a:lnTo>
                  <a:pt x="4354" y="6488"/>
                </a:lnTo>
                <a:lnTo>
                  <a:pt x="2632" y="29167"/>
                </a:lnTo>
                <a:lnTo>
                  <a:pt x="5652" y="37373"/>
                </a:lnTo>
                <a:lnTo>
                  <a:pt x="10875" y="46874"/>
                </a:lnTo>
                <a:lnTo>
                  <a:pt x="15288" y="49363"/>
                </a:lnTo>
                <a:lnTo>
                  <a:pt x="17701" y="51042"/>
                </a:lnTo>
                <a:lnTo>
                  <a:pt x="0" y="51042"/>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7" name="Illustrative delivered road transport cost class None; reference terminal None"/>
          <p:cNvSpPr/>
          <p:nvPr/>
        </p:nvSpPr>
        <p:spPr>
          <a:xfrm>
            <a:off x="4223414" y="4171441"/>
            <a:ext cx="12464" cy="15727"/>
          </a:xfrm>
          <a:custGeom>
            <a:avLst/>
            <a:gdLst/>
            <a:ahLst/>
            <a:cxnLst/>
            <a:rect l="l" t="t" r="r" b="b"/>
            <a:pathLst>
              <a:path w="12464" h="15727">
                <a:moveTo>
                  <a:pt x="0" y="0"/>
                </a:moveTo>
                <a:lnTo>
                  <a:pt x="12464" y="0"/>
                </a:lnTo>
                <a:lnTo>
                  <a:pt x="8330" y="6319"/>
                </a:lnTo>
                <a:lnTo>
                  <a:pt x="0" y="1572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8" name="Illustrative delivered road transport cost class None; reference terminal None"/>
          <p:cNvSpPr/>
          <p:nvPr/>
        </p:nvSpPr>
        <p:spPr>
          <a:xfrm>
            <a:off x="4223414" y="4113755"/>
            <a:ext cx="53309" cy="57686"/>
          </a:xfrm>
          <a:custGeom>
            <a:avLst/>
            <a:gdLst/>
            <a:ahLst/>
            <a:cxnLst/>
            <a:rect l="l" t="t" r="r" b="b"/>
            <a:pathLst>
              <a:path w="53309" h="57686">
                <a:moveTo>
                  <a:pt x="0" y="57686"/>
                </a:moveTo>
                <a:lnTo>
                  <a:pt x="0" y="0"/>
                </a:lnTo>
                <a:lnTo>
                  <a:pt x="53309" y="0"/>
                </a:lnTo>
                <a:lnTo>
                  <a:pt x="47645" y="8746"/>
                </a:lnTo>
                <a:lnTo>
                  <a:pt x="39324" y="18915"/>
                </a:lnTo>
                <a:lnTo>
                  <a:pt x="31785" y="25453"/>
                </a:lnTo>
                <a:lnTo>
                  <a:pt x="24064" y="39961"/>
                </a:lnTo>
                <a:lnTo>
                  <a:pt x="1246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9" name="Illustrative delivered road transport cost class None; reference terminal None"/>
          <p:cNvSpPr/>
          <p:nvPr/>
        </p:nvSpPr>
        <p:spPr>
          <a:xfrm>
            <a:off x="4223414" y="4056068"/>
            <a:ext cx="57686" cy="57687"/>
          </a:xfrm>
          <a:custGeom>
            <a:avLst/>
            <a:gdLst/>
            <a:ahLst/>
            <a:cxnLst/>
            <a:rect l="l" t="t" r="r" b="b"/>
            <a:pathLst>
              <a:path w="57686" h="57687">
                <a:moveTo>
                  <a:pt x="0" y="57687"/>
                </a:moveTo>
                <a:lnTo>
                  <a:pt x="0" y="0"/>
                </a:lnTo>
                <a:lnTo>
                  <a:pt x="57686" y="0"/>
                </a:lnTo>
                <a:lnTo>
                  <a:pt x="57686" y="50928"/>
                </a:lnTo>
                <a:lnTo>
                  <a:pt x="5330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0" name="Illustrative delivered road transport cost class 1; reference terminal Lesedi"/>
          <p:cNvSpPr/>
          <p:nvPr/>
        </p:nvSpPr>
        <p:spPr>
          <a:xfrm>
            <a:off x="4223414"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1" name="Illustrative delivered road transport cost class 1; reference terminal Lesedi"/>
          <p:cNvSpPr/>
          <p:nvPr/>
        </p:nvSpPr>
        <p:spPr>
          <a:xfrm>
            <a:off x="4223414"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2" name="Illustrative delivered road transport cost class 1; reference terminal Lesedi"/>
          <p:cNvSpPr/>
          <p:nvPr/>
        </p:nvSpPr>
        <p:spPr>
          <a:xfrm>
            <a:off x="4223414"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3" name="Illustrative delivered road transport cost class 0; reference terminal Lesedi"/>
          <p:cNvSpPr/>
          <p:nvPr/>
        </p:nvSpPr>
        <p:spPr>
          <a:xfrm>
            <a:off x="4223414"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4" name="Illustrative delivered road transport cost class 0; reference terminal Lesedi"/>
          <p:cNvSpPr/>
          <p:nvPr/>
        </p:nvSpPr>
        <p:spPr>
          <a:xfrm>
            <a:off x="4223414"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5" name="Illustrative delivered road transport cost class 0; reference terminal Lesedi"/>
          <p:cNvSpPr/>
          <p:nvPr/>
        </p:nvSpPr>
        <p:spPr>
          <a:xfrm>
            <a:off x="4223414"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6" name="Illustrative delivered road transport cost class 0; reference terminal Lesedi"/>
          <p:cNvSpPr/>
          <p:nvPr/>
        </p:nvSpPr>
        <p:spPr>
          <a:xfrm>
            <a:off x="4223414"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7" name="Illustrative delivered road transport cost class 0; reference terminal Lesedi"/>
          <p:cNvSpPr/>
          <p:nvPr/>
        </p:nvSpPr>
        <p:spPr>
          <a:xfrm>
            <a:off x="4223414"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8" name="Illustrative delivered road transport cost class 0; reference terminal Lesedi"/>
          <p:cNvSpPr/>
          <p:nvPr/>
        </p:nvSpPr>
        <p:spPr>
          <a:xfrm>
            <a:off x="4223414"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9" name="Illustrative delivered road transport cost class 0; reference terminal Lesedi"/>
          <p:cNvSpPr/>
          <p:nvPr/>
        </p:nvSpPr>
        <p:spPr>
          <a:xfrm>
            <a:off x="4223414"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0" name="Illustrative delivered road transport cost class 0; reference terminal Lesedi"/>
          <p:cNvSpPr/>
          <p:nvPr/>
        </p:nvSpPr>
        <p:spPr>
          <a:xfrm>
            <a:off x="4223414"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1" name="Illustrative delivered road transport cost class 0; reference terminal Lesedi"/>
          <p:cNvSpPr/>
          <p:nvPr/>
        </p:nvSpPr>
        <p:spPr>
          <a:xfrm>
            <a:off x="4223414"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2" name="Illustrative delivered road transport cost class 0; reference terminal Lesedi"/>
          <p:cNvSpPr/>
          <p:nvPr/>
        </p:nvSpPr>
        <p:spPr>
          <a:xfrm>
            <a:off x="4223414"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3" name="Illustrative delivered road transport cost class 0; reference terminal Lesedi"/>
          <p:cNvSpPr/>
          <p:nvPr/>
        </p:nvSpPr>
        <p:spPr>
          <a:xfrm>
            <a:off x="4223414"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4" name="Illustrative delivered road transport cost class 0; reference terminal Lesedi"/>
          <p:cNvSpPr/>
          <p:nvPr/>
        </p:nvSpPr>
        <p:spPr>
          <a:xfrm>
            <a:off x="4223414"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5" name="Illustrative delivered road transport cost class 0; reference terminal Lesedi"/>
          <p:cNvSpPr/>
          <p:nvPr/>
        </p:nvSpPr>
        <p:spPr>
          <a:xfrm>
            <a:off x="4223414"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6" name="Illustrative delivered road transport cost class 0; reference terminal Lesedi"/>
          <p:cNvSpPr/>
          <p:nvPr/>
        </p:nvSpPr>
        <p:spPr>
          <a:xfrm>
            <a:off x="4223414"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7" name="Illustrative delivered road transport cost class 0; reference terminal Lesedi"/>
          <p:cNvSpPr/>
          <p:nvPr/>
        </p:nvSpPr>
        <p:spPr>
          <a:xfrm>
            <a:off x="4223414"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8" name="Illustrative delivered road transport cost class 0; reference terminal Lesedi"/>
          <p:cNvSpPr/>
          <p:nvPr/>
        </p:nvSpPr>
        <p:spPr>
          <a:xfrm>
            <a:off x="4223414"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9" name="Illustrative delivered road transport cost class None; reference terminal None"/>
          <p:cNvSpPr/>
          <p:nvPr/>
        </p:nvSpPr>
        <p:spPr>
          <a:xfrm>
            <a:off x="4223414"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0" name="Illustrative delivered road transport cost class None; reference terminal None"/>
          <p:cNvSpPr/>
          <p:nvPr/>
        </p:nvSpPr>
        <p:spPr>
          <a:xfrm>
            <a:off x="4223414"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1" name="Illustrative delivered road transport cost class None; reference terminal None"/>
          <p:cNvSpPr/>
          <p:nvPr/>
        </p:nvSpPr>
        <p:spPr>
          <a:xfrm>
            <a:off x="4223414"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2" name="Illustrative delivered road transport cost class None; reference terminal None"/>
          <p:cNvSpPr/>
          <p:nvPr/>
        </p:nvSpPr>
        <p:spPr>
          <a:xfrm>
            <a:off x="4223414"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3" name="Illustrative delivered road transport cost class None; reference terminal None"/>
          <p:cNvSpPr/>
          <p:nvPr/>
        </p:nvSpPr>
        <p:spPr>
          <a:xfrm>
            <a:off x="4223414"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4" name="Illustrative delivered road transport cost class None; reference terminal None"/>
          <p:cNvSpPr/>
          <p:nvPr/>
        </p:nvSpPr>
        <p:spPr>
          <a:xfrm>
            <a:off x="4223414" y="2624722"/>
            <a:ext cx="57686" cy="46868"/>
          </a:xfrm>
          <a:custGeom>
            <a:avLst/>
            <a:gdLst/>
            <a:ahLst/>
            <a:cxnLst/>
            <a:rect l="l" t="t" r="r" b="b"/>
            <a:pathLst>
              <a:path w="57686" h="46868">
                <a:moveTo>
                  <a:pt x="57686" y="46868"/>
                </a:moveTo>
                <a:lnTo>
                  <a:pt x="0" y="46868"/>
                </a:lnTo>
                <a:lnTo>
                  <a:pt x="0" y="33976"/>
                </a:lnTo>
                <a:lnTo>
                  <a:pt x="9593" y="27980"/>
                </a:lnTo>
                <a:lnTo>
                  <a:pt x="26902" y="11490"/>
                </a:lnTo>
                <a:lnTo>
                  <a:pt x="47342" y="1504"/>
                </a:lnTo>
                <a:lnTo>
                  <a:pt x="57686" y="0"/>
                </a:lnTo>
                <a:lnTo>
                  <a:pt x="57686" y="4686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5" name="Illustrative delivered road transport cost class 1; reference terminal Durban"/>
          <p:cNvSpPr/>
          <p:nvPr/>
        </p:nvSpPr>
        <p:spPr>
          <a:xfrm>
            <a:off x="4281100" y="5094426"/>
            <a:ext cx="46760" cy="30279"/>
          </a:xfrm>
          <a:custGeom>
            <a:avLst/>
            <a:gdLst/>
            <a:ahLst/>
            <a:cxnLst/>
            <a:rect l="l" t="t" r="r" b="b"/>
            <a:pathLst>
              <a:path w="46760" h="30279">
                <a:moveTo>
                  <a:pt x="0" y="0"/>
                </a:moveTo>
                <a:lnTo>
                  <a:pt x="46760" y="0"/>
                </a:lnTo>
                <a:lnTo>
                  <a:pt x="39941" y="6163"/>
                </a:lnTo>
                <a:lnTo>
                  <a:pt x="18427" y="16406"/>
                </a:lnTo>
                <a:lnTo>
                  <a:pt x="0" y="3027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6" name="Illustrative delivered road transport cost class 1; reference terminal Durban"/>
          <p:cNvSpPr/>
          <p:nvPr/>
        </p:nvSpPr>
        <p:spPr>
          <a:xfrm>
            <a:off x="4281100" y="5036740"/>
            <a:ext cx="57687" cy="57686"/>
          </a:xfrm>
          <a:custGeom>
            <a:avLst/>
            <a:gdLst/>
            <a:ahLst/>
            <a:cxnLst/>
            <a:rect l="l" t="t" r="r" b="b"/>
            <a:pathLst>
              <a:path w="57687" h="57686">
                <a:moveTo>
                  <a:pt x="0" y="57686"/>
                </a:moveTo>
                <a:lnTo>
                  <a:pt x="0" y="0"/>
                </a:lnTo>
                <a:lnTo>
                  <a:pt x="57687" y="0"/>
                </a:lnTo>
                <a:lnTo>
                  <a:pt x="57687" y="47813"/>
                </a:lnTo>
                <a:lnTo>
                  <a:pt x="46760"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7" name="Illustrative delivered road transport cost class 1; reference terminal Durban"/>
          <p:cNvSpPr/>
          <p:nvPr/>
        </p:nvSpPr>
        <p:spPr>
          <a:xfrm>
            <a:off x="428110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8" name="Illustrative delivered road transport cost class 1; reference terminal Durban"/>
          <p:cNvSpPr/>
          <p:nvPr/>
        </p:nvSpPr>
        <p:spPr>
          <a:xfrm>
            <a:off x="428110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9" name="Illustrative delivered road transport cost class 1; reference terminal Durban"/>
          <p:cNvSpPr/>
          <p:nvPr/>
        </p:nvSpPr>
        <p:spPr>
          <a:xfrm>
            <a:off x="428110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0" name="Illustrative delivered road transport cost class 1; reference terminal Durban"/>
          <p:cNvSpPr/>
          <p:nvPr/>
        </p:nvSpPr>
        <p:spPr>
          <a:xfrm>
            <a:off x="428110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1" name="Illustrative delivered road transport cost class 1; reference terminal Durban"/>
          <p:cNvSpPr/>
          <p:nvPr/>
        </p:nvSpPr>
        <p:spPr>
          <a:xfrm>
            <a:off x="428110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2" name="Illustrative delivered road transport cost class 1; reference terminal Durban"/>
          <p:cNvSpPr/>
          <p:nvPr/>
        </p:nvSpPr>
        <p:spPr>
          <a:xfrm>
            <a:off x="428110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3" name="Illustrative delivered road transport cost class 1; reference terminal Durban"/>
          <p:cNvSpPr/>
          <p:nvPr/>
        </p:nvSpPr>
        <p:spPr>
          <a:xfrm>
            <a:off x="428110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4" name="Illustrative delivered road transport cost class 2; reference terminal Lesedi"/>
          <p:cNvSpPr/>
          <p:nvPr/>
        </p:nvSpPr>
        <p:spPr>
          <a:xfrm>
            <a:off x="428110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5" name="Illustrative delivered road transport cost class 2; reference terminal Lesedi"/>
          <p:cNvSpPr/>
          <p:nvPr/>
        </p:nvSpPr>
        <p:spPr>
          <a:xfrm>
            <a:off x="428110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6" name="Illustrative delivered road transport cost class 2; reference terminal Lesedi"/>
          <p:cNvSpPr/>
          <p:nvPr/>
        </p:nvSpPr>
        <p:spPr>
          <a:xfrm>
            <a:off x="4281100" y="4459874"/>
            <a:ext cx="57687" cy="57687"/>
          </a:xfrm>
          <a:custGeom>
            <a:avLst/>
            <a:gdLst/>
            <a:ahLst/>
            <a:cxnLst/>
            <a:rect l="l" t="t" r="r" b="b"/>
            <a:pathLst>
              <a:path w="57687" h="57687">
                <a:moveTo>
                  <a:pt x="57687" y="57687"/>
                </a:moveTo>
                <a:lnTo>
                  <a:pt x="0" y="57687"/>
                </a:lnTo>
                <a:lnTo>
                  <a:pt x="0" y="0"/>
                </a:lnTo>
                <a:lnTo>
                  <a:pt x="16796" y="0"/>
                </a:lnTo>
                <a:lnTo>
                  <a:pt x="32339" y="12574"/>
                </a:lnTo>
                <a:lnTo>
                  <a:pt x="57687" y="17906"/>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7" name="Illustrative delivered road transport cost class None; reference terminal None"/>
          <p:cNvSpPr/>
          <p:nvPr/>
        </p:nvSpPr>
        <p:spPr>
          <a:xfrm>
            <a:off x="4281100" y="4441092"/>
            <a:ext cx="16796" cy="18782"/>
          </a:xfrm>
          <a:custGeom>
            <a:avLst/>
            <a:gdLst/>
            <a:ahLst/>
            <a:cxnLst/>
            <a:rect l="l" t="t" r="r" b="b"/>
            <a:pathLst>
              <a:path w="16796" h="18782">
                <a:moveTo>
                  <a:pt x="0" y="18782"/>
                </a:moveTo>
                <a:lnTo>
                  <a:pt x="0" y="0"/>
                </a:lnTo>
                <a:lnTo>
                  <a:pt x="13545" y="16152"/>
                </a:lnTo>
                <a:lnTo>
                  <a:pt x="16796" y="18782"/>
                </a:lnTo>
                <a:lnTo>
                  <a:pt x="0" y="1878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8" name="Illustrative delivered road transport cost class None; reference terminal None"/>
          <p:cNvSpPr/>
          <p:nvPr/>
        </p:nvSpPr>
        <p:spPr>
          <a:xfrm>
            <a:off x="4281100" y="4056068"/>
            <a:ext cx="33084" cy="50928"/>
          </a:xfrm>
          <a:custGeom>
            <a:avLst/>
            <a:gdLst/>
            <a:ahLst/>
            <a:cxnLst/>
            <a:rect l="l" t="t" r="r" b="b"/>
            <a:pathLst>
              <a:path w="33084" h="50928">
                <a:moveTo>
                  <a:pt x="0" y="0"/>
                </a:moveTo>
                <a:lnTo>
                  <a:pt x="33084" y="0"/>
                </a:lnTo>
                <a:lnTo>
                  <a:pt x="20940" y="18711"/>
                </a:lnTo>
                <a:lnTo>
                  <a:pt x="4609" y="43812"/>
                </a:lnTo>
                <a:lnTo>
                  <a:pt x="0" y="50928"/>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9" name="Illustrative delivered road transport cost class None; reference terminal None"/>
          <p:cNvSpPr/>
          <p:nvPr/>
        </p:nvSpPr>
        <p:spPr>
          <a:xfrm>
            <a:off x="4281100" y="3998382"/>
            <a:ext cx="57687" cy="57686"/>
          </a:xfrm>
          <a:custGeom>
            <a:avLst/>
            <a:gdLst/>
            <a:ahLst/>
            <a:cxnLst/>
            <a:rect l="l" t="t" r="r" b="b"/>
            <a:pathLst>
              <a:path w="57687" h="57686">
                <a:moveTo>
                  <a:pt x="0" y="57686"/>
                </a:moveTo>
                <a:lnTo>
                  <a:pt x="0" y="0"/>
                </a:lnTo>
                <a:lnTo>
                  <a:pt x="57687" y="0"/>
                </a:lnTo>
                <a:lnTo>
                  <a:pt x="57687" y="42797"/>
                </a:lnTo>
                <a:lnTo>
                  <a:pt x="38441" y="49434"/>
                </a:lnTo>
                <a:lnTo>
                  <a:pt x="3308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0" name="Illustrative delivered road transport cost class 1; reference terminal Lesedi"/>
          <p:cNvSpPr/>
          <p:nvPr/>
        </p:nvSpPr>
        <p:spPr>
          <a:xfrm>
            <a:off x="4281100"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1" name="Illustrative delivered road transport cost class 1; reference terminal Lesedi"/>
          <p:cNvSpPr/>
          <p:nvPr/>
        </p:nvSpPr>
        <p:spPr>
          <a:xfrm>
            <a:off x="428110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2" name="Illustrative delivered road transport cost class 1; reference terminal Lesedi"/>
          <p:cNvSpPr/>
          <p:nvPr/>
        </p:nvSpPr>
        <p:spPr>
          <a:xfrm>
            <a:off x="428110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3" name="Illustrative delivered road transport cost class 0; reference terminal Lesedi"/>
          <p:cNvSpPr/>
          <p:nvPr/>
        </p:nvSpPr>
        <p:spPr>
          <a:xfrm>
            <a:off x="428110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4" name="Illustrative delivered road transport cost class 0; reference terminal Lesedi"/>
          <p:cNvSpPr/>
          <p:nvPr/>
        </p:nvSpPr>
        <p:spPr>
          <a:xfrm>
            <a:off x="428110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5" name="Illustrative delivered road transport cost class 0; reference terminal Lesedi"/>
          <p:cNvSpPr/>
          <p:nvPr/>
        </p:nvSpPr>
        <p:spPr>
          <a:xfrm>
            <a:off x="428110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6" name="Illustrative delivered road transport cost class 0; reference terminal Lesedi"/>
          <p:cNvSpPr/>
          <p:nvPr/>
        </p:nvSpPr>
        <p:spPr>
          <a:xfrm>
            <a:off x="428110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7" name="Illustrative delivered road transport cost class 0; reference terminal Lesedi"/>
          <p:cNvSpPr/>
          <p:nvPr/>
        </p:nvSpPr>
        <p:spPr>
          <a:xfrm>
            <a:off x="428110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8" name="Illustrative delivered road transport cost class 0; reference terminal Lesedi"/>
          <p:cNvSpPr/>
          <p:nvPr/>
        </p:nvSpPr>
        <p:spPr>
          <a:xfrm>
            <a:off x="428110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9" name="Illustrative delivered road transport cost class 0; reference terminal Lesedi"/>
          <p:cNvSpPr/>
          <p:nvPr/>
        </p:nvSpPr>
        <p:spPr>
          <a:xfrm>
            <a:off x="428110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0" name="Illustrative delivered road transport cost class 0; reference terminal Lesedi"/>
          <p:cNvSpPr/>
          <p:nvPr/>
        </p:nvSpPr>
        <p:spPr>
          <a:xfrm>
            <a:off x="428110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1" name="Illustrative delivered road transport cost class 0; reference terminal Lesedi"/>
          <p:cNvSpPr/>
          <p:nvPr/>
        </p:nvSpPr>
        <p:spPr>
          <a:xfrm>
            <a:off x="428110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2" name="Illustrative delivered road transport cost class 0; reference terminal Lesedi"/>
          <p:cNvSpPr/>
          <p:nvPr/>
        </p:nvSpPr>
        <p:spPr>
          <a:xfrm>
            <a:off x="428110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3" name="Illustrative delivered road transport cost class 0; reference terminal Lesedi"/>
          <p:cNvSpPr/>
          <p:nvPr/>
        </p:nvSpPr>
        <p:spPr>
          <a:xfrm>
            <a:off x="428110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4" name="Illustrative delivered road transport cost class 0; reference terminal Lesedi"/>
          <p:cNvSpPr/>
          <p:nvPr/>
        </p:nvSpPr>
        <p:spPr>
          <a:xfrm>
            <a:off x="428110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5" name="Illustrative delivered road transport cost class 0; reference terminal Lesedi"/>
          <p:cNvSpPr/>
          <p:nvPr/>
        </p:nvSpPr>
        <p:spPr>
          <a:xfrm>
            <a:off x="428110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6" name="Illustrative delivered road transport cost class 0; reference terminal Lesedi"/>
          <p:cNvSpPr/>
          <p:nvPr/>
        </p:nvSpPr>
        <p:spPr>
          <a:xfrm>
            <a:off x="428110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7" name="Illustrative delivered road transport cost class 0; reference terminal Lesedi"/>
          <p:cNvSpPr/>
          <p:nvPr/>
        </p:nvSpPr>
        <p:spPr>
          <a:xfrm>
            <a:off x="428110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8" name="Illustrative delivered road transport cost class None; reference terminal None"/>
          <p:cNvSpPr/>
          <p:nvPr/>
        </p:nvSpPr>
        <p:spPr>
          <a:xfrm>
            <a:off x="428110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9" name="Illustrative delivered road transport cost class None; reference terminal None"/>
          <p:cNvSpPr/>
          <p:nvPr/>
        </p:nvSpPr>
        <p:spPr>
          <a:xfrm>
            <a:off x="428110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0" name="Illustrative delivered road transport cost class None; reference terminal None"/>
          <p:cNvSpPr/>
          <p:nvPr/>
        </p:nvSpPr>
        <p:spPr>
          <a:xfrm>
            <a:off x="428110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1" name="Illustrative delivered road transport cost class None; reference terminal None"/>
          <p:cNvSpPr/>
          <p:nvPr/>
        </p:nvSpPr>
        <p:spPr>
          <a:xfrm>
            <a:off x="428110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2" name="Illustrative delivered road transport cost class None; reference terminal None"/>
          <p:cNvSpPr/>
          <p:nvPr/>
        </p:nvSpPr>
        <p:spPr>
          <a:xfrm>
            <a:off x="428110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3" name="Illustrative delivered road transport cost class None; reference terminal None"/>
          <p:cNvSpPr/>
          <p:nvPr/>
        </p:nvSpPr>
        <p:spPr>
          <a:xfrm>
            <a:off x="4281100" y="2613904"/>
            <a:ext cx="57687" cy="57686"/>
          </a:xfrm>
          <a:custGeom>
            <a:avLst/>
            <a:gdLst/>
            <a:ahLst/>
            <a:cxnLst/>
            <a:rect l="l" t="t" r="r" b="b"/>
            <a:pathLst>
              <a:path w="57687" h="57686">
                <a:moveTo>
                  <a:pt x="57687" y="0"/>
                </a:moveTo>
                <a:lnTo>
                  <a:pt x="57687" y="57686"/>
                </a:lnTo>
                <a:lnTo>
                  <a:pt x="0" y="57686"/>
                </a:lnTo>
                <a:lnTo>
                  <a:pt x="0" y="10818"/>
                </a:lnTo>
                <a:lnTo>
                  <a:pt x="13219" y="8896"/>
                </a:lnTo>
                <a:lnTo>
                  <a:pt x="25858"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4" name="Illustrative delivered road transport cost class None; reference terminal None"/>
          <p:cNvSpPr/>
          <p:nvPr/>
        </p:nvSpPr>
        <p:spPr>
          <a:xfrm>
            <a:off x="4306958" y="2585046"/>
            <a:ext cx="31829" cy="28858"/>
          </a:xfrm>
          <a:custGeom>
            <a:avLst/>
            <a:gdLst/>
            <a:ahLst/>
            <a:cxnLst/>
            <a:rect l="l" t="t" r="r" b="b"/>
            <a:pathLst>
              <a:path w="31829" h="28858">
                <a:moveTo>
                  <a:pt x="31829" y="28858"/>
                </a:moveTo>
                <a:lnTo>
                  <a:pt x="0" y="28858"/>
                </a:lnTo>
                <a:lnTo>
                  <a:pt x="2787" y="26896"/>
                </a:lnTo>
                <a:lnTo>
                  <a:pt x="10101" y="8669"/>
                </a:lnTo>
                <a:lnTo>
                  <a:pt x="22365" y="0"/>
                </a:lnTo>
                <a:lnTo>
                  <a:pt x="31829" y="478"/>
                </a:lnTo>
                <a:lnTo>
                  <a:pt x="31829" y="288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5" name="Illustrative delivered road transport cost class 1; reference terminal Durban"/>
          <p:cNvSpPr/>
          <p:nvPr/>
        </p:nvSpPr>
        <p:spPr>
          <a:xfrm>
            <a:off x="4338787" y="5036740"/>
            <a:ext cx="52912" cy="47813"/>
          </a:xfrm>
          <a:custGeom>
            <a:avLst/>
            <a:gdLst/>
            <a:ahLst/>
            <a:cxnLst/>
            <a:rect l="l" t="t" r="r" b="b"/>
            <a:pathLst>
              <a:path w="52912" h="47813">
                <a:moveTo>
                  <a:pt x="0" y="0"/>
                </a:moveTo>
                <a:lnTo>
                  <a:pt x="52912" y="0"/>
                </a:lnTo>
                <a:lnTo>
                  <a:pt x="0" y="4781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6" name="Illustrative delivered road transport cost class 1; reference terminal Durban"/>
          <p:cNvSpPr/>
          <p:nvPr/>
        </p:nvSpPr>
        <p:spPr>
          <a:xfrm>
            <a:off x="4338787" y="4979053"/>
            <a:ext cx="57686" cy="57687"/>
          </a:xfrm>
          <a:custGeom>
            <a:avLst/>
            <a:gdLst/>
            <a:ahLst/>
            <a:cxnLst/>
            <a:rect l="l" t="t" r="r" b="b"/>
            <a:pathLst>
              <a:path w="57686" h="57687">
                <a:moveTo>
                  <a:pt x="0" y="57687"/>
                </a:moveTo>
                <a:lnTo>
                  <a:pt x="0" y="0"/>
                </a:lnTo>
                <a:lnTo>
                  <a:pt x="57686" y="0"/>
                </a:lnTo>
                <a:lnTo>
                  <a:pt x="57686" y="53373"/>
                </a:lnTo>
                <a:lnTo>
                  <a:pt x="5291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7" name="Illustrative delivered road transport cost class 1; reference terminal Durban"/>
          <p:cNvSpPr/>
          <p:nvPr/>
        </p:nvSpPr>
        <p:spPr>
          <a:xfrm>
            <a:off x="433878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8" name="Illustrative delivered road transport cost class 1; reference terminal Durban"/>
          <p:cNvSpPr/>
          <p:nvPr/>
        </p:nvSpPr>
        <p:spPr>
          <a:xfrm>
            <a:off x="433878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9" name="Illustrative delivered road transport cost class 1; reference terminal Durban"/>
          <p:cNvSpPr/>
          <p:nvPr/>
        </p:nvSpPr>
        <p:spPr>
          <a:xfrm>
            <a:off x="433878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0" name="Illustrative delivered road transport cost class 1; reference terminal Durban"/>
          <p:cNvSpPr/>
          <p:nvPr/>
        </p:nvSpPr>
        <p:spPr>
          <a:xfrm>
            <a:off x="433878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1" name="Illustrative delivered road transport cost class 1; reference terminal Durban"/>
          <p:cNvSpPr/>
          <p:nvPr/>
        </p:nvSpPr>
        <p:spPr>
          <a:xfrm>
            <a:off x="433878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2" name="Illustrative delivered road transport cost class 1; reference terminal Durban"/>
          <p:cNvSpPr/>
          <p:nvPr/>
        </p:nvSpPr>
        <p:spPr>
          <a:xfrm>
            <a:off x="433878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3" name="Illustrative delivered road transport cost class 1; reference terminal Durban"/>
          <p:cNvSpPr/>
          <p:nvPr/>
        </p:nvSpPr>
        <p:spPr>
          <a:xfrm>
            <a:off x="433878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4" name="Illustrative delivered road transport cost class None; reference terminal None"/>
          <p:cNvSpPr/>
          <p:nvPr/>
        </p:nvSpPr>
        <p:spPr>
          <a:xfrm>
            <a:off x="433878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5" name="Illustrative delivered road transport cost class None; reference terminal None"/>
          <p:cNvSpPr/>
          <p:nvPr/>
        </p:nvSpPr>
        <p:spPr>
          <a:xfrm>
            <a:off x="4338787" y="4459874"/>
            <a:ext cx="57686" cy="57687"/>
          </a:xfrm>
          <a:custGeom>
            <a:avLst/>
            <a:gdLst/>
            <a:ahLst/>
            <a:cxnLst/>
            <a:rect l="l" t="t" r="r" b="b"/>
            <a:pathLst>
              <a:path w="57686" h="57687">
                <a:moveTo>
                  <a:pt x="57686" y="0"/>
                </a:moveTo>
                <a:lnTo>
                  <a:pt x="57686" y="57687"/>
                </a:lnTo>
                <a:lnTo>
                  <a:pt x="0" y="57687"/>
                </a:lnTo>
                <a:lnTo>
                  <a:pt x="0" y="17906"/>
                </a:lnTo>
                <a:lnTo>
                  <a:pt x="7396" y="19461"/>
                </a:lnTo>
                <a:lnTo>
                  <a:pt x="32990" y="24831"/>
                </a:lnTo>
                <a:lnTo>
                  <a:pt x="41617" y="22181"/>
                </a:lnTo>
                <a:lnTo>
                  <a:pt x="50685" y="10522"/>
                </a:lnTo>
                <a:lnTo>
                  <a:pt x="5598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6" name="Illustrative delivered road transport cost class None; reference terminal None"/>
          <p:cNvSpPr/>
          <p:nvPr/>
        </p:nvSpPr>
        <p:spPr>
          <a:xfrm>
            <a:off x="4338787" y="3998382"/>
            <a:ext cx="57686" cy="42797"/>
          </a:xfrm>
          <a:custGeom>
            <a:avLst/>
            <a:gdLst/>
            <a:ahLst/>
            <a:cxnLst/>
            <a:rect l="l" t="t" r="r" b="b"/>
            <a:pathLst>
              <a:path w="57686" h="42797">
                <a:moveTo>
                  <a:pt x="0" y="0"/>
                </a:moveTo>
                <a:lnTo>
                  <a:pt x="57686" y="0"/>
                </a:lnTo>
                <a:lnTo>
                  <a:pt x="57686" y="12496"/>
                </a:lnTo>
                <a:lnTo>
                  <a:pt x="31616" y="33586"/>
                </a:lnTo>
                <a:lnTo>
                  <a:pt x="2264" y="42017"/>
                </a:lnTo>
                <a:lnTo>
                  <a:pt x="0" y="4279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7" name="Illustrative delivered road transport cost class None; reference terminal None"/>
          <p:cNvSpPr/>
          <p:nvPr/>
        </p:nvSpPr>
        <p:spPr>
          <a:xfrm>
            <a:off x="4338787"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8" name="Illustrative delivered road transport cost class None; reference terminal None"/>
          <p:cNvSpPr/>
          <p:nvPr/>
        </p:nvSpPr>
        <p:spPr>
          <a:xfrm>
            <a:off x="433878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9" name="Illustrative delivered road transport cost class 1; reference terminal Lesedi"/>
          <p:cNvSpPr/>
          <p:nvPr/>
        </p:nvSpPr>
        <p:spPr>
          <a:xfrm>
            <a:off x="433878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0" name="Illustrative delivered road transport cost class 1; reference terminal Lesedi"/>
          <p:cNvSpPr/>
          <p:nvPr/>
        </p:nvSpPr>
        <p:spPr>
          <a:xfrm>
            <a:off x="433878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1" name="Illustrative delivered road transport cost class 0; reference terminal Lesedi"/>
          <p:cNvSpPr/>
          <p:nvPr/>
        </p:nvSpPr>
        <p:spPr>
          <a:xfrm>
            <a:off x="433878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2" name="Illustrative delivered road transport cost class 0; reference terminal Lesedi"/>
          <p:cNvSpPr/>
          <p:nvPr/>
        </p:nvSpPr>
        <p:spPr>
          <a:xfrm>
            <a:off x="433878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3" name="Illustrative delivered road transport cost class 0; reference terminal Lesedi"/>
          <p:cNvSpPr/>
          <p:nvPr/>
        </p:nvSpPr>
        <p:spPr>
          <a:xfrm>
            <a:off x="433878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4" name="Illustrative delivered road transport cost class 0; reference terminal Lesedi"/>
          <p:cNvSpPr/>
          <p:nvPr/>
        </p:nvSpPr>
        <p:spPr>
          <a:xfrm>
            <a:off x="433878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5" name="Illustrative delivered road transport cost class 0; reference terminal Lesedi"/>
          <p:cNvSpPr/>
          <p:nvPr/>
        </p:nvSpPr>
        <p:spPr>
          <a:xfrm>
            <a:off x="433878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6" name="Illustrative delivered road transport cost class 0; reference terminal Lesedi"/>
          <p:cNvSpPr/>
          <p:nvPr/>
        </p:nvSpPr>
        <p:spPr>
          <a:xfrm>
            <a:off x="433878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7" name="Illustrative delivered road transport cost class 0; reference terminal Lesedi"/>
          <p:cNvSpPr/>
          <p:nvPr/>
        </p:nvSpPr>
        <p:spPr>
          <a:xfrm>
            <a:off x="433878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8" name="Illustrative delivered road transport cost class 0; reference terminal Lesedi"/>
          <p:cNvSpPr/>
          <p:nvPr/>
        </p:nvSpPr>
        <p:spPr>
          <a:xfrm>
            <a:off x="433878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9" name="Illustrative delivered road transport cost class 0; reference terminal Lesedi"/>
          <p:cNvSpPr/>
          <p:nvPr/>
        </p:nvSpPr>
        <p:spPr>
          <a:xfrm>
            <a:off x="433878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0" name="Illustrative delivered road transport cost class 0; reference terminal Lesedi"/>
          <p:cNvSpPr/>
          <p:nvPr/>
        </p:nvSpPr>
        <p:spPr>
          <a:xfrm>
            <a:off x="433878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1" name="Illustrative delivered road transport cost class 0; reference terminal Lesedi"/>
          <p:cNvSpPr/>
          <p:nvPr/>
        </p:nvSpPr>
        <p:spPr>
          <a:xfrm>
            <a:off x="433878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2" name="Illustrative delivered road transport cost class 0; reference terminal Lesedi"/>
          <p:cNvSpPr/>
          <p:nvPr/>
        </p:nvSpPr>
        <p:spPr>
          <a:xfrm>
            <a:off x="433878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3" name="Illustrative delivered road transport cost class 0; reference terminal Lesedi"/>
          <p:cNvSpPr/>
          <p:nvPr/>
        </p:nvSpPr>
        <p:spPr>
          <a:xfrm>
            <a:off x="433878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4" name="Illustrative delivered road transport cost class 0; reference terminal Lesedi"/>
          <p:cNvSpPr/>
          <p:nvPr/>
        </p:nvSpPr>
        <p:spPr>
          <a:xfrm>
            <a:off x="433878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5" name="Illustrative delivered road transport cost class 0; reference terminal Lesedi"/>
          <p:cNvSpPr/>
          <p:nvPr/>
        </p:nvSpPr>
        <p:spPr>
          <a:xfrm>
            <a:off x="433878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6" name="Illustrative delivered road transport cost class None; reference terminal None"/>
          <p:cNvSpPr/>
          <p:nvPr/>
        </p:nvSpPr>
        <p:spPr>
          <a:xfrm>
            <a:off x="433878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7" name="Illustrative delivered road transport cost class None; reference terminal None"/>
          <p:cNvSpPr/>
          <p:nvPr/>
        </p:nvSpPr>
        <p:spPr>
          <a:xfrm>
            <a:off x="433878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8" name="Illustrative delivered road transport cost class None; reference terminal None"/>
          <p:cNvSpPr/>
          <p:nvPr/>
        </p:nvSpPr>
        <p:spPr>
          <a:xfrm>
            <a:off x="433878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9" name="Illustrative delivered road transport cost class None; reference terminal None"/>
          <p:cNvSpPr/>
          <p:nvPr/>
        </p:nvSpPr>
        <p:spPr>
          <a:xfrm>
            <a:off x="433878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0" name="Illustrative delivered road transport cost class None; reference terminal None"/>
          <p:cNvSpPr/>
          <p:nvPr/>
        </p:nvSpPr>
        <p:spPr>
          <a:xfrm>
            <a:off x="433878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1" name="Illustrative delivered road transport cost class None; reference terminal None"/>
          <p:cNvSpPr/>
          <p:nvPr/>
        </p:nvSpPr>
        <p:spPr>
          <a:xfrm>
            <a:off x="4338787" y="2556217"/>
            <a:ext cx="57686" cy="57687"/>
          </a:xfrm>
          <a:custGeom>
            <a:avLst/>
            <a:gdLst/>
            <a:ahLst/>
            <a:cxnLst/>
            <a:rect l="l" t="t" r="r" b="b"/>
            <a:pathLst>
              <a:path w="57686" h="57687">
                <a:moveTo>
                  <a:pt x="57686" y="0"/>
                </a:moveTo>
                <a:lnTo>
                  <a:pt x="57686" y="57687"/>
                </a:lnTo>
                <a:lnTo>
                  <a:pt x="0" y="57687"/>
                </a:lnTo>
                <a:lnTo>
                  <a:pt x="0" y="29307"/>
                </a:lnTo>
                <a:lnTo>
                  <a:pt x="7768" y="29699"/>
                </a:lnTo>
                <a:lnTo>
                  <a:pt x="17695" y="24082"/>
                </a:lnTo>
                <a:lnTo>
                  <a:pt x="20365" y="11922"/>
                </a:lnTo>
                <a:lnTo>
                  <a:pt x="30994" y="1712"/>
                </a:lnTo>
                <a:lnTo>
                  <a:pt x="34844"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2" name="Illustrative delivered road transport cost class None; reference terminal None"/>
          <p:cNvSpPr/>
          <p:nvPr/>
        </p:nvSpPr>
        <p:spPr>
          <a:xfrm>
            <a:off x="4373631" y="2541422"/>
            <a:ext cx="22842" cy="14795"/>
          </a:xfrm>
          <a:custGeom>
            <a:avLst/>
            <a:gdLst/>
            <a:ahLst/>
            <a:cxnLst/>
            <a:rect l="l" t="t" r="r" b="b"/>
            <a:pathLst>
              <a:path w="22842" h="14795">
                <a:moveTo>
                  <a:pt x="22842" y="14795"/>
                </a:moveTo>
                <a:lnTo>
                  <a:pt x="0" y="14795"/>
                </a:lnTo>
                <a:lnTo>
                  <a:pt x="14767" y="8230"/>
                </a:lnTo>
                <a:lnTo>
                  <a:pt x="22842" y="0"/>
                </a:lnTo>
                <a:lnTo>
                  <a:pt x="22842" y="1479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3" name="Illustrative delivered road transport cost class 1; reference terminal Durban"/>
          <p:cNvSpPr/>
          <p:nvPr/>
        </p:nvSpPr>
        <p:spPr>
          <a:xfrm>
            <a:off x="4396473" y="4979053"/>
            <a:ext cx="57687" cy="53373"/>
          </a:xfrm>
          <a:custGeom>
            <a:avLst/>
            <a:gdLst/>
            <a:ahLst/>
            <a:cxnLst/>
            <a:rect l="l" t="t" r="r" b="b"/>
            <a:pathLst>
              <a:path w="57687" h="53373">
                <a:moveTo>
                  <a:pt x="0" y="0"/>
                </a:moveTo>
                <a:lnTo>
                  <a:pt x="57687" y="0"/>
                </a:lnTo>
                <a:lnTo>
                  <a:pt x="57687" y="12780"/>
                </a:lnTo>
                <a:lnTo>
                  <a:pt x="54944" y="15243"/>
                </a:lnTo>
                <a:lnTo>
                  <a:pt x="2897" y="50755"/>
                </a:lnTo>
                <a:lnTo>
                  <a:pt x="0" y="5337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4" name="Illustrative delivered road transport cost class 1; reference terminal Durban"/>
          <p:cNvSpPr/>
          <p:nvPr/>
        </p:nvSpPr>
        <p:spPr>
          <a:xfrm>
            <a:off x="439647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5" name="Illustrative delivered road transport cost class 1; reference terminal Durban"/>
          <p:cNvSpPr/>
          <p:nvPr/>
        </p:nvSpPr>
        <p:spPr>
          <a:xfrm>
            <a:off x="439647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6" name="Illustrative delivered road transport cost class 1; reference terminal Durban"/>
          <p:cNvSpPr/>
          <p:nvPr/>
        </p:nvSpPr>
        <p:spPr>
          <a:xfrm>
            <a:off x="439647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7" name="Illustrative delivered road transport cost class 1; reference terminal Durban"/>
          <p:cNvSpPr/>
          <p:nvPr/>
        </p:nvSpPr>
        <p:spPr>
          <a:xfrm>
            <a:off x="439647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8" name="Illustrative delivered road transport cost class 1; reference terminal Durban"/>
          <p:cNvSpPr/>
          <p:nvPr/>
        </p:nvSpPr>
        <p:spPr>
          <a:xfrm>
            <a:off x="439647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9" name="Illustrative delivered road transport cost class 1; reference terminal Durban"/>
          <p:cNvSpPr/>
          <p:nvPr/>
        </p:nvSpPr>
        <p:spPr>
          <a:xfrm>
            <a:off x="439647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0" name="Illustrative delivered road transport cost class 1; reference terminal Durban"/>
          <p:cNvSpPr/>
          <p:nvPr/>
        </p:nvSpPr>
        <p:spPr>
          <a:xfrm>
            <a:off x="439647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1" name="Illustrative delivered road transport cost class 1; reference terminal Durban"/>
          <p:cNvSpPr/>
          <p:nvPr/>
        </p:nvSpPr>
        <p:spPr>
          <a:xfrm>
            <a:off x="439647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2" name="Illustrative delivered road transport cost class 1; reference terminal Durban"/>
          <p:cNvSpPr/>
          <p:nvPr/>
        </p:nvSpPr>
        <p:spPr>
          <a:xfrm>
            <a:off x="439647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3" name="Illustrative delivered road transport cost class None; reference terminal None"/>
          <p:cNvSpPr/>
          <p:nvPr/>
        </p:nvSpPr>
        <p:spPr>
          <a:xfrm>
            <a:off x="4396473" y="4402188"/>
            <a:ext cx="57687" cy="57686"/>
          </a:xfrm>
          <a:custGeom>
            <a:avLst/>
            <a:gdLst/>
            <a:ahLst/>
            <a:cxnLst/>
            <a:rect l="l" t="t" r="r" b="b"/>
            <a:pathLst>
              <a:path w="57687" h="57686">
                <a:moveTo>
                  <a:pt x="57687" y="0"/>
                </a:moveTo>
                <a:lnTo>
                  <a:pt x="57687" y="57686"/>
                </a:lnTo>
                <a:lnTo>
                  <a:pt x="0" y="57686"/>
                </a:lnTo>
                <a:lnTo>
                  <a:pt x="0" y="54310"/>
                </a:lnTo>
                <a:lnTo>
                  <a:pt x="566" y="53187"/>
                </a:lnTo>
                <a:lnTo>
                  <a:pt x="3386" y="34016"/>
                </a:lnTo>
                <a:lnTo>
                  <a:pt x="11889" y="23997"/>
                </a:lnTo>
                <a:lnTo>
                  <a:pt x="27990"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4" name="Illustrative delivered road transport cost class None; reference terminal None"/>
          <p:cNvSpPr/>
          <p:nvPr/>
        </p:nvSpPr>
        <p:spPr>
          <a:xfrm>
            <a:off x="4424463" y="4364487"/>
            <a:ext cx="29697" cy="37701"/>
          </a:xfrm>
          <a:custGeom>
            <a:avLst/>
            <a:gdLst/>
            <a:ahLst/>
            <a:cxnLst/>
            <a:rect l="l" t="t" r="r" b="b"/>
            <a:pathLst>
              <a:path w="29697" h="37701">
                <a:moveTo>
                  <a:pt x="29697" y="37701"/>
                </a:moveTo>
                <a:lnTo>
                  <a:pt x="0" y="37701"/>
                </a:lnTo>
                <a:lnTo>
                  <a:pt x="16171" y="13598"/>
                </a:lnTo>
                <a:lnTo>
                  <a:pt x="29697" y="0"/>
                </a:lnTo>
                <a:lnTo>
                  <a:pt x="29697" y="3770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5" name="Illustrative delivered road transport cost class None; reference terminal None"/>
          <p:cNvSpPr/>
          <p:nvPr/>
        </p:nvSpPr>
        <p:spPr>
          <a:xfrm>
            <a:off x="4396473" y="3998382"/>
            <a:ext cx="20941" cy="12496"/>
          </a:xfrm>
          <a:custGeom>
            <a:avLst/>
            <a:gdLst/>
            <a:ahLst/>
            <a:cxnLst/>
            <a:rect l="l" t="t" r="r" b="b"/>
            <a:pathLst>
              <a:path w="20941" h="12496">
                <a:moveTo>
                  <a:pt x="0" y="0"/>
                </a:moveTo>
                <a:lnTo>
                  <a:pt x="20941" y="0"/>
                </a:lnTo>
                <a:lnTo>
                  <a:pt x="2562" y="10424"/>
                </a:lnTo>
                <a:lnTo>
                  <a:pt x="0" y="12496"/>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6" name="Illustrative delivered road transport cost class 1; reference terminal Lesedi"/>
          <p:cNvSpPr/>
          <p:nvPr/>
        </p:nvSpPr>
        <p:spPr>
          <a:xfrm>
            <a:off x="4396473" y="3940695"/>
            <a:ext cx="57687" cy="57687"/>
          </a:xfrm>
          <a:custGeom>
            <a:avLst/>
            <a:gdLst/>
            <a:ahLst/>
            <a:cxnLst/>
            <a:rect l="l" t="t" r="r" b="b"/>
            <a:pathLst>
              <a:path w="57687" h="57687">
                <a:moveTo>
                  <a:pt x="0" y="57687"/>
                </a:moveTo>
                <a:lnTo>
                  <a:pt x="0" y="0"/>
                </a:lnTo>
                <a:lnTo>
                  <a:pt x="57687" y="0"/>
                </a:lnTo>
                <a:lnTo>
                  <a:pt x="57687" y="40967"/>
                </a:lnTo>
                <a:lnTo>
                  <a:pt x="36487" y="48869"/>
                </a:lnTo>
                <a:lnTo>
                  <a:pt x="20941"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7" name="Illustrative delivered road transport cost class 1; reference terminal Lesedi"/>
          <p:cNvSpPr/>
          <p:nvPr/>
        </p:nvSpPr>
        <p:spPr>
          <a:xfrm>
            <a:off x="439647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8" name="Illustrative delivered road transport cost class 1; reference terminal Lesedi"/>
          <p:cNvSpPr/>
          <p:nvPr/>
        </p:nvSpPr>
        <p:spPr>
          <a:xfrm>
            <a:off x="439647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9" name="Illustrative delivered road transport cost class 0; reference terminal Lesedi"/>
          <p:cNvSpPr/>
          <p:nvPr/>
        </p:nvSpPr>
        <p:spPr>
          <a:xfrm>
            <a:off x="439647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0" name="Illustrative delivered road transport cost class 0; reference terminal Lesedi"/>
          <p:cNvSpPr/>
          <p:nvPr/>
        </p:nvSpPr>
        <p:spPr>
          <a:xfrm>
            <a:off x="439647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1" name="Illustrative delivered road transport cost class 0; reference terminal Lesedi"/>
          <p:cNvSpPr/>
          <p:nvPr/>
        </p:nvSpPr>
        <p:spPr>
          <a:xfrm>
            <a:off x="439647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2" name="Illustrative delivered road transport cost class 0; reference terminal Lesedi"/>
          <p:cNvSpPr/>
          <p:nvPr/>
        </p:nvSpPr>
        <p:spPr>
          <a:xfrm>
            <a:off x="439647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3" name="Illustrative delivered road transport cost class 0; reference terminal Lesedi"/>
          <p:cNvSpPr/>
          <p:nvPr/>
        </p:nvSpPr>
        <p:spPr>
          <a:xfrm>
            <a:off x="439647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4" name="Illustrative delivered road transport cost class 0; reference terminal Lesedi"/>
          <p:cNvSpPr/>
          <p:nvPr/>
        </p:nvSpPr>
        <p:spPr>
          <a:xfrm>
            <a:off x="439647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5" name="Illustrative delivered road transport cost class 0; reference terminal Lesedi"/>
          <p:cNvSpPr/>
          <p:nvPr/>
        </p:nvSpPr>
        <p:spPr>
          <a:xfrm>
            <a:off x="439647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6" name="Illustrative delivered road transport cost class 0; reference terminal Lesedi"/>
          <p:cNvSpPr/>
          <p:nvPr/>
        </p:nvSpPr>
        <p:spPr>
          <a:xfrm>
            <a:off x="439647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7" name="Illustrative delivered road transport cost class 0; reference terminal Lesedi"/>
          <p:cNvSpPr/>
          <p:nvPr/>
        </p:nvSpPr>
        <p:spPr>
          <a:xfrm>
            <a:off x="439647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8" name="Illustrative delivered road transport cost class 0; reference terminal Lesedi"/>
          <p:cNvSpPr/>
          <p:nvPr/>
        </p:nvSpPr>
        <p:spPr>
          <a:xfrm>
            <a:off x="439647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9" name="Illustrative delivered road transport cost class 0; reference terminal Lesedi"/>
          <p:cNvSpPr/>
          <p:nvPr/>
        </p:nvSpPr>
        <p:spPr>
          <a:xfrm>
            <a:off x="439647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0" name="Illustrative delivered road transport cost class 0; reference terminal Lesedi"/>
          <p:cNvSpPr/>
          <p:nvPr/>
        </p:nvSpPr>
        <p:spPr>
          <a:xfrm>
            <a:off x="439647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1" name="Illustrative delivered road transport cost class 0; reference terminal Lesedi"/>
          <p:cNvSpPr/>
          <p:nvPr/>
        </p:nvSpPr>
        <p:spPr>
          <a:xfrm>
            <a:off x="439647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2" name="Illustrative delivered road transport cost class 0; reference terminal Lesedi"/>
          <p:cNvSpPr/>
          <p:nvPr/>
        </p:nvSpPr>
        <p:spPr>
          <a:xfrm>
            <a:off x="439647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3" name="Illustrative delivered road transport cost class 0; reference terminal Lesedi"/>
          <p:cNvSpPr/>
          <p:nvPr/>
        </p:nvSpPr>
        <p:spPr>
          <a:xfrm>
            <a:off x="439647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4" name="Illustrative delivered road transport cost class 0; reference terminal Lesedi"/>
          <p:cNvSpPr/>
          <p:nvPr/>
        </p:nvSpPr>
        <p:spPr>
          <a:xfrm>
            <a:off x="439647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5" name="Illustrative delivered road transport cost class 1; reference terminal Lesedi"/>
          <p:cNvSpPr/>
          <p:nvPr/>
        </p:nvSpPr>
        <p:spPr>
          <a:xfrm>
            <a:off x="439647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6" name="Illustrative delivered road transport cost class None; reference terminal None"/>
          <p:cNvSpPr/>
          <p:nvPr/>
        </p:nvSpPr>
        <p:spPr>
          <a:xfrm>
            <a:off x="439647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7" name="Illustrative delivered road transport cost class None; reference terminal None"/>
          <p:cNvSpPr/>
          <p:nvPr/>
        </p:nvSpPr>
        <p:spPr>
          <a:xfrm>
            <a:off x="439647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8" name="Illustrative delivered road transport cost class None; reference terminal None"/>
          <p:cNvSpPr/>
          <p:nvPr/>
        </p:nvSpPr>
        <p:spPr>
          <a:xfrm>
            <a:off x="439647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9" name="Illustrative delivered road transport cost class None; reference terminal None"/>
          <p:cNvSpPr/>
          <p:nvPr/>
        </p:nvSpPr>
        <p:spPr>
          <a:xfrm>
            <a:off x="439647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0" name="Illustrative delivered road transport cost class None; reference terminal None"/>
          <p:cNvSpPr/>
          <p:nvPr/>
        </p:nvSpPr>
        <p:spPr>
          <a:xfrm>
            <a:off x="439647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1" name="Illustrative delivered road transport cost class None; reference terminal None"/>
          <p:cNvSpPr/>
          <p:nvPr/>
        </p:nvSpPr>
        <p:spPr>
          <a:xfrm>
            <a:off x="4396473" y="2498531"/>
            <a:ext cx="57687" cy="57686"/>
          </a:xfrm>
          <a:custGeom>
            <a:avLst/>
            <a:gdLst/>
            <a:ahLst/>
            <a:cxnLst/>
            <a:rect l="l" t="t" r="r" b="b"/>
            <a:pathLst>
              <a:path w="57687" h="57686">
                <a:moveTo>
                  <a:pt x="57687" y="0"/>
                </a:moveTo>
                <a:lnTo>
                  <a:pt x="57687" y="57686"/>
                </a:lnTo>
                <a:lnTo>
                  <a:pt x="0" y="57686"/>
                </a:lnTo>
                <a:lnTo>
                  <a:pt x="0" y="42891"/>
                </a:lnTo>
                <a:lnTo>
                  <a:pt x="1803" y="41053"/>
                </a:lnTo>
                <a:lnTo>
                  <a:pt x="2934" y="29185"/>
                </a:lnTo>
                <a:lnTo>
                  <a:pt x="25556" y="801"/>
                </a:lnTo>
                <a:lnTo>
                  <a:pt x="2634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2" name="Illustrative delivered road transport cost class None; reference terminal None"/>
          <p:cNvSpPr/>
          <p:nvPr/>
        </p:nvSpPr>
        <p:spPr>
          <a:xfrm>
            <a:off x="4422819" y="2466743"/>
            <a:ext cx="31341" cy="31788"/>
          </a:xfrm>
          <a:custGeom>
            <a:avLst/>
            <a:gdLst/>
            <a:ahLst/>
            <a:cxnLst/>
            <a:rect l="l" t="t" r="r" b="b"/>
            <a:pathLst>
              <a:path w="31341" h="31788">
                <a:moveTo>
                  <a:pt x="31341" y="31788"/>
                </a:moveTo>
                <a:lnTo>
                  <a:pt x="0" y="31788"/>
                </a:lnTo>
                <a:lnTo>
                  <a:pt x="31341" y="0"/>
                </a:lnTo>
                <a:lnTo>
                  <a:pt x="31341" y="317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3" name="Illustrative delivered road transport cost class 1; reference terminal Durban"/>
          <p:cNvSpPr/>
          <p:nvPr/>
        </p:nvSpPr>
        <p:spPr>
          <a:xfrm>
            <a:off x="4454160" y="4979053"/>
            <a:ext cx="14233" cy="12780"/>
          </a:xfrm>
          <a:custGeom>
            <a:avLst/>
            <a:gdLst/>
            <a:ahLst/>
            <a:cxnLst/>
            <a:rect l="l" t="t" r="r" b="b"/>
            <a:pathLst>
              <a:path w="14233" h="12780">
                <a:moveTo>
                  <a:pt x="0" y="0"/>
                </a:moveTo>
                <a:lnTo>
                  <a:pt x="14233" y="0"/>
                </a:lnTo>
                <a:lnTo>
                  <a:pt x="0" y="1278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4" name="Illustrative delivered road transport cost class 1; reference terminal Durban"/>
          <p:cNvSpPr/>
          <p:nvPr/>
        </p:nvSpPr>
        <p:spPr>
          <a:xfrm>
            <a:off x="4454160" y="4921367"/>
            <a:ext cx="57687" cy="57686"/>
          </a:xfrm>
          <a:custGeom>
            <a:avLst/>
            <a:gdLst/>
            <a:ahLst/>
            <a:cxnLst/>
            <a:rect l="l" t="t" r="r" b="b"/>
            <a:pathLst>
              <a:path w="57687" h="57686">
                <a:moveTo>
                  <a:pt x="0" y="57686"/>
                </a:moveTo>
                <a:lnTo>
                  <a:pt x="0" y="0"/>
                </a:lnTo>
                <a:lnTo>
                  <a:pt x="57687" y="0"/>
                </a:lnTo>
                <a:lnTo>
                  <a:pt x="57687" y="18669"/>
                </a:lnTo>
                <a:lnTo>
                  <a:pt x="14233"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5" name="Illustrative delivered road transport cost class 1; reference terminal Durban"/>
          <p:cNvSpPr/>
          <p:nvPr/>
        </p:nvSpPr>
        <p:spPr>
          <a:xfrm>
            <a:off x="445416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6" name="Illustrative delivered road transport cost class 1; reference terminal Durban"/>
          <p:cNvSpPr/>
          <p:nvPr/>
        </p:nvSpPr>
        <p:spPr>
          <a:xfrm>
            <a:off x="445416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7" name="Illustrative delivered road transport cost class 1; reference terminal Durban"/>
          <p:cNvSpPr/>
          <p:nvPr/>
        </p:nvSpPr>
        <p:spPr>
          <a:xfrm>
            <a:off x="445416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8" name="Illustrative delivered road transport cost class 1; reference terminal Durban"/>
          <p:cNvSpPr/>
          <p:nvPr/>
        </p:nvSpPr>
        <p:spPr>
          <a:xfrm>
            <a:off x="445416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9" name="Illustrative delivered road transport cost class 1; reference terminal Durban"/>
          <p:cNvSpPr/>
          <p:nvPr/>
        </p:nvSpPr>
        <p:spPr>
          <a:xfrm>
            <a:off x="445416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0" name="Illustrative delivered road transport cost class 1; reference terminal Durban"/>
          <p:cNvSpPr/>
          <p:nvPr/>
        </p:nvSpPr>
        <p:spPr>
          <a:xfrm>
            <a:off x="445416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1" name="Illustrative delivered road transport cost class 1; reference terminal Durban"/>
          <p:cNvSpPr/>
          <p:nvPr/>
        </p:nvSpPr>
        <p:spPr>
          <a:xfrm>
            <a:off x="445416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2" name="Illustrative delivered road transport cost class 0; reference terminal Durban"/>
          <p:cNvSpPr/>
          <p:nvPr/>
        </p:nvSpPr>
        <p:spPr>
          <a:xfrm>
            <a:off x="445416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3" name="Illustrative delivered road transport cost class 0; reference terminal Durban"/>
          <p:cNvSpPr/>
          <p:nvPr/>
        </p:nvSpPr>
        <p:spPr>
          <a:xfrm>
            <a:off x="445416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4" name="Illustrative delivered road transport cost class 1; reference terminal Durban"/>
          <p:cNvSpPr/>
          <p:nvPr/>
        </p:nvSpPr>
        <p:spPr>
          <a:xfrm>
            <a:off x="4454160" y="4355384"/>
            <a:ext cx="57687" cy="46804"/>
          </a:xfrm>
          <a:custGeom>
            <a:avLst/>
            <a:gdLst/>
            <a:ahLst/>
            <a:cxnLst/>
            <a:rect l="l" t="t" r="r" b="b"/>
            <a:pathLst>
              <a:path w="57687" h="46804">
                <a:moveTo>
                  <a:pt x="57687" y="46804"/>
                </a:moveTo>
                <a:lnTo>
                  <a:pt x="0" y="46804"/>
                </a:lnTo>
                <a:lnTo>
                  <a:pt x="0" y="9103"/>
                </a:lnTo>
                <a:lnTo>
                  <a:pt x="4027" y="5054"/>
                </a:lnTo>
                <a:lnTo>
                  <a:pt x="14501" y="4058"/>
                </a:lnTo>
                <a:lnTo>
                  <a:pt x="28057" y="984"/>
                </a:lnTo>
                <a:lnTo>
                  <a:pt x="45223" y="0"/>
                </a:lnTo>
                <a:lnTo>
                  <a:pt x="57687" y="1796"/>
                </a:lnTo>
                <a:lnTo>
                  <a:pt x="57687" y="4680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5" name="Illustrative delivered road transport cost class 1; reference terminal Lesedi"/>
          <p:cNvSpPr/>
          <p:nvPr/>
        </p:nvSpPr>
        <p:spPr>
          <a:xfrm>
            <a:off x="4454160" y="3940695"/>
            <a:ext cx="57687" cy="40967"/>
          </a:xfrm>
          <a:custGeom>
            <a:avLst/>
            <a:gdLst/>
            <a:ahLst/>
            <a:cxnLst/>
            <a:rect l="l" t="t" r="r" b="b"/>
            <a:pathLst>
              <a:path w="57687" h="40967">
                <a:moveTo>
                  <a:pt x="0" y="0"/>
                </a:moveTo>
                <a:lnTo>
                  <a:pt x="57687" y="0"/>
                </a:lnTo>
                <a:lnTo>
                  <a:pt x="57687" y="23923"/>
                </a:lnTo>
                <a:lnTo>
                  <a:pt x="33345" y="28537"/>
                </a:lnTo>
                <a:lnTo>
                  <a:pt x="0" y="40967"/>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6" name="Illustrative delivered road transport cost class 1; reference terminal Lesedi"/>
          <p:cNvSpPr/>
          <p:nvPr/>
        </p:nvSpPr>
        <p:spPr>
          <a:xfrm>
            <a:off x="445416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7" name="Illustrative delivered road transport cost class 0; reference terminal Lesedi"/>
          <p:cNvSpPr/>
          <p:nvPr/>
        </p:nvSpPr>
        <p:spPr>
          <a:xfrm>
            <a:off x="445416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8" name="Illustrative delivered road transport cost class 0; reference terminal Lesedi"/>
          <p:cNvSpPr/>
          <p:nvPr/>
        </p:nvSpPr>
        <p:spPr>
          <a:xfrm>
            <a:off x="445416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9" name="Illustrative delivered road transport cost class 0; reference terminal Lesedi"/>
          <p:cNvSpPr/>
          <p:nvPr/>
        </p:nvSpPr>
        <p:spPr>
          <a:xfrm>
            <a:off x="445416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0" name="Illustrative delivered road transport cost class 0; reference terminal Lesedi"/>
          <p:cNvSpPr/>
          <p:nvPr/>
        </p:nvSpPr>
        <p:spPr>
          <a:xfrm>
            <a:off x="445416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1" name="Illustrative delivered road transport cost class 0; reference terminal Lesedi"/>
          <p:cNvSpPr/>
          <p:nvPr/>
        </p:nvSpPr>
        <p:spPr>
          <a:xfrm>
            <a:off x="445416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2" name="Illustrative delivered road transport cost class 0; reference terminal Lesedi"/>
          <p:cNvSpPr/>
          <p:nvPr/>
        </p:nvSpPr>
        <p:spPr>
          <a:xfrm>
            <a:off x="445416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3" name="Illustrative delivered road transport cost class 0; reference terminal Lesedi"/>
          <p:cNvSpPr/>
          <p:nvPr/>
        </p:nvSpPr>
        <p:spPr>
          <a:xfrm>
            <a:off x="445416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4" name="Illustrative delivered road transport cost class 0; reference terminal Lesedi"/>
          <p:cNvSpPr/>
          <p:nvPr/>
        </p:nvSpPr>
        <p:spPr>
          <a:xfrm>
            <a:off x="445416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5" name="Illustrative delivered road transport cost class 0; reference terminal Lesedi"/>
          <p:cNvSpPr/>
          <p:nvPr/>
        </p:nvSpPr>
        <p:spPr>
          <a:xfrm>
            <a:off x="445416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6" name="Illustrative delivered road transport cost class 0; reference terminal Lesedi"/>
          <p:cNvSpPr/>
          <p:nvPr/>
        </p:nvSpPr>
        <p:spPr>
          <a:xfrm>
            <a:off x="445416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7" name="Illustrative delivered road transport cost class 0; reference terminal Lesedi"/>
          <p:cNvSpPr/>
          <p:nvPr/>
        </p:nvSpPr>
        <p:spPr>
          <a:xfrm>
            <a:off x="445416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8" name="Illustrative delivered road transport cost class 0; reference terminal Lesedi"/>
          <p:cNvSpPr/>
          <p:nvPr/>
        </p:nvSpPr>
        <p:spPr>
          <a:xfrm>
            <a:off x="445416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9" name="Illustrative delivered road transport cost class 0; reference terminal Lesedi"/>
          <p:cNvSpPr/>
          <p:nvPr/>
        </p:nvSpPr>
        <p:spPr>
          <a:xfrm>
            <a:off x="445416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0" name="Illustrative delivered road transport cost class 0; reference terminal Lesedi"/>
          <p:cNvSpPr/>
          <p:nvPr/>
        </p:nvSpPr>
        <p:spPr>
          <a:xfrm>
            <a:off x="445416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1" name="Illustrative delivered road transport cost class 0; reference terminal Lesedi"/>
          <p:cNvSpPr/>
          <p:nvPr/>
        </p:nvSpPr>
        <p:spPr>
          <a:xfrm>
            <a:off x="445416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2" name="Illustrative delivered road transport cost class 0; reference terminal Lesedi"/>
          <p:cNvSpPr/>
          <p:nvPr/>
        </p:nvSpPr>
        <p:spPr>
          <a:xfrm>
            <a:off x="445416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3" name="Illustrative delivered road transport cost class 0; reference terminal Lesedi"/>
          <p:cNvSpPr/>
          <p:nvPr/>
        </p:nvSpPr>
        <p:spPr>
          <a:xfrm>
            <a:off x="445416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4" name="Illustrative delivered road transport cost class 1; reference terminal Lesedi"/>
          <p:cNvSpPr/>
          <p:nvPr/>
        </p:nvSpPr>
        <p:spPr>
          <a:xfrm>
            <a:off x="445416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5" name="Illustrative delivered road transport cost class 1; reference terminal Lesedi"/>
          <p:cNvSpPr/>
          <p:nvPr/>
        </p:nvSpPr>
        <p:spPr>
          <a:xfrm>
            <a:off x="445416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6" name="Illustrative delivered road transport cost class 1; reference terminal Lesedi"/>
          <p:cNvSpPr/>
          <p:nvPr/>
        </p:nvSpPr>
        <p:spPr>
          <a:xfrm>
            <a:off x="445416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7" name="Illustrative delivered road transport cost class None; reference terminal None"/>
          <p:cNvSpPr/>
          <p:nvPr/>
        </p:nvSpPr>
        <p:spPr>
          <a:xfrm>
            <a:off x="445416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8" name="Illustrative delivered road transport cost class None; reference terminal None"/>
          <p:cNvSpPr/>
          <p:nvPr/>
        </p:nvSpPr>
        <p:spPr>
          <a:xfrm>
            <a:off x="4454160"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9" name="Illustrative delivered road transport cost class None; reference terminal None"/>
          <p:cNvSpPr/>
          <p:nvPr/>
        </p:nvSpPr>
        <p:spPr>
          <a:xfrm>
            <a:off x="4454160"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0" name="Illustrative delivered road transport cost class None; reference terminal None"/>
          <p:cNvSpPr/>
          <p:nvPr/>
        </p:nvSpPr>
        <p:spPr>
          <a:xfrm>
            <a:off x="4454160"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1" name="Illustrative delivered road transport cost class None; reference terminal None"/>
          <p:cNvSpPr/>
          <p:nvPr/>
        </p:nvSpPr>
        <p:spPr>
          <a:xfrm>
            <a:off x="4454160" y="2440844"/>
            <a:ext cx="57687" cy="57687"/>
          </a:xfrm>
          <a:custGeom>
            <a:avLst/>
            <a:gdLst/>
            <a:ahLst/>
            <a:cxnLst/>
            <a:rect l="l" t="t" r="r" b="b"/>
            <a:pathLst>
              <a:path w="57687" h="57687">
                <a:moveTo>
                  <a:pt x="57687" y="0"/>
                </a:moveTo>
                <a:lnTo>
                  <a:pt x="57687" y="57687"/>
                </a:lnTo>
                <a:lnTo>
                  <a:pt x="0" y="57687"/>
                </a:lnTo>
                <a:lnTo>
                  <a:pt x="0" y="25899"/>
                </a:lnTo>
                <a:lnTo>
                  <a:pt x="12112" y="13614"/>
                </a:lnTo>
                <a:lnTo>
                  <a:pt x="3506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2" name="Illustrative delivered road transport cost class None; reference terminal None"/>
          <p:cNvSpPr/>
          <p:nvPr/>
        </p:nvSpPr>
        <p:spPr>
          <a:xfrm>
            <a:off x="4489224" y="2429483"/>
            <a:ext cx="22623" cy="11361"/>
          </a:xfrm>
          <a:custGeom>
            <a:avLst/>
            <a:gdLst/>
            <a:ahLst/>
            <a:cxnLst/>
            <a:rect l="l" t="t" r="r" b="b"/>
            <a:pathLst>
              <a:path w="22623" h="11361">
                <a:moveTo>
                  <a:pt x="22623" y="11361"/>
                </a:moveTo>
                <a:lnTo>
                  <a:pt x="0" y="11361"/>
                </a:lnTo>
                <a:lnTo>
                  <a:pt x="18382" y="458"/>
                </a:lnTo>
                <a:lnTo>
                  <a:pt x="22623" y="0"/>
                </a:lnTo>
                <a:lnTo>
                  <a:pt x="22623" y="1136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3" name="Illustrative delivered road transport cost class 1; reference terminal Durban"/>
          <p:cNvSpPr/>
          <p:nvPr/>
        </p:nvSpPr>
        <p:spPr>
          <a:xfrm>
            <a:off x="4511847" y="4921367"/>
            <a:ext cx="20792" cy="18669"/>
          </a:xfrm>
          <a:custGeom>
            <a:avLst/>
            <a:gdLst/>
            <a:ahLst/>
            <a:cxnLst/>
            <a:rect l="l" t="t" r="r" b="b"/>
            <a:pathLst>
              <a:path w="20792" h="18669">
                <a:moveTo>
                  <a:pt x="0" y="0"/>
                </a:moveTo>
                <a:lnTo>
                  <a:pt x="20792" y="0"/>
                </a:lnTo>
                <a:lnTo>
                  <a:pt x="0" y="1866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4" name="Illustrative delivered road transport cost class 1; reference terminal Durban"/>
          <p:cNvSpPr/>
          <p:nvPr/>
        </p:nvSpPr>
        <p:spPr>
          <a:xfrm>
            <a:off x="4511847" y="4863680"/>
            <a:ext cx="57686" cy="57687"/>
          </a:xfrm>
          <a:custGeom>
            <a:avLst/>
            <a:gdLst/>
            <a:ahLst/>
            <a:cxnLst/>
            <a:rect l="l" t="t" r="r" b="b"/>
            <a:pathLst>
              <a:path w="57686" h="57687">
                <a:moveTo>
                  <a:pt x="0" y="57687"/>
                </a:moveTo>
                <a:lnTo>
                  <a:pt x="0" y="0"/>
                </a:lnTo>
                <a:lnTo>
                  <a:pt x="57686" y="0"/>
                </a:lnTo>
                <a:lnTo>
                  <a:pt x="57686" y="17156"/>
                </a:lnTo>
                <a:lnTo>
                  <a:pt x="30553" y="48922"/>
                </a:lnTo>
                <a:lnTo>
                  <a:pt x="2079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5" name="Illustrative delivered road transport cost class 1; reference terminal Durban"/>
          <p:cNvSpPr/>
          <p:nvPr/>
        </p:nvSpPr>
        <p:spPr>
          <a:xfrm>
            <a:off x="451184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6" name="Illustrative delivered road transport cost class 1; reference terminal Durban"/>
          <p:cNvSpPr/>
          <p:nvPr/>
        </p:nvSpPr>
        <p:spPr>
          <a:xfrm>
            <a:off x="451184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7" name="Illustrative delivered road transport cost class 1; reference terminal Durban"/>
          <p:cNvSpPr/>
          <p:nvPr/>
        </p:nvSpPr>
        <p:spPr>
          <a:xfrm>
            <a:off x="451184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8" name="Illustrative delivered road transport cost class 1; reference terminal Durban"/>
          <p:cNvSpPr/>
          <p:nvPr/>
        </p:nvSpPr>
        <p:spPr>
          <a:xfrm>
            <a:off x="451184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9" name="Illustrative delivered road transport cost class 0; reference terminal Durban"/>
          <p:cNvSpPr/>
          <p:nvPr/>
        </p:nvSpPr>
        <p:spPr>
          <a:xfrm>
            <a:off x="451184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0" name="Illustrative delivered road transport cost class 0; reference terminal Durban"/>
          <p:cNvSpPr/>
          <p:nvPr/>
        </p:nvSpPr>
        <p:spPr>
          <a:xfrm>
            <a:off x="451184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1" name="Illustrative delivered road transport cost class 0; reference terminal Durban"/>
          <p:cNvSpPr/>
          <p:nvPr/>
        </p:nvSpPr>
        <p:spPr>
          <a:xfrm>
            <a:off x="451184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2" name="Illustrative delivered road transport cost class 0; reference terminal Durban"/>
          <p:cNvSpPr/>
          <p:nvPr/>
        </p:nvSpPr>
        <p:spPr>
          <a:xfrm>
            <a:off x="451184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3" name="Illustrative delivered road transport cost class 0; reference terminal Durban"/>
          <p:cNvSpPr/>
          <p:nvPr/>
        </p:nvSpPr>
        <p:spPr>
          <a:xfrm>
            <a:off x="4511847" y="4344501"/>
            <a:ext cx="57686" cy="57687"/>
          </a:xfrm>
          <a:custGeom>
            <a:avLst/>
            <a:gdLst/>
            <a:ahLst/>
            <a:cxnLst/>
            <a:rect l="l" t="t" r="r" b="b"/>
            <a:pathLst>
              <a:path w="57686" h="57687">
                <a:moveTo>
                  <a:pt x="57686" y="0"/>
                </a:moveTo>
                <a:lnTo>
                  <a:pt x="57686" y="57687"/>
                </a:lnTo>
                <a:lnTo>
                  <a:pt x="0" y="57687"/>
                </a:lnTo>
                <a:lnTo>
                  <a:pt x="0" y="12679"/>
                </a:lnTo>
                <a:lnTo>
                  <a:pt x="314" y="12725"/>
                </a:lnTo>
                <a:lnTo>
                  <a:pt x="3108" y="12261"/>
                </a:lnTo>
                <a:lnTo>
                  <a:pt x="23316" y="6595"/>
                </a:lnTo>
                <a:lnTo>
                  <a:pt x="39543"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4" name="Illustrative delivered road transport cost class 1; reference terminal Durban"/>
          <p:cNvSpPr/>
          <p:nvPr/>
        </p:nvSpPr>
        <p:spPr>
          <a:xfrm>
            <a:off x="4551390" y="4337127"/>
            <a:ext cx="18143" cy="7374"/>
          </a:xfrm>
          <a:custGeom>
            <a:avLst/>
            <a:gdLst/>
            <a:ahLst/>
            <a:cxnLst/>
            <a:rect l="l" t="t" r="r" b="b"/>
            <a:pathLst>
              <a:path w="18143" h="7374">
                <a:moveTo>
                  <a:pt x="18143" y="7374"/>
                </a:moveTo>
                <a:lnTo>
                  <a:pt x="0" y="7374"/>
                </a:lnTo>
                <a:lnTo>
                  <a:pt x="18143" y="0"/>
                </a:lnTo>
                <a:lnTo>
                  <a:pt x="18143" y="73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5" name="Illustrative delivered road transport cost class 0; reference terminal Durban"/>
          <p:cNvSpPr/>
          <p:nvPr/>
        </p:nvSpPr>
        <p:spPr>
          <a:xfrm>
            <a:off x="4553217" y="3998382"/>
            <a:ext cx="16316" cy="12749"/>
          </a:xfrm>
          <a:custGeom>
            <a:avLst/>
            <a:gdLst/>
            <a:ahLst/>
            <a:cxnLst/>
            <a:rect l="l" t="t" r="r" b="b"/>
            <a:pathLst>
              <a:path w="16316" h="12749">
                <a:moveTo>
                  <a:pt x="16316" y="0"/>
                </a:moveTo>
                <a:lnTo>
                  <a:pt x="16316" y="12749"/>
                </a:lnTo>
                <a:lnTo>
                  <a:pt x="10754" y="9811"/>
                </a:lnTo>
                <a:lnTo>
                  <a:pt x="0" y="0"/>
                </a:lnTo>
                <a:lnTo>
                  <a:pt x="1631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6" name="Illustrative delivered road transport cost class 0; reference terminal Lesedi"/>
          <p:cNvSpPr/>
          <p:nvPr/>
        </p:nvSpPr>
        <p:spPr>
          <a:xfrm>
            <a:off x="4511847" y="3940695"/>
            <a:ext cx="57686" cy="57687"/>
          </a:xfrm>
          <a:custGeom>
            <a:avLst/>
            <a:gdLst/>
            <a:ahLst/>
            <a:cxnLst/>
            <a:rect l="l" t="t" r="r" b="b"/>
            <a:pathLst>
              <a:path w="57686" h="57687">
                <a:moveTo>
                  <a:pt x="0" y="0"/>
                </a:moveTo>
                <a:lnTo>
                  <a:pt x="57686" y="0"/>
                </a:lnTo>
                <a:lnTo>
                  <a:pt x="57686" y="57687"/>
                </a:lnTo>
                <a:lnTo>
                  <a:pt x="41370" y="57687"/>
                </a:lnTo>
                <a:lnTo>
                  <a:pt x="31431" y="48619"/>
                </a:lnTo>
                <a:lnTo>
                  <a:pt x="22601" y="37871"/>
                </a:lnTo>
                <a:lnTo>
                  <a:pt x="16556" y="25162"/>
                </a:lnTo>
                <a:lnTo>
                  <a:pt x="10625" y="20856"/>
                </a:lnTo>
                <a:lnTo>
                  <a:pt x="971" y="23738"/>
                </a:lnTo>
                <a:lnTo>
                  <a:pt x="0" y="2392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7" name="Illustrative delivered road transport cost class 0; reference terminal Lesedi"/>
          <p:cNvSpPr/>
          <p:nvPr/>
        </p:nvSpPr>
        <p:spPr>
          <a:xfrm>
            <a:off x="451184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8" name="Illustrative delivered road transport cost class 0; reference terminal Lesedi"/>
          <p:cNvSpPr/>
          <p:nvPr/>
        </p:nvSpPr>
        <p:spPr>
          <a:xfrm>
            <a:off x="451184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9" name="Illustrative delivered road transport cost class 0; reference terminal Lesedi"/>
          <p:cNvSpPr/>
          <p:nvPr/>
        </p:nvSpPr>
        <p:spPr>
          <a:xfrm>
            <a:off x="451184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0" name="Illustrative delivered road transport cost class 0; reference terminal Lesedi"/>
          <p:cNvSpPr/>
          <p:nvPr/>
        </p:nvSpPr>
        <p:spPr>
          <a:xfrm>
            <a:off x="451184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1" name="Illustrative delivered road transport cost class 0; reference terminal Lesedi"/>
          <p:cNvSpPr/>
          <p:nvPr/>
        </p:nvSpPr>
        <p:spPr>
          <a:xfrm>
            <a:off x="451184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2" name="Illustrative delivered road transport cost class 0; reference terminal Lesedi"/>
          <p:cNvSpPr/>
          <p:nvPr/>
        </p:nvSpPr>
        <p:spPr>
          <a:xfrm>
            <a:off x="451184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3" name="Illustrative delivered road transport cost class 0; reference terminal Lesedi"/>
          <p:cNvSpPr/>
          <p:nvPr/>
        </p:nvSpPr>
        <p:spPr>
          <a:xfrm>
            <a:off x="451184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4" name="Illustrative delivered road transport cost class 0; reference terminal Lesedi"/>
          <p:cNvSpPr/>
          <p:nvPr/>
        </p:nvSpPr>
        <p:spPr>
          <a:xfrm>
            <a:off x="451184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5" name="Illustrative delivered road transport cost class 0; reference terminal Lesedi"/>
          <p:cNvSpPr/>
          <p:nvPr/>
        </p:nvSpPr>
        <p:spPr>
          <a:xfrm>
            <a:off x="451184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6" name="Illustrative delivered road transport cost class 0; reference terminal Lesedi"/>
          <p:cNvSpPr/>
          <p:nvPr/>
        </p:nvSpPr>
        <p:spPr>
          <a:xfrm>
            <a:off x="451184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7" name="Illustrative delivered road transport cost class 0; reference terminal Lesedi"/>
          <p:cNvSpPr/>
          <p:nvPr/>
        </p:nvSpPr>
        <p:spPr>
          <a:xfrm>
            <a:off x="451184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8" name="Illustrative delivered road transport cost class 0; reference terminal Lesedi"/>
          <p:cNvSpPr/>
          <p:nvPr/>
        </p:nvSpPr>
        <p:spPr>
          <a:xfrm>
            <a:off x="451184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9" name="Illustrative delivered road transport cost class 0; reference terminal Lesedi"/>
          <p:cNvSpPr/>
          <p:nvPr/>
        </p:nvSpPr>
        <p:spPr>
          <a:xfrm>
            <a:off x="451184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0" name="Illustrative delivered road transport cost class 0; reference terminal Lesedi"/>
          <p:cNvSpPr/>
          <p:nvPr/>
        </p:nvSpPr>
        <p:spPr>
          <a:xfrm>
            <a:off x="451184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1" name="Illustrative delivered road transport cost class 0; reference terminal Lesedi"/>
          <p:cNvSpPr/>
          <p:nvPr/>
        </p:nvSpPr>
        <p:spPr>
          <a:xfrm>
            <a:off x="451184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2" name="Illustrative delivered road transport cost class 0; reference terminal Lesedi"/>
          <p:cNvSpPr/>
          <p:nvPr/>
        </p:nvSpPr>
        <p:spPr>
          <a:xfrm>
            <a:off x="451184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3" name="Illustrative delivered road transport cost class 0; reference terminal Lesedi"/>
          <p:cNvSpPr/>
          <p:nvPr/>
        </p:nvSpPr>
        <p:spPr>
          <a:xfrm>
            <a:off x="451184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4" name="Illustrative delivered road transport cost class 0; reference terminal Lesedi"/>
          <p:cNvSpPr/>
          <p:nvPr/>
        </p:nvSpPr>
        <p:spPr>
          <a:xfrm>
            <a:off x="451184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5" name="Illustrative delivered road transport cost class 1; reference terminal Lesedi"/>
          <p:cNvSpPr/>
          <p:nvPr/>
        </p:nvSpPr>
        <p:spPr>
          <a:xfrm>
            <a:off x="451184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6" name="Illustrative delivered road transport cost class 1; reference terminal Lesedi"/>
          <p:cNvSpPr/>
          <p:nvPr/>
        </p:nvSpPr>
        <p:spPr>
          <a:xfrm>
            <a:off x="451184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7" name="Illustrative delivered road transport cost class 1; reference terminal Lesedi"/>
          <p:cNvSpPr/>
          <p:nvPr/>
        </p:nvSpPr>
        <p:spPr>
          <a:xfrm>
            <a:off x="451184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8" name="Illustrative delivered road transport cost class 1; reference terminal Lesedi"/>
          <p:cNvSpPr/>
          <p:nvPr/>
        </p:nvSpPr>
        <p:spPr>
          <a:xfrm>
            <a:off x="451184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9" name="Illustrative delivered road transport cost class None; reference terminal None"/>
          <p:cNvSpPr/>
          <p:nvPr/>
        </p:nvSpPr>
        <p:spPr>
          <a:xfrm>
            <a:off x="451184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0" name="Illustrative delivered road transport cost class None; reference terminal None"/>
          <p:cNvSpPr/>
          <p:nvPr/>
        </p:nvSpPr>
        <p:spPr>
          <a:xfrm>
            <a:off x="4511847"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1" name="Illustrative delivered road transport cost class None; reference terminal None"/>
          <p:cNvSpPr/>
          <p:nvPr/>
        </p:nvSpPr>
        <p:spPr>
          <a:xfrm>
            <a:off x="4511847"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2" name="Illustrative delivered road transport cost class None; reference terminal None"/>
          <p:cNvSpPr/>
          <p:nvPr/>
        </p:nvSpPr>
        <p:spPr>
          <a:xfrm>
            <a:off x="4511847"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3" name="Illustrative delivered road transport cost class None; reference terminal None"/>
          <p:cNvSpPr/>
          <p:nvPr/>
        </p:nvSpPr>
        <p:spPr>
          <a:xfrm>
            <a:off x="4511847" y="2420300"/>
            <a:ext cx="57686" cy="20544"/>
          </a:xfrm>
          <a:custGeom>
            <a:avLst/>
            <a:gdLst/>
            <a:ahLst/>
            <a:cxnLst/>
            <a:rect l="l" t="t" r="r" b="b"/>
            <a:pathLst>
              <a:path w="57686" h="20544">
                <a:moveTo>
                  <a:pt x="57686" y="20544"/>
                </a:moveTo>
                <a:lnTo>
                  <a:pt x="0" y="20544"/>
                </a:lnTo>
                <a:lnTo>
                  <a:pt x="0" y="9183"/>
                </a:lnTo>
                <a:lnTo>
                  <a:pt x="34152" y="5493"/>
                </a:lnTo>
                <a:lnTo>
                  <a:pt x="57686" y="0"/>
                </a:lnTo>
                <a:lnTo>
                  <a:pt x="57686" y="2054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4" name="Illustrative delivered road transport cost class 1; reference terminal Durban"/>
          <p:cNvSpPr/>
          <p:nvPr/>
        </p:nvSpPr>
        <p:spPr>
          <a:xfrm>
            <a:off x="4569533" y="4863680"/>
            <a:ext cx="14654" cy="17156"/>
          </a:xfrm>
          <a:custGeom>
            <a:avLst/>
            <a:gdLst/>
            <a:ahLst/>
            <a:cxnLst/>
            <a:rect l="l" t="t" r="r" b="b"/>
            <a:pathLst>
              <a:path w="14654" h="17156">
                <a:moveTo>
                  <a:pt x="0" y="0"/>
                </a:moveTo>
                <a:lnTo>
                  <a:pt x="14654" y="0"/>
                </a:lnTo>
                <a:lnTo>
                  <a:pt x="0" y="1715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5" name="Illustrative delivered road transport cost class 1; reference terminal Durban"/>
          <p:cNvSpPr/>
          <p:nvPr/>
        </p:nvSpPr>
        <p:spPr>
          <a:xfrm>
            <a:off x="4569533" y="4805994"/>
            <a:ext cx="57687" cy="57686"/>
          </a:xfrm>
          <a:custGeom>
            <a:avLst/>
            <a:gdLst/>
            <a:ahLst/>
            <a:cxnLst/>
            <a:rect l="l" t="t" r="r" b="b"/>
            <a:pathLst>
              <a:path w="57687" h="57686">
                <a:moveTo>
                  <a:pt x="0" y="57686"/>
                </a:moveTo>
                <a:lnTo>
                  <a:pt x="0" y="0"/>
                </a:lnTo>
                <a:lnTo>
                  <a:pt x="57687" y="0"/>
                </a:lnTo>
                <a:lnTo>
                  <a:pt x="57687" y="11126"/>
                </a:lnTo>
                <a:lnTo>
                  <a:pt x="34711" y="34204"/>
                </a:lnTo>
                <a:lnTo>
                  <a:pt x="14654"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6" name="Illustrative delivered road transport cost class 1; reference terminal Durban"/>
          <p:cNvSpPr/>
          <p:nvPr/>
        </p:nvSpPr>
        <p:spPr>
          <a:xfrm>
            <a:off x="456953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7" name="Illustrative delivered road transport cost class 1; reference terminal Durban"/>
          <p:cNvSpPr/>
          <p:nvPr/>
        </p:nvSpPr>
        <p:spPr>
          <a:xfrm>
            <a:off x="456953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8" name="Illustrative delivered road transport cost class 1; reference terminal Durban"/>
          <p:cNvSpPr/>
          <p:nvPr/>
        </p:nvSpPr>
        <p:spPr>
          <a:xfrm>
            <a:off x="456953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9" name="Illustrative delivered road transport cost class 0; reference terminal Durban"/>
          <p:cNvSpPr/>
          <p:nvPr/>
        </p:nvSpPr>
        <p:spPr>
          <a:xfrm>
            <a:off x="456953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0" name="Illustrative delivered road transport cost class 0; reference terminal Durban"/>
          <p:cNvSpPr/>
          <p:nvPr/>
        </p:nvSpPr>
        <p:spPr>
          <a:xfrm>
            <a:off x="456953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1" name="Illustrative delivered road transport cost class 0; reference terminal Durban"/>
          <p:cNvSpPr/>
          <p:nvPr/>
        </p:nvSpPr>
        <p:spPr>
          <a:xfrm>
            <a:off x="456953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2" name="Illustrative delivered road transport cost class 0; reference terminal Durban"/>
          <p:cNvSpPr/>
          <p:nvPr/>
        </p:nvSpPr>
        <p:spPr>
          <a:xfrm>
            <a:off x="456953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3" name="Illustrative delivered road transport cost class 0; reference terminal Durban"/>
          <p:cNvSpPr/>
          <p:nvPr/>
        </p:nvSpPr>
        <p:spPr>
          <a:xfrm>
            <a:off x="456953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4" name="Illustrative delivered road transport cost class 0; reference terminal Durban"/>
          <p:cNvSpPr/>
          <p:nvPr/>
        </p:nvSpPr>
        <p:spPr>
          <a:xfrm>
            <a:off x="4569533" y="4286814"/>
            <a:ext cx="57687" cy="57687"/>
          </a:xfrm>
          <a:custGeom>
            <a:avLst/>
            <a:gdLst/>
            <a:ahLst/>
            <a:cxnLst/>
            <a:rect l="l" t="t" r="r" b="b"/>
            <a:pathLst>
              <a:path w="57687" h="57687">
                <a:moveTo>
                  <a:pt x="57687" y="0"/>
                </a:moveTo>
                <a:lnTo>
                  <a:pt x="57687" y="57687"/>
                </a:lnTo>
                <a:lnTo>
                  <a:pt x="0" y="57687"/>
                </a:lnTo>
                <a:lnTo>
                  <a:pt x="0" y="50313"/>
                </a:lnTo>
                <a:lnTo>
                  <a:pt x="2657" y="49233"/>
                </a:lnTo>
                <a:lnTo>
                  <a:pt x="19503" y="39795"/>
                </a:lnTo>
                <a:lnTo>
                  <a:pt x="31732" y="32059"/>
                </a:lnTo>
                <a:lnTo>
                  <a:pt x="47533" y="20177"/>
                </a:lnTo>
                <a:lnTo>
                  <a:pt x="51841" y="0"/>
                </a:lnTo>
                <a:lnTo>
                  <a:pt x="57687"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5" name="Illustrative delivered road transport cost class 0; reference terminal Durban"/>
          <p:cNvSpPr/>
          <p:nvPr/>
        </p:nvSpPr>
        <p:spPr>
          <a:xfrm>
            <a:off x="4621374" y="4259370"/>
            <a:ext cx="5846" cy="27444"/>
          </a:xfrm>
          <a:custGeom>
            <a:avLst/>
            <a:gdLst/>
            <a:ahLst/>
            <a:cxnLst/>
            <a:rect l="l" t="t" r="r" b="b"/>
            <a:pathLst>
              <a:path w="5846" h="27444">
                <a:moveTo>
                  <a:pt x="5846" y="27444"/>
                </a:moveTo>
                <a:lnTo>
                  <a:pt x="0" y="27444"/>
                </a:lnTo>
                <a:lnTo>
                  <a:pt x="2088" y="17663"/>
                </a:lnTo>
                <a:lnTo>
                  <a:pt x="5846" y="0"/>
                </a:lnTo>
                <a:lnTo>
                  <a:pt x="5846" y="27444"/>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6" name="Illustrative delivered road transport cost class 0; reference terminal Durban"/>
          <p:cNvSpPr/>
          <p:nvPr/>
        </p:nvSpPr>
        <p:spPr>
          <a:xfrm>
            <a:off x="4612267" y="4056068"/>
            <a:ext cx="14953" cy="12657"/>
          </a:xfrm>
          <a:custGeom>
            <a:avLst/>
            <a:gdLst/>
            <a:ahLst/>
            <a:cxnLst/>
            <a:rect l="l" t="t" r="r" b="b"/>
            <a:pathLst>
              <a:path w="14953" h="12657">
                <a:moveTo>
                  <a:pt x="14953" y="0"/>
                </a:moveTo>
                <a:lnTo>
                  <a:pt x="14953" y="12657"/>
                </a:lnTo>
                <a:lnTo>
                  <a:pt x="4438" y="3748"/>
                </a:lnTo>
                <a:lnTo>
                  <a:pt x="0" y="0"/>
                </a:lnTo>
                <a:lnTo>
                  <a:pt x="14953"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7" name="Illustrative delivered road transport cost class 0; reference terminal Durban"/>
          <p:cNvSpPr/>
          <p:nvPr/>
        </p:nvSpPr>
        <p:spPr>
          <a:xfrm>
            <a:off x="4569533" y="3998382"/>
            <a:ext cx="57687" cy="57686"/>
          </a:xfrm>
          <a:custGeom>
            <a:avLst/>
            <a:gdLst/>
            <a:ahLst/>
            <a:cxnLst/>
            <a:rect l="l" t="t" r="r" b="b"/>
            <a:pathLst>
              <a:path w="57687" h="57686">
                <a:moveTo>
                  <a:pt x="0" y="0"/>
                </a:moveTo>
                <a:lnTo>
                  <a:pt x="57687" y="0"/>
                </a:lnTo>
                <a:lnTo>
                  <a:pt x="57687" y="57686"/>
                </a:lnTo>
                <a:lnTo>
                  <a:pt x="42734" y="57686"/>
                </a:lnTo>
                <a:lnTo>
                  <a:pt x="24352" y="42163"/>
                </a:lnTo>
                <a:lnTo>
                  <a:pt x="3310" y="14497"/>
                </a:lnTo>
                <a:lnTo>
                  <a:pt x="0" y="12749"/>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8" name="Illustrative delivered road transport cost class 0; reference terminal Lesedi"/>
          <p:cNvSpPr/>
          <p:nvPr/>
        </p:nvSpPr>
        <p:spPr>
          <a:xfrm>
            <a:off x="456953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9" name="Illustrative delivered road transport cost class 0; reference terminal Lesedi"/>
          <p:cNvSpPr/>
          <p:nvPr/>
        </p:nvSpPr>
        <p:spPr>
          <a:xfrm>
            <a:off x="456953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0" name="Illustrative delivered road transport cost class 0; reference terminal Lesedi"/>
          <p:cNvSpPr/>
          <p:nvPr/>
        </p:nvSpPr>
        <p:spPr>
          <a:xfrm>
            <a:off x="456953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1" name="Illustrative delivered road transport cost class 0; reference terminal Lesedi"/>
          <p:cNvSpPr/>
          <p:nvPr/>
        </p:nvSpPr>
        <p:spPr>
          <a:xfrm>
            <a:off x="456953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2" name="Illustrative delivered road transport cost class 0; reference terminal Lesedi"/>
          <p:cNvSpPr/>
          <p:nvPr/>
        </p:nvSpPr>
        <p:spPr>
          <a:xfrm>
            <a:off x="456953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3" name="Illustrative delivered road transport cost class 0; reference terminal Lesedi"/>
          <p:cNvSpPr/>
          <p:nvPr/>
        </p:nvSpPr>
        <p:spPr>
          <a:xfrm>
            <a:off x="456953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4" name="Illustrative delivered road transport cost class 0; reference terminal Lesedi"/>
          <p:cNvSpPr/>
          <p:nvPr/>
        </p:nvSpPr>
        <p:spPr>
          <a:xfrm>
            <a:off x="456953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5" name="Illustrative delivered road transport cost class 0; reference terminal Lesedi"/>
          <p:cNvSpPr/>
          <p:nvPr/>
        </p:nvSpPr>
        <p:spPr>
          <a:xfrm>
            <a:off x="456953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6" name="Illustrative delivered road transport cost class 0; reference terminal Lesedi"/>
          <p:cNvSpPr/>
          <p:nvPr/>
        </p:nvSpPr>
        <p:spPr>
          <a:xfrm>
            <a:off x="456953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7" name="Illustrative delivered road transport cost class 0; reference terminal Lesedi"/>
          <p:cNvSpPr/>
          <p:nvPr/>
        </p:nvSpPr>
        <p:spPr>
          <a:xfrm>
            <a:off x="456953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8" name="Illustrative delivered road transport cost class 0; reference terminal Lesedi"/>
          <p:cNvSpPr/>
          <p:nvPr/>
        </p:nvSpPr>
        <p:spPr>
          <a:xfrm>
            <a:off x="456953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9" name="Illustrative delivered road transport cost class 0; reference terminal Lesedi"/>
          <p:cNvSpPr/>
          <p:nvPr/>
        </p:nvSpPr>
        <p:spPr>
          <a:xfrm>
            <a:off x="456953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0" name="Illustrative delivered road transport cost class 0; reference terminal Lesedi"/>
          <p:cNvSpPr/>
          <p:nvPr/>
        </p:nvSpPr>
        <p:spPr>
          <a:xfrm>
            <a:off x="456953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1" name="Illustrative delivered road transport cost class 0; reference terminal Lesedi"/>
          <p:cNvSpPr/>
          <p:nvPr/>
        </p:nvSpPr>
        <p:spPr>
          <a:xfrm>
            <a:off x="456953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2" name="Illustrative delivered road transport cost class 0; reference terminal Lesedi"/>
          <p:cNvSpPr/>
          <p:nvPr/>
        </p:nvSpPr>
        <p:spPr>
          <a:xfrm>
            <a:off x="456953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3" name="Illustrative delivered road transport cost class 0; reference terminal Lesedi"/>
          <p:cNvSpPr/>
          <p:nvPr/>
        </p:nvSpPr>
        <p:spPr>
          <a:xfrm>
            <a:off x="456953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4" name="Illustrative delivered road transport cost class 0; reference terminal Lesedi"/>
          <p:cNvSpPr/>
          <p:nvPr/>
        </p:nvSpPr>
        <p:spPr>
          <a:xfrm>
            <a:off x="456953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5" name="Illustrative delivered road transport cost class 0; reference terminal Lesedi"/>
          <p:cNvSpPr/>
          <p:nvPr/>
        </p:nvSpPr>
        <p:spPr>
          <a:xfrm>
            <a:off x="456953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6" name="Illustrative delivered road transport cost class 0; reference terminal Lesedi"/>
          <p:cNvSpPr/>
          <p:nvPr/>
        </p:nvSpPr>
        <p:spPr>
          <a:xfrm>
            <a:off x="456953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7" name="Illustrative delivered road transport cost class 0; reference terminal Lesedi"/>
          <p:cNvSpPr/>
          <p:nvPr/>
        </p:nvSpPr>
        <p:spPr>
          <a:xfrm>
            <a:off x="456953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8" name="Illustrative delivered road transport cost class 1; reference terminal Lesedi"/>
          <p:cNvSpPr/>
          <p:nvPr/>
        </p:nvSpPr>
        <p:spPr>
          <a:xfrm>
            <a:off x="456953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9" name="Illustrative delivered road transport cost class 1; reference terminal Lesedi"/>
          <p:cNvSpPr/>
          <p:nvPr/>
        </p:nvSpPr>
        <p:spPr>
          <a:xfrm>
            <a:off x="456953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0" name="Illustrative delivered road transport cost class 1; reference terminal Lesedi"/>
          <p:cNvSpPr/>
          <p:nvPr/>
        </p:nvSpPr>
        <p:spPr>
          <a:xfrm>
            <a:off x="456953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1" name="Illustrative delivered road transport cost class 1; reference terminal Lesedi"/>
          <p:cNvSpPr/>
          <p:nvPr/>
        </p:nvSpPr>
        <p:spPr>
          <a:xfrm>
            <a:off x="456953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2" name="Illustrative delivered road transport cost class 1; reference terminal Lesedi"/>
          <p:cNvSpPr/>
          <p:nvPr/>
        </p:nvSpPr>
        <p:spPr>
          <a:xfrm>
            <a:off x="456953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3" name="Illustrative delivered road transport cost class 1; reference terminal Lesedi"/>
          <p:cNvSpPr/>
          <p:nvPr/>
        </p:nvSpPr>
        <p:spPr>
          <a:xfrm>
            <a:off x="4569533"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4" name="Illustrative delivered road transport cost class None; reference terminal None"/>
          <p:cNvSpPr/>
          <p:nvPr/>
        </p:nvSpPr>
        <p:spPr>
          <a:xfrm>
            <a:off x="4569533"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5" name="Illustrative delivered road transport cost class None; reference terminal None"/>
          <p:cNvSpPr/>
          <p:nvPr/>
        </p:nvSpPr>
        <p:spPr>
          <a:xfrm>
            <a:off x="4569533" y="2396154"/>
            <a:ext cx="57687" cy="44690"/>
          </a:xfrm>
          <a:custGeom>
            <a:avLst/>
            <a:gdLst/>
            <a:ahLst/>
            <a:cxnLst/>
            <a:rect l="l" t="t" r="r" b="b"/>
            <a:pathLst>
              <a:path w="57687" h="44690">
                <a:moveTo>
                  <a:pt x="57687" y="44690"/>
                </a:moveTo>
                <a:lnTo>
                  <a:pt x="0" y="44690"/>
                </a:lnTo>
                <a:lnTo>
                  <a:pt x="0" y="24146"/>
                </a:lnTo>
                <a:lnTo>
                  <a:pt x="12965" y="21120"/>
                </a:lnTo>
                <a:lnTo>
                  <a:pt x="47630" y="8224"/>
                </a:lnTo>
                <a:lnTo>
                  <a:pt x="57687" y="0"/>
                </a:lnTo>
                <a:lnTo>
                  <a:pt x="57687" y="4469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6" name="Illustrative delivered road transport cost class 1; reference terminal Durban"/>
          <p:cNvSpPr/>
          <p:nvPr/>
        </p:nvSpPr>
        <p:spPr>
          <a:xfrm>
            <a:off x="4627220" y="4805994"/>
            <a:ext cx="11076" cy="11126"/>
          </a:xfrm>
          <a:custGeom>
            <a:avLst/>
            <a:gdLst/>
            <a:ahLst/>
            <a:cxnLst/>
            <a:rect l="l" t="t" r="r" b="b"/>
            <a:pathLst>
              <a:path w="11076" h="11126">
                <a:moveTo>
                  <a:pt x="0" y="0"/>
                </a:moveTo>
                <a:lnTo>
                  <a:pt x="11076" y="0"/>
                </a:lnTo>
                <a:lnTo>
                  <a:pt x="0" y="1112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7" name="Illustrative delivered road transport cost class 1; reference terminal Durban"/>
          <p:cNvSpPr/>
          <p:nvPr/>
        </p:nvSpPr>
        <p:spPr>
          <a:xfrm>
            <a:off x="4627220" y="4748307"/>
            <a:ext cx="57686" cy="57687"/>
          </a:xfrm>
          <a:custGeom>
            <a:avLst/>
            <a:gdLst/>
            <a:ahLst/>
            <a:cxnLst/>
            <a:rect l="l" t="t" r="r" b="b"/>
            <a:pathLst>
              <a:path w="57686" h="57687">
                <a:moveTo>
                  <a:pt x="0" y="57687"/>
                </a:moveTo>
                <a:lnTo>
                  <a:pt x="0" y="0"/>
                </a:lnTo>
                <a:lnTo>
                  <a:pt x="57686" y="0"/>
                </a:lnTo>
                <a:lnTo>
                  <a:pt x="57686" y="10868"/>
                </a:lnTo>
                <a:lnTo>
                  <a:pt x="1107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8" name="Illustrative delivered road transport cost class 1; reference terminal Durban"/>
          <p:cNvSpPr/>
          <p:nvPr/>
        </p:nvSpPr>
        <p:spPr>
          <a:xfrm>
            <a:off x="462722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9" name="Illustrative delivered road transport cost class 0; reference terminal Durban"/>
          <p:cNvSpPr/>
          <p:nvPr/>
        </p:nvSpPr>
        <p:spPr>
          <a:xfrm>
            <a:off x="462722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0" name="Illustrative delivered road transport cost class 0; reference terminal Durban"/>
          <p:cNvSpPr/>
          <p:nvPr/>
        </p:nvSpPr>
        <p:spPr>
          <a:xfrm>
            <a:off x="462722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1" name="Illustrative delivered road transport cost class 0; reference terminal Durban"/>
          <p:cNvSpPr/>
          <p:nvPr/>
        </p:nvSpPr>
        <p:spPr>
          <a:xfrm>
            <a:off x="462722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2" name="Illustrative delivered road transport cost class 0; reference terminal Durban"/>
          <p:cNvSpPr/>
          <p:nvPr/>
        </p:nvSpPr>
        <p:spPr>
          <a:xfrm>
            <a:off x="462722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3" name="Illustrative delivered road transport cost class 0; reference terminal Durban"/>
          <p:cNvSpPr/>
          <p:nvPr/>
        </p:nvSpPr>
        <p:spPr>
          <a:xfrm>
            <a:off x="462722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4" name="Illustrative delivered road transport cost class 0; reference terminal Durban"/>
          <p:cNvSpPr/>
          <p:nvPr/>
        </p:nvSpPr>
        <p:spPr>
          <a:xfrm>
            <a:off x="462722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5" name="Illustrative delivered road transport cost class 0; reference terminal Durban"/>
          <p:cNvSpPr/>
          <p:nvPr/>
        </p:nvSpPr>
        <p:spPr>
          <a:xfrm>
            <a:off x="462722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6" name="Illustrative delivered road transport cost class 0; reference terminal Durban"/>
          <p:cNvSpPr/>
          <p:nvPr/>
        </p:nvSpPr>
        <p:spPr>
          <a:xfrm>
            <a:off x="4627220" y="4229128"/>
            <a:ext cx="57686" cy="57686"/>
          </a:xfrm>
          <a:custGeom>
            <a:avLst/>
            <a:gdLst/>
            <a:ahLst/>
            <a:cxnLst/>
            <a:rect l="l" t="t" r="r" b="b"/>
            <a:pathLst>
              <a:path w="57686" h="57686">
                <a:moveTo>
                  <a:pt x="57686" y="0"/>
                </a:moveTo>
                <a:lnTo>
                  <a:pt x="57686" y="57686"/>
                </a:lnTo>
                <a:lnTo>
                  <a:pt x="0" y="57686"/>
                </a:lnTo>
                <a:lnTo>
                  <a:pt x="0" y="30242"/>
                </a:lnTo>
                <a:lnTo>
                  <a:pt x="1660" y="22439"/>
                </a:lnTo>
                <a:lnTo>
                  <a:pt x="13920" y="10244"/>
                </a:lnTo>
                <a:lnTo>
                  <a:pt x="26299" y="2285"/>
                </a:lnTo>
                <a:lnTo>
                  <a:pt x="28135"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7" name="Illustrative delivered road transport cost class 0; reference terminal Durban"/>
          <p:cNvSpPr/>
          <p:nvPr/>
        </p:nvSpPr>
        <p:spPr>
          <a:xfrm>
            <a:off x="4655355" y="4171441"/>
            <a:ext cx="29551" cy="57687"/>
          </a:xfrm>
          <a:custGeom>
            <a:avLst/>
            <a:gdLst/>
            <a:ahLst/>
            <a:cxnLst/>
            <a:rect l="l" t="t" r="r" b="b"/>
            <a:pathLst>
              <a:path w="29551" h="57687">
                <a:moveTo>
                  <a:pt x="29551" y="0"/>
                </a:moveTo>
                <a:lnTo>
                  <a:pt x="29551" y="57687"/>
                </a:lnTo>
                <a:lnTo>
                  <a:pt x="0" y="57687"/>
                </a:lnTo>
                <a:lnTo>
                  <a:pt x="8550" y="47044"/>
                </a:lnTo>
                <a:lnTo>
                  <a:pt x="22082" y="15554"/>
                </a:lnTo>
                <a:lnTo>
                  <a:pt x="26926" y="0"/>
                </a:lnTo>
                <a:lnTo>
                  <a:pt x="29551"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8" name="Illustrative delivered road transport cost class 0; reference terminal Durban"/>
          <p:cNvSpPr/>
          <p:nvPr/>
        </p:nvSpPr>
        <p:spPr>
          <a:xfrm>
            <a:off x="4682281" y="4163014"/>
            <a:ext cx="2625" cy="8427"/>
          </a:xfrm>
          <a:custGeom>
            <a:avLst/>
            <a:gdLst/>
            <a:ahLst/>
            <a:cxnLst/>
            <a:rect l="l" t="t" r="r" b="b"/>
            <a:pathLst>
              <a:path w="2625" h="8427">
                <a:moveTo>
                  <a:pt x="2625" y="8427"/>
                </a:moveTo>
                <a:lnTo>
                  <a:pt x="0" y="8427"/>
                </a:lnTo>
                <a:lnTo>
                  <a:pt x="2625" y="0"/>
                </a:lnTo>
                <a:lnTo>
                  <a:pt x="2625" y="842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9" name="Illustrative delivered road transport cost class 0; reference terminal Durban"/>
          <p:cNvSpPr/>
          <p:nvPr/>
        </p:nvSpPr>
        <p:spPr>
          <a:xfrm>
            <a:off x="4676458" y="4113755"/>
            <a:ext cx="8448" cy="17626"/>
          </a:xfrm>
          <a:custGeom>
            <a:avLst/>
            <a:gdLst/>
            <a:ahLst/>
            <a:cxnLst/>
            <a:rect l="l" t="t" r="r" b="b"/>
            <a:pathLst>
              <a:path w="8448" h="17626">
                <a:moveTo>
                  <a:pt x="8448" y="0"/>
                </a:moveTo>
                <a:lnTo>
                  <a:pt x="8448" y="17626"/>
                </a:lnTo>
                <a:lnTo>
                  <a:pt x="8041" y="16258"/>
                </a:lnTo>
                <a:lnTo>
                  <a:pt x="722" y="1960"/>
                </a:lnTo>
                <a:lnTo>
                  <a:pt x="0" y="0"/>
                </a:lnTo>
                <a:lnTo>
                  <a:pt x="8448"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0" name="Illustrative delivered road transport cost class 0; reference terminal Durban"/>
          <p:cNvSpPr/>
          <p:nvPr/>
        </p:nvSpPr>
        <p:spPr>
          <a:xfrm>
            <a:off x="4627220" y="4056068"/>
            <a:ext cx="57686" cy="57687"/>
          </a:xfrm>
          <a:custGeom>
            <a:avLst/>
            <a:gdLst/>
            <a:ahLst/>
            <a:cxnLst/>
            <a:rect l="l" t="t" r="r" b="b"/>
            <a:pathLst>
              <a:path w="57686" h="57687">
                <a:moveTo>
                  <a:pt x="0" y="0"/>
                </a:moveTo>
                <a:lnTo>
                  <a:pt x="57686" y="0"/>
                </a:lnTo>
                <a:lnTo>
                  <a:pt x="57686" y="57687"/>
                </a:lnTo>
                <a:lnTo>
                  <a:pt x="49238" y="57687"/>
                </a:lnTo>
                <a:lnTo>
                  <a:pt x="42897" y="40485"/>
                </a:lnTo>
                <a:lnTo>
                  <a:pt x="33670" y="37201"/>
                </a:lnTo>
                <a:lnTo>
                  <a:pt x="15701" y="25960"/>
                </a:lnTo>
                <a:lnTo>
                  <a:pt x="0" y="12657"/>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1" name="Illustrative delivered road transport cost class 0; reference terminal Durban"/>
          <p:cNvSpPr/>
          <p:nvPr/>
        </p:nvSpPr>
        <p:spPr>
          <a:xfrm>
            <a:off x="462722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2" name="Illustrative delivered road transport cost class 0; reference terminal Durban"/>
          <p:cNvSpPr/>
          <p:nvPr/>
        </p:nvSpPr>
        <p:spPr>
          <a:xfrm>
            <a:off x="462722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3" name="Illustrative delivered road transport cost class 0; reference terminal Lesedi"/>
          <p:cNvSpPr/>
          <p:nvPr/>
        </p:nvSpPr>
        <p:spPr>
          <a:xfrm>
            <a:off x="462722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4" name="Illustrative delivered road transport cost class 0; reference terminal Lesedi"/>
          <p:cNvSpPr/>
          <p:nvPr/>
        </p:nvSpPr>
        <p:spPr>
          <a:xfrm>
            <a:off x="462722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5" name="Illustrative delivered road transport cost class 0; reference terminal Lesedi"/>
          <p:cNvSpPr/>
          <p:nvPr/>
        </p:nvSpPr>
        <p:spPr>
          <a:xfrm>
            <a:off x="462722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6" name="Illustrative delivered road transport cost class 0; reference terminal Lesedi"/>
          <p:cNvSpPr/>
          <p:nvPr/>
        </p:nvSpPr>
        <p:spPr>
          <a:xfrm>
            <a:off x="462722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7" name="Illustrative delivered road transport cost class 0; reference terminal Lesedi"/>
          <p:cNvSpPr/>
          <p:nvPr/>
        </p:nvSpPr>
        <p:spPr>
          <a:xfrm>
            <a:off x="462722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8" name="Illustrative delivered road transport cost class 0; reference terminal Lesedi"/>
          <p:cNvSpPr/>
          <p:nvPr/>
        </p:nvSpPr>
        <p:spPr>
          <a:xfrm>
            <a:off x="462722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9" name="Illustrative delivered road transport cost class 0; reference terminal Lesedi"/>
          <p:cNvSpPr/>
          <p:nvPr/>
        </p:nvSpPr>
        <p:spPr>
          <a:xfrm>
            <a:off x="462722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0" name="Illustrative delivered road transport cost class 0; reference terminal Lesedi"/>
          <p:cNvSpPr/>
          <p:nvPr/>
        </p:nvSpPr>
        <p:spPr>
          <a:xfrm>
            <a:off x="462722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1" name="Illustrative delivered road transport cost class 0; reference terminal Lesedi"/>
          <p:cNvSpPr/>
          <p:nvPr/>
        </p:nvSpPr>
        <p:spPr>
          <a:xfrm>
            <a:off x="462722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2" name="Illustrative delivered road transport cost class 0; reference terminal Lesedi"/>
          <p:cNvSpPr/>
          <p:nvPr/>
        </p:nvSpPr>
        <p:spPr>
          <a:xfrm>
            <a:off x="462722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3" name="Illustrative delivered road transport cost class 0; reference terminal Lesedi"/>
          <p:cNvSpPr/>
          <p:nvPr/>
        </p:nvSpPr>
        <p:spPr>
          <a:xfrm>
            <a:off x="462722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4" name="Illustrative delivered road transport cost class 0; reference terminal Lesedi"/>
          <p:cNvSpPr/>
          <p:nvPr/>
        </p:nvSpPr>
        <p:spPr>
          <a:xfrm>
            <a:off x="462722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5" name="Illustrative delivered road transport cost class 0; reference terminal Lesedi"/>
          <p:cNvSpPr/>
          <p:nvPr/>
        </p:nvSpPr>
        <p:spPr>
          <a:xfrm>
            <a:off x="462722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6" name="Illustrative delivered road transport cost class 0; reference terminal Lesedi"/>
          <p:cNvSpPr/>
          <p:nvPr/>
        </p:nvSpPr>
        <p:spPr>
          <a:xfrm>
            <a:off x="4627220"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7" name="Illustrative delivered road transport cost class 0; reference terminal Lesedi"/>
          <p:cNvSpPr/>
          <p:nvPr/>
        </p:nvSpPr>
        <p:spPr>
          <a:xfrm>
            <a:off x="4627220"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8" name="Illustrative delivered road transport cost class 0; reference terminal Lesedi"/>
          <p:cNvSpPr/>
          <p:nvPr/>
        </p:nvSpPr>
        <p:spPr>
          <a:xfrm>
            <a:off x="4627220"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9" name="Illustrative delivered road transport cost class 0; reference terminal Lesedi"/>
          <p:cNvSpPr/>
          <p:nvPr/>
        </p:nvSpPr>
        <p:spPr>
          <a:xfrm>
            <a:off x="4627220"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0" name="Illustrative delivered road transport cost class 0; reference terminal Lesedi"/>
          <p:cNvSpPr/>
          <p:nvPr/>
        </p:nvSpPr>
        <p:spPr>
          <a:xfrm>
            <a:off x="4627220"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1" name="Illustrative delivered road transport cost class 0; reference terminal Lesedi"/>
          <p:cNvSpPr/>
          <p:nvPr/>
        </p:nvSpPr>
        <p:spPr>
          <a:xfrm>
            <a:off x="4627220"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2" name="Illustrative delivered road transport cost class 1; reference terminal Lesedi"/>
          <p:cNvSpPr/>
          <p:nvPr/>
        </p:nvSpPr>
        <p:spPr>
          <a:xfrm>
            <a:off x="4627220"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3" name="Illustrative delivered road transport cost class 1; reference terminal Lesedi"/>
          <p:cNvSpPr/>
          <p:nvPr/>
        </p:nvSpPr>
        <p:spPr>
          <a:xfrm>
            <a:off x="4627220"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4" name="Illustrative delivered road transport cost class 1; reference terminal Lesedi"/>
          <p:cNvSpPr/>
          <p:nvPr/>
        </p:nvSpPr>
        <p:spPr>
          <a:xfrm>
            <a:off x="4627220"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5" name="Illustrative delivered road transport cost class 1; reference terminal Lesedi"/>
          <p:cNvSpPr/>
          <p:nvPr/>
        </p:nvSpPr>
        <p:spPr>
          <a:xfrm>
            <a:off x="4627220"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6" name="Illustrative delivered road transport cost class 1; reference terminal Lesedi"/>
          <p:cNvSpPr/>
          <p:nvPr/>
        </p:nvSpPr>
        <p:spPr>
          <a:xfrm>
            <a:off x="4627220"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7" name="Illustrative delivered road transport cost class 1; reference terminal Lesedi"/>
          <p:cNvSpPr/>
          <p:nvPr/>
        </p:nvSpPr>
        <p:spPr>
          <a:xfrm>
            <a:off x="4627220"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8" name="Illustrative delivered road transport cost class 1; reference terminal Lesedi"/>
          <p:cNvSpPr/>
          <p:nvPr/>
        </p:nvSpPr>
        <p:spPr>
          <a:xfrm>
            <a:off x="4627220"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9" name="Illustrative delivered road transport cost class 2; reference terminal Lesedi"/>
          <p:cNvSpPr/>
          <p:nvPr/>
        </p:nvSpPr>
        <p:spPr>
          <a:xfrm>
            <a:off x="4627220" y="2383158"/>
            <a:ext cx="57686" cy="57686"/>
          </a:xfrm>
          <a:custGeom>
            <a:avLst/>
            <a:gdLst/>
            <a:ahLst/>
            <a:cxnLst/>
            <a:rect l="l" t="t" r="r" b="b"/>
            <a:pathLst>
              <a:path w="57686" h="57686">
                <a:moveTo>
                  <a:pt x="57686" y="0"/>
                </a:moveTo>
                <a:lnTo>
                  <a:pt x="57686" y="57686"/>
                </a:lnTo>
                <a:lnTo>
                  <a:pt x="0" y="57686"/>
                </a:lnTo>
                <a:lnTo>
                  <a:pt x="0" y="12996"/>
                </a:lnTo>
                <a:lnTo>
                  <a:pt x="15735" y="127"/>
                </a:lnTo>
                <a:lnTo>
                  <a:pt x="15809" y="0"/>
                </a:lnTo>
                <a:lnTo>
                  <a:pt x="57686"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0" name="Illustrative delivered road transport cost class 2; reference terminal Lesedi"/>
          <p:cNvSpPr/>
          <p:nvPr/>
        </p:nvSpPr>
        <p:spPr>
          <a:xfrm>
            <a:off x="4643029" y="2340078"/>
            <a:ext cx="41877" cy="43080"/>
          </a:xfrm>
          <a:custGeom>
            <a:avLst/>
            <a:gdLst/>
            <a:ahLst/>
            <a:cxnLst/>
            <a:rect l="l" t="t" r="r" b="b"/>
            <a:pathLst>
              <a:path w="41877" h="43080">
                <a:moveTo>
                  <a:pt x="41877" y="43080"/>
                </a:moveTo>
                <a:lnTo>
                  <a:pt x="0" y="43080"/>
                </a:lnTo>
                <a:lnTo>
                  <a:pt x="16866" y="13946"/>
                </a:lnTo>
                <a:lnTo>
                  <a:pt x="41877" y="0"/>
                </a:lnTo>
                <a:lnTo>
                  <a:pt x="41877" y="43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1" name="Illustrative delivered road transport cost class 1; reference terminal Durban"/>
          <p:cNvSpPr/>
          <p:nvPr/>
        </p:nvSpPr>
        <p:spPr>
          <a:xfrm>
            <a:off x="4684906" y="4748307"/>
            <a:ext cx="12440" cy="10868"/>
          </a:xfrm>
          <a:custGeom>
            <a:avLst/>
            <a:gdLst/>
            <a:ahLst/>
            <a:cxnLst/>
            <a:rect l="l" t="t" r="r" b="b"/>
            <a:pathLst>
              <a:path w="12440" h="10868">
                <a:moveTo>
                  <a:pt x="0" y="0"/>
                </a:moveTo>
                <a:lnTo>
                  <a:pt x="12440" y="0"/>
                </a:lnTo>
                <a:lnTo>
                  <a:pt x="85" y="10783"/>
                </a:lnTo>
                <a:lnTo>
                  <a:pt x="0" y="1086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2" name="Illustrative delivered road transport cost class 1; reference terminal Durban"/>
          <p:cNvSpPr/>
          <p:nvPr/>
        </p:nvSpPr>
        <p:spPr>
          <a:xfrm>
            <a:off x="4684906" y="4690620"/>
            <a:ext cx="57687" cy="57687"/>
          </a:xfrm>
          <a:custGeom>
            <a:avLst/>
            <a:gdLst/>
            <a:ahLst/>
            <a:cxnLst/>
            <a:rect l="l" t="t" r="r" b="b"/>
            <a:pathLst>
              <a:path w="57687" h="57687">
                <a:moveTo>
                  <a:pt x="0" y="57687"/>
                </a:moveTo>
                <a:lnTo>
                  <a:pt x="0" y="0"/>
                </a:lnTo>
                <a:lnTo>
                  <a:pt x="57687" y="0"/>
                </a:lnTo>
                <a:lnTo>
                  <a:pt x="57687" y="18285"/>
                </a:lnTo>
                <a:lnTo>
                  <a:pt x="57434" y="18416"/>
                </a:lnTo>
                <a:lnTo>
                  <a:pt x="124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3" name="Illustrative delivered road transport cost class 0; reference terminal Durban"/>
          <p:cNvSpPr/>
          <p:nvPr/>
        </p:nvSpPr>
        <p:spPr>
          <a:xfrm>
            <a:off x="468490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4" name="Illustrative delivered road transport cost class 0; reference terminal Durban"/>
          <p:cNvSpPr/>
          <p:nvPr/>
        </p:nvSpPr>
        <p:spPr>
          <a:xfrm>
            <a:off x="468490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5" name="Illustrative delivered road transport cost class 0; reference terminal Durban"/>
          <p:cNvSpPr/>
          <p:nvPr/>
        </p:nvSpPr>
        <p:spPr>
          <a:xfrm>
            <a:off x="468490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6" name="Illustrative delivered road transport cost class 0; reference terminal Durban"/>
          <p:cNvSpPr/>
          <p:nvPr/>
        </p:nvSpPr>
        <p:spPr>
          <a:xfrm>
            <a:off x="468490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7" name="Illustrative delivered road transport cost class 0; reference terminal Durban"/>
          <p:cNvSpPr/>
          <p:nvPr/>
        </p:nvSpPr>
        <p:spPr>
          <a:xfrm>
            <a:off x="468490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8" name="Illustrative delivered road transport cost class 0; reference terminal Durban"/>
          <p:cNvSpPr/>
          <p:nvPr/>
        </p:nvSpPr>
        <p:spPr>
          <a:xfrm>
            <a:off x="468490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9" name="Illustrative delivered road transport cost class 0; reference terminal Durban"/>
          <p:cNvSpPr/>
          <p:nvPr/>
        </p:nvSpPr>
        <p:spPr>
          <a:xfrm>
            <a:off x="468490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0" name="Illustrative delivered road transport cost class 0; reference terminal Durban"/>
          <p:cNvSpPr/>
          <p:nvPr/>
        </p:nvSpPr>
        <p:spPr>
          <a:xfrm>
            <a:off x="468490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1" name="Illustrative delivered road transport cost class 0; reference terminal Durban"/>
          <p:cNvSpPr/>
          <p:nvPr/>
        </p:nvSpPr>
        <p:spPr>
          <a:xfrm>
            <a:off x="468490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2" name="Illustrative delivered road transport cost class 0; reference terminal Durban"/>
          <p:cNvSpPr/>
          <p:nvPr/>
        </p:nvSpPr>
        <p:spPr>
          <a:xfrm>
            <a:off x="4684906" y="4113755"/>
            <a:ext cx="57687" cy="57686"/>
          </a:xfrm>
          <a:custGeom>
            <a:avLst/>
            <a:gdLst/>
            <a:ahLst/>
            <a:cxnLst/>
            <a:rect l="l" t="t" r="r" b="b"/>
            <a:pathLst>
              <a:path w="57687" h="57686">
                <a:moveTo>
                  <a:pt x="0" y="0"/>
                </a:moveTo>
                <a:lnTo>
                  <a:pt x="57687" y="0"/>
                </a:lnTo>
                <a:lnTo>
                  <a:pt x="57687" y="57686"/>
                </a:lnTo>
                <a:lnTo>
                  <a:pt x="0" y="57686"/>
                </a:lnTo>
                <a:lnTo>
                  <a:pt x="0" y="49259"/>
                </a:lnTo>
                <a:lnTo>
                  <a:pt x="2172" y="42287"/>
                </a:lnTo>
                <a:lnTo>
                  <a:pt x="3546" y="29534"/>
                </a:lnTo>
                <a:lnTo>
                  <a:pt x="0" y="17626"/>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3" name="Illustrative delivered road transport cost class 0; reference terminal Durban"/>
          <p:cNvSpPr/>
          <p:nvPr/>
        </p:nvSpPr>
        <p:spPr>
          <a:xfrm>
            <a:off x="468490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4" name="Illustrative delivered road transport cost class 0; reference terminal Durban"/>
          <p:cNvSpPr/>
          <p:nvPr/>
        </p:nvSpPr>
        <p:spPr>
          <a:xfrm>
            <a:off x="468490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5" name="Illustrative delivered road transport cost class 0; reference terminal Durban"/>
          <p:cNvSpPr/>
          <p:nvPr/>
        </p:nvSpPr>
        <p:spPr>
          <a:xfrm>
            <a:off x="468490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6" name="Illustrative delivered road transport cost class 0; reference terminal Durban"/>
          <p:cNvSpPr/>
          <p:nvPr/>
        </p:nvSpPr>
        <p:spPr>
          <a:xfrm>
            <a:off x="468490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7" name="Illustrative delivered road transport cost class 0; reference terminal Lesedi"/>
          <p:cNvSpPr/>
          <p:nvPr/>
        </p:nvSpPr>
        <p:spPr>
          <a:xfrm>
            <a:off x="468490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8" name="Illustrative delivered road transport cost class 0; reference terminal Lesedi"/>
          <p:cNvSpPr/>
          <p:nvPr/>
        </p:nvSpPr>
        <p:spPr>
          <a:xfrm>
            <a:off x="468490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9" name="Illustrative delivered road transport cost class 0; reference terminal Lesedi"/>
          <p:cNvSpPr/>
          <p:nvPr/>
        </p:nvSpPr>
        <p:spPr>
          <a:xfrm>
            <a:off x="468490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0" name="Illustrative delivered road transport cost class 0; reference terminal Lesedi"/>
          <p:cNvSpPr/>
          <p:nvPr/>
        </p:nvSpPr>
        <p:spPr>
          <a:xfrm>
            <a:off x="468490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1" name="Illustrative delivered road transport cost class 0; reference terminal Lesedi"/>
          <p:cNvSpPr/>
          <p:nvPr/>
        </p:nvSpPr>
        <p:spPr>
          <a:xfrm>
            <a:off x="468490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2" name="Illustrative delivered road transport cost class 0; reference terminal Lesedi"/>
          <p:cNvSpPr/>
          <p:nvPr/>
        </p:nvSpPr>
        <p:spPr>
          <a:xfrm>
            <a:off x="468490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3" name="Illustrative delivered road transport cost class 0; reference terminal Lesedi"/>
          <p:cNvSpPr/>
          <p:nvPr/>
        </p:nvSpPr>
        <p:spPr>
          <a:xfrm>
            <a:off x="468490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4" name="Illustrative delivered road transport cost class 0; reference terminal Lesedi"/>
          <p:cNvSpPr/>
          <p:nvPr/>
        </p:nvSpPr>
        <p:spPr>
          <a:xfrm>
            <a:off x="468490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5" name="Illustrative delivered road transport cost class 0; reference terminal Lesedi"/>
          <p:cNvSpPr/>
          <p:nvPr/>
        </p:nvSpPr>
        <p:spPr>
          <a:xfrm>
            <a:off x="468490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6" name="Illustrative delivered road transport cost class 0; reference terminal Lesedi"/>
          <p:cNvSpPr/>
          <p:nvPr/>
        </p:nvSpPr>
        <p:spPr>
          <a:xfrm>
            <a:off x="468490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7" name="Illustrative delivered road transport cost class 0; reference terminal Lesedi"/>
          <p:cNvSpPr/>
          <p:nvPr/>
        </p:nvSpPr>
        <p:spPr>
          <a:xfrm>
            <a:off x="468490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8" name="Illustrative delivered road transport cost class 0; reference terminal Lesedi"/>
          <p:cNvSpPr/>
          <p:nvPr/>
        </p:nvSpPr>
        <p:spPr>
          <a:xfrm>
            <a:off x="468490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9" name="Illustrative delivered road transport cost class 0; reference terminal Lesedi"/>
          <p:cNvSpPr/>
          <p:nvPr/>
        </p:nvSpPr>
        <p:spPr>
          <a:xfrm>
            <a:off x="468490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0" name="Illustrative delivered road transport cost class 0; reference terminal Lesedi"/>
          <p:cNvSpPr/>
          <p:nvPr/>
        </p:nvSpPr>
        <p:spPr>
          <a:xfrm>
            <a:off x="468490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1" name="Illustrative delivered road transport cost class 0; reference terminal Lesedi"/>
          <p:cNvSpPr/>
          <p:nvPr/>
        </p:nvSpPr>
        <p:spPr>
          <a:xfrm>
            <a:off x="468490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2" name="Illustrative delivered road transport cost class 0; reference terminal Lesedi"/>
          <p:cNvSpPr/>
          <p:nvPr/>
        </p:nvSpPr>
        <p:spPr>
          <a:xfrm>
            <a:off x="468490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3" name="Illustrative delivered road transport cost class 1; reference terminal Lesedi"/>
          <p:cNvSpPr/>
          <p:nvPr/>
        </p:nvSpPr>
        <p:spPr>
          <a:xfrm>
            <a:off x="468490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4" name="Illustrative delivered road transport cost class 1; reference terminal Lesedi"/>
          <p:cNvSpPr/>
          <p:nvPr/>
        </p:nvSpPr>
        <p:spPr>
          <a:xfrm>
            <a:off x="468490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5" name="Illustrative delivered road transport cost class 1; reference terminal Lesedi"/>
          <p:cNvSpPr/>
          <p:nvPr/>
        </p:nvSpPr>
        <p:spPr>
          <a:xfrm>
            <a:off x="468490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6" name="Illustrative delivered road transport cost class 1; reference terminal Lesedi"/>
          <p:cNvSpPr/>
          <p:nvPr/>
        </p:nvSpPr>
        <p:spPr>
          <a:xfrm>
            <a:off x="468490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7" name="Illustrative delivered road transport cost class 1; reference terminal Lesedi"/>
          <p:cNvSpPr/>
          <p:nvPr/>
        </p:nvSpPr>
        <p:spPr>
          <a:xfrm>
            <a:off x="468490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8" name="Illustrative delivered road transport cost class 1; reference terminal Lesedi"/>
          <p:cNvSpPr/>
          <p:nvPr/>
        </p:nvSpPr>
        <p:spPr>
          <a:xfrm>
            <a:off x="468490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9" name="Illustrative delivered road transport cost class 1; reference terminal Lesedi"/>
          <p:cNvSpPr/>
          <p:nvPr/>
        </p:nvSpPr>
        <p:spPr>
          <a:xfrm>
            <a:off x="468490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0" name="Illustrative delivered road transport cost class 1; reference terminal Lesedi"/>
          <p:cNvSpPr/>
          <p:nvPr/>
        </p:nvSpPr>
        <p:spPr>
          <a:xfrm>
            <a:off x="468490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1" name="Illustrative delivered road transport cost class 1; reference terminal Lesedi"/>
          <p:cNvSpPr/>
          <p:nvPr/>
        </p:nvSpPr>
        <p:spPr>
          <a:xfrm>
            <a:off x="468490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2" name="Illustrative delivered road transport cost class 1; reference terminal Lesedi"/>
          <p:cNvSpPr/>
          <p:nvPr/>
        </p:nvSpPr>
        <p:spPr>
          <a:xfrm>
            <a:off x="468490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3" name="Illustrative delivered road transport cost class 2; reference terminal Lesedi"/>
          <p:cNvSpPr/>
          <p:nvPr/>
        </p:nvSpPr>
        <p:spPr>
          <a:xfrm>
            <a:off x="4684906" y="2335355"/>
            <a:ext cx="57687" cy="47803"/>
          </a:xfrm>
          <a:custGeom>
            <a:avLst/>
            <a:gdLst/>
            <a:ahLst/>
            <a:cxnLst/>
            <a:rect l="l" t="t" r="r" b="b"/>
            <a:pathLst>
              <a:path w="57687" h="47803">
                <a:moveTo>
                  <a:pt x="57687" y="47803"/>
                </a:moveTo>
                <a:lnTo>
                  <a:pt x="0" y="47803"/>
                </a:lnTo>
                <a:lnTo>
                  <a:pt x="0" y="4723"/>
                </a:lnTo>
                <a:lnTo>
                  <a:pt x="3175" y="2952"/>
                </a:lnTo>
                <a:lnTo>
                  <a:pt x="57687" y="0"/>
                </a:lnTo>
                <a:lnTo>
                  <a:pt x="57687" y="47803"/>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4" name="Illustrative delivered road transport cost class 0; reference terminal Durban"/>
          <p:cNvSpPr/>
          <p:nvPr/>
        </p:nvSpPr>
        <p:spPr>
          <a:xfrm>
            <a:off x="4742593" y="4690620"/>
            <a:ext cx="30629" cy="18285"/>
          </a:xfrm>
          <a:custGeom>
            <a:avLst/>
            <a:gdLst/>
            <a:ahLst/>
            <a:cxnLst/>
            <a:rect l="l" t="t" r="r" b="b"/>
            <a:pathLst>
              <a:path w="30629" h="18285">
                <a:moveTo>
                  <a:pt x="0" y="0"/>
                </a:moveTo>
                <a:lnTo>
                  <a:pt x="30629" y="0"/>
                </a:lnTo>
                <a:lnTo>
                  <a:pt x="21093" y="7360"/>
                </a:lnTo>
                <a:lnTo>
                  <a:pt x="0" y="1828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5" name="Illustrative delivered road transport cost class 0; reference terminal Durban"/>
          <p:cNvSpPr/>
          <p:nvPr/>
        </p:nvSpPr>
        <p:spPr>
          <a:xfrm>
            <a:off x="4742593" y="4632934"/>
            <a:ext cx="57686" cy="57686"/>
          </a:xfrm>
          <a:custGeom>
            <a:avLst/>
            <a:gdLst/>
            <a:ahLst/>
            <a:cxnLst/>
            <a:rect l="l" t="t" r="r" b="b"/>
            <a:pathLst>
              <a:path w="57686" h="57686">
                <a:moveTo>
                  <a:pt x="0" y="57686"/>
                </a:moveTo>
                <a:lnTo>
                  <a:pt x="0" y="0"/>
                </a:lnTo>
                <a:lnTo>
                  <a:pt x="57686" y="0"/>
                </a:lnTo>
                <a:lnTo>
                  <a:pt x="57686" y="34953"/>
                </a:lnTo>
                <a:lnTo>
                  <a:pt x="53122" y="40326"/>
                </a:lnTo>
                <a:lnTo>
                  <a:pt x="30629"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6" name="Illustrative delivered road transport cost class 0; reference terminal Durban"/>
          <p:cNvSpPr/>
          <p:nvPr/>
        </p:nvSpPr>
        <p:spPr>
          <a:xfrm>
            <a:off x="474259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7" name="Illustrative delivered road transport cost class 0; reference terminal Durban"/>
          <p:cNvSpPr/>
          <p:nvPr/>
        </p:nvSpPr>
        <p:spPr>
          <a:xfrm>
            <a:off x="474259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8" name="Illustrative delivered road transport cost class 0; reference terminal Durban"/>
          <p:cNvSpPr/>
          <p:nvPr/>
        </p:nvSpPr>
        <p:spPr>
          <a:xfrm>
            <a:off x="474259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9" name="Illustrative delivered road transport cost class 0; reference terminal Durban"/>
          <p:cNvSpPr/>
          <p:nvPr/>
        </p:nvSpPr>
        <p:spPr>
          <a:xfrm>
            <a:off x="474259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0" name="Illustrative delivered road transport cost class 0; reference terminal Durban"/>
          <p:cNvSpPr/>
          <p:nvPr/>
        </p:nvSpPr>
        <p:spPr>
          <a:xfrm>
            <a:off x="474259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1" name="Illustrative delivered road transport cost class 0; reference terminal Durban"/>
          <p:cNvSpPr/>
          <p:nvPr/>
        </p:nvSpPr>
        <p:spPr>
          <a:xfrm>
            <a:off x="474259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2" name="Illustrative delivered road transport cost class 0; reference terminal Durban"/>
          <p:cNvSpPr/>
          <p:nvPr/>
        </p:nvSpPr>
        <p:spPr>
          <a:xfrm>
            <a:off x="474259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3" name="Illustrative delivered road transport cost class 0; reference terminal Durban"/>
          <p:cNvSpPr/>
          <p:nvPr/>
        </p:nvSpPr>
        <p:spPr>
          <a:xfrm>
            <a:off x="474259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4" name="Illustrative delivered road transport cost class 0; reference terminal Durban"/>
          <p:cNvSpPr/>
          <p:nvPr/>
        </p:nvSpPr>
        <p:spPr>
          <a:xfrm>
            <a:off x="474259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5" name="Illustrative delivered road transport cost class 0; reference terminal Durban"/>
          <p:cNvSpPr/>
          <p:nvPr/>
        </p:nvSpPr>
        <p:spPr>
          <a:xfrm>
            <a:off x="474259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6" name="Illustrative delivered road transport cost class 0; reference terminal Durban"/>
          <p:cNvSpPr/>
          <p:nvPr/>
        </p:nvSpPr>
        <p:spPr>
          <a:xfrm>
            <a:off x="474259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7" name="Illustrative delivered road transport cost class 0; reference terminal Durban"/>
          <p:cNvSpPr/>
          <p:nvPr/>
        </p:nvSpPr>
        <p:spPr>
          <a:xfrm>
            <a:off x="474259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8" name="Illustrative delivered road transport cost class 0; reference terminal Durban"/>
          <p:cNvSpPr/>
          <p:nvPr/>
        </p:nvSpPr>
        <p:spPr>
          <a:xfrm>
            <a:off x="474259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9" name="Illustrative delivered road transport cost class 0; reference terminal Lesedi"/>
          <p:cNvSpPr/>
          <p:nvPr/>
        </p:nvSpPr>
        <p:spPr>
          <a:xfrm>
            <a:off x="474259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0" name="Illustrative delivered road transport cost class 0; reference terminal Lesedi"/>
          <p:cNvSpPr/>
          <p:nvPr/>
        </p:nvSpPr>
        <p:spPr>
          <a:xfrm>
            <a:off x="474259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1" name="Illustrative delivered road transport cost class 0; reference terminal Lesedi"/>
          <p:cNvSpPr/>
          <p:nvPr/>
        </p:nvSpPr>
        <p:spPr>
          <a:xfrm>
            <a:off x="474259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2" name="Illustrative delivered road transport cost class 0; reference terminal Lesedi"/>
          <p:cNvSpPr/>
          <p:nvPr/>
        </p:nvSpPr>
        <p:spPr>
          <a:xfrm>
            <a:off x="474259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3" name="Illustrative delivered road transport cost class 0; reference terminal Lesedi"/>
          <p:cNvSpPr/>
          <p:nvPr/>
        </p:nvSpPr>
        <p:spPr>
          <a:xfrm>
            <a:off x="474259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4" name="Illustrative delivered road transport cost class 0; reference terminal Lesedi"/>
          <p:cNvSpPr/>
          <p:nvPr/>
        </p:nvSpPr>
        <p:spPr>
          <a:xfrm>
            <a:off x="474259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5" name="Illustrative delivered road transport cost class 0; reference terminal Lesedi"/>
          <p:cNvSpPr/>
          <p:nvPr/>
        </p:nvSpPr>
        <p:spPr>
          <a:xfrm>
            <a:off x="474259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6" name="Illustrative delivered road transport cost class 0; reference terminal Lesedi"/>
          <p:cNvSpPr/>
          <p:nvPr/>
        </p:nvSpPr>
        <p:spPr>
          <a:xfrm>
            <a:off x="474259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7" name="Illustrative delivered road transport cost class 0; reference terminal Lesedi"/>
          <p:cNvSpPr/>
          <p:nvPr/>
        </p:nvSpPr>
        <p:spPr>
          <a:xfrm>
            <a:off x="474259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8" name="Illustrative delivered road transport cost class 0; reference terminal Lesedi"/>
          <p:cNvSpPr/>
          <p:nvPr/>
        </p:nvSpPr>
        <p:spPr>
          <a:xfrm>
            <a:off x="474259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9" name="Illustrative delivered road transport cost class 0; reference terminal Lesedi"/>
          <p:cNvSpPr/>
          <p:nvPr/>
        </p:nvSpPr>
        <p:spPr>
          <a:xfrm>
            <a:off x="474259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0" name="Illustrative delivered road transport cost class 0; reference terminal Lesedi"/>
          <p:cNvSpPr/>
          <p:nvPr/>
        </p:nvSpPr>
        <p:spPr>
          <a:xfrm>
            <a:off x="474259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1" name="Illustrative delivered road transport cost class 0; reference terminal Lesedi"/>
          <p:cNvSpPr/>
          <p:nvPr/>
        </p:nvSpPr>
        <p:spPr>
          <a:xfrm>
            <a:off x="474259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2" name="Illustrative delivered road transport cost class 0; reference terminal Lesedi"/>
          <p:cNvSpPr/>
          <p:nvPr/>
        </p:nvSpPr>
        <p:spPr>
          <a:xfrm>
            <a:off x="474259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3" name="Illustrative delivered road transport cost class 1; reference terminal Lesedi"/>
          <p:cNvSpPr/>
          <p:nvPr/>
        </p:nvSpPr>
        <p:spPr>
          <a:xfrm>
            <a:off x="474259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4" name="Illustrative delivered road transport cost class 1; reference terminal Lesedi"/>
          <p:cNvSpPr/>
          <p:nvPr/>
        </p:nvSpPr>
        <p:spPr>
          <a:xfrm>
            <a:off x="474259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5" name="Illustrative delivered road transport cost class 1; reference terminal Lesedi"/>
          <p:cNvSpPr/>
          <p:nvPr/>
        </p:nvSpPr>
        <p:spPr>
          <a:xfrm>
            <a:off x="474259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6" name="Illustrative delivered road transport cost class 1; reference terminal Lesedi"/>
          <p:cNvSpPr/>
          <p:nvPr/>
        </p:nvSpPr>
        <p:spPr>
          <a:xfrm>
            <a:off x="474259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7" name="Illustrative delivered road transport cost class 1; reference terminal Lesedi"/>
          <p:cNvSpPr/>
          <p:nvPr/>
        </p:nvSpPr>
        <p:spPr>
          <a:xfrm>
            <a:off x="474259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8" name="Illustrative delivered road transport cost class 1; reference terminal Lesedi"/>
          <p:cNvSpPr/>
          <p:nvPr/>
        </p:nvSpPr>
        <p:spPr>
          <a:xfrm>
            <a:off x="474259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9" name="Illustrative delivered road transport cost class 1; reference terminal Lesedi"/>
          <p:cNvSpPr/>
          <p:nvPr/>
        </p:nvSpPr>
        <p:spPr>
          <a:xfrm>
            <a:off x="474259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0" name="Illustrative delivered road transport cost class 1; reference terminal Lesedi"/>
          <p:cNvSpPr/>
          <p:nvPr/>
        </p:nvSpPr>
        <p:spPr>
          <a:xfrm>
            <a:off x="474259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1" name="Illustrative delivered road transport cost class 1; reference terminal Lesedi"/>
          <p:cNvSpPr/>
          <p:nvPr/>
        </p:nvSpPr>
        <p:spPr>
          <a:xfrm>
            <a:off x="474259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2" name="Illustrative delivered road transport cost class 1; reference terminal Lesedi"/>
          <p:cNvSpPr/>
          <p:nvPr/>
        </p:nvSpPr>
        <p:spPr>
          <a:xfrm>
            <a:off x="474259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3" name="Illustrative delivered road transport cost class 1; reference terminal Lesedi"/>
          <p:cNvSpPr/>
          <p:nvPr/>
        </p:nvSpPr>
        <p:spPr>
          <a:xfrm>
            <a:off x="474259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4" name="Illustrative delivered road transport cost class 1; reference terminal Lesedi"/>
          <p:cNvSpPr/>
          <p:nvPr/>
        </p:nvSpPr>
        <p:spPr>
          <a:xfrm>
            <a:off x="474259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5" name="Illustrative delivered road transport cost class 2; reference terminal Lesedi"/>
          <p:cNvSpPr/>
          <p:nvPr/>
        </p:nvSpPr>
        <p:spPr>
          <a:xfrm>
            <a:off x="4742593" y="2327771"/>
            <a:ext cx="57686" cy="55387"/>
          </a:xfrm>
          <a:custGeom>
            <a:avLst/>
            <a:gdLst/>
            <a:ahLst/>
            <a:cxnLst/>
            <a:rect l="l" t="t" r="r" b="b"/>
            <a:pathLst>
              <a:path w="57686" h="55387">
                <a:moveTo>
                  <a:pt x="57686" y="55387"/>
                </a:moveTo>
                <a:lnTo>
                  <a:pt x="0" y="55387"/>
                </a:lnTo>
                <a:lnTo>
                  <a:pt x="0" y="7584"/>
                </a:lnTo>
                <a:lnTo>
                  <a:pt x="1574" y="7498"/>
                </a:lnTo>
                <a:lnTo>
                  <a:pt x="4582" y="7304"/>
                </a:lnTo>
                <a:lnTo>
                  <a:pt x="57686" y="0"/>
                </a:lnTo>
                <a:lnTo>
                  <a:pt x="57686" y="553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6" name="Illustrative delivered road transport cost class 0; reference terminal Durban"/>
          <p:cNvSpPr/>
          <p:nvPr/>
        </p:nvSpPr>
        <p:spPr>
          <a:xfrm>
            <a:off x="4800279" y="4632934"/>
            <a:ext cx="29693" cy="34953"/>
          </a:xfrm>
          <a:custGeom>
            <a:avLst/>
            <a:gdLst/>
            <a:ahLst/>
            <a:cxnLst/>
            <a:rect l="l" t="t" r="r" b="b"/>
            <a:pathLst>
              <a:path w="29693" h="34953">
                <a:moveTo>
                  <a:pt x="0" y="0"/>
                </a:moveTo>
                <a:lnTo>
                  <a:pt x="29693" y="0"/>
                </a:lnTo>
                <a:lnTo>
                  <a:pt x="0" y="3495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7" name="Illustrative delivered road transport cost class 0; reference terminal Durban"/>
          <p:cNvSpPr/>
          <p:nvPr/>
        </p:nvSpPr>
        <p:spPr>
          <a:xfrm>
            <a:off x="4800279" y="4575247"/>
            <a:ext cx="57687" cy="57687"/>
          </a:xfrm>
          <a:custGeom>
            <a:avLst/>
            <a:gdLst/>
            <a:ahLst/>
            <a:cxnLst/>
            <a:rect l="l" t="t" r="r" b="b"/>
            <a:pathLst>
              <a:path w="57687" h="57687">
                <a:moveTo>
                  <a:pt x="0" y="57687"/>
                </a:moveTo>
                <a:lnTo>
                  <a:pt x="0" y="0"/>
                </a:lnTo>
                <a:lnTo>
                  <a:pt x="57687" y="0"/>
                </a:lnTo>
                <a:lnTo>
                  <a:pt x="57687" y="24734"/>
                </a:lnTo>
                <a:lnTo>
                  <a:pt x="2969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8" name="Illustrative delivered road transport cost class 0; reference terminal Durban"/>
          <p:cNvSpPr/>
          <p:nvPr/>
        </p:nvSpPr>
        <p:spPr>
          <a:xfrm>
            <a:off x="480027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9" name="Illustrative delivered road transport cost class 0; reference terminal Durban"/>
          <p:cNvSpPr/>
          <p:nvPr/>
        </p:nvSpPr>
        <p:spPr>
          <a:xfrm>
            <a:off x="480027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0" name="Illustrative delivered road transport cost class 0; reference terminal Durban"/>
          <p:cNvSpPr/>
          <p:nvPr/>
        </p:nvSpPr>
        <p:spPr>
          <a:xfrm>
            <a:off x="480027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1" name="Illustrative delivered road transport cost class 0; reference terminal Durban"/>
          <p:cNvSpPr/>
          <p:nvPr/>
        </p:nvSpPr>
        <p:spPr>
          <a:xfrm>
            <a:off x="480027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2" name="Illustrative delivered road transport cost class 0; reference terminal Durban"/>
          <p:cNvSpPr/>
          <p:nvPr/>
        </p:nvSpPr>
        <p:spPr>
          <a:xfrm>
            <a:off x="480027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3" name="Illustrative delivered road transport cost class 0; reference terminal Durban"/>
          <p:cNvSpPr/>
          <p:nvPr/>
        </p:nvSpPr>
        <p:spPr>
          <a:xfrm>
            <a:off x="480027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4" name="Illustrative delivered road transport cost class 0; reference terminal Durban"/>
          <p:cNvSpPr/>
          <p:nvPr/>
        </p:nvSpPr>
        <p:spPr>
          <a:xfrm>
            <a:off x="480027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5" name="Illustrative delivered road transport cost class 0; reference terminal Durban"/>
          <p:cNvSpPr/>
          <p:nvPr/>
        </p:nvSpPr>
        <p:spPr>
          <a:xfrm>
            <a:off x="480027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6" name="Illustrative delivered road transport cost class 0; reference terminal Durban"/>
          <p:cNvSpPr/>
          <p:nvPr/>
        </p:nvSpPr>
        <p:spPr>
          <a:xfrm>
            <a:off x="480027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7" name="Illustrative delivered road transport cost class 0; reference terminal Durban"/>
          <p:cNvSpPr/>
          <p:nvPr/>
        </p:nvSpPr>
        <p:spPr>
          <a:xfrm>
            <a:off x="480027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8" name="Illustrative delivered road transport cost class 0; reference terminal Durban"/>
          <p:cNvSpPr/>
          <p:nvPr/>
        </p:nvSpPr>
        <p:spPr>
          <a:xfrm>
            <a:off x="480027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9" name="Illustrative delivered road transport cost class 0; reference terminal Durban"/>
          <p:cNvSpPr/>
          <p:nvPr/>
        </p:nvSpPr>
        <p:spPr>
          <a:xfrm>
            <a:off x="480027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0" name="Illustrative delivered road transport cost class 0; reference terminal Lesedi"/>
          <p:cNvSpPr/>
          <p:nvPr/>
        </p:nvSpPr>
        <p:spPr>
          <a:xfrm>
            <a:off x="480027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1" name="Illustrative delivered road transport cost class 0; reference terminal Lesedi"/>
          <p:cNvSpPr/>
          <p:nvPr/>
        </p:nvSpPr>
        <p:spPr>
          <a:xfrm>
            <a:off x="480027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2" name="Illustrative delivered road transport cost class 0; reference terminal Lesedi"/>
          <p:cNvSpPr/>
          <p:nvPr/>
        </p:nvSpPr>
        <p:spPr>
          <a:xfrm>
            <a:off x="480027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3" name="Illustrative delivered road transport cost class 0; reference terminal Lesedi"/>
          <p:cNvSpPr/>
          <p:nvPr/>
        </p:nvSpPr>
        <p:spPr>
          <a:xfrm>
            <a:off x="480027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4" name="Illustrative delivered road transport cost class 0; reference terminal Lesedi"/>
          <p:cNvSpPr/>
          <p:nvPr/>
        </p:nvSpPr>
        <p:spPr>
          <a:xfrm>
            <a:off x="480027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5" name="Illustrative delivered road transport cost class 0; reference terminal Lesedi"/>
          <p:cNvSpPr/>
          <p:nvPr/>
        </p:nvSpPr>
        <p:spPr>
          <a:xfrm>
            <a:off x="480027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6" name="Illustrative delivered road transport cost class 0; reference terminal Lesedi"/>
          <p:cNvSpPr/>
          <p:nvPr/>
        </p:nvSpPr>
        <p:spPr>
          <a:xfrm>
            <a:off x="480027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7" name="Illustrative delivered road transport cost class 0; reference terminal Lesedi"/>
          <p:cNvSpPr/>
          <p:nvPr/>
        </p:nvSpPr>
        <p:spPr>
          <a:xfrm>
            <a:off x="480027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8" name="Illustrative delivered road transport cost class 0; reference terminal Lesedi"/>
          <p:cNvSpPr/>
          <p:nvPr/>
        </p:nvSpPr>
        <p:spPr>
          <a:xfrm>
            <a:off x="480027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9" name="Illustrative delivered road transport cost class 0; reference terminal Lesedi"/>
          <p:cNvSpPr/>
          <p:nvPr/>
        </p:nvSpPr>
        <p:spPr>
          <a:xfrm>
            <a:off x="480027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0" name="Illustrative delivered road transport cost class 0; reference terminal Lesedi"/>
          <p:cNvSpPr/>
          <p:nvPr/>
        </p:nvSpPr>
        <p:spPr>
          <a:xfrm>
            <a:off x="480027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1" name="Illustrative delivered road transport cost class 0; reference terminal Lesedi"/>
          <p:cNvSpPr/>
          <p:nvPr/>
        </p:nvSpPr>
        <p:spPr>
          <a:xfrm>
            <a:off x="480027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2" name="Illustrative delivered road transport cost class 0; reference terminal Lesedi"/>
          <p:cNvSpPr/>
          <p:nvPr/>
        </p:nvSpPr>
        <p:spPr>
          <a:xfrm>
            <a:off x="480027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3" name="Illustrative delivered road transport cost class 0; reference terminal Lesedi"/>
          <p:cNvSpPr/>
          <p:nvPr/>
        </p:nvSpPr>
        <p:spPr>
          <a:xfrm>
            <a:off x="480027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4" name="Illustrative delivered road transport cost class 1; reference terminal Lesedi"/>
          <p:cNvSpPr/>
          <p:nvPr/>
        </p:nvSpPr>
        <p:spPr>
          <a:xfrm>
            <a:off x="480027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5" name="Illustrative delivered road transport cost class 1; reference terminal Lesedi"/>
          <p:cNvSpPr/>
          <p:nvPr/>
        </p:nvSpPr>
        <p:spPr>
          <a:xfrm>
            <a:off x="480027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6" name="Illustrative delivered road transport cost class 1; reference terminal Lesedi"/>
          <p:cNvSpPr/>
          <p:nvPr/>
        </p:nvSpPr>
        <p:spPr>
          <a:xfrm>
            <a:off x="480027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7" name="Illustrative delivered road transport cost class 1; reference terminal Lesedi"/>
          <p:cNvSpPr/>
          <p:nvPr/>
        </p:nvSpPr>
        <p:spPr>
          <a:xfrm>
            <a:off x="480027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8" name="Illustrative delivered road transport cost class 1; reference terminal Lesedi"/>
          <p:cNvSpPr/>
          <p:nvPr/>
        </p:nvSpPr>
        <p:spPr>
          <a:xfrm>
            <a:off x="480027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9" name="Illustrative delivered road transport cost class 1; reference terminal Lesedi"/>
          <p:cNvSpPr/>
          <p:nvPr/>
        </p:nvSpPr>
        <p:spPr>
          <a:xfrm>
            <a:off x="480027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0" name="Illustrative delivered road transport cost class 1; reference terminal Lesedi"/>
          <p:cNvSpPr/>
          <p:nvPr/>
        </p:nvSpPr>
        <p:spPr>
          <a:xfrm>
            <a:off x="480027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1" name="Illustrative delivered road transport cost class 1; reference terminal Lesedi"/>
          <p:cNvSpPr/>
          <p:nvPr/>
        </p:nvSpPr>
        <p:spPr>
          <a:xfrm>
            <a:off x="480027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2" name="Illustrative delivered road transport cost class 1; reference terminal Lesedi"/>
          <p:cNvSpPr/>
          <p:nvPr/>
        </p:nvSpPr>
        <p:spPr>
          <a:xfrm>
            <a:off x="480027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3" name="Illustrative delivered road transport cost class 1; reference terminal Lesedi"/>
          <p:cNvSpPr/>
          <p:nvPr/>
        </p:nvSpPr>
        <p:spPr>
          <a:xfrm>
            <a:off x="480027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4" name="Illustrative delivered road transport cost class 1; reference terminal Lesedi"/>
          <p:cNvSpPr/>
          <p:nvPr/>
        </p:nvSpPr>
        <p:spPr>
          <a:xfrm>
            <a:off x="480027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5" name="Illustrative delivered road transport cost class 1; reference terminal Lesedi"/>
          <p:cNvSpPr/>
          <p:nvPr/>
        </p:nvSpPr>
        <p:spPr>
          <a:xfrm>
            <a:off x="480027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6" name="Illustrative delivered road transport cost class 1; reference terminal Lesedi"/>
          <p:cNvSpPr/>
          <p:nvPr/>
        </p:nvSpPr>
        <p:spPr>
          <a:xfrm>
            <a:off x="4800279" y="2325669"/>
            <a:ext cx="57687" cy="57489"/>
          </a:xfrm>
          <a:custGeom>
            <a:avLst/>
            <a:gdLst/>
            <a:ahLst/>
            <a:cxnLst/>
            <a:rect l="l" t="t" r="r" b="b"/>
            <a:pathLst>
              <a:path w="57687" h="57489">
                <a:moveTo>
                  <a:pt x="57687" y="57489"/>
                </a:moveTo>
                <a:lnTo>
                  <a:pt x="0" y="57489"/>
                </a:lnTo>
                <a:lnTo>
                  <a:pt x="0" y="2102"/>
                </a:lnTo>
                <a:lnTo>
                  <a:pt x="15287" y="0"/>
                </a:lnTo>
                <a:lnTo>
                  <a:pt x="57687" y="8864"/>
                </a:lnTo>
                <a:lnTo>
                  <a:pt x="57687" y="5748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7" name="Illustrative delivered road transport cost class 0; reference terminal Durban"/>
          <p:cNvSpPr/>
          <p:nvPr/>
        </p:nvSpPr>
        <p:spPr>
          <a:xfrm>
            <a:off x="4857966" y="4575247"/>
            <a:ext cx="19200" cy="24734"/>
          </a:xfrm>
          <a:custGeom>
            <a:avLst/>
            <a:gdLst/>
            <a:ahLst/>
            <a:cxnLst/>
            <a:rect l="l" t="t" r="r" b="b"/>
            <a:pathLst>
              <a:path w="19200" h="24734">
                <a:moveTo>
                  <a:pt x="0" y="0"/>
                </a:moveTo>
                <a:lnTo>
                  <a:pt x="19200" y="0"/>
                </a:lnTo>
                <a:lnTo>
                  <a:pt x="11598" y="11082"/>
                </a:lnTo>
                <a:lnTo>
                  <a:pt x="0" y="2473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8" name="Illustrative delivered road transport cost class 0; reference terminal Durban"/>
          <p:cNvSpPr/>
          <p:nvPr/>
        </p:nvSpPr>
        <p:spPr>
          <a:xfrm>
            <a:off x="4857966" y="4517561"/>
            <a:ext cx="57687" cy="57686"/>
          </a:xfrm>
          <a:custGeom>
            <a:avLst/>
            <a:gdLst/>
            <a:ahLst/>
            <a:cxnLst/>
            <a:rect l="l" t="t" r="r" b="b"/>
            <a:pathLst>
              <a:path w="57687" h="57686">
                <a:moveTo>
                  <a:pt x="0" y="57686"/>
                </a:moveTo>
                <a:lnTo>
                  <a:pt x="0" y="0"/>
                </a:lnTo>
                <a:lnTo>
                  <a:pt x="57687" y="0"/>
                </a:lnTo>
                <a:lnTo>
                  <a:pt x="57687" y="1421"/>
                </a:lnTo>
                <a:lnTo>
                  <a:pt x="55153" y="5279"/>
                </a:lnTo>
                <a:lnTo>
                  <a:pt x="19200"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9" name="Illustrative delivered road transport cost class 0; reference terminal Durban"/>
          <p:cNvSpPr/>
          <p:nvPr/>
        </p:nvSpPr>
        <p:spPr>
          <a:xfrm>
            <a:off x="485796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0" name="Illustrative delivered road transport cost class 0; reference terminal Durban"/>
          <p:cNvSpPr/>
          <p:nvPr/>
        </p:nvSpPr>
        <p:spPr>
          <a:xfrm>
            <a:off x="485796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1" name="Illustrative delivered road transport cost class 0; reference terminal Durban"/>
          <p:cNvSpPr/>
          <p:nvPr/>
        </p:nvSpPr>
        <p:spPr>
          <a:xfrm>
            <a:off x="485796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2" name="Illustrative delivered road transport cost class 0; reference terminal Durban"/>
          <p:cNvSpPr/>
          <p:nvPr/>
        </p:nvSpPr>
        <p:spPr>
          <a:xfrm>
            <a:off x="485796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3" name="Illustrative delivered road transport cost class 0; reference terminal Durban"/>
          <p:cNvSpPr/>
          <p:nvPr/>
        </p:nvSpPr>
        <p:spPr>
          <a:xfrm>
            <a:off x="485796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4" name="Illustrative delivered road transport cost class 0; reference terminal Durban"/>
          <p:cNvSpPr/>
          <p:nvPr/>
        </p:nvSpPr>
        <p:spPr>
          <a:xfrm>
            <a:off x="485796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5" name="Illustrative delivered road transport cost class 0; reference terminal Durban"/>
          <p:cNvSpPr/>
          <p:nvPr/>
        </p:nvSpPr>
        <p:spPr>
          <a:xfrm>
            <a:off x="485796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6" name="Illustrative delivered road transport cost class 0; reference terminal Durban"/>
          <p:cNvSpPr/>
          <p:nvPr/>
        </p:nvSpPr>
        <p:spPr>
          <a:xfrm>
            <a:off x="485796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7" name="Illustrative delivered road transport cost class 0; reference terminal Durban"/>
          <p:cNvSpPr/>
          <p:nvPr/>
        </p:nvSpPr>
        <p:spPr>
          <a:xfrm>
            <a:off x="485796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8" name="Illustrative delivered road transport cost class 0; reference terminal Durban"/>
          <p:cNvSpPr/>
          <p:nvPr/>
        </p:nvSpPr>
        <p:spPr>
          <a:xfrm>
            <a:off x="485796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9" name="Illustrative delivered road transport cost class 0; reference terminal Durban"/>
          <p:cNvSpPr/>
          <p:nvPr/>
        </p:nvSpPr>
        <p:spPr>
          <a:xfrm>
            <a:off x="485796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0" name="Illustrative delivered road transport cost class None; reference terminal None"/>
          <p:cNvSpPr/>
          <p:nvPr/>
        </p:nvSpPr>
        <p:spPr>
          <a:xfrm>
            <a:off x="485796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1" name="Illustrative delivered road transport cost class None; reference terminal None"/>
          <p:cNvSpPr/>
          <p:nvPr/>
        </p:nvSpPr>
        <p:spPr>
          <a:xfrm>
            <a:off x="485796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2" name="Illustrative delivered road transport cost class None; reference terminal None"/>
          <p:cNvSpPr/>
          <p:nvPr/>
        </p:nvSpPr>
        <p:spPr>
          <a:xfrm>
            <a:off x="485796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3" name="Illustrative delivered road transport cost class 1; reference terminal Lesedi"/>
          <p:cNvSpPr/>
          <p:nvPr/>
        </p:nvSpPr>
        <p:spPr>
          <a:xfrm>
            <a:off x="485796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4" name="Illustrative delivered road transport cost class 1; reference terminal Lesedi"/>
          <p:cNvSpPr/>
          <p:nvPr/>
        </p:nvSpPr>
        <p:spPr>
          <a:xfrm>
            <a:off x="485796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5" name="Illustrative delivered road transport cost class 1; reference terminal Lesedi"/>
          <p:cNvSpPr/>
          <p:nvPr/>
        </p:nvSpPr>
        <p:spPr>
          <a:xfrm>
            <a:off x="485796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6" name="Illustrative delivered road transport cost class 0; reference terminal Lesedi"/>
          <p:cNvSpPr/>
          <p:nvPr/>
        </p:nvSpPr>
        <p:spPr>
          <a:xfrm>
            <a:off x="485796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7" name="Illustrative delivered road transport cost class 0; reference terminal Lesedi"/>
          <p:cNvSpPr/>
          <p:nvPr/>
        </p:nvSpPr>
        <p:spPr>
          <a:xfrm>
            <a:off x="485796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8" name="Illustrative delivered road transport cost class 0; reference terminal Lesedi"/>
          <p:cNvSpPr/>
          <p:nvPr/>
        </p:nvSpPr>
        <p:spPr>
          <a:xfrm>
            <a:off x="485796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9" name="Illustrative delivered road transport cost class 0; reference terminal Lesedi"/>
          <p:cNvSpPr/>
          <p:nvPr/>
        </p:nvSpPr>
        <p:spPr>
          <a:xfrm>
            <a:off x="485796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0" name="Illustrative delivered road transport cost class 0; reference terminal Lesedi"/>
          <p:cNvSpPr/>
          <p:nvPr/>
        </p:nvSpPr>
        <p:spPr>
          <a:xfrm>
            <a:off x="485796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1" name="Illustrative delivered road transport cost class 0; reference terminal Lesedi"/>
          <p:cNvSpPr/>
          <p:nvPr/>
        </p:nvSpPr>
        <p:spPr>
          <a:xfrm>
            <a:off x="485796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2" name="Illustrative delivered road transport cost class 0; reference terminal Lesedi"/>
          <p:cNvSpPr/>
          <p:nvPr/>
        </p:nvSpPr>
        <p:spPr>
          <a:xfrm>
            <a:off x="485796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3" name="Illustrative delivered road transport cost class 1; reference terminal Lesedi"/>
          <p:cNvSpPr/>
          <p:nvPr/>
        </p:nvSpPr>
        <p:spPr>
          <a:xfrm>
            <a:off x="485796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4" name="Illustrative delivered road transport cost class 1; reference terminal Lesedi"/>
          <p:cNvSpPr/>
          <p:nvPr/>
        </p:nvSpPr>
        <p:spPr>
          <a:xfrm>
            <a:off x="485796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5" name="Illustrative delivered road transport cost class None; reference terminal None"/>
          <p:cNvSpPr/>
          <p:nvPr/>
        </p:nvSpPr>
        <p:spPr>
          <a:xfrm>
            <a:off x="485796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6" name="Illustrative delivered road transport cost class 1; reference terminal Lesedi"/>
          <p:cNvSpPr/>
          <p:nvPr/>
        </p:nvSpPr>
        <p:spPr>
          <a:xfrm>
            <a:off x="485796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7" name="Illustrative delivered road transport cost class 1; reference terminal Lesedi"/>
          <p:cNvSpPr/>
          <p:nvPr/>
        </p:nvSpPr>
        <p:spPr>
          <a:xfrm>
            <a:off x="485796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8" name="Illustrative delivered road transport cost class 1; reference terminal Lesedi"/>
          <p:cNvSpPr/>
          <p:nvPr/>
        </p:nvSpPr>
        <p:spPr>
          <a:xfrm>
            <a:off x="485796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9" name="Illustrative delivered road transport cost class 1; reference terminal Lesedi"/>
          <p:cNvSpPr/>
          <p:nvPr/>
        </p:nvSpPr>
        <p:spPr>
          <a:xfrm>
            <a:off x="485796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0" name="Illustrative delivered road transport cost class 1; reference terminal Lesedi"/>
          <p:cNvSpPr/>
          <p:nvPr/>
        </p:nvSpPr>
        <p:spPr>
          <a:xfrm>
            <a:off x="485796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1" name="Illustrative delivered road transport cost class 1; reference terminal Lesedi"/>
          <p:cNvSpPr/>
          <p:nvPr/>
        </p:nvSpPr>
        <p:spPr>
          <a:xfrm>
            <a:off x="485796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2" name="Illustrative delivered road transport cost class 1; reference terminal Lesedi"/>
          <p:cNvSpPr/>
          <p:nvPr/>
        </p:nvSpPr>
        <p:spPr>
          <a:xfrm>
            <a:off x="485796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3" name="Illustrative delivered road transport cost class 1; reference terminal Lesedi"/>
          <p:cNvSpPr/>
          <p:nvPr/>
        </p:nvSpPr>
        <p:spPr>
          <a:xfrm>
            <a:off x="485796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4" name="Illustrative delivered road transport cost class 1; reference terminal Lesedi"/>
          <p:cNvSpPr/>
          <p:nvPr/>
        </p:nvSpPr>
        <p:spPr>
          <a:xfrm>
            <a:off x="485796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5" name="Illustrative delivered road transport cost class 1; reference terminal Lesedi"/>
          <p:cNvSpPr/>
          <p:nvPr/>
        </p:nvSpPr>
        <p:spPr>
          <a:xfrm>
            <a:off x="485796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6" name="Illustrative delivered road transport cost class 1; reference terminal Lesedi"/>
          <p:cNvSpPr/>
          <p:nvPr/>
        </p:nvSpPr>
        <p:spPr>
          <a:xfrm>
            <a:off x="4857966" y="2334533"/>
            <a:ext cx="57687" cy="48625"/>
          </a:xfrm>
          <a:custGeom>
            <a:avLst/>
            <a:gdLst/>
            <a:ahLst/>
            <a:cxnLst/>
            <a:rect l="l" t="t" r="r" b="b"/>
            <a:pathLst>
              <a:path w="57687" h="48625">
                <a:moveTo>
                  <a:pt x="57687" y="48625"/>
                </a:moveTo>
                <a:lnTo>
                  <a:pt x="0" y="48625"/>
                </a:lnTo>
                <a:lnTo>
                  <a:pt x="0" y="0"/>
                </a:lnTo>
                <a:lnTo>
                  <a:pt x="14232" y="2975"/>
                </a:lnTo>
                <a:lnTo>
                  <a:pt x="57687" y="22297"/>
                </a:lnTo>
                <a:lnTo>
                  <a:pt x="57687" y="48625"/>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7" name="Illustrative delivered road transport cost class 0; reference terminal Durban"/>
          <p:cNvSpPr/>
          <p:nvPr/>
        </p:nvSpPr>
        <p:spPr>
          <a:xfrm>
            <a:off x="4915653" y="4459874"/>
            <a:ext cx="38817" cy="57687"/>
          </a:xfrm>
          <a:custGeom>
            <a:avLst/>
            <a:gdLst/>
            <a:ahLst/>
            <a:cxnLst/>
            <a:rect l="l" t="t" r="r" b="b"/>
            <a:pathLst>
              <a:path w="38817" h="57687">
                <a:moveTo>
                  <a:pt x="0" y="57687"/>
                </a:moveTo>
                <a:lnTo>
                  <a:pt x="0" y="0"/>
                </a:lnTo>
                <a:lnTo>
                  <a:pt x="38817" y="0"/>
                </a:lnTo>
                <a:lnTo>
                  <a:pt x="93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8" name="Illustrative delivered road transport cost class 0; reference terminal Durban"/>
          <p:cNvSpPr/>
          <p:nvPr/>
        </p:nvSpPr>
        <p:spPr>
          <a:xfrm>
            <a:off x="4915653" y="4402188"/>
            <a:ext cx="57686" cy="57686"/>
          </a:xfrm>
          <a:custGeom>
            <a:avLst/>
            <a:gdLst/>
            <a:ahLst/>
            <a:cxnLst/>
            <a:rect l="l" t="t" r="r" b="b"/>
            <a:pathLst>
              <a:path w="57686" h="57686">
                <a:moveTo>
                  <a:pt x="0" y="57686"/>
                </a:moveTo>
                <a:lnTo>
                  <a:pt x="0" y="0"/>
                </a:lnTo>
                <a:lnTo>
                  <a:pt x="57686" y="0"/>
                </a:lnTo>
                <a:lnTo>
                  <a:pt x="57686" y="25851"/>
                </a:lnTo>
                <a:lnTo>
                  <a:pt x="43228" y="50968"/>
                </a:lnTo>
                <a:lnTo>
                  <a:pt x="3881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9" name="Illustrative delivered road transport cost class 0; reference terminal Durban"/>
          <p:cNvSpPr/>
          <p:nvPr/>
        </p:nvSpPr>
        <p:spPr>
          <a:xfrm>
            <a:off x="491565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0" name="Illustrative delivered road transport cost class 0; reference terminal Durban"/>
          <p:cNvSpPr/>
          <p:nvPr/>
        </p:nvSpPr>
        <p:spPr>
          <a:xfrm>
            <a:off x="491565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1" name="Illustrative delivered road transport cost class 0; reference terminal Durban"/>
          <p:cNvSpPr/>
          <p:nvPr/>
        </p:nvSpPr>
        <p:spPr>
          <a:xfrm>
            <a:off x="491565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2" name="Illustrative delivered road transport cost class 0; reference terminal Durban"/>
          <p:cNvSpPr/>
          <p:nvPr/>
        </p:nvSpPr>
        <p:spPr>
          <a:xfrm>
            <a:off x="491565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3" name="Illustrative delivered road transport cost class 0; reference terminal Durban"/>
          <p:cNvSpPr/>
          <p:nvPr/>
        </p:nvSpPr>
        <p:spPr>
          <a:xfrm>
            <a:off x="491565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4" name="Illustrative delivered road transport cost class 0; reference terminal Durban"/>
          <p:cNvSpPr/>
          <p:nvPr/>
        </p:nvSpPr>
        <p:spPr>
          <a:xfrm>
            <a:off x="491565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5" name="Illustrative delivered road transport cost class 0; reference terminal Durban"/>
          <p:cNvSpPr/>
          <p:nvPr/>
        </p:nvSpPr>
        <p:spPr>
          <a:xfrm>
            <a:off x="491565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6" name="Illustrative delivered road transport cost class 0; reference terminal Durban"/>
          <p:cNvSpPr/>
          <p:nvPr/>
        </p:nvSpPr>
        <p:spPr>
          <a:xfrm>
            <a:off x="491565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7" name="Illustrative delivered road transport cost class None; reference terminal None"/>
          <p:cNvSpPr/>
          <p:nvPr/>
        </p:nvSpPr>
        <p:spPr>
          <a:xfrm>
            <a:off x="491565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8" name="Illustrative delivered road transport cost class None; reference terminal None"/>
          <p:cNvSpPr/>
          <p:nvPr/>
        </p:nvSpPr>
        <p:spPr>
          <a:xfrm>
            <a:off x="491565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9" name="Illustrative delivered road transport cost class None; reference terminal None"/>
          <p:cNvSpPr/>
          <p:nvPr/>
        </p:nvSpPr>
        <p:spPr>
          <a:xfrm>
            <a:off x="491565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0" name="Illustrative delivered road transport cost class 1; reference terminal Lesedi"/>
          <p:cNvSpPr/>
          <p:nvPr/>
        </p:nvSpPr>
        <p:spPr>
          <a:xfrm>
            <a:off x="491565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1" name="Illustrative delivered road transport cost class 1; reference terminal Lesedi"/>
          <p:cNvSpPr/>
          <p:nvPr/>
        </p:nvSpPr>
        <p:spPr>
          <a:xfrm>
            <a:off x="491565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2" name="Illustrative delivered road transport cost class 1; reference terminal Lesedi"/>
          <p:cNvSpPr/>
          <p:nvPr/>
        </p:nvSpPr>
        <p:spPr>
          <a:xfrm>
            <a:off x="491565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3" name="Illustrative delivered road transport cost class 1; reference terminal Lesedi"/>
          <p:cNvSpPr/>
          <p:nvPr/>
        </p:nvSpPr>
        <p:spPr>
          <a:xfrm>
            <a:off x="491565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4" name="Illustrative delivered road transport cost class 0; reference terminal Lesedi"/>
          <p:cNvSpPr/>
          <p:nvPr/>
        </p:nvSpPr>
        <p:spPr>
          <a:xfrm>
            <a:off x="491565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5" name="Illustrative delivered road transport cost class 0; reference terminal Lesedi"/>
          <p:cNvSpPr/>
          <p:nvPr/>
        </p:nvSpPr>
        <p:spPr>
          <a:xfrm>
            <a:off x="491565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6" name="Illustrative delivered road transport cost class 0; reference terminal Lesedi"/>
          <p:cNvSpPr/>
          <p:nvPr/>
        </p:nvSpPr>
        <p:spPr>
          <a:xfrm>
            <a:off x="491565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7" name="Illustrative delivered road transport cost class 1; reference terminal Lesedi"/>
          <p:cNvSpPr/>
          <p:nvPr/>
        </p:nvSpPr>
        <p:spPr>
          <a:xfrm>
            <a:off x="491565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8" name="Illustrative delivered road transport cost class 1; reference terminal Lesedi"/>
          <p:cNvSpPr/>
          <p:nvPr/>
        </p:nvSpPr>
        <p:spPr>
          <a:xfrm>
            <a:off x="491565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9" name="Illustrative delivered road transport cost class 0; reference terminal Lesedi"/>
          <p:cNvSpPr/>
          <p:nvPr/>
        </p:nvSpPr>
        <p:spPr>
          <a:xfrm>
            <a:off x="491565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0" name="Illustrative delivered road transport cost class 1; reference terminal Lesedi"/>
          <p:cNvSpPr/>
          <p:nvPr/>
        </p:nvSpPr>
        <p:spPr>
          <a:xfrm>
            <a:off x="491565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1" name="Illustrative delivered road transport cost class 1; reference terminal Lesedi"/>
          <p:cNvSpPr/>
          <p:nvPr/>
        </p:nvSpPr>
        <p:spPr>
          <a:xfrm>
            <a:off x="491565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2" name="Illustrative delivered road transport cost class 1; reference terminal Lesedi"/>
          <p:cNvSpPr/>
          <p:nvPr/>
        </p:nvSpPr>
        <p:spPr>
          <a:xfrm>
            <a:off x="491565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3" name="Illustrative delivered road transport cost class 1; reference terminal Lesedi"/>
          <p:cNvSpPr/>
          <p:nvPr/>
        </p:nvSpPr>
        <p:spPr>
          <a:xfrm>
            <a:off x="491565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4" name="Illustrative delivered road transport cost class None; reference terminal None"/>
          <p:cNvSpPr/>
          <p:nvPr/>
        </p:nvSpPr>
        <p:spPr>
          <a:xfrm>
            <a:off x="491565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5" name="Illustrative delivered road transport cost class 1; reference terminal Lesedi"/>
          <p:cNvSpPr/>
          <p:nvPr/>
        </p:nvSpPr>
        <p:spPr>
          <a:xfrm>
            <a:off x="491565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6" name="Illustrative delivered road transport cost class 1; reference terminal Lesedi"/>
          <p:cNvSpPr/>
          <p:nvPr/>
        </p:nvSpPr>
        <p:spPr>
          <a:xfrm>
            <a:off x="491565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7" name="Illustrative delivered road transport cost class 1; reference terminal Lesedi"/>
          <p:cNvSpPr/>
          <p:nvPr/>
        </p:nvSpPr>
        <p:spPr>
          <a:xfrm>
            <a:off x="491565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8" name="Illustrative delivered road transport cost class 1; reference terminal Lesedi"/>
          <p:cNvSpPr/>
          <p:nvPr/>
        </p:nvSpPr>
        <p:spPr>
          <a:xfrm>
            <a:off x="491565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9" name="Illustrative delivered road transport cost class 1; reference terminal Lesedi"/>
          <p:cNvSpPr/>
          <p:nvPr/>
        </p:nvSpPr>
        <p:spPr>
          <a:xfrm>
            <a:off x="491565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0" name="Illustrative delivered road transport cost class 1; reference terminal Lesedi"/>
          <p:cNvSpPr/>
          <p:nvPr/>
        </p:nvSpPr>
        <p:spPr>
          <a:xfrm>
            <a:off x="491565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1" name="Illustrative delivered road transport cost class 1; reference terminal Lesedi"/>
          <p:cNvSpPr/>
          <p:nvPr/>
        </p:nvSpPr>
        <p:spPr>
          <a:xfrm>
            <a:off x="491565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2" name="Illustrative delivered road transport cost class 1; reference terminal Lesedi"/>
          <p:cNvSpPr/>
          <p:nvPr/>
        </p:nvSpPr>
        <p:spPr>
          <a:xfrm>
            <a:off x="491565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3" name="Illustrative delivered road transport cost class 1; reference terminal Lesedi"/>
          <p:cNvSpPr/>
          <p:nvPr/>
        </p:nvSpPr>
        <p:spPr>
          <a:xfrm>
            <a:off x="491565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4" name="Illustrative delivered road transport cost class 2; reference terminal Lesedi"/>
          <p:cNvSpPr/>
          <p:nvPr/>
        </p:nvSpPr>
        <p:spPr>
          <a:xfrm>
            <a:off x="4915653" y="2356830"/>
            <a:ext cx="57686" cy="26328"/>
          </a:xfrm>
          <a:custGeom>
            <a:avLst/>
            <a:gdLst/>
            <a:ahLst/>
            <a:cxnLst/>
            <a:rect l="l" t="t" r="r" b="b"/>
            <a:pathLst>
              <a:path w="57686" h="26328">
                <a:moveTo>
                  <a:pt x="57686" y="26328"/>
                </a:moveTo>
                <a:lnTo>
                  <a:pt x="0" y="26328"/>
                </a:lnTo>
                <a:lnTo>
                  <a:pt x="0" y="0"/>
                </a:lnTo>
                <a:lnTo>
                  <a:pt x="24105" y="10719"/>
                </a:lnTo>
                <a:lnTo>
                  <a:pt x="57686" y="17248"/>
                </a:lnTo>
                <a:lnTo>
                  <a:pt x="57686" y="26328"/>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5" name="Illustrative delivered road transport cost class 0; reference terminal Durban"/>
          <p:cNvSpPr/>
          <p:nvPr/>
        </p:nvSpPr>
        <p:spPr>
          <a:xfrm>
            <a:off x="4973339" y="4402188"/>
            <a:ext cx="14881" cy="25851"/>
          </a:xfrm>
          <a:custGeom>
            <a:avLst/>
            <a:gdLst/>
            <a:ahLst/>
            <a:cxnLst/>
            <a:rect l="l" t="t" r="r" b="b"/>
            <a:pathLst>
              <a:path w="14881" h="25851">
                <a:moveTo>
                  <a:pt x="0" y="0"/>
                </a:moveTo>
                <a:lnTo>
                  <a:pt x="14881" y="0"/>
                </a:lnTo>
                <a:lnTo>
                  <a:pt x="0" y="2585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6" name="Illustrative delivered road transport cost class 0; reference terminal Durban"/>
          <p:cNvSpPr/>
          <p:nvPr/>
        </p:nvSpPr>
        <p:spPr>
          <a:xfrm>
            <a:off x="4973339" y="4344501"/>
            <a:ext cx="52634" cy="57687"/>
          </a:xfrm>
          <a:custGeom>
            <a:avLst/>
            <a:gdLst/>
            <a:ahLst/>
            <a:cxnLst/>
            <a:rect l="l" t="t" r="r" b="b"/>
            <a:pathLst>
              <a:path w="52634" h="57687">
                <a:moveTo>
                  <a:pt x="0" y="57687"/>
                </a:moveTo>
                <a:lnTo>
                  <a:pt x="0" y="0"/>
                </a:lnTo>
                <a:lnTo>
                  <a:pt x="52634" y="0"/>
                </a:lnTo>
                <a:lnTo>
                  <a:pt x="37641" y="18144"/>
                </a:lnTo>
                <a:lnTo>
                  <a:pt x="1488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7" name="Illustrative delivered road transport cost class 0; reference terminal Durban"/>
          <p:cNvSpPr/>
          <p:nvPr/>
        </p:nvSpPr>
        <p:spPr>
          <a:xfrm>
            <a:off x="4973339" y="4286814"/>
            <a:ext cx="57687" cy="57687"/>
          </a:xfrm>
          <a:custGeom>
            <a:avLst/>
            <a:gdLst/>
            <a:ahLst/>
            <a:cxnLst/>
            <a:rect l="l" t="t" r="r" b="b"/>
            <a:pathLst>
              <a:path w="57687" h="57687">
                <a:moveTo>
                  <a:pt x="0" y="57687"/>
                </a:moveTo>
                <a:lnTo>
                  <a:pt x="0" y="0"/>
                </a:lnTo>
                <a:lnTo>
                  <a:pt x="57687" y="0"/>
                </a:lnTo>
                <a:lnTo>
                  <a:pt x="57687" y="51572"/>
                </a:lnTo>
                <a:lnTo>
                  <a:pt x="52634"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8" name="Illustrative delivered road transport cost class 0; reference terminal Durban"/>
          <p:cNvSpPr/>
          <p:nvPr/>
        </p:nvSpPr>
        <p:spPr>
          <a:xfrm>
            <a:off x="497333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9" name="Illustrative delivered road transport cost class 0; reference terminal Durban"/>
          <p:cNvSpPr/>
          <p:nvPr/>
        </p:nvSpPr>
        <p:spPr>
          <a:xfrm>
            <a:off x="497333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0" name="Illustrative delivered road transport cost class 0; reference terminal Durban"/>
          <p:cNvSpPr/>
          <p:nvPr/>
        </p:nvSpPr>
        <p:spPr>
          <a:xfrm>
            <a:off x="497333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1" name="Illustrative delivered road transport cost class 0; reference terminal Durban"/>
          <p:cNvSpPr/>
          <p:nvPr/>
        </p:nvSpPr>
        <p:spPr>
          <a:xfrm>
            <a:off x="497333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2" name="Illustrative delivered road transport cost class 0; reference terminal Durban"/>
          <p:cNvSpPr/>
          <p:nvPr/>
        </p:nvSpPr>
        <p:spPr>
          <a:xfrm>
            <a:off x="497333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3" name="Illustrative delivered road transport cost class None; reference terminal None"/>
          <p:cNvSpPr/>
          <p:nvPr/>
        </p:nvSpPr>
        <p:spPr>
          <a:xfrm>
            <a:off x="497333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4" name="Illustrative delivered road transport cost class None; reference terminal None"/>
          <p:cNvSpPr/>
          <p:nvPr/>
        </p:nvSpPr>
        <p:spPr>
          <a:xfrm>
            <a:off x="497333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5" name="Illustrative delivered road transport cost class None; reference terminal None"/>
          <p:cNvSpPr/>
          <p:nvPr/>
        </p:nvSpPr>
        <p:spPr>
          <a:xfrm>
            <a:off x="497333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6" name="Illustrative delivered road transport cost class 1; reference terminal Lesedi"/>
          <p:cNvSpPr/>
          <p:nvPr/>
        </p:nvSpPr>
        <p:spPr>
          <a:xfrm>
            <a:off x="497333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7" name="Illustrative delivered road transport cost class 1; reference terminal Lesedi"/>
          <p:cNvSpPr/>
          <p:nvPr/>
        </p:nvSpPr>
        <p:spPr>
          <a:xfrm>
            <a:off x="497333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8" name="Illustrative delivered road transport cost class 1; reference terminal Lesedi"/>
          <p:cNvSpPr/>
          <p:nvPr/>
        </p:nvSpPr>
        <p:spPr>
          <a:xfrm>
            <a:off x="497333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9" name="Illustrative delivered road transport cost class 1; reference terminal Lesedi"/>
          <p:cNvSpPr/>
          <p:nvPr/>
        </p:nvSpPr>
        <p:spPr>
          <a:xfrm>
            <a:off x="497333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0" name="Illustrative delivered road transport cost class 1; reference terminal Lesedi"/>
          <p:cNvSpPr/>
          <p:nvPr/>
        </p:nvSpPr>
        <p:spPr>
          <a:xfrm>
            <a:off x="497333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1" name="Illustrative delivered road transport cost class 1; reference terminal Lesedi"/>
          <p:cNvSpPr/>
          <p:nvPr/>
        </p:nvSpPr>
        <p:spPr>
          <a:xfrm>
            <a:off x="497333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2" name="Illustrative delivered road transport cost class 1; reference terminal Lesedi"/>
          <p:cNvSpPr/>
          <p:nvPr/>
        </p:nvSpPr>
        <p:spPr>
          <a:xfrm>
            <a:off x="497333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3" name="Illustrative delivered road transport cost class 1; reference terminal Lesedi"/>
          <p:cNvSpPr/>
          <p:nvPr/>
        </p:nvSpPr>
        <p:spPr>
          <a:xfrm>
            <a:off x="497333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4" name="Illustrative delivered road transport cost class 1; reference terminal Lesedi"/>
          <p:cNvSpPr/>
          <p:nvPr/>
        </p:nvSpPr>
        <p:spPr>
          <a:xfrm>
            <a:off x="497333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5" name="Illustrative delivered road transport cost class 1; reference terminal Lesedi"/>
          <p:cNvSpPr/>
          <p:nvPr/>
        </p:nvSpPr>
        <p:spPr>
          <a:xfrm>
            <a:off x="497333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6" name="Illustrative delivered road transport cost class 1; reference terminal Lesedi"/>
          <p:cNvSpPr/>
          <p:nvPr/>
        </p:nvSpPr>
        <p:spPr>
          <a:xfrm>
            <a:off x="497333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7" name="Illustrative delivered road transport cost class 1; reference terminal Lesedi"/>
          <p:cNvSpPr/>
          <p:nvPr/>
        </p:nvSpPr>
        <p:spPr>
          <a:xfrm>
            <a:off x="497333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8" name="Illustrative delivered road transport cost class 1; reference terminal Lesedi"/>
          <p:cNvSpPr/>
          <p:nvPr/>
        </p:nvSpPr>
        <p:spPr>
          <a:xfrm>
            <a:off x="497333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9" name="Illustrative delivered road transport cost class 1; reference terminal Lesedi"/>
          <p:cNvSpPr/>
          <p:nvPr/>
        </p:nvSpPr>
        <p:spPr>
          <a:xfrm>
            <a:off x="497333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0" name="Illustrative delivered road transport cost class 1; reference terminal Lesedi"/>
          <p:cNvSpPr/>
          <p:nvPr/>
        </p:nvSpPr>
        <p:spPr>
          <a:xfrm>
            <a:off x="497333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1" name="Illustrative delivered road transport cost class None; reference terminal None"/>
          <p:cNvSpPr/>
          <p:nvPr/>
        </p:nvSpPr>
        <p:spPr>
          <a:xfrm>
            <a:off x="497333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2" name="Illustrative delivered road transport cost class None; reference terminal None"/>
          <p:cNvSpPr/>
          <p:nvPr/>
        </p:nvSpPr>
        <p:spPr>
          <a:xfrm>
            <a:off x="497333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3" name="Illustrative delivered road transport cost class None; reference terminal None"/>
          <p:cNvSpPr/>
          <p:nvPr/>
        </p:nvSpPr>
        <p:spPr>
          <a:xfrm>
            <a:off x="497333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4" name="Illustrative delivered road transport cost class None; reference terminal None"/>
          <p:cNvSpPr/>
          <p:nvPr/>
        </p:nvSpPr>
        <p:spPr>
          <a:xfrm>
            <a:off x="497333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5" name="Illustrative delivered road transport cost class 1; reference terminal Lesedi"/>
          <p:cNvSpPr/>
          <p:nvPr/>
        </p:nvSpPr>
        <p:spPr>
          <a:xfrm>
            <a:off x="497333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6" name="Illustrative delivered road transport cost class 1; reference terminal Lesedi"/>
          <p:cNvSpPr/>
          <p:nvPr/>
        </p:nvSpPr>
        <p:spPr>
          <a:xfrm>
            <a:off x="497333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7" name="Illustrative delivered road transport cost class 1; reference terminal Lesedi"/>
          <p:cNvSpPr/>
          <p:nvPr/>
        </p:nvSpPr>
        <p:spPr>
          <a:xfrm>
            <a:off x="497333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8" name="Illustrative delivered road transport cost class 1; reference terminal Lesedi"/>
          <p:cNvSpPr/>
          <p:nvPr/>
        </p:nvSpPr>
        <p:spPr>
          <a:xfrm>
            <a:off x="497333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9" name="Illustrative delivered road transport cost class 2; reference terminal Lesedi"/>
          <p:cNvSpPr/>
          <p:nvPr/>
        </p:nvSpPr>
        <p:spPr>
          <a:xfrm>
            <a:off x="497333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0" name="Illustrative delivered road transport cost class 2; reference terminal Lesedi"/>
          <p:cNvSpPr/>
          <p:nvPr/>
        </p:nvSpPr>
        <p:spPr>
          <a:xfrm>
            <a:off x="497333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1" name="Illustrative delivered road transport cost class 2; reference terminal Lesedi"/>
          <p:cNvSpPr/>
          <p:nvPr/>
        </p:nvSpPr>
        <p:spPr>
          <a:xfrm>
            <a:off x="4973339" y="2374078"/>
            <a:ext cx="57687" cy="9080"/>
          </a:xfrm>
          <a:custGeom>
            <a:avLst/>
            <a:gdLst/>
            <a:ahLst/>
            <a:cxnLst/>
            <a:rect l="l" t="t" r="r" b="b"/>
            <a:pathLst>
              <a:path w="57687" h="9080">
                <a:moveTo>
                  <a:pt x="57687" y="9080"/>
                </a:moveTo>
                <a:lnTo>
                  <a:pt x="0" y="9080"/>
                </a:lnTo>
                <a:lnTo>
                  <a:pt x="0" y="0"/>
                </a:lnTo>
                <a:lnTo>
                  <a:pt x="30175" y="5866"/>
                </a:lnTo>
                <a:lnTo>
                  <a:pt x="57687" y="3449"/>
                </a:lnTo>
                <a:lnTo>
                  <a:pt x="57687" y="9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2" name="Illustrative delivered road transport cost class 0; reference terminal Durban"/>
          <p:cNvSpPr/>
          <p:nvPr/>
        </p:nvSpPr>
        <p:spPr>
          <a:xfrm>
            <a:off x="5031026" y="4286814"/>
            <a:ext cx="30662" cy="51572"/>
          </a:xfrm>
          <a:custGeom>
            <a:avLst/>
            <a:gdLst/>
            <a:ahLst/>
            <a:cxnLst/>
            <a:rect l="l" t="t" r="r" b="b"/>
            <a:pathLst>
              <a:path w="30662" h="51572">
                <a:moveTo>
                  <a:pt x="0" y="0"/>
                </a:moveTo>
                <a:lnTo>
                  <a:pt x="30662" y="0"/>
                </a:lnTo>
                <a:lnTo>
                  <a:pt x="14564" y="33945"/>
                </a:lnTo>
                <a:lnTo>
                  <a:pt x="0" y="51572"/>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3" name="Illustrative delivered road transport cost class 0; reference terminal Durban"/>
          <p:cNvSpPr/>
          <p:nvPr/>
        </p:nvSpPr>
        <p:spPr>
          <a:xfrm>
            <a:off x="5031026" y="4229128"/>
            <a:ext cx="57686" cy="57686"/>
          </a:xfrm>
          <a:custGeom>
            <a:avLst/>
            <a:gdLst/>
            <a:ahLst/>
            <a:cxnLst/>
            <a:rect l="l" t="t" r="r" b="b"/>
            <a:pathLst>
              <a:path w="57686" h="57686">
                <a:moveTo>
                  <a:pt x="0" y="57686"/>
                </a:moveTo>
                <a:lnTo>
                  <a:pt x="0" y="0"/>
                </a:lnTo>
                <a:lnTo>
                  <a:pt x="57686" y="0"/>
                </a:lnTo>
                <a:lnTo>
                  <a:pt x="57686" y="5704"/>
                </a:lnTo>
                <a:lnTo>
                  <a:pt x="51361" y="14039"/>
                </a:lnTo>
                <a:lnTo>
                  <a:pt x="30662"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4" name="Illustrative delivered road transport cost class 0; reference terminal Durban"/>
          <p:cNvSpPr/>
          <p:nvPr/>
        </p:nvSpPr>
        <p:spPr>
          <a:xfrm>
            <a:off x="503102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5" name="Illustrative delivered road transport cost class 0; reference terminal Durban"/>
          <p:cNvSpPr/>
          <p:nvPr/>
        </p:nvSpPr>
        <p:spPr>
          <a:xfrm>
            <a:off x="503102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6" name="Illustrative delivered road transport cost class 0; reference terminal Durban"/>
          <p:cNvSpPr/>
          <p:nvPr/>
        </p:nvSpPr>
        <p:spPr>
          <a:xfrm>
            <a:off x="503102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7" name="Illustrative delivered road transport cost class 0; reference terminal Durban"/>
          <p:cNvSpPr/>
          <p:nvPr/>
        </p:nvSpPr>
        <p:spPr>
          <a:xfrm>
            <a:off x="503102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8" name="Illustrative delivered road transport cost class 0; reference terminal Durban"/>
          <p:cNvSpPr/>
          <p:nvPr/>
        </p:nvSpPr>
        <p:spPr>
          <a:xfrm>
            <a:off x="503102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9" name="Illustrative delivered road transport cost class 0; reference terminal Durban"/>
          <p:cNvSpPr/>
          <p:nvPr/>
        </p:nvSpPr>
        <p:spPr>
          <a:xfrm>
            <a:off x="503102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0" name="Illustrative delivered road transport cost class 1; reference terminal Durban"/>
          <p:cNvSpPr/>
          <p:nvPr/>
        </p:nvSpPr>
        <p:spPr>
          <a:xfrm>
            <a:off x="503102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1" name="Illustrative delivered road transport cost class 1; reference terminal Lesedi"/>
          <p:cNvSpPr/>
          <p:nvPr/>
        </p:nvSpPr>
        <p:spPr>
          <a:xfrm>
            <a:off x="503102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2" name="Illustrative delivered road transport cost class 1; reference terminal Lesedi"/>
          <p:cNvSpPr/>
          <p:nvPr/>
        </p:nvSpPr>
        <p:spPr>
          <a:xfrm>
            <a:off x="503102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3" name="Illustrative delivered road transport cost class 1; reference terminal Lesedi"/>
          <p:cNvSpPr/>
          <p:nvPr/>
        </p:nvSpPr>
        <p:spPr>
          <a:xfrm>
            <a:off x="503102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4" name="Illustrative delivered road transport cost class 1; reference terminal Lesedi"/>
          <p:cNvSpPr/>
          <p:nvPr/>
        </p:nvSpPr>
        <p:spPr>
          <a:xfrm>
            <a:off x="5031026" y="3594576"/>
            <a:ext cx="57686" cy="57686"/>
          </a:xfrm>
          <a:custGeom>
            <a:avLst/>
            <a:gdLst/>
            <a:ahLst/>
            <a:cxnLst/>
            <a:rect l="l" t="t" r="r" b="b"/>
            <a:pathLst>
              <a:path w="57686" h="57686">
                <a:moveTo>
                  <a:pt x="57686" y="57686"/>
                </a:moveTo>
                <a:lnTo>
                  <a:pt x="0" y="57686"/>
                </a:lnTo>
                <a:lnTo>
                  <a:pt x="0" y="0"/>
                </a:lnTo>
                <a:lnTo>
                  <a:pt x="52632" y="0"/>
                </a:lnTo>
                <a:lnTo>
                  <a:pt x="57686" y="9962"/>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5" name="Illustrative delivered road transport cost class 1; reference terminal Lesedi"/>
          <p:cNvSpPr/>
          <p:nvPr/>
        </p:nvSpPr>
        <p:spPr>
          <a:xfrm>
            <a:off x="5031026" y="3536889"/>
            <a:ext cx="52632" cy="57687"/>
          </a:xfrm>
          <a:custGeom>
            <a:avLst/>
            <a:gdLst/>
            <a:ahLst/>
            <a:cxnLst/>
            <a:rect l="l" t="t" r="r" b="b"/>
            <a:pathLst>
              <a:path w="52632" h="57687">
                <a:moveTo>
                  <a:pt x="0" y="57687"/>
                </a:moveTo>
                <a:lnTo>
                  <a:pt x="0" y="0"/>
                </a:lnTo>
                <a:lnTo>
                  <a:pt x="26602" y="0"/>
                </a:lnTo>
                <a:lnTo>
                  <a:pt x="33371" y="19719"/>
                </a:lnTo>
                <a:lnTo>
                  <a:pt x="5263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6" name="Illustrative delivered road transport cost class 1; reference terminal Lesedi"/>
          <p:cNvSpPr/>
          <p:nvPr/>
        </p:nvSpPr>
        <p:spPr>
          <a:xfrm>
            <a:off x="5031026" y="3479202"/>
            <a:ext cx="26602" cy="57687"/>
          </a:xfrm>
          <a:custGeom>
            <a:avLst/>
            <a:gdLst/>
            <a:ahLst/>
            <a:cxnLst/>
            <a:rect l="l" t="t" r="r" b="b"/>
            <a:pathLst>
              <a:path w="26602" h="57687">
                <a:moveTo>
                  <a:pt x="0" y="57687"/>
                </a:moveTo>
                <a:lnTo>
                  <a:pt x="0" y="0"/>
                </a:lnTo>
                <a:lnTo>
                  <a:pt x="2497" y="0"/>
                </a:lnTo>
                <a:lnTo>
                  <a:pt x="2291" y="37066"/>
                </a:lnTo>
                <a:lnTo>
                  <a:pt x="4883" y="42569"/>
                </a:lnTo>
                <a:lnTo>
                  <a:pt x="22330" y="45241"/>
                </a:lnTo>
                <a:lnTo>
                  <a:pt x="2660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7" name="Illustrative delivered road transport cost class 1; reference terminal Lesedi"/>
          <p:cNvSpPr/>
          <p:nvPr/>
        </p:nvSpPr>
        <p:spPr>
          <a:xfrm>
            <a:off x="5031026" y="3421516"/>
            <a:ext cx="12263" cy="57686"/>
          </a:xfrm>
          <a:custGeom>
            <a:avLst/>
            <a:gdLst/>
            <a:ahLst/>
            <a:cxnLst/>
            <a:rect l="l" t="t" r="r" b="b"/>
            <a:pathLst>
              <a:path w="12263" h="57686">
                <a:moveTo>
                  <a:pt x="0" y="57686"/>
                </a:moveTo>
                <a:lnTo>
                  <a:pt x="0" y="0"/>
                </a:lnTo>
                <a:lnTo>
                  <a:pt x="12263" y="0"/>
                </a:lnTo>
                <a:lnTo>
                  <a:pt x="8495" y="5195"/>
                </a:lnTo>
                <a:lnTo>
                  <a:pt x="4726" y="15770"/>
                </a:lnTo>
                <a:lnTo>
                  <a:pt x="2505" y="56187"/>
                </a:lnTo>
                <a:lnTo>
                  <a:pt x="249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8" name="Illustrative delivered road transport cost class 1; reference terminal Lesedi"/>
          <p:cNvSpPr/>
          <p:nvPr/>
        </p:nvSpPr>
        <p:spPr>
          <a:xfrm>
            <a:off x="5031026" y="3363829"/>
            <a:ext cx="54119" cy="57687"/>
          </a:xfrm>
          <a:custGeom>
            <a:avLst/>
            <a:gdLst/>
            <a:ahLst/>
            <a:cxnLst/>
            <a:rect l="l" t="t" r="r" b="b"/>
            <a:pathLst>
              <a:path w="54119" h="57687">
                <a:moveTo>
                  <a:pt x="0" y="57687"/>
                </a:moveTo>
                <a:lnTo>
                  <a:pt x="0" y="0"/>
                </a:lnTo>
                <a:lnTo>
                  <a:pt x="54119" y="0"/>
                </a:lnTo>
                <a:lnTo>
                  <a:pt x="43438" y="14699"/>
                </a:lnTo>
                <a:lnTo>
                  <a:pt x="1226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9" name="Illustrative delivered road transport cost class 1; reference terminal Lesedi"/>
          <p:cNvSpPr/>
          <p:nvPr/>
        </p:nvSpPr>
        <p:spPr>
          <a:xfrm>
            <a:off x="5031026" y="3306143"/>
            <a:ext cx="57686" cy="57686"/>
          </a:xfrm>
          <a:custGeom>
            <a:avLst/>
            <a:gdLst/>
            <a:ahLst/>
            <a:cxnLst/>
            <a:rect l="l" t="t" r="r" b="b"/>
            <a:pathLst>
              <a:path w="57686" h="57686">
                <a:moveTo>
                  <a:pt x="0" y="57686"/>
                </a:moveTo>
                <a:lnTo>
                  <a:pt x="0" y="0"/>
                </a:lnTo>
                <a:lnTo>
                  <a:pt x="57686" y="0"/>
                </a:lnTo>
                <a:lnTo>
                  <a:pt x="57686" y="52778"/>
                </a:lnTo>
                <a:lnTo>
                  <a:pt x="5411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0" name="Illustrative delivered road transport cost class 1; reference terminal Lesedi"/>
          <p:cNvSpPr/>
          <p:nvPr/>
        </p:nvSpPr>
        <p:spPr>
          <a:xfrm>
            <a:off x="5031026"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1" name="Illustrative delivered road transport cost class 1; reference terminal Lesedi"/>
          <p:cNvSpPr/>
          <p:nvPr/>
        </p:nvSpPr>
        <p:spPr>
          <a:xfrm>
            <a:off x="5031026"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2" name="Illustrative delivered road transport cost class 1; reference terminal Lesedi"/>
          <p:cNvSpPr/>
          <p:nvPr/>
        </p:nvSpPr>
        <p:spPr>
          <a:xfrm>
            <a:off x="5031026"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3" name="Illustrative delivered road transport cost class 1; reference terminal Lesedi"/>
          <p:cNvSpPr/>
          <p:nvPr/>
        </p:nvSpPr>
        <p:spPr>
          <a:xfrm>
            <a:off x="5031026"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4" name="Illustrative delivered road transport cost class 1; reference terminal Lesedi"/>
          <p:cNvSpPr/>
          <p:nvPr/>
        </p:nvSpPr>
        <p:spPr>
          <a:xfrm>
            <a:off x="5031026"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5" name="Illustrative delivered road transport cost class 1; reference terminal Lesedi"/>
          <p:cNvSpPr/>
          <p:nvPr/>
        </p:nvSpPr>
        <p:spPr>
          <a:xfrm>
            <a:off x="5031026"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6" name="Illustrative delivered road transport cost class None; reference terminal None"/>
          <p:cNvSpPr/>
          <p:nvPr/>
        </p:nvSpPr>
        <p:spPr>
          <a:xfrm>
            <a:off x="5031026"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7" name="Illustrative delivered road transport cost class None; reference terminal None"/>
          <p:cNvSpPr/>
          <p:nvPr/>
        </p:nvSpPr>
        <p:spPr>
          <a:xfrm>
            <a:off x="5031026"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8" name="Illustrative delivered road transport cost class None; reference terminal None"/>
          <p:cNvSpPr/>
          <p:nvPr/>
        </p:nvSpPr>
        <p:spPr>
          <a:xfrm>
            <a:off x="5031026"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9" name="Illustrative delivered road transport cost class None; reference terminal None"/>
          <p:cNvSpPr/>
          <p:nvPr/>
        </p:nvSpPr>
        <p:spPr>
          <a:xfrm>
            <a:off x="5031026"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0" name="Illustrative delivered road transport cost class None; reference terminal None"/>
          <p:cNvSpPr/>
          <p:nvPr/>
        </p:nvSpPr>
        <p:spPr>
          <a:xfrm>
            <a:off x="5031026"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1" name="Illustrative delivered road transport cost class None; reference terminal None"/>
          <p:cNvSpPr/>
          <p:nvPr/>
        </p:nvSpPr>
        <p:spPr>
          <a:xfrm>
            <a:off x="5031026"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2" name="Illustrative delivered road transport cost class None; reference terminal None"/>
          <p:cNvSpPr/>
          <p:nvPr/>
        </p:nvSpPr>
        <p:spPr>
          <a:xfrm>
            <a:off x="5031026"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3" name="Illustrative delivered road transport cost class 2; reference terminal Lesedi"/>
          <p:cNvSpPr/>
          <p:nvPr/>
        </p:nvSpPr>
        <p:spPr>
          <a:xfrm>
            <a:off x="5031026"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4" name="Illustrative delivered road transport cost class 2; reference terminal Lesedi"/>
          <p:cNvSpPr/>
          <p:nvPr/>
        </p:nvSpPr>
        <p:spPr>
          <a:xfrm>
            <a:off x="5031026"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5" name="Illustrative delivered road transport cost class 2; reference terminal Lesedi"/>
          <p:cNvSpPr/>
          <p:nvPr/>
        </p:nvSpPr>
        <p:spPr>
          <a:xfrm>
            <a:off x="5031026"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6" name="Illustrative delivered road transport cost class 2; reference terminal Lesedi"/>
          <p:cNvSpPr/>
          <p:nvPr/>
        </p:nvSpPr>
        <p:spPr>
          <a:xfrm>
            <a:off x="5031026" y="2374664"/>
            <a:ext cx="57686" cy="8494"/>
          </a:xfrm>
          <a:custGeom>
            <a:avLst/>
            <a:gdLst/>
            <a:ahLst/>
            <a:cxnLst/>
            <a:rect l="l" t="t" r="r" b="b"/>
            <a:pathLst>
              <a:path w="57686" h="8494">
                <a:moveTo>
                  <a:pt x="57686" y="8494"/>
                </a:moveTo>
                <a:lnTo>
                  <a:pt x="0" y="8494"/>
                </a:lnTo>
                <a:lnTo>
                  <a:pt x="0" y="2863"/>
                </a:lnTo>
                <a:lnTo>
                  <a:pt x="32573" y="0"/>
                </a:lnTo>
                <a:lnTo>
                  <a:pt x="57686" y="227"/>
                </a:lnTo>
                <a:lnTo>
                  <a:pt x="57686" y="8494"/>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7" name="Illustrative delivered road transport cost class 0; reference terminal Durban"/>
          <p:cNvSpPr/>
          <p:nvPr/>
        </p:nvSpPr>
        <p:spPr>
          <a:xfrm>
            <a:off x="5088712" y="4229128"/>
            <a:ext cx="4329" cy="5704"/>
          </a:xfrm>
          <a:custGeom>
            <a:avLst/>
            <a:gdLst/>
            <a:ahLst/>
            <a:cxnLst/>
            <a:rect l="l" t="t" r="r" b="b"/>
            <a:pathLst>
              <a:path w="4329" h="5704">
                <a:moveTo>
                  <a:pt x="0" y="0"/>
                </a:moveTo>
                <a:lnTo>
                  <a:pt x="4329" y="0"/>
                </a:lnTo>
                <a:lnTo>
                  <a:pt x="0" y="570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8" name="Illustrative delivered road transport cost class 0; reference terminal Durban"/>
          <p:cNvSpPr/>
          <p:nvPr/>
        </p:nvSpPr>
        <p:spPr>
          <a:xfrm>
            <a:off x="5088712" y="4171441"/>
            <a:ext cx="52435" cy="57687"/>
          </a:xfrm>
          <a:custGeom>
            <a:avLst/>
            <a:gdLst/>
            <a:ahLst/>
            <a:cxnLst/>
            <a:rect l="l" t="t" r="r" b="b"/>
            <a:pathLst>
              <a:path w="52435" h="57687">
                <a:moveTo>
                  <a:pt x="0" y="57687"/>
                </a:moveTo>
                <a:lnTo>
                  <a:pt x="0" y="0"/>
                </a:lnTo>
                <a:lnTo>
                  <a:pt x="52435" y="0"/>
                </a:lnTo>
                <a:lnTo>
                  <a:pt x="33464" y="19296"/>
                </a:lnTo>
                <a:lnTo>
                  <a:pt x="4329"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9" name="Illustrative delivered road transport cost class 0; reference terminal Durban"/>
          <p:cNvSpPr/>
          <p:nvPr/>
        </p:nvSpPr>
        <p:spPr>
          <a:xfrm>
            <a:off x="5088712" y="4113755"/>
            <a:ext cx="57687" cy="57686"/>
          </a:xfrm>
          <a:custGeom>
            <a:avLst/>
            <a:gdLst/>
            <a:ahLst/>
            <a:cxnLst/>
            <a:rect l="l" t="t" r="r" b="b"/>
            <a:pathLst>
              <a:path w="57687" h="57686">
                <a:moveTo>
                  <a:pt x="0" y="57686"/>
                </a:moveTo>
                <a:lnTo>
                  <a:pt x="0" y="0"/>
                </a:lnTo>
                <a:lnTo>
                  <a:pt x="57687" y="0"/>
                </a:lnTo>
                <a:lnTo>
                  <a:pt x="57687" y="52345"/>
                </a:lnTo>
                <a:lnTo>
                  <a:pt x="52435"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0" name="Illustrative delivered road transport cost class 0; reference terminal Durban"/>
          <p:cNvSpPr/>
          <p:nvPr/>
        </p:nvSpPr>
        <p:spPr>
          <a:xfrm>
            <a:off x="508871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1" name="Illustrative delivered road transport cost class 0; reference terminal Durban"/>
          <p:cNvSpPr/>
          <p:nvPr/>
        </p:nvSpPr>
        <p:spPr>
          <a:xfrm>
            <a:off x="508871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2" name="Illustrative delivered road transport cost class 0; reference terminal Durban"/>
          <p:cNvSpPr/>
          <p:nvPr/>
        </p:nvSpPr>
        <p:spPr>
          <a:xfrm>
            <a:off x="508871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3" name="Illustrative delivered road transport cost class 0; reference terminal Durban"/>
          <p:cNvSpPr/>
          <p:nvPr/>
        </p:nvSpPr>
        <p:spPr>
          <a:xfrm>
            <a:off x="508871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4" name="Illustrative delivered road transport cost class 0; reference terminal Durban"/>
          <p:cNvSpPr/>
          <p:nvPr/>
        </p:nvSpPr>
        <p:spPr>
          <a:xfrm>
            <a:off x="508871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5" name="Illustrative delivered road transport cost class 1; reference terminal Durban"/>
          <p:cNvSpPr/>
          <p:nvPr/>
        </p:nvSpPr>
        <p:spPr>
          <a:xfrm>
            <a:off x="508871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6" name="Illustrative delivered road transport cost class 1; reference terminal Durban"/>
          <p:cNvSpPr/>
          <p:nvPr/>
        </p:nvSpPr>
        <p:spPr>
          <a:xfrm>
            <a:off x="508871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7" name="Illustrative delivered road transport cost class 1; reference terminal Durban"/>
          <p:cNvSpPr/>
          <p:nvPr/>
        </p:nvSpPr>
        <p:spPr>
          <a:xfrm>
            <a:off x="508871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8" name="Illustrative delivered road transport cost class 1; reference terminal Lesedi"/>
          <p:cNvSpPr/>
          <p:nvPr/>
        </p:nvSpPr>
        <p:spPr>
          <a:xfrm>
            <a:off x="5088712" y="3604538"/>
            <a:ext cx="57687" cy="47724"/>
          </a:xfrm>
          <a:custGeom>
            <a:avLst/>
            <a:gdLst/>
            <a:ahLst/>
            <a:cxnLst/>
            <a:rect l="l" t="t" r="r" b="b"/>
            <a:pathLst>
              <a:path w="57687" h="47724">
                <a:moveTo>
                  <a:pt x="57687" y="47724"/>
                </a:moveTo>
                <a:lnTo>
                  <a:pt x="0" y="47724"/>
                </a:lnTo>
                <a:lnTo>
                  <a:pt x="0" y="0"/>
                </a:lnTo>
                <a:lnTo>
                  <a:pt x="1888" y="3721"/>
                </a:lnTo>
                <a:lnTo>
                  <a:pt x="48337" y="38415"/>
                </a:lnTo>
                <a:lnTo>
                  <a:pt x="57687" y="42036"/>
                </a:lnTo>
                <a:lnTo>
                  <a:pt x="57687" y="4772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9" name="Illustrative delivered road transport cost class 1; reference terminal Lesedi"/>
          <p:cNvSpPr/>
          <p:nvPr/>
        </p:nvSpPr>
        <p:spPr>
          <a:xfrm>
            <a:off x="5088712" y="3306143"/>
            <a:ext cx="32964" cy="52778"/>
          </a:xfrm>
          <a:custGeom>
            <a:avLst/>
            <a:gdLst/>
            <a:ahLst/>
            <a:cxnLst/>
            <a:rect l="l" t="t" r="r" b="b"/>
            <a:pathLst>
              <a:path w="32964" h="52778">
                <a:moveTo>
                  <a:pt x="0" y="0"/>
                </a:moveTo>
                <a:lnTo>
                  <a:pt x="32964" y="0"/>
                </a:lnTo>
                <a:lnTo>
                  <a:pt x="21545" y="13175"/>
                </a:lnTo>
                <a:lnTo>
                  <a:pt x="7493" y="42466"/>
                </a:lnTo>
                <a:lnTo>
                  <a:pt x="0" y="5277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0" name="Illustrative delivered road transport cost class 1; reference terminal Lesedi"/>
          <p:cNvSpPr/>
          <p:nvPr/>
        </p:nvSpPr>
        <p:spPr>
          <a:xfrm>
            <a:off x="5088712" y="3248456"/>
            <a:ext cx="57687" cy="57687"/>
          </a:xfrm>
          <a:custGeom>
            <a:avLst/>
            <a:gdLst/>
            <a:ahLst/>
            <a:cxnLst/>
            <a:rect l="l" t="t" r="r" b="b"/>
            <a:pathLst>
              <a:path w="57687" h="57687">
                <a:moveTo>
                  <a:pt x="0" y="57687"/>
                </a:moveTo>
                <a:lnTo>
                  <a:pt x="0" y="0"/>
                </a:lnTo>
                <a:lnTo>
                  <a:pt x="57687" y="0"/>
                </a:lnTo>
                <a:lnTo>
                  <a:pt x="57687" y="32428"/>
                </a:lnTo>
                <a:lnTo>
                  <a:pt x="50745" y="37169"/>
                </a:lnTo>
                <a:lnTo>
                  <a:pt x="32964"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1" name="Illustrative delivered road transport cost class 1; reference terminal Lesedi"/>
          <p:cNvSpPr/>
          <p:nvPr/>
        </p:nvSpPr>
        <p:spPr>
          <a:xfrm>
            <a:off x="508871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2" name="Illustrative delivered road transport cost class 1; reference terminal Lesedi"/>
          <p:cNvSpPr/>
          <p:nvPr/>
        </p:nvSpPr>
        <p:spPr>
          <a:xfrm>
            <a:off x="508871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3" name="Illustrative delivered road transport cost class 1; reference terminal Lesedi"/>
          <p:cNvSpPr/>
          <p:nvPr/>
        </p:nvSpPr>
        <p:spPr>
          <a:xfrm>
            <a:off x="508871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4" name="Illustrative delivered road transport cost class 1; reference terminal Lesedi"/>
          <p:cNvSpPr/>
          <p:nvPr/>
        </p:nvSpPr>
        <p:spPr>
          <a:xfrm>
            <a:off x="508871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5" name="Illustrative delivered road transport cost class 1; reference terminal Lesedi"/>
          <p:cNvSpPr/>
          <p:nvPr/>
        </p:nvSpPr>
        <p:spPr>
          <a:xfrm>
            <a:off x="508871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6" name="Illustrative delivered road transport cost class None; reference terminal None"/>
          <p:cNvSpPr/>
          <p:nvPr/>
        </p:nvSpPr>
        <p:spPr>
          <a:xfrm>
            <a:off x="508871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7" name="Illustrative delivered road transport cost class None; reference terminal None"/>
          <p:cNvSpPr/>
          <p:nvPr/>
        </p:nvSpPr>
        <p:spPr>
          <a:xfrm>
            <a:off x="5088712"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8" name="Illustrative delivered road transport cost class None; reference terminal None"/>
          <p:cNvSpPr/>
          <p:nvPr/>
        </p:nvSpPr>
        <p:spPr>
          <a:xfrm>
            <a:off x="5088712"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9" name="Illustrative delivered road transport cost class None; reference terminal None"/>
          <p:cNvSpPr/>
          <p:nvPr/>
        </p:nvSpPr>
        <p:spPr>
          <a:xfrm>
            <a:off x="5088712"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0" name="Illustrative delivered road transport cost class None; reference terminal None"/>
          <p:cNvSpPr/>
          <p:nvPr/>
        </p:nvSpPr>
        <p:spPr>
          <a:xfrm>
            <a:off x="5088712"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1" name="Illustrative delivered road transport cost class None; reference terminal None"/>
          <p:cNvSpPr/>
          <p:nvPr/>
        </p:nvSpPr>
        <p:spPr>
          <a:xfrm>
            <a:off x="5088712"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2" name="Illustrative delivered road transport cost class None; reference terminal None"/>
          <p:cNvSpPr/>
          <p:nvPr/>
        </p:nvSpPr>
        <p:spPr>
          <a:xfrm>
            <a:off x="5088712"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3" name="Illustrative delivered road transport cost class None; reference terminal None"/>
          <p:cNvSpPr/>
          <p:nvPr/>
        </p:nvSpPr>
        <p:spPr>
          <a:xfrm>
            <a:off x="5088712"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4" name="Illustrative delivered road transport cost class None; reference terminal None"/>
          <p:cNvSpPr/>
          <p:nvPr/>
        </p:nvSpPr>
        <p:spPr>
          <a:xfrm>
            <a:off x="5088712"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5" name="Illustrative delivered road transport cost class None; reference terminal None"/>
          <p:cNvSpPr/>
          <p:nvPr/>
        </p:nvSpPr>
        <p:spPr>
          <a:xfrm>
            <a:off x="5088712"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6" name="Illustrative delivered road transport cost class 2; reference terminal Lesedi"/>
          <p:cNvSpPr/>
          <p:nvPr/>
        </p:nvSpPr>
        <p:spPr>
          <a:xfrm>
            <a:off x="5088712" y="2374891"/>
            <a:ext cx="57687" cy="8267"/>
          </a:xfrm>
          <a:custGeom>
            <a:avLst/>
            <a:gdLst/>
            <a:ahLst/>
            <a:cxnLst/>
            <a:rect l="l" t="t" r="r" b="b"/>
            <a:pathLst>
              <a:path w="57687" h="8267">
                <a:moveTo>
                  <a:pt x="57687" y="8267"/>
                </a:moveTo>
                <a:lnTo>
                  <a:pt x="0" y="8267"/>
                </a:lnTo>
                <a:lnTo>
                  <a:pt x="0" y="0"/>
                </a:lnTo>
                <a:lnTo>
                  <a:pt x="23566" y="212"/>
                </a:lnTo>
                <a:lnTo>
                  <a:pt x="57687" y="5855"/>
                </a:lnTo>
                <a:lnTo>
                  <a:pt x="57687" y="826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7" name="Illustrative delivered road transport cost class 0; reference terminal Durban"/>
          <p:cNvSpPr/>
          <p:nvPr/>
        </p:nvSpPr>
        <p:spPr>
          <a:xfrm>
            <a:off x="5146399" y="4113755"/>
            <a:ext cx="51467" cy="52345"/>
          </a:xfrm>
          <a:custGeom>
            <a:avLst/>
            <a:gdLst/>
            <a:ahLst/>
            <a:cxnLst/>
            <a:rect l="l" t="t" r="r" b="b"/>
            <a:pathLst>
              <a:path w="51467" h="52345">
                <a:moveTo>
                  <a:pt x="0" y="0"/>
                </a:moveTo>
                <a:lnTo>
                  <a:pt x="51467" y="0"/>
                </a:lnTo>
                <a:lnTo>
                  <a:pt x="0" y="5234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8" name="Illustrative delivered road transport cost class 0; reference terminal Durban"/>
          <p:cNvSpPr/>
          <p:nvPr/>
        </p:nvSpPr>
        <p:spPr>
          <a:xfrm>
            <a:off x="5146399" y="4056068"/>
            <a:ext cx="57686" cy="57687"/>
          </a:xfrm>
          <a:custGeom>
            <a:avLst/>
            <a:gdLst/>
            <a:ahLst/>
            <a:cxnLst/>
            <a:rect l="l" t="t" r="r" b="b"/>
            <a:pathLst>
              <a:path w="57686" h="57687">
                <a:moveTo>
                  <a:pt x="0" y="57687"/>
                </a:moveTo>
                <a:lnTo>
                  <a:pt x="0" y="0"/>
                </a:lnTo>
                <a:lnTo>
                  <a:pt x="57686" y="0"/>
                </a:lnTo>
                <a:lnTo>
                  <a:pt x="57686" y="51361"/>
                </a:lnTo>
                <a:lnTo>
                  <a:pt x="514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9" name="Illustrative delivered road transport cost class 0; reference terminal Durban"/>
          <p:cNvSpPr/>
          <p:nvPr/>
        </p:nvSpPr>
        <p:spPr>
          <a:xfrm>
            <a:off x="514639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0" name="Illustrative delivered road transport cost class 0; reference terminal Durban"/>
          <p:cNvSpPr/>
          <p:nvPr/>
        </p:nvSpPr>
        <p:spPr>
          <a:xfrm>
            <a:off x="514639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1" name="Illustrative delivered road transport cost class 0; reference terminal Durban"/>
          <p:cNvSpPr/>
          <p:nvPr/>
        </p:nvSpPr>
        <p:spPr>
          <a:xfrm>
            <a:off x="514639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2" name="Illustrative delivered road transport cost class 0; reference terminal Durban"/>
          <p:cNvSpPr/>
          <p:nvPr/>
        </p:nvSpPr>
        <p:spPr>
          <a:xfrm>
            <a:off x="514639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3" name="Illustrative delivered road transport cost class 1; reference terminal Durban"/>
          <p:cNvSpPr/>
          <p:nvPr/>
        </p:nvSpPr>
        <p:spPr>
          <a:xfrm>
            <a:off x="514639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4" name="Illustrative delivered road transport cost class 1; reference terminal Durban"/>
          <p:cNvSpPr/>
          <p:nvPr/>
        </p:nvSpPr>
        <p:spPr>
          <a:xfrm>
            <a:off x="514639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5" name="Illustrative delivered road transport cost class 1; reference terminal Durban"/>
          <p:cNvSpPr/>
          <p:nvPr/>
        </p:nvSpPr>
        <p:spPr>
          <a:xfrm>
            <a:off x="5146399" y="3652262"/>
            <a:ext cx="57686" cy="57687"/>
          </a:xfrm>
          <a:custGeom>
            <a:avLst/>
            <a:gdLst/>
            <a:ahLst/>
            <a:cxnLst/>
            <a:rect l="l" t="t" r="r" b="b"/>
            <a:pathLst>
              <a:path w="57686" h="57687">
                <a:moveTo>
                  <a:pt x="57686" y="57687"/>
                </a:moveTo>
                <a:lnTo>
                  <a:pt x="0" y="57687"/>
                </a:lnTo>
                <a:lnTo>
                  <a:pt x="0" y="0"/>
                </a:lnTo>
                <a:lnTo>
                  <a:pt x="14684" y="0"/>
                </a:lnTo>
                <a:lnTo>
                  <a:pt x="34456" y="7658"/>
                </a:lnTo>
                <a:lnTo>
                  <a:pt x="57686" y="10325"/>
                </a:lnTo>
                <a:lnTo>
                  <a:pt x="57686"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6" name="Illustrative delivered road transport cost class 1; reference terminal Durban"/>
          <p:cNvSpPr/>
          <p:nvPr/>
        </p:nvSpPr>
        <p:spPr>
          <a:xfrm>
            <a:off x="5146399" y="3646574"/>
            <a:ext cx="14684" cy="5688"/>
          </a:xfrm>
          <a:custGeom>
            <a:avLst/>
            <a:gdLst/>
            <a:ahLst/>
            <a:cxnLst/>
            <a:rect l="l" t="t" r="r" b="b"/>
            <a:pathLst>
              <a:path w="14684" h="5688">
                <a:moveTo>
                  <a:pt x="0" y="5688"/>
                </a:moveTo>
                <a:lnTo>
                  <a:pt x="0" y="0"/>
                </a:lnTo>
                <a:lnTo>
                  <a:pt x="14684" y="5688"/>
                </a:lnTo>
                <a:lnTo>
                  <a:pt x="0" y="5688"/>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7" name="Illustrative delivered road transport cost class 1; reference terminal Lesedi"/>
          <p:cNvSpPr/>
          <p:nvPr/>
        </p:nvSpPr>
        <p:spPr>
          <a:xfrm>
            <a:off x="5146399" y="3248456"/>
            <a:ext cx="57686" cy="32428"/>
          </a:xfrm>
          <a:custGeom>
            <a:avLst/>
            <a:gdLst/>
            <a:ahLst/>
            <a:cxnLst/>
            <a:rect l="l" t="t" r="r" b="b"/>
            <a:pathLst>
              <a:path w="57686" h="32428">
                <a:moveTo>
                  <a:pt x="0" y="0"/>
                </a:moveTo>
                <a:lnTo>
                  <a:pt x="57686" y="0"/>
                </a:lnTo>
                <a:lnTo>
                  <a:pt x="57686" y="25216"/>
                </a:lnTo>
                <a:lnTo>
                  <a:pt x="42266" y="14932"/>
                </a:lnTo>
                <a:lnTo>
                  <a:pt x="34799" y="13613"/>
                </a:lnTo>
                <a:lnTo>
                  <a:pt x="23676" y="16259"/>
                </a:lnTo>
                <a:lnTo>
                  <a:pt x="0" y="324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8" name="Illustrative delivered road transport cost class 1; reference terminal Lesedi"/>
          <p:cNvSpPr/>
          <p:nvPr/>
        </p:nvSpPr>
        <p:spPr>
          <a:xfrm>
            <a:off x="514639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9" name="Illustrative delivered road transport cost class 1; reference terminal Lesedi"/>
          <p:cNvSpPr/>
          <p:nvPr/>
        </p:nvSpPr>
        <p:spPr>
          <a:xfrm>
            <a:off x="514639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0" name="Illustrative delivered road transport cost class 1; reference terminal Lesedi"/>
          <p:cNvSpPr/>
          <p:nvPr/>
        </p:nvSpPr>
        <p:spPr>
          <a:xfrm>
            <a:off x="5146399"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1" name="Illustrative delivered road transport cost class 1; reference terminal Lesedi"/>
          <p:cNvSpPr/>
          <p:nvPr/>
        </p:nvSpPr>
        <p:spPr>
          <a:xfrm>
            <a:off x="5146399"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2" name="Illustrative delivered road transport cost class 1; reference terminal Lesedi"/>
          <p:cNvSpPr/>
          <p:nvPr/>
        </p:nvSpPr>
        <p:spPr>
          <a:xfrm>
            <a:off x="5146399"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3" name="Illustrative delivered road transport cost class None; reference terminal None"/>
          <p:cNvSpPr/>
          <p:nvPr/>
        </p:nvSpPr>
        <p:spPr>
          <a:xfrm>
            <a:off x="5146399"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4" name="Illustrative delivered road transport cost class None; reference terminal None"/>
          <p:cNvSpPr/>
          <p:nvPr/>
        </p:nvSpPr>
        <p:spPr>
          <a:xfrm>
            <a:off x="5146399"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5" name="Illustrative delivered road transport cost class None; reference terminal None"/>
          <p:cNvSpPr/>
          <p:nvPr/>
        </p:nvSpPr>
        <p:spPr>
          <a:xfrm>
            <a:off x="5146399"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6" name="Illustrative delivered road transport cost class None; reference terminal None"/>
          <p:cNvSpPr/>
          <p:nvPr/>
        </p:nvSpPr>
        <p:spPr>
          <a:xfrm>
            <a:off x="5146399"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7" name="Illustrative delivered road transport cost class None; reference terminal None"/>
          <p:cNvSpPr/>
          <p:nvPr/>
        </p:nvSpPr>
        <p:spPr>
          <a:xfrm>
            <a:off x="5146399"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8" name="Illustrative delivered road transport cost class None; reference terminal None"/>
          <p:cNvSpPr/>
          <p:nvPr/>
        </p:nvSpPr>
        <p:spPr>
          <a:xfrm>
            <a:off x="5146399"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9" name="Illustrative delivered road transport cost class None; reference terminal None"/>
          <p:cNvSpPr/>
          <p:nvPr/>
        </p:nvSpPr>
        <p:spPr>
          <a:xfrm>
            <a:off x="5146399"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0" name="Illustrative delivered road transport cost class None; reference terminal None"/>
          <p:cNvSpPr/>
          <p:nvPr/>
        </p:nvSpPr>
        <p:spPr>
          <a:xfrm>
            <a:off x="5146399"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1" name="Illustrative delivered road transport cost class None; reference terminal None"/>
          <p:cNvSpPr/>
          <p:nvPr/>
        </p:nvSpPr>
        <p:spPr>
          <a:xfrm>
            <a:off x="5146399"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2" name="Illustrative delivered road transport cost class None; reference terminal None"/>
          <p:cNvSpPr/>
          <p:nvPr/>
        </p:nvSpPr>
        <p:spPr>
          <a:xfrm>
            <a:off x="5146399" y="2383158"/>
            <a:ext cx="57686" cy="57686"/>
          </a:xfrm>
          <a:custGeom>
            <a:avLst/>
            <a:gdLst/>
            <a:ahLst/>
            <a:cxnLst/>
            <a:rect l="l" t="t" r="r" b="b"/>
            <a:pathLst>
              <a:path w="57686" h="57686">
                <a:moveTo>
                  <a:pt x="57686" y="57686"/>
                </a:moveTo>
                <a:lnTo>
                  <a:pt x="0" y="57686"/>
                </a:lnTo>
                <a:lnTo>
                  <a:pt x="0" y="0"/>
                </a:lnTo>
                <a:lnTo>
                  <a:pt x="8138" y="0"/>
                </a:lnTo>
                <a:lnTo>
                  <a:pt x="32085" y="9008"/>
                </a:lnTo>
                <a:lnTo>
                  <a:pt x="52957" y="24659"/>
                </a:lnTo>
                <a:lnTo>
                  <a:pt x="53606" y="38152"/>
                </a:lnTo>
                <a:lnTo>
                  <a:pt x="55000" y="44341"/>
                </a:lnTo>
                <a:lnTo>
                  <a:pt x="57686" y="5427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3" name="Illustrative delivered road transport cost class None; reference terminal None"/>
          <p:cNvSpPr/>
          <p:nvPr/>
        </p:nvSpPr>
        <p:spPr>
          <a:xfrm>
            <a:off x="5146399" y="2380746"/>
            <a:ext cx="8138" cy="2412"/>
          </a:xfrm>
          <a:custGeom>
            <a:avLst/>
            <a:gdLst/>
            <a:ahLst/>
            <a:cxnLst/>
            <a:rect l="l" t="t" r="r" b="b"/>
            <a:pathLst>
              <a:path w="8138" h="2412">
                <a:moveTo>
                  <a:pt x="0" y="2412"/>
                </a:moveTo>
                <a:lnTo>
                  <a:pt x="0" y="0"/>
                </a:lnTo>
                <a:lnTo>
                  <a:pt x="3080" y="509"/>
                </a:lnTo>
                <a:lnTo>
                  <a:pt x="8138" y="2412"/>
                </a:lnTo>
                <a:lnTo>
                  <a:pt x="0" y="24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4" name="Illustrative delivered road transport cost class 0; reference terminal Durban"/>
          <p:cNvSpPr/>
          <p:nvPr/>
        </p:nvSpPr>
        <p:spPr>
          <a:xfrm>
            <a:off x="5204085" y="4056068"/>
            <a:ext cx="57687" cy="51361"/>
          </a:xfrm>
          <a:custGeom>
            <a:avLst/>
            <a:gdLst/>
            <a:ahLst/>
            <a:cxnLst/>
            <a:rect l="l" t="t" r="r" b="b"/>
            <a:pathLst>
              <a:path w="57687" h="51361">
                <a:moveTo>
                  <a:pt x="0" y="0"/>
                </a:moveTo>
                <a:lnTo>
                  <a:pt x="57687" y="0"/>
                </a:lnTo>
                <a:lnTo>
                  <a:pt x="57687" y="18855"/>
                </a:lnTo>
                <a:lnTo>
                  <a:pt x="49331" y="22482"/>
                </a:lnTo>
                <a:lnTo>
                  <a:pt x="23552" y="27408"/>
                </a:lnTo>
                <a:lnTo>
                  <a:pt x="0" y="5136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5" name="Illustrative delivered road transport cost class 0; reference terminal Durban"/>
          <p:cNvSpPr/>
          <p:nvPr/>
        </p:nvSpPr>
        <p:spPr>
          <a:xfrm>
            <a:off x="520408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6" name="Illustrative delivered road transport cost class 0; reference terminal Durban"/>
          <p:cNvSpPr/>
          <p:nvPr/>
        </p:nvSpPr>
        <p:spPr>
          <a:xfrm>
            <a:off x="520408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7" name="Illustrative delivered road transport cost class 0; reference terminal Durban"/>
          <p:cNvSpPr/>
          <p:nvPr/>
        </p:nvSpPr>
        <p:spPr>
          <a:xfrm>
            <a:off x="520408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8" name="Illustrative delivered road transport cost class 0; reference terminal Durban"/>
          <p:cNvSpPr/>
          <p:nvPr/>
        </p:nvSpPr>
        <p:spPr>
          <a:xfrm>
            <a:off x="520408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9" name="Illustrative delivered road transport cost class 0; reference terminal Durban"/>
          <p:cNvSpPr/>
          <p:nvPr/>
        </p:nvSpPr>
        <p:spPr>
          <a:xfrm>
            <a:off x="520408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0" name="Illustrative delivered road transport cost class 1; reference terminal Durban"/>
          <p:cNvSpPr/>
          <p:nvPr/>
        </p:nvSpPr>
        <p:spPr>
          <a:xfrm>
            <a:off x="520408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1" name="Illustrative delivered road transport cost class 1; reference terminal Durban"/>
          <p:cNvSpPr/>
          <p:nvPr/>
        </p:nvSpPr>
        <p:spPr>
          <a:xfrm>
            <a:off x="5204085" y="3662587"/>
            <a:ext cx="57687" cy="47362"/>
          </a:xfrm>
          <a:custGeom>
            <a:avLst/>
            <a:gdLst/>
            <a:ahLst/>
            <a:cxnLst/>
            <a:rect l="l" t="t" r="r" b="b"/>
            <a:pathLst>
              <a:path w="57687" h="47362">
                <a:moveTo>
                  <a:pt x="57687" y="47362"/>
                </a:moveTo>
                <a:lnTo>
                  <a:pt x="0" y="47362"/>
                </a:lnTo>
                <a:lnTo>
                  <a:pt x="0" y="0"/>
                </a:lnTo>
                <a:lnTo>
                  <a:pt x="38771" y="4451"/>
                </a:lnTo>
                <a:lnTo>
                  <a:pt x="57687" y="5127"/>
                </a:lnTo>
                <a:lnTo>
                  <a:pt x="57687" y="4736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2" name="Illustrative delivered road transport cost class 1; reference terminal Lesedi"/>
          <p:cNvSpPr/>
          <p:nvPr/>
        </p:nvSpPr>
        <p:spPr>
          <a:xfrm>
            <a:off x="5253756" y="3306143"/>
            <a:ext cx="8016" cy="4988"/>
          </a:xfrm>
          <a:custGeom>
            <a:avLst/>
            <a:gdLst/>
            <a:ahLst/>
            <a:cxnLst/>
            <a:rect l="l" t="t" r="r" b="b"/>
            <a:pathLst>
              <a:path w="8016" h="4988">
                <a:moveTo>
                  <a:pt x="8016" y="0"/>
                </a:moveTo>
                <a:lnTo>
                  <a:pt x="8016" y="4988"/>
                </a:lnTo>
                <a:lnTo>
                  <a:pt x="0" y="0"/>
                </a:lnTo>
                <a:lnTo>
                  <a:pt x="801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3" name="Illustrative delivered road transport cost class 1; reference terminal Lesedi"/>
          <p:cNvSpPr/>
          <p:nvPr/>
        </p:nvSpPr>
        <p:spPr>
          <a:xfrm>
            <a:off x="5204085" y="3248456"/>
            <a:ext cx="57687" cy="57687"/>
          </a:xfrm>
          <a:custGeom>
            <a:avLst/>
            <a:gdLst/>
            <a:ahLst/>
            <a:cxnLst/>
            <a:rect l="l" t="t" r="r" b="b"/>
            <a:pathLst>
              <a:path w="57687" h="57687">
                <a:moveTo>
                  <a:pt x="0" y="0"/>
                </a:moveTo>
                <a:lnTo>
                  <a:pt x="57687" y="0"/>
                </a:lnTo>
                <a:lnTo>
                  <a:pt x="57687" y="57687"/>
                </a:lnTo>
                <a:lnTo>
                  <a:pt x="49671" y="57687"/>
                </a:lnTo>
                <a:lnTo>
                  <a:pt x="35018" y="48569"/>
                </a:lnTo>
                <a:lnTo>
                  <a:pt x="0" y="2521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4" name="Illustrative delivered road transport cost class 1; reference terminal Lesedi"/>
          <p:cNvSpPr/>
          <p:nvPr/>
        </p:nvSpPr>
        <p:spPr>
          <a:xfrm>
            <a:off x="520408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5" name="Illustrative delivered road transport cost class 1; reference terminal Lesedi"/>
          <p:cNvSpPr/>
          <p:nvPr/>
        </p:nvSpPr>
        <p:spPr>
          <a:xfrm>
            <a:off x="5204085"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6" name="Illustrative delivered road transport cost class 1; reference terminal Lesedi"/>
          <p:cNvSpPr/>
          <p:nvPr/>
        </p:nvSpPr>
        <p:spPr>
          <a:xfrm>
            <a:off x="5204085"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7" name="Illustrative delivered road transport cost class 1; reference terminal Lesedi"/>
          <p:cNvSpPr/>
          <p:nvPr/>
        </p:nvSpPr>
        <p:spPr>
          <a:xfrm>
            <a:off x="5204085"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8" name="Illustrative delivered road transport cost class 1; reference terminal Lesedi"/>
          <p:cNvSpPr/>
          <p:nvPr/>
        </p:nvSpPr>
        <p:spPr>
          <a:xfrm>
            <a:off x="5204085"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9" name="Illustrative delivered road transport cost class None; reference terminal None"/>
          <p:cNvSpPr/>
          <p:nvPr/>
        </p:nvSpPr>
        <p:spPr>
          <a:xfrm>
            <a:off x="5204085"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0" name="Illustrative delivered road transport cost class None; reference terminal None"/>
          <p:cNvSpPr/>
          <p:nvPr/>
        </p:nvSpPr>
        <p:spPr>
          <a:xfrm>
            <a:off x="5204085"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1" name="Illustrative delivered road transport cost class None; reference terminal None"/>
          <p:cNvSpPr/>
          <p:nvPr/>
        </p:nvSpPr>
        <p:spPr>
          <a:xfrm>
            <a:off x="5204085"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2" name="Illustrative delivered road transport cost class None; reference terminal None"/>
          <p:cNvSpPr/>
          <p:nvPr/>
        </p:nvSpPr>
        <p:spPr>
          <a:xfrm>
            <a:off x="5204085"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3" name="Illustrative delivered road transport cost class None; reference terminal None"/>
          <p:cNvSpPr/>
          <p:nvPr/>
        </p:nvSpPr>
        <p:spPr>
          <a:xfrm>
            <a:off x="5204085" y="2671590"/>
            <a:ext cx="57687" cy="57687"/>
          </a:xfrm>
          <a:custGeom>
            <a:avLst/>
            <a:gdLst/>
            <a:ahLst/>
            <a:cxnLst/>
            <a:rect l="l" t="t" r="r" b="b"/>
            <a:pathLst>
              <a:path w="57687" h="57687">
                <a:moveTo>
                  <a:pt x="57687" y="57687"/>
                </a:moveTo>
                <a:lnTo>
                  <a:pt x="0" y="57687"/>
                </a:lnTo>
                <a:lnTo>
                  <a:pt x="0" y="0"/>
                </a:lnTo>
                <a:lnTo>
                  <a:pt x="40358" y="0"/>
                </a:lnTo>
                <a:lnTo>
                  <a:pt x="40331" y="447"/>
                </a:lnTo>
                <a:lnTo>
                  <a:pt x="43386" y="15080"/>
                </a:lnTo>
                <a:lnTo>
                  <a:pt x="56278" y="33836"/>
                </a:lnTo>
                <a:lnTo>
                  <a:pt x="57687" y="36774"/>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4" name="Illustrative delivered road transport cost class None; reference terminal None"/>
          <p:cNvSpPr/>
          <p:nvPr/>
        </p:nvSpPr>
        <p:spPr>
          <a:xfrm>
            <a:off x="5204085" y="2613904"/>
            <a:ext cx="42599" cy="57686"/>
          </a:xfrm>
          <a:custGeom>
            <a:avLst/>
            <a:gdLst/>
            <a:ahLst/>
            <a:cxnLst/>
            <a:rect l="l" t="t" r="r" b="b"/>
            <a:pathLst>
              <a:path w="42599" h="57686">
                <a:moveTo>
                  <a:pt x="0" y="57686"/>
                </a:moveTo>
                <a:lnTo>
                  <a:pt x="0" y="0"/>
                </a:lnTo>
                <a:lnTo>
                  <a:pt x="38866" y="0"/>
                </a:lnTo>
                <a:lnTo>
                  <a:pt x="42599" y="20814"/>
                </a:lnTo>
                <a:lnTo>
                  <a:pt x="40358"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5" name="Illustrative delivered road transport cost class None; reference terminal None"/>
          <p:cNvSpPr/>
          <p:nvPr/>
        </p:nvSpPr>
        <p:spPr>
          <a:xfrm>
            <a:off x="5204085" y="2556217"/>
            <a:ext cx="38866" cy="57687"/>
          </a:xfrm>
          <a:custGeom>
            <a:avLst/>
            <a:gdLst/>
            <a:ahLst/>
            <a:cxnLst/>
            <a:rect l="l" t="t" r="r" b="b"/>
            <a:pathLst>
              <a:path w="38866" h="57687">
                <a:moveTo>
                  <a:pt x="0" y="57687"/>
                </a:moveTo>
                <a:lnTo>
                  <a:pt x="0" y="0"/>
                </a:lnTo>
                <a:lnTo>
                  <a:pt x="28510" y="0"/>
                </a:lnTo>
                <a:lnTo>
                  <a:pt x="30424" y="10620"/>
                </a:lnTo>
                <a:lnTo>
                  <a:pt x="3886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6" name="Illustrative delivered road transport cost class None; reference terminal None"/>
          <p:cNvSpPr/>
          <p:nvPr/>
        </p:nvSpPr>
        <p:spPr>
          <a:xfrm>
            <a:off x="5204085" y="2498531"/>
            <a:ext cx="28510" cy="57686"/>
          </a:xfrm>
          <a:custGeom>
            <a:avLst/>
            <a:gdLst/>
            <a:ahLst/>
            <a:cxnLst/>
            <a:rect l="l" t="t" r="r" b="b"/>
            <a:pathLst>
              <a:path w="28510" h="57686">
                <a:moveTo>
                  <a:pt x="0" y="57686"/>
                </a:moveTo>
                <a:lnTo>
                  <a:pt x="0" y="0"/>
                </a:lnTo>
                <a:lnTo>
                  <a:pt x="16451" y="0"/>
                </a:lnTo>
                <a:lnTo>
                  <a:pt x="21505" y="18825"/>
                </a:lnTo>
                <a:lnTo>
                  <a:pt x="28510"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7" name="Illustrative delivered road transport cost class None; reference terminal None"/>
          <p:cNvSpPr/>
          <p:nvPr/>
        </p:nvSpPr>
        <p:spPr>
          <a:xfrm>
            <a:off x="5204085" y="2440844"/>
            <a:ext cx="16451" cy="57687"/>
          </a:xfrm>
          <a:custGeom>
            <a:avLst/>
            <a:gdLst/>
            <a:ahLst/>
            <a:cxnLst/>
            <a:rect l="l" t="t" r="r" b="b"/>
            <a:pathLst>
              <a:path w="16451" h="57687">
                <a:moveTo>
                  <a:pt x="0" y="57687"/>
                </a:moveTo>
                <a:lnTo>
                  <a:pt x="0" y="0"/>
                </a:lnTo>
                <a:lnTo>
                  <a:pt x="921" y="0"/>
                </a:lnTo>
                <a:lnTo>
                  <a:pt x="7056" y="22690"/>
                </a:lnTo>
                <a:lnTo>
                  <a:pt x="16451"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8" name="Illustrative delivered road transport cost class 0; reference terminal Durban"/>
          <p:cNvSpPr/>
          <p:nvPr/>
        </p:nvSpPr>
        <p:spPr>
          <a:xfrm>
            <a:off x="5261772" y="4056068"/>
            <a:ext cx="29918" cy="18855"/>
          </a:xfrm>
          <a:custGeom>
            <a:avLst/>
            <a:gdLst/>
            <a:ahLst/>
            <a:cxnLst/>
            <a:rect l="l" t="t" r="r" b="b"/>
            <a:pathLst>
              <a:path w="29918" h="18855">
                <a:moveTo>
                  <a:pt x="0" y="0"/>
                </a:moveTo>
                <a:lnTo>
                  <a:pt x="29918" y="0"/>
                </a:lnTo>
                <a:lnTo>
                  <a:pt x="23193" y="5720"/>
                </a:lnTo>
                <a:lnTo>
                  <a:pt x="6396" y="16079"/>
                </a:lnTo>
                <a:lnTo>
                  <a:pt x="0" y="1885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9" name="Illustrative delivered road transport cost class 0; reference terminal Durban"/>
          <p:cNvSpPr/>
          <p:nvPr/>
        </p:nvSpPr>
        <p:spPr>
          <a:xfrm>
            <a:off x="5261772" y="3998382"/>
            <a:ext cx="57687" cy="57686"/>
          </a:xfrm>
          <a:custGeom>
            <a:avLst/>
            <a:gdLst/>
            <a:ahLst/>
            <a:cxnLst/>
            <a:rect l="l" t="t" r="r" b="b"/>
            <a:pathLst>
              <a:path w="57687" h="57686">
                <a:moveTo>
                  <a:pt x="0" y="57686"/>
                </a:moveTo>
                <a:lnTo>
                  <a:pt x="0" y="0"/>
                </a:lnTo>
                <a:lnTo>
                  <a:pt x="57687" y="0"/>
                </a:lnTo>
                <a:lnTo>
                  <a:pt x="57687" y="34068"/>
                </a:lnTo>
                <a:lnTo>
                  <a:pt x="29918"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0" name="Illustrative delivered road transport cost class 0; reference terminal Durban"/>
          <p:cNvSpPr/>
          <p:nvPr/>
        </p:nvSpPr>
        <p:spPr>
          <a:xfrm>
            <a:off x="526177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1" name="Illustrative delivered road transport cost class 0; reference terminal Durban"/>
          <p:cNvSpPr/>
          <p:nvPr/>
        </p:nvSpPr>
        <p:spPr>
          <a:xfrm>
            <a:off x="526177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2" name="Illustrative delivered road transport cost class 0; reference terminal Durban"/>
          <p:cNvSpPr/>
          <p:nvPr/>
        </p:nvSpPr>
        <p:spPr>
          <a:xfrm>
            <a:off x="526177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3" name="Illustrative delivered road transport cost class 0; reference terminal Durban"/>
          <p:cNvSpPr/>
          <p:nvPr/>
        </p:nvSpPr>
        <p:spPr>
          <a:xfrm>
            <a:off x="526177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4" name="Illustrative delivered road transport cost class 0; reference terminal Durban"/>
          <p:cNvSpPr/>
          <p:nvPr/>
        </p:nvSpPr>
        <p:spPr>
          <a:xfrm>
            <a:off x="526177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5" name="Illustrative delivered road transport cost class 1; reference terminal Durban"/>
          <p:cNvSpPr/>
          <p:nvPr/>
        </p:nvSpPr>
        <p:spPr>
          <a:xfrm>
            <a:off x="5261772" y="3652262"/>
            <a:ext cx="57687" cy="57687"/>
          </a:xfrm>
          <a:custGeom>
            <a:avLst/>
            <a:gdLst/>
            <a:ahLst/>
            <a:cxnLst/>
            <a:rect l="l" t="t" r="r" b="b"/>
            <a:pathLst>
              <a:path w="57687" h="57687">
                <a:moveTo>
                  <a:pt x="57687" y="0"/>
                </a:moveTo>
                <a:lnTo>
                  <a:pt x="57687" y="57687"/>
                </a:lnTo>
                <a:lnTo>
                  <a:pt x="0" y="57687"/>
                </a:lnTo>
                <a:lnTo>
                  <a:pt x="0" y="15452"/>
                </a:lnTo>
                <a:lnTo>
                  <a:pt x="30293" y="16534"/>
                </a:lnTo>
                <a:lnTo>
                  <a:pt x="29855"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6" name="Illustrative delivered road transport cost class 1; reference terminal Durban"/>
          <p:cNvSpPr/>
          <p:nvPr/>
        </p:nvSpPr>
        <p:spPr>
          <a:xfrm>
            <a:off x="5291165" y="3594576"/>
            <a:ext cx="28294" cy="57686"/>
          </a:xfrm>
          <a:custGeom>
            <a:avLst/>
            <a:gdLst/>
            <a:ahLst/>
            <a:cxnLst/>
            <a:rect l="l" t="t" r="r" b="b"/>
            <a:pathLst>
              <a:path w="28294" h="57686">
                <a:moveTo>
                  <a:pt x="28294" y="0"/>
                </a:moveTo>
                <a:lnTo>
                  <a:pt x="28294" y="57686"/>
                </a:lnTo>
                <a:lnTo>
                  <a:pt x="462" y="57686"/>
                </a:lnTo>
                <a:lnTo>
                  <a:pt x="0" y="40259"/>
                </a:lnTo>
                <a:lnTo>
                  <a:pt x="5849" y="0"/>
                </a:lnTo>
                <a:lnTo>
                  <a:pt x="2829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7" name="Illustrative delivered road transport cost class 1; reference terminal Durban"/>
          <p:cNvSpPr/>
          <p:nvPr/>
        </p:nvSpPr>
        <p:spPr>
          <a:xfrm>
            <a:off x="5297014" y="3543224"/>
            <a:ext cx="22445" cy="51352"/>
          </a:xfrm>
          <a:custGeom>
            <a:avLst/>
            <a:gdLst/>
            <a:ahLst/>
            <a:cxnLst/>
            <a:rect l="l" t="t" r="r" b="b"/>
            <a:pathLst>
              <a:path w="22445" h="51352">
                <a:moveTo>
                  <a:pt x="22445" y="51352"/>
                </a:moveTo>
                <a:lnTo>
                  <a:pt x="0" y="51352"/>
                </a:lnTo>
                <a:lnTo>
                  <a:pt x="2019" y="37449"/>
                </a:lnTo>
                <a:lnTo>
                  <a:pt x="10365" y="1222"/>
                </a:lnTo>
                <a:lnTo>
                  <a:pt x="17336" y="0"/>
                </a:lnTo>
                <a:lnTo>
                  <a:pt x="22445" y="1698"/>
                </a:lnTo>
                <a:lnTo>
                  <a:pt x="22445" y="5135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8" name="Illustrative delivered road transport cost class 1; reference terminal Lesedi"/>
          <p:cNvSpPr/>
          <p:nvPr/>
        </p:nvSpPr>
        <p:spPr>
          <a:xfrm>
            <a:off x="5261772" y="3306143"/>
            <a:ext cx="47082" cy="23070"/>
          </a:xfrm>
          <a:custGeom>
            <a:avLst/>
            <a:gdLst/>
            <a:ahLst/>
            <a:cxnLst/>
            <a:rect l="l" t="t" r="r" b="b"/>
            <a:pathLst>
              <a:path w="47082" h="23070">
                <a:moveTo>
                  <a:pt x="0" y="0"/>
                </a:moveTo>
                <a:lnTo>
                  <a:pt x="43645" y="0"/>
                </a:lnTo>
                <a:lnTo>
                  <a:pt x="47082" y="17939"/>
                </a:lnTo>
                <a:lnTo>
                  <a:pt x="40806" y="20433"/>
                </a:lnTo>
                <a:lnTo>
                  <a:pt x="29060" y="23070"/>
                </a:lnTo>
                <a:lnTo>
                  <a:pt x="0" y="498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9" name="Illustrative delivered road transport cost class 1; reference terminal Lesedi"/>
          <p:cNvSpPr/>
          <p:nvPr/>
        </p:nvSpPr>
        <p:spPr>
          <a:xfrm>
            <a:off x="5261772" y="3248456"/>
            <a:ext cx="56621" cy="57687"/>
          </a:xfrm>
          <a:custGeom>
            <a:avLst/>
            <a:gdLst/>
            <a:ahLst/>
            <a:cxnLst/>
            <a:rect l="l" t="t" r="r" b="b"/>
            <a:pathLst>
              <a:path w="56621" h="57687">
                <a:moveTo>
                  <a:pt x="0" y="57687"/>
                </a:moveTo>
                <a:lnTo>
                  <a:pt x="0" y="0"/>
                </a:lnTo>
                <a:lnTo>
                  <a:pt x="56621" y="0"/>
                </a:lnTo>
                <a:lnTo>
                  <a:pt x="43187" y="28320"/>
                </a:lnTo>
                <a:lnTo>
                  <a:pt x="43493" y="56897"/>
                </a:lnTo>
                <a:lnTo>
                  <a:pt x="4364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0" name="Illustrative delivered road transport cost class 1; reference terminal Lesedi"/>
          <p:cNvSpPr/>
          <p:nvPr/>
        </p:nvSpPr>
        <p:spPr>
          <a:xfrm>
            <a:off x="5261772" y="3190770"/>
            <a:ext cx="57687" cy="57686"/>
          </a:xfrm>
          <a:custGeom>
            <a:avLst/>
            <a:gdLst/>
            <a:ahLst/>
            <a:cxnLst/>
            <a:rect l="l" t="t" r="r" b="b"/>
            <a:pathLst>
              <a:path w="57687" h="57686">
                <a:moveTo>
                  <a:pt x="0" y="57686"/>
                </a:moveTo>
                <a:lnTo>
                  <a:pt x="0" y="0"/>
                </a:lnTo>
                <a:lnTo>
                  <a:pt x="57687" y="0"/>
                </a:lnTo>
                <a:lnTo>
                  <a:pt x="57687" y="55440"/>
                </a:lnTo>
                <a:lnTo>
                  <a:pt x="56621"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1" name="Illustrative delivered road transport cost class 1; reference terminal Lesedi"/>
          <p:cNvSpPr/>
          <p:nvPr/>
        </p:nvSpPr>
        <p:spPr>
          <a:xfrm>
            <a:off x="526177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2" name="Illustrative delivered road transport cost class 1; reference terminal Lesedi"/>
          <p:cNvSpPr/>
          <p:nvPr/>
        </p:nvSpPr>
        <p:spPr>
          <a:xfrm>
            <a:off x="526177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3" name="Illustrative delivered road transport cost class 1; reference terminal Lesedi"/>
          <p:cNvSpPr/>
          <p:nvPr/>
        </p:nvSpPr>
        <p:spPr>
          <a:xfrm>
            <a:off x="526177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4" name="Illustrative delivered road transport cost class 1; reference terminal Lesedi"/>
          <p:cNvSpPr/>
          <p:nvPr/>
        </p:nvSpPr>
        <p:spPr>
          <a:xfrm>
            <a:off x="526177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5" name="Illustrative delivered road transport cost class None; reference terminal None"/>
          <p:cNvSpPr/>
          <p:nvPr/>
        </p:nvSpPr>
        <p:spPr>
          <a:xfrm>
            <a:off x="526177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6" name="Illustrative delivered road transport cost class None; reference terminal None"/>
          <p:cNvSpPr/>
          <p:nvPr/>
        </p:nvSpPr>
        <p:spPr>
          <a:xfrm>
            <a:off x="5261772" y="2844650"/>
            <a:ext cx="57687" cy="57687"/>
          </a:xfrm>
          <a:custGeom>
            <a:avLst/>
            <a:gdLst/>
            <a:ahLst/>
            <a:cxnLst/>
            <a:rect l="l" t="t" r="r" b="b"/>
            <a:pathLst>
              <a:path w="57687" h="57687">
                <a:moveTo>
                  <a:pt x="57687" y="57687"/>
                </a:moveTo>
                <a:lnTo>
                  <a:pt x="0" y="57687"/>
                </a:lnTo>
                <a:lnTo>
                  <a:pt x="0" y="0"/>
                </a:lnTo>
                <a:lnTo>
                  <a:pt x="54116" y="0"/>
                </a:lnTo>
                <a:lnTo>
                  <a:pt x="57687" y="19985"/>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7" name="Illustrative delivered road transport cost class None; reference terminal None"/>
          <p:cNvSpPr/>
          <p:nvPr/>
        </p:nvSpPr>
        <p:spPr>
          <a:xfrm>
            <a:off x="5261772" y="2786964"/>
            <a:ext cx="54116" cy="57686"/>
          </a:xfrm>
          <a:custGeom>
            <a:avLst/>
            <a:gdLst/>
            <a:ahLst/>
            <a:cxnLst/>
            <a:rect l="l" t="t" r="r" b="b"/>
            <a:pathLst>
              <a:path w="54116" h="57686">
                <a:moveTo>
                  <a:pt x="0" y="57686"/>
                </a:moveTo>
                <a:lnTo>
                  <a:pt x="0" y="0"/>
                </a:lnTo>
                <a:lnTo>
                  <a:pt x="35399" y="0"/>
                </a:lnTo>
                <a:lnTo>
                  <a:pt x="40218" y="7573"/>
                </a:lnTo>
                <a:lnTo>
                  <a:pt x="52053" y="46139"/>
                </a:lnTo>
                <a:lnTo>
                  <a:pt x="5411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8" name="Illustrative delivered road transport cost class None; reference terminal None"/>
          <p:cNvSpPr/>
          <p:nvPr/>
        </p:nvSpPr>
        <p:spPr>
          <a:xfrm>
            <a:off x="5261772" y="2729277"/>
            <a:ext cx="35399" cy="57687"/>
          </a:xfrm>
          <a:custGeom>
            <a:avLst/>
            <a:gdLst/>
            <a:ahLst/>
            <a:cxnLst/>
            <a:rect l="l" t="t" r="r" b="b"/>
            <a:pathLst>
              <a:path w="35399" h="57687">
                <a:moveTo>
                  <a:pt x="0" y="57687"/>
                </a:moveTo>
                <a:lnTo>
                  <a:pt x="0" y="0"/>
                </a:lnTo>
                <a:lnTo>
                  <a:pt x="10034" y="0"/>
                </a:lnTo>
                <a:lnTo>
                  <a:pt x="13880" y="8018"/>
                </a:lnTo>
                <a:lnTo>
                  <a:pt x="18746" y="25906"/>
                </a:lnTo>
                <a:lnTo>
                  <a:pt x="23734" y="39353"/>
                </a:lnTo>
                <a:lnTo>
                  <a:pt x="3539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9" name="Illustrative delivered road transport cost class None; reference terminal None"/>
          <p:cNvSpPr/>
          <p:nvPr/>
        </p:nvSpPr>
        <p:spPr>
          <a:xfrm>
            <a:off x="5261772" y="2708364"/>
            <a:ext cx="10034" cy="20913"/>
          </a:xfrm>
          <a:custGeom>
            <a:avLst/>
            <a:gdLst/>
            <a:ahLst/>
            <a:cxnLst/>
            <a:rect l="l" t="t" r="r" b="b"/>
            <a:pathLst>
              <a:path w="10034" h="20913">
                <a:moveTo>
                  <a:pt x="0" y="20913"/>
                </a:moveTo>
                <a:lnTo>
                  <a:pt x="0" y="0"/>
                </a:lnTo>
                <a:lnTo>
                  <a:pt x="10034" y="20913"/>
                </a:lnTo>
                <a:lnTo>
                  <a:pt x="0" y="2091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0" name="Illustrative delivered road transport cost class 0; reference terminal Durban"/>
          <p:cNvSpPr/>
          <p:nvPr/>
        </p:nvSpPr>
        <p:spPr>
          <a:xfrm>
            <a:off x="5319459" y="3998382"/>
            <a:ext cx="35067" cy="34068"/>
          </a:xfrm>
          <a:custGeom>
            <a:avLst/>
            <a:gdLst/>
            <a:ahLst/>
            <a:cxnLst/>
            <a:rect l="l" t="t" r="r" b="b"/>
            <a:pathLst>
              <a:path w="35067" h="34068">
                <a:moveTo>
                  <a:pt x="0" y="0"/>
                </a:moveTo>
                <a:lnTo>
                  <a:pt x="35067" y="0"/>
                </a:lnTo>
                <a:lnTo>
                  <a:pt x="26933" y="11159"/>
                </a:lnTo>
                <a:lnTo>
                  <a:pt x="0" y="34068"/>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1" name="Illustrative delivered road transport cost class 0; reference terminal Durban"/>
          <p:cNvSpPr/>
          <p:nvPr/>
        </p:nvSpPr>
        <p:spPr>
          <a:xfrm>
            <a:off x="5319459" y="3940695"/>
            <a:ext cx="57686" cy="57687"/>
          </a:xfrm>
          <a:custGeom>
            <a:avLst/>
            <a:gdLst/>
            <a:ahLst/>
            <a:cxnLst/>
            <a:rect l="l" t="t" r="r" b="b"/>
            <a:pathLst>
              <a:path w="57686" h="57687">
                <a:moveTo>
                  <a:pt x="0" y="57687"/>
                </a:moveTo>
                <a:lnTo>
                  <a:pt x="0" y="0"/>
                </a:lnTo>
                <a:lnTo>
                  <a:pt x="57686" y="0"/>
                </a:lnTo>
                <a:lnTo>
                  <a:pt x="57686" y="22764"/>
                </a:lnTo>
                <a:lnTo>
                  <a:pt x="48992" y="38582"/>
                </a:lnTo>
                <a:lnTo>
                  <a:pt x="350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2" name="Illustrative delivered road transport cost class 0; reference terminal Durban"/>
          <p:cNvSpPr/>
          <p:nvPr/>
        </p:nvSpPr>
        <p:spPr>
          <a:xfrm>
            <a:off x="531945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3" name="Illustrative delivered road transport cost class 0; reference terminal Durban"/>
          <p:cNvSpPr/>
          <p:nvPr/>
        </p:nvSpPr>
        <p:spPr>
          <a:xfrm>
            <a:off x="531945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4" name="Illustrative delivered road transport cost class 0; reference terminal Durban"/>
          <p:cNvSpPr/>
          <p:nvPr/>
        </p:nvSpPr>
        <p:spPr>
          <a:xfrm>
            <a:off x="531945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5" name="Illustrative delivered road transport cost class 1; reference terminal Durban"/>
          <p:cNvSpPr/>
          <p:nvPr/>
        </p:nvSpPr>
        <p:spPr>
          <a:xfrm>
            <a:off x="531945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6" name="Illustrative delivered road transport cost class 1; reference terminal Durban"/>
          <p:cNvSpPr/>
          <p:nvPr/>
        </p:nvSpPr>
        <p:spPr>
          <a:xfrm>
            <a:off x="531945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7" name="Illustrative delivered road transport cost class 1; reference terminal Durban"/>
          <p:cNvSpPr/>
          <p:nvPr/>
        </p:nvSpPr>
        <p:spPr>
          <a:xfrm>
            <a:off x="531945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8" name="Illustrative delivered road transport cost class 1; reference terminal Durban"/>
          <p:cNvSpPr/>
          <p:nvPr/>
        </p:nvSpPr>
        <p:spPr>
          <a:xfrm>
            <a:off x="5319459" y="3544922"/>
            <a:ext cx="57686" cy="49654"/>
          </a:xfrm>
          <a:custGeom>
            <a:avLst/>
            <a:gdLst/>
            <a:ahLst/>
            <a:cxnLst/>
            <a:rect l="l" t="t" r="r" b="b"/>
            <a:pathLst>
              <a:path w="57686" h="49654">
                <a:moveTo>
                  <a:pt x="57686" y="49654"/>
                </a:moveTo>
                <a:lnTo>
                  <a:pt x="0" y="49654"/>
                </a:lnTo>
                <a:lnTo>
                  <a:pt x="0" y="0"/>
                </a:lnTo>
                <a:lnTo>
                  <a:pt x="7692" y="2558"/>
                </a:lnTo>
                <a:lnTo>
                  <a:pt x="14625" y="6723"/>
                </a:lnTo>
                <a:lnTo>
                  <a:pt x="34541" y="6379"/>
                </a:lnTo>
                <a:lnTo>
                  <a:pt x="57686" y="12580"/>
                </a:lnTo>
                <a:lnTo>
                  <a:pt x="57686" y="4965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9" name="Illustrative delivered road transport cost class 1; reference terminal Lesedi"/>
          <p:cNvSpPr/>
          <p:nvPr/>
        </p:nvSpPr>
        <p:spPr>
          <a:xfrm>
            <a:off x="5319459" y="3190770"/>
            <a:ext cx="4173" cy="55440"/>
          </a:xfrm>
          <a:custGeom>
            <a:avLst/>
            <a:gdLst/>
            <a:ahLst/>
            <a:cxnLst/>
            <a:rect l="l" t="t" r="r" b="b"/>
            <a:pathLst>
              <a:path w="4173" h="55440">
                <a:moveTo>
                  <a:pt x="0" y="0"/>
                </a:moveTo>
                <a:lnTo>
                  <a:pt x="4173" y="0"/>
                </a:lnTo>
                <a:lnTo>
                  <a:pt x="2308" y="50574"/>
                </a:lnTo>
                <a:lnTo>
                  <a:pt x="0" y="5544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0" name="Illustrative delivered road transport cost class 1; reference terminal Lesedi"/>
          <p:cNvSpPr/>
          <p:nvPr/>
        </p:nvSpPr>
        <p:spPr>
          <a:xfrm>
            <a:off x="5319459" y="3133083"/>
            <a:ext cx="8638" cy="57687"/>
          </a:xfrm>
          <a:custGeom>
            <a:avLst/>
            <a:gdLst/>
            <a:ahLst/>
            <a:cxnLst/>
            <a:rect l="l" t="t" r="r" b="b"/>
            <a:pathLst>
              <a:path w="8638" h="57687">
                <a:moveTo>
                  <a:pt x="0" y="57687"/>
                </a:moveTo>
                <a:lnTo>
                  <a:pt x="0" y="0"/>
                </a:lnTo>
                <a:lnTo>
                  <a:pt x="8638" y="0"/>
                </a:lnTo>
                <a:lnTo>
                  <a:pt x="7964" y="14155"/>
                </a:lnTo>
                <a:lnTo>
                  <a:pt x="4878" y="38579"/>
                </a:lnTo>
                <a:lnTo>
                  <a:pt x="417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1" name="Illustrative delivered road transport cost class 1; reference terminal Lesedi"/>
          <p:cNvSpPr/>
          <p:nvPr/>
        </p:nvSpPr>
        <p:spPr>
          <a:xfrm>
            <a:off x="5319459" y="3075396"/>
            <a:ext cx="11392" cy="57687"/>
          </a:xfrm>
          <a:custGeom>
            <a:avLst/>
            <a:gdLst/>
            <a:ahLst/>
            <a:cxnLst/>
            <a:rect l="l" t="t" r="r" b="b"/>
            <a:pathLst>
              <a:path w="11392" h="57687">
                <a:moveTo>
                  <a:pt x="0" y="57687"/>
                </a:moveTo>
                <a:lnTo>
                  <a:pt x="0" y="0"/>
                </a:lnTo>
                <a:lnTo>
                  <a:pt x="11392" y="0"/>
                </a:lnTo>
                <a:lnTo>
                  <a:pt x="10271" y="23375"/>
                </a:lnTo>
                <a:lnTo>
                  <a:pt x="863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2" name="Illustrative delivered road transport cost class 1; reference terminal Lesedi"/>
          <p:cNvSpPr/>
          <p:nvPr/>
        </p:nvSpPr>
        <p:spPr>
          <a:xfrm>
            <a:off x="5319459" y="3017710"/>
            <a:ext cx="14156" cy="57686"/>
          </a:xfrm>
          <a:custGeom>
            <a:avLst/>
            <a:gdLst/>
            <a:ahLst/>
            <a:cxnLst/>
            <a:rect l="l" t="t" r="r" b="b"/>
            <a:pathLst>
              <a:path w="14156" h="57686">
                <a:moveTo>
                  <a:pt x="0" y="57686"/>
                </a:moveTo>
                <a:lnTo>
                  <a:pt x="0" y="0"/>
                </a:lnTo>
                <a:lnTo>
                  <a:pt x="14156" y="0"/>
                </a:lnTo>
                <a:lnTo>
                  <a:pt x="13087" y="22344"/>
                </a:lnTo>
                <a:lnTo>
                  <a:pt x="11392"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3" name="Illustrative delivered road transport cost class 1; reference terminal Lesedi"/>
          <p:cNvSpPr/>
          <p:nvPr/>
        </p:nvSpPr>
        <p:spPr>
          <a:xfrm>
            <a:off x="5319459" y="2960023"/>
            <a:ext cx="17427" cy="57687"/>
          </a:xfrm>
          <a:custGeom>
            <a:avLst/>
            <a:gdLst/>
            <a:ahLst/>
            <a:cxnLst/>
            <a:rect l="l" t="t" r="r" b="b"/>
            <a:pathLst>
              <a:path w="17427" h="57687">
                <a:moveTo>
                  <a:pt x="0" y="57687"/>
                </a:moveTo>
                <a:lnTo>
                  <a:pt x="0" y="0"/>
                </a:lnTo>
                <a:lnTo>
                  <a:pt x="17427" y="0"/>
                </a:lnTo>
                <a:lnTo>
                  <a:pt x="15603" y="27458"/>
                </a:lnTo>
                <a:lnTo>
                  <a:pt x="1415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4" name="Illustrative delivered road transport cost class None; reference terminal None"/>
          <p:cNvSpPr/>
          <p:nvPr/>
        </p:nvSpPr>
        <p:spPr>
          <a:xfrm>
            <a:off x="5319459" y="2902337"/>
            <a:ext cx="18614" cy="57686"/>
          </a:xfrm>
          <a:custGeom>
            <a:avLst/>
            <a:gdLst/>
            <a:ahLst/>
            <a:cxnLst/>
            <a:rect l="l" t="t" r="r" b="b"/>
            <a:pathLst>
              <a:path w="18614" h="57686">
                <a:moveTo>
                  <a:pt x="0" y="57686"/>
                </a:moveTo>
                <a:lnTo>
                  <a:pt x="0" y="0"/>
                </a:lnTo>
                <a:lnTo>
                  <a:pt x="9987" y="0"/>
                </a:lnTo>
                <a:lnTo>
                  <a:pt x="12128" y="6045"/>
                </a:lnTo>
                <a:lnTo>
                  <a:pt x="15252" y="18054"/>
                </a:lnTo>
                <a:lnTo>
                  <a:pt x="18614" y="39809"/>
                </a:lnTo>
                <a:lnTo>
                  <a:pt x="1742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5" name="Illustrative delivered road transport cost class None; reference terminal None"/>
          <p:cNvSpPr/>
          <p:nvPr/>
        </p:nvSpPr>
        <p:spPr>
          <a:xfrm>
            <a:off x="5319459" y="2864635"/>
            <a:ext cx="9987" cy="37702"/>
          </a:xfrm>
          <a:custGeom>
            <a:avLst/>
            <a:gdLst/>
            <a:ahLst/>
            <a:cxnLst/>
            <a:rect l="l" t="t" r="r" b="b"/>
            <a:pathLst>
              <a:path w="9987" h="37702">
                <a:moveTo>
                  <a:pt x="0" y="37702"/>
                </a:moveTo>
                <a:lnTo>
                  <a:pt x="0" y="0"/>
                </a:lnTo>
                <a:lnTo>
                  <a:pt x="3424" y="19169"/>
                </a:lnTo>
                <a:lnTo>
                  <a:pt x="9987" y="37702"/>
                </a:lnTo>
                <a:lnTo>
                  <a:pt x="0" y="3770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6" name="Illustrative delivered road transport cost class 0; reference terminal Durban"/>
          <p:cNvSpPr/>
          <p:nvPr/>
        </p:nvSpPr>
        <p:spPr>
          <a:xfrm>
            <a:off x="5377145" y="3940695"/>
            <a:ext cx="12511" cy="22764"/>
          </a:xfrm>
          <a:custGeom>
            <a:avLst/>
            <a:gdLst/>
            <a:ahLst/>
            <a:cxnLst/>
            <a:rect l="l" t="t" r="r" b="b"/>
            <a:pathLst>
              <a:path w="12511" h="22764">
                <a:moveTo>
                  <a:pt x="0" y="0"/>
                </a:moveTo>
                <a:lnTo>
                  <a:pt x="12511" y="0"/>
                </a:lnTo>
                <a:lnTo>
                  <a:pt x="0" y="2276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7" name="Illustrative delivered road transport cost class 0; reference terminal Durban"/>
          <p:cNvSpPr/>
          <p:nvPr/>
        </p:nvSpPr>
        <p:spPr>
          <a:xfrm>
            <a:off x="5377145" y="3883008"/>
            <a:ext cx="37524" cy="57687"/>
          </a:xfrm>
          <a:custGeom>
            <a:avLst/>
            <a:gdLst/>
            <a:ahLst/>
            <a:cxnLst/>
            <a:rect l="l" t="t" r="r" b="b"/>
            <a:pathLst>
              <a:path w="37524" h="57687">
                <a:moveTo>
                  <a:pt x="0" y="57687"/>
                </a:moveTo>
                <a:lnTo>
                  <a:pt x="0" y="0"/>
                </a:lnTo>
                <a:lnTo>
                  <a:pt x="37524" y="0"/>
                </a:lnTo>
                <a:lnTo>
                  <a:pt x="32013" y="22204"/>
                </a:lnTo>
                <a:lnTo>
                  <a:pt x="1251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8" name="Illustrative delivered road transport cost class 0; reference terminal Durban"/>
          <p:cNvSpPr/>
          <p:nvPr/>
        </p:nvSpPr>
        <p:spPr>
          <a:xfrm>
            <a:off x="5377145" y="3825322"/>
            <a:ext cx="51840" cy="57686"/>
          </a:xfrm>
          <a:custGeom>
            <a:avLst/>
            <a:gdLst/>
            <a:ahLst/>
            <a:cxnLst/>
            <a:rect l="l" t="t" r="r" b="b"/>
            <a:pathLst>
              <a:path w="51840" h="57686">
                <a:moveTo>
                  <a:pt x="0" y="57686"/>
                </a:moveTo>
                <a:lnTo>
                  <a:pt x="0" y="0"/>
                </a:lnTo>
                <a:lnTo>
                  <a:pt x="51840" y="0"/>
                </a:lnTo>
                <a:lnTo>
                  <a:pt x="37524"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9" name="Illustrative delivered road transport cost class 1; reference terminal Durban"/>
          <p:cNvSpPr/>
          <p:nvPr/>
        </p:nvSpPr>
        <p:spPr>
          <a:xfrm>
            <a:off x="5377145" y="3767635"/>
            <a:ext cx="57687" cy="57687"/>
          </a:xfrm>
          <a:custGeom>
            <a:avLst/>
            <a:gdLst/>
            <a:ahLst/>
            <a:cxnLst/>
            <a:rect l="l" t="t" r="r" b="b"/>
            <a:pathLst>
              <a:path w="57687" h="57687">
                <a:moveTo>
                  <a:pt x="0" y="57687"/>
                </a:moveTo>
                <a:lnTo>
                  <a:pt x="0" y="0"/>
                </a:lnTo>
                <a:lnTo>
                  <a:pt x="57687" y="0"/>
                </a:lnTo>
                <a:lnTo>
                  <a:pt x="57687" y="34128"/>
                </a:lnTo>
                <a:lnTo>
                  <a:pt x="518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0" name="Illustrative delivered road transport cost class 1; reference terminal Durban"/>
          <p:cNvSpPr/>
          <p:nvPr/>
        </p:nvSpPr>
        <p:spPr>
          <a:xfrm>
            <a:off x="537714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1" name="Illustrative delivered road transport cost class 1; reference terminal Durban"/>
          <p:cNvSpPr/>
          <p:nvPr/>
        </p:nvSpPr>
        <p:spPr>
          <a:xfrm>
            <a:off x="537714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2" name="Illustrative delivered road transport cost class 1; reference terminal Durban"/>
          <p:cNvSpPr/>
          <p:nvPr/>
        </p:nvSpPr>
        <p:spPr>
          <a:xfrm>
            <a:off x="537714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3" name="Illustrative delivered road transport cost class 1; reference terminal Durban"/>
          <p:cNvSpPr/>
          <p:nvPr/>
        </p:nvSpPr>
        <p:spPr>
          <a:xfrm>
            <a:off x="5377145" y="3557502"/>
            <a:ext cx="57687" cy="37074"/>
          </a:xfrm>
          <a:custGeom>
            <a:avLst/>
            <a:gdLst/>
            <a:ahLst/>
            <a:cxnLst/>
            <a:rect l="l" t="t" r="r" b="b"/>
            <a:pathLst>
              <a:path w="57687" h="37074">
                <a:moveTo>
                  <a:pt x="57687" y="37074"/>
                </a:moveTo>
                <a:lnTo>
                  <a:pt x="0" y="37074"/>
                </a:lnTo>
                <a:lnTo>
                  <a:pt x="0" y="0"/>
                </a:lnTo>
                <a:lnTo>
                  <a:pt x="11619" y="3113"/>
                </a:lnTo>
                <a:lnTo>
                  <a:pt x="40056" y="4064"/>
                </a:lnTo>
                <a:lnTo>
                  <a:pt x="57687" y="4681"/>
                </a:lnTo>
                <a:lnTo>
                  <a:pt x="57687" y="370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4" name="Illustrative delivered road transport cost class 1; reference terminal Durban"/>
          <p:cNvSpPr/>
          <p:nvPr/>
        </p:nvSpPr>
        <p:spPr>
          <a:xfrm>
            <a:off x="5434832" y="3767635"/>
            <a:ext cx="8469" cy="34128"/>
          </a:xfrm>
          <a:custGeom>
            <a:avLst/>
            <a:gdLst/>
            <a:ahLst/>
            <a:cxnLst/>
            <a:rect l="l" t="t" r="r" b="b"/>
            <a:pathLst>
              <a:path w="8469" h="34128">
                <a:moveTo>
                  <a:pt x="0" y="0"/>
                </a:moveTo>
                <a:lnTo>
                  <a:pt x="8469" y="0"/>
                </a:lnTo>
                <a:lnTo>
                  <a:pt x="0" y="341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5" name="Illustrative delivered road transport cost class 1; reference terminal Durban"/>
          <p:cNvSpPr/>
          <p:nvPr/>
        </p:nvSpPr>
        <p:spPr>
          <a:xfrm>
            <a:off x="5434832" y="3709949"/>
            <a:ext cx="26895" cy="57686"/>
          </a:xfrm>
          <a:custGeom>
            <a:avLst/>
            <a:gdLst/>
            <a:ahLst/>
            <a:cxnLst/>
            <a:rect l="l" t="t" r="r" b="b"/>
            <a:pathLst>
              <a:path w="26895" h="57686">
                <a:moveTo>
                  <a:pt x="0" y="57686"/>
                </a:moveTo>
                <a:lnTo>
                  <a:pt x="0" y="0"/>
                </a:lnTo>
                <a:lnTo>
                  <a:pt x="26895" y="0"/>
                </a:lnTo>
                <a:lnTo>
                  <a:pt x="25214" y="3946"/>
                </a:lnTo>
                <a:lnTo>
                  <a:pt x="11470" y="45595"/>
                </a:lnTo>
                <a:lnTo>
                  <a:pt x="846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6" name="Illustrative delivered road transport cost class 1; reference terminal Durban"/>
          <p:cNvSpPr/>
          <p:nvPr/>
        </p:nvSpPr>
        <p:spPr>
          <a:xfrm>
            <a:off x="5434832" y="3652262"/>
            <a:ext cx="51458" cy="57687"/>
          </a:xfrm>
          <a:custGeom>
            <a:avLst/>
            <a:gdLst/>
            <a:ahLst/>
            <a:cxnLst/>
            <a:rect l="l" t="t" r="r" b="b"/>
            <a:pathLst>
              <a:path w="51458" h="57687">
                <a:moveTo>
                  <a:pt x="0" y="57687"/>
                </a:moveTo>
                <a:lnTo>
                  <a:pt x="0" y="0"/>
                </a:lnTo>
                <a:lnTo>
                  <a:pt x="51458" y="0"/>
                </a:lnTo>
                <a:lnTo>
                  <a:pt x="2689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7" name="Illustrative delivered road transport cost class 1; reference terminal Durban"/>
          <p:cNvSpPr/>
          <p:nvPr/>
        </p:nvSpPr>
        <p:spPr>
          <a:xfrm>
            <a:off x="5434832" y="3594576"/>
            <a:ext cx="57686" cy="57686"/>
          </a:xfrm>
          <a:custGeom>
            <a:avLst/>
            <a:gdLst/>
            <a:ahLst/>
            <a:cxnLst/>
            <a:rect l="l" t="t" r="r" b="b"/>
            <a:pathLst>
              <a:path w="57686" h="57686">
                <a:moveTo>
                  <a:pt x="0" y="57686"/>
                </a:moveTo>
                <a:lnTo>
                  <a:pt x="0" y="0"/>
                </a:lnTo>
                <a:lnTo>
                  <a:pt x="57686" y="0"/>
                </a:lnTo>
                <a:lnTo>
                  <a:pt x="57686" y="43059"/>
                </a:lnTo>
                <a:lnTo>
                  <a:pt x="51458"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8" name="Illustrative delivered road transport cost class 1; reference terminal Durban"/>
          <p:cNvSpPr/>
          <p:nvPr/>
        </p:nvSpPr>
        <p:spPr>
          <a:xfrm>
            <a:off x="5434832" y="3562183"/>
            <a:ext cx="57686" cy="32393"/>
          </a:xfrm>
          <a:custGeom>
            <a:avLst/>
            <a:gdLst/>
            <a:ahLst/>
            <a:cxnLst/>
            <a:rect l="l" t="t" r="r" b="b"/>
            <a:pathLst>
              <a:path w="57686" h="32393">
                <a:moveTo>
                  <a:pt x="57686" y="32393"/>
                </a:moveTo>
                <a:lnTo>
                  <a:pt x="0" y="32393"/>
                </a:lnTo>
                <a:lnTo>
                  <a:pt x="0" y="0"/>
                </a:lnTo>
                <a:lnTo>
                  <a:pt x="7786" y="273"/>
                </a:lnTo>
                <a:lnTo>
                  <a:pt x="50772" y="1789"/>
                </a:lnTo>
                <a:lnTo>
                  <a:pt x="57686" y="2122"/>
                </a:lnTo>
                <a:lnTo>
                  <a:pt x="57686" y="32393"/>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9" name="Illustrative delivered road transport cost class 1; reference terminal Durban"/>
          <p:cNvSpPr/>
          <p:nvPr/>
        </p:nvSpPr>
        <p:spPr>
          <a:xfrm>
            <a:off x="5492518" y="3594576"/>
            <a:ext cx="12020" cy="43059"/>
          </a:xfrm>
          <a:custGeom>
            <a:avLst/>
            <a:gdLst/>
            <a:ahLst/>
            <a:cxnLst/>
            <a:rect l="l" t="t" r="r" b="b"/>
            <a:pathLst>
              <a:path w="12020" h="43059">
                <a:moveTo>
                  <a:pt x="0" y="0"/>
                </a:moveTo>
                <a:lnTo>
                  <a:pt x="12020" y="0"/>
                </a:lnTo>
                <a:lnTo>
                  <a:pt x="5964" y="29053"/>
                </a:lnTo>
                <a:lnTo>
                  <a:pt x="0" y="4305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0" name="Illustrative delivered road transport cost class None; reference terminal None"/>
          <p:cNvSpPr/>
          <p:nvPr/>
        </p:nvSpPr>
        <p:spPr>
          <a:xfrm>
            <a:off x="5492518" y="3564305"/>
            <a:ext cx="18147" cy="30271"/>
          </a:xfrm>
          <a:custGeom>
            <a:avLst/>
            <a:gdLst/>
            <a:ahLst/>
            <a:cxnLst/>
            <a:rect l="l" t="t" r="r" b="b"/>
            <a:pathLst>
              <a:path w="18147" h="30271">
                <a:moveTo>
                  <a:pt x="0" y="30271"/>
                </a:moveTo>
                <a:lnTo>
                  <a:pt x="0" y="0"/>
                </a:lnTo>
                <a:lnTo>
                  <a:pt x="18147" y="872"/>
                </a:lnTo>
                <a:lnTo>
                  <a:pt x="12020" y="30271"/>
                </a:lnTo>
                <a:lnTo>
                  <a:pt x="0" y="3027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2"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TextBox 512"/>
          <p:cNvSpPr txBox="1"/>
          <p:nvPr/>
        </p:nvSpPr>
        <p:spPr>
          <a:xfrm>
            <a:off x="5166221" y="4169192"/>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0A2373"/>
                </a:solidFill>
                <a:latin typeface="Lato"/>
              </a:defRPr>
            </a:pPr>
            <a:r>
              <a:t>Durban</a:t>
            </a:r>
          </a:p>
        </p:txBody>
      </p:sp>
      <p:sp>
        <p:nvSpPr>
          <p:cNvPr id="514" name="Diamond 513"/>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TextBox 514"/>
          <p:cNvSpPr txBox="1"/>
          <p:nvPr/>
        </p:nvSpPr>
        <p:spPr>
          <a:xfrm>
            <a:off x="4603291" y="3266119"/>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0A2373"/>
                </a:solidFill>
                <a:latin typeface="Lato"/>
              </a:defRPr>
            </a:pPr>
            <a:r>
              <a:t>Lesedi*</a:t>
            </a:r>
          </a:p>
        </p:txBody>
      </p:sp>
      <p:cxnSp>
        <p:nvCxnSpPr>
          <p:cNvPr id="516" name="Connector 515"/>
          <p:cNvCxnSpPr/>
          <p:nvPr/>
        </p:nvCxnSpPr>
        <p:spPr>
          <a:xfrm flipH="1" flipV="1">
            <a:off x="4908306" y="4236989"/>
            <a:ext cx="139043" cy="7850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7" name="Connector 516"/>
          <p:cNvCxnSpPr/>
          <p:nvPr/>
        </p:nvCxnSpPr>
        <p:spPr>
          <a:xfrm flipH="1" flipV="1">
            <a:off x="4776353" y="4128835"/>
            <a:ext cx="131953" cy="108154"/>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8" name="Connector 517"/>
          <p:cNvCxnSpPr/>
          <p:nvPr/>
        </p:nvCxnSpPr>
        <p:spPr>
          <a:xfrm flipH="1" flipV="1">
            <a:off x="4638838" y="3888100"/>
            <a:ext cx="137515" cy="240735"/>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9" name="Connector 518"/>
          <p:cNvCxnSpPr/>
          <p:nvPr/>
        </p:nvCxnSpPr>
        <p:spPr>
          <a:xfrm flipV="1">
            <a:off x="4638838" y="3655201"/>
            <a:ext cx="1051" cy="23289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0" name="Connector 519"/>
          <p:cNvCxnSpPr/>
          <p:nvPr/>
        </p:nvCxnSpPr>
        <p:spPr>
          <a:xfrm flipH="1" flipV="1">
            <a:off x="4477109" y="3427567"/>
            <a:ext cx="162780" cy="227634"/>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1" name="Connector 520"/>
          <p:cNvCxnSpPr/>
          <p:nvPr/>
        </p:nvCxnSpPr>
        <p:spPr>
          <a:xfrm flipH="1" flipV="1">
            <a:off x="4407683" y="3349004"/>
            <a:ext cx="69426" cy="78563"/>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2" name="Connector 521"/>
          <p:cNvCxnSpPr/>
          <p:nvPr/>
        </p:nvCxnSpPr>
        <p:spPr>
          <a:xfrm flipH="1" flipV="1">
            <a:off x="4484419" y="3412423"/>
            <a:ext cx="562930" cy="903073"/>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523" name="Connector 522"/>
          <p:cNvCxnSpPr/>
          <p:nvPr/>
        </p:nvCxnSpPr>
        <p:spPr>
          <a:xfrm flipV="1">
            <a:off x="4532053" y="4470941"/>
            <a:ext cx="150466" cy="261022"/>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4" name="Connector 523"/>
          <p:cNvCxnSpPr/>
          <p:nvPr/>
        </p:nvCxnSpPr>
        <p:spPr>
          <a:xfrm>
            <a:off x="4682519" y="4470941"/>
            <a:ext cx="225376" cy="5817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5" name="Connector 524"/>
          <p:cNvCxnSpPr/>
          <p:nvPr/>
        </p:nvCxnSpPr>
        <p:spPr>
          <a:xfrm flipV="1">
            <a:off x="4907895" y="4315496"/>
            <a:ext cx="139454" cy="213622"/>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6" name="Connector 525"/>
          <p:cNvCxnSpPr/>
          <p:nvPr/>
        </p:nvCxnSpPr>
        <p:spPr>
          <a:xfrm flipV="1">
            <a:off x="5047349" y="4037215"/>
            <a:ext cx="210381" cy="278281"/>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7" name="Connector 526"/>
          <p:cNvCxnSpPr/>
          <p:nvPr/>
        </p:nvCxnSpPr>
        <p:spPr>
          <a:xfrm flipV="1">
            <a:off x="5257730" y="3712239"/>
            <a:ext cx="57336" cy="324976"/>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8" name="Connector 527"/>
          <p:cNvCxnSpPr/>
          <p:nvPr/>
        </p:nvCxnSpPr>
        <p:spPr>
          <a:xfrm flipH="1" flipV="1">
            <a:off x="5072949" y="3578600"/>
            <a:ext cx="242117" cy="13363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9" name="Connector 528"/>
          <p:cNvCxnSpPr/>
          <p:nvPr/>
        </p:nvCxnSpPr>
        <p:spPr>
          <a:xfrm flipH="1" flipV="1">
            <a:off x="4849118" y="3448062"/>
            <a:ext cx="223831" cy="130538"/>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30" name="Connector 529"/>
          <p:cNvCxnSpPr/>
          <p:nvPr/>
        </p:nvCxnSpPr>
        <p:spPr>
          <a:xfrm flipH="1" flipV="1">
            <a:off x="4407683" y="3349004"/>
            <a:ext cx="639666" cy="966492"/>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531" name="Diamond 530"/>
          <p:cNvSpPr/>
          <p:nvPr/>
        </p:nvSpPr>
        <p:spPr>
          <a:xfrm>
            <a:off x="4965053" y="4233200"/>
            <a:ext cx="164592" cy="164592"/>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2" name="Connector 531"/>
          <p:cNvCxnSpPr/>
          <p:nvPr/>
        </p:nvCxnSpPr>
        <p:spPr>
          <a:xfrm flipH="1" flipV="1">
            <a:off x="4484419" y="3412423"/>
            <a:ext cx="562930" cy="903073"/>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533" name="Connector 532"/>
          <p:cNvCxnSpPr/>
          <p:nvPr/>
        </p:nvCxnSpPr>
        <p:spPr>
          <a:xfrm flipH="1" flipV="1">
            <a:off x="4407683" y="3349004"/>
            <a:ext cx="76736" cy="63419"/>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4" name="Connector 533"/>
          <p:cNvCxnSpPr/>
          <p:nvPr/>
        </p:nvCxnSpPr>
        <p:spPr>
          <a:xfrm flipV="1">
            <a:off x="4407683" y="3234833"/>
            <a:ext cx="35153" cy="114171"/>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5" name="Connector 534"/>
          <p:cNvCxnSpPr/>
          <p:nvPr/>
        </p:nvCxnSpPr>
        <p:spPr>
          <a:xfrm>
            <a:off x="3869319" y="3105553"/>
            <a:ext cx="353970" cy="103938"/>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6" name="Connector 535"/>
          <p:cNvCxnSpPr/>
          <p:nvPr/>
        </p:nvCxnSpPr>
        <p:spPr>
          <a:xfrm>
            <a:off x="4223289" y="3209491"/>
            <a:ext cx="219547" cy="25342"/>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7" name="Connector 536"/>
          <p:cNvCxnSpPr/>
          <p:nvPr/>
        </p:nvCxnSpPr>
        <p:spPr>
          <a:xfrm>
            <a:off x="4442836" y="3234833"/>
            <a:ext cx="239629" cy="37995"/>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8" name="Connector 537"/>
          <p:cNvCxnSpPr/>
          <p:nvPr/>
        </p:nvCxnSpPr>
        <p:spPr>
          <a:xfrm flipV="1">
            <a:off x="4682465" y="3187480"/>
            <a:ext cx="406634" cy="85348"/>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9" name="Connector 538"/>
          <p:cNvCxnSpPr/>
          <p:nvPr/>
        </p:nvCxnSpPr>
        <p:spPr>
          <a:xfrm>
            <a:off x="5089099" y="3187480"/>
            <a:ext cx="234267" cy="4764"/>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40" name="Connector 539"/>
          <p:cNvCxnSpPr/>
          <p:nvPr/>
        </p:nvCxnSpPr>
        <p:spPr>
          <a:xfrm flipV="1">
            <a:off x="4211966" y="3349004"/>
            <a:ext cx="195717" cy="366556"/>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1" name="Connector 540"/>
          <p:cNvCxnSpPr/>
          <p:nvPr/>
        </p:nvCxnSpPr>
        <p:spPr>
          <a:xfrm flipV="1">
            <a:off x="4407683" y="3234833"/>
            <a:ext cx="35153" cy="114171"/>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2" name="Connector 541"/>
          <p:cNvCxnSpPr/>
          <p:nvPr/>
        </p:nvCxnSpPr>
        <p:spPr>
          <a:xfrm flipV="1">
            <a:off x="4442836" y="2771412"/>
            <a:ext cx="307542" cy="463421"/>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3" name="Connector 542"/>
          <p:cNvCxnSpPr/>
          <p:nvPr/>
        </p:nvCxnSpPr>
        <p:spPr>
          <a:xfrm flipV="1">
            <a:off x="4750378" y="2350020"/>
            <a:ext cx="142270" cy="421392"/>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544" name="Diamond 543"/>
          <p:cNvSpPr/>
          <p:nvPr/>
        </p:nvSpPr>
        <p:spPr>
          <a:xfrm>
            <a:off x="4402123" y="3330127"/>
            <a:ext cx="164592" cy="164592"/>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Rectangle 544"/>
          <p:cNvSpPr/>
          <p:nvPr/>
        </p:nvSpPr>
        <p:spPr>
          <a:xfrm>
            <a:off x="507492" y="5966460"/>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TextBox 545"/>
          <p:cNvSpPr txBox="1"/>
          <p:nvPr/>
        </p:nvSpPr>
        <p:spPr>
          <a:xfrm>
            <a:off x="685800"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≤0.75</a:t>
            </a:r>
          </a:p>
        </p:txBody>
      </p:sp>
      <p:sp>
        <p:nvSpPr>
          <p:cNvPr id="547" name="Rectangle 546"/>
          <p:cNvSpPr/>
          <p:nvPr/>
        </p:nvSpPr>
        <p:spPr>
          <a:xfrm>
            <a:off x="1440180" y="5966460"/>
            <a:ext cx="100584" cy="100584"/>
          </a:xfrm>
          <a:prstGeom prst="rect">
            <a:avLst/>
          </a:prstGeom>
          <a:solidFill>
            <a:srgbClr val="37579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TextBox 547"/>
          <p:cNvSpPr txBox="1"/>
          <p:nvPr/>
        </p:nvSpPr>
        <p:spPr>
          <a:xfrm>
            <a:off x="1618488"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0.75–1.25</a:t>
            </a:r>
          </a:p>
        </p:txBody>
      </p:sp>
      <p:sp>
        <p:nvSpPr>
          <p:cNvPr id="549" name="Rectangle 548"/>
          <p:cNvSpPr/>
          <p:nvPr/>
        </p:nvSpPr>
        <p:spPr>
          <a:xfrm>
            <a:off x="2372868" y="5966460"/>
            <a:ext cx="100584" cy="100584"/>
          </a:xfrm>
          <a:prstGeom prst="rect">
            <a:avLst/>
          </a:prstGeom>
          <a:solidFill>
            <a:srgbClr val="728BBB"/>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TextBox 549"/>
          <p:cNvSpPr txBox="1"/>
          <p:nvPr/>
        </p:nvSpPr>
        <p:spPr>
          <a:xfrm>
            <a:off x="2551176"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1.25–1.75</a:t>
            </a:r>
          </a:p>
        </p:txBody>
      </p:sp>
      <p:sp>
        <p:nvSpPr>
          <p:cNvPr id="551" name="Rectangle 550"/>
          <p:cNvSpPr/>
          <p:nvPr/>
        </p:nvSpPr>
        <p:spPr>
          <a:xfrm>
            <a:off x="3305556" y="5966460"/>
            <a:ext cx="100584" cy="100584"/>
          </a:xfrm>
          <a:prstGeom prst="rect">
            <a:avLst/>
          </a:prstGeom>
          <a:solidFill>
            <a:srgbClr val="A9BDDC"/>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TextBox 551"/>
          <p:cNvSpPr txBox="1"/>
          <p:nvPr/>
        </p:nvSpPr>
        <p:spPr>
          <a:xfrm>
            <a:off x="3483864"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1.75–2.25</a:t>
            </a:r>
          </a:p>
        </p:txBody>
      </p:sp>
      <p:sp>
        <p:nvSpPr>
          <p:cNvPr id="553" name="Rectangle 552"/>
          <p:cNvSpPr/>
          <p:nvPr/>
        </p:nvSpPr>
        <p:spPr>
          <a:xfrm>
            <a:off x="4238244" y="5966460"/>
            <a:ext cx="100584" cy="100584"/>
          </a:xfrm>
          <a:prstGeom prst="rect">
            <a:avLst/>
          </a:prstGeom>
          <a:solidFill>
            <a:srgbClr val="DDE6F2"/>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TextBox 553"/>
          <p:cNvSpPr txBox="1"/>
          <p:nvPr/>
        </p:nvSpPr>
        <p:spPr>
          <a:xfrm>
            <a:off x="4416552"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&gt;2.25</a:t>
            </a:r>
          </a:p>
        </p:txBody>
      </p:sp>
      <p:sp>
        <p:nvSpPr>
          <p:cNvPr id="555" name="Rectangle 554"/>
          <p:cNvSpPr/>
          <p:nvPr/>
        </p:nvSpPr>
        <p:spPr>
          <a:xfrm>
            <a:off x="5253228" y="5966460"/>
            <a:ext cx="100584" cy="100584"/>
          </a:xfrm>
          <a:prstGeom prst="rect">
            <a:avLst/>
          </a:pr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TextBox 555"/>
          <p:cNvSpPr txBox="1"/>
          <p:nvPr/>
        </p:nvSpPr>
        <p:spPr>
          <a:xfrm>
            <a:off x="5431536" y="5888736"/>
            <a:ext cx="123444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Unassessed</a:t>
            </a:r>
          </a:p>
        </p:txBody>
      </p:sp>
      <p:sp>
        <p:nvSpPr>
          <p:cNvPr id="558" name="TextBox 557"/>
          <p:cNvSpPr txBox="1"/>
          <p:nvPr/>
        </p:nvSpPr>
        <p:spPr>
          <a:xfrm>
            <a:off x="457200" y="6153912"/>
            <a:ext cx="6446520" cy="192024"/>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Example rate: R0.15/L dispatch + R0.002/L/km. Grey = unassessed.</a:t>
            </a:r>
          </a:p>
        </p:txBody>
      </p:sp>
      <p:sp>
        <p:nvSpPr>
          <p:cNvPr id="559" name="TextBox 558"/>
          <p:cNvSpPr txBox="1"/>
          <p:nvPr/>
        </p:nvSpPr>
        <p:spPr>
          <a:xfrm>
            <a:off x="457200" y="6391656"/>
            <a:ext cx="653796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Illustrative road cost only. Pipeline/rail access and commercial rights are not priced.</a:t>
            </a:r>
          </a:p>
        </p:txBody>
      </p:sp>
      <p:cxnSp>
        <p:nvCxnSpPr>
          <p:cNvPr id="2545" name="Connector 254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572" name="Connector 257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00" name="Connector 259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28" name="Connector 262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56" name="Connector 265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84" name="Connector 268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12" name="Connector 271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40" name="Connector 273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69" name="Connector 2768"/>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98" name="Connector 279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801" name="TextBox 2800"/>
          <p:cNvSpPr txBox="1"/>
          <p:nvPr/>
        </p:nvSpPr>
        <p:spPr>
          <a:xfrm>
            <a:off x="457200" y="1627632"/>
            <a:ext cx="6446520" cy="384048"/>
          </a:xfrm>
          <a:prstGeom prst="rect">
            <a:avLst/>
          </a:prstGeom>
          <a:noFill/>
        </p:spPr>
        <p:txBody>
          <a:bodyPr wrap="none" lIns="22860" rIns="22860" tIns="0" bIns="0">
            <a:spAutoFit/>
          </a:bodyPr>
          <a:lstStyle/>
          <a:p>
            <a:pPr>
              <a:defRPr sz="1400" b="1">
                <a:solidFill>
                  <a:srgbClr val="000000"/>
                </a:solidFill>
                <a:latin typeface="Lato"/>
              </a:defRPr>
            </a:pPr>
            <a:r>
              <a:rPr sz="1400" b="1">
                <a:latin typeface="Lato"/>
              </a:rPr>
              <a:t>Road-delivery accessibility | illustrative transport cost, R/litre</a:t>
            </a:r>
          </a:p>
        </p:txBody>
      </p:sp>
      <p:cxnSp>
        <p:nvCxnSpPr>
          <p:cNvPr id="2802" name="Connector 2801"/>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803" name="Transnet lease overlay: Isosceles Triangle 2802"/>
          <p:cNvSpPr/>
          <p:nvPr/>
        </p:nvSpPr>
        <p:spPr>
          <a:xfrm>
            <a:off x="4748449" y="3924272"/>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04" name="Transnet lease overlay: Connector 2803"/>
          <p:cNvCxnSpPr/>
          <p:nvPr/>
        </p:nvCxnSpPr>
        <p:spPr>
          <a:xfrm>
            <a:off x="4785025" y="3960848"/>
            <a:ext cx="137160" cy="9144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805" name="Transnet lease overlay: TextBox 2804"/>
          <p:cNvSpPr txBox="1"/>
          <p:nvPr/>
        </p:nvSpPr>
        <p:spPr>
          <a:xfrm>
            <a:off x="4858177" y="398828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1</a:t>
            </a:r>
          </a:p>
        </p:txBody>
      </p:sp>
      <p:sp>
        <p:nvSpPr>
          <p:cNvPr id="2806" name="Transnet lease overlay: Isosceles Triangle 2805"/>
          <p:cNvSpPr/>
          <p:nvPr/>
        </p:nvSpPr>
        <p:spPr>
          <a:xfrm>
            <a:off x="4635581" y="3512195"/>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07" name="Transnet lease overlay: Connector 2806"/>
          <p:cNvCxnSpPr/>
          <p:nvPr/>
        </p:nvCxnSpPr>
        <p:spPr>
          <a:xfrm flipV="1">
            <a:off x="4672157" y="3503051"/>
            <a:ext cx="137160"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808" name="Transnet lease overlay: TextBox 2807"/>
          <p:cNvSpPr txBox="1"/>
          <p:nvPr/>
        </p:nvSpPr>
        <p:spPr>
          <a:xfrm>
            <a:off x="4745309" y="3439043"/>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2</a:t>
            </a:r>
          </a:p>
        </p:txBody>
      </p:sp>
      <p:sp>
        <p:nvSpPr>
          <p:cNvPr id="2809" name="Transnet lease overlay: Isosceles Triangle 2808"/>
          <p:cNvSpPr/>
          <p:nvPr/>
        </p:nvSpPr>
        <p:spPr>
          <a:xfrm>
            <a:off x="4174679" y="3685610"/>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10" name="Transnet lease overlay: Connector 2809"/>
          <p:cNvCxnSpPr/>
          <p:nvPr/>
        </p:nvCxnSpPr>
        <p:spPr>
          <a:xfrm flipH="1" flipV="1">
            <a:off x="3909503" y="3676466"/>
            <a:ext cx="301752"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811" name="Transnet lease overlay: TextBox 2810"/>
          <p:cNvSpPr txBox="1"/>
          <p:nvPr/>
        </p:nvSpPr>
        <p:spPr>
          <a:xfrm>
            <a:off x="3845495" y="3612458"/>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3</a:t>
            </a:r>
          </a:p>
        </p:txBody>
      </p:sp>
      <p:sp>
        <p:nvSpPr>
          <p:cNvPr id="2812" name="Transnet lease overlay: Isosceles Triangle 2811"/>
          <p:cNvSpPr/>
          <p:nvPr/>
        </p:nvSpPr>
        <p:spPr>
          <a:xfrm>
            <a:off x="4414479" y="3832751"/>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13" name="Transnet lease overlay: Connector 2812"/>
          <p:cNvCxnSpPr/>
          <p:nvPr/>
        </p:nvCxnSpPr>
        <p:spPr>
          <a:xfrm flipH="1">
            <a:off x="4377903" y="3869327"/>
            <a:ext cx="73152" cy="12801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814" name="Transnet lease overlay: TextBox 2813"/>
          <p:cNvSpPr txBox="1"/>
          <p:nvPr/>
        </p:nvSpPr>
        <p:spPr>
          <a:xfrm>
            <a:off x="4313895" y="3933335"/>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4</a:t>
            </a:r>
          </a:p>
        </p:txBody>
      </p:sp>
      <p:sp>
        <p:nvSpPr>
          <p:cNvPr id="2815" name="Transnet lease overlay: Isosceles Triangle 2814"/>
          <p:cNvSpPr/>
          <p:nvPr/>
        </p:nvSpPr>
        <p:spPr>
          <a:xfrm>
            <a:off x="4194803" y="3670658"/>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16" name="Transnet lease overlay: Connector 2815"/>
          <p:cNvCxnSpPr/>
          <p:nvPr/>
        </p:nvCxnSpPr>
        <p:spPr>
          <a:xfrm flipH="1" flipV="1">
            <a:off x="4094219" y="3624938"/>
            <a:ext cx="137160" cy="8229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817" name="Transnet lease overlay: TextBox 2816"/>
          <p:cNvSpPr txBox="1"/>
          <p:nvPr/>
        </p:nvSpPr>
        <p:spPr>
          <a:xfrm>
            <a:off x="4030211" y="356093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5</a:t>
            </a:r>
          </a:p>
        </p:txBody>
      </p:sp>
      <p:sp>
        <p:nvSpPr>
          <p:cNvPr id="2818" name="Transnet lease overlay: TextBox 2817"/>
          <p:cNvSpPr txBox="1"/>
          <p:nvPr/>
        </p:nvSpPr>
        <p:spPr>
          <a:xfrm>
            <a:off x="594360" y="3776472"/>
            <a:ext cx="2029968" cy="932688"/>
          </a:xfrm>
          <a:prstGeom prst="rect">
            <a:avLst/>
          </a:prstGeom>
          <a:solidFill>
            <a:srgbClr val="FFFFFF"/>
          </a:solidFill>
        </p:spPr>
        <p:txBody>
          <a:bodyPr wrap="square" lIns="22860" rIns="22860" tIns="0" bIns="0">
            <a:spAutoFit/>
          </a:bodyPr>
          <a:lstStyle/>
          <a:p>
            <a:pPr>
              <a:spcAft>
                <a:spcPts val="300"/>
              </a:spcAft>
              <a:defRPr sz="1100" b="1">
                <a:solidFill>
                  <a:srgbClr val="000000"/>
                </a:solidFill>
                <a:latin typeface="Lato"/>
              </a:defRPr>
            </a:pPr>
            <a:r>
              <a:t>   Transnet lease offers</a:t>
            </a:r>
          </a:p>
          <a:p>
            <a:pPr>
              <a:spcAft>
                <a:spcPts val="300"/>
              </a:spcAft>
              <a:defRPr sz="1100" b="1">
                <a:solidFill>
                  <a:srgbClr val="000000"/>
                </a:solidFill>
                <a:latin typeface="Lato"/>
              </a:defRPr>
            </a:pPr>
            <a:r>
              <a:t>1 Ladysmith | 2 Standerton</a:t>
            </a:r>
          </a:p>
          <a:p>
            <a:pPr>
              <a:spcAft>
                <a:spcPts val="300"/>
              </a:spcAft>
              <a:defRPr sz="1100" b="1">
                <a:solidFill>
                  <a:srgbClr val="000000"/>
                </a:solidFill>
                <a:latin typeface="Lato"/>
              </a:defRPr>
            </a:pPr>
            <a:r>
              <a:t>3 Kroonstad | 4 Bethlehem</a:t>
            </a:r>
          </a:p>
          <a:p>
            <a:pPr>
              <a:spcAft>
                <a:spcPts val="300"/>
              </a:spcAft>
              <a:defRPr sz="1100" b="1">
                <a:solidFill>
                  <a:srgbClr val="000000"/>
                </a:solidFill>
                <a:latin typeface="Lato"/>
              </a:defRPr>
            </a:pPr>
            <a:r>
              <a:t>5 Magdala*</a:t>
            </a:r>
          </a:p>
        </p:txBody>
      </p:sp>
      <p:sp>
        <p:nvSpPr>
          <p:cNvPr id="2819" name="Transnet lease overlay: Isosceles Triangle 2818"/>
          <p:cNvSpPr/>
          <p:nvPr/>
        </p:nvSpPr>
        <p:spPr>
          <a:xfrm>
            <a:off x="612647" y="3808476"/>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0" name="TextBox 2819"/>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Evidence and implications</a:t>
            </a:r>
          </a:p>
        </p:txBody>
      </p:sp>
      <p:sp>
        <p:nvSpPr>
          <p:cNvPr id="2821" name="TextBox 2820"/>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Darker cells mean lower example cost</a:t>
            </a:r>
          </a:p>
        </p:txBody>
      </p:sp>
      <p:sp>
        <p:nvSpPr>
          <p:cNvPr id="2822" name="TextBox 2821"/>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surface shows illustrative delivered road-transport cost in R/litre.</a:t>
            </a:r>
          </a:p>
        </p:txBody>
      </p:sp>
      <p:sp>
        <p:nvSpPr>
          <p:cNvPr id="2823" name="TextBox 2822"/>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Other modes remain context</a:t>
            </a:r>
          </a:p>
        </p:txBody>
      </p:sp>
      <p:sp>
        <p:nvSpPr>
          <p:cNvPr id="2824" name="TextBox 2823"/>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Pipeline and rail costs, capacity and access are not evaluated in this surface.</a:t>
            </a:r>
          </a:p>
        </p:txBody>
      </p:sp>
      <p:sp>
        <p:nvSpPr>
          <p:cNvPr id="2825" name="TextBox 2824"/>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Physical proximity is insufficient</a:t>
            </a:r>
          </a:p>
        </p:txBody>
      </p:sp>
      <p:sp>
        <p:nvSpPr>
          <p:cNvPr id="2826" name="TextBox 2825"/>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No operational or commercial catchment is validated by this illustration.</a:t>
            </a:r>
          </a:p>
        </p:txBody>
      </p:sp>
      <p:cxnSp>
        <p:nvCxnSpPr>
          <p:cNvPr id="2827" name="Connector 2826"/>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828" name="TextBox 2827"/>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Next steps | proposed owners</a:t>
            </a:r>
          </a:p>
        </p:txBody>
      </p:sp>
      <p:sp>
        <p:nvSpPr>
          <p:cNvPr id="2829" name="TextBox 2828"/>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and Nigel: select the first destination and obtain dated route tariffs, quotations and access evidence.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Separate demand, accessible volume and Vopak flows</a:t>
            </a:r>
          </a:p>
        </p:txBody>
      </p:sp>
      <p:sp>
        <p:nvSpPr>
          <p:cNvPr id="3" name="Slide Number Placeholder"/>
          <p:cNvSpPr>
            <a:spLocks noGrp="1"/>
          </p:cNvSpPr>
          <p:nvPr>
            <p:ph type="sldNum" sz="quarter" idx="12"/>
          </p:nvPr>
        </p:nvSpPr>
        <p:spPr/>
        <p:txBody>
          <a:bodyPr/>
          <a:lstStyle/>
          <a:p>
            <a:fld id="{85B775BA-8643-4C9E-8C12-5812EF8EBFE2}"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Illustrative CSVs and road transport rates; no actual Vopak throughput or quoted transport costs supplied.</a:t>
            </a:r>
          </a:p>
        </p:txBody>
      </p: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500 km</a:t>
            </a:r>
          </a:p>
        </p:txBody>
      </p:sp>
      <p:sp>
        <p:nvSpPr>
          <p:cNvPr id="402" name="Illustrative delivered road transport cost class None; reference terminal None"/>
          <p:cNvSpPr/>
          <p:nvPr/>
        </p:nvSpPr>
        <p:spPr>
          <a:xfrm>
            <a:off x="1777332" y="4003253"/>
            <a:ext cx="23246" cy="51234"/>
          </a:xfrm>
          <a:custGeom>
            <a:avLst/>
            <a:gdLst/>
            <a:ahLst/>
            <a:cxnLst/>
            <a:rect l="l" t="t" r="r" b="b"/>
            <a:pathLst>
              <a:path w="23246" h="51234">
                <a:moveTo>
                  <a:pt x="23246" y="51234"/>
                </a:moveTo>
                <a:lnTo>
                  <a:pt x="7894" y="29876"/>
                </a:lnTo>
                <a:lnTo>
                  <a:pt x="0" y="24297"/>
                </a:lnTo>
                <a:lnTo>
                  <a:pt x="8068" y="12224"/>
                </a:lnTo>
                <a:lnTo>
                  <a:pt x="23246" y="0"/>
                </a:lnTo>
                <a:lnTo>
                  <a:pt x="23246" y="5123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Illustrative delivered road transport cost class None; reference terminal None"/>
          <p:cNvSpPr/>
          <p:nvPr/>
        </p:nvSpPr>
        <p:spPr>
          <a:xfrm>
            <a:off x="1843178" y="4113755"/>
            <a:ext cx="15086" cy="24460"/>
          </a:xfrm>
          <a:custGeom>
            <a:avLst/>
            <a:gdLst/>
            <a:ahLst/>
            <a:cxnLst/>
            <a:rect l="l" t="t" r="r" b="b"/>
            <a:pathLst>
              <a:path w="15086" h="24460">
                <a:moveTo>
                  <a:pt x="15086" y="0"/>
                </a:moveTo>
                <a:lnTo>
                  <a:pt x="15086" y="24460"/>
                </a:lnTo>
                <a:lnTo>
                  <a:pt x="6687" y="9302"/>
                </a:lnTo>
                <a:lnTo>
                  <a:pt x="0" y="0"/>
                </a:lnTo>
                <a:lnTo>
                  <a:pt x="150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Illustrative delivered road transport cost class 4; reference terminal Lesedi"/>
          <p:cNvSpPr/>
          <p:nvPr/>
        </p:nvSpPr>
        <p:spPr>
          <a:xfrm>
            <a:off x="1801714" y="4056068"/>
            <a:ext cx="56550" cy="57687"/>
          </a:xfrm>
          <a:custGeom>
            <a:avLst/>
            <a:gdLst/>
            <a:ahLst/>
            <a:cxnLst/>
            <a:rect l="l" t="t" r="r" b="b"/>
            <a:pathLst>
              <a:path w="56550" h="57687">
                <a:moveTo>
                  <a:pt x="56550" y="0"/>
                </a:moveTo>
                <a:lnTo>
                  <a:pt x="56550" y="57687"/>
                </a:lnTo>
                <a:lnTo>
                  <a:pt x="41464" y="57687"/>
                </a:lnTo>
                <a:lnTo>
                  <a:pt x="0" y="0"/>
                </a:lnTo>
                <a:lnTo>
                  <a:pt x="565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Illustrative delivered road transport cost class 4; reference terminal Lesedi"/>
          <p:cNvSpPr/>
          <p:nvPr/>
        </p:nvSpPr>
        <p:spPr>
          <a:xfrm>
            <a:off x="1800578" y="3998382"/>
            <a:ext cx="57686" cy="57686"/>
          </a:xfrm>
          <a:custGeom>
            <a:avLst/>
            <a:gdLst/>
            <a:ahLst/>
            <a:cxnLst/>
            <a:rect l="l" t="t" r="r" b="b"/>
            <a:pathLst>
              <a:path w="57686" h="57686">
                <a:moveTo>
                  <a:pt x="57686" y="0"/>
                </a:moveTo>
                <a:lnTo>
                  <a:pt x="57686" y="57686"/>
                </a:lnTo>
                <a:lnTo>
                  <a:pt x="1136" y="57686"/>
                </a:lnTo>
                <a:lnTo>
                  <a:pt x="0" y="56105"/>
                </a:lnTo>
                <a:lnTo>
                  <a:pt x="0" y="4871"/>
                </a:lnTo>
                <a:lnTo>
                  <a:pt x="6049"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Illustrative delivered road transport cost class 4; reference terminal Lesedi"/>
          <p:cNvSpPr/>
          <p:nvPr/>
        </p:nvSpPr>
        <p:spPr>
          <a:xfrm>
            <a:off x="1806627" y="3940695"/>
            <a:ext cx="51637" cy="57687"/>
          </a:xfrm>
          <a:custGeom>
            <a:avLst/>
            <a:gdLst/>
            <a:ahLst/>
            <a:cxnLst/>
            <a:rect l="l" t="t" r="r" b="b"/>
            <a:pathLst>
              <a:path w="51637" h="57687">
                <a:moveTo>
                  <a:pt x="51637" y="0"/>
                </a:moveTo>
                <a:lnTo>
                  <a:pt x="51637" y="57687"/>
                </a:lnTo>
                <a:lnTo>
                  <a:pt x="0" y="57687"/>
                </a:lnTo>
                <a:lnTo>
                  <a:pt x="8502" y="50839"/>
                </a:lnTo>
                <a:lnTo>
                  <a:pt x="22328" y="43972"/>
                </a:lnTo>
                <a:lnTo>
                  <a:pt x="30073" y="46140"/>
                </a:lnTo>
                <a:lnTo>
                  <a:pt x="37022" y="39661"/>
                </a:lnTo>
                <a:lnTo>
                  <a:pt x="43159" y="24487"/>
                </a:lnTo>
                <a:lnTo>
                  <a:pt x="43800" y="10598"/>
                </a:lnTo>
                <a:lnTo>
                  <a:pt x="44977" y="0"/>
                </a:lnTo>
                <a:lnTo>
                  <a:pt x="5163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Illustrative delivered road transport cost class None; reference terminal None"/>
          <p:cNvSpPr/>
          <p:nvPr/>
        </p:nvSpPr>
        <p:spPr>
          <a:xfrm>
            <a:off x="1851604" y="3920521"/>
            <a:ext cx="6660" cy="20174"/>
          </a:xfrm>
          <a:custGeom>
            <a:avLst/>
            <a:gdLst/>
            <a:ahLst/>
            <a:cxnLst/>
            <a:rect l="l" t="t" r="r" b="b"/>
            <a:pathLst>
              <a:path w="6660" h="20174">
                <a:moveTo>
                  <a:pt x="6660" y="20174"/>
                </a:moveTo>
                <a:lnTo>
                  <a:pt x="0" y="20174"/>
                </a:lnTo>
                <a:lnTo>
                  <a:pt x="1015" y="11032"/>
                </a:lnTo>
                <a:lnTo>
                  <a:pt x="6660" y="0"/>
                </a:lnTo>
                <a:lnTo>
                  <a:pt x="6660" y="2017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Illustrative delivered road transport cost class 4; reference terminal Lesedi"/>
          <p:cNvSpPr/>
          <p:nvPr/>
        </p:nvSpPr>
        <p:spPr>
          <a:xfrm>
            <a:off x="1907099" y="4229128"/>
            <a:ext cx="8852" cy="23653"/>
          </a:xfrm>
          <a:custGeom>
            <a:avLst/>
            <a:gdLst/>
            <a:ahLst/>
            <a:cxnLst/>
            <a:rect l="l" t="t" r="r" b="b"/>
            <a:pathLst>
              <a:path w="8852" h="23653">
                <a:moveTo>
                  <a:pt x="8852" y="0"/>
                </a:moveTo>
                <a:lnTo>
                  <a:pt x="8852" y="23653"/>
                </a:lnTo>
                <a:lnTo>
                  <a:pt x="0" y="0"/>
                </a:lnTo>
                <a:lnTo>
                  <a:pt x="885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Illustrative delivered road transport cost class 4; reference terminal Lesedi"/>
          <p:cNvSpPr/>
          <p:nvPr/>
        </p:nvSpPr>
        <p:spPr>
          <a:xfrm>
            <a:off x="1876677" y="4171441"/>
            <a:ext cx="39274" cy="57687"/>
          </a:xfrm>
          <a:custGeom>
            <a:avLst/>
            <a:gdLst/>
            <a:ahLst/>
            <a:cxnLst/>
            <a:rect l="l" t="t" r="r" b="b"/>
            <a:pathLst>
              <a:path w="39274" h="57687">
                <a:moveTo>
                  <a:pt x="39274" y="0"/>
                </a:moveTo>
                <a:lnTo>
                  <a:pt x="39274" y="57687"/>
                </a:lnTo>
                <a:lnTo>
                  <a:pt x="30422" y="57687"/>
                </a:lnTo>
                <a:lnTo>
                  <a:pt x="27208" y="49100"/>
                </a:lnTo>
                <a:lnTo>
                  <a:pt x="0" y="0"/>
                </a:lnTo>
                <a:lnTo>
                  <a:pt x="3927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Illustrative delivered road transport cost class 4; reference terminal Lesedi"/>
          <p:cNvSpPr/>
          <p:nvPr/>
        </p:nvSpPr>
        <p:spPr>
          <a:xfrm>
            <a:off x="1858264" y="4113755"/>
            <a:ext cx="57687" cy="57686"/>
          </a:xfrm>
          <a:custGeom>
            <a:avLst/>
            <a:gdLst/>
            <a:ahLst/>
            <a:cxnLst/>
            <a:rect l="l" t="t" r="r" b="b"/>
            <a:pathLst>
              <a:path w="57687" h="57686">
                <a:moveTo>
                  <a:pt x="0" y="0"/>
                </a:moveTo>
                <a:lnTo>
                  <a:pt x="57687" y="0"/>
                </a:lnTo>
                <a:lnTo>
                  <a:pt x="57687" y="57686"/>
                </a:lnTo>
                <a:lnTo>
                  <a:pt x="18413" y="57686"/>
                </a:lnTo>
                <a:lnTo>
                  <a:pt x="0" y="2446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Illustrative delivered road transport cost class 4; reference terminal Lesedi"/>
          <p:cNvSpPr/>
          <p:nvPr/>
        </p:nvSpPr>
        <p:spPr>
          <a:xfrm>
            <a:off x="185826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Illustrative delivered road transport cost class 4; reference terminal Lesedi"/>
          <p:cNvSpPr/>
          <p:nvPr/>
        </p:nvSpPr>
        <p:spPr>
          <a:xfrm>
            <a:off x="185826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Illustrative delivered road transport cost class 4; reference terminal Lesedi"/>
          <p:cNvSpPr/>
          <p:nvPr/>
        </p:nvSpPr>
        <p:spPr>
          <a:xfrm>
            <a:off x="185826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Illustrative delivered road transport cost class 4; reference terminal Lesedi"/>
          <p:cNvSpPr/>
          <p:nvPr/>
        </p:nvSpPr>
        <p:spPr>
          <a:xfrm>
            <a:off x="1858264" y="3883008"/>
            <a:ext cx="57687" cy="57687"/>
          </a:xfrm>
          <a:custGeom>
            <a:avLst/>
            <a:gdLst/>
            <a:ahLst/>
            <a:cxnLst/>
            <a:rect l="l" t="t" r="r" b="b"/>
            <a:pathLst>
              <a:path w="57687" h="57687">
                <a:moveTo>
                  <a:pt x="57687" y="0"/>
                </a:moveTo>
                <a:lnTo>
                  <a:pt x="57687" y="57687"/>
                </a:lnTo>
                <a:lnTo>
                  <a:pt x="0" y="57687"/>
                </a:lnTo>
                <a:lnTo>
                  <a:pt x="0" y="37513"/>
                </a:lnTo>
                <a:lnTo>
                  <a:pt x="567" y="36406"/>
                </a:lnTo>
                <a:lnTo>
                  <a:pt x="6687" y="12614"/>
                </a:lnTo>
                <a:lnTo>
                  <a:pt x="16351"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Illustrative delivered road transport cost class None; reference terminal None"/>
          <p:cNvSpPr/>
          <p:nvPr/>
        </p:nvSpPr>
        <p:spPr>
          <a:xfrm>
            <a:off x="1874615" y="3868101"/>
            <a:ext cx="41336" cy="14907"/>
          </a:xfrm>
          <a:custGeom>
            <a:avLst/>
            <a:gdLst/>
            <a:ahLst/>
            <a:cxnLst/>
            <a:rect l="l" t="t" r="r" b="b"/>
            <a:pathLst>
              <a:path w="41336" h="14907">
                <a:moveTo>
                  <a:pt x="41336" y="14907"/>
                </a:moveTo>
                <a:lnTo>
                  <a:pt x="0" y="14907"/>
                </a:lnTo>
                <a:lnTo>
                  <a:pt x="2436" y="11727"/>
                </a:lnTo>
                <a:lnTo>
                  <a:pt x="29562" y="0"/>
                </a:lnTo>
                <a:lnTo>
                  <a:pt x="41336" y="6282"/>
                </a:lnTo>
                <a:lnTo>
                  <a:pt x="41336" y="1490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Illustrative delivered road transport cost class 4; reference terminal Lesedi"/>
          <p:cNvSpPr/>
          <p:nvPr/>
        </p:nvSpPr>
        <p:spPr>
          <a:xfrm>
            <a:off x="1950278" y="4344501"/>
            <a:ext cx="23360" cy="57687"/>
          </a:xfrm>
          <a:custGeom>
            <a:avLst/>
            <a:gdLst/>
            <a:ahLst/>
            <a:cxnLst/>
            <a:rect l="l" t="t" r="r" b="b"/>
            <a:pathLst>
              <a:path w="23360" h="57687">
                <a:moveTo>
                  <a:pt x="23360" y="0"/>
                </a:moveTo>
                <a:lnTo>
                  <a:pt x="23360" y="57687"/>
                </a:lnTo>
                <a:lnTo>
                  <a:pt x="22322" y="57687"/>
                </a:lnTo>
                <a:lnTo>
                  <a:pt x="18894" y="50486"/>
                </a:lnTo>
                <a:lnTo>
                  <a:pt x="0" y="0"/>
                </a:lnTo>
                <a:lnTo>
                  <a:pt x="2336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Illustrative delivered road transport cost class 4; reference terminal Lesedi"/>
          <p:cNvSpPr/>
          <p:nvPr/>
        </p:nvSpPr>
        <p:spPr>
          <a:xfrm>
            <a:off x="1928688" y="4286814"/>
            <a:ext cx="44950" cy="57687"/>
          </a:xfrm>
          <a:custGeom>
            <a:avLst/>
            <a:gdLst/>
            <a:ahLst/>
            <a:cxnLst/>
            <a:rect l="l" t="t" r="r" b="b"/>
            <a:pathLst>
              <a:path w="44950" h="57687">
                <a:moveTo>
                  <a:pt x="44950" y="0"/>
                </a:moveTo>
                <a:lnTo>
                  <a:pt x="44950" y="57687"/>
                </a:lnTo>
                <a:lnTo>
                  <a:pt x="21590" y="57687"/>
                </a:lnTo>
                <a:lnTo>
                  <a:pt x="0" y="0"/>
                </a:lnTo>
                <a:lnTo>
                  <a:pt x="449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Illustrative delivered road transport cost class 4; reference terminal Lesedi"/>
          <p:cNvSpPr/>
          <p:nvPr/>
        </p:nvSpPr>
        <p:spPr>
          <a:xfrm>
            <a:off x="1915951" y="4229128"/>
            <a:ext cx="57687" cy="57686"/>
          </a:xfrm>
          <a:custGeom>
            <a:avLst/>
            <a:gdLst/>
            <a:ahLst/>
            <a:cxnLst/>
            <a:rect l="l" t="t" r="r" b="b"/>
            <a:pathLst>
              <a:path w="57687" h="57686">
                <a:moveTo>
                  <a:pt x="0" y="0"/>
                </a:moveTo>
                <a:lnTo>
                  <a:pt x="57687" y="0"/>
                </a:lnTo>
                <a:lnTo>
                  <a:pt x="57687" y="57686"/>
                </a:lnTo>
                <a:lnTo>
                  <a:pt x="12737" y="57686"/>
                </a:lnTo>
                <a:lnTo>
                  <a:pt x="0" y="236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Illustrative delivered road transport cost class 4; reference terminal Lesedi"/>
          <p:cNvSpPr/>
          <p:nvPr/>
        </p:nvSpPr>
        <p:spPr>
          <a:xfrm>
            <a:off x="191595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0" name="Illustrative delivered road transport cost class 4; reference terminal Lesedi"/>
          <p:cNvSpPr/>
          <p:nvPr/>
        </p:nvSpPr>
        <p:spPr>
          <a:xfrm>
            <a:off x="191595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1" name="Illustrative delivered road transport cost class 4; reference terminal Lesedi"/>
          <p:cNvSpPr/>
          <p:nvPr/>
        </p:nvSpPr>
        <p:spPr>
          <a:xfrm>
            <a:off x="191595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2" name="Illustrative delivered road transport cost class 4; reference terminal Lesedi"/>
          <p:cNvSpPr/>
          <p:nvPr/>
        </p:nvSpPr>
        <p:spPr>
          <a:xfrm>
            <a:off x="191595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3" name="Illustrative delivered road transport cost class 4; reference terminal Lesedi"/>
          <p:cNvSpPr/>
          <p:nvPr/>
        </p:nvSpPr>
        <p:spPr>
          <a:xfrm>
            <a:off x="191595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4" name="Illustrative delivered road transport cost class 4; reference terminal Lesedi"/>
          <p:cNvSpPr/>
          <p:nvPr/>
        </p:nvSpPr>
        <p:spPr>
          <a:xfrm>
            <a:off x="1915951" y="3883008"/>
            <a:ext cx="57687" cy="57687"/>
          </a:xfrm>
          <a:custGeom>
            <a:avLst/>
            <a:gdLst/>
            <a:ahLst/>
            <a:cxnLst/>
            <a:rect l="l" t="t" r="r" b="b"/>
            <a:pathLst>
              <a:path w="57687" h="57687">
                <a:moveTo>
                  <a:pt x="57687" y="57687"/>
                </a:moveTo>
                <a:lnTo>
                  <a:pt x="0" y="57687"/>
                </a:lnTo>
                <a:lnTo>
                  <a:pt x="0" y="0"/>
                </a:lnTo>
                <a:lnTo>
                  <a:pt x="12664" y="0"/>
                </a:lnTo>
                <a:lnTo>
                  <a:pt x="19786" y="9055"/>
                </a:lnTo>
                <a:lnTo>
                  <a:pt x="24519" y="25768"/>
                </a:lnTo>
                <a:lnTo>
                  <a:pt x="34346" y="33348"/>
                </a:lnTo>
                <a:lnTo>
                  <a:pt x="49248" y="31805"/>
                </a:lnTo>
                <a:lnTo>
                  <a:pt x="57687" y="39160"/>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5" name="Illustrative delivered road transport cost class 4; reference terminal Lesedi"/>
          <p:cNvSpPr/>
          <p:nvPr/>
        </p:nvSpPr>
        <p:spPr>
          <a:xfrm>
            <a:off x="1915951" y="3874383"/>
            <a:ext cx="12664" cy="8625"/>
          </a:xfrm>
          <a:custGeom>
            <a:avLst/>
            <a:gdLst/>
            <a:ahLst/>
            <a:cxnLst/>
            <a:rect l="l" t="t" r="r" b="b"/>
            <a:pathLst>
              <a:path w="12664" h="8625">
                <a:moveTo>
                  <a:pt x="0" y="8625"/>
                </a:moveTo>
                <a:lnTo>
                  <a:pt x="0" y="0"/>
                </a:lnTo>
                <a:lnTo>
                  <a:pt x="10130" y="5404"/>
                </a:lnTo>
                <a:lnTo>
                  <a:pt x="12664" y="8625"/>
                </a:lnTo>
                <a:lnTo>
                  <a:pt x="0" y="8625"/>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6" name="Illustrative delivered road transport cost class 4; reference terminal Lesedi"/>
          <p:cNvSpPr/>
          <p:nvPr/>
        </p:nvSpPr>
        <p:spPr>
          <a:xfrm>
            <a:off x="2000058" y="4459874"/>
            <a:ext cx="31266" cy="57683"/>
          </a:xfrm>
          <a:custGeom>
            <a:avLst/>
            <a:gdLst/>
            <a:ahLst/>
            <a:cxnLst/>
            <a:rect l="l" t="t" r="r" b="b"/>
            <a:pathLst>
              <a:path w="31266" h="57683">
                <a:moveTo>
                  <a:pt x="31266" y="0"/>
                </a:moveTo>
                <a:lnTo>
                  <a:pt x="31266" y="57683"/>
                </a:lnTo>
                <a:lnTo>
                  <a:pt x="10000" y="21010"/>
                </a:lnTo>
                <a:lnTo>
                  <a:pt x="0" y="0"/>
                </a:lnTo>
                <a:lnTo>
                  <a:pt x="312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7" name="Illustrative delivered road transport cost class 4; reference terminal Lesedi"/>
          <p:cNvSpPr/>
          <p:nvPr/>
        </p:nvSpPr>
        <p:spPr>
          <a:xfrm>
            <a:off x="1973638" y="4402188"/>
            <a:ext cx="57686" cy="57686"/>
          </a:xfrm>
          <a:custGeom>
            <a:avLst/>
            <a:gdLst/>
            <a:ahLst/>
            <a:cxnLst/>
            <a:rect l="l" t="t" r="r" b="b"/>
            <a:pathLst>
              <a:path w="57686" h="57686">
                <a:moveTo>
                  <a:pt x="0" y="0"/>
                </a:moveTo>
                <a:lnTo>
                  <a:pt x="57686" y="0"/>
                </a:lnTo>
                <a:lnTo>
                  <a:pt x="57686" y="57686"/>
                </a:lnTo>
                <a:lnTo>
                  <a:pt x="26420" y="57686"/>
                </a:lnTo>
                <a:lnTo>
                  <a:pt x="0" y="218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8" name="Illustrative delivered road transport cost class 4; reference terminal Lesedi"/>
          <p:cNvSpPr/>
          <p:nvPr/>
        </p:nvSpPr>
        <p:spPr>
          <a:xfrm>
            <a:off x="197363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9" name="Illustrative delivered road transport cost class 4; reference terminal Lesedi"/>
          <p:cNvSpPr/>
          <p:nvPr/>
        </p:nvSpPr>
        <p:spPr>
          <a:xfrm>
            <a:off x="197363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0" name="Illustrative delivered road transport cost class 4; reference terminal Lesedi"/>
          <p:cNvSpPr/>
          <p:nvPr/>
        </p:nvSpPr>
        <p:spPr>
          <a:xfrm>
            <a:off x="197363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1" name="Illustrative delivered road transport cost class 4; reference terminal Lesedi"/>
          <p:cNvSpPr/>
          <p:nvPr/>
        </p:nvSpPr>
        <p:spPr>
          <a:xfrm>
            <a:off x="197363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2" name="Illustrative delivered road transport cost class 4; reference terminal Lesedi"/>
          <p:cNvSpPr/>
          <p:nvPr/>
        </p:nvSpPr>
        <p:spPr>
          <a:xfrm>
            <a:off x="197363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3" name="Illustrative delivered road transport cost class 4; reference terminal Lesedi"/>
          <p:cNvSpPr/>
          <p:nvPr/>
        </p:nvSpPr>
        <p:spPr>
          <a:xfrm>
            <a:off x="197363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4" name="Illustrative delivered road transport cost class 4; reference terminal Lesedi"/>
          <p:cNvSpPr/>
          <p:nvPr/>
        </p:nvSpPr>
        <p:spPr>
          <a:xfrm>
            <a:off x="1973638" y="3998382"/>
            <a:ext cx="57686" cy="57686"/>
          </a:xfrm>
          <a:custGeom>
            <a:avLst/>
            <a:gdLst/>
            <a:ahLst/>
            <a:cxnLst/>
            <a:rect l="l" t="t" r="r" b="b"/>
            <a:pathLst>
              <a:path w="57686" h="57686">
                <a:moveTo>
                  <a:pt x="57686" y="57686"/>
                </a:moveTo>
                <a:lnTo>
                  <a:pt x="0" y="57686"/>
                </a:lnTo>
                <a:lnTo>
                  <a:pt x="0" y="0"/>
                </a:lnTo>
                <a:lnTo>
                  <a:pt x="15412" y="0"/>
                </a:lnTo>
                <a:lnTo>
                  <a:pt x="15901" y="621"/>
                </a:lnTo>
                <a:lnTo>
                  <a:pt x="21308" y="15265"/>
                </a:lnTo>
                <a:lnTo>
                  <a:pt x="29800" y="34501"/>
                </a:lnTo>
                <a:lnTo>
                  <a:pt x="57686" y="41064"/>
                </a:lnTo>
                <a:lnTo>
                  <a:pt x="57686"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5" name="Illustrative delivered road transport cost class 4; reference terminal Lesedi"/>
          <p:cNvSpPr/>
          <p:nvPr/>
        </p:nvSpPr>
        <p:spPr>
          <a:xfrm>
            <a:off x="1973638" y="3940695"/>
            <a:ext cx="15412" cy="57687"/>
          </a:xfrm>
          <a:custGeom>
            <a:avLst/>
            <a:gdLst/>
            <a:ahLst/>
            <a:cxnLst/>
            <a:rect l="l" t="t" r="r" b="b"/>
            <a:pathLst>
              <a:path w="15412" h="57687">
                <a:moveTo>
                  <a:pt x="0" y="57687"/>
                </a:moveTo>
                <a:lnTo>
                  <a:pt x="0" y="0"/>
                </a:lnTo>
                <a:lnTo>
                  <a:pt x="8474" y="0"/>
                </a:lnTo>
                <a:lnTo>
                  <a:pt x="10213" y="4904"/>
                </a:lnTo>
                <a:lnTo>
                  <a:pt x="9967" y="20511"/>
                </a:lnTo>
                <a:lnTo>
                  <a:pt x="2091" y="30693"/>
                </a:lnTo>
                <a:lnTo>
                  <a:pt x="4087" y="43274"/>
                </a:lnTo>
                <a:lnTo>
                  <a:pt x="15412"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6" name="Illustrative delivered road transport cost class 4; reference terminal Lesedi"/>
          <p:cNvSpPr/>
          <p:nvPr/>
        </p:nvSpPr>
        <p:spPr>
          <a:xfrm>
            <a:off x="1973638" y="3922168"/>
            <a:ext cx="8474" cy="18527"/>
          </a:xfrm>
          <a:custGeom>
            <a:avLst/>
            <a:gdLst/>
            <a:ahLst/>
            <a:cxnLst/>
            <a:rect l="l" t="t" r="r" b="b"/>
            <a:pathLst>
              <a:path w="8474" h="18527">
                <a:moveTo>
                  <a:pt x="0" y="18527"/>
                </a:moveTo>
                <a:lnTo>
                  <a:pt x="0" y="0"/>
                </a:lnTo>
                <a:lnTo>
                  <a:pt x="2756" y="2402"/>
                </a:lnTo>
                <a:lnTo>
                  <a:pt x="8474" y="18527"/>
                </a:lnTo>
                <a:lnTo>
                  <a:pt x="0" y="185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7" name="Illustrative delivered road transport cost class 4; reference terminal Lesedi"/>
          <p:cNvSpPr/>
          <p:nvPr/>
        </p:nvSpPr>
        <p:spPr>
          <a:xfrm>
            <a:off x="2064777" y="4575247"/>
            <a:ext cx="24234" cy="41791"/>
          </a:xfrm>
          <a:custGeom>
            <a:avLst/>
            <a:gdLst/>
            <a:ahLst/>
            <a:cxnLst/>
            <a:rect l="l" t="t" r="r" b="b"/>
            <a:pathLst>
              <a:path w="24234" h="41791">
                <a:moveTo>
                  <a:pt x="24234" y="0"/>
                </a:moveTo>
                <a:lnTo>
                  <a:pt x="24234" y="41791"/>
                </a:lnTo>
                <a:lnTo>
                  <a:pt x="0" y="0"/>
                </a:lnTo>
                <a:lnTo>
                  <a:pt x="242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8" name="Illustrative delivered road transport cost class 4; reference terminal Lesedi"/>
          <p:cNvSpPr/>
          <p:nvPr/>
        </p:nvSpPr>
        <p:spPr>
          <a:xfrm>
            <a:off x="2031326" y="4517561"/>
            <a:ext cx="57685" cy="57686"/>
          </a:xfrm>
          <a:custGeom>
            <a:avLst/>
            <a:gdLst/>
            <a:ahLst/>
            <a:cxnLst/>
            <a:rect l="l" t="t" r="r" b="b"/>
            <a:pathLst>
              <a:path w="57685" h="57686">
                <a:moveTo>
                  <a:pt x="57685" y="0"/>
                </a:moveTo>
                <a:lnTo>
                  <a:pt x="57685" y="57686"/>
                </a:lnTo>
                <a:lnTo>
                  <a:pt x="33451" y="57686"/>
                </a:lnTo>
                <a:lnTo>
                  <a:pt x="0" y="0"/>
                </a:lnTo>
                <a:lnTo>
                  <a:pt x="5768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9" name="Illustrative delivered road transport cost class 4; reference terminal Lesedi"/>
          <p:cNvSpPr/>
          <p:nvPr/>
        </p:nvSpPr>
        <p:spPr>
          <a:xfrm>
            <a:off x="2031324" y="4459874"/>
            <a:ext cx="57687" cy="57687"/>
          </a:xfrm>
          <a:custGeom>
            <a:avLst/>
            <a:gdLst/>
            <a:ahLst/>
            <a:cxnLst/>
            <a:rect l="l" t="t" r="r" b="b"/>
            <a:pathLst>
              <a:path w="57687" h="57687">
                <a:moveTo>
                  <a:pt x="0" y="0"/>
                </a:moveTo>
                <a:lnTo>
                  <a:pt x="57687" y="0"/>
                </a:lnTo>
                <a:lnTo>
                  <a:pt x="57687" y="57687"/>
                </a:lnTo>
                <a:lnTo>
                  <a:pt x="2" y="57687"/>
                </a:lnTo>
                <a:lnTo>
                  <a:pt x="0" y="5768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0" name="Illustrative delivered road transport cost class 4; reference terminal Lesedi"/>
          <p:cNvSpPr/>
          <p:nvPr/>
        </p:nvSpPr>
        <p:spPr>
          <a:xfrm>
            <a:off x="203132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1" name="Illustrative delivered road transport cost class 4; reference terminal Lesedi"/>
          <p:cNvSpPr/>
          <p:nvPr/>
        </p:nvSpPr>
        <p:spPr>
          <a:xfrm>
            <a:off x="203132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2" name="Illustrative delivered road transport cost class 4; reference terminal Lesedi"/>
          <p:cNvSpPr/>
          <p:nvPr/>
        </p:nvSpPr>
        <p:spPr>
          <a:xfrm>
            <a:off x="203132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3" name="Illustrative delivered road transport cost class 4; reference terminal Lesedi"/>
          <p:cNvSpPr/>
          <p:nvPr/>
        </p:nvSpPr>
        <p:spPr>
          <a:xfrm>
            <a:off x="203132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4" name="Illustrative delivered road transport cost class 4; reference terminal Lesedi"/>
          <p:cNvSpPr/>
          <p:nvPr/>
        </p:nvSpPr>
        <p:spPr>
          <a:xfrm>
            <a:off x="203132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5" name="Illustrative delivered road transport cost class 4; reference terminal Lesedi"/>
          <p:cNvSpPr/>
          <p:nvPr/>
        </p:nvSpPr>
        <p:spPr>
          <a:xfrm>
            <a:off x="203132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6" name="Illustrative delivered road transport cost class 4; reference terminal Lesedi"/>
          <p:cNvSpPr/>
          <p:nvPr/>
        </p:nvSpPr>
        <p:spPr>
          <a:xfrm>
            <a:off x="203132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7" name="Illustrative delivered road transport cost class 4; reference terminal Lesedi"/>
          <p:cNvSpPr/>
          <p:nvPr/>
        </p:nvSpPr>
        <p:spPr>
          <a:xfrm>
            <a:off x="2031324" y="4039446"/>
            <a:ext cx="57687" cy="16622"/>
          </a:xfrm>
          <a:custGeom>
            <a:avLst/>
            <a:gdLst/>
            <a:ahLst/>
            <a:cxnLst/>
            <a:rect l="l" t="t" r="r" b="b"/>
            <a:pathLst>
              <a:path w="57687" h="16622">
                <a:moveTo>
                  <a:pt x="57687" y="16622"/>
                </a:moveTo>
                <a:lnTo>
                  <a:pt x="0" y="16622"/>
                </a:lnTo>
                <a:lnTo>
                  <a:pt x="0" y="0"/>
                </a:lnTo>
                <a:lnTo>
                  <a:pt x="10762" y="2533"/>
                </a:lnTo>
                <a:lnTo>
                  <a:pt x="29693" y="7851"/>
                </a:lnTo>
                <a:lnTo>
                  <a:pt x="57687" y="8068"/>
                </a:lnTo>
                <a:lnTo>
                  <a:pt x="57687" y="16622"/>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8" name="Illustrative delivered road transport cost class 4; reference terminal Lesedi"/>
          <p:cNvSpPr/>
          <p:nvPr/>
        </p:nvSpPr>
        <p:spPr>
          <a:xfrm>
            <a:off x="2140180" y="4690620"/>
            <a:ext cx="6517" cy="9236"/>
          </a:xfrm>
          <a:custGeom>
            <a:avLst/>
            <a:gdLst/>
            <a:ahLst/>
            <a:cxnLst/>
            <a:rect l="l" t="t" r="r" b="b"/>
            <a:pathLst>
              <a:path w="6517" h="9236">
                <a:moveTo>
                  <a:pt x="6517" y="0"/>
                </a:moveTo>
                <a:lnTo>
                  <a:pt x="6517" y="9236"/>
                </a:lnTo>
                <a:lnTo>
                  <a:pt x="0" y="0"/>
                </a:lnTo>
                <a:lnTo>
                  <a:pt x="651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9" name="Illustrative delivered road transport cost class 4; reference terminal Lesedi"/>
          <p:cNvSpPr/>
          <p:nvPr/>
        </p:nvSpPr>
        <p:spPr>
          <a:xfrm>
            <a:off x="2099475" y="4632934"/>
            <a:ext cx="47222" cy="57686"/>
          </a:xfrm>
          <a:custGeom>
            <a:avLst/>
            <a:gdLst/>
            <a:ahLst/>
            <a:cxnLst/>
            <a:rect l="l" t="t" r="r" b="b"/>
            <a:pathLst>
              <a:path w="47222" h="57686">
                <a:moveTo>
                  <a:pt x="47222" y="0"/>
                </a:moveTo>
                <a:lnTo>
                  <a:pt x="47222" y="57686"/>
                </a:lnTo>
                <a:lnTo>
                  <a:pt x="40705" y="57686"/>
                </a:lnTo>
                <a:lnTo>
                  <a:pt x="0" y="0"/>
                </a:lnTo>
                <a:lnTo>
                  <a:pt x="4722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0" name="Illustrative delivered road transport cost class 4; reference terminal Lesedi"/>
          <p:cNvSpPr/>
          <p:nvPr/>
        </p:nvSpPr>
        <p:spPr>
          <a:xfrm>
            <a:off x="2089011" y="4575247"/>
            <a:ext cx="57686" cy="57687"/>
          </a:xfrm>
          <a:custGeom>
            <a:avLst/>
            <a:gdLst/>
            <a:ahLst/>
            <a:cxnLst/>
            <a:rect l="l" t="t" r="r" b="b"/>
            <a:pathLst>
              <a:path w="57686" h="57687">
                <a:moveTo>
                  <a:pt x="0" y="0"/>
                </a:moveTo>
                <a:lnTo>
                  <a:pt x="57686" y="0"/>
                </a:lnTo>
                <a:lnTo>
                  <a:pt x="57686" y="57687"/>
                </a:lnTo>
                <a:lnTo>
                  <a:pt x="10464" y="57687"/>
                </a:lnTo>
                <a:lnTo>
                  <a:pt x="3467" y="47770"/>
                </a:lnTo>
                <a:lnTo>
                  <a:pt x="0" y="4179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1" name="Illustrative delivered road transport cost class 4; reference terminal Lesedi"/>
          <p:cNvSpPr/>
          <p:nvPr/>
        </p:nvSpPr>
        <p:spPr>
          <a:xfrm>
            <a:off x="208901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2" name="Illustrative delivered road transport cost class 4; reference terminal Lesedi"/>
          <p:cNvSpPr/>
          <p:nvPr/>
        </p:nvSpPr>
        <p:spPr>
          <a:xfrm>
            <a:off x="208901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3" name="Illustrative delivered road transport cost class 4; reference terminal Lesedi"/>
          <p:cNvSpPr/>
          <p:nvPr/>
        </p:nvSpPr>
        <p:spPr>
          <a:xfrm>
            <a:off x="208901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4" name="Illustrative delivered road transport cost class 4; reference terminal Lesedi"/>
          <p:cNvSpPr/>
          <p:nvPr/>
        </p:nvSpPr>
        <p:spPr>
          <a:xfrm>
            <a:off x="208901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5" name="Illustrative delivered road transport cost class 4; reference terminal Lesedi"/>
          <p:cNvSpPr/>
          <p:nvPr/>
        </p:nvSpPr>
        <p:spPr>
          <a:xfrm>
            <a:off x="208901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6" name="Illustrative delivered road transport cost class 4; reference terminal Lesedi"/>
          <p:cNvSpPr/>
          <p:nvPr/>
        </p:nvSpPr>
        <p:spPr>
          <a:xfrm>
            <a:off x="208901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7" name="Illustrative delivered road transport cost class 4; reference terminal Lesedi"/>
          <p:cNvSpPr/>
          <p:nvPr/>
        </p:nvSpPr>
        <p:spPr>
          <a:xfrm>
            <a:off x="208901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8" name="Illustrative delivered road transport cost class 4; reference terminal Lesedi"/>
          <p:cNvSpPr/>
          <p:nvPr/>
        </p:nvSpPr>
        <p:spPr>
          <a:xfrm>
            <a:off x="208901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9" name="Illustrative delivered road transport cost class 4; reference terminal Lesedi"/>
          <p:cNvSpPr/>
          <p:nvPr/>
        </p:nvSpPr>
        <p:spPr>
          <a:xfrm>
            <a:off x="2089011" y="4056068"/>
            <a:ext cx="57686" cy="57687"/>
          </a:xfrm>
          <a:custGeom>
            <a:avLst/>
            <a:gdLst/>
            <a:ahLst/>
            <a:cxnLst/>
            <a:rect l="l" t="t" r="r" b="b"/>
            <a:pathLst>
              <a:path w="57686" h="57687">
                <a:moveTo>
                  <a:pt x="57686" y="57687"/>
                </a:moveTo>
                <a:lnTo>
                  <a:pt x="0" y="57687"/>
                </a:lnTo>
                <a:lnTo>
                  <a:pt x="0" y="0"/>
                </a:lnTo>
                <a:lnTo>
                  <a:pt x="38095" y="0"/>
                </a:lnTo>
                <a:lnTo>
                  <a:pt x="57686" y="9190"/>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0" name="Illustrative delivered road transport cost class 4; reference terminal Lesedi"/>
          <p:cNvSpPr/>
          <p:nvPr/>
        </p:nvSpPr>
        <p:spPr>
          <a:xfrm>
            <a:off x="2089011" y="4047514"/>
            <a:ext cx="38095" cy="8554"/>
          </a:xfrm>
          <a:custGeom>
            <a:avLst/>
            <a:gdLst/>
            <a:ahLst/>
            <a:cxnLst/>
            <a:rect l="l" t="t" r="r" b="b"/>
            <a:pathLst>
              <a:path w="38095" h="8554">
                <a:moveTo>
                  <a:pt x="0" y="8554"/>
                </a:moveTo>
                <a:lnTo>
                  <a:pt x="0" y="0"/>
                </a:lnTo>
                <a:lnTo>
                  <a:pt x="4092" y="32"/>
                </a:lnTo>
                <a:lnTo>
                  <a:pt x="34812" y="7014"/>
                </a:lnTo>
                <a:lnTo>
                  <a:pt x="38095" y="8554"/>
                </a:lnTo>
                <a:lnTo>
                  <a:pt x="0" y="855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1" name="Illustrative delivered road transport cost class 4; reference terminal Lesedi"/>
          <p:cNvSpPr/>
          <p:nvPr/>
        </p:nvSpPr>
        <p:spPr>
          <a:xfrm>
            <a:off x="2192258" y="5152113"/>
            <a:ext cx="12126" cy="17590"/>
          </a:xfrm>
          <a:custGeom>
            <a:avLst/>
            <a:gdLst/>
            <a:ahLst/>
            <a:cxnLst/>
            <a:rect l="l" t="t" r="r" b="b"/>
            <a:pathLst>
              <a:path w="12126" h="17590">
                <a:moveTo>
                  <a:pt x="12126" y="0"/>
                </a:moveTo>
                <a:lnTo>
                  <a:pt x="12126" y="17590"/>
                </a:lnTo>
                <a:lnTo>
                  <a:pt x="4095" y="11974"/>
                </a:lnTo>
                <a:lnTo>
                  <a:pt x="0" y="0"/>
                </a:lnTo>
                <a:lnTo>
                  <a:pt x="1212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2" name="Illustrative delivered road transport cost class 4; reference terminal Lesedi"/>
          <p:cNvSpPr/>
          <p:nvPr/>
        </p:nvSpPr>
        <p:spPr>
          <a:xfrm>
            <a:off x="2163229" y="5094426"/>
            <a:ext cx="41155" cy="57687"/>
          </a:xfrm>
          <a:custGeom>
            <a:avLst/>
            <a:gdLst/>
            <a:ahLst/>
            <a:cxnLst/>
            <a:rect l="l" t="t" r="r" b="b"/>
            <a:pathLst>
              <a:path w="41155" h="57687">
                <a:moveTo>
                  <a:pt x="41155" y="0"/>
                </a:moveTo>
                <a:lnTo>
                  <a:pt x="41155" y="57687"/>
                </a:lnTo>
                <a:lnTo>
                  <a:pt x="29029" y="57687"/>
                </a:lnTo>
                <a:lnTo>
                  <a:pt x="24017" y="43031"/>
                </a:lnTo>
                <a:lnTo>
                  <a:pt x="5354" y="22405"/>
                </a:lnTo>
                <a:lnTo>
                  <a:pt x="0" y="0"/>
                </a:lnTo>
                <a:lnTo>
                  <a:pt x="4115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3" name="Illustrative delivered road transport cost class 4; reference terminal Lesedi"/>
          <p:cNvSpPr/>
          <p:nvPr/>
        </p:nvSpPr>
        <p:spPr>
          <a:xfrm>
            <a:off x="2160481" y="5051030"/>
            <a:ext cx="43903" cy="43396"/>
          </a:xfrm>
          <a:custGeom>
            <a:avLst/>
            <a:gdLst/>
            <a:ahLst/>
            <a:cxnLst/>
            <a:rect l="l" t="t" r="r" b="b"/>
            <a:pathLst>
              <a:path w="43903" h="43396">
                <a:moveTo>
                  <a:pt x="43903" y="43396"/>
                </a:moveTo>
                <a:lnTo>
                  <a:pt x="2748" y="43396"/>
                </a:lnTo>
                <a:lnTo>
                  <a:pt x="0" y="31896"/>
                </a:lnTo>
                <a:lnTo>
                  <a:pt x="8243" y="11636"/>
                </a:lnTo>
                <a:lnTo>
                  <a:pt x="22628" y="0"/>
                </a:lnTo>
                <a:lnTo>
                  <a:pt x="39098" y="16063"/>
                </a:lnTo>
                <a:lnTo>
                  <a:pt x="43903" y="14057"/>
                </a:lnTo>
                <a:lnTo>
                  <a:pt x="43903" y="433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4" name="Illustrative delivered road transport cost class 4; reference terminal Lesedi"/>
          <p:cNvSpPr/>
          <p:nvPr/>
        </p:nvSpPr>
        <p:spPr>
          <a:xfrm>
            <a:off x="2184391" y="4748307"/>
            <a:ext cx="19993" cy="24875"/>
          </a:xfrm>
          <a:custGeom>
            <a:avLst/>
            <a:gdLst/>
            <a:ahLst/>
            <a:cxnLst/>
            <a:rect l="l" t="t" r="r" b="b"/>
            <a:pathLst>
              <a:path w="19993" h="24875">
                <a:moveTo>
                  <a:pt x="19993" y="0"/>
                </a:moveTo>
                <a:lnTo>
                  <a:pt x="19993" y="24875"/>
                </a:lnTo>
                <a:lnTo>
                  <a:pt x="0" y="0"/>
                </a:lnTo>
                <a:lnTo>
                  <a:pt x="1999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5" name="Illustrative delivered road transport cost class 4; reference terminal Lesedi"/>
          <p:cNvSpPr/>
          <p:nvPr/>
        </p:nvSpPr>
        <p:spPr>
          <a:xfrm>
            <a:off x="2146697" y="4690620"/>
            <a:ext cx="57687" cy="57687"/>
          </a:xfrm>
          <a:custGeom>
            <a:avLst/>
            <a:gdLst/>
            <a:ahLst/>
            <a:cxnLst/>
            <a:rect l="l" t="t" r="r" b="b"/>
            <a:pathLst>
              <a:path w="57687" h="57687">
                <a:moveTo>
                  <a:pt x="0" y="0"/>
                </a:moveTo>
                <a:lnTo>
                  <a:pt x="57687" y="0"/>
                </a:lnTo>
                <a:lnTo>
                  <a:pt x="57687" y="57687"/>
                </a:lnTo>
                <a:lnTo>
                  <a:pt x="37694" y="57687"/>
                </a:lnTo>
                <a:lnTo>
                  <a:pt x="8976" y="21957"/>
                </a:lnTo>
                <a:lnTo>
                  <a:pt x="0" y="92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6" name="Illustrative delivered road transport cost class 4; reference terminal Lesedi"/>
          <p:cNvSpPr/>
          <p:nvPr/>
        </p:nvSpPr>
        <p:spPr>
          <a:xfrm>
            <a:off x="214669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7" name="Illustrative delivered road transport cost class 4; reference terminal Lesedi"/>
          <p:cNvSpPr/>
          <p:nvPr/>
        </p:nvSpPr>
        <p:spPr>
          <a:xfrm>
            <a:off x="214669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8" name="Illustrative delivered road transport cost class 4; reference terminal Lesedi"/>
          <p:cNvSpPr/>
          <p:nvPr/>
        </p:nvSpPr>
        <p:spPr>
          <a:xfrm>
            <a:off x="214669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9" name="Illustrative delivered road transport cost class 4; reference terminal Lesedi"/>
          <p:cNvSpPr/>
          <p:nvPr/>
        </p:nvSpPr>
        <p:spPr>
          <a:xfrm>
            <a:off x="214669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0" name="Illustrative delivered road transport cost class 4; reference terminal Lesedi"/>
          <p:cNvSpPr/>
          <p:nvPr/>
        </p:nvSpPr>
        <p:spPr>
          <a:xfrm>
            <a:off x="214669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1" name="Illustrative delivered road transport cost class 4; reference terminal Lesedi"/>
          <p:cNvSpPr/>
          <p:nvPr/>
        </p:nvSpPr>
        <p:spPr>
          <a:xfrm>
            <a:off x="214669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2" name="Illustrative delivered road transport cost class 4; reference terminal Lesedi"/>
          <p:cNvSpPr/>
          <p:nvPr/>
        </p:nvSpPr>
        <p:spPr>
          <a:xfrm>
            <a:off x="214669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3" name="Illustrative delivered road transport cost class 4; reference terminal Lesedi"/>
          <p:cNvSpPr/>
          <p:nvPr/>
        </p:nvSpPr>
        <p:spPr>
          <a:xfrm>
            <a:off x="214669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4" name="Illustrative delivered road transport cost class 4; reference terminal Lesedi"/>
          <p:cNvSpPr/>
          <p:nvPr/>
        </p:nvSpPr>
        <p:spPr>
          <a:xfrm>
            <a:off x="214669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5" name="Illustrative delivered road transport cost class 4; reference terminal Lesedi"/>
          <p:cNvSpPr/>
          <p:nvPr/>
        </p:nvSpPr>
        <p:spPr>
          <a:xfrm>
            <a:off x="214669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6" name="Illustrative delivered road transport cost class 4; reference terminal Lesedi"/>
          <p:cNvSpPr/>
          <p:nvPr/>
        </p:nvSpPr>
        <p:spPr>
          <a:xfrm>
            <a:off x="2146697" y="4065258"/>
            <a:ext cx="57687" cy="48497"/>
          </a:xfrm>
          <a:custGeom>
            <a:avLst/>
            <a:gdLst/>
            <a:ahLst/>
            <a:cxnLst/>
            <a:rect l="l" t="t" r="r" b="b"/>
            <a:pathLst>
              <a:path w="57687" h="48497">
                <a:moveTo>
                  <a:pt x="57687" y="48497"/>
                </a:moveTo>
                <a:lnTo>
                  <a:pt x="0" y="48497"/>
                </a:lnTo>
                <a:lnTo>
                  <a:pt x="0" y="0"/>
                </a:lnTo>
                <a:lnTo>
                  <a:pt x="6462" y="3031"/>
                </a:lnTo>
                <a:lnTo>
                  <a:pt x="53380" y="4073"/>
                </a:lnTo>
                <a:lnTo>
                  <a:pt x="57687" y="3306"/>
                </a:lnTo>
                <a:lnTo>
                  <a:pt x="57687" y="4849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7" name="Illustrative delivered road transport cost class 4; reference terminal Lesedi"/>
          <p:cNvSpPr/>
          <p:nvPr/>
        </p:nvSpPr>
        <p:spPr>
          <a:xfrm>
            <a:off x="2232266" y="5209799"/>
            <a:ext cx="29804" cy="26922"/>
          </a:xfrm>
          <a:custGeom>
            <a:avLst/>
            <a:gdLst/>
            <a:ahLst/>
            <a:cxnLst/>
            <a:rect l="l" t="t" r="r" b="b"/>
            <a:pathLst>
              <a:path w="29804" h="26922">
                <a:moveTo>
                  <a:pt x="29804" y="0"/>
                </a:moveTo>
                <a:lnTo>
                  <a:pt x="29804" y="26922"/>
                </a:lnTo>
                <a:lnTo>
                  <a:pt x="26094" y="19665"/>
                </a:lnTo>
                <a:lnTo>
                  <a:pt x="2611" y="4925"/>
                </a:lnTo>
                <a:lnTo>
                  <a:pt x="0" y="0"/>
                </a:lnTo>
                <a:lnTo>
                  <a:pt x="2980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8" name="Illustrative delivered road transport cost class 4; reference terminal Lesedi"/>
          <p:cNvSpPr/>
          <p:nvPr/>
        </p:nvSpPr>
        <p:spPr>
          <a:xfrm>
            <a:off x="2204384" y="5152113"/>
            <a:ext cx="57686" cy="57686"/>
          </a:xfrm>
          <a:custGeom>
            <a:avLst/>
            <a:gdLst/>
            <a:ahLst/>
            <a:cxnLst/>
            <a:rect l="l" t="t" r="r" b="b"/>
            <a:pathLst>
              <a:path w="57686" h="57686">
                <a:moveTo>
                  <a:pt x="0" y="0"/>
                </a:moveTo>
                <a:lnTo>
                  <a:pt x="57686" y="0"/>
                </a:lnTo>
                <a:lnTo>
                  <a:pt x="57686" y="57686"/>
                </a:lnTo>
                <a:lnTo>
                  <a:pt x="27882" y="57686"/>
                </a:lnTo>
                <a:lnTo>
                  <a:pt x="10528" y="24952"/>
                </a:lnTo>
                <a:lnTo>
                  <a:pt x="0" y="1759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9" name="Illustrative delivered road transport cost class 4; reference terminal Lesedi"/>
          <p:cNvSpPr/>
          <p:nvPr/>
        </p:nvSpPr>
        <p:spPr>
          <a:xfrm>
            <a:off x="220438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0" name="Illustrative delivered road transport cost class 4; reference terminal Lesedi"/>
          <p:cNvSpPr/>
          <p:nvPr/>
        </p:nvSpPr>
        <p:spPr>
          <a:xfrm>
            <a:off x="2204384" y="5036740"/>
            <a:ext cx="57686" cy="57686"/>
          </a:xfrm>
          <a:custGeom>
            <a:avLst/>
            <a:gdLst/>
            <a:ahLst/>
            <a:cxnLst/>
            <a:rect l="l" t="t" r="r" b="b"/>
            <a:pathLst>
              <a:path w="57686" h="57686">
                <a:moveTo>
                  <a:pt x="57686" y="0"/>
                </a:moveTo>
                <a:lnTo>
                  <a:pt x="57686" y="57686"/>
                </a:lnTo>
                <a:lnTo>
                  <a:pt x="0" y="57686"/>
                </a:lnTo>
                <a:lnTo>
                  <a:pt x="0" y="28347"/>
                </a:lnTo>
                <a:lnTo>
                  <a:pt x="13851" y="22565"/>
                </a:lnTo>
                <a:lnTo>
                  <a:pt x="35747"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1" name="Illustrative delivered road transport cost class 4; reference terminal Lesedi"/>
          <p:cNvSpPr/>
          <p:nvPr/>
        </p:nvSpPr>
        <p:spPr>
          <a:xfrm>
            <a:off x="2240131" y="4979053"/>
            <a:ext cx="21939" cy="57687"/>
          </a:xfrm>
          <a:custGeom>
            <a:avLst/>
            <a:gdLst/>
            <a:ahLst/>
            <a:cxnLst/>
            <a:rect l="l" t="t" r="r" b="b"/>
            <a:pathLst>
              <a:path w="21939" h="57687">
                <a:moveTo>
                  <a:pt x="21939" y="0"/>
                </a:moveTo>
                <a:lnTo>
                  <a:pt x="21939" y="57687"/>
                </a:lnTo>
                <a:lnTo>
                  <a:pt x="0" y="57687"/>
                </a:lnTo>
                <a:lnTo>
                  <a:pt x="3718" y="53856"/>
                </a:lnTo>
                <a:lnTo>
                  <a:pt x="17484" y="15299"/>
                </a:lnTo>
                <a:lnTo>
                  <a:pt x="16805" y="0"/>
                </a:lnTo>
                <a:lnTo>
                  <a:pt x="2193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2" name="Illustrative delivered road transport cost class 4; reference terminal Lesedi"/>
          <p:cNvSpPr/>
          <p:nvPr/>
        </p:nvSpPr>
        <p:spPr>
          <a:xfrm>
            <a:off x="2252747" y="4921367"/>
            <a:ext cx="9323" cy="57686"/>
          </a:xfrm>
          <a:custGeom>
            <a:avLst/>
            <a:gdLst/>
            <a:ahLst/>
            <a:cxnLst/>
            <a:rect l="l" t="t" r="r" b="b"/>
            <a:pathLst>
              <a:path w="9323" h="57686">
                <a:moveTo>
                  <a:pt x="9323" y="0"/>
                </a:moveTo>
                <a:lnTo>
                  <a:pt x="9323" y="57686"/>
                </a:lnTo>
                <a:lnTo>
                  <a:pt x="4189" y="57686"/>
                </a:lnTo>
                <a:lnTo>
                  <a:pt x="2195" y="12740"/>
                </a:lnTo>
                <a:lnTo>
                  <a:pt x="0" y="0"/>
                </a:lnTo>
                <a:lnTo>
                  <a:pt x="93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3" name="Illustrative delivered road transport cost class 4; reference terminal Lesedi"/>
          <p:cNvSpPr/>
          <p:nvPr/>
        </p:nvSpPr>
        <p:spPr>
          <a:xfrm>
            <a:off x="2238964" y="4863680"/>
            <a:ext cx="23106" cy="57687"/>
          </a:xfrm>
          <a:custGeom>
            <a:avLst/>
            <a:gdLst/>
            <a:ahLst/>
            <a:cxnLst/>
            <a:rect l="l" t="t" r="r" b="b"/>
            <a:pathLst>
              <a:path w="23106" h="57687">
                <a:moveTo>
                  <a:pt x="23106" y="0"/>
                </a:moveTo>
                <a:lnTo>
                  <a:pt x="23106" y="57687"/>
                </a:lnTo>
                <a:lnTo>
                  <a:pt x="13783" y="57687"/>
                </a:lnTo>
                <a:lnTo>
                  <a:pt x="9541" y="33071"/>
                </a:lnTo>
                <a:lnTo>
                  <a:pt x="0" y="0"/>
                </a:lnTo>
                <a:lnTo>
                  <a:pt x="2310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4" name="Illustrative delivered road transport cost class 4; reference terminal Lesedi"/>
          <p:cNvSpPr/>
          <p:nvPr/>
        </p:nvSpPr>
        <p:spPr>
          <a:xfrm>
            <a:off x="2222323" y="4805994"/>
            <a:ext cx="39747" cy="57686"/>
          </a:xfrm>
          <a:custGeom>
            <a:avLst/>
            <a:gdLst/>
            <a:ahLst/>
            <a:cxnLst/>
            <a:rect l="l" t="t" r="r" b="b"/>
            <a:pathLst>
              <a:path w="39747" h="57686">
                <a:moveTo>
                  <a:pt x="39747" y="0"/>
                </a:moveTo>
                <a:lnTo>
                  <a:pt x="39747" y="57686"/>
                </a:lnTo>
                <a:lnTo>
                  <a:pt x="16641" y="57686"/>
                </a:lnTo>
                <a:lnTo>
                  <a:pt x="0" y="0"/>
                </a:lnTo>
                <a:lnTo>
                  <a:pt x="3974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5" name="Illustrative delivered road transport cost class 4; reference terminal Lesedi"/>
          <p:cNvSpPr/>
          <p:nvPr/>
        </p:nvSpPr>
        <p:spPr>
          <a:xfrm>
            <a:off x="2204384" y="4748307"/>
            <a:ext cx="57686" cy="57687"/>
          </a:xfrm>
          <a:custGeom>
            <a:avLst/>
            <a:gdLst/>
            <a:ahLst/>
            <a:cxnLst/>
            <a:rect l="l" t="t" r="r" b="b"/>
            <a:pathLst>
              <a:path w="57686" h="57687">
                <a:moveTo>
                  <a:pt x="0" y="0"/>
                </a:moveTo>
                <a:lnTo>
                  <a:pt x="57686" y="0"/>
                </a:lnTo>
                <a:lnTo>
                  <a:pt x="57686" y="57687"/>
                </a:lnTo>
                <a:lnTo>
                  <a:pt x="17939" y="57687"/>
                </a:lnTo>
                <a:lnTo>
                  <a:pt x="16463" y="52570"/>
                </a:lnTo>
                <a:lnTo>
                  <a:pt x="4806" y="30855"/>
                </a:lnTo>
                <a:lnTo>
                  <a:pt x="0" y="2487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6" name="Illustrative delivered road transport cost class 4; reference terminal Lesedi"/>
          <p:cNvSpPr/>
          <p:nvPr/>
        </p:nvSpPr>
        <p:spPr>
          <a:xfrm>
            <a:off x="220438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7" name="Illustrative delivered road transport cost class 4; reference terminal Lesedi"/>
          <p:cNvSpPr/>
          <p:nvPr/>
        </p:nvSpPr>
        <p:spPr>
          <a:xfrm>
            <a:off x="220438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8" name="Illustrative delivered road transport cost class 4; reference terminal Lesedi"/>
          <p:cNvSpPr/>
          <p:nvPr/>
        </p:nvSpPr>
        <p:spPr>
          <a:xfrm>
            <a:off x="220438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9" name="Illustrative delivered road transport cost class 4; reference terminal Lesedi"/>
          <p:cNvSpPr/>
          <p:nvPr/>
        </p:nvSpPr>
        <p:spPr>
          <a:xfrm>
            <a:off x="220438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0" name="Illustrative delivered road transport cost class 4; reference terminal Lesedi"/>
          <p:cNvSpPr/>
          <p:nvPr/>
        </p:nvSpPr>
        <p:spPr>
          <a:xfrm>
            <a:off x="220438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1" name="Illustrative delivered road transport cost class 4; reference terminal Lesedi"/>
          <p:cNvSpPr/>
          <p:nvPr/>
        </p:nvSpPr>
        <p:spPr>
          <a:xfrm>
            <a:off x="220438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2" name="Illustrative delivered road transport cost class 4; reference terminal Lesedi"/>
          <p:cNvSpPr/>
          <p:nvPr/>
        </p:nvSpPr>
        <p:spPr>
          <a:xfrm>
            <a:off x="220438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3" name="Illustrative delivered road transport cost class 4; reference terminal Lesedi"/>
          <p:cNvSpPr/>
          <p:nvPr/>
        </p:nvSpPr>
        <p:spPr>
          <a:xfrm>
            <a:off x="220438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4" name="Illustrative delivered road transport cost class 4; reference terminal Lesedi"/>
          <p:cNvSpPr/>
          <p:nvPr/>
        </p:nvSpPr>
        <p:spPr>
          <a:xfrm>
            <a:off x="220438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5" name="Illustrative delivered road transport cost class 4; reference terminal Lesedi"/>
          <p:cNvSpPr/>
          <p:nvPr/>
        </p:nvSpPr>
        <p:spPr>
          <a:xfrm>
            <a:off x="220438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6" name="Illustrative delivered road transport cost class 4; reference terminal Lesedi"/>
          <p:cNvSpPr/>
          <p:nvPr/>
        </p:nvSpPr>
        <p:spPr>
          <a:xfrm>
            <a:off x="220438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7" name="Illustrative delivered road transport cost class 4; reference terminal Lesedi"/>
          <p:cNvSpPr/>
          <p:nvPr/>
        </p:nvSpPr>
        <p:spPr>
          <a:xfrm>
            <a:off x="2204384" y="4058286"/>
            <a:ext cx="57686" cy="55469"/>
          </a:xfrm>
          <a:custGeom>
            <a:avLst/>
            <a:gdLst/>
            <a:ahLst/>
            <a:cxnLst/>
            <a:rect l="l" t="t" r="r" b="b"/>
            <a:pathLst>
              <a:path w="57686" h="55469">
                <a:moveTo>
                  <a:pt x="57686" y="55469"/>
                </a:moveTo>
                <a:lnTo>
                  <a:pt x="0" y="55469"/>
                </a:lnTo>
                <a:lnTo>
                  <a:pt x="0" y="10278"/>
                </a:lnTo>
                <a:lnTo>
                  <a:pt x="57686" y="0"/>
                </a:lnTo>
                <a:lnTo>
                  <a:pt x="57686" y="55469"/>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8" name="Illustrative delivered road transport cost class 4; reference terminal Lesedi"/>
          <p:cNvSpPr/>
          <p:nvPr/>
        </p:nvSpPr>
        <p:spPr>
          <a:xfrm>
            <a:off x="2298674" y="5440546"/>
            <a:ext cx="17176" cy="22856"/>
          </a:xfrm>
          <a:custGeom>
            <a:avLst/>
            <a:gdLst/>
            <a:ahLst/>
            <a:cxnLst/>
            <a:rect l="l" t="t" r="r" b="b"/>
            <a:pathLst>
              <a:path w="17176" h="22856">
                <a:moveTo>
                  <a:pt x="15808" y="0"/>
                </a:moveTo>
                <a:lnTo>
                  <a:pt x="17176" y="22856"/>
                </a:lnTo>
                <a:lnTo>
                  <a:pt x="5490" y="10384"/>
                </a:lnTo>
                <a:lnTo>
                  <a:pt x="0" y="0"/>
                </a:lnTo>
                <a:lnTo>
                  <a:pt x="1580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9" name="Illustrative delivered road transport cost class 4; reference terminal Lesedi"/>
          <p:cNvSpPr/>
          <p:nvPr/>
        </p:nvSpPr>
        <p:spPr>
          <a:xfrm>
            <a:off x="2284267" y="5382859"/>
            <a:ext cx="35490" cy="57687"/>
          </a:xfrm>
          <a:custGeom>
            <a:avLst/>
            <a:gdLst/>
            <a:ahLst/>
            <a:cxnLst/>
            <a:rect l="l" t="t" r="r" b="b"/>
            <a:pathLst>
              <a:path w="35490" h="57687">
                <a:moveTo>
                  <a:pt x="35490" y="0"/>
                </a:moveTo>
                <a:lnTo>
                  <a:pt x="35490" y="20566"/>
                </a:lnTo>
                <a:lnTo>
                  <a:pt x="28847" y="34848"/>
                </a:lnTo>
                <a:lnTo>
                  <a:pt x="30215" y="57687"/>
                </a:lnTo>
                <a:lnTo>
                  <a:pt x="14407" y="57687"/>
                </a:lnTo>
                <a:lnTo>
                  <a:pt x="5806" y="41418"/>
                </a:lnTo>
                <a:lnTo>
                  <a:pt x="0" y="12455"/>
                </a:lnTo>
                <a:lnTo>
                  <a:pt x="821" y="0"/>
                </a:lnTo>
                <a:lnTo>
                  <a:pt x="354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Illustrative delivered road transport cost class 4; reference terminal Lesedi"/>
          <p:cNvSpPr/>
          <p:nvPr/>
        </p:nvSpPr>
        <p:spPr>
          <a:xfrm>
            <a:off x="2285088" y="5325173"/>
            <a:ext cx="34669" cy="57686"/>
          </a:xfrm>
          <a:custGeom>
            <a:avLst/>
            <a:gdLst/>
            <a:ahLst/>
            <a:cxnLst/>
            <a:rect l="l" t="t" r="r" b="b"/>
            <a:pathLst>
              <a:path w="34669" h="57686">
                <a:moveTo>
                  <a:pt x="34669" y="0"/>
                </a:moveTo>
                <a:lnTo>
                  <a:pt x="34669" y="57686"/>
                </a:lnTo>
                <a:lnTo>
                  <a:pt x="0" y="57686"/>
                </a:lnTo>
                <a:lnTo>
                  <a:pt x="1472" y="35343"/>
                </a:lnTo>
                <a:lnTo>
                  <a:pt x="24220" y="20879"/>
                </a:lnTo>
                <a:lnTo>
                  <a:pt x="21281" y="0"/>
                </a:lnTo>
                <a:lnTo>
                  <a:pt x="3466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Illustrative delivered road transport cost class 4; reference terminal Lesedi"/>
          <p:cNvSpPr/>
          <p:nvPr/>
        </p:nvSpPr>
        <p:spPr>
          <a:xfrm>
            <a:off x="2278956" y="5267486"/>
            <a:ext cx="40801" cy="57687"/>
          </a:xfrm>
          <a:custGeom>
            <a:avLst/>
            <a:gdLst/>
            <a:ahLst/>
            <a:cxnLst/>
            <a:rect l="l" t="t" r="r" b="b"/>
            <a:pathLst>
              <a:path w="40801" h="57687">
                <a:moveTo>
                  <a:pt x="40801" y="0"/>
                </a:moveTo>
                <a:lnTo>
                  <a:pt x="40801" y="57687"/>
                </a:lnTo>
                <a:lnTo>
                  <a:pt x="27413" y="57687"/>
                </a:lnTo>
                <a:lnTo>
                  <a:pt x="27083" y="55337"/>
                </a:lnTo>
                <a:lnTo>
                  <a:pt x="20834" y="35385"/>
                </a:lnTo>
                <a:lnTo>
                  <a:pt x="0" y="0"/>
                </a:lnTo>
                <a:lnTo>
                  <a:pt x="40801"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Illustrative delivered road transport cost class 4; reference terminal Lesedi"/>
          <p:cNvSpPr/>
          <p:nvPr/>
        </p:nvSpPr>
        <p:spPr>
          <a:xfrm>
            <a:off x="2262070" y="5209799"/>
            <a:ext cx="57687" cy="57687"/>
          </a:xfrm>
          <a:custGeom>
            <a:avLst/>
            <a:gdLst/>
            <a:ahLst/>
            <a:cxnLst/>
            <a:rect l="l" t="t" r="r" b="b"/>
            <a:pathLst>
              <a:path w="57687" h="57687">
                <a:moveTo>
                  <a:pt x="0" y="0"/>
                </a:moveTo>
                <a:lnTo>
                  <a:pt x="57687" y="0"/>
                </a:lnTo>
                <a:lnTo>
                  <a:pt x="57687" y="57687"/>
                </a:lnTo>
                <a:lnTo>
                  <a:pt x="16886" y="57687"/>
                </a:lnTo>
                <a:lnTo>
                  <a:pt x="8102" y="42768"/>
                </a:lnTo>
                <a:lnTo>
                  <a:pt x="0" y="2692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Illustrative delivered road transport cost class 4; reference terminal Lesedi"/>
          <p:cNvSpPr/>
          <p:nvPr/>
        </p:nvSpPr>
        <p:spPr>
          <a:xfrm>
            <a:off x="226207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Illustrative delivered road transport cost class 4; reference terminal Lesedi"/>
          <p:cNvSpPr/>
          <p:nvPr/>
        </p:nvSpPr>
        <p:spPr>
          <a:xfrm>
            <a:off x="226207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Illustrative delivered road transport cost class 4; reference terminal Lesedi"/>
          <p:cNvSpPr/>
          <p:nvPr/>
        </p:nvSpPr>
        <p:spPr>
          <a:xfrm>
            <a:off x="226207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Illustrative delivered road transport cost class 4; reference terminal Lesedi"/>
          <p:cNvSpPr/>
          <p:nvPr/>
        </p:nvSpPr>
        <p:spPr>
          <a:xfrm>
            <a:off x="226207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Illustrative delivered road transport cost class 4; reference terminal Lesedi"/>
          <p:cNvSpPr/>
          <p:nvPr/>
        </p:nvSpPr>
        <p:spPr>
          <a:xfrm>
            <a:off x="226207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Illustrative delivered road transport cost class 4; reference terminal Lesedi"/>
          <p:cNvSpPr/>
          <p:nvPr/>
        </p:nvSpPr>
        <p:spPr>
          <a:xfrm>
            <a:off x="226207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Illustrative delivered road transport cost class 4; reference terminal Lesedi"/>
          <p:cNvSpPr/>
          <p:nvPr/>
        </p:nvSpPr>
        <p:spPr>
          <a:xfrm>
            <a:off x="226207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Illustrative delivered road transport cost class 4; reference terminal Lesedi"/>
          <p:cNvSpPr/>
          <p:nvPr/>
        </p:nvSpPr>
        <p:spPr>
          <a:xfrm>
            <a:off x="226207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Illustrative delivered road transport cost class 4; reference terminal Lesedi"/>
          <p:cNvSpPr/>
          <p:nvPr/>
        </p:nvSpPr>
        <p:spPr>
          <a:xfrm>
            <a:off x="226207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Illustrative delivered road transport cost class 4; reference terminal Lesedi"/>
          <p:cNvSpPr/>
          <p:nvPr/>
        </p:nvSpPr>
        <p:spPr>
          <a:xfrm>
            <a:off x="226207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Illustrative delivered road transport cost class 4; reference terminal Lesedi"/>
          <p:cNvSpPr/>
          <p:nvPr/>
        </p:nvSpPr>
        <p:spPr>
          <a:xfrm>
            <a:off x="226207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Illustrative delivered road transport cost class 4; reference terminal Lesedi"/>
          <p:cNvSpPr/>
          <p:nvPr/>
        </p:nvSpPr>
        <p:spPr>
          <a:xfrm>
            <a:off x="226207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Illustrative delivered road transport cost class 4; reference terminal Lesedi"/>
          <p:cNvSpPr/>
          <p:nvPr/>
        </p:nvSpPr>
        <p:spPr>
          <a:xfrm>
            <a:off x="226207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6" name="Illustrative delivered road transport cost class 4; reference terminal Lesedi"/>
          <p:cNvSpPr/>
          <p:nvPr/>
        </p:nvSpPr>
        <p:spPr>
          <a:xfrm>
            <a:off x="226207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7" name="Illustrative delivered road transport cost class 4; reference terminal Lesedi"/>
          <p:cNvSpPr/>
          <p:nvPr/>
        </p:nvSpPr>
        <p:spPr>
          <a:xfrm>
            <a:off x="226207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8" name="Illustrative delivered road transport cost class 4; reference terminal Lesedi"/>
          <p:cNvSpPr/>
          <p:nvPr/>
        </p:nvSpPr>
        <p:spPr>
          <a:xfrm>
            <a:off x="226207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Illustrative delivered road transport cost class 4; reference terminal Lesedi"/>
          <p:cNvSpPr/>
          <p:nvPr/>
        </p:nvSpPr>
        <p:spPr>
          <a:xfrm>
            <a:off x="226207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0" name="Illustrative delivered road transport cost class 4; reference terminal Lesedi"/>
          <p:cNvSpPr/>
          <p:nvPr/>
        </p:nvSpPr>
        <p:spPr>
          <a:xfrm>
            <a:off x="226207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Illustrative delivered road transport cost class 4; reference terminal Lesedi"/>
          <p:cNvSpPr/>
          <p:nvPr/>
        </p:nvSpPr>
        <p:spPr>
          <a:xfrm>
            <a:off x="226207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2" name="Illustrative delivered road transport cost class 4; reference terminal Lesedi"/>
          <p:cNvSpPr/>
          <p:nvPr/>
        </p:nvSpPr>
        <p:spPr>
          <a:xfrm>
            <a:off x="2262070" y="4057828"/>
            <a:ext cx="57687" cy="55927"/>
          </a:xfrm>
          <a:custGeom>
            <a:avLst/>
            <a:gdLst/>
            <a:ahLst/>
            <a:cxnLst/>
            <a:rect l="l" t="t" r="r" b="b"/>
            <a:pathLst>
              <a:path w="57687" h="55927">
                <a:moveTo>
                  <a:pt x="57687" y="55927"/>
                </a:moveTo>
                <a:lnTo>
                  <a:pt x="0" y="55927"/>
                </a:lnTo>
                <a:lnTo>
                  <a:pt x="0" y="458"/>
                </a:lnTo>
                <a:lnTo>
                  <a:pt x="2572" y="0"/>
                </a:lnTo>
                <a:lnTo>
                  <a:pt x="56290" y="711"/>
                </a:lnTo>
                <a:lnTo>
                  <a:pt x="57687" y="1131"/>
                </a:lnTo>
                <a:lnTo>
                  <a:pt x="57687" y="559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3" name="Illustrative delivered road transport cost class 4; reference terminal Lesedi"/>
          <p:cNvSpPr/>
          <p:nvPr/>
        </p:nvSpPr>
        <p:spPr>
          <a:xfrm>
            <a:off x="2319757" y="5382859"/>
            <a:ext cx="57687" cy="20566"/>
          </a:xfrm>
          <a:custGeom>
            <a:avLst/>
            <a:gdLst/>
            <a:ahLst/>
            <a:cxnLst/>
            <a:rect l="l" t="t" r="r" b="b"/>
            <a:pathLst>
              <a:path w="57687" h="20566">
                <a:moveTo>
                  <a:pt x="0" y="0"/>
                </a:moveTo>
                <a:lnTo>
                  <a:pt x="57687" y="0"/>
                </a:lnTo>
                <a:lnTo>
                  <a:pt x="57687" y="11455"/>
                </a:lnTo>
                <a:lnTo>
                  <a:pt x="53664" y="9552"/>
                </a:lnTo>
                <a:lnTo>
                  <a:pt x="44260" y="7315"/>
                </a:lnTo>
                <a:lnTo>
                  <a:pt x="22335" y="9939"/>
                </a:lnTo>
                <a:lnTo>
                  <a:pt x="7314" y="12991"/>
                </a:lnTo>
                <a:lnTo>
                  <a:pt x="561" y="19360"/>
                </a:lnTo>
                <a:lnTo>
                  <a:pt x="0" y="2056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4" name="Illustrative delivered road transport cost class 4; reference terminal Lesedi"/>
          <p:cNvSpPr/>
          <p:nvPr/>
        </p:nvSpPr>
        <p:spPr>
          <a:xfrm>
            <a:off x="2319757"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5" name="Illustrative delivered road transport cost class 4; reference terminal Lesedi"/>
          <p:cNvSpPr/>
          <p:nvPr/>
        </p:nvSpPr>
        <p:spPr>
          <a:xfrm>
            <a:off x="2319757"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6" name="Illustrative delivered road transport cost class 4; reference terminal Lesedi"/>
          <p:cNvSpPr/>
          <p:nvPr/>
        </p:nvSpPr>
        <p:spPr>
          <a:xfrm>
            <a:off x="2319757"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Illustrative delivered road transport cost class 4; reference terminal Lesedi"/>
          <p:cNvSpPr/>
          <p:nvPr/>
        </p:nvSpPr>
        <p:spPr>
          <a:xfrm>
            <a:off x="231975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8" name="Illustrative delivered road transport cost class 4; reference terminal Lesedi"/>
          <p:cNvSpPr/>
          <p:nvPr/>
        </p:nvSpPr>
        <p:spPr>
          <a:xfrm>
            <a:off x="231975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Illustrative delivered road transport cost class 4; reference terminal Lesedi"/>
          <p:cNvSpPr/>
          <p:nvPr/>
        </p:nvSpPr>
        <p:spPr>
          <a:xfrm>
            <a:off x="231975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0" name="Illustrative delivered road transport cost class 4; reference terminal Lesedi"/>
          <p:cNvSpPr/>
          <p:nvPr/>
        </p:nvSpPr>
        <p:spPr>
          <a:xfrm>
            <a:off x="231975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1" name="Illustrative delivered road transport cost class 4; reference terminal Lesedi"/>
          <p:cNvSpPr/>
          <p:nvPr/>
        </p:nvSpPr>
        <p:spPr>
          <a:xfrm>
            <a:off x="231975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2" name="Illustrative delivered road transport cost class 4; reference terminal Lesedi"/>
          <p:cNvSpPr/>
          <p:nvPr/>
        </p:nvSpPr>
        <p:spPr>
          <a:xfrm>
            <a:off x="231975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3" name="Illustrative delivered road transport cost class 4; reference terminal Lesedi"/>
          <p:cNvSpPr/>
          <p:nvPr/>
        </p:nvSpPr>
        <p:spPr>
          <a:xfrm>
            <a:off x="231975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4" name="Illustrative delivered road transport cost class 4; reference terminal Lesedi"/>
          <p:cNvSpPr/>
          <p:nvPr/>
        </p:nvSpPr>
        <p:spPr>
          <a:xfrm>
            <a:off x="231975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5" name="Illustrative delivered road transport cost class 4; reference terminal Lesedi"/>
          <p:cNvSpPr/>
          <p:nvPr/>
        </p:nvSpPr>
        <p:spPr>
          <a:xfrm>
            <a:off x="231975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6" name="Illustrative delivered road transport cost class 4; reference terminal Lesedi"/>
          <p:cNvSpPr/>
          <p:nvPr/>
        </p:nvSpPr>
        <p:spPr>
          <a:xfrm>
            <a:off x="231975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7" name="Illustrative delivered road transport cost class 4; reference terminal Lesedi"/>
          <p:cNvSpPr/>
          <p:nvPr/>
        </p:nvSpPr>
        <p:spPr>
          <a:xfrm>
            <a:off x="231975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8" name="Illustrative delivered road transport cost class 4; reference terminal Lesedi"/>
          <p:cNvSpPr/>
          <p:nvPr/>
        </p:nvSpPr>
        <p:spPr>
          <a:xfrm>
            <a:off x="231975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9" name="Illustrative delivered road transport cost class 4; reference terminal Lesedi"/>
          <p:cNvSpPr/>
          <p:nvPr/>
        </p:nvSpPr>
        <p:spPr>
          <a:xfrm>
            <a:off x="231975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0" name="Illustrative delivered road transport cost class 4; reference terminal Lesedi"/>
          <p:cNvSpPr/>
          <p:nvPr/>
        </p:nvSpPr>
        <p:spPr>
          <a:xfrm>
            <a:off x="231975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1" name="Illustrative delivered road transport cost class 4; reference terminal Lesedi"/>
          <p:cNvSpPr/>
          <p:nvPr/>
        </p:nvSpPr>
        <p:spPr>
          <a:xfrm>
            <a:off x="231975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2" name="Illustrative delivered road transport cost class 4; reference terminal Lesedi"/>
          <p:cNvSpPr/>
          <p:nvPr/>
        </p:nvSpPr>
        <p:spPr>
          <a:xfrm>
            <a:off x="231975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3" name="Illustrative delivered road transport cost class 4; reference terminal Lesedi"/>
          <p:cNvSpPr/>
          <p:nvPr/>
        </p:nvSpPr>
        <p:spPr>
          <a:xfrm>
            <a:off x="231975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4" name="Illustrative delivered road transport cost class 4; reference terminal Lesedi"/>
          <p:cNvSpPr/>
          <p:nvPr/>
        </p:nvSpPr>
        <p:spPr>
          <a:xfrm>
            <a:off x="231975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Illustrative delivered road transport cost class 4; reference terminal Lesedi"/>
          <p:cNvSpPr/>
          <p:nvPr/>
        </p:nvSpPr>
        <p:spPr>
          <a:xfrm>
            <a:off x="231975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Illustrative delivered road transport cost class 4; reference terminal Lesedi"/>
          <p:cNvSpPr/>
          <p:nvPr/>
        </p:nvSpPr>
        <p:spPr>
          <a:xfrm>
            <a:off x="2319757" y="4058959"/>
            <a:ext cx="57687" cy="54796"/>
          </a:xfrm>
          <a:custGeom>
            <a:avLst/>
            <a:gdLst/>
            <a:ahLst/>
            <a:cxnLst/>
            <a:rect l="l" t="t" r="r" b="b"/>
            <a:pathLst>
              <a:path w="57687" h="54796">
                <a:moveTo>
                  <a:pt x="57687" y="54796"/>
                </a:moveTo>
                <a:lnTo>
                  <a:pt x="0" y="54796"/>
                </a:lnTo>
                <a:lnTo>
                  <a:pt x="0" y="0"/>
                </a:lnTo>
                <a:lnTo>
                  <a:pt x="41425" y="12459"/>
                </a:lnTo>
                <a:lnTo>
                  <a:pt x="57687" y="13126"/>
                </a:lnTo>
                <a:lnTo>
                  <a:pt x="57687" y="547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7" name="Illustrative delivered road transport cost class 4; reference terminal Lesedi"/>
          <p:cNvSpPr/>
          <p:nvPr/>
        </p:nvSpPr>
        <p:spPr>
          <a:xfrm>
            <a:off x="2392135" y="5440546"/>
            <a:ext cx="42995" cy="22866"/>
          </a:xfrm>
          <a:custGeom>
            <a:avLst/>
            <a:gdLst/>
            <a:ahLst/>
            <a:cxnLst/>
            <a:rect l="l" t="t" r="r" b="b"/>
            <a:pathLst>
              <a:path w="42995" h="22866">
                <a:moveTo>
                  <a:pt x="42995" y="0"/>
                </a:moveTo>
                <a:lnTo>
                  <a:pt x="42995" y="16296"/>
                </a:lnTo>
                <a:lnTo>
                  <a:pt x="27646" y="16299"/>
                </a:lnTo>
                <a:lnTo>
                  <a:pt x="17172" y="21189"/>
                </a:lnTo>
                <a:lnTo>
                  <a:pt x="2340" y="22866"/>
                </a:lnTo>
                <a:lnTo>
                  <a:pt x="0" y="5670"/>
                </a:lnTo>
                <a:lnTo>
                  <a:pt x="281" y="0"/>
                </a:lnTo>
                <a:lnTo>
                  <a:pt x="4299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Illustrative delivered road transport cost class 4; reference terminal Lesedi"/>
          <p:cNvSpPr/>
          <p:nvPr/>
        </p:nvSpPr>
        <p:spPr>
          <a:xfrm>
            <a:off x="2377444" y="5382859"/>
            <a:ext cx="57686" cy="57687"/>
          </a:xfrm>
          <a:custGeom>
            <a:avLst/>
            <a:gdLst/>
            <a:ahLst/>
            <a:cxnLst/>
            <a:rect l="l" t="t" r="r" b="b"/>
            <a:pathLst>
              <a:path w="57686" h="57687">
                <a:moveTo>
                  <a:pt x="0" y="0"/>
                </a:moveTo>
                <a:lnTo>
                  <a:pt x="57686" y="0"/>
                </a:lnTo>
                <a:lnTo>
                  <a:pt x="57686" y="57687"/>
                </a:lnTo>
                <a:lnTo>
                  <a:pt x="14972" y="57687"/>
                </a:lnTo>
                <a:lnTo>
                  <a:pt x="15233" y="52413"/>
                </a:lnTo>
                <a:lnTo>
                  <a:pt x="13341" y="35743"/>
                </a:lnTo>
                <a:lnTo>
                  <a:pt x="8403" y="15432"/>
                </a:lnTo>
                <a:lnTo>
                  <a:pt x="0" y="1145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9" name="Illustrative delivered road transport cost class 4; reference terminal Lesedi"/>
          <p:cNvSpPr/>
          <p:nvPr/>
        </p:nvSpPr>
        <p:spPr>
          <a:xfrm>
            <a:off x="2377444"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Illustrative delivered road transport cost class 4; reference terminal Lesedi"/>
          <p:cNvSpPr/>
          <p:nvPr/>
        </p:nvSpPr>
        <p:spPr>
          <a:xfrm>
            <a:off x="2377444"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1" name="Illustrative delivered road transport cost class 4; reference terminal Lesedi"/>
          <p:cNvSpPr/>
          <p:nvPr/>
        </p:nvSpPr>
        <p:spPr>
          <a:xfrm>
            <a:off x="2377444"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Illustrative delivered road transport cost class 4; reference terminal Lesedi"/>
          <p:cNvSpPr/>
          <p:nvPr/>
        </p:nvSpPr>
        <p:spPr>
          <a:xfrm>
            <a:off x="2377444"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3" name="Illustrative delivered road transport cost class 4; reference terminal Lesedi"/>
          <p:cNvSpPr/>
          <p:nvPr/>
        </p:nvSpPr>
        <p:spPr>
          <a:xfrm>
            <a:off x="237744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Illustrative delivered road transport cost class 4; reference terminal Lesedi"/>
          <p:cNvSpPr/>
          <p:nvPr/>
        </p:nvSpPr>
        <p:spPr>
          <a:xfrm>
            <a:off x="237744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5" name="Illustrative delivered road transport cost class 4; reference terminal Lesedi"/>
          <p:cNvSpPr/>
          <p:nvPr/>
        </p:nvSpPr>
        <p:spPr>
          <a:xfrm>
            <a:off x="237744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Illustrative delivered road transport cost class 4; reference terminal Lesedi"/>
          <p:cNvSpPr/>
          <p:nvPr/>
        </p:nvSpPr>
        <p:spPr>
          <a:xfrm>
            <a:off x="237744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7" name="Illustrative delivered road transport cost class 4; reference terminal Lesedi"/>
          <p:cNvSpPr/>
          <p:nvPr/>
        </p:nvSpPr>
        <p:spPr>
          <a:xfrm>
            <a:off x="237744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8" name="Illustrative delivered road transport cost class 4; reference terminal Lesedi"/>
          <p:cNvSpPr/>
          <p:nvPr/>
        </p:nvSpPr>
        <p:spPr>
          <a:xfrm>
            <a:off x="237744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9" name="Illustrative delivered road transport cost class 4; reference terminal Lesedi"/>
          <p:cNvSpPr/>
          <p:nvPr/>
        </p:nvSpPr>
        <p:spPr>
          <a:xfrm>
            <a:off x="237744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0" name="Illustrative delivered road transport cost class 4; reference terminal Lesedi"/>
          <p:cNvSpPr/>
          <p:nvPr/>
        </p:nvSpPr>
        <p:spPr>
          <a:xfrm>
            <a:off x="237744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1" name="Illustrative delivered road transport cost class 4; reference terminal Lesedi"/>
          <p:cNvSpPr/>
          <p:nvPr/>
        </p:nvSpPr>
        <p:spPr>
          <a:xfrm>
            <a:off x="237744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2" name="Illustrative delivered road transport cost class 4; reference terminal Lesedi"/>
          <p:cNvSpPr/>
          <p:nvPr/>
        </p:nvSpPr>
        <p:spPr>
          <a:xfrm>
            <a:off x="237744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3" name="Illustrative delivered road transport cost class 4; reference terminal Lesedi"/>
          <p:cNvSpPr/>
          <p:nvPr/>
        </p:nvSpPr>
        <p:spPr>
          <a:xfrm>
            <a:off x="237744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4" name="Illustrative delivered road transport cost class 4; reference terminal Lesedi"/>
          <p:cNvSpPr/>
          <p:nvPr/>
        </p:nvSpPr>
        <p:spPr>
          <a:xfrm>
            <a:off x="237744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5" name="Illustrative delivered road transport cost class 4; reference terminal Lesedi"/>
          <p:cNvSpPr/>
          <p:nvPr/>
        </p:nvSpPr>
        <p:spPr>
          <a:xfrm>
            <a:off x="237744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6" name="Illustrative delivered road transport cost class 4; reference terminal Lesedi"/>
          <p:cNvSpPr/>
          <p:nvPr/>
        </p:nvSpPr>
        <p:spPr>
          <a:xfrm>
            <a:off x="237744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7" name="Illustrative delivered road transport cost class 4; reference terminal Lesedi"/>
          <p:cNvSpPr/>
          <p:nvPr/>
        </p:nvSpPr>
        <p:spPr>
          <a:xfrm>
            <a:off x="237744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8" name="Illustrative delivered road transport cost class 4; reference terminal Lesedi"/>
          <p:cNvSpPr/>
          <p:nvPr/>
        </p:nvSpPr>
        <p:spPr>
          <a:xfrm>
            <a:off x="237744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9" name="Illustrative delivered road transport cost class 4; reference terminal Lesedi"/>
          <p:cNvSpPr/>
          <p:nvPr/>
        </p:nvSpPr>
        <p:spPr>
          <a:xfrm>
            <a:off x="237744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0" name="Illustrative delivered road transport cost class 4; reference terminal Lesedi"/>
          <p:cNvSpPr/>
          <p:nvPr/>
        </p:nvSpPr>
        <p:spPr>
          <a:xfrm>
            <a:off x="237744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1" name="Illustrative delivered road transport cost class 4; reference terminal Lesedi"/>
          <p:cNvSpPr/>
          <p:nvPr/>
        </p:nvSpPr>
        <p:spPr>
          <a:xfrm>
            <a:off x="2377444" y="4056068"/>
            <a:ext cx="57686" cy="57687"/>
          </a:xfrm>
          <a:custGeom>
            <a:avLst/>
            <a:gdLst/>
            <a:ahLst/>
            <a:cxnLst/>
            <a:rect l="l" t="t" r="r" b="b"/>
            <a:pathLst>
              <a:path w="57686" h="57687">
                <a:moveTo>
                  <a:pt x="57686" y="0"/>
                </a:moveTo>
                <a:lnTo>
                  <a:pt x="57686" y="57687"/>
                </a:lnTo>
                <a:lnTo>
                  <a:pt x="0" y="57687"/>
                </a:lnTo>
                <a:lnTo>
                  <a:pt x="0" y="16017"/>
                </a:lnTo>
                <a:lnTo>
                  <a:pt x="14325" y="16605"/>
                </a:lnTo>
                <a:lnTo>
                  <a:pt x="32739" y="6194"/>
                </a:lnTo>
                <a:lnTo>
                  <a:pt x="36035"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2" name="Illustrative delivered road transport cost class 4; reference terminal Lesedi"/>
          <p:cNvSpPr/>
          <p:nvPr/>
        </p:nvSpPr>
        <p:spPr>
          <a:xfrm>
            <a:off x="2413479" y="4015168"/>
            <a:ext cx="21651" cy="40900"/>
          </a:xfrm>
          <a:custGeom>
            <a:avLst/>
            <a:gdLst/>
            <a:ahLst/>
            <a:cxnLst/>
            <a:rect l="l" t="t" r="r" b="b"/>
            <a:pathLst>
              <a:path w="21651" h="40900">
                <a:moveTo>
                  <a:pt x="21651" y="40900"/>
                </a:moveTo>
                <a:lnTo>
                  <a:pt x="0" y="40900"/>
                </a:lnTo>
                <a:lnTo>
                  <a:pt x="4223" y="32964"/>
                </a:lnTo>
                <a:lnTo>
                  <a:pt x="834" y="15133"/>
                </a:lnTo>
                <a:lnTo>
                  <a:pt x="9667" y="3321"/>
                </a:lnTo>
                <a:lnTo>
                  <a:pt x="21651" y="0"/>
                </a:lnTo>
                <a:lnTo>
                  <a:pt x="21651" y="4090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3" name="Illustrative delivered road transport cost class 4; reference terminal Lesedi"/>
          <p:cNvSpPr/>
          <p:nvPr/>
        </p:nvSpPr>
        <p:spPr>
          <a:xfrm>
            <a:off x="2435130" y="5440546"/>
            <a:ext cx="57687" cy="39277"/>
          </a:xfrm>
          <a:custGeom>
            <a:avLst/>
            <a:gdLst/>
            <a:ahLst/>
            <a:cxnLst/>
            <a:rect l="l" t="t" r="r" b="b"/>
            <a:pathLst>
              <a:path w="57687" h="39277">
                <a:moveTo>
                  <a:pt x="0" y="0"/>
                </a:moveTo>
                <a:lnTo>
                  <a:pt x="57687" y="0"/>
                </a:lnTo>
                <a:lnTo>
                  <a:pt x="57687" y="39277"/>
                </a:lnTo>
                <a:lnTo>
                  <a:pt x="55343" y="36540"/>
                </a:lnTo>
                <a:lnTo>
                  <a:pt x="47632" y="30598"/>
                </a:lnTo>
                <a:lnTo>
                  <a:pt x="27459" y="32805"/>
                </a:lnTo>
                <a:lnTo>
                  <a:pt x="15740" y="16292"/>
                </a:lnTo>
                <a:lnTo>
                  <a:pt x="0" y="162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4" name="Illustrative delivered road transport cost class 4; reference terminal Lesedi"/>
          <p:cNvSpPr/>
          <p:nvPr/>
        </p:nvSpPr>
        <p:spPr>
          <a:xfrm>
            <a:off x="2435130"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5" name="Illustrative delivered road transport cost class 4; reference terminal Lesedi"/>
          <p:cNvSpPr/>
          <p:nvPr/>
        </p:nvSpPr>
        <p:spPr>
          <a:xfrm>
            <a:off x="2435130"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6" name="Illustrative delivered road transport cost class 4; reference terminal Lesedi"/>
          <p:cNvSpPr/>
          <p:nvPr/>
        </p:nvSpPr>
        <p:spPr>
          <a:xfrm>
            <a:off x="2435130"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7" name="Illustrative delivered road transport cost class 4; reference terminal Lesedi"/>
          <p:cNvSpPr/>
          <p:nvPr/>
        </p:nvSpPr>
        <p:spPr>
          <a:xfrm>
            <a:off x="2435130"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8" name="Illustrative delivered road transport cost class 4; reference terminal Lesedi"/>
          <p:cNvSpPr/>
          <p:nvPr/>
        </p:nvSpPr>
        <p:spPr>
          <a:xfrm>
            <a:off x="243513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9" name="Illustrative delivered road transport cost class 4; reference terminal Lesedi"/>
          <p:cNvSpPr/>
          <p:nvPr/>
        </p:nvSpPr>
        <p:spPr>
          <a:xfrm>
            <a:off x="243513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0" name="Illustrative delivered road transport cost class 4; reference terminal Lesedi"/>
          <p:cNvSpPr/>
          <p:nvPr/>
        </p:nvSpPr>
        <p:spPr>
          <a:xfrm>
            <a:off x="243513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1" name="Illustrative delivered road transport cost class 4; reference terminal Lesedi"/>
          <p:cNvSpPr/>
          <p:nvPr/>
        </p:nvSpPr>
        <p:spPr>
          <a:xfrm>
            <a:off x="243513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2" name="Illustrative delivered road transport cost class 4; reference terminal Lesedi"/>
          <p:cNvSpPr/>
          <p:nvPr/>
        </p:nvSpPr>
        <p:spPr>
          <a:xfrm>
            <a:off x="243513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3" name="Illustrative delivered road transport cost class 4; reference terminal Lesedi"/>
          <p:cNvSpPr/>
          <p:nvPr/>
        </p:nvSpPr>
        <p:spPr>
          <a:xfrm>
            <a:off x="243513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4" name="Illustrative delivered road transport cost class 4; reference terminal Lesedi"/>
          <p:cNvSpPr/>
          <p:nvPr/>
        </p:nvSpPr>
        <p:spPr>
          <a:xfrm>
            <a:off x="243513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5" name="Illustrative delivered road transport cost class 4; reference terminal Lesedi"/>
          <p:cNvSpPr/>
          <p:nvPr/>
        </p:nvSpPr>
        <p:spPr>
          <a:xfrm>
            <a:off x="243513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6" name="Illustrative delivered road transport cost class 4; reference terminal Lesedi"/>
          <p:cNvSpPr/>
          <p:nvPr/>
        </p:nvSpPr>
        <p:spPr>
          <a:xfrm>
            <a:off x="243513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7" name="Illustrative delivered road transport cost class 4; reference terminal Lesedi"/>
          <p:cNvSpPr/>
          <p:nvPr/>
        </p:nvSpPr>
        <p:spPr>
          <a:xfrm>
            <a:off x="243513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8" name="Illustrative delivered road transport cost class 4; reference terminal Lesedi"/>
          <p:cNvSpPr/>
          <p:nvPr/>
        </p:nvSpPr>
        <p:spPr>
          <a:xfrm>
            <a:off x="243513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9" name="Illustrative delivered road transport cost class 4; reference terminal Lesedi"/>
          <p:cNvSpPr/>
          <p:nvPr/>
        </p:nvSpPr>
        <p:spPr>
          <a:xfrm>
            <a:off x="243513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0" name="Illustrative delivered road transport cost class 4; reference terminal Lesedi"/>
          <p:cNvSpPr/>
          <p:nvPr/>
        </p:nvSpPr>
        <p:spPr>
          <a:xfrm>
            <a:off x="243513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1" name="Illustrative delivered road transport cost class None; reference terminal None"/>
          <p:cNvSpPr/>
          <p:nvPr/>
        </p:nvSpPr>
        <p:spPr>
          <a:xfrm>
            <a:off x="243513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2" name="Illustrative delivered road transport cost class None; reference terminal None"/>
          <p:cNvSpPr/>
          <p:nvPr/>
        </p:nvSpPr>
        <p:spPr>
          <a:xfrm>
            <a:off x="243513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3" name="Illustrative delivered road transport cost class 4; reference terminal Lesedi"/>
          <p:cNvSpPr/>
          <p:nvPr/>
        </p:nvSpPr>
        <p:spPr>
          <a:xfrm>
            <a:off x="243513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4" name="Illustrative delivered road transport cost class 4; reference terminal Lesedi"/>
          <p:cNvSpPr/>
          <p:nvPr/>
        </p:nvSpPr>
        <p:spPr>
          <a:xfrm>
            <a:off x="243513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5" name="Illustrative delivered road transport cost class 4; reference terminal Lesedi"/>
          <p:cNvSpPr/>
          <p:nvPr/>
        </p:nvSpPr>
        <p:spPr>
          <a:xfrm>
            <a:off x="243513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6" name="Illustrative delivered road transport cost class 4; reference terminal Lesedi"/>
          <p:cNvSpPr/>
          <p:nvPr/>
        </p:nvSpPr>
        <p:spPr>
          <a:xfrm>
            <a:off x="243513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7" name="Illustrative delivered road transport cost class 4; reference terminal Lesedi"/>
          <p:cNvSpPr/>
          <p:nvPr/>
        </p:nvSpPr>
        <p:spPr>
          <a:xfrm>
            <a:off x="2435130"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8" name="Illustrative delivered road transport cost class 4; reference terminal Lesedi"/>
          <p:cNvSpPr/>
          <p:nvPr/>
        </p:nvSpPr>
        <p:spPr>
          <a:xfrm>
            <a:off x="2435130" y="3998382"/>
            <a:ext cx="57687" cy="57686"/>
          </a:xfrm>
          <a:custGeom>
            <a:avLst/>
            <a:gdLst/>
            <a:ahLst/>
            <a:cxnLst/>
            <a:rect l="l" t="t" r="r" b="b"/>
            <a:pathLst>
              <a:path w="57687" h="57686">
                <a:moveTo>
                  <a:pt x="57687" y="0"/>
                </a:moveTo>
                <a:lnTo>
                  <a:pt x="57687" y="57686"/>
                </a:lnTo>
                <a:lnTo>
                  <a:pt x="0" y="57686"/>
                </a:lnTo>
                <a:lnTo>
                  <a:pt x="0" y="16786"/>
                </a:lnTo>
                <a:lnTo>
                  <a:pt x="9054" y="14278"/>
                </a:lnTo>
                <a:lnTo>
                  <a:pt x="25427"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9" name="Illustrative delivered road transport cost class 4; reference terminal Lesedi"/>
          <p:cNvSpPr/>
          <p:nvPr/>
        </p:nvSpPr>
        <p:spPr>
          <a:xfrm>
            <a:off x="2460557" y="3961764"/>
            <a:ext cx="32260" cy="36618"/>
          </a:xfrm>
          <a:custGeom>
            <a:avLst/>
            <a:gdLst/>
            <a:ahLst/>
            <a:cxnLst/>
            <a:rect l="l" t="t" r="r" b="b"/>
            <a:pathLst>
              <a:path w="32260" h="36618">
                <a:moveTo>
                  <a:pt x="32260" y="36618"/>
                </a:moveTo>
                <a:lnTo>
                  <a:pt x="0" y="36618"/>
                </a:lnTo>
                <a:lnTo>
                  <a:pt x="31" y="36591"/>
                </a:lnTo>
                <a:lnTo>
                  <a:pt x="11831" y="13751"/>
                </a:lnTo>
                <a:lnTo>
                  <a:pt x="32260" y="0"/>
                </a:lnTo>
                <a:lnTo>
                  <a:pt x="32260" y="3661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0" name="Illustrative delivered road transport cost class 4; reference terminal Durban"/>
          <p:cNvSpPr/>
          <p:nvPr/>
        </p:nvSpPr>
        <p:spPr>
          <a:xfrm>
            <a:off x="2496946" y="5498232"/>
            <a:ext cx="53557" cy="43173"/>
          </a:xfrm>
          <a:custGeom>
            <a:avLst/>
            <a:gdLst/>
            <a:ahLst/>
            <a:cxnLst/>
            <a:rect l="l" t="t" r="r" b="b"/>
            <a:pathLst>
              <a:path w="53557" h="43173">
                <a:moveTo>
                  <a:pt x="53557" y="0"/>
                </a:moveTo>
                <a:lnTo>
                  <a:pt x="53557" y="43173"/>
                </a:lnTo>
                <a:lnTo>
                  <a:pt x="19589" y="20766"/>
                </a:lnTo>
                <a:lnTo>
                  <a:pt x="0" y="24144"/>
                </a:lnTo>
                <a:lnTo>
                  <a:pt x="4671" y="12576"/>
                </a:lnTo>
                <a:lnTo>
                  <a:pt x="4986" y="0"/>
                </a:lnTo>
                <a:lnTo>
                  <a:pt x="5355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1" name="Illustrative delivered road transport cost class 4; reference terminal Lesedi"/>
          <p:cNvSpPr/>
          <p:nvPr/>
        </p:nvSpPr>
        <p:spPr>
          <a:xfrm>
            <a:off x="2492817" y="5440546"/>
            <a:ext cx="57686" cy="57686"/>
          </a:xfrm>
          <a:custGeom>
            <a:avLst/>
            <a:gdLst/>
            <a:ahLst/>
            <a:cxnLst/>
            <a:rect l="l" t="t" r="r" b="b"/>
            <a:pathLst>
              <a:path w="57686" h="57686">
                <a:moveTo>
                  <a:pt x="0" y="0"/>
                </a:moveTo>
                <a:lnTo>
                  <a:pt x="57686" y="0"/>
                </a:lnTo>
                <a:lnTo>
                  <a:pt x="57686" y="57686"/>
                </a:lnTo>
                <a:lnTo>
                  <a:pt x="9115" y="57686"/>
                </a:lnTo>
                <a:lnTo>
                  <a:pt x="9305" y="50144"/>
                </a:lnTo>
                <a:lnTo>
                  <a:pt x="0" y="3927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2" name="Illustrative delivered road transport cost class 4; reference terminal Lesedi"/>
          <p:cNvSpPr/>
          <p:nvPr/>
        </p:nvSpPr>
        <p:spPr>
          <a:xfrm>
            <a:off x="2492817"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3" name="Illustrative delivered road transport cost class 4; reference terminal Lesedi"/>
          <p:cNvSpPr/>
          <p:nvPr/>
        </p:nvSpPr>
        <p:spPr>
          <a:xfrm>
            <a:off x="2492817"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4" name="Illustrative delivered road transport cost class 4; reference terminal Lesedi"/>
          <p:cNvSpPr/>
          <p:nvPr/>
        </p:nvSpPr>
        <p:spPr>
          <a:xfrm>
            <a:off x="2492817"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5" name="Illustrative delivered road transport cost class 4; reference terminal Lesedi"/>
          <p:cNvSpPr/>
          <p:nvPr/>
        </p:nvSpPr>
        <p:spPr>
          <a:xfrm>
            <a:off x="2492817"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6" name="Illustrative delivered road transport cost class 4; reference terminal Lesedi"/>
          <p:cNvSpPr/>
          <p:nvPr/>
        </p:nvSpPr>
        <p:spPr>
          <a:xfrm>
            <a:off x="2492817"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7" name="Illustrative delivered road transport cost class 4; reference terminal Lesedi"/>
          <p:cNvSpPr/>
          <p:nvPr/>
        </p:nvSpPr>
        <p:spPr>
          <a:xfrm>
            <a:off x="2492817"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8" name="Illustrative delivered road transport cost class 4; reference terminal Lesedi"/>
          <p:cNvSpPr/>
          <p:nvPr/>
        </p:nvSpPr>
        <p:spPr>
          <a:xfrm>
            <a:off x="2492817"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9" name="Illustrative delivered road transport cost class 4; reference terminal Lesedi"/>
          <p:cNvSpPr/>
          <p:nvPr/>
        </p:nvSpPr>
        <p:spPr>
          <a:xfrm>
            <a:off x="2492817"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0" name="Illustrative delivered road transport cost class 4; reference terminal Lesedi"/>
          <p:cNvSpPr/>
          <p:nvPr/>
        </p:nvSpPr>
        <p:spPr>
          <a:xfrm>
            <a:off x="249281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1" name="Illustrative delivered road transport cost class 4; reference terminal Lesedi"/>
          <p:cNvSpPr/>
          <p:nvPr/>
        </p:nvSpPr>
        <p:spPr>
          <a:xfrm>
            <a:off x="249281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2" name="Illustrative delivered road transport cost class 4; reference terminal Lesedi"/>
          <p:cNvSpPr/>
          <p:nvPr/>
        </p:nvSpPr>
        <p:spPr>
          <a:xfrm>
            <a:off x="249281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3" name="Illustrative delivered road transport cost class 4; reference terminal Lesedi"/>
          <p:cNvSpPr/>
          <p:nvPr/>
        </p:nvSpPr>
        <p:spPr>
          <a:xfrm>
            <a:off x="249281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4" name="Illustrative delivered road transport cost class 4; reference terminal Lesedi"/>
          <p:cNvSpPr/>
          <p:nvPr/>
        </p:nvSpPr>
        <p:spPr>
          <a:xfrm>
            <a:off x="249281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5" name="Illustrative delivered road transport cost class 4; reference terminal Lesedi"/>
          <p:cNvSpPr/>
          <p:nvPr/>
        </p:nvSpPr>
        <p:spPr>
          <a:xfrm>
            <a:off x="249281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6" name="Illustrative delivered road transport cost class None; reference terminal None"/>
          <p:cNvSpPr/>
          <p:nvPr/>
        </p:nvSpPr>
        <p:spPr>
          <a:xfrm>
            <a:off x="249281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7" name="Illustrative delivered road transport cost class None; reference terminal None"/>
          <p:cNvSpPr/>
          <p:nvPr/>
        </p:nvSpPr>
        <p:spPr>
          <a:xfrm>
            <a:off x="249281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8" name="Illustrative delivered road transport cost class None; reference terminal None"/>
          <p:cNvSpPr/>
          <p:nvPr/>
        </p:nvSpPr>
        <p:spPr>
          <a:xfrm>
            <a:off x="249281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9" name="Illustrative delivered road transport cost class None; reference terminal None"/>
          <p:cNvSpPr/>
          <p:nvPr/>
        </p:nvSpPr>
        <p:spPr>
          <a:xfrm>
            <a:off x="249281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0" name="Illustrative delivered road transport cost class None; reference terminal None"/>
          <p:cNvSpPr/>
          <p:nvPr/>
        </p:nvSpPr>
        <p:spPr>
          <a:xfrm>
            <a:off x="2492817"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1" name="Illustrative delivered road transport cost class 4; reference terminal Lesedi"/>
          <p:cNvSpPr/>
          <p:nvPr/>
        </p:nvSpPr>
        <p:spPr>
          <a:xfrm>
            <a:off x="2492817"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2" name="Illustrative delivered road transport cost class 4; reference terminal Lesedi"/>
          <p:cNvSpPr/>
          <p:nvPr/>
        </p:nvSpPr>
        <p:spPr>
          <a:xfrm>
            <a:off x="2492817"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3" name="Illustrative delivered road transport cost class 4; reference terminal Lesedi"/>
          <p:cNvSpPr/>
          <p:nvPr/>
        </p:nvSpPr>
        <p:spPr>
          <a:xfrm>
            <a:off x="2492817"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4" name="Illustrative delivered road transport cost class 4; reference terminal Lesedi"/>
          <p:cNvSpPr/>
          <p:nvPr/>
        </p:nvSpPr>
        <p:spPr>
          <a:xfrm>
            <a:off x="2492817"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5" name="Illustrative delivered road transport cost class 4; reference terminal Lesedi"/>
          <p:cNvSpPr/>
          <p:nvPr/>
        </p:nvSpPr>
        <p:spPr>
          <a:xfrm>
            <a:off x="2492817"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6" name="Illustrative delivered road transport cost class 4; reference terminal Lesedi"/>
          <p:cNvSpPr/>
          <p:nvPr/>
        </p:nvSpPr>
        <p:spPr>
          <a:xfrm>
            <a:off x="2492817"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7" name="Illustrative delivered road transport cost class 4; reference terminal Lesedi"/>
          <p:cNvSpPr/>
          <p:nvPr/>
        </p:nvSpPr>
        <p:spPr>
          <a:xfrm>
            <a:off x="2492817" y="3940695"/>
            <a:ext cx="57686" cy="57687"/>
          </a:xfrm>
          <a:custGeom>
            <a:avLst/>
            <a:gdLst/>
            <a:ahLst/>
            <a:cxnLst/>
            <a:rect l="l" t="t" r="r" b="b"/>
            <a:pathLst>
              <a:path w="57686" h="57687">
                <a:moveTo>
                  <a:pt x="57686" y="0"/>
                </a:moveTo>
                <a:lnTo>
                  <a:pt x="57686" y="57687"/>
                </a:lnTo>
                <a:lnTo>
                  <a:pt x="0" y="57687"/>
                </a:lnTo>
                <a:lnTo>
                  <a:pt x="0" y="21069"/>
                </a:lnTo>
                <a:lnTo>
                  <a:pt x="8428" y="15396"/>
                </a:lnTo>
                <a:lnTo>
                  <a:pt x="52698"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8" name="Illustrative delivered road transport cost class 4; reference terminal Lesedi"/>
          <p:cNvSpPr/>
          <p:nvPr/>
        </p:nvSpPr>
        <p:spPr>
          <a:xfrm>
            <a:off x="2549204" y="3421516"/>
            <a:ext cx="1299" cy="32656"/>
          </a:xfrm>
          <a:custGeom>
            <a:avLst/>
            <a:gdLst/>
            <a:ahLst/>
            <a:cxnLst/>
            <a:rect l="l" t="t" r="r" b="b"/>
            <a:pathLst>
              <a:path w="1299" h="32656">
                <a:moveTo>
                  <a:pt x="1299" y="0"/>
                </a:moveTo>
                <a:lnTo>
                  <a:pt x="1299" y="32656"/>
                </a:lnTo>
                <a:lnTo>
                  <a:pt x="1081" y="27216"/>
                </a:lnTo>
                <a:lnTo>
                  <a:pt x="0" y="0"/>
                </a:lnTo>
                <a:lnTo>
                  <a:pt x="129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9" name="Illustrative delivered road transport cost class 4; reference terminal Lesedi"/>
          <p:cNvSpPr/>
          <p:nvPr/>
        </p:nvSpPr>
        <p:spPr>
          <a:xfrm>
            <a:off x="2546913" y="3363829"/>
            <a:ext cx="3590" cy="57687"/>
          </a:xfrm>
          <a:custGeom>
            <a:avLst/>
            <a:gdLst/>
            <a:ahLst/>
            <a:cxnLst/>
            <a:rect l="l" t="t" r="r" b="b"/>
            <a:pathLst>
              <a:path w="3590" h="57687">
                <a:moveTo>
                  <a:pt x="3590" y="0"/>
                </a:moveTo>
                <a:lnTo>
                  <a:pt x="3590" y="57687"/>
                </a:lnTo>
                <a:lnTo>
                  <a:pt x="2291" y="57687"/>
                </a:lnTo>
                <a:lnTo>
                  <a:pt x="0" y="0"/>
                </a:lnTo>
                <a:lnTo>
                  <a:pt x="35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0" name="Illustrative delivered road transport cost class 4; reference terminal Lesedi"/>
          <p:cNvSpPr/>
          <p:nvPr/>
        </p:nvSpPr>
        <p:spPr>
          <a:xfrm>
            <a:off x="2544635" y="3306143"/>
            <a:ext cx="5868" cy="57686"/>
          </a:xfrm>
          <a:custGeom>
            <a:avLst/>
            <a:gdLst/>
            <a:ahLst/>
            <a:cxnLst/>
            <a:rect l="l" t="t" r="r" b="b"/>
            <a:pathLst>
              <a:path w="5868" h="57686">
                <a:moveTo>
                  <a:pt x="5868" y="0"/>
                </a:moveTo>
                <a:lnTo>
                  <a:pt x="5868" y="57686"/>
                </a:lnTo>
                <a:lnTo>
                  <a:pt x="2278" y="57686"/>
                </a:lnTo>
                <a:lnTo>
                  <a:pt x="1135" y="28904"/>
                </a:lnTo>
                <a:lnTo>
                  <a:pt x="0" y="0"/>
                </a:lnTo>
                <a:lnTo>
                  <a:pt x="586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1" name="Illustrative delivered road transport cost class 4; reference terminal Lesedi"/>
          <p:cNvSpPr/>
          <p:nvPr/>
        </p:nvSpPr>
        <p:spPr>
          <a:xfrm>
            <a:off x="2542370" y="3248456"/>
            <a:ext cx="8133" cy="57687"/>
          </a:xfrm>
          <a:custGeom>
            <a:avLst/>
            <a:gdLst/>
            <a:ahLst/>
            <a:cxnLst/>
            <a:rect l="l" t="t" r="r" b="b"/>
            <a:pathLst>
              <a:path w="8133" h="57687">
                <a:moveTo>
                  <a:pt x="8133" y="0"/>
                </a:moveTo>
                <a:lnTo>
                  <a:pt x="8133" y="57687"/>
                </a:lnTo>
                <a:lnTo>
                  <a:pt x="2265" y="57687"/>
                </a:lnTo>
                <a:lnTo>
                  <a:pt x="0" y="0"/>
                </a:lnTo>
                <a:lnTo>
                  <a:pt x="813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2" name="Illustrative delivered road transport cost class 4; reference terminal Lesedi"/>
          <p:cNvSpPr/>
          <p:nvPr/>
        </p:nvSpPr>
        <p:spPr>
          <a:xfrm>
            <a:off x="2540119" y="3190770"/>
            <a:ext cx="10384" cy="57686"/>
          </a:xfrm>
          <a:custGeom>
            <a:avLst/>
            <a:gdLst/>
            <a:ahLst/>
            <a:cxnLst/>
            <a:rect l="l" t="t" r="r" b="b"/>
            <a:pathLst>
              <a:path w="10384" h="57686">
                <a:moveTo>
                  <a:pt x="10384" y="0"/>
                </a:moveTo>
                <a:lnTo>
                  <a:pt x="10384" y="57686"/>
                </a:lnTo>
                <a:lnTo>
                  <a:pt x="2251" y="57686"/>
                </a:lnTo>
                <a:lnTo>
                  <a:pt x="1189" y="30632"/>
                </a:lnTo>
                <a:lnTo>
                  <a:pt x="0" y="0"/>
                </a:lnTo>
                <a:lnTo>
                  <a:pt x="1038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3" name="Illustrative delivered road transport cost class 4; reference terminal Lesedi"/>
          <p:cNvSpPr/>
          <p:nvPr/>
        </p:nvSpPr>
        <p:spPr>
          <a:xfrm>
            <a:off x="2537880" y="3133083"/>
            <a:ext cx="12623" cy="57687"/>
          </a:xfrm>
          <a:custGeom>
            <a:avLst/>
            <a:gdLst/>
            <a:ahLst/>
            <a:cxnLst/>
            <a:rect l="l" t="t" r="r" b="b"/>
            <a:pathLst>
              <a:path w="12623" h="57687">
                <a:moveTo>
                  <a:pt x="12623" y="0"/>
                </a:moveTo>
                <a:lnTo>
                  <a:pt x="12623" y="57687"/>
                </a:lnTo>
                <a:lnTo>
                  <a:pt x="2239" y="57687"/>
                </a:lnTo>
                <a:lnTo>
                  <a:pt x="0" y="0"/>
                </a:lnTo>
                <a:lnTo>
                  <a:pt x="126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4" name="Illustrative delivered road transport cost class 4; reference terminal Lesedi"/>
          <p:cNvSpPr/>
          <p:nvPr/>
        </p:nvSpPr>
        <p:spPr>
          <a:xfrm>
            <a:off x="2535654" y="3075396"/>
            <a:ext cx="14849" cy="57687"/>
          </a:xfrm>
          <a:custGeom>
            <a:avLst/>
            <a:gdLst/>
            <a:ahLst/>
            <a:cxnLst/>
            <a:rect l="l" t="t" r="r" b="b"/>
            <a:pathLst>
              <a:path w="14849" h="57687">
                <a:moveTo>
                  <a:pt x="14849" y="0"/>
                </a:moveTo>
                <a:lnTo>
                  <a:pt x="14849" y="57687"/>
                </a:lnTo>
                <a:lnTo>
                  <a:pt x="2226" y="57687"/>
                </a:lnTo>
                <a:lnTo>
                  <a:pt x="1242" y="32353"/>
                </a:lnTo>
                <a:lnTo>
                  <a:pt x="0" y="0"/>
                </a:lnTo>
                <a:lnTo>
                  <a:pt x="1484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5" name="Illustrative delivered road transport cost class 4; reference terminal Lesedi"/>
          <p:cNvSpPr/>
          <p:nvPr/>
        </p:nvSpPr>
        <p:spPr>
          <a:xfrm>
            <a:off x="2533440" y="3017710"/>
            <a:ext cx="17063" cy="57686"/>
          </a:xfrm>
          <a:custGeom>
            <a:avLst/>
            <a:gdLst/>
            <a:ahLst/>
            <a:cxnLst/>
            <a:rect l="l" t="t" r="r" b="b"/>
            <a:pathLst>
              <a:path w="17063" h="57686">
                <a:moveTo>
                  <a:pt x="17063" y="0"/>
                </a:moveTo>
                <a:lnTo>
                  <a:pt x="17063" y="57686"/>
                </a:lnTo>
                <a:lnTo>
                  <a:pt x="2214" y="57686"/>
                </a:lnTo>
                <a:lnTo>
                  <a:pt x="0" y="0"/>
                </a:lnTo>
                <a:lnTo>
                  <a:pt x="1706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6" name="Illustrative delivered road transport cost class None; reference terminal None"/>
          <p:cNvSpPr/>
          <p:nvPr/>
        </p:nvSpPr>
        <p:spPr>
          <a:xfrm>
            <a:off x="2532778" y="3000452"/>
            <a:ext cx="17725" cy="17258"/>
          </a:xfrm>
          <a:custGeom>
            <a:avLst/>
            <a:gdLst/>
            <a:ahLst/>
            <a:cxnLst/>
            <a:rect l="l" t="t" r="r" b="b"/>
            <a:pathLst>
              <a:path w="17725" h="17258">
                <a:moveTo>
                  <a:pt x="17725" y="17258"/>
                </a:moveTo>
                <a:lnTo>
                  <a:pt x="662" y="17258"/>
                </a:lnTo>
                <a:lnTo>
                  <a:pt x="0" y="0"/>
                </a:lnTo>
                <a:lnTo>
                  <a:pt x="11517" y="7276"/>
                </a:lnTo>
                <a:lnTo>
                  <a:pt x="17725" y="11700"/>
                </a:lnTo>
                <a:lnTo>
                  <a:pt x="17725" y="172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7" name="Illustrative delivered road transport cost class 4; reference terminal Durban"/>
          <p:cNvSpPr/>
          <p:nvPr/>
        </p:nvSpPr>
        <p:spPr>
          <a:xfrm>
            <a:off x="2550503" y="5498232"/>
            <a:ext cx="57687" cy="56008"/>
          </a:xfrm>
          <a:custGeom>
            <a:avLst/>
            <a:gdLst/>
            <a:ahLst/>
            <a:cxnLst/>
            <a:rect l="l" t="t" r="r" b="b"/>
            <a:pathLst>
              <a:path w="57687" h="56008">
                <a:moveTo>
                  <a:pt x="0" y="0"/>
                </a:moveTo>
                <a:lnTo>
                  <a:pt x="57687" y="0"/>
                </a:lnTo>
                <a:lnTo>
                  <a:pt x="57687" y="54951"/>
                </a:lnTo>
                <a:lnTo>
                  <a:pt x="19459" y="56008"/>
                </a:lnTo>
                <a:lnTo>
                  <a:pt x="0" y="4317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8" name="Illustrative delivered road transport cost class 4; reference terminal Durban"/>
          <p:cNvSpPr/>
          <p:nvPr/>
        </p:nvSpPr>
        <p:spPr>
          <a:xfrm>
            <a:off x="2550503" y="544054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9" name="Illustrative delivered road transport cost class 4; reference terminal Durban"/>
          <p:cNvSpPr/>
          <p:nvPr/>
        </p:nvSpPr>
        <p:spPr>
          <a:xfrm>
            <a:off x="255050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0" name="Illustrative delivered road transport cost class 4; reference terminal Lesedi"/>
          <p:cNvSpPr/>
          <p:nvPr/>
        </p:nvSpPr>
        <p:spPr>
          <a:xfrm>
            <a:off x="255050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1" name="Illustrative delivered road transport cost class 4; reference terminal Lesedi"/>
          <p:cNvSpPr/>
          <p:nvPr/>
        </p:nvSpPr>
        <p:spPr>
          <a:xfrm>
            <a:off x="255050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2" name="Illustrative delivered road transport cost class 4; reference terminal Lesedi"/>
          <p:cNvSpPr/>
          <p:nvPr/>
        </p:nvSpPr>
        <p:spPr>
          <a:xfrm>
            <a:off x="255050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3" name="Illustrative delivered road transport cost class 4; reference terminal Lesedi"/>
          <p:cNvSpPr/>
          <p:nvPr/>
        </p:nvSpPr>
        <p:spPr>
          <a:xfrm>
            <a:off x="255050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4" name="Illustrative delivered road transport cost class 4; reference terminal Lesedi"/>
          <p:cNvSpPr/>
          <p:nvPr/>
        </p:nvSpPr>
        <p:spPr>
          <a:xfrm>
            <a:off x="255050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5" name="Illustrative delivered road transport cost class 4; reference terminal Lesedi"/>
          <p:cNvSpPr/>
          <p:nvPr/>
        </p:nvSpPr>
        <p:spPr>
          <a:xfrm>
            <a:off x="255050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6" name="Illustrative delivered road transport cost class 4; reference terminal Lesedi"/>
          <p:cNvSpPr/>
          <p:nvPr/>
        </p:nvSpPr>
        <p:spPr>
          <a:xfrm>
            <a:off x="255050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7" name="Illustrative delivered road transport cost class 4; reference terminal Lesedi"/>
          <p:cNvSpPr/>
          <p:nvPr/>
        </p:nvSpPr>
        <p:spPr>
          <a:xfrm>
            <a:off x="255050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8" name="Illustrative delivered road transport cost class 4; reference terminal Lesedi"/>
          <p:cNvSpPr/>
          <p:nvPr/>
        </p:nvSpPr>
        <p:spPr>
          <a:xfrm>
            <a:off x="255050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9" name="Illustrative delivered road transport cost class 4; reference terminal Lesedi"/>
          <p:cNvSpPr/>
          <p:nvPr/>
        </p:nvSpPr>
        <p:spPr>
          <a:xfrm>
            <a:off x="255050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0" name="Illustrative delivered road transport cost class None; reference terminal None"/>
          <p:cNvSpPr/>
          <p:nvPr/>
        </p:nvSpPr>
        <p:spPr>
          <a:xfrm>
            <a:off x="255050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1" name="Illustrative delivered road transport cost class None; reference terminal None"/>
          <p:cNvSpPr/>
          <p:nvPr/>
        </p:nvSpPr>
        <p:spPr>
          <a:xfrm>
            <a:off x="255050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2" name="Illustrative delivered road transport cost class None; reference terminal None"/>
          <p:cNvSpPr/>
          <p:nvPr/>
        </p:nvSpPr>
        <p:spPr>
          <a:xfrm>
            <a:off x="255050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3" name="Illustrative delivered road transport cost class None; reference terminal None"/>
          <p:cNvSpPr/>
          <p:nvPr/>
        </p:nvSpPr>
        <p:spPr>
          <a:xfrm>
            <a:off x="255050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4" name="Illustrative delivered road transport cost class None; reference terminal None"/>
          <p:cNvSpPr/>
          <p:nvPr/>
        </p:nvSpPr>
        <p:spPr>
          <a:xfrm>
            <a:off x="255050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5" name="Illustrative delivered road transport cost class None; reference terminal None"/>
          <p:cNvSpPr/>
          <p:nvPr/>
        </p:nvSpPr>
        <p:spPr>
          <a:xfrm>
            <a:off x="255050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6" name="Illustrative delivered road transport cost class None; reference terminal None"/>
          <p:cNvSpPr/>
          <p:nvPr/>
        </p:nvSpPr>
        <p:spPr>
          <a:xfrm>
            <a:off x="255050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7" name="Illustrative delivered road transport cost class None; reference terminal None"/>
          <p:cNvSpPr/>
          <p:nvPr/>
        </p:nvSpPr>
        <p:spPr>
          <a:xfrm>
            <a:off x="255050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8" name="Illustrative delivered road transport cost class None; reference terminal None"/>
          <p:cNvSpPr/>
          <p:nvPr/>
        </p:nvSpPr>
        <p:spPr>
          <a:xfrm>
            <a:off x="255050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9" name="Illustrative delivered road transport cost class 4; reference terminal Lesedi"/>
          <p:cNvSpPr/>
          <p:nvPr/>
        </p:nvSpPr>
        <p:spPr>
          <a:xfrm>
            <a:off x="255050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0" name="Illustrative delivered road transport cost class 4; reference terminal Lesedi"/>
          <p:cNvSpPr/>
          <p:nvPr/>
        </p:nvSpPr>
        <p:spPr>
          <a:xfrm>
            <a:off x="255050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1" name="Illustrative delivered road transport cost class 4; reference terminal Lesedi"/>
          <p:cNvSpPr/>
          <p:nvPr/>
        </p:nvSpPr>
        <p:spPr>
          <a:xfrm>
            <a:off x="255050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2" name="Illustrative delivered road transport cost class 4; reference terminal Lesedi"/>
          <p:cNvSpPr/>
          <p:nvPr/>
        </p:nvSpPr>
        <p:spPr>
          <a:xfrm>
            <a:off x="255050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3" name="Illustrative delivered road transport cost class 4; reference terminal Lesedi"/>
          <p:cNvSpPr/>
          <p:nvPr/>
        </p:nvSpPr>
        <p:spPr>
          <a:xfrm>
            <a:off x="255050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4" name="Illustrative delivered road transport cost class 4; reference terminal Lesedi"/>
          <p:cNvSpPr/>
          <p:nvPr/>
        </p:nvSpPr>
        <p:spPr>
          <a:xfrm>
            <a:off x="255050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5" name="Illustrative delivered road transport cost class 4; reference terminal Lesedi"/>
          <p:cNvSpPr/>
          <p:nvPr/>
        </p:nvSpPr>
        <p:spPr>
          <a:xfrm>
            <a:off x="2550503" y="3883008"/>
            <a:ext cx="57687" cy="57687"/>
          </a:xfrm>
          <a:custGeom>
            <a:avLst/>
            <a:gdLst/>
            <a:ahLst/>
            <a:cxnLst/>
            <a:rect l="l" t="t" r="r" b="b"/>
            <a:pathLst>
              <a:path w="57687" h="57687">
                <a:moveTo>
                  <a:pt x="57687" y="0"/>
                </a:moveTo>
                <a:lnTo>
                  <a:pt x="57687" y="57687"/>
                </a:lnTo>
                <a:lnTo>
                  <a:pt x="0" y="57687"/>
                </a:lnTo>
                <a:lnTo>
                  <a:pt x="0" y="57034"/>
                </a:lnTo>
                <a:lnTo>
                  <a:pt x="19858" y="56596"/>
                </a:lnTo>
                <a:lnTo>
                  <a:pt x="18352" y="20565"/>
                </a:lnTo>
                <a:lnTo>
                  <a:pt x="17499"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6" name="Illustrative delivered road transport cost class 4; reference terminal Lesedi"/>
          <p:cNvSpPr/>
          <p:nvPr/>
        </p:nvSpPr>
        <p:spPr>
          <a:xfrm>
            <a:off x="2565608" y="3825322"/>
            <a:ext cx="42582" cy="57686"/>
          </a:xfrm>
          <a:custGeom>
            <a:avLst/>
            <a:gdLst/>
            <a:ahLst/>
            <a:cxnLst/>
            <a:rect l="l" t="t" r="r" b="b"/>
            <a:pathLst>
              <a:path w="42582" h="57686">
                <a:moveTo>
                  <a:pt x="42582" y="0"/>
                </a:moveTo>
                <a:lnTo>
                  <a:pt x="42582" y="57686"/>
                </a:lnTo>
                <a:lnTo>
                  <a:pt x="2394" y="57686"/>
                </a:lnTo>
                <a:lnTo>
                  <a:pt x="0" y="0"/>
                </a:lnTo>
                <a:lnTo>
                  <a:pt x="425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7" name="Illustrative delivered road transport cost class 4; reference terminal Lesedi"/>
          <p:cNvSpPr/>
          <p:nvPr/>
        </p:nvSpPr>
        <p:spPr>
          <a:xfrm>
            <a:off x="2563224" y="3767635"/>
            <a:ext cx="44966" cy="57687"/>
          </a:xfrm>
          <a:custGeom>
            <a:avLst/>
            <a:gdLst/>
            <a:ahLst/>
            <a:cxnLst/>
            <a:rect l="l" t="t" r="r" b="b"/>
            <a:pathLst>
              <a:path w="44966" h="57687">
                <a:moveTo>
                  <a:pt x="44966" y="0"/>
                </a:moveTo>
                <a:lnTo>
                  <a:pt x="44966" y="57687"/>
                </a:lnTo>
                <a:lnTo>
                  <a:pt x="2384" y="57687"/>
                </a:lnTo>
                <a:lnTo>
                  <a:pt x="912" y="22206"/>
                </a:lnTo>
                <a:lnTo>
                  <a:pt x="0" y="0"/>
                </a:lnTo>
                <a:lnTo>
                  <a:pt x="449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8" name="Illustrative delivered road transport cost class 4; reference terminal Lesedi"/>
          <p:cNvSpPr/>
          <p:nvPr/>
        </p:nvSpPr>
        <p:spPr>
          <a:xfrm>
            <a:off x="2560856" y="3709949"/>
            <a:ext cx="47334" cy="57686"/>
          </a:xfrm>
          <a:custGeom>
            <a:avLst/>
            <a:gdLst/>
            <a:ahLst/>
            <a:cxnLst/>
            <a:rect l="l" t="t" r="r" b="b"/>
            <a:pathLst>
              <a:path w="47334" h="57686">
                <a:moveTo>
                  <a:pt x="47334" y="0"/>
                </a:moveTo>
                <a:lnTo>
                  <a:pt x="47334" y="57686"/>
                </a:lnTo>
                <a:lnTo>
                  <a:pt x="2368" y="57686"/>
                </a:lnTo>
                <a:lnTo>
                  <a:pt x="0" y="0"/>
                </a:lnTo>
                <a:lnTo>
                  <a:pt x="4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9" name="Illustrative delivered road transport cost class 4; reference terminal Lesedi"/>
          <p:cNvSpPr/>
          <p:nvPr/>
        </p:nvSpPr>
        <p:spPr>
          <a:xfrm>
            <a:off x="2558498" y="3652262"/>
            <a:ext cx="49692" cy="57687"/>
          </a:xfrm>
          <a:custGeom>
            <a:avLst/>
            <a:gdLst/>
            <a:ahLst/>
            <a:cxnLst/>
            <a:rect l="l" t="t" r="r" b="b"/>
            <a:pathLst>
              <a:path w="49692" h="57687">
                <a:moveTo>
                  <a:pt x="49692" y="0"/>
                </a:moveTo>
                <a:lnTo>
                  <a:pt x="49692" y="57687"/>
                </a:lnTo>
                <a:lnTo>
                  <a:pt x="2358" y="57687"/>
                </a:lnTo>
                <a:lnTo>
                  <a:pt x="969" y="23856"/>
                </a:lnTo>
                <a:lnTo>
                  <a:pt x="0" y="0"/>
                </a:lnTo>
                <a:lnTo>
                  <a:pt x="4969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0" name="Illustrative delivered road transport cost class 4; reference terminal Lesedi"/>
          <p:cNvSpPr/>
          <p:nvPr/>
        </p:nvSpPr>
        <p:spPr>
          <a:xfrm>
            <a:off x="2556156" y="3594576"/>
            <a:ext cx="52034" cy="57686"/>
          </a:xfrm>
          <a:custGeom>
            <a:avLst/>
            <a:gdLst/>
            <a:ahLst/>
            <a:cxnLst/>
            <a:rect l="l" t="t" r="r" b="b"/>
            <a:pathLst>
              <a:path w="52034" h="57686">
                <a:moveTo>
                  <a:pt x="52034" y="0"/>
                </a:moveTo>
                <a:lnTo>
                  <a:pt x="52034" y="57686"/>
                </a:lnTo>
                <a:lnTo>
                  <a:pt x="2342" y="57686"/>
                </a:lnTo>
                <a:lnTo>
                  <a:pt x="0" y="0"/>
                </a:lnTo>
                <a:lnTo>
                  <a:pt x="520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1" name="Illustrative delivered road transport cost class 4; reference terminal Lesedi"/>
          <p:cNvSpPr/>
          <p:nvPr/>
        </p:nvSpPr>
        <p:spPr>
          <a:xfrm>
            <a:off x="2553825" y="3536889"/>
            <a:ext cx="54365" cy="57687"/>
          </a:xfrm>
          <a:custGeom>
            <a:avLst/>
            <a:gdLst/>
            <a:ahLst/>
            <a:cxnLst/>
            <a:rect l="l" t="t" r="r" b="b"/>
            <a:pathLst>
              <a:path w="54365" h="57687">
                <a:moveTo>
                  <a:pt x="54365" y="0"/>
                </a:moveTo>
                <a:lnTo>
                  <a:pt x="54365" y="57687"/>
                </a:lnTo>
                <a:lnTo>
                  <a:pt x="2331" y="57687"/>
                </a:lnTo>
                <a:lnTo>
                  <a:pt x="1026" y="25543"/>
                </a:lnTo>
                <a:lnTo>
                  <a:pt x="0" y="0"/>
                </a:lnTo>
                <a:lnTo>
                  <a:pt x="5436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2" name="Illustrative delivered road transport cost class 4; reference terminal Lesedi"/>
          <p:cNvSpPr/>
          <p:nvPr/>
        </p:nvSpPr>
        <p:spPr>
          <a:xfrm>
            <a:off x="2551508" y="3479202"/>
            <a:ext cx="56682" cy="57687"/>
          </a:xfrm>
          <a:custGeom>
            <a:avLst/>
            <a:gdLst/>
            <a:ahLst/>
            <a:cxnLst/>
            <a:rect l="l" t="t" r="r" b="b"/>
            <a:pathLst>
              <a:path w="56682" h="57687">
                <a:moveTo>
                  <a:pt x="56682" y="0"/>
                </a:moveTo>
                <a:lnTo>
                  <a:pt x="56682" y="57687"/>
                </a:lnTo>
                <a:lnTo>
                  <a:pt x="2317" y="57687"/>
                </a:lnTo>
                <a:lnTo>
                  <a:pt x="0" y="0"/>
                </a:lnTo>
                <a:lnTo>
                  <a:pt x="566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3" name="Illustrative delivered road transport cost class 4; reference terminal Lesedi"/>
          <p:cNvSpPr/>
          <p:nvPr/>
        </p:nvSpPr>
        <p:spPr>
          <a:xfrm>
            <a:off x="2550503" y="3421516"/>
            <a:ext cx="57687" cy="57686"/>
          </a:xfrm>
          <a:custGeom>
            <a:avLst/>
            <a:gdLst/>
            <a:ahLst/>
            <a:cxnLst/>
            <a:rect l="l" t="t" r="r" b="b"/>
            <a:pathLst>
              <a:path w="57687" h="57686">
                <a:moveTo>
                  <a:pt x="0" y="0"/>
                </a:moveTo>
                <a:lnTo>
                  <a:pt x="57687" y="0"/>
                </a:lnTo>
                <a:lnTo>
                  <a:pt x="57687" y="57686"/>
                </a:lnTo>
                <a:lnTo>
                  <a:pt x="1005" y="57686"/>
                </a:lnTo>
                <a:lnTo>
                  <a:pt x="0" y="3265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4" name="Illustrative delivered road transport cost class 4; reference terminal Lesedi"/>
          <p:cNvSpPr/>
          <p:nvPr/>
        </p:nvSpPr>
        <p:spPr>
          <a:xfrm>
            <a:off x="255050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5" name="Illustrative delivered road transport cost class 4; reference terminal Lesedi"/>
          <p:cNvSpPr/>
          <p:nvPr/>
        </p:nvSpPr>
        <p:spPr>
          <a:xfrm>
            <a:off x="255050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6" name="Illustrative delivered road transport cost class 4; reference terminal Lesedi"/>
          <p:cNvSpPr/>
          <p:nvPr/>
        </p:nvSpPr>
        <p:spPr>
          <a:xfrm>
            <a:off x="255050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7" name="Illustrative delivered road transport cost class 4; reference terminal Lesedi"/>
          <p:cNvSpPr/>
          <p:nvPr/>
        </p:nvSpPr>
        <p:spPr>
          <a:xfrm>
            <a:off x="255050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8" name="Illustrative delivered road transport cost class 4; reference terminal Lesedi"/>
          <p:cNvSpPr/>
          <p:nvPr/>
        </p:nvSpPr>
        <p:spPr>
          <a:xfrm>
            <a:off x="255050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9" name="Illustrative delivered road transport cost class 4; reference terminal Lesedi"/>
          <p:cNvSpPr/>
          <p:nvPr/>
        </p:nvSpPr>
        <p:spPr>
          <a:xfrm>
            <a:off x="255050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0" name="Illustrative delivered road transport cost class 4; reference terminal Lesedi"/>
          <p:cNvSpPr/>
          <p:nvPr/>
        </p:nvSpPr>
        <p:spPr>
          <a:xfrm>
            <a:off x="2550503" y="3017710"/>
            <a:ext cx="57687" cy="57686"/>
          </a:xfrm>
          <a:custGeom>
            <a:avLst/>
            <a:gdLst/>
            <a:ahLst/>
            <a:cxnLst/>
            <a:rect l="l" t="t" r="r" b="b"/>
            <a:pathLst>
              <a:path w="57687" h="57686">
                <a:moveTo>
                  <a:pt x="57687" y="57686"/>
                </a:moveTo>
                <a:lnTo>
                  <a:pt x="0" y="57686"/>
                </a:lnTo>
                <a:lnTo>
                  <a:pt x="0" y="0"/>
                </a:lnTo>
                <a:lnTo>
                  <a:pt x="7800" y="0"/>
                </a:lnTo>
                <a:lnTo>
                  <a:pt x="57687" y="35548"/>
                </a:lnTo>
                <a:lnTo>
                  <a:pt x="57687"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1" name="Illustrative delivered road transport cost class None; reference terminal None"/>
          <p:cNvSpPr/>
          <p:nvPr/>
        </p:nvSpPr>
        <p:spPr>
          <a:xfrm>
            <a:off x="2550503" y="3012152"/>
            <a:ext cx="7800" cy="5558"/>
          </a:xfrm>
          <a:custGeom>
            <a:avLst/>
            <a:gdLst/>
            <a:ahLst/>
            <a:cxnLst/>
            <a:rect l="l" t="t" r="r" b="b"/>
            <a:pathLst>
              <a:path w="7800" h="5558">
                <a:moveTo>
                  <a:pt x="0" y="5558"/>
                </a:moveTo>
                <a:lnTo>
                  <a:pt x="0" y="0"/>
                </a:lnTo>
                <a:lnTo>
                  <a:pt x="7800" y="5558"/>
                </a:lnTo>
                <a:lnTo>
                  <a:pt x="0" y="55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2" name="Illustrative delivered road transport cost class 4; reference terminal Durban"/>
          <p:cNvSpPr/>
          <p:nvPr/>
        </p:nvSpPr>
        <p:spPr>
          <a:xfrm>
            <a:off x="2627732" y="5555919"/>
            <a:ext cx="27334" cy="2892"/>
          </a:xfrm>
          <a:custGeom>
            <a:avLst/>
            <a:gdLst/>
            <a:ahLst/>
            <a:cxnLst/>
            <a:rect l="l" t="t" r="r" b="b"/>
            <a:pathLst>
              <a:path w="27334" h="2892">
                <a:moveTo>
                  <a:pt x="27334" y="0"/>
                </a:moveTo>
                <a:lnTo>
                  <a:pt x="24061" y="2892"/>
                </a:lnTo>
                <a:lnTo>
                  <a:pt x="4009" y="955"/>
                </a:lnTo>
                <a:lnTo>
                  <a:pt x="0" y="0"/>
                </a:lnTo>
                <a:lnTo>
                  <a:pt x="2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3" name="Illustrative delivered road transport cost class 4; reference terminal Durban"/>
          <p:cNvSpPr/>
          <p:nvPr/>
        </p:nvSpPr>
        <p:spPr>
          <a:xfrm>
            <a:off x="2608190" y="5498232"/>
            <a:ext cx="57686" cy="57687"/>
          </a:xfrm>
          <a:custGeom>
            <a:avLst/>
            <a:gdLst/>
            <a:ahLst/>
            <a:cxnLst/>
            <a:rect l="l" t="t" r="r" b="b"/>
            <a:pathLst>
              <a:path w="57686" h="57687">
                <a:moveTo>
                  <a:pt x="0" y="0"/>
                </a:moveTo>
                <a:lnTo>
                  <a:pt x="57686" y="0"/>
                </a:lnTo>
                <a:lnTo>
                  <a:pt x="57686" y="48136"/>
                </a:lnTo>
                <a:lnTo>
                  <a:pt x="46876" y="57687"/>
                </a:lnTo>
                <a:lnTo>
                  <a:pt x="19542" y="57687"/>
                </a:lnTo>
                <a:lnTo>
                  <a:pt x="7220" y="54751"/>
                </a:lnTo>
                <a:lnTo>
                  <a:pt x="0" y="5495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4" name="Illustrative delivered road transport cost class 4; reference terminal Durban"/>
          <p:cNvSpPr/>
          <p:nvPr/>
        </p:nvSpPr>
        <p:spPr>
          <a:xfrm>
            <a:off x="2608190" y="544054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5" name="Illustrative delivered road transport cost class 4; reference terminal Durban"/>
          <p:cNvSpPr/>
          <p:nvPr/>
        </p:nvSpPr>
        <p:spPr>
          <a:xfrm>
            <a:off x="260819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6" name="Illustrative delivered road transport cost class 4; reference terminal Lesedi"/>
          <p:cNvSpPr/>
          <p:nvPr/>
        </p:nvSpPr>
        <p:spPr>
          <a:xfrm>
            <a:off x="260819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7" name="Illustrative delivered road transport cost class 4; reference terminal Lesedi"/>
          <p:cNvSpPr/>
          <p:nvPr/>
        </p:nvSpPr>
        <p:spPr>
          <a:xfrm>
            <a:off x="260819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8" name="Illustrative delivered road transport cost class 4; reference terminal Lesedi"/>
          <p:cNvSpPr/>
          <p:nvPr/>
        </p:nvSpPr>
        <p:spPr>
          <a:xfrm>
            <a:off x="260819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9" name="Illustrative delivered road transport cost class 4; reference terminal Lesedi"/>
          <p:cNvSpPr/>
          <p:nvPr/>
        </p:nvSpPr>
        <p:spPr>
          <a:xfrm>
            <a:off x="260819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0" name="Illustrative delivered road transport cost class 4; reference terminal Lesedi"/>
          <p:cNvSpPr/>
          <p:nvPr/>
        </p:nvSpPr>
        <p:spPr>
          <a:xfrm>
            <a:off x="260819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1" name="Illustrative delivered road transport cost class 4; reference terminal Lesedi"/>
          <p:cNvSpPr/>
          <p:nvPr/>
        </p:nvSpPr>
        <p:spPr>
          <a:xfrm>
            <a:off x="260819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2" name="Illustrative delivered road transport cost class 4; reference terminal Lesedi"/>
          <p:cNvSpPr/>
          <p:nvPr/>
        </p:nvSpPr>
        <p:spPr>
          <a:xfrm>
            <a:off x="260819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3" name="Illustrative delivered road transport cost class 4; reference terminal Lesedi"/>
          <p:cNvSpPr/>
          <p:nvPr/>
        </p:nvSpPr>
        <p:spPr>
          <a:xfrm>
            <a:off x="260819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4" name="Illustrative delivered road transport cost class None; reference terminal None"/>
          <p:cNvSpPr/>
          <p:nvPr/>
        </p:nvSpPr>
        <p:spPr>
          <a:xfrm>
            <a:off x="260819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5" name="Illustrative delivered road transport cost class None; reference terminal None"/>
          <p:cNvSpPr/>
          <p:nvPr/>
        </p:nvSpPr>
        <p:spPr>
          <a:xfrm>
            <a:off x="260819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6" name="Illustrative delivered road transport cost class None; reference terminal None"/>
          <p:cNvSpPr/>
          <p:nvPr/>
        </p:nvSpPr>
        <p:spPr>
          <a:xfrm>
            <a:off x="260819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7" name="Illustrative delivered road transport cost class None; reference terminal None"/>
          <p:cNvSpPr/>
          <p:nvPr/>
        </p:nvSpPr>
        <p:spPr>
          <a:xfrm>
            <a:off x="260819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8" name="Illustrative delivered road transport cost class None; reference terminal None"/>
          <p:cNvSpPr/>
          <p:nvPr/>
        </p:nvSpPr>
        <p:spPr>
          <a:xfrm>
            <a:off x="260819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9" name="Illustrative delivered road transport cost class None; reference terminal None"/>
          <p:cNvSpPr/>
          <p:nvPr/>
        </p:nvSpPr>
        <p:spPr>
          <a:xfrm>
            <a:off x="260819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0" name="Illustrative delivered road transport cost class None; reference terminal None"/>
          <p:cNvSpPr/>
          <p:nvPr/>
        </p:nvSpPr>
        <p:spPr>
          <a:xfrm>
            <a:off x="260819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1" name="Illustrative delivered road transport cost class None; reference terminal None"/>
          <p:cNvSpPr/>
          <p:nvPr/>
        </p:nvSpPr>
        <p:spPr>
          <a:xfrm>
            <a:off x="260819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2" name="Illustrative delivered road transport cost class None; reference terminal None"/>
          <p:cNvSpPr/>
          <p:nvPr/>
        </p:nvSpPr>
        <p:spPr>
          <a:xfrm>
            <a:off x="260819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3" name="Illustrative delivered road transport cost class None; reference terminal None"/>
          <p:cNvSpPr/>
          <p:nvPr/>
        </p:nvSpPr>
        <p:spPr>
          <a:xfrm>
            <a:off x="260819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4" name="Illustrative delivered road transport cost class None; reference terminal None"/>
          <p:cNvSpPr/>
          <p:nvPr/>
        </p:nvSpPr>
        <p:spPr>
          <a:xfrm>
            <a:off x="260819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5" name="Illustrative delivered road transport cost class None; reference terminal None"/>
          <p:cNvSpPr/>
          <p:nvPr/>
        </p:nvSpPr>
        <p:spPr>
          <a:xfrm>
            <a:off x="260819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6" name="Illustrative delivered road transport cost class 4; reference terminal Lesedi"/>
          <p:cNvSpPr/>
          <p:nvPr/>
        </p:nvSpPr>
        <p:spPr>
          <a:xfrm>
            <a:off x="260819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7" name="Illustrative delivered road transport cost class 4; reference terminal Lesedi"/>
          <p:cNvSpPr/>
          <p:nvPr/>
        </p:nvSpPr>
        <p:spPr>
          <a:xfrm>
            <a:off x="260819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8" name="Illustrative delivered road transport cost class 4; reference terminal Lesedi"/>
          <p:cNvSpPr/>
          <p:nvPr/>
        </p:nvSpPr>
        <p:spPr>
          <a:xfrm>
            <a:off x="260819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9" name="Illustrative delivered road transport cost class 4; reference terminal Lesedi"/>
          <p:cNvSpPr/>
          <p:nvPr/>
        </p:nvSpPr>
        <p:spPr>
          <a:xfrm>
            <a:off x="260819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0" name="Illustrative delivered road transport cost class 4; reference terminal Lesedi"/>
          <p:cNvSpPr/>
          <p:nvPr/>
        </p:nvSpPr>
        <p:spPr>
          <a:xfrm>
            <a:off x="260819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1" name="Illustrative delivered road transport cost class 4; reference terminal Lesedi"/>
          <p:cNvSpPr/>
          <p:nvPr/>
        </p:nvSpPr>
        <p:spPr>
          <a:xfrm>
            <a:off x="260819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2" name="Illustrative delivered road transport cost class 4; reference terminal Lesedi"/>
          <p:cNvSpPr/>
          <p:nvPr/>
        </p:nvSpPr>
        <p:spPr>
          <a:xfrm>
            <a:off x="260819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3" name="Illustrative delivered road transport cost class 4; reference terminal Lesedi"/>
          <p:cNvSpPr/>
          <p:nvPr/>
        </p:nvSpPr>
        <p:spPr>
          <a:xfrm>
            <a:off x="260819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4" name="Illustrative delivered road transport cost class 4; reference terminal Lesedi"/>
          <p:cNvSpPr/>
          <p:nvPr/>
        </p:nvSpPr>
        <p:spPr>
          <a:xfrm>
            <a:off x="260819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5" name="Illustrative delivered road transport cost class 4; reference terminal Lesedi"/>
          <p:cNvSpPr/>
          <p:nvPr/>
        </p:nvSpPr>
        <p:spPr>
          <a:xfrm>
            <a:off x="260819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6" name="Illustrative delivered road transport cost class 4; reference terminal Lesedi"/>
          <p:cNvSpPr/>
          <p:nvPr/>
        </p:nvSpPr>
        <p:spPr>
          <a:xfrm>
            <a:off x="260819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7" name="Illustrative delivered road transport cost class 4; reference terminal Lesedi"/>
          <p:cNvSpPr/>
          <p:nvPr/>
        </p:nvSpPr>
        <p:spPr>
          <a:xfrm>
            <a:off x="260819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8" name="Illustrative delivered road transport cost class 4; reference terminal Lesedi"/>
          <p:cNvSpPr/>
          <p:nvPr/>
        </p:nvSpPr>
        <p:spPr>
          <a:xfrm>
            <a:off x="260819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9" name="Illustrative delivered road transport cost class 4; reference terminal Lesedi"/>
          <p:cNvSpPr/>
          <p:nvPr/>
        </p:nvSpPr>
        <p:spPr>
          <a:xfrm>
            <a:off x="260819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0" name="Illustrative delivered road transport cost class 4; reference terminal Lesedi"/>
          <p:cNvSpPr/>
          <p:nvPr/>
        </p:nvSpPr>
        <p:spPr>
          <a:xfrm>
            <a:off x="260819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1" name="Illustrative delivered road transport cost class 4; reference terminal Lesedi"/>
          <p:cNvSpPr/>
          <p:nvPr/>
        </p:nvSpPr>
        <p:spPr>
          <a:xfrm>
            <a:off x="260819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2" name="Illustrative delivered road transport cost class 4; reference terminal Lesedi"/>
          <p:cNvSpPr/>
          <p:nvPr/>
        </p:nvSpPr>
        <p:spPr>
          <a:xfrm>
            <a:off x="260819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3" name="Illustrative delivered road transport cost class 4; reference terminal Lesedi"/>
          <p:cNvSpPr/>
          <p:nvPr/>
        </p:nvSpPr>
        <p:spPr>
          <a:xfrm>
            <a:off x="260819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4" name="Illustrative delivered road transport cost class 4; reference terminal Lesedi"/>
          <p:cNvSpPr/>
          <p:nvPr/>
        </p:nvSpPr>
        <p:spPr>
          <a:xfrm>
            <a:off x="2608190" y="3133083"/>
            <a:ext cx="57686" cy="57687"/>
          </a:xfrm>
          <a:custGeom>
            <a:avLst/>
            <a:gdLst/>
            <a:ahLst/>
            <a:cxnLst/>
            <a:rect l="l" t="t" r="r" b="b"/>
            <a:pathLst>
              <a:path w="57686" h="57687">
                <a:moveTo>
                  <a:pt x="57686" y="57687"/>
                </a:moveTo>
                <a:lnTo>
                  <a:pt x="0" y="57687"/>
                </a:lnTo>
                <a:lnTo>
                  <a:pt x="0" y="0"/>
                </a:lnTo>
                <a:lnTo>
                  <a:pt x="55191" y="0"/>
                </a:lnTo>
                <a:lnTo>
                  <a:pt x="57686" y="4983"/>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5" name="Illustrative delivered road transport cost class 4; reference terminal Lesedi"/>
          <p:cNvSpPr/>
          <p:nvPr/>
        </p:nvSpPr>
        <p:spPr>
          <a:xfrm>
            <a:off x="2608190" y="3075396"/>
            <a:ext cx="55191" cy="57687"/>
          </a:xfrm>
          <a:custGeom>
            <a:avLst/>
            <a:gdLst/>
            <a:ahLst/>
            <a:cxnLst/>
            <a:rect l="l" t="t" r="r" b="b"/>
            <a:pathLst>
              <a:path w="55191" h="57687">
                <a:moveTo>
                  <a:pt x="0" y="57687"/>
                </a:moveTo>
                <a:lnTo>
                  <a:pt x="0" y="0"/>
                </a:lnTo>
                <a:lnTo>
                  <a:pt x="21710" y="0"/>
                </a:lnTo>
                <a:lnTo>
                  <a:pt x="32863" y="15553"/>
                </a:lnTo>
                <a:lnTo>
                  <a:pt x="43399" y="34147"/>
                </a:lnTo>
                <a:lnTo>
                  <a:pt x="55191"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6" name="Illustrative delivered road transport cost class 4; reference terminal Lesedi"/>
          <p:cNvSpPr/>
          <p:nvPr/>
        </p:nvSpPr>
        <p:spPr>
          <a:xfrm>
            <a:off x="2608190" y="3053258"/>
            <a:ext cx="21710" cy="22138"/>
          </a:xfrm>
          <a:custGeom>
            <a:avLst/>
            <a:gdLst/>
            <a:ahLst/>
            <a:cxnLst/>
            <a:rect l="l" t="t" r="r" b="b"/>
            <a:pathLst>
              <a:path w="21710" h="22138">
                <a:moveTo>
                  <a:pt x="0" y="22138"/>
                </a:moveTo>
                <a:lnTo>
                  <a:pt x="0" y="0"/>
                </a:lnTo>
                <a:lnTo>
                  <a:pt x="11930" y="8502"/>
                </a:lnTo>
                <a:lnTo>
                  <a:pt x="21710" y="22138"/>
                </a:lnTo>
                <a:lnTo>
                  <a:pt x="0" y="2213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7" name="Illustrative delivered road transport cost class 4; reference terminal Durban"/>
          <p:cNvSpPr/>
          <p:nvPr/>
        </p:nvSpPr>
        <p:spPr>
          <a:xfrm>
            <a:off x="2665876" y="5498232"/>
            <a:ext cx="54480" cy="48136"/>
          </a:xfrm>
          <a:custGeom>
            <a:avLst/>
            <a:gdLst/>
            <a:ahLst/>
            <a:cxnLst/>
            <a:rect l="l" t="t" r="r" b="b"/>
            <a:pathLst>
              <a:path w="54480" h="48136">
                <a:moveTo>
                  <a:pt x="0" y="0"/>
                </a:moveTo>
                <a:lnTo>
                  <a:pt x="54480" y="0"/>
                </a:lnTo>
                <a:lnTo>
                  <a:pt x="0" y="481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8" name="Illustrative delivered road transport cost class 4; reference terminal Durban"/>
          <p:cNvSpPr/>
          <p:nvPr/>
        </p:nvSpPr>
        <p:spPr>
          <a:xfrm>
            <a:off x="2665876" y="5440546"/>
            <a:ext cx="57687" cy="57686"/>
          </a:xfrm>
          <a:custGeom>
            <a:avLst/>
            <a:gdLst/>
            <a:ahLst/>
            <a:cxnLst/>
            <a:rect l="l" t="t" r="r" b="b"/>
            <a:pathLst>
              <a:path w="57687" h="57686">
                <a:moveTo>
                  <a:pt x="0" y="57686"/>
                </a:moveTo>
                <a:lnTo>
                  <a:pt x="0" y="0"/>
                </a:lnTo>
                <a:lnTo>
                  <a:pt x="57687" y="0"/>
                </a:lnTo>
                <a:lnTo>
                  <a:pt x="57687" y="54853"/>
                </a:lnTo>
                <a:lnTo>
                  <a:pt x="54480"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9" name="Illustrative delivered road transport cost class 4; reference terminal Durban"/>
          <p:cNvSpPr/>
          <p:nvPr/>
        </p:nvSpPr>
        <p:spPr>
          <a:xfrm>
            <a:off x="266587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0" name="Illustrative delivered road transport cost class 4; reference terminal Durban"/>
          <p:cNvSpPr/>
          <p:nvPr/>
        </p:nvSpPr>
        <p:spPr>
          <a:xfrm>
            <a:off x="266587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1" name="Illustrative delivered road transport cost class 4; reference terminal Lesedi"/>
          <p:cNvSpPr/>
          <p:nvPr/>
        </p:nvSpPr>
        <p:spPr>
          <a:xfrm>
            <a:off x="266587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2" name="Illustrative delivered road transport cost class 4; reference terminal Lesedi"/>
          <p:cNvSpPr/>
          <p:nvPr/>
        </p:nvSpPr>
        <p:spPr>
          <a:xfrm>
            <a:off x="266587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3" name="Illustrative delivered road transport cost class 4; reference terminal Lesedi"/>
          <p:cNvSpPr/>
          <p:nvPr/>
        </p:nvSpPr>
        <p:spPr>
          <a:xfrm>
            <a:off x="266587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4" name="Illustrative delivered road transport cost class 4; reference terminal Lesedi"/>
          <p:cNvSpPr/>
          <p:nvPr/>
        </p:nvSpPr>
        <p:spPr>
          <a:xfrm>
            <a:off x="266587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5" name="Illustrative delivered road transport cost class 4; reference terminal Lesedi"/>
          <p:cNvSpPr/>
          <p:nvPr/>
        </p:nvSpPr>
        <p:spPr>
          <a:xfrm>
            <a:off x="266587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6" name="Illustrative delivered road transport cost class 4; reference terminal Lesedi"/>
          <p:cNvSpPr/>
          <p:nvPr/>
        </p:nvSpPr>
        <p:spPr>
          <a:xfrm>
            <a:off x="266587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7" name="Illustrative delivered road transport cost class 4; reference terminal Lesedi"/>
          <p:cNvSpPr/>
          <p:nvPr/>
        </p:nvSpPr>
        <p:spPr>
          <a:xfrm>
            <a:off x="266587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8" name="Illustrative delivered road transport cost class None; reference terminal None"/>
          <p:cNvSpPr/>
          <p:nvPr/>
        </p:nvSpPr>
        <p:spPr>
          <a:xfrm>
            <a:off x="266587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9" name="Illustrative delivered road transport cost class None; reference terminal None"/>
          <p:cNvSpPr/>
          <p:nvPr/>
        </p:nvSpPr>
        <p:spPr>
          <a:xfrm>
            <a:off x="266587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0" name="Illustrative delivered road transport cost class None; reference terminal None"/>
          <p:cNvSpPr/>
          <p:nvPr/>
        </p:nvSpPr>
        <p:spPr>
          <a:xfrm>
            <a:off x="266587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1" name="Illustrative delivered road transport cost class None; reference terminal None"/>
          <p:cNvSpPr/>
          <p:nvPr/>
        </p:nvSpPr>
        <p:spPr>
          <a:xfrm>
            <a:off x="266587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2" name="Illustrative delivered road transport cost class None; reference terminal None"/>
          <p:cNvSpPr/>
          <p:nvPr/>
        </p:nvSpPr>
        <p:spPr>
          <a:xfrm>
            <a:off x="266587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3" name="Illustrative delivered road transport cost class None; reference terminal None"/>
          <p:cNvSpPr/>
          <p:nvPr/>
        </p:nvSpPr>
        <p:spPr>
          <a:xfrm>
            <a:off x="266587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4" name="Illustrative delivered road transport cost class None; reference terminal None"/>
          <p:cNvSpPr/>
          <p:nvPr/>
        </p:nvSpPr>
        <p:spPr>
          <a:xfrm>
            <a:off x="266587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5" name="Illustrative delivered road transport cost class None; reference terminal None"/>
          <p:cNvSpPr/>
          <p:nvPr/>
        </p:nvSpPr>
        <p:spPr>
          <a:xfrm>
            <a:off x="266587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6" name="Illustrative delivered road transport cost class None; reference terminal None"/>
          <p:cNvSpPr/>
          <p:nvPr/>
        </p:nvSpPr>
        <p:spPr>
          <a:xfrm>
            <a:off x="266587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7" name="Illustrative delivered road transport cost class None; reference terminal None"/>
          <p:cNvSpPr/>
          <p:nvPr/>
        </p:nvSpPr>
        <p:spPr>
          <a:xfrm>
            <a:off x="266587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8" name="Illustrative delivered road transport cost class None; reference terminal None"/>
          <p:cNvSpPr/>
          <p:nvPr/>
        </p:nvSpPr>
        <p:spPr>
          <a:xfrm>
            <a:off x="266587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9" name="Illustrative delivered road transport cost class None; reference terminal None"/>
          <p:cNvSpPr/>
          <p:nvPr/>
        </p:nvSpPr>
        <p:spPr>
          <a:xfrm>
            <a:off x="266587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0" name="Illustrative delivered road transport cost class 4; reference terminal Lesedi"/>
          <p:cNvSpPr/>
          <p:nvPr/>
        </p:nvSpPr>
        <p:spPr>
          <a:xfrm>
            <a:off x="266587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1" name="Illustrative delivered road transport cost class 4; reference terminal Lesedi"/>
          <p:cNvSpPr/>
          <p:nvPr/>
        </p:nvSpPr>
        <p:spPr>
          <a:xfrm>
            <a:off x="266587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2" name="Illustrative delivered road transport cost class 4; reference terminal Lesedi"/>
          <p:cNvSpPr/>
          <p:nvPr/>
        </p:nvSpPr>
        <p:spPr>
          <a:xfrm>
            <a:off x="266587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3" name="Illustrative delivered road transport cost class 3; reference terminal Lesedi"/>
          <p:cNvSpPr/>
          <p:nvPr/>
        </p:nvSpPr>
        <p:spPr>
          <a:xfrm>
            <a:off x="266587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4" name="Illustrative delivered road transport cost class 3; reference terminal Lesedi"/>
          <p:cNvSpPr/>
          <p:nvPr/>
        </p:nvSpPr>
        <p:spPr>
          <a:xfrm>
            <a:off x="266587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5" name="Illustrative delivered road transport cost class 4; reference terminal Lesedi"/>
          <p:cNvSpPr/>
          <p:nvPr/>
        </p:nvSpPr>
        <p:spPr>
          <a:xfrm>
            <a:off x="266587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6" name="Illustrative delivered road transport cost class 4; reference terminal Lesedi"/>
          <p:cNvSpPr/>
          <p:nvPr/>
        </p:nvSpPr>
        <p:spPr>
          <a:xfrm>
            <a:off x="266587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7" name="Illustrative delivered road transport cost class 4; reference terminal Lesedi"/>
          <p:cNvSpPr/>
          <p:nvPr/>
        </p:nvSpPr>
        <p:spPr>
          <a:xfrm>
            <a:off x="266587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8" name="Illustrative delivered road transport cost class 4; reference terminal Lesedi"/>
          <p:cNvSpPr/>
          <p:nvPr/>
        </p:nvSpPr>
        <p:spPr>
          <a:xfrm>
            <a:off x="266587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9" name="Illustrative delivered road transport cost class 4; reference terminal Lesedi"/>
          <p:cNvSpPr/>
          <p:nvPr/>
        </p:nvSpPr>
        <p:spPr>
          <a:xfrm>
            <a:off x="266587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0" name="Illustrative delivered road transport cost class 4; reference terminal Lesedi"/>
          <p:cNvSpPr/>
          <p:nvPr/>
        </p:nvSpPr>
        <p:spPr>
          <a:xfrm>
            <a:off x="266587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1" name="Illustrative delivered road transport cost class 4; reference terminal Lesedi"/>
          <p:cNvSpPr/>
          <p:nvPr/>
        </p:nvSpPr>
        <p:spPr>
          <a:xfrm>
            <a:off x="266587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2" name="Illustrative delivered road transport cost class 4; reference terminal Lesedi"/>
          <p:cNvSpPr/>
          <p:nvPr/>
        </p:nvSpPr>
        <p:spPr>
          <a:xfrm>
            <a:off x="2665876" y="3479202"/>
            <a:ext cx="57687" cy="57687"/>
          </a:xfrm>
          <a:custGeom>
            <a:avLst/>
            <a:gdLst/>
            <a:ahLst/>
            <a:cxnLst/>
            <a:rect l="l" t="t" r="r" b="b"/>
            <a:pathLst>
              <a:path w="57687" h="57687">
                <a:moveTo>
                  <a:pt x="57687" y="57687"/>
                </a:moveTo>
                <a:lnTo>
                  <a:pt x="0" y="57687"/>
                </a:lnTo>
                <a:lnTo>
                  <a:pt x="0" y="0"/>
                </a:lnTo>
                <a:lnTo>
                  <a:pt x="35371" y="0"/>
                </a:lnTo>
                <a:lnTo>
                  <a:pt x="38098" y="17586"/>
                </a:lnTo>
                <a:lnTo>
                  <a:pt x="48817" y="37746"/>
                </a:lnTo>
                <a:lnTo>
                  <a:pt x="57687" y="42112"/>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3" name="Illustrative delivered road transport cost class 4; reference terminal Lesedi"/>
          <p:cNvSpPr/>
          <p:nvPr/>
        </p:nvSpPr>
        <p:spPr>
          <a:xfrm>
            <a:off x="2665876" y="3421516"/>
            <a:ext cx="35371" cy="57686"/>
          </a:xfrm>
          <a:custGeom>
            <a:avLst/>
            <a:gdLst/>
            <a:ahLst/>
            <a:cxnLst/>
            <a:rect l="l" t="t" r="r" b="b"/>
            <a:pathLst>
              <a:path w="35371" h="57686">
                <a:moveTo>
                  <a:pt x="0" y="57686"/>
                </a:moveTo>
                <a:lnTo>
                  <a:pt x="0" y="0"/>
                </a:lnTo>
                <a:lnTo>
                  <a:pt x="32074" y="0"/>
                </a:lnTo>
                <a:lnTo>
                  <a:pt x="31730" y="34214"/>
                </a:lnTo>
                <a:lnTo>
                  <a:pt x="35371"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4" name="Illustrative delivered road transport cost class 4; reference terminal Lesedi"/>
          <p:cNvSpPr/>
          <p:nvPr/>
        </p:nvSpPr>
        <p:spPr>
          <a:xfrm>
            <a:off x="2665876" y="3363829"/>
            <a:ext cx="57687" cy="57687"/>
          </a:xfrm>
          <a:custGeom>
            <a:avLst/>
            <a:gdLst/>
            <a:ahLst/>
            <a:cxnLst/>
            <a:rect l="l" t="t" r="r" b="b"/>
            <a:pathLst>
              <a:path w="57687" h="57687">
                <a:moveTo>
                  <a:pt x="0" y="57687"/>
                </a:moveTo>
                <a:lnTo>
                  <a:pt x="0" y="0"/>
                </a:lnTo>
                <a:lnTo>
                  <a:pt x="57687" y="0"/>
                </a:lnTo>
                <a:lnTo>
                  <a:pt x="57687" y="14138"/>
                </a:lnTo>
                <a:lnTo>
                  <a:pt x="47524" y="29733"/>
                </a:lnTo>
                <a:lnTo>
                  <a:pt x="32082" y="56825"/>
                </a:lnTo>
                <a:lnTo>
                  <a:pt x="32074"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5" name="Illustrative delivered road transport cost class 4; reference terminal Lesedi"/>
          <p:cNvSpPr/>
          <p:nvPr/>
        </p:nvSpPr>
        <p:spPr>
          <a:xfrm>
            <a:off x="266587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6" name="Illustrative delivered road transport cost class 4; reference terminal Lesedi"/>
          <p:cNvSpPr/>
          <p:nvPr/>
        </p:nvSpPr>
        <p:spPr>
          <a:xfrm>
            <a:off x="2665876" y="3248456"/>
            <a:ext cx="57687" cy="57687"/>
          </a:xfrm>
          <a:custGeom>
            <a:avLst/>
            <a:gdLst/>
            <a:ahLst/>
            <a:cxnLst/>
            <a:rect l="l" t="t" r="r" b="b"/>
            <a:pathLst>
              <a:path w="57687" h="57687">
                <a:moveTo>
                  <a:pt x="57687" y="57687"/>
                </a:moveTo>
                <a:lnTo>
                  <a:pt x="0" y="57687"/>
                </a:lnTo>
                <a:lnTo>
                  <a:pt x="0" y="0"/>
                </a:lnTo>
                <a:lnTo>
                  <a:pt x="49795" y="0"/>
                </a:lnTo>
                <a:lnTo>
                  <a:pt x="57687" y="17604"/>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7" name="Illustrative delivered road transport cost class 4; reference terminal Lesedi"/>
          <p:cNvSpPr/>
          <p:nvPr/>
        </p:nvSpPr>
        <p:spPr>
          <a:xfrm>
            <a:off x="2665876" y="3190770"/>
            <a:ext cx="49795" cy="57686"/>
          </a:xfrm>
          <a:custGeom>
            <a:avLst/>
            <a:gdLst/>
            <a:ahLst/>
            <a:cxnLst/>
            <a:rect l="l" t="t" r="r" b="b"/>
            <a:pathLst>
              <a:path w="49795" h="57686">
                <a:moveTo>
                  <a:pt x="0" y="57686"/>
                </a:moveTo>
                <a:lnTo>
                  <a:pt x="0" y="0"/>
                </a:lnTo>
                <a:lnTo>
                  <a:pt x="25307" y="0"/>
                </a:lnTo>
                <a:lnTo>
                  <a:pt x="45264" y="47580"/>
                </a:lnTo>
                <a:lnTo>
                  <a:pt x="49795"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8" name="Illustrative delivered road transport cost class 4; reference terminal Lesedi"/>
          <p:cNvSpPr/>
          <p:nvPr/>
        </p:nvSpPr>
        <p:spPr>
          <a:xfrm>
            <a:off x="2665876" y="3138066"/>
            <a:ext cx="25307" cy="52704"/>
          </a:xfrm>
          <a:custGeom>
            <a:avLst/>
            <a:gdLst/>
            <a:ahLst/>
            <a:cxnLst/>
            <a:rect l="l" t="t" r="r" b="b"/>
            <a:pathLst>
              <a:path w="25307" h="52704">
                <a:moveTo>
                  <a:pt x="0" y="52704"/>
                </a:moveTo>
                <a:lnTo>
                  <a:pt x="0" y="0"/>
                </a:lnTo>
                <a:lnTo>
                  <a:pt x="19680" y="39287"/>
                </a:lnTo>
                <a:lnTo>
                  <a:pt x="25307" y="52704"/>
                </a:lnTo>
                <a:lnTo>
                  <a:pt x="0" y="5270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9" name="Illustrative delivered road transport cost class 4; reference terminal Durban"/>
          <p:cNvSpPr/>
          <p:nvPr/>
        </p:nvSpPr>
        <p:spPr>
          <a:xfrm>
            <a:off x="2723563" y="5440546"/>
            <a:ext cx="57687" cy="54853"/>
          </a:xfrm>
          <a:custGeom>
            <a:avLst/>
            <a:gdLst/>
            <a:ahLst/>
            <a:cxnLst/>
            <a:rect l="l" t="t" r="r" b="b"/>
            <a:pathLst>
              <a:path w="57687" h="54853">
                <a:moveTo>
                  <a:pt x="0" y="0"/>
                </a:moveTo>
                <a:lnTo>
                  <a:pt x="57687" y="0"/>
                </a:lnTo>
                <a:lnTo>
                  <a:pt x="57687" y="27433"/>
                </a:lnTo>
                <a:lnTo>
                  <a:pt x="32235" y="31324"/>
                </a:lnTo>
                <a:lnTo>
                  <a:pt x="12559" y="43757"/>
                </a:lnTo>
                <a:lnTo>
                  <a:pt x="0" y="548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0" name="Illustrative delivered road transport cost class 4; reference terminal Durban"/>
          <p:cNvSpPr/>
          <p:nvPr/>
        </p:nvSpPr>
        <p:spPr>
          <a:xfrm>
            <a:off x="272356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1" name="Illustrative delivered road transport cost class 4; reference terminal Durban"/>
          <p:cNvSpPr/>
          <p:nvPr/>
        </p:nvSpPr>
        <p:spPr>
          <a:xfrm>
            <a:off x="272356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2" name="Illustrative delivered road transport cost class 4; reference terminal Lesedi"/>
          <p:cNvSpPr/>
          <p:nvPr/>
        </p:nvSpPr>
        <p:spPr>
          <a:xfrm>
            <a:off x="272356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3" name="Illustrative delivered road transport cost class 4; reference terminal Lesedi"/>
          <p:cNvSpPr/>
          <p:nvPr/>
        </p:nvSpPr>
        <p:spPr>
          <a:xfrm>
            <a:off x="272356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4" name="Illustrative delivered road transport cost class 4; reference terminal Lesedi"/>
          <p:cNvSpPr/>
          <p:nvPr/>
        </p:nvSpPr>
        <p:spPr>
          <a:xfrm>
            <a:off x="272356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5" name="Illustrative delivered road transport cost class 4; reference terminal Lesedi"/>
          <p:cNvSpPr/>
          <p:nvPr/>
        </p:nvSpPr>
        <p:spPr>
          <a:xfrm>
            <a:off x="272356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6" name="Illustrative delivered road transport cost class 4; reference terminal Lesedi"/>
          <p:cNvSpPr/>
          <p:nvPr/>
        </p:nvSpPr>
        <p:spPr>
          <a:xfrm>
            <a:off x="272356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7" name="Illustrative delivered road transport cost class 4; reference terminal Lesedi"/>
          <p:cNvSpPr/>
          <p:nvPr/>
        </p:nvSpPr>
        <p:spPr>
          <a:xfrm>
            <a:off x="272356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8" name="Illustrative delivered road transport cost class 4; reference terminal Lesedi"/>
          <p:cNvSpPr/>
          <p:nvPr/>
        </p:nvSpPr>
        <p:spPr>
          <a:xfrm>
            <a:off x="272356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9" name="Illustrative delivered road transport cost class 4; reference terminal Lesedi"/>
          <p:cNvSpPr/>
          <p:nvPr/>
        </p:nvSpPr>
        <p:spPr>
          <a:xfrm>
            <a:off x="272356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0" name="Illustrative delivered road transport cost class None; reference terminal None"/>
          <p:cNvSpPr/>
          <p:nvPr/>
        </p:nvSpPr>
        <p:spPr>
          <a:xfrm>
            <a:off x="272356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1" name="Illustrative delivered road transport cost class None; reference terminal None"/>
          <p:cNvSpPr/>
          <p:nvPr/>
        </p:nvSpPr>
        <p:spPr>
          <a:xfrm>
            <a:off x="272356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2" name="Illustrative delivered road transport cost class None; reference terminal None"/>
          <p:cNvSpPr/>
          <p:nvPr/>
        </p:nvSpPr>
        <p:spPr>
          <a:xfrm>
            <a:off x="272356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3" name="Illustrative delivered road transport cost class None; reference terminal None"/>
          <p:cNvSpPr/>
          <p:nvPr/>
        </p:nvSpPr>
        <p:spPr>
          <a:xfrm>
            <a:off x="272356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4" name="Illustrative delivered road transport cost class None; reference terminal None"/>
          <p:cNvSpPr/>
          <p:nvPr/>
        </p:nvSpPr>
        <p:spPr>
          <a:xfrm>
            <a:off x="272356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5" name="Illustrative delivered road transport cost class None; reference terminal None"/>
          <p:cNvSpPr/>
          <p:nvPr/>
        </p:nvSpPr>
        <p:spPr>
          <a:xfrm>
            <a:off x="272356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6" name="Illustrative delivered road transport cost class None; reference terminal None"/>
          <p:cNvSpPr/>
          <p:nvPr/>
        </p:nvSpPr>
        <p:spPr>
          <a:xfrm>
            <a:off x="272356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7" name="Illustrative delivered road transport cost class None; reference terminal None"/>
          <p:cNvSpPr/>
          <p:nvPr/>
        </p:nvSpPr>
        <p:spPr>
          <a:xfrm>
            <a:off x="272356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8" name="Illustrative delivered road transport cost class None; reference terminal None"/>
          <p:cNvSpPr/>
          <p:nvPr/>
        </p:nvSpPr>
        <p:spPr>
          <a:xfrm>
            <a:off x="272356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9" name="Illustrative delivered road transport cost class None; reference terminal None"/>
          <p:cNvSpPr/>
          <p:nvPr/>
        </p:nvSpPr>
        <p:spPr>
          <a:xfrm>
            <a:off x="272356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0" name="Illustrative delivered road transport cost class 3; reference terminal Lesedi"/>
          <p:cNvSpPr/>
          <p:nvPr/>
        </p:nvSpPr>
        <p:spPr>
          <a:xfrm>
            <a:off x="272356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1" name="Illustrative delivered road transport cost class 3; reference terminal Lesedi"/>
          <p:cNvSpPr/>
          <p:nvPr/>
        </p:nvSpPr>
        <p:spPr>
          <a:xfrm>
            <a:off x="272356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2" name="Illustrative delivered road transport cost class 3; reference terminal Lesedi"/>
          <p:cNvSpPr/>
          <p:nvPr/>
        </p:nvSpPr>
        <p:spPr>
          <a:xfrm>
            <a:off x="272356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3" name="Illustrative delivered road transport cost class 3; reference terminal Lesedi"/>
          <p:cNvSpPr/>
          <p:nvPr/>
        </p:nvSpPr>
        <p:spPr>
          <a:xfrm>
            <a:off x="272356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4" name="Illustrative delivered road transport cost class 3; reference terminal Lesedi"/>
          <p:cNvSpPr/>
          <p:nvPr/>
        </p:nvSpPr>
        <p:spPr>
          <a:xfrm>
            <a:off x="272356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5" name="Illustrative delivered road transport cost class 3; reference terminal Lesedi"/>
          <p:cNvSpPr/>
          <p:nvPr/>
        </p:nvSpPr>
        <p:spPr>
          <a:xfrm>
            <a:off x="272356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6" name="Illustrative delivered road transport cost class 4; reference terminal Lesedi"/>
          <p:cNvSpPr/>
          <p:nvPr/>
        </p:nvSpPr>
        <p:spPr>
          <a:xfrm>
            <a:off x="272356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7" name="Illustrative delivered road transport cost class 4; reference terminal Lesedi"/>
          <p:cNvSpPr/>
          <p:nvPr/>
        </p:nvSpPr>
        <p:spPr>
          <a:xfrm>
            <a:off x="272356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8" name="Illustrative delivered road transport cost class 4; reference terminal Lesedi"/>
          <p:cNvSpPr/>
          <p:nvPr/>
        </p:nvSpPr>
        <p:spPr>
          <a:xfrm>
            <a:off x="272356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9" name="Illustrative delivered road transport cost class 4; reference terminal Lesedi"/>
          <p:cNvSpPr/>
          <p:nvPr/>
        </p:nvSpPr>
        <p:spPr>
          <a:xfrm>
            <a:off x="272356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0" name="Illustrative delivered road transport cost class 4; reference terminal Lesedi"/>
          <p:cNvSpPr/>
          <p:nvPr/>
        </p:nvSpPr>
        <p:spPr>
          <a:xfrm>
            <a:off x="272356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1" name="Illustrative delivered road transport cost class 4; reference terminal Lesedi"/>
          <p:cNvSpPr/>
          <p:nvPr/>
        </p:nvSpPr>
        <p:spPr>
          <a:xfrm>
            <a:off x="272356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2" name="Illustrative delivered road transport cost class 4; reference terminal Lesedi"/>
          <p:cNvSpPr/>
          <p:nvPr/>
        </p:nvSpPr>
        <p:spPr>
          <a:xfrm>
            <a:off x="272356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3" name="Illustrative delivered road transport cost class 4; reference terminal Lesedi"/>
          <p:cNvSpPr/>
          <p:nvPr/>
        </p:nvSpPr>
        <p:spPr>
          <a:xfrm>
            <a:off x="2723563" y="3511963"/>
            <a:ext cx="57687" cy="24926"/>
          </a:xfrm>
          <a:custGeom>
            <a:avLst/>
            <a:gdLst/>
            <a:ahLst/>
            <a:cxnLst/>
            <a:rect l="l" t="t" r="r" b="b"/>
            <a:pathLst>
              <a:path w="57687" h="24926">
                <a:moveTo>
                  <a:pt x="57687" y="24926"/>
                </a:moveTo>
                <a:lnTo>
                  <a:pt x="0" y="24926"/>
                </a:lnTo>
                <a:lnTo>
                  <a:pt x="0" y="9351"/>
                </a:lnTo>
                <a:lnTo>
                  <a:pt x="3915" y="11278"/>
                </a:lnTo>
                <a:lnTo>
                  <a:pt x="33602" y="0"/>
                </a:lnTo>
                <a:lnTo>
                  <a:pt x="52730" y="2502"/>
                </a:lnTo>
                <a:lnTo>
                  <a:pt x="57687" y="3774"/>
                </a:lnTo>
                <a:lnTo>
                  <a:pt x="57687" y="2492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4" name="Illustrative delivered road transport cost class 4; reference terminal Lesedi"/>
          <p:cNvSpPr/>
          <p:nvPr/>
        </p:nvSpPr>
        <p:spPr>
          <a:xfrm>
            <a:off x="2723563" y="3363829"/>
            <a:ext cx="7574" cy="14138"/>
          </a:xfrm>
          <a:custGeom>
            <a:avLst/>
            <a:gdLst/>
            <a:ahLst/>
            <a:cxnLst/>
            <a:rect l="l" t="t" r="r" b="b"/>
            <a:pathLst>
              <a:path w="7574" h="14138">
                <a:moveTo>
                  <a:pt x="0" y="0"/>
                </a:moveTo>
                <a:lnTo>
                  <a:pt x="7574" y="0"/>
                </a:lnTo>
                <a:lnTo>
                  <a:pt x="2805" y="9834"/>
                </a:lnTo>
                <a:lnTo>
                  <a:pt x="0" y="14138"/>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5" name="Illustrative delivered road transport cost class 4; reference terminal Lesedi"/>
          <p:cNvSpPr/>
          <p:nvPr/>
        </p:nvSpPr>
        <p:spPr>
          <a:xfrm>
            <a:off x="2723563" y="3306143"/>
            <a:ext cx="16709" cy="57686"/>
          </a:xfrm>
          <a:custGeom>
            <a:avLst/>
            <a:gdLst/>
            <a:ahLst/>
            <a:cxnLst/>
            <a:rect l="l" t="t" r="r" b="b"/>
            <a:pathLst>
              <a:path w="16709" h="57686">
                <a:moveTo>
                  <a:pt x="0" y="57686"/>
                </a:moveTo>
                <a:lnTo>
                  <a:pt x="0" y="0"/>
                </a:lnTo>
                <a:lnTo>
                  <a:pt x="10418" y="0"/>
                </a:lnTo>
                <a:lnTo>
                  <a:pt x="13692" y="20167"/>
                </a:lnTo>
                <a:lnTo>
                  <a:pt x="16709" y="30307"/>
                </a:lnTo>
                <a:lnTo>
                  <a:pt x="15326" y="41698"/>
                </a:lnTo>
                <a:lnTo>
                  <a:pt x="7574"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6" name="Illustrative delivered road transport cost class 4; reference terminal Lesedi"/>
          <p:cNvSpPr/>
          <p:nvPr/>
        </p:nvSpPr>
        <p:spPr>
          <a:xfrm>
            <a:off x="2723563" y="3266060"/>
            <a:ext cx="10418" cy="40083"/>
          </a:xfrm>
          <a:custGeom>
            <a:avLst/>
            <a:gdLst/>
            <a:ahLst/>
            <a:cxnLst/>
            <a:rect l="l" t="t" r="r" b="b"/>
            <a:pathLst>
              <a:path w="10418" h="40083">
                <a:moveTo>
                  <a:pt x="0" y="40083"/>
                </a:moveTo>
                <a:lnTo>
                  <a:pt x="0" y="0"/>
                </a:lnTo>
                <a:lnTo>
                  <a:pt x="8178" y="18241"/>
                </a:lnTo>
                <a:lnTo>
                  <a:pt x="10324" y="39504"/>
                </a:lnTo>
                <a:lnTo>
                  <a:pt x="10418" y="40083"/>
                </a:lnTo>
                <a:lnTo>
                  <a:pt x="0" y="40083"/>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7" name="Illustrative delivered road transport cost class 4; reference terminal Durban"/>
          <p:cNvSpPr/>
          <p:nvPr/>
        </p:nvSpPr>
        <p:spPr>
          <a:xfrm>
            <a:off x="2781250" y="5440546"/>
            <a:ext cx="57686" cy="27433"/>
          </a:xfrm>
          <a:custGeom>
            <a:avLst/>
            <a:gdLst/>
            <a:ahLst/>
            <a:cxnLst/>
            <a:rect l="l" t="t" r="r" b="b"/>
            <a:pathLst>
              <a:path w="57686" h="27433">
                <a:moveTo>
                  <a:pt x="0" y="0"/>
                </a:moveTo>
                <a:lnTo>
                  <a:pt x="57686" y="0"/>
                </a:lnTo>
                <a:lnTo>
                  <a:pt x="57686" y="6629"/>
                </a:lnTo>
                <a:lnTo>
                  <a:pt x="48517" y="8933"/>
                </a:lnTo>
                <a:lnTo>
                  <a:pt x="26231" y="23423"/>
                </a:lnTo>
                <a:lnTo>
                  <a:pt x="0" y="2743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8" name="Illustrative delivered road transport cost class 4; reference terminal Durban"/>
          <p:cNvSpPr/>
          <p:nvPr/>
        </p:nvSpPr>
        <p:spPr>
          <a:xfrm>
            <a:off x="278125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9" name="Illustrative delivered road transport cost class 4; reference terminal Durban"/>
          <p:cNvSpPr/>
          <p:nvPr/>
        </p:nvSpPr>
        <p:spPr>
          <a:xfrm>
            <a:off x="278125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0" name="Illustrative delivered road transport cost class 4; reference terminal Lesedi"/>
          <p:cNvSpPr/>
          <p:nvPr/>
        </p:nvSpPr>
        <p:spPr>
          <a:xfrm>
            <a:off x="278125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1" name="Illustrative delivered road transport cost class 4; reference terminal Lesedi"/>
          <p:cNvSpPr/>
          <p:nvPr/>
        </p:nvSpPr>
        <p:spPr>
          <a:xfrm>
            <a:off x="278125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2" name="Illustrative delivered road transport cost class 4; reference terminal Lesedi"/>
          <p:cNvSpPr/>
          <p:nvPr/>
        </p:nvSpPr>
        <p:spPr>
          <a:xfrm>
            <a:off x="278125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3" name="Illustrative delivered road transport cost class 4; reference terminal Lesedi"/>
          <p:cNvSpPr/>
          <p:nvPr/>
        </p:nvSpPr>
        <p:spPr>
          <a:xfrm>
            <a:off x="278125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4" name="Illustrative delivered road transport cost class 4; reference terminal Lesedi"/>
          <p:cNvSpPr/>
          <p:nvPr/>
        </p:nvSpPr>
        <p:spPr>
          <a:xfrm>
            <a:off x="278125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5" name="Illustrative delivered road transport cost class 4; reference terminal Lesedi"/>
          <p:cNvSpPr/>
          <p:nvPr/>
        </p:nvSpPr>
        <p:spPr>
          <a:xfrm>
            <a:off x="278125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6" name="Illustrative delivered road transport cost class 4; reference terminal Lesedi"/>
          <p:cNvSpPr/>
          <p:nvPr/>
        </p:nvSpPr>
        <p:spPr>
          <a:xfrm>
            <a:off x="278125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7" name="Illustrative delivered road transport cost class 4; reference terminal Lesedi"/>
          <p:cNvSpPr/>
          <p:nvPr/>
        </p:nvSpPr>
        <p:spPr>
          <a:xfrm>
            <a:off x="278125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8" name="Illustrative delivered road transport cost class None; reference terminal None"/>
          <p:cNvSpPr/>
          <p:nvPr/>
        </p:nvSpPr>
        <p:spPr>
          <a:xfrm>
            <a:off x="278125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9" name="Illustrative delivered road transport cost class None; reference terminal None"/>
          <p:cNvSpPr/>
          <p:nvPr/>
        </p:nvSpPr>
        <p:spPr>
          <a:xfrm>
            <a:off x="278125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0" name="Illustrative delivered road transport cost class None; reference terminal None"/>
          <p:cNvSpPr/>
          <p:nvPr/>
        </p:nvSpPr>
        <p:spPr>
          <a:xfrm>
            <a:off x="278125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1" name="Illustrative delivered road transport cost class None; reference terminal None"/>
          <p:cNvSpPr/>
          <p:nvPr/>
        </p:nvSpPr>
        <p:spPr>
          <a:xfrm>
            <a:off x="278125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2" name="Illustrative delivered road transport cost class None; reference terminal None"/>
          <p:cNvSpPr/>
          <p:nvPr/>
        </p:nvSpPr>
        <p:spPr>
          <a:xfrm>
            <a:off x="278125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3" name="Illustrative delivered road transport cost class None; reference terminal None"/>
          <p:cNvSpPr/>
          <p:nvPr/>
        </p:nvSpPr>
        <p:spPr>
          <a:xfrm>
            <a:off x="278125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4" name="Illustrative delivered road transport cost class None; reference terminal None"/>
          <p:cNvSpPr/>
          <p:nvPr/>
        </p:nvSpPr>
        <p:spPr>
          <a:xfrm>
            <a:off x="278125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5" name="Illustrative delivered road transport cost class None; reference terminal None"/>
          <p:cNvSpPr/>
          <p:nvPr/>
        </p:nvSpPr>
        <p:spPr>
          <a:xfrm>
            <a:off x="278125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6" name="Illustrative delivered road transport cost class None; reference terminal None"/>
          <p:cNvSpPr/>
          <p:nvPr/>
        </p:nvSpPr>
        <p:spPr>
          <a:xfrm>
            <a:off x="278125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7" name="Illustrative delivered road transport cost class None; reference terminal None"/>
          <p:cNvSpPr/>
          <p:nvPr/>
        </p:nvSpPr>
        <p:spPr>
          <a:xfrm>
            <a:off x="278125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8" name="Illustrative delivered road transport cost class 3; reference terminal Lesedi"/>
          <p:cNvSpPr/>
          <p:nvPr/>
        </p:nvSpPr>
        <p:spPr>
          <a:xfrm>
            <a:off x="278125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9" name="Illustrative delivered road transport cost class 3; reference terminal Lesedi"/>
          <p:cNvSpPr/>
          <p:nvPr/>
        </p:nvSpPr>
        <p:spPr>
          <a:xfrm>
            <a:off x="278125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0" name="Illustrative delivered road transport cost class 3; reference terminal Lesedi"/>
          <p:cNvSpPr/>
          <p:nvPr/>
        </p:nvSpPr>
        <p:spPr>
          <a:xfrm>
            <a:off x="278125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1" name="Illustrative delivered road transport cost class 3; reference terminal Lesedi"/>
          <p:cNvSpPr/>
          <p:nvPr/>
        </p:nvSpPr>
        <p:spPr>
          <a:xfrm>
            <a:off x="278125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2" name="Illustrative delivered road transport cost class 3; reference terminal Lesedi"/>
          <p:cNvSpPr/>
          <p:nvPr/>
        </p:nvSpPr>
        <p:spPr>
          <a:xfrm>
            <a:off x="278125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3" name="Illustrative delivered road transport cost class 3; reference terminal Lesedi"/>
          <p:cNvSpPr/>
          <p:nvPr/>
        </p:nvSpPr>
        <p:spPr>
          <a:xfrm>
            <a:off x="278125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4" name="Illustrative delivered road transport cost class 3; reference terminal Lesedi"/>
          <p:cNvSpPr/>
          <p:nvPr/>
        </p:nvSpPr>
        <p:spPr>
          <a:xfrm>
            <a:off x="278125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5" name="Illustrative delivered road transport cost class 4; reference terminal Lesedi"/>
          <p:cNvSpPr/>
          <p:nvPr/>
        </p:nvSpPr>
        <p:spPr>
          <a:xfrm>
            <a:off x="278125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6" name="Illustrative delivered road transport cost class 4; reference terminal Lesedi"/>
          <p:cNvSpPr/>
          <p:nvPr/>
        </p:nvSpPr>
        <p:spPr>
          <a:xfrm>
            <a:off x="278125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7" name="Illustrative delivered road transport cost class 4; reference terminal Lesedi"/>
          <p:cNvSpPr/>
          <p:nvPr/>
        </p:nvSpPr>
        <p:spPr>
          <a:xfrm>
            <a:off x="278125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8" name="Illustrative delivered road transport cost class 4; reference terminal Lesedi"/>
          <p:cNvSpPr/>
          <p:nvPr/>
        </p:nvSpPr>
        <p:spPr>
          <a:xfrm>
            <a:off x="278125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9" name="Illustrative delivered road transport cost class 4; reference terminal Lesedi"/>
          <p:cNvSpPr/>
          <p:nvPr/>
        </p:nvSpPr>
        <p:spPr>
          <a:xfrm>
            <a:off x="278125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0" name="Illustrative delivered road transport cost class 4; reference terminal Lesedi"/>
          <p:cNvSpPr/>
          <p:nvPr/>
        </p:nvSpPr>
        <p:spPr>
          <a:xfrm>
            <a:off x="278125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1" name="Illustrative delivered road transport cost class None; reference terminal None"/>
          <p:cNvSpPr/>
          <p:nvPr/>
        </p:nvSpPr>
        <p:spPr>
          <a:xfrm>
            <a:off x="2781250" y="3515737"/>
            <a:ext cx="57686" cy="21152"/>
          </a:xfrm>
          <a:custGeom>
            <a:avLst/>
            <a:gdLst/>
            <a:ahLst/>
            <a:cxnLst/>
            <a:rect l="l" t="t" r="r" b="b"/>
            <a:pathLst>
              <a:path w="57686" h="21152">
                <a:moveTo>
                  <a:pt x="57686" y="21152"/>
                </a:moveTo>
                <a:lnTo>
                  <a:pt x="0" y="21152"/>
                </a:lnTo>
                <a:lnTo>
                  <a:pt x="0" y="0"/>
                </a:lnTo>
                <a:lnTo>
                  <a:pt x="22125" y="5679"/>
                </a:lnTo>
                <a:lnTo>
                  <a:pt x="57686" y="2617"/>
                </a:lnTo>
                <a:lnTo>
                  <a:pt x="57686" y="2115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2" name="Illustrative delivered road transport cost class 4; reference terminal Durban"/>
          <p:cNvSpPr/>
          <p:nvPr/>
        </p:nvSpPr>
        <p:spPr>
          <a:xfrm>
            <a:off x="2838936" y="5440546"/>
            <a:ext cx="57687" cy="8882"/>
          </a:xfrm>
          <a:custGeom>
            <a:avLst/>
            <a:gdLst/>
            <a:ahLst/>
            <a:cxnLst/>
            <a:rect l="l" t="t" r="r" b="b"/>
            <a:pathLst>
              <a:path w="57687" h="8882">
                <a:moveTo>
                  <a:pt x="0" y="0"/>
                </a:moveTo>
                <a:lnTo>
                  <a:pt x="57687" y="0"/>
                </a:lnTo>
                <a:lnTo>
                  <a:pt x="57687" y="8882"/>
                </a:lnTo>
                <a:lnTo>
                  <a:pt x="28340" y="2006"/>
                </a:lnTo>
                <a:lnTo>
                  <a:pt x="13442" y="3251"/>
                </a:lnTo>
                <a:lnTo>
                  <a:pt x="0" y="6629"/>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3" name="Illustrative delivered road transport cost class 4; reference terminal Durban"/>
          <p:cNvSpPr/>
          <p:nvPr/>
        </p:nvSpPr>
        <p:spPr>
          <a:xfrm>
            <a:off x="283893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4" name="Illustrative delivered road transport cost class 4; reference terminal Durban"/>
          <p:cNvSpPr/>
          <p:nvPr/>
        </p:nvSpPr>
        <p:spPr>
          <a:xfrm>
            <a:off x="283893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5" name="Illustrative delivered road transport cost class 4; reference terminal Lesedi"/>
          <p:cNvSpPr/>
          <p:nvPr/>
        </p:nvSpPr>
        <p:spPr>
          <a:xfrm>
            <a:off x="283893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6" name="Illustrative delivered road transport cost class 4; reference terminal Lesedi"/>
          <p:cNvSpPr/>
          <p:nvPr/>
        </p:nvSpPr>
        <p:spPr>
          <a:xfrm>
            <a:off x="283893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7" name="Illustrative delivered road transport cost class 4; reference terminal Lesedi"/>
          <p:cNvSpPr/>
          <p:nvPr/>
        </p:nvSpPr>
        <p:spPr>
          <a:xfrm>
            <a:off x="283893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8" name="Illustrative delivered road transport cost class 4; reference terminal Lesedi"/>
          <p:cNvSpPr/>
          <p:nvPr/>
        </p:nvSpPr>
        <p:spPr>
          <a:xfrm>
            <a:off x="283893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9" name="Illustrative delivered road transport cost class 4; reference terminal Lesedi"/>
          <p:cNvSpPr/>
          <p:nvPr/>
        </p:nvSpPr>
        <p:spPr>
          <a:xfrm>
            <a:off x="283893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0" name="Illustrative delivered road transport cost class 4; reference terminal Lesedi"/>
          <p:cNvSpPr/>
          <p:nvPr/>
        </p:nvSpPr>
        <p:spPr>
          <a:xfrm>
            <a:off x="283893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1" name="Illustrative delivered road transport cost class 4; reference terminal Lesedi"/>
          <p:cNvSpPr/>
          <p:nvPr/>
        </p:nvSpPr>
        <p:spPr>
          <a:xfrm>
            <a:off x="283893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2" name="Illustrative delivered road transport cost class 4; reference terminal Lesedi"/>
          <p:cNvSpPr/>
          <p:nvPr/>
        </p:nvSpPr>
        <p:spPr>
          <a:xfrm>
            <a:off x="283893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3" name="Illustrative delivered road transport cost class 4; reference terminal Lesedi"/>
          <p:cNvSpPr/>
          <p:nvPr/>
        </p:nvSpPr>
        <p:spPr>
          <a:xfrm>
            <a:off x="283893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4" name="Illustrative delivered road transport cost class None; reference terminal None"/>
          <p:cNvSpPr/>
          <p:nvPr/>
        </p:nvSpPr>
        <p:spPr>
          <a:xfrm>
            <a:off x="283893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5" name="Illustrative delivered road transport cost class None; reference terminal None"/>
          <p:cNvSpPr/>
          <p:nvPr/>
        </p:nvSpPr>
        <p:spPr>
          <a:xfrm>
            <a:off x="283893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6" name="Illustrative delivered road transport cost class None; reference terminal None"/>
          <p:cNvSpPr/>
          <p:nvPr/>
        </p:nvSpPr>
        <p:spPr>
          <a:xfrm>
            <a:off x="283893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7" name="Illustrative delivered road transport cost class None; reference terminal None"/>
          <p:cNvSpPr/>
          <p:nvPr/>
        </p:nvSpPr>
        <p:spPr>
          <a:xfrm>
            <a:off x="283893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8" name="Illustrative delivered road transport cost class None; reference terminal None"/>
          <p:cNvSpPr/>
          <p:nvPr/>
        </p:nvSpPr>
        <p:spPr>
          <a:xfrm>
            <a:off x="283893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9" name="Illustrative delivered road transport cost class None; reference terminal None"/>
          <p:cNvSpPr/>
          <p:nvPr/>
        </p:nvSpPr>
        <p:spPr>
          <a:xfrm>
            <a:off x="283893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0" name="Illustrative delivered road transport cost class None; reference terminal None"/>
          <p:cNvSpPr/>
          <p:nvPr/>
        </p:nvSpPr>
        <p:spPr>
          <a:xfrm>
            <a:off x="283893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1" name="Illustrative delivered road transport cost class None; reference terminal None"/>
          <p:cNvSpPr/>
          <p:nvPr/>
        </p:nvSpPr>
        <p:spPr>
          <a:xfrm>
            <a:off x="283893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2" name="Illustrative delivered road transport cost class 3; reference terminal Lesedi"/>
          <p:cNvSpPr/>
          <p:nvPr/>
        </p:nvSpPr>
        <p:spPr>
          <a:xfrm>
            <a:off x="283893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3" name="Illustrative delivered road transport cost class 3; reference terminal Lesedi"/>
          <p:cNvSpPr/>
          <p:nvPr/>
        </p:nvSpPr>
        <p:spPr>
          <a:xfrm>
            <a:off x="283893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4" name="Illustrative delivered road transport cost class 3; reference terminal Lesedi"/>
          <p:cNvSpPr/>
          <p:nvPr/>
        </p:nvSpPr>
        <p:spPr>
          <a:xfrm>
            <a:off x="283893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5" name="Illustrative delivered road transport cost class 3; reference terminal Lesedi"/>
          <p:cNvSpPr/>
          <p:nvPr/>
        </p:nvSpPr>
        <p:spPr>
          <a:xfrm>
            <a:off x="283893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6" name="Illustrative delivered road transport cost class 3; reference terminal Lesedi"/>
          <p:cNvSpPr/>
          <p:nvPr/>
        </p:nvSpPr>
        <p:spPr>
          <a:xfrm>
            <a:off x="283893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7" name="Illustrative delivered road transport cost class 3; reference terminal Lesedi"/>
          <p:cNvSpPr/>
          <p:nvPr/>
        </p:nvSpPr>
        <p:spPr>
          <a:xfrm>
            <a:off x="283893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8" name="Illustrative delivered road transport cost class 3; reference terminal Lesedi"/>
          <p:cNvSpPr/>
          <p:nvPr/>
        </p:nvSpPr>
        <p:spPr>
          <a:xfrm>
            <a:off x="283893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9" name="Illustrative delivered road transport cost class 3; reference terminal Lesedi"/>
          <p:cNvSpPr/>
          <p:nvPr/>
        </p:nvSpPr>
        <p:spPr>
          <a:xfrm>
            <a:off x="283893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0" name="Illustrative delivered road transport cost class 4; reference terminal Lesedi"/>
          <p:cNvSpPr/>
          <p:nvPr/>
        </p:nvSpPr>
        <p:spPr>
          <a:xfrm>
            <a:off x="283893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1" name="Illustrative delivered road transport cost class 4; reference terminal Lesedi"/>
          <p:cNvSpPr/>
          <p:nvPr/>
        </p:nvSpPr>
        <p:spPr>
          <a:xfrm>
            <a:off x="283893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2" name="Illustrative delivered road transport cost class 4; reference terminal Lesedi"/>
          <p:cNvSpPr/>
          <p:nvPr/>
        </p:nvSpPr>
        <p:spPr>
          <a:xfrm>
            <a:off x="283893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3" name="Illustrative delivered road transport cost class 4; reference terminal Lesedi"/>
          <p:cNvSpPr/>
          <p:nvPr/>
        </p:nvSpPr>
        <p:spPr>
          <a:xfrm>
            <a:off x="283893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4" name="Illustrative delivered road transport cost class 4; reference terminal Lesedi"/>
          <p:cNvSpPr/>
          <p:nvPr/>
        </p:nvSpPr>
        <p:spPr>
          <a:xfrm>
            <a:off x="283893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5" name="Illustrative delivered road transport cost class None; reference terminal None"/>
          <p:cNvSpPr/>
          <p:nvPr/>
        </p:nvSpPr>
        <p:spPr>
          <a:xfrm>
            <a:off x="283893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6" name="Illustrative delivered road transport cost class None; reference terminal None"/>
          <p:cNvSpPr/>
          <p:nvPr/>
        </p:nvSpPr>
        <p:spPr>
          <a:xfrm>
            <a:off x="2838936" y="3513850"/>
            <a:ext cx="57687" cy="23039"/>
          </a:xfrm>
          <a:custGeom>
            <a:avLst/>
            <a:gdLst/>
            <a:ahLst/>
            <a:cxnLst/>
            <a:rect l="l" t="t" r="r" b="b"/>
            <a:pathLst>
              <a:path w="57687" h="23039">
                <a:moveTo>
                  <a:pt x="57687" y="23039"/>
                </a:moveTo>
                <a:lnTo>
                  <a:pt x="0" y="23039"/>
                </a:lnTo>
                <a:lnTo>
                  <a:pt x="0" y="4504"/>
                </a:lnTo>
                <a:lnTo>
                  <a:pt x="52294" y="0"/>
                </a:lnTo>
                <a:lnTo>
                  <a:pt x="57687" y="1114"/>
                </a:lnTo>
                <a:lnTo>
                  <a:pt x="57687" y="2303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7" name="Illustrative delivered road transport cost class 4; reference terminal Durban"/>
          <p:cNvSpPr/>
          <p:nvPr/>
        </p:nvSpPr>
        <p:spPr>
          <a:xfrm>
            <a:off x="2896623" y="5440546"/>
            <a:ext cx="57686" cy="11486"/>
          </a:xfrm>
          <a:custGeom>
            <a:avLst/>
            <a:gdLst/>
            <a:ahLst/>
            <a:cxnLst/>
            <a:rect l="l" t="t" r="r" b="b"/>
            <a:pathLst>
              <a:path w="57686" h="11486">
                <a:moveTo>
                  <a:pt x="0" y="0"/>
                </a:moveTo>
                <a:lnTo>
                  <a:pt x="57686" y="0"/>
                </a:lnTo>
                <a:lnTo>
                  <a:pt x="57686" y="5027"/>
                </a:lnTo>
                <a:lnTo>
                  <a:pt x="32532" y="11090"/>
                </a:lnTo>
                <a:lnTo>
                  <a:pt x="11114" y="11486"/>
                </a:lnTo>
                <a:lnTo>
                  <a:pt x="0" y="888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8" name="Illustrative delivered road transport cost class 4; reference terminal Durban"/>
          <p:cNvSpPr/>
          <p:nvPr/>
        </p:nvSpPr>
        <p:spPr>
          <a:xfrm>
            <a:off x="2896623"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9" name="Illustrative delivered road transport cost class 4; reference terminal Lesedi"/>
          <p:cNvSpPr/>
          <p:nvPr/>
        </p:nvSpPr>
        <p:spPr>
          <a:xfrm>
            <a:off x="2896623"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0" name="Illustrative delivered road transport cost class 4; reference terminal Lesedi"/>
          <p:cNvSpPr/>
          <p:nvPr/>
        </p:nvSpPr>
        <p:spPr>
          <a:xfrm>
            <a:off x="2896623"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1" name="Illustrative delivered road transport cost class 4; reference terminal Lesedi"/>
          <p:cNvSpPr/>
          <p:nvPr/>
        </p:nvSpPr>
        <p:spPr>
          <a:xfrm>
            <a:off x="2896623"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2" name="Illustrative delivered road transport cost class 4; reference terminal Lesedi"/>
          <p:cNvSpPr/>
          <p:nvPr/>
        </p:nvSpPr>
        <p:spPr>
          <a:xfrm>
            <a:off x="2896623"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3" name="Illustrative delivered road transport cost class 4; reference terminal Lesedi"/>
          <p:cNvSpPr/>
          <p:nvPr/>
        </p:nvSpPr>
        <p:spPr>
          <a:xfrm>
            <a:off x="2896623"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4" name="Illustrative delivered road transport cost class 4; reference terminal Lesedi"/>
          <p:cNvSpPr/>
          <p:nvPr/>
        </p:nvSpPr>
        <p:spPr>
          <a:xfrm>
            <a:off x="2896623"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5" name="Illustrative delivered road transport cost class 4; reference terminal Lesedi"/>
          <p:cNvSpPr/>
          <p:nvPr/>
        </p:nvSpPr>
        <p:spPr>
          <a:xfrm>
            <a:off x="2896623"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6" name="Illustrative delivered road transport cost class 4; reference terminal Lesedi"/>
          <p:cNvSpPr/>
          <p:nvPr/>
        </p:nvSpPr>
        <p:spPr>
          <a:xfrm>
            <a:off x="2896623"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7" name="Illustrative delivered road transport cost class 4; reference terminal Lesedi"/>
          <p:cNvSpPr/>
          <p:nvPr/>
        </p:nvSpPr>
        <p:spPr>
          <a:xfrm>
            <a:off x="2896623"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8" name="Illustrative delivered road transport cost class 4; reference terminal Lesedi"/>
          <p:cNvSpPr/>
          <p:nvPr/>
        </p:nvSpPr>
        <p:spPr>
          <a:xfrm>
            <a:off x="2896623"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9" name="Illustrative delivered road transport cost class None; reference terminal None"/>
          <p:cNvSpPr/>
          <p:nvPr/>
        </p:nvSpPr>
        <p:spPr>
          <a:xfrm>
            <a:off x="2896623"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0" name="Illustrative delivered road transport cost class None; reference terminal None"/>
          <p:cNvSpPr/>
          <p:nvPr/>
        </p:nvSpPr>
        <p:spPr>
          <a:xfrm>
            <a:off x="2896623"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1" name="Illustrative delivered road transport cost class None; reference terminal None"/>
          <p:cNvSpPr/>
          <p:nvPr/>
        </p:nvSpPr>
        <p:spPr>
          <a:xfrm>
            <a:off x="2896623"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2" name="Illustrative delivered road transport cost class None; reference terminal None"/>
          <p:cNvSpPr/>
          <p:nvPr/>
        </p:nvSpPr>
        <p:spPr>
          <a:xfrm>
            <a:off x="289662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3" name="Illustrative delivered road transport cost class None; reference terminal None"/>
          <p:cNvSpPr/>
          <p:nvPr/>
        </p:nvSpPr>
        <p:spPr>
          <a:xfrm>
            <a:off x="289662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4" name="Illustrative delivered road transport cost class None; reference terminal None"/>
          <p:cNvSpPr/>
          <p:nvPr/>
        </p:nvSpPr>
        <p:spPr>
          <a:xfrm>
            <a:off x="289662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5" name="Illustrative delivered road transport cost class None; reference terminal None"/>
          <p:cNvSpPr/>
          <p:nvPr/>
        </p:nvSpPr>
        <p:spPr>
          <a:xfrm>
            <a:off x="289662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6" name="Illustrative delivered road transport cost class None; reference terminal None"/>
          <p:cNvSpPr/>
          <p:nvPr/>
        </p:nvSpPr>
        <p:spPr>
          <a:xfrm>
            <a:off x="289662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7" name="Illustrative delivered road transport cost class 3; reference terminal Lesedi"/>
          <p:cNvSpPr/>
          <p:nvPr/>
        </p:nvSpPr>
        <p:spPr>
          <a:xfrm>
            <a:off x="289662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8" name="Illustrative delivered road transport cost class 3; reference terminal Lesedi"/>
          <p:cNvSpPr/>
          <p:nvPr/>
        </p:nvSpPr>
        <p:spPr>
          <a:xfrm>
            <a:off x="289662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9" name="Illustrative delivered road transport cost class 3; reference terminal Lesedi"/>
          <p:cNvSpPr/>
          <p:nvPr/>
        </p:nvSpPr>
        <p:spPr>
          <a:xfrm>
            <a:off x="289662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0" name="Illustrative delivered road transport cost class 3; reference terminal Lesedi"/>
          <p:cNvSpPr/>
          <p:nvPr/>
        </p:nvSpPr>
        <p:spPr>
          <a:xfrm>
            <a:off x="289662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1" name="Illustrative delivered road transport cost class 3; reference terminal Lesedi"/>
          <p:cNvSpPr/>
          <p:nvPr/>
        </p:nvSpPr>
        <p:spPr>
          <a:xfrm>
            <a:off x="289662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2" name="Illustrative delivered road transport cost class 3; reference terminal Lesedi"/>
          <p:cNvSpPr/>
          <p:nvPr/>
        </p:nvSpPr>
        <p:spPr>
          <a:xfrm>
            <a:off x="289662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 name="Illustrative delivered road transport cost class 3; reference terminal Lesedi"/>
          <p:cNvSpPr/>
          <p:nvPr/>
        </p:nvSpPr>
        <p:spPr>
          <a:xfrm>
            <a:off x="289662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 name="Illustrative delivered road transport cost class 3; reference terminal Lesedi"/>
          <p:cNvSpPr/>
          <p:nvPr/>
        </p:nvSpPr>
        <p:spPr>
          <a:xfrm>
            <a:off x="289662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5" name="Illustrative delivered road transport cost class 3; reference terminal Lesedi"/>
          <p:cNvSpPr/>
          <p:nvPr/>
        </p:nvSpPr>
        <p:spPr>
          <a:xfrm>
            <a:off x="289662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6" name="Illustrative delivered road transport cost class 3; reference terminal Lesedi"/>
          <p:cNvSpPr/>
          <p:nvPr/>
        </p:nvSpPr>
        <p:spPr>
          <a:xfrm>
            <a:off x="289662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7" name="Illustrative delivered road transport cost class 3; reference terminal Lesedi"/>
          <p:cNvSpPr/>
          <p:nvPr/>
        </p:nvSpPr>
        <p:spPr>
          <a:xfrm>
            <a:off x="289662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8" name="Illustrative delivered road transport cost class 4; reference terminal Lesedi"/>
          <p:cNvSpPr/>
          <p:nvPr/>
        </p:nvSpPr>
        <p:spPr>
          <a:xfrm>
            <a:off x="289662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9" name="Illustrative delivered road transport cost class 4; reference terminal Lesedi"/>
          <p:cNvSpPr/>
          <p:nvPr/>
        </p:nvSpPr>
        <p:spPr>
          <a:xfrm>
            <a:off x="289662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0" name="Illustrative delivered road transport cost class None; reference terminal None"/>
          <p:cNvSpPr/>
          <p:nvPr/>
        </p:nvSpPr>
        <p:spPr>
          <a:xfrm>
            <a:off x="289662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1" name="Illustrative delivered road transport cost class None; reference terminal None"/>
          <p:cNvSpPr/>
          <p:nvPr/>
        </p:nvSpPr>
        <p:spPr>
          <a:xfrm>
            <a:off x="2896623" y="3506901"/>
            <a:ext cx="57686" cy="29988"/>
          </a:xfrm>
          <a:custGeom>
            <a:avLst/>
            <a:gdLst/>
            <a:ahLst/>
            <a:cxnLst/>
            <a:rect l="l" t="t" r="r" b="b"/>
            <a:pathLst>
              <a:path w="57686" h="29988">
                <a:moveTo>
                  <a:pt x="57686" y="29988"/>
                </a:moveTo>
                <a:lnTo>
                  <a:pt x="0" y="29988"/>
                </a:lnTo>
                <a:lnTo>
                  <a:pt x="0" y="8063"/>
                </a:lnTo>
                <a:lnTo>
                  <a:pt x="5311" y="9160"/>
                </a:lnTo>
                <a:lnTo>
                  <a:pt x="38607" y="11163"/>
                </a:lnTo>
                <a:lnTo>
                  <a:pt x="49619" y="7462"/>
                </a:lnTo>
                <a:lnTo>
                  <a:pt x="57686" y="0"/>
                </a:lnTo>
                <a:lnTo>
                  <a:pt x="57686" y="299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2" name="Illustrative delivered road transport cost class 4; reference terminal Durban"/>
          <p:cNvSpPr/>
          <p:nvPr/>
        </p:nvSpPr>
        <p:spPr>
          <a:xfrm>
            <a:off x="2954309" y="5440546"/>
            <a:ext cx="41969" cy="5027"/>
          </a:xfrm>
          <a:custGeom>
            <a:avLst/>
            <a:gdLst/>
            <a:ahLst/>
            <a:cxnLst/>
            <a:rect l="l" t="t" r="r" b="b"/>
            <a:pathLst>
              <a:path w="41969" h="5027">
                <a:moveTo>
                  <a:pt x="0" y="0"/>
                </a:moveTo>
                <a:lnTo>
                  <a:pt x="41969" y="0"/>
                </a:lnTo>
                <a:lnTo>
                  <a:pt x="17720" y="757"/>
                </a:lnTo>
                <a:lnTo>
                  <a:pt x="0" y="502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Illustrative delivered road transport cost class 4; reference terminal Durban"/>
          <p:cNvSpPr/>
          <p:nvPr/>
        </p:nvSpPr>
        <p:spPr>
          <a:xfrm>
            <a:off x="2954309" y="5382859"/>
            <a:ext cx="57687" cy="57687"/>
          </a:xfrm>
          <a:custGeom>
            <a:avLst/>
            <a:gdLst/>
            <a:ahLst/>
            <a:cxnLst/>
            <a:rect l="l" t="t" r="r" b="b"/>
            <a:pathLst>
              <a:path w="57687" h="57687">
                <a:moveTo>
                  <a:pt x="0" y="57687"/>
                </a:moveTo>
                <a:lnTo>
                  <a:pt x="0" y="0"/>
                </a:lnTo>
                <a:lnTo>
                  <a:pt x="57687" y="0"/>
                </a:lnTo>
                <a:lnTo>
                  <a:pt x="57687" y="57196"/>
                </a:lnTo>
                <a:lnTo>
                  <a:pt x="41969"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4" name="Illustrative delivered road transport cost class 4; reference terminal Durban"/>
          <p:cNvSpPr/>
          <p:nvPr/>
        </p:nvSpPr>
        <p:spPr>
          <a:xfrm>
            <a:off x="2954309"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5" name="Illustrative delivered road transport cost class 4; reference terminal Lesedi"/>
          <p:cNvSpPr/>
          <p:nvPr/>
        </p:nvSpPr>
        <p:spPr>
          <a:xfrm>
            <a:off x="2954309"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6" name="Illustrative delivered road transport cost class 4; reference terminal Lesedi"/>
          <p:cNvSpPr/>
          <p:nvPr/>
        </p:nvSpPr>
        <p:spPr>
          <a:xfrm>
            <a:off x="2954309"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7" name="Illustrative delivered road transport cost class 4; reference terminal Lesedi"/>
          <p:cNvSpPr/>
          <p:nvPr/>
        </p:nvSpPr>
        <p:spPr>
          <a:xfrm>
            <a:off x="2954309"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8" name="Illustrative delivered road transport cost class 4; reference terminal Lesedi"/>
          <p:cNvSpPr/>
          <p:nvPr/>
        </p:nvSpPr>
        <p:spPr>
          <a:xfrm>
            <a:off x="2954309"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9" name="Illustrative delivered road transport cost class 3; reference terminal Lesedi"/>
          <p:cNvSpPr/>
          <p:nvPr/>
        </p:nvSpPr>
        <p:spPr>
          <a:xfrm>
            <a:off x="2954309"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0" name="Illustrative delivered road transport cost class 3; reference terminal Lesedi"/>
          <p:cNvSpPr/>
          <p:nvPr/>
        </p:nvSpPr>
        <p:spPr>
          <a:xfrm>
            <a:off x="2954309"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1" name="Illustrative delivered road transport cost class 3; reference terminal Lesedi"/>
          <p:cNvSpPr/>
          <p:nvPr/>
        </p:nvSpPr>
        <p:spPr>
          <a:xfrm>
            <a:off x="2954309"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2" name="Illustrative delivered road transport cost class 3; reference terminal Lesedi"/>
          <p:cNvSpPr/>
          <p:nvPr/>
        </p:nvSpPr>
        <p:spPr>
          <a:xfrm>
            <a:off x="2954309"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3" name="Illustrative delivered road transport cost class 3; reference terminal Lesedi"/>
          <p:cNvSpPr/>
          <p:nvPr/>
        </p:nvSpPr>
        <p:spPr>
          <a:xfrm>
            <a:off x="2954309"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4" name="Illustrative delivered road transport cost class 4; reference terminal Lesedi"/>
          <p:cNvSpPr/>
          <p:nvPr/>
        </p:nvSpPr>
        <p:spPr>
          <a:xfrm>
            <a:off x="2954309"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5" name="Illustrative delivered road transport cost class None; reference terminal None"/>
          <p:cNvSpPr/>
          <p:nvPr/>
        </p:nvSpPr>
        <p:spPr>
          <a:xfrm>
            <a:off x="2954309"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6" name="Illustrative delivered road transport cost class None; reference terminal None"/>
          <p:cNvSpPr/>
          <p:nvPr/>
        </p:nvSpPr>
        <p:spPr>
          <a:xfrm>
            <a:off x="2954309"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7" name="Illustrative delivered road transport cost class None; reference terminal None"/>
          <p:cNvSpPr/>
          <p:nvPr/>
        </p:nvSpPr>
        <p:spPr>
          <a:xfrm>
            <a:off x="2954309"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8" name="Illustrative delivered road transport cost class None; reference terminal None"/>
          <p:cNvSpPr/>
          <p:nvPr/>
        </p:nvSpPr>
        <p:spPr>
          <a:xfrm>
            <a:off x="295430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9" name="Illustrative delivered road transport cost class None; reference terminal None"/>
          <p:cNvSpPr/>
          <p:nvPr/>
        </p:nvSpPr>
        <p:spPr>
          <a:xfrm>
            <a:off x="295430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0" name="Illustrative delivered road transport cost class None; reference terminal None"/>
          <p:cNvSpPr/>
          <p:nvPr/>
        </p:nvSpPr>
        <p:spPr>
          <a:xfrm>
            <a:off x="295430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1" name="Illustrative delivered road transport cost class 3; reference terminal Lesedi"/>
          <p:cNvSpPr/>
          <p:nvPr/>
        </p:nvSpPr>
        <p:spPr>
          <a:xfrm>
            <a:off x="295430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2" name="Illustrative delivered road transport cost class 3; reference terminal Lesedi"/>
          <p:cNvSpPr/>
          <p:nvPr/>
        </p:nvSpPr>
        <p:spPr>
          <a:xfrm>
            <a:off x="295430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3" name="Illustrative delivered road transport cost class 3; reference terminal Lesedi"/>
          <p:cNvSpPr/>
          <p:nvPr/>
        </p:nvSpPr>
        <p:spPr>
          <a:xfrm>
            <a:off x="295430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4" name="Illustrative delivered road transport cost class 3; reference terminal Lesedi"/>
          <p:cNvSpPr/>
          <p:nvPr/>
        </p:nvSpPr>
        <p:spPr>
          <a:xfrm>
            <a:off x="295430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5" name="Illustrative delivered road transport cost class 3; reference terminal Lesedi"/>
          <p:cNvSpPr/>
          <p:nvPr/>
        </p:nvSpPr>
        <p:spPr>
          <a:xfrm>
            <a:off x="295430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6" name="Illustrative delivered road transport cost class 3; reference terminal Lesedi"/>
          <p:cNvSpPr/>
          <p:nvPr/>
        </p:nvSpPr>
        <p:spPr>
          <a:xfrm>
            <a:off x="295430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7" name="Illustrative delivered road transport cost class 3; reference terminal Lesedi"/>
          <p:cNvSpPr/>
          <p:nvPr/>
        </p:nvSpPr>
        <p:spPr>
          <a:xfrm>
            <a:off x="295430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8" name="Illustrative delivered road transport cost class 3; reference terminal Lesedi"/>
          <p:cNvSpPr/>
          <p:nvPr/>
        </p:nvSpPr>
        <p:spPr>
          <a:xfrm>
            <a:off x="295430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9" name="Illustrative delivered road transport cost class 3; reference terminal Lesedi"/>
          <p:cNvSpPr/>
          <p:nvPr/>
        </p:nvSpPr>
        <p:spPr>
          <a:xfrm>
            <a:off x="295430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0" name="Illustrative delivered road transport cost class 3; reference terminal Lesedi"/>
          <p:cNvSpPr/>
          <p:nvPr/>
        </p:nvSpPr>
        <p:spPr>
          <a:xfrm>
            <a:off x="295430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1" name="Illustrative delivered road transport cost class 3; reference terminal Lesedi"/>
          <p:cNvSpPr/>
          <p:nvPr/>
        </p:nvSpPr>
        <p:spPr>
          <a:xfrm>
            <a:off x="295430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2" name="Illustrative delivered road transport cost class 3; reference terminal Lesedi"/>
          <p:cNvSpPr/>
          <p:nvPr/>
        </p:nvSpPr>
        <p:spPr>
          <a:xfrm>
            <a:off x="295430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3" name="Illustrative delivered road transport cost class 3; reference terminal Lesedi"/>
          <p:cNvSpPr/>
          <p:nvPr/>
        </p:nvSpPr>
        <p:spPr>
          <a:xfrm>
            <a:off x="295430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4" name="Illustrative delivered road transport cost class 3; reference terminal Lesedi"/>
          <p:cNvSpPr/>
          <p:nvPr/>
        </p:nvSpPr>
        <p:spPr>
          <a:xfrm>
            <a:off x="295430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5" name="Illustrative delivered road transport cost class 4; reference terminal Lesedi"/>
          <p:cNvSpPr/>
          <p:nvPr/>
        </p:nvSpPr>
        <p:spPr>
          <a:xfrm>
            <a:off x="295430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6" name="Illustrative delivered road transport cost class None; reference terminal None"/>
          <p:cNvSpPr/>
          <p:nvPr/>
        </p:nvSpPr>
        <p:spPr>
          <a:xfrm>
            <a:off x="2954309" y="3479202"/>
            <a:ext cx="57687" cy="57687"/>
          </a:xfrm>
          <a:custGeom>
            <a:avLst/>
            <a:gdLst/>
            <a:ahLst/>
            <a:cxnLst/>
            <a:rect l="l" t="t" r="r" b="b"/>
            <a:pathLst>
              <a:path w="57687" h="57687">
                <a:moveTo>
                  <a:pt x="57687" y="0"/>
                </a:moveTo>
                <a:lnTo>
                  <a:pt x="57687" y="57687"/>
                </a:lnTo>
                <a:lnTo>
                  <a:pt x="0" y="57687"/>
                </a:lnTo>
                <a:lnTo>
                  <a:pt x="0" y="27699"/>
                </a:lnTo>
                <a:lnTo>
                  <a:pt x="1644" y="26178"/>
                </a:lnTo>
                <a:lnTo>
                  <a:pt x="12518" y="1132"/>
                </a:lnTo>
                <a:lnTo>
                  <a:pt x="1388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7" name="Illustrative delivered road transport cost class None; reference terminal None"/>
          <p:cNvSpPr/>
          <p:nvPr/>
        </p:nvSpPr>
        <p:spPr>
          <a:xfrm>
            <a:off x="2968191" y="3461853"/>
            <a:ext cx="43805" cy="17349"/>
          </a:xfrm>
          <a:custGeom>
            <a:avLst/>
            <a:gdLst/>
            <a:ahLst/>
            <a:cxnLst/>
            <a:rect l="l" t="t" r="r" b="b"/>
            <a:pathLst>
              <a:path w="43805" h="17349">
                <a:moveTo>
                  <a:pt x="43805" y="17349"/>
                </a:moveTo>
                <a:lnTo>
                  <a:pt x="0" y="17349"/>
                </a:lnTo>
                <a:lnTo>
                  <a:pt x="8741" y="10096"/>
                </a:lnTo>
                <a:lnTo>
                  <a:pt x="27313" y="5420"/>
                </a:lnTo>
                <a:lnTo>
                  <a:pt x="43805" y="0"/>
                </a:lnTo>
                <a:lnTo>
                  <a:pt x="43805" y="1734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8" name="Illustrative delivered road transport cost class 4; reference terminal Durban"/>
          <p:cNvSpPr/>
          <p:nvPr/>
        </p:nvSpPr>
        <p:spPr>
          <a:xfrm>
            <a:off x="3011996" y="5382859"/>
            <a:ext cx="57686" cy="57196"/>
          </a:xfrm>
          <a:custGeom>
            <a:avLst/>
            <a:gdLst/>
            <a:ahLst/>
            <a:cxnLst/>
            <a:rect l="l" t="t" r="r" b="b"/>
            <a:pathLst>
              <a:path w="57686" h="57196">
                <a:moveTo>
                  <a:pt x="0" y="0"/>
                </a:moveTo>
                <a:lnTo>
                  <a:pt x="57686" y="0"/>
                </a:lnTo>
                <a:lnTo>
                  <a:pt x="57686" y="16696"/>
                </a:lnTo>
                <a:lnTo>
                  <a:pt x="10084" y="56881"/>
                </a:lnTo>
                <a:lnTo>
                  <a:pt x="0" y="571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9" name="Illustrative delivered road transport cost class 4; reference terminal Durban"/>
          <p:cNvSpPr/>
          <p:nvPr/>
        </p:nvSpPr>
        <p:spPr>
          <a:xfrm>
            <a:off x="3011996"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Illustrative delivered road transport cost class 4; reference terminal Lesedi"/>
          <p:cNvSpPr/>
          <p:nvPr/>
        </p:nvSpPr>
        <p:spPr>
          <a:xfrm>
            <a:off x="3011996"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 name="Illustrative delivered road transport cost class 4; reference terminal Lesedi"/>
          <p:cNvSpPr/>
          <p:nvPr/>
        </p:nvSpPr>
        <p:spPr>
          <a:xfrm>
            <a:off x="3011996"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Illustrative delivered road transport cost class 4; reference terminal Lesedi"/>
          <p:cNvSpPr/>
          <p:nvPr/>
        </p:nvSpPr>
        <p:spPr>
          <a:xfrm>
            <a:off x="3011996"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3" name="Illustrative delivered road transport cost class 4; reference terminal Lesedi"/>
          <p:cNvSpPr/>
          <p:nvPr/>
        </p:nvSpPr>
        <p:spPr>
          <a:xfrm>
            <a:off x="3011996"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4" name="Illustrative delivered road transport cost class 3; reference terminal Lesedi"/>
          <p:cNvSpPr/>
          <p:nvPr/>
        </p:nvSpPr>
        <p:spPr>
          <a:xfrm>
            <a:off x="3011996"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Illustrative delivered road transport cost class 3; reference terminal Lesedi"/>
          <p:cNvSpPr/>
          <p:nvPr/>
        </p:nvSpPr>
        <p:spPr>
          <a:xfrm>
            <a:off x="3011996"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6" name="Illustrative delivered road transport cost class 3; reference terminal Lesedi"/>
          <p:cNvSpPr/>
          <p:nvPr/>
        </p:nvSpPr>
        <p:spPr>
          <a:xfrm>
            <a:off x="3011996"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7" name="Illustrative delivered road transport cost class 3; reference terminal Lesedi"/>
          <p:cNvSpPr/>
          <p:nvPr/>
        </p:nvSpPr>
        <p:spPr>
          <a:xfrm>
            <a:off x="3011996"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Illustrative delivered road transport cost class 3; reference terminal Lesedi"/>
          <p:cNvSpPr/>
          <p:nvPr/>
        </p:nvSpPr>
        <p:spPr>
          <a:xfrm>
            <a:off x="3011996"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9" name="Illustrative delivered road transport cost class 3; reference terminal Lesedi"/>
          <p:cNvSpPr/>
          <p:nvPr/>
        </p:nvSpPr>
        <p:spPr>
          <a:xfrm>
            <a:off x="3011996"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0" name="Illustrative delivered road transport cost class None; reference terminal None"/>
          <p:cNvSpPr/>
          <p:nvPr/>
        </p:nvSpPr>
        <p:spPr>
          <a:xfrm>
            <a:off x="3011996"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Illustrative delivered road transport cost class None; reference terminal None"/>
          <p:cNvSpPr/>
          <p:nvPr/>
        </p:nvSpPr>
        <p:spPr>
          <a:xfrm>
            <a:off x="3011996"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2" name="Illustrative delivered road transport cost class None; reference terminal None"/>
          <p:cNvSpPr/>
          <p:nvPr/>
        </p:nvSpPr>
        <p:spPr>
          <a:xfrm>
            <a:off x="3011996"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Illustrative delivered road transport cost class None; reference terminal None"/>
          <p:cNvSpPr/>
          <p:nvPr/>
        </p:nvSpPr>
        <p:spPr>
          <a:xfrm>
            <a:off x="3011996"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4" name="Illustrative delivered road transport cost class None; reference terminal None"/>
          <p:cNvSpPr/>
          <p:nvPr/>
        </p:nvSpPr>
        <p:spPr>
          <a:xfrm>
            <a:off x="3011996"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Illustrative delivered road transport cost class None; reference terminal None"/>
          <p:cNvSpPr/>
          <p:nvPr/>
        </p:nvSpPr>
        <p:spPr>
          <a:xfrm>
            <a:off x="3011996"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6" name="Illustrative delivered road transport cost class 3; reference terminal Lesedi"/>
          <p:cNvSpPr/>
          <p:nvPr/>
        </p:nvSpPr>
        <p:spPr>
          <a:xfrm>
            <a:off x="3011996"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Illustrative delivered road transport cost class 3; reference terminal Lesedi"/>
          <p:cNvSpPr/>
          <p:nvPr/>
        </p:nvSpPr>
        <p:spPr>
          <a:xfrm>
            <a:off x="3011996"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8" name="Illustrative delivered road transport cost class 3; reference terminal Lesedi"/>
          <p:cNvSpPr/>
          <p:nvPr/>
        </p:nvSpPr>
        <p:spPr>
          <a:xfrm>
            <a:off x="3011996"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Illustrative delivered road transport cost class 3; reference terminal Lesedi"/>
          <p:cNvSpPr/>
          <p:nvPr/>
        </p:nvSpPr>
        <p:spPr>
          <a:xfrm>
            <a:off x="301199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0" name="Illustrative delivered road transport cost class 3; reference terminal Lesedi"/>
          <p:cNvSpPr/>
          <p:nvPr/>
        </p:nvSpPr>
        <p:spPr>
          <a:xfrm>
            <a:off x="301199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Illustrative delivered road transport cost class 3; reference terminal Lesedi"/>
          <p:cNvSpPr/>
          <p:nvPr/>
        </p:nvSpPr>
        <p:spPr>
          <a:xfrm>
            <a:off x="301199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 name="Illustrative delivered road transport cost class 3; reference terminal Lesedi"/>
          <p:cNvSpPr/>
          <p:nvPr/>
        </p:nvSpPr>
        <p:spPr>
          <a:xfrm>
            <a:off x="301199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Illustrative delivered road transport cost class 3; reference terminal Lesedi"/>
          <p:cNvSpPr/>
          <p:nvPr/>
        </p:nvSpPr>
        <p:spPr>
          <a:xfrm>
            <a:off x="301199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4" name="Illustrative delivered road transport cost class 3; reference terminal Lesedi"/>
          <p:cNvSpPr/>
          <p:nvPr/>
        </p:nvSpPr>
        <p:spPr>
          <a:xfrm>
            <a:off x="301199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Illustrative delivered road transport cost class 3; reference terminal Lesedi"/>
          <p:cNvSpPr/>
          <p:nvPr/>
        </p:nvSpPr>
        <p:spPr>
          <a:xfrm>
            <a:off x="301199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 name="Illustrative delivered road transport cost class 3; reference terminal Lesedi"/>
          <p:cNvSpPr/>
          <p:nvPr/>
        </p:nvSpPr>
        <p:spPr>
          <a:xfrm>
            <a:off x="301199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Illustrative delivered road transport cost class 3; reference terminal Lesedi"/>
          <p:cNvSpPr/>
          <p:nvPr/>
        </p:nvSpPr>
        <p:spPr>
          <a:xfrm>
            <a:off x="301199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8" name="Illustrative delivered road transport cost class 3; reference terminal Lesedi"/>
          <p:cNvSpPr/>
          <p:nvPr/>
        </p:nvSpPr>
        <p:spPr>
          <a:xfrm>
            <a:off x="301199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Illustrative delivered road transport cost class 3; reference terminal Lesedi"/>
          <p:cNvSpPr/>
          <p:nvPr/>
        </p:nvSpPr>
        <p:spPr>
          <a:xfrm>
            <a:off x="3011996"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0" name="Illustrative delivered road transport cost class 3; reference terminal Lesedi"/>
          <p:cNvSpPr/>
          <p:nvPr/>
        </p:nvSpPr>
        <p:spPr>
          <a:xfrm>
            <a:off x="3011996"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Illustrative delivered road transport cost class None; reference terminal None"/>
          <p:cNvSpPr/>
          <p:nvPr/>
        </p:nvSpPr>
        <p:spPr>
          <a:xfrm>
            <a:off x="3011996"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2" name="Illustrative delivered road transport cost class None; reference terminal None"/>
          <p:cNvSpPr/>
          <p:nvPr/>
        </p:nvSpPr>
        <p:spPr>
          <a:xfrm>
            <a:off x="3011996" y="3421516"/>
            <a:ext cx="57686" cy="57686"/>
          </a:xfrm>
          <a:custGeom>
            <a:avLst/>
            <a:gdLst/>
            <a:ahLst/>
            <a:cxnLst/>
            <a:rect l="l" t="t" r="r" b="b"/>
            <a:pathLst>
              <a:path w="57686" h="57686">
                <a:moveTo>
                  <a:pt x="57686" y="0"/>
                </a:moveTo>
                <a:lnTo>
                  <a:pt x="57686" y="57686"/>
                </a:lnTo>
                <a:lnTo>
                  <a:pt x="0" y="57686"/>
                </a:lnTo>
                <a:lnTo>
                  <a:pt x="0" y="40337"/>
                </a:lnTo>
                <a:lnTo>
                  <a:pt x="5481" y="38536"/>
                </a:lnTo>
                <a:lnTo>
                  <a:pt x="23520" y="23860"/>
                </a:lnTo>
                <a:lnTo>
                  <a:pt x="3700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Illustrative delivered road transport cost class None; reference terminal None"/>
          <p:cNvSpPr/>
          <p:nvPr/>
        </p:nvSpPr>
        <p:spPr>
          <a:xfrm>
            <a:off x="3049002" y="3391017"/>
            <a:ext cx="20680" cy="30499"/>
          </a:xfrm>
          <a:custGeom>
            <a:avLst/>
            <a:gdLst/>
            <a:ahLst/>
            <a:cxnLst/>
            <a:rect l="l" t="t" r="r" b="b"/>
            <a:pathLst>
              <a:path w="20680" h="30499">
                <a:moveTo>
                  <a:pt x="20680" y="30499"/>
                </a:moveTo>
                <a:lnTo>
                  <a:pt x="0" y="30499"/>
                </a:lnTo>
                <a:lnTo>
                  <a:pt x="14539" y="4776"/>
                </a:lnTo>
                <a:lnTo>
                  <a:pt x="20680" y="0"/>
                </a:lnTo>
                <a:lnTo>
                  <a:pt x="20680" y="3049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4" name="Illustrative delivered road transport cost class 4; reference terminal Durban"/>
          <p:cNvSpPr/>
          <p:nvPr/>
        </p:nvSpPr>
        <p:spPr>
          <a:xfrm>
            <a:off x="3069682" y="5382859"/>
            <a:ext cx="19778" cy="16696"/>
          </a:xfrm>
          <a:custGeom>
            <a:avLst/>
            <a:gdLst/>
            <a:ahLst/>
            <a:cxnLst/>
            <a:rect l="l" t="t" r="r" b="b"/>
            <a:pathLst>
              <a:path w="19778" h="16696">
                <a:moveTo>
                  <a:pt x="0" y="0"/>
                </a:moveTo>
                <a:lnTo>
                  <a:pt x="19778" y="0"/>
                </a:lnTo>
                <a:lnTo>
                  <a:pt x="0" y="166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Illustrative delivered road transport cost class 4; reference terminal Durban"/>
          <p:cNvSpPr/>
          <p:nvPr/>
        </p:nvSpPr>
        <p:spPr>
          <a:xfrm>
            <a:off x="3069682" y="5325173"/>
            <a:ext cx="57687" cy="57686"/>
          </a:xfrm>
          <a:custGeom>
            <a:avLst/>
            <a:gdLst/>
            <a:ahLst/>
            <a:cxnLst/>
            <a:rect l="l" t="t" r="r" b="b"/>
            <a:pathLst>
              <a:path w="57687" h="57686">
                <a:moveTo>
                  <a:pt x="0" y="57686"/>
                </a:moveTo>
                <a:lnTo>
                  <a:pt x="0" y="0"/>
                </a:lnTo>
                <a:lnTo>
                  <a:pt x="57687" y="0"/>
                </a:lnTo>
                <a:lnTo>
                  <a:pt x="57687" y="33061"/>
                </a:lnTo>
                <a:lnTo>
                  <a:pt x="47320" y="34436"/>
                </a:lnTo>
                <a:lnTo>
                  <a:pt x="19778"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6" name="Illustrative delivered road transport cost class 4; reference terminal Durban"/>
          <p:cNvSpPr/>
          <p:nvPr/>
        </p:nvSpPr>
        <p:spPr>
          <a:xfrm>
            <a:off x="306968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Illustrative delivered road transport cost class 4; reference terminal Lesedi"/>
          <p:cNvSpPr/>
          <p:nvPr/>
        </p:nvSpPr>
        <p:spPr>
          <a:xfrm>
            <a:off x="306968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8" name="Illustrative delivered road transport cost class 4; reference terminal Lesedi"/>
          <p:cNvSpPr/>
          <p:nvPr/>
        </p:nvSpPr>
        <p:spPr>
          <a:xfrm>
            <a:off x="306968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Illustrative delivered road transport cost class 3; reference terminal Lesedi"/>
          <p:cNvSpPr/>
          <p:nvPr/>
        </p:nvSpPr>
        <p:spPr>
          <a:xfrm>
            <a:off x="306968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0" name="Illustrative delivered road transport cost class 3; reference terminal Lesedi"/>
          <p:cNvSpPr/>
          <p:nvPr/>
        </p:nvSpPr>
        <p:spPr>
          <a:xfrm>
            <a:off x="306968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Illustrative delivered road transport cost class 3; reference terminal Lesedi"/>
          <p:cNvSpPr/>
          <p:nvPr/>
        </p:nvSpPr>
        <p:spPr>
          <a:xfrm>
            <a:off x="306968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2" name="Illustrative delivered road transport cost class 3; reference terminal Lesedi"/>
          <p:cNvSpPr/>
          <p:nvPr/>
        </p:nvSpPr>
        <p:spPr>
          <a:xfrm>
            <a:off x="306968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Illustrative delivered road transport cost class 3; reference terminal Lesedi"/>
          <p:cNvSpPr/>
          <p:nvPr/>
        </p:nvSpPr>
        <p:spPr>
          <a:xfrm>
            <a:off x="306968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4" name="Illustrative delivered road transport cost class 3; reference terminal Lesedi"/>
          <p:cNvSpPr/>
          <p:nvPr/>
        </p:nvSpPr>
        <p:spPr>
          <a:xfrm>
            <a:off x="306968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5" name="Illustrative delivered road transport cost class 3; reference terminal Lesedi"/>
          <p:cNvSpPr/>
          <p:nvPr/>
        </p:nvSpPr>
        <p:spPr>
          <a:xfrm>
            <a:off x="306968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6" name="Illustrative delivered road transport cost class 3; reference terminal Lesedi"/>
          <p:cNvSpPr/>
          <p:nvPr/>
        </p:nvSpPr>
        <p:spPr>
          <a:xfrm>
            <a:off x="306968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7" name="Illustrative delivered road transport cost class None; reference terminal None"/>
          <p:cNvSpPr/>
          <p:nvPr/>
        </p:nvSpPr>
        <p:spPr>
          <a:xfrm>
            <a:off x="306968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8" name="Illustrative delivered road transport cost class None; reference terminal None"/>
          <p:cNvSpPr/>
          <p:nvPr/>
        </p:nvSpPr>
        <p:spPr>
          <a:xfrm>
            <a:off x="306968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9" name="Illustrative delivered road transport cost class None; reference terminal None"/>
          <p:cNvSpPr/>
          <p:nvPr/>
        </p:nvSpPr>
        <p:spPr>
          <a:xfrm>
            <a:off x="306968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0" name="Illustrative delivered road transport cost class None; reference terminal None"/>
          <p:cNvSpPr/>
          <p:nvPr/>
        </p:nvSpPr>
        <p:spPr>
          <a:xfrm>
            <a:off x="306968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1" name="Illustrative delivered road transport cost class 3; reference terminal Lesedi"/>
          <p:cNvSpPr/>
          <p:nvPr/>
        </p:nvSpPr>
        <p:spPr>
          <a:xfrm>
            <a:off x="306968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2" name="Illustrative delivered road transport cost class 3; reference terminal Lesedi"/>
          <p:cNvSpPr/>
          <p:nvPr/>
        </p:nvSpPr>
        <p:spPr>
          <a:xfrm>
            <a:off x="306968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3" name="Illustrative delivered road transport cost class 3; reference terminal Lesedi"/>
          <p:cNvSpPr/>
          <p:nvPr/>
        </p:nvSpPr>
        <p:spPr>
          <a:xfrm>
            <a:off x="306968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4" name="Illustrative delivered road transport cost class 3; reference terminal Lesedi"/>
          <p:cNvSpPr/>
          <p:nvPr/>
        </p:nvSpPr>
        <p:spPr>
          <a:xfrm>
            <a:off x="306968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5" name="Illustrative delivered road transport cost class 3; reference terminal Lesedi"/>
          <p:cNvSpPr/>
          <p:nvPr/>
        </p:nvSpPr>
        <p:spPr>
          <a:xfrm>
            <a:off x="306968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6" name="Illustrative delivered road transport cost class 3; reference terminal Lesedi"/>
          <p:cNvSpPr/>
          <p:nvPr/>
        </p:nvSpPr>
        <p:spPr>
          <a:xfrm>
            <a:off x="306968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7" name="Illustrative delivered road transport cost class 3; reference terminal Lesedi"/>
          <p:cNvSpPr/>
          <p:nvPr/>
        </p:nvSpPr>
        <p:spPr>
          <a:xfrm>
            <a:off x="306968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8" name="Illustrative delivered road transport cost class 3; reference terminal Lesedi"/>
          <p:cNvSpPr/>
          <p:nvPr/>
        </p:nvSpPr>
        <p:spPr>
          <a:xfrm>
            <a:off x="306968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9" name="Illustrative delivered road transport cost class 3; reference terminal Lesedi"/>
          <p:cNvSpPr/>
          <p:nvPr/>
        </p:nvSpPr>
        <p:spPr>
          <a:xfrm>
            <a:off x="306968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0" name="Illustrative delivered road transport cost class 3; reference terminal Lesedi"/>
          <p:cNvSpPr/>
          <p:nvPr/>
        </p:nvSpPr>
        <p:spPr>
          <a:xfrm>
            <a:off x="306968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1" name="Illustrative delivered road transport cost class 3; reference terminal Lesedi"/>
          <p:cNvSpPr/>
          <p:nvPr/>
        </p:nvSpPr>
        <p:spPr>
          <a:xfrm>
            <a:off x="306968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2" name="Illustrative delivered road transport cost class 3; reference terminal Lesedi"/>
          <p:cNvSpPr/>
          <p:nvPr/>
        </p:nvSpPr>
        <p:spPr>
          <a:xfrm>
            <a:off x="306968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3" name="Illustrative delivered road transport cost class 3; reference terminal Lesedi"/>
          <p:cNvSpPr/>
          <p:nvPr/>
        </p:nvSpPr>
        <p:spPr>
          <a:xfrm>
            <a:off x="306968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4" name="Illustrative delivered road transport cost class 3; reference terminal Lesedi"/>
          <p:cNvSpPr/>
          <p:nvPr/>
        </p:nvSpPr>
        <p:spPr>
          <a:xfrm>
            <a:off x="306968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5" name="Illustrative delivered road transport cost class 3; reference terminal Lesedi"/>
          <p:cNvSpPr/>
          <p:nvPr/>
        </p:nvSpPr>
        <p:spPr>
          <a:xfrm>
            <a:off x="306968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6" name="Illustrative delivered road transport cost class 3; reference terminal Lesedi"/>
          <p:cNvSpPr/>
          <p:nvPr/>
        </p:nvSpPr>
        <p:spPr>
          <a:xfrm>
            <a:off x="306968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7" name="Illustrative delivered road transport cost class None; reference terminal None"/>
          <p:cNvSpPr/>
          <p:nvPr/>
        </p:nvSpPr>
        <p:spPr>
          <a:xfrm>
            <a:off x="306968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8" name="Illustrative delivered road transport cost class None; reference terminal None"/>
          <p:cNvSpPr/>
          <p:nvPr/>
        </p:nvSpPr>
        <p:spPr>
          <a:xfrm>
            <a:off x="306968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9" name="Illustrative delivered road transport cost class None; reference terminal None"/>
          <p:cNvSpPr/>
          <p:nvPr/>
        </p:nvSpPr>
        <p:spPr>
          <a:xfrm>
            <a:off x="3069682" y="3363829"/>
            <a:ext cx="57687" cy="57687"/>
          </a:xfrm>
          <a:custGeom>
            <a:avLst/>
            <a:gdLst/>
            <a:ahLst/>
            <a:cxnLst/>
            <a:rect l="l" t="t" r="r" b="b"/>
            <a:pathLst>
              <a:path w="57687" h="57687">
                <a:moveTo>
                  <a:pt x="57687" y="0"/>
                </a:moveTo>
                <a:lnTo>
                  <a:pt x="57687" y="57687"/>
                </a:lnTo>
                <a:lnTo>
                  <a:pt x="0" y="57687"/>
                </a:lnTo>
                <a:lnTo>
                  <a:pt x="0" y="27188"/>
                </a:lnTo>
                <a:lnTo>
                  <a:pt x="3495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0" name="Illustrative delivered road transport cost class None; reference terminal None"/>
          <p:cNvSpPr/>
          <p:nvPr/>
        </p:nvSpPr>
        <p:spPr>
          <a:xfrm>
            <a:off x="3104636" y="3347240"/>
            <a:ext cx="22733" cy="16589"/>
          </a:xfrm>
          <a:custGeom>
            <a:avLst/>
            <a:gdLst/>
            <a:ahLst/>
            <a:cxnLst/>
            <a:rect l="l" t="t" r="r" b="b"/>
            <a:pathLst>
              <a:path w="22733" h="16589">
                <a:moveTo>
                  <a:pt x="22733" y="16589"/>
                </a:moveTo>
                <a:lnTo>
                  <a:pt x="0" y="16589"/>
                </a:lnTo>
                <a:lnTo>
                  <a:pt x="16351" y="3871"/>
                </a:lnTo>
                <a:lnTo>
                  <a:pt x="22733" y="0"/>
                </a:lnTo>
                <a:lnTo>
                  <a:pt x="22733" y="1658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1" name="Illustrative delivered road transport cost class 4; reference terminal Durban"/>
          <p:cNvSpPr/>
          <p:nvPr/>
        </p:nvSpPr>
        <p:spPr>
          <a:xfrm>
            <a:off x="3127369" y="5325173"/>
            <a:ext cx="57686" cy="33061"/>
          </a:xfrm>
          <a:custGeom>
            <a:avLst/>
            <a:gdLst/>
            <a:ahLst/>
            <a:cxnLst/>
            <a:rect l="l" t="t" r="r" b="b"/>
            <a:pathLst>
              <a:path w="57686" h="33061">
                <a:moveTo>
                  <a:pt x="0" y="0"/>
                </a:moveTo>
                <a:lnTo>
                  <a:pt x="57686" y="0"/>
                </a:lnTo>
                <a:lnTo>
                  <a:pt x="57686" y="17782"/>
                </a:lnTo>
                <a:lnTo>
                  <a:pt x="54992" y="17834"/>
                </a:lnTo>
                <a:lnTo>
                  <a:pt x="25544" y="29674"/>
                </a:lnTo>
                <a:lnTo>
                  <a:pt x="0" y="3306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2" name="Illustrative delivered road transport cost class 4; reference terminal Durban"/>
          <p:cNvSpPr/>
          <p:nvPr/>
        </p:nvSpPr>
        <p:spPr>
          <a:xfrm>
            <a:off x="312736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3" name="Illustrative delivered road transport cost class 4; reference terminal Durban"/>
          <p:cNvSpPr/>
          <p:nvPr/>
        </p:nvSpPr>
        <p:spPr>
          <a:xfrm>
            <a:off x="312736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4" name="Illustrative delivered road transport cost class 4; reference terminal Lesedi"/>
          <p:cNvSpPr/>
          <p:nvPr/>
        </p:nvSpPr>
        <p:spPr>
          <a:xfrm>
            <a:off x="312736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5" name="Illustrative delivered road transport cost class 3; reference terminal Lesedi"/>
          <p:cNvSpPr/>
          <p:nvPr/>
        </p:nvSpPr>
        <p:spPr>
          <a:xfrm>
            <a:off x="312736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6" name="Illustrative delivered road transport cost class 3; reference terminal Lesedi"/>
          <p:cNvSpPr/>
          <p:nvPr/>
        </p:nvSpPr>
        <p:spPr>
          <a:xfrm>
            <a:off x="312736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7" name="Illustrative delivered road transport cost class 3; reference terminal Lesedi"/>
          <p:cNvSpPr/>
          <p:nvPr/>
        </p:nvSpPr>
        <p:spPr>
          <a:xfrm>
            <a:off x="312736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8" name="Illustrative delivered road transport cost class 3; reference terminal Lesedi"/>
          <p:cNvSpPr/>
          <p:nvPr/>
        </p:nvSpPr>
        <p:spPr>
          <a:xfrm>
            <a:off x="312736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9" name="Illustrative delivered road transport cost class 3; reference terminal Lesedi"/>
          <p:cNvSpPr/>
          <p:nvPr/>
        </p:nvSpPr>
        <p:spPr>
          <a:xfrm>
            <a:off x="312736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0" name="Illustrative delivered road transport cost class 3; reference terminal Lesedi"/>
          <p:cNvSpPr/>
          <p:nvPr/>
        </p:nvSpPr>
        <p:spPr>
          <a:xfrm>
            <a:off x="312736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1" name="Illustrative delivered road transport cost class 3; reference terminal Lesedi"/>
          <p:cNvSpPr/>
          <p:nvPr/>
        </p:nvSpPr>
        <p:spPr>
          <a:xfrm>
            <a:off x="312736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2" name="Illustrative delivered road transport cost class 3; reference terminal Lesedi"/>
          <p:cNvSpPr/>
          <p:nvPr/>
        </p:nvSpPr>
        <p:spPr>
          <a:xfrm>
            <a:off x="312736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3" name="Illustrative delivered road transport cost class 3; reference terminal Lesedi"/>
          <p:cNvSpPr/>
          <p:nvPr/>
        </p:nvSpPr>
        <p:spPr>
          <a:xfrm>
            <a:off x="312736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4" name="Illustrative delivered road transport cost class 3; reference terminal Lesedi"/>
          <p:cNvSpPr/>
          <p:nvPr/>
        </p:nvSpPr>
        <p:spPr>
          <a:xfrm>
            <a:off x="312736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5" name="Illustrative delivered road transport cost class None; reference terminal None"/>
          <p:cNvSpPr/>
          <p:nvPr/>
        </p:nvSpPr>
        <p:spPr>
          <a:xfrm>
            <a:off x="312736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6" name="Illustrative delivered road transport cost class None; reference terminal None"/>
          <p:cNvSpPr/>
          <p:nvPr/>
        </p:nvSpPr>
        <p:spPr>
          <a:xfrm>
            <a:off x="312736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7" name="Illustrative delivered road transport cost class 3; reference terminal Lesedi"/>
          <p:cNvSpPr/>
          <p:nvPr/>
        </p:nvSpPr>
        <p:spPr>
          <a:xfrm>
            <a:off x="312736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8" name="Illustrative delivered road transport cost class 3; reference terminal Lesedi"/>
          <p:cNvSpPr/>
          <p:nvPr/>
        </p:nvSpPr>
        <p:spPr>
          <a:xfrm>
            <a:off x="312736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9" name="Illustrative delivered road transport cost class 3; reference terminal Lesedi"/>
          <p:cNvSpPr/>
          <p:nvPr/>
        </p:nvSpPr>
        <p:spPr>
          <a:xfrm>
            <a:off x="312736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0" name="Illustrative delivered road transport cost class 3; reference terminal Lesedi"/>
          <p:cNvSpPr/>
          <p:nvPr/>
        </p:nvSpPr>
        <p:spPr>
          <a:xfrm>
            <a:off x="312736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1" name="Illustrative delivered road transport cost class 3; reference terminal Lesedi"/>
          <p:cNvSpPr/>
          <p:nvPr/>
        </p:nvSpPr>
        <p:spPr>
          <a:xfrm>
            <a:off x="312736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2" name="Illustrative delivered road transport cost class 3; reference terminal Lesedi"/>
          <p:cNvSpPr/>
          <p:nvPr/>
        </p:nvSpPr>
        <p:spPr>
          <a:xfrm>
            <a:off x="312736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3" name="Illustrative delivered road transport cost class 3; reference terminal Lesedi"/>
          <p:cNvSpPr/>
          <p:nvPr/>
        </p:nvSpPr>
        <p:spPr>
          <a:xfrm>
            <a:off x="312736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4" name="Illustrative delivered road transport cost class 3; reference terminal Lesedi"/>
          <p:cNvSpPr/>
          <p:nvPr/>
        </p:nvSpPr>
        <p:spPr>
          <a:xfrm>
            <a:off x="312736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5" name="Illustrative delivered road transport cost class 3; reference terminal Lesedi"/>
          <p:cNvSpPr/>
          <p:nvPr/>
        </p:nvSpPr>
        <p:spPr>
          <a:xfrm>
            <a:off x="312736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6" name="Illustrative delivered road transport cost class 3; reference terminal Lesedi"/>
          <p:cNvSpPr/>
          <p:nvPr/>
        </p:nvSpPr>
        <p:spPr>
          <a:xfrm>
            <a:off x="312736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7" name="Illustrative delivered road transport cost class 3; reference terminal Lesedi"/>
          <p:cNvSpPr/>
          <p:nvPr/>
        </p:nvSpPr>
        <p:spPr>
          <a:xfrm>
            <a:off x="312736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8" name="Illustrative delivered road transport cost class 3; reference terminal Lesedi"/>
          <p:cNvSpPr/>
          <p:nvPr/>
        </p:nvSpPr>
        <p:spPr>
          <a:xfrm>
            <a:off x="312736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9" name="Illustrative delivered road transport cost class 3; reference terminal Lesedi"/>
          <p:cNvSpPr/>
          <p:nvPr/>
        </p:nvSpPr>
        <p:spPr>
          <a:xfrm>
            <a:off x="312736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0" name="Illustrative delivered road transport cost class 3; reference terminal Lesedi"/>
          <p:cNvSpPr/>
          <p:nvPr/>
        </p:nvSpPr>
        <p:spPr>
          <a:xfrm>
            <a:off x="312736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1" name="Illustrative delivered road transport cost class 3; reference terminal Lesedi"/>
          <p:cNvSpPr/>
          <p:nvPr/>
        </p:nvSpPr>
        <p:spPr>
          <a:xfrm>
            <a:off x="312736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2" name="Illustrative delivered road transport cost class 3; reference terminal Lesedi"/>
          <p:cNvSpPr/>
          <p:nvPr/>
        </p:nvSpPr>
        <p:spPr>
          <a:xfrm>
            <a:off x="312736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3" name="Illustrative delivered road transport cost class 3; reference terminal Lesedi"/>
          <p:cNvSpPr/>
          <p:nvPr/>
        </p:nvSpPr>
        <p:spPr>
          <a:xfrm>
            <a:off x="312736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4" name="Illustrative delivered road transport cost class None; reference terminal None"/>
          <p:cNvSpPr/>
          <p:nvPr/>
        </p:nvSpPr>
        <p:spPr>
          <a:xfrm>
            <a:off x="312736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5" name="Illustrative delivered road transport cost class None; reference terminal None"/>
          <p:cNvSpPr/>
          <p:nvPr/>
        </p:nvSpPr>
        <p:spPr>
          <a:xfrm>
            <a:off x="312736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6" name="Illustrative delivered road transport cost class None; reference terminal None"/>
          <p:cNvSpPr/>
          <p:nvPr/>
        </p:nvSpPr>
        <p:spPr>
          <a:xfrm>
            <a:off x="3127369" y="3306143"/>
            <a:ext cx="57686" cy="57686"/>
          </a:xfrm>
          <a:custGeom>
            <a:avLst/>
            <a:gdLst/>
            <a:ahLst/>
            <a:cxnLst/>
            <a:rect l="l" t="t" r="r" b="b"/>
            <a:pathLst>
              <a:path w="57686" h="57686">
                <a:moveTo>
                  <a:pt x="57686" y="0"/>
                </a:moveTo>
                <a:lnTo>
                  <a:pt x="57686" y="57686"/>
                </a:lnTo>
                <a:lnTo>
                  <a:pt x="0" y="57686"/>
                </a:lnTo>
                <a:lnTo>
                  <a:pt x="0" y="41097"/>
                </a:lnTo>
                <a:lnTo>
                  <a:pt x="11340" y="34218"/>
                </a:lnTo>
                <a:lnTo>
                  <a:pt x="22425" y="22311"/>
                </a:lnTo>
                <a:lnTo>
                  <a:pt x="31958" y="6395"/>
                </a:lnTo>
                <a:lnTo>
                  <a:pt x="3422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7" name="Illustrative delivered road transport cost class None; reference terminal None"/>
          <p:cNvSpPr/>
          <p:nvPr/>
        </p:nvSpPr>
        <p:spPr>
          <a:xfrm>
            <a:off x="3161595" y="3248456"/>
            <a:ext cx="23460" cy="57687"/>
          </a:xfrm>
          <a:custGeom>
            <a:avLst/>
            <a:gdLst/>
            <a:ahLst/>
            <a:cxnLst/>
            <a:rect l="l" t="t" r="r" b="b"/>
            <a:pathLst>
              <a:path w="23460" h="57687">
                <a:moveTo>
                  <a:pt x="23460" y="0"/>
                </a:moveTo>
                <a:lnTo>
                  <a:pt x="23460" y="57687"/>
                </a:lnTo>
                <a:lnTo>
                  <a:pt x="0" y="57687"/>
                </a:lnTo>
                <a:lnTo>
                  <a:pt x="17253" y="9036"/>
                </a:lnTo>
                <a:lnTo>
                  <a:pt x="20158" y="0"/>
                </a:lnTo>
                <a:lnTo>
                  <a:pt x="2346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8" name="Illustrative delivered road transport cost class None; reference terminal None"/>
          <p:cNvSpPr/>
          <p:nvPr/>
        </p:nvSpPr>
        <p:spPr>
          <a:xfrm>
            <a:off x="3181753" y="3238184"/>
            <a:ext cx="3302" cy="10272"/>
          </a:xfrm>
          <a:custGeom>
            <a:avLst/>
            <a:gdLst/>
            <a:ahLst/>
            <a:cxnLst/>
            <a:rect l="l" t="t" r="r" b="b"/>
            <a:pathLst>
              <a:path w="3302" h="10272">
                <a:moveTo>
                  <a:pt x="3302" y="10272"/>
                </a:moveTo>
                <a:lnTo>
                  <a:pt x="0" y="10272"/>
                </a:lnTo>
                <a:lnTo>
                  <a:pt x="3302" y="0"/>
                </a:lnTo>
                <a:lnTo>
                  <a:pt x="3302" y="1027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9" name="Illustrative delivered road transport cost class 3; reference terminal Durban"/>
          <p:cNvSpPr/>
          <p:nvPr/>
        </p:nvSpPr>
        <p:spPr>
          <a:xfrm>
            <a:off x="3185055" y="5325173"/>
            <a:ext cx="57687" cy="23847"/>
          </a:xfrm>
          <a:custGeom>
            <a:avLst/>
            <a:gdLst/>
            <a:ahLst/>
            <a:cxnLst/>
            <a:rect l="l" t="t" r="r" b="b"/>
            <a:pathLst>
              <a:path w="57687" h="23847">
                <a:moveTo>
                  <a:pt x="0" y="0"/>
                </a:moveTo>
                <a:lnTo>
                  <a:pt x="57687" y="0"/>
                </a:lnTo>
                <a:lnTo>
                  <a:pt x="57687" y="23847"/>
                </a:lnTo>
                <a:lnTo>
                  <a:pt x="36069" y="17085"/>
                </a:lnTo>
                <a:lnTo>
                  <a:pt x="0" y="17782"/>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0" name="Illustrative delivered road transport cost class 3; reference terminal Durban"/>
          <p:cNvSpPr/>
          <p:nvPr/>
        </p:nvSpPr>
        <p:spPr>
          <a:xfrm>
            <a:off x="318505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1" name="Illustrative delivered road transport cost class 3; reference terminal Durban"/>
          <p:cNvSpPr/>
          <p:nvPr/>
        </p:nvSpPr>
        <p:spPr>
          <a:xfrm>
            <a:off x="318505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2" name="Illustrative delivered road transport cost class 4; reference terminal Durban"/>
          <p:cNvSpPr/>
          <p:nvPr/>
        </p:nvSpPr>
        <p:spPr>
          <a:xfrm>
            <a:off x="318505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3" name="Illustrative delivered road transport cost class 3; reference terminal Lesedi"/>
          <p:cNvSpPr/>
          <p:nvPr/>
        </p:nvSpPr>
        <p:spPr>
          <a:xfrm>
            <a:off x="318505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4" name="Illustrative delivered road transport cost class 3; reference terminal Lesedi"/>
          <p:cNvSpPr/>
          <p:nvPr/>
        </p:nvSpPr>
        <p:spPr>
          <a:xfrm>
            <a:off x="318505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5" name="Illustrative delivered road transport cost class 3; reference terminal Lesedi"/>
          <p:cNvSpPr/>
          <p:nvPr/>
        </p:nvSpPr>
        <p:spPr>
          <a:xfrm>
            <a:off x="318505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6" name="Illustrative delivered road transport cost class 3; reference terminal Lesedi"/>
          <p:cNvSpPr/>
          <p:nvPr/>
        </p:nvSpPr>
        <p:spPr>
          <a:xfrm>
            <a:off x="318505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7" name="Illustrative delivered road transport cost class 3; reference terminal Lesedi"/>
          <p:cNvSpPr/>
          <p:nvPr/>
        </p:nvSpPr>
        <p:spPr>
          <a:xfrm>
            <a:off x="318505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8" name="Illustrative delivered road transport cost class 3; reference terminal Lesedi"/>
          <p:cNvSpPr/>
          <p:nvPr/>
        </p:nvSpPr>
        <p:spPr>
          <a:xfrm>
            <a:off x="318505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9" name="Illustrative delivered road transport cost class 3; reference terminal Lesedi"/>
          <p:cNvSpPr/>
          <p:nvPr/>
        </p:nvSpPr>
        <p:spPr>
          <a:xfrm>
            <a:off x="318505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0" name="Illustrative delivered road transport cost class 3; reference terminal Lesedi"/>
          <p:cNvSpPr/>
          <p:nvPr/>
        </p:nvSpPr>
        <p:spPr>
          <a:xfrm>
            <a:off x="318505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1" name="Illustrative delivered road transport cost class 3; reference terminal Lesedi"/>
          <p:cNvSpPr/>
          <p:nvPr/>
        </p:nvSpPr>
        <p:spPr>
          <a:xfrm>
            <a:off x="318505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2" name="Illustrative delivered road transport cost class 3; reference terminal Lesedi"/>
          <p:cNvSpPr/>
          <p:nvPr/>
        </p:nvSpPr>
        <p:spPr>
          <a:xfrm>
            <a:off x="318505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3" name="Illustrative delivered road transport cost class 3; reference terminal Lesedi"/>
          <p:cNvSpPr/>
          <p:nvPr/>
        </p:nvSpPr>
        <p:spPr>
          <a:xfrm>
            <a:off x="318505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4" name="Illustrative delivered road transport cost class 3; reference terminal Lesedi"/>
          <p:cNvSpPr/>
          <p:nvPr/>
        </p:nvSpPr>
        <p:spPr>
          <a:xfrm>
            <a:off x="318505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5" name="Illustrative delivered road transport cost class 3; reference terminal Lesedi"/>
          <p:cNvSpPr/>
          <p:nvPr/>
        </p:nvSpPr>
        <p:spPr>
          <a:xfrm>
            <a:off x="318505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6" name="Illustrative delivered road transport cost class 3; reference terminal Lesedi"/>
          <p:cNvSpPr/>
          <p:nvPr/>
        </p:nvSpPr>
        <p:spPr>
          <a:xfrm>
            <a:off x="318505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7" name="Illustrative delivered road transport cost class 3; reference terminal Lesedi"/>
          <p:cNvSpPr/>
          <p:nvPr/>
        </p:nvSpPr>
        <p:spPr>
          <a:xfrm>
            <a:off x="318505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8" name="Illustrative delivered road transport cost class 2; reference terminal Lesedi"/>
          <p:cNvSpPr/>
          <p:nvPr/>
        </p:nvSpPr>
        <p:spPr>
          <a:xfrm>
            <a:off x="318505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9" name="Illustrative delivered road transport cost class 2; reference terminal Lesedi"/>
          <p:cNvSpPr/>
          <p:nvPr/>
        </p:nvSpPr>
        <p:spPr>
          <a:xfrm>
            <a:off x="318505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0" name="Illustrative delivered road transport cost class 3; reference terminal Lesedi"/>
          <p:cNvSpPr/>
          <p:nvPr/>
        </p:nvSpPr>
        <p:spPr>
          <a:xfrm>
            <a:off x="318505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1" name="Illustrative delivered road transport cost class 3; reference terminal Lesedi"/>
          <p:cNvSpPr/>
          <p:nvPr/>
        </p:nvSpPr>
        <p:spPr>
          <a:xfrm>
            <a:off x="318505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2" name="Illustrative delivered road transport cost class 3; reference terminal Lesedi"/>
          <p:cNvSpPr/>
          <p:nvPr/>
        </p:nvSpPr>
        <p:spPr>
          <a:xfrm>
            <a:off x="318505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3" name="Illustrative delivered road transport cost class None; reference terminal None"/>
          <p:cNvSpPr/>
          <p:nvPr/>
        </p:nvSpPr>
        <p:spPr>
          <a:xfrm>
            <a:off x="318505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4" name="Illustrative delivered road transport cost class 3; reference terminal Lesedi"/>
          <p:cNvSpPr/>
          <p:nvPr/>
        </p:nvSpPr>
        <p:spPr>
          <a:xfrm>
            <a:off x="318505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5" name="Illustrative delivered road transport cost class 3; reference terminal Lesedi"/>
          <p:cNvSpPr/>
          <p:nvPr/>
        </p:nvSpPr>
        <p:spPr>
          <a:xfrm>
            <a:off x="318505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6" name="Illustrative delivered road transport cost class 3; reference terminal Lesedi"/>
          <p:cNvSpPr/>
          <p:nvPr/>
        </p:nvSpPr>
        <p:spPr>
          <a:xfrm>
            <a:off x="318505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7" name="Illustrative delivered road transport cost class 3; reference terminal Lesedi"/>
          <p:cNvSpPr/>
          <p:nvPr/>
        </p:nvSpPr>
        <p:spPr>
          <a:xfrm>
            <a:off x="318505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8" name="Illustrative delivered road transport cost class 3; reference terminal Lesedi"/>
          <p:cNvSpPr/>
          <p:nvPr/>
        </p:nvSpPr>
        <p:spPr>
          <a:xfrm>
            <a:off x="318505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9" name="Illustrative delivered road transport cost class 3; reference terminal Lesedi"/>
          <p:cNvSpPr/>
          <p:nvPr/>
        </p:nvSpPr>
        <p:spPr>
          <a:xfrm>
            <a:off x="318505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0" name="Illustrative delivered road transport cost class 3; reference terminal Lesedi"/>
          <p:cNvSpPr/>
          <p:nvPr/>
        </p:nvSpPr>
        <p:spPr>
          <a:xfrm>
            <a:off x="318505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1" name="Illustrative delivered road transport cost class 3; reference terminal Lesedi"/>
          <p:cNvSpPr/>
          <p:nvPr/>
        </p:nvSpPr>
        <p:spPr>
          <a:xfrm>
            <a:off x="318505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2" name="Illustrative delivered road transport cost class None; reference terminal None"/>
          <p:cNvSpPr/>
          <p:nvPr/>
        </p:nvSpPr>
        <p:spPr>
          <a:xfrm>
            <a:off x="318505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3" name="Illustrative delivered road transport cost class None; reference terminal None"/>
          <p:cNvSpPr/>
          <p:nvPr/>
        </p:nvSpPr>
        <p:spPr>
          <a:xfrm>
            <a:off x="318505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4" name="Illustrative delivered road transport cost class None; reference terminal None"/>
          <p:cNvSpPr/>
          <p:nvPr/>
        </p:nvSpPr>
        <p:spPr>
          <a:xfrm>
            <a:off x="318505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5" name="Illustrative delivered road transport cost class None; reference terminal None"/>
          <p:cNvSpPr/>
          <p:nvPr/>
        </p:nvSpPr>
        <p:spPr>
          <a:xfrm>
            <a:off x="318505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6" name="Illustrative delivered road transport cost class None; reference terminal None"/>
          <p:cNvSpPr/>
          <p:nvPr/>
        </p:nvSpPr>
        <p:spPr>
          <a:xfrm>
            <a:off x="3185055" y="3190770"/>
            <a:ext cx="57687" cy="57686"/>
          </a:xfrm>
          <a:custGeom>
            <a:avLst/>
            <a:gdLst/>
            <a:ahLst/>
            <a:cxnLst/>
            <a:rect l="l" t="t" r="r" b="b"/>
            <a:pathLst>
              <a:path w="57687" h="57686">
                <a:moveTo>
                  <a:pt x="57687" y="0"/>
                </a:moveTo>
                <a:lnTo>
                  <a:pt x="57687" y="57686"/>
                </a:lnTo>
                <a:lnTo>
                  <a:pt x="0" y="57686"/>
                </a:lnTo>
                <a:lnTo>
                  <a:pt x="0" y="47414"/>
                </a:lnTo>
                <a:lnTo>
                  <a:pt x="8527" y="20894"/>
                </a:lnTo>
                <a:lnTo>
                  <a:pt x="1330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7" name="Illustrative delivered road transport cost class None; reference terminal None"/>
          <p:cNvSpPr/>
          <p:nvPr/>
        </p:nvSpPr>
        <p:spPr>
          <a:xfrm>
            <a:off x="3198361" y="3133083"/>
            <a:ext cx="44381" cy="57687"/>
          </a:xfrm>
          <a:custGeom>
            <a:avLst/>
            <a:gdLst/>
            <a:ahLst/>
            <a:cxnLst/>
            <a:rect l="l" t="t" r="r" b="b"/>
            <a:pathLst>
              <a:path w="44381" h="57687">
                <a:moveTo>
                  <a:pt x="44381" y="0"/>
                </a:moveTo>
                <a:lnTo>
                  <a:pt x="44381" y="57687"/>
                </a:lnTo>
                <a:lnTo>
                  <a:pt x="0" y="57687"/>
                </a:lnTo>
                <a:lnTo>
                  <a:pt x="151" y="57025"/>
                </a:lnTo>
                <a:lnTo>
                  <a:pt x="13453" y="21722"/>
                </a:lnTo>
                <a:lnTo>
                  <a:pt x="29229" y="0"/>
                </a:lnTo>
                <a:lnTo>
                  <a:pt x="44381"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8" name="Illustrative delivered road transport cost class None; reference terminal None"/>
          <p:cNvSpPr/>
          <p:nvPr/>
        </p:nvSpPr>
        <p:spPr>
          <a:xfrm>
            <a:off x="3227590" y="3121400"/>
            <a:ext cx="15152" cy="11683"/>
          </a:xfrm>
          <a:custGeom>
            <a:avLst/>
            <a:gdLst/>
            <a:ahLst/>
            <a:cxnLst/>
            <a:rect l="l" t="t" r="r" b="b"/>
            <a:pathLst>
              <a:path w="15152" h="11683">
                <a:moveTo>
                  <a:pt x="15152" y="11683"/>
                </a:moveTo>
                <a:lnTo>
                  <a:pt x="0" y="11683"/>
                </a:lnTo>
                <a:lnTo>
                  <a:pt x="688" y="10736"/>
                </a:lnTo>
                <a:lnTo>
                  <a:pt x="15152" y="0"/>
                </a:lnTo>
                <a:lnTo>
                  <a:pt x="15152" y="1168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9" name="Illustrative delivered road transport cost class 3; reference terminal Durban"/>
          <p:cNvSpPr/>
          <p:nvPr/>
        </p:nvSpPr>
        <p:spPr>
          <a:xfrm>
            <a:off x="3242742" y="5325173"/>
            <a:ext cx="57687" cy="31626"/>
          </a:xfrm>
          <a:custGeom>
            <a:avLst/>
            <a:gdLst/>
            <a:ahLst/>
            <a:cxnLst/>
            <a:rect l="l" t="t" r="r" b="b"/>
            <a:pathLst>
              <a:path w="57687" h="31626">
                <a:moveTo>
                  <a:pt x="0" y="0"/>
                </a:moveTo>
                <a:lnTo>
                  <a:pt x="57687" y="0"/>
                </a:lnTo>
                <a:lnTo>
                  <a:pt x="57687" y="31626"/>
                </a:lnTo>
                <a:lnTo>
                  <a:pt x="19183" y="29847"/>
                </a:lnTo>
                <a:lnTo>
                  <a:pt x="0" y="2384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0" name="Illustrative delivered road transport cost class 3; reference terminal Durban"/>
          <p:cNvSpPr/>
          <p:nvPr/>
        </p:nvSpPr>
        <p:spPr>
          <a:xfrm>
            <a:off x="324274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1" name="Illustrative delivered road transport cost class 3; reference terminal Durban"/>
          <p:cNvSpPr/>
          <p:nvPr/>
        </p:nvSpPr>
        <p:spPr>
          <a:xfrm>
            <a:off x="324274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2" name="Illustrative delivered road transport cost class 4; reference terminal Durban"/>
          <p:cNvSpPr/>
          <p:nvPr/>
        </p:nvSpPr>
        <p:spPr>
          <a:xfrm>
            <a:off x="324274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3" name="Illustrative delivered road transport cost class 3; reference terminal Lesedi"/>
          <p:cNvSpPr/>
          <p:nvPr/>
        </p:nvSpPr>
        <p:spPr>
          <a:xfrm>
            <a:off x="324274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4" name="Illustrative delivered road transport cost class 3; reference terminal Lesedi"/>
          <p:cNvSpPr/>
          <p:nvPr/>
        </p:nvSpPr>
        <p:spPr>
          <a:xfrm>
            <a:off x="324274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5" name="Illustrative delivered road transport cost class 3; reference terminal Lesedi"/>
          <p:cNvSpPr/>
          <p:nvPr/>
        </p:nvSpPr>
        <p:spPr>
          <a:xfrm>
            <a:off x="324274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6" name="Illustrative delivered road transport cost class 3; reference terminal Lesedi"/>
          <p:cNvSpPr/>
          <p:nvPr/>
        </p:nvSpPr>
        <p:spPr>
          <a:xfrm>
            <a:off x="324274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7" name="Illustrative delivered road transport cost class 3; reference terminal Lesedi"/>
          <p:cNvSpPr/>
          <p:nvPr/>
        </p:nvSpPr>
        <p:spPr>
          <a:xfrm>
            <a:off x="324274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8" name="Illustrative delivered road transport cost class 3; reference terminal Lesedi"/>
          <p:cNvSpPr/>
          <p:nvPr/>
        </p:nvSpPr>
        <p:spPr>
          <a:xfrm>
            <a:off x="324274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9" name="Illustrative delivered road transport cost class 3; reference terminal Lesedi"/>
          <p:cNvSpPr/>
          <p:nvPr/>
        </p:nvSpPr>
        <p:spPr>
          <a:xfrm>
            <a:off x="324274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0" name="Illustrative delivered road transport cost class 3; reference terminal Lesedi"/>
          <p:cNvSpPr/>
          <p:nvPr/>
        </p:nvSpPr>
        <p:spPr>
          <a:xfrm>
            <a:off x="324274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1" name="Illustrative delivered road transport cost class 3; reference terminal Lesedi"/>
          <p:cNvSpPr/>
          <p:nvPr/>
        </p:nvSpPr>
        <p:spPr>
          <a:xfrm>
            <a:off x="324274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2" name="Illustrative delivered road transport cost class 3; reference terminal Lesedi"/>
          <p:cNvSpPr/>
          <p:nvPr/>
        </p:nvSpPr>
        <p:spPr>
          <a:xfrm>
            <a:off x="324274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3" name="Illustrative delivered road transport cost class 3; reference terminal Lesedi"/>
          <p:cNvSpPr/>
          <p:nvPr/>
        </p:nvSpPr>
        <p:spPr>
          <a:xfrm>
            <a:off x="324274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4" name="Illustrative delivered road transport cost class 3; reference terminal Lesedi"/>
          <p:cNvSpPr/>
          <p:nvPr/>
        </p:nvSpPr>
        <p:spPr>
          <a:xfrm>
            <a:off x="324274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5" name="Illustrative delivered road transport cost class 3; reference terminal Lesedi"/>
          <p:cNvSpPr/>
          <p:nvPr/>
        </p:nvSpPr>
        <p:spPr>
          <a:xfrm>
            <a:off x="324274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6" name="Illustrative delivered road transport cost class 2; reference terminal Lesedi"/>
          <p:cNvSpPr/>
          <p:nvPr/>
        </p:nvSpPr>
        <p:spPr>
          <a:xfrm>
            <a:off x="324274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7" name="Illustrative delivered road transport cost class 2; reference terminal Lesedi"/>
          <p:cNvSpPr/>
          <p:nvPr/>
        </p:nvSpPr>
        <p:spPr>
          <a:xfrm>
            <a:off x="324274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8" name="Illustrative delivered road transport cost class 2; reference terminal Lesedi"/>
          <p:cNvSpPr/>
          <p:nvPr/>
        </p:nvSpPr>
        <p:spPr>
          <a:xfrm>
            <a:off x="324274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9" name="Illustrative delivered road transport cost class 2; reference terminal Lesedi"/>
          <p:cNvSpPr/>
          <p:nvPr/>
        </p:nvSpPr>
        <p:spPr>
          <a:xfrm>
            <a:off x="324274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0" name="Illustrative delivered road transport cost class 3; reference terminal Lesedi"/>
          <p:cNvSpPr/>
          <p:nvPr/>
        </p:nvSpPr>
        <p:spPr>
          <a:xfrm>
            <a:off x="324274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1" name="Illustrative delivered road transport cost class 3; reference terminal Lesedi"/>
          <p:cNvSpPr/>
          <p:nvPr/>
        </p:nvSpPr>
        <p:spPr>
          <a:xfrm>
            <a:off x="324274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2" name="Illustrative delivered road transport cost class 3; reference terminal Lesedi"/>
          <p:cNvSpPr/>
          <p:nvPr/>
        </p:nvSpPr>
        <p:spPr>
          <a:xfrm>
            <a:off x="324274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3" name="Illustrative delivered road transport cost class None; reference terminal None"/>
          <p:cNvSpPr/>
          <p:nvPr/>
        </p:nvSpPr>
        <p:spPr>
          <a:xfrm>
            <a:off x="324274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4" name="Illustrative delivered road transport cost class 3; reference terminal Lesedi"/>
          <p:cNvSpPr/>
          <p:nvPr/>
        </p:nvSpPr>
        <p:spPr>
          <a:xfrm>
            <a:off x="324274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5" name="Illustrative delivered road transport cost class 3; reference terminal Lesedi"/>
          <p:cNvSpPr/>
          <p:nvPr/>
        </p:nvSpPr>
        <p:spPr>
          <a:xfrm>
            <a:off x="324274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6" name="Illustrative delivered road transport cost class 3; reference terminal Lesedi"/>
          <p:cNvSpPr/>
          <p:nvPr/>
        </p:nvSpPr>
        <p:spPr>
          <a:xfrm>
            <a:off x="324274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7" name="Illustrative delivered road transport cost class 3; reference terminal Lesedi"/>
          <p:cNvSpPr/>
          <p:nvPr/>
        </p:nvSpPr>
        <p:spPr>
          <a:xfrm>
            <a:off x="324274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8" name="Illustrative delivered road transport cost class 3; reference terminal Lesedi"/>
          <p:cNvSpPr/>
          <p:nvPr/>
        </p:nvSpPr>
        <p:spPr>
          <a:xfrm>
            <a:off x="324274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9" name="Illustrative delivered road transport cost class 3; reference terminal Lesedi"/>
          <p:cNvSpPr/>
          <p:nvPr/>
        </p:nvSpPr>
        <p:spPr>
          <a:xfrm>
            <a:off x="324274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0" name="Illustrative delivered road transport cost class 3; reference terminal Lesedi"/>
          <p:cNvSpPr/>
          <p:nvPr/>
        </p:nvSpPr>
        <p:spPr>
          <a:xfrm>
            <a:off x="324274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1" name="Illustrative delivered road transport cost class 3; reference terminal Lesedi"/>
          <p:cNvSpPr/>
          <p:nvPr/>
        </p:nvSpPr>
        <p:spPr>
          <a:xfrm>
            <a:off x="324274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2" name="Illustrative delivered road transport cost class 3; reference terminal Lesedi"/>
          <p:cNvSpPr/>
          <p:nvPr/>
        </p:nvSpPr>
        <p:spPr>
          <a:xfrm>
            <a:off x="324274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3" name="Illustrative delivered road transport cost class None; reference terminal None"/>
          <p:cNvSpPr/>
          <p:nvPr/>
        </p:nvSpPr>
        <p:spPr>
          <a:xfrm>
            <a:off x="3242742"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4" name="Illustrative delivered road transport cost class None; reference terminal None"/>
          <p:cNvSpPr/>
          <p:nvPr/>
        </p:nvSpPr>
        <p:spPr>
          <a:xfrm>
            <a:off x="3242742"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5" name="Illustrative delivered road transport cost class None; reference terminal None"/>
          <p:cNvSpPr/>
          <p:nvPr/>
        </p:nvSpPr>
        <p:spPr>
          <a:xfrm>
            <a:off x="3242742"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6" name="Illustrative delivered road transport cost class None; reference terminal None"/>
          <p:cNvSpPr/>
          <p:nvPr/>
        </p:nvSpPr>
        <p:spPr>
          <a:xfrm>
            <a:off x="324274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7" name="Illustrative delivered road transport cost class None; reference terminal None"/>
          <p:cNvSpPr/>
          <p:nvPr/>
        </p:nvSpPr>
        <p:spPr>
          <a:xfrm>
            <a:off x="324274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8" name="Illustrative delivered road transport cost class None; reference terminal None"/>
          <p:cNvSpPr/>
          <p:nvPr/>
        </p:nvSpPr>
        <p:spPr>
          <a:xfrm>
            <a:off x="3242742" y="3104642"/>
            <a:ext cx="57687" cy="28441"/>
          </a:xfrm>
          <a:custGeom>
            <a:avLst/>
            <a:gdLst/>
            <a:ahLst/>
            <a:cxnLst/>
            <a:rect l="l" t="t" r="r" b="b"/>
            <a:pathLst>
              <a:path w="57687" h="28441">
                <a:moveTo>
                  <a:pt x="57687" y="28441"/>
                </a:moveTo>
                <a:lnTo>
                  <a:pt x="0" y="28441"/>
                </a:lnTo>
                <a:lnTo>
                  <a:pt x="0" y="16758"/>
                </a:lnTo>
                <a:lnTo>
                  <a:pt x="1801" y="15421"/>
                </a:lnTo>
                <a:lnTo>
                  <a:pt x="9993" y="12270"/>
                </a:lnTo>
                <a:lnTo>
                  <a:pt x="31104" y="5903"/>
                </a:lnTo>
                <a:lnTo>
                  <a:pt x="57687" y="0"/>
                </a:lnTo>
                <a:lnTo>
                  <a:pt x="57687" y="284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9" name="Illustrative delivered road transport cost class 3; reference terminal Durban"/>
          <p:cNvSpPr/>
          <p:nvPr/>
        </p:nvSpPr>
        <p:spPr>
          <a:xfrm>
            <a:off x="3300429" y="5325173"/>
            <a:ext cx="57686" cy="33224"/>
          </a:xfrm>
          <a:custGeom>
            <a:avLst/>
            <a:gdLst/>
            <a:ahLst/>
            <a:cxnLst/>
            <a:rect l="l" t="t" r="r" b="b"/>
            <a:pathLst>
              <a:path w="57686" h="33224">
                <a:moveTo>
                  <a:pt x="0" y="0"/>
                </a:moveTo>
                <a:lnTo>
                  <a:pt x="57686" y="0"/>
                </a:lnTo>
                <a:lnTo>
                  <a:pt x="57686" y="27360"/>
                </a:lnTo>
                <a:lnTo>
                  <a:pt x="52084" y="29844"/>
                </a:lnTo>
                <a:lnTo>
                  <a:pt x="34605" y="33224"/>
                </a:lnTo>
                <a:lnTo>
                  <a:pt x="0" y="3162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0" name="Illustrative delivered road transport cost class 3; reference terminal Durban"/>
          <p:cNvSpPr/>
          <p:nvPr/>
        </p:nvSpPr>
        <p:spPr>
          <a:xfrm>
            <a:off x="330042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1" name="Illustrative delivered road transport cost class 3; reference terminal Durban"/>
          <p:cNvSpPr/>
          <p:nvPr/>
        </p:nvSpPr>
        <p:spPr>
          <a:xfrm>
            <a:off x="330042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2" name="Illustrative delivered road transport cost class 3; reference terminal Durban"/>
          <p:cNvSpPr/>
          <p:nvPr/>
        </p:nvSpPr>
        <p:spPr>
          <a:xfrm>
            <a:off x="330042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3" name="Illustrative delivered road transport cost class 4; reference terminal Durban"/>
          <p:cNvSpPr/>
          <p:nvPr/>
        </p:nvSpPr>
        <p:spPr>
          <a:xfrm>
            <a:off x="330042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4" name="Illustrative delivered road transport cost class 3; reference terminal Lesedi"/>
          <p:cNvSpPr/>
          <p:nvPr/>
        </p:nvSpPr>
        <p:spPr>
          <a:xfrm>
            <a:off x="330042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5" name="Illustrative delivered road transport cost class 3; reference terminal Lesedi"/>
          <p:cNvSpPr/>
          <p:nvPr/>
        </p:nvSpPr>
        <p:spPr>
          <a:xfrm>
            <a:off x="330042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6" name="Illustrative delivered road transport cost class 3; reference terminal Lesedi"/>
          <p:cNvSpPr/>
          <p:nvPr/>
        </p:nvSpPr>
        <p:spPr>
          <a:xfrm>
            <a:off x="330042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7" name="Illustrative delivered road transport cost class 3; reference terminal Lesedi"/>
          <p:cNvSpPr/>
          <p:nvPr/>
        </p:nvSpPr>
        <p:spPr>
          <a:xfrm>
            <a:off x="330042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8" name="Illustrative delivered road transport cost class 3; reference terminal Lesedi"/>
          <p:cNvSpPr/>
          <p:nvPr/>
        </p:nvSpPr>
        <p:spPr>
          <a:xfrm>
            <a:off x="330042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9" name="Illustrative delivered road transport cost class 3; reference terminal Lesedi"/>
          <p:cNvSpPr/>
          <p:nvPr/>
        </p:nvSpPr>
        <p:spPr>
          <a:xfrm>
            <a:off x="330042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0" name="Illustrative delivered road transport cost class 3; reference terminal Lesedi"/>
          <p:cNvSpPr/>
          <p:nvPr/>
        </p:nvSpPr>
        <p:spPr>
          <a:xfrm>
            <a:off x="330042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1" name="Illustrative delivered road transport cost class 3; reference terminal Lesedi"/>
          <p:cNvSpPr/>
          <p:nvPr/>
        </p:nvSpPr>
        <p:spPr>
          <a:xfrm>
            <a:off x="330042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2" name="Illustrative delivered road transport cost class 3; reference terminal Lesedi"/>
          <p:cNvSpPr/>
          <p:nvPr/>
        </p:nvSpPr>
        <p:spPr>
          <a:xfrm>
            <a:off x="330042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3" name="Illustrative delivered road transport cost class 2; reference terminal Lesedi"/>
          <p:cNvSpPr/>
          <p:nvPr/>
        </p:nvSpPr>
        <p:spPr>
          <a:xfrm>
            <a:off x="330042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4" name="Illustrative delivered road transport cost class 2; reference terminal Lesedi"/>
          <p:cNvSpPr/>
          <p:nvPr/>
        </p:nvSpPr>
        <p:spPr>
          <a:xfrm>
            <a:off x="330042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5" name="Illustrative delivered road transport cost class 2; reference terminal Lesedi"/>
          <p:cNvSpPr/>
          <p:nvPr/>
        </p:nvSpPr>
        <p:spPr>
          <a:xfrm>
            <a:off x="330042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6" name="Illustrative delivered road transport cost class 2; reference terminal Lesedi"/>
          <p:cNvSpPr/>
          <p:nvPr/>
        </p:nvSpPr>
        <p:spPr>
          <a:xfrm>
            <a:off x="330042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7" name="Illustrative delivered road transport cost class 2; reference terminal Lesedi"/>
          <p:cNvSpPr/>
          <p:nvPr/>
        </p:nvSpPr>
        <p:spPr>
          <a:xfrm>
            <a:off x="330042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8" name="Illustrative delivered road transport cost class 2; reference terminal Lesedi"/>
          <p:cNvSpPr/>
          <p:nvPr/>
        </p:nvSpPr>
        <p:spPr>
          <a:xfrm>
            <a:off x="330042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9" name="Illustrative delivered road transport cost class 2; reference terminal Lesedi"/>
          <p:cNvSpPr/>
          <p:nvPr/>
        </p:nvSpPr>
        <p:spPr>
          <a:xfrm>
            <a:off x="330042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0" name="Illustrative delivered road transport cost class 2; reference terminal Lesedi"/>
          <p:cNvSpPr/>
          <p:nvPr/>
        </p:nvSpPr>
        <p:spPr>
          <a:xfrm>
            <a:off x="330042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1" name="Illustrative delivered road transport cost class 3; reference terminal Lesedi"/>
          <p:cNvSpPr/>
          <p:nvPr/>
        </p:nvSpPr>
        <p:spPr>
          <a:xfrm>
            <a:off x="330042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2" name="Illustrative delivered road transport cost class None; reference terminal None"/>
          <p:cNvSpPr/>
          <p:nvPr/>
        </p:nvSpPr>
        <p:spPr>
          <a:xfrm>
            <a:off x="330042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3" name="Illustrative delivered road transport cost class None; reference terminal None"/>
          <p:cNvSpPr/>
          <p:nvPr/>
        </p:nvSpPr>
        <p:spPr>
          <a:xfrm>
            <a:off x="330042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4" name="Illustrative delivered road transport cost class 3; reference terminal Lesedi"/>
          <p:cNvSpPr/>
          <p:nvPr/>
        </p:nvSpPr>
        <p:spPr>
          <a:xfrm>
            <a:off x="330042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5" name="Illustrative delivered road transport cost class 3; reference terminal Lesedi"/>
          <p:cNvSpPr/>
          <p:nvPr/>
        </p:nvSpPr>
        <p:spPr>
          <a:xfrm>
            <a:off x="330042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6" name="Illustrative delivered road transport cost class 3; reference terminal Lesedi"/>
          <p:cNvSpPr/>
          <p:nvPr/>
        </p:nvSpPr>
        <p:spPr>
          <a:xfrm>
            <a:off x="330042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7" name="Illustrative delivered road transport cost class 3; reference terminal Lesedi"/>
          <p:cNvSpPr/>
          <p:nvPr/>
        </p:nvSpPr>
        <p:spPr>
          <a:xfrm>
            <a:off x="330042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8" name="Illustrative delivered road transport cost class 3; reference terminal Lesedi"/>
          <p:cNvSpPr/>
          <p:nvPr/>
        </p:nvSpPr>
        <p:spPr>
          <a:xfrm>
            <a:off x="330042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9" name="Illustrative delivered road transport cost class 3; reference terminal Lesedi"/>
          <p:cNvSpPr/>
          <p:nvPr/>
        </p:nvSpPr>
        <p:spPr>
          <a:xfrm>
            <a:off x="330042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0" name="Illustrative delivered road transport cost class 3; reference terminal Lesedi"/>
          <p:cNvSpPr/>
          <p:nvPr/>
        </p:nvSpPr>
        <p:spPr>
          <a:xfrm>
            <a:off x="330042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1" name="Illustrative delivered road transport cost class 3; reference terminal Lesedi"/>
          <p:cNvSpPr/>
          <p:nvPr/>
        </p:nvSpPr>
        <p:spPr>
          <a:xfrm>
            <a:off x="330042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2" name="Illustrative delivered road transport cost class 3; reference terminal Lesedi"/>
          <p:cNvSpPr/>
          <p:nvPr/>
        </p:nvSpPr>
        <p:spPr>
          <a:xfrm>
            <a:off x="330042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3" name="Illustrative delivered road transport cost class None; reference terminal None"/>
          <p:cNvSpPr/>
          <p:nvPr/>
        </p:nvSpPr>
        <p:spPr>
          <a:xfrm>
            <a:off x="330042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4" name="Illustrative delivered road transport cost class None; reference terminal None"/>
          <p:cNvSpPr/>
          <p:nvPr/>
        </p:nvSpPr>
        <p:spPr>
          <a:xfrm>
            <a:off x="3300429"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5" name="Illustrative delivered road transport cost class None; reference terminal None"/>
          <p:cNvSpPr/>
          <p:nvPr/>
        </p:nvSpPr>
        <p:spPr>
          <a:xfrm>
            <a:off x="3300429"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6" name="Illustrative delivered road transport cost class None; reference terminal None"/>
          <p:cNvSpPr/>
          <p:nvPr/>
        </p:nvSpPr>
        <p:spPr>
          <a:xfrm>
            <a:off x="330042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7" name="Illustrative delivered road transport cost class None; reference terminal None"/>
          <p:cNvSpPr/>
          <p:nvPr/>
        </p:nvSpPr>
        <p:spPr>
          <a:xfrm>
            <a:off x="330042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8" name="Illustrative delivered road transport cost class None; reference terminal None"/>
          <p:cNvSpPr/>
          <p:nvPr/>
        </p:nvSpPr>
        <p:spPr>
          <a:xfrm>
            <a:off x="3300429" y="3104507"/>
            <a:ext cx="57686" cy="28576"/>
          </a:xfrm>
          <a:custGeom>
            <a:avLst/>
            <a:gdLst/>
            <a:ahLst/>
            <a:cxnLst/>
            <a:rect l="l" t="t" r="r" b="b"/>
            <a:pathLst>
              <a:path w="57686" h="28576">
                <a:moveTo>
                  <a:pt x="57686" y="28576"/>
                </a:moveTo>
                <a:lnTo>
                  <a:pt x="0" y="28576"/>
                </a:lnTo>
                <a:lnTo>
                  <a:pt x="0" y="135"/>
                </a:lnTo>
                <a:lnTo>
                  <a:pt x="606" y="0"/>
                </a:lnTo>
                <a:lnTo>
                  <a:pt x="29338" y="5946"/>
                </a:lnTo>
                <a:lnTo>
                  <a:pt x="57686" y="18023"/>
                </a:lnTo>
                <a:lnTo>
                  <a:pt x="57686" y="2857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9" name="Illustrative delivered road transport cost class 3; reference terminal Durban"/>
          <p:cNvSpPr/>
          <p:nvPr/>
        </p:nvSpPr>
        <p:spPr>
          <a:xfrm>
            <a:off x="3358115" y="5325173"/>
            <a:ext cx="57687" cy="27360"/>
          </a:xfrm>
          <a:custGeom>
            <a:avLst/>
            <a:gdLst/>
            <a:ahLst/>
            <a:cxnLst/>
            <a:rect l="l" t="t" r="r" b="b"/>
            <a:pathLst>
              <a:path w="57687" h="27360">
                <a:moveTo>
                  <a:pt x="0" y="0"/>
                </a:moveTo>
                <a:lnTo>
                  <a:pt x="57687" y="0"/>
                </a:lnTo>
                <a:lnTo>
                  <a:pt x="57687" y="8680"/>
                </a:lnTo>
                <a:lnTo>
                  <a:pt x="44245" y="7748"/>
                </a:lnTo>
                <a:lnTo>
                  <a:pt x="0" y="2736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0" name="Illustrative delivered road transport cost class 3; reference terminal Durban"/>
          <p:cNvSpPr/>
          <p:nvPr/>
        </p:nvSpPr>
        <p:spPr>
          <a:xfrm>
            <a:off x="335811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1" name="Illustrative delivered road transport cost class 3; reference terminal Durban"/>
          <p:cNvSpPr/>
          <p:nvPr/>
        </p:nvSpPr>
        <p:spPr>
          <a:xfrm>
            <a:off x="335811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2" name="Illustrative delivered road transport cost class 3; reference terminal Durban"/>
          <p:cNvSpPr/>
          <p:nvPr/>
        </p:nvSpPr>
        <p:spPr>
          <a:xfrm>
            <a:off x="335811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3" name="Illustrative delivered road transport cost class 3; reference terminal Durban"/>
          <p:cNvSpPr/>
          <p:nvPr/>
        </p:nvSpPr>
        <p:spPr>
          <a:xfrm>
            <a:off x="335811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4" name="Illustrative delivered road transport cost class None; reference terminal None"/>
          <p:cNvSpPr/>
          <p:nvPr/>
        </p:nvSpPr>
        <p:spPr>
          <a:xfrm>
            <a:off x="335811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5" name="Illustrative delivered road transport cost class 3; reference terminal Lesedi"/>
          <p:cNvSpPr/>
          <p:nvPr/>
        </p:nvSpPr>
        <p:spPr>
          <a:xfrm>
            <a:off x="335811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6" name="Illustrative delivered road transport cost class 3; reference terminal Lesedi"/>
          <p:cNvSpPr/>
          <p:nvPr/>
        </p:nvSpPr>
        <p:spPr>
          <a:xfrm>
            <a:off x="335811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7" name="Illustrative delivered road transport cost class 3; reference terminal Lesedi"/>
          <p:cNvSpPr/>
          <p:nvPr/>
        </p:nvSpPr>
        <p:spPr>
          <a:xfrm>
            <a:off x="335811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8" name="Illustrative delivered road transport cost class 3; reference terminal Lesedi"/>
          <p:cNvSpPr/>
          <p:nvPr/>
        </p:nvSpPr>
        <p:spPr>
          <a:xfrm>
            <a:off x="335811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9" name="Illustrative delivered road transport cost class 3; reference terminal Lesedi"/>
          <p:cNvSpPr/>
          <p:nvPr/>
        </p:nvSpPr>
        <p:spPr>
          <a:xfrm>
            <a:off x="335811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0" name="Illustrative delivered road transport cost class 3; reference terminal Lesedi"/>
          <p:cNvSpPr/>
          <p:nvPr/>
        </p:nvSpPr>
        <p:spPr>
          <a:xfrm>
            <a:off x="335811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1" name="Illustrative delivered road transport cost class 3; reference terminal Lesedi"/>
          <p:cNvSpPr/>
          <p:nvPr/>
        </p:nvSpPr>
        <p:spPr>
          <a:xfrm>
            <a:off x="335811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2" name="Illustrative delivered road transport cost class 2; reference terminal Lesedi"/>
          <p:cNvSpPr/>
          <p:nvPr/>
        </p:nvSpPr>
        <p:spPr>
          <a:xfrm>
            <a:off x="335811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3" name="Illustrative delivered road transport cost class 2; reference terminal Lesedi"/>
          <p:cNvSpPr/>
          <p:nvPr/>
        </p:nvSpPr>
        <p:spPr>
          <a:xfrm>
            <a:off x="335811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4" name="Illustrative delivered road transport cost class 2; reference terminal Lesedi"/>
          <p:cNvSpPr/>
          <p:nvPr/>
        </p:nvSpPr>
        <p:spPr>
          <a:xfrm>
            <a:off x="335811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5" name="Illustrative delivered road transport cost class 2; reference terminal Lesedi"/>
          <p:cNvSpPr/>
          <p:nvPr/>
        </p:nvSpPr>
        <p:spPr>
          <a:xfrm>
            <a:off x="335811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6" name="Illustrative delivered road transport cost class 2; reference terminal Lesedi"/>
          <p:cNvSpPr/>
          <p:nvPr/>
        </p:nvSpPr>
        <p:spPr>
          <a:xfrm>
            <a:off x="335811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7" name="Illustrative delivered road transport cost class 2; reference terminal Lesedi"/>
          <p:cNvSpPr/>
          <p:nvPr/>
        </p:nvSpPr>
        <p:spPr>
          <a:xfrm>
            <a:off x="335811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8" name="Illustrative delivered road transport cost class 2; reference terminal Lesedi"/>
          <p:cNvSpPr/>
          <p:nvPr/>
        </p:nvSpPr>
        <p:spPr>
          <a:xfrm>
            <a:off x="335811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9" name="Illustrative delivered road transport cost class 2; reference terminal Lesedi"/>
          <p:cNvSpPr/>
          <p:nvPr/>
        </p:nvSpPr>
        <p:spPr>
          <a:xfrm>
            <a:off x="335811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0" name="Illustrative delivered road transport cost class 2; reference terminal Lesedi"/>
          <p:cNvSpPr/>
          <p:nvPr/>
        </p:nvSpPr>
        <p:spPr>
          <a:xfrm>
            <a:off x="335811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1" name="Illustrative delivered road transport cost class 2; reference terminal Lesedi"/>
          <p:cNvSpPr/>
          <p:nvPr/>
        </p:nvSpPr>
        <p:spPr>
          <a:xfrm>
            <a:off x="335811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2" name="Illustrative delivered road transport cost class 2; reference terminal Lesedi"/>
          <p:cNvSpPr/>
          <p:nvPr/>
        </p:nvSpPr>
        <p:spPr>
          <a:xfrm>
            <a:off x="335811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3" name="Illustrative delivered road transport cost class None; reference terminal None"/>
          <p:cNvSpPr/>
          <p:nvPr/>
        </p:nvSpPr>
        <p:spPr>
          <a:xfrm>
            <a:off x="335811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4" name="Illustrative delivered road transport cost class None; reference terminal None"/>
          <p:cNvSpPr/>
          <p:nvPr/>
        </p:nvSpPr>
        <p:spPr>
          <a:xfrm>
            <a:off x="335811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5" name="Illustrative delivered road transport cost class 3; reference terminal Lesedi"/>
          <p:cNvSpPr/>
          <p:nvPr/>
        </p:nvSpPr>
        <p:spPr>
          <a:xfrm>
            <a:off x="335811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6" name="Illustrative delivered road transport cost class 3; reference terminal Lesedi"/>
          <p:cNvSpPr/>
          <p:nvPr/>
        </p:nvSpPr>
        <p:spPr>
          <a:xfrm>
            <a:off x="335811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7" name="Illustrative delivered road transport cost class 3; reference terminal Lesedi"/>
          <p:cNvSpPr/>
          <p:nvPr/>
        </p:nvSpPr>
        <p:spPr>
          <a:xfrm>
            <a:off x="335811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8" name="Illustrative delivered road transport cost class 3; reference terminal Lesedi"/>
          <p:cNvSpPr/>
          <p:nvPr/>
        </p:nvSpPr>
        <p:spPr>
          <a:xfrm>
            <a:off x="335811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9" name="Illustrative delivered road transport cost class 3; reference terminal Lesedi"/>
          <p:cNvSpPr/>
          <p:nvPr/>
        </p:nvSpPr>
        <p:spPr>
          <a:xfrm>
            <a:off x="335811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0" name="Illustrative delivered road transport cost class 3; reference terminal Lesedi"/>
          <p:cNvSpPr/>
          <p:nvPr/>
        </p:nvSpPr>
        <p:spPr>
          <a:xfrm>
            <a:off x="335811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1" name="Illustrative delivered road transport cost class 3; reference terminal Lesedi"/>
          <p:cNvSpPr/>
          <p:nvPr/>
        </p:nvSpPr>
        <p:spPr>
          <a:xfrm>
            <a:off x="335811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2" name="Illustrative delivered road transport cost class 3; reference terminal Lesedi"/>
          <p:cNvSpPr/>
          <p:nvPr/>
        </p:nvSpPr>
        <p:spPr>
          <a:xfrm>
            <a:off x="335811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3" name="Illustrative delivered road transport cost class None; reference terminal None"/>
          <p:cNvSpPr/>
          <p:nvPr/>
        </p:nvSpPr>
        <p:spPr>
          <a:xfrm>
            <a:off x="335811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4" name="Illustrative delivered road transport cost class None; reference terminal None"/>
          <p:cNvSpPr/>
          <p:nvPr/>
        </p:nvSpPr>
        <p:spPr>
          <a:xfrm>
            <a:off x="335811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5" name="Illustrative delivered road transport cost class None; reference terminal None"/>
          <p:cNvSpPr/>
          <p:nvPr/>
        </p:nvSpPr>
        <p:spPr>
          <a:xfrm>
            <a:off x="335811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6" name="Illustrative delivered road transport cost class None; reference terminal None"/>
          <p:cNvSpPr/>
          <p:nvPr/>
        </p:nvSpPr>
        <p:spPr>
          <a:xfrm>
            <a:off x="335811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7" name="Illustrative delivered road transport cost class None; reference terminal None"/>
          <p:cNvSpPr/>
          <p:nvPr/>
        </p:nvSpPr>
        <p:spPr>
          <a:xfrm>
            <a:off x="3358115" y="3133083"/>
            <a:ext cx="57687" cy="57687"/>
          </a:xfrm>
          <a:custGeom>
            <a:avLst/>
            <a:gdLst/>
            <a:ahLst/>
            <a:cxnLst/>
            <a:rect l="l" t="t" r="r" b="b"/>
            <a:pathLst>
              <a:path w="57687" h="57687">
                <a:moveTo>
                  <a:pt x="57687" y="57687"/>
                </a:moveTo>
                <a:lnTo>
                  <a:pt x="0" y="57687"/>
                </a:lnTo>
                <a:lnTo>
                  <a:pt x="0" y="0"/>
                </a:lnTo>
                <a:lnTo>
                  <a:pt x="17247" y="0"/>
                </a:lnTo>
                <a:lnTo>
                  <a:pt x="37452" y="13013"/>
                </a:lnTo>
                <a:lnTo>
                  <a:pt x="57687" y="28822"/>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8" name="Illustrative delivered road transport cost class None; reference terminal None"/>
          <p:cNvSpPr/>
          <p:nvPr/>
        </p:nvSpPr>
        <p:spPr>
          <a:xfrm>
            <a:off x="3358115" y="3122530"/>
            <a:ext cx="17247" cy="10553"/>
          </a:xfrm>
          <a:custGeom>
            <a:avLst/>
            <a:gdLst/>
            <a:ahLst/>
            <a:cxnLst/>
            <a:rect l="l" t="t" r="r" b="b"/>
            <a:pathLst>
              <a:path w="17247" h="10553">
                <a:moveTo>
                  <a:pt x="0" y="10553"/>
                </a:moveTo>
                <a:lnTo>
                  <a:pt x="0" y="0"/>
                </a:lnTo>
                <a:lnTo>
                  <a:pt x="2544" y="1083"/>
                </a:lnTo>
                <a:lnTo>
                  <a:pt x="17247" y="10553"/>
                </a:lnTo>
                <a:lnTo>
                  <a:pt x="0" y="1055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9" name="Illustrative delivered road transport cost class 3; reference terminal Durban"/>
          <p:cNvSpPr/>
          <p:nvPr/>
        </p:nvSpPr>
        <p:spPr>
          <a:xfrm>
            <a:off x="3415802" y="5325173"/>
            <a:ext cx="57686" cy="16967"/>
          </a:xfrm>
          <a:custGeom>
            <a:avLst/>
            <a:gdLst/>
            <a:ahLst/>
            <a:cxnLst/>
            <a:rect l="l" t="t" r="r" b="b"/>
            <a:pathLst>
              <a:path w="57686" h="16967">
                <a:moveTo>
                  <a:pt x="0" y="0"/>
                </a:moveTo>
                <a:lnTo>
                  <a:pt x="57686" y="0"/>
                </a:lnTo>
                <a:lnTo>
                  <a:pt x="57686" y="16967"/>
                </a:lnTo>
                <a:lnTo>
                  <a:pt x="10549" y="9411"/>
                </a:lnTo>
                <a:lnTo>
                  <a:pt x="0" y="868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0" name="Illustrative delivered road transport cost class 3; reference terminal Durban"/>
          <p:cNvSpPr/>
          <p:nvPr/>
        </p:nvSpPr>
        <p:spPr>
          <a:xfrm>
            <a:off x="3415802"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1" name="Illustrative delivered road transport cost class 3; reference terminal Durban"/>
          <p:cNvSpPr/>
          <p:nvPr/>
        </p:nvSpPr>
        <p:spPr>
          <a:xfrm>
            <a:off x="3415802"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2" name="Illustrative delivered road transport cost class 3; reference terminal Durban"/>
          <p:cNvSpPr/>
          <p:nvPr/>
        </p:nvSpPr>
        <p:spPr>
          <a:xfrm>
            <a:off x="3415802"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3" name="Illustrative delivered road transport cost class 3; reference terminal Durban"/>
          <p:cNvSpPr/>
          <p:nvPr/>
        </p:nvSpPr>
        <p:spPr>
          <a:xfrm>
            <a:off x="3415802"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4" name="Illustrative delivered road transport cost class None; reference terminal None"/>
          <p:cNvSpPr/>
          <p:nvPr/>
        </p:nvSpPr>
        <p:spPr>
          <a:xfrm>
            <a:off x="3415802"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5" name="Illustrative delivered road transport cost class None; reference terminal None"/>
          <p:cNvSpPr/>
          <p:nvPr/>
        </p:nvSpPr>
        <p:spPr>
          <a:xfrm>
            <a:off x="3415802"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6" name="Illustrative delivered road transport cost class 3; reference terminal Lesedi"/>
          <p:cNvSpPr/>
          <p:nvPr/>
        </p:nvSpPr>
        <p:spPr>
          <a:xfrm>
            <a:off x="3415802"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7" name="Illustrative delivered road transport cost class 3; reference terminal Lesedi"/>
          <p:cNvSpPr/>
          <p:nvPr/>
        </p:nvSpPr>
        <p:spPr>
          <a:xfrm>
            <a:off x="3415802"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8" name="Illustrative delivered road transport cost class 3; reference terminal Lesedi"/>
          <p:cNvSpPr/>
          <p:nvPr/>
        </p:nvSpPr>
        <p:spPr>
          <a:xfrm>
            <a:off x="3415802"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9" name="Illustrative delivered road transport cost class 3; reference terminal Lesedi"/>
          <p:cNvSpPr/>
          <p:nvPr/>
        </p:nvSpPr>
        <p:spPr>
          <a:xfrm>
            <a:off x="3415802"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0" name="Illustrative delivered road transport cost class 2; reference terminal Lesedi"/>
          <p:cNvSpPr/>
          <p:nvPr/>
        </p:nvSpPr>
        <p:spPr>
          <a:xfrm>
            <a:off x="3415802"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1" name="Illustrative delivered road transport cost class 2; reference terminal Lesedi"/>
          <p:cNvSpPr/>
          <p:nvPr/>
        </p:nvSpPr>
        <p:spPr>
          <a:xfrm>
            <a:off x="3415802"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2" name="Illustrative delivered road transport cost class 2; reference terminal Lesedi"/>
          <p:cNvSpPr/>
          <p:nvPr/>
        </p:nvSpPr>
        <p:spPr>
          <a:xfrm>
            <a:off x="3415802"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3" name="Illustrative delivered road transport cost class 2; reference terminal Lesedi"/>
          <p:cNvSpPr/>
          <p:nvPr/>
        </p:nvSpPr>
        <p:spPr>
          <a:xfrm>
            <a:off x="3415802"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4" name="Illustrative delivered road transport cost class 2; reference terminal Lesedi"/>
          <p:cNvSpPr/>
          <p:nvPr/>
        </p:nvSpPr>
        <p:spPr>
          <a:xfrm>
            <a:off x="3415802"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5" name="Illustrative delivered road transport cost class 2; reference terminal Lesedi"/>
          <p:cNvSpPr/>
          <p:nvPr/>
        </p:nvSpPr>
        <p:spPr>
          <a:xfrm>
            <a:off x="3415802"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6" name="Illustrative delivered road transport cost class 2; reference terminal Lesedi"/>
          <p:cNvSpPr/>
          <p:nvPr/>
        </p:nvSpPr>
        <p:spPr>
          <a:xfrm>
            <a:off x="3415802"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7" name="Illustrative delivered road transport cost class 2; reference terminal Lesedi"/>
          <p:cNvSpPr/>
          <p:nvPr/>
        </p:nvSpPr>
        <p:spPr>
          <a:xfrm>
            <a:off x="3415802"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8" name="Illustrative delivered road transport cost class 2; reference terminal Lesedi"/>
          <p:cNvSpPr/>
          <p:nvPr/>
        </p:nvSpPr>
        <p:spPr>
          <a:xfrm>
            <a:off x="3415802"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9" name="Illustrative delivered road transport cost class 2; reference terminal Lesedi"/>
          <p:cNvSpPr/>
          <p:nvPr/>
        </p:nvSpPr>
        <p:spPr>
          <a:xfrm>
            <a:off x="3415802"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0" name="Illustrative delivered road transport cost class 2; reference terminal Lesedi"/>
          <p:cNvSpPr/>
          <p:nvPr/>
        </p:nvSpPr>
        <p:spPr>
          <a:xfrm>
            <a:off x="3415802"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1" name="Illustrative delivered road transport cost class 2; reference terminal Lesedi"/>
          <p:cNvSpPr/>
          <p:nvPr/>
        </p:nvSpPr>
        <p:spPr>
          <a:xfrm>
            <a:off x="3415802"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2" name="Illustrative delivered road transport cost class 2; reference terminal Lesedi"/>
          <p:cNvSpPr/>
          <p:nvPr/>
        </p:nvSpPr>
        <p:spPr>
          <a:xfrm>
            <a:off x="3415802"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3" name="Illustrative delivered road transport cost class 2; reference terminal Lesedi"/>
          <p:cNvSpPr/>
          <p:nvPr/>
        </p:nvSpPr>
        <p:spPr>
          <a:xfrm>
            <a:off x="3415802"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4" name="Illustrative delivered road transport cost class 2; reference terminal Lesedi"/>
          <p:cNvSpPr/>
          <p:nvPr/>
        </p:nvSpPr>
        <p:spPr>
          <a:xfrm>
            <a:off x="3415802"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5" name="Illustrative delivered road transport cost class 2; reference terminal Lesedi"/>
          <p:cNvSpPr/>
          <p:nvPr/>
        </p:nvSpPr>
        <p:spPr>
          <a:xfrm>
            <a:off x="3415802"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6" name="Illustrative delivered road transport cost class 2; reference terminal Lesedi"/>
          <p:cNvSpPr/>
          <p:nvPr/>
        </p:nvSpPr>
        <p:spPr>
          <a:xfrm>
            <a:off x="3415802"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7" name="Illustrative delivered road transport cost class 2; reference terminal Lesedi"/>
          <p:cNvSpPr/>
          <p:nvPr/>
        </p:nvSpPr>
        <p:spPr>
          <a:xfrm>
            <a:off x="3415802"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8" name="Illustrative delivered road transport cost class 2; reference terminal Lesedi"/>
          <p:cNvSpPr/>
          <p:nvPr/>
        </p:nvSpPr>
        <p:spPr>
          <a:xfrm>
            <a:off x="3415802"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9" name="Illustrative delivered road transport cost class 2; reference terminal Lesedi"/>
          <p:cNvSpPr/>
          <p:nvPr/>
        </p:nvSpPr>
        <p:spPr>
          <a:xfrm>
            <a:off x="3415802"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0" name="Illustrative delivered road transport cost class 2; reference terminal Lesedi"/>
          <p:cNvSpPr/>
          <p:nvPr/>
        </p:nvSpPr>
        <p:spPr>
          <a:xfrm>
            <a:off x="3415802"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1" name="Illustrative delivered road transport cost class 2; reference terminal Lesedi"/>
          <p:cNvSpPr/>
          <p:nvPr/>
        </p:nvSpPr>
        <p:spPr>
          <a:xfrm>
            <a:off x="3415802"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2" name="Illustrative delivered road transport cost class 2; reference terminal Lesedi"/>
          <p:cNvSpPr/>
          <p:nvPr/>
        </p:nvSpPr>
        <p:spPr>
          <a:xfrm>
            <a:off x="3415802"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3" name="Illustrative delivered road transport cost class 3; reference terminal Lesedi"/>
          <p:cNvSpPr/>
          <p:nvPr/>
        </p:nvSpPr>
        <p:spPr>
          <a:xfrm>
            <a:off x="3415802"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4" name="Illustrative delivered road transport cost class None; reference terminal None"/>
          <p:cNvSpPr/>
          <p:nvPr/>
        </p:nvSpPr>
        <p:spPr>
          <a:xfrm>
            <a:off x="3415802"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5" name="Illustrative delivered road transport cost class None; reference terminal None"/>
          <p:cNvSpPr/>
          <p:nvPr/>
        </p:nvSpPr>
        <p:spPr>
          <a:xfrm>
            <a:off x="3415802"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6" name="Illustrative delivered road transport cost class None; reference terminal None"/>
          <p:cNvSpPr/>
          <p:nvPr/>
        </p:nvSpPr>
        <p:spPr>
          <a:xfrm>
            <a:off x="3415802" y="3190770"/>
            <a:ext cx="57686" cy="57686"/>
          </a:xfrm>
          <a:custGeom>
            <a:avLst/>
            <a:gdLst/>
            <a:ahLst/>
            <a:cxnLst/>
            <a:rect l="l" t="t" r="r" b="b"/>
            <a:pathLst>
              <a:path w="57686" h="57686">
                <a:moveTo>
                  <a:pt x="57686" y="57686"/>
                </a:moveTo>
                <a:lnTo>
                  <a:pt x="0" y="57686"/>
                </a:lnTo>
                <a:lnTo>
                  <a:pt x="0" y="0"/>
                </a:lnTo>
                <a:lnTo>
                  <a:pt x="39057" y="0"/>
                </a:lnTo>
                <a:lnTo>
                  <a:pt x="49542" y="3739"/>
                </a:lnTo>
                <a:lnTo>
                  <a:pt x="57686" y="425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7" name="Illustrative delivered road transport cost class None; reference terminal None"/>
          <p:cNvSpPr/>
          <p:nvPr/>
        </p:nvSpPr>
        <p:spPr>
          <a:xfrm>
            <a:off x="3415802" y="3161905"/>
            <a:ext cx="39057" cy="28865"/>
          </a:xfrm>
          <a:custGeom>
            <a:avLst/>
            <a:gdLst/>
            <a:ahLst/>
            <a:cxnLst/>
            <a:rect l="l" t="t" r="r" b="b"/>
            <a:pathLst>
              <a:path w="39057" h="28865">
                <a:moveTo>
                  <a:pt x="0" y="28865"/>
                </a:moveTo>
                <a:lnTo>
                  <a:pt x="0" y="0"/>
                </a:lnTo>
                <a:lnTo>
                  <a:pt x="15486" y="12099"/>
                </a:lnTo>
                <a:lnTo>
                  <a:pt x="31920" y="26320"/>
                </a:lnTo>
                <a:lnTo>
                  <a:pt x="39057" y="28865"/>
                </a:lnTo>
                <a:lnTo>
                  <a:pt x="0" y="2886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8" name="Illustrative delivered road transport cost class 3; reference terminal Durban"/>
          <p:cNvSpPr/>
          <p:nvPr/>
        </p:nvSpPr>
        <p:spPr>
          <a:xfrm>
            <a:off x="3473488" y="5325173"/>
            <a:ext cx="57687" cy="26403"/>
          </a:xfrm>
          <a:custGeom>
            <a:avLst/>
            <a:gdLst/>
            <a:ahLst/>
            <a:cxnLst/>
            <a:rect l="l" t="t" r="r" b="b"/>
            <a:pathLst>
              <a:path w="57687" h="26403">
                <a:moveTo>
                  <a:pt x="0" y="0"/>
                </a:moveTo>
                <a:lnTo>
                  <a:pt x="57687" y="0"/>
                </a:lnTo>
                <a:lnTo>
                  <a:pt x="57687" y="26403"/>
                </a:lnTo>
                <a:lnTo>
                  <a:pt x="56529" y="26029"/>
                </a:lnTo>
                <a:lnTo>
                  <a:pt x="0" y="1696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9" name="Illustrative delivered road transport cost class 3; reference terminal Durban"/>
          <p:cNvSpPr/>
          <p:nvPr/>
        </p:nvSpPr>
        <p:spPr>
          <a:xfrm>
            <a:off x="347348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0" name="Illustrative delivered road transport cost class 3; reference terminal Durban"/>
          <p:cNvSpPr/>
          <p:nvPr/>
        </p:nvSpPr>
        <p:spPr>
          <a:xfrm>
            <a:off x="347348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1" name="Illustrative delivered road transport cost class 3; reference terminal Durban"/>
          <p:cNvSpPr/>
          <p:nvPr/>
        </p:nvSpPr>
        <p:spPr>
          <a:xfrm>
            <a:off x="347348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2" name="Illustrative delivered road transport cost class 3; reference terminal Durban"/>
          <p:cNvSpPr/>
          <p:nvPr/>
        </p:nvSpPr>
        <p:spPr>
          <a:xfrm>
            <a:off x="347348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3" name="Illustrative delivered road transport cost class None; reference terminal None"/>
          <p:cNvSpPr/>
          <p:nvPr/>
        </p:nvSpPr>
        <p:spPr>
          <a:xfrm>
            <a:off x="347348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4" name="Illustrative delivered road transport cost class None; reference terminal None"/>
          <p:cNvSpPr/>
          <p:nvPr/>
        </p:nvSpPr>
        <p:spPr>
          <a:xfrm>
            <a:off x="347348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5" name="Illustrative delivered road transport cost class 3; reference terminal Lesedi"/>
          <p:cNvSpPr/>
          <p:nvPr/>
        </p:nvSpPr>
        <p:spPr>
          <a:xfrm>
            <a:off x="347348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6" name="Illustrative delivered road transport cost class 3; reference terminal Lesedi"/>
          <p:cNvSpPr/>
          <p:nvPr/>
        </p:nvSpPr>
        <p:spPr>
          <a:xfrm>
            <a:off x="347348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7" name="Illustrative delivered road transport cost class 3; reference terminal Lesedi"/>
          <p:cNvSpPr/>
          <p:nvPr/>
        </p:nvSpPr>
        <p:spPr>
          <a:xfrm>
            <a:off x="347348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8" name="Illustrative delivered road transport cost class 3; reference terminal Lesedi"/>
          <p:cNvSpPr/>
          <p:nvPr/>
        </p:nvSpPr>
        <p:spPr>
          <a:xfrm>
            <a:off x="347348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9" name="Illustrative delivered road transport cost class 2; reference terminal Lesedi"/>
          <p:cNvSpPr/>
          <p:nvPr/>
        </p:nvSpPr>
        <p:spPr>
          <a:xfrm>
            <a:off x="347348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0" name="Illustrative delivered road transport cost class 2; reference terminal Lesedi"/>
          <p:cNvSpPr/>
          <p:nvPr/>
        </p:nvSpPr>
        <p:spPr>
          <a:xfrm>
            <a:off x="347348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1" name="Illustrative delivered road transport cost class 2; reference terminal Lesedi"/>
          <p:cNvSpPr/>
          <p:nvPr/>
        </p:nvSpPr>
        <p:spPr>
          <a:xfrm>
            <a:off x="347348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2" name="Illustrative delivered road transport cost class 2; reference terminal Lesedi"/>
          <p:cNvSpPr/>
          <p:nvPr/>
        </p:nvSpPr>
        <p:spPr>
          <a:xfrm>
            <a:off x="347348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3" name="Illustrative delivered road transport cost class 2; reference terminal Lesedi"/>
          <p:cNvSpPr/>
          <p:nvPr/>
        </p:nvSpPr>
        <p:spPr>
          <a:xfrm>
            <a:off x="347348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4" name="Illustrative delivered road transport cost class 2; reference terminal Lesedi"/>
          <p:cNvSpPr/>
          <p:nvPr/>
        </p:nvSpPr>
        <p:spPr>
          <a:xfrm>
            <a:off x="347348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5" name="Illustrative delivered road transport cost class 2; reference terminal Lesedi"/>
          <p:cNvSpPr/>
          <p:nvPr/>
        </p:nvSpPr>
        <p:spPr>
          <a:xfrm>
            <a:off x="347348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6" name="Illustrative delivered road transport cost class 2; reference terminal Lesedi"/>
          <p:cNvSpPr/>
          <p:nvPr/>
        </p:nvSpPr>
        <p:spPr>
          <a:xfrm>
            <a:off x="347348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7" name="Illustrative delivered road transport cost class 2; reference terminal Lesedi"/>
          <p:cNvSpPr/>
          <p:nvPr/>
        </p:nvSpPr>
        <p:spPr>
          <a:xfrm>
            <a:off x="347348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8" name="Illustrative delivered road transport cost class 2; reference terminal Lesedi"/>
          <p:cNvSpPr/>
          <p:nvPr/>
        </p:nvSpPr>
        <p:spPr>
          <a:xfrm>
            <a:off x="347348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9" name="Illustrative delivered road transport cost class 2; reference terminal Lesedi"/>
          <p:cNvSpPr/>
          <p:nvPr/>
        </p:nvSpPr>
        <p:spPr>
          <a:xfrm>
            <a:off x="347348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0" name="Illustrative delivered road transport cost class 2; reference terminal Lesedi"/>
          <p:cNvSpPr/>
          <p:nvPr/>
        </p:nvSpPr>
        <p:spPr>
          <a:xfrm>
            <a:off x="347348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1" name="Illustrative delivered road transport cost class 2; reference terminal Lesedi"/>
          <p:cNvSpPr/>
          <p:nvPr/>
        </p:nvSpPr>
        <p:spPr>
          <a:xfrm>
            <a:off x="347348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2" name="Illustrative delivered road transport cost class 2; reference terminal Lesedi"/>
          <p:cNvSpPr/>
          <p:nvPr/>
        </p:nvSpPr>
        <p:spPr>
          <a:xfrm>
            <a:off x="347348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3" name="Illustrative delivered road transport cost class 2; reference terminal Lesedi"/>
          <p:cNvSpPr/>
          <p:nvPr/>
        </p:nvSpPr>
        <p:spPr>
          <a:xfrm>
            <a:off x="347348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4" name="Illustrative delivered road transport cost class 2; reference terminal Lesedi"/>
          <p:cNvSpPr/>
          <p:nvPr/>
        </p:nvSpPr>
        <p:spPr>
          <a:xfrm>
            <a:off x="347348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5" name="Illustrative delivered road transport cost class 2; reference terminal Lesedi"/>
          <p:cNvSpPr/>
          <p:nvPr/>
        </p:nvSpPr>
        <p:spPr>
          <a:xfrm>
            <a:off x="347348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6" name="Illustrative delivered road transport cost class 2; reference terminal Lesedi"/>
          <p:cNvSpPr/>
          <p:nvPr/>
        </p:nvSpPr>
        <p:spPr>
          <a:xfrm>
            <a:off x="347348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7" name="Illustrative delivered road transport cost class 2; reference terminal Lesedi"/>
          <p:cNvSpPr/>
          <p:nvPr/>
        </p:nvSpPr>
        <p:spPr>
          <a:xfrm>
            <a:off x="347348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8" name="Illustrative delivered road transport cost class 2; reference terminal Lesedi"/>
          <p:cNvSpPr/>
          <p:nvPr/>
        </p:nvSpPr>
        <p:spPr>
          <a:xfrm>
            <a:off x="347348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9" name="Illustrative delivered road transport cost class 2; reference terminal Lesedi"/>
          <p:cNvSpPr/>
          <p:nvPr/>
        </p:nvSpPr>
        <p:spPr>
          <a:xfrm>
            <a:off x="347348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0" name="Illustrative delivered road transport cost class 2; reference terminal Lesedi"/>
          <p:cNvSpPr/>
          <p:nvPr/>
        </p:nvSpPr>
        <p:spPr>
          <a:xfrm>
            <a:off x="347348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1" name="Illustrative delivered road transport cost class 2; reference terminal Lesedi"/>
          <p:cNvSpPr/>
          <p:nvPr/>
        </p:nvSpPr>
        <p:spPr>
          <a:xfrm>
            <a:off x="347348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2" name="Illustrative delivered road transport cost class 2; reference terminal Lesedi"/>
          <p:cNvSpPr/>
          <p:nvPr/>
        </p:nvSpPr>
        <p:spPr>
          <a:xfrm>
            <a:off x="347348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3" name="Illustrative delivered road transport cost class None; reference terminal None"/>
          <p:cNvSpPr/>
          <p:nvPr/>
        </p:nvSpPr>
        <p:spPr>
          <a:xfrm>
            <a:off x="347348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4" name="Illustrative delivered road transport cost class None; reference terminal None"/>
          <p:cNvSpPr/>
          <p:nvPr/>
        </p:nvSpPr>
        <p:spPr>
          <a:xfrm>
            <a:off x="347348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5" name="Illustrative delivered road transport cost class None; reference terminal None"/>
          <p:cNvSpPr/>
          <p:nvPr/>
        </p:nvSpPr>
        <p:spPr>
          <a:xfrm>
            <a:off x="3473488" y="3195029"/>
            <a:ext cx="57687" cy="53427"/>
          </a:xfrm>
          <a:custGeom>
            <a:avLst/>
            <a:gdLst/>
            <a:ahLst/>
            <a:cxnLst/>
            <a:rect l="l" t="t" r="r" b="b"/>
            <a:pathLst>
              <a:path w="57687" h="53427">
                <a:moveTo>
                  <a:pt x="57687" y="53427"/>
                </a:moveTo>
                <a:lnTo>
                  <a:pt x="0" y="53427"/>
                </a:lnTo>
                <a:lnTo>
                  <a:pt x="0" y="0"/>
                </a:lnTo>
                <a:lnTo>
                  <a:pt x="23158" y="1479"/>
                </a:lnTo>
                <a:lnTo>
                  <a:pt x="43665" y="837"/>
                </a:lnTo>
                <a:lnTo>
                  <a:pt x="57687" y="13049"/>
                </a:lnTo>
                <a:lnTo>
                  <a:pt x="57687" y="5342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6" name="Illustrative delivered road transport cost class 3; reference terminal Durban"/>
          <p:cNvSpPr/>
          <p:nvPr/>
        </p:nvSpPr>
        <p:spPr>
          <a:xfrm>
            <a:off x="3531175" y="5325173"/>
            <a:ext cx="57686" cy="45016"/>
          </a:xfrm>
          <a:custGeom>
            <a:avLst/>
            <a:gdLst/>
            <a:ahLst/>
            <a:cxnLst/>
            <a:rect l="l" t="t" r="r" b="b"/>
            <a:pathLst>
              <a:path w="57686" h="45016">
                <a:moveTo>
                  <a:pt x="0" y="0"/>
                </a:moveTo>
                <a:lnTo>
                  <a:pt x="57686" y="0"/>
                </a:lnTo>
                <a:lnTo>
                  <a:pt x="57686" y="45016"/>
                </a:lnTo>
                <a:lnTo>
                  <a:pt x="0" y="26403"/>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7" name="Illustrative delivered road transport cost class 3; reference terminal Durban"/>
          <p:cNvSpPr/>
          <p:nvPr/>
        </p:nvSpPr>
        <p:spPr>
          <a:xfrm>
            <a:off x="3531175"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8" name="Illustrative delivered road transport cost class 3; reference terminal Durban"/>
          <p:cNvSpPr/>
          <p:nvPr/>
        </p:nvSpPr>
        <p:spPr>
          <a:xfrm>
            <a:off x="353117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9" name="Illustrative delivered road transport cost class 3; reference terminal Durban"/>
          <p:cNvSpPr/>
          <p:nvPr/>
        </p:nvSpPr>
        <p:spPr>
          <a:xfrm>
            <a:off x="353117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0" name="Illustrative delivered road transport cost class 3; reference terminal Durban"/>
          <p:cNvSpPr/>
          <p:nvPr/>
        </p:nvSpPr>
        <p:spPr>
          <a:xfrm>
            <a:off x="353117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1" name="Illustrative delivered road transport cost class None; reference terminal None"/>
          <p:cNvSpPr/>
          <p:nvPr/>
        </p:nvSpPr>
        <p:spPr>
          <a:xfrm>
            <a:off x="353117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2" name="Illustrative delivered road transport cost class None; reference terminal None"/>
          <p:cNvSpPr/>
          <p:nvPr/>
        </p:nvSpPr>
        <p:spPr>
          <a:xfrm>
            <a:off x="353117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3" name="Illustrative delivered road transport cost class None; reference terminal None"/>
          <p:cNvSpPr/>
          <p:nvPr/>
        </p:nvSpPr>
        <p:spPr>
          <a:xfrm>
            <a:off x="353117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4" name="Illustrative delivered road transport cost class 3; reference terminal Lesedi"/>
          <p:cNvSpPr/>
          <p:nvPr/>
        </p:nvSpPr>
        <p:spPr>
          <a:xfrm>
            <a:off x="353117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5" name="Illustrative delivered road transport cost class 3; reference terminal Lesedi"/>
          <p:cNvSpPr/>
          <p:nvPr/>
        </p:nvSpPr>
        <p:spPr>
          <a:xfrm>
            <a:off x="353117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6" name="Illustrative delivered road transport cost class 3; reference terminal Lesedi"/>
          <p:cNvSpPr/>
          <p:nvPr/>
        </p:nvSpPr>
        <p:spPr>
          <a:xfrm>
            <a:off x="353117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7" name="Illustrative delivered road transport cost class 2; reference terminal Lesedi"/>
          <p:cNvSpPr/>
          <p:nvPr/>
        </p:nvSpPr>
        <p:spPr>
          <a:xfrm>
            <a:off x="353117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8" name="Illustrative delivered road transport cost class 2; reference terminal Lesedi"/>
          <p:cNvSpPr/>
          <p:nvPr/>
        </p:nvSpPr>
        <p:spPr>
          <a:xfrm>
            <a:off x="353117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9" name="Illustrative delivered road transport cost class 2; reference terminal Lesedi"/>
          <p:cNvSpPr/>
          <p:nvPr/>
        </p:nvSpPr>
        <p:spPr>
          <a:xfrm>
            <a:off x="353117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0" name="Illustrative delivered road transport cost class 2; reference terminal Lesedi"/>
          <p:cNvSpPr/>
          <p:nvPr/>
        </p:nvSpPr>
        <p:spPr>
          <a:xfrm>
            <a:off x="353117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1" name="Illustrative delivered road transport cost class 2; reference terminal Lesedi"/>
          <p:cNvSpPr/>
          <p:nvPr/>
        </p:nvSpPr>
        <p:spPr>
          <a:xfrm>
            <a:off x="353117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2" name="Illustrative delivered road transport cost class 2; reference terminal Lesedi"/>
          <p:cNvSpPr/>
          <p:nvPr/>
        </p:nvSpPr>
        <p:spPr>
          <a:xfrm>
            <a:off x="353117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3" name="Illustrative delivered road transport cost class 2; reference terminal Lesedi"/>
          <p:cNvSpPr/>
          <p:nvPr/>
        </p:nvSpPr>
        <p:spPr>
          <a:xfrm>
            <a:off x="353117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4" name="Illustrative delivered road transport cost class 2; reference terminal Lesedi"/>
          <p:cNvSpPr/>
          <p:nvPr/>
        </p:nvSpPr>
        <p:spPr>
          <a:xfrm>
            <a:off x="353117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5" name="Illustrative delivered road transport cost class 2; reference terminal Lesedi"/>
          <p:cNvSpPr/>
          <p:nvPr/>
        </p:nvSpPr>
        <p:spPr>
          <a:xfrm>
            <a:off x="353117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6" name="Illustrative delivered road transport cost class 2; reference terminal Lesedi"/>
          <p:cNvSpPr/>
          <p:nvPr/>
        </p:nvSpPr>
        <p:spPr>
          <a:xfrm>
            <a:off x="353117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7" name="Illustrative delivered road transport cost class 2; reference terminal Lesedi"/>
          <p:cNvSpPr/>
          <p:nvPr/>
        </p:nvSpPr>
        <p:spPr>
          <a:xfrm>
            <a:off x="353117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8" name="Illustrative delivered road transport cost class 1; reference terminal Lesedi"/>
          <p:cNvSpPr/>
          <p:nvPr/>
        </p:nvSpPr>
        <p:spPr>
          <a:xfrm>
            <a:off x="353117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9" name="Illustrative delivered road transport cost class 1; reference terminal Lesedi"/>
          <p:cNvSpPr/>
          <p:nvPr/>
        </p:nvSpPr>
        <p:spPr>
          <a:xfrm>
            <a:off x="353117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0" name="Illustrative delivered road transport cost class 1; reference terminal Lesedi"/>
          <p:cNvSpPr/>
          <p:nvPr/>
        </p:nvSpPr>
        <p:spPr>
          <a:xfrm>
            <a:off x="353117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1" name="Illustrative delivered road transport cost class 1; reference terminal Lesedi"/>
          <p:cNvSpPr/>
          <p:nvPr/>
        </p:nvSpPr>
        <p:spPr>
          <a:xfrm>
            <a:off x="353117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2" name="Illustrative delivered road transport cost class 1; reference terminal Lesedi"/>
          <p:cNvSpPr/>
          <p:nvPr/>
        </p:nvSpPr>
        <p:spPr>
          <a:xfrm>
            <a:off x="353117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3" name="Illustrative delivered road transport cost class 1; reference terminal Lesedi"/>
          <p:cNvSpPr/>
          <p:nvPr/>
        </p:nvSpPr>
        <p:spPr>
          <a:xfrm>
            <a:off x="353117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4" name="Illustrative delivered road transport cost class 1; reference terminal Lesedi"/>
          <p:cNvSpPr/>
          <p:nvPr/>
        </p:nvSpPr>
        <p:spPr>
          <a:xfrm>
            <a:off x="353117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5" name="Illustrative delivered road transport cost class 2; reference terminal Lesedi"/>
          <p:cNvSpPr/>
          <p:nvPr/>
        </p:nvSpPr>
        <p:spPr>
          <a:xfrm>
            <a:off x="353117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6" name="Illustrative delivered road transport cost class 2; reference terminal Lesedi"/>
          <p:cNvSpPr/>
          <p:nvPr/>
        </p:nvSpPr>
        <p:spPr>
          <a:xfrm>
            <a:off x="353117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7" name="Illustrative delivered road transport cost class 2; reference terminal Lesedi"/>
          <p:cNvSpPr/>
          <p:nvPr/>
        </p:nvSpPr>
        <p:spPr>
          <a:xfrm>
            <a:off x="353117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8" name="Illustrative delivered road transport cost class 2; reference terminal Lesedi"/>
          <p:cNvSpPr/>
          <p:nvPr/>
        </p:nvSpPr>
        <p:spPr>
          <a:xfrm>
            <a:off x="353117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9" name="Illustrative delivered road transport cost class 2; reference terminal Lesedi"/>
          <p:cNvSpPr/>
          <p:nvPr/>
        </p:nvSpPr>
        <p:spPr>
          <a:xfrm>
            <a:off x="353117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0" name="Illustrative delivered road transport cost class 2; reference terminal Lesedi"/>
          <p:cNvSpPr/>
          <p:nvPr/>
        </p:nvSpPr>
        <p:spPr>
          <a:xfrm>
            <a:off x="353117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1" name="Illustrative delivered road transport cost class 2; reference terminal Lesedi"/>
          <p:cNvSpPr/>
          <p:nvPr/>
        </p:nvSpPr>
        <p:spPr>
          <a:xfrm>
            <a:off x="353117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2" name="Illustrative delivered road transport cost class 3; reference terminal Lesedi"/>
          <p:cNvSpPr/>
          <p:nvPr/>
        </p:nvSpPr>
        <p:spPr>
          <a:xfrm>
            <a:off x="353117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3" name="Illustrative delivered road transport cost class None; reference terminal None"/>
          <p:cNvSpPr/>
          <p:nvPr/>
        </p:nvSpPr>
        <p:spPr>
          <a:xfrm>
            <a:off x="3531175" y="3208078"/>
            <a:ext cx="57686" cy="40378"/>
          </a:xfrm>
          <a:custGeom>
            <a:avLst/>
            <a:gdLst/>
            <a:ahLst/>
            <a:cxnLst/>
            <a:rect l="l" t="t" r="r" b="b"/>
            <a:pathLst>
              <a:path w="57686" h="40378">
                <a:moveTo>
                  <a:pt x="57686" y="40378"/>
                </a:moveTo>
                <a:lnTo>
                  <a:pt x="0" y="40378"/>
                </a:lnTo>
                <a:lnTo>
                  <a:pt x="0" y="0"/>
                </a:lnTo>
                <a:lnTo>
                  <a:pt x="18020" y="15694"/>
                </a:lnTo>
                <a:lnTo>
                  <a:pt x="34154" y="17382"/>
                </a:lnTo>
                <a:lnTo>
                  <a:pt x="57686" y="22831"/>
                </a:lnTo>
                <a:lnTo>
                  <a:pt x="57686" y="4037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4" name="Illustrative delivered road transport cost class 3; reference terminal Durban"/>
          <p:cNvSpPr/>
          <p:nvPr/>
        </p:nvSpPr>
        <p:spPr>
          <a:xfrm>
            <a:off x="3588861" y="5325173"/>
            <a:ext cx="57687" cy="54447"/>
          </a:xfrm>
          <a:custGeom>
            <a:avLst/>
            <a:gdLst/>
            <a:ahLst/>
            <a:cxnLst/>
            <a:rect l="l" t="t" r="r" b="b"/>
            <a:pathLst>
              <a:path w="57687" h="54447">
                <a:moveTo>
                  <a:pt x="0" y="0"/>
                </a:moveTo>
                <a:lnTo>
                  <a:pt x="57687" y="0"/>
                </a:lnTo>
                <a:lnTo>
                  <a:pt x="57687" y="53554"/>
                </a:lnTo>
                <a:lnTo>
                  <a:pt x="29228" y="54447"/>
                </a:lnTo>
                <a:lnTo>
                  <a:pt x="0" y="4501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5" name="Illustrative delivered road transport cost class 3; reference terminal Durban"/>
          <p:cNvSpPr/>
          <p:nvPr/>
        </p:nvSpPr>
        <p:spPr>
          <a:xfrm>
            <a:off x="358886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6" name="Illustrative delivered road transport cost class 3; reference terminal Durban"/>
          <p:cNvSpPr/>
          <p:nvPr/>
        </p:nvSpPr>
        <p:spPr>
          <a:xfrm>
            <a:off x="358886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7" name="Illustrative delivered road transport cost class 3; reference terminal Durban"/>
          <p:cNvSpPr/>
          <p:nvPr/>
        </p:nvSpPr>
        <p:spPr>
          <a:xfrm>
            <a:off x="358886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8" name="Illustrative delivered road transport cost class 3; reference terminal Durban"/>
          <p:cNvSpPr/>
          <p:nvPr/>
        </p:nvSpPr>
        <p:spPr>
          <a:xfrm>
            <a:off x="358886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9" name="Illustrative delivered road transport cost class 4; reference terminal Lesedi"/>
          <p:cNvSpPr/>
          <p:nvPr/>
        </p:nvSpPr>
        <p:spPr>
          <a:xfrm>
            <a:off x="358886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0" name="Illustrative delivered road transport cost class 3; reference terminal Lesedi"/>
          <p:cNvSpPr/>
          <p:nvPr/>
        </p:nvSpPr>
        <p:spPr>
          <a:xfrm>
            <a:off x="358886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1" name="Illustrative delivered road transport cost class 3; reference terminal Lesedi"/>
          <p:cNvSpPr/>
          <p:nvPr/>
        </p:nvSpPr>
        <p:spPr>
          <a:xfrm>
            <a:off x="358886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2" name="Illustrative delivered road transport cost class 3; reference terminal Lesedi"/>
          <p:cNvSpPr/>
          <p:nvPr/>
        </p:nvSpPr>
        <p:spPr>
          <a:xfrm>
            <a:off x="358886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3" name="Illustrative delivered road transport cost class 3; reference terminal Lesedi"/>
          <p:cNvSpPr/>
          <p:nvPr/>
        </p:nvSpPr>
        <p:spPr>
          <a:xfrm>
            <a:off x="358886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4" name="Illustrative delivered road transport cost class 3; reference terminal Lesedi"/>
          <p:cNvSpPr/>
          <p:nvPr/>
        </p:nvSpPr>
        <p:spPr>
          <a:xfrm>
            <a:off x="358886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5" name="Illustrative delivered road transport cost class 2; reference terminal Lesedi"/>
          <p:cNvSpPr/>
          <p:nvPr/>
        </p:nvSpPr>
        <p:spPr>
          <a:xfrm>
            <a:off x="358886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6" name="Illustrative delivered road transport cost class 2; reference terminal Lesedi"/>
          <p:cNvSpPr/>
          <p:nvPr/>
        </p:nvSpPr>
        <p:spPr>
          <a:xfrm>
            <a:off x="358886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7" name="Illustrative delivered road transport cost class 2; reference terminal Lesedi"/>
          <p:cNvSpPr/>
          <p:nvPr/>
        </p:nvSpPr>
        <p:spPr>
          <a:xfrm>
            <a:off x="358886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8" name="Illustrative delivered road transport cost class 2; reference terminal Lesedi"/>
          <p:cNvSpPr/>
          <p:nvPr/>
        </p:nvSpPr>
        <p:spPr>
          <a:xfrm>
            <a:off x="358886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9" name="Illustrative delivered road transport cost class 2; reference terminal Lesedi"/>
          <p:cNvSpPr/>
          <p:nvPr/>
        </p:nvSpPr>
        <p:spPr>
          <a:xfrm>
            <a:off x="358886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0" name="Illustrative delivered road transport cost class 2; reference terminal Lesedi"/>
          <p:cNvSpPr/>
          <p:nvPr/>
        </p:nvSpPr>
        <p:spPr>
          <a:xfrm>
            <a:off x="358886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1" name="Illustrative delivered road transport cost class 2; reference terminal Lesedi"/>
          <p:cNvSpPr/>
          <p:nvPr/>
        </p:nvSpPr>
        <p:spPr>
          <a:xfrm>
            <a:off x="358886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2" name="Illustrative delivered road transport cost class 2; reference terminal Lesedi"/>
          <p:cNvSpPr/>
          <p:nvPr/>
        </p:nvSpPr>
        <p:spPr>
          <a:xfrm>
            <a:off x="358886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3" name="Illustrative delivered road transport cost class 2; reference terminal Lesedi"/>
          <p:cNvSpPr/>
          <p:nvPr/>
        </p:nvSpPr>
        <p:spPr>
          <a:xfrm>
            <a:off x="358886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4" name="Illustrative delivered road transport cost class 2; reference terminal Lesedi"/>
          <p:cNvSpPr/>
          <p:nvPr/>
        </p:nvSpPr>
        <p:spPr>
          <a:xfrm>
            <a:off x="358886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5" name="Illustrative delivered road transport cost class 2; reference terminal Lesedi"/>
          <p:cNvSpPr/>
          <p:nvPr/>
        </p:nvSpPr>
        <p:spPr>
          <a:xfrm>
            <a:off x="358886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6" name="Illustrative delivered road transport cost class 1; reference terminal Lesedi"/>
          <p:cNvSpPr/>
          <p:nvPr/>
        </p:nvSpPr>
        <p:spPr>
          <a:xfrm>
            <a:off x="358886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7" name="Illustrative delivered road transport cost class 1; reference terminal Lesedi"/>
          <p:cNvSpPr/>
          <p:nvPr/>
        </p:nvSpPr>
        <p:spPr>
          <a:xfrm>
            <a:off x="358886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8" name="Illustrative delivered road transport cost class 1; reference terminal Lesedi"/>
          <p:cNvSpPr/>
          <p:nvPr/>
        </p:nvSpPr>
        <p:spPr>
          <a:xfrm>
            <a:off x="358886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9" name="Illustrative delivered road transport cost class 1; reference terminal Lesedi"/>
          <p:cNvSpPr/>
          <p:nvPr/>
        </p:nvSpPr>
        <p:spPr>
          <a:xfrm>
            <a:off x="358886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0" name="Illustrative delivered road transport cost class 1; reference terminal Lesedi"/>
          <p:cNvSpPr/>
          <p:nvPr/>
        </p:nvSpPr>
        <p:spPr>
          <a:xfrm>
            <a:off x="358886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1" name="Illustrative delivered road transport cost class 1; reference terminal Lesedi"/>
          <p:cNvSpPr/>
          <p:nvPr/>
        </p:nvSpPr>
        <p:spPr>
          <a:xfrm>
            <a:off x="358886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2" name="Illustrative delivered road transport cost class 1; reference terminal Lesedi"/>
          <p:cNvSpPr/>
          <p:nvPr/>
        </p:nvSpPr>
        <p:spPr>
          <a:xfrm>
            <a:off x="358886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3" name="Illustrative delivered road transport cost class 1; reference terminal Lesedi"/>
          <p:cNvSpPr/>
          <p:nvPr/>
        </p:nvSpPr>
        <p:spPr>
          <a:xfrm>
            <a:off x="358886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4" name="Illustrative delivered road transport cost class 2; reference terminal Lesedi"/>
          <p:cNvSpPr/>
          <p:nvPr/>
        </p:nvSpPr>
        <p:spPr>
          <a:xfrm>
            <a:off x="358886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5" name="Illustrative delivered road transport cost class 2; reference terminal Lesedi"/>
          <p:cNvSpPr/>
          <p:nvPr/>
        </p:nvSpPr>
        <p:spPr>
          <a:xfrm>
            <a:off x="358886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6" name="Illustrative delivered road transport cost class 2; reference terminal Lesedi"/>
          <p:cNvSpPr/>
          <p:nvPr/>
        </p:nvSpPr>
        <p:spPr>
          <a:xfrm>
            <a:off x="358886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7" name="Illustrative delivered road transport cost class 2; reference terminal Lesedi"/>
          <p:cNvSpPr/>
          <p:nvPr/>
        </p:nvSpPr>
        <p:spPr>
          <a:xfrm>
            <a:off x="358886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8" name="Illustrative delivered road transport cost class 2; reference terminal Lesedi"/>
          <p:cNvSpPr/>
          <p:nvPr/>
        </p:nvSpPr>
        <p:spPr>
          <a:xfrm>
            <a:off x="358886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9" name="Illustrative delivered road transport cost class 2; reference terminal Lesedi"/>
          <p:cNvSpPr/>
          <p:nvPr/>
        </p:nvSpPr>
        <p:spPr>
          <a:xfrm>
            <a:off x="358886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0" name="Illustrative delivered road transport cost class 3; reference terminal Lesedi"/>
          <p:cNvSpPr/>
          <p:nvPr/>
        </p:nvSpPr>
        <p:spPr>
          <a:xfrm>
            <a:off x="358886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1" name="Illustrative delivered road transport cost class 3; reference terminal Lesedi"/>
          <p:cNvSpPr/>
          <p:nvPr/>
        </p:nvSpPr>
        <p:spPr>
          <a:xfrm>
            <a:off x="3588861" y="3230909"/>
            <a:ext cx="57687" cy="17547"/>
          </a:xfrm>
          <a:custGeom>
            <a:avLst/>
            <a:gdLst/>
            <a:ahLst/>
            <a:cxnLst/>
            <a:rect l="l" t="t" r="r" b="b"/>
            <a:pathLst>
              <a:path w="57687" h="17547">
                <a:moveTo>
                  <a:pt x="57687" y="17547"/>
                </a:moveTo>
                <a:lnTo>
                  <a:pt x="0" y="17547"/>
                </a:lnTo>
                <a:lnTo>
                  <a:pt x="0" y="0"/>
                </a:lnTo>
                <a:lnTo>
                  <a:pt x="12547" y="2906"/>
                </a:lnTo>
                <a:lnTo>
                  <a:pt x="57082" y="11538"/>
                </a:lnTo>
                <a:lnTo>
                  <a:pt x="57687" y="11516"/>
                </a:lnTo>
                <a:lnTo>
                  <a:pt x="57687" y="1754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2" name="Illustrative delivered road transport cost class 3; reference terminal Durban"/>
          <p:cNvSpPr/>
          <p:nvPr/>
        </p:nvSpPr>
        <p:spPr>
          <a:xfrm>
            <a:off x="3646548" y="5325173"/>
            <a:ext cx="57687" cy="53554"/>
          </a:xfrm>
          <a:custGeom>
            <a:avLst/>
            <a:gdLst/>
            <a:ahLst/>
            <a:cxnLst/>
            <a:rect l="l" t="t" r="r" b="b"/>
            <a:pathLst>
              <a:path w="57687" h="53554">
                <a:moveTo>
                  <a:pt x="0" y="0"/>
                </a:moveTo>
                <a:lnTo>
                  <a:pt x="57687" y="0"/>
                </a:lnTo>
                <a:lnTo>
                  <a:pt x="57687" y="3597"/>
                </a:lnTo>
                <a:lnTo>
                  <a:pt x="37549" y="24965"/>
                </a:lnTo>
                <a:lnTo>
                  <a:pt x="20872" y="52899"/>
                </a:lnTo>
                <a:lnTo>
                  <a:pt x="0" y="53554"/>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3" name="Illustrative delivered road transport cost class 3; reference terminal Durban"/>
          <p:cNvSpPr/>
          <p:nvPr/>
        </p:nvSpPr>
        <p:spPr>
          <a:xfrm>
            <a:off x="364654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4" name="Illustrative delivered road transport cost class 3; reference terminal Durban"/>
          <p:cNvSpPr/>
          <p:nvPr/>
        </p:nvSpPr>
        <p:spPr>
          <a:xfrm>
            <a:off x="364654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5" name="Illustrative delivered road transport cost class 3; reference terminal Durban"/>
          <p:cNvSpPr/>
          <p:nvPr/>
        </p:nvSpPr>
        <p:spPr>
          <a:xfrm>
            <a:off x="364654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6" name="Illustrative delivered road transport cost class 3; reference terminal Durban"/>
          <p:cNvSpPr/>
          <p:nvPr/>
        </p:nvSpPr>
        <p:spPr>
          <a:xfrm>
            <a:off x="364654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7" name="Illustrative delivered road transport cost class 3; reference terminal Lesedi"/>
          <p:cNvSpPr/>
          <p:nvPr/>
        </p:nvSpPr>
        <p:spPr>
          <a:xfrm>
            <a:off x="364654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8" name="Illustrative delivered road transport cost class 3; reference terminal Lesedi"/>
          <p:cNvSpPr/>
          <p:nvPr/>
        </p:nvSpPr>
        <p:spPr>
          <a:xfrm>
            <a:off x="364654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9" name="Illustrative delivered road transport cost class 3; reference terminal Lesedi"/>
          <p:cNvSpPr/>
          <p:nvPr/>
        </p:nvSpPr>
        <p:spPr>
          <a:xfrm>
            <a:off x="364654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0" name="Illustrative delivered road transport cost class 3; reference terminal Lesedi"/>
          <p:cNvSpPr/>
          <p:nvPr/>
        </p:nvSpPr>
        <p:spPr>
          <a:xfrm>
            <a:off x="364654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1" name="Illustrative delivered road transport cost class 3; reference terminal Lesedi"/>
          <p:cNvSpPr/>
          <p:nvPr/>
        </p:nvSpPr>
        <p:spPr>
          <a:xfrm>
            <a:off x="364654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2" name="Illustrative delivered road transport cost class 3; reference terminal Lesedi"/>
          <p:cNvSpPr/>
          <p:nvPr/>
        </p:nvSpPr>
        <p:spPr>
          <a:xfrm>
            <a:off x="364654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3" name="Illustrative delivered road transport cost class 2; reference terminal Lesedi"/>
          <p:cNvSpPr/>
          <p:nvPr/>
        </p:nvSpPr>
        <p:spPr>
          <a:xfrm>
            <a:off x="364654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4" name="Illustrative delivered road transport cost class 2; reference terminal Lesedi"/>
          <p:cNvSpPr/>
          <p:nvPr/>
        </p:nvSpPr>
        <p:spPr>
          <a:xfrm>
            <a:off x="364654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5" name="Illustrative delivered road transport cost class 2; reference terminal Lesedi"/>
          <p:cNvSpPr/>
          <p:nvPr/>
        </p:nvSpPr>
        <p:spPr>
          <a:xfrm>
            <a:off x="364654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6" name="Illustrative delivered road transport cost class 2; reference terminal Lesedi"/>
          <p:cNvSpPr/>
          <p:nvPr/>
        </p:nvSpPr>
        <p:spPr>
          <a:xfrm>
            <a:off x="364654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7" name="Illustrative delivered road transport cost class 2; reference terminal Lesedi"/>
          <p:cNvSpPr/>
          <p:nvPr/>
        </p:nvSpPr>
        <p:spPr>
          <a:xfrm>
            <a:off x="364654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8" name="Illustrative delivered road transport cost class 2; reference terminal Lesedi"/>
          <p:cNvSpPr/>
          <p:nvPr/>
        </p:nvSpPr>
        <p:spPr>
          <a:xfrm>
            <a:off x="364654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9" name="Illustrative delivered road transport cost class 2; reference terminal Lesedi"/>
          <p:cNvSpPr/>
          <p:nvPr/>
        </p:nvSpPr>
        <p:spPr>
          <a:xfrm>
            <a:off x="364654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0" name="Illustrative delivered road transport cost class 2; reference terminal Lesedi"/>
          <p:cNvSpPr/>
          <p:nvPr/>
        </p:nvSpPr>
        <p:spPr>
          <a:xfrm>
            <a:off x="364654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1" name="Illustrative delivered road transport cost class 2; reference terminal Lesedi"/>
          <p:cNvSpPr/>
          <p:nvPr/>
        </p:nvSpPr>
        <p:spPr>
          <a:xfrm>
            <a:off x="364654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2" name="Illustrative delivered road transport cost class 2; reference terminal Lesedi"/>
          <p:cNvSpPr/>
          <p:nvPr/>
        </p:nvSpPr>
        <p:spPr>
          <a:xfrm>
            <a:off x="364654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3" name="Illustrative delivered road transport cost class 2; reference terminal Lesedi"/>
          <p:cNvSpPr/>
          <p:nvPr/>
        </p:nvSpPr>
        <p:spPr>
          <a:xfrm>
            <a:off x="364654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4" name="Illustrative delivered road transport cost class 1; reference terminal Lesedi"/>
          <p:cNvSpPr/>
          <p:nvPr/>
        </p:nvSpPr>
        <p:spPr>
          <a:xfrm>
            <a:off x="364654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5" name="Illustrative delivered road transport cost class 1; reference terminal Lesedi"/>
          <p:cNvSpPr/>
          <p:nvPr/>
        </p:nvSpPr>
        <p:spPr>
          <a:xfrm>
            <a:off x="364654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6" name="Illustrative delivered road transport cost class 1; reference terminal Lesedi"/>
          <p:cNvSpPr/>
          <p:nvPr/>
        </p:nvSpPr>
        <p:spPr>
          <a:xfrm>
            <a:off x="364654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7" name="Illustrative delivered road transport cost class 1; reference terminal Lesedi"/>
          <p:cNvSpPr/>
          <p:nvPr/>
        </p:nvSpPr>
        <p:spPr>
          <a:xfrm>
            <a:off x="364654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8" name="Illustrative delivered road transport cost class 1; reference terminal Lesedi"/>
          <p:cNvSpPr/>
          <p:nvPr/>
        </p:nvSpPr>
        <p:spPr>
          <a:xfrm>
            <a:off x="364654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9" name="Illustrative delivered road transport cost class 1; reference terminal Lesedi"/>
          <p:cNvSpPr/>
          <p:nvPr/>
        </p:nvSpPr>
        <p:spPr>
          <a:xfrm>
            <a:off x="364654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0" name="Illustrative delivered road transport cost class 1; reference terminal Lesedi"/>
          <p:cNvSpPr/>
          <p:nvPr/>
        </p:nvSpPr>
        <p:spPr>
          <a:xfrm>
            <a:off x="364654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1" name="Illustrative delivered road transport cost class 1; reference terminal Lesedi"/>
          <p:cNvSpPr/>
          <p:nvPr/>
        </p:nvSpPr>
        <p:spPr>
          <a:xfrm>
            <a:off x="364654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2" name="Illustrative delivered road transport cost class 1; reference terminal Lesedi"/>
          <p:cNvSpPr/>
          <p:nvPr/>
        </p:nvSpPr>
        <p:spPr>
          <a:xfrm>
            <a:off x="364654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3" name="Illustrative delivered road transport cost class 1; reference terminal Lesedi"/>
          <p:cNvSpPr/>
          <p:nvPr/>
        </p:nvSpPr>
        <p:spPr>
          <a:xfrm>
            <a:off x="364654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4" name="Illustrative delivered road transport cost class 2; reference terminal Lesedi"/>
          <p:cNvSpPr/>
          <p:nvPr/>
        </p:nvSpPr>
        <p:spPr>
          <a:xfrm>
            <a:off x="364654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5" name="Illustrative delivered road transport cost class 2; reference terminal Lesedi"/>
          <p:cNvSpPr/>
          <p:nvPr/>
        </p:nvSpPr>
        <p:spPr>
          <a:xfrm>
            <a:off x="364654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6" name="Illustrative delivered road transport cost class 2; reference terminal Lesedi"/>
          <p:cNvSpPr/>
          <p:nvPr/>
        </p:nvSpPr>
        <p:spPr>
          <a:xfrm>
            <a:off x="364654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7" name="Illustrative delivered road transport cost class 2; reference terminal Lesedi"/>
          <p:cNvSpPr/>
          <p:nvPr/>
        </p:nvSpPr>
        <p:spPr>
          <a:xfrm>
            <a:off x="364654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8" name="Illustrative delivered road transport cost class 3; reference terminal Lesedi"/>
          <p:cNvSpPr/>
          <p:nvPr/>
        </p:nvSpPr>
        <p:spPr>
          <a:xfrm>
            <a:off x="364654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9" name="Illustrative delivered road transport cost class 1; reference terminal Lesedi"/>
          <p:cNvSpPr/>
          <p:nvPr/>
        </p:nvSpPr>
        <p:spPr>
          <a:xfrm>
            <a:off x="3646548" y="3226184"/>
            <a:ext cx="57687" cy="22272"/>
          </a:xfrm>
          <a:custGeom>
            <a:avLst/>
            <a:gdLst/>
            <a:ahLst/>
            <a:cxnLst/>
            <a:rect l="l" t="t" r="r" b="b"/>
            <a:pathLst>
              <a:path w="57687" h="22272">
                <a:moveTo>
                  <a:pt x="57687" y="22272"/>
                </a:moveTo>
                <a:lnTo>
                  <a:pt x="0" y="22272"/>
                </a:lnTo>
                <a:lnTo>
                  <a:pt x="0" y="16241"/>
                </a:lnTo>
                <a:lnTo>
                  <a:pt x="27421" y="15221"/>
                </a:lnTo>
                <a:lnTo>
                  <a:pt x="57438" y="7"/>
                </a:lnTo>
                <a:lnTo>
                  <a:pt x="57687" y="0"/>
                </a:lnTo>
                <a:lnTo>
                  <a:pt x="57687" y="2227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0" name="Illustrative delivered road transport cost class 3; reference terminal Durban"/>
          <p:cNvSpPr/>
          <p:nvPr/>
        </p:nvSpPr>
        <p:spPr>
          <a:xfrm>
            <a:off x="3741731" y="5325173"/>
            <a:ext cx="20190" cy="5362"/>
          </a:xfrm>
          <a:custGeom>
            <a:avLst/>
            <a:gdLst/>
            <a:ahLst/>
            <a:cxnLst/>
            <a:rect l="l" t="t" r="r" b="b"/>
            <a:pathLst>
              <a:path w="20190" h="5362">
                <a:moveTo>
                  <a:pt x="20190" y="0"/>
                </a:moveTo>
                <a:lnTo>
                  <a:pt x="20190" y="5362"/>
                </a:lnTo>
                <a:lnTo>
                  <a:pt x="0" y="0"/>
                </a:lnTo>
                <a:lnTo>
                  <a:pt x="2019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1" name="Illustrative delivered road transport cost class 3; reference terminal Durban"/>
          <p:cNvSpPr/>
          <p:nvPr/>
        </p:nvSpPr>
        <p:spPr>
          <a:xfrm>
            <a:off x="3704235" y="5325173"/>
            <a:ext cx="32586" cy="3597"/>
          </a:xfrm>
          <a:custGeom>
            <a:avLst/>
            <a:gdLst/>
            <a:ahLst/>
            <a:cxnLst/>
            <a:rect l="l" t="t" r="r" b="b"/>
            <a:pathLst>
              <a:path w="32586" h="3597">
                <a:moveTo>
                  <a:pt x="0" y="0"/>
                </a:moveTo>
                <a:lnTo>
                  <a:pt x="32586" y="0"/>
                </a:lnTo>
                <a:lnTo>
                  <a:pt x="625" y="2934"/>
                </a:lnTo>
                <a:lnTo>
                  <a:pt x="0" y="359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2" name="Illustrative delivered road transport cost class 3; reference terminal Durban"/>
          <p:cNvSpPr/>
          <p:nvPr/>
        </p:nvSpPr>
        <p:spPr>
          <a:xfrm>
            <a:off x="3704235" y="5267486"/>
            <a:ext cx="57686" cy="57687"/>
          </a:xfrm>
          <a:custGeom>
            <a:avLst/>
            <a:gdLst/>
            <a:ahLst/>
            <a:cxnLst/>
            <a:rect l="l" t="t" r="r" b="b"/>
            <a:pathLst>
              <a:path w="57686" h="57687">
                <a:moveTo>
                  <a:pt x="0" y="57687"/>
                </a:moveTo>
                <a:lnTo>
                  <a:pt x="0" y="0"/>
                </a:lnTo>
                <a:lnTo>
                  <a:pt x="57686" y="0"/>
                </a:lnTo>
                <a:lnTo>
                  <a:pt x="57686" y="57687"/>
                </a:lnTo>
                <a:lnTo>
                  <a:pt x="37496" y="57687"/>
                </a:lnTo>
                <a:lnTo>
                  <a:pt x="36235" y="57352"/>
                </a:lnTo>
                <a:lnTo>
                  <a:pt x="325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3" name="Illustrative delivered road transport cost class 3; reference terminal Durban"/>
          <p:cNvSpPr/>
          <p:nvPr/>
        </p:nvSpPr>
        <p:spPr>
          <a:xfrm>
            <a:off x="370423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4" name="Illustrative delivered road transport cost class 3; reference terminal Durban"/>
          <p:cNvSpPr/>
          <p:nvPr/>
        </p:nvSpPr>
        <p:spPr>
          <a:xfrm>
            <a:off x="370423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5" name="Illustrative delivered road transport cost class 3; reference terminal Durban"/>
          <p:cNvSpPr/>
          <p:nvPr/>
        </p:nvSpPr>
        <p:spPr>
          <a:xfrm>
            <a:off x="370423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6" name="Illustrative delivered road transport cost class 3; reference terminal Lesedi"/>
          <p:cNvSpPr/>
          <p:nvPr/>
        </p:nvSpPr>
        <p:spPr>
          <a:xfrm>
            <a:off x="370423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7" name="Illustrative delivered road transport cost class 3; reference terminal Lesedi"/>
          <p:cNvSpPr/>
          <p:nvPr/>
        </p:nvSpPr>
        <p:spPr>
          <a:xfrm>
            <a:off x="370423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8" name="Illustrative delivered road transport cost class 3; reference terminal Lesedi"/>
          <p:cNvSpPr/>
          <p:nvPr/>
        </p:nvSpPr>
        <p:spPr>
          <a:xfrm>
            <a:off x="370423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9" name="Illustrative delivered road transport cost class 3; reference terminal Lesedi"/>
          <p:cNvSpPr/>
          <p:nvPr/>
        </p:nvSpPr>
        <p:spPr>
          <a:xfrm>
            <a:off x="370423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0" name="Illustrative delivered road transport cost class 3; reference terminal Lesedi"/>
          <p:cNvSpPr/>
          <p:nvPr/>
        </p:nvSpPr>
        <p:spPr>
          <a:xfrm>
            <a:off x="370423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1" name="Illustrative delivered road transport cost class 2; reference terminal Lesedi"/>
          <p:cNvSpPr/>
          <p:nvPr/>
        </p:nvSpPr>
        <p:spPr>
          <a:xfrm>
            <a:off x="370423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2" name="Illustrative delivered road transport cost class 2; reference terminal Lesedi"/>
          <p:cNvSpPr/>
          <p:nvPr/>
        </p:nvSpPr>
        <p:spPr>
          <a:xfrm>
            <a:off x="370423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3" name="Illustrative delivered road transport cost class 2; reference terminal Lesedi"/>
          <p:cNvSpPr/>
          <p:nvPr/>
        </p:nvSpPr>
        <p:spPr>
          <a:xfrm>
            <a:off x="370423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4" name="Illustrative delivered road transport cost class 2; reference terminal Lesedi"/>
          <p:cNvSpPr/>
          <p:nvPr/>
        </p:nvSpPr>
        <p:spPr>
          <a:xfrm>
            <a:off x="370423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5" name="Illustrative delivered road transport cost class 2; reference terminal Lesedi"/>
          <p:cNvSpPr/>
          <p:nvPr/>
        </p:nvSpPr>
        <p:spPr>
          <a:xfrm>
            <a:off x="370423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6" name="Illustrative delivered road transport cost class 2; reference terminal Lesedi"/>
          <p:cNvSpPr/>
          <p:nvPr/>
        </p:nvSpPr>
        <p:spPr>
          <a:xfrm>
            <a:off x="370423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7" name="Illustrative delivered road transport cost class 2; reference terminal Lesedi"/>
          <p:cNvSpPr/>
          <p:nvPr/>
        </p:nvSpPr>
        <p:spPr>
          <a:xfrm>
            <a:off x="370423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8" name="Illustrative delivered road transport cost class 2; reference terminal Lesedi"/>
          <p:cNvSpPr/>
          <p:nvPr/>
        </p:nvSpPr>
        <p:spPr>
          <a:xfrm>
            <a:off x="370423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9" name="Illustrative delivered road transport cost class 2; reference terminal Lesedi"/>
          <p:cNvSpPr/>
          <p:nvPr/>
        </p:nvSpPr>
        <p:spPr>
          <a:xfrm>
            <a:off x="370423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0" name="Illustrative delivered road transport cost class 2; reference terminal Lesedi"/>
          <p:cNvSpPr/>
          <p:nvPr/>
        </p:nvSpPr>
        <p:spPr>
          <a:xfrm>
            <a:off x="370423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1" name="Illustrative delivered road transport cost class 2; reference terminal Lesedi"/>
          <p:cNvSpPr/>
          <p:nvPr/>
        </p:nvSpPr>
        <p:spPr>
          <a:xfrm>
            <a:off x="370423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2" name="Illustrative delivered road transport cost class 2; reference terminal Lesedi"/>
          <p:cNvSpPr/>
          <p:nvPr/>
        </p:nvSpPr>
        <p:spPr>
          <a:xfrm>
            <a:off x="370423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3" name="Illustrative delivered road transport cost class 1; reference terminal Lesedi"/>
          <p:cNvSpPr/>
          <p:nvPr/>
        </p:nvSpPr>
        <p:spPr>
          <a:xfrm>
            <a:off x="370423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4" name="Illustrative delivered road transport cost class 1; reference terminal Lesedi"/>
          <p:cNvSpPr/>
          <p:nvPr/>
        </p:nvSpPr>
        <p:spPr>
          <a:xfrm>
            <a:off x="370423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5" name="Illustrative delivered road transport cost class 1; reference terminal Lesedi"/>
          <p:cNvSpPr/>
          <p:nvPr/>
        </p:nvSpPr>
        <p:spPr>
          <a:xfrm>
            <a:off x="370423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6" name="Illustrative delivered road transport cost class 1; reference terminal Lesedi"/>
          <p:cNvSpPr/>
          <p:nvPr/>
        </p:nvSpPr>
        <p:spPr>
          <a:xfrm>
            <a:off x="370423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7" name="Illustrative delivered road transport cost class 1; reference terminal Lesedi"/>
          <p:cNvSpPr/>
          <p:nvPr/>
        </p:nvSpPr>
        <p:spPr>
          <a:xfrm>
            <a:off x="370423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8" name="Illustrative delivered road transport cost class 1; reference terminal Lesedi"/>
          <p:cNvSpPr/>
          <p:nvPr/>
        </p:nvSpPr>
        <p:spPr>
          <a:xfrm>
            <a:off x="370423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9" name="Illustrative delivered road transport cost class 1; reference terminal Lesedi"/>
          <p:cNvSpPr/>
          <p:nvPr/>
        </p:nvSpPr>
        <p:spPr>
          <a:xfrm>
            <a:off x="370423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0" name="Illustrative delivered road transport cost class 1; reference terminal Lesedi"/>
          <p:cNvSpPr/>
          <p:nvPr/>
        </p:nvSpPr>
        <p:spPr>
          <a:xfrm>
            <a:off x="370423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1" name="Illustrative delivered road transport cost class 1; reference terminal Lesedi"/>
          <p:cNvSpPr/>
          <p:nvPr/>
        </p:nvSpPr>
        <p:spPr>
          <a:xfrm>
            <a:off x="370423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2" name="Illustrative delivered road transport cost class 1; reference terminal Lesedi"/>
          <p:cNvSpPr/>
          <p:nvPr/>
        </p:nvSpPr>
        <p:spPr>
          <a:xfrm>
            <a:off x="370423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3" name="Illustrative delivered road transport cost class 1; reference terminal Lesedi"/>
          <p:cNvSpPr/>
          <p:nvPr/>
        </p:nvSpPr>
        <p:spPr>
          <a:xfrm>
            <a:off x="370423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4" name="Illustrative delivered road transport cost class 2; reference terminal Lesedi"/>
          <p:cNvSpPr/>
          <p:nvPr/>
        </p:nvSpPr>
        <p:spPr>
          <a:xfrm>
            <a:off x="370423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5" name="Illustrative delivered road transport cost class 2; reference terminal Lesedi"/>
          <p:cNvSpPr/>
          <p:nvPr/>
        </p:nvSpPr>
        <p:spPr>
          <a:xfrm>
            <a:off x="370423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6" name="Illustrative delivered road transport cost class 2; reference terminal Lesedi"/>
          <p:cNvSpPr/>
          <p:nvPr/>
        </p:nvSpPr>
        <p:spPr>
          <a:xfrm>
            <a:off x="370423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7" name="Illustrative delivered road transport cost class 1; reference terminal Lesedi"/>
          <p:cNvSpPr/>
          <p:nvPr/>
        </p:nvSpPr>
        <p:spPr>
          <a:xfrm>
            <a:off x="370423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8" name="Illustrative delivered road transport cost class 1; reference terminal Lesedi"/>
          <p:cNvSpPr/>
          <p:nvPr/>
        </p:nvSpPr>
        <p:spPr>
          <a:xfrm>
            <a:off x="3704235" y="3225550"/>
            <a:ext cx="57686" cy="22906"/>
          </a:xfrm>
          <a:custGeom>
            <a:avLst/>
            <a:gdLst/>
            <a:ahLst/>
            <a:cxnLst/>
            <a:rect l="l" t="t" r="r" b="b"/>
            <a:pathLst>
              <a:path w="57686" h="22906">
                <a:moveTo>
                  <a:pt x="57686" y="22906"/>
                </a:moveTo>
                <a:lnTo>
                  <a:pt x="0" y="22906"/>
                </a:lnTo>
                <a:lnTo>
                  <a:pt x="0" y="634"/>
                </a:lnTo>
                <a:lnTo>
                  <a:pt x="21416" y="0"/>
                </a:lnTo>
                <a:lnTo>
                  <a:pt x="49412" y="1258"/>
                </a:lnTo>
                <a:lnTo>
                  <a:pt x="57686" y="156"/>
                </a:lnTo>
                <a:lnTo>
                  <a:pt x="57686" y="2290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9" name="Illustrative delivered road transport cost class 2; reference terminal Durban"/>
          <p:cNvSpPr/>
          <p:nvPr/>
        </p:nvSpPr>
        <p:spPr>
          <a:xfrm>
            <a:off x="3761921" y="5325173"/>
            <a:ext cx="57687" cy="18354"/>
          </a:xfrm>
          <a:custGeom>
            <a:avLst/>
            <a:gdLst/>
            <a:ahLst/>
            <a:cxnLst/>
            <a:rect l="l" t="t" r="r" b="b"/>
            <a:pathLst>
              <a:path w="57687" h="18354">
                <a:moveTo>
                  <a:pt x="0" y="0"/>
                </a:moveTo>
                <a:lnTo>
                  <a:pt x="57687" y="0"/>
                </a:lnTo>
                <a:lnTo>
                  <a:pt x="57687" y="18354"/>
                </a:lnTo>
                <a:lnTo>
                  <a:pt x="44123" y="17079"/>
                </a:lnTo>
                <a:lnTo>
                  <a:pt x="0" y="536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0" name="Illustrative delivered road transport cost class 2; reference terminal Durban"/>
          <p:cNvSpPr/>
          <p:nvPr/>
        </p:nvSpPr>
        <p:spPr>
          <a:xfrm>
            <a:off x="376192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1" name="Illustrative delivered road transport cost class 3; reference terminal Durban"/>
          <p:cNvSpPr/>
          <p:nvPr/>
        </p:nvSpPr>
        <p:spPr>
          <a:xfrm>
            <a:off x="376192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2" name="Illustrative delivered road transport cost class 3; reference terminal Durban"/>
          <p:cNvSpPr/>
          <p:nvPr/>
        </p:nvSpPr>
        <p:spPr>
          <a:xfrm>
            <a:off x="376192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3" name="Illustrative delivered road transport cost class 3; reference terminal Durban"/>
          <p:cNvSpPr/>
          <p:nvPr/>
        </p:nvSpPr>
        <p:spPr>
          <a:xfrm>
            <a:off x="376192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4" name="Illustrative delivered road transport cost class 3; reference terminal Lesedi"/>
          <p:cNvSpPr/>
          <p:nvPr/>
        </p:nvSpPr>
        <p:spPr>
          <a:xfrm>
            <a:off x="376192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5" name="Illustrative delivered road transport cost class 3; reference terminal Lesedi"/>
          <p:cNvSpPr/>
          <p:nvPr/>
        </p:nvSpPr>
        <p:spPr>
          <a:xfrm>
            <a:off x="376192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6" name="Illustrative delivered road transport cost class 3; reference terminal Lesedi"/>
          <p:cNvSpPr/>
          <p:nvPr/>
        </p:nvSpPr>
        <p:spPr>
          <a:xfrm>
            <a:off x="376192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7" name="Illustrative delivered road transport cost class 3; reference terminal Lesedi"/>
          <p:cNvSpPr/>
          <p:nvPr/>
        </p:nvSpPr>
        <p:spPr>
          <a:xfrm>
            <a:off x="376192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8" name="Illustrative delivered road transport cost class 3; reference terminal Lesedi"/>
          <p:cNvSpPr/>
          <p:nvPr/>
        </p:nvSpPr>
        <p:spPr>
          <a:xfrm>
            <a:off x="376192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9" name="Illustrative delivered road transport cost class 3; reference terminal Lesedi"/>
          <p:cNvSpPr/>
          <p:nvPr/>
        </p:nvSpPr>
        <p:spPr>
          <a:xfrm>
            <a:off x="376192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0" name="Illustrative delivered road transport cost class 2; reference terminal Lesedi"/>
          <p:cNvSpPr/>
          <p:nvPr/>
        </p:nvSpPr>
        <p:spPr>
          <a:xfrm>
            <a:off x="376192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1" name="Illustrative delivered road transport cost class 2; reference terminal Lesedi"/>
          <p:cNvSpPr/>
          <p:nvPr/>
        </p:nvSpPr>
        <p:spPr>
          <a:xfrm>
            <a:off x="376192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2" name="Illustrative delivered road transport cost class 2; reference terminal Lesedi"/>
          <p:cNvSpPr/>
          <p:nvPr/>
        </p:nvSpPr>
        <p:spPr>
          <a:xfrm>
            <a:off x="376192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3" name="Illustrative delivered road transport cost class 2; reference terminal Lesedi"/>
          <p:cNvSpPr/>
          <p:nvPr/>
        </p:nvSpPr>
        <p:spPr>
          <a:xfrm>
            <a:off x="376192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4" name="Illustrative delivered road transport cost class 2; reference terminal Lesedi"/>
          <p:cNvSpPr/>
          <p:nvPr/>
        </p:nvSpPr>
        <p:spPr>
          <a:xfrm>
            <a:off x="376192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5" name="Illustrative delivered road transport cost class 2; reference terminal Lesedi"/>
          <p:cNvSpPr/>
          <p:nvPr/>
        </p:nvSpPr>
        <p:spPr>
          <a:xfrm>
            <a:off x="376192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6" name="Illustrative delivered road transport cost class 2; reference terminal Lesedi"/>
          <p:cNvSpPr/>
          <p:nvPr/>
        </p:nvSpPr>
        <p:spPr>
          <a:xfrm>
            <a:off x="376192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7" name="Illustrative delivered road transport cost class 2; reference terminal Lesedi"/>
          <p:cNvSpPr/>
          <p:nvPr/>
        </p:nvSpPr>
        <p:spPr>
          <a:xfrm>
            <a:off x="376192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8" name="Illustrative delivered road transport cost class 2; reference terminal Lesedi"/>
          <p:cNvSpPr/>
          <p:nvPr/>
        </p:nvSpPr>
        <p:spPr>
          <a:xfrm>
            <a:off x="376192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9" name="Illustrative delivered road transport cost class 1; reference terminal Lesedi"/>
          <p:cNvSpPr/>
          <p:nvPr/>
        </p:nvSpPr>
        <p:spPr>
          <a:xfrm>
            <a:off x="376192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0" name="Illustrative delivered road transport cost class 1; reference terminal Lesedi"/>
          <p:cNvSpPr/>
          <p:nvPr/>
        </p:nvSpPr>
        <p:spPr>
          <a:xfrm>
            <a:off x="376192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1" name="Illustrative delivered road transport cost class 1; reference terminal Lesedi"/>
          <p:cNvSpPr/>
          <p:nvPr/>
        </p:nvSpPr>
        <p:spPr>
          <a:xfrm>
            <a:off x="376192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2" name="Illustrative delivered road transport cost class 1; reference terminal Lesedi"/>
          <p:cNvSpPr/>
          <p:nvPr/>
        </p:nvSpPr>
        <p:spPr>
          <a:xfrm>
            <a:off x="376192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3" name="Illustrative delivered road transport cost class 1; reference terminal Lesedi"/>
          <p:cNvSpPr/>
          <p:nvPr/>
        </p:nvSpPr>
        <p:spPr>
          <a:xfrm>
            <a:off x="376192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4" name="Illustrative delivered road transport cost class 1; reference terminal Lesedi"/>
          <p:cNvSpPr/>
          <p:nvPr/>
        </p:nvSpPr>
        <p:spPr>
          <a:xfrm>
            <a:off x="376192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5" name="Illustrative delivered road transport cost class 1; reference terminal Lesedi"/>
          <p:cNvSpPr/>
          <p:nvPr/>
        </p:nvSpPr>
        <p:spPr>
          <a:xfrm>
            <a:off x="376192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6" name="Illustrative delivered road transport cost class 1; reference terminal Lesedi"/>
          <p:cNvSpPr/>
          <p:nvPr/>
        </p:nvSpPr>
        <p:spPr>
          <a:xfrm>
            <a:off x="376192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7" name="Illustrative delivered road transport cost class 1; reference terminal Lesedi"/>
          <p:cNvSpPr/>
          <p:nvPr/>
        </p:nvSpPr>
        <p:spPr>
          <a:xfrm>
            <a:off x="376192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8" name="Illustrative delivered road transport cost class 1; reference terminal Lesedi"/>
          <p:cNvSpPr/>
          <p:nvPr/>
        </p:nvSpPr>
        <p:spPr>
          <a:xfrm>
            <a:off x="376192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9" name="Illustrative delivered road transport cost class 1; reference terminal Lesedi"/>
          <p:cNvSpPr/>
          <p:nvPr/>
        </p:nvSpPr>
        <p:spPr>
          <a:xfrm>
            <a:off x="376192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0" name="Illustrative delivered road transport cost class 1; reference terminal Lesedi"/>
          <p:cNvSpPr/>
          <p:nvPr/>
        </p:nvSpPr>
        <p:spPr>
          <a:xfrm>
            <a:off x="376192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1" name="Illustrative delivered road transport cost class 1; reference terminal Lesedi"/>
          <p:cNvSpPr/>
          <p:nvPr/>
        </p:nvSpPr>
        <p:spPr>
          <a:xfrm>
            <a:off x="376192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2" name="Illustrative delivered road transport cost class 2; reference terminal Lesedi"/>
          <p:cNvSpPr/>
          <p:nvPr/>
        </p:nvSpPr>
        <p:spPr>
          <a:xfrm>
            <a:off x="376192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3" name="Illustrative delivered road transport cost class 2; reference terminal Lesedi"/>
          <p:cNvSpPr/>
          <p:nvPr/>
        </p:nvSpPr>
        <p:spPr>
          <a:xfrm>
            <a:off x="376192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4" name="Illustrative delivered road transport cost class 2; reference terminal Lesedi"/>
          <p:cNvSpPr/>
          <p:nvPr/>
        </p:nvSpPr>
        <p:spPr>
          <a:xfrm>
            <a:off x="376192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5" name="Illustrative delivered road transport cost class 1; reference terminal Lesedi"/>
          <p:cNvSpPr/>
          <p:nvPr/>
        </p:nvSpPr>
        <p:spPr>
          <a:xfrm>
            <a:off x="376192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6" name="Illustrative delivered road transport cost class 1; reference terminal Lesedi"/>
          <p:cNvSpPr/>
          <p:nvPr/>
        </p:nvSpPr>
        <p:spPr>
          <a:xfrm>
            <a:off x="3761921" y="3206715"/>
            <a:ext cx="57687" cy="41741"/>
          </a:xfrm>
          <a:custGeom>
            <a:avLst/>
            <a:gdLst/>
            <a:ahLst/>
            <a:cxnLst/>
            <a:rect l="l" t="t" r="r" b="b"/>
            <a:pathLst>
              <a:path w="57687" h="41741">
                <a:moveTo>
                  <a:pt x="57687" y="41741"/>
                </a:moveTo>
                <a:lnTo>
                  <a:pt x="0" y="41741"/>
                </a:lnTo>
                <a:lnTo>
                  <a:pt x="0" y="18991"/>
                </a:lnTo>
                <a:lnTo>
                  <a:pt x="22493" y="15996"/>
                </a:lnTo>
                <a:lnTo>
                  <a:pt x="45088" y="9556"/>
                </a:lnTo>
                <a:lnTo>
                  <a:pt x="57687" y="0"/>
                </a:lnTo>
                <a:lnTo>
                  <a:pt x="57687" y="41741"/>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7" name="Illustrative delivered road transport cost class 2; reference terminal Durban"/>
          <p:cNvSpPr/>
          <p:nvPr/>
        </p:nvSpPr>
        <p:spPr>
          <a:xfrm>
            <a:off x="3819608" y="5325173"/>
            <a:ext cx="21824" cy="19022"/>
          </a:xfrm>
          <a:custGeom>
            <a:avLst/>
            <a:gdLst/>
            <a:ahLst/>
            <a:cxnLst/>
            <a:rect l="l" t="t" r="r" b="b"/>
            <a:pathLst>
              <a:path w="21824" h="19022">
                <a:moveTo>
                  <a:pt x="0" y="0"/>
                </a:moveTo>
                <a:lnTo>
                  <a:pt x="21824" y="0"/>
                </a:lnTo>
                <a:lnTo>
                  <a:pt x="20794" y="12902"/>
                </a:lnTo>
                <a:lnTo>
                  <a:pt x="7112" y="19022"/>
                </a:lnTo>
                <a:lnTo>
                  <a:pt x="0" y="18354"/>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8" name="Illustrative delivered road transport cost class 2; reference terminal Durban"/>
          <p:cNvSpPr/>
          <p:nvPr/>
        </p:nvSpPr>
        <p:spPr>
          <a:xfrm>
            <a:off x="3819608" y="5267486"/>
            <a:ext cx="57686" cy="57687"/>
          </a:xfrm>
          <a:custGeom>
            <a:avLst/>
            <a:gdLst/>
            <a:ahLst/>
            <a:cxnLst/>
            <a:rect l="l" t="t" r="r" b="b"/>
            <a:pathLst>
              <a:path w="57686" h="57687">
                <a:moveTo>
                  <a:pt x="0" y="57687"/>
                </a:moveTo>
                <a:lnTo>
                  <a:pt x="0" y="0"/>
                </a:lnTo>
                <a:lnTo>
                  <a:pt x="57686" y="0"/>
                </a:lnTo>
                <a:lnTo>
                  <a:pt x="57686" y="657"/>
                </a:lnTo>
                <a:lnTo>
                  <a:pt x="57101" y="750"/>
                </a:lnTo>
                <a:lnTo>
                  <a:pt x="24090" y="29307"/>
                </a:lnTo>
                <a:lnTo>
                  <a:pt x="21824"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9" name="Illustrative delivered road transport cost class 2; reference terminal Durban"/>
          <p:cNvSpPr/>
          <p:nvPr/>
        </p:nvSpPr>
        <p:spPr>
          <a:xfrm>
            <a:off x="3819608"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0" name="Illustrative delivered road transport cost class 2; reference terminal Durban"/>
          <p:cNvSpPr/>
          <p:nvPr/>
        </p:nvSpPr>
        <p:spPr>
          <a:xfrm>
            <a:off x="3819608"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1" name="Illustrative delivered road transport cost class 3; reference terminal Durban"/>
          <p:cNvSpPr/>
          <p:nvPr/>
        </p:nvSpPr>
        <p:spPr>
          <a:xfrm>
            <a:off x="3819608"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2" name="Illustrative delivered road transport cost class 3; reference terminal Lesedi"/>
          <p:cNvSpPr/>
          <p:nvPr/>
        </p:nvSpPr>
        <p:spPr>
          <a:xfrm>
            <a:off x="3819608"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3" name="Illustrative delivered road transport cost class 3; reference terminal Lesedi"/>
          <p:cNvSpPr/>
          <p:nvPr/>
        </p:nvSpPr>
        <p:spPr>
          <a:xfrm>
            <a:off x="3819608"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4" name="Illustrative delivered road transport cost class 3; reference terminal Lesedi"/>
          <p:cNvSpPr/>
          <p:nvPr/>
        </p:nvSpPr>
        <p:spPr>
          <a:xfrm>
            <a:off x="3819608"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5" name="Illustrative delivered road transport cost class 3; reference terminal Lesedi"/>
          <p:cNvSpPr/>
          <p:nvPr/>
        </p:nvSpPr>
        <p:spPr>
          <a:xfrm>
            <a:off x="3819608"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6" name="Illustrative delivered road transport cost class 3; reference terminal Lesedi"/>
          <p:cNvSpPr/>
          <p:nvPr/>
        </p:nvSpPr>
        <p:spPr>
          <a:xfrm>
            <a:off x="3819608"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7" name="Illustrative delivered road transport cost class 3; reference terminal Lesedi"/>
          <p:cNvSpPr/>
          <p:nvPr/>
        </p:nvSpPr>
        <p:spPr>
          <a:xfrm>
            <a:off x="3819608"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8" name="Illustrative delivered road transport cost class 3; reference terminal Lesedi"/>
          <p:cNvSpPr/>
          <p:nvPr/>
        </p:nvSpPr>
        <p:spPr>
          <a:xfrm>
            <a:off x="3819608"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9" name="Illustrative delivered road transport cost class 2; reference terminal Lesedi"/>
          <p:cNvSpPr/>
          <p:nvPr/>
        </p:nvSpPr>
        <p:spPr>
          <a:xfrm>
            <a:off x="3819608"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0" name="Illustrative delivered road transport cost class 2; reference terminal Lesedi"/>
          <p:cNvSpPr/>
          <p:nvPr/>
        </p:nvSpPr>
        <p:spPr>
          <a:xfrm>
            <a:off x="3819608"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1" name="Illustrative delivered road transport cost class 2; reference terminal Lesedi"/>
          <p:cNvSpPr/>
          <p:nvPr/>
        </p:nvSpPr>
        <p:spPr>
          <a:xfrm>
            <a:off x="3819608"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2" name="Illustrative delivered road transport cost class 2; reference terminal Lesedi"/>
          <p:cNvSpPr/>
          <p:nvPr/>
        </p:nvSpPr>
        <p:spPr>
          <a:xfrm>
            <a:off x="3819608"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3" name="Illustrative delivered road transport cost class 2; reference terminal Lesedi"/>
          <p:cNvSpPr/>
          <p:nvPr/>
        </p:nvSpPr>
        <p:spPr>
          <a:xfrm>
            <a:off x="3819608"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4" name="Illustrative delivered road transport cost class 2; reference terminal Lesedi"/>
          <p:cNvSpPr/>
          <p:nvPr/>
        </p:nvSpPr>
        <p:spPr>
          <a:xfrm>
            <a:off x="381960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5" name="Illustrative delivered road transport cost class 1; reference terminal Lesedi"/>
          <p:cNvSpPr/>
          <p:nvPr/>
        </p:nvSpPr>
        <p:spPr>
          <a:xfrm>
            <a:off x="381960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6" name="Illustrative delivered road transport cost class 1; reference terminal Lesedi"/>
          <p:cNvSpPr/>
          <p:nvPr/>
        </p:nvSpPr>
        <p:spPr>
          <a:xfrm>
            <a:off x="381960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7" name="Illustrative delivered road transport cost class 1; reference terminal Lesedi"/>
          <p:cNvSpPr/>
          <p:nvPr/>
        </p:nvSpPr>
        <p:spPr>
          <a:xfrm>
            <a:off x="381960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8" name="Illustrative delivered road transport cost class 1; reference terminal Lesedi"/>
          <p:cNvSpPr/>
          <p:nvPr/>
        </p:nvSpPr>
        <p:spPr>
          <a:xfrm>
            <a:off x="381960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9" name="Illustrative delivered road transport cost class 1; reference terminal Lesedi"/>
          <p:cNvSpPr/>
          <p:nvPr/>
        </p:nvSpPr>
        <p:spPr>
          <a:xfrm>
            <a:off x="381960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0" name="Illustrative delivered road transport cost class 1; reference terminal Lesedi"/>
          <p:cNvSpPr/>
          <p:nvPr/>
        </p:nvSpPr>
        <p:spPr>
          <a:xfrm>
            <a:off x="3819608"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1" name="Illustrative delivered road transport cost class 1; reference terminal Lesedi"/>
          <p:cNvSpPr/>
          <p:nvPr/>
        </p:nvSpPr>
        <p:spPr>
          <a:xfrm>
            <a:off x="3819608"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2" name="Illustrative delivered road transport cost class 1; reference terminal Lesedi"/>
          <p:cNvSpPr/>
          <p:nvPr/>
        </p:nvSpPr>
        <p:spPr>
          <a:xfrm>
            <a:off x="3819608"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3" name="Illustrative delivered road transport cost class 1; reference terminal Lesedi"/>
          <p:cNvSpPr/>
          <p:nvPr/>
        </p:nvSpPr>
        <p:spPr>
          <a:xfrm>
            <a:off x="3819608"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4" name="Illustrative delivered road transport cost class 1; reference terminal Lesedi"/>
          <p:cNvSpPr/>
          <p:nvPr/>
        </p:nvSpPr>
        <p:spPr>
          <a:xfrm>
            <a:off x="3819608"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5" name="Illustrative delivered road transport cost class 1; reference terminal Lesedi"/>
          <p:cNvSpPr/>
          <p:nvPr/>
        </p:nvSpPr>
        <p:spPr>
          <a:xfrm>
            <a:off x="3819608"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6" name="Illustrative delivered road transport cost class 1; reference terminal Lesedi"/>
          <p:cNvSpPr/>
          <p:nvPr/>
        </p:nvSpPr>
        <p:spPr>
          <a:xfrm>
            <a:off x="3819608"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7" name="Illustrative delivered road transport cost class 1; reference terminal Lesedi"/>
          <p:cNvSpPr/>
          <p:nvPr/>
        </p:nvSpPr>
        <p:spPr>
          <a:xfrm>
            <a:off x="3819608"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8" name="Illustrative delivered road transport cost class 1; reference terminal Lesedi"/>
          <p:cNvSpPr/>
          <p:nvPr/>
        </p:nvSpPr>
        <p:spPr>
          <a:xfrm>
            <a:off x="3819608"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9" name="Illustrative delivered road transport cost class 1; reference terminal Lesedi"/>
          <p:cNvSpPr/>
          <p:nvPr/>
        </p:nvSpPr>
        <p:spPr>
          <a:xfrm>
            <a:off x="3819608"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0" name="Illustrative delivered road transport cost class 1; reference terminal Lesedi"/>
          <p:cNvSpPr/>
          <p:nvPr/>
        </p:nvSpPr>
        <p:spPr>
          <a:xfrm>
            <a:off x="3819608"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1" name="Illustrative delivered road transport cost class 3; reference terminal Lesedi"/>
          <p:cNvSpPr/>
          <p:nvPr/>
        </p:nvSpPr>
        <p:spPr>
          <a:xfrm>
            <a:off x="3819608"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2" name="Illustrative delivered road transport cost class 1; reference terminal Lesedi"/>
          <p:cNvSpPr/>
          <p:nvPr/>
        </p:nvSpPr>
        <p:spPr>
          <a:xfrm>
            <a:off x="3819608"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3" name="Illustrative delivered road transport cost class 1; reference terminal Lesedi"/>
          <p:cNvSpPr/>
          <p:nvPr/>
        </p:nvSpPr>
        <p:spPr>
          <a:xfrm>
            <a:off x="3819608"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4" name="Illustrative delivered road transport cost class 1; reference terminal Lesedi"/>
          <p:cNvSpPr/>
          <p:nvPr/>
        </p:nvSpPr>
        <p:spPr>
          <a:xfrm>
            <a:off x="3819608" y="3190770"/>
            <a:ext cx="57686" cy="57686"/>
          </a:xfrm>
          <a:custGeom>
            <a:avLst/>
            <a:gdLst/>
            <a:ahLst/>
            <a:cxnLst/>
            <a:rect l="l" t="t" r="r" b="b"/>
            <a:pathLst>
              <a:path w="57686" h="57686">
                <a:moveTo>
                  <a:pt x="57686" y="0"/>
                </a:moveTo>
                <a:lnTo>
                  <a:pt x="57686" y="57686"/>
                </a:lnTo>
                <a:lnTo>
                  <a:pt x="0" y="57686"/>
                </a:lnTo>
                <a:lnTo>
                  <a:pt x="0" y="15945"/>
                </a:lnTo>
                <a:lnTo>
                  <a:pt x="4715" y="12368"/>
                </a:lnTo>
                <a:lnTo>
                  <a:pt x="17853"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5" name="Illustrative delivered road transport cost class 1; reference terminal Lesedi"/>
          <p:cNvSpPr/>
          <p:nvPr/>
        </p:nvSpPr>
        <p:spPr>
          <a:xfrm>
            <a:off x="3837461" y="3133083"/>
            <a:ext cx="39833" cy="57687"/>
          </a:xfrm>
          <a:custGeom>
            <a:avLst/>
            <a:gdLst/>
            <a:ahLst/>
            <a:cxnLst/>
            <a:rect l="l" t="t" r="r" b="b"/>
            <a:pathLst>
              <a:path w="39833" h="57687">
                <a:moveTo>
                  <a:pt x="39833" y="0"/>
                </a:moveTo>
                <a:lnTo>
                  <a:pt x="39833" y="57687"/>
                </a:lnTo>
                <a:lnTo>
                  <a:pt x="0" y="57687"/>
                </a:lnTo>
                <a:lnTo>
                  <a:pt x="2137" y="55675"/>
                </a:lnTo>
                <a:lnTo>
                  <a:pt x="19837" y="12745"/>
                </a:lnTo>
                <a:lnTo>
                  <a:pt x="23626" y="0"/>
                </a:lnTo>
                <a:lnTo>
                  <a:pt x="39833"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6" name="Illustrative delivered road transport cost class 1; reference terminal Lesedi"/>
          <p:cNvSpPr/>
          <p:nvPr/>
        </p:nvSpPr>
        <p:spPr>
          <a:xfrm>
            <a:off x="3861087" y="3086937"/>
            <a:ext cx="16207" cy="46146"/>
          </a:xfrm>
          <a:custGeom>
            <a:avLst/>
            <a:gdLst/>
            <a:ahLst/>
            <a:cxnLst/>
            <a:rect l="l" t="t" r="r" b="b"/>
            <a:pathLst>
              <a:path w="16207" h="46146">
                <a:moveTo>
                  <a:pt x="16207" y="46146"/>
                </a:moveTo>
                <a:lnTo>
                  <a:pt x="0" y="46146"/>
                </a:lnTo>
                <a:lnTo>
                  <a:pt x="6489" y="24315"/>
                </a:lnTo>
                <a:lnTo>
                  <a:pt x="16207" y="0"/>
                </a:lnTo>
                <a:lnTo>
                  <a:pt x="16207" y="4614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7" name="Illustrative delivered road transport cost class 2; reference terminal Durban"/>
          <p:cNvSpPr/>
          <p:nvPr/>
        </p:nvSpPr>
        <p:spPr>
          <a:xfrm>
            <a:off x="3877294" y="5209799"/>
            <a:ext cx="57687" cy="57687"/>
          </a:xfrm>
          <a:custGeom>
            <a:avLst/>
            <a:gdLst/>
            <a:ahLst/>
            <a:cxnLst/>
            <a:rect l="l" t="t" r="r" b="b"/>
            <a:pathLst>
              <a:path w="57687" h="57687">
                <a:moveTo>
                  <a:pt x="0" y="57687"/>
                </a:moveTo>
                <a:lnTo>
                  <a:pt x="0" y="0"/>
                </a:lnTo>
                <a:lnTo>
                  <a:pt x="57687" y="0"/>
                </a:lnTo>
                <a:lnTo>
                  <a:pt x="57687" y="54833"/>
                </a:lnTo>
                <a:lnTo>
                  <a:pt x="38789" y="52153"/>
                </a:lnTo>
                <a:lnTo>
                  <a:pt x="4115"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8" name="Illustrative delivered road transport cost class 2; reference terminal Durban"/>
          <p:cNvSpPr/>
          <p:nvPr/>
        </p:nvSpPr>
        <p:spPr>
          <a:xfrm>
            <a:off x="387729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9" name="Illustrative delivered road transport cost class 2; reference terminal Durban"/>
          <p:cNvSpPr/>
          <p:nvPr/>
        </p:nvSpPr>
        <p:spPr>
          <a:xfrm>
            <a:off x="387729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0" name="Illustrative delivered road transport cost class 2; reference terminal Durban"/>
          <p:cNvSpPr/>
          <p:nvPr/>
        </p:nvSpPr>
        <p:spPr>
          <a:xfrm>
            <a:off x="387729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1" name="Illustrative delivered road transport cost class 3; reference terminal Lesedi"/>
          <p:cNvSpPr/>
          <p:nvPr/>
        </p:nvSpPr>
        <p:spPr>
          <a:xfrm>
            <a:off x="387729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2" name="Illustrative delivered road transport cost class 3; reference terminal Lesedi"/>
          <p:cNvSpPr/>
          <p:nvPr/>
        </p:nvSpPr>
        <p:spPr>
          <a:xfrm>
            <a:off x="387729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3" name="Illustrative delivered road transport cost class 2; reference terminal Durban"/>
          <p:cNvSpPr/>
          <p:nvPr/>
        </p:nvSpPr>
        <p:spPr>
          <a:xfrm>
            <a:off x="387729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4" name="Illustrative delivered road transport cost class 2; reference terminal Durban"/>
          <p:cNvSpPr/>
          <p:nvPr/>
        </p:nvSpPr>
        <p:spPr>
          <a:xfrm>
            <a:off x="387729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5" name="Illustrative delivered road transport cost class 2; reference terminal Durban"/>
          <p:cNvSpPr/>
          <p:nvPr/>
        </p:nvSpPr>
        <p:spPr>
          <a:xfrm>
            <a:off x="387729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 name="Illustrative delivered road transport cost class 2; reference terminal Durban"/>
          <p:cNvSpPr/>
          <p:nvPr/>
        </p:nvSpPr>
        <p:spPr>
          <a:xfrm>
            <a:off x="387729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 name="Illustrative delivered road transport cost class 2; reference terminal Lesedi"/>
          <p:cNvSpPr/>
          <p:nvPr/>
        </p:nvSpPr>
        <p:spPr>
          <a:xfrm>
            <a:off x="387729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 name="Illustrative delivered road transport cost class 2; reference terminal Lesedi"/>
          <p:cNvSpPr/>
          <p:nvPr/>
        </p:nvSpPr>
        <p:spPr>
          <a:xfrm>
            <a:off x="387729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 name="Illustrative delivered road transport cost class 2; reference terminal Lesedi"/>
          <p:cNvSpPr/>
          <p:nvPr/>
        </p:nvSpPr>
        <p:spPr>
          <a:xfrm>
            <a:off x="387729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 name="Illustrative delivered road transport cost class 2; reference terminal Lesedi"/>
          <p:cNvSpPr/>
          <p:nvPr/>
        </p:nvSpPr>
        <p:spPr>
          <a:xfrm>
            <a:off x="387729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1" name="Illustrative delivered road transport cost class 2; reference terminal Lesedi"/>
          <p:cNvSpPr/>
          <p:nvPr/>
        </p:nvSpPr>
        <p:spPr>
          <a:xfrm>
            <a:off x="387729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2" name="Illustrative delivered road transport cost class 2; reference terminal Lesedi"/>
          <p:cNvSpPr/>
          <p:nvPr/>
        </p:nvSpPr>
        <p:spPr>
          <a:xfrm>
            <a:off x="387729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3" name="Illustrative delivered road transport cost class 1; reference terminal Lesedi"/>
          <p:cNvSpPr/>
          <p:nvPr/>
        </p:nvSpPr>
        <p:spPr>
          <a:xfrm>
            <a:off x="387729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4" name="Illustrative delivered road transport cost class 1; reference terminal Lesedi"/>
          <p:cNvSpPr/>
          <p:nvPr/>
        </p:nvSpPr>
        <p:spPr>
          <a:xfrm>
            <a:off x="387729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5" name="Illustrative delivered road transport cost class 1; reference terminal Lesedi"/>
          <p:cNvSpPr/>
          <p:nvPr/>
        </p:nvSpPr>
        <p:spPr>
          <a:xfrm>
            <a:off x="387729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6" name="Illustrative delivered road transport cost class 1; reference terminal Lesedi"/>
          <p:cNvSpPr/>
          <p:nvPr/>
        </p:nvSpPr>
        <p:spPr>
          <a:xfrm>
            <a:off x="387729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7" name="Illustrative delivered road transport cost class 1; reference terminal Lesedi"/>
          <p:cNvSpPr/>
          <p:nvPr/>
        </p:nvSpPr>
        <p:spPr>
          <a:xfrm>
            <a:off x="387729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8" name="Illustrative delivered road transport cost class 1; reference terminal Lesedi"/>
          <p:cNvSpPr/>
          <p:nvPr/>
        </p:nvSpPr>
        <p:spPr>
          <a:xfrm>
            <a:off x="387729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9" name="Illustrative delivered road transport cost class 1; reference terminal Lesedi"/>
          <p:cNvSpPr/>
          <p:nvPr/>
        </p:nvSpPr>
        <p:spPr>
          <a:xfrm>
            <a:off x="387729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0" name="Illustrative delivered road transport cost class 1; reference terminal Lesedi"/>
          <p:cNvSpPr/>
          <p:nvPr/>
        </p:nvSpPr>
        <p:spPr>
          <a:xfrm>
            <a:off x="387729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1" name="Illustrative delivered road transport cost class 1; reference terminal Lesedi"/>
          <p:cNvSpPr/>
          <p:nvPr/>
        </p:nvSpPr>
        <p:spPr>
          <a:xfrm>
            <a:off x="387729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2" name="Illustrative delivered road transport cost class 1; reference terminal Lesedi"/>
          <p:cNvSpPr/>
          <p:nvPr/>
        </p:nvSpPr>
        <p:spPr>
          <a:xfrm>
            <a:off x="387729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3" name="Illustrative delivered road transport cost class 1; reference terminal Lesedi"/>
          <p:cNvSpPr/>
          <p:nvPr/>
        </p:nvSpPr>
        <p:spPr>
          <a:xfrm>
            <a:off x="387729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4" name="Illustrative delivered road transport cost class 1; reference terminal Lesedi"/>
          <p:cNvSpPr/>
          <p:nvPr/>
        </p:nvSpPr>
        <p:spPr>
          <a:xfrm>
            <a:off x="387729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5" name="Illustrative delivered road transport cost class 0; reference terminal Lesedi"/>
          <p:cNvSpPr/>
          <p:nvPr/>
        </p:nvSpPr>
        <p:spPr>
          <a:xfrm>
            <a:off x="387729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6" name="Illustrative delivered road transport cost class 0; reference terminal Lesedi"/>
          <p:cNvSpPr/>
          <p:nvPr/>
        </p:nvSpPr>
        <p:spPr>
          <a:xfrm>
            <a:off x="387729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7" name="Illustrative delivered road transport cost class 0; reference terminal Lesedi"/>
          <p:cNvSpPr/>
          <p:nvPr/>
        </p:nvSpPr>
        <p:spPr>
          <a:xfrm>
            <a:off x="387729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8" name="Illustrative delivered road transport cost class 0; reference terminal Lesedi"/>
          <p:cNvSpPr/>
          <p:nvPr/>
        </p:nvSpPr>
        <p:spPr>
          <a:xfrm>
            <a:off x="387729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9" name="Illustrative delivered road transport cost class 0; reference terminal Lesedi"/>
          <p:cNvSpPr/>
          <p:nvPr/>
        </p:nvSpPr>
        <p:spPr>
          <a:xfrm>
            <a:off x="387729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0" name="Illustrative delivered road transport cost class 1; reference terminal Lesedi"/>
          <p:cNvSpPr/>
          <p:nvPr/>
        </p:nvSpPr>
        <p:spPr>
          <a:xfrm>
            <a:off x="387729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1" name="Illustrative delivered road transport cost class 1; reference terminal Lesedi"/>
          <p:cNvSpPr/>
          <p:nvPr/>
        </p:nvSpPr>
        <p:spPr>
          <a:xfrm>
            <a:off x="387729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2" name="Illustrative delivered road transport cost class 1; reference terminal Lesedi"/>
          <p:cNvSpPr/>
          <p:nvPr/>
        </p:nvSpPr>
        <p:spPr>
          <a:xfrm>
            <a:off x="387729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3" name="Illustrative delivered road transport cost class 1; reference terminal Lesedi"/>
          <p:cNvSpPr/>
          <p:nvPr/>
        </p:nvSpPr>
        <p:spPr>
          <a:xfrm>
            <a:off x="387729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4" name="Illustrative delivered road transport cost class 1; reference terminal Lesedi"/>
          <p:cNvSpPr/>
          <p:nvPr/>
        </p:nvSpPr>
        <p:spPr>
          <a:xfrm>
            <a:off x="3877294" y="3075396"/>
            <a:ext cx="57687" cy="57687"/>
          </a:xfrm>
          <a:custGeom>
            <a:avLst/>
            <a:gdLst/>
            <a:ahLst/>
            <a:cxnLst/>
            <a:rect l="l" t="t" r="r" b="b"/>
            <a:pathLst>
              <a:path w="57687" h="57687">
                <a:moveTo>
                  <a:pt x="57687" y="0"/>
                </a:moveTo>
                <a:lnTo>
                  <a:pt x="57687" y="57687"/>
                </a:lnTo>
                <a:lnTo>
                  <a:pt x="0" y="57687"/>
                </a:lnTo>
                <a:lnTo>
                  <a:pt x="0" y="11541"/>
                </a:lnTo>
                <a:lnTo>
                  <a:pt x="461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5" name="Illustrative delivered road transport cost class 1; reference terminal Lesedi"/>
          <p:cNvSpPr/>
          <p:nvPr/>
        </p:nvSpPr>
        <p:spPr>
          <a:xfrm>
            <a:off x="3881907" y="3017710"/>
            <a:ext cx="53074" cy="57686"/>
          </a:xfrm>
          <a:custGeom>
            <a:avLst/>
            <a:gdLst/>
            <a:ahLst/>
            <a:cxnLst/>
            <a:rect l="l" t="t" r="r" b="b"/>
            <a:pathLst>
              <a:path w="53074" h="57686">
                <a:moveTo>
                  <a:pt x="53074" y="0"/>
                </a:moveTo>
                <a:lnTo>
                  <a:pt x="53074" y="57686"/>
                </a:lnTo>
                <a:lnTo>
                  <a:pt x="0" y="57686"/>
                </a:lnTo>
                <a:lnTo>
                  <a:pt x="1547" y="53815"/>
                </a:lnTo>
                <a:lnTo>
                  <a:pt x="21099" y="0"/>
                </a:lnTo>
                <a:lnTo>
                  <a:pt x="5307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6" name="Illustrative delivered road transport cost class 1; reference terminal Lesedi"/>
          <p:cNvSpPr/>
          <p:nvPr/>
        </p:nvSpPr>
        <p:spPr>
          <a:xfrm>
            <a:off x="3903006" y="2962694"/>
            <a:ext cx="31975" cy="55016"/>
          </a:xfrm>
          <a:custGeom>
            <a:avLst/>
            <a:gdLst/>
            <a:ahLst/>
            <a:cxnLst/>
            <a:rect l="l" t="t" r="r" b="b"/>
            <a:pathLst>
              <a:path w="31975" h="55016">
                <a:moveTo>
                  <a:pt x="31975" y="55016"/>
                </a:moveTo>
                <a:lnTo>
                  <a:pt x="0" y="55016"/>
                </a:lnTo>
                <a:lnTo>
                  <a:pt x="8" y="54996"/>
                </a:lnTo>
                <a:lnTo>
                  <a:pt x="7115" y="17425"/>
                </a:lnTo>
                <a:lnTo>
                  <a:pt x="14254" y="7124"/>
                </a:lnTo>
                <a:lnTo>
                  <a:pt x="31975" y="0"/>
                </a:lnTo>
                <a:lnTo>
                  <a:pt x="31975" y="5501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7" name="Illustrative delivered road transport cost class 2; reference terminal Durban"/>
          <p:cNvSpPr/>
          <p:nvPr/>
        </p:nvSpPr>
        <p:spPr>
          <a:xfrm>
            <a:off x="3955112" y="5267486"/>
            <a:ext cx="37555" cy="5325"/>
          </a:xfrm>
          <a:custGeom>
            <a:avLst/>
            <a:gdLst/>
            <a:ahLst/>
            <a:cxnLst/>
            <a:rect l="l" t="t" r="r" b="b"/>
            <a:pathLst>
              <a:path w="37555" h="5325">
                <a:moveTo>
                  <a:pt x="37555" y="0"/>
                </a:moveTo>
                <a:lnTo>
                  <a:pt x="37555" y="5325"/>
                </a:lnTo>
                <a:lnTo>
                  <a:pt x="0" y="0"/>
                </a:lnTo>
                <a:lnTo>
                  <a:pt x="37555"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8" name="Illustrative delivered road transport cost class 2; reference terminal Durban"/>
          <p:cNvSpPr/>
          <p:nvPr/>
        </p:nvSpPr>
        <p:spPr>
          <a:xfrm>
            <a:off x="3934981" y="5209799"/>
            <a:ext cx="57686" cy="57687"/>
          </a:xfrm>
          <a:custGeom>
            <a:avLst/>
            <a:gdLst/>
            <a:ahLst/>
            <a:cxnLst/>
            <a:rect l="l" t="t" r="r" b="b"/>
            <a:pathLst>
              <a:path w="57686" h="57687">
                <a:moveTo>
                  <a:pt x="0" y="0"/>
                </a:moveTo>
                <a:lnTo>
                  <a:pt x="57686" y="0"/>
                </a:lnTo>
                <a:lnTo>
                  <a:pt x="57686" y="57687"/>
                </a:lnTo>
                <a:lnTo>
                  <a:pt x="20131" y="57687"/>
                </a:lnTo>
                <a:lnTo>
                  <a:pt x="0" y="5483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9" name="Illustrative delivered road transport cost class 2; reference terminal Durban"/>
          <p:cNvSpPr/>
          <p:nvPr/>
        </p:nvSpPr>
        <p:spPr>
          <a:xfrm>
            <a:off x="3934981"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0" name="Illustrative delivered road transport cost class 2; reference terminal Durban"/>
          <p:cNvSpPr/>
          <p:nvPr/>
        </p:nvSpPr>
        <p:spPr>
          <a:xfrm>
            <a:off x="393498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1" name="Illustrative delivered road transport cost class 2; reference terminal Durban"/>
          <p:cNvSpPr/>
          <p:nvPr/>
        </p:nvSpPr>
        <p:spPr>
          <a:xfrm>
            <a:off x="393498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2" name="Illustrative delivered road transport cost class 3; reference terminal Lesedi"/>
          <p:cNvSpPr/>
          <p:nvPr/>
        </p:nvSpPr>
        <p:spPr>
          <a:xfrm>
            <a:off x="393498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3" name="Illustrative delivered road transport cost class 2; reference terminal Durban"/>
          <p:cNvSpPr/>
          <p:nvPr/>
        </p:nvSpPr>
        <p:spPr>
          <a:xfrm>
            <a:off x="393498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4" name="Illustrative delivered road transport cost class 2; reference terminal Durban"/>
          <p:cNvSpPr/>
          <p:nvPr/>
        </p:nvSpPr>
        <p:spPr>
          <a:xfrm>
            <a:off x="393498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5" name="Illustrative delivered road transport cost class 2; reference terminal Durban"/>
          <p:cNvSpPr/>
          <p:nvPr/>
        </p:nvSpPr>
        <p:spPr>
          <a:xfrm>
            <a:off x="393498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6" name="Illustrative delivered road transport cost class 2; reference terminal Durban"/>
          <p:cNvSpPr/>
          <p:nvPr/>
        </p:nvSpPr>
        <p:spPr>
          <a:xfrm>
            <a:off x="393498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7" name="Illustrative delivered road transport cost class 2; reference terminal Durban"/>
          <p:cNvSpPr/>
          <p:nvPr/>
        </p:nvSpPr>
        <p:spPr>
          <a:xfrm>
            <a:off x="393498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8" name="Illustrative delivered road transport cost class 2; reference terminal Lesedi"/>
          <p:cNvSpPr/>
          <p:nvPr/>
        </p:nvSpPr>
        <p:spPr>
          <a:xfrm>
            <a:off x="393498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9" name="Illustrative delivered road transport cost class 2; reference terminal Lesedi"/>
          <p:cNvSpPr/>
          <p:nvPr/>
        </p:nvSpPr>
        <p:spPr>
          <a:xfrm>
            <a:off x="393498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0" name="Illustrative delivered road transport cost class 2; reference terminal Lesedi"/>
          <p:cNvSpPr/>
          <p:nvPr/>
        </p:nvSpPr>
        <p:spPr>
          <a:xfrm>
            <a:off x="393498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1" name="Illustrative delivered road transport cost class 2; reference terminal Lesedi"/>
          <p:cNvSpPr/>
          <p:nvPr/>
        </p:nvSpPr>
        <p:spPr>
          <a:xfrm>
            <a:off x="393498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2" name="Illustrative delivered road transport cost class 2; reference terminal Lesedi"/>
          <p:cNvSpPr/>
          <p:nvPr/>
        </p:nvSpPr>
        <p:spPr>
          <a:xfrm>
            <a:off x="393498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3" name="Illustrative delivered road transport cost class 2; reference terminal Lesedi"/>
          <p:cNvSpPr/>
          <p:nvPr/>
        </p:nvSpPr>
        <p:spPr>
          <a:xfrm>
            <a:off x="393498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4" name="Illustrative delivered road transport cost class 1; reference terminal Lesedi"/>
          <p:cNvSpPr/>
          <p:nvPr/>
        </p:nvSpPr>
        <p:spPr>
          <a:xfrm>
            <a:off x="393498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5" name="Illustrative delivered road transport cost class 1; reference terminal Lesedi"/>
          <p:cNvSpPr/>
          <p:nvPr/>
        </p:nvSpPr>
        <p:spPr>
          <a:xfrm>
            <a:off x="393498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6" name="Illustrative delivered road transport cost class 1; reference terminal Lesedi"/>
          <p:cNvSpPr/>
          <p:nvPr/>
        </p:nvSpPr>
        <p:spPr>
          <a:xfrm>
            <a:off x="393498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7" name="Illustrative delivered road transport cost class 1; reference terminal Lesedi"/>
          <p:cNvSpPr/>
          <p:nvPr/>
        </p:nvSpPr>
        <p:spPr>
          <a:xfrm>
            <a:off x="393498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8" name="Illustrative delivered road transport cost class 1; reference terminal Lesedi"/>
          <p:cNvSpPr/>
          <p:nvPr/>
        </p:nvSpPr>
        <p:spPr>
          <a:xfrm>
            <a:off x="393498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9" name="Illustrative delivered road transport cost class 1; reference terminal Lesedi"/>
          <p:cNvSpPr/>
          <p:nvPr/>
        </p:nvSpPr>
        <p:spPr>
          <a:xfrm>
            <a:off x="393498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0" name="Illustrative delivered road transport cost class 1; reference terminal Lesedi"/>
          <p:cNvSpPr/>
          <p:nvPr/>
        </p:nvSpPr>
        <p:spPr>
          <a:xfrm>
            <a:off x="393498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1" name="Illustrative delivered road transport cost class 1; reference terminal Lesedi"/>
          <p:cNvSpPr/>
          <p:nvPr/>
        </p:nvSpPr>
        <p:spPr>
          <a:xfrm>
            <a:off x="393498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2" name="Illustrative delivered road transport cost class 1; reference terminal Lesedi"/>
          <p:cNvSpPr/>
          <p:nvPr/>
        </p:nvSpPr>
        <p:spPr>
          <a:xfrm>
            <a:off x="393498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3" name="Illustrative delivered road transport cost class 1; reference terminal Lesedi"/>
          <p:cNvSpPr/>
          <p:nvPr/>
        </p:nvSpPr>
        <p:spPr>
          <a:xfrm>
            <a:off x="393498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4" name="Illustrative delivered road transport cost class 1; reference terminal Lesedi"/>
          <p:cNvSpPr/>
          <p:nvPr/>
        </p:nvSpPr>
        <p:spPr>
          <a:xfrm>
            <a:off x="393498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5" name="Illustrative delivered road transport cost class 0; reference terminal Lesedi"/>
          <p:cNvSpPr/>
          <p:nvPr/>
        </p:nvSpPr>
        <p:spPr>
          <a:xfrm>
            <a:off x="393498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6" name="Illustrative delivered road transport cost class 0; reference terminal Lesedi"/>
          <p:cNvSpPr/>
          <p:nvPr/>
        </p:nvSpPr>
        <p:spPr>
          <a:xfrm>
            <a:off x="393498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7" name="Illustrative delivered road transport cost class 0; reference terminal Lesedi"/>
          <p:cNvSpPr/>
          <p:nvPr/>
        </p:nvSpPr>
        <p:spPr>
          <a:xfrm>
            <a:off x="393498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8" name="Illustrative delivered road transport cost class 0; reference terminal Lesedi"/>
          <p:cNvSpPr/>
          <p:nvPr/>
        </p:nvSpPr>
        <p:spPr>
          <a:xfrm>
            <a:off x="393498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9" name="Illustrative delivered road transport cost class 0; reference terminal Lesedi"/>
          <p:cNvSpPr/>
          <p:nvPr/>
        </p:nvSpPr>
        <p:spPr>
          <a:xfrm>
            <a:off x="393498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0" name="Illustrative delivered road transport cost class 0; reference terminal Lesedi"/>
          <p:cNvSpPr/>
          <p:nvPr/>
        </p:nvSpPr>
        <p:spPr>
          <a:xfrm>
            <a:off x="393498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1" name="Illustrative delivered road transport cost class 0; reference terminal Lesedi"/>
          <p:cNvSpPr/>
          <p:nvPr/>
        </p:nvSpPr>
        <p:spPr>
          <a:xfrm>
            <a:off x="393498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2" name="Illustrative delivered road transport cost class 1; reference terminal Lesedi"/>
          <p:cNvSpPr/>
          <p:nvPr/>
        </p:nvSpPr>
        <p:spPr>
          <a:xfrm>
            <a:off x="393498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3" name="Illustrative delivered road transport cost class 1; reference terminal Lesedi"/>
          <p:cNvSpPr/>
          <p:nvPr/>
        </p:nvSpPr>
        <p:spPr>
          <a:xfrm>
            <a:off x="393498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4" name="Illustrative delivered road transport cost class 1; reference terminal Lesedi"/>
          <p:cNvSpPr/>
          <p:nvPr/>
        </p:nvSpPr>
        <p:spPr>
          <a:xfrm>
            <a:off x="393498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5" name="Illustrative delivered road transport cost class 1; reference terminal Lesedi"/>
          <p:cNvSpPr/>
          <p:nvPr/>
        </p:nvSpPr>
        <p:spPr>
          <a:xfrm>
            <a:off x="393498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6" name="Illustrative delivered road transport cost class 1; reference terminal Lesedi"/>
          <p:cNvSpPr/>
          <p:nvPr/>
        </p:nvSpPr>
        <p:spPr>
          <a:xfrm>
            <a:off x="393498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7" name="Illustrative delivered road transport cost class 1; reference terminal Lesedi"/>
          <p:cNvSpPr/>
          <p:nvPr/>
        </p:nvSpPr>
        <p:spPr>
          <a:xfrm>
            <a:off x="3934981" y="2960023"/>
            <a:ext cx="57686" cy="57687"/>
          </a:xfrm>
          <a:custGeom>
            <a:avLst/>
            <a:gdLst/>
            <a:ahLst/>
            <a:cxnLst/>
            <a:rect l="l" t="t" r="r" b="b"/>
            <a:pathLst>
              <a:path w="57686" h="57687">
                <a:moveTo>
                  <a:pt x="57686" y="0"/>
                </a:moveTo>
                <a:lnTo>
                  <a:pt x="57686" y="57687"/>
                </a:lnTo>
                <a:lnTo>
                  <a:pt x="0" y="57687"/>
                </a:lnTo>
                <a:lnTo>
                  <a:pt x="0" y="2671"/>
                </a:lnTo>
                <a:lnTo>
                  <a:pt x="6641"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8" name="Illustrative delivered road transport cost class 1; reference terminal Lesedi"/>
          <p:cNvSpPr/>
          <p:nvPr/>
        </p:nvSpPr>
        <p:spPr>
          <a:xfrm>
            <a:off x="3941622" y="2945357"/>
            <a:ext cx="51045" cy="14666"/>
          </a:xfrm>
          <a:custGeom>
            <a:avLst/>
            <a:gdLst/>
            <a:ahLst/>
            <a:cxnLst/>
            <a:rect l="l" t="t" r="r" b="b"/>
            <a:pathLst>
              <a:path w="51045" h="14666">
                <a:moveTo>
                  <a:pt x="51045" y="14666"/>
                </a:moveTo>
                <a:lnTo>
                  <a:pt x="0" y="14666"/>
                </a:lnTo>
                <a:lnTo>
                  <a:pt x="3690" y="13183"/>
                </a:lnTo>
                <a:lnTo>
                  <a:pt x="26892" y="5479"/>
                </a:lnTo>
                <a:lnTo>
                  <a:pt x="51045" y="0"/>
                </a:lnTo>
                <a:lnTo>
                  <a:pt x="51045" y="1466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9" name="Illustrative delivered road transport cost class 2; reference terminal Durban"/>
          <p:cNvSpPr/>
          <p:nvPr/>
        </p:nvSpPr>
        <p:spPr>
          <a:xfrm>
            <a:off x="3992667" y="5267486"/>
            <a:ext cx="41532" cy="7796"/>
          </a:xfrm>
          <a:custGeom>
            <a:avLst/>
            <a:gdLst/>
            <a:ahLst/>
            <a:cxnLst/>
            <a:rect l="l" t="t" r="r" b="b"/>
            <a:pathLst>
              <a:path w="41532" h="7796">
                <a:moveTo>
                  <a:pt x="0" y="0"/>
                </a:moveTo>
                <a:lnTo>
                  <a:pt x="41532" y="0"/>
                </a:lnTo>
                <a:lnTo>
                  <a:pt x="17428" y="7796"/>
                </a:lnTo>
                <a:lnTo>
                  <a:pt x="0" y="5325"/>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0" name="Illustrative delivered road transport cost class 2; reference terminal Durban"/>
          <p:cNvSpPr/>
          <p:nvPr/>
        </p:nvSpPr>
        <p:spPr>
          <a:xfrm>
            <a:off x="3992667" y="5209799"/>
            <a:ext cx="57687" cy="57687"/>
          </a:xfrm>
          <a:custGeom>
            <a:avLst/>
            <a:gdLst/>
            <a:ahLst/>
            <a:cxnLst/>
            <a:rect l="l" t="t" r="r" b="b"/>
            <a:pathLst>
              <a:path w="57687" h="57687">
                <a:moveTo>
                  <a:pt x="0" y="57687"/>
                </a:moveTo>
                <a:lnTo>
                  <a:pt x="0" y="0"/>
                </a:lnTo>
                <a:lnTo>
                  <a:pt x="57687" y="0"/>
                </a:lnTo>
                <a:lnTo>
                  <a:pt x="57687" y="52373"/>
                </a:lnTo>
                <a:lnTo>
                  <a:pt x="57034" y="52673"/>
                </a:lnTo>
                <a:lnTo>
                  <a:pt x="4153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1" name="Illustrative delivered road transport cost class 2; reference terminal Durban"/>
          <p:cNvSpPr/>
          <p:nvPr/>
        </p:nvSpPr>
        <p:spPr>
          <a:xfrm>
            <a:off x="399266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2" name="Illustrative delivered road transport cost class 2; reference terminal Durban"/>
          <p:cNvSpPr/>
          <p:nvPr/>
        </p:nvSpPr>
        <p:spPr>
          <a:xfrm>
            <a:off x="399266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3" name="Illustrative delivered road transport cost class 2; reference terminal Durban"/>
          <p:cNvSpPr/>
          <p:nvPr/>
        </p:nvSpPr>
        <p:spPr>
          <a:xfrm>
            <a:off x="399266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4" name="Illustrative delivered road transport cost class 2; reference terminal Durban"/>
          <p:cNvSpPr/>
          <p:nvPr/>
        </p:nvSpPr>
        <p:spPr>
          <a:xfrm>
            <a:off x="399266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5" name="Illustrative delivered road transport cost class 2; reference terminal Durban"/>
          <p:cNvSpPr/>
          <p:nvPr/>
        </p:nvSpPr>
        <p:spPr>
          <a:xfrm>
            <a:off x="399266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6" name="Illustrative delivered road transport cost class 2; reference terminal Durban"/>
          <p:cNvSpPr/>
          <p:nvPr/>
        </p:nvSpPr>
        <p:spPr>
          <a:xfrm>
            <a:off x="399266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7" name="Illustrative delivered road transport cost class 2; reference terminal Durban"/>
          <p:cNvSpPr/>
          <p:nvPr/>
        </p:nvSpPr>
        <p:spPr>
          <a:xfrm>
            <a:off x="399266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8" name="Illustrative delivered road transport cost class 2; reference terminal Durban"/>
          <p:cNvSpPr/>
          <p:nvPr/>
        </p:nvSpPr>
        <p:spPr>
          <a:xfrm>
            <a:off x="399266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9" name="Illustrative delivered road transport cost class 2; reference terminal Lesedi"/>
          <p:cNvSpPr/>
          <p:nvPr/>
        </p:nvSpPr>
        <p:spPr>
          <a:xfrm>
            <a:off x="399266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0" name="Illustrative delivered road transport cost class 2; reference terminal Lesedi"/>
          <p:cNvSpPr/>
          <p:nvPr/>
        </p:nvSpPr>
        <p:spPr>
          <a:xfrm>
            <a:off x="399266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1" name="Illustrative delivered road transport cost class 2; reference terminal Lesedi"/>
          <p:cNvSpPr/>
          <p:nvPr/>
        </p:nvSpPr>
        <p:spPr>
          <a:xfrm>
            <a:off x="399266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2" name="Illustrative delivered road transport cost class 2; reference terminal Lesedi"/>
          <p:cNvSpPr/>
          <p:nvPr/>
        </p:nvSpPr>
        <p:spPr>
          <a:xfrm>
            <a:off x="399266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3" name="Illustrative delivered road transport cost class 2; reference terminal Lesedi"/>
          <p:cNvSpPr/>
          <p:nvPr/>
        </p:nvSpPr>
        <p:spPr>
          <a:xfrm>
            <a:off x="399266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4" name="Illustrative delivered road transport cost class 2; reference terminal Lesedi"/>
          <p:cNvSpPr/>
          <p:nvPr/>
        </p:nvSpPr>
        <p:spPr>
          <a:xfrm>
            <a:off x="399266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5" name="Illustrative delivered road transport cost class 2; reference terminal Lesedi"/>
          <p:cNvSpPr/>
          <p:nvPr/>
        </p:nvSpPr>
        <p:spPr>
          <a:xfrm>
            <a:off x="399266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6" name="Illustrative delivered road transport cost class 1; reference terminal Lesedi"/>
          <p:cNvSpPr/>
          <p:nvPr/>
        </p:nvSpPr>
        <p:spPr>
          <a:xfrm>
            <a:off x="399266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7" name="Illustrative delivered road transport cost class 1; reference terminal Lesedi"/>
          <p:cNvSpPr/>
          <p:nvPr/>
        </p:nvSpPr>
        <p:spPr>
          <a:xfrm>
            <a:off x="399266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8" name="Illustrative delivered road transport cost class 1; reference terminal Lesedi"/>
          <p:cNvSpPr/>
          <p:nvPr/>
        </p:nvSpPr>
        <p:spPr>
          <a:xfrm>
            <a:off x="399266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9" name="Illustrative delivered road transport cost class 1; reference terminal Lesedi"/>
          <p:cNvSpPr/>
          <p:nvPr/>
        </p:nvSpPr>
        <p:spPr>
          <a:xfrm>
            <a:off x="399266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0" name="Illustrative delivered road transport cost class 1; reference terminal Lesedi"/>
          <p:cNvSpPr/>
          <p:nvPr/>
        </p:nvSpPr>
        <p:spPr>
          <a:xfrm>
            <a:off x="399266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1" name="Illustrative delivered road transport cost class 1; reference terminal Lesedi"/>
          <p:cNvSpPr/>
          <p:nvPr/>
        </p:nvSpPr>
        <p:spPr>
          <a:xfrm>
            <a:off x="399266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2" name="Illustrative delivered road transport cost class 1; reference terminal Lesedi"/>
          <p:cNvSpPr/>
          <p:nvPr/>
        </p:nvSpPr>
        <p:spPr>
          <a:xfrm>
            <a:off x="399266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3" name="Illustrative delivered road transport cost class 1; reference terminal Lesedi"/>
          <p:cNvSpPr/>
          <p:nvPr/>
        </p:nvSpPr>
        <p:spPr>
          <a:xfrm>
            <a:off x="399266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4" name="Illustrative delivered road transport cost class 1; reference terminal Lesedi"/>
          <p:cNvSpPr/>
          <p:nvPr/>
        </p:nvSpPr>
        <p:spPr>
          <a:xfrm>
            <a:off x="399266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5" name="Illustrative delivered road transport cost class 1; reference terminal Lesedi"/>
          <p:cNvSpPr/>
          <p:nvPr/>
        </p:nvSpPr>
        <p:spPr>
          <a:xfrm>
            <a:off x="399266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6" name="Illustrative delivered road transport cost class 1; reference terminal Lesedi"/>
          <p:cNvSpPr/>
          <p:nvPr/>
        </p:nvSpPr>
        <p:spPr>
          <a:xfrm>
            <a:off x="399266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7" name="Illustrative delivered road transport cost class 0; reference terminal Lesedi"/>
          <p:cNvSpPr/>
          <p:nvPr/>
        </p:nvSpPr>
        <p:spPr>
          <a:xfrm>
            <a:off x="399266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8" name="Illustrative delivered road transport cost class 0; reference terminal Lesedi"/>
          <p:cNvSpPr/>
          <p:nvPr/>
        </p:nvSpPr>
        <p:spPr>
          <a:xfrm>
            <a:off x="399266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9" name="Illustrative delivered road transport cost class 0; reference terminal Lesedi"/>
          <p:cNvSpPr/>
          <p:nvPr/>
        </p:nvSpPr>
        <p:spPr>
          <a:xfrm>
            <a:off x="399266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0" name="Illustrative delivered road transport cost class 0; reference terminal Lesedi"/>
          <p:cNvSpPr/>
          <p:nvPr/>
        </p:nvSpPr>
        <p:spPr>
          <a:xfrm>
            <a:off x="399266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1" name="Illustrative delivered road transport cost class 0; reference terminal Lesedi"/>
          <p:cNvSpPr/>
          <p:nvPr/>
        </p:nvSpPr>
        <p:spPr>
          <a:xfrm>
            <a:off x="399266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2" name="Illustrative delivered road transport cost class 0; reference terminal Lesedi"/>
          <p:cNvSpPr/>
          <p:nvPr/>
        </p:nvSpPr>
        <p:spPr>
          <a:xfrm>
            <a:off x="399266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3" name="Illustrative delivered road transport cost class 0; reference terminal Lesedi"/>
          <p:cNvSpPr/>
          <p:nvPr/>
        </p:nvSpPr>
        <p:spPr>
          <a:xfrm>
            <a:off x="399266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4" name="Illustrative delivered road transport cost class 0; reference terminal Lesedi"/>
          <p:cNvSpPr/>
          <p:nvPr/>
        </p:nvSpPr>
        <p:spPr>
          <a:xfrm>
            <a:off x="399266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5" name="Illustrative delivered road transport cost class 0; reference terminal Lesedi"/>
          <p:cNvSpPr/>
          <p:nvPr/>
        </p:nvSpPr>
        <p:spPr>
          <a:xfrm>
            <a:off x="399266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6" name="Illustrative delivered road transport cost class 0; reference terminal Lesedi"/>
          <p:cNvSpPr/>
          <p:nvPr/>
        </p:nvSpPr>
        <p:spPr>
          <a:xfrm>
            <a:off x="399266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7" name="Illustrative delivered road transport cost class 0; reference terminal Lesedi"/>
          <p:cNvSpPr/>
          <p:nvPr/>
        </p:nvSpPr>
        <p:spPr>
          <a:xfrm>
            <a:off x="399266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8" name="Illustrative delivered road transport cost class 1; reference terminal Lesedi"/>
          <p:cNvSpPr/>
          <p:nvPr/>
        </p:nvSpPr>
        <p:spPr>
          <a:xfrm>
            <a:off x="399266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9" name="Illustrative delivered road transport cost class 1; reference terminal Lesedi"/>
          <p:cNvSpPr/>
          <p:nvPr/>
        </p:nvSpPr>
        <p:spPr>
          <a:xfrm>
            <a:off x="399266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0" name="Illustrative delivered road transport cost class 1; reference terminal Lesedi"/>
          <p:cNvSpPr/>
          <p:nvPr/>
        </p:nvSpPr>
        <p:spPr>
          <a:xfrm>
            <a:off x="3992667" y="2919144"/>
            <a:ext cx="57687" cy="40879"/>
          </a:xfrm>
          <a:custGeom>
            <a:avLst/>
            <a:gdLst/>
            <a:ahLst/>
            <a:cxnLst/>
            <a:rect l="l" t="t" r="r" b="b"/>
            <a:pathLst>
              <a:path w="57687" h="40879">
                <a:moveTo>
                  <a:pt x="57687" y="40879"/>
                </a:moveTo>
                <a:lnTo>
                  <a:pt x="0" y="40879"/>
                </a:lnTo>
                <a:lnTo>
                  <a:pt x="0" y="26213"/>
                </a:lnTo>
                <a:lnTo>
                  <a:pt x="38235" y="17540"/>
                </a:lnTo>
                <a:lnTo>
                  <a:pt x="51084" y="9806"/>
                </a:lnTo>
                <a:lnTo>
                  <a:pt x="57687" y="0"/>
                </a:lnTo>
                <a:lnTo>
                  <a:pt x="57687" y="4087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1" name="Illustrative delivered road transport cost class 2; reference terminal Durban"/>
          <p:cNvSpPr/>
          <p:nvPr/>
        </p:nvSpPr>
        <p:spPr>
          <a:xfrm>
            <a:off x="4050354" y="5209799"/>
            <a:ext cx="57687" cy="52373"/>
          </a:xfrm>
          <a:custGeom>
            <a:avLst/>
            <a:gdLst/>
            <a:ahLst/>
            <a:cxnLst/>
            <a:rect l="l" t="t" r="r" b="b"/>
            <a:pathLst>
              <a:path w="57687" h="52373">
                <a:moveTo>
                  <a:pt x="0" y="0"/>
                </a:moveTo>
                <a:lnTo>
                  <a:pt x="57687" y="0"/>
                </a:lnTo>
                <a:lnTo>
                  <a:pt x="57687" y="25879"/>
                </a:lnTo>
                <a:lnTo>
                  <a:pt x="0" y="5237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2" name="Illustrative delivered road transport cost class 2; reference terminal Durban"/>
          <p:cNvSpPr/>
          <p:nvPr/>
        </p:nvSpPr>
        <p:spPr>
          <a:xfrm>
            <a:off x="405035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3" name="Illustrative delivered road transport cost class 2; reference terminal Durban"/>
          <p:cNvSpPr/>
          <p:nvPr/>
        </p:nvSpPr>
        <p:spPr>
          <a:xfrm>
            <a:off x="405035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4" name="Illustrative delivered road transport cost class 2; reference terminal Durban"/>
          <p:cNvSpPr/>
          <p:nvPr/>
        </p:nvSpPr>
        <p:spPr>
          <a:xfrm>
            <a:off x="405035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5" name="Illustrative delivered road transport cost class 2; reference terminal Durban"/>
          <p:cNvSpPr/>
          <p:nvPr/>
        </p:nvSpPr>
        <p:spPr>
          <a:xfrm>
            <a:off x="405035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6" name="Illustrative delivered road transport cost class 2; reference terminal Durban"/>
          <p:cNvSpPr/>
          <p:nvPr/>
        </p:nvSpPr>
        <p:spPr>
          <a:xfrm>
            <a:off x="405035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7" name="Illustrative delivered road transport cost class 2; reference terminal Durban"/>
          <p:cNvSpPr/>
          <p:nvPr/>
        </p:nvSpPr>
        <p:spPr>
          <a:xfrm>
            <a:off x="405035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8" name="Illustrative delivered road transport cost class 2; reference terminal Durban"/>
          <p:cNvSpPr/>
          <p:nvPr/>
        </p:nvSpPr>
        <p:spPr>
          <a:xfrm>
            <a:off x="405035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9" name="Illustrative delivered road transport cost class 2; reference terminal Durban"/>
          <p:cNvSpPr/>
          <p:nvPr/>
        </p:nvSpPr>
        <p:spPr>
          <a:xfrm>
            <a:off x="405035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0" name="Illustrative delivered road transport cost class 2; reference terminal Lesedi"/>
          <p:cNvSpPr/>
          <p:nvPr/>
        </p:nvSpPr>
        <p:spPr>
          <a:xfrm>
            <a:off x="405035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1" name="Illustrative delivered road transport cost class 2; reference terminal Lesedi"/>
          <p:cNvSpPr/>
          <p:nvPr/>
        </p:nvSpPr>
        <p:spPr>
          <a:xfrm>
            <a:off x="405035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2" name="Illustrative delivered road transport cost class 2; reference terminal Lesedi"/>
          <p:cNvSpPr/>
          <p:nvPr/>
        </p:nvSpPr>
        <p:spPr>
          <a:xfrm>
            <a:off x="405035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3" name="Illustrative delivered road transport cost class 2; reference terminal Lesedi"/>
          <p:cNvSpPr/>
          <p:nvPr/>
        </p:nvSpPr>
        <p:spPr>
          <a:xfrm>
            <a:off x="405035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4" name="Illustrative delivered road transport cost class 2; reference terminal Lesedi"/>
          <p:cNvSpPr/>
          <p:nvPr/>
        </p:nvSpPr>
        <p:spPr>
          <a:xfrm>
            <a:off x="405035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5" name="Illustrative delivered road transport cost class 2; reference terminal Lesedi"/>
          <p:cNvSpPr/>
          <p:nvPr/>
        </p:nvSpPr>
        <p:spPr>
          <a:xfrm>
            <a:off x="405035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6" name="Illustrative delivered road transport cost class 2; reference terminal Lesedi"/>
          <p:cNvSpPr/>
          <p:nvPr/>
        </p:nvSpPr>
        <p:spPr>
          <a:xfrm>
            <a:off x="405035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7" name="Illustrative delivered road transport cost class 1; reference terminal Lesedi"/>
          <p:cNvSpPr/>
          <p:nvPr/>
        </p:nvSpPr>
        <p:spPr>
          <a:xfrm>
            <a:off x="405035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8" name="Illustrative delivered road transport cost class 1; reference terminal Lesedi"/>
          <p:cNvSpPr/>
          <p:nvPr/>
        </p:nvSpPr>
        <p:spPr>
          <a:xfrm>
            <a:off x="405035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9" name="Illustrative delivered road transport cost class 1; reference terminal Lesedi"/>
          <p:cNvSpPr/>
          <p:nvPr/>
        </p:nvSpPr>
        <p:spPr>
          <a:xfrm>
            <a:off x="405035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0" name="Illustrative delivered road transport cost class 1; reference terminal Lesedi"/>
          <p:cNvSpPr/>
          <p:nvPr/>
        </p:nvSpPr>
        <p:spPr>
          <a:xfrm>
            <a:off x="405035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1" name="Illustrative delivered road transport cost class 1; reference terminal Lesedi"/>
          <p:cNvSpPr/>
          <p:nvPr/>
        </p:nvSpPr>
        <p:spPr>
          <a:xfrm>
            <a:off x="405035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2" name="Illustrative delivered road transport cost class 1; reference terminal Lesedi"/>
          <p:cNvSpPr/>
          <p:nvPr/>
        </p:nvSpPr>
        <p:spPr>
          <a:xfrm>
            <a:off x="405035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3" name="Illustrative delivered road transport cost class 1; reference terminal Lesedi"/>
          <p:cNvSpPr/>
          <p:nvPr/>
        </p:nvSpPr>
        <p:spPr>
          <a:xfrm>
            <a:off x="405035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4" name="Illustrative delivered road transport cost class 1; reference terminal Lesedi"/>
          <p:cNvSpPr/>
          <p:nvPr/>
        </p:nvSpPr>
        <p:spPr>
          <a:xfrm>
            <a:off x="405035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5" name="Illustrative delivered road transport cost class 1; reference terminal Lesedi"/>
          <p:cNvSpPr/>
          <p:nvPr/>
        </p:nvSpPr>
        <p:spPr>
          <a:xfrm>
            <a:off x="405035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6" name="Illustrative delivered road transport cost class 0; reference terminal Lesedi"/>
          <p:cNvSpPr/>
          <p:nvPr/>
        </p:nvSpPr>
        <p:spPr>
          <a:xfrm>
            <a:off x="405035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7" name="Illustrative delivered road transport cost class 0; reference terminal Lesedi"/>
          <p:cNvSpPr/>
          <p:nvPr/>
        </p:nvSpPr>
        <p:spPr>
          <a:xfrm>
            <a:off x="405035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8" name="Illustrative delivered road transport cost class 0; reference terminal Lesedi"/>
          <p:cNvSpPr/>
          <p:nvPr/>
        </p:nvSpPr>
        <p:spPr>
          <a:xfrm>
            <a:off x="405035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9" name="Illustrative delivered road transport cost class 0; reference terminal Lesedi"/>
          <p:cNvSpPr/>
          <p:nvPr/>
        </p:nvSpPr>
        <p:spPr>
          <a:xfrm>
            <a:off x="405035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0" name="Illustrative delivered road transport cost class 0; reference terminal Lesedi"/>
          <p:cNvSpPr/>
          <p:nvPr/>
        </p:nvSpPr>
        <p:spPr>
          <a:xfrm>
            <a:off x="405035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1" name="Illustrative delivered road transport cost class 0; reference terminal Lesedi"/>
          <p:cNvSpPr/>
          <p:nvPr/>
        </p:nvSpPr>
        <p:spPr>
          <a:xfrm>
            <a:off x="405035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2" name="Illustrative delivered road transport cost class 0; reference terminal Lesedi"/>
          <p:cNvSpPr/>
          <p:nvPr/>
        </p:nvSpPr>
        <p:spPr>
          <a:xfrm>
            <a:off x="405035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3" name="Illustrative delivered road transport cost class 0; reference terminal Lesedi"/>
          <p:cNvSpPr/>
          <p:nvPr/>
        </p:nvSpPr>
        <p:spPr>
          <a:xfrm>
            <a:off x="405035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4" name="Illustrative delivered road transport cost class 0; reference terminal Lesedi"/>
          <p:cNvSpPr/>
          <p:nvPr/>
        </p:nvSpPr>
        <p:spPr>
          <a:xfrm>
            <a:off x="405035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5" name="Illustrative delivered road transport cost class 0; reference terminal Lesedi"/>
          <p:cNvSpPr/>
          <p:nvPr/>
        </p:nvSpPr>
        <p:spPr>
          <a:xfrm>
            <a:off x="405035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6" name="Illustrative delivered road transport cost class 0; reference terminal Lesedi"/>
          <p:cNvSpPr/>
          <p:nvPr/>
        </p:nvSpPr>
        <p:spPr>
          <a:xfrm>
            <a:off x="405035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7" name="Illustrative delivered road transport cost class 0; reference terminal Lesedi"/>
          <p:cNvSpPr/>
          <p:nvPr/>
        </p:nvSpPr>
        <p:spPr>
          <a:xfrm>
            <a:off x="405035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8" name="Illustrative delivered road transport cost class 0; reference terminal Lesedi"/>
          <p:cNvSpPr/>
          <p:nvPr/>
        </p:nvSpPr>
        <p:spPr>
          <a:xfrm>
            <a:off x="4050354"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9" name="Illustrative delivered road transport cost class 0; reference terminal Lesedi"/>
          <p:cNvSpPr/>
          <p:nvPr/>
        </p:nvSpPr>
        <p:spPr>
          <a:xfrm>
            <a:off x="4050354"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0" name="Illustrative delivered road transport cost class 1; reference terminal Lesedi"/>
          <p:cNvSpPr/>
          <p:nvPr/>
        </p:nvSpPr>
        <p:spPr>
          <a:xfrm>
            <a:off x="4050354"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1" name="Illustrative delivered road transport cost class 1; reference terminal Lesedi"/>
          <p:cNvSpPr/>
          <p:nvPr/>
        </p:nvSpPr>
        <p:spPr>
          <a:xfrm>
            <a:off x="4050354" y="2902337"/>
            <a:ext cx="57687" cy="57686"/>
          </a:xfrm>
          <a:custGeom>
            <a:avLst/>
            <a:gdLst/>
            <a:ahLst/>
            <a:cxnLst/>
            <a:rect l="l" t="t" r="r" b="b"/>
            <a:pathLst>
              <a:path w="57687" h="57686">
                <a:moveTo>
                  <a:pt x="57687" y="0"/>
                </a:moveTo>
                <a:lnTo>
                  <a:pt x="57687" y="57686"/>
                </a:lnTo>
                <a:lnTo>
                  <a:pt x="0" y="57686"/>
                </a:lnTo>
                <a:lnTo>
                  <a:pt x="0" y="16807"/>
                </a:lnTo>
                <a:lnTo>
                  <a:pt x="5245" y="9018"/>
                </a:lnTo>
                <a:lnTo>
                  <a:pt x="1360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2" name="Illustrative delivered road transport cost class None; reference terminal None"/>
          <p:cNvSpPr/>
          <p:nvPr/>
        </p:nvSpPr>
        <p:spPr>
          <a:xfrm>
            <a:off x="4063957" y="2863525"/>
            <a:ext cx="44084" cy="38812"/>
          </a:xfrm>
          <a:custGeom>
            <a:avLst/>
            <a:gdLst/>
            <a:ahLst/>
            <a:cxnLst/>
            <a:rect l="l" t="t" r="r" b="b"/>
            <a:pathLst>
              <a:path w="44084" h="38812">
                <a:moveTo>
                  <a:pt x="44084" y="38812"/>
                </a:moveTo>
                <a:lnTo>
                  <a:pt x="0" y="38812"/>
                </a:lnTo>
                <a:lnTo>
                  <a:pt x="19199" y="18095"/>
                </a:lnTo>
                <a:lnTo>
                  <a:pt x="44084" y="0"/>
                </a:lnTo>
                <a:lnTo>
                  <a:pt x="44084" y="388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3" name="Illustrative delivered road transport cost class 2; reference terminal Durban"/>
          <p:cNvSpPr/>
          <p:nvPr/>
        </p:nvSpPr>
        <p:spPr>
          <a:xfrm>
            <a:off x="4108041" y="5209799"/>
            <a:ext cx="52253" cy="25879"/>
          </a:xfrm>
          <a:custGeom>
            <a:avLst/>
            <a:gdLst/>
            <a:ahLst/>
            <a:cxnLst/>
            <a:rect l="l" t="t" r="r" b="b"/>
            <a:pathLst>
              <a:path w="52253" h="25879">
                <a:moveTo>
                  <a:pt x="0" y="0"/>
                </a:moveTo>
                <a:lnTo>
                  <a:pt x="52253" y="0"/>
                </a:lnTo>
                <a:lnTo>
                  <a:pt x="41856" y="6655"/>
                </a:lnTo>
                <a:lnTo>
                  <a:pt x="0" y="2587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4" name="Illustrative delivered road transport cost class 2; reference terminal Durban"/>
          <p:cNvSpPr/>
          <p:nvPr/>
        </p:nvSpPr>
        <p:spPr>
          <a:xfrm>
            <a:off x="4108041" y="5152113"/>
            <a:ext cx="57686" cy="57686"/>
          </a:xfrm>
          <a:custGeom>
            <a:avLst/>
            <a:gdLst/>
            <a:ahLst/>
            <a:cxnLst/>
            <a:rect l="l" t="t" r="r" b="b"/>
            <a:pathLst>
              <a:path w="57686" h="57686">
                <a:moveTo>
                  <a:pt x="0" y="57686"/>
                </a:moveTo>
                <a:lnTo>
                  <a:pt x="0" y="0"/>
                </a:lnTo>
                <a:lnTo>
                  <a:pt x="57686" y="0"/>
                </a:lnTo>
                <a:lnTo>
                  <a:pt x="57686" y="54209"/>
                </a:lnTo>
                <a:lnTo>
                  <a:pt x="52253"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5" name="Illustrative delivered road transport cost class 2; reference terminal Durban"/>
          <p:cNvSpPr/>
          <p:nvPr/>
        </p:nvSpPr>
        <p:spPr>
          <a:xfrm>
            <a:off x="410804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6" name="Illustrative delivered road transport cost class 2; reference terminal Durban"/>
          <p:cNvSpPr/>
          <p:nvPr/>
        </p:nvSpPr>
        <p:spPr>
          <a:xfrm>
            <a:off x="410804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7" name="Illustrative delivered road transport cost class 2; reference terminal Durban"/>
          <p:cNvSpPr/>
          <p:nvPr/>
        </p:nvSpPr>
        <p:spPr>
          <a:xfrm>
            <a:off x="410804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8" name="Illustrative delivered road transport cost class 2; reference terminal Durban"/>
          <p:cNvSpPr/>
          <p:nvPr/>
        </p:nvSpPr>
        <p:spPr>
          <a:xfrm>
            <a:off x="410804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9" name="Illustrative delivered road transport cost class 2; reference terminal Durban"/>
          <p:cNvSpPr/>
          <p:nvPr/>
        </p:nvSpPr>
        <p:spPr>
          <a:xfrm>
            <a:off x="410804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0" name="Illustrative delivered road transport cost class 2; reference terminal Durban"/>
          <p:cNvSpPr/>
          <p:nvPr/>
        </p:nvSpPr>
        <p:spPr>
          <a:xfrm>
            <a:off x="410804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1" name="Illustrative delivered road transport cost class 2; reference terminal Durban"/>
          <p:cNvSpPr/>
          <p:nvPr/>
        </p:nvSpPr>
        <p:spPr>
          <a:xfrm>
            <a:off x="410804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2" name="Illustrative delivered road transport cost class 2; reference terminal Lesedi"/>
          <p:cNvSpPr/>
          <p:nvPr/>
        </p:nvSpPr>
        <p:spPr>
          <a:xfrm>
            <a:off x="410804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3" name="Illustrative delivered road transport cost class 2; reference terminal Lesedi"/>
          <p:cNvSpPr/>
          <p:nvPr/>
        </p:nvSpPr>
        <p:spPr>
          <a:xfrm>
            <a:off x="410804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4" name="Illustrative delivered road transport cost class 2; reference terminal Lesedi"/>
          <p:cNvSpPr/>
          <p:nvPr/>
        </p:nvSpPr>
        <p:spPr>
          <a:xfrm>
            <a:off x="410804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5" name="Illustrative delivered road transport cost class 2; reference terminal Lesedi"/>
          <p:cNvSpPr/>
          <p:nvPr/>
        </p:nvSpPr>
        <p:spPr>
          <a:xfrm>
            <a:off x="410804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6" name="Illustrative delivered road transport cost class 2; reference terminal Lesedi"/>
          <p:cNvSpPr/>
          <p:nvPr/>
        </p:nvSpPr>
        <p:spPr>
          <a:xfrm>
            <a:off x="410804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7" name="Illustrative delivered road transport cost class 2; reference terminal Lesedi"/>
          <p:cNvSpPr/>
          <p:nvPr/>
        </p:nvSpPr>
        <p:spPr>
          <a:xfrm>
            <a:off x="410804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8" name="Illustrative delivered road transport cost class 2; reference terminal Lesedi"/>
          <p:cNvSpPr/>
          <p:nvPr/>
        </p:nvSpPr>
        <p:spPr>
          <a:xfrm>
            <a:off x="410804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9" name="Illustrative delivered road transport cost class 2; reference terminal Lesedi"/>
          <p:cNvSpPr/>
          <p:nvPr/>
        </p:nvSpPr>
        <p:spPr>
          <a:xfrm>
            <a:off x="410804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0" name="Illustrative delivered road transport cost class 1; reference terminal Lesedi"/>
          <p:cNvSpPr/>
          <p:nvPr/>
        </p:nvSpPr>
        <p:spPr>
          <a:xfrm>
            <a:off x="4108041" y="4229128"/>
            <a:ext cx="57686" cy="57686"/>
          </a:xfrm>
          <a:custGeom>
            <a:avLst/>
            <a:gdLst/>
            <a:ahLst/>
            <a:cxnLst/>
            <a:rect l="l" t="t" r="r" b="b"/>
            <a:pathLst>
              <a:path w="57686" h="57686">
                <a:moveTo>
                  <a:pt x="57686" y="57686"/>
                </a:moveTo>
                <a:lnTo>
                  <a:pt x="0" y="57686"/>
                </a:lnTo>
                <a:lnTo>
                  <a:pt x="0" y="0"/>
                </a:lnTo>
                <a:lnTo>
                  <a:pt x="54598" y="0"/>
                </a:lnTo>
                <a:lnTo>
                  <a:pt x="54495" y="759"/>
                </a:lnTo>
                <a:lnTo>
                  <a:pt x="57686" y="9395"/>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1" name="Illustrative delivered road transport cost class 1; reference terminal Lesedi"/>
          <p:cNvSpPr/>
          <p:nvPr/>
        </p:nvSpPr>
        <p:spPr>
          <a:xfrm>
            <a:off x="4108041" y="4171441"/>
            <a:ext cx="57686" cy="57687"/>
          </a:xfrm>
          <a:custGeom>
            <a:avLst/>
            <a:gdLst/>
            <a:ahLst/>
            <a:cxnLst/>
            <a:rect l="l" t="t" r="r" b="b"/>
            <a:pathLst>
              <a:path w="57686" h="57687">
                <a:moveTo>
                  <a:pt x="0" y="57687"/>
                </a:moveTo>
                <a:lnTo>
                  <a:pt x="0" y="0"/>
                </a:lnTo>
                <a:lnTo>
                  <a:pt x="57686" y="0"/>
                </a:lnTo>
                <a:lnTo>
                  <a:pt x="57686" y="47216"/>
                </a:lnTo>
                <a:lnTo>
                  <a:pt x="55825" y="48626"/>
                </a:lnTo>
                <a:lnTo>
                  <a:pt x="5459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2" name="Illustrative delivered road transport cost class 1; reference terminal Lesedi"/>
          <p:cNvSpPr/>
          <p:nvPr/>
        </p:nvSpPr>
        <p:spPr>
          <a:xfrm>
            <a:off x="410804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3" name="Illustrative delivered road transport cost class 1; reference terminal Lesedi"/>
          <p:cNvSpPr/>
          <p:nvPr/>
        </p:nvSpPr>
        <p:spPr>
          <a:xfrm>
            <a:off x="410804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4" name="Illustrative delivered road transport cost class 1; reference terminal Lesedi"/>
          <p:cNvSpPr/>
          <p:nvPr/>
        </p:nvSpPr>
        <p:spPr>
          <a:xfrm>
            <a:off x="410804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5" name="Illustrative delivered road transport cost class 1; reference terminal Lesedi"/>
          <p:cNvSpPr/>
          <p:nvPr/>
        </p:nvSpPr>
        <p:spPr>
          <a:xfrm>
            <a:off x="410804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6" name="Illustrative delivered road transport cost class 1; reference terminal Lesedi"/>
          <p:cNvSpPr/>
          <p:nvPr/>
        </p:nvSpPr>
        <p:spPr>
          <a:xfrm>
            <a:off x="410804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7" name="Illustrative delivered road transport cost class 0; reference terminal Lesedi"/>
          <p:cNvSpPr/>
          <p:nvPr/>
        </p:nvSpPr>
        <p:spPr>
          <a:xfrm>
            <a:off x="410804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8" name="Illustrative delivered road transport cost class 0; reference terminal Lesedi"/>
          <p:cNvSpPr/>
          <p:nvPr/>
        </p:nvSpPr>
        <p:spPr>
          <a:xfrm>
            <a:off x="410804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9" name="Illustrative delivered road transport cost class 0; reference terminal Lesedi"/>
          <p:cNvSpPr/>
          <p:nvPr/>
        </p:nvSpPr>
        <p:spPr>
          <a:xfrm>
            <a:off x="410804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0" name="Illustrative delivered road transport cost class 0; reference terminal Lesedi"/>
          <p:cNvSpPr/>
          <p:nvPr/>
        </p:nvSpPr>
        <p:spPr>
          <a:xfrm>
            <a:off x="410804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1" name="Illustrative delivered road transport cost class 0; reference terminal Lesedi"/>
          <p:cNvSpPr/>
          <p:nvPr/>
        </p:nvSpPr>
        <p:spPr>
          <a:xfrm>
            <a:off x="410804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2" name="Illustrative delivered road transport cost class 0; reference terminal Lesedi"/>
          <p:cNvSpPr/>
          <p:nvPr/>
        </p:nvSpPr>
        <p:spPr>
          <a:xfrm>
            <a:off x="410804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3" name="Illustrative delivered road transport cost class 0; reference terminal Lesedi"/>
          <p:cNvSpPr/>
          <p:nvPr/>
        </p:nvSpPr>
        <p:spPr>
          <a:xfrm>
            <a:off x="410804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4" name="Illustrative delivered road transport cost class 0; reference terminal Lesedi"/>
          <p:cNvSpPr/>
          <p:nvPr/>
        </p:nvSpPr>
        <p:spPr>
          <a:xfrm>
            <a:off x="410804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5" name="Illustrative delivered road transport cost class 0; reference terminal Lesedi"/>
          <p:cNvSpPr/>
          <p:nvPr/>
        </p:nvSpPr>
        <p:spPr>
          <a:xfrm>
            <a:off x="410804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6" name="Illustrative delivered road transport cost class 0; reference terminal Lesedi"/>
          <p:cNvSpPr/>
          <p:nvPr/>
        </p:nvSpPr>
        <p:spPr>
          <a:xfrm>
            <a:off x="410804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7" name="Illustrative delivered road transport cost class 0; reference terminal Lesedi"/>
          <p:cNvSpPr/>
          <p:nvPr/>
        </p:nvSpPr>
        <p:spPr>
          <a:xfrm>
            <a:off x="410804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8" name="Illustrative delivered road transport cost class 0; reference terminal Lesedi"/>
          <p:cNvSpPr/>
          <p:nvPr/>
        </p:nvSpPr>
        <p:spPr>
          <a:xfrm>
            <a:off x="410804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9" name="Illustrative delivered road transport cost class 0; reference terminal Lesedi"/>
          <p:cNvSpPr/>
          <p:nvPr/>
        </p:nvSpPr>
        <p:spPr>
          <a:xfrm>
            <a:off x="410804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0" name="Illustrative delivered road transport cost class 0; reference terminal Lesedi"/>
          <p:cNvSpPr/>
          <p:nvPr/>
        </p:nvSpPr>
        <p:spPr>
          <a:xfrm>
            <a:off x="410804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1" name="Illustrative delivered road transport cost class 0; reference terminal Lesedi"/>
          <p:cNvSpPr/>
          <p:nvPr/>
        </p:nvSpPr>
        <p:spPr>
          <a:xfrm>
            <a:off x="410804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2" name="Illustrative delivered road transport cost class 1; reference terminal Lesedi"/>
          <p:cNvSpPr/>
          <p:nvPr/>
        </p:nvSpPr>
        <p:spPr>
          <a:xfrm>
            <a:off x="4108041"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3" name="Illustrative delivered road transport cost class None; reference terminal None"/>
          <p:cNvSpPr/>
          <p:nvPr/>
        </p:nvSpPr>
        <p:spPr>
          <a:xfrm>
            <a:off x="4108041"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4" name="Illustrative delivered road transport cost class None; reference terminal None"/>
          <p:cNvSpPr/>
          <p:nvPr/>
        </p:nvSpPr>
        <p:spPr>
          <a:xfrm>
            <a:off x="4108041" y="2844650"/>
            <a:ext cx="57686" cy="57687"/>
          </a:xfrm>
          <a:custGeom>
            <a:avLst/>
            <a:gdLst/>
            <a:ahLst/>
            <a:cxnLst/>
            <a:rect l="l" t="t" r="r" b="b"/>
            <a:pathLst>
              <a:path w="57686" h="57687">
                <a:moveTo>
                  <a:pt x="57686" y="0"/>
                </a:moveTo>
                <a:lnTo>
                  <a:pt x="57686" y="57687"/>
                </a:lnTo>
                <a:lnTo>
                  <a:pt x="0" y="57687"/>
                </a:lnTo>
                <a:lnTo>
                  <a:pt x="0" y="18875"/>
                </a:lnTo>
                <a:lnTo>
                  <a:pt x="9022" y="12315"/>
                </a:lnTo>
                <a:lnTo>
                  <a:pt x="24287"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5" name="Illustrative delivered road transport cost class None; reference terminal None"/>
          <p:cNvSpPr/>
          <p:nvPr/>
        </p:nvSpPr>
        <p:spPr>
          <a:xfrm>
            <a:off x="4132328" y="2786964"/>
            <a:ext cx="33399" cy="57686"/>
          </a:xfrm>
          <a:custGeom>
            <a:avLst/>
            <a:gdLst/>
            <a:ahLst/>
            <a:cxnLst/>
            <a:rect l="l" t="t" r="r" b="b"/>
            <a:pathLst>
              <a:path w="33399" h="57686">
                <a:moveTo>
                  <a:pt x="33399" y="0"/>
                </a:moveTo>
                <a:lnTo>
                  <a:pt x="33399" y="57686"/>
                </a:lnTo>
                <a:lnTo>
                  <a:pt x="0" y="57686"/>
                </a:lnTo>
                <a:lnTo>
                  <a:pt x="2260" y="55863"/>
                </a:lnTo>
                <a:lnTo>
                  <a:pt x="17708" y="0"/>
                </a:lnTo>
                <a:lnTo>
                  <a:pt x="33399"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6" name="Illustrative delivered road transport cost class None; reference terminal None"/>
          <p:cNvSpPr/>
          <p:nvPr/>
        </p:nvSpPr>
        <p:spPr>
          <a:xfrm>
            <a:off x="4150036" y="2730223"/>
            <a:ext cx="15691" cy="56741"/>
          </a:xfrm>
          <a:custGeom>
            <a:avLst/>
            <a:gdLst/>
            <a:ahLst/>
            <a:cxnLst/>
            <a:rect l="l" t="t" r="r" b="b"/>
            <a:pathLst>
              <a:path w="15691" h="56741">
                <a:moveTo>
                  <a:pt x="15691" y="56741"/>
                </a:moveTo>
                <a:lnTo>
                  <a:pt x="0" y="56741"/>
                </a:lnTo>
                <a:lnTo>
                  <a:pt x="15691" y="0"/>
                </a:lnTo>
                <a:lnTo>
                  <a:pt x="15691" y="567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7" name="Illustrative delivered road transport cost class 2; reference terminal Durban"/>
          <p:cNvSpPr/>
          <p:nvPr/>
        </p:nvSpPr>
        <p:spPr>
          <a:xfrm>
            <a:off x="4165727" y="5152113"/>
            <a:ext cx="57687" cy="54209"/>
          </a:xfrm>
          <a:custGeom>
            <a:avLst/>
            <a:gdLst/>
            <a:ahLst/>
            <a:cxnLst/>
            <a:rect l="l" t="t" r="r" b="b"/>
            <a:pathLst>
              <a:path w="57687" h="54209">
                <a:moveTo>
                  <a:pt x="0" y="0"/>
                </a:moveTo>
                <a:lnTo>
                  <a:pt x="57687" y="0"/>
                </a:lnTo>
                <a:lnTo>
                  <a:pt x="57687" y="16022"/>
                </a:lnTo>
                <a:lnTo>
                  <a:pt x="46487" y="24455"/>
                </a:lnTo>
                <a:lnTo>
                  <a:pt x="0" y="5420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8" name="Illustrative delivered road transport cost class 2; reference terminal Durban"/>
          <p:cNvSpPr/>
          <p:nvPr/>
        </p:nvSpPr>
        <p:spPr>
          <a:xfrm>
            <a:off x="416572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9" name="Illustrative delivered road transport cost class 2; reference terminal Durban"/>
          <p:cNvSpPr/>
          <p:nvPr/>
        </p:nvSpPr>
        <p:spPr>
          <a:xfrm>
            <a:off x="416572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0" name="Illustrative delivered road transport cost class 2; reference terminal Durban"/>
          <p:cNvSpPr/>
          <p:nvPr/>
        </p:nvSpPr>
        <p:spPr>
          <a:xfrm>
            <a:off x="416572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 name="Illustrative delivered road transport cost class 2; reference terminal Durban"/>
          <p:cNvSpPr/>
          <p:nvPr/>
        </p:nvSpPr>
        <p:spPr>
          <a:xfrm>
            <a:off x="416572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 name="Illustrative delivered road transport cost class 2; reference terminal Durban"/>
          <p:cNvSpPr/>
          <p:nvPr/>
        </p:nvSpPr>
        <p:spPr>
          <a:xfrm>
            <a:off x="416572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 name="Illustrative delivered road transport cost class 2; reference terminal Durban"/>
          <p:cNvSpPr/>
          <p:nvPr/>
        </p:nvSpPr>
        <p:spPr>
          <a:xfrm>
            <a:off x="416572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 name="Illustrative delivered road transport cost class 2; reference terminal Durban"/>
          <p:cNvSpPr/>
          <p:nvPr/>
        </p:nvSpPr>
        <p:spPr>
          <a:xfrm>
            <a:off x="416572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 name="Illustrative delivered road transport cost class 2; reference terminal Durban"/>
          <p:cNvSpPr/>
          <p:nvPr/>
        </p:nvSpPr>
        <p:spPr>
          <a:xfrm>
            <a:off x="416572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 name="Illustrative delivered road transport cost class 2; reference terminal Lesedi"/>
          <p:cNvSpPr/>
          <p:nvPr/>
        </p:nvSpPr>
        <p:spPr>
          <a:xfrm>
            <a:off x="416572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7" name="Illustrative delivered road transport cost class 2; reference terminal Lesedi"/>
          <p:cNvSpPr/>
          <p:nvPr/>
        </p:nvSpPr>
        <p:spPr>
          <a:xfrm>
            <a:off x="416572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8" name="Illustrative delivered road transport cost class 2; reference terminal Lesedi"/>
          <p:cNvSpPr/>
          <p:nvPr/>
        </p:nvSpPr>
        <p:spPr>
          <a:xfrm>
            <a:off x="416572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9" name="Illustrative delivered road transport cost class 2; reference terminal Lesedi"/>
          <p:cNvSpPr/>
          <p:nvPr/>
        </p:nvSpPr>
        <p:spPr>
          <a:xfrm>
            <a:off x="416572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0" name="Illustrative delivered road transport cost class 2; reference terminal Lesedi"/>
          <p:cNvSpPr/>
          <p:nvPr/>
        </p:nvSpPr>
        <p:spPr>
          <a:xfrm>
            <a:off x="416572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1" name="Illustrative delivered road transport cost class 2; reference terminal Lesedi"/>
          <p:cNvSpPr/>
          <p:nvPr/>
        </p:nvSpPr>
        <p:spPr>
          <a:xfrm>
            <a:off x="4165727" y="4344501"/>
            <a:ext cx="57687" cy="57687"/>
          </a:xfrm>
          <a:custGeom>
            <a:avLst/>
            <a:gdLst/>
            <a:ahLst/>
            <a:cxnLst/>
            <a:rect l="l" t="t" r="r" b="b"/>
            <a:pathLst>
              <a:path w="57687" h="57687">
                <a:moveTo>
                  <a:pt x="57687" y="57687"/>
                </a:moveTo>
                <a:lnTo>
                  <a:pt x="0" y="57687"/>
                </a:lnTo>
                <a:lnTo>
                  <a:pt x="0" y="0"/>
                </a:lnTo>
                <a:lnTo>
                  <a:pt x="53227" y="0"/>
                </a:lnTo>
                <a:lnTo>
                  <a:pt x="57687" y="6645"/>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2" name="Illustrative delivered road transport cost class 2; reference terminal Lesedi"/>
          <p:cNvSpPr/>
          <p:nvPr/>
        </p:nvSpPr>
        <p:spPr>
          <a:xfrm>
            <a:off x="4165727" y="4286814"/>
            <a:ext cx="53227" cy="57687"/>
          </a:xfrm>
          <a:custGeom>
            <a:avLst/>
            <a:gdLst/>
            <a:ahLst/>
            <a:cxnLst/>
            <a:rect l="l" t="t" r="r" b="b"/>
            <a:pathLst>
              <a:path w="53227" h="57687">
                <a:moveTo>
                  <a:pt x="0" y="57687"/>
                </a:moveTo>
                <a:lnTo>
                  <a:pt x="0" y="0"/>
                </a:lnTo>
                <a:lnTo>
                  <a:pt x="19572" y="0"/>
                </a:lnTo>
                <a:lnTo>
                  <a:pt x="27137" y="14551"/>
                </a:lnTo>
                <a:lnTo>
                  <a:pt x="37058" y="33677"/>
                </a:lnTo>
                <a:lnTo>
                  <a:pt x="52829" y="57094"/>
                </a:lnTo>
                <a:lnTo>
                  <a:pt x="5322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3" name="Illustrative delivered road transport cost class 2; reference terminal Lesedi"/>
          <p:cNvSpPr/>
          <p:nvPr/>
        </p:nvSpPr>
        <p:spPr>
          <a:xfrm>
            <a:off x="4165727" y="4238523"/>
            <a:ext cx="19572" cy="48291"/>
          </a:xfrm>
          <a:custGeom>
            <a:avLst/>
            <a:gdLst/>
            <a:ahLst/>
            <a:cxnLst/>
            <a:rect l="l" t="t" r="r" b="b"/>
            <a:pathLst>
              <a:path w="19572" h="48291">
                <a:moveTo>
                  <a:pt x="0" y="48291"/>
                </a:moveTo>
                <a:lnTo>
                  <a:pt x="0" y="0"/>
                </a:lnTo>
                <a:lnTo>
                  <a:pt x="5339" y="14450"/>
                </a:lnTo>
                <a:lnTo>
                  <a:pt x="13562" y="36733"/>
                </a:lnTo>
                <a:lnTo>
                  <a:pt x="19572" y="48291"/>
                </a:lnTo>
                <a:lnTo>
                  <a:pt x="0" y="48291"/>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4" name="Illustrative delivered road transport cost class 2; reference terminal Lesedi"/>
          <p:cNvSpPr/>
          <p:nvPr/>
        </p:nvSpPr>
        <p:spPr>
          <a:xfrm>
            <a:off x="4165727" y="4171441"/>
            <a:ext cx="57687" cy="47216"/>
          </a:xfrm>
          <a:custGeom>
            <a:avLst/>
            <a:gdLst/>
            <a:ahLst/>
            <a:cxnLst/>
            <a:rect l="l" t="t" r="r" b="b"/>
            <a:pathLst>
              <a:path w="57687" h="47216">
                <a:moveTo>
                  <a:pt x="0" y="0"/>
                </a:moveTo>
                <a:lnTo>
                  <a:pt x="57687" y="0"/>
                </a:lnTo>
                <a:lnTo>
                  <a:pt x="57687" y="15727"/>
                </a:lnTo>
                <a:lnTo>
                  <a:pt x="51753" y="22429"/>
                </a:lnTo>
                <a:lnTo>
                  <a:pt x="32104" y="30975"/>
                </a:lnTo>
                <a:lnTo>
                  <a:pt x="6812" y="42057"/>
                </a:lnTo>
                <a:lnTo>
                  <a:pt x="0" y="47216"/>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5" name="Illustrative delivered road transport cost class 1; reference terminal Lesedi"/>
          <p:cNvSpPr/>
          <p:nvPr/>
        </p:nvSpPr>
        <p:spPr>
          <a:xfrm>
            <a:off x="416572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6" name="Illustrative delivered road transport cost class 1; reference terminal Lesedi"/>
          <p:cNvSpPr/>
          <p:nvPr/>
        </p:nvSpPr>
        <p:spPr>
          <a:xfrm>
            <a:off x="416572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7" name="Illustrative delivered road transport cost class 1; reference terminal Lesedi"/>
          <p:cNvSpPr/>
          <p:nvPr/>
        </p:nvSpPr>
        <p:spPr>
          <a:xfrm>
            <a:off x="416572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8" name="Illustrative delivered road transport cost class 1; reference terminal Lesedi"/>
          <p:cNvSpPr/>
          <p:nvPr/>
        </p:nvSpPr>
        <p:spPr>
          <a:xfrm>
            <a:off x="416572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9" name="Illustrative delivered road transport cost class 1; reference terminal Lesedi"/>
          <p:cNvSpPr/>
          <p:nvPr/>
        </p:nvSpPr>
        <p:spPr>
          <a:xfrm>
            <a:off x="416572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0" name="Illustrative delivered road transport cost class 0; reference terminal Lesedi"/>
          <p:cNvSpPr/>
          <p:nvPr/>
        </p:nvSpPr>
        <p:spPr>
          <a:xfrm>
            <a:off x="416572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1" name="Illustrative delivered road transport cost class 0; reference terminal Lesedi"/>
          <p:cNvSpPr/>
          <p:nvPr/>
        </p:nvSpPr>
        <p:spPr>
          <a:xfrm>
            <a:off x="416572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2" name="Illustrative delivered road transport cost class 0; reference terminal Lesedi"/>
          <p:cNvSpPr/>
          <p:nvPr/>
        </p:nvSpPr>
        <p:spPr>
          <a:xfrm>
            <a:off x="416572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3" name="Illustrative delivered road transport cost class 0; reference terminal Lesedi"/>
          <p:cNvSpPr/>
          <p:nvPr/>
        </p:nvSpPr>
        <p:spPr>
          <a:xfrm>
            <a:off x="416572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4" name="Illustrative delivered road transport cost class 0; reference terminal Lesedi"/>
          <p:cNvSpPr/>
          <p:nvPr/>
        </p:nvSpPr>
        <p:spPr>
          <a:xfrm>
            <a:off x="416572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5" name="Illustrative delivered road transport cost class 0; reference terminal Lesedi"/>
          <p:cNvSpPr/>
          <p:nvPr/>
        </p:nvSpPr>
        <p:spPr>
          <a:xfrm>
            <a:off x="416572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6" name="Illustrative delivered road transport cost class 0; reference terminal Lesedi"/>
          <p:cNvSpPr/>
          <p:nvPr/>
        </p:nvSpPr>
        <p:spPr>
          <a:xfrm>
            <a:off x="416572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7" name="Illustrative delivered road transport cost class 0; reference terminal Lesedi"/>
          <p:cNvSpPr/>
          <p:nvPr/>
        </p:nvSpPr>
        <p:spPr>
          <a:xfrm>
            <a:off x="416572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8" name="Illustrative delivered road transport cost class 0; reference terminal Lesedi"/>
          <p:cNvSpPr/>
          <p:nvPr/>
        </p:nvSpPr>
        <p:spPr>
          <a:xfrm>
            <a:off x="416572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9" name="Illustrative delivered road transport cost class 0; reference terminal Lesedi"/>
          <p:cNvSpPr/>
          <p:nvPr/>
        </p:nvSpPr>
        <p:spPr>
          <a:xfrm>
            <a:off x="416572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0" name="Illustrative delivered road transport cost class 0; reference terminal Lesedi"/>
          <p:cNvSpPr/>
          <p:nvPr/>
        </p:nvSpPr>
        <p:spPr>
          <a:xfrm>
            <a:off x="416572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1" name="Illustrative delivered road transport cost class 0; reference terminal Lesedi"/>
          <p:cNvSpPr/>
          <p:nvPr/>
        </p:nvSpPr>
        <p:spPr>
          <a:xfrm>
            <a:off x="416572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2" name="Illustrative delivered road transport cost class 0; reference terminal Lesedi"/>
          <p:cNvSpPr/>
          <p:nvPr/>
        </p:nvSpPr>
        <p:spPr>
          <a:xfrm>
            <a:off x="416572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3" name="Illustrative delivered road transport cost class 0; reference terminal Lesedi"/>
          <p:cNvSpPr/>
          <p:nvPr/>
        </p:nvSpPr>
        <p:spPr>
          <a:xfrm>
            <a:off x="416572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4" name="Illustrative delivered road transport cost class 0; reference terminal Lesedi"/>
          <p:cNvSpPr/>
          <p:nvPr/>
        </p:nvSpPr>
        <p:spPr>
          <a:xfrm>
            <a:off x="416572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5" name="Illustrative delivered road transport cost class 0; reference terminal Lesedi"/>
          <p:cNvSpPr/>
          <p:nvPr/>
        </p:nvSpPr>
        <p:spPr>
          <a:xfrm>
            <a:off x="416572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6" name="Illustrative delivered road transport cost class None; reference terminal None"/>
          <p:cNvSpPr/>
          <p:nvPr/>
        </p:nvSpPr>
        <p:spPr>
          <a:xfrm>
            <a:off x="4165727"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7" name="Illustrative delivered road transport cost class None; reference terminal None"/>
          <p:cNvSpPr/>
          <p:nvPr/>
        </p:nvSpPr>
        <p:spPr>
          <a:xfrm>
            <a:off x="4165727"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8" name="Illustrative delivered road transport cost class None; reference terminal None"/>
          <p:cNvSpPr/>
          <p:nvPr/>
        </p:nvSpPr>
        <p:spPr>
          <a:xfrm>
            <a:off x="4165727"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9" name="Illustrative delivered road transport cost class None; reference terminal None"/>
          <p:cNvSpPr/>
          <p:nvPr/>
        </p:nvSpPr>
        <p:spPr>
          <a:xfrm>
            <a:off x="4165727" y="2729277"/>
            <a:ext cx="57687" cy="57687"/>
          </a:xfrm>
          <a:custGeom>
            <a:avLst/>
            <a:gdLst/>
            <a:ahLst/>
            <a:cxnLst/>
            <a:rect l="l" t="t" r="r" b="b"/>
            <a:pathLst>
              <a:path w="57687" h="57687">
                <a:moveTo>
                  <a:pt x="57687" y="0"/>
                </a:moveTo>
                <a:lnTo>
                  <a:pt x="57687" y="57687"/>
                </a:lnTo>
                <a:lnTo>
                  <a:pt x="0" y="57687"/>
                </a:lnTo>
                <a:lnTo>
                  <a:pt x="0" y="946"/>
                </a:lnTo>
                <a:lnTo>
                  <a:pt x="26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0" name="Illustrative delivered road transport cost class None; reference terminal None"/>
          <p:cNvSpPr/>
          <p:nvPr/>
        </p:nvSpPr>
        <p:spPr>
          <a:xfrm>
            <a:off x="4165989" y="2671590"/>
            <a:ext cx="57425" cy="57687"/>
          </a:xfrm>
          <a:custGeom>
            <a:avLst/>
            <a:gdLst/>
            <a:ahLst/>
            <a:cxnLst/>
            <a:rect l="l" t="t" r="r" b="b"/>
            <a:pathLst>
              <a:path w="57425" h="57687">
                <a:moveTo>
                  <a:pt x="57425" y="0"/>
                </a:moveTo>
                <a:lnTo>
                  <a:pt x="57425" y="57687"/>
                </a:lnTo>
                <a:lnTo>
                  <a:pt x="0" y="57687"/>
                </a:lnTo>
                <a:lnTo>
                  <a:pt x="2170" y="49838"/>
                </a:lnTo>
                <a:lnTo>
                  <a:pt x="6253" y="34865"/>
                </a:lnTo>
                <a:lnTo>
                  <a:pt x="29955" y="2910"/>
                </a:lnTo>
                <a:lnTo>
                  <a:pt x="33111" y="0"/>
                </a:lnTo>
                <a:lnTo>
                  <a:pt x="57425"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1" name="Illustrative delivered road transport cost class None; reference terminal None"/>
          <p:cNvSpPr/>
          <p:nvPr/>
        </p:nvSpPr>
        <p:spPr>
          <a:xfrm>
            <a:off x="4199100" y="2658698"/>
            <a:ext cx="24314" cy="12892"/>
          </a:xfrm>
          <a:custGeom>
            <a:avLst/>
            <a:gdLst/>
            <a:ahLst/>
            <a:cxnLst/>
            <a:rect l="l" t="t" r="r" b="b"/>
            <a:pathLst>
              <a:path w="24314" h="12892">
                <a:moveTo>
                  <a:pt x="24314" y="12892"/>
                </a:moveTo>
                <a:lnTo>
                  <a:pt x="0" y="12892"/>
                </a:lnTo>
                <a:lnTo>
                  <a:pt x="11401" y="2384"/>
                </a:lnTo>
                <a:lnTo>
                  <a:pt x="20640" y="2296"/>
                </a:lnTo>
                <a:lnTo>
                  <a:pt x="24314" y="0"/>
                </a:lnTo>
                <a:lnTo>
                  <a:pt x="24314" y="1289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2" name="Illustrative delivered road transport cost class 2; reference terminal Durban"/>
          <p:cNvSpPr/>
          <p:nvPr/>
        </p:nvSpPr>
        <p:spPr>
          <a:xfrm>
            <a:off x="4223414" y="5152113"/>
            <a:ext cx="21282" cy="16022"/>
          </a:xfrm>
          <a:custGeom>
            <a:avLst/>
            <a:gdLst/>
            <a:ahLst/>
            <a:cxnLst/>
            <a:rect l="l" t="t" r="r" b="b"/>
            <a:pathLst>
              <a:path w="21282" h="16022">
                <a:moveTo>
                  <a:pt x="0" y="0"/>
                </a:moveTo>
                <a:lnTo>
                  <a:pt x="21282" y="0"/>
                </a:lnTo>
                <a:lnTo>
                  <a:pt x="0" y="1602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3" name="Illustrative delivered road transport cost class 2; reference terminal Durban"/>
          <p:cNvSpPr/>
          <p:nvPr/>
        </p:nvSpPr>
        <p:spPr>
          <a:xfrm>
            <a:off x="4223414" y="5094426"/>
            <a:ext cx="57686" cy="57687"/>
          </a:xfrm>
          <a:custGeom>
            <a:avLst/>
            <a:gdLst/>
            <a:ahLst/>
            <a:cxnLst/>
            <a:rect l="l" t="t" r="r" b="b"/>
            <a:pathLst>
              <a:path w="57686" h="57687">
                <a:moveTo>
                  <a:pt x="0" y="57687"/>
                </a:moveTo>
                <a:lnTo>
                  <a:pt x="0" y="0"/>
                </a:lnTo>
                <a:lnTo>
                  <a:pt x="57686" y="0"/>
                </a:lnTo>
                <a:lnTo>
                  <a:pt x="57686" y="30279"/>
                </a:lnTo>
                <a:lnTo>
                  <a:pt x="2128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4" name="Illustrative delivered road transport cost class 2; reference terminal Durban"/>
          <p:cNvSpPr/>
          <p:nvPr/>
        </p:nvSpPr>
        <p:spPr>
          <a:xfrm>
            <a:off x="422341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5" name="Illustrative delivered road transport cost class 2; reference terminal Durban"/>
          <p:cNvSpPr/>
          <p:nvPr/>
        </p:nvSpPr>
        <p:spPr>
          <a:xfrm>
            <a:off x="422341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6" name="Illustrative delivered road transport cost class 1; reference terminal Durban"/>
          <p:cNvSpPr/>
          <p:nvPr/>
        </p:nvSpPr>
        <p:spPr>
          <a:xfrm>
            <a:off x="422341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7" name="Illustrative delivered road transport cost class 1; reference terminal Durban"/>
          <p:cNvSpPr/>
          <p:nvPr/>
        </p:nvSpPr>
        <p:spPr>
          <a:xfrm>
            <a:off x="422341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8" name="Illustrative delivered road transport cost class 1; reference terminal Durban"/>
          <p:cNvSpPr/>
          <p:nvPr/>
        </p:nvSpPr>
        <p:spPr>
          <a:xfrm>
            <a:off x="422341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9" name="Illustrative delivered road transport cost class 1; reference terminal Durban"/>
          <p:cNvSpPr/>
          <p:nvPr/>
        </p:nvSpPr>
        <p:spPr>
          <a:xfrm>
            <a:off x="422341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0" name="Illustrative delivered road transport cost class 2; reference terminal Durban"/>
          <p:cNvSpPr/>
          <p:nvPr/>
        </p:nvSpPr>
        <p:spPr>
          <a:xfrm>
            <a:off x="422341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1" name="Illustrative delivered road transport cost class 2; reference terminal Lesedi"/>
          <p:cNvSpPr/>
          <p:nvPr/>
        </p:nvSpPr>
        <p:spPr>
          <a:xfrm>
            <a:off x="422341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2" name="Illustrative delivered road transport cost class 2; reference terminal Lesedi"/>
          <p:cNvSpPr/>
          <p:nvPr/>
        </p:nvSpPr>
        <p:spPr>
          <a:xfrm>
            <a:off x="422341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3" name="Illustrative delivered road transport cost class 2; reference terminal Lesedi"/>
          <p:cNvSpPr/>
          <p:nvPr/>
        </p:nvSpPr>
        <p:spPr>
          <a:xfrm>
            <a:off x="422341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4" name="Illustrative delivered road transport cost class 2; reference terminal Lesedi"/>
          <p:cNvSpPr/>
          <p:nvPr/>
        </p:nvSpPr>
        <p:spPr>
          <a:xfrm>
            <a:off x="422341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5" name="Illustrative delivered road transport cost class 2; reference terminal Lesedi"/>
          <p:cNvSpPr/>
          <p:nvPr/>
        </p:nvSpPr>
        <p:spPr>
          <a:xfrm>
            <a:off x="4223414" y="4402188"/>
            <a:ext cx="57686" cy="57686"/>
          </a:xfrm>
          <a:custGeom>
            <a:avLst/>
            <a:gdLst/>
            <a:ahLst/>
            <a:cxnLst/>
            <a:rect l="l" t="t" r="r" b="b"/>
            <a:pathLst>
              <a:path w="57686" h="57686">
                <a:moveTo>
                  <a:pt x="57686" y="57686"/>
                </a:moveTo>
                <a:lnTo>
                  <a:pt x="0" y="57686"/>
                </a:lnTo>
                <a:lnTo>
                  <a:pt x="0" y="0"/>
                </a:lnTo>
                <a:lnTo>
                  <a:pt x="17701" y="0"/>
                </a:lnTo>
                <a:lnTo>
                  <a:pt x="20286" y="1798"/>
                </a:lnTo>
                <a:lnTo>
                  <a:pt x="33574" y="8598"/>
                </a:lnTo>
                <a:lnTo>
                  <a:pt x="36706" y="13013"/>
                </a:lnTo>
                <a:lnTo>
                  <a:pt x="45952" y="20958"/>
                </a:lnTo>
                <a:lnTo>
                  <a:pt x="54637" y="35267"/>
                </a:lnTo>
                <a:lnTo>
                  <a:pt x="57686" y="38904"/>
                </a:lnTo>
                <a:lnTo>
                  <a:pt x="57686"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6" name="Illustrative delivered road transport cost class 2; reference terminal Lesedi"/>
          <p:cNvSpPr/>
          <p:nvPr/>
        </p:nvSpPr>
        <p:spPr>
          <a:xfrm>
            <a:off x="4223414" y="4351146"/>
            <a:ext cx="17701" cy="51042"/>
          </a:xfrm>
          <a:custGeom>
            <a:avLst/>
            <a:gdLst/>
            <a:ahLst/>
            <a:cxnLst/>
            <a:rect l="l" t="t" r="r" b="b"/>
            <a:pathLst>
              <a:path w="17701" h="51042">
                <a:moveTo>
                  <a:pt x="0" y="51042"/>
                </a:moveTo>
                <a:lnTo>
                  <a:pt x="0" y="0"/>
                </a:lnTo>
                <a:lnTo>
                  <a:pt x="4354" y="6488"/>
                </a:lnTo>
                <a:lnTo>
                  <a:pt x="2632" y="29167"/>
                </a:lnTo>
                <a:lnTo>
                  <a:pt x="5652" y="37373"/>
                </a:lnTo>
                <a:lnTo>
                  <a:pt x="10875" y="46874"/>
                </a:lnTo>
                <a:lnTo>
                  <a:pt x="15288" y="49363"/>
                </a:lnTo>
                <a:lnTo>
                  <a:pt x="17701" y="51042"/>
                </a:lnTo>
                <a:lnTo>
                  <a:pt x="0" y="51042"/>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7" name="Illustrative delivered road transport cost class None; reference terminal None"/>
          <p:cNvSpPr/>
          <p:nvPr/>
        </p:nvSpPr>
        <p:spPr>
          <a:xfrm>
            <a:off x="4223414" y="4171441"/>
            <a:ext cx="12464" cy="15727"/>
          </a:xfrm>
          <a:custGeom>
            <a:avLst/>
            <a:gdLst/>
            <a:ahLst/>
            <a:cxnLst/>
            <a:rect l="l" t="t" r="r" b="b"/>
            <a:pathLst>
              <a:path w="12464" h="15727">
                <a:moveTo>
                  <a:pt x="0" y="0"/>
                </a:moveTo>
                <a:lnTo>
                  <a:pt x="12464" y="0"/>
                </a:lnTo>
                <a:lnTo>
                  <a:pt x="8330" y="6319"/>
                </a:lnTo>
                <a:lnTo>
                  <a:pt x="0" y="1572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8" name="Illustrative delivered road transport cost class None; reference terminal None"/>
          <p:cNvSpPr/>
          <p:nvPr/>
        </p:nvSpPr>
        <p:spPr>
          <a:xfrm>
            <a:off x="4223414" y="4113755"/>
            <a:ext cx="53309" cy="57686"/>
          </a:xfrm>
          <a:custGeom>
            <a:avLst/>
            <a:gdLst/>
            <a:ahLst/>
            <a:cxnLst/>
            <a:rect l="l" t="t" r="r" b="b"/>
            <a:pathLst>
              <a:path w="53309" h="57686">
                <a:moveTo>
                  <a:pt x="0" y="57686"/>
                </a:moveTo>
                <a:lnTo>
                  <a:pt x="0" y="0"/>
                </a:lnTo>
                <a:lnTo>
                  <a:pt x="53309" y="0"/>
                </a:lnTo>
                <a:lnTo>
                  <a:pt x="47645" y="8746"/>
                </a:lnTo>
                <a:lnTo>
                  <a:pt x="39324" y="18915"/>
                </a:lnTo>
                <a:lnTo>
                  <a:pt x="31785" y="25453"/>
                </a:lnTo>
                <a:lnTo>
                  <a:pt x="24064" y="39961"/>
                </a:lnTo>
                <a:lnTo>
                  <a:pt x="1246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9" name="Illustrative delivered road transport cost class None; reference terminal None"/>
          <p:cNvSpPr/>
          <p:nvPr/>
        </p:nvSpPr>
        <p:spPr>
          <a:xfrm>
            <a:off x="4223414" y="4056068"/>
            <a:ext cx="57686" cy="57687"/>
          </a:xfrm>
          <a:custGeom>
            <a:avLst/>
            <a:gdLst/>
            <a:ahLst/>
            <a:cxnLst/>
            <a:rect l="l" t="t" r="r" b="b"/>
            <a:pathLst>
              <a:path w="57686" h="57687">
                <a:moveTo>
                  <a:pt x="0" y="57687"/>
                </a:moveTo>
                <a:lnTo>
                  <a:pt x="0" y="0"/>
                </a:lnTo>
                <a:lnTo>
                  <a:pt x="57686" y="0"/>
                </a:lnTo>
                <a:lnTo>
                  <a:pt x="57686" y="50928"/>
                </a:lnTo>
                <a:lnTo>
                  <a:pt x="5330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0" name="Illustrative delivered road transport cost class 1; reference terminal Lesedi"/>
          <p:cNvSpPr/>
          <p:nvPr/>
        </p:nvSpPr>
        <p:spPr>
          <a:xfrm>
            <a:off x="4223414"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1" name="Illustrative delivered road transport cost class 1; reference terminal Lesedi"/>
          <p:cNvSpPr/>
          <p:nvPr/>
        </p:nvSpPr>
        <p:spPr>
          <a:xfrm>
            <a:off x="4223414"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2" name="Illustrative delivered road transport cost class 1; reference terminal Lesedi"/>
          <p:cNvSpPr/>
          <p:nvPr/>
        </p:nvSpPr>
        <p:spPr>
          <a:xfrm>
            <a:off x="4223414"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3" name="Illustrative delivered road transport cost class 0; reference terminal Lesedi"/>
          <p:cNvSpPr/>
          <p:nvPr/>
        </p:nvSpPr>
        <p:spPr>
          <a:xfrm>
            <a:off x="4223414"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4" name="Illustrative delivered road transport cost class 0; reference terminal Lesedi"/>
          <p:cNvSpPr/>
          <p:nvPr/>
        </p:nvSpPr>
        <p:spPr>
          <a:xfrm>
            <a:off x="4223414"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5" name="Illustrative delivered road transport cost class 0; reference terminal Lesedi"/>
          <p:cNvSpPr/>
          <p:nvPr/>
        </p:nvSpPr>
        <p:spPr>
          <a:xfrm>
            <a:off x="4223414"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6" name="Illustrative delivered road transport cost class 0; reference terminal Lesedi"/>
          <p:cNvSpPr/>
          <p:nvPr/>
        </p:nvSpPr>
        <p:spPr>
          <a:xfrm>
            <a:off x="4223414"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7" name="Illustrative delivered road transport cost class 0; reference terminal Lesedi"/>
          <p:cNvSpPr/>
          <p:nvPr/>
        </p:nvSpPr>
        <p:spPr>
          <a:xfrm>
            <a:off x="4223414"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8" name="Illustrative delivered road transport cost class 0; reference terminal Lesedi"/>
          <p:cNvSpPr/>
          <p:nvPr/>
        </p:nvSpPr>
        <p:spPr>
          <a:xfrm>
            <a:off x="4223414"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9" name="Illustrative delivered road transport cost class 0; reference terminal Lesedi"/>
          <p:cNvSpPr/>
          <p:nvPr/>
        </p:nvSpPr>
        <p:spPr>
          <a:xfrm>
            <a:off x="4223414"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0" name="Illustrative delivered road transport cost class 0; reference terminal Lesedi"/>
          <p:cNvSpPr/>
          <p:nvPr/>
        </p:nvSpPr>
        <p:spPr>
          <a:xfrm>
            <a:off x="4223414"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1" name="Illustrative delivered road transport cost class 0; reference terminal Lesedi"/>
          <p:cNvSpPr/>
          <p:nvPr/>
        </p:nvSpPr>
        <p:spPr>
          <a:xfrm>
            <a:off x="4223414"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2" name="Illustrative delivered road transport cost class 0; reference terminal Lesedi"/>
          <p:cNvSpPr/>
          <p:nvPr/>
        </p:nvSpPr>
        <p:spPr>
          <a:xfrm>
            <a:off x="4223414"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3" name="Illustrative delivered road transport cost class 0; reference terminal Lesedi"/>
          <p:cNvSpPr/>
          <p:nvPr/>
        </p:nvSpPr>
        <p:spPr>
          <a:xfrm>
            <a:off x="4223414"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4" name="Illustrative delivered road transport cost class 0; reference terminal Lesedi"/>
          <p:cNvSpPr/>
          <p:nvPr/>
        </p:nvSpPr>
        <p:spPr>
          <a:xfrm>
            <a:off x="4223414"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5" name="Illustrative delivered road transport cost class 0; reference terminal Lesedi"/>
          <p:cNvSpPr/>
          <p:nvPr/>
        </p:nvSpPr>
        <p:spPr>
          <a:xfrm>
            <a:off x="4223414"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6" name="Illustrative delivered road transport cost class 0; reference terminal Lesedi"/>
          <p:cNvSpPr/>
          <p:nvPr/>
        </p:nvSpPr>
        <p:spPr>
          <a:xfrm>
            <a:off x="4223414"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7" name="Illustrative delivered road transport cost class 0; reference terminal Lesedi"/>
          <p:cNvSpPr/>
          <p:nvPr/>
        </p:nvSpPr>
        <p:spPr>
          <a:xfrm>
            <a:off x="4223414"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8" name="Illustrative delivered road transport cost class 0; reference terminal Lesedi"/>
          <p:cNvSpPr/>
          <p:nvPr/>
        </p:nvSpPr>
        <p:spPr>
          <a:xfrm>
            <a:off x="4223414"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9" name="Illustrative delivered road transport cost class None; reference terminal None"/>
          <p:cNvSpPr/>
          <p:nvPr/>
        </p:nvSpPr>
        <p:spPr>
          <a:xfrm>
            <a:off x="4223414"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0" name="Illustrative delivered road transport cost class None; reference terminal None"/>
          <p:cNvSpPr/>
          <p:nvPr/>
        </p:nvSpPr>
        <p:spPr>
          <a:xfrm>
            <a:off x="4223414"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1" name="Illustrative delivered road transport cost class None; reference terminal None"/>
          <p:cNvSpPr/>
          <p:nvPr/>
        </p:nvSpPr>
        <p:spPr>
          <a:xfrm>
            <a:off x="4223414"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2" name="Illustrative delivered road transport cost class None; reference terminal None"/>
          <p:cNvSpPr/>
          <p:nvPr/>
        </p:nvSpPr>
        <p:spPr>
          <a:xfrm>
            <a:off x="4223414"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3" name="Illustrative delivered road transport cost class None; reference terminal None"/>
          <p:cNvSpPr/>
          <p:nvPr/>
        </p:nvSpPr>
        <p:spPr>
          <a:xfrm>
            <a:off x="4223414"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4" name="Illustrative delivered road transport cost class None; reference terminal None"/>
          <p:cNvSpPr/>
          <p:nvPr/>
        </p:nvSpPr>
        <p:spPr>
          <a:xfrm>
            <a:off x="4223414" y="2624722"/>
            <a:ext cx="57686" cy="46868"/>
          </a:xfrm>
          <a:custGeom>
            <a:avLst/>
            <a:gdLst/>
            <a:ahLst/>
            <a:cxnLst/>
            <a:rect l="l" t="t" r="r" b="b"/>
            <a:pathLst>
              <a:path w="57686" h="46868">
                <a:moveTo>
                  <a:pt x="57686" y="46868"/>
                </a:moveTo>
                <a:lnTo>
                  <a:pt x="0" y="46868"/>
                </a:lnTo>
                <a:lnTo>
                  <a:pt x="0" y="33976"/>
                </a:lnTo>
                <a:lnTo>
                  <a:pt x="9593" y="27980"/>
                </a:lnTo>
                <a:lnTo>
                  <a:pt x="26902" y="11490"/>
                </a:lnTo>
                <a:lnTo>
                  <a:pt x="47342" y="1504"/>
                </a:lnTo>
                <a:lnTo>
                  <a:pt x="57686" y="0"/>
                </a:lnTo>
                <a:lnTo>
                  <a:pt x="57686" y="4686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5" name="Illustrative delivered road transport cost class 1; reference terminal Durban"/>
          <p:cNvSpPr/>
          <p:nvPr/>
        </p:nvSpPr>
        <p:spPr>
          <a:xfrm>
            <a:off x="4281100" y="5094426"/>
            <a:ext cx="46760" cy="30279"/>
          </a:xfrm>
          <a:custGeom>
            <a:avLst/>
            <a:gdLst/>
            <a:ahLst/>
            <a:cxnLst/>
            <a:rect l="l" t="t" r="r" b="b"/>
            <a:pathLst>
              <a:path w="46760" h="30279">
                <a:moveTo>
                  <a:pt x="0" y="0"/>
                </a:moveTo>
                <a:lnTo>
                  <a:pt x="46760" y="0"/>
                </a:lnTo>
                <a:lnTo>
                  <a:pt x="39941" y="6163"/>
                </a:lnTo>
                <a:lnTo>
                  <a:pt x="18427" y="16406"/>
                </a:lnTo>
                <a:lnTo>
                  <a:pt x="0" y="3027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6" name="Illustrative delivered road transport cost class 1; reference terminal Durban"/>
          <p:cNvSpPr/>
          <p:nvPr/>
        </p:nvSpPr>
        <p:spPr>
          <a:xfrm>
            <a:off x="4281100" y="5036740"/>
            <a:ext cx="57687" cy="57686"/>
          </a:xfrm>
          <a:custGeom>
            <a:avLst/>
            <a:gdLst/>
            <a:ahLst/>
            <a:cxnLst/>
            <a:rect l="l" t="t" r="r" b="b"/>
            <a:pathLst>
              <a:path w="57687" h="57686">
                <a:moveTo>
                  <a:pt x="0" y="57686"/>
                </a:moveTo>
                <a:lnTo>
                  <a:pt x="0" y="0"/>
                </a:lnTo>
                <a:lnTo>
                  <a:pt x="57687" y="0"/>
                </a:lnTo>
                <a:lnTo>
                  <a:pt x="57687" y="47813"/>
                </a:lnTo>
                <a:lnTo>
                  <a:pt x="46760"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7" name="Illustrative delivered road transport cost class 1; reference terminal Durban"/>
          <p:cNvSpPr/>
          <p:nvPr/>
        </p:nvSpPr>
        <p:spPr>
          <a:xfrm>
            <a:off x="428110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8" name="Illustrative delivered road transport cost class 1; reference terminal Durban"/>
          <p:cNvSpPr/>
          <p:nvPr/>
        </p:nvSpPr>
        <p:spPr>
          <a:xfrm>
            <a:off x="428110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9" name="Illustrative delivered road transport cost class 1; reference terminal Durban"/>
          <p:cNvSpPr/>
          <p:nvPr/>
        </p:nvSpPr>
        <p:spPr>
          <a:xfrm>
            <a:off x="428110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0" name="Illustrative delivered road transport cost class 1; reference terminal Durban"/>
          <p:cNvSpPr/>
          <p:nvPr/>
        </p:nvSpPr>
        <p:spPr>
          <a:xfrm>
            <a:off x="428110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1" name="Illustrative delivered road transport cost class 1; reference terminal Durban"/>
          <p:cNvSpPr/>
          <p:nvPr/>
        </p:nvSpPr>
        <p:spPr>
          <a:xfrm>
            <a:off x="428110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2" name="Illustrative delivered road transport cost class 1; reference terminal Durban"/>
          <p:cNvSpPr/>
          <p:nvPr/>
        </p:nvSpPr>
        <p:spPr>
          <a:xfrm>
            <a:off x="428110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3" name="Illustrative delivered road transport cost class 1; reference terminal Durban"/>
          <p:cNvSpPr/>
          <p:nvPr/>
        </p:nvSpPr>
        <p:spPr>
          <a:xfrm>
            <a:off x="428110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4" name="Illustrative delivered road transport cost class 2; reference terminal Lesedi"/>
          <p:cNvSpPr/>
          <p:nvPr/>
        </p:nvSpPr>
        <p:spPr>
          <a:xfrm>
            <a:off x="428110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5" name="Illustrative delivered road transport cost class 2; reference terminal Lesedi"/>
          <p:cNvSpPr/>
          <p:nvPr/>
        </p:nvSpPr>
        <p:spPr>
          <a:xfrm>
            <a:off x="428110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6" name="Illustrative delivered road transport cost class 2; reference terminal Lesedi"/>
          <p:cNvSpPr/>
          <p:nvPr/>
        </p:nvSpPr>
        <p:spPr>
          <a:xfrm>
            <a:off x="4281100" y="4459874"/>
            <a:ext cx="57687" cy="57687"/>
          </a:xfrm>
          <a:custGeom>
            <a:avLst/>
            <a:gdLst/>
            <a:ahLst/>
            <a:cxnLst/>
            <a:rect l="l" t="t" r="r" b="b"/>
            <a:pathLst>
              <a:path w="57687" h="57687">
                <a:moveTo>
                  <a:pt x="57687" y="57687"/>
                </a:moveTo>
                <a:lnTo>
                  <a:pt x="0" y="57687"/>
                </a:lnTo>
                <a:lnTo>
                  <a:pt x="0" y="0"/>
                </a:lnTo>
                <a:lnTo>
                  <a:pt x="16796" y="0"/>
                </a:lnTo>
                <a:lnTo>
                  <a:pt x="32339" y="12574"/>
                </a:lnTo>
                <a:lnTo>
                  <a:pt x="57687" y="17906"/>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7" name="Illustrative delivered road transport cost class None; reference terminal None"/>
          <p:cNvSpPr/>
          <p:nvPr/>
        </p:nvSpPr>
        <p:spPr>
          <a:xfrm>
            <a:off x="4281100" y="4441092"/>
            <a:ext cx="16796" cy="18782"/>
          </a:xfrm>
          <a:custGeom>
            <a:avLst/>
            <a:gdLst/>
            <a:ahLst/>
            <a:cxnLst/>
            <a:rect l="l" t="t" r="r" b="b"/>
            <a:pathLst>
              <a:path w="16796" h="18782">
                <a:moveTo>
                  <a:pt x="0" y="18782"/>
                </a:moveTo>
                <a:lnTo>
                  <a:pt x="0" y="0"/>
                </a:lnTo>
                <a:lnTo>
                  <a:pt x="13545" y="16152"/>
                </a:lnTo>
                <a:lnTo>
                  <a:pt x="16796" y="18782"/>
                </a:lnTo>
                <a:lnTo>
                  <a:pt x="0" y="1878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8" name="Illustrative delivered road transport cost class None; reference terminal None"/>
          <p:cNvSpPr/>
          <p:nvPr/>
        </p:nvSpPr>
        <p:spPr>
          <a:xfrm>
            <a:off x="4281100" y="4056068"/>
            <a:ext cx="33084" cy="50928"/>
          </a:xfrm>
          <a:custGeom>
            <a:avLst/>
            <a:gdLst/>
            <a:ahLst/>
            <a:cxnLst/>
            <a:rect l="l" t="t" r="r" b="b"/>
            <a:pathLst>
              <a:path w="33084" h="50928">
                <a:moveTo>
                  <a:pt x="0" y="0"/>
                </a:moveTo>
                <a:lnTo>
                  <a:pt x="33084" y="0"/>
                </a:lnTo>
                <a:lnTo>
                  <a:pt x="20940" y="18711"/>
                </a:lnTo>
                <a:lnTo>
                  <a:pt x="4609" y="43812"/>
                </a:lnTo>
                <a:lnTo>
                  <a:pt x="0" y="50928"/>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9" name="Illustrative delivered road transport cost class None; reference terminal None"/>
          <p:cNvSpPr/>
          <p:nvPr/>
        </p:nvSpPr>
        <p:spPr>
          <a:xfrm>
            <a:off x="4281100" y="3998382"/>
            <a:ext cx="57687" cy="57686"/>
          </a:xfrm>
          <a:custGeom>
            <a:avLst/>
            <a:gdLst/>
            <a:ahLst/>
            <a:cxnLst/>
            <a:rect l="l" t="t" r="r" b="b"/>
            <a:pathLst>
              <a:path w="57687" h="57686">
                <a:moveTo>
                  <a:pt x="0" y="57686"/>
                </a:moveTo>
                <a:lnTo>
                  <a:pt x="0" y="0"/>
                </a:lnTo>
                <a:lnTo>
                  <a:pt x="57687" y="0"/>
                </a:lnTo>
                <a:lnTo>
                  <a:pt x="57687" y="42797"/>
                </a:lnTo>
                <a:lnTo>
                  <a:pt x="38441" y="49434"/>
                </a:lnTo>
                <a:lnTo>
                  <a:pt x="3308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0" name="Illustrative delivered road transport cost class 1; reference terminal Lesedi"/>
          <p:cNvSpPr/>
          <p:nvPr/>
        </p:nvSpPr>
        <p:spPr>
          <a:xfrm>
            <a:off x="4281100"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1" name="Illustrative delivered road transport cost class 1; reference terminal Lesedi"/>
          <p:cNvSpPr/>
          <p:nvPr/>
        </p:nvSpPr>
        <p:spPr>
          <a:xfrm>
            <a:off x="428110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2" name="Illustrative delivered road transport cost class 1; reference terminal Lesedi"/>
          <p:cNvSpPr/>
          <p:nvPr/>
        </p:nvSpPr>
        <p:spPr>
          <a:xfrm>
            <a:off x="428110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3" name="Illustrative delivered road transport cost class 0; reference terminal Lesedi"/>
          <p:cNvSpPr/>
          <p:nvPr/>
        </p:nvSpPr>
        <p:spPr>
          <a:xfrm>
            <a:off x="428110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4" name="Illustrative delivered road transport cost class 0; reference terminal Lesedi"/>
          <p:cNvSpPr/>
          <p:nvPr/>
        </p:nvSpPr>
        <p:spPr>
          <a:xfrm>
            <a:off x="428110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5" name="Illustrative delivered road transport cost class 0; reference terminal Lesedi"/>
          <p:cNvSpPr/>
          <p:nvPr/>
        </p:nvSpPr>
        <p:spPr>
          <a:xfrm>
            <a:off x="428110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6" name="Illustrative delivered road transport cost class 0; reference terminal Lesedi"/>
          <p:cNvSpPr/>
          <p:nvPr/>
        </p:nvSpPr>
        <p:spPr>
          <a:xfrm>
            <a:off x="428110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7" name="Illustrative delivered road transport cost class 0; reference terminal Lesedi"/>
          <p:cNvSpPr/>
          <p:nvPr/>
        </p:nvSpPr>
        <p:spPr>
          <a:xfrm>
            <a:off x="428110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8" name="Illustrative delivered road transport cost class 0; reference terminal Lesedi"/>
          <p:cNvSpPr/>
          <p:nvPr/>
        </p:nvSpPr>
        <p:spPr>
          <a:xfrm>
            <a:off x="428110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9" name="Illustrative delivered road transport cost class 0; reference terminal Lesedi"/>
          <p:cNvSpPr/>
          <p:nvPr/>
        </p:nvSpPr>
        <p:spPr>
          <a:xfrm>
            <a:off x="428110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0" name="Illustrative delivered road transport cost class 0; reference terminal Lesedi"/>
          <p:cNvSpPr/>
          <p:nvPr/>
        </p:nvSpPr>
        <p:spPr>
          <a:xfrm>
            <a:off x="428110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1" name="Illustrative delivered road transport cost class 0; reference terminal Lesedi"/>
          <p:cNvSpPr/>
          <p:nvPr/>
        </p:nvSpPr>
        <p:spPr>
          <a:xfrm>
            <a:off x="428110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2" name="Illustrative delivered road transport cost class 0; reference terminal Lesedi"/>
          <p:cNvSpPr/>
          <p:nvPr/>
        </p:nvSpPr>
        <p:spPr>
          <a:xfrm>
            <a:off x="428110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3" name="Illustrative delivered road transport cost class 0; reference terminal Lesedi"/>
          <p:cNvSpPr/>
          <p:nvPr/>
        </p:nvSpPr>
        <p:spPr>
          <a:xfrm>
            <a:off x="428110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4" name="Illustrative delivered road transport cost class 0; reference terminal Lesedi"/>
          <p:cNvSpPr/>
          <p:nvPr/>
        </p:nvSpPr>
        <p:spPr>
          <a:xfrm>
            <a:off x="428110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5" name="Illustrative delivered road transport cost class 0; reference terminal Lesedi"/>
          <p:cNvSpPr/>
          <p:nvPr/>
        </p:nvSpPr>
        <p:spPr>
          <a:xfrm>
            <a:off x="428110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6" name="Illustrative delivered road transport cost class 0; reference terminal Lesedi"/>
          <p:cNvSpPr/>
          <p:nvPr/>
        </p:nvSpPr>
        <p:spPr>
          <a:xfrm>
            <a:off x="428110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7" name="Illustrative delivered road transport cost class 0; reference terminal Lesedi"/>
          <p:cNvSpPr/>
          <p:nvPr/>
        </p:nvSpPr>
        <p:spPr>
          <a:xfrm>
            <a:off x="428110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8" name="Illustrative delivered road transport cost class None; reference terminal None"/>
          <p:cNvSpPr/>
          <p:nvPr/>
        </p:nvSpPr>
        <p:spPr>
          <a:xfrm>
            <a:off x="428110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9" name="Illustrative delivered road transport cost class None; reference terminal None"/>
          <p:cNvSpPr/>
          <p:nvPr/>
        </p:nvSpPr>
        <p:spPr>
          <a:xfrm>
            <a:off x="428110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0" name="Illustrative delivered road transport cost class None; reference terminal None"/>
          <p:cNvSpPr/>
          <p:nvPr/>
        </p:nvSpPr>
        <p:spPr>
          <a:xfrm>
            <a:off x="428110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1" name="Illustrative delivered road transport cost class None; reference terminal None"/>
          <p:cNvSpPr/>
          <p:nvPr/>
        </p:nvSpPr>
        <p:spPr>
          <a:xfrm>
            <a:off x="428110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2" name="Illustrative delivered road transport cost class None; reference terminal None"/>
          <p:cNvSpPr/>
          <p:nvPr/>
        </p:nvSpPr>
        <p:spPr>
          <a:xfrm>
            <a:off x="428110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3" name="Illustrative delivered road transport cost class None; reference terminal None"/>
          <p:cNvSpPr/>
          <p:nvPr/>
        </p:nvSpPr>
        <p:spPr>
          <a:xfrm>
            <a:off x="4281100" y="2613904"/>
            <a:ext cx="57687" cy="57686"/>
          </a:xfrm>
          <a:custGeom>
            <a:avLst/>
            <a:gdLst/>
            <a:ahLst/>
            <a:cxnLst/>
            <a:rect l="l" t="t" r="r" b="b"/>
            <a:pathLst>
              <a:path w="57687" h="57686">
                <a:moveTo>
                  <a:pt x="57687" y="0"/>
                </a:moveTo>
                <a:lnTo>
                  <a:pt x="57687" y="57686"/>
                </a:lnTo>
                <a:lnTo>
                  <a:pt x="0" y="57686"/>
                </a:lnTo>
                <a:lnTo>
                  <a:pt x="0" y="10818"/>
                </a:lnTo>
                <a:lnTo>
                  <a:pt x="13219" y="8896"/>
                </a:lnTo>
                <a:lnTo>
                  <a:pt x="25858"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4" name="Illustrative delivered road transport cost class None; reference terminal None"/>
          <p:cNvSpPr/>
          <p:nvPr/>
        </p:nvSpPr>
        <p:spPr>
          <a:xfrm>
            <a:off x="4306958" y="2585046"/>
            <a:ext cx="31829" cy="28858"/>
          </a:xfrm>
          <a:custGeom>
            <a:avLst/>
            <a:gdLst/>
            <a:ahLst/>
            <a:cxnLst/>
            <a:rect l="l" t="t" r="r" b="b"/>
            <a:pathLst>
              <a:path w="31829" h="28858">
                <a:moveTo>
                  <a:pt x="31829" y="28858"/>
                </a:moveTo>
                <a:lnTo>
                  <a:pt x="0" y="28858"/>
                </a:lnTo>
                <a:lnTo>
                  <a:pt x="2787" y="26896"/>
                </a:lnTo>
                <a:lnTo>
                  <a:pt x="10101" y="8669"/>
                </a:lnTo>
                <a:lnTo>
                  <a:pt x="22365" y="0"/>
                </a:lnTo>
                <a:lnTo>
                  <a:pt x="31829" y="478"/>
                </a:lnTo>
                <a:lnTo>
                  <a:pt x="31829" y="288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5" name="Illustrative delivered road transport cost class 1; reference terminal Durban"/>
          <p:cNvSpPr/>
          <p:nvPr/>
        </p:nvSpPr>
        <p:spPr>
          <a:xfrm>
            <a:off x="4338787" y="5036740"/>
            <a:ext cx="52912" cy="47813"/>
          </a:xfrm>
          <a:custGeom>
            <a:avLst/>
            <a:gdLst/>
            <a:ahLst/>
            <a:cxnLst/>
            <a:rect l="l" t="t" r="r" b="b"/>
            <a:pathLst>
              <a:path w="52912" h="47813">
                <a:moveTo>
                  <a:pt x="0" y="0"/>
                </a:moveTo>
                <a:lnTo>
                  <a:pt x="52912" y="0"/>
                </a:lnTo>
                <a:lnTo>
                  <a:pt x="0" y="4781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6" name="Illustrative delivered road transport cost class 1; reference terminal Durban"/>
          <p:cNvSpPr/>
          <p:nvPr/>
        </p:nvSpPr>
        <p:spPr>
          <a:xfrm>
            <a:off x="4338787" y="4979053"/>
            <a:ext cx="57686" cy="57687"/>
          </a:xfrm>
          <a:custGeom>
            <a:avLst/>
            <a:gdLst/>
            <a:ahLst/>
            <a:cxnLst/>
            <a:rect l="l" t="t" r="r" b="b"/>
            <a:pathLst>
              <a:path w="57686" h="57687">
                <a:moveTo>
                  <a:pt x="0" y="57687"/>
                </a:moveTo>
                <a:lnTo>
                  <a:pt x="0" y="0"/>
                </a:lnTo>
                <a:lnTo>
                  <a:pt x="57686" y="0"/>
                </a:lnTo>
                <a:lnTo>
                  <a:pt x="57686" y="53373"/>
                </a:lnTo>
                <a:lnTo>
                  <a:pt x="5291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7" name="Illustrative delivered road transport cost class 1; reference terminal Durban"/>
          <p:cNvSpPr/>
          <p:nvPr/>
        </p:nvSpPr>
        <p:spPr>
          <a:xfrm>
            <a:off x="433878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8" name="Illustrative delivered road transport cost class 1; reference terminal Durban"/>
          <p:cNvSpPr/>
          <p:nvPr/>
        </p:nvSpPr>
        <p:spPr>
          <a:xfrm>
            <a:off x="433878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9" name="Illustrative delivered road transport cost class 1; reference terminal Durban"/>
          <p:cNvSpPr/>
          <p:nvPr/>
        </p:nvSpPr>
        <p:spPr>
          <a:xfrm>
            <a:off x="433878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0" name="Illustrative delivered road transport cost class 1; reference terminal Durban"/>
          <p:cNvSpPr/>
          <p:nvPr/>
        </p:nvSpPr>
        <p:spPr>
          <a:xfrm>
            <a:off x="433878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1" name="Illustrative delivered road transport cost class 1; reference terminal Durban"/>
          <p:cNvSpPr/>
          <p:nvPr/>
        </p:nvSpPr>
        <p:spPr>
          <a:xfrm>
            <a:off x="433878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2" name="Illustrative delivered road transport cost class 1; reference terminal Durban"/>
          <p:cNvSpPr/>
          <p:nvPr/>
        </p:nvSpPr>
        <p:spPr>
          <a:xfrm>
            <a:off x="433878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3" name="Illustrative delivered road transport cost class 1; reference terminal Durban"/>
          <p:cNvSpPr/>
          <p:nvPr/>
        </p:nvSpPr>
        <p:spPr>
          <a:xfrm>
            <a:off x="433878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4" name="Illustrative delivered road transport cost class None; reference terminal None"/>
          <p:cNvSpPr/>
          <p:nvPr/>
        </p:nvSpPr>
        <p:spPr>
          <a:xfrm>
            <a:off x="433878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5" name="Illustrative delivered road transport cost class None; reference terminal None"/>
          <p:cNvSpPr/>
          <p:nvPr/>
        </p:nvSpPr>
        <p:spPr>
          <a:xfrm>
            <a:off x="4338787" y="4459874"/>
            <a:ext cx="57686" cy="57687"/>
          </a:xfrm>
          <a:custGeom>
            <a:avLst/>
            <a:gdLst/>
            <a:ahLst/>
            <a:cxnLst/>
            <a:rect l="l" t="t" r="r" b="b"/>
            <a:pathLst>
              <a:path w="57686" h="57687">
                <a:moveTo>
                  <a:pt x="57686" y="0"/>
                </a:moveTo>
                <a:lnTo>
                  <a:pt x="57686" y="57687"/>
                </a:lnTo>
                <a:lnTo>
                  <a:pt x="0" y="57687"/>
                </a:lnTo>
                <a:lnTo>
                  <a:pt x="0" y="17906"/>
                </a:lnTo>
                <a:lnTo>
                  <a:pt x="7396" y="19461"/>
                </a:lnTo>
                <a:lnTo>
                  <a:pt x="32990" y="24831"/>
                </a:lnTo>
                <a:lnTo>
                  <a:pt x="41617" y="22181"/>
                </a:lnTo>
                <a:lnTo>
                  <a:pt x="50685" y="10522"/>
                </a:lnTo>
                <a:lnTo>
                  <a:pt x="5598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6" name="Illustrative delivered road transport cost class None; reference terminal None"/>
          <p:cNvSpPr/>
          <p:nvPr/>
        </p:nvSpPr>
        <p:spPr>
          <a:xfrm>
            <a:off x="4338787" y="3998382"/>
            <a:ext cx="57686" cy="42797"/>
          </a:xfrm>
          <a:custGeom>
            <a:avLst/>
            <a:gdLst/>
            <a:ahLst/>
            <a:cxnLst/>
            <a:rect l="l" t="t" r="r" b="b"/>
            <a:pathLst>
              <a:path w="57686" h="42797">
                <a:moveTo>
                  <a:pt x="0" y="0"/>
                </a:moveTo>
                <a:lnTo>
                  <a:pt x="57686" y="0"/>
                </a:lnTo>
                <a:lnTo>
                  <a:pt x="57686" y="12496"/>
                </a:lnTo>
                <a:lnTo>
                  <a:pt x="31616" y="33586"/>
                </a:lnTo>
                <a:lnTo>
                  <a:pt x="2264" y="42017"/>
                </a:lnTo>
                <a:lnTo>
                  <a:pt x="0" y="4279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7" name="Illustrative delivered road transport cost class None; reference terminal None"/>
          <p:cNvSpPr/>
          <p:nvPr/>
        </p:nvSpPr>
        <p:spPr>
          <a:xfrm>
            <a:off x="4338787"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8" name="Illustrative delivered road transport cost class None; reference terminal None"/>
          <p:cNvSpPr/>
          <p:nvPr/>
        </p:nvSpPr>
        <p:spPr>
          <a:xfrm>
            <a:off x="433878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9" name="Illustrative delivered road transport cost class 1; reference terminal Lesedi"/>
          <p:cNvSpPr/>
          <p:nvPr/>
        </p:nvSpPr>
        <p:spPr>
          <a:xfrm>
            <a:off x="433878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0" name="Illustrative delivered road transport cost class 1; reference terminal Lesedi"/>
          <p:cNvSpPr/>
          <p:nvPr/>
        </p:nvSpPr>
        <p:spPr>
          <a:xfrm>
            <a:off x="433878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1" name="Illustrative delivered road transport cost class 0; reference terminal Lesedi"/>
          <p:cNvSpPr/>
          <p:nvPr/>
        </p:nvSpPr>
        <p:spPr>
          <a:xfrm>
            <a:off x="433878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2" name="Illustrative delivered road transport cost class 0; reference terminal Lesedi"/>
          <p:cNvSpPr/>
          <p:nvPr/>
        </p:nvSpPr>
        <p:spPr>
          <a:xfrm>
            <a:off x="433878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3" name="Illustrative delivered road transport cost class 0; reference terminal Lesedi"/>
          <p:cNvSpPr/>
          <p:nvPr/>
        </p:nvSpPr>
        <p:spPr>
          <a:xfrm>
            <a:off x="433878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4" name="Illustrative delivered road transport cost class 0; reference terminal Lesedi"/>
          <p:cNvSpPr/>
          <p:nvPr/>
        </p:nvSpPr>
        <p:spPr>
          <a:xfrm>
            <a:off x="433878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5" name="Illustrative delivered road transport cost class 0; reference terminal Lesedi"/>
          <p:cNvSpPr/>
          <p:nvPr/>
        </p:nvSpPr>
        <p:spPr>
          <a:xfrm>
            <a:off x="433878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6" name="Illustrative delivered road transport cost class 0; reference terminal Lesedi"/>
          <p:cNvSpPr/>
          <p:nvPr/>
        </p:nvSpPr>
        <p:spPr>
          <a:xfrm>
            <a:off x="433878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7" name="Illustrative delivered road transport cost class 0; reference terminal Lesedi"/>
          <p:cNvSpPr/>
          <p:nvPr/>
        </p:nvSpPr>
        <p:spPr>
          <a:xfrm>
            <a:off x="433878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8" name="Illustrative delivered road transport cost class 0; reference terminal Lesedi"/>
          <p:cNvSpPr/>
          <p:nvPr/>
        </p:nvSpPr>
        <p:spPr>
          <a:xfrm>
            <a:off x="433878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9" name="Illustrative delivered road transport cost class 0; reference terminal Lesedi"/>
          <p:cNvSpPr/>
          <p:nvPr/>
        </p:nvSpPr>
        <p:spPr>
          <a:xfrm>
            <a:off x="433878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0" name="Illustrative delivered road transport cost class 0; reference terminal Lesedi"/>
          <p:cNvSpPr/>
          <p:nvPr/>
        </p:nvSpPr>
        <p:spPr>
          <a:xfrm>
            <a:off x="433878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1" name="Illustrative delivered road transport cost class 0; reference terminal Lesedi"/>
          <p:cNvSpPr/>
          <p:nvPr/>
        </p:nvSpPr>
        <p:spPr>
          <a:xfrm>
            <a:off x="433878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2" name="Illustrative delivered road transport cost class 0; reference terminal Lesedi"/>
          <p:cNvSpPr/>
          <p:nvPr/>
        </p:nvSpPr>
        <p:spPr>
          <a:xfrm>
            <a:off x="433878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3" name="Illustrative delivered road transport cost class 0; reference terminal Lesedi"/>
          <p:cNvSpPr/>
          <p:nvPr/>
        </p:nvSpPr>
        <p:spPr>
          <a:xfrm>
            <a:off x="433878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4" name="Illustrative delivered road transport cost class 0; reference terminal Lesedi"/>
          <p:cNvSpPr/>
          <p:nvPr/>
        </p:nvSpPr>
        <p:spPr>
          <a:xfrm>
            <a:off x="433878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5" name="Illustrative delivered road transport cost class 0; reference terminal Lesedi"/>
          <p:cNvSpPr/>
          <p:nvPr/>
        </p:nvSpPr>
        <p:spPr>
          <a:xfrm>
            <a:off x="433878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6" name="Illustrative delivered road transport cost class None; reference terminal None"/>
          <p:cNvSpPr/>
          <p:nvPr/>
        </p:nvSpPr>
        <p:spPr>
          <a:xfrm>
            <a:off x="433878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7" name="Illustrative delivered road transport cost class None; reference terminal None"/>
          <p:cNvSpPr/>
          <p:nvPr/>
        </p:nvSpPr>
        <p:spPr>
          <a:xfrm>
            <a:off x="433878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8" name="Illustrative delivered road transport cost class None; reference terminal None"/>
          <p:cNvSpPr/>
          <p:nvPr/>
        </p:nvSpPr>
        <p:spPr>
          <a:xfrm>
            <a:off x="433878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9" name="Illustrative delivered road transport cost class None; reference terminal None"/>
          <p:cNvSpPr/>
          <p:nvPr/>
        </p:nvSpPr>
        <p:spPr>
          <a:xfrm>
            <a:off x="433878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0" name="Illustrative delivered road transport cost class None; reference terminal None"/>
          <p:cNvSpPr/>
          <p:nvPr/>
        </p:nvSpPr>
        <p:spPr>
          <a:xfrm>
            <a:off x="433878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1" name="Illustrative delivered road transport cost class None; reference terminal None"/>
          <p:cNvSpPr/>
          <p:nvPr/>
        </p:nvSpPr>
        <p:spPr>
          <a:xfrm>
            <a:off x="4338787" y="2556217"/>
            <a:ext cx="57686" cy="57687"/>
          </a:xfrm>
          <a:custGeom>
            <a:avLst/>
            <a:gdLst/>
            <a:ahLst/>
            <a:cxnLst/>
            <a:rect l="l" t="t" r="r" b="b"/>
            <a:pathLst>
              <a:path w="57686" h="57687">
                <a:moveTo>
                  <a:pt x="57686" y="0"/>
                </a:moveTo>
                <a:lnTo>
                  <a:pt x="57686" y="57687"/>
                </a:lnTo>
                <a:lnTo>
                  <a:pt x="0" y="57687"/>
                </a:lnTo>
                <a:lnTo>
                  <a:pt x="0" y="29307"/>
                </a:lnTo>
                <a:lnTo>
                  <a:pt x="7768" y="29699"/>
                </a:lnTo>
                <a:lnTo>
                  <a:pt x="17695" y="24082"/>
                </a:lnTo>
                <a:lnTo>
                  <a:pt x="20365" y="11922"/>
                </a:lnTo>
                <a:lnTo>
                  <a:pt x="30994" y="1712"/>
                </a:lnTo>
                <a:lnTo>
                  <a:pt x="34844"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2" name="Illustrative delivered road transport cost class None; reference terminal None"/>
          <p:cNvSpPr/>
          <p:nvPr/>
        </p:nvSpPr>
        <p:spPr>
          <a:xfrm>
            <a:off x="4373631" y="2541422"/>
            <a:ext cx="22842" cy="14795"/>
          </a:xfrm>
          <a:custGeom>
            <a:avLst/>
            <a:gdLst/>
            <a:ahLst/>
            <a:cxnLst/>
            <a:rect l="l" t="t" r="r" b="b"/>
            <a:pathLst>
              <a:path w="22842" h="14795">
                <a:moveTo>
                  <a:pt x="22842" y="14795"/>
                </a:moveTo>
                <a:lnTo>
                  <a:pt x="0" y="14795"/>
                </a:lnTo>
                <a:lnTo>
                  <a:pt x="14767" y="8230"/>
                </a:lnTo>
                <a:lnTo>
                  <a:pt x="22842" y="0"/>
                </a:lnTo>
                <a:lnTo>
                  <a:pt x="22842" y="1479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3" name="Illustrative delivered road transport cost class 1; reference terminal Durban"/>
          <p:cNvSpPr/>
          <p:nvPr/>
        </p:nvSpPr>
        <p:spPr>
          <a:xfrm>
            <a:off x="4396473" y="4979053"/>
            <a:ext cx="57687" cy="53373"/>
          </a:xfrm>
          <a:custGeom>
            <a:avLst/>
            <a:gdLst/>
            <a:ahLst/>
            <a:cxnLst/>
            <a:rect l="l" t="t" r="r" b="b"/>
            <a:pathLst>
              <a:path w="57687" h="53373">
                <a:moveTo>
                  <a:pt x="0" y="0"/>
                </a:moveTo>
                <a:lnTo>
                  <a:pt x="57687" y="0"/>
                </a:lnTo>
                <a:lnTo>
                  <a:pt x="57687" y="12780"/>
                </a:lnTo>
                <a:lnTo>
                  <a:pt x="54944" y="15243"/>
                </a:lnTo>
                <a:lnTo>
                  <a:pt x="2897" y="50755"/>
                </a:lnTo>
                <a:lnTo>
                  <a:pt x="0" y="5337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4" name="Illustrative delivered road transport cost class 1; reference terminal Durban"/>
          <p:cNvSpPr/>
          <p:nvPr/>
        </p:nvSpPr>
        <p:spPr>
          <a:xfrm>
            <a:off x="439647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5" name="Illustrative delivered road transport cost class 1; reference terminal Durban"/>
          <p:cNvSpPr/>
          <p:nvPr/>
        </p:nvSpPr>
        <p:spPr>
          <a:xfrm>
            <a:off x="439647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6" name="Illustrative delivered road transport cost class 1; reference terminal Durban"/>
          <p:cNvSpPr/>
          <p:nvPr/>
        </p:nvSpPr>
        <p:spPr>
          <a:xfrm>
            <a:off x="439647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7" name="Illustrative delivered road transport cost class 1; reference terminal Durban"/>
          <p:cNvSpPr/>
          <p:nvPr/>
        </p:nvSpPr>
        <p:spPr>
          <a:xfrm>
            <a:off x="439647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8" name="Illustrative delivered road transport cost class 1; reference terminal Durban"/>
          <p:cNvSpPr/>
          <p:nvPr/>
        </p:nvSpPr>
        <p:spPr>
          <a:xfrm>
            <a:off x="439647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9" name="Illustrative delivered road transport cost class 1; reference terminal Durban"/>
          <p:cNvSpPr/>
          <p:nvPr/>
        </p:nvSpPr>
        <p:spPr>
          <a:xfrm>
            <a:off x="439647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0" name="Illustrative delivered road transport cost class 1; reference terminal Durban"/>
          <p:cNvSpPr/>
          <p:nvPr/>
        </p:nvSpPr>
        <p:spPr>
          <a:xfrm>
            <a:off x="439647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1" name="Illustrative delivered road transport cost class 1; reference terminal Durban"/>
          <p:cNvSpPr/>
          <p:nvPr/>
        </p:nvSpPr>
        <p:spPr>
          <a:xfrm>
            <a:off x="439647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2" name="Illustrative delivered road transport cost class 1; reference terminal Durban"/>
          <p:cNvSpPr/>
          <p:nvPr/>
        </p:nvSpPr>
        <p:spPr>
          <a:xfrm>
            <a:off x="439647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3" name="Illustrative delivered road transport cost class None; reference terminal None"/>
          <p:cNvSpPr/>
          <p:nvPr/>
        </p:nvSpPr>
        <p:spPr>
          <a:xfrm>
            <a:off x="4396473" y="4402188"/>
            <a:ext cx="57687" cy="57686"/>
          </a:xfrm>
          <a:custGeom>
            <a:avLst/>
            <a:gdLst/>
            <a:ahLst/>
            <a:cxnLst/>
            <a:rect l="l" t="t" r="r" b="b"/>
            <a:pathLst>
              <a:path w="57687" h="57686">
                <a:moveTo>
                  <a:pt x="57687" y="0"/>
                </a:moveTo>
                <a:lnTo>
                  <a:pt x="57687" y="57686"/>
                </a:lnTo>
                <a:lnTo>
                  <a:pt x="0" y="57686"/>
                </a:lnTo>
                <a:lnTo>
                  <a:pt x="0" y="54310"/>
                </a:lnTo>
                <a:lnTo>
                  <a:pt x="566" y="53187"/>
                </a:lnTo>
                <a:lnTo>
                  <a:pt x="3386" y="34016"/>
                </a:lnTo>
                <a:lnTo>
                  <a:pt x="11889" y="23997"/>
                </a:lnTo>
                <a:lnTo>
                  <a:pt x="27990"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4" name="Illustrative delivered road transport cost class None; reference terminal None"/>
          <p:cNvSpPr/>
          <p:nvPr/>
        </p:nvSpPr>
        <p:spPr>
          <a:xfrm>
            <a:off x="4424463" y="4364487"/>
            <a:ext cx="29697" cy="37701"/>
          </a:xfrm>
          <a:custGeom>
            <a:avLst/>
            <a:gdLst/>
            <a:ahLst/>
            <a:cxnLst/>
            <a:rect l="l" t="t" r="r" b="b"/>
            <a:pathLst>
              <a:path w="29697" h="37701">
                <a:moveTo>
                  <a:pt x="29697" y="37701"/>
                </a:moveTo>
                <a:lnTo>
                  <a:pt x="0" y="37701"/>
                </a:lnTo>
                <a:lnTo>
                  <a:pt x="16171" y="13598"/>
                </a:lnTo>
                <a:lnTo>
                  <a:pt x="29697" y="0"/>
                </a:lnTo>
                <a:lnTo>
                  <a:pt x="29697" y="3770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5" name="Illustrative delivered road transport cost class None; reference terminal None"/>
          <p:cNvSpPr/>
          <p:nvPr/>
        </p:nvSpPr>
        <p:spPr>
          <a:xfrm>
            <a:off x="4396473" y="3998382"/>
            <a:ext cx="20941" cy="12496"/>
          </a:xfrm>
          <a:custGeom>
            <a:avLst/>
            <a:gdLst/>
            <a:ahLst/>
            <a:cxnLst/>
            <a:rect l="l" t="t" r="r" b="b"/>
            <a:pathLst>
              <a:path w="20941" h="12496">
                <a:moveTo>
                  <a:pt x="0" y="0"/>
                </a:moveTo>
                <a:lnTo>
                  <a:pt x="20941" y="0"/>
                </a:lnTo>
                <a:lnTo>
                  <a:pt x="2562" y="10424"/>
                </a:lnTo>
                <a:lnTo>
                  <a:pt x="0" y="12496"/>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6" name="Illustrative delivered road transport cost class 1; reference terminal Lesedi"/>
          <p:cNvSpPr/>
          <p:nvPr/>
        </p:nvSpPr>
        <p:spPr>
          <a:xfrm>
            <a:off x="4396473" y="3940695"/>
            <a:ext cx="57687" cy="57687"/>
          </a:xfrm>
          <a:custGeom>
            <a:avLst/>
            <a:gdLst/>
            <a:ahLst/>
            <a:cxnLst/>
            <a:rect l="l" t="t" r="r" b="b"/>
            <a:pathLst>
              <a:path w="57687" h="57687">
                <a:moveTo>
                  <a:pt x="0" y="57687"/>
                </a:moveTo>
                <a:lnTo>
                  <a:pt x="0" y="0"/>
                </a:lnTo>
                <a:lnTo>
                  <a:pt x="57687" y="0"/>
                </a:lnTo>
                <a:lnTo>
                  <a:pt x="57687" y="40967"/>
                </a:lnTo>
                <a:lnTo>
                  <a:pt x="36487" y="48869"/>
                </a:lnTo>
                <a:lnTo>
                  <a:pt x="20941"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7" name="Illustrative delivered road transport cost class 1; reference terminal Lesedi"/>
          <p:cNvSpPr/>
          <p:nvPr/>
        </p:nvSpPr>
        <p:spPr>
          <a:xfrm>
            <a:off x="439647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8" name="Illustrative delivered road transport cost class 1; reference terminal Lesedi"/>
          <p:cNvSpPr/>
          <p:nvPr/>
        </p:nvSpPr>
        <p:spPr>
          <a:xfrm>
            <a:off x="439647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9" name="Illustrative delivered road transport cost class 0; reference terminal Lesedi"/>
          <p:cNvSpPr/>
          <p:nvPr/>
        </p:nvSpPr>
        <p:spPr>
          <a:xfrm>
            <a:off x="439647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0" name="Illustrative delivered road transport cost class 0; reference terminal Lesedi"/>
          <p:cNvSpPr/>
          <p:nvPr/>
        </p:nvSpPr>
        <p:spPr>
          <a:xfrm>
            <a:off x="439647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1" name="Illustrative delivered road transport cost class 0; reference terminal Lesedi"/>
          <p:cNvSpPr/>
          <p:nvPr/>
        </p:nvSpPr>
        <p:spPr>
          <a:xfrm>
            <a:off x="439647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2" name="Illustrative delivered road transport cost class 0; reference terminal Lesedi"/>
          <p:cNvSpPr/>
          <p:nvPr/>
        </p:nvSpPr>
        <p:spPr>
          <a:xfrm>
            <a:off x="439647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3" name="Illustrative delivered road transport cost class 0; reference terminal Lesedi"/>
          <p:cNvSpPr/>
          <p:nvPr/>
        </p:nvSpPr>
        <p:spPr>
          <a:xfrm>
            <a:off x="439647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4" name="Illustrative delivered road transport cost class 0; reference terminal Lesedi"/>
          <p:cNvSpPr/>
          <p:nvPr/>
        </p:nvSpPr>
        <p:spPr>
          <a:xfrm>
            <a:off x="439647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5" name="Illustrative delivered road transport cost class 0; reference terminal Lesedi"/>
          <p:cNvSpPr/>
          <p:nvPr/>
        </p:nvSpPr>
        <p:spPr>
          <a:xfrm>
            <a:off x="439647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6" name="Illustrative delivered road transport cost class 0; reference terminal Lesedi"/>
          <p:cNvSpPr/>
          <p:nvPr/>
        </p:nvSpPr>
        <p:spPr>
          <a:xfrm>
            <a:off x="439647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7" name="Illustrative delivered road transport cost class 0; reference terminal Lesedi"/>
          <p:cNvSpPr/>
          <p:nvPr/>
        </p:nvSpPr>
        <p:spPr>
          <a:xfrm>
            <a:off x="439647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8" name="Illustrative delivered road transport cost class 0; reference terminal Lesedi"/>
          <p:cNvSpPr/>
          <p:nvPr/>
        </p:nvSpPr>
        <p:spPr>
          <a:xfrm>
            <a:off x="439647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9" name="Illustrative delivered road transport cost class 0; reference terminal Lesedi"/>
          <p:cNvSpPr/>
          <p:nvPr/>
        </p:nvSpPr>
        <p:spPr>
          <a:xfrm>
            <a:off x="439647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0" name="Illustrative delivered road transport cost class 0; reference terminal Lesedi"/>
          <p:cNvSpPr/>
          <p:nvPr/>
        </p:nvSpPr>
        <p:spPr>
          <a:xfrm>
            <a:off x="439647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1" name="Illustrative delivered road transport cost class 0; reference terminal Lesedi"/>
          <p:cNvSpPr/>
          <p:nvPr/>
        </p:nvSpPr>
        <p:spPr>
          <a:xfrm>
            <a:off x="439647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2" name="Illustrative delivered road transport cost class 0; reference terminal Lesedi"/>
          <p:cNvSpPr/>
          <p:nvPr/>
        </p:nvSpPr>
        <p:spPr>
          <a:xfrm>
            <a:off x="439647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3" name="Illustrative delivered road transport cost class 0; reference terminal Lesedi"/>
          <p:cNvSpPr/>
          <p:nvPr/>
        </p:nvSpPr>
        <p:spPr>
          <a:xfrm>
            <a:off x="439647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4" name="Illustrative delivered road transport cost class 0; reference terminal Lesedi"/>
          <p:cNvSpPr/>
          <p:nvPr/>
        </p:nvSpPr>
        <p:spPr>
          <a:xfrm>
            <a:off x="439647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5" name="Illustrative delivered road transport cost class 1; reference terminal Lesedi"/>
          <p:cNvSpPr/>
          <p:nvPr/>
        </p:nvSpPr>
        <p:spPr>
          <a:xfrm>
            <a:off x="439647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6" name="Illustrative delivered road transport cost class None; reference terminal None"/>
          <p:cNvSpPr/>
          <p:nvPr/>
        </p:nvSpPr>
        <p:spPr>
          <a:xfrm>
            <a:off x="439647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7" name="Illustrative delivered road transport cost class None; reference terminal None"/>
          <p:cNvSpPr/>
          <p:nvPr/>
        </p:nvSpPr>
        <p:spPr>
          <a:xfrm>
            <a:off x="439647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8" name="Illustrative delivered road transport cost class None; reference terminal None"/>
          <p:cNvSpPr/>
          <p:nvPr/>
        </p:nvSpPr>
        <p:spPr>
          <a:xfrm>
            <a:off x="439647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9" name="Illustrative delivered road transport cost class None; reference terminal None"/>
          <p:cNvSpPr/>
          <p:nvPr/>
        </p:nvSpPr>
        <p:spPr>
          <a:xfrm>
            <a:off x="439647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0" name="Illustrative delivered road transport cost class None; reference terminal None"/>
          <p:cNvSpPr/>
          <p:nvPr/>
        </p:nvSpPr>
        <p:spPr>
          <a:xfrm>
            <a:off x="439647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1" name="Illustrative delivered road transport cost class None; reference terminal None"/>
          <p:cNvSpPr/>
          <p:nvPr/>
        </p:nvSpPr>
        <p:spPr>
          <a:xfrm>
            <a:off x="4396473" y="2498531"/>
            <a:ext cx="57687" cy="57686"/>
          </a:xfrm>
          <a:custGeom>
            <a:avLst/>
            <a:gdLst/>
            <a:ahLst/>
            <a:cxnLst/>
            <a:rect l="l" t="t" r="r" b="b"/>
            <a:pathLst>
              <a:path w="57687" h="57686">
                <a:moveTo>
                  <a:pt x="57687" y="0"/>
                </a:moveTo>
                <a:lnTo>
                  <a:pt x="57687" y="57686"/>
                </a:lnTo>
                <a:lnTo>
                  <a:pt x="0" y="57686"/>
                </a:lnTo>
                <a:lnTo>
                  <a:pt x="0" y="42891"/>
                </a:lnTo>
                <a:lnTo>
                  <a:pt x="1803" y="41053"/>
                </a:lnTo>
                <a:lnTo>
                  <a:pt x="2934" y="29185"/>
                </a:lnTo>
                <a:lnTo>
                  <a:pt x="25556" y="801"/>
                </a:lnTo>
                <a:lnTo>
                  <a:pt x="2634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2" name="Illustrative delivered road transport cost class None; reference terminal None"/>
          <p:cNvSpPr/>
          <p:nvPr/>
        </p:nvSpPr>
        <p:spPr>
          <a:xfrm>
            <a:off x="4422819" y="2466743"/>
            <a:ext cx="31341" cy="31788"/>
          </a:xfrm>
          <a:custGeom>
            <a:avLst/>
            <a:gdLst/>
            <a:ahLst/>
            <a:cxnLst/>
            <a:rect l="l" t="t" r="r" b="b"/>
            <a:pathLst>
              <a:path w="31341" h="31788">
                <a:moveTo>
                  <a:pt x="31341" y="31788"/>
                </a:moveTo>
                <a:lnTo>
                  <a:pt x="0" y="31788"/>
                </a:lnTo>
                <a:lnTo>
                  <a:pt x="31341" y="0"/>
                </a:lnTo>
                <a:lnTo>
                  <a:pt x="31341" y="317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3" name="Illustrative delivered road transport cost class 1; reference terminal Durban"/>
          <p:cNvSpPr/>
          <p:nvPr/>
        </p:nvSpPr>
        <p:spPr>
          <a:xfrm>
            <a:off x="4454160" y="4979053"/>
            <a:ext cx="14233" cy="12780"/>
          </a:xfrm>
          <a:custGeom>
            <a:avLst/>
            <a:gdLst/>
            <a:ahLst/>
            <a:cxnLst/>
            <a:rect l="l" t="t" r="r" b="b"/>
            <a:pathLst>
              <a:path w="14233" h="12780">
                <a:moveTo>
                  <a:pt x="0" y="0"/>
                </a:moveTo>
                <a:lnTo>
                  <a:pt x="14233" y="0"/>
                </a:lnTo>
                <a:lnTo>
                  <a:pt x="0" y="1278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4" name="Illustrative delivered road transport cost class 1; reference terminal Durban"/>
          <p:cNvSpPr/>
          <p:nvPr/>
        </p:nvSpPr>
        <p:spPr>
          <a:xfrm>
            <a:off x="4454160" y="4921367"/>
            <a:ext cx="57687" cy="57686"/>
          </a:xfrm>
          <a:custGeom>
            <a:avLst/>
            <a:gdLst/>
            <a:ahLst/>
            <a:cxnLst/>
            <a:rect l="l" t="t" r="r" b="b"/>
            <a:pathLst>
              <a:path w="57687" h="57686">
                <a:moveTo>
                  <a:pt x="0" y="57686"/>
                </a:moveTo>
                <a:lnTo>
                  <a:pt x="0" y="0"/>
                </a:lnTo>
                <a:lnTo>
                  <a:pt x="57687" y="0"/>
                </a:lnTo>
                <a:lnTo>
                  <a:pt x="57687" y="18669"/>
                </a:lnTo>
                <a:lnTo>
                  <a:pt x="14233"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5" name="Illustrative delivered road transport cost class 1; reference terminal Durban"/>
          <p:cNvSpPr/>
          <p:nvPr/>
        </p:nvSpPr>
        <p:spPr>
          <a:xfrm>
            <a:off x="445416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6" name="Illustrative delivered road transport cost class 1; reference terminal Durban"/>
          <p:cNvSpPr/>
          <p:nvPr/>
        </p:nvSpPr>
        <p:spPr>
          <a:xfrm>
            <a:off x="445416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7" name="Illustrative delivered road transport cost class 1; reference terminal Durban"/>
          <p:cNvSpPr/>
          <p:nvPr/>
        </p:nvSpPr>
        <p:spPr>
          <a:xfrm>
            <a:off x="445416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8" name="Illustrative delivered road transport cost class 1; reference terminal Durban"/>
          <p:cNvSpPr/>
          <p:nvPr/>
        </p:nvSpPr>
        <p:spPr>
          <a:xfrm>
            <a:off x="445416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9" name="Illustrative delivered road transport cost class 1; reference terminal Durban"/>
          <p:cNvSpPr/>
          <p:nvPr/>
        </p:nvSpPr>
        <p:spPr>
          <a:xfrm>
            <a:off x="445416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0" name="Illustrative delivered road transport cost class 1; reference terminal Durban"/>
          <p:cNvSpPr/>
          <p:nvPr/>
        </p:nvSpPr>
        <p:spPr>
          <a:xfrm>
            <a:off x="445416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1" name="Illustrative delivered road transport cost class 1; reference terminal Durban"/>
          <p:cNvSpPr/>
          <p:nvPr/>
        </p:nvSpPr>
        <p:spPr>
          <a:xfrm>
            <a:off x="445416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2" name="Illustrative delivered road transport cost class 0; reference terminal Durban"/>
          <p:cNvSpPr/>
          <p:nvPr/>
        </p:nvSpPr>
        <p:spPr>
          <a:xfrm>
            <a:off x="445416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3" name="Illustrative delivered road transport cost class 0; reference terminal Durban"/>
          <p:cNvSpPr/>
          <p:nvPr/>
        </p:nvSpPr>
        <p:spPr>
          <a:xfrm>
            <a:off x="445416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4" name="Illustrative delivered road transport cost class 1; reference terminal Durban"/>
          <p:cNvSpPr/>
          <p:nvPr/>
        </p:nvSpPr>
        <p:spPr>
          <a:xfrm>
            <a:off x="4454160" y="4355384"/>
            <a:ext cx="57687" cy="46804"/>
          </a:xfrm>
          <a:custGeom>
            <a:avLst/>
            <a:gdLst/>
            <a:ahLst/>
            <a:cxnLst/>
            <a:rect l="l" t="t" r="r" b="b"/>
            <a:pathLst>
              <a:path w="57687" h="46804">
                <a:moveTo>
                  <a:pt x="57687" y="46804"/>
                </a:moveTo>
                <a:lnTo>
                  <a:pt x="0" y="46804"/>
                </a:lnTo>
                <a:lnTo>
                  <a:pt x="0" y="9103"/>
                </a:lnTo>
                <a:lnTo>
                  <a:pt x="4027" y="5054"/>
                </a:lnTo>
                <a:lnTo>
                  <a:pt x="14501" y="4058"/>
                </a:lnTo>
                <a:lnTo>
                  <a:pt x="28057" y="984"/>
                </a:lnTo>
                <a:lnTo>
                  <a:pt x="45223" y="0"/>
                </a:lnTo>
                <a:lnTo>
                  <a:pt x="57687" y="1796"/>
                </a:lnTo>
                <a:lnTo>
                  <a:pt x="57687" y="4680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5" name="Illustrative delivered road transport cost class 1; reference terminal Lesedi"/>
          <p:cNvSpPr/>
          <p:nvPr/>
        </p:nvSpPr>
        <p:spPr>
          <a:xfrm>
            <a:off x="4454160" y="3940695"/>
            <a:ext cx="57687" cy="40967"/>
          </a:xfrm>
          <a:custGeom>
            <a:avLst/>
            <a:gdLst/>
            <a:ahLst/>
            <a:cxnLst/>
            <a:rect l="l" t="t" r="r" b="b"/>
            <a:pathLst>
              <a:path w="57687" h="40967">
                <a:moveTo>
                  <a:pt x="0" y="0"/>
                </a:moveTo>
                <a:lnTo>
                  <a:pt x="57687" y="0"/>
                </a:lnTo>
                <a:lnTo>
                  <a:pt x="57687" y="23923"/>
                </a:lnTo>
                <a:lnTo>
                  <a:pt x="33345" y="28537"/>
                </a:lnTo>
                <a:lnTo>
                  <a:pt x="0" y="40967"/>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6" name="Illustrative delivered road transport cost class 1; reference terminal Lesedi"/>
          <p:cNvSpPr/>
          <p:nvPr/>
        </p:nvSpPr>
        <p:spPr>
          <a:xfrm>
            <a:off x="445416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7" name="Illustrative delivered road transport cost class 0; reference terminal Lesedi"/>
          <p:cNvSpPr/>
          <p:nvPr/>
        </p:nvSpPr>
        <p:spPr>
          <a:xfrm>
            <a:off x="445416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8" name="Illustrative delivered road transport cost class 0; reference terminal Lesedi"/>
          <p:cNvSpPr/>
          <p:nvPr/>
        </p:nvSpPr>
        <p:spPr>
          <a:xfrm>
            <a:off x="445416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9" name="Illustrative delivered road transport cost class 0; reference terminal Lesedi"/>
          <p:cNvSpPr/>
          <p:nvPr/>
        </p:nvSpPr>
        <p:spPr>
          <a:xfrm>
            <a:off x="445416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0" name="Illustrative delivered road transport cost class 0; reference terminal Lesedi"/>
          <p:cNvSpPr/>
          <p:nvPr/>
        </p:nvSpPr>
        <p:spPr>
          <a:xfrm>
            <a:off x="445416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1" name="Illustrative delivered road transport cost class 0; reference terminal Lesedi"/>
          <p:cNvSpPr/>
          <p:nvPr/>
        </p:nvSpPr>
        <p:spPr>
          <a:xfrm>
            <a:off x="445416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2" name="Illustrative delivered road transport cost class 0; reference terminal Lesedi"/>
          <p:cNvSpPr/>
          <p:nvPr/>
        </p:nvSpPr>
        <p:spPr>
          <a:xfrm>
            <a:off x="445416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3" name="Illustrative delivered road transport cost class 0; reference terminal Lesedi"/>
          <p:cNvSpPr/>
          <p:nvPr/>
        </p:nvSpPr>
        <p:spPr>
          <a:xfrm>
            <a:off x="445416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4" name="Illustrative delivered road transport cost class 0; reference terminal Lesedi"/>
          <p:cNvSpPr/>
          <p:nvPr/>
        </p:nvSpPr>
        <p:spPr>
          <a:xfrm>
            <a:off x="445416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5" name="Illustrative delivered road transport cost class 0; reference terminal Lesedi"/>
          <p:cNvSpPr/>
          <p:nvPr/>
        </p:nvSpPr>
        <p:spPr>
          <a:xfrm>
            <a:off x="445416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6" name="Illustrative delivered road transport cost class 0; reference terminal Lesedi"/>
          <p:cNvSpPr/>
          <p:nvPr/>
        </p:nvSpPr>
        <p:spPr>
          <a:xfrm>
            <a:off x="445416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7" name="Illustrative delivered road transport cost class 0; reference terminal Lesedi"/>
          <p:cNvSpPr/>
          <p:nvPr/>
        </p:nvSpPr>
        <p:spPr>
          <a:xfrm>
            <a:off x="445416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8" name="Illustrative delivered road transport cost class 0; reference terminal Lesedi"/>
          <p:cNvSpPr/>
          <p:nvPr/>
        </p:nvSpPr>
        <p:spPr>
          <a:xfrm>
            <a:off x="445416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9" name="Illustrative delivered road transport cost class 0; reference terminal Lesedi"/>
          <p:cNvSpPr/>
          <p:nvPr/>
        </p:nvSpPr>
        <p:spPr>
          <a:xfrm>
            <a:off x="445416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0" name="Illustrative delivered road transport cost class 0; reference terminal Lesedi"/>
          <p:cNvSpPr/>
          <p:nvPr/>
        </p:nvSpPr>
        <p:spPr>
          <a:xfrm>
            <a:off x="445416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1" name="Illustrative delivered road transport cost class 0; reference terminal Lesedi"/>
          <p:cNvSpPr/>
          <p:nvPr/>
        </p:nvSpPr>
        <p:spPr>
          <a:xfrm>
            <a:off x="445416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2" name="Illustrative delivered road transport cost class 0; reference terminal Lesedi"/>
          <p:cNvSpPr/>
          <p:nvPr/>
        </p:nvSpPr>
        <p:spPr>
          <a:xfrm>
            <a:off x="445416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3" name="Illustrative delivered road transport cost class 0; reference terminal Lesedi"/>
          <p:cNvSpPr/>
          <p:nvPr/>
        </p:nvSpPr>
        <p:spPr>
          <a:xfrm>
            <a:off x="445416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4" name="Illustrative delivered road transport cost class 1; reference terminal Lesedi"/>
          <p:cNvSpPr/>
          <p:nvPr/>
        </p:nvSpPr>
        <p:spPr>
          <a:xfrm>
            <a:off x="445416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5" name="Illustrative delivered road transport cost class 1; reference terminal Lesedi"/>
          <p:cNvSpPr/>
          <p:nvPr/>
        </p:nvSpPr>
        <p:spPr>
          <a:xfrm>
            <a:off x="445416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6" name="Illustrative delivered road transport cost class 1; reference terminal Lesedi"/>
          <p:cNvSpPr/>
          <p:nvPr/>
        </p:nvSpPr>
        <p:spPr>
          <a:xfrm>
            <a:off x="445416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7" name="Illustrative delivered road transport cost class None; reference terminal None"/>
          <p:cNvSpPr/>
          <p:nvPr/>
        </p:nvSpPr>
        <p:spPr>
          <a:xfrm>
            <a:off x="445416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8" name="Illustrative delivered road transport cost class None; reference terminal None"/>
          <p:cNvSpPr/>
          <p:nvPr/>
        </p:nvSpPr>
        <p:spPr>
          <a:xfrm>
            <a:off x="4454160"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9" name="Illustrative delivered road transport cost class None; reference terminal None"/>
          <p:cNvSpPr/>
          <p:nvPr/>
        </p:nvSpPr>
        <p:spPr>
          <a:xfrm>
            <a:off x="4454160"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0" name="Illustrative delivered road transport cost class None; reference terminal None"/>
          <p:cNvSpPr/>
          <p:nvPr/>
        </p:nvSpPr>
        <p:spPr>
          <a:xfrm>
            <a:off x="4454160"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1" name="Illustrative delivered road transport cost class None; reference terminal None"/>
          <p:cNvSpPr/>
          <p:nvPr/>
        </p:nvSpPr>
        <p:spPr>
          <a:xfrm>
            <a:off x="4454160" y="2440844"/>
            <a:ext cx="57687" cy="57687"/>
          </a:xfrm>
          <a:custGeom>
            <a:avLst/>
            <a:gdLst/>
            <a:ahLst/>
            <a:cxnLst/>
            <a:rect l="l" t="t" r="r" b="b"/>
            <a:pathLst>
              <a:path w="57687" h="57687">
                <a:moveTo>
                  <a:pt x="57687" y="0"/>
                </a:moveTo>
                <a:lnTo>
                  <a:pt x="57687" y="57687"/>
                </a:lnTo>
                <a:lnTo>
                  <a:pt x="0" y="57687"/>
                </a:lnTo>
                <a:lnTo>
                  <a:pt x="0" y="25899"/>
                </a:lnTo>
                <a:lnTo>
                  <a:pt x="12112" y="13614"/>
                </a:lnTo>
                <a:lnTo>
                  <a:pt x="3506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2" name="Illustrative delivered road transport cost class None; reference terminal None"/>
          <p:cNvSpPr/>
          <p:nvPr/>
        </p:nvSpPr>
        <p:spPr>
          <a:xfrm>
            <a:off x="4489224" y="2429483"/>
            <a:ext cx="22623" cy="11361"/>
          </a:xfrm>
          <a:custGeom>
            <a:avLst/>
            <a:gdLst/>
            <a:ahLst/>
            <a:cxnLst/>
            <a:rect l="l" t="t" r="r" b="b"/>
            <a:pathLst>
              <a:path w="22623" h="11361">
                <a:moveTo>
                  <a:pt x="22623" y="11361"/>
                </a:moveTo>
                <a:lnTo>
                  <a:pt x="0" y="11361"/>
                </a:lnTo>
                <a:lnTo>
                  <a:pt x="18382" y="458"/>
                </a:lnTo>
                <a:lnTo>
                  <a:pt x="22623" y="0"/>
                </a:lnTo>
                <a:lnTo>
                  <a:pt x="22623" y="1136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3" name="Illustrative delivered road transport cost class 1; reference terminal Durban"/>
          <p:cNvSpPr/>
          <p:nvPr/>
        </p:nvSpPr>
        <p:spPr>
          <a:xfrm>
            <a:off x="4511847" y="4921367"/>
            <a:ext cx="20792" cy="18669"/>
          </a:xfrm>
          <a:custGeom>
            <a:avLst/>
            <a:gdLst/>
            <a:ahLst/>
            <a:cxnLst/>
            <a:rect l="l" t="t" r="r" b="b"/>
            <a:pathLst>
              <a:path w="20792" h="18669">
                <a:moveTo>
                  <a:pt x="0" y="0"/>
                </a:moveTo>
                <a:lnTo>
                  <a:pt x="20792" y="0"/>
                </a:lnTo>
                <a:lnTo>
                  <a:pt x="0" y="1866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4" name="Illustrative delivered road transport cost class 1; reference terminal Durban"/>
          <p:cNvSpPr/>
          <p:nvPr/>
        </p:nvSpPr>
        <p:spPr>
          <a:xfrm>
            <a:off x="4511847" y="4863680"/>
            <a:ext cx="57686" cy="57687"/>
          </a:xfrm>
          <a:custGeom>
            <a:avLst/>
            <a:gdLst/>
            <a:ahLst/>
            <a:cxnLst/>
            <a:rect l="l" t="t" r="r" b="b"/>
            <a:pathLst>
              <a:path w="57686" h="57687">
                <a:moveTo>
                  <a:pt x="0" y="57687"/>
                </a:moveTo>
                <a:lnTo>
                  <a:pt x="0" y="0"/>
                </a:lnTo>
                <a:lnTo>
                  <a:pt x="57686" y="0"/>
                </a:lnTo>
                <a:lnTo>
                  <a:pt x="57686" y="17156"/>
                </a:lnTo>
                <a:lnTo>
                  <a:pt x="30553" y="48922"/>
                </a:lnTo>
                <a:lnTo>
                  <a:pt x="2079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5" name="Illustrative delivered road transport cost class 1; reference terminal Durban"/>
          <p:cNvSpPr/>
          <p:nvPr/>
        </p:nvSpPr>
        <p:spPr>
          <a:xfrm>
            <a:off x="451184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6" name="Illustrative delivered road transport cost class 1; reference terminal Durban"/>
          <p:cNvSpPr/>
          <p:nvPr/>
        </p:nvSpPr>
        <p:spPr>
          <a:xfrm>
            <a:off x="451184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7" name="Illustrative delivered road transport cost class 1; reference terminal Durban"/>
          <p:cNvSpPr/>
          <p:nvPr/>
        </p:nvSpPr>
        <p:spPr>
          <a:xfrm>
            <a:off x="451184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8" name="Illustrative delivered road transport cost class 1; reference terminal Durban"/>
          <p:cNvSpPr/>
          <p:nvPr/>
        </p:nvSpPr>
        <p:spPr>
          <a:xfrm>
            <a:off x="451184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9" name="Illustrative delivered road transport cost class 0; reference terminal Durban"/>
          <p:cNvSpPr/>
          <p:nvPr/>
        </p:nvSpPr>
        <p:spPr>
          <a:xfrm>
            <a:off x="451184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0" name="Illustrative delivered road transport cost class 0; reference terminal Durban"/>
          <p:cNvSpPr/>
          <p:nvPr/>
        </p:nvSpPr>
        <p:spPr>
          <a:xfrm>
            <a:off x="451184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1" name="Illustrative delivered road transport cost class 0; reference terminal Durban"/>
          <p:cNvSpPr/>
          <p:nvPr/>
        </p:nvSpPr>
        <p:spPr>
          <a:xfrm>
            <a:off x="451184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2" name="Illustrative delivered road transport cost class 0; reference terminal Durban"/>
          <p:cNvSpPr/>
          <p:nvPr/>
        </p:nvSpPr>
        <p:spPr>
          <a:xfrm>
            <a:off x="451184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3" name="Illustrative delivered road transport cost class 0; reference terminal Durban"/>
          <p:cNvSpPr/>
          <p:nvPr/>
        </p:nvSpPr>
        <p:spPr>
          <a:xfrm>
            <a:off x="4511847" y="4344501"/>
            <a:ext cx="57686" cy="57687"/>
          </a:xfrm>
          <a:custGeom>
            <a:avLst/>
            <a:gdLst/>
            <a:ahLst/>
            <a:cxnLst/>
            <a:rect l="l" t="t" r="r" b="b"/>
            <a:pathLst>
              <a:path w="57686" h="57687">
                <a:moveTo>
                  <a:pt x="57686" y="0"/>
                </a:moveTo>
                <a:lnTo>
                  <a:pt x="57686" y="57687"/>
                </a:lnTo>
                <a:lnTo>
                  <a:pt x="0" y="57687"/>
                </a:lnTo>
                <a:lnTo>
                  <a:pt x="0" y="12679"/>
                </a:lnTo>
                <a:lnTo>
                  <a:pt x="314" y="12725"/>
                </a:lnTo>
                <a:lnTo>
                  <a:pt x="3108" y="12261"/>
                </a:lnTo>
                <a:lnTo>
                  <a:pt x="23316" y="6595"/>
                </a:lnTo>
                <a:lnTo>
                  <a:pt x="39543"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4" name="Illustrative delivered road transport cost class 1; reference terminal Durban"/>
          <p:cNvSpPr/>
          <p:nvPr/>
        </p:nvSpPr>
        <p:spPr>
          <a:xfrm>
            <a:off x="4551390" y="4337127"/>
            <a:ext cx="18143" cy="7374"/>
          </a:xfrm>
          <a:custGeom>
            <a:avLst/>
            <a:gdLst/>
            <a:ahLst/>
            <a:cxnLst/>
            <a:rect l="l" t="t" r="r" b="b"/>
            <a:pathLst>
              <a:path w="18143" h="7374">
                <a:moveTo>
                  <a:pt x="18143" y="7374"/>
                </a:moveTo>
                <a:lnTo>
                  <a:pt x="0" y="7374"/>
                </a:lnTo>
                <a:lnTo>
                  <a:pt x="18143" y="0"/>
                </a:lnTo>
                <a:lnTo>
                  <a:pt x="18143" y="73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5" name="Illustrative delivered road transport cost class 0; reference terminal Durban"/>
          <p:cNvSpPr/>
          <p:nvPr/>
        </p:nvSpPr>
        <p:spPr>
          <a:xfrm>
            <a:off x="4553217" y="3998382"/>
            <a:ext cx="16316" cy="12749"/>
          </a:xfrm>
          <a:custGeom>
            <a:avLst/>
            <a:gdLst/>
            <a:ahLst/>
            <a:cxnLst/>
            <a:rect l="l" t="t" r="r" b="b"/>
            <a:pathLst>
              <a:path w="16316" h="12749">
                <a:moveTo>
                  <a:pt x="16316" y="0"/>
                </a:moveTo>
                <a:lnTo>
                  <a:pt x="16316" y="12749"/>
                </a:lnTo>
                <a:lnTo>
                  <a:pt x="10754" y="9811"/>
                </a:lnTo>
                <a:lnTo>
                  <a:pt x="0" y="0"/>
                </a:lnTo>
                <a:lnTo>
                  <a:pt x="1631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6" name="Illustrative delivered road transport cost class 0; reference terminal Lesedi"/>
          <p:cNvSpPr/>
          <p:nvPr/>
        </p:nvSpPr>
        <p:spPr>
          <a:xfrm>
            <a:off x="4511847" y="3940695"/>
            <a:ext cx="57686" cy="57687"/>
          </a:xfrm>
          <a:custGeom>
            <a:avLst/>
            <a:gdLst/>
            <a:ahLst/>
            <a:cxnLst/>
            <a:rect l="l" t="t" r="r" b="b"/>
            <a:pathLst>
              <a:path w="57686" h="57687">
                <a:moveTo>
                  <a:pt x="0" y="0"/>
                </a:moveTo>
                <a:lnTo>
                  <a:pt x="57686" y="0"/>
                </a:lnTo>
                <a:lnTo>
                  <a:pt x="57686" y="57687"/>
                </a:lnTo>
                <a:lnTo>
                  <a:pt x="41370" y="57687"/>
                </a:lnTo>
                <a:lnTo>
                  <a:pt x="31431" y="48619"/>
                </a:lnTo>
                <a:lnTo>
                  <a:pt x="22601" y="37871"/>
                </a:lnTo>
                <a:lnTo>
                  <a:pt x="16556" y="25162"/>
                </a:lnTo>
                <a:lnTo>
                  <a:pt x="10625" y="20856"/>
                </a:lnTo>
                <a:lnTo>
                  <a:pt x="971" y="23738"/>
                </a:lnTo>
                <a:lnTo>
                  <a:pt x="0" y="2392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7" name="Illustrative delivered road transport cost class 0; reference terminal Lesedi"/>
          <p:cNvSpPr/>
          <p:nvPr/>
        </p:nvSpPr>
        <p:spPr>
          <a:xfrm>
            <a:off x="451184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8" name="Illustrative delivered road transport cost class 0; reference terminal Lesedi"/>
          <p:cNvSpPr/>
          <p:nvPr/>
        </p:nvSpPr>
        <p:spPr>
          <a:xfrm>
            <a:off x="451184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9" name="Illustrative delivered road transport cost class 0; reference terminal Lesedi"/>
          <p:cNvSpPr/>
          <p:nvPr/>
        </p:nvSpPr>
        <p:spPr>
          <a:xfrm>
            <a:off x="451184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0" name="Illustrative delivered road transport cost class 0; reference terminal Lesedi"/>
          <p:cNvSpPr/>
          <p:nvPr/>
        </p:nvSpPr>
        <p:spPr>
          <a:xfrm>
            <a:off x="451184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1" name="Illustrative delivered road transport cost class 0; reference terminal Lesedi"/>
          <p:cNvSpPr/>
          <p:nvPr/>
        </p:nvSpPr>
        <p:spPr>
          <a:xfrm>
            <a:off x="451184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2" name="Illustrative delivered road transport cost class 0; reference terminal Lesedi"/>
          <p:cNvSpPr/>
          <p:nvPr/>
        </p:nvSpPr>
        <p:spPr>
          <a:xfrm>
            <a:off x="451184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3" name="Illustrative delivered road transport cost class 0; reference terminal Lesedi"/>
          <p:cNvSpPr/>
          <p:nvPr/>
        </p:nvSpPr>
        <p:spPr>
          <a:xfrm>
            <a:off x="451184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4" name="Illustrative delivered road transport cost class 0; reference terminal Lesedi"/>
          <p:cNvSpPr/>
          <p:nvPr/>
        </p:nvSpPr>
        <p:spPr>
          <a:xfrm>
            <a:off x="451184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5" name="Illustrative delivered road transport cost class 0; reference terminal Lesedi"/>
          <p:cNvSpPr/>
          <p:nvPr/>
        </p:nvSpPr>
        <p:spPr>
          <a:xfrm>
            <a:off x="451184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6" name="Illustrative delivered road transport cost class 0; reference terminal Lesedi"/>
          <p:cNvSpPr/>
          <p:nvPr/>
        </p:nvSpPr>
        <p:spPr>
          <a:xfrm>
            <a:off x="451184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7" name="Illustrative delivered road transport cost class 0; reference terminal Lesedi"/>
          <p:cNvSpPr/>
          <p:nvPr/>
        </p:nvSpPr>
        <p:spPr>
          <a:xfrm>
            <a:off x="451184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8" name="Illustrative delivered road transport cost class 0; reference terminal Lesedi"/>
          <p:cNvSpPr/>
          <p:nvPr/>
        </p:nvSpPr>
        <p:spPr>
          <a:xfrm>
            <a:off x="451184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9" name="Illustrative delivered road transport cost class 0; reference terminal Lesedi"/>
          <p:cNvSpPr/>
          <p:nvPr/>
        </p:nvSpPr>
        <p:spPr>
          <a:xfrm>
            <a:off x="451184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0" name="Illustrative delivered road transport cost class 0; reference terminal Lesedi"/>
          <p:cNvSpPr/>
          <p:nvPr/>
        </p:nvSpPr>
        <p:spPr>
          <a:xfrm>
            <a:off x="451184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1" name="Illustrative delivered road transport cost class 0; reference terminal Lesedi"/>
          <p:cNvSpPr/>
          <p:nvPr/>
        </p:nvSpPr>
        <p:spPr>
          <a:xfrm>
            <a:off x="451184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2" name="Illustrative delivered road transport cost class 0; reference terminal Lesedi"/>
          <p:cNvSpPr/>
          <p:nvPr/>
        </p:nvSpPr>
        <p:spPr>
          <a:xfrm>
            <a:off x="451184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3" name="Illustrative delivered road transport cost class 0; reference terminal Lesedi"/>
          <p:cNvSpPr/>
          <p:nvPr/>
        </p:nvSpPr>
        <p:spPr>
          <a:xfrm>
            <a:off x="451184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4" name="Illustrative delivered road transport cost class 0; reference terminal Lesedi"/>
          <p:cNvSpPr/>
          <p:nvPr/>
        </p:nvSpPr>
        <p:spPr>
          <a:xfrm>
            <a:off x="451184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5" name="Illustrative delivered road transport cost class 1; reference terminal Lesedi"/>
          <p:cNvSpPr/>
          <p:nvPr/>
        </p:nvSpPr>
        <p:spPr>
          <a:xfrm>
            <a:off x="451184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6" name="Illustrative delivered road transport cost class 1; reference terminal Lesedi"/>
          <p:cNvSpPr/>
          <p:nvPr/>
        </p:nvSpPr>
        <p:spPr>
          <a:xfrm>
            <a:off x="451184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7" name="Illustrative delivered road transport cost class 1; reference terminal Lesedi"/>
          <p:cNvSpPr/>
          <p:nvPr/>
        </p:nvSpPr>
        <p:spPr>
          <a:xfrm>
            <a:off x="451184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8" name="Illustrative delivered road transport cost class 1; reference terminal Lesedi"/>
          <p:cNvSpPr/>
          <p:nvPr/>
        </p:nvSpPr>
        <p:spPr>
          <a:xfrm>
            <a:off x="451184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9" name="Illustrative delivered road transport cost class None; reference terminal None"/>
          <p:cNvSpPr/>
          <p:nvPr/>
        </p:nvSpPr>
        <p:spPr>
          <a:xfrm>
            <a:off x="451184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0" name="Illustrative delivered road transport cost class None; reference terminal None"/>
          <p:cNvSpPr/>
          <p:nvPr/>
        </p:nvSpPr>
        <p:spPr>
          <a:xfrm>
            <a:off x="4511847"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1" name="Illustrative delivered road transport cost class None; reference terminal None"/>
          <p:cNvSpPr/>
          <p:nvPr/>
        </p:nvSpPr>
        <p:spPr>
          <a:xfrm>
            <a:off x="4511847"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2" name="Illustrative delivered road transport cost class None; reference terminal None"/>
          <p:cNvSpPr/>
          <p:nvPr/>
        </p:nvSpPr>
        <p:spPr>
          <a:xfrm>
            <a:off x="4511847"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3" name="Illustrative delivered road transport cost class None; reference terminal None"/>
          <p:cNvSpPr/>
          <p:nvPr/>
        </p:nvSpPr>
        <p:spPr>
          <a:xfrm>
            <a:off x="4511847" y="2420300"/>
            <a:ext cx="57686" cy="20544"/>
          </a:xfrm>
          <a:custGeom>
            <a:avLst/>
            <a:gdLst/>
            <a:ahLst/>
            <a:cxnLst/>
            <a:rect l="l" t="t" r="r" b="b"/>
            <a:pathLst>
              <a:path w="57686" h="20544">
                <a:moveTo>
                  <a:pt x="57686" y="20544"/>
                </a:moveTo>
                <a:lnTo>
                  <a:pt x="0" y="20544"/>
                </a:lnTo>
                <a:lnTo>
                  <a:pt x="0" y="9183"/>
                </a:lnTo>
                <a:lnTo>
                  <a:pt x="34152" y="5493"/>
                </a:lnTo>
                <a:lnTo>
                  <a:pt x="57686" y="0"/>
                </a:lnTo>
                <a:lnTo>
                  <a:pt x="57686" y="2054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4" name="Illustrative delivered road transport cost class 1; reference terminal Durban"/>
          <p:cNvSpPr/>
          <p:nvPr/>
        </p:nvSpPr>
        <p:spPr>
          <a:xfrm>
            <a:off x="4569533" y="4863680"/>
            <a:ext cx="14654" cy="17156"/>
          </a:xfrm>
          <a:custGeom>
            <a:avLst/>
            <a:gdLst/>
            <a:ahLst/>
            <a:cxnLst/>
            <a:rect l="l" t="t" r="r" b="b"/>
            <a:pathLst>
              <a:path w="14654" h="17156">
                <a:moveTo>
                  <a:pt x="0" y="0"/>
                </a:moveTo>
                <a:lnTo>
                  <a:pt x="14654" y="0"/>
                </a:lnTo>
                <a:lnTo>
                  <a:pt x="0" y="1715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5" name="Illustrative delivered road transport cost class 1; reference terminal Durban"/>
          <p:cNvSpPr/>
          <p:nvPr/>
        </p:nvSpPr>
        <p:spPr>
          <a:xfrm>
            <a:off x="4569533" y="4805994"/>
            <a:ext cx="57687" cy="57686"/>
          </a:xfrm>
          <a:custGeom>
            <a:avLst/>
            <a:gdLst/>
            <a:ahLst/>
            <a:cxnLst/>
            <a:rect l="l" t="t" r="r" b="b"/>
            <a:pathLst>
              <a:path w="57687" h="57686">
                <a:moveTo>
                  <a:pt x="0" y="57686"/>
                </a:moveTo>
                <a:lnTo>
                  <a:pt x="0" y="0"/>
                </a:lnTo>
                <a:lnTo>
                  <a:pt x="57687" y="0"/>
                </a:lnTo>
                <a:lnTo>
                  <a:pt x="57687" y="11126"/>
                </a:lnTo>
                <a:lnTo>
                  <a:pt x="34711" y="34204"/>
                </a:lnTo>
                <a:lnTo>
                  <a:pt x="14654"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6" name="Illustrative delivered road transport cost class 1; reference terminal Durban"/>
          <p:cNvSpPr/>
          <p:nvPr/>
        </p:nvSpPr>
        <p:spPr>
          <a:xfrm>
            <a:off x="456953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7" name="Illustrative delivered road transport cost class 1; reference terminal Durban"/>
          <p:cNvSpPr/>
          <p:nvPr/>
        </p:nvSpPr>
        <p:spPr>
          <a:xfrm>
            <a:off x="456953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8" name="Illustrative delivered road transport cost class 1; reference terminal Durban"/>
          <p:cNvSpPr/>
          <p:nvPr/>
        </p:nvSpPr>
        <p:spPr>
          <a:xfrm>
            <a:off x="456953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9" name="Illustrative delivered road transport cost class 0; reference terminal Durban"/>
          <p:cNvSpPr/>
          <p:nvPr/>
        </p:nvSpPr>
        <p:spPr>
          <a:xfrm>
            <a:off x="456953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0" name="Illustrative delivered road transport cost class 0; reference terminal Durban"/>
          <p:cNvSpPr/>
          <p:nvPr/>
        </p:nvSpPr>
        <p:spPr>
          <a:xfrm>
            <a:off x="456953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1" name="Illustrative delivered road transport cost class 0; reference terminal Durban"/>
          <p:cNvSpPr/>
          <p:nvPr/>
        </p:nvSpPr>
        <p:spPr>
          <a:xfrm>
            <a:off x="456953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2" name="Illustrative delivered road transport cost class 0; reference terminal Durban"/>
          <p:cNvSpPr/>
          <p:nvPr/>
        </p:nvSpPr>
        <p:spPr>
          <a:xfrm>
            <a:off x="456953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3" name="Illustrative delivered road transport cost class 0; reference terminal Durban"/>
          <p:cNvSpPr/>
          <p:nvPr/>
        </p:nvSpPr>
        <p:spPr>
          <a:xfrm>
            <a:off x="456953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4" name="Illustrative delivered road transport cost class 0; reference terminal Durban"/>
          <p:cNvSpPr/>
          <p:nvPr/>
        </p:nvSpPr>
        <p:spPr>
          <a:xfrm>
            <a:off x="4569533" y="4286814"/>
            <a:ext cx="57687" cy="57687"/>
          </a:xfrm>
          <a:custGeom>
            <a:avLst/>
            <a:gdLst/>
            <a:ahLst/>
            <a:cxnLst/>
            <a:rect l="l" t="t" r="r" b="b"/>
            <a:pathLst>
              <a:path w="57687" h="57687">
                <a:moveTo>
                  <a:pt x="57687" y="0"/>
                </a:moveTo>
                <a:lnTo>
                  <a:pt x="57687" y="57687"/>
                </a:lnTo>
                <a:lnTo>
                  <a:pt x="0" y="57687"/>
                </a:lnTo>
                <a:lnTo>
                  <a:pt x="0" y="50313"/>
                </a:lnTo>
                <a:lnTo>
                  <a:pt x="2657" y="49233"/>
                </a:lnTo>
                <a:lnTo>
                  <a:pt x="19503" y="39795"/>
                </a:lnTo>
                <a:lnTo>
                  <a:pt x="31732" y="32059"/>
                </a:lnTo>
                <a:lnTo>
                  <a:pt x="47533" y="20177"/>
                </a:lnTo>
                <a:lnTo>
                  <a:pt x="51841" y="0"/>
                </a:lnTo>
                <a:lnTo>
                  <a:pt x="57687"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5" name="Illustrative delivered road transport cost class 0; reference terminal Durban"/>
          <p:cNvSpPr/>
          <p:nvPr/>
        </p:nvSpPr>
        <p:spPr>
          <a:xfrm>
            <a:off x="4621374" y="4259370"/>
            <a:ext cx="5846" cy="27444"/>
          </a:xfrm>
          <a:custGeom>
            <a:avLst/>
            <a:gdLst/>
            <a:ahLst/>
            <a:cxnLst/>
            <a:rect l="l" t="t" r="r" b="b"/>
            <a:pathLst>
              <a:path w="5846" h="27444">
                <a:moveTo>
                  <a:pt x="5846" y="27444"/>
                </a:moveTo>
                <a:lnTo>
                  <a:pt x="0" y="27444"/>
                </a:lnTo>
                <a:lnTo>
                  <a:pt x="2088" y="17663"/>
                </a:lnTo>
                <a:lnTo>
                  <a:pt x="5846" y="0"/>
                </a:lnTo>
                <a:lnTo>
                  <a:pt x="5846" y="27444"/>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6" name="Illustrative delivered road transport cost class 0; reference terminal Durban"/>
          <p:cNvSpPr/>
          <p:nvPr/>
        </p:nvSpPr>
        <p:spPr>
          <a:xfrm>
            <a:off x="4612267" y="4056068"/>
            <a:ext cx="14953" cy="12657"/>
          </a:xfrm>
          <a:custGeom>
            <a:avLst/>
            <a:gdLst/>
            <a:ahLst/>
            <a:cxnLst/>
            <a:rect l="l" t="t" r="r" b="b"/>
            <a:pathLst>
              <a:path w="14953" h="12657">
                <a:moveTo>
                  <a:pt x="14953" y="0"/>
                </a:moveTo>
                <a:lnTo>
                  <a:pt x="14953" y="12657"/>
                </a:lnTo>
                <a:lnTo>
                  <a:pt x="4438" y="3748"/>
                </a:lnTo>
                <a:lnTo>
                  <a:pt x="0" y="0"/>
                </a:lnTo>
                <a:lnTo>
                  <a:pt x="14953"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7" name="Illustrative delivered road transport cost class 0; reference terminal Durban"/>
          <p:cNvSpPr/>
          <p:nvPr/>
        </p:nvSpPr>
        <p:spPr>
          <a:xfrm>
            <a:off x="4569533" y="3998382"/>
            <a:ext cx="57687" cy="57686"/>
          </a:xfrm>
          <a:custGeom>
            <a:avLst/>
            <a:gdLst/>
            <a:ahLst/>
            <a:cxnLst/>
            <a:rect l="l" t="t" r="r" b="b"/>
            <a:pathLst>
              <a:path w="57687" h="57686">
                <a:moveTo>
                  <a:pt x="0" y="0"/>
                </a:moveTo>
                <a:lnTo>
                  <a:pt x="57687" y="0"/>
                </a:lnTo>
                <a:lnTo>
                  <a:pt x="57687" y="57686"/>
                </a:lnTo>
                <a:lnTo>
                  <a:pt x="42734" y="57686"/>
                </a:lnTo>
                <a:lnTo>
                  <a:pt x="24352" y="42163"/>
                </a:lnTo>
                <a:lnTo>
                  <a:pt x="3310" y="14497"/>
                </a:lnTo>
                <a:lnTo>
                  <a:pt x="0" y="12749"/>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8" name="Illustrative delivered road transport cost class 0; reference terminal Lesedi"/>
          <p:cNvSpPr/>
          <p:nvPr/>
        </p:nvSpPr>
        <p:spPr>
          <a:xfrm>
            <a:off x="456953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9" name="Illustrative delivered road transport cost class 0; reference terminal Lesedi"/>
          <p:cNvSpPr/>
          <p:nvPr/>
        </p:nvSpPr>
        <p:spPr>
          <a:xfrm>
            <a:off x="456953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0" name="Illustrative delivered road transport cost class 0; reference terminal Lesedi"/>
          <p:cNvSpPr/>
          <p:nvPr/>
        </p:nvSpPr>
        <p:spPr>
          <a:xfrm>
            <a:off x="456953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1" name="Illustrative delivered road transport cost class 0; reference terminal Lesedi"/>
          <p:cNvSpPr/>
          <p:nvPr/>
        </p:nvSpPr>
        <p:spPr>
          <a:xfrm>
            <a:off x="456953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2" name="Illustrative delivered road transport cost class 0; reference terminal Lesedi"/>
          <p:cNvSpPr/>
          <p:nvPr/>
        </p:nvSpPr>
        <p:spPr>
          <a:xfrm>
            <a:off x="456953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3" name="Illustrative delivered road transport cost class 0; reference terminal Lesedi"/>
          <p:cNvSpPr/>
          <p:nvPr/>
        </p:nvSpPr>
        <p:spPr>
          <a:xfrm>
            <a:off x="456953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4" name="Illustrative delivered road transport cost class 0; reference terminal Lesedi"/>
          <p:cNvSpPr/>
          <p:nvPr/>
        </p:nvSpPr>
        <p:spPr>
          <a:xfrm>
            <a:off x="456953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5" name="Illustrative delivered road transport cost class 0; reference terminal Lesedi"/>
          <p:cNvSpPr/>
          <p:nvPr/>
        </p:nvSpPr>
        <p:spPr>
          <a:xfrm>
            <a:off x="456953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6" name="Illustrative delivered road transport cost class 0; reference terminal Lesedi"/>
          <p:cNvSpPr/>
          <p:nvPr/>
        </p:nvSpPr>
        <p:spPr>
          <a:xfrm>
            <a:off x="456953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7" name="Illustrative delivered road transport cost class 0; reference terminal Lesedi"/>
          <p:cNvSpPr/>
          <p:nvPr/>
        </p:nvSpPr>
        <p:spPr>
          <a:xfrm>
            <a:off x="456953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8" name="Illustrative delivered road transport cost class 0; reference terminal Lesedi"/>
          <p:cNvSpPr/>
          <p:nvPr/>
        </p:nvSpPr>
        <p:spPr>
          <a:xfrm>
            <a:off x="456953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9" name="Illustrative delivered road transport cost class 0; reference terminal Lesedi"/>
          <p:cNvSpPr/>
          <p:nvPr/>
        </p:nvSpPr>
        <p:spPr>
          <a:xfrm>
            <a:off x="456953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0" name="Illustrative delivered road transport cost class 0; reference terminal Lesedi"/>
          <p:cNvSpPr/>
          <p:nvPr/>
        </p:nvSpPr>
        <p:spPr>
          <a:xfrm>
            <a:off x="456953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1" name="Illustrative delivered road transport cost class 0; reference terminal Lesedi"/>
          <p:cNvSpPr/>
          <p:nvPr/>
        </p:nvSpPr>
        <p:spPr>
          <a:xfrm>
            <a:off x="456953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2" name="Illustrative delivered road transport cost class 0; reference terminal Lesedi"/>
          <p:cNvSpPr/>
          <p:nvPr/>
        </p:nvSpPr>
        <p:spPr>
          <a:xfrm>
            <a:off x="456953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3" name="Illustrative delivered road transport cost class 0; reference terminal Lesedi"/>
          <p:cNvSpPr/>
          <p:nvPr/>
        </p:nvSpPr>
        <p:spPr>
          <a:xfrm>
            <a:off x="456953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4" name="Illustrative delivered road transport cost class 0; reference terminal Lesedi"/>
          <p:cNvSpPr/>
          <p:nvPr/>
        </p:nvSpPr>
        <p:spPr>
          <a:xfrm>
            <a:off x="456953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5" name="Illustrative delivered road transport cost class 0; reference terminal Lesedi"/>
          <p:cNvSpPr/>
          <p:nvPr/>
        </p:nvSpPr>
        <p:spPr>
          <a:xfrm>
            <a:off x="456953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6" name="Illustrative delivered road transport cost class 0; reference terminal Lesedi"/>
          <p:cNvSpPr/>
          <p:nvPr/>
        </p:nvSpPr>
        <p:spPr>
          <a:xfrm>
            <a:off x="456953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7" name="Illustrative delivered road transport cost class 0; reference terminal Lesedi"/>
          <p:cNvSpPr/>
          <p:nvPr/>
        </p:nvSpPr>
        <p:spPr>
          <a:xfrm>
            <a:off x="456953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8" name="Illustrative delivered road transport cost class 1; reference terminal Lesedi"/>
          <p:cNvSpPr/>
          <p:nvPr/>
        </p:nvSpPr>
        <p:spPr>
          <a:xfrm>
            <a:off x="456953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9" name="Illustrative delivered road transport cost class 1; reference terminal Lesedi"/>
          <p:cNvSpPr/>
          <p:nvPr/>
        </p:nvSpPr>
        <p:spPr>
          <a:xfrm>
            <a:off x="456953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0" name="Illustrative delivered road transport cost class 1; reference terminal Lesedi"/>
          <p:cNvSpPr/>
          <p:nvPr/>
        </p:nvSpPr>
        <p:spPr>
          <a:xfrm>
            <a:off x="456953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1" name="Illustrative delivered road transport cost class 1; reference terminal Lesedi"/>
          <p:cNvSpPr/>
          <p:nvPr/>
        </p:nvSpPr>
        <p:spPr>
          <a:xfrm>
            <a:off x="456953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2" name="Illustrative delivered road transport cost class 1; reference terminal Lesedi"/>
          <p:cNvSpPr/>
          <p:nvPr/>
        </p:nvSpPr>
        <p:spPr>
          <a:xfrm>
            <a:off x="456953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3" name="Illustrative delivered road transport cost class 1; reference terminal Lesedi"/>
          <p:cNvSpPr/>
          <p:nvPr/>
        </p:nvSpPr>
        <p:spPr>
          <a:xfrm>
            <a:off x="4569533"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4" name="Illustrative delivered road transport cost class None; reference terminal None"/>
          <p:cNvSpPr/>
          <p:nvPr/>
        </p:nvSpPr>
        <p:spPr>
          <a:xfrm>
            <a:off x="4569533"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5" name="Illustrative delivered road transport cost class None; reference terminal None"/>
          <p:cNvSpPr/>
          <p:nvPr/>
        </p:nvSpPr>
        <p:spPr>
          <a:xfrm>
            <a:off x="4569533" y="2396154"/>
            <a:ext cx="57687" cy="44690"/>
          </a:xfrm>
          <a:custGeom>
            <a:avLst/>
            <a:gdLst/>
            <a:ahLst/>
            <a:cxnLst/>
            <a:rect l="l" t="t" r="r" b="b"/>
            <a:pathLst>
              <a:path w="57687" h="44690">
                <a:moveTo>
                  <a:pt x="57687" y="44690"/>
                </a:moveTo>
                <a:lnTo>
                  <a:pt x="0" y="44690"/>
                </a:lnTo>
                <a:lnTo>
                  <a:pt x="0" y="24146"/>
                </a:lnTo>
                <a:lnTo>
                  <a:pt x="12965" y="21120"/>
                </a:lnTo>
                <a:lnTo>
                  <a:pt x="47630" y="8224"/>
                </a:lnTo>
                <a:lnTo>
                  <a:pt x="57687" y="0"/>
                </a:lnTo>
                <a:lnTo>
                  <a:pt x="57687" y="4469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6" name="Illustrative delivered road transport cost class 1; reference terminal Durban"/>
          <p:cNvSpPr/>
          <p:nvPr/>
        </p:nvSpPr>
        <p:spPr>
          <a:xfrm>
            <a:off x="4627220" y="4805994"/>
            <a:ext cx="11076" cy="11126"/>
          </a:xfrm>
          <a:custGeom>
            <a:avLst/>
            <a:gdLst/>
            <a:ahLst/>
            <a:cxnLst/>
            <a:rect l="l" t="t" r="r" b="b"/>
            <a:pathLst>
              <a:path w="11076" h="11126">
                <a:moveTo>
                  <a:pt x="0" y="0"/>
                </a:moveTo>
                <a:lnTo>
                  <a:pt x="11076" y="0"/>
                </a:lnTo>
                <a:lnTo>
                  <a:pt x="0" y="1112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7" name="Illustrative delivered road transport cost class 1; reference terminal Durban"/>
          <p:cNvSpPr/>
          <p:nvPr/>
        </p:nvSpPr>
        <p:spPr>
          <a:xfrm>
            <a:off x="4627220" y="4748307"/>
            <a:ext cx="57686" cy="57687"/>
          </a:xfrm>
          <a:custGeom>
            <a:avLst/>
            <a:gdLst/>
            <a:ahLst/>
            <a:cxnLst/>
            <a:rect l="l" t="t" r="r" b="b"/>
            <a:pathLst>
              <a:path w="57686" h="57687">
                <a:moveTo>
                  <a:pt x="0" y="57687"/>
                </a:moveTo>
                <a:lnTo>
                  <a:pt x="0" y="0"/>
                </a:lnTo>
                <a:lnTo>
                  <a:pt x="57686" y="0"/>
                </a:lnTo>
                <a:lnTo>
                  <a:pt x="57686" y="10868"/>
                </a:lnTo>
                <a:lnTo>
                  <a:pt x="1107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8" name="Illustrative delivered road transport cost class 1; reference terminal Durban"/>
          <p:cNvSpPr/>
          <p:nvPr/>
        </p:nvSpPr>
        <p:spPr>
          <a:xfrm>
            <a:off x="462722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9" name="Illustrative delivered road transport cost class 0; reference terminal Durban"/>
          <p:cNvSpPr/>
          <p:nvPr/>
        </p:nvSpPr>
        <p:spPr>
          <a:xfrm>
            <a:off x="462722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0" name="Illustrative delivered road transport cost class 0; reference terminal Durban"/>
          <p:cNvSpPr/>
          <p:nvPr/>
        </p:nvSpPr>
        <p:spPr>
          <a:xfrm>
            <a:off x="462722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1" name="Illustrative delivered road transport cost class 0; reference terminal Durban"/>
          <p:cNvSpPr/>
          <p:nvPr/>
        </p:nvSpPr>
        <p:spPr>
          <a:xfrm>
            <a:off x="462722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2" name="Illustrative delivered road transport cost class 0; reference terminal Durban"/>
          <p:cNvSpPr/>
          <p:nvPr/>
        </p:nvSpPr>
        <p:spPr>
          <a:xfrm>
            <a:off x="462722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3" name="Illustrative delivered road transport cost class 0; reference terminal Durban"/>
          <p:cNvSpPr/>
          <p:nvPr/>
        </p:nvSpPr>
        <p:spPr>
          <a:xfrm>
            <a:off x="462722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4" name="Illustrative delivered road transport cost class 0; reference terminal Durban"/>
          <p:cNvSpPr/>
          <p:nvPr/>
        </p:nvSpPr>
        <p:spPr>
          <a:xfrm>
            <a:off x="462722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5" name="Illustrative delivered road transport cost class 0; reference terminal Durban"/>
          <p:cNvSpPr/>
          <p:nvPr/>
        </p:nvSpPr>
        <p:spPr>
          <a:xfrm>
            <a:off x="462722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6" name="Illustrative delivered road transport cost class 0; reference terminal Durban"/>
          <p:cNvSpPr/>
          <p:nvPr/>
        </p:nvSpPr>
        <p:spPr>
          <a:xfrm>
            <a:off x="4627220" y="4229128"/>
            <a:ext cx="57686" cy="57686"/>
          </a:xfrm>
          <a:custGeom>
            <a:avLst/>
            <a:gdLst/>
            <a:ahLst/>
            <a:cxnLst/>
            <a:rect l="l" t="t" r="r" b="b"/>
            <a:pathLst>
              <a:path w="57686" h="57686">
                <a:moveTo>
                  <a:pt x="57686" y="0"/>
                </a:moveTo>
                <a:lnTo>
                  <a:pt x="57686" y="57686"/>
                </a:lnTo>
                <a:lnTo>
                  <a:pt x="0" y="57686"/>
                </a:lnTo>
                <a:lnTo>
                  <a:pt x="0" y="30242"/>
                </a:lnTo>
                <a:lnTo>
                  <a:pt x="1660" y="22439"/>
                </a:lnTo>
                <a:lnTo>
                  <a:pt x="13920" y="10244"/>
                </a:lnTo>
                <a:lnTo>
                  <a:pt x="26299" y="2285"/>
                </a:lnTo>
                <a:lnTo>
                  <a:pt x="28135"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7" name="Illustrative delivered road transport cost class 0; reference terminal Durban"/>
          <p:cNvSpPr/>
          <p:nvPr/>
        </p:nvSpPr>
        <p:spPr>
          <a:xfrm>
            <a:off x="4655355" y="4171441"/>
            <a:ext cx="29551" cy="57687"/>
          </a:xfrm>
          <a:custGeom>
            <a:avLst/>
            <a:gdLst/>
            <a:ahLst/>
            <a:cxnLst/>
            <a:rect l="l" t="t" r="r" b="b"/>
            <a:pathLst>
              <a:path w="29551" h="57687">
                <a:moveTo>
                  <a:pt x="29551" y="0"/>
                </a:moveTo>
                <a:lnTo>
                  <a:pt x="29551" y="57687"/>
                </a:lnTo>
                <a:lnTo>
                  <a:pt x="0" y="57687"/>
                </a:lnTo>
                <a:lnTo>
                  <a:pt x="8550" y="47044"/>
                </a:lnTo>
                <a:lnTo>
                  <a:pt x="22082" y="15554"/>
                </a:lnTo>
                <a:lnTo>
                  <a:pt x="26926" y="0"/>
                </a:lnTo>
                <a:lnTo>
                  <a:pt x="29551"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8" name="Illustrative delivered road transport cost class 0; reference terminal Durban"/>
          <p:cNvSpPr/>
          <p:nvPr/>
        </p:nvSpPr>
        <p:spPr>
          <a:xfrm>
            <a:off x="4682281" y="4163014"/>
            <a:ext cx="2625" cy="8427"/>
          </a:xfrm>
          <a:custGeom>
            <a:avLst/>
            <a:gdLst/>
            <a:ahLst/>
            <a:cxnLst/>
            <a:rect l="l" t="t" r="r" b="b"/>
            <a:pathLst>
              <a:path w="2625" h="8427">
                <a:moveTo>
                  <a:pt x="2625" y="8427"/>
                </a:moveTo>
                <a:lnTo>
                  <a:pt x="0" y="8427"/>
                </a:lnTo>
                <a:lnTo>
                  <a:pt x="2625" y="0"/>
                </a:lnTo>
                <a:lnTo>
                  <a:pt x="2625" y="842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9" name="Illustrative delivered road transport cost class 0; reference terminal Durban"/>
          <p:cNvSpPr/>
          <p:nvPr/>
        </p:nvSpPr>
        <p:spPr>
          <a:xfrm>
            <a:off x="4676458" y="4113755"/>
            <a:ext cx="8448" cy="17626"/>
          </a:xfrm>
          <a:custGeom>
            <a:avLst/>
            <a:gdLst/>
            <a:ahLst/>
            <a:cxnLst/>
            <a:rect l="l" t="t" r="r" b="b"/>
            <a:pathLst>
              <a:path w="8448" h="17626">
                <a:moveTo>
                  <a:pt x="8448" y="0"/>
                </a:moveTo>
                <a:lnTo>
                  <a:pt x="8448" y="17626"/>
                </a:lnTo>
                <a:lnTo>
                  <a:pt x="8041" y="16258"/>
                </a:lnTo>
                <a:lnTo>
                  <a:pt x="722" y="1960"/>
                </a:lnTo>
                <a:lnTo>
                  <a:pt x="0" y="0"/>
                </a:lnTo>
                <a:lnTo>
                  <a:pt x="8448"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0" name="Illustrative delivered road transport cost class 0; reference terminal Durban"/>
          <p:cNvSpPr/>
          <p:nvPr/>
        </p:nvSpPr>
        <p:spPr>
          <a:xfrm>
            <a:off x="4627220" y="4056068"/>
            <a:ext cx="57686" cy="57687"/>
          </a:xfrm>
          <a:custGeom>
            <a:avLst/>
            <a:gdLst/>
            <a:ahLst/>
            <a:cxnLst/>
            <a:rect l="l" t="t" r="r" b="b"/>
            <a:pathLst>
              <a:path w="57686" h="57687">
                <a:moveTo>
                  <a:pt x="0" y="0"/>
                </a:moveTo>
                <a:lnTo>
                  <a:pt x="57686" y="0"/>
                </a:lnTo>
                <a:lnTo>
                  <a:pt x="57686" y="57687"/>
                </a:lnTo>
                <a:lnTo>
                  <a:pt x="49238" y="57687"/>
                </a:lnTo>
                <a:lnTo>
                  <a:pt x="42897" y="40485"/>
                </a:lnTo>
                <a:lnTo>
                  <a:pt x="33670" y="37201"/>
                </a:lnTo>
                <a:lnTo>
                  <a:pt x="15701" y="25960"/>
                </a:lnTo>
                <a:lnTo>
                  <a:pt x="0" y="12657"/>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1" name="Illustrative delivered road transport cost class 0; reference terminal Durban"/>
          <p:cNvSpPr/>
          <p:nvPr/>
        </p:nvSpPr>
        <p:spPr>
          <a:xfrm>
            <a:off x="462722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2" name="Illustrative delivered road transport cost class 0; reference terminal Durban"/>
          <p:cNvSpPr/>
          <p:nvPr/>
        </p:nvSpPr>
        <p:spPr>
          <a:xfrm>
            <a:off x="462722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3" name="Illustrative delivered road transport cost class 0; reference terminal Lesedi"/>
          <p:cNvSpPr/>
          <p:nvPr/>
        </p:nvSpPr>
        <p:spPr>
          <a:xfrm>
            <a:off x="462722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4" name="Illustrative delivered road transport cost class 0; reference terminal Lesedi"/>
          <p:cNvSpPr/>
          <p:nvPr/>
        </p:nvSpPr>
        <p:spPr>
          <a:xfrm>
            <a:off x="462722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5" name="Illustrative delivered road transport cost class 0; reference terminal Lesedi"/>
          <p:cNvSpPr/>
          <p:nvPr/>
        </p:nvSpPr>
        <p:spPr>
          <a:xfrm>
            <a:off x="462722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6" name="Illustrative delivered road transport cost class 0; reference terminal Lesedi"/>
          <p:cNvSpPr/>
          <p:nvPr/>
        </p:nvSpPr>
        <p:spPr>
          <a:xfrm>
            <a:off x="462722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7" name="Illustrative delivered road transport cost class 0; reference terminal Lesedi"/>
          <p:cNvSpPr/>
          <p:nvPr/>
        </p:nvSpPr>
        <p:spPr>
          <a:xfrm>
            <a:off x="462722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8" name="Illustrative delivered road transport cost class 0; reference terminal Lesedi"/>
          <p:cNvSpPr/>
          <p:nvPr/>
        </p:nvSpPr>
        <p:spPr>
          <a:xfrm>
            <a:off x="462722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9" name="Illustrative delivered road transport cost class 0; reference terminal Lesedi"/>
          <p:cNvSpPr/>
          <p:nvPr/>
        </p:nvSpPr>
        <p:spPr>
          <a:xfrm>
            <a:off x="462722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0" name="Illustrative delivered road transport cost class 0; reference terminal Lesedi"/>
          <p:cNvSpPr/>
          <p:nvPr/>
        </p:nvSpPr>
        <p:spPr>
          <a:xfrm>
            <a:off x="462722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1" name="Illustrative delivered road transport cost class 0; reference terminal Lesedi"/>
          <p:cNvSpPr/>
          <p:nvPr/>
        </p:nvSpPr>
        <p:spPr>
          <a:xfrm>
            <a:off x="462722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2" name="Illustrative delivered road transport cost class 0; reference terminal Lesedi"/>
          <p:cNvSpPr/>
          <p:nvPr/>
        </p:nvSpPr>
        <p:spPr>
          <a:xfrm>
            <a:off x="462722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3" name="Illustrative delivered road transport cost class 0; reference terminal Lesedi"/>
          <p:cNvSpPr/>
          <p:nvPr/>
        </p:nvSpPr>
        <p:spPr>
          <a:xfrm>
            <a:off x="462722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4" name="Illustrative delivered road transport cost class 0; reference terminal Lesedi"/>
          <p:cNvSpPr/>
          <p:nvPr/>
        </p:nvSpPr>
        <p:spPr>
          <a:xfrm>
            <a:off x="462722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5" name="Illustrative delivered road transport cost class 0; reference terminal Lesedi"/>
          <p:cNvSpPr/>
          <p:nvPr/>
        </p:nvSpPr>
        <p:spPr>
          <a:xfrm>
            <a:off x="462722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6" name="Illustrative delivered road transport cost class 0; reference terminal Lesedi"/>
          <p:cNvSpPr/>
          <p:nvPr/>
        </p:nvSpPr>
        <p:spPr>
          <a:xfrm>
            <a:off x="4627220"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7" name="Illustrative delivered road transport cost class 0; reference terminal Lesedi"/>
          <p:cNvSpPr/>
          <p:nvPr/>
        </p:nvSpPr>
        <p:spPr>
          <a:xfrm>
            <a:off x="4627220"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8" name="Illustrative delivered road transport cost class 0; reference terminal Lesedi"/>
          <p:cNvSpPr/>
          <p:nvPr/>
        </p:nvSpPr>
        <p:spPr>
          <a:xfrm>
            <a:off x="4627220"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9" name="Illustrative delivered road transport cost class 0; reference terminal Lesedi"/>
          <p:cNvSpPr/>
          <p:nvPr/>
        </p:nvSpPr>
        <p:spPr>
          <a:xfrm>
            <a:off x="4627220"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0" name="Illustrative delivered road transport cost class 0; reference terminal Lesedi"/>
          <p:cNvSpPr/>
          <p:nvPr/>
        </p:nvSpPr>
        <p:spPr>
          <a:xfrm>
            <a:off x="4627220"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1" name="Illustrative delivered road transport cost class 0; reference terminal Lesedi"/>
          <p:cNvSpPr/>
          <p:nvPr/>
        </p:nvSpPr>
        <p:spPr>
          <a:xfrm>
            <a:off x="4627220"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2" name="Illustrative delivered road transport cost class 1; reference terminal Lesedi"/>
          <p:cNvSpPr/>
          <p:nvPr/>
        </p:nvSpPr>
        <p:spPr>
          <a:xfrm>
            <a:off x="4627220"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3" name="Illustrative delivered road transport cost class 1; reference terminal Lesedi"/>
          <p:cNvSpPr/>
          <p:nvPr/>
        </p:nvSpPr>
        <p:spPr>
          <a:xfrm>
            <a:off x="4627220"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4" name="Illustrative delivered road transport cost class 1; reference terminal Lesedi"/>
          <p:cNvSpPr/>
          <p:nvPr/>
        </p:nvSpPr>
        <p:spPr>
          <a:xfrm>
            <a:off x="4627220"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5" name="Illustrative delivered road transport cost class 1; reference terminal Lesedi"/>
          <p:cNvSpPr/>
          <p:nvPr/>
        </p:nvSpPr>
        <p:spPr>
          <a:xfrm>
            <a:off x="4627220"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6" name="Illustrative delivered road transport cost class 1; reference terminal Lesedi"/>
          <p:cNvSpPr/>
          <p:nvPr/>
        </p:nvSpPr>
        <p:spPr>
          <a:xfrm>
            <a:off x="4627220"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7" name="Illustrative delivered road transport cost class 1; reference terminal Lesedi"/>
          <p:cNvSpPr/>
          <p:nvPr/>
        </p:nvSpPr>
        <p:spPr>
          <a:xfrm>
            <a:off x="4627220"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8" name="Illustrative delivered road transport cost class 1; reference terminal Lesedi"/>
          <p:cNvSpPr/>
          <p:nvPr/>
        </p:nvSpPr>
        <p:spPr>
          <a:xfrm>
            <a:off x="4627220"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9" name="Illustrative delivered road transport cost class 2; reference terminal Lesedi"/>
          <p:cNvSpPr/>
          <p:nvPr/>
        </p:nvSpPr>
        <p:spPr>
          <a:xfrm>
            <a:off x="4627220" y="2383158"/>
            <a:ext cx="57686" cy="57686"/>
          </a:xfrm>
          <a:custGeom>
            <a:avLst/>
            <a:gdLst/>
            <a:ahLst/>
            <a:cxnLst/>
            <a:rect l="l" t="t" r="r" b="b"/>
            <a:pathLst>
              <a:path w="57686" h="57686">
                <a:moveTo>
                  <a:pt x="57686" y="0"/>
                </a:moveTo>
                <a:lnTo>
                  <a:pt x="57686" y="57686"/>
                </a:lnTo>
                <a:lnTo>
                  <a:pt x="0" y="57686"/>
                </a:lnTo>
                <a:lnTo>
                  <a:pt x="0" y="12996"/>
                </a:lnTo>
                <a:lnTo>
                  <a:pt x="15735" y="127"/>
                </a:lnTo>
                <a:lnTo>
                  <a:pt x="15809" y="0"/>
                </a:lnTo>
                <a:lnTo>
                  <a:pt x="57686"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0" name="Illustrative delivered road transport cost class 2; reference terminal Lesedi"/>
          <p:cNvSpPr/>
          <p:nvPr/>
        </p:nvSpPr>
        <p:spPr>
          <a:xfrm>
            <a:off x="4643029" y="2340078"/>
            <a:ext cx="41877" cy="43080"/>
          </a:xfrm>
          <a:custGeom>
            <a:avLst/>
            <a:gdLst/>
            <a:ahLst/>
            <a:cxnLst/>
            <a:rect l="l" t="t" r="r" b="b"/>
            <a:pathLst>
              <a:path w="41877" h="43080">
                <a:moveTo>
                  <a:pt x="41877" y="43080"/>
                </a:moveTo>
                <a:lnTo>
                  <a:pt x="0" y="43080"/>
                </a:lnTo>
                <a:lnTo>
                  <a:pt x="16866" y="13946"/>
                </a:lnTo>
                <a:lnTo>
                  <a:pt x="41877" y="0"/>
                </a:lnTo>
                <a:lnTo>
                  <a:pt x="41877" y="43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1" name="Illustrative delivered road transport cost class 1; reference terminal Durban"/>
          <p:cNvSpPr/>
          <p:nvPr/>
        </p:nvSpPr>
        <p:spPr>
          <a:xfrm>
            <a:off x="4684906" y="4748307"/>
            <a:ext cx="12440" cy="10868"/>
          </a:xfrm>
          <a:custGeom>
            <a:avLst/>
            <a:gdLst/>
            <a:ahLst/>
            <a:cxnLst/>
            <a:rect l="l" t="t" r="r" b="b"/>
            <a:pathLst>
              <a:path w="12440" h="10868">
                <a:moveTo>
                  <a:pt x="0" y="0"/>
                </a:moveTo>
                <a:lnTo>
                  <a:pt x="12440" y="0"/>
                </a:lnTo>
                <a:lnTo>
                  <a:pt x="85" y="10783"/>
                </a:lnTo>
                <a:lnTo>
                  <a:pt x="0" y="1086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2" name="Illustrative delivered road transport cost class 1; reference terminal Durban"/>
          <p:cNvSpPr/>
          <p:nvPr/>
        </p:nvSpPr>
        <p:spPr>
          <a:xfrm>
            <a:off x="4684906" y="4690620"/>
            <a:ext cx="57687" cy="57687"/>
          </a:xfrm>
          <a:custGeom>
            <a:avLst/>
            <a:gdLst/>
            <a:ahLst/>
            <a:cxnLst/>
            <a:rect l="l" t="t" r="r" b="b"/>
            <a:pathLst>
              <a:path w="57687" h="57687">
                <a:moveTo>
                  <a:pt x="0" y="57687"/>
                </a:moveTo>
                <a:lnTo>
                  <a:pt x="0" y="0"/>
                </a:lnTo>
                <a:lnTo>
                  <a:pt x="57687" y="0"/>
                </a:lnTo>
                <a:lnTo>
                  <a:pt x="57687" y="18285"/>
                </a:lnTo>
                <a:lnTo>
                  <a:pt x="57434" y="18416"/>
                </a:lnTo>
                <a:lnTo>
                  <a:pt x="124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3" name="Illustrative delivered road transport cost class 0; reference terminal Durban"/>
          <p:cNvSpPr/>
          <p:nvPr/>
        </p:nvSpPr>
        <p:spPr>
          <a:xfrm>
            <a:off x="468490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4" name="Illustrative delivered road transport cost class 0; reference terminal Durban"/>
          <p:cNvSpPr/>
          <p:nvPr/>
        </p:nvSpPr>
        <p:spPr>
          <a:xfrm>
            <a:off x="468490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5" name="Illustrative delivered road transport cost class 0; reference terminal Durban"/>
          <p:cNvSpPr/>
          <p:nvPr/>
        </p:nvSpPr>
        <p:spPr>
          <a:xfrm>
            <a:off x="468490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6" name="Illustrative delivered road transport cost class 0; reference terminal Durban"/>
          <p:cNvSpPr/>
          <p:nvPr/>
        </p:nvSpPr>
        <p:spPr>
          <a:xfrm>
            <a:off x="468490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7" name="Illustrative delivered road transport cost class 0; reference terminal Durban"/>
          <p:cNvSpPr/>
          <p:nvPr/>
        </p:nvSpPr>
        <p:spPr>
          <a:xfrm>
            <a:off x="468490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8" name="Illustrative delivered road transport cost class 0; reference terminal Durban"/>
          <p:cNvSpPr/>
          <p:nvPr/>
        </p:nvSpPr>
        <p:spPr>
          <a:xfrm>
            <a:off x="468490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9" name="Illustrative delivered road transport cost class 0; reference terminal Durban"/>
          <p:cNvSpPr/>
          <p:nvPr/>
        </p:nvSpPr>
        <p:spPr>
          <a:xfrm>
            <a:off x="468490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0" name="Illustrative delivered road transport cost class 0; reference terminal Durban"/>
          <p:cNvSpPr/>
          <p:nvPr/>
        </p:nvSpPr>
        <p:spPr>
          <a:xfrm>
            <a:off x="468490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1" name="Illustrative delivered road transport cost class 0; reference terminal Durban"/>
          <p:cNvSpPr/>
          <p:nvPr/>
        </p:nvSpPr>
        <p:spPr>
          <a:xfrm>
            <a:off x="468490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2" name="Illustrative delivered road transport cost class 0; reference terminal Durban"/>
          <p:cNvSpPr/>
          <p:nvPr/>
        </p:nvSpPr>
        <p:spPr>
          <a:xfrm>
            <a:off x="4684906" y="4113755"/>
            <a:ext cx="57687" cy="57686"/>
          </a:xfrm>
          <a:custGeom>
            <a:avLst/>
            <a:gdLst/>
            <a:ahLst/>
            <a:cxnLst/>
            <a:rect l="l" t="t" r="r" b="b"/>
            <a:pathLst>
              <a:path w="57687" h="57686">
                <a:moveTo>
                  <a:pt x="0" y="0"/>
                </a:moveTo>
                <a:lnTo>
                  <a:pt x="57687" y="0"/>
                </a:lnTo>
                <a:lnTo>
                  <a:pt x="57687" y="57686"/>
                </a:lnTo>
                <a:lnTo>
                  <a:pt x="0" y="57686"/>
                </a:lnTo>
                <a:lnTo>
                  <a:pt x="0" y="49259"/>
                </a:lnTo>
                <a:lnTo>
                  <a:pt x="2172" y="42287"/>
                </a:lnTo>
                <a:lnTo>
                  <a:pt x="3546" y="29534"/>
                </a:lnTo>
                <a:lnTo>
                  <a:pt x="0" y="17626"/>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3" name="Illustrative delivered road transport cost class 0; reference terminal Durban"/>
          <p:cNvSpPr/>
          <p:nvPr/>
        </p:nvSpPr>
        <p:spPr>
          <a:xfrm>
            <a:off x="468490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4" name="Illustrative delivered road transport cost class 0; reference terminal Durban"/>
          <p:cNvSpPr/>
          <p:nvPr/>
        </p:nvSpPr>
        <p:spPr>
          <a:xfrm>
            <a:off x="468490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5" name="Illustrative delivered road transport cost class 0; reference terminal Durban"/>
          <p:cNvSpPr/>
          <p:nvPr/>
        </p:nvSpPr>
        <p:spPr>
          <a:xfrm>
            <a:off x="468490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6" name="Illustrative delivered road transport cost class 0; reference terminal Durban"/>
          <p:cNvSpPr/>
          <p:nvPr/>
        </p:nvSpPr>
        <p:spPr>
          <a:xfrm>
            <a:off x="468490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7" name="Illustrative delivered road transport cost class 0; reference terminal Lesedi"/>
          <p:cNvSpPr/>
          <p:nvPr/>
        </p:nvSpPr>
        <p:spPr>
          <a:xfrm>
            <a:off x="468490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8" name="Illustrative delivered road transport cost class 0; reference terminal Lesedi"/>
          <p:cNvSpPr/>
          <p:nvPr/>
        </p:nvSpPr>
        <p:spPr>
          <a:xfrm>
            <a:off x="468490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9" name="Illustrative delivered road transport cost class 0; reference terminal Lesedi"/>
          <p:cNvSpPr/>
          <p:nvPr/>
        </p:nvSpPr>
        <p:spPr>
          <a:xfrm>
            <a:off x="468490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0" name="Illustrative delivered road transport cost class 0; reference terminal Lesedi"/>
          <p:cNvSpPr/>
          <p:nvPr/>
        </p:nvSpPr>
        <p:spPr>
          <a:xfrm>
            <a:off x="468490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1" name="Illustrative delivered road transport cost class 0; reference terminal Lesedi"/>
          <p:cNvSpPr/>
          <p:nvPr/>
        </p:nvSpPr>
        <p:spPr>
          <a:xfrm>
            <a:off x="468490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2" name="Illustrative delivered road transport cost class 0; reference terminal Lesedi"/>
          <p:cNvSpPr/>
          <p:nvPr/>
        </p:nvSpPr>
        <p:spPr>
          <a:xfrm>
            <a:off x="468490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3" name="Illustrative delivered road transport cost class 0; reference terminal Lesedi"/>
          <p:cNvSpPr/>
          <p:nvPr/>
        </p:nvSpPr>
        <p:spPr>
          <a:xfrm>
            <a:off x="468490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4" name="Illustrative delivered road transport cost class 0; reference terminal Lesedi"/>
          <p:cNvSpPr/>
          <p:nvPr/>
        </p:nvSpPr>
        <p:spPr>
          <a:xfrm>
            <a:off x="468490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5" name="Illustrative delivered road transport cost class 0; reference terminal Lesedi"/>
          <p:cNvSpPr/>
          <p:nvPr/>
        </p:nvSpPr>
        <p:spPr>
          <a:xfrm>
            <a:off x="468490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6" name="Illustrative delivered road transport cost class 0; reference terminal Lesedi"/>
          <p:cNvSpPr/>
          <p:nvPr/>
        </p:nvSpPr>
        <p:spPr>
          <a:xfrm>
            <a:off x="468490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7" name="Illustrative delivered road transport cost class 0; reference terminal Lesedi"/>
          <p:cNvSpPr/>
          <p:nvPr/>
        </p:nvSpPr>
        <p:spPr>
          <a:xfrm>
            <a:off x="468490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8" name="Illustrative delivered road transport cost class 0; reference terminal Lesedi"/>
          <p:cNvSpPr/>
          <p:nvPr/>
        </p:nvSpPr>
        <p:spPr>
          <a:xfrm>
            <a:off x="468490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9" name="Illustrative delivered road transport cost class 0; reference terminal Lesedi"/>
          <p:cNvSpPr/>
          <p:nvPr/>
        </p:nvSpPr>
        <p:spPr>
          <a:xfrm>
            <a:off x="468490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0" name="Illustrative delivered road transport cost class 0; reference terminal Lesedi"/>
          <p:cNvSpPr/>
          <p:nvPr/>
        </p:nvSpPr>
        <p:spPr>
          <a:xfrm>
            <a:off x="468490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1" name="Illustrative delivered road transport cost class 0; reference terminal Lesedi"/>
          <p:cNvSpPr/>
          <p:nvPr/>
        </p:nvSpPr>
        <p:spPr>
          <a:xfrm>
            <a:off x="468490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2" name="Illustrative delivered road transport cost class 0; reference terminal Lesedi"/>
          <p:cNvSpPr/>
          <p:nvPr/>
        </p:nvSpPr>
        <p:spPr>
          <a:xfrm>
            <a:off x="468490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3" name="Illustrative delivered road transport cost class 1; reference terminal Lesedi"/>
          <p:cNvSpPr/>
          <p:nvPr/>
        </p:nvSpPr>
        <p:spPr>
          <a:xfrm>
            <a:off x="468490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4" name="Illustrative delivered road transport cost class 1; reference terminal Lesedi"/>
          <p:cNvSpPr/>
          <p:nvPr/>
        </p:nvSpPr>
        <p:spPr>
          <a:xfrm>
            <a:off x="468490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5" name="Illustrative delivered road transport cost class 1; reference terminal Lesedi"/>
          <p:cNvSpPr/>
          <p:nvPr/>
        </p:nvSpPr>
        <p:spPr>
          <a:xfrm>
            <a:off x="468490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6" name="Illustrative delivered road transport cost class 1; reference terminal Lesedi"/>
          <p:cNvSpPr/>
          <p:nvPr/>
        </p:nvSpPr>
        <p:spPr>
          <a:xfrm>
            <a:off x="468490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7" name="Illustrative delivered road transport cost class 1; reference terminal Lesedi"/>
          <p:cNvSpPr/>
          <p:nvPr/>
        </p:nvSpPr>
        <p:spPr>
          <a:xfrm>
            <a:off x="468490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8" name="Illustrative delivered road transport cost class 1; reference terminal Lesedi"/>
          <p:cNvSpPr/>
          <p:nvPr/>
        </p:nvSpPr>
        <p:spPr>
          <a:xfrm>
            <a:off x="468490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9" name="Illustrative delivered road transport cost class 1; reference terminal Lesedi"/>
          <p:cNvSpPr/>
          <p:nvPr/>
        </p:nvSpPr>
        <p:spPr>
          <a:xfrm>
            <a:off x="468490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0" name="Illustrative delivered road transport cost class 1; reference terminal Lesedi"/>
          <p:cNvSpPr/>
          <p:nvPr/>
        </p:nvSpPr>
        <p:spPr>
          <a:xfrm>
            <a:off x="468490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1" name="Illustrative delivered road transport cost class 1; reference terminal Lesedi"/>
          <p:cNvSpPr/>
          <p:nvPr/>
        </p:nvSpPr>
        <p:spPr>
          <a:xfrm>
            <a:off x="468490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2" name="Illustrative delivered road transport cost class 1; reference terminal Lesedi"/>
          <p:cNvSpPr/>
          <p:nvPr/>
        </p:nvSpPr>
        <p:spPr>
          <a:xfrm>
            <a:off x="468490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3" name="Illustrative delivered road transport cost class 2; reference terminal Lesedi"/>
          <p:cNvSpPr/>
          <p:nvPr/>
        </p:nvSpPr>
        <p:spPr>
          <a:xfrm>
            <a:off x="4684906" y="2335355"/>
            <a:ext cx="57687" cy="47803"/>
          </a:xfrm>
          <a:custGeom>
            <a:avLst/>
            <a:gdLst/>
            <a:ahLst/>
            <a:cxnLst/>
            <a:rect l="l" t="t" r="r" b="b"/>
            <a:pathLst>
              <a:path w="57687" h="47803">
                <a:moveTo>
                  <a:pt x="57687" y="47803"/>
                </a:moveTo>
                <a:lnTo>
                  <a:pt x="0" y="47803"/>
                </a:lnTo>
                <a:lnTo>
                  <a:pt x="0" y="4723"/>
                </a:lnTo>
                <a:lnTo>
                  <a:pt x="3175" y="2952"/>
                </a:lnTo>
                <a:lnTo>
                  <a:pt x="57687" y="0"/>
                </a:lnTo>
                <a:lnTo>
                  <a:pt x="57687" y="47803"/>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4" name="Illustrative delivered road transport cost class 0; reference terminal Durban"/>
          <p:cNvSpPr/>
          <p:nvPr/>
        </p:nvSpPr>
        <p:spPr>
          <a:xfrm>
            <a:off x="4742593" y="4690620"/>
            <a:ext cx="30629" cy="18285"/>
          </a:xfrm>
          <a:custGeom>
            <a:avLst/>
            <a:gdLst/>
            <a:ahLst/>
            <a:cxnLst/>
            <a:rect l="l" t="t" r="r" b="b"/>
            <a:pathLst>
              <a:path w="30629" h="18285">
                <a:moveTo>
                  <a:pt x="0" y="0"/>
                </a:moveTo>
                <a:lnTo>
                  <a:pt x="30629" y="0"/>
                </a:lnTo>
                <a:lnTo>
                  <a:pt x="21093" y="7360"/>
                </a:lnTo>
                <a:lnTo>
                  <a:pt x="0" y="1828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5" name="Illustrative delivered road transport cost class 0; reference terminal Durban"/>
          <p:cNvSpPr/>
          <p:nvPr/>
        </p:nvSpPr>
        <p:spPr>
          <a:xfrm>
            <a:off x="4742593" y="4632934"/>
            <a:ext cx="57686" cy="57686"/>
          </a:xfrm>
          <a:custGeom>
            <a:avLst/>
            <a:gdLst/>
            <a:ahLst/>
            <a:cxnLst/>
            <a:rect l="l" t="t" r="r" b="b"/>
            <a:pathLst>
              <a:path w="57686" h="57686">
                <a:moveTo>
                  <a:pt x="0" y="57686"/>
                </a:moveTo>
                <a:lnTo>
                  <a:pt x="0" y="0"/>
                </a:lnTo>
                <a:lnTo>
                  <a:pt x="57686" y="0"/>
                </a:lnTo>
                <a:lnTo>
                  <a:pt x="57686" y="34953"/>
                </a:lnTo>
                <a:lnTo>
                  <a:pt x="53122" y="40326"/>
                </a:lnTo>
                <a:lnTo>
                  <a:pt x="30629"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6" name="Illustrative delivered road transport cost class 0; reference terminal Durban"/>
          <p:cNvSpPr/>
          <p:nvPr/>
        </p:nvSpPr>
        <p:spPr>
          <a:xfrm>
            <a:off x="474259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7" name="Illustrative delivered road transport cost class 0; reference terminal Durban"/>
          <p:cNvSpPr/>
          <p:nvPr/>
        </p:nvSpPr>
        <p:spPr>
          <a:xfrm>
            <a:off x="474259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8" name="Illustrative delivered road transport cost class 0; reference terminal Durban"/>
          <p:cNvSpPr/>
          <p:nvPr/>
        </p:nvSpPr>
        <p:spPr>
          <a:xfrm>
            <a:off x="474259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9" name="Illustrative delivered road transport cost class 0; reference terminal Durban"/>
          <p:cNvSpPr/>
          <p:nvPr/>
        </p:nvSpPr>
        <p:spPr>
          <a:xfrm>
            <a:off x="474259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0" name="Illustrative delivered road transport cost class 0; reference terminal Durban"/>
          <p:cNvSpPr/>
          <p:nvPr/>
        </p:nvSpPr>
        <p:spPr>
          <a:xfrm>
            <a:off x="474259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1" name="Illustrative delivered road transport cost class 0; reference terminal Durban"/>
          <p:cNvSpPr/>
          <p:nvPr/>
        </p:nvSpPr>
        <p:spPr>
          <a:xfrm>
            <a:off x="474259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2" name="Illustrative delivered road transport cost class 0; reference terminal Durban"/>
          <p:cNvSpPr/>
          <p:nvPr/>
        </p:nvSpPr>
        <p:spPr>
          <a:xfrm>
            <a:off x="474259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3" name="Illustrative delivered road transport cost class 0; reference terminal Durban"/>
          <p:cNvSpPr/>
          <p:nvPr/>
        </p:nvSpPr>
        <p:spPr>
          <a:xfrm>
            <a:off x="474259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4" name="Illustrative delivered road transport cost class 0; reference terminal Durban"/>
          <p:cNvSpPr/>
          <p:nvPr/>
        </p:nvSpPr>
        <p:spPr>
          <a:xfrm>
            <a:off x="474259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5" name="Illustrative delivered road transport cost class 0; reference terminal Durban"/>
          <p:cNvSpPr/>
          <p:nvPr/>
        </p:nvSpPr>
        <p:spPr>
          <a:xfrm>
            <a:off x="474259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6" name="Illustrative delivered road transport cost class 0; reference terminal Durban"/>
          <p:cNvSpPr/>
          <p:nvPr/>
        </p:nvSpPr>
        <p:spPr>
          <a:xfrm>
            <a:off x="474259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7" name="Illustrative delivered road transport cost class 0; reference terminal Durban"/>
          <p:cNvSpPr/>
          <p:nvPr/>
        </p:nvSpPr>
        <p:spPr>
          <a:xfrm>
            <a:off x="474259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8" name="Illustrative delivered road transport cost class 0; reference terminal Durban"/>
          <p:cNvSpPr/>
          <p:nvPr/>
        </p:nvSpPr>
        <p:spPr>
          <a:xfrm>
            <a:off x="474259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9" name="Illustrative delivered road transport cost class 0; reference terminal Lesedi"/>
          <p:cNvSpPr/>
          <p:nvPr/>
        </p:nvSpPr>
        <p:spPr>
          <a:xfrm>
            <a:off x="474259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0" name="Illustrative delivered road transport cost class 0; reference terminal Lesedi"/>
          <p:cNvSpPr/>
          <p:nvPr/>
        </p:nvSpPr>
        <p:spPr>
          <a:xfrm>
            <a:off x="474259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1" name="Illustrative delivered road transport cost class 0; reference terminal Lesedi"/>
          <p:cNvSpPr/>
          <p:nvPr/>
        </p:nvSpPr>
        <p:spPr>
          <a:xfrm>
            <a:off x="474259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2" name="Illustrative delivered road transport cost class 0; reference terminal Lesedi"/>
          <p:cNvSpPr/>
          <p:nvPr/>
        </p:nvSpPr>
        <p:spPr>
          <a:xfrm>
            <a:off x="474259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3" name="Illustrative delivered road transport cost class 0; reference terminal Lesedi"/>
          <p:cNvSpPr/>
          <p:nvPr/>
        </p:nvSpPr>
        <p:spPr>
          <a:xfrm>
            <a:off x="474259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4" name="Illustrative delivered road transport cost class 0; reference terminal Lesedi"/>
          <p:cNvSpPr/>
          <p:nvPr/>
        </p:nvSpPr>
        <p:spPr>
          <a:xfrm>
            <a:off x="474259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5" name="Illustrative delivered road transport cost class 0; reference terminal Lesedi"/>
          <p:cNvSpPr/>
          <p:nvPr/>
        </p:nvSpPr>
        <p:spPr>
          <a:xfrm>
            <a:off x="474259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6" name="Illustrative delivered road transport cost class 0; reference terminal Lesedi"/>
          <p:cNvSpPr/>
          <p:nvPr/>
        </p:nvSpPr>
        <p:spPr>
          <a:xfrm>
            <a:off x="474259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7" name="Illustrative delivered road transport cost class 0; reference terminal Lesedi"/>
          <p:cNvSpPr/>
          <p:nvPr/>
        </p:nvSpPr>
        <p:spPr>
          <a:xfrm>
            <a:off x="474259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8" name="Illustrative delivered road transport cost class 0; reference terminal Lesedi"/>
          <p:cNvSpPr/>
          <p:nvPr/>
        </p:nvSpPr>
        <p:spPr>
          <a:xfrm>
            <a:off x="474259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9" name="Illustrative delivered road transport cost class 0; reference terminal Lesedi"/>
          <p:cNvSpPr/>
          <p:nvPr/>
        </p:nvSpPr>
        <p:spPr>
          <a:xfrm>
            <a:off x="474259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0" name="Illustrative delivered road transport cost class 0; reference terminal Lesedi"/>
          <p:cNvSpPr/>
          <p:nvPr/>
        </p:nvSpPr>
        <p:spPr>
          <a:xfrm>
            <a:off x="474259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1" name="Illustrative delivered road transport cost class 0; reference terminal Lesedi"/>
          <p:cNvSpPr/>
          <p:nvPr/>
        </p:nvSpPr>
        <p:spPr>
          <a:xfrm>
            <a:off x="474259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2" name="Illustrative delivered road transport cost class 0; reference terminal Lesedi"/>
          <p:cNvSpPr/>
          <p:nvPr/>
        </p:nvSpPr>
        <p:spPr>
          <a:xfrm>
            <a:off x="474259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3" name="Illustrative delivered road transport cost class 1; reference terminal Lesedi"/>
          <p:cNvSpPr/>
          <p:nvPr/>
        </p:nvSpPr>
        <p:spPr>
          <a:xfrm>
            <a:off x="474259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4" name="Illustrative delivered road transport cost class 1; reference terminal Lesedi"/>
          <p:cNvSpPr/>
          <p:nvPr/>
        </p:nvSpPr>
        <p:spPr>
          <a:xfrm>
            <a:off x="474259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5" name="Illustrative delivered road transport cost class 1; reference terminal Lesedi"/>
          <p:cNvSpPr/>
          <p:nvPr/>
        </p:nvSpPr>
        <p:spPr>
          <a:xfrm>
            <a:off x="474259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6" name="Illustrative delivered road transport cost class 1; reference terminal Lesedi"/>
          <p:cNvSpPr/>
          <p:nvPr/>
        </p:nvSpPr>
        <p:spPr>
          <a:xfrm>
            <a:off x="474259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7" name="Illustrative delivered road transport cost class 1; reference terminal Lesedi"/>
          <p:cNvSpPr/>
          <p:nvPr/>
        </p:nvSpPr>
        <p:spPr>
          <a:xfrm>
            <a:off x="474259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8" name="Illustrative delivered road transport cost class 1; reference terminal Lesedi"/>
          <p:cNvSpPr/>
          <p:nvPr/>
        </p:nvSpPr>
        <p:spPr>
          <a:xfrm>
            <a:off x="474259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9" name="Illustrative delivered road transport cost class 1; reference terminal Lesedi"/>
          <p:cNvSpPr/>
          <p:nvPr/>
        </p:nvSpPr>
        <p:spPr>
          <a:xfrm>
            <a:off x="474259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0" name="Illustrative delivered road transport cost class 1; reference terminal Lesedi"/>
          <p:cNvSpPr/>
          <p:nvPr/>
        </p:nvSpPr>
        <p:spPr>
          <a:xfrm>
            <a:off x="474259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1" name="Illustrative delivered road transport cost class 1; reference terminal Lesedi"/>
          <p:cNvSpPr/>
          <p:nvPr/>
        </p:nvSpPr>
        <p:spPr>
          <a:xfrm>
            <a:off x="474259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2" name="Illustrative delivered road transport cost class 1; reference terminal Lesedi"/>
          <p:cNvSpPr/>
          <p:nvPr/>
        </p:nvSpPr>
        <p:spPr>
          <a:xfrm>
            <a:off x="474259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3" name="Illustrative delivered road transport cost class 1; reference terminal Lesedi"/>
          <p:cNvSpPr/>
          <p:nvPr/>
        </p:nvSpPr>
        <p:spPr>
          <a:xfrm>
            <a:off x="474259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4" name="Illustrative delivered road transport cost class 1; reference terminal Lesedi"/>
          <p:cNvSpPr/>
          <p:nvPr/>
        </p:nvSpPr>
        <p:spPr>
          <a:xfrm>
            <a:off x="474259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5" name="Illustrative delivered road transport cost class 2; reference terminal Lesedi"/>
          <p:cNvSpPr/>
          <p:nvPr/>
        </p:nvSpPr>
        <p:spPr>
          <a:xfrm>
            <a:off x="4742593" y="2327771"/>
            <a:ext cx="57686" cy="55387"/>
          </a:xfrm>
          <a:custGeom>
            <a:avLst/>
            <a:gdLst/>
            <a:ahLst/>
            <a:cxnLst/>
            <a:rect l="l" t="t" r="r" b="b"/>
            <a:pathLst>
              <a:path w="57686" h="55387">
                <a:moveTo>
                  <a:pt x="57686" y="55387"/>
                </a:moveTo>
                <a:lnTo>
                  <a:pt x="0" y="55387"/>
                </a:lnTo>
                <a:lnTo>
                  <a:pt x="0" y="7584"/>
                </a:lnTo>
                <a:lnTo>
                  <a:pt x="1574" y="7498"/>
                </a:lnTo>
                <a:lnTo>
                  <a:pt x="4582" y="7304"/>
                </a:lnTo>
                <a:lnTo>
                  <a:pt x="57686" y="0"/>
                </a:lnTo>
                <a:lnTo>
                  <a:pt x="57686" y="553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6" name="Illustrative delivered road transport cost class 0; reference terminal Durban"/>
          <p:cNvSpPr/>
          <p:nvPr/>
        </p:nvSpPr>
        <p:spPr>
          <a:xfrm>
            <a:off x="4800279" y="4632934"/>
            <a:ext cx="29693" cy="34953"/>
          </a:xfrm>
          <a:custGeom>
            <a:avLst/>
            <a:gdLst/>
            <a:ahLst/>
            <a:cxnLst/>
            <a:rect l="l" t="t" r="r" b="b"/>
            <a:pathLst>
              <a:path w="29693" h="34953">
                <a:moveTo>
                  <a:pt x="0" y="0"/>
                </a:moveTo>
                <a:lnTo>
                  <a:pt x="29693" y="0"/>
                </a:lnTo>
                <a:lnTo>
                  <a:pt x="0" y="3495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7" name="Illustrative delivered road transport cost class 0; reference terminal Durban"/>
          <p:cNvSpPr/>
          <p:nvPr/>
        </p:nvSpPr>
        <p:spPr>
          <a:xfrm>
            <a:off x="4800279" y="4575247"/>
            <a:ext cx="57687" cy="57687"/>
          </a:xfrm>
          <a:custGeom>
            <a:avLst/>
            <a:gdLst/>
            <a:ahLst/>
            <a:cxnLst/>
            <a:rect l="l" t="t" r="r" b="b"/>
            <a:pathLst>
              <a:path w="57687" h="57687">
                <a:moveTo>
                  <a:pt x="0" y="57687"/>
                </a:moveTo>
                <a:lnTo>
                  <a:pt x="0" y="0"/>
                </a:lnTo>
                <a:lnTo>
                  <a:pt x="57687" y="0"/>
                </a:lnTo>
                <a:lnTo>
                  <a:pt x="57687" y="24734"/>
                </a:lnTo>
                <a:lnTo>
                  <a:pt x="2969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8" name="Illustrative delivered road transport cost class 0; reference terminal Durban"/>
          <p:cNvSpPr/>
          <p:nvPr/>
        </p:nvSpPr>
        <p:spPr>
          <a:xfrm>
            <a:off x="480027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9" name="Illustrative delivered road transport cost class 0; reference terminal Durban"/>
          <p:cNvSpPr/>
          <p:nvPr/>
        </p:nvSpPr>
        <p:spPr>
          <a:xfrm>
            <a:off x="480027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0" name="Illustrative delivered road transport cost class 0; reference terminal Durban"/>
          <p:cNvSpPr/>
          <p:nvPr/>
        </p:nvSpPr>
        <p:spPr>
          <a:xfrm>
            <a:off x="480027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1" name="Illustrative delivered road transport cost class 0; reference terminal Durban"/>
          <p:cNvSpPr/>
          <p:nvPr/>
        </p:nvSpPr>
        <p:spPr>
          <a:xfrm>
            <a:off x="480027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2" name="Illustrative delivered road transport cost class 0; reference terminal Durban"/>
          <p:cNvSpPr/>
          <p:nvPr/>
        </p:nvSpPr>
        <p:spPr>
          <a:xfrm>
            <a:off x="480027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3" name="Illustrative delivered road transport cost class 0; reference terminal Durban"/>
          <p:cNvSpPr/>
          <p:nvPr/>
        </p:nvSpPr>
        <p:spPr>
          <a:xfrm>
            <a:off x="480027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4" name="Illustrative delivered road transport cost class 0; reference terminal Durban"/>
          <p:cNvSpPr/>
          <p:nvPr/>
        </p:nvSpPr>
        <p:spPr>
          <a:xfrm>
            <a:off x="480027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5" name="Illustrative delivered road transport cost class 0; reference terminal Durban"/>
          <p:cNvSpPr/>
          <p:nvPr/>
        </p:nvSpPr>
        <p:spPr>
          <a:xfrm>
            <a:off x="480027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6" name="Illustrative delivered road transport cost class 0; reference terminal Durban"/>
          <p:cNvSpPr/>
          <p:nvPr/>
        </p:nvSpPr>
        <p:spPr>
          <a:xfrm>
            <a:off x="480027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7" name="Illustrative delivered road transport cost class 0; reference terminal Durban"/>
          <p:cNvSpPr/>
          <p:nvPr/>
        </p:nvSpPr>
        <p:spPr>
          <a:xfrm>
            <a:off x="480027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8" name="Illustrative delivered road transport cost class 0; reference terminal Durban"/>
          <p:cNvSpPr/>
          <p:nvPr/>
        </p:nvSpPr>
        <p:spPr>
          <a:xfrm>
            <a:off x="480027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9" name="Illustrative delivered road transport cost class 0; reference terminal Durban"/>
          <p:cNvSpPr/>
          <p:nvPr/>
        </p:nvSpPr>
        <p:spPr>
          <a:xfrm>
            <a:off x="480027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0" name="Illustrative delivered road transport cost class 0; reference terminal Lesedi"/>
          <p:cNvSpPr/>
          <p:nvPr/>
        </p:nvSpPr>
        <p:spPr>
          <a:xfrm>
            <a:off x="480027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1" name="Illustrative delivered road transport cost class 0; reference terminal Lesedi"/>
          <p:cNvSpPr/>
          <p:nvPr/>
        </p:nvSpPr>
        <p:spPr>
          <a:xfrm>
            <a:off x="480027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2" name="Illustrative delivered road transport cost class 0; reference terminal Lesedi"/>
          <p:cNvSpPr/>
          <p:nvPr/>
        </p:nvSpPr>
        <p:spPr>
          <a:xfrm>
            <a:off x="480027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3" name="Illustrative delivered road transport cost class 0; reference terminal Lesedi"/>
          <p:cNvSpPr/>
          <p:nvPr/>
        </p:nvSpPr>
        <p:spPr>
          <a:xfrm>
            <a:off x="480027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4" name="Illustrative delivered road transport cost class 0; reference terminal Lesedi"/>
          <p:cNvSpPr/>
          <p:nvPr/>
        </p:nvSpPr>
        <p:spPr>
          <a:xfrm>
            <a:off x="480027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5" name="Illustrative delivered road transport cost class 0; reference terminal Lesedi"/>
          <p:cNvSpPr/>
          <p:nvPr/>
        </p:nvSpPr>
        <p:spPr>
          <a:xfrm>
            <a:off x="480027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6" name="Illustrative delivered road transport cost class 0; reference terminal Lesedi"/>
          <p:cNvSpPr/>
          <p:nvPr/>
        </p:nvSpPr>
        <p:spPr>
          <a:xfrm>
            <a:off x="480027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7" name="Illustrative delivered road transport cost class 0; reference terminal Lesedi"/>
          <p:cNvSpPr/>
          <p:nvPr/>
        </p:nvSpPr>
        <p:spPr>
          <a:xfrm>
            <a:off x="480027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8" name="Illustrative delivered road transport cost class 0; reference terminal Lesedi"/>
          <p:cNvSpPr/>
          <p:nvPr/>
        </p:nvSpPr>
        <p:spPr>
          <a:xfrm>
            <a:off x="480027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9" name="Illustrative delivered road transport cost class 0; reference terminal Lesedi"/>
          <p:cNvSpPr/>
          <p:nvPr/>
        </p:nvSpPr>
        <p:spPr>
          <a:xfrm>
            <a:off x="480027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0" name="Illustrative delivered road transport cost class 0; reference terminal Lesedi"/>
          <p:cNvSpPr/>
          <p:nvPr/>
        </p:nvSpPr>
        <p:spPr>
          <a:xfrm>
            <a:off x="480027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1" name="Illustrative delivered road transport cost class 0; reference terminal Lesedi"/>
          <p:cNvSpPr/>
          <p:nvPr/>
        </p:nvSpPr>
        <p:spPr>
          <a:xfrm>
            <a:off x="480027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2" name="Illustrative delivered road transport cost class 0; reference terminal Lesedi"/>
          <p:cNvSpPr/>
          <p:nvPr/>
        </p:nvSpPr>
        <p:spPr>
          <a:xfrm>
            <a:off x="480027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3" name="Illustrative delivered road transport cost class 0; reference terminal Lesedi"/>
          <p:cNvSpPr/>
          <p:nvPr/>
        </p:nvSpPr>
        <p:spPr>
          <a:xfrm>
            <a:off x="480027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4" name="Illustrative delivered road transport cost class 1; reference terminal Lesedi"/>
          <p:cNvSpPr/>
          <p:nvPr/>
        </p:nvSpPr>
        <p:spPr>
          <a:xfrm>
            <a:off x="480027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5" name="Illustrative delivered road transport cost class 1; reference terminal Lesedi"/>
          <p:cNvSpPr/>
          <p:nvPr/>
        </p:nvSpPr>
        <p:spPr>
          <a:xfrm>
            <a:off x="480027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6" name="Illustrative delivered road transport cost class 1; reference terminal Lesedi"/>
          <p:cNvSpPr/>
          <p:nvPr/>
        </p:nvSpPr>
        <p:spPr>
          <a:xfrm>
            <a:off x="480027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7" name="Illustrative delivered road transport cost class 1; reference terminal Lesedi"/>
          <p:cNvSpPr/>
          <p:nvPr/>
        </p:nvSpPr>
        <p:spPr>
          <a:xfrm>
            <a:off x="480027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8" name="Illustrative delivered road transport cost class 1; reference terminal Lesedi"/>
          <p:cNvSpPr/>
          <p:nvPr/>
        </p:nvSpPr>
        <p:spPr>
          <a:xfrm>
            <a:off x="480027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9" name="Illustrative delivered road transport cost class 1; reference terminal Lesedi"/>
          <p:cNvSpPr/>
          <p:nvPr/>
        </p:nvSpPr>
        <p:spPr>
          <a:xfrm>
            <a:off x="480027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0" name="Illustrative delivered road transport cost class 1; reference terminal Lesedi"/>
          <p:cNvSpPr/>
          <p:nvPr/>
        </p:nvSpPr>
        <p:spPr>
          <a:xfrm>
            <a:off x="480027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1" name="Illustrative delivered road transport cost class 1; reference terminal Lesedi"/>
          <p:cNvSpPr/>
          <p:nvPr/>
        </p:nvSpPr>
        <p:spPr>
          <a:xfrm>
            <a:off x="480027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2" name="Illustrative delivered road transport cost class 1; reference terminal Lesedi"/>
          <p:cNvSpPr/>
          <p:nvPr/>
        </p:nvSpPr>
        <p:spPr>
          <a:xfrm>
            <a:off x="480027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3" name="Illustrative delivered road transport cost class 1; reference terminal Lesedi"/>
          <p:cNvSpPr/>
          <p:nvPr/>
        </p:nvSpPr>
        <p:spPr>
          <a:xfrm>
            <a:off x="480027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4" name="Illustrative delivered road transport cost class 1; reference terminal Lesedi"/>
          <p:cNvSpPr/>
          <p:nvPr/>
        </p:nvSpPr>
        <p:spPr>
          <a:xfrm>
            <a:off x="480027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5" name="Illustrative delivered road transport cost class 1; reference terminal Lesedi"/>
          <p:cNvSpPr/>
          <p:nvPr/>
        </p:nvSpPr>
        <p:spPr>
          <a:xfrm>
            <a:off x="480027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6" name="Illustrative delivered road transport cost class 1; reference terminal Lesedi"/>
          <p:cNvSpPr/>
          <p:nvPr/>
        </p:nvSpPr>
        <p:spPr>
          <a:xfrm>
            <a:off x="4800279" y="2325669"/>
            <a:ext cx="57687" cy="57489"/>
          </a:xfrm>
          <a:custGeom>
            <a:avLst/>
            <a:gdLst/>
            <a:ahLst/>
            <a:cxnLst/>
            <a:rect l="l" t="t" r="r" b="b"/>
            <a:pathLst>
              <a:path w="57687" h="57489">
                <a:moveTo>
                  <a:pt x="57687" y="57489"/>
                </a:moveTo>
                <a:lnTo>
                  <a:pt x="0" y="57489"/>
                </a:lnTo>
                <a:lnTo>
                  <a:pt x="0" y="2102"/>
                </a:lnTo>
                <a:lnTo>
                  <a:pt x="15287" y="0"/>
                </a:lnTo>
                <a:lnTo>
                  <a:pt x="57687" y="8864"/>
                </a:lnTo>
                <a:lnTo>
                  <a:pt x="57687" y="5748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7" name="Illustrative delivered road transport cost class 0; reference terminal Durban"/>
          <p:cNvSpPr/>
          <p:nvPr/>
        </p:nvSpPr>
        <p:spPr>
          <a:xfrm>
            <a:off x="4857966" y="4575247"/>
            <a:ext cx="19200" cy="24734"/>
          </a:xfrm>
          <a:custGeom>
            <a:avLst/>
            <a:gdLst/>
            <a:ahLst/>
            <a:cxnLst/>
            <a:rect l="l" t="t" r="r" b="b"/>
            <a:pathLst>
              <a:path w="19200" h="24734">
                <a:moveTo>
                  <a:pt x="0" y="0"/>
                </a:moveTo>
                <a:lnTo>
                  <a:pt x="19200" y="0"/>
                </a:lnTo>
                <a:lnTo>
                  <a:pt x="11598" y="11082"/>
                </a:lnTo>
                <a:lnTo>
                  <a:pt x="0" y="2473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8" name="Illustrative delivered road transport cost class 0; reference terminal Durban"/>
          <p:cNvSpPr/>
          <p:nvPr/>
        </p:nvSpPr>
        <p:spPr>
          <a:xfrm>
            <a:off x="4857966" y="4517561"/>
            <a:ext cx="57687" cy="57686"/>
          </a:xfrm>
          <a:custGeom>
            <a:avLst/>
            <a:gdLst/>
            <a:ahLst/>
            <a:cxnLst/>
            <a:rect l="l" t="t" r="r" b="b"/>
            <a:pathLst>
              <a:path w="57687" h="57686">
                <a:moveTo>
                  <a:pt x="0" y="57686"/>
                </a:moveTo>
                <a:lnTo>
                  <a:pt x="0" y="0"/>
                </a:lnTo>
                <a:lnTo>
                  <a:pt x="57687" y="0"/>
                </a:lnTo>
                <a:lnTo>
                  <a:pt x="57687" y="1421"/>
                </a:lnTo>
                <a:lnTo>
                  <a:pt x="55153" y="5279"/>
                </a:lnTo>
                <a:lnTo>
                  <a:pt x="19200"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9" name="Illustrative delivered road transport cost class 0; reference terminal Durban"/>
          <p:cNvSpPr/>
          <p:nvPr/>
        </p:nvSpPr>
        <p:spPr>
          <a:xfrm>
            <a:off x="485796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0" name="Illustrative delivered road transport cost class 0; reference terminal Durban"/>
          <p:cNvSpPr/>
          <p:nvPr/>
        </p:nvSpPr>
        <p:spPr>
          <a:xfrm>
            <a:off x="485796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1" name="Illustrative delivered road transport cost class 0; reference terminal Durban"/>
          <p:cNvSpPr/>
          <p:nvPr/>
        </p:nvSpPr>
        <p:spPr>
          <a:xfrm>
            <a:off x="485796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2" name="Illustrative delivered road transport cost class 0; reference terminal Durban"/>
          <p:cNvSpPr/>
          <p:nvPr/>
        </p:nvSpPr>
        <p:spPr>
          <a:xfrm>
            <a:off x="485796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3" name="Illustrative delivered road transport cost class 0; reference terminal Durban"/>
          <p:cNvSpPr/>
          <p:nvPr/>
        </p:nvSpPr>
        <p:spPr>
          <a:xfrm>
            <a:off x="485796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4" name="Illustrative delivered road transport cost class 0; reference terminal Durban"/>
          <p:cNvSpPr/>
          <p:nvPr/>
        </p:nvSpPr>
        <p:spPr>
          <a:xfrm>
            <a:off x="485796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5" name="Illustrative delivered road transport cost class 0; reference terminal Durban"/>
          <p:cNvSpPr/>
          <p:nvPr/>
        </p:nvSpPr>
        <p:spPr>
          <a:xfrm>
            <a:off x="485796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6" name="Illustrative delivered road transport cost class 0; reference terminal Durban"/>
          <p:cNvSpPr/>
          <p:nvPr/>
        </p:nvSpPr>
        <p:spPr>
          <a:xfrm>
            <a:off x="485796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7" name="Illustrative delivered road transport cost class 0; reference terminal Durban"/>
          <p:cNvSpPr/>
          <p:nvPr/>
        </p:nvSpPr>
        <p:spPr>
          <a:xfrm>
            <a:off x="485796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8" name="Illustrative delivered road transport cost class 0; reference terminal Durban"/>
          <p:cNvSpPr/>
          <p:nvPr/>
        </p:nvSpPr>
        <p:spPr>
          <a:xfrm>
            <a:off x="485796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9" name="Illustrative delivered road transport cost class 0; reference terminal Durban"/>
          <p:cNvSpPr/>
          <p:nvPr/>
        </p:nvSpPr>
        <p:spPr>
          <a:xfrm>
            <a:off x="485796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0" name="Illustrative delivered road transport cost class None; reference terminal None"/>
          <p:cNvSpPr/>
          <p:nvPr/>
        </p:nvSpPr>
        <p:spPr>
          <a:xfrm>
            <a:off x="485796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1" name="Illustrative delivered road transport cost class None; reference terminal None"/>
          <p:cNvSpPr/>
          <p:nvPr/>
        </p:nvSpPr>
        <p:spPr>
          <a:xfrm>
            <a:off x="485796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2" name="Illustrative delivered road transport cost class None; reference terminal None"/>
          <p:cNvSpPr/>
          <p:nvPr/>
        </p:nvSpPr>
        <p:spPr>
          <a:xfrm>
            <a:off x="485796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3" name="Illustrative delivered road transport cost class 1; reference terminal Lesedi"/>
          <p:cNvSpPr/>
          <p:nvPr/>
        </p:nvSpPr>
        <p:spPr>
          <a:xfrm>
            <a:off x="485796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4" name="Illustrative delivered road transport cost class 1; reference terminal Lesedi"/>
          <p:cNvSpPr/>
          <p:nvPr/>
        </p:nvSpPr>
        <p:spPr>
          <a:xfrm>
            <a:off x="485796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5" name="Illustrative delivered road transport cost class 1; reference terminal Lesedi"/>
          <p:cNvSpPr/>
          <p:nvPr/>
        </p:nvSpPr>
        <p:spPr>
          <a:xfrm>
            <a:off x="485796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6" name="Illustrative delivered road transport cost class 0; reference terminal Lesedi"/>
          <p:cNvSpPr/>
          <p:nvPr/>
        </p:nvSpPr>
        <p:spPr>
          <a:xfrm>
            <a:off x="485796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7" name="Illustrative delivered road transport cost class 0; reference terminal Lesedi"/>
          <p:cNvSpPr/>
          <p:nvPr/>
        </p:nvSpPr>
        <p:spPr>
          <a:xfrm>
            <a:off x="485796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8" name="Illustrative delivered road transport cost class 0; reference terminal Lesedi"/>
          <p:cNvSpPr/>
          <p:nvPr/>
        </p:nvSpPr>
        <p:spPr>
          <a:xfrm>
            <a:off x="485796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9" name="Illustrative delivered road transport cost class 0; reference terminal Lesedi"/>
          <p:cNvSpPr/>
          <p:nvPr/>
        </p:nvSpPr>
        <p:spPr>
          <a:xfrm>
            <a:off x="485796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0" name="Illustrative delivered road transport cost class 0; reference terminal Lesedi"/>
          <p:cNvSpPr/>
          <p:nvPr/>
        </p:nvSpPr>
        <p:spPr>
          <a:xfrm>
            <a:off x="485796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1" name="Illustrative delivered road transport cost class 0; reference terminal Lesedi"/>
          <p:cNvSpPr/>
          <p:nvPr/>
        </p:nvSpPr>
        <p:spPr>
          <a:xfrm>
            <a:off x="485796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2" name="Illustrative delivered road transport cost class 0; reference terminal Lesedi"/>
          <p:cNvSpPr/>
          <p:nvPr/>
        </p:nvSpPr>
        <p:spPr>
          <a:xfrm>
            <a:off x="485796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3" name="Illustrative delivered road transport cost class 1; reference terminal Lesedi"/>
          <p:cNvSpPr/>
          <p:nvPr/>
        </p:nvSpPr>
        <p:spPr>
          <a:xfrm>
            <a:off x="485796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4" name="Illustrative delivered road transport cost class 1; reference terminal Lesedi"/>
          <p:cNvSpPr/>
          <p:nvPr/>
        </p:nvSpPr>
        <p:spPr>
          <a:xfrm>
            <a:off x="485796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5" name="Illustrative delivered road transport cost class None; reference terminal None"/>
          <p:cNvSpPr/>
          <p:nvPr/>
        </p:nvSpPr>
        <p:spPr>
          <a:xfrm>
            <a:off x="485796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6" name="Illustrative delivered road transport cost class 1; reference terminal Lesedi"/>
          <p:cNvSpPr/>
          <p:nvPr/>
        </p:nvSpPr>
        <p:spPr>
          <a:xfrm>
            <a:off x="485796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7" name="Illustrative delivered road transport cost class 1; reference terminal Lesedi"/>
          <p:cNvSpPr/>
          <p:nvPr/>
        </p:nvSpPr>
        <p:spPr>
          <a:xfrm>
            <a:off x="485796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8" name="Illustrative delivered road transport cost class 1; reference terminal Lesedi"/>
          <p:cNvSpPr/>
          <p:nvPr/>
        </p:nvSpPr>
        <p:spPr>
          <a:xfrm>
            <a:off x="485796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9" name="Illustrative delivered road transport cost class 1; reference terminal Lesedi"/>
          <p:cNvSpPr/>
          <p:nvPr/>
        </p:nvSpPr>
        <p:spPr>
          <a:xfrm>
            <a:off x="485796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0" name="Illustrative delivered road transport cost class 1; reference terminal Lesedi"/>
          <p:cNvSpPr/>
          <p:nvPr/>
        </p:nvSpPr>
        <p:spPr>
          <a:xfrm>
            <a:off x="485796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1" name="Illustrative delivered road transport cost class 1; reference terminal Lesedi"/>
          <p:cNvSpPr/>
          <p:nvPr/>
        </p:nvSpPr>
        <p:spPr>
          <a:xfrm>
            <a:off x="485796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2" name="Illustrative delivered road transport cost class 1; reference terminal Lesedi"/>
          <p:cNvSpPr/>
          <p:nvPr/>
        </p:nvSpPr>
        <p:spPr>
          <a:xfrm>
            <a:off x="485796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3" name="Illustrative delivered road transport cost class 1; reference terminal Lesedi"/>
          <p:cNvSpPr/>
          <p:nvPr/>
        </p:nvSpPr>
        <p:spPr>
          <a:xfrm>
            <a:off x="485796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4" name="Illustrative delivered road transport cost class 1; reference terminal Lesedi"/>
          <p:cNvSpPr/>
          <p:nvPr/>
        </p:nvSpPr>
        <p:spPr>
          <a:xfrm>
            <a:off x="485796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5" name="Illustrative delivered road transport cost class 1; reference terminal Lesedi"/>
          <p:cNvSpPr/>
          <p:nvPr/>
        </p:nvSpPr>
        <p:spPr>
          <a:xfrm>
            <a:off x="485796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6" name="Illustrative delivered road transport cost class 1; reference terminal Lesedi"/>
          <p:cNvSpPr/>
          <p:nvPr/>
        </p:nvSpPr>
        <p:spPr>
          <a:xfrm>
            <a:off x="4857966" y="2334533"/>
            <a:ext cx="57687" cy="48625"/>
          </a:xfrm>
          <a:custGeom>
            <a:avLst/>
            <a:gdLst/>
            <a:ahLst/>
            <a:cxnLst/>
            <a:rect l="l" t="t" r="r" b="b"/>
            <a:pathLst>
              <a:path w="57687" h="48625">
                <a:moveTo>
                  <a:pt x="57687" y="48625"/>
                </a:moveTo>
                <a:lnTo>
                  <a:pt x="0" y="48625"/>
                </a:lnTo>
                <a:lnTo>
                  <a:pt x="0" y="0"/>
                </a:lnTo>
                <a:lnTo>
                  <a:pt x="14232" y="2975"/>
                </a:lnTo>
                <a:lnTo>
                  <a:pt x="57687" y="22297"/>
                </a:lnTo>
                <a:lnTo>
                  <a:pt x="57687" y="48625"/>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7" name="Illustrative delivered road transport cost class 0; reference terminal Durban"/>
          <p:cNvSpPr/>
          <p:nvPr/>
        </p:nvSpPr>
        <p:spPr>
          <a:xfrm>
            <a:off x="4915653" y="4459874"/>
            <a:ext cx="38817" cy="57687"/>
          </a:xfrm>
          <a:custGeom>
            <a:avLst/>
            <a:gdLst/>
            <a:ahLst/>
            <a:cxnLst/>
            <a:rect l="l" t="t" r="r" b="b"/>
            <a:pathLst>
              <a:path w="38817" h="57687">
                <a:moveTo>
                  <a:pt x="0" y="57687"/>
                </a:moveTo>
                <a:lnTo>
                  <a:pt x="0" y="0"/>
                </a:lnTo>
                <a:lnTo>
                  <a:pt x="38817" y="0"/>
                </a:lnTo>
                <a:lnTo>
                  <a:pt x="93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8" name="Illustrative delivered road transport cost class 0; reference terminal Durban"/>
          <p:cNvSpPr/>
          <p:nvPr/>
        </p:nvSpPr>
        <p:spPr>
          <a:xfrm>
            <a:off x="4915653" y="4402188"/>
            <a:ext cx="57686" cy="57686"/>
          </a:xfrm>
          <a:custGeom>
            <a:avLst/>
            <a:gdLst/>
            <a:ahLst/>
            <a:cxnLst/>
            <a:rect l="l" t="t" r="r" b="b"/>
            <a:pathLst>
              <a:path w="57686" h="57686">
                <a:moveTo>
                  <a:pt x="0" y="57686"/>
                </a:moveTo>
                <a:lnTo>
                  <a:pt x="0" y="0"/>
                </a:lnTo>
                <a:lnTo>
                  <a:pt x="57686" y="0"/>
                </a:lnTo>
                <a:lnTo>
                  <a:pt x="57686" y="25851"/>
                </a:lnTo>
                <a:lnTo>
                  <a:pt x="43228" y="50968"/>
                </a:lnTo>
                <a:lnTo>
                  <a:pt x="3881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9" name="Illustrative delivered road transport cost class 0; reference terminal Durban"/>
          <p:cNvSpPr/>
          <p:nvPr/>
        </p:nvSpPr>
        <p:spPr>
          <a:xfrm>
            <a:off x="491565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0" name="Illustrative delivered road transport cost class 0; reference terminal Durban"/>
          <p:cNvSpPr/>
          <p:nvPr/>
        </p:nvSpPr>
        <p:spPr>
          <a:xfrm>
            <a:off x="491565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1" name="Illustrative delivered road transport cost class 0; reference terminal Durban"/>
          <p:cNvSpPr/>
          <p:nvPr/>
        </p:nvSpPr>
        <p:spPr>
          <a:xfrm>
            <a:off x="491565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2" name="Illustrative delivered road transport cost class 0; reference terminal Durban"/>
          <p:cNvSpPr/>
          <p:nvPr/>
        </p:nvSpPr>
        <p:spPr>
          <a:xfrm>
            <a:off x="491565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3" name="Illustrative delivered road transport cost class 0; reference terminal Durban"/>
          <p:cNvSpPr/>
          <p:nvPr/>
        </p:nvSpPr>
        <p:spPr>
          <a:xfrm>
            <a:off x="491565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4" name="Illustrative delivered road transport cost class 0; reference terminal Durban"/>
          <p:cNvSpPr/>
          <p:nvPr/>
        </p:nvSpPr>
        <p:spPr>
          <a:xfrm>
            <a:off x="491565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5" name="Illustrative delivered road transport cost class 0; reference terminal Durban"/>
          <p:cNvSpPr/>
          <p:nvPr/>
        </p:nvSpPr>
        <p:spPr>
          <a:xfrm>
            <a:off x="491565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6" name="Illustrative delivered road transport cost class 0; reference terminal Durban"/>
          <p:cNvSpPr/>
          <p:nvPr/>
        </p:nvSpPr>
        <p:spPr>
          <a:xfrm>
            <a:off x="491565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7" name="Illustrative delivered road transport cost class None; reference terminal None"/>
          <p:cNvSpPr/>
          <p:nvPr/>
        </p:nvSpPr>
        <p:spPr>
          <a:xfrm>
            <a:off x="491565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8" name="Illustrative delivered road transport cost class None; reference terminal None"/>
          <p:cNvSpPr/>
          <p:nvPr/>
        </p:nvSpPr>
        <p:spPr>
          <a:xfrm>
            <a:off x="491565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9" name="Illustrative delivered road transport cost class None; reference terminal None"/>
          <p:cNvSpPr/>
          <p:nvPr/>
        </p:nvSpPr>
        <p:spPr>
          <a:xfrm>
            <a:off x="491565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0" name="Illustrative delivered road transport cost class 1; reference terminal Lesedi"/>
          <p:cNvSpPr/>
          <p:nvPr/>
        </p:nvSpPr>
        <p:spPr>
          <a:xfrm>
            <a:off x="491565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1" name="Illustrative delivered road transport cost class 1; reference terminal Lesedi"/>
          <p:cNvSpPr/>
          <p:nvPr/>
        </p:nvSpPr>
        <p:spPr>
          <a:xfrm>
            <a:off x="491565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2" name="Illustrative delivered road transport cost class 1; reference terminal Lesedi"/>
          <p:cNvSpPr/>
          <p:nvPr/>
        </p:nvSpPr>
        <p:spPr>
          <a:xfrm>
            <a:off x="491565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3" name="Illustrative delivered road transport cost class 1; reference terminal Lesedi"/>
          <p:cNvSpPr/>
          <p:nvPr/>
        </p:nvSpPr>
        <p:spPr>
          <a:xfrm>
            <a:off x="491565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4" name="Illustrative delivered road transport cost class 0; reference terminal Lesedi"/>
          <p:cNvSpPr/>
          <p:nvPr/>
        </p:nvSpPr>
        <p:spPr>
          <a:xfrm>
            <a:off x="491565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5" name="Illustrative delivered road transport cost class 0; reference terminal Lesedi"/>
          <p:cNvSpPr/>
          <p:nvPr/>
        </p:nvSpPr>
        <p:spPr>
          <a:xfrm>
            <a:off x="491565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6" name="Illustrative delivered road transport cost class 0; reference terminal Lesedi"/>
          <p:cNvSpPr/>
          <p:nvPr/>
        </p:nvSpPr>
        <p:spPr>
          <a:xfrm>
            <a:off x="491565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7" name="Illustrative delivered road transport cost class 1; reference terminal Lesedi"/>
          <p:cNvSpPr/>
          <p:nvPr/>
        </p:nvSpPr>
        <p:spPr>
          <a:xfrm>
            <a:off x="491565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8" name="Illustrative delivered road transport cost class 1; reference terminal Lesedi"/>
          <p:cNvSpPr/>
          <p:nvPr/>
        </p:nvSpPr>
        <p:spPr>
          <a:xfrm>
            <a:off x="491565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9" name="Illustrative delivered road transport cost class 0; reference terminal Lesedi"/>
          <p:cNvSpPr/>
          <p:nvPr/>
        </p:nvSpPr>
        <p:spPr>
          <a:xfrm>
            <a:off x="491565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0" name="Illustrative delivered road transport cost class 1; reference terminal Lesedi"/>
          <p:cNvSpPr/>
          <p:nvPr/>
        </p:nvSpPr>
        <p:spPr>
          <a:xfrm>
            <a:off x="491565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1" name="Illustrative delivered road transport cost class 1; reference terminal Lesedi"/>
          <p:cNvSpPr/>
          <p:nvPr/>
        </p:nvSpPr>
        <p:spPr>
          <a:xfrm>
            <a:off x="491565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2" name="Illustrative delivered road transport cost class 1; reference terminal Lesedi"/>
          <p:cNvSpPr/>
          <p:nvPr/>
        </p:nvSpPr>
        <p:spPr>
          <a:xfrm>
            <a:off x="491565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3" name="Illustrative delivered road transport cost class 1; reference terminal Lesedi"/>
          <p:cNvSpPr/>
          <p:nvPr/>
        </p:nvSpPr>
        <p:spPr>
          <a:xfrm>
            <a:off x="491565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4" name="Illustrative delivered road transport cost class None; reference terminal None"/>
          <p:cNvSpPr/>
          <p:nvPr/>
        </p:nvSpPr>
        <p:spPr>
          <a:xfrm>
            <a:off x="491565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5" name="Illustrative delivered road transport cost class 1; reference terminal Lesedi"/>
          <p:cNvSpPr/>
          <p:nvPr/>
        </p:nvSpPr>
        <p:spPr>
          <a:xfrm>
            <a:off x="491565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6" name="Illustrative delivered road transport cost class 1; reference terminal Lesedi"/>
          <p:cNvSpPr/>
          <p:nvPr/>
        </p:nvSpPr>
        <p:spPr>
          <a:xfrm>
            <a:off x="491565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7" name="Illustrative delivered road transport cost class 1; reference terminal Lesedi"/>
          <p:cNvSpPr/>
          <p:nvPr/>
        </p:nvSpPr>
        <p:spPr>
          <a:xfrm>
            <a:off x="491565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8" name="Illustrative delivered road transport cost class 1; reference terminal Lesedi"/>
          <p:cNvSpPr/>
          <p:nvPr/>
        </p:nvSpPr>
        <p:spPr>
          <a:xfrm>
            <a:off x="491565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9" name="Illustrative delivered road transport cost class 1; reference terminal Lesedi"/>
          <p:cNvSpPr/>
          <p:nvPr/>
        </p:nvSpPr>
        <p:spPr>
          <a:xfrm>
            <a:off x="491565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0" name="Illustrative delivered road transport cost class 1; reference terminal Lesedi"/>
          <p:cNvSpPr/>
          <p:nvPr/>
        </p:nvSpPr>
        <p:spPr>
          <a:xfrm>
            <a:off x="491565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1" name="Illustrative delivered road transport cost class 1; reference terminal Lesedi"/>
          <p:cNvSpPr/>
          <p:nvPr/>
        </p:nvSpPr>
        <p:spPr>
          <a:xfrm>
            <a:off x="491565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2" name="Illustrative delivered road transport cost class 1; reference terminal Lesedi"/>
          <p:cNvSpPr/>
          <p:nvPr/>
        </p:nvSpPr>
        <p:spPr>
          <a:xfrm>
            <a:off x="491565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3" name="Illustrative delivered road transport cost class 1; reference terminal Lesedi"/>
          <p:cNvSpPr/>
          <p:nvPr/>
        </p:nvSpPr>
        <p:spPr>
          <a:xfrm>
            <a:off x="491565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4" name="Illustrative delivered road transport cost class 2; reference terminal Lesedi"/>
          <p:cNvSpPr/>
          <p:nvPr/>
        </p:nvSpPr>
        <p:spPr>
          <a:xfrm>
            <a:off x="4915653" y="2356830"/>
            <a:ext cx="57686" cy="26328"/>
          </a:xfrm>
          <a:custGeom>
            <a:avLst/>
            <a:gdLst/>
            <a:ahLst/>
            <a:cxnLst/>
            <a:rect l="l" t="t" r="r" b="b"/>
            <a:pathLst>
              <a:path w="57686" h="26328">
                <a:moveTo>
                  <a:pt x="57686" y="26328"/>
                </a:moveTo>
                <a:lnTo>
                  <a:pt x="0" y="26328"/>
                </a:lnTo>
                <a:lnTo>
                  <a:pt x="0" y="0"/>
                </a:lnTo>
                <a:lnTo>
                  <a:pt x="24105" y="10719"/>
                </a:lnTo>
                <a:lnTo>
                  <a:pt x="57686" y="17248"/>
                </a:lnTo>
                <a:lnTo>
                  <a:pt x="57686" y="26328"/>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5" name="Illustrative delivered road transport cost class 0; reference terminal Durban"/>
          <p:cNvSpPr/>
          <p:nvPr/>
        </p:nvSpPr>
        <p:spPr>
          <a:xfrm>
            <a:off x="4973339" y="4402188"/>
            <a:ext cx="14881" cy="25851"/>
          </a:xfrm>
          <a:custGeom>
            <a:avLst/>
            <a:gdLst/>
            <a:ahLst/>
            <a:cxnLst/>
            <a:rect l="l" t="t" r="r" b="b"/>
            <a:pathLst>
              <a:path w="14881" h="25851">
                <a:moveTo>
                  <a:pt x="0" y="0"/>
                </a:moveTo>
                <a:lnTo>
                  <a:pt x="14881" y="0"/>
                </a:lnTo>
                <a:lnTo>
                  <a:pt x="0" y="2585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6" name="Illustrative delivered road transport cost class 0; reference terminal Durban"/>
          <p:cNvSpPr/>
          <p:nvPr/>
        </p:nvSpPr>
        <p:spPr>
          <a:xfrm>
            <a:off x="4973339" y="4344501"/>
            <a:ext cx="52634" cy="57687"/>
          </a:xfrm>
          <a:custGeom>
            <a:avLst/>
            <a:gdLst/>
            <a:ahLst/>
            <a:cxnLst/>
            <a:rect l="l" t="t" r="r" b="b"/>
            <a:pathLst>
              <a:path w="52634" h="57687">
                <a:moveTo>
                  <a:pt x="0" y="57687"/>
                </a:moveTo>
                <a:lnTo>
                  <a:pt x="0" y="0"/>
                </a:lnTo>
                <a:lnTo>
                  <a:pt x="52634" y="0"/>
                </a:lnTo>
                <a:lnTo>
                  <a:pt x="37641" y="18144"/>
                </a:lnTo>
                <a:lnTo>
                  <a:pt x="1488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7" name="Illustrative delivered road transport cost class 0; reference terminal Durban"/>
          <p:cNvSpPr/>
          <p:nvPr/>
        </p:nvSpPr>
        <p:spPr>
          <a:xfrm>
            <a:off x="4973339" y="4286814"/>
            <a:ext cx="57687" cy="57687"/>
          </a:xfrm>
          <a:custGeom>
            <a:avLst/>
            <a:gdLst/>
            <a:ahLst/>
            <a:cxnLst/>
            <a:rect l="l" t="t" r="r" b="b"/>
            <a:pathLst>
              <a:path w="57687" h="57687">
                <a:moveTo>
                  <a:pt x="0" y="57687"/>
                </a:moveTo>
                <a:lnTo>
                  <a:pt x="0" y="0"/>
                </a:lnTo>
                <a:lnTo>
                  <a:pt x="57687" y="0"/>
                </a:lnTo>
                <a:lnTo>
                  <a:pt x="57687" y="51572"/>
                </a:lnTo>
                <a:lnTo>
                  <a:pt x="52634"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8" name="Illustrative delivered road transport cost class 0; reference terminal Durban"/>
          <p:cNvSpPr/>
          <p:nvPr/>
        </p:nvSpPr>
        <p:spPr>
          <a:xfrm>
            <a:off x="497333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9" name="Illustrative delivered road transport cost class 0; reference terminal Durban"/>
          <p:cNvSpPr/>
          <p:nvPr/>
        </p:nvSpPr>
        <p:spPr>
          <a:xfrm>
            <a:off x="497333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0" name="Illustrative delivered road transport cost class 0; reference terminal Durban"/>
          <p:cNvSpPr/>
          <p:nvPr/>
        </p:nvSpPr>
        <p:spPr>
          <a:xfrm>
            <a:off x="497333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1" name="Illustrative delivered road transport cost class 0; reference terminal Durban"/>
          <p:cNvSpPr/>
          <p:nvPr/>
        </p:nvSpPr>
        <p:spPr>
          <a:xfrm>
            <a:off x="497333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2" name="Illustrative delivered road transport cost class 0; reference terminal Durban"/>
          <p:cNvSpPr/>
          <p:nvPr/>
        </p:nvSpPr>
        <p:spPr>
          <a:xfrm>
            <a:off x="497333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3" name="Illustrative delivered road transport cost class None; reference terminal None"/>
          <p:cNvSpPr/>
          <p:nvPr/>
        </p:nvSpPr>
        <p:spPr>
          <a:xfrm>
            <a:off x="497333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4" name="Illustrative delivered road transport cost class None; reference terminal None"/>
          <p:cNvSpPr/>
          <p:nvPr/>
        </p:nvSpPr>
        <p:spPr>
          <a:xfrm>
            <a:off x="497333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5" name="Illustrative delivered road transport cost class None; reference terminal None"/>
          <p:cNvSpPr/>
          <p:nvPr/>
        </p:nvSpPr>
        <p:spPr>
          <a:xfrm>
            <a:off x="497333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6" name="Illustrative delivered road transport cost class 1; reference terminal Lesedi"/>
          <p:cNvSpPr/>
          <p:nvPr/>
        </p:nvSpPr>
        <p:spPr>
          <a:xfrm>
            <a:off x="497333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7" name="Illustrative delivered road transport cost class 1; reference terminal Lesedi"/>
          <p:cNvSpPr/>
          <p:nvPr/>
        </p:nvSpPr>
        <p:spPr>
          <a:xfrm>
            <a:off x="497333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8" name="Illustrative delivered road transport cost class 1; reference terminal Lesedi"/>
          <p:cNvSpPr/>
          <p:nvPr/>
        </p:nvSpPr>
        <p:spPr>
          <a:xfrm>
            <a:off x="497333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9" name="Illustrative delivered road transport cost class 1; reference terminal Lesedi"/>
          <p:cNvSpPr/>
          <p:nvPr/>
        </p:nvSpPr>
        <p:spPr>
          <a:xfrm>
            <a:off x="497333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0" name="Illustrative delivered road transport cost class 1; reference terminal Lesedi"/>
          <p:cNvSpPr/>
          <p:nvPr/>
        </p:nvSpPr>
        <p:spPr>
          <a:xfrm>
            <a:off x="497333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1" name="Illustrative delivered road transport cost class 1; reference terminal Lesedi"/>
          <p:cNvSpPr/>
          <p:nvPr/>
        </p:nvSpPr>
        <p:spPr>
          <a:xfrm>
            <a:off x="497333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2" name="Illustrative delivered road transport cost class 1; reference terminal Lesedi"/>
          <p:cNvSpPr/>
          <p:nvPr/>
        </p:nvSpPr>
        <p:spPr>
          <a:xfrm>
            <a:off x="497333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3" name="Illustrative delivered road transport cost class 1; reference terminal Lesedi"/>
          <p:cNvSpPr/>
          <p:nvPr/>
        </p:nvSpPr>
        <p:spPr>
          <a:xfrm>
            <a:off x="497333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4" name="Illustrative delivered road transport cost class 1; reference terminal Lesedi"/>
          <p:cNvSpPr/>
          <p:nvPr/>
        </p:nvSpPr>
        <p:spPr>
          <a:xfrm>
            <a:off x="497333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5" name="Illustrative delivered road transport cost class 1; reference terminal Lesedi"/>
          <p:cNvSpPr/>
          <p:nvPr/>
        </p:nvSpPr>
        <p:spPr>
          <a:xfrm>
            <a:off x="497333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6" name="Illustrative delivered road transport cost class 1; reference terminal Lesedi"/>
          <p:cNvSpPr/>
          <p:nvPr/>
        </p:nvSpPr>
        <p:spPr>
          <a:xfrm>
            <a:off x="497333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7" name="Illustrative delivered road transport cost class 1; reference terminal Lesedi"/>
          <p:cNvSpPr/>
          <p:nvPr/>
        </p:nvSpPr>
        <p:spPr>
          <a:xfrm>
            <a:off x="497333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8" name="Illustrative delivered road transport cost class 1; reference terminal Lesedi"/>
          <p:cNvSpPr/>
          <p:nvPr/>
        </p:nvSpPr>
        <p:spPr>
          <a:xfrm>
            <a:off x="497333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9" name="Illustrative delivered road transport cost class 1; reference terminal Lesedi"/>
          <p:cNvSpPr/>
          <p:nvPr/>
        </p:nvSpPr>
        <p:spPr>
          <a:xfrm>
            <a:off x="497333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0" name="Illustrative delivered road transport cost class 1; reference terminal Lesedi"/>
          <p:cNvSpPr/>
          <p:nvPr/>
        </p:nvSpPr>
        <p:spPr>
          <a:xfrm>
            <a:off x="497333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1" name="Illustrative delivered road transport cost class None; reference terminal None"/>
          <p:cNvSpPr/>
          <p:nvPr/>
        </p:nvSpPr>
        <p:spPr>
          <a:xfrm>
            <a:off x="497333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2" name="Illustrative delivered road transport cost class None; reference terminal None"/>
          <p:cNvSpPr/>
          <p:nvPr/>
        </p:nvSpPr>
        <p:spPr>
          <a:xfrm>
            <a:off x="497333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3" name="Illustrative delivered road transport cost class None; reference terminal None"/>
          <p:cNvSpPr/>
          <p:nvPr/>
        </p:nvSpPr>
        <p:spPr>
          <a:xfrm>
            <a:off x="497333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4" name="Illustrative delivered road transport cost class None; reference terminal None"/>
          <p:cNvSpPr/>
          <p:nvPr/>
        </p:nvSpPr>
        <p:spPr>
          <a:xfrm>
            <a:off x="497333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5" name="Illustrative delivered road transport cost class 1; reference terminal Lesedi"/>
          <p:cNvSpPr/>
          <p:nvPr/>
        </p:nvSpPr>
        <p:spPr>
          <a:xfrm>
            <a:off x="497333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6" name="Illustrative delivered road transport cost class 1; reference terminal Lesedi"/>
          <p:cNvSpPr/>
          <p:nvPr/>
        </p:nvSpPr>
        <p:spPr>
          <a:xfrm>
            <a:off x="497333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7" name="Illustrative delivered road transport cost class 1; reference terminal Lesedi"/>
          <p:cNvSpPr/>
          <p:nvPr/>
        </p:nvSpPr>
        <p:spPr>
          <a:xfrm>
            <a:off x="497333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8" name="Illustrative delivered road transport cost class 1; reference terminal Lesedi"/>
          <p:cNvSpPr/>
          <p:nvPr/>
        </p:nvSpPr>
        <p:spPr>
          <a:xfrm>
            <a:off x="497333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9" name="Illustrative delivered road transport cost class 2; reference terminal Lesedi"/>
          <p:cNvSpPr/>
          <p:nvPr/>
        </p:nvSpPr>
        <p:spPr>
          <a:xfrm>
            <a:off x="497333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0" name="Illustrative delivered road transport cost class 2; reference terminal Lesedi"/>
          <p:cNvSpPr/>
          <p:nvPr/>
        </p:nvSpPr>
        <p:spPr>
          <a:xfrm>
            <a:off x="497333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1" name="Illustrative delivered road transport cost class 2; reference terminal Lesedi"/>
          <p:cNvSpPr/>
          <p:nvPr/>
        </p:nvSpPr>
        <p:spPr>
          <a:xfrm>
            <a:off x="4973339" y="2374078"/>
            <a:ext cx="57687" cy="9080"/>
          </a:xfrm>
          <a:custGeom>
            <a:avLst/>
            <a:gdLst/>
            <a:ahLst/>
            <a:cxnLst/>
            <a:rect l="l" t="t" r="r" b="b"/>
            <a:pathLst>
              <a:path w="57687" h="9080">
                <a:moveTo>
                  <a:pt x="57687" y="9080"/>
                </a:moveTo>
                <a:lnTo>
                  <a:pt x="0" y="9080"/>
                </a:lnTo>
                <a:lnTo>
                  <a:pt x="0" y="0"/>
                </a:lnTo>
                <a:lnTo>
                  <a:pt x="30175" y="5866"/>
                </a:lnTo>
                <a:lnTo>
                  <a:pt x="57687" y="3449"/>
                </a:lnTo>
                <a:lnTo>
                  <a:pt x="57687" y="9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2" name="Illustrative delivered road transport cost class 0; reference terminal Durban"/>
          <p:cNvSpPr/>
          <p:nvPr/>
        </p:nvSpPr>
        <p:spPr>
          <a:xfrm>
            <a:off x="5031026" y="4286814"/>
            <a:ext cx="30662" cy="51572"/>
          </a:xfrm>
          <a:custGeom>
            <a:avLst/>
            <a:gdLst/>
            <a:ahLst/>
            <a:cxnLst/>
            <a:rect l="l" t="t" r="r" b="b"/>
            <a:pathLst>
              <a:path w="30662" h="51572">
                <a:moveTo>
                  <a:pt x="0" y="0"/>
                </a:moveTo>
                <a:lnTo>
                  <a:pt x="30662" y="0"/>
                </a:lnTo>
                <a:lnTo>
                  <a:pt x="14564" y="33945"/>
                </a:lnTo>
                <a:lnTo>
                  <a:pt x="0" y="51572"/>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3" name="Illustrative delivered road transport cost class 0; reference terminal Durban"/>
          <p:cNvSpPr/>
          <p:nvPr/>
        </p:nvSpPr>
        <p:spPr>
          <a:xfrm>
            <a:off x="5031026" y="4229128"/>
            <a:ext cx="57686" cy="57686"/>
          </a:xfrm>
          <a:custGeom>
            <a:avLst/>
            <a:gdLst/>
            <a:ahLst/>
            <a:cxnLst/>
            <a:rect l="l" t="t" r="r" b="b"/>
            <a:pathLst>
              <a:path w="57686" h="57686">
                <a:moveTo>
                  <a:pt x="0" y="57686"/>
                </a:moveTo>
                <a:lnTo>
                  <a:pt x="0" y="0"/>
                </a:lnTo>
                <a:lnTo>
                  <a:pt x="57686" y="0"/>
                </a:lnTo>
                <a:lnTo>
                  <a:pt x="57686" y="5704"/>
                </a:lnTo>
                <a:lnTo>
                  <a:pt x="51361" y="14039"/>
                </a:lnTo>
                <a:lnTo>
                  <a:pt x="30662"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4" name="Illustrative delivered road transport cost class 0; reference terminal Durban"/>
          <p:cNvSpPr/>
          <p:nvPr/>
        </p:nvSpPr>
        <p:spPr>
          <a:xfrm>
            <a:off x="503102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5" name="Illustrative delivered road transport cost class 0; reference terminal Durban"/>
          <p:cNvSpPr/>
          <p:nvPr/>
        </p:nvSpPr>
        <p:spPr>
          <a:xfrm>
            <a:off x="503102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6" name="Illustrative delivered road transport cost class 0; reference terminal Durban"/>
          <p:cNvSpPr/>
          <p:nvPr/>
        </p:nvSpPr>
        <p:spPr>
          <a:xfrm>
            <a:off x="503102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7" name="Illustrative delivered road transport cost class 0; reference terminal Durban"/>
          <p:cNvSpPr/>
          <p:nvPr/>
        </p:nvSpPr>
        <p:spPr>
          <a:xfrm>
            <a:off x="503102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8" name="Illustrative delivered road transport cost class 0; reference terminal Durban"/>
          <p:cNvSpPr/>
          <p:nvPr/>
        </p:nvSpPr>
        <p:spPr>
          <a:xfrm>
            <a:off x="503102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9" name="Illustrative delivered road transport cost class 0; reference terminal Durban"/>
          <p:cNvSpPr/>
          <p:nvPr/>
        </p:nvSpPr>
        <p:spPr>
          <a:xfrm>
            <a:off x="503102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0" name="Illustrative delivered road transport cost class 1; reference terminal Durban"/>
          <p:cNvSpPr/>
          <p:nvPr/>
        </p:nvSpPr>
        <p:spPr>
          <a:xfrm>
            <a:off x="503102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1" name="Illustrative delivered road transport cost class 1; reference terminal Lesedi"/>
          <p:cNvSpPr/>
          <p:nvPr/>
        </p:nvSpPr>
        <p:spPr>
          <a:xfrm>
            <a:off x="503102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2" name="Illustrative delivered road transport cost class 1; reference terminal Lesedi"/>
          <p:cNvSpPr/>
          <p:nvPr/>
        </p:nvSpPr>
        <p:spPr>
          <a:xfrm>
            <a:off x="503102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3" name="Illustrative delivered road transport cost class 1; reference terminal Lesedi"/>
          <p:cNvSpPr/>
          <p:nvPr/>
        </p:nvSpPr>
        <p:spPr>
          <a:xfrm>
            <a:off x="503102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4" name="Illustrative delivered road transport cost class 1; reference terminal Lesedi"/>
          <p:cNvSpPr/>
          <p:nvPr/>
        </p:nvSpPr>
        <p:spPr>
          <a:xfrm>
            <a:off x="5031026" y="3594576"/>
            <a:ext cx="57686" cy="57686"/>
          </a:xfrm>
          <a:custGeom>
            <a:avLst/>
            <a:gdLst/>
            <a:ahLst/>
            <a:cxnLst/>
            <a:rect l="l" t="t" r="r" b="b"/>
            <a:pathLst>
              <a:path w="57686" h="57686">
                <a:moveTo>
                  <a:pt x="57686" y="57686"/>
                </a:moveTo>
                <a:lnTo>
                  <a:pt x="0" y="57686"/>
                </a:lnTo>
                <a:lnTo>
                  <a:pt x="0" y="0"/>
                </a:lnTo>
                <a:lnTo>
                  <a:pt x="52632" y="0"/>
                </a:lnTo>
                <a:lnTo>
                  <a:pt x="57686" y="9962"/>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5" name="Illustrative delivered road transport cost class 1; reference terminal Lesedi"/>
          <p:cNvSpPr/>
          <p:nvPr/>
        </p:nvSpPr>
        <p:spPr>
          <a:xfrm>
            <a:off x="5031026" y="3536889"/>
            <a:ext cx="52632" cy="57687"/>
          </a:xfrm>
          <a:custGeom>
            <a:avLst/>
            <a:gdLst/>
            <a:ahLst/>
            <a:cxnLst/>
            <a:rect l="l" t="t" r="r" b="b"/>
            <a:pathLst>
              <a:path w="52632" h="57687">
                <a:moveTo>
                  <a:pt x="0" y="57687"/>
                </a:moveTo>
                <a:lnTo>
                  <a:pt x="0" y="0"/>
                </a:lnTo>
                <a:lnTo>
                  <a:pt x="26602" y="0"/>
                </a:lnTo>
                <a:lnTo>
                  <a:pt x="33371" y="19719"/>
                </a:lnTo>
                <a:lnTo>
                  <a:pt x="5263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6" name="Illustrative delivered road transport cost class 1; reference terminal Lesedi"/>
          <p:cNvSpPr/>
          <p:nvPr/>
        </p:nvSpPr>
        <p:spPr>
          <a:xfrm>
            <a:off x="5031026" y="3479202"/>
            <a:ext cx="26602" cy="57687"/>
          </a:xfrm>
          <a:custGeom>
            <a:avLst/>
            <a:gdLst/>
            <a:ahLst/>
            <a:cxnLst/>
            <a:rect l="l" t="t" r="r" b="b"/>
            <a:pathLst>
              <a:path w="26602" h="57687">
                <a:moveTo>
                  <a:pt x="0" y="57687"/>
                </a:moveTo>
                <a:lnTo>
                  <a:pt x="0" y="0"/>
                </a:lnTo>
                <a:lnTo>
                  <a:pt x="2497" y="0"/>
                </a:lnTo>
                <a:lnTo>
                  <a:pt x="2291" y="37066"/>
                </a:lnTo>
                <a:lnTo>
                  <a:pt x="4883" y="42569"/>
                </a:lnTo>
                <a:lnTo>
                  <a:pt x="22330" y="45241"/>
                </a:lnTo>
                <a:lnTo>
                  <a:pt x="2660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7" name="Illustrative delivered road transport cost class 1; reference terminal Lesedi"/>
          <p:cNvSpPr/>
          <p:nvPr/>
        </p:nvSpPr>
        <p:spPr>
          <a:xfrm>
            <a:off x="5031026" y="3421516"/>
            <a:ext cx="12263" cy="57686"/>
          </a:xfrm>
          <a:custGeom>
            <a:avLst/>
            <a:gdLst/>
            <a:ahLst/>
            <a:cxnLst/>
            <a:rect l="l" t="t" r="r" b="b"/>
            <a:pathLst>
              <a:path w="12263" h="57686">
                <a:moveTo>
                  <a:pt x="0" y="57686"/>
                </a:moveTo>
                <a:lnTo>
                  <a:pt x="0" y="0"/>
                </a:lnTo>
                <a:lnTo>
                  <a:pt x="12263" y="0"/>
                </a:lnTo>
                <a:lnTo>
                  <a:pt x="8495" y="5195"/>
                </a:lnTo>
                <a:lnTo>
                  <a:pt x="4726" y="15770"/>
                </a:lnTo>
                <a:lnTo>
                  <a:pt x="2505" y="56187"/>
                </a:lnTo>
                <a:lnTo>
                  <a:pt x="249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8" name="Illustrative delivered road transport cost class 1; reference terminal Lesedi"/>
          <p:cNvSpPr/>
          <p:nvPr/>
        </p:nvSpPr>
        <p:spPr>
          <a:xfrm>
            <a:off x="5031026" y="3363829"/>
            <a:ext cx="54119" cy="57687"/>
          </a:xfrm>
          <a:custGeom>
            <a:avLst/>
            <a:gdLst/>
            <a:ahLst/>
            <a:cxnLst/>
            <a:rect l="l" t="t" r="r" b="b"/>
            <a:pathLst>
              <a:path w="54119" h="57687">
                <a:moveTo>
                  <a:pt x="0" y="57687"/>
                </a:moveTo>
                <a:lnTo>
                  <a:pt x="0" y="0"/>
                </a:lnTo>
                <a:lnTo>
                  <a:pt x="54119" y="0"/>
                </a:lnTo>
                <a:lnTo>
                  <a:pt x="43438" y="14699"/>
                </a:lnTo>
                <a:lnTo>
                  <a:pt x="1226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9" name="Illustrative delivered road transport cost class 1; reference terminal Lesedi"/>
          <p:cNvSpPr/>
          <p:nvPr/>
        </p:nvSpPr>
        <p:spPr>
          <a:xfrm>
            <a:off x="5031026" y="3306143"/>
            <a:ext cx="57686" cy="57686"/>
          </a:xfrm>
          <a:custGeom>
            <a:avLst/>
            <a:gdLst/>
            <a:ahLst/>
            <a:cxnLst/>
            <a:rect l="l" t="t" r="r" b="b"/>
            <a:pathLst>
              <a:path w="57686" h="57686">
                <a:moveTo>
                  <a:pt x="0" y="57686"/>
                </a:moveTo>
                <a:lnTo>
                  <a:pt x="0" y="0"/>
                </a:lnTo>
                <a:lnTo>
                  <a:pt x="57686" y="0"/>
                </a:lnTo>
                <a:lnTo>
                  <a:pt x="57686" y="52778"/>
                </a:lnTo>
                <a:lnTo>
                  <a:pt x="5411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0" name="Illustrative delivered road transport cost class 1; reference terminal Lesedi"/>
          <p:cNvSpPr/>
          <p:nvPr/>
        </p:nvSpPr>
        <p:spPr>
          <a:xfrm>
            <a:off x="5031026"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1" name="Illustrative delivered road transport cost class 1; reference terminal Lesedi"/>
          <p:cNvSpPr/>
          <p:nvPr/>
        </p:nvSpPr>
        <p:spPr>
          <a:xfrm>
            <a:off x="5031026"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2" name="Illustrative delivered road transport cost class 1; reference terminal Lesedi"/>
          <p:cNvSpPr/>
          <p:nvPr/>
        </p:nvSpPr>
        <p:spPr>
          <a:xfrm>
            <a:off x="5031026"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3" name="Illustrative delivered road transport cost class 1; reference terminal Lesedi"/>
          <p:cNvSpPr/>
          <p:nvPr/>
        </p:nvSpPr>
        <p:spPr>
          <a:xfrm>
            <a:off x="5031026"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4" name="Illustrative delivered road transport cost class 1; reference terminal Lesedi"/>
          <p:cNvSpPr/>
          <p:nvPr/>
        </p:nvSpPr>
        <p:spPr>
          <a:xfrm>
            <a:off x="5031026"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5" name="Illustrative delivered road transport cost class 1; reference terminal Lesedi"/>
          <p:cNvSpPr/>
          <p:nvPr/>
        </p:nvSpPr>
        <p:spPr>
          <a:xfrm>
            <a:off x="5031026"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6" name="Illustrative delivered road transport cost class None; reference terminal None"/>
          <p:cNvSpPr/>
          <p:nvPr/>
        </p:nvSpPr>
        <p:spPr>
          <a:xfrm>
            <a:off x="5031026"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7" name="Illustrative delivered road transport cost class None; reference terminal None"/>
          <p:cNvSpPr/>
          <p:nvPr/>
        </p:nvSpPr>
        <p:spPr>
          <a:xfrm>
            <a:off x="5031026"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8" name="Illustrative delivered road transport cost class None; reference terminal None"/>
          <p:cNvSpPr/>
          <p:nvPr/>
        </p:nvSpPr>
        <p:spPr>
          <a:xfrm>
            <a:off x="5031026"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9" name="Illustrative delivered road transport cost class None; reference terminal None"/>
          <p:cNvSpPr/>
          <p:nvPr/>
        </p:nvSpPr>
        <p:spPr>
          <a:xfrm>
            <a:off x="5031026"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0" name="Illustrative delivered road transport cost class None; reference terminal None"/>
          <p:cNvSpPr/>
          <p:nvPr/>
        </p:nvSpPr>
        <p:spPr>
          <a:xfrm>
            <a:off x="5031026"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1" name="Illustrative delivered road transport cost class None; reference terminal None"/>
          <p:cNvSpPr/>
          <p:nvPr/>
        </p:nvSpPr>
        <p:spPr>
          <a:xfrm>
            <a:off x="5031026"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2" name="Illustrative delivered road transport cost class None; reference terminal None"/>
          <p:cNvSpPr/>
          <p:nvPr/>
        </p:nvSpPr>
        <p:spPr>
          <a:xfrm>
            <a:off x="5031026"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3" name="Illustrative delivered road transport cost class 2; reference terminal Lesedi"/>
          <p:cNvSpPr/>
          <p:nvPr/>
        </p:nvSpPr>
        <p:spPr>
          <a:xfrm>
            <a:off x="5031026"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4" name="Illustrative delivered road transport cost class 2; reference terminal Lesedi"/>
          <p:cNvSpPr/>
          <p:nvPr/>
        </p:nvSpPr>
        <p:spPr>
          <a:xfrm>
            <a:off x="5031026"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5" name="Illustrative delivered road transport cost class 2; reference terminal Lesedi"/>
          <p:cNvSpPr/>
          <p:nvPr/>
        </p:nvSpPr>
        <p:spPr>
          <a:xfrm>
            <a:off x="5031026"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6" name="Illustrative delivered road transport cost class 2; reference terminal Lesedi"/>
          <p:cNvSpPr/>
          <p:nvPr/>
        </p:nvSpPr>
        <p:spPr>
          <a:xfrm>
            <a:off x="5031026" y="2374664"/>
            <a:ext cx="57686" cy="8494"/>
          </a:xfrm>
          <a:custGeom>
            <a:avLst/>
            <a:gdLst/>
            <a:ahLst/>
            <a:cxnLst/>
            <a:rect l="l" t="t" r="r" b="b"/>
            <a:pathLst>
              <a:path w="57686" h="8494">
                <a:moveTo>
                  <a:pt x="57686" y="8494"/>
                </a:moveTo>
                <a:lnTo>
                  <a:pt x="0" y="8494"/>
                </a:lnTo>
                <a:lnTo>
                  <a:pt x="0" y="2863"/>
                </a:lnTo>
                <a:lnTo>
                  <a:pt x="32573" y="0"/>
                </a:lnTo>
                <a:lnTo>
                  <a:pt x="57686" y="227"/>
                </a:lnTo>
                <a:lnTo>
                  <a:pt x="57686" y="8494"/>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7" name="Illustrative delivered road transport cost class 0; reference terminal Durban"/>
          <p:cNvSpPr/>
          <p:nvPr/>
        </p:nvSpPr>
        <p:spPr>
          <a:xfrm>
            <a:off x="5088712" y="4229128"/>
            <a:ext cx="4329" cy="5704"/>
          </a:xfrm>
          <a:custGeom>
            <a:avLst/>
            <a:gdLst/>
            <a:ahLst/>
            <a:cxnLst/>
            <a:rect l="l" t="t" r="r" b="b"/>
            <a:pathLst>
              <a:path w="4329" h="5704">
                <a:moveTo>
                  <a:pt x="0" y="0"/>
                </a:moveTo>
                <a:lnTo>
                  <a:pt x="4329" y="0"/>
                </a:lnTo>
                <a:lnTo>
                  <a:pt x="0" y="570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8" name="Illustrative delivered road transport cost class 0; reference terminal Durban"/>
          <p:cNvSpPr/>
          <p:nvPr/>
        </p:nvSpPr>
        <p:spPr>
          <a:xfrm>
            <a:off x="5088712" y="4171441"/>
            <a:ext cx="52435" cy="57687"/>
          </a:xfrm>
          <a:custGeom>
            <a:avLst/>
            <a:gdLst/>
            <a:ahLst/>
            <a:cxnLst/>
            <a:rect l="l" t="t" r="r" b="b"/>
            <a:pathLst>
              <a:path w="52435" h="57687">
                <a:moveTo>
                  <a:pt x="0" y="57687"/>
                </a:moveTo>
                <a:lnTo>
                  <a:pt x="0" y="0"/>
                </a:lnTo>
                <a:lnTo>
                  <a:pt x="52435" y="0"/>
                </a:lnTo>
                <a:lnTo>
                  <a:pt x="33464" y="19296"/>
                </a:lnTo>
                <a:lnTo>
                  <a:pt x="4329"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9" name="Illustrative delivered road transport cost class 0; reference terminal Durban"/>
          <p:cNvSpPr/>
          <p:nvPr/>
        </p:nvSpPr>
        <p:spPr>
          <a:xfrm>
            <a:off x="5088712" y="4113755"/>
            <a:ext cx="57687" cy="57686"/>
          </a:xfrm>
          <a:custGeom>
            <a:avLst/>
            <a:gdLst/>
            <a:ahLst/>
            <a:cxnLst/>
            <a:rect l="l" t="t" r="r" b="b"/>
            <a:pathLst>
              <a:path w="57687" h="57686">
                <a:moveTo>
                  <a:pt x="0" y="57686"/>
                </a:moveTo>
                <a:lnTo>
                  <a:pt x="0" y="0"/>
                </a:lnTo>
                <a:lnTo>
                  <a:pt x="57687" y="0"/>
                </a:lnTo>
                <a:lnTo>
                  <a:pt x="57687" y="52345"/>
                </a:lnTo>
                <a:lnTo>
                  <a:pt x="52435"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0" name="Illustrative delivered road transport cost class 0; reference terminal Durban"/>
          <p:cNvSpPr/>
          <p:nvPr/>
        </p:nvSpPr>
        <p:spPr>
          <a:xfrm>
            <a:off x="508871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1" name="Illustrative delivered road transport cost class 0; reference terminal Durban"/>
          <p:cNvSpPr/>
          <p:nvPr/>
        </p:nvSpPr>
        <p:spPr>
          <a:xfrm>
            <a:off x="508871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2" name="Illustrative delivered road transport cost class 0; reference terminal Durban"/>
          <p:cNvSpPr/>
          <p:nvPr/>
        </p:nvSpPr>
        <p:spPr>
          <a:xfrm>
            <a:off x="508871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3" name="Illustrative delivered road transport cost class 0; reference terminal Durban"/>
          <p:cNvSpPr/>
          <p:nvPr/>
        </p:nvSpPr>
        <p:spPr>
          <a:xfrm>
            <a:off x="508871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4" name="Illustrative delivered road transport cost class 0; reference terminal Durban"/>
          <p:cNvSpPr/>
          <p:nvPr/>
        </p:nvSpPr>
        <p:spPr>
          <a:xfrm>
            <a:off x="508871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5" name="Illustrative delivered road transport cost class 1; reference terminal Durban"/>
          <p:cNvSpPr/>
          <p:nvPr/>
        </p:nvSpPr>
        <p:spPr>
          <a:xfrm>
            <a:off x="508871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6" name="Illustrative delivered road transport cost class 1; reference terminal Durban"/>
          <p:cNvSpPr/>
          <p:nvPr/>
        </p:nvSpPr>
        <p:spPr>
          <a:xfrm>
            <a:off x="508871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7" name="Illustrative delivered road transport cost class 1; reference terminal Durban"/>
          <p:cNvSpPr/>
          <p:nvPr/>
        </p:nvSpPr>
        <p:spPr>
          <a:xfrm>
            <a:off x="508871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8" name="Illustrative delivered road transport cost class 1; reference terminal Lesedi"/>
          <p:cNvSpPr/>
          <p:nvPr/>
        </p:nvSpPr>
        <p:spPr>
          <a:xfrm>
            <a:off x="5088712" y="3604538"/>
            <a:ext cx="57687" cy="47724"/>
          </a:xfrm>
          <a:custGeom>
            <a:avLst/>
            <a:gdLst/>
            <a:ahLst/>
            <a:cxnLst/>
            <a:rect l="l" t="t" r="r" b="b"/>
            <a:pathLst>
              <a:path w="57687" h="47724">
                <a:moveTo>
                  <a:pt x="57687" y="47724"/>
                </a:moveTo>
                <a:lnTo>
                  <a:pt x="0" y="47724"/>
                </a:lnTo>
                <a:lnTo>
                  <a:pt x="0" y="0"/>
                </a:lnTo>
                <a:lnTo>
                  <a:pt x="1888" y="3721"/>
                </a:lnTo>
                <a:lnTo>
                  <a:pt x="48337" y="38415"/>
                </a:lnTo>
                <a:lnTo>
                  <a:pt x="57687" y="42036"/>
                </a:lnTo>
                <a:lnTo>
                  <a:pt x="57687" y="4772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9" name="Illustrative delivered road transport cost class 1; reference terminal Lesedi"/>
          <p:cNvSpPr/>
          <p:nvPr/>
        </p:nvSpPr>
        <p:spPr>
          <a:xfrm>
            <a:off x="5088712" y="3306143"/>
            <a:ext cx="32964" cy="52778"/>
          </a:xfrm>
          <a:custGeom>
            <a:avLst/>
            <a:gdLst/>
            <a:ahLst/>
            <a:cxnLst/>
            <a:rect l="l" t="t" r="r" b="b"/>
            <a:pathLst>
              <a:path w="32964" h="52778">
                <a:moveTo>
                  <a:pt x="0" y="0"/>
                </a:moveTo>
                <a:lnTo>
                  <a:pt x="32964" y="0"/>
                </a:lnTo>
                <a:lnTo>
                  <a:pt x="21545" y="13175"/>
                </a:lnTo>
                <a:lnTo>
                  <a:pt x="7493" y="42466"/>
                </a:lnTo>
                <a:lnTo>
                  <a:pt x="0" y="5277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0" name="Illustrative delivered road transport cost class 1; reference terminal Lesedi"/>
          <p:cNvSpPr/>
          <p:nvPr/>
        </p:nvSpPr>
        <p:spPr>
          <a:xfrm>
            <a:off x="5088712" y="3248456"/>
            <a:ext cx="57687" cy="57687"/>
          </a:xfrm>
          <a:custGeom>
            <a:avLst/>
            <a:gdLst/>
            <a:ahLst/>
            <a:cxnLst/>
            <a:rect l="l" t="t" r="r" b="b"/>
            <a:pathLst>
              <a:path w="57687" h="57687">
                <a:moveTo>
                  <a:pt x="0" y="57687"/>
                </a:moveTo>
                <a:lnTo>
                  <a:pt x="0" y="0"/>
                </a:lnTo>
                <a:lnTo>
                  <a:pt x="57687" y="0"/>
                </a:lnTo>
                <a:lnTo>
                  <a:pt x="57687" y="32428"/>
                </a:lnTo>
                <a:lnTo>
                  <a:pt x="50745" y="37169"/>
                </a:lnTo>
                <a:lnTo>
                  <a:pt x="32964"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1" name="Illustrative delivered road transport cost class 1; reference terminal Lesedi"/>
          <p:cNvSpPr/>
          <p:nvPr/>
        </p:nvSpPr>
        <p:spPr>
          <a:xfrm>
            <a:off x="508871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2" name="Illustrative delivered road transport cost class 1; reference terminal Lesedi"/>
          <p:cNvSpPr/>
          <p:nvPr/>
        </p:nvSpPr>
        <p:spPr>
          <a:xfrm>
            <a:off x="508871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3" name="Illustrative delivered road transport cost class 1; reference terminal Lesedi"/>
          <p:cNvSpPr/>
          <p:nvPr/>
        </p:nvSpPr>
        <p:spPr>
          <a:xfrm>
            <a:off x="508871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4" name="Illustrative delivered road transport cost class 1; reference terminal Lesedi"/>
          <p:cNvSpPr/>
          <p:nvPr/>
        </p:nvSpPr>
        <p:spPr>
          <a:xfrm>
            <a:off x="508871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5" name="Illustrative delivered road transport cost class 1; reference terminal Lesedi"/>
          <p:cNvSpPr/>
          <p:nvPr/>
        </p:nvSpPr>
        <p:spPr>
          <a:xfrm>
            <a:off x="508871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6" name="Illustrative delivered road transport cost class None; reference terminal None"/>
          <p:cNvSpPr/>
          <p:nvPr/>
        </p:nvSpPr>
        <p:spPr>
          <a:xfrm>
            <a:off x="508871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7" name="Illustrative delivered road transport cost class None; reference terminal None"/>
          <p:cNvSpPr/>
          <p:nvPr/>
        </p:nvSpPr>
        <p:spPr>
          <a:xfrm>
            <a:off x="5088712"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8" name="Illustrative delivered road transport cost class None; reference terminal None"/>
          <p:cNvSpPr/>
          <p:nvPr/>
        </p:nvSpPr>
        <p:spPr>
          <a:xfrm>
            <a:off x="5088712"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9" name="Illustrative delivered road transport cost class None; reference terminal None"/>
          <p:cNvSpPr/>
          <p:nvPr/>
        </p:nvSpPr>
        <p:spPr>
          <a:xfrm>
            <a:off x="5088712"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0" name="Illustrative delivered road transport cost class None; reference terminal None"/>
          <p:cNvSpPr/>
          <p:nvPr/>
        </p:nvSpPr>
        <p:spPr>
          <a:xfrm>
            <a:off x="5088712"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1" name="Illustrative delivered road transport cost class None; reference terminal None"/>
          <p:cNvSpPr/>
          <p:nvPr/>
        </p:nvSpPr>
        <p:spPr>
          <a:xfrm>
            <a:off x="5088712"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2" name="Illustrative delivered road transport cost class None; reference terminal None"/>
          <p:cNvSpPr/>
          <p:nvPr/>
        </p:nvSpPr>
        <p:spPr>
          <a:xfrm>
            <a:off x="5088712"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3" name="Illustrative delivered road transport cost class None; reference terminal None"/>
          <p:cNvSpPr/>
          <p:nvPr/>
        </p:nvSpPr>
        <p:spPr>
          <a:xfrm>
            <a:off x="5088712"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4" name="Illustrative delivered road transport cost class None; reference terminal None"/>
          <p:cNvSpPr/>
          <p:nvPr/>
        </p:nvSpPr>
        <p:spPr>
          <a:xfrm>
            <a:off x="5088712"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5" name="Illustrative delivered road transport cost class None; reference terminal None"/>
          <p:cNvSpPr/>
          <p:nvPr/>
        </p:nvSpPr>
        <p:spPr>
          <a:xfrm>
            <a:off x="5088712"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6" name="Illustrative delivered road transport cost class 2; reference terminal Lesedi"/>
          <p:cNvSpPr/>
          <p:nvPr/>
        </p:nvSpPr>
        <p:spPr>
          <a:xfrm>
            <a:off x="5088712" y="2374891"/>
            <a:ext cx="57687" cy="8267"/>
          </a:xfrm>
          <a:custGeom>
            <a:avLst/>
            <a:gdLst/>
            <a:ahLst/>
            <a:cxnLst/>
            <a:rect l="l" t="t" r="r" b="b"/>
            <a:pathLst>
              <a:path w="57687" h="8267">
                <a:moveTo>
                  <a:pt x="57687" y="8267"/>
                </a:moveTo>
                <a:lnTo>
                  <a:pt x="0" y="8267"/>
                </a:lnTo>
                <a:lnTo>
                  <a:pt x="0" y="0"/>
                </a:lnTo>
                <a:lnTo>
                  <a:pt x="23566" y="212"/>
                </a:lnTo>
                <a:lnTo>
                  <a:pt x="57687" y="5855"/>
                </a:lnTo>
                <a:lnTo>
                  <a:pt x="57687" y="826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7" name="Illustrative delivered road transport cost class 0; reference terminal Durban"/>
          <p:cNvSpPr/>
          <p:nvPr/>
        </p:nvSpPr>
        <p:spPr>
          <a:xfrm>
            <a:off x="5146399" y="4113755"/>
            <a:ext cx="51467" cy="52345"/>
          </a:xfrm>
          <a:custGeom>
            <a:avLst/>
            <a:gdLst/>
            <a:ahLst/>
            <a:cxnLst/>
            <a:rect l="l" t="t" r="r" b="b"/>
            <a:pathLst>
              <a:path w="51467" h="52345">
                <a:moveTo>
                  <a:pt x="0" y="0"/>
                </a:moveTo>
                <a:lnTo>
                  <a:pt x="51467" y="0"/>
                </a:lnTo>
                <a:lnTo>
                  <a:pt x="0" y="5234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8" name="Illustrative delivered road transport cost class 0; reference terminal Durban"/>
          <p:cNvSpPr/>
          <p:nvPr/>
        </p:nvSpPr>
        <p:spPr>
          <a:xfrm>
            <a:off x="5146399" y="4056068"/>
            <a:ext cx="57686" cy="57687"/>
          </a:xfrm>
          <a:custGeom>
            <a:avLst/>
            <a:gdLst/>
            <a:ahLst/>
            <a:cxnLst/>
            <a:rect l="l" t="t" r="r" b="b"/>
            <a:pathLst>
              <a:path w="57686" h="57687">
                <a:moveTo>
                  <a:pt x="0" y="57687"/>
                </a:moveTo>
                <a:lnTo>
                  <a:pt x="0" y="0"/>
                </a:lnTo>
                <a:lnTo>
                  <a:pt x="57686" y="0"/>
                </a:lnTo>
                <a:lnTo>
                  <a:pt x="57686" y="51361"/>
                </a:lnTo>
                <a:lnTo>
                  <a:pt x="514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9" name="Illustrative delivered road transport cost class 0; reference terminal Durban"/>
          <p:cNvSpPr/>
          <p:nvPr/>
        </p:nvSpPr>
        <p:spPr>
          <a:xfrm>
            <a:off x="514639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0" name="Illustrative delivered road transport cost class 0; reference terminal Durban"/>
          <p:cNvSpPr/>
          <p:nvPr/>
        </p:nvSpPr>
        <p:spPr>
          <a:xfrm>
            <a:off x="514639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1" name="Illustrative delivered road transport cost class 0; reference terminal Durban"/>
          <p:cNvSpPr/>
          <p:nvPr/>
        </p:nvSpPr>
        <p:spPr>
          <a:xfrm>
            <a:off x="514639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2" name="Illustrative delivered road transport cost class 0; reference terminal Durban"/>
          <p:cNvSpPr/>
          <p:nvPr/>
        </p:nvSpPr>
        <p:spPr>
          <a:xfrm>
            <a:off x="514639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3" name="Illustrative delivered road transport cost class 1; reference terminal Durban"/>
          <p:cNvSpPr/>
          <p:nvPr/>
        </p:nvSpPr>
        <p:spPr>
          <a:xfrm>
            <a:off x="514639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4" name="Illustrative delivered road transport cost class 1; reference terminal Durban"/>
          <p:cNvSpPr/>
          <p:nvPr/>
        </p:nvSpPr>
        <p:spPr>
          <a:xfrm>
            <a:off x="514639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5" name="Illustrative delivered road transport cost class 1; reference terminal Durban"/>
          <p:cNvSpPr/>
          <p:nvPr/>
        </p:nvSpPr>
        <p:spPr>
          <a:xfrm>
            <a:off x="5146399" y="3652262"/>
            <a:ext cx="57686" cy="57687"/>
          </a:xfrm>
          <a:custGeom>
            <a:avLst/>
            <a:gdLst/>
            <a:ahLst/>
            <a:cxnLst/>
            <a:rect l="l" t="t" r="r" b="b"/>
            <a:pathLst>
              <a:path w="57686" h="57687">
                <a:moveTo>
                  <a:pt x="57686" y="57687"/>
                </a:moveTo>
                <a:lnTo>
                  <a:pt x="0" y="57687"/>
                </a:lnTo>
                <a:lnTo>
                  <a:pt x="0" y="0"/>
                </a:lnTo>
                <a:lnTo>
                  <a:pt x="14684" y="0"/>
                </a:lnTo>
                <a:lnTo>
                  <a:pt x="34456" y="7658"/>
                </a:lnTo>
                <a:lnTo>
                  <a:pt x="57686" y="10325"/>
                </a:lnTo>
                <a:lnTo>
                  <a:pt x="57686"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6" name="Illustrative delivered road transport cost class 1; reference terminal Durban"/>
          <p:cNvSpPr/>
          <p:nvPr/>
        </p:nvSpPr>
        <p:spPr>
          <a:xfrm>
            <a:off x="5146399" y="3646574"/>
            <a:ext cx="14684" cy="5688"/>
          </a:xfrm>
          <a:custGeom>
            <a:avLst/>
            <a:gdLst/>
            <a:ahLst/>
            <a:cxnLst/>
            <a:rect l="l" t="t" r="r" b="b"/>
            <a:pathLst>
              <a:path w="14684" h="5688">
                <a:moveTo>
                  <a:pt x="0" y="5688"/>
                </a:moveTo>
                <a:lnTo>
                  <a:pt x="0" y="0"/>
                </a:lnTo>
                <a:lnTo>
                  <a:pt x="14684" y="5688"/>
                </a:lnTo>
                <a:lnTo>
                  <a:pt x="0" y="5688"/>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7" name="Illustrative delivered road transport cost class 1; reference terminal Lesedi"/>
          <p:cNvSpPr/>
          <p:nvPr/>
        </p:nvSpPr>
        <p:spPr>
          <a:xfrm>
            <a:off x="5146399" y="3248456"/>
            <a:ext cx="57686" cy="32428"/>
          </a:xfrm>
          <a:custGeom>
            <a:avLst/>
            <a:gdLst/>
            <a:ahLst/>
            <a:cxnLst/>
            <a:rect l="l" t="t" r="r" b="b"/>
            <a:pathLst>
              <a:path w="57686" h="32428">
                <a:moveTo>
                  <a:pt x="0" y="0"/>
                </a:moveTo>
                <a:lnTo>
                  <a:pt x="57686" y="0"/>
                </a:lnTo>
                <a:lnTo>
                  <a:pt x="57686" y="25216"/>
                </a:lnTo>
                <a:lnTo>
                  <a:pt x="42266" y="14932"/>
                </a:lnTo>
                <a:lnTo>
                  <a:pt x="34799" y="13613"/>
                </a:lnTo>
                <a:lnTo>
                  <a:pt x="23676" y="16259"/>
                </a:lnTo>
                <a:lnTo>
                  <a:pt x="0" y="324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8" name="Illustrative delivered road transport cost class 1; reference terminal Lesedi"/>
          <p:cNvSpPr/>
          <p:nvPr/>
        </p:nvSpPr>
        <p:spPr>
          <a:xfrm>
            <a:off x="514639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9" name="Illustrative delivered road transport cost class 1; reference terminal Lesedi"/>
          <p:cNvSpPr/>
          <p:nvPr/>
        </p:nvSpPr>
        <p:spPr>
          <a:xfrm>
            <a:off x="514639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0" name="Illustrative delivered road transport cost class 1; reference terminal Lesedi"/>
          <p:cNvSpPr/>
          <p:nvPr/>
        </p:nvSpPr>
        <p:spPr>
          <a:xfrm>
            <a:off x="5146399"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1" name="Illustrative delivered road transport cost class 1; reference terminal Lesedi"/>
          <p:cNvSpPr/>
          <p:nvPr/>
        </p:nvSpPr>
        <p:spPr>
          <a:xfrm>
            <a:off x="5146399"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2" name="Illustrative delivered road transport cost class 1; reference terminal Lesedi"/>
          <p:cNvSpPr/>
          <p:nvPr/>
        </p:nvSpPr>
        <p:spPr>
          <a:xfrm>
            <a:off x="5146399"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3" name="Illustrative delivered road transport cost class None; reference terminal None"/>
          <p:cNvSpPr/>
          <p:nvPr/>
        </p:nvSpPr>
        <p:spPr>
          <a:xfrm>
            <a:off x="5146399"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4" name="Illustrative delivered road transport cost class None; reference terminal None"/>
          <p:cNvSpPr/>
          <p:nvPr/>
        </p:nvSpPr>
        <p:spPr>
          <a:xfrm>
            <a:off x="5146399"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5" name="Illustrative delivered road transport cost class None; reference terminal None"/>
          <p:cNvSpPr/>
          <p:nvPr/>
        </p:nvSpPr>
        <p:spPr>
          <a:xfrm>
            <a:off x="5146399"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6" name="Illustrative delivered road transport cost class None; reference terminal None"/>
          <p:cNvSpPr/>
          <p:nvPr/>
        </p:nvSpPr>
        <p:spPr>
          <a:xfrm>
            <a:off x="5146399"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7" name="Illustrative delivered road transport cost class None; reference terminal None"/>
          <p:cNvSpPr/>
          <p:nvPr/>
        </p:nvSpPr>
        <p:spPr>
          <a:xfrm>
            <a:off x="5146399"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8" name="Illustrative delivered road transport cost class None; reference terminal None"/>
          <p:cNvSpPr/>
          <p:nvPr/>
        </p:nvSpPr>
        <p:spPr>
          <a:xfrm>
            <a:off x="5146399"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9" name="Illustrative delivered road transport cost class None; reference terminal None"/>
          <p:cNvSpPr/>
          <p:nvPr/>
        </p:nvSpPr>
        <p:spPr>
          <a:xfrm>
            <a:off x="5146399"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0" name="Illustrative delivered road transport cost class None; reference terminal None"/>
          <p:cNvSpPr/>
          <p:nvPr/>
        </p:nvSpPr>
        <p:spPr>
          <a:xfrm>
            <a:off x="5146399"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1" name="Illustrative delivered road transport cost class None; reference terminal None"/>
          <p:cNvSpPr/>
          <p:nvPr/>
        </p:nvSpPr>
        <p:spPr>
          <a:xfrm>
            <a:off x="5146399"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2" name="Illustrative delivered road transport cost class None; reference terminal None"/>
          <p:cNvSpPr/>
          <p:nvPr/>
        </p:nvSpPr>
        <p:spPr>
          <a:xfrm>
            <a:off x="5146399" y="2383158"/>
            <a:ext cx="57686" cy="57686"/>
          </a:xfrm>
          <a:custGeom>
            <a:avLst/>
            <a:gdLst/>
            <a:ahLst/>
            <a:cxnLst/>
            <a:rect l="l" t="t" r="r" b="b"/>
            <a:pathLst>
              <a:path w="57686" h="57686">
                <a:moveTo>
                  <a:pt x="57686" y="57686"/>
                </a:moveTo>
                <a:lnTo>
                  <a:pt x="0" y="57686"/>
                </a:lnTo>
                <a:lnTo>
                  <a:pt x="0" y="0"/>
                </a:lnTo>
                <a:lnTo>
                  <a:pt x="8138" y="0"/>
                </a:lnTo>
                <a:lnTo>
                  <a:pt x="32085" y="9008"/>
                </a:lnTo>
                <a:lnTo>
                  <a:pt x="52957" y="24659"/>
                </a:lnTo>
                <a:lnTo>
                  <a:pt x="53606" y="38152"/>
                </a:lnTo>
                <a:lnTo>
                  <a:pt x="55000" y="44341"/>
                </a:lnTo>
                <a:lnTo>
                  <a:pt x="57686" y="5427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3" name="Illustrative delivered road transport cost class None; reference terminal None"/>
          <p:cNvSpPr/>
          <p:nvPr/>
        </p:nvSpPr>
        <p:spPr>
          <a:xfrm>
            <a:off x="5146399" y="2380746"/>
            <a:ext cx="8138" cy="2412"/>
          </a:xfrm>
          <a:custGeom>
            <a:avLst/>
            <a:gdLst/>
            <a:ahLst/>
            <a:cxnLst/>
            <a:rect l="l" t="t" r="r" b="b"/>
            <a:pathLst>
              <a:path w="8138" h="2412">
                <a:moveTo>
                  <a:pt x="0" y="2412"/>
                </a:moveTo>
                <a:lnTo>
                  <a:pt x="0" y="0"/>
                </a:lnTo>
                <a:lnTo>
                  <a:pt x="3080" y="509"/>
                </a:lnTo>
                <a:lnTo>
                  <a:pt x="8138" y="2412"/>
                </a:lnTo>
                <a:lnTo>
                  <a:pt x="0" y="24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4" name="Illustrative delivered road transport cost class 0; reference terminal Durban"/>
          <p:cNvSpPr/>
          <p:nvPr/>
        </p:nvSpPr>
        <p:spPr>
          <a:xfrm>
            <a:off x="5204085" y="4056068"/>
            <a:ext cx="57687" cy="51361"/>
          </a:xfrm>
          <a:custGeom>
            <a:avLst/>
            <a:gdLst/>
            <a:ahLst/>
            <a:cxnLst/>
            <a:rect l="l" t="t" r="r" b="b"/>
            <a:pathLst>
              <a:path w="57687" h="51361">
                <a:moveTo>
                  <a:pt x="0" y="0"/>
                </a:moveTo>
                <a:lnTo>
                  <a:pt x="57687" y="0"/>
                </a:lnTo>
                <a:lnTo>
                  <a:pt x="57687" y="18855"/>
                </a:lnTo>
                <a:lnTo>
                  <a:pt x="49331" y="22482"/>
                </a:lnTo>
                <a:lnTo>
                  <a:pt x="23552" y="27408"/>
                </a:lnTo>
                <a:lnTo>
                  <a:pt x="0" y="5136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5" name="Illustrative delivered road transport cost class 0; reference terminal Durban"/>
          <p:cNvSpPr/>
          <p:nvPr/>
        </p:nvSpPr>
        <p:spPr>
          <a:xfrm>
            <a:off x="520408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6" name="Illustrative delivered road transport cost class 0; reference terminal Durban"/>
          <p:cNvSpPr/>
          <p:nvPr/>
        </p:nvSpPr>
        <p:spPr>
          <a:xfrm>
            <a:off x="520408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7" name="Illustrative delivered road transport cost class 0; reference terminal Durban"/>
          <p:cNvSpPr/>
          <p:nvPr/>
        </p:nvSpPr>
        <p:spPr>
          <a:xfrm>
            <a:off x="520408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8" name="Illustrative delivered road transport cost class 0; reference terminal Durban"/>
          <p:cNvSpPr/>
          <p:nvPr/>
        </p:nvSpPr>
        <p:spPr>
          <a:xfrm>
            <a:off x="520408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9" name="Illustrative delivered road transport cost class 0; reference terminal Durban"/>
          <p:cNvSpPr/>
          <p:nvPr/>
        </p:nvSpPr>
        <p:spPr>
          <a:xfrm>
            <a:off x="520408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0" name="Illustrative delivered road transport cost class 1; reference terminal Durban"/>
          <p:cNvSpPr/>
          <p:nvPr/>
        </p:nvSpPr>
        <p:spPr>
          <a:xfrm>
            <a:off x="520408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1" name="Illustrative delivered road transport cost class 1; reference terminal Durban"/>
          <p:cNvSpPr/>
          <p:nvPr/>
        </p:nvSpPr>
        <p:spPr>
          <a:xfrm>
            <a:off x="5204085" y="3662587"/>
            <a:ext cx="57687" cy="47362"/>
          </a:xfrm>
          <a:custGeom>
            <a:avLst/>
            <a:gdLst/>
            <a:ahLst/>
            <a:cxnLst/>
            <a:rect l="l" t="t" r="r" b="b"/>
            <a:pathLst>
              <a:path w="57687" h="47362">
                <a:moveTo>
                  <a:pt x="57687" y="47362"/>
                </a:moveTo>
                <a:lnTo>
                  <a:pt x="0" y="47362"/>
                </a:lnTo>
                <a:lnTo>
                  <a:pt x="0" y="0"/>
                </a:lnTo>
                <a:lnTo>
                  <a:pt x="38771" y="4451"/>
                </a:lnTo>
                <a:lnTo>
                  <a:pt x="57687" y="5127"/>
                </a:lnTo>
                <a:lnTo>
                  <a:pt x="57687" y="4736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2" name="Illustrative delivered road transport cost class 1; reference terminal Lesedi"/>
          <p:cNvSpPr/>
          <p:nvPr/>
        </p:nvSpPr>
        <p:spPr>
          <a:xfrm>
            <a:off x="5253756" y="3306143"/>
            <a:ext cx="8016" cy="4988"/>
          </a:xfrm>
          <a:custGeom>
            <a:avLst/>
            <a:gdLst/>
            <a:ahLst/>
            <a:cxnLst/>
            <a:rect l="l" t="t" r="r" b="b"/>
            <a:pathLst>
              <a:path w="8016" h="4988">
                <a:moveTo>
                  <a:pt x="8016" y="0"/>
                </a:moveTo>
                <a:lnTo>
                  <a:pt x="8016" y="4988"/>
                </a:lnTo>
                <a:lnTo>
                  <a:pt x="0" y="0"/>
                </a:lnTo>
                <a:lnTo>
                  <a:pt x="801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3" name="Illustrative delivered road transport cost class 1; reference terminal Lesedi"/>
          <p:cNvSpPr/>
          <p:nvPr/>
        </p:nvSpPr>
        <p:spPr>
          <a:xfrm>
            <a:off x="5204085" y="3248456"/>
            <a:ext cx="57687" cy="57687"/>
          </a:xfrm>
          <a:custGeom>
            <a:avLst/>
            <a:gdLst/>
            <a:ahLst/>
            <a:cxnLst/>
            <a:rect l="l" t="t" r="r" b="b"/>
            <a:pathLst>
              <a:path w="57687" h="57687">
                <a:moveTo>
                  <a:pt x="0" y="0"/>
                </a:moveTo>
                <a:lnTo>
                  <a:pt x="57687" y="0"/>
                </a:lnTo>
                <a:lnTo>
                  <a:pt x="57687" y="57687"/>
                </a:lnTo>
                <a:lnTo>
                  <a:pt x="49671" y="57687"/>
                </a:lnTo>
                <a:lnTo>
                  <a:pt x="35018" y="48569"/>
                </a:lnTo>
                <a:lnTo>
                  <a:pt x="0" y="2521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4" name="Illustrative delivered road transport cost class 1; reference terminal Lesedi"/>
          <p:cNvSpPr/>
          <p:nvPr/>
        </p:nvSpPr>
        <p:spPr>
          <a:xfrm>
            <a:off x="520408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5" name="Illustrative delivered road transport cost class 1; reference terminal Lesedi"/>
          <p:cNvSpPr/>
          <p:nvPr/>
        </p:nvSpPr>
        <p:spPr>
          <a:xfrm>
            <a:off x="5204085"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6" name="Illustrative delivered road transport cost class 1; reference terminal Lesedi"/>
          <p:cNvSpPr/>
          <p:nvPr/>
        </p:nvSpPr>
        <p:spPr>
          <a:xfrm>
            <a:off x="5204085"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7" name="Illustrative delivered road transport cost class 1; reference terminal Lesedi"/>
          <p:cNvSpPr/>
          <p:nvPr/>
        </p:nvSpPr>
        <p:spPr>
          <a:xfrm>
            <a:off x="5204085"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8" name="Illustrative delivered road transport cost class 1; reference terminal Lesedi"/>
          <p:cNvSpPr/>
          <p:nvPr/>
        </p:nvSpPr>
        <p:spPr>
          <a:xfrm>
            <a:off x="5204085"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9" name="Illustrative delivered road transport cost class None; reference terminal None"/>
          <p:cNvSpPr/>
          <p:nvPr/>
        </p:nvSpPr>
        <p:spPr>
          <a:xfrm>
            <a:off x="5204085"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0" name="Illustrative delivered road transport cost class None; reference terminal None"/>
          <p:cNvSpPr/>
          <p:nvPr/>
        </p:nvSpPr>
        <p:spPr>
          <a:xfrm>
            <a:off x="5204085"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1" name="Illustrative delivered road transport cost class None; reference terminal None"/>
          <p:cNvSpPr/>
          <p:nvPr/>
        </p:nvSpPr>
        <p:spPr>
          <a:xfrm>
            <a:off x="5204085"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2" name="Illustrative delivered road transport cost class None; reference terminal None"/>
          <p:cNvSpPr/>
          <p:nvPr/>
        </p:nvSpPr>
        <p:spPr>
          <a:xfrm>
            <a:off x="5204085"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3" name="Illustrative delivered road transport cost class None; reference terminal None"/>
          <p:cNvSpPr/>
          <p:nvPr/>
        </p:nvSpPr>
        <p:spPr>
          <a:xfrm>
            <a:off x="5204085" y="2671590"/>
            <a:ext cx="57687" cy="57687"/>
          </a:xfrm>
          <a:custGeom>
            <a:avLst/>
            <a:gdLst/>
            <a:ahLst/>
            <a:cxnLst/>
            <a:rect l="l" t="t" r="r" b="b"/>
            <a:pathLst>
              <a:path w="57687" h="57687">
                <a:moveTo>
                  <a:pt x="57687" y="57687"/>
                </a:moveTo>
                <a:lnTo>
                  <a:pt x="0" y="57687"/>
                </a:lnTo>
                <a:lnTo>
                  <a:pt x="0" y="0"/>
                </a:lnTo>
                <a:lnTo>
                  <a:pt x="40358" y="0"/>
                </a:lnTo>
                <a:lnTo>
                  <a:pt x="40331" y="447"/>
                </a:lnTo>
                <a:lnTo>
                  <a:pt x="43386" y="15080"/>
                </a:lnTo>
                <a:lnTo>
                  <a:pt x="56278" y="33836"/>
                </a:lnTo>
                <a:lnTo>
                  <a:pt x="57687" y="36774"/>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4" name="Illustrative delivered road transport cost class None; reference terminal None"/>
          <p:cNvSpPr/>
          <p:nvPr/>
        </p:nvSpPr>
        <p:spPr>
          <a:xfrm>
            <a:off x="5204085" y="2613904"/>
            <a:ext cx="42599" cy="57686"/>
          </a:xfrm>
          <a:custGeom>
            <a:avLst/>
            <a:gdLst/>
            <a:ahLst/>
            <a:cxnLst/>
            <a:rect l="l" t="t" r="r" b="b"/>
            <a:pathLst>
              <a:path w="42599" h="57686">
                <a:moveTo>
                  <a:pt x="0" y="57686"/>
                </a:moveTo>
                <a:lnTo>
                  <a:pt x="0" y="0"/>
                </a:lnTo>
                <a:lnTo>
                  <a:pt x="38866" y="0"/>
                </a:lnTo>
                <a:lnTo>
                  <a:pt x="42599" y="20814"/>
                </a:lnTo>
                <a:lnTo>
                  <a:pt x="40358"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5" name="Illustrative delivered road transport cost class None; reference terminal None"/>
          <p:cNvSpPr/>
          <p:nvPr/>
        </p:nvSpPr>
        <p:spPr>
          <a:xfrm>
            <a:off x="5204085" y="2556217"/>
            <a:ext cx="38866" cy="57687"/>
          </a:xfrm>
          <a:custGeom>
            <a:avLst/>
            <a:gdLst/>
            <a:ahLst/>
            <a:cxnLst/>
            <a:rect l="l" t="t" r="r" b="b"/>
            <a:pathLst>
              <a:path w="38866" h="57687">
                <a:moveTo>
                  <a:pt x="0" y="57687"/>
                </a:moveTo>
                <a:lnTo>
                  <a:pt x="0" y="0"/>
                </a:lnTo>
                <a:lnTo>
                  <a:pt x="28510" y="0"/>
                </a:lnTo>
                <a:lnTo>
                  <a:pt x="30424" y="10620"/>
                </a:lnTo>
                <a:lnTo>
                  <a:pt x="3886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6" name="Illustrative delivered road transport cost class None; reference terminal None"/>
          <p:cNvSpPr/>
          <p:nvPr/>
        </p:nvSpPr>
        <p:spPr>
          <a:xfrm>
            <a:off x="5204085" y="2498531"/>
            <a:ext cx="28510" cy="57686"/>
          </a:xfrm>
          <a:custGeom>
            <a:avLst/>
            <a:gdLst/>
            <a:ahLst/>
            <a:cxnLst/>
            <a:rect l="l" t="t" r="r" b="b"/>
            <a:pathLst>
              <a:path w="28510" h="57686">
                <a:moveTo>
                  <a:pt x="0" y="57686"/>
                </a:moveTo>
                <a:lnTo>
                  <a:pt x="0" y="0"/>
                </a:lnTo>
                <a:lnTo>
                  <a:pt x="16451" y="0"/>
                </a:lnTo>
                <a:lnTo>
                  <a:pt x="21505" y="18825"/>
                </a:lnTo>
                <a:lnTo>
                  <a:pt x="28510"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7" name="Illustrative delivered road transport cost class None; reference terminal None"/>
          <p:cNvSpPr/>
          <p:nvPr/>
        </p:nvSpPr>
        <p:spPr>
          <a:xfrm>
            <a:off x="5204085" y="2440844"/>
            <a:ext cx="16451" cy="57687"/>
          </a:xfrm>
          <a:custGeom>
            <a:avLst/>
            <a:gdLst/>
            <a:ahLst/>
            <a:cxnLst/>
            <a:rect l="l" t="t" r="r" b="b"/>
            <a:pathLst>
              <a:path w="16451" h="57687">
                <a:moveTo>
                  <a:pt x="0" y="57687"/>
                </a:moveTo>
                <a:lnTo>
                  <a:pt x="0" y="0"/>
                </a:lnTo>
                <a:lnTo>
                  <a:pt x="921" y="0"/>
                </a:lnTo>
                <a:lnTo>
                  <a:pt x="7056" y="22690"/>
                </a:lnTo>
                <a:lnTo>
                  <a:pt x="16451"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8" name="Illustrative delivered road transport cost class 0; reference terminal Durban"/>
          <p:cNvSpPr/>
          <p:nvPr/>
        </p:nvSpPr>
        <p:spPr>
          <a:xfrm>
            <a:off x="5261772" y="4056068"/>
            <a:ext cx="29918" cy="18855"/>
          </a:xfrm>
          <a:custGeom>
            <a:avLst/>
            <a:gdLst/>
            <a:ahLst/>
            <a:cxnLst/>
            <a:rect l="l" t="t" r="r" b="b"/>
            <a:pathLst>
              <a:path w="29918" h="18855">
                <a:moveTo>
                  <a:pt x="0" y="0"/>
                </a:moveTo>
                <a:lnTo>
                  <a:pt x="29918" y="0"/>
                </a:lnTo>
                <a:lnTo>
                  <a:pt x="23193" y="5720"/>
                </a:lnTo>
                <a:lnTo>
                  <a:pt x="6396" y="16079"/>
                </a:lnTo>
                <a:lnTo>
                  <a:pt x="0" y="1885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9" name="Illustrative delivered road transport cost class 0; reference terminal Durban"/>
          <p:cNvSpPr/>
          <p:nvPr/>
        </p:nvSpPr>
        <p:spPr>
          <a:xfrm>
            <a:off x="5261772" y="3998382"/>
            <a:ext cx="57687" cy="57686"/>
          </a:xfrm>
          <a:custGeom>
            <a:avLst/>
            <a:gdLst/>
            <a:ahLst/>
            <a:cxnLst/>
            <a:rect l="l" t="t" r="r" b="b"/>
            <a:pathLst>
              <a:path w="57687" h="57686">
                <a:moveTo>
                  <a:pt x="0" y="57686"/>
                </a:moveTo>
                <a:lnTo>
                  <a:pt x="0" y="0"/>
                </a:lnTo>
                <a:lnTo>
                  <a:pt x="57687" y="0"/>
                </a:lnTo>
                <a:lnTo>
                  <a:pt x="57687" y="34068"/>
                </a:lnTo>
                <a:lnTo>
                  <a:pt x="29918"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0" name="Illustrative delivered road transport cost class 0; reference terminal Durban"/>
          <p:cNvSpPr/>
          <p:nvPr/>
        </p:nvSpPr>
        <p:spPr>
          <a:xfrm>
            <a:off x="526177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1" name="Illustrative delivered road transport cost class 0; reference terminal Durban"/>
          <p:cNvSpPr/>
          <p:nvPr/>
        </p:nvSpPr>
        <p:spPr>
          <a:xfrm>
            <a:off x="526177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2" name="Illustrative delivered road transport cost class 0; reference terminal Durban"/>
          <p:cNvSpPr/>
          <p:nvPr/>
        </p:nvSpPr>
        <p:spPr>
          <a:xfrm>
            <a:off x="526177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3" name="Illustrative delivered road transport cost class 0; reference terminal Durban"/>
          <p:cNvSpPr/>
          <p:nvPr/>
        </p:nvSpPr>
        <p:spPr>
          <a:xfrm>
            <a:off x="526177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4" name="Illustrative delivered road transport cost class 0; reference terminal Durban"/>
          <p:cNvSpPr/>
          <p:nvPr/>
        </p:nvSpPr>
        <p:spPr>
          <a:xfrm>
            <a:off x="526177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5" name="Illustrative delivered road transport cost class 1; reference terminal Durban"/>
          <p:cNvSpPr/>
          <p:nvPr/>
        </p:nvSpPr>
        <p:spPr>
          <a:xfrm>
            <a:off x="5261772" y="3652262"/>
            <a:ext cx="57687" cy="57687"/>
          </a:xfrm>
          <a:custGeom>
            <a:avLst/>
            <a:gdLst/>
            <a:ahLst/>
            <a:cxnLst/>
            <a:rect l="l" t="t" r="r" b="b"/>
            <a:pathLst>
              <a:path w="57687" h="57687">
                <a:moveTo>
                  <a:pt x="57687" y="0"/>
                </a:moveTo>
                <a:lnTo>
                  <a:pt x="57687" y="57687"/>
                </a:lnTo>
                <a:lnTo>
                  <a:pt x="0" y="57687"/>
                </a:lnTo>
                <a:lnTo>
                  <a:pt x="0" y="15452"/>
                </a:lnTo>
                <a:lnTo>
                  <a:pt x="30293" y="16534"/>
                </a:lnTo>
                <a:lnTo>
                  <a:pt x="29855"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6" name="Illustrative delivered road transport cost class 1; reference terminal Durban"/>
          <p:cNvSpPr/>
          <p:nvPr/>
        </p:nvSpPr>
        <p:spPr>
          <a:xfrm>
            <a:off x="5291165" y="3594576"/>
            <a:ext cx="28294" cy="57686"/>
          </a:xfrm>
          <a:custGeom>
            <a:avLst/>
            <a:gdLst/>
            <a:ahLst/>
            <a:cxnLst/>
            <a:rect l="l" t="t" r="r" b="b"/>
            <a:pathLst>
              <a:path w="28294" h="57686">
                <a:moveTo>
                  <a:pt x="28294" y="0"/>
                </a:moveTo>
                <a:lnTo>
                  <a:pt x="28294" y="57686"/>
                </a:lnTo>
                <a:lnTo>
                  <a:pt x="462" y="57686"/>
                </a:lnTo>
                <a:lnTo>
                  <a:pt x="0" y="40259"/>
                </a:lnTo>
                <a:lnTo>
                  <a:pt x="5849" y="0"/>
                </a:lnTo>
                <a:lnTo>
                  <a:pt x="2829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7" name="Illustrative delivered road transport cost class 1; reference terminal Durban"/>
          <p:cNvSpPr/>
          <p:nvPr/>
        </p:nvSpPr>
        <p:spPr>
          <a:xfrm>
            <a:off x="5297014" y="3543224"/>
            <a:ext cx="22445" cy="51352"/>
          </a:xfrm>
          <a:custGeom>
            <a:avLst/>
            <a:gdLst/>
            <a:ahLst/>
            <a:cxnLst/>
            <a:rect l="l" t="t" r="r" b="b"/>
            <a:pathLst>
              <a:path w="22445" h="51352">
                <a:moveTo>
                  <a:pt x="22445" y="51352"/>
                </a:moveTo>
                <a:lnTo>
                  <a:pt x="0" y="51352"/>
                </a:lnTo>
                <a:lnTo>
                  <a:pt x="2019" y="37449"/>
                </a:lnTo>
                <a:lnTo>
                  <a:pt x="10365" y="1222"/>
                </a:lnTo>
                <a:lnTo>
                  <a:pt x="17336" y="0"/>
                </a:lnTo>
                <a:lnTo>
                  <a:pt x="22445" y="1698"/>
                </a:lnTo>
                <a:lnTo>
                  <a:pt x="22445" y="5135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8" name="Illustrative delivered road transport cost class 1; reference terminal Lesedi"/>
          <p:cNvSpPr/>
          <p:nvPr/>
        </p:nvSpPr>
        <p:spPr>
          <a:xfrm>
            <a:off x="5261772" y="3306143"/>
            <a:ext cx="47082" cy="23070"/>
          </a:xfrm>
          <a:custGeom>
            <a:avLst/>
            <a:gdLst/>
            <a:ahLst/>
            <a:cxnLst/>
            <a:rect l="l" t="t" r="r" b="b"/>
            <a:pathLst>
              <a:path w="47082" h="23070">
                <a:moveTo>
                  <a:pt x="0" y="0"/>
                </a:moveTo>
                <a:lnTo>
                  <a:pt x="43645" y="0"/>
                </a:lnTo>
                <a:lnTo>
                  <a:pt x="47082" y="17939"/>
                </a:lnTo>
                <a:lnTo>
                  <a:pt x="40806" y="20433"/>
                </a:lnTo>
                <a:lnTo>
                  <a:pt x="29060" y="23070"/>
                </a:lnTo>
                <a:lnTo>
                  <a:pt x="0" y="498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9" name="Illustrative delivered road transport cost class 1; reference terminal Lesedi"/>
          <p:cNvSpPr/>
          <p:nvPr/>
        </p:nvSpPr>
        <p:spPr>
          <a:xfrm>
            <a:off x="5261772" y="3248456"/>
            <a:ext cx="56621" cy="57687"/>
          </a:xfrm>
          <a:custGeom>
            <a:avLst/>
            <a:gdLst/>
            <a:ahLst/>
            <a:cxnLst/>
            <a:rect l="l" t="t" r="r" b="b"/>
            <a:pathLst>
              <a:path w="56621" h="57687">
                <a:moveTo>
                  <a:pt x="0" y="57687"/>
                </a:moveTo>
                <a:lnTo>
                  <a:pt x="0" y="0"/>
                </a:lnTo>
                <a:lnTo>
                  <a:pt x="56621" y="0"/>
                </a:lnTo>
                <a:lnTo>
                  <a:pt x="43187" y="28320"/>
                </a:lnTo>
                <a:lnTo>
                  <a:pt x="43493" y="56897"/>
                </a:lnTo>
                <a:lnTo>
                  <a:pt x="4364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0" name="Illustrative delivered road transport cost class 1; reference terminal Lesedi"/>
          <p:cNvSpPr/>
          <p:nvPr/>
        </p:nvSpPr>
        <p:spPr>
          <a:xfrm>
            <a:off x="5261772" y="3190770"/>
            <a:ext cx="57687" cy="57686"/>
          </a:xfrm>
          <a:custGeom>
            <a:avLst/>
            <a:gdLst/>
            <a:ahLst/>
            <a:cxnLst/>
            <a:rect l="l" t="t" r="r" b="b"/>
            <a:pathLst>
              <a:path w="57687" h="57686">
                <a:moveTo>
                  <a:pt x="0" y="57686"/>
                </a:moveTo>
                <a:lnTo>
                  <a:pt x="0" y="0"/>
                </a:lnTo>
                <a:lnTo>
                  <a:pt x="57687" y="0"/>
                </a:lnTo>
                <a:lnTo>
                  <a:pt x="57687" y="55440"/>
                </a:lnTo>
                <a:lnTo>
                  <a:pt x="56621"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1" name="Illustrative delivered road transport cost class 1; reference terminal Lesedi"/>
          <p:cNvSpPr/>
          <p:nvPr/>
        </p:nvSpPr>
        <p:spPr>
          <a:xfrm>
            <a:off x="526177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2" name="Illustrative delivered road transport cost class 1; reference terminal Lesedi"/>
          <p:cNvSpPr/>
          <p:nvPr/>
        </p:nvSpPr>
        <p:spPr>
          <a:xfrm>
            <a:off x="526177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3" name="Illustrative delivered road transport cost class 1; reference terminal Lesedi"/>
          <p:cNvSpPr/>
          <p:nvPr/>
        </p:nvSpPr>
        <p:spPr>
          <a:xfrm>
            <a:off x="526177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4" name="Illustrative delivered road transport cost class 1; reference terminal Lesedi"/>
          <p:cNvSpPr/>
          <p:nvPr/>
        </p:nvSpPr>
        <p:spPr>
          <a:xfrm>
            <a:off x="526177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5" name="Illustrative delivered road transport cost class None; reference terminal None"/>
          <p:cNvSpPr/>
          <p:nvPr/>
        </p:nvSpPr>
        <p:spPr>
          <a:xfrm>
            <a:off x="526177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6" name="Illustrative delivered road transport cost class None; reference terminal None"/>
          <p:cNvSpPr/>
          <p:nvPr/>
        </p:nvSpPr>
        <p:spPr>
          <a:xfrm>
            <a:off x="5261772" y="2844650"/>
            <a:ext cx="57687" cy="57687"/>
          </a:xfrm>
          <a:custGeom>
            <a:avLst/>
            <a:gdLst/>
            <a:ahLst/>
            <a:cxnLst/>
            <a:rect l="l" t="t" r="r" b="b"/>
            <a:pathLst>
              <a:path w="57687" h="57687">
                <a:moveTo>
                  <a:pt x="57687" y="57687"/>
                </a:moveTo>
                <a:lnTo>
                  <a:pt x="0" y="57687"/>
                </a:lnTo>
                <a:lnTo>
                  <a:pt x="0" y="0"/>
                </a:lnTo>
                <a:lnTo>
                  <a:pt x="54116" y="0"/>
                </a:lnTo>
                <a:lnTo>
                  <a:pt x="57687" y="19985"/>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7" name="Illustrative delivered road transport cost class None; reference terminal None"/>
          <p:cNvSpPr/>
          <p:nvPr/>
        </p:nvSpPr>
        <p:spPr>
          <a:xfrm>
            <a:off x="5261772" y="2786964"/>
            <a:ext cx="54116" cy="57686"/>
          </a:xfrm>
          <a:custGeom>
            <a:avLst/>
            <a:gdLst/>
            <a:ahLst/>
            <a:cxnLst/>
            <a:rect l="l" t="t" r="r" b="b"/>
            <a:pathLst>
              <a:path w="54116" h="57686">
                <a:moveTo>
                  <a:pt x="0" y="57686"/>
                </a:moveTo>
                <a:lnTo>
                  <a:pt x="0" y="0"/>
                </a:lnTo>
                <a:lnTo>
                  <a:pt x="35399" y="0"/>
                </a:lnTo>
                <a:lnTo>
                  <a:pt x="40218" y="7573"/>
                </a:lnTo>
                <a:lnTo>
                  <a:pt x="52053" y="46139"/>
                </a:lnTo>
                <a:lnTo>
                  <a:pt x="5411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8" name="Illustrative delivered road transport cost class None; reference terminal None"/>
          <p:cNvSpPr/>
          <p:nvPr/>
        </p:nvSpPr>
        <p:spPr>
          <a:xfrm>
            <a:off x="5261772" y="2729277"/>
            <a:ext cx="35399" cy="57687"/>
          </a:xfrm>
          <a:custGeom>
            <a:avLst/>
            <a:gdLst/>
            <a:ahLst/>
            <a:cxnLst/>
            <a:rect l="l" t="t" r="r" b="b"/>
            <a:pathLst>
              <a:path w="35399" h="57687">
                <a:moveTo>
                  <a:pt x="0" y="57687"/>
                </a:moveTo>
                <a:lnTo>
                  <a:pt x="0" y="0"/>
                </a:lnTo>
                <a:lnTo>
                  <a:pt x="10034" y="0"/>
                </a:lnTo>
                <a:lnTo>
                  <a:pt x="13880" y="8018"/>
                </a:lnTo>
                <a:lnTo>
                  <a:pt x="18746" y="25906"/>
                </a:lnTo>
                <a:lnTo>
                  <a:pt x="23734" y="39353"/>
                </a:lnTo>
                <a:lnTo>
                  <a:pt x="3539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9" name="Illustrative delivered road transport cost class None; reference terminal None"/>
          <p:cNvSpPr/>
          <p:nvPr/>
        </p:nvSpPr>
        <p:spPr>
          <a:xfrm>
            <a:off x="5261772" y="2708364"/>
            <a:ext cx="10034" cy="20913"/>
          </a:xfrm>
          <a:custGeom>
            <a:avLst/>
            <a:gdLst/>
            <a:ahLst/>
            <a:cxnLst/>
            <a:rect l="l" t="t" r="r" b="b"/>
            <a:pathLst>
              <a:path w="10034" h="20913">
                <a:moveTo>
                  <a:pt x="0" y="20913"/>
                </a:moveTo>
                <a:lnTo>
                  <a:pt x="0" y="0"/>
                </a:lnTo>
                <a:lnTo>
                  <a:pt x="10034" y="20913"/>
                </a:lnTo>
                <a:lnTo>
                  <a:pt x="0" y="2091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0" name="Illustrative delivered road transport cost class 0; reference terminal Durban"/>
          <p:cNvSpPr/>
          <p:nvPr/>
        </p:nvSpPr>
        <p:spPr>
          <a:xfrm>
            <a:off x="5319459" y="3998382"/>
            <a:ext cx="35067" cy="34068"/>
          </a:xfrm>
          <a:custGeom>
            <a:avLst/>
            <a:gdLst/>
            <a:ahLst/>
            <a:cxnLst/>
            <a:rect l="l" t="t" r="r" b="b"/>
            <a:pathLst>
              <a:path w="35067" h="34068">
                <a:moveTo>
                  <a:pt x="0" y="0"/>
                </a:moveTo>
                <a:lnTo>
                  <a:pt x="35067" y="0"/>
                </a:lnTo>
                <a:lnTo>
                  <a:pt x="26933" y="11159"/>
                </a:lnTo>
                <a:lnTo>
                  <a:pt x="0" y="34068"/>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1" name="Illustrative delivered road transport cost class 0; reference terminal Durban"/>
          <p:cNvSpPr/>
          <p:nvPr/>
        </p:nvSpPr>
        <p:spPr>
          <a:xfrm>
            <a:off x="5319459" y="3940695"/>
            <a:ext cx="57686" cy="57687"/>
          </a:xfrm>
          <a:custGeom>
            <a:avLst/>
            <a:gdLst/>
            <a:ahLst/>
            <a:cxnLst/>
            <a:rect l="l" t="t" r="r" b="b"/>
            <a:pathLst>
              <a:path w="57686" h="57687">
                <a:moveTo>
                  <a:pt x="0" y="57687"/>
                </a:moveTo>
                <a:lnTo>
                  <a:pt x="0" y="0"/>
                </a:lnTo>
                <a:lnTo>
                  <a:pt x="57686" y="0"/>
                </a:lnTo>
                <a:lnTo>
                  <a:pt x="57686" y="22764"/>
                </a:lnTo>
                <a:lnTo>
                  <a:pt x="48992" y="38582"/>
                </a:lnTo>
                <a:lnTo>
                  <a:pt x="350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2" name="Illustrative delivered road transport cost class 0; reference terminal Durban"/>
          <p:cNvSpPr/>
          <p:nvPr/>
        </p:nvSpPr>
        <p:spPr>
          <a:xfrm>
            <a:off x="531945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3" name="Illustrative delivered road transport cost class 0; reference terminal Durban"/>
          <p:cNvSpPr/>
          <p:nvPr/>
        </p:nvSpPr>
        <p:spPr>
          <a:xfrm>
            <a:off x="531945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4" name="Illustrative delivered road transport cost class 0; reference terminal Durban"/>
          <p:cNvSpPr/>
          <p:nvPr/>
        </p:nvSpPr>
        <p:spPr>
          <a:xfrm>
            <a:off x="531945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5" name="Illustrative delivered road transport cost class 1; reference terminal Durban"/>
          <p:cNvSpPr/>
          <p:nvPr/>
        </p:nvSpPr>
        <p:spPr>
          <a:xfrm>
            <a:off x="531945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6" name="Illustrative delivered road transport cost class 1; reference terminal Durban"/>
          <p:cNvSpPr/>
          <p:nvPr/>
        </p:nvSpPr>
        <p:spPr>
          <a:xfrm>
            <a:off x="531945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7" name="Illustrative delivered road transport cost class 1; reference terminal Durban"/>
          <p:cNvSpPr/>
          <p:nvPr/>
        </p:nvSpPr>
        <p:spPr>
          <a:xfrm>
            <a:off x="531945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8" name="Illustrative delivered road transport cost class 1; reference terminal Durban"/>
          <p:cNvSpPr/>
          <p:nvPr/>
        </p:nvSpPr>
        <p:spPr>
          <a:xfrm>
            <a:off x="5319459" y="3544922"/>
            <a:ext cx="57686" cy="49654"/>
          </a:xfrm>
          <a:custGeom>
            <a:avLst/>
            <a:gdLst/>
            <a:ahLst/>
            <a:cxnLst/>
            <a:rect l="l" t="t" r="r" b="b"/>
            <a:pathLst>
              <a:path w="57686" h="49654">
                <a:moveTo>
                  <a:pt x="57686" y="49654"/>
                </a:moveTo>
                <a:lnTo>
                  <a:pt x="0" y="49654"/>
                </a:lnTo>
                <a:lnTo>
                  <a:pt x="0" y="0"/>
                </a:lnTo>
                <a:lnTo>
                  <a:pt x="7692" y="2558"/>
                </a:lnTo>
                <a:lnTo>
                  <a:pt x="14625" y="6723"/>
                </a:lnTo>
                <a:lnTo>
                  <a:pt x="34541" y="6379"/>
                </a:lnTo>
                <a:lnTo>
                  <a:pt x="57686" y="12580"/>
                </a:lnTo>
                <a:lnTo>
                  <a:pt x="57686" y="4965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9" name="Illustrative delivered road transport cost class 1; reference terminal Lesedi"/>
          <p:cNvSpPr/>
          <p:nvPr/>
        </p:nvSpPr>
        <p:spPr>
          <a:xfrm>
            <a:off x="5319459" y="3190770"/>
            <a:ext cx="4173" cy="55440"/>
          </a:xfrm>
          <a:custGeom>
            <a:avLst/>
            <a:gdLst/>
            <a:ahLst/>
            <a:cxnLst/>
            <a:rect l="l" t="t" r="r" b="b"/>
            <a:pathLst>
              <a:path w="4173" h="55440">
                <a:moveTo>
                  <a:pt x="0" y="0"/>
                </a:moveTo>
                <a:lnTo>
                  <a:pt x="4173" y="0"/>
                </a:lnTo>
                <a:lnTo>
                  <a:pt x="2308" y="50574"/>
                </a:lnTo>
                <a:lnTo>
                  <a:pt x="0" y="5544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0" name="Illustrative delivered road transport cost class 1; reference terminal Lesedi"/>
          <p:cNvSpPr/>
          <p:nvPr/>
        </p:nvSpPr>
        <p:spPr>
          <a:xfrm>
            <a:off x="5319459" y="3133083"/>
            <a:ext cx="8638" cy="57687"/>
          </a:xfrm>
          <a:custGeom>
            <a:avLst/>
            <a:gdLst/>
            <a:ahLst/>
            <a:cxnLst/>
            <a:rect l="l" t="t" r="r" b="b"/>
            <a:pathLst>
              <a:path w="8638" h="57687">
                <a:moveTo>
                  <a:pt x="0" y="57687"/>
                </a:moveTo>
                <a:lnTo>
                  <a:pt x="0" y="0"/>
                </a:lnTo>
                <a:lnTo>
                  <a:pt x="8638" y="0"/>
                </a:lnTo>
                <a:lnTo>
                  <a:pt x="7964" y="14155"/>
                </a:lnTo>
                <a:lnTo>
                  <a:pt x="4878" y="38579"/>
                </a:lnTo>
                <a:lnTo>
                  <a:pt x="417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1" name="Illustrative delivered road transport cost class 1; reference terminal Lesedi"/>
          <p:cNvSpPr/>
          <p:nvPr/>
        </p:nvSpPr>
        <p:spPr>
          <a:xfrm>
            <a:off x="5319459" y="3075396"/>
            <a:ext cx="11392" cy="57687"/>
          </a:xfrm>
          <a:custGeom>
            <a:avLst/>
            <a:gdLst/>
            <a:ahLst/>
            <a:cxnLst/>
            <a:rect l="l" t="t" r="r" b="b"/>
            <a:pathLst>
              <a:path w="11392" h="57687">
                <a:moveTo>
                  <a:pt x="0" y="57687"/>
                </a:moveTo>
                <a:lnTo>
                  <a:pt x="0" y="0"/>
                </a:lnTo>
                <a:lnTo>
                  <a:pt x="11392" y="0"/>
                </a:lnTo>
                <a:lnTo>
                  <a:pt x="10271" y="23375"/>
                </a:lnTo>
                <a:lnTo>
                  <a:pt x="863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2" name="Illustrative delivered road transport cost class 1; reference terminal Lesedi"/>
          <p:cNvSpPr/>
          <p:nvPr/>
        </p:nvSpPr>
        <p:spPr>
          <a:xfrm>
            <a:off x="5319459" y="3017710"/>
            <a:ext cx="14156" cy="57686"/>
          </a:xfrm>
          <a:custGeom>
            <a:avLst/>
            <a:gdLst/>
            <a:ahLst/>
            <a:cxnLst/>
            <a:rect l="l" t="t" r="r" b="b"/>
            <a:pathLst>
              <a:path w="14156" h="57686">
                <a:moveTo>
                  <a:pt x="0" y="57686"/>
                </a:moveTo>
                <a:lnTo>
                  <a:pt x="0" y="0"/>
                </a:lnTo>
                <a:lnTo>
                  <a:pt x="14156" y="0"/>
                </a:lnTo>
                <a:lnTo>
                  <a:pt x="13087" y="22344"/>
                </a:lnTo>
                <a:lnTo>
                  <a:pt x="11392"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3" name="Illustrative delivered road transport cost class 1; reference terminal Lesedi"/>
          <p:cNvSpPr/>
          <p:nvPr/>
        </p:nvSpPr>
        <p:spPr>
          <a:xfrm>
            <a:off x="5319459" y="2960023"/>
            <a:ext cx="17427" cy="57687"/>
          </a:xfrm>
          <a:custGeom>
            <a:avLst/>
            <a:gdLst/>
            <a:ahLst/>
            <a:cxnLst/>
            <a:rect l="l" t="t" r="r" b="b"/>
            <a:pathLst>
              <a:path w="17427" h="57687">
                <a:moveTo>
                  <a:pt x="0" y="57687"/>
                </a:moveTo>
                <a:lnTo>
                  <a:pt x="0" y="0"/>
                </a:lnTo>
                <a:lnTo>
                  <a:pt x="17427" y="0"/>
                </a:lnTo>
                <a:lnTo>
                  <a:pt x="15603" y="27458"/>
                </a:lnTo>
                <a:lnTo>
                  <a:pt x="1415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4" name="Illustrative delivered road transport cost class None; reference terminal None"/>
          <p:cNvSpPr/>
          <p:nvPr/>
        </p:nvSpPr>
        <p:spPr>
          <a:xfrm>
            <a:off x="5319459" y="2902337"/>
            <a:ext cx="18614" cy="57686"/>
          </a:xfrm>
          <a:custGeom>
            <a:avLst/>
            <a:gdLst/>
            <a:ahLst/>
            <a:cxnLst/>
            <a:rect l="l" t="t" r="r" b="b"/>
            <a:pathLst>
              <a:path w="18614" h="57686">
                <a:moveTo>
                  <a:pt x="0" y="57686"/>
                </a:moveTo>
                <a:lnTo>
                  <a:pt x="0" y="0"/>
                </a:lnTo>
                <a:lnTo>
                  <a:pt x="9987" y="0"/>
                </a:lnTo>
                <a:lnTo>
                  <a:pt x="12128" y="6045"/>
                </a:lnTo>
                <a:lnTo>
                  <a:pt x="15252" y="18054"/>
                </a:lnTo>
                <a:lnTo>
                  <a:pt x="18614" y="39809"/>
                </a:lnTo>
                <a:lnTo>
                  <a:pt x="1742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5" name="Illustrative delivered road transport cost class None; reference terminal None"/>
          <p:cNvSpPr/>
          <p:nvPr/>
        </p:nvSpPr>
        <p:spPr>
          <a:xfrm>
            <a:off x="5319459" y="2864635"/>
            <a:ext cx="9987" cy="37702"/>
          </a:xfrm>
          <a:custGeom>
            <a:avLst/>
            <a:gdLst/>
            <a:ahLst/>
            <a:cxnLst/>
            <a:rect l="l" t="t" r="r" b="b"/>
            <a:pathLst>
              <a:path w="9987" h="37702">
                <a:moveTo>
                  <a:pt x="0" y="37702"/>
                </a:moveTo>
                <a:lnTo>
                  <a:pt x="0" y="0"/>
                </a:lnTo>
                <a:lnTo>
                  <a:pt x="3424" y="19169"/>
                </a:lnTo>
                <a:lnTo>
                  <a:pt x="9987" y="37702"/>
                </a:lnTo>
                <a:lnTo>
                  <a:pt x="0" y="3770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6" name="Illustrative delivered road transport cost class 0; reference terminal Durban"/>
          <p:cNvSpPr/>
          <p:nvPr/>
        </p:nvSpPr>
        <p:spPr>
          <a:xfrm>
            <a:off x="5377145" y="3940695"/>
            <a:ext cx="12511" cy="22764"/>
          </a:xfrm>
          <a:custGeom>
            <a:avLst/>
            <a:gdLst/>
            <a:ahLst/>
            <a:cxnLst/>
            <a:rect l="l" t="t" r="r" b="b"/>
            <a:pathLst>
              <a:path w="12511" h="22764">
                <a:moveTo>
                  <a:pt x="0" y="0"/>
                </a:moveTo>
                <a:lnTo>
                  <a:pt x="12511" y="0"/>
                </a:lnTo>
                <a:lnTo>
                  <a:pt x="0" y="2276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7" name="Illustrative delivered road transport cost class 0; reference terminal Durban"/>
          <p:cNvSpPr/>
          <p:nvPr/>
        </p:nvSpPr>
        <p:spPr>
          <a:xfrm>
            <a:off x="5377145" y="3883008"/>
            <a:ext cx="37524" cy="57687"/>
          </a:xfrm>
          <a:custGeom>
            <a:avLst/>
            <a:gdLst/>
            <a:ahLst/>
            <a:cxnLst/>
            <a:rect l="l" t="t" r="r" b="b"/>
            <a:pathLst>
              <a:path w="37524" h="57687">
                <a:moveTo>
                  <a:pt x="0" y="57687"/>
                </a:moveTo>
                <a:lnTo>
                  <a:pt x="0" y="0"/>
                </a:lnTo>
                <a:lnTo>
                  <a:pt x="37524" y="0"/>
                </a:lnTo>
                <a:lnTo>
                  <a:pt x="32013" y="22204"/>
                </a:lnTo>
                <a:lnTo>
                  <a:pt x="1251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8" name="Illustrative delivered road transport cost class 0; reference terminal Durban"/>
          <p:cNvSpPr/>
          <p:nvPr/>
        </p:nvSpPr>
        <p:spPr>
          <a:xfrm>
            <a:off x="5377145" y="3825322"/>
            <a:ext cx="51840" cy="57686"/>
          </a:xfrm>
          <a:custGeom>
            <a:avLst/>
            <a:gdLst/>
            <a:ahLst/>
            <a:cxnLst/>
            <a:rect l="l" t="t" r="r" b="b"/>
            <a:pathLst>
              <a:path w="51840" h="57686">
                <a:moveTo>
                  <a:pt x="0" y="57686"/>
                </a:moveTo>
                <a:lnTo>
                  <a:pt x="0" y="0"/>
                </a:lnTo>
                <a:lnTo>
                  <a:pt x="51840" y="0"/>
                </a:lnTo>
                <a:lnTo>
                  <a:pt x="37524"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9" name="Illustrative delivered road transport cost class 1; reference terminal Durban"/>
          <p:cNvSpPr/>
          <p:nvPr/>
        </p:nvSpPr>
        <p:spPr>
          <a:xfrm>
            <a:off x="5377145" y="3767635"/>
            <a:ext cx="57687" cy="57687"/>
          </a:xfrm>
          <a:custGeom>
            <a:avLst/>
            <a:gdLst/>
            <a:ahLst/>
            <a:cxnLst/>
            <a:rect l="l" t="t" r="r" b="b"/>
            <a:pathLst>
              <a:path w="57687" h="57687">
                <a:moveTo>
                  <a:pt x="0" y="57687"/>
                </a:moveTo>
                <a:lnTo>
                  <a:pt x="0" y="0"/>
                </a:lnTo>
                <a:lnTo>
                  <a:pt x="57687" y="0"/>
                </a:lnTo>
                <a:lnTo>
                  <a:pt x="57687" y="34128"/>
                </a:lnTo>
                <a:lnTo>
                  <a:pt x="518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0" name="Illustrative delivered road transport cost class 1; reference terminal Durban"/>
          <p:cNvSpPr/>
          <p:nvPr/>
        </p:nvSpPr>
        <p:spPr>
          <a:xfrm>
            <a:off x="537714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1" name="Illustrative delivered road transport cost class 1; reference terminal Durban"/>
          <p:cNvSpPr/>
          <p:nvPr/>
        </p:nvSpPr>
        <p:spPr>
          <a:xfrm>
            <a:off x="537714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2" name="Illustrative delivered road transport cost class 1; reference terminal Durban"/>
          <p:cNvSpPr/>
          <p:nvPr/>
        </p:nvSpPr>
        <p:spPr>
          <a:xfrm>
            <a:off x="537714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3" name="Illustrative delivered road transport cost class 1; reference terminal Durban"/>
          <p:cNvSpPr/>
          <p:nvPr/>
        </p:nvSpPr>
        <p:spPr>
          <a:xfrm>
            <a:off x="5377145" y="3557502"/>
            <a:ext cx="57687" cy="37074"/>
          </a:xfrm>
          <a:custGeom>
            <a:avLst/>
            <a:gdLst/>
            <a:ahLst/>
            <a:cxnLst/>
            <a:rect l="l" t="t" r="r" b="b"/>
            <a:pathLst>
              <a:path w="57687" h="37074">
                <a:moveTo>
                  <a:pt x="57687" y="37074"/>
                </a:moveTo>
                <a:lnTo>
                  <a:pt x="0" y="37074"/>
                </a:lnTo>
                <a:lnTo>
                  <a:pt x="0" y="0"/>
                </a:lnTo>
                <a:lnTo>
                  <a:pt x="11619" y="3113"/>
                </a:lnTo>
                <a:lnTo>
                  <a:pt x="40056" y="4064"/>
                </a:lnTo>
                <a:lnTo>
                  <a:pt x="57687" y="4681"/>
                </a:lnTo>
                <a:lnTo>
                  <a:pt x="57687" y="370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4" name="Illustrative delivered road transport cost class 1; reference terminal Durban"/>
          <p:cNvSpPr/>
          <p:nvPr/>
        </p:nvSpPr>
        <p:spPr>
          <a:xfrm>
            <a:off x="5434832" y="3767635"/>
            <a:ext cx="8469" cy="34128"/>
          </a:xfrm>
          <a:custGeom>
            <a:avLst/>
            <a:gdLst/>
            <a:ahLst/>
            <a:cxnLst/>
            <a:rect l="l" t="t" r="r" b="b"/>
            <a:pathLst>
              <a:path w="8469" h="34128">
                <a:moveTo>
                  <a:pt x="0" y="0"/>
                </a:moveTo>
                <a:lnTo>
                  <a:pt x="8469" y="0"/>
                </a:lnTo>
                <a:lnTo>
                  <a:pt x="0" y="341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5" name="Illustrative delivered road transport cost class 1; reference terminal Durban"/>
          <p:cNvSpPr/>
          <p:nvPr/>
        </p:nvSpPr>
        <p:spPr>
          <a:xfrm>
            <a:off x="5434832" y="3709949"/>
            <a:ext cx="26895" cy="57686"/>
          </a:xfrm>
          <a:custGeom>
            <a:avLst/>
            <a:gdLst/>
            <a:ahLst/>
            <a:cxnLst/>
            <a:rect l="l" t="t" r="r" b="b"/>
            <a:pathLst>
              <a:path w="26895" h="57686">
                <a:moveTo>
                  <a:pt x="0" y="57686"/>
                </a:moveTo>
                <a:lnTo>
                  <a:pt x="0" y="0"/>
                </a:lnTo>
                <a:lnTo>
                  <a:pt x="26895" y="0"/>
                </a:lnTo>
                <a:lnTo>
                  <a:pt x="25214" y="3946"/>
                </a:lnTo>
                <a:lnTo>
                  <a:pt x="11470" y="45595"/>
                </a:lnTo>
                <a:lnTo>
                  <a:pt x="846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6" name="Illustrative delivered road transport cost class 1; reference terminal Durban"/>
          <p:cNvSpPr/>
          <p:nvPr/>
        </p:nvSpPr>
        <p:spPr>
          <a:xfrm>
            <a:off x="5434832" y="3652262"/>
            <a:ext cx="51458" cy="57687"/>
          </a:xfrm>
          <a:custGeom>
            <a:avLst/>
            <a:gdLst/>
            <a:ahLst/>
            <a:cxnLst/>
            <a:rect l="l" t="t" r="r" b="b"/>
            <a:pathLst>
              <a:path w="51458" h="57687">
                <a:moveTo>
                  <a:pt x="0" y="57687"/>
                </a:moveTo>
                <a:lnTo>
                  <a:pt x="0" y="0"/>
                </a:lnTo>
                <a:lnTo>
                  <a:pt x="51458" y="0"/>
                </a:lnTo>
                <a:lnTo>
                  <a:pt x="2689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7" name="Illustrative delivered road transport cost class 1; reference terminal Durban"/>
          <p:cNvSpPr/>
          <p:nvPr/>
        </p:nvSpPr>
        <p:spPr>
          <a:xfrm>
            <a:off x="5434832" y="3594576"/>
            <a:ext cx="57686" cy="57686"/>
          </a:xfrm>
          <a:custGeom>
            <a:avLst/>
            <a:gdLst/>
            <a:ahLst/>
            <a:cxnLst/>
            <a:rect l="l" t="t" r="r" b="b"/>
            <a:pathLst>
              <a:path w="57686" h="57686">
                <a:moveTo>
                  <a:pt x="0" y="57686"/>
                </a:moveTo>
                <a:lnTo>
                  <a:pt x="0" y="0"/>
                </a:lnTo>
                <a:lnTo>
                  <a:pt x="57686" y="0"/>
                </a:lnTo>
                <a:lnTo>
                  <a:pt x="57686" y="43059"/>
                </a:lnTo>
                <a:lnTo>
                  <a:pt x="51458"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8" name="Illustrative delivered road transport cost class 1; reference terminal Durban"/>
          <p:cNvSpPr/>
          <p:nvPr/>
        </p:nvSpPr>
        <p:spPr>
          <a:xfrm>
            <a:off x="5434832" y="3562183"/>
            <a:ext cx="57686" cy="32393"/>
          </a:xfrm>
          <a:custGeom>
            <a:avLst/>
            <a:gdLst/>
            <a:ahLst/>
            <a:cxnLst/>
            <a:rect l="l" t="t" r="r" b="b"/>
            <a:pathLst>
              <a:path w="57686" h="32393">
                <a:moveTo>
                  <a:pt x="57686" y="32393"/>
                </a:moveTo>
                <a:lnTo>
                  <a:pt x="0" y="32393"/>
                </a:lnTo>
                <a:lnTo>
                  <a:pt x="0" y="0"/>
                </a:lnTo>
                <a:lnTo>
                  <a:pt x="7786" y="273"/>
                </a:lnTo>
                <a:lnTo>
                  <a:pt x="50772" y="1789"/>
                </a:lnTo>
                <a:lnTo>
                  <a:pt x="57686" y="2122"/>
                </a:lnTo>
                <a:lnTo>
                  <a:pt x="57686" y="32393"/>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9" name="Illustrative delivered road transport cost class 1; reference terminal Durban"/>
          <p:cNvSpPr/>
          <p:nvPr/>
        </p:nvSpPr>
        <p:spPr>
          <a:xfrm>
            <a:off x="5492518" y="3594576"/>
            <a:ext cx="12020" cy="43059"/>
          </a:xfrm>
          <a:custGeom>
            <a:avLst/>
            <a:gdLst/>
            <a:ahLst/>
            <a:cxnLst/>
            <a:rect l="l" t="t" r="r" b="b"/>
            <a:pathLst>
              <a:path w="12020" h="43059">
                <a:moveTo>
                  <a:pt x="0" y="0"/>
                </a:moveTo>
                <a:lnTo>
                  <a:pt x="12020" y="0"/>
                </a:lnTo>
                <a:lnTo>
                  <a:pt x="5964" y="29053"/>
                </a:lnTo>
                <a:lnTo>
                  <a:pt x="0" y="4305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0" name="Illustrative delivered road transport cost class None; reference terminal None"/>
          <p:cNvSpPr/>
          <p:nvPr/>
        </p:nvSpPr>
        <p:spPr>
          <a:xfrm>
            <a:off x="5492518" y="3564305"/>
            <a:ext cx="18147" cy="30271"/>
          </a:xfrm>
          <a:custGeom>
            <a:avLst/>
            <a:gdLst/>
            <a:ahLst/>
            <a:cxnLst/>
            <a:rect l="l" t="t" r="r" b="b"/>
            <a:pathLst>
              <a:path w="18147" h="30271">
                <a:moveTo>
                  <a:pt x="0" y="30271"/>
                </a:moveTo>
                <a:lnTo>
                  <a:pt x="0" y="0"/>
                </a:lnTo>
                <a:lnTo>
                  <a:pt x="18147" y="872"/>
                </a:lnTo>
                <a:lnTo>
                  <a:pt x="12020" y="30271"/>
                </a:lnTo>
                <a:lnTo>
                  <a:pt x="0" y="3027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2"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TextBox 512"/>
          <p:cNvSpPr txBox="1"/>
          <p:nvPr/>
        </p:nvSpPr>
        <p:spPr>
          <a:xfrm>
            <a:off x="5166221" y="4169192"/>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0A2373"/>
                </a:solidFill>
                <a:latin typeface="Lato"/>
              </a:defRPr>
            </a:pPr>
            <a:r>
              <a:t>Durban</a:t>
            </a:r>
          </a:p>
        </p:txBody>
      </p:sp>
      <p:sp>
        <p:nvSpPr>
          <p:cNvPr id="514" name="Diamond 513"/>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TextBox 514"/>
          <p:cNvSpPr txBox="1"/>
          <p:nvPr/>
        </p:nvSpPr>
        <p:spPr>
          <a:xfrm>
            <a:off x="4603291" y="3266119"/>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0A2373"/>
                </a:solidFill>
                <a:latin typeface="Lato"/>
              </a:defRPr>
            </a:pPr>
            <a:r>
              <a:t>Lesedi*</a:t>
            </a:r>
          </a:p>
        </p:txBody>
      </p:sp>
      <p:sp>
        <p:nvSpPr>
          <p:cNvPr id="516" name="TextBox 515"/>
          <p:cNvSpPr txBox="1"/>
          <p:nvPr/>
        </p:nvSpPr>
        <p:spPr>
          <a:xfrm>
            <a:off x="731520" y="2487168"/>
            <a:ext cx="2743200" cy="768096"/>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Inland market | illustrative</a:t>
            </a:r>
          </a:p>
          <a:p>
            <a:pPr>
              <a:spcAft>
                <a:spcPts val="300"/>
              </a:spcAft>
              <a:defRPr sz="1100" b="1">
                <a:solidFill>
                  <a:srgbClr val="0A2373"/>
                </a:solidFill>
                <a:latin typeface="Lato"/>
              </a:defRPr>
            </a:pPr>
            <a:r>
              <a:t>Demand 10.0 | envelope 6.0</a:t>
            </a:r>
          </a:p>
          <a:p>
            <a:pPr>
              <a:spcAft>
                <a:spcPts val="300"/>
              </a:spcAft>
              <a:defRPr sz="1100" b="1">
                <a:solidFill>
                  <a:srgbClr val="0A2373"/>
                </a:solidFill>
                <a:latin typeface="Lato"/>
              </a:defRPr>
            </a:pPr>
            <a:r>
              <a:t>Current 2.0 | candidate 4.0</a:t>
            </a:r>
          </a:p>
        </p:txBody>
      </p:sp>
      <p:sp>
        <p:nvSpPr>
          <p:cNvPr id="517" name="TextBox 516"/>
          <p:cNvSpPr txBox="1"/>
          <p:nvPr/>
        </p:nvSpPr>
        <p:spPr>
          <a:xfrm>
            <a:off x="4151376" y="5047488"/>
            <a:ext cx="2743200" cy="768096"/>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Eastern/coastal | illustrative</a:t>
            </a:r>
          </a:p>
          <a:p>
            <a:pPr>
              <a:spcAft>
                <a:spcPts val="300"/>
              </a:spcAft>
              <a:defRPr sz="1100" b="1">
                <a:solidFill>
                  <a:srgbClr val="0A2373"/>
                </a:solidFill>
                <a:latin typeface="Lato"/>
              </a:defRPr>
            </a:pPr>
            <a:r>
              <a:t>Demand 4.5 | envelope 2.5</a:t>
            </a:r>
          </a:p>
          <a:p>
            <a:pPr>
              <a:spcAft>
                <a:spcPts val="300"/>
              </a:spcAft>
              <a:defRPr sz="1100" b="1">
                <a:solidFill>
                  <a:srgbClr val="0A2373"/>
                </a:solidFill>
                <a:latin typeface="Lato"/>
              </a:defRPr>
            </a:pPr>
            <a:r>
              <a:t>Current 1.0 | candidate 1.5</a:t>
            </a:r>
          </a:p>
        </p:txBody>
      </p:sp>
      <p:sp>
        <p:nvSpPr>
          <p:cNvPr id="518" name="Rectangle 517"/>
          <p:cNvSpPr/>
          <p:nvPr/>
        </p:nvSpPr>
        <p:spPr>
          <a:xfrm>
            <a:off x="507492" y="5966460"/>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TextBox 518"/>
          <p:cNvSpPr txBox="1"/>
          <p:nvPr/>
        </p:nvSpPr>
        <p:spPr>
          <a:xfrm>
            <a:off x="685800"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≤0.75</a:t>
            </a:r>
          </a:p>
        </p:txBody>
      </p:sp>
      <p:sp>
        <p:nvSpPr>
          <p:cNvPr id="520" name="Rectangle 519"/>
          <p:cNvSpPr/>
          <p:nvPr/>
        </p:nvSpPr>
        <p:spPr>
          <a:xfrm>
            <a:off x="1440180" y="5966460"/>
            <a:ext cx="100584" cy="100584"/>
          </a:xfrm>
          <a:prstGeom prst="rect">
            <a:avLst/>
          </a:prstGeom>
          <a:solidFill>
            <a:srgbClr val="37579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TextBox 520"/>
          <p:cNvSpPr txBox="1"/>
          <p:nvPr/>
        </p:nvSpPr>
        <p:spPr>
          <a:xfrm>
            <a:off x="1618488"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0.75–1.25</a:t>
            </a:r>
          </a:p>
        </p:txBody>
      </p:sp>
      <p:sp>
        <p:nvSpPr>
          <p:cNvPr id="522" name="Rectangle 521"/>
          <p:cNvSpPr/>
          <p:nvPr/>
        </p:nvSpPr>
        <p:spPr>
          <a:xfrm>
            <a:off x="2372868" y="5966460"/>
            <a:ext cx="100584" cy="100584"/>
          </a:xfrm>
          <a:prstGeom prst="rect">
            <a:avLst/>
          </a:prstGeom>
          <a:solidFill>
            <a:srgbClr val="728BBB"/>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3" name="TextBox 522"/>
          <p:cNvSpPr txBox="1"/>
          <p:nvPr/>
        </p:nvSpPr>
        <p:spPr>
          <a:xfrm>
            <a:off x="2551176"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1.25–1.75</a:t>
            </a:r>
          </a:p>
        </p:txBody>
      </p:sp>
      <p:sp>
        <p:nvSpPr>
          <p:cNvPr id="524" name="Rectangle 523"/>
          <p:cNvSpPr/>
          <p:nvPr/>
        </p:nvSpPr>
        <p:spPr>
          <a:xfrm>
            <a:off x="3305556" y="5966460"/>
            <a:ext cx="100584" cy="100584"/>
          </a:xfrm>
          <a:prstGeom prst="rect">
            <a:avLst/>
          </a:prstGeom>
          <a:solidFill>
            <a:srgbClr val="A9BDDC"/>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5" name="TextBox 524"/>
          <p:cNvSpPr txBox="1"/>
          <p:nvPr/>
        </p:nvSpPr>
        <p:spPr>
          <a:xfrm>
            <a:off x="3483864"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1.75–2.25</a:t>
            </a:r>
          </a:p>
        </p:txBody>
      </p:sp>
      <p:sp>
        <p:nvSpPr>
          <p:cNvPr id="526" name="Rectangle 525"/>
          <p:cNvSpPr/>
          <p:nvPr/>
        </p:nvSpPr>
        <p:spPr>
          <a:xfrm>
            <a:off x="4238244" y="5966460"/>
            <a:ext cx="100584" cy="100584"/>
          </a:xfrm>
          <a:prstGeom prst="rect">
            <a:avLst/>
          </a:prstGeom>
          <a:solidFill>
            <a:srgbClr val="DDE6F2"/>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TextBox 526"/>
          <p:cNvSpPr txBox="1"/>
          <p:nvPr/>
        </p:nvSpPr>
        <p:spPr>
          <a:xfrm>
            <a:off x="4416552"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&gt;2.25</a:t>
            </a:r>
          </a:p>
        </p:txBody>
      </p:sp>
      <p:sp>
        <p:nvSpPr>
          <p:cNvPr id="528" name="Rectangle 527"/>
          <p:cNvSpPr/>
          <p:nvPr/>
        </p:nvSpPr>
        <p:spPr>
          <a:xfrm>
            <a:off x="5253228" y="5966460"/>
            <a:ext cx="100584" cy="100584"/>
          </a:xfrm>
          <a:prstGeom prst="rect">
            <a:avLst/>
          </a:pr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TextBox 528"/>
          <p:cNvSpPr txBox="1"/>
          <p:nvPr/>
        </p:nvSpPr>
        <p:spPr>
          <a:xfrm>
            <a:off x="5431536" y="5888736"/>
            <a:ext cx="123444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Unassessed</a:t>
            </a:r>
          </a:p>
        </p:txBody>
      </p:sp>
      <p:sp>
        <p:nvSpPr>
          <p:cNvPr id="531" name="TextBox 530"/>
          <p:cNvSpPr txBox="1"/>
          <p:nvPr/>
        </p:nvSpPr>
        <p:spPr>
          <a:xfrm>
            <a:off x="457200" y="6144768"/>
            <a:ext cx="6446520" cy="210312"/>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Receipts 2.8 + 2.0 − transfer 1.8 = unique demand 3.0</a:t>
            </a:r>
          </a:p>
        </p:txBody>
      </p:sp>
      <p:sp>
        <p:nvSpPr>
          <p:cNvPr id="532" name="TextBox 531"/>
          <p:cNvSpPr txBox="1"/>
          <p:nvPr/>
        </p:nvSpPr>
        <p:spPr>
          <a:xfrm>
            <a:off x="457200" y="6391656"/>
            <a:ext cx="649224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Example rates: R0.15/L + R0.002/L/km. Grey = unassessed. Volumes: bn L/year.</a:t>
            </a:r>
          </a:p>
        </p:txBody>
      </p:sp>
      <p:cxnSp>
        <p:nvCxnSpPr>
          <p:cNvPr id="2545" name="Connector 254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572" name="Connector 257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00" name="Connector 259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28" name="Connector 262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56" name="Connector 265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84" name="Connector 268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12" name="Connector 271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40" name="Connector 273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69" name="Connector 2768"/>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98" name="Connector 279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801" name="TextBox 2800"/>
          <p:cNvSpPr txBox="1"/>
          <p:nvPr/>
        </p:nvSpPr>
        <p:spPr>
          <a:xfrm>
            <a:off x="457200" y="1627632"/>
            <a:ext cx="6446520" cy="384048"/>
          </a:xfrm>
          <a:prstGeom prst="rect">
            <a:avLst/>
          </a:prstGeom>
          <a:noFill/>
        </p:spPr>
        <p:txBody>
          <a:bodyPr wrap="none" lIns="22860" rIns="22860" tIns="0" bIns="0">
            <a:spAutoFit/>
          </a:bodyPr>
          <a:lstStyle/>
          <a:p>
            <a:pPr>
              <a:defRPr sz="1400" b="1">
                <a:solidFill>
                  <a:srgbClr val="000000"/>
                </a:solidFill>
                <a:latin typeface="Lato"/>
              </a:defRPr>
            </a:pPr>
            <a:r>
              <a:rPr sz="1400" b="1">
                <a:latin typeface="Lato"/>
              </a:rPr>
              <a:t>Illustrative road cost (R/litre) and market volumes</a:t>
            </a:r>
          </a:p>
        </p:txBody>
      </p:sp>
      <p:cxnSp>
        <p:nvCxnSpPr>
          <p:cNvPr id="2802" name="Connector 2801"/>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803" name="Transnet lease overlay: Isosceles Triangle 2802"/>
          <p:cNvSpPr/>
          <p:nvPr/>
        </p:nvSpPr>
        <p:spPr>
          <a:xfrm>
            <a:off x="4748449" y="3924272"/>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04" name="Transnet lease overlay: Connector 2803"/>
          <p:cNvCxnSpPr/>
          <p:nvPr/>
        </p:nvCxnSpPr>
        <p:spPr>
          <a:xfrm>
            <a:off x="4785025" y="3960848"/>
            <a:ext cx="137160" cy="9144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805" name="Transnet lease overlay: TextBox 2804"/>
          <p:cNvSpPr txBox="1"/>
          <p:nvPr/>
        </p:nvSpPr>
        <p:spPr>
          <a:xfrm>
            <a:off x="4858177" y="398828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1</a:t>
            </a:r>
          </a:p>
        </p:txBody>
      </p:sp>
      <p:sp>
        <p:nvSpPr>
          <p:cNvPr id="2806" name="Transnet lease overlay: Isosceles Triangle 2805"/>
          <p:cNvSpPr/>
          <p:nvPr/>
        </p:nvSpPr>
        <p:spPr>
          <a:xfrm>
            <a:off x="4635581" y="3512195"/>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07" name="Transnet lease overlay: Connector 2806"/>
          <p:cNvCxnSpPr/>
          <p:nvPr/>
        </p:nvCxnSpPr>
        <p:spPr>
          <a:xfrm flipV="1">
            <a:off x="4672157" y="3503051"/>
            <a:ext cx="137160"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808" name="Transnet lease overlay: TextBox 2807"/>
          <p:cNvSpPr txBox="1"/>
          <p:nvPr/>
        </p:nvSpPr>
        <p:spPr>
          <a:xfrm>
            <a:off x="4745309" y="3439043"/>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2</a:t>
            </a:r>
          </a:p>
        </p:txBody>
      </p:sp>
      <p:sp>
        <p:nvSpPr>
          <p:cNvPr id="2809" name="Transnet lease overlay: Isosceles Triangle 2808"/>
          <p:cNvSpPr/>
          <p:nvPr/>
        </p:nvSpPr>
        <p:spPr>
          <a:xfrm>
            <a:off x="4174679" y="3685610"/>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10" name="Transnet lease overlay: Connector 2809"/>
          <p:cNvCxnSpPr/>
          <p:nvPr/>
        </p:nvCxnSpPr>
        <p:spPr>
          <a:xfrm flipH="1" flipV="1">
            <a:off x="3909503" y="3676466"/>
            <a:ext cx="301752"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811" name="Transnet lease overlay: TextBox 2810"/>
          <p:cNvSpPr txBox="1"/>
          <p:nvPr/>
        </p:nvSpPr>
        <p:spPr>
          <a:xfrm>
            <a:off x="3845495" y="3612458"/>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3</a:t>
            </a:r>
          </a:p>
        </p:txBody>
      </p:sp>
      <p:sp>
        <p:nvSpPr>
          <p:cNvPr id="2812" name="Transnet lease overlay: Isosceles Triangle 2811"/>
          <p:cNvSpPr/>
          <p:nvPr/>
        </p:nvSpPr>
        <p:spPr>
          <a:xfrm>
            <a:off x="4414479" y="3832751"/>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13" name="Transnet lease overlay: Connector 2812"/>
          <p:cNvCxnSpPr/>
          <p:nvPr/>
        </p:nvCxnSpPr>
        <p:spPr>
          <a:xfrm flipH="1">
            <a:off x="4377903" y="3869327"/>
            <a:ext cx="73152" cy="12801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814" name="Transnet lease overlay: TextBox 2813"/>
          <p:cNvSpPr txBox="1"/>
          <p:nvPr/>
        </p:nvSpPr>
        <p:spPr>
          <a:xfrm>
            <a:off x="4313895" y="3933335"/>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4</a:t>
            </a:r>
          </a:p>
        </p:txBody>
      </p:sp>
      <p:sp>
        <p:nvSpPr>
          <p:cNvPr id="2815" name="Transnet lease overlay: Isosceles Triangle 2814"/>
          <p:cNvSpPr/>
          <p:nvPr/>
        </p:nvSpPr>
        <p:spPr>
          <a:xfrm>
            <a:off x="4194803" y="3670658"/>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16" name="Transnet lease overlay: Connector 2815"/>
          <p:cNvCxnSpPr/>
          <p:nvPr/>
        </p:nvCxnSpPr>
        <p:spPr>
          <a:xfrm flipH="1" flipV="1">
            <a:off x="4094219" y="3624938"/>
            <a:ext cx="137160" cy="8229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817" name="Transnet lease overlay: TextBox 2816"/>
          <p:cNvSpPr txBox="1"/>
          <p:nvPr/>
        </p:nvSpPr>
        <p:spPr>
          <a:xfrm>
            <a:off x="4030211" y="356093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5</a:t>
            </a:r>
          </a:p>
        </p:txBody>
      </p:sp>
      <p:sp>
        <p:nvSpPr>
          <p:cNvPr id="2818" name="Transnet lease overlay: TextBox 2817"/>
          <p:cNvSpPr txBox="1"/>
          <p:nvPr/>
        </p:nvSpPr>
        <p:spPr>
          <a:xfrm>
            <a:off x="594360" y="3776472"/>
            <a:ext cx="2029968" cy="932688"/>
          </a:xfrm>
          <a:prstGeom prst="rect">
            <a:avLst/>
          </a:prstGeom>
          <a:solidFill>
            <a:srgbClr val="FFFFFF"/>
          </a:solidFill>
        </p:spPr>
        <p:txBody>
          <a:bodyPr wrap="square" lIns="22860" rIns="22860" tIns="0" bIns="0">
            <a:spAutoFit/>
          </a:bodyPr>
          <a:lstStyle/>
          <a:p>
            <a:pPr>
              <a:spcAft>
                <a:spcPts val="300"/>
              </a:spcAft>
              <a:defRPr sz="1100" b="1">
                <a:solidFill>
                  <a:srgbClr val="000000"/>
                </a:solidFill>
                <a:latin typeface="Lato"/>
              </a:defRPr>
            </a:pPr>
            <a:r>
              <a:t>   Transnet lease offers</a:t>
            </a:r>
          </a:p>
          <a:p>
            <a:pPr>
              <a:spcAft>
                <a:spcPts val="300"/>
              </a:spcAft>
              <a:defRPr sz="1100" b="1">
                <a:solidFill>
                  <a:srgbClr val="000000"/>
                </a:solidFill>
                <a:latin typeface="Lato"/>
              </a:defRPr>
            </a:pPr>
            <a:r>
              <a:t>1 Ladysmith | 2 Standerton</a:t>
            </a:r>
          </a:p>
          <a:p>
            <a:pPr>
              <a:spcAft>
                <a:spcPts val="300"/>
              </a:spcAft>
              <a:defRPr sz="1100" b="1">
                <a:solidFill>
                  <a:srgbClr val="000000"/>
                </a:solidFill>
                <a:latin typeface="Lato"/>
              </a:defRPr>
            </a:pPr>
            <a:r>
              <a:t>3 Kroonstad | 4 Bethlehem</a:t>
            </a:r>
          </a:p>
          <a:p>
            <a:pPr>
              <a:spcAft>
                <a:spcPts val="300"/>
              </a:spcAft>
              <a:defRPr sz="1100" b="1">
                <a:solidFill>
                  <a:srgbClr val="000000"/>
                </a:solidFill>
                <a:latin typeface="Lato"/>
              </a:defRPr>
            </a:pPr>
            <a:r>
              <a:t>5 Magdala*</a:t>
            </a:r>
          </a:p>
        </p:txBody>
      </p:sp>
      <p:sp>
        <p:nvSpPr>
          <p:cNvPr id="2819" name="Transnet lease overlay: Isosceles Triangle 2818"/>
          <p:cNvSpPr/>
          <p:nvPr/>
        </p:nvSpPr>
        <p:spPr>
          <a:xfrm>
            <a:off x="612647" y="3808476"/>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0" name="TextBox 2819"/>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Evidence and implications</a:t>
            </a:r>
          </a:p>
        </p:txBody>
      </p:sp>
      <p:sp>
        <p:nvSpPr>
          <p:cNvPr id="2821" name="TextBox 2820"/>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Balance arithmetic is illustrative</a:t>
            </a:r>
          </a:p>
        </p:txBody>
      </p:sp>
      <p:sp>
        <p:nvSpPr>
          <p:cNvPr id="2822" name="TextBox 2821"/>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Example demand 21.0 less domestic production 7.0 gives imports 14.0, before exports and stocks.</a:t>
            </a:r>
          </a:p>
        </p:txBody>
      </p:sp>
      <p:sp>
        <p:nvSpPr>
          <p:cNvPr id="2823" name="TextBox 2822"/>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Transfers count once</a:t>
            </a:r>
          </a:p>
        </p:txBody>
      </p:sp>
      <p:sp>
        <p:nvSpPr>
          <p:cNvPr id="2824" name="TextBox 2823"/>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Example Durban receipts 2.8 plus Lesedi receipts 2.0 less shared transfer 1.8 gives unique served demand 3.0.</a:t>
            </a:r>
          </a:p>
        </p:txBody>
      </p:sp>
      <p:sp>
        <p:nvSpPr>
          <p:cNvPr id="2825" name="TextBox 2824"/>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Candidate volume is conditional</a:t>
            </a:r>
          </a:p>
        </p:txBody>
      </p:sp>
      <p:sp>
        <p:nvSpPr>
          <p:cNvPr id="2826" name="TextBox 2825"/>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example envelope is 8.5 and additional candidate volume 5.5; neither is forecast capture.</a:t>
            </a:r>
          </a:p>
        </p:txBody>
      </p:sp>
      <p:cxnSp>
        <p:nvCxnSpPr>
          <p:cNvPr id="2827" name="Connector 2826"/>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828" name="TextBox 2827"/>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Next steps | proposed owners</a:t>
            </a:r>
          </a:p>
        </p:txBody>
      </p:sp>
      <p:sp>
        <p:nvSpPr>
          <p:cNvPr id="2829" name="TextBox 2828"/>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request client flows. Manish: replace examples with matched-year product and destination records.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6237" r="26237"/>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Agree priorities</a:t>
            </a:r>
          </a:p>
          <a:p>
            <a:pPr>
              <a:spcAft>
                <a:spcPts val="800"/>
              </a:spcAft>
              <a:defRPr sz="3100" b="0">
                <a:solidFill>
                  <a:srgbClr val="FFFFFF"/>
                </a:solidFill>
                <a:latin typeface="Lato"/>
              </a:defRPr>
            </a:pPr>
            <a:r>
              <a:t>and next steps</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Confirm demand, routes and access</a:t>
            </a:r>
          </a:p>
        </p:txBody>
      </p:sp>
      <p:sp>
        <p:nvSpPr>
          <p:cNvPr id="8" name="TextBox 7"/>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6 October 2026</a:t>
            </a:r>
          </a:p>
        </p:txBody>
      </p:sp>
      <p:sp>
        <p:nvSpPr>
          <p:cNvPr id="9" name="TextBox 8"/>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0"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Lesedi | vopak.com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Locate fuel demand alongside the infrastructure serving it</a:t>
            </a:r>
          </a:p>
        </p:txBody>
      </p:sp>
      <p:sp>
        <p:nvSpPr>
          <p:cNvPr id="3" name="Slide Number Placeholder"/>
          <p:cNvSpPr>
            <a:spLocks noGrp="1"/>
          </p:cNvSpPr>
          <p:nvPr>
            <p:ph type="sldNum" sz="quarter" idx="12"/>
          </p:nvPr>
        </p:nvSpPr>
        <p:spPr/>
        <p:txBody>
          <a:bodyPr/>
          <a:lstStyle/>
          <a:p>
            <a:fld id="{AA5C88BF-17E7-4CB8-A688-AA48A5589FDD}"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sales; geoBoundaries/OCHA/MDB 2020 provinces (CC BY 3.0 IGO); operator sources on slide 12.</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Petrol + diesel sales by province | 2022,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500 km</a:t>
            </a:r>
          </a:p>
        </p:txBody>
      </p:sp>
      <p:sp>
        <p:nvSpPr>
          <p:cNvPr id="402" name="2022 provincial petrol/diesel sales: EC"/>
          <p:cNvSpPr/>
          <p:nvPr/>
        </p:nvSpPr>
        <p:spPr>
          <a:xfrm>
            <a:off x="3217820" y="4327517"/>
            <a:ext cx="1626648" cy="1062036"/>
          </a:xfrm>
          <a:custGeom>
            <a:avLst/>
            <a:gdLst/>
            <a:ahLst/>
            <a:cxnLst/>
            <a:rect l="l" t="t" r="r" b="b"/>
            <a:pathLst>
              <a:path w="1626648" h="1062036">
                <a:moveTo>
                  <a:pt x="1626648" y="291217"/>
                </a:moveTo>
                <a:lnTo>
                  <a:pt x="1600396" y="324955"/>
                </a:lnTo>
                <a:lnTo>
                  <a:pt x="1552222" y="372068"/>
                </a:lnTo>
                <a:lnTo>
                  <a:pt x="1532452" y="375347"/>
                </a:lnTo>
                <a:lnTo>
                  <a:pt x="1481036" y="423881"/>
                </a:lnTo>
                <a:lnTo>
                  <a:pt x="1453741" y="435408"/>
                </a:lnTo>
                <a:lnTo>
                  <a:pt x="1449105" y="446073"/>
                </a:lnTo>
                <a:lnTo>
                  <a:pt x="1438747" y="451957"/>
                </a:lnTo>
                <a:lnTo>
                  <a:pt x="1436318" y="463441"/>
                </a:lnTo>
                <a:lnTo>
                  <a:pt x="1417163" y="478127"/>
                </a:lnTo>
                <a:lnTo>
                  <a:pt x="1405540" y="498493"/>
                </a:lnTo>
                <a:lnTo>
                  <a:pt x="1388233" y="510898"/>
                </a:lnTo>
                <a:lnTo>
                  <a:pt x="1377202" y="532111"/>
                </a:lnTo>
                <a:lnTo>
                  <a:pt x="1362051" y="541960"/>
                </a:lnTo>
                <a:lnTo>
                  <a:pt x="1330982" y="581759"/>
                </a:lnTo>
                <a:lnTo>
                  <a:pt x="1308715" y="596970"/>
                </a:lnTo>
                <a:lnTo>
                  <a:pt x="1256150" y="654155"/>
                </a:lnTo>
                <a:lnTo>
                  <a:pt x="1230251" y="668343"/>
                </a:lnTo>
                <a:lnTo>
                  <a:pt x="1216543" y="686817"/>
                </a:lnTo>
                <a:lnTo>
                  <a:pt x="1165080" y="711568"/>
                </a:lnTo>
                <a:lnTo>
                  <a:pt x="1151740" y="738027"/>
                </a:lnTo>
                <a:lnTo>
                  <a:pt x="1125327" y="754410"/>
                </a:lnTo>
                <a:lnTo>
                  <a:pt x="1117376" y="766896"/>
                </a:lnTo>
                <a:lnTo>
                  <a:pt x="1074306" y="789536"/>
                </a:lnTo>
                <a:lnTo>
                  <a:pt x="1046671" y="814744"/>
                </a:lnTo>
                <a:lnTo>
                  <a:pt x="949172" y="878333"/>
                </a:lnTo>
                <a:lnTo>
                  <a:pt x="939555" y="889984"/>
                </a:lnTo>
                <a:lnTo>
                  <a:pt x="901724" y="903829"/>
                </a:lnTo>
                <a:lnTo>
                  <a:pt x="886408" y="915044"/>
                </a:lnTo>
                <a:lnTo>
                  <a:pt x="859634" y="921425"/>
                </a:lnTo>
                <a:lnTo>
                  <a:pt x="819926" y="945234"/>
                </a:lnTo>
                <a:lnTo>
                  <a:pt x="800548" y="951402"/>
                </a:lnTo>
                <a:lnTo>
                  <a:pt x="769694" y="949621"/>
                </a:lnTo>
                <a:lnTo>
                  <a:pt x="707203" y="932919"/>
                </a:lnTo>
                <a:lnTo>
                  <a:pt x="655271" y="942321"/>
                </a:lnTo>
                <a:lnTo>
                  <a:pt x="628675" y="962207"/>
                </a:lnTo>
                <a:lnTo>
                  <a:pt x="617419" y="986949"/>
                </a:lnTo>
                <a:lnTo>
                  <a:pt x="617199" y="994455"/>
                </a:lnTo>
                <a:lnTo>
                  <a:pt x="636585" y="1015956"/>
                </a:lnTo>
                <a:lnTo>
                  <a:pt x="610310" y="1020625"/>
                </a:lnTo>
                <a:lnTo>
                  <a:pt x="573395" y="1016635"/>
                </a:lnTo>
                <a:lnTo>
                  <a:pt x="529835" y="999060"/>
                </a:lnTo>
                <a:lnTo>
                  <a:pt x="490048" y="1000441"/>
                </a:lnTo>
                <a:lnTo>
                  <a:pt x="471149" y="1011118"/>
                </a:lnTo>
                <a:lnTo>
                  <a:pt x="469864" y="1027741"/>
                </a:lnTo>
                <a:lnTo>
                  <a:pt x="452936" y="1043577"/>
                </a:lnTo>
                <a:lnTo>
                  <a:pt x="450696" y="1050279"/>
                </a:lnTo>
                <a:lnTo>
                  <a:pt x="459042" y="1057644"/>
                </a:lnTo>
                <a:lnTo>
                  <a:pt x="451741" y="1062036"/>
                </a:lnTo>
                <a:lnTo>
                  <a:pt x="411111" y="1051678"/>
                </a:lnTo>
                <a:lnTo>
                  <a:pt x="403086" y="1056406"/>
                </a:lnTo>
                <a:lnTo>
                  <a:pt x="378057" y="1050435"/>
                </a:lnTo>
                <a:lnTo>
                  <a:pt x="354681" y="1034044"/>
                </a:lnTo>
                <a:lnTo>
                  <a:pt x="339416" y="1033817"/>
                </a:lnTo>
                <a:lnTo>
                  <a:pt x="314495" y="1023274"/>
                </a:lnTo>
                <a:lnTo>
                  <a:pt x="197202" y="1006379"/>
                </a:lnTo>
                <a:lnTo>
                  <a:pt x="195364" y="986818"/>
                </a:lnTo>
                <a:lnTo>
                  <a:pt x="209291" y="974144"/>
                </a:lnTo>
                <a:lnTo>
                  <a:pt x="178963" y="965525"/>
                </a:lnTo>
                <a:lnTo>
                  <a:pt x="177856" y="956453"/>
                </a:lnTo>
                <a:lnTo>
                  <a:pt x="169576" y="953672"/>
                </a:lnTo>
                <a:lnTo>
                  <a:pt x="163303" y="960252"/>
                </a:lnTo>
                <a:lnTo>
                  <a:pt x="143142" y="956718"/>
                </a:lnTo>
                <a:lnTo>
                  <a:pt x="152462" y="937345"/>
                </a:lnTo>
                <a:lnTo>
                  <a:pt x="174088" y="932495"/>
                </a:lnTo>
                <a:lnTo>
                  <a:pt x="177187" y="920180"/>
                </a:lnTo>
                <a:lnTo>
                  <a:pt x="183552" y="925525"/>
                </a:lnTo>
                <a:lnTo>
                  <a:pt x="201656" y="925259"/>
                </a:lnTo>
                <a:lnTo>
                  <a:pt x="202480" y="913310"/>
                </a:lnTo>
                <a:lnTo>
                  <a:pt x="185421" y="899869"/>
                </a:lnTo>
                <a:lnTo>
                  <a:pt x="186839" y="880384"/>
                </a:lnTo>
                <a:lnTo>
                  <a:pt x="163393" y="867136"/>
                </a:lnTo>
                <a:lnTo>
                  <a:pt x="133168" y="866970"/>
                </a:lnTo>
                <a:lnTo>
                  <a:pt x="135221" y="872205"/>
                </a:lnTo>
                <a:lnTo>
                  <a:pt x="120555" y="853719"/>
                </a:lnTo>
                <a:lnTo>
                  <a:pt x="85680" y="854000"/>
                </a:lnTo>
                <a:lnTo>
                  <a:pt x="42919" y="865353"/>
                </a:lnTo>
                <a:lnTo>
                  <a:pt x="8442" y="863593"/>
                </a:lnTo>
                <a:lnTo>
                  <a:pt x="0" y="857370"/>
                </a:lnTo>
                <a:lnTo>
                  <a:pt x="377" y="839254"/>
                </a:lnTo>
                <a:lnTo>
                  <a:pt x="11249" y="834778"/>
                </a:lnTo>
                <a:lnTo>
                  <a:pt x="45596" y="774241"/>
                </a:lnTo>
                <a:lnTo>
                  <a:pt x="40770" y="761158"/>
                </a:lnTo>
                <a:lnTo>
                  <a:pt x="48217" y="753789"/>
                </a:lnTo>
                <a:lnTo>
                  <a:pt x="43585" y="742786"/>
                </a:lnTo>
                <a:lnTo>
                  <a:pt x="55889" y="722817"/>
                </a:lnTo>
                <a:lnTo>
                  <a:pt x="79366" y="718628"/>
                </a:lnTo>
                <a:lnTo>
                  <a:pt x="73248" y="703680"/>
                </a:lnTo>
                <a:lnTo>
                  <a:pt x="94332" y="695223"/>
                </a:lnTo>
                <a:lnTo>
                  <a:pt x="135896" y="709335"/>
                </a:lnTo>
                <a:lnTo>
                  <a:pt x="139796" y="693540"/>
                </a:lnTo>
                <a:lnTo>
                  <a:pt x="129817" y="693760"/>
                </a:lnTo>
                <a:lnTo>
                  <a:pt x="125528" y="678428"/>
                </a:lnTo>
                <a:lnTo>
                  <a:pt x="111699" y="670412"/>
                </a:lnTo>
                <a:lnTo>
                  <a:pt x="118492" y="665275"/>
                </a:lnTo>
                <a:lnTo>
                  <a:pt x="119628" y="654983"/>
                </a:lnTo>
                <a:lnTo>
                  <a:pt x="115240" y="639594"/>
                </a:lnTo>
                <a:lnTo>
                  <a:pt x="105613" y="630023"/>
                </a:lnTo>
                <a:lnTo>
                  <a:pt x="100288" y="607545"/>
                </a:lnTo>
                <a:lnTo>
                  <a:pt x="118782" y="599818"/>
                </a:lnTo>
                <a:lnTo>
                  <a:pt x="124194" y="588285"/>
                </a:lnTo>
                <a:lnTo>
                  <a:pt x="141021" y="597784"/>
                </a:lnTo>
                <a:lnTo>
                  <a:pt x="149277" y="580807"/>
                </a:lnTo>
                <a:lnTo>
                  <a:pt x="196329" y="585582"/>
                </a:lnTo>
                <a:lnTo>
                  <a:pt x="199156" y="581682"/>
                </a:lnTo>
                <a:lnTo>
                  <a:pt x="192646" y="573804"/>
                </a:lnTo>
                <a:lnTo>
                  <a:pt x="197151" y="558315"/>
                </a:lnTo>
                <a:lnTo>
                  <a:pt x="217819" y="543010"/>
                </a:lnTo>
                <a:lnTo>
                  <a:pt x="245460" y="562227"/>
                </a:lnTo>
                <a:lnTo>
                  <a:pt x="260319" y="549702"/>
                </a:lnTo>
                <a:lnTo>
                  <a:pt x="275388" y="546236"/>
                </a:lnTo>
                <a:lnTo>
                  <a:pt x="276942" y="537181"/>
                </a:lnTo>
                <a:lnTo>
                  <a:pt x="290476" y="538574"/>
                </a:lnTo>
                <a:lnTo>
                  <a:pt x="298102" y="528065"/>
                </a:lnTo>
                <a:lnTo>
                  <a:pt x="292390" y="518171"/>
                </a:lnTo>
                <a:lnTo>
                  <a:pt x="289875" y="524965"/>
                </a:lnTo>
                <a:lnTo>
                  <a:pt x="290873" y="514499"/>
                </a:lnTo>
                <a:lnTo>
                  <a:pt x="299166" y="509697"/>
                </a:lnTo>
                <a:lnTo>
                  <a:pt x="299043" y="499556"/>
                </a:lnTo>
                <a:lnTo>
                  <a:pt x="309628" y="499618"/>
                </a:lnTo>
                <a:lnTo>
                  <a:pt x="316725" y="485090"/>
                </a:lnTo>
                <a:lnTo>
                  <a:pt x="303920" y="471564"/>
                </a:lnTo>
                <a:lnTo>
                  <a:pt x="291087" y="472795"/>
                </a:lnTo>
                <a:lnTo>
                  <a:pt x="294946" y="457501"/>
                </a:lnTo>
                <a:lnTo>
                  <a:pt x="301452" y="459432"/>
                </a:lnTo>
                <a:lnTo>
                  <a:pt x="301718" y="451135"/>
                </a:lnTo>
                <a:lnTo>
                  <a:pt x="308010" y="448737"/>
                </a:lnTo>
                <a:lnTo>
                  <a:pt x="301562" y="444954"/>
                </a:lnTo>
                <a:lnTo>
                  <a:pt x="303037" y="430067"/>
                </a:lnTo>
                <a:lnTo>
                  <a:pt x="330074" y="436289"/>
                </a:lnTo>
                <a:lnTo>
                  <a:pt x="342169" y="423083"/>
                </a:lnTo>
                <a:lnTo>
                  <a:pt x="360237" y="422427"/>
                </a:lnTo>
                <a:lnTo>
                  <a:pt x="357871" y="416522"/>
                </a:lnTo>
                <a:lnTo>
                  <a:pt x="364168" y="422656"/>
                </a:lnTo>
                <a:lnTo>
                  <a:pt x="380104" y="420630"/>
                </a:lnTo>
                <a:lnTo>
                  <a:pt x="381038" y="367662"/>
                </a:lnTo>
                <a:lnTo>
                  <a:pt x="389663" y="363520"/>
                </a:lnTo>
                <a:lnTo>
                  <a:pt x="391430" y="347348"/>
                </a:lnTo>
                <a:lnTo>
                  <a:pt x="397756" y="342348"/>
                </a:lnTo>
                <a:lnTo>
                  <a:pt x="412866" y="338330"/>
                </a:lnTo>
                <a:lnTo>
                  <a:pt x="422899" y="344915"/>
                </a:lnTo>
                <a:lnTo>
                  <a:pt x="440024" y="339750"/>
                </a:lnTo>
                <a:lnTo>
                  <a:pt x="448094" y="331309"/>
                </a:lnTo>
                <a:lnTo>
                  <a:pt x="456304" y="335672"/>
                </a:lnTo>
                <a:lnTo>
                  <a:pt x="454121" y="324062"/>
                </a:lnTo>
                <a:lnTo>
                  <a:pt x="471825" y="322043"/>
                </a:lnTo>
                <a:lnTo>
                  <a:pt x="487650" y="307388"/>
                </a:lnTo>
                <a:lnTo>
                  <a:pt x="499266" y="308998"/>
                </a:lnTo>
                <a:lnTo>
                  <a:pt x="523898" y="301297"/>
                </a:lnTo>
                <a:lnTo>
                  <a:pt x="532823" y="289272"/>
                </a:lnTo>
                <a:lnTo>
                  <a:pt x="564344" y="300575"/>
                </a:lnTo>
                <a:lnTo>
                  <a:pt x="571349" y="295952"/>
                </a:lnTo>
                <a:lnTo>
                  <a:pt x="571045" y="278847"/>
                </a:lnTo>
                <a:lnTo>
                  <a:pt x="584703" y="265910"/>
                </a:lnTo>
                <a:lnTo>
                  <a:pt x="583079" y="256002"/>
                </a:lnTo>
                <a:lnTo>
                  <a:pt x="596965" y="242220"/>
                </a:lnTo>
                <a:lnTo>
                  <a:pt x="591132" y="236182"/>
                </a:lnTo>
                <a:lnTo>
                  <a:pt x="599085" y="229013"/>
                </a:lnTo>
                <a:lnTo>
                  <a:pt x="600655" y="215154"/>
                </a:lnTo>
                <a:lnTo>
                  <a:pt x="590431" y="207010"/>
                </a:lnTo>
                <a:lnTo>
                  <a:pt x="607753" y="186914"/>
                </a:lnTo>
                <a:lnTo>
                  <a:pt x="592496" y="183760"/>
                </a:lnTo>
                <a:lnTo>
                  <a:pt x="589765" y="144179"/>
                </a:lnTo>
                <a:lnTo>
                  <a:pt x="610847" y="142256"/>
                </a:lnTo>
                <a:lnTo>
                  <a:pt x="618483" y="135653"/>
                </a:lnTo>
                <a:lnTo>
                  <a:pt x="624657" y="144364"/>
                </a:lnTo>
                <a:lnTo>
                  <a:pt x="622161" y="152462"/>
                </a:lnTo>
                <a:lnTo>
                  <a:pt x="635844" y="148468"/>
                </a:lnTo>
                <a:lnTo>
                  <a:pt x="639716" y="157701"/>
                </a:lnTo>
                <a:lnTo>
                  <a:pt x="655389" y="160971"/>
                </a:lnTo>
                <a:lnTo>
                  <a:pt x="661857" y="147863"/>
                </a:lnTo>
                <a:lnTo>
                  <a:pt x="683577" y="141154"/>
                </a:lnTo>
                <a:lnTo>
                  <a:pt x="682521" y="124151"/>
                </a:lnTo>
                <a:lnTo>
                  <a:pt x="692479" y="134772"/>
                </a:lnTo>
                <a:lnTo>
                  <a:pt x="702772" y="122864"/>
                </a:lnTo>
                <a:lnTo>
                  <a:pt x="729484" y="117552"/>
                </a:lnTo>
                <a:lnTo>
                  <a:pt x="739321" y="123721"/>
                </a:lnTo>
                <a:lnTo>
                  <a:pt x="736766" y="113428"/>
                </a:lnTo>
                <a:lnTo>
                  <a:pt x="744002" y="109255"/>
                </a:lnTo>
                <a:lnTo>
                  <a:pt x="751578" y="121630"/>
                </a:lnTo>
                <a:lnTo>
                  <a:pt x="766102" y="124714"/>
                </a:lnTo>
                <a:lnTo>
                  <a:pt x="769754" y="136677"/>
                </a:lnTo>
                <a:lnTo>
                  <a:pt x="786525" y="138229"/>
                </a:lnTo>
                <a:lnTo>
                  <a:pt x="807211" y="131917"/>
                </a:lnTo>
                <a:lnTo>
                  <a:pt x="816051" y="138295"/>
                </a:lnTo>
                <a:lnTo>
                  <a:pt x="814589" y="147437"/>
                </a:lnTo>
                <a:lnTo>
                  <a:pt x="830954" y="156458"/>
                </a:lnTo>
                <a:lnTo>
                  <a:pt x="846691" y="156075"/>
                </a:lnTo>
                <a:lnTo>
                  <a:pt x="846671" y="164297"/>
                </a:lnTo>
                <a:lnTo>
                  <a:pt x="856910" y="157698"/>
                </a:lnTo>
                <a:lnTo>
                  <a:pt x="862977" y="162743"/>
                </a:lnTo>
                <a:lnTo>
                  <a:pt x="885759" y="150925"/>
                </a:lnTo>
                <a:lnTo>
                  <a:pt x="898464" y="162575"/>
                </a:lnTo>
                <a:lnTo>
                  <a:pt x="901923" y="156357"/>
                </a:lnTo>
                <a:lnTo>
                  <a:pt x="917422" y="156354"/>
                </a:lnTo>
                <a:lnTo>
                  <a:pt x="913262" y="147558"/>
                </a:lnTo>
                <a:lnTo>
                  <a:pt x="917444" y="143314"/>
                </a:lnTo>
                <a:lnTo>
                  <a:pt x="936451" y="141853"/>
                </a:lnTo>
                <a:lnTo>
                  <a:pt x="930541" y="125533"/>
                </a:lnTo>
                <a:lnTo>
                  <a:pt x="948202" y="123480"/>
                </a:lnTo>
                <a:lnTo>
                  <a:pt x="952665" y="131304"/>
                </a:lnTo>
                <a:lnTo>
                  <a:pt x="959866" y="124757"/>
                </a:lnTo>
                <a:lnTo>
                  <a:pt x="958298" y="119081"/>
                </a:lnTo>
                <a:lnTo>
                  <a:pt x="970610" y="123013"/>
                </a:lnTo>
                <a:lnTo>
                  <a:pt x="976640" y="113498"/>
                </a:lnTo>
                <a:lnTo>
                  <a:pt x="980275" y="119341"/>
                </a:lnTo>
                <a:lnTo>
                  <a:pt x="982581" y="111978"/>
                </a:lnTo>
                <a:lnTo>
                  <a:pt x="995498" y="120147"/>
                </a:lnTo>
                <a:lnTo>
                  <a:pt x="1002261" y="113080"/>
                </a:lnTo>
                <a:lnTo>
                  <a:pt x="996312" y="102787"/>
                </a:lnTo>
                <a:lnTo>
                  <a:pt x="1011446" y="101386"/>
                </a:lnTo>
                <a:lnTo>
                  <a:pt x="1001657" y="97647"/>
                </a:lnTo>
                <a:lnTo>
                  <a:pt x="1005040" y="91350"/>
                </a:lnTo>
                <a:lnTo>
                  <a:pt x="1013406" y="94218"/>
                </a:lnTo>
                <a:lnTo>
                  <a:pt x="1019395" y="90128"/>
                </a:lnTo>
                <a:lnTo>
                  <a:pt x="1008113" y="73675"/>
                </a:lnTo>
                <a:lnTo>
                  <a:pt x="1017203" y="76634"/>
                </a:lnTo>
                <a:lnTo>
                  <a:pt x="1030933" y="70206"/>
                </a:lnTo>
                <a:lnTo>
                  <a:pt x="1038546" y="85673"/>
                </a:lnTo>
                <a:lnTo>
                  <a:pt x="1052509" y="93073"/>
                </a:lnTo>
                <a:lnTo>
                  <a:pt x="1055407" y="104303"/>
                </a:lnTo>
                <a:lnTo>
                  <a:pt x="1063453" y="105305"/>
                </a:lnTo>
                <a:lnTo>
                  <a:pt x="1064500" y="117508"/>
                </a:lnTo>
                <a:lnTo>
                  <a:pt x="1082101" y="129478"/>
                </a:lnTo>
                <a:lnTo>
                  <a:pt x="1093114" y="145870"/>
                </a:lnTo>
                <a:lnTo>
                  <a:pt x="1104866" y="150040"/>
                </a:lnTo>
                <a:lnTo>
                  <a:pt x="1131525" y="146131"/>
                </a:lnTo>
                <a:lnTo>
                  <a:pt x="1136779" y="157219"/>
                </a:lnTo>
                <a:lnTo>
                  <a:pt x="1168558" y="160562"/>
                </a:lnTo>
                <a:lnTo>
                  <a:pt x="1174818" y="166255"/>
                </a:lnTo>
                <a:lnTo>
                  <a:pt x="1175253" y="146890"/>
                </a:lnTo>
                <a:lnTo>
                  <a:pt x="1183788" y="143059"/>
                </a:lnTo>
                <a:lnTo>
                  <a:pt x="1189922" y="128185"/>
                </a:lnTo>
                <a:lnTo>
                  <a:pt x="1185757" y="112789"/>
                </a:lnTo>
                <a:lnTo>
                  <a:pt x="1192569" y="105213"/>
                </a:lnTo>
                <a:lnTo>
                  <a:pt x="1208565" y="101083"/>
                </a:lnTo>
                <a:lnTo>
                  <a:pt x="1211712" y="84792"/>
                </a:lnTo>
                <a:lnTo>
                  <a:pt x="1198193" y="68443"/>
                </a:lnTo>
                <a:lnTo>
                  <a:pt x="1204924" y="60731"/>
                </a:lnTo>
                <a:lnTo>
                  <a:pt x="1229466" y="54241"/>
                </a:lnTo>
                <a:lnTo>
                  <a:pt x="1234213" y="38136"/>
                </a:lnTo>
                <a:lnTo>
                  <a:pt x="1242109" y="31979"/>
                </a:lnTo>
                <a:lnTo>
                  <a:pt x="1258170" y="35499"/>
                </a:lnTo>
                <a:lnTo>
                  <a:pt x="1275789" y="27073"/>
                </a:lnTo>
                <a:lnTo>
                  <a:pt x="1301627" y="33007"/>
                </a:lnTo>
                <a:lnTo>
                  <a:pt x="1343760" y="21407"/>
                </a:lnTo>
                <a:lnTo>
                  <a:pt x="1379968" y="0"/>
                </a:lnTo>
                <a:lnTo>
                  <a:pt x="1402758" y="25620"/>
                </a:lnTo>
                <a:lnTo>
                  <a:pt x="1397903" y="45505"/>
                </a:lnTo>
                <a:lnTo>
                  <a:pt x="1404552" y="67280"/>
                </a:lnTo>
                <a:lnTo>
                  <a:pt x="1430477" y="79371"/>
                </a:lnTo>
                <a:lnTo>
                  <a:pt x="1426871" y="69525"/>
                </a:lnTo>
                <a:lnTo>
                  <a:pt x="1440782" y="83662"/>
                </a:lnTo>
                <a:lnTo>
                  <a:pt x="1440906" y="98966"/>
                </a:lnTo>
                <a:lnTo>
                  <a:pt x="1434755" y="97816"/>
                </a:lnTo>
                <a:lnTo>
                  <a:pt x="1435755" y="102841"/>
                </a:lnTo>
                <a:lnTo>
                  <a:pt x="1416416" y="112042"/>
                </a:lnTo>
                <a:lnTo>
                  <a:pt x="1411347" y="132691"/>
                </a:lnTo>
                <a:lnTo>
                  <a:pt x="1405434" y="131113"/>
                </a:lnTo>
                <a:lnTo>
                  <a:pt x="1402962" y="137028"/>
                </a:lnTo>
                <a:lnTo>
                  <a:pt x="1410242" y="141875"/>
                </a:lnTo>
                <a:lnTo>
                  <a:pt x="1397029" y="148545"/>
                </a:lnTo>
                <a:lnTo>
                  <a:pt x="1401213" y="155227"/>
                </a:lnTo>
                <a:lnTo>
                  <a:pt x="1412146" y="159046"/>
                </a:lnTo>
                <a:lnTo>
                  <a:pt x="1411417" y="164861"/>
                </a:lnTo>
                <a:lnTo>
                  <a:pt x="1416392" y="159618"/>
                </a:lnTo>
                <a:lnTo>
                  <a:pt x="1428929" y="160322"/>
                </a:lnTo>
                <a:lnTo>
                  <a:pt x="1447068" y="173940"/>
                </a:lnTo>
                <a:lnTo>
                  <a:pt x="1459689" y="166141"/>
                </a:lnTo>
                <a:lnTo>
                  <a:pt x="1484432" y="161648"/>
                </a:lnTo>
                <a:lnTo>
                  <a:pt x="1486836" y="167616"/>
                </a:lnTo>
                <a:lnTo>
                  <a:pt x="1500645" y="172718"/>
                </a:lnTo>
                <a:lnTo>
                  <a:pt x="1502954" y="180631"/>
                </a:lnTo>
                <a:lnTo>
                  <a:pt x="1519550" y="176089"/>
                </a:lnTo>
                <a:lnTo>
                  <a:pt x="1533756" y="190528"/>
                </a:lnTo>
                <a:lnTo>
                  <a:pt x="1543928" y="187533"/>
                </a:lnTo>
                <a:lnTo>
                  <a:pt x="1542869" y="183737"/>
                </a:lnTo>
                <a:lnTo>
                  <a:pt x="1549971" y="185065"/>
                </a:lnTo>
                <a:lnTo>
                  <a:pt x="1548548" y="192741"/>
                </a:lnTo>
                <a:lnTo>
                  <a:pt x="1557234" y="194854"/>
                </a:lnTo>
                <a:lnTo>
                  <a:pt x="1557893" y="201337"/>
                </a:lnTo>
                <a:lnTo>
                  <a:pt x="1566891" y="200995"/>
                </a:lnTo>
                <a:lnTo>
                  <a:pt x="1565312" y="207538"/>
                </a:lnTo>
                <a:lnTo>
                  <a:pt x="1571643" y="204304"/>
                </a:lnTo>
                <a:lnTo>
                  <a:pt x="1569865" y="211195"/>
                </a:lnTo>
                <a:lnTo>
                  <a:pt x="1574635" y="209797"/>
                </a:lnTo>
                <a:lnTo>
                  <a:pt x="1573354" y="203771"/>
                </a:lnTo>
                <a:lnTo>
                  <a:pt x="1579262" y="204571"/>
                </a:lnTo>
                <a:lnTo>
                  <a:pt x="1575113" y="213706"/>
                </a:lnTo>
                <a:lnTo>
                  <a:pt x="1584025" y="212828"/>
                </a:lnTo>
                <a:lnTo>
                  <a:pt x="1581997" y="220451"/>
                </a:lnTo>
                <a:lnTo>
                  <a:pt x="1591539" y="219167"/>
                </a:lnTo>
                <a:lnTo>
                  <a:pt x="1594353" y="227241"/>
                </a:lnTo>
                <a:lnTo>
                  <a:pt x="1603293" y="225390"/>
                </a:lnTo>
                <a:lnTo>
                  <a:pt x="1610310" y="229341"/>
                </a:lnTo>
                <a:lnTo>
                  <a:pt x="1605870" y="234259"/>
                </a:lnTo>
                <a:lnTo>
                  <a:pt x="1615457" y="236158"/>
                </a:lnTo>
                <a:lnTo>
                  <a:pt x="1620986" y="245203"/>
                </a:lnTo>
                <a:lnTo>
                  <a:pt x="1617882" y="255679"/>
                </a:lnTo>
                <a:lnTo>
                  <a:pt x="1622570" y="258989"/>
                </a:lnTo>
                <a:lnTo>
                  <a:pt x="1617568" y="267249"/>
                </a:lnTo>
                <a:lnTo>
                  <a:pt x="1624986" y="271774"/>
                </a:lnTo>
                <a:lnTo>
                  <a:pt x="1626648" y="291217"/>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2022 provincial petrol/diesel sales: FS"/>
          <p:cNvSpPr/>
          <p:nvPr/>
        </p:nvSpPr>
        <p:spPr>
          <a:xfrm>
            <a:off x="3558265" y="3468483"/>
            <a:ext cx="1235577" cy="1023331"/>
          </a:xfrm>
          <a:custGeom>
            <a:avLst/>
            <a:gdLst/>
            <a:ahLst/>
            <a:cxnLst/>
            <a:rect l="l" t="t" r="r" b="b"/>
            <a:pathLst>
              <a:path w="1235577" h="1023331">
                <a:moveTo>
                  <a:pt x="670255" y="931412"/>
                </a:moveTo>
                <a:lnTo>
                  <a:pt x="671266" y="943502"/>
                </a:lnTo>
                <a:lnTo>
                  <a:pt x="676451" y="940178"/>
                </a:lnTo>
                <a:lnTo>
                  <a:pt x="678950" y="949162"/>
                </a:lnTo>
                <a:lnTo>
                  <a:pt x="672961" y="953252"/>
                </a:lnTo>
                <a:lnTo>
                  <a:pt x="664595" y="950384"/>
                </a:lnTo>
                <a:lnTo>
                  <a:pt x="661212" y="956681"/>
                </a:lnTo>
                <a:lnTo>
                  <a:pt x="671001" y="960420"/>
                </a:lnTo>
                <a:lnTo>
                  <a:pt x="655867" y="961821"/>
                </a:lnTo>
                <a:lnTo>
                  <a:pt x="661816" y="972114"/>
                </a:lnTo>
                <a:lnTo>
                  <a:pt x="655053" y="979181"/>
                </a:lnTo>
                <a:lnTo>
                  <a:pt x="642136" y="971012"/>
                </a:lnTo>
                <a:lnTo>
                  <a:pt x="639830" y="978375"/>
                </a:lnTo>
                <a:lnTo>
                  <a:pt x="636195" y="972532"/>
                </a:lnTo>
                <a:lnTo>
                  <a:pt x="630165" y="982047"/>
                </a:lnTo>
                <a:lnTo>
                  <a:pt x="617853" y="978115"/>
                </a:lnTo>
                <a:lnTo>
                  <a:pt x="619421" y="983791"/>
                </a:lnTo>
                <a:lnTo>
                  <a:pt x="612220" y="990338"/>
                </a:lnTo>
                <a:lnTo>
                  <a:pt x="607757" y="982514"/>
                </a:lnTo>
                <a:lnTo>
                  <a:pt x="590096" y="984567"/>
                </a:lnTo>
                <a:lnTo>
                  <a:pt x="596006" y="1000887"/>
                </a:lnTo>
                <a:lnTo>
                  <a:pt x="576999" y="1002348"/>
                </a:lnTo>
                <a:lnTo>
                  <a:pt x="572817" y="1006592"/>
                </a:lnTo>
                <a:lnTo>
                  <a:pt x="576977" y="1015388"/>
                </a:lnTo>
                <a:lnTo>
                  <a:pt x="561478" y="1015391"/>
                </a:lnTo>
                <a:lnTo>
                  <a:pt x="558019" y="1021609"/>
                </a:lnTo>
                <a:lnTo>
                  <a:pt x="545314" y="1009959"/>
                </a:lnTo>
                <a:lnTo>
                  <a:pt x="522532" y="1021777"/>
                </a:lnTo>
                <a:lnTo>
                  <a:pt x="516465" y="1016732"/>
                </a:lnTo>
                <a:lnTo>
                  <a:pt x="506226" y="1023331"/>
                </a:lnTo>
                <a:lnTo>
                  <a:pt x="506246" y="1015109"/>
                </a:lnTo>
                <a:lnTo>
                  <a:pt x="490509" y="1015492"/>
                </a:lnTo>
                <a:lnTo>
                  <a:pt x="474144" y="1006471"/>
                </a:lnTo>
                <a:lnTo>
                  <a:pt x="475606" y="997329"/>
                </a:lnTo>
                <a:lnTo>
                  <a:pt x="466766" y="990951"/>
                </a:lnTo>
                <a:lnTo>
                  <a:pt x="446080" y="997263"/>
                </a:lnTo>
                <a:lnTo>
                  <a:pt x="429309" y="995711"/>
                </a:lnTo>
                <a:lnTo>
                  <a:pt x="425657" y="983748"/>
                </a:lnTo>
                <a:lnTo>
                  <a:pt x="411133" y="980664"/>
                </a:lnTo>
                <a:lnTo>
                  <a:pt x="403557" y="968289"/>
                </a:lnTo>
                <a:lnTo>
                  <a:pt x="396321" y="972462"/>
                </a:lnTo>
                <a:lnTo>
                  <a:pt x="398876" y="982755"/>
                </a:lnTo>
                <a:lnTo>
                  <a:pt x="389039" y="976586"/>
                </a:lnTo>
                <a:lnTo>
                  <a:pt x="362327" y="981898"/>
                </a:lnTo>
                <a:lnTo>
                  <a:pt x="352034" y="993806"/>
                </a:lnTo>
                <a:lnTo>
                  <a:pt x="342076" y="983185"/>
                </a:lnTo>
                <a:lnTo>
                  <a:pt x="343132" y="1000188"/>
                </a:lnTo>
                <a:lnTo>
                  <a:pt x="321412" y="1006897"/>
                </a:lnTo>
                <a:lnTo>
                  <a:pt x="314944" y="1020005"/>
                </a:lnTo>
                <a:lnTo>
                  <a:pt x="299271" y="1016735"/>
                </a:lnTo>
                <a:lnTo>
                  <a:pt x="295399" y="1007502"/>
                </a:lnTo>
                <a:lnTo>
                  <a:pt x="281716" y="1011496"/>
                </a:lnTo>
                <a:lnTo>
                  <a:pt x="284212" y="1003398"/>
                </a:lnTo>
                <a:lnTo>
                  <a:pt x="278038" y="994687"/>
                </a:lnTo>
                <a:lnTo>
                  <a:pt x="250972" y="1005990"/>
                </a:lnTo>
                <a:lnTo>
                  <a:pt x="238504" y="991273"/>
                </a:lnTo>
                <a:lnTo>
                  <a:pt x="219843" y="986093"/>
                </a:lnTo>
                <a:lnTo>
                  <a:pt x="213577" y="990905"/>
                </a:lnTo>
                <a:lnTo>
                  <a:pt x="198098" y="971271"/>
                </a:lnTo>
                <a:lnTo>
                  <a:pt x="187972" y="970864"/>
                </a:lnTo>
                <a:lnTo>
                  <a:pt x="167291" y="938803"/>
                </a:lnTo>
                <a:lnTo>
                  <a:pt x="154462" y="936010"/>
                </a:lnTo>
                <a:lnTo>
                  <a:pt x="153611" y="916542"/>
                </a:lnTo>
                <a:lnTo>
                  <a:pt x="142933" y="917516"/>
                </a:lnTo>
                <a:lnTo>
                  <a:pt x="134092" y="907758"/>
                </a:lnTo>
                <a:lnTo>
                  <a:pt x="135795" y="901173"/>
                </a:lnTo>
                <a:lnTo>
                  <a:pt x="129329" y="894683"/>
                </a:lnTo>
                <a:lnTo>
                  <a:pt x="123748" y="896227"/>
                </a:lnTo>
                <a:lnTo>
                  <a:pt x="117317" y="877768"/>
                </a:lnTo>
                <a:lnTo>
                  <a:pt x="100977" y="856577"/>
                </a:lnTo>
                <a:lnTo>
                  <a:pt x="100096" y="843128"/>
                </a:lnTo>
                <a:lnTo>
                  <a:pt x="73468" y="837200"/>
                </a:lnTo>
                <a:lnTo>
                  <a:pt x="71320" y="818376"/>
                </a:lnTo>
                <a:lnTo>
                  <a:pt x="58598" y="820796"/>
                </a:lnTo>
                <a:lnTo>
                  <a:pt x="33929" y="796537"/>
                </a:lnTo>
                <a:lnTo>
                  <a:pt x="20807" y="796267"/>
                </a:lnTo>
                <a:lnTo>
                  <a:pt x="1851" y="770371"/>
                </a:lnTo>
                <a:lnTo>
                  <a:pt x="0" y="755749"/>
                </a:lnTo>
                <a:lnTo>
                  <a:pt x="123825" y="497580"/>
                </a:lnTo>
                <a:lnTo>
                  <a:pt x="107099" y="492211"/>
                </a:lnTo>
                <a:lnTo>
                  <a:pt x="116114" y="464094"/>
                </a:lnTo>
                <a:lnTo>
                  <a:pt x="111382" y="460701"/>
                </a:lnTo>
                <a:lnTo>
                  <a:pt x="120384" y="450772"/>
                </a:lnTo>
                <a:lnTo>
                  <a:pt x="131854" y="414946"/>
                </a:lnTo>
                <a:lnTo>
                  <a:pt x="121150" y="411197"/>
                </a:lnTo>
                <a:lnTo>
                  <a:pt x="116649" y="401011"/>
                </a:lnTo>
                <a:lnTo>
                  <a:pt x="137947" y="395974"/>
                </a:lnTo>
                <a:lnTo>
                  <a:pt x="152339" y="350646"/>
                </a:lnTo>
                <a:lnTo>
                  <a:pt x="162726" y="348715"/>
                </a:lnTo>
                <a:lnTo>
                  <a:pt x="170353" y="334915"/>
                </a:lnTo>
                <a:lnTo>
                  <a:pt x="166536" y="327780"/>
                </a:lnTo>
                <a:lnTo>
                  <a:pt x="176298" y="312764"/>
                </a:lnTo>
                <a:lnTo>
                  <a:pt x="203722" y="297418"/>
                </a:lnTo>
                <a:lnTo>
                  <a:pt x="200160" y="289563"/>
                </a:lnTo>
                <a:lnTo>
                  <a:pt x="208520" y="279846"/>
                </a:lnTo>
                <a:lnTo>
                  <a:pt x="223383" y="279025"/>
                </a:lnTo>
                <a:lnTo>
                  <a:pt x="235737" y="262627"/>
                </a:lnTo>
                <a:lnTo>
                  <a:pt x="272492" y="252028"/>
                </a:lnTo>
                <a:lnTo>
                  <a:pt x="280477" y="244015"/>
                </a:lnTo>
                <a:lnTo>
                  <a:pt x="297275" y="253993"/>
                </a:lnTo>
                <a:lnTo>
                  <a:pt x="300575" y="237593"/>
                </a:lnTo>
                <a:lnTo>
                  <a:pt x="334508" y="221720"/>
                </a:lnTo>
                <a:lnTo>
                  <a:pt x="341401" y="236356"/>
                </a:lnTo>
                <a:lnTo>
                  <a:pt x="356527" y="231272"/>
                </a:lnTo>
                <a:lnTo>
                  <a:pt x="361710" y="238841"/>
                </a:lnTo>
                <a:lnTo>
                  <a:pt x="369592" y="237446"/>
                </a:lnTo>
                <a:lnTo>
                  <a:pt x="375603" y="246719"/>
                </a:lnTo>
                <a:lnTo>
                  <a:pt x="374167" y="257782"/>
                </a:lnTo>
                <a:lnTo>
                  <a:pt x="381555" y="265516"/>
                </a:lnTo>
                <a:lnTo>
                  <a:pt x="395173" y="253741"/>
                </a:lnTo>
                <a:lnTo>
                  <a:pt x="386081" y="248321"/>
                </a:lnTo>
                <a:lnTo>
                  <a:pt x="393300" y="242969"/>
                </a:lnTo>
                <a:lnTo>
                  <a:pt x="392977" y="229529"/>
                </a:lnTo>
                <a:lnTo>
                  <a:pt x="426161" y="208548"/>
                </a:lnTo>
                <a:lnTo>
                  <a:pt x="429399" y="187942"/>
                </a:lnTo>
                <a:lnTo>
                  <a:pt x="441603" y="184071"/>
                </a:lnTo>
                <a:lnTo>
                  <a:pt x="448066" y="188524"/>
                </a:lnTo>
                <a:lnTo>
                  <a:pt x="453120" y="176414"/>
                </a:lnTo>
                <a:lnTo>
                  <a:pt x="470723" y="182119"/>
                </a:lnTo>
                <a:lnTo>
                  <a:pt x="477361" y="176798"/>
                </a:lnTo>
                <a:lnTo>
                  <a:pt x="490849" y="179406"/>
                </a:lnTo>
                <a:lnTo>
                  <a:pt x="476216" y="167564"/>
                </a:lnTo>
                <a:lnTo>
                  <a:pt x="482984" y="157065"/>
                </a:lnTo>
                <a:lnTo>
                  <a:pt x="487037" y="159877"/>
                </a:lnTo>
                <a:lnTo>
                  <a:pt x="488068" y="146764"/>
                </a:lnTo>
                <a:lnTo>
                  <a:pt x="470745" y="121144"/>
                </a:lnTo>
                <a:lnTo>
                  <a:pt x="472820" y="116525"/>
                </a:lnTo>
                <a:lnTo>
                  <a:pt x="482904" y="117646"/>
                </a:lnTo>
                <a:lnTo>
                  <a:pt x="495810" y="101660"/>
                </a:lnTo>
                <a:lnTo>
                  <a:pt x="508317" y="106173"/>
                </a:lnTo>
                <a:lnTo>
                  <a:pt x="508100" y="92133"/>
                </a:lnTo>
                <a:lnTo>
                  <a:pt x="516843" y="79534"/>
                </a:lnTo>
                <a:lnTo>
                  <a:pt x="528200" y="77446"/>
                </a:lnTo>
                <a:lnTo>
                  <a:pt x="532692" y="83486"/>
                </a:lnTo>
                <a:lnTo>
                  <a:pt x="538975" y="72304"/>
                </a:lnTo>
                <a:lnTo>
                  <a:pt x="559641" y="61882"/>
                </a:lnTo>
                <a:lnTo>
                  <a:pt x="565433" y="66408"/>
                </a:lnTo>
                <a:lnTo>
                  <a:pt x="573089" y="58739"/>
                </a:lnTo>
                <a:lnTo>
                  <a:pt x="585836" y="72897"/>
                </a:lnTo>
                <a:lnTo>
                  <a:pt x="590901" y="46895"/>
                </a:lnTo>
                <a:lnTo>
                  <a:pt x="610762" y="63701"/>
                </a:lnTo>
                <a:lnTo>
                  <a:pt x="630240" y="61580"/>
                </a:lnTo>
                <a:lnTo>
                  <a:pt x="637149" y="65689"/>
                </a:lnTo>
                <a:lnTo>
                  <a:pt x="644772" y="61470"/>
                </a:lnTo>
                <a:lnTo>
                  <a:pt x="644027" y="72603"/>
                </a:lnTo>
                <a:lnTo>
                  <a:pt x="651729" y="75674"/>
                </a:lnTo>
                <a:lnTo>
                  <a:pt x="674779" y="43741"/>
                </a:lnTo>
                <a:lnTo>
                  <a:pt x="680945" y="44074"/>
                </a:lnTo>
                <a:lnTo>
                  <a:pt x="699274" y="62706"/>
                </a:lnTo>
                <a:lnTo>
                  <a:pt x="721919" y="40709"/>
                </a:lnTo>
                <a:lnTo>
                  <a:pt x="721783" y="27393"/>
                </a:lnTo>
                <a:lnTo>
                  <a:pt x="738460" y="24652"/>
                </a:lnTo>
                <a:lnTo>
                  <a:pt x="735850" y="17848"/>
                </a:lnTo>
                <a:lnTo>
                  <a:pt x="749628" y="14321"/>
                </a:lnTo>
                <a:lnTo>
                  <a:pt x="750160" y="24485"/>
                </a:lnTo>
                <a:lnTo>
                  <a:pt x="772127" y="22108"/>
                </a:lnTo>
                <a:lnTo>
                  <a:pt x="781445" y="32151"/>
                </a:lnTo>
                <a:lnTo>
                  <a:pt x="784618" y="19820"/>
                </a:lnTo>
                <a:lnTo>
                  <a:pt x="807035" y="19169"/>
                </a:lnTo>
                <a:lnTo>
                  <a:pt x="810260" y="10233"/>
                </a:lnTo>
                <a:lnTo>
                  <a:pt x="828807" y="0"/>
                </a:lnTo>
                <a:lnTo>
                  <a:pt x="840877" y="28759"/>
                </a:lnTo>
                <a:lnTo>
                  <a:pt x="837622" y="32041"/>
                </a:lnTo>
                <a:lnTo>
                  <a:pt x="860280" y="45604"/>
                </a:lnTo>
                <a:lnTo>
                  <a:pt x="860983" y="57107"/>
                </a:lnTo>
                <a:lnTo>
                  <a:pt x="872635" y="57309"/>
                </a:lnTo>
                <a:lnTo>
                  <a:pt x="869182" y="47603"/>
                </a:lnTo>
                <a:lnTo>
                  <a:pt x="873302" y="46319"/>
                </a:lnTo>
                <a:lnTo>
                  <a:pt x="885211" y="66546"/>
                </a:lnTo>
                <a:lnTo>
                  <a:pt x="887675" y="55784"/>
                </a:lnTo>
                <a:lnTo>
                  <a:pt x="902464" y="71415"/>
                </a:lnTo>
                <a:lnTo>
                  <a:pt x="909093" y="67259"/>
                </a:lnTo>
                <a:lnTo>
                  <a:pt x="907639" y="73619"/>
                </a:lnTo>
                <a:lnTo>
                  <a:pt x="922523" y="69362"/>
                </a:lnTo>
                <a:lnTo>
                  <a:pt x="931290" y="84568"/>
                </a:lnTo>
                <a:lnTo>
                  <a:pt x="928706" y="90586"/>
                </a:lnTo>
                <a:lnTo>
                  <a:pt x="936451" y="82710"/>
                </a:lnTo>
                <a:lnTo>
                  <a:pt x="933202" y="78324"/>
                </a:lnTo>
                <a:lnTo>
                  <a:pt x="940149" y="83182"/>
                </a:lnTo>
                <a:lnTo>
                  <a:pt x="942743" y="74949"/>
                </a:lnTo>
                <a:lnTo>
                  <a:pt x="948215" y="89880"/>
                </a:lnTo>
                <a:lnTo>
                  <a:pt x="958492" y="98687"/>
                </a:lnTo>
                <a:lnTo>
                  <a:pt x="954837" y="105150"/>
                </a:lnTo>
                <a:lnTo>
                  <a:pt x="972177" y="90635"/>
                </a:lnTo>
                <a:lnTo>
                  <a:pt x="980356" y="93974"/>
                </a:lnTo>
                <a:lnTo>
                  <a:pt x="982616" y="87634"/>
                </a:lnTo>
                <a:lnTo>
                  <a:pt x="971544" y="86776"/>
                </a:lnTo>
                <a:lnTo>
                  <a:pt x="981113" y="76699"/>
                </a:lnTo>
                <a:lnTo>
                  <a:pt x="995958" y="81371"/>
                </a:lnTo>
                <a:lnTo>
                  <a:pt x="1014746" y="97241"/>
                </a:lnTo>
                <a:lnTo>
                  <a:pt x="1017140" y="92864"/>
                </a:lnTo>
                <a:lnTo>
                  <a:pt x="1018983" y="100865"/>
                </a:lnTo>
                <a:lnTo>
                  <a:pt x="1029157" y="96673"/>
                </a:lnTo>
                <a:lnTo>
                  <a:pt x="1035912" y="105679"/>
                </a:lnTo>
                <a:lnTo>
                  <a:pt x="1037415" y="93990"/>
                </a:lnTo>
                <a:lnTo>
                  <a:pt x="1051337" y="94019"/>
                </a:lnTo>
                <a:lnTo>
                  <a:pt x="1054975" y="88987"/>
                </a:lnTo>
                <a:lnTo>
                  <a:pt x="1068787" y="99003"/>
                </a:lnTo>
                <a:lnTo>
                  <a:pt x="1073375" y="93207"/>
                </a:lnTo>
                <a:lnTo>
                  <a:pt x="1078334" y="108082"/>
                </a:lnTo>
                <a:lnTo>
                  <a:pt x="1073953" y="112581"/>
                </a:lnTo>
                <a:lnTo>
                  <a:pt x="1087173" y="136332"/>
                </a:lnTo>
                <a:lnTo>
                  <a:pt x="1097136" y="129180"/>
                </a:lnTo>
                <a:lnTo>
                  <a:pt x="1111842" y="130099"/>
                </a:lnTo>
                <a:lnTo>
                  <a:pt x="1116550" y="142364"/>
                </a:lnTo>
                <a:lnTo>
                  <a:pt x="1136689" y="147021"/>
                </a:lnTo>
                <a:lnTo>
                  <a:pt x="1135294" y="161323"/>
                </a:lnTo>
                <a:lnTo>
                  <a:pt x="1149110" y="156525"/>
                </a:lnTo>
                <a:lnTo>
                  <a:pt x="1157524" y="159685"/>
                </a:lnTo>
                <a:lnTo>
                  <a:pt x="1170122" y="178967"/>
                </a:lnTo>
                <a:lnTo>
                  <a:pt x="1168997" y="187288"/>
                </a:lnTo>
                <a:lnTo>
                  <a:pt x="1184424" y="197778"/>
                </a:lnTo>
                <a:lnTo>
                  <a:pt x="1182848" y="206005"/>
                </a:lnTo>
                <a:lnTo>
                  <a:pt x="1198636" y="225784"/>
                </a:lnTo>
                <a:lnTo>
                  <a:pt x="1217544" y="223427"/>
                </a:lnTo>
                <a:lnTo>
                  <a:pt x="1217445" y="212368"/>
                </a:lnTo>
                <a:lnTo>
                  <a:pt x="1222697" y="207965"/>
                </a:lnTo>
                <a:lnTo>
                  <a:pt x="1231089" y="210806"/>
                </a:lnTo>
                <a:lnTo>
                  <a:pt x="1219439" y="215262"/>
                </a:lnTo>
                <a:lnTo>
                  <a:pt x="1224548" y="222161"/>
                </a:lnTo>
                <a:lnTo>
                  <a:pt x="1219132" y="228516"/>
                </a:lnTo>
                <a:lnTo>
                  <a:pt x="1230178" y="232416"/>
                </a:lnTo>
                <a:lnTo>
                  <a:pt x="1235577" y="250459"/>
                </a:lnTo>
                <a:lnTo>
                  <a:pt x="1209126" y="263192"/>
                </a:lnTo>
                <a:lnTo>
                  <a:pt x="1217254" y="275790"/>
                </a:lnTo>
                <a:lnTo>
                  <a:pt x="1215333" y="293180"/>
                </a:lnTo>
                <a:lnTo>
                  <a:pt x="1221228" y="304005"/>
                </a:lnTo>
                <a:lnTo>
                  <a:pt x="1213294" y="307892"/>
                </a:lnTo>
                <a:lnTo>
                  <a:pt x="1211075" y="326049"/>
                </a:lnTo>
                <a:lnTo>
                  <a:pt x="1202513" y="332769"/>
                </a:lnTo>
                <a:lnTo>
                  <a:pt x="1208063" y="341730"/>
                </a:lnTo>
                <a:lnTo>
                  <a:pt x="1201416" y="343847"/>
                </a:lnTo>
                <a:lnTo>
                  <a:pt x="1192932" y="364036"/>
                </a:lnTo>
                <a:lnTo>
                  <a:pt x="1201257" y="375416"/>
                </a:lnTo>
                <a:lnTo>
                  <a:pt x="1202513" y="388781"/>
                </a:lnTo>
                <a:lnTo>
                  <a:pt x="1202065" y="397784"/>
                </a:lnTo>
                <a:lnTo>
                  <a:pt x="1193720" y="399634"/>
                </a:lnTo>
                <a:lnTo>
                  <a:pt x="1189637" y="406976"/>
                </a:lnTo>
                <a:lnTo>
                  <a:pt x="1191689" y="413762"/>
                </a:lnTo>
                <a:lnTo>
                  <a:pt x="1160448" y="420503"/>
                </a:lnTo>
                <a:lnTo>
                  <a:pt x="1143959" y="446442"/>
                </a:lnTo>
                <a:lnTo>
                  <a:pt x="1134757" y="445076"/>
                </a:lnTo>
                <a:lnTo>
                  <a:pt x="1115334" y="461266"/>
                </a:lnTo>
                <a:lnTo>
                  <a:pt x="1106115" y="457610"/>
                </a:lnTo>
                <a:lnTo>
                  <a:pt x="1092572" y="474765"/>
                </a:lnTo>
                <a:lnTo>
                  <a:pt x="1097930" y="481424"/>
                </a:lnTo>
                <a:lnTo>
                  <a:pt x="1093220" y="487912"/>
                </a:lnTo>
                <a:lnTo>
                  <a:pt x="1087618" y="483872"/>
                </a:lnTo>
                <a:lnTo>
                  <a:pt x="1079181" y="492864"/>
                </a:lnTo>
                <a:lnTo>
                  <a:pt x="1070643" y="487138"/>
                </a:lnTo>
                <a:lnTo>
                  <a:pt x="1042798" y="493739"/>
                </a:lnTo>
                <a:lnTo>
                  <a:pt x="1035113" y="513026"/>
                </a:lnTo>
                <a:lnTo>
                  <a:pt x="1024509" y="522909"/>
                </a:lnTo>
                <a:lnTo>
                  <a:pt x="1018535" y="543152"/>
                </a:lnTo>
                <a:lnTo>
                  <a:pt x="1015049" y="539262"/>
                </a:lnTo>
                <a:lnTo>
                  <a:pt x="1003856" y="542887"/>
                </a:lnTo>
                <a:lnTo>
                  <a:pt x="1003851" y="527106"/>
                </a:lnTo>
                <a:lnTo>
                  <a:pt x="981299" y="516552"/>
                </a:lnTo>
                <a:lnTo>
                  <a:pt x="981475" y="502907"/>
                </a:lnTo>
                <a:lnTo>
                  <a:pt x="970064" y="490448"/>
                </a:lnTo>
                <a:lnTo>
                  <a:pt x="956090" y="499649"/>
                </a:lnTo>
                <a:lnTo>
                  <a:pt x="913393" y="502462"/>
                </a:lnTo>
                <a:lnTo>
                  <a:pt x="901036" y="522365"/>
                </a:lnTo>
                <a:lnTo>
                  <a:pt x="891052" y="519255"/>
                </a:lnTo>
                <a:lnTo>
                  <a:pt x="885544" y="524874"/>
                </a:lnTo>
                <a:lnTo>
                  <a:pt x="874942" y="519509"/>
                </a:lnTo>
                <a:lnTo>
                  <a:pt x="866475" y="523411"/>
                </a:lnTo>
                <a:lnTo>
                  <a:pt x="863588" y="518888"/>
                </a:lnTo>
                <a:lnTo>
                  <a:pt x="832949" y="549863"/>
                </a:lnTo>
                <a:lnTo>
                  <a:pt x="827630" y="565360"/>
                </a:lnTo>
                <a:lnTo>
                  <a:pt x="818989" y="566123"/>
                </a:lnTo>
                <a:lnTo>
                  <a:pt x="807459" y="556959"/>
                </a:lnTo>
                <a:lnTo>
                  <a:pt x="797078" y="564624"/>
                </a:lnTo>
                <a:lnTo>
                  <a:pt x="795790" y="574186"/>
                </a:lnTo>
                <a:lnTo>
                  <a:pt x="782712" y="570496"/>
                </a:lnTo>
                <a:lnTo>
                  <a:pt x="779546" y="574914"/>
                </a:lnTo>
                <a:lnTo>
                  <a:pt x="765685" y="568507"/>
                </a:lnTo>
                <a:lnTo>
                  <a:pt x="767224" y="578956"/>
                </a:lnTo>
                <a:lnTo>
                  <a:pt x="758415" y="581652"/>
                </a:lnTo>
                <a:lnTo>
                  <a:pt x="755921" y="597139"/>
                </a:lnTo>
                <a:lnTo>
                  <a:pt x="749564" y="595331"/>
                </a:lnTo>
                <a:lnTo>
                  <a:pt x="746620" y="605597"/>
                </a:lnTo>
                <a:lnTo>
                  <a:pt x="739493" y="605903"/>
                </a:lnTo>
                <a:lnTo>
                  <a:pt x="746978" y="614123"/>
                </a:lnTo>
                <a:lnTo>
                  <a:pt x="739105" y="615042"/>
                </a:lnTo>
                <a:lnTo>
                  <a:pt x="740189" y="624300"/>
                </a:lnTo>
                <a:lnTo>
                  <a:pt x="729994" y="629044"/>
                </a:lnTo>
                <a:lnTo>
                  <a:pt x="732715" y="636040"/>
                </a:lnTo>
                <a:lnTo>
                  <a:pt x="725171" y="636422"/>
                </a:lnTo>
                <a:lnTo>
                  <a:pt x="710121" y="650965"/>
                </a:lnTo>
                <a:lnTo>
                  <a:pt x="715744" y="660157"/>
                </a:lnTo>
                <a:lnTo>
                  <a:pt x="703953" y="670676"/>
                </a:lnTo>
                <a:lnTo>
                  <a:pt x="696195" y="669419"/>
                </a:lnTo>
                <a:lnTo>
                  <a:pt x="700052" y="675274"/>
                </a:lnTo>
                <a:lnTo>
                  <a:pt x="691899" y="678659"/>
                </a:lnTo>
                <a:lnTo>
                  <a:pt x="690801" y="688567"/>
                </a:lnTo>
                <a:lnTo>
                  <a:pt x="685164" y="686179"/>
                </a:lnTo>
                <a:lnTo>
                  <a:pt x="688866" y="696592"/>
                </a:lnTo>
                <a:lnTo>
                  <a:pt x="673450" y="708610"/>
                </a:lnTo>
                <a:lnTo>
                  <a:pt x="674264" y="717098"/>
                </a:lnTo>
                <a:lnTo>
                  <a:pt x="661892" y="719781"/>
                </a:lnTo>
                <a:lnTo>
                  <a:pt x="661691" y="729054"/>
                </a:lnTo>
                <a:lnTo>
                  <a:pt x="642897" y="731516"/>
                </a:lnTo>
                <a:lnTo>
                  <a:pt x="638432" y="737619"/>
                </a:lnTo>
                <a:lnTo>
                  <a:pt x="627629" y="735452"/>
                </a:lnTo>
                <a:lnTo>
                  <a:pt x="611946" y="749002"/>
                </a:lnTo>
                <a:lnTo>
                  <a:pt x="607813" y="744375"/>
                </a:lnTo>
                <a:lnTo>
                  <a:pt x="605606" y="754535"/>
                </a:lnTo>
                <a:lnTo>
                  <a:pt x="597008" y="749193"/>
                </a:lnTo>
                <a:lnTo>
                  <a:pt x="595698" y="760461"/>
                </a:lnTo>
                <a:lnTo>
                  <a:pt x="613978" y="778426"/>
                </a:lnTo>
                <a:lnTo>
                  <a:pt x="639900" y="850564"/>
                </a:lnTo>
                <a:lnTo>
                  <a:pt x="656952" y="862681"/>
                </a:lnTo>
                <a:lnTo>
                  <a:pt x="663228" y="886346"/>
                </a:lnTo>
                <a:lnTo>
                  <a:pt x="681120" y="885788"/>
                </a:lnTo>
                <a:lnTo>
                  <a:pt x="671429" y="904380"/>
                </a:lnTo>
                <a:lnTo>
                  <a:pt x="671465" y="918679"/>
                </a:lnTo>
                <a:lnTo>
                  <a:pt x="677560" y="927461"/>
                </a:lnTo>
                <a:lnTo>
                  <a:pt x="670255" y="931412"/>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2022 provincial petrol/diesel sales: GP"/>
          <p:cNvSpPr/>
          <p:nvPr/>
        </p:nvSpPr>
        <p:spPr>
          <a:xfrm>
            <a:off x="4200203" y="3074864"/>
            <a:ext cx="454565" cy="460165"/>
          </a:xfrm>
          <a:custGeom>
            <a:avLst/>
            <a:gdLst/>
            <a:ahLst/>
            <a:cxnLst/>
            <a:rect l="l" t="t" r="r" b="b"/>
            <a:pathLst>
              <a:path w="454565" h="460165">
                <a:moveTo>
                  <a:pt x="246514" y="449498"/>
                </a:moveTo>
                <a:lnTo>
                  <a:pt x="243273" y="460165"/>
                </a:lnTo>
                <a:lnTo>
                  <a:pt x="228722" y="439756"/>
                </a:lnTo>
                <a:lnTo>
                  <a:pt x="230697" y="450928"/>
                </a:lnTo>
                <a:lnTo>
                  <a:pt x="219045" y="450726"/>
                </a:lnTo>
                <a:lnTo>
                  <a:pt x="218342" y="439223"/>
                </a:lnTo>
                <a:lnTo>
                  <a:pt x="195684" y="425660"/>
                </a:lnTo>
                <a:lnTo>
                  <a:pt x="198939" y="422378"/>
                </a:lnTo>
                <a:lnTo>
                  <a:pt x="186869" y="393619"/>
                </a:lnTo>
                <a:lnTo>
                  <a:pt x="168322" y="403852"/>
                </a:lnTo>
                <a:lnTo>
                  <a:pt x="165097" y="412788"/>
                </a:lnTo>
                <a:lnTo>
                  <a:pt x="142680" y="413439"/>
                </a:lnTo>
                <a:lnTo>
                  <a:pt x="139507" y="425770"/>
                </a:lnTo>
                <a:lnTo>
                  <a:pt x="130189" y="415727"/>
                </a:lnTo>
                <a:lnTo>
                  <a:pt x="108222" y="418104"/>
                </a:lnTo>
                <a:lnTo>
                  <a:pt x="108575" y="408304"/>
                </a:lnTo>
                <a:lnTo>
                  <a:pt x="96656" y="407357"/>
                </a:lnTo>
                <a:lnTo>
                  <a:pt x="101779" y="397606"/>
                </a:lnTo>
                <a:lnTo>
                  <a:pt x="95071" y="403446"/>
                </a:lnTo>
                <a:lnTo>
                  <a:pt x="94268" y="385866"/>
                </a:lnTo>
                <a:lnTo>
                  <a:pt x="68108" y="381019"/>
                </a:lnTo>
                <a:lnTo>
                  <a:pt x="61335" y="385776"/>
                </a:lnTo>
                <a:lnTo>
                  <a:pt x="47935" y="366170"/>
                </a:lnTo>
                <a:lnTo>
                  <a:pt x="41695" y="365512"/>
                </a:lnTo>
                <a:lnTo>
                  <a:pt x="42780" y="376119"/>
                </a:lnTo>
                <a:lnTo>
                  <a:pt x="19156" y="381636"/>
                </a:lnTo>
                <a:lnTo>
                  <a:pt x="16350" y="364860"/>
                </a:lnTo>
                <a:lnTo>
                  <a:pt x="5824" y="365581"/>
                </a:lnTo>
                <a:lnTo>
                  <a:pt x="0" y="352613"/>
                </a:lnTo>
                <a:lnTo>
                  <a:pt x="17351" y="348113"/>
                </a:lnTo>
                <a:lnTo>
                  <a:pt x="7919" y="315311"/>
                </a:lnTo>
                <a:lnTo>
                  <a:pt x="41095" y="291372"/>
                </a:lnTo>
                <a:lnTo>
                  <a:pt x="32820" y="256138"/>
                </a:lnTo>
                <a:lnTo>
                  <a:pt x="48196" y="258987"/>
                </a:lnTo>
                <a:lnTo>
                  <a:pt x="49179" y="249050"/>
                </a:lnTo>
                <a:lnTo>
                  <a:pt x="62490" y="249780"/>
                </a:lnTo>
                <a:lnTo>
                  <a:pt x="73533" y="186114"/>
                </a:lnTo>
                <a:lnTo>
                  <a:pt x="93378" y="182379"/>
                </a:lnTo>
                <a:lnTo>
                  <a:pt x="115909" y="168676"/>
                </a:lnTo>
                <a:lnTo>
                  <a:pt x="116503" y="180104"/>
                </a:lnTo>
                <a:lnTo>
                  <a:pt x="125057" y="189196"/>
                </a:lnTo>
                <a:lnTo>
                  <a:pt x="138553" y="183064"/>
                </a:lnTo>
                <a:lnTo>
                  <a:pt x="138738" y="194415"/>
                </a:lnTo>
                <a:lnTo>
                  <a:pt x="159027" y="186072"/>
                </a:lnTo>
                <a:lnTo>
                  <a:pt x="165570" y="175652"/>
                </a:lnTo>
                <a:lnTo>
                  <a:pt x="173166" y="176877"/>
                </a:lnTo>
                <a:lnTo>
                  <a:pt x="170841" y="186783"/>
                </a:lnTo>
                <a:lnTo>
                  <a:pt x="189050" y="175490"/>
                </a:lnTo>
                <a:lnTo>
                  <a:pt x="186873" y="161057"/>
                </a:lnTo>
                <a:lnTo>
                  <a:pt x="193898" y="159106"/>
                </a:lnTo>
                <a:lnTo>
                  <a:pt x="186988" y="144558"/>
                </a:lnTo>
                <a:lnTo>
                  <a:pt x="188182" y="133926"/>
                </a:lnTo>
                <a:lnTo>
                  <a:pt x="194854" y="128793"/>
                </a:lnTo>
                <a:lnTo>
                  <a:pt x="189777" y="118397"/>
                </a:lnTo>
                <a:lnTo>
                  <a:pt x="195595" y="105789"/>
                </a:lnTo>
                <a:lnTo>
                  <a:pt x="211272" y="110474"/>
                </a:lnTo>
                <a:lnTo>
                  <a:pt x="212086" y="104419"/>
                </a:lnTo>
                <a:lnTo>
                  <a:pt x="198288" y="99534"/>
                </a:lnTo>
                <a:lnTo>
                  <a:pt x="208663" y="87662"/>
                </a:lnTo>
                <a:lnTo>
                  <a:pt x="188082" y="70825"/>
                </a:lnTo>
                <a:lnTo>
                  <a:pt x="194170" y="59787"/>
                </a:lnTo>
                <a:lnTo>
                  <a:pt x="201077" y="59054"/>
                </a:lnTo>
                <a:lnTo>
                  <a:pt x="211115" y="70121"/>
                </a:lnTo>
                <a:lnTo>
                  <a:pt x="226020" y="61617"/>
                </a:lnTo>
                <a:lnTo>
                  <a:pt x="241968" y="61736"/>
                </a:lnTo>
                <a:lnTo>
                  <a:pt x="242220" y="52212"/>
                </a:lnTo>
                <a:lnTo>
                  <a:pt x="247995" y="51115"/>
                </a:lnTo>
                <a:lnTo>
                  <a:pt x="254038" y="59066"/>
                </a:lnTo>
                <a:lnTo>
                  <a:pt x="270327" y="55704"/>
                </a:lnTo>
                <a:lnTo>
                  <a:pt x="270538" y="48303"/>
                </a:lnTo>
                <a:lnTo>
                  <a:pt x="289476" y="44138"/>
                </a:lnTo>
                <a:lnTo>
                  <a:pt x="290081" y="51593"/>
                </a:lnTo>
                <a:lnTo>
                  <a:pt x="318268" y="49240"/>
                </a:lnTo>
                <a:lnTo>
                  <a:pt x="320883" y="35843"/>
                </a:lnTo>
                <a:lnTo>
                  <a:pt x="339877" y="34676"/>
                </a:lnTo>
                <a:lnTo>
                  <a:pt x="348448" y="42739"/>
                </a:lnTo>
                <a:lnTo>
                  <a:pt x="359871" y="27810"/>
                </a:lnTo>
                <a:lnTo>
                  <a:pt x="345466" y="9834"/>
                </a:lnTo>
                <a:lnTo>
                  <a:pt x="375711" y="0"/>
                </a:lnTo>
                <a:lnTo>
                  <a:pt x="384126" y="30700"/>
                </a:lnTo>
                <a:lnTo>
                  <a:pt x="379368" y="28618"/>
                </a:lnTo>
                <a:lnTo>
                  <a:pt x="373234" y="45675"/>
                </a:lnTo>
                <a:lnTo>
                  <a:pt x="345730" y="56384"/>
                </a:lnTo>
                <a:lnTo>
                  <a:pt x="349096" y="71911"/>
                </a:lnTo>
                <a:lnTo>
                  <a:pt x="343104" y="90626"/>
                </a:lnTo>
                <a:lnTo>
                  <a:pt x="354959" y="141404"/>
                </a:lnTo>
                <a:lnTo>
                  <a:pt x="363187" y="146202"/>
                </a:lnTo>
                <a:lnTo>
                  <a:pt x="367054" y="133264"/>
                </a:lnTo>
                <a:lnTo>
                  <a:pt x="376770" y="137452"/>
                </a:lnTo>
                <a:lnTo>
                  <a:pt x="374225" y="152438"/>
                </a:lnTo>
                <a:lnTo>
                  <a:pt x="395174" y="147091"/>
                </a:lnTo>
                <a:lnTo>
                  <a:pt x="387265" y="136768"/>
                </a:lnTo>
                <a:lnTo>
                  <a:pt x="400535" y="141046"/>
                </a:lnTo>
                <a:lnTo>
                  <a:pt x="401275" y="136852"/>
                </a:lnTo>
                <a:lnTo>
                  <a:pt x="395170" y="117428"/>
                </a:lnTo>
                <a:lnTo>
                  <a:pt x="387107" y="118917"/>
                </a:lnTo>
                <a:lnTo>
                  <a:pt x="384681" y="110860"/>
                </a:lnTo>
                <a:lnTo>
                  <a:pt x="397673" y="100977"/>
                </a:lnTo>
                <a:lnTo>
                  <a:pt x="402649" y="107593"/>
                </a:lnTo>
                <a:lnTo>
                  <a:pt x="398652" y="118209"/>
                </a:lnTo>
                <a:lnTo>
                  <a:pt x="411017" y="107195"/>
                </a:lnTo>
                <a:lnTo>
                  <a:pt x="418877" y="126717"/>
                </a:lnTo>
                <a:lnTo>
                  <a:pt x="433263" y="120628"/>
                </a:lnTo>
                <a:lnTo>
                  <a:pt x="428705" y="111793"/>
                </a:lnTo>
                <a:lnTo>
                  <a:pt x="435131" y="105093"/>
                </a:lnTo>
                <a:lnTo>
                  <a:pt x="445453" y="109028"/>
                </a:lnTo>
                <a:lnTo>
                  <a:pt x="450646" y="100862"/>
                </a:lnTo>
                <a:lnTo>
                  <a:pt x="454565" y="112018"/>
                </a:lnTo>
                <a:lnTo>
                  <a:pt x="439496" y="118079"/>
                </a:lnTo>
                <a:lnTo>
                  <a:pt x="445887" y="138506"/>
                </a:lnTo>
                <a:lnTo>
                  <a:pt x="423461" y="145668"/>
                </a:lnTo>
                <a:lnTo>
                  <a:pt x="418825" y="159577"/>
                </a:lnTo>
                <a:lnTo>
                  <a:pt x="425802" y="163453"/>
                </a:lnTo>
                <a:lnTo>
                  <a:pt x="415186" y="183762"/>
                </a:lnTo>
                <a:lnTo>
                  <a:pt x="414674" y="200463"/>
                </a:lnTo>
                <a:lnTo>
                  <a:pt x="402934" y="195683"/>
                </a:lnTo>
                <a:lnTo>
                  <a:pt x="397388" y="230198"/>
                </a:lnTo>
                <a:lnTo>
                  <a:pt x="375755" y="231208"/>
                </a:lnTo>
                <a:lnTo>
                  <a:pt x="373343" y="223306"/>
                </a:lnTo>
                <a:lnTo>
                  <a:pt x="343378" y="219254"/>
                </a:lnTo>
                <a:lnTo>
                  <a:pt x="333609" y="227072"/>
                </a:lnTo>
                <a:lnTo>
                  <a:pt x="330425" y="241585"/>
                </a:lnTo>
                <a:lnTo>
                  <a:pt x="321206" y="238302"/>
                </a:lnTo>
                <a:lnTo>
                  <a:pt x="312882" y="242151"/>
                </a:lnTo>
                <a:lnTo>
                  <a:pt x="315705" y="246695"/>
                </a:lnTo>
                <a:lnTo>
                  <a:pt x="309546" y="258064"/>
                </a:lnTo>
                <a:lnTo>
                  <a:pt x="319320" y="270073"/>
                </a:lnTo>
                <a:lnTo>
                  <a:pt x="318077" y="283611"/>
                </a:lnTo>
                <a:lnTo>
                  <a:pt x="339052" y="290131"/>
                </a:lnTo>
                <a:lnTo>
                  <a:pt x="339792" y="301423"/>
                </a:lnTo>
                <a:lnTo>
                  <a:pt x="358592" y="314475"/>
                </a:lnTo>
                <a:lnTo>
                  <a:pt x="380717" y="306297"/>
                </a:lnTo>
                <a:lnTo>
                  <a:pt x="392941" y="330215"/>
                </a:lnTo>
                <a:lnTo>
                  <a:pt x="376309" y="336822"/>
                </a:lnTo>
                <a:lnTo>
                  <a:pt x="369624" y="360038"/>
                </a:lnTo>
                <a:lnTo>
                  <a:pt x="341594" y="356510"/>
                </a:lnTo>
                <a:lnTo>
                  <a:pt x="340503" y="366643"/>
                </a:lnTo>
                <a:lnTo>
                  <a:pt x="315436" y="354364"/>
                </a:lnTo>
                <a:lnTo>
                  <a:pt x="314843" y="376968"/>
                </a:lnTo>
                <a:lnTo>
                  <a:pt x="305099" y="381538"/>
                </a:lnTo>
                <a:lnTo>
                  <a:pt x="305897" y="388141"/>
                </a:lnTo>
                <a:lnTo>
                  <a:pt x="285052" y="392590"/>
                </a:lnTo>
                <a:lnTo>
                  <a:pt x="280686" y="408452"/>
                </a:lnTo>
                <a:lnTo>
                  <a:pt x="285860" y="419899"/>
                </a:lnTo>
                <a:lnTo>
                  <a:pt x="265593" y="427254"/>
                </a:lnTo>
                <a:lnTo>
                  <a:pt x="262743" y="449370"/>
                </a:lnTo>
                <a:lnTo>
                  <a:pt x="257061" y="445365"/>
                </a:lnTo>
                <a:lnTo>
                  <a:pt x="246514" y="449498"/>
                </a:lnTo>
                <a:close/>
              </a:path>
            </a:pathLst>
          </a:custGeom>
          <a:solidFill>
            <a:srgbClr val="0A2373"/>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2022 provincial petrol/diesel sales: KZN"/>
          <p:cNvSpPr/>
          <p:nvPr/>
        </p:nvSpPr>
        <p:spPr>
          <a:xfrm>
            <a:off x="4576800" y="3542692"/>
            <a:ext cx="946941" cy="1069830"/>
          </a:xfrm>
          <a:custGeom>
            <a:avLst/>
            <a:gdLst/>
            <a:ahLst/>
            <a:cxnLst/>
            <a:rect l="l" t="t" r="r" b="b"/>
            <a:pathLst>
              <a:path w="946941" h="1069830">
                <a:moveTo>
                  <a:pt x="270551" y="1069830"/>
                </a:moveTo>
                <a:lnTo>
                  <a:pt x="264247" y="1062786"/>
                </a:lnTo>
                <a:lnTo>
                  <a:pt x="266006" y="1056599"/>
                </a:lnTo>
                <a:lnTo>
                  <a:pt x="258588" y="1052074"/>
                </a:lnTo>
                <a:lnTo>
                  <a:pt x="263590" y="1043814"/>
                </a:lnTo>
                <a:lnTo>
                  <a:pt x="258902" y="1040504"/>
                </a:lnTo>
                <a:lnTo>
                  <a:pt x="262006" y="1030028"/>
                </a:lnTo>
                <a:lnTo>
                  <a:pt x="256477" y="1020983"/>
                </a:lnTo>
                <a:lnTo>
                  <a:pt x="245800" y="1017105"/>
                </a:lnTo>
                <a:lnTo>
                  <a:pt x="251330" y="1014166"/>
                </a:lnTo>
                <a:lnTo>
                  <a:pt x="235373" y="1012066"/>
                </a:lnTo>
                <a:lnTo>
                  <a:pt x="232559" y="1003992"/>
                </a:lnTo>
                <a:lnTo>
                  <a:pt x="223017" y="1005276"/>
                </a:lnTo>
                <a:lnTo>
                  <a:pt x="225045" y="997653"/>
                </a:lnTo>
                <a:lnTo>
                  <a:pt x="216133" y="998531"/>
                </a:lnTo>
                <a:lnTo>
                  <a:pt x="220282" y="989396"/>
                </a:lnTo>
                <a:lnTo>
                  <a:pt x="214374" y="988596"/>
                </a:lnTo>
                <a:lnTo>
                  <a:pt x="215655" y="994622"/>
                </a:lnTo>
                <a:lnTo>
                  <a:pt x="210885" y="996020"/>
                </a:lnTo>
                <a:lnTo>
                  <a:pt x="212663" y="989129"/>
                </a:lnTo>
                <a:lnTo>
                  <a:pt x="206332" y="992363"/>
                </a:lnTo>
                <a:lnTo>
                  <a:pt x="207911" y="985820"/>
                </a:lnTo>
                <a:lnTo>
                  <a:pt x="198913" y="986162"/>
                </a:lnTo>
                <a:lnTo>
                  <a:pt x="198254" y="979679"/>
                </a:lnTo>
                <a:lnTo>
                  <a:pt x="189568" y="977566"/>
                </a:lnTo>
                <a:lnTo>
                  <a:pt x="190991" y="969890"/>
                </a:lnTo>
                <a:lnTo>
                  <a:pt x="183889" y="968562"/>
                </a:lnTo>
                <a:lnTo>
                  <a:pt x="184948" y="972358"/>
                </a:lnTo>
                <a:lnTo>
                  <a:pt x="174776" y="975353"/>
                </a:lnTo>
                <a:lnTo>
                  <a:pt x="160570" y="960914"/>
                </a:lnTo>
                <a:lnTo>
                  <a:pt x="143974" y="965456"/>
                </a:lnTo>
                <a:lnTo>
                  <a:pt x="141665" y="957543"/>
                </a:lnTo>
                <a:lnTo>
                  <a:pt x="127856" y="952441"/>
                </a:lnTo>
                <a:lnTo>
                  <a:pt x="125452" y="946473"/>
                </a:lnTo>
                <a:lnTo>
                  <a:pt x="100709" y="950966"/>
                </a:lnTo>
                <a:lnTo>
                  <a:pt x="88088" y="958765"/>
                </a:lnTo>
                <a:lnTo>
                  <a:pt x="69949" y="945147"/>
                </a:lnTo>
                <a:lnTo>
                  <a:pt x="57412" y="944443"/>
                </a:lnTo>
                <a:lnTo>
                  <a:pt x="52437" y="949686"/>
                </a:lnTo>
                <a:lnTo>
                  <a:pt x="53166" y="943871"/>
                </a:lnTo>
                <a:lnTo>
                  <a:pt x="42233" y="940052"/>
                </a:lnTo>
                <a:lnTo>
                  <a:pt x="38049" y="933370"/>
                </a:lnTo>
                <a:lnTo>
                  <a:pt x="51262" y="926700"/>
                </a:lnTo>
                <a:lnTo>
                  <a:pt x="43982" y="921853"/>
                </a:lnTo>
                <a:lnTo>
                  <a:pt x="46454" y="915938"/>
                </a:lnTo>
                <a:lnTo>
                  <a:pt x="52367" y="917516"/>
                </a:lnTo>
                <a:lnTo>
                  <a:pt x="57436" y="896867"/>
                </a:lnTo>
                <a:lnTo>
                  <a:pt x="76775" y="887666"/>
                </a:lnTo>
                <a:lnTo>
                  <a:pt x="75775" y="882641"/>
                </a:lnTo>
                <a:lnTo>
                  <a:pt x="81926" y="883791"/>
                </a:lnTo>
                <a:lnTo>
                  <a:pt x="81802" y="868487"/>
                </a:lnTo>
                <a:lnTo>
                  <a:pt x="67891" y="854350"/>
                </a:lnTo>
                <a:lnTo>
                  <a:pt x="71497" y="864196"/>
                </a:lnTo>
                <a:lnTo>
                  <a:pt x="45572" y="852105"/>
                </a:lnTo>
                <a:lnTo>
                  <a:pt x="38923" y="830330"/>
                </a:lnTo>
                <a:lnTo>
                  <a:pt x="43778" y="810445"/>
                </a:lnTo>
                <a:lnTo>
                  <a:pt x="20988" y="784825"/>
                </a:lnTo>
                <a:lnTo>
                  <a:pt x="56217" y="764098"/>
                </a:lnTo>
                <a:lnTo>
                  <a:pt x="55020" y="755797"/>
                </a:lnTo>
                <a:lnTo>
                  <a:pt x="41609" y="745868"/>
                </a:lnTo>
                <a:lnTo>
                  <a:pt x="48578" y="740739"/>
                </a:lnTo>
                <a:lnTo>
                  <a:pt x="47329" y="725716"/>
                </a:lnTo>
                <a:lnTo>
                  <a:pt x="56159" y="704303"/>
                </a:lnTo>
                <a:lnTo>
                  <a:pt x="73345" y="693929"/>
                </a:lnTo>
                <a:lnTo>
                  <a:pt x="83879" y="695090"/>
                </a:lnTo>
                <a:lnTo>
                  <a:pt x="85067" y="680222"/>
                </a:lnTo>
                <a:lnTo>
                  <a:pt x="94129" y="676793"/>
                </a:lnTo>
                <a:lnTo>
                  <a:pt x="87774" y="656139"/>
                </a:lnTo>
                <a:lnTo>
                  <a:pt x="112808" y="645388"/>
                </a:lnTo>
                <a:lnTo>
                  <a:pt x="125562" y="618155"/>
                </a:lnTo>
                <a:lnTo>
                  <a:pt x="116150" y="586055"/>
                </a:lnTo>
                <a:lnTo>
                  <a:pt x="102094" y="579185"/>
                </a:lnTo>
                <a:lnTo>
                  <a:pt x="105297" y="564110"/>
                </a:lnTo>
                <a:lnTo>
                  <a:pt x="95909" y="551263"/>
                </a:lnTo>
                <a:lnTo>
                  <a:pt x="82879" y="553397"/>
                </a:lnTo>
                <a:lnTo>
                  <a:pt x="74583" y="536857"/>
                </a:lnTo>
                <a:lnTo>
                  <a:pt x="54602" y="524435"/>
                </a:lnTo>
                <a:lnTo>
                  <a:pt x="31758" y="498465"/>
                </a:lnTo>
                <a:lnTo>
                  <a:pt x="22757" y="506548"/>
                </a:lnTo>
                <a:lnTo>
                  <a:pt x="14119" y="492881"/>
                </a:lnTo>
                <a:lnTo>
                  <a:pt x="16309" y="484301"/>
                </a:lnTo>
                <a:lnTo>
                  <a:pt x="10527" y="480060"/>
                </a:lnTo>
                <a:lnTo>
                  <a:pt x="16686" y="478096"/>
                </a:lnTo>
                <a:lnTo>
                  <a:pt x="15697" y="472518"/>
                </a:lnTo>
                <a:lnTo>
                  <a:pt x="7471" y="466200"/>
                </a:lnTo>
                <a:lnTo>
                  <a:pt x="0" y="468943"/>
                </a:lnTo>
                <a:lnTo>
                  <a:pt x="5974" y="448700"/>
                </a:lnTo>
                <a:lnTo>
                  <a:pt x="16578" y="438817"/>
                </a:lnTo>
                <a:lnTo>
                  <a:pt x="24263" y="419530"/>
                </a:lnTo>
                <a:lnTo>
                  <a:pt x="52108" y="412929"/>
                </a:lnTo>
                <a:lnTo>
                  <a:pt x="60646" y="418655"/>
                </a:lnTo>
                <a:lnTo>
                  <a:pt x="69083" y="409663"/>
                </a:lnTo>
                <a:lnTo>
                  <a:pt x="74685" y="413703"/>
                </a:lnTo>
                <a:lnTo>
                  <a:pt x="79395" y="407215"/>
                </a:lnTo>
                <a:lnTo>
                  <a:pt x="74037" y="400556"/>
                </a:lnTo>
                <a:lnTo>
                  <a:pt x="87580" y="383401"/>
                </a:lnTo>
                <a:lnTo>
                  <a:pt x="96799" y="387057"/>
                </a:lnTo>
                <a:lnTo>
                  <a:pt x="116222" y="370867"/>
                </a:lnTo>
                <a:lnTo>
                  <a:pt x="125424" y="372233"/>
                </a:lnTo>
                <a:lnTo>
                  <a:pt x="141913" y="346294"/>
                </a:lnTo>
                <a:lnTo>
                  <a:pt x="173154" y="339553"/>
                </a:lnTo>
                <a:lnTo>
                  <a:pt x="175185" y="325425"/>
                </a:lnTo>
                <a:lnTo>
                  <a:pt x="183530" y="323575"/>
                </a:lnTo>
                <a:lnTo>
                  <a:pt x="182722" y="301207"/>
                </a:lnTo>
                <a:lnTo>
                  <a:pt x="174397" y="289827"/>
                </a:lnTo>
                <a:lnTo>
                  <a:pt x="182881" y="269638"/>
                </a:lnTo>
                <a:lnTo>
                  <a:pt x="189528" y="267521"/>
                </a:lnTo>
                <a:lnTo>
                  <a:pt x="183978" y="258560"/>
                </a:lnTo>
                <a:lnTo>
                  <a:pt x="192540" y="251840"/>
                </a:lnTo>
                <a:lnTo>
                  <a:pt x="194759" y="233683"/>
                </a:lnTo>
                <a:lnTo>
                  <a:pt x="202693" y="229796"/>
                </a:lnTo>
                <a:lnTo>
                  <a:pt x="196798" y="218971"/>
                </a:lnTo>
                <a:lnTo>
                  <a:pt x="198719" y="201581"/>
                </a:lnTo>
                <a:lnTo>
                  <a:pt x="190591" y="188983"/>
                </a:lnTo>
                <a:lnTo>
                  <a:pt x="217042" y="176250"/>
                </a:lnTo>
                <a:lnTo>
                  <a:pt x="211643" y="158207"/>
                </a:lnTo>
                <a:lnTo>
                  <a:pt x="200597" y="154307"/>
                </a:lnTo>
                <a:lnTo>
                  <a:pt x="206013" y="147952"/>
                </a:lnTo>
                <a:lnTo>
                  <a:pt x="200904" y="141053"/>
                </a:lnTo>
                <a:lnTo>
                  <a:pt x="212554" y="136597"/>
                </a:lnTo>
                <a:lnTo>
                  <a:pt x="220959" y="140805"/>
                </a:lnTo>
                <a:lnTo>
                  <a:pt x="231762" y="121085"/>
                </a:lnTo>
                <a:lnTo>
                  <a:pt x="245056" y="123370"/>
                </a:lnTo>
                <a:lnTo>
                  <a:pt x="249570" y="115514"/>
                </a:lnTo>
                <a:lnTo>
                  <a:pt x="271694" y="127486"/>
                </a:lnTo>
                <a:lnTo>
                  <a:pt x="288083" y="120726"/>
                </a:lnTo>
                <a:lnTo>
                  <a:pt x="300502" y="132752"/>
                </a:lnTo>
                <a:lnTo>
                  <a:pt x="313584" y="118407"/>
                </a:lnTo>
                <a:lnTo>
                  <a:pt x="321646" y="125303"/>
                </a:lnTo>
                <a:lnTo>
                  <a:pt x="332093" y="122648"/>
                </a:lnTo>
                <a:lnTo>
                  <a:pt x="333270" y="108831"/>
                </a:lnTo>
                <a:lnTo>
                  <a:pt x="352502" y="108979"/>
                </a:lnTo>
                <a:lnTo>
                  <a:pt x="353200" y="97674"/>
                </a:lnTo>
                <a:lnTo>
                  <a:pt x="366593" y="98890"/>
                </a:lnTo>
                <a:lnTo>
                  <a:pt x="365978" y="110422"/>
                </a:lnTo>
                <a:lnTo>
                  <a:pt x="370916" y="113919"/>
                </a:lnTo>
                <a:lnTo>
                  <a:pt x="382294" y="110508"/>
                </a:lnTo>
                <a:lnTo>
                  <a:pt x="402605" y="114181"/>
                </a:lnTo>
                <a:lnTo>
                  <a:pt x="432860" y="105539"/>
                </a:lnTo>
                <a:lnTo>
                  <a:pt x="444489" y="117004"/>
                </a:lnTo>
                <a:lnTo>
                  <a:pt x="448738" y="113732"/>
                </a:lnTo>
                <a:lnTo>
                  <a:pt x="455853" y="124673"/>
                </a:lnTo>
                <a:lnTo>
                  <a:pt x="464016" y="122287"/>
                </a:lnTo>
                <a:lnTo>
                  <a:pt x="466285" y="114550"/>
                </a:lnTo>
                <a:lnTo>
                  <a:pt x="479198" y="113231"/>
                </a:lnTo>
                <a:lnTo>
                  <a:pt x="482990" y="129575"/>
                </a:lnTo>
                <a:lnTo>
                  <a:pt x="519137" y="121562"/>
                </a:lnTo>
                <a:lnTo>
                  <a:pt x="533926" y="132251"/>
                </a:lnTo>
                <a:lnTo>
                  <a:pt x="560257" y="101489"/>
                </a:lnTo>
                <a:lnTo>
                  <a:pt x="609294" y="122549"/>
                </a:lnTo>
                <a:lnTo>
                  <a:pt x="719505" y="129340"/>
                </a:lnTo>
                <a:lnTo>
                  <a:pt x="721677" y="77892"/>
                </a:lnTo>
                <a:lnTo>
                  <a:pt x="734467" y="118"/>
                </a:lnTo>
                <a:lnTo>
                  <a:pt x="754869" y="0"/>
                </a:lnTo>
                <a:lnTo>
                  <a:pt x="758974" y="8890"/>
                </a:lnTo>
                <a:lnTo>
                  <a:pt x="772748" y="15945"/>
                </a:lnTo>
                <a:lnTo>
                  <a:pt x="781810" y="8714"/>
                </a:lnTo>
                <a:lnTo>
                  <a:pt x="806794" y="18198"/>
                </a:lnTo>
                <a:lnTo>
                  <a:pt x="934915" y="24748"/>
                </a:lnTo>
                <a:lnTo>
                  <a:pt x="946941" y="29161"/>
                </a:lnTo>
                <a:lnTo>
                  <a:pt x="931801" y="92016"/>
                </a:lnTo>
                <a:lnTo>
                  <a:pt x="888252" y="189222"/>
                </a:lnTo>
                <a:lnTo>
                  <a:pt x="865563" y="270227"/>
                </a:lnTo>
                <a:lnTo>
                  <a:pt x="851324" y="348836"/>
                </a:lnTo>
                <a:lnTo>
                  <a:pt x="817674" y="409994"/>
                </a:lnTo>
                <a:lnTo>
                  <a:pt x="813336" y="434627"/>
                </a:lnTo>
                <a:lnTo>
                  <a:pt x="800906" y="431554"/>
                </a:lnTo>
                <a:lnTo>
                  <a:pt x="786796" y="456942"/>
                </a:lnTo>
                <a:lnTo>
                  <a:pt x="704354" y="528481"/>
                </a:lnTo>
                <a:lnTo>
                  <a:pt x="645845" y="549010"/>
                </a:lnTo>
                <a:lnTo>
                  <a:pt x="546409" y="649299"/>
                </a:lnTo>
                <a:lnTo>
                  <a:pt x="478658" y="745275"/>
                </a:lnTo>
                <a:lnTo>
                  <a:pt x="472672" y="761240"/>
                </a:lnTo>
                <a:lnTo>
                  <a:pt x="477149" y="773018"/>
                </a:lnTo>
                <a:lnTo>
                  <a:pt x="435953" y="816798"/>
                </a:lnTo>
                <a:lnTo>
                  <a:pt x="353947" y="958657"/>
                </a:lnTo>
                <a:lnTo>
                  <a:pt x="277872" y="1066058"/>
                </a:lnTo>
                <a:lnTo>
                  <a:pt x="270551" y="1069830"/>
                </a:lnTo>
                <a:close/>
              </a:path>
            </a:pathLst>
          </a:custGeom>
          <a:solidFill>
            <a:srgbClr val="3D619D"/>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2022 provincial petrol/diesel sales: LP"/>
          <p:cNvSpPr/>
          <p:nvPr/>
        </p:nvSpPr>
        <p:spPr>
          <a:xfrm>
            <a:off x="4033528" y="2320210"/>
            <a:ext cx="1287007" cy="840746"/>
          </a:xfrm>
          <a:custGeom>
            <a:avLst/>
            <a:gdLst/>
            <a:ahLst/>
            <a:cxnLst/>
            <a:rect l="l" t="t" r="r" b="b"/>
            <a:pathLst>
              <a:path w="1287007" h="840746">
                <a:moveTo>
                  <a:pt x="512141" y="764488"/>
                </a:moveTo>
                <a:lnTo>
                  <a:pt x="526546" y="782464"/>
                </a:lnTo>
                <a:lnTo>
                  <a:pt x="515123" y="797393"/>
                </a:lnTo>
                <a:lnTo>
                  <a:pt x="508762" y="790076"/>
                </a:lnTo>
                <a:lnTo>
                  <a:pt x="499330" y="789101"/>
                </a:lnTo>
                <a:lnTo>
                  <a:pt x="484678" y="792792"/>
                </a:lnTo>
                <a:lnTo>
                  <a:pt x="484943" y="803894"/>
                </a:lnTo>
                <a:lnTo>
                  <a:pt x="456756" y="806247"/>
                </a:lnTo>
                <a:lnTo>
                  <a:pt x="456151" y="798792"/>
                </a:lnTo>
                <a:lnTo>
                  <a:pt x="437213" y="802957"/>
                </a:lnTo>
                <a:lnTo>
                  <a:pt x="425782" y="777721"/>
                </a:lnTo>
                <a:lnTo>
                  <a:pt x="400123" y="775207"/>
                </a:lnTo>
                <a:lnTo>
                  <a:pt x="398922" y="759851"/>
                </a:lnTo>
                <a:lnTo>
                  <a:pt x="390851" y="760356"/>
                </a:lnTo>
                <a:lnTo>
                  <a:pt x="388699" y="748006"/>
                </a:lnTo>
                <a:lnTo>
                  <a:pt x="405093" y="744950"/>
                </a:lnTo>
                <a:lnTo>
                  <a:pt x="409515" y="753559"/>
                </a:lnTo>
                <a:lnTo>
                  <a:pt x="419044" y="755888"/>
                </a:lnTo>
                <a:lnTo>
                  <a:pt x="429956" y="736313"/>
                </a:lnTo>
                <a:lnTo>
                  <a:pt x="398900" y="723830"/>
                </a:lnTo>
                <a:lnTo>
                  <a:pt x="397852" y="717333"/>
                </a:lnTo>
                <a:lnTo>
                  <a:pt x="378474" y="718350"/>
                </a:lnTo>
                <a:lnTo>
                  <a:pt x="366189" y="711019"/>
                </a:lnTo>
                <a:lnTo>
                  <a:pt x="357297" y="721889"/>
                </a:lnTo>
                <a:lnTo>
                  <a:pt x="320783" y="712166"/>
                </a:lnTo>
                <a:lnTo>
                  <a:pt x="296960" y="718747"/>
                </a:lnTo>
                <a:lnTo>
                  <a:pt x="283390" y="713178"/>
                </a:lnTo>
                <a:lnTo>
                  <a:pt x="276084" y="715874"/>
                </a:lnTo>
                <a:lnTo>
                  <a:pt x="275054" y="727243"/>
                </a:lnTo>
                <a:lnTo>
                  <a:pt x="262772" y="744503"/>
                </a:lnTo>
                <a:lnTo>
                  <a:pt x="248718" y="736315"/>
                </a:lnTo>
                <a:lnTo>
                  <a:pt x="214906" y="740953"/>
                </a:lnTo>
                <a:lnTo>
                  <a:pt x="209677" y="729167"/>
                </a:lnTo>
                <a:lnTo>
                  <a:pt x="199998" y="727614"/>
                </a:lnTo>
                <a:lnTo>
                  <a:pt x="188593" y="735247"/>
                </a:lnTo>
                <a:lnTo>
                  <a:pt x="190623" y="727286"/>
                </a:lnTo>
                <a:lnTo>
                  <a:pt x="184064" y="726419"/>
                </a:lnTo>
                <a:lnTo>
                  <a:pt x="189635" y="708825"/>
                </a:lnTo>
                <a:lnTo>
                  <a:pt x="179755" y="704708"/>
                </a:lnTo>
                <a:lnTo>
                  <a:pt x="172781" y="712363"/>
                </a:lnTo>
                <a:lnTo>
                  <a:pt x="160777" y="691988"/>
                </a:lnTo>
                <a:lnTo>
                  <a:pt x="146853" y="688413"/>
                </a:lnTo>
                <a:lnTo>
                  <a:pt x="144043" y="645355"/>
                </a:lnTo>
                <a:lnTo>
                  <a:pt x="132260" y="645684"/>
                </a:lnTo>
                <a:lnTo>
                  <a:pt x="133171" y="659777"/>
                </a:lnTo>
                <a:lnTo>
                  <a:pt x="85992" y="674875"/>
                </a:lnTo>
                <a:lnTo>
                  <a:pt x="79238" y="686344"/>
                </a:lnTo>
                <a:lnTo>
                  <a:pt x="49321" y="667257"/>
                </a:lnTo>
                <a:lnTo>
                  <a:pt x="11107" y="666678"/>
                </a:lnTo>
                <a:lnTo>
                  <a:pt x="3681" y="656816"/>
                </a:lnTo>
                <a:lnTo>
                  <a:pt x="4356" y="627949"/>
                </a:lnTo>
                <a:lnTo>
                  <a:pt x="0" y="624820"/>
                </a:lnTo>
                <a:lnTo>
                  <a:pt x="14719" y="610391"/>
                </a:lnTo>
                <a:lnTo>
                  <a:pt x="24189" y="584723"/>
                </a:lnTo>
                <a:lnTo>
                  <a:pt x="42482" y="565205"/>
                </a:lnTo>
                <a:lnTo>
                  <a:pt x="60437" y="557891"/>
                </a:lnTo>
                <a:lnTo>
                  <a:pt x="70061" y="542862"/>
                </a:lnTo>
                <a:lnTo>
                  <a:pt x="89291" y="539239"/>
                </a:lnTo>
                <a:lnTo>
                  <a:pt x="108252" y="525335"/>
                </a:lnTo>
                <a:lnTo>
                  <a:pt x="112549" y="509720"/>
                </a:lnTo>
                <a:lnTo>
                  <a:pt x="108178" y="506966"/>
                </a:lnTo>
                <a:lnTo>
                  <a:pt x="111683" y="502161"/>
                </a:lnTo>
                <a:lnTo>
                  <a:pt x="107432" y="488419"/>
                </a:lnTo>
                <a:lnTo>
                  <a:pt x="113273" y="484143"/>
                </a:lnTo>
                <a:lnTo>
                  <a:pt x="124887" y="450072"/>
                </a:lnTo>
                <a:lnTo>
                  <a:pt x="130601" y="429378"/>
                </a:lnTo>
                <a:lnTo>
                  <a:pt x="125295" y="423454"/>
                </a:lnTo>
                <a:lnTo>
                  <a:pt x="131605" y="418256"/>
                </a:lnTo>
                <a:lnTo>
                  <a:pt x="134967" y="385718"/>
                </a:lnTo>
                <a:lnTo>
                  <a:pt x="142340" y="382200"/>
                </a:lnTo>
                <a:lnTo>
                  <a:pt x="142672" y="370903"/>
                </a:lnTo>
                <a:lnTo>
                  <a:pt x="148059" y="371044"/>
                </a:lnTo>
                <a:lnTo>
                  <a:pt x="150796" y="380841"/>
                </a:lnTo>
                <a:lnTo>
                  <a:pt x="158548" y="377897"/>
                </a:lnTo>
                <a:lnTo>
                  <a:pt x="161123" y="370964"/>
                </a:lnTo>
                <a:lnTo>
                  <a:pt x="156116" y="363033"/>
                </a:lnTo>
                <a:lnTo>
                  <a:pt x="165658" y="360731"/>
                </a:lnTo>
                <a:lnTo>
                  <a:pt x="169947" y="350403"/>
                </a:lnTo>
                <a:lnTo>
                  <a:pt x="178771" y="352332"/>
                </a:lnTo>
                <a:lnTo>
                  <a:pt x="174334" y="340624"/>
                </a:lnTo>
                <a:lnTo>
                  <a:pt x="189811" y="343632"/>
                </a:lnTo>
                <a:lnTo>
                  <a:pt x="187935" y="334339"/>
                </a:lnTo>
                <a:lnTo>
                  <a:pt x="214058" y="325844"/>
                </a:lnTo>
                <a:lnTo>
                  <a:pt x="220758" y="310678"/>
                </a:lnTo>
                <a:lnTo>
                  <a:pt x="226247" y="309449"/>
                </a:lnTo>
                <a:lnTo>
                  <a:pt x="225314" y="316614"/>
                </a:lnTo>
                <a:lnTo>
                  <a:pt x="231143" y="317006"/>
                </a:lnTo>
                <a:lnTo>
                  <a:pt x="231971" y="309849"/>
                </a:lnTo>
                <a:lnTo>
                  <a:pt x="239366" y="307461"/>
                </a:lnTo>
                <a:lnTo>
                  <a:pt x="237569" y="313539"/>
                </a:lnTo>
                <a:lnTo>
                  <a:pt x="242374" y="317080"/>
                </a:lnTo>
                <a:lnTo>
                  <a:pt x="247318" y="306487"/>
                </a:lnTo>
                <a:lnTo>
                  <a:pt x="267775" y="307049"/>
                </a:lnTo>
                <a:lnTo>
                  <a:pt x="277054" y="295965"/>
                </a:lnTo>
                <a:lnTo>
                  <a:pt x="278806" y="276643"/>
                </a:lnTo>
                <a:lnTo>
                  <a:pt x="285574" y="272152"/>
                </a:lnTo>
                <a:lnTo>
                  <a:pt x="286024" y="264255"/>
                </a:lnTo>
                <a:lnTo>
                  <a:pt x="297091" y="266912"/>
                </a:lnTo>
                <a:lnTo>
                  <a:pt x="306645" y="259592"/>
                </a:lnTo>
                <a:lnTo>
                  <a:pt x="318839" y="268586"/>
                </a:lnTo>
                <a:lnTo>
                  <a:pt x="329433" y="253595"/>
                </a:lnTo>
                <a:lnTo>
                  <a:pt x="325200" y="244152"/>
                </a:lnTo>
                <a:lnTo>
                  <a:pt x="335450" y="244407"/>
                </a:lnTo>
                <a:lnTo>
                  <a:pt x="336607" y="237334"/>
                </a:lnTo>
                <a:lnTo>
                  <a:pt x="365746" y="224016"/>
                </a:lnTo>
                <a:lnTo>
                  <a:pt x="366099" y="201276"/>
                </a:lnTo>
                <a:lnTo>
                  <a:pt x="390458" y="189143"/>
                </a:lnTo>
                <a:lnTo>
                  <a:pt x="391925" y="168826"/>
                </a:lnTo>
                <a:lnTo>
                  <a:pt x="418258" y="153279"/>
                </a:lnTo>
                <a:lnTo>
                  <a:pt x="426238" y="132784"/>
                </a:lnTo>
                <a:lnTo>
                  <a:pt x="464615" y="104751"/>
                </a:lnTo>
                <a:lnTo>
                  <a:pt x="507775" y="109132"/>
                </a:lnTo>
                <a:lnTo>
                  <a:pt x="581494" y="85990"/>
                </a:lnTo>
                <a:lnTo>
                  <a:pt x="581345" y="79951"/>
                </a:lnTo>
                <a:lnTo>
                  <a:pt x="587701" y="76717"/>
                </a:lnTo>
                <a:lnTo>
                  <a:pt x="603630" y="78705"/>
                </a:lnTo>
                <a:lnTo>
                  <a:pt x="615656" y="58641"/>
                </a:lnTo>
                <a:lnTo>
                  <a:pt x="614941" y="41045"/>
                </a:lnTo>
                <a:lnTo>
                  <a:pt x="632404" y="18149"/>
                </a:lnTo>
                <a:lnTo>
                  <a:pt x="659582" y="18871"/>
                </a:lnTo>
                <a:lnTo>
                  <a:pt x="675855" y="9840"/>
                </a:lnTo>
                <a:lnTo>
                  <a:pt x="700164" y="12923"/>
                </a:lnTo>
                <a:lnTo>
                  <a:pt x="703490" y="17566"/>
                </a:lnTo>
                <a:lnTo>
                  <a:pt x="734497" y="8793"/>
                </a:lnTo>
                <a:lnTo>
                  <a:pt x="749601" y="12369"/>
                </a:lnTo>
                <a:lnTo>
                  <a:pt x="752497" y="6002"/>
                </a:lnTo>
                <a:lnTo>
                  <a:pt x="769375" y="7392"/>
                </a:lnTo>
                <a:lnTo>
                  <a:pt x="780697" y="0"/>
                </a:lnTo>
                <a:lnTo>
                  <a:pt x="808392" y="5207"/>
                </a:lnTo>
                <a:lnTo>
                  <a:pt x="834339" y="19780"/>
                </a:lnTo>
                <a:lnTo>
                  <a:pt x="844183" y="18983"/>
                </a:lnTo>
                <a:lnTo>
                  <a:pt x="854388" y="28133"/>
                </a:lnTo>
                <a:lnTo>
                  <a:pt x="865697" y="29802"/>
                </a:lnTo>
                <a:lnTo>
                  <a:pt x="867382" y="36178"/>
                </a:lnTo>
                <a:lnTo>
                  <a:pt x="890764" y="51796"/>
                </a:lnTo>
                <a:lnTo>
                  <a:pt x="915865" y="48953"/>
                </a:lnTo>
                <a:lnTo>
                  <a:pt x="929337" y="64951"/>
                </a:lnTo>
                <a:lnTo>
                  <a:pt x="977060" y="56810"/>
                </a:lnTo>
                <a:lnTo>
                  <a:pt x="1010676" y="63400"/>
                </a:lnTo>
                <a:lnTo>
                  <a:pt x="1018441" y="57276"/>
                </a:lnTo>
                <a:lnTo>
                  <a:pt x="1059544" y="54308"/>
                </a:lnTo>
                <a:lnTo>
                  <a:pt x="1119060" y="71737"/>
                </a:lnTo>
                <a:lnTo>
                  <a:pt x="1136993" y="67374"/>
                </a:lnTo>
                <a:lnTo>
                  <a:pt x="1148448" y="78207"/>
                </a:lnTo>
                <a:lnTo>
                  <a:pt x="1161618" y="78573"/>
                </a:lnTo>
                <a:lnTo>
                  <a:pt x="1170698" y="92956"/>
                </a:lnTo>
                <a:lnTo>
                  <a:pt x="1221661" y="294162"/>
                </a:lnTo>
                <a:lnTo>
                  <a:pt x="1217575" y="366559"/>
                </a:lnTo>
                <a:lnTo>
                  <a:pt x="1246205" y="405842"/>
                </a:lnTo>
                <a:lnTo>
                  <a:pt x="1246645" y="429533"/>
                </a:lnTo>
                <a:lnTo>
                  <a:pt x="1261382" y="472814"/>
                </a:lnTo>
                <a:lnTo>
                  <a:pt x="1286664" y="491433"/>
                </a:lnTo>
                <a:lnTo>
                  <a:pt x="1287007" y="499018"/>
                </a:lnTo>
                <a:lnTo>
                  <a:pt x="1270109" y="501848"/>
                </a:lnTo>
                <a:lnTo>
                  <a:pt x="1260341" y="497182"/>
                </a:lnTo>
                <a:lnTo>
                  <a:pt x="1251763" y="503920"/>
                </a:lnTo>
                <a:lnTo>
                  <a:pt x="1251528" y="512803"/>
                </a:lnTo>
                <a:lnTo>
                  <a:pt x="1243410" y="515904"/>
                </a:lnTo>
                <a:lnTo>
                  <a:pt x="1234010" y="503660"/>
                </a:lnTo>
                <a:lnTo>
                  <a:pt x="1224894" y="505514"/>
                </a:lnTo>
                <a:lnTo>
                  <a:pt x="1219147" y="513673"/>
                </a:lnTo>
                <a:lnTo>
                  <a:pt x="1212434" y="507362"/>
                </a:lnTo>
                <a:lnTo>
                  <a:pt x="1202967" y="512901"/>
                </a:lnTo>
                <a:lnTo>
                  <a:pt x="1184331" y="502511"/>
                </a:lnTo>
                <a:lnTo>
                  <a:pt x="1172360" y="514081"/>
                </a:lnTo>
                <a:lnTo>
                  <a:pt x="1167882" y="509932"/>
                </a:lnTo>
                <a:lnTo>
                  <a:pt x="1138745" y="520930"/>
                </a:lnTo>
                <a:lnTo>
                  <a:pt x="1124612" y="502297"/>
                </a:lnTo>
                <a:lnTo>
                  <a:pt x="1113305" y="511621"/>
                </a:lnTo>
                <a:lnTo>
                  <a:pt x="1095587" y="514236"/>
                </a:lnTo>
                <a:lnTo>
                  <a:pt x="1106853" y="516567"/>
                </a:lnTo>
                <a:lnTo>
                  <a:pt x="1105234" y="523896"/>
                </a:lnTo>
                <a:lnTo>
                  <a:pt x="1100816" y="523204"/>
                </a:lnTo>
                <a:lnTo>
                  <a:pt x="1103090" y="530577"/>
                </a:lnTo>
                <a:lnTo>
                  <a:pt x="1089184" y="540536"/>
                </a:lnTo>
                <a:lnTo>
                  <a:pt x="1089046" y="574972"/>
                </a:lnTo>
                <a:lnTo>
                  <a:pt x="1122930" y="572324"/>
                </a:lnTo>
                <a:lnTo>
                  <a:pt x="1132020" y="588266"/>
                </a:lnTo>
                <a:lnTo>
                  <a:pt x="1112719" y="589889"/>
                </a:lnTo>
                <a:lnTo>
                  <a:pt x="1111982" y="605682"/>
                </a:lnTo>
                <a:lnTo>
                  <a:pt x="1122225" y="603394"/>
                </a:lnTo>
                <a:lnTo>
                  <a:pt x="1133129" y="622549"/>
                </a:lnTo>
                <a:lnTo>
                  <a:pt x="1126030" y="636753"/>
                </a:lnTo>
                <a:lnTo>
                  <a:pt x="1063446" y="640319"/>
                </a:lnTo>
                <a:lnTo>
                  <a:pt x="1062980" y="624736"/>
                </a:lnTo>
                <a:lnTo>
                  <a:pt x="1043494" y="628205"/>
                </a:lnTo>
                <a:lnTo>
                  <a:pt x="1018043" y="606966"/>
                </a:lnTo>
                <a:lnTo>
                  <a:pt x="1010891" y="616428"/>
                </a:lnTo>
                <a:lnTo>
                  <a:pt x="1009704" y="644584"/>
                </a:lnTo>
                <a:lnTo>
                  <a:pt x="1003237" y="638571"/>
                </a:lnTo>
                <a:lnTo>
                  <a:pt x="997620" y="647846"/>
                </a:lnTo>
                <a:lnTo>
                  <a:pt x="1006250" y="669123"/>
                </a:lnTo>
                <a:lnTo>
                  <a:pt x="996230" y="676483"/>
                </a:lnTo>
                <a:lnTo>
                  <a:pt x="986467" y="675589"/>
                </a:lnTo>
                <a:lnTo>
                  <a:pt x="985526" y="681796"/>
                </a:lnTo>
                <a:lnTo>
                  <a:pt x="992458" y="686239"/>
                </a:lnTo>
                <a:lnTo>
                  <a:pt x="990181" y="695624"/>
                </a:lnTo>
                <a:lnTo>
                  <a:pt x="971599" y="714142"/>
                </a:lnTo>
                <a:lnTo>
                  <a:pt x="971557" y="721701"/>
                </a:lnTo>
                <a:lnTo>
                  <a:pt x="967522" y="716283"/>
                </a:lnTo>
                <a:lnTo>
                  <a:pt x="951827" y="720248"/>
                </a:lnTo>
                <a:lnTo>
                  <a:pt x="950927" y="730074"/>
                </a:lnTo>
                <a:lnTo>
                  <a:pt x="935874" y="704217"/>
                </a:lnTo>
                <a:lnTo>
                  <a:pt x="927702" y="702470"/>
                </a:lnTo>
                <a:lnTo>
                  <a:pt x="929038" y="708105"/>
                </a:lnTo>
                <a:lnTo>
                  <a:pt x="919418" y="702066"/>
                </a:lnTo>
                <a:lnTo>
                  <a:pt x="918761" y="710781"/>
                </a:lnTo>
                <a:lnTo>
                  <a:pt x="908299" y="710736"/>
                </a:lnTo>
                <a:lnTo>
                  <a:pt x="905977" y="706206"/>
                </a:lnTo>
                <a:lnTo>
                  <a:pt x="881571" y="702022"/>
                </a:lnTo>
                <a:lnTo>
                  <a:pt x="875584" y="735979"/>
                </a:lnTo>
                <a:lnTo>
                  <a:pt x="881292" y="748297"/>
                </a:lnTo>
                <a:lnTo>
                  <a:pt x="869667" y="746779"/>
                </a:lnTo>
                <a:lnTo>
                  <a:pt x="867788" y="770099"/>
                </a:lnTo>
                <a:lnTo>
                  <a:pt x="855325" y="770015"/>
                </a:lnTo>
                <a:lnTo>
                  <a:pt x="841755" y="753750"/>
                </a:lnTo>
                <a:lnTo>
                  <a:pt x="841547" y="758972"/>
                </a:lnTo>
                <a:lnTo>
                  <a:pt x="829639" y="760417"/>
                </a:lnTo>
                <a:lnTo>
                  <a:pt x="835279" y="774019"/>
                </a:lnTo>
                <a:lnTo>
                  <a:pt x="833536" y="824091"/>
                </a:lnTo>
                <a:lnTo>
                  <a:pt x="806104" y="822529"/>
                </a:lnTo>
                <a:lnTo>
                  <a:pt x="805828" y="829109"/>
                </a:lnTo>
                <a:lnTo>
                  <a:pt x="794597" y="834286"/>
                </a:lnTo>
                <a:lnTo>
                  <a:pt x="790217" y="827089"/>
                </a:lnTo>
                <a:lnTo>
                  <a:pt x="783899" y="827657"/>
                </a:lnTo>
                <a:lnTo>
                  <a:pt x="778202" y="837533"/>
                </a:lnTo>
                <a:lnTo>
                  <a:pt x="756117" y="829164"/>
                </a:lnTo>
                <a:lnTo>
                  <a:pt x="741688" y="835894"/>
                </a:lnTo>
                <a:lnTo>
                  <a:pt x="720733" y="836243"/>
                </a:lnTo>
                <a:lnTo>
                  <a:pt x="719693" y="840746"/>
                </a:lnTo>
                <a:lnTo>
                  <a:pt x="680680" y="834686"/>
                </a:lnTo>
                <a:lnTo>
                  <a:pt x="679134" y="826555"/>
                </a:lnTo>
                <a:lnTo>
                  <a:pt x="661083" y="826531"/>
                </a:lnTo>
                <a:lnTo>
                  <a:pt x="647508" y="836064"/>
                </a:lnTo>
                <a:lnTo>
                  <a:pt x="645175" y="824654"/>
                </a:lnTo>
                <a:lnTo>
                  <a:pt x="630058" y="829244"/>
                </a:lnTo>
                <a:lnTo>
                  <a:pt x="637975" y="820366"/>
                </a:lnTo>
                <a:lnTo>
                  <a:pt x="639054" y="807328"/>
                </a:lnTo>
                <a:lnTo>
                  <a:pt x="622406" y="811323"/>
                </a:lnTo>
                <a:lnTo>
                  <a:pt x="621334" y="803159"/>
                </a:lnTo>
                <a:lnTo>
                  <a:pt x="609423" y="799453"/>
                </a:lnTo>
                <a:lnTo>
                  <a:pt x="608092" y="792870"/>
                </a:lnTo>
                <a:lnTo>
                  <a:pt x="611447" y="764749"/>
                </a:lnTo>
                <a:lnTo>
                  <a:pt x="622390" y="767146"/>
                </a:lnTo>
                <a:lnTo>
                  <a:pt x="631650" y="758401"/>
                </a:lnTo>
                <a:lnTo>
                  <a:pt x="622389" y="755681"/>
                </a:lnTo>
                <a:lnTo>
                  <a:pt x="618593" y="745797"/>
                </a:lnTo>
                <a:lnTo>
                  <a:pt x="595529" y="746245"/>
                </a:lnTo>
                <a:lnTo>
                  <a:pt x="587508" y="728043"/>
                </a:lnTo>
                <a:lnTo>
                  <a:pt x="581721" y="729668"/>
                </a:lnTo>
                <a:lnTo>
                  <a:pt x="577764" y="716345"/>
                </a:lnTo>
                <a:lnTo>
                  <a:pt x="589612" y="711139"/>
                </a:lnTo>
                <a:lnTo>
                  <a:pt x="585736" y="702804"/>
                </a:lnTo>
                <a:lnTo>
                  <a:pt x="567395" y="710336"/>
                </a:lnTo>
                <a:lnTo>
                  <a:pt x="565428" y="705864"/>
                </a:lnTo>
                <a:lnTo>
                  <a:pt x="547284" y="704111"/>
                </a:lnTo>
                <a:lnTo>
                  <a:pt x="510826" y="726561"/>
                </a:lnTo>
                <a:lnTo>
                  <a:pt x="517090" y="740757"/>
                </a:lnTo>
                <a:lnTo>
                  <a:pt x="479507" y="747612"/>
                </a:lnTo>
                <a:lnTo>
                  <a:pt x="484220" y="758602"/>
                </a:lnTo>
                <a:lnTo>
                  <a:pt x="457083" y="763853"/>
                </a:lnTo>
                <a:lnTo>
                  <a:pt x="464138" y="776712"/>
                </a:lnTo>
                <a:lnTo>
                  <a:pt x="458469" y="778743"/>
                </a:lnTo>
                <a:lnTo>
                  <a:pt x="475920" y="776187"/>
                </a:lnTo>
                <a:lnTo>
                  <a:pt x="520102" y="754827"/>
                </a:lnTo>
                <a:lnTo>
                  <a:pt x="520506" y="762505"/>
                </a:lnTo>
                <a:lnTo>
                  <a:pt x="512141" y="764488"/>
                </a:lnTo>
                <a:close/>
              </a:path>
            </a:pathLst>
          </a:custGeom>
          <a:solidFill>
            <a:srgbClr val="E3EBF6"/>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2022 provincial petrol/diesel sales: MP"/>
          <p:cNvSpPr/>
          <p:nvPr/>
        </p:nvSpPr>
        <p:spPr>
          <a:xfrm>
            <a:off x="4447954" y="2817392"/>
            <a:ext cx="896564" cy="876875"/>
          </a:xfrm>
          <a:custGeom>
            <a:avLst/>
            <a:gdLst/>
            <a:ahLst/>
            <a:cxnLst/>
            <a:rect l="l" t="t" r="r" b="b"/>
            <a:pathLst>
              <a:path w="896564" h="876875">
                <a:moveTo>
                  <a:pt x="338721" y="859896"/>
                </a:moveTo>
                <a:lnTo>
                  <a:pt x="327756" y="863459"/>
                </a:lnTo>
                <a:lnTo>
                  <a:pt x="327855" y="874518"/>
                </a:lnTo>
                <a:lnTo>
                  <a:pt x="308947" y="876875"/>
                </a:lnTo>
                <a:lnTo>
                  <a:pt x="293159" y="857096"/>
                </a:lnTo>
                <a:lnTo>
                  <a:pt x="294735" y="848869"/>
                </a:lnTo>
                <a:lnTo>
                  <a:pt x="279308" y="838379"/>
                </a:lnTo>
                <a:lnTo>
                  <a:pt x="280433" y="830058"/>
                </a:lnTo>
                <a:lnTo>
                  <a:pt x="267835" y="810776"/>
                </a:lnTo>
                <a:lnTo>
                  <a:pt x="259421" y="807616"/>
                </a:lnTo>
                <a:lnTo>
                  <a:pt x="245605" y="812414"/>
                </a:lnTo>
                <a:lnTo>
                  <a:pt x="247000" y="798112"/>
                </a:lnTo>
                <a:lnTo>
                  <a:pt x="226861" y="793455"/>
                </a:lnTo>
                <a:lnTo>
                  <a:pt x="222153" y="781190"/>
                </a:lnTo>
                <a:lnTo>
                  <a:pt x="207447" y="780271"/>
                </a:lnTo>
                <a:lnTo>
                  <a:pt x="197484" y="787423"/>
                </a:lnTo>
                <a:lnTo>
                  <a:pt x="184264" y="763672"/>
                </a:lnTo>
                <a:lnTo>
                  <a:pt x="188645" y="759173"/>
                </a:lnTo>
                <a:lnTo>
                  <a:pt x="183686" y="744298"/>
                </a:lnTo>
                <a:lnTo>
                  <a:pt x="179098" y="750094"/>
                </a:lnTo>
                <a:lnTo>
                  <a:pt x="165286" y="740078"/>
                </a:lnTo>
                <a:lnTo>
                  <a:pt x="161648" y="745110"/>
                </a:lnTo>
                <a:lnTo>
                  <a:pt x="147726" y="745081"/>
                </a:lnTo>
                <a:lnTo>
                  <a:pt x="146223" y="756770"/>
                </a:lnTo>
                <a:lnTo>
                  <a:pt x="139468" y="747764"/>
                </a:lnTo>
                <a:lnTo>
                  <a:pt x="129294" y="751956"/>
                </a:lnTo>
                <a:lnTo>
                  <a:pt x="127451" y="743955"/>
                </a:lnTo>
                <a:lnTo>
                  <a:pt x="125057" y="748332"/>
                </a:lnTo>
                <a:lnTo>
                  <a:pt x="106269" y="732462"/>
                </a:lnTo>
                <a:lnTo>
                  <a:pt x="91424" y="727790"/>
                </a:lnTo>
                <a:lnTo>
                  <a:pt x="81855" y="737867"/>
                </a:lnTo>
                <a:lnTo>
                  <a:pt x="92927" y="738725"/>
                </a:lnTo>
                <a:lnTo>
                  <a:pt x="90667" y="745065"/>
                </a:lnTo>
                <a:lnTo>
                  <a:pt x="82488" y="741726"/>
                </a:lnTo>
                <a:lnTo>
                  <a:pt x="65148" y="756241"/>
                </a:lnTo>
                <a:lnTo>
                  <a:pt x="68803" y="749778"/>
                </a:lnTo>
                <a:lnTo>
                  <a:pt x="58526" y="740971"/>
                </a:lnTo>
                <a:lnTo>
                  <a:pt x="53054" y="726040"/>
                </a:lnTo>
                <a:lnTo>
                  <a:pt x="50460" y="734273"/>
                </a:lnTo>
                <a:lnTo>
                  <a:pt x="43513" y="729415"/>
                </a:lnTo>
                <a:lnTo>
                  <a:pt x="46762" y="733801"/>
                </a:lnTo>
                <a:lnTo>
                  <a:pt x="39017" y="741677"/>
                </a:lnTo>
                <a:lnTo>
                  <a:pt x="41601" y="735659"/>
                </a:lnTo>
                <a:lnTo>
                  <a:pt x="35225" y="721797"/>
                </a:lnTo>
                <a:lnTo>
                  <a:pt x="17950" y="724710"/>
                </a:lnTo>
                <a:lnTo>
                  <a:pt x="19404" y="718350"/>
                </a:lnTo>
                <a:lnTo>
                  <a:pt x="12775" y="722506"/>
                </a:lnTo>
                <a:lnTo>
                  <a:pt x="0" y="707804"/>
                </a:lnTo>
                <a:lnTo>
                  <a:pt x="9310" y="702837"/>
                </a:lnTo>
                <a:lnTo>
                  <a:pt x="14992" y="706842"/>
                </a:lnTo>
                <a:lnTo>
                  <a:pt x="17842" y="684726"/>
                </a:lnTo>
                <a:lnTo>
                  <a:pt x="38109" y="677371"/>
                </a:lnTo>
                <a:lnTo>
                  <a:pt x="32935" y="665924"/>
                </a:lnTo>
                <a:lnTo>
                  <a:pt x="37301" y="650062"/>
                </a:lnTo>
                <a:lnTo>
                  <a:pt x="58146" y="645613"/>
                </a:lnTo>
                <a:lnTo>
                  <a:pt x="57348" y="639010"/>
                </a:lnTo>
                <a:lnTo>
                  <a:pt x="67092" y="634440"/>
                </a:lnTo>
                <a:lnTo>
                  <a:pt x="67685" y="611836"/>
                </a:lnTo>
                <a:lnTo>
                  <a:pt x="92752" y="624115"/>
                </a:lnTo>
                <a:lnTo>
                  <a:pt x="93843" y="613982"/>
                </a:lnTo>
                <a:lnTo>
                  <a:pt x="121873" y="617510"/>
                </a:lnTo>
                <a:lnTo>
                  <a:pt x="128558" y="594294"/>
                </a:lnTo>
                <a:lnTo>
                  <a:pt x="145190" y="587687"/>
                </a:lnTo>
                <a:lnTo>
                  <a:pt x="132966" y="563769"/>
                </a:lnTo>
                <a:lnTo>
                  <a:pt x="110841" y="571947"/>
                </a:lnTo>
                <a:lnTo>
                  <a:pt x="92041" y="558895"/>
                </a:lnTo>
                <a:lnTo>
                  <a:pt x="91301" y="547603"/>
                </a:lnTo>
                <a:lnTo>
                  <a:pt x="70326" y="541083"/>
                </a:lnTo>
                <a:lnTo>
                  <a:pt x="71569" y="527545"/>
                </a:lnTo>
                <a:lnTo>
                  <a:pt x="61795" y="515536"/>
                </a:lnTo>
                <a:lnTo>
                  <a:pt x="67954" y="504167"/>
                </a:lnTo>
                <a:lnTo>
                  <a:pt x="65131" y="499623"/>
                </a:lnTo>
                <a:lnTo>
                  <a:pt x="73455" y="495774"/>
                </a:lnTo>
                <a:lnTo>
                  <a:pt x="82674" y="499057"/>
                </a:lnTo>
                <a:lnTo>
                  <a:pt x="85858" y="484544"/>
                </a:lnTo>
                <a:lnTo>
                  <a:pt x="95627" y="476726"/>
                </a:lnTo>
                <a:lnTo>
                  <a:pt x="125592" y="480778"/>
                </a:lnTo>
                <a:lnTo>
                  <a:pt x="128004" y="488680"/>
                </a:lnTo>
                <a:lnTo>
                  <a:pt x="149637" y="487670"/>
                </a:lnTo>
                <a:lnTo>
                  <a:pt x="155183" y="453155"/>
                </a:lnTo>
                <a:lnTo>
                  <a:pt x="166923" y="457935"/>
                </a:lnTo>
                <a:lnTo>
                  <a:pt x="167435" y="441234"/>
                </a:lnTo>
                <a:lnTo>
                  <a:pt x="178051" y="420925"/>
                </a:lnTo>
                <a:lnTo>
                  <a:pt x="171074" y="417049"/>
                </a:lnTo>
                <a:lnTo>
                  <a:pt x="175710" y="403140"/>
                </a:lnTo>
                <a:lnTo>
                  <a:pt x="198136" y="395978"/>
                </a:lnTo>
                <a:lnTo>
                  <a:pt x="191745" y="375551"/>
                </a:lnTo>
                <a:lnTo>
                  <a:pt x="206814" y="369490"/>
                </a:lnTo>
                <a:lnTo>
                  <a:pt x="202895" y="358334"/>
                </a:lnTo>
                <a:lnTo>
                  <a:pt x="197702" y="366500"/>
                </a:lnTo>
                <a:lnTo>
                  <a:pt x="187380" y="362565"/>
                </a:lnTo>
                <a:lnTo>
                  <a:pt x="180954" y="369265"/>
                </a:lnTo>
                <a:lnTo>
                  <a:pt x="185512" y="378100"/>
                </a:lnTo>
                <a:lnTo>
                  <a:pt x="171126" y="384189"/>
                </a:lnTo>
                <a:lnTo>
                  <a:pt x="163266" y="364667"/>
                </a:lnTo>
                <a:lnTo>
                  <a:pt x="150901" y="375681"/>
                </a:lnTo>
                <a:lnTo>
                  <a:pt x="154898" y="365065"/>
                </a:lnTo>
                <a:lnTo>
                  <a:pt x="149922" y="358449"/>
                </a:lnTo>
                <a:lnTo>
                  <a:pt x="136930" y="368332"/>
                </a:lnTo>
                <a:lnTo>
                  <a:pt x="139356" y="376389"/>
                </a:lnTo>
                <a:lnTo>
                  <a:pt x="147419" y="374900"/>
                </a:lnTo>
                <a:lnTo>
                  <a:pt x="153524" y="394324"/>
                </a:lnTo>
                <a:lnTo>
                  <a:pt x="152784" y="398518"/>
                </a:lnTo>
                <a:lnTo>
                  <a:pt x="139514" y="394240"/>
                </a:lnTo>
                <a:lnTo>
                  <a:pt x="147423" y="404563"/>
                </a:lnTo>
                <a:lnTo>
                  <a:pt x="126474" y="409910"/>
                </a:lnTo>
                <a:lnTo>
                  <a:pt x="129019" y="394924"/>
                </a:lnTo>
                <a:lnTo>
                  <a:pt x="119303" y="390736"/>
                </a:lnTo>
                <a:lnTo>
                  <a:pt x="115436" y="403674"/>
                </a:lnTo>
                <a:lnTo>
                  <a:pt x="109698" y="401597"/>
                </a:lnTo>
                <a:lnTo>
                  <a:pt x="97513" y="364347"/>
                </a:lnTo>
                <a:lnTo>
                  <a:pt x="96775" y="333700"/>
                </a:lnTo>
                <a:lnTo>
                  <a:pt x="101345" y="329383"/>
                </a:lnTo>
                <a:lnTo>
                  <a:pt x="97979" y="313856"/>
                </a:lnTo>
                <a:lnTo>
                  <a:pt x="125483" y="303147"/>
                </a:lnTo>
                <a:lnTo>
                  <a:pt x="131617" y="286090"/>
                </a:lnTo>
                <a:lnTo>
                  <a:pt x="136375" y="288172"/>
                </a:lnTo>
                <a:lnTo>
                  <a:pt x="127960" y="257472"/>
                </a:lnTo>
                <a:lnTo>
                  <a:pt x="106080" y="265323"/>
                </a:lnTo>
                <a:lnTo>
                  <a:pt x="105676" y="257645"/>
                </a:lnTo>
                <a:lnTo>
                  <a:pt x="61494" y="279005"/>
                </a:lnTo>
                <a:lnTo>
                  <a:pt x="44043" y="281561"/>
                </a:lnTo>
                <a:lnTo>
                  <a:pt x="49712" y="279530"/>
                </a:lnTo>
                <a:lnTo>
                  <a:pt x="42657" y="266671"/>
                </a:lnTo>
                <a:lnTo>
                  <a:pt x="69794" y="261420"/>
                </a:lnTo>
                <a:lnTo>
                  <a:pt x="65081" y="250430"/>
                </a:lnTo>
                <a:lnTo>
                  <a:pt x="102664" y="243575"/>
                </a:lnTo>
                <a:lnTo>
                  <a:pt x="96400" y="229379"/>
                </a:lnTo>
                <a:lnTo>
                  <a:pt x="132858" y="206929"/>
                </a:lnTo>
                <a:lnTo>
                  <a:pt x="151002" y="208682"/>
                </a:lnTo>
                <a:lnTo>
                  <a:pt x="152969" y="213154"/>
                </a:lnTo>
                <a:lnTo>
                  <a:pt x="171310" y="205622"/>
                </a:lnTo>
                <a:lnTo>
                  <a:pt x="175186" y="213957"/>
                </a:lnTo>
                <a:lnTo>
                  <a:pt x="163338" y="219163"/>
                </a:lnTo>
                <a:lnTo>
                  <a:pt x="167295" y="232486"/>
                </a:lnTo>
                <a:lnTo>
                  <a:pt x="173082" y="230861"/>
                </a:lnTo>
                <a:lnTo>
                  <a:pt x="181103" y="249063"/>
                </a:lnTo>
                <a:lnTo>
                  <a:pt x="204167" y="248615"/>
                </a:lnTo>
                <a:lnTo>
                  <a:pt x="207963" y="258499"/>
                </a:lnTo>
                <a:lnTo>
                  <a:pt x="217224" y="261219"/>
                </a:lnTo>
                <a:lnTo>
                  <a:pt x="207964" y="269964"/>
                </a:lnTo>
                <a:lnTo>
                  <a:pt x="197021" y="267567"/>
                </a:lnTo>
                <a:lnTo>
                  <a:pt x="193666" y="295688"/>
                </a:lnTo>
                <a:lnTo>
                  <a:pt x="194997" y="302271"/>
                </a:lnTo>
                <a:lnTo>
                  <a:pt x="206908" y="305977"/>
                </a:lnTo>
                <a:lnTo>
                  <a:pt x="207980" y="314141"/>
                </a:lnTo>
                <a:lnTo>
                  <a:pt x="224628" y="310146"/>
                </a:lnTo>
                <a:lnTo>
                  <a:pt x="223549" y="323184"/>
                </a:lnTo>
                <a:lnTo>
                  <a:pt x="215632" y="332062"/>
                </a:lnTo>
                <a:lnTo>
                  <a:pt x="230749" y="327472"/>
                </a:lnTo>
                <a:lnTo>
                  <a:pt x="233082" y="338882"/>
                </a:lnTo>
                <a:lnTo>
                  <a:pt x="246657" y="329349"/>
                </a:lnTo>
                <a:lnTo>
                  <a:pt x="264708" y="329373"/>
                </a:lnTo>
                <a:lnTo>
                  <a:pt x="266254" y="337504"/>
                </a:lnTo>
                <a:lnTo>
                  <a:pt x="305267" y="343564"/>
                </a:lnTo>
                <a:lnTo>
                  <a:pt x="306307" y="339061"/>
                </a:lnTo>
                <a:lnTo>
                  <a:pt x="327262" y="338712"/>
                </a:lnTo>
                <a:lnTo>
                  <a:pt x="341691" y="331982"/>
                </a:lnTo>
                <a:lnTo>
                  <a:pt x="363776" y="340351"/>
                </a:lnTo>
                <a:lnTo>
                  <a:pt x="369473" y="330475"/>
                </a:lnTo>
                <a:lnTo>
                  <a:pt x="375791" y="329907"/>
                </a:lnTo>
                <a:lnTo>
                  <a:pt x="380171" y="337104"/>
                </a:lnTo>
                <a:lnTo>
                  <a:pt x="391402" y="331927"/>
                </a:lnTo>
                <a:lnTo>
                  <a:pt x="391678" y="325347"/>
                </a:lnTo>
                <a:lnTo>
                  <a:pt x="419110" y="326909"/>
                </a:lnTo>
                <a:lnTo>
                  <a:pt x="420853" y="276837"/>
                </a:lnTo>
                <a:lnTo>
                  <a:pt x="415213" y="263235"/>
                </a:lnTo>
                <a:lnTo>
                  <a:pt x="427121" y="261790"/>
                </a:lnTo>
                <a:lnTo>
                  <a:pt x="427329" y="256568"/>
                </a:lnTo>
                <a:lnTo>
                  <a:pt x="440899" y="272833"/>
                </a:lnTo>
                <a:lnTo>
                  <a:pt x="453362" y="272917"/>
                </a:lnTo>
                <a:lnTo>
                  <a:pt x="455241" y="249597"/>
                </a:lnTo>
                <a:lnTo>
                  <a:pt x="466866" y="251115"/>
                </a:lnTo>
                <a:lnTo>
                  <a:pt x="461158" y="238797"/>
                </a:lnTo>
                <a:lnTo>
                  <a:pt x="467145" y="204840"/>
                </a:lnTo>
                <a:lnTo>
                  <a:pt x="491551" y="209024"/>
                </a:lnTo>
                <a:lnTo>
                  <a:pt x="493873" y="213554"/>
                </a:lnTo>
                <a:lnTo>
                  <a:pt x="504335" y="213599"/>
                </a:lnTo>
                <a:lnTo>
                  <a:pt x="504992" y="204884"/>
                </a:lnTo>
                <a:lnTo>
                  <a:pt x="514612" y="210923"/>
                </a:lnTo>
                <a:lnTo>
                  <a:pt x="513276" y="205288"/>
                </a:lnTo>
                <a:lnTo>
                  <a:pt x="521448" y="207035"/>
                </a:lnTo>
                <a:lnTo>
                  <a:pt x="536501" y="232892"/>
                </a:lnTo>
                <a:lnTo>
                  <a:pt x="537401" y="223066"/>
                </a:lnTo>
                <a:lnTo>
                  <a:pt x="553096" y="219101"/>
                </a:lnTo>
                <a:lnTo>
                  <a:pt x="557131" y="224519"/>
                </a:lnTo>
                <a:lnTo>
                  <a:pt x="557173" y="216960"/>
                </a:lnTo>
                <a:lnTo>
                  <a:pt x="575755" y="198442"/>
                </a:lnTo>
                <a:lnTo>
                  <a:pt x="578032" y="189057"/>
                </a:lnTo>
                <a:lnTo>
                  <a:pt x="571100" y="184614"/>
                </a:lnTo>
                <a:lnTo>
                  <a:pt x="572041" y="178407"/>
                </a:lnTo>
                <a:lnTo>
                  <a:pt x="581804" y="179301"/>
                </a:lnTo>
                <a:lnTo>
                  <a:pt x="591824" y="171941"/>
                </a:lnTo>
                <a:lnTo>
                  <a:pt x="583194" y="150664"/>
                </a:lnTo>
                <a:lnTo>
                  <a:pt x="588811" y="141389"/>
                </a:lnTo>
                <a:lnTo>
                  <a:pt x="595278" y="147402"/>
                </a:lnTo>
                <a:lnTo>
                  <a:pt x="596465" y="119246"/>
                </a:lnTo>
                <a:lnTo>
                  <a:pt x="603617" y="109784"/>
                </a:lnTo>
                <a:lnTo>
                  <a:pt x="629068" y="131023"/>
                </a:lnTo>
                <a:lnTo>
                  <a:pt x="648554" y="127554"/>
                </a:lnTo>
                <a:lnTo>
                  <a:pt x="649020" y="143137"/>
                </a:lnTo>
                <a:lnTo>
                  <a:pt x="711604" y="139571"/>
                </a:lnTo>
                <a:lnTo>
                  <a:pt x="718703" y="125367"/>
                </a:lnTo>
                <a:lnTo>
                  <a:pt x="707799" y="106212"/>
                </a:lnTo>
                <a:lnTo>
                  <a:pt x="697556" y="108500"/>
                </a:lnTo>
                <a:lnTo>
                  <a:pt x="698293" y="92707"/>
                </a:lnTo>
                <a:lnTo>
                  <a:pt x="717594" y="91084"/>
                </a:lnTo>
                <a:lnTo>
                  <a:pt x="708504" y="75142"/>
                </a:lnTo>
                <a:lnTo>
                  <a:pt x="674620" y="77790"/>
                </a:lnTo>
                <a:lnTo>
                  <a:pt x="674758" y="43354"/>
                </a:lnTo>
                <a:lnTo>
                  <a:pt x="688664" y="33395"/>
                </a:lnTo>
                <a:lnTo>
                  <a:pt x="686390" y="26022"/>
                </a:lnTo>
                <a:lnTo>
                  <a:pt x="690808" y="26714"/>
                </a:lnTo>
                <a:lnTo>
                  <a:pt x="692427" y="19385"/>
                </a:lnTo>
                <a:lnTo>
                  <a:pt x="681161" y="17054"/>
                </a:lnTo>
                <a:lnTo>
                  <a:pt x="698879" y="14439"/>
                </a:lnTo>
                <a:lnTo>
                  <a:pt x="710186" y="5115"/>
                </a:lnTo>
                <a:lnTo>
                  <a:pt x="724319" y="23748"/>
                </a:lnTo>
                <a:lnTo>
                  <a:pt x="753456" y="12750"/>
                </a:lnTo>
                <a:lnTo>
                  <a:pt x="757934" y="16899"/>
                </a:lnTo>
                <a:lnTo>
                  <a:pt x="769905" y="5329"/>
                </a:lnTo>
                <a:lnTo>
                  <a:pt x="788541" y="15719"/>
                </a:lnTo>
                <a:lnTo>
                  <a:pt x="798008" y="10180"/>
                </a:lnTo>
                <a:lnTo>
                  <a:pt x="804721" y="16491"/>
                </a:lnTo>
                <a:lnTo>
                  <a:pt x="810468" y="8332"/>
                </a:lnTo>
                <a:lnTo>
                  <a:pt x="819584" y="6478"/>
                </a:lnTo>
                <a:lnTo>
                  <a:pt x="828984" y="18722"/>
                </a:lnTo>
                <a:lnTo>
                  <a:pt x="837102" y="15621"/>
                </a:lnTo>
                <a:lnTo>
                  <a:pt x="837337" y="6738"/>
                </a:lnTo>
                <a:lnTo>
                  <a:pt x="845915" y="0"/>
                </a:lnTo>
                <a:lnTo>
                  <a:pt x="855683" y="4666"/>
                </a:lnTo>
                <a:lnTo>
                  <a:pt x="872581" y="1836"/>
                </a:lnTo>
                <a:lnTo>
                  <a:pt x="875641" y="52673"/>
                </a:lnTo>
                <a:lnTo>
                  <a:pt x="892549" y="84305"/>
                </a:lnTo>
                <a:lnTo>
                  <a:pt x="896564" y="123570"/>
                </a:lnTo>
                <a:lnTo>
                  <a:pt x="889922" y="183433"/>
                </a:lnTo>
                <a:lnTo>
                  <a:pt x="891006" y="309909"/>
                </a:lnTo>
                <a:lnTo>
                  <a:pt x="884377" y="360630"/>
                </a:lnTo>
                <a:lnTo>
                  <a:pt x="874332" y="383680"/>
                </a:lnTo>
                <a:lnTo>
                  <a:pt x="878604" y="427626"/>
                </a:lnTo>
                <a:lnTo>
                  <a:pt x="858443" y="476598"/>
                </a:lnTo>
                <a:lnTo>
                  <a:pt x="866827" y="505897"/>
                </a:lnTo>
                <a:lnTo>
                  <a:pt x="841795" y="516363"/>
                </a:lnTo>
                <a:lnTo>
                  <a:pt x="741335" y="438901"/>
                </a:lnTo>
                <a:lnTo>
                  <a:pt x="717840" y="443891"/>
                </a:lnTo>
                <a:lnTo>
                  <a:pt x="671908" y="487165"/>
                </a:lnTo>
                <a:lnTo>
                  <a:pt x="629726" y="572304"/>
                </a:lnTo>
                <a:lnTo>
                  <a:pt x="613016" y="586622"/>
                </a:lnTo>
                <a:lnTo>
                  <a:pt x="591340" y="622934"/>
                </a:lnTo>
                <a:lnTo>
                  <a:pt x="585169" y="685554"/>
                </a:lnTo>
                <a:lnTo>
                  <a:pt x="588592" y="719331"/>
                </a:lnTo>
                <a:lnTo>
                  <a:pt x="607461" y="705275"/>
                </a:lnTo>
                <a:lnTo>
                  <a:pt x="610107" y="724586"/>
                </a:lnTo>
                <a:lnTo>
                  <a:pt x="624650" y="737672"/>
                </a:lnTo>
                <a:lnTo>
                  <a:pt x="620138" y="758950"/>
                </a:lnTo>
                <a:lnTo>
                  <a:pt x="625627" y="770714"/>
                </a:lnTo>
                <a:lnTo>
                  <a:pt x="661405" y="814826"/>
                </a:lnTo>
                <a:lnTo>
                  <a:pt x="689103" y="826789"/>
                </a:lnTo>
                <a:lnTo>
                  <a:pt x="662772" y="857551"/>
                </a:lnTo>
                <a:lnTo>
                  <a:pt x="647983" y="846862"/>
                </a:lnTo>
                <a:lnTo>
                  <a:pt x="611836" y="854875"/>
                </a:lnTo>
                <a:lnTo>
                  <a:pt x="608044" y="838531"/>
                </a:lnTo>
                <a:lnTo>
                  <a:pt x="595131" y="839850"/>
                </a:lnTo>
                <a:lnTo>
                  <a:pt x="592862" y="847587"/>
                </a:lnTo>
                <a:lnTo>
                  <a:pt x="584699" y="849973"/>
                </a:lnTo>
                <a:lnTo>
                  <a:pt x="577584" y="839032"/>
                </a:lnTo>
                <a:lnTo>
                  <a:pt x="573335" y="842304"/>
                </a:lnTo>
                <a:lnTo>
                  <a:pt x="561706" y="830839"/>
                </a:lnTo>
                <a:lnTo>
                  <a:pt x="531451" y="839481"/>
                </a:lnTo>
                <a:lnTo>
                  <a:pt x="511140" y="835808"/>
                </a:lnTo>
                <a:lnTo>
                  <a:pt x="499762" y="839219"/>
                </a:lnTo>
                <a:lnTo>
                  <a:pt x="494824" y="835722"/>
                </a:lnTo>
                <a:lnTo>
                  <a:pt x="495439" y="824190"/>
                </a:lnTo>
                <a:lnTo>
                  <a:pt x="482046" y="822974"/>
                </a:lnTo>
                <a:lnTo>
                  <a:pt x="481348" y="834279"/>
                </a:lnTo>
                <a:lnTo>
                  <a:pt x="462116" y="834131"/>
                </a:lnTo>
                <a:lnTo>
                  <a:pt x="460939" y="847948"/>
                </a:lnTo>
                <a:lnTo>
                  <a:pt x="450492" y="850603"/>
                </a:lnTo>
                <a:lnTo>
                  <a:pt x="442430" y="843707"/>
                </a:lnTo>
                <a:lnTo>
                  <a:pt x="429348" y="858052"/>
                </a:lnTo>
                <a:lnTo>
                  <a:pt x="416929" y="846026"/>
                </a:lnTo>
                <a:lnTo>
                  <a:pt x="400540" y="852786"/>
                </a:lnTo>
                <a:lnTo>
                  <a:pt x="378416" y="840814"/>
                </a:lnTo>
                <a:lnTo>
                  <a:pt x="373902" y="848670"/>
                </a:lnTo>
                <a:lnTo>
                  <a:pt x="360608" y="846385"/>
                </a:lnTo>
                <a:lnTo>
                  <a:pt x="349805" y="866105"/>
                </a:lnTo>
                <a:lnTo>
                  <a:pt x="338721" y="859896"/>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2022 provincial petrol/diesel sales: NW"/>
          <p:cNvSpPr/>
          <p:nvPr/>
        </p:nvSpPr>
        <p:spPr>
          <a:xfrm>
            <a:off x="3157044" y="2942563"/>
            <a:ext cx="1313825" cy="886727"/>
          </a:xfrm>
          <a:custGeom>
            <a:avLst/>
            <a:gdLst/>
            <a:ahLst/>
            <a:cxnLst/>
            <a:rect l="l" t="t" r="r" b="b"/>
            <a:pathLst>
              <a:path w="1313825" h="886727">
                <a:moveTo>
                  <a:pt x="1144938" y="529907"/>
                </a:moveTo>
                <a:lnTo>
                  <a:pt x="1138230" y="551828"/>
                </a:lnTo>
                <a:lnTo>
                  <a:pt x="1123004" y="553313"/>
                </a:lnTo>
                <a:lnTo>
                  <a:pt x="1123140" y="566629"/>
                </a:lnTo>
                <a:lnTo>
                  <a:pt x="1100495" y="588626"/>
                </a:lnTo>
                <a:lnTo>
                  <a:pt x="1082166" y="569994"/>
                </a:lnTo>
                <a:lnTo>
                  <a:pt x="1076000" y="569661"/>
                </a:lnTo>
                <a:lnTo>
                  <a:pt x="1051903" y="601718"/>
                </a:lnTo>
                <a:lnTo>
                  <a:pt x="1045248" y="598523"/>
                </a:lnTo>
                <a:lnTo>
                  <a:pt x="1045993" y="587390"/>
                </a:lnTo>
                <a:lnTo>
                  <a:pt x="1038370" y="591609"/>
                </a:lnTo>
                <a:lnTo>
                  <a:pt x="1031461" y="587500"/>
                </a:lnTo>
                <a:lnTo>
                  <a:pt x="1011983" y="589621"/>
                </a:lnTo>
                <a:lnTo>
                  <a:pt x="992122" y="572815"/>
                </a:lnTo>
                <a:lnTo>
                  <a:pt x="987057" y="598817"/>
                </a:lnTo>
                <a:lnTo>
                  <a:pt x="974310" y="584659"/>
                </a:lnTo>
                <a:lnTo>
                  <a:pt x="966654" y="592328"/>
                </a:lnTo>
                <a:lnTo>
                  <a:pt x="960862" y="587802"/>
                </a:lnTo>
                <a:lnTo>
                  <a:pt x="940196" y="598224"/>
                </a:lnTo>
                <a:lnTo>
                  <a:pt x="933913" y="609406"/>
                </a:lnTo>
                <a:lnTo>
                  <a:pt x="929421" y="603366"/>
                </a:lnTo>
                <a:lnTo>
                  <a:pt x="918064" y="605454"/>
                </a:lnTo>
                <a:lnTo>
                  <a:pt x="909321" y="618053"/>
                </a:lnTo>
                <a:lnTo>
                  <a:pt x="909538" y="632093"/>
                </a:lnTo>
                <a:lnTo>
                  <a:pt x="897031" y="627580"/>
                </a:lnTo>
                <a:lnTo>
                  <a:pt x="884125" y="643566"/>
                </a:lnTo>
                <a:lnTo>
                  <a:pt x="874041" y="642445"/>
                </a:lnTo>
                <a:lnTo>
                  <a:pt x="871966" y="647064"/>
                </a:lnTo>
                <a:lnTo>
                  <a:pt x="889289" y="672684"/>
                </a:lnTo>
                <a:lnTo>
                  <a:pt x="888258" y="685797"/>
                </a:lnTo>
                <a:lnTo>
                  <a:pt x="884205" y="682985"/>
                </a:lnTo>
                <a:lnTo>
                  <a:pt x="877437" y="693484"/>
                </a:lnTo>
                <a:lnTo>
                  <a:pt x="892070" y="705326"/>
                </a:lnTo>
                <a:lnTo>
                  <a:pt x="878582" y="702718"/>
                </a:lnTo>
                <a:lnTo>
                  <a:pt x="871944" y="708039"/>
                </a:lnTo>
                <a:lnTo>
                  <a:pt x="854341" y="702334"/>
                </a:lnTo>
                <a:lnTo>
                  <a:pt x="849287" y="714444"/>
                </a:lnTo>
                <a:lnTo>
                  <a:pt x="842824" y="709991"/>
                </a:lnTo>
                <a:lnTo>
                  <a:pt x="830620" y="713862"/>
                </a:lnTo>
                <a:lnTo>
                  <a:pt x="827382" y="734468"/>
                </a:lnTo>
                <a:lnTo>
                  <a:pt x="794198" y="755449"/>
                </a:lnTo>
                <a:lnTo>
                  <a:pt x="794521" y="768889"/>
                </a:lnTo>
                <a:lnTo>
                  <a:pt x="787302" y="774241"/>
                </a:lnTo>
                <a:lnTo>
                  <a:pt x="796394" y="779661"/>
                </a:lnTo>
                <a:lnTo>
                  <a:pt x="789748" y="786928"/>
                </a:lnTo>
                <a:lnTo>
                  <a:pt x="780673" y="790937"/>
                </a:lnTo>
                <a:lnTo>
                  <a:pt x="770813" y="763366"/>
                </a:lnTo>
                <a:lnTo>
                  <a:pt x="762931" y="764761"/>
                </a:lnTo>
                <a:lnTo>
                  <a:pt x="757748" y="757192"/>
                </a:lnTo>
                <a:lnTo>
                  <a:pt x="742622" y="762276"/>
                </a:lnTo>
                <a:lnTo>
                  <a:pt x="735729" y="747640"/>
                </a:lnTo>
                <a:lnTo>
                  <a:pt x="701796" y="763513"/>
                </a:lnTo>
                <a:lnTo>
                  <a:pt x="698496" y="779913"/>
                </a:lnTo>
                <a:lnTo>
                  <a:pt x="681698" y="769935"/>
                </a:lnTo>
                <a:lnTo>
                  <a:pt x="673713" y="777948"/>
                </a:lnTo>
                <a:lnTo>
                  <a:pt x="636958" y="788547"/>
                </a:lnTo>
                <a:lnTo>
                  <a:pt x="624604" y="804945"/>
                </a:lnTo>
                <a:lnTo>
                  <a:pt x="609741" y="805766"/>
                </a:lnTo>
                <a:lnTo>
                  <a:pt x="601381" y="815483"/>
                </a:lnTo>
                <a:lnTo>
                  <a:pt x="604943" y="823338"/>
                </a:lnTo>
                <a:lnTo>
                  <a:pt x="577519" y="838684"/>
                </a:lnTo>
                <a:lnTo>
                  <a:pt x="567757" y="853700"/>
                </a:lnTo>
                <a:lnTo>
                  <a:pt x="571574" y="860835"/>
                </a:lnTo>
                <a:lnTo>
                  <a:pt x="563947" y="874635"/>
                </a:lnTo>
                <a:lnTo>
                  <a:pt x="541155" y="878496"/>
                </a:lnTo>
                <a:lnTo>
                  <a:pt x="535991" y="886727"/>
                </a:lnTo>
                <a:lnTo>
                  <a:pt x="508545" y="840234"/>
                </a:lnTo>
                <a:lnTo>
                  <a:pt x="514811" y="838702"/>
                </a:lnTo>
                <a:lnTo>
                  <a:pt x="512417" y="835089"/>
                </a:lnTo>
                <a:lnTo>
                  <a:pt x="558095" y="781002"/>
                </a:lnTo>
                <a:lnTo>
                  <a:pt x="547127" y="776165"/>
                </a:lnTo>
                <a:lnTo>
                  <a:pt x="501937" y="781559"/>
                </a:lnTo>
                <a:lnTo>
                  <a:pt x="498061" y="756728"/>
                </a:lnTo>
                <a:lnTo>
                  <a:pt x="491787" y="758006"/>
                </a:lnTo>
                <a:lnTo>
                  <a:pt x="493002" y="764050"/>
                </a:lnTo>
                <a:lnTo>
                  <a:pt x="477122" y="767150"/>
                </a:lnTo>
                <a:lnTo>
                  <a:pt x="473922" y="772706"/>
                </a:lnTo>
                <a:lnTo>
                  <a:pt x="477506" y="790271"/>
                </a:lnTo>
                <a:lnTo>
                  <a:pt x="469569" y="804429"/>
                </a:lnTo>
                <a:lnTo>
                  <a:pt x="478278" y="818886"/>
                </a:lnTo>
                <a:lnTo>
                  <a:pt x="469531" y="820214"/>
                </a:lnTo>
                <a:lnTo>
                  <a:pt x="463149" y="833084"/>
                </a:lnTo>
                <a:lnTo>
                  <a:pt x="457932" y="831950"/>
                </a:lnTo>
                <a:lnTo>
                  <a:pt x="462832" y="857786"/>
                </a:lnTo>
                <a:lnTo>
                  <a:pt x="458454" y="864891"/>
                </a:lnTo>
                <a:lnTo>
                  <a:pt x="447237" y="867879"/>
                </a:lnTo>
                <a:lnTo>
                  <a:pt x="448223" y="875866"/>
                </a:lnTo>
                <a:lnTo>
                  <a:pt x="441654" y="881534"/>
                </a:lnTo>
                <a:lnTo>
                  <a:pt x="421158" y="866228"/>
                </a:lnTo>
                <a:lnTo>
                  <a:pt x="426260" y="853076"/>
                </a:lnTo>
                <a:lnTo>
                  <a:pt x="413172" y="838493"/>
                </a:lnTo>
                <a:lnTo>
                  <a:pt x="409250" y="843180"/>
                </a:lnTo>
                <a:lnTo>
                  <a:pt x="401914" y="835321"/>
                </a:lnTo>
                <a:lnTo>
                  <a:pt x="422688" y="802455"/>
                </a:lnTo>
                <a:lnTo>
                  <a:pt x="412718" y="797020"/>
                </a:lnTo>
                <a:lnTo>
                  <a:pt x="421276" y="782085"/>
                </a:lnTo>
                <a:lnTo>
                  <a:pt x="411809" y="776590"/>
                </a:lnTo>
                <a:lnTo>
                  <a:pt x="344929" y="791782"/>
                </a:lnTo>
                <a:lnTo>
                  <a:pt x="340846" y="783101"/>
                </a:lnTo>
                <a:lnTo>
                  <a:pt x="346446" y="761793"/>
                </a:lnTo>
                <a:lnTo>
                  <a:pt x="330919" y="757050"/>
                </a:lnTo>
                <a:lnTo>
                  <a:pt x="330515" y="745765"/>
                </a:lnTo>
                <a:lnTo>
                  <a:pt x="338568" y="693263"/>
                </a:lnTo>
                <a:lnTo>
                  <a:pt x="295004" y="667847"/>
                </a:lnTo>
                <a:lnTo>
                  <a:pt x="312823" y="623379"/>
                </a:lnTo>
                <a:lnTo>
                  <a:pt x="326825" y="616706"/>
                </a:lnTo>
                <a:lnTo>
                  <a:pt x="311131" y="576058"/>
                </a:lnTo>
                <a:lnTo>
                  <a:pt x="298790" y="566878"/>
                </a:lnTo>
                <a:lnTo>
                  <a:pt x="287919" y="566691"/>
                </a:lnTo>
                <a:lnTo>
                  <a:pt x="284266" y="575262"/>
                </a:lnTo>
                <a:lnTo>
                  <a:pt x="199870" y="537732"/>
                </a:lnTo>
                <a:lnTo>
                  <a:pt x="221696" y="506135"/>
                </a:lnTo>
                <a:lnTo>
                  <a:pt x="193669" y="484475"/>
                </a:lnTo>
                <a:lnTo>
                  <a:pt x="148306" y="473407"/>
                </a:lnTo>
                <a:lnTo>
                  <a:pt x="151396" y="436056"/>
                </a:lnTo>
                <a:lnTo>
                  <a:pt x="137258" y="418826"/>
                </a:lnTo>
                <a:lnTo>
                  <a:pt x="157387" y="385454"/>
                </a:lnTo>
                <a:lnTo>
                  <a:pt x="135334" y="379093"/>
                </a:lnTo>
                <a:lnTo>
                  <a:pt x="138879" y="362927"/>
                </a:lnTo>
                <a:lnTo>
                  <a:pt x="167114" y="371934"/>
                </a:lnTo>
                <a:lnTo>
                  <a:pt x="174573" y="350537"/>
                </a:lnTo>
                <a:lnTo>
                  <a:pt x="105070" y="345512"/>
                </a:lnTo>
                <a:lnTo>
                  <a:pt x="100413" y="375366"/>
                </a:lnTo>
                <a:lnTo>
                  <a:pt x="82427" y="373337"/>
                </a:lnTo>
                <a:lnTo>
                  <a:pt x="81322" y="389353"/>
                </a:lnTo>
                <a:lnTo>
                  <a:pt x="64200" y="387945"/>
                </a:lnTo>
                <a:lnTo>
                  <a:pt x="51671" y="446956"/>
                </a:lnTo>
                <a:lnTo>
                  <a:pt x="41594" y="467028"/>
                </a:lnTo>
                <a:lnTo>
                  <a:pt x="19681" y="456498"/>
                </a:lnTo>
                <a:lnTo>
                  <a:pt x="16984" y="382133"/>
                </a:lnTo>
                <a:lnTo>
                  <a:pt x="327" y="383151"/>
                </a:lnTo>
                <a:lnTo>
                  <a:pt x="0" y="376536"/>
                </a:lnTo>
                <a:lnTo>
                  <a:pt x="9877" y="370462"/>
                </a:lnTo>
                <a:lnTo>
                  <a:pt x="8532" y="355384"/>
                </a:lnTo>
                <a:lnTo>
                  <a:pt x="21732" y="354858"/>
                </a:lnTo>
                <a:lnTo>
                  <a:pt x="21045" y="338658"/>
                </a:lnTo>
                <a:lnTo>
                  <a:pt x="26757" y="330348"/>
                </a:lnTo>
                <a:lnTo>
                  <a:pt x="18041" y="324109"/>
                </a:lnTo>
                <a:lnTo>
                  <a:pt x="33853" y="306293"/>
                </a:lnTo>
                <a:lnTo>
                  <a:pt x="22805" y="298636"/>
                </a:lnTo>
                <a:lnTo>
                  <a:pt x="28511" y="297252"/>
                </a:lnTo>
                <a:lnTo>
                  <a:pt x="30575" y="282946"/>
                </a:lnTo>
                <a:lnTo>
                  <a:pt x="42469" y="271900"/>
                </a:lnTo>
                <a:lnTo>
                  <a:pt x="44350" y="263508"/>
                </a:lnTo>
                <a:lnTo>
                  <a:pt x="37338" y="257244"/>
                </a:lnTo>
                <a:lnTo>
                  <a:pt x="49534" y="252528"/>
                </a:lnTo>
                <a:lnTo>
                  <a:pt x="40283" y="244321"/>
                </a:lnTo>
                <a:lnTo>
                  <a:pt x="49214" y="231661"/>
                </a:lnTo>
                <a:lnTo>
                  <a:pt x="47378" y="220616"/>
                </a:lnTo>
                <a:lnTo>
                  <a:pt x="59910" y="219550"/>
                </a:lnTo>
                <a:lnTo>
                  <a:pt x="56422" y="214892"/>
                </a:lnTo>
                <a:lnTo>
                  <a:pt x="62376" y="202210"/>
                </a:lnTo>
                <a:lnTo>
                  <a:pt x="75628" y="192267"/>
                </a:lnTo>
                <a:lnTo>
                  <a:pt x="77307" y="181689"/>
                </a:lnTo>
                <a:lnTo>
                  <a:pt x="85047" y="180540"/>
                </a:lnTo>
                <a:lnTo>
                  <a:pt x="84088" y="170934"/>
                </a:lnTo>
                <a:lnTo>
                  <a:pt x="89630" y="174580"/>
                </a:lnTo>
                <a:lnTo>
                  <a:pt x="94874" y="168532"/>
                </a:lnTo>
                <a:lnTo>
                  <a:pt x="100282" y="179320"/>
                </a:lnTo>
                <a:lnTo>
                  <a:pt x="131461" y="163867"/>
                </a:lnTo>
                <a:lnTo>
                  <a:pt x="146814" y="163820"/>
                </a:lnTo>
                <a:lnTo>
                  <a:pt x="150824" y="168872"/>
                </a:lnTo>
                <a:lnTo>
                  <a:pt x="164867" y="166393"/>
                </a:lnTo>
                <a:lnTo>
                  <a:pt x="178621" y="174046"/>
                </a:lnTo>
                <a:lnTo>
                  <a:pt x="184993" y="164042"/>
                </a:lnTo>
                <a:lnTo>
                  <a:pt x="190736" y="164008"/>
                </a:lnTo>
                <a:lnTo>
                  <a:pt x="188755" y="169302"/>
                </a:lnTo>
                <a:lnTo>
                  <a:pt x="197225" y="174361"/>
                </a:lnTo>
                <a:lnTo>
                  <a:pt x="197757" y="182945"/>
                </a:lnTo>
                <a:lnTo>
                  <a:pt x="212498" y="183557"/>
                </a:lnTo>
                <a:lnTo>
                  <a:pt x="219520" y="194157"/>
                </a:lnTo>
                <a:lnTo>
                  <a:pt x="225684" y="190882"/>
                </a:lnTo>
                <a:lnTo>
                  <a:pt x="230798" y="203004"/>
                </a:lnTo>
                <a:lnTo>
                  <a:pt x="237934" y="198967"/>
                </a:lnTo>
                <a:lnTo>
                  <a:pt x="237614" y="205591"/>
                </a:lnTo>
                <a:lnTo>
                  <a:pt x="245978" y="210706"/>
                </a:lnTo>
                <a:lnTo>
                  <a:pt x="252083" y="206551"/>
                </a:lnTo>
                <a:lnTo>
                  <a:pt x="260106" y="220996"/>
                </a:lnTo>
                <a:lnTo>
                  <a:pt x="273595" y="223339"/>
                </a:lnTo>
                <a:lnTo>
                  <a:pt x="270784" y="231610"/>
                </a:lnTo>
                <a:lnTo>
                  <a:pt x="276955" y="230508"/>
                </a:lnTo>
                <a:lnTo>
                  <a:pt x="278067" y="237348"/>
                </a:lnTo>
                <a:lnTo>
                  <a:pt x="287493" y="239703"/>
                </a:lnTo>
                <a:lnTo>
                  <a:pt x="293231" y="252447"/>
                </a:lnTo>
                <a:lnTo>
                  <a:pt x="302915" y="255144"/>
                </a:lnTo>
                <a:lnTo>
                  <a:pt x="308986" y="249072"/>
                </a:lnTo>
                <a:lnTo>
                  <a:pt x="318145" y="251460"/>
                </a:lnTo>
                <a:lnTo>
                  <a:pt x="316628" y="258331"/>
                </a:lnTo>
                <a:lnTo>
                  <a:pt x="322320" y="253925"/>
                </a:lnTo>
                <a:lnTo>
                  <a:pt x="328994" y="258371"/>
                </a:lnTo>
                <a:lnTo>
                  <a:pt x="331076" y="253011"/>
                </a:lnTo>
                <a:lnTo>
                  <a:pt x="335292" y="256151"/>
                </a:lnTo>
                <a:lnTo>
                  <a:pt x="351755" y="247035"/>
                </a:lnTo>
                <a:lnTo>
                  <a:pt x="352334" y="252642"/>
                </a:lnTo>
                <a:lnTo>
                  <a:pt x="359810" y="250098"/>
                </a:lnTo>
                <a:lnTo>
                  <a:pt x="367975" y="256081"/>
                </a:lnTo>
                <a:lnTo>
                  <a:pt x="375963" y="272204"/>
                </a:lnTo>
                <a:lnTo>
                  <a:pt x="382320" y="268842"/>
                </a:lnTo>
                <a:lnTo>
                  <a:pt x="381654" y="277064"/>
                </a:lnTo>
                <a:lnTo>
                  <a:pt x="390798" y="272849"/>
                </a:lnTo>
                <a:lnTo>
                  <a:pt x="390821" y="278563"/>
                </a:lnTo>
                <a:lnTo>
                  <a:pt x="402457" y="286566"/>
                </a:lnTo>
                <a:lnTo>
                  <a:pt x="419032" y="278697"/>
                </a:lnTo>
                <a:lnTo>
                  <a:pt x="473559" y="301524"/>
                </a:lnTo>
                <a:lnTo>
                  <a:pt x="484465" y="296474"/>
                </a:lnTo>
                <a:lnTo>
                  <a:pt x="499684" y="301874"/>
                </a:lnTo>
                <a:lnTo>
                  <a:pt x="523334" y="298144"/>
                </a:lnTo>
                <a:lnTo>
                  <a:pt x="555868" y="275505"/>
                </a:lnTo>
                <a:lnTo>
                  <a:pt x="575299" y="286132"/>
                </a:lnTo>
                <a:lnTo>
                  <a:pt x="626401" y="287556"/>
                </a:lnTo>
                <a:lnTo>
                  <a:pt x="681846" y="254502"/>
                </a:lnTo>
                <a:lnTo>
                  <a:pt x="700341" y="212592"/>
                </a:lnTo>
                <a:lnTo>
                  <a:pt x="709893" y="165787"/>
                </a:lnTo>
                <a:lnTo>
                  <a:pt x="747928" y="72332"/>
                </a:lnTo>
                <a:lnTo>
                  <a:pt x="752856" y="69807"/>
                </a:lnTo>
                <a:lnTo>
                  <a:pt x="745297" y="29080"/>
                </a:lnTo>
                <a:lnTo>
                  <a:pt x="772427" y="27854"/>
                </a:lnTo>
                <a:lnTo>
                  <a:pt x="872887" y="0"/>
                </a:lnTo>
                <a:lnTo>
                  <a:pt x="880840" y="5596"/>
                </a:lnTo>
                <a:lnTo>
                  <a:pt x="880165" y="34463"/>
                </a:lnTo>
                <a:lnTo>
                  <a:pt x="887591" y="44325"/>
                </a:lnTo>
                <a:lnTo>
                  <a:pt x="925805" y="44904"/>
                </a:lnTo>
                <a:lnTo>
                  <a:pt x="955722" y="63991"/>
                </a:lnTo>
                <a:lnTo>
                  <a:pt x="962476" y="52522"/>
                </a:lnTo>
                <a:lnTo>
                  <a:pt x="1009655" y="37424"/>
                </a:lnTo>
                <a:lnTo>
                  <a:pt x="1008744" y="23331"/>
                </a:lnTo>
                <a:lnTo>
                  <a:pt x="1020527" y="23002"/>
                </a:lnTo>
                <a:lnTo>
                  <a:pt x="1023337" y="66060"/>
                </a:lnTo>
                <a:lnTo>
                  <a:pt x="1037261" y="69635"/>
                </a:lnTo>
                <a:lnTo>
                  <a:pt x="1049265" y="90010"/>
                </a:lnTo>
                <a:lnTo>
                  <a:pt x="1056239" y="82355"/>
                </a:lnTo>
                <a:lnTo>
                  <a:pt x="1066119" y="86472"/>
                </a:lnTo>
                <a:lnTo>
                  <a:pt x="1060548" y="104066"/>
                </a:lnTo>
                <a:lnTo>
                  <a:pt x="1067107" y="104933"/>
                </a:lnTo>
                <a:lnTo>
                  <a:pt x="1065077" y="112894"/>
                </a:lnTo>
                <a:lnTo>
                  <a:pt x="1076482" y="105261"/>
                </a:lnTo>
                <a:lnTo>
                  <a:pt x="1086161" y="106814"/>
                </a:lnTo>
                <a:lnTo>
                  <a:pt x="1091390" y="118600"/>
                </a:lnTo>
                <a:lnTo>
                  <a:pt x="1125202" y="113962"/>
                </a:lnTo>
                <a:lnTo>
                  <a:pt x="1139256" y="122150"/>
                </a:lnTo>
                <a:lnTo>
                  <a:pt x="1151538" y="104890"/>
                </a:lnTo>
                <a:lnTo>
                  <a:pt x="1152568" y="93521"/>
                </a:lnTo>
                <a:lnTo>
                  <a:pt x="1159874" y="90825"/>
                </a:lnTo>
                <a:lnTo>
                  <a:pt x="1173444" y="96394"/>
                </a:lnTo>
                <a:lnTo>
                  <a:pt x="1197267" y="89813"/>
                </a:lnTo>
                <a:lnTo>
                  <a:pt x="1233781" y="99536"/>
                </a:lnTo>
                <a:lnTo>
                  <a:pt x="1242673" y="88666"/>
                </a:lnTo>
                <a:lnTo>
                  <a:pt x="1254958" y="95997"/>
                </a:lnTo>
                <a:lnTo>
                  <a:pt x="1274336" y="94980"/>
                </a:lnTo>
                <a:lnTo>
                  <a:pt x="1275384" y="101477"/>
                </a:lnTo>
                <a:lnTo>
                  <a:pt x="1306440" y="113960"/>
                </a:lnTo>
                <a:lnTo>
                  <a:pt x="1295528" y="133535"/>
                </a:lnTo>
                <a:lnTo>
                  <a:pt x="1285999" y="131206"/>
                </a:lnTo>
                <a:lnTo>
                  <a:pt x="1281577" y="122597"/>
                </a:lnTo>
                <a:lnTo>
                  <a:pt x="1265183" y="125653"/>
                </a:lnTo>
                <a:lnTo>
                  <a:pt x="1267335" y="138003"/>
                </a:lnTo>
                <a:lnTo>
                  <a:pt x="1275406" y="137498"/>
                </a:lnTo>
                <a:lnTo>
                  <a:pt x="1276607" y="152854"/>
                </a:lnTo>
                <a:lnTo>
                  <a:pt x="1302266" y="155368"/>
                </a:lnTo>
                <a:lnTo>
                  <a:pt x="1313825" y="176223"/>
                </a:lnTo>
                <a:lnTo>
                  <a:pt x="1313486" y="188005"/>
                </a:lnTo>
                <a:lnTo>
                  <a:pt x="1297197" y="191367"/>
                </a:lnTo>
                <a:lnTo>
                  <a:pt x="1291154" y="183416"/>
                </a:lnTo>
                <a:lnTo>
                  <a:pt x="1285379" y="184513"/>
                </a:lnTo>
                <a:lnTo>
                  <a:pt x="1285127" y="194037"/>
                </a:lnTo>
                <a:lnTo>
                  <a:pt x="1269179" y="193918"/>
                </a:lnTo>
                <a:lnTo>
                  <a:pt x="1254274" y="202422"/>
                </a:lnTo>
                <a:lnTo>
                  <a:pt x="1244236" y="191355"/>
                </a:lnTo>
                <a:lnTo>
                  <a:pt x="1237329" y="192088"/>
                </a:lnTo>
                <a:lnTo>
                  <a:pt x="1231241" y="203126"/>
                </a:lnTo>
                <a:lnTo>
                  <a:pt x="1251822" y="219963"/>
                </a:lnTo>
                <a:lnTo>
                  <a:pt x="1241447" y="231835"/>
                </a:lnTo>
                <a:lnTo>
                  <a:pt x="1255245" y="236720"/>
                </a:lnTo>
                <a:lnTo>
                  <a:pt x="1254431" y="242775"/>
                </a:lnTo>
                <a:lnTo>
                  <a:pt x="1238754" y="238090"/>
                </a:lnTo>
                <a:lnTo>
                  <a:pt x="1232936" y="250698"/>
                </a:lnTo>
                <a:lnTo>
                  <a:pt x="1238013" y="261094"/>
                </a:lnTo>
                <a:lnTo>
                  <a:pt x="1231341" y="266227"/>
                </a:lnTo>
                <a:lnTo>
                  <a:pt x="1230147" y="276859"/>
                </a:lnTo>
                <a:lnTo>
                  <a:pt x="1237057" y="291407"/>
                </a:lnTo>
                <a:lnTo>
                  <a:pt x="1230032" y="293358"/>
                </a:lnTo>
                <a:lnTo>
                  <a:pt x="1232209" y="307791"/>
                </a:lnTo>
                <a:lnTo>
                  <a:pt x="1214000" y="319084"/>
                </a:lnTo>
                <a:lnTo>
                  <a:pt x="1216325" y="309178"/>
                </a:lnTo>
                <a:lnTo>
                  <a:pt x="1208729" y="307953"/>
                </a:lnTo>
                <a:lnTo>
                  <a:pt x="1202186" y="318373"/>
                </a:lnTo>
                <a:lnTo>
                  <a:pt x="1181897" y="326716"/>
                </a:lnTo>
                <a:lnTo>
                  <a:pt x="1181712" y="315365"/>
                </a:lnTo>
                <a:lnTo>
                  <a:pt x="1168216" y="321497"/>
                </a:lnTo>
                <a:lnTo>
                  <a:pt x="1159662" y="312405"/>
                </a:lnTo>
                <a:lnTo>
                  <a:pt x="1159068" y="300977"/>
                </a:lnTo>
                <a:lnTo>
                  <a:pt x="1136537" y="314680"/>
                </a:lnTo>
                <a:lnTo>
                  <a:pt x="1116692" y="318415"/>
                </a:lnTo>
                <a:lnTo>
                  <a:pt x="1105649" y="382081"/>
                </a:lnTo>
                <a:lnTo>
                  <a:pt x="1092338" y="381351"/>
                </a:lnTo>
                <a:lnTo>
                  <a:pt x="1091355" y="391288"/>
                </a:lnTo>
                <a:lnTo>
                  <a:pt x="1075979" y="388439"/>
                </a:lnTo>
                <a:lnTo>
                  <a:pt x="1084254" y="423673"/>
                </a:lnTo>
                <a:lnTo>
                  <a:pt x="1051078" y="447612"/>
                </a:lnTo>
                <a:lnTo>
                  <a:pt x="1060510" y="480414"/>
                </a:lnTo>
                <a:lnTo>
                  <a:pt x="1043159" y="484914"/>
                </a:lnTo>
                <a:lnTo>
                  <a:pt x="1048983" y="497882"/>
                </a:lnTo>
                <a:lnTo>
                  <a:pt x="1059509" y="497161"/>
                </a:lnTo>
                <a:lnTo>
                  <a:pt x="1062315" y="513937"/>
                </a:lnTo>
                <a:lnTo>
                  <a:pt x="1085939" y="508420"/>
                </a:lnTo>
                <a:lnTo>
                  <a:pt x="1084854" y="497813"/>
                </a:lnTo>
                <a:lnTo>
                  <a:pt x="1091094" y="498471"/>
                </a:lnTo>
                <a:lnTo>
                  <a:pt x="1104494" y="518077"/>
                </a:lnTo>
                <a:lnTo>
                  <a:pt x="1111267" y="513320"/>
                </a:lnTo>
                <a:lnTo>
                  <a:pt x="1137427" y="518167"/>
                </a:lnTo>
                <a:lnTo>
                  <a:pt x="1138230" y="535747"/>
                </a:lnTo>
                <a:lnTo>
                  <a:pt x="1144938" y="529907"/>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2022 provincial petrol/diesel sales: NC"/>
          <p:cNvSpPr/>
          <p:nvPr/>
        </p:nvSpPr>
        <p:spPr>
          <a:xfrm>
            <a:off x="1778571" y="2997493"/>
            <a:ext cx="2047002" cy="2085814"/>
          </a:xfrm>
          <a:custGeom>
            <a:avLst/>
            <a:gdLst/>
            <a:ahLst/>
            <a:cxnLst/>
            <a:rect l="l" t="t" r="r" b="b"/>
            <a:pathLst>
              <a:path w="2047002" h="2085814">
                <a:moveTo>
                  <a:pt x="2027994" y="1475194"/>
                </a:moveTo>
                <a:lnTo>
                  <a:pt x="2031745" y="1513784"/>
                </a:lnTo>
                <a:lnTo>
                  <a:pt x="2047002" y="1516938"/>
                </a:lnTo>
                <a:lnTo>
                  <a:pt x="2029680" y="1537034"/>
                </a:lnTo>
                <a:lnTo>
                  <a:pt x="2039904" y="1545178"/>
                </a:lnTo>
                <a:lnTo>
                  <a:pt x="2038334" y="1559037"/>
                </a:lnTo>
                <a:lnTo>
                  <a:pt x="2030381" y="1566206"/>
                </a:lnTo>
                <a:lnTo>
                  <a:pt x="2036214" y="1572244"/>
                </a:lnTo>
                <a:lnTo>
                  <a:pt x="2022328" y="1586026"/>
                </a:lnTo>
                <a:lnTo>
                  <a:pt x="2023952" y="1595934"/>
                </a:lnTo>
                <a:lnTo>
                  <a:pt x="2010294" y="1608871"/>
                </a:lnTo>
                <a:lnTo>
                  <a:pt x="2010598" y="1625976"/>
                </a:lnTo>
                <a:lnTo>
                  <a:pt x="2003593" y="1630599"/>
                </a:lnTo>
                <a:lnTo>
                  <a:pt x="1972072" y="1619296"/>
                </a:lnTo>
                <a:lnTo>
                  <a:pt x="1963147" y="1631321"/>
                </a:lnTo>
                <a:lnTo>
                  <a:pt x="1938515" y="1639022"/>
                </a:lnTo>
                <a:lnTo>
                  <a:pt x="1926899" y="1637412"/>
                </a:lnTo>
                <a:lnTo>
                  <a:pt x="1911074" y="1652067"/>
                </a:lnTo>
                <a:lnTo>
                  <a:pt x="1893370" y="1654086"/>
                </a:lnTo>
                <a:lnTo>
                  <a:pt x="1895553" y="1665696"/>
                </a:lnTo>
                <a:lnTo>
                  <a:pt x="1887343" y="1661333"/>
                </a:lnTo>
                <a:lnTo>
                  <a:pt x="1879273" y="1669774"/>
                </a:lnTo>
                <a:lnTo>
                  <a:pt x="1862148" y="1674939"/>
                </a:lnTo>
                <a:lnTo>
                  <a:pt x="1852115" y="1668354"/>
                </a:lnTo>
                <a:lnTo>
                  <a:pt x="1837005" y="1672372"/>
                </a:lnTo>
                <a:lnTo>
                  <a:pt x="1830679" y="1677372"/>
                </a:lnTo>
                <a:lnTo>
                  <a:pt x="1828912" y="1693544"/>
                </a:lnTo>
                <a:lnTo>
                  <a:pt x="1820287" y="1697686"/>
                </a:lnTo>
                <a:lnTo>
                  <a:pt x="1819353" y="1750654"/>
                </a:lnTo>
                <a:lnTo>
                  <a:pt x="1803417" y="1752680"/>
                </a:lnTo>
                <a:lnTo>
                  <a:pt x="1797120" y="1746546"/>
                </a:lnTo>
                <a:lnTo>
                  <a:pt x="1799486" y="1752451"/>
                </a:lnTo>
                <a:lnTo>
                  <a:pt x="1781418" y="1753107"/>
                </a:lnTo>
                <a:lnTo>
                  <a:pt x="1769323" y="1766313"/>
                </a:lnTo>
                <a:lnTo>
                  <a:pt x="1742286" y="1760091"/>
                </a:lnTo>
                <a:lnTo>
                  <a:pt x="1740383" y="1772500"/>
                </a:lnTo>
                <a:lnTo>
                  <a:pt x="1722603" y="1777363"/>
                </a:lnTo>
                <a:lnTo>
                  <a:pt x="1713159" y="1757765"/>
                </a:lnTo>
                <a:lnTo>
                  <a:pt x="1717115" y="1751726"/>
                </a:lnTo>
                <a:lnTo>
                  <a:pt x="1698785" y="1751878"/>
                </a:lnTo>
                <a:lnTo>
                  <a:pt x="1695796" y="1768956"/>
                </a:lnTo>
                <a:lnTo>
                  <a:pt x="1684016" y="1785295"/>
                </a:lnTo>
                <a:lnTo>
                  <a:pt x="1671402" y="1767802"/>
                </a:lnTo>
                <a:lnTo>
                  <a:pt x="1665130" y="1766778"/>
                </a:lnTo>
                <a:lnTo>
                  <a:pt x="1672223" y="1754275"/>
                </a:lnTo>
                <a:lnTo>
                  <a:pt x="1653560" y="1749518"/>
                </a:lnTo>
                <a:lnTo>
                  <a:pt x="1644373" y="1737170"/>
                </a:lnTo>
                <a:lnTo>
                  <a:pt x="1623361" y="1738020"/>
                </a:lnTo>
                <a:lnTo>
                  <a:pt x="1602700" y="1752573"/>
                </a:lnTo>
                <a:lnTo>
                  <a:pt x="1579075" y="1744414"/>
                </a:lnTo>
                <a:lnTo>
                  <a:pt x="1577178" y="1755077"/>
                </a:lnTo>
                <a:lnTo>
                  <a:pt x="1554346" y="1759583"/>
                </a:lnTo>
                <a:lnTo>
                  <a:pt x="1539182" y="1797041"/>
                </a:lnTo>
                <a:lnTo>
                  <a:pt x="1510832" y="1823586"/>
                </a:lnTo>
                <a:lnTo>
                  <a:pt x="1502044" y="1817884"/>
                </a:lnTo>
                <a:lnTo>
                  <a:pt x="1503660" y="1801458"/>
                </a:lnTo>
                <a:lnTo>
                  <a:pt x="1497339" y="1798164"/>
                </a:lnTo>
                <a:lnTo>
                  <a:pt x="1483531" y="1794149"/>
                </a:lnTo>
                <a:lnTo>
                  <a:pt x="1467469" y="1798256"/>
                </a:lnTo>
                <a:lnTo>
                  <a:pt x="1457801" y="1783726"/>
                </a:lnTo>
                <a:lnTo>
                  <a:pt x="1440065" y="1793941"/>
                </a:lnTo>
                <a:lnTo>
                  <a:pt x="1430640" y="1779403"/>
                </a:lnTo>
                <a:lnTo>
                  <a:pt x="1404509" y="1785936"/>
                </a:lnTo>
                <a:lnTo>
                  <a:pt x="1396421" y="1781662"/>
                </a:lnTo>
                <a:lnTo>
                  <a:pt x="1404877" y="1760797"/>
                </a:lnTo>
                <a:lnTo>
                  <a:pt x="1393238" y="1758101"/>
                </a:lnTo>
                <a:lnTo>
                  <a:pt x="1392751" y="1749092"/>
                </a:lnTo>
                <a:lnTo>
                  <a:pt x="1377600" y="1747474"/>
                </a:lnTo>
                <a:lnTo>
                  <a:pt x="1336923" y="1726150"/>
                </a:lnTo>
                <a:lnTo>
                  <a:pt x="1328359" y="1728673"/>
                </a:lnTo>
                <a:lnTo>
                  <a:pt x="1315050" y="1780095"/>
                </a:lnTo>
                <a:lnTo>
                  <a:pt x="1305023" y="1784814"/>
                </a:lnTo>
                <a:lnTo>
                  <a:pt x="1308812" y="1787532"/>
                </a:lnTo>
                <a:lnTo>
                  <a:pt x="1307040" y="1806095"/>
                </a:lnTo>
                <a:lnTo>
                  <a:pt x="1287633" y="1796800"/>
                </a:lnTo>
                <a:lnTo>
                  <a:pt x="1292927" y="1808348"/>
                </a:lnTo>
                <a:lnTo>
                  <a:pt x="1286559" y="1818429"/>
                </a:lnTo>
                <a:lnTo>
                  <a:pt x="1292133" y="1834094"/>
                </a:lnTo>
                <a:lnTo>
                  <a:pt x="1287701" y="1838519"/>
                </a:lnTo>
                <a:lnTo>
                  <a:pt x="1301051" y="1850079"/>
                </a:lnTo>
                <a:lnTo>
                  <a:pt x="1291952" y="1871288"/>
                </a:lnTo>
                <a:lnTo>
                  <a:pt x="1287138" y="1854793"/>
                </a:lnTo>
                <a:lnTo>
                  <a:pt x="1275795" y="1863479"/>
                </a:lnTo>
                <a:lnTo>
                  <a:pt x="1272749" y="1887023"/>
                </a:lnTo>
                <a:lnTo>
                  <a:pt x="1259098" y="1891713"/>
                </a:lnTo>
                <a:lnTo>
                  <a:pt x="1256854" y="1901774"/>
                </a:lnTo>
                <a:lnTo>
                  <a:pt x="1245998" y="1905804"/>
                </a:lnTo>
                <a:lnTo>
                  <a:pt x="1225474" y="1899804"/>
                </a:lnTo>
                <a:lnTo>
                  <a:pt x="1215402" y="1888336"/>
                </a:lnTo>
                <a:lnTo>
                  <a:pt x="1206115" y="1899746"/>
                </a:lnTo>
                <a:lnTo>
                  <a:pt x="1195572" y="1889848"/>
                </a:lnTo>
                <a:lnTo>
                  <a:pt x="1172126" y="1895788"/>
                </a:lnTo>
                <a:lnTo>
                  <a:pt x="1176922" y="1919483"/>
                </a:lnTo>
                <a:lnTo>
                  <a:pt x="1159840" y="1922327"/>
                </a:lnTo>
                <a:lnTo>
                  <a:pt x="1150267" y="1933815"/>
                </a:lnTo>
                <a:lnTo>
                  <a:pt x="1133683" y="1938520"/>
                </a:lnTo>
                <a:lnTo>
                  <a:pt x="1122419" y="1935225"/>
                </a:lnTo>
                <a:lnTo>
                  <a:pt x="1118624" y="1951323"/>
                </a:lnTo>
                <a:lnTo>
                  <a:pt x="1097672" y="1969671"/>
                </a:lnTo>
                <a:lnTo>
                  <a:pt x="1089309" y="1990709"/>
                </a:lnTo>
                <a:lnTo>
                  <a:pt x="1093315" y="2000603"/>
                </a:lnTo>
                <a:lnTo>
                  <a:pt x="1080006" y="2007217"/>
                </a:lnTo>
                <a:lnTo>
                  <a:pt x="1051382" y="2004688"/>
                </a:lnTo>
                <a:lnTo>
                  <a:pt x="1025927" y="2011517"/>
                </a:lnTo>
                <a:lnTo>
                  <a:pt x="1014672" y="2024418"/>
                </a:lnTo>
                <a:lnTo>
                  <a:pt x="1024921" y="2051222"/>
                </a:lnTo>
                <a:lnTo>
                  <a:pt x="1018373" y="2071273"/>
                </a:lnTo>
                <a:lnTo>
                  <a:pt x="1006828" y="2076342"/>
                </a:lnTo>
                <a:lnTo>
                  <a:pt x="1004339" y="2084655"/>
                </a:lnTo>
                <a:lnTo>
                  <a:pt x="973891" y="2085287"/>
                </a:lnTo>
                <a:lnTo>
                  <a:pt x="967022" y="2069672"/>
                </a:lnTo>
                <a:lnTo>
                  <a:pt x="954304" y="2085700"/>
                </a:lnTo>
                <a:lnTo>
                  <a:pt x="941199" y="2085814"/>
                </a:lnTo>
                <a:lnTo>
                  <a:pt x="928158" y="2076549"/>
                </a:lnTo>
                <a:lnTo>
                  <a:pt x="924768" y="2078980"/>
                </a:lnTo>
                <a:lnTo>
                  <a:pt x="922809" y="2067091"/>
                </a:lnTo>
                <a:lnTo>
                  <a:pt x="909796" y="2052477"/>
                </a:lnTo>
                <a:lnTo>
                  <a:pt x="892109" y="2048026"/>
                </a:lnTo>
                <a:lnTo>
                  <a:pt x="884959" y="2040109"/>
                </a:lnTo>
                <a:lnTo>
                  <a:pt x="885090" y="2022965"/>
                </a:lnTo>
                <a:lnTo>
                  <a:pt x="873687" y="2012680"/>
                </a:lnTo>
                <a:lnTo>
                  <a:pt x="867121" y="1994125"/>
                </a:lnTo>
                <a:lnTo>
                  <a:pt x="857537" y="1950237"/>
                </a:lnTo>
                <a:lnTo>
                  <a:pt x="869167" y="1955843"/>
                </a:lnTo>
                <a:lnTo>
                  <a:pt x="886064" y="1924920"/>
                </a:lnTo>
                <a:lnTo>
                  <a:pt x="894429" y="1926545"/>
                </a:lnTo>
                <a:lnTo>
                  <a:pt x="890575" y="1904506"/>
                </a:lnTo>
                <a:lnTo>
                  <a:pt x="874430" y="1906021"/>
                </a:lnTo>
                <a:lnTo>
                  <a:pt x="877118" y="1894893"/>
                </a:lnTo>
                <a:lnTo>
                  <a:pt x="867417" y="1897305"/>
                </a:lnTo>
                <a:lnTo>
                  <a:pt x="859613" y="1912472"/>
                </a:lnTo>
                <a:lnTo>
                  <a:pt x="850221" y="1913403"/>
                </a:lnTo>
                <a:lnTo>
                  <a:pt x="847476" y="1924826"/>
                </a:lnTo>
                <a:lnTo>
                  <a:pt x="826478" y="1946448"/>
                </a:lnTo>
                <a:lnTo>
                  <a:pt x="812756" y="1948570"/>
                </a:lnTo>
                <a:lnTo>
                  <a:pt x="800321" y="1943365"/>
                </a:lnTo>
                <a:lnTo>
                  <a:pt x="789297" y="1956776"/>
                </a:lnTo>
                <a:lnTo>
                  <a:pt x="783019" y="1950502"/>
                </a:lnTo>
                <a:lnTo>
                  <a:pt x="777111" y="1959687"/>
                </a:lnTo>
                <a:lnTo>
                  <a:pt x="782335" y="1965098"/>
                </a:lnTo>
                <a:lnTo>
                  <a:pt x="771656" y="1971007"/>
                </a:lnTo>
                <a:lnTo>
                  <a:pt x="765959" y="1964933"/>
                </a:lnTo>
                <a:lnTo>
                  <a:pt x="759205" y="1973406"/>
                </a:lnTo>
                <a:lnTo>
                  <a:pt x="757551" y="2014187"/>
                </a:lnTo>
                <a:lnTo>
                  <a:pt x="741529" y="2026162"/>
                </a:lnTo>
                <a:lnTo>
                  <a:pt x="731178" y="1999029"/>
                </a:lnTo>
                <a:lnTo>
                  <a:pt x="736551" y="1978381"/>
                </a:lnTo>
                <a:lnTo>
                  <a:pt x="716330" y="1948554"/>
                </a:lnTo>
                <a:lnTo>
                  <a:pt x="710766" y="1929439"/>
                </a:lnTo>
                <a:lnTo>
                  <a:pt x="728256" y="1918767"/>
                </a:lnTo>
                <a:lnTo>
                  <a:pt x="729387" y="1900299"/>
                </a:lnTo>
                <a:lnTo>
                  <a:pt x="723270" y="1891985"/>
                </a:lnTo>
                <a:lnTo>
                  <a:pt x="731562" y="1883622"/>
                </a:lnTo>
                <a:lnTo>
                  <a:pt x="729519" y="1876259"/>
                </a:lnTo>
                <a:lnTo>
                  <a:pt x="725842" y="1885432"/>
                </a:lnTo>
                <a:lnTo>
                  <a:pt x="724778" y="1873996"/>
                </a:lnTo>
                <a:lnTo>
                  <a:pt x="711067" y="1863099"/>
                </a:lnTo>
                <a:lnTo>
                  <a:pt x="704316" y="1859275"/>
                </a:lnTo>
                <a:lnTo>
                  <a:pt x="697523" y="1866712"/>
                </a:lnTo>
                <a:lnTo>
                  <a:pt x="688141" y="1852294"/>
                </a:lnTo>
                <a:lnTo>
                  <a:pt x="680592" y="1847617"/>
                </a:lnTo>
                <a:lnTo>
                  <a:pt x="678095" y="1851484"/>
                </a:lnTo>
                <a:lnTo>
                  <a:pt x="679205" y="1821523"/>
                </a:lnTo>
                <a:lnTo>
                  <a:pt x="663129" y="1844110"/>
                </a:lnTo>
                <a:lnTo>
                  <a:pt x="660148" y="1833167"/>
                </a:lnTo>
                <a:lnTo>
                  <a:pt x="647635" y="1835668"/>
                </a:lnTo>
                <a:lnTo>
                  <a:pt x="621969" y="1827887"/>
                </a:lnTo>
                <a:lnTo>
                  <a:pt x="622271" y="1816899"/>
                </a:lnTo>
                <a:lnTo>
                  <a:pt x="634131" y="1805979"/>
                </a:lnTo>
                <a:lnTo>
                  <a:pt x="629248" y="1799153"/>
                </a:lnTo>
                <a:lnTo>
                  <a:pt x="635165" y="1794805"/>
                </a:lnTo>
                <a:lnTo>
                  <a:pt x="625397" y="1774809"/>
                </a:lnTo>
                <a:lnTo>
                  <a:pt x="632192" y="1755877"/>
                </a:lnTo>
                <a:lnTo>
                  <a:pt x="630724" y="1749356"/>
                </a:lnTo>
                <a:lnTo>
                  <a:pt x="623386" y="1749892"/>
                </a:lnTo>
                <a:lnTo>
                  <a:pt x="630117" y="1737819"/>
                </a:lnTo>
                <a:lnTo>
                  <a:pt x="612583" y="1734890"/>
                </a:lnTo>
                <a:lnTo>
                  <a:pt x="619449" y="1712223"/>
                </a:lnTo>
                <a:lnTo>
                  <a:pt x="604729" y="1695103"/>
                </a:lnTo>
                <a:lnTo>
                  <a:pt x="611255" y="1682059"/>
                </a:lnTo>
                <a:lnTo>
                  <a:pt x="600752" y="1677169"/>
                </a:lnTo>
                <a:lnTo>
                  <a:pt x="595287" y="1665358"/>
                </a:lnTo>
                <a:lnTo>
                  <a:pt x="594265" y="1633512"/>
                </a:lnTo>
                <a:lnTo>
                  <a:pt x="583590" y="1615830"/>
                </a:lnTo>
                <a:lnTo>
                  <a:pt x="584548" y="1599664"/>
                </a:lnTo>
                <a:lnTo>
                  <a:pt x="600090" y="1590366"/>
                </a:lnTo>
                <a:lnTo>
                  <a:pt x="575276" y="1576593"/>
                </a:lnTo>
                <a:lnTo>
                  <a:pt x="593719" y="1570260"/>
                </a:lnTo>
                <a:lnTo>
                  <a:pt x="590178" y="1539324"/>
                </a:lnTo>
                <a:lnTo>
                  <a:pt x="570192" y="1533283"/>
                </a:lnTo>
                <a:lnTo>
                  <a:pt x="554405" y="1521424"/>
                </a:lnTo>
                <a:lnTo>
                  <a:pt x="554111" y="1510474"/>
                </a:lnTo>
                <a:lnTo>
                  <a:pt x="545113" y="1496339"/>
                </a:lnTo>
                <a:lnTo>
                  <a:pt x="522087" y="1494715"/>
                </a:lnTo>
                <a:lnTo>
                  <a:pt x="501492" y="1463408"/>
                </a:lnTo>
                <a:lnTo>
                  <a:pt x="486671" y="1467858"/>
                </a:lnTo>
                <a:lnTo>
                  <a:pt x="483704" y="1487899"/>
                </a:lnTo>
                <a:lnTo>
                  <a:pt x="493465" y="1509054"/>
                </a:lnTo>
                <a:lnTo>
                  <a:pt x="460018" y="1473255"/>
                </a:lnTo>
                <a:lnTo>
                  <a:pt x="468355" y="1490154"/>
                </a:lnTo>
                <a:lnTo>
                  <a:pt x="459907" y="1507238"/>
                </a:lnTo>
                <a:lnTo>
                  <a:pt x="460887" y="1524508"/>
                </a:lnTo>
                <a:lnTo>
                  <a:pt x="439725" y="1566429"/>
                </a:lnTo>
                <a:lnTo>
                  <a:pt x="424515" y="1566721"/>
                </a:lnTo>
                <a:lnTo>
                  <a:pt x="427080" y="1570500"/>
                </a:lnTo>
                <a:lnTo>
                  <a:pt x="419279" y="1575376"/>
                </a:lnTo>
                <a:lnTo>
                  <a:pt x="398862" y="1560229"/>
                </a:lnTo>
                <a:lnTo>
                  <a:pt x="382572" y="1562842"/>
                </a:lnTo>
                <a:lnTo>
                  <a:pt x="381703" y="1595613"/>
                </a:lnTo>
                <a:lnTo>
                  <a:pt x="356925" y="1598449"/>
                </a:lnTo>
                <a:lnTo>
                  <a:pt x="368461" y="1620189"/>
                </a:lnTo>
                <a:lnTo>
                  <a:pt x="344504" y="1642483"/>
                </a:lnTo>
                <a:lnTo>
                  <a:pt x="350940" y="1663640"/>
                </a:lnTo>
                <a:lnTo>
                  <a:pt x="331713" y="1656423"/>
                </a:lnTo>
                <a:lnTo>
                  <a:pt x="213035" y="1456275"/>
                </a:lnTo>
                <a:lnTo>
                  <a:pt x="181843" y="1367974"/>
                </a:lnTo>
                <a:lnTo>
                  <a:pt x="160281" y="1326240"/>
                </a:lnTo>
                <a:lnTo>
                  <a:pt x="130696" y="1231511"/>
                </a:lnTo>
                <a:lnTo>
                  <a:pt x="96990" y="1175732"/>
                </a:lnTo>
                <a:lnTo>
                  <a:pt x="90237" y="1145820"/>
                </a:lnTo>
                <a:lnTo>
                  <a:pt x="73783" y="1133910"/>
                </a:lnTo>
                <a:lnTo>
                  <a:pt x="58499" y="1104963"/>
                </a:lnTo>
                <a:lnTo>
                  <a:pt x="38222" y="1093355"/>
                </a:lnTo>
                <a:lnTo>
                  <a:pt x="26993" y="1065139"/>
                </a:lnTo>
                <a:lnTo>
                  <a:pt x="28352" y="1056233"/>
                </a:lnTo>
                <a:lnTo>
                  <a:pt x="0" y="1033699"/>
                </a:lnTo>
                <a:lnTo>
                  <a:pt x="142" y="1023413"/>
                </a:lnTo>
                <a:lnTo>
                  <a:pt x="5277" y="1016112"/>
                </a:lnTo>
                <a:lnTo>
                  <a:pt x="31951" y="1005312"/>
                </a:lnTo>
                <a:lnTo>
                  <a:pt x="46686" y="989336"/>
                </a:lnTo>
                <a:lnTo>
                  <a:pt x="53829" y="995332"/>
                </a:lnTo>
                <a:lnTo>
                  <a:pt x="60922" y="993969"/>
                </a:lnTo>
                <a:lnTo>
                  <a:pt x="69571" y="979878"/>
                </a:lnTo>
                <a:lnTo>
                  <a:pt x="67119" y="968400"/>
                </a:lnTo>
                <a:lnTo>
                  <a:pt x="75363" y="959098"/>
                </a:lnTo>
                <a:lnTo>
                  <a:pt x="61644" y="937034"/>
                </a:lnTo>
                <a:lnTo>
                  <a:pt x="77414" y="934977"/>
                </a:lnTo>
                <a:lnTo>
                  <a:pt x="71709" y="923299"/>
                </a:lnTo>
                <a:lnTo>
                  <a:pt x="83483" y="919837"/>
                </a:lnTo>
                <a:lnTo>
                  <a:pt x="77115" y="908715"/>
                </a:lnTo>
                <a:lnTo>
                  <a:pt x="90005" y="909425"/>
                </a:lnTo>
                <a:lnTo>
                  <a:pt x="88095" y="887776"/>
                </a:lnTo>
                <a:lnTo>
                  <a:pt x="107392" y="878937"/>
                </a:lnTo>
                <a:lnTo>
                  <a:pt x="114335" y="882704"/>
                </a:lnTo>
                <a:lnTo>
                  <a:pt x="130842" y="870700"/>
                </a:lnTo>
                <a:lnTo>
                  <a:pt x="145164" y="885230"/>
                </a:lnTo>
                <a:lnTo>
                  <a:pt x="157544" y="888310"/>
                </a:lnTo>
                <a:lnTo>
                  <a:pt x="156980" y="912787"/>
                </a:lnTo>
                <a:lnTo>
                  <a:pt x="164958" y="923652"/>
                </a:lnTo>
                <a:lnTo>
                  <a:pt x="191379" y="916289"/>
                </a:lnTo>
                <a:lnTo>
                  <a:pt x="203535" y="933427"/>
                </a:lnTo>
                <a:lnTo>
                  <a:pt x="211497" y="959607"/>
                </a:lnTo>
                <a:lnTo>
                  <a:pt x="206427" y="969526"/>
                </a:lnTo>
                <a:lnTo>
                  <a:pt x="198324" y="970578"/>
                </a:lnTo>
                <a:lnTo>
                  <a:pt x="195415" y="980138"/>
                </a:lnTo>
                <a:lnTo>
                  <a:pt x="207543" y="1003332"/>
                </a:lnTo>
                <a:lnTo>
                  <a:pt x="219223" y="1003940"/>
                </a:lnTo>
                <a:lnTo>
                  <a:pt x="218578" y="1041822"/>
                </a:lnTo>
                <a:lnTo>
                  <a:pt x="251724" y="1030471"/>
                </a:lnTo>
                <a:lnTo>
                  <a:pt x="258718" y="1032359"/>
                </a:lnTo>
                <a:lnTo>
                  <a:pt x="263640" y="1048996"/>
                </a:lnTo>
                <a:lnTo>
                  <a:pt x="270799" y="1051892"/>
                </a:lnTo>
                <a:lnTo>
                  <a:pt x="293275" y="1041839"/>
                </a:lnTo>
                <a:lnTo>
                  <a:pt x="331404" y="1045739"/>
                </a:lnTo>
                <a:lnTo>
                  <a:pt x="349142" y="1056336"/>
                </a:lnTo>
                <a:lnTo>
                  <a:pt x="361911" y="1072201"/>
                </a:lnTo>
                <a:lnTo>
                  <a:pt x="370171" y="1070789"/>
                </a:lnTo>
                <a:lnTo>
                  <a:pt x="394476" y="1081053"/>
                </a:lnTo>
                <a:lnTo>
                  <a:pt x="410780" y="1070692"/>
                </a:lnTo>
                <a:lnTo>
                  <a:pt x="446991" y="1074154"/>
                </a:lnTo>
                <a:lnTo>
                  <a:pt x="514864" y="1052737"/>
                </a:lnTo>
                <a:lnTo>
                  <a:pt x="561388" y="1056881"/>
                </a:lnTo>
                <a:lnTo>
                  <a:pt x="574670" y="1063878"/>
                </a:lnTo>
                <a:lnTo>
                  <a:pt x="578823" y="1074455"/>
                </a:lnTo>
                <a:lnTo>
                  <a:pt x="599205" y="1082794"/>
                </a:lnTo>
                <a:lnTo>
                  <a:pt x="611995" y="1081168"/>
                </a:lnTo>
                <a:lnTo>
                  <a:pt x="631442" y="1065018"/>
                </a:lnTo>
                <a:lnTo>
                  <a:pt x="642756" y="1062377"/>
                </a:lnTo>
                <a:lnTo>
                  <a:pt x="629039" y="1042173"/>
                </a:lnTo>
                <a:lnTo>
                  <a:pt x="634823" y="1023868"/>
                </a:lnTo>
                <a:lnTo>
                  <a:pt x="665077" y="1020924"/>
                </a:lnTo>
                <a:lnTo>
                  <a:pt x="678922" y="1012400"/>
                </a:lnTo>
                <a:lnTo>
                  <a:pt x="686022" y="985143"/>
                </a:lnTo>
                <a:lnTo>
                  <a:pt x="693108" y="981262"/>
                </a:lnTo>
                <a:lnTo>
                  <a:pt x="699118" y="965755"/>
                </a:lnTo>
                <a:lnTo>
                  <a:pt x="712318" y="960864"/>
                </a:lnTo>
                <a:lnTo>
                  <a:pt x="722275" y="965581"/>
                </a:lnTo>
                <a:lnTo>
                  <a:pt x="737611" y="953280"/>
                </a:lnTo>
                <a:lnTo>
                  <a:pt x="754691" y="958310"/>
                </a:lnTo>
                <a:lnTo>
                  <a:pt x="768361" y="940921"/>
                </a:lnTo>
                <a:lnTo>
                  <a:pt x="795758" y="935937"/>
                </a:lnTo>
                <a:lnTo>
                  <a:pt x="758391" y="0"/>
                </a:lnTo>
                <a:lnTo>
                  <a:pt x="780335" y="16244"/>
                </a:lnTo>
                <a:lnTo>
                  <a:pt x="788079" y="29240"/>
                </a:lnTo>
                <a:lnTo>
                  <a:pt x="820582" y="37911"/>
                </a:lnTo>
                <a:lnTo>
                  <a:pt x="829763" y="52115"/>
                </a:lnTo>
                <a:lnTo>
                  <a:pt x="850654" y="65052"/>
                </a:lnTo>
                <a:lnTo>
                  <a:pt x="849660" y="72139"/>
                </a:lnTo>
                <a:lnTo>
                  <a:pt x="857717" y="77216"/>
                </a:lnTo>
                <a:lnTo>
                  <a:pt x="862599" y="95298"/>
                </a:lnTo>
                <a:lnTo>
                  <a:pt x="871479" y="95633"/>
                </a:lnTo>
                <a:lnTo>
                  <a:pt x="866600" y="106579"/>
                </a:lnTo>
                <a:lnTo>
                  <a:pt x="879069" y="113635"/>
                </a:lnTo>
                <a:lnTo>
                  <a:pt x="879629" y="124842"/>
                </a:lnTo>
                <a:lnTo>
                  <a:pt x="890498" y="128023"/>
                </a:lnTo>
                <a:lnTo>
                  <a:pt x="883333" y="136189"/>
                </a:lnTo>
                <a:lnTo>
                  <a:pt x="891043" y="136782"/>
                </a:lnTo>
                <a:lnTo>
                  <a:pt x="895029" y="154271"/>
                </a:lnTo>
                <a:lnTo>
                  <a:pt x="904366" y="155260"/>
                </a:lnTo>
                <a:lnTo>
                  <a:pt x="904562" y="163624"/>
                </a:lnTo>
                <a:lnTo>
                  <a:pt x="911447" y="162842"/>
                </a:lnTo>
                <a:lnTo>
                  <a:pt x="909805" y="172240"/>
                </a:lnTo>
                <a:lnTo>
                  <a:pt x="921753" y="169619"/>
                </a:lnTo>
                <a:lnTo>
                  <a:pt x="913083" y="175111"/>
                </a:lnTo>
                <a:lnTo>
                  <a:pt x="911892" y="188331"/>
                </a:lnTo>
                <a:lnTo>
                  <a:pt x="928484" y="205674"/>
                </a:lnTo>
                <a:lnTo>
                  <a:pt x="920958" y="208220"/>
                </a:lnTo>
                <a:lnTo>
                  <a:pt x="918097" y="216876"/>
                </a:lnTo>
                <a:lnTo>
                  <a:pt x="926441" y="216068"/>
                </a:lnTo>
                <a:lnTo>
                  <a:pt x="924600" y="230179"/>
                </a:lnTo>
                <a:lnTo>
                  <a:pt x="934148" y="237097"/>
                </a:lnTo>
                <a:lnTo>
                  <a:pt x="937754" y="250511"/>
                </a:lnTo>
                <a:lnTo>
                  <a:pt x="945164" y="252501"/>
                </a:lnTo>
                <a:lnTo>
                  <a:pt x="939936" y="263487"/>
                </a:lnTo>
                <a:lnTo>
                  <a:pt x="951083" y="258095"/>
                </a:lnTo>
                <a:lnTo>
                  <a:pt x="950248" y="271392"/>
                </a:lnTo>
                <a:lnTo>
                  <a:pt x="957398" y="274926"/>
                </a:lnTo>
                <a:lnTo>
                  <a:pt x="955455" y="288097"/>
                </a:lnTo>
                <a:lnTo>
                  <a:pt x="964416" y="296761"/>
                </a:lnTo>
                <a:lnTo>
                  <a:pt x="959052" y="309701"/>
                </a:lnTo>
                <a:lnTo>
                  <a:pt x="965782" y="328541"/>
                </a:lnTo>
                <a:lnTo>
                  <a:pt x="961172" y="335106"/>
                </a:lnTo>
                <a:lnTo>
                  <a:pt x="971169" y="341722"/>
                </a:lnTo>
                <a:lnTo>
                  <a:pt x="934316" y="410817"/>
                </a:lnTo>
                <a:lnTo>
                  <a:pt x="917239" y="423209"/>
                </a:lnTo>
                <a:lnTo>
                  <a:pt x="914978" y="441445"/>
                </a:lnTo>
                <a:lnTo>
                  <a:pt x="922044" y="460923"/>
                </a:lnTo>
                <a:lnTo>
                  <a:pt x="921436" y="510877"/>
                </a:lnTo>
                <a:lnTo>
                  <a:pt x="927090" y="521447"/>
                </a:lnTo>
                <a:lnTo>
                  <a:pt x="935742" y="524098"/>
                </a:lnTo>
                <a:lnTo>
                  <a:pt x="936945" y="541159"/>
                </a:lnTo>
                <a:lnTo>
                  <a:pt x="943397" y="531398"/>
                </a:lnTo>
                <a:lnTo>
                  <a:pt x="954481" y="530037"/>
                </a:lnTo>
                <a:lnTo>
                  <a:pt x="966371" y="523303"/>
                </a:lnTo>
                <a:lnTo>
                  <a:pt x="967178" y="517545"/>
                </a:lnTo>
                <a:lnTo>
                  <a:pt x="984728" y="511065"/>
                </a:lnTo>
                <a:lnTo>
                  <a:pt x="1039454" y="529080"/>
                </a:lnTo>
                <a:lnTo>
                  <a:pt x="1101113" y="513957"/>
                </a:lnTo>
                <a:lnTo>
                  <a:pt x="1129003" y="523308"/>
                </a:lnTo>
                <a:lnTo>
                  <a:pt x="1140351" y="517371"/>
                </a:lnTo>
                <a:lnTo>
                  <a:pt x="1152297" y="523878"/>
                </a:lnTo>
                <a:lnTo>
                  <a:pt x="1168553" y="521758"/>
                </a:lnTo>
                <a:lnTo>
                  <a:pt x="1187190" y="506469"/>
                </a:lnTo>
                <a:lnTo>
                  <a:pt x="1184377" y="477593"/>
                </a:lnTo>
                <a:lnTo>
                  <a:pt x="1196141" y="469759"/>
                </a:lnTo>
                <a:lnTo>
                  <a:pt x="1224888" y="471646"/>
                </a:lnTo>
                <a:lnTo>
                  <a:pt x="1248180" y="461731"/>
                </a:lnTo>
                <a:lnTo>
                  <a:pt x="1254212" y="447702"/>
                </a:lnTo>
                <a:lnTo>
                  <a:pt x="1273205" y="429123"/>
                </a:lnTo>
                <a:lnTo>
                  <a:pt x="1279752" y="399746"/>
                </a:lnTo>
                <a:lnTo>
                  <a:pt x="1291567" y="387454"/>
                </a:lnTo>
                <a:lnTo>
                  <a:pt x="1318096" y="381364"/>
                </a:lnTo>
                <a:lnTo>
                  <a:pt x="1317921" y="371204"/>
                </a:lnTo>
                <a:lnTo>
                  <a:pt x="1326978" y="367707"/>
                </a:lnTo>
                <a:lnTo>
                  <a:pt x="1330724" y="355239"/>
                </a:lnTo>
                <a:lnTo>
                  <a:pt x="1338596" y="355963"/>
                </a:lnTo>
                <a:lnTo>
                  <a:pt x="1343088" y="348661"/>
                </a:lnTo>
                <a:lnTo>
                  <a:pt x="1361315" y="354759"/>
                </a:lnTo>
                <a:lnTo>
                  <a:pt x="1366762" y="333572"/>
                </a:lnTo>
                <a:lnTo>
                  <a:pt x="1395457" y="327203"/>
                </a:lnTo>
                <a:lnTo>
                  <a:pt x="1398154" y="401568"/>
                </a:lnTo>
                <a:lnTo>
                  <a:pt x="1420067" y="412098"/>
                </a:lnTo>
                <a:lnTo>
                  <a:pt x="1430144" y="392026"/>
                </a:lnTo>
                <a:lnTo>
                  <a:pt x="1442673" y="333015"/>
                </a:lnTo>
                <a:lnTo>
                  <a:pt x="1459795" y="334423"/>
                </a:lnTo>
                <a:lnTo>
                  <a:pt x="1460900" y="318407"/>
                </a:lnTo>
                <a:lnTo>
                  <a:pt x="1478886" y="320436"/>
                </a:lnTo>
                <a:lnTo>
                  <a:pt x="1483543" y="290582"/>
                </a:lnTo>
                <a:lnTo>
                  <a:pt x="1537565" y="292412"/>
                </a:lnTo>
                <a:lnTo>
                  <a:pt x="1553046" y="295607"/>
                </a:lnTo>
                <a:lnTo>
                  <a:pt x="1545587" y="317004"/>
                </a:lnTo>
                <a:lnTo>
                  <a:pt x="1517352" y="307997"/>
                </a:lnTo>
                <a:lnTo>
                  <a:pt x="1513807" y="324163"/>
                </a:lnTo>
                <a:lnTo>
                  <a:pt x="1535860" y="330524"/>
                </a:lnTo>
                <a:lnTo>
                  <a:pt x="1515731" y="363896"/>
                </a:lnTo>
                <a:lnTo>
                  <a:pt x="1529869" y="381126"/>
                </a:lnTo>
                <a:lnTo>
                  <a:pt x="1526779" y="418477"/>
                </a:lnTo>
                <a:lnTo>
                  <a:pt x="1572142" y="429545"/>
                </a:lnTo>
                <a:lnTo>
                  <a:pt x="1600169" y="451205"/>
                </a:lnTo>
                <a:lnTo>
                  <a:pt x="1578343" y="482802"/>
                </a:lnTo>
                <a:lnTo>
                  <a:pt x="1662739" y="520332"/>
                </a:lnTo>
                <a:lnTo>
                  <a:pt x="1666392" y="511761"/>
                </a:lnTo>
                <a:lnTo>
                  <a:pt x="1677263" y="511948"/>
                </a:lnTo>
                <a:lnTo>
                  <a:pt x="1689604" y="521128"/>
                </a:lnTo>
                <a:lnTo>
                  <a:pt x="1705298" y="561776"/>
                </a:lnTo>
                <a:lnTo>
                  <a:pt x="1691296" y="568449"/>
                </a:lnTo>
                <a:lnTo>
                  <a:pt x="1673477" y="612917"/>
                </a:lnTo>
                <a:lnTo>
                  <a:pt x="1717041" y="638333"/>
                </a:lnTo>
                <a:lnTo>
                  <a:pt x="1709475" y="666328"/>
                </a:lnTo>
                <a:lnTo>
                  <a:pt x="1709392" y="702120"/>
                </a:lnTo>
                <a:lnTo>
                  <a:pt x="1724919" y="706863"/>
                </a:lnTo>
                <a:lnTo>
                  <a:pt x="1719319" y="728171"/>
                </a:lnTo>
                <a:lnTo>
                  <a:pt x="1723402" y="736852"/>
                </a:lnTo>
                <a:lnTo>
                  <a:pt x="1790282" y="721660"/>
                </a:lnTo>
                <a:lnTo>
                  <a:pt x="1799749" y="727155"/>
                </a:lnTo>
                <a:lnTo>
                  <a:pt x="1791191" y="742090"/>
                </a:lnTo>
                <a:lnTo>
                  <a:pt x="1801161" y="747525"/>
                </a:lnTo>
                <a:lnTo>
                  <a:pt x="1780387" y="780391"/>
                </a:lnTo>
                <a:lnTo>
                  <a:pt x="1787723" y="788250"/>
                </a:lnTo>
                <a:lnTo>
                  <a:pt x="1791645" y="783563"/>
                </a:lnTo>
                <a:lnTo>
                  <a:pt x="1804733" y="798146"/>
                </a:lnTo>
                <a:lnTo>
                  <a:pt x="1799631" y="811298"/>
                </a:lnTo>
                <a:lnTo>
                  <a:pt x="1820127" y="826604"/>
                </a:lnTo>
                <a:lnTo>
                  <a:pt x="1826696" y="820936"/>
                </a:lnTo>
                <a:lnTo>
                  <a:pt x="1825710" y="812949"/>
                </a:lnTo>
                <a:lnTo>
                  <a:pt x="1836927" y="809961"/>
                </a:lnTo>
                <a:lnTo>
                  <a:pt x="1841305" y="802856"/>
                </a:lnTo>
                <a:lnTo>
                  <a:pt x="1836405" y="777020"/>
                </a:lnTo>
                <a:lnTo>
                  <a:pt x="1841622" y="778154"/>
                </a:lnTo>
                <a:lnTo>
                  <a:pt x="1848004" y="765284"/>
                </a:lnTo>
                <a:lnTo>
                  <a:pt x="1856751" y="763956"/>
                </a:lnTo>
                <a:lnTo>
                  <a:pt x="1848042" y="749499"/>
                </a:lnTo>
                <a:lnTo>
                  <a:pt x="1855979" y="735341"/>
                </a:lnTo>
                <a:lnTo>
                  <a:pt x="1851167" y="722546"/>
                </a:lnTo>
                <a:lnTo>
                  <a:pt x="1855595" y="712220"/>
                </a:lnTo>
                <a:lnTo>
                  <a:pt x="1871475" y="709120"/>
                </a:lnTo>
                <a:lnTo>
                  <a:pt x="1870260" y="703076"/>
                </a:lnTo>
                <a:lnTo>
                  <a:pt x="1876534" y="701798"/>
                </a:lnTo>
                <a:lnTo>
                  <a:pt x="1880410" y="726629"/>
                </a:lnTo>
                <a:lnTo>
                  <a:pt x="1925600" y="721235"/>
                </a:lnTo>
                <a:lnTo>
                  <a:pt x="1936568" y="726072"/>
                </a:lnTo>
                <a:lnTo>
                  <a:pt x="1890890" y="780159"/>
                </a:lnTo>
                <a:lnTo>
                  <a:pt x="1893284" y="783772"/>
                </a:lnTo>
                <a:lnTo>
                  <a:pt x="1887018" y="785304"/>
                </a:lnTo>
                <a:lnTo>
                  <a:pt x="1914464" y="831797"/>
                </a:lnTo>
                <a:lnTo>
                  <a:pt x="1919628" y="823566"/>
                </a:lnTo>
                <a:lnTo>
                  <a:pt x="1932033" y="821636"/>
                </a:lnTo>
                <a:lnTo>
                  <a:pt x="1917641" y="866964"/>
                </a:lnTo>
                <a:lnTo>
                  <a:pt x="1896343" y="872001"/>
                </a:lnTo>
                <a:lnTo>
                  <a:pt x="1900844" y="882187"/>
                </a:lnTo>
                <a:lnTo>
                  <a:pt x="1911548" y="885936"/>
                </a:lnTo>
                <a:lnTo>
                  <a:pt x="1900078" y="921762"/>
                </a:lnTo>
                <a:lnTo>
                  <a:pt x="1891076" y="931691"/>
                </a:lnTo>
                <a:lnTo>
                  <a:pt x="1895808" y="935084"/>
                </a:lnTo>
                <a:lnTo>
                  <a:pt x="1886793" y="963201"/>
                </a:lnTo>
                <a:lnTo>
                  <a:pt x="1903519" y="968570"/>
                </a:lnTo>
                <a:lnTo>
                  <a:pt x="1779694" y="1226739"/>
                </a:lnTo>
                <a:lnTo>
                  <a:pt x="1780260" y="1238826"/>
                </a:lnTo>
                <a:lnTo>
                  <a:pt x="1800501" y="1267257"/>
                </a:lnTo>
                <a:lnTo>
                  <a:pt x="1813623" y="1267527"/>
                </a:lnTo>
                <a:lnTo>
                  <a:pt x="1838292" y="1291786"/>
                </a:lnTo>
                <a:lnTo>
                  <a:pt x="1851014" y="1289366"/>
                </a:lnTo>
                <a:lnTo>
                  <a:pt x="1853162" y="1308190"/>
                </a:lnTo>
                <a:lnTo>
                  <a:pt x="1879790" y="1314118"/>
                </a:lnTo>
                <a:lnTo>
                  <a:pt x="1880671" y="1327567"/>
                </a:lnTo>
                <a:lnTo>
                  <a:pt x="1897011" y="1348758"/>
                </a:lnTo>
                <a:lnTo>
                  <a:pt x="1903442" y="1367217"/>
                </a:lnTo>
                <a:lnTo>
                  <a:pt x="1909023" y="1365673"/>
                </a:lnTo>
                <a:lnTo>
                  <a:pt x="1915489" y="1372163"/>
                </a:lnTo>
                <a:lnTo>
                  <a:pt x="1913786" y="1378748"/>
                </a:lnTo>
                <a:lnTo>
                  <a:pt x="1922627" y="1388506"/>
                </a:lnTo>
                <a:lnTo>
                  <a:pt x="1933305" y="1387532"/>
                </a:lnTo>
                <a:lnTo>
                  <a:pt x="1934156" y="1407000"/>
                </a:lnTo>
                <a:lnTo>
                  <a:pt x="1946985" y="1409793"/>
                </a:lnTo>
                <a:lnTo>
                  <a:pt x="1967666" y="1441854"/>
                </a:lnTo>
                <a:lnTo>
                  <a:pt x="1977792" y="1442261"/>
                </a:lnTo>
                <a:lnTo>
                  <a:pt x="1993271" y="1461895"/>
                </a:lnTo>
                <a:lnTo>
                  <a:pt x="1999537" y="1457083"/>
                </a:lnTo>
                <a:lnTo>
                  <a:pt x="2018198" y="1462263"/>
                </a:lnTo>
                <a:lnTo>
                  <a:pt x="2027994" y="1475194"/>
                </a:lnTo>
                <a:close/>
              </a:path>
            </a:pathLst>
          </a:custGeom>
          <a:solidFill>
            <a:srgbClr val="E3EBF6"/>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2022 provincial petrol/diesel sales: WC"/>
          <p:cNvSpPr/>
          <p:nvPr/>
        </p:nvSpPr>
        <p:spPr>
          <a:xfrm>
            <a:off x="2284853" y="5322748"/>
            <a:ext cx="5752" cy="7186"/>
          </a:xfrm>
          <a:custGeom>
            <a:avLst/>
            <a:gdLst/>
            <a:ahLst/>
            <a:cxnLst/>
            <a:rect l="l" t="t" r="r" b="b"/>
            <a:pathLst>
              <a:path w="5752" h="7186">
                <a:moveTo>
                  <a:pt x="3500" y="0"/>
                </a:moveTo>
                <a:lnTo>
                  <a:pt x="5752" y="5055"/>
                </a:lnTo>
                <a:lnTo>
                  <a:pt x="3290" y="7186"/>
                </a:lnTo>
                <a:lnTo>
                  <a:pt x="0" y="2653"/>
                </a:lnTo>
                <a:lnTo>
                  <a:pt x="3500" y="0"/>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2022 provincial petrol/diesel sales: WC"/>
          <p:cNvSpPr/>
          <p:nvPr/>
        </p:nvSpPr>
        <p:spPr>
          <a:xfrm>
            <a:off x="2220092" y="5229576"/>
            <a:ext cx="3544" cy="4871"/>
          </a:xfrm>
          <a:custGeom>
            <a:avLst/>
            <a:gdLst/>
            <a:ahLst/>
            <a:cxnLst/>
            <a:rect l="l" t="t" r="r" b="b"/>
            <a:pathLst>
              <a:path w="3544" h="4871">
                <a:moveTo>
                  <a:pt x="0" y="4871"/>
                </a:moveTo>
                <a:lnTo>
                  <a:pt x="1386" y="0"/>
                </a:lnTo>
                <a:lnTo>
                  <a:pt x="3544" y="4547"/>
                </a:lnTo>
                <a:lnTo>
                  <a:pt x="0" y="4871"/>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2022 provincial petrol/diesel sales: WC"/>
          <p:cNvSpPr/>
          <p:nvPr/>
        </p:nvSpPr>
        <p:spPr>
          <a:xfrm>
            <a:off x="2112260" y="4460901"/>
            <a:ext cx="1422285" cy="1110490"/>
          </a:xfrm>
          <a:custGeom>
            <a:avLst/>
            <a:gdLst/>
            <a:ahLst/>
            <a:cxnLst/>
            <a:rect l="l" t="t" r="r" b="b"/>
            <a:pathLst>
              <a:path w="1422285" h="1110490">
                <a:moveTo>
                  <a:pt x="1388914" y="313955"/>
                </a:moveTo>
                <a:lnTo>
                  <a:pt x="1413570" y="315353"/>
                </a:lnTo>
                <a:lnTo>
                  <a:pt x="1407278" y="317751"/>
                </a:lnTo>
                <a:lnTo>
                  <a:pt x="1407012" y="326048"/>
                </a:lnTo>
                <a:lnTo>
                  <a:pt x="1400506" y="324117"/>
                </a:lnTo>
                <a:lnTo>
                  <a:pt x="1396647" y="339411"/>
                </a:lnTo>
                <a:lnTo>
                  <a:pt x="1409480" y="338180"/>
                </a:lnTo>
                <a:lnTo>
                  <a:pt x="1422285" y="351706"/>
                </a:lnTo>
                <a:lnTo>
                  <a:pt x="1415188" y="366234"/>
                </a:lnTo>
                <a:lnTo>
                  <a:pt x="1404603" y="366172"/>
                </a:lnTo>
                <a:lnTo>
                  <a:pt x="1404726" y="376313"/>
                </a:lnTo>
                <a:lnTo>
                  <a:pt x="1396433" y="381115"/>
                </a:lnTo>
                <a:lnTo>
                  <a:pt x="1395435" y="391581"/>
                </a:lnTo>
                <a:lnTo>
                  <a:pt x="1397950" y="384787"/>
                </a:lnTo>
                <a:lnTo>
                  <a:pt x="1403662" y="394681"/>
                </a:lnTo>
                <a:lnTo>
                  <a:pt x="1396036" y="405190"/>
                </a:lnTo>
                <a:lnTo>
                  <a:pt x="1382502" y="403797"/>
                </a:lnTo>
                <a:lnTo>
                  <a:pt x="1380948" y="412852"/>
                </a:lnTo>
                <a:lnTo>
                  <a:pt x="1365879" y="416318"/>
                </a:lnTo>
                <a:lnTo>
                  <a:pt x="1351020" y="428843"/>
                </a:lnTo>
                <a:lnTo>
                  <a:pt x="1323379" y="409626"/>
                </a:lnTo>
                <a:lnTo>
                  <a:pt x="1302711" y="424931"/>
                </a:lnTo>
                <a:lnTo>
                  <a:pt x="1298206" y="440420"/>
                </a:lnTo>
                <a:lnTo>
                  <a:pt x="1304716" y="448298"/>
                </a:lnTo>
                <a:lnTo>
                  <a:pt x="1301889" y="452198"/>
                </a:lnTo>
                <a:lnTo>
                  <a:pt x="1254837" y="447423"/>
                </a:lnTo>
                <a:lnTo>
                  <a:pt x="1246581" y="464400"/>
                </a:lnTo>
                <a:lnTo>
                  <a:pt x="1229754" y="454901"/>
                </a:lnTo>
                <a:lnTo>
                  <a:pt x="1224342" y="466434"/>
                </a:lnTo>
                <a:lnTo>
                  <a:pt x="1205848" y="474161"/>
                </a:lnTo>
                <a:lnTo>
                  <a:pt x="1211173" y="496639"/>
                </a:lnTo>
                <a:lnTo>
                  <a:pt x="1220800" y="506210"/>
                </a:lnTo>
                <a:lnTo>
                  <a:pt x="1225188" y="521599"/>
                </a:lnTo>
                <a:lnTo>
                  <a:pt x="1224052" y="531891"/>
                </a:lnTo>
                <a:lnTo>
                  <a:pt x="1217259" y="537028"/>
                </a:lnTo>
                <a:lnTo>
                  <a:pt x="1231088" y="545044"/>
                </a:lnTo>
                <a:lnTo>
                  <a:pt x="1235377" y="560376"/>
                </a:lnTo>
                <a:lnTo>
                  <a:pt x="1245356" y="560156"/>
                </a:lnTo>
                <a:lnTo>
                  <a:pt x="1241456" y="575951"/>
                </a:lnTo>
                <a:lnTo>
                  <a:pt x="1199892" y="561839"/>
                </a:lnTo>
                <a:lnTo>
                  <a:pt x="1178808" y="570296"/>
                </a:lnTo>
                <a:lnTo>
                  <a:pt x="1184926" y="585244"/>
                </a:lnTo>
                <a:lnTo>
                  <a:pt x="1161449" y="589433"/>
                </a:lnTo>
                <a:lnTo>
                  <a:pt x="1149145" y="609402"/>
                </a:lnTo>
                <a:lnTo>
                  <a:pt x="1153777" y="620405"/>
                </a:lnTo>
                <a:lnTo>
                  <a:pt x="1146330" y="627774"/>
                </a:lnTo>
                <a:lnTo>
                  <a:pt x="1151156" y="640857"/>
                </a:lnTo>
                <a:lnTo>
                  <a:pt x="1116809" y="701394"/>
                </a:lnTo>
                <a:lnTo>
                  <a:pt x="1105937" y="705870"/>
                </a:lnTo>
                <a:lnTo>
                  <a:pt x="1105560" y="723986"/>
                </a:lnTo>
                <a:lnTo>
                  <a:pt x="1114002" y="730209"/>
                </a:lnTo>
                <a:lnTo>
                  <a:pt x="1148479" y="731969"/>
                </a:lnTo>
                <a:lnTo>
                  <a:pt x="1191240" y="720616"/>
                </a:lnTo>
                <a:lnTo>
                  <a:pt x="1226115" y="720335"/>
                </a:lnTo>
                <a:lnTo>
                  <a:pt x="1240781" y="738821"/>
                </a:lnTo>
                <a:lnTo>
                  <a:pt x="1238728" y="733586"/>
                </a:lnTo>
                <a:lnTo>
                  <a:pt x="1268953" y="733752"/>
                </a:lnTo>
                <a:lnTo>
                  <a:pt x="1292399" y="747000"/>
                </a:lnTo>
                <a:lnTo>
                  <a:pt x="1290981" y="766485"/>
                </a:lnTo>
                <a:lnTo>
                  <a:pt x="1308040" y="779926"/>
                </a:lnTo>
                <a:lnTo>
                  <a:pt x="1307216" y="791875"/>
                </a:lnTo>
                <a:lnTo>
                  <a:pt x="1289112" y="792141"/>
                </a:lnTo>
                <a:lnTo>
                  <a:pt x="1282747" y="786796"/>
                </a:lnTo>
                <a:lnTo>
                  <a:pt x="1279648" y="799111"/>
                </a:lnTo>
                <a:lnTo>
                  <a:pt x="1258022" y="803961"/>
                </a:lnTo>
                <a:lnTo>
                  <a:pt x="1248702" y="823334"/>
                </a:lnTo>
                <a:lnTo>
                  <a:pt x="1268863" y="826868"/>
                </a:lnTo>
                <a:lnTo>
                  <a:pt x="1275136" y="820288"/>
                </a:lnTo>
                <a:lnTo>
                  <a:pt x="1283416" y="823069"/>
                </a:lnTo>
                <a:lnTo>
                  <a:pt x="1284523" y="832141"/>
                </a:lnTo>
                <a:lnTo>
                  <a:pt x="1314851" y="840760"/>
                </a:lnTo>
                <a:lnTo>
                  <a:pt x="1300924" y="853434"/>
                </a:lnTo>
                <a:lnTo>
                  <a:pt x="1303204" y="870686"/>
                </a:lnTo>
                <a:lnTo>
                  <a:pt x="1253274" y="881246"/>
                </a:lnTo>
                <a:lnTo>
                  <a:pt x="1244794" y="896550"/>
                </a:lnTo>
                <a:lnTo>
                  <a:pt x="1252468" y="904807"/>
                </a:lnTo>
                <a:lnTo>
                  <a:pt x="1167396" y="896051"/>
                </a:lnTo>
                <a:lnTo>
                  <a:pt x="1161380" y="901796"/>
                </a:lnTo>
                <a:lnTo>
                  <a:pt x="1121878" y="886424"/>
                </a:lnTo>
                <a:lnTo>
                  <a:pt x="1075660" y="878289"/>
                </a:lnTo>
                <a:lnTo>
                  <a:pt x="1055528" y="893054"/>
                </a:lnTo>
                <a:lnTo>
                  <a:pt x="1000917" y="896365"/>
                </a:lnTo>
                <a:lnTo>
                  <a:pt x="979247" y="911738"/>
                </a:lnTo>
                <a:lnTo>
                  <a:pt x="977112" y="923847"/>
                </a:lnTo>
                <a:lnTo>
                  <a:pt x="984547" y="926297"/>
                </a:lnTo>
                <a:lnTo>
                  <a:pt x="987485" y="929486"/>
                </a:lnTo>
                <a:lnTo>
                  <a:pt x="944369" y="941128"/>
                </a:lnTo>
                <a:lnTo>
                  <a:pt x="935254" y="952814"/>
                </a:lnTo>
                <a:lnTo>
                  <a:pt x="942546" y="959724"/>
                </a:lnTo>
                <a:lnTo>
                  <a:pt x="919709" y="979233"/>
                </a:lnTo>
                <a:lnTo>
                  <a:pt x="890286" y="985112"/>
                </a:lnTo>
                <a:lnTo>
                  <a:pt x="853132" y="976524"/>
                </a:lnTo>
                <a:lnTo>
                  <a:pt x="834022" y="981081"/>
                </a:lnTo>
                <a:lnTo>
                  <a:pt x="833622" y="986708"/>
                </a:lnTo>
                <a:lnTo>
                  <a:pt x="821804" y="994387"/>
                </a:lnTo>
                <a:lnTo>
                  <a:pt x="806492" y="998967"/>
                </a:lnTo>
                <a:lnTo>
                  <a:pt x="764031" y="984466"/>
                </a:lnTo>
                <a:lnTo>
                  <a:pt x="728081" y="982929"/>
                </a:lnTo>
                <a:lnTo>
                  <a:pt x="711159" y="992458"/>
                </a:lnTo>
                <a:lnTo>
                  <a:pt x="715968" y="1005109"/>
                </a:lnTo>
                <a:lnTo>
                  <a:pt x="711044" y="1011429"/>
                </a:lnTo>
                <a:lnTo>
                  <a:pt x="669990" y="1006509"/>
                </a:lnTo>
                <a:lnTo>
                  <a:pt x="643671" y="1013021"/>
                </a:lnTo>
                <a:lnTo>
                  <a:pt x="626062" y="1023868"/>
                </a:lnTo>
                <a:lnTo>
                  <a:pt x="617097" y="1039765"/>
                </a:lnTo>
                <a:lnTo>
                  <a:pt x="585693" y="1060015"/>
                </a:lnTo>
                <a:lnTo>
                  <a:pt x="583964" y="1071886"/>
                </a:lnTo>
                <a:lnTo>
                  <a:pt x="569509" y="1073654"/>
                </a:lnTo>
                <a:lnTo>
                  <a:pt x="551432" y="1084784"/>
                </a:lnTo>
                <a:lnTo>
                  <a:pt x="545161" y="1094831"/>
                </a:lnTo>
                <a:lnTo>
                  <a:pt x="548906" y="1102675"/>
                </a:lnTo>
                <a:lnTo>
                  <a:pt x="535474" y="1110490"/>
                </a:lnTo>
                <a:lnTo>
                  <a:pt x="507980" y="1094237"/>
                </a:lnTo>
                <a:lnTo>
                  <a:pt x="471107" y="1095065"/>
                </a:lnTo>
                <a:lnTo>
                  <a:pt x="458819" y="1100804"/>
                </a:lnTo>
                <a:lnTo>
                  <a:pt x="457140" y="1093822"/>
                </a:lnTo>
                <a:lnTo>
                  <a:pt x="450342" y="1093043"/>
                </a:lnTo>
                <a:lnTo>
                  <a:pt x="432430" y="1073537"/>
                </a:lnTo>
                <a:lnTo>
                  <a:pt x="417391" y="1070254"/>
                </a:lnTo>
                <a:lnTo>
                  <a:pt x="408556" y="1058323"/>
                </a:lnTo>
                <a:lnTo>
                  <a:pt x="383927" y="1066267"/>
                </a:lnTo>
                <a:lnTo>
                  <a:pt x="400739" y="1042158"/>
                </a:lnTo>
                <a:lnTo>
                  <a:pt x="391632" y="1021744"/>
                </a:lnTo>
                <a:lnTo>
                  <a:pt x="376973" y="1009082"/>
                </a:lnTo>
                <a:lnTo>
                  <a:pt x="365324" y="1017121"/>
                </a:lnTo>
                <a:lnTo>
                  <a:pt x="348965" y="1014246"/>
                </a:lnTo>
                <a:lnTo>
                  <a:pt x="326620" y="994249"/>
                </a:lnTo>
                <a:lnTo>
                  <a:pt x="281448" y="1008701"/>
                </a:lnTo>
                <a:lnTo>
                  <a:pt x="277112" y="986051"/>
                </a:lnTo>
                <a:lnTo>
                  <a:pt x="285756" y="973683"/>
                </a:lnTo>
                <a:lnTo>
                  <a:pt x="276845" y="958182"/>
                </a:lnTo>
                <a:lnTo>
                  <a:pt x="286951" y="949702"/>
                </a:lnTo>
                <a:lnTo>
                  <a:pt x="265696" y="931365"/>
                </a:lnTo>
                <a:lnTo>
                  <a:pt x="235215" y="930556"/>
                </a:lnTo>
                <a:lnTo>
                  <a:pt x="201270" y="941772"/>
                </a:lnTo>
                <a:lnTo>
                  <a:pt x="194055" y="950301"/>
                </a:lnTo>
                <a:lnTo>
                  <a:pt x="193454" y="962047"/>
                </a:lnTo>
                <a:lnTo>
                  <a:pt x="205058" y="973095"/>
                </a:lnTo>
                <a:lnTo>
                  <a:pt x="202955" y="995441"/>
                </a:lnTo>
                <a:lnTo>
                  <a:pt x="211490" y="1004682"/>
                </a:lnTo>
                <a:lnTo>
                  <a:pt x="190040" y="993428"/>
                </a:lnTo>
                <a:lnTo>
                  <a:pt x="181836" y="965055"/>
                </a:lnTo>
                <a:lnTo>
                  <a:pt x="170111" y="953546"/>
                </a:lnTo>
                <a:lnTo>
                  <a:pt x="176611" y="947367"/>
                </a:lnTo>
                <a:lnTo>
                  <a:pt x="179348" y="931068"/>
                </a:lnTo>
                <a:lnTo>
                  <a:pt x="165881" y="925870"/>
                </a:lnTo>
                <a:lnTo>
                  <a:pt x="178382" y="908350"/>
                </a:lnTo>
                <a:lnTo>
                  <a:pt x="183070" y="889228"/>
                </a:lnTo>
                <a:lnTo>
                  <a:pt x="190700" y="888031"/>
                </a:lnTo>
                <a:lnTo>
                  <a:pt x="187235" y="891101"/>
                </a:lnTo>
                <a:lnTo>
                  <a:pt x="193489" y="893692"/>
                </a:lnTo>
                <a:lnTo>
                  <a:pt x="191731" y="889356"/>
                </a:lnTo>
                <a:lnTo>
                  <a:pt x="197622" y="891329"/>
                </a:lnTo>
                <a:lnTo>
                  <a:pt x="201251" y="885525"/>
                </a:lnTo>
                <a:lnTo>
                  <a:pt x="188198" y="835591"/>
                </a:lnTo>
                <a:lnTo>
                  <a:pt x="168675" y="807481"/>
                </a:lnTo>
                <a:lnTo>
                  <a:pt x="158326" y="804635"/>
                </a:lnTo>
                <a:lnTo>
                  <a:pt x="161352" y="792123"/>
                </a:lnTo>
                <a:lnTo>
                  <a:pt x="156908" y="783218"/>
                </a:lnTo>
                <a:lnTo>
                  <a:pt x="120527" y="752912"/>
                </a:lnTo>
                <a:lnTo>
                  <a:pt x="122266" y="744768"/>
                </a:lnTo>
                <a:lnTo>
                  <a:pt x="109998" y="724284"/>
                </a:lnTo>
                <a:lnTo>
                  <a:pt x="89053" y="703683"/>
                </a:lnTo>
                <a:lnTo>
                  <a:pt x="86684" y="701926"/>
                </a:lnTo>
                <a:lnTo>
                  <a:pt x="79036" y="699556"/>
                </a:lnTo>
                <a:lnTo>
                  <a:pt x="74586" y="691841"/>
                </a:lnTo>
                <a:lnTo>
                  <a:pt x="79704" y="681435"/>
                </a:lnTo>
                <a:lnTo>
                  <a:pt x="85465" y="684198"/>
                </a:lnTo>
                <a:lnTo>
                  <a:pt x="80859" y="688682"/>
                </a:lnTo>
                <a:lnTo>
                  <a:pt x="87635" y="688466"/>
                </a:lnTo>
                <a:lnTo>
                  <a:pt x="90918" y="700800"/>
                </a:lnTo>
                <a:lnTo>
                  <a:pt x="106887" y="715038"/>
                </a:lnTo>
                <a:lnTo>
                  <a:pt x="112747" y="711678"/>
                </a:lnTo>
                <a:lnTo>
                  <a:pt x="91825" y="690618"/>
                </a:lnTo>
                <a:lnTo>
                  <a:pt x="90027" y="669857"/>
                </a:lnTo>
                <a:lnTo>
                  <a:pt x="82741" y="666187"/>
                </a:lnTo>
                <a:lnTo>
                  <a:pt x="80144" y="672604"/>
                </a:lnTo>
                <a:lnTo>
                  <a:pt x="82392" y="664176"/>
                </a:lnTo>
                <a:lnTo>
                  <a:pt x="76253" y="663602"/>
                </a:lnTo>
                <a:lnTo>
                  <a:pt x="71684" y="666672"/>
                </a:lnTo>
                <a:lnTo>
                  <a:pt x="77945" y="673504"/>
                </a:lnTo>
                <a:lnTo>
                  <a:pt x="77621" y="675997"/>
                </a:lnTo>
                <a:lnTo>
                  <a:pt x="72157" y="671370"/>
                </a:lnTo>
                <a:lnTo>
                  <a:pt x="64810" y="678610"/>
                </a:lnTo>
                <a:lnTo>
                  <a:pt x="60893" y="675984"/>
                </a:lnTo>
                <a:lnTo>
                  <a:pt x="62592" y="669268"/>
                </a:lnTo>
                <a:lnTo>
                  <a:pt x="55401" y="664004"/>
                </a:lnTo>
                <a:lnTo>
                  <a:pt x="57069" y="647838"/>
                </a:lnTo>
                <a:lnTo>
                  <a:pt x="50742" y="641839"/>
                </a:lnTo>
                <a:lnTo>
                  <a:pt x="55662" y="630570"/>
                </a:lnTo>
                <a:lnTo>
                  <a:pt x="46629" y="621615"/>
                </a:lnTo>
                <a:lnTo>
                  <a:pt x="58670" y="614853"/>
                </a:lnTo>
                <a:lnTo>
                  <a:pt x="56297" y="599648"/>
                </a:lnTo>
                <a:lnTo>
                  <a:pt x="71179" y="588009"/>
                </a:lnTo>
                <a:lnTo>
                  <a:pt x="91507" y="608266"/>
                </a:lnTo>
                <a:lnTo>
                  <a:pt x="109365" y="604394"/>
                </a:lnTo>
                <a:lnTo>
                  <a:pt x="131120" y="578706"/>
                </a:lnTo>
                <a:lnTo>
                  <a:pt x="142140" y="554568"/>
                </a:lnTo>
                <a:lnTo>
                  <a:pt x="146777" y="522928"/>
                </a:lnTo>
                <a:lnTo>
                  <a:pt x="139958" y="485536"/>
                </a:lnTo>
                <a:lnTo>
                  <a:pt x="145022" y="484479"/>
                </a:lnTo>
                <a:lnTo>
                  <a:pt x="146075" y="476060"/>
                </a:lnTo>
                <a:lnTo>
                  <a:pt x="133801" y="433726"/>
                </a:lnTo>
                <a:lnTo>
                  <a:pt x="136165" y="422648"/>
                </a:lnTo>
                <a:lnTo>
                  <a:pt x="123549" y="389670"/>
                </a:lnTo>
                <a:lnTo>
                  <a:pt x="126096" y="378898"/>
                </a:lnTo>
                <a:lnTo>
                  <a:pt x="113959" y="358778"/>
                </a:lnTo>
                <a:lnTo>
                  <a:pt x="111221" y="340294"/>
                </a:lnTo>
                <a:lnTo>
                  <a:pt x="84190" y="298438"/>
                </a:lnTo>
                <a:lnTo>
                  <a:pt x="34565" y="244223"/>
                </a:lnTo>
                <a:lnTo>
                  <a:pt x="24920" y="220581"/>
                </a:lnTo>
                <a:lnTo>
                  <a:pt x="0" y="194999"/>
                </a:lnTo>
                <a:lnTo>
                  <a:pt x="17251" y="200232"/>
                </a:lnTo>
                <a:lnTo>
                  <a:pt x="10815" y="179075"/>
                </a:lnTo>
                <a:lnTo>
                  <a:pt x="34772" y="156781"/>
                </a:lnTo>
                <a:lnTo>
                  <a:pt x="23236" y="135041"/>
                </a:lnTo>
                <a:lnTo>
                  <a:pt x="48014" y="132205"/>
                </a:lnTo>
                <a:lnTo>
                  <a:pt x="48883" y="99434"/>
                </a:lnTo>
                <a:lnTo>
                  <a:pt x="65173" y="96821"/>
                </a:lnTo>
                <a:lnTo>
                  <a:pt x="85590" y="111968"/>
                </a:lnTo>
                <a:lnTo>
                  <a:pt x="94769" y="101652"/>
                </a:lnTo>
                <a:lnTo>
                  <a:pt x="103457" y="105536"/>
                </a:lnTo>
                <a:lnTo>
                  <a:pt x="127198" y="61100"/>
                </a:lnTo>
                <a:lnTo>
                  <a:pt x="126218" y="43830"/>
                </a:lnTo>
                <a:lnTo>
                  <a:pt x="134666" y="26746"/>
                </a:lnTo>
                <a:lnTo>
                  <a:pt x="126329" y="9847"/>
                </a:lnTo>
                <a:lnTo>
                  <a:pt x="159776" y="45646"/>
                </a:lnTo>
                <a:lnTo>
                  <a:pt x="150015" y="24491"/>
                </a:lnTo>
                <a:lnTo>
                  <a:pt x="152982" y="4450"/>
                </a:lnTo>
                <a:lnTo>
                  <a:pt x="167803" y="0"/>
                </a:lnTo>
                <a:lnTo>
                  <a:pt x="188398" y="31307"/>
                </a:lnTo>
                <a:lnTo>
                  <a:pt x="211424" y="32931"/>
                </a:lnTo>
                <a:lnTo>
                  <a:pt x="220422" y="47066"/>
                </a:lnTo>
                <a:lnTo>
                  <a:pt x="220716" y="58016"/>
                </a:lnTo>
                <a:lnTo>
                  <a:pt x="236503" y="69875"/>
                </a:lnTo>
                <a:lnTo>
                  <a:pt x="256489" y="75916"/>
                </a:lnTo>
                <a:lnTo>
                  <a:pt x="260030" y="106852"/>
                </a:lnTo>
                <a:lnTo>
                  <a:pt x="241587" y="113185"/>
                </a:lnTo>
                <a:lnTo>
                  <a:pt x="266401" y="126958"/>
                </a:lnTo>
                <a:lnTo>
                  <a:pt x="250859" y="136256"/>
                </a:lnTo>
                <a:lnTo>
                  <a:pt x="249901" y="152422"/>
                </a:lnTo>
                <a:lnTo>
                  <a:pt x="260576" y="170104"/>
                </a:lnTo>
                <a:lnTo>
                  <a:pt x="261598" y="201950"/>
                </a:lnTo>
                <a:lnTo>
                  <a:pt x="267063" y="213761"/>
                </a:lnTo>
                <a:lnTo>
                  <a:pt x="277566" y="218651"/>
                </a:lnTo>
                <a:lnTo>
                  <a:pt x="271040" y="231695"/>
                </a:lnTo>
                <a:lnTo>
                  <a:pt x="285760" y="248815"/>
                </a:lnTo>
                <a:lnTo>
                  <a:pt x="278894" y="271482"/>
                </a:lnTo>
                <a:lnTo>
                  <a:pt x="296428" y="274411"/>
                </a:lnTo>
                <a:lnTo>
                  <a:pt x="289697" y="286484"/>
                </a:lnTo>
                <a:lnTo>
                  <a:pt x="297035" y="285948"/>
                </a:lnTo>
                <a:lnTo>
                  <a:pt x="298503" y="292469"/>
                </a:lnTo>
                <a:lnTo>
                  <a:pt x="291708" y="311401"/>
                </a:lnTo>
                <a:lnTo>
                  <a:pt x="301476" y="331397"/>
                </a:lnTo>
                <a:lnTo>
                  <a:pt x="295559" y="335745"/>
                </a:lnTo>
                <a:lnTo>
                  <a:pt x="300442" y="342571"/>
                </a:lnTo>
                <a:lnTo>
                  <a:pt x="288582" y="353491"/>
                </a:lnTo>
                <a:lnTo>
                  <a:pt x="288280" y="364479"/>
                </a:lnTo>
                <a:lnTo>
                  <a:pt x="313946" y="372260"/>
                </a:lnTo>
                <a:lnTo>
                  <a:pt x="326459" y="369759"/>
                </a:lnTo>
                <a:lnTo>
                  <a:pt x="329440" y="380702"/>
                </a:lnTo>
                <a:lnTo>
                  <a:pt x="345516" y="358115"/>
                </a:lnTo>
                <a:lnTo>
                  <a:pt x="344406" y="388076"/>
                </a:lnTo>
                <a:lnTo>
                  <a:pt x="346903" y="384209"/>
                </a:lnTo>
                <a:lnTo>
                  <a:pt x="354452" y="388886"/>
                </a:lnTo>
                <a:lnTo>
                  <a:pt x="363834" y="403304"/>
                </a:lnTo>
                <a:lnTo>
                  <a:pt x="370627" y="395867"/>
                </a:lnTo>
                <a:lnTo>
                  <a:pt x="377378" y="399691"/>
                </a:lnTo>
                <a:lnTo>
                  <a:pt x="391089" y="410588"/>
                </a:lnTo>
                <a:lnTo>
                  <a:pt x="392153" y="422024"/>
                </a:lnTo>
                <a:lnTo>
                  <a:pt x="395830" y="412851"/>
                </a:lnTo>
                <a:lnTo>
                  <a:pt x="397873" y="420214"/>
                </a:lnTo>
                <a:lnTo>
                  <a:pt x="389581" y="428577"/>
                </a:lnTo>
                <a:lnTo>
                  <a:pt x="395698" y="436891"/>
                </a:lnTo>
                <a:lnTo>
                  <a:pt x="394567" y="455359"/>
                </a:lnTo>
                <a:lnTo>
                  <a:pt x="377077" y="466031"/>
                </a:lnTo>
                <a:lnTo>
                  <a:pt x="382641" y="485146"/>
                </a:lnTo>
                <a:lnTo>
                  <a:pt x="402862" y="514973"/>
                </a:lnTo>
                <a:lnTo>
                  <a:pt x="397489" y="535621"/>
                </a:lnTo>
                <a:lnTo>
                  <a:pt x="407840" y="562754"/>
                </a:lnTo>
                <a:lnTo>
                  <a:pt x="423862" y="550779"/>
                </a:lnTo>
                <a:lnTo>
                  <a:pt x="425516" y="509998"/>
                </a:lnTo>
                <a:lnTo>
                  <a:pt x="432270" y="501525"/>
                </a:lnTo>
                <a:lnTo>
                  <a:pt x="437967" y="507599"/>
                </a:lnTo>
                <a:lnTo>
                  <a:pt x="448646" y="501690"/>
                </a:lnTo>
                <a:lnTo>
                  <a:pt x="443422" y="496279"/>
                </a:lnTo>
                <a:lnTo>
                  <a:pt x="449330" y="487094"/>
                </a:lnTo>
                <a:lnTo>
                  <a:pt x="455608" y="493368"/>
                </a:lnTo>
                <a:lnTo>
                  <a:pt x="466632" y="479957"/>
                </a:lnTo>
                <a:lnTo>
                  <a:pt x="479067" y="485162"/>
                </a:lnTo>
                <a:lnTo>
                  <a:pt x="492789" y="483040"/>
                </a:lnTo>
                <a:lnTo>
                  <a:pt x="513787" y="461418"/>
                </a:lnTo>
                <a:lnTo>
                  <a:pt x="516532" y="449995"/>
                </a:lnTo>
                <a:lnTo>
                  <a:pt x="525924" y="449064"/>
                </a:lnTo>
                <a:lnTo>
                  <a:pt x="533728" y="433897"/>
                </a:lnTo>
                <a:lnTo>
                  <a:pt x="543429" y="431485"/>
                </a:lnTo>
                <a:lnTo>
                  <a:pt x="540741" y="442613"/>
                </a:lnTo>
                <a:lnTo>
                  <a:pt x="556886" y="441098"/>
                </a:lnTo>
                <a:lnTo>
                  <a:pt x="560740" y="463137"/>
                </a:lnTo>
                <a:lnTo>
                  <a:pt x="552375" y="461512"/>
                </a:lnTo>
                <a:lnTo>
                  <a:pt x="535478" y="492435"/>
                </a:lnTo>
                <a:lnTo>
                  <a:pt x="523848" y="486829"/>
                </a:lnTo>
                <a:lnTo>
                  <a:pt x="533432" y="530717"/>
                </a:lnTo>
                <a:lnTo>
                  <a:pt x="539998" y="549272"/>
                </a:lnTo>
                <a:lnTo>
                  <a:pt x="551401" y="559557"/>
                </a:lnTo>
                <a:lnTo>
                  <a:pt x="551270" y="576701"/>
                </a:lnTo>
                <a:lnTo>
                  <a:pt x="558420" y="584618"/>
                </a:lnTo>
                <a:lnTo>
                  <a:pt x="576107" y="589069"/>
                </a:lnTo>
                <a:lnTo>
                  <a:pt x="589120" y="603683"/>
                </a:lnTo>
                <a:lnTo>
                  <a:pt x="591079" y="615572"/>
                </a:lnTo>
                <a:lnTo>
                  <a:pt x="594469" y="613141"/>
                </a:lnTo>
                <a:lnTo>
                  <a:pt x="607510" y="622406"/>
                </a:lnTo>
                <a:lnTo>
                  <a:pt x="620615" y="622292"/>
                </a:lnTo>
                <a:lnTo>
                  <a:pt x="633333" y="606264"/>
                </a:lnTo>
                <a:lnTo>
                  <a:pt x="640202" y="621879"/>
                </a:lnTo>
                <a:lnTo>
                  <a:pt x="670650" y="621247"/>
                </a:lnTo>
                <a:lnTo>
                  <a:pt x="673139" y="612934"/>
                </a:lnTo>
                <a:lnTo>
                  <a:pt x="684684" y="607865"/>
                </a:lnTo>
                <a:lnTo>
                  <a:pt x="691232" y="587814"/>
                </a:lnTo>
                <a:lnTo>
                  <a:pt x="680983" y="561010"/>
                </a:lnTo>
                <a:lnTo>
                  <a:pt x="692238" y="548109"/>
                </a:lnTo>
                <a:lnTo>
                  <a:pt x="717693" y="541280"/>
                </a:lnTo>
                <a:lnTo>
                  <a:pt x="746317" y="543809"/>
                </a:lnTo>
                <a:lnTo>
                  <a:pt x="759626" y="537195"/>
                </a:lnTo>
                <a:lnTo>
                  <a:pt x="755620" y="527301"/>
                </a:lnTo>
                <a:lnTo>
                  <a:pt x="763983" y="506263"/>
                </a:lnTo>
                <a:lnTo>
                  <a:pt x="784935" y="487915"/>
                </a:lnTo>
                <a:lnTo>
                  <a:pt x="788730" y="471817"/>
                </a:lnTo>
                <a:lnTo>
                  <a:pt x="799994" y="475112"/>
                </a:lnTo>
                <a:lnTo>
                  <a:pt x="816578" y="470407"/>
                </a:lnTo>
                <a:lnTo>
                  <a:pt x="826151" y="458919"/>
                </a:lnTo>
                <a:lnTo>
                  <a:pt x="843233" y="456075"/>
                </a:lnTo>
                <a:lnTo>
                  <a:pt x="838437" y="432380"/>
                </a:lnTo>
                <a:lnTo>
                  <a:pt x="861883" y="426440"/>
                </a:lnTo>
                <a:lnTo>
                  <a:pt x="872426" y="436338"/>
                </a:lnTo>
                <a:lnTo>
                  <a:pt x="881713" y="424928"/>
                </a:lnTo>
                <a:lnTo>
                  <a:pt x="891785" y="436396"/>
                </a:lnTo>
                <a:lnTo>
                  <a:pt x="912309" y="442396"/>
                </a:lnTo>
                <a:lnTo>
                  <a:pt x="923165" y="438366"/>
                </a:lnTo>
                <a:lnTo>
                  <a:pt x="925409" y="428305"/>
                </a:lnTo>
                <a:lnTo>
                  <a:pt x="939060" y="423615"/>
                </a:lnTo>
                <a:lnTo>
                  <a:pt x="942106" y="400071"/>
                </a:lnTo>
                <a:lnTo>
                  <a:pt x="953449" y="391385"/>
                </a:lnTo>
                <a:lnTo>
                  <a:pt x="958263" y="407880"/>
                </a:lnTo>
                <a:lnTo>
                  <a:pt x="967362" y="386671"/>
                </a:lnTo>
                <a:lnTo>
                  <a:pt x="954012" y="375111"/>
                </a:lnTo>
                <a:lnTo>
                  <a:pt x="958444" y="370686"/>
                </a:lnTo>
                <a:lnTo>
                  <a:pt x="952870" y="355021"/>
                </a:lnTo>
                <a:lnTo>
                  <a:pt x="959238" y="344940"/>
                </a:lnTo>
                <a:lnTo>
                  <a:pt x="953944" y="333392"/>
                </a:lnTo>
                <a:lnTo>
                  <a:pt x="973351" y="342687"/>
                </a:lnTo>
                <a:lnTo>
                  <a:pt x="975123" y="324124"/>
                </a:lnTo>
                <a:lnTo>
                  <a:pt x="971334" y="321406"/>
                </a:lnTo>
                <a:lnTo>
                  <a:pt x="981361" y="316687"/>
                </a:lnTo>
                <a:lnTo>
                  <a:pt x="994670" y="265265"/>
                </a:lnTo>
                <a:lnTo>
                  <a:pt x="1003234" y="262742"/>
                </a:lnTo>
                <a:lnTo>
                  <a:pt x="1043911" y="284066"/>
                </a:lnTo>
                <a:lnTo>
                  <a:pt x="1059062" y="285684"/>
                </a:lnTo>
                <a:lnTo>
                  <a:pt x="1059549" y="294693"/>
                </a:lnTo>
                <a:lnTo>
                  <a:pt x="1071188" y="297389"/>
                </a:lnTo>
                <a:lnTo>
                  <a:pt x="1062732" y="318254"/>
                </a:lnTo>
                <a:lnTo>
                  <a:pt x="1070820" y="322528"/>
                </a:lnTo>
                <a:lnTo>
                  <a:pt x="1096951" y="315995"/>
                </a:lnTo>
                <a:lnTo>
                  <a:pt x="1106376" y="330533"/>
                </a:lnTo>
                <a:lnTo>
                  <a:pt x="1124112" y="320318"/>
                </a:lnTo>
                <a:lnTo>
                  <a:pt x="1133780" y="334848"/>
                </a:lnTo>
                <a:lnTo>
                  <a:pt x="1149842" y="330741"/>
                </a:lnTo>
                <a:lnTo>
                  <a:pt x="1163650" y="334756"/>
                </a:lnTo>
                <a:lnTo>
                  <a:pt x="1169971" y="338050"/>
                </a:lnTo>
                <a:lnTo>
                  <a:pt x="1168355" y="354476"/>
                </a:lnTo>
                <a:lnTo>
                  <a:pt x="1177143" y="360178"/>
                </a:lnTo>
                <a:lnTo>
                  <a:pt x="1205493" y="333633"/>
                </a:lnTo>
                <a:lnTo>
                  <a:pt x="1220657" y="296175"/>
                </a:lnTo>
                <a:lnTo>
                  <a:pt x="1243489" y="291669"/>
                </a:lnTo>
                <a:lnTo>
                  <a:pt x="1245386" y="281006"/>
                </a:lnTo>
                <a:lnTo>
                  <a:pt x="1269011" y="289165"/>
                </a:lnTo>
                <a:lnTo>
                  <a:pt x="1289672" y="274612"/>
                </a:lnTo>
                <a:lnTo>
                  <a:pt x="1310684" y="273762"/>
                </a:lnTo>
                <a:lnTo>
                  <a:pt x="1319871" y="286110"/>
                </a:lnTo>
                <a:lnTo>
                  <a:pt x="1338534" y="290867"/>
                </a:lnTo>
                <a:lnTo>
                  <a:pt x="1331441" y="303370"/>
                </a:lnTo>
                <a:lnTo>
                  <a:pt x="1337713" y="304394"/>
                </a:lnTo>
                <a:lnTo>
                  <a:pt x="1350327" y="321887"/>
                </a:lnTo>
                <a:lnTo>
                  <a:pt x="1362107" y="305548"/>
                </a:lnTo>
                <a:lnTo>
                  <a:pt x="1365096" y="288470"/>
                </a:lnTo>
                <a:lnTo>
                  <a:pt x="1383426" y="288318"/>
                </a:lnTo>
                <a:lnTo>
                  <a:pt x="1379470" y="294357"/>
                </a:lnTo>
                <a:lnTo>
                  <a:pt x="1388914" y="313955"/>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Working geographic region: Eastern coastal"/>
          <p:cNvSpPr/>
          <p:nvPr/>
        </p:nvSpPr>
        <p:spPr>
          <a:xfrm>
            <a:off x="3217820" y="3542692"/>
            <a:ext cx="2305921" cy="1846861"/>
          </a:xfrm>
          <a:custGeom>
            <a:avLst/>
            <a:gdLst/>
            <a:ahLst/>
            <a:cxnLst/>
            <a:rect l="l" t="t" r="r" b="b"/>
            <a:pathLst>
              <a:path w="2305921" h="1846861">
                <a:moveTo>
                  <a:pt x="1600396" y="1109780"/>
                </a:moveTo>
                <a:lnTo>
                  <a:pt x="1552222" y="1156893"/>
                </a:lnTo>
                <a:lnTo>
                  <a:pt x="1532452" y="1160172"/>
                </a:lnTo>
                <a:lnTo>
                  <a:pt x="1481036" y="1208706"/>
                </a:lnTo>
                <a:lnTo>
                  <a:pt x="1453741" y="1220233"/>
                </a:lnTo>
                <a:lnTo>
                  <a:pt x="1449105" y="1230898"/>
                </a:lnTo>
                <a:lnTo>
                  <a:pt x="1438747" y="1236782"/>
                </a:lnTo>
                <a:lnTo>
                  <a:pt x="1436318" y="1248266"/>
                </a:lnTo>
                <a:lnTo>
                  <a:pt x="1417163" y="1262952"/>
                </a:lnTo>
                <a:lnTo>
                  <a:pt x="1405540" y="1283318"/>
                </a:lnTo>
                <a:lnTo>
                  <a:pt x="1388233" y="1295723"/>
                </a:lnTo>
                <a:lnTo>
                  <a:pt x="1377202" y="1316936"/>
                </a:lnTo>
                <a:lnTo>
                  <a:pt x="1362051" y="1326785"/>
                </a:lnTo>
                <a:lnTo>
                  <a:pt x="1330982" y="1366584"/>
                </a:lnTo>
                <a:lnTo>
                  <a:pt x="1308715" y="1381795"/>
                </a:lnTo>
                <a:lnTo>
                  <a:pt x="1256150" y="1438980"/>
                </a:lnTo>
                <a:lnTo>
                  <a:pt x="1230251" y="1453168"/>
                </a:lnTo>
                <a:lnTo>
                  <a:pt x="1216543" y="1471642"/>
                </a:lnTo>
                <a:lnTo>
                  <a:pt x="1165080" y="1496393"/>
                </a:lnTo>
                <a:lnTo>
                  <a:pt x="1151740" y="1522852"/>
                </a:lnTo>
                <a:lnTo>
                  <a:pt x="1125327" y="1539235"/>
                </a:lnTo>
                <a:lnTo>
                  <a:pt x="1117376" y="1551721"/>
                </a:lnTo>
                <a:lnTo>
                  <a:pt x="1074306" y="1574361"/>
                </a:lnTo>
                <a:lnTo>
                  <a:pt x="1046671" y="1599569"/>
                </a:lnTo>
                <a:lnTo>
                  <a:pt x="949172" y="1663158"/>
                </a:lnTo>
                <a:lnTo>
                  <a:pt x="939555" y="1674809"/>
                </a:lnTo>
                <a:lnTo>
                  <a:pt x="901724" y="1688654"/>
                </a:lnTo>
                <a:lnTo>
                  <a:pt x="886408" y="1699869"/>
                </a:lnTo>
                <a:lnTo>
                  <a:pt x="859634" y="1706250"/>
                </a:lnTo>
                <a:lnTo>
                  <a:pt x="819926" y="1730059"/>
                </a:lnTo>
                <a:lnTo>
                  <a:pt x="800548" y="1736227"/>
                </a:lnTo>
                <a:lnTo>
                  <a:pt x="769694" y="1734446"/>
                </a:lnTo>
                <a:lnTo>
                  <a:pt x="707203" y="1717744"/>
                </a:lnTo>
                <a:lnTo>
                  <a:pt x="655271" y="1727146"/>
                </a:lnTo>
                <a:lnTo>
                  <a:pt x="628675" y="1747032"/>
                </a:lnTo>
                <a:lnTo>
                  <a:pt x="617419" y="1771774"/>
                </a:lnTo>
                <a:lnTo>
                  <a:pt x="617199" y="1779280"/>
                </a:lnTo>
                <a:lnTo>
                  <a:pt x="636585" y="1800781"/>
                </a:lnTo>
                <a:lnTo>
                  <a:pt x="610310" y="1805450"/>
                </a:lnTo>
                <a:lnTo>
                  <a:pt x="573395" y="1801460"/>
                </a:lnTo>
                <a:lnTo>
                  <a:pt x="529835" y="1783885"/>
                </a:lnTo>
                <a:lnTo>
                  <a:pt x="490048" y="1785266"/>
                </a:lnTo>
                <a:lnTo>
                  <a:pt x="471149" y="1795943"/>
                </a:lnTo>
                <a:lnTo>
                  <a:pt x="469864" y="1812566"/>
                </a:lnTo>
                <a:lnTo>
                  <a:pt x="452936" y="1828402"/>
                </a:lnTo>
                <a:lnTo>
                  <a:pt x="450696" y="1835104"/>
                </a:lnTo>
                <a:lnTo>
                  <a:pt x="459042" y="1842469"/>
                </a:lnTo>
                <a:lnTo>
                  <a:pt x="451741" y="1846861"/>
                </a:lnTo>
                <a:lnTo>
                  <a:pt x="411111" y="1836503"/>
                </a:lnTo>
                <a:lnTo>
                  <a:pt x="403086" y="1841231"/>
                </a:lnTo>
                <a:lnTo>
                  <a:pt x="378057" y="1835260"/>
                </a:lnTo>
                <a:lnTo>
                  <a:pt x="354681" y="1818869"/>
                </a:lnTo>
                <a:lnTo>
                  <a:pt x="339416" y="1818642"/>
                </a:lnTo>
                <a:lnTo>
                  <a:pt x="314495" y="1808099"/>
                </a:lnTo>
                <a:lnTo>
                  <a:pt x="197202" y="1791204"/>
                </a:lnTo>
                <a:lnTo>
                  <a:pt x="195364" y="1771643"/>
                </a:lnTo>
                <a:lnTo>
                  <a:pt x="209291" y="1758969"/>
                </a:lnTo>
                <a:lnTo>
                  <a:pt x="178963" y="1750350"/>
                </a:lnTo>
                <a:lnTo>
                  <a:pt x="177856" y="1741278"/>
                </a:lnTo>
                <a:lnTo>
                  <a:pt x="169576" y="1738497"/>
                </a:lnTo>
                <a:lnTo>
                  <a:pt x="163303" y="1745077"/>
                </a:lnTo>
                <a:lnTo>
                  <a:pt x="143142" y="1741543"/>
                </a:lnTo>
                <a:lnTo>
                  <a:pt x="152462" y="1722170"/>
                </a:lnTo>
                <a:lnTo>
                  <a:pt x="174088" y="1717320"/>
                </a:lnTo>
                <a:lnTo>
                  <a:pt x="177187" y="1705005"/>
                </a:lnTo>
                <a:lnTo>
                  <a:pt x="183552" y="1710350"/>
                </a:lnTo>
                <a:lnTo>
                  <a:pt x="201656" y="1710084"/>
                </a:lnTo>
                <a:lnTo>
                  <a:pt x="202480" y="1698135"/>
                </a:lnTo>
                <a:lnTo>
                  <a:pt x="185421" y="1684694"/>
                </a:lnTo>
                <a:lnTo>
                  <a:pt x="186839" y="1665209"/>
                </a:lnTo>
                <a:lnTo>
                  <a:pt x="163393" y="1651961"/>
                </a:lnTo>
                <a:lnTo>
                  <a:pt x="133168" y="1651795"/>
                </a:lnTo>
                <a:lnTo>
                  <a:pt x="135221" y="1657030"/>
                </a:lnTo>
                <a:lnTo>
                  <a:pt x="120555" y="1638544"/>
                </a:lnTo>
                <a:lnTo>
                  <a:pt x="85680" y="1638825"/>
                </a:lnTo>
                <a:lnTo>
                  <a:pt x="42919" y="1650178"/>
                </a:lnTo>
                <a:lnTo>
                  <a:pt x="8442" y="1648418"/>
                </a:lnTo>
                <a:lnTo>
                  <a:pt x="0" y="1642195"/>
                </a:lnTo>
                <a:lnTo>
                  <a:pt x="377" y="1624079"/>
                </a:lnTo>
                <a:lnTo>
                  <a:pt x="11249" y="1619603"/>
                </a:lnTo>
                <a:lnTo>
                  <a:pt x="45596" y="1559066"/>
                </a:lnTo>
                <a:lnTo>
                  <a:pt x="40770" y="1545983"/>
                </a:lnTo>
                <a:lnTo>
                  <a:pt x="48217" y="1538614"/>
                </a:lnTo>
                <a:lnTo>
                  <a:pt x="43585" y="1527611"/>
                </a:lnTo>
                <a:lnTo>
                  <a:pt x="55889" y="1507642"/>
                </a:lnTo>
                <a:lnTo>
                  <a:pt x="79366" y="1503453"/>
                </a:lnTo>
                <a:lnTo>
                  <a:pt x="73248" y="1488505"/>
                </a:lnTo>
                <a:lnTo>
                  <a:pt x="94332" y="1480048"/>
                </a:lnTo>
                <a:lnTo>
                  <a:pt x="135896" y="1494160"/>
                </a:lnTo>
                <a:lnTo>
                  <a:pt x="139796" y="1478365"/>
                </a:lnTo>
                <a:lnTo>
                  <a:pt x="129817" y="1478585"/>
                </a:lnTo>
                <a:lnTo>
                  <a:pt x="125528" y="1463253"/>
                </a:lnTo>
                <a:lnTo>
                  <a:pt x="111699" y="1455237"/>
                </a:lnTo>
                <a:lnTo>
                  <a:pt x="118492" y="1450100"/>
                </a:lnTo>
                <a:lnTo>
                  <a:pt x="119628" y="1439808"/>
                </a:lnTo>
                <a:lnTo>
                  <a:pt x="115240" y="1424419"/>
                </a:lnTo>
                <a:lnTo>
                  <a:pt x="105613" y="1414848"/>
                </a:lnTo>
                <a:lnTo>
                  <a:pt x="100288" y="1392370"/>
                </a:lnTo>
                <a:lnTo>
                  <a:pt x="118782" y="1384643"/>
                </a:lnTo>
                <a:lnTo>
                  <a:pt x="124194" y="1373110"/>
                </a:lnTo>
                <a:lnTo>
                  <a:pt x="141021" y="1382609"/>
                </a:lnTo>
                <a:lnTo>
                  <a:pt x="149277" y="1365632"/>
                </a:lnTo>
                <a:lnTo>
                  <a:pt x="196329" y="1370407"/>
                </a:lnTo>
                <a:lnTo>
                  <a:pt x="199156" y="1366507"/>
                </a:lnTo>
                <a:lnTo>
                  <a:pt x="192646" y="1358629"/>
                </a:lnTo>
                <a:lnTo>
                  <a:pt x="197151" y="1343140"/>
                </a:lnTo>
                <a:lnTo>
                  <a:pt x="217819" y="1327835"/>
                </a:lnTo>
                <a:lnTo>
                  <a:pt x="245460" y="1347052"/>
                </a:lnTo>
                <a:lnTo>
                  <a:pt x="260319" y="1334527"/>
                </a:lnTo>
                <a:lnTo>
                  <a:pt x="275388" y="1331061"/>
                </a:lnTo>
                <a:lnTo>
                  <a:pt x="276942" y="1322006"/>
                </a:lnTo>
                <a:lnTo>
                  <a:pt x="290476" y="1323399"/>
                </a:lnTo>
                <a:lnTo>
                  <a:pt x="298102" y="1312890"/>
                </a:lnTo>
                <a:lnTo>
                  <a:pt x="292390" y="1302996"/>
                </a:lnTo>
                <a:lnTo>
                  <a:pt x="289875" y="1309790"/>
                </a:lnTo>
                <a:lnTo>
                  <a:pt x="290873" y="1299324"/>
                </a:lnTo>
                <a:lnTo>
                  <a:pt x="299166" y="1294522"/>
                </a:lnTo>
                <a:lnTo>
                  <a:pt x="299043" y="1284381"/>
                </a:lnTo>
                <a:lnTo>
                  <a:pt x="309628" y="1284443"/>
                </a:lnTo>
                <a:lnTo>
                  <a:pt x="316725" y="1269915"/>
                </a:lnTo>
                <a:lnTo>
                  <a:pt x="303920" y="1256389"/>
                </a:lnTo>
                <a:lnTo>
                  <a:pt x="291087" y="1257620"/>
                </a:lnTo>
                <a:lnTo>
                  <a:pt x="294946" y="1242326"/>
                </a:lnTo>
                <a:lnTo>
                  <a:pt x="301452" y="1244257"/>
                </a:lnTo>
                <a:lnTo>
                  <a:pt x="301718" y="1235960"/>
                </a:lnTo>
                <a:lnTo>
                  <a:pt x="308010" y="1233562"/>
                </a:lnTo>
                <a:lnTo>
                  <a:pt x="301562" y="1229779"/>
                </a:lnTo>
                <a:lnTo>
                  <a:pt x="303037" y="1214892"/>
                </a:lnTo>
                <a:lnTo>
                  <a:pt x="330074" y="1221114"/>
                </a:lnTo>
                <a:lnTo>
                  <a:pt x="342169" y="1207908"/>
                </a:lnTo>
                <a:lnTo>
                  <a:pt x="360237" y="1207252"/>
                </a:lnTo>
                <a:lnTo>
                  <a:pt x="357871" y="1201347"/>
                </a:lnTo>
                <a:lnTo>
                  <a:pt x="364168" y="1207481"/>
                </a:lnTo>
                <a:lnTo>
                  <a:pt x="380104" y="1205455"/>
                </a:lnTo>
                <a:lnTo>
                  <a:pt x="381038" y="1152487"/>
                </a:lnTo>
                <a:lnTo>
                  <a:pt x="389663" y="1148345"/>
                </a:lnTo>
                <a:lnTo>
                  <a:pt x="391430" y="1132173"/>
                </a:lnTo>
                <a:lnTo>
                  <a:pt x="397756" y="1127173"/>
                </a:lnTo>
                <a:lnTo>
                  <a:pt x="412866" y="1123155"/>
                </a:lnTo>
                <a:lnTo>
                  <a:pt x="422899" y="1129740"/>
                </a:lnTo>
                <a:lnTo>
                  <a:pt x="440024" y="1124575"/>
                </a:lnTo>
                <a:lnTo>
                  <a:pt x="448094" y="1116134"/>
                </a:lnTo>
                <a:lnTo>
                  <a:pt x="456304" y="1120497"/>
                </a:lnTo>
                <a:lnTo>
                  <a:pt x="454121" y="1108887"/>
                </a:lnTo>
                <a:lnTo>
                  <a:pt x="471825" y="1106868"/>
                </a:lnTo>
                <a:lnTo>
                  <a:pt x="487650" y="1092213"/>
                </a:lnTo>
                <a:lnTo>
                  <a:pt x="499266" y="1093823"/>
                </a:lnTo>
                <a:lnTo>
                  <a:pt x="523898" y="1086122"/>
                </a:lnTo>
                <a:lnTo>
                  <a:pt x="532823" y="1074097"/>
                </a:lnTo>
                <a:lnTo>
                  <a:pt x="564344" y="1085400"/>
                </a:lnTo>
                <a:lnTo>
                  <a:pt x="571349" y="1080777"/>
                </a:lnTo>
                <a:lnTo>
                  <a:pt x="571045" y="1063672"/>
                </a:lnTo>
                <a:lnTo>
                  <a:pt x="584703" y="1050735"/>
                </a:lnTo>
                <a:lnTo>
                  <a:pt x="583079" y="1040827"/>
                </a:lnTo>
                <a:lnTo>
                  <a:pt x="596965" y="1027045"/>
                </a:lnTo>
                <a:lnTo>
                  <a:pt x="591132" y="1021007"/>
                </a:lnTo>
                <a:lnTo>
                  <a:pt x="599085" y="1013838"/>
                </a:lnTo>
                <a:lnTo>
                  <a:pt x="600655" y="999979"/>
                </a:lnTo>
                <a:lnTo>
                  <a:pt x="590431" y="991835"/>
                </a:lnTo>
                <a:lnTo>
                  <a:pt x="607753" y="971739"/>
                </a:lnTo>
                <a:lnTo>
                  <a:pt x="592496" y="968585"/>
                </a:lnTo>
                <a:lnTo>
                  <a:pt x="589765" y="929004"/>
                </a:lnTo>
                <a:lnTo>
                  <a:pt x="610847" y="927081"/>
                </a:lnTo>
                <a:lnTo>
                  <a:pt x="618483" y="920478"/>
                </a:lnTo>
                <a:lnTo>
                  <a:pt x="624657" y="929189"/>
                </a:lnTo>
                <a:lnTo>
                  <a:pt x="622161" y="937287"/>
                </a:lnTo>
                <a:lnTo>
                  <a:pt x="635844" y="933293"/>
                </a:lnTo>
                <a:lnTo>
                  <a:pt x="639716" y="942526"/>
                </a:lnTo>
                <a:lnTo>
                  <a:pt x="655389" y="945796"/>
                </a:lnTo>
                <a:lnTo>
                  <a:pt x="661857" y="932688"/>
                </a:lnTo>
                <a:lnTo>
                  <a:pt x="683577" y="925979"/>
                </a:lnTo>
                <a:lnTo>
                  <a:pt x="682521" y="908976"/>
                </a:lnTo>
                <a:lnTo>
                  <a:pt x="692479" y="919597"/>
                </a:lnTo>
                <a:lnTo>
                  <a:pt x="702772" y="907689"/>
                </a:lnTo>
                <a:lnTo>
                  <a:pt x="729484" y="902377"/>
                </a:lnTo>
                <a:lnTo>
                  <a:pt x="739321" y="908546"/>
                </a:lnTo>
                <a:lnTo>
                  <a:pt x="736766" y="898253"/>
                </a:lnTo>
                <a:lnTo>
                  <a:pt x="744002" y="894080"/>
                </a:lnTo>
                <a:lnTo>
                  <a:pt x="751578" y="906455"/>
                </a:lnTo>
                <a:lnTo>
                  <a:pt x="766102" y="909539"/>
                </a:lnTo>
                <a:lnTo>
                  <a:pt x="769754" y="921502"/>
                </a:lnTo>
                <a:lnTo>
                  <a:pt x="786525" y="923054"/>
                </a:lnTo>
                <a:lnTo>
                  <a:pt x="807211" y="916742"/>
                </a:lnTo>
                <a:lnTo>
                  <a:pt x="816051" y="923120"/>
                </a:lnTo>
                <a:lnTo>
                  <a:pt x="814589" y="932262"/>
                </a:lnTo>
                <a:lnTo>
                  <a:pt x="830954" y="941283"/>
                </a:lnTo>
                <a:lnTo>
                  <a:pt x="846691" y="940900"/>
                </a:lnTo>
                <a:lnTo>
                  <a:pt x="846671" y="949122"/>
                </a:lnTo>
                <a:lnTo>
                  <a:pt x="856910" y="942523"/>
                </a:lnTo>
                <a:lnTo>
                  <a:pt x="862977" y="947568"/>
                </a:lnTo>
                <a:lnTo>
                  <a:pt x="885759" y="935750"/>
                </a:lnTo>
                <a:lnTo>
                  <a:pt x="898464" y="947400"/>
                </a:lnTo>
                <a:lnTo>
                  <a:pt x="901923" y="941182"/>
                </a:lnTo>
                <a:lnTo>
                  <a:pt x="917422" y="941179"/>
                </a:lnTo>
                <a:lnTo>
                  <a:pt x="913262" y="932383"/>
                </a:lnTo>
                <a:lnTo>
                  <a:pt x="917444" y="928139"/>
                </a:lnTo>
                <a:lnTo>
                  <a:pt x="936451" y="926678"/>
                </a:lnTo>
                <a:lnTo>
                  <a:pt x="930541" y="910358"/>
                </a:lnTo>
                <a:lnTo>
                  <a:pt x="948202" y="908305"/>
                </a:lnTo>
                <a:lnTo>
                  <a:pt x="952665" y="916129"/>
                </a:lnTo>
                <a:lnTo>
                  <a:pt x="959866" y="909582"/>
                </a:lnTo>
                <a:lnTo>
                  <a:pt x="958298" y="903906"/>
                </a:lnTo>
                <a:lnTo>
                  <a:pt x="970610" y="907838"/>
                </a:lnTo>
                <a:lnTo>
                  <a:pt x="976640" y="898323"/>
                </a:lnTo>
                <a:lnTo>
                  <a:pt x="980275" y="904166"/>
                </a:lnTo>
                <a:lnTo>
                  <a:pt x="982581" y="896803"/>
                </a:lnTo>
                <a:lnTo>
                  <a:pt x="995498" y="904972"/>
                </a:lnTo>
                <a:lnTo>
                  <a:pt x="1002261" y="897905"/>
                </a:lnTo>
                <a:lnTo>
                  <a:pt x="996312" y="887612"/>
                </a:lnTo>
                <a:lnTo>
                  <a:pt x="1011446" y="886211"/>
                </a:lnTo>
                <a:lnTo>
                  <a:pt x="1001657" y="882472"/>
                </a:lnTo>
                <a:lnTo>
                  <a:pt x="1005040" y="876175"/>
                </a:lnTo>
                <a:lnTo>
                  <a:pt x="1013406" y="879043"/>
                </a:lnTo>
                <a:lnTo>
                  <a:pt x="1019395" y="874953"/>
                </a:lnTo>
                <a:lnTo>
                  <a:pt x="1008113" y="858500"/>
                </a:lnTo>
                <a:lnTo>
                  <a:pt x="1017203" y="861459"/>
                </a:lnTo>
                <a:lnTo>
                  <a:pt x="1030933" y="855031"/>
                </a:lnTo>
                <a:lnTo>
                  <a:pt x="1038546" y="870498"/>
                </a:lnTo>
                <a:lnTo>
                  <a:pt x="1052509" y="877898"/>
                </a:lnTo>
                <a:lnTo>
                  <a:pt x="1055407" y="889128"/>
                </a:lnTo>
                <a:lnTo>
                  <a:pt x="1063453" y="890130"/>
                </a:lnTo>
                <a:lnTo>
                  <a:pt x="1064500" y="902333"/>
                </a:lnTo>
                <a:lnTo>
                  <a:pt x="1082101" y="914303"/>
                </a:lnTo>
                <a:lnTo>
                  <a:pt x="1093114" y="930695"/>
                </a:lnTo>
                <a:lnTo>
                  <a:pt x="1104866" y="934865"/>
                </a:lnTo>
                <a:lnTo>
                  <a:pt x="1131525" y="930956"/>
                </a:lnTo>
                <a:lnTo>
                  <a:pt x="1136779" y="942044"/>
                </a:lnTo>
                <a:lnTo>
                  <a:pt x="1168558" y="945387"/>
                </a:lnTo>
                <a:lnTo>
                  <a:pt x="1174818" y="951080"/>
                </a:lnTo>
                <a:lnTo>
                  <a:pt x="1175253" y="931715"/>
                </a:lnTo>
                <a:lnTo>
                  <a:pt x="1183788" y="927884"/>
                </a:lnTo>
                <a:lnTo>
                  <a:pt x="1189922" y="913010"/>
                </a:lnTo>
                <a:lnTo>
                  <a:pt x="1185757" y="897614"/>
                </a:lnTo>
                <a:lnTo>
                  <a:pt x="1192569" y="890038"/>
                </a:lnTo>
                <a:lnTo>
                  <a:pt x="1208565" y="885908"/>
                </a:lnTo>
                <a:lnTo>
                  <a:pt x="1211712" y="869617"/>
                </a:lnTo>
                <a:lnTo>
                  <a:pt x="1198193" y="853268"/>
                </a:lnTo>
                <a:lnTo>
                  <a:pt x="1204924" y="845556"/>
                </a:lnTo>
                <a:lnTo>
                  <a:pt x="1229466" y="839066"/>
                </a:lnTo>
                <a:lnTo>
                  <a:pt x="1234213" y="822961"/>
                </a:lnTo>
                <a:lnTo>
                  <a:pt x="1242109" y="816804"/>
                </a:lnTo>
                <a:lnTo>
                  <a:pt x="1258170" y="820324"/>
                </a:lnTo>
                <a:lnTo>
                  <a:pt x="1275789" y="811898"/>
                </a:lnTo>
                <a:lnTo>
                  <a:pt x="1301627" y="817832"/>
                </a:lnTo>
                <a:lnTo>
                  <a:pt x="1343760" y="806232"/>
                </a:lnTo>
                <a:lnTo>
                  <a:pt x="1379968" y="784825"/>
                </a:lnTo>
                <a:lnTo>
                  <a:pt x="1415197" y="764098"/>
                </a:lnTo>
                <a:lnTo>
                  <a:pt x="1414000" y="755797"/>
                </a:lnTo>
                <a:lnTo>
                  <a:pt x="1400589" y="745868"/>
                </a:lnTo>
                <a:lnTo>
                  <a:pt x="1407558" y="740739"/>
                </a:lnTo>
                <a:lnTo>
                  <a:pt x="1406309" y="725716"/>
                </a:lnTo>
                <a:lnTo>
                  <a:pt x="1415139" y="704303"/>
                </a:lnTo>
                <a:lnTo>
                  <a:pt x="1432325" y="693929"/>
                </a:lnTo>
                <a:lnTo>
                  <a:pt x="1442859" y="695090"/>
                </a:lnTo>
                <a:lnTo>
                  <a:pt x="1444047" y="680222"/>
                </a:lnTo>
                <a:lnTo>
                  <a:pt x="1453109" y="676793"/>
                </a:lnTo>
                <a:lnTo>
                  <a:pt x="1446754" y="656139"/>
                </a:lnTo>
                <a:lnTo>
                  <a:pt x="1471788" y="645388"/>
                </a:lnTo>
                <a:lnTo>
                  <a:pt x="1484542" y="618155"/>
                </a:lnTo>
                <a:lnTo>
                  <a:pt x="1475130" y="586055"/>
                </a:lnTo>
                <a:lnTo>
                  <a:pt x="1461074" y="579185"/>
                </a:lnTo>
                <a:lnTo>
                  <a:pt x="1464277" y="564110"/>
                </a:lnTo>
                <a:lnTo>
                  <a:pt x="1454889" y="551263"/>
                </a:lnTo>
                <a:lnTo>
                  <a:pt x="1441859" y="553397"/>
                </a:lnTo>
                <a:lnTo>
                  <a:pt x="1433563" y="536857"/>
                </a:lnTo>
                <a:lnTo>
                  <a:pt x="1413582" y="524435"/>
                </a:lnTo>
                <a:lnTo>
                  <a:pt x="1390738" y="498465"/>
                </a:lnTo>
                <a:lnTo>
                  <a:pt x="1381737" y="506548"/>
                </a:lnTo>
                <a:lnTo>
                  <a:pt x="1373099" y="492881"/>
                </a:lnTo>
                <a:lnTo>
                  <a:pt x="1375289" y="484301"/>
                </a:lnTo>
                <a:lnTo>
                  <a:pt x="1369507" y="480060"/>
                </a:lnTo>
                <a:lnTo>
                  <a:pt x="1375666" y="478096"/>
                </a:lnTo>
                <a:lnTo>
                  <a:pt x="1374677" y="472518"/>
                </a:lnTo>
                <a:lnTo>
                  <a:pt x="1366451" y="466200"/>
                </a:lnTo>
                <a:lnTo>
                  <a:pt x="1358980" y="468943"/>
                </a:lnTo>
                <a:lnTo>
                  <a:pt x="1364954" y="448700"/>
                </a:lnTo>
                <a:lnTo>
                  <a:pt x="1375558" y="438817"/>
                </a:lnTo>
                <a:lnTo>
                  <a:pt x="1383243" y="419530"/>
                </a:lnTo>
                <a:lnTo>
                  <a:pt x="1411088" y="412929"/>
                </a:lnTo>
                <a:lnTo>
                  <a:pt x="1419626" y="418655"/>
                </a:lnTo>
                <a:lnTo>
                  <a:pt x="1428063" y="409663"/>
                </a:lnTo>
                <a:lnTo>
                  <a:pt x="1433665" y="413703"/>
                </a:lnTo>
                <a:lnTo>
                  <a:pt x="1438375" y="407215"/>
                </a:lnTo>
                <a:lnTo>
                  <a:pt x="1433017" y="400556"/>
                </a:lnTo>
                <a:lnTo>
                  <a:pt x="1446560" y="383401"/>
                </a:lnTo>
                <a:lnTo>
                  <a:pt x="1455779" y="387057"/>
                </a:lnTo>
                <a:lnTo>
                  <a:pt x="1475202" y="370867"/>
                </a:lnTo>
                <a:lnTo>
                  <a:pt x="1484404" y="372233"/>
                </a:lnTo>
                <a:lnTo>
                  <a:pt x="1500893" y="346294"/>
                </a:lnTo>
                <a:lnTo>
                  <a:pt x="1532134" y="339553"/>
                </a:lnTo>
                <a:lnTo>
                  <a:pt x="1534165" y="325425"/>
                </a:lnTo>
                <a:lnTo>
                  <a:pt x="1542510" y="323575"/>
                </a:lnTo>
                <a:lnTo>
                  <a:pt x="1541702" y="301207"/>
                </a:lnTo>
                <a:lnTo>
                  <a:pt x="1533377" y="289827"/>
                </a:lnTo>
                <a:lnTo>
                  <a:pt x="1541861" y="269638"/>
                </a:lnTo>
                <a:lnTo>
                  <a:pt x="1548508" y="267521"/>
                </a:lnTo>
                <a:lnTo>
                  <a:pt x="1542958" y="258560"/>
                </a:lnTo>
                <a:lnTo>
                  <a:pt x="1551520" y="251840"/>
                </a:lnTo>
                <a:lnTo>
                  <a:pt x="1553739" y="233683"/>
                </a:lnTo>
                <a:lnTo>
                  <a:pt x="1561673" y="229796"/>
                </a:lnTo>
                <a:lnTo>
                  <a:pt x="1555778" y="218971"/>
                </a:lnTo>
                <a:lnTo>
                  <a:pt x="1557699" y="201581"/>
                </a:lnTo>
                <a:lnTo>
                  <a:pt x="1549571" y="188983"/>
                </a:lnTo>
                <a:lnTo>
                  <a:pt x="1576022" y="176250"/>
                </a:lnTo>
                <a:lnTo>
                  <a:pt x="1570623" y="158207"/>
                </a:lnTo>
                <a:lnTo>
                  <a:pt x="1559577" y="154307"/>
                </a:lnTo>
                <a:lnTo>
                  <a:pt x="1564993" y="147952"/>
                </a:lnTo>
                <a:lnTo>
                  <a:pt x="1559884" y="141053"/>
                </a:lnTo>
                <a:lnTo>
                  <a:pt x="1571534" y="136597"/>
                </a:lnTo>
                <a:lnTo>
                  <a:pt x="1579939" y="140805"/>
                </a:lnTo>
                <a:lnTo>
                  <a:pt x="1590742" y="121085"/>
                </a:lnTo>
                <a:lnTo>
                  <a:pt x="1604036" y="123370"/>
                </a:lnTo>
                <a:lnTo>
                  <a:pt x="1608550" y="115514"/>
                </a:lnTo>
                <a:lnTo>
                  <a:pt x="1630674" y="127486"/>
                </a:lnTo>
                <a:lnTo>
                  <a:pt x="1647063" y="120726"/>
                </a:lnTo>
                <a:lnTo>
                  <a:pt x="1659482" y="132752"/>
                </a:lnTo>
                <a:lnTo>
                  <a:pt x="1672564" y="118407"/>
                </a:lnTo>
                <a:lnTo>
                  <a:pt x="1680626" y="125303"/>
                </a:lnTo>
                <a:lnTo>
                  <a:pt x="1691073" y="122648"/>
                </a:lnTo>
                <a:lnTo>
                  <a:pt x="1692250" y="108831"/>
                </a:lnTo>
                <a:lnTo>
                  <a:pt x="1711482" y="108979"/>
                </a:lnTo>
                <a:lnTo>
                  <a:pt x="1712180" y="97674"/>
                </a:lnTo>
                <a:lnTo>
                  <a:pt x="1725573" y="98890"/>
                </a:lnTo>
                <a:lnTo>
                  <a:pt x="1724958" y="110422"/>
                </a:lnTo>
                <a:lnTo>
                  <a:pt x="1729896" y="113919"/>
                </a:lnTo>
                <a:lnTo>
                  <a:pt x="1741274" y="110508"/>
                </a:lnTo>
                <a:lnTo>
                  <a:pt x="1761585" y="114181"/>
                </a:lnTo>
                <a:lnTo>
                  <a:pt x="1791840" y="105539"/>
                </a:lnTo>
                <a:lnTo>
                  <a:pt x="1803469" y="117004"/>
                </a:lnTo>
                <a:lnTo>
                  <a:pt x="1807718" y="113732"/>
                </a:lnTo>
                <a:lnTo>
                  <a:pt x="1814833" y="124673"/>
                </a:lnTo>
                <a:lnTo>
                  <a:pt x="1822996" y="122287"/>
                </a:lnTo>
                <a:lnTo>
                  <a:pt x="1825265" y="114550"/>
                </a:lnTo>
                <a:lnTo>
                  <a:pt x="1838178" y="113231"/>
                </a:lnTo>
                <a:lnTo>
                  <a:pt x="1841970" y="129575"/>
                </a:lnTo>
                <a:lnTo>
                  <a:pt x="1878117" y="121562"/>
                </a:lnTo>
                <a:lnTo>
                  <a:pt x="1892906" y="132251"/>
                </a:lnTo>
                <a:lnTo>
                  <a:pt x="1919237" y="101489"/>
                </a:lnTo>
                <a:lnTo>
                  <a:pt x="1968274" y="122549"/>
                </a:lnTo>
                <a:lnTo>
                  <a:pt x="2078485" y="129340"/>
                </a:lnTo>
                <a:lnTo>
                  <a:pt x="2080657" y="77892"/>
                </a:lnTo>
                <a:lnTo>
                  <a:pt x="2093447" y="118"/>
                </a:lnTo>
                <a:lnTo>
                  <a:pt x="2113849" y="0"/>
                </a:lnTo>
                <a:lnTo>
                  <a:pt x="2117954" y="8890"/>
                </a:lnTo>
                <a:lnTo>
                  <a:pt x="2131728" y="15945"/>
                </a:lnTo>
                <a:lnTo>
                  <a:pt x="2140790" y="8714"/>
                </a:lnTo>
                <a:lnTo>
                  <a:pt x="2165774" y="18198"/>
                </a:lnTo>
                <a:lnTo>
                  <a:pt x="2293895" y="24748"/>
                </a:lnTo>
                <a:lnTo>
                  <a:pt x="2305921" y="29161"/>
                </a:lnTo>
                <a:lnTo>
                  <a:pt x="2290781" y="92016"/>
                </a:lnTo>
                <a:lnTo>
                  <a:pt x="2247232" y="189222"/>
                </a:lnTo>
                <a:lnTo>
                  <a:pt x="2224543" y="270227"/>
                </a:lnTo>
                <a:lnTo>
                  <a:pt x="2210304" y="348836"/>
                </a:lnTo>
                <a:lnTo>
                  <a:pt x="2176654" y="409994"/>
                </a:lnTo>
                <a:lnTo>
                  <a:pt x="2172316" y="434627"/>
                </a:lnTo>
                <a:lnTo>
                  <a:pt x="2159886" y="431554"/>
                </a:lnTo>
                <a:lnTo>
                  <a:pt x="2145776" y="456942"/>
                </a:lnTo>
                <a:lnTo>
                  <a:pt x="2063334" y="528481"/>
                </a:lnTo>
                <a:lnTo>
                  <a:pt x="2004825" y="549010"/>
                </a:lnTo>
                <a:lnTo>
                  <a:pt x="1905389" y="649299"/>
                </a:lnTo>
                <a:lnTo>
                  <a:pt x="1837638" y="745275"/>
                </a:lnTo>
                <a:lnTo>
                  <a:pt x="1831652" y="761240"/>
                </a:lnTo>
                <a:lnTo>
                  <a:pt x="1836129" y="773018"/>
                </a:lnTo>
                <a:lnTo>
                  <a:pt x="1794933" y="816798"/>
                </a:lnTo>
                <a:lnTo>
                  <a:pt x="1712927" y="958657"/>
                </a:lnTo>
                <a:lnTo>
                  <a:pt x="1636852" y="1066058"/>
                </a:lnTo>
                <a:lnTo>
                  <a:pt x="1629531" y="1069830"/>
                </a:lnTo>
                <a:lnTo>
                  <a:pt x="1625757" y="1065613"/>
                </a:lnTo>
                <a:lnTo>
                  <a:pt x="1626648" y="1076042"/>
                </a:lnTo>
                <a:lnTo>
                  <a:pt x="1600396" y="1109780"/>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Working geographic region: Inland"/>
          <p:cNvSpPr/>
          <p:nvPr/>
        </p:nvSpPr>
        <p:spPr>
          <a:xfrm>
            <a:off x="3157044" y="2320210"/>
            <a:ext cx="2187474" cy="2171604"/>
          </a:xfrm>
          <a:custGeom>
            <a:avLst/>
            <a:gdLst/>
            <a:ahLst/>
            <a:cxnLst/>
            <a:rect l="l" t="t" r="r" b="b"/>
            <a:pathLst>
              <a:path w="2187474" h="2171604">
                <a:moveTo>
                  <a:pt x="1077672" y="2088451"/>
                </a:moveTo>
                <a:lnTo>
                  <a:pt x="1080171" y="2097435"/>
                </a:lnTo>
                <a:lnTo>
                  <a:pt x="1074182" y="2101525"/>
                </a:lnTo>
                <a:lnTo>
                  <a:pt x="1065816" y="2098657"/>
                </a:lnTo>
                <a:lnTo>
                  <a:pt x="1062433" y="2104954"/>
                </a:lnTo>
                <a:lnTo>
                  <a:pt x="1072222" y="2108693"/>
                </a:lnTo>
                <a:lnTo>
                  <a:pt x="1057088" y="2110094"/>
                </a:lnTo>
                <a:lnTo>
                  <a:pt x="1063037" y="2120387"/>
                </a:lnTo>
                <a:lnTo>
                  <a:pt x="1056274" y="2127454"/>
                </a:lnTo>
                <a:lnTo>
                  <a:pt x="1043357" y="2119285"/>
                </a:lnTo>
                <a:lnTo>
                  <a:pt x="1041051" y="2126648"/>
                </a:lnTo>
                <a:lnTo>
                  <a:pt x="1037416" y="2120805"/>
                </a:lnTo>
                <a:lnTo>
                  <a:pt x="1031386" y="2130320"/>
                </a:lnTo>
                <a:lnTo>
                  <a:pt x="1019074" y="2126388"/>
                </a:lnTo>
                <a:lnTo>
                  <a:pt x="1020642" y="2132064"/>
                </a:lnTo>
                <a:lnTo>
                  <a:pt x="1013441" y="2138611"/>
                </a:lnTo>
                <a:lnTo>
                  <a:pt x="1008978" y="2130787"/>
                </a:lnTo>
                <a:lnTo>
                  <a:pt x="991317" y="2132840"/>
                </a:lnTo>
                <a:lnTo>
                  <a:pt x="997227" y="2149160"/>
                </a:lnTo>
                <a:lnTo>
                  <a:pt x="978220" y="2150621"/>
                </a:lnTo>
                <a:lnTo>
                  <a:pt x="974038" y="2154865"/>
                </a:lnTo>
                <a:lnTo>
                  <a:pt x="978198" y="2163661"/>
                </a:lnTo>
                <a:lnTo>
                  <a:pt x="962699" y="2163664"/>
                </a:lnTo>
                <a:lnTo>
                  <a:pt x="959240" y="2169882"/>
                </a:lnTo>
                <a:lnTo>
                  <a:pt x="946535" y="2158232"/>
                </a:lnTo>
                <a:lnTo>
                  <a:pt x="923753" y="2170050"/>
                </a:lnTo>
                <a:lnTo>
                  <a:pt x="917686" y="2165005"/>
                </a:lnTo>
                <a:lnTo>
                  <a:pt x="907447" y="2171604"/>
                </a:lnTo>
                <a:lnTo>
                  <a:pt x="907467" y="2163382"/>
                </a:lnTo>
                <a:lnTo>
                  <a:pt x="891730" y="2163765"/>
                </a:lnTo>
                <a:lnTo>
                  <a:pt x="875365" y="2154744"/>
                </a:lnTo>
                <a:lnTo>
                  <a:pt x="876827" y="2145602"/>
                </a:lnTo>
                <a:lnTo>
                  <a:pt x="867987" y="2139224"/>
                </a:lnTo>
                <a:lnTo>
                  <a:pt x="847301" y="2145536"/>
                </a:lnTo>
                <a:lnTo>
                  <a:pt x="830530" y="2143984"/>
                </a:lnTo>
                <a:lnTo>
                  <a:pt x="826878" y="2132021"/>
                </a:lnTo>
                <a:lnTo>
                  <a:pt x="812354" y="2128937"/>
                </a:lnTo>
                <a:lnTo>
                  <a:pt x="804778" y="2116562"/>
                </a:lnTo>
                <a:lnTo>
                  <a:pt x="797542" y="2120735"/>
                </a:lnTo>
                <a:lnTo>
                  <a:pt x="800097" y="2131028"/>
                </a:lnTo>
                <a:lnTo>
                  <a:pt x="790260" y="2124859"/>
                </a:lnTo>
                <a:lnTo>
                  <a:pt x="763548" y="2130171"/>
                </a:lnTo>
                <a:lnTo>
                  <a:pt x="753255" y="2142079"/>
                </a:lnTo>
                <a:lnTo>
                  <a:pt x="743297" y="2131458"/>
                </a:lnTo>
                <a:lnTo>
                  <a:pt x="744353" y="2148461"/>
                </a:lnTo>
                <a:lnTo>
                  <a:pt x="722633" y="2155170"/>
                </a:lnTo>
                <a:lnTo>
                  <a:pt x="716165" y="2168278"/>
                </a:lnTo>
                <a:lnTo>
                  <a:pt x="700492" y="2165008"/>
                </a:lnTo>
                <a:lnTo>
                  <a:pt x="696620" y="2155775"/>
                </a:lnTo>
                <a:lnTo>
                  <a:pt x="682937" y="2159769"/>
                </a:lnTo>
                <a:lnTo>
                  <a:pt x="685433" y="2151671"/>
                </a:lnTo>
                <a:lnTo>
                  <a:pt x="679259" y="2142960"/>
                </a:lnTo>
                <a:lnTo>
                  <a:pt x="652193" y="2154263"/>
                </a:lnTo>
                <a:lnTo>
                  <a:pt x="639725" y="2139546"/>
                </a:lnTo>
                <a:lnTo>
                  <a:pt x="621064" y="2134366"/>
                </a:lnTo>
                <a:lnTo>
                  <a:pt x="614798" y="2139178"/>
                </a:lnTo>
                <a:lnTo>
                  <a:pt x="599319" y="2119544"/>
                </a:lnTo>
                <a:lnTo>
                  <a:pt x="589193" y="2119137"/>
                </a:lnTo>
                <a:lnTo>
                  <a:pt x="568512" y="2087076"/>
                </a:lnTo>
                <a:lnTo>
                  <a:pt x="555683" y="2084283"/>
                </a:lnTo>
                <a:lnTo>
                  <a:pt x="554832" y="2064815"/>
                </a:lnTo>
                <a:lnTo>
                  <a:pt x="544154" y="2065789"/>
                </a:lnTo>
                <a:lnTo>
                  <a:pt x="535313" y="2056031"/>
                </a:lnTo>
                <a:lnTo>
                  <a:pt x="537016" y="2049446"/>
                </a:lnTo>
                <a:lnTo>
                  <a:pt x="530550" y="2042956"/>
                </a:lnTo>
                <a:lnTo>
                  <a:pt x="524969" y="2044500"/>
                </a:lnTo>
                <a:lnTo>
                  <a:pt x="518538" y="2026041"/>
                </a:lnTo>
                <a:lnTo>
                  <a:pt x="502198" y="2004850"/>
                </a:lnTo>
                <a:lnTo>
                  <a:pt x="501317" y="1991401"/>
                </a:lnTo>
                <a:lnTo>
                  <a:pt x="474689" y="1985473"/>
                </a:lnTo>
                <a:lnTo>
                  <a:pt x="472541" y="1966649"/>
                </a:lnTo>
                <a:lnTo>
                  <a:pt x="459819" y="1969069"/>
                </a:lnTo>
                <a:lnTo>
                  <a:pt x="435150" y="1944810"/>
                </a:lnTo>
                <a:lnTo>
                  <a:pt x="422028" y="1944540"/>
                </a:lnTo>
                <a:lnTo>
                  <a:pt x="403072" y="1918644"/>
                </a:lnTo>
                <a:lnTo>
                  <a:pt x="401221" y="1904022"/>
                </a:lnTo>
                <a:lnTo>
                  <a:pt x="525046" y="1645853"/>
                </a:lnTo>
                <a:lnTo>
                  <a:pt x="508320" y="1640484"/>
                </a:lnTo>
                <a:lnTo>
                  <a:pt x="517335" y="1612367"/>
                </a:lnTo>
                <a:lnTo>
                  <a:pt x="512603" y="1608974"/>
                </a:lnTo>
                <a:lnTo>
                  <a:pt x="521605" y="1599045"/>
                </a:lnTo>
                <a:lnTo>
                  <a:pt x="533075" y="1563219"/>
                </a:lnTo>
                <a:lnTo>
                  <a:pt x="522371" y="1559470"/>
                </a:lnTo>
                <a:lnTo>
                  <a:pt x="517870" y="1549284"/>
                </a:lnTo>
                <a:lnTo>
                  <a:pt x="539168" y="1544247"/>
                </a:lnTo>
                <a:lnTo>
                  <a:pt x="553560" y="1498919"/>
                </a:lnTo>
                <a:lnTo>
                  <a:pt x="563947" y="1496988"/>
                </a:lnTo>
                <a:lnTo>
                  <a:pt x="541155" y="1500849"/>
                </a:lnTo>
                <a:lnTo>
                  <a:pt x="535991" y="1509080"/>
                </a:lnTo>
                <a:lnTo>
                  <a:pt x="508545" y="1462587"/>
                </a:lnTo>
                <a:lnTo>
                  <a:pt x="514811" y="1461055"/>
                </a:lnTo>
                <a:lnTo>
                  <a:pt x="512417" y="1457442"/>
                </a:lnTo>
                <a:lnTo>
                  <a:pt x="558095" y="1403355"/>
                </a:lnTo>
                <a:lnTo>
                  <a:pt x="547127" y="1398518"/>
                </a:lnTo>
                <a:lnTo>
                  <a:pt x="501937" y="1403912"/>
                </a:lnTo>
                <a:lnTo>
                  <a:pt x="498061" y="1379081"/>
                </a:lnTo>
                <a:lnTo>
                  <a:pt x="491787" y="1380359"/>
                </a:lnTo>
                <a:lnTo>
                  <a:pt x="493002" y="1386403"/>
                </a:lnTo>
                <a:lnTo>
                  <a:pt x="477122" y="1389503"/>
                </a:lnTo>
                <a:lnTo>
                  <a:pt x="473922" y="1395059"/>
                </a:lnTo>
                <a:lnTo>
                  <a:pt x="477506" y="1412624"/>
                </a:lnTo>
                <a:lnTo>
                  <a:pt x="469569" y="1426782"/>
                </a:lnTo>
                <a:lnTo>
                  <a:pt x="478278" y="1441239"/>
                </a:lnTo>
                <a:lnTo>
                  <a:pt x="469531" y="1442567"/>
                </a:lnTo>
                <a:lnTo>
                  <a:pt x="463149" y="1455437"/>
                </a:lnTo>
                <a:lnTo>
                  <a:pt x="457932" y="1454303"/>
                </a:lnTo>
                <a:lnTo>
                  <a:pt x="462832" y="1480139"/>
                </a:lnTo>
                <a:lnTo>
                  <a:pt x="458454" y="1487244"/>
                </a:lnTo>
                <a:lnTo>
                  <a:pt x="447237" y="1490232"/>
                </a:lnTo>
                <a:lnTo>
                  <a:pt x="448223" y="1498219"/>
                </a:lnTo>
                <a:lnTo>
                  <a:pt x="441654" y="1503887"/>
                </a:lnTo>
                <a:lnTo>
                  <a:pt x="421158" y="1488581"/>
                </a:lnTo>
                <a:lnTo>
                  <a:pt x="426260" y="1475429"/>
                </a:lnTo>
                <a:lnTo>
                  <a:pt x="413172" y="1460846"/>
                </a:lnTo>
                <a:lnTo>
                  <a:pt x="409250" y="1465533"/>
                </a:lnTo>
                <a:lnTo>
                  <a:pt x="401914" y="1457674"/>
                </a:lnTo>
                <a:lnTo>
                  <a:pt x="422688" y="1424808"/>
                </a:lnTo>
                <a:lnTo>
                  <a:pt x="412718" y="1419373"/>
                </a:lnTo>
                <a:lnTo>
                  <a:pt x="421276" y="1404438"/>
                </a:lnTo>
                <a:lnTo>
                  <a:pt x="411809" y="1398943"/>
                </a:lnTo>
                <a:lnTo>
                  <a:pt x="344929" y="1414135"/>
                </a:lnTo>
                <a:lnTo>
                  <a:pt x="340846" y="1405454"/>
                </a:lnTo>
                <a:lnTo>
                  <a:pt x="346446" y="1384146"/>
                </a:lnTo>
                <a:lnTo>
                  <a:pt x="330919" y="1379403"/>
                </a:lnTo>
                <a:lnTo>
                  <a:pt x="330515" y="1368118"/>
                </a:lnTo>
                <a:lnTo>
                  <a:pt x="338568" y="1315616"/>
                </a:lnTo>
                <a:lnTo>
                  <a:pt x="295004" y="1290200"/>
                </a:lnTo>
                <a:lnTo>
                  <a:pt x="312823" y="1245732"/>
                </a:lnTo>
                <a:lnTo>
                  <a:pt x="326825" y="1239059"/>
                </a:lnTo>
                <a:lnTo>
                  <a:pt x="311131" y="1198411"/>
                </a:lnTo>
                <a:lnTo>
                  <a:pt x="298790" y="1189231"/>
                </a:lnTo>
                <a:lnTo>
                  <a:pt x="287919" y="1189044"/>
                </a:lnTo>
                <a:lnTo>
                  <a:pt x="284266" y="1197615"/>
                </a:lnTo>
                <a:lnTo>
                  <a:pt x="199870" y="1160085"/>
                </a:lnTo>
                <a:lnTo>
                  <a:pt x="221696" y="1128488"/>
                </a:lnTo>
                <a:lnTo>
                  <a:pt x="193669" y="1106828"/>
                </a:lnTo>
                <a:lnTo>
                  <a:pt x="148306" y="1095760"/>
                </a:lnTo>
                <a:lnTo>
                  <a:pt x="151396" y="1058409"/>
                </a:lnTo>
                <a:lnTo>
                  <a:pt x="137258" y="1041179"/>
                </a:lnTo>
                <a:lnTo>
                  <a:pt x="157387" y="1007807"/>
                </a:lnTo>
                <a:lnTo>
                  <a:pt x="135334" y="1001446"/>
                </a:lnTo>
                <a:lnTo>
                  <a:pt x="138879" y="985280"/>
                </a:lnTo>
                <a:lnTo>
                  <a:pt x="167114" y="994287"/>
                </a:lnTo>
                <a:lnTo>
                  <a:pt x="174573" y="972890"/>
                </a:lnTo>
                <a:lnTo>
                  <a:pt x="105070" y="967865"/>
                </a:lnTo>
                <a:lnTo>
                  <a:pt x="100413" y="997719"/>
                </a:lnTo>
                <a:lnTo>
                  <a:pt x="82427" y="995690"/>
                </a:lnTo>
                <a:lnTo>
                  <a:pt x="81322" y="1011706"/>
                </a:lnTo>
                <a:lnTo>
                  <a:pt x="64200" y="1010298"/>
                </a:lnTo>
                <a:lnTo>
                  <a:pt x="51671" y="1069309"/>
                </a:lnTo>
                <a:lnTo>
                  <a:pt x="41594" y="1089381"/>
                </a:lnTo>
                <a:lnTo>
                  <a:pt x="19681" y="1078851"/>
                </a:lnTo>
                <a:lnTo>
                  <a:pt x="16984" y="1004486"/>
                </a:lnTo>
                <a:lnTo>
                  <a:pt x="327" y="1005504"/>
                </a:lnTo>
                <a:lnTo>
                  <a:pt x="0" y="998889"/>
                </a:lnTo>
                <a:lnTo>
                  <a:pt x="9877" y="992815"/>
                </a:lnTo>
                <a:lnTo>
                  <a:pt x="8532" y="977737"/>
                </a:lnTo>
                <a:lnTo>
                  <a:pt x="21732" y="977211"/>
                </a:lnTo>
                <a:lnTo>
                  <a:pt x="21045" y="961011"/>
                </a:lnTo>
                <a:lnTo>
                  <a:pt x="26757" y="952701"/>
                </a:lnTo>
                <a:lnTo>
                  <a:pt x="18041" y="946462"/>
                </a:lnTo>
                <a:lnTo>
                  <a:pt x="33853" y="928646"/>
                </a:lnTo>
                <a:lnTo>
                  <a:pt x="22805" y="920989"/>
                </a:lnTo>
                <a:lnTo>
                  <a:pt x="28511" y="919605"/>
                </a:lnTo>
                <a:lnTo>
                  <a:pt x="30575" y="905299"/>
                </a:lnTo>
                <a:lnTo>
                  <a:pt x="42469" y="894253"/>
                </a:lnTo>
                <a:lnTo>
                  <a:pt x="44350" y="885861"/>
                </a:lnTo>
                <a:lnTo>
                  <a:pt x="37338" y="879597"/>
                </a:lnTo>
                <a:lnTo>
                  <a:pt x="49534" y="874881"/>
                </a:lnTo>
                <a:lnTo>
                  <a:pt x="40283" y="866674"/>
                </a:lnTo>
                <a:lnTo>
                  <a:pt x="49214" y="854014"/>
                </a:lnTo>
                <a:lnTo>
                  <a:pt x="47378" y="842969"/>
                </a:lnTo>
                <a:lnTo>
                  <a:pt x="59910" y="841903"/>
                </a:lnTo>
                <a:lnTo>
                  <a:pt x="56422" y="837245"/>
                </a:lnTo>
                <a:lnTo>
                  <a:pt x="62376" y="824563"/>
                </a:lnTo>
                <a:lnTo>
                  <a:pt x="75628" y="814620"/>
                </a:lnTo>
                <a:lnTo>
                  <a:pt x="77307" y="804042"/>
                </a:lnTo>
                <a:lnTo>
                  <a:pt x="85047" y="802893"/>
                </a:lnTo>
                <a:lnTo>
                  <a:pt x="84088" y="793287"/>
                </a:lnTo>
                <a:lnTo>
                  <a:pt x="89630" y="796933"/>
                </a:lnTo>
                <a:lnTo>
                  <a:pt x="94874" y="790885"/>
                </a:lnTo>
                <a:lnTo>
                  <a:pt x="100282" y="801673"/>
                </a:lnTo>
                <a:lnTo>
                  <a:pt x="131461" y="786220"/>
                </a:lnTo>
                <a:lnTo>
                  <a:pt x="146814" y="786173"/>
                </a:lnTo>
                <a:lnTo>
                  <a:pt x="150824" y="791225"/>
                </a:lnTo>
                <a:lnTo>
                  <a:pt x="164867" y="788746"/>
                </a:lnTo>
                <a:lnTo>
                  <a:pt x="178621" y="796399"/>
                </a:lnTo>
                <a:lnTo>
                  <a:pt x="184993" y="786395"/>
                </a:lnTo>
                <a:lnTo>
                  <a:pt x="190736" y="786361"/>
                </a:lnTo>
                <a:lnTo>
                  <a:pt x="188755" y="791655"/>
                </a:lnTo>
                <a:lnTo>
                  <a:pt x="197225" y="796714"/>
                </a:lnTo>
                <a:lnTo>
                  <a:pt x="197757" y="805298"/>
                </a:lnTo>
                <a:lnTo>
                  <a:pt x="212498" y="805910"/>
                </a:lnTo>
                <a:lnTo>
                  <a:pt x="219520" y="816510"/>
                </a:lnTo>
                <a:lnTo>
                  <a:pt x="225684" y="813235"/>
                </a:lnTo>
                <a:lnTo>
                  <a:pt x="230798" y="825357"/>
                </a:lnTo>
                <a:lnTo>
                  <a:pt x="237934" y="821320"/>
                </a:lnTo>
                <a:lnTo>
                  <a:pt x="237614" y="827944"/>
                </a:lnTo>
                <a:lnTo>
                  <a:pt x="245978" y="833059"/>
                </a:lnTo>
                <a:lnTo>
                  <a:pt x="252083" y="828904"/>
                </a:lnTo>
                <a:lnTo>
                  <a:pt x="260106" y="843349"/>
                </a:lnTo>
                <a:lnTo>
                  <a:pt x="273595" y="845692"/>
                </a:lnTo>
                <a:lnTo>
                  <a:pt x="270784" y="853963"/>
                </a:lnTo>
                <a:lnTo>
                  <a:pt x="276955" y="852861"/>
                </a:lnTo>
                <a:lnTo>
                  <a:pt x="278067" y="859701"/>
                </a:lnTo>
                <a:lnTo>
                  <a:pt x="287493" y="862056"/>
                </a:lnTo>
                <a:lnTo>
                  <a:pt x="293231" y="874800"/>
                </a:lnTo>
                <a:lnTo>
                  <a:pt x="302915" y="877497"/>
                </a:lnTo>
                <a:lnTo>
                  <a:pt x="308986" y="871425"/>
                </a:lnTo>
                <a:lnTo>
                  <a:pt x="318145" y="873813"/>
                </a:lnTo>
                <a:lnTo>
                  <a:pt x="316628" y="880684"/>
                </a:lnTo>
                <a:lnTo>
                  <a:pt x="322320" y="876278"/>
                </a:lnTo>
                <a:lnTo>
                  <a:pt x="328994" y="880724"/>
                </a:lnTo>
                <a:lnTo>
                  <a:pt x="331076" y="875364"/>
                </a:lnTo>
                <a:lnTo>
                  <a:pt x="335292" y="878504"/>
                </a:lnTo>
                <a:lnTo>
                  <a:pt x="351755" y="869388"/>
                </a:lnTo>
                <a:lnTo>
                  <a:pt x="352334" y="874995"/>
                </a:lnTo>
                <a:lnTo>
                  <a:pt x="359810" y="872451"/>
                </a:lnTo>
                <a:lnTo>
                  <a:pt x="367975" y="878434"/>
                </a:lnTo>
                <a:lnTo>
                  <a:pt x="375963" y="894557"/>
                </a:lnTo>
                <a:lnTo>
                  <a:pt x="382320" y="891195"/>
                </a:lnTo>
                <a:lnTo>
                  <a:pt x="381654" y="899417"/>
                </a:lnTo>
                <a:lnTo>
                  <a:pt x="390798" y="895202"/>
                </a:lnTo>
                <a:lnTo>
                  <a:pt x="390821" y="900916"/>
                </a:lnTo>
                <a:lnTo>
                  <a:pt x="402457" y="908919"/>
                </a:lnTo>
                <a:lnTo>
                  <a:pt x="419032" y="901050"/>
                </a:lnTo>
                <a:lnTo>
                  <a:pt x="473559" y="923877"/>
                </a:lnTo>
                <a:lnTo>
                  <a:pt x="484465" y="918827"/>
                </a:lnTo>
                <a:lnTo>
                  <a:pt x="499684" y="924227"/>
                </a:lnTo>
                <a:lnTo>
                  <a:pt x="523334" y="920497"/>
                </a:lnTo>
                <a:lnTo>
                  <a:pt x="555868" y="897858"/>
                </a:lnTo>
                <a:lnTo>
                  <a:pt x="575299" y="908485"/>
                </a:lnTo>
                <a:lnTo>
                  <a:pt x="626401" y="909909"/>
                </a:lnTo>
                <a:lnTo>
                  <a:pt x="681846" y="876855"/>
                </a:lnTo>
                <a:lnTo>
                  <a:pt x="700341" y="834945"/>
                </a:lnTo>
                <a:lnTo>
                  <a:pt x="709893" y="788140"/>
                </a:lnTo>
                <a:lnTo>
                  <a:pt x="747928" y="694685"/>
                </a:lnTo>
                <a:lnTo>
                  <a:pt x="752856" y="692160"/>
                </a:lnTo>
                <a:lnTo>
                  <a:pt x="745297" y="651433"/>
                </a:lnTo>
                <a:lnTo>
                  <a:pt x="772427" y="650207"/>
                </a:lnTo>
                <a:lnTo>
                  <a:pt x="872887" y="622353"/>
                </a:lnTo>
                <a:lnTo>
                  <a:pt x="880840" y="627949"/>
                </a:lnTo>
                <a:lnTo>
                  <a:pt x="876484" y="624820"/>
                </a:lnTo>
                <a:lnTo>
                  <a:pt x="891203" y="610391"/>
                </a:lnTo>
                <a:lnTo>
                  <a:pt x="900673" y="584723"/>
                </a:lnTo>
                <a:lnTo>
                  <a:pt x="918966" y="565205"/>
                </a:lnTo>
                <a:lnTo>
                  <a:pt x="936921" y="557891"/>
                </a:lnTo>
                <a:lnTo>
                  <a:pt x="946545" y="542862"/>
                </a:lnTo>
                <a:lnTo>
                  <a:pt x="965775" y="539239"/>
                </a:lnTo>
                <a:lnTo>
                  <a:pt x="984736" y="525335"/>
                </a:lnTo>
                <a:lnTo>
                  <a:pt x="989033" y="509720"/>
                </a:lnTo>
                <a:lnTo>
                  <a:pt x="984662" y="506966"/>
                </a:lnTo>
                <a:lnTo>
                  <a:pt x="988167" y="502161"/>
                </a:lnTo>
                <a:lnTo>
                  <a:pt x="983916" y="488419"/>
                </a:lnTo>
                <a:lnTo>
                  <a:pt x="989757" y="484143"/>
                </a:lnTo>
                <a:lnTo>
                  <a:pt x="1001371" y="450072"/>
                </a:lnTo>
                <a:lnTo>
                  <a:pt x="1007085" y="429378"/>
                </a:lnTo>
                <a:lnTo>
                  <a:pt x="1001779" y="423454"/>
                </a:lnTo>
                <a:lnTo>
                  <a:pt x="1008089" y="418256"/>
                </a:lnTo>
                <a:lnTo>
                  <a:pt x="1011451" y="385718"/>
                </a:lnTo>
                <a:lnTo>
                  <a:pt x="1018824" y="382200"/>
                </a:lnTo>
                <a:lnTo>
                  <a:pt x="1019156" y="370903"/>
                </a:lnTo>
                <a:lnTo>
                  <a:pt x="1024543" y="371044"/>
                </a:lnTo>
                <a:lnTo>
                  <a:pt x="1027280" y="380841"/>
                </a:lnTo>
                <a:lnTo>
                  <a:pt x="1035032" y="377897"/>
                </a:lnTo>
                <a:lnTo>
                  <a:pt x="1037607" y="370964"/>
                </a:lnTo>
                <a:lnTo>
                  <a:pt x="1032600" y="363033"/>
                </a:lnTo>
                <a:lnTo>
                  <a:pt x="1042142" y="360731"/>
                </a:lnTo>
                <a:lnTo>
                  <a:pt x="1046431" y="350403"/>
                </a:lnTo>
                <a:lnTo>
                  <a:pt x="1055255" y="352332"/>
                </a:lnTo>
                <a:lnTo>
                  <a:pt x="1050818" y="340624"/>
                </a:lnTo>
                <a:lnTo>
                  <a:pt x="1066295" y="343632"/>
                </a:lnTo>
                <a:lnTo>
                  <a:pt x="1064419" y="334339"/>
                </a:lnTo>
                <a:lnTo>
                  <a:pt x="1090542" y="325844"/>
                </a:lnTo>
                <a:lnTo>
                  <a:pt x="1097242" y="310678"/>
                </a:lnTo>
                <a:lnTo>
                  <a:pt x="1102731" y="309449"/>
                </a:lnTo>
                <a:lnTo>
                  <a:pt x="1101798" y="316614"/>
                </a:lnTo>
                <a:lnTo>
                  <a:pt x="1107627" y="317006"/>
                </a:lnTo>
                <a:lnTo>
                  <a:pt x="1108455" y="309849"/>
                </a:lnTo>
                <a:lnTo>
                  <a:pt x="1115850" y="307461"/>
                </a:lnTo>
                <a:lnTo>
                  <a:pt x="1114053" y="313539"/>
                </a:lnTo>
                <a:lnTo>
                  <a:pt x="1118858" y="317080"/>
                </a:lnTo>
                <a:lnTo>
                  <a:pt x="1123802" y="306487"/>
                </a:lnTo>
                <a:lnTo>
                  <a:pt x="1144259" y="307049"/>
                </a:lnTo>
                <a:lnTo>
                  <a:pt x="1153538" y="295965"/>
                </a:lnTo>
                <a:lnTo>
                  <a:pt x="1155290" y="276643"/>
                </a:lnTo>
                <a:lnTo>
                  <a:pt x="1162058" y="272152"/>
                </a:lnTo>
                <a:lnTo>
                  <a:pt x="1162508" y="264255"/>
                </a:lnTo>
                <a:lnTo>
                  <a:pt x="1173575" y="266912"/>
                </a:lnTo>
                <a:lnTo>
                  <a:pt x="1183129" y="259592"/>
                </a:lnTo>
                <a:lnTo>
                  <a:pt x="1195323" y="268586"/>
                </a:lnTo>
                <a:lnTo>
                  <a:pt x="1205917" y="253595"/>
                </a:lnTo>
                <a:lnTo>
                  <a:pt x="1201684" y="244152"/>
                </a:lnTo>
                <a:lnTo>
                  <a:pt x="1211934" y="244407"/>
                </a:lnTo>
                <a:lnTo>
                  <a:pt x="1213091" y="237334"/>
                </a:lnTo>
                <a:lnTo>
                  <a:pt x="1242230" y="224016"/>
                </a:lnTo>
                <a:lnTo>
                  <a:pt x="1242583" y="201276"/>
                </a:lnTo>
                <a:lnTo>
                  <a:pt x="1266942" y="189143"/>
                </a:lnTo>
                <a:lnTo>
                  <a:pt x="1268409" y="168826"/>
                </a:lnTo>
                <a:lnTo>
                  <a:pt x="1294742" y="153279"/>
                </a:lnTo>
                <a:lnTo>
                  <a:pt x="1302722" y="132784"/>
                </a:lnTo>
                <a:lnTo>
                  <a:pt x="1341099" y="104751"/>
                </a:lnTo>
                <a:lnTo>
                  <a:pt x="1384259" y="109132"/>
                </a:lnTo>
                <a:lnTo>
                  <a:pt x="1457978" y="85990"/>
                </a:lnTo>
                <a:lnTo>
                  <a:pt x="1457829" y="79951"/>
                </a:lnTo>
                <a:lnTo>
                  <a:pt x="1464185" y="76717"/>
                </a:lnTo>
                <a:lnTo>
                  <a:pt x="1480114" y="78705"/>
                </a:lnTo>
                <a:lnTo>
                  <a:pt x="1492140" y="58641"/>
                </a:lnTo>
                <a:lnTo>
                  <a:pt x="1491425" y="41045"/>
                </a:lnTo>
                <a:lnTo>
                  <a:pt x="1508888" y="18149"/>
                </a:lnTo>
                <a:lnTo>
                  <a:pt x="1536066" y="18871"/>
                </a:lnTo>
                <a:lnTo>
                  <a:pt x="1552339" y="9840"/>
                </a:lnTo>
                <a:lnTo>
                  <a:pt x="1576648" y="12923"/>
                </a:lnTo>
                <a:lnTo>
                  <a:pt x="1579974" y="17566"/>
                </a:lnTo>
                <a:lnTo>
                  <a:pt x="1610981" y="8793"/>
                </a:lnTo>
                <a:lnTo>
                  <a:pt x="1626085" y="12369"/>
                </a:lnTo>
                <a:lnTo>
                  <a:pt x="1628981" y="6002"/>
                </a:lnTo>
                <a:lnTo>
                  <a:pt x="1645859" y="7392"/>
                </a:lnTo>
                <a:lnTo>
                  <a:pt x="1657181" y="0"/>
                </a:lnTo>
                <a:lnTo>
                  <a:pt x="1684876" y="5207"/>
                </a:lnTo>
                <a:lnTo>
                  <a:pt x="1710823" y="19780"/>
                </a:lnTo>
                <a:lnTo>
                  <a:pt x="1720667" y="18983"/>
                </a:lnTo>
                <a:lnTo>
                  <a:pt x="1730872" y="28133"/>
                </a:lnTo>
                <a:lnTo>
                  <a:pt x="1742181" y="29802"/>
                </a:lnTo>
                <a:lnTo>
                  <a:pt x="1743866" y="36178"/>
                </a:lnTo>
                <a:lnTo>
                  <a:pt x="1767248" y="51796"/>
                </a:lnTo>
                <a:lnTo>
                  <a:pt x="1792349" y="48953"/>
                </a:lnTo>
                <a:lnTo>
                  <a:pt x="1805821" y="64951"/>
                </a:lnTo>
                <a:lnTo>
                  <a:pt x="1853544" y="56810"/>
                </a:lnTo>
                <a:lnTo>
                  <a:pt x="1887160" y="63400"/>
                </a:lnTo>
                <a:lnTo>
                  <a:pt x="1894925" y="57276"/>
                </a:lnTo>
                <a:lnTo>
                  <a:pt x="1936028" y="54308"/>
                </a:lnTo>
                <a:lnTo>
                  <a:pt x="1995544" y="71737"/>
                </a:lnTo>
                <a:lnTo>
                  <a:pt x="2013477" y="67374"/>
                </a:lnTo>
                <a:lnTo>
                  <a:pt x="2024932" y="78207"/>
                </a:lnTo>
                <a:lnTo>
                  <a:pt x="2038102" y="78573"/>
                </a:lnTo>
                <a:lnTo>
                  <a:pt x="2047182" y="92956"/>
                </a:lnTo>
                <a:lnTo>
                  <a:pt x="2098145" y="294162"/>
                </a:lnTo>
                <a:lnTo>
                  <a:pt x="2094059" y="366559"/>
                </a:lnTo>
                <a:lnTo>
                  <a:pt x="2122689" y="405842"/>
                </a:lnTo>
                <a:lnTo>
                  <a:pt x="2123129" y="429533"/>
                </a:lnTo>
                <a:lnTo>
                  <a:pt x="2137866" y="472814"/>
                </a:lnTo>
                <a:lnTo>
                  <a:pt x="2163148" y="491433"/>
                </a:lnTo>
                <a:lnTo>
                  <a:pt x="2163491" y="499018"/>
                </a:lnTo>
                <a:lnTo>
                  <a:pt x="2166551" y="549855"/>
                </a:lnTo>
                <a:lnTo>
                  <a:pt x="2183459" y="581487"/>
                </a:lnTo>
                <a:lnTo>
                  <a:pt x="2187474" y="620752"/>
                </a:lnTo>
                <a:lnTo>
                  <a:pt x="2180832" y="680615"/>
                </a:lnTo>
                <a:lnTo>
                  <a:pt x="2181916" y="807091"/>
                </a:lnTo>
                <a:lnTo>
                  <a:pt x="2175287" y="857812"/>
                </a:lnTo>
                <a:lnTo>
                  <a:pt x="2165242" y="880862"/>
                </a:lnTo>
                <a:lnTo>
                  <a:pt x="2169514" y="924808"/>
                </a:lnTo>
                <a:lnTo>
                  <a:pt x="2149353" y="973780"/>
                </a:lnTo>
                <a:lnTo>
                  <a:pt x="2157737" y="1003079"/>
                </a:lnTo>
                <a:lnTo>
                  <a:pt x="2132705" y="1013545"/>
                </a:lnTo>
                <a:lnTo>
                  <a:pt x="2032245" y="936083"/>
                </a:lnTo>
                <a:lnTo>
                  <a:pt x="2008750" y="941073"/>
                </a:lnTo>
                <a:lnTo>
                  <a:pt x="1962818" y="984347"/>
                </a:lnTo>
                <a:lnTo>
                  <a:pt x="1920636" y="1069486"/>
                </a:lnTo>
                <a:lnTo>
                  <a:pt x="1903926" y="1083804"/>
                </a:lnTo>
                <a:lnTo>
                  <a:pt x="1882250" y="1120116"/>
                </a:lnTo>
                <a:lnTo>
                  <a:pt x="1876079" y="1182736"/>
                </a:lnTo>
                <a:lnTo>
                  <a:pt x="1879502" y="1216513"/>
                </a:lnTo>
                <a:lnTo>
                  <a:pt x="1898371" y="1202457"/>
                </a:lnTo>
                <a:lnTo>
                  <a:pt x="1901017" y="1221768"/>
                </a:lnTo>
                <a:lnTo>
                  <a:pt x="1915560" y="1234854"/>
                </a:lnTo>
                <a:lnTo>
                  <a:pt x="1911048" y="1256132"/>
                </a:lnTo>
                <a:lnTo>
                  <a:pt x="1916537" y="1267896"/>
                </a:lnTo>
                <a:lnTo>
                  <a:pt x="1952315" y="1312008"/>
                </a:lnTo>
                <a:lnTo>
                  <a:pt x="1980013" y="1323971"/>
                </a:lnTo>
                <a:lnTo>
                  <a:pt x="1953682" y="1354733"/>
                </a:lnTo>
                <a:lnTo>
                  <a:pt x="1938893" y="1344044"/>
                </a:lnTo>
                <a:lnTo>
                  <a:pt x="1902746" y="1352057"/>
                </a:lnTo>
                <a:lnTo>
                  <a:pt x="1898954" y="1335713"/>
                </a:lnTo>
                <a:lnTo>
                  <a:pt x="1886041" y="1337032"/>
                </a:lnTo>
                <a:lnTo>
                  <a:pt x="1883772" y="1344769"/>
                </a:lnTo>
                <a:lnTo>
                  <a:pt x="1875609" y="1347155"/>
                </a:lnTo>
                <a:lnTo>
                  <a:pt x="1868494" y="1336214"/>
                </a:lnTo>
                <a:lnTo>
                  <a:pt x="1864245" y="1339486"/>
                </a:lnTo>
                <a:lnTo>
                  <a:pt x="1852616" y="1328021"/>
                </a:lnTo>
                <a:lnTo>
                  <a:pt x="1822361" y="1336663"/>
                </a:lnTo>
                <a:lnTo>
                  <a:pt x="1802050" y="1332990"/>
                </a:lnTo>
                <a:lnTo>
                  <a:pt x="1790672" y="1336401"/>
                </a:lnTo>
                <a:lnTo>
                  <a:pt x="1785734" y="1332904"/>
                </a:lnTo>
                <a:lnTo>
                  <a:pt x="1786349" y="1321372"/>
                </a:lnTo>
                <a:lnTo>
                  <a:pt x="1772956" y="1320156"/>
                </a:lnTo>
                <a:lnTo>
                  <a:pt x="1772258" y="1331461"/>
                </a:lnTo>
                <a:lnTo>
                  <a:pt x="1753026" y="1331313"/>
                </a:lnTo>
                <a:lnTo>
                  <a:pt x="1751849" y="1345130"/>
                </a:lnTo>
                <a:lnTo>
                  <a:pt x="1741402" y="1347785"/>
                </a:lnTo>
                <a:lnTo>
                  <a:pt x="1733340" y="1340889"/>
                </a:lnTo>
                <a:lnTo>
                  <a:pt x="1720258" y="1355234"/>
                </a:lnTo>
                <a:lnTo>
                  <a:pt x="1707839" y="1343208"/>
                </a:lnTo>
                <a:lnTo>
                  <a:pt x="1691450" y="1349968"/>
                </a:lnTo>
                <a:lnTo>
                  <a:pt x="1669326" y="1337996"/>
                </a:lnTo>
                <a:lnTo>
                  <a:pt x="1664812" y="1345852"/>
                </a:lnTo>
                <a:lnTo>
                  <a:pt x="1651518" y="1343567"/>
                </a:lnTo>
                <a:lnTo>
                  <a:pt x="1640715" y="1363287"/>
                </a:lnTo>
                <a:lnTo>
                  <a:pt x="1629631" y="1357078"/>
                </a:lnTo>
                <a:lnTo>
                  <a:pt x="1627982" y="1357614"/>
                </a:lnTo>
                <a:lnTo>
                  <a:pt x="1632310" y="1359079"/>
                </a:lnTo>
                <a:lnTo>
                  <a:pt x="1620660" y="1363535"/>
                </a:lnTo>
                <a:lnTo>
                  <a:pt x="1625769" y="1370434"/>
                </a:lnTo>
                <a:lnTo>
                  <a:pt x="1620353" y="1376789"/>
                </a:lnTo>
                <a:lnTo>
                  <a:pt x="1631399" y="1380689"/>
                </a:lnTo>
                <a:lnTo>
                  <a:pt x="1636798" y="1398732"/>
                </a:lnTo>
                <a:lnTo>
                  <a:pt x="1610347" y="1411465"/>
                </a:lnTo>
                <a:lnTo>
                  <a:pt x="1618475" y="1424063"/>
                </a:lnTo>
                <a:lnTo>
                  <a:pt x="1616554" y="1441453"/>
                </a:lnTo>
                <a:lnTo>
                  <a:pt x="1622449" y="1452278"/>
                </a:lnTo>
                <a:lnTo>
                  <a:pt x="1614515" y="1456165"/>
                </a:lnTo>
                <a:lnTo>
                  <a:pt x="1612296" y="1474322"/>
                </a:lnTo>
                <a:lnTo>
                  <a:pt x="1603734" y="1481042"/>
                </a:lnTo>
                <a:lnTo>
                  <a:pt x="1609284" y="1490003"/>
                </a:lnTo>
                <a:lnTo>
                  <a:pt x="1602637" y="1492120"/>
                </a:lnTo>
                <a:lnTo>
                  <a:pt x="1594153" y="1512309"/>
                </a:lnTo>
                <a:lnTo>
                  <a:pt x="1602478" y="1523689"/>
                </a:lnTo>
                <a:lnTo>
                  <a:pt x="1603734" y="1537054"/>
                </a:lnTo>
                <a:lnTo>
                  <a:pt x="1603286" y="1546057"/>
                </a:lnTo>
                <a:lnTo>
                  <a:pt x="1594941" y="1547907"/>
                </a:lnTo>
                <a:lnTo>
                  <a:pt x="1590858" y="1555249"/>
                </a:lnTo>
                <a:lnTo>
                  <a:pt x="1592910" y="1562035"/>
                </a:lnTo>
                <a:lnTo>
                  <a:pt x="1561669" y="1568776"/>
                </a:lnTo>
                <a:lnTo>
                  <a:pt x="1545180" y="1594715"/>
                </a:lnTo>
                <a:lnTo>
                  <a:pt x="1535978" y="1593349"/>
                </a:lnTo>
                <a:lnTo>
                  <a:pt x="1516555" y="1609539"/>
                </a:lnTo>
                <a:lnTo>
                  <a:pt x="1507336" y="1605883"/>
                </a:lnTo>
                <a:lnTo>
                  <a:pt x="1493793" y="1623038"/>
                </a:lnTo>
                <a:lnTo>
                  <a:pt x="1499151" y="1629697"/>
                </a:lnTo>
                <a:lnTo>
                  <a:pt x="1494441" y="1636185"/>
                </a:lnTo>
                <a:lnTo>
                  <a:pt x="1488839" y="1632145"/>
                </a:lnTo>
                <a:lnTo>
                  <a:pt x="1480402" y="1641137"/>
                </a:lnTo>
                <a:lnTo>
                  <a:pt x="1471864" y="1635411"/>
                </a:lnTo>
                <a:lnTo>
                  <a:pt x="1444019" y="1642012"/>
                </a:lnTo>
                <a:lnTo>
                  <a:pt x="1436334" y="1661299"/>
                </a:lnTo>
                <a:lnTo>
                  <a:pt x="1425730" y="1671182"/>
                </a:lnTo>
                <a:lnTo>
                  <a:pt x="1419756" y="1691425"/>
                </a:lnTo>
                <a:lnTo>
                  <a:pt x="1416270" y="1687535"/>
                </a:lnTo>
                <a:lnTo>
                  <a:pt x="1405077" y="1691160"/>
                </a:lnTo>
                <a:lnTo>
                  <a:pt x="1405072" y="1675379"/>
                </a:lnTo>
                <a:lnTo>
                  <a:pt x="1382520" y="1664825"/>
                </a:lnTo>
                <a:lnTo>
                  <a:pt x="1382696" y="1651180"/>
                </a:lnTo>
                <a:lnTo>
                  <a:pt x="1371285" y="1638721"/>
                </a:lnTo>
                <a:lnTo>
                  <a:pt x="1357311" y="1647922"/>
                </a:lnTo>
                <a:lnTo>
                  <a:pt x="1314614" y="1650735"/>
                </a:lnTo>
                <a:lnTo>
                  <a:pt x="1302257" y="1670638"/>
                </a:lnTo>
                <a:lnTo>
                  <a:pt x="1292273" y="1667528"/>
                </a:lnTo>
                <a:lnTo>
                  <a:pt x="1286765" y="1673147"/>
                </a:lnTo>
                <a:lnTo>
                  <a:pt x="1276163" y="1667782"/>
                </a:lnTo>
                <a:lnTo>
                  <a:pt x="1267696" y="1671684"/>
                </a:lnTo>
                <a:lnTo>
                  <a:pt x="1264809" y="1667161"/>
                </a:lnTo>
                <a:lnTo>
                  <a:pt x="1234170" y="1698136"/>
                </a:lnTo>
                <a:lnTo>
                  <a:pt x="1228851" y="1713633"/>
                </a:lnTo>
                <a:lnTo>
                  <a:pt x="1220210" y="1714396"/>
                </a:lnTo>
                <a:lnTo>
                  <a:pt x="1208680" y="1705232"/>
                </a:lnTo>
                <a:lnTo>
                  <a:pt x="1198299" y="1712897"/>
                </a:lnTo>
                <a:lnTo>
                  <a:pt x="1197011" y="1722459"/>
                </a:lnTo>
                <a:lnTo>
                  <a:pt x="1183933" y="1718769"/>
                </a:lnTo>
                <a:lnTo>
                  <a:pt x="1180767" y="1723187"/>
                </a:lnTo>
                <a:lnTo>
                  <a:pt x="1166906" y="1716780"/>
                </a:lnTo>
                <a:lnTo>
                  <a:pt x="1168445" y="1727229"/>
                </a:lnTo>
                <a:lnTo>
                  <a:pt x="1159636" y="1729925"/>
                </a:lnTo>
                <a:lnTo>
                  <a:pt x="1157142" y="1745412"/>
                </a:lnTo>
                <a:lnTo>
                  <a:pt x="1150785" y="1743604"/>
                </a:lnTo>
                <a:lnTo>
                  <a:pt x="1147841" y="1753870"/>
                </a:lnTo>
                <a:lnTo>
                  <a:pt x="1140714" y="1754176"/>
                </a:lnTo>
                <a:lnTo>
                  <a:pt x="1148199" y="1762396"/>
                </a:lnTo>
                <a:lnTo>
                  <a:pt x="1140326" y="1763315"/>
                </a:lnTo>
                <a:lnTo>
                  <a:pt x="1141410" y="1772573"/>
                </a:lnTo>
                <a:lnTo>
                  <a:pt x="1131215" y="1777317"/>
                </a:lnTo>
                <a:lnTo>
                  <a:pt x="1133936" y="1784313"/>
                </a:lnTo>
                <a:lnTo>
                  <a:pt x="1126392" y="1784695"/>
                </a:lnTo>
                <a:lnTo>
                  <a:pt x="1111342" y="1799238"/>
                </a:lnTo>
                <a:lnTo>
                  <a:pt x="1116965" y="1808430"/>
                </a:lnTo>
                <a:lnTo>
                  <a:pt x="1105174" y="1818949"/>
                </a:lnTo>
                <a:lnTo>
                  <a:pt x="1097416" y="1817692"/>
                </a:lnTo>
                <a:lnTo>
                  <a:pt x="1101273" y="1823547"/>
                </a:lnTo>
                <a:lnTo>
                  <a:pt x="1093120" y="1826932"/>
                </a:lnTo>
                <a:lnTo>
                  <a:pt x="1092022" y="1836840"/>
                </a:lnTo>
                <a:lnTo>
                  <a:pt x="1086385" y="1834452"/>
                </a:lnTo>
                <a:lnTo>
                  <a:pt x="1090087" y="1844865"/>
                </a:lnTo>
                <a:lnTo>
                  <a:pt x="1074671" y="1856883"/>
                </a:lnTo>
                <a:lnTo>
                  <a:pt x="1075485" y="1865371"/>
                </a:lnTo>
                <a:lnTo>
                  <a:pt x="1063113" y="1868054"/>
                </a:lnTo>
                <a:lnTo>
                  <a:pt x="1062912" y="1877327"/>
                </a:lnTo>
                <a:lnTo>
                  <a:pt x="1044118" y="1879789"/>
                </a:lnTo>
                <a:lnTo>
                  <a:pt x="1039653" y="1885892"/>
                </a:lnTo>
                <a:lnTo>
                  <a:pt x="1028850" y="1883725"/>
                </a:lnTo>
                <a:lnTo>
                  <a:pt x="1013167" y="1897275"/>
                </a:lnTo>
                <a:lnTo>
                  <a:pt x="1009034" y="1892648"/>
                </a:lnTo>
                <a:lnTo>
                  <a:pt x="1006827" y="1902808"/>
                </a:lnTo>
                <a:lnTo>
                  <a:pt x="998229" y="1897466"/>
                </a:lnTo>
                <a:lnTo>
                  <a:pt x="996919" y="1908734"/>
                </a:lnTo>
                <a:lnTo>
                  <a:pt x="1015199" y="1926699"/>
                </a:lnTo>
                <a:lnTo>
                  <a:pt x="1041121" y="1998837"/>
                </a:lnTo>
                <a:lnTo>
                  <a:pt x="1058173" y="2010954"/>
                </a:lnTo>
                <a:lnTo>
                  <a:pt x="1064449" y="2034619"/>
                </a:lnTo>
                <a:lnTo>
                  <a:pt x="1082341" y="2034061"/>
                </a:lnTo>
                <a:lnTo>
                  <a:pt x="1072650" y="2052653"/>
                </a:lnTo>
                <a:lnTo>
                  <a:pt x="1072686" y="2066952"/>
                </a:lnTo>
                <a:lnTo>
                  <a:pt x="1078781" y="2075734"/>
                </a:lnTo>
                <a:lnTo>
                  <a:pt x="1071476" y="2079685"/>
                </a:lnTo>
                <a:lnTo>
                  <a:pt x="1072487" y="2091775"/>
                </a:lnTo>
                <a:lnTo>
                  <a:pt x="1077672" y="2088451"/>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Working geographic region: Other / Northern Cape"/>
          <p:cNvSpPr/>
          <p:nvPr/>
        </p:nvSpPr>
        <p:spPr>
          <a:xfrm>
            <a:off x="1778571" y="2997493"/>
            <a:ext cx="2047002" cy="2085814"/>
          </a:xfrm>
          <a:custGeom>
            <a:avLst/>
            <a:gdLst/>
            <a:ahLst/>
            <a:cxnLst/>
            <a:rect l="l" t="t" r="r" b="b"/>
            <a:pathLst>
              <a:path w="2047002" h="2085814">
                <a:moveTo>
                  <a:pt x="2027994" y="1475194"/>
                </a:moveTo>
                <a:lnTo>
                  <a:pt x="2031745" y="1513784"/>
                </a:lnTo>
                <a:lnTo>
                  <a:pt x="2047002" y="1516938"/>
                </a:lnTo>
                <a:lnTo>
                  <a:pt x="2029680" y="1537034"/>
                </a:lnTo>
                <a:lnTo>
                  <a:pt x="2039904" y="1545178"/>
                </a:lnTo>
                <a:lnTo>
                  <a:pt x="2038334" y="1559037"/>
                </a:lnTo>
                <a:lnTo>
                  <a:pt x="2030381" y="1566206"/>
                </a:lnTo>
                <a:lnTo>
                  <a:pt x="2036214" y="1572244"/>
                </a:lnTo>
                <a:lnTo>
                  <a:pt x="2022328" y="1586026"/>
                </a:lnTo>
                <a:lnTo>
                  <a:pt x="2023952" y="1595934"/>
                </a:lnTo>
                <a:lnTo>
                  <a:pt x="2010294" y="1608871"/>
                </a:lnTo>
                <a:lnTo>
                  <a:pt x="2010598" y="1625976"/>
                </a:lnTo>
                <a:lnTo>
                  <a:pt x="2003593" y="1630599"/>
                </a:lnTo>
                <a:lnTo>
                  <a:pt x="1972072" y="1619296"/>
                </a:lnTo>
                <a:lnTo>
                  <a:pt x="1963147" y="1631321"/>
                </a:lnTo>
                <a:lnTo>
                  <a:pt x="1938515" y="1639022"/>
                </a:lnTo>
                <a:lnTo>
                  <a:pt x="1926899" y="1637412"/>
                </a:lnTo>
                <a:lnTo>
                  <a:pt x="1911074" y="1652067"/>
                </a:lnTo>
                <a:lnTo>
                  <a:pt x="1893370" y="1654086"/>
                </a:lnTo>
                <a:lnTo>
                  <a:pt x="1895553" y="1665696"/>
                </a:lnTo>
                <a:lnTo>
                  <a:pt x="1887343" y="1661333"/>
                </a:lnTo>
                <a:lnTo>
                  <a:pt x="1879273" y="1669774"/>
                </a:lnTo>
                <a:lnTo>
                  <a:pt x="1862148" y="1674939"/>
                </a:lnTo>
                <a:lnTo>
                  <a:pt x="1852115" y="1668354"/>
                </a:lnTo>
                <a:lnTo>
                  <a:pt x="1837005" y="1672372"/>
                </a:lnTo>
                <a:lnTo>
                  <a:pt x="1830679" y="1677372"/>
                </a:lnTo>
                <a:lnTo>
                  <a:pt x="1828912" y="1693544"/>
                </a:lnTo>
                <a:lnTo>
                  <a:pt x="1820287" y="1697686"/>
                </a:lnTo>
                <a:lnTo>
                  <a:pt x="1819353" y="1750654"/>
                </a:lnTo>
                <a:lnTo>
                  <a:pt x="1803417" y="1752680"/>
                </a:lnTo>
                <a:lnTo>
                  <a:pt x="1797120" y="1746546"/>
                </a:lnTo>
                <a:lnTo>
                  <a:pt x="1799486" y="1752451"/>
                </a:lnTo>
                <a:lnTo>
                  <a:pt x="1781418" y="1753107"/>
                </a:lnTo>
                <a:lnTo>
                  <a:pt x="1769323" y="1766313"/>
                </a:lnTo>
                <a:lnTo>
                  <a:pt x="1742286" y="1760091"/>
                </a:lnTo>
                <a:lnTo>
                  <a:pt x="1740383" y="1772500"/>
                </a:lnTo>
                <a:lnTo>
                  <a:pt x="1722603" y="1777363"/>
                </a:lnTo>
                <a:lnTo>
                  <a:pt x="1713159" y="1757765"/>
                </a:lnTo>
                <a:lnTo>
                  <a:pt x="1717115" y="1751726"/>
                </a:lnTo>
                <a:lnTo>
                  <a:pt x="1698785" y="1751878"/>
                </a:lnTo>
                <a:lnTo>
                  <a:pt x="1695796" y="1768956"/>
                </a:lnTo>
                <a:lnTo>
                  <a:pt x="1684016" y="1785295"/>
                </a:lnTo>
                <a:lnTo>
                  <a:pt x="1671402" y="1767802"/>
                </a:lnTo>
                <a:lnTo>
                  <a:pt x="1665130" y="1766778"/>
                </a:lnTo>
                <a:lnTo>
                  <a:pt x="1672223" y="1754275"/>
                </a:lnTo>
                <a:lnTo>
                  <a:pt x="1653560" y="1749518"/>
                </a:lnTo>
                <a:lnTo>
                  <a:pt x="1644373" y="1737170"/>
                </a:lnTo>
                <a:lnTo>
                  <a:pt x="1623361" y="1738020"/>
                </a:lnTo>
                <a:lnTo>
                  <a:pt x="1602700" y="1752573"/>
                </a:lnTo>
                <a:lnTo>
                  <a:pt x="1579075" y="1744414"/>
                </a:lnTo>
                <a:lnTo>
                  <a:pt x="1577178" y="1755077"/>
                </a:lnTo>
                <a:lnTo>
                  <a:pt x="1554346" y="1759583"/>
                </a:lnTo>
                <a:lnTo>
                  <a:pt x="1539182" y="1797041"/>
                </a:lnTo>
                <a:lnTo>
                  <a:pt x="1510832" y="1823586"/>
                </a:lnTo>
                <a:lnTo>
                  <a:pt x="1502044" y="1817884"/>
                </a:lnTo>
                <a:lnTo>
                  <a:pt x="1503660" y="1801458"/>
                </a:lnTo>
                <a:lnTo>
                  <a:pt x="1497339" y="1798164"/>
                </a:lnTo>
                <a:lnTo>
                  <a:pt x="1483531" y="1794149"/>
                </a:lnTo>
                <a:lnTo>
                  <a:pt x="1467469" y="1798256"/>
                </a:lnTo>
                <a:lnTo>
                  <a:pt x="1457801" y="1783726"/>
                </a:lnTo>
                <a:lnTo>
                  <a:pt x="1440065" y="1793941"/>
                </a:lnTo>
                <a:lnTo>
                  <a:pt x="1430640" y="1779403"/>
                </a:lnTo>
                <a:lnTo>
                  <a:pt x="1404509" y="1785936"/>
                </a:lnTo>
                <a:lnTo>
                  <a:pt x="1396421" y="1781662"/>
                </a:lnTo>
                <a:lnTo>
                  <a:pt x="1404877" y="1760797"/>
                </a:lnTo>
                <a:lnTo>
                  <a:pt x="1393238" y="1758101"/>
                </a:lnTo>
                <a:lnTo>
                  <a:pt x="1392751" y="1749092"/>
                </a:lnTo>
                <a:lnTo>
                  <a:pt x="1377600" y="1747474"/>
                </a:lnTo>
                <a:lnTo>
                  <a:pt x="1336923" y="1726150"/>
                </a:lnTo>
                <a:lnTo>
                  <a:pt x="1328359" y="1728673"/>
                </a:lnTo>
                <a:lnTo>
                  <a:pt x="1315050" y="1780095"/>
                </a:lnTo>
                <a:lnTo>
                  <a:pt x="1305023" y="1784814"/>
                </a:lnTo>
                <a:lnTo>
                  <a:pt x="1308812" y="1787532"/>
                </a:lnTo>
                <a:lnTo>
                  <a:pt x="1307040" y="1806095"/>
                </a:lnTo>
                <a:lnTo>
                  <a:pt x="1287633" y="1796800"/>
                </a:lnTo>
                <a:lnTo>
                  <a:pt x="1292927" y="1808348"/>
                </a:lnTo>
                <a:lnTo>
                  <a:pt x="1286559" y="1818429"/>
                </a:lnTo>
                <a:lnTo>
                  <a:pt x="1292133" y="1834094"/>
                </a:lnTo>
                <a:lnTo>
                  <a:pt x="1287701" y="1838519"/>
                </a:lnTo>
                <a:lnTo>
                  <a:pt x="1301051" y="1850079"/>
                </a:lnTo>
                <a:lnTo>
                  <a:pt x="1291952" y="1871288"/>
                </a:lnTo>
                <a:lnTo>
                  <a:pt x="1287138" y="1854793"/>
                </a:lnTo>
                <a:lnTo>
                  <a:pt x="1275795" y="1863479"/>
                </a:lnTo>
                <a:lnTo>
                  <a:pt x="1272749" y="1887023"/>
                </a:lnTo>
                <a:lnTo>
                  <a:pt x="1259098" y="1891713"/>
                </a:lnTo>
                <a:lnTo>
                  <a:pt x="1256854" y="1901774"/>
                </a:lnTo>
                <a:lnTo>
                  <a:pt x="1245998" y="1905804"/>
                </a:lnTo>
                <a:lnTo>
                  <a:pt x="1225474" y="1899804"/>
                </a:lnTo>
                <a:lnTo>
                  <a:pt x="1215402" y="1888336"/>
                </a:lnTo>
                <a:lnTo>
                  <a:pt x="1206115" y="1899746"/>
                </a:lnTo>
                <a:lnTo>
                  <a:pt x="1195572" y="1889848"/>
                </a:lnTo>
                <a:lnTo>
                  <a:pt x="1172126" y="1895788"/>
                </a:lnTo>
                <a:lnTo>
                  <a:pt x="1176922" y="1919483"/>
                </a:lnTo>
                <a:lnTo>
                  <a:pt x="1159840" y="1922327"/>
                </a:lnTo>
                <a:lnTo>
                  <a:pt x="1150267" y="1933815"/>
                </a:lnTo>
                <a:lnTo>
                  <a:pt x="1133683" y="1938520"/>
                </a:lnTo>
                <a:lnTo>
                  <a:pt x="1122419" y="1935225"/>
                </a:lnTo>
                <a:lnTo>
                  <a:pt x="1118624" y="1951323"/>
                </a:lnTo>
                <a:lnTo>
                  <a:pt x="1097672" y="1969671"/>
                </a:lnTo>
                <a:lnTo>
                  <a:pt x="1089309" y="1990709"/>
                </a:lnTo>
                <a:lnTo>
                  <a:pt x="1093315" y="2000603"/>
                </a:lnTo>
                <a:lnTo>
                  <a:pt x="1080006" y="2007217"/>
                </a:lnTo>
                <a:lnTo>
                  <a:pt x="1051382" y="2004688"/>
                </a:lnTo>
                <a:lnTo>
                  <a:pt x="1025927" y="2011517"/>
                </a:lnTo>
                <a:lnTo>
                  <a:pt x="1014672" y="2024418"/>
                </a:lnTo>
                <a:lnTo>
                  <a:pt x="1024921" y="2051222"/>
                </a:lnTo>
                <a:lnTo>
                  <a:pt x="1018373" y="2071273"/>
                </a:lnTo>
                <a:lnTo>
                  <a:pt x="1006828" y="2076342"/>
                </a:lnTo>
                <a:lnTo>
                  <a:pt x="1004339" y="2084655"/>
                </a:lnTo>
                <a:lnTo>
                  <a:pt x="973891" y="2085287"/>
                </a:lnTo>
                <a:lnTo>
                  <a:pt x="967022" y="2069672"/>
                </a:lnTo>
                <a:lnTo>
                  <a:pt x="954304" y="2085700"/>
                </a:lnTo>
                <a:lnTo>
                  <a:pt x="941199" y="2085814"/>
                </a:lnTo>
                <a:lnTo>
                  <a:pt x="928158" y="2076549"/>
                </a:lnTo>
                <a:lnTo>
                  <a:pt x="924768" y="2078980"/>
                </a:lnTo>
                <a:lnTo>
                  <a:pt x="922809" y="2067091"/>
                </a:lnTo>
                <a:lnTo>
                  <a:pt x="909796" y="2052477"/>
                </a:lnTo>
                <a:lnTo>
                  <a:pt x="892109" y="2048026"/>
                </a:lnTo>
                <a:lnTo>
                  <a:pt x="884959" y="2040109"/>
                </a:lnTo>
                <a:lnTo>
                  <a:pt x="885090" y="2022965"/>
                </a:lnTo>
                <a:lnTo>
                  <a:pt x="873687" y="2012680"/>
                </a:lnTo>
                <a:lnTo>
                  <a:pt x="867121" y="1994125"/>
                </a:lnTo>
                <a:lnTo>
                  <a:pt x="857537" y="1950237"/>
                </a:lnTo>
                <a:lnTo>
                  <a:pt x="869167" y="1955843"/>
                </a:lnTo>
                <a:lnTo>
                  <a:pt x="886064" y="1924920"/>
                </a:lnTo>
                <a:lnTo>
                  <a:pt x="894429" y="1926545"/>
                </a:lnTo>
                <a:lnTo>
                  <a:pt x="890575" y="1904506"/>
                </a:lnTo>
                <a:lnTo>
                  <a:pt x="874430" y="1906021"/>
                </a:lnTo>
                <a:lnTo>
                  <a:pt x="877118" y="1894893"/>
                </a:lnTo>
                <a:lnTo>
                  <a:pt x="867417" y="1897305"/>
                </a:lnTo>
                <a:lnTo>
                  <a:pt x="859613" y="1912472"/>
                </a:lnTo>
                <a:lnTo>
                  <a:pt x="850221" y="1913403"/>
                </a:lnTo>
                <a:lnTo>
                  <a:pt x="847476" y="1924826"/>
                </a:lnTo>
                <a:lnTo>
                  <a:pt x="826478" y="1946448"/>
                </a:lnTo>
                <a:lnTo>
                  <a:pt x="812756" y="1948570"/>
                </a:lnTo>
                <a:lnTo>
                  <a:pt x="800321" y="1943365"/>
                </a:lnTo>
                <a:lnTo>
                  <a:pt x="789297" y="1956776"/>
                </a:lnTo>
                <a:lnTo>
                  <a:pt x="783019" y="1950502"/>
                </a:lnTo>
                <a:lnTo>
                  <a:pt x="777111" y="1959687"/>
                </a:lnTo>
                <a:lnTo>
                  <a:pt x="782335" y="1965098"/>
                </a:lnTo>
                <a:lnTo>
                  <a:pt x="771656" y="1971007"/>
                </a:lnTo>
                <a:lnTo>
                  <a:pt x="765959" y="1964933"/>
                </a:lnTo>
                <a:lnTo>
                  <a:pt x="759205" y="1973406"/>
                </a:lnTo>
                <a:lnTo>
                  <a:pt x="757551" y="2014187"/>
                </a:lnTo>
                <a:lnTo>
                  <a:pt x="741529" y="2026162"/>
                </a:lnTo>
                <a:lnTo>
                  <a:pt x="731178" y="1999029"/>
                </a:lnTo>
                <a:lnTo>
                  <a:pt x="736551" y="1978381"/>
                </a:lnTo>
                <a:lnTo>
                  <a:pt x="716330" y="1948554"/>
                </a:lnTo>
                <a:lnTo>
                  <a:pt x="710766" y="1929439"/>
                </a:lnTo>
                <a:lnTo>
                  <a:pt x="728256" y="1918767"/>
                </a:lnTo>
                <a:lnTo>
                  <a:pt x="729387" y="1900299"/>
                </a:lnTo>
                <a:lnTo>
                  <a:pt x="723270" y="1891985"/>
                </a:lnTo>
                <a:lnTo>
                  <a:pt x="731562" y="1883622"/>
                </a:lnTo>
                <a:lnTo>
                  <a:pt x="729519" y="1876259"/>
                </a:lnTo>
                <a:lnTo>
                  <a:pt x="725842" y="1885432"/>
                </a:lnTo>
                <a:lnTo>
                  <a:pt x="724778" y="1873996"/>
                </a:lnTo>
                <a:lnTo>
                  <a:pt x="711067" y="1863099"/>
                </a:lnTo>
                <a:lnTo>
                  <a:pt x="704316" y="1859275"/>
                </a:lnTo>
                <a:lnTo>
                  <a:pt x="697523" y="1866712"/>
                </a:lnTo>
                <a:lnTo>
                  <a:pt x="688141" y="1852294"/>
                </a:lnTo>
                <a:lnTo>
                  <a:pt x="680592" y="1847617"/>
                </a:lnTo>
                <a:lnTo>
                  <a:pt x="678095" y="1851484"/>
                </a:lnTo>
                <a:lnTo>
                  <a:pt x="679205" y="1821523"/>
                </a:lnTo>
                <a:lnTo>
                  <a:pt x="663129" y="1844110"/>
                </a:lnTo>
                <a:lnTo>
                  <a:pt x="660148" y="1833167"/>
                </a:lnTo>
                <a:lnTo>
                  <a:pt x="647635" y="1835668"/>
                </a:lnTo>
                <a:lnTo>
                  <a:pt x="621969" y="1827887"/>
                </a:lnTo>
                <a:lnTo>
                  <a:pt x="622271" y="1816899"/>
                </a:lnTo>
                <a:lnTo>
                  <a:pt x="634131" y="1805979"/>
                </a:lnTo>
                <a:lnTo>
                  <a:pt x="629248" y="1799153"/>
                </a:lnTo>
                <a:lnTo>
                  <a:pt x="635165" y="1794805"/>
                </a:lnTo>
                <a:lnTo>
                  <a:pt x="625397" y="1774809"/>
                </a:lnTo>
                <a:lnTo>
                  <a:pt x="632192" y="1755877"/>
                </a:lnTo>
                <a:lnTo>
                  <a:pt x="630724" y="1749356"/>
                </a:lnTo>
                <a:lnTo>
                  <a:pt x="623386" y="1749892"/>
                </a:lnTo>
                <a:lnTo>
                  <a:pt x="630117" y="1737819"/>
                </a:lnTo>
                <a:lnTo>
                  <a:pt x="612583" y="1734890"/>
                </a:lnTo>
                <a:lnTo>
                  <a:pt x="619449" y="1712223"/>
                </a:lnTo>
                <a:lnTo>
                  <a:pt x="604729" y="1695103"/>
                </a:lnTo>
                <a:lnTo>
                  <a:pt x="611255" y="1682059"/>
                </a:lnTo>
                <a:lnTo>
                  <a:pt x="600752" y="1677169"/>
                </a:lnTo>
                <a:lnTo>
                  <a:pt x="595287" y="1665358"/>
                </a:lnTo>
                <a:lnTo>
                  <a:pt x="594265" y="1633512"/>
                </a:lnTo>
                <a:lnTo>
                  <a:pt x="583590" y="1615830"/>
                </a:lnTo>
                <a:lnTo>
                  <a:pt x="584548" y="1599664"/>
                </a:lnTo>
                <a:lnTo>
                  <a:pt x="600090" y="1590366"/>
                </a:lnTo>
                <a:lnTo>
                  <a:pt x="575276" y="1576593"/>
                </a:lnTo>
                <a:lnTo>
                  <a:pt x="593719" y="1570260"/>
                </a:lnTo>
                <a:lnTo>
                  <a:pt x="590178" y="1539324"/>
                </a:lnTo>
                <a:lnTo>
                  <a:pt x="570192" y="1533283"/>
                </a:lnTo>
                <a:lnTo>
                  <a:pt x="554405" y="1521424"/>
                </a:lnTo>
                <a:lnTo>
                  <a:pt x="554111" y="1510474"/>
                </a:lnTo>
                <a:lnTo>
                  <a:pt x="545113" y="1496339"/>
                </a:lnTo>
                <a:lnTo>
                  <a:pt x="522087" y="1494715"/>
                </a:lnTo>
                <a:lnTo>
                  <a:pt x="501492" y="1463408"/>
                </a:lnTo>
                <a:lnTo>
                  <a:pt x="486671" y="1467858"/>
                </a:lnTo>
                <a:lnTo>
                  <a:pt x="483704" y="1487899"/>
                </a:lnTo>
                <a:lnTo>
                  <a:pt x="493465" y="1509054"/>
                </a:lnTo>
                <a:lnTo>
                  <a:pt x="460018" y="1473255"/>
                </a:lnTo>
                <a:lnTo>
                  <a:pt x="468355" y="1490154"/>
                </a:lnTo>
                <a:lnTo>
                  <a:pt x="459907" y="1507238"/>
                </a:lnTo>
                <a:lnTo>
                  <a:pt x="460887" y="1524508"/>
                </a:lnTo>
                <a:lnTo>
                  <a:pt x="439725" y="1566429"/>
                </a:lnTo>
                <a:lnTo>
                  <a:pt x="424515" y="1566721"/>
                </a:lnTo>
                <a:lnTo>
                  <a:pt x="427080" y="1570500"/>
                </a:lnTo>
                <a:lnTo>
                  <a:pt x="419279" y="1575376"/>
                </a:lnTo>
                <a:lnTo>
                  <a:pt x="398862" y="1560229"/>
                </a:lnTo>
                <a:lnTo>
                  <a:pt x="382572" y="1562842"/>
                </a:lnTo>
                <a:lnTo>
                  <a:pt x="381703" y="1595613"/>
                </a:lnTo>
                <a:lnTo>
                  <a:pt x="356925" y="1598449"/>
                </a:lnTo>
                <a:lnTo>
                  <a:pt x="368461" y="1620189"/>
                </a:lnTo>
                <a:lnTo>
                  <a:pt x="344504" y="1642483"/>
                </a:lnTo>
                <a:lnTo>
                  <a:pt x="350940" y="1663640"/>
                </a:lnTo>
                <a:lnTo>
                  <a:pt x="331713" y="1656423"/>
                </a:lnTo>
                <a:lnTo>
                  <a:pt x="213035" y="1456275"/>
                </a:lnTo>
                <a:lnTo>
                  <a:pt x="181843" y="1367974"/>
                </a:lnTo>
                <a:lnTo>
                  <a:pt x="160281" y="1326240"/>
                </a:lnTo>
                <a:lnTo>
                  <a:pt x="130696" y="1231511"/>
                </a:lnTo>
                <a:lnTo>
                  <a:pt x="96990" y="1175732"/>
                </a:lnTo>
                <a:lnTo>
                  <a:pt x="90237" y="1145820"/>
                </a:lnTo>
                <a:lnTo>
                  <a:pt x="73783" y="1133910"/>
                </a:lnTo>
                <a:lnTo>
                  <a:pt x="58499" y="1104963"/>
                </a:lnTo>
                <a:lnTo>
                  <a:pt x="38222" y="1093355"/>
                </a:lnTo>
                <a:lnTo>
                  <a:pt x="26993" y="1065139"/>
                </a:lnTo>
                <a:lnTo>
                  <a:pt x="28352" y="1056233"/>
                </a:lnTo>
                <a:lnTo>
                  <a:pt x="0" y="1033699"/>
                </a:lnTo>
                <a:lnTo>
                  <a:pt x="142" y="1023413"/>
                </a:lnTo>
                <a:lnTo>
                  <a:pt x="5277" y="1016112"/>
                </a:lnTo>
                <a:lnTo>
                  <a:pt x="31951" y="1005312"/>
                </a:lnTo>
                <a:lnTo>
                  <a:pt x="46686" y="989336"/>
                </a:lnTo>
                <a:lnTo>
                  <a:pt x="53829" y="995332"/>
                </a:lnTo>
                <a:lnTo>
                  <a:pt x="60922" y="993969"/>
                </a:lnTo>
                <a:lnTo>
                  <a:pt x="69571" y="979878"/>
                </a:lnTo>
                <a:lnTo>
                  <a:pt x="67119" y="968400"/>
                </a:lnTo>
                <a:lnTo>
                  <a:pt x="75363" y="959098"/>
                </a:lnTo>
                <a:lnTo>
                  <a:pt x="61644" y="937034"/>
                </a:lnTo>
                <a:lnTo>
                  <a:pt x="77414" y="934977"/>
                </a:lnTo>
                <a:lnTo>
                  <a:pt x="71709" y="923299"/>
                </a:lnTo>
                <a:lnTo>
                  <a:pt x="83483" y="919837"/>
                </a:lnTo>
                <a:lnTo>
                  <a:pt x="77115" y="908715"/>
                </a:lnTo>
                <a:lnTo>
                  <a:pt x="90005" y="909425"/>
                </a:lnTo>
                <a:lnTo>
                  <a:pt x="88095" y="887776"/>
                </a:lnTo>
                <a:lnTo>
                  <a:pt x="107392" y="878937"/>
                </a:lnTo>
                <a:lnTo>
                  <a:pt x="114335" y="882704"/>
                </a:lnTo>
                <a:lnTo>
                  <a:pt x="130842" y="870700"/>
                </a:lnTo>
                <a:lnTo>
                  <a:pt x="145164" y="885230"/>
                </a:lnTo>
                <a:lnTo>
                  <a:pt x="157544" y="888310"/>
                </a:lnTo>
                <a:lnTo>
                  <a:pt x="156980" y="912787"/>
                </a:lnTo>
                <a:lnTo>
                  <a:pt x="164958" y="923652"/>
                </a:lnTo>
                <a:lnTo>
                  <a:pt x="191379" y="916289"/>
                </a:lnTo>
                <a:lnTo>
                  <a:pt x="203535" y="933427"/>
                </a:lnTo>
                <a:lnTo>
                  <a:pt x="211497" y="959607"/>
                </a:lnTo>
                <a:lnTo>
                  <a:pt x="206427" y="969526"/>
                </a:lnTo>
                <a:lnTo>
                  <a:pt x="198324" y="970578"/>
                </a:lnTo>
                <a:lnTo>
                  <a:pt x="195415" y="980138"/>
                </a:lnTo>
                <a:lnTo>
                  <a:pt x="207543" y="1003332"/>
                </a:lnTo>
                <a:lnTo>
                  <a:pt x="219223" y="1003940"/>
                </a:lnTo>
                <a:lnTo>
                  <a:pt x="218578" y="1041822"/>
                </a:lnTo>
                <a:lnTo>
                  <a:pt x="251724" y="1030471"/>
                </a:lnTo>
                <a:lnTo>
                  <a:pt x="258718" y="1032359"/>
                </a:lnTo>
                <a:lnTo>
                  <a:pt x="263640" y="1048996"/>
                </a:lnTo>
                <a:lnTo>
                  <a:pt x="270799" y="1051892"/>
                </a:lnTo>
                <a:lnTo>
                  <a:pt x="293275" y="1041839"/>
                </a:lnTo>
                <a:lnTo>
                  <a:pt x="331404" y="1045739"/>
                </a:lnTo>
                <a:lnTo>
                  <a:pt x="349142" y="1056336"/>
                </a:lnTo>
                <a:lnTo>
                  <a:pt x="361911" y="1072201"/>
                </a:lnTo>
                <a:lnTo>
                  <a:pt x="370171" y="1070789"/>
                </a:lnTo>
                <a:lnTo>
                  <a:pt x="394476" y="1081053"/>
                </a:lnTo>
                <a:lnTo>
                  <a:pt x="410780" y="1070692"/>
                </a:lnTo>
                <a:lnTo>
                  <a:pt x="446991" y="1074154"/>
                </a:lnTo>
                <a:lnTo>
                  <a:pt x="514864" y="1052737"/>
                </a:lnTo>
                <a:lnTo>
                  <a:pt x="561388" y="1056881"/>
                </a:lnTo>
                <a:lnTo>
                  <a:pt x="574670" y="1063878"/>
                </a:lnTo>
                <a:lnTo>
                  <a:pt x="578823" y="1074455"/>
                </a:lnTo>
                <a:lnTo>
                  <a:pt x="599205" y="1082794"/>
                </a:lnTo>
                <a:lnTo>
                  <a:pt x="611995" y="1081168"/>
                </a:lnTo>
                <a:lnTo>
                  <a:pt x="631442" y="1065018"/>
                </a:lnTo>
                <a:lnTo>
                  <a:pt x="642756" y="1062377"/>
                </a:lnTo>
                <a:lnTo>
                  <a:pt x="629039" y="1042173"/>
                </a:lnTo>
                <a:lnTo>
                  <a:pt x="634823" y="1023868"/>
                </a:lnTo>
                <a:lnTo>
                  <a:pt x="665077" y="1020924"/>
                </a:lnTo>
                <a:lnTo>
                  <a:pt x="678922" y="1012400"/>
                </a:lnTo>
                <a:lnTo>
                  <a:pt x="686022" y="985143"/>
                </a:lnTo>
                <a:lnTo>
                  <a:pt x="693108" y="981262"/>
                </a:lnTo>
                <a:lnTo>
                  <a:pt x="699118" y="965755"/>
                </a:lnTo>
                <a:lnTo>
                  <a:pt x="712318" y="960864"/>
                </a:lnTo>
                <a:lnTo>
                  <a:pt x="722275" y="965581"/>
                </a:lnTo>
                <a:lnTo>
                  <a:pt x="737611" y="953280"/>
                </a:lnTo>
                <a:lnTo>
                  <a:pt x="754691" y="958310"/>
                </a:lnTo>
                <a:lnTo>
                  <a:pt x="768361" y="940921"/>
                </a:lnTo>
                <a:lnTo>
                  <a:pt x="795758" y="935937"/>
                </a:lnTo>
                <a:lnTo>
                  <a:pt x="758391" y="0"/>
                </a:lnTo>
                <a:lnTo>
                  <a:pt x="780335" y="16244"/>
                </a:lnTo>
                <a:lnTo>
                  <a:pt x="788079" y="29240"/>
                </a:lnTo>
                <a:lnTo>
                  <a:pt x="820582" y="37911"/>
                </a:lnTo>
                <a:lnTo>
                  <a:pt x="829763" y="52115"/>
                </a:lnTo>
                <a:lnTo>
                  <a:pt x="850654" y="65052"/>
                </a:lnTo>
                <a:lnTo>
                  <a:pt x="849660" y="72139"/>
                </a:lnTo>
                <a:lnTo>
                  <a:pt x="857717" y="77216"/>
                </a:lnTo>
                <a:lnTo>
                  <a:pt x="862599" y="95298"/>
                </a:lnTo>
                <a:lnTo>
                  <a:pt x="871479" y="95633"/>
                </a:lnTo>
                <a:lnTo>
                  <a:pt x="866600" y="106579"/>
                </a:lnTo>
                <a:lnTo>
                  <a:pt x="879069" y="113635"/>
                </a:lnTo>
                <a:lnTo>
                  <a:pt x="879629" y="124842"/>
                </a:lnTo>
                <a:lnTo>
                  <a:pt x="890498" y="128023"/>
                </a:lnTo>
                <a:lnTo>
                  <a:pt x="883333" y="136189"/>
                </a:lnTo>
                <a:lnTo>
                  <a:pt x="891043" y="136782"/>
                </a:lnTo>
                <a:lnTo>
                  <a:pt x="895029" y="154271"/>
                </a:lnTo>
                <a:lnTo>
                  <a:pt x="904366" y="155260"/>
                </a:lnTo>
                <a:lnTo>
                  <a:pt x="904562" y="163624"/>
                </a:lnTo>
                <a:lnTo>
                  <a:pt x="911447" y="162842"/>
                </a:lnTo>
                <a:lnTo>
                  <a:pt x="909805" y="172240"/>
                </a:lnTo>
                <a:lnTo>
                  <a:pt x="921753" y="169619"/>
                </a:lnTo>
                <a:lnTo>
                  <a:pt x="913083" y="175111"/>
                </a:lnTo>
                <a:lnTo>
                  <a:pt x="911892" y="188331"/>
                </a:lnTo>
                <a:lnTo>
                  <a:pt x="928484" y="205674"/>
                </a:lnTo>
                <a:lnTo>
                  <a:pt x="920958" y="208220"/>
                </a:lnTo>
                <a:lnTo>
                  <a:pt x="918097" y="216876"/>
                </a:lnTo>
                <a:lnTo>
                  <a:pt x="926441" y="216068"/>
                </a:lnTo>
                <a:lnTo>
                  <a:pt x="924600" y="230179"/>
                </a:lnTo>
                <a:lnTo>
                  <a:pt x="934148" y="237097"/>
                </a:lnTo>
                <a:lnTo>
                  <a:pt x="937754" y="250511"/>
                </a:lnTo>
                <a:lnTo>
                  <a:pt x="945164" y="252501"/>
                </a:lnTo>
                <a:lnTo>
                  <a:pt x="939936" y="263487"/>
                </a:lnTo>
                <a:lnTo>
                  <a:pt x="951083" y="258095"/>
                </a:lnTo>
                <a:lnTo>
                  <a:pt x="950248" y="271392"/>
                </a:lnTo>
                <a:lnTo>
                  <a:pt x="957398" y="274926"/>
                </a:lnTo>
                <a:lnTo>
                  <a:pt x="955455" y="288097"/>
                </a:lnTo>
                <a:lnTo>
                  <a:pt x="964416" y="296761"/>
                </a:lnTo>
                <a:lnTo>
                  <a:pt x="959052" y="309701"/>
                </a:lnTo>
                <a:lnTo>
                  <a:pt x="965782" y="328541"/>
                </a:lnTo>
                <a:lnTo>
                  <a:pt x="961172" y="335106"/>
                </a:lnTo>
                <a:lnTo>
                  <a:pt x="971169" y="341722"/>
                </a:lnTo>
                <a:lnTo>
                  <a:pt x="934316" y="410817"/>
                </a:lnTo>
                <a:lnTo>
                  <a:pt x="917239" y="423209"/>
                </a:lnTo>
                <a:lnTo>
                  <a:pt x="914978" y="441445"/>
                </a:lnTo>
                <a:lnTo>
                  <a:pt x="922044" y="460923"/>
                </a:lnTo>
                <a:lnTo>
                  <a:pt x="921436" y="510877"/>
                </a:lnTo>
                <a:lnTo>
                  <a:pt x="927090" y="521447"/>
                </a:lnTo>
                <a:lnTo>
                  <a:pt x="935742" y="524098"/>
                </a:lnTo>
                <a:lnTo>
                  <a:pt x="936945" y="541159"/>
                </a:lnTo>
                <a:lnTo>
                  <a:pt x="943397" y="531398"/>
                </a:lnTo>
                <a:lnTo>
                  <a:pt x="954481" y="530037"/>
                </a:lnTo>
                <a:lnTo>
                  <a:pt x="966371" y="523303"/>
                </a:lnTo>
                <a:lnTo>
                  <a:pt x="967178" y="517545"/>
                </a:lnTo>
                <a:lnTo>
                  <a:pt x="984728" y="511065"/>
                </a:lnTo>
                <a:lnTo>
                  <a:pt x="1039454" y="529080"/>
                </a:lnTo>
                <a:lnTo>
                  <a:pt x="1101113" y="513957"/>
                </a:lnTo>
                <a:lnTo>
                  <a:pt x="1129003" y="523308"/>
                </a:lnTo>
                <a:lnTo>
                  <a:pt x="1140351" y="517371"/>
                </a:lnTo>
                <a:lnTo>
                  <a:pt x="1152297" y="523878"/>
                </a:lnTo>
                <a:lnTo>
                  <a:pt x="1168553" y="521758"/>
                </a:lnTo>
                <a:lnTo>
                  <a:pt x="1187190" y="506469"/>
                </a:lnTo>
                <a:lnTo>
                  <a:pt x="1184377" y="477593"/>
                </a:lnTo>
                <a:lnTo>
                  <a:pt x="1196141" y="469759"/>
                </a:lnTo>
                <a:lnTo>
                  <a:pt x="1224888" y="471646"/>
                </a:lnTo>
                <a:lnTo>
                  <a:pt x="1248180" y="461731"/>
                </a:lnTo>
                <a:lnTo>
                  <a:pt x="1254212" y="447702"/>
                </a:lnTo>
                <a:lnTo>
                  <a:pt x="1273205" y="429123"/>
                </a:lnTo>
                <a:lnTo>
                  <a:pt x="1279752" y="399746"/>
                </a:lnTo>
                <a:lnTo>
                  <a:pt x="1291567" y="387454"/>
                </a:lnTo>
                <a:lnTo>
                  <a:pt x="1318096" y="381364"/>
                </a:lnTo>
                <a:lnTo>
                  <a:pt x="1317921" y="371204"/>
                </a:lnTo>
                <a:lnTo>
                  <a:pt x="1326978" y="367707"/>
                </a:lnTo>
                <a:lnTo>
                  <a:pt x="1330724" y="355239"/>
                </a:lnTo>
                <a:lnTo>
                  <a:pt x="1338596" y="355963"/>
                </a:lnTo>
                <a:lnTo>
                  <a:pt x="1343088" y="348661"/>
                </a:lnTo>
                <a:lnTo>
                  <a:pt x="1361315" y="354759"/>
                </a:lnTo>
                <a:lnTo>
                  <a:pt x="1366762" y="333572"/>
                </a:lnTo>
                <a:lnTo>
                  <a:pt x="1395457" y="327203"/>
                </a:lnTo>
                <a:lnTo>
                  <a:pt x="1398154" y="401568"/>
                </a:lnTo>
                <a:lnTo>
                  <a:pt x="1420067" y="412098"/>
                </a:lnTo>
                <a:lnTo>
                  <a:pt x="1430144" y="392026"/>
                </a:lnTo>
                <a:lnTo>
                  <a:pt x="1442673" y="333015"/>
                </a:lnTo>
                <a:lnTo>
                  <a:pt x="1459795" y="334423"/>
                </a:lnTo>
                <a:lnTo>
                  <a:pt x="1460900" y="318407"/>
                </a:lnTo>
                <a:lnTo>
                  <a:pt x="1478886" y="320436"/>
                </a:lnTo>
                <a:lnTo>
                  <a:pt x="1483543" y="290582"/>
                </a:lnTo>
                <a:lnTo>
                  <a:pt x="1537565" y="292412"/>
                </a:lnTo>
                <a:lnTo>
                  <a:pt x="1553046" y="295607"/>
                </a:lnTo>
                <a:lnTo>
                  <a:pt x="1545587" y="317004"/>
                </a:lnTo>
                <a:lnTo>
                  <a:pt x="1517352" y="307997"/>
                </a:lnTo>
                <a:lnTo>
                  <a:pt x="1513807" y="324163"/>
                </a:lnTo>
                <a:lnTo>
                  <a:pt x="1535860" y="330524"/>
                </a:lnTo>
                <a:lnTo>
                  <a:pt x="1515731" y="363896"/>
                </a:lnTo>
                <a:lnTo>
                  <a:pt x="1529869" y="381126"/>
                </a:lnTo>
                <a:lnTo>
                  <a:pt x="1526779" y="418477"/>
                </a:lnTo>
                <a:lnTo>
                  <a:pt x="1572142" y="429545"/>
                </a:lnTo>
                <a:lnTo>
                  <a:pt x="1600169" y="451205"/>
                </a:lnTo>
                <a:lnTo>
                  <a:pt x="1578343" y="482802"/>
                </a:lnTo>
                <a:lnTo>
                  <a:pt x="1662739" y="520332"/>
                </a:lnTo>
                <a:lnTo>
                  <a:pt x="1666392" y="511761"/>
                </a:lnTo>
                <a:lnTo>
                  <a:pt x="1677263" y="511948"/>
                </a:lnTo>
                <a:lnTo>
                  <a:pt x="1689604" y="521128"/>
                </a:lnTo>
                <a:lnTo>
                  <a:pt x="1705298" y="561776"/>
                </a:lnTo>
                <a:lnTo>
                  <a:pt x="1691296" y="568449"/>
                </a:lnTo>
                <a:lnTo>
                  <a:pt x="1673477" y="612917"/>
                </a:lnTo>
                <a:lnTo>
                  <a:pt x="1717041" y="638333"/>
                </a:lnTo>
                <a:lnTo>
                  <a:pt x="1709475" y="666328"/>
                </a:lnTo>
                <a:lnTo>
                  <a:pt x="1709392" y="702120"/>
                </a:lnTo>
                <a:lnTo>
                  <a:pt x="1724919" y="706863"/>
                </a:lnTo>
                <a:lnTo>
                  <a:pt x="1719319" y="728171"/>
                </a:lnTo>
                <a:lnTo>
                  <a:pt x="1723402" y="736852"/>
                </a:lnTo>
                <a:lnTo>
                  <a:pt x="1790282" y="721660"/>
                </a:lnTo>
                <a:lnTo>
                  <a:pt x="1799749" y="727155"/>
                </a:lnTo>
                <a:lnTo>
                  <a:pt x="1791191" y="742090"/>
                </a:lnTo>
                <a:lnTo>
                  <a:pt x="1801161" y="747525"/>
                </a:lnTo>
                <a:lnTo>
                  <a:pt x="1780387" y="780391"/>
                </a:lnTo>
                <a:lnTo>
                  <a:pt x="1787723" y="788250"/>
                </a:lnTo>
                <a:lnTo>
                  <a:pt x="1791645" y="783563"/>
                </a:lnTo>
                <a:lnTo>
                  <a:pt x="1804733" y="798146"/>
                </a:lnTo>
                <a:lnTo>
                  <a:pt x="1799631" y="811298"/>
                </a:lnTo>
                <a:lnTo>
                  <a:pt x="1820127" y="826604"/>
                </a:lnTo>
                <a:lnTo>
                  <a:pt x="1826696" y="820936"/>
                </a:lnTo>
                <a:lnTo>
                  <a:pt x="1825710" y="812949"/>
                </a:lnTo>
                <a:lnTo>
                  <a:pt x="1836927" y="809961"/>
                </a:lnTo>
                <a:lnTo>
                  <a:pt x="1841305" y="802856"/>
                </a:lnTo>
                <a:lnTo>
                  <a:pt x="1836405" y="777020"/>
                </a:lnTo>
                <a:lnTo>
                  <a:pt x="1841622" y="778154"/>
                </a:lnTo>
                <a:lnTo>
                  <a:pt x="1848004" y="765284"/>
                </a:lnTo>
                <a:lnTo>
                  <a:pt x="1856751" y="763956"/>
                </a:lnTo>
                <a:lnTo>
                  <a:pt x="1848042" y="749499"/>
                </a:lnTo>
                <a:lnTo>
                  <a:pt x="1855979" y="735341"/>
                </a:lnTo>
                <a:lnTo>
                  <a:pt x="1851167" y="722546"/>
                </a:lnTo>
                <a:lnTo>
                  <a:pt x="1855595" y="712220"/>
                </a:lnTo>
                <a:lnTo>
                  <a:pt x="1871475" y="709120"/>
                </a:lnTo>
                <a:lnTo>
                  <a:pt x="1870260" y="703076"/>
                </a:lnTo>
                <a:lnTo>
                  <a:pt x="1876534" y="701798"/>
                </a:lnTo>
                <a:lnTo>
                  <a:pt x="1880410" y="726629"/>
                </a:lnTo>
                <a:lnTo>
                  <a:pt x="1925600" y="721235"/>
                </a:lnTo>
                <a:lnTo>
                  <a:pt x="1936568" y="726072"/>
                </a:lnTo>
                <a:lnTo>
                  <a:pt x="1890890" y="780159"/>
                </a:lnTo>
                <a:lnTo>
                  <a:pt x="1893284" y="783772"/>
                </a:lnTo>
                <a:lnTo>
                  <a:pt x="1887018" y="785304"/>
                </a:lnTo>
                <a:lnTo>
                  <a:pt x="1914464" y="831797"/>
                </a:lnTo>
                <a:lnTo>
                  <a:pt x="1919628" y="823566"/>
                </a:lnTo>
                <a:lnTo>
                  <a:pt x="1932033" y="821636"/>
                </a:lnTo>
                <a:lnTo>
                  <a:pt x="1917641" y="866964"/>
                </a:lnTo>
                <a:lnTo>
                  <a:pt x="1896343" y="872001"/>
                </a:lnTo>
                <a:lnTo>
                  <a:pt x="1900844" y="882187"/>
                </a:lnTo>
                <a:lnTo>
                  <a:pt x="1911548" y="885936"/>
                </a:lnTo>
                <a:lnTo>
                  <a:pt x="1900078" y="921762"/>
                </a:lnTo>
                <a:lnTo>
                  <a:pt x="1891076" y="931691"/>
                </a:lnTo>
                <a:lnTo>
                  <a:pt x="1895808" y="935084"/>
                </a:lnTo>
                <a:lnTo>
                  <a:pt x="1886793" y="963201"/>
                </a:lnTo>
                <a:lnTo>
                  <a:pt x="1903519" y="968570"/>
                </a:lnTo>
                <a:lnTo>
                  <a:pt x="1779694" y="1226739"/>
                </a:lnTo>
                <a:lnTo>
                  <a:pt x="1780260" y="1238826"/>
                </a:lnTo>
                <a:lnTo>
                  <a:pt x="1800501" y="1267257"/>
                </a:lnTo>
                <a:lnTo>
                  <a:pt x="1813623" y="1267527"/>
                </a:lnTo>
                <a:lnTo>
                  <a:pt x="1838292" y="1291786"/>
                </a:lnTo>
                <a:lnTo>
                  <a:pt x="1851014" y="1289366"/>
                </a:lnTo>
                <a:lnTo>
                  <a:pt x="1853162" y="1308190"/>
                </a:lnTo>
                <a:lnTo>
                  <a:pt x="1879790" y="1314118"/>
                </a:lnTo>
                <a:lnTo>
                  <a:pt x="1880671" y="1327567"/>
                </a:lnTo>
                <a:lnTo>
                  <a:pt x="1897011" y="1348758"/>
                </a:lnTo>
                <a:lnTo>
                  <a:pt x="1903442" y="1367217"/>
                </a:lnTo>
                <a:lnTo>
                  <a:pt x="1909023" y="1365673"/>
                </a:lnTo>
                <a:lnTo>
                  <a:pt x="1915489" y="1372163"/>
                </a:lnTo>
                <a:lnTo>
                  <a:pt x="1913786" y="1378748"/>
                </a:lnTo>
                <a:lnTo>
                  <a:pt x="1922627" y="1388506"/>
                </a:lnTo>
                <a:lnTo>
                  <a:pt x="1933305" y="1387532"/>
                </a:lnTo>
                <a:lnTo>
                  <a:pt x="1934156" y="1407000"/>
                </a:lnTo>
                <a:lnTo>
                  <a:pt x="1946985" y="1409793"/>
                </a:lnTo>
                <a:lnTo>
                  <a:pt x="1967666" y="1441854"/>
                </a:lnTo>
                <a:lnTo>
                  <a:pt x="1977792" y="1442261"/>
                </a:lnTo>
                <a:lnTo>
                  <a:pt x="1993271" y="1461895"/>
                </a:lnTo>
                <a:lnTo>
                  <a:pt x="1999537" y="1457083"/>
                </a:lnTo>
                <a:lnTo>
                  <a:pt x="2018198" y="1462263"/>
                </a:lnTo>
                <a:lnTo>
                  <a:pt x="2027994" y="1475194"/>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Working geographic region: Western coastal"/>
          <p:cNvSpPr/>
          <p:nvPr/>
        </p:nvSpPr>
        <p:spPr>
          <a:xfrm>
            <a:off x="2284853" y="5322748"/>
            <a:ext cx="5752" cy="7186"/>
          </a:xfrm>
          <a:custGeom>
            <a:avLst/>
            <a:gdLst/>
            <a:ahLst/>
            <a:cxnLst/>
            <a:rect l="l" t="t" r="r" b="b"/>
            <a:pathLst>
              <a:path w="5752" h="7186">
                <a:moveTo>
                  <a:pt x="0" y="2653"/>
                </a:moveTo>
                <a:lnTo>
                  <a:pt x="3500" y="0"/>
                </a:lnTo>
                <a:lnTo>
                  <a:pt x="5752" y="5055"/>
                </a:lnTo>
                <a:lnTo>
                  <a:pt x="3290" y="7186"/>
                </a:lnTo>
                <a:lnTo>
                  <a:pt x="0" y="2653"/>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Working geographic region: Western coastal"/>
          <p:cNvSpPr/>
          <p:nvPr/>
        </p:nvSpPr>
        <p:spPr>
          <a:xfrm>
            <a:off x="2220092" y="5229576"/>
            <a:ext cx="3544" cy="4871"/>
          </a:xfrm>
          <a:custGeom>
            <a:avLst/>
            <a:gdLst/>
            <a:ahLst/>
            <a:cxnLst/>
            <a:rect l="l" t="t" r="r" b="b"/>
            <a:pathLst>
              <a:path w="3544" h="4871">
                <a:moveTo>
                  <a:pt x="1386" y="0"/>
                </a:moveTo>
                <a:lnTo>
                  <a:pt x="3544" y="4547"/>
                </a:lnTo>
                <a:lnTo>
                  <a:pt x="0" y="4871"/>
                </a:lnTo>
                <a:lnTo>
                  <a:pt x="1386" y="0"/>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Working geographic region: Western coastal"/>
          <p:cNvSpPr/>
          <p:nvPr/>
        </p:nvSpPr>
        <p:spPr>
          <a:xfrm>
            <a:off x="2112260" y="4460901"/>
            <a:ext cx="1422285" cy="1110490"/>
          </a:xfrm>
          <a:custGeom>
            <a:avLst/>
            <a:gdLst/>
            <a:ahLst/>
            <a:cxnLst/>
            <a:rect l="l" t="t" r="r" b="b"/>
            <a:pathLst>
              <a:path w="1422285" h="1110490">
                <a:moveTo>
                  <a:pt x="1400506" y="324117"/>
                </a:moveTo>
                <a:lnTo>
                  <a:pt x="1396647" y="339411"/>
                </a:lnTo>
                <a:lnTo>
                  <a:pt x="1409480" y="338180"/>
                </a:lnTo>
                <a:lnTo>
                  <a:pt x="1422285" y="351706"/>
                </a:lnTo>
                <a:lnTo>
                  <a:pt x="1415188" y="366234"/>
                </a:lnTo>
                <a:lnTo>
                  <a:pt x="1404603" y="366172"/>
                </a:lnTo>
                <a:lnTo>
                  <a:pt x="1404726" y="376313"/>
                </a:lnTo>
                <a:lnTo>
                  <a:pt x="1396433" y="381115"/>
                </a:lnTo>
                <a:lnTo>
                  <a:pt x="1395435" y="391581"/>
                </a:lnTo>
                <a:lnTo>
                  <a:pt x="1397950" y="384787"/>
                </a:lnTo>
                <a:lnTo>
                  <a:pt x="1403662" y="394681"/>
                </a:lnTo>
                <a:lnTo>
                  <a:pt x="1396036" y="405190"/>
                </a:lnTo>
                <a:lnTo>
                  <a:pt x="1382502" y="403797"/>
                </a:lnTo>
                <a:lnTo>
                  <a:pt x="1380948" y="412852"/>
                </a:lnTo>
                <a:lnTo>
                  <a:pt x="1365879" y="416318"/>
                </a:lnTo>
                <a:lnTo>
                  <a:pt x="1351020" y="428843"/>
                </a:lnTo>
                <a:lnTo>
                  <a:pt x="1323379" y="409626"/>
                </a:lnTo>
                <a:lnTo>
                  <a:pt x="1302711" y="424931"/>
                </a:lnTo>
                <a:lnTo>
                  <a:pt x="1298206" y="440420"/>
                </a:lnTo>
                <a:lnTo>
                  <a:pt x="1304716" y="448298"/>
                </a:lnTo>
                <a:lnTo>
                  <a:pt x="1301889" y="452198"/>
                </a:lnTo>
                <a:lnTo>
                  <a:pt x="1254837" y="447423"/>
                </a:lnTo>
                <a:lnTo>
                  <a:pt x="1246581" y="464400"/>
                </a:lnTo>
                <a:lnTo>
                  <a:pt x="1229754" y="454901"/>
                </a:lnTo>
                <a:lnTo>
                  <a:pt x="1224342" y="466434"/>
                </a:lnTo>
                <a:lnTo>
                  <a:pt x="1205848" y="474161"/>
                </a:lnTo>
                <a:lnTo>
                  <a:pt x="1211173" y="496639"/>
                </a:lnTo>
                <a:lnTo>
                  <a:pt x="1220800" y="506210"/>
                </a:lnTo>
                <a:lnTo>
                  <a:pt x="1225188" y="521599"/>
                </a:lnTo>
                <a:lnTo>
                  <a:pt x="1224052" y="531891"/>
                </a:lnTo>
                <a:lnTo>
                  <a:pt x="1217259" y="537028"/>
                </a:lnTo>
                <a:lnTo>
                  <a:pt x="1231088" y="545044"/>
                </a:lnTo>
                <a:lnTo>
                  <a:pt x="1235377" y="560376"/>
                </a:lnTo>
                <a:lnTo>
                  <a:pt x="1245356" y="560156"/>
                </a:lnTo>
                <a:lnTo>
                  <a:pt x="1241456" y="575951"/>
                </a:lnTo>
                <a:lnTo>
                  <a:pt x="1199892" y="561839"/>
                </a:lnTo>
                <a:lnTo>
                  <a:pt x="1178808" y="570296"/>
                </a:lnTo>
                <a:lnTo>
                  <a:pt x="1184926" y="585244"/>
                </a:lnTo>
                <a:lnTo>
                  <a:pt x="1161449" y="589433"/>
                </a:lnTo>
                <a:lnTo>
                  <a:pt x="1149145" y="609402"/>
                </a:lnTo>
                <a:lnTo>
                  <a:pt x="1153777" y="620405"/>
                </a:lnTo>
                <a:lnTo>
                  <a:pt x="1146330" y="627774"/>
                </a:lnTo>
                <a:lnTo>
                  <a:pt x="1151156" y="640857"/>
                </a:lnTo>
                <a:lnTo>
                  <a:pt x="1116809" y="701394"/>
                </a:lnTo>
                <a:lnTo>
                  <a:pt x="1105937" y="705870"/>
                </a:lnTo>
                <a:lnTo>
                  <a:pt x="1105560" y="723986"/>
                </a:lnTo>
                <a:lnTo>
                  <a:pt x="1114002" y="730209"/>
                </a:lnTo>
                <a:lnTo>
                  <a:pt x="1148479" y="731969"/>
                </a:lnTo>
                <a:lnTo>
                  <a:pt x="1191240" y="720616"/>
                </a:lnTo>
                <a:lnTo>
                  <a:pt x="1226115" y="720335"/>
                </a:lnTo>
                <a:lnTo>
                  <a:pt x="1240781" y="738821"/>
                </a:lnTo>
                <a:lnTo>
                  <a:pt x="1238728" y="733586"/>
                </a:lnTo>
                <a:lnTo>
                  <a:pt x="1268953" y="733752"/>
                </a:lnTo>
                <a:lnTo>
                  <a:pt x="1292399" y="747000"/>
                </a:lnTo>
                <a:lnTo>
                  <a:pt x="1290981" y="766485"/>
                </a:lnTo>
                <a:lnTo>
                  <a:pt x="1308040" y="779926"/>
                </a:lnTo>
                <a:lnTo>
                  <a:pt x="1307216" y="791875"/>
                </a:lnTo>
                <a:lnTo>
                  <a:pt x="1289112" y="792141"/>
                </a:lnTo>
                <a:lnTo>
                  <a:pt x="1282747" y="786796"/>
                </a:lnTo>
                <a:lnTo>
                  <a:pt x="1279648" y="799111"/>
                </a:lnTo>
                <a:lnTo>
                  <a:pt x="1258022" y="803961"/>
                </a:lnTo>
                <a:lnTo>
                  <a:pt x="1248702" y="823334"/>
                </a:lnTo>
                <a:lnTo>
                  <a:pt x="1268863" y="826868"/>
                </a:lnTo>
                <a:lnTo>
                  <a:pt x="1275136" y="820288"/>
                </a:lnTo>
                <a:lnTo>
                  <a:pt x="1283416" y="823069"/>
                </a:lnTo>
                <a:lnTo>
                  <a:pt x="1284523" y="832141"/>
                </a:lnTo>
                <a:lnTo>
                  <a:pt x="1314851" y="840760"/>
                </a:lnTo>
                <a:lnTo>
                  <a:pt x="1300924" y="853434"/>
                </a:lnTo>
                <a:lnTo>
                  <a:pt x="1303204" y="870686"/>
                </a:lnTo>
                <a:lnTo>
                  <a:pt x="1253274" y="881246"/>
                </a:lnTo>
                <a:lnTo>
                  <a:pt x="1244794" y="896550"/>
                </a:lnTo>
                <a:lnTo>
                  <a:pt x="1252468" y="904807"/>
                </a:lnTo>
                <a:lnTo>
                  <a:pt x="1167396" y="896051"/>
                </a:lnTo>
                <a:lnTo>
                  <a:pt x="1161380" y="901796"/>
                </a:lnTo>
                <a:lnTo>
                  <a:pt x="1121878" y="886424"/>
                </a:lnTo>
                <a:lnTo>
                  <a:pt x="1075660" y="878289"/>
                </a:lnTo>
                <a:lnTo>
                  <a:pt x="1055528" y="893054"/>
                </a:lnTo>
                <a:lnTo>
                  <a:pt x="1000917" y="896365"/>
                </a:lnTo>
                <a:lnTo>
                  <a:pt x="979247" y="911738"/>
                </a:lnTo>
                <a:lnTo>
                  <a:pt x="977112" y="923847"/>
                </a:lnTo>
                <a:lnTo>
                  <a:pt x="984547" y="926297"/>
                </a:lnTo>
                <a:lnTo>
                  <a:pt x="987485" y="929486"/>
                </a:lnTo>
                <a:lnTo>
                  <a:pt x="944369" y="941128"/>
                </a:lnTo>
                <a:lnTo>
                  <a:pt x="935254" y="952814"/>
                </a:lnTo>
                <a:lnTo>
                  <a:pt x="942546" y="959724"/>
                </a:lnTo>
                <a:lnTo>
                  <a:pt x="919709" y="979233"/>
                </a:lnTo>
                <a:lnTo>
                  <a:pt x="890286" y="985112"/>
                </a:lnTo>
                <a:lnTo>
                  <a:pt x="853132" y="976524"/>
                </a:lnTo>
                <a:lnTo>
                  <a:pt x="834022" y="981081"/>
                </a:lnTo>
                <a:lnTo>
                  <a:pt x="833622" y="986708"/>
                </a:lnTo>
                <a:lnTo>
                  <a:pt x="821804" y="994387"/>
                </a:lnTo>
                <a:lnTo>
                  <a:pt x="806492" y="998967"/>
                </a:lnTo>
                <a:lnTo>
                  <a:pt x="764031" y="984466"/>
                </a:lnTo>
                <a:lnTo>
                  <a:pt x="728081" y="982929"/>
                </a:lnTo>
                <a:lnTo>
                  <a:pt x="711159" y="992458"/>
                </a:lnTo>
                <a:lnTo>
                  <a:pt x="715968" y="1005109"/>
                </a:lnTo>
                <a:lnTo>
                  <a:pt x="711044" y="1011429"/>
                </a:lnTo>
                <a:lnTo>
                  <a:pt x="669990" y="1006509"/>
                </a:lnTo>
                <a:lnTo>
                  <a:pt x="643671" y="1013021"/>
                </a:lnTo>
                <a:lnTo>
                  <a:pt x="626062" y="1023868"/>
                </a:lnTo>
                <a:lnTo>
                  <a:pt x="617097" y="1039765"/>
                </a:lnTo>
                <a:lnTo>
                  <a:pt x="585693" y="1060015"/>
                </a:lnTo>
                <a:lnTo>
                  <a:pt x="583964" y="1071886"/>
                </a:lnTo>
                <a:lnTo>
                  <a:pt x="569509" y="1073654"/>
                </a:lnTo>
                <a:lnTo>
                  <a:pt x="551432" y="1084784"/>
                </a:lnTo>
                <a:lnTo>
                  <a:pt x="545161" y="1094831"/>
                </a:lnTo>
                <a:lnTo>
                  <a:pt x="548906" y="1102675"/>
                </a:lnTo>
                <a:lnTo>
                  <a:pt x="535474" y="1110490"/>
                </a:lnTo>
                <a:lnTo>
                  <a:pt x="507980" y="1094237"/>
                </a:lnTo>
                <a:lnTo>
                  <a:pt x="471107" y="1095065"/>
                </a:lnTo>
                <a:lnTo>
                  <a:pt x="458819" y="1100804"/>
                </a:lnTo>
                <a:lnTo>
                  <a:pt x="457140" y="1093822"/>
                </a:lnTo>
                <a:lnTo>
                  <a:pt x="450342" y="1093043"/>
                </a:lnTo>
                <a:lnTo>
                  <a:pt x="432430" y="1073537"/>
                </a:lnTo>
                <a:lnTo>
                  <a:pt x="417391" y="1070254"/>
                </a:lnTo>
                <a:lnTo>
                  <a:pt x="408556" y="1058323"/>
                </a:lnTo>
                <a:lnTo>
                  <a:pt x="383927" y="1066267"/>
                </a:lnTo>
                <a:lnTo>
                  <a:pt x="400739" y="1042158"/>
                </a:lnTo>
                <a:lnTo>
                  <a:pt x="391632" y="1021744"/>
                </a:lnTo>
                <a:lnTo>
                  <a:pt x="376973" y="1009082"/>
                </a:lnTo>
                <a:lnTo>
                  <a:pt x="365324" y="1017121"/>
                </a:lnTo>
                <a:lnTo>
                  <a:pt x="348965" y="1014246"/>
                </a:lnTo>
                <a:lnTo>
                  <a:pt x="326620" y="994249"/>
                </a:lnTo>
                <a:lnTo>
                  <a:pt x="281448" y="1008701"/>
                </a:lnTo>
                <a:lnTo>
                  <a:pt x="277112" y="986051"/>
                </a:lnTo>
                <a:lnTo>
                  <a:pt x="285756" y="973683"/>
                </a:lnTo>
                <a:lnTo>
                  <a:pt x="276845" y="958182"/>
                </a:lnTo>
                <a:lnTo>
                  <a:pt x="286951" y="949702"/>
                </a:lnTo>
                <a:lnTo>
                  <a:pt x="265696" y="931365"/>
                </a:lnTo>
                <a:lnTo>
                  <a:pt x="235215" y="930556"/>
                </a:lnTo>
                <a:lnTo>
                  <a:pt x="201270" y="941772"/>
                </a:lnTo>
                <a:lnTo>
                  <a:pt x="194055" y="950301"/>
                </a:lnTo>
                <a:lnTo>
                  <a:pt x="193454" y="962047"/>
                </a:lnTo>
                <a:lnTo>
                  <a:pt x="205058" y="973095"/>
                </a:lnTo>
                <a:lnTo>
                  <a:pt x="202955" y="995441"/>
                </a:lnTo>
                <a:lnTo>
                  <a:pt x="211490" y="1004682"/>
                </a:lnTo>
                <a:lnTo>
                  <a:pt x="190040" y="993428"/>
                </a:lnTo>
                <a:lnTo>
                  <a:pt x="181836" y="965055"/>
                </a:lnTo>
                <a:lnTo>
                  <a:pt x="170111" y="953546"/>
                </a:lnTo>
                <a:lnTo>
                  <a:pt x="176611" y="947367"/>
                </a:lnTo>
                <a:lnTo>
                  <a:pt x="179348" y="931068"/>
                </a:lnTo>
                <a:lnTo>
                  <a:pt x="165881" y="925870"/>
                </a:lnTo>
                <a:lnTo>
                  <a:pt x="178382" y="908350"/>
                </a:lnTo>
                <a:lnTo>
                  <a:pt x="183070" y="889228"/>
                </a:lnTo>
                <a:lnTo>
                  <a:pt x="190700" y="888031"/>
                </a:lnTo>
                <a:lnTo>
                  <a:pt x="187235" y="891101"/>
                </a:lnTo>
                <a:lnTo>
                  <a:pt x="193489" y="893692"/>
                </a:lnTo>
                <a:lnTo>
                  <a:pt x="191731" y="889356"/>
                </a:lnTo>
                <a:lnTo>
                  <a:pt x="197622" y="891329"/>
                </a:lnTo>
                <a:lnTo>
                  <a:pt x="201251" y="885525"/>
                </a:lnTo>
                <a:lnTo>
                  <a:pt x="188198" y="835591"/>
                </a:lnTo>
                <a:lnTo>
                  <a:pt x="168675" y="807481"/>
                </a:lnTo>
                <a:lnTo>
                  <a:pt x="158326" y="804635"/>
                </a:lnTo>
                <a:lnTo>
                  <a:pt x="161352" y="792123"/>
                </a:lnTo>
                <a:lnTo>
                  <a:pt x="156908" y="783218"/>
                </a:lnTo>
                <a:lnTo>
                  <a:pt x="120527" y="752912"/>
                </a:lnTo>
                <a:lnTo>
                  <a:pt x="122266" y="744768"/>
                </a:lnTo>
                <a:lnTo>
                  <a:pt x="109998" y="724284"/>
                </a:lnTo>
                <a:lnTo>
                  <a:pt x="89053" y="703683"/>
                </a:lnTo>
                <a:lnTo>
                  <a:pt x="86684" y="701926"/>
                </a:lnTo>
                <a:lnTo>
                  <a:pt x="79036" y="699556"/>
                </a:lnTo>
                <a:lnTo>
                  <a:pt x="74586" y="691841"/>
                </a:lnTo>
                <a:lnTo>
                  <a:pt x="79704" y="681435"/>
                </a:lnTo>
                <a:lnTo>
                  <a:pt x="85465" y="684198"/>
                </a:lnTo>
                <a:lnTo>
                  <a:pt x="80859" y="688682"/>
                </a:lnTo>
                <a:lnTo>
                  <a:pt x="87635" y="688466"/>
                </a:lnTo>
                <a:lnTo>
                  <a:pt x="90918" y="700800"/>
                </a:lnTo>
                <a:lnTo>
                  <a:pt x="106887" y="715038"/>
                </a:lnTo>
                <a:lnTo>
                  <a:pt x="112747" y="711678"/>
                </a:lnTo>
                <a:lnTo>
                  <a:pt x="91825" y="690618"/>
                </a:lnTo>
                <a:lnTo>
                  <a:pt x="90027" y="669857"/>
                </a:lnTo>
                <a:lnTo>
                  <a:pt x="82741" y="666187"/>
                </a:lnTo>
                <a:lnTo>
                  <a:pt x="80144" y="672604"/>
                </a:lnTo>
                <a:lnTo>
                  <a:pt x="82392" y="664176"/>
                </a:lnTo>
                <a:lnTo>
                  <a:pt x="76253" y="663602"/>
                </a:lnTo>
                <a:lnTo>
                  <a:pt x="71684" y="666672"/>
                </a:lnTo>
                <a:lnTo>
                  <a:pt x="77945" y="673504"/>
                </a:lnTo>
                <a:lnTo>
                  <a:pt x="77621" y="675997"/>
                </a:lnTo>
                <a:lnTo>
                  <a:pt x="72157" y="671370"/>
                </a:lnTo>
                <a:lnTo>
                  <a:pt x="64810" y="678610"/>
                </a:lnTo>
                <a:lnTo>
                  <a:pt x="60893" y="675984"/>
                </a:lnTo>
                <a:lnTo>
                  <a:pt x="62592" y="669268"/>
                </a:lnTo>
                <a:lnTo>
                  <a:pt x="55401" y="664004"/>
                </a:lnTo>
                <a:lnTo>
                  <a:pt x="57069" y="647838"/>
                </a:lnTo>
                <a:lnTo>
                  <a:pt x="50742" y="641839"/>
                </a:lnTo>
                <a:lnTo>
                  <a:pt x="55662" y="630570"/>
                </a:lnTo>
                <a:lnTo>
                  <a:pt x="46629" y="621615"/>
                </a:lnTo>
                <a:lnTo>
                  <a:pt x="58670" y="614853"/>
                </a:lnTo>
                <a:lnTo>
                  <a:pt x="56297" y="599648"/>
                </a:lnTo>
                <a:lnTo>
                  <a:pt x="71179" y="588009"/>
                </a:lnTo>
                <a:lnTo>
                  <a:pt x="91507" y="608266"/>
                </a:lnTo>
                <a:lnTo>
                  <a:pt x="109365" y="604394"/>
                </a:lnTo>
                <a:lnTo>
                  <a:pt x="131120" y="578706"/>
                </a:lnTo>
                <a:lnTo>
                  <a:pt x="142140" y="554568"/>
                </a:lnTo>
                <a:lnTo>
                  <a:pt x="146777" y="522928"/>
                </a:lnTo>
                <a:lnTo>
                  <a:pt x="139958" y="485536"/>
                </a:lnTo>
                <a:lnTo>
                  <a:pt x="145022" y="484479"/>
                </a:lnTo>
                <a:lnTo>
                  <a:pt x="146075" y="476060"/>
                </a:lnTo>
                <a:lnTo>
                  <a:pt x="133801" y="433726"/>
                </a:lnTo>
                <a:lnTo>
                  <a:pt x="136165" y="422648"/>
                </a:lnTo>
                <a:lnTo>
                  <a:pt x="123549" y="389670"/>
                </a:lnTo>
                <a:lnTo>
                  <a:pt x="126096" y="378898"/>
                </a:lnTo>
                <a:lnTo>
                  <a:pt x="113959" y="358778"/>
                </a:lnTo>
                <a:lnTo>
                  <a:pt x="111221" y="340294"/>
                </a:lnTo>
                <a:lnTo>
                  <a:pt x="84190" y="298438"/>
                </a:lnTo>
                <a:lnTo>
                  <a:pt x="34565" y="244223"/>
                </a:lnTo>
                <a:lnTo>
                  <a:pt x="24920" y="220581"/>
                </a:lnTo>
                <a:lnTo>
                  <a:pt x="0" y="194999"/>
                </a:lnTo>
                <a:lnTo>
                  <a:pt x="17251" y="200232"/>
                </a:lnTo>
                <a:lnTo>
                  <a:pt x="10815" y="179075"/>
                </a:lnTo>
                <a:lnTo>
                  <a:pt x="34772" y="156781"/>
                </a:lnTo>
                <a:lnTo>
                  <a:pt x="23236" y="135041"/>
                </a:lnTo>
                <a:lnTo>
                  <a:pt x="48014" y="132205"/>
                </a:lnTo>
                <a:lnTo>
                  <a:pt x="48883" y="99434"/>
                </a:lnTo>
                <a:lnTo>
                  <a:pt x="65173" y="96821"/>
                </a:lnTo>
                <a:lnTo>
                  <a:pt x="85590" y="111968"/>
                </a:lnTo>
                <a:lnTo>
                  <a:pt x="94769" y="101652"/>
                </a:lnTo>
                <a:lnTo>
                  <a:pt x="103457" y="105536"/>
                </a:lnTo>
                <a:lnTo>
                  <a:pt x="127198" y="61100"/>
                </a:lnTo>
                <a:lnTo>
                  <a:pt x="126218" y="43830"/>
                </a:lnTo>
                <a:lnTo>
                  <a:pt x="134666" y="26746"/>
                </a:lnTo>
                <a:lnTo>
                  <a:pt x="126329" y="9847"/>
                </a:lnTo>
                <a:lnTo>
                  <a:pt x="159776" y="45646"/>
                </a:lnTo>
                <a:lnTo>
                  <a:pt x="150015" y="24491"/>
                </a:lnTo>
                <a:lnTo>
                  <a:pt x="152982" y="4450"/>
                </a:lnTo>
                <a:lnTo>
                  <a:pt x="167803" y="0"/>
                </a:lnTo>
                <a:lnTo>
                  <a:pt x="188398" y="31307"/>
                </a:lnTo>
                <a:lnTo>
                  <a:pt x="211424" y="32931"/>
                </a:lnTo>
                <a:lnTo>
                  <a:pt x="220422" y="47066"/>
                </a:lnTo>
                <a:lnTo>
                  <a:pt x="220716" y="58016"/>
                </a:lnTo>
                <a:lnTo>
                  <a:pt x="236503" y="69875"/>
                </a:lnTo>
                <a:lnTo>
                  <a:pt x="256489" y="75916"/>
                </a:lnTo>
                <a:lnTo>
                  <a:pt x="260030" y="106852"/>
                </a:lnTo>
                <a:lnTo>
                  <a:pt x="241587" y="113185"/>
                </a:lnTo>
                <a:lnTo>
                  <a:pt x="266401" y="126958"/>
                </a:lnTo>
                <a:lnTo>
                  <a:pt x="250859" y="136256"/>
                </a:lnTo>
                <a:lnTo>
                  <a:pt x="249901" y="152422"/>
                </a:lnTo>
                <a:lnTo>
                  <a:pt x="260576" y="170104"/>
                </a:lnTo>
                <a:lnTo>
                  <a:pt x="261598" y="201950"/>
                </a:lnTo>
                <a:lnTo>
                  <a:pt x="267063" y="213761"/>
                </a:lnTo>
                <a:lnTo>
                  <a:pt x="277566" y="218651"/>
                </a:lnTo>
                <a:lnTo>
                  <a:pt x="271040" y="231695"/>
                </a:lnTo>
                <a:lnTo>
                  <a:pt x="285760" y="248815"/>
                </a:lnTo>
                <a:lnTo>
                  <a:pt x="278894" y="271482"/>
                </a:lnTo>
                <a:lnTo>
                  <a:pt x="296428" y="274411"/>
                </a:lnTo>
                <a:lnTo>
                  <a:pt x="289697" y="286484"/>
                </a:lnTo>
                <a:lnTo>
                  <a:pt x="297035" y="285948"/>
                </a:lnTo>
                <a:lnTo>
                  <a:pt x="298503" y="292469"/>
                </a:lnTo>
                <a:lnTo>
                  <a:pt x="291708" y="311401"/>
                </a:lnTo>
                <a:lnTo>
                  <a:pt x="301476" y="331397"/>
                </a:lnTo>
                <a:lnTo>
                  <a:pt x="295559" y="335745"/>
                </a:lnTo>
                <a:lnTo>
                  <a:pt x="300442" y="342571"/>
                </a:lnTo>
                <a:lnTo>
                  <a:pt x="288582" y="353491"/>
                </a:lnTo>
                <a:lnTo>
                  <a:pt x="288280" y="364479"/>
                </a:lnTo>
                <a:lnTo>
                  <a:pt x="313946" y="372260"/>
                </a:lnTo>
                <a:lnTo>
                  <a:pt x="326459" y="369759"/>
                </a:lnTo>
                <a:lnTo>
                  <a:pt x="329440" y="380702"/>
                </a:lnTo>
                <a:lnTo>
                  <a:pt x="345516" y="358115"/>
                </a:lnTo>
                <a:lnTo>
                  <a:pt x="344406" y="388076"/>
                </a:lnTo>
                <a:lnTo>
                  <a:pt x="346903" y="384209"/>
                </a:lnTo>
                <a:lnTo>
                  <a:pt x="354452" y="388886"/>
                </a:lnTo>
                <a:lnTo>
                  <a:pt x="363834" y="403304"/>
                </a:lnTo>
                <a:lnTo>
                  <a:pt x="370627" y="395867"/>
                </a:lnTo>
                <a:lnTo>
                  <a:pt x="377378" y="399691"/>
                </a:lnTo>
                <a:lnTo>
                  <a:pt x="391089" y="410588"/>
                </a:lnTo>
                <a:lnTo>
                  <a:pt x="392153" y="422024"/>
                </a:lnTo>
                <a:lnTo>
                  <a:pt x="395830" y="412851"/>
                </a:lnTo>
                <a:lnTo>
                  <a:pt x="397873" y="420214"/>
                </a:lnTo>
                <a:lnTo>
                  <a:pt x="389581" y="428577"/>
                </a:lnTo>
                <a:lnTo>
                  <a:pt x="395698" y="436891"/>
                </a:lnTo>
                <a:lnTo>
                  <a:pt x="394567" y="455359"/>
                </a:lnTo>
                <a:lnTo>
                  <a:pt x="377077" y="466031"/>
                </a:lnTo>
                <a:lnTo>
                  <a:pt x="382641" y="485146"/>
                </a:lnTo>
                <a:lnTo>
                  <a:pt x="402862" y="514973"/>
                </a:lnTo>
                <a:lnTo>
                  <a:pt x="397489" y="535621"/>
                </a:lnTo>
                <a:lnTo>
                  <a:pt x="407840" y="562754"/>
                </a:lnTo>
                <a:lnTo>
                  <a:pt x="423862" y="550779"/>
                </a:lnTo>
                <a:lnTo>
                  <a:pt x="425516" y="509998"/>
                </a:lnTo>
                <a:lnTo>
                  <a:pt x="432270" y="501525"/>
                </a:lnTo>
                <a:lnTo>
                  <a:pt x="437967" y="507599"/>
                </a:lnTo>
                <a:lnTo>
                  <a:pt x="448646" y="501690"/>
                </a:lnTo>
                <a:lnTo>
                  <a:pt x="443422" y="496279"/>
                </a:lnTo>
                <a:lnTo>
                  <a:pt x="449330" y="487094"/>
                </a:lnTo>
                <a:lnTo>
                  <a:pt x="455608" y="493368"/>
                </a:lnTo>
                <a:lnTo>
                  <a:pt x="466632" y="479957"/>
                </a:lnTo>
                <a:lnTo>
                  <a:pt x="479067" y="485162"/>
                </a:lnTo>
                <a:lnTo>
                  <a:pt x="492789" y="483040"/>
                </a:lnTo>
                <a:lnTo>
                  <a:pt x="513787" y="461418"/>
                </a:lnTo>
                <a:lnTo>
                  <a:pt x="516532" y="449995"/>
                </a:lnTo>
                <a:lnTo>
                  <a:pt x="525924" y="449064"/>
                </a:lnTo>
                <a:lnTo>
                  <a:pt x="533728" y="433897"/>
                </a:lnTo>
                <a:lnTo>
                  <a:pt x="543429" y="431485"/>
                </a:lnTo>
                <a:lnTo>
                  <a:pt x="540741" y="442613"/>
                </a:lnTo>
                <a:lnTo>
                  <a:pt x="556886" y="441098"/>
                </a:lnTo>
                <a:lnTo>
                  <a:pt x="560740" y="463137"/>
                </a:lnTo>
                <a:lnTo>
                  <a:pt x="552375" y="461512"/>
                </a:lnTo>
                <a:lnTo>
                  <a:pt x="535478" y="492435"/>
                </a:lnTo>
                <a:lnTo>
                  <a:pt x="523848" y="486829"/>
                </a:lnTo>
                <a:lnTo>
                  <a:pt x="533432" y="530717"/>
                </a:lnTo>
                <a:lnTo>
                  <a:pt x="539998" y="549272"/>
                </a:lnTo>
                <a:lnTo>
                  <a:pt x="551401" y="559557"/>
                </a:lnTo>
                <a:lnTo>
                  <a:pt x="551270" y="576701"/>
                </a:lnTo>
                <a:lnTo>
                  <a:pt x="558420" y="584618"/>
                </a:lnTo>
                <a:lnTo>
                  <a:pt x="576107" y="589069"/>
                </a:lnTo>
                <a:lnTo>
                  <a:pt x="589120" y="603683"/>
                </a:lnTo>
                <a:lnTo>
                  <a:pt x="591079" y="615572"/>
                </a:lnTo>
                <a:lnTo>
                  <a:pt x="594469" y="613141"/>
                </a:lnTo>
                <a:lnTo>
                  <a:pt x="607510" y="622406"/>
                </a:lnTo>
                <a:lnTo>
                  <a:pt x="620615" y="622292"/>
                </a:lnTo>
                <a:lnTo>
                  <a:pt x="633333" y="606264"/>
                </a:lnTo>
                <a:lnTo>
                  <a:pt x="640202" y="621879"/>
                </a:lnTo>
                <a:lnTo>
                  <a:pt x="670650" y="621247"/>
                </a:lnTo>
                <a:lnTo>
                  <a:pt x="673139" y="612934"/>
                </a:lnTo>
                <a:lnTo>
                  <a:pt x="684684" y="607865"/>
                </a:lnTo>
                <a:lnTo>
                  <a:pt x="691232" y="587814"/>
                </a:lnTo>
                <a:lnTo>
                  <a:pt x="680983" y="561010"/>
                </a:lnTo>
                <a:lnTo>
                  <a:pt x="692238" y="548109"/>
                </a:lnTo>
                <a:lnTo>
                  <a:pt x="717693" y="541280"/>
                </a:lnTo>
                <a:lnTo>
                  <a:pt x="746317" y="543809"/>
                </a:lnTo>
                <a:lnTo>
                  <a:pt x="759626" y="537195"/>
                </a:lnTo>
                <a:lnTo>
                  <a:pt x="755620" y="527301"/>
                </a:lnTo>
                <a:lnTo>
                  <a:pt x="763983" y="506263"/>
                </a:lnTo>
                <a:lnTo>
                  <a:pt x="784935" y="487915"/>
                </a:lnTo>
                <a:lnTo>
                  <a:pt x="788730" y="471817"/>
                </a:lnTo>
                <a:lnTo>
                  <a:pt x="799994" y="475112"/>
                </a:lnTo>
                <a:lnTo>
                  <a:pt x="816578" y="470407"/>
                </a:lnTo>
                <a:lnTo>
                  <a:pt x="826151" y="458919"/>
                </a:lnTo>
                <a:lnTo>
                  <a:pt x="843233" y="456075"/>
                </a:lnTo>
                <a:lnTo>
                  <a:pt x="838437" y="432380"/>
                </a:lnTo>
                <a:lnTo>
                  <a:pt x="861883" y="426440"/>
                </a:lnTo>
                <a:lnTo>
                  <a:pt x="872426" y="436338"/>
                </a:lnTo>
                <a:lnTo>
                  <a:pt x="881713" y="424928"/>
                </a:lnTo>
                <a:lnTo>
                  <a:pt x="891785" y="436396"/>
                </a:lnTo>
                <a:lnTo>
                  <a:pt x="912309" y="442396"/>
                </a:lnTo>
                <a:lnTo>
                  <a:pt x="923165" y="438366"/>
                </a:lnTo>
                <a:lnTo>
                  <a:pt x="925409" y="428305"/>
                </a:lnTo>
                <a:lnTo>
                  <a:pt x="939060" y="423615"/>
                </a:lnTo>
                <a:lnTo>
                  <a:pt x="942106" y="400071"/>
                </a:lnTo>
                <a:lnTo>
                  <a:pt x="953449" y="391385"/>
                </a:lnTo>
                <a:lnTo>
                  <a:pt x="958263" y="407880"/>
                </a:lnTo>
                <a:lnTo>
                  <a:pt x="967362" y="386671"/>
                </a:lnTo>
                <a:lnTo>
                  <a:pt x="954012" y="375111"/>
                </a:lnTo>
                <a:lnTo>
                  <a:pt x="958444" y="370686"/>
                </a:lnTo>
                <a:lnTo>
                  <a:pt x="952870" y="355021"/>
                </a:lnTo>
                <a:lnTo>
                  <a:pt x="959238" y="344940"/>
                </a:lnTo>
                <a:lnTo>
                  <a:pt x="953944" y="333392"/>
                </a:lnTo>
                <a:lnTo>
                  <a:pt x="973351" y="342687"/>
                </a:lnTo>
                <a:lnTo>
                  <a:pt x="975123" y="324124"/>
                </a:lnTo>
                <a:lnTo>
                  <a:pt x="971334" y="321406"/>
                </a:lnTo>
                <a:lnTo>
                  <a:pt x="981361" y="316687"/>
                </a:lnTo>
                <a:lnTo>
                  <a:pt x="994670" y="265265"/>
                </a:lnTo>
                <a:lnTo>
                  <a:pt x="1003234" y="262742"/>
                </a:lnTo>
                <a:lnTo>
                  <a:pt x="1043911" y="284066"/>
                </a:lnTo>
                <a:lnTo>
                  <a:pt x="1059062" y="285684"/>
                </a:lnTo>
                <a:lnTo>
                  <a:pt x="1059549" y="294693"/>
                </a:lnTo>
                <a:lnTo>
                  <a:pt x="1071188" y="297389"/>
                </a:lnTo>
                <a:lnTo>
                  <a:pt x="1062732" y="318254"/>
                </a:lnTo>
                <a:lnTo>
                  <a:pt x="1070820" y="322528"/>
                </a:lnTo>
                <a:lnTo>
                  <a:pt x="1096951" y="315995"/>
                </a:lnTo>
                <a:lnTo>
                  <a:pt x="1106376" y="330533"/>
                </a:lnTo>
                <a:lnTo>
                  <a:pt x="1124112" y="320318"/>
                </a:lnTo>
                <a:lnTo>
                  <a:pt x="1133780" y="334848"/>
                </a:lnTo>
                <a:lnTo>
                  <a:pt x="1149842" y="330741"/>
                </a:lnTo>
                <a:lnTo>
                  <a:pt x="1163650" y="334756"/>
                </a:lnTo>
                <a:lnTo>
                  <a:pt x="1169971" y="338050"/>
                </a:lnTo>
                <a:lnTo>
                  <a:pt x="1168355" y="354476"/>
                </a:lnTo>
                <a:lnTo>
                  <a:pt x="1177143" y="360178"/>
                </a:lnTo>
                <a:lnTo>
                  <a:pt x="1205493" y="333633"/>
                </a:lnTo>
                <a:lnTo>
                  <a:pt x="1220657" y="296175"/>
                </a:lnTo>
                <a:lnTo>
                  <a:pt x="1243489" y="291669"/>
                </a:lnTo>
                <a:lnTo>
                  <a:pt x="1245386" y="281006"/>
                </a:lnTo>
                <a:lnTo>
                  <a:pt x="1269011" y="289165"/>
                </a:lnTo>
                <a:lnTo>
                  <a:pt x="1289672" y="274612"/>
                </a:lnTo>
                <a:lnTo>
                  <a:pt x="1310684" y="273762"/>
                </a:lnTo>
                <a:lnTo>
                  <a:pt x="1319871" y="286110"/>
                </a:lnTo>
                <a:lnTo>
                  <a:pt x="1338534" y="290867"/>
                </a:lnTo>
                <a:lnTo>
                  <a:pt x="1331441" y="303370"/>
                </a:lnTo>
                <a:lnTo>
                  <a:pt x="1337713" y="304394"/>
                </a:lnTo>
                <a:lnTo>
                  <a:pt x="1350327" y="321887"/>
                </a:lnTo>
                <a:lnTo>
                  <a:pt x="1362107" y="305548"/>
                </a:lnTo>
                <a:lnTo>
                  <a:pt x="1365096" y="288470"/>
                </a:lnTo>
                <a:lnTo>
                  <a:pt x="1383426" y="288318"/>
                </a:lnTo>
                <a:lnTo>
                  <a:pt x="1379470" y="294357"/>
                </a:lnTo>
                <a:lnTo>
                  <a:pt x="1388914" y="313955"/>
                </a:lnTo>
                <a:lnTo>
                  <a:pt x="1413570" y="315353"/>
                </a:lnTo>
                <a:lnTo>
                  <a:pt x="1407278" y="317751"/>
                </a:lnTo>
                <a:lnTo>
                  <a:pt x="1407012" y="326048"/>
                </a:lnTo>
                <a:lnTo>
                  <a:pt x="1400506" y="324117"/>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Lesotho: outside South African demand"/>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2"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Diamond 512"/>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Hexagon 513"/>
          <p:cNvSpPr/>
          <p:nvPr/>
        </p:nvSpPr>
        <p:spPr>
          <a:xfrm>
            <a:off x="4997057" y="4265204"/>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Hexagon 514"/>
          <p:cNvSpPr/>
          <p:nvPr/>
        </p:nvSpPr>
        <p:spPr>
          <a:xfrm>
            <a:off x="5242626" y="4001821"/>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6" name="Hexagon 515"/>
          <p:cNvSpPr/>
          <p:nvPr/>
        </p:nvSpPr>
        <p:spPr>
          <a:xfrm>
            <a:off x="4394666" y="3284328"/>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7" name="Hexagon 516"/>
          <p:cNvSpPr/>
          <p:nvPr/>
        </p:nvSpPr>
        <p:spPr>
          <a:xfrm>
            <a:off x="4375076" y="3329851"/>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8" name="Hexagon 517"/>
          <p:cNvSpPr/>
          <p:nvPr/>
        </p:nvSpPr>
        <p:spPr>
          <a:xfrm>
            <a:off x="4385601" y="3184360"/>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Hexagon 518"/>
          <p:cNvSpPr/>
          <p:nvPr/>
        </p:nvSpPr>
        <p:spPr>
          <a:xfrm>
            <a:off x="4422829" y="3177679"/>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0" name="Hexagon 519"/>
          <p:cNvSpPr/>
          <p:nvPr/>
        </p:nvSpPr>
        <p:spPr>
          <a:xfrm>
            <a:off x="4303161" y="3453400"/>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Hexagon 520"/>
          <p:cNvSpPr/>
          <p:nvPr/>
        </p:nvSpPr>
        <p:spPr>
          <a:xfrm>
            <a:off x="4263607" y="3265671"/>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2" name="Hexagon 521"/>
          <p:cNvSpPr/>
          <p:nvPr/>
        </p:nvSpPr>
        <p:spPr>
          <a:xfrm>
            <a:off x="4434127" y="3362131"/>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3" name="Hexagon 522"/>
          <p:cNvSpPr/>
          <p:nvPr/>
        </p:nvSpPr>
        <p:spPr>
          <a:xfrm>
            <a:off x="2251904" y="5301864"/>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4" name="Connector 523"/>
          <p:cNvCxnSpPr/>
          <p:nvPr/>
        </p:nvCxnSpPr>
        <p:spPr>
          <a:xfrm flipH="1">
            <a:off x="5001768" y="4315496"/>
            <a:ext cx="45581" cy="96484"/>
          </a:xfrm>
          <a:prstGeom prst="line">
            <a:avLst/>
          </a:prstGeom>
          <a:ln w="8255">
            <a:solidFill>
              <a:srgbClr val="0A2373"/>
            </a:solidFill>
          </a:ln>
        </p:spPr>
        <p:style>
          <a:lnRef idx="2">
            <a:schemeClr val="accent1"/>
          </a:lnRef>
          <a:fillRef idx="0">
            <a:schemeClr val="accent1"/>
          </a:fillRef>
          <a:effectRef idx="1">
            <a:schemeClr val="accent1"/>
          </a:effectRef>
          <a:fontRef idx="minor">
            <a:schemeClr val="tx1"/>
          </a:fontRef>
        </p:style>
      </p:cxnSp>
      <p:sp>
        <p:nvSpPr>
          <p:cNvPr id="525" name="TextBox 524"/>
          <p:cNvSpPr txBox="1"/>
          <p:nvPr/>
        </p:nvSpPr>
        <p:spPr>
          <a:xfrm>
            <a:off x="5001768" y="4160520"/>
            <a:ext cx="1508760" cy="502920"/>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Durban</a:t>
            </a:r>
          </a:p>
          <a:p>
            <a:pPr>
              <a:spcAft>
                <a:spcPts val="300"/>
              </a:spcAft>
              <a:defRPr sz="1100" b="1">
                <a:solidFill>
                  <a:srgbClr val="0A2373"/>
                </a:solidFill>
                <a:latin typeface="Lato"/>
              </a:defRPr>
            </a:pPr>
            <a:r>
              <a:t>Vopak / Bidvest</a:t>
            </a:r>
          </a:p>
        </p:txBody>
      </p:sp>
      <p:cxnSp>
        <p:nvCxnSpPr>
          <p:cNvPr id="526" name="Connector 525"/>
          <p:cNvCxnSpPr/>
          <p:nvPr/>
        </p:nvCxnSpPr>
        <p:spPr>
          <a:xfrm flipH="1" flipV="1">
            <a:off x="5148072" y="3863340"/>
            <a:ext cx="144846" cy="188773"/>
          </a:xfrm>
          <a:prstGeom prst="line">
            <a:avLst/>
          </a:prstGeom>
          <a:ln w="8255">
            <a:solidFill>
              <a:srgbClr val="0A2373"/>
            </a:solidFill>
          </a:ln>
        </p:spPr>
        <p:style>
          <a:lnRef idx="2">
            <a:schemeClr val="accent1"/>
          </a:lnRef>
          <a:fillRef idx="0">
            <a:schemeClr val="accent1"/>
          </a:fillRef>
          <a:effectRef idx="1">
            <a:schemeClr val="accent1"/>
          </a:effectRef>
          <a:fontRef idx="minor">
            <a:schemeClr val="tx1"/>
          </a:fontRef>
        </p:style>
      </p:cxnSp>
      <p:sp>
        <p:nvSpPr>
          <p:cNvPr id="527" name="TextBox 526"/>
          <p:cNvSpPr txBox="1"/>
          <p:nvPr/>
        </p:nvSpPr>
        <p:spPr>
          <a:xfrm>
            <a:off x="5148072" y="3611880"/>
            <a:ext cx="1554480" cy="502920"/>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Richards Bay</a:t>
            </a:r>
          </a:p>
          <a:p>
            <a:pPr>
              <a:spcAft>
                <a:spcPts val="300"/>
              </a:spcAft>
              <a:defRPr sz="1100" b="1">
                <a:solidFill>
                  <a:srgbClr val="0A2373"/>
                </a:solidFill>
                <a:latin typeface="Lato"/>
              </a:defRPr>
            </a:pPr>
            <a:r>
              <a:t>Bidvest</a:t>
            </a:r>
          </a:p>
        </p:txBody>
      </p:sp>
      <p:cxnSp>
        <p:nvCxnSpPr>
          <p:cNvPr id="528" name="Connector 527"/>
          <p:cNvCxnSpPr/>
          <p:nvPr/>
        </p:nvCxnSpPr>
        <p:spPr>
          <a:xfrm flipH="1" flipV="1">
            <a:off x="566928" y="4983479"/>
            <a:ext cx="1735268" cy="368677"/>
          </a:xfrm>
          <a:prstGeom prst="line">
            <a:avLst/>
          </a:prstGeom>
          <a:ln w="8255">
            <a:solidFill>
              <a:srgbClr val="0A2373"/>
            </a:solidFill>
          </a:ln>
        </p:spPr>
        <p:style>
          <a:lnRef idx="2">
            <a:schemeClr val="accent1"/>
          </a:lnRef>
          <a:fillRef idx="0">
            <a:schemeClr val="accent1"/>
          </a:fillRef>
          <a:effectRef idx="1">
            <a:schemeClr val="accent1"/>
          </a:effectRef>
          <a:fontRef idx="minor">
            <a:schemeClr val="tx1"/>
          </a:fontRef>
        </p:style>
      </p:cxnSp>
      <p:sp>
        <p:nvSpPr>
          <p:cNvPr id="529" name="TextBox 528"/>
          <p:cNvSpPr txBox="1"/>
          <p:nvPr/>
        </p:nvSpPr>
        <p:spPr>
          <a:xfrm>
            <a:off x="566928" y="4736592"/>
            <a:ext cx="1508760" cy="493776"/>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Cape Town</a:t>
            </a:r>
          </a:p>
          <a:p>
            <a:pPr>
              <a:spcAft>
                <a:spcPts val="300"/>
              </a:spcAft>
              <a:defRPr sz="1100" b="1">
                <a:solidFill>
                  <a:srgbClr val="0A2373"/>
                </a:solidFill>
                <a:latin typeface="Lato"/>
              </a:defRPr>
            </a:pPr>
            <a:r>
              <a:t>Burgan Cape</a:t>
            </a:r>
          </a:p>
        </p:txBody>
      </p:sp>
      <p:cxnSp>
        <p:nvCxnSpPr>
          <p:cNvPr id="530" name="Connector 529"/>
          <p:cNvCxnSpPr/>
          <p:nvPr/>
        </p:nvCxnSpPr>
        <p:spPr>
          <a:xfrm flipH="1" flipV="1">
            <a:off x="594360" y="3255264"/>
            <a:ext cx="3847905" cy="94630"/>
          </a:xfrm>
          <a:prstGeom prst="line">
            <a:avLst/>
          </a:prstGeom>
          <a:ln w="8255">
            <a:solidFill>
              <a:srgbClr val="0A2373"/>
            </a:solidFill>
          </a:ln>
        </p:spPr>
        <p:style>
          <a:lnRef idx="2">
            <a:schemeClr val="accent1"/>
          </a:lnRef>
          <a:fillRef idx="0">
            <a:schemeClr val="accent1"/>
          </a:fillRef>
          <a:effectRef idx="1">
            <a:schemeClr val="accent1"/>
          </a:effectRef>
          <a:fontRef idx="minor">
            <a:schemeClr val="tx1"/>
          </a:fontRef>
        </p:style>
      </p:cxnSp>
      <p:sp>
        <p:nvSpPr>
          <p:cNvPr id="531" name="TextBox 530"/>
          <p:cNvSpPr txBox="1"/>
          <p:nvPr/>
        </p:nvSpPr>
        <p:spPr>
          <a:xfrm>
            <a:off x="594360" y="2907792"/>
            <a:ext cx="2011680" cy="694944"/>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Lesedi / inland storage</a:t>
            </a:r>
          </a:p>
          <a:p>
            <a:pPr>
              <a:spcAft>
                <a:spcPts val="300"/>
              </a:spcAft>
              <a:defRPr sz="1100" b="1">
                <a:solidFill>
                  <a:srgbClr val="0A2373"/>
                </a:solidFill>
                <a:latin typeface="Lato"/>
              </a:defRPr>
            </a:pPr>
            <a:r>
              <a:t>Vopak / Bidvest</a:t>
            </a:r>
          </a:p>
          <a:p>
            <a:pPr>
              <a:spcAft>
                <a:spcPts val="300"/>
              </a:spcAft>
              <a:defRPr sz="1100" b="1">
                <a:solidFill>
                  <a:srgbClr val="0A2373"/>
                </a:solidFill>
                <a:latin typeface="Lato"/>
              </a:defRPr>
            </a:pPr>
            <a:r>
              <a:t>Sasol / Transnet</a:t>
            </a:r>
          </a:p>
        </p:txBody>
      </p:sp>
      <p:sp>
        <p:nvSpPr>
          <p:cNvPr id="532" name="Transnet lease overlay: Isosceles Triangle 531"/>
          <p:cNvSpPr/>
          <p:nvPr/>
        </p:nvSpPr>
        <p:spPr>
          <a:xfrm>
            <a:off x="4748449" y="3924272"/>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3" name="Transnet lease overlay: Connector 532"/>
          <p:cNvCxnSpPr/>
          <p:nvPr/>
        </p:nvCxnSpPr>
        <p:spPr>
          <a:xfrm>
            <a:off x="4785025" y="3960848"/>
            <a:ext cx="137160" cy="9144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534" name="Transnet lease overlay: TextBox 533"/>
          <p:cNvSpPr txBox="1"/>
          <p:nvPr/>
        </p:nvSpPr>
        <p:spPr>
          <a:xfrm>
            <a:off x="4858177" y="398828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1</a:t>
            </a:r>
          </a:p>
        </p:txBody>
      </p:sp>
      <p:sp>
        <p:nvSpPr>
          <p:cNvPr id="535" name="Transnet lease overlay: Isosceles Triangle 534"/>
          <p:cNvSpPr/>
          <p:nvPr/>
        </p:nvSpPr>
        <p:spPr>
          <a:xfrm>
            <a:off x="4635581" y="3512195"/>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6" name="Transnet lease overlay: Connector 535"/>
          <p:cNvCxnSpPr/>
          <p:nvPr/>
        </p:nvCxnSpPr>
        <p:spPr>
          <a:xfrm flipV="1">
            <a:off x="4672157" y="3503051"/>
            <a:ext cx="137160"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537" name="Transnet lease overlay: TextBox 536"/>
          <p:cNvSpPr txBox="1"/>
          <p:nvPr/>
        </p:nvSpPr>
        <p:spPr>
          <a:xfrm>
            <a:off x="4745309" y="3439043"/>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2</a:t>
            </a:r>
          </a:p>
        </p:txBody>
      </p:sp>
      <p:sp>
        <p:nvSpPr>
          <p:cNvPr id="538" name="Transnet lease overlay: Isosceles Triangle 537"/>
          <p:cNvSpPr/>
          <p:nvPr/>
        </p:nvSpPr>
        <p:spPr>
          <a:xfrm>
            <a:off x="4174679" y="3685610"/>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9" name="Transnet lease overlay: Connector 538"/>
          <p:cNvCxnSpPr/>
          <p:nvPr/>
        </p:nvCxnSpPr>
        <p:spPr>
          <a:xfrm flipH="1" flipV="1">
            <a:off x="3909503" y="3676466"/>
            <a:ext cx="301752"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540" name="Transnet lease overlay: TextBox 539"/>
          <p:cNvSpPr txBox="1"/>
          <p:nvPr/>
        </p:nvSpPr>
        <p:spPr>
          <a:xfrm>
            <a:off x="3845495" y="3612458"/>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3</a:t>
            </a:r>
          </a:p>
        </p:txBody>
      </p:sp>
      <p:sp>
        <p:nvSpPr>
          <p:cNvPr id="541" name="Transnet lease overlay: Isosceles Triangle 540"/>
          <p:cNvSpPr/>
          <p:nvPr/>
        </p:nvSpPr>
        <p:spPr>
          <a:xfrm>
            <a:off x="4414479" y="3832751"/>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42" name="Transnet lease overlay: Connector 541"/>
          <p:cNvCxnSpPr/>
          <p:nvPr/>
        </p:nvCxnSpPr>
        <p:spPr>
          <a:xfrm flipH="1">
            <a:off x="4377903" y="3869327"/>
            <a:ext cx="73152" cy="12801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543" name="Transnet lease overlay: TextBox 542"/>
          <p:cNvSpPr txBox="1"/>
          <p:nvPr/>
        </p:nvSpPr>
        <p:spPr>
          <a:xfrm>
            <a:off x="4313895" y="3933335"/>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4</a:t>
            </a:r>
          </a:p>
        </p:txBody>
      </p:sp>
      <p:sp>
        <p:nvSpPr>
          <p:cNvPr id="544" name="Transnet lease overlay: Isosceles Triangle 543"/>
          <p:cNvSpPr/>
          <p:nvPr/>
        </p:nvSpPr>
        <p:spPr>
          <a:xfrm>
            <a:off x="4194803" y="3670658"/>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45" name="Transnet lease overlay: Connector 544"/>
          <p:cNvCxnSpPr/>
          <p:nvPr/>
        </p:nvCxnSpPr>
        <p:spPr>
          <a:xfrm flipH="1" flipV="1">
            <a:off x="4094219" y="3624938"/>
            <a:ext cx="137160" cy="8229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546" name="Transnet lease overlay: TextBox 545"/>
          <p:cNvSpPr txBox="1"/>
          <p:nvPr/>
        </p:nvSpPr>
        <p:spPr>
          <a:xfrm>
            <a:off x="4030211" y="356093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5</a:t>
            </a:r>
          </a:p>
        </p:txBody>
      </p:sp>
      <p:sp>
        <p:nvSpPr>
          <p:cNvPr id="547" name="Transnet lease overlay: TextBox 546"/>
          <p:cNvSpPr txBox="1"/>
          <p:nvPr/>
        </p:nvSpPr>
        <p:spPr>
          <a:xfrm>
            <a:off x="594360" y="3694176"/>
            <a:ext cx="2029968" cy="932688"/>
          </a:xfrm>
          <a:prstGeom prst="rect">
            <a:avLst/>
          </a:prstGeom>
          <a:solidFill>
            <a:srgbClr val="FFFFFF"/>
          </a:solidFill>
        </p:spPr>
        <p:txBody>
          <a:bodyPr wrap="square" lIns="22860" rIns="22860" tIns="0" bIns="0">
            <a:spAutoFit/>
          </a:bodyPr>
          <a:lstStyle/>
          <a:p>
            <a:pPr>
              <a:spcAft>
                <a:spcPts val="300"/>
              </a:spcAft>
              <a:defRPr sz="1100" b="1">
                <a:solidFill>
                  <a:srgbClr val="000000"/>
                </a:solidFill>
                <a:latin typeface="Lato"/>
              </a:defRPr>
            </a:pPr>
            <a:r>
              <a:t>   Transnet lease offers</a:t>
            </a:r>
          </a:p>
          <a:p>
            <a:pPr>
              <a:spcAft>
                <a:spcPts val="300"/>
              </a:spcAft>
              <a:defRPr sz="1100" b="1">
                <a:solidFill>
                  <a:srgbClr val="000000"/>
                </a:solidFill>
                <a:latin typeface="Lato"/>
              </a:defRPr>
            </a:pPr>
            <a:r>
              <a:t>1 Ladysmith | 2 Standerton</a:t>
            </a:r>
          </a:p>
          <a:p>
            <a:pPr>
              <a:spcAft>
                <a:spcPts val="300"/>
              </a:spcAft>
              <a:defRPr sz="1100" b="1">
                <a:solidFill>
                  <a:srgbClr val="000000"/>
                </a:solidFill>
                <a:latin typeface="Lato"/>
              </a:defRPr>
            </a:pPr>
            <a:r>
              <a:t>3 Kroonstad | 4 Bethlehem</a:t>
            </a:r>
          </a:p>
          <a:p>
            <a:pPr>
              <a:spcAft>
                <a:spcPts val="300"/>
              </a:spcAft>
              <a:defRPr sz="1100" b="1">
                <a:solidFill>
                  <a:srgbClr val="000000"/>
                </a:solidFill>
                <a:latin typeface="Lato"/>
              </a:defRPr>
            </a:pPr>
            <a:r>
              <a:t>5 Magdala*</a:t>
            </a:r>
          </a:p>
        </p:txBody>
      </p:sp>
      <p:sp>
        <p:nvSpPr>
          <p:cNvPr id="548" name="Transnet lease overlay: Isosceles Triangle 547"/>
          <p:cNvSpPr/>
          <p:nvPr/>
        </p:nvSpPr>
        <p:spPr>
          <a:xfrm>
            <a:off x="612647" y="3726180"/>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49" name="Connector 548"/>
          <p:cNvCxnSpPr/>
          <p:nvPr/>
        </p:nvCxnSpPr>
        <p:spPr>
          <a:xfrm flipH="1" flipV="1">
            <a:off x="4078053" y="2959337"/>
            <a:ext cx="296213" cy="337706"/>
          </a:xfrm>
          <a:prstGeom prst="line">
            <a:avLst/>
          </a:prstGeom>
          <a:ln w="7620">
            <a:solidFill>
              <a:srgbClr val="0A2373"/>
            </a:solidFill>
          </a:ln>
        </p:spPr>
        <p:style>
          <a:lnRef idx="2">
            <a:schemeClr val="accent1"/>
          </a:lnRef>
          <a:fillRef idx="0">
            <a:schemeClr val="accent1"/>
          </a:fillRef>
          <a:effectRef idx="1">
            <a:schemeClr val="accent1"/>
          </a:effectRef>
          <a:fontRef idx="minor">
            <a:schemeClr val="tx1"/>
          </a:fontRef>
        </p:style>
      </p:cxnSp>
      <p:sp>
        <p:nvSpPr>
          <p:cNvPr id="550" name="TextBox 549"/>
          <p:cNvSpPr txBox="1"/>
          <p:nvPr/>
        </p:nvSpPr>
        <p:spPr>
          <a:xfrm>
            <a:off x="3733647" y="4797656"/>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EC</a:t>
            </a:r>
          </a:p>
          <a:p>
            <a:pPr>
              <a:spcAft>
                <a:spcPts val="300"/>
              </a:spcAft>
              <a:defRPr sz="900" b="1">
                <a:solidFill>
                  <a:srgbClr val="0A2373"/>
                </a:solidFill>
                <a:latin typeface="Lato"/>
              </a:defRPr>
            </a:pPr>
            <a:r>
              <a:t>1.74</a:t>
            </a:r>
          </a:p>
        </p:txBody>
      </p:sp>
      <p:sp>
        <p:nvSpPr>
          <p:cNvPr id="551" name="TextBox 550"/>
          <p:cNvSpPr txBox="1"/>
          <p:nvPr/>
        </p:nvSpPr>
        <p:spPr>
          <a:xfrm>
            <a:off x="3542762" y="3798560"/>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FS</a:t>
            </a:r>
          </a:p>
          <a:p>
            <a:pPr>
              <a:spcAft>
                <a:spcPts val="300"/>
              </a:spcAft>
              <a:defRPr sz="900" b="1">
                <a:solidFill>
                  <a:srgbClr val="0A2373"/>
                </a:solidFill>
                <a:latin typeface="Lato"/>
              </a:defRPr>
            </a:pPr>
            <a:r>
              <a:t>1.37</a:t>
            </a:r>
          </a:p>
        </p:txBody>
      </p:sp>
      <p:sp>
        <p:nvSpPr>
          <p:cNvPr id="552" name="TextBox 551"/>
          <p:cNvSpPr txBox="1"/>
          <p:nvPr/>
        </p:nvSpPr>
        <p:spPr>
          <a:xfrm>
            <a:off x="3803733" y="2803889"/>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GP</a:t>
            </a:r>
          </a:p>
          <a:p>
            <a:pPr>
              <a:spcAft>
                <a:spcPts val="300"/>
              </a:spcAft>
              <a:defRPr sz="900" b="1">
                <a:solidFill>
                  <a:srgbClr val="0A2373"/>
                </a:solidFill>
                <a:latin typeface="Lato"/>
              </a:defRPr>
            </a:pPr>
            <a:r>
              <a:t>6.81</a:t>
            </a:r>
          </a:p>
        </p:txBody>
      </p:sp>
      <p:sp>
        <p:nvSpPr>
          <p:cNvPr id="553" name="TextBox 552"/>
          <p:cNvSpPr txBox="1"/>
          <p:nvPr/>
        </p:nvSpPr>
        <p:spPr>
          <a:xfrm>
            <a:off x="4411105" y="4123524"/>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KZN</a:t>
            </a:r>
          </a:p>
          <a:p>
            <a:pPr>
              <a:spcAft>
                <a:spcPts val="300"/>
              </a:spcAft>
              <a:defRPr sz="900" b="1">
                <a:solidFill>
                  <a:srgbClr val="0A2373"/>
                </a:solidFill>
                <a:latin typeface="Lato"/>
              </a:defRPr>
            </a:pPr>
            <a:r>
              <a:t>4.28</a:t>
            </a:r>
          </a:p>
        </p:txBody>
      </p:sp>
      <p:sp>
        <p:nvSpPr>
          <p:cNvPr id="554" name="TextBox 553"/>
          <p:cNvSpPr txBox="1"/>
          <p:nvPr/>
        </p:nvSpPr>
        <p:spPr>
          <a:xfrm>
            <a:off x="4417727" y="2601143"/>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LP</a:t>
            </a:r>
          </a:p>
          <a:p>
            <a:pPr>
              <a:spcAft>
                <a:spcPts val="300"/>
              </a:spcAft>
              <a:defRPr sz="900" b="1">
                <a:solidFill>
                  <a:srgbClr val="0A2373"/>
                </a:solidFill>
                <a:latin typeface="Lato"/>
              </a:defRPr>
            </a:pPr>
            <a:r>
              <a:t>0.50</a:t>
            </a:r>
          </a:p>
        </p:txBody>
      </p:sp>
      <p:sp>
        <p:nvSpPr>
          <p:cNvPr id="555" name="TextBox 554"/>
          <p:cNvSpPr txBox="1"/>
          <p:nvPr/>
        </p:nvSpPr>
        <p:spPr>
          <a:xfrm>
            <a:off x="4643472" y="3134231"/>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MP</a:t>
            </a:r>
          </a:p>
          <a:p>
            <a:pPr>
              <a:spcAft>
                <a:spcPts val="300"/>
              </a:spcAft>
              <a:defRPr sz="900" b="1">
                <a:solidFill>
                  <a:srgbClr val="0A2373"/>
                </a:solidFill>
                <a:latin typeface="Lato"/>
              </a:defRPr>
            </a:pPr>
            <a:r>
              <a:t>1.76</a:t>
            </a:r>
          </a:p>
        </p:txBody>
      </p:sp>
      <p:sp>
        <p:nvSpPr>
          <p:cNvPr id="556" name="TextBox 555"/>
          <p:cNvSpPr txBox="1"/>
          <p:nvPr/>
        </p:nvSpPr>
        <p:spPr>
          <a:xfrm>
            <a:off x="3637071" y="3249390"/>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NW</a:t>
            </a:r>
          </a:p>
          <a:p>
            <a:pPr>
              <a:spcAft>
                <a:spcPts val="300"/>
              </a:spcAft>
              <a:defRPr sz="900" b="1">
                <a:solidFill>
                  <a:srgbClr val="0A2373"/>
                </a:solidFill>
                <a:latin typeface="Lato"/>
              </a:defRPr>
            </a:pPr>
            <a:r>
              <a:t>1.07</a:t>
            </a:r>
          </a:p>
        </p:txBody>
      </p:sp>
      <p:sp>
        <p:nvSpPr>
          <p:cNvPr id="557" name="TextBox 556"/>
          <p:cNvSpPr txBox="1"/>
          <p:nvPr/>
        </p:nvSpPr>
        <p:spPr>
          <a:xfrm>
            <a:off x="2660447" y="4116476"/>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NC</a:t>
            </a:r>
          </a:p>
          <a:p>
            <a:pPr>
              <a:spcAft>
                <a:spcPts val="300"/>
              </a:spcAft>
              <a:defRPr sz="900" b="1">
                <a:solidFill>
                  <a:srgbClr val="0A2373"/>
                </a:solidFill>
                <a:latin typeface="Lato"/>
              </a:defRPr>
            </a:pPr>
            <a:r>
              <a:t>0.45</a:t>
            </a:r>
          </a:p>
        </p:txBody>
      </p:sp>
      <p:sp>
        <p:nvSpPr>
          <p:cNvPr id="558" name="TextBox 557"/>
          <p:cNvSpPr txBox="1"/>
          <p:nvPr/>
        </p:nvSpPr>
        <p:spPr>
          <a:xfrm>
            <a:off x="2480876" y="4941829"/>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WC</a:t>
            </a:r>
          </a:p>
          <a:p>
            <a:pPr>
              <a:spcAft>
                <a:spcPts val="300"/>
              </a:spcAft>
              <a:defRPr sz="900" b="1">
                <a:solidFill>
                  <a:srgbClr val="0A2373"/>
                </a:solidFill>
                <a:latin typeface="Lato"/>
              </a:defRPr>
            </a:pPr>
            <a:r>
              <a:t>3.93</a:t>
            </a:r>
          </a:p>
        </p:txBody>
      </p:sp>
      <p:sp>
        <p:nvSpPr>
          <p:cNvPr id="559" name="Rectangle 558"/>
          <p:cNvSpPr/>
          <p:nvPr/>
        </p:nvSpPr>
        <p:spPr>
          <a:xfrm>
            <a:off x="507492" y="5939028"/>
            <a:ext cx="100584" cy="100584"/>
          </a:xfrm>
          <a:prstGeom prst="rect">
            <a:avLst/>
          </a:prstGeom>
          <a:solidFill>
            <a:srgbClr val="E3EBF6"/>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0" name="TextBox 559"/>
          <p:cNvSpPr txBox="1"/>
          <p:nvPr/>
        </p:nvSpPr>
        <p:spPr>
          <a:xfrm>
            <a:off x="685800"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&lt;1</a:t>
            </a:r>
          </a:p>
        </p:txBody>
      </p:sp>
      <p:sp>
        <p:nvSpPr>
          <p:cNvPr id="561" name="Rectangle 560"/>
          <p:cNvSpPr/>
          <p:nvPr/>
        </p:nvSpPr>
        <p:spPr>
          <a:xfrm>
            <a:off x="1367028" y="5939028"/>
            <a:ext cx="100584" cy="100584"/>
          </a:xfrm>
          <a:prstGeom prst="rect">
            <a:avLst/>
          </a:prstGeom>
          <a:solidFill>
            <a:srgbClr val="BACCE4"/>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2" name="TextBox 561"/>
          <p:cNvSpPr txBox="1"/>
          <p:nvPr/>
        </p:nvSpPr>
        <p:spPr>
          <a:xfrm>
            <a:off x="1545336"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1-2</a:t>
            </a:r>
          </a:p>
        </p:txBody>
      </p:sp>
      <p:sp>
        <p:nvSpPr>
          <p:cNvPr id="563" name="Rectangle 562"/>
          <p:cNvSpPr/>
          <p:nvPr/>
        </p:nvSpPr>
        <p:spPr>
          <a:xfrm>
            <a:off x="2226563" y="5939028"/>
            <a:ext cx="100584" cy="100584"/>
          </a:xfrm>
          <a:prstGeom prst="rect">
            <a:avLst/>
          </a:prstGeom>
          <a:solidFill>
            <a:srgbClr val="809CC7"/>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4" name="TextBox 563"/>
          <p:cNvSpPr txBox="1"/>
          <p:nvPr/>
        </p:nvSpPr>
        <p:spPr>
          <a:xfrm>
            <a:off x="2404872"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2-4</a:t>
            </a:r>
          </a:p>
        </p:txBody>
      </p:sp>
      <p:sp>
        <p:nvSpPr>
          <p:cNvPr id="565" name="Rectangle 564"/>
          <p:cNvSpPr/>
          <p:nvPr/>
        </p:nvSpPr>
        <p:spPr>
          <a:xfrm>
            <a:off x="3086100" y="5939028"/>
            <a:ext cx="100584" cy="100584"/>
          </a:xfrm>
          <a:prstGeom prst="rect">
            <a:avLst/>
          </a:prstGeom>
          <a:solidFill>
            <a:srgbClr val="3D619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6" name="TextBox 565"/>
          <p:cNvSpPr txBox="1"/>
          <p:nvPr/>
        </p:nvSpPr>
        <p:spPr>
          <a:xfrm>
            <a:off x="3264408"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4-6</a:t>
            </a:r>
          </a:p>
        </p:txBody>
      </p:sp>
      <p:sp>
        <p:nvSpPr>
          <p:cNvPr id="567" name="Rectangle 566"/>
          <p:cNvSpPr/>
          <p:nvPr/>
        </p:nvSpPr>
        <p:spPr>
          <a:xfrm>
            <a:off x="3945635" y="5939028"/>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8" name="TextBox 567"/>
          <p:cNvSpPr txBox="1"/>
          <p:nvPr/>
        </p:nvSpPr>
        <p:spPr>
          <a:xfrm>
            <a:off x="4123944"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6+</a:t>
            </a:r>
          </a:p>
        </p:txBody>
      </p:sp>
      <p:sp>
        <p:nvSpPr>
          <p:cNvPr id="569" name="TextBox 568"/>
          <p:cNvSpPr txBox="1"/>
          <p:nvPr/>
        </p:nvSpPr>
        <p:spPr>
          <a:xfrm>
            <a:off x="4773168" y="5897880"/>
            <a:ext cx="2112264"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bn L/year; darker = more sales</a:t>
            </a:r>
          </a:p>
        </p:txBody>
      </p:sp>
      <p:sp>
        <p:nvSpPr>
          <p:cNvPr id="570" name="Oval 569"/>
          <p:cNvSpPr/>
          <p:nvPr/>
        </p:nvSpPr>
        <p:spPr>
          <a:xfrm>
            <a:off x="507492" y="619506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1" name="TextBox 570"/>
          <p:cNvSpPr txBox="1"/>
          <p:nvPr/>
        </p:nvSpPr>
        <p:spPr>
          <a:xfrm>
            <a:off x="64008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Production</a:t>
            </a:r>
          </a:p>
        </p:txBody>
      </p:sp>
      <p:sp>
        <p:nvSpPr>
          <p:cNvPr id="572" name="Rectangle 571"/>
          <p:cNvSpPr/>
          <p:nvPr/>
        </p:nvSpPr>
        <p:spPr>
          <a:xfrm>
            <a:off x="1677924" y="6195060"/>
            <a:ext cx="82296" cy="82296"/>
          </a:xfrm>
          <a:prstGeom prst="rect">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3" name="TextBox 572"/>
          <p:cNvSpPr txBox="1"/>
          <p:nvPr/>
        </p:nvSpPr>
        <p:spPr>
          <a:xfrm>
            <a:off x="1810512"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Port</a:t>
            </a:r>
          </a:p>
        </p:txBody>
      </p:sp>
      <p:sp>
        <p:nvSpPr>
          <p:cNvPr id="574" name="Diamond 573"/>
          <p:cNvSpPr/>
          <p:nvPr/>
        </p:nvSpPr>
        <p:spPr>
          <a:xfrm>
            <a:off x="2382012" y="6195060"/>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5" name="TextBox 574"/>
          <p:cNvSpPr txBox="1"/>
          <p:nvPr/>
        </p:nvSpPr>
        <p:spPr>
          <a:xfrm>
            <a:off x="251460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Vopak</a:t>
            </a:r>
          </a:p>
        </p:txBody>
      </p:sp>
      <p:sp>
        <p:nvSpPr>
          <p:cNvPr id="576" name="Hexagon 575"/>
          <p:cNvSpPr/>
          <p:nvPr/>
        </p:nvSpPr>
        <p:spPr>
          <a:xfrm>
            <a:off x="3204972" y="6195060"/>
            <a:ext cx="82296" cy="82296"/>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7" name="TextBox 576"/>
          <p:cNvSpPr txBox="1"/>
          <p:nvPr/>
        </p:nvSpPr>
        <p:spPr>
          <a:xfrm>
            <a:off x="333756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Other storage</a:t>
            </a:r>
          </a:p>
        </p:txBody>
      </p:sp>
      <p:sp>
        <p:nvSpPr>
          <p:cNvPr id="578" name="TextBox 577"/>
          <p:cNvSpPr txBox="1"/>
          <p:nvPr/>
        </p:nvSpPr>
        <p:spPr>
          <a:xfrm>
            <a:off x="4489704" y="6144768"/>
            <a:ext cx="2432304" cy="237744"/>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Lines: road / pipe / rail; heavy outlines: working regions</a:t>
            </a:r>
          </a:p>
        </p:txBody>
      </p:sp>
      <p:sp>
        <p:nvSpPr>
          <p:cNvPr id="579" name="TextBox 578"/>
          <p:cNvSpPr txBox="1"/>
          <p:nvPr/>
        </p:nvSpPr>
        <p:spPr>
          <a:xfrm>
            <a:off x="457200" y="6391656"/>
            <a:ext cx="649224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Lease offers are not operating capacity. *Magdala RFP location narrative conflicts; briefing coordinate used. Jet excluded.</a:t>
            </a:r>
          </a:p>
        </p:txBody>
      </p:sp>
      <p:sp>
        <p:nvSpPr>
          <p:cNvPr id="580" name="TextBox 579"/>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Evidence and implications</a:t>
            </a:r>
          </a:p>
        </p:txBody>
      </p:sp>
      <p:sp>
        <p:nvSpPr>
          <p:cNvPr id="581" name="TextBox 580"/>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Demand is concentrated</a:t>
            </a:r>
          </a:p>
        </p:txBody>
      </p:sp>
      <p:sp>
        <p:nvSpPr>
          <p:cNvPr id="582" name="TextBox 581"/>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Gauteng, KwaZulu-Natal and Western Cape account for 68.6% of reported 2022 petrol/diesel sales.</a:t>
            </a:r>
          </a:p>
        </p:txBody>
      </p:sp>
      <p:sp>
        <p:nvSpPr>
          <p:cNvPr id="583" name="TextBox 582"/>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Regions are working groups</a:t>
            </a:r>
          </a:p>
        </p:txBody>
      </p:sp>
      <p:sp>
        <p:nvSpPr>
          <p:cNvPr id="584" name="TextBox 583"/>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Province boundaries define reporting groups; they do not establish terminal catchments.</a:t>
            </a:r>
          </a:p>
        </p:txBody>
      </p:sp>
      <p:sp>
        <p:nvSpPr>
          <p:cNvPr id="585" name="TextBox 584"/>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Sales are historical demand evidence</a:t>
            </a:r>
          </a:p>
        </p:txBody>
      </p:sp>
      <p:sp>
        <p:nvSpPr>
          <p:cNvPr id="586" name="TextBox 585"/>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map is sourced provincial sales, rather than a current-year outlook or commercial accessibility result.</a:t>
            </a:r>
          </a:p>
        </p:txBody>
      </p:sp>
      <p:cxnSp>
        <p:nvCxnSpPr>
          <p:cNvPr id="587" name="Connector 586"/>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88" name="TextBox 587"/>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Next steps | proposed owners</a:t>
            </a:r>
          </a:p>
        </p:txBody>
      </p:sp>
      <p:sp>
        <p:nvSpPr>
          <p:cNvPr id="589" name="TextBox 588"/>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source a later complete year and test actual destinations, route costs and customer access.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Track petrol and diesel sales by province over time</a:t>
            </a:r>
          </a:p>
        </p:txBody>
      </p:sp>
      <p:sp>
        <p:nvSpPr>
          <p:cNvPr id="3" name="Slide Number Placeholder"/>
          <p:cNvSpPr>
            <a:spLocks noGrp="1"/>
          </p:cNvSpPr>
          <p:nvPr>
            <p:ph type="sldNum" sz="quarter" idx="12"/>
          </p:nvPr>
        </p:nvSpPr>
        <p:spPr/>
        <p:txBody>
          <a:bodyPr/>
          <a:lstStyle/>
          <a:p>
            <a:fld id="{C1E58D79-8213-496B-8826-5A19155BAA18}" type="slidenum">
              <a:rPr lang="en-US"/>
              <a:t>‹#›</a:t>
            </a:fld>
          </a:p>
        </p:txBody>
      </p:sp>
      <p:sp>
        <p:nvSpPr>
          <p:cNvPr id="4" name="Section navigation 1">
            <a:hlinkClick action="ppaction://hlinksldjump" r:id="rId4"/>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5"/>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6"/>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7"/>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quarterly provincial sales extract; complete calendar years only. Petrol + diesel; jet excluded.</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Annual provincial sales | 2013–2022,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graphicFrame>
        <p:nvGraphicFramePr>
          <p:cNvPr id="22" name="Chart 21"/>
          <p:cNvGraphicFramePr>
            <a:graphicFrameLocks noGrp="1"/>
          </p:cNvGraphicFramePr>
          <p:nvPr/>
        </p:nvGraphicFramePr>
        <p:xfrm>
          <a:off x="457200" y="2167128"/>
          <a:ext cx="6446520" cy="3593592"/>
        </p:xfrm>
        <a:graphic>
          <a:graphicData uri="http://schemas.openxmlformats.org/drawingml/2006/chart">
            <c:chart xmlns:c="http://schemas.openxmlformats.org/drawingml/2006/chart" r:id="rId3"/>
          </a:graphicData>
        </a:graphic>
      </p:graphicFrame>
      <p:cxnSp>
        <p:nvCxnSpPr>
          <p:cNvPr id="23" name="Connector 22"/>
          <p:cNvCxnSpPr/>
          <p:nvPr/>
        </p:nvCxnSpPr>
        <p:spPr>
          <a:xfrm>
            <a:off x="502920" y="5879592"/>
            <a:ext cx="246888" cy="0"/>
          </a:xfrm>
          <a:prstGeom prst="line">
            <a:avLst/>
          </a:prstGeom>
          <a:ln w="21590">
            <a:solidFill>
              <a:srgbClr val="0A237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3816" y="5815584"/>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Gauteng</a:t>
            </a:r>
          </a:p>
        </p:txBody>
      </p:sp>
      <p:cxnSp>
        <p:nvCxnSpPr>
          <p:cNvPr id="25" name="Connector 24"/>
          <p:cNvCxnSpPr/>
          <p:nvPr/>
        </p:nvCxnSpPr>
        <p:spPr>
          <a:xfrm>
            <a:off x="2606039" y="5879592"/>
            <a:ext cx="246888" cy="0"/>
          </a:xfrm>
          <a:prstGeom prst="line">
            <a:avLst/>
          </a:prstGeom>
          <a:ln w="21590">
            <a:solidFill>
              <a:srgbClr val="546CA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916935" y="5815584"/>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KwaZulu-Natal</a:t>
            </a:r>
          </a:p>
        </p:txBody>
      </p:sp>
      <p:cxnSp>
        <p:nvCxnSpPr>
          <p:cNvPr id="27" name="Connector 26"/>
          <p:cNvCxnSpPr/>
          <p:nvPr/>
        </p:nvCxnSpPr>
        <p:spPr>
          <a:xfrm>
            <a:off x="4709159" y="5879592"/>
            <a:ext cx="246889" cy="0"/>
          </a:xfrm>
          <a:prstGeom prst="line">
            <a:avLst/>
          </a:prstGeom>
          <a:ln w="21590">
            <a:solidFill>
              <a:srgbClr val="4040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020055" y="5815584"/>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Western Cape</a:t>
            </a:r>
          </a:p>
        </p:txBody>
      </p:sp>
      <p:cxnSp>
        <p:nvCxnSpPr>
          <p:cNvPr id="29" name="Connector 28"/>
          <p:cNvCxnSpPr/>
          <p:nvPr/>
        </p:nvCxnSpPr>
        <p:spPr>
          <a:xfrm>
            <a:off x="502920" y="6117336"/>
            <a:ext cx="246888" cy="0"/>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13816" y="6053328"/>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Mpumalanga</a:t>
            </a:r>
          </a:p>
        </p:txBody>
      </p:sp>
      <p:cxnSp>
        <p:nvCxnSpPr>
          <p:cNvPr id="31" name="Connector 30"/>
          <p:cNvCxnSpPr/>
          <p:nvPr/>
        </p:nvCxnSpPr>
        <p:spPr>
          <a:xfrm>
            <a:off x="2606039" y="6117336"/>
            <a:ext cx="246888" cy="0"/>
          </a:xfrm>
          <a:prstGeom prst="line">
            <a:avLst/>
          </a:prstGeom>
          <a:ln w="21590">
            <a:solidFill>
              <a:srgbClr val="767676"/>
            </a:solidFill>
            <a:prstDash val="dash"/>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916935" y="6053328"/>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Eastern Cape</a:t>
            </a:r>
          </a:p>
        </p:txBody>
      </p:sp>
      <p:cxnSp>
        <p:nvCxnSpPr>
          <p:cNvPr id="33" name="Connector 32"/>
          <p:cNvCxnSpPr/>
          <p:nvPr/>
        </p:nvCxnSpPr>
        <p:spPr>
          <a:xfrm>
            <a:off x="4709159" y="6117336"/>
            <a:ext cx="246889" cy="0"/>
          </a:xfrm>
          <a:prstGeom prst="line">
            <a:avLst/>
          </a:prstGeom>
          <a:ln w="21590">
            <a:solidFill>
              <a:srgbClr val="0A2373"/>
            </a:solidFill>
            <a:prstDash val="sysDot"/>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020055" y="6053328"/>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Free State</a:t>
            </a:r>
          </a:p>
        </p:txBody>
      </p:sp>
      <p:cxnSp>
        <p:nvCxnSpPr>
          <p:cNvPr id="35" name="Connector 34"/>
          <p:cNvCxnSpPr/>
          <p:nvPr/>
        </p:nvCxnSpPr>
        <p:spPr>
          <a:xfrm>
            <a:off x="502920" y="6355080"/>
            <a:ext cx="246888" cy="0"/>
          </a:xfrm>
          <a:prstGeom prst="line">
            <a:avLst/>
          </a:prstGeom>
          <a:ln w="21590">
            <a:solidFill>
              <a:srgbClr val="404040"/>
            </a:solidFill>
            <a:prstDash val="dashDot"/>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13816" y="6291072"/>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North West</a:t>
            </a:r>
          </a:p>
        </p:txBody>
      </p:sp>
      <p:cxnSp>
        <p:nvCxnSpPr>
          <p:cNvPr id="37" name="Connector 36"/>
          <p:cNvCxnSpPr/>
          <p:nvPr/>
        </p:nvCxnSpPr>
        <p:spPr>
          <a:xfrm>
            <a:off x="2606039" y="6355080"/>
            <a:ext cx="246888" cy="0"/>
          </a:xfrm>
          <a:prstGeom prst="line">
            <a:avLst/>
          </a:prstGeom>
          <a:ln w="21590">
            <a:solidFill>
              <a:srgbClr val="767676"/>
            </a:solidFill>
            <a:prstDash val="sysDot"/>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916935" y="6291072"/>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Limpopo</a:t>
            </a:r>
          </a:p>
        </p:txBody>
      </p:sp>
      <p:cxnSp>
        <p:nvCxnSpPr>
          <p:cNvPr id="39" name="Connector 38"/>
          <p:cNvCxnSpPr/>
          <p:nvPr/>
        </p:nvCxnSpPr>
        <p:spPr>
          <a:xfrm>
            <a:off x="4709159" y="6355080"/>
            <a:ext cx="246889" cy="0"/>
          </a:xfrm>
          <a:prstGeom prst="line">
            <a:avLst/>
          </a:prstGeom>
          <a:ln w="21590">
            <a:solidFill>
              <a:srgbClr val="BDBEC1"/>
            </a:solidFill>
            <a:prstDash val="lgDash"/>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020055" y="6291072"/>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Northern Cape</a:t>
            </a:r>
          </a:p>
        </p:txBody>
      </p:sp>
      <p:sp>
        <p:nvSpPr>
          <p:cNvPr id="41" name="TextBox 40"/>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Evidence and implications</a:t>
            </a:r>
          </a:p>
        </p:txBody>
      </p:sp>
      <p:sp>
        <p:nvSpPr>
          <p:cNvPr id="42" name="TextBox 41"/>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History ends in 2022</a:t>
            </a:r>
          </a:p>
        </p:txBody>
      </p:sp>
      <p:sp>
        <p:nvSpPr>
          <p:cNvPr id="43" name="TextBox 42"/>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latest complete provincial year in this extract is 2022.</a:t>
            </a:r>
          </a:p>
        </p:txBody>
      </p:sp>
      <p:sp>
        <p:nvSpPr>
          <p:cNvPr id="44" name="TextBox 43"/>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2023 is incomplete</a:t>
            </a:r>
          </a:p>
        </p:txBody>
      </p:sp>
      <p:sp>
        <p:nvSpPr>
          <p:cNvPr id="45" name="TextBox 44"/>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Only Q1 is present; it is excluded from annual comparisons.</a:t>
            </a:r>
          </a:p>
        </p:txBody>
      </p:sp>
      <p:sp>
        <p:nvSpPr>
          <p:cNvPr id="46" name="TextBox 45"/>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Six years are flagged</a:t>
            </a:r>
          </a:p>
        </p:txBody>
      </p:sp>
      <p:sp>
        <p:nvSpPr>
          <p:cNvPr id="47" name="TextBox 46"/>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Provincial sums differ from national sales in 2013, 2014, 2015, 2017, 2018 and 2021.</a:t>
            </a:r>
          </a:p>
        </p:txBody>
      </p:sp>
      <p:cxnSp>
        <p:nvCxnSpPr>
          <p:cNvPr id="48" name="Connector 4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Next steps | proposed owners</a:t>
            </a:r>
          </a:p>
        </p:txBody>
      </p:sp>
      <p:sp>
        <p:nvSpPr>
          <p:cNvPr id="50" name="TextBox 49"/>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reconcile each flagged value to its original workbook cell and log old value, proposed value and reason.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Shape the provincial split between domestic fuel and imports</a:t>
            </a:r>
          </a:p>
        </p:txBody>
      </p:sp>
      <p:sp>
        <p:nvSpPr>
          <p:cNvPr id="3" name="Slide Number Placeholder"/>
          <p:cNvSpPr>
            <a:spLocks noGrp="1"/>
          </p:cNvSpPr>
          <p:nvPr>
            <p:ph type="sldNum" sz="quarter" idx="12"/>
          </p:nvPr>
        </p:nvSpPr>
        <p:spPr/>
        <p:txBody>
          <a:bodyPr/>
          <a:lstStyle/>
          <a:p>
            <a:fld id="{FA09C546-6995-4309-93BF-3D4C7C0FF56D}"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provincial sales totals; source mix from the existing illustrative national-balance CSV. Not observed origin.</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2022 sales totals | ILLUSTRATIVE domestic/import allocation</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87451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792223"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a:t>
            </a:r>
          </a:p>
        </p:txBody>
      </p:sp>
      <p:cxnSp>
        <p:nvCxnSpPr>
          <p:cNvPr id="24" name="Connector 23"/>
          <p:cNvCxnSpPr/>
          <p:nvPr/>
        </p:nvCxnSpPr>
        <p:spPr>
          <a:xfrm>
            <a:off x="2971800"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88950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2</a:t>
            </a:r>
          </a:p>
        </p:txBody>
      </p:sp>
      <p:cxnSp>
        <p:nvCxnSpPr>
          <p:cNvPr id="26" name="Connector 25"/>
          <p:cNvCxnSpPr/>
          <p:nvPr/>
        </p:nvCxnSpPr>
        <p:spPr>
          <a:xfrm>
            <a:off x="406907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86783"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4</a:t>
            </a:r>
          </a:p>
        </p:txBody>
      </p:sp>
      <p:cxnSp>
        <p:nvCxnSpPr>
          <p:cNvPr id="28" name="Connector 27"/>
          <p:cNvCxnSpPr/>
          <p:nvPr/>
        </p:nvCxnSpPr>
        <p:spPr>
          <a:xfrm>
            <a:off x="516635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08406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6</a:t>
            </a:r>
          </a:p>
        </p:txBody>
      </p:sp>
      <p:cxnSp>
        <p:nvCxnSpPr>
          <p:cNvPr id="30" name="Connector 29"/>
          <p:cNvCxnSpPr/>
          <p:nvPr/>
        </p:nvCxnSpPr>
        <p:spPr>
          <a:xfrm>
            <a:off x="6263640"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18134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8</a:t>
            </a:r>
          </a:p>
        </p:txBody>
      </p:sp>
      <p:sp>
        <p:nvSpPr>
          <p:cNvPr id="32" name="TextBox 31"/>
          <p:cNvSpPr txBox="1"/>
          <p:nvPr/>
        </p:nvSpPr>
        <p:spPr>
          <a:xfrm>
            <a:off x="457200" y="2606039"/>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Gauteng</a:t>
            </a:r>
          </a:p>
        </p:txBody>
      </p:sp>
      <p:sp>
        <p:nvSpPr>
          <p:cNvPr id="33" name="Rectangle 32"/>
          <p:cNvSpPr/>
          <p:nvPr/>
        </p:nvSpPr>
        <p:spPr>
          <a:xfrm>
            <a:off x="1874519" y="2596896"/>
            <a:ext cx="1310608"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185128" y="2596896"/>
            <a:ext cx="242531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74454" y="2596896"/>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6.81</a:t>
            </a:r>
          </a:p>
        </p:txBody>
      </p:sp>
      <p:sp>
        <p:nvSpPr>
          <p:cNvPr id="36" name="TextBox 35"/>
          <p:cNvSpPr txBox="1"/>
          <p:nvPr/>
        </p:nvSpPr>
        <p:spPr>
          <a:xfrm>
            <a:off x="457200" y="2916935"/>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KwaZulu-Natal</a:t>
            </a:r>
          </a:p>
        </p:txBody>
      </p:sp>
      <p:sp>
        <p:nvSpPr>
          <p:cNvPr id="37" name="Rectangle 36"/>
          <p:cNvSpPr/>
          <p:nvPr/>
        </p:nvSpPr>
        <p:spPr>
          <a:xfrm>
            <a:off x="1874519" y="2907791"/>
            <a:ext cx="747567"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622087" y="2907791"/>
            <a:ext cx="1603076"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89172" y="2907791"/>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4.28</a:t>
            </a:r>
          </a:p>
        </p:txBody>
      </p:sp>
      <p:sp>
        <p:nvSpPr>
          <p:cNvPr id="40" name="TextBox 39"/>
          <p:cNvSpPr txBox="1"/>
          <p:nvPr/>
        </p:nvSpPr>
        <p:spPr>
          <a:xfrm>
            <a:off x="457200" y="3227832"/>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Western Cape</a:t>
            </a:r>
          </a:p>
        </p:txBody>
      </p:sp>
      <p:sp>
        <p:nvSpPr>
          <p:cNvPr id="41" name="Rectangle 40"/>
          <p:cNvSpPr/>
          <p:nvPr/>
        </p:nvSpPr>
        <p:spPr>
          <a:xfrm>
            <a:off x="1874519" y="3218688"/>
            <a:ext cx="691804"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566324" y="3218688"/>
            <a:ext cx="1464775"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095108" y="3218688"/>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3.93</a:t>
            </a:r>
          </a:p>
        </p:txBody>
      </p:sp>
      <p:sp>
        <p:nvSpPr>
          <p:cNvPr id="44" name="TextBox 43"/>
          <p:cNvSpPr txBox="1"/>
          <p:nvPr/>
        </p:nvSpPr>
        <p:spPr>
          <a:xfrm>
            <a:off x="457200" y="3538727"/>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Mpumalanga</a:t>
            </a:r>
          </a:p>
        </p:txBody>
      </p:sp>
      <p:sp>
        <p:nvSpPr>
          <p:cNvPr id="45" name="Rectangle 44"/>
          <p:cNvSpPr/>
          <p:nvPr/>
        </p:nvSpPr>
        <p:spPr>
          <a:xfrm>
            <a:off x="1874519" y="3529584"/>
            <a:ext cx="306332"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180852" y="3529584"/>
            <a:ext cx="65773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902592" y="3529584"/>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1.76</a:t>
            </a:r>
          </a:p>
        </p:txBody>
      </p:sp>
      <p:sp>
        <p:nvSpPr>
          <p:cNvPr id="48" name="TextBox 47"/>
          <p:cNvSpPr txBox="1"/>
          <p:nvPr/>
        </p:nvSpPr>
        <p:spPr>
          <a:xfrm>
            <a:off x="457200" y="3849624"/>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Eastern Cape</a:t>
            </a:r>
          </a:p>
        </p:txBody>
      </p:sp>
      <p:sp>
        <p:nvSpPr>
          <p:cNvPr id="49" name="Rectangle 48"/>
          <p:cNvSpPr/>
          <p:nvPr/>
        </p:nvSpPr>
        <p:spPr>
          <a:xfrm>
            <a:off x="1874519" y="3840480"/>
            <a:ext cx="313049"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187569" y="3840480"/>
            <a:ext cx="63910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890684" y="3840480"/>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1.74</a:t>
            </a:r>
          </a:p>
        </p:txBody>
      </p:sp>
      <p:sp>
        <p:nvSpPr>
          <p:cNvPr id="52" name="TextBox 51"/>
          <p:cNvSpPr txBox="1"/>
          <p:nvPr/>
        </p:nvSpPr>
        <p:spPr>
          <a:xfrm>
            <a:off x="457200" y="4160520"/>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Free State</a:t>
            </a:r>
          </a:p>
        </p:txBody>
      </p:sp>
      <p:sp>
        <p:nvSpPr>
          <p:cNvPr id="53" name="Rectangle 52"/>
          <p:cNvSpPr/>
          <p:nvPr/>
        </p:nvSpPr>
        <p:spPr>
          <a:xfrm>
            <a:off x="1874519" y="4151376"/>
            <a:ext cx="250485"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125005" y="4151376"/>
            <a:ext cx="50077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689791" y="4151376"/>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1.37</a:t>
            </a:r>
          </a:p>
        </p:txBody>
      </p:sp>
      <p:sp>
        <p:nvSpPr>
          <p:cNvPr id="56" name="TextBox 55"/>
          <p:cNvSpPr txBox="1"/>
          <p:nvPr/>
        </p:nvSpPr>
        <p:spPr>
          <a:xfrm>
            <a:off x="457200" y="4471416"/>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North West</a:t>
            </a:r>
          </a:p>
        </p:txBody>
      </p:sp>
      <p:sp>
        <p:nvSpPr>
          <p:cNvPr id="57" name="Rectangle 56"/>
          <p:cNvSpPr/>
          <p:nvPr/>
        </p:nvSpPr>
        <p:spPr>
          <a:xfrm>
            <a:off x="1874519" y="4462272"/>
            <a:ext cx="194304"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2068824" y="4462272"/>
            <a:ext cx="39167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524509" y="4462272"/>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1.07</a:t>
            </a:r>
          </a:p>
        </p:txBody>
      </p:sp>
      <p:sp>
        <p:nvSpPr>
          <p:cNvPr id="60" name="TextBox 59"/>
          <p:cNvSpPr txBox="1"/>
          <p:nvPr/>
        </p:nvSpPr>
        <p:spPr>
          <a:xfrm>
            <a:off x="457200" y="4782312"/>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Limpopo</a:t>
            </a:r>
          </a:p>
        </p:txBody>
      </p:sp>
      <p:sp>
        <p:nvSpPr>
          <p:cNvPr id="61" name="Rectangle 60"/>
          <p:cNvSpPr/>
          <p:nvPr/>
        </p:nvSpPr>
        <p:spPr>
          <a:xfrm>
            <a:off x="1874519" y="4773168"/>
            <a:ext cx="97173"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971693" y="4773168"/>
            <a:ext cx="174750"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2210451" y="4773168"/>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0.50</a:t>
            </a:r>
          </a:p>
        </p:txBody>
      </p:sp>
      <p:sp>
        <p:nvSpPr>
          <p:cNvPr id="64" name="TextBox 63"/>
          <p:cNvSpPr txBox="1"/>
          <p:nvPr/>
        </p:nvSpPr>
        <p:spPr>
          <a:xfrm>
            <a:off x="457200" y="5093208"/>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Northern Cape</a:t>
            </a:r>
          </a:p>
        </p:txBody>
      </p:sp>
      <p:sp>
        <p:nvSpPr>
          <p:cNvPr id="65" name="Rectangle 64"/>
          <p:cNvSpPr/>
          <p:nvPr/>
        </p:nvSpPr>
        <p:spPr>
          <a:xfrm>
            <a:off x="1874519" y="5084064"/>
            <a:ext cx="7262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947140" y="5084064"/>
            <a:ext cx="175260"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186409" y="5084064"/>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0.45</a:t>
            </a:r>
          </a:p>
        </p:txBody>
      </p:sp>
      <p:sp>
        <p:nvSpPr>
          <p:cNvPr id="68" name="Rectangle 67"/>
          <p:cNvSpPr/>
          <p:nvPr/>
        </p:nvSpPr>
        <p:spPr>
          <a:xfrm>
            <a:off x="457200" y="5715000"/>
            <a:ext cx="109728" cy="10972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21792" y="5669280"/>
            <a:ext cx="3200400" cy="24688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Illustrative domestic fuel</a:t>
            </a:r>
          </a:p>
        </p:txBody>
      </p:sp>
      <p:sp>
        <p:nvSpPr>
          <p:cNvPr id="70" name="Rectangle 69"/>
          <p:cNvSpPr/>
          <p:nvPr/>
        </p:nvSpPr>
        <p:spPr>
          <a:xfrm>
            <a:off x="3246120" y="5715000"/>
            <a:ext cx="109728" cy="10972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410712" y="5669280"/>
            <a:ext cx="3200400" cy="24688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Illustrative finished-product imports</a:t>
            </a:r>
          </a:p>
        </p:txBody>
      </p:sp>
      <p:sp>
        <p:nvSpPr>
          <p:cNvPr id="72" name="TextBox 71"/>
          <p:cNvSpPr txBox="1"/>
          <p:nvPr/>
        </p:nvSpPr>
        <p:spPr>
          <a:xfrm>
            <a:off x="457200" y="6062472"/>
            <a:ext cx="6446520" cy="374904"/>
          </a:xfrm>
          <a:prstGeom prst="rect">
            <a:avLst/>
          </a:prstGeom>
          <a:noFill/>
        </p:spPr>
        <p:txBody>
          <a:bodyPr wrap="square" lIns="22860" rIns="22860" tIns="0" bIns="0">
            <a:spAutoFit/>
          </a:bodyPr>
          <a:lstStyle/>
          <a:p>
            <a:pPr>
              <a:spcAft>
                <a:spcPts val="300"/>
              </a:spcAft>
              <a:defRPr sz="1000" b="1">
                <a:solidFill>
                  <a:srgbClr val="0A2373"/>
                </a:solidFill>
                <a:latin typeface="Lato"/>
              </a:defRPr>
            </a:pPr>
            <a:r>
              <a:t>Units: bn litres/year. Imported/domestic segments are a scenario illustration, not measured provincial flows.</a:t>
            </a:r>
          </a:p>
        </p:txBody>
      </p:sp>
      <p:sp>
        <p:nvSpPr>
          <p:cNvPr id="73" name="TextBox 72"/>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Evidence and implications</a:t>
            </a:r>
          </a:p>
        </p:txBody>
      </p:sp>
      <p:sp>
        <p:nvSpPr>
          <p:cNvPr id="74" name="TextBox 73"/>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Demand totals are sourced</a:t>
            </a:r>
          </a:p>
        </p:txBody>
      </p:sp>
      <p:sp>
        <p:nvSpPr>
          <p:cNvPr id="75" name="TextBox 74"/>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provincial bars use reported 2022 petrol/diesel sales.</a:t>
            </a:r>
          </a:p>
        </p:txBody>
      </p:sp>
      <p:sp>
        <p:nvSpPr>
          <p:cNvPr id="76" name="TextBox 75"/>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Origin shares are illustrative</a:t>
            </a:r>
          </a:p>
        </p:txBody>
      </p:sp>
      <p:sp>
        <p:nvSpPr>
          <p:cNvPr id="77" name="TextBox 76"/>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Domestic/import fractions are authored examples; no actual provincial origin allocation is established.</a:t>
            </a:r>
          </a:p>
        </p:txBody>
      </p:sp>
      <p:sp>
        <p:nvSpPr>
          <p:cNvPr id="78" name="TextBox 77"/>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Imports need a national balance</a:t>
            </a:r>
          </a:p>
        </p:txBody>
      </p:sp>
      <p:sp>
        <p:nvSpPr>
          <p:cNvPr id="79" name="TextBox 78"/>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Exports and stock movements must be reconciled before a sourced import requirement can be presented.</a:t>
            </a:r>
          </a:p>
        </p:txBody>
      </p:sp>
      <p:cxnSp>
        <p:nvCxnSpPr>
          <p:cNvPr id="80" name="Connector 7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Next steps | proposed owners</a:t>
            </a:r>
          </a:p>
        </p:txBody>
      </p:sp>
      <p:sp>
        <p:nvSpPr>
          <p:cNvPr id="82" name="TextBox 81"/>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populate the matched-year national balance first; retain provincial origin as unknown until supported.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Size each regional market and locate competing storage</a:t>
            </a:r>
          </a:p>
        </p:txBody>
      </p:sp>
      <p:sp>
        <p:nvSpPr>
          <p:cNvPr id="3" name="Slide Number Placeholder"/>
          <p:cNvSpPr>
            <a:spLocks noGrp="1"/>
          </p:cNvSpPr>
          <p:nvPr>
            <p:ph type="sldNum" sz="quarter" idx="12"/>
          </p:nvPr>
        </p:nvSpPr>
        <p:spPr/>
        <p:txBody>
          <a:bodyPr/>
          <a:lstStyle/>
          <a:p>
            <a:fld id="{5BB5F0F9-2698-4F48-99EB-98448A388D56}" type="slidenum">
              <a:rPr lang="en-US"/>
              <a:t>‹#›</a:t>
            </a:fld>
          </a:p>
        </p:txBody>
      </p:sp>
      <p:sp>
        <p:nvSpPr>
          <p:cNvPr id="4" name="Section navigation 1">
            <a:hlinkClick action="ppaction://hlinksldjump" r:id="rId10"/>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11"/>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12"/>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13"/>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provincial petrol/diesel sales; public operator sources [1-7], checked 6 Oct 2026. Share not established.</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All four regions | reported 2022 demand,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Regional competitor evidence</a:t>
            </a:r>
          </a:p>
        </p:txBody>
      </p: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57200" y="2176272"/>
            <a:ext cx="6446520" cy="246888"/>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National total 21.90 bn L | petrol + diesel; jet excluded</a:t>
            </a:r>
          </a:p>
        </p:txBody>
      </p:sp>
      <p:sp>
        <p:nvSpPr>
          <p:cNvPr id="15" name="TextBox 14"/>
          <p:cNvSpPr txBox="1"/>
          <p:nvPr/>
        </p:nvSpPr>
        <p:spPr>
          <a:xfrm>
            <a:off x="457200" y="2624328"/>
            <a:ext cx="1298448" cy="512064"/>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Region / provinces</a:t>
            </a:r>
          </a:p>
        </p:txBody>
      </p:sp>
      <p:sp>
        <p:nvSpPr>
          <p:cNvPr id="16" name="TextBox 15"/>
          <p:cNvSpPr txBox="1"/>
          <p:nvPr/>
        </p:nvSpPr>
        <p:spPr>
          <a:xfrm>
            <a:off x="1847088" y="2624328"/>
            <a:ext cx="2542032"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Reported demand</a:t>
            </a:r>
          </a:p>
        </p:txBody>
      </p:sp>
      <p:sp>
        <p:nvSpPr>
          <p:cNvPr id="17" name="TextBox 16"/>
          <p:cNvSpPr txBox="1"/>
          <p:nvPr/>
        </p:nvSpPr>
        <p:spPr>
          <a:xfrm>
            <a:off x="4553712" y="2624328"/>
            <a:ext cx="1051560" cy="512064"/>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Vopak</a:t>
            </a:r>
          </a:p>
          <a:p>
            <a:pPr>
              <a:spcAft>
                <a:spcPts val="300"/>
              </a:spcAft>
              <a:defRPr sz="1200" b="1">
                <a:solidFill>
                  <a:srgbClr val="000000"/>
                </a:solidFill>
                <a:latin typeface="Lato"/>
              </a:defRPr>
            </a:pPr>
            <a:r>
              <a:t>served</a:t>
            </a:r>
          </a:p>
        </p:txBody>
      </p:sp>
      <p:sp>
        <p:nvSpPr>
          <p:cNvPr id="18" name="TextBox 17"/>
          <p:cNvSpPr txBox="1"/>
          <p:nvPr/>
        </p:nvSpPr>
        <p:spPr>
          <a:xfrm>
            <a:off x="5760720" y="2624328"/>
            <a:ext cx="1143000" cy="512064"/>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Additional</a:t>
            </a:r>
          </a:p>
          <a:p>
            <a:pPr>
              <a:spcAft>
                <a:spcPts val="300"/>
              </a:spcAft>
              <a:defRPr sz="1200" b="1">
                <a:solidFill>
                  <a:srgbClr val="000000"/>
                </a:solidFill>
                <a:latin typeface="Lato"/>
              </a:defRPr>
            </a:pPr>
            <a:r>
              <a:t>contestable</a:t>
            </a:r>
          </a:p>
        </p:txBody>
      </p:sp>
      <p:sp>
        <p:nvSpPr>
          <p:cNvPr id="19" name="TextBox 18"/>
          <p:cNvSpPr txBox="1"/>
          <p:nvPr/>
        </p:nvSpPr>
        <p:spPr>
          <a:xfrm>
            <a:off x="1755648"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a:t>
            </a:r>
          </a:p>
        </p:txBody>
      </p:sp>
      <p:cxnSp>
        <p:nvCxnSpPr>
          <p:cNvPr id="20" name="Connector 19"/>
          <p:cNvCxnSpPr/>
          <p:nvPr/>
        </p:nvCxnSpPr>
        <p:spPr>
          <a:xfrm>
            <a:off x="1847088"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493264"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4</a:t>
            </a:r>
          </a:p>
        </p:txBody>
      </p:sp>
      <p:cxnSp>
        <p:nvCxnSpPr>
          <p:cNvPr id="22" name="Connector 21"/>
          <p:cNvCxnSpPr/>
          <p:nvPr/>
        </p:nvCxnSpPr>
        <p:spPr>
          <a:xfrm>
            <a:off x="2584704"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230880"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8</a:t>
            </a:r>
          </a:p>
        </p:txBody>
      </p:sp>
      <p:cxnSp>
        <p:nvCxnSpPr>
          <p:cNvPr id="24" name="Connector 23"/>
          <p:cNvCxnSpPr/>
          <p:nvPr/>
        </p:nvCxnSpPr>
        <p:spPr>
          <a:xfrm>
            <a:off x="3322320"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968496"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12</a:t>
            </a:r>
          </a:p>
        </p:txBody>
      </p:sp>
      <p:cxnSp>
        <p:nvCxnSpPr>
          <p:cNvPr id="26" name="Connector 25"/>
          <p:cNvCxnSpPr/>
          <p:nvPr/>
        </p:nvCxnSpPr>
        <p:spPr>
          <a:xfrm>
            <a:off x="4059935"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57200" y="3374136"/>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Eastern coast</a:t>
            </a:r>
          </a:p>
        </p:txBody>
      </p:sp>
      <p:sp>
        <p:nvSpPr>
          <p:cNvPr id="28" name="TextBox 27"/>
          <p:cNvSpPr txBox="1"/>
          <p:nvPr/>
        </p:nvSpPr>
        <p:spPr>
          <a:xfrm>
            <a:off x="457200" y="3639312"/>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EC/KZN</a:t>
            </a:r>
          </a:p>
        </p:txBody>
      </p:sp>
      <p:sp>
        <p:nvSpPr>
          <p:cNvPr id="29" name="Reported 2022 petrol/diesel demand: Eastern coastal: 6.019977323 bn L"/>
          <p:cNvSpPr/>
          <p:nvPr/>
        </p:nvSpPr>
        <p:spPr>
          <a:xfrm>
            <a:off x="1847088" y="3447288"/>
            <a:ext cx="1110107"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021203" y="3447288"/>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6.02</a:t>
            </a:r>
          </a:p>
        </p:txBody>
      </p:sp>
      <p:sp>
        <p:nvSpPr>
          <p:cNvPr id="31" name="Unknown share input: Eastern coastal at 4.98"/>
          <p:cNvSpPr txBox="1"/>
          <p:nvPr/>
        </p:nvSpPr>
        <p:spPr>
          <a:xfrm>
            <a:off x="4553712" y="3392424"/>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32" name="Unknown share input: Eastern coastal at 6.3"/>
          <p:cNvSpPr txBox="1"/>
          <p:nvPr/>
        </p:nvSpPr>
        <p:spPr>
          <a:xfrm>
            <a:off x="5760720" y="3392424"/>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33" name="TextBox 32"/>
          <p:cNvSpPr txBox="1"/>
          <p:nvPr/>
        </p:nvSpPr>
        <p:spPr>
          <a:xfrm>
            <a:off x="457200" y="3913632"/>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Inland</a:t>
            </a:r>
          </a:p>
        </p:txBody>
      </p:sp>
      <p:sp>
        <p:nvSpPr>
          <p:cNvPr id="34" name="TextBox 33"/>
          <p:cNvSpPr txBox="1"/>
          <p:nvPr/>
        </p:nvSpPr>
        <p:spPr>
          <a:xfrm>
            <a:off x="457200" y="4178808"/>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GP/FS/LP/MP/NW</a:t>
            </a:r>
          </a:p>
        </p:txBody>
      </p:sp>
      <p:sp>
        <p:nvSpPr>
          <p:cNvPr id="35" name="Reported 2022 petrol/diesel demand: Inland: 11.499633855 bn L"/>
          <p:cNvSpPr/>
          <p:nvPr/>
        </p:nvSpPr>
        <p:spPr>
          <a:xfrm>
            <a:off x="1847088" y="3986784"/>
            <a:ext cx="2120578"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31674" y="3986784"/>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11.50</a:t>
            </a:r>
          </a:p>
        </p:txBody>
      </p:sp>
      <p:sp>
        <p:nvSpPr>
          <p:cNvPr id="37" name="Unknown share input: Inland at 4.98"/>
          <p:cNvSpPr txBox="1"/>
          <p:nvPr/>
        </p:nvSpPr>
        <p:spPr>
          <a:xfrm>
            <a:off x="4553712" y="3931920"/>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38" name="Unknown share input: Inland at 6.3"/>
          <p:cNvSpPr txBox="1"/>
          <p:nvPr/>
        </p:nvSpPr>
        <p:spPr>
          <a:xfrm>
            <a:off x="5760720" y="3931920"/>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39" name="TextBox 38"/>
          <p:cNvSpPr txBox="1"/>
          <p:nvPr/>
        </p:nvSpPr>
        <p:spPr>
          <a:xfrm>
            <a:off x="457200" y="4453128"/>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Western coast</a:t>
            </a:r>
          </a:p>
        </p:txBody>
      </p:sp>
      <p:sp>
        <p:nvSpPr>
          <p:cNvPr id="40" name="TextBox 39"/>
          <p:cNvSpPr txBox="1"/>
          <p:nvPr/>
        </p:nvSpPr>
        <p:spPr>
          <a:xfrm>
            <a:off x="457200" y="4718304"/>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WC</a:t>
            </a:r>
          </a:p>
        </p:txBody>
      </p:sp>
      <p:sp>
        <p:nvSpPr>
          <p:cNvPr id="41" name="Reported 2022 petrol/diesel demand: Western coastal: 3.930775007 bn L"/>
          <p:cNvSpPr/>
          <p:nvPr/>
        </p:nvSpPr>
        <p:spPr>
          <a:xfrm>
            <a:off x="1847088" y="4526280"/>
            <a:ext cx="72485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635946" y="4526280"/>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3.93</a:t>
            </a:r>
          </a:p>
        </p:txBody>
      </p:sp>
      <p:sp>
        <p:nvSpPr>
          <p:cNvPr id="43" name="Unknown share input: Western coastal at 4.98"/>
          <p:cNvSpPr txBox="1"/>
          <p:nvPr/>
        </p:nvSpPr>
        <p:spPr>
          <a:xfrm>
            <a:off x="4553712" y="4471416"/>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44" name="Unknown share input: Western coastal at 6.3"/>
          <p:cNvSpPr txBox="1"/>
          <p:nvPr/>
        </p:nvSpPr>
        <p:spPr>
          <a:xfrm>
            <a:off x="5760720" y="4471416"/>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45" name="TextBox 44"/>
          <p:cNvSpPr txBox="1"/>
          <p:nvPr/>
        </p:nvSpPr>
        <p:spPr>
          <a:xfrm>
            <a:off x="457200" y="4992624"/>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Other</a:t>
            </a:r>
          </a:p>
        </p:txBody>
      </p:sp>
      <p:sp>
        <p:nvSpPr>
          <p:cNvPr id="46" name="TextBox 45"/>
          <p:cNvSpPr txBox="1"/>
          <p:nvPr/>
        </p:nvSpPr>
        <p:spPr>
          <a:xfrm>
            <a:off x="457200" y="5257800"/>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Northern Cape</a:t>
            </a:r>
          </a:p>
        </p:txBody>
      </p:sp>
      <p:sp>
        <p:nvSpPr>
          <p:cNvPr id="47" name="Reported 2022 petrol/diesel demand: Other / Northern Cape: 0.451810049 bn L"/>
          <p:cNvSpPr/>
          <p:nvPr/>
        </p:nvSpPr>
        <p:spPr>
          <a:xfrm>
            <a:off x="1847088" y="5065776"/>
            <a:ext cx="83315"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994411" y="5065776"/>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0.45</a:t>
            </a:r>
          </a:p>
        </p:txBody>
      </p:sp>
      <p:sp>
        <p:nvSpPr>
          <p:cNvPr id="49" name="Unknown share input: Other / Northern Cape at 4.98"/>
          <p:cNvSpPr txBox="1"/>
          <p:nvPr/>
        </p:nvSpPr>
        <p:spPr>
          <a:xfrm>
            <a:off x="4553712" y="5010912"/>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50" name="Unknown share input: Other / Northern Cape at 6.3"/>
          <p:cNvSpPr txBox="1"/>
          <p:nvPr/>
        </p:nvSpPr>
        <p:spPr>
          <a:xfrm>
            <a:off x="5760720" y="5010912"/>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51" name="TextBox 50"/>
          <p:cNvSpPr txBox="1"/>
          <p:nvPr/>
        </p:nvSpPr>
        <p:spPr>
          <a:xfrm>
            <a:off x="457200" y="5641848"/>
            <a:ext cx="6446520" cy="265176"/>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To calculate share: unique Vopak customer deliveries / same-year regional demand.</a:t>
            </a:r>
          </a:p>
        </p:txBody>
      </p:sp>
      <p:sp>
        <p:nvSpPr>
          <p:cNvPr id="52" name="TextBox 51"/>
          <p:cNvSpPr txBox="1"/>
          <p:nvPr/>
        </p:nvSpPr>
        <p:spPr>
          <a:xfrm>
            <a:off x="457200" y="5952744"/>
            <a:ext cx="6446520" cy="402336"/>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Contestable demand needs route cost, compatible tanks, contracts and switching evidence.</a:t>
            </a:r>
          </a:p>
          <a:p>
            <a:pPr>
              <a:spcAft>
                <a:spcPts val="300"/>
              </a:spcAft>
              <a:defRPr sz="1000" b="0">
                <a:solidFill>
                  <a:srgbClr val="000000"/>
                </a:solidFill>
                <a:latin typeface="Lato"/>
              </a:defRPr>
            </a:pPr>
            <a:r>
              <a:t>Count Durban-Lesedi transfers once. Region boundaries are working groupings, not catchments.</a:t>
            </a:r>
          </a:p>
        </p:txBody>
      </p:sp>
      <p:sp>
        <p:nvSpPr>
          <p:cNvPr id="53" name="TextBox 52"/>
          <p:cNvSpPr txBox="1"/>
          <p:nvPr/>
        </p:nvSpPr>
        <p:spPr>
          <a:xfrm>
            <a:off x="7424927" y="2194560"/>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Eastern coast</a:t>
            </a:r>
          </a:p>
        </p:txBody>
      </p:sp>
      <p:sp>
        <p:nvSpPr>
          <p:cNvPr id="54" name="TextBox 53"/>
          <p:cNvSpPr txBox="1"/>
          <p:nvPr/>
        </p:nvSpPr>
        <p:spPr>
          <a:xfrm>
            <a:off x="7424927" y="2523744"/>
            <a:ext cx="3685032" cy="704088"/>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Vopak: Durban [1]. Bidvest: Durban and Richards Bay [2]; mixed-product capacity.</a:t>
            </a:r>
          </a:p>
          <a:p>
            <a:pPr>
              <a:spcAft>
                <a:spcPts val="300"/>
              </a:spcAft>
              <a:defRPr sz="1250" b="0">
                <a:solidFill>
                  <a:srgbClr val="000000"/>
                </a:solidFill>
                <a:latin typeface="Lato"/>
              </a:defRPr>
            </a:pPr>
            <a:r>
              <a:t>Transnet: Ladysmith lease tanks [7].</a:t>
            </a:r>
          </a:p>
        </p:txBody>
      </p:sp>
      <p:sp>
        <p:nvSpPr>
          <p:cNvPr id="55" name="TextBox 54"/>
          <p:cNvSpPr txBox="1"/>
          <p:nvPr/>
        </p:nvSpPr>
        <p:spPr>
          <a:xfrm>
            <a:off x="7424927" y="3246120"/>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Inland</a:t>
            </a:r>
          </a:p>
        </p:txBody>
      </p:sp>
      <p:sp>
        <p:nvSpPr>
          <p:cNvPr id="56" name="TextBox 55"/>
          <p:cNvSpPr txBox="1"/>
          <p:nvPr/>
        </p:nvSpPr>
        <p:spPr>
          <a:xfrm>
            <a:off x="7424927" y="3575303"/>
            <a:ext cx="3685032" cy="832104"/>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Vopak: Lesedi [1]. Bidvest: Isando [2].</a:t>
            </a:r>
          </a:p>
          <a:p>
            <a:pPr>
              <a:spcAft>
                <a:spcPts val="300"/>
              </a:spcAft>
              <a:defRPr sz="1250" b="0">
                <a:solidFill>
                  <a:srgbClr val="000000"/>
                </a:solidFill>
                <a:latin typeface="Lato"/>
              </a:defRPr>
            </a:pPr>
            <a:r>
              <a:t>Sasol: Alrode, Pretoria West, Waltloo, Sasolburg [6]. Transnet: Tarlton / Jameson Park + four lease sites [7].</a:t>
            </a:r>
          </a:p>
        </p:txBody>
      </p:sp>
      <p:sp>
        <p:nvSpPr>
          <p:cNvPr id="57" name="TextBox 56"/>
          <p:cNvSpPr txBox="1"/>
          <p:nvPr/>
        </p:nvSpPr>
        <p:spPr>
          <a:xfrm>
            <a:off x="7424927" y="4507992"/>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Western coast</a:t>
            </a:r>
          </a:p>
        </p:txBody>
      </p:sp>
      <p:sp>
        <p:nvSpPr>
          <p:cNvPr id="58" name="TextBox 57"/>
          <p:cNvSpPr txBox="1"/>
          <p:nvPr/>
        </p:nvSpPr>
        <p:spPr>
          <a:xfrm>
            <a:off x="7424927" y="4837176"/>
            <a:ext cx="3685032" cy="66751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Burgan Cape: Cape Town petrol/diesel terminal [3]. Confirm current tank availability and customer access.</a:t>
            </a:r>
          </a:p>
        </p:txBody>
      </p:sp>
      <p:sp>
        <p:nvSpPr>
          <p:cNvPr id="59" name="TextBox 58"/>
          <p:cNvSpPr txBox="1"/>
          <p:nvPr/>
        </p:nvSpPr>
        <p:spPr>
          <a:xfrm>
            <a:off x="7424927" y="5486400"/>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04 Other / Northern Cape</a:t>
            </a:r>
          </a:p>
        </p:txBody>
      </p:sp>
      <p:sp>
        <p:nvSpPr>
          <p:cNvPr id="60" name="TextBox 59"/>
          <p:cNvSpPr txBox="1"/>
          <p:nvPr/>
        </p:nvSpPr>
        <p:spPr>
          <a:xfrm>
            <a:off x="7424927" y="5815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Operator coverage incomplete. Check Shell site notices [4] and NERSA licences/access records [5].</a:t>
            </a:r>
          </a:p>
        </p:txBody>
      </p:sp>
      <p:sp>
        <p:nvSpPr>
          <p:cNvPr id="61" name="TextBox 60"/>
          <p:cNvSpPr txBox="1"/>
          <p:nvPr/>
        </p:nvSpPr>
        <p:spPr>
          <a:xfrm>
            <a:off x="457200"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3"/>
              </a:rPr>
              <a:t>[1] Vopak</a:t>
            </a:r>
          </a:p>
        </p:txBody>
      </p:sp>
      <p:sp>
        <p:nvSpPr>
          <p:cNvPr id="62" name="TextBox 61"/>
          <p:cNvSpPr txBox="1"/>
          <p:nvPr/>
        </p:nvSpPr>
        <p:spPr>
          <a:xfrm>
            <a:off x="1353312"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4"/>
              </a:rPr>
              <a:t>[2] Bidvest</a:t>
            </a:r>
          </a:p>
        </p:txBody>
      </p:sp>
      <p:sp>
        <p:nvSpPr>
          <p:cNvPr id="63" name="TextBox 62"/>
          <p:cNvSpPr txBox="1"/>
          <p:nvPr/>
        </p:nvSpPr>
        <p:spPr>
          <a:xfrm>
            <a:off x="2249424"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5"/>
              </a:rPr>
              <a:t>[3] Burgan</a:t>
            </a:r>
          </a:p>
        </p:txBody>
      </p:sp>
      <p:sp>
        <p:nvSpPr>
          <p:cNvPr id="64" name="TextBox 63"/>
          <p:cNvSpPr txBox="1"/>
          <p:nvPr/>
        </p:nvSpPr>
        <p:spPr>
          <a:xfrm>
            <a:off x="3145536"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6"/>
              </a:rPr>
              <a:t>[4] Shell</a:t>
            </a:r>
          </a:p>
        </p:txBody>
      </p:sp>
      <p:sp>
        <p:nvSpPr>
          <p:cNvPr id="65" name="TextBox 64"/>
          <p:cNvSpPr txBox="1"/>
          <p:nvPr/>
        </p:nvSpPr>
        <p:spPr>
          <a:xfrm>
            <a:off x="4041648"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7"/>
              </a:rPr>
              <a:t>[5] NERSA</a:t>
            </a:r>
          </a:p>
        </p:txBody>
      </p:sp>
      <p:sp>
        <p:nvSpPr>
          <p:cNvPr id="66" name="TextBox 65"/>
          <p:cNvSpPr txBox="1"/>
          <p:nvPr/>
        </p:nvSpPr>
        <p:spPr>
          <a:xfrm>
            <a:off x="4937760"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8"/>
              </a:rPr>
              <a:t>[6] Sasol</a:t>
            </a:r>
          </a:p>
        </p:txBody>
      </p:sp>
      <p:sp>
        <p:nvSpPr>
          <p:cNvPr id="67" name="TextBox 66"/>
          <p:cNvSpPr txBox="1"/>
          <p:nvPr/>
        </p:nvSpPr>
        <p:spPr>
          <a:xfrm>
            <a:off x="5833872"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9"/>
              </a:rPr>
              <a:t>[7] Transnet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Compare published storage capacity by location</a:t>
            </a:r>
          </a:p>
        </p:txBody>
      </p:sp>
      <p:sp>
        <p:nvSpPr>
          <p:cNvPr id="3" name="Slide Number Placeholder"/>
          <p:cNvSpPr>
            <a:spLocks noGrp="1"/>
          </p:cNvSpPr>
          <p:nvPr>
            <p:ph type="sldNum" sz="quarter" idx="12"/>
          </p:nvPr>
        </p:nvSpPr>
        <p:spPr/>
        <p:txBody>
          <a:bodyPr/>
          <a:lstStyle/>
          <a:p>
            <a:fld id="{8DBA16F5-661B-46AA-A7A5-EF2B5CC119DD}"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Vopak; Bidvest; VTTI Burgan Cape; Transnet lease RFPs (5 Oct 2026), pp. 2-3. Checked 6 Oct 2026.</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Published storage by location | thousand m³; mixed capacity bases</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57200" y="2176272"/>
            <a:ext cx="6446520" cy="24688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One shared scale for every location</a:t>
            </a:r>
          </a:p>
        </p:txBody>
      </p:sp>
      <p:cxnSp>
        <p:nvCxnSpPr>
          <p:cNvPr id="23" name="Connector 22"/>
          <p:cNvCxnSpPr/>
          <p:nvPr/>
        </p:nvCxnSpPr>
        <p:spPr>
          <a:xfrm>
            <a:off x="2029968"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892808"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a:t>
            </a:r>
          </a:p>
        </p:txBody>
      </p:sp>
      <p:cxnSp>
        <p:nvCxnSpPr>
          <p:cNvPr id="25" name="Connector 24"/>
          <p:cNvCxnSpPr/>
          <p:nvPr/>
        </p:nvCxnSpPr>
        <p:spPr>
          <a:xfrm>
            <a:off x="3026126"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888966"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200</a:t>
            </a:r>
          </a:p>
        </p:txBody>
      </p:sp>
      <p:cxnSp>
        <p:nvCxnSpPr>
          <p:cNvPr id="27" name="Connector 26"/>
          <p:cNvCxnSpPr/>
          <p:nvPr/>
        </p:nvCxnSpPr>
        <p:spPr>
          <a:xfrm>
            <a:off x="4022284"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885124"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400</a:t>
            </a:r>
          </a:p>
        </p:txBody>
      </p:sp>
      <p:cxnSp>
        <p:nvCxnSpPr>
          <p:cNvPr id="29" name="Connector 28"/>
          <p:cNvCxnSpPr/>
          <p:nvPr/>
        </p:nvCxnSpPr>
        <p:spPr>
          <a:xfrm>
            <a:off x="5018442"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881282"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600</a:t>
            </a:r>
          </a:p>
        </p:txBody>
      </p:sp>
      <p:cxnSp>
        <p:nvCxnSpPr>
          <p:cNvPr id="31" name="Connector 30"/>
          <p:cNvCxnSpPr/>
          <p:nvPr/>
        </p:nvCxnSpPr>
        <p:spPr>
          <a:xfrm>
            <a:off x="6014600"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877440"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800</a:t>
            </a:r>
          </a:p>
        </p:txBody>
      </p:sp>
      <p:sp>
        <p:nvSpPr>
          <p:cNvPr id="33" name="Storage location label: Durban"/>
          <p:cNvSpPr txBox="1"/>
          <p:nvPr/>
        </p:nvSpPr>
        <p:spPr>
          <a:xfrm>
            <a:off x="457200" y="2779776"/>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Durban</a:t>
            </a:r>
          </a:p>
        </p:txBody>
      </p:sp>
      <p:sp>
        <p:nvSpPr>
          <p:cNvPr id="34" name="Published gross capacity: Vopak Durban: 360246.0 m3; shared scale"/>
          <p:cNvSpPr/>
          <p:nvPr/>
        </p:nvSpPr>
        <p:spPr>
          <a:xfrm>
            <a:off x="2029968" y="2788920"/>
            <a:ext cx="1794309"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ublished gross capacity: Bidvest Tank Terminals Durban: 439306.0 m3; shared scale"/>
          <p:cNvSpPr/>
          <p:nvPr/>
        </p:nvSpPr>
        <p:spPr>
          <a:xfrm>
            <a:off x="3824277" y="2788920"/>
            <a:ext cx="218809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Storage value label: Durban"/>
          <p:cNvSpPr txBox="1"/>
          <p:nvPr/>
        </p:nvSpPr>
        <p:spPr>
          <a:xfrm>
            <a:off x="6094665" y="2779776"/>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799.55</a:t>
            </a:r>
          </a:p>
        </p:txBody>
      </p:sp>
      <p:sp>
        <p:nvSpPr>
          <p:cNvPr id="37" name="Storage location label: Richards Bay"/>
          <p:cNvSpPr txBox="1"/>
          <p:nvPr/>
        </p:nvSpPr>
        <p:spPr>
          <a:xfrm>
            <a:off x="457200" y="3127248"/>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Richards Bay</a:t>
            </a:r>
          </a:p>
        </p:txBody>
      </p:sp>
      <p:sp>
        <p:nvSpPr>
          <p:cNvPr id="38" name="Published gross capacity: Bidvest Tank Terminals Richards Bay: 483797.0 m3; shared scale"/>
          <p:cNvSpPr/>
          <p:nvPr/>
        </p:nvSpPr>
        <p:spPr>
          <a:xfrm>
            <a:off x="2029968" y="3136391"/>
            <a:ext cx="240969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Storage value label: Richards Bay"/>
          <p:cNvSpPr txBox="1"/>
          <p:nvPr/>
        </p:nvSpPr>
        <p:spPr>
          <a:xfrm>
            <a:off x="4521955" y="3127248"/>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483.80</a:t>
            </a:r>
          </a:p>
        </p:txBody>
      </p:sp>
      <p:sp>
        <p:nvSpPr>
          <p:cNvPr id="40" name="Storage location label: Lesedi"/>
          <p:cNvSpPr txBox="1"/>
          <p:nvPr/>
        </p:nvSpPr>
        <p:spPr>
          <a:xfrm>
            <a:off x="457200" y="3474720"/>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Lesedi</a:t>
            </a:r>
          </a:p>
        </p:txBody>
      </p:sp>
      <p:sp>
        <p:nvSpPr>
          <p:cNvPr id="41" name="Published gross capacity: Vopak Lesedi: 140000.0 m3; shared scale"/>
          <p:cNvSpPr/>
          <p:nvPr/>
        </p:nvSpPr>
        <p:spPr>
          <a:xfrm>
            <a:off x="2029968" y="3483863"/>
            <a:ext cx="69731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Storage value label: Lesedi"/>
          <p:cNvSpPr txBox="1"/>
          <p:nvPr/>
        </p:nvSpPr>
        <p:spPr>
          <a:xfrm>
            <a:off x="2809574" y="3474720"/>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140.00</a:t>
            </a:r>
          </a:p>
        </p:txBody>
      </p:sp>
      <p:sp>
        <p:nvSpPr>
          <p:cNvPr id="43" name="Storage location label: Cape Town"/>
          <p:cNvSpPr txBox="1"/>
          <p:nvPr/>
        </p:nvSpPr>
        <p:spPr>
          <a:xfrm>
            <a:off x="457200" y="3822191"/>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Cape Town</a:t>
            </a:r>
          </a:p>
        </p:txBody>
      </p:sp>
      <p:sp>
        <p:nvSpPr>
          <p:cNvPr id="44" name="Published gross capacity: VTTI Burgan Cape Terminal Cape Town: 122000.0 m3; shared scale"/>
          <p:cNvSpPr/>
          <p:nvPr/>
        </p:nvSpPr>
        <p:spPr>
          <a:xfrm>
            <a:off x="2029968" y="3831335"/>
            <a:ext cx="607656" cy="246888"/>
          </a:xfrm>
          <a:prstGeom prst="rect">
            <a:avLst/>
          </a:prstGeom>
          <a:solidFill>
            <a:srgbClr val="BAC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Storage value label: Cape Town"/>
          <p:cNvSpPr txBox="1"/>
          <p:nvPr/>
        </p:nvSpPr>
        <p:spPr>
          <a:xfrm>
            <a:off x="2719920" y="3822191"/>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122.00</a:t>
            </a:r>
          </a:p>
        </p:txBody>
      </p:sp>
      <p:sp>
        <p:nvSpPr>
          <p:cNvPr id="46" name="Storage location label: Isando"/>
          <p:cNvSpPr txBox="1"/>
          <p:nvPr/>
        </p:nvSpPr>
        <p:spPr>
          <a:xfrm>
            <a:off x="457200" y="4169664"/>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Isando</a:t>
            </a:r>
          </a:p>
        </p:txBody>
      </p:sp>
      <p:sp>
        <p:nvSpPr>
          <p:cNvPr id="47" name="Published gross capacity: Bidvest Tank Terminals Isando: 32500.0 m3; shared scale"/>
          <p:cNvSpPr/>
          <p:nvPr/>
        </p:nvSpPr>
        <p:spPr>
          <a:xfrm>
            <a:off x="2029968" y="4178808"/>
            <a:ext cx="161875"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Storage value label: Isando"/>
          <p:cNvSpPr txBox="1"/>
          <p:nvPr/>
        </p:nvSpPr>
        <p:spPr>
          <a:xfrm>
            <a:off x="2274139" y="4169664"/>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32.50</a:t>
            </a:r>
          </a:p>
        </p:txBody>
      </p:sp>
      <p:sp>
        <p:nvSpPr>
          <p:cNvPr id="49" name="Storage location label: Ladysmith"/>
          <p:cNvSpPr txBox="1"/>
          <p:nvPr/>
        </p:nvSpPr>
        <p:spPr>
          <a:xfrm>
            <a:off x="457200" y="4517136"/>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Ladysmith*</a:t>
            </a:r>
          </a:p>
        </p:txBody>
      </p:sp>
      <p:sp>
        <p:nvSpPr>
          <p:cNvPr id="50" name="Lease offer capacity: Transnet Pipelines Ladysmith: 8540.0 m3; shared scale"/>
          <p:cNvSpPr/>
          <p:nvPr/>
        </p:nvSpPr>
        <p:spPr>
          <a:xfrm>
            <a:off x="2029968" y="4526279"/>
            <a:ext cx="42535"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Storage value label: Ladysmith"/>
          <p:cNvSpPr txBox="1"/>
          <p:nvPr/>
        </p:nvSpPr>
        <p:spPr>
          <a:xfrm>
            <a:off x="2154799" y="4517136"/>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8.54</a:t>
            </a:r>
          </a:p>
        </p:txBody>
      </p:sp>
      <p:sp>
        <p:nvSpPr>
          <p:cNvPr id="52" name="Storage location label: Kroonstad"/>
          <p:cNvSpPr txBox="1"/>
          <p:nvPr/>
        </p:nvSpPr>
        <p:spPr>
          <a:xfrm>
            <a:off x="457200" y="4864608"/>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Kroonstad</a:t>
            </a:r>
          </a:p>
        </p:txBody>
      </p:sp>
      <p:sp>
        <p:nvSpPr>
          <p:cNvPr id="53" name="Lease offer capacity: Transnet Pipelines Kroonstad: 3300.0 m3; shared scale"/>
          <p:cNvSpPr/>
          <p:nvPr/>
        </p:nvSpPr>
        <p:spPr>
          <a:xfrm>
            <a:off x="2029968" y="4873752"/>
            <a:ext cx="16436"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Storage value label: Kroonstad"/>
          <p:cNvSpPr txBox="1"/>
          <p:nvPr/>
        </p:nvSpPr>
        <p:spPr>
          <a:xfrm>
            <a:off x="2128700" y="4864608"/>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3.30</a:t>
            </a:r>
          </a:p>
        </p:txBody>
      </p:sp>
      <p:sp>
        <p:nvSpPr>
          <p:cNvPr id="55" name="Storage location label: Standerton"/>
          <p:cNvSpPr txBox="1"/>
          <p:nvPr/>
        </p:nvSpPr>
        <p:spPr>
          <a:xfrm>
            <a:off x="457200" y="5212080"/>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Standerton</a:t>
            </a:r>
          </a:p>
        </p:txBody>
      </p:sp>
      <p:sp>
        <p:nvSpPr>
          <p:cNvPr id="56" name="Lease offer capacity: Transnet Pipelines Standerton: 2353.0 m3; shared scale"/>
          <p:cNvSpPr/>
          <p:nvPr/>
        </p:nvSpPr>
        <p:spPr>
          <a:xfrm>
            <a:off x="2029968" y="5221224"/>
            <a:ext cx="11719"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Storage value label: Standerton"/>
          <p:cNvSpPr txBox="1"/>
          <p:nvPr/>
        </p:nvSpPr>
        <p:spPr>
          <a:xfrm>
            <a:off x="2123983" y="5212080"/>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2.35</a:t>
            </a:r>
          </a:p>
        </p:txBody>
      </p:sp>
      <p:sp>
        <p:nvSpPr>
          <p:cNvPr id="58" name="Rectangle 57"/>
          <p:cNvSpPr/>
          <p:nvPr/>
        </p:nvSpPr>
        <p:spPr>
          <a:xfrm>
            <a:off x="457200" y="5660136"/>
            <a:ext cx="118872" cy="11887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093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Vopak</a:t>
            </a:r>
          </a:p>
        </p:txBody>
      </p:sp>
      <p:sp>
        <p:nvSpPr>
          <p:cNvPr id="60" name="Rectangle 59"/>
          <p:cNvSpPr/>
          <p:nvPr/>
        </p:nvSpPr>
        <p:spPr>
          <a:xfrm>
            <a:off x="1828800" y="5660136"/>
            <a:ext cx="118872" cy="118872"/>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00253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Bidvest</a:t>
            </a:r>
          </a:p>
        </p:txBody>
      </p:sp>
      <p:sp>
        <p:nvSpPr>
          <p:cNvPr id="62" name="Rectangle 61"/>
          <p:cNvSpPr/>
          <p:nvPr/>
        </p:nvSpPr>
        <p:spPr>
          <a:xfrm>
            <a:off x="3182112" y="5660136"/>
            <a:ext cx="118872" cy="118872"/>
          </a:xfrm>
          <a:prstGeom prst="rect">
            <a:avLst/>
          </a:prstGeom>
          <a:solidFill>
            <a:srgbClr val="BAC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55848"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Burgan Cape</a:t>
            </a:r>
          </a:p>
        </p:txBody>
      </p:sp>
      <p:sp>
        <p:nvSpPr>
          <p:cNvPr id="64" name="Rectangle 63"/>
          <p:cNvSpPr/>
          <p:nvPr/>
        </p:nvSpPr>
        <p:spPr>
          <a:xfrm>
            <a:off x="4892040" y="5660136"/>
            <a:ext cx="118872" cy="118872"/>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06577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Transnet (lease)</a:t>
            </a:r>
          </a:p>
        </p:txBody>
      </p:sp>
      <p:sp>
        <p:nvSpPr>
          <p:cNvPr id="66" name="TextBox 65"/>
          <p:cNvSpPr txBox="1"/>
          <p:nvPr/>
        </p:nvSpPr>
        <p:spPr>
          <a:xfrm>
            <a:off x="457200" y="5971032"/>
            <a:ext cx="6446520" cy="27432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Small lease bars reflect smaller tank volumes; they are not operating supply.</a:t>
            </a:r>
          </a:p>
        </p:txBody>
      </p:sp>
      <p:sp>
        <p:nvSpPr>
          <p:cNvPr id="67" name="TextBox 66"/>
          <p:cNvSpPr txBox="1"/>
          <p:nvPr/>
        </p:nvSpPr>
        <p:spPr>
          <a:xfrm>
            <a:off x="457200" y="6318504"/>
            <a:ext cx="644652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*Ladysmith excludes 0.474 intermixture. Unquantified: Bethlehem, Magdala, Sasol, Tarlton, Jameson Park.</a:t>
            </a:r>
          </a:p>
        </p:txBody>
      </p:sp>
      <p:sp>
        <p:nvSpPr>
          <p:cNvPr id="68" name="TextBox 67"/>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Evidence and implications</a:t>
            </a:r>
          </a:p>
        </p:txBody>
      </p:sp>
      <p:sp>
        <p:nvSpPr>
          <p:cNvPr id="69" name="TextBox 68"/>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Capacity is a stock</a:t>
            </a:r>
          </a:p>
        </p:txBody>
      </p:sp>
      <p:sp>
        <p:nvSpPr>
          <p:cNvPr id="70" name="TextBox 69"/>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Published tank volumes are not annual fuel deliveries or market share.</a:t>
            </a:r>
          </a:p>
        </p:txBody>
      </p:sp>
      <p:sp>
        <p:nvSpPr>
          <p:cNvPr id="71" name="TextBox 70"/>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The inventory is partial</a:t>
            </a:r>
          </a:p>
        </p:txBody>
      </p:sp>
      <p:sp>
        <p:nvSpPr>
          <p:cNvPr id="72" name="TextBox 71"/>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Missing capacities are unknown, rather than zero; mixed product scopes limit comparison.</a:t>
            </a:r>
          </a:p>
        </p:txBody>
      </p:sp>
      <p:sp>
        <p:nvSpPr>
          <p:cNvPr id="73" name="TextBox 72"/>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Leases are conditional</a:t>
            </a:r>
          </a:p>
        </p:txBody>
      </p:sp>
      <p:sp>
        <p:nvSpPr>
          <p:cNvPr id="74" name="TextBox 73"/>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Transnet lease tanks are not counted as currently available operating supply.</a:t>
            </a:r>
          </a:p>
        </p:txBody>
      </p:sp>
      <p:cxnSp>
        <p:nvCxnSpPr>
          <p:cNvPr id="75" name="Connector 7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Next steps | proposed owners</a:t>
            </a:r>
          </a:p>
        </p:txBody>
      </p:sp>
      <p:sp>
        <p:nvSpPr>
          <p:cNvPr id="77" name="TextBox 76"/>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verify product compatibility, capacity basis and operating status. Nigel: confirm usable client capacity.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Resolve the SA fuel outlook, then test Vopak’s accessible market</a:t>
            </a:r>
          </a:p>
        </p:txBody>
      </p:sp>
      <p:sp>
        <p:nvSpPr>
          <p:cNvPr id="3" name="Slide Number Placeholder"/>
          <p:cNvSpPr>
            <a:spLocks noGrp="1"/>
          </p:cNvSpPr>
          <p:nvPr>
            <p:ph type="sldNum" sz="quarter" idx="12"/>
          </p:nvPr>
        </p:nvSpPr>
        <p:spPr/>
        <p:txBody>
          <a:bodyPr/>
          <a:lstStyle/>
          <a:p>
            <a:fld id="{F2607165-F2F2-4F1E-BBD2-812C465CFACA}" type="slidenum">
              <a:rPr lang="en-US"/>
              <a:t>‹#›</a:t>
            </a:fld>
          </a:p>
        </p:txBody>
      </p:sp>
      <p:sp>
        <p:nvSpPr>
          <p:cNvPr id="4" name="Section navigation 1">
            <a:hlinkClick action="ppaction://hlinksldjump" r:id="rId16"/>
          </p:cNvPr>
          <p:cNvSpPr/>
          <p:nvPr/>
        </p:nvSpPr>
        <p:spPr>
          <a:xfrm>
            <a:off x="457200"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1  SCR overview</a:t>
            </a:r>
          </a:p>
        </p:txBody>
      </p:sp>
      <p:sp>
        <p:nvSpPr>
          <p:cNvPr id="5" name="Section navigation 2">
            <a:hlinkClick action="ppaction://hlinksldjump" r:id="rId3"/>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7"/>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11"/>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Partner SA storyboard pp.30-32; repository evidence and diagnostics, 6 Oct 2026. All gaps remain open.</a:t>
            </a:r>
          </a:p>
        </p:txBody>
      </p:sp>
      <p:sp>
        <p:nvSpPr>
          <p:cNvPr id="42" name="TextBox 41"/>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rPr sz="1400" b="1">
                <a:latin typeface="Lato"/>
              </a:rPr>
              <a:t>Situation → Complication → Resolution | evidence, actions and delivery roadmap</a:t>
            </a:r>
          </a:p>
        </p:txBody>
      </p:sp>
      <p:graphicFrame>
        <p:nvGraphicFramePr>
          <p:cNvPr id="43" name="SCR master roadmap | native PowerPoint table"/>
          <p:cNvGraphicFramePr>
            <a:graphicFrameLocks noGrp="1"/>
          </p:cNvGraphicFramePr>
          <p:nvPr/>
        </p:nvGraphicFramePr>
        <p:xfrm>
          <a:off x="457200" y="2029968"/>
          <a:ext cx="10652760" cy="4039815"/>
        </p:xfrm>
        <a:graphic>
          <a:graphicData uri="http://schemas.openxmlformats.org/drawingml/2006/table">
            <a:tbl>
              <a:tblPr firstRow="1" bandRow="1">
                <a:tableStyleId>{2D5ABB26-0587-4C30-8999-92F81FD0307C}</a:tableStyleId>
              </a:tblPr>
              <a:tblGrid>
                <a:gridCol w="932688"/>
                <a:gridCol w="4599432"/>
                <a:gridCol w="1508760"/>
                <a:gridCol w="2487168"/>
                <a:gridCol w="1124712"/>
              </a:tblGrid>
              <a:tr h="365760">
                <a:tc>
                  <a:txBody>
                    <a:bodyPr/>
                    <a:lstStyle/>
                    <a:p>
                      <a:pPr>
                        <a:spcAft>
                          <a:spcPts val="0"/>
                        </a:spcAft>
                        <a:defRPr sz="1000" b="1">
                          <a:solidFill>
                            <a:srgbClr val="0A2373"/>
                          </a:solidFill>
                          <a:latin typeface="Lato"/>
                        </a:defRPr>
                      </a:pPr>
                      <a:r>
                        <a:t>SCR reference</a:t>
                      </a:r>
                    </a:p>
                  </a:txBody>
                  <a:tcPr marL="45720" marR="45720" marT="50292"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Evidence and required next step</a:t>
                      </a:r>
                    </a:p>
                  </a:txBody>
                  <a:tcPr marL="45720" marR="45720" marT="50292" marB="18288" anchor="t">
                    <a:lnB w="7620" cap="flat">
                      <a:solidFill>
                        <a:srgbClr val="EEEEEE"/>
                      </a:solidFill>
                    </a:lnB>
                    <a:solidFill>
                      <a:srgbClr val="FFFFFF"/>
                    </a:solidFill>
                  </a:tcPr>
                </a:tc>
                <a:tc>
                  <a:txBody>
                    <a:bodyPr/>
                    <a:lstStyle/>
                    <a:p>
                      <a:pPr>
                        <a:spcAft>
                          <a:spcPts val="0"/>
                        </a:spcAft>
                        <a:defRPr sz="1000" b="1">
                          <a:solidFill>
                            <a:srgbClr val="000000"/>
                          </a:solidFill>
                          <a:latin typeface="Lato"/>
                        </a:defRPr>
                      </a:pPr>
                      <a:r>
                        <a:t>Proposed lead</a:t>
                      </a:r>
                    </a:p>
                  </a:txBody>
                  <a:tcPr marL="45720" marR="45720" marT="50292"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Timing and output</a:t>
                      </a:r>
                    </a:p>
                  </a:txBody>
                  <a:tcPr marL="45720" marR="45720" marT="50292" marB="18288" anchor="t">
                    <a:lnB w="7620" cap="flat">
                      <a:solidFill>
                        <a:srgbClr val="EEEEEE"/>
                      </a:solidFill>
                    </a:lnB>
                    <a:solidFill>
                      <a:srgbClr val="FFFFFF"/>
                    </a:solidFill>
                  </a:tcPr>
                </a:tc>
                <a:tc>
                  <a:txBody>
                    <a:bodyPr/>
                    <a:lstStyle/>
                    <a:p>
                      <a:pPr>
                        <a:spcAft>
                          <a:spcPts val="0"/>
                        </a:spcAft>
                        <a:defRPr sz="1000" b="1">
                          <a:solidFill>
                            <a:srgbClr val="0A2373"/>
                          </a:solidFill>
                          <a:latin typeface="Lato"/>
                        </a:defRPr>
                      </a:pPr>
                      <a:r>
                        <a:t>Deep dives</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S1</a:t>
                      </a:r>
                    </a:p>
                    <a:p>
                      <a:pPr>
                        <a:spcAft>
                          <a:spcPts val="0"/>
                        </a:spcAft>
                        <a:defRPr sz="1000" b="1">
                          <a:solidFill>
                            <a:srgbClr val="0A2373"/>
                          </a:solidFill>
                          <a:latin typeface="Lato"/>
                        </a:defRPr>
                      </a:pPr>
                      <a:r>
                        <a:t>Situation</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Demand baseline and regional market</a:t>
                      </a:r>
                    </a:p>
                    <a:p>
                      <a:pPr>
                        <a:spcAft>
                          <a:spcPts val="0"/>
                        </a:spcAft>
                        <a:defRPr sz="1050" b="0">
                          <a:solidFill>
                            <a:srgbClr val="000000"/>
                          </a:solidFill>
                          <a:latin typeface="Lato"/>
                        </a:defRPr>
                      </a:pPr>
                      <a:r>
                        <a:t>Have: provincial sales history and map. Reconcile six flagged years; refresh a complete year.</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review</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W1–W2</a:t>
                      </a:r>
                    </a:p>
                    <a:p>
                      <a:pPr>
                        <a:spcAft>
                          <a:spcPts val="0"/>
                        </a:spcAft>
                        <a:defRPr sz="1050" b="0">
                          <a:solidFill>
                            <a:srgbClr val="000000"/>
                          </a:solidFill>
                          <a:latin typeface="Lato"/>
                        </a:defRPr>
                      </a:pPr>
                      <a:r>
                        <a:t>Sourced demand baseline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3" action="ppaction://hlinksldjump"/>
                        </a:rPr>
                        <a:t>3</a:t>
                      </a:r>
                      <a:r>
                        <a:rPr sz="1100">
                          <a:solidFill>
                            <a:srgbClr val="0A2373"/>
                          </a:solidFill>
                          <a:latin typeface="Lato"/>
                          <a:hlinkClick r:id="rId4" action="ppaction://hlinksldjump"/>
                        </a:rPr>
                        <a:t> / 4</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S2</a:t>
                      </a:r>
                    </a:p>
                    <a:p>
                      <a:pPr>
                        <a:spcAft>
                          <a:spcPts val="0"/>
                        </a:spcAft>
                        <a:defRPr sz="1000" b="1">
                          <a:solidFill>
                            <a:srgbClr val="0A2373"/>
                          </a:solidFill>
                          <a:latin typeface="Lato"/>
                        </a:defRPr>
                      </a:pPr>
                      <a:r>
                        <a:t>Situation</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Domestic supply, finished imports and entry ports</a:t>
                      </a:r>
                    </a:p>
                    <a:p>
                      <a:pPr>
                        <a:spcAft>
                          <a:spcPts val="0"/>
                        </a:spcAft>
                        <a:defRPr sz="1050" b="0">
                          <a:solidFill>
                            <a:srgbClr val="000000"/>
                          </a:solidFill>
                          <a:latin typeface="Lato"/>
                        </a:defRPr>
                      </a:pPr>
                      <a:r>
                        <a:t>Have: 2024 sales/trade; diesel imports conflict. Gap: matched output/stocks and product-specific port allocation.</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access</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W1–W3</a:t>
                      </a:r>
                    </a:p>
                    <a:p>
                      <a:pPr>
                        <a:spcAft>
                          <a:spcPts val="0"/>
                        </a:spcAft>
                        <a:defRPr sz="1050" b="0">
                          <a:solidFill>
                            <a:srgbClr val="000000"/>
                          </a:solidFill>
                          <a:latin typeface="Lato"/>
                        </a:defRPr>
                      </a:pPr>
                      <a:r>
                        <a:t>Fuel balance + port bridge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5" action="ppaction://hlinksldjump"/>
                        </a:rPr>
                        <a:t>5</a:t>
                      </a:r>
                      <a:r>
                        <a:rPr sz="1100">
                          <a:solidFill>
                            <a:srgbClr val="0A2373"/>
                          </a:solidFill>
                          <a:latin typeface="Lato"/>
                          <a:hlinkClick r:id="rId6" action="ppaction://hlinksldjump"/>
                        </a:rPr>
                        <a:t> / 6</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C1</a:t>
                      </a:r>
                    </a:p>
                    <a:p>
                      <a:pPr>
                        <a:spcAft>
                          <a:spcPts val="0"/>
                        </a:spcAft>
                        <a:defRPr sz="1000" b="1">
                          <a:solidFill>
                            <a:srgbClr val="0A2373"/>
                          </a:solidFill>
                          <a:latin typeface="Lato"/>
                        </a:defRPr>
                      </a:pPr>
                      <a:r>
                        <a:t>Complication</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Demand drivers and levers</a:t>
                      </a:r>
                    </a:p>
                    <a:p>
                      <a:pPr>
                        <a:spcAft>
                          <a:spcPts val="0"/>
                        </a:spcAft>
                        <a:defRPr sz="1050" b="0">
                          <a:solidFill>
                            <a:srgbClr val="000000"/>
                          </a:solidFill>
                          <a:latin typeface="Lato"/>
                        </a:defRPr>
                      </a:pPr>
                      <a:r>
                        <a:t>Have: indexed passenger/freight stocks, agriculture/industry, power and road/rail. Source ICE splits and intensities; calibrate litres effects.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review</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 define; W2–W4 test</a:t>
                      </a:r>
                    </a:p>
                    <a:p>
                      <a:pPr>
                        <a:spcAft>
                          <a:spcPts val="0"/>
                        </a:spcAft>
                        <a:defRPr sz="1050" b="0">
                          <a:solidFill>
                            <a:srgbClr val="000000"/>
                          </a:solidFill>
                          <a:latin typeface="Lato"/>
                        </a:defRPr>
                      </a:pPr>
                      <a:r>
                        <a:t>Lever-to-demand bridge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7" action="ppaction://hlinksldjump"/>
                        </a:rPr>
                        <a:t>7</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C2</a:t>
                      </a:r>
                    </a:p>
                    <a:p>
                      <a:pPr>
                        <a:spcAft>
                          <a:spcPts val="0"/>
                        </a:spcAft>
                        <a:defRPr sz="1000" b="1">
                          <a:solidFill>
                            <a:srgbClr val="0A2373"/>
                          </a:solidFill>
                          <a:latin typeface="Lato"/>
                        </a:defRPr>
                      </a:pPr>
                      <a:r>
                        <a:t>Complication</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Refinery and plant scenarios</a:t>
                      </a:r>
                    </a:p>
                    <a:p>
                      <a:pPr>
                        <a:spcAft>
                          <a:spcPts val="0"/>
                        </a:spcAft>
                        <a:defRPr sz="1050" b="0">
                          <a:solidFill>
                            <a:srgbClr val="000000"/>
                          </a:solidFill>
                          <a:latin typeface="Lato"/>
                        </a:defRPr>
                      </a:pPr>
                      <a:r>
                        <a:t>Have: published capacity history and conditional CEF case. Agree timing/yields; resolve repeated keys and plant mechanisms.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Henry / Nigel</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W1–W3</a:t>
                      </a:r>
                    </a:p>
                    <a:p>
                      <a:pPr>
                        <a:spcAft>
                          <a:spcPts val="0"/>
                        </a:spcAft>
                        <a:defRPr sz="1050" b="0">
                          <a:solidFill>
                            <a:srgbClr val="000000"/>
                          </a:solidFill>
                          <a:latin typeface="Lato"/>
                        </a:defRPr>
                      </a:pPr>
                      <a:r>
                        <a:t>Plant output + imports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8" action="ppaction://hlinksldjump"/>
                        </a:rPr>
                        <a:t>8</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C3</a:t>
                      </a:r>
                    </a:p>
                    <a:p>
                      <a:pPr>
                        <a:spcAft>
                          <a:spcPts val="0"/>
                        </a:spcAft>
                        <a:defRPr sz="1000" b="1">
                          <a:solidFill>
                            <a:srgbClr val="0A2373"/>
                          </a:solidFill>
                          <a:latin typeface="Lato"/>
                        </a:defRPr>
                      </a:pPr>
                      <a:r>
                        <a:t>Complication</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Economic accessibility and competing routes</a:t>
                      </a:r>
                    </a:p>
                    <a:p>
                      <a:pPr>
                        <a:spcAft>
                          <a:spcPts val="0"/>
                        </a:spcAft>
                        <a:defRPr sz="1050" b="0">
                          <a:solidFill>
                            <a:srgbClr val="000000"/>
                          </a:solidFill>
                          <a:latin typeface="Lato"/>
                        </a:defRPr>
                      </a:pPr>
                      <a:r>
                        <a:t>Cost map is illustrative. Compare Durban–NMPP–Lesedi, road/rail, Matola and Walvis Bay for the same product and destination.</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 Henry</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 scope; W2–W4 test</a:t>
                      </a:r>
                    </a:p>
                    <a:p>
                      <a:pPr>
                        <a:spcAft>
                          <a:spcPts val="0"/>
                        </a:spcAft>
                        <a:defRPr sz="1050" b="0">
                          <a:solidFill>
                            <a:srgbClr val="000000"/>
                          </a:solidFill>
                          <a:latin typeface="Lato"/>
                        </a:defRPr>
                      </a:pPr>
                      <a:r>
                        <a:t>Delivered R/litre + access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9" action="ppaction://hlinksldjump"/>
                        </a:rPr>
                        <a:t>9</a:t>
                      </a:r>
                      <a:r>
                        <a:rPr sz="1100">
                          <a:solidFill>
                            <a:srgbClr val="0A2373"/>
                          </a:solidFill>
                          <a:latin typeface="Lato"/>
                          <a:hlinkClick r:id="rId10" action="ppaction://hlinksldjump"/>
                        </a:rPr>
                        <a:t> / 10</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R1</a:t>
                      </a:r>
                    </a:p>
                    <a:p>
                      <a:pPr>
                        <a:spcAft>
                          <a:spcPts val="0"/>
                        </a:spcAft>
                        <a:defRPr sz="1000" b="1">
                          <a:solidFill>
                            <a:srgbClr val="0A2373"/>
                          </a:solidFill>
                          <a:latin typeface="Lato"/>
                        </a:defRPr>
                      </a:pPr>
                      <a:r>
                        <a:t>Resolution</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Actual Vopak share and contestable customer demand</a:t>
                      </a:r>
                    </a:p>
                    <a:p>
                      <a:pPr>
                        <a:spcAft>
                          <a:spcPts val="0"/>
                        </a:spcAft>
                        <a:defRPr sz="1050" b="0">
                          <a:solidFill>
                            <a:srgbClr val="000000"/>
                          </a:solidFill>
                          <a:latin typeface="Lato"/>
                        </a:defRPr>
                      </a:pPr>
                      <a:r>
                        <a:t>Share is unknown. Test each candidate increment against cost, physical capacity, commercial rights and unique deliveries.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Nigel client data</a:t>
                      </a:r>
                    </a:p>
                    <a:p>
                      <a:pPr>
                        <a:spcAft>
                          <a:spcPts val="0"/>
                        </a:spcAft>
                        <a:defRPr sz="1000" b="0">
                          <a:solidFill>
                            <a:srgbClr val="000000"/>
                          </a:solidFill>
                          <a:latin typeface="Lato"/>
                        </a:defRPr>
                      </a:pPr>
                      <a:r>
                        <a:t>Manish analysis</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 request; W2–W4 test</a:t>
                      </a:r>
                    </a:p>
                    <a:p>
                      <a:pPr>
                        <a:spcAft>
                          <a:spcPts val="0"/>
                        </a:spcAft>
                        <a:defRPr sz="1050" b="0">
                          <a:solidFill>
                            <a:srgbClr val="000000"/>
                          </a:solidFill>
                          <a:latin typeface="Lato"/>
                        </a:defRPr>
                      </a:pPr>
                      <a:r>
                        <a:t>Served + contestable litres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11" action="ppaction://hlinksldjump"/>
                        </a:rPr>
                        <a:t>11</a:t>
                      </a:r>
                      <a:r>
                        <a:rPr sz="1100">
                          <a:solidFill>
                            <a:srgbClr val="0A2373"/>
                          </a:solidFill>
                          <a:latin typeface="Lato"/>
                          <a:hlinkClick r:id="rId12" action="ppaction://hlinksldjump"/>
                        </a:rPr>
                        <a:t> / 12</a:t>
                      </a:r>
                      <a:r>
                        <a:rPr sz="1100">
                          <a:solidFill>
                            <a:srgbClr val="0A2373"/>
                          </a:solidFill>
                          <a:latin typeface="Lato"/>
                          <a:hlinkClick r:id="rId13" action="ppaction://hlinksldjump"/>
                        </a:rPr>
                        <a:t> / 13</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R2</a:t>
                      </a:r>
                    </a:p>
                    <a:p>
                      <a:pPr>
                        <a:spcAft>
                          <a:spcPts val="0"/>
                        </a:spcAft>
                        <a:defRPr sz="1000" b="1">
                          <a:solidFill>
                            <a:srgbClr val="0A2373"/>
                          </a:solidFill>
                          <a:latin typeface="Lato"/>
                        </a:defRPr>
                      </a:pPr>
                      <a:r>
                        <a:t>Resolution</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Storage and optional investment</a:t>
                      </a:r>
                    </a:p>
                    <a:p>
                      <a:pPr>
                        <a:spcAft>
                          <a:spcPts val="0"/>
                        </a:spcAft>
                        <a:defRPr sz="1050" b="0">
                          <a:solidFill>
                            <a:srgbClr val="000000"/>
                          </a:solidFill>
                          <a:latin typeface="Lato"/>
                        </a:defRPr>
                      </a:pPr>
                      <a:r>
                        <a:t>Partial published stocks are available. Verify usable product capacity; size additional service needs only after the incremental flow case.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Nigel priority</a:t>
                      </a:r>
                    </a:p>
                    <a:p>
                      <a:pPr>
                        <a:spcAft>
                          <a:spcPts val="0"/>
                        </a:spcAft>
                        <a:defRPr sz="1000" b="0">
                          <a:solidFill>
                            <a:srgbClr val="000000"/>
                          </a:solidFill>
                          <a:latin typeface="Lato"/>
                        </a:defRPr>
                      </a:pPr>
                      <a:r>
                        <a:t>Manish / Henry</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W4–W6 if prioritised</a:t>
                      </a:r>
                    </a:p>
                    <a:p>
                      <a:pPr>
                        <a:spcAft>
                          <a:spcPts val="0"/>
                        </a:spcAft>
                        <a:defRPr sz="1050" b="0">
                          <a:solidFill>
                            <a:srgbClr val="000000"/>
                          </a:solidFill>
                          <a:latin typeface="Lato"/>
                        </a:defRPr>
                      </a:pPr>
                      <a:r>
                        <a:t>Flow-to-stock / investment</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14" action="ppaction://hlinksldjump"/>
                        </a:rPr>
                        <a:t>14</a:t>
                      </a:r>
                      <a:r>
                        <a:rPr sz="1100">
                          <a:solidFill>
                            <a:srgbClr val="0A2373"/>
                          </a:solidFill>
                          <a:latin typeface="Lato"/>
                          <a:hlinkClick r:id="rId15" action="ppaction://hlinksldjump"/>
                        </a:rPr>
                        <a:t> / 15</a:t>
                      </a:r>
                    </a:p>
                  </a:txBody>
                  <a:tcPr marL="45720" marR="45720" marT="50292" marB="18288" anchor="t">
                    <a:lnB w="7620" cap="flat">
                      <a:solidFill>
                        <a:srgbClr val="EEEEEE"/>
                      </a:solidFill>
                    </a:lnB>
                    <a:solidFill>
                      <a:srgbClr val="FFFFFF"/>
                    </a:solidFill>
                  </a:tcPr>
                </a:tc>
              </a:tr>
            </a:tbl>
          </a:graphicData>
        </a:graphic>
      </p:graphicFrame>
      <p:sp>
        <p:nvSpPr>
          <p:cNvPr id="44" name="TextBox 43"/>
          <p:cNvSpPr txBox="1"/>
          <p:nvPr/>
        </p:nvSpPr>
        <p:spPr>
          <a:xfrm>
            <a:off x="457200" y="6263640"/>
            <a:ext cx="10652760" cy="22860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Petrol + diesel; jet separate. Owners and weeks are proposed. Open gaps and illustrations remain explicitly labelled.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Collect the national fuel balance and expose source disagreements</a:t>
            </a:r>
          </a:p>
        </p:txBody>
      </p:sp>
      <p:sp>
        <p:nvSpPr>
          <p:cNvPr id="3" name="Slide Number Placeholder"/>
          <p:cNvSpPr>
            <a:spLocks noGrp="1"/>
          </p:cNvSpPr>
          <p:nvPr>
            <p:ph type="sldNum" sz="quarter" idx="12"/>
          </p:nvPr>
        </p:nvSpPr>
        <p:spPr/>
        <p:txBody>
          <a:bodyPr/>
          <a:lstStyle/>
          <a:p>
            <a:fld id="{F7C59207-CD21-4F79-95A8-19D7A04AA268}"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Government Energy Trade Report 2024, printed pp.12–13; FIASA 2025, pp.47–49; energy balance 2021. Rounded trade figures.</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National petrol/diesel | 2024, billion litres</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57200" y="2176272"/>
            <a:ext cx="6446520" cy="292608"/>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COLLECTED | trade and sales; production/stock reconciliation remains open</a:t>
            </a:r>
          </a:p>
        </p:txBody>
      </p:sp>
      <p:graphicFrame>
        <p:nvGraphicFramePr>
          <p:cNvPr id="30" name="Table 29"/>
          <p:cNvGraphicFramePr>
            <a:graphicFrameLocks noGrp="1"/>
          </p:cNvGraphicFramePr>
          <p:nvPr/>
        </p:nvGraphicFramePr>
        <p:xfrm>
          <a:off x="457200" y="2660904"/>
          <a:ext cx="6446520" cy="1252728"/>
        </p:xfrm>
        <a:graphic>
          <a:graphicData uri="http://schemas.openxmlformats.org/drawingml/2006/table">
            <a:tbl>
              <a:tblPr firstRow="1" bandRow="1">
                <a:tableStyleId>{2D5ABB26-0587-4C30-8999-92F81FD0307C}</a:tableStyleId>
              </a:tblPr>
              <a:tblGrid>
                <a:gridCol w="1234440"/>
                <a:gridCol w="1280160"/>
                <a:gridCol w="1280160"/>
                <a:gridCol w="1280160"/>
                <a:gridCol w="1371600"/>
              </a:tblGrid>
              <a:tr h="313182">
                <a:tc>
                  <a:txBody>
                    <a:bodyPr/>
                    <a:lstStyle/>
                    <a:p>
                      <a:pPr>
                        <a:spcAft>
                          <a:spcPts val="0"/>
                        </a:spcAft>
                        <a:defRPr sz="1200" b="1">
                          <a:solidFill>
                            <a:srgbClr val="000000"/>
                          </a:solidFill>
                          <a:latin typeface="Lato"/>
                        </a:defRPr>
                      </a:pPr>
                      <a:r>
                        <a:t>Product</a:t>
                      </a:r>
                    </a:p>
                  </a:txBody>
                  <a:tcPr marL="50292" marR="50292" marT="41148" marB="41148" anchor="ctr">
                    <a:lnB w="6350" cap="flat">
                      <a:solidFill>
                        <a:srgbClr val="EEEEEE"/>
                      </a:solidFill>
                    </a:lnB>
                    <a:solidFill>
                      <a:srgbClr val="FFFFFF"/>
                    </a:solidFill>
                  </a:tcPr>
                </a:tc>
                <a:tc>
                  <a:txBody>
                    <a:bodyPr/>
                    <a:lstStyle/>
                    <a:p>
                      <a:pPr>
                        <a:spcAft>
                          <a:spcPts val="0"/>
                        </a:spcAft>
                        <a:defRPr sz="1200" b="1">
                          <a:solidFill>
                            <a:srgbClr val="000000"/>
                          </a:solidFill>
                          <a:latin typeface="Lato"/>
                        </a:defRPr>
                      </a:pPr>
                      <a:r>
                        <a:t>Reported</a:t>
                      </a:r>
                    </a:p>
                    <a:p>
                      <a:pPr>
                        <a:spcAft>
                          <a:spcPts val="0"/>
                        </a:spcAft>
                        <a:defRPr sz="1200" b="1">
                          <a:solidFill>
                            <a:srgbClr val="000000"/>
                          </a:solidFill>
                          <a:latin typeface="Lato"/>
                        </a:defRPr>
                      </a:pPr>
                      <a:r>
                        <a:t>sales</a:t>
                      </a:r>
                    </a:p>
                  </a:txBody>
                  <a:tcPr marL="50292" marR="50292" marT="41148" marB="41148" anchor="ctr">
                    <a:lnB w="6350" cap="flat">
                      <a:solidFill>
                        <a:srgbClr val="EEEEEE"/>
                      </a:solidFill>
                    </a:lnB>
                    <a:solidFill>
                      <a:srgbClr val="FFFFFF"/>
                    </a:solidFill>
                  </a:tcPr>
                </a:tc>
                <a:tc>
                  <a:txBody>
                    <a:bodyPr/>
                    <a:lstStyle/>
                    <a:p>
                      <a:pPr>
                        <a:spcAft>
                          <a:spcPts val="0"/>
                        </a:spcAft>
                        <a:defRPr sz="1200" b="1">
                          <a:solidFill>
                            <a:srgbClr val="000000"/>
                          </a:solidFill>
                          <a:latin typeface="Lato"/>
                        </a:defRPr>
                      </a:pPr>
                      <a:r>
                        <a:t>Imports</a:t>
                      </a:r>
                    </a:p>
                  </a:txBody>
                  <a:tcPr marL="50292" marR="50292" marT="41148" marB="41148" anchor="ctr">
                    <a:lnB w="6350" cap="flat">
                      <a:solidFill>
                        <a:srgbClr val="EEEEEE"/>
                      </a:solidFill>
                    </a:lnB>
                    <a:solidFill>
                      <a:srgbClr val="FFFFFF"/>
                    </a:solidFill>
                  </a:tcPr>
                </a:tc>
                <a:tc>
                  <a:txBody>
                    <a:bodyPr/>
                    <a:lstStyle/>
                    <a:p>
                      <a:pPr>
                        <a:spcAft>
                          <a:spcPts val="0"/>
                        </a:spcAft>
                        <a:defRPr sz="1200" b="1">
                          <a:solidFill>
                            <a:srgbClr val="000000"/>
                          </a:solidFill>
                          <a:latin typeface="Lato"/>
                        </a:defRPr>
                      </a:pPr>
                      <a:r>
                        <a:t>Exports</a:t>
                      </a:r>
                    </a:p>
                  </a:txBody>
                  <a:tcPr marL="50292" marR="50292" marT="41148" marB="41148" anchor="ctr">
                    <a:lnB w="6350" cap="flat">
                      <a:solidFill>
                        <a:srgbClr val="EEEEEE"/>
                      </a:solidFill>
                    </a:lnB>
                    <a:solidFill>
                      <a:srgbClr val="FFFFFF"/>
                    </a:solidFill>
                  </a:tcPr>
                </a:tc>
                <a:tc>
                  <a:txBody>
                    <a:bodyPr/>
                    <a:lstStyle/>
                    <a:p>
                      <a:pPr>
                        <a:spcAft>
                          <a:spcPts val="0"/>
                        </a:spcAft>
                        <a:defRPr sz="1200" b="1">
                          <a:solidFill>
                            <a:srgbClr val="000000"/>
                          </a:solidFill>
                          <a:latin typeface="Lato"/>
                        </a:defRPr>
                      </a:pPr>
                      <a:r>
                        <a:t>Net imports</a:t>
                      </a:r>
                    </a:p>
                  </a:txBody>
                  <a:tcPr marL="50292" marR="50292" marT="41148" marB="41148" anchor="ctr">
                    <a:lnB w="6350" cap="flat">
                      <a:solidFill>
                        <a:srgbClr val="EEEEEE"/>
                      </a:solidFill>
                    </a:lnB>
                    <a:solidFill>
                      <a:srgbClr val="FFFFFF"/>
                    </a:solidFill>
                  </a:tcPr>
                </a:tc>
              </a:tr>
              <a:tr h="313182">
                <a:tc>
                  <a:txBody>
                    <a:bodyPr/>
                    <a:lstStyle/>
                    <a:p>
                      <a:pPr>
                        <a:spcAft>
                          <a:spcPts val="0"/>
                        </a:spcAft>
                        <a:defRPr sz="1200" b="0">
                          <a:solidFill>
                            <a:srgbClr val="000000"/>
                          </a:solidFill>
                          <a:latin typeface="Lato"/>
                        </a:defRPr>
                      </a:pPr>
                      <a:r>
                        <a:t>Petrol</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9.029</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4.000</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0.920</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3.080</a:t>
                      </a:r>
                    </a:p>
                  </a:txBody>
                  <a:tcPr marL="50292" marR="50292" marT="41148" marB="41148" anchor="ctr">
                    <a:lnB w="6350" cap="flat">
                      <a:solidFill>
                        <a:srgbClr val="EEEEEE"/>
                      </a:solidFill>
                    </a:lnB>
                    <a:solidFill>
                      <a:srgbClr val="FFFFFF"/>
                    </a:solidFill>
                  </a:tcPr>
                </a:tc>
              </a:tr>
              <a:tr h="313182">
                <a:tc>
                  <a:txBody>
                    <a:bodyPr/>
                    <a:lstStyle/>
                    <a:p>
                      <a:pPr>
                        <a:spcAft>
                          <a:spcPts val="0"/>
                        </a:spcAft>
                        <a:defRPr sz="1200" b="0">
                          <a:solidFill>
                            <a:srgbClr val="000000"/>
                          </a:solidFill>
                          <a:latin typeface="Lato"/>
                        </a:defRPr>
                      </a:pPr>
                      <a:r>
                        <a:t>Diesel</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11.734</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10.800</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0.790</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10.010</a:t>
                      </a:r>
                    </a:p>
                  </a:txBody>
                  <a:tcPr marL="50292" marR="50292" marT="41148" marB="41148" anchor="ctr">
                    <a:lnB w="6350" cap="flat">
                      <a:solidFill>
                        <a:srgbClr val="EEEEEE"/>
                      </a:solidFill>
                    </a:lnB>
                    <a:solidFill>
                      <a:srgbClr val="FFFFFF"/>
                    </a:solidFill>
                  </a:tcPr>
                </a:tc>
              </a:tr>
              <a:tr h="313182">
                <a:tc>
                  <a:txBody>
                    <a:bodyPr/>
                    <a:lstStyle/>
                    <a:p>
                      <a:pPr>
                        <a:spcAft>
                          <a:spcPts val="0"/>
                        </a:spcAft>
                        <a:defRPr sz="1200" b="0">
                          <a:solidFill>
                            <a:srgbClr val="000000"/>
                          </a:solidFill>
                          <a:latin typeface="Lato"/>
                        </a:defRPr>
                      </a:pPr>
                      <a:r>
                        <a:t>Combined</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20.763</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14.800</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1.710</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13.090</a:t>
                      </a:r>
                    </a:p>
                  </a:txBody>
                  <a:tcPr marL="50292" marR="50292" marT="41148" marB="41148" anchor="ctr">
                    <a:lnB w="6350" cap="flat">
                      <a:solidFill>
                        <a:srgbClr val="EEEEEE"/>
                      </a:solidFill>
                    </a:lnB>
                    <a:solidFill>
                      <a:srgbClr val="FFFFFF"/>
                    </a:solidFill>
                  </a:tcPr>
                </a:tc>
              </a:tr>
            </a:tbl>
          </a:graphicData>
        </a:graphic>
      </p:graphicFrame>
      <p:sp>
        <p:nvSpPr>
          <p:cNvPr id="31" name="TextBox 30"/>
          <p:cNvSpPr txBox="1"/>
          <p:nvPr/>
        </p:nvSpPr>
        <p:spPr>
          <a:xfrm>
            <a:off x="457200" y="4142232"/>
            <a:ext cx="6446520" cy="310896"/>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Source flag | 2024 diesel imports</a:t>
            </a:r>
          </a:p>
        </p:txBody>
      </p:sp>
      <p:sp>
        <p:nvSpPr>
          <p:cNvPr id="32" name="TextBox 31"/>
          <p:cNvSpPr txBox="1"/>
          <p:nvPr/>
        </p:nvSpPr>
        <p:spPr>
          <a:xfrm>
            <a:off x="457200" y="4526280"/>
            <a:ext cx="6446520" cy="576072"/>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FIASA staged: 14.793  |  Government report: 10.800</a:t>
            </a:r>
          </a:p>
          <a:p>
            <a:pPr>
              <a:spcAft>
                <a:spcPts val="300"/>
              </a:spcAft>
              <a:defRPr sz="1200" b="0">
                <a:solidFill>
                  <a:srgbClr val="000000"/>
                </a:solidFill>
                <a:latin typeface="Lato"/>
              </a:defRPr>
            </a:pPr>
            <a:r>
              <a:t>Difference: -3.993 bn L. Preserve both; investigate scope and vintage.</a:t>
            </a:r>
          </a:p>
        </p:txBody>
      </p:sp>
      <p:sp>
        <p:nvSpPr>
          <p:cNvPr id="33" name="TextBox 32"/>
          <p:cNvSpPr txBox="1"/>
          <p:nvPr/>
        </p:nvSpPr>
        <p:spPr>
          <a:xfrm>
            <a:off x="457200" y="5358384"/>
            <a:ext cx="6446520" cy="310896"/>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Domestic production remains a dated observation</a:t>
            </a:r>
          </a:p>
        </p:txBody>
      </p:sp>
      <p:sp>
        <p:nvSpPr>
          <p:cNvPr id="34" name="TextBox 33"/>
          <p:cNvSpPr txBox="1"/>
          <p:nvPr/>
        </p:nvSpPr>
        <p:spPr>
          <a:xfrm>
            <a:off x="457200" y="5724144"/>
            <a:ext cx="6446520" cy="4937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Latest staged balance: 2021 petrol 6.35; diesel 5.31 bn L.</a:t>
            </a:r>
          </a:p>
          <a:p>
            <a:pPr>
              <a:spcAft>
                <a:spcPts val="300"/>
              </a:spcAft>
              <a:defRPr sz="1200" b="0">
                <a:solidFill>
                  <a:srgbClr val="000000"/>
                </a:solidFill>
                <a:latin typeface="Lato"/>
              </a:defRPr>
            </a:pPr>
            <a:r>
              <a:t>Do not combine 2021 output with 2024 sales/trade to close a balance.</a:t>
            </a:r>
          </a:p>
        </p:txBody>
      </p:sp>
      <p:sp>
        <p:nvSpPr>
          <p:cNvPr id="35" name="TextBox 34"/>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Evidence and implications</a:t>
            </a:r>
          </a:p>
        </p:txBody>
      </p:sp>
      <p:sp>
        <p:nvSpPr>
          <p:cNvPr id="36" name="TextBox 35"/>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Public figures are collectable</a:t>
            </a:r>
          </a:p>
        </p:txBody>
      </p:sp>
      <p:sp>
        <p:nvSpPr>
          <p:cNvPr id="37" name="TextBox 36"/>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2024 petrol/diesel imports total 14.8 bn L in the government report. Exports total 1.71 bn L; these are rounded reported figures.</a:t>
            </a:r>
          </a:p>
        </p:txBody>
      </p:sp>
      <p:sp>
        <p:nvSpPr>
          <p:cNvPr id="38" name="TextBox 37"/>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The sources disagree</a:t>
            </a:r>
          </a:p>
        </p:txBody>
      </p:sp>
      <p:sp>
        <p:nvSpPr>
          <p:cNvPr id="39" name="TextBox 38"/>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FIASA reports 14.793 bn L of diesel imports for 2024 versus 10.8 bn L in the government report. Neither value has been silently replaced.</a:t>
            </a:r>
          </a:p>
        </p:txBody>
      </p:sp>
      <p:sp>
        <p:nvSpPr>
          <p:cNvPr id="40" name="TextBox 39"/>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Port cargo has wider coverage</a:t>
            </a:r>
          </a:p>
        </p:txBody>
      </p:sp>
      <p:sp>
        <p:nvSpPr>
          <p:cNvPr id="41" name="TextBox 40"/>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TNPA publishes liquid-bulk cargo by port, but it includes crude and other liquids. It does not establish petrol/diesel import allocation.</a:t>
            </a:r>
          </a:p>
        </p:txBody>
      </p:sp>
      <p:cxnSp>
        <p:nvCxnSpPr>
          <p:cNvPr id="42" name="Connector 4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Next steps | proposed owners</a:t>
            </a:r>
          </a:p>
        </p:txBody>
      </p:sp>
      <p:sp>
        <p:nvSpPr>
          <p:cNvPr id="44" name="TextBox 43"/>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reconcile raw SARS product codes and units, then source matched-year production and stocks. Nigel: confirm access to product-specific port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Track passenger, freight and sector activity driving fuel demand</a:t>
            </a:r>
          </a:p>
        </p:txBody>
      </p:sp>
      <p:sp>
        <p:nvSpPr>
          <p:cNvPr id="3" name="Slide Number Placeholder"/>
          <p:cNvSpPr>
            <a:spLocks noGrp="1"/>
          </p:cNvSpPr>
          <p:nvPr>
            <p:ph type="sldNum" sz="quarter" idx="12"/>
          </p:nvPr>
        </p:nvSpPr>
        <p:spPr/>
        <p:txBody>
          <a:bodyPr/>
          <a:lstStyle/>
          <a:p>
            <a:fld id="{24B23D1D-9036-4044-B722-6F440EA1DCCF}" type="slidenum">
              <a:rPr lang="en-US"/>
              <a:t>‹#›</a:t>
            </a:fld>
          </a:p>
        </p:txBody>
      </p:sp>
      <p:sp>
        <p:nvSpPr>
          <p:cNvPr id="4" name="Section navigation 1">
            <a:hlinkClick action="ppaction://hlinksldjump" r:id="rId10"/>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11"/>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12"/>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13"/>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NaTIS Dec snapshots; Stats SA P0441 Q2 2026 / P7162 Dec 2025; Eskom integrated reports; naamsa Q2 2026. Series and scope in notes.</a:t>
            </a:r>
          </a:p>
        </p:txBody>
      </p:sp>
      <p:sp>
        <p:nvSpPr>
          <p:cNvPr id="29" name="TextBox 28"/>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Demand-driver dashboard | every series indexed to 2024 = 100</a:t>
            </a:r>
          </a:p>
        </p:txBody>
      </p:sp>
      <p:cxnSp>
        <p:nvCxnSpPr>
          <p:cNvPr id="30" name="Connector 29"/>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57200" y="2148840"/>
            <a:ext cx="6446520" cy="256032"/>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Activity charts: common 0–120 scale. Vehicle fleet by fuel type: data gap.</a:t>
            </a:r>
          </a:p>
        </p:txBody>
      </p:sp>
      <p:sp>
        <p:nvSpPr>
          <p:cNvPr id="34" name="TextBox 33"/>
          <p:cNvSpPr txBox="1"/>
          <p:nvPr/>
        </p:nvSpPr>
        <p:spPr>
          <a:xfrm>
            <a:off x="457200" y="2505456"/>
            <a:ext cx="3108960" cy="265176"/>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Passenger stock | all fuels; Dec</a:t>
            </a:r>
          </a:p>
        </p:txBody>
      </p:sp>
      <p:graphicFrame>
        <p:nvGraphicFramePr>
          <p:cNvPr id="35" name="Chart 34"/>
          <p:cNvGraphicFramePr>
            <a:graphicFrameLocks noGrp="1"/>
          </p:cNvGraphicFramePr>
          <p:nvPr/>
        </p:nvGraphicFramePr>
        <p:xfrm>
          <a:off x="457200" y="2761488"/>
          <a:ext cx="3108960" cy="713232"/>
        </p:xfrm>
        <a:graphic>
          <a:graphicData uri="http://schemas.openxmlformats.org/drawingml/2006/chart">
            <c:chart xmlns:c="http://schemas.openxmlformats.org/drawingml/2006/chart" r:id="rId3"/>
          </a:graphicData>
        </a:graphic>
      </p:graphicFrame>
      <p:cxnSp>
        <p:nvCxnSpPr>
          <p:cNvPr id="36" name="Connector 35"/>
          <p:cNvCxnSpPr/>
          <p:nvPr/>
        </p:nvCxnSpPr>
        <p:spPr>
          <a:xfrm>
            <a:off x="795528" y="3575304"/>
            <a:ext cx="201168"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1033271" y="3474720"/>
            <a:ext cx="1280160" cy="20116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Cars</a:t>
            </a:r>
          </a:p>
        </p:txBody>
      </p:sp>
      <p:cxnSp>
        <p:nvCxnSpPr>
          <p:cNvPr id="38" name="Connector 37"/>
          <p:cNvCxnSpPr/>
          <p:nvPr/>
        </p:nvCxnSpPr>
        <p:spPr>
          <a:xfrm>
            <a:off x="2176272" y="3575304"/>
            <a:ext cx="201168"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2414015" y="3474720"/>
            <a:ext cx="1280160" cy="20116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Minibuses</a:t>
            </a:r>
          </a:p>
        </p:txBody>
      </p:sp>
      <p:sp>
        <p:nvSpPr>
          <p:cNvPr id="40" name="TextBox 39"/>
          <p:cNvSpPr txBox="1"/>
          <p:nvPr/>
        </p:nvSpPr>
        <p:spPr>
          <a:xfrm>
            <a:off x="3785616" y="2505456"/>
            <a:ext cx="3108960" cy="265176"/>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Freight stock | all fuels; Dec</a:t>
            </a:r>
          </a:p>
        </p:txBody>
      </p:sp>
      <p:graphicFrame>
        <p:nvGraphicFramePr>
          <p:cNvPr id="41" name="Chart 40"/>
          <p:cNvGraphicFramePr>
            <a:graphicFrameLocks noGrp="1"/>
          </p:cNvGraphicFramePr>
          <p:nvPr/>
        </p:nvGraphicFramePr>
        <p:xfrm>
          <a:off x="3785616" y="2761488"/>
          <a:ext cx="3108960" cy="713232"/>
        </p:xfrm>
        <a:graphic>
          <a:graphicData uri="http://schemas.openxmlformats.org/drawingml/2006/chart">
            <c:chart xmlns:c="http://schemas.openxmlformats.org/drawingml/2006/chart" r:id="rId4"/>
          </a:graphicData>
        </a:graphic>
      </p:graphicFrame>
      <p:cxnSp>
        <p:nvCxnSpPr>
          <p:cNvPr id="42" name="Connector 41"/>
          <p:cNvCxnSpPr/>
          <p:nvPr/>
        </p:nvCxnSpPr>
        <p:spPr>
          <a:xfrm>
            <a:off x="4123944" y="3575304"/>
            <a:ext cx="201168"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4361688" y="3474720"/>
            <a:ext cx="1280160" cy="20116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Trucks</a:t>
            </a:r>
          </a:p>
        </p:txBody>
      </p:sp>
      <p:cxnSp>
        <p:nvCxnSpPr>
          <p:cNvPr id="44" name="Connector 43"/>
          <p:cNvCxnSpPr/>
          <p:nvPr/>
        </p:nvCxnSpPr>
        <p:spPr>
          <a:xfrm>
            <a:off x="5504688" y="3575304"/>
            <a:ext cx="201168"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742432" y="3474720"/>
            <a:ext cx="1280160" cy="20116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Light commercial</a:t>
            </a:r>
          </a:p>
        </p:txBody>
      </p:sp>
      <p:sp>
        <p:nvSpPr>
          <p:cNvPr id="46" name="TextBox 45"/>
          <p:cNvSpPr txBox="1"/>
          <p:nvPr/>
        </p:nvSpPr>
        <p:spPr>
          <a:xfrm>
            <a:off x="457200" y="3712464"/>
            <a:ext cx="3108960" cy="265176"/>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Agriculture | real value added, CY</a:t>
            </a:r>
          </a:p>
        </p:txBody>
      </p:sp>
      <p:graphicFrame>
        <p:nvGraphicFramePr>
          <p:cNvPr id="47" name="Chart 46"/>
          <p:cNvGraphicFramePr>
            <a:graphicFrameLocks noGrp="1"/>
          </p:cNvGraphicFramePr>
          <p:nvPr/>
        </p:nvGraphicFramePr>
        <p:xfrm>
          <a:off x="457200" y="3968496"/>
          <a:ext cx="3108960" cy="713232"/>
        </p:xfrm>
        <a:graphic>
          <a:graphicData uri="http://schemas.openxmlformats.org/drawingml/2006/chart">
            <c:chart xmlns:c="http://schemas.openxmlformats.org/drawingml/2006/chart" r:id="rId5"/>
          </a:graphicData>
        </a:graphic>
      </p:graphicFrame>
      <p:cxnSp>
        <p:nvCxnSpPr>
          <p:cNvPr id="48" name="Connector 47"/>
          <p:cNvCxnSpPr/>
          <p:nvPr/>
        </p:nvCxnSpPr>
        <p:spPr>
          <a:xfrm>
            <a:off x="795528" y="4782312"/>
            <a:ext cx="201168"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1033271" y="4681728"/>
            <a:ext cx="2532888" cy="20116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Agriculture / forestry / fishing</a:t>
            </a:r>
          </a:p>
        </p:txBody>
      </p:sp>
      <p:sp>
        <p:nvSpPr>
          <p:cNvPr id="50" name="TextBox 49"/>
          <p:cNvSpPr txBox="1"/>
          <p:nvPr/>
        </p:nvSpPr>
        <p:spPr>
          <a:xfrm>
            <a:off x="3785616" y="3712464"/>
            <a:ext cx="3108960" cy="265176"/>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Industry | real value added, CY</a:t>
            </a:r>
          </a:p>
        </p:txBody>
      </p:sp>
      <p:graphicFrame>
        <p:nvGraphicFramePr>
          <p:cNvPr id="51" name="Chart 50"/>
          <p:cNvGraphicFramePr>
            <a:graphicFrameLocks noGrp="1"/>
          </p:cNvGraphicFramePr>
          <p:nvPr/>
        </p:nvGraphicFramePr>
        <p:xfrm>
          <a:off x="3785616" y="3968496"/>
          <a:ext cx="3108960" cy="713232"/>
        </p:xfrm>
        <a:graphic>
          <a:graphicData uri="http://schemas.openxmlformats.org/drawingml/2006/chart">
            <c:chart xmlns:c="http://schemas.openxmlformats.org/drawingml/2006/chart" r:id="rId6"/>
          </a:graphicData>
        </a:graphic>
      </p:graphicFrame>
      <p:cxnSp>
        <p:nvCxnSpPr>
          <p:cNvPr id="52" name="Connector 51"/>
          <p:cNvCxnSpPr/>
          <p:nvPr/>
        </p:nvCxnSpPr>
        <p:spPr>
          <a:xfrm>
            <a:off x="4123944" y="4782312"/>
            <a:ext cx="201168"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4361688" y="4681728"/>
            <a:ext cx="1280160" cy="20116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Manufacturing</a:t>
            </a:r>
          </a:p>
        </p:txBody>
      </p:sp>
      <p:cxnSp>
        <p:nvCxnSpPr>
          <p:cNvPr id="54" name="Connector 53"/>
          <p:cNvCxnSpPr/>
          <p:nvPr/>
        </p:nvCxnSpPr>
        <p:spPr>
          <a:xfrm>
            <a:off x="5504688" y="4782312"/>
            <a:ext cx="201168"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742432" y="4681728"/>
            <a:ext cx="1280160" cy="20116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Mining</a:t>
            </a:r>
          </a:p>
        </p:txBody>
      </p:sp>
      <p:sp>
        <p:nvSpPr>
          <p:cNvPr id="56" name="TextBox 55"/>
          <p:cNvSpPr txBox="1"/>
          <p:nvPr/>
        </p:nvSpPr>
        <p:spPr>
          <a:xfrm>
            <a:off x="457200" y="4919472"/>
            <a:ext cx="3108960" cy="265176"/>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Power | OCGT generation, FY</a:t>
            </a:r>
          </a:p>
        </p:txBody>
      </p:sp>
      <p:graphicFrame>
        <p:nvGraphicFramePr>
          <p:cNvPr id="57" name="Chart 56"/>
          <p:cNvGraphicFramePr>
            <a:graphicFrameLocks noGrp="1"/>
          </p:cNvGraphicFramePr>
          <p:nvPr/>
        </p:nvGraphicFramePr>
        <p:xfrm>
          <a:off x="457200" y="5175504"/>
          <a:ext cx="3108960" cy="713232"/>
        </p:xfrm>
        <a:graphic>
          <a:graphicData uri="http://schemas.openxmlformats.org/drawingml/2006/chart">
            <c:chart xmlns:c="http://schemas.openxmlformats.org/drawingml/2006/chart" r:id="rId7"/>
          </a:graphicData>
        </a:graphic>
      </p:graphicFrame>
      <p:cxnSp>
        <p:nvCxnSpPr>
          <p:cNvPr id="58" name="Connector 57"/>
          <p:cNvCxnSpPr/>
          <p:nvPr/>
        </p:nvCxnSpPr>
        <p:spPr>
          <a:xfrm>
            <a:off x="795528" y="5989320"/>
            <a:ext cx="201168"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1033271" y="5888736"/>
            <a:ext cx="2532888" cy="20116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Eskom + IPP</a:t>
            </a:r>
          </a:p>
        </p:txBody>
      </p:sp>
      <p:sp>
        <p:nvSpPr>
          <p:cNvPr id="60" name="TextBox 59"/>
          <p:cNvSpPr txBox="1"/>
          <p:nvPr/>
        </p:nvSpPr>
        <p:spPr>
          <a:xfrm>
            <a:off x="3785616" y="4919472"/>
            <a:ext cx="3108960" cy="265176"/>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Freight activity | payload, CY</a:t>
            </a:r>
          </a:p>
        </p:txBody>
      </p:sp>
      <p:graphicFrame>
        <p:nvGraphicFramePr>
          <p:cNvPr id="61" name="Chart 60"/>
          <p:cNvGraphicFramePr>
            <a:graphicFrameLocks noGrp="1"/>
          </p:cNvGraphicFramePr>
          <p:nvPr/>
        </p:nvGraphicFramePr>
        <p:xfrm>
          <a:off x="3785616" y="5175504"/>
          <a:ext cx="3108960" cy="713232"/>
        </p:xfrm>
        <a:graphic>
          <a:graphicData uri="http://schemas.openxmlformats.org/drawingml/2006/chart">
            <c:chart xmlns:c="http://schemas.openxmlformats.org/drawingml/2006/chart" r:id="rId8"/>
          </a:graphicData>
        </a:graphic>
      </p:graphicFrame>
      <p:cxnSp>
        <p:nvCxnSpPr>
          <p:cNvPr id="62" name="Connector 61"/>
          <p:cNvCxnSpPr/>
          <p:nvPr/>
        </p:nvCxnSpPr>
        <p:spPr>
          <a:xfrm>
            <a:off x="4123944" y="5989320"/>
            <a:ext cx="201168"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4361688" y="5888736"/>
            <a:ext cx="1280160" cy="20116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Road</a:t>
            </a:r>
          </a:p>
        </p:txBody>
      </p:sp>
      <p:cxnSp>
        <p:nvCxnSpPr>
          <p:cNvPr id="64" name="Connector 63"/>
          <p:cNvCxnSpPr/>
          <p:nvPr/>
        </p:nvCxnSpPr>
        <p:spPr>
          <a:xfrm>
            <a:off x="5504688" y="5989320"/>
            <a:ext cx="201168"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5742432" y="5888736"/>
            <a:ext cx="1280160" cy="20116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Rail</a:t>
            </a:r>
          </a:p>
        </p:txBody>
      </p:sp>
      <p:sp>
        <p:nvSpPr>
          <p:cNvPr id="66" name="TextBox 65"/>
          <p:cNvSpPr txBox="1"/>
          <p:nvPr/>
        </p:nvSpPr>
        <p:spPr>
          <a:xfrm>
            <a:off x="457200" y="6245352"/>
            <a:ext cx="6446520" cy="18288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FY ends March; CY is calendar year. Stock is December snapshot. ICE = internal combustion engine.</a:t>
            </a:r>
          </a:p>
        </p:txBody>
      </p:sp>
      <p:sp>
        <p:nvSpPr>
          <p:cNvPr id="67" name="TextBox 66"/>
          <p:cNvSpPr txBox="1"/>
          <p:nvPr/>
        </p:nvSpPr>
        <p:spPr>
          <a:xfrm>
            <a:off x="7424927" y="1627632"/>
            <a:ext cx="3685032"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Evidence and implications</a:t>
            </a:r>
          </a:p>
        </p:txBody>
      </p:sp>
      <p:sp>
        <p:nvSpPr>
          <p:cNvPr id="68" name="TextBox 67"/>
          <p:cNvSpPr txBox="1"/>
          <p:nvPr/>
        </p:nvSpPr>
        <p:spPr>
          <a:xfrm>
            <a:off x="7424927" y="2157984"/>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Fleet fuel mix remains a data gap</a:t>
            </a:r>
          </a:p>
        </p:txBody>
      </p:sp>
      <p:sp>
        <p:nvSpPr>
          <p:cNvPr id="69" name="TextBox 68"/>
          <p:cNvSpPr txBox="1"/>
          <p:nvPr/>
        </p:nvSpPr>
        <p:spPr>
          <a:xfrm>
            <a:off x="7424927" y="2532888"/>
            <a:ext cx="3685032" cy="594360"/>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NaTIS stock totals include all fuels. New EV sales show uptake; they do not establish fleet penetration or litres displaced.</a:t>
            </a:r>
          </a:p>
        </p:txBody>
      </p:sp>
      <p:sp>
        <p:nvSpPr>
          <p:cNvPr id="70" name="TextBox 69"/>
          <p:cNvSpPr txBox="1"/>
          <p:nvPr/>
        </p:nvSpPr>
        <p:spPr>
          <a:xfrm>
            <a:off x="7424927" y="3136392"/>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EV and hybrid new-sales trend</a:t>
            </a:r>
          </a:p>
        </p:txBody>
      </p:sp>
      <p:graphicFrame>
        <p:nvGraphicFramePr>
          <p:cNvPr id="71" name="Chart 70"/>
          <p:cNvGraphicFramePr>
            <a:graphicFrameLocks noGrp="1"/>
          </p:cNvGraphicFramePr>
          <p:nvPr/>
        </p:nvGraphicFramePr>
        <p:xfrm>
          <a:off x="7424927" y="3575304"/>
          <a:ext cx="3685032" cy="1225296"/>
        </p:xfrm>
        <a:graphic>
          <a:graphicData uri="http://schemas.openxmlformats.org/drawingml/2006/chart">
            <c:chart xmlns:c="http://schemas.openxmlformats.org/drawingml/2006/chart" r:id="rId9"/>
          </a:graphicData>
        </a:graphic>
      </p:graphicFrame>
      <p:cxnSp>
        <p:nvCxnSpPr>
          <p:cNvPr id="72" name="Connector 71"/>
          <p:cNvCxnSpPr/>
          <p:nvPr/>
        </p:nvCxnSpPr>
        <p:spPr>
          <a:xfrm>
            <a:off x="7424927" y="4956048"/>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7644383" y="4846320"/>
            <a:ext cx="1060704" cy="22860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BEV</a:t>
            </a:r>
          </a:p>
        </p:txBody>
      </p:sp>
      <p:cxnSp>
        <p:nvCxnSpPr>
          <p:cNvPr id="74" name="Connector 73"/>
          <p:cNvCxnSpPr/>
          <p:nvPr/>
        </p:nvCxnSpPr>
        <p:spPr>
          <a:xfrm>
            <a:off x="8686800" y="4956048"/>
            <a:ext cx="182880"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8906256" y="4846320"/>
            <a:ext cx="1060704" cy="22860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Plug-in hybrid</a:t>
            </a:r>
          </a:p>
        </p:txBody>
      </p:sp>
      <p:cxnSp>
        <p:nvCxnSpPr>
          <p:cNvPr id="76" name="Connector 75"/>
          <p:cNvCxnSpPr/>
          <p:nvPr/>
        </p:nvCxnSpPr>
        <p:spPr>
          <a:xfrm>
            <a:off x="9948672" y="4956048"/>
            <a:ext cx="182879" cy="0"/>
          </a:xfrm>
          <a:prstGeom prst="line">
            <a:avLst/>
          </a:prstGeom>
          <a:ln w="22860">
            <a:solidFill>
              <a:srgbClr val="000000"/>
            </a:solidFill>
          </a:ln>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10168128" y="4846320"/>
            <a:ext cx="1060704" cy="22860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Hybrid</a:t>
            </a:r>
          </a:p>
        </p:txBody>
      </p:sp>
      <p:sp>
        <p:nvSpPr>
          <p:cNvPr id="78" name="TextBox 77"/>
          <p:cNvSpPr txBox="1"/>
          <p:nvPr/>
        </p:nvSpPr>
        <p:spPr>
          <a:xfrm>
            <a:off x="7424927" y="3447288"/>
            <a:ext cx="3685032" cy="20116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2024 = 100; EV chart scale 0–400</a:t>
            </a:r>
          </a:p>
        </p:txBody>
      </p:sp>
      <p:sp>
        <p:nvSpPr>
          <p:cNvPr id="79" name="TextBox 78"/>
          <p:cNvSpPr txBox="1"/>
          <p:nvPr/>
        </p:nvSpPr>
        <p:spPr>
          <a:xfrm>
            <a:off x="7424927" y="5166360"/>
            <a:ext cx="3685032" cy="50292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2025 sales: BEV 1,088; plug-in hybrid 2,810; hybrid 12,818. Both hybrid types still use fuel.</a:t>
            </a:r>
          </a:p>
        </p:txBody>
      </p:sp>
      <p:cxnSp>
        <p:nvCxnSpPr>
          <p:cNvPr id="80" name="Connector 79"/>
          <p:cNvCxnSpPr/>
          <p:nvPr/>
        </p:nvCxnSpPr>
        <p:spPr>
          <a:xfrm>
            <a:off x="7424927" y="566928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7424927" y="5724144"/>
            <a:ext cx="3685032" cy="27432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Next steps | proposed owners</a:t>
            </a:r>
          </a:p>
        </p:txBody>
      </p:sp>
      <p:sp>
        <p:nvSpPr>
          <p:cNvPr id="82" name="TextBox 81"/>
          <p:cNvSpPr txBox="1"/>
          <p:nvPr/>
        </p:nvSpPr>
        <p:spPr>
          <a:xfrm>
            <a:off x="7424927" y="6044184"/>
            <a:ext cx="3685032" cy="36576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Manish: source fleet fuel mix, retirements, mileage and sector fuel intensities. Nigel: agree lever alternatives.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Compare the capacity history with a conditional redevelopment case</a:t>
            </a:r>
          </a:p>
        </p:txBody>
      </p:sp>
      <p:sp>
        <p:nvSpPr>
          <p:cNvPr id="3" name="Slide Number Placeholder"/>
          <p:cNvSpPr>
            <a:spLocks noGrp="1"/>
          </p:cNvSpPr>
          <p:nvPr>
            <p:ph type="sldNum" sz="quarter" idx="12"/>
          </p:nvPr>
        </p:nvSpPr>
        <p:spPr/>
        <p:txBody>
          <a:bodyPr/>
          <a:lstStyle/>
          <a:p>
            <a:fld id="{D3F12CCB-D66A-47C0-A484-1AE796D38341}" type="slidenum">
              <a:rPr lang="en-US"/>
              <a:t>‹#›</a:t>
            </a:fld>
          </a:p>
        </p:txBody>
      </p:sp>
      <p:sp>
        <p:nvSpPr>
          <p:cNvPr id="4" name="Section navigation 1">
            <a:hlinkClick action="ppaction://hlinksldjump" r:id="rId5"/>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6"/>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7"/>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8"/>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FIASA Annual Report 2025, p.49; CEF statement 23 Sep 2026. Nameplate / crude-equivalent capacity; not actual fuel output.</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Published footprint + illustrative scenarios | thousand bbl/day</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57200" y="2176272"/>
            <a:ext cx="6446520" cy="292608"/>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History 2016–2025 is sourced; 2026 onward is illustrative, not a forecast</a:t>
            </a:r>
          </a:p>
        </p:txBody>
      </p:sp>
      <p:sp>
        <p:nvSpPr>
          <p:cNvPr id="30" name="TextBox 29"/>
          <p:cNvSpPr txBox="1"/>
          <p:nvPr/>
        </p:nvSpPr>
        <p:spPr>
          <a:xfrm>
            <a:off x="457200" y="2624328"/>
            <a:ext cx="3108960" cy="4297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A | No new refinery capacity</a:t>
            </a:r>
          </a:p>
        </p:txBody>
      </p:sp>
      <p:graphicFrame>
        <p:nvGraphicFramePr>
          <p:cNvPr id="31" name="Chart 30"/>
          <p:cNvGraphicFramePr>
            <a:graphicFrameLocks noGrp="1"/>
          </p:cNvGraphicFramePr>
          <p:nvPr/>
        </p:nvGraphicFramePr>
        <p:xfrm>
          <a:off x="457200" y="3072384"/>
          <a:ext cx="3108960" cy="2350008"/>
        </p:xfrm>
        <a:graphic>
          <a:graphicData uri="http://schemas.openxmlformats.org/drawingml/2006/chart">
            <c:chart xmlns:c="http://schemas.openxmlformats.org/drawingml/2006/chart" r:id="rId3"/>
          </a:graphicData>
        </a:graphic>
      </p:graphicFrame>
      <p:sp>
        <p:nvSpPr>
          <p:cNvPr id="32" name="TextBox 31"/>
          <p:cNvSpPr txBox="1"/>
          <p:nvPr/>
        </p:nvSpPr>
        <p:spPr>
          <a:xfrm>
            <a:off x="457200" y="5495544"/>
            <a:ext cx="3108960" cy="274320"/>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2036: 358 thousand bbl/day</a:t>
            </a:r>
          </a:p>
        </p:txBody>
      </p:sp>
      <p:sp>
        <p:nvSpPr>
          <p:cNvPr id="33" name="TextBox 32"/>
          <p:cNvSpPr txBox="1"/>
          <p:nvPr/>
        </p:nvSpPr>
        <p:spPr>
          <a:xfrm>
            <a:off x="3785616" y="2624328"/>
            <a:ext cx="3108960" cy="4297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B | Conditional CEF redevelopment</a:t>
            </a:r>
          </a:p>
        </p:txBody>
      </p:sp>
      <p:graphicFrame>
        <p:nvGraphicFramePr>
          <p:cNvPr id="34" name="Chart 33"/>
          <p:cNvGraphicFramePr>
            <a:graphicFrameLocks noGrp="1"/>
          </p:cNvGraphicFramePr>
          <p:nvPr/>
        </p:nvGraphicFramePr>
        <p:xfrm>
          <a:off x="3785616" y="3072384"/>
          <a:ext cx="3108960" cy="2350008"/>
        </p:xfrm>
        <a:graphic>
          <a:graphicData uri="http://schemas.openxmlformats.org/drawingml/2006/chart">
            <c:chart xmlns:c="http://schemas.openxmlformats.org/drawingml/2006/chart" r:id="rId4"/>
          </a:graphicData>
        </a:graphic>
      </p:graphicFrame>
      <p:sp>
        <p:nvSpPr>
          <p:cNvPr id="35" name="TextBox 34"/>
          <p:cNvSpPr txBox="1"/>
          <p:nvPr/>
        </p:nvSpPr>
        <p:spPr>
          <a:xfrm>
            <a:off x="3785616" y="5495544"/>
            <a:ext cx="3108960" cy="274320"/>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2036: 758 thousand bbl/day</a:t>
            </a:r>
          </a:p>
        </p:txBody>
      </p:sp>
      <p:sp>
        <p:nvSpPr>
          <p:cNvPr id="36" name="TextBox 35"/>
          <p:cNvSpPr txBox="1"/>
          <p:nvPr/>
        </p:nvSpPr>
        <p:spPr>
          <a:xfrm>
            <a:off x="457200" y="5907024"/>
            <a:ext cx="6446520" cy="38404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B adds 400 from 2033; darker navy = existing footprint; lighter blue = conditional addition.</a:t>
            </a:r>
          </a:p>
        </p:txBody>
      </p:sp>
      <p:sp>
        <p:nvSpPr>
          <p:cNvPr id="37" name="TextBox 36"/>
          <p:cNvSpPr txBox="1"/>
          <p:nvPr/>
        </p:nvSpPr>
        <p:spPr>
          <a:xfrm>
            <a:off x="457200" y="6217920"/>
            <a:ext cx="644652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B assumes illustrative FID 2029 + 48 months; no sanctioned date. Both hold existing capacity flat.</a:t>
            </a:r>
          </a:p>
        </p:txBody>
      </p:sp>
      <p:sp>
        <p:nvSpPr>
          <p:cNvPr id="38" name="TextBox 37"/>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Evidence and implications</a:t>
            </a:r>
          </a:p>
        </p:txBody>
      </p:sp>
      <p:sp>
        <p:nvSpPr>
          <p:cNvPr id="39" name="TextBox 38"/>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History shows a structural decline</a:t>
            </a:r>
          </a:p>
        </p:txBody>
      </p:sp>
      <p:sp>
        <p:nvSpPr>
          <p:cNvPr id="40" name="TextBox 39"/>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Published total falls from 718 in 2016–2020 to 538 in 2021 and 358 from 2022–2025. Capacity does not measure realised output.</a:t>
            </a:r>
          </a:p>
        </p:txBody>
      </p:sp>
      <p:sp>
        <p:nvSpPr>
          <p:cNvPr id="41" name="TextBox 40"/>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Redevelopment is conditional</a:t>
            </a:r>
          </a:p>
        </p:txBody>
      </p:sp>
      <p:sp>
        <p:nvSpPr>
          <p:cNvPr id="42" name="TextBox 41"/>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CEF proposes approximately 400 thousand bbl/day after FID. Construction is approximately 48 months; the 2029 FID here is authored for comparison.</a:t>
            </a:r>
          </a:p>
        </p:txBody>
      </p:sp>
      <p:sp>
        <p:nvSpPr>
          <p:cNvPr id="43" name="TextBox 42"/>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Product output still needs modelling</a:t>
            </a:r>
          </a:p>
        </p:txBody>
      </p:sp>
      <p:sp>
        <p:nvSpPr>
          <p:cNvPr id="44" name="TextBox 43"/>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Source utilisation, downtime and product yields before translating capacity into domestic supply. Secunda/Natref cases remain open.</a:t>
            </a:r>
          </a:p>
        </p:txBody>
      </p:sp>
      <p:cxnSp>
        <p:nvCxnSpPr>
          <p:cNvPr id="45" name="Connector 4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Next steps | proposed owners</a:t>
            </a:r>
          </a:p>
        </p:txBody>
      </p:sp>
      <p:sp>
        <p:nvSpPr>
          <p:cNvPr id="47" name="TextBox 46"/>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agree scenario timing. Manish: reconcile plant capacity and output/yields. Henry: review technical feasibility and the Sasol gas-to-liquids mechanism.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Locate alternative gateways to the same inland customers</a:t>
            </a:r>
          </a:p>
        </p:txBody>
      </p:sp>
      <p:sp>
        <p:nvSpPr>
          <p:cNvPr id="3" name="Slide Number Placeholder"/>
          <p:cNvSpPr>
            <a:spLocks noGrp="1"/>
          </p:cNvSpPr>
          <p:nvPr>
            <p:ph type="sldNum" sz="quarter" idx="12"/>
          </p:nvPr>
        </p:nvSpPr>
        <p:spPr/>
        <p:txBody>
          <a:bodyPr/>
          <a:lstStyle/>
          <a:p>
            <a:fld id="{4953E577-FF4F-4EBC-906E-CE2DCE8C4609}"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WBCG Trans-Kalahari; TRAC N4/Maputo corridor; kickoff NMPP schematic; Natural Earth 1:50m. Locations approximate.</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Durban, Matola and Walvis Bay | schematic corridor comparison</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457200" y="2185416"/>
            <a:ext cx="6446520" cy="3657600"/>
          </a:xfrm>
          <a:prstGeom prst="rect">
            <a:avLst/>
          </a:prstGeom>
          <a:solidFill>
            <a:srgbClr val="FFFFFF"/>
          </a:solidFill>
          <a:ln>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reeform 8"/>
          <p:cNvSpPr/>
          <p:nvPr/>
        </p:nvSpPr>
        <p:spPr>
          <a:xfrm>
            <a:off x="3904117" y="2176056"/>
            <a:ext cx="1419859" cy="1052132"/>
          </a:xfrm>
          <a:custGeom>
            <a:avLst/>
            <a:gdLst/>
            <a:ahLst/>
            <a:cxnLst/>
            <a:rect l="l" t="t" r="r" b="b"/>
            <a:pathLst>
              <a:path w="1419859" h="1052132">
                <a:moveTo>
                  <a:pt x="1050785" y="1040379"/>
                </a:moveTo>
                <a:lnTo>
                  <a:pt x="1029249" y="1032132"/>
                </a:lnTo>
                <a:lnTo>
                  <a:pt x="1001590" y="1027403"/>
                </a:lnTo>
                <a:lnTo>
                  <a:pt x="965364" y="1026890"/>
                </a:lnTo>
                <a:lnTo>
                  <a:pt x="920621" y="1030596"/>
                </a:lnTo>
                <a:lnTo>
                  <a:pt x="873228" y="1021096"/>
                </a:lnTo>
                <a:lnTo>
                  <a:pt x="823086" y="998412"/>
                </a:lnTo>
                <a:lnTo>
                  <a:pt x="780991" y="989347"/>
                </a:lnTo>
                <a:lnTo>
                  <a:pt x="730045" y="996076"/>
                </a:lnTo>
                <a:lnTo>
                  <a:pt x="727805" y="996209"/>
                </a:lnTo>
                <a:lnTo>
                  <a:pt x="719270" y="988960"/>
                </a:lnTo>
                <a:lnTo>
                  <a:pt x="705982" y="973525"/>
                </a:lnTo>
                <a:lnTo>
                  <a:pt x="682956" y="970001"/>
                </a:lnTo>
                <a:lnTo>
                  <a:pt x="676808" y="966285"/>
                </a:lnTo>
                <a:lnTo>
                  <a:pt x="671839" y="960551"/>
                </a:lnTo>
                <a:lnTo>
                  <a:pt x="668705" y="953362"/>
                </a:lnTo>
                <a:lnTo>
                  <a:pt x="667641" y="945453"/>
                </a:lnTo>
                <a:lnTo>
                  <a:pt x="672302" y="921130"/>
                </a:lnTo>
                <a:lnTo>
                  <a:pt x="670314" y="918302"/>
                </a:lnTo>
                <a:lnTo>
                  <a:pt x="664219" y="915132"/>
                </a:lnTo>
                <a:lnTo>
                  <a:pt x="651630" y="911723"/>
                </a:lnTo>
                <a:lnTo>
                  <a:pt x="621488" y="899503"/>
                </a:lnTo>
                <a:lnTo>
                  <a:pt x="583450" y="887443"/>
                </a:lnTo>
                <a:lnTo>
                  <a:pt x="521428" y="873621"/>
                </a:lnTo>
                <a:lnTo>
                  <a:pt x="497290" y="869769"/>
                </a:lnTo>
                <a:lnTo>
                  <a:pt x="491770" y="866014"/>
                </a:lnTo>
                <a:lnTo>
                  <a:pt x="484986" y="856776"/>
                </a:lnTo>
                <a:lnTo>
                  <a:pt x="473758" y="828339"/>
                </a:lnTo>
                <a:lnTo>
                  <a:pt x="462951" y="809457"/>
                </a:lnTo>
                <a:lnTo>
                  <a:pt x="436762" y="780080"/>
                </a:lnTo>
                <a:lnTo>
                  <a:pt x="432688" y="771067"/>
                </a:lnTo>
                <a:lnTo>
                  <a:pt x="434591" y="748394"/>
                </a:lnTo>
                <a:lnTo>
                  <a:pt x="437033" y="730104"/>
                </a:lnTo>
                <a:lnTo>
                  <a:pt x="440320" y="714607"/>
                </a:lnTo>
                <a:lnTo>
                  <a:pt x="439365" y="699996"/>
                </a:lnTo>
                <a:lnTo>
                  <a:pt x="439422" y="681885"/>
                </a:lnTo>
                <a:lnTo>
                  <a:pt x="440577" y="669768"/>
                </a:lnTo>
                <a:lnTo>
                  <a:pt x="437059" y="664414"/>
                </a:lnTo>
                <a:lnTo>
                  <a:pt x="427331" y="660453"/>
                </a:lnTo>
                <a:lnTo>
                  <a:pt x="399425" y="658044"/>
                </a:lnTo>
                <a:lnTo>
                  <a:pt x="365622" y="657938"/>
                </a:lnTo>
                <a:lnTo>
                  <a:pt x="364913" y="639497"/>
                </a:lnTo>
                <a:lnTo>
                  <a:pt x="362309" y="610946"/>
                </a:lnTo>
                <a:lnTo>
                  <a:pt x="356313" y="594406"/>
                </a:lnTo>
                <a:lnTo>
                  <a:pt x="348704" y="585703"/>
                </a:lnTo>
                <a:lnTo>
                  <a:pt x="333324" y="576451"/>
                </a:lnTo>
                <a:lnTo>
                  <a:pt x="302021" y="563575"/>
                </a:lnTo>
                <a:lnTo>
                  <a:pt x="259373" y="544184"/>
                </a:lnTo>
                <a:lnTo>
                  <a:pt x="223096" y="516097"/>
                </a:lnTo>
                <a:lnTo>
                  <a:pt x="181422" y="481299"/>
                </a:lnTo>
                <a:lnTo>
                  <a:pt x="168320" y="475185"/>
                </a:lnTo>
                <a:lnTo>
                  <a:pt x="153174" y="442961"/>
                </a:lnTo>
                <a:lnTo>
                  <a:pt x="130096" y="387876"/>
                </a:lnTo>
                <a:lnTo>
                  <a:pt x="131861" y="369650"/>
                </a:lnTo>
                <a:lnTo>
                  <a:pt x="128373" y="360679"/>
                </a:lnTo>
                <a:lnTo>
                  <a:pt x="105547" y="333475"/>
                </a:lnTo>
                <a:lnTo>
                  <a:pt x="100575" y="319446"/>
                </a:lnTo>
                <a:lnTo>
                  <a:pt x="96647" y="305284"/>
                </a:lnTo>
                <a:lnTo>
                  <a:pt x="60124" y="265461"/>
                </a:lnTo>
                <a:lnTo>
                  <a:pt x="47709" y="248139"/>
                </a:lnTo>
                <a:lnTo>
                  <a:pt x="38331" y="225962"/>
                </a:lnTo>
                <a:lnTo>
                  <a:pt x="28936" y="208221"/>
                </a:lnTo>
                <a:lnTo>
                  <a:pt x="20941" y="201025"/>
                </a:lnTo>
                <a:lnTo>
                  <a:pt x="10484" y="188916"/>
                </a:lnTo>
                <a:lnTo>
                  <a:pt x="3260" y="175155"/>
                </a:lnTo>
                <a:lnTo>
                  <a:pt x="0" y="164915"/>
                </a:lnTo>
                <a:lnTo>
                  <a:pt x="2851" y="151247"/>
                </a:lnTo>
                <a:lnTo>
                  <a:pt x="6528" y="141887"/>
                </a:lnTo>
                <a:lnTo>
                  <a:pt x="41726" y="152016"/>
                </a:lnTo>
                <a:lnTo>
                  <a:pt x="60979" y="153061"/>
                </a:lnTo>
                <a:lnTo>
                  <a:pt x="76109" y="148418"/>
                </a:lnTo>
                <a:lnTo>
                  <a:pt x="94679" y="155113"/>
                </a:lnTo>
                <a:lnTo>
                  <a:pt x="116716" y="173193"/>
                </a:lnTo>
                <a:lnTo>
                  <a:pt x="140898" y="176923"/>
                </a:lnTo>
                <a:lnTo>
                  <a:pt x="167275" y="166293"/>
                </a:lnTo>
                <a:lnTo>
                  <a:pt x="202640" y="170204"/>
                </a:lnTo>
                <a:lnTo>
                  <a:pt x="246956" y="188697"/>
                </a:lnTo>
                <a:lnTo>
                  <a:pt x="283830" y="193012"/>
                </a:lnTo>
                <a:lnTo>
                  <a:pt x="328086" y="178169"/>
                </a:lnTo>
                <a:lnTo>
                  <a:pt x="368183" y="135407"/>
                </a:lnTo>
                <a:lnTo>
                  <a:pt x="405988" y="95247"/>
                </a:lnTo>
                <a:lnTo>
                  <a:pt x="443411" y="48796"/>
                </a:lnTo>
                <a:lnTo>
                  <a:pt x="466227" y="11120"/>
                </a:lnTo>
                <a:lnTo>
                  <a:pt x="478339" y="0"/>
                </a:lnTo>
                <a:lnTo>
                  <a:pt x="1406270" y="42581"/>
                </a:lnTo>
                <a:lnTo>
                  <a:pt x="1406259" y="49776"/>
                </a:lnTo>
                <a:lnTo>
                  <a:pt x="1419655" y="91353"/>
                </a:lnTo>
                <a:lnTo>
                  <a:pt x="1419859" y="126784"/>
                </a:lnTo>
                <a:lnTo>
                  <a:pt x="1411761" y="188733"/>
                </a:lnTo>
                <a:lnTo>
                  <a:pt x="1408650" y="249032"/>
                </a:lnTo>
                <a:lnTo>
                  <a:pt x="1409122" y="270673"/>
                </a:lnTo>
                <a:lnTo>
                  <a:pt x="1410855" y="285121"/>
                </a:lnTo>
                <a:lnTo>
                  <a:pt x="1413668" y="293144"/>
                </a:lnTo>
                <a:lnTo>
                  <a:pt x="1412572" y="302027"/>
                </a:lnTo>
                <a:lnTo>
                  <a:pt x="1402003" y="326708"/>
                </a:lnTo>
                <a:lnTo>
                  <a:pt x="1393136" y="352864"/>
                </a:lnTo>
                <a:lnTo>
                  <a:pt x="1392298" y="363516"/>
                </a:lnTo>
                <a:lnTo>
                  <a:pt x="1389038" y="370826"/>
                </a:lnTo>
                <a:lnTo>
                  <a:pt x="1383226" y="377150"/>
                </a:lnTo>
                <a:lnTo>
                  <a:pt x="1358575" y="387900"/>
                </a:lnTo>
                <a:lnTo>
                  <a:pt x="1354046" y="395243"/>
                </a:lnTo>
                <a:lnTo>
                  <a:pt x="1353384" y="409017"/>
                </a:lnTo>
                <a:lnTo>
                  <a:pt x="1355787" y="420791"/>
                </a:lnTo>
                <a:lnTo>
                  <a:pt x="1364533" y="425639"/>
                </a:lnTo>
                <a:lnTo>
                  <a:pt x="1375002" y="432893"/>
                </a:lnTo>
                <a:lnTo>
                  <a:pt x="1378787" y="441838"/>
                </a:lnTo>
                <a:lnTo>
                  <a:pt x="1378313" y="450971"/>
                </a:lnTo>
                <a:lnTo>
                  <a:pt x="1373932" y="467654"/>
                </a:lnTo>
                <a:lnTo>
                  <a:pt x="1362754" y="495035"/>
                </a:lnTo>
                <a:lnTo>
                  <a:pt x="1370514" y="527865"/>
                </a:lnTo>
                <a:lnTo>
                  <a:pt x="1380064" y="549455"/>
                </a:lnTo>
                <a:lnTo>
                  <a:pt x="1393455" y="574645"/>
                </a:lnTo>
                <a:lnTo>
                  <a:pt x="1398713" y="589963"/>
                </a:lnTo>
                <a:lnTo>
                  <a:pt x="1397756" y="600654"/>
                </a:lnTo>
                <a:lnTo>
                  <a:pt x="1394977" y="610906"/>
                </a:lnTo>
                <a:lnTo>
                  <a:pt x="1370328" y="653611"/>
                </a:lnTo>
                <a:lnTo>
                  <a:pt x="1352844" y="680010"/>
                </a:lnTo>
                <a:lnTo>
                  <a:pt x="1331779" y="708145"/>
                </a:lnTo>
                <a:lnTo>
                  <a:pt x="1305118" y="724939"/>
                </a:lnTo>
                <a:lnTo>
                  <a:pt x="1298021" y="733396"/>
                </a:lnTo>
                <a:lnTo>
                  <a:pt x="1294817" y="743351"/>
                </a:lnTo>
                <a:lnTo>
                  <a:pt x="1294499" y="765457"/>
                </a:lnTo>
                <a:lnTo>
                  <a:pt x="1292011" y="788434"/>
                </a:lnTo>
                <a:lnTo>
                  <a:pt x="1268170" y="822515"/>
                </a:lnTo>
                <a:lnTo>
                  <a:pt x="1280003" y="853913"/>
                </a:lnTo>
                <a:lnTo>
                  <a:pt x="1276751" y="856522"/>
                </a:lnTo>
                <a:lnTo>
                  <a:pt x="1269155" y="860442"/>
                </a:lnTo>
                <a:lnTo>
                  <a:pt x="1235877" y="892837"/>
                </a:lnTo>
                <a:lnTo>
                  <a:pt x="1202281" y="925644"/>
                </a:lnTo>
                <a:lnTo>
                  <a:pt x="1177775" y="949655"/>
                </a:lnTo>
                <a:lnTo>
                  <a:pt x="1149954" y="976997"/>
                </a:lnTo>
                <a:lnTo>
                  <a:pt x="1118821" y="1007662"/>
                </a:lnTo>
                <a:lnTo>
                  <a:pt x="1092273" y="1033886"/>
                </a:lnTo>
                <a:lnTo>
                  <a:pt x="1066247" y="1052132"/>
                </a:lnTo>
                <a:lnTo>
                  <a:pt x="1050785" y="1040379"/>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reeform 9"/>
          <p:cNvSpPr/>
          <p:nvPr/>
        </p:nvSpPr>
        <p:spPr>
          <a:xfrm>
            <a:off x="3430861" y="2167612"/>
            <a:ext cx="951595" cy="201456"/>
          </a:xfrm>
          <a:custGeom>
            <a:avLst/>
            <a:gdLst/>
            <a:ahLst/>
            <a:cxnLst/>
            <a:rect l="l" t="t" r="r" b="b"/>
            <a:pathLst>
              <a:path w="951595" h="201456">
                <a:moveTo>
                  <a:pt x="939483" y="19564"/>
                </a:moveTo>
                <a:lnTo>
                  <a:pt x="916667" y="57240"/>
                </a:lnTo>
                <a:lnTo>
                  <a:pt x="879244" y="103691"/>
                </a:lnTo>
                <a:lnTo>
                  <a:pt x="841439" y="143851"/>
                </a:lnTo>
                <a:lnTo>
                  <a:pt x="801342" y="186613"/>
                </a:lnTo>
                <a:lnTo>
                  <a:pt x="757086" y="201456"/>
                </a:lnTo>
                <a:lnTo>
                  <a:pt x="720212" y="197141"/>
                </a:lnTo>
                <a:lnTo>
                  <a:pt x="675896" y="178648"/>
                </a:lnTo>
                <a:lnTo>
                  <a:pt x="640531" y="174737"/>
                </a:lnTo>
                <a:lnTo>
                  <a:pt x="614154" y="185367"/>
                </a:lnTo>
                <a:lnTo>
                  <a:pt x="589972" y="181637"/>
                </a:lnTo>
                <a:lnTo>
                  <a:pt x="567935" y="163557"/>
                </a:lnTo>
                <a:lnTo>
                  <a:pt x="549365" y="156862"/>
                </a:lnTo>
                <a:lnTo>
                  <a:pt x="534235" y="161505"/>
                </a:lnTo>
                <a:lnTo>
                  <a:pt x="514982" y="160460"/>
                </a:lnTo>
                <a:lnTo>
                  <a:pt x="479784" y="150331"/>
                </a:lnTo>
                <a:lnTo>
                  <a:pt x="449518" y="119873"/>
                </a:lnTo>
                <a:lnTo>
                  <a:pt x="433041" y="107263"/>
                </a:lnTo>
                <a:lnTo>
                  <a:pt x="420371" y="102413"/>
                </a:lnTo>
                <a:lnTo>
                  <a:pt x="383853" y="97321"/>
                </a:lnTo>
                <a:lnTo>
                  <a:pt x="299967" y="90051"/>
                </a:lnTo>
                <a:lnTo>
                  <a:pt x="291215" y="91646"/>
                </a:lnTo>
                <a:lnTo>
                  <a:pt x="256360" y="97559"/>
                </a:lnTo>
                <a:lnTo>
                  <a:pt x="212829" y="105031"/>
                </a:lnTo>
                <a:lnTo>
                  <a:pt x="175433" y="112559"/>
                </a:lnTo>
                <a:lnTo>
                  <a:pt x="136235" y="120522"/>
                </a:lnTo>
                <a:lnTo>
                  <a:pt x="99652" y="89185"/>
                </a:lnTo>
                <a:lnTo>
                  <a:pt x="58062" y="53682"/>
                </a:lnTo>
                <a:lnTo>
                  <a:pt x="14859" y="14135"/>
                </a:lnTo>
                <a:lnTo>
                  <a:pt x="0" y="0"/>
                </a:lnTo>
                <a:lnTo>
                  <a:pt x="951595" y="8444"/>
                </a:lnTo>
                <a:lnTo>
                  <a:pt x="939483" y="19564"/>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Freeform 10"/>
          <p:cNvSpPr/>
          <p:nvPr/>
        </p:nvSpPr>
        <p:spPr>
          <a:xfrm>
            <a:off x="4841288" y="3865269"/>
            <a:ext cx="226498" cy="303672"/>
          </a:xfrm>
          <a:custGeom>
            <a:avLst/>
            <a:gdLst/>
            <a:ahLst/>
            <a:cxnLst/>
            <a:rect l="l" t="t" r="r" b="b"/>
            <a:pathLst>
              <a:path w="226498" h="303672">
                <a:moveTo>
                  <a:pt x="209479" y="49730"/>
                </a:moveTo>
                <a:lnTo>
                  <a:pt x="224729" y="59503"/>
                </a:lnTo>
                <a:lnTo>
                  <a:pt x="225062" y="77080"/>
                </a:lnTo>
                <a:lnTo>
                  <a:pt x="222292" y="96963"/>
                </a:lnTo>
                <a:lnTo>
                  <a:pt x="218329" y="109375"/>
                </a:lnTo>
                <a:lnTo>
                  <a:pt x="218730" y="122007"/>
                </a:lnTo>
                <a:lnTo>
                  <a:pt x="222557" y="141880"/>
                </a:lnTo>
                <a:lnTo>
                  <a:pt x="226498" y="155562"/>
                </a:lnTo>
                <a:lnTo>
                  <a:pt x="223806" y="216490"/>
                </a:lnTo>
                <a:lnTo>
                  <a:pt x="218664" y="213359"/>
                </a:lnTo>
                <a:lnTo>
                  <a:pt x="209153" y="210138"/>
                </a:lnTo>
                <a:lnTo>
                  <a:pt x="203956" y="211023"/>
                </a:lnTo>
                <a:lnTo>
                  <a:pt x="197552" y="238001"/>
                </a:lnTo>
                <a:lnTo>
                  <a:pt x="191408" y="278350"/>
                </a:lnTo>
                <a:lnTo>
                  <a:pt x="191900" y="303672"/>
                </a:lnTo>
                <a:lnTo>
                  <a:pt x="155260" y="302173"/>
                </a:lnTo>
                <a:lnTo>
                  <a:pt x="109120" y="296625"/>
                </a:lnTo>
                <a:lnTo>
                  <a:pt x="76584" y="283802"/>
                </a:lnTo>
                <a:lnTo>
                  <a:pt x="42174" y="257752"/>
                </a:lnTo>
                <a:lnTo>
                  <a:pt x="22933" y="219140"/>
                </a:lnTo>
                <a:lnTo>
                  <a:pt x="14881" y="195115"/>
                </a:lnTo>
                <a:lnTo>
                  <a:pt x="1901" y="193051"/>
                </a:lnTo>
                <a:lnTo>
                  <a:pt x="0" y="188938"/>
                </a:lnTo>
                <a:lnTo>
                  <a:pt x="363" y="160188"/>
                </a:lnTo>
                <a:lnTo>
                  <a:pt x="2229" y="130065"/>
                </a:lnTo>
                <a:lnTo>
                  <a:pt x="5092" y="122196"/>
                </a:lnTo>
                <a:lnTo>
                  <a:pt x="31365" y="86413"/>
                </a:lnTo>
                <a:lnTo>
                  <a:pt x="47710" y="64193"/>
                </a:lnTo>
                <a:lnTo>
                  <a:pt x="58325" y="42409"/>
                </a:lnTo>
                <a:lnTo>
                  <a:pt x="80241" y="17401"/>
                </a:lnTo>
                <a:lnTo>
                  <a:pt x="103146" y="1929"/>
                </a:lnTo>
                <a:lnTo>
                  <a:pt x="111443" y="0"/>
                </a:lnTo>
                <a:lnTo>
                  <a:pt x="116995" y="1012"/>
                </a:lnTo>
                <a:lnTo>
                  <a:pt x="154381" y="26286"/>
                </a:lnTo>
                <a:lnTo>
                  <a:pt x="192737" y="50482"/>
                </a:lnTo>
                <a:lnTo>
                  <a:pt x="201497" y="48560"/>
                </a:lnTo>
                <a:lnTo>
                  <a:pt x="206183" y="46723"/>
                </a:lnTo>
                <a:lnTo>
                  <a:pt x="209479" y="49730"/>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2411874" y="3165403"/>
            <a:ext cx="2784650" cy="2396112"/>
          </a:xfrm>
          <a:custGeom>
            <a:avLst/>
            <a:gdLst/>
            <a:ahLst/>
            <a:cxnLst/>
            <a:rect l="l" t="t" r="r" b="b"/>
            <a:pathLst>
              <a:path w="2784650" h="2396112">
                <a:moveTo>
                  <a:pt x="2222288" y="6729"/>
                </a:moveTo>
                <a:lnTo>
                  <a:pt x="2273234" y="0"/>
                </a:lnTo>
                <a:lnTo>
                  <a:pt x="2315329" y="9065"/>
                </a:lnTo>
                <a:lnTo>
                  <a:pt x="2365471" y="31749"/>
                </a:lnTo>
                <a:lnTo>
                  <a:pt x="2412864" y="41249"/>
                </a:lnTo>
                <a:lnTo>
                  <a:pt x="2457607" y="37543"/>
                </a:lnTo>
                <a:lnTo>
                  <a:pt x="2493833" y="38056"/>
                </a:lnTo>
                <a:lnTo>
                  <a:pt x="2521492" y="42785"/>
                </a:lnTo>
                <a:lnTo>
                  <a:pt x="2543028" y="51032"/>
                </a:lnTo>
                <a:lnTo>
                  <a:pt x="2558490" y="62785"/>
                </a:lnTo>
                <a:lnTo>
                  <a:pt x="2558911" y="72854"/>
                </a:lnTo>
                <a:lnTo>
                  <a:pt x="2559920" y="77477"/>
                </a:lnTo>
                <a:lnTo>
                  <a:pt x="2567006" y="104395"/>
                </a:lnTo>
                <a:lnTo>
                  <a:pt x="2577513" y="144601"/>
                </a:lnTo>
                <a:lnTo>
                  <a:pt x="2583922" y="181545"/>
                </a:lnTo>
                <a:lnTo>
                  <a:pt x="2592668" y="232228"/>
                </a:lnTo>
                <a:lnTo>
                  <a:pt x="2590805" y="260057"/>
                </a:lnTo>
                <a:lnTo>
                  <a:pt x="2593009" y="270983"/>
                </a:lnTo>
                <a:lnTo>
                  <a:pt x="2602517" y="285021"/>
                </a:lnTo>
                <a:lnTo>
                  <a:pt x="2613748" y="308848"/>
                </a:lnTo>
                <a:lnTo>
                  <a:pt x="2617285" y="322209"/>
                </a:lnTo>
                <a:lnTo>
                  <a:pt x="2620934" y="332257"/>
                </a:lnTo>
                <a:lnTo>
                  <a:pt x="2633082" y="351641"/>
                </a:lnTo>
                <a:lnTo>
                  <a:pt x="2641709" y="380449"/>
                </a:lnTo>
                <a:lnTo>
                  <a:pt x="2648209" y="418299"/>
                </a:lnTo>
                <a:lnTo>
                  <a:pt x="2654571" y="436662"/>
                </a:lnTo>
                <a:lnTo>
                  <a:pt x="2656839" y="445630"/>
                </a:lnTo>
                <a:lnTo>
                  <a:pt x="2659237" y="461867"/>
                </a:lnTo>
                <a:lnTo>
                  <a:pt x="2656776" y="495669"/>
                </a:lnTo>
                <a:lnTo>
                  <a:pt x="2654647" y="534869"/>
                </a:lnTo>
                <a:lnTo>
                  <a:pt x="2652263" y="578649"/>
                </a:lnTo>
                <a:lnTo>
                  <a:pt x="2650307" y="614784"/>
                </a:lnTo>
                <a:lnTo>
                  <a:pt x="2647888" y="632987"/>
                </a:lnTo>
                <a:lnTo>
                  <a:pt x="2645628" y="684940"/>
                </a:lnTo>
                <a:lnTo>
                  <a:pt x="2632935" y="711300"/>
                </a:lnTo>
                <a:lnTo>
                  <a:pt x="2633019" y="732610"/>
                </a:lnTo>
                <a:lnTo>
                  <a:pt x="2635597" y="746589"/>
                </a:lnTo>
                <a:lnTo>
                  <a:pt x="2630911" y="748426"/>
                </a:lnTo>
                <a:lnTo>
                  <a:pt x="2622151" y="750348"/>
                </a:lnTo>
                <a:lnTo>
                  <a:pt x="2583795" y="726152"/>
                </a:lnTo>
                <a:lnTo>
                  <a:pt x="2546409" y="700878"/>
                </a:lnTo>
                <a:lnTo>
                  <a:pt x="2540857" y="699866"/>
                </a:lnTo>
                <a:lnTo>
                  <a:pt x="2532560" y="701795"/>
                </a:lnTo>
                <a:lnTo>
                  <a:pt x="2509655" y="717267"/>
                </a:lnTo>
                <a:lnTo>
                  <a:pt x="2487739" y="742275"/>
                </a:lnTo>
                <a:lnTo>
                  <a:pt x="2477124" y="764059"/>
                </a:lnTo>
                <a:lnTo>
                  <a:pt x="2460779" y="786279"/>
                </a:lnTo>
                <a:lnTo>
                  <a:pt x="2434506" y="822062"/>
                </a:lnTo>
                <a:lnTo>
                  <a:pt x="2431643" y="829931"/>
                </a:lnTo>
                <a:lnTo>
                  <a:pt x="2429777" y="860054"/>
                </a:lnTo>
                <a:lnTo>
                  <a:pt x="2429414" y="888804"/>
                </a:lnTo>
                <a:lnTo>
                  <a:pt x="2431315" y="892917"/>
                </a:lnTo>
                <a:lnTo>
                  <a:pt x="2444295" y="894981"/>
                </a:lnTo>
                <a:lnTo>
                  <a:pt x="2452347" y="919006"/>
                </a:lnTo>
                <a:lnTo>
                  <a:pt x="2471588" y="957618"/>
                </a:lnTo>
                <a:lnTo>
                  <a:pt x="2505998" y="983668"/>
                </a:lnTo>
                <a:lnTo>
                  <a:pt x="2538534" y="996491"/>
                </a:lnTo>
                <a:lnTo>
                  <a:pt x="2584674" y="1002039"/>
                </a:lnTo>
                <a:lnTo>
                  <a:pt x="2621314" y="1003538"/>
                </a:lnTo>
                <a:lnTo>
                  <a:pt x="2620822" y="978216"/>
                </a:lnTo>
                <a:lnTo>
                  <a:pt x="2626966" y="937867"/>
                </a:lnTo>
                <a:lnTo>
                  <a:pt x="2633370" y="910889"/>
                </a:lnTo>
                <a:lnTo>
                  <a:pt x="2638567" y="910004"/>
                </a:lnTo>
                <a:lnTo>
                  <a:pt x="2648078" y="913225"/>
                </a:lnTo>
                <a:lnTo>
                  <a:pt x="2653220" y="916356"/>
                </a:lnTo>
                <a:lnTo>
                  <a:pt x="2668053" y="916173"/>
                </a:lnTo>
                <a:lnTo>
                  <a:pt x="2693894" y="923245"/>
                </a:lnTo>
                <a:lnTo>
                  <a:pt x="2715066" y="924057"/>
                </a:lnTo>
                <a:lnTo>
                  <a:pt x="2733989" y="924812"/>
                </a:lnTo>
                <a:lnTo>
                  <a:pt x="2765993" y="926095"/>
                </a:lnTo>
                <a:lnTo>
                  <a:pt x="2784650" y="927081"/>
                </a:lnTo>
                <a:lnTo>
                  <a:pt x="2775277" y="970619"/>
                </a:lnTo>
                <a:lnTo>
                  <a:pt x="2746185" y="1037779"/>
                </a:lnTo>
                <a:lnTo>
                  <a:pt x="2735730" y="1068779"/>
                </a:lnTo>
                <a:lnTo>
                  <a:pt x="2707271" y="1180215"/>
                </a:lnTo>
                <a:lnTo>
                  <a:pt x="2676550" y="1235271"/>
                </a:lnTo>
                <a:lnTo>
                  <a:pt x="2659954" y="1257747"/>
                </a:lnTo>
                <a:lnTo>
                  <a:pt x="2613909" y="1296453"/>
                </a:lnTo>
                <a:lnTo>
                  <a:pt x="2601339" y="1304108"/>
                </a:lnTo>
                <a:lnTo>
                  <a:pt x="2590314" y="1308822"/>
                </a:lnTo>
                <a:lnTo>
                  <a:pt x="2571082" y="1312391"/>
                </a:lnTo>
                <a:lnTo>
                  <a:pt x="2491913" y="1391903"/>
                </a:lnTo>
                <a:lnTo>
                  <a:pt x="2461971" y="1430810"/>
                </a:lnTo>
                <a:lnTo>
                  <a:pt x="2434110" y="1488475"/>
                </a:lnTo>
                <a:lnTo>
                  <a:pt x="2408079" y="1519538"/>
                </a:lnTo>
                <a:lnTo>
                  <a:pt x="2368729" y="1586752"/>
                </a:lnTo>
                <a:lnTo>
                  <a:pt x="2334215" y="1638468"/>
                </a:lnTo>
                <a:lnTo>
                  <a:pt x="2301377" y="1685573"/>
                </a:lnTo>
                <a:lnTo>
                  <a:pt x="2245814" y="1749995"/>
                </a:lnTo>
                <a:lnTo>
                  <a:pt x="2221791" y="1768261"/>
                </a:lnTo>
                <a:lnTo>
                  <a:pt x="2205814" y="1776395"/>
                </a:lnTo>
                <a:lnTo>
                  <a:pt x="2162761" y="1813408"/>
                </a:lnTo>
                <a:lnTo>
                  <a:pt x="2102068" y="1873428"/>
                </a:lnTo>
                <a:lnTo>
                  <a:pt x="2055511" y="1927047"/>
                </a:lnTo>
                <a:lnTo>
                  <a:pt x="1987163" y="1987425"/>
                </a:lnTo>
                <a:lnTo>
                  <a:pt x="1948132" y="2013601"/>
                </a:lnTo>
                <a:lnTo>
                  <a:pt x="1889272" y="2065895"/>
                </a:lnTo>
                <a:lnTo>
                  <a:pt x="1873165" y="2073407"/>
                </a:lnTo>
                <a:lnTo>
                  <a:pt x="1807629" y="2121879"/>
                </a:lnTo>
                <a:lnTo>
                  <a:pt x="1760897" y="2151231"/>
                </a:lnTo>
                <a:lnTo>
                  <a:pt x="1685873" y="2184924"/>
                </a:lnTo>
                <a:lnTo>
                  <a:pt x="1656251" y="2194232"/>
                </a:lnTo>
                <a:lnTo>
                  <a:pt x="1586235" y="2183756"/>
                </a:lnTo>
                <a:lnTo>
                  <a:pt x="1556829" y="2188199"/>
                </a:lnTo>
                <a:lnTo>
                  <a:pt x="1532015" y="2209261"/>
                </a:lnTo>
                <a:lnTo>
                  <a:pt x="1529273" y="2239975"/>
                </a:lnTo>
                <a:lnTo>
                  <a:pt x="1519028" y="2244448"/>
                </a:lnTo>
                <a:lnTo>
                  <a:pt x="1503621" y="2242876"/>
                </a:lnTo>
                <a:lnTo>
                  <a:pt x="1454837" y="2229509"/>
                </a:lnTo>
                <a:lnTo>
                  <a:pt x="1428257" y="2231721"/>
                </a:lnTo>
                <a:lnTo>
                  <a:pt x="1412618" y="2247992"/>
                </a:lnTo>
                <a:lnTo>
                  <a:pt x="1399985" y="2268682"/>
                </a:lnTo>
                <a:lnTo>
                  <a:pt x="1363182" y="2269523"/>
                </a:lnTo>
                <a:lnTo>
                  <a:pt x="1297693" y="2247804"/>
                </a:lnTo>
                <a:lnTo>
                  <a:pt x="1220491" y="2234756"/>
                </a:lnTo>
                <a:lnTo>
                  <a:pt x="1202610" y="2233360"/>
                </a:lnTo>
                <a:lnTo>
                  <a:pt x="1165273" y="2249475"/>
                </a:lnTo>
                <a:lnTo>
                  <a:pt x="1152212" y="2251874"/>
                </a:lnTo>
                <a:lnTo>
                  <a:pt x="1097705" y="2248865"/>
                </a:lnTo>
                <a:lnTo>
                  <a:pt x="1067364" y="2239086"/>
                </a:lnTo>
                <a:lnTo>
                  <a:pt x="1038444" y="2239377"/>
                </a:lnTo>
                <a:lnTo>
                  <a:pt x="1016393" y="2247985"/>
                </a:lnTo>
                <a:lnTo>
                  <a:pt x="989573" y="2251278"/>
                </a:lnTo>
                <a:lnTo>
                  <a:pt x="918183" y="2310246"/>
                </a:lnTo>
                <a:lnTo>
                  <a:pt x="880834" y="2311049"/>
                </a:lnTo>
                <a:lnTo>
                  <a:pt x="848775" y="2318428"/>
                </a:lnTo>
                <a:lnTo>
                  <a:pt x="832794" y="2318567"/>
                </a:lnTo>
                <a:lnTo>
                  <a:pt x="802680" y="2311215"/>
                </a:lnTo>
                <a:lnTo>
                  <a:pt x="791556" y="2312032"/>
                </a:lnTo>
                <a:lnTo>
                  <a:pt x="774647" y="2316093"/>
                </a:lnTo>
                <a:lnTo>
                  <a:pt x="757913" y="2326711"/>
                </a:lnTo>
                <a:lnTo>
                  <a:pt x="719297" y="2332204"/>
                </a:lnTo>
                <a:lnTo>
                  <a:pt x="704525" y="2341308"/>
                </a:lnTo>
                <a:lnTo>
                  <a:pt x="641050" y="2396112"/>
                </a:lnTo>
                <a:lnTo>
                  <a:pt x="626104" y="2394517"/>
                </a:lnTo>
                <a:lnTo>
                  <a:pt x="613949" y="2391496"/>
                </a:lnTo>
                <a:lnTo>
                  <a:pt x="580030" y="2392079"/>
                </a:lnTo>
                <a:lnTo>
                  <a:pt x="540435" y="2365438"/>
                </a:lnTo>
                <a:lnTo>
                  <a:pt x="525793" y="2367798"/>
                </a:lnTo>
                <a:lnTo>
                  <a:pt x="529367" y="2359226"/>
                </a:lnTo>
                <a:lnTo>
                  <a:pt x="529896" y="2344260"/>
                </a:lnTo>
                <a:lnTo>
                  <a:pt x="521308" y="2334045"/>
                </a:lnTo>
                <a:lnTo>
                  <a:pt x="515599" y="2329563"/>
                </a:lnTo>
                <a:lnTo>
                  <a:pt x="500532" y="2331046"/>
                </a:lnTo>
                <a:lnTo>
                  <a:pt x="491914" y="2318666"/>
                </a:lnTo>
                <a:lnTo>
                  <a:pt x="468718" y="2318424"/>
                </a:lnTo>
                <a:lnTo>
                  <a:pt x="460866" y="2321980"/>
                </a:lnTo>
                <a:lnTo>
                  <a:pt x="449788" y="2323109"/>
                </a:lnTo>
                <a:lnTo>
                  <a:pt x="448173" y="2310294"/>
                </a:lnTo>
                <a:lnTo>
                  <a:pt x="448660" y="2302155"/>
                </a:lnTo>
                <a:lnTo>
                  <a:pt x="447375" y="2289735"/>
                </a:lnTo>
                <a:lnTo>
                  <a:pt x="443845" y="2274582"/>
                </a:lnTo>
                <a:lnTo>
                  <a:pt x="434618" y="2270106"/>
                </a:lnTo>
                <a:lnTo>
                  <a:pt x="427620" y="2268367"/>
                </a:lnTo>
                <a:lnTo>
                  <a:pt x="411241" y="2270143"/>
                </a:lnTo>
                <a:lnTo>
                  <a:pt x="400011" y="2272293"/>
                </a:lnTo>
                <a:lnTo>
                  <a:pt x="394924" y="2276978"/>
                </a:lnTo>
                <a:lnTo>
                  <a:pt x="389432" y="2288445"/>
                </a:lnTo>
                <a:lnTo>
                  <a:pt x="391125" y="2322469"/>
                </a:lnTo>
                <a:lnTo>
                  <a:pt x="382501" y="2313093"/>
                </a:lnTo>
                <a:lnTo>
                  <a:pt x="372190" y="2293147"/>
                </a:lnTo>
                <a:lnTo>
                  <a:pt x="368080" y="2271547"/>
                </a:lnTo>
                <a:lnTo>
                  <a:pt x="370055" y="2245672"/>
                </a:lnTo>
                <a:lnTo>
                  <a:pt x="387137" y="2235093"/>
                </a:lnTo>
                <a:lnTo>
                  <a:pt x="384873" y="2217781"/>
                </a:lnTo>
                <a:lnTo>
                  <a:pt x="380362" y="2202883"/>
                </a:lnTo>
                <a:lnTo>
                  <a:pt x="358646" y="2165207"/>
                </a:lnTo>
                <a:lnTo>
                  <a:pt x="350007" y="2147918"/>
                </a:lnTo>
                <a:lnTo>
                  <a:pt x="332600" y="2136758"/>
                </a:lnTo>
                <a:lnTo>
                  <a:pt x="317988" y="2108569"/>
                </a:lnTo>
                <a:lnTo>
                  <a:pt x="304240" y="2098759"/>
                </a:lnTo>
                <a:lnTo>
                  <a:pt x="297647" y="2078866"/>
                </a:lnTo>
                <a:lnTo>
                  <a:pt x="283879" y="2063363"/>
                </a:lnTo>
                <a:lnTo>
                  <a:pt x="278089" y="2038062"/>
                </a:lnTo>
                <a:lnTo>
                  <a:pt x="284390" y="2023052"/>
                </a:lnTo>
                <a:lnTo>
                  <a:pt x="295207" y="2014510"/>
                </a:lnTo>
                <a:lnTo>
                  <a:pt x="307373" y="2026599"/>
                </a:lnTo>
                <a:lnTo>
                  <a:pt x="321348" y="2020955"/>
                </a:lnTo>
                <a:lnTo>
                  <a:pt x="340651" y="2001517"/>
                </a:lnTo>
                <a:lnTo>
                  <a:pt x="351205" y="1972932"/>
                </a:lnTo>
                <a:lnTo>
                  <a:pt x="349655" y="1928069"/>
                </a:lnTo>
                <a:lnTo>
                  <a:pt x="345128" y="1900212"/>
                </a:lnTo>
                <a:lnTo>
                  <a:pt x="325200" y="1828623"/>
                </a:lnTo>
                <a:lnTo>
                  <a:pt x="316664" y="1812365"/>
                </a:lnTo>
                <a:lnTo>
                  <a:pt x="277234" y="1762364"/>
                </a:lnTo>
                <a:lnTo>
                  <a:pt x="230753" y="1695177"/>
                </a:lnTo>
                <a:lnTo>
                  <a:pt x="170313" y="1588684"/>
                </a:lnTo>
                <a:lnTo>
                  <a:pt x="140439" y="1524394"/>
                </a:lnTo>
                <a:lnTo>
                  <a:pt x="92998" y="1393966"/>
                </a:lnTo>
                <a:lnTo>
                  <a:pt x="53408" y="1320926"/>
                </a:lnTo>
                <a:lnTo>
                  <a:pt x="5846" y="1253416"/>
                </a:lnTo>
                <a:lnTo>
                  <a:pt x="0" y="1249194"/>
                </a:lnTo>
                <a:lnTo>
                  <a:pt x="6100" y="1240273"/>
                </a:lnTo>
                <a:lnTo>
                  <a:pt x="28433" y="1222696"/>
                </a:lnTo>
                <a:lnTo>
                  <a:pt x="38789" y="1217699"/>
                </a:lnTo>
                <a:lnTo>
                  <a:pt x="44548" y="1219379"/>
                </a:lnTo>
                <a:lnTo>
                  <a:pt x="49774" y="1214613"/>
                </a:lnTo>
                <a:lnTo>
                  <a:pt x="54455" y="1203365"/>
                </a:lnTo>
                <a:lnTo>
                  <a:pt x="55030" y="1193027"/>
                </a:lnTo>
                <a:lnTo>
                  <a:pt x="56801" y="1178346"/>
                </a:lnTo>
                <a:lnTo>
                  <a:pt x="61516" y="1169358"/>
                </a:lnTo>
                <a:lnTo>
                  <a:pt x="66243" y="1151691"/>
                </a:lnTo>
                <a:lnTo>
                  <a:pt x="75373" y="1140031"/>
                </a:lnTo>
                <a:lnTo>
                  <a:pt x="95676" y="1131523"/>
                </a:lnTo>
                <a:lnTo>
                  <a:pt x="111925" y="1140408"/>
                </a:lnTo>
                <a:lnTo>
                  <a:pt x="119039" y="1149631"/>
                </a:lnTo>
                <a:lnTo>
                  <a:pt x="122453" y="1162116"/>
                </a:lnTo>
                <a:lnTo>
                  <a:pt x="129727" y="1167843"/>
                </a:lnTo>
                <a:lnTo>
                  <a:pt x="140847" y="1166816"/>
                </a:lnTo>
                <a:lnTo>
                  <a:pt x="149125" y="1174175"/>
                </a:lnTo>
                <a:lnTo>
                  <a:pt x="154540" y="1189897"/>
                </a:lnTo>
                <a:lnTo>
                  <a:pt x="154249" y="1201517"/>
                </a:lnTo>
                <a:lnTo>
                  <a:pt x="148307" y="1209035"/>
                </a:lnTo>
                <a:lnTo>
                  <a:pt x="149708" y="1218421"/>
                </a:lnTo>
                <a:lnTo>
                  <a:pt x="158412" y="1229713"/>
                </a:lnTo>
                <a:lnTo>
                  <a:pt x="162342" y="1240663"/>
                </a:lnTo>
                <a:lnTo>
                  <a:pt x="168540" y="1255058"/>
                </a:lnTo>
                <a:lnTo>
                  <a:pt x="197291" y="1262148"/>
                </a:lnTo>
                <a:lnTo>
                  <a:pt x="211368" y="1266263"/>
                </a:lnTo>
                <a:lnTo>
                  <a:pt x="235287" y="1266709"/>
                </a:lnTo>
                <a:lnTo>
                  <a:pt x="258142" y="1272157"/>
                </a:lnTo>
                <a:lnTo>
                  <a:pt x="279918" y="1282640"/>
                </a:lnTo>
                <a:lnTo>
                  <a:pt x="314889" y="1283792"/>
                </a:lnTo>
                <a:lnTo>
                  <a:pt x="363103" y="1275737"/>
                </a:lnTo>
                <a:lnTo>
                  <a:pt x="403145" y="1276687"/>
                </a:lnTo>
                <a:lnTo>
                  <a:pt x="434981" y="1286612"/>
                </a:lnTo>
                <a:lnTo>
                  <a:pt x="457775" y="1287783"/>
                </a:lnTo>
                <a:lnTo>
                  <a:pt x="471573" y="1280171"/>
                </a:lnTo>
                <a:lnTo>
                  <a:pt x="477273" y="1269706"/>
                </a:lnTo>
                <a:lnTo>
                  <a:pt x="474868" y="1256400"/>
                </a:lnTo>
                <a:lnTo>
                  <a:pt x="481532" y="1247670"/>
                </a:lnTo>
                <a:lnTo>
                  <a:pt x="497254" y="1243490"/>
                </a:lnTo>
                <a:lnTo>
                  <a:pt x="509578" y="1232961"/>
                </a:lnTo>
                <a:lnTo>
                  <a:pt x="518528" y="1216039"/>
                </a:lnTo>
                <a:lnTo>
                  <a:pt x="540168" y="1201791"/>
                </a:lnTo>
                <a:lnTo>
                  <a:pt x="574516" y="1190237"/>
                </a:lnTo>
                <a:lnTo>
                  <a:pt x="591798" y="1190029"/>
                </a:lnTo>
                <a:lnTo>
                  <a:pt x="590914" y="1163180"/>
                </a:lnTo>
                <a:lnTo>
                  <a:pt x="588143" y="1078429"/>
                </a:lnTo>
                <a:lnTo>
                  <a:pt x="585404" y="993679"/>
                </a:lnTo>
                <a:lnTo>
                  <a:pt x="582696" y="908951"/>
                </a:lnTo>
                <a:lnTo>
                  <a:pt x="580018" y="824209"/>
                </a:lnTo>
                <a:lnTo>
                  <a:pt x="577372" y="739471"/>
                </a:lnTo>
                <a:lnTo>
                  <a:pt x="574757" y="654759"/>
                </a:lnTo>
                <a:lnTo>
                  <a:pt x="572172" y="570036"/>
                </a:lnTo>
                <a:lnTo>
                  <a:pt x="569761" y="490045"/>
                </a:lnTo>
                <a:lnTo>
                  <a:pt x="578296" y="495551"/>
                </a:lnTo>
                <a:lnTo>
                  <a:pt x="634458" y="536368"/>
                </a:lnTo>
                <a:lnTo>
                  <a:pt x="649875" y="558271"/>
                </a:lnTo>
                <a:lnTo>
                  <a:pt x="657611" y="572204"/>
                </a:lnTo>
                <a:lnTo>
                  <a:pt x="682503" y="622980"/>
                </a:lnTo>
                <a:lnTo>
                  <a:pt x="701190" y="668617"/>
                </a:lnTo>
                <a:lnTo>
                  <a:pt x="716257" y="703004"/>
                </a:lnTo>
                <a:lnTo>
                  <a:pt x="717724" y="718863"/>
                </a:lnTo>
                <a:lnTo>
                  <a:pt x="720105" y="734346"/>
                </a:lnTo>
                <a:lnTo>
                  <a:pt x="722291" y="741924"/>
                </a:lnTo>
                <a:lnTo>
                  <a:pt x="721190" y="750402"/>
                </a:lnTo>
                <a:lnTo>
                  <a:pt x="711699" y="769553"/>
                </a:lnTo>
                <a:lnTo>
                  <a:pt x="701913" y="784287"/>
                </a:lnTo>
                <a:lnTo>
                  <a:pt x="690237" y="804363"/>
                </a:lnTo>
                <a:lnTo>
                  <a:pt x="689754" y="830495"/>
                </a:lnTo>
                <a:lnTo>
                  <a:pt x="694241" y="861132"/>
                </a:lnTo>
                <a:lnTo>
                  <a:pt x="702102" y="876229"/>
                </a:lnTo>
                <a:lnTo>
                  <a:pt x="711589" y="881010"/>
                </a:lnTo>
                <a:lnTo>
                  <a:pt x="733782" y="872819"/>
                </a:lnTo>
                <a:lnTo>
                  <a:pt x="748020" y="874818"/>
                </a:lnTo>
                <a:lnTo>
                  <a:pt x="768158" y="880189"/>
                </a:lnTo>
                <a:lnTo>
                  <a:pt x="833671" y="875166"/>
                </a:lnTo>
                <a:lnTo>
                  <a:pt x="841633" y="876888"/>
                </a:lnTo>
                <a:lnTo>
                  <a:pt x="866432" y="878610"/>
                </a:lnTo>
                <a:lnTo>
                  <a:pt x="874660" y="875928"/>
                </a:lnTo>
                <a:lnTo>
                  <a:pt x="881952" y="869302"/>
                </a:lnTo>
                <a:lnTo>
                  <a:pt x="890210" y="850714"/>
                </a:lnTo>
                <a:lnTo>
                  <a:pt x="897791" y="844535"/>
                </a:lnTo>
                <a:lnTo>
                  <a:pt x="911658" y="841177"/>
                </a:lnTo>
                <a:lnTo>
                  <a:pt x="928074" y="835946"/>
                </a:lnTo>
                <a:lnTo>
                  <a:pt x="941606" y="825132"/>
                </a:lnTo>
                <a:lnTo>
                  <a:pt x="962789" y="788373"/>
                </a:lnTo>
                <a:lnTo>
                  <a:pt x="1005861" y="755458"/>
                </a:lnTo>
                <a:lnTo>
                  <a:pt x="1019129" y="747563"/>
                </a:lnTo>
                <a:lnTo>
                  <a:pt x="1027460" y="738763"/>
                </a:lnTo>
                <a:lnTo>
                  <a:pt x="1034657" y="726964"/>
                </a:lnTo>
                <a:lnTo>
                  <a:pt x="1049529" y="686069"/>
                </a:lnTo>
                <a:lnTo>
                  <a:pt x="1060778" y="652010"/>
                </a:lnTo>
                <a:lnTo>
                  <a:pt x="1064578" y="635977"/>
                </a:lnTo>
                <a:lnTo>
                  <a:pt x="1074695" y="609751"/>
                </a:lnTo>
                <a:lnTo>
                  <a:pt x="1087093" y="592961"/>
                </a:lnTo>
                <a:lnTo>
                  <a:pt x="1099280" y="584067"/>
                </a:lnTo>
                <a:lnTo>
                  <a:pt x="1105401" y="581771"/>
                </a:lnTo>
                <a:lnTo>
                  <a:pt x="1121164" y="577160"/>
                </a:lnTo>
                <a:lnTo>
                  <a:pt x="1141451" y="572831"/>
                </a:lnTo>
                <a:lnTo>
                  <a:pt x="1162820" y="577444"/>
                </a:lnTo>
                <a:lnTo>
                  <a:pt x="1185754" y="587447"/>
                </a:lnTo>
                <a:lnTo>
                  <a:pt x="1211627" y="604421"/>
                </a:lnTo>
                <a:lnTo>
                  <a:pt x="1238074" y="625443"/>
                </a:lnTo>
                <a:lnTo>
                  <a:pt x="1250233" y="636144"/>
                </a:lnTo>
                <a:lnTo>
                  <a:pt x="1263324" y="640936"/>
                </a:lnTo>
                <a:lnTo>
                  <a:pt x="1286629" y="642616"/>
                </a:lnTo>
                <a:lnTo>
                  <a:pt x="1301908" y="642262"/>
                </a:lnTo>
                <a:lnTo>
                  <a:pt x="1325616" y="663255"/>
                </a:lnTo>
                <a:lnTo>
                  <a:pt x="1337624" y="664610"/>
                </a:lnTo>
                <a:lnTo>
                  <a:pt x="1364451" y="671053"/>
                </a:lnTo>
                <a:lnTo>
                  <a:pt x="1397575" y="677751"/>
                </a:lnTo>
                <a:lnTo>
                  <a:pt x="1418457" y="677139"/>
                </a:lnTo>
                <a:lnTo>
                  <a:pt x="1440904" y="665973"/>
                </a:lnTo>
                <a:lnTo>
                  <a:pt x="1457045" y="665621"/>
                </a:lnTo>
                <a:lnTo>
                  <a:pt x="1477891" y="666720"/>
                </a:lnTo>
                <a:lnTo>
                  <a:pt x="1500832" y="663842"/>
                </a:lnTo>
                <a:lnTo>
                  <a:pt x="1517698" y="659170"/>
                </a:lnTo>
                <a:lnTo>
                  <a:pt x="1530669" y="649479"/>
                </a:lnTo>
                <a:lnTo>
                  <a:pt x="1542127" y="638846"/>
                </a:lnTo>
                <a:lnTo>
                  <a:pt x="1555551" y="606944"/>
                </a:lnTo>
                <a:lnTo>
                  <a:pt x="1563399" y="581226"/>
                </a:lnTo>
                <a:lnTo>
                  <a:pt x="1575445" y="551699"/>
                </a:lnTo>
                <a:lnTo>
                  <a:pt x="1590310" y="511673"/>
                </a:lnTo>
                <a:lnTo>
                  <a:pt x="1595809" y="483702"/>
                </a:lnTo>
                <a:lnTo>
                  <a:pt x="1601182" y="476061"/>
                </a:lnTo>
                <a:lnTo>
                  <a:pt x="1622134" y="467806"/>
                </a:lnTo>
                <a:lnTo>
                  <a:pt x="1639455" y="462188"/>
                </a:lnTo>
                <a:lnTo>
                  <a:pt x="1685991" y="451971"/>
                </a:lnTo>
                <a:lnTo>
                  <a:pt x="1695601" y="446273"/>
                </a:lnTo>
                <a:lnTo>
                  <a:pt x="1704519" y="433217"/>
                </a:lnTo>
                <a:lnTo>
                  <a:pt x="1725199" y="411192"/>
                </a:lnTo>
                <a:lnTo>
                  <a:pt x="1750578" y="392985"/>
                </a:lnTo>
                <a:lnTo>
                  <a:pt x="1763703" y="382534"/>
                </a:lnTo>
                <a:lnTo>
                  <a:pt x="1789337" y="292183"/>
                </a:lnTo>
                <a:lnTo>
                  <a:pt x="1792455" y="281039"/>
                </a:lnTo>
                <a:lnTo>
                  <a:pt x="1810267" y="257329"/>
                </a:lnTo>
                <a:lnTo>
                  <a:pt x="1821175" y="247396"/>
                </a:lnTo>
                <a:lnTo>
                  <a:pt x="1828054" y="247377"/>
                </a:lnTo>
                <a:lnTo>
                  <a:pt x="1837975" y="241260"/>
                </a:lnTo>
                <a:lnTo>
                  <a:pt x="1850946" y="229048"/>
                </a:lnTo>
                <a:lnTo>
                  <a:pt x="1866215" y="221703"/>
                </a:lnTo>
                <a:lnTo>
                  <a:pt x="1883775" y="219264"/>
                </a:lnTo>
                <a:lnTo>
                  <a:pt x="1895315" y="211242"/>
                </a:lnTo>
                <a:lnTo>
                  <a:pt x="1900852" y="197684"/>
                </a:lnTo>
                <a:lnTo>
                  <a:pt x="1910026" y="191278"/>
                </a:lnTo>
                <a:lnTo>
                  <a:pt x="1922851" y="192011"/>
                </a:lnTo>
                <a:lnTo>
                  <a:pt x="1930269" y="187869"/>
                </a:lnTo>
                <a:lnTo>
                  <a:pt x="1932318" y="178813"/>
                </a:lnTo>
                <a:lnTo>
                  <a:pt x="1940283" y="171250"/>
                </a:lnTo>
                <a:lnTo>
                  <a:pt x="1954183" y="165166"/>
                </a:lnTo>
                <a:lnTo>
                  <a:pt x="1961587" y="157704"/>
                </a:lnTo>
                <a:lnTo>
                  <a:pt x="1962489" y="148858"/>
                </a:lnTo>
                <a:lnTo>
                  <a:pt x="1979470" y="127795"/>
                </a:lnTo>
                <a:lnTo>
                  <a:pt x="2012627" y="94532"/>
                </a:lnTo>
                <a:lnTo>
                  <a:pt x="2043515" y="76436"/>
                </a:lnTo>
                <a:lnTo>
                  <a:pt x="2072113" y="73517"/>
                </a:lnTo>
                <a:lnTo>
                  <a:pt x="2099323" y="67327"/>
                </a:lnTo>
                <a:lnTo>
                  <a:pt x="2125188" y="57862"/>
                </a:lnTo>
                <a:lnTo>
                  <a:pt x="2144487" y="42242"/>
                </a:lnTo>
                <a:lnTo>
                  <a:pt x="2157236" y="20489"/>
                </a:lnTo>
                <a:lnTo>
                  <a:pt x="2178290" y="8887"/>
                </a:lnTo>
                <a:lnTo>
                  <a:pt x="2220048" y="6862"/>
                </a:lnTo>
                <a:lnTo>
                  <a:pt x="2222288" y="6729"/>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1574948" y="2241530"/>
            <a:ext cx="2335697" cy="2211656"/>
          </a:xfrm>
          <a:custGeom>
            <a:avLst/>
            <a:gdLst/>
            <a:ahLst/>
            <a:cxnLst/>
            <a:rect l="l" t="t" r="r" b="b"/>
            <a:pathLst>
              <a:path w="2335697" h="2211656">
                <a:moveTo>
                  <a:pt x="2031346" y="38641"/>
                </a:moveTo>
                <a:lnTo>
                  <a:pt x="2068742" y="31113"/>
                </a:lnTo>
                <a:lnTo>
                  <a:pt x="2112273" y="23641"/>
                </a:lnTo>
                <a:lnTo>
                  <a:pt x="2147128" y="17728"/>
                </a:lnTo>
                <a:lnTo>
                  <a:pt x="2155880" y="16133"/>
                </a:lnTo>
                <a:lnTo>
                  <a:pt x="2239766" y="23403"/>
                </a:lnTo>
                <a:lnTo>
                  <a:pt x="2276284" y="28495"/>
                </a:lnTo>
                <a:lnTo>
                  <a:pt x="2288954" y="33345"/>
                </a:lnTo>
                <a:lnTo>
                  <a:pt x="2305431" y="45955"/>
                </a:lnTo>
                <a:lnTo>
                  <a:pt x="2335697" y="76413"/>
                </a:lnTo>
                <a:lnTo>
                  <a:pt x="2327884" y="75212"/>
                </a:lnTo>
                <a:lnTo>
                  <a:pt x="2271722" y="81190"/>
                </a:lnTo>
                <a:lnTo>
                  <a:pt x="2250311" y="89265"/>
                </a:lnTo>
                <a:lnTo>
                  <a:pt x="2202376" y="124723"/>
                </a:lnTo>
                <a:lnTo>
                  <a:pt x="2192227" y="120090"/>
                </a:lnTo>
                <a:lnTo>
                  <a:pt x="2180798" y="112641"/>
                </a:lnTo>
                <a:lnTo>
                  <a:pt x="2171082" y="110483"/>
                </a:lnTo>
                <a:lnTo>
                  <a:pt x="2150057" y="119017"/>
                </a:lnTo>
                <a:lnTo>
                  <a:pt x="2129114" y="129254"/>
                </a:lnTo>
                <a:lnTo>
                  <a:pt x="2105993" y="143772"/>
                </a:lnTo>
                <a:lnTo>
                  <a:pt x="2086972" y="158030"/>
                </a:lnTo>
                <a:lnTo>
                  <a:pt x="2080763" y="165690"/>
                </a:lnTo>
                <a:lnTo>
                  <a:pt x="2050959" y="195114"/>
                </a:lnTo>
                <a:lnTo>
                  <a:pt x="2041258" y="199901"/>
                </a:lnTo>
                <a:lnTo>
                  <a:pt x="2032620" y="201927"/>
                </a:lnTo>
                <a:lnTo>
                  <a:pt x="2029131" y="200603"/>
                </a:lnTo>
                <a:lnTo>
                  <a:pt x="2025380" y="187992"/>
                </a:lnTo>
                <a:lnTo>
                  <a:pt x="2006993" y="158569"/>
                </a:lnTo>
                <a:lnTo>
                  <a:pt x="1977444" y="120045"/>
                </a:lnTo>
                <a:lnTo>
                  <a:pt x="1968832" y="116329"/>
                </a:lnTo>
                <a:lnTo>
                  <a:pt x="1962940" y="114879"/>
                </a:lnTo>
                <a:lnTo>
                  <a:pt x="1941138" y="116884"/>
                </a:lnTo>
                <a:lnTo>
                  <a:pt x="1877826" y="128312"/>
                </a:lnTo>
                <a:lnTo>
                  <a:pt x="1824489" y="138064"/>
                </a:lnTo>
                <a:lnTo>
                  <a:pt x="1742820" y="154850"/>
                </a:lnTo>
                <a:lnTo>
                  <a:pt x="1655166" y="168992"/>
                </a:lnTo>
                <a:lnTo>
                  <a:pt x="1601139" y="177848"/>
                </a:lnTo>
                <a:lnTo>
                  <a:pt x="1554103" y="181123"/>
                </a:lnTo>
                <a:lnTo>
                  <a:pt x="1554852" y="219402"/>
                </a:lnTo>
                <a:lnTo>
                  <a:pt x="1556434" y="296866"/>
                </a:lnTo>
                <a:lnTo>
                  <a:pt x="1558017" y="374333"/>
                </a:lnTo>
                <a:lnTo>
                  <a:pt x="1559620" y="451821"/>
                </a:lnTo>
                <a:lnTo>
                  <a:pt x="1561260" y="529348"/>
                </a:lnTo>
                <a:lnTo>
                  <a:pt x="1562902" y="606876"/>
                </a:lnTo>
                <a:lnTo>
                  <a:pt x="1564580" y="684422"/>
                </a:lnTo>
                <a:lnTo>
                  <a:pt x="1566260" y="761985"/>
                </a:lnTo>
                <a:lnTo>
                  <a:pt x="1567960" y="839584"/>
                </a:lnTo>
                <a:lnTo>
                  <a:pt x="1568696" y="873411"/>
                </a:lnTo>
                <a:lnTo>
                  <a:pt x="1567339" y="880727"/>
                </a:lnTo>
                <a:lnTo>
                  <a:pt x="1541010" y="881344"/>
                </a:lnTo>
                <a:lnTo>
                  <a:pt x="1481472" y="882847"/>
                </a:lnTo>
                <a:lnTo>
                  <a:pt x="1431375" y="884229"/>
                </a:lnTo>
                <a:lnTo>
                  <a:pt x="1390890" y="885424"/>
                </a:lnTo>
                <a:lnTo>
                  <a:pt x="1392225" y="931536"/>
                </a:lnTo>
                <a:lnTo>
                  <a:pt x="1393806" y="986090"/>
                </a:lnTo>
                <a:lnTo>
                  <a:pt x="1395400" y="1040632"/>
                </a:lnTo>
                <a:lnTo>
                  <a:pt x="1397006" y="1095180"/>
                </a:lnTo>
                <a:lnTo>
                  <a:pt x="1398642" y="1149734"/>
                </a:lnTo>
                <a:lnTo>
                  <a:pt x="1400292" y="1204293"/>
                </a:lnTo>
                <a:lnTo>
                  <a:pt x="1401936" y="1258859"/>
                </a:lnTo>
                <a:lnTo>
                  <a:pt x="1403594" y="1313429"/>
                </a:lnTo>
                <a:lnTo>
                  <a:pt x="1405264" y="1368023"/>
                </a:lnTo>
                <a:lnTo>
                  <a:pt x="1406545" y="1409194"/>
                </a:lnTo>
                <a:lnTo>
                  <a:pt x="1406687" y="1413918"/>
                </a:lnTo>
                <a:lnTo>
                  <a:pt x="1409098" y="1493909"/>
                </a:lnTo>
                <a:lnTo>
                  <a:pt x="1411683" y="1578632"/>
                </a:lnTo>
                <a:lnTo>
                  <a:pt x="1414298" y="1663344"/>
                </a:lnTo>
                <a:lnTo>
                  <a:pt x="1416944" y="1748082"/>
                </a:lnTo>
                <a:lnTo>
                  <a:pt x="1419622" y="1832824"/>
                </a:lnTo>
                <a:lnTo>
                  <a:pt x="1422330" y="1917552"/>
                </a:lnTo>
                <a:lnTo>
                  <a:pt x="1425069" y="2002302"/>
                </a:lnTo>
                <a:lnTo>
                  <a:pt x="1427840" y="2087053"/>
                </a:lnTo>
                <a:lnTo>
                  <a:pt x="1428724" y="2113902"/>
                </a:lnTo>
                <a:lnTo>
                  <a:pt x="1411442" y="2114110"/>
                </a:lnTo>
                <a:lnTo>
                  <a:pt x="1377094" y="2125664"/>
                </a:lnTo>
                <a:lnTo>
                  <a:pt x="1355454" y="2139912"/>
                </a:lnTo>
                <a:lnTo>
                  <a:pt x="1346504" y="2156834"/>
                </a:lnTo>
                <a:lnTo>
                  <a:pt x="1334180" y="2167363"/>
                </a:lnTo>
                <a:lnTo>
                  <a:pt x="1318458" y="2171543"/>
                </a:lnTo>
                <a:lnTo>
                  <a:pt x="1311794" y="2180273"/>
                </a:lnTo>
                <a:lnTo>
                  <a:pt x="1314199" y="2193579"/>
                </a:lnTo>
                <a:lnTo>
                  <a:pt x="1308499" y="2204044"/>
                </a:lnTo>
                <a:lnTo>
                  <a:pt x="1294701" y="2211656"/>
                </a:lnTo>
                <a:lnTo>
                  <a:pt x="1271907" y="2210485"/>
                </a:lnTo>
                <a:lnTo>
                  <a:pt x="1240071" y="2200560"/>
                </a:lnTo>
                <a:lnTo>
                  <a:pt x="1200029" y="2199610"/>
                </a:lnTo>
                <a:lnTo>
                  <a:pt x="1151815" y="2207665"/>
                </a:lnTo>
                <a:lnTo>
                  <a:pt x="1116844" y="2206513"/>
                </a:lnTo>
                <a:lnTo>
                  <a:pt x="1095068" y="2196030"/>
                </a:lnTo>
                <a:lnTo>
                  <a:pt x="1072213" y="2190582"/>
                </a:lnTo>
                <a:lnTo>
                  <a:pt x="1048294" y="2190136"/>
                </a:lnTo>
                <a:lnTo>
                  <a:pt x="1034217" y="2186021"/>
                </a:lnTo>
                <a:lnTo>
                  <a:pt x="1005466" y="2178931"/>
                </a:lnTo>
                <a:lnTo>
                  <a:pt x="999268" y="2164536"/>
                </a:lnTo>
                <a:lnTo>
                  <a:pt x="995338" y="2153586"/>
                </a:lnTo>
                <a:lnTo>
                  <a:pt x="986634" y="2142294"/>
                </a:lnTo>
                <a:lnTo>
                  <a:pt x="985233" y="2132908"/>
                </a:lnTo>
                <a:lnTo>
                  <a:pt x="991175" y="2125390"/>
                </a:lnTo>
                <a:lnTo>
                  <a:pt x="991466" y="2113770"/>
                </a:lnTo>
                <a:lnTo>
                  <a:pt x="986051" y="2098048"/>
                </a:lnTo>
                <a:lnTo>
                  <a:pt x="977773" y="2090689"/>
                </a:lnTo>
                <a:lnTo>
                  <a:pt x="966653" y="2091716"/>
                </a:lnTo>
                <a:lnTo>
                  <a:pt x="959379" y="2085989"/>
                </a:lnTo>
                <a:lnTo>
                  <a:pt x="955965" y="2073504"/>
                </a:lnTo>
                <a:lnTo>
                  <a:pt x="948851" y="2064281"/>
                </a:lnTo>
                <a:lnTo>
                  <a:pt x="932602" y="2055396"/>
                </a:lnTo>
                <a:lnTo>
                  <a:pt x="912299" y="2063904"/>
                </a:lnTo>
                <a:lnTo>
                  <a:pt x="903169" y="2075564"/>
                </a:lnTo>
                <a:lnTo>
                  <a:pt x="898442" y="2093231"/>
                </a:lnTo>
                <a:lnTo>
                  <a:pt x="893727" y="2102219"/>
                </a:lnTo>
                <a:lnTo>
                  <a:pt x="891956" y="2116900"/>
                </a:lnTo>
                <a:lnTo>
                  <a:pt x="891381" y="2127238"/>
                </a:lnTo>
                <a:lnTo>
                  <a:pt x="886700" y="2138486"/>
                </a:lnTo>
                <a:lnTo>
                  <a:pt x="881474" y="2143252"/>
                </a:lnTo>
                <a:lnTo>
                  <a:pt x="875715" y="2141572"/>
                </a:lnTo>
                <a:lnTo>
                  <a:pt x="865359" y="2146569"/>
                </a:lnTo>
                <a:lnTo>
                  <a:pt x="843026" y="2164146"/>
                </a:lnTo>
                <a:lnTo>
                  <a:pt x="836926" y="2173067"/>
                </a:lnTo>
                <a:lnTo>
                  <a:pt x="817101" y="2158777"/>
                </a:lnTo>
                <a:lnTo>
                  <a:pt x="758319" y="2104167"/>
                </a:lnTo>
                <a:lnTo>
                  <a:pt x="737787" y="2090338"/>
                </a:lnTo>
                <a:lnTo>
                  <a:pt x="706484" y="2056662"/>
                </a:lnTo>
                <a:lnTo>
                  <a:pt x="635199" y="1950606"/>
                </a:lnTo>
                <a:lnTo>
                  <a:pt x="624596" y="1929991"/>
                </a:lnTo>
                <a:lnTo>
                  <a:pt x="608697" y="1877518"/>
                </a:lnTo>
                <a:lnTo>
                  <a:pt x="591848" y="1838970"/>
                </a:lnTo>
                <a:lnTo>
                  <a:pt x="588711" y="1816271"/>
                </a:lnTo>
                <a:lnTo>
                  <a:pt x="594555" y="1802907"/>
                </a:lnTo>
                <a:lnTo>
                  <a:pt x="589209" y="1785634"/>
                </a:lnTo>
                <a:lnTo>
                  <a:pt x="580874" y="1770478"/>
                </a:lnTo>
                <a:lnTo>
                  <a:pt x="557446" y="1751513"/>
                </a:lnTo>
                <a:lnTo>
                  <a:pt x="546395" y="1683407"/>
                </a:lnTo>
                <a:lnTo>
                  <a:pt x="528540" y="1640170"/>
                </a:lnTo>
                <a:lnTo>
                  <a:pt x="529155" y="1603352"/>
                </a:lnTo>
                <a:lnTo>
                  <a:pt x="519761" y="1570525"/>
                </a:lnTo>
                <a:lnTo>
                  <a:pt x="517586" y="1549202"/>
                </a:lnTo>
                <a:lnTo>
                  <a:pt x="517980" y="1508367"/>
                </a:lnTo>
                <a:lnTo>
                  <a:pt x="502812" y="1462518"/>
                </a:lnTo>
                <a:lnTo>
                  <a:pt x="475399" y="1418572"/>
                </a:lnTo>
                <a:lnTo>
                  <a:pt x="448876" y="1354263"/>
                </a:lnTo>
                <a:lnTo>
                  <a:pt x="443706" y="1325632"/>
                </a:lnTo>
                <a:lnTo>
                  <a:pt x="440687" y="1247856"/>
                </a:lnTo>
                <a:lnTo>
                  <a:pt x="434250" y="1216520"/>
                </a:lnTo>
                <a:lnTo>
                  <a:pt x="431943" y="1179277"/>
                </a:lnTo>
                <a:lnTo>
                  <a:pt x="420555" y="1141356"/>
                </a:lnTo>
                <a:lnTo>
                  <a:pt x="415524" y="1120573"/>
                </a:lnTo>
                <a:lnTo>
                  <a:pt x="420565" y="1103463"/>
                </a:lnTo>
                <a:lnTo>
                  <a:pt x="424573" y="1108457"/>
                </a:lnTo>
                <a:lnTo>
                  <a:pt x="431137" y="1110501"/>
                </a:lnTo>
                <a:lnTo>
                  <a:pt x="433905" y="1088069"/>
                </a:lnTo>
                <a:lnTo>
                  <a:pt x="433664" y="1068452"/>
                </a:lnTo>
                <a:lnTo>
                  <a:pt x="419326" y="1021019"/>
                </a:lnTo>
                <a:lnTo>
                  <a:pt x="391178" y="973503"/>
                </a:lnTo>
                <a:lnTo>
                  <a:pt x="324103" y="897725"/>
                </a:lnTo>
                <a:lnTo>
                  <a:pt x="306917" y="868247"/>
                </a:lnTo>
                <a:lnTo>
                  <a:pt x="296529" y="843524"/>
                </a:lnTo>
                <a:lnTo>
                  <a:pt x="220081" y="743020"/>
                </a:lnTo>
                <a:lnTo>
                  <a:pt x="185191" y="670661"/>
                </a:lnTo>
                <a:lnTo>
                  <a:pt x="159907" y="607799"/>
                </a:lnTo>
                <a:lnTo>
                  <a:pt x="135205" y="579882"/>
                </a:lnTo>
                <a:lnTo>
                  <a:pt x="23919" y="393550"/>
                </a:lnTo>
                <a:lnTo>
                  <a:pt x="0" y="52526"/>
                </a:lnTo>
                <a:lnTo>
                  <a:pt x="8795" y="52124"/>
                </a:lnTo>
                <a:lnTo>
                  <a:pt x="27885" y="40581"/>
                </a:lnTo>
                <a:lnTo>
                  <a:pt x="50676" y="28717"/>
                </a:lnTo>
                <a:lnTo>
                  <a:pt x="63627" y="18959"/>
                </a:lnTo>
                <a:lnTo>
                  <a:pt x="82006" y="8475"/>
                </a:lnTo>
                <a:lnTo>
                  <a:pt x="89956" y="4895"/>
                </a:lnTo>
                <a:lnTo>
                  <a:pt x="152252" y="0"/>
                </a:lnTo>
                <a:lnTo>
                  <a:pt x="162348" y="712"/>
                </a:lnTo>
                <a:lnTo>
                  <a:pt x="175925" y="5819"/>
                </a:lnTo>
                <a:lnTo>
                  <a:pt x="192764" y="23835"/>
                </a:lnTo>
                <a:lnTo>
                  <a:pt x="218038" y="39531"/>
                </a:lnTo>
                <a:lnTo>
                  <a:pt x="236485" y="48623"/>
                </a:lnTo>
                <a:lnTo>
                  <a:pt x="257777" y="60851"/>
                </a:lnTo>
                <a:lnTo>
                  <a:pt x="264256" y="65721"/>
                </a:lnTo>
                <a:lnTo>
                  <a:pt x="273440" y="67992"/>
                </a:lnTo>
                <a:lnTo>
                  <a:pt x="278977" y="68483"/>
                </a:lnTo>
                <a:lnTo>
                  <a:pt x="316851" y="63637"/>
                </a:lnTo>
                <a:lnTo>
                  <a:pt x="351188" y="59301"/>
                </a:lnTo>
                <a:lnTo>
                  <a:pt x="388266" y="56800"/>
                </a:lnTo>
                <a:lnTo>
                  <a:pt x="458094" y="52245"/>
                </a:lnTo>
                <a:lnTo>
                  <a:pt x="527947" y="47885"/>
                </a:lnTo>
                <a:lnTo>
                  <a:pt x="597825" y="43701"/>
                </a:lnTo>
                <a:lnTo>
                  <a:pt x="667727" y="39730"/>
                </a:lnTo>
                <a:lnTo>
                  <a:pt x="737652" y="35953"/>
                </a:lnTo>
                <a:lnTo>
                  <a:pt x="807598" y="32371"/>
                </a:lnTo>
                <a:lnTo>
                  <a:pt x="877564" y="28984"/>
                </a:lnTo>
                <a:lnTo>
                  <a:pt x="947531" y="25791"/>
                </a:lnTo>
                <a:lnTo>
                  <a:pt x="976169" y="24532"/>
                </a:lnTo>
                <a:lnTo>
                  <a:pt x="1026219" y="22958"/>
                </a:lnTo>
                <a:lnTo>
                  <a:pt x="1078868" y="21414"/>
                </a:lnTo>
                <a:lnTo>
                  <a:pt x="1084730" y="22272"/>
                </a:lnTo>
                <a:lnTo>
                  <a:pt x="1090732" y="25722"/>
                </a:lnTo>
                <a:lnTo>
                  <a:pt x="1095651" y="28975"/>
                </a:lnTo>
                <a:lnTo>
                  <a:pt x="1115014" y="52383"/>
                </a:lnTo>
                <a:lnTo>
                  <a:pt x="1139562" y="76736"/>
                </a:lnTo>
                <a:lnTo>
                  <a:pt x="1159650" y="87959"/>
                </a:lnTo>
                <a:lnTo>
                  <a:pt x="1183479" y="94143"/>
                </a:lnTo>
                <a:lnTo>
                  <a:pt x="1205690" y="96028"/>
                </a:lnTo>
                <a:lnTo>
                  <a:pt x="1226271" y="93556"/>
                </a:lnTo>
                <a:lnTo>
                  <a:pt x="1260639" y="95605"/>
                </a:lnTo>
                <a:lnTo>
                  <a:pt x="1308742" y="102232"/>
                </a:lnTo>
                <a:lnTo>
                  <a:pt x="1358554" y="103113"/>
                </a:lnTo>
                <a:lnTo>
                  <a:pt x="1410068" y="98278"/>
                </a:lnTo>
                <a:lnTo>
                  <a:pt x="1446446" y="101803"/>
                </a:lnTo>
                <a:lnTo>
                  <a:pt x="1467646" y="113623"/>
                </a:lnTo>
                <a:lnTo>
                  <a:pt x="1489266" y="121464"/>
                </a:lnTo>
                <a:lnTo>
                  <a:pt x="1511330" y="125307"/>
                </a:lnTo>
                <a:lnTo>
                  <a:pt x="1540992" y="122027"/>
                </a:lnTo>
                <a:lnTo>
                  <a:pt x="1578277" y="111668"/>
                </a:lnTo>
                <a:lnTo>
                  <a:pt x="1610148" y="112391"/>
                </a:lnTo>
                <a:lnTo>
                  <a:pt x="1625024" y="119035"/>
                </a:lnTo>
                <a:lnTo>
                  <a:pt x="1633817" y="119091"/>
                </a:lnTo>
                <a:lnTo>
                  <a:pt x="1688734" y="108073"/>
                </a:lnTo>
                <a:lnTo>
                  <a:pt x="1732904" y="99299"/>
                </a:lnTo>
                <a:lnTo>
                  <a:pt x="1799165" y="85562"/>
                </a:lnTo>
                <a:lnTo>
                  <a:pt x="1853880" y="74357"/>
                </a:lnTo>
                <a:lnTo>
                  <a:pt x="1935029" y="57967"/>
                </a:lnTo>
                <a:lnTo>
                  <a:pt x="1992148" y="46604"/>
                </a:lnTo>
                <a:lnTo>
                  <a:pt x="2031346" y="38641"/>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4970364" y="2218637"/>
            <a:ext cx="818321" cy="1873847"/>
          </a:xfrm>
          <a:custGeom>
            <a:avLst/>
            <a:gdLst/>
            <a:ahLst/>
            <a:cxnLst/>
            <a:rect l="l" t="t" r="r" b="b"/>
            <a:pathLst>
              <a:path w="818321" h="1873847">
                <a:moveTo>
                  <a:pt x="26026" y="991305"/>
                </a:moveTo>
                <a:lnTo>
                  <a:pt x="52574" y="965081"/>
                </a:lnTo>
                <a:lnTo>
                  <a:pt x="83707" y="934416"/>
                </a:lnTo>
                <a:lnTo>
                  <a:pt x="111528" y="907074"/>
                </a:lnTo>
                <a:lnTo>
                  <a:pt x="136034" y="883063"/>
                </a:lnTo>
                <a:lnTo>
                  <a:pt x="169630" y="850256"/>
                </a:lnTo>
                <a:lnTo>
                  <a:pt x="202908" y="817861"/>
                </a:lnTo>
                <a:lnTo>
                  <a:pt x="210504" y="813941"/>
                </a:lnTo>
                <a:lnTo>
                  <a:pt x="213756" y="811332"/>
                </a:lnTo>
                <a:lnTo>
                  <a:pt x="201923" y="779934"/>
                </a:lnTo>
                <a:lnTo>
                  <a:pt x="225764" y="745853"/>
                </a:lnTo>
                <a:lnTo>
                  <a:pt x="228252" y="722876"/>
                </a:lnTo>
                <a:lnTo>
                  <a:pt x="228570" y="700770"/>
                </a:lnTo>
                <a:lnTo>
                  <a:pt x="231774" y="690815"/>
                </a:lnTo>
                <a:lnTo>
                  <a:pt x="238871" y="682358"/>
                </a:lnTo>
                <a:lnTo>
                  <a:pt x="265532" y="665564"/>
                </a:lnTo>
                <a:lnTo>
                  <a:pt x="286597" y="637429"/>
                </a:lnTo>
                <a:lnTo>
                  <a:pt x="304081" y="611030"/>
                </a:lnTo>
                <a:lnTo>
                  <a:pt x="328730" y="568325"/>
                </a:lnTo>
                <a:lnTo>
                  <a:pt x="331509" y="558073"/>
                </a:lnTo>
                <a:lnTo>
                  <a:pt x="332466" y="547382"/>
                </a:lnTo>
                <a:lnTo>
                  <a:pt x="327208" y="532064"/>
                </a:lnTo>
                <a:lnTo>
                  <a:pt x="313817" y="506874"/>
                </a:lnTo>
                <a:lnTo>
                  <a:pt x="304267" y="485284"/>
                </a:lnTo>
                <a:lnTo>
                  <a:pt x="296507" y="452454"/>
                </a:lnTo>
                <a:lnTo>
                  <a:pt x="307685" y="425073"/>
                </a:lnTo>
                <a:lnTo>
                  <a:pt x="312066" y="408390"/>
                </a:lnTo>
                <a:lnTo>
                  <a:pt x="312540" y="399257"/>
                </a:lnTo>
                <a:lnTo>
                  <a:pt x="308755" y="390312"/>
                </a:lnTo>
                <a:lnTo>
                  <a:pt x="298286" y="383058"/>
                </a:lnTo>
                <a:lnTo>
                  <a:pt x="289540" y="378210"/>
                </a:lnTo>
                <a:lnTo>
                  <a:pt x="287137" y="366436"/>
                </a:lnTo>
                <a:lnTo>
                  <a:pt x="287799" y="352662"/>
                </a:lnTo>
                <a:lnTo>
                  <a:pt x="292328" y="345319"/>
                </a:lnTo>
                <a:lnTo>
                  <a:pt x="316979" y="334569"/>
                </a:lnTo>
                <a:lnTo>
                  <a:pt x="322791" y="328245"/>
                </a:lnTo>
                <a:lnTo>
                  <a:pt x="326051" y="320935"/>
                </a:lnTo>
                <a:lnTo>
                  <a:pt x="326889" y="310283"/>
                </a:lnTo>
                <a:lnTo>
                  <a:pt x="335756" y="284127"/>
                </a:lnTo>
                <a:lnTo>
                  <a:pt x="346325" y="259446"/>
                </a:lnTo>
                <a:lnTo>
                  <a:pt x="347421" y="250563"/>
                </a:lnTo>
                <a:lnTo>
                  <a:pt x="344608" y="242540"/>
                </a:lnTo>
                <a:lnTo>
                  <a:pt x="342875" y="228092"/>
                </a:lnTo>
                <a:lnTo>
                  <a:pt x="342403" y="206451"/>
                </a:lnTo>
                <a:lnTo>
                  <a:pt x="345514" y="146152"/>
                </a:lnTo>
                <a:lnTo>
                  <a:pt x="353612" y="84203"/>
                </a:lnTo>
                <a:lnTo>
                  <a:pt x="353408" y="48772"/>
                </a:lnTo>
                <a:lnTo>
                  <a:pt x="340012" y="7195"/>
                </a:lnTo>
                <a:lnTo>
                  <a:pt x="340023" y="0"/>
                </a:lnTo>
                <a:lnTo>
                  <a:pt x="738694" y="28832"/>
                </a:lnTo>
                <a:lnTo>
                  <a:pt x="734884" y="31751"/>
                </a:lnTo>
                <a:lnTo>
                  <a:pt x="737901" y="43773"/>
                </a:lnTo>
                <a:lnTo>
                  <a:pt x="742685" y="50328"/>
                </a:lnTo>
                <a:lnTo>
                  <a:pt x="748235" y="53890"/>
                </a:lnTo>
                <a:lnTo>
                  <a:pt x="762187" y="55749"/>
                </a:lnTo>
                <a:lnTo>
                  <a:pt x="775328" y="54418"/>
                </a:lnTo>
                <a:lnTo>
                  <a:pt x="778858" y="50606"/>
                </a:lnTo>
                <a:lnTo>
                  <a:pt x="779513" y="32146"/>
                </a:lnTo>
                <a:lnTo>
                  <a:pt x="818321" y="35359"/>
                </a:lnTo>
                <a:lnTo>
                  <a:pt x="787089" y="479736"/>
                </a:lnTo>
                <a:lnTo>
                  <a:pt x="760746" y="507242"/>
                </a:lnTo>
                <a:lnTo>
                  <a:pt x="681505" y="561637"/>
                </a:lnTo>
                <a:lnTo>
                  <a:pt x="671160" y="562532"/>
                </a:lnTo>
                <a:lnTo>
                  <a:pt x="664279" y="561731"/>
                </a:lnTo>
                <a:lnTo>
                  <a:pt x="642186" y="538741"/>
                </a:lnTo>
                <a:lnTo>
                  <a:pt x="629448" y="536159"/>
                </a:lnTo>
                <a:lnTo>
                  <a:pt x="640082" y="549590"/>
                </a:lnTo>
                <a:lnTo>
                  <a:pt x="646944" y="560615"/>
                </a:lnTo>
                <a:lnTo>
                  <a:pt x="643599" y="580909"/>
                </a:lnTo>
                <a:lnTo>
                  <a:pt x="642350" y="611663"/>
                </a:lnTo>
                <a:lnTo>
                  <a:pt x="628898" y="670565"/>
                </a:lnTo>
                <a:lnTo>
                  <a:pt x="629217" y="683724"/>
                </a:lnTo>
                <a:lnTo>
                  <a:pt x="638667" y="701487"/>
                </a:lnTo>
                <a:lnTo>
                  <a:pt x="657207" y="723829"/>
                </a:lnTo>
                <a:lnTo>
                  <a:pt x="674087" y="751141"/>
                </a:lnTo>
                <a:lnTo>
                  <a:pt x="692654" y="827157"/>
                </a:lnTo>
                <a:lnTo>
                  <a:pt x="691647" y="865393"/>
                </a:lnTo>
                <a:lnTo>
                  <a:pt x="712666" y="916150"/>
                </a:lnTo>
                <a:lnTo>
                  <a:pt x="711973" y="937309"/>
                </a:lnTo>
                <a:lnTo>
                  <a:pt x="717842" y="990641"/>
                </a:lnTo>
                <a:lnTo>
                  <a:pt x="713857" y="1033027"/>
                </a:lnTo>
                <a:lnTo>
                  <a:pt x="710072" y="1058869"/>
                </a:lnTo>
                <a:lnTo>
                  <a:pt x="721031" y="1070883"/>
                </a:lnTo>
                <a:lnTo>
                  <a:pt x="726180" y="1061352"/>
                </a:lnTo>
                <a:lnTo>
                  <a:pt x="726267" y="1044811"/>
                </a:lnTo>
                <a:lnTo>
                  <a:pt x="731522" y="1018705"/>
                </a:lnTo>
                <a:lnTo>
                  <a:pt x="739060" y="1007531"/>
                </a:lnTo>
                <a:lnTo>
                  <a:pt x="745517" y="1009780"/>
                </a:lnTo>
                <a:lnTo>
                  <a:pt x="746061" y="1016870"/>
                </a:lnTo>
                <a:lnTo>
                  <a:pt x="739291" y="1101254"/>
                </a:lnTo>
                <a:lnTo>
                  <a:pt x="736761" y="1111204"/>
                </a:lnTo>
                <a:lnTo>
                  <a:pt x="737365" y="1125049"/>
                </a:lnTo>
                <a:lnTo>
                  <a:pt x="730528" y="1208880"/>
                </a:lnTo>
                <a:lnTo>
                  <a:pt x="729316" y="1211701"/>
                </a:lnTo>
                <a:lnTo>
                  <a:pt x="700637" y="1309428"/>
                </a:lnTo>
                <a:lnTo>
                  <a:pt x="698077" y="1326550"/>
                </a:lnTo>
                <a:lnTo>
                  <a:pt x="702397" y="1334499"/>
                </a:lnTo>
                <a:lnTo>
                  <a:pt x="713188" y="1338020"/>
                </a:lnTo>
                <a:lnTo>
                  <a:pt x="718288" y="1325694"/>
                </a:lnTo>
                <a:lnTo>
                  <a:pt x="720833" y="1325958"/>
                </a:lnTo>
                <a:lnTo>
                  <a:pt x="717111" y="1370367"/>
                </a:lnTo>
                <a:lnTo>
                  <a:pt x="714550" y="1379289"/>
                </a:lnTo>
                <a:lnTo>
                  <a:pt x="703914" y="1398619"/>
                </a:lnTo>
                <a:lnTo>
                  <a:pt x="668048" y="1445167"/>
                </a:lnTo>
                <a:lnTo>
                  <a:pt x="649175" y="1464842"/>
                </a:lnTo>
                <a:lnTo>
                  <a:pt x="619133" y="1483195"/>
                </a:lnTo>
                <a:lnTo>
                  <a:pt x="550043" y="1510116"/>
                </a:lnTo>
                <a:lnTo>
                  <a:pt x="413328" y="1546489"/>
                </a:lnTo>
                <a:lnTo>
                  <a:pt x="358890" y="1565529"/>
                </a:lnTo>
                <a:lnTo>
                  <a:pt x="326438" y="1576937"/>
                </a:lnTo>
                <a:lnTo>
                  <a:pt x="256884" y="1615889"/>
                </a:lnTo>
                <a:lnTo>
                  <a:pt x="225849" y="1643187"/>
                </a:lnTo>
                <a:lnTo>
                  <a:pt x="211635" y="1675999"/>
                </a:lnTo>
                <a:lnTo>
                  <a:pt x="199164" y="1690622"/>
                </a:lnTo>
                <a:lnTo>
                  <a:pt x="186652" y="1709358"/>
                </a:lnTo>
                <a:lnTo>
                  <a:pt x="195307" y="1726762"/>
                </a:lnTo>
                <a:lnTo>
                  <a:pt x="204052" y="1740085"/>
                </a:lnTo>
                <a:lnTo>
                  <a:pt x="214788" y="1749345"/>
                </a:lnTo>
                <a:lnTo>
                  <a:pt x="220152" y="1757062"/>
                </a:lnTo>
                <a:lnTo>
                  <a:pt x="227484" y="1762674"/>
                </a:lnTo>
                <a:lnTo>
                  <a:pt x="237027" y="1736891"/>
                </a:lnTo>
                <a:lnTo>
                  <a:pt x="241419" y="1728974"/>
                </a:lnTo>
                <a:lnTo>
                  <a:pt x="248049" y="1728804"/>
                </a:lnTo>
                <a:lnTo>
                  <a:pt x="242180" y="1760694"/>
                </a:lnTo>
                <a:lnTo>
                  <a:pt x="226926" y="1870293"/>
                </a:lnTo>
                <a:lnTo>
                  <a:pt x="226160" y="1873847"/>
                </a:lnTo>
                <a:lnTo>
                  <a:pt x="207503" y="1872861"/>
                </a:lnTo>
                <a:lnTo>
                  <a:pt x="175499" y="1871578"/>
                </a:lnTo>
                <a:lnTo>
                  <a:pt x="156576" y="1870823"/>
                </a:lnTo>
                <a:lnTo>
                  <a:pt x="135404" y="1870011"/>
                </a:lnTo>
                <a:lnTo>
                  <a:pt x="109563" y="1862939"/>
                </a:lnTo>
                <a:lnTo>
                  <a:pt x="94730" y="1863122"/>
                </a:lnTo>
                <a:lnTo>
                  <a:pt x="97422" y="1802194"/>
                </a:lnTo>
                <a:lnTo>
                  <a:pt x="93481" y="1788512"/>
                </a:lnTo>
                <a:lnTo>
                  <a:pt x="89654" y="1768639"/>
                </a:lnTo>
                <a:lnTo>
                  <a:pt x="89253" y="1756007"/>
                </a:lnTo>
                <a:lnTo>
                  <a:pt x="93216" y="1743595"/>
                </a:lnTo>
                <a:lnTo>
                  <a:pt x="95986" y="1723712"/>
                </a:lnTo>
                <a:lnTo>
                  <a:pt x="95653" y="1706135"/>
                </a:lnTo>
                <a:lnTo>
                  <a:pt x="80403" y="1696362"/>
                </a:lnTo>
                <a:lnTo>
                  <a:pt x="77107" y="1693355"/>
                </a:lnTo>
                <a:lnTo>
                  <a:pt x="74529" y="1679376"/>
                </a:lnTo>
                <a:lnTo>
                  <a:pt x="74445" y="1658066"/>
                </a:lnTo>
                <a:lnTo>
                  <a:pt x="87138" y="1631706"/>
                </a:lnTo>
                <a:lnTo>
                  <a:pt x="89398" y="1579753"/>
                </a:lnTo>
                <a:lnTo>
                  <a:pt x="91817" y="1561550"/>
                </a:lnTo>
                <a:lnTo>
                  <a:pt x="93773" y="1525415"/>
                </a:lnTo>
                <a:lnTo>
                  <a:pt x="96157" y="1481635"/>
                </a:lnTo>
                <a:lnTo>
                  <a:pt x="98286" y="1442435"/>
                </a:lnTo>
                <a:lnTo>
                  <a:pt x="100747" y="1408633"/>
                </a:lnTo>
                <a:lnTo>
                  <a:pt x="98349" y="1392396"/>
                </a:lnTo>
                <a:lnTo>
                  <a:pt x="96081" y="1383428"/>
                </a:lnTo>
                <a:lnTo>
                  <a:pt x="89719" y="1365065"/>
                </a:lnTo>
                <a:lnTo>
                  <a:pt x="83219" y="1327215"/>
                </a:lnTo>
                <a:lnTo>
                  <a:pt x="74592" y="1298407"/>
                </a:lnTo>
                <a:lnTo>
                  <a:pt x="62444" y="1279023"/>
                </a:lnTo>
                <a:lnTo>
                  <a:pt x="58795" y="1268975"/>
                </a:lnTo>
                <a:lnTo>
                  <a:pt x="55258" y="1255614"/>
                </a:lnTo>
                <a:lnTo>
                  <a:pt x="44027" y="1231787"/>
                </a:lnTo>
                <a:lnTo>
                  <a:pt x="34519" y="1217749"/>
                </a:lnTo>
                <a:lnTo>
                  <a:pt x="32315" y="1206823"/>
                </a:lnTo>
                <a:lnTo>
                  <a:pt x="34178" y="1178994"/>
                </a:lnTo>
                <a:lnTo>
                  <a:pt x="25432" y="1128311"/>
                </a:lnTo>
                <a:lnTo>
                  <a:pt x="19023" y="1091367"/>
                </a:lnTo>
                <a:lnTo>
                  <a:pt x="8516" y="1051161"/>
                </a:lnTo>
                <a:lnTo>
                  <a:pt x="1430" y="1024243"/>
                </a:lnTo>
                <a:lnTo>
                  <a:pt x="421" y="1019620"/>
                </a:lnTo>
                <a:lnTo>
                  <a:pt x="0" y="1009551"/>
                </a:lnTo>
                <a:lnTo>
                  <a:pt x="26026" y="991305"/>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reeform 14"/>
          <p:cNvSpPr/>
          <p:nvPr/>
        </p:nvSpPr>
        <p:spPr>
          <a:xfrm>
            <a:off x="5705248" y="2247469"/>
            <a:ext cx="44629" cy="26917"/>
          </a:xfrm>
          <a:custGeom>
            <a:avLst/>
            <a:gdLst/>
            <a:ahLst/>
            <a:cxnLst/>
            <a:rect l="l" t="t" r="r" b="b"/>
            <a:pathLst>
              <a:path w="44629" h="26917">
                <a:moveTo>
                  <a:pt x="43974" y="21774"/>
                </a:moveTo>
                <a:lnTo>
                  <a:pt x="40444" y="25586"/>
                </a:lnTo>
                <a:lnTo>
                  <a:pt x="27303" y="26917"/>
                </a:lnTo>
                <a:lnTo>
                  <a:pt x="13351" y="25058"/>
                </a:lnTo>
                <a:lnTo>
                  <a:pt x="7801" y="21496"/>
                </a:lnTo>
                <a:lnTo>
                  <a:pt x="3017" y="14941"/>
                </a:lnTo>
                <a:lnTo>
                  <a:pt x="0" y="2919"/>
                </a:lnTo>
                <a:lnTo>
                  <a:pt x="3810" y="0"/>
                </a:lnTo>
                <a:lnTo>
                  <a:pt x="44629" y="3314"/>
                </a:lnTo>
                <a:lnTo>
                  <a:pt x="43974" y="21774"/>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reeform 15"/>
          <p:cNvSpPr/>
          <p:nvPr/>
        </p:nvSpPr>
        <p:spPr>
          <a:xfrm>
            <a:off x="4188498" y="4383812"/>
            <a:ext cx="392409" cy="389037"/>
          </a:xfrm>
          <a:custGeom>
            <a:avLst/>
            <a:gdLst/>
            <a:ahLst/>
            <a:cxnLst/>
            <a:rect l="l" t="t" r="r" b="b"/>
            <a:pathLst>
              <a:path w="392409" h="389037">
                <a:moveTo>
                  <a:pt x="261864" y="294446"/>
                </a:moveTo>
                <a:lnTo>
                  <a:pt x="259778" y="294777"/>
                </a:lnTo>
                <a:lnTo>
                  <a:pt x="250267" y="293342"/>
                </a:lnTo>
                <a:lnTo>
                  <a:pt x="237469" y="293989"/>
                </a:lnTo>
                <a:lnTo>
                  <a:pt x="227348" y="296211"/>
                </a:lnTo>
                <a:lnTo>
                  <a:pt x="219536" y="296901"/>
                </a:lnTo>
                <a:lnTo>
                  <a:pt x="206348" y="309959"/>
                </a:lnTo>
                <a:lnTo>
                  <a:pt x="182005" y="345629"/>
                </a:lnTo>
                <a:lnTo>
                  <a:pt x="175606" y="353050"/>
                </a:lnTo>
                <a:lnTo>
                  <a:pt x="173387" y="367317"/>
                </a:lnTo>
                <a:lnTo>
                  <a:pt x="167656" y="378468"/>
                </a:lnTo>
                <a:lnTo>
                  <a:pt x="160826" y="387107"/>
                </a:lnTo>
                <a:lnTo>
                  <a:pt x="154380" y="389037"/>
                </a:lnTo>
                <a:lnTo>
                  <a:pt x="135337" y="384903"/>
                </a:lnTo>
                <a:lnTo>
                  <a:pt x="110975" y="379601"/>
                </a:lnTo>
                <a:lnTo>
                  <a:pt x="97062" y="368176"/>
                </a:lnTo>
                <a:lnTo>
                  <a:pt x="84816" y="353347"/>
                </a:lnTo>
                <a:lnTo>
                  <a:pt x="78432" y="342641"/>
                </a:lnTo>
                <a:lnTo>
                  <a:pt x="71590" y="336673"/>
                </a:lnTo>
                <a:lnTo>
                  <a:pt x="69283" y="333368"/>
                </a:lnTo>
                <a:lnTo>
                  <a:pt x="59421" y="328231"/>
                </a:lnTo>
                <a:lnTo>
                  <a:pt x="55718" y="325614"/>
                </a:lnTo>
                <a:lnTo>
                  <a:pt x="52444" y="323737"/>
                </a:lnTo>
                <a:lnTo>
                  <a:pt x="48610" y="316631"/>
                </a:lnTo>
                <a:lnTo>
                  <a:pt x="46410" y="310501"/>
                </a:lnTo>
                <a:lnTo>
                  <a:pt x="47833" y="293615"/>
                </a:lnTo>
                <a:lnTo>
                  <a:pt x="41052" y="283340"/>
                </a:lnTo>
                <a:lnTo>
                  <a:pt x="29441" y="265810"/>
                </a:lnTo>
                <a:lnTo>
                  <a:pt x="22165" y="251508"/>
                </a:lnTo>
                <a:lnTo>
                  <a:pt x="12208" y="231984"/>
                </a:lnTo>
                <a:lnTo>
                  <a:pt x="6216" y="215338"/>
                </a:lnTo>
                <a:lnTo>
                  <a:pt x="0" y="198093"/>
                </a:lnTo>
                <a:lnTo>
                  <a:pt x="1051" y="190783"/>
                </a:lnTo>
                <a:lnTo>
                  <a:pt x="7554" y="185936"/>
                </a:lnTo>
                <a:lnTo>
                  <a:pt x="26470" y="177815"/>
                </a:lnTo>
                <a:lnTo>
                  <a:pt x="41164" y="171553"/>
                </a:lnTo>
                <a:lnTo>
                  <a:pt x="51891" y="159626"/>
                </a:lnTo>
                <a:lnTo>
                  <a:pt x="63761" y="141795"/>
                </a:lnTo>
                <a:lnTo>
                  <a:pt x="69602" y="131026"/>
                </a:lnTo>
                <a:lnTo>
                  <a:pt x="75259" y="126194"/>
                </a:lnTo>
                <a:lnTo>
                  <a:pt x="81520" y="118661"/>
                </a:lnTo>
                <a:lnTo>
                  <a:pt x="92571" y="101882"/>
                </a:lnTo>
                <a:lnTo>
                  <a:pt x="104890" y="83265"/>
                </a:lnTo>
                <a:lnTo>
                  <a:pt x="118090" y="63264"/>
                </a:lnTo>
                <a:lnTo>
                  <a:pt x="134162" y="57848"/>
                </a:lnTo>
                <a:lnTo>
                  <a:pt x="156082" y="51716"/>
                </a:lnTo>
                <a:lnTo>
                  <a:pt x="177552" y="34601"/>
                </a:lnTo>
                <a:lnTo>
                  <a:pt x="202942" y="20433"/>
                </a:lnTo>
                <a:lnTo>
                  <a:pt x="243699" y="5552"/>
                </a:lnTo>
                <a:lnTo>
                  <a:pt x="262586" y="2101"/>
                </a:lnTo>
                <a:lnTo>
                  <a:pt x="269796" y="0"/>
                </a:lnTo>
                <a:lnTo>
                  <a:pt x="274190" y="3237"/>
                </a:lnTo>
                <a:lnTo>
                  <a:pt x="278620" y="12738"/>
                </a:lnTo>
                <a:lnTo>
                  <a:pt x="285137" y="20790"/>
                </a:lnTo>
                <a:lnTo>
                  <a:pt x="300445" y="34959"/>
                </a:lnTo>
                <a:lnTo>
                  <a:pt x="307028" y="38494"/>
                </a:lnTo>
                <a:lnTo>
                  <a:pt x="322546" y="59212"/>
                </a:lnTo>
                <a:lnTo>
                  <a:pt x="339436" y="73682"/>
                </a:lnTo>
                <a:lnTo>
                  <a:pt x="358840" y="90359"/>
                </a:lnTo>
                <a:lnTo>
                  <a:pt x="372163" y="98820"/>
                </a:lnTo>
                <a:lnTo>
                  <a:pt x="379020" y="101311"/>
                </a:lnTo>
                <a:lnTo>
                  <a:pt x="384171" y="115624"/>
                </a:lnTo>
                <a:lnTo>
                  <a:pt x="389541" y="126312"/>
                </a:lnTo>
                <a:lnTo>
                  <a:pt x="392409" y="136223"/>
                </a:lnTo>
                <a:lnTo>
                  <a:pt x="391311" y="145720"/>
                </a:lnTo>
                <a:lnTo>
                  <a:pt x="383947" y="168740"/>
                </a:lnTo>
                <a:lnTo>
                  <a:pt x="373679" y="192140"/>
                </a:lnTo>
                <a:lnTo>
                  <a:pt x="365865" y="201724"/>
                </a:lnTo>
                <a:lnTo>
                  <a:pt x="356593" y="207595"/>
                </a:lnTo>
                <a:lnTo>
                  <a:pt x="347386" y="216623"/>
                </a:lnTo>
                <a:lnTo>
                  <a:pt x="343198" y="235572"/>
                </a:lnTo>
                <a:lnTo>
                  <a:pt x="338254" y="257863"/>
                </a:lnTo>
                <a:lnTo>
                  <a:pt x="326409" y="266640"/>
                </a:lnTo>
                <a:lnTo>
                  <a:pt x="317250" y="272344"/>
                </a:lnTo>
                <a:lnTo>
                  <a:pt x="304640" y="279294"/>
                </a:lnTo>
                <a:lnTo>
                  <a:pt x="276957" y="290324"/>
                </a:lnTo>
                <a:lnTo>
                  <a:pt x="261864" y="294446"/>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Freeform 16"/>
          <p:cNvSpPr/>
          <p:nvPr/>
        </p:nvSpPr>
        <p:spPr>
          <a:xfrm>
            <a:off x="2965838" y="2316742"/>
            <a:ext cx="1666084" cy="1729671"/>
          </a:xfrm>
          <a:custGeom>
            <a:avLst/>
            <a:gdLst/>
            <a:ahLst/>
            <a:cxnLst/>
            <a:rect l="l" t="t" r="r" b="b"/>
            <a:pathLst>
              <a:path w="1666084" h="1729671">
                <a:moveTo>
                  <a:pt x="941130" y="10561"/>
                </a:moveTo>
                <a:lnTo>
                  <a:pt x="938279" y="24229"/>
                </a:lnTo>
                <a:lnTo>
                  <a:pt x="941539" y="34469"/>
                </a:lnTo>
                <a:lnTo>
                  <a:pt x="948763" y="48230"/>
                </a:lnTo>
                <a:lnTo>
                  <a:pt x="959220" y="60339"/>
                </a:lnTo>
                <a:lnTo>
                  <a:pt x="967215" y="67535"/>
                </a:lnTo>
                <a:lnTo>
                  <a:pt x="976610" y="85276"/>
                </a:lnTo>
                <a:lnTo>
                  <a:pt x="985988" y="107453"/>
                </a:lnTo>
                <a:lnTo>
                  <a:pt x="998403" y="124775"/>
                </a:lnTo>
                <a:lnTo>
                  <a:pt x="1034926" y="164598"/>
                </a:lnTo>
                <a:lnTo>
                  <a:pt x="1038854" y="178760"/>
                </a:lnTo>
                <a:lnTo>
                  <a:pt x="1043826" y="192789"/>
                </a:lnTo>
                <a:lnTo>
                  <a:pt x="1066652" y="219993"/>
                </a:lnTo>
                <a:lnTo>
                  <a:pt x="1070140" y="228964"/>
                </a:lnTo>
                <a:lnTo>
                  <a:pt x="1068375" y="247190"/>
                </a:lnTo>
                <a:lnTo>
                  <a:pt x="1091453" y="302275"/>
                </a:lnTo>
                <a:lnTo>
                  <a:pt x="1106599" y="334499"/>
                </a:lnTo>
                <a:lnTo>
                  <a:pt x="1119701" y="340613"/>
                </a:lnTo>
                <a:lnTo>
                  <a:pt x="1161375" y="375411"/>
                </a:lnTo>
                <a:lnTo>
                  <a:pt x="1197652" y="403498"/>
                </a:lnTo>
                <a:lnTo>
                  <a:pt x="1240300" y="422889"/>
                </a:lnTo>
                <a:lnTo>
                  <a:pt x="1271603" y="435765"/>
                </a:lnTo>
                <a:lnTo>
                  <a:pt x="1286983" y="445017"/>
                </a:lnTo>
                <a:lnTo>
                  <a:pt x="1294592" y="453720"/>
                </a:lnTo>
                <a:lnTo>
                  <a:pt x="1300588" y="470260"/>
                </a:lnTo>
                <a:lnTo>
                  <a:pt x="1303192" y="498811"/>
                </a:lnTo>
                <a:lnTo>
                  <a:pt x="1303901" y="517252"/>
                </a:lnTo>
                <a:lnTo>
                  <a:pt x="1337704" y="517358"/>
                </a:lnTo>
                <a:lnTo>
                  <a:pt x="1365610" y="519767"/>
                </a:lnTo>
                <a:lnTo>
                  <a:pt x="1375338" y="523728"/>
                </a:lnTo>
                <a:lnTo>
                  <a:pt x="1378856" y="529082"/>
                </a:lnTo>
                <a:lnTo>
                  <a:pt x="1377701" y="541199"/>
                </a:lnTo>
                <a:lnTo>
                  <a:pt x="1377644" y="559310"/>
                </a:lnTo>
                <a:lnTo>
                  <a:pt x="1378599" y="573921"/>
                </a:lnTo>
                <a:lnTo>
                  <a:pt x="1375312" y="589418"/>
                </a:lnTo>
                <a:lnTo>
                  <a:pt x="1372870" y="607708"/>
                </a:lnTo>
                <a:lnTo>
                  <a:pt x="1370967" y="630381"/>
                </a:lnTo>
                <a:lnTo>
                  <a:pt x="1375041" y="639394"/>
                </a:lnTo>
                <a:lnTo>
                  <a:pt x="1401230" y="668771"/>
                </a:lnTo>
                <a:lnTo>
                  <a:pt x="1412037" y="687653"/>
                </a:lnTo>
                <a:lnTo>
                  <a:pt x="1423265" y="716090"/>
                </a:lnTo>
                <a:lnTo>
                  <a:pt x="1430049" y="725328"/>
                </a:lnTo>
                <a:lnTo>
                  <a:pt x="1435569" y="729083"/>
                </a:lnTo>
                <a:lnTo>
                  <a:pt x="1459707" y="732935"/>
                </a:lnTo>
                <a:lnTo>
                  <a:pt x="1521729" y="746757"/>
                </a:lnTo>
                <a:lnTo>
                  <a:pt x="1559767" y="758817"/>
                </a:lnTo>
                <a:lnTo>
                  <a:pt x="1589909" y="771037"/>
                </a:lnTo>
                <a:lnTo>
                  <a:pt x="1602498" y="774446"/>
                </a:lnTo>
                <a:lnTo>
                  <a:pt x="1608593" y="777616"/>
                </a:lnTo>
                <a:lnTo>
                  <a:pt x="1610581" y="780444"/>
                </a:lnTo>
                <a:lnTo>
                  <a:pt x="1605920" y="804767"/>
                </a:lnTo>
                <a:lnTo>
                  <a:pt x="1606984" y="812676"/>
                </a:lnTo>
                <a:lnTo>
                  <a:pt x="1610118" y="819865"/>
                </a:lnTo>
                <a:lnTo>
                  <a:pt x="1615087" y="825599"/>
                </a:lnTo>
                <a:lnTo>
                  <a:pt x="1621235" y="829315"/>
                </a:lnTo>
                <a:lnTo>
                  <a:pt x="1644261" y="832839"/>
                </a:lnTo>
                <a:lnTo>
                  <a:pt x="1657549" y="848274"/>
                </a:lnTo>
                <a:lnTo>
                  <a:pt x="1666084" y="855523"/>
                </a:lnTo>
                <a:lnTo>
                  <a:pt x="1624326" y="857548"/>
                </a:lnTo>
                <a:lnTo>
                  <a:pt x="1603272" y="869150"/>
                </a:lnTo>
                <a:lnTo>
                  <a:pt x="1590523" y="890903"/>
                </a:lnTo>
                <a:lnTo>
                  <a:pt x="1571224" y="906523"/>
                </a:lnTo>
                <a:lnTo>
                  <a:pt x="1545359" y="915988"/>
                </a:lnTo>
                <a:lnTo>
                  <a:pt x="1518149" y="922178"/>
                </a:lnTo>
                <a:lnTo>
                  <a:pt x="1489551" y="925097"/>
                </a:lnTo>
                <a:lnTo>
                  <a:pt x="1458663" y="943193"/>
                </a:lnTo>
                <a:lnTo>
                  <a:pt x="1425506" y="976456"/>
                </a:lnTo>
                <a:lnTo>
                  <a:pt x="1408525" y="997519"/>
                </a:lnTo>
                <a:lnTo>
                  <a:pt x="1407623" y="1006365"/>
                </a:lnTo>
                <a:lnTo>
                  <a:pt x="1400219" y="1013827"/>
                </a:lnTo>
                <a:lnTo>
                  <a:pt x="1386319" y="1019911"/>
                </a:lnTo>
                <a:lnTo>
                  <a:pt x="1378354" y="1027474"/>
                </a:lnTo>
                <a:lnTo>
                  <a:pt x="1376305" y="1036530"/>
                </a:lnTo>
                <a:lnTo>
                  <a:pt x="1368887" y="1040672"/>
                </a:lnTo>
                <a:lnTo>
                  <a:pt x="1356062" y="1039939"/>
                </a:lnTo>
                <a:lnTo>
                  <a:pt x="1346888" y="1046345"/>
                </a:lnTo>
                <a:lnTo>
                  <a:pt x="1341351" y="1059903"/>
                </a:lnTo>
                <a:lnTo>
                  <a:pt x="1329811" y="1067925"/>
                </a:lnTo>
                <a:lnTo>
                  <a:pt x="1312251" y="1070364"/>
                </a:lnTo>
                <a:lnTo>
                  <a:pt x="1296982" y="1077709"/>
                </a:lnTo>
                <a:lnTo>
                  <a:pt x="1284011" y="1089921"/>
                </a:lnTo>
                <a:lnTo>
                  <a:pt x="1274090" y="1096038"/>
                </a:lnTo>
                <a:lnTo>
                  <a:pt x="1267211" y="1096057"/>
                </a:lnTo>
                <a:lnTo>
                  <a:pt x="1256303" y="1105990"/>
                </a:lnTo>
                <a:lnTo>
                  <a:pt x="1238491" y="1129700"/>
                </a:lnTo>
                <a:lnTo>
                  <a:pt x="1235373" y="1140844"/>
                </a:lnTo>
                <a:lnTo>
                  <a:pt x="1209739" y="1231195"/>
                </a:lnTo>
                <a:lnTo>
                  <a:pt x="1196614" y="1241646"/>
                </a:lnTo>
                <a:lnTo>
                  <a:pt x="1171235" y="1259853"/>
                </a:lnTo>
                <a:lnTo>
                  <a:pt x="1150555" y="1281878"/>
                </a:lnTo>
                <a:lnTo>
                  <a:pt x="1141637" y="1294934"/>
                </a:lnTo>
                <a:lnTo>
                  <a:pt x="1132027" y="1300632"/>
                </a:lnTo>
                <a:lnTo>
                  <a:pt x="1085491" y="1310849"/>
                </a:lnTo>
                <a:lnTo>
                  <a:pt x="1068170" y="1316467"/>
                </a:lnTo>
                <a:lnTo>
                  <a:pt x="1047218" y="1324722"/>
                </a:lnTo>
                <a:lnTo>
                  <a:pt x="1041845" y="1332363"/>
                </a:lnTo>
                <a:lnTo>
                  <a:pt x="1036346" y="1360334"/>
                </a:lnTo>
                <a:lnTo>
                  <a:pt x="1021481" y="1400360"/>
                </a:lnTo>
                <a:lnTo>
                  <a:pt x="1009435" y="1429887"/>
                </a:lnTo>
                <a:lnTo>
                  <a:pt x="1001587" y="1455605"/>
                </a:lnTo>
                <a:lnTo>
                  <a:pt x="988163" y="1487507"/>
                </a:lnTo>
                <a:lnTo>
                  <a:pt x="976705" y="1498140"/>
                </a:lnTo>
                <a:lnTo>
                  <a:pt x="963734" y="1507831"/>
                </a:lnTo>
                <a:lnTo>
                  <a:pt x="946868" y="1512503"/>
                </a:lnTo>
                <a:lnTo>
                  <a:pt x="923927" y="1515381"/>
                </a:lnTo>
                <a:lnTo>
                  <a:pt x="903081" y="1514282"/>
                </a:lnTo>
                <a:lnTo>
                  <a:pt x="886940" y="1514634"/>
                </a:lnTo>
                <a:lnTo>
                  <a:pt x="864493" y="1525800"/>
                </a:lnTo>
                <a:lnTo>
                  <a:pt x="843611" y="1526412"/>
                </a:lnTo>
                <a:lnTo>
                  <a:pt x="810487" y="1519714"/>
                </a:lnTo>
                <a:lnTo>
                  <a:pt x="783660" y="1513271"/>
                </a:lnTo>
                <a:lnTo>
                  <a:pt x="771652" y="1511916"/>
                </a:lnTo>
                <a:lnTo>
                  <a:pt x="747944" y="1490923"/>
                </a:lnTo>
                <a:lnTo>
                  <a:pt x="732665" y="1491277"/>
                </a:lnTo>
                <a:lnTo>
                  <a:pt x="709360" y="1489597"/>
                </a:lnTo>
                <a:lnTo>
                  <a:pt x="696269" y="1484805"/>
                </a:lnTo>
                <a:lnTo>
                  <a:pt x="684110" y="1474104"/>
                </a:lnTo>
                <a:lnTo>
                  <a:pt x="657663" y="1453082"/>
                </a:lnTo>
                <a:lnTo>
                  <a:pt x="631790" y="1436108"/>
                </a:lnTo>
                <a:lnTo>
                  <a:pt x="608856" y="1426105"/>
                </a:lnTo>
                <a:lnTo>
                  <a:pt x="587487" y="1421492"/>
                </a:lnTo>
                <a:lnTo>
                  <a:pt x="567200" y="1425821"/>
                </a:lnTo>
                <a:lnTo>
                  <a:pt x="551437" y="1430432"/>
                </a:lnTo>
                <a:lnTo>
                  <a:pt x="545316" y="1432728"/>
                </a:lnTo>
                <a:lnTo>
                  <a:pt x="533129" y="1441622"/>
                </a:lnTo>
                <a:lnTo>
                  <a:pt x="520731" y="1458412"/>
                </a:lnTo>
                <a:lnTo>
                  <a:pt x="510614" y="1484638"/>
                </a:lnTo>
                <a:lnTo>
                  <a:pt x="506814" y="1500671"/>
                </a:lnTo>
                <a:lnTo>
                  <a:pt x="495565" y="1534730"/>
                </a:lnTo>
                <a:lnTo>
                  <a:pt x="480693" y="1575625"/>
                </a:lnTo>
                <a:lnTo>
                  <a:pt x="473496" y="1587424"/>
                </a:lnTo>
                <a:lnTo>
                  <a:pt x="465165" y="1596224"/>
                </a:lnTo>
                <a:lnTo>
                  <a:pt x="451897" y="1604119"/>
                </a:lnTo>
                <a:lnTo>
                  <a:pt x="408825" y="1637034"/>
                </a:lnTo>
                <a:lnTo>
                  <a:pt x="387642" y="1673793"/>
                </a:lnTo>
                <a:lnTo>
                  <a:pt x="374110" y="1684607"/>
                </a:lnTo>
                <a:lnTo>
                  <a:pt x="357694" y="1689838"/>
                </a:lnTo>
                <a:lnTo>
                  <a:pt x="343827" y="1693196"/>
                </a:lnTo>
                <a:lnTo>
                  <a:pt x="336246" y="1699375"/>
                </a:lnTo>
                <a:lnTo>
                  <a:pt x="327988" y="1717963"/>
                </a:lnTo>
                <a:lnTo>
                  <a:pt x="320696" y="1724589"/>
                </a:lnTo>
                <a:lnTo>
                  <a:pt x="312468" y="1727271"/>
                </a:lnTo>
                <a:lnTo>
                  <a:pt x="287669" y="1725549"/>
                </a:lnTo>
                <a:lnTo>
                  <a:pt x="279707" y="1723827"/>
                </a:lnTo>
                <a:lnTo>
                  <a:pt x="214194" y="1728850"/>
                </a:lnTo>
                <a:lnTo>
                  <a:pt x="194056" y="1723479"/>
                </a:lnTo>
                <a:lnTo>
                  <a:pt x="179818" y="1721480"/>
                </a:lnTo>
                <a:lnTo>
                  <a:pt x="157625" y="1729671"/>
                </a:lnTo>
                <a:lnTo>
                  <a:pt x="148138" y="1724890"/>
                </a:lnTo>
                <a:lnTo>
                  <a:pt x="140277" y="1709793"/>
                </a:lnTo>
                <a:lnTo>
                  <a:pt x="135790" y="1679156"/>
                </a:lnTo>
                <a:lnTo>
                  <a:pt x="136273" y="1653024"/>
                </a:lnTo>
                <a:lnTo>
                  <a:pt x="147949" y="1632948"/>
                </a:lnTo>
                <a:lnTo>
                  <a:pt x="157735" y="1618214"/>
                </a:lnTo>
                <a:lnTo>
                  <a:pt x="167226" y="1599063"/>
                </a:lnTo>
                <a:lnTo>
                  <a:pt x="168327" y="1590585"/>
                </a:lnTo>
                <a:lnTo>
                  <a:pt x="166141" y="1583007"/>
                </a:lnTo>
                <a:lnTo>
                  <a:pt x="163760" y="1567524"/>
                </a:lnTo>
                <a:lnTo>
                  <a:pt x="162293" y="1551665"/>
                </a:lnTo>
                <a:lnTo>
                  <a:pt x="147226" y="1517278"/>
                </a:lnTo>
                <a:lnTo>
                  <a:pt x="128539" y="1471641"/>
                </a:lnTo>
                <a:lnTo>
                  <a:pt x="103647" y="1420865"/>
                </a:lnTo>
                <a:lnTo>
                  <a:pt x="95911" y="1406932"/>
                </a:lnTo>
                <a:lnTo>
                  <a:pt x="80494" y="1385029"/>
                </a:lnTo>
                <a:lnTo>
                  <a:pt x="24332" y="1344212"/>
                </a:lnTo>
                <a:lnTo>
                  <a:pt x="15797" y="1338706"/>
                </a:lnTo>
                <a:lnTo>
                  <a:pt x="15655" y="1333982"/>
                </a:lnTo>
                <a:lnTo>
                  <a:pt x="14374" y="1292811"/>
                </a:lnTo>
                <a:lnTo>
                  <a:pt x="12704" y="1238217"/>
                </a:lnTo>
                <a:lnTo>
                  <a:pt x="11046" y="1183647"/>
                </a:lnTo>
                <a:lnTo>
                  <a:pt x="9402" y="1129081"/>
                </a:lnTo>
                <a:lnTo>
                  <a:pt x="7752" y="1074522"/>
                </a:lnTo>
                <a:lnTo>
                  <a:pt x="6116" y="1019968"/>
                </a:lnTo>
                <a:lnTo>
                  <a:pt x="4510" y="965420"/>
                </a:lnTo>
                <a:lnTo>
                  <a:pt x="2916" y="910878"/>
                </a:lnTo>
                <a:lnTo>
                  <a:pt x="1335" y="856324"/>
                </a:lnTo>
                <a:lnTo>
                  <a:pt x="0" y="810212"/>
                </a:lnTo>
                <a:lnTo>
                  <a:pt x="40485" y="809017"/>
                </a:lnTo>
                <a:lnTo>
                  <a:pt x="90582" y="807635"/>
                </a:lnTo>
                <a:lnTo>
                  <a:pt x="150120" y="806132"/>
                </a:lnTo>
                <a:lnTo>
                  <a:pt x="176449" y="805515"/>
                </a:lnTo>
                <a:lnTo>
                  <a:pt x="177806" y="798199"/>
                </a:lnTo>
                <a:lnTo>
                  <a:pt x="177070" y="764372"/>
                </a:lnTo>
                <a:lnTo>
                  <a:pt x="175370" y="686773"/>
                </a:lnTo>
                <a:lnTo>
                  <a:pt x="173690" y="609210"/>
                </a:lnTo>
                <a:lnTo>
                  <a:pt x="172012" y="531664"/>
                </a:lnTo>
                <a:lnTo>
                  <a:pt x="170370" y="454136"/>
                </a:lnTo>
                <a:lnTo>
                  <a:pt x="168730" y="376609"/>
                </a:lnTo>
                <a:lnTo>
                  <a:pt x="167127" y="299121"/>
                </a:lnTo>
                <a:lnTo>
                  <a:pt x="165544" y="221654"/>
                </a:lnTo>
                <a:lnTo>
                  <a:pt x="163962" y="144190"/>
                </a:lnTo>
                <a:lnTo>
                  <a:pt x="163213" y="105911"/>
                </a:lnTo>
                <a:lnTo>
                  <a:pt x="210249" y="102636"/>
                </a:lnTo>
                <a:lnTo>
                  <a:pt x="264276" y="93780"/>
                </a:lnTo>
                <a:lnTo>
                  <a:pt x="351930" y="79638"/>
                </a:lnTo>
                <a:lnTo>
                  <a:pt x="433599" y="62852"/>
                </a:lnTo>
                <a:lnTo>
                  <a:pt x="486936" y="53100"/>
                </a:lnTo>
                <a:lnTo>
                  <a:pt x="550248" y="41672"/>
                </a:lnTo>
                <a:lnTo>
                  <a:pt x="572050" y="39667"/>
                </a:lnTo>
                <a:lnTo>
                  <a:pt x="577942" y="41117"/>
                </a:lnTo>
                <a:lnTo>
                  <a:pt x="586554" y="44833"/>
                </a:lnTo>
                <a:lnTo>
                  <a:pt x="616103" y="83357"/>
                </a:lnTo>
                <a:lnTo>
                  <a:pt x="634490" y="112780"/>
                </a:lnTo>
                <a:lnTo>
                  <a:pt x="638241" y="125391"/>
                </a:lnTo>
                <a:lnTo>
                  <a:pt x="641730" y="126715"/>
                </a:lnTo>
                <a:lnTo>
                  <a:pt x="650368" y="124689"/>
                </a:lnTo>
                <a:lnTo>
                  <a:pt x="660069" y="119902"/>
                </a:lnTo>
                <a:lnTo>
                  <a:pt x="689873" y="90478"/>
                </a:lnTo>
                <a:lnTo>
                  <a:pt x="696082" y="82818"/>
                </a:lnTo>
                <a:lnTo>
                  <a:pt x="715103" y="68560"/>
                </a:lnTo>
                <a:lnTo>
                  <a:pt x="738224" y="54042"/>
                </a:lnTo>
                <a:lnTo>
                  <a:pt x="759167" y="43805"/>
                </a:lnTo>
                <a:lnTo>
                  <a:pt x="780192" y="35271"/>
                </a:lnTo>
                <a:lnTo>
                  <a:pt x="789908" y="37429"/>
                </a:lnTo>
                <a:lnTo>
                  <a:pt x="801337" y="44878"/>
                </a:lnTo>
                <a:lnTo>
                  <a:pt x="811486" y="49511"/>
                </a:lnTo>
                <a:lnTo>
                  <a:pt x="859421" y="14053"/>
                </a:lnTo>
                <a:lnTo>
                  <a:pt x="880832" y="5978"/>
                </a:lnTo>
                <a:lnTo>
                  <a:pt x="936994" y="0"/>
                </a:lnTo>
                <a:lnTo>
                  <a:pt x="944807" y="1201"/>
                </a:lnTo>
                <a:lnTo>
                  <a:pt x="941130" y="10561"/>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1727200" y="2167612"/>
            <a:ext cx="1839896" cy="199225"/>
          </a:xfrm>
          <a:custGeom>
            <a:avLst/>
            <a:gdLst/>
            <a:ahLst/>
            <a:cxnLst/>
            <a:rect l="l" t="t" r="r" b="b"/>
            <a:pathLst>
              <a:path w="1839896" h="199225">
                <a:moveTo>
                  <a:pt x="1718520" y="14135"/>
                </a:moveTo>
                <a:lnTo>
                  <a:pt x="1761723" y="53682"/>
                </a:lnTo>
                <a:lnTo>
                  <a:pt x="1803313" y="89185"/>
                </a:lnTo>
                <a:lnTo>
                  <a:pt x="1839896" y="120522"/>
                </a:lnTo>
                <a:lnTo>
                  <a:pt x="1782777" y="131885"/>
                </a:lnTo>
                <a:lnTo>
                  <a:pt x="1701628" y="148275"/>
                </a:lnTo>
                <a:lnTo>
                  <a:pt x="1646913" y="159480"/>
                </a:lnTo>
                <a:lnTo>
                  <a:pt x="1580652" y="173217"/>
                </a:lnTo>
                <a:lnTo>
                  <a:pt x="1536482" y="181991"/>
                </a:lnTo>
                <a:lnTo>
                  <a:pt x="1481565" y="193009"/>
                </a:lnTo>
                <a:lnTo>
                  <a:pt x="1472772" y="192953"/>
                </a:lnTo>
                <a:lnTo>
                  <a:pt x="1457896" y="186309"/>
                </a:lnTo>
                <a:lnTo>
                  <a:pt x="1426025" y="185586"/>
                </a:lnTo>
                <a:lnTo>
                  <a:pt x="1388740" y="195945"/>
                </a:lnTo>
                <a:lnTo>
                  <a:pt x="1359078" y="199225"/>
                </a:lnTo>
                <a:lnTo>
                  <a:pt x="1337014" y="195382"/>
                </a:lnTo>
                <a:lnTo>
                  <a:pt x="1315394" y="187541"/>
                </a:lnTo>
                <a:lnTo>
                  <a:pt x="1294194" y="175721"/>
                </a:lnTo>
                <a:lnTo>
                  <a:pt x="1257816" y="172196"/>
                </a:lnTo>
                <a:lnTo>
                  <a:pt x="1206302" y="177031"/>
                </a:lnTo>
                <a:lnTo>
                  <a:pt x="1156490" y="176150"/>
                </a:lnTo>
                <a:lnTo>
                  <a:pt x="1108387" y="169523"/>
                </a:lnTo>
                <a:lnTo>
                  <a:pt x="1074019" y="167474"/>
                </a:lnTo>
                <a:lnTo>
                  <a:pt x="1053438" y="169946"/>
                </a:lnTo>
                <a:lnTo>
                  <a:pt x="1031227" y="168061"/>
                </a:lnTo>
                <a:lnTo>
                  <a:pt x="1007398" y="161877"/>
                </a:lnTo>
                <a:lnTo>
                  <a:pt x="987310" y="150654"/>
                </a:lnTo>
                <a:lnTo>
                  <a:pt x="962762" y="126301"/>
                </a:lnTo>
                <a:lnTo>
                  <a:pt x="943399" y="102893"/>
                </a:lnTo>
                <a:lnTo>
                  <a:pt x="938480" y="99640"/>
                </a:lnTo>
                <a:lnTo>
                  <a:pt x="932478" y="96190"/>
                </a:lnTo>
                <a:lnTo>
                  <a:pt x="926616" y="95332"/>
                </a:lnTo>
                <a:lnTo>
                  <a:pt x="873967" y="96876"/>
                </a:lnTo>
                <a:lnTo>
                  <a:pt x="823917" y="98450"/>
                </a:lnTo>
                <a:lnTo>
                  <a:pt x="795279" y="99709"/>
                </a:lnTo>
                <a:lnTo>
                  <a:pt x="725312" y="102902"/>
                </a:lnTo>
                <a:lnTo>
                  <a:pt x="655346" y="106289"/>
                </a:lnTo>
                <a:lnTo>
                  <a:pt x="585400" y="109871"/>
                </a:lnTo>
                <a:lnTo>
                  <a:pt x="515475" y="113648"/>
                </a:lnTo>
                <a:lnTo>
                  <a:pt x="445573" y="117619"/>
                </a:lnTo>
                <a:lnTo>
                  <a:pt x="375695" y="121803"/>
                </a:lnTo>
                <a:lnTo>
                  <a:pt x="305842" y="126163"/>
                </a:lnTo>
                <a:lnTo>
                  <a:pt x="236014" y="130718"/>
                </a:lnTo>
                <a:lnTo>
                  <a:pt x="198936" y="133219"/>
                </a:lnTo>
                <a:lnTo>
                  <a:pt x="164599" y="137555"/>
                </a:lnTo>
                <a:lnTo>
                  <a:pt x="126725" y="142401"/>
                </a:lnTo>
                <a:lnTo>
                  <a:pt x="121188" y="141910"/>
                </a:lnTo>
                <a:lnTo>
                  <a:pt x="112004" y="139639"/>
                </a:lnTo>
                <a:lnTo>
                  <a:pt x="105525" y="134769"/>
                </a:lnTo>
                <a:lnTo>
                  <a:pt x="84233" y="122541"/>
                </a:lnTo>
                <a:lnTo>
                  <a:pt x="65786" y="113449"/>
                </a:lnTo>
                <a:lnTo>
                  <a:pt x="40512" y="97753"/>
                </a:lnTo>
                <a:lnTo>
                  <a:pt x="23673" y="79737"/>
                </a:lnTo>
                <a:lnTo>
                  <a:pt x="10096" y="74630"/>
                </a:lnTo>
                <a:lnTo>
                  <a:pt x="0" y="73918"/>
                </a:lnTo>
                <a:lnTo>
                  <a:pt x="1703661" y="0"/>
                </a:lnTo>
                <a:lnTo>
                  <a:pt x="1718520" y="14135"/>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1572234" y="2246425"/>
            <a:ext cx="92670" cy="47631"/>
          </a:xfrm>
          <a:custGeom>
            <a:avLst/>
            <a:gdLst/>
            <a:ahLst/>
            <a:cxnLst/>
            <a:rect l="l" t="t" r="r" b="b"/>
            <a:pathLst>
              <a:path w="92670" h="47631">
                <a:moveTo>
                  <a:pt x="84720" y="3580"/>
                </a:moveTo>
                <a:lnTo>
                  <a:pt x="66341" y="14064"/>
                </a:lnTo>
                <a:lnTo>
                  <a:pt x="53390" y="23822"/>
                </a:lnTo>
                <a:lnTo>
                  <a:pt x="30599" y="35686"/>
                </a:lnTo>
                <a:lnTo>
                  <a:pt x="11509" y="47229"/>
                </a:lnTo>
                <a:lnTo>
                  <a:pt x="2714" y="47631"/>
                </a:lnTo>
                <a:lnTo>
                  <a:pt x="0" y="7571"/>
                </a:lnTo>
                <a:lnTo>
                  <a:pt x="92670" y="0"/>
                </a:lnTo>
                <a:lnTo>
                  <a:pt x="84720" y="3580"/>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051551" y="2711526"/>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NAMIBIA</a:t>
            </a:r>
          </a:p>
        </p:txBody>
      </p:sp>
      <p:sp>
        <p:nvSpPr>
          <p:cNvPr id="31" name="TextBox 30"/>
          <p:cNvSpPr txBox="1"/>
          <p:nvPr/>
        </p:nvSpPr>
        <p:spPr>
          <a:xfrm>
            <a:off x="3242601" y="2735932"/>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BOTSWANA</a:t>
            </a:r>
          </a:p>
        </p:txBody>
      </p:sp>
      <p:sp>
        <p:nvSpPr>
          <p:cNvPr id="32" name="TextBox 31"/>
          <p:cNvSpPr txBox="1"/>
          <p:nvPr/>
        </p:nvSpPr>
        <p:spPr>
          <a:xfrm>
            <a:off x="3347892" y="4639686"/>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SOUTH AFRICA</a:t>
            </a:r>
          </a:p>
        </p:txBody>
      </p:sp>
      <p:sp>
        <p:nvSpPr>
          <p:cNvPr id="33" name="TextBox 32"/>
          <p:cNvSpPr txBox="1"/>
          <p:nvPr/>
        </p:nvSpPr>
        <p:spPr>
          <a:xfrm>
            <a:off x="4826774" y="2782951"/>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MOZAMBIQUE</a:t>
            </a:r>
          </a:p>
        </p:txBody>
      </p:sp>
      <p:cxnSp>
        <p:nvCxnSpPr>
          <p:cNvPr id="34" name="Connector 33"/>
          <p:cNvCxnSpPr/>
          <p:nvPr/>
        </p:nvCxnSpPr>
        <p:spPr>
          <a:xfrm flipV="1">
            <a:off x="2008083" y="3256644"/>
            <a:ext cx="449009" cy="100716"/>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2457092" y="3218652"/>
            <a:ext cx="332935" cy="37992"/>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2790027" y="3062707"/>
            <a:ext cx="471951" cy="155945"/>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261978" y="3062707"/>
            <a:ext cx="411504" cy="510138"/>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673482" y="3572845"/>
            <a:ext cx="339471" cy="50055"/>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3974945" y="3622900"/>
            <a:ext cx="38008" cy="113754"/>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974945" y="3736654"/>
            <a:ext cx="264715" cy="85111"/>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239660" y="3821765"/>
            <a:ext cx="134854" cy="104874"/>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5053768" y="3813413"/>
            <a:ext cx="83157" cy="104798"/>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4887980" y="3809477"/>
            <a:ext cx="165788" cy="3936"/>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4583007" y="3809477"/>
            <a:ext cx="304973" cy="61792"/>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4374514" y="3871269"/>
            <a:ext cx="208493" cy="55370"/>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4612856" y="4584500"/>
            <a:ext cx="234468" cy="65463"/>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612856" y="4384010"/>
            <a:ext cx="41336" cy="200490"/>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4520223" y="4326705"/>
            <a:ext cx="133969" cy="57305"/>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4433037" y="3974343"/>
            <a:ext cx="87186" cy="352362"/>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4374514" y="3926639"/>
            <a:ext cx="58523" cy="47704"/>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4664155" y="4558241"/>
            <a:ext cx="183169" cy="91722"/>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4656234" y="4376467"/>
            <a:ext cx="7921" cy="181774"/>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4480776" y="4121025"/>
            <a:ext cx="175458" cy="255442"/>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4433037" y="3974343"/>
            <a:ext cx="47739" cy="146682"/>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sp>
        <p:nvSpPr>
          <p:cNvPr id="55" name="Oval 54"/>
          <p:cNvSpPr/>
          <p:nvPr/>
        </p:nvSpPr>
        <p:spPr>
          <a:xfrm>
            <a:off x="1971507" y="3320784"/>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65083" y="3448800"/>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Walvis Bay</a:t>
            </a:r>
          </a:p>
        </p:txBody>
      </p:sp>
      <p:sp>
        <p:nvSpPr>
          <p:cNvPr id="57" name="Oval 56"/>
          <p:cNvSpPr/>
          <p:nvPr/>
        </p:nvSpPr>
        <p:spPr>
          <a:xfrm>
            <a:off x="2420516" y="3220068"/>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091332" y="2964036"/>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Windhoek</a:t>
            </a:r>
          </a:p>
        </p:txBody>
      </p:sp>
      <p:sp>
        <p:nvSpPr>
          <p:cNvPr id="59" name="Oval 58"/>
          <p:cNvSpPr/>
          <p:nvPr/>
        </p:nvSpPr>
        <p:spPr>
          <a:xfrm>
            <a:off x="3976377" y="3586324"/>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418593" y="3302860"/>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Gaborone</a:t>
            </a:r>
          </a:p>
        </p:txBody>
      </p:sp>
      <p:sp>
        <p:nvSpPr>
          <p:cNvPr id="61" name="Oval 60"/>
          <p:cNvSpPr/>
          <p:nvPr/>
        </p:nvSpPr>
        <p:spPr>
          <a:xfrm>
            <a:off x="5100349" y="3881635"/>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228365" y="3872491"/>
            <a:ext cx="1417320"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Matola / Maputo</a:t>
            </a:r>
          </a:p>
        </p:txBody>
      </p:sp>
      <p:sp>
        <p:nvSpPr>
          <p:cNvPr id="63" name="Oval 62"/>
          <p:cNvSpPr/>
          <p:nvPr/>
        </p:nvSpPr>
        <p:spPr>
          <a:xfrm>
            <a:off x="4851404" y="3772901"/>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522220" y="3443717"/>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Mbombela</a:t>
            </a:r>
          </a:p>
        </p:txBody>
      </p:sp>
      <p:sp>
        <p:nvSpPr>
          <p:cNvPr id="65" name="Oval 64"/>
          <p:cNvSpPr/>
          <p:nvPr/>
        </p:nvSpPr>
        <p:spPr>
          <a:xfrm>
            <a:off x="4337938" y="3890063"/>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3368674" y="3926639"/>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Gauteng</a:t>
            </a:r>
          </a:p>
        </p:txBody>
      </p:sp>
      <p:sp>
        <p:nvSpPr>
          <p:cNvPr id="67" name="Diamond 66"/>
          <p:cNvSpPr/>
          <p:nvPr/>
        </p:nvSpPr>
        <p:spPr>
          <a:xfrm>
            <a:off x="4396461" y="3937767"/>
            <a:ext cx="73152" cy="73152"/>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250157" y="4248663"/>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Lesedi*</a:t>
            </a:r>
          </a:p>
        </p:txBody>
      </p:sp>
      <p:sp>
        <p:nvSpPr>
          <p:cNvPr id="69" name="Diamond 68"/>
          <p:cNvSpPr/>
          <p:nvPr/>
        </p:nvSpPr>
        <p:spPr>
          <a:xfrm>
            <a:off x="4810748" y="4613387"/>
            <a:ext cx="73152" cy="73152"/>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938764" y="4622531"/>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Durban</a:t>
            </a:r>
          </a:p>
        </p:txBody>
      </p:sp>
      <p:sp>
        <p:nvSpPr>
          <p:cNvPr id="71" name="TextBox 70"/>
          <p:cNvSpPr txBox="1"/>
          <p:nvPr/>
        </p:nvSpPr>
        <p:spPr>
          <a:xfrm>
            <a:off x="612648" y="2377440"/>
            <a:ext cx="201168" cy="210312"/>
          </a:xfrm>
          <a:prstGeom prst="rect">
            <a:avLst/>
          </a:prstGeom>
          <a:noFill/>
        </p:spPr>
        <p:txBody>
          <a:bodyPr wrap="square" lIns="22860" rIns="22860" tIns="0" bIns="0">
            <a:spAutoFit/>
          </a:bodyPr>
          <a:lstStyle/>
          <a:p>
            <a:pPr>
              <a:spcAft>
                <a:spcPts val="300"/>
              </a:spcAft>
              <a:defRPr sz="1100" b="1">
                <a:solidFill>
                  <a:srgbClr val="000000"/>
                </a:solidFill>
                <a:latin typeface="Lato"/>
              </a:defRPr>
            </a:pPr>
            <a:r>
              <a:t>N</a:t>
            </a:r>
          </a:p>
        </p:txBody>
      </p:sp>
      <p:cxnSp>
        <p:nvCxnSpPr>
          <p:cNvPr id="72" name="Connector 71"/>
          <p:cNvCxnSpPr/>
          <p:nvPr/>
        </p:nvCxnSpPr>
        <p:spPr>
          <a:xfrm flipV="1">
            <a:off x="713232" y="2651760"/>
            <a:ext cx="0" cy="201168"/>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a:off x="676656" y="2651760"/>
            <a:ext cx="36576" cy="73152"/>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713232" y="2651760"/>
            <a:ext cx="36576" cy="73152"/>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640080" y="5623560"/>
            <a:ext cx="859703"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40080" y="5413248"/>
            <a:ext cx="18288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0</a:t>
            </a:r>
          </a:p>
        </p:txBody>
      </p:sp>
      <p:sp>
        <p:nvSpPr>
          <p:cNvPr id="77" name="TextBox 76"/>
          <p:cNvSpPr txBox="1"/>
          <p:nvPr/>
        </p:nvSpPr>
        <p:spPr>
          <a:xfrm>
            <a:off x="1362623" y="5413248"/>
            <a:ext cx="59436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500 km</a:t>
            </a:r>
          </a:p>
        </p:txBody>
      </p:sp>
      <p:sp>
        <p:nvSpPr>
          <p:cNvPr id="78" name="TextBox 77"/>
          <p:cNvSpPr txBox="1"/>
          <p:nvPr/>
        </p:nvSpPr>
        <p:spPr>
          <a:xfrm>
            <a:off x="457200" y="5980176"/>
            <a:ext cx="6446520" cy="29260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Solid: Durban / N4 candidates   |   Dashed: Trans-Kalahari / NMPP</a:t>
            </a:r>
          </a:p>
        </p:txBody>
      </p:sp>
      <p:sp>
        <p:nvSpPr>
          <p:cNvPr id="79" name="TextBox 78"/>
          <p:cNvSpPr txBox="1"/>
          <p:nvPr/>
        </p:nvSpPr>
        <p:spPr>
          <a:xfrm>
            <a:off x="457200" y="6236208"/>
            <a:ext cx="6446520" cy="18288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LAEA / WGS84; routes schematic. No cost, available capacity, fuel rights or catchment is inferred.</a:t>
            </a:r>
          </a:p>
        </p:txBody>
      </p:sp>
      <p:sp>
        <p:nvSpPr>
          <p:cNvPr id="80" name="TextBox 79"/>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Evidence and implications</a:t>
            </a:r>
          </a:p>
        </p:txBody>
      </p:sp>
      <p:sp>
        <p:nvSpPr>
          <p:cNvPr id="81" name="TextBox 80"/>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Compare the same inland destination</a:t>
            </a:r>
          </a:p>
        </p:txBody>
      </p:sp>
      <p:sp>
        <p:nvSpPr>
          <p:cNvPr id="82" name="TextBox 81"/>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Gauteng is the common comparison market. Lesedi is a Vopak facility, not a destination every competing route must pass through.</a:t>
            </a:r>
          </a:p>
        </p:txBody>
      </p:sp>
      <p:sp>
        <p:nvSpPr>
          <p:cNvPr id="83" name="TextBox 82"/>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Matola approaches from the east</a:t>
            </a:r>
          </a:p>
        </p:txBody>
      </p:sp>
      <p:sp>
        <p:nvSpPr>
          <p:cNvPr id="84" name="TextBox 83"/>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N4/Maputo connects Mozambique to Gauteng via Komatipoort and Mpumalanga. Fuel-compatible terminal access and road/rail service need testing.</a:t>
            </a:r>
          </a:p>
        </p:txBody>
      </p:sp>
      <p:sp>
        <p:nvSpPr>
          <p:cNvPr id="85" name="TextBox 84"/>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Walvis is an inland comparator</a:t>
            </a:r>
          </a:p>
        </p:txBody>
      </p:sp>
      <p:sp>
        <p:nvSpPr>
          <p:cNvPr id="86" name="TextBox 85"/>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Trans-Kalahari links Walvis Bay via Namibia and Botswana to Gauteng. Its competitiveness for specific inland customers is unassessed.</a:t>
            </a:r>
          </a:p>
        </p:txBody>
      </p:sp>
      <p:cxnSp>
        <p:nvCxnSpPr>
          <p:cNvPr id="87" name="Connector 86"/>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Next steps | proposed owners</a:t>
            </a:r>
          </a:p>
        </p:txBody>
      </p:sp>
      <p:sp>
        <p:nvSpPr>
          <p:cNvPr id="89" name="TextBox 88"/>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select the customer destination. Manish: compare handling, transport, border/FX costs and access on the same R/litre basis; keep unevidenced routes unassessed.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Show what must hold to reach each candidate volume</a:t>
            </a:r>
          </a:p>
        </p:txBody>
      </p:sp>
      <p:sp>
        <p:nvSpPr>
          <p:cNvPr id="3" name="Slide Number Placeholder"/>
          <p:cNvSpPr>
            <a:spLocks noGrp="1"/>
          </p:cNvSpPr>
          <p:nvPr>
            <p:ph type="sldNum" sz="quarter" idx="12"/>
          </p:nvPr>
        </p:nvSpPr>
        <p:spPr/>
        <p:txBody>
          <a:bodyPr/>
          <a:lstStyle/>
          <a:p>
            <a:fld id="{9C91001A-0A19-4298-83B7-A20A68E4B2F0}"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Existing illustrative catchment CSV; conditions authored for review. No actual Vopak share, cost threshold or forecast capture established.</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Accessibility gates and volume milestones | illustrative bn L/year</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57200" y="2176272"/>
            <a:ext cx="6446520" cy="27432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ILLUSTRATIVE | each increment requires evidence; not cumulative terminal receipts</a:t>
            </a:r>
          </a:p>
        </p:txBody>
      </p:sp>
      <p:sp>
        <p:nvSpPr>
          <p:cNvPr id="30" name="TextBox 29"/>
          <p:cNvSpPr txBox="1"/>
          <p:nvPr/>
        </p:nvSpPr>
        <p:spPr>
          <a:xfrm>
            <a:off x="457200" y="2715768"/>
            <a:ext cx="18470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Current example</a:t>
            </a:r>
          </a:p>
        </p:txBody>
      </p:sp>
      <p:sp>
        <p:nvSpPr>
          <p:cNvPr id="31" name="Rectangle 30"/>
          <p:cNvSpPr/>
          <p:nvPr/>
        </p:nvSpPr>
        <p:spPr>
          <a:xfrm>
            <a:off x="2377440" y="2752344"/>
            <a:ext cx="1355463"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96911" y="2715768"/>
            <a:ext cx="54864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3.0</a:t>
            </a:r>
          </a:p>
        </p:txBody>
      </p:sp>
      <p:sp>
        <p:nvSpPr>
          <p:cNvPr id="33" name="TextBox 32"/>
          <p:cNvSpPr txBox="1"/>
          <p:nvPr/>
        </p:nvSpPr>
        <p:spPr>
          <a:xfrm>
            <a:off x="457200" y="3273552"/>
            <a:ext cx="18470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 coastal candidate</a:t>
            </a:r>
          </a:p>
        </p:txBody>
      </p:sp>
      <p:sp>
        <p:nvSpPr>
          <p:cNvPr id="34" name="Rectangle 33"/>
          <p:cNvSpPr/>
          <p:nvPr/>
        </p:nvSpPr>
        <p:spPr>
          <a:xfrm>
            <a:off x="2377440" y="3310128"/>
            <a:ext cx="2033195"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74643" y="3273552"/>
            <a:ext cx="54864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4.5</a:t>
            </a:r>
          </a:p>
        </p:txBody>
      </p:sp>
      <p:sp>
        <p:nvSpPr>
          <p:cNvPr id="36" name="TextBox 35"/>
          <p:cNvSpPr txBox="1"/>
          <p:nvPr/>
        </p:nvSpPr>
        <p:spPr>
          <a:xfrm>
            <a:off x="457200" y="3831336"/>
            <a:ext cx="18470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 inland candidate</a:t>
            </a:r>
          </a:p>
        </p:txBody>
      </p:sp>
      <p:sp>
        <p:nvSpPr>
          <p:cNvPr id="37" name="Rectangle 36"/>
          <p:cNvSpPr/>
          <p:nvPr/>
        </p:nvSpPr>
        <p:spPr>
          <a:xfrm>
            <a:off x="2377440" y="3867912"/>
            <a:ext cx="384048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81928" y="3831336"/>
            <a:ext cx="54864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8.5</a:t>
            </a:r>
          </a:p>
        </p:txBody>
      </p:sp>
      <p:sp>
        <p:nvSpPr>
          <p:cNvPr id="39" name="TextBox 38"/>
          <p:cNvSpPr txBox="1"/>
          <p:nvPr/>
        </p:nvSpPr>
        <p:spPr>
          <a:xfrm>
            <a:off x="457200" y="4489704"/>
            <a:ext cx="6446520" cy="301752"/>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What must be true for the additional volume?</a:t>
            </a:r>
          </a:p>
        </p:txBody>
      </p:sp>
      <p:graphicFrame>
        <p:nvGraphicFramePr>
          <p:cNvPr id="40" name="Table 39"/>
          <p:cNvGraphicFramePr>
            <a:graphicFrameLocks noGrp="1"/>
          </p:cNvGraphicFramePr>
          <p:nvPr/>
        </p:nvGraphicFramePr>
        <p:xfrm>
          <a:off x="457200" y="4910328"/>
          <a:ext cx="6446520" cy="1353312"/>
        </p:xfrm>
        <a:graphic>
          <a:graphicData uri="http://schemas.openxmlformats.org/drawingml/2006/table">
            <a:tbl>
              <a:tblPr firstRow="1" bandRow="1">
                <a:tableStyleId>{2D5ABB26-0587-4C30-8999-92F81FD0307C}</a:tableStyleId>
              </a:tblPr>
              <a:tblGrid>
                <a:gridCol w="1463040"/>
                <a:gridCol w="2331720"/>
                <a:gridCol w="2651760"/>
              </a:tblGrid>
              <a:tr h="270662">
                <a:tc>
                  <a:txBody>
                    <a:bodyPr/>
                    <a:lstStyle/>
                    <a:p>
                      <a:pPr>
                        <a:spcAft>
                          <a:spcPts val="0"/>
                        </a:spcAft>
                        <a:defRPr sz="1050" b="1">
                          <a:solidFill>
                            <a:srgbClr val="000000"/>
                          </a:solidFill>
                          <a:latin typeface="Lato"/>
                        </a:defRPr>
                      </a:pPr>
                      <a:r>
                        <a:t>Gate</a:t>
                      </a:r>
                    </a:p>
                  </a:txBody>
                  <a:tcPr marL="50292" marR="50292" marT="41148" marB="41148" anchor="ctr">
                    <a:lnB w="6350" cap="flat">
                      <a:solidFill>
                        <a:srgbClr val="EEEEEE"/>
                      </a:solidFill>
                    </a:lnB>
                    <a:solidFill>
                      <a:srgbClr val="FFFFFF"/>
                    </a:solidFill>
                  </a:tcPr>
                </a:tc>
                <a:tc>
                  <a:txBody>
                    <a:bodyPr/>
                    <a:lstStyle/>
                    <a:p>
                      <a:pPr>
                        <a:spcAft>
                          <a:spcPts val="0"/>
                        </a:spcAft>
                        <a:defRPr sz="1050" b="1">
                          <a:solidFill>
                            <a:srgbClr val="000000"/>
                          </a:solidFill>
                          <a:latin typeface="Lato"/>
                        </a:defRPr>
                      </a:pPr>
                      <a:r>
                        <a:t>Coastal +1.5</a:t>
                      </a:r>
                    </a:p>
                  </a:txBody>
                  <a:tcPr marL="50292" marR="50292" marT="41148" marB="41148" anchor="ctr">
                    <a:lnB w="6350" cap="flat">
                      <a:solidFill>
                        <a:srgbClr val="EEEEEE"/>
                      </a:solidFill>
                    </a:lnB>
                    <a:solidFill>
                      <a:srgbClr val="FFFFFF"/>
                    </a:solidFill>
                  </a:tcPr>
                </a:tc>
                <a:tc>
                  <a:txBody>
                    <a:bodyPr/>
                    <a:lstStyle/>
                    <a:p>
                      <a:pPr>
                        <a:spcAft>
                          <a:spcPts val="0"/>
                        </a:spcAft>
                        <a:defRPr sz="1050" b="1">
                          <a:solidFill>
                            <a:srgbClr val="000000"/>
                          </a:solidFill>
                          <a:latin typeface="Lato"/>
                        </a:defRPr>
                      </a:pPr>
                      <a:r>
                        <a:t>Inland +4.0</a:t>
                      </a:r>
                    </a:p>
                  </a:txBody>
                  <a:tcPr marL="50292" marR="50292" marT="41148" marB="41148" anchor="ctr">
                    <a:lnB w="6350" cap="flat">
                      <a:solidFill>
                        <a:srgbClr val="EEEEEE"/>
                      </a:solidFill>
                    </a:lnB>
                    <a:solidFill>
                      <a:srgbClr val="FFFFFF"/>
                    </a:solidFill>
                  </a:tcPr>
                </a:tc>
              </a:tr>
              <a:tr h="270662">
                <a:tc>
                  <a:txBody>
                    <a:bodyPr/>
                    <a:lstStyle/>
                    <a:p>
                      <a:pPr>
                        <a:spcAft>
                          <a:spcPts val="0"/>
                        </a:spcAft>
                        <a:defRPr sz="1050" b="0">
                          <a:solidFill>
                            <a:srgbClr val="000000"/>
                          </a:solidFill>
                          <a:latin typeface="Lato"/>
                        </a:defRPr>
                      </a:pPr>
                      <a:r>
                        <a:t>Delivered cost</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 agreed customer threshold</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Competitive full route R/litre</a:t>
                      </a:r>
                    </a:p>
                  </a:txBody>
                  <a:tcPr marL="50292" marR="50292" marT="41148" marB="41148" anchor="ctr">
                    <a:lnB w="6350" cap="flat">
                      <a:solidFill>
                        <a:srgbClr val="EEEEEE"/>
                      </a:solidFill>
                    </a:lnB>
                    <a:solidFill>
                      <a:srgbClr val="FFFFFF"/>
                    </a:solidFill>
                  </a:tcPr>
                </a:tc>
              </a:tr>
              <a:tr h="270662">
                <a:tc>
                  <a:txBody>
                    <a:bodyPr/>
                    <a:lstStyle/>
                    <a:p>
                      <a:pPr>
                        <a:spcAft>
                          <a:spcPts val="0"/>
                        </a:spcAft>
                        <a:defRPr sz="1050" b="0">
                          <a:solidFill>
                            <a:srgbClr val="000000"/>
                          </a:solidFill>
                          <a:latin typeface="Lato"/>
                        </a:defRPr>
                      </a:pPr>
                      <a:r>
                        <a:t>Physical access</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Compatible receipt / dispatch</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NMPP or alternative route capacity</a:t>
                      </a:r>
                    </a:p>
                  </a:txBody>
                  <a:tcPr marL="50292" marR="50292" marT="41148" marB="41148" anchor="ctr">
                    <a:lnB w="6350" cap="flat">
                      <a:solidFill>
                        <a:srgbClr val="EEEEEE"/>
                      </a:solidFill>
                    </a:lnB>
                    <a:solidFill>
                      <a:srgbClr val="FFFFFF"/>
                    </a:solidFill>
                  </a:tcPr>
                </a:tc>
              </a:tr>
              <a:tr h="270662">
                <a:tc>
                  <a:txBody>
                    <a:bodyPr/>
                    <a:lstStyle/>
                    <a:p>
                      <a:pPr>
                        <a:spcAft>
                          <a:spcPts val="0"/>
                        </a:spcAft>
                        <a:defRPr sz="1050" b="0">
                          <a:solidFill>
                            <a:srgbClr val="000000"/>
                          </a:solidFill>
                          <a:latin typeface="Lato"/>
                        </a:defRPr>
                      </a:pPr>
                      <a:r>
                        <a:t>Commercial rights</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Customer access / switching</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Destination / contract access</a:t>
                      </a:r>
                    </a:p>
                  </a:txBody>
                  <a:tcPr marL="50292" marR="50292" marT="41148" marB="41148" anchor="ctr">
                    <a:lnB w="6350" cap="flat">
                      <a:solidFill>
                        <a:srgbClr val="EEEEEE"/>
                      </a:solidFill>
                    </a:lnB>
                    <a:solidFill>
                      <a:srgbClr val="FFFFFF"/>
                    </a:solidFill>
                  </a:tcPr>
                </a:tc>
              </a:tr>
              <a:tr h="270664">
                <a:tc>
                  <a:txBody>
                    <a:bodyPr/>
                    <a:lstStyle/>
                    <a:p>
                      <a:pPr>
                        <a:spcAft>
                          <a:spcPts val="0"/>
                        </a:spcAft>
                        <a:defRPr sz="1050" b="0">
                          <a:solidFill>
                            <a:srgbClr val="000000"/>
                          </a:solidFill>
                          <a:latin typeface="Lato"/>
                        </a:defRPr>
                      </a:pPr>
                      <a:r>
                        <a:t>Volume accounting</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Unique final deliveries</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Remove shared Durban–Lesedi transfers</a:t>
                      </a:r>
                    </a:p>
                  </a:txBody>
                  <a:tcPr marL="50292" marR="50292" marT="41148" marB="41148" anchor="ctr">
                    <a:lnB w="6350" cap="flat">
                      <a:solidFill>
                        <a:srgbClr val="EEEEEE"/>
                      </a:solidFill>
                    </a:lnB>
                    <a:solidFill>
                      <a:srgbClr val="FFFFFF"/>
                    </a:solidFill>
                  </a:tcPr>
                </a:tc>
              </a:tr>
            </a:tbl>
          </a:graphicData>
        </a:graphic>
      </p:graphicFrame>
      <p:sp>
        <p:nvSpPr>
          <p:cNvPr id="41" name="TextBox 40"/>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Evidence and implications</a:t>
            </a:r>
          </a:p>
        </p:txBody>
      </p:sp>
      <p:sp>
        <p:nvSpPr>
          <p:cNvPr id="42" name="TextBox 41"/>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Reach is necessary, not sufficient</a:t>
            </a:r>
          </a:p>
        </p:txBody>
      </p:sp>
      <p:sp>
        <p:nvSpPr>
          <p:cNvPr id="43" name="TextBox 42"/>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Accessibility map p9 and competing routes p10 locate candidate access. Neither currently links a verified cost threshold to customer litres.</a:t>
            </a:r>
          </a:p>
        </p:txBody>
      </p:sp>
      <p:sp>
        <p:nvSpPr>
          <p:cNvPr id="44" name="TextBox 43"/>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Example milestones are conditional</a:t>
            </a:r>
          </a:p>
        </p:txBody>
      </p:sp>
      <p:sp>
        <p:nvSpPr>
          <p:cNvPr id="45" name="TextBox 44"/>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current example is 3.0. Coastal candidate 1.5 raises it to 4.5; inland candidate 4.0 raises it to 8.5. These are authored volumes.</a:t>
            </a:r>
          </a:p>
        </p:txBody>
      </p:sp>
      <p:sp>
        <p:nvSpPr>
          <p:cNvPr id="46" name="TextBox 45"/>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Every increment needs four gates</a:t>
            </a:r>
          </a:p>
        </p:txBody>
      </p:sp>
      <p:sp>
        <p:nvSpPr>
          <p:cNvPr id="47" name="TextBox 46"/>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Evidence cost, route/tank capacity, customer rights and unique deliveries for the same product and period. Unassessed litres remain explicit.</a:t>
            </a:r>
          </a:p>
        </p:txBody>
      </p:sp>
      <p:cxnSp>
        <p:nvCxnSpPr>
          <p:cNvPr id="48" name="Connector 4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Next steps | proposed owners</a:t>
            </a:r>
          </a:p>
        </p:txBody>
      </p:sp>
      <p:sp>
        <p:nvSpPr>
          <p:cNvPr id="50" name="TextBox 49"/>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agree destinations and acceptable delivered cost. Manish: build a customer-by-route gate table; record passed, failed and unassessed litres, with sources and conditions.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Gate investment on evidenced incremental customer flows</a:t>
            </a:r>
          </a:p>
        </p:txBody>
      </p:sp>
      <p:sp>
        <p:nvSpPr>
          <p:cNvPr id="3" name="Slide Number Placeholder"/>
          <p:cNvSpPr>
            <a:spLocks noGrp="1"/>
          </p:cNvSpPr>
          <p:nvPr>
            <p:ph type="sldNum" sz="quarter" idx="12"/>
          </p:nvPr>
        </p:nvSpPr>
        <p:spPr/>
        <p:txBody>
          <a:bodyPr/>
          <a:lstStyle/>
          <a:p>
            <a:fld id="{74C892FC-0EE9-44CE-B12C-00167669D8F8}"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Partner SA storyboard; open evidence register, 6 Oct 2026. Placeholder; no forecast or actual share inferred.</a:t>
            </a:r>
          </a:p>
        </p:txBody>
      </p:sp>
      <p:sp>
        <p:nvSpPr>
          <p:cNvPr id="9" name="TextBox 8"/>
          <p:cNvSpPr txBox="1"/>
          <p:nvPr/>
        </p:nvSpPr>
        <p:spPr>
          <a:xfrm>
            <a:off x="457200" y="1627632"/>
            <a:ext cx="6446520" cy="502920"/>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Resolution | optional service and investment assessment</a:t>
            </a:r>
          </a:p>
        </p:txBody>
      </p:sp>
      <p:sp>
        <p:nvSpPr>
          <p:cNvPr id="10" name="TextBox 9"/>
          <p:cNvSpPr txBox="1"/>
          <p:nvPr/>
        </p:nvSpPr>
        <p:spPr>
          <a:xfrm>
            <a:off x="457200" y="2148840"/>
            <a:ext cx="6446520" cy="27432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EVIDENCE GAP | analysis specification, not a populated result</a:t>
            </a:r>
          </a:p>
        </p:txBody>
      </p:sp>
      <p:sp>
        <p:nvSpPr>
          <p:cNvPr id="11" name="TextBox 10"/>
          <p:cNvSpPr txBox="1"/>
          <p:nvPr/>
        </p:nvSpPr>
        <p:spPr>
          <a:xfrm>
            <a:off x="457200" y="2633472"/>
            <a:ext cx="6446520"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New storage and investment scope</a:t>
            </a:r>
          </a:p>
        </p:txBody>
      </p:sp>
      <p:sp>
        <p:nvSpPr>
          <p:cNvPr id="12" name="TextBox 11"/>
          <p:cNvSpPr txBox="1"/>
          <p:nvPr/>
        </p:nvSpPr>
        <p:spPr>
          <a:xfrm>
            <a:off x="457200" y="2971800"/>
            <a:ext cx="6446520" cy="841248"/>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Incremental accessible flows, turnover/peak inventory, product compatibility, cost and commercial return criteria.</a:t>
            </a:r>
          </a:p>
          <a:p>
            <a:pPr>
              <a:spcAft>
                <a:spcPts val="300"/>
              </a:spcAft>
              <a:defRPr sz="1200" b="0">
                <a:solidFill>
                  <a:srgbClr val="000000"/>
                </a:solidFill>
                <a:latin typeface="Lato"/>
              </a:defRPr>
            </a:pPr>
            <a:r>
              <a:t>Output: Throughput-to-usable-stock bridge with seasonality, inventory days and dispatch limits; downside sensitivity; no investment claim from import deficit alone.</a:t>
            </a:r>
          </a:p>
        </p:txBody>
      </p:sp>
      <p:sp>
        <p:nvSpPr>
          <p:cNvPr id="13" name="TextBox 12"/>
          <p:cNvSpPr txBox="1"/>
          <p:nvPr/>
        </p:nvSpPr>
        <p:spPr>
          <a:xfrm>
            <a:off x="457200" y="4279392"/>
            <a:ext cx="6446520"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Evidence required before quantification</a:t>
            </a:r>
          </a:p>
        </p:txBody>
      </p:sp>
      <p:sp>
        <p:nvSpPr>
          <p:cNvPr id="14" name="TextBox 13"/>
          <p:cNvSpPr txBox="1"/>
          <p:nvPr/>
        </p:nvSpPr>
        <p:spPr>
          <a:xfrm>
            <a:off x="457200" y="4663440"/>
            <a:ext cx="6446520" cy="1005840"/>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Partial gross/lease stocks, without client handling/inventory profile.</a:t>
            </a:r>
          </a:p>
          <a:p>
            <a:pPr>
              <a:spcAft>
                <a:spcPts val="300"/>
              </a:spcAft>
              <a:defRPr sz="1200" b="0">
                <a:solidFill>
                  <a:srgbClr val="000000"/>
                </a:solidFill>
                <a:latin typeface="Lato"/>
              </a:defRPr>
            </a:pPr>
            <a:r>
              <a:t>Detailed service sizing deferred; infrastructure secondary to fuel integration.</a:t>
            </a:r>
          </a:p>
        </p:txBody>
      </p:sp>
      <p:sp>
        <p:nvSpPr>
          <p:cNvPr id="15" name="TextBox 14"/>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Evidence and implications</a:t>
            </a:r>
          </a:p>
        </p:txBody>
      </p:sp>
      <p:sp>
        <p:nvSpPr>
          <p:cNvPr id="16" name="TextBox 15"/>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Evidence status</a:t>
            </a:r>
          </a:p>
        </p:txBody>
      </p:sp>
      <p:sp>
        <p:nvSpPr>
          <p:cNvPr id="17" name="TextBox 16"/>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These topics remain open. Existing calculations or public source leads do not establish calibration or closure.</a:t>
            </a:r>
          </a:p>
        </p:txBody>
      </p:sp>
      <p:sp>
        <p:nvSpPr>
          <p:cNvPr id="18" name="TextBox 17"/>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What is already available</a:t>
            </a:r>
          </a:p>
        </p:txBody>
      </p:sp>
      <p:sp>
        <p:nvSpPr>
          <p:cNvPr id="19" name="TextBox 18"/>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Partial gross/lease stocks, without client handling/inventory profile.</a:t>
            </a:r>
          </a:p>
        </p:txBody>
      </p:sp>
      <p:sp>
        <p:nvSpPr>
          <p:cNvPr id="20" name="TextBox 19"/>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What this page will resolve</a:t>
            </a:r>
          </a:p>
        </p:txBody>
      </p:sp>
      <p:sp>
        <p:nvSpPr>
          <p:cNvPr id="21" name="TextBox 20"/>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A traceable petrol/diesel result with source, period, units and explicit unassessed residual. Jet stays separate.</a:t>
            </a:r>
          </a:p>
        </p:txBody>
      </p:sp>
      <p:cxnSp>
        <p:nvCxnSpPr>
          <p:cNvPr id="22" name="Connector 2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Next steps | proposed owners</a:t>
            </a:r>
          </a:p>
        </p:txBody>
      </p:sp>
      <p:sp>
        <p:nvSpPr>
          <p:cNvPr id="24" name="TextBox 23"/>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decide whether to prioritise investment analysis after the flow case. Manish and Henry: bridge incremental flows to usable stock and service constraints.</a:t>
            </a:r>
          </a:p>
        </p:txBody>
      </p:sp>
    </p:spTree>
  </p:cSld>
  <p:clrMapOvr>
    <a:masterClrMapping/>
  </p:clrMapOvr>
</p:sld>
</file>

<file path=ppt/theme/theme1.xml><?xml version="1.0" encoding="utf-8"?>
<a:theme xmlns:a="http://schemas.openxmlformats.org/drawingml/2006/main" name="Vopak Theme">
  <a:themeElements>
    <a:clrScheme name="Vopak">
      <a:dk1>
        <a:srgbClr val="000000"/>
      </a:dk1>
      <a:lt1>
        <a:srgbClr val="FFFFFF"/>
      </a:lt1>
      <a:dk2>
        <a:srgbClr val="11151A"/>
      </a:dk2>
      <a:lt2>
        <a:srgbClr val="E7E6E6"/>
      </a:lt2>
      <a:accent1>
        <a:srgbClr val="0A2373"/>
      </a:accent1>
      <a:accent2>
        <a:srgbClr val="546CA2"/>
      </a:accent2>
      <a:accent3>
        <a:srgbClr val="BDBEC1"/>
      </a:accent3>
      <a:accent4>
        <a:srgbClr val="404040"/>
      </a:accent4>
      <a:accent5>
        <a:srgbClr val="767676"/>
      </a:accent5>
      <a:accent6>
        <a:srgbClr val="D9D9D9"/>
      </a:accent6>
      <a:hlink>
        <a:srgbClr val="0A2373"/>
      </a:hlink>
      <a:folHlink>
        <a:srgbClr val="546CA2"/>
      </a:folHlink>
    </a:clrScheme>
    <a:fontScheme name="AIA_2017">
      <a:majorFont>
        <a:latin typeface="Lato"/>
        <a:ea typeface=""/>
        <a:cs typeface=""/>
      </a:majorFont>
      <a:minorFont>
        <a:latin typeface="Lat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pak Theme" id="{EB158558-B090-4A15-9406-52ADAF46E73D}" vid="{169915E9-BA5A-4298-BC78-09D68188174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29E3C0-DBBA-4E87-A833-D4D671FDC2D1}">
  <we:reference id="WA200010725" version="1.0.0.1" store="Omex" storeType="OMEX"/>
  <we:alternateReferences>
    <we:reference id="WA200010725" version="1.0.0.1" store="WA200010725" storeType="OMEX"/>
  </we:alternateReferences>
  <we:properties>
    <we:property name="claude.fileId" value="&quot;440e1679-9fef-4664-be92-b7e3c5432c29&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B14DAA3CC024F49A081857B4C9CD92A" ma:contentTypeVersion="20" ma:contentTypeDescription="Create a new document." ma:contentTypeScope="" ma:versionID="cdb2463664abbc9cc5ebc4769b50ad18">
  <xsd:schema xmlns:xsd="http://www.w3.org/2001/XMLSchema" xmlns:xs="http://www.w3.org/2001/XMLSchema" xmlns:p="http://schemas.microsoft.com/office/2006/metadata/properties" xmlns:ns2="265cb39c-7109-435c-af5d-13dc21a2db6b" xmlns:ns3="62b85a0e-09bb-4b0f-bd28-e34020cdc070" targetNamespace="http://schemas.microsoft.com/office/2006/metadata/properties" ma:root="true" ma:fieldsID="ee545d7bb76dd121542a05c73fb4a941" ns2:_="" ns3:_="">
    <xsd:import namespace="265cb39c-7109-435c-af5d-13dc21a2db6b"/>
    <xsd:import namespace="62b85a0e-09bb-4b0f-bd28-e34020cdc070"/>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Location"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Archive"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65cb39c-7109-435c-af5d-13dc21a2d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f3d1728-64fa-4f01-bb7d-5585de3a980b"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Archive" ma:index="26" nillable="true" ma:displayName="Archive" ma:default="0" ma:description="Folder to be backed up, archived and removed from SharePoint" ma:format="Dropdown" ma:internalName="Archive">
      <xsd:simpleType>
        <xsd:restriction base="dms:Boolean"/>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2b85a0e-09bb-4b0f-bd28-e34020cdc070"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44b13c9-2708-4b8b-a658-00962d7928c2}" ma:internalName="TaxCatchAll" ma:showField="CatchAllData" ma:web="62b85a0e-09bb-4b0f-bd28-e34020cdc07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65cb39c-7109-435c-af5d-13dc21a2db6b">
      <Terms xmlns="http://schemas.microsoft.com/office/infopath/2007/PartnerControls"/>
    </lcf76f155ced4ddcb4097134ff3c332f>
    <TaxCatchAll xmlns="62b85a0e-09bb-4b0f-bd28-e34020cdc070" xsi:nil="true"/>
    <SharedWithUsers xmlns="62b85a0e-09bb-4b0f-bd28-e34020cdc070">
      <UserInfo>
        <DisplayName>Joseph Kihara</DisplayName>
        <AccountId>3747</AccountId>
        <AccountType/>
      </UserInfo>
    </SharedWithUsers>
    <Archive xmlns="265cb39c-7109-435c-af5d-13dc21a2db6b">false</Archive>
  </documentManagement>
</p:properties>
</file>

<file path=customXml/itemProps1.xml><?xml version="1.0" encoding="utf-8"?>
<ds:datastoreItem xmlns:ds="http://schemas.openxmlformats.org/officeDocument/2006/customXml" ds:itemID="{1E0AC09D-7AB9-4C7E-89AA-55CFDED1BCB9}">
  <ds:schemaRefs>
    <ds:schemaRef ds:uri="http://schemas.microsoft.com/sharepoint/v3/contenttype/forms"/>
  </ds:schemaRefs>
</ds:datastoreItem>
</file>

<file path=customXml/itemProps2.xml><?xml version="1.0" encoding="utf-8"?>
<ds:datastoreItem xmlns:ds="http://schemas.openxmlformats.org/officeDocument/2006/customXml" ds:itemID="{1B9F3023-3460-4C94-AC6C-4F171062BD4F}">
  <ds:schemaRefs>
    <ds:schemaRef ds:uri="265cb39c-7109-435c-af5d-13dc21a2db6b"/>
    <ds:schemaRef ds:uri="62b85a0e-09bb-4b0f-bd28-e34020cdc07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9FA9FA0-2CB2-436E-A336-3A77ADFE4CF1}">
  <ds:schemaRefs>
    <ds:schemaRef ds:uri="http://purl.org/dc/terms/"/>
    <ds:schemaRef ds:uri="http://schemas.microsoft.com/office/infopath/2007/PartnerControls"/>
    <ds:schemaRef ds:uri="http://purl.org/dc/dcmitype/"/>
    <ds:schemaRef ds:uri="http://schemas.openxmlformats.org/package/2006/metadata/core-properties"/>
    <ds:schemaRef ds:uri="http://schemas.microsoft.com/office/2006/metadata/properties"/>
    <ds:schemaRef ds:uri="http://schemas.microsoft.com/office/2006/documentManagement/types"/>
    <ds:schemaRef ds:uri="265cb39c-7109-435c-af5d-13dc21a2db6b"/>
    <ds:schemaRef ds:uri="http://purl.org/dc/elements/1.1/"/>
    <ds:schemaRef ds:uri="62b85a0e-09bb-4b0f-bd28-e34020cdc070"/>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Vopak Theme</Template>
  <TotalTime>0</TotalTime>
  <Words>15</Words>
  <Application>Microsoft Office PowerPoint</Application>
  <PresentationFormat>Custom</PresentationFormat>
  <Paragraphs>4</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Lato</vt:lpstr>
      <vt:lpstr>Vopak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South Africa liquid fuels: Week 1 analytical maps</dc:title>
  <dc:creator>Africa International Advisors</dc:creator>
  <cp:lastModifiedBy>Nigel Zhuwaki</cp:lastModifiedBy>
  <cp:revision>1</cp:revision>
  <dcterms:created xsi:type="dcterms:W3CDTF">2017-11-16T09:19:07Z</dcterms:created>
  <dcterms:modified xsi:type="dcterms:W3CDTF">2026-10-01T12:10:22Z</dcterms:modified>
  <dc:subject>Illustrative demand geography and conditional Vopak market access</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0x010100BB14DAA3CC024F49A081857B4C9CD92A</vt:lpwstr>
  </property>
  <property fmtid="{D5CDD505-2E9C-101B-9397-08002B2CF9AE}" pid="3" name="MediaServiceImageTags">
    <vt:lpwstr/>
  </property>
</Properties>
</file>