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 id="274" r:id="rId29"/>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1.xml"/><Relationship Id="rId17" Type="http://schemas.openxmlformats.org/officeDocument/2006/relationships/slide" Target="slides/slide3.xml"/><Relationship Id="rId18" Type="http://schemas.openxmlformats.org/officeDocument/2006/relationships/slide" Target="slides/slide16.xml"/><Relationship Id="rId19" Type="http://schemas.openxmlformats.org/officeDocument/2006/relationships/slide" Target="slides/slide6.xml"/><Relationship Id="rId20" Type="http://schemas.openxmlformats.org/officeDocument/2006/relationships/slide" Target="slides/slide12.xml"/><Relationship Id="rId21" Type="http://schemas.openxmlformats.org/officeDocument/2006/relationships/slide" Target="slides/slide14.xml"/><Relationship Id="rId22" Type="http://schemas.openxmlformats.org/officeDocument/2006/relationships/slide" Target="slides/slide2.xml"/><Relationship Id="rId23" Type="http://schemas.openxmlformats.org/officeDocument/2006/relationships/slide" Target="slides/slide5.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0.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c:v>
                </c:pt>
              </c:strCache>
            </c:strRef>
          </c:tx>
          <c:spPr>
            <a:solidFill>
              <a:srgbClr val="0A2373"/>
            </a:solidFill>
            <a:ln>
              <a:noFill/>
            </a:ln>
          </c:spPr>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2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2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2.xml"/><Relationship Id="rId13" Type="http://schemas.openxmlformats.org/officeDocument/2006/relationships/slide" Target="slide13.xml"/><Relationship Id="rId14" Type="http://schemas.openxmlformats.org/officeDocument/2006/relationships/slide" Target="slide14.xml"/><Relationship Id="rId15" Type="http://schemas.openxmlformats.org/officeDocument/2006/relationships/slide" Target="slide15.xml"/><Relationship Id="rId16"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E8D184CB-4B46-4B75-AF64-CC7F9BAFCC32}"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D134E0DC-5458-4CA0-A39F-F639EE535370}"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1">
                <a:solidFill>
                  <a:srgbClr val="FFFFFF"/>
                </a:solidFill>
                <a:latin typeface="Lato"/>
              </a:defRPr>
            </a:pPr>
            <a:r>
              <a:t>KZN</a:t>
            </a:r>
          </a:p>
          <a:p>
            <a:pPr>
              <a:spcAft>
                <a:spcPts val="300"/>
              </a:spcAft>
              <a:defRPr sz="900" b="1">
                <a:solidFill>
                  <a:srgbClr val="FFFFFF"/>
                </a:solidFill>
                <a:latin typeface="Lato"/>
              </a:defRPr>
            </a:pPr>
            <a: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
        <p:nvSpPr>
          <p:cNvPr id="565"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6"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67"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7BD3AFB-B69E-443F-8F24-A22FF5381FA3}"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
        <p:nvSpPr>
          <p:cNvPr id="6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F09DBADA-6888-4DF5-98B2-4BA184A47FA5}"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diesel imports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14.793; government 10.800.</a:t>
            </a:r>
          </a:p>
          <a:p>
            <a:pPr>
              <a:spcAft>
                <a:spcPts val="300"/>
              </a:spcAft>
              <a:defRPr sz="1150" b="0">
                <a:solidFill>
                  <a:srgbClr val="000000"/>
                </a:solidFill>
                <a:latin typeface="Lato"/>
              </a:defRPr>
            </a:pPr>
            <a:r>
              <a:t>Difference -3.993 bn L. Preserve both;</a:t>
            </a:r>
          </a:p>
          <a:p>
            <a:pPr>
              <a:spcAft>
                <a:spcPts val="300"/>
              </a:spcAft>
              <a:defRPr sz="1150" b="0">
                <a:solidFill>
                  <a:srgbClr val="000000"/>
                </a:solidFill>
                <a:latin typeface="Lato"/>
              </a:defRPr>
            </a:pPr>
            <a:r>
              <a:t>investigate scope and vintage.</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a:t>
            </a:r>
          </a:p>
          <a:p>
            <a:pPr>
              <a:spcAft>
                <a:spcPts val="300"/>
              </a:spcAft>
              <a:defRPr sz="1150" b="0">
                <a:solidFill>
                  <a:srgbClr val="000000"/>
                </a:solidFill>
                <a:latin typeface="Lato"/>
              </a:defRPr>
            </a:pPr>
            <a:r>
              <a:t>Balancing requirement, not production.</a:t>
            </a:r>
          </a:p>
          <a:p>
            <a:pPr>
              <a:spcAft>
                <a:spcPts val="300"/>
              </a:spcAft>
              <a:defRPr sz="1150" b="0">
                <a:solidFill>
                  <a:srgbClr val="000000"/>
                </a:solidFill>
                <a:latin typeface="Lato"/>
              </a:defRPr>
            </a:pPr>
            <a: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
        <p:nvSpPr>
          <p:cNvPr id="6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3C794826-E1BF-4A0F-88F7-A5F6267F4070}"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F8565AEA-852F-449A-BA0D-86742E62F997}"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B9F56BB3-5D29-41E0-A3AE-E9411F3B0664}"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17" name="Transnet lease overlay: Isosceles Triangle 3016"/>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18" name="Transnet lease overlay: Connector 3017"/>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19" name="Transnet lease overlay: TextBox 3018"/>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3020" name="Transnet lease overlay: Isosceles Triangle 3019"/>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1" name="Transnet lease overlay: Connector 3020"/>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2" name="Transnet lease overlay: TextBox 3021"/>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3023" name="Transnet lease overlay: Isosceles Triangle 3022"/>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4" name="Transnet lease overlay: Connector 3023"/>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5" name="Transnet lease overlay: TextBox 3024"/>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3026" name="Transnet lease overlay: Isosceles Triangle 3025"/>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7" name="Transnet lease overlay: Connector 3026"/>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8" name="Transnet lease overlay: TextBox 3027"/>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3029" name="Transnet lease overlay: Isosceles Triangle 3028"/>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30" name="Transnet lease overlay: Connector 3029"/>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31" name="Transnet lease overlay: TextBox 3030"/>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3032" name="Transnet lease overlay: TextBox 3031"/>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3033" name="Transnet lease overlay: Isosceles Triangle 3032"/>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41" name="Connector 30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42" name="TextBox 304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43" name="TextBox 3042"/>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3044" name="TextBox 3043"/>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3045" name="TextBox 3044"/>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3046" name="TextBox 3045"/>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3047" name="TextBox 3046"/>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3048" name="TextBox 3047"/>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3049" name="Connector 304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50" name="TextBox 3049"/>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051" name="TextBox 3050"/>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3052" name="TextBox 3051"/>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
        <p:nvSpPr>
          <p:cNvPr id="305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5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5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2435B35F-3D1F-46B7-B242-CEA2247A4D2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Walvis–Gauteng (Trans-Kalahari)</a:t>
            </a:r>
          </a:p>
        </p:txBody>
      </p:sp>
      <p:sp>
        <p:nvSpPr>
          <p:cNvPr id="107" name="TextBox 106"/>
          <p:cNvSpPr txBox="1"/>
          <p:nvPr/>
        </p:nvSpPr>
        <p:spPr>
          <a:xfrm>
            <a:off x="457200" y="6400800"/>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Routes schematic; access unverified. Colour measures provincial totals, not density or Vopak share.</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
        <p:nvSpPr>
          <p:cNvPr id="12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3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39"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1"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C51E94FD-99D8-4A85-A62C-777C6AE0FA78}"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A5EC4D31-0D2A-4658-860F-F4308F225667}"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7503D9B9-9897-442E-B8DB-3CA6928E4F31}"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Translate additional fuel flows into a preliminary inventory requirement</a:t>
            </a:r>
          </a:p>
        </p:txBody>
      </p:sp>
      <p:sp>
        <p:nvSpPr>
          <p:cNvPr id="3" name="Slide Number Placeholder"/>
          <p:cNvSpPr>
            <a:spLocks noGrp="1"/>
          </p:cNvSpPr>
          <p:nvPr>
            <p:ph type="sldNum" sz="quarter" idx="12"/>
          </p:nvPr>
        </p:nvSpPr>
        <p:spPr/>
        <p:txBody>
          <a:bodyPr/>
          <a:lstStyle/>
          <a:p>
            <a:fld id="{03FDAEA2-A8FC-4B6B-9DDF-075B4F1BB726}"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5.5 bn L/year candidate example; authored inventory-day sensitivity, 6 Oct 2026. Not new-capacity sizing.</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Working inventory sensitivity | illustrative, thousand m³</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additional 5.5 bn litres/year; uniform daily flow</a:t>
            </a:r>
          </a:p>
        </p:txBody>
      </p:sp>
      <p:sp>
        <p:nvSpPr>
          <p:cNvPr id="30" name="TextBox 29"/>
          <p:cNvSpPr txBox="1"/>
          <p:nvPr/>
        </p:nvSpPr>
        <p:spPr>
          <a:xfrm>
            <a:off x="457200" y="258775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More inventory days require more working stock</a:t>
            </a:r>
          </a:p>
        </p:txBody>
      </p:sp>
      <p:graphicFrame>
        <p:nvGraphicFramePr>
          <p:cNvPr id="31" name="Chart 30"/>
          <p:cNvGraphicFramePr>
            <a:graphicFrameLocks noGrp="1"/>
          </p:cNvGraphicFramePr>
          <p:nvPr/>
        </p:nvGraphicFramePr>
        <p:xfrm>
          <a:off x="457200" y="3008376"/>
          <a:ext cx="6446520" cy="2340864"/>
        </p:xfrm>
        <a:graphic>
          <a:graphicData uri="http://schemas.openxmlformats.org/drawingml/2006/chart">
            <c:chart xmlns:c="http://schemas.openxmlformats.org/drawingml/2006/chart" r:id="rId3"/>
          </a:graphicData>
        </a:graphic>
      </p:graphicFrame>
      <p:sp>
        <p:nvSpPr>
          <p:cNvPr id="32" name="TextBox 31"/>
          <p:cNvSpPr txBox="1"/>
          <p:nvPr/>
        </p:nvSpPr>
        <p:spPr>
          <a:xfrm>
            <a:off x="457200" y="5513832"/>
            <a:ext cx="644652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Working m³ = annual litres ÷ 365 ÷ 1,000 × inventory days</a:t>
            </a:r>
          </a:p>
        </p:txBody>
      </p:sp>
      <p:sp>
        <p:nvSpPr>
          <p:cNvPr id="33" name="TextBox 32"/>
          <p:cNvSpPr txBox="1"/>
          <p:nvPr/>
        </p:nvSpPr>
        <p:spPr>
          <a:xfrm>
            <a:off x="457200" y="5925312"/>
            <a:ext cx="6446520" cy="502920"/>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At 14 days: approximately 211 thousand m³ of working inventory.</a:t>
            </a:r>
          </a:p>
          <a:p>
            <a:pPr>
              <a:spcAft>
                <a:spcPts val="300"/>
              </a:spcAft>
              <a:defRPr sz="1150" b="0">
                <a:solidFill>
                  <a:srgbClr val="000000"/>
                </a:solidFill>
                <a:latin typeface="Lato"/>
              </a:defRPr>
            </a:pPr>
            <a:r>
              <a:t>New tanks depend on usable spare capacity, peaks, product segregation and dispatch limits.</a:t>
            </a:r>
          </a:p>
        </p:txBody>
      </p:sp>
      <p:sp>
        <p:nvSpPr>
          <p:cNvPr id="34" name="TextBox 3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5" name="TextBox 3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Inventory days set working stock</a:t>
            </a:r>
          </a:p>
        </p:txBody>
      </p:sp>
      <p:sp>
        <p:nvSpPr>
          <p:cNvPr id="36" name="TextBox 3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At the illustrative 5.5 bn litres/year, 14 days needs about 211 thousand m³. More inventory days require more stock.</a:t>
            </a:r>
          </a:p>
        </p:txBody>
      </p:sp>
      <p:sp>
        <p:nvSpPr>
          <p:cNvPr id="37" name="TextBox 3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Existing tanks may cover part</a:t>
            </a:r>
          </a:p>
        </p:txBody>
      </p:sp>
      <p:sp>
        <p:nvSpPr>
          <p:cNvPr id="38" name="TextBox 3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Usable spare tanks may absorb this inventory. Published gross capacity does not establish spare petrol/diesel space.</a:t>
            </a:r>
          </a:p>
        </p:txBody>
      </p:sp>
      <p:sp>
        <p:nvSpPr>
          <p:cNvPr id="39" name="TextBox 3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Sizing needs an operating case</a:t>
            </a:r>
          </a:p>
        </p:txBody>
      </p:sp>
      <p:sp>
        <p:nvSpPr>
          <p:cNvPr id="40" name="TextBox 3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peak receipts, product segregation, tank heels and dispatch limits. This is a sensitivity, not an investment recommendation.</a:t>
            </a:r>
          </a:p>
        </p:txBody>
      </p:sp>
      <p:cxnSp>
        <p:nvCxnSpPr>
          <p:cNvPr id="41" name="Connector 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3" name="TextBox 4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confirm candidate flows and inventory policy. Manish and Henry: test usable spare tanks, peak flows and operating allowances before sizing new capacity.</a:t>
            </a:r>
          </a:p>
        </p:txBody>
      </p:sp>
      <p:sp>
        <p:nvSpPr>
          <p:cNvPr id="4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ED7A32D7-624A-4DA4-860D-2E17F522226D}"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#D9D9D9</a:t>
            </a:r>
          </a:p>
        </p:txBody>
      </p:sp>
      <p:sp>
        <p:nvSpPr>
          <p:cNvPr id="68" name="TextBox 67"/>
          <p:cNvSpPr txBox="1"/>
          <p:nvPr/>
        </p:nvSpPr>
        <p:spPr>
          <a:xfrm>
            <a:off x="457200" y="6309360"/>
            <a:ext cx="1065276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Typeface: Lato. Sales colours show totals, not density or market share. Grey denotes unassessed demand.</a:t>
            </a:r>
          </a:p>
        </p:txBody>
      </p:sp>
      <p:sp>
        <p:nvSpPr>
          <p:cNvPr id="69" name="TextBox 68"/>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D134E0DC-5458-4CA0-A39F-F639EE535370}" type="slidenum">
              <a:rPr lang="en-US"/>
              <a:t>‹#›</a:t>
            </a:fld>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