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1.xml"/><Relationship Id="rId17" Type="http://schemas.openxmlformats.org/officeDocument/2006/relationships/slide" Target="slides/slide3.xml"/><Relationship Id="rId18" Type="http://schemas.openxmlformats.org/officeDocument/2006/relationships/slide" Target="slides/slide16.xml"/><Relationship Id="rId19" Type="http://schemas.openxmlformats.org/officeDocument/2006/relationships/slide" Target="slides/slide6.xml"/><Relationship Id="rId20" Type="http://schemas.openxmlformats.org/officeDocument/2006/relationships/slide" Target="slides/slide12.xml"/><Relationship Id="rId21" Type="http://schemas.openxmlformats.org/officeDocument/2006/relationships/slide" Target="slides/slide14.xml"/><Relationship Id="rId22" Type="http://schemas.openxmlformats.org/officeDocument/2006/relationships/slide" Target="slides/slide2.xml"/><Relationship Id="rId23" Type="http://schemas.openxmlformats.org/officeDocument/2006/relationships/slide" Target="slides/slide5.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0.xml"/><Relationship Id="rId27" Type="http://schemas.openxmlformats.org/officeDocument/2006/relationships/slide" Target="slides/slide13.xml"/><Relationship Id="rId28"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2.xml"/><Relationship Id="rId13" Type="http://schemas.openxmlformats.org/officeDocument/2006/relationships/slide" Target="slide13.xml"/><Relationship Id="rId14" Type="http://schemas.openxmlformats.org/officeDocument/2006/relationships/slide" Target="slide14.xml"/><Relationship Id="rId15" Type="http://schemas.openxmlformats.org/officeDocument/2006/relationships/slide" Target="slide15.xml"/><Relationship Id="rId16"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6559290B-278F-4206-8BB4-F7CE5A1B3232}"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4BFAAC87-8077-406F-AA86-4635538B6FAE}"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21" name="TextBox 520"/>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49EEB3D-8EEC-4F78-B821-A3E9FE2A6105}"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1021F80D-FF6C-4E06-A51C-E0C0BC83E1EA}"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35224"/>
          <a:ext cx="6446520" cy="1316736"/>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370832"/>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4727448"/>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40" name="TextBox 39"/>
          <p:cNvSpPr txBox="1"/>
          <p:nvPr/>
        </p:nvSpPr>
        <p:spPr>
          <a:xfrm>
            <a:off x="457200" y="5084064"/>
            <a:ext cx="6446520" cy="49377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staged: 14.793  |  Government report: 10.800</a:t>
            </a:r>
          </a:p>
          <a:p>
            <a:pPr>
              <a:spcAft>
                <a:spcPts val="300"/>
              </a:spcAft>
              <a:defRPr sz="1150" b="0">
                <a:solidFill>
                  <a:srgbClr val="000000"/>
                </a:solidFill>
                <a:latin typeface="Lato"/>
              </a:defRPr>
            </a:pPr>
            <a:r>
              <a:t>Difference: -3.993 bn L. Preserve both; investigate scope and vintage.</a:t>
            </a:r>
          </a:p>
        </p:txBody>
      </p:sp>
      <p:sp>
        <p:nvSpPr>
          <p:cNvPr id="41" name="TextBox 40"/>
          <p:cNvSpPr txBox="1"/>
          <p:nvPr/>
        </p:nvSpPr>
        <p:spPr>
          <a:xfrm>
            <a:off x="457200" y="5650992"/>
            <a:ext cx="644652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2" name="TextBox 41"/>
          <p:cNvSpPr txBox="1"/>
          <p:nvPr/>
        </p:nvSpPr>
        <p:spPr>
          <a:xfrm>
            <a:off x="457200" y="5989320"/>
            <a:ext cx="6446520" cy="43891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 This is a balancing requirement,</a:t>
            </a:r>
          </a:p>
          <a:p>
            <a:pPr>
              <a:spcAft>
                <a:spcPts val="300"/>
              </a:spcAft>
              <a:defRPr sz="1150" b="0">
                <a:solidFill>
                  <a:srgbClr val="000000"/>
                </a:solidFill>
                <a:latin typeface="Lato"/>
              </a:defRPr>
            </a:pPr>
            <a:r>
              <a:t>not measured production. 2024 production, stocks and coverage residual are unresolved.</a:t>
            </a:r>
          </a:p>
        </p:txBody>
      </p:sp>
      <p:cxnSp>
        <p:nvCxnSpPr>
          <p:cNvPr id="50" name="Connector 4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4" name="TextBox 5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5" name="TextBox 5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6" name="TextBox 5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7" name="TextBox 5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8" name="TextBox 5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59" name="TextBox 5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0" name="Connector 5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2" name="TextBox 6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5C833526-3126-4E5A-AFB4-5D13DB403C1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0AFB6B94-4A70-436C-99F0-D40FD728D32F}"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B282373E-DEE1-4A6D-A8E1-67DAD2134898}"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38" name="Transnet lease overlay: Isosceles Triangle 2937"/>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39" name="Transnet lease overlay: Connector 2938"/>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40" name="Transnet lease overlay: TextBox 2939"/>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941" name="Transnet lease overlay: Isosceles Triangle 2940"/>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42" name="Transnet lease overlay: Connector 2941"/>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43" name="Transnet lease overlay: TextBox 2942"/>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944" name="Transnet lease overlay: Isosceles Triangle 2943"/>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45" name="Transnet lease overlay: Connector 2944"/>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46" name="Transnet lease overlay: TextBox 2945"/>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947" name="Transnet lease overlay: Isosceles Triangle 2946"/>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48" name="Transnet lease overlay: Connector 2947"/>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49" name="Transnet lease overlay: TextBox 2948"/>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950" name="Transnet lease overlay: Isosceles Triangle 2949"/>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51" name="Transnet lease overlay: Connector 2950"/>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52" name="Transnet lease overlay: TextBox 2951"/>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953" name="Transnet lease overlay: TextBox 2952"/>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954" name="Transnet lease overlay: Isosceles Triangle 2953"/>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63" name="TextBox 296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964" name="TextBox 296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2965" name="TextBox 296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2966" name="TextBox 296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2967" name="TextBox 296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2968" name="TextBox 296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2969" name="TextBox 296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71" name="TextBox 297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972" name="TextBox 297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2973" name="TextBox 2972"/>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47169357-F0A9-459B-8AD3-DBAF066C064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Walvis–Gauteng (Trans-Kalahari)</a:t>
            </a:r>
          </a:p>
        </p:txBody>
      </p:sp>
      <p:sp>
        <p:nvSpPr>
          <p:cNvPr id="107" name="TextBox 106"/>
          <p:cNvSpPr txBox="1"/>
          <p:nvPr/>
        </p:nvSpPr>
        <p:spPr>
          <a:xfrm>
            <a:off x="457200" y="6400800"/>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Routes schematic; access unverified. Colour measures provincial totals, not density or Vopak share.</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055CB94D-F48F-4EDA-8755-3C931EDB4E35}"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461CA913-C9E2-4DA7-882D-8B400D717C5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57C55673-53B0-4F83-992B-D3501C2E88B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CB4764B8-20D5-41FA-91D6-2D8F567C6E7E}"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