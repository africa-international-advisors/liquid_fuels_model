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4"/>
  </p:sldMasterIdLst>
  <p:notesMasterIdLst>
    <p:notesMasterId r:id="rId8"/>
  </p:notesMasterIdLst>
  <p:sldIdLst>
    <p:sldId id="256" r:id="rId7"/>
    <p:sldId id="262" r:id="rId17"/>
    <p:sldId id="263" r:id="rId6"/>
    <p:sldId id="264" r:id="rId19"/>
    <p:sldId id="258" r:id="rId5"/>
    <p:sldId id="259" r:id="rId16"/>
    <p:sldId id="265" r:id="rId20"/>
    <p:sldId id="266" r:id="rId21"/>
    <p:sldId id="267" r:id="rId22"/>
    <p:sldId id="261" r:id="rId18"/>
  </p:sldIdLst>
  <p:sldSz cx="1158875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Henry Gilfillan" initials="HG [2]" lastIdx="8" clrIdx="6">
    <p:extLst>
      <p:ext uri="{19B8F6BF-5375-455C-9EA6-DF929625EA0E}">
        <p15:presenceInfo xmlns:p15="http://schemas.microsoft.com/office/powerpoint/2012/main" userId="S::henry.g@africaia.com::20d8d1d5-b81d-4db2-8d49-9db47f87700a" providerId="AD"/>
      </p:ext>
    </p:extLst>
  </p:cmAuthor>
  <p:cmAuthor id="1" name="Abbas Bilgrami" initials="AB [2]" lastIdx="8" clrIdx="0">
    <p:extLst>
      <p:ext uri="{19B8F6BF-5375-455C-9EA6-DF929625EA0E}">
        <p15:presenceInfo xmlns:p15="http://schemas.microsoft.com/office/powerpoint/2012/main" userId="da833efe2a07dd73" providerId="Windows Live"/>
      </p:ext>
    </p:extLst>
  </p:cmAuthor>
  <p:cmAuthor id="8" name="Abbas Bilgrami" initials="AB" lastIdx="34" clrIdx="7">
    <p:extLst>
      <p:ext uri="{19B8F6BF-5375-455C-9EA6-DF929625EA0E}">
        <p15:presenceInfo xmlns:p15="http://schemas.microsoft.com/office/powerpoint/2012/main" userId="S::abbas.b@africaia.com::09d4207e-ca10-48c5-9e33-f8dec02b9ddc" providerId="AD"/>
      </p:ext>
    </p:extLst>
  </p:cmAuthor>
  <p:cmAuthor id="2" name="Henry Gilfillan" initials="HG" lastIdx="82" clrIdx="1">
    <p:extLst>
      <p:ext uri="{19B8F6BF-5375-455C-9EA6-DF929625EA0E}">
        <p15:presenceInfo xmlns:p15="http://schemas.microsoft.com/office/powerpoint/2012/main" userId="Henry Gilfillan" providerId="None"/>
      </p:ext>
    </p:extLst>
  </p:cmAuthor>
  <p:cmAuthor id="9" name="Paayal Kanjee Govind" initials="PKG" lastIdx="4" clrIdx="8">
    <p:extLst>
      <p:ext uri="{19B8F6BF-5375-455C-9EA6-DF929625EA0E}">
        <p15:presenceInfo xmlns:p15="http://schemas.microsoft.com/office/powerpoint/2012/main" userId="Paayal Kanjee Govind" providerId="None"/>
      </p:ext>
    </p:extLst>
  </p:cmAuthor>
  <p:cmAuthor id="3" name="Ismaeel" initials="I" lastIdx="104" clrIdx="2">
    <p:extLst>
      <p:ext uri="{19B8F6BF-5375-455C-9EA6-DF929625EA0E}">
        <p15:presenceInfo xmlns:p15="http://schemas.microsoft.com/office/powerpoint/2012/main" userId="Ismaeel" providerId="None"/>
      </p:ext>
    </p:extLst>
  </p:cmAuthor>
  <p:cmAuthor id="4" name="Jennifer Zeiss" initials="JZ" lastIdx="19" clrIdx="3">
    <p:extLst>
      <p:ext uri="{19B8F6BF-5375-455C-9EA6-DF929625EA0E}">
        <p15:presenceInfo xmlns:p15="http://schemas.microsoft.com/office/powerpoint/2012/main" userId="Jennifer Zeiss" providerId="None"/>
      </p:ext>
    </p:extLst>
  </p:cmAuthor>
  <p:cmAuthor id="5" name="Gabrielle Knott" initials="GK" lastIdx="2" clrIdx="4">
    <p:extLst>
      <p:ext uri="{19B8F6BF-5375-455C-9EA6-DF929625EA0E}">
        <p15:presenceInfo xmlns:p15="http://schemas.microsoft.com/office/powerpoint/2012/main" userId="Gabrielle Knott" providerId="None"/>
      </p:ext>
    </p:extLst>
  </p:cmAuthor>
  <p:cmAuthor id="6" name="James Brown" initials="JB" lastIdx="2" clrIdx="5">
    <p:extLst>
      <p:ext uri="{19B8F6BF-5375-455C-9EA6-DF929625EA0E}">
        <p15:presenceInfo xmlns:p15="http://schemas.microsoft.com/office/powerpoint/2012/main" userId="S::james@africaia.com::5c3cb27f-96be-4c72-848f-aa01b93992f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3552"/>
    <a:srgbClr val="EBF9FE"/>
    <a:srgbClr val="FDD9A4"/>
    <a:srgbClr val="2D6196"/>
    <a:srgbClr val="326757"/>
    <a:srgbClr val="728A94"/>
    <a:srgbClr val="F01C24"/>
    <a:srgbClr val="56787A"/>
    <a:srgbClr val="CFDFF0"/>
    <a:srgbClr val="008E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87D74-0723-4269-ADB4-1C2880134AC4}" v="1" dt="2026-10-01T12:10:22.3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77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2.xml"/><Relationship Id="rId6" Type="http://schemas.openxmlformats.org/officeDocument/2006/relationships/slide" Target="slides/slide6.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commentAuthors" Target="commentAuthors.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5/10/relationships/revisionInfo" Target="revisionInfo.xml"/><Relationship Id="rId15" Type="http://schemas.microsoft.com/office/2018/10/relationships/authors" Target="authors.xml"/><Relationship Id="rId16" Type="http://schemas.openxmlformats.org/officeDocument/2006/relationships/slide" Target="slides/slide3.xml"/><Relationship Id="rId17" Type="http://schemas.openxmlformats.org/officeDocument/2006/relationships/slide" Target="slides/slide5.xml"/><Relationship Id="rId18" Type="http://schemas.openxmlformats.org/officeDocument/2006/relationships/slide" Target="slides/slide4.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 Id="rId22" Type="http://schemas.openxmlformats.org/officeDocument/2006/relationships/slide" Target="slides/slide1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Gauteng</c:v>
                </c:pt>
              </c:strCache>
            </c:strRef>
          </c:tx>
          <c:spPr>
            <a:solidFill>
              <a:srgbClr val="0A2373"/>
            </a:solidFill>
            <a:ln w="25400">
              <a:solidFill>
                <a:srgbClr val="0A2373"/>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Sheet1!$B$2:$B$11</c:f>
              <c:numCache>
                <c:formatCode>General</c:formatCode>
                <c:ptCount val="10"/>
                <c:pt idx="0">
                  <c:v>6.957413325999999</c:v>
                </c:pt>
                <c:pt idx="1">
                  <c:v>7.098075129</c:v>
                </c:pt>
                <c:pt idx="2">
                  <c:v>7.27979359</c:v>
                </c:pt>
                <c:pt idx="3">
                  <c:v>7.130303529232998</c:v>
                </c:pt>
                <c:pt idx="4">
                  <c:v>7.213928482944991</c:v>
                </c:pt>
                <c:pt idx="5">
                  <c:v>7.317085261789984</c:v>
                </c:pt>
                <c:pt idx="6">
                  <c:v>7.641453661767985</c:v>
                </c:pt>
                <c:pt idx="7">
                  <c:v>6.085737662723995</c:v>
                </c:pt>
                <c:pt idx="8">
                  <c:v>6.646008731794994</c:v>
                </c:pt>
                <c:pt idx="9">
                  <c:v>6.809430758895994</c:v>
                </c:pt>
              </c:numCache>
            </c:numRef>
          </c:val>
          <c:smooth val="0"/>
        </c:ser>
        <c:ser>
          <c:idx val="1"/>
          <c:order val="1"/>
          <c:tx>
            <c:strRef>
              <c:f>Sheet1!$C$1</c:f>
              <c:strCache>
                <c:ptCount val="1"/>
                <c:pt idx="0">
                  <c:v>KwaZulu-Natal</c:v>
                </c:pt>
              </c:strCache>
            </c:strRef>
          </c:tx>
          <c:spPr>
            <a:solidFill>
              <a:srgbClr val="546CA2"/>
            </a:solidFill>
            <a:ln w="25400">
              <a:solidFill>
                <a:srgbClr val="546CA2"/>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Sheet1!$C$2:$C$11</c:f>
              <c:numCache>
                <c:formatCode>General</c:formatCode>
                <c:ptCount val="10"/>
                <c:pt idx="0">
                  <c:v>4.0649684520000005</c:v>
                </c:pt>
                <c:pt idx="1">
                  <c:v>3.852058702</c:v>
                </c:pt>
                <c:pt idx="2">
                  <c:v>3.912559734</c:v>
                </c:pt>
                <c:pt idx="3">
                  <c:v>3.942573461657999</c:v>
                </c:pt>
                <c:pt idx="4">
                  <c:v>4.185357397407999</c:v>
                </c:pt>
                <c:pt idx="5">
                  <c:v>4.006674294566998</c:v>
                </c:pt>
                <c:pt idx="6">
                  <c:v>4.254528753769998</c:v>
                </c:pt>
                <c:pt idx="7">
                  <c:v>4.058690247691</c:v>
                </c:pt>
                <c:pt idx="8">
                  <c:v>4.274344607906</c:v>
                </c:pt>
                <c:pt idx="9">
                  <c:v>4.284492695897999</c:v>
                </c:pt>
              </c:numCache>
            </c:numRef>
          </c:val>
          <c:smooth val="0"/>
        </c:ser>
        <c:ser>
          <c:idx val="2"/>
          <c:order val="2"/>
          <c:tx>
            <c:strRef>
              <c:f>Sheet1!$D$1</c:f>
              <c:strCache>
                <c:ptCount val="1"/>
                <c:pt idx="0">
                  <c:v>Western Cape</c:v>
                </c:pt>
              </c:strCache>
            </c:strRef>
          </c:tx>
          <c:spPr>
            <a:solidFill>
              <a:srgbClr val="404040"/>
            </a:solidFill>
            <a:ln w="25400">
              <a:solidFill>
                <a:srgbClr val="404040"/>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Sheet1!$D$2:$D$11</c:f>
              <c:numCache>
                <c:formatCode>General</c:formatCode>
                <c:ptCount val="10"/>
                <c:pt idx="0">
                  <c:v>3.711414673</c:v>
                </c:pt>
                <c:pt idx="1">
                  <c:v>4.092754441</c:v>
                </c:pt>
                <c:pt idx="2">
                  <c:v>4.69646532</c:v>
                </c:pt>
                <c:pt idx="3">
                  <c:v>3.721210313077999</c:v>
                </c:pt>
                <c:pt idx="4">
                  <c:v>3.627265157763995</c:v>
                </c:pt>
                <c:pt idx="5">
                  <c:v>3.5433597330979962</c:v>
                </c:pt>
                <c:pt idx="6">
                  <c:v>3.7198348359559983</c:v>
                </c:pt>
                <c:pt idx="7">
                  <c:v>3.156886221083998</c:v>
                </c:pt>
                <c:pt idx="8">
                  <c:v>4.010114112846999</c:v>
                </c:pt>
                <c:pt idx="9">
                  <c:v>3.9307750071499967</c:v>
                </c:pt>
              </c:numCache>
            </c:numRef>
          </c:val>
          <c:smooth val="0"/>
        </c:ser>
        <c:ser>
          <c:idx val="3"/>
          <c:order val="3"/>
          <c:tx>
            <c:strRef>
              <c:f>Sheet1!$E$1</c:f>
              <c:strCache>
                <c:ptCount val="1"/>
                <c:pt idx="0">
                  <c:v>Mpumalanga</c:v>
                </c:pt>
              </c:strCache>
            </c:strRef>
          </c:tx>
          <c:spPr>
            <a:solidFill>
              <a:srgbClr val="767676"/>
            </a:solidFill>
            <a:ln w="17780">
              <a:solidFill>
                <a:srgbClr val="546CA2"/>
              </a:solidFill>
              <a:prstDash val="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Sheet1!$E$2:$E$11</c:f>
              <c:numCache>
                <c:formatCode>General</c:formatCode>
                <c:ptCount val="10"/>
                <c:pt idx="0">
                  <c:v>2.320531335</c:v>
                </c:pt>
                <c:pt idx="1">
                  <c:v>2.341183354</c:v>
                </c:pt>
                <c:pt idx="2">
                  <c:v>2.454368402</c:v>
                </c:pt>
                <c:pt idx="3">
                  <c:v>2.6606009079020003</c:v>
                </c:pt>
                <c:pt idx="4">
                  <c:v>2.508828751910999</c:v>
                </c:pt>
                <c:pt idx="5">
                  <c:v>2.456646527283</c:v>
                </c:pt>
                <c:pt idx="6">
                  <c:v>2.236702405418999</c:v>
                </c:pt>
                <c:pt idx="7">
                  <c:v>1.9979355724919998</c:v>
                </c:pt>
                <c:pt idx="8">
                  <c:v>1.937230567748997</c:v>
                </c:pt>
                <c:pt idx="9">
                  <c:v>1.757189721943996</c:v>
                </c:pt>
              </c:numCache>
            </c:numRef>
          </c:val>
          <c:smooth val="0"/>
        </c:ser>
        <c:ser>
          <c:idx val="4"/>
          <c:order val="4"/>
          <c:tx>
            <c:strRef>
              <c:f>Sheet1!$F$1</c:f>
              <c:strCache>
                <c:ptCount val="1"/>
                <c:pt idx="0">
                  <c:v>Eastern Cape</c:v>
                </c:pt>
              </c:strCache>
            </c:strRef>
          </c:tx>
          <c:spPr>
            <a:solidFill>
              <a:srgbClr val="D9D9D9"/>
            </a:solidFill>
            <a:ln w="17780">
              <a:solidFill>
                <a:srgbClr val="767676"/>
              </a:solidFill>
              <a:prstDash val="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Sheet1!$F$2:$F$11</c:f>
              <c:numCache>
                <c:formatCode>General</c:formatCode>
                <c:ptCount val="10"/>
                <c:pt idx="0">
                  <c:v>1.585923527</c:v>
                </c:pt>
                <c:pt idx="1">
                  <c:v>1.626715828</c:v>
                </c:pt>
                <c:pt idx="2">
                  <c:v>1.7991415320000002</c:v>
                </c:pt>
                <c:pt idx="3">
                  <c:v>1.785883066283</c:v>
                </c:pt>
                <c:pt idx="4">
                  <c:v>1.7690115308639982</c:v>
                </c:pt>
                <c:pt idx="5">
                  <c:v>1.7703191081490002</c:v>
                </c:pt>
                <c:pt idx="6">
                  <c:v>1.7921445762510002</c:v>
                </c:pt>
                <c:pt idx="7">
                  <c:v>1.6156188919190002</c:v>
                </c:pt>
                <c:pt idx="8">
                  <c:v>1.7712447284709991</c:v>
                </c:pt>
                <c:pt idx="9">
                  <c:v>1.7354846274369988</c:v>
                </c:pt>
              </c:numCache>
            </c:numRef>
          </c:val>
          <c:smooth val="0"/>
        </c:ser>
        <c:ser>
          <c:idx val="5"/>
          <c:order val="5"/>
          <c:tx>
            <c:strRef>
              <c:f>Sheet1!$G$1</c:f>
              <c:strCache>
                <c:ptCount val="1"/>
                <c:pt idx="0">
                  <c:v>Free State</c:v>
                </c:pt>
              </c:strCache>
            </c:strRef>
          </c:tx>
          <c:spPr>
            <a:solidFill>
              <a:srgbClr val="0A2373"/>
            </a:solidFill>
            <a:ln w="17780">
              <a:solidFill>
                <a:srgbClr val="0A2373"/>
              </a:solidFill>
              <a:prstDash val="sys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Sheet1!$G$2:$G$11</c:f>
              <c:numCache>
                <c:formatCode>General</c:formatCode>
                <c:ptCount val="10"/>
                <c:pt idx="0">
                  <c:v>2.259494545</c:v>
                </c:pt>
                <c:pt idx="1">
                  <c:v>2.185901058</c:v>
                </c:pt>
                <c:pt idx="2">
                  <c:v>2.180302781</c:v>
                </c:pt>
                <c:pt idx="3">
                  <c:v>1.939700986869</c:v>
                </c:pt>
                <c:pt idx="4">
                  <c:v>1.744134882427</c:v>
                </c:pt>
                <c:pt idx="5">
                  <c:v>1.977904061572</c:v>
                </c:pt>
                <c:pt idx="6">
                  <c:v>1.8837452938370003</c:v>
                </c:pt>
                <c:pt idx="7">
                  <c:v>1.7546840298869997</c:v>
                </c:pt>
                <c:pt idx="8">
                  <c:v>1.720347936116999</c:v>
                </c:pt>
                <c:pt idx="9">
                  <c:v>1.3693191680130001</c:v>
                </c:pt>
              </c:numCache>
            </c:numRef>
          </c:val>
          <c:smooth val="0"/>
        </c:ser>
        <c:ser>
          <c:idx val="6"/>
          <c:order val="6"/>
          <c:tx>
            <c:strRef>
              <c:f>Sheet1!$H$1</c:f>
              <c:strCache>
                <c:ptCount val="1"/>
                <c:pt idx="0">
                  <c:v>North West</c:v>
                </c:pt>
              </c:strCache>
            </c:strRef>
          </c:tx>
          <c:spPr>
            <a:solidFill>
              <a:srgbClr val="546CA2"/>
            </a:solidFill>
            <a:ln w="17780">
              <a:solidFill>
                <a:srgbClr val="404040"/>
              </a:solidFill>
              <a:prstDash val="dash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Sheet1!$H$2:$H$11</c:f>
              <c:numCache>
                <c:formatCode>General</c:formatCode>
                <c:ptCount val="10"/>
                <c:pt idx="0">
                  <c:v>1.266432554</c:v>
                </c:pt>
                <c:pt idx="1">
                  <c:v>1.158286361</c:v>
                </c:pt>
                <c:pt idx="2">
                  <c:v>1.1888144409999999</c:v>
                </c:pt>
                <c:pt idx="3">
                  <c:v>1.1648558408760001</c:v>
                </c:pt>
                <c:pt idx="4">
                  <c:v>1.1013055398449991</c:v>
                </c:pt>
                <c:pt idx="5">
                  <c:v>0.991726319483997</c:v>
                </c:pt>
                <c:pt idx="6">
                  <c:v>1.007267117963999</c:v>
                </c:pt>
                <c:pt idx="7">
                  <c:v>0.847947157980999</c:v>
                </c:pt>
                <c:pt idx="8">
                  <c:v>0.9456235060149989</c:v>
                </c:pt>
                <c:pt idx="9">
                  <c:v>1.068062721037</c:v>
                </c:pt>
              </c:numCache>
            </c:numRef>
          </c:val>
          <c:smooth val="0"/>
        </c:ser>
        <c:ser>
          <c:idx val="7"/>
          <c:order val="7"/>
          <c:tx>
            <c:strRef>
              <c:f>Sheet1!$I$1</c:f>
              <c:strCache>
                <c:ptCount val="1"/>
                <c:pt idx="0">
                  <c:v>Limpopo</c:v>
                </c:pt>
              </c:strCache>
            </c:strRef>
          </c:tx>
          <c:spPr>
            <a:solidFill>
              <a:srgbClr val="404040"/>
            </a:solidFill>
            <a:ln w="17780">
              <a:solidFill>
                <a:srgbClr val="767676"/>
              </a:solidFill>
              <a:prstDash val="sys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Sheet1!$I$2:$I$11</c:f>
              <c:numCache>
                <c:formatCode>General</c:formatCode>
                <c:ptCount val="10"/>
                <c:pt idx="0">
                  <c:v>0.827670855</c:v>
                </c:pt>
                <c:pt idx="1">
                  <c:v>0.790816682</c:v>
                </c:pt>
                <c:pt idx="2">
                  <c:v>0.7817361970000001</c:v>
                </c:pt>
                <c:pt idx="3">
                  <c:v>0.666418652288</c:v>
                </c:pt>
                <c:pt idx="4">
                  <c:v>0.6305076475039999</c:v>
                </c:pt>
                <c:pt idx="5">
                  <c:v>0.662172038670999</c:v>
                </c:pt>
                <c:pt idx="6">
                  <c:v>0.6197556413229999</c:v>
                </c:pt>
                <c:pt idx="7">
                  <c:v>0.492636084695</c:v>
                </c:pt>
                <c:pt idx="8">
                  <c:v>0.48667479724299906</c:v>
                </c:pt>
                <c:pt idx="9">
                  <c:v>0.49563148529399903</c:v>
                </c:pt>
              </c:numCache>
            </c:numRef>
          </c:val>
          <c:smooth val="0"/>
        </c:ser>
        <c:ser>
          <c:idx val="8"/>
          <c:order val="8"/>
          <c:tx>
            <c:strRef>
              <c:f>Sheet1!$J$1</c:f>
              <c:strCache>
                <c:ptCount val="1"/>
                <c:pt idx="0">
                  <c:v>Northern Cape</c:v>
                </c:pt>
              </c:strCache>
            </c:strRef>
          </c:tx>
          <c:spPr>
            <a:solidFill>
              <a:srgbClr val="767676"/>
            </a:solidFill>
            <a:ln w="17780">
              <a:solidFill>
                <a:srgbClr val="BDBEC1"/>
              </a:solidFill>
              <a:prstDash val="lg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Sheet1!$J$2:$J$11</c:f>
              <c:numCache>
                <c:formatCode>General</c:formatCode>
                <c:ptCount val="10"/>
                <c:pt idx="0">
                  <c:v>0.587311879</c:v>
                </c:pt>
                <c:pt idx="1">
                  <c:v>0.628263196</c:v>
                </c:pt>
                <c:pt idx="2">
                  <c:v>0.6686238340000001</c:v>
                </c:pt>
                <c:pt idx="3">
                  <c:v>0.533079746921</c:v>
                </c:pt>
                <c:pt idx="4">
                  <c:v>0.538621802891</c:v>
                </c:pt>
                <c:pt idx="5">
                  <c:v>0.521732330259</c:v>
                </c:pt>
                <c:pt idx="6">
                  <c:v>0.5264070109910001</c:v>
                </c:pt>
                <c:pt idx="7">
                  <c:v>0.441292852319</c:v>
                </c:pt>
                <c:pt idx="8">
                  <c:v>0.45501325471200005</c:v>
                </c:pt>
                <c:pt idx="9">
                  <c:v>0.451810048923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1100">
                <a:solidFill>
                  <a:srgbClr val="404040"/>
                </a:solidFill>
                <a:latin typeface="Lato"/>
              </a:defRPr>
            </a:pPr>
          </a:p>
        </c:txPr>
        <c:crossAx val="2140495176"/>
        <c:crosses val="autoZero"/>
        <c:auto val="1"/>
        <c:lblAlgn val="ctr"/>
        <c:lblOffset val="100"/>
        <c:noMultiLvlLbl val="0"/>
      </c:catAx>
      <c:valAx>
        <c:axId val="2140495176"/>
        <c:scaling>
          <c:max val="8.0"/>
          <c:min val="0.0"/>
        </c:scaling>
        <c:delete val="0"/>
        <c:axPos val="l"/>
        <c:majorGridlines>
          <c:spPr>
            <a:ln w="6350">
              <a:solidFill>
                <a:srgbClr val="D8D8D8"/>
              </a:solidFill>
            </a:ln>
          </c:spPr>
        </c:majorGridlines>
        <c:numFmt formatCode="0.0" sourceLinked="0"/>
        <c:majorTickMark val="out"/>
        <c:minorTickMark val="none"/>
        <c:tickLblPos val="nextTo"/>
        <c:spPr>
          <a:ln w="6350">
            <a:solidFill>
              <a:srgbClr val="767676"/>
            </a:solidFill>
          </a:ln>
        </c:spPr>
        <c:txPr>
          <a:bodyPr/>
          <a:lstStyle/>
          <a:p>
            <a:pPr>
              <a:defRPr sz="1100">
                <a:solidFill>
                  <a:srgbClr val="404040"/>
                </a:solidFill>
                <a:latin typeface="Lato"/>
              </a:defRPr>
            </a:pPr>
          </a:p>
        </c:txPr>
        <c:crossAx val="2118791784"/>
        <c:crosses val="autoZero"/>
        <c:majorUnit val="2.0"/>
      </c:valAx>
    </c:plotArea>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47D6B1-D525-4628-ADA5-8E1FE74ADA4C}" type="datetimeFigureOut">
              <a:rPr lang="en-GB" smtClean="0"/>
              <a:t>01/10/2026</a:t>
            </a:fld>
            <a:endParaRPr lang="en-GB"/>
          </a:p>
        </p:txBody>
      </p:sp>
      <p:sp>
        <p:nvSpPr>
          <p:cNvPr id="4" name="Slide Image Placeholder 3"/>
          <p:cNvSpPr>
            <a:spLocks noGrp="1" noRot="1" noChangeAspect="1"/>
          </p:cNvSpPr>
          <p:nvPr>
            <p:ph type="sldImg" idx="2"/>
          </p:nvPr>
        </p:nvSpPr>
        <p:spPr>
          <a:xfrm>
            <a:off x="820738" y="1143000"/>
            <a:ext cx="52165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01EB5-DFDD-47C4-B7E0-8A018260211B}" type="slidenum">
              <a:rPr lang="en-GB" smtClean="0"/>
              <a:t>‹#›</a:t>
            </a:fld>
            <a:endParaRPr lang="en-GB"/>
          </a:p>
        </p:txBody>
      </p:sp>
    </p:spTree>
    <p:extLst>
      <p:ext uri="{BB962C8B-B14F-4D97-AF65-F5344CB8AC3E}">
        <p14:creationId xmlns:p14="http://schemas.microsoft.com/office/powerpoint/2010/main" val="143794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Annual reporting sums four quarters separately for each province/product. Missing or incomplete years are gaps, never zeros or extrapolations. 2023 has Q1 only and is excluded. Source: assumptions/2026/timeseries/fuel_sales_department_by_province_quarterly.csv. Reported sales are a demand proxy; historical reporting requires analyst review, not a forecast.</a:t>
            </a:r>
          </a:p>
          <a:p>
            <a:r>
              <a:t>Provincial sum minus national petrol/diesel sales (bn L), mechanical flag tolerance 1 litre, not a materiality or validation threshold:</a:t>
            </a:r>
          </a:p>
          <a:p>
            <a:r>
              <a:t>{</a:t>
            </a:r>
          </a:p>
          <a:p>
            <a:r>
              <a:t>  "2013": 0.5379449579999971,</a:t>
            </a:r>
          </a:p>
          <a:p>
            <a:r>
              <a:t>  "2014": 0.2688237130000033,</a:t>
            </a:r>
          </a:p>
          <a:p>
            <a:r>
              <a:t>  "2015": -0.034042841268004054,</a:t>
            </a:r>
          </a:p>
          <a:p>
            <a:r>
              <a:t>  "2016": -7.105427357601002e-15,</a:t>
            </a:r>
          </a:p>
          <a:p>
            <a:r>
              <a:t>  "2017": -0.0023669540000135214,</a:t>
            </a:r>
          </a:p>
          <a:p>
            <a:r>
              <a:t>  "2018": -0.4327551978270243,</a:t>
            </a:r>
          </a:p>
          <a:p>
            <a:r>
              <a:t>  "2019": -1.7763568394002505e-14,</a:t>
            </a:r>
          </a:p>
          <a:p>
            <a:r>
              <a:t>  "2020": -1.0658141036401503e-14,</a:t>
            </a:r>
          </a:p>
          <a:p>
            <a:r>
              <a:t>  "2021": -0.0007647352630151261,</a:t>
            </a:r>
          </a:p>
          <a:p>
            <a:r>
              <a:t>  "2022": -1.7763568394002505e-14</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Observed historical sales, separate from the illustrative market figures on slide 6.</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Historical sales are a demand-location proxy, not 2026 demand or customer delivery destinations. All 18 province/product series have four quarters in 2022; provincial sum matches national sales within 1 litre. No district-level smoothing or within-province hotspot is inferred. Colour measures total annual provincial volume, not litres per km2. Region borders use the authored province membership, not a service area. Eastern coastal=EC+KZN; Inland=GP+FS+LP+MP+NW; Western coastal=WC; Other=NC. The observed totals and regions are separate from the illustrative market figures on slide 6. Source CSV C:\Users\ITafr\Desktop\Insights\liquid_fuels_model\assumptions\2026\timeseries\fuel_sales_department_by_province_quarterly.csv; SHA256 aec82481b33f70429b6b8e7c9c02767d62a6e8c7bf6bda09e21123a5bc56c9d6; original workbook(s) ['2022-Quarter4-Magisterial-Districts-data.xlsx']. Department index: https://www.dmpr.gov.za/Portals/0/Energy_Website/files/media/media_SAVolumes.html. Boundary metadata/source/license: assets/maps/geoboundaries_zaf_adm1_metadata.json. Reporting evidence remains provisional pending analyst review; owner Manish, Nigel review. Refresh when the source supplies a later complete year; check every province/product quarter and reconcile national totals.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 Closing cover photograph: Royal Vopak, Terminal Lesedi. https://www.vopak.com/terminals/vopak-terminal-lesedi</a:t>
            </a:r>
          </a:p>
          <a:p>
            <a:r>
              <a:t>Week 1 analytical pack, 6 October 2026. Existing kickoff cover/closing reused at user request.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"Illustrative allocation only; not observed provincial supply",</a:t>
            </a:r>
          </a:p>
          <a:p>
            <a:r>
              <a:t>  "demand_year": 2022,</a:t>
            </a:r>
          </a:p>
          <a:p>
            <a:r>
              <a:t>  "demand_source": "assumptions/2026/timeseries/fuel_sales_department_by_province_quarterly.csv",</a:t>
            </a:r>
          </a:p>
          <a:p>
            <a:r>
              <a:t>  "mix_source": "pptx/story/illustrative_national_balance.csv",</a:t>
            </a:r>
          </a:p>
          <a:p>
            <a:r>
              <a:t>  "method": "Apply the example domestic_supply/demand share separately for petrol and diesel to each province's reported sales; remaining volume is illustrative finished-product imports",</a:t>
            </a:r>
          </a:p>
          <a:p>
            <a:r>
              <a:t>  "geographic_assumption": "Uniform source shares by product across provinces; provincial product mix may differ",</a:t>
            </a:r>
          </a:p>
          <a:p>
            <a:r>
              <a:t>  "scope": "Finished petrol and diesel; domestically refined output counts as domestic even when crude is imported",</a:t>
            </a:r>
          </a:p>
          <a:p>
            <a:r>
              <a:t>  "owner": "Manish / Nigel review",</a:t>
            </a:r>
          </a:p>
          <a:p>
            <a:r>
              <a:t>  "replacement_trigger": "Matched-year reviewed national balance plus evidenced refinery/import-to-province flows, exports and stock reconciliation"</a:t>
            </a:r>
          </a:p>
          <a:p>
            <a:r>
              <a:t>}</a:t>
            </a:r>
          </a:p>
          <a:p>
            <a:r>
              <a:t>No provincial origin dataset was found in the reviewed source extract. Demand totals are reported 2022 sales; domestic/import segments are illustrative, not observed 2022 supply. The same example product-specific shares apply to every province. Imports mean finished products, not imported crude. Do not infer these flows from refinery locations or customs clearance province.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Regional demand uses reported 2022 petrol/diesel sales, aggregated from all four quarters for nine provinces. Historical sales are a demand proxy, not current terminal catchments. No actual Vopak deliveries or contestable customer volumes were supplied for any region. No share percentage is calculated or imputed; unknown is not zero. The earlier illustrative 22.2/20.0% shares have been removed from this page. Other operators are potential competing or complementary storage providers, not confirmed direct competitors for every customer. Footprint is a starting inventory, not exhaustive. Storage capacities are stocks, not deliveries, and may include ineligible products. Obtain matched-year unique Vopak deliveries, customer destinations, transfer reconciliation, route costs, product-compatible capacity and contracts before calculating shares. Owner Manish; Nigel review. Refresh the source when a later complete provincial year is available. Sales file: C:\Users\ITafr\Desktop\Insights\liquid_fuels_model\assumptions\2026\timeseries\fuel_sales_department_by_province_quarterly.csv; SHA256 aec82481b33f70429b6b8e7c9c02767d62a6e8c7bf6bda09e21123a5bc56c9d6; received workbooks: ['2022-Quarter4-Magisterial-Districts-data.xlsx']. Regional totals (bn litres): {'Eastern coastal': 6.019977323334999, 'Inland': 11.499633855183989, 'Western coastal': 3.9307750071499967, 'Other / Northern Cape': 0.4518100489230001}.</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[1] Vopak: https://www.vopak.com/system/files/Vopak_Annual_Report_2025.pdf | 2025 reporting year | Not matched petrol/diesel terminal throughput</a:t>
            </a:r>
          </a:p>
          <a:p>
            <a:r>
              <a:t>[2] Bidvest Tank Terminals: https://www.bidtanks.com/pages/1562/about-us | Publication date not stated | Site capacities imply 955603 m3 versus homepage 868000 m3; includes non-petrol/diesel products</a:t>
            </a:r>
          </a:p>
          <a:p>
            <a:r>
              <a:t>[3] VTTI Burgan Cape Terminal: https://www.vtti.com/location/cape-town-south-africa-bct/ | Page date not stated; download published 2025-06-25 | Storage stock not throughput; available-capacity notice needs period confirmation</a:t>
            </a:r>
          </a:p>
          <a:p>
            <a:r>
              <a:t>[4] Shell: https://www.shell.co.za/motorists/shell-fuels/fuel-storage-facilities.html | Publication date not stated | Does not establish current independent terminal capacity or market share</a:t>
            </a:r>
          </a:p>
          <a:p>
            <a:r>
              <a:t>[5] NERSA: https://www.nersa.org.za/petroleum-pipelines/third-party-access | Index entries dated 2020-09-25 | Historical mechanisms are not current contracted customer volumes or a complete competitor census</a:t>
            </a:r>
          </a:p>
          <a:p>
            <a:r>
              <a:t>[6] Sasol: https://sasol.com/our-businesses/energy | Page date not stated; linked notice reporting year 2025/26 | Notice period ends March 2026; current access and site ownership need confirmation</a:t>
            </a:r>
          </a:p>
          <a:p>
            <a:r>
              <a:t>[7] Transnet Pipelines: https://www.transnet.net/TPL-Leasing-Opportunities | 2026-10-05 RFPs; manual commencement 2024-09-01 | Lease assets are not available operating supply; refurbishment licensing and award conditional; unknown capacity at Bethlehem/Magdala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All eight locations use one linear axis, 0-850 thousand m3; no enlarged inset, axis break or minimum visual bar width. Location/value labels all use 12pt; ticks and legend 11pt. Gross stocks and RFP-stated lease tanks are not like-for-like usable operating capacity; no national total is inferred. Ladysmith: 8540 m3 petrol/diesel working, excluding 474 m3 intermixture; total working 9014 m3. Standerton: (1350000+220000+783000)/1000=2353 m3, basis unspecified. Kroonstad: approximately 3300 m3, basis unspecified. Bethlehem/Magdala petroleum storage is unquantified. Lease offers are excluded from operating supply and cost-model origins. Primary RFPs retained under external/data/raw/transnet_leasing_20261006/. https://www.transnet.net/TPL-Leasing-Opportunities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Partner storyboard pp30-32 supplied in chat and preserved under external/partner_story_20261006/. Partner propositions are hypotheses, not assertions that reversals or refinery projects have occurred. All gap records are open pending the stated evidence and review. Work windows/owners are planning targets. Fuel-model integration takes precedence over broad infrastructure or detailed service sizing. Jet remains separately tracked and excluded from client petrol/diesel totals. Detailed analyst review: workstreams/WS3_reporting_delivery/partner_story_alignment_2026-10-06.md.</a:t>
            </a:r>
          </a:p>
          <a:p>
            <a:r>
              <a:t>{</a:t>
            </a:r>
          </a:p>
          <a:p>
            <a:r>
              <a:t>  "date": "2026-10-06",</a:t>
            </a:r>
          </a:p>
          <a:p>
            <a:r>
              <a:t>  "scope": "SA petrol/diesel; jet separate",</a:t>
            </a:r>
          </a:p>
          <a:p>
            <a:r>
              <a:t>  "status": "Review roadmap; not approval or forecast",</a:t>
            </a:r>
          </a:p>
          <a:p>
            <a:r>
              <a:t>  "partner_source": "external/partner_story_20261006 (received pp30-32 screenshots)",</a:t>
            </a:r>
          </a:p>
          <a:p>
            <a:r>
              <a:t>  "planning": "Week windows and analyst assignments proposed, not confirmed commitments",</a:t>
            </a:r>
          </a:p>
          <a:p>
            <a:r>
              <a:t>  "rows": [</a:t>
            </a:r>
          </a:p>
          <a:p>
            <a:r>
              <a:t>    {</a:t>
            </a:r>
          </a:p>
          <a:p>
            <a:r>
              <a:t>      "id": "SA01",</a:t>
            </a:r>
          </a:p>
          <a:p>
            <a:r>
              <a:t>      "story": "Situation",</a:t>
            </a:r>
          </a:p>
          <a:p>
            <a:r>
              <a:t>      "question": "SA demand history and regional market size",</a:t>
            </a:r>
          </a:p>
          <a:p>
            <a:r>
              <a:t>      "existing_work": "Pack pp2-3,7: quarterly provincial sales 2013-2022; national series 2005-2023; 2023 incomplete.",</a:t>
            </a:r>
          </a:p>
          <a:p>
            <a:r>
              <a:t>      "gap": "Later complete year; six provincial/national annual differences; historical driver contributions not quantified.",</a:t>
            </a:r>
          </a:p>
          <a:p>
            <a:r>
              <a:t>      "action": "Review 2013/14/15/17/18/21 against original workbooks; source later full years. Preserve 2022 historical label.",</a:t>
            </a:r>
          </a:p>
          <a:p>
            <a:r>
              <a:t>      "closure_evidence": "Old value, proposed value, source cell and reason for each correction; all province/product quarters; national tie.",</a:t>
            </a:r>
          </a:p>
          <a:p>
            <a:r>
              <a:t>      "owner": "Manish; Nigel review",</a:t>
            </a:r>
          </a:p>
          <a:p>
            <a:r>
              <a:t>      "timing": "W1 investigate; W2 reconcile",</a:t>
            </a:r>
          </a:p>
          <a:p>
            <a:r>
              <a:t>      "source_lead": "fuel_sales_department_by_province_quarterly.csv; fuel_sales_department.csv; DMPR index",</a:t>
            </a:r>
          </a:p>
          <a:p>
            <a:r>
              <a:t>      "refresh_method": "Manual workbook download and parser rerun; completeness and revisions checked.",</a:t>
            </a:r>
          </a:p>
          <a:p>
            <a:r>
              <a:t>      "model_connection": "pptx/scripts/provincial_demand_map.py::sales; reporting evidence, not approved model calibration.",</a:t>
            </a:r>
          </a:p>
          <a:p>
            <a:r>
              <a:t>      "priority": "P0",</a:t>
            </a:r>
          </a:p>
          <a:p>
            <a:r>
              <a:t>      "status": "Open; existing evidence does not establish closure"</a:t>
            </a:r>
          </a:p>
          <a:p>
            <a:r>
              <a:t>    },</a:t>
            </a:r>
          </a:p>
          <a:p>
            <a:r>
              <a:t>    {</a:t>
            </a:r>
          </a:p>
          <a:p>
            <a:r>
              <a:t>      "id": "SA02",</a:t>
            </a:r>
          </a:p>
          <a:p>
            <a:r>
              <a:t>      "story": "Situation",</a:t>
            </a:r>
          </a:p>
          <a:p>
            <a:r>
              <a:t>      "question": "Economically reachable eastern/inland market",</a:t>
            </a:r>
          </a:p>
          <a:p>
            <a:r>
              <a:t>      "existing_work": "Working province groups p2; illustrative road-cost map p5; storage footprint.",</a:t>
            </a:r>
          </a:p>
          <a:p>
            <a:r>
              <a:t>      "gap": "Actual customer destinations, cost threshold, route capacity and commercial rights.",</a:t>
            </a:r>
          </a:p>
          <a:p>
            <a:r>
              <a:t>      "action": "Use delivered transport cost R/litre for actual destinations; qualify physical reach and customer access separately.",</a:t>
            </a:r>
          </a:p>
          <a:p>
            <a:r>
              <a:t>      "closure_evidence": "Reachable and commercially accessible volume by product/destination/year; sourced costs and explicit unassessed residual.",</a:t>
            </a:r>
          </a:p>
          <a:p>
            <a:r>
              <a:t>      "owner": "Manish route evidence; Nigel client access",</a:t>
            </a:r>
          </a:p>
          <a:p>
            <a:r>
              <a:t>      "timing": "W1 define contract; W2-W4 integrate",</a:t>
            </a:r>
          </a:p>
          <a:p>
            <a:r>
              <a:t>      "source_lead": "Regional membership CSV; client destinations; route tariffs and quotations",</a:t>
            </a:r>
          </a:p>
          <a:p>
            <a:r>
              <a:t>      "refresh_method": "Manual client/route evidence; refresh tariff, access or destination changes.",</a:t>
            </a:r>
          </a:p>
          <a:p>
            <a:r>
              <a:t>      "model_connection": "Illustrative accessibility module is presentation only; no operational routing engine.",</a:t>
            </a:r>
          </a:p>
          <a:p>
            <a:r>
              <a:t>      "priority": "P0",</a:t>
            </a:r>
          </a:p>
          <a:p>
            <a:r>
              <a:t>      "status": "Open; existing evidence does not establish closure"</a:t>
            </a:r>
          </a:p>
          <a:p>
            <a:r>
              <a:t>    },</a:t>
            </a:r>
          </a:p>
          <a:p>
            <a:r>
              <a:t>    {</a:t>
            </a:r>
          </a:p>
          <a:p>
            <a:r>
              <a:t>      "id": "SA03",</a:t>
            </a:r>
          </a:p>
          <a:p>
            <a:r>
              <a:t>      "story": "Situation",</a:t>
            </a:r>
          </a:p>
          <a:p>
            <a:r>
              <a:t>      "question": "Domestic production versus finished imports",</a:t>
            </a:r>
          </a:p>
          <a:p>
            <a:r>
              <a:t>      "existing_work": "Energy balance 2007-2021 staged; provisional supply engine; p4 provincial source illustration.",</a:t>
            </a:r>
          </a:p>
          <a:p>
            <a:r>
              <a:t>      "gap": "Matched recent demand, output, imports, exports and stocks; actual provincial origin unavailable.",</a:t>
            </a:r>
          </a:p>
          <a:p>
            <a:r>
              <a:t>      "action": "Reconcile national petrol/diesel first; retain provincial origin as unknown without evidence; separate crude and finished products.",</a:t>
            </a:r>
          </a:p>
          <a:p>
            <a:r>
              <a:t>      "closure_evidence": "Production + imports - exports - stock build = consumption by fuel/year; unit/coverage bridge and residual explained.",</a:t>
            </a:r>
          </a:p>
          <a:p>
            <a:r>
              <a:t>      "owner": "Manish; Nigel review",</a:t>
            </a:r>
          </a:p>
          <a:p>
            <a:r>
              <a:t>      "timing": "W1 mapping; W2 historical balance",</a:t>
            </a:r>
          </a:p>
          <a:p>
            <a:r>
              <a:t>      "source_lead": "energy_balance_department.csv; DMPR commodity flow; SARS trade data",</a:t>
            </a:r>
          </a:p>
          <a:p>
            <a:r>
              <a:t>      "refresh_method": "Manual annual energy workbook and monthly customs download; preserve revisions.",</a:t>
            </a:r>
          </a:p>
          <a:p>
            <a:r>
              <a:t>      "model_connection": "src/lfm/model/supply/flows.py::compute_balance currently demand less supply; exports/stocks not explicit.",</a:t>
            </a:r>
          </a:p>
          <a:p>
            <a:r>
              <a:t>      "priority": "P0",</a:t>
            </a:r>
          </a:p>
          <a:p>
            <a:r>
              <a:t>      "status": "Open; existing evidence does not establish closure"</a:t>
            </a:r>
          </a:p>
          <a:p>
            <a:r>
              <a:t>    },</a:t>
            </a:r>
          </a:p>
          <a:p>
            <a:r>
              <a:t>    {</a:t>
            </a:r>
          </a:p>
          <a:p>
            <a:r>
              <a:t>      "id": "SA04",</a:t>
            </a:r>
          </a:p>
          <a:p>
            <a:r>
              <a:t>      "story": "Situation",</a:t>
            </a:r>
          </a:p>
          <a:p>
            <a:r>
              <a:t>      "question": "Import entry ports and origin",</a:t>
            </a:r>
          </a:p>
          <a:p>
            <a:r>
              <a:t>      "existing_work": "Ports and schematic corridors from kickoff appendix.",</a:t>
            </a:r>
          </a:p>
          <a:p>
            <a:r>
              <a:t>      "gap": "Product-specific finished imports by port/year and source country; liquid bulk is not all fuel.",</a:t>
            </a:r>
          </a:p>
          <a:p>
            <a:r>
              <a:t>      "action": "Bridge SARS product/quantity data to TNPA port cargo; check port identifier availability and density conversion.",</a:t>
            </a:r>
          </a:p>
          <a:p>
            <a:r>
              <a:t>      "closure_evidence": "National finished imports tied to evidenced port allocations; unallocated remainder explicit.",</a:t>
            </a:r>
          </a:p>
          <a:p>
            <a:r>
              <a:t>      "owner": "Manish; Nigel source access",</a:t>
            </a:r>
          </a:p>
          <a:p>
            <a:r>
              <a:t>      "timing": "W2-W3",</a:t>
            </a:r>
          </a:p>
          <a:p>
            <a:r>
              <a:t>      "source_lead": "https://tools.sars.gov.za/tradestatsportal/data_download.aspx ; https://www.transnetnationalportsauthority.net/Commercial%20and%20Marketing/Pages/Port-Statistics.aspx",</a:t>
            </a:r>
          </a:p>
          <a:p>
            <a:r>
              <a:t>      "refresh_method": "Manual portal downloads; check HS coverage, revisions, tonnes/litres and crude/nonfuel exclusions.",</a:t>
            </a:r>
          </a:p>
          <a:p>
            <a:r>
              <a:t>      "model_connection": "No imported-volume allocation by port/destination in current engine.",</a:t>
            </a:r>
          </a:p>
          <a:p>
            <a:r>
              <a:t>      "priority": "P1",</a:t>
            </a:r>
          </a:p>
          <a:p>
            <a:r>
              <a:t>      "status": "Open; existing evidence does not establish closure"</a:t>
            </a:r>
          </a:p>
          <a:p>
            <a:r>
              <a:t>    },</a:t>
            </a:r>
          </a:p>
          <a:p>
            <a:r>
              <a:t>    {</a:t>
            </a:r>
          </a:p>
          <a:p>
            <a:r>
              <a:t>      "id": "SA05",</a:t>
            </a:r>
          </a:p>
          <a:p>
            <a:r>
              <a:t>      "story": "Situation / Complication",</a:t>
            </a:r>
          </a:p>
          <a:p>
            <a:r>
              <a:t>      "question": "Power-generation diesel and potential reversal",</a:t>
            </a:r>
          </a:p>
          <a:p>
            <a:r>
              <a:t>      "existing_work": "Eskom OCGT observations 2022-2026 staged; engine capacity/load factor/efficiency path.",</a:t>
            </a:r>
          </a:p>
          <a:p>
            <a:r>
              <a:t>      "gap": "Eskom/IPP coverage, fiscal/calendar alignment, fuel conversion and forecast dispatch. No loadshedding does not mean no OCGT diesel.",</a:t>
            </a:r>
          </a:p>
          <a:p>
            <a:r>
              <a:t>      "action": "Reconcile generation and fuel burn by plant set; calibrate dispatch alternatives; avoid additive double-counting.",</a:t>
            </a:r>
          </a:p>
          <a:p>
            <a:r>
              <a:t>      "closure_evidence": "Historical GWh-to-litres tie; baseline/alternative dispatch, units, dates and incremental demand effect.",</a:t>
            </a:r>
          </a:p>
          <a:p>
            <a:r>
              <a:t>      "owner": "Manish; Nigel review",</a:t>
            </a:r>
          </a:p>
          <a:p>
            <a:r>
              <a:t>      "timing": "W1 lever; W2-W3 calibration",</a:t>
            </a:r>
          </a:p>
          <a:p>
            <a:r>
              <a:t>      "source_lead": "ocgt_generation_eskom.csv; generation.yaml; primary Eskom operating reports",</a:t>
            </a:r>
          </a:p>
          <a:p>
            <a:r>
              <a:t>      "refresh_method": "Manual quarterly/annual operating reports; scope and period checks.",</a:t>
            </a:r>
          </a:p>
          <a:p>
            <a:r>
              <a:t>      "model_connection": "src/lfm/model/demand/generation.py::compute_country_annual.",</a:t>
            </a:r>
          </a:p>
          <a:p>
            <a:r>
              <a:t>      "priority": "P0",</a:t>
            </a:r>
          </a:p>
          <a:p>
            <a:r>
              <a:t>      "status": "Open; existing evidence does not establish closure"</a:t>
            </a:r>
          </a:p>
          <a:p>
            <a:r>
              <a:t>    },</a:t>
            </a:r>
          </a:p>
          <a:p>
            <a:r>
              <a:t>    {</a:t>
            </a:r>
          </a:p>
          <a:p>
            <a:r>
              <a:t>      "id": "SA06",</a:t>
            </a:r>
          </a:p>
          <a:p>
            <a:r>
              <a:t>      "story": "Situation / Complication",</a:t>
            </a:r>
          </a:p>
          <a:p>
            <a:r>
              <a:t>      "question": "Road-to-rail freight shift",</a:t>
            </a:r>
          </a:p>
          <a:p>
            <a:r>
              <a:t>      "existing_work": "Road vehicle cohort calculation and schematic rail context; no mode-shift source series found in current vintage.",</a:t>
            </a:r>
          </a:p>
          <a:p>
            <a:r>
              <a:t>      "gap": "Road/rail freight, tonne-km, distance, payload, empty running and feasible rail intervention.",</a:t>
            </a:r>
          </a:p>
          <a:p>
            <a:r>
              <a:t>      "action": "Use Stats SA P7162 and operator traffic evidence; distinguish tonnes/revenue/tonne-km; convert displaced truck work into diesel.",</a:t>
            </a:r>
          </a:p>
          <a:p>
            <a:r>
              <a:t>      "closure_evidence": "Specific intervention with baseline/alternative mode shares, dates and diesel-intensity bridge; no duplicate mileage reduction.",</a:t>
            </a:r>
          </a:p>
          <a:p>
            <a:r>
              <a:t>      "owner": "Manish; Nigel intervention; Henry review",</a:t>
            </a:r>
          </a:p>
          <a:p>
            <a:r>
              <a:t>      "timing": "W1 lever definition; W2-W4 integration",</a:t>
            </a:r>
          </a:p>
          <a:p>
            <a:r>
              <a:t>      "source_lead": "https://www.statssa.gov.za/?PPN=P7162&amp;SCH=74110&amp;page_id=1854 ; Transnet freight traffic/access evidence",</a:t>
            </a:r>
          </a:p>
          <a:p>
            <a:r>
              <a:t>      "refresh_method": "Manual monthly survey and annual operator reports; coverage/revision checks.",</a:t>
            </a:r>
          </a:p>
          <a:p>
            <a:r>
              <a:t>      "model_connection": "vehicles.py has no explicit rail-shift lever.",</a:t>
            </a:r>
          </a:p>
          <a:p>
            <a:r>
              <a:t>      "priority": "P0",</a:t>
            </a:r>
          </a:p>
          <a:p>
            <a:r>
              <a:t>      "status": "Open; existing evidence does not establish closure"</a:t>
            </a:r>
          </a:p>
          <a:p>
            <a:r>
              <a:t>    },</a:t>
            </a:r>
          </a:p>
          <a:p>
            <a:r>
              <a:t>    {</a:t>
            </a:r>
          </a:p>
          <a:p>
            <a:r>
              <a:t>      "id": "SA07",</a:t>
            </a:r>
          </a:p>
          <a:p>
            <a:r>
              <a:t>      "story": "Situation / Complication",</a:t>
            </a:r>
          </a:p>
          <a:p>
            <a:r>
              <a:t>      "question": "BEV, hybrid, efficiency and charging effects",</a:t>
            </a:r>
          </a:p>
          <a:p>
            <a:r>
              <a:t>      "existing_work": "Naamsa NEV sales 2019-2025 staged; engine EV curve and efficiency parameters.",</a:t>
            </a:r>
          </a:p>
          <a:p>
            <a:r>
              <a:t>      "gap": "Sales versus stock, segment scope, BEV/HEV distinction, survival, mileage and charging intervention.",</a:t>
            </a:r>
          </a:p>
          <a:p>
            <a:r>
              <a:t>      "action": "Calibrate uptake and fleet turnover; retain hybrids as fuel users with separate efficiency; define charging policy/investment lever.",</a:t>
            </a:r>
          </a:p>
          <a:p>
            <a:r>
              <a:t>      "closure_evidence": "Opening-fleet/cohort tie; drivetrain-specific L/100km; dated uptake alternatives and litres effect.",</a:t>
            </a:r>
          </a:p>
          <a:p>
            <a:r>
              <a:t>      "owner": "Manish; Nigel review",</a:t>
            </a:r>
          </a:p>
          <a:p>
            <a:r>
              <a:t>      "timing": "W1 levers; W2-W3 calibration",</a:t>
            </a:r>
          </a:p>
          <a:p>
            <a:r>
              <a:t>      "source_lead": "nev_sales_naamsa.csv; vehicles.yaml; official registration evidence",</a:t>
            </a:r>
          </a:p>
          <a:p>
            <a:r>
              <a:t>      "refresh_method": "Manual quarterly/annual data; reconcile drivetrain taxonomy and scope.",</a:t>
            </a:r>
          </a:p>
          <a:p>
            <a:r>
              <a:t>      "model_connection": "src/lfm/model/demand/vehicles.py::compute_country_annual and _ev_penetration.",</a:t>
            </a:r>
          </a:p>
          <a:p>
            <a:r>
              <a:t>      "priority": "P0",</a:t>
            </a:r>
          </a:p>
          <a:p>
            <a:r>
              <a:t>      "status": "Open; existing evidence does not establish closure"</a:t>
            </a:r>
          </a:p>
          <a:p>
            <a:r>
              <a:t>    },</a:t>
            </a:r>
          </a:p>
          <a:p>
            <a:r>
              <a:t>    {</a:t>
            </a:r>
          </a:p>
          <a:p>
            <a:r>
              <a:t>      "id": "SA08",</a:t>
            </a:r>
          </a:p>
          <a:p>
            <a:r>
              <a:t>      "story": "Situation / Complication",</a:t>
            </a:r>
          </a:p>
          <a:p>
            <a:r>
              <a:t>      "question": "GDP, fuel prices and kilometres travelled",</a:t>
            </a:r>
          </a:p>
          <a:p>
            <a:r>
              <a:t>      "existing_work": "Macro sources staged; price series 2011-2024-04; engine GDP/capita new-sales relationship.",</a:t>
            </a:r>
          </a:p>
          <a:p>
            <a:r>
              <a:t>      "gap": "Real-price basis, causal activity effect, elasticities and actual/forecast extension.",</a:t>
            </a:r>
          </a:p>
          <a:p>
            <a:r>
              <a:t>      "action": "Map GDP source into provider with population/base-price rules; propose price-to-km response separately from efficiency.",</a:t>
            </a:r>
          </a:p>
          <a:p>
            <a:r>
              <a:t>      "closure_evidence": "Explicit historical/forecast boundary and consuming function; calibrated sensitivity without duplicate activity reductions.",</a:t>
            </a:r>
          </a:p>
          <a:p>
            <a:r>
              <a:t>      "owner": "Manish; Nigel review",</a:t>
            </a:r>
          </a:p>
          <a:p>
            <a:r>
              <a:t>      "timing": "W1 mapping; W2-W3 validation",</a:t>
            </a:r>
          </a:p>
          <a:p>
            <a:r>
              <a:t>      "source_lead": "macro_statssa.csv; macro_worldbank.csv; gdp_growth_treasury.csv; fuel_prices_department.csv",</a:t>
            </a:r>
          </a:p>
          <a:p>
            <a:r>
              <a:t>      "refresh_method": "Stats SA/Treasury/DMPR manual downloads; World Bank API; independent vintage and freshness checks.",</a:t>
            </a:r>
          </a:p>
          <a:p>
            <a:r>
              <a:t>      "model_connection": "vehicles.py GDP new-sales path; no explicit fuel-price-to-mileage response.",</a:t>
            </a:r>
          </a:p>
          <a:p>
            <a:r>
              <a:t>      "priority": "P0",</a:t>
            </a:r>
          </a:p>
          <a:p>
            <a:r>
              <a:t>      "status": "Open; existing evidence does not establish closure"</a:t>
            </a:r>
          </a:p>
          <a:p>
            <a:r>
              <a:t>    },</a:t>
            </a:r>
          </a:p>
          <a:p>
            <a:r>
              <a:t>    {</a:t>
            </a:r>
          </a:p>
          <a:p>
            <a:r>
              <a:t>      "id": "SA09",</a:t>
            </a:r>
          </a:p>
          <a:p>
            <a:r>
              <a:t>      "story": "Situation / Complication",</a:t>
            </a:r>
          </a:p>
          <a:p>
            <a:r>
              <a:t>      "question": "Refinery closures, availability and SAPREF proposal",</a:t>
            </a:r>
          </a:p>
          <a:p>
            <a:r>
              <a:t>      "existing_work": "Refinery assumptions and utilisation 2008-2050; provisional supply engine; duplicate-row diagnostics.",</a:t>
            </a:r>
          </a:p>
          <a:p>
            <a:r>
              <a:t>      "gap": "Current output/yields/status; dated closures/restarts; SAPREF project evidence; 558 extra refinery rows unresolved.",</a:t>
            </a:r>
          </a:p>
          <a:p>
            <a:r>
              <a:t>      "action": "Resolve repeated keys against original named ranges; build refinery-year status and output; treat proposals as conditional scenarios.",</a:t>
            </a:r>
          </a:p>
          <a:p>
            <a:r>
              <a:t>      "closure_evidence": "Unique country/year/scenario keys with source cells; actual/proposed distinction; per-refinery output tie and import sensitivity.",</a:t>
            </a:r>
          </a:p>
          <a:p>
            <a:r>
              <a:t>      "owner": "Manish; Nigel review; Henry challenge",</a:t>
            </a:r>
          </a:p>
          <a:p>
            <a:r>
              <a:t>      "timing": "W1 duplicates; W2-W3 scenarios",</a:t>
            </a:r>
          </a:p>
          <a:p>
            <a:r>
              <a:t>      "source_lead": "supply.yaml; refinery_production.csv; original workbook; primary operator/CEF/PetroSA reports",</a:t>
            </a:r>
          </a:p>
          <a:p>
            <a:r>
              <a:t>      "refresh_method": "Manual reports; refresh outages, restart, ownership or sanctioned-project changes.",</a:t>
            </a:r>
          </a:p>
          <a:p>
            <a:r>
              <a:t>      "model_connection": "src/lfm/model/supply/flows.py::compute_supply.",</a:t>
            </a:r>
          </a:p>
          <a:p>
            <a:r>
              <a:t>      "priority": "P0",</a:t>
            </a:r>
          </a:p>
          <a:p>
            <a:r>
              <a:t>      "status": "Open; existing evidence does not establish closure"</a:t>
            </a:r>
          </a:p>
          <a:p>
            <a:r>
              <a:t>    },</a:t>
            </a:r>
          </a:p>
          <a:p>
            <a:r>
              <a:t>    {</a:t>
            </a:r>
          </a:p>
          <a:p>
            <a:r>
              <a:t>      "id": "SA10",</a:t>
            </a:r>
          </a:p>
          <a:p>
            <a:r>
              <a:t>      "story": "Complication",</a:t>
            </a:r>
          </a:p>
          <a:p>
            <a:r>
              <a:t>      "question": "Secunda gas/MRG and Natref future",</a:t>
            </a:r>
          </a:p>
          <a:p>
            <a:r>
              <a:t>      "existing_work": "Generic Sasol/Natref capacities, yields and utilisation; no plant-level gas-liquid linkage.",</a:t>
            </a:r>
          </a:p>
          <a:p>
            <a:r>
              <a:t>      "gap": "MRG timing and causal liquid-fuel effect; Natref future not established; partner propositions untested.",</a:t>
            </a:r>
          </a:p>
          <a:p>
            <a:r>
              <a:t>      "action": "Check latest primary Sasol disclosures; technical reviewer specifies mechanism before any fuel-output change.",</a:t>
            </a:r>
          </a:p>
          <a:p>
            <a:r>
              <a:t>      "closure_evidence": "Documented plant-level mechanism and dated scenario; no gas-to-liquid displacement inferred without evidence.",</a:t>
            </a:r>
          </a:p>
          <a:p>
            <a:r>
              <a:t>      "owner": "Manish sources; Henry technical review; Nigel scenarios",</a:t>
            </a:r>
          </a:p>
          <a:p>
            <a:r>
              <a:t>      "timing": "W2-W3",</a:t>
            </a:r>
          </a:p>
          <a:p>
            <a:r>
              <a:t>      "source_lead": "https://www.sasol.com/sasol-suite-reports ; 2026 Sasol SEC 20-F",</a:t>
            </a:r>
          </a:p>
          <a:p>
            <a:r>
              <a:t>      "refresh_method": "Manual quarterly/annual operating guidance and plant/gas changes.",</a:t>
            </a:r>
          </a:p>
          <a:p>
            <a:r>
              <a:t>      "model_connection": "No gas-to-fuel mechanism; utilisation/yield changes need explicit sourced scenario.",</a:t>
            </a:r>
          </a:p>
          <a:p>
            <a:r>
              <a:t>      "priority": "P1",</a:t>
            </a:r>
          </a:p>
          <a:p>
            <a:r>
              <a:t>      "status": "Open; existing evidence does not establish closure"</a:t>
            </a:r>
          </a:p>
          <a:p>
            <a:r>
              <a:t>    },</a:t>
            </a:r>
          </a:p>
          <a:p>
            <a:r>
              <a:t>    {</a:t>
            </a:r>
          </a:p>
          <a:p>
            <a:r>
              <a:t>      "id": "SA11",</a:t>
            </a:r>
          </a:p>
          <a:p>
            <a:r>
              <a:t>      "story": "Complication",</a:t>
            </a:r>
          </a:p>
          <a:p>
            <a:r>
              <a:t>      "question": "Durban-NMPP-Lesedi versus road/rail, Matola and Walvis Bay",</a:t>
            </a:r>
          </a:p>
          <a:p>
            <a:r>
              <a:t>      "existing_work": "Schematic appendix routes and illustrative Durban/Lesedi road-cost map.",</a:t>
            </a:r>
          </a:p>
          <a:p>
            <a:r>
              <a:t>      "gap": "Comparable route costs, NMPP capacity/tariff, actual rail service and cross-border feasibility.",</a:t>
            </a:r>
          </a:p>
          <a:p>
            <a:r>
              <a:t>      "action": "Choose first product/customer destination; compare full handling/transport/transfer cost, border/FX where relevant, same period and basis.",</a:t>
            </a:r>
          </a:p>
          <a:p>
            <a:r>
              <a:t>      "closure_evidence": "Comparable delivered R/litre with cost components, capacity/access limits and dated sources; no national optimisation claim.",</a:t>
            </a:r>
          </a:p>
          <a:p>
            <a:r>
              <a:t>      "owner": "Manish evidence; Nigel corridor choice; Henry review",</a:t>
            </a:r>
          </a:p>
          <a:p>
            <a:r>
              <a:t>      "timing": "W1 comparison contract; W2-W4 first route",</a:t>
            </a:r>
          </a:p>
          <a:p>
            <a:r>
              <a:t>      "source_lead": "Client tariffs/quotes; current pipeline, port, road/rail and border operator evidence",</a:t>
            </a:r>
          </a:p>
          <a:p>
            <a:r>
              <a:t>      "refresh_method": "Manual published tariffs and dated quotes; tariff-year, FX and access refresh.",</a:t>
            </a:r>
          </a:p>
          <a:p>
            <a:r>
              <a:t>      "model_connection": "No operational route allocation or delivered-cost engine.",</a:t>
            </a:r>
          </a:p>
          <a:p>
            <a:r>
              <a:t>      "priority": "P0",</a:t>
            </a:r>
          </a:p>
          <a:p>
            <a:r>
              <a:t>      "status": "Open; existing evidence does not establish closure"</a:t>
            </a:r>
          </a:p>
          <a:p>
            <a:r>
              <a:t>    },</a:t>
            </a:r>
          </a:p>
          <a:p>
            <a:r>
              <a:t>    {</a:t>
            </a:r>
          </a:p>
          <a:p>
            <a:r>
              <a:t>      "id": "SA12",</a:t>
            </a:r>
          </a:p>
          <a:p>
            <a:r>
              <a:t>      "story": "Resolution",</a:t>
            </a:r>
          </a:p>
          <a:p>
            <a:r>
              <a:t>      "question": "Vopak market share at Durban and Lesedi",</a:t>
            </a:r>
          </a:p>
          <a:p>
            <a:r>
              <a:t>      "existing_work": "Sourced regional sales p7; published capacity p8; illustrative transfer arithmetic p6.",</a:t>
            </a:r>
          </a:p>
          <a:p>
            <a:r>
              <a:t>      "gap": "Unique customer deliveries, receipts, shared transfers, destinations and matched period.",</a:t>
            </a:r>
          </a:p>
          <a:p>
            <a:r>
              <a:t>      "action": "Nigel requests client flow extract; Manish reconciles receipt/transfer/final-delivery records and counts final demand once.",</a:t>
            </a:r>
          </a:p>
          <a:p>
            <a:r>
              <a:t>      "closure_evidence": "Separate terminal throughput and unique served-demand shares; matched-year/product denominator; traceable records, no capacity-as-share.",</a:t>
            </a:r>
          </a:p>
          <a:p>
            <a:r>
              <a:t>      "owner": "Nigel client request; Manish reconciliation",</a:t>
            </a:r>
          </a:p>
          <a:p>
            <a:r>
              <a:t>      "timing": "W1 request/schema; W2+ on receipt",</a:t>
            </a:r>
          </a:p>
          <a:p>
            <a:r>
              <a:t>      "source_lead": "Vopak operational/customer data; public unique-throughput data not established",</a:t>
            </a:r>
          </a:p>
          <a:p>
            <a:r>
              <a:t>      "refresh_method": "Client-approved monthly/annual extract with product/destination coverage and transfer IDs.",</a:t>
            </a:r>
          </a:p>
          <a:p>
            <a:r>
              <a:t>      "model_connection": "Current p6 flow volumes illustrative; future shared flow contract.",</a:t>
            </a:r>
          </a:p>
          <a:p>
            <a:r>
              <a:t>      "priority": "P0",</a:t>
            </a:r>
          </a:p>
          <a:p>
            <a:r>
              <a:t>      "status": "Open; existing evidence does not establish closure"</a:t>
            </a:r>
          </a:p>
          <a:p>
            <a:r>
              <a:t>    },</a:t>
            </a:r>
          </a:p>
          <a:p>
            <a:r>
              <a:t>    {</a:t>
            </a:r>
          </a:p>
          <a:p>
            <a:r>
              <a:t>      "id": "SA13",</a:t>
            </a:r>
          </a:p>
          <a:p>
            <a:r>
              <a:t>      "story": "Resolution",</a:t>
            </a:r>
          </a:p>
          <a:p>
            <a:r>
              <a:t>      "question": "Additional commercially contestable market",</a:t>
            </a:r>
          </a:p>
          <a:p>
            <a:r>
              <a:t>      "existing_work": "Competitor footprint and partial published storage; lease sites explicitly conditional.",</a:t>
            </a:r>
          </a:p>
          <a:p>
            <a:r>
              <a:t>      "gap": "Usable product-compatible tanks, spare routes, contracts, switching, customer overlap and Northern Cape inventory.",</a:t>
            </a:r>
          </a:p>
          <a:p>
            <a:r>
              <a:t>      "action": "Combine customer destinations with evidenced routes and rights; separate physical reach, commercial envelope and potential capture.",</a:t>
            </a:r>
          </a:p>
          <a:p>
            <a:r>
              <a:t>      "closure_evidence": "Accessible demand by product/region/period; explicit assumptions and unassessed residual; competitors volume is not automatically capturable.",</a:t>
            </a:r>
          </a:p>
          <a:p>
            <a:r>
              <a:t>      "owner": "Manish evidence; Nigel commercial review",</a:t>
            </a:r>
          </a:p>
          <a:p>
            <a:r>
              <a:t>      "timing": "W2-W4",</a:t>
            </a:r>
          </a:p>
          <a:p>
            <a:r>
              <a:t>      "source_lead": "Storage/competitor CSVs; NERSA licences; client contracts and operator notices",</a:t>
            </a:r>
          </a:p>
          <a:p>
            <a:r>
              <a:t>      "refresh_method": "Manual licences/notices; refresh contractual period, site changes and lease milestones.",</a:t>
            </a:r>
          </a:p>
          <a:p>
            <a:r>
              <a:t>      "model_connection": "No validated commercial customer-flow allocation.",</a:t>
            </a:r>
          </a:p>
          <a:p>
            <a:r>
              <a:t>      "priority": "P1",</a:t>
            </a:r>
          </a:p>
          <a:p>
            <a:r>
              <a:t>      "status": "Open; existing evidence does not establish closure"</a:t>
            </a:r>
          </a:p>
          <a:p>
            <a:r>
              <a:t>    },</a:t>
            </a:r>
          </a:p>
          <a:p>
            <a:r>
              <a:t>    {</a:t>
            </a:r>
          </a:p>
          <a:p>
            <a:r>
              <a:t>      "id": "SA14",</a:t>
            </a:r>
          </a:p>
          <a:p>
            <a:r>
              <a:t>      "story": "Resolution",</a:t>
            </a:r>
          </a:p>
          <a:p>
            <a:r>
              <a:t>      "question": "New storage and investment scope",</a:t>
            </a:r>
          </a:p>
          <a:p>
            <a:r>
              <a:t>      "existing_work": "Partial gross/lease stocks, without client handling/inventory profile.",</a:t>
            </a:r>
          </a:p>
          <a:p>
            <a:r>
              <a:t>      "gap": "Incremental accessible flows, turnover/peak inventory, product compatibility, cost and commercial return criteria.",</a:t>
            </a:r>
          </a:p>
          <a:p>
            <a:r>
              <a:t>      "action": "Establish flow/access case first; then test service requirements and a separately scoped investment case.",</a:t>
            </a:r>
          </a:p>
          <a:p>
            <a:r>
              <a:t>      "closure_evidence": "Throughput-to-usable-stock bridge with seasonality, inventory days and dispatch limits; downside sensitivity; no investment claim from import deficit alone.",</a:t>
            </a:r>
          </a:p>
          <a:p>
            <a:r>
              <a:t>      "owner": "Nigel commercial gate; Manish; Henry review",</a:t>
            </a:r>
          </a:p>
          <a:p>
            <a:r>
              <a:t>      "timing": "W4-W6 only if prioritised",</a:t>
            </a:r>
          </a:p>
          <a:p>
            <a:r>
              <a:t>      "source_lead": "Client service/stock profiles and scoped cost evidence",</a:t>
            </a:r>
          </a:p>
          <a:p>
            <a:r>
              <a:t>      "refresh_method": "Manual client data; refresh on demand/access case changes.",</a:t>
            </a:r>
          </a:p>
          <a:p>
            <a:r>
              <a:t>      "model_connection": "Detailed service sizing deferred; infrastructure secondary to fuel integration.",</a:t>
            </a:r>
          </a:p>
          <a:p>
            <a:r>
              <a:t>      "priority": "P2",</a:t>
            </a:r>
          </a:p>
          <a:p>
            <a:r>
              <a:t>      "status": "Open; existing evidence does not establish closure"</a:t>
            </a:r>
          </a:p>
          <a:p>
            <a:r>
              <a:t>    }</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pic>
        <p:nvPicPr>
          <p:cNvPr id="4" name="Picture 3" descr="A picture containing sky, building, outdoor, city&#10;&#10;Description automatically generated">
            <a:extLst>
              <a:ext uri="{FF2B5EF4-FFF2-40B4-BE49-F238E27FC236}">
                <a16:creationId xmlns:a16="http://schemas.microsoft.com/office/drawing/2014/main" id="{AF958CDF-21C2-4696-B1FF-98C6C69234C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
            <a:ext cx="11588750" cy="6858000"/>
          </a:xfrm>
          <a:prstGeom prst="rect">
            <a:avLst/>
          </a:prstGeom>
        </p:spPr>
      </p:pic>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 y="5137149"/>
            <a:ext cx="4933950" cy="1571625"/>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Tree>
    <p:extLst>
      <p:ext uri="{BB962C8B-B14F-4D97-AF65-F5344CB8AC3E}">
        <p14:creationId xmlns:p14="http://schemas.microsoft.com/office/powerpoint/2010/main" val="1721437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7" name="Rectangle 6">
            <a:extLst>
              <a:ext uri="{FF2B5EF4-FFF2-40B4-BE49-F238E27FC236}">
                <a16:creationId xmlns:a16="http://schemas.microsoft.com/office/drawing/2014/main" id="{3E92D3BD-B933-88AB-9C21-59605B00713D}"/>
              </a:ext>
            </a:extLst>
          </p:cNvPr>
          <p:cNvSpPr/>
          <p:nvPr userDrawn="1"/>
        </p:nvSpPr>
        <p:spPr>
          <a:xfrm>
            <a:off x="5111750" y="5727050"/>
            <a:ext cx="6477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671436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17510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429952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29172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582352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642766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605599" y="6489700"/>
            <a:ext cx="805350" cy="287338"/>
          </a:xfrm>
        </p:spPr>
        <p:txBody>
          <a:bodyPr/>
          <a:lstStyle>
            <a:lvl1pPr>
              <a:defRPr sz="1000">
                <a:solidFill>
                  <a:schemeClr val="tx1"/>
                </a:solidFill>
              </a:defRPr>
            </a:lvl1pPr>
          </a:lstStyle>
          <a:p>
            <a:fld id="{A65E4EDC-57F8-4D5C-B13E-A981C5F2F71A}" type="slidenum">
              <a:rPr lang="en-GB" smtClean="0">
                <a:solidFill>
                  <a:schemeClr val="tx1"/>
                </a:solidFill>
              </a:rPr>
              <a:pPr/>
              <a:t>‹#›</a:t>
            </a:fld>
            <a:endParaRPr lang="en-GB">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rtlCol="0" anchor="ctr">
            <a:normAutofit/>
          </a:bodyPr>
          <a:lstStyle/>
          <a:p>
            <a:r>
              <a:rPr lang="en-US">
                <a:solidFill>
                  <a:schemeClr val="tx1"/>
                </a:solidFill>
              </a:rPr>
              <a:t>Click to edit Master title style</a:t>
            </a:r>
          </a:p>
        </p:txBody>
      </p:sp>
      <p:cxnSp>
        <p:nvCxnSpPr>
          <p:cNvPr id="7" name="Title and body separator"/>
          <p:cNvCxnSpPr/>
          <p:nvPr/>
        </p:nvCxn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8964405"/>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65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7801" y="368299"/>
            <a:ext cx="11233148" cy="690101"/>
          </a:xfrm>
          <a:prstGeom prst="rect">
            <a:avLst/>
          </a:prstGeom>
        </p:spPr>
        <p:txBody>
          <a:bodyPr vert="horz" lIns="91440" tIns="45720" rIns="91440" bIns="45720" rtlCol="0" anchor="ctr">
            <a:normAutofit/>
          </a:bodyPr>
          <a:lstStyle/>
          <a:p/>
        </p:txBody>
      </p:sp>
      <p:sp>
        <p:nvSpPr>
          <p:cNvPr id="3" name="Text Placeholder 2"/>
          <p:cNvSpPr>
            <a:spLocks noGrp="1"/>
          </p:cNvSpPr>
          <p:nvPr>
            <p:ph type="body" idx="1"/>
          </p:nvPr>
        </p:nvSpPr>
        <p:spPr>
          <a:xfrm>
            <a:off x="177801" y="1233488"/>
            <a:ext cx="11233149" cy="5256212"/>
          </a:xfrm>
          <a:prstGeom prst="rect">
            <a:avLst/>
          </a:prstGeom>
        </p:spPr>
        <p:txBody>
          <a:bodyPr vert="horz" lIns="91440" tIns="45720" rIns="91440" bIns="45720" rtlCol="0">
            <a:normAutofit/>
          </a:bodyPr>
          <a:lstStyle/>
          <a:p>
            <a:pPr lvl="0"/>
          </a:p>
        </p:txBody>
      </p:sp>
      <p:sp>
        <p:nvSpPr>
          <p:cNvPr id="6" name="Slide Number Placeholder 5"/>
          <p:cNvSpPr>
            <a:spLocks noGrp="1"/>
          </p:cNvSpPr>
          <p:nvPr>
            <p:ph type="sldNum" sz="quarter" idx="4"/>
          </p:nvPr>
        </p:nvSpPr>
        <p:spPr>
          <a:xfrm>
            <a:off x="10605599" y="6489700"/>
            <a:ext cx="805350" cy="287338"/>
          </a:xfrm>
          <a:prstGeom prst="rect">
            <a:avLst/>
          </a:prstGeom>
        </p:spPr>
        <p:txBody>
          <a:bodyPr vert="horz" lIns="91440" tIns="45720" rIns="91440" bIns="45720" rtlCol="0" anchor="ctr"/>
          <a:lstStyle>
            <a:lvl1pPr algn="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pic>
        <p:nvPicPr>
          <p:cNvPr id="4" name="Picture 2">
            <a:extLst>
              <a:ext uri="{FF2B5EF4-FFF2-40B4-BE49-F238E27FC236}">
                <a16:creationId xmlns:a16="http://schemas.microsoft.com/office/drawing/2014/main" id="{643CB578-80E0-884E-8515-53279D5DACC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104120" y="6556248"/>
            <a:ext cx="777240" cy="173447"/>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CB3F387-66D0-18CC-51EE-24B908A792B7}"/>
              </a:ext>
            </a:extLst>
          </p:cNvPr>
          <p:cNvSpPr txBox="1">
            <a:spLocks/>
          </p:cNvSpPr>
          <p:nvPr userDrawn="1"/>
        </p:nvSpPr>
        <p:spPr>
          <a:xfrm>
            <a:off x="457200" y="6528816"/>
            <a:ext cx="8595360" cy="228600"/>
          </a:xfrm>
          <a:prstGeom prst="rect">
            <a:avLst/>
          </a:prstGeom>
        </p:spPr>
        <p:txBody>
          <a:bodyPr anchor="ctr" tIns="0" bIns="0">
            <a:normAutofit/>
          </a:bodyPr>
          <a:lstStyle>
            <a:lvl1pPr marL="0" indent="0" algn="l" defTabSz="869137" rtl="0" eaLnBrk="1" latinLnBrk="0" hangingPunct="1">
              <a:lnSpc>
                <a:spcPct val="90000"/>
              </a:lnSpc>
              <a:spcBef>
                <a:spcPts val="951"/>
              </a:spcBef>
              <a:buFont typeface="Arial" panose="020B0604020202020204" pitchFamily="34" charset="0"/>
              <a:buNone/>
              <a:defRPr sz="1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a:lstStyle>
          <a:p>
            <a:pPr>
              <a:defRPr sz="800">
                <a:solidFill>
                  <a:srgbClr val="404040"/>
                </a:solidFill>
                <a:latin typeface="Lato"/>
              </a:defRPr>
            </a:pPr>
          </a:p>
        </p:txBody>
      </p:sp>
      <p:cxnSp>
        <p:nvCxnSpPr>
          <p:cNvPr id="10" name="Fine footer rule"/>
          <p:cNvCxnSpPr/>
          <p:nvPr/>
        </p:nvCxnSpPr>
        <p:spPr>
          <a:xfrm>
            <a:off x="457200" y="6437376"/>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4016228"/>
      </p:ext>
    </p:extLst>
  </p:cSld>
  <p:clrMap bg1="lt1" tx1="dk1" bg2="lt2" tx2="dk2" accent1="accent1" accent2="accent2" accent3="accent3" accent4="accent4" accent5="accent5" accent6="accent6" hlink="hlink" folHlink="folHlink"/>
  <p:sldLayoutIdLst>
    <p:sldLayoutId id="2147483713" r:id="rId1"/>
    <p:sldLayoutId id="2147483718" r:id="rId2"/>
    <p:sldLayoutId id="2147483723" r:id="rId3"/>
    <p:sldLayoutId id="2147483724" r:id="rId4"/>
    <p:sldLayoutId id="2147483725" r:id="rId5"/>
    <p:sldLayoutId id="2147483698" r:id="rId6"/>
  </p:sldLayoutIdLst>
  <p:hf hdr="0" ftr="0" dt="0"/>
  <p:txStyles>
    <p:titleStyle>
      <a:lvl1pPr algn="l" defTabSz="869137" rtl="0" eaLnBrk="1" latinLnBrk="0" hangingPunct="1">
        <a:lnSpc>
          <a:spcPct val="90000"/>
        </a:lnSpc>
        <a:spcBef>
          <a:spcPct val="0"/>
        </a:spcBef>
        <a:buNone/>
        <a:defRPr sz="2200" b="1" kern="1200">
          <a:solidFill>
            <a:schemeClr val="tx1"/>
          </a:solidFill>
          <a:latin typeface="+mj-lt"/>
          <a:ea typeface="+mj-ea"/>
          <a:cs typeface="+mj-cs"/>
        </a:defRPr>
      </a:lvl1pPr>
    </p:titleStyle>
    <p:bodyStyle>
      <a:lvl1pPr marL="217284" indent="-217284" algn="l" defTabSz="869137" rtl="0" eaLnBrk="1" latinLnBrk="0" hangingPunct="1">
        <a:lnSpc>
          <a:spcPct val="90000"/>
        </a:lnSpc>
        <a:spcBef>
          <a:spcPts val="951"/>
        </a:spcBef>
        <a:buFont typeface="Arial" panose="020B0604020202020204" pitchFamily="34" charset="0"/>
        <a:buChar char="•"/>
        <a:defRPr sz="2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p:bodyStyle>
    <p:otherStyle>
      <a:defPPr>
        <a:defRPr lang="en-US"/>
      </a:defPPr>
      <a:lvl1pPr marL="0" algn="l" defTabSz="869137" rtl="0" eaLnBrk="1" latinLnBrk="0" hangingPunct="1">
        <a:defRPr sz="1711" kern="1200">
          <a:solidFill>
            <a:schemeClr val="tx1"/>
          </a:solidFill>
          <a:latin typeface="+mn-lt"/>
          <a:ea typeface="+mn-ea"/>
          <a:cs typeface="+mn-cs"/>
        </a:defRPr>
      </a:lvl1pPr>
      <a:lvl2pPr marL="434569" algn="l" defTabSz="869137" rtl="0" eaLnBrk="1" latinLnBrk="0" hangingPunct="1">
        <a:defRPr sz="1711" kern="1200">
          <a:solidFill>
            <a:schemeClr val="tx1"/>
          </a:solidFill>
          <a:latin typeface="+mn-lt"/>
          <a:ea typeface="+mn-ea"/>
          <a:cs typeface="+mn-cs"/>
        </a:defRPr>
      </a:lvl2pPr>
      <a:lvl3pPr marL="869137" algn="l" defTabSz="869137" rtl="0" eaLnBrk="1" latinLnBrk="0" hangingPunct="1">
        <a:defRPr sz="1711" kern="1200">
          <a:solidFill>
            <a:schemeClr val="tx1"/>
          </a:solidFill>
          <a:latin typeface="+mn-lt"/>
          <a:ea typeface="+mn-ea"/>
          <a:cs typeface="+mn-cs"/>
        </a:defRPr>
      </a:lvl3pPr>
      <a:lvl4pPr marL="1303706" algn="l" defTabSz="869137" rtl="0" eaLnBrk="1" latinLnBrk="0" hangingPunct="1">
        <a:defRPr sz="1711" kern="1200">
          <a:solidFill>
            <a:schemeClr val="tx1"/>
          </a:solidFill>
          <a:latin typeface="+mn-lt"/>
          <a:ea typeface="+mn-ea"/>
          <a:cs typeface="+mn-cs"/>
        </a:defRPr>
      </a:lvl4pPr>
      <a:lvl5pPr marL="1738274" algn="l" defTabSz="869137" rtl="0" eaLnBrk="1" latinLnBrk="0" hangingPunct="1">
        <a:defRPr sz="1711" kern="1200">
          <a:solidFill>
            <a:schemeClr val="tx1"/>
          </a:solidFill>
          <a:latin typeface="+mn-lt"/>
          <a:ea typeface="+mn-ea"/>
          <a:cs typeface="+mn-cs"/>
        </a:defRPr>
      </a:lvl5pPr>
      <a:lvl6pPr marL="2172843" algn="l" defTabSz="869137" rtl="0" eaLnBrk="1" latinLnBrk="0" hangingPunct="1">
        <a:defRPr sz="1711" kern="1200">
          <a:solidFill>
            <a:schemeClr val="tx1"/>
          </a:solidFill>
          <a:latin typeface="+mn-lt"/>
          <a:ea typeface="+mn-ea"/>
          <a:cs typeface="+mn-cs"/>
        </a:defRPr>
      </a:lvl6pPr>
      <a:lvl7pPr marL="2607412" algn="l" defTabSz="869137" rtl="0" eaLnBrk="1" latinLnBrk="0" hangingPunct="1">
        <a:defRPr sz="1711" kern="1200">
          <a:solidFill>
            <a:schemeClr val="tx1"/>
          </a:solidFill>
          <a:latin typeface="+mn-lt"/>
          <a:ea typeface="+mn-ea"/>
          <a:cs typeface="+mn-cs"/>
        </a:defRPr>
      </a:lvl7pPr>
      <a:lvl8pPr marL="3041980" algn="l" defTabSz="869137" rtl="0" eaLnBrk="1" latinLnBrk="0" hangingPunct="1">
        <a:defRPr sz="1711" kern="1200">
          <a:solidFill>
            <a:schemeClr val="tx1"/>
          </a:solidFill>
          <a:latin typeface="+mn-lt"/>
          <a:ea typeface="+mn-ea"/>
          <a:cs typeface="+mn-cs"/>
        </a:defRPr>
      </a:lvl8pPr>
      <a:lvl9pPr marL="3476549" algn="l" defTabSz="869137" rtl="0" eaLnBrk="1" latinLnBrk="0" hangingPunct="1">
        <a:defRPr sz="1711" kern="1200">
          <a:solidFill>
            <a:schemeClr val="tx1"/>
          </a:solidFill>
          <a:latin typeface="+mn-lt"/>
          <a:ea typeface="+mn-ea"/>
          <a:cs typeface="+mn-cs"/>
        </a:defRPr>
      </a:lvl9pPr>
    </p:otherStyle>
  </p:txStyles>
  <p:extLst>
    <p:ext uri="{27BBF7A9-308A-43DC-89C8-2F10F3537804}">
      <p15:sldGuideLst xmlns:p15="http://schemas.microsoft.com/office/powerpoint/2012/main">
        <p15:guide id="12" orient="horz" pos="2160" userDrawn="1">
          <p15:clr>
            <a:srgbClr val="F26B43"/>
          </p15:clr>
        </p15:guide>
        <p15:guide id="13" pos="112" userDrawn="1">
          <p15:clr>
            <a:srgbClr val="F26B43"/>
          </p15:clr>
        </p15:guide>
        <p15:guide id="14" orient="horz" pos="4269" userDrawn="1">
          <p15:clr>
            <a:srgbClr val="F26B43"/>
          </p15:clr>
        </p15:guide>
        <p15:guide id="15" pos="3650" userDrawn="1">
          <p15:clr>
            <a:srgbClr val="F26B43"/>
          </p15:clr>
        </p15:guide>
        <p15:guide id="16" pos="7188" userDrawn="1">
          <p15:clr>
            <a:srgbClr val="F26B43"/>
          </p15:clr>
        </p15:guide>
        <p15:guide id="17" orient="horz" pos="28" userDrawn="1">
          <p15:clr>
            <a:srgbClr val="F26B43"/>
          </p15:clr>
        </p15:guide>
        <p15:guide id="18" orient="horz" pos="686" userDrawn="1">
          <p15:clr>
            <a:srgbClr val="F26B43"/>
          </p15:clr>
        </p15:guide>
        <p15:guide id="19" orient="horz" pos="777" userDrawn="1">
          <p15:clr>
            <a:srgbClr val="F26B43"/>
          </p15:clr>
        </p15:guide>
        <p15:guide id="20" orient="horz" pos="4088" userDrawn="1">
          <p15:clr>
            <a:srgbClr val="F26B43"/>
          </p15:clr>
        </p15:guide>
        <p15:guide id="21" orient="horz" pos="3680" userDrawn="1">
          <p15:clr>
            <a:srgbClr val="F26B43"/>
          </p15:clr>
        </p15:guide>
        <p15:guide id="22" orient="horz" pos="3566" userDrawn="1">
          <p15:clr>
            <a:srgbClr val="F26B43"/>
          </p15:clr>
        </p15:guide>
        <p15:guide id="23" pos="5805"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jpg"/><Relationship Id="rId3" Type="http://schemas.openxmlformats.org/officeDocument/2006/relationships/image" Target="../media/image8.png"/><Relationship Id="rId4" Type="http://schemas.openxmlformats.org/officeDocument/2006/relationships/hyperlink" Target="https://www.vopak.com/terminals/vopak-terminal-durban" TargetMode="Externa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jpg"/><Relationship Id="rId3" Type="http://schemas.openxmlformats.org/officeDocument/2006/relationships/image" Target="../media/image8.png"/><Relationship Id="rId4" Type="http://schemas.openxmlformats.org/officeDocument/2006/relationships/hyperlink" Target="https://www.vopak.com/terminals/vopak-terminal-lesedi" TargetMode="External"/><Relationship Id="rId5" Type="http://schemas.openxmlformats.org/officeDocument/2006/relationships/notesSlide" Target="../notesSlides/notesSlide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hyperlink" Target="https://www.vopak.com/system/files/Vopak_Annual_Report_2025.pdf" TargetMode="External"/><Relationship Id="rId4" Type="http://schemas.openxmlformats.org/officeDocument/2006/relationships/hyperlink" Target="https://www.bidtanks.com/pages/1562/about-us" TargetMode="External"/><Relationship Id="rId5" Type="http://schemas.openxmlformats.org/officeDocument/2006/relationships/hyperlink" Target="https://www.vtti.com/location/cape-town-south-africa-bct/" TargetMode="External"/><Relationship Id="rId6" Type="http://schemas.openxmlformats.org/officeDocument/2006/relationships/hyperlink" Target="https://www.shell.co.za/motorists/shell-fuels/fuel-storage-facilities.html" TargetMode="External"/><Relationship Id="rId7" Type="http://schemas.openxmlformats.org/officeDocument/2006/relationships/hyperlink" Target="https://www.nersa.org.za/petroleum-pipelines/third-party-access" TargetMode="External"/><Relationship Id="rId8" Type="http://schemas.openxmlformats.org/officeDocument/2006/relationships/hyperlink" Target="https://sasol.com/our-businesses/energy" TargetMode="External"/><Relationship Id="rId9" Type="http://schemas.openxmlformats.org/officeDocument/2006/relationships/hyperlink" Target="https://www.transnet.net/TPL-Leasing-Opportunities"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t>Liquid fuels</a:t>
            </a:r>
          </a:p>
          <a:p>
            <a:pPr>
              <a:spcAft>
                <a:spcPts val="800"/>
              </a:spcAft>
              <a:defRPr sz="3100" b="0">
                <a:solidFill>
                  <a:srgbClr val="FFFFFF"/>
                </a:solidFill>
                <a:latin typeface="Lato"/>
              </a:defRPr>
            </a:pPr>
            <a:r>
              <a:t>demand and supply</a:t>
            </a:r>
          </a:p>
          <a:p>
            <a:pPr>
              <a:spcAft>
                <a:spcPts val="800"/>
              </a:spcAft>
              <a:defRPr sz="3100" b="0">
                <a:solidFill>
                  <a:srgbClr val="FFFFFF"/>
                </a:solidFill>
                <a:latin typeface="Lato"/>
              </a:defRPr>
            </a:pPr>
            <a:r>
              <a:t>model</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t>Week 1 analytical pack</a:t>
            </a:r>
          </a:p>
        </p:txBody>
      </p:sp>
      <p:sp>
        <p:nvSpPr>
          <p:cNvPr id="8" name="TextBox 7"/>
          <p:cNvSpPr txBox="1"/>
          <p:nvPr/>
        </p:nvSpPr>
        <p:spPr>
          <a:xfrm>
            <a:off x="594360" y="5239512"/>
            <a:ext cx="4572000" cy="36576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South Africa | Petrol and diesel</a:t>
            </a:r>
          </a:p>
        </p:txBody>
      </p:sp>
      <p:sp>
        <p:nvSpPr>
          <p:cNvPr id="9" name="TextBox 8"/>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6 October 2026</a:t>
            </a:r>
          </a:p>
        </p:txBody>
      </p:sp>
      <p:sp>
        <p:nvSpPr>
          <p:cNvPr id="10" name="TextBox 9"/>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t>Internal working discussion</a:t>
            </a:r>
          </a:p>
        </p:txBody>
      </p:sp>
      <p:sp>
        <p:nvSpPr>
          <p:cNvPr id="11"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t>Photo source: Royal Vopak | Terminal Durban | vopak.com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Map conditional market access from Durban and Lesedi</a:t>
            </a:r>
          </a:p>
        </p:txBody>
      </p:sp>
      <p:sp>
        <p:nvSpPr>
          <p:cNvPr id="3" name="Slide Number Placeholder"/>
          <p:cNvSpPr>
            <a:spLocks noGrp="1"/>
          </p:cNvSpPr>
          <p:nvPr>
            <p:ph type="sldNum" sz="quarter" idx="12"/>
          </p:nvPr>
        </p:nvSpPr>
        <p:spPr/>
        <p:txBody>
          <a:bodyPr/>
          <a:lstStyle/>
          <a:p>
            <a:fld id="{BF727970-95E9-49D7-9EB0-D67854984AD5}"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Existing appendix routes; illustrative candidate connections, not verified catchments. Natural Earth 1:50m.</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t>Road-delivery accessibility | illustrative transport cost, R/litre</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800" b="1">
                <a:solidFill>
                  <a:srgbClr val="000000"/>
                </a:solidFill>
                <a:latin typeface="Lato"/>
              </a:defRPr>
            </a:pPr>
            <a:r>
              <a:t>Key takeaways</a:t>
            </a:r>
          </a:p>
        </p:txBody>
      </p: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424927" y="218541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Durban: coastal and inland links</a:t>
            </a:r>
          </a:p>
        </p:txBody>
      </p:sp>
      <p:sp>
        <p:nvSpPr>
          <p:cNvPr id="15" name="TextBox 14"/>
          <p:cNvSpPr txBox="1"/>
          <p:nvPr/>
        </p:nvSpPr>
        <p:spPr>
          <a:xfrm>
            <a:off x="7424927" y="257860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Road candidates connect coastal customers and inland transfers. Pipelines are separate supply connections.</a:t>
            </a:r>
          </a:p>
        </p:txBody>
      </p:sp>
      <p:sp>
        <p:nvSpPr>
          <p:cNvPr id="16" name="TextBox 15"/>
          <p:cNvSpPr txBox="1"/>
          <p:nvPr/>
        </p:nvSpPr>
        <p:spPr>
          <a:xfrm>
            <a:off x="7424927" y="319125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Lesedi: inland dispatch</a:t>
            </a:r>
          </a:p>
        </p:txBody>
      </p:sp>
      <p:sp>
        <p:nvSpPr>
          <p:cNvPr id="17" name="TextBox 16"/>
          <p:cNvSpPr txBox="1"/>
          <p:nvPr/>
        </p:nvSpPr>
        <p:spPr>
          <a:xfrm>
            <a:off x="7424927" y="358444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Test receipt, dispatch, tanker cycles and customer destinations for connected inland markets.</a:t>
            </a:r>
          </a:p>
        </p:txBody>
      </p:sp>
      <p:sp>
        <p:nvSpPr>
          <p:cNvPr id="18" name="TextBox 17"/>
          <p:cNvSpPr txBox="1"/>
          <p:nvPr/>
        </p:nvSpPr>
        <p:spPr>
          <a:xfrm>
            <a:off x="7424927" y="419709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Lower cost means higher accessibility</a:t>
            </a:r>
          </a:p>
        </p:txBody>
      </p:sp>
      <p:sp>
        <p:nvSpPr>
          <p:cNvPr id="19" name="TextBox 18"/>
          <p:cNvSpPr txBox="1"/>
          <p:nvPr/>
        </p:nvSpPr>
        <p:spPr>
          <a:xfrm>
            <a:off x="7424927" y="459028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Darker cells show lower example road-delivery cost from either facility. Pipe and rail lines remain context.</a:t>
            </a:r>
          </a:p>
        </p:txBody>
      </p:sp>
      <p:sp>
        <p:nvSpPr>
          <p:cNvPr id="20" name="TextBox 19"/>
          <p:cNvSpPr txBox="1"/>
          <p:nvPr/>
        </p:nvSpPr>
        <p:spPr>
          <a:xfrm>
            <a:off x="7424927" y="520293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04 · Customer access is unverified</a:t>
            </a:r>
          </a:p>
        </p:txBody>
      </p:sp>
      <p:sp>
        <p:nvSpPr>
          <p:cNvPr id="21" name="TextBox 20"/>
          <p:cNvSpPr txBox="1"/>
          <p:nvPr/>
        </p:nvSpPr>
        <p:spPr>
          <a:xfrm>
            <a:off x="7424927" y="559612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Contracts and competitors define the commercial envelope. Actual customer catchments are not supplied.</a:t>
            </a:r>
          </a:p>
        </p:txBody>
      </p: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Illustrative delivered road transport cost class None; reference terminal None"/>
          <p:cNvSpPr/>
          <p:nvPr/>
        </p:nvSpPr>
        <p:spPr>
          <a:xfrm>
            <a:off x="1777332" y="4003253"/>
            <a:ext cx="23246" cy="51234"/>
          </a:xfrm>
          <a:custGeom>
            <a:avLst/>
            <a:gdLst/>
            <a:ahLst/>
            <a:cxnLst/>
            <a:rect l="l" t="t" r="r" b="b"/>
            <a:pathLst>
              <a:path w="23246" h="51234">
                <a:moveTo>
                  <a:pt x="23246" y="51234"/>
                </a:moveTo>
                <a:lnTo>
                  <a:pt x="7894" y="29876"/>
                </a:lnTo>
                <a:lnTo>
                  <a:pt x="0" y="24297"/>
                </a:lnTo>
                <a:lnTo>
                  <a:pt x="8068" y="12224"/>
                </a:lnTo>
                <a:lnTo>
                  <a:pt x="23246" y="0"/>
                </a:lnTo>
                <a:lnTo>
                  <a:pt x="23246" y="5123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Illustrative delivered road transport cost class None; reference terminal None"/>
          <p:cNvSpPr/>
          <p:nvPr/>
        </p:nvSpPr>
        <p:spPr>
          <a:xfrm>
            <a:off x="1843178" y="4113755"/>
            <a:ext cx="15086" cy="24460"/>
          </a:xfrm>
          <a:custGeom>
            <a:avLst/>
            <a:gdLst/>
            <a:ahLst/>
            <a:cxnLst/>
            <a:rect l="l" t="t" r="r" b="b"/>
            <a:pathLst>
              <a:path w="15086" h="24460">
                <a:moveTo>
                  <a:pt x="15086" y="0"/>
                </a:moveTo>
                <a:lnTo>
                  <a:pt x="15086" y="24460"/>
                </a:lnTo>
                <a:lnTo>
                  <a:pt x="6687" y="9302"/>
                </a:lnTo>
                <a:lnTo>
                  <a:pt x="0" y="0"/>
                </a:lnTo>
                <a:lnTo>
                  <a:pt x="150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Illustrative delivered road transport cost class 4; reference terminal Lesedi"/>
          <p:cNvSpPr/>
          <p:nvPr/>
        </p:nvSpPr>
        <p:spPr>
          <a:xfrm>
            <a:off x="1801714" y="4056068"/>
            <a:ext cx="56550" cy="57687"/>
          </a:xfrm>
          <a:custGeom>
            <a:avLst/>
            <a:gdLst/>
            <a:ahLst/>
            <a:cxnLst/>
            <a:rect l="l" t="t" r="r" b="b"/>
            <a:pathLst>
              <a:path w="56550" h="57687">
                <a:moveTo>
                  <a:pt x="56550" y="0"/>
                </a:moveTo>
                <a:lnTo>
                  <a:pt x="56550" y="57687"/>
                </a:lnTo>
                <a:lnTo>
                  <a:pt x="41464" y="57687"/>
                </a:lnTo>
                <a:lnTo>
                  <a:pt x="0" y="0"/>
                </a:lnTo>
                <a:lnTo>
                  <a:pt x="565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Illustrative delivered road transport cost class 4; reference terminal Lesedi"/>
          <p:cNvSpPr/>
          <p:nvPr/>
        </p:nvSpPr>
        <p:spPr>
          <a:xfrm>
            <a:off x="1800578" y="3998382"/>
            <a:ext cx="57686" cy="57686"/>
          </a:xfrm>
          <a:custGeom>
            <a:avLst/>
            <a:gdLst/>
            <a:ahLst/>
            <a:cxnLst/>
            <a:rect l="l" t="t" r="r" b="b"/>
            <a:pathLst>
              <a:path w="57686" h="57686">
                <a:moveTo>
                  <a:pt x="57686" y="0"/>
                </a:moveTo>
                <a:lnTo>
                  <a:pt x="57686" y="57686"/>
                </a:lnTo>
                <a:lnTo>
                  <a:pt x="1136" y="57686"/>
                </a:lnTo>
                <a:lnTo>
                  <a:pt x="0" y="56105"/>
                </a:lnTo>
                <a:lnTo>
                  <a:pt x="0" y="4871"/>
                </a:lnTo>
                <a:lnTo>
                  <a:pt x="6049"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Illustrative delivered road transport cost class 4; reference terminal Lesedi"/>
          <p:cNvSpPr/>
          <p:nvPr/>
        </p:nvSpPr>
        <p:spPr>
          <a:xfrm>
            <a:off x="1806627" y="3940695"/>
            <a:ext cx="51637" cy="57687"/>
          </a:xfrm>
          <a:custGeom>
            <a:avLst/>
            <a:gdLst/>
            <a:ahLst/>
            <a:cxnLst/>
            <a:rect l="l" t="t" r="r" b="b"/>
            <a:pathLst>
              <a:path w="51637" h="57687">
                <a:moveTo>
                  <a:pt x="51637" y="0"/>
                </a:moveTo>
                <a:lnTo>
                  <a:pt x="51637" y="57687"/>
                </a:lnTo>
                <a:lnTo>
                  <a:pt x="0" y="57687"/>
                </a:lnTo>
                <a:lnTo>
                  <a:pt x="8502" y="50839"/>
                </a:lnTo>
                <a:lnTo>
                  <a:pt x="22328" y="43972"/>
                </a:lnTo>
                <a:lnTo>
                  <a:pt x="30073" y="46140"/>
                </a:lnTo>
                <a:lnTo>
                  <a:pt x="37022" y="39661"/>
                </a:lnTo>
                <a:lnTo>
                  <a:pt x="43159" y="24487"/>
                </a:lnTo>
                <a:lnTo>
                  <a:pt x="43800" y="10598"/>
                </a:lnTo>
                <a:lnTo>
                  <a:pt x="44977" y="0"/>
                </a:lnTo>
                <a:lnTo>
                  <a:pt x="5163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Illustrative delivered road transport cost class None; reference terminal None"/>
          <p:cNvSpPr/>
          <p:nvPr/>
        </p:nvSpPr>
        <p:spPr>
          <a:xfrm>
            <a:off x="1851604" y="3920521"/>
            <a:ext cx="6660" cy="20174"/>
          </a:xfrm>
          <a:custGeom>
            <a:avLst/>
            <a:gdLst/>
            <a:ahLst/>
            <a:cxnLst/>
            <a:rect l="l" t="t" r="r" b="b"/>
            <a:pathLst>
              <a:path w="6660" h="20174">
                <a:moveTo>
                  <a:pt x="6660" y="20174"/>
                </a:moveTo>
                <a:lnTo>
                  <a:pt x="0" y="20174"/>
                </a:lnTo>
                <a:lnTo>
                  <a:pt x="1015" y="11032"/>
                </a:lnTo>
                <a:lnTo>
                  <a:pt x="6660" y="0"/>
                </a:lnTo>
                <a:lnTo>
                  <a:pt x="6660" y="2017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Illustrative delivered road transport cost class 4; reference terminal Lesedi"/>
          <p:cNvSpPr/>
          <p:nvPr/>
        </p:nvSpPr>
        <p:spPr>
          <a:xfrm>
            <a:off x="1907099" y="4229128"/>
            <a:ext cx="8852" cy="23653"/>
          </a:xfrm>
          <a:custGeom>
            <a:avLst/>
            <a:gdLst/>
            <a:ahLst/>
            <a:cxnLst/>
            <a:rect l="l" t="t" r="r" b="b"/>
            <a:pathLst>
              <a:path w="8852" h="23653">
                <a:moveTo>
                  <a:pt x="8852" y="0"/>
                </a:moveTo>
                <a:lnTo>
                  <a:pt x="8852" y="23653"/>
                </a:lnTo>
                <a:lnTo>
                  <a:pt x="0" y="0"/>
                </a:lnTo>
                <a:lnTo>
                  <a:pt x="885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Illustrative delivered road transport cost class 4; reference terminal Lesedi"/>
          <p:cNvSpPr/>
          <p:nvPr/>
        </p:nvSpPr>
        <p:spPr>
          <a:xfrm>
            <a:off x="1876677" y="4171441"/>
            <a:ext cx="39274" cy="57687"/>
          </a:xfrm>
          <a:custGeom>
            <a:avLst/>
            <a:gdLst/>
            <a:ahLst/>
            <a:cxnLst/>
            <a:rect l="l" t="t" r="r" b="b"/>
            <a:pathLst>
              <a:path w="39274" h="57687">
                <a:moveTo>
                  <a:pt x="39274" y="0"/>
                </a:moveTo>
                <a:lnTo>
                  <a:pt x="39274" y="57687"/>
                </a:lnTo>
                <a:lnTo>
                  <a:pt x="30422" y="57687"/>
                </a:lnTo>
                <a:lnTo>
                  <a:pt x="27208" y="49100"/>
                </a:lnTo>
                <a:lnTo>
                  <a:pt x="0" y="0"/>
                </a:lnTo>
                <a:lnTo>
                  <a:pt x="3927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Illustrative delivered road transport cost class 4; reference terminal Lesedi"/>
          <p:cNvSpPr/>
          <p:nvPr/>
        </p:nvSpPr>
        <p:spPr>
          <a:xfrm>
            <a:off x="1858264" y="4113755"/>
            <a:ext cx="57687" cy="57686"/>
          </a:xfrm>
          <a:custGeom>
            <a:avLst/>
            <a:gdLst/>
            <a:ahLst/>
            <a:cxnLst/>
            <a:rect l="l" t="t" r="r" b="b"/>
            <a:pathLst>
              <a:path w="57687" h="57686">
                <a:moveTo>
                  <a:pt x="0" y="0"/>
                </a:moveTo>
                <a:lnTo>
                  <a:pt x="57687" y="0"/>
                </a:lnTo>
                <a:lnTo>
                  <a:pt x="57687" y="57686"/>
                </a:lnTo>
                <a:lnTo>
                  <a:pt x="18413" y="57686"/>
                </a:lnTo>
                <a:lnTo>
                  <a:pt x="0" y="2446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Illustrative delivered road transport cost class 4; reference terminal Lesedi"/>
          <p:cNvSpPr/>
          <p:nvPr/>
        </p:nvSpPr>
        <p:spPr>
          <a:xfrm>
            <a:off x="185826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Illustrative delivered road transport cost class 4; reference terminal Lesedi"/>
          <p:cNvSpPr/>
          <p:nvPr/>
        </p:nvSpPr>
        <p:spPr>
          <a:xfrm>
            <a:off x="185826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Illustrative delivered road transport cost class 4; reference terminal Lesedi"/>
          <p:cNvSpPr/>
          <p:nvPr/>
        </p:nvSpPr>
        <p:spPr>
          <a:xfrm>
            <a:off x="185826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Illustrative delivered road transport cost class 4; reference terminal Lesedi"/>
          <p:cNvSpPr/>
          <p:nvPr/>
        </p:nvSpPr>
        <p:spPr>
          <a:xfrm>
            <a:off x="1858264" y="3883008"/>
            <a:ext cx="57687" cy="57687"/>
          </a:xfrm>
          <a:custGeom>
            <a:avLst/>
            <a:gdLst/>
            <a:ahLst/>
            <a:cxnLst/>
            <a:rect l="l" t="t" r="r" b="b"/>
            <a:pathLst>
              <a:path w="57687" h="57687">
                <a:moveTo>
                  <a:pt x="57687" y="0"/>
                </a:moveTo>
                <a:lnTo>
                  <a:pt x="57687" y="57687"/>
                </a:lnTo>
                <a:lnTo>
                  <a:pt x="0" y="57687"/>
                </a:lnTo>
                <a:lnTo>
                  <a:pt x="0" y="37513"/>
                </a:lnTo>
                <a:lnTo>
                  <a:pt x="567" y="36406"/>
                </a:lnTo>
                <a:lnTo>
                  <a:pt x="6687" y="12614"/>
                </a:lnTo>
                <a:lnTo>
                  <a:pt x="16351"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Illustrative delivered road transport cost class None; reference terminal None"/>
          <p:cNvSpPr/>
          <p:nvPr/>
        </p:nvSpPr>
        <p:spPr>
          <a:xfrm>
            <a:off x="1874615" y="3868101"/>
            <a:ext cx="41336" cy="14907"/>
          </a:xfrm>
          <a:custGeom>
            <a:avLst/>
            <a:gdLst/>
            <a:ahLst/>
            <a:cxnLst/>
            <a:rect l="l" t="t" r="r" b="b"/>
            <a:pathLst>
              <a:path w="41336" h="14907">
                <a:moveTo>
                  <a:pt x="41336" y="14907"/>
                </a:moveTo>
                <a:lnTo>
                  <a:pt x="0" y="14907"/>
                </a:lnTo>
                <a:lnTo>
                  <a:pt x="2436" y="11727"/>
                </a:lnTo>
                <a:lnTo>
                  <a:pt x="29562" y="0"/>
                </a:lnTo>
                <a:lnTo>
                  <a:pt x="41336" y="6282"/>
                </a:lnTo>
                <a:lnTo>
                  <a:pt x="41336" y="1490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Illustrative delivered road transport cost class 4; reference terminal Lesedi"/>
          <p:cNvSpPr/>
          <p:nvPr/>
        </p:nvSpPr>
        <p:spPr>
          <a:xfrm>
            <a:off x="1950278" y="4344501"/>
            <a:ext cx="23360" cy="57687"/>
          </a:xfrm>
          <a:custGeom>
            <a:avLst/>
            <a:gdLst/>
            <a:ahLst/>
            <a:cxnLst/>
            <a:rect l="l" t="t" r="r" b="b"/>
            <a:pathLst>
              <a:path w="23360" h="57687">
                <a:moveTo>
                  <a:pt x="23360" y="0"/>
                </a:moveTo>
                <a:lnTo>
                  <a:pt x="23360" y="57687"/>
                </a:lnTo>
                <a:lnTo>
                  <a:pt x="22322" y="57687"/>
                </a:lnTo>
                <a:lnTo>
                  <a:pt x="18894" y="50486"/>
                </a:lnTo>
                <a:lnTo>
                  <a:pt x="0" y="0"/>
                </a:lnTo>
                <a:lnTo>
                  <a:pt x="2336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Illustrative delivered road transport cost class 4; reference terminal Lesedi"/>
          <p:cNvSpPr/>
          <p:nvPr/>
        </p:nvSpPr>
        <p:spPr>
          <a:xfrm>
            <a:off x="1928688" y="4286814"/>
            <a:ext cx="44950" cy="57687"/>
          </a:xfrm>
          <a:custGeom>
            <a:avLst/>
            <a:gdLst/>
            <a:ahLst/>
            <a:cxnLst/>
            <a:rect l="l" t="t" r="r" b="b"/>
            <a:pathLst>
              <a:path w="44950" h="57687">
                <a:moveTo>
                  <a:pt x="44950" y="0"/>
                </a:moveTo>
                <a:lnTo>
                  <a:pt x="44950" y="57687"/>
                </a:lnTo>
                <a:lnTo>
                  <a:pt x="21590" y="57687"/>
                </a:lnTo>
                <a:lnTo>
                  <a:pt x="0" y="0"/>
                </a:lnTo>
                <a:lnTo>
                  <a:pt x="449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Illustrative delivered road transport cost class 4; reference terminal Lesedi"/>
          <p:cNvSpPr/>
          <p:nvPr/>
        </p:nvSpPr>
        <p:spPr>
          <a:xfrm>
            <a:off x="1915951" y="4229128"/>
            <a:ext cx="57687" cy="57686"/>
          </a:xfrm>
          <a:custGeom>
            <a:avLst/>
            <a:gdLst/>
            <a:ahLst/>
            <a:cxnLst/>
            <a:rect l="l" t="t" r="r" b="b"/>
            <a:pathLst>
              <a:path w="57687" h="57686">
                <a:moveTo>
                  <a:pt x="0" y="0"/>
                </a:moveTo>
                <a:lnTo>
                  <a:pt x="57687" y="0"/>
                </a:lnTo>
                <a:lnTo>
                  <a:pt x="57687" y="57686"/>
                </a:lnTo>
                <a:lnTo>
                  <a:pt x="12737" y="57686"/>
                </a:lnTo>
                <a:lnTo>
                  <a:pt x="0" y="236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Illustrative delivered road transport cost class 4; reference terminal Lesedi"/>
          <p:cNvSpPr/>
          <p:nvPr/>
        </p:nvSpPr>
        <p:spPr>
          <a:xfrm>
            <a:off x="191595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0" name="Illustrative delivered road transport cost class 4; reference terminal Lesedi"/>
          <p:cNvSpPr/>
          <p:nvPr/>
        </p:nvSpPr>
        <p:spPr>
          <a:xfrm>
            <a:off x="191595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1" name="Illustrative delivered road transport cost class 4; reference terminal Lesedi"/>
          <p:cNvSpPr/>
          <p:nvPr/>
        </p:nvSpPr>
        <p:spPr>
          <a:xfrm>
            <a:off x="191595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2" name="Illustrative delivered road transport cost class 4; reference terminal Lesedi"/>
          <p:cNvSpPr/>
          <p:nvPr/>
        </p:nvSpPr>
        <p:spPr>
          <a:xfrm>
            <a:off x="191595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3" name="Illustrative delivered road transport cost class 4; reference terminal Lesedi"/>
          <p:cNvSpPr/>
          <p:nvPr/>
        </p:nvSpPr>
        <p:spPr>
          <a:xfrm>
            <a:off x="191595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4" name="Illustrative delivered road transport cost class 4; reference terminal Lesedi"/>
          <p:cNvSpPr/>
          <p:nvPr/>
        </p:nvSpPr>
        <p:spPr>
          <a:xfrm>
            <a:off x="1915951" y="3883008"/>
            <a:ext cx="57687" cy="57687"/>
          </a:xfrm>
          <a:custGeom>
            <a:avLst/>
            <a:gdLst/>
            <a:ahLst/>
            <a:cxnLst/>
            <a:rect l="l" t="t" r="r" b="b"/>
            <a:pathLst>
              <a:path w="57687" h="57687">
                <a:moveTo>
                  <a:pt x="57687" y="57687"/>
                </a:moveTo>
                <a:lnTo>
                  <a:pt x="0" y="57687"/>
                </a:lnTo>
                <a:lnTo>
                  <a:pt x="0" y="0"/>
                </a:lnTo>
                <a:lnTo>
                  <a:pt x="12664" y="0"/>
                </a:lnTo>
                <a:lnTo>
                  <a:pt x="19786" y="9055"/>
                </a:lnTo>
                <a:lnTo>
                  <a:pt x="24519" y="25768"/>
                </a:lnTo>
                <a:lnTo>
                  <a:pt x="34346" y="33348"/>
                </a:lnTo>
                <a:lnTo>
                  <a:pt x="49248" y="31805"/>
                </a:lnTo>
                <a:lnTo>
                  <a:pt x="57687" y="39160"/>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Illustrative delivered road transport cost class 4; reference terminal Lesedi"/>
          <p:cNvSpPr/>
          <p:nvPr/>
        </p:nvSpPr>
        <p:spPr>
          <a:xfrm>
            <a:off x="1915951" y="3874383"/>
            <a:ext cx="12664" cy="8625"/>
          </a:xfrm>
          <a:custGeom>
            <a:avLst/>
            <a:gdLst/>
            <a:ahLst/>
            <a:cxnLst/>
            <a:rect l="l" t="t" r="r" b="b"/>
            <a:pathLst>
              <a:path w="12664" h="8625">
                <a:moveTo>
                  <a:pt x="0" y="8625"/>
                </a:moveTo>
                <a:lnTo>
                  <a:pt x="0" y="0"/>
                </a:lnTo>
                <a:lnTo>
                  <a:pt x="10130" y="5404"/>
                </a:lnTo>
                <a:lnTo>
                  <a:pt x="12664" y="8625"/>
                </a:lnTo>
                <a:lnTo>
                  <a:pt x="0" y="8625"/>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6" name="Illustrative delivered road transport cost class 4; reference terminal Lesedi"/>
          <p:cNvSpPr/>
          <p:nvPr/>
        </p:nvSpPr>
        <p:spPr>
          <a:xfrm>
            <a:off x="2000058" y="4459874"/>
            <a:ext cx="31266" cy="57683"/>
          </a:xfrm>
          <a:custGeom>
            <a:avLst/>
            <a:gdLst/>
            <a:ahLst/>
            <a:cxnLst/>
            <a:rect l="l" t="t" r="r" b="b"/>
            <a:pathLst>
              <a:path w="31266" h="57683">
                <a:moveTo>
                  <a:pt x="31266" y="0"/>
                </a:moveTo>
                <a:lnTo>
                  <a:pt x="31266" y="57683"/>
                </a:lnTo>
                <a:lnTo>
                  <a:pt x="10000" y="21010"/>
                </a:lnTo>
                <a:lnTo>
                  <a:pt x="0" y="0"/>
                </a:lnTo>
                <a:lnTo>
                  <a:pt x="312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Illustrative delivered road transport cost class 4; reference terminal Lesedi"/>
          <p:cNvSpPr/>
          <p:nvPr/>
        </p:nvSpPr>
        <p:spPr>
          <a:xfrm>
            <a:off x="1973638" y="4402188"/>
            <a:ext cx="57686" cy="57686"/>
          </a:xfrm>
          <a:custGeom>
            <a:avLst/>
            <a:gdLst/>
            <a:ahLst/>
            <a:cxnLst/>
            <a:rect l="l" t="t" r="r" b="b"/>
            <a:pathLst>
              <a:path w="57686" h="57686">
                <a:moveTo>
                  <a:pt x="0" y="0"/>
                </a:moveTo>
                <a:lnTo>
                  <a:pt x="57686" y="0"/>
                </a:lnTo>
                <a:lnTo>
                  <a:pt x="57686" y="57686"/>
                </a:lnTo>
                <a:lnTo>
                  <a:pt x="26420" y="57686"/>
                </a:lnTo>
                <a:lnTo>
                  <a:pt x="0" y="218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8" name="Illustrative delivered road transport cost class 4; reference terminal Lesedi"/>
          <p:cNvSpPr/>
          <p:nvPr/>
        </p:nvSpPr>
        <p:spPr>
          <a:xfrm>
            <a:off x="197363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9" name="Illustrative delivered road transport cost class 4; reference terminal Lesedi"/>
          <p:cNvSpPr/>
          <p:nvPr/>
        </p:nvSpPr>
        <p:spPr>
          <a:xfrm>
            <a:off x="197363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0" name="Illustrative delivered road transport cost class 4; reference terminal Lesedi"/>
          <p:cNvSpPr/>
          <p:nvPr/>
        </p:nvSpPr>
        <p:spPr>
          <a:xfrm>
            <a:off x="197363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Illustrative delivered road transport cost class 4; reference terminal Lesedi"/>
          <p:cNvSpPr/>
          <p:nvPr/>
        </p:nvSpPr>
        <p:spPr>
          <a:xfrm>
            <a:off x="197363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2" name="Illustrative delivered road transport cost class 4; reference terminal Lesedi"/>
          <p:cNvSpPr/>
          <p:nvPr/>
        </p:nvSpPr>
        <p:spPr>
          <a:xfrm>
            <a:off x="197363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3" name="Illustrative delivered road transport cost class 4; reference terminal Lesedi"/>
          <p:cNvSpPr/>
          <p:nvPr/>
        </p:nvSpPr>
        <p:spPr>
          <a:xfrm>
            <a:off x="197363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4" name="Illustrative delivered road transport cost class 4; reference terminal Lesedi"/>
          <p:cNvSpPr/>
          <p:nvPr/>
        </p:nvSpPr>
        <p:spPr>
          <a:xfrm>
            <a:off x="1973638" y="3998382"/>
            <a:ext cx="57686" cy="57686"/>
          </a:xfrm>
          <a:custGeom>
            <a:avLst/>
            <a:gdLst/>
            <a:ahLst/>
            <a:cxnLst/>
            <a:rect l="l" t="t" r="r" b="b"/>
            <a:pathLst>
              <a:path w="57686" h="57686">
                <a:moveTo>
                  <a:pt x="57686" y="57686"/>
                </a:moveTo>
                <a:lnTo>
                  <a:pt x="0" y="57686"/>
                </a:lnTo>
                <a:lnTo>
                  <a:pt x="0" y="0"/>
                </a:lnTo>
                <a:lnTo>
                  <a:pt x="15412" y="0"/>
                </a:lnTo>
                <a:lnTo>
                  <a:pt x="15901" y="621"/>
                </a:lnTo>
                <a:lnTo>
                  <a:pt x="21308" y="15265"/>
                </a:lnTo>
                <a:lnTo>
                  <a:pt x="29800" y="34501"/>
                </a:lnTo>
                <a:lnTo>
                  <a:pt x="57686" y="41064"/>
                </a:lnTo>
                <a:lnTo>
                  <a:pt x="57686"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5" name="Illustrative delivered road transport cost class 4; reference terminal Lesedi"/>
          <p:cNvSpPr/>
          <p:nvPr/>
        </p:nvSpPr>
        <p:spPr>
          <a:xfrm>
            <a:off x="1973638" y="3940695"/>
            <a:ext cx="15412" cy="57687"/>
          </a:xfrm>
          <a:custGeom>
            <a:avLst/>
            <a:gdLst/>
            <a:ahLst/>
            <a:cxnLst/>
            <a:rect l="l" t="t" r="r" b="b"/>
            <a:pathLst>
              <a:path w="15412" h="57687">
                <a:moveTo>
                  <a:pt x="0" y="57687"/>
                </a:moveTo>
                <a:lnTo>
                  <a:pt x="0" y="0"/>
                </a:lnTo>
                <a:lnTo>
                  <a:pt x="8474" y="0"/>
                </a:lnTo>
                <a:lnTo>
                  <a:pt x="10213" y="4904"/>
                </a:lnTo>
                <a:lnTo>
                  <a:pt x="9967" y="20511"/>
                </a:lnTo>
                <a:lnTo>
                  <a:pt x="2091" y="30693"/>
                </a:lnTo>
                <a:lnTo>
                  <a:pt x="4087" y="43274"/>
                </a:lnTo>
                <a:lnTo>
                  <a:pt x="15412"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6" name="Illustrative delivered road transport cost class 4; reference terminal Lesedi"/>
          <p:cNvSpPr/>
          <p:nvPr/>
        </p:nvSpPr>
        <p:spPr>
          <a:xfrm>
            <a:off x="1973638" y="3922168"/>
            <a:ext cx="8474" cy="18527"/>
          </a:xfrm>
          <a:custGeom>
            <a:avLst/>
            <a:gdLst/>
            <a:ahLst/>
            <a:cxnLst/>
            <a:rect l="l" t="t" r="r" b="b"/>
            <a:pathLst>
              <a:path w="8474" h="18527">
                <a:moveTo>
                  <a:pt x="0" y="18527"/>
                </a:moveTo>
                <a:lnTo>
                  <a:pt x="0" y="0"/>
                </a:lnTo>
                <a:lnTo>
                  <a:pt x="2756" y="2402"/>
                </a:lnTo>
                <a:lnTo>
                  <a:pt x="8474" y="18527"/>
                </a:lnTo>
                <a:lnTo>
                  <a:pt x="0" y="185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7" name="Illustrative delivered road transport cost class 4; reference terminal Lesedi"/>
          <p:cNvSpPr/>
          <p:nvPr/>
        </p:nvSpPr>
        <p:spPr>
          <a:xfrm>
            <a:off x="2064777" y="4575247"/>
            <a:ext cx="24234" cy="41791"/>
          </a:xfrm>
          <a:custGeom>
            <a:avLst/>
            <a:gdLst/>
            <a:ahLst/>
            <a:cxnLst/>
            <a:rect l="l" t="t" r="r" b="b"/>
            <a:pathLst>
              <a:path w="24234" h="41791">
                <a:moveTo>
                  <a:pt x="24234" y="0"/>
                </a:moveTo>
                <a:lnTo>
                  <a:pt x="24234" y="41791"/>
                </a:lnTo>
                <a:lnTo>
                  <a:pt x="0" y="0"/>
                </a:lnTo>
                <a:lnTo>
                  <a:pt x="242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8" name="Illustrative delivered road transport cost class 4; reference terminal Lesedi"/>
          <p:cNvSpPr/>
          <p:nvPr/>
        </p:nvSpPr>
        <p:spPr>
          <a:xfrm>
            <a:off x="2031326" y="4517561"/>
            <a:ext cx="57685" cy="57686"/>
          </a:xfrm>
          <a:custGeom>
            <a:avLst/>
            <a:gdLst/>
            <a:ahLst/>
            <a:cxnLst/>
            <a:rect l="l" t="t" r="r" b="b"/>
            <a:pathLst>
              <a:path w="57685" h="57686">
                <a:moveTo>
                  <a:pt x="57685" y="0"/>
                </a:moveTo>
                <a:lnTo>
                  <a:pt x="57685" y="57686"/>
                </a:lnTo>
                <a:lnTo>
                  <a:pt x="33451" y="57686"/>
                </a:lnTo>
                <a:lnTo>
                  <a:pt x="0" y="0"/>
                </a:lnTo>
                <a:lnTo>
                  <a:pt x="5768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9" name="Illustrative delivered road transport cost class 4; reference terminal Lesedi"/>
          <p:cNvSpPr/>
          <p:nvPr/>
        </p:nvSpPr>
        <p:spPr>
          <a:xfrm>
            <a:off x="2031324" y="4459874"/>
            <a:ext cx="57687" cy="57687"/>
          </a:xfrm>
          <a:custGeom>
            <a:avLst/>
            <a:gdLst/>
            <a:ahLst/>
            <a:cxnLst/>
            <a:rect l="l" t="t" r="r" b="b"/>
            <a:pathLst>
              <a:path w="57687" h="57687">
                <a:moveTo>
                  <a:pt x="0" y="0"/>
                </a:moveTo>
                <a:lnTo>
                  <a:pt x="57687" y="0"/>
                </a:lnTo>
                <a:lnTo>
                  <a:pt x="57687" y="57687"/>
                </a:lnTo>
                <a:lnTo>
                  <a:pt x="2" y="57687"/>
                </a:lnTo>
                <a:lnTo>
                  <a:pt x="0" y="5768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0" name="Illustrative delivered road transport cost class 4; reference terminal Lesedi"/>
          <p:cNvSpPr/>
          <p:nvPr/>
        </p:nvSpPr>
        <p:spPr>
          <a:xfrm>
            <a:off x="203132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1" name="Illustrative delivered road transport cost class 4; reference terminal Lesedi"/>
          <p:cNvSpPr/>
          <p:nvPr/>
        </p:nvSpPr>
        <p:spPr>
          <a:xfrm>
            <a:off x="203132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2" name="Illustrative delivered road transport cost class 4; reference terminal Lesedi"/>
          <p:cNvSpPr/>
          <p:nvPr/>
        </p:nvSpPr>
        <p:spPr>
          <a:xfrm>
            <a:off x="203132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3" name="Illustrative delivered road transport cost class 4; reference terminal Lesedi"/>
          <p:cNvSpPr/>
          <p:nvPr/>
        </p:nvSpPr>
        <p:spPr>
          <a:xfrm>
            <a:off x="203132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4" name="Illustrative delivered road transport cost class 4; reference terminal Lesedi"/>
          <p:cNvSpPr/>
          <p:nvPr/>
        </p:nvSpPr>
        <p:spPr>
          <a:xfrm>
            <a:off x="203132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5" name="Illustrative delivered road transport cost class 4; reference terminal Lesedi"/>
          <p:cNvSpPr/>
          <p:nvPr/>
        </p:nvSpPr>
        <p:spPr>
          <a:xfrm>
            <a:off x="203132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6" name="Illustrative delivered road transport cost class 4; reference terminal Lesedi"/>
          <p:cNvSpPr/>
          <p:nvPr/>
        </p:nvSpPr>
        <p:spPr>
          <a:xfrm>
            <a:off x="203132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7" name="Illustrative delivered road transport cost class 4; reference terminal Lesedi"/>
          <p:cNvSpPr/>
          <p:nvPr/>
        </p:nvSpPr>
        <p:spPr>
          <a:xfrm>
            <a:off x="2031324" y="4039446"/>
            <a:ext cx="57687" cy="16622"/>
          </a:xfrm>
          <a:custGeom>
            <a:avLst/>
            <a:gdLst/>
            <a:ahLst/>
            <a:cxnLst/>
            <a:rect l="l" t="t" r="r" b="b"/>
            <a:pathLst>
              <a:path w="57687" h="16622">
                <a:moveTo>
                  <a:pt x="57687" y="16622"/>
                </a:moveTo>
                <a:lnTo>
                  <a:pt x="0" y="16622"/>
                </a:lnTo>
                <a:lnTo>
                  <a:pt x="0" y="0"/>
                </a:lnTo>
                <a:lnTo>
                  <a:pt x="10762" y="2533"/>
                </a:lnTo>
                <a:lnTo>
                  <a:pt x="29693" y="7851"/>
                </a:lnTo>
                <a:lnTo>
                  <a:pt x="57687" y="8068"/>
                </a:lnTo>
                <a:lnTo>
                  <a:pt x="57687" y="16622"/>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8" name="Illustrative delivered road transport cost class 4; reference terminal Lesedi"/>
          <p:cNvSpPr/>
          <p:nvPr/>
        </p:nvSpPr>
        <p:spPr>
          <a:xfrm>
            <a:off x="2140180" y="4690620"/>
            <a:ext cx="6517" cy="9236"/>
          </a:xfrm>
          <a:custGeom>
            <a:avLst/>
            <a:gdLst/>
            <a:ahLst/>
            <a:cxnLst/>
            <a:rect l="l" t="t" r="r" b="b"/>
            <a:pathLst>
              <a:path w="6517" h="9236">
                <a:moveTo>
                  <a:pt x="6517" y="0"/>
                </a:moveTo>
                <a:lnTo>
                  <a:pt x="6517" y="9236"/>
                </a:lnTo>
                <a:lnTo>
                  <a:pt x="0" y="0"/>
                </a:lnTo>
                <a:lnTo>
                  <a:pt x="651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9" name="Illustrative delivered road transport cost class 4; reference terminal Lesedi"/>
          <p:cNvSpPr/>
          <p:nvPr/>
        </p:nvSpPr>
        <p:spPr>
          <a:xfrm>
            <a:off x="2099475" y="4632934"/>
            <a:ext cx="47222" cy="57686"/>
          </a:xfrm>
          <a:custGeom>
            <a:avLst/>
            <a:gdLst/>
            <a:ahLst/>
            <a:cxnLst/>
            <a:rect l="l" t="t" r="r" b="b"/>
            <a:pathLst>
              <a:path w="47222" h="57686">
                <a:moveTo>
                  <a:pt x="47222" y="0"/>
                </a:moveTo>
                <a:lnTo>
                  <a:pt x="47222" y="57686"/>
                </a:lnTo>
                <a:lnTo>
                  <a:pt x="40705" y="57686"/>
                </a:lnTo>
                <a:lnTo>
                  <a:pt x="0" y="0"/>
                </a:lnTo>
                <a:lnTo>
                  <a:pt x="4722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0" name="Illustrative delivered road transport cost class 4; reference terminal Lesedi"/>
          <p:cNvSpPr/>
          <p:nvPr/>
        </p:nvSpPr>
        <p:spPr>
          <a:xfrm>
            <a:off x="2089011" y="4575247"/>
            <a:ext cx="57686" cy="57687"/>
          </a:xfrm>
          <a:custGeom>
            <a:avLst/>
            <a:gdLst/>
            <a:ahLst/>
            <a:cxnLst/>
            <a:rect l="l" t="t" r="r" b="b"/>
            <a:pathLst>
              <a:path w="57686" h="57687">
                <a:moveTo>
                  <a:pt x="0" y="0"/>
                </a:moveTo>
                <a:lnTo>
                  <a:pt x="57686" y="0"/>
                </a:lnTo>
                <a:lnTo>
                  <a:pt x="57686" y="57687"/>
                </a:lnTo>
                <a:lnTo>
                  <a:pt x="10464" y="57687"/>
                </a:lnTo>
                <a:lnTo>
                  <a:pt x="3467" y="47770"/>
                </a:lnTo>
                <a:lnTo>
                  <a:pt x="0" y="4179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1" name="Illustrative delivered road transport cost class 4; reference terminal Lesedi"/>
          <p:cNvSpPr/>
          <p:nvPr/>
        </p:nvSpPr>
        <p:spPr>
          <a:xfrm>
            <a:off x="208901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2" name="Illustrative delivered road transport cost class 4; reference terminal Lesedi"/>
          <p:cNvSpPr/>
          <p:nvPr/>
        </p:nvSpPr>
        <p:spPr>
          <a:xfrm>
            <a:off x="208901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3" name="Illustrative delivered road transport cost class 4; reference terminal Lesedi"/>
          <p:cNvSpPr/>
          <p:nvPr/>
        </p:nvSpPr>
        <p:spPr>
          <a:xfrm>
            <a:off x="208901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4" name="Illustrative delivered road transport cost class 4; reference terminal Lesedi"/>
          <p:cNvSpPr/>
          <p:nvPr/>
        </p:nvSpPr>
        <p:spPr>
          <a:xfrm>
            <a:off x="208901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5" name="Illustrative delivered road transport cost class 4; reference terminal Lesedi"/>
          <p:cNvSpPr/>
          <p:nvPr/>
        </p:nvSpPr>
        <p:spPr>
          <a:xfrm>
            <a:off x="208901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6" name="Illustrative delivered road transport cost class 4; reference terminal Lesedi"/>
          <p:cNvSpPr/>
          <p:nvPr/>
        </p:nvSpPr>
        <p:spPr>
          <a:xfrm>
            <a:off x="208901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7" name="Illustrative delivered road transport cost class 4; reference terminal Lesedi"/>
          <p:cNvSpPr/>
          <p:nvPr/>
        </p:nvSpPr>
        <p:spPr>
          <a:xfrm>
            <a:off x="208901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8" name="Illustrative delivered road transport cost class 4; reference terminal Lesedi"/>
          <p:cNvSpPr/>
          <p:nvPr/>
        </p:nvSpPr>
        <p:spPr>
          <a:xfrm>
            <a:off x="208901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9" name="Illustrative delivered road transport cost class 4; reference terminal Lesedi"/>
          <p:cNvSpPr/>
          <p:nvPr/>
        </p:nvSpPr>
        <p:spPr>
          <a:xfrm>
            <a:off x="2089011" y="4056068"/>
            <a:ext cx="57686" cy="57687"/>
          </a:xfrm>
          <a:custGeom>
            <a:avLst/>
            <a:gdLst/>
            <a:ahLst/>
            <a:cxnLst/>
            <a:rect l="l" t="t" r="r" b="b"/>
            <a:pathLst>
              <a:path w="57686" h="57687">
                <a:moveTo>
                  <a:pt x="57686" y="57687"/>
                </a:moveTo>
                <a:lnTo>
                  <a:pt x="0" y="57687"/>
                </a:lnTo>
                <a:lnTo>
                  <a:pt x="0" y="0"/>
                </a:lnTo>
                <a:lnTo>
                  <a:pt x="38095" y="0"/>
                </a:lnTo>
                <a:lnTo>
                  <a:pt x="57686" y="9190"/>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0" name="Illustrative delivered road transport cost class 4; reference terminal Lesedi"/>
          <p:cNvSpPr/>
          <p:nvPr/>
        </p:nvSpPr>
        <p:spPr>
          <a:xfrm>
            <a:off x="2089011" y="4047514"/>
            <a:ext cx="38095" cy="8554"/>
          </a:xfrm>
          <a:custGeom>
            <a:avLst/>
            <a:gdLst/>
            <a:ahLst/>
            <a:cxnLst/>
            <a:rect l="l" t="t" r="r" b="b"/>
            <a:pathLst>
              <a:path w="38095" h="8554">
                <a:moveTo>
                  <a:pt x="0" y="8554"/>
                </a:moveTo>
                <a:lnTo>
                  <a:pt x="0" y="0"/>
                </a:lnTo>
                <a:lnTo>
                  <a:pt x="4092" y="32"/>
                </a:lnTo>
                <a:lnTo>
                  <a:pt x="34812" y="7014"/>
                </a:lnTo>
                <a:lnTo>
                  <a:pt x="38095" y="8554"/>
                </a:lnTo>
                <a:lnTo>
                  <a:pt x="0" y="855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1" name="Illustrative delivered road transport cost class 4; reference terminal Lesedi"/>
          <p:cNvSpPr/>
          <p:nvPr/>
        </p:nvSpPr>
        <p:spPr>
          <a:xfrm>
            <a:off x="2192258" y="5152113"/>
            <a:ext cx="12126" cy="17590"/>
          </a:xfrm>
          <a:custGeom>
            <a:avLst/>
            <a:gdLst/>
            <a:ahLst/>
            <a:cxnLst/>
            <a:rect l="l" t="t" r="r" b="b"/>
            <a:pathLst>
              <a:path w="12126" h="17590">
                <a:moveTo>
                  <a:pt x="12126" y="0"/>
                </a:moveTo>
                <a:lnTo>
                  <a:pt x="12126" y="17590"/>
                </a:lnTo>
                <a:lnTo>
                  <a:pt x="4095" y="11974"/>
                </a:lnTo>
                <a:lnTo>
                  <a:pt x="0" y="0"/>
                </a:lnTo>
                <a:lnTo>
                  <a:pt x="1212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2" name="Illustrative delivered road transport cost class 4; reference terminal Lesedi"/>
          <p:cNvSpPr/>
          <p:nvPr/>
        </p:nvSpPr>
        <p:spPr>
          <a:xfrm>
            <a:off x="2163229" y="5094426"/>
            <a:ext cx="41155" cy="57687"/>
          </a:xfrm>
          <a:custGeom>
            <a:avLst/>
            <a:gdLst/>
            <a:ahLst/>
            <a:cxnLst/>
            <a:rect l="l" t="t" r="r" b="b"/>
            <a:pathLst>
              <a:path w="41155" h="57687">
                <a:moveTo>
                  <a:pt x="41155" y="0"/>
                </a:moveTo>
                <a:lnTo>
                  <a:pt x="41155" y="57687"/>
                </a:lnTo>
                <a:lnTo>
                  <a:pt x="29029" y="57687"/>
                </a:lnTo>
                <a:lnTo>
                  <a:pt x="24017" y="43031"/>
                </a:lnTo>
                <a:lnTo>
                  <a:pt x="5354" y="22405"/>
                </a:lnTo>
                <a:lnTo>
                  <a:pt x="0" y="0"/>
                </a:lnTo>
                <a:lnTo>
                  <a:pt x="4115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3" name="Illustrative delivered road transport cost class 4; reference terminal Lesedi"/>
          <p:cNvSpPr/>
          <p:nvPr/>
        </p:nvSpPr>
        <p:spPr>
          <a:xfrm>
            <a:off x="2160481" y="5051030"/>
            <a:ext cx="43903" cy="43396"/>
          </a:xfrm>
          <a:custGeom>
            <a:avLst/>
            <a:gdLst/>
            <a:ahLst/>
            <a:cxnLst/>
            <a:rect l="l" t="t" r="r" b="b"/>
            <a:pathLst>
              <a:path w="43903" h="43396">
                <a:moveTo>
                  <a:pt x="43903" y="43396"/>
                </a:moveTo>
                <a:lnTo>
                  <a:pt x="2748" y="43396"/>
                </a:lnTo>
                <a:lnTo>
                  <a:pt x="0" y="31896"/>
                </a:lnTo>
                <a:lnTo>
                  <a:pt x="8243" y="11636"/>
                </a:lnTo>
                <a:lnTo>
                  <a:pt x="22628" y="0"/>
                </a:lnTo>
                <a:lnTo>
                  <a:pt x="39098" y="16063"/>
                </a:lnTo>
                <a:lnTo>
                  <a:pt x="43903" y="14057"/>
                </a:lnTo>
                <a:lnTo>
                  <a:pt x="43903" y="433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4" name="Illustrative delivered road transport cost class 4; reference terminal Lesedi"/>
          <p:cNvSpPr/>
          <p:nvPr/>
        </p:nvSpPr>
        <p:spPr>
          <a:xfrm>
            <a:off x="2184391" y="4748307"/>
            <a:ext cx="19993" cy="24875"/>
          </a:xfrm>
          <a:custGeom>
            <a:avLst/>
            <a:gdLst/>
            <a:ahLst/>
            <a:cxnLst/>
            <a:rect l="l" t="t" r="r" b="b"/>
            <a:pathLst>
              <a:path w="19993" h="24875">
                <a:moveTo>
                  <a:pt x="19993" y="0"/>
                </a:moveTo>
                <a:lnTo>
                  <a:pt x="19993" y="24875"/>
                </a:lnTo>
                <a:lnTo>
                  <a:pt x="0" y="0"/>
                </a:lnTo>
                <a:lnTo>
                  <a:pt x="1999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5" name="Illustrative delivered road transport cost class 4; reference terminal Lesedi"/>
          <p:cNvSpPr/>
          <p:nvPr/>
        </p:nvSpPr>
        <p:spPr>
          <a:xfrm>
            <a:off x="2146697" y="4690620"/>
            <a:ext cx="57687" cy="57687"/>
          </a:xfrm>
          <a:custGeom>
            <a:avLst/>
            <a:gdLst/>
            <a:ahLst/>
            <a:cxnLst/>
            <a:rect l="l" t="t" r="r" b="b"/>
            <a:pathLst>
              <a:path w="57687" h="57687">
                <a:moveTo>
                  <a:pt x="0" y="0"/>
                </a:moveTo>
                <a:lnTo>
                  <a:pt x="57687" y="0"/>
                </a:lnTo>
                <a:lnTo>
                  <a:pt x="57687" y="57687"/>
                </a:lnTo>
                <a:lnTo>
                  <a:pt x="37694" y="57687"/>
                </a:lnTo>
                <a:lnTo>
                  <a:pt x="8976" y="21957"/>
                </a:lnTo>
                <a:lnTo>
                  <a:pt x="0" y="92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6" name="Illustrative delivered road transport cost class 4; reference terminal Lesedi"/>
          <p:cNvSpPr/>
          <p:nvPr/>
        </p:nvSpPr>
        <p:spPr>
          <a:xfrm>
            <a:off x="214669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7" name="Illustrative delivered road transport cost class 4; reference terminal Lesedi"/>
          <p:cNvSpPr/>
          <p:nvPr/>
        </p:nvSpPr>
        <p:spPr>
          <a:xfrm>
            <a:off x="214669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8" name="Illustrative delivered road transport cost class 4; reference terminal Lesedi"/>
          <p:cNvSpPr/>
          <p:nvPr/>
        </p:nvSpPr>
        <p:spPr>
          <a:xfrm>
            <a:off x="214669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9" name="Illustrative delivered road transport cost class 4; reference terminal Lesedi"/>
          <p:cNvSpPr/>
          <p:nvPr/>
        </p:nvSpPr>
        <p:spPr>
          <a:xfrm>
            <a:off x="214669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0" name="Illustrative delivered road transport cost class 4; reference terminal Lesedi"/>
          <p:cNvSpPr/>
          <p:nvPr/>
        </p:nvSpPr>
        <p:spPr>
          <a:xfrm>
            <a:off x="214669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1" name="Illustrative delivered road transport cost class 4; reference terminal Lesedi"/>
          <p:cNvSpPr/>
          <p:nvPr/>
        </p:nvSpPr>
        <p:spPr>
          <a:xfrm>
            <a:off x="214669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2" name="Illustrative delivered road transport cost class 4; reference terminal Lesedi"/>
          <p:cNvSpPr/>
          <p:nvPr/>
        </p:nvSpPr>
        <p:spPr>
          <a:xfrm>
            <a:off x="214669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3" name="Illustrative delivered road transport cost class 4; reference terminal Lesedi"/>
          <p:cNvSpPr/>
          <p:nvPr/>
        </p:nvSpPr>
        <p:spPr>
          <a:xfrm>
            <a:off x="214669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4" name="Illustrative delivered road transport cost class 4; reference terminal Lesedi"/>
          <p:cNvSpPr/>
          <p:nvPr/>
        </p:nvSpPr>
        <p:spPr>
          <a:xfrm>
            <a:off x="214669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5" name="Illustrative delivered road transport cost class 4; reference terminal Lesedi"/>
          <p:cNvSpPr/>
          <p:nvPr/>
        </p:nvSpPr>
        <p:spPr>
          <a:xfrm>
            <a:off x="214669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6" name="Illustrative delivered road transport cost class 4; reference terminal Lesedi"/>
          <p:cNvSpPr/>
          <p:nvPr/>
        </p:nvSpPr>
        <p:spPr>
          <a:xfrm>
            <a:off x="2146697" y="4065258"/>
            <a:ext cx="57687" cy="48497"/>
          </a:xfrm>
          <a:custGeom>
            <a:avLst/>
            <a:gdLst/>
            <a:ahLst/>
            <a:cxnLst/>
            <a:rect l="l" t="t" r="r" b="b"/>
            <a:pathLst>
              <a:path w="57687" h="48497">
                <a:moveTo>
                  <a:pt x="57687" y="48497"/>
                </a:moveTo>
                <a:lnTo>
                  <a:pt x="0" y="48497"/>
                </a:lnTo>
                <a:lnTo>
                  <a:pt x="0" y="0"/>
                </a:lnTo>
                <a:lnTo>
                  <a:pt x="6462" y="3031"/>
                </a:lnTo>
                <a:lnTo>
                  <a:pt x="53380" y="4073"/>
                </a:lnTo>
                <a:lnTo>
                  <a:pt x="57687" y="3306"/>
                </a:lnTo>
                <a:lnTo>
                  <a:pt x="57687" y="4849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7" name="Illustrative delivered road transport cost class 4; reference terminal Lesedi"/>
          <p:cNvSpPr/>
          <p:nvPr/>
        </p:nvSpPr>
        <p:spPr>
          <a:xfrm>
            <a:off x="2232266" y="5209799"/>
            <a:ext cx="29804" cy="26922"/>
          </a:xfrm>
          <a:custGeom>
            <a:avLst/>
            <a:gdLst/>
            <a:ahLst/>
            <a:cxnLst/>
            <a:rect l="l" t="t" r="r" b="b"/>
            <a:pathLst>
              <a:path w="29804" h="26922">
                <a:moveTo>
                  <a:pt x="29804" y="0"/>
                </a:moveTo>
                <a:lnTo>
                  <a:pt x="29804" y="26922"/>
                </a:lnTo>
                <a:lnTo>
                  <a:pt x="26094" y="19665"/>
                </a:lnTo>
                <a:lnTo>
                  <a:pt x="2611" y="4925"/>
                </a:lnTo>
                <a:lnTo>
                  <a:pt x="0" y="0"/>
                </a:lnTo>
                <a:lnTo>
                  <a:pt x="2980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8" name="Illustrative delivered road transport cost class 4; reference terminal Lesedi"/>
          <p:cNvSpPr/>
          <p:nvPr/>
        </p:nvSpPr>
        <p:spPr>
          <a:xfrm>
            <a:off x="2204384" y="5152113"/>
            <a:ext cx="57686" cy="57686"/>
          </a:xfrm>
          <a:custGeom>
            <a:avLst/>
            <a:gdLst/>
            <a:ahLst/>
            <a:cxnLst/>
            <a:rect l="l" t="t" r="r" b="b"/>
            <a:pathLst>
              <a:path w="57686" h="57686">
                <a:moveTo>
                  <a:pt x="0" y="0"/>
                </a:moveTo>
                <a:lnTo>
                  <a:pt x="57686" y="0"/>
                </a:lnTo>
                <a:lnTo>
                  <a:pt x="57686" y="57686"/>
                </a:lnTo>
                <a:lnTo>
                  <a:pt x="27882" y="57686"/>
                </a:lnTo>
                <a:lnTo>
                  <a:pt x="10528" y="24952"/>
                </a:lnTo>
                <a:lnTo>
                  <a:pt x="0" y="1759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9" name="Illustrative delivered road transport cost class 4; reference terminal Lesedi"/>
          <p:cNvSpPr/>
          <p:nvPr/>
        </p:nvSpPr>
        <p:spPr>
          <a:xfrm>
            <a:off x="220438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0" name="Illustrative delivered road transport cost class 4; reference terminal Lesedi"/>
          <p:cNvSpPr/>
          <p:nvPr/>
        </p:nvSpPr>
        <p:spPr>
          <a:xfrm>
            <a:off x="2204384" y="5036740"/>
            <a:ext cx="57686" cy="57686"/>
          </a:xfrm>
          <a:custGeom>
            <a:avLst/>
            <a:gdLst/>
            <a:ahLst/>
            <a:cxnLst/>
            <a:rect l="l" t="t" r="r" b="b"/>
            <a:pathLst>
              <a:path w="57686" h="57686">
                <a:moveTo>
                  <a:pt x="57686" y="0"/>
                </a:moveTo>
                <a:lnTo>
                  <a:pt x="57686" y="57686"/>
                </a:lnTo>
                <a:lnTo>
                  <a:pt x="0" y="57686"/>
                </a:lnTo>
                <a:lnTo>
                  <a:pt x="0" y="28347"/>
                </a:lnTo>
                <a:lnTo>
                  <a:pt x="13851" y="22565"/>
                </a:lnTo>
                <a:lnTo>
                  <a:pt x="35747"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1" name="Illustrative delivered road transport cost class 4; reference terminal Lesedi"/>
          <p:cNvSpPr/>
          <p:nvPr/>
        </p:nvSpPr>
        <p:spPr>
          <a:xfrm>
            <a:off x="2240131" y="4979053"/>
            <a:ext cx="21939" cy="57687"/>
          </a:xfrm>
          <a:custGeom>
            <a:avLst/>
            <a:gdLst/>
            <a:ahLst/>
            <a:cxnLst/>
            <a:rect l="l" t="t" r="r" b="b"/>
            <a:pathLst>
              <a:path w="21939" h="57687">
                <a:moveTo>
                  <a:pt x="21939" y="0"/>
                </a:moveTo>
                <a:lnTo>
                  <a:pt x="21939" y="57687"/>
                </a:lnTo>
                <a:lnTo>
                  <a:pt x="0" y="57687"/>
                </a:lnTo>
                <a:lnTo>
                  <a:pt x="3718" y="53856"/>
                </a:lnTo>
                <a:lnTo>
                  <a:pt x="17484" y="15299"/>
                </a:lnTo>
                <a:lnTo>
                  <a:pt x="16805" y="0"/>
                </a:lnTo>
                <a:lnTo>
                  <a:pt x="2193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2" name="Illustrative delivered road transport cost class 4; reference terminal Lesedi"/>
          <p:cNvSpPr/>
          <p:nvPr/>
        </p:nvSpPr>
        <p:spPr>
          <a:xfrm>
            <a:off x="2252747" y="4921367"/>
            <a:ext cx="9323" cy="57686"/>
          </a:xfrm>
          <a:custGeom>
            <a:avLst/>
            <a:gdLst/>
            <a:ahLst/>
            <a:cxnLst/>
            <a:rect l="l" t="t" r="r" b="b"/>
            <a:pathLst>
              <a:path w="9323" h="57686">
                <a:moveTo>
                  <a:pt x="9323" y="0"/>
                </a:moveTo>
                <a:lnTo>
                  <a:pt x="9323" y="57686"/>
                </a:lnTo>
                <a:lnTo>
                  <a:pt x="4189" y="57686"/>
                </a:lnTo>
                <a:lnTo>
                  <a:pt x="2195" y="12740"/>
                </a:lnTo>
                <a:lnTo>
                  <a:pt x="0" y="0"/>
                </a:lnTo>
                <a:lnTo>
                  <a:pt x="93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3" name="Illustrative delivered road transport cost class 4; reference terminal Lesedi"/>
          <p:cNvSpPr/>
          <p:nvPr/>
        </p:nvSpPr>
        <p:spPr>
          <a:xfrm>
            <a:off x="2238964" y="4863680"/>
            <a:ext cx="23106" cy="57687"/>
          </a:xfrm>
          <a:custGeom>
            <a:avLst/>
            <a:gdLst/>
            <a:ahLst/>
            <a:cxnLst/>
            <a:rect l="l" t="t" r="r" b="b"/>
            <a:pathLst>
              <a:path w="23106" h="57687">
                <a:moveTo>
                  <a:pt x="23106" y="0"/>
                </a:moveTo>
                <a:lnTo>
                  <a:pt x="23106" y="57687"/>
                </a:lnTo>
                <a:lnTo>
                  <a:pt x="13783" y="57687"/>
                </a:lnTo>
                <a:lnTo>
                  <a:pt x="9541" y="33071"/>
                </a:lnTo>
                <a:lnTo>
                  <a:pt x="0" y="0"/>
                </a:lnTo>
                <a:lnTo>
                  <a:pt x="2310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4" name="Illustrative delivered road transport cost class 4; reference terminal Lesedi"/>
          <p:cNvSpPr/>
          <p:nvPr/>
        </p:nvSpPr>
        <p:spPr>
          <a:xfrm>
            <a:off x="2222323" y="4805994"/>
            <a:ext cx="39747" cy="57686"/>
          </a:xfrm>
          <a:custGeom>
            <a:avLst/>
            <a:gdLst/>
            <a:ahLst/>
            <a:cxnLst/>
            <a:rect l="l" t="t" r="r" b="b"/>
            <a:pathLst>
              <a:path w="39747" h="57686">
                <a:moveTo>
                  <a:pt x="39747" y="0"/>
                </a:moveTo>
                <a:lnTo>
                  <a:pt x="39747" y="57686"/>
                </a:lnTo>
                <a:lnTo>
                  <a:pt x="16641" y="57686"/>
                </a:lnTo>
                <a:lnTo>
                  <a:pt x="0" y="0"/>
                </a:lnTo>
                <a:lnTo>
                  <a:pt x="3974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5" name="Illustrative delivered road transport cost class 4; reference terminal Lesedi"/>
          <p:cNvSpPr/>
          <p:nvPr/>
        </p:nvSpPr>
        <p:spPr>
          <a:xfrm>
            <a:off x="2204384" y="4748307"/>
            <a:ext cx="57686" cy="57687"/>
          </a:xfrm>
          <a:custGeom>
            <a:avLst/>
            <a:gdLst/>
            <a:ahLst/>
            <a:cxnLst/>
            <a:rect l="l" t="t" r="r" b="b"/>
            <a:pathLst>
              <a:path w="57686" h="57687">
                <a:moveTo>
                  <a:pt x="0" y="0"/>
                </a:moveTo>
                <a:lnTo>
                  <a:pt x="57686" y="0"/>
                </a:lnTo>
                <a:lnTo>
                  <a:pt x="57686" y="57687"/>
                </a:lnTo>
                <a:lnTo>
                  <a:pt x="17939" y="57687"/>
                </a:lnTo>
                <a:lnTo>
                  <a:pt x="16463" y="52570"/>
                </a:lnTo>
                <a:lnTo>
                  <a:pt x="4806" y="30855"/>
                </a:lnTo>
                <a:lnTo>
                  <a:pt x="0" y="2487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6" name="Illustrative delivered road transport cost class 4; reference terminal Lesedi"/>
          <p:cNvSpPr/>
          <p:nvPr/>
        </p:nvSpPr>
        <p:spPr>
          <a:xfrm>
            <a:off x="220438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7" name="Illustrative delivered road transport cost class 4; reference terminal Lesedi"/>
          <p:cNvSpPr/>
          <p:nvPr/>
        </p:nvSpPr>
        <p:spPr>
          <a:xfrm>
            <a:off x="220438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8" name="Illustrative delivered road transport cost class 4; reference terminal Lesedi"/>
          <p:cNvSpPr/>
          <p:nvPr/>
        </p:nvSpPr>
        <p:spPr>
          <a:xfrm>
            <a:off x="220438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9" name="Illustrative delivered road transport cost class 4; reference terminal Lesedi"/>
          <p:cNvSpPr/>
          <p:nvPr/>
        </p:nvSpPr>
        <p:spPr>
          <a:xfrm>
            <a:off x="220438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0" name="Illustrative delivered road transport cost class 4; reference terminal Lesedi"/>
          <p:cNvSpPr/>
          <p:nvPr/>
        </p:nvSpPr>
        <p:spPr>
          <a:xfrm>
            <a:off x="220438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1" name="Illustrative delivered road transport cost class 4; reference terminal Lesedi"/>
          <p:cNvSpPr/>
          <p:nvPr/>
        </p:nvSpPr>
        <p:spPr>
          <a:xfrm>
            <a:off x="220438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2" name="Illustrative delivered road transport cost class 4; reference terminal Lesedi"/>
          <p:cNvSpPr/>
          <p:nvPr/>
        </p:nvSpPr>
        <p:spPr>
          <a:xfrm>
            <a:off x="220438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3" name="Illustrative delivered road transport cost class 4; reference terminal Lesedi"/>
          <p:cNvSpPr/>
          <p:nvPr/>
        </p:nvSpPr>
        <p:spPr>
          <a:xfrm>
            <a:off x="220438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4" name="Illustrative delivered road transport cost class 4; reference terminal Lesedi"/>
          <p:cNvSpPr/>
          <p:nvPr/>
        </p:nvSpPr>
        <p:spPr>
          <a:xfrm>
            <a:off x="220438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5" name="Illustrative delivered road transport cost class 4; reference terminal Lesedi"/>
          <p:cNvSpPr/>
          <p:nvPr/>
        </p:nvSpPr>
        <p:spPr>
          <a:xfrm>
            <a:off x="220438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6" name="Illustrative delivered road transport cost class 4; reference terminal Lesedi"/>
          <p:cNvSpPr/>
          <p:nvPr/>
        </p:nvSpPr>
        <p:spPr>
          <a:xfrm>
            <a:off x="220438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7" name="Illustrative delivered road transport cost class 4; reference terminal Lesedi"/>
          <p:cNvSpPr/>
          <p:nvPr/>
        </p:nvSpPr>
        <p:spPr>
          <a:xfrm>
            <a:off x="2204384" y="4058286"/>
            <a:ext cx="57686" cy="55469"/>
          </a:xfrm>
          <a:custGeom>
            <a:avLst/>
            <a:gdLst/>
            <a:ahLst/>
            <a:cxnLst/>
            <a:rect l="l" t="t" r="r" b="b"/>
            <a:pathLst>
              <a:path w="57686" h="55469">
                <a:moveTo>
                  <a:pt x="57686" y="55469"/>
                </a:moveTo>
                <a:lnTo>
                  <a:pt x="0" y="55469"/>
                </a:lnTo>
                <a:lnTo>
                  <a:pt x="0" y="10278"/>
                </a:lnTo>
                <a:lnTo>
                  <a:pt x="57686" y="0"/>
                </a:lnTo>
                <a:lnTo>
                  <a:pt x="57686" y="55469"/>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8" name="Illustrative delivered road transport cost class 4; reference terminal Lesedi"/>
          <p:cNvSpPr/>
          <p:nvPr/>
        </p:nvSpPr>
        <p:spPr>
          <a:xfrm>
            <a:off x="2298674" y="5440546"/>
            <a:ext cx="17176" cy="22856"/>
          </a:xfrm>
          <a:custGeom>
            <a:avLst/>
            <a:gdLst/>
            <a:ahLst/>
            <a:cxnLst/>
            <a:rect l="l" t="t" r="r" b="b"/>
            <a:pathLst>
              <a:path w="17176" h="22856">
                <a:moveTo>
                  <a:pt x="15808" y="0"/>
                </a:moveTo>
                <a:lnTo>
                  <a:pt x="17176" y="22856"/>
                </a:lnTo>
                <a:lnTo>
                  <a:pt x="5490" y="10384"/>
                </a:lnTo>
                <a:lnTo>
                  <a:pt x="0" y="0"/>
                </a:lnTo>
                <a:lnTo>
                  <a:pt x="1580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9" name="Illustrative delivered road transport cost class 4; reference terminal Lesedi"/>
          <p:cNvSpPr/>
          <p:nvPr/>
        </p:nvSpPr>
        <p:spPr>
          <a:xfrm>
            <a:off x="2284267" y="5382859"/>
            <a:ext cx="35490" cy="57687"/>
          </a:xfrm>
          <a:custGeom>
            <a:avLst/>
            <a:gdLst/>
            <a:ahLst/>
            <a:cxnLst/>
            <a:rect l="l" t="t" r="r" b="b"/>
            <a:pathLst>
              <a:path w="35490" h="57687">
                <a:moveTo>
                  <a:pt x="35490" y="0"/>
                </a:moveTo>
                <a:lnTo>
                  <a:pt x="35490" y="20566"/>
                </a:lnTo>
                <a:lnTo>
                  <a:pt x="28847" y="34848"/>
                </a:lnTo>
                <a:lnTo>
                  <a:pt x="30215" y="57687"/>
                </a:lnTo>
                <a:lnTo>
                  <a:pt x="14407" y="57687"/>
                </a:lnTo>
                <a:lnTo>
                  <a:pt x="5806" y="41418"/>
                </a:lnTo>
                <a:lnTo>
                  <a:pt x="0" y="12455"/>
                </a:lnTo>
                <a:lnTo>
                  <a:pt x="821" y="0"/>
                </a:lnTo>
                <a:lnTo>
                  <a:pt x="354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Illustrative delivered road transport cost class 4; reference terminal Lesedi"/>
          <p:cNvSpPr/>
          <p:nvPr/>
        </p:nvSpPr>
        <p:spPr>
          <a:xfrm>
            <a:off x="2285088" y="5325173"/>
            <a:ext cx="34669" cy="57686"/>
          </a:xfrm>
          <a:custGeom>
            <a:avLst/>
            <a:gdLst/>
            <a:ahLst/>
            <a:cxnLst/>
            <a:rect l="l" t="t" r="r" b="b"/>
            <a:pathLst>
              <a:path w="34669" h="57686">
                <a:moveTo>
                  <a:pt x="34669" y="0"/>
                </a:moveTo>
                <a:lnTo>
                  <a:pt x="34669" y="57686"/>
                </a:lnTo>
                <a:lnTo>
                  <a:pt x="0" y="57686"/>
                </a:lnTo>
                <a:lnTo>
                  <a:pt x="1472" y="35343"/>
                </a:lnTo>
                <a:lnTo>
                  <a:pt x="24220" y="20879"/>
                </a:lnTo>
                <a:lnTo>
                  <a:pt x="21281" y="0"/>
                </a:lnTo>
                <a:lnTo>
                  <a:pt x="3466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Illustrative delivered road transport cost class 4; reference terminal Lesedi"/>
          <p:cNvSpPr/>
          <p:nvPr/>
        </p:nvSpPr>
        <p:spPr>
          <a:xfrm>
            <a:off x="2278956" y="5267486"/>
            <a:ext cx="40801" cy="57687"/>
          </a:xfrm>
          <a:custGeom>
            <a:avLst/>
            <a:gdLst/>
            <a:ahLst/>
            <a:cxnLst/>
            <a:rect l="l" t="t" r="r" b="b"/>
            <a:pathLst>
              <a:path w="40801" h="57687">
                <a:moveTo>
                  <a:pt x="40801" y="0"/>
                </a:moveTo>
                <a:lnTo>
                  <a:pt x="40801" y="57687"/>
                </a:lnTo>
                <a:lnTo>
                  <a:pt x="27413" y="57687"/>
                </a:lnTo>
                <a:lnTo>
                  <a:pt x="27083" y="55337"/>
                </a:lnTo>
                <a:lnTo>
                  <a:pt x="20834" y="35385"/>
                </a:lnTo>
                <a:lnTo>
                  <a:pt x="0" y="0"/>
                </a:lnTo>
                <a:lnTo>
                  <a:pt x="40801"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Illustrative delivered road transport cost class 4; reference terminal Lesedi"/>
          <p:cNvSpPr/>
          <p:nvPr/>
        </p:nvSpPr>
        <p:spPr>
          <a:xfrm>
            <a:off x="2262070" y="5209799"/>
            <a:ext cx="57687" cy="57687"/>
          </a:xfrm>
          <a:custGeom>
            <a:avLst/>
            <a:gdLst/>
            <a:ahLst/>
            <a:cxnLst/>
            <a:rect l="l" t="t" r="r" b="b"/>
            <a:pathLst>
              <a:path w="57687" h="57687">
                <a:moveTo>
                  <a:pt x="0" y="0"/>
                </a:moveTo>
                <a:lnTo>
                  <a:pt x="57687" y="0"/>
                </a:lnTo>
                <a:lnTo>
                  <a:pt x="57687" y="57687"/>
                </a:lnTo>
                <a:lnTo>
                  <a:pt x="16886" y="57687"/>
                </a:lnTo>
                <a:lnTo>
                  <a:pt x="8102" y="42768"/>
                </a:lnTo>
                <a:lnTo>
                  <a:pt x="0" y="2692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Illustrative delivered road transport cost class 4; reference terminal Lesedi"/>
          <p:cNvSpPr/>
          <p:nvPr/>
        </p:nvSpPr>
        <p:spPr>
          <a:xfrm>
            <a:off x="226207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Illustrative delivered road transport cost class 4; reference terminal Lesedi"/>
          <p:cNvSpPr/>
          <p:nvPr/>
        </p:nvSpPr>
        <p:spPr>
          <a:xfrm>
            <a:off x="226207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Illustrative delivered road transport cost class 4; reference terminal Lesedi"/>
          <p:cNvSpPr/>
          <p:nvPr/>
        </p:nvSpPr>
        <p:spPr>
          <a:xfrm>
            <a:off x="226207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Illustrative delivered road transport cost class 4; reference terminal Lesedi"/>
          <p:cNvSpPr/>
          <p:nvPr/>
        </p:nvSpPr>
        <p:spPr>
          <a:xfrm>
            <a:off x="226207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Illustrative delivered road transport cost class 4; reference terminal Lesedi"/>
          <p:cNvSpPr/>
          <p:nvPr/>
        </p:nvSpPr>
        <p:spPr>
          <a:xfrm>
            <a:off x="226207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Illustrative delivered road transport cost class 4; reference terminal Lesedi"/>
          <p:cNvSpPr/>
          <p:nvPr/>
        </p:nvSpPr>
        <p:spPr>
          <a:xfrm>
            <a:off x="226207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Illustrative delivered road transport cost class 4; reference terminal Lesedi"/>
          <p:cNvSpPr/>
          <p:nvPr/>
        </p:nvSpPr>
        <p:spPr>
          <a:xfrm>
            <a:off x="226207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Illustrative delivered road transport cost class 4; reference terminal Lesedi"/>
          <p:cNvSpPr/>
          <p:nvPr/>
        </p:nvSpPr>
        <p:spPr>
          <a:xfrm>
            <a:off x="226207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Illustrative delivered road transport cost class 4; reference terminal Lesedi"/>
          <p:cNvSpPr/>
          <p:nvPr/>
        </p:nvSpPr>
        <p:spPr>
          <a:xfrm>
            <a:off x="226207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Illustrative delivered road transport cost class 4; reference terminal Lesedi"/>
          <p:cNvSpPr/>
          <p:nvPr/>
        </p:nvSpPr>
        <p:spPr>
          <a:xfrm>
            <a:off x="226207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Illustrative delivered road transport cost class 4; reference terminal Lesedi"/>
          <p:cNvSpPr/>
          <p:nvPr/>
        </p:nvSpPr>
        <p:spPr>
          <a:xfrm>
            <a:off x="226207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Illustrative delivered road transport cost class 4; reference terminal Lesedi"/>
          <p:cNvSpPr/>
          <p:nvPr/>
        </p:nvSpPr>
        <p:spPr>
          <a:xfrm>
            <a:off x="226207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Illustrative delivered road transport cost class 4; reference terminal Lesedi"/>
          <p:cNvSpPr/>
          <p:nvPr/>
        </p:nvSpPr>
        <p:spPr>
          <a:xfrm>
            <a:off x="226207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6" name="Illustrative delivered road transport cost class 4; reference terminal Lesedi"/>
          <p:cNvSpPr/>
          <p:nvPr/>
        </p:nvSpPr>
        <p:spPr>
          <a:xfrm>
            <a:off x="226207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7" name="Illustrative delivered road transport cost class 4; reference terminal Lesedi"/>
          <p:cNvSpPr/>
          <p:nvPr/>
        </p:nvSpPr>
        <p:spPr>
          <a:xfrm>
            <a:off x="226207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8" name="Illustrative delivered road transport cost class 4; reference terminal Lesedi"/>
          <p:cNvSpPr/>
          <p:nvPr/>
        </p:nvSpPr>
        <p:spPr>
          <a:xfrm>
            <a:off x="226207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Illustrative delivered road transport cost class 4; reference terminal Lesedi"/>
          <p:cNvSpPr/>
          <p:nvPr/>
        </p:nvSpPr>
        <p:spPr>
          <a:xfrm>
            <a:off x="226207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0" name="Illustrative delivered road transport cost class 4; reference terminal Lesedi"/>
          <p:cNvSpPr/>
          <p:nvPr/>
        </p:nvSpPr>
        <p:spPr>
          <a:xfrm>
            <a:off x="226207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Illustrative delivered road transport cost class 4; reference terminal Lesedi"/>
          <p:cNvSpPr/>
          <p:nvPr/>
        </p:nvSpPr>
        <p:spPr>
          <a:xfrm>
            <a:off x="226207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2" name="Illustrative delivered road transport cost class 4; reference terminal Lesedi"/>
          <p:cNvSpPr/>
          <p:nvPr/>
        </p:nvSpPr>
        <p:spPr>
          <a:xfrm>
            <a:off x="2262070" y="4057828"/>
            <a:ext cx="57687" cy="55927"/>
          </a:xfrm>
          <a:custGeom>
            <a:avLst/>
            <a:gdLst/>
            <a:ahLst/>
            <a:cxnLst/>
            <a:rect l="l" t="t" r="r" b="b"/>
            <a:pathLst>
              <a:path w="57687" h="55927">
                <a:moveTo>
                  <a:pt x="57687" y="55927"/>
                </a:moveTo>
                <a:lnTo>
                  <a:pt x="0" y="55927"/>
                </a:lnTo>
                <a:lnTo>
                  <a:pt x="0" y="458"/>
                </a:lnTo>
                <a:lnTo>
                  <a:pt x="2572" y="0"/>
                </a:lnTo>
                <a:lnTo>
                  <a:pt x="56290" y="711"/>
                </a:lnTo>
                <a:lnTo>
                  <a:pt x="57687" y="1131"/>
                </a:lnTo>
                <a:lnTo>
                  <a:pt x="57687" y="559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Illustrative delivered road transport cost class 4; reference terminal Lesedi"/>
          <p:cNvSpPr/>
          <p:nvPr/>
        </p:nvSpPr>
        <p:spPr>
          <a:xfrm>
            <a:off x="2319757" y="5382859"/>
            <a:ext cx="57687" cy="20566"/>
          </a:xfrm>
          <a:custGeom>
            <a:avLst/>
            <a:gdLst/>
            <a:ahLst/>
            <a:cxnLst/>
            <a:rect l="l" t="t" r="r" b="b"/>
            <a:pathLst>
              <a:path w="57687" h="20566">
                <a:moveTo>
                  <a:pt x="0" y="0"/>
                </a:moveTo>
                <a:lnTo>
                  <a:pt x="57687" y="0"/>
                </a:lnTo>
                <a:lnTo>
                  <a:pt x="57687" y="11455"/>
                </a:lnTo>
                <a:lnTo>
                  <a:pt x="53664" y="9552"/>
                </a:lnTo>
                <a:lnTo>
                  <a:pt x="44260" y="7315"/>
                </a:lnTo>
                <a:lnTo>
                  <a:pt x="22335" y="9939"/>
                </a:lnTo>
                <a:lnTo>
                  <a:pt x="7314" y="12991"/>
                </a:lnTo>
                <a:lnTo>
                  <a:pt x="561" y="19360"/>
                </a:lnTo>
                <a:lnTo>
                  <a:pt x="0" y="2056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4" name="Illustrative delivered road transport cost class 4; reference terminal Lesedi"/>
          <p:cNvSpPr/>
          <p:nvPr/>
        </p:nvSpPr>
        <p:spPr>
          <a:xfrm>
            <a:off x="2319757"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5" name="Illustrative delivered road transport cost class 4; reference terminal Lesedi"/>
          <p:cNvSpPr/>
          <p:nvPr/>
        </p:nvSpPr>
        <p:spPr>
          <a:xfrm>
            <a:off x="2319757"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6" name="Illustrative delivered road transport cost class 4; reference terminal Lesedi"/>
          <p:cNvSpPr/>
          <p:nvPr/>
        </p:nvSpPr>
        <p:spPr>
          <a:xfrm>
            <a:off x="2319757"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Illustrative delivered road transport cost class 4; reference terminal Lesedi"/>
          <p:cNvSpPr/>
          <p:nvPr/>
        </p:nvSpPr>
        <p:spPr>
          <a:xfrm>
            <a:off x="231975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8" name="Illustrative delivered road transport cost class 4; reference terminal Lesedi"/>
          <p:cNvSpPr/>
          <p:nvPr/>
        </p:nvSpPr>
        <p:spPr>
          <a:xfrm>
            <a:off x="231975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Illustrative delivered road transport cost class 4; reference terminal Lesedi"/>
          <p:cNvSpPr/>
          <p:nvPr/>
        </p:nvSpPr>
        <p:spPr>
          <a:xfrm>
            <a:off x="231975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0" name="Illustrative delivered road transport cost class 4; reference terminal Lesedi"/>
          <p:cNvSpPr/>
          <p:nvPr/>
        </p:nvSpPr>
        <p:spPr>
          <a:xfrm>
            <a:off x="231975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Illustrative delivered road transport cost class 4; reference terminal Lesedi"/>
          <p:cNvSpPr/>
          <p:nvPr/>
        </p:nvSpPr>
        <p:spPr>
          <a:xfrm>
            <a:off x="231975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2" name="Illustrative delivered road transport cost class 4; reference terminal Lesedi"/>
          <p:cNvSpPr/>
          <p:nvPr/>
        </p:nvSpPr>
        <p:spPr>
          <a:xfrm>
            <a:off x="231975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Illustrative delivered road transport cost class 4; reference terminal Lesedi"/>
          <p:cNvSpPr/>
          <p:nvPr/>
        </p:nvSpPr>
        <p:spPr>
          <a:xfrm>
            <a:off x="231975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4" name="Illustrative delivered road transport cost class 4; reference terminal Lesedi"/>
          <p:cNvSpPr/>
          <p:nvPr/>
        </p:nvSpPr>
        <p:spPr>
          <a:xfrm>
            <a:off x="231975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Illustrative delivered road transport cost class 4; reference terminal Lesedi"/>
          <p:cNvSpPr/>
          <p:nvPr/>
        </p:nvSpPr>
        <p:spPr>
          <a:xfrm>
            <a:off x="231975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6" name="Illustrative delivered road transport cost class 4; reference terminal Lesedi"/>
          <p:cNvSpPr/>
          <p:nvPr/>
        </p:nvSpPr>
        <p:spPr>
          <a:xfrm>
            <a:off x="231975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7" name="Illustrative delivered road transport cost class 4; reference terminal Lesedi"/>
          <p:cNvSpPr/>
          <p:nvPr/>
        </p:nvSpPr>
        <p:spPr>
          <a:xfrm>
            <a:off x="231975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Illustrative delivered road transport cost class 4; reference terminal Lesedi"/>
          <p:cNvSpPr/>
          <p:nvPr/>
        </p:nvSpPr>
        <p:spPr>
          <a:xfrm>
            <a:off x="231975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9" name="Illustrative delivered road transport cost class 4; reference terminal Lesedi"/>
          <p:cNvSpPr/>
          <p:nvPr/>
        </p:nvSpPr>
        <p:spPr>
          <a:xfrm>
            <a:off x="231975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Illustrative delivered road transport cost class 4; reference terminal Lesedi"/>
          <p:cNvSpPr/>
          <p:nvPr/>
        </p:nvSpPr>
        <p:spPr>
          <a:xfrm>
            <a:off x="231975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1" name="Illustrative delivered road transport cost class 4; reference terminal Lesedi"/>
          <p:cNvSpPr/>
          <p:nvPr/>
        </p:nvSpPr>
        <p:spPr>
          <a:xfrm>
            <a:off x="231975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Illustrative delivered road transport cost class 4; reference terminal Lesedi"/>
          <p:cNvSpPr/>
          <p:nvPr/>
        </p:nvSpPr>
        <p:spPr>
          <a:xfrm>
            <a:off x="231975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3" name="Illustrative delivered road transport cost class 4; reference terminal Lesedi"/>
          <p:cNvSpPr/>
          <p:nvPr/>
        </p:nvSpPr>
        <p:spPr>
          <a:xfrm>
            <a:off x="231975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4" name="Illustrative delivered road transport cost class 4; reference terminal Lesedi"/>
          <p:cNvSpPr/>
          <p:nvPr/>
        </p:nvSpPr>
        <p:spPr>
          <a:xfrm>
            <a:off x="231975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Illustrative delivered road transport cost class 4; reference terminal Lesedi"/>
          <p:cNvSpPr/>
          <p:nvPr/>
        </p:nvSpPr>
        <p:spPr>
          <a:xfrm>
            <a:off x="231975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Illustrative delivered road transport cost class 4; reference terminal Lesedi"/>
          <p:cNvSpPr/>
          <p:nvPr/>
        </p:nvSpPr>
        <p:spPr>
          <a:xfrm>
            <a:off x="2319757" y="4058959"/>
            <a:ext cx="57687" cy="54796"/>
          </a:xfrm>
          <a:custGeom>
            <a:avLst/>
            <a:gdLst/>
            <a:ahLst/>
            <a:cxnLst/>
            <a:rect l="l" t="t" r="r" b="b"/>
            <a:pathLst>
              <a:path w="57687" h="54796">
                <a:moveTo>
                  <a:pt x="57687" y="54796"/>
                </a:moveTo>
                <a:lnTo>
                  <a:pt x="0" y="54796"/>
                </a:lnTo>
                <a:lnTo>
                  <a:pt x="0" y="0"/>
                </a:lnTo>
                <a:lnTo>
                  <a:pt x="41425" y="12459"/>
                </a:lnTo>
                <a:lnTo>
                  <a:pt x="57687" y="13126"/>
                </a:lnTo>
                <a:lnTo>
                  <a:pt x="57687" y="547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Illustrative delivered road transport cost class 4; reference terminal Lesedi"/>
          <p:cNvSpPr/>
          <p:nvPr/>
        </p:nvSpPr>
        <p:spPr>
          <a:xfrm>
            <a:off x="2392135" y="5440546"/>
            <a:ext cx="42995" cy="22866"/>
          </a:xfrm>
          <a:custGeom>
            <a:avLst/>
            <a:gdLst/>
            <a:ahLst/>
            <a:cxnLst/>
            <a:rect l="l" t="t" r="r" b="b"/>
            <a:pathLst>
              <a:path w="42995" h="22866">
                <a:moveTo>
                  <a:pt x="42995" y="0"/>
                </a:moveTo>
                <a:lnTo>
                  <a:pt x="42995" y="16296"/>
                </a:lnTo>
                <a:lnTo>
                  <a:pt x="27646" y="16299"/>
                </a:lnTo>
                <a:lnTo>
                  <a:pt x="17172" y="21189"/>
                </a:lnTo>
                <a:lnTo>
                  <a:pt x="2340" y="22866"/>
                </a:lnTo>
                <a:lnTo>
                  <a:pt x="0" y="5670"/>
                </a:lnTo>
                <a:lnTo>
                  <a:pt x="281" y="0"/>
                </a:lnTo>
                <a:lnTo>
                  <a:pt x="4299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Illustrative delivered road transport cost class 4; reference terminal Lesedi"/>
          <p:cNvSpPr/>
          <p:nvPr/>
        </p:nvSpPr>
        <p:spPr>
          <a:xfrm>
            <a:off x="2377444" y="5382859"/>
            <a:ext cx="57686" cy="57687"/>
          </a:xfrm>
          <a:custGeom>
            <a:avLst/>
            <a:gdLst/>
            <a:ahLst/>
            <a:cxnLst/>
            <a:rect l="l" t="t" r="r" b="b"/>
            <a:pathLst>
              <a:path w="57686" h="57687">
                <a:moveTo>
                  <a:pt x="0" y="0"/>
                </a:moveTo>
                <a:lnTo>
                  <a:pt x="57686" y="0"/>
                </a:lnTo>
                <a:lnTo>
                  <a:pt x="57686" y="57687"/>
                </a:lnTo>
                <a:lnTo>
                  <a:pt x="14972" y="57687"/>
                </a:lnTo>
                <a:lnTo>
                  <a:pt x="15233" y="52413"/>
                </a:lnTo>
                <a:lnTo>
                  <a:pt x="13341" y="35743"/>
                </a:lnTo>
                <a:lnTo>
                  <a:pt x="8403" y="15432"/>
                </a:lnTo>
                <a:lnTo>
                  <a:pt x="0" y="1145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Illustrative delivered road transport cost class 4; reference terminal Lesedi"/>
          <p:cNvSpPr/>
          <p:nvPr/>
        </p:nvSpPr>
        <p:spPr>
          <a:xfrm>
            <a:off x="2377444"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Illustrative delivered road transport cost class 4; reference terminal Lesedi"/>
          <p:cNvSpPr/>
          <p:nvPr/>
        </p:nvSpPr>
        <p:spPr>
          <a:xfrm>
            <a:off x="2377444"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1" name="Illustrative delivered road transport cost class 4; reference terminal Lesedi"/>
          <p:cNvSpPr/>
          <p:nvPr/>
        </p:nvSpPr>
        <p:spPr>
          <a:xfrm>
            <a:off x="2377444"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Illustrative delivered road transport cost class 4; reference terminal Lesedi"/>
          <p:cNvSpPr/>
          <p:nvPr/>
        </p:nvSpPr>
        <p:spPr>
          <a:xfrm>
            <a:off x="2377444"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3" name="Illustrative delivered road transport cost class 4; reference terminal Lesedi"/>
          <p:cNvSpPr/>
          <p:nvPr/>
        </p:nvSpPr>
        <p:spPr>
          <a:xfrm>
            <a:off x="237744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Illustrative delivered road transport cost class 4; reference terminal Lesedi"/>
          <p:cNvSpPr/>
          <p:nvPr/>
        </p:nvSpPr>
        <p:spPr>
          <a:xfrm>
            <a:off x="237744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5" name="Illustrative delivered road transport cost class 4; reference terminal Lesedi"/>
          <p:cNvSpPr/>
          <p:nvPr/>
        </p:nvSpPr>
        <p:spPr>
          <a:xfrm>
            <a:off x="237744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Illustrative delivered road transport cost class 4; reference terminal Lesedi"/>
          <p:cNvSpPr/>
          <p:nvPr/>
        </p:nvSpPr>
        <p:spPr>
          <a:xfrm>
            <a:off x="237744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7" name="Illustrative delivered road transport cost class 4; reference terminal Lesedi"/>
          <p:cNvSpPr/>
          <p:nvPr/>
        </p:nvSpPr>
        <p:spPr>
          <a:xfrm>
            <a:off x="237744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8" name="Illustrative delivered road transport cost class 4; reference terminal Lesedi"/>
          <p:cNvSpPr/>
          <p:nvPr/>
        </p:nvSpPr>
        <p:spPr>
          <a:xfrm>
            <a:off x="237744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9" name="Illustrative delivered road transport cost class 4; reference terminal Lesedi"/>
          <p:cNvSpPr/>
          <p:nvPr/>
        </p:nvSpPr>
        <p:spPr>
          <a:xfrm>
            <a:off x="237744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Illustrative delivered road transport cost class 4; reference terminal Lesedi"/>
          <p:cNvSpPr/>
          <p:nvPr/>
        </p:nvSpPr>
        <p:spPr>
          <a:xfrm>
            <a:off x="237744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1" name="Illustrative delivered road transport cost class 4; reference terminal Lesedi"/>
          <p:cNvSpPr/>
          <p:nvPr/>
        </p:nvSpPr>
        <p:spPr>
          <a:xfrm>
            <a:off x="237744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2" name="Illustrative delivered road transport cost class 4; reference terminal Lesedi"/>
          <p:cNvSpPr/>
          <p:nvPr/>
        </p:nvSpPr>
        <p:spPr>
          <a:xfrm>
            <a:off x="237744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3" name="Illustrative delivered road transport cost class 4; reference terminal Lesedi"/>
          <p:cNvSpPr/>
          <p:nvPr/>
        </p:nvSpPr>
        <p:spPr>
          <a:xfrm>
            <a:off x="237744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4" name="Illustrative delivered road transport cost class 4; reference terminal Lesedi"/>
          <p:cNvSpPr/>
          <p:nvPr/>
        </p:nvSpPr>
        <p:spPr>
          <a:xfrm>
            <a:off x="237744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5" name="Illustrative delivered road transport cost class 4; reference terminal Lesedi"/>
          <p:cNvSpPr/>
          <p:nvPr/>
        </p:nvSpPr>
        <p:spPr>
          <a:xfrm>
            <a:off x="237744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6" name="Illustrative delivered road transport cost class 4; reference terminal Lesedi"/>
          <p:cNvSpPr/>
          <p:nvPr/>
        </p:nvSpPr>
        <p:spPr>
          <a:xfrm>
            <a:off x="237744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7" name="Illustrative delivered road transport cost class 4; reference terminal Lesedi"/>
          <p:cNvSpPr/>
          <p:nvPr/>
        </p:nvSpPr>
        <p:spPr>
          <a:xfrm>
            <a:off x="237744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8" name="Illustrative delivered road transport cost class 4; reference terminal Lesedi"/>
          <p:cNvSpPr/>
          <p:nvPr/>
        </p:nvSpPr>
        <p:spPr>
          <a:xfrm>
            <a:off x="237744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9" name="Illustrative delivered road transport cost class 4; reference terminal Lesedi"/>
          <p:cNvSpPr/>
          <p:nvPr/>
        </p:nvSpPr>
        <p:spPr>
          <a:xfrm>
            <a:off x="237744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0" name="Illustrative delivered road transport cost class 4; reference terminal Lesedi"/>
          <p:cNvSpPr/>
          <p:nvPr/>
        </p:nvSpPr>
        <p:spPr>
          <a:xfrm>
            <a:off x="237744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1" name="Illustrative delivered road transport cost class 4; reference terminal Lesedi"/>
          <p:cNvSpPr/>
          <p:nvPr/>
        </p:nvSpPr>
        <p:spPr>
          <a:xfrm>
            <a:off x="2377444" y="4056068"/>
            <a:ext cx="57686" cy="57687"/>
          </a:xfrm>
          <a:custGeom>
            <a:avLst/>
            <a:gdLst/>
            <a:ahLst/>
            <a:cxnLst/>
            <a:rect l="l" t="t" r="r" b="b"/>
            <a:pathLst>
              <a:path w="57686" h="57687">
                <a:moveTo>
                  <a:pt x="57686" y="0"/>
                </a:moveTo>
                <a:lnTo>
                  <a:pt x="57686" y="57687"/>
                </a:lnTo>
                <a:lnTo>
                  <a:pt x="0" y="57687"/>
                </a:lnTo>
                <a:lnTo>
                  <a:pt x="0" y="16017"/>
                </a:lnTo>
                <a:lnTo>
                  <a:pt x="14325" y="16605"/>
                </a:lnTo>
                <a:lnTo>
                  <a:pt x="32739" y="6194"/>
                </a:lnTo>
                <a:lnTo>
                  <a:pt x="36035"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2" name="Illustrative delivered road transport cost class 4; reference terminal Lesedi"/>
          <p:cNvSpPr/>
          <p:nvPr/>
        </p:nvSpPr>
        <p:spPr>
          <a:xfrm>
            <a:off x="2413479" y="4015168"/>
            <a:ext cx="21651" cy="40900"/>
          </a:xfrm>
          <a:custGeom>
            <a:avLst/>
            <a:gdLst/>
            <a:ahLst/>
            <a:cxnLst/>
            <a:rect l="l" t="t" r="r" b="b"/>
            <a:pathLst>
              <a:path w="21651" h="40900">
                <a:moveTo>
                  <a:pt x="21651" y="40900"/>
                </a:moveTo>
                <a:lnTo>
                  <a:pt x="0" y="40900"/>
                </a:lnTo>
                <a:lnTo>
                  <a:pt x="4223" y="32964"/>
                </a:lnTo>
                <a:lnTo>
                  <a:pt x="834" y="15133"/>
                </a:lnTo>
                <a:lnTo>
                  <a:pt x="9667" y="3321"/>
                </a:lnTo>
                <a:lnTo>
                  <a:pt x="21651" y="0"/>
                </a:lnTo>
                <a:lnTo>
                  <a:pt x="21651" y="4090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3" name="Illustrative delivered road transport cost class 4; reference terminal Lesedi"/>
          <p:cNvSpPr/>
          <p:nvPr/>
        </p:nvSpPr>
        <p:spPr>
          <a:xfrm>
            <a:off x="2435130" y="5440546"/>
            <a:ext cx="57687" cy="39277"/>
          </a:xfrm>
          <a:custGeom>
            <a:avLst/>
            <a:gdLst/>
            <a:ahLst/>
            <a:cxnLst/>
            <a:rect l="l" t="t" r="r" b="b"/>
            <a:pathLst>
              <a:path w="57687" h="39277">
                <a:moveTo>
                  <a:pt x="0" y="0"/>
                </a:moveTo>
                <a:lnTo>
                  <a:pt x="57687" y="0"/>
                </a:lnTo>
                <a:lnTo>
                  <a:pt x="57687" y="39277"/>
                </a:lnTo>
                <a:lnTo>
                  <a:pt x="55343" y="36540"/>
                </a:lnTo>
                <a:lnTo>
                  <a:pt x="47632" y="30598"/>
                </a:lnTo>
                <a:lnTo>
                  <a:pt x="27459" y="32805"/>
                </a:lnTo>
                <a:lnTo>
                  <a:pt x="15740" y="16292"/>
                </a:lnTo>
                <a:lnTo>
                  <a:pt x="0" y="162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4" name="Illustrative delivered road transport cost class 4; reference terminal Lesedi"/>
          <p:cNvSpPr/>
          <p:nvPr/>
        </p:nvSpPr>
        <p:spPr>
          <a:xfrm>
            <a:off x="2435130"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5" name="Illustrative delivered road transport cost class 4; reference terminal Lesedi"/>
          <p:cNvSpPr/>
          <p:nvPr/>
        </p:nvSpPr>
        <p:spPr>
          <a:xfrm>
            <a:off x="2435130"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6" name="Illustrative delivered road transport cost class 4; reference terminal Lesedi"/>
          <p:cNvSpPr/>
          <p:nvPr/>
        </p:nvSpPr>
        <p:spPr>
          <a:xfrm>
            <a:off x="2435130"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7" name="Illustrative delivered road transport cost class 4; reference terminal Lesedi"/>
          <p:cNvSpPr/>
          <p:nvPr/>
        </p:nvSpPr>
        <p:spPr>
          <a:xfrm>
            <a:off x="2435130"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8" name="Illustrative delivered road transport cost class 4; reference terminal Lesedi"/>
          <p:cNvSpPr/>
          <p:nvPr/>
        </p:nvSpPr>
        <p:spPr>
          <a:xfrm>
            <a:off x="243513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9" name="Illustrative delivered road transport cost class 4; reference terminal Lesedi"/>
          <p:cNvSpPr/>
          <p:nvPr/>
        </p:nvSpPr>
        <p:spPr>
          <a:xfrm>
            <a:off x="243513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0" name="Illustrative delivered road transport cost class 4; reference terminal Lesedi"/>
          <p:cNvSpPr/>
          <p:nvPr/>
        </p:nvSpPr>
        <p:spPr>
          <a:xfrm>
            <a:off x="243513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1" name="Illustrative delivered road transport cost class 4; reference terminal Lesedi"/>
          <p:cNvSpPr/>
          <p:nvPr/>
        </p:nvSpPr>
        <p:spPr>
          <a:xfrm>
            <a:off x="243513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2" name="Illustrative delivered road transport cost class 4; reference terminal Lesedi"/>
          <p:cNvSpPr/>
          <p:nvPr/>
        </p:nvSpPr>
        <p:spPr>
          <a:xfrm>
            <a:off x="243513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3" name="Illustrative delivered road transport cost class 4; reference terminal Lesedi"/>
          <p:cNvSpPr/>
          <p:nvPr/>
        </p:nvSpPr>
        <p:spPr>
          <a:xfrm>
            <a:off x="243513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4" name="Illustrative delivered road transport cost class 4; reference terminal Lesedi"/>
          <p:cNvSpPr/>
          <p:nvPr/>
        </p:nvSpPr>
        <p:spPr>
          <a:xfrm>
            <a:off x="243513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5" name="Illustrative delivered road transport cost class 4; reference terminal Lesedi"/>
          <p:cNvSpPr/>
          <p:nvPr/>
        </p:nvSpPr>
        <p:spPr>
          <a:xfrm>
            <a:off x="243513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6" name="Illustrative delivered road transport cost class 4; reference terminal Lesedi"/>
          <p:cNvSpPr/>
          <p:nvPr/>
        </p:nvSpPr>
        <p:spPr>
          <a:xfrm>
            <a:off x="243513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7" name="Illustrative delivered road transport cost class 4; reference terminal Lesedi"/>
          <p:cNvSpPr/>
          <p:nvPr/>
        </p:nvSpPr>
        <p:spPr>
          <a:xfrm>
            <a:off x="243513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8" name="Illustrative delivered road transport cost class 4; reference terminal Lesedi"/>
          <p:cNvSpPr/>
          <p:nvPr/>
        </p:nvSpPr>
        <p:spPr>
          <a:xfrm>
            <a:off x="243513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9" name="Illustrative delivered road transport cost class 4; reference terminal Lesedi"/>
          <p:cNvSpPr/>
          <p:nvPr/>
        </p:nvSpPr>
        <p:spPr>
          <a:xfrm>
            <a:off x="243513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0" name="Illustrative delivered road transport cost class 4; reference terminal Lesedi"/>
          <p:cNvSpPr/>
          <p:nvPr/>
        </p:nvSpPr>
        <p:spPr>
          <a:xfrm>
            <a:off x="243513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1" name="Illustrative delivered road transport cost class None; reference terminal None"/>
          <p:cNvSpPr/>
          <p:nvPr/>
        </p:nvSpPr>
        <p:spPr>
          <a:xfrm>
            <a:off x="243513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2" name="Illustrative delivered road transport cost class None; reference terminal None"/>
          <p:cNvSpPr/>
          <p:nvPr/>
        </p:nvSpPr>
        <p:spPr>
          <a:xfrm>
            <a:off x="243513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3" name="Illustrative delivered road transport cost class 4; reference terminal Lesedi"/>
          <p:cNvSpPr/>
          <p:nvPr/>
        </p:nvSpPr>
        <p:spPr>
          <a:xfrm>
            <a:off x="243513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4" name="Illustrative delivered road transport cost class 4; reference terminal Lesedi"/>
          <p:cNvSpPr/>
          <p:nvPr/>
        </p:nvSpPr>
        <p:spPr>
          <a:xfrm>
            <a:off x="243513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5" name="Illustrative delivered road transport cost class 4; reference terminal Lesedi"/>
          <p:cNvSpPr/>
          <p:nvPr/>
        </p:nvSpPr>
        <p:spPr>
          <a:xfrm>
            <a:off x="243513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6" name="Illustrative delivered road transport cost class 4; reference terminal Lesedi"/>
          <p:cNvSpPr/>
          <p:nvPr/>
        </p:nvSpPr>
        <p:spPr>
          <a:xfrm>
            <a:off x="243513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7" name="Illustrative delivered road transport cost class 4; reference terminal Lesedi"/>
          <p:cNvSpPr/>
          <p:nvPr/>
        </p:nvSpPr>
        <p:spPr>
          <a:xfrm>
            <a:off x="2435130"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8" name="Illustrative delivered road transport cost class 4; reference terminal Lesedi"/>
          <p:cNvSpPr/>
          <p:nvPr/>
        </p:nvSpPr>
        <p:spPr>
          <a:xfrm>
            <a:off x="2435130" y="3998382"/>
            <a:ext cx="57687" cy="57686"/>
          </a:xfrm>
          <a:custGeom>
            <a:avLst/>
            <a:gdLst/>
            <a:ahLst/>
            <a:cxnLst/>
            <a:rect l="l" t="t" r="r" b="b"/>
            <a:pathLst>
              <a:path w="57687" h="57686">
                <a:moveTo>
                  <a:pt x="57687" y="0"/>
                </a:moveTo>
                <a:lnTo>
                  <a:pt x="57687" y="57686"/>
                </a:lnTo>
                <a:lnTo>
                  <a:pt x="0" y="57686"/>
                </a:lnTo>
                <a:lnTo>
                  <a:pt x="0" y="16786"/>
                </a:lnTo>
                <a:lnTo>
                  <a:pt x="9054" y="14278"/>
                </a:lnTo>
                <a:lnTo>
                  <a:pt x="25427"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9" name="Illustrative delivered road transport cost class 4; reference terminal Lesedi"/>
          <p:cNvSpPr/>
          <p:nvPr/>
        </p:nvSpPr>
        <p:spPr>
          <a:xfrm>
            <a:off x="2460557" y="3961764"/>
            <a:ext cx="32260" cy="36618"/>
          </a:xfrm>
          <a:custGeom>
            <a:avLst/>
            <a:gdLst/>
            <a:ahLst/>
            <a:cxnLst/>
            <a:rect l="l" t="t" r="r" b="b"/>
            <a:pathLst>
              <a:path w="32260" h="36618">
                <a:moveTo>
                  <a:pt x="32260" y="36618"/>
                </a:moveTo>
                <a:lnTo>
                  <a:pt x="0" y="36618"/>
                </a:lnTo>
                <a:lnTo>
                  <a:pt x="31" y="36591"/>
                </a:lnTo>
                <a:lnTo>
                  <a:pt x="11831" y="13751"/>
                </a:lnTo>
                <a:lnTo>
                  <a:pt x="32260" y="0"/>
                </a:lnTo>
                <a:lnTo>
                  <a:pt x="32260" y="3661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0" name="Illustrative delivered road transport cost class 4; reference terminal Durban"/>
          <p:cNvSpPr/>
          <p:nvPr/>
        </p:nvSpPr>
        <p:spPr>
          <a:xfrm>
            <a:off x="2496946" y="5498232"/>
            <a:ext cx="53557" cy="43173"/>
          </a:xfrm>
          <a:custGeom>
            <a:avLst/>
            <a:gdLst/>
            <a:ahLst/>
            <a:cxnLst/>
            <a:rect l="l" t="t" r="r" b="b"/>
            <a:pathLst>
              <a:path w="53557" h="43173">
                <a:moveTo>
                  <a:pt x="53557" y="0"/>
                </a:moveTo>
                <a:lnTo>
                  <a:pt x="53557" y="43173"/>
                </a:lnTo>
                <a:lnTo>
                  <a:pt x="19589" y="20766"/>
                </a:lnTo>
                <a:lnTo>
                  <a:pt x="0" y="24144"/>
                </a:lnTo>
                <a:lnTo>
                  <a:pt x="4671" y="12576"/>
                </a:lnTo>
                <a:lnTo>
                  <a:pt x="4986" y="0"/>
                </a:lnTo>
                <a:lnTo>
                  <a:pt x="5355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1" name="Illustrative delivered road transport cost class 4; reference terminal Lesedi"/>
          <p:cNvSpPr/>
          <p:nvPr/>
        </p:nvSpPr>
        <p:spPr>
          <a:xfrm>
            <a:off x="2492817" y="5440546"/>
            <a:ext cx="57686" cy="57686"/>
          </a:xfrm>
          <a:custGeom>
            <a:avLst/>
            <a:gdLst/>
            <a:ahLst/>
            <a:cxnLst/>
            <a:rect l="l" t="t" r="r" b="b"/>
            <a:pathLst>
              <a:path w="57686" h="57686">
                <a:moveTo>
                  <a:pt x="0" y="0"/>
                </a:moveTo>
                <a:lnTo>
                  <a:pt x="57686" y="0"/>
                </a:lnTo>
                <a:lnTo>
                  <a:pt x="57686" y="57686"/>
                </a:lnTo>
                <a:lnTo>
                  <a:pt x="9115" y="57686"/>
                </a:lnTo>
                <a:lnTo>
                  <a:pt x="9305" y="50144"/>
                </a:lnTo>
                <a:lnTo>
                  <a:pt x="0" y="3927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2" name="Illustrative delivered road transport cost class 4; reference terminal Lesedi"/>
          <p:cNvSpPr/>
          <p:nvPr/>
        </p:nvSpPr>
        <p:spPr>
          <a:xfrm>
            <a:off x="2492817"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3" name="Illustrative delivered road transport cost class 4; reference terminal Lesedi"/>
          <p:cNvSpPr/>
          <p:nvPr/>
        </p:nvSpPr>
        <p:spPr>
          <a:xfrm>
            <a:off x="2492817"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4" name="Illustrative delivered road transport cost class 4; reference terminal Lesedi"/>
          <p:cNvSpPr/>
          <p:nvPr/>
        </p:nvSpPr>
        <p:spPr>
          <a:xfrm>
            <a:off x="2492817"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5" name="Illustrative delivered road transport cost class 4; reference terminal Lesedi"/>
          <p:cNvSpPr/>
          <p:nvPr/>
        </p:nvSpPr>
        <p:spPr>
          <a:xfrm>
            <a:off x="2492817"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6" name="Illustrative delivered road transport cost class 4; reference terminal Lesedi"/>
          <p:cNvSpPr/>
          <p:nvPr/>
        </p:nvSpPr>
        <p:spPr>
          <a:xfrm>
            <a:off x="2492817"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7" name="Illustrative delivered road transport cost class 4; reference terminal Lesedi"/>
          <p:cNvSpPr/>
          <p:nvPr/>
        </p:nvSpPr>
        <p:spPr>
          <a:xfrm>
            <a:off x="2492817"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8" name="Illustrative delivered road transport cost class 4; reference terminal Lesedi"/>
          <p:cNvSpPr/>
          <p:nvPr/>
        </p:nvSpPr>
        <p:spPr>
          <a:xfrm>
            <a:off x="2492817"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9" name="Illustrative delivered road transport cost class 4; reference terminal Lesedi"/>
          <p:cNvSpPr/>
          <p:nvPr/>
        </p:nvSpPr>
        <p:spPr>
          <a:xfrm>
            <a:off x="2492817"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0" name="Illustrative delivered road transport cost class 4; reference terminal Lesedi"/>
          <p:cNvSpPr/>
          <p:nvPr/>
        </p:nvSpPr>
        <p:spPr>
          <a:xfrm>
            <a:off x="249281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1" name="Illustrative delivered road transport cost class 4; reference terminal Lesedi"/>
          <p:cNvSpPr/>
          <p:nvPr/>
        </p:nvSpPr>
        <p:spPr>
          <a:xfrm>
            <a:off x="249281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2" name="Illustrative delivered road transport cost class 4; reference terminal Lesedi"/>
          <p:cNvSpPr/>
          <p:nvPr/>
        </p:nvSpPr>
        <p:spPr>
          <a:xfrm>
            <a:off x="249281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3" name="Illustrative delivered road transport cost class 4; reference terminal Lesedi"/>
          <p:cNvSpPr/>
          <p:nvPr/>
        </p:nvSpPr>
        <p:spPr>
          <a:xfrm>
            <a:off x="249281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4" name="Illustrative delivered road transport cost class 4; reference terminal Lesedi"/>
          <p:cNvSpPr/>
          <p:nvPr/>
        </p:nvSpPr>
        <p:spPr>
          <a:xfrm>
            <a:off x="249281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5" name="Illustrative delivered road transport cost class 4; reference terminal Lesedi"/>
          <p:cNvSpPr/>
          <p:nvPr/>
        </p:nvSpPr>
        <p:spPr>
          <a:xfrm>
            <a:off x="249281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6" name="Illustrative delivered road transport cost class None; reference terminal None"/>
          <p:cNvSpPr/>
          <p:nvPr/>
        </p:nvSpPr>
        <p:spPr>
          <a:xfrm>
            <a:off x="249281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7" name="Illustrative delivered road transport cost class None; reference terminal None"/>
          <p:cNvSpPr/>
          <p:nvPr/>
        </p:nvSpPr>
        <p:spPr>
          <a:xfrm>
            <a:off x="249281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8" name="Illustrative delivered road transport cost class None; reference terminal None"/>
          <p:cNvSpPr/>
          <p:nvPr/>
        </p:nvSpPr>
        <p:spPr>
          <a:xfrm>
            <a:off x="249281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9" name="Illustrative delivered road transport cost class None; reference terminal None"/>
          <p:cNvSpPr/>
          <p:nvPr/>
        </p:nvSpPr>
        <p:spPr>
          <a:xfrm>
            <a:off x="249281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0" name="Illustrative delivered road transport cost class None; reference terminal None"/>
          <p:cNvSpPr/>
          <p:nvPr/>
        </p:nvSpPr>
        <p:spPr>
          <a:xfrm>
            <a:off x="2492817"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1" name="Illustrative delivered road transport cost class 4; reference terminal Lesedi"/>
          <p:cNvSpPr/>
          <p:nvPr/>
        </p:nvSpPr>
        <p:spPr>
          <a:xfrm>
            <a:off x="2492817"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2" name="Illustrative delivered road transport cost class 4; reference terminal Lesedi"/>
          <p:cNvSpPr/>
          <p:nvPr/>
        </p:nvSpPr>
        <p:spPr>
          <a:xfrm>
            <a:off x="2492817"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3" name="Illustrative delivered road transport cost class 4; reference terminal Lesedi"/>
          <p:cNvSpPr/>
          <p:nvPr/>
        </p:nvSpPr>
        <p:spPr>
          <a:xfrm>
            <a:off x="2492817"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4" name="Illustrative delivered road transport cost class 4; reference terminal Lesedi"/>
          <p:cNvSpPr/>
          <p:nvPr/>
        </p:nvSpPr>
        <p:spPr>
          <a:xfrm>
            <a:off x="2492817"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5" name="Illustrative delivered road transport cost class 4; reference terminal Lesedi"/>
          <p:cNvSpPr/>
          <p:nvPr/>
        </p:nvSpPr>
        <p:spPr>
          <a:xfrm>
            <a:off x="2492817"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6" name="Illustrative delivered road transport cost class 4; reference terminal Lesedi"/>
          <p:cNvSpPr/>
          <p:nvPr/>
        </p:nvSpPr>
        <p:spPr>
          <a:xfrm>
            <a:off x="2492817"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7" name="Illustrative delivered road transport cost class 4; reference terminal Lesedi"/>
          <p:cNvSpPr/>
          <p:nvPr/>
        </p:nvSpPr>
        <p:spPr>
          <a:xfrm>
            <a:off x="2492817" y="3940695"/>
            <a:ext cx="57686" cy="57687"/>
          </a:xfrm>
          <a:custGeom>
            <a:avLst/>
            <a:gdLst/>
            <a:ahLst/>
            <a:cxnLst/>
            <a:rect l="l" t="t" r="r" b="b"/>
            <a:pathLst>
              <a:path w="57686" h="57687">
                <a:moveTo>
                  <a:pt x="57686" y="0"/>
                </a:moveTo>
                <a:lnTo>
                  <a:pt x="57686" y="57687"/>
                </a:lnTo>
                <a:lnTo>
                  <a:pt x="0" y="57687"/>
                </a:lnTo>
                <a:lnTo>
                  <a:pt x="0" y="21069"/>
                </a:lnTo>
                <a:lnTo>
                  <a:pt x="8428" y="15396"/>
                </a:lnTo>
                <a:lnTo>
                  <a:pt x="52698"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8" name="Illustrative delivered road transport cost class 4; reference terminal Lesedi"/>
          <p:cNvSpPr/>
          <p:nvPr/>
        </p:nvSpPr>
        <p:spPr>
          <a:xfrm>
            <a:off x="2549204" y="3421516"/>
            <a:ext cx="1299" cy="32656"/>
          </a:xfrm>
          <a:custGeom>
            <a:avLst/>
            <a:gdLst/>
            <a:ahLst/>
            <a:cxnLst/>
            <a:rect l="l" t="t" r="r" b="b"/>
            <a:pathLst>
              <a:path w="1299" h="32656">
                <a:moveTo>
                  <a:pt x="1299" y="0"/>
                </a:moveTo>
                <a:lnTo>
                  <a:pt x="1299" y="32656"/>
                </a:lnTo>
                <a:lnTo>
                  <a:pt x="1081" y="27216"/>
                </a:lnTo>
                <a:lnTo>
                  <a:pt x="0" y="0"/>
                </a:lnTo>
                <a:lnTo>
                  <a:pt x="129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9" name="Illustrative delivered road transport cost class 4; reference terminal Lesedi"/>
          <p:cNvSpPr/>
          <p:nvPr/>
        </p:nvSpPr>
        <p:spPr>
          <a:xfrm>
            <a:off x="2546913" y="3363829"/>
            <a:ext cx="3590" cy="57687"/>
          </a:xfrm>
          <a:custGeom>
            <a:avLst/>
            <a:gdLst/>
            <a:ahLst/>
            <a:cxnLst/>
            <a:rect l="l" t="t" r="r" b="b"/>
            <a:pathLst>
              <a:path w="3590" h="57687">
                <a:moveTo>
                  <a:pt x="3590" y="0"/>
                </a:moveTo>
                <a:lnTo>
                  <a:pt x="3590" y="57687"/>
                </a:lnTo>
                <a:lnTo>
                  <a:pt x="2291" y="57687"/>
                </a:lnTo>
                <a:lnTo>
                  <a:pt x="0" y="0"/>
                </a:lnTo>
                <a:lnTo>
                  <a:pt x="35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0" name="Illustrative delivered road transport cost class 4; reference terminal Lesedi"/>
          <p:cNvSpPr/>
          <p:nvPr/>
        </p:nvSpPr>
        <p:spPr>
          <a:xfrm>
            <a:off x="2544635" y="3306143"/>
            <a:ext cx="5868" cy="57686"/>
          </a:xfrm>
          <a:custGeom>
            <a:avLst/>
            <a:gdLst/>
            <a:ahLst/>
            <a:cxnLst/>
            <a:rect l="l" t="t" r="r" b="b"/>
            <a:pathLst>
              <a:path w="5868" h="57686">
                <a:moveTo>
                  <a:pt x="5868" y="0"/>
                </a:moveTo>
                <a:lnTo>
                  <a:pt x="5868" y="57686"/>
                </a:lnTo>
                <a:lnTo>
                  <a:pt x="2278" y="57686"/>
                </a:lnTo>
                <a:lnTo>
                  <a:pt x="1135" y="28904"/>
                </a:lnTo>
                <a:lnTo>
                  <a:pt x="0" y="0"/>
                </a:lnTo>
                <a:lnTo>
                  <a:pt x="586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1" name="Illustrative delivered road transport cost class 4; reference terminal Lesedi"/>
          <p:cNvSpPr/>
          <p:nvPr/>
        </p:nvSpPr>
        <p:spPr>
          <a:xfrm>
            <a:off x="2542370" y="3248456"/>
            <a:ext cx="8133" cy="57687"/>
          </a:xfrm>
          <a:custGeom>
            <a:avLst/>
            <a:gdLst/>
            <a:ahLst/>
            <a:cxnLst/>
            <a:rect l="l" t="t" r="r" b="b"/>
            <a:pathLst>
              <a:path w="8133" h="57687">
                <a:moveTo>
                  <a:pt x="8133" y="0"/>
                </a:moveTo>
                <a:lnTo>
                  <a:pt x="8133" y="57687"/>
                </a:lnTo>
                <a:lnTo>
                  <a:pt x="2265" y="57687"/>
                </a:lnTo>
                <a:lnTo>
                  <a:pt x="0" y="0"/>
                </a:lnTo>
                <a:lnTo>
                  <a:pt x="813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2" name="Illustrative delivered road transport cost class 4; reference terminal Lesedi"/>
          <p:cNvSpPr/>
          <p:nvPr/>
        </p:nvSpPr>
        <p:spPr>
          <a:xfrm>
            <a:off x="2540119" y="3190770"/>
            <a:ext cx="10384" cy="57686"/>
          </a:xfrm>
          <a:custGeom>
            <a:avLst/>
            <a:gdLst/>
            <a:ahLst/>
            <a:cxnLst/>
            <a:rect l="l" t="t" r="r" b="b"/>
            <a:pathLst>
              <a:path w="10384" h="57686">
                <a:moveTo>
                  <a:pt x="10384" y="0"/>
                </a:moveTo>
                <a:lnTo>
                  <a:pt x="10384" y="57686"/>
                </a:lnTo>
                <a:lnTo>
                  <a:pt x="2251" y="57686"/>
                </a:lnTo>
                <a:lnTo>
                  <a:pt x="1189" y="30632"/>
                </a:lnTo>
                <a:lnTo>
                  <a:pt x="0" y="0"/>
                </a:lnTo>
                <a:lnTo>
                  <a:pt x="1038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3" name="Illustrative delivered road transport cost class 4; reference terminal Lesedi"/>
          <p:cNvSpPr/>
          <p:nvPr/>
        </p:nvSpPr>
        <p:spPr>
          <a:xfrm>
            <a:off x="2537880" y="3133083"/>
            <a:ext cx="12623" cy="57687"/>
          </a:xfrm>
          <a:custGeom>
            <a:avLst/>
            <a:gdLst/>
            <a:ahLst/>
            <a:cxnLst/>
            <a:rect l="l" t="t" r="r" b="b"/>
            <a:pathLst>
              <a:path w="12623" h="57687">
                <a:moveTo>
                  <a:pt x="12623" y="0"/>
                </a:moveTo>
                <a:lnTo>
                  <a:pt x="12623" y="57687"/>
                </a:lnTo>
                <a:lnTo>
                  <a:pt x="2239" y="57687"/>
                </a:lnTo>
                <a:lnTo>
                  <a:pt x="0" y="0"/>
                </a:lnTo>
                <a:lnTo>
                  <a:pt x="126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4" name="Illustrative delivered road transport cost class 4; reference terminal Lesedi"/>
          <p:cNvSpPr/>
          <p:nvPr/>
        </p:nvSpPr>
        <p:spPr>
          <a:xfrm>
            <a:off x="2535654" y="3075396"/>
            <a:ext cx="14849" cy="57687"/>
          </a:xfrm>
          <a:custGeom>
            <a:avLst/>
            <a:gdLst/>
            <a:ahLst/>
            <a:cxnLst/>
            <a:rect l="l" t="t" r="r" b="b"/>
            <a:pathLst>
              <a:path w="14849" h="57687">
                <a:moveTo>
                  <a:pt x="14849" y="0"/>
                </a:moveTo>
                <a:lnTo>
                  <a:pt x="14849" y="57687"/>
                </a:lnTo>
                <a:lnTo>
                  <a:pt x="2226" y="57687"/>
                </a:lnTo>
                <a:lnTo>
                  <a:pt x="1242" y="32353"/>
                </a:lnTo>
                <a:lnTo>
                  <a:pt x="0" y="0"/>
                </a:lnTo>
                <a:lnTo>
                  <a:pt x="1484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5" name="Illustrative delivered road transport cost class 4; reference terminal Lesedi"/>
          <p:cNvSpPr/>
          <p:nvPr/>
        </p:nvSpPr>
        <p:spPr>
          <a:xfrm>
            <a:off x="2533440" y="3017710"/>
            <a:ext cx="17063" cy="57686"/>
          </a:xfrm>
          <a:custGeom>
            <a:avLst/>
            <a:gdLst/>
            <a:ahLst/>
            <a:cxnLst/>
            <a:rect l="l" t="t" r="r" b="b"/>
            <a:pathLst>
              <a:path w="17063" h="57686">
                <a:moveTo>
                  <a:pt x="17063" y="0"/>
                </a:moveTo>
                <a:lnTo>
                  <a:pt x="17063" y="57686"/>
                </a:lnTo>
                <a:lnTo>
                  <a:pt x="2214" y="57686"/>
                </a:lnTo>
                <a:lnTo>
                  <a:pt x="0" y="0"/>
                </a:lnTo>
                <a:lnTo>
                  <a:pt x="1706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6" name="Illustrative delivered road transport cost class None; reference terminal None"/>
          <p:cNvSpPr/>
          <p:nvPr/>
        </p:nvSpPr>
        <p:spPr>
          <a:xfrm>
            <a:off x="2532778" y="3000452"/>
            <a:ext cx="17725" cy="17258"/>
          </a:xfrm>
          <a:custGeom>
            <a:avLst/>
            <a:gdLst/>
            <a:ahLst/>
            <a:cxnLst/>
            <a:rect l="l" t="t" r="r" b="b"/>
            <a:pathLst>
              <a:path w="17725" h="17258">
                <a:moveTo>
                  <a:pt x="17725" y="17258"/>
                </a:moveTo>
                <a:lnTo>
                  <a:pt x="662" y="17258"/>
                </a:lnTo>
                <a:lnTo>
                  <a:pt x="0" y="0"/>
                </a:lnTo>
                <a:lnTo>
                  <a:pt x="11517" y="7276"/>
                </a:lnTo>
                <a:lnTo>
                  <a:pt x="17725" y="11700"/>
                </a:lnTo>
                <a:lnTo>
                  <a:pt x="17725" y="172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7" name="Illustrative delivered road transport cost class 4; reference terminal Durban"/>
          <p:cNvSpPr/>
          <p:nvPr/>
        </p:nvSpPr>
        <p:spPr>
          <a:xfrm>
            <a:off x="2550503" y="5498232"/>
            <a:ext cx="57687" cy="56008"/>
          </a:xfrm>
          <a:custGeom>
            <a:avLst/>
            <a:gdLst/>
            <a:ahLst/>
            <a:cxnLst/>
            <a:rect l="l" t="t" r="r" b="b"/>
            <a:pathLst>
              <a:path w="57687" h="56008">
                <a:moveTo>
                  <a:pt x="0" y="0"/>
                </a:moveTo>
                <a:lnTo>
                  <a:pt x="57687" y="0"/>
                </a:lnTo>
                <a:lnTo>
                  <a:pt x="57687" y="54951"/>
                </a:lnTo>
                <a:lnTo>
                  <a:pt x="19459" y="56008"/>
                </a:lnTo>
                <a:lnTo>
                  <a:pt x="0" y="4317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8" name="Illustrative delivered road transport cost class 4; reference terminal Durban"/>
          <p:cNvSpPr/>
          <p:nvPr/>
        </p:nvSpPr>
        <p:spPr>
          <a:xfrm>
            <a:off x="2550503" y="544054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9" name="Illustrative delivered road transport cost class 4; reference terminal Durban"/>
          <p:cNvSpPr/>
          <p:nvPr/>
        </p:nvSpPr>
        <p:spPr>
          <a:xfrm>
            <a:off x="255050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0" name="Illustrative delivered road transport cost class 4; reference terminal Lesedi"/>
          <p:cNvSpPr/>
          <p:nvPr/>
        </p:nvSpPr>
        <p:spPr>
          <a:xfrm>
            <a:off x="255050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1" name="Illustrative delivered road transport cost class 4; reference terminal Lesedi"/>
          <p:cNvSpPr/>
          <p:nvPr/>
        </p:nvSpPr>
        <p:spPr>
          <a:xfrm>
            <a:off x="255050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2" name="Illustrative delivered road transport cost class 4; reference terminal Lesedi"/>
          <p:cNvSpPr/>
          <p:nvPr/>
        </p:nvSpPr>
        <p:spPr>
          <a:xfrm>
            <a:off x="255050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3" name="Illustrative delivered road transport cost class 4; reference terminal Lesedi"/>
          <p:cNvSpPr/>
          <p:nvPr/>
        </p:nvSpPr>
        <p:spPr>
          <a:xfrm>
            <a:off x="255050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4" name="Illustrative delivered road transport cost class 4; reference terminal Lesedi"/>
          <p:cNvSpPr/>
          <p:nvPr/>
        </p:nvSpPr>
        <p:spPr>
          <a:xfrm>
            <a:off x="255050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5" name="Illustrative delivered road transport cost class 4; reference terminal Lesedi"/>
          <p:cNvSpPr/>
          <p:nvPr/>
        </p:nvSpPr>
        <p:spPr>
          <a:xfrm>
            <a:off x="255050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6" name="Illustrative delivered road transport cost class 4; reference terminal Lesedi"/>
          <p:cNvSpPr/>
          <p:nvPr/>
        </p:nvSpPr>
        <p:spPr>
          <a:xfrm>
            <a:off x="255050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7" name="Illustrative delivered road transport cost class 4; reference terminal Lesedi"/>
          <p:cNvSpPr/>
          <p:nvPr/>
        </p:nvSpPr>
        <p:spPr>
          <a:xfrm>
            <a:off x="255050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8" name="Illustrative delivered road transport cost class 4; reference terminal Lesedi"/>
          <p:cNvSpPr/>
          <p:nvPr/>
        </p:nvSpPr>
        <p:spPr>
          <a:xfrm>
            <a:off x="255050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9" name="Illustrative delivered road transport cost class 4; reference terminal Lesedi"/>
          <p:cNvSpPr/>
          <p:nvPr/>
        </p:nvSpPr>
        <p:spPr>
          <a:xfrm>
            <a:off x="255050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0" name="Illustrative delivered road transport cost class None; reference terminal None"/>
          <p:cNvSpPr/>
          <p:nvPr/>
        </p:nvSpPr>
        <p:spPr>
          <a:xfrm>
            <a:off x="255050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1" name="Illustrative delivered road transport cost class None; reference terminal None"/>
          <p:cNvSpPr/>
          <p:nvPr/>
        </p:nvSpPr>
        <p:spPr>
          <a:xfrm>
            <a:off x="255050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2" name="Illustrative delivered road transport cost class None; reference terminal None"/>
          <p:cNvSpPr/>
          <p:nvPr/>
        </p:nvSpPr>
        <p:spPr>
          <a:xfrm>
            <a:off x="255050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3" name="Illustrative delivered road transport cost class None; reference terminal None"/>
          <p:cNvSpPr/>
          <p:nvPr/>
        </p:nvSpPr>
        <p:spPr>
          <a:xfrm>
            <a:off x="255050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4" name="Illustrative delivered road transport cost class None; reference terminal None"/>
          <p:cNvSpPr/>
          <p:nvPr/>
        </p:nvSpPr>
        <p:spPr>
          <a:xfrm>
            <a:off x="255050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5" name="Illustrative delivered road transport cost class None; reference terminal None"/>
          <p:cNvSpPr/>
          <p:nvPr/>
        </p:nvSpPr>
        <p:spPr>
          <a:xfrm>
            <a:off x="255050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6" name="Illustrative delivered road transport cost class None; reference terminal None"/>
          <p:cNvSpPr/>
          <p:nvPr/>
        </p:nvSpPr>
        <p:spPr>
          <a:xfrm>
            <a:off x="255050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7" name="Illustrative delivered road transport cost class None; reference terminal None"/>
          <p:cNvSpPr/>
          <p:nvPr/>
        </p:nvSpPr>
        <p:spPr>
          <a:xfrm>
            <a:off x="255050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8" name="Illustrative delivered road transport cost class None; reference terminal None"/>
          <p:cNvSpPr/>
          <p:nvPr/>
        </p:nvSpPr>
        <p:spPr>
          <a:xfrm>
            <a:off x="255050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9" name="Illustrative delivered road transport cost class 4; reference terminal Lesedi"/>
          <p:cNvSpPr/>
          <p:nvPr/>
        </p:nvSpPr>
        <p:spPr>
          <a:xfrm>
            <a:off x="255050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0" name="Illustrative delivered road transport cost class 4; reference terminal Lesedi"/>
          <p:cNvSpPr/>
          <p:nvPr/>
        </p:nvSpPr>
        <p:spPr>
          <a:xfrm>
            <a:off x="255050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1" name="Illustrative delivered road transport cost class 4; reference terminal Lesedi"/>
          <p:cNvSpPr/>
          <p:nvPr/>
        </p:nvSpPr>
        <p:spPr>
          <a:xfrm>
            <a:off x="255050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2" name="Illustrative delivered road transport cost class 4; reference terminal Lesedi"/>
          <p:cNvSpPr/>
          <p:nvPr/>
        </p:nvSpPr>
        <p:spPr>
          <a:xfrm>
            <a:off x="255050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3" name="Illustrative delivered road transport cost class 4; reference terminal Lesedi"/>
          <p:cNvSpPr/>
          <p:nvPr/>
        </p:nvSpPr>
        <p:spPr>
          <a:xfrm>
            <a:off x="255050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4" name="Illustrative delivered road transport cost class 4; reference terminal Lesedi"/>
          <p:cNvSpPr/>
          <p:nvPr/>
        </p:nvSpPr>
        <p:spPr>
          <a:xfrm>
            <a:off x="255050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5" name="Illustrative delivered road transport cost class 4; reference terminal Lesedi"/>
          <p:cNvSpPr/>
          <p:nvPr/>
        </p:nvSpPr>
        <p:spPr>
          <a:xfrm>
            <a:off x="2550503" y="3883008"/>
            <a:ext cx="57687" cy="57687"/>
          </a:xfrm>
          <a:custGeom>
            <a:avLst/>
            <a:gdLst/>
            <a:ahLst/>
            <a:cxnLst/>
            <a:rect l="l" t="t" r="r" b="b"/>
            <a:pathLst>
              <a:path w="57687" h="57687">
                <a:moveTo>
                  <a:pt x="57687" y="0"/>
                </a:moveTo>
                <a:lnTo>
                  <a:pt x="57687" y="57687"/>
                </a:lnTo>
                <a:lnTo>
                  <a:pt x="0" y="57687"/>
                </a:lnTo>
                <a:lnTo>
                  <a:pt x="0" y="57034"/>
                </a:lnTo>
                <a:lnTo>
                  <a:pt x="19858" y="56596"/>
                </a:lnTo>
                <a:lnTo>
                  <a:pt x="18352" y="20565"/>
                </a:lnTo>
                <a:lnTo>
                  <a:pt x="17499"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6" name="Illustrative delivered road transport cost class 4; reference terminal Lesedi"/>
          <p:cNvSpPr/>
          <p:nvPr/>
        </p:nvSpPr>
        <p:spPr>
          <a:xfrm>
            <a:off x="2565608" y="3825322"/>
            <a:ext cx="42582" cy="57686"/>
          </a:xfrm>
          <a:custGeom>
            <a:avLst/>
            <a:gdLst/>
            <a:ahLst/>
            <a:cxnLst/>
            <a:rect l="l" t="t" r="r" b="b"/>
            <a:pathLst>
              <a:path w="42582" h="57686">
                <a:moveTo>
                  <a:pt x="42582" y="0"/>
                </a:moveTo>
                <a:lnTo>
                  <a:pt x="42582" y="57686"/>
                </a:lnTo>
                <a:lnTo>
                  <a:pt x="2394" y="57686"/>
                </a:lnTo>
                <a:lnTo>
                  <a:pt x="0" y="0"/>
                </a:lnTo>
                <a:lnTo>
                  <a:pt x="425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7" name="Illustrative delivered road transport cost class 4; reference terminal Lesedi"/>
          <p:cNvSpPr/>
          <p:nvPr/>
        </p:nvSpPr>
        <p:spPr>
          <a:xfrm>
            <a:off x="2563224" y="3767635"/>
            <a:ext cx="44966" cy="57687"/>
          </a:xfrm>
          <a:custGeom>
            <a:avLst/>
            <a:gdLst/>
            <a:ahLst/>
            <a:cxnLst/>
            <a:rect l="l" t="t" r="r" b="b"/>
            <a:pathLst>
              <a:path w="44966" h="57687">
                <a:moveTo>
                  <a:pt x="44966" y="0"/>
                </a:moveTo>
                <a:lnTo>
                  <a:pt x="44966" y="57687"/>
                </a:lnTo>
                <a:lnTo>
                  <a:pt x="2384" y="57687"/>
                </a:lnTo>
                <a:lnTo>
                  <a:pt x="912" y="22206"/>
                </a:lnTo>
                <a:lnTo>
                  <a:pt x="0" y="0"/>
                </a:lnTo>
                <a:lnTo>
                  <a:pt x="449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8" name="Illustrative delivered road transport cost class 4; reference terminal Lesedi"/>
          <p:cNvSpPr/>
          <p:nvPr/>
        </p:nvSpPr>
        <p:spPr>
          <a:xfrm>
            <a:off x="2560856" y="3709949"/>
            <a:ext cx="47334" cy="57686"/>
          </a:xfrm>
          <a:custGeom>
            <a:avLst/>
            <a:gdLst/>
            <a:ahLst/>
            <a:cxnLst/>
            <a:rect l="l" t="t" r="r" b="b"/>
            <a:pathLst>
              <a:path w="47334" h="57686">
                <a:moveTo>
                  <a:pt x="47334" y="0"/>
                </a:moveTo>
                <a:lnTo>
                  <a:pt x="47334" y="57686"/>
                </a:lnTo>
                <a:lnTo>
                  <a:pt x="2368" y="57686"/>
                </a:lnTo>
                <a:lnTo>
                  <a:pt x="0" y="0"/>
                </a:lnTo>
                <a:lnTo>
                  <a:pt x="4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9" name="Illustrative delivered road transport cost class 4; reference terminal Lesedi"/>
          <p:cNvSpPr/>
          <p:nvPr/>
        </p:nvSpPr>
        <p:spPr>
          <a:xfrm>
            <a:off x="2558498" y="3652262"/>
            <a:ext cx="49692" cy="57687"/>
          </a:xfrm>
          <a:custGeom>
            <a:avLst/>
            <a:gdLst/>
            <a:ahLst/>
            <a:cxnLst/>
            <a:rect l="l" t="t" r="r" b="b"/>
            <a:pathLst>
              <a:path w="49692" h="57687">
                <a:moveTo>
                  <a:pt x="49692" y="0"/>
                </a:moveTo>
                <a:lnTo>
                  <a:pt x="49692" y="57687"/>
                </a:lnTo>
                <a:lnTo>
                  <a:pt x="2358" y="57687"/>
                </a:lnTo>
                <a:lnTo>
                  <a:pt x="969" y="23856"/>
                </a:lnTo>
                <a:lnTo>
                  <a:pt x="0" y="0"/>
                </a:lnTo>
                <a:lnTo>
                  <a:pt x="4969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0" name="Illustrative delivered road transport cost class 4; reference terminal Lesedi"/>
          <p:cNvSpPr/>
          <p:nvPr/>
        </p:nvSpPr>
        <p:spPr>
          <a:xfrm>
            <a:off x="2556156" y="3594576"/>
            <a:ext cx="52034" cy="57686"/>
          </a:xfrm>
          <a:custGeom>
            <a:avLst/>
            <a:gdLst/>
            <a:ahLst/>
            <a:cxnLst/>
            <a:rect l="l" t="t" r="r" b="b"/>
            <a:pathLst>
              <a:path w="52034" h="57686">
                <a:moveTo>
                  <a:pt x="52034" y="0"/>
                </a:moveTo>
                <a:lnTo>
                  <a:pt x="52034" y="57686"/>
                </a:lnTo>
                <a:lnTo>
                  <a:pt x="2342" y="57686"/>
                </a:lnTo>
                <a:lnTo>
                  <a:pt x="0" y="0"/>
                </a:lnTo>
                <a:lnTo>
                  <a:pt x="520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1" name="Illustrative delivered road transport cost class 4; reference terminal Lesedi"/>
          <p:cNvSpPr/>
          <p:nvPr/>
        </p:nvSpPr>
        <p:spPr>
          <a:xfrm>
            <a:off x="2553825" y="3536889"/>
            <a:ext cx="54365" cy="57687"/>
          </a:xfrm>
          <a:custGeom>
            <a:avLst/>
            <a:gdLst/>
            <a:ahLst/>
            <a:cxnLst/>
            <a:rect l="l" t="t" r="r" b="b"/>
            <a:pathLst>
              <a:path w="54365" h="57687">
                <a:moveTo>
                  <a:pt x="54365" y="0"/>
                </a:moveTo>
                <a:lnTo>
                  <a:pt x="54365" y="57687"/>
                </a:lnTo>
                <a:lnTo>
                  <a:pt x="2331" y="57687"/>
                </a:lnTo>
                <a:lnTo>
                  <a:pt x="1026" y="25543"/>
                </a:lnTo>
                <a:lnTo>
                  <a:pt x="0" y="0"/>
                </a:lnTo>
                <a:lnTo>
                  <a:pt x="5436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2" name="Illustrative delivered road transport cost class 4; reference terminal Lesedi"/>
          <p:cNvSpPr/>
          <p:nvPr/>
        </p:nvSpPr>
        <p:spPr>
          <a:xfrm>
            <a:off x="2551508" y="3479202"/>
            <a:ext cx="56682" cy="57687"/>
          </a:xfrm>
          <a:custGeom>
            <a:avLst/>
            <a:gdLst/>
            <a:ahLst/>
            <a:cxnLst/>
            <a:rect l="l" t="t" r="r" b="b"/>
            <a:pathLst>
              <a:path w="56682" h="57687">
                <a:moveTo>
                  <a:pt x="56682" y="0"/>
                </a:moveTo>
                <a:lnTo>
                  <a:pt x="56682" y="57687"/>
                </a:lnTo>
                <a:lnTo>
                  <a:pt x="2317" y="57687"/>
                </a:lnTo>
                <a:lnTo>
                  <a:pt x="0" y="0"/>
                </a:lnTo>
                <a:lnTo>
                  <a:pt x="566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3" name="Illustrative delivered road transport cost class 4; reference terminal Lesedi"/>
          <p:cNvSpPr/>
          <p:nvPr/>
        </p:nvSpPr>
        <p:spPr>
          <a:xfrm>
            <a:off x="2550503" y="3421516"/>
            <a:ext cx="57687" cy="57686"/>
          </a:xfrm>
          <a:custGeom>
            <a:avLst/>
            <a:gdLst/>
            <a:ahLst/>
            <a:cxnLst/>
            <a:rect l="l" t="t" r="r" b="b"/>
            <a:pathLst>
              <a:path w="57687" h="57686">
                <a:moveTo>
                  <a:pt x="0" y="0"/>
                </a:moveTo>
                <a:lnTo>
                  <a:pt x="57687" y="0"/>
                </a:lnTo>
                <a:lnTo>
                  <a:pt x="57687" y="57686"/>
                </a:lnTo>
                <a:lnTo>
                  <a:pt x="1005" y="57686"/>
                </a:lnTo>
                <a:lnTo>
                  <a:pt x="0" y="3265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4" name="Illustrative delivered road transport cost class 4; reference terminal Lesedi"/>
          <p:cNvSpPr/>
          <p:nvPr/>
        </p:nvSpPr>
        <p:spPr>
          <a:xfrm>
            <a:off x="255050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5" name="Illustrative delivered road transport cost class 4; reference terminal Lesedi"/>
          <p:cNvSpPr/>
          <p:nvPr/>
        </p:nvSpPr>
        <p:spPr>
          <a:xfrm>
            <a:off x="255050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6" name="Illustrative delivered road transport cost class 4; reference terminal Lesedi"/>
          <p:cNvSpPr/>
          <p:nvPr/>
        </p:nvSpPr>
        <p:spPr>
          <a:xfrm>
            <a:off x="255050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7" name="Illustrative delivered road transport cost class 4; reference terminal Lesedi"/>
          <p:cNvSpPr/>
          <p:nvPr/>
        </p:nvSpPr>
        <p:spPr>
          <a:xfrm>
            <a:off x="255050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8" name="Illustrative delivered road transport cost class 4; reference terminal Lesedi"/>
          <p:cNvSpPr/>
          <p:nvPr/>
        </p:nvSpPr>
        <p:spPr>
          <a:xfrm>
            <a:off x="255050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9" name="Illustrative delivered road transport cost class 4; reference terminal Lesedi"/>
          <p:cNvSpPr/>
          <p:nvPr/>
        </p:nvSpPr>
        <p:spPr>
          <a:xfrm>
            <a:off x="255050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0" name="Illustrative delivered road transport cost class 4; reference terminal Lesedi"/>
          <p:cNvSpPr/>
          <p:nvPr/>
        </p:nvSpPr>
        <p:spPr>
          <a:xfrm>
            <a:off x="2550503" y="3017710"/>
            <a:ext cx="57687" cy="57686"/>
          </a:xfrm>
          <a:custGeom>
            <a:avLst/>
            <a:gdLst/>
            <a:ahLst/>
            <a:cxnLst/>
            <a:rect l="l" t="t" r="r" b="b"/>
            <a:pathLst>
              <a:path w="57687" h="57686">
                <a:moveTo>
                  <a:pt x="57687" y="57686"/>
                </a:moveTo>
                <a:lnTo>
                  <a:pt x="0" y="57686"/>
                </a:lnTo>
                <a:lnTo>
                  <a:pt x="0" y="0"/>
                </a:lnTo>
                <a:lnTo>
                  <a:pt x="7800" y="0"/>
                </a:lnTo>
                <a:lnTo>
                  <a:pt x="57687" y="35548"/>
                </a:lnTo>
                <a:lnTo>
                  <a:pt x="57687"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1" name="Illustrative delivered road transport cost class None; reference terminal None"/>
          <p:cNvSpPr/>
          <p:nvPr/>
        </p:nvSpPr>
        <p:spPr>
          <a:xfrm>
            <a:off x="2550503" y="3012152"/>
            <a:ext cx="7800" cy="5558"/>
          </a:xfrm>
          <a:custGeom>
            <a:avLst/>
            <a:gdLst/>
            <a:ahLst/>
            <a:cxnLst/>
            <a:rect l="l" t="t" r="r" b="b"/>
            <a:pathLst>
              <a:path w="7800" h="5558">
                <a:moveTo>
                  <a:pt x="0" y="5558"/>
                </a:moveTo>
                <a:lnTo>
                  <a:pt x="0" y="0"/>
                </a:lnTo>
                <a:lnTo>
                  <a:pt x="7800" y="5558"/>
                </a:lnTo>
                <a:lnTo>
                  <a:pt x="0" y="55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2" name="Illustrative delivered road transport cost class 4; reference terminal Durban"/>
          <p:cNvSpPr/>
          <p:nvPr/>
        </p:nvSpPr>
        <p:spPr>
          <a:xfrm>
            <a:off x="2627732" y="5555919"/>
            <a:ext cx="27334" cy="2892"/>
          </a:xfrm>
          <a:custGeom>
            <a:avLst/>
            <a:gdLst/>
            <a:ahLst/>
            <a:cxnLst/>
            <a:rect l="l" t="t" r="r" b="b"/>
            <a:pathLst>
              <a:path w="27334" h="2892">
                <a:moveTo>
                  <a:pt x="27334" y="0"/>
                </a:moveTo>
                <a:lnTo>
                  <a:pt x="24061" y="2892"/>
                </a:lnTo>
                <a:lnTo>
                  <a:pt x="4009" y="955"/>
                </a:lnTo>
                <a:lnTo>
                  <a:pt x="0" y="0"/>
                </a:lnTo>
                <a:lnTo>
                  <a:pt x="2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3" name="Illustrative delivered road transport cost class 4; reference terminal Durban"/>
          <p:cNvSpPr/>
          <p:nvPr/>
        </p:nvSpPr>
        <p:spPr>
          <a:xfrm>
            <a:off x="2608190" y="5498232"/>
            <a:ext cx="57686" cy="57687"/>
          </a:xfrm>
          <a:custGeom>
            <a:avLst/>
            <a:gdLst/>
            <a:ahLst/>
            <a:cxnLst/>
            <a:rect l="l" t="t" r="r" b="b"/>
            <a:pathLst>
              <a:path w="57686" h="57687">
                <a:moveTo>
                  <a:pt x="0" y="0"/>
                </a:moveTo>
                <a:lnTo>
                  <a:pt x="57686" y="0"/>
                </a:lnTo>
                <a:lnTo>
                  <a:pt x="57686" y="48136"/>
                </a:lnTo>
                <a:lnTo>
                  <a:pt x="46876" y="57687"/>
                </a:lnTo>
                <a:lnTo>
                  <a:pt x="19542" y="57687"/>
                </a:lnTo>
                <a:lnTo>
                  <a:pt x="7220" y="54751"/>
                </a:lnTo>
                <a:lnTo>
                  <a:pt x="0" y="5495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4" name="Illustrative delivered road transport cost class 4; reference terminal Durban"/>
          <p:cNvSpPr/>
          <p:nvPr/>
        </p:nvSpPr>
        <p:spPr>
          <a:xfrm>
            <a:off x="2608190" y="544054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5" name="Illustrative delivered road transport cost class 4; reference terminal Durban"/>
          <p:cNvSpPr/>
          <p:nvPr/>
        </p:nvSpPr>
        <p:spPr>
          <a:xfrm>
            <a:off x="260819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6" name="Illustrative delivered road transport cost class 4; reference terminal Lesedi"/>
          <p:cNvSpPr/>
          <p:nvPr/>
        </p:nvSpPr>
        <p:spPr>
          <a:xfrm>
            <a:off x="260819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7" name="Illustrative delivered road transport cost class 4; reference terminal Lesedi"/>
          <p:cNvSpPr/>
          <p:nvPr/>
        </p:nvSpPr>
        <p:spPr>
          <a:xfrm>
            <a:off x="260819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8" name="Illustrative delivered road transport cost class 4; reference terminal Lesedi"/>
          <p:cNvSpPr/>
          <p:nvPr/>
        </p:nvSpPr>
        <p:spPr>
          <a:xfrm>
            <a:off x="260819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9" name="Illustrative delivered road transport cost class 4; reference terminal Lesedi"/>
          <p:cNvSpPr/>
          <p:nvPr/>
        </p:nvSpPr>
        <p:spPr>
          <a:xfrm>
            <a:off x="260819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0" name="Illustrative delivered road transport cost class 4; reference terminal Lesedi"/>
          <p:cNvSpPr/>
          <p:nvPr/>
        </p:nvSpPr>
        <p:spPr>
          <a:xfrm>
            <a:off x="260819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1" name="Illustrative delivered road transport cost class 4; reference terminal Lesedi"/>
          <p:cNvSpPr/>
          <p:nvPr/>
        </p:nvSpPr>
        <p:spPr>
          <a:xfrm>
            <a:off x="260819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2" name="Illustrative delivered road transport cost class 4; reference terminal Lesedi"/>
          <p:cNvSpPr/>
          <p:nvPr/>
        </p:nvSpPr>
        <p:spPr>
          <a:xfrm>
            <a:off x="260819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3" name="Illustrative delivered road transport cost class 4; reference terminal Lesedi"/>
          <p:cNvSpPr/>
          <p:nvPr/>
        </p:nvSpPr>
        <p:spPr>
          <a:xfrm>
            <a:off x="260819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4" name="Illustrative delivered road transport cost class None; reference terminal None"/>
          <p:cNvSpPr/>
          <p:nvPr/>
        </p:nvSpPr>
        <p:spPr>
          <a:xfrm>
            <a:off x="260819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5" name="Illustrative delivered road transport cost class None; reference terminal None"/>
          <p:cNvSpPr/>
          <p:nvPr/>
        </p:nvSpPr>
        <p:spPr>
          <a:xfrm>
            <a:off x="260819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6" name="Illustrative delivered road transport cost class None; reference terminal None"/>
          <p:cNvSpPr/>
          <p:nvPr/>
        </p:nvSpPr>
        <p:spPr>
          <a:xfrm>
            <a:off x="260819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7" name="Illustrative delivered road transport cost class None; reference terminal None"/>
          <p:cNvSpPr/>
          <p:nvPr/>
        </p:nvSpPr>
        <p:spPr>
          <a:xfrm>
            <a:off x="260819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8" name="Illustrative delivered road transport cost class None; reference terminal None"/>
          <p:cNvSpPr/>
          <p:nvPr/>
        </p:nvSpPr>
        <p:spPr>
          <a:xfrm>
            <a:off x="260819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9" name="Illustrative delivered road transport cost class None; reference terminal None"/>
          <p:cNvSpPr/>
          <p:nvPr/>
        </p:nvSpPr>
        <p:spPr>
          <a:xfrm>
            <a:off x="260819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0" name="Illustrative delivered road transport cost class None; reference terminal None"/>
          <p:cNvSpPr/>
          <p:nvPr/>
        </p:nvSpPr>
        <p:spPr>
          <a:xfrm>
            <a:off x="260819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1" name="Illustrative delivered road transport cost class None; reference terminal None"/>
          <p:cNvSpPr/>
          <p:nvPr/>
        </p:nvSpPr>
        <p:spPr>
          <a:xfrm>
            <a:off x="260819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2" name="Illustrative delivered road transport cost class None; reference terminal None"/>
          <p:cNvSpPr/>
          <p:nvPr/>
        </p:nvSpPr>
        <p:spPr>
          <a:xfrm>
            <a:off x="260819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3" name="Illustrative delivered road transport cost class None; reference terminal None"/>
          <p:cNvSpPr/>
          <p:nvPr/>
        </p:nvSpPr>
        <p:spPr>
          <a:xfrm>
            <a:off x="260819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4" name="Illustrative delivered road transport cost class None; reference terminal None"/>
          <p:cNvSpPr/>
          <p:nvPr/>
        </p:nvSpPr>
        <p:spPr>
          <a:xfrm>
            <a:off x="260819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5" name="Illustrative delivered road transport cost class None; reference terminal None"/>
          <p:cNvSpPr/>
          <p:nvPr/>
        </p:nvSpPr>
        <p:spPr>
          <a:xfrm>
            <a:off x="260819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6" name="Illustrative delivered road transport cost class 4; reference terminal Lesedi"/>
          <p:cNvSpPr/>
          <p:nvPr/>
        </p:nvSpPr>
        <p:spPr>
          <a:xfrm>
            <a:off x="260819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7" name="Illustrative delivered road transport cost class 4; reference terminal Lesedi"/>
          <p:cNvSpPr/>
          <p:nvPr/>
        </p:nvSpPr>
        <p:spPr>
          <a:xfrm>
            <a:off x="260819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8" name="Illustrative delivered road transport cost class 4; reference terminal Lesedi"/>
          <p:cNvSpPr/>
          <p:nvPr/>
        </p:nvSpPr>
        <p:spPr>
          <a:xfrm>
            <a:off x="260819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9" name="Illustrative delivered road transport cost class 4; reference terminal Lesedi"/>
          <p:cNvSpPr/>
          <p:nvPr/>
        </p:nvSpPr>
        <p:spPr>
          <a:xfrm>
            <a:off x="260819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0" name="Illustrative delivered road transport cost class 4; reference terminal Lesedi"/>
          <p:cNvSpPr/>
          <p:nvPr/>
        </p:nvSpPr>
        <p:spPr>
          <a:xfrm>
            <a:off x="260819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1" name="Illustrative delivered road transport cost class 4; reference terminal Lesedi"/>
          <p:cNvSpPr/>
          <p:nvPr/>
        </p:nvSpPr>
        <p:spPr>
          <a:xfrm>
            <a:off x="260819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2" name="Illustrative delivered road transport cost class 4; reference terminal Lesedi"/>
          <p:cNvSpPr/>
          <p:nvPr/>
        </p:nvSpPr>
        <p:spPr>
          <a:xfrm>
            <a:off x="260819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3" name="Illustrative delivered road transport cost class 4; reference terminal Lesedi"/>
          <p:cNvSpPr/>
          <p:nvPr/>
        </p:nvSpPr>
        <p:spPr>
          <a:xfrm>
            <a:off x="260819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4" name="Illustrative delivered road transport cost class 4; reference terminal Lesedi"/>
          <p:cNvSpPr/>
          <p:nvPr/>
        </p:nvSpPr>
        <p:spPr>
          <a:xfrm>
            <a:off x="260819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5" name="Illustrative delivered road transport cost class 4; reference terminal Lesedi"/>
          <p:cNvSpPr/>
          <p:nvPr/>
        </p:nvSpPr>
        <p:spPr>
          <a:xfrm>
            <a:off x="260819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6" name="Illustrative delivered road transport cost class 4; reference terminal Lesedi"/>
          <p:cNvSpPr/>
          <p:nvPr/>
        </p:nvSpPr>
        <p:spPr>
          <a:xfrm>
            <a:off x="260819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7" name="Illustrative delivered road transport cost class 4; reference terminal Lesedi"/>
          <p:cNvSpPr/>
          <p:nvPr/>
        </p:nvSpPr>
        <p:spPr>
          <a:xfrm>
            <a:off x="260819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8" name="Illustrative delivered road transport cost class 4; reference terminal Lesedi"/>
          <p:cNvSpPr/>
          <p:nvPr/>
        </p:nvSpPr>
        <p:spPr>
          <a:xfrm>
            <a:off x="260819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9" name="Illustrative delivered road transport cost class 4; reference terminal Lesedi"/>
          <p:cNvSpPr/>
          <p:nvPr/>
        </p:nvSpPr>
        <p:spPr>
          <a:xfrm>
            <a:off x="260819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0" name="Illustrative delivered road transport cost class 4; reference terminal Lesedi"/>
          <p:cNvSpPr/>
          <p:nvPr/>
        </p:nvSpPr>
        <p:spPr>
          <a:xfrm>
            <a:off x="260819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1" name="Illustrative delivered road transport cost class 4; reference terminal Lesedi"/>
          <p:cNvSpPr/>
          <p:nvPr/>
        </p:nvSpPr>
        <p:spPr>
          <a:xfrm>
            <a:off x="260819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2" name="Illustrative delivered road transport cost class 4; reference terminal Lesedi"/>
          <p:cNvSpPr/>
          <p:nvPr/>
        </p:nvSpPr>
        <p:spPr>
          <a:xfrm>
            <a:off x="260819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3" name="Illustrative delivered road transport cost class 4; reference terminal Lesedi"/>
          <p:cNvSpPr/>
          <p:nvPr/>
        </p:nvSpPr>
        <p:spPr>
          <a:xfrm>
            <a:off x="260819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4" name="Illustrative delivered road transport cost class 4; reference terminal Lesedi"/>
          <p:cNvSpPr/>
          <p:nvPr/>
        </p:nvSpPr>
        <p:spPr>
          <a:xfrm>
            <a:off x="2608190" y="3133083"/>
            <a:ext cx="57686" cy="57687"/>
          </a:xfrm>
          <a:custGeom>
            <a:avLst/>
            <a:gdLst/>
            <a:ahLst/>
            <a:cxnLst/>
            <a:rect l="l" t="t" r="r" b="b"/>
            <a:pathLst>
              <a:path w="57686" h="57687">
                <a:moveTo>
                  <a:pt x="57686" y="57687"/>
                </a:moveTo>
                <a:lnTo>
                  <a:pt x="0" y="57687"/>
                </a:lnTo>
                <a:lnTo>
                  <a:pt x="0" y="0"/>
                </a:lnTo>
                <a:lnTo>
                  <a:pt x="55191" y="0"/>
                </a:lnTo>
                <a:lnTo>
                  <a:pt x="57686" y="4983"/>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5" name="Illustrative delivered road transport cost class 4; reference terminal Lesedi"/>
          <p:cNvSpPr/>
          <p:nvPr/>
        </p:nvSpPr>
        <p:spPr>
          <a:xfrm>
            <a:off x="2608190" y="3075396"/>
            <a:ext cx="55191" cy="57687"/>
          </a:xfrm>
          <a:custGeom>
            <a:avLst/>
            <a:gdLst/>
            <a:ahLst/>
            <a:cxnLst/>
            <a:rect l="l" t="t" r="r" b="b"/>
            <a:pathLst>
              <a:path w="55191" h="57687">
                <a:moveTo>
                  <a:pt x="0" y="57687"/>
                </a:moveTo>
                <a:lnTo>
                  <a:pt x="0" y="0"/>
                </a:lnTo>
                <a:lnTo>
                  <a:pt x="21710" y="0"/>
                </a:lnTo>
                <a:lnTo>
                  <a:pt x="32863" y="15553"/>
                </a:lnTo>
                <a:lnTo>
                  <a:pt x="43399" y="34147"/>
                </a:lnTo>
                <a:lnTo>
                  <a:pt x="55191"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6" name="Illustrative delivered road transport cost class 4; reference terminal Lesedi"/>
          <p:cNvSpPr/>
          <p:nvPr/>
        </p:nvSpPr>
        <p:spPr>
          <a:xfrm>
            <a:off x="2608190" y="3053258"/>
            <a:ext cx="21710" cy="22138"/>
          </a:xfrm>
          <a:custGeom>
            <a:avLst/>
            <a:gdLst/>
            <a:ahLst/>
            <a:cxnLst/>
            <a:rect l="l" t="t" r="r" b="b"/>
            <a:pathLst>
              <a:path w="21710" h="22138">
                <a:moveTo>
                  <a:pt x="0" y="22138"/>
                </a:moveTo>
                <a:lnTo>
                  <a:pt x="0" y="0"/>
                </a:lnTo>
                <a:lnTo>
                  <a:pt x="11930" y="8502"/>
                </a:lnTo>
                <a:lnTo>
                  <a:pt x="21710" y="22138"/>
                </a:lnTo>
                <a:lnTo>
                  <a:pt x="0" y="2213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7" name="Illustrative delivered road transport cost class 4; reference terminal Durban"/>
          <p:cNvSpPr/>
          <p:nvPr/>
        </p:nvSpPr>
        <p:spPr>
          <a:xfrm>
            <a:off x="2665876" y="5498232"/>
            <a:ext cx="54480" cy="48136"/>
          </a:xfrm>
          <a:custGeom>
            <a:avLst/>
            <a:gdLst/>
            <a:ahLst/>
            <a:cxnLst/>
            <a:rect l="l" t="t" r="r" b="b"/>
            <a:pathLst>
              <a:path w="54480" h="48136">
                <a:moveTo>
                  <a:pt x="0" y="0"/>
                </a:moveTo>
                <a:lnTo>
                  <a:pt x="54480" y="0"/>
                </a:lnTo>
                <a:lnTo>
                  <a:pt x="0" y="481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8" name="Illustrative delivered road transport cost class 4; reference terminal Durban"/>
          <p:cNvSpPr/>
          <p:nvPr/>
        </p:nvSpPr>
        <p:spPr>
          <a:xfrm>
            <a:off x="2665876" y="5440546"/>
            <a:ext cx="57687" cy="57686"/>
          </a:xfrm>
          <a:custGeom>
            <a:avLst/>
            <a:gdLst/>
            <a:ahLst/>
            <a:cxnLst/>
            <a:rect l="l" t="t" r="r" b="b"/>
            <a:pathLst>
              <a:path w="57687" h="57686">
                <a:moveTo>
                  <a:pt x="0" y="57686"/>
                </a:moveTo>
                <a:lnTo>
                  <a:pt x="0" y="0"/>
                </a:lnTo>
                <a:lnTo>
                  <a:pt x="57687" y="0"/>
                </a:lnTo>
                <a:lnTo>
                  <a:pt x="57687" y="54853"/>
                </a:lnTo>
                <a:lnTo>
                  <a:pt x="54480"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9" name="Illustrative delivered road transport cost class 4; reference terminal Durban"/>
          <p:cNvSpPr/>
          <p:nvPr/>
        </p:nvSpPr>
        <p:spPr>
          <a:xfrm>
            <a:off x="266587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0" name="Illustrative delivered road transport cost class 4; reference terminal Durban"/>
          <p:cNvSpPr/>
          <p:nvPr/>
        </p:nvSpPr>
        <p:spPr>
          <a:xfrm>
            <a:off x="266587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1" name="Illustrative delivered road transport cost class 4; reference terminal Lesedi"/>
          <p:cNvSpPr/>
          <p:nvPr/>
        </p:nvSpPr>
        <p:spPr>
          <a:xfrm>
            <a:off x="266587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2" name="Illustrative delivered road transport cost class 4; reference terminal Lesedi"/>
          <p:cNvSpPr/>
          <p:nvPr/>
        </p:nvSpPr>
        <p:spPr>
          <a:xfrm>
            <a:off x="266587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3" name="Illustrative delivered road transport cost class 4; reference terminal Lesedi"/>
          <p:cNvSpPr/>
          <p:nvPr/>
        </p:nvSpPr>
        <p:spPr>
          <a:xfrm>
            <a:off x="266587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4" name="Illustrative delivered road transport cost class 4; reference terminal Lesedi"/>
          <p:cNvSpPr/>
          <p:nvPr/>
        </p:nvSpPr>
        <p:spPr>
          <a:xfrm>
            <a:off x="266587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5" name="Illustrative delivered road transport cost class 4; reference terminal Lesedi"/>
          <p:cNvSpPr/>
          <p:nvPr/>
        </p:nvSpPr>
        <p:spPr>
          <a:xfrm>
            <a:off x="266587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6" name="Illustrative delivered road transport cost class 4; reference terminal Lesedi"/>
          <p:cNvSpPr/>
          <p:nvPr/>
        </p:nvSpPr>
        <p:spPr>
          <a:xfrm>
            <a:off x="266587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7" name="Illustrative delivered road transport cost class 4; reference terminal Lesedi"/>
          <p:cNvSpPr/>
          <p:nvPr/>
        </p:nvSpPr>
        <p:spPr>
          <a:xfrm>
            <a:off x="266587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8" name="Illustrative delivered road transport cost class None; reference terminal None"/>
          <p:cNvSpPr/>
          <p:nvPr/>
        </p:nvSpPr>
        <p:spPr>
          <a:xfrm>
            <a:off x="266587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9" name="Illustrative delivered road transport cost class None; reference terminal None"/>
          <p:cNvSpPr/>
          <p:nvPr/>
        </p:nvSpPr>
        <p:spPr>
          <a:xfrm>
            <a:off x="266587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0" name="Illustrative delivered road transport cost class None; reference terminal None"/>
          <p:cNvSpPr/>
          <p:nvPr/>
        </p:nvSpPr>
        <p:spPr>
          <a:xfrm>
            <a:off x="266587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1" name="Illustrative delivered road transport cost class None; reference terminal None"/>
          <p:cNvSpPr/>
          <p:nvPr/>
        </p:nvSpPr>
        <p:spPr>
          <a:xfrm>
            <a:off x="266587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2" name="Illustrative delivered road transport cost class None; reference terminal None"/>
          <p:cNvSpPr/>
          <p:nvPr/>
        </p:nvSpPr>
        <p:spPr>
          <a:xfrm>
            <a:off x="266587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3" name="Illustrative delivered road transport cost class None; reference terminal None"/>
          <p:cNvSpPr/>
          <p:nvPr/>
        </p:nvSpPr>
        <p:spPr>
          <a:xfrm>
            <a:off x="266587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4" name="Illustrative delivered road transport cost class None; reference terminal None"/>
          <p:cNvSpPr/>
          <p:nvPr/>
        </p:nvSpPr>
        <p:spPr>
          <a:xfrm>
            <a:off x="266587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5" name="Illustrative delivered road transport cost class None; reference terminal None"/>
          <p:cNvSpPr/>
          <p:nvPr/>
        </p:nvSpPr>
        <p:spPr>
          <a:xfrm>
            <a:off x="266587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6" name="Illustrative delivered road transport cost class None; reference terminal None"/>
          <p:cNvSpPr/>
          <p:nvPr/>
        </p:nvSpPr>
        <p:spPr>
          <a:xfrm>
            <a:off x="266587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7" name="Illustrative delivered road transport cost class None; reference terminal None"/>
          <p:cNvSpPr/>
          <p:nvPr/>
        </p:nvSpPr>
        <p:spPr>
          <a:xfrm>
            <a:off x="266587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8" name="Illustrative delivered road transport cost class None; reference terminal None"/>
          <p:cNvSpPr/>
          <p:nvPr/>
        </p:nvSpPr>
        <p:spPr>
          <a:xfrm>
            <a:off x="266587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9" name="Illustrative delivered road transport cost class None; reference terminal None"/>
          <p:cNvSpPr/>
          <p:nvPr/>
        </p:nvSpPr>
        <p:spPr>
          <a:xfrm>
            <a:off x="266587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0" name="Illustrative delivered road transport cost class 4; reference terminal Lesedi"/>
          <p:cNvSpPr/>
          <p:nvPr/>
        </p:nvSpPr>
        <p:spPr>
          <a:xfrm>
            <a:off x="266587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1" name="Illustrative delivered road transport cost class 4; reference terminal Lesedi"/>
          <p:cNvSpPr/>
          <p:nvPr/>
        </p:nvSpPr>
        <p:spPr>
          <a:xfrm>
            <a:off x="266587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2" name="Illustrative delivered road transport cost class 4; reference terminal Lesedi"/>
          <p:cNvSpPr/>
          <p:nvPr/>
        </p:nvSpPr>
        <p:spPr>
          <a:xfrm>
            <a:off x="266587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3" name="Illustrative delivered road transport cost class 3; reference terminal Lesedi"/>
          <p:cNvSpPr/>
          <p:nvPr/>
        </p:nvSpPr>
        <p:spPr>
          <a:xfrm>
            <a:off x="266587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4" name="Illustrative delivered road transport cost class 3; reference terminal Lesedi"/>
          <p:cNvSpPr/>
          <p:nvPr/>
        </p:nvSpPr>
        <p:spPr>
          <a:xfrm>
            <a:off x="266587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5" name="Illustrative delivered road transport cost class 4; reference terminal Lesedi"/>
          <p:cNvSpPr/>
          <p:nvPr/>
        </p:nvSpPr>
        <p:spPr>
          <a:xfrm>
            <a:off x="266587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6" name="Illustrative delivered road transport cost class 4; reference terminal Lesedi"/>
          <p:cNvSpPr/>
          <p:nvPr/>
        </p:nvSpPr>
        <p:spPr>
          <a:xfrm>
            <a:off x="266587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7" name="Illustrative delivered road transport cost class 4; reference terminal Lesedi"/>
          <p:cNvSpPr/>
          <p:nvPr/>
        </p:nvSpPr>
        <p:spPr>
          <a:xfrm>
            <a:off x="266587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8" name="Illustrative delivered road transport cost class 4; reference terminal Lesedi"/>
          <p:cNvSpPr/>
          <p:nvPr/>
        </p:nvSpPr>
        <p:spPr>
          <a:xfrm>
            <a:off x="266587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9" name="Illustrative delivered road transport cost class 4; reference terminal Lesedi"/>
          <p:cNvSpPr/>
          <p:nvPr/>
        </p:nvSpPr>
        <p:spPr>
          <a:xfrm>
            <a:off x="266587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0" name="Illustrative delivered road transport cost class 4; reference terminal Lesedi"/>
          <p:cNvSpPr/>
          <p:nvPr/>
        </p:nvSpPr>
        <p:spPr>
          <a:xfrm>
            <a:off x="266587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1" name="Illustrative delivered road transport cost class 4; reference terminal Lesedi"/>
          <p:cNvSpPr/>
          <p:nvPr/>
        </p:nvSpPr>
        <p:spPr>
          <a:xfrm>
            <a:off x="266587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2" name="Illustrative delivered road transport cost class 4; reference terminal Lesedi"/>
          <p:cNvSpPr/>
          <p:nvPr/>
        </p:nvSpPr>
        <p:spPr>
          <a:xfrm>
            <a:off x="2665876" y="3479202"/>
            <a:ext cx="57687" cy="57687"/>
          </a:xfrm>
          <a:custGeom>
            <a:avLst/>
            <a:gdLst/>
            <a:ahLst/>
            <a:cxnLst/>
            <a:rect l="l" t="t" r="r" b="b"/>
            <a:pathLst>
              <a:path w="57687" h="57687">
                <a:moveTo>
                  <a:pt x="57687" y="57687"/>
                </a:moveTo>
                <a:lnTo>
                  <a:pt x="0" y="57687"/>
                </a:lnTo>
                <a:lnTo>
                  <a:pt x="0" y="0"/>
                </a:lnTo>
                <a:lnTo>
                  <a:pt x="35371" y="0"/>
                </a:lnTo>
                <a:lnTo>
                  <a:pt x="38098" y="17586"/>
                </a:lnTo>
                <a:lnTo>
                  <a:pt x="48817" y="37746"/>
                </a:lnTo>
                <a:lnTo>
                  <a:pt x="57687" y="42112"/>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3" name="Illustrative delivered road transport cost class 4; reference terminal Lesedi"/>
          <p:cNvSpPr/>
          <p:nvPr/>
        </p:nvSpPr>
        <p:spPr>
          <a:xfrm>
            <a:off x="2665876" y="3421516"/>
            <a:ext cx="35371" cy="57686"/>
          </a:xfrm>
          <a:custGeom>
            <a:avLst/>
            <a:gdLst/>
            <a:ahLst/>
            <a:cxnLst/>
            <a:rect l="l" t="t" r="r" b="b"/>
            <a:pathLst>
              <a:path w="35371" h="57686">
                <a:moveTo>
                  <a:pt x="0" y="57686"/>
                </a:moveTo>
                <a:lnTo>
                  <a:pt x="0" y="0"/>
                </a:lnTo>
                <a:lnTo>
                  <a:pt x="32074" y="0"/>
                </a:lnTo>
                <a:lnTo>
                  <a:pt x="31730" y="34214"/>
                </a:lnTo>
                <a:lnTo>
                  <a:pt x="35371"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4" name="Illustrative delivered road transport cost class 4; reference terminal Lesedi"/>
          <p:cNvSpPr/>
          <p:nvPr/>
        </p:nvSpPr>
        <p:spPr>
          <a:xfrm>
            <a:off x="2665876" y="3363829"/>
            <a:ext cx="57687" cy="57687"/>
          </a:xfrm>
          <a:custGeom>
            <a:avLst/>
            <a:gdLst/>
            <a:ahLst/>
            <a:cxnLst/>
            <a:rect l="l" t="t" r="r" b="b"/>
            <a:pathLst>
              <a:path w="57687" h="57687">
                <a:moveTo>
                  <a:pt x="0" y="57687"/>
                </a:moveTo>
                <a:lnTo>
                  <a:pt x="0" y="0"/>
                </a:lnTo>
                <a:lnTo>
                  <a:pt x="57687" y="0"/>
                </a:lnTo>
                <a:lnTo>
                  <a:pt x="57687" y="14138"/>
                </a:lnTo>
                <a:lnTo>
                  <a:pt x="47524" y="29733"/>
                </a:lnTo>
                <a:lnTo>
                  <a:pt x="32082" y="56825"/>
                </a:lnTo>
                <a:lnTo>
                  <a:pt x="32074"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5" name="Illustrative delivered road transport cost class 4; reference terminal Lesedi"/>
          <p:cNvSpPr/>
          <p:nvPr/>
        </p:nvSpPr>
        <p:spPr>
          <a:xfrm>
            <a:off x="266587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6" name="Illustrative delivered road transport cost class 4; reference terminal Lesedi"/>
          <p:cNvSpPr/>
          <p:nvPr/>
        </p:nvSpPr>
        <p:spPr>
          <a:xfrm>
            <a:off x="2665876" y="3248456"/>
            <a:ext cx="57687" cy="57687"/>
          </a:xfrm>
          <a:custGeom>
            <a:avLst/>
            <a:gdLst/>
            <a:ahLst/>
            <a:cxnLst/>
            <a:rect l="l" t="t" r="r" b="b"/>
            <a:pathLst>
              <a:path w="57687" h="57687">
                <a:moveTo>
                  <a:pt x="57687" y="57687"/>
                </a:moveTo>
                <a:lnTo>
                  <a:pt x="0" y="57687"/>
                </a:lnTo>
                <a:lnTo>
                  <a:pt x="0" y="0"/>
                </a:lnTo>
                <a:lnTo>
                  <a:pt x="49795" y="0"/>
                </a:lnTo>
                <a:lnTo>
                  <a:pt x="57687" y="17604"/>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7" name="Illustrative delivered road transport cost class 4; reference terminal Lesedi"/>
          <p:cNvSpPr/>
          <p:nvPr/>
        </p:nvSpPr>
        <p:spPr>
          <a:xfrm>
            <a:off x="2665876" y="3190770"/>
            <a:ext cx="49795" cy="57686"/>
          </a:xfrm>
          <a:custGeom>
            <a:avLst/>
            <a:gdLst/>
            <a:ahLst/>
            <a:cxnLst/>
            <a:rect l="l" t="t" r="r" b="b"/>
            <a:pathLst>
              <a:path w="49795" h="57686">
                <a:moveTo>
                  <a:pt x="0" y="57686"/>
                </a:moveTo>
                <a:lnTo>
                  <a:pt x="0" y="0"/>
                </a:lnTo>
                <a:lnTo>
                  <a:pt x="25307" y="0"/>
                </a:lnTo>
                <a:lnTo>
                  <a:pt x="45264" y="47580"/>
                </a:lnTo>
                <a:lnTo>
                  <a:pt x="49795"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8" name="Illustrative delivered road transport cost class 4; reference terminal Lesedi"/>
          <p:cNvSpPr/>
          <p:nvPr/>
        </p:nvSpPr>
        <p:spPr>
          <a:xfrm>
            <a:off x="2665876" y="3138066"/>
            <a:ext cx="25307" cy="52704"/>
          </a:xfrm>
          <a:custGeom>
            <a:avLst/>
            <a:gdLst/>
            <a:ahLst/>
            <a:cxnLst/>
            <a:rect l="l" t="t" r="r" b="b"/>
            <a:pathLst>
              <a:path w="25307" h="52704">
                <a:moveTo>
                  <a:pt x="0" y="52704"/>
                </a:moveTo>
                <a:lnTo>
                  <a:pt x="0" y="0"/>
                </a:lnTo>
                <a:lnTo>
                  <a:pt x="19680" y="39287"/>
                </a:lnTo>
                <a:lnTo>
                  <a:pt x="25307" y="52704"/>
                </a:lnTo>
                <a:lnTo>
                  <a:pt x="0" y="5270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9" name="Illustrative delivered road transport cost class 4; reference terminal Durban"/>
          <p:cNvSpPr/>
          <p:nvPr/>
        </p:nvSpPr>
        <p:spPr>
          <a:xfrm>
            <a:off x="2723563" y="5440546"/>
            <a:ext cx="57687" cy="54853"/>
          </a:xfrm>
          <a:custGeom>
            <a:avLst/>
            <a:gdLst/>
            <a:ahLst/>
            <a:cxnLst/>
            <a:rect l="l" t="t" r="r" b="b"/>
            <a:pathLst>
              <a:path w="57687" h="54853">
                <a:moveTo>
                  <a:pt x="0" y="0"/>
                </a:moveTo>
                <a:lnTo>
                  <a:pt x="57687" y="0"/>
                </a:lnTo>
                <a:lnTo>
                  <a:pt x="57687" y="27433"/>
                </a:lnTo>
                <a:lnTo>
                  <a:pt x="32235" y="31324"/>
                </a:lnTo>
                <a:lnTo>
                  <a:pt x="12559" y="43757"/>
                </a:lnTo>
                <a:lnTo>
                  <a:pt x="0" y="548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0" name="Illustrative delivered road transport cost class 4; reference terminal Durban"/>
          <p:cNvSpPr/>
          <p:nvPr/>
        </p:nvSpPr>
        <p:spPr>
          <a:xfrm>
            <a:off x="272356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1" name="Illustrative delivered road transport cost class 4; reference terminal Durban"/>
          <p:cNvSpPr/>
          <p:nvPr/>
        </p:nvSpPr>
        <p:spPr>
          <a:xfrm>
            <a:off x="272356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2" name="Illustrative delivered road transport cost class 4; reference terminal Lesedi"/>
          <p:cNvSpPr/>
          <p:nvPr/>
        </p:nvSpPr>
        <p:spPr>
          <a:xfrm>
            <a:off x="272356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3" name="Illustrative delivered road transport cost class 4; reference terminal Lesedi"/>
          <p:cNvSpPr/>
          <p:nvPr/>
        </p:nvSpPr>
        <p:spPr>
          <a:xfrm>
            <a:off x="272356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4" name="Illustrative delivered road transport cost class 4; reference terminal Lesedi"/>
          <p:cNvSpPr/>
          <p:nvPr/>
        </p:nvSpPr>
        <p:spPr>
          <a:xfrm>
            <a:off x="272356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5" name="Illustrative delivered road transport cost class 4; reference terminal Lesedi"/>
          <p:cNvSpPr/>
          <p:nvPr/>
        </p:nvSpPr>
        <p:spPr>
          <a:xfrm>
            <a:off x="272356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6" name="Illustrative delivered road transport cost class 4; reference terminal Lesedi"/>
          <p:cNvSpPr/>
          <p:nvPr/>
        </p:nvSpPr>
        <p:spPr>
          <a:xfrm>
            <a:off x="272356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7" name="Illustrative delivered road transport cost class 4; reference terminal Lesedi"/>
          <p:cNvSpPr/>
          <p:nvPr/>
        </p:nvSpPr>
        <p:spPr>
          <a:xfrm>
            <a:off x="272356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8" name="Illustrative delivered road transport cost class 4; reference terminal Lesedi"/>
          <p:cNvSpPr/>
          <p:nvPr/>
        </p:nvSpPr>
        <p:spPr>
          <a:xfrm>
            <a:off x="272356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9" name="Illustrative delivered road transport cost class 4; reference terminal Lesedi"/>
          <p:cNvSpPr/>
          <p:nvPr/>
        </p:nvSpPr>
        <p:spPr>
          <a:xfrm>
            <a:off x="272356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0" name="Illustrative delivered road transport cost class None; reference terminal None"/>
          <p:cNvSpPr/>
          <p:nvPr/>
        </p:nvSpPr>
        <p:spPr>
          <a:xfrm>
            <a:off x="272356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1" name="Illustrative delivered road transport cost class None; reference terminal None"/>
          <p:cNvSpPr/>
          <p:nvPr/>
        </p:nvSpPr>
        <p:spPr>
          <a:xfrm>
            <a:off x="272356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2" name="Illustrative delivered road transport cost class None; reference terminal None"/>
          <p:cNvSpPr/>
          <p:nvPr/>
        </p:nvSpPr>
        <p:spPr>
          <a:xfrm>
            <a:off x="272356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3" name="Illustrative delivered road transport cost class None; reference terminal None"/>
          <p:cNvSpPr/>
          <p:nvPr/>
        </p:nvSpPr>
        <p:spPr>
          <a:xfrm>
            <a:off x="272356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4" name="Illustrative delivered road transport cost class None; reference terminal None"/>
          <p:cNvSpPr/>
          <p:nvPr/>
        </p:nvSpPr>
        <p:spPr>
          <a:xfrm>
            <a:off x="272356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5" name="Illustrative delivered road transport cost class None; reference terminal None"/>
          <p:cNvSpPr/>
          <p:nvPr/>
        </p:nvSpPr>
        <p:spPr>
          <a:xfrm>
            <a:off x="272356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6" name="Illustrative delivered road transport cost class None; reference terminal None"/>
          <p:cNvSpPr/>
          <p:nvPr/>
        </p:nvSpPr>
        <p:spPr>
          <a:xfrm>
            <a:off x="272356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7" name="Illustrative delivered road transport cost class None; reference terminal None"/>
          <p:cNvSpPr/>
          <p:nvPr/>
        </p:nvSpPr>
        <p:spPr>
          <a:xfrm>
            <a:off x="272356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8" name="Illustrative delivered road transport cost class None; reference terminal None"/>
          <p:cNvSpPr/>
          <p:nvPr/>
        </p:nvSpPr>
        <p:spPr>
          <a:xfrm>
            <a:off x="272356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9" name="Illustrative delivered road transport cost class None; reference terminal None"/>
          <p:cNvSpPr/>
          <p:nvPr/>
        </p:nvSpPr>
        <p:spPr>
          <a:xfrm>
            <a:off x="272356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0" name="Illustrative delivered road transport cost class 3; reference terminal Lesedi"/>
          <p:cNvSpPr/>
          <p:nvPr/>
        </p:nvSpPr>
        <p:spPr>
          <a:xfrm>
            <a:off x="272356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1" name="Illustrative delivered road transport cost class 3; reference terminal Lesedi"/>
          <p:cNvSpPr/>
          <p:nvPr/>
        </p:nvSpPr>
        <p:spPr>
          <a:xfrm>
            <a:off x="272356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2" name="Illustrative delivered road transport cost class 3; reference terminal Lesedi"/>
          <p:cNvSpPr/>
          <p:nvPr/>
        </p:nvSpPr>
        <p:spPr>
          <a:xfrm>
            <a:off x="272356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3" name="Illustrative delivered road transport cost class 3; reference terminal Lesedi"/>
          <p:cNvSpPr/>
          <p:nvPr/>
        </p:nvSpPr>
        <p:spPr>
          <a:xfrm>
            <a:off x="272356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4" name="Illustrative delivered road transport cost class 3; reference terminal Lesedi"/>
          <p:cNvSpPr/>
          <p:nvPr/>
        </p:nvSpPr>
        <p:spPr>
          <a:xfrm>
            <a:off x="272356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5" name="Illustrative delivered road transport cost class 3; reference terminal Lesedi"/>
          <p:cNvSpPr/>
          <p:nvPr/>
        </p:nvSpPr>
        <p:spPr>
          <a:xfrm>
            <a:off x="272356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6" name="Illustrative delivered road transport cost class 4; reference terminal Lesedi"/>
          <p:cNvSpPr/>
          <p:nvPr/>
        </p:nvSpPr>
        <p:spPr>
          <a:xfrm>
            <a:off x="272356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7" name="Illustrative delivered road transport cost class 4; reference terminal Lesedi"/>
          <p:cNvSpPr/>
          <p:nvPr/>
        </p:nvSpPr>
        <p:spPr>
          <a:xfrm>
            <a:off x="272356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8" name="Illustrative delivered road transport cost class 4; reference terminal Lesedi"/>
          <p:cNvSpPr/>
          <p:nvPr/>
        </p:nvSpPr>
        <p:spPr>
          <a:xfrm>
            <a:off x="272356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9" name="Illustrative delivered road transport cost class 4; reference terminal Lesedi"/>
          <p:cNvSpPr/>
          <p:nvPr/>
        </p:nvSpPr>
        <p:spPr>
          <a:xfrm>
            <a:off x="272356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0" name="Illustrative delivered road transport cost class 4; reference terminal Lesedi"/>
          <p:cNvSpPr/>
          <p:nvPr/>
        </p:nvSpPr>
        <p:spPr>
          <a:xfrm>
            <a:off x="272356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1" name="Illustrative delivered road transport cost class 4; reference terminal Lesedi"/>
          <p:cNvSpPr/>
          <p:nvPr/>
        </p:nvSpPr>
        <p:spPr>
          <a:xfrm>
            <a:off x="272356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2" name="Illustrative delivered road transport cost class 4; reference terminal Lesedi"/>
          <p:cNvSpPr/>
          <p:nvPr/>
        </p:nvSpPr>
        <p:spPr>
          <a:xfrm>
            <a:off x="272356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3" name="Illustrative delivered road transport cost class 4; reference terminal Lesedi"/>
          <p:cNvSpPr/>
          <p:nvPr/>
        </p:nvSpPr>
        <p:spPr>
          <a:xfrm>
            <a:off x="2723563" y="3511963"/>
            <a:ext cx="57687" cy="24926"/>
          </a:xfrm>
          <a:custGeom>
            <a:avLst/>
            <a:gdLst/>
            <a:ahLst/>
            <a:cxnLst/>
            <a:rect l="l" t="t" r="r" b="b"/>
            <a:pathLst>
              <a:path w="57687" h="24926">
                <a:moveTo>
                  <a:pt x="57687" y="24926"/>
                </a:moveTo>
                <a:lnTo>
                  <a:pt x="0" y="24926"/>
                </a:lnTo>
                <a:lnTo>
                  <a:pt x="0" y="9351"/>
                </a:lnTo>
                <a:lnTo>
                  <a:pt x="3915" y="11278"/>
                </a:lnTo>
                <a:lnTo>
                  <a:pt x="33602" y="0"/>
                </a:lnTo>
                <a:lnTo>
                  <a:pt x="52730" y="2502"/>
                </a:lnTo>
                <a:lnTo>
                  <a:pt x="57687" y="3774"/>
                </a:lnTo>
                <a:lnTo>
                  <a:pt x="57687" y="2492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4" name="Illustrative delivered road transport cost class 4; reference terminal Lesedi"/>
          <p:cNvSpPr/>
          <p:nvPr/>
        </p:nvSpPr>
        <p:spPr>
          <a:xfrm>
            <a:off x="2723563" y="3363829"/>
            <a:ext cx="7574" cy="14138"/>
          </a:xfrm>
          <a:custGeom>
            <a:avLst/>
            <a:gdLst/>
            <a:ahLst/>
            <a:cxnLst/>
            <a:rect l="l" t="t" r="r" b="b"/>
            <a:pathLst>
              <a:path w="7574" h="14138">
                <a:moveTo>
                  <a:pt x="0" y="0"/>
                </a:moveTo>
                <a:lnTo>
                  <a:pt x="7574" y="0"/>
                </a:lnTo>
                <a:lnTo>
                  <a:pt x="2805" y="9834"/>
                </a:lnTo>
                <a:lnTo>
                  <a:pt x="0" y="14138"/>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5" name="Illustrative delivered road transport cost class 4; reference terminal Lesedi"/>
          <p:cNvSpPr/>
          <p:nvPr/>
        </p:nvSpPr>
        <p:spPr>
          <a:xfrm>
            <a:off x="2723563" y="3306143"/>
            <a:ext cx="16709" cy="57686"/>
          </a:xfrm>
          <a:custGeom>
            <a:avLst/>
            <a:gdLst/>
            <a:ahLst/>
            <a:cxnLst/>
            <a:rect l="l" t="t" r="r" b="b"/>
            <a:pathLst>
              <a:path w="16709" h="57686">
                <a:moveTo>
                  <a:pt x="0" y="57686"/>
                </a:moveTo>
                <a:lnTo>
                  <a:pt x="0" y="0"/>
                </a:lnTo>
                <a:lnTo>
                  <a:pt x="10418" y="0"/>
                </a:lnTo>
                <a:lnTo>
                  <a:pt x="13692" y="20167"/>
                </a:lnTo>
                <a:lnTo>
                  <a:pt x="16709" y="30307"/>
                </a:lnTo>
                <a:lnTo>
                  <a:pt x="15326" y="41698"/>
                </a:lnTo>
                <a:lnTo>
                  <a:pt x="7574"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6" name="Illustrative delivered road transport cost class 4; reference terminal Lesedi"/>
          <p:cNvSpPr/>
          <p:nvPr/>
        </p:nvSpPr>
        <p:spPr>
          <a:xfrm>
            <a:off x="2723563" y="3266060"/>
            <a:ext cx="10418" cy="40083"/>
          </a:xfrm>
          <a:custGeom>
            <a:avLst/>
            <a:gdLst/>
            <a:ahLst/>
            <a:cxnLst/>
            <a:rect l="l" t="t" r="r" b="b"/>
            <a:pathLst>
              <a:path w="10418" h="40083">
                <a:moveTo>
                  <a:pt x="0" y="40083"/>
                </a:moveTo>
                <a:lnTo>
                  <a:pt x="0" y="0"/>
                </a:lnTo>
                <a:lnTo>
                  <a:pt x="8178" y="18241"/>
                </a:lnTo>
                <a:lnTo>
                  <a:pt x="10324" y="39504"/>
                </a:lnTo>
                <a:lnTo>
                  <a:pt x="10418" y="40083"/>
                </a:lnTo>
                <a:lnTo>
                  <a:pt x="0" y="40083"/>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7" name="Illustrative delivered road transport cost class 4; reference terminal Durban"/>
          <p:cNvSpPr/>
          <p:nvPr/>
        </p:nvSpPr>
        <p:spPr>
          <a:xfrm>
            <a:off x="2781250" y="5440546"/>
            <a:ext cx="57686" cy="27433"/>
          </a:xfrm>
          <a:custGeom>
            <a:avLst/>
            <a:gdLst/>
            <a:ahLst/>
            <a:cxnLst/>
            <a:rect l="l" t="t" r="r" b="b"/>
            <a:pathLst>
              <a:path w="57686" h="27433">
                <a:moveTo>
                  <a:pt x="0" y="0"/>
                </a:moveTo>
                <a:lnTo>
                  <a:pt x="57686" y="0"/>
                </a:lnTo>
                <a:lnTo>
                  <a:pt x="57686" y="6629"/>
                </a:lnTo>
                <a:lnTo>
                  <a:pt x="48517" y="8933"/>
                </a:lnTo>
                <a:lnTo>
                  <a:pt x="26231" y="23423"/>
                </a:lnTo>
                <a:lnTo>
                  <a:pt x="0" y="2743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8" name="Illustrative delivered road transport cost class 4; reference terminal Durban"/>
          <p:cNvSpPr/>
          <p:nvPr/>
        </p:nvSpPr>
        <p:spPr>
          <a:xfrm>
            <a:off x="278125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9" name="Illustrative delivered road transport cost class 4; reference terminal Durban"/>
          <p:cNvSpPr/>
          <p:nvPr/>
        </p:nvSpPr>
        <p:spPr>
          <a:xfrm>
            <a:off x="278125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0" name="Illustrative delivered road transport cost class 4; reference terminal Lesedi"/>
          <p:cNvSpPr/>
          <p:nvPr/>
        </p:nvSpPr>
        <p:spPr>
          <a:xfrm>
            <a:off x="278125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1" name="Illustrative delivered road transport cost class 4; reference terminal Lesedi"/>
          <p:cNvSpPr/>
          <p:nvPr/>
        </p:nvSpPr>
        <p:spPr>
          <a:xfrm>
            <a:off x="278125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2" name="Illustrative delivered road transport cost class 4; reference terminal Lesedi"/>
          <p:cNvSpPr/>
          <p:nvPr/>
        </p:nvSpPr>
        <p:spPr>
          <a:xfrm>
            <a:off x="278125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3" name="Illustrative delivered road transport cost class 4; reference terminal Lesedi"/>
          <p:cNvSpPr/>
          <p:nvPr/>
        </p:nvSpPr>
        <p:spPr>
          <a:xfrm>
            <a:off x="278125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4" name="Illustrative delivered road transport cost class 4; reference terminal Lesedi"/>
          <p:cNvSpPr/>
          <p:nvPr/>
        </p:nvSpPr>
        <p:spPr>
          <a:xfrm>
            <a:off x="278125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5" name="Illustrative delivered road transport cost class 4; reference terminal Lesedi"/>
          <p:cNvSpPr/>
          <p:nvPr/>
        </p:nvSpPr>
        <p:spPr>
          <a:xfrm>
            <a:off x="278125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6" name="Illustrative delivered road transport cost class 4; reference terminal Lesedi"/>
          <p:cNvSpPr/>
          <p:nvPr/>
        </p:nvSpPr>
        <p:spPr>
          <a:xfrm>
            <a:off x="278125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7" name="Illustrative delivered road transport cost class 4; reference terminal Lesedi"/>
          <p:cNvSpPr/>
          <p:nvPr/>
        </p:nvSpPr>
        <p:spPr>
          <a:xfrm>
            <a:off x="278125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8" name="Illustrative delivered road transport cost class None; reference terminal None"/>
          <p:cNvSpPr/>
          <p:nvPr/>
        </p:nvSpPr>
        <p:spPr>
          <a:xfrm>
            <a:off x="278125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9" name="Illustrative delivered road transport cost class None; reference terminal None"/>
          <p:cNvSpPr/>
          <p:nvPr/>
        </p:nvSpPr>
        <p:spPr>
          <a:xfrm>
            <a:off x="278125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0" name="Illustrative delivered road transport cost class None; reference terminal None"/>
          <p:cNvSpPr/>
          <p:nvPr/>
        </p:nvSpPr>
        <p:spPr>
          <a:xfrm>
            <a:off x="278125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1" name="Illustrative delivered road transport cost class None; reference terminal None"/>
          <p:cNvSpPr/>
          <p:nvPr/>
        </p:nvSpPr>
        <p:spPr>
          <a:xfrm>
            <a:off x="278125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2" name="Illustrative delivered road transport cost class None; reference terminal None"/>
          <p:cNvSpPr/>
          <p:nvPr/>
        </p:nvSpPr>
        <p:spPr>
          <a:xfrm>
            <a:off x="278125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3" name="Illustrative delivered road transport cost class None; reference terminal None"/>
          <p:cNvSpPr/>
          <p:nvPr/>
        </p:nvSpPr>
        <p:spPr>
          <a:xfrm>
            <a:off x="278125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4" name="Illustrative delivered road transport cost class None; reference terminal None"/>
          <p:cNvSpPr/>
          <p:nvPr/>
        </p:nvSpPr>
        <p:spPr>
          <a:xfrm>
            <a:off x="278125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5" name="Illustrative delivered road transport cost class None; reference terminal None"/>
          <p:cNvSpPr/>
          <p:nvPr/>
        </p:nvSpPr>
        <p:spPr>
          <a:xfrm>
            <a:off x="278125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6" name="Illustrative delivered road transport cost class None; reference terminal None"/>
          <p:cNvSpPr/>
          <p:nvPr/>
        </p:nvSpPr>
        <p:spPr>
          <a:xfrm>
            <a:off x="278125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7" name="Illustrative delivered road transport cost class None; reference terminal None"/>
          <p:cNvSpPr/>
          <p:nvPr/>
        </p:nvSpPr>
        <p:spPr>
          <a:xfrm>
            <a:off x="278125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8" name="Illustrative delivered road transport cost class 3; reference terminal Lesedi"/>
          <p:cNvSpPr/>
          <p:nvPr/>
        </p:nvSpPr>
        <p:spPr>
          <a:xfrm>
            <a:off x="278125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9" name="Illustrative delivered road transport cost class 3; reference terminal Lesedi"/>
          <p:cNvSpPr/>
          <p:nvPr/>
        </p:nvSpPr>
        <p:spPr>
          <a:xfrm>
            <a:off x="278125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0" name="Illustrative delivered road transport cost class 3; reference terminal Lesedi"/>
          <p:cNvSpPr/>
          <p:nvPr/>
        </p:nvSpPr>
        <p:spPr>
          <a:xfrm>
            <a:off x="278125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1" name="Illustrative delivered road transport cost class 3; reference terminal Lesedi"/>
          <p:cNvSpPr/>
          <p:nvPr/>
        </p:nvSpPr>
        <p:spPr>
          <a:xfrm>
            <a:off x="278125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2" name="Illustrative delivered road transport cost class 3; reference terminal Lesedi"/>
          <p:cNvSpPr/>
          <p:nvPr/>
        </p:nvSpPr>
        <p:spPr>
          <a:xfrm>
            <a:off x="278125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3" name="Illustrative delivered road transport cost class 3; reference terminal Lesedi"/>
          <p:cNvSpPr/>
          <p:nvPr/>
        </p:nvSpPr>
        <p:spPr>
          <a:xfrm>
            <a:off x="278125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4" name="Illustrative delivered road transport cost class 3; reference terminal Lesedi"/>
          <p:cNvSpPr/>
          <p:nvPr/>
        </p:nvSpPr>
        <p:spPr>
          <a:xfrm>
            <a:off x="278125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5" name="Illustrative delivered road transport cost class 4; reference terminal Lesedi"/>
          <p:cNvSpPr/>
          <p:nvPr/>
        </p:nvSpPr>
        <p:spPr>
          <a:xfrm>
            <a:off x="278125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6" name="Illustrative delivered road transport cost class 4; reference terminal Lesedi"/>
          <p:cNvSpPr/>
          <p:nvPr/>
        </p:nvSpPr>
        <p:spPr>
          <a:xfrm>
            <a:off x="278125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7" name="Illustrative delivered road transport cost class 4; reference terminal Lesedi"/>
          <p:cNvSpPr/>
          <p:nvPr/>
        </p:nvSpPr>
        <p:spPr>
          <a:xfrm>
            <a:off x="278125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8" name="Illustrative delivered road transport cost class 4; reference terminal Lesedi"/>
          <p:cNvSpPr/>
          <p:nvPr/>
        </p:nvSpPr>
        <p:spPr>
          <a:xfrm>
            <a:off x="278125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9" name="Illustrative delivered road transport cost class 4; reference terminal Lesedi"/>
          <p:cNvSpPr/>
          <p:nvPr/>
        </p:nvSpPr>
        <p:spPr>
          <a:xfrm>
            <a:off x="278125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0" name="Illustrative delivered road transport cost class 4; reference terminal Lesedi"/>
          <p:cNvSpPr/>
          <p:nvPr/>
        </p:nvSpPr>
        <p:spPr>
          <a:xfrm>
            <a:off x="278125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1" name="Illustrative delivered road transport cost class None; reference terminal None"/>
          <p:cNvSpPr/>
          <p:nvPr/>
        </p:nvSpPr>
        <p:spPr>
          <a:xfrm>
            <a:off x="2781250" y="3515737"/>
            <a:ext cx="57686" cy="21152"/>
          </a:xfrm>
          <a:custGeom>
            <a:avLst/>
            <a:gdLst/>
            <a:ahLst/>
            <a:cxnLst/>
            <a:rect l="l" t="t" r="r" b="b"/>
            <a:pathLst>
              <a:path w="57686" h="21152">
                <a:moveTo>
                  <a:pt x="57686" y="21152"/>
                </a:moveTo>
                <a:lnTo>
                  <a:pt x="0" y="21152"/>
                </a:lnTo>
                <a:lnTo>
                  <a:pt x="0" y="0"/>
                </a:lnTo>
                <a:lnTo>
                  <a:pt x="22125" y="5679"/>
                </a:lnTo>
                <a:lnTo>
                  <a:pt x="57686" y="2617"/>
                </a:lnTo>
                <a:lnTo>
                  <a:pt x="57686" y="2115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2" name="Illustrative delivered road transport cost class 4; reference terminal Durban"/>
          <p:cNvSpPr/>
          <p:nvPr/>
        </p:nvSpPr>
        <p:spPr>
          <a:xfrm>
            <a:off x="2838936" y="5440546"/>
            <a:ext cx="57687" cy="8882"/>
          </a:xfrm>
          <a:custGeom>
            <a:avLst/>
            <a:gdLst/>
            <a:ahLst/>
            <a:cxnLst/>
            <a:rect l="l" t="t" r="r" b="b"/>
            <a:pathLst>
              <a:path w="57687" h="8882">
                <a:moveTo>
                  <a:pt x="0" y="0"/>
                </a:moveTo>
                <a:lnTo>
                  <a:pt x="57687" y="0"/>
                </a:lnTo>
                <a:lnTo>
                  <a:pt x="57687" y="8882"/>
                </a:lnTo>
                <a:lnTo>
                  <a:pt x="28340" y="2006"/>
                </a:lnTo>
                <a:lnTo>
                  <a:pt x="13442" y="3251"/>
                </a:lnTo>
                <a:lnTo>
                  <a:pt x="0" y="6629"/>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3" name="Illustrative delivered road transport cost class 4; reference terminal Durban"/>
          <p:cNvSpPr/>
          <p:nvPr/>
        </p:nvSpPr>
        <p:spPr>
          <a:xfrm>
            <a:off x="283893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4" name="Illustrative delivered road transport cost class 4; reference terminal Durban"/>
          <p:cNvSpPr/>
          <p:nvPr/>
        </p:nvSpPr>
        <p:spPr>
          <a:xfrm>
            <a:off x="283893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5" name="Illustrative delivered road transport cost class 4; reference terminal Lesedi"/>
          <p:cNvSpPr/>
          <p:nvPr/>
        </p:nvSpPr>
        <p:spPr>
          <a:xfrm>
            <a:off x="283893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6" name="Illustrative delivered road transport cost class 4; reference terminal Lesedi"/>
          <p:cNvSpPr/>
          <p:nvPr/>
        </p:nvSpPr>
        <p:spPr>
          <a:xfrm>
            <a:off x="283893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7" name="Illustrative delivered road transport cost class 4; reference terminal Lesedi"/>
          <p:cNvSpPr/>
          <p:nvPr/>
        </p:nvSpPr>
        <p:spPr>
          <a:xfrm>
            <a:off x="283893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8" name="Illustrative delivered road transport cost class 4; reference terminal Lesedi"/>
          <p:cNvSpPr/>
          <p:nvPr/>
        </p:nvSpPr>
        <p:spPr>
          <a:xfrm>
            <a:off x="283893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9" name="Illustrative delivered road transport cost class 4; reference terminal Lesedi"/>
          <p:cNvSpPr/>
          <p:nvPr/>
        </p:nvSpPr>
        <p:spPr>
          <a:xfrm>
            <a:off x="283893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0" name="Illustrative delivered road transport cost class 4; reference terminal Lesedi"/>
          <p:cNvSpPr/>
          <p:nvPr/>
        </p:nvSpPr>
        <p:spPr>
          <a:xfrm>
            <a:off x="283893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1" name="Illustrative delivered road transport cost class 4; reference terminal Lesedi"/>
          <p:cNvSpPr/>
          <p:nvPr/>
        </p:nvSpPr>
        <p:spPr>
          <a:xfrm>
            <a:off x="283893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2" name="Illustrative delivered road transport cost class 4; reference terminal Lesedi"/>
          <p:cNvSpPr/>
          <p:nvPr/>
        </p:nvSpPr>
        <p:spPr>
          <a:xfrm>
            <a:off x="283893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3" name="Illustrative delivered road transport cost class 4; reference terminal Lesedi"/>
          <p:cNvSpPr/>
          <p:nvPr/>
        </p:nvSpPr>
        <p:spPr>
          <a:xfrm>
            <a:off x="283893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4" name="Illustrative delivered road transport cost class None; reference terminal None"/>
          <p:cNvSpPr/>
          <p:nvPr/>
        </p:nvSpPr>
        <p:spPr>
          <a:xfrm>
            <a:off x="283893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5" name="Illustrative delivered road transport cost class None; reference terminal None"/>
          <p:cNvSpPr/>
          <p:nvPr/>
        </p:nvSpPr>
        <p:spPr>
          <a:xfrm>
            <a:off x="283893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6" name="Illustrative delivered road transport cost class None; reference terminal None"/>
          <p:cNvSpPr/>
          <p:nvPr/>
        </p:nvSpPr>
        <p:spPr>
          <a:xfrm>
            <a:off x="283893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7" name="Illustrative delivered road transport cost class None; reference terminal None"/>
          <p:cNvSpPr/>
          <p:nvPr/>
        </p:nvSpPr>
        <p:spPr>
          <a:xfrm>
            <a:off x="283893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8" name="Illustrative delivered road transport cost class None; reference terminal None"/>
          <p:cNvSpPr/>
          <p:nvPr/>
        </p:nvSpPr>
        <p:spPr>
          <a:xfrm>
            <a:off x="283893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9" name="Illustrative delivered road transport cost class None; reference terminal None"/>
          <p:cNvSpPr/>
          <p:nvPr/>
        </p:nvSpPr>
        <p:spPr>
          <a:xfrm>
            <a:off x="283893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0" name="Illustrative delivered road transport cost class None; reference terminal None"/>
          <p:cNvSpPr/>
          <p:nvPr/>
        </p:nvSpPr>
        <p:spPr>
          <a:xfrm>
            <a:off x="283893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1" name="Illustrative delivered road transport cost class None; reference terminal None"/>
          <p:cNvSpPr/>
          <p:nvPr/>
        </p:nvSpPr>
        <p:spPr>
          <a:xfrm>
            <a:off x="283893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2" name="Illustrative delivered road transport cost class 3; reference terminal Lesedi"/>
          <p:cNvSpPr/>
          <p:nvPr/>
        </p:nvSpPr>
        <p:spPr>
          <a:xfrm>
            <a:off x="283893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3" name="Illustrative delivered road transport cost class 3; reference terminal Lesedi"/>
          <p:cNvSpPr/>
          <p:nvPr/>
        </p:nvSpPr>
        <p:spPr>
          <a:xfrm>
            <a:off x="283893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4" name="Illustrative delivered road transport cost class 3; reference terminal Lesedi"/>
          <p:cNvSpPr/>
          <p:nvPr/>
        </p:nvSpPr>
        <p:spPr>
          <a:xfrm>
            <a:off x="283893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5" name="Illustrative delivered road transport cost class 3; reference terminal Lesedi"/>
          <p:cNvSpPr/>
          <p:nvPr/>
        </p:nvSpPr>
        <p:spPr>
          <a:xfrm>
            <a:off x="283893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6" name="Illustrative delivered road transport cost class 3; reference terminal Lesedi"/>
          <p:cNvSpPr/>
          <p:nvPr/>
        </p:nvSpPr>
        <p:spPr>
          <a:xfrm>
            <a:off x="283893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7" name="Illustrative delivered road transport cost class 3; reference terminal Lesedi"/>
          <p:cNvSpPr/>
          <p:nvPr/>
        </p:nvSpPr>
        <p:spPr>
          <a:xfrm>
            <a:off x="283893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8" name="Illustrative delivered road transport cost class 3; reference terminal Lesedi"/>
          <p:cNvSpPr/>
          <p:nvPr/>
        </p:nvSpPr>
        <p:spPr>
          <a:xfrm>
            <a:off x="283893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9" name="Illustrative delivered road transport cost class 3; reference terminal Lesedi"/>
          <p:cNvSpPr/>
          <p:nvPr/>
        </p:nvSpPr>
        <p:spPr>
          <a:xfrm>
            <a:off x="283893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0" name="Illustrative delivered road transport cost class 4; reference terminal Lesedi"/>
          <p:cNvSpPr/>
          <p:nvPr/>
        </p:nvSpPr>
        <p:spPr>
          <a:xfrm>
            <a:off x="283893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1" name="Illustrative delivered road transport cost class 4; reference terminal Lesedi"/>
          <p:cNvSpPr/>
          <p:nvPr/>
        </p:nvSpPr>
        <p:spPr>
          <a:xfrm>
            <a:off x="283893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2" name="Illustrative delivered road transport cost class 4; reference terminal Lesedi"/>
          <p:cNvSpPr/>
          <p:nvPr/>
        </p:nvSpPr>
        <p:spPr>
          <a:xfrm>
            <a:off x="283893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3" name="Illustrative delivered road transport cost class 4; reference terminal Lesedi"/>
          <p:cNvSpPr/>
          <p:nvPr/>
        </p:nvSpPr>
        <p:spPr>
          <a:xfrm>
            <a:off x="283893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4" name="Illustrative delivered road transport cost class 4; reference terminal Lesedi"/>
          <p:cNvSpPr/>
          <p:nvPr/>
        </p:nvSpPr>
        <p:spPr>
          <a:xfrm>
            <a:off x="283893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5" name="Illustrative delivered road transport cost class None; reference terminal None"/>
          <p:cNvSpPr/>
          <p:nvPr/>
        </p:nvSpPr>
        <p:spPr>
          <a:xfrm>
            <a:off x="283893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6" name="Illustrative delivered road transport cost class None; reference terminal None"/>
          <p:cNvSpPr/>
          <p:nvPr/>
        </p:nvSpPr>
        <p:spPr>
          <a:xfrm>
            <a:off x="2838936" y="3513850"/>
            <a:ext cx="57687" cy="23039"/>
          </a:xfrm>
          <a:custGeom>
            <a:avLst/>
            <a:gdLst/>
            <a:ahLst/>
            <a:cxnLst/>
            <a:rect l="l" t="t" r="r" b="b"/>
            <a:pathLst>
              <a:path w="57687" h="23039">
                <a:moveTo>
                  <a:pt x="57687" y="23039"/>
                </a:moveTo>
                <a:lnTo>
                  <a:pt x="0" y="23039"/>
                </a:lnTo>
                <a:lnTo>
                  <a:pt x="0" y="4504"/>
                </a:lnTo>
                <a:lnTo>
                  <a:pt x="52294" y="0"/>
                </a:lnTo>
                <a:lnTo>
                  <a:pt x="57687" y="1114"/>
                </a:lnTo>
                <a:lnTo>
                  <a:pt x="57687" y="2303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7" name="Illustrative delivered road transport cost class 4; reference terminal Durban"/>
          <p:cNvSpPr/>
          <p:nvPr/>
        </p:nvSpPr>
        <p:spPr>
          <a:xfrm>
            <a:off x="2896623" y="5440546"/>
            <a:ext cx="57686" cy="11486"/>
          </a:xfrm>
          <a:custGeom>
            <a:avLst/>
            <a:gdLst/>
            <a:ahLst/>
            <a:cxnLst/>
            <a:rect l="l" t="t" r="r" b="b"/>
            <a:pathLst>
              <a:path w="57686" h="11486">
                <a:moveTo>
                  <a:pt x="0" y="0"/>
                </a:moveTo>
                <a:lnTo>
                  <a:pt x="57686" y="0"/>
                </a:lnTo>
                <a:lnTo>
                  <a:pt x="57686" y="5027"/>
                </a:lnTo>
                <a:lnTo>
                  <a:pt x="32532" y="11090"/>
                </a:lnTo>
                <a:lnTo>
                  <a:pt x="11114" y="11486"/>
                </a:lnTo>
                <a:lnTo>
                  <a:pt x="0" y="888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8" name="Illustrative delivered road transport cost class 4; reference terminal Durban"/>
          <p:cNvSpPr/>
          <p:nvPr/>
        </p:nvSpPr>
        <p:spPr>
          <a:xfrm>
            <a:off x="2896623"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9" name="Illustrative delivered road transport cost class 4; reference terminal Lesedi"/>
          <p:cNvSpPr/>
          <p:nvPr/>
        </p:nvSpPr>
        <p:spPr>
          <a:xfrm>
            <a:off x="2896623"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0" name="Illustrative delivered road transport cost class 4; reference terminal Lesedi"/>
          <p:cNvSpPr/>
          <p:nvPr/>
        </p:nvSpPr>
        <p:spPr>
          <a:xfrm>
            <a:off x="2896623"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1" name="Illustrative delivered road transport cost class 4; reference terminal Lesedi"/>
          <p:cNvSpPr/>
          <p:nvPr/>
        </p:nvSpPr>
        <p:spPr>
          <a:xfrm>
            <a:off x="2896623"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2" name="Illustrative delivered road transport cost class 4; reference terminal Lesedi"/>
          <p:cNvSpPr/>
          <p:nvPr/>
        </p:nvSpPr>
        <p:spPr>
          <a:xfrm>
            <a:off x="2896623"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3" name="Illustrative delivered road transport cost class 4; reference terminal Lesedi"/>
          <p:cNvSpPr/>
          <p:nvPr/>
        </p:nvSpPr>
        <p:spPr>
          <a:xfrm>
            <a:off x="2896623"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4" name="Illustrative delivered road transport cost class 4; reference terminal Lesedi"/>
          <p:cNvSpPr/>
          <p:nvPr/>
        </p:nvSpPr>
        <p:spPr>
          <a:xfrm>
            <a:off x="2896623"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5" name="Illustrative delivered road transport cost class 4; reference terminal Lesedi"/>
          <p:cNvSpPr/>
          <p:nvPr/>
        </p:nvSpPr>
        <p:spPr>
          <a:xfrm>
            <a:off x="2896623"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6" name="Illustrative delivered road transport cost class 4; reference terminal Lesedi"/>
          <p:cNvSpPr/>
          <p:nvPr/>
        </p:nvSpPr>
        <p:spPr>
          <a:xfrm>
            <a:off x="2896623"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7" name="Illustrative delivered road transport cost class 4; reference terminal Lesedi"/>
          <p:cNvSpPr/>
          <p:nvPr/>
        </p:nvSpPr>
        <p:spPr>
          <a:xfrm>
            <a:off x="2896623"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8" name="Illustrative delivered road transport cost class 4; reference terminal Lesedi"/>
          <p:cNvSpPr/>
          <p:nvPr/>
        </p:nvSpPr>
        <p:spPr>
          <a:xfrm>
            <a:off x="2896623"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9" name="Illustrative delivered road transport cost class None; reference terminal None"/>
          <p:cNvSpPr/>
          <p:nvPr/>
        </p:nvSpPr>
        <p:spPr>
          <a:xfrm>
            <a:off x="2896623"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0" name="Illustrative delivered road transport cost class None; reference terminal None"/>
          <p:cNvSpPr/>
          <p:nvPr/>
        </p:nvSpPr>
        <p:spPr>
          <a:xfrm>
            <a:off x="2896623"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1" name="Illustrative delivered road transport cost class None; reference terminal None"/>
          <p:cNvSpPr/>
          <p:nvPr/>
        </p:nvSpPr>
        <p:spPr>
          <a:xfrm>
            <a:off x="2896623"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2" name="Illustrative delivered road transport cost class None; reference terminal None"/>
          <p:cNvSpPr/>
          <p:nvPr/>
        </p:nvSpPr>
        <p:spPr>
          <a:xfrm>
            <a:off x="289662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3" name="Illustrative delivered road transport cost class None; reference terminal None"/>
          <p:cNvSpPr/>
          <p:nvPr/>
        </p:nvSpPr>
        <p:spPr>
          <a:xfrm>
            <a:off x="289662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4" name="Illustrative delivered road transport cost class None; reference terminal None"/>
          <p:cNvSpPr/>
          <p:nvPr/>
        </p:nvSpPr>
        <p:spPr>
          <a:xfrm>
            <a:off x="289662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5" name="Illustrative delivered road transport cost class None; reference terminal None"/>
          <p:cNvSpPr/>
          <p:nvPr/>
        </p:nvSpPr>
        <p:spPr>
          <a:xfrm>
            <a:off x="289662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6" name="Illustrative delivered road transport cost class None; reference terminal None"/>
          <p:cNvSpPr/>
          <p:nvPr/>
        </p:nvSpPr>
        <p:spPr>
          <a:xfrm>
            <a:off x="289662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7" name="Illustrative delivered road transport cost class 3; reference terminal Lesedi"/>
          <p:cNvSpPr/>
          <p:nvPr/>
        </p:nvSpPr>
        <p:spPr>
          <a:xfrm>
            <a:off x="289662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8" name="Illustrative delivered road transport cost class 3; reference terminal Lesedi"/>
          <p:cNvSpPr/>
          <p:nvPr/>
        </p:nvSpPr>
        <p:spPr>
          <a:xfrm>
            <a:off x="289662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9" name="Illustrative delivered road transport cost class 3; reference terminal Lesedi"/>
          <p:cNvSpPr/>
          <p:nvPr/>
        </p:nvSpPr>
        <p:spPr>
          <a:xfrm>
            <a:off x="289662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0" name="Illustrative delivered road transport cost class 3; reference terminal Lesedi"/>
          <p:cNvSpPr/>
          <p:nvPr/>
        </p:nvSpPr>
        <p:spPr>
          <a:xfrm>
            <a:off x="289662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1" name="Illustrative delivered road transport cost class 3; reference terminal Lesedi"/>
          <p:cNvSpPr/>
          <p:nvPr/>
        </p:nvSpPr>
        <p:spPr>
          <a:xfrm>
            <a:off x="289662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Illustrative delivered road transport cost class 3; reference terminal Lesedi"/>
          <p:cNvSpPr/>
          <p:nvPr/>
        </p:nvSpPr>
        <p:spPr>
          <a:xfrm>
            <a:off x="289662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Illustrative delivered road transport cost class 3; reference terminal Lesedi"/>
          <p:cNvSpPr/>
          <p:nvPr/>
        </p:nvSpPr>
        <p:spPr>
          <a:xfrm>
            <a:off x="289662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Illustrative delivered road transport cost class 3; reference terminal Lesedi"/>
          <p:cNvSpPr/>
          <p:nvPr/>
        </p:nvSpPr>
        <p:spPr>
          <a:xfrm>
            <a:off x="289662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5" name="Illustrative delivered road transport cost class 3; reference terminal Lesedi"/>
          <p:cNvSpPr/>
          <p:nvPr/>
        </p:nvSpPr>
        <p:spPr>
          <a:xfrm>
            <a:off x="289662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6" name="Illustrative delivered road transport cost class 3; reference terminal Lesedi"/>
          <p:cNvSpPr/>
          <p:nvPr/>
        </p:nvSpPr>
        <p:spPr>
          <a:xfrm>
            <a:off x="289662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Illustrative delivered road transport cost class 3; reference terminal Lesedi"/>
          <p:cNvSpPr/>
          <p:nvPr/>
        </p:nvSpPr>
        <p:spPr>
          <a:xfrm>
            <a:off x="289662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8" name="Illustrative delivered road transport cost class 4; reference terminal Lesedi"/>
          <p:cNvSpPr/>
          <p:nvPr/>
        </p:nvSpPr>
        <p:spPr>
          <a:xfrm>
            <a:off x="289662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Illustrative delivered road transport cost class 4; reference terminal Lesedi"/>
          <p:cNvSpPr/>
          <p:nvPr/>
        </p:nvSpPr>
        <p:spPr>
          <a:xfrm>
            <a:off x="289662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Illustrative delivered road transport cost class None; reference terminal None"/>
          <p:cNvSpPr/>
          <p:nvPr/>
        </p:nvSpPr>
        <p:spPr>
          <a:xfrm>
            <a:off x="289662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Illustrative delivered road transport cost class None; reference terminal None"/>
          <p:cNvSpPr/>
          <p:nvPr/>
        </p:nvSpPr>
        <p:spPr>
          <a:xfrm>
            <a:off x="2896623" y="3506901"/>
            <a:ext cx="57686" cy="29988"/>
          </a:xfrm>
          <a:custGeom>
            <a:avLst/>
            <a:gdLst/>
            <a:ahLst/>
            <a:cxnLst/>
            <a:rect l="l" t="t" r="r" b="b"/>
            <a:pathLst>
              <a:path w="57686" h="29988">
                <a:moveTo>
                  <a:pt x="57686" y="29988"/>
                </a:moveTo>
                <a:lnTo>
                  <a:pt x="0" y="29988"/>
                </a:lnTo>
                <a:lnTo>
                  <a:pt x="0" y="8063"/>
                </a:lnTo>
                <a:lnTo>
                  <a:pt x="5311" y="9160"/>
                </a:lnTo>
                <a:lnTo>
                  <a:pt x="38607" y="11163"/>
                </a:lnTo>
                <a:lnTo>
                  <a:pt x="49619" y="7462"/>
                </a:lnTo>
                <a:lnTo>
                  <a:pt x="57686" y="0"/>
                </a:lnTo>
                <a:lnTo>
                  <a:pt x="57686" y="299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2" name="Illustrative delivered road transport cost class 4; reference terminal Durban"/>
          <p:cNvSpPr/>
          <p:nvPr/>
        </p:nvSpPr>
        <p:spPr>
          <a:xfrm>
            <a:off x="2954309" y="5440546"/>
            <a:ext cx="41969" cy="5027"/>
          </a:xfrm>
          <a:custGeom>
            <a:avLst/>
            <a:gdLst/>
            <a:ahLst/>
            <a:cxnLst/>
            <a:rect l="l" t="t" r="r" b="b"/>
            <a:pathLst>
              <a:path w="41969" h="5027">
                <a:moveTo>
                  <a:pt x="0" y="0"/>
                </a:moveTo>
                <a:lnTo>
                  <a:pt x="41969" y="0"/>
                </a:lnTo>
                <a:lnTo>
                  <a:pt x="17720" y="757"/>
                </a:lnTo>
                <a:lnTo>
                  <a:pt x="0" y="502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3" name="Illustrative delivered road transport cost class 4; reference terminal Durban"/>
          <p:cNvSpPr/>
          <p:nvPr/>
        </p:nvSpPr>
        <p:spPr>
          <a:xfrm>
            <a:off x="2954309" y="5382859"/>
            <a:ext cx="57687" cy="57687"/>
          </a:xfrm>
          <a:custGeom>
            <a:avLst/>
            <a:gdLst/>
            <a:ahLst/>
            <a:cxnLst/>
            <a:rect l="l" t="t" r="r" b="b"/>
            <a:pathLst>
              <a:path w="57687" h="57687">
                <a:moveTo>
                  <a:pt x="0" y="57687"/>
                </a:moveTo>
                <a:lnTo>
                  <a:pt x="0" y="0"/>
                </a:lnTo>
                <a:lnTo>
                  <a:pt x="57687" y="0"/>
                </a:lnTo>
                <a:lnTo>
                  <a:pt x="57687" y="57196"/>
                </a:lnTo>
                <a:lnTo>
                  <a:pt x="41969"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Illustrative delivered road transport cost class 4; reference terminal Durban"/>
          <p:cNvSpPr/>
          <p:nvPr/>
        </p:nvSpPr>
        <p:spPr>
          <a:xfrm>
            <a:off x="2954309"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5" name="Illustrative delivered road transport cost class 4; reference terminal Lesedi"/>
          <p:cNvSpPr/>
          <p:nvPr/>
        </p:nvSpPr>
        <p:spPr>
          <a:xfrm>
            <a:off x="2954309"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Illustrative delivered road transport cost class 4; reference terminal Lesedi"/>
          <p:cNvSpPr/>
          <p:nvPr/>
        </p:nvSpPr>
        <p:spPr>
          <a:xfrm>
            <a:off x="2954309"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Illustrative delivered road transport cost class 4; reference terminal Lesedi"/>
          <p:cNvSpPr/>
          <p:nvPr/>
        </p:nvSpPr>
        <p:spPr>
          <a:xfrm>
            <a:off x="2954309"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Illustrative delivered road transport cost class 4; reference terminal Lesedi"/>
          <p:cNvSpPr/>
          <p:nvPr/>
        </p:nvSpPr>
        <p:spPr>
          <a:xfrm>
            <a:off x="2954309"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9" name="Illustrative delivered road transport cost class 3; reference terminal Lesedi"/>
          <p:cNvSpPr/>
          <p:nvPr/>
        </p:nvSpPr>
        <p:spPr>
          <a:xfrm>
            <a:off x="2954309"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0" name="Illustrative delivered road transport cost class 3; reference terminal Lesedi"/>
          <p:cNvSpPr/>
          <p:nvPr/>
        </p:nvSpPr>
        <p:spPr>
          <a:xfrm>
            <a:off x="2954309"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Illustrative delivered road transport cost class 3; reference terminal Lesedi"/>
          <p:cNvSpPr/>
          <p:nvPr/>
        </p:nvSpPr>
        <p:spPr>
          <a:xfrm>
            <a:off x="2954309"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2" name="Illustrative delivered road transport cost class 3; reference terminal Lesedi"/>
          <p:cNvSpPr/>
          <p:nvPr/>
        </p:nvSpPr>
        <p:spPr>
          <a:xfrm>
            <a:off x="2954309"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3" name="Illustrative delivered road transport cost class 3; reference terminal Lesedi"/>
          <p:cNvSpPr/>
          <p:nvPr/>
        </p:nvSpPr>
        <p:spPr>
          <a:xfrm>
            <a:off x="2954309"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4" name="Illustrative delivered road transport cost class 4; reference terminal Lesedi"/>
          <p:cNvSpPr/>
          <p:nvPr/>
        </p:nvSpPr>
        <p:spPr>
          <a:xfrm>
            <a:off x="2954309"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5" name="Illustrative delivered road transport cost class None; reference terminal None"/>
          <p:cNvSpPr/>
          <p:nvPr/>
        </p:nvSpPr>
        <p:spPr>
          <a:xfrm>
            <a:off x="2954309"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6" name="Illustrative delivered road transport cost class None; reference terminal None"/>
          <p:cNvSpPr/>
          <p:nvPr/>
        </p:nvSpPr>
        <p:spPr>
          <a:xfrm>
            <a:off x="2954309"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7" name="Illustrative delivered road transport cost class None; reference terminal None"/>
          <p:cNvSpPr/>
          <p:nvPr/>
        </p:nvSpPr>
        <p:spPr>
          <a:xfrm>
            <a:off x="2954309"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8" name="Illustrative delivered road transport cost class None; reference terminal None"/>
          <p:cNvSpPr/>
          <p:nvPr/>
        </p:nvSpPr>
        <p:spPr>
          <a:xfrm>
            <a:off x="295430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9" name="Illustrative delivered road transport cost class None; reference terminal None"/>
          <p:cNvSpPr/>
          <p:nvPr/>
        </p:nvSpPr>
        <p:spPr>
          <a:xfrm>
            <a:off x="295430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0" name="Illustrative delivered road transport cost class None; reference terminal None"/>
          <p:cNvSpPr/>
          <p:nvPr/>
        </p:nvSpPr>
        <p:spPr>
          <a:xfrm>
            <a:off x="295430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1" name="Illustrative delivered road transport cost class 3; reference terminal Lesedi"/>
          <p:cNvSpPr/>
          <p:nvPr/>
        </p:nvSpPr>
        <p:spPr>
          <a:xfrm>
            <a:off x="295430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2" name="Illustrative delivered road transport cost class 3; reference terminal Lesedi"/>
          <p:cNvSpPr/>
          <p:nvPr/>
        </p:nvSpPr>
        <p:spPr>
          <a:xfrm>
            <a:off x="295430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3" name="Illustrative delivered road transport cost class 3; reference terminal Lesedi"/>
          <p:cNvSpPr/>
          <p:nvPr/>
        </p:nvSpPr>
        <p:spPr>
          <a:xfrm>
            <a:off x="295430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4" name="Illustrative delivered road transport cost class 3; reference terminal Lesedi"/>
          <p:cNvSpPr/>
          <p:nvPr/>
        </p:nvSpPr>
        <p:spPr>
          <a:xfrm>
            <a:off x="295430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5" name="Illustrative delivered road transport cost class 3; reference terminal Lesedi"/>
          <p:cNvSpPr/>
          <p:nvPr/>
        </p:nvSpPr>
        <p:spPr>
          <a:xfrm>
            <a:off x="295430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6" name="Illustrative delivered road transport cost class 3; reference terminal Lesedi"/>
          <p:cNvSpPr/>
          <p:nvPr/>
        </p:nvSpPr>
        <p:spPr>
          <a:xfrm>
            <a:off x="295430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7" name="Illustrative delivered road transport cost class 3; reference terminal Lesedi"/>
          <p:cNvSpPr/>
          <p:nvPr/>
        </p:nvSpPr>
        <p:spPr>
          <a:xfrm>
            <a:off x="295430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8" name="Illustrative delivered road transport cost class 3; reference terminal Lesedi"/>
          <p:cNvSpPr/>
          <p:nvPr/>
        </p:nvSpPr>
        <p:spPr>
          <a:xfrm>
            <a:off x="295430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9" name="Illustrative delivered road transport cost class 3; reference terminal Lesedi"/>
          <p:cNvSpPr/>
          <p:nvPr/>
        </p:nvSpPr>
        <p:spPr>
          <a:xfrm>
            <a:off x="295430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0" name="Illustrative delivered road transport cost class 3; reference terminal Lesedi"/>
          <p:cNvSpPr/>
          <p:nvPr/>
        </p:nvSpPr>
        <p:spPr>
          <a:xfrm>
            <a:off x="295430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1" name="Illustrative delivered road transport cost class 3; reference terminal Lesedi"/>
          <p:cNvSpPr/>
          <p:nvPr/>
        </p:nvSpPr>
        <p:spPr>
          <a:xfrm>
            <a:off x="295430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2" name="Illustrative delivered road transport cost class 3; reference terminal Lesedi"/>
          <p:cNvSpPr/>
          <p:nvPr/>
        </p:nvSpPr>
        <p:spPr>
          <a:xfrm>
            <a:off x="295430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3" name="Illustrative delivered road transport cost class 3; reference terminal Lesedi"/>
          <p:cNvSpPr/>
          <p:nvPr/>
        </p:nvSpPr>
        <p:spPr>
          <a:xfrm>
            <a:off x="295430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4" name="Illustrative delivered road transport cost class 3; reference terminal Lesedi"/>
          <p:cNvSpPr/>
          <p:nvPr/>
        </p:nvSpPr>
        <p:spPr>
          <a:xfrm>
            <a:off x="295430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5" name="Illustrative delivered road transport cost class 4; reference terminal Lesedi"/>
          <p:cNvSpPr/>
          <p:nvPr/>
        </p:nvSpPr>
        <p:spPr>
          <a:xfrm>
            <a:off x="295430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6" name="Illustrative delivered road transport cost class None; reference terminal None"/>
          <p:cNvSpPr/>
          <p:nvPr/>
        </p:nvSpPr>
        <p:spPr>
          <a:xfrm>
            <a:off x="2954309" y="3479202"/>
            <a:ext cx="57687" cy="57687"/>
          </a:xfrm>
          <a:custGeom>
            <a:avLst/>
            <a:gdLst/>
            <a:ahLst/>
            <a:cxnLst/>
            <a:rect l="l" t="t" r="r" b="b"/>
            <a:pathLst>
              <a:path w="57687" h="57687">
                <a:moveTo>
                  <a:pt x="57687" y="0"/>
                </a:moveTo>
                <a:lnTo>
                  <a:pt x="57687" y="57687"/>
                </a:lnTo>
                <a:lnTo>
                  <a:pt x="0" y="57687"/>
                </a:lnTo>
                <a:lnTo>
                  <a:pt x="0" y="27699"/>
                </a:lnTo>
                <a:lnTo>
                  <a:pt x="1644" y="26178"/>
                </a:lnTo>
                <a:lnTo>
                  <a:pt x="12518" y="1132"/>
                </a:lnTo>
                <a:lnTo>
                  <a:pt x="1388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7" name="Illustrative delivered road transport cost class None; reference terminal None"/>
          <p:cNvSpPr/>
          <p:nvPr/>
        </p:nvSpPr>
        <p:spPr>
          <a:xfrm>
            <a:off x="2968191" y="3461853"/>
            <a:ext cx="43805" cy="17349"/>
          </a:xfrm>
          <a:custGeom>
            <a:avLst/>
            <a:gdLst/>
            <a:ahLst/>
            <a:cxnLst/>
            <a:rect l="l" t="t" r="r" b="b"/>
            <a:pathLst>
              <a:path w="43805" h="17349">
                <a:moveTo>
                  <a:pt x="43805" y="17349"/>
                </a:moveTo>
                <a:lnTo>
                  <a:pt x="0" y="17349"/>
                </a:lnTo>
                <a:lnTo>
                  <a:pt x="8741" y="10096"/>
                </a:lnTo>
                <a:lnTo>
                  <a:pt x="27313" y="5420"/>
                </a:lnTo>
                <a:lnTo>
                  <a:pt x="43805" y="0"/>
                </a:lnTo>
                <a:lnTo>
                  <a:pt x="43805" y="1734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8" name="Illustrative delivered road transport cost class 4; reference terminal Durban"/>
          <p:cNvSpPr/>
          <p:nvPr/>
        </p:nvSpPr>
        <p:spPr>
          <a:xfrm>
            <a:off x="3011996" y="5382859"/>
            <a:ext cx="57686" cy="57196"/>
          </a:xfrm>
          <a:custGeom>
            <a:avLst/>
            <a:gdLst/>
            <a:ahLst/>
            <a:cxnLst/>
            <a:rect l="l" t="t" r="r" b="b"/>
            <a:pathLst>
              <a:path w="57686" h="57196">
                <a:moveTo>
                  <a:pt x="0" y="0"/>
                </a:moveTo>
                <a:lnTo>
                  <a:pt x="57686" y="0"/>
                </a:lnTo>
                <a:lnTo>
                  <a:pt x="57686" y="16696"/>
                </a:lnTo>
                <a:lnTo>
                  <a:pt x="10084" y="56881"/>
                </a:lnTo>
                <a:lnTo>
                  <a:pt x="0" y="571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9" name="Illustrative delivered road transport cost class 4; reference terminal Durban"/>
          <p:cNvSpPr/>
          <p:nvPr/>
        </p:nvSpPr>
        <p:spPr>
          <a:xfrm>
            <a:off x="3011996"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0" name="Illustrative delivered road transport cost class 4; reference terminal Lesedi"/>
          <p:cNvSpPr/>
          <p:nvPr/>
        </p:nvSpPr>
        <p:spPr>
          <a:xfrm>
            <a:off x="3011996"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1" name="Illustrative delivered road transport cost class 4; reference terminal Lesedi"/>
          <p:cNvSpPr/>
          <p:nvPr/>
        </p:nvSpPr>
        <p:spPr>
          <a:xfrm>
            <a:off x="3011996"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2" name="Illustrative delivered road transport cost class 4; reference terminal Lesedi"/>
          <p:cNvSpPr/>
          <p:nvPr/>
        </p:nvSpPr>
        <p:spPr>
          <a:xfrm>
            <a:off x="3011996"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3" name="Illustrative delivered road transport cost class 4; reference terminal Lesedi"/>
          <p:cNvSpPr/>
          <p:nvPr/>
        </p:nvSpPr>
        <p:spPr>
          <a:xfrm>
            <a:off x="3011996"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4" name="Illustrative delivered road transport cost class 3; reference terminal Lesedi"/>
          <p:cNvSpPr/>
          <p:nvPr/>
        </p:nvSpPr>
        <p:spPr>
          <a:xfrm>
            <a:off x="3011996"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5" name="Illustrative delivered road transport cost class 3; reference terminal Lesedi"/>
          <p:cNvSpPr/>
          <p:nvPr/>
        </p:nvSpPr>
        <p:spPr>
          <a:xfrm>
            <a:off x="3011996"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6" name="Illustrative delivered road transport cost class 3; reference terminal Lesedi"/>
          <p:cNvSpPr/>
          <p:nvPr/>
        </p:nvSpPr>
        <p:spPr>
          <a:xfrm>
            <a:off x="3011996"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7" name="Illustrative delivered road transport cost class 3; reference terminal Lesedi"/>
          <p:cNvSpPr/>
          <p:nvPr/>
        </p:nvSpPr>
        <p:spPr>
          <a:xfrm>
            <a:off x="3011996"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8" name="Illustrative delivered road transport cost class 3; reference terminal Lesedi"/>
          <p:cNvSpPr/>
          <p:nvPr/>
        </p:nvSpPr>
        <p:spPr>
          <a:xfrm>
            <a:off x="3011996"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9" name="Illustrative delivered road transport cost class 3; reference terminal Lesedi"/>
          <p:cNvSpPr/>
          <p:nvPr/>
        </p:nvSpPr>
        <p:spPr>
          <a:xfrm>
            <a:off x="3011996"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0" name="Illustrative delivered road transport cost class None; reference terminal None"/>
          <p:cNvSpPr/>
          <p:nvPr/>
        </p:nvSpPr>
        <p:spPr>
          <a:xfrm>
            <a:off x="3011996"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1" name="Illustrative delivered road transport cost class None; reference terminal None"/>
          <p:cNvSpPr/>
          <p:nvPr/>
        </p:nvSpPr>
        <p:spPr>
          <a:xfrm>
            <a:off x="3011996"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2" name="Illustrative delivered road transport cost class None; reference terminal None"/>
          <p:cNvSpPr/>
          <p:nvPr/>
        </p:nvSpPr>
        <p:spPr>
          <a:xfrm>
            <a:off x="3011996"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3" name="Illustrative delivered road transport cost class None; reference terminal None"/>
          <p:cNvSpPr/>
          <p:nvPr/>
        </p:nvSpPr>
        <p:spPr>
          <a:xfrm>
            <a:off x="3011996"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4" name="Illustrative delivered road transport cost class None; reference terminal None"/>
          <p:cNvSpPr/>
          <p:nvPr/>
        </p:nvSpPr>
        <p:spPr>
          <a:xfrm>
            <a:off x="3011996"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5" name="Illustrative delivered road transport cost class None; reference terminal None"/>
          <p:cNvSpPr/>
          <p:nvPr/>
        </p:nvSpPr>
        <p:spPr>
          <a:xfrm>
            <a:off x="3011996"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6" name="Illustrative delivered road transport cost class 3; reference terminal Lesedi"/>
          <p:cNvSpPr/>
          <p:nvPr/>
        </p:nvSpPr>
        <p:spPr>
          <a:xfrm>
            <a:off x="3011996"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7" name="Illustrative delivered road transport cost class 3; reference terminal Lesedi"/>
          <p:cNvSpPr/>
          <p:nvPr/>
        </p:nvSpPr>
        <p:spPr>
          <a:xfrm>
            <a:off x="3011996"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8" name="Illustrative delivered road transport cost class 3; reference terminal Lesedi"/>
          <p:cNvSpPr/>
          <p:nvPr/>
        </p:nvSpPr>
        <p:spPr>
          <a:xfrm>
            <a:off x="3011996"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9" name="Illustrative delivered road transport cost class 3; reference terminal Lesedi"/>
          <p:cNvSpPr/>
          <p:nvPr/>
        </p:nvSpPr>
        <p:spPr>
          <a:xfrm>
            <a:off x="301199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0" name="Illustrative delivered road transport cost class 3; reference terminal Lesedi"/>
          <p:cNvSpPr/>
          <p:nvPr/>
        </p:nvSpPr>
        <p:spPr>
          <a:xfrm>
            <a:off x="301199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1" name="Illustrative delivered road transport cost class 3; reference terminal Lesedi"/>
          <p:cNvSpPr/>
          <p:nvPr/>
        </p:nvSpPr>
        <p:spPr>
          <a:xfrm>
            <a:off x="301199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2" name="Illustrative delivered road transport cost class 3; reference terminal Lesedi"/>
          <p:cNvSpPr/>
          <p:nvPr/>
        </p:nvSpPr>
        <p:spPr>
          <a:xfrm>
            <a:off x="301199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3" name="Illustrative delivered road transport cost class 3; reference terminal Lesedi"/>
          <p:cNvSpPr/>
          <p:nvPr/>
        </p:nvSpPr>
        <p:spPr>
          <a:xfrm>
            <a:off x="301199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4" name="Illustrative delivered road transport cost class 3; reference terminal Lesedi"/>
          <p:cNvSpPr/>
          <p:nvPr/>
        </p:nvSpPr>
        <p:spPr>
          <a:xfrm>
            <a:off x="301199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5" name="Illustrative delivered road transport cost class 3; reference terminal Lesedi"/>
          <p:cNvSpPr/>
          <p:nvPr/>
        </p:nvSpPr>
        <p:spPr>
          <a:xfrm>
            <a:off x="301199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6" name="Illustrative delivered road transport cost class 3; reference terminal Lesedi"/>
          <p:cNvSpPr/>
          <p:nvPr/>
        </p:nvSpPr>
        <p:spPr>
          <a:xfrm>
            <a:off x="301199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7" name="Illustrative delivered road transport cost class 3; reference terminal Lesedi"/>
          <p:cNvSpPr/>
          <p:nvPr/>
        </p:nvSpPr>
        <p:spPr>
          <a:xfrm>
            <a:off x="301199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8" name="Illustrative delivered road transport cost class 3; reference terminal Lesedi"/>
          <p:cNvSpPr/>
          <p:nvPr/>
        </p:nvSpPr>
        <p:spPr>
          <a:xfrm>
            <a:off x="301199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9" name="Illustrative delivered road transport cost class 3; reference terminal Lesedi"/>
          <p:cNvSpPr/>
          <p:nvPr/>
        </p:nvSpPr>
        <p:spPr>
          <a:xfrm>
            <a:off x="3011996"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0" name="Illustrative delivered road transport cost class 3; reference terminal Lesedi"/>
          <p:cNvSpPr/>
          <p:nvPr/>
        </p:nvSpPr>
        <p:spPr>
          <a:xfrm>
            <a:off x="3011996"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1" name="Illustrative delivered road transport cost class None; reference terminal None"/>
          <p:cNvSpPr/>
          <p:nvPr/>
        </p:nvSpPr>
        <p:spPr>
          <a:xfrm>
            <a:off x="3011996"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2" name="Illustrative delivered road transport cost class None; reference terminal None"/>
          <p:cNvSpPr/>
          <p:nvPr/>
        </p:nvSpPr>
        <p:spPr>
          <a:xfrm>
            <a:off x="3011996" y="3421516"/>
            <a:ext cx="57686" cy="57686"/>
          </a:xfrm>
          <a:custGeom>
            <a:avLst/>
            <a:gdLst/>
            <a:ahLst/>
            <a:cxnLst/>
            <a:rect l="l" t="t" r="r" b="b"/>
            <a:pathLst>
              <a:path w="57686" h="57686">
                <a:moveTo>
                  <a:pt x="57686" y="0"/>
                </a:moveTo>
                <a:lnTo>
                  <a:pt x="57686" y="57686"/>
                </a:lnTo>
                <a:lnTo>
                  <a:pt x="0" y="57686"/>
                </a:lnTo>
                <a:lnTo>
                  <a:pt x="0" y="40337"/>
                </a:lnTo>
                <a:lnTo>
                  <a:pt x="5481" y="38536"/>
                </a:lnTo>
                <a:lnTo>
                  <a:pt x="23520" y="23860"/>
                </a:lnTo>
                <a:lnTo>
                  <a:pt x="3700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3" name="Illustrative delivered road transport cost class None; reference terminal None"/>
          <p:cNvSpPr/>
          <p:nvPr/>
        </p:nvSpPr>
        <p:spPr>
          <a:xfrm>
            <a:off x="3049002" y="3391017"/>
            <a:ext cx="20680" cy="30499"/>
          </a:xfrm>
          <a:custGeom>
            <a:avLst/>
            <a:gdLst/>
            <a:ahLst/>
            <a:cxnLst/>
            <a:rect l="l" t="t" r="r" b="b"/>
            <a:pathLst>
              <a:path w="20680" h="30499">
                <a:moveTo>
                  <a:pt x="20680" y="30499"/>
                </a:moveTo>
                <a:lnTo>
                  <a:pt x="0" y="30499"/>
                </a:lnTo>
                <a:lnTo>
                  <a:pt x="14539" y="4776"/>
                </a:lnTo>
                <a:lnTo>
                  <a:pt x="20680" y="0"/>
                </a:lnTo>
                <a:lnTo>
                  <a:pt x="20680" y="3049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4" name="Illustrative delivered road transport cost class 4; reference terminal Durban"/>
          <p:cNvSpPr/>
          <p:nvPr/>
        </p:nvSpPr>
        <p:spPr>
          <a:xfrm>
            <a:off x="3069682" y="5382859"/>
            <a:ext cx="19778" cy="16696"/>
          </a:xfrm>
          <a:custGeom>
            <a:avLst/>
            <a:gdLst/>
            <a:ahLst/>
            <a:cxnLst/>
            <a:rect l="l" t="t" r="r" b="b"/>
            <a:pathLst>
              <a:path w="19778" h="16696">
                <a:moveTo>
                  <a:pt x="0" y="0"/>
                </a:moveTo>
                <a:lnTo>
                  <a:pt x="19778" y="0"/>
                </a:lnTo>
                <a:lnTo>
                  <a:pt x="0" y="166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5" name="Illustrative delivered road transport cost class 4; reference terminal Durban"/>
          <p:cNvSpPr/>
          <p:nvPr/>
        </p:nvSpPr>
        <p:spPr>
          <a:xfrm>
            <a:off x="3069682" y="5325173"/>
            <a:ext cx="57687" cy="57686"/>
          </a:xfrm>
          <a:custGeom>
            <a:avLst/>
            <a:gdLst/>
            <a:ahLst/>
            <a:cxnLst/>
            <a:rect l="l" t="t" r="r" b="b"/>
            <a:pathLst>
              <a:path w="57687" h="57686">
                <a:moveTo>
                  <a:pt x="0" y="57686"/>
                </a:moveTo>
                <a:lnTo>
                  <a:pt x="0" y="0"/>
                </a:lnTo>
                <a:lnTo>
                  <a:pt x="57687" y="0"/>
                </a:lnTo>
                <a:lnTo>
                  <a:pt x="57687" y="33061"/>
                </a:lnTo>
                <a:lnTo>
                  <a:pt x="47320" y="34436"/>
                </a:lnTo>
                <a:lnTo>
                  <a:pt x="19778"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6" name="Illustrative delivered road transport cost class 4; reference terminal Durban"/>
          <p:cNvSpPr/>
          <p:nvPr/>
        </p:nvSpPr>
        <p:spPr>
          <a:xfrm>
            <a:off x="306968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7" name="Illustrative delivered road transport cost class 4; reference terminal Lesedi"/>
          <p:cNvSpPr/>
          <p:nvPr/>
        </p:nvSpPr>
        <p:spPr>
          <a:xfrm>
            <a:off x="306968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8" name="Illustrative delivered road transport cost class 4; reference terminal Lesedi"/>
          <p:cNvSpPr/>
          <p:nvPr/>
        </p:nvSpPr>
        <p:spPr>
          <a:xfrm>
            <a:off x="306968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9" name="Illustrative delivered road transport cost class 3; reference terminal Lesedi"/>
          <p:cNvSpPr/>
          <p:nvPr/>
        </p:nvSpPr>
        <p:spPr>
          <a:xfrm>
            <a:off x="306968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0" name="Illustrative delivered road transport cost class 3; reference terminal Lesedi"/>
          <p:cNvSpPr/>
          <p:nvPr/>
        </p:nvSpPr>
        <p:spPr>
          <a:xfrm>
            <a:off x="306968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1" name="Illustrative delivered road transport cost class 3; reference terminal Lesedi"/>
          <p:cNvSpPr/>
          <p:nvPr/>
        </p:nvSpPr>
        <p:spPr>
          <a:xfrm>
            <a:off x="306968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2" name="Illustrative delivered road transport cost class 3; reference terminal Lesedi"/>
          <p:cNvSpPr/>
          <p:nvPr/>
        </p:nvSpPr>
        <p:spPr>
          <a:xfrm>
            <a:off x="306968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3" name="Illustrative delivered road transport cost class 3; reference terminal Lesedi"/>
          <p:cNvSpPr/>
          <p:nvPr/>
        </p:nvSpPr>
        <p:spPr>
          <a:xfrm>
            <a:off x="306968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4" name="Illustrative delivered road transport cost class 3; reference terminal Lesedi"/>
          <p:cNvSpPr/>
          <p:nvPr/>
        </p:nvSpPr>
        <p:spPr>
          <a:xfrm>
            <a:off x="306968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5" name="Illustrative delivered road transport cost class 3; reference terminal Lesedi"/>
          <p:cNvSpPr/>
          <p:nvPr/>
        </p:nvSpPr>
        <p:spPr>
          <a:xfrm>
            <a:off x="306968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6" name="Illustrative delivered road transport cost class 3; reference terminal Lesedi"/>
          <p:cNvSpPr/>
          <p:nvPr/>
        </p:nvSpPr>
        <p:spPr>
          <a:xfrm>
            <a:off x="306968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7" name="Illustrative delivered road transport cost class None; reference terminal None"/>
          <p:cNvSpPr/>
          <p:nvPr/>
        </p:nvSpPr>
        <p:spPr>
          <a:xfrm>
            <a:off x="306968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8" name="Illustrative delivered road transport cost class None; reference terminal None"/>
          <p:cNvSpPr/>
          <p:nvPr/>
        </p:nvSpPr>
        <p:spPr>
          <a:xfrm>
            <a:off x="306968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9" name="Illustrative delivered road transport cost class None; reference terminal None"/>
          <p:cNvSpPr/>
          <p:nvPr/>
        </p:nvSpPr>
        <p:spPr>
          <a:xfrm>
            <a:off x="306968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 name="Illustrative delivered road transport cost class None; reference terminal None"/>
          <p:cNvSpPr/>
          <p:nvPr/>
        </p:nvSpPr>
        <p:spPr>
          <a:xfrm>
            <a:off x="306968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 name="Illustrative delivered road transport cost class 3; reference terminal Lesedi"/>
          <p:cNvSpPr/>
          <p:nvPr/>
        </p:nvSpPr>
        <p:spPr>
          <a:xfrm>
            <a:off x="306968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2" name="Illustrative delivered road transport cost class 3; reference terminal Lesedi"/>
          <p:cNvSpPr/>
          <p:nvPr/>
        </p:nvSpPr>
        <p:spPr>
          <a:xfrm>
            <a:off x="306968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3" name="Illustrative delivered road transport cost class 3; reference terminal Lesedi"/>
          <p:cNvSpPr/>
          <p:nvPr/>
        </p:nvSpPr>
        <p:spPr>
          <a:xfrm>
            <a:off x="306968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4" name="Illustrative delivered road transport cost class 3; reference terminal Lesedi"/>
          <p:cNvSpPr/>
          <p:nvPr/>
        </p:nvSpPr>
        <p:spPr>
          <a:xfrm>
            <a:off x="306968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5" name="Illustrative delivered road transport cost class 3; reference terminal Lesedi"/>
          <p:cNvSpPr/>
          <p:nvPr/>
        </p:nvSpPr>
        <p:spPr>
          <a:xfrm>
            <a:off x="306968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6" name="Illustrative delivered road transport cost class 3; reference terminal Lesedi"/>
          <p:cNvSpPr/>
          <p:nvPr/>
        </p:nvSpPr>
        <p:spPr>
          <a:xfrm>
            <a:off x="306968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7" name="Illustrative delivered road transport cost class 3; reference terminal Lesedi"/>
          <p:cNvSpPr/>
          <p:nvPr/>
        </p:nvSpPr>
        <p:spPr>
          <a:xfrm>
            <a:off x="306968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8" name="Illustrative delivered road transport cost class 3; reference terminal Lesedi"/>
          <p:cNvSpPr/>
          <p:nvPr/>
        </p:nvSpPr>
        <p:spPr>
          <a:xfrm>
            <a:off x="306968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9" name="Illustrative delivered road transport cost class 3; reference terminal Lesedi"/>
          <p:cNvSpPr/>
          <p:nvPr/>
        </p:nvSpPr>
        <p:spPr>
          <a:xfrm>
            <a:off x="306968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0" name="Illustrative delivered road transport cost class 3; reference terminal Lesedi"/>
          <p:cNvSpPr/>
          <p:nvPr/>
        </p:nvSpPr>
        <p:spPr>
          <a:xfrm>
            <a:off x="306968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1" name="Illustrative delivered road transport cost class 3; reference terminal Lesedi"/>
          <p:cNvSpPr/>
          <p:nvPr/>
        </p:nvSpPr>
        <p:spPr>
          <a:xfrm>
            <a:off x="306968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2" name="Illustrative delivered road transport cost class 3; reference terminal Lesedi"/>
          <p:cNvSpPr/>
          <p:nvPr/>
        </p:nvSpPr>
        <p:spPr>
          <a:xfrm>
            <a:off x="306968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3" name="Illustrative delivered road transport cost class 3; reference terminal Lesedi"/>
          <p:cNvSpPr/>
          <p:nvPr/>
        </p:nvSpPr>
        <p:spPr>
          <a:xfrm>
            <a:off x="306968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4" name="Illustrative delivered road transport cost class 3; reference terminal Lesedi"/>
          <p:cNvSpPr/>
          <p:nvPr/>
        </p:nvSpPr>
        <p:spPr>
          <a:xfrm>
            <a:off x="306968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5" name="Illustrative delivered road transport cost class 3; reference terminal Lesedi"/>
          <p:cNvSpPr/>
          <p:nvPr/>
        </p:nvSpPr>
        <p:spPr>
          <a:xfrm>
            <a:off x="306968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6" name="Illustrative delivered road transport cost class 3; reference terminal Lesedi"/>
          <p:cNvSpPr/>
          <p:nvPr/>
        </p:nvSpPr>
        <p:spPr>
          <a:xfrm>
            <a:off x="306968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7" name="Illustrative delivered road transport cost class None; reference terminal None"/>
          <p:cNvSpPr/>
          <p:nvPr/>
        </p:nvSpPr>
        <p:spPr>
          <a:xfrm>
            <a:off x="306968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8" name="Illustrative delivered road transport cost class None; reference terminal None"/>
          <p:cNvSpPr/>
          <p:nvPr/>
        </p:nvSpPr>
        <p:spPr>
          <a:xfrm>
            <a:off x="306968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9" name="Illustrative delivered road transport cost class None; reference terminal None"/>
          <p:cNvSpPr/>
          <p:nvPr/>
        </p:nvSpPr>
        <p:spPr>
          <a:xfrm>
            <a:off x="3069682" y="3363829"/>
            <a:ext cx="57687" cy="57687"/>
          </a:xfrm>
          <a:custGeom>
            <a:avLst/>
            <a:gdLst/>
            <a:ahLst/>
            <a:cxnLst/>
            <a:rect l="l" t="t" r="r" b="b"/>
            <a:pathLst>
              <a:path w="57687" h="57687">
                <a:moveTo>
                  <a:pt x="57687" y="0"/>
                </a:moveTo>
                <a:lnTo>
                  <a:pt x="57687" y="57687"/>
                </a:lnTo>
                <a:lnTo>
                  <a:pt x="0" y="57687"/>
                </a:lnTo>
                <a:lnTo>
                  <a:pt x="0" y="27188"/>
                </a:lnTo>
                <a:lnTo>
                  <a:pt x="3495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0" name="Illustrative delivered road transport cost class None; reference terminal None"/>
          <p:cNvSpPr/>
          <p:nvPr/>
        </p:nvSpPr>
        <p:spPr>
          <a:xfrm>
            <a:off x="3104636" y="3347240"/>
            <a:ext cx="22733" cy="16589"/>
          </a:xfrm>
          <a:custGeom>
            <a:avLst/>
            <a:gdLst/>
            <a:ahLst/>
            <a:cxnLst/>
            <a:rect l="l" t="t" r="r" b="b"/>
            <a:pathLst>
              <a:path w="22733" h="16589">
                <a:moveTo>
                  <a:pt x="22733" y="16589"/>
                </a:moveTo>
                <a:lnTo>
                  <a:pt x="0" y="16589"/>
                </a:lnTo>
                <a:lnTo>
                  <a:pt x="16351" y="3871"/>
                </a:lnTo>
                <a:lnTo>
                  <a:pt x="22733" y="0"/>
                </a:lnTo>
                <a:lnTo>
                  <a:pt x="22733" y="1658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1" name="Illustrative delivered road transport cost class 4; reference terminal Durban"/>
          <p:cNvSpPr/>
          <p:nvPr/>
        </p:nvSpPr>
        <p:spPr>
          <a:xfrm>
            <a:off x="3127369" y="5325173"/>
            <a:ext cx="57686" cy="33061"/>
          </a:xfrm>
          <a:custGeom>
            <a:avLst/>
            <a:gdLst/>
            <a:ahLst/>
            <a:cxnLst/>
            <a:rect l="l" t="t" r="r" b="b"/>
            <a:pathLst>
              <a:path w="57686" h="33061">
                <a:moveTo>
                  <a:pt x="0" y="0"/>
                </a:moveTo>
                <a:lnTo>
                  <a:pt x="57686" y="0"/>
                </a:lnTo>
                <a:lnTo>
                  <a:pt x="57686" y="17782"/>
                </a:lnTo>
                <a:lnTo>
                  <a:pt x="54992" y="17834"/>
                </a:lnTo>
                <a:lnTo>
                  <a:pt x="25544" y="29674"/>
                </a:lnTo>
                <a:lnTo>
                  <a:pt x="0" y="3306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2" name="Illustrative delivered road transport cost class 4; reference terminal Durban"/>
          <p:cNvSpPr/>
          <p:nvPr/>
        </p:nvSpPr>
        <p:spPr>
          <a:xfrm>
            <a:off x="312736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3" name="Illustrative delivered road transport cost class 4; reference terminal Durban"/>
          <p:cNvSpPr/>
          <p:nvPr/>
        </p:nvSpPr>
        <p:spPr>
          <a:xfrm>
            <a:off x="312736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4" name="Illustrative delivered road transport cost class 4; reference terminal Lesedi"/>
          <p:cNvSpPr/>
          <p:nvPr/>
        </p:nvSpPr>
        <p:spPr>
          <a:xfrm>
            <a:off x="312736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5" name="Illustrative delivered road transport cost class 3; reference terminal Lesedi"/>
          <p:cNvSpPr/>
          <p:nvPr/>
        </p:nvSpPr>
        <p:spPr>
          <a:xfrm>
            <a:off x="312736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6" name="Illustrative delivered road transport cost class 3; reference terminal Lesedi"/>
          <p:cNvSpPr/>
          <p:nvPr/>
        </p:nvSpPr>
        <p:spPr>
          <a:xfrm>
            <a:off x="312736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7" name="Illustrative delivered road transport cost class 3; reference terminal Lesedi"/>
          <p:cNvSpPr/>
          <p:nvPr/>
        </p:nvSpPr>
        <p:spPr>
          <a:xfrm>
            <a:off x="312736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8" name="Illustrative delivered road transport cost class 3; reference terminal Lesedi"/>
          <p:cNvSpPr/>
          <p:nvPr/>
        </p:nvSpPr>
        <p:spPr>
          <a:xfrm>
            <a:off x="312736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9" name="Illustrative delivered road transport cost class 3; reference terminal Lesedi"/>
          <p:cNvSpPr/>
          <p:nvPr/>
        </p:nvSpPr>
        <p:spPr>
          <a:xfrm>
            <a:off x="312736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0" name="Illustrative delivered road transport cost class 3; reference terminal Lesedi"/>
          <p:cNvSpPr/>
          <p:nvPr/>
        </p:nvSpPr>
        <p:spPr>
          <a:xfrm>
            <a:off x="312736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1" name="Illustrative delivered road transport cost class 3; reference terminal Lesedi"/>
          <p:cNvSpPr/>
          <p:nvPr/>
        </p:nvSpPr>
        <p:spPr>
          <a:xfrm>
            <a:off x="312736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2" name="Illustrative delivered road transport cost class 3; reference terminal Lesedi"/>
          <p:cNvSpPr/>
          <p:nvPr/>
        </p:nvSpPr>
        <p:spPr>
          <a:xfrm>
            <a:off x="312736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3" name="Illustrative delivered road transport cost class 3; reference terminal Lesedi"/>
          <p:cNvSpPr/>
          <p:nvPr/>
        </p:nvSpPr>
        <p:spPr>
          <a:xfrm>
            <a:off x="312736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4" name="Illustrative delivered road transport cost class 3; reference terminal Lesedi"/>
          <p:cNvSpPr/>
          <p:nvPr/>
        </p:nvSpPr>
        <p:spPr>
          <a:xfrm>
            <a:off x="312736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5" name="Illustrative delivered road transport cost class None; reference terminal None"/>
          <p:cNvSpPr/>
          <p:nvPr/>
        </p:nvSpPr>
        <p:spPr>
          <a:xfrm>
            <a:off x="312736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6" name="Illustrative delivered road transport cost class None; reference terminal None"/>
          <p:cNvSpPr/>
          <p:nvPr/>
        </p:nvSpPr>
        <p:spPr>
          <a:xfrm>
            <a:off x="312736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7" name="Illustrative delivered road transport cost class 3; reference terminal Lesedi"/>
          <p:cNvSpPr/>
          <p:nvPr/>
        </p:nvSpPr>
        <p:spPr>
          <a:xfrm>
            <a:off x="312736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8" name="Illustrative delivered road transport cost class 3; reference terminal Lesedi"/>
          <p:cNvSpPr/>
          <p:nvPr/>
        </p:nvSpPr>
        <p:spPr>
          <a:xfrm>
            <a:off x="312736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9" name="Illustrative delivered road transport cost class 3; reference terminal Lesedi"/>
          <p:cNvSpPr/>
          <p:nvPr/>
        </p:nvSpPr>
        <p:spPr>
          <a:xfrm>
            <a:off x="312736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0" name="Illustrative delivered road transport cost class 3; reference terminal Lesedi"/>
          <p:cNvSpPr/>
          <p:nvPr/>
        </p:nvSpPr>
        <p:spPr>
          <a:xfrm>
            <a:off x="312736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1" name="Illustrative delivered road transport cost class 3; reference terminal Lesedi"/>
          <p:cNvSpPr/>
          <p:nvPr/>
        </p:nvSpPr>
        <p:spPr>
          <a:xfrm>
            <a:off x="312736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2" name="Illustrative delivered road transport cost class 3; reference terminal Lesedi"/>
          <p:cNvSpPr/>
          <p:nvPr/>
        </p:nvSpPr>
        <p:spPr>
          <a:xfrm>
            <a:off x="312736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3" name="Illustrative delivered road transport cost class 3; reference terminal Lesedi"/>
          <p:cNvSpPr/>
          <p:nvPr/>
        </p:nvSpPr>
        <p:spPr>
          <a:xfrm>
            <a:off x="312736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4" name="Illustrative delivered road transport cost class 3; reference terminal Lesedi"/>
          <p:cNvSpPr/>
          <p:nvPr/>
        </p:nvSpPr>
        <p:spPr>
          <a:xfrm>
            <a:off x="312736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5" name="Illustrative delivered road transport cost class 3; reference terminal Lesedi"/>
          <p:cNvSpPr/>
          <p:nvPr/>
        </p:nvSpPr>
        <p:spPr>
          <a:xfrm>
            <a:off x="312736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6" name="Illustrative delivered road transport cost class 3; reference terminal Lesedi"/>
          <p:cNvSpPr/>
          <p:nvPr/>
        </p:nvSpPr>
        <p:spPr>
          <a:xfrm>
            <a:off x="312736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7" name="Illustrative delivered road transport cost class 3; reference terminal Lesedi"/>
          <p:cNvSpPr/>
          <p:nvPr/>
        </p:nvSpPr>
        <p:spPr>
          <a:xfrm>
            <a:off x="312736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8" name="Illustrative delivered road transport cost class 3; reference terminal Lesedi"/>
          <p:cNvSpPr/>
          <p:nvPr/>
        </p:nvSpPr>
        <p:spPr>
          <a:xfrm>
            <a:off x="312736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9" name="Illustrative delivered road transport cost class 3; reference terminal Lesedi"/>
          <p:cNvSpPr/>
          <p:nvPr/>
        </p:nvSpPr>
        <p:spPr>
          <a:xfrm>
            <a:off x="312736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0" name="Illustrative delivered road transport cost class 3; reference terminal Lesedi"/>
          <p:cNvSpPr/>
          <p:nvPr/>
        </p:nvSpPr>
        <p:spPr>
          <a:xfrm>
            <a:off x="312736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1" name="Illustrative delivered road transport cost class 3; reference terminal Lesedi"/>
          <p:cNvSpPr/>
          <p:nvPr/>
        </p:nvSpPr>
        <p:spPr>
          <a:xfrm>
            <a:off x="312736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2" name="Illustrative delivered road transport cost class 3; reference terminal Lesedi"/>
          <p:cNvSpPr/>
          <p:nvPr/>
        </p:nvSpPr>
        <p:spPr>
          <a:xfrm>
            <a:off x="312736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3" name="Illustrative delivered road transport cost class 3; reference terminal Lesedi"/>
          <p:cNvSpPr/>
          <p:nvPr/>
        </p:nvSpPr>
        <p:spPr>
          <a:xfrm>
            <a:off x="312736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4" name="Illustrative delivered road transport cost class None; reference terminal None"/>
          <p:cNvSpPr/>
          <p:nvPr/>
        </p:nvSpPr>
        <p:spPr>
          <a:xfrm>
            <a:off x="312736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5" name="Illustrative delivered road transport cost class None; reference terminal None"/>
          <p:cNvSpPr/>
          <p:nvPr/>
        </p:nvSpPr>
        <p:spPr>
          <a:xfrm>
            <a:off x="312736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6" name="Illustrative delivered road transport cost class None; reference terminal None"/>
          <p:cNvSpPr/>
          <p:nvPr/>
        </p:nvSpPr>
        <p:spPr>
          <a:xfrm>
            <a:off x="3127369" y="3306143"/>
            <a:ext cx="57686" cy="57686"/>
          </a:xfrm>
          <a:custGeom>
            <a:avLst/>
            <a:gdLst/>
            <a:ahLst/>
            <a:cxnLst/>
            <a:rect l="l" t="t" r="r" b="b"/>
            <a:pathLst>
              <a:path w="57686" h="57686">
                <a:moveTo>
                  <a:pt x="57686" y="0"/>
                </a:moveTo>
                <a:lnTo>
                  <a:pt x="57686" y="57686"/>
                </a:lnTo>
                <a:lnTo>
                  <a:pt x="0" y="57686"/>
                </a:lnTo>
                <a:lnTo>
                  <a:pt x="0" y="41097"/>
                </a:lnTo>
                <a:lnTo>
                  <a:pt x="11340" y="34218"/>
                </a:lnTo>
                <a:lnTo>
                  <a:pt x="22425" y="22311"/>
                </a:lnTo>
                <a:lnTo>
                  <a:pt x="31958" y="6395"/>
                </a:lnTo>
                <a:lnTo>
                  <a:pt x="3422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7" name="Illustrative delivered road transport cost class None; reference terminal None"/>
          <p:cNvSpPr/>
          <p:nvPr/>
        </p:nvSpPr>
        <p:spPr>
          <a:xfrm>
            <a:off x="3161595" y="3248456"/>
            <a:ext cx="23460" cy="57687"/>
          </a:xfrm>
          <a:custGeom>
            <a:avLst/>
            <a:gdLst/>
            <a:ahLst/>
            <a:cxnLst/>
            <a:rect l="l" t="t" r="r" b="b"/>
            <a:pathLst>
              <a:path w="23460" h="57687">
                <a:moveTo>
                  <a:pt x="23460" y="0"/>
                </a:moveTo>
                <a:lnTo>
                  <a:pt x="23460" y="57687"/>
                </a:lnTo>
                <a:lnTo>
                  <a:pt x="0" y="57687"/>
                </a:lnTo>
                <a:lnTo>
                  <a:pt x="17253" y="9036"/>
                </a:lnTo>
                <a:lnTo>
                  <a:pt x="20158" y="0"/>
                </a:lnTo>
                <a:lnTo>
                  <a:pt x="2346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8" name="Illustrative delivered road transport cost class None; reference terminal None"/>
          <p:cNvSpPr/>
          <p:nvPr/>
        </p:nvSpPr>
        <p:spPr>
          <a:xfrm>
            <a:off x="3181753" y="3238184"/>
            <a:ext cx="3302" cy="10272"/>
          </a:xfrm>
          <a:custGeom>
            <a:avLst/>
            <a:gdLst/>
            <a:ahLst/>
            <a:cxnLst/>
            <a:rect l="l" t="t" r="r" b="b"/>
            <a:pathLst>
              <a:path w="3302" h="10272">
                <a:moveTo>
                  <a:pt x="3302" y="10272"/>
                </a:moveTo>
                <a:lnTo>
                  <a:pt x="0" y="10272"/>
                </a:lnTo>
                <a:lnTo>
                  <a:pt x="3302" y="0"/>
                </a:lnTo>
                <a:lnTo>
                  <a:pt x="3302" y="1027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9" name="Illustrative delivered road transport cost class 3; reference terminal Durban"/>
          <p:cNvSpPr/>
          <p:nvPr/>
        </p:nvSpPr>
        <p:spPr>
          <a:xfrm>
            <a:off x="3185055" y="5325173"/>
            <a:ext cx="57687" cy="23847"/>
          </a:xfrm>
          <a:custGeom>
            <a:avLst/>
            <a:gdLst/>
            <a:ahLst/>
            <a:cxnLst/>
            <a:rect l="l" t="t" r="r" b="b"/>
            <a:pathLst>
              <a:path w="57687" h="23847">
                <a:moveTo>
                  <a:pt x="0" y="0"/>
                </a:moveTo>
                <a:lnTo>
                  <a:pt x="57687" y="0"/>
                </a:lnTo>
                <a:lnTo>
                  <a:pt x="57687" y="23847"/>
                </a:lnTo>
                <a:lnTo>
                  <a:pt x="36069" y="17085"/>
                </a:lnTo>
                <a:lnTo>
                  <a:pt x="0" y="17782"/>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0" name="Illustrative delivered road transport cost class 3; reference terminal Durban"/>
          <p:cNvSpPr/>
          <p:nvPr/>
        </p:nvSpPr>
        <p:spPr>
          <a:xfrm>
            <a:off x="318505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1" name="Illustrative delivered road transport cost class 3; reference terminal Durban"/>
          <p:cNvSpPr/>
          <p:nvPr/>
        </p:nvSpPr>
        <p:spPr>
          <a:xfrm>
            <a:off x="318505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2" name="Illustrative delivered road transport cost class 4; reference terminal Durban"/>
          <p:cNvSpPr/>
          <p:nvPr/>
        </p:nvSpPr>
        <p:spPr>
          <a:xfrm>
            <a:off x="318505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3" name="Illustrative delivered road transport cost class 3; reference terminal Lesedi"/>
          <p:cNvSpPr/>
          <p:nvPr/>
        </p:nvSpPr>
        <p:spPr>
          <a:xfrm>
            <a:off x="318505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4" name="Illustrative delivered road transport cost class 3; reference terminal Lesedi"/>
          <p:cNvSpPr/>
          <p:nvPr/>
        </p:nvSpPr>
        <p:spPr>
          <a:xfrm>
            <a:off x="318505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5" name="Illustrative delivered road transport cost class 3; reference terminal Lesedi"/>
          <p:cNvSpPr/>
          <p:nvPr/>
        </p:nvSpPr>
        <p:spPr>
          <a:xfrm>
            <a:off x="318505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6" name="Illustrative delivered road transport cost class 3; reference terminal Lesedi"/>
          <p:cNvSpPr/>
          <p:nvPr/>
        </p:nvSpPr>
        <p:spPr>
          <a:xfrm>
            <a:off x="318505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7" name="Illustrative delivered road transport cost class 3; reference terminal Lesedi"/>
          <p:cNvSpPr/>
          <p:nvPr/>
        </p:nvSpPr>
        <p:spPr>
          <a:xfrm>
            <a:off x="318505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8" name="Illustrative delivered road transport cost class 3; reference terminal Lesedi"/>
          <p:cNvSpPr/>
          <p:nvPr/>
        </p:nvSpPr>
        <p:spPr>
          <a:xfrm>
            <a:off x="318505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9" name="Illustrative delivered road transport cost class 3; reference terminal Lesedi"/>
          <p:cNvSpPr/>
          <p:nvPr/>
        </p:nvSpPr>
        <p:spPr>
          <a:xfrm>
            <a:off x="318505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0" name="Illustrative delivered road transport cost class 3; reference terminal Lesedi"/>
          <p:cNvSpPr/>
          <p:nvPr/>
        </p:nvSpPr>
        <p:spPr>
          <a:xfrm>
            <a:off x="318505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1" name="Illustrative delivered road transport cost class 3; reference terminal Lesedi"/>
          <p:cNvSpPr/>
          <p:nvPr/>
        </p:nvSpPr>
        <p:spPr>
          <a:xfrm>
            <a:off x="318505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2" name="Illustrative delivered road transport cost class 3; reference terminal Lesedi"/>
          <p:cNvSpPr/>
          <p:nvPr/>
        </p:nvSpPr>
        <p:spPr>
          <a:xfrm>
            <a:off x="318505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3" name="Illustrative delivered road transport cost class 3; reference terminal Lesedi"/>
          <p:cNvSpPr/>
          <p:nvPr/>
        </p:nvSpPr>
        <p:spPr>
          <a:xfrm>
            <a:off x="318505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4" name="Illustrative delivered road transport cost class 3; reference terminal Lesedi"/>
          <p:cNvSpPr/>
          <p:nvPr/>
        </p:nvSpPr>
        <p:spPr>
          <a:xfrm>
            <a:off x="318505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5" name="Illustrative delivered road transport cost class 3; reference terminal Lesedi"/>
          <p:cNvSpPr/>
          <p:nvPr/>
        </p:nvSpPr>
        <p:spPr>
          <a:xfrm>
            <a:off x="318505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6" name="Illustrative delivered road transport cost class 3; reference terminal Lesedi"/>
          <p:cNvSpPr/>
          <p:nvPr/>
        </p:nvSpPr>
        <p:spPr>
          <a:xfrm>
            <a:off x="318505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7" name="Illustrative delivered road transport cost class 3; reference terminal Lesedi"/>
          <p:cNvSpPr/>
          <p:nvPr/>
        </p:nvSpPr>
        <p:spPr>
          <a:xfrm>
            <a:off x="318505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8" name="Illustrative delivered road transport cost class 2; reference terminal Lesedi"/>
          <p:cNvSpPr/>
          <p:nvPr/>
        </p:nvSpPr>
        <p:spPr>
          <a:xfrm>
            <a:off x="318505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9" name="Illustrative delivered road transport cost class 2; reference terminal Lesedi"/>
          <p:cNvSpPr/>
          <p:nvPr/>
        </p:nvSpPr>
        <p:spPr>
          <a:xfrm>
            <a:off x="318505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0" name="Illustrative delivered road transport cost class 3; reference terminal Lesedi"/>
          <p:cNvSpPr/>
          <p:nvPr/>
        </p:nvSpPr>
        <p:spPr>
          <a:xfrm>
            <a:off x="318505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1" name="Illustrative delivered road transport cost class 3; reference terminal Lesedi"/>
          <p:cNvSpPr/>
          <p:nvPr/>
        </p:nvSpPr>
        <p:spPr>
          <a:xfrm>
            <a:off x="318505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2" name="Illustrative delivered road transport cost class 3; reference terminal Lesedi"/>
          <p:cNvSpPr/>
          <p:nvPr/>
        </p:nvSpPr>
        <p:spPr>
          <a:xfrm>
            <a:off x="318505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3" name="Illustrative delivered road transport cost class None; reference terminal None"/>
          <p:cNvSpPr/>
          <p:nvPr/>
        </p:nvSpPr>
        <p:spPr>
          <a:xfrm>
            <a:off x="318505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4" name="Illustrative delivered road transport cost class 3; reference terminal Lesedi"/>
          <p:cNvSpPr/>
          <p:nvPr/>
        </p:nvSpPr>
        <p:spPr>
          <a:xfrm>
            <a:off x="318505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5" name="Illustrative delivered road transport cost class 3; reference terminal Lesedi"/>
          <p:cNvSpPr/>
          <p:nvPr/>
        </p:nvSpPr>
        <p:spPr>
          <a:xfrm>
            <a:off x="318505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6" name="Illustrative delivered road transport cost class 3; reference terminal Lesedi"/>
          <p:cNvSpPr/>
          <p:nvPr/>
        </p:nvSpPr>
        <p:spPr>
          <a:xfrm>
            <a:off x="318505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7" name="Illustrative delivered road transport cost class 3; reference terminal Lesedi"/>
          <p:cNvSpPr/>
          <p:nvPr/>
        </p:nvSpPr>
        <p:spPr>
          <a:xfrm>
            <a:off x="318505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8" name="Illustrative delivered road transport cost class 3; reference terminal Lesedi"/>
          <p:cNvSpPr/>
          <p:nvPr/>
        </p:nvSpPr>
        <p:spPr>
          <a:xfrm>
            <a:off x="318505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9" name="Illustrative delivered road transport cost class 3; reference terminal Lesedi"/>
          <p:cNvSpPr/>
          <p:nvPr/>
        </p:nvSpPr>
        <p:spPr>
          <a:xfrm>
            <a:off x="318505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0" name="Illustrative delivered road transport cost class 3; reference terminal Lesedi"/>
          <p:cNvSpPr/>
          <p:nvPr/>
        </p:nvSpPr>
        <p:spPr>
          <a:xfrm>
            <a:off x="318505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1" name="Illustrative delivered road transport cost class 3; reference terminal Lesedi"/>
          <p:cNvSpPr/>
          <p:nvPr/>
        </p:nvSpPr>
        <p:spPr>
          <a:xfrm>
            <a:off x="318505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2" name="Illustrative delivered road transport cost class None; reference terminal None"/>
          <p:cNvSpPr/>
          <p:nvPr/>
        </p:nvSpPr>
        <p:spPr>
          <a:xfrm>
            <a:off x="318505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3" name="Illustrative delivered road transport cost class None; reference terminal None"/>
          <p:cNvSpPr/>
          <p:nvPr/>
        </p:nvSpPr>
        <p:spPr>
          <a:xfrm>
            <a:off x="318505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4" name="Illustrative delivered road transport cost class None; reference terminal None"/>
          <p:cNvSpPr/>
          <p:nvPr/>
        </p:nvSpPr>
        <p:spPr>
          <a:xfrm>
            <a:off x="318505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5" name="Illustrative delivered road transport cost class None; reference terminal None"/>
          <p:cNvSpPr/>
          <p:nvPr/>
        </p:nvSpPr>
        <p:spPr>
          <a:xfrm>
            <a:off x="318505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6" name="Illustrative delivered road transport cost class None; reference terminal None"/>
          <p:cNvSpPr/>
          <p:nvPr/>
        </p:nvSpPr>
        <p:spPr>
          <a:xfrm>
            <a:off x="3185055" y="3190770"/>
            <a:ext cx="57687" cy="57686"/>
          </a:xfrm>
          <a:custGeom>
            <a:avLst/>
            <a:gdLst/>
            <a:ahLst/>
            <a:cxnLst/>
            <a:rect l="l" t="t" r="r" b="b"/>
            <a:pathLst>
              <a:path w="57687" h="57686">
                <a:moveTo>
                  <a:pt x="57687" y="0"/>
                </a:moveTo>
                <a:lnTo>
                  <a:pt x="57687" y="57686"/>
                </a:lnTo>
                <a:lnTo>
                  <a:pt x="0" y="57686"/>
                </a:lnTo>
                <a:lnTo>
                  <a:pt x="0" y="47414"/>
                </a:lnTo>
                <a:lnTo>
                  <a:pt x="8527" y="20894"/>
                </a:lnTo>
                <a:lnTo>
                  <a:pt x="1330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7" name="Illustrative delivered road transport cost class None; reference terminal None"/>
          <p:cNvSpPr/>
          <p:nvPr/>
        </p:nvSpPr>
        <p:spPr>
          <a:xfrm>
            <a:off x="3198361" y="3133083"/>
            <a:ext cx="44381" cy="57687"/>
          </a:xfrm>
          <a:custGeom>
            <a:avLst/>
            <a:gdLst/>
            <a:ahLst/>
            <a:cxnLst/>
            <a:rect l="l" t="t" r="r" b="b"/>
            <a:pathLst>
              <a:path w="44381" h="57687">
                <a:moveTo>
                  <a:pt x="44381" y="0"/>
                </a:moveTo>
                <a:lnTo>
                  <a:pt x="44381" y="57687"/>
                </a:lnTo>
                <a:lnTo>
                  <a:pt x="0" y="57687"/>
                </a:lnTo>
                <a:lnTo>
                  <a:pt x="151" y="57025"/>
                </a:lnTo>
                <a:lnTo>
                  <a:pt x="13453" y="21722"/>
                </a:lnTo>
                <a:lnTo>
                  <a:pt x="29229" y="0"/>
                </a:lnTo>
                <a:lnTo>
                  <a:pt x="44381"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8" name="Illustrative delivered road transport cost class None; reference terminal None"/>
          <p:cNvSpPr/>
          <p:nvPr/>
        </p:nvSpPr>
        <p:spPr>
          <a:xfrm>
            <a:off x="3227590" y="3121400"/>
            <a:ext cx="15152" cy="11683"/>
          </a:xfrm>
          <a:custGeom>
            <a:avLst/>
            <a:gdLst/>
            <a:ahLst/>
            <a:cxnLst/>
            <a:rect l="l" t="t" r="r" b="b"/>
            <a:pathLst>
              <a:path w="15152" h="11683">
                <a:moveTo>
                  <a:pt x="15152" y="11683"/>
                </a:moveTo>
                <a:lnTo>
                  <a:pt x="0" y="11683"/>
                </a:lnTo>
                <a:lnTo>
                  <a:pt x="688" y="10736"/>
                </a:lnTo>
                <a:lnTo>
                  <a:pt x="15152" y="0"/>
                </a:lnTo>
                <a:lnTo>
                  <a:pt x="15152" y="1168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9" name="Illustrative delivered road transport cost class 3; reference terminal Durban"/>
          <p:cNvSpPr/>
          <p:nvPr/>
        </p:nvSpPr>
        <p:spPr>
          <a:xfrm>
            <a:off x="3242742" y="5325173"/>
            <a:ext cx="57687" cy="31626"/>
          </a:xfrm>
          <a:custGeom>
            <a:avLst/>
            <a:gdLst/>
            <a:ahLst/>
            <a:cxnLst/>
            <a:rect l="l" t="t" r="r" b="b"/>
            <a:pathLst>
              <a:path w="57687" h="31626">
                <a:moveTo>
                  <a:pt x="0" y="0"/>
                </a:moveTo>
                <a:lnTo>
                  <a:pt x="57687" y="0"/>
                </a:lnTo>
                <a:lnTo>
                  <a:pt x="57687" y="31626"/>
                </a:lnTo>
                <a:lnTo>
                  <a:pt x="19183" y="29847"/>
                </a:lnTo>
                <a:lnTo>
                  <a:pt x="0" y="2384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0" name="Illustrative delivered road transport cost class 3; reference terminal Durban"/>
          <p:cNvSpPr/>
          <p:nvPr/>
        </p:nvSpPr>
        <p:spPr>
          <a:xfrm>
            <a:off x="324274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1" name="Illustrative delivered road transport cost class 3; reference terminal Durban"/>
          <p:cNvSpPr/>
          <p:nvPr/>
        </p:nvSpPr>
        <p:spPr>
          <a:xfrm>
            <a:off x="324274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2" name="Illustrative delivered road transport cost class 4; reference terminal Durban"/>
          <p:cNvSpPr/>
          <p:nvPr/>
        </p:nvSpPr>
        <p:spPr>
          <a:xfrm>
            <a:off x="324274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3" name="Illustrative delivered road transport cost class 3; reference terminal Lesedi"/>
          <p:cNvSpPr/>
          <p:nvPr/>
        </p:nvSpPr>
        <p:spPr>
          <a:xfrm>
            <a:off x="324274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4" name="Illustrative delivered road transport cost class 3; reference terminal Lesedi"/>
          <p:cNvSpPr/>
          <p:nvPr/>
        </p:nvSpPr>
        <p:spPr>
          <a:xfrm>
            <a:off x="324274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5" name="Illustrative delivered road transport cost class 3; reference terminal Lesedi"/>
          <p:cNvSpPr/>
          <p:nvPr/>
        </p:nvSpPr>
        <p:spPr>
          <a:xfrm>
            <a:off x="324274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6" name="Illustrative delivered road transport cost class 3; reference terminal Lesedi"/>
          <p:cNvSpPr/>
          <p:nvPr/>
        </p:nvSpPr>
        <p:spPr>
          <a:xfrm>
            <a:off x="324274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7" name="Illustrative delivered road transport cost class 3; reference terminal Lesedi"/>
          <p:cNvSpPr/>
          <p:nvPr/>
        </p:nvSpPr>
        <p:spPr>
          <a:xfrm>
            <a:off x="324274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8" name="Illustrative delivered road transport cost class 3; reference terminal Lesedi"/>
          <p:cNvSpPr/>
          <p:nvPr/>
        </p:nvSpPr>
        <p:spPr>
          <a:xfrm>
            <a:off x="324274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9" name="Illustrative delivered road transport cost class 3; reference terminal Lesedi"/>
          <p:cNvSpPr/>
          <p:nvPr/>
        </p:nvSpPr>
        <p:spPr>
          <a:xfrm>
            <a:off x="324274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0" name="Illustrative delivered road transport cost class 3; reference terminal Lesedi"/>
          <p:cNvSpPr/>
          <p:nvPr/>
        </p:nvSpPr>
        <p:spPr>
          <a:xfrm>
            <a:off x="324274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1" name="Illustrative delivered road transport cost class 3; reference terminal Lesedi"/>
          <p:cNvSpPr/>
          <p:nvPr/>
        </p:nvSpPr>
        <p:spPr>
          <a:xfrm>
            <a:off x="324274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2" name="Illustrative delivered road transport cost class 3; reference terminal Lesedi"/>
          <p:cNvSpPr/>
          <p:nvPr/>
        </p:nvSpPr>
        <p:spPr>
          <a:xfrm>
            <a:off x="324274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3" name="Illustrative delivered road transport cost class 3; reference terminal Lesedi"/>
          <p:cNvSpPr/>
          <p:nvPr/>
        </p:nvSpPr>
        <p:spPr>
          <a:xfrm>
            <a:off x="324274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4" name="Illustrative delivered road transport cost class 3; reference terminal Lesedi"/>
          <p:cNvSpPr/>
          <p:nvPr/>
        </p:nvSpPr>
        <p:spPr>
          <a:xfrm>
            <a:off x="324274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5" name="Illustrative delivered road transport cost class 3; reference terminal Lesedi"/>
          <p:cNvSpPr/>
          <p:nvPr/>
        </p:nvSpPr>
        <p:spPr>
          <a:xfrm>
            <a:off x="324274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6" name="Illustrative delivered road transport cost class 2; reference terminal Lesedi"/>
          <p:cNvSpPr/>
          <p:nvPr/>
        </p:nvSpPr>
        <p:spPr>
          <a:xfrm>
            <a:off x="324274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7" name="Illustrative delivered road transport cost class 2; reference terminal Lesedi"/>
          <p:cNvSpPr/>
          <p:nvPr/>
        </p:nvSpPr>
        <p:spPr>
          <a:xfrm>
            <a:off x="324274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8" name="Illustrative delivered road transport cost class 2; reference terminal Lesedi"/>
          <p:cNvSpPr/>
          <p:nvPr/>
        </p:nvSpPr>
        <p:spPr>
          <a:xfrm>
            <a:off x="324274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9" name="Illustrative delivered road transport cost class 2; reference terminal Lesedi"/>
          <p:cNvSpPr/>
          <p:nvPr/>
        </p:nvSpPr>
        <p:spPr>
          <a:xfrm>
            <a:off x="324274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0" name="Illustrative delivered road transport cost class 3; reference terminal Lesedi"/>
          <p:cNvSpPr/>
          <p:nvPr/>
        </p:nvSpPr>
        <p:spPr>
          <a:xfrm>
            <a:off x="324274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1" name="Illustrative delivered road transport cost class 3; reference terminal Lesedi"/>
          <p:cNvSpPr/>
          <p:nvPr/>
        </p:nvSpPr>
        <p:spPr>
          <a:xfrm>
            <a:off x="324274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2" name="Illustrative delivered road transport cost class 3; reference terminal Lesedi"/>
          <p:cNvSpPr/>
          <p:nvPr/>
        </p:nvSpPr>
        <p:spPr>
          <a:xfrm>
            <a:off x="324274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3" name="Illustrative delivered road transport cost class None; reference terminal None"/>
          <p:cNvSpPr/>
          <p:nvPr/>
        </p:nvSpPr>
        <p:spPr>
          <a:xfrm>
            <a:off x="324274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4" name="Illustrative delivered road transport cost class 3; reference terminal Lesedi"/>
          <p:cNvSpPr/>
          <p:nvPr/>
        </p:nvSpPr>
        <p:spPr>
          <a:xfrm>
            <a:off x="324274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5" name="Illustrative delivered road transport cost class 3; reference terminal Lesedi"/>
          <p:cNvSpPr/>
          <p:nvPr/>
        </p:nvSpPr>
        <p:spPr>
          <a:xfrm>
            <a:off x="324274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6" name="Illustrative delivered road transport cost class 3; reference terminal Lesedi"/>
          <p:cNvSpPr/>
          <p:nvPr/>
        </p:nvSpPr>
        <p:spPr>
          <a:xfrm>
            <a:off x="324274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7" name="Illustrative delivered road transport cost class 3; reference terminal Lesedi"/>
          <p:cNvSpPr/>
          <p:nvPr/>
        </p:nvSpPr>
        <p:spPr>
          <a:xfrm>
            <a:off x="324274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8" name="Illustrative delivered road transport cost class 3; reference terminal Lesedi"/>
          <p:cNvSpPr/>
          <p:nvPr/>
        </p:nvSpPr>
        <p:spPr>
          <a:xfrm>
            <a:off x="324274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9" name="Illustrative delivered road transport cost class 3; reference terminal Lesedi"/>
          <p:cNvSpPr/>
          <p:nvPr/>
        </p:nvSpPr>
        <p:spPr>
          <a:xfrm>
            <a:off x="324274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0" name="Illustrative delivered road transport cost class 3; reference terminal Lesedi"/>
          <p:cNvSpPr/>
          <p:nvPr/>
        </p:nvSpPr>
        <p:spPr>
          <a:xfrm>
            <a:off x="324274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1" name="Illustrative delivered road transport cost class 3; reference terminal Lesedi"/>
          <p:cNvSpPr/>
          <p:nvPr/>
        </p:nvSpPr>
        <p:spPr>
          <a:xfrm>
            <a:off x="324274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2" name="Illustrative delivered road transport cost class 3; reference terminal Lesedi"/>
          <p:cNvSpPr/>
          <p:nvPr/>
        </p:nvSpPr>
        <p:spPr>
          <a:xfrm>
            <a:off x="324274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3" name="Illustrative delivered road transport cost class None; reference terminal None"/>
          <p:cNvSpPr/>
          <p:nvPr/>
        </p:nvSpPr>
        <p:spPr>
          <a:xfrm>
            <a:off x="3242742"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4" name="Illustrative delivered road transport cost class None; reference terminal None"/>
          <p:cNvSpPr/>
          <p:nvPr/>
        </p:nvSpPr>
        <p:spPr>
          <a:xfrm>
            <a:off x="3242742"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5" name="Illustrative delivered road transport cost class None; reference terminal None"/>
          <p:cNvSpPr/>
          <p:nvPr/>
        </p:nvSpPr>
        <p:spPr>
          <a:xfrm>
            <a:off x="3242742"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6" name="Illustrative delivered road transport cost class None; reference terminal None"/>
          <p:cNvSpPr/>
          <p:nvPr/>
        </p:nvSpPr>
        <p:spPr>
          <a:xfrm>
            <a:off x="324274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7" name="Illustrative delivered road transport cost class None; reference terminal None"/>
          <p:cNvSpPr/>
          <p:nvPr/>
        </p:nvSpPr>
        <p:spPr>
          <a:xfrm>
            <a:off x="324274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8" name="Illustrative delivered road transport cost class None; reference terminal None"/>
          <p:cNvSpPr/>
          <p:nvPr/>
        </p:nvSpPr>
        <p:spPr>
          <a:xfrm>
            <a:off x="3242742" y="3104642"/>
            <a:ext cx="57687" cy="28441"/>
          </a:xfrm>
          <a:custGeom>
            <a:avLst/>
            <a:gdLst/>
            <a:ahLst/>
            <a:cxnLst/>
            <a:rect l="l" t="t" r="r" b="b"/>
            <a:pathLst>
              <a:path w="57687" h="28441">
                <a:moveTo>
                  <a:pt x="57687" y="28441"/>
                </a:moveTo>
                <a:lnTo>
                  <a:pt x="0" y="28441"/>
                </a:lnTo>
                <a:lnTo>
                  <a:pt x="0" y="16758"/>
                </a:lnTo>
                <a:lnTo>
                  <a:pt x="1801" y="15421"/>
                </a:lnTo>
                <a:lnTo>
                  <a:pt x="9993" y="12270"/>
                </a:lnTo>
                <a:lnTo>
                  <a:pt x="31104" y="5903"/>
                </a:lnTo>
                <a:lnTo>
                  <a:pt x="57687" y="0"/>
                </a:lnTo>
                <a:lnTo>
                  <a:pt x="57687" y="284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9" name="Illustrative delivered road transport cost class 3; reference terminal Durban"/>
          <p:cNvSpPr/>
          <p:nvPr/>
        </p:nvSpPr>
        <p:spPr>
          <a:xfrm>
            <a:off x="3300429" y="5325173"/>
            <a:ext cx="57686" cy="33224"/>
          </a:xfrm>
          <a:custGeom>
            <a:avLst/>
            <a:gdLst/>
            <a:ahLst/>
            <a:cxnLst/>
            <a:rect l="l" t="t" r="r" b="b"/>
            <a:pathLst>
              <a:path w="57686" h="33224">
                <a:moveTo>
                  <a:pt x="0" y="0"/>
                </a:moveTo>
                <a:lnTo>
                  <a:pt x="57686" y="0"/>
                </a:lnTo>
                <a:lnTo>
                  <a:pt x="57686" y="27360"/>
                </a:lnTo>
                <a:lnTo>
                  <a:pt x="52084" y="29844"/>
                </a:lnTo>
                <a:lnTo>
                  <a:pt x="34605" y="33224"/>
                </a:lnTo>
                <a:lnTo>
                  <a:pt x="0" y="3162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0" name="Illustrative delivered road transport cost class 3; reference terminal Durban"/>
          <p:cNvSpPr/>
          <p:nvPr/>
        </p:nvSpPr>
        <p:spPr>
          <a:xfrm>
            <a:off x="330042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1" name="Illustrative delivered road transport cost class 3; reference terminal Durban"/>
          <p:cNvSpPr/>
          <p:nvPr/>
        </p:nvSpPr>
        <p:spPr>
          <a:xfrm>
            <a:off x="330042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2" name="Illustrative delivered road transport cost class 3; reference terminal Durban"/>
          <p:cNvSpPr/>
          <p:nvPr/>
        </p:nvSpPr>
        <p:spPr>
          <a:xfrm>
            <a:off x="330042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3" name="Illustrative delivered road transport cost class 4; reference terminal Durban"/>
          <p:cNvSpPr/>
          <p:nvPr/>
        </p:nvSpPr>
        <p:spPr>
          <a:xfrm>
            <a:off x="330042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4" name="Illustrative delivered road transport cost class 3; reference terminal Lesedi"/>
          <p:cNvSpPr/>
          <p:nvPr/>
        </p:nvSpPr>
        <p:spPr>
          <a:xfrm>
            <a:off x="330042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5" name="Illustrative delivered road transport cost class 3; reference terminal Lesedi"/>
          <p:cNvSpPr/>
          <p:nvPr/>
        </p:nvSpPr>
        <p:spPr>
          <a:xfrm>
            <a:off x="330042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6" name="Illustrative delivered road transport cost class 3; reference terminal Lesedi"/>
          <p:cNvSpPr/>
          <p:nvPr/>
        </p:nvSpPr>
        <p:spPr>
          <a:xfrm>
            <a:off x="330042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7" name="Illustrative delivered road transport cost class 3; reference terminal Lesedi"/>
          <p:cNvSpPr/>
          <p:nvPr/>
        </p:nvSpPr>
        <p:spPr>
          <a:xfrm>
            <a:off x="330042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8" name="Illustrative delivered road transport cost class 3; reference terminal Lesedi"/>
          <p:cNvSpPr/>
          <p:nvPr/>
        </p:nvSpPr>
        <p:spPr>
          <a:xfrm>
            <a:off x="330042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9" name="Illustrative delivered road transport cost class 3; reference terminal Lesedi"/>
          <p:cNvSpPr/>
          <p:nvPr/>
        </p:nvSpPr>
        <p:spPr>
          <a:xfrm>
            <a:off x="330042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0" name="Illustrative delivered road transport cost class 3; reference terminal Lesedi"/>
          <p:cNvSpPr/>
          <p:nvPr/>
        </p:nvSpPr>
        <p:spPr>
          <a:xfrm>
            <a:off x="330042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1" name="Illustrative delivered road transport cost class 3; reference terminal Lesedi"/>
          <p:cNvSpPr/>
          <p:nvPr/>
        </p:nvSpPr>
        <p:spPr>
          <a:xfrm>
            <a:off x="330042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2" name="Illustrative delivered road transport cost class 3; reference terminal Lesedi"/>
          <p:cNvSpPr/>
          <p:nvPr/>
        </p:nvSpPr>
        <p:spPr>
          <a:xfrm>
            <a:off x="330042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3" name="Illustrative delivered road transport cost class 2; reference terminal Lesedi"/>
          <p:cNvSpPr/>
          <p:nvPr/>
        </p:nvSpPr>
        <p:spPr>
          <a:xfrm>
            <a:off x="330042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4" name="Illustrative delivered road transport cost class 2; reference terminal Lesedi"/>
          <p:cNvSpPr/>
          <p:nvPr/>
        </p:nvSpPr>
        <p:spPr>
          <a:xfrm>
            <a:off x="330042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5" name="Illustrative delivered road transport cost class 2; reference terminal Lesedi"/>
          <p:cNvSpPr/>
          <p:nvPr/>
        </p:nvSpPr>
        <p:spPr>
          <a:xfrm>
            <a:off x="330042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6" name="Illustrative delivered road transport cost class 2; reference terminal Lesedi"/>
          <p:cNvSpPr/>
          <p:nvPr/>
        </p:nvSpPr>
        <p:spPr>
          <a:xfrm>
            <a:off x="330042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7" name="Illustrative delivered road transport cost class 2; reference terminal Lesedi"/>
          <p:cNvSpPr/>
          <p:nvPr/>
        </p:nvSpPr>
        <p:spPr>
          <a:xfrm>
            <a:off x="330042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8" name="Illustrative delivered road transport cost class 2; reference terminal Lesedi"/>
          <p:cNvSpPr/>
          <p:nvPr/>
        </p:nvSpPr>
        <p:spPr>
          <a:xfrm>
            <a:off x="330042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9" name="Illustrative delivered road transport cost class 2; reference terminal Lesedi"/>
          <p:cNvSpPr/>
          <p:nvPr/>
        </p:nvSpPr>
        <p:spPr>
          <a:xfrm>
            <a:off x="330042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0" name="Illustrative delivered road transport cost class 2; reference terminal Lesedi"/>
          <p:cNvSpPr/>
          <p:nvPr/>
        </p:nvSpPr>
        <p:spPr>
          <a:xfrm>
            <a:off x="330042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1" name="Illustrative delivered road transport cost class 3; reference terminal Lesedi"/>
          <p:cNvSpPr/>
          <p:nvPr/>
        </p:nvSpPr>
        <p:spPr>
          <a:xfrm>
            <a:off x="330042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2" name="Illustrative delivered road transport cost class None; reference terminal None"/>
          <p:cNvSpPr/>
          <p:nvPr/>
        </p:nvSpPr>
        <p:spPr>
          <a:xfrm>
            <a:off x="330042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3" name="Illustrative delivered road transport cost class None; reference terminal None"/>
          <p:cNvSpPr/>
          <p:nvPr/>
        </p:nvSpPr>
        <p:spPr>
          <a:xfrm>
            <a:off x="330042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4" name="Illustrative delivered road transport cost class 3; reference terminal Lesedi"/>
          <p:cNvSpPr/>
          <p:nvPr/>
        </p:nvSpPr>
        <p:spPr>
          <a:xfrm>
            <a:off x="330042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5" name="Illustrative delivered road transport cost class 3; reference terminal Lesedi"/>
          <p:cNvSpPr/>
          <p:nvPr/>
        </p:nvSpPr>
        <p:spPr>
          <a:xfrm>
            <a:off x="330042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6" name="Illustrative delivered road transport cost class 3; reference terminal Lesedi"/>
          <p:cNvSpPr/>
          <p:nvPr/>
        </p:nvSpPr>
        <p:spPr>
          <a:xfrm>
            <a:off x="330042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7" name="Illustrative delivered road transport cost class 3; reference terminal Lesedi"/>
          <p:cNvSpPr/>
          <p:nvPr/>
        </p:nvSpPr>
        <p:spPr>
          <a:xfrm>
            <a:off x="330042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8" name="Illustrative delivered road transport cost class 3; reference terminal Lesedi"/>
          <p:cNvSpPr/>
          <p:nvPr/>
        </p:nvSpPr>
        <p:spPr>
          <a:xfrm>
            <a:off x="330042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9" name="Illustrative delivered road transport cost class 3; reference terminal Lesedi"/>
          <p:cNvSpPr/>
          <p:nvPr/>
        </p:nvSpPr>
        <p:spPr>
          <a:xfrm>
            <a:off x="330042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0" name="Illustrative delivered road transport cost class 3; reference terminal Lesedi"/>
          <p:cNvSpPr/>
          <p:nvPr/>
        </p:nvSpPr>
        <p:spPr>
          <a:xfrm>
            <a:off x="330042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1" name="Illustrative delivered road transport cost class 3; reference terminal Lesedi"/>
          <p:cNvSpPr/>
          <p:nvPr/>
        </p:nvSpPr>
        <p:spPr>
          <a:xfrm>
            <a:off x="330042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2" name="Illustrative delivered road transport cost class 3; reference terminal Lesedi"/>
          <p:cNvSpPr/>
          <p:nvPr/>
        </p:nvSpPr>
        <p:spPr>
          <a:xfrm>
            <a:off x="330042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3" name="Illustrative delivered road transport cost class None; reference terminal None"/>
          <p:cNvSpPr/>
          <p:nvPr/>
        </p:nvSpPr>
        <p:spPr>
          <a:xfrm>
            <a:off x="330042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4" name="Illustrative delivered road transport cost class None; reference terminal None"/>
          <p:cNvSpPr/>
          <p:nvPr/>
        </p:nvSpPr>
        <p:spPr>
          <a:xfrm>
            <a:off x="3300429"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5" name="Illustrative delivered road transport cost class None; reference terminal None"/>
          <p:cNvSpPr/>
          <p:nvPr/>
        </p:nvSpPr>
        <p:spPr>
          <a:xfrm>
            <a:off x="3300429"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6" name="Illustrative delivered road transport cost class None; reference terminal None"/>
          <p:cNvSpPr/>
          <p:nvPr/>
        </p:nvSpPr>
        <p:spPr>
          <a:xfrm>
            <a:off x="330042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7" name="Illustrative delivered road transport cost class None; reference terminal None"/>
          <p:cNvSpPr/>
          <p:nvPr/>
        </p:nvSpPr>
        <p:spPr>
          <a:xfrm>
            <a:off x="330042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8" name="Illustrative delivered road transport cost class None; reference terminal None"/>
          <p:cNvSpPr/>
          <p:nvPr/>
        </p:nvSpPr>
        <p:spPr>
          <a:xfrm>
            <a:off x="3300429" y="3104507"/>
            <a:ext cx="57686" cy="28576"/>
          </a:xfrm>
          <a:custGeom>
            <a:avLst/>
            <a:gdLst/>
            <a:ahLst/>
            <a:cxnLst/>
            <a:rect l="l" t="t" r="r" b="b"/>
            <a:pathLst>
              <a:path w="57686" h="28576">
                <a:moveTo>
                  <a:pt x="57686" y="28576"/>
                </a:moveTo>
                <a:lnTo>
                  <a:pt x="0" y="28576"/>
                </a:lnTo>
                <a:lnTo>
                  <a:pt x="0" y="135"/>
                </a:lnTo>
                <a:lnTo>
                  <a:pt x="606" y="0"/>
                </a:lnTo>
                <a:lnTo>
                  <a:pt x="29338" y="5946"/>
                </a:lnTo>
                <a:lnTo>
                  <a:pt x="57686" y="18023"/>
                </a:lnTo>
                <a:lnTo>
                  <a:pt x="57686" y="2857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9" name="Illustrative delivered road transport cost class 3; reference terminal Durban"/>
          <p:cNvSpPr/>
          <p:nvPr/>
        </p:nvSpPr>
        <p:spPr>
          <a:xfrm>
            <a:off x="3358115" y="5325173"/>
            <a:ext cx="57687" cy="27360"/>
          </a:xfrm>
          <a:custGeom>
            <a:avLst/>
            <a:gdLst/>
            <a:ahLst/>
            <a:cxnLst/>
            <a:rect l="l" t="t" r="r" b="b"/>
            <a:pathLst>
              <a:path w="57687" h="27360">
                <a:moveTo>
                  <a:pt x="0" y="0"/>
                </a:moveTo>
                <a:lnTo>
                  <a:pt x="57687" y="0"/>
                </a:lnTo>
                <a:lnTo>
                  <a:pt x="57687" y="8680"/>
                </a:lnTo>
                <a:lnTo>
                  <a:pt x="44245" y="7748"/>
                </a:lnTo>
                <a:lnTo>
                  <a:pt x="0" y="2736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0" name="Illustrative delivered road transport cost class 3; reference terminal Durban"/>
          <p:cNvSpPr/>
          <p:nvPr/>
        </p:nvSpPr>
        <p:spPr>
          <a:xfrm>
            <a:off x="335811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1" name="Illustrative delivered road transport cost class 3; reference terminal Durban"/>
          <p:cNvSpPr/>
          <p:nvPr/>
        </p:nvSpPr>
        <p:spPr>
          <a:xfrm>
            <a:off x="335811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2" name="Illustrative delivered road transport cost class 3; reference terminal Durban"/>
          <p:cNvSpPr/>
          <p:nvPr/>
        </p:nvSpPr>
        <p:spPr>
          <a:xfrm>
            <a:off x="335811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3" name="Illustrative delivered road transport cost class 3; reference terminal Durban"/>
          <p:cNvSpPr/>
          <p:nvPr/>
        </p:nvSpPr>
        <p:spPr>
          <a:xfrm>
            <a:off x="335811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4" name="Illustrative delivered road transport cost class None; reference terminal None"/>
          <p:cNvSpPr/>
          <p:nvPr/>
        </p:nvSpPr>
        <p:spPr>
          <a:xfrm>
            <a:off x="335811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5" name="Illustrative delivered road transport cost class 3; reference terminal Lesedi"/>
          <p:cNvSpPr/>
          <p:nvPr/>
        </p:nvSpPr>
        <p:spPr>
          <a:xfrm>
            <a:off x="335811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6" name="Illustrative delivered road transport cost class 3; reference terminal Lesedi"/>
          <p:cNvSpPr/>
          <p:nvPr/>
        </p:nvSpPr>
        <p:spPr>
          <a:xfrm>
            <a:off x="335811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7" name="Illustrative delivered road transport cost class 3; reference terminal Lesedi"/>
          <p:cNvSpPr/>
          <p:nvPr/>
        </p:nvSpPr>
        <p:spPr>
          <a:xfrm>
            <a:off x="335811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8" name="Illustrative delivered road transport cost class 3; reference terminal Lesedi"/>
          <p:cNvSpPr/>
          <p:nvPr/>
        </p:nvSpPr>
        <p:spPr>
          <a:xfrm>
            <a:off x="335811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9" name="Illustrative delivered road transport cost class 3; reference terminal Lesedi"/>
          <p:cNvSpPr/>
          <p:nvPr/>
        </p:nvSpPr>
        <p:spPr>
          <a:xfrm>
            <a:off x="335811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0" name="Illustrative delivered road transport cost class 3; reference terminal Lesedi"/>
          <p:cNvSpPr/>
          <p:nvPr/>
        </p:nvSpPr>
        <p:spPr>
          <a:xfrm>
            <a:off x="335811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1" name="Illustrative delivered road transport cost class 3; reference terminal Lesedi"/>
          <p:cNvSpPr/>
          <p:nvPr/>
        </p:nvSpPr>
        <p:spPr>
          <a:xfrm>
            <a:off x="335811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2" name="Illustrative delivered road transport cost class 2; reference terminal Lesedi"/>
          <p:cNvSpPr/>
          <p:nvPr/>
        </p:nvSpPr>
        <p:spPr>
          <a:xfrm>
            <a:off x="335811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3" name="Illustrative delivered road transport cost class 2; reference terminal Lesedi"/>
          <p:cNvSpPr/>
          <p:nvPr/>
        </p:nvSpPr>
        <p:spPr>
          <a:xfrm>
            <a:off x="335811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4" name="Illustrative delivered road transport cost class 2; reference terminal Lesedi"/>
          <p:cNvSpPr/>
          <p:nvPr/>
        </p:nvSpPr>
        <p:spPr>
          <a:xfrm>
            <a:off x="335811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5" name="Illustrative delivered road transport cost class 2; reference terminal Lesedi"/>
          <p:cNvSpPr/>
          <p:nvPr/>
        </p:nvSpPr>
        <p:spPr>
          <a:xfrm>
            <a:off x="335811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6" name="Illustrative delivered road transport cost class 2; reference terminal Lesedi"/>
          <p:cNvSpPr/>
          <p:nvPr/>
        </p:nvSpPr>
        <p:spPr>
          <a:xfrm>
            <a:off x="335811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7" name="Illustrative delivered road transport cost class 2; reference terminal Lesedi"/>
          <p:cNvSpPr/>
          <p:nvPr/>
        </p:nvSpPr>
        <p:spPr>
          <a:xfrm>
            <a:off x="335811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8" name="Illustrative delivered road transport cost class 2; reference terminal Lesedi"/>
          <p:cNvSpPr/>
          <p:nvPr/>
        </p:nvSpPr>
        <p:spPr>
          <a:xfrm>
            <a:off x="335811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9" name="Illustrative delivered road transport cost class 2; reference terminal Lesedi"/>
          <p:cNvSpPr/>
          <p:nvPr/>
        </p:nvSpPr>
        <p:spPr>
          <a:xfrm>
            <a:off x="335811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0" name="Illustrative delivered road transport cost class 2; reference terminal Lesedi"/>
          <p:cNvSpPr/>
          <p:nvPr/>
        </p:nvSpPr>
        <p:spPr>
          <a:xfrm>
            <a:off x="335811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1" name="Illustrative delivered road transport cost class 2; reference terminal Lesedi"/>
          <p:cNvSpPr/>
          <p:nvPr/>
        </p:nvSpPr>
        <p:spPr>
          <a:xfrm>
            <a:off x="335811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2" name="Illustrative delivered road transport cost class 2; reference terminal Lesedi"/>
          <p:cNvSpPr/>
          <p:nvPr/>
        </p:nvSpPr>
        <p:spPr>
          <a:xfrm>
            <a:off x="335811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3" name="Illustrative delivered road transport cost class None; reference terminal None"/>
          <p:cNvSpPr/>
          <p:nvPr/>
        </p:nvSpPr>
        <p:spPr>
          <a:xfrm>
            <a:off x="335811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4" name="Illustrative delivered road transport cost class None; reference terminal None"/>
          <p:cNvSpPr/>
          <p:nvPr/>
        </p:nvSpPr>
        <p:spPr>
          <a:xfrm>
            <a:off x="335811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5" name="Illustrative delivered road transport cost class 3; reference terminal Lesedi"/>
          <p:cNvSpPr/>
          <p:nvPr/>
        </p:nvSpPr>
        <p:spPr>
          <a:xfrm>
            <a:off x="335811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6" name="Illustrative delivered road transport cost class 3; reference terminal Lesedi"/>
          <p:cNvSpPr/>
          <p:nvPr/>
        </p:nvSpPr>
        <p:spPr>
          <a:xfrm>
            <a:off x="335811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7" name="Illustrative delivered road transport cost class 3; reference terminal Lesedi"/>
          <p:cNvSpPr/>
          <p:nvPr/>
        </p:nvSpPr>
        <p:spPr>
          <a:xfrm>
            <a:off x="335811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8" name="Illustrative delivered road transport cost class 3; reference terminal Lesedi"/>
          <p:cNvSpPr/>
          <p:nvPr/>
        </p:nvSpPr>
        <p:spPr>
          <a:xfrm>
            <a:off x="335811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9" name="Illustrative delivered road transport cost class 3; reference terminal Lesedi"/>
          <p:cNvSpPr/>
          <p:nvPr/>
        </p:nvSpPr>
        <p:spPr>
          <a:xfrm>
            <a:off x="335811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0" name="Illustrative delivered road transport cost class 3; reference terminal Lesedi"/>
          <p:cNvSpPr/>
          <p:nvPr/>
        </p:nvSpPr>
        <p:spPr>
          <a:xfrm>
            <a:off x="335811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1" name="Illustrative delivered road transport cost class 3; reference terminal Lesedi"/>
          <p:cNvSpPr/>
          <p:nvPr/>
        </p:nvSpPr>
        <p:spPr>
          <a:xfrm>
            <a:off x="335811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2" name="Illustrative delivered road transport cost class 3; reference terminal Lesedi"/>
          <p:cNvSpPr/>
          <p:nvPr/>
        </p:nvSpPr>
        <p:spPr>
          <a:xfrm>
            <a:off x="335811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3" name="Illustrative delivered road transport cost class None; reference terminal None"/>
          <p:cNvSpPr/>
          <p:nvPr/>
        </p:nvSpPr>
        <p:spPr>
          <a:xfrm>
            <a:off x="335811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4" name="Illustrative delivered road transport cost class None; reference terminal None"/>
          <p:cNvSpPr/>
          <p:nvPr/>
        </p:nvSpPr>
        <p:spPr>
          <a:xfrm>
            <a:off x="335811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5" name="Illustrative delivered road transport cost class None; reference terminal None"/>
          <p:cNvSpPr/>
          <p:nvPr/>
        </p:nvSpPr>
        <p:spPr>
          <a:xfrm>
            <a:off x="335811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6" name="Illustrative delivered road transport cost class None; reference terminal None"/>
          <p:cNvSpPr/>
          <p:nvPr/>
        </p:nvSpPr>
        <p:spPr>
          <a:xfrm>
            <a:off x="335811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7" name="Illustrative delivered road transport cost class None; reference terminal None"/>
          <p:cNvSpPr/>
          <p:nvPr/>
        </p:nvSpPr>
        <p:spPr>
          <a:xfrm>
            <a:off x="3358115" y="3133083"/>
            <a:ext cx="57687" cy="57687"/>
          </a:xfrm>
          <a:custGeom>
            <a:avLst/>
            <a:gdLst/>
            <a:ahLst/>
            <a:cxnLst/>
            <a:rect l="l" t="t" r="r" b="b"/>
            <a:pathLst>
              <a:path w="57687" h="57687">
                <a:moveTo>
                  <a:pt x="57687" y="57687"/>
                </a:moveTo>
                <a:lnTo>
                  <a:pt x="0" y="57687"/>
                </a:lnTo>
                <a:lnTo>
                  <a:pt x="0" y="0"/>
                </a:lnTo>
                <a:lnTo>
                  <a:pt x="17247" y="0"/>
                </a:lnTo>
                <a:lnTo>
                  <a:pt x="37452" y="13013"/>
                </a:lnTo>
                <a:lnTo>
                  <a:pt x="57687" y="28822"/>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8" name="Illustrative delivered road transport cost class None; reference terminal None"/>
          <p:cNvSpPr/>
          <p:nvPr/>
        </p:nvSpPr>
        <p:spPr>
          <a:xfrm>
            <a:off x="3358115" y="3122530"/>
            <a:ext cx="17247" cy="10553"/>
          </a:xfrm>
          <a:custGeom>
            <a:avLst/>
            <a:gdLst/>
            <a:ahLst/>
            <a:cxnLst/>
            <a:rect l="l" t="t" r="r" b="b"/>
            <a:pathLst>
              <a:path w="17247" h="10553">
                <a:moveTo>
                  <a:pt x="0" y="10553"/>
                </a:moveTo>
                <a:lnTo>
                  <a:pt x="0" y="0"/>
                </a:lnTo>
                <a:lnTo>
                  <a:pt x="2544" y="1083"/>
                </a:lnTo>
                <a:lnTo>
                  <a:pt x="17247" y="10553"/>
                </a:lnTo>
                <a:lnTo>
                  <a:pt x="0" y="1055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9" name="Illustrative delivered road transport cost class 3; reference terminal Durban"/>
          <p:cNvSpPr/>
          <p:nvPr/>
        </p:nvSpPr>
        <p:spPr>
          <a:xfrm>
            <a:off x="3415802" y="5325173"/>
            <a:ext cx="57686" cy="16967"/>
          </a:xfrm>
          <a:custGeom>
            <a:avLst/>
            <a:gdLst/>
            <a:ahLst/>
            <a:cxnLst/>
            <a:rect l="l" t="t" r="r" b="b"/>
            <a:pathLst>
              <a:path w="57686" h="16967">
                <a:moveTo>
                  <a:pt x="0" y="0"/>
                </a:moveTo>
                <a:lnTo>
                  <a:pt x="57686" y="0"/>
                </a:lnTo>
                <a:lnTo>
                  <a:pt x="57686" y="16967"/>
                </a:lnTo>
                <a:lnTo>
                  <a:pt x="10549" y="9411"/>
                </a:lnTo>
                <a:lnTo>
                  <a:pt x="0" y="868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0" name="Illustrative delivered road transport cost class 3; reference terminal Durban"/>
          <p:cNvSpPr/>
          <p:nvPr/>
        </p:nvSpPr>
        <p:spPr>
          <a:xfrm>
            <a:off x="3415802"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1" name="Illustrative delivered road transport cost class 3; reference terminal Durban"/>
          <p:cNvSpPr/>
          <p:nvPr/>
        </p:nvSpPr>
        <p:spPr>
          <a:xfrm>
            <a:off x="3415802"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2" name="Illustrative delivered road transport cost class 3; reference terminal Durban"/>
          <p:cNvSpPr/>
          <p:nvPr/>
        </p:nvSpPr>
        <p:spPr>
          <a:xfrm>
            <a:off x="3415802"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3" name="Illustrative delivered road transport cost class 3; reference terminal Durban"/>
          <p:cNvSpPr/>
          <p:nvPr/>
        </p:nvSpPr>
        <p:spPr>
          <a:xfrm>
            <a:off x="3415802"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4" name="Illustrative delivered road transport cost class None; reference terminal None"/>
          <p:cNvSpPr/>
          <p:nvPr/>
        </p:nvSpPr>
        <p:spPr>
          <a:xfrm>
            <a:off x="3415802"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5" name="Illustrative delivered road transport cost class None; reference terminal None"/>
          <p:cNvSpPr/>
          <p:nvPr/>
        </p:nvSpPr>
        <p:spPr>
          <a:xfrm>
            <a:off x="3415802"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6" name="Illustrative delivered road transport cost class 3; reference terminal Lesedi"/>
          <p:cNvSpPr/>
          <p:nvPr/>
        </p:nvSpPr>
        <p:spPr>
          <a:xfrm>
            <a:off x="3415802"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7" name="Illustrative delivered road transport cost class 3; reference terminal Lesedi"/>
          <p:cNvSpPr/>
          <p:nvPr/>
        </p:nvSpPr>
        <p:spPr>
          <a:xfrm>
            <a:off x="3415802"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8" name="Illustrative delivered road transport cost class 3; reference terminal Lesedi"/>
          <p:cNvSpPr/>
          <p:nvPr/>
        </p:nvSpPr>
        <p:spPr>
          <a:xfrm>
            <a:off x="3415802"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9" name="Illustrative delivered road transport cost class 3; reference terminal Lesedi"/>
          <p:cNvSpPr/>
          <p:nvPr/>
        </p:nvSpPr>
        <p:spPr>
          <a:xfrm>
            <a:off x="3415802"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0" name="Illustrative delivered road transport cost class 2; reference terminal Lesedi"/>
          <p:cNvSpPr/>
          <p:nvPr/>
        </p:nvSpPr>
        <p:spPr>
          <a:xfrm>
            <a:off x="3415802"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1" name="Illustrative delivered road transport cost class 2; reference terminal Lesedi"/>
          <p:cNvSpPr/>
          <p:nvPr/>
        </p:nvSpPr>
        <p:spPr>
          <a:xfrm>
            <a:off x="3415802"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2" name="Illustrative delivered road transport cost class 2; reference terminal Lesedi"/>
          <p:cNvSpPr/>
          <p:nvPr/>
        </p:nvSpPr>
        <p:spPr>
          <a:xfrm>
            <a:off x="3415802"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3" name="Illustrative delivered road transport cost class 2; reference terminal Lesedi"/>
          <p:cNvSpPr/>
          <p:nvPr/>
        </p:nvSpPr>
        <p:spPr>
          <a:xfrm>
            <a:off x="3415802"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4" name="Illustrative delivered road transport cost class 2; reference terminal Lesedi"/>
          <p:cNvSpPr/>
          <p:nvPr/>
        </p:nvSpPr>
        <p:spPr>
          <a:xfrm>
            <a:off x="3415802"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5" name="Illustrative delivered road transport cost class 2; reference terminal Lesedi"/>
          <p:cNvSpPr/>
          <p:nvPr/>
        </p:nvSpPr>
        <p:spPr>
          <a:xfrm>
            <a:off x="3415802"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6" name="Illustrative delivered road transport cost class 2; reference terminal Lesedi"/>
          <p:cNvSpPr/>
          <p:nvPr/>
        </p:nvSpPr>
        <p:spPr>
          <a:xfrm>
            <a:off x="3415802"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7" name="Illustrative delivered road transport cost class 2; reference terminal Lesedi"/>
          <p:cNvSpPr/>
          <p:nvPr/>
        </p:nvSpPr>
        <p:spPr>
          <a:xfrm>
            <a:off x="3415802"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8" name="Illustrative delivered road transport cost class 2; reference terminal Lesedi"/>
          <p:cNvSpPr/>
          <p:nvPr/>
        </p:nvSpPr>
        <p:spPr>
          <a:xfrm>
            <a:off x="3415802"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9" name="Illustrative delivered road transport cost class 2; reference terminal Lesedi"/>
          <p:cNvSpPr/>
          <p:nvPr/>
        </p:nvSpPr>
        <p:spPr>
          <a:xfrm>
            <a:off x="3415802"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0" name="Illustrative delivered road transport cost class 2; reference terminal Lesedi"/>
          <p:cNvSpPr/>
          <p:nvPr/>
        </p:nvSpPr>
        <p:spPr>
          <a:xfrm>
            <a:off x="3415802"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1" name="Illustrative delivered road transport cost class 2; reference terminal Lesedi"/>
          <p:cNvSpPr/>
          <p:nvPr/>
        </p:nvSpPr>
        <p:spPr>
          <a:xfrm>
            <a:off x="3415802"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2" name="Illustrative delivered road transport cost class 2; reference terminal Lesedi"/>
          <p:cNvSpPr/>
          <p:nvPr/>
        </p:nvSpPr>
        <p:spPr>
          <a:xfrm>
            <a:off x="3415802"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3" name="Illustrative delivered road transport cost class 2; reference terminal Lesedi"/>
          <p:cNvSpPr/>
          <p:nvPr/>
        </p:nvSpPr>
        <p:spPr>
          <a:xfrm>
            <a:off x="3415802"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4" name="Illustrative delivered road transport cost class 2; reference terminal Lesedi"/>
          <p:cNvSpPr/>
          <p:nvPr/>
        </p:nvSpPr>
        <p:spPr>
          <a:xfrm>
            <a:off x="3415802"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5" name="Illustrative delivered road transport cost class 2; reference terminal Lesedi"/>
          <p:cNvSpPr/>
          <p:nvPr/>
        </p:nvSpPr>
        <p:spPr>
          <a:xfrm>
            <a:off x="3415802"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6" name="Illustrative delivered road transport cost class 2; reference terminal Lesedi"/>
          <p:cNvSpPr/>
          <p:nvPr/>
        </p:nvSpPr>
        <p:spPr>
          <a:xfrm>
            <a:off x="3415802"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7" name="Illustrative delivered road transport cost class 2; reference terminal Lesedi"/>
          <p:cNvSpPr/>
          <p:nvPr/>
        </p:nvSpPr>
        <p:spPr>
          <a:xfrm>
            <a:off x="3415802"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8" name="Illustrative delivered road transport cost class 2; reference terminal Lesedi"/>
          <p:cNvSpPr/>
          <p:nvPr/>
        </p:nvSpPr>
        <p:spPr>
          <a:xfrm>
            <a:off x="3415802"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9" name="Illustrative delivered road transport cost class 2; reference terminal Lesedi"/>
          <p:cNvSpPr/>
          <p:nvPr/>
        </p:nvSpPr>
        <p:spPr>
          <a:xfrm>
            <a:off x="3415802"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0" name="Illustrative delivered road transport cost class 2; reference terminal Lesedi"/>
          <p:cNvSpPr/>
          <p:nvPr/>
        </p:nvSpPr>
        <p:spPr>
          <a:xfrm>
            <a:off x="3415802"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1" name="Illustrative delivered road transport cost class 2; reference terminal Lesedi"/>
          <p:cNvSpPr/>
          <p:nvPr/>
        </p:nvSpPr>
        <p:spPr>
          <a:xfrm>
            <a:off x="3415802"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2" name="Illustrative delivered road transport cost class 2; reference terminal Lesedi"/>
          <p:cNvSpPr/>
          <p:nvPr/>
        </p:nvSpPr>
        <p:spPr>
          <a:xfrm>
            <a:off x="3415802"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3" name="Illustrative delivered road transport cost class 3; reference terminal Lesedi"/>
          <p:cNvSpPr/>
          <p:nvPr/>
        </p:nvSpPr>
        <p:spPr>
          <a:xfrm>
            <a:off x="3415802"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4" name="Illustrative delivered road transport cost class None; reference terminal None"/>
          <p:cNvSpPr/>
          <p:nvPr/>
        </p:nvSpPr>
        <p:spPr>
          <a:xfrm>
            <a:off x="3415802"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5" name="Illustrative delivered road transport cost class None; reference terminal None"/>
          <p:cNvSpPr/>
          <p:nvPr/>
        </p:nvSpPr>
        <p:spPr>
          <a:xfrm>
            <a:off x="3415802"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6" name="Illustrative delivered road transport cost class None; reference terminal None"/>
          <p:cNvSpPr/>
          <p:nvPr/>
        </p:nvSpPr>
        <p:spPr>
          <a:xfrm>
            <a:off x="3415802" y="3190770"/>
            <a:ext cx="57686" cy="57686"/>
          </a:xfrm>
          <a:custGeom>
            <a:avLst/>
            <a:gdLst/>
            <a:ahLst/>
            <a:cxnLst/>
            <a:rect l="l" t="t" r="r" b="b"/>
            <a:pathLst>
              <a:path w="57686" h="57686">
                <a:moveTo>
                  <a:pt x="57686" y="57686"/>
                </a:moveTo>
                <a:lnTo>
                  <a:pt x="0" y="57686"/>
                </a:lnTo>
                <a:lnTo>
                  <a:pt x="0" y="0"/>
                </a:lnTo>
                <a:lnTo>
                  <a:pt x="39057" y="0"/>
                </a:lnTo>
                <a:lnTo>
                  <a:pt x="49542" y="3739"/>
                </a:lnTo>
                <a:lnTo>
                  <a:pt x="57686" y="425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7" name="Illustrative delivered road transport cost class None; reference terminal None"/>
          <p:cNvSpPr/>
          <p:nvPr/>
        </p:nvSpPr>
        <p:spPr>
          <a:xfrm>
            <a:off x="3415802" y="3161905"/>
            <a:ext cx="39057" cy="28865"/>
          </a:xfrm>
          <a:custGeom>
            <a:avLst/>
            <a:gdLst/>
            <a:ahLst/>
            <a:cxnLst/>
            <a:rect l="l" t="t" r="r" b="b"/>
            <a:pathLst>
              <a:path w="39057" h="28865">
                <a:moveTo>
                  <a:pt x="0" y="28865"/>
                </a:moveTo>
                <a:lnTo>
                  <a:pt x="0" y="0"/>
                </a:lnTo>
                <a:lnTo>
                  <a:pt x="15486" y="12099"/>
                </a:lnTo>
                <a:lnTo>
                  <a:pt x="31920" y="26320"/>
                </a:lnTo>
                <a:lnTo>
                  <a:pt x="39057" y="28865"/>
                </a:lnTo>
                <a:lnTo>
                  <a:pt x="0" y="2886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8" name="Illustrative delivered road transport cost class 3; reference terminal Durban"/>
          <p:cNvSpPr/>
          <p:nvPr/>
        </p:nvSpPr>
        <p:spPr>
          <a:xfrm>
            <a:off x="3473488" y="5325173"/>
            <a:ext cx="57687" cy="26403"/>
          </a:xfrm>
          <a:custGeom>
            <a:avLst/>
            <a:gdLst/>
            <a:ahLst/>
            <a:cxnLst/>
            <a:rect l="l" t="t" r="r" b="b"/>
            <a:pathLst>
              <a:path w="57687" h="26403">
                <a:moveTo>
                  <a:pt x="0" y="0"/>
                </a:moveTo>
                <a:lnTo>
                  <a:pt x="57687" y="0"/>
                </a:lnTo>
                <a:lnTo>
                  <a:pt x="57687" y="26403"/>
                </a:lnTo>
                <a:lnTo>
                  <a:pt x="56529" y="26029"/>
                </a:lnTo>
                <a:lnTo>
                  <a:pt x="0" y="1696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9" name="Illustrative delivered road transport cost class 3; reference terminal Durban"/>
          <p:cNvSpPr/>
          <p:nvPr/>
        </p:nvSpPr>
        <p:spPr>
          <a:xfrm>
            <a:off x="347348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0" name="Illustrative delivered road transport cost class 3; reference terminal Durban"/>
          <p:cNvSpPr/>
          <p:nvPr/>
        </p:nvSpPr>
        <p:spPr>
          <a:xfrm>
            <a:off x="347348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1" name="Illustrative delivered road transport cost class 3; reference terminal Durban"/>
          <p:cNvSpPr/>
          <p:nvPr/>
        </p:nvSpPr>
        <p:spPr>
          <a:xfrm>
            <a:off x="347348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2" name="Illustrative delivered road transport cost class 3; reference terminal Durban"/>
          <p:cNvSpPr/>
          <p:nvPr/>
        </p:nvSpPr>
        <p:spPr>
          <a:xfrm>
            <a:off x="347348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3" name="Illustrative delivered road transport cost class None; reference terminal None"/>
          <p:cNvSpPr/>
          <p:nvPr/>
        </p:nvSpPr>
        <p:spPr>
          <a:xfrm>
            <a:off x="347348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4" name="Illustrative delivered road transport cost class None; reference terminal None"/>
          <p:cNvSpPr/>
          <p:nvPr/>
        </p:nvSpPr>
        <p:spPr>
          <a:xfrm>
            <a:off x="347348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5" name="Illustrative delivered road transport cost class 3; reference terminal Lesedi"/>
          <p:cNvSpPr/>
          <p:nvPr/>
        </p:nvSpPr>
        <p:spPr>
          <a:xfrm>
            <a:off x="347348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6" name="Illustrative delivered road transport cost class 3; reference terminal Lesedi"/>
          <p:cNvSpPr/>
          <p:nvPr/>
        </p:nvSpPr>
        <p:spPr>
          <a:xfrm>
            <a:off x="347348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7" name="Illustrative delivered road transport cost class 3; reference terminal Lesedi"/>
          <p:cNvSpPr/>
          <p:nvPr/>
        </p:nvSpPr>
        <p:spPr>
          <a:xfrm>
            <a:off x="347348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8" name="Illustrative delivered road transport cost class 3; reference terminal Lesedi"/>
          <p:cNvSpPr/>
          <p:nvPr/>
        </p:nvSpPr>
        <p:spPr>
          <a:xfrm>
            <a:off x="347348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9" name="Illustrative delivered road transport cost class 2; reference terminal Lesedi"/>
          <p:cNvSpPr/>
          <p:nvPr/>
        </p:nvSpPr>
        <p:spPr>
          <a:xfrm>
            <a:off x="347348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0" name="Illustrative delivered road transport cost class 2; reference terminal Lesedi"/>
          <p:cNvSpPr/>
          <p:nvPr/>
        </p:nvSpPr>
        <p:spPr>
          <a:xfrm>
            <a:off x="347348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1" name="Illustrative delivered road transport cost class 2; reference terminal Lesedi"/>
          <p:cNvSpPr/>
          <p:nvPr/>
        </p:nvSpPr>
        <p:spPr>
          <a:xfrm>
            <a:off x="347348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2" name="Illustrative delivered road transport cost class 2; reference terminal Lesedi"/>
          <p:cNvSpPr/>
          <p:nvPr/>
        </p:nvSpPr>
        <p:spPr>
          <a:xfrm>
            <a:off x="347348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3" name="Illustrative delivered road transport cost class 2; reference terminal Lesedi"/>
          <p:cNvSpPr/>
          <p:nvPr/>
        </p:nvSpPr>
        <p:spPr>
          <a:xfrm>
            <a:off x="347348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4" name="Illustrative delivered road transport cost class 2; reference terminal Lesedi"/>
          <p:cNvSpPr/>
          <p:nvPr/>
        </p:nvSpPr>
        <p:spPr>
          <a:xfrm>
            <a:off x="347348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5" name="Illustrative delivered road transport cost class 2; reference terminal Lesedi"/>
          <p:cNvSpPr/>
          <p:nvPr/>
        </p:nvSpPr>
        <p:spPr>
          <a:xfrm>
            <a:off x="347348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6" name="Illustrative delivered road transport cost class 2; reference terminal Lesedi"/>
          <p:cNvSpPr/>
          <p:nvPr/>
        </p:nvSpPr>
        <p:spPr>
          <a:xfrm>
            <a:off x="347348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7" name="Illustrative delivered road transport cost class 2; reference terminal Lesedi"/>
          <p:cNvSpPr/>
          <p:nvPr/>
        </p:nvSpPr>
        <p:spPr>
          <a:xfrm>
            <a:off x="347348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8" name="Illustrative delivered road transport cost class 2; reference terminal Lesedi"/>
          <p:cNvSpPr/>
          <p:nvPr/>
        </p:nvSpPr>
        <p:spPr>
          <a:xfrm>
            <a:off x="347348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9" name="Illustrative delivered road transport cost class 2; reference terminal Lesedi"/>
          <p:cNvSpPr/>
          <p:nvPr/>
        </p:nvSpPr>
        <p:spPr>
          <a:xfrm>
            <a:off x="347348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0" name="Illustrative delivered road transport cost class 2; reference terminal Lesedi"/>
          <p:cNvSpPr/>
          <p:nvPr/>
        </p:nvSpPr>
        <p:spPr>
          <a:xfrm>
            <a:off x="347348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1" name="Illustrative delivered road transport cost class 2; reference terminal Lesedi"/>
          <p:cNvSpPr/>
          <p:nvPr/>
        </p:nvSpPr>
        <p:spPr>
          <a:xfrm>
            <a:off x="347348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2" name="Illustrative delivered road transport cost class 2; reference terminal Lesedi"/>
          <p:cNvSpPr/>
          <p:nvPr/>
        </p:nvSpPr>
        <p:spPr>
          <a:xfrm>
            <a:off x="347348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3" name="Illustrative delivered road transport cost class 2; reference terminal Lesedi"/>
          <p:cNvSpPr/>
          <p:nvPr/>
        </p:nvSpPr>
        <p:spPr>
          <a:xfrm>
            <a:off x="347348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4" name="Illustrative delivered road transport cost class 2; reference terminal Lesedi"/>
          <p:cNvSpPr/>
          <p:nvPr/>
        </p:nvSpPr>
        <p:spPr>
          <a:xfrm>
            <a:off x="347348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5" name="Illustrative delivered road transport cost class 2; reference terminal Lesedi"/>
          <p:cNvSpPr/>
          <p:nvPr/>
        </p:nvSpPr>
        <p:spPr>
          <a:xfrm>
            <a:off x="347348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6" name="Illustrative delivered road transport cost class 2; reference terminal Lesedi"/>
          <p:cNvSpPr/>
          <p:nvPr/>
        </p:nvSpPr>
        <p:spPr>
          <a:xfrm>
            <a:off x="347348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7" name="Illustrative delivered road transport cost class 2; reference terminal Lesedi"/>
          <p:cNvSpPr/>
          <p:nvPr/>
        </p:nvSpPr>
        <p:spPr>
          <a:xfrm>
            <a:off x="347348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8" name="Illustrative delivered road transport cost class 2; reference terminal Lesedi"/>
          <p:cNvSpPr/>
          <p:nvPr/>
        </p:nvSpPr>
        <p:spPr>
          <a:xfrm>
            <a:off x="347348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9" name="Illustrative delivered road transport cost class 2; reference terminal Lesedi"/>
          <p:cNvSpPr/>
          <p:nvPr/>
        </p:nvSpPr>
        <p:spPr>
          <a:xfrm>
            <a:off x="347348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0" name="Illustrative delivered road transport cost class 2; reference terminal Lesedi"/>
          <p:cNvSpPr/>
          <p:nvPr/>
        </p:nvSpPr>
        <p:spPr>
          <a:xfrm>
            <a:off x="347348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1" name="Illustrative delivered road transport cost class 2; reference terminal Lesedi"/>
          <p:cNvSpPr/>
          <p:nvPr/>
        </p:nvSpPr>
        <p:spPr>
          <a:xfrm>
            <a:off x="347348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2" name="Illustrative delivered road transport cost class 2; reference terminal Lesedi"/>
          <p:cNvSpPr/>
          <p:nvPr/>
        </p:nvSpPr>
        <p:spPr>
          <a:xfrm>
            <a:off x="347348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3" name="Illustrative delivered road transport cost class None; reference terminal None"/>
          <p:cNvSpPr/>
          <p:nvPr/>
        </p:nvSpPr>
        <p:spPr>
          <a:xfrm>
            <a:off x="347348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4" name="Illustrative delivered road transport cost class None; reference terminal None"/>
          <p:cNvSpPr/>
          <p:nvPr/>
        </p:nvSpPr>
        <p:spPr>
          <a:xfrm>
            <a:off x="347348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5" name="Illustrative delivered road transport cost class None; reference terminal None"/>
          <p:cNvSpPr/>
          <p:nvPr/>
        </p:nvSpPr>
        <p:spPr>
          <a:xfrm>
            <a:off x="3473488" y="3195029"/>
            <a:ext cx="57687" cy="53427"/>
          </a:xfrm>
          <a:custGeom>
            <a:avLst/>
            <a:gdLst/>
            <a:ahLst/>
            <a:cxnLst/>
            <a:rect l="l" t="t" r="r" b="b"/>
            <a:pathLst>
              <a:path w="57687" h="53427">
                <a:moveTo>
                  <a:pt x="57687" y="53427"/>
                </a:moveTo>
                <a:lnTo>
                  <a:pt x="0" y="53427"/>
                </a:lnTo>
                <a:lnTo>
                  <a:pt x="0" y="0"/>
                </a:lnTo>
                <a:lnTo>
                  <a:pt x="23158" y="1479"/>
                </a:lnTo>
                <a:lnTo>
                  <a:pt x="43665" y="837"/>
                </a:lnTo>
                <a:lnTo>
                  <a:pt x="57687" y="13049"/>
                </a:lnTo>
                <a:lnTo>
                  <a:pt x="57687" y="5342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6" name="Illustrative delivered road transport cost class 3; reference terminal Durban"/>
          <p:cNvSpPr/>
          <p:nvPr/>
        </p:nvSpPr>
        <p:spPr>
          <a:xfrm>
            <a:off x="3531175" y="5325173"/>
            <a:ext cx="57686" cy="45016"/>
          </a:xfrm>
          <a:custGeom>
            <a:avLst/>
            <a:gdLst/>
            <a:ahLst/>
            <a:cxnLst/>
            <a:rect l="l" t="t" r="r" b="b"/>
            <a:pathLst>
              <a:path w="57686" h="45016">
                <a:moveTo>
                  <a:pt x="0" y="0"/>
                </a:moveTo>
                <a:lnTo>
                  <a:pt x="57686" y="0"/>
                </a:lnTo>
                <a:lnTo>
                  <a:pt x="57686" y="45016"/>
                </a:lnTo>
                <a:lnTo>
                  <a:pt x="0" y="26403"/>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7" name="Illustrative delivered road transport cost class 3; reference terminal Durban"/>
          <p:cNvSpPr/>
          <p:nvPr/>
        </p:nvSpPr>
        <p:spPr>
          <a:xfrm>
            <a:off x="3531175"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8" name="Illustrative delivered road transport cost class 3; reference terminal Durban"/>
          <p:cNvSpPr/>
          <p:nvPr/>
        </p:nvSpPr>
        <p:spPr>
          <a:xfrm>
            <a:off x="353117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9" name="Illustrative delivered road transport cost class 3; reference terminal Durban"/>
          <p:cNvSpPr/>
          <p:nvPr/>
        </p:nvSpPr>
        <p:spPr>
          <a:xfrm>
            <a:off x="353117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0" name="Illustrative delivered road transport cost class 3; reference terminal Durban"/>
          <p:cNvSpPr/>
          <p:nvPr/>
        </p:nvSpPr>
        <p:spPr>
          <a:xfrm>
            <a:off x="353117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1" name="Illustrative delivered road transport cost class None; reference terminal None"/>
          <p:cNvSpPr/>
          <p:nvPr/>
        </p:nvSpPr>
        <p:spPr>
          <a:xfrm>
            <a:off x="353117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2" name="Illustrative delivered road transport cost class None; reference terminal None"/>
          <p:cNvSpPr/>
          <p:nvPr/>
        </p:nvSpPr>
        <p:spPr>
          <a:xfrm>
            <a:off x="353117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3" name="Illustrative delivered road transport cost class None; reference terminal None"/>
          <p:cNvSpPr/>
          <p:nvPr/>
        </p:nvSpPr>
        <p:spPr>
          <a:xfrm>
            <a:off x="353117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4" name="Illustrative delivered road transport cost class 3; reference terminal Lesedi"/>
          <p:cNvSpPr/>
          <p:nvPr/>
        </p:nvSpPr>
        <p:spPr>
          <a:xfrm>
            <a:off x="353117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5" name="Illustrative delivered road transport cost class 3; reference terminal Lesedi"/>
          <p:cNvSpPr/>
          <p:nvPr/>
        </p:nvSpPr>
        <p:spPr>
          <a:xfrm>
            <a:off x="353117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6" name="Illustrative delivered road transport cost class 3; reference terminal Lesedi"/>
          <p:cNvSpPr/>
          <p:nvPr/>
        </p:nvSpPr>
        <p:spPr>
          <a:xfrm>
            <a:off x="353117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7" name="Illustrative delivered road transport cost class 2; reference terminal Lesedi"/>
          <p:cNvSpPr/>
          <p:nvPr/>
        </p:nvSpPr>
        <p:spPr>
          <a:xfrm>
            <a:off x="353117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8" name="Illustrative delivered road transport cost class 2; reference terminal Lesedi"/>
          <p:cNvSpPr/>
          <p:nvPr/>
        </p:nvSpPr>
        <p:spPr>
          <a:xfrm>
            <a:off x="353117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9" name="Illustrative delivered road transport cost class 2; reference terminal Lesedi"/>
          <p:cNvSpPr/>
          <p:nvPr/>
        </p:nvSpPr>
        <p:spPr>
          <a:xfrm>
            <a:off x="353117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0" name="Illustrative delivered road transport cost class 2; reference terminal Lesedi"/>
          <p:cNvSpPr/>
          <p:nvPr/>
        </p:nvSpPr>
        <p:spPr>
          <a:xfrm>
            <a:off x="353117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1" name="Illustrative delivered road transport cost class 2; reference terminal Lesedi"/>
          <p:cNvSpPr/>
          <p:nvPr/>
        </p:nvSpPr>
        <p:spPr>
          <a:xfrm>
            <a:off x="353117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2" name="Illustrative delivered road transport cost class 2; reference terminal Lesedi"/>
          <p:cNvSpPr/>
          <p:nvPr/>
        </p:nvSpPr>
        <p:spPr>
          <a:xfrm>
            <a:off x="353117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3" name="Illustrative delivered road transport cost class 2; reference terminal Lesedi"/>
          <p:cNvSpPr/>
          <p:nvPr/>
        </p:nvSpPr>
        <p:spPr>
          <a:xfrm>
            <a:off x="353117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4" name="Illustrative delivered road transport cost class 2; reference terminal Lesedi"/>
          <p:cNvSpPr/>
          <p:nvPr/>
        </p:nvSpPr>
        <p:spPr>
          <a:xfrm>
            <a:off x="353117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5" name="Illustrative delivered road transport cost class 2; reference terminal Lesedi"/>
          <p:cNvSpPr/>
          <p:nvPr/>
        </p:nvSpPr>
        <p:spPr>
          <a:xfrm>
            <a:off x="353117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6" name="Illustrative delivered road transport cost class 2; reference terminal Lesedi"/>
          <p:cNvSpPr/>
          <p:nvPr/>
        </p:nvSpPr>
        <p:spPr>
          <a:xfrm>
            <a:off x="353117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7" name="Illustrative delivered road transport cost class 2; reference terminal Lesedi"/>
          <p:cNvSpPr/>
          <p:nvPr/>
        </p:nvSpPr>
        <p:spPr>
          <a:xfrm>
            <a:off x="353117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8" name="Illustrative delivered road transport cost class 1; reference terminal Lesedi"/>
          <p:cNvSpPr/>
          <p:nvPr/>
        </p:nvSpPr>
        <p:spPr>
          <a:xfrm>
            <a:off x="353117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9" name="Illustrative delivered road transport cost class 1; reference terminal Lesedi"/>
          <p:cNvSpPr/>
          <p:nvPr/>
        </p:nvSpPr>
        <p:spPr>
          <a:xfrm>
            <a:off x="353117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0" name="Illustrative delivered road transport cost class 1; reference terminal Lesedi"/>
          <p:cNvSpPr/>
          <p:nvPr/>
        </p:nvSpPr>
        <p:spPr>
          <a:xfrm>
            <a:off x="353117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1" name="Illustrative delivered road transport cost class 1; reference terminal Lesedi"/>
          <p:cNvSpPr/>
          <p:nvPr/>
        </p:nvSpPr>
        <p:spPr>
          <a:xfrm>
            <a:off x="353117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2" name="Illustrative delivered road transport cost class 1; reference terminal Lesedi"/>
          <p:cNvSpPr/>
          <p:nvPr/>
        </p:nvSpPr>
        <p:spPr>
          <a:xfrm>
            <a:off x="353117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3" name="Illustrative delivered road transport cost class 1; reference terminal Lesedi"/>
          <p:cNvSpPr/>
          <p:nvPr/>
        </p:nvSpPr>
        <p:spPr>
          <a:xfrm>
            <a:off x="353117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4" name="Illustrative delivered road transport cost class 1; reference terminal Lesedi"/>
          <p:cNvSpPr/>
          <p:nvPr/>
        </p:nvSpPr>
        <p:spPr>
          <a:xfrm>
            <a:off x="353117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5" name="Illustrative delivered road transport cost class 2; reference terminal Lesedi"/>
          <p:cNvSpPr/>
          <p:nvPr/>
        </p:nvSpPr>
        <p:spPr>
          <a:xfrm>
            <a:off x="353117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6" name="Illustrative delivered road transport cost class 2; reference terminal Lesedi"/>
          <p:cNvSpPr/>
          <p:nvPr/>
        </p:nvSpPr>
        <p:spPr>
          <a:xfrm>
            <a:off x="353117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7" name="Illustrative delivered road transport cost class 2; reference terminal Lesedi"/>
          <p:cNvSpPr/>
          <p:nvPr/>
        </p:nvSpPr>
        <p:spPr>
          <a:xfrm>
            <a:off x="353117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8" name="Illustrative delivered road transport cost class 2; reference terminal Lesedi"/>
          <p:cNvSpPr/>
          <p:nvPr/>
        </p:nvSpPr>
        <p:spPr>
          <a:xfrm>
            <a:off x="353117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9" name="Illustrative delivered road transport cost class 2; reference terminal Lesedi"/>
          <p:cNvSpPr/>
          <p:nvPr/>
        </p:nvSpPr>
        <p:spPr>
          <a:xfrm>
            <a:off x="353117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0" name="Illustrative delivered road transport cost class 2; reference terminal Lesedi"/>
          <p:cNvSpPr/>
          <p:nvPr/>
        </p:nvSpPr>
        <p:spPr>
          <a:xfrm>
            <a:off x="353117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1" name="Illustrative delivered road transport cost class 2; reference terminal Lesedi"/>
          <p:cNvSpPr/>
          <p:nvPr/>
        </p:nvSpPr>
        <p:spPr>
          <a:xfrm>
            <a:off x="353117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2" name="Illustrative delivered road transport cost class 3; reference terminal Lesedi"/>
          <p:cNvSpPr/>
          <p:nvPr/>
        </p:nvSpPr>
        <p:spPr>
          <a:xfrm>
            <a:off x="353117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3" name="Illustrative delivered road transport cost class None; reference terminal None"/>
          <p:cNvSpPr/>
          <p:nvPr/>
        </p:nvSpPr>
        <p:spPr>
          <a:xfrm>
            <a:off x="3531175" y="3208078"/>
            <a:ext cx="57686" cy="40378"/>
          </a:xfrm>
          <a:custGeom>
            <a:avLst/>
            <a:gdLst/>
            <a:ahLst/>
            <a:cxnLst/>
            <a:rect l="l" t="t" r="r" b="b"/>
            <a:pathLst>
              <a:path w="57686" h="40378">
                <a:moveTo>
                  <a:pt x="57686" y="40378"/>
                </a:moveTo>
                <a:lnTo>
                  <a:pt x="0" y="40378"/>
                </a:lnTo>
                <a:lnTo>
                  <a:pt x="0" y="0"/>
                </a:lnTo>
                <a:lnTo>
                  <a:pt x="18020" y="15694"/>
                </a:lnTo>
                <a:lnTo>
                  <a:pt x="34154" y="17382"/>
                </a:lnTo>
                <a:lnTo>
                  <a:pt x="57686" y="22831"/>
                </a:lnTo>
                <a:lnTo>
                  <a:pt x="57686" y="4037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4" name="Illustrative delivered road transport cost class 3; reference terminal Durban"/>
          <p:cNvSpPr/>
          <p:nvPr/>
        </p:nvSpPr>
        <p:spPr>
          <a:xfrm>
            <a:off x="3588861" y="5325173"/>
            <a:ext cx="57687" cy="54447"/>
          </a:xfrm>
          <a:custGeom>
            <a:avLst/>
            <a:gdLst/>
            <a:ahLst/>
            <a:cxnLst/>
            <a:rect l="l" t="t" r="r" b="b"/>
            <a:pathLst>
              <a:path w="57687" h="54447">
                <a:moveTo>
                  <a:pt x="0" y="0"/>
                </a:moveTo>
                <a:lnTo>
                  <a:pt x="57687" y="0"/>
                </a:lnTo>
                <a:lnTo>
                  <a:pt x="57687" y="53554"/>
                </a:lnTo>
                <a:lnTo>
                  <a:pt x="29228" y="54447"/>
                </a:lnTo>
                <a:lnTo>
                  <a:pt x="0" y="4501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5" name="Illustrative delivered road transport cost class 3; reference terminal Durban"/>
          <p:cNvSpPr/>
          <p:nvPr/>
        </p:nvSpPr>
        <p:spPr>
          <a:xfrm>
            <a:off x="358886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6" name="Illustrative delivered road transport cost class 3; reference terminal Durban"/>
          <p:cNvSpPr/>
          <p:nvPr/>
        </p:nvSpPr>
        <p:spPr>
          <a:xfrm>
            <a:off x="358886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7" name="Illustrative delivered road transport cost class 3; reference terminal Durban"/>
          <p:cNvSpPr/>
          <p:nvPr/>
        </p:nvSpPr>
        <p:spPr>
          <a:xfrm>
            <a:off x="358886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8" name="Illustrative delivered road transport cost class 3; reference terminal Durban"/>
          <p:cNvSpPr/>
          <p:nvPr/>
        </p:nvSpPr>
        <p:spPr>
          <a:xfrm>
            <a:off x="358886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9" name="Illustrative delivered road transport cost class 4; reference terminal Lesedi"/>
          <p:cNvSpPr/>
          <p:nvPr/>
        </p:nvSpPr>
        <p:spPr>
          <a:xfrm>
            <a:off x="358886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0" name="Illustrative delivered road transport cost class 3; reference terminal Lesedi"/>
          <p:cNvSpPr/>
          <p:nvPr/>
        </p:nvSpPr>
        <p:spPr>
          <a:xfrm>
            <a:off x="358886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1" name="Illustrative delivered road transport cost class 3; reference terminal Lesedi"/>
          <p:cNvSpPr/>
          <p:nvPr/>
        </p:nvSpPr>
        <p:spPr>
          <a:xfrm>
            <a:off x="358886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2" name="Illustrative delivered road transport cost class 3; reference terminal Lesedi"/>
          <p:cNvSpPr/>
          <p:nvPr/>
        </p:nvSpPr>
        <p:spPr>
          <a:xfrm>
            <a:off x="358886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3" name="Illustrative delivered road transport cost class 3; reference terminal Lesedi"/>
          <p:cNvSpPr/>
          <p:nvPr/>
        </p:nvSpPr>
        <p:spPr>
          <a:xfrm>
            <a:off x="358886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4" name="Illustrative delivered road transport cost class 3; reference terminal Lesedi"/>
          <p:cNvSpPr/>
          <p:nvPr/>
        </p:nvSpPr>
        <p:spPr>
          <a:xfrm>
            <a:off x="358886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5" name="Illustrative delivered road transport cost class 2; reference terminal Lesedi"/>
          <p:cNvSpPr/>
          <p:nvPr/>
        </p:nvSpPr>
        <p:spPr>
          <a:xfrm>
            <a:off x="358886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6" name="Illustrative delivered road transport cost class 2; reference terminal Lesedi"/>
          <p:cNvSpPr/>
          <p:nvPr/>
        </p:nvSpPr>
        <p:spPr>
          <a:xfrm>
            <a:off x="358886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7" name="Illustrative delivered road transport cost class 2; reference terminal Lesedi"/>
          <p:cNvSpPr/>
          <p:nvPr/>
        </p:nvSpPr>
        <p:spPr>
          <a:xfrm>
            <a:off x="358886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8" name="Illustrative delivered road transport cost class 2; reference terminal Lesedi"/>
          <p:cNvSpPr/>
          <p:nvPr/>
        </p:nvSpPr>
        <p:spPr>
          <a:xfrm>
            <a:off x="358886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9" name="Illustrative delivered road transport cost class 2; reference terminal Lesedi"/>
          <p:cNvSpPr/>
          <p:nvPr/>
        </p:nvSpPr>
        <p:spPr>
          <a:xfrm>
            <a:off x="358886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0" name="Illustrative delivered road transport cost class 2; reference terminal Lesedi"/>
          <p:cNvSpPr/>
          <p:nvPr/>
        </p:nvSpPr>
        <p:spPr>
          <a:xfrm>
            <a:off x="358886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1" name="Illustrative delivered road transport cost class 2; reference terminal Lesedi"/>
          <p:cNvSpPr/>
          <p:nvPr/>
        </p:nvSpPr>
        <p:spPr>
          <a:xfrm>
            <a:off x="358886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2" name="Illustrative delivered road transport cost class 2; reference terminal Lesedi"/>
          <p:cNvSpPr/>
          <p:nvPr/>
        </p:nvSpPr>
        <p:spPr>
          <a:xfrm>
            <a:off x="358886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3" name="Illustrative delivered road transport cost class 2; reference terminal Lesedi"/>
          <p:cNvSpPr/>
          <p:nvPr/>
        </p:nvSpPr>
        <p:spPr>
          <a:xfrm>
            <a:off x="358886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4" name="Illustrative delivered road transport cost class 2; reference terminal Lesedi"/>
          <p:cNvSpPr/>
          <p:nvPr/>
        </p:nvSpPr>
        <p:spPr>
          <a:xfrm>
            <a:off x="358886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5" name="Illustrative delivered road transport cost class 2; reference terminal Lesedi"/>
          <p:cNvSpPr/>
          <p:nvPr/>
        </p:nvSpPr>
        <p:spPr>
          <a:xfrm>
            <a:off x="358886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6" name="Illustrative delivered road transport cost class 1; reference terminal Lesedi"/>
          <p:cNvSpPr/>
          <p:nvPr/>
        </p:nvSpPr>
        <p:spPr>
          <a:xfrm>
            <a:off x="358886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7" name="Illustrative delivered road transport cost class 1; reference terminal Lesedi"/>
          <p:cNvSpPr/>
          <p:nvPr/>
        </p:nvSpPr>
        <p:spPr>
          <a:xfrm>
            <a:off x="358886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8" name="Illustrative delivered road transport cost class 1; reference terminal Lesedi"/>
          <p:cNvSpPr/>
          <p:nvPr/>
        </p:nvSpPr>
        <p:spPr>
          <a:xfrm>
            <a:off x="358886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9" name="Illustrative delivered road transport cost class 1; reference terminal Lesedi"/>
          <p:cNvSpPr/>
          <p:nvPr/>
        </p:nvSpPr>
        <p:spPr>
          <a:xfrm>
            <a:off x="358886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0" name="Illustrative delivered road transport cost class 1; reference terminal Lesedi"/>
          <p:cNvSpPr/>
          <p:nvPr/>
        </p:nvSpPr>
        <p:spPr>
          <a:xfrm>
            <a:off x="358886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1" name="Illustrative delivered road transport cost class 1; reference terminal Lesedi"/>
          <p:cNvSpPr/>
          <p:nvPr/>
        </p:nvSpPr>
        <p:spPr>
          <a:xfrm>
            <a:off x="358886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2" name="Illustrative delivered road transport cost class 1; reference terminal Lesedi"/>
          <p:cNvSpPr/>
          <p:nvPr/>
        </p:nvSpPr>
        <p:spPr>
          <a:xfrm>
            <a:off x="358886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3" name="Illustrative delivered road transport cost class 1; reference terminal Lesedi"/>
          <p:cNvSpPr/>
          <p:nvPr/>
        </p:nvSpPr>
        <p:spPr>
          <a:xfrm>
            <a:off x="358886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4" name="Illustrative delivered road transport cost class 2; reference terminal Lesedi"/>
          <p:cNvSpPr/>
          <p:nvPr/>
        </p:nvSpPr>
        <p:spPr>
          <a:xfrm>
            <a:off x="358886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5" name="Illustrative delivered road transport cost class 2; reference terminal Lesedi"/>
          <p:cNvSpPr/>
          <p:nvPr/>
        </p:nvSpPr>
        <p:spPr>
          <a:xfrm>
            <a:off x="358886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6" name="Illustrative delivered road transport cost class 2; reference terminal Lesedi"/>
          <p:cNvSpPr/>
          <p:nvPr/>
        </p:nvSpPr>
        <p:spPr>
          <a:xfrm>
            <a:off x="358886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7" name="Illustrative delivered road transport cost class 2; reference terminal Lesedi"/>
          <p:cNvSpPr/>
          <p:nvPr/>
        </p:nvSpPr>
        <p:spPr>
          <a:xfrm>
            <a:off x="358886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8" name="Illustrative delivered road transport cost class 2; reference terminal Lesedi"/>
          <p:cNvSpPr/>
          <p:nvPr/>
        </p:nvSpPr>
        <p:spPr>
          <a:xfrm>
            <a:off x="358886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9" name="Illustrative delivered road transport cost class 2; reference terminal Lesedi"/>
          <p:cNvSpPr/>
          <p:nvPr/>
        </p:nvSpPr>
        <p:spPr>
          <a:xfrm>
            <a:off x="358886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0" name="Illustrative delivered road transport cost class 3; reference terminal Lesedi"/>
          <p:cNvSpPr/>
          <p:nvPr/>
        </p:nvSpPr>
        <p:spPr>
          <a:xfrm>
            <a:off x="358886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1" name="Illustrative delivered road transport cost class 3; reference terminal Lesedi"/>
          <p:cNvSpPr/>
          <p:nvPr/>
        </p:nvSpPr>
        <p:spPr>
          <a:xfrm>
            <a:off x="3588861" y="3230909"/>
            <a:ext cx="57687" cy="17547"/>
          </a:xfrm>
          <a:custGeom>
            <a:avLst/>
            <a:gdLst/>
            <a:ahLst/>
            <a:cxnLst/>
            <a:rect l="l" t="t" r="r" b="b"/>
            <a:pathLst>
              <a:path w="57687" h="17547">
                <a:moveTo>
                  <a:pt x="57687" y="17547"/>
                </a:moveTo>
                <a:lnTo>
                  <a:pt x="0" y="17547"/>
                </a:lnTo>
                <a:lnTo>
                  <a:pt x="0" y="0"/>
                </a:lnTo>
                <a:lnTo>
                  <a:pt x="12547" y="2906"/>
                </a:lnTo>
                <a:lnTo>
                  <a:pt x="57082" y="11538"/>
                </a:lnTo>
                <a:lnTo>
                  <a:pt x="57687" y="11516"/>
                </a:lnTo>
                <a:lnTo>
                  <a:pt x="57687" y="1754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2" name="Illustrative delivered road transport cost class 3; reference terminal Durban"/>
          <p:cNvSpPr/>
          <p:nvPr/>
        </p:nvSpPr>
        <p:spPr>
          <a:xfrm>
            <a:off x="3646548" y="5325173"/>
            <a:ext cx="57687" cy="53554"/>
          </a:xfrm>
          <a:custGeom>
            <a:avLst/>
            <a:gdLst/>
            <a:ahLst/>
            <a:cxnLst/>
            <a:rect l="l" t="t" r="r" b="b"/>
            <a:pathLst>
              <a:path w="57687" h="53554">
                <a:moveTo>
                  <a:pt x="0" y="0"/>
                </a:moveTo>
                <a:lnTo>
                  <a:pt x="57687" y="0"/>
                </a:lnTo>
                <a:lnTo>
                  <a:pt x="57687" y="3597"/>
                </a:lnTo>
                <a:lnTo>
                  <a:pt x="37549" y="24965"/>
                </a:lnTo>
                <a:lnTo>
                  <a:pt x="20872" y="52899"/>
                </a:lnTo>
                <a:lnTo>
                  <a:pt x="0" y="53554"/>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3" name="Illustrative delivered road transport cost class 3; reference terminal Durban"/>
          <p:cNvSpPr/>
          <p:nvPr/>
        </p:nvSpPr>
        <p:spPr>
          <a:xfrm>
            <a:off x="364654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4" name="Illustrative delivered road transport cost class 3; reference terminal Durban"/>
          <p:cNvSpPr/>
          <p:nvPr/>
        </p:nvSpPr>
        <p:spPr>
          <a:xfrm>
            <a:off x="364654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5" name="Illustrative delivered road transport cost class 3; reference terminal Durban"/>
          <p:cNvSpPr/>
          <p:nvPr/>
        </p:nvSpPr>
        <p:spPr>
          <a:xfrm>
            <a:off x="364654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6" name="Illustrative delivered road transport cost class 3; reference terminal Durban"/>
          <p:cNvSpPr/>
          <p:nvPr/>
        </p:nvSpPr>
        <p:spPr>
          <a:xfrm>
            <a:off x="364654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7" name="Illustrative delivered road transport cost class 3; reference terminal Lesedi"/>
          <p:cNvSpPr/>
          <p:nvPr/>
        </p:nvSpPr>
        <p:spPr>
          <a:xfrm>
            <a:off x="364654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8" name="Illustrative delivered road transport cost class 3; reference terminal Lesedi"/>
          <p:cNvSpPr/>
          <p:nvPr/>
        </p:nvSpPr>
        <p:spPr>
          <a:xfrm>
            <a:off x="364654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9" name="Illustrative delivered road transport cost class 3; reference terminal Lesedi"/>
          <p:cNvSpPr/>
          <p:nvPr/>
        </p:nvSpPr>
        <p:spPr>
          <a:xfrm>
            <a:off x="364654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0" name="Illustrative delivered road transport cost class 3; reference terminal Lesedi"/>
          <p:cNvSpPr/>
          <p:nvPr/>
        </p:nvSpPr>
        <p:spPr>
          <a:xfrm>
            <a:off x="364654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1" name="Illustrative delivered road transport cost class 3; reference terminal Lesedi"/>
          <p:cNvSpPr/>
          <p:nvPr/>
        </p:nvSpPr>
        <p:spPr>
          <a:xfrm>
            <a:off x="364654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2" name="Illustrative delivered road transport cost class 3; reference terminal Lesedi"/>
          <p:cNvSpPr/>
          <p:nvPr/>
        </p:nvSpPr>
        <p:spPr>
          <a:xfrm>
            <a:off x="364654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3" name="Illustrative delivered road transport cost class 2; reference terminal Lesedi"/>
          <p:cNvSpPr/>
          <p:nvPr/>
        </p:nvSpPr>
        <p:spPr>
          <a:xfrm>
            <a:off x="364654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4" name="Illustrative delivered road transport cost class 2; reference terminal Lesedi"/>
          <p:cNvSpPr/>
          <p:nvPr/>
        </p:nvSpPr>
        <p:spPr>
          <a:xfrm>
            <a:off x="364654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5" name="Illustrative delivered road transport cost class 2; reference terminal Lesedi"/>
          <p:cNvSpPr/>
          <p:nvPr/>
        </p:nvSpPr>
        <p:spPr>
          <a:xfrm>
            <a:off x="364654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6" name="Illustrative delivered road transport cost class 2; reference terminal Lesedi"/>
          <p:cNvSpPr/>
          <p:nvPr/>
        </p:nvSpPr>
        <p:spPr>
          <a:xfrm>
            <a:off x="364654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7" name="Illustrative delivered road transport cost class 2; reference terminal Lesedi"/>
          <p:cNvSpPr/>
          <p:nvPr/>
        </p:nvSpPr>
        <p:spPr>
          <a:xfrm>
            <a:off x="364654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8" name="Illustrative delivered road transport cost class 2; reference terminal Lesedi"/>
          <p:cNvSpPr/>
          <p:nvPr/>
        </p:nvSpPr>
        <p:spPr>
          <a:xfrm>
            <a:off x="364654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9" name="Illustrative delivered road transport cost class 2; reference terminal Lesedi"/>
          <p:cNvSpPr/>
          <p:nvPr/>
        </p:nvSpPr>
        <p:spPr>
          <a:xfrm>
            <a:off x="364654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0" name="Illustrative delivered road transport cost class 2; reference terminal Lesedi"/>
          <p:cNvSpPr/>
          <p:nvPr/>
        </p:nvSpPr>
        <p:spPr>
          <a:xfrm>
            <a:off x="364654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1" name="Illustrative delivered road transport cost class 2; reference terminal Lesedi"/>
          <p:cNvSpPr/>
          <p:nvPr/>
        </p:nvSpPr>
        <p:spPr>
          <a:xfrm>
            <a:off x="364654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2" name="Illustrative delivered road transport cost class 2; reference terminal Lesedi"/>
          <p:cNvSpPr/>
          <p:nvPr/>
        </p:nvSpPr>
        <p:spPr>
          <a:xfrm>
            <a:off x="364654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3" name="Illustrative delivered road transport cost class 2; reference terminal Lesedi"/>
          <p:cNvSpPr/>
          <p:nvPr/>
        </p:nvSpPr>
        <p:spPr>
          <a:xfrm>
            <a:off x="364654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4" name="Illustrative delivered road transport cost class 1; reference terminal Lesedi"/>
          <p:cNvSpPr/>
          <p:nvPr/>
        </p:nvSpPr>
        <p:spPr>
          <a:xfrm>
            <a:off x="364654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5" name="Illustrative delivered road transport cost class 1; reference terminal Lesedi"/>
          <p:cNvSpPr/>
          <p:nvPr/>
        </p:nvSpPr>
        <p:spPr>
          <a:xfrm>
            <a:off x="364654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6" name="Illustrative delivered road transport cost class 1; reference terminal Lesedi"/>
          <p:cNvSpPr/>
          <p:nvPr/>
        </p:nvSpPr>
        <p:spPr>
          <a:xfrm>
            <a:off x="364654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7" name="Illustrative delivered road transport cost class 1; reference terminal Lesedi"/>
          <p:cNvSpPr/>
          <p:nvPr/>
        </p:nvSpPr>
        <p:spPr>
          <a:xfrm>
            <a:off x="364654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8" name="Illustrative delivered road transport cost class 1; reference terminal Lesedi"/>
          <p:cNvSpPr/>
          <p:nvPr/>
        </p:nvSpPr>
        <p:spPr>
          <a:xfrm>
            <a:off x="364654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9" name="Illustrative delivered road transport cost class 1; reference terminal Lesedi"/>
          <p:cNvSpPr/>
          <p:nvPr/>
        </p:nvSpPr>
        <p:spPr>
          <a:xfrm>
            <a:off x="364654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0" name="Illustrative delivered road transport cost class 1; reference terminal Lesedi"/>
          <p:cNvSpPr/>
          <p:nvPr/>
        </p:nvSpPr>
        <p:spPr>
          <a:xfrm>
            <a:off x="364654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1" name="Illustrative delivered road transport cost class 1; reference terminal Lesedi"/>
          <p:cNvSpPr/>
          <p:nvPr/>
        </p:nvSpPr>
        <p:spPr>
          <a:xfrm>
            <a:off x="364654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2" name="Illustrative delivered road transport cost class 1; reference terminal Lesedi"/>
          <p:cNvSpPr/>
          <p:nvPr/>
        </p:nvSpPr>
        <p:spPr>
          <a:xfrm>
            <a:off x="364654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3" name="Illustrative delivered road transport cost class 1; reference terminal Lesedi"/>
          <p:cNvSpPr/>
          <p:nvPr/>
        </p:nvSpPr>
        <p:spPr>
          <a:xfrm>
            <a:off x="364654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4" name="Illustrative delivered road transport cost class 2; reference terminal Lesedi"/>
          <p:cNvSpPr/>
          <p:nvPr/>
        </p:nvSpPr>
        <p:spPr>
          <a:xfrm>
            <a:off x="364654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5" name="Illustrative delivered road transport cost class 2; reference terminal Lesedi"/>
          <p:cNvSpPr/>
          <p:nvPr/>
        </p:nvSpPr>
        <p:spPr>
          <a:xfrm>
            <a:off x="364654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6" name="Illustrative delivered road transport cost class 2; reference terminal Lesedi"/>
          <p:cNvSpPr/>
          <p:nvPr/>
        </p:nvSpPr>
        <p:spPr>
          <a:xfrm>
            <a:off x="364654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7" name="Illustrative delivered road transport cost class 2; reference terminal Lesedi"/>
          <p:cNvSpPr/>
          <p:nvPr/>
        </p:nvSpPr>
        <p:spPr>
          <a:xfrm>
            <a:off x="364654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8" name="Illustrative delivered road transport cost class 3; reference terminal Lesedi"/>
          <p:cNvSpPr/>
          <p:nvPr/>
        </p:nvSpPr>
        <p:spPr>
          <a:xfrm>
            <a:off x="364654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9" name="Illustrative delivered road transport cost class 1; reference terminal Lesedi"/>
          <p:cNvSpPr/>
          <p:nvPr/>
        </p:nvSpPr>
        <p:spPr>
          <a:xfrm>
            <a:off x="3646548" y="3226184"/>
            <a:ext cx="57687" cy="22272"/>
          </a:xfrm>
          <a:custGeom>
            <a:avLst/>
            <a:gdLst/>
            <a:ahLst/>
            <a:cxnLst/>
            <a:rect l="l" t="t" r="r" b="b"/>
            <a:pathLst>
              <a:path w="57687" h="22272">
                <a:moveTo>
                  <a:pt x="57687" y="22272"/>
                </a:moveTo>
                <a:lnTo>
                  <a:pt x="0" y="22272"/>
                </a:lnTo>
                <a:lnTo>
                  <a:pt x="0" y="16241"/>
                </a:lnTo>
                <a:lnTo>
                  <a:pt x="27421" y="15221"/>
                </a:lnTo>
                <a:lnTo>
                  <a:pt x="57438" y="7"/>
                </a:lnTo>
                <a:lnTo>
                  <a:pt x="57687" y="0"/>
                </a:lnTo>
                <a:lnTo>
                  <a:pt x="57687" y="2227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0" name="Illustrative delivered road transport cost class 3; reference terminal Durban"/>
          <p:cNvSpPr/>
          <p:nvPr/>
        </p:nvSpPr>
        <p:spPr>
          <a:xfrm>
            <a:off x="3741731" y="5325173"/>
            <a:ext cx="20190" cy="5362"/>
          </a:xfrm>
          <a:custGeom>
            <a:avLst/>
            <a:gdLst/>
            <a:ahLst/>
            <a:cxnLst/>
            <a:rect l="l" t="t" r="r" b="b"/>
            <a:pathLst>
              <a:path w="20190" h="5362">
                <a:moveTo>
                  <a:pt x="20190" y="0"/>
                </a:moveTo>
                <a:lnTo>
                  <a:pt x="20190" y="5362"/>
                </a:lnTo>
                <a:lnTo>
                  <a:pt x="0" y="0"/>
                </a:lnTo>
                <a:lnTo>
                  <a:pt x="2019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1" name="Illustrative delivered road transport cost class 3; reference terminal Durban"/>
          <p:cNvSpPr/>
          <p:nvPr/>
        </p:nvSpPr>
        <p:spPr>
          <a:xfrm>
            <a:off x="3704235" y="5325173"/>
            <a:ext cx="32586" cy="3597"/>
          </a:xfrm>
          <a:custGeom>
            <a:avLst/>
            <a:gdLst/>
            <a:ahLst/>
            <a:cxnLst/>
            <a:rect l="l" t="t" r="r" b="b"/>
            <a:pathLst>
              <a:path w="32586" h="3597">
                <a:moveTo>
                  <a:pt x="0" y="0"/>
                </a:moveTo>
                <a:lnTo>
                  <a:pt x="32586" y="0"/>
                </a:lnTo>
                <a:lnTo>
                  <a:pt x="625" y="2934"/>
                </a:lnTo>
                <a:lnTo>
                  <a:pt x="0" y="359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2" name="Illustrative delivered road transport cost class 3; reference terminal Durban"/>
          <p:cNvSpPr/>
          <p:nvPr/>
        </p:nvSpPr>
        <p:spPr>
          <a:xfrm>
            <a:off x="3704235" y="5267486"/>
            <a:ext cx="57686" cy="57687"/>
          </a:xfrm>
          <a:custGeom>
            <a:avLst/>
            <a:gdLst/>
            <a:ahLst/>
            <a:cxnLst/>
            <a:rect l="l" t="t" r="r" b="b"/>
            <a:pathLst>
              <a:path w="57686" h="57687">
                <a:moveTo>
                  <a:pt x="0" y="57687"/>
                </a:moveTo>
                <a:lnTo>
                  <a:pt x="0" y="0"/>
                </a:lnTo>
                <a:lnTo>
                  <a:pt x="57686" y="0"/>
                </a:lnTo>
                <a:lnTo>
                  <a:pt x="57686" y="57687"/>
                </a:lnTo>
                <a:lnTo>
                  <a:pt x="37496" y="57687"/>
                </a:lnTo>
                <a:lnTo>
                  <a:pt x="36235" y="57352"/>
                </a:lnTo>
                <a:lnTo>
                  <a:pt x="325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3" name="Illustrative delivered road transport cost class 3; reference terminal Durban"/>
          <p:cNvSpPr/>
          <p:nvPr/>
        </p:nvSpPr>
        <p:spPr>
          <a:xfrm>
            <a:off x="370423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4" name="Illustrative delivered road transport cost class 3; reference terminal Durban"/>
          <p:cNvSpPr/>
          <p:nvPr/>
        </p:nvSpPr>
        <p:spPr>
          <a:xfrm>
            <a:off x="370423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5" name="Illustrative delivered road transport cost class 3; reference terminal Durban"/>
          <p:cNvSpPr/>
          <p:nvPr/>
        </p:nvSpPr>
        <p:spPr>
          <a:xfrm>
            <a:off x="370423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6" name="Illustrative delivered road transport cost class 3; reference terminal Lesedi"/>
          <p:cNvSpPr/>
          <p:nvPr/>
        </p:nvSpPr>
        <p:spPr>
          <a:xfrm>
            <a:off x="370423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7" name="Illustrative delivered road transport cost class 3; reference terminal Lesedi"/>
          <p:cNvSpPr/>
          <p:nvPr/>
        </p:nvSpPr>
        <p:spPr>
          <a:xfrm>
            <a:off x="370423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8" name="Illustrative delivered road transport cost class 3; reference terminal Lesedi"/>
          <p:cNvSpPr/>
          <p:nvPr/>
        </p:nvSpPr>
        <p:spPr>
          <a:xfrm>
            <a:off x="370423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9" name="Illustrative delivered road transport cost class 3; reference terminal Lesedi"/>
          <p:cNvSpPr/>
          <p:nvPr/>
        </p:nvSpPr>
        <p:spPr>
          <a:xfrm>
            <a:off x="370423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0" name="Illustrative delivered road transport cost class 3; reference terminal Lesedi"/>
          <p:cNvSpPr/>
          <p:nvPr/>
        </p:nvSpPr>
        <p:spPr>
          <a:xfrm>
            <a:off x="370423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1" name="Illustrative delivered road transport cost class 2; reference terminal Lesedi"/>
          <p:cNvSpPr/>
          <p:nvPr/>
        </p:nvSpPr>
        <p:spPr>
          <a:xfrm>
            <a:off x="370423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2" name="Illustrative delivered road transport cost class 2; reference terminal Lesedi"/>
          <p:cNvSpPr/>
          <p:nvPr/>
        </p:nvSpPr>
        <p:spPr>
          <a:xfrm>
            <a:off x="370423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3" name="Illustrative delivered road transport cost class 2; reference terminal Lesedi"/>
          <p:cNvSpPr/>
          <p:nvPr/>
        </p:nvSpPr>
        <p:spPr>
          <a:xfrm>
            <a:off x="370423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4" name="Illustrative delivered road transport cost class 2; reference terminal Lesedi"/>
          <p:cNvSpPr/>
          <p:nvPr/>
        </p:nvSpPr>
        <p:spPr>
          <a:xfrm>
            <a:off x="370423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5" name="Illustrative delivered road transport cost class 2; reference terminal Lesedi"/>
          <p:cNvSpPr/>
          <p:nvPr/>
        </p:nvSpPr>
        <p:spPr>
          <a:xfrm>
            <a:off x="370423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6" name="Illustrative delivered road transport cost class 2; reference terminal Lesedi"/>
          <p:cNvSpPr/>
          <p:nvPr/>
        </p:nvSpPr>
        <p:spPr>
          <a:xfrm>
            <a:off x="370423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7" name="Illustrative delivered road transport cost class 2; reference terminal Lesedi"/>
          <p:cNvSpPr/>
          <p:nvPr/>
        </p:nvSpPr>
        <p:spPr>
          <a:xfrm>
            <a:off x="370423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8" name="Illustrative delivered road transport cost class 2; reference terminal Lesedi"/>
          <p:cNvSpPr/>
          <p:nvPr/>
        </p:nvSpPr>
        <p:spPr>
          <a:xfrm>
            <a:off x="370423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9" name="Illustrative delivered road transport cost class 2; reference terminal Lesedi"/>
          <p:cNvSpPr/>
          <p:nvPr/>
        </p:nvSpPr>
        <p:spPr>
          <a:xfrm>
            <a:off x="370423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0" name="Illustrative delivered road transport cost class 2; reference terminal Lesedi"/>
          <p:cNvSpPr/>
          <p:nvPr/>
        </p:nvSpPr>
        <p:spPr>
          <a:xfrm>
            <a:off x="370423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1" name="Illustrative delivered road transport cost class 2; reference terminal Lesedi"/>
          <p:cNvSpPr/>
          <p:nvPr/>
        </p:nvSpPr>
        <p:spPr>
          <a:xfrm>
            <a:off x="370423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2" name="Illustrative delivered road transport cost class 2; reference terminal Lesedi"/>
          <p:cNvSpPr/>
          <p:nvPr/>
        </p:nvSpPr>
        <p:spPr>
          <a:xfrm>
            <a:off x="370423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3" name="Illustrative delivered road transport cost class 1; reference terminal Lesedi"/>
          <p:cNvSpPr/>
          <p:nvPr/>
        </p:nvSpPr>
        <p:spPr>
          <a:xfrm>
            <a:off x="370423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4" name="Illustrative delivered road transport cost class 1; reference terminal Lesedi"/>
          <p:cNvSpPr/>
          <p:nvPr/>
        </p:nvSpPr>
        <p:spPr>
          <a:xfrm>
            <a:off x="370423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5" name="Illustrative delivered road transport cost class 1; reference terminal Lesedi"/>
          <p:cNvSpPr/>
          <p:nvPr/>
        </p:nvSpPr>
        <p:spPr>
          <a:xfrm>
            <a:off x="370423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6" name="Illustrative delivered road transport cost class 1; reference terminal Lesedi"/>
          <p:cNvSpPr/>
          <p:nvPr/>
        </p:nvSpPr>
        <p:spPr>
          <a:xfrm>
            <a:off x="370423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7" name="Illustrative delivered road transport cost class 1; reference terminal Lesedi"/>
          <p:cNvSpPr/>
          <p:nvPr/>
        </p:nvSpPr>
        <p:spPr>
          <a:xfrm>
            <a:off x="370423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8" name="Illustrative delivered road transport cost class 1; reference terminal Lesedi"/>
          <p:cNvSpPr/>
          <p:nvPr/>
        </p:nvSpPr>
        <p:spPr>
          <a:xfrm>
            <a:off x="370423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9" name="Illustrative delivered road transport cost class 1; reference terminal Lesedi"/>
          <p:cNvSpPr/>
          <p:nvPr/>
        </p:nvSpPr>
        <p:spPr>
          <a:xfrm>
            <a:off x="370423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0" name="Illustrative delivered road transport cost class 1; reference terminal Lesedi"/>
          <p:cNvSpPr/>
          <p:nvPr/>
        </p:nvSpPr>
        <p:spPr>
          <a:xfrm>
            <a:off x="370423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1" name="Illustrative delivered road transport cost class 1; reference terminal Lesedi"/>
          <p:cNvSpPr/>
          <p:nvPr/>
        </p:nvSpPr>
        <p:spPr>
          <a:xfrm>
            <a:off x="370423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2" name="Illustrative delivered road transport cost class 1; reference terminal Lesedi"/>
          <p:cNvSpPr/>
          <p:nvPr/>
        </p:nvSpPr>
        <p:spPr>
          <a:xfrm>
            <a:off x="370423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3" name="Illustrative delivered road transport cost class 1; reference terminal Lesedi"/>
          <p:cNvSpPr/>
          <p:nvPr/>
        </p:nvSpPr>
        <p:spPr>
          <a:xfrm>
            <a:off x="370423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4" name="Illustrative delivered road transport cost class 2; reference terminal Lesedi"/>
          <p:cNvSpPr/>
          <p:nvPr/>
        </p:nvSpPr>
        <p:spPr>
          <a:xfrm>
            <a:off x="370423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5" name="Illustrative delivered road transport cost class 2; reference terminal Lesedi"/>
          <p:cNvSpPr/>
          <p:nvPr/>
        </p:nvSpPr>
        <p:spPr>
          <a:xfrm>
            <a:off x="370423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6" name="Illustrative delivered road transport cost class 2; reference terminal Lesedi"/>
          <p:cNvSpPr/>
          <p:nvPr/>
        </p:nvSpPr>
        <p:spPr>
          <a:xfrm>
            <a:off x="370423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7" name="Illustrative delivered road transport cost class 1; reference terminal Lesedi"/>
          <p:cNvSpPr/>
          <p:nvPr/>
        </p:nvSpPr>
        <p:spPr>
          <a:xfrm>
            <a:off x="370423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8" name="Illustrative delivered road transport cost class 1; reference terminal Lesedi"/>
          <p:cNvSpPr/>
          <p:nvPr/>
        </p:nvSpPr>
        <p:spPr>
          <a:xfrm>
            <a:off x="3704235" y="3225550"/>
            <a:ext cx="57686" cy="22906"/>
          </a:xfrm>
          <a:custGeom>
            <a:avLst/>
            <a:gdLst/>
            <a:ahLst/>
            <a:cxnLst/>
            <a:rect l="l" t="t" r="r" b="b"/>
            <a:pathLst>
              <a:path w="57686" h="22906">
                <a:moveTo>
                  <a:pt x="57686" y="22906"/>
                </a:moveTo>
                <a:lnTo>
                  <a:pt x="0" y="22906"/>
                </a:lnTo>
                <a:lnTo>
                  <a:pt x="0" y="634"/>
                </a:lnTo>
                <a:lnTo>
                  <a:pt x="21416" y="0"/>
                </a:lnTo>
                <a:lnTo>
                  <a:pt x="49412" y="1258"/>
                </a:lnTo>
                <a:lnTo>
                  <a:pt x="57686" y="156"/>
                </a:lnTo>
                <a:lnTo>
                  <a:pt x="57686" y="2290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9" name="Illustrative delivered road transport cost class 2; reference terminal Durban"/>
          <p:cNvSpPr/>
          <p:nvPr/>
        </p:nvSpPr>
        <p:spPr>
          <a:xfrm>
            <a:off x="3761921" y="5325173"/>
            <a:ext cx="57687" cy="18354"/>
          </a:xfrm>
          <a:custGeom>
            <a:avLst/>
            <a:gdLst/>
            <a:ahLst/>
            <a:cxnLst/>
            <a:rect l="l" t="t" r="r" b="b"/>
            <a:pathLst>
              <a:path w="57687" h="18354">
                <a:moveTo>
                  <a:pt x="0" y="0"/>
                </a:moveTo>
                <a:lnTo>
                  <a:pt x="57687" y="0"/>
                </a:lnTo>
                <a:lnTo>
                  <a:pt x="57687" y="18354"/>
                </a:lnTo>
                <a:lnTo>
                  <a:pt x="44123" y="17079"/>
                </a:lnTo>
                <a:lnTo>
                  <a:pt x="0" y="536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0" name="Illustrative delivered road transport cost class 2; reference terminal Durban"/>
          <p:cNvSpPr/>
          <p:nvPr/>
        </p:nvSpPr>
        <p:spPr>
          <a:xfrm>
            <a:off x="376192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1" name="Illustrative delivered road transport cost class 3; reference terminal Durban"/>
          <p:cNvSpPr/>
          <p:nvPr/>
        </p:nvSpPr>
        <p:spPr>
          <a:xfrm>
            <a:off x="376192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2" name="Illustrative delivered road transport cost class 3; reference terminal Durban"/>
          <p:cNvSpPr/>
          <p:nvPr/>
        </p:nvSpPr>
        <p:spPr>
          <a:xfrm>
            <a:off x="376192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3" name="Illustrative delivered road transport cost class 3; reference terminal Durban"/>
          <p:cNvSpPr/>
          <p:nvPr/>
        </p:nvSpPr>
        <p:spPr>
          <a:xfrm>
            <a:off x="376192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4" name="Illustrative delivered road transport cost class 3; reference terminal Lesedi"/>
          <p:cNvSpPr/>
          <p:nvPr/>
        </p:nvSpPr>
        <p:spPr>
          <a:xfrm>
            <a:off x="376192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5" name="Illustrative delivered road transport cost class 3; reference terminal Lesedi"/>
          <p:cNvSpPr/>
          <p:nvPr/>
        </p:nvSpPr>
        <p:spPr>
          <a:xfrm>
            <a:off x="376192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6" name="Illustrative delivered road transport cost class 3; reference terminal Lesedi"/>
          <p:cNvSpPr/>
          <p:nvPr/>
        </p:nvSpPr>
        <p:spPr>
          <a:xfrm>
            <a:off x="376192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7" name="Illustrative delivered road transport cost class 3; reference terminal Lesedi"/>
          <p:cNvSpPr/>
          <p:nvPr/>
        </p:nvSpPr>
        <p:spPr>
          <a:xfrm>
            <a:off x="376192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8" name="Illustrative delivered road transport cost class 3; reference terminal Lesedi"/>
          <p:cNvSpPr/>
          <p:nvPr/>
        </p:nvSpPr>
        <p:spPr>
          <a:xfrm>
            <a:off x="376192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9" name="Illustrative delivered road transport cost class 3; reference terminal Lesedi"/>
          <p:cNvSpPr/>
          <p:nvPr/>
        </p:nvSpPr>
        <p:spPr>
          <a:xfrm>
            <a:off x="376192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0" name="Illustrative delivered road transport cost class 2; reference terminal Lesedi"/>
          <p:cNvSpPr/>
          <p:nvPr/>
        </p:nvSpPr>
        <p:spPr>
          <a:xfrm>
            <a:off x="376192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1" name="Illustrative delivered road transport cost class 2; reference terminal Lesedi"/>
          <p:cNvSpPr/>
          <p:nvPr/>
        </p:nvSpPr>
        <p:spPr>
          <a:xfrm>
            <a:off x="376192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2" name="Illustrative delivered road transport cost class 2; reference terminal Lesedi"/>
          <p:cNvSpPr/>
          <p:nvPr/>
        </p:nvSpPr>
        <p:spPr>
          <a:xfrm>
            <a:off x="376192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3" name="Illustrative delivered road transport cost class 2; reference terminal Lesedi"/>
          <p:cNvSpPr/>
          <p:nvPr/>
        </p:nvSpPr>
        <p:spPr>
          <a:xfrm>
            <a:off x="376192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4" name="Illustrative delivered road transport cost class 2; reference terminal Lesedi"/>
          <p:cNvSpPr/>
          <p:nvPr/>
        </p:nvSpPr>
        <p:spPr>
          <a:xfrm>
            <a:off x="376192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5" name="Illustrative delivered road transport cost class 2; reference terminal Lesedi"/>
          <p:cNvSpPr/>
          <p:nvPr/>
        </p:nvSpPr>
        <p:spPr>
          <a:xfrm>
            <a:off x="376192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6" name="Illustrative delivered road transport cost class 2; reference terminal Lesedi"/>
          <p:cNvSpPr/>
          <p:nvPr/>
        </p:nvSpPr>
        <p:spPr>
          <a:xfrm>
            <a:off x="376192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7" name="Illustrative delivered road transport cost class 2; reference terminal Lesedi"/>
          <p:cNvSpPr/>
          <p:nvPr/>
        </p:nvSpPr>
        <p:spPr>
          <a:xfrm>
            <a:off x="376192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8" name="Illustrative delivered road transport cost class 2; reference terminal Lesedi"/>
          <p:cNvSpPr/>
          <p:nvPr/>
        </p:nvSpPr>
        <p:spPr>
          <a:xfrm>
            <a:off x="376192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9" name="Illustrative delivered road transport cost class 1; reference terminal Lesedi"/>
          <p:cNvSpPr/>
          <p:nvPr/>
        </p:nvSpPr>
        <p:spPr>
          <a:xfrm>
            <a:off x="376192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0" name="Illustrative delivered road transport cost class 1; reference terminal Lesedi"/>
          <p:cNvSpPr/>
          <p:nvPr/>
        </p:nvSpPr>
        <p:spPr>
          <a:xfrm>
            <a:off x="376192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1" name="Illustrative delivered road transport cost class 1; reference terminal Lesedi"/>
          <p:cNvSpPr/>
          <p:nvPr/>
        </p:nvSpPr>
        <p:spPr>
          <a:xfrm>
            <a:off x="376192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2" name="Illustrative delivered road transport cost class 1; reference terminal Lesedi"/>
          <p:cNvSpPr/>
          <p:nvPr/>
        </p:nvSpPr>
        <p:spPr>
          <a:xfrm>
            <a:off x="376192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3" name="Illustrative delivered road transport cost class 1; reference terminal Lesedi"/>
          <p:cNvSpPr/>
          <p:nvPr/>
        </p:nvSpPr>
        <p:spPr>
          <a:xfrm>
            <a:off x="376192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4" name="Illustrative delivered road transport cost class 1; reference terminal Lesedi"/>
          <p:cNvSpPr/>
          <p:nvPr/>
        </p:nvSpPr>
        <p:spPr>
          <a:xfrm>
            <a:off x="376192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5" name="Illustrative delivered road transport cost class 1; reference terminal Lesedi"/>
          <p:cNvSpPr/>
          <p:nvPr/>
        </p:nvSpPr>
        <p:spPr>
          <a:xfrm>
            <a:off x="376192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6" name="Illustrative delivered road transport cost class 1; reference terminal Lesedi"/>
          <p:cNvSpPr/>
          <p:nvPr/>
        </p:nvSpPr>
        <p:spPr>
          <a:xfrm>
            <a:off x="376192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7" name="Illustrative delivered road transport cost class 1; reference terminal Lesedi"/>
          <p:cNvSpPr/>
          <p:nvPr/>
        </p:nvSpPr>
        <p:spPr>
          <a:xfrm>
            <a:off x="376192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8" name="Illustrative delivered road transport cost class 1; reference terminal Lesedi"/>
          <p:cNvSpPr/>
          <p:nvPr/>
        </p:nvSpPr>
        <p:spPr>
          <a:xfrm>
            <a:off x="376192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9" name="Illustrative delivered road transport cost class 1; reference terminal Lesedi"/>
          <p:cNvSpPr/>
          <p:nvPr/>
        </p:nvSpPr>
        <p:spPr>
          <a:xfrm>
            <a:off x="376192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0" name="Illustrative delivered road transport cost class 1; reference terminal Lesedi"/>
          <p:cNvSpPr/>
          <p:nvPr/>
        </p:nvSpPr>
        <p:spPr>
          <a:xfrm>
            <a:off x="376192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1" name="Illustrative delivered road transport cost class 1; reference terminal Lesedi"/>
          <p:cNvSpPr/>
          <p:nvPr/>
        </p:nvSpPr>
        <p:spPr>
          <a:xfrm>
            <a:off x="376192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2" name="Illustrative delivered road transport cost class 2; reference terminal Lesedi"/>
          <p:cNvSpPr/>
          <p:nvPr/>
        </p:nvSpPr>
        <p:spPr>
          <a:xfrm>
            <a:off x="376192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3" name="Illustrative delivered road transport cost class 2; reference terminal Lesedi"/>
          <p:cNvSpPr/>
          <p:nvPr/>
        </p:nvSpPr>
        <p:spPr>
          <a:xfrm>
            <a:off x="376192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4" name="Illustrative delivered road transport cost class 2; reference terminal Lesedi"/>
          <p:cNvSpPr/>
          <p:nvPr/>
        </p:nvSpPr>
        <p:spPr>
          <a:xfrm>
            <a:off x="376192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5" name="Illustrative delivered road transport cost class 1; reference terminal Lesedi"/>
          <p:cNvSpPr/>
          <p:nvPr/>
        </p:nvSpPr>
        <p:spPr>
          <a:xfrm>
            <a:off x="376192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6" name="Illustrative delivered road transport cost class 1; reference terminal Lesedi"/>
          <p:cNvSpPr/>
          <p:nvPr/>
        </p:nvSpPr>
        <p:spPr>
          <a:xfrm>
            <a:off x="3761921" y="3206715"/>
            <a:ext cx="57687" cy="41741"/>
          </a:xfrm>
          <a:custGeom>
            <a:avLst/>
            <a:gdLst/>
            <a:ahLst/>
            <a:cxnLst/>
            <a:rect l="l" t="t" r="r" b="b"/>
            <a:pathLst>
              <a:path w="57687" h="41741">
                <a:moveTo>
                  <a:pt x="57687" y="41741"/>
                </a:moveTo>
                <a:lnTo>
                  <a:pt x="0" y="41741"/>
                </a:lnTo>
                <a:lnTo>
                  <a:pt x="0" y="18991"/>
                </a:lnTo>
                <a:lnTo>
                  <a:pt x="22493" y="15996"/>
                </a:lnTo>
                <a:lnTo>
                  <a:pt x="45088" y="9556"/>
                </a:lnTo>
                <a:lnTo>
                  <a:pt x="57687" y="0"/>
                </a:lnTo>
                <a:lnTo>
                  <a:pt x="57687" y="41741"/>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7" name="Illustrative delivered road transport cost class 2; reference terminal Durban"/>
          <p:cNvSpPr/>
          <p:nvPr/>
        </p:nvSpPr>
        <p:spPr>
          <a:xfrm>
            <a:off x="3819608" y="5325173"/>
            <a:ext cx="21824" cy="19022"/>
          </a:xfrm>
          <a:custGeom>
            <a:avLst/>
            <a:gdLst/>
            <a:ahLst/>
            <a:cxnLst/>
            <a:rect l="l" t="t" r="r" b="b"/>
            <a:pathLst>
              <a:path w="21824" h="19022">
                <a:moveTo>
                  <a:pt x="0" y="0"/>
                </a:moveTo>
                <a:lnTo>
                  <a:pt x="21824" y="0"/>
                </a:lnTo>
                <a:lnTo>
                  <a:pt x="20794" y="12902"/>
                </a:lnTo>
                <a:lnTo>
                  <a:pt x="7112" y="19022"/>
                </a:lnTo>
                <a:lnTo>
                  <a:pt x="0" y="18354"/>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8" name="Illustrative delivered road transport cost class 2; reference terminal Durban"/>
          <p:cNvSpPr/>
          <p:nvPr/>
        </p:nvSpPr>
        <p:spPr>
          <a:xfrm>
            <a:off x="3819608" y="5267486"/>
            <a:ext cx="57686" cy="57687"/>
          </a:xfrm>
          <a:custGeom>
            <a:avLst/>
            <a:gdLst/>
            <a:ahLst/>
            <a:cxnLst/>
            <a:rect l="l" t="t" r="r" b="b"/>
            <a:pathLst>
              <a:path w="57686" h="57687">
                <a:moveTo>
                  <a:pt x="0" y="57687"/>
                </a:moveTo>
                <a:lnTo>
                  <a:pt x="0" y="0"/>
                </a:lnTo>
                <a:lnTo>
                  <a:pt x="57686" y="0"/>
                </a:lnTo>
                <a:lnTo>
                  <a:pt x="57686" y="657"/>
                </a:lnTo>
                <a:lnTo>
                  <a:pt x="57101" y="750"/>
                </a:lnTo>
                <a:lnTo>
                  <a:pt x="24090" y="29307"/>
                </a:lnTo>
                <a:lnTo>
                  <a:pt x="21824"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9" name="Illustrative delivered road transport cost class 2; reference terminal Durban"/>
          <p:cNvSpPr/>
          <p:nvPr/>
        </p:nvSpPr>
        <p:spPr>
          <a:xfrm>
            <a:off x="3819608"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0" name="Illustrative delivered road transport cost class 2; reference terminal Durban"/>
          <p:cNvSpPr/>
          <p:nvPr/>
        </p:nvSpPr>
        <p:spPr>
          <a:xfrm>
            <a:off x="3819608"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1" name="Illustrative delivered road transport cost class 3; reference terminal Durban"/>
          <p:cNvSpPr/>
          <p:nvPr/>
        </p:nvSpPr>
        <p:spPr>
          <a:xfrm>
            <a:off x="3819608"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2" name="Illustrative delivered road transport cost class 3; reference terminal Lesedi"/>
          <p:cNvSpPr/>
          <p:nvPr/>
        </p:nvSpPr>
        <p:spPr>
          <a:xfrm>
            <a:off x="3819608"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3" name="Illustrative delivered road transport cost class 3; reference terminal Lesedi"/>
          <p:cNvSpPr/>
          <p:nvPr/>
        </p:nvSpPr>
        <p:spPr>
          <a:xfrm>
            <a:off x="3819608"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4" name="Illustrative delivered road transport cost class 3; reference terminal Lesedi"/>
          <p:cNvSpPr/>
          <p:nvPr/>
        </p:nvSpPr>
        <p:spPr>
          <a:xfrm>
            <a:off x="3819608"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5" name="Illustrative delivered road transport cost class 3; reference terminal Lesedi"/>
          <p:cNvSpPr/>
          <p:nvPr/>
        </p:nvSpPr>
        <p:spPr>
          <a:xfrm>
            <a:off x="3819608"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6" name="Illustrative delivered road transport cost class 3; reference terminal Lesedi"/>
          <p:cNvSpPr/>
          <p:nvPr/>
        </p:nvSpPr>
        <p:spPr>
          <a:xfrm>
            <a:off x="3819608"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7" name="Illustrative delivered road transport cost class 3; reference terminal Lesedi"/>
          <p:cNvSpPr/>
          <p:nvPr/>
        </p:nvSpPr>
        <p:spPr>
          <a:xfrm>
            <a:off x="3819608"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8" name="Illustrative delivered road transport cost class 3; reference terminal Lesedi"/>
          <p:cNvSpPr/>
          <p:nvPr/>
        </p:nvSpPr>
        <p:spPr>
          <a:xfrm>
            <a:off x="3819608"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9" name="Illustrative delivered road transport cost class 2; reference terminal Lesedi"/>
          <p:cNvSpPr/>
          <p:nvPr/>
        </p:nvSpPr>
        <p:spPr>
          <a:xfrm>
            <a:off x="3819608"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0" name="Illustrative delivered road transport cost class 2; reference terminal Lesedi"/>
          <p:cNvSpPr/>
          <p:nvPr/>
        </p:nvSpPr>
        <p:spPr>
          <a:xfrm>
            <a:off x="3819608"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1" name="Illustrative delivered road transport cost class 2; reference terminal Lesedi"/>
          <p:cNvSpPr/>
          <p:nvPr/>
        </p:nvSpPr>
        <p:spPr>
          <a:xfrm>
            <a:off x="3819608"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2" name="Illustrative delivered road transport cost class 2; reference terminal Lesedi"/>
          <p:cNvSpPr/>
          <p:nvPr/>
        </p:nvSpPr>
        <p:spPr>
          <a:xfrm>
            <a:off x="3819608"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3" name="Illustrative delivered road transport cost class 2; reference terminal Lesedi"/>
          <p:cNvSpPr/>
          <p:nvPr/>
        </p:nvSpPr>
        <p:spPr>
          <a:xfrm>
            <a:off x="3819608"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4" name="Illustrative delivered road transport cost class 2; reference terminal Lesedi"/>
          <p:cNvSpPr/>
          <p:nvPr/>
        </p:nvSpPr>
        <p:spPr>
          <a:xfrm>
            <a:off x="381960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5" name="Illustrative delivered road transport cost class 1; reference terminal Lesedi"/>
          <p:cNvSpPr/>
          <p:nvPr/>
        </p:nvSpPr>
        <p:spPr>
          <a:xfrm>
            <a:off x="381960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6" name="Illustrative delivered road transport cost class 1; reference terminal Lesedi"/>
          <p:cNvSpPr/>
          <p:nvPr/>
        </p:nvSpPr>
        <p:spPr>
          <a:xfrm>
            <a:off x="381960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7" name="Illustrative delivered road transport cost class 1; reference terminal Lesedi"/>
          <p:cNvSpPr/>
          <p:nvPr/>
        </p:nvSpPr>
        <p:spPr>
          <a:xfrm>
            <a:off x="381960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8" name="Illustrative delivered road transport cost class 1; reference terminal Lesedi"/>
          <p:cNvSpPr/>
          <p:nvPr/>
        </p:nvSpPr>
        <p:spPr>
          <a:xfrm>
            <a:off x="381960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9" name="Illustrative delivered road transport cost class 1; reference terminal Lesedi"/>
          <p:cNvSpPr/>
          <p:nvPr/>
        </p:nvSpPr>
        <p:spPr>
          <a:xfrm>
            <a:off x="381960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0" name="Illustrative delivered road transport cost class 1; reference terminal Lesedi"/>
          <p:cNvSpPr/>
          <p:nvPr/>
        </p:nvSpPr>
        <p:spPr>
          <a:xfrm>
            <a:off x="3819608"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1" name="Illustrative delivered road transport cost class 1; reference terminal Lesedi"/>
          <p:cNvSpPr/>
          <p:nvPr/>
        </p:nvSpPr>
        <p:spPr>
          <a:xfrm>
            <a:off x="3819608"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2" name="Illustrative delivered road transport cost class 1; reference terminal Lesedi"/>
          <p:cNvSpPr/>
          <p:nvPr/>
        </p:nvSpPr>
        <p:spPr>
          <a:xfrm>
            <a:off x="3819608"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3" name="Illustrative delivered road transport cost class 1; reference terminal Lesedi"/>
          <p:cNvSpPr/>
          <p:nvPr/>
        </p:nvSpPr>
        <p:spPr>
          <a:xfrm>
            <a:off x="3819608"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4" name="Illustrative delivered road transport cost class 1; reference terminal Lesedi"/>
          <p:cNvSpPr/>
          <p:nvPr/>
        </p:nvSpPr>
        <p:spPr>
          <a:xfrm>
            <a:off x="3819608"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5" name="Illustrative delivered road transport cost class 1; reference terminal Lesedi"/>
          <p:cNvSpPr/>
          <p:nvPr/>
        </p:nvSpPr>
        <p:spPr>
          <a:xfrm>
            <a:off x="3819608"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6" name="Illustrative delivered road transport cost class 1; reference terminal Lesedi"/>
          <p:cNvSpPr/>
          <p:nvPr/>
        </p:nvSpPr>
        <p:spPr>
          <a:xfrm>
            <a:off x="3819608"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7" name="Illustrative delivered road transport cost class 1; reference terminal Lesedi"/>
          <p:cNvSpPr/>
          <p:nvPr/>
        </p:nvSpPr>
        <p:spPr>
          <a:xfrm>
            <a:off x="3819608"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8" name="Illustrative delivered road transport cost class 1; reference terminal Lesedi"/>
          <p:cNvSpPr/>
          <p:nvPr/>
        </p:nvSpPr>
        <p:spPr>
          <a:xfrm>
            <a:off x="3819608"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9" name="Illustrative delivered road transport cost class 1; reference terminal Lesedi"/>
          <p:cNvSpPr/>
          <p:nvPr/>
        </p:nvSpPr>
        <p:spPr>
          <a:xfrm>
            <a:off x="3819608"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0" name="Illustrative delivered road transport cost class 1; reference terminal Lesedi"/>
          <p:cNvSpPr/>
          <p:nvPr/>
        </p:nvSpPr>
        <p:spPr>
          <a:xfrm>
            <a:off x="3819608"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1" name="Illustrative delivered road transport cost class 3; reference terminal Lesedi"/>
          <p:cNvSpPr/>
          <p:nvPr/>
        </p:nvSpPr>
        <p:spPr>
          <a:xfrm>
            <a:off x="3819608"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2" name="Illustrative delivered road transport cost class 1; reference terminal Lesedi"/>
          <p:cNvSpPr/>
          <p:nvPr/>
        </p:nvSpPr>
        <p:spPr>
          <a:xfrm>
            <a:off x="3819608"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3" name="Illustrative delivered road transport cost class 1; reference terminal Lesedi"/>
          <p:cNvSpPr/>
          <p:nvPr/>
        </p:nvSpPr>
        <p:spPr>
          <a:xfrm>
            <a:off x="3819608"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4" name="Illustrative delivered road transport cost class 1; reference terminal Lesedi"/>
          <p:cNvSpPr/>
          <p:nvPr/>
        </p:nvSpPr>
        <p:spPr>
          <a:xfrm>
            <a:off x="3819608" y="3190770"/>
            <a:ext cx="57686" cy="57686"/>
          </a:xfrm>
          <a:custGeom>
            <a:avLst/>
            <a:gdLst/>
            <a:ahLst/>
            <a:cxnLst/>
            <a:rect l="l" t="t" r="r" b="b"/>
            <a:pathLst>
              <a:path w="57686" h="57686">
                <a:moveTo>
                  <a:pt x="57686" y="0"/>
                </a:moveTo>
                <a:lnTo>
                  <a:pt x="57686" y="57686"/>
                </a:lnTo>
                <a:lnTo>
                  <a:pt x="0" y="57686"/>
                </a:lnTo>
                <a:lnTo>
                  <a:pt x="0" y="15945"/>
                </a:lnTo>
                <a:lnTo>
                  <a:pt x="4715" y="12368"/>
                </a:lnTo>
                <a:lnTo>
                  <a:pt x="17853"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5" name="Illustrative delivered road transport cost class 1; reference terminal Lesedi"/>
          <p:cNvSpPr/>
          <p:nvPr/>
        </p:nvSpPr>
        <p:spPr>
          <a:xfrm>
            <a:off x="3837461" y="3133083"/>
            <a:ext cx="39833" cy="57687"/>
          </a:xfrm>
          <a:custGeom>
            <a:avLst/>
            <a:gdLst/>
            <a:ahLst/>
            <a:cxnLst/>
            <a:rect l="l" t="t" r="r" b="b"/>
            <a:pathLst>
              <a:path w="39833" h="57687">
                <a:moveTo>
                  <a:pt x="39833" y="0"/>
                </a:moveTo>
                <a:lnTo>
                  <a:pt x="39833" y="57687"/>
                </a:lnTo>
                <a:lnTo>
                  <a:pt x="0" y="57687"/>
                </a:lnTo>
                <a:lnTo>
                  <a:pt x="2137" y="55675"/>
                </a:lnTo>
                <a:lnTo>
                  <a:pt x="19837" y="12745"/>
                </a:lnTo>
                <a:lnTo>
                  <a:pt x="23626" y="0"/>
                </a:lnTo>
                <a:lnTo>
                  <a:pt x="39833"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6" name="Illustrative delivered road transport cost class 1; reference terminal Lesedi"/>
          <p:cNvSpPr/>
          <p:nvPr/>
        </p:nvSpPr>
        <p:spPr>
          <a:xfrm>
            <a:off x="3861087" y="3086937"/>
            <a:ext cx="16207" cy="46146"/>
          </a:xfrm>
          <a:custGeom>
            <a:avLst/>
            <a:gdLst/>
            <a:ahLst/>
            <a:cxnLst/>
            <a:rect l="l" t="t" r="r" b="b"/>
            <a:pathLst>
              <a:path w="16207" h="46146">
                <a:moveTo>
                  <a:pt x="16207" y="46146"/>
                </a:moveTo>
                <a:lnTo>
                  <a:pt x="0" y="46146"/>
                </a:lnTo>
                <a:lnTo>
                  <a:pt x="6489" y="24315"/>
                </a:lnTo>
                <a:lnTo>
                  <a:pt x="16207" y="0"/>
                </a:lnTo>
                <a:lnTo>
                  <a:pt x="16207" y="4614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7" name="Illustrative delivered road transport cost class 2; reference terminal Durban"/>
          <p:cNvSpPr/>
          <p:nvPr/>
        </p:nvSpPr>
        <p:spPr>
          <a:xfrm>
            <a:off x="3877294" y="5209799"/>
            <a:ext cx="57687" cy="57687"/>
          </a:xfrm>
          <a:custGeom>
            <a:avLst/>
            <a:gdLst/>
            <a:ahLst/>
            <a:cxnLst/>
            <a:rect l="l" t="t" r="r" b="b"/>
            <a:pathLst>
              <a:path w="57687" h="57687">
                <a:moveTo>
                  <a:pt x="0" y="57687"/>
                </a:moveTo>
                <a:lnTo>
                  <a:pt x="0" y="0"/>
                </a:lnTo>
                <a:lnTo>
                  <a:pt x="57687" y="0"/>
                </a:lnTo>
                <a:lnTo>
                  <a:pt x="57687" y="54833"/>
                </a:lnTo>
                <a:lnTo>
                  <a:pt x="38789" y="52153"/>
                </a:lnTo>
                <a:lnTo>
                  <a:pt x="4115"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8" name="Illustrative delivered road transport cost class 2; reference terminal Durban"/>
          <p:cNvSpPr/>
          <p:nvPr/>
        </p:nvSpPr>
        <p:spPr>
          <a:xfrm>
            <a:off x="387729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9" name="Illustrative delivered road transport cost class 2; reference terminal Durban"/>
          <p:cNvSpPr/>
          <p:nvPr/>
        </p:nvSpPr>
        <p:spPr>
          <a:xfrm>
            <a:off x="387729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0" name="Illustrative delivered road transport cost class 2; reference terminal Durban"/>
          <p:cNvSpPr/>
          <p:nvPr/>
        </p:nvSpPr>
        <p:spPr>
          <a:xfrm>
            <a:off x="387729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1" name="Illustrative delivered road transport cost class 3; reference terminal Lesedi"/>
          <p:cNvSpPr/>
          <p:nvPr/>
        </p:nvSpPr>
        <p:spPr>
          <a:xfrm>
            <a:off x="387729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2" name="Illustrative delivered road transport cost class 3; reference terminal Lesedi"/>
          <p:cNvSpPr/>
          <p:nvPr/>
        </p:nvSpPr>
        <p:spPr>
          <a:xfrm>
            <a:off x="387729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3" name="Illustrative delivered road transport cost class 2; reference terminal Durban"/>
          <p:cNvSpPr/>
          <p:nvPr/>
        </p:nvSpPr>
        <p:spPr>
          <a:xfrm>
            <a:off x="387729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4" name="Illustrative delivered road transport cost class 2; reference terminal Durban"/>
          <p:cNvSpPr/>
          <p:nvPr/>
        </p:nvSpPr>
        <p:spPr>
          <a:xfrm>
            <a:off x="387729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5" name="Illustrative delivered road transport cost class 2; reference terminal Durban"/>
          <p:cNvSpPr/>
          <p:nvPr/>
        </p:nvSpPr>
        <p:spPr>
          <a:xfrm>
            <a:off x="387729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 name="Illustrative delivered road transport cost class 2; reference terminal Durban"/>
          <p:cNvSpPr/>
          <p:nvPr/>
        </p:nvSpPr>
        <p:spPr>
          <a:xfrm>
            <a:off x="387729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 name="Illustrative delivered road transport cost class 2; reference terminal Lesedi"/>
          <p:cNvSpPr/>
          <p:nvPr/>
        </p:nvSpPr>
        <p:spPr>
          <a:xfrm>
            <a:off x="387729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8" name="Illustrative delivered road transport cost class 2; reference terminal Lesedi"/>
          <p:cNvSpPr/>
          <p:nvPr/>
        </p:nvSpPr>
        <p:spPr>
          <a:xfrm>
            <a:off x="387729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9" name="Illustrative delivered road transport cost class 2; reference terminal Lesedi"/>
          <p:cNvSpPr/>
          <p:nvPr/>
        </p:nvSpPr>
        <p:spPr>
          <a:xfrm>
            <a:off x="387729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0" name="Illustrative delivered road transport cost class 2; reference terminal Lesedi"/>
          <p:cNvSpPr/>
          <p:nvPr/>
        </p:nvSpPr>
        <p:spPr>
          <a:xfrm>
            <a:off x="387729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1" name="Illustrative delivered road transport cost class 2; reference terminal Lesedi"/>
          <p:cNvSpPr/>
          <p:nvPr/>
        </p:nvSpPr>
        <p:spPr>
          <a:xfrm>
            <a:off x="387729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2" name="Illustrative delivered road transport cost class 2; reference terminal Lesedi"/>
          <p:cNvSpPr/>
          <p:nvPr/>
        </p:nvSpPr>
        <p:spPr>
          <a:xfrm>
            <a:off x="387729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3" name="Illustrative delivered road transport cost class 1; reference terminal Lesedi"/>
          <p:cNvSpPr/>
          <p:nvPr/>
        </p:nvSpPr>
        <p:spPr>
          <a:xfrm>
            <a:off x="387729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4" name="Illustrative delivered road transport cost class 1; reference terminal Lesedi"/>
          <p:cNvSpPr/>
          <p:nvPr/>
        </p:nvSpPr>
        <p:spPr>
          <a:xfrm>
            <a:off x="387729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5" name="Illustrative delivered road transport cost class 1; reference terminal Lesedi"/>
          <p:cNvSpPr/>
          <p:nvPr/>
        </p:nvSpPr>
        <p:spPr>
          <a:xfrm>
            <a:off x="387729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6" name="Illustrative delivered road transport cost class 1; reference terminal Lesedi"/>
          <p:cNvSpPr/>
          <p:nvPr/>
        </p:nvSpPr>
        <p:spPr>
          <a:xfrm>
            <a:off x="387729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7" name="Illustrative delivered road transport cost class 1; reference terminal Lesedi"/>
          <p:cNvSpPr/>
          <p:nvPr/>
        </p:nvSpPr>
        <p:spPr>
          <a:xfrm>
            <a:off x="387729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8" name="Illustrative delivered road transport cost class 1; reference terminal Lesedi"/>
          <p:cNvSpPr/>
          <p:nvPr/>
        </p:nvSpPr>
        <p:spPr>
          <a:xfrm>
            <a:off x="387729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9" name="Illustrative delivered road transport cost class 1; reference terminal Lesedi"/>
          <p:cNvSpPr/>
          <p:nvPr/>
        </p:nvSpPr>
        <p:spPr>
          <a:xfrm>
            <a:off x="387729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0" name="Illustrative delivered road transport cost class 1; reference terminal Lesedi"/>
          <p:cNvSpPr/>
          <p:nvPr/>
        </p:nvSpPr>
        <p:spPr>
          <a:xfrm>
            <a:off x="387729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1" name="Illustrative delivered road transport cost class 1; reference terminal Lesedi"/>
          <p:cNvSpPr/>
          <p:nvPr/>
        </p:nvSpPr>
        <p:spPr>
          <a:xfrm>
            <a:off x="387729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2" name="Illustrative delivered road transport cost class 1; reference terminal Lesedi"/>
          <p:cNvSpPr/>
          <p:nvPr/>
        </p:nvSpPr>
        <p:spPr>
          <a:xfrm>
            <a:off x="387729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3" name="Illustrative delivered road transport cost class 1; reference terminal Lesedi"/>
          <p:cNvSpPr/>
          <p:nvPr/>
        </p:nvSpPr>
        <p:spPr>
          <a:xfrm>
            <a:off x="387729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4" name="Illustrative delivered road transport cost class 1; reference terminal Lesedi"/>
          <p:cNvSpPr/>
          <p:nvPr/>
        </p:nvSpPr>
        <p:spPr>
          <a:xfrm>
            <a:off x="387729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5" name="Illustrative delivered road transport cost class 0; reference terminal Lesedi"/>
          <p:cNvSpPr/>
          <p:nvPr/>
        </p:nvSpPr>
        <p:spPr>
          <a:xfrm>
            <a:off x="387729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6" name="Illustrative delivered road transport cost class 0; reference terminal Lesedi"/>
          <p:cNvSpPr/>
          <p:nvPr/>
        </p:nvSpPr>
        <p:spPr>
          <a:xfrm>
            <a:off x="387729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7" name="Illustrative delivered road transport cost class 0; reference terminal Lesedi"/>
          <p:cNvSpPr/>
          <p:nvPr/>
        </p:nvSpPr>
        <p:spPr>
          <a:xfrm>
            <a:off x="387729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8" name="Illustrative delivered road transport cost class 0; reference terminal Lesedi"/>
          <p:cNvSpPr/>
          <p:nvPr/>
        </p:nvSpPr>
        <p:spPr>
          <a:xfrm>
            <a:off x="387729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9" name="Illustrative delivered road transport cost class 0; reference terminal Lesedi"/>
          <p:cNvSpPr/>
          <p:nvPr/>
        </p:nvSpPr>
        <p:spPr>
          <a:xfrm>
            <a:off x="387729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0" name="Illustrative delivered road transport cost class 1; reference terminal Lesedi"/>
          <p:cNvSpPr/>
          <p:nvPr/>
        </p:nvSpPr>
        <p:spPr>
          <a:xfrm>
            <a:off x="387729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1" name="Illustrative delivered road transport cost class 1; reference terminal Lesedi"/>
          <p:cNvSpPr/>
          <p:nvPr/>
        </p:nvSpPr>
        <p:spPr>
          <a:xfrm>
            <a:off x="387729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2" name="Illustrative delivered road transport cost class 1; reference terminal Lesedi"/>
          <p:cNvSpPr/>
          <p:nvPr/>
        </p:nvSpPr>
        <p:spPr>
          <a:xfrm>
            <a:off x="387729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3" name="Illustrative delivered road transport cost class 1; reference terminal Lesedi"/>
          <p:cNvSpPr/>
          <p:nvPr/>
        </p:nvSpPr>
        <p:spPr>
          <a:xfrm>
            <a:off x="387729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4" name="Illustrative delivered road transport cost class 1; reference terminal Lesedi"/>
          <p:cNvSpPr/>
          <p:nvPr/>
        </p:nvSpPr>
        <p:spPr>
          <a:xfrm>
            <a:off x="3877294" y="3075396"/>
            <a:ext cx="57687" cy="57687"/>
          </a:xfrm>
          <a:custGeom>
            <a:avLst/>
            <a:gdLst/>
            <a:ahLst/>
            <a:cxnLst/>
            <a:rect l="l" t="t" r="r" b="b"/>
            <a:pathLst>
              <a:path w="57687" h="57687">
                <a:moveTo>
                  <a:pt x="57687" y="0"/>
                </a:moveTo>
                <a:lnTo>
                  <a:pt x="57687" y="57687"/>
                </a:lnTo>
                <a:lnTo>
                  <a:pt x="0" y="57687"/>
                </a:lnTo>
                <a:lnTo>
                  <a:pt x="0" y="11541"/>
                </a:lnTo>
                <a:lnTo>
                  <a:pt x="461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5" name="Illustrative delivered road transport cost class 1; reference terminal Lesedi"/>
          <p:cNvSpPr/>
          <p:nvPr/>
        </p:nvSpPr>
        <p:spPr>
          <a:xfrm>
            <a:off x="3881907" y="3017710"/>
            <a:ext cx="53074" cy="57686"/>
          </a:xfrm>
          <a:custGeom>
            <a:avLst/>
            <a:gdLst/>
            <a:ahLst/>
            <a:cxnLst/>
            <a:rect l="l" t="t" r="r" b="b"/>
            <a:pathLst>
              <a:path w="53074" h="57686">
                <a:moveTo>
                  <a:pt x="53074" y="0"/>
                </a:moveTo>
                <a:lnTo>
                  <a:pt x="53074" y="57686"/>
                </a:lnTo>
                <a:lnTo>
                  <a:pt x="0" y="57686"/>
                </a:lnTo>
                <a:lnTo>
                  <a:pt x="1547" y="53815"/>
                </a:lnTo>
                <a:lnTo>
                  <a:pt x="21099" y="0"/>
                </a:lnTo>
                <a:lnTo>
                  <a:pt x="5307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6" name="Illustrative delivered road transport cost class 1; reference terminal Lesedi"/>
          <p:cNvSpPr/>
          <p:nvPr/>
        </p:nvSpPr>
        <p:spPr>
          <a:xfrm>
            <a:off x="3903006" y="2962694"/>
            <a:ext cx="31975" cy="55016"/>
          </a:xfrm>
          <a:custGeom>
            <a:avLst/>
            <a:gdLst/>
            <a:ahLst/>
            <a:cxnLst/>
            <a:rect l="l" t="t" r="r" b="b"/>
            <a:pathLst>
              <a:path w="31975" h="55016">
                <a:moveTo>
                  <a:pt x="31975" y="55016"/>
                </a:moveTo>
                <a:lnTo>
                  <a:pt x="0" y="55016"/>
                </a:lnTo>
                <a:lnTo>
                  <a:pt x="8" y="54996"/>
                </a:lnTo>
                <a:lnTo>
                  <a:pt x="7115" y="17425"/>
                </a:lnTo>
                <a:lnTo>
                  <a:pt x="14254" y="7124"/>
                </a:lnTo>
                <a:lnTo>
                  <a:pt x="31975" y="0"/>
                </a:lnTo>
                <a:lnTo>
                  <a:pt x="31975" y="5501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7" name="Illustrative delivered road transport cost class 2; reference terminal Durban"/>
          <p:cNvSpPr/>
          <p:nvPr/>
        </p:nvSpPr>
        <p:spPr>
          <a:xfrm>
            <a:off x="3955112" y="5267486"/>
            <a:ext cx="37555" cy="5325"/>
          </a:xfrm>
          <a:custGeom>
            <a:avLst/>
            <a:gdLst/>
            <a:ahLst/>
            <a:cxnLst/>
            <a:rect l="l" t="t" r="r" b="b"/>
            <a:pathLst>
              <a:path w="37555" h="5325">
                <a:moveTo>
                  <a:pt x="37555" y="0"/>
                </a:moveTo>
                <a:lnTo>
                  <a:pt x="37555" y="5325"/>
                </a:lnTo>
                <a:lnTo>
                  <a:pt x="0" y="0"/>
                </a:lnTo>
                <a:lnTo>
                  <a:pt x="37555"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8" name="Illustrative delivered road transport cost class 2; reference terminal Durban"/>
          <p:cNvSpPr/>
          <p:nvPr/>
        </p:nvSpPr>
        <p:spPr>
          <a:xfrm>
            <a:off x="3934981" y="5209799"/>
            <a:ext cx="57686" cy="57687"/>
          </a:xfrm>
          <a:custGeom>
            <a:avLst/>
            <a:gdLst/>
            <a:ahLst/>
            <a:cxnLst/>
            <a:rect l="l" t="t" r="r" b="b"/>
            <a:pathLst>
              <a:path w="57686" h="57687">
                <a:moveTo>
                  <a:pt x="0" y="0"/>
                </a:moveTo>
                <a:lnTo>
                  <a:pt x="57686" y="0"/>
                </a:lnTo>
                <a:lnTo>
                  <a:pt x="57686" y="57687"/>
                </a:lnTo>
                <a:lnTo>
                  <a:pt x="20131" y="57687"/>
                </a:lnTo>
                <a:lnTo>
                  <a:pt x="0" y="5483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9" name="Illustrative delivered road transport cost class 2; reference terminal Durban"/>
          <p:cNvSpPr/>
          <p:nvPr/>
        </p:nvSpPr>
        <p:spPr>
          <a:xfrm>
            <a:off x="3934981"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0" name="Illustrative delivered road transport cost class 2; reference terminal Durban"/>
          <p:cNvSpPr/>
          <p:nvPr/>
        </p:nvSpPr>
        <p:spPr>
          <a:xfrm>
            <a:off x="393498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1" name="Illustrative delivered road transport cost class 2; reference terminal Durban"/>
          <p:cNvSpPr/>
          <p:nvPr/>
        </p:nvSpPr>
        <p:spPr>
          <a:xfrm>
            <a:off x="393498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2" name="Illustrative delivered road transport cost class 3; reference terminal Lesedi"/>
          <p:cNvSpPr/>
          <p:nvPr/>
        </p:nvSpPr>
        <p:spPr>
          <a:xfrm>
            <a:off x="393498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3" name="Illustrative delivered road transport cost class 2; reference terminal Durban"/>
          <p:cNvSpPr/>
          <p:nvPr/>
        </p:nvSpPr>
        <p:spPr>
          <a:xfrm>
            <a:off x="393498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4" name="Illustrative delivered road transport cost class 2; reference terminal Durban"/>
          <p:cNvSpPr/>
          <p:nvPr/>
        </p:nvSpPr>
        <p:spPr>
          <a:xfrm>
            <a:off x="393498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5" name="Illustrative delivered road transport cost class 2; reference terminal Durban"/>
          <p:cNvSpPr/>
          <p:nvPr/>
        </p:nvSpPr>
        <p:spPr>
          <a:xfrm>
            <a:off x="393498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6" name="Illustrative delivered road transport cost class 2; reference terminal Durban"/>
          <p:cNvSpPr/>
          <p:nvPr/>
        </p:nvSpPr>
        <p:spPr>
          <a:xfrm>
            <a:off x="393498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7" name="Illustrative delivered road transport cost class 2; reference terminal Durban"/>
          <p:cNvSpPr/>
          <p:nvPr/>
        </p:nvSpPr>
        <p:spPr>
          <a:xfrm>
            <a:off x="393498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8" name="Illustrative delivered road transport cost class 2; reference terminal Lesedi"/>
          <p:cNvSpPr/>
          <p:nvPr/>
        </p:nvSpPr>
        <p:spPr>
          <a:xfrm>
            <a:off x="393498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9" name="Illustrative delivered road transport cost class 2; reference terminal Lesedi"/>
          <p:cNvSpPr/>
          <p:nvPr/>
        </p:nvSpPr>
        <p:spPr>
          <a:xfrm>
            <a:off x="393498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0" name="Illustrative delivered road transport cost class 2; reference terminal Lesedi"/>
          <p:cNvSpPr/>
          <p:nvPr/>
        </p:nvSpPr>
        <p:spPr>
          <a:xfrm>
            <a:off x="393498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1" name="Illustrative delivered road transport cost class 2; reference terminal Lesedi"/>
          <p:cNvSpPr/>
          <p:nvPr/>
        </p:nvSpPr>
        <p:spPr>
          <a:xfrm>
            <a:off x="393498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2" name="Illustrative delivered road transport cost class 2; reference terminal Lesedi"/>
          <p:cNvSpPr/>
          <p:nvPr/>
        </p:nvSpPr>
        <p:spPr>
          <a:xfrm>
            <a:off x="393498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3" name="Illustrative delivered road transport cost class 2; reference terminal Lesedi"/>
          <p:cNvSpPr/>
          <p:nvPr/>
        </p:nvSpPr>
        <p:spPr>
          <a:xfrm>
            <a:off x="393498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4" name="Illustrative delivered road transport cost class 1; reference terminal Lesedi"/>
          <p:cNvSpPr/>
          <p:nvPr/>
        </p:nvSpPr>
        <p:spPr>
          <a:xfrm>
            <a:off x="393498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5" name="Illustrative delivered road transport cost class 1; reference terminal Lesedi"/>
          <p:cNvSpPr/>
          <p:nvPr/>
        </p:nvSpPr>
        <p:spPr>
          <a:xfrm>
            <a:off x="393498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6" name="Illustrative delivered road transport cost class 1; reference terminal Lesedi"/>
          <p:cNvSpPr/>
          <p:nvPr/>
        </p:nvSpPr>
        <p:spPr>
          <a:xfrm>
            <a:off x="393498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7" name="Illustrative delivered road transport cost class 1; reference terminal Lesedi"/>
          <p:cNvSpPr/>
          <p:nvPr/>
        </p:nvSpPr>
        <p:spPr>
          <a:xfrm>
            <a:off x="393498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8" name="Illustrative delivered road transport cost class 1; reference terminal Lesedi"/>
          <p:cNvSpPr/>
          <p:nvPr/>
        </p:nvSpPr>
        <p:spPr>
          <a:xfrm>
            <a:off x="393498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9" name="Illustrative delivered road transport cost class 1; reference terminal Lesedi"/>
          <p:cNvSpPr/>
          <p:nvPr/>
        </p:nvSpPr>
        <p:spPr>
          <a:xfrm>
            <a:off x="393498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0" name="Illustrative delivered road transport cost class 1; reference terminal Lesedi"/>
          <p:cNvSpPr/>
          <p:nvPr/>
        </p:nvSpPr>
        <p:spPr>
          <a:xfrm>
            <a:off x="393498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1" name="Illustrative delivered road transport cost class 1; reference terminal Lesedi"/>
          <p:cNvSpPr/>
          <p:nvPr/>
        </p:nvSpPr>
        <p:spPr>
          <a:xfrm>
            <a:off x="393498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2" name="Illustrative delivered road transport cost class 1; reference terminal Lesedi"/>
          <p:cNvSpPr/>
          <p:nvPr/>
        </p:nvSpPr>
        <p:spPr>
          <a:xfrm>
            <a:off x="393498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3" name="Illustrative delivered road transport cost class 1; reference terminal Lesedi"/>
          <p:cNvSpPr/>
          <p:nvPr/>
        </p:nvSpPr>
        <p:spPr>
          <a:xfrm>
            <a:off x="393498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4" name="Illustrative delivered road transport cost class 1; reference terminal Lesedi"/>
          <p:cNvSpPr/>
          <p:nvPr/>
        </p:nvSpPr>
        <p:spPr>
          <a:xfrm>
            <a:off x="393498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5" name="Illustrative delivered road transport cost class 0; reference terminal Lesedi"/>
          <p:cNvSpPr/>
          <p:nvPr/>
        </p:nvSpPr>
        <p:spPr>
          <a:xfrm>
            <a:off x="393498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6" name="Illustrative delivered road transport cost class 0; reference terminal Lesedi"/>
          <p:cNvSpPr/>
          <p:nvPr/>
        </p:nvSpPr>
        <p:spPr>
          <a:xfrm>
            <a:off x="393498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7" name="Illustrative delivered road transport cost class 0; reference terminal Lesedi"/>
          <p:cNvSpPr/>
          <p:nvPr/>
        </p:nvSpPr>
        <p:spPr>
          <a:xfrm>
            <a:off x="393498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8" name="Illustrative delivered road transport cost class 0; reference terminal Lesedi"/>
          <p:cNvSpPr/>
          <p:nvPr/>
        </p:nvSpPr>
        <p:spPr>
          <a:xfrm>
            <a:off x="393498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9" name="Illustrative delivered road transport cost class 0; reference terminal Lesedi"/>
          <p:cNvSpPr/>
          <p:nvPr/>
        </p:nvSpPr>
        <p:spPr>
          <a:xfrm>
            <a:off x="393498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0" name="Illustrative delivered road transport cost class 0; reference terminal Lesedi"/>
          <p:cNvSpPr/>
          <p:nvPr/>
        </p:nvSpPr>
        <p:spPr>
          <a:xfrm>
            <a:off x="393498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1" name="Illustrative delivered road transport cost class 0; reference terminal Lesedi"/>
          <p:cNvSpPr/>
          <p:nvPr/>
        </p:nvSpPr>
        <p:spPr>
          <a:xfrm>
            <a:off x="393498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2" name="Illustrative delivered road transport cost class 1; reference terminal Lesedi"/>
          <p:cNvSpPr/>
          <p:nvPr/>
        </p:nvSpPr>
        <p:spPr>
          <a:xfrm>
            <a:off x="393498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3" name="Illustrative delivered road transport cost class 1; reference terminal Lesedi"/>
          <p:cNvSpPr/>
          <p:nvPr/>
        </p:nvSpPr>
        <p:spPr>
          <a:xfrm>
            <a:off x="393498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4" name="Illustrative delivered road transport cost class 1; reference terminal Lesedi"/>
          <p:cNvSpPr/>
          <p:nvPr/>
        </p:nvSpPr>
        <p:spPr>
          <a:xfrm>
            <a:off x="393498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5" name="Illustrative delivered road transport cost class 1; reference terminal Lesedi"/>
          <p:cNvSpPr/>
          <p:nvPr/>
        </p:nvSpPr>
        <p:spPr>
          <a:xfrm>
            <a:off x="393498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6" name="Illustrative delivered road transport cost class 1; reference terminal Lesedi"/>
          <p:cNvSpPr/>
          <p:nvPr/>
        </p:nvSpPr>
        <p:spPr>
          <a:xfrm>
            <a:off x="393498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7" name="Illustrative delivered road transport cost class 1; reference terminal Lesedi"/>
          <p:cNvSpPr/>
          <p:nvPr/>
        </p:nvSpPr>
        <p:spPr>
          <a:xfrm>
            <a:off x="3934981" y="2960023"/>
            <a:ext cx="57686" cy="57687"/>
          </a:xfrm>
          <a:custGeom>
            <a:avLst/>
            <a:gdLst/>
            <a:ahLst/>
            <a:cxnLst/>
            <a:rect l="l" t="t" r="r" b="b"/>
            <a:pathLst>
              <a:path w="57686" h="57687">
                <a:moveTo>
                  <a:pt x="57686" y="0"/>
                </a:moveTo>
                <a:lnTo>
                  <a:pt x="57686" y="57687"/>
                </a:lnTo>
                <a:lnTo>
                  <a:pt x="0" y="57687"/>
                </a:lnTo>
                <a:lnTo>
                  <a:pt x="0" y="2671"/>
                </a:lnTo>
                <a:lnTo>
                  <a:pt x="6641"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8" name="Illustrative delivered road transport cost class 1; reference terminal Lesedi"/>
          <p:cNvSpPr/>
          <p:nvPr/>
        </p:nvSpPr>
        <p:spPr>
          <a:xfrm>
            <a:off x="3941622" y="2945357"/>
            <a:ext cx="51045" cy="14666"/>
          </a:xfrm>
          <a:custGeom>
            <a:avLst/>
            <a:gdLst/>
            <a:ahLst/>
            <a:cxnLst/>
            <a:rect l="l" t="t" r="r" b="b"/>
            <a:pathLst>
              <a:path w="51045" h="14666">
                <a:moveTo>
                  <a:pt x="51045" y="14666"/>
                </a:moveTo>
                <a:lnTo>
                  <a:pt x="0" y="14666"/>
                </a:lnTo>
                <a:lnTo>
                  <a:pt x="3690" y="13183"/>
                </a:lnTo>
                <a:lnTo>
                  <a:pt x="26892" y="5479"/>
                </a:lnTo>
                <a:lnTo>
                  <a:pt x="51045" y="0"/>
                </a:lnTo>
                <a:lnTo>
                  <a:pt x="51045" y="1466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9" name="Illustrative delivered road transport cost class 2; reference terminal Durban"/>
          <p:cNvSpPr/>
          <p:nvPr/>
        </p:nvSpPr>
        <p:spPr>
          <a:xfrm>
            <a:off x="3992667" y="5267486"/>
            <a:ext cx="41532" cy="7796"/>
          </a:xfrm>
          <a:custGeom>
            <a:avLst/>
            <a:gdLst/>
            <a:ahLst/>
            <a:cxnLst/>
            <a:rect l="l" t="t" r="r" b="b"/>
            <a:pathLst>
              <a:path w="41532" h="7796">
                <a:moveTo>
                  <a:pt x="0" y="0"/>
                </a:moveTo>
                <a:lnTo>
                  <a:pt x="41532" y="0"/>
                </a:lnTo>
                <a:lnTo>
                  <a:pt x="17428" y="7796"/>
                </a:lnTo>
                <a:lnTo>
                  <a:pt x="0" y="5325"/>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0" name="Illustrative delivered road transport cost class 2; reference terminal Durban"/>
          <p:cNvSpPr/>
          <p:nvPr/>
        </p:nvSpPr>
        <p:spPr>
          <a:xfrm>
            <a:off x="3992667" y="5209799"/>
            <a:ext cx="57687" cy="57687"/>
          </a:xfrm>
          <a:custGeom>
            <a:avLst/>
            <a:gdLst/>
            <a:ahLst/>
            <a:cxnLst/>
            <a:rect l="l" t="t" r="r" b="b"/>
            <a:pathLst>
              <a:path w="57687" h="57687">
                <a:moveTo>
                  <a:pt x="0" y="57687"/>
                </a:moveTo>
                <a:lnTo>
                  <a:pt x="0" y="0"/>
                </a:lnTo>
                <a:lnTo>
                  <a:pt x="57687" y="0"/>
                </a:lnTo>
                <a:lnTo>
                  <a:pt x="57687" y="52373"/>
                </a:lnTo>
                <a:lnTo>
                  <a:pt x="57034" y="52673"/>
                </a:lnTo>
                <a:lnTo>
                  <a:pt x="4153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1" name="Illustrative delivered road transport cost class 2; reference terminal Durban"/>
          <p:cNvSpPr/>
          <p:nvPr/>
        </p:nvSpPr>
        <p:spPr>
          <a:xfrm>
            <a:off x="399266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2" name="Illustrative delivered road transport cost class 2; reference terminal Durban"/>
          <p:cNvSpPr/>
          <p:nvPr/>
        </p:nvSpPr>
        <p:spPr>
          <a:xfrm>
            <a:off x="399266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3" name="Illustrative delivered road transport cost class 2; reference terminal Durban"/>
          <p:cNvSpPr/>
          <p:nvPr/>
        </p:nvSpPr>
        <p:spPr>
          <a:xfrm>
            <a:off x="399266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4" name="Illustrative delivered road transport cost class 2; reference terminal Durban"/>
          <p:cNvSpPr/>
          <p:nvPr/>
        </p:nvSpPr>
        <p:spPr>
          <a:xfrm>
            <a:off x="399266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5" name="Illustrative delivered road transport cost class 2; reference terminal Durban"/>
          <p:cNvSpPr/>
          <p:nvPr/>
        </p:nvSpPr>
        <p:spPr>
          <a:xfrm>
            <a:off x="399266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6" name="Illustrative delivered road transport cost class 2; reference terminal Durban"/>
          <p:cNvSpPr/>
          <p:nvPr/>
        </p:nvSpPr>
        <p:spPr>
          <a:xfrm>
            <a:off x="399266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7" name="Illustrative delivered road transport cost class 2; reference terminal Durban"/>
          <p:cNvSpPr/>
          <p:nvPr/>
        </p:nvSpPr>
        <p:spPr>
          <a:xfrm>
            <a:off x="399266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8" name="Illustrative delivered road transport cost class 2; reference terminal Durban"/>
          <p:cNvSpPr/>
          <p:nvPr/>
        </p:nvSpPr>
        <p:spPr>
          <a:xfrm>
            <a:off x="399266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9" name="Illustrative delivered road transport cost class 2; reference terminal Lesedi"/>
          <p:cNvSpPr/>
          <p:nvPr/>
        </p:nvSpPr>
        <p:spPr>
          <a:xfrm>
            <a:off x="399266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0" name="Illustrative delivered road transport cost class 2; reference terminal Lesedi"/>
          <p:cNvSpPr/>
          <p:nvPr/>
        </p:nvSpPr>
        <p:spPr>
          <a:xfrm>
            <a:off x="399266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1" name="Illustrative delivered road transport cost class 2; reference terminal Lesedi"/>
          <p:cNvSpPr/>
          <p:nvPr/>
        </p:nvSpPr>
        <p:spPr>
          <a:xfrm>
            <a:off x="399266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2" name="Illustrative delivered road transport cost class 2; reference terminal Lesedi"/>
          <p:cNvSpPr/>
          <p:nvPr/>
        </p:nvSpPr>
        <p:spPr>
          <a:xfrm>
            <a:off x="399266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3" name="Illustrative delivered road transport cost class 2; reference terminal Lesedi"/>
          <p:cNvSpPr/>
          <p:nvPr/>
        </p:nvSpPr>
        <p:spPr>
          <a:xfrm>
            <a:off x="399266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4" name="Illustrative delivered road transport cost class 2; reference terminal Lesedi"/>
          <p:cNvSpPr/>
          <p:nvPr/>
        </p:nvSpPr>
        <p:spPr>
          <a:xfrm>
            <a:off x="399266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5" name="Illustrative delivered road transport cost class 2; reference terminal Lesedi"/>
          <p:cNvSpPr/>
          <p:nvPr/>
        </p:nvSpPr>
        <p:spPr>
          <a:xfrm>
            <a:off x="399266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6" name="Illustrative delivered road transport cost class 1; reference terminal Lesedi"/>
          <p:cNvSpPr/>
          <p:nvPr/>
        </p:nvSpPr>
        <p:spPr>
          <a:xfrm>
            <a:off x="399266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7" name="Illustrative delivered road transport cost class 1; reference terminal Lesedi"/>
          <p:cNvSpPr/>
          <p:nvPr/>
        </p:nvSpPr>
        <p:spPr>
          <a:xfrm>
            <a:off x="399266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8" name="Illustrative delivered road transport cost class 1; reference terminal Lesedi"/>
          <p:cNvSpPr/>
          <p:nvPr/>
        </p:nvSpPr>
        <p:spPr>
          <a:xfrm>
            <a:off x="399266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9" name="Illustrative delivered road transport cost class 1; reference terminal Lesedi"/>
          <p:cNvSpPr/>
          <p:nvPr/>
        </p:nvSpPr>
        <p:spPr>
          <a:xfrm>
            <a:off x="399266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0" name="Illustrative delivered road transport cost class 1; reference terminal Lesedi"/>
          <p:cNvSpPr/>
          <p:nvPr/>
        </p:nvSpPr>
        <p:spPr>
          <a:xfrm>
            <a:off x="399266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1" name="Illustrative delivered road transport cost class 1; reference terminal Lesedi"/>
          <p:cNvSpPr/>
          <p:nvPr/>
        </p:nvSpPr>
        <p:spPr>
          <a:xfrm>
            <a:off x="399266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2" name="Illustrative delivered road transport cost class 1; reference terminal Lesedi"/>
          <p:cNvSpPr/>
          <p:nvPr/>
        </p:nvSpPr>
        <p:spPr>
          <a:xfrm>
            <a:off x="399266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3" name="Illustrative delivered road transport cost class 1; reference terminal Lesedi"/>
          <p:cNvSpPr/>
          <p:nvPr/>
        </p:nvSpPr>
        <p:spPr>
          <a:xfrm>
            <a:off x="399266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4" name="Illustrative delivered road transport cost class 1; reference terminal Lesedi"/>
          <p:cNvSpPr/>
          <p:nvPr/>
        </p:nvSpPr>
        <p:spPr>
          <a:xfrm>
            <a:off x="399266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5" name="Illustrative delivered road transport cost class 1; reference terminal Lesedi"/>
          <p:cNvSpPr/>
          <p:nvPr/>
        </p:nvSpPr>
        <p:spPr>
          <a:xfrm>
            <a:off x="399266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6" name="Illustrative delivered road transport cost class 1; reference terminal Lesedi"/>
          <p:cNvSpPr/>
          <p:nvPr/>
        </p:nvSpPr>
        <p:spPr>
          <a:xfrm>
            <a:off x="399266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7" name="Illustrative delivered road transport cost class 0; reference terminal Lesedi"/>
          <p:cNvSpPr/>
          <p:nvPr/>
        </p:nvSpPr>
        <p:spPr>
          <a:xfrm>
            <a:off x="399266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8" name="Illustrative delivered road transport cost class 0; reference terminal Lesedi"/>
          <p:cNvSpPr/>
          <p:nvPr/>
        </p:nvSpPr>
        <p:spPr>
          <a:xfrm>
            <a:off x="399266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9" name="Illustrative delivered road transport cost class 0; reference terminal Lesedi"/>
          <p:cNvSpPr/>
          <p:nvPr/>
        </p:nvSpPr>
        <p:spPr>
          <a:xfrm>
            <a:off x="399266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0" name="Illustrative delivered road transport cost class 0; reference terminal Lesedi"/>
          <p:cNvSpPr/>
          <p:nvPr/>
        </p:nvSpPr>
        <p:spPr>
          <a:xfrm>
            <a:off x="399266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1" name="Illustrative delivered road transport cost class 0; reference terminal Lesedi"/>
          <p:cNvSpPr/>
          <p:nvPr/>
        </p:nvSpPr>
        <p:spPr>
          <a:xfrm>
            <a:off x="399266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2" name="Illustrative delivered road transport cost class 0; reference terminal Lesedi"/>
          <p:cNvSpPr/>
          <p:nvPr/>
        </p:nvSpPr>
        <p:spPr>
          <a:xfrm>
            <a:off x="399266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3" name="Illustrative delivered road transport cost class 0; reference terminal Lesedi"/>
          <p:cNvSpPr/>
          <p:nvPr/>
        </p:nvSpPr>
        <p:spPr>
          <a:xfrm>
            <a:off x="399266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4" name="Illustrative delivered road transport cost class 0; reference terminal Lesedi"/>
          <p:cNvSpPr/>
          <p:nvPr/>
        </p:nvSpPr>
        <p:spPr>
          <a:xfrm>
            <a:off x="399266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5" name="Illustrative delivered road transport cost class 0; reference terminal Lesedi"/>
          <p:cNvSpPr/>
          <p:nvPr/>
        </p:nvSpPr>
        <p:spPr>
          <a:xfrm>
            <a:off x="399266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6" name="Illustrative delivered road transport cost class 0; reference terminal Lesedi"/>
          <p:cNvSpPr/>
          <p:nvPr/>
        </p:nvSpPr>
        <p:spPr>
          <a:xfrm>
            <a:off x="399266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7" name="Illustrative delivered road transport cost class 0; reference terminal Lesedi"/>
          <p:cNvSpPr/>
          <p:nvPr/>
        </p:nvSpPr>
        <p:spPr>
          <a:xfrm>
            <a:off x="399266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8" name="Illustrative delivered road transport cost class 1; reference terminal Lesedi"/>
          <p:cNvSpPr/>
          <p:nvPr/>
        </p:nvSpPr>
        <p:spPr>
          <a:xfrm>
            <a:off x="399266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9" name="Illustrative delivered road transport cost class 1; reference terminal Lesedi"/>
          <p:cNvSpPr/>
          <p:nvPr/>
        </p:nvSpPr>
        <p:spPr>
          <a:xfrm>
            <a:off x="399266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0" name="Illustrative delivered road transport cost class 1; reference terminal Lesedi"/>
          <p:cNvSpPr/>
          <p:nvPr/>
        </p:nvSpPr>
        <p:spPr>
          <a:xfrm>
            <a:off x="3992667" y="2919144"/>
            <a:ext cx="57687" cy="40879"/>
          </a:xfrm>
          <a:custGeom>
            <a:avLst/>
            <a:gdLst/>
            <a:ahLst/>
            <a:cxnLst/>
            <a:rect l="l" t="t" r="r" b="b"/>
            <a:pathLst>
              <a:path w="57687" h="40879">
                <a:moveTo>
                  <a:pt x="57687" y="40879"/>
                </a:moveTo>
                <a:lnTo>
                  <a:pt x="0" y="40879"/>
                </a:lnTo>
                <a:lnTo>
                  <a:pt x="0" y="26213"/>
                </a:lnTo>
                <a:lnTo>
                  <a:pt x="38235" y="17540"/>
                </a:lnTo>
                <a:lnTo>
                  <a:pt x="51084" y="9806"/>
                </a:lnTo>
                <a:lnTo>
                  <a:pt x="57687" y="0"/>
                </a:lnTo>
                <a:lnTo>
                  <a:pt x="57687" y="4087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1" name="Illustrative delivered road transport cost class 2; reference terminal Durban"/>
          <p:cNvSpPr/>
          <p:nvPr/>
        </p:nvSpPr>
        <p:spPr>
          <a:xfrm>
            <a:off x="4050354" y="5209799"/>
            <a:ext cx="57687" cy="52373"/>
          </a:xfrm>
          <a:custGeom>
            <a:avLst/>
            <a:gdLst/>
            <a:ahLst/>
            <a:cxnLst/>
            <a:rect l="l" t="t" r="r" b="b"/>
            <a:pathLst>
              <a:path w="57687" h="52373">
                <a:moveTo>
                  <a:pt x="0" y="0"/>
                </a:moveTo>
                <a:lnTo>
                  <a:pt x="57687" y="0"/>
                </a:lnTo>
                <a:lnTo>
                  <a:pt x="57687" y="25879"/>
                </a:lnTo>
                <a:lnTo>
                  <a:pt x="0" y="5237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2" name="Illustrative delivered road transport cost class 2; reference terminal Durban"/>
          <p:cNvSpPr/>
          <p:nvPr/>
        </p:nvSpPr>
        <p:spPr>
          <a:xfrm>
            <a:off x="405035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3" name="Illustrative delivered road transport cost class 2; reference terminal Durban"/>
          <p:cNvSpPr/>
          <p:nvPr/>
        </p:nvSpPr>
        <p:spPr>
          <a:xfrm>
            <a:off x="405035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4" name="Illustrative delivered road transport cost class 2; reference terminal Durban"/>
          <p:cNvSpPr/>
          <p:nvPr/>
        </p:nvSpPr>
        <p:spPr>
          <a:xfrm>
            <a:off x="405035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5" name="Illustrative delivered road transport cost class 2; reference terminal Durban"/>
          <p:cNvSpPr/>
          <p:nvPr/>
        </p:nvSpPr>
        <p:spPr>
          <a:xfrm>
            <a:off x="405035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6" name="Illustrative delivered road transport cost class 2; reference terminal Durban"/>
          <p:cNvSpPr/>
          <p:nvPr/>
        </p:nvSpPr>
        <p:spPr>
          <a:xfrm>
            <a:off x="405035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7" name="Illustrative delivered road transport cost class 2; reference terminal Durban"/>
          <p:cNvSpPr/>
          <p:nvPr/>
        </p:nvSpPr>
        <p:spPr>
          <a:xfrm>
            <a:off x="405035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8" name="Illustrative delivered road transport cost class 2; reference terminal Durban"/>
          <p:cNvSpPr/>
          <p:nvPr/>
        </p:nvSpPr>
        <p:spPr>
          <a:xfrm>
            <a:off x="405035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9" name="Illustrative delivered road transport cost class 2; reference terminal Durban"/>
          <p:cNvSpPr/>
          <p:nvPr/>
        </p:nvSpPr>
        <p:spPr>
          <a:xfrm>
            <a:off x="405035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0" name="Illustrative delivered road transport cost class 2; reference terminal Lesedi"/>
          <p:cNvSpPr/>
          <p:nvPr/>
        </p:nvSpPr>
        <p:spPr>
          <a:xfrm>
            <a:off x="405035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1" name="Illustrative delivered road transport cost class 2; reference terminal Lesedi"/>
          <p:cNvSpPr/>
          <p:nvPr/>
        </p:nvSpPr>
        <p:spPr>
          <a:xfrm>
            <a:off x="405035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2" name="Illustrative delivered road transport cost class 2; reference terminal Lesedi"/>
          <p:cNvSpPr/>
          <p:nvPr/>
        </p:nvSpPr>
        <p:spPr>
          <a:xfrm>
            <a:off x="405035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3" name="Illustrative delivered road transport cost class 2; reference terminal Lesedi"/>
          <p:cNvSpPr/>
          <p:nvPr/>
        </p:nvSpPr>
        <p:spPr>
          <a:xfrm>
            <a:off x="405035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4" name="Illustrative delivered road transport cost class 2; reference terminal Lesedi"/>
          <p:cNvSpPr/>
          <p:nvPr/>
        </p:nvSpPr>
        <p:spPr>
          <a:xfrm>
            <a:off x="405035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5" name="Illustrative delivered road transport cost class 2; reference terminal Lesedi"/>
          <p:cNvSpPr/>
          <p:nvPr/>
        </p:nvSpPr>
        <p:spPr>
          <a:xfrm>
            <a:off x="405035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6" name="Illustrative delivered road transport cost class 2; reference terminal Lesedi"/>
          <p:cNvSpPr/>
          <p:nvPr/>
        </p:nvSpPr>
        <p:spPr>
          <a:xfrm>
            <a:off x="405035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7" name="Illustrative delivered road transport cost class 1; reference terminal Lesedi"/>
          <p:cNvSpPr/>
          <p:nvPr/>
        </p:nvSpPr>
        <p:spPr>
          <a:xfrm>
            <a:off x="405035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8" name="Illustrative delivered road transport cost class 1; reference terminal Lesedi"/>
          <p:cNvSpPr/>
          <p:nvPr/>
        </p:nvSpPr>
        <p:spPr>
          <a:xfrm>
            <a:off x="405035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9" name="Illustrative delivered road transport cost class 1; reference terminal Lesedi"/>
          <p:cNvSpPr/>
          <p:nvPr/>
        </p:nvSpPr>
        <p:spPr>
          <a:xfrm>
            <a:off x="405035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0" name="Illustrative delivered road transport cost class 1; reference terminal Lesedi"/>
          <p:cNvSpPr/>
          <p:nvPr/>
        </p:nvSpPr>
        <p:spPr>
          <a:xfrm>
            <a:off x="405035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1" name="Illustrative delivered road transport cost class 1; reference terminal Lesedi"/>
          <p:cNvSpPr/>
          <p:nvPr/>
        </p:nvSpPr>
        <p:spPr>
          <a:xfrm>
            <a:off x="405035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2" name="Illustrative delivered road transport cost class 1; reference terminal Lesedi"/>
          <p:cNvSpPr/>
          <p:nvPr/>
        </p:nvSpPr>
        <p:spPr>
          <a:xfrm>
            <a:off x="405035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3" name="Illustrative delivered road transport cost class 1; reference terminal Lesedi"/>
          <p:cNvSpPr/>
          <p:nvPr/>
        </p:nvSpPr>
        <p:spPr>
          <a:xfrm>
            <a:off x="405035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4" name="Illustrative delivered road transport cost class 1; reference terminal Lesedi"/>
          <p:cNvSpPr/>
          <p:nvPr/>
        </p:nvSpPr>
        <p:spPr>
          <a:xfrm>
            <a:off x="405035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5" name="Illustrative delivered road transport cost class 1; reference terminal Lesedi"/>
          <p:cNvSpPr/>
          <p:nvPr/>
        </p:nvSpPr>
        <p:spPr>
          <a:xfrm>
            <a:off x="405035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6" name="Illustrative delivered road transport cost class 0; reference terminal Lesedi"/>
          <p:cNvSpPr/>
          <p:nvPr/>
        </p:nvSpPr>
        <p:spPr>
          <a:xfrm>
            <a:off x="405035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7" name="Illustrative delivered road transport cost class 0; reference terminal Lesedi"/>
          <p:cNvSpPr/>
          <p:nvPr/>
        </p:nvSpPr>
        <p:spPr>
          <a:xfrm>
            <a:off x="405035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8" name="Illustrative delivered road transport cost class 0; reference terminal Lesedi"/>
          <p:cNvSpPr/>
          <p:nvPr/>
        </p:nvSpPr>
        <p:spPr>
          <a:xfrm>
            <a:off x="405035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9" name="Illustrative delivered road transport cost class 0; reference terminal Lesedi"/>
          <p:cNvSpPr/>
          <p:nvPr/>
        </p:nvSpPr>
        <p:spPr>
          <a:xfrm>
            <a:off x="405035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0" name="Illustrative delivered road transport cost class 0; reference terminal Lesedi"/>
          <p:cNvSpPr/>
          <p:nvPr/>
        </p:nvSpPr>
        <p:spPr>
          <a:xfrm>
            <a:off x="405035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1" name="Illustrative delivered road transport cost class 0; reference terminal Lesedi"/>
          <p:cNvSpPr/>
          <p:nvPr/>
        </p:nvSpPr>
        <p:spPr>
          <a:xfrm>
            <a:off x="405035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2" name="Illustrative delivered road transport cost class 0; reference terminal Lesedi"/>
          <p:cNvSpPr/>
          <p:nvPr/>
        </p:nvSpPr>
        <p:spPr>
          <a:xfrm>
            <a:off x="405035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3" name="Illustrative delivered road transport cost class 0; reference terminal Lesedi"/>
          <p:cNvSpPr/>
          <p:nvPr/>
        </p:nvSpPr>
        <p:spPr>
          <a:xfrm>
            <a:off x="405035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4" name="Illustrative delivered road transport cost class 0; reference terminal Lesedi"/>
          <p:cNvSpPr/>
          <p:nvPr/>
        </p:nvSpPr>
        <p:spPr>
          <a:xfrm>
            <a:off x="405035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5" name="Illustrative delivered road transport cost class 0; reference terminal Lesedi"/>
          <p:cNvSpPr/>
          <p:nvPr/>
        </p:nvSpPr>
        <p:spPr>
          <a:xfrm>
            <a:off x="405035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6" name="Illustrative delivered road transport cost class 0; reference terminal Lesedi"/>
          <p:cNvSpPr/>
          <p:nvPr/>
        </p:nvSpPr>
        <p:spPr>
          <a:xfrm>
            <a:off x="405035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7" name="Illustrative delivered road transport cost class 0; reference terminal Lesedi"/>
          <p:cNvSpPr/>
          <p:nvPr/>
        </p:nvSpPr>
        <p:spPr>
          <a:xfrm>
            <a:off x="405035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8" name="Illustrative delivered road transport cost class 0; reference terminal Lesedi"/>
          <p:cNvSpPr/>
          <p:nvPr/>
        </p:nvSpPr>
        <p:spPr>
          <a:xfrm>
            <a:off x="4050354"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9" name="Illustrative delivered road transport cost class 0; reference terminal Lesedi"/>
          <p:cNvSpPr/>
          <p:nvPr/>
        </p:nvSpPr>
        <p:spPr>
          <a:xfrm>
            <a:off x="4050354"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0" name="Illustrative delivered road transport cost class 1; reference terminal Lesedi"/>
          <p:cNvSpPr/>
          <p:nvPr/>
        </p:nvSpPr>
        <p:spPr>
          <a:xfrm>
            <a:off x="4050354"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1" name="Illustrative delivered road transport cost class 1; reference terminal Lesedi"/>
          <p:cNvSpPr/>
          <p:nvPr/>
        </p:nvSpPr>
        <p:spPr>
          <a:xfrm>
            <a:off x="4050354" y="2902337"/>
            <a:ext cx="57687" cy="57686"/>
          </a:xfrm>
          <a:custGeom>
            <a:avLst/>
            <a:gdLst/>
            <a:ahLst/>
            <a:cxnLst/>
            <a:rect l="l" t="t" r="r" b="b"/>
            <a:pathLst>
              <a:path w="57687" h="57686">
                <a:moveTo>
                  <a:pt x="57687" y="0"/>
                </a:moveTo>
                <a:lnTo>
                  <a:pt x="57687" y="57686"/>
                </a:lnTo>
                <a:lnTo>
                  <a:pt x="0" y="57686"/>
                </a:lnTo>
                <a:lnTo>
                  <a:pt x="0" y="16807"/>
                </a:lnTo>
                <a:lnTo>
                  <a:pt x="5245" y="9018"/>
                </a:lnTo>
                <a:lnTo>
                  <a:pt x="1360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2" name="Illustrative delivered road transport cost class None; reference terminal None"/>
          <p:cNvSpPr/>
          <p:nvPr/>
        </p:nvSpPr>
        <p:spPr>
          <a:xfrm>
            <a:off x="4063957" y="2863525"/>
            <a:ext cx="44084" cy="38812"/>
          </a:xfrm>
          <a:custGeom>
            <a:avLst/>
            <a:gdLst/>
            <a:ahLst/>
            <a:cxnLst/>
            <a:rect l="l" t="t" r="r" b="b"/>
            <a:pathLst>
              <a:path w="44084" h="38812">
                <a:moveTo>
                  <a:pt x="44084" y="38812"/>
                </a:moveTo>
                <a:lnTo>
                  <a:pt x="0" y="38812"/>
                </a:lnTo>
                <a:lnTo>
                  <a:pt x="19199" y="18095"/>
                </a:lnTo>
                <a:lnTo>
                  <a:pt x="44084" y="0"/>
                </a:lnTo>
                <a:lnTo>
                  <a:pt x="44084" y="388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3" name="Illustrative delivered road transport cost class 2; reference terminal Durban"/>
          <p:cNvSpPr/>
          <p:nvPr/>
        </p:nvSpPr>
        <p:spPr>
          <a:xfrm>
            <a:off x="4108041" y="5209799"/>
            <a:ext cx="52253" cy="25879"/>
          </a:xfrm>
          <a:custGeom>
            <a:avLst/>
            <a:gdLst/>
            <a:ahLst/>
            <a:cxnLst/>
            <a:rect l="l" t="t" r="r" b="b"/>
            <a:pathLst>
              <a:path w="52253" h="25879">
                <a:moveTo>
                  <a:pt x="0" y="0"/>
                </a:moveTo>
                <a:lnTo>
                  <a:pt x="52253" y="0"/>
                </a:lnTo>
                <a:lnTo>
                  <a:pt x="41856" y="6655"/>
                </a:lnTo>
                <a:lnTo>
                  <a:pt x="0" y="2587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4" name="Illustrative delivered road transport cost class 2; reference terminal Durban"/>
          <p:cNvSpPr/>
          <p:nvPr/>
        </p:nvSpPr>
        <p:spPr>
          <a:xfrm>
            <a:off x="4108041" y="5152113"/>
            <a:ext cx="57686" cy="57686"/>
          </a:xfrm>
          <a:custGeom>
            <a:avLst/>
            <a:gdLst/>
            <a:ahLst/>
            <a:cxnLst/>
            <a:rect l="l" t="t" r="r" b="b"/>
            <a:pathLst>
              <a:path w="57686" h="57686">
                <a:moveTo>
                  <a:pt x="0" y="57686"/>
                </a:moveTo>
                <a:lnTo>
                  <a:pt x="0" y="0"/>
                </a:lnTo>
                <a:lnTo>
                  <a:pt x="57686" y="0"/>
                </a:lnTo>
                <a:lnTo>
                  <a:pt x="57686" y="54209"/>
                </a:lnTo>
                <a:lnTo>
                  <a:pt x="52253"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5" name="Illustrative delivered road transport cost class 2; reference terminal Durban"/>
          <p:cNvSpPr/>
          <p:nvPr/>
        </p:nvSpPr>
        <p:spPr>
          <a:xfrm>
            <a:off x="410804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6" name="Illustrative delivered road transport cost class 2; reference terminal Durban"/>
          <p:cNvSpPr/>
          <p:nvPr/>
        </p:nvSpPr>
        <p:spPr>
          <a:xfrm>
            <a:off x="410804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7" name="Illustrative delivered road transport cost class 2; reference terminal Durban"/>
          <p:cNvSpPr/>
          <p:nvPr/>
        </p:nvSpPr>
        <p:spPr>
          <a:xfrm>
            <a:off x="410804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8" name="Illustrative delivered road transport cost class 2; reference terminal Durban"/>
          <p:cNvSpPr/>
          <p:nvPr/>
        </p:nvSpPr>
        <p:spPr>
          <a:xfrm>
            <a:off x="410804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9" name="Illustrative delivered road transport cost class 2; reference terminal Durban"/>
          <p:cNvSpPr/>
          <p:nvPr/>
        </p:nvSpPr>
        <p:spPr>
          <a:xfrm>
            <a:off x="410804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0" name="Illustrative delivered road transport cost class 2; reference terminal Durban"/>
          <p:cNvSpPr/>
          <p:nvPr/>
        </p:nvSpPr>
        <p:spPr>
          <a:xfrm>
            <a:off x="410804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1" name="Illustrative delivered road transport cost class 2; reference terminal Durban"/>
          <p:cNvSpPr/>
          <p:nvPr/>
        </p:nvSpPr>
        <p:spPr>
          <a:xfrm>
            <a:off x="410804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2" name="Illustrative delivered road transport cost class 2; reference terminal Lesedi"/>
          <p:cNvSpPr/>
          <p:nvPr/>
        </p:nvSpPr>
        <p:spPr>
          <a:xfrm>
            <a:off x="410804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3" name="Illustrative delivered road transport cost class 2; reference terminal Lesedi"/>
          <p:cNvSpPr/>
          <p:nvPr/>
        </p:nvSpPr>
        <p:spPr>
          <a:xfrm>
            <a:off x="410804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4" name="Illustrative delivered road transport cost class 2; reference terminal Lesedi"/>
          <p:cNvSpPr/>
          <p:nvPr/>
        </p:nvSpPr>
        <p:spPr>
          <a:xfrm>
            <a:off x="410804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5" name="Illustrative delivered road transport cost class 2; reference terminal Lesedi"/>
          <p:cNvSpPr/>
          <p:nvPr/>
        </p:nvSpPr>
        <p:spPr>
          <a:xfrm>
            <a:off x="410804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6" name="Illustrative delivered road transport cost class 2; reference terminal Lesedi"/>
          <p:cNvSpPr/>
          <p:nvPr/>
        </p:nvSpPr>
        <p:spPr>
          <a:xfrm>
            <a:off x="410804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7" name="Illustrative delivered road transport cost class 2; reference terminal Lesedi"/>
          <p:cNvSpPr/>
          <p:nvPr/>
        </p:nvSpPr>
        <p:spPr>
          <a:xfrm>
            <a:off x="410804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8" name="Illustrative delivered road transport cost class 2; reference terminal Lesedi"/>
          <p:cNvSpPr/>
          <p:nvPr/>
        </p:nvSpPr>
        <p:spPr>
          <a:xfrm>
            <a:off x="410804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9" name="Illustrative delivered road transport cost class 2; reference terminal Lesedi"/>
          <p:cNvSpPr/>
          <p:nvPr/>
        </p:nvSpPr>
        <p:spPr>
          <a:xfrm>
            <a:off x="410804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0" name="Illustrative delivered road transport cost class 1; reference terminal Lesedi"/>
          <p:cNvSpPr/>
          <p:nvPr/>
        </p:nvSpPr>
        <p:spPr>
          <a:xfrm>
            <a:off x="4108041" y="4229128"/>
            <a:ext cx="57686" cy="57686"/>
          </a:xfrm>
          <a:custGeom>
            <a:avLst/>
            <a:gdLst/>
            <a:ahLst/>
            <a:cxnLst/>
            <a:rect l="l" t="t" r="r" b="b"/>
            <a:pathLst>
              <a:path w="57686" h="57686">
                <a:moveTo>
                  <a:pt x="57686" y="57686"/>
                </a:moveTo>
                <a:lnTo>
                  <a:pt x="0" y="57686"/>
                </a:lnTo>
                <a:lnTo>
                  <a:pt x="0" y="0"/>
                </a:lnTo>
                <a:lnTo>
                  <a:pt x="54598" y="0"/>
                </a:lnTo>
                <a:lnTo>
                  <a:pt x="54495" y="759"/>
                </a:lnTo>
                <a:lnTo>
                  <a:pt x="57686" y="9395"/>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1" name="Illustrative delivered road transport cost class 1; reference terminal Lesedi"/>
          <p:cNvSpPr/>
          <p:nvPr/>
        </p:nvSpPr>
        <p:spPr>
          <a:xfrm>
            <a:off x="4108041" y="4171441"/>
            <a:ext cx="57686" cy="57687"/>
          </a:xfrm>
          <a:custGeom>
            <a:avLst/>
            <a:gdLst/>
            <a:ahLst/>
            <a:cxnLst/>
            <a:rect l="l" t="t" r="r" b="b"/>
            <a:pathLst>
              <a:path w="57686" h="57687">
                <a:moveTo>
                  <a:pt x="0" y="57687"/>
                </a:moveTo>
                <a:lnTo>
                  <a:pt x="0" y="0"/>
                </a:lnTo>
                <a:lnTo>
                  <a:pt x="57686" y="0"/>
                </a:lnTo>
                <a:lnTo>
                  <a:pt x="57686" y="47216"/>
                </a:lnTo>
                <a:lnTo>
                  <a:pt x="55825" y="48626"/>
                </a:lnTo>
                <a:lnTo>
                  <a:pt x="5459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2" name="Illustrative delivered road transport cost class 1; reference terminal Lesedi"/>
          <p:cNvSpPr/>
          <p:nvPr/>
        </p:nvSpPr>
        <p:spPr>
          <a:xfrm>
            <a:off x="410804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3" name="Illustrative delivered road transport cost class 1; reference terminal Lesedi"/>
          <p:cNvSpPr/>
          <p:nvPr/>
        </p:nvSpPr>
        <p:spPr>
          <a:xfrm>
            <a:off x="410804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4" name="Illustrative delivered road transport cost class 1; reference terminal Lesedi"/>
          <p:cNvSpPr/>
          <p:nvPr/>
        </p:nvSpPr>
        <p:spPr>
          <a:xfrm>
            <a:off x="410804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5" name="Illustrative delivered road transport cost class 1; reference terminal Lesedi"/>
          <p:cNvSpPr/>
          <p:nvPr/>
        </p:nvSpPr>
        <p:spPr>
          <a:xfrm>
            <a:off x="410804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6" name="Illustrative delivered road transport cost class 1; reference terminal Lesedi"/>
          <p:cNvSpPr/>
          <p:nvPr/>
        </p:nvSpPr>
        <p:spPr>
          <a:xfrm>
            <a:off x="410804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7" name="Illustrative delivered road transport cost class 0; reference terminal Lesedi"/>
          <p:cNvSpPr/>
          <p:nvPr/>
        </p:nvSpPr>
        <p:spPr>
          <a:xfrm>
            <a:off x="410804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8" name="Illustrative delivered road transport cost class 0; reference terminal Lesedi"/>
          <p:cNvSpPr/>
          <p:nvPr/>
        </p:nvSpPr>
        <p:spPr>
          <a:xfrm>
            <a:off x="410804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9" name="Illustrative delivered road transport cost class 0; reference terminal Lesedi"/>
          <p:cNvSpPr/>
          <p:nvPr/>
        </p:nvSpPr>
        <p:spPr>
          <a:xfrm>
            <a:off x="410804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0" name="Illustrative delivered road transport cost class 0; reference terminal Lesedi"/>
          <p:cNvSpPr/>
          <p:nvPr/>
        </p:nvSpPr>
        <p:spPr>
          <a:xfrm>
            <a:off x="410804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1" name="Illustrative delivered road transport cost class 0; reference terminal Lesedi"/>
          <p:cNvSpPr/>
          <p:nvPr/>
        </p:nvSpPr>
        <p:spPr>
          <a:xfrm>
            <a:off x="410804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2" name="Illustrative delivered road transport cost class 0; reference terminal Lesedi"/>
          <p:cNvSpPr/>
          <p:nvPr/>
        </p:nvSpPr>
        <p:spPr>
          <a:xfrm>
            <a:off x="410804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3" name="Illustrative delivered road transport cost class 0; reference terminal Lesedi"/>
          <p:cNvSpPr/>
          <p:nvPr/>
        </p:nvSpPr>
        <p:spPr>
          <a:xfrm>
            <a:off x="410804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4" name="Illustrative delivered road transport cost class 0; reference terminal Lesedi"/>
          <p:cNvSpPr/>
          <p:nvPr/>
        </p:nvSpPr>
        <p:spPr>
          <a:xfrm>
            <a:off x="410804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5" name="Illustrative delivered road transport cost class 0; reference terminal Lesedi"/>
          <p:cNvSpPr/>
          <p:nvPr/>
        </p:nvSpPr>
        <p:spPr>
          <a:xfrm>
            <a:off x="410804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6" name="Illustrative delivered road transport cost class 0; reference terminal Lesedi"/>
          <p:cNvSpPr/>
          <p:nvPr/>
        </p:nvSpPr>
        <p:spPr>
          <a:xfrm>
            <a:off x="410804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7" name="Illustrative delivered road transport cost class 0; reference terminal Lesedi"/>
          <p:cNvSpPr/>
          <p:nvPr/>
        </p:nvSpPr>
        <p:spPr>
          <a:xfrm>
            <a:off x="410804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8" name="Illustrative delivered road transport cost class 0; reference terminal Lesedi"/>
          <p:cNvSpPr/>
          <p:nvPr/>
        </p:nvSpPr>
        <p:spPr>
          <a:xfrm>
            <a:off x="410804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9" name="Illustrative delivered road transport cost class 0; reference terminal Lesedi"/>
          <p:cNvSpPr/>
          <p:nvPr/>
        </p:nvSpPr>
        <p:spPr>
          <a:xfrm>
            <a:off x="410804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0" name="Illustrative delivered road transport cost class 0; reference terminal Lesedi"/>
          <p:cNvSpPr/>
          <p:nvPr/>
        </p:nvSpPr>
        <p:spPr>
          <a:xfrm>
            <a:off x="410804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1" name="Illustrative delivered road transport cost class 0; reference terminal Lesedi"/>
          <p:cNvSpPr/>
          <p:nvPr/>
        </p:nvSpPr>
        <p:spPr>
          <a:xfrm>
            <a:off x="410804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2" name="Illustrative delivered road transport cost class 1; reference terminal Lesedi"/>
          <p:cNvSpPr/>
          <p:nvPr/>
        </p:nvSpPr>
        <p:spPr>
          <a:xfrm>
            <a:off x="4108041"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3" name="Illustrative delivered road transport cost class None; reference terminal None"/>
          <p:cNvSpPr/>
          <p:nvPr/>
        </p:nvSpPr>
        <p:spPr>
          <a:xfrm>
            <a:off x="4108041"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4" name="Illustrative delivered road transport cost class None; reference terminal None"/>
          <p:cNvSpPr/>
          <p:nvPr/>
        </p:nvSpPr>
        <p:spPr>
          <a:xfrm>
            <a:off x="4108041" y="2844650"/>
            <a:ext cx="57686" cy="57687"/>
          </a:xfrm>
          <a:custGeom>
            <a:avLst/>
            <a:gdLst/>
            <a:ahLst/>
            <a:cxnLst/>
            <a:rect l="l" t="t" r="r" b="b"/>
            <a:pathLst>
              <a:path w="57686" h="57687">
                <a:moveTo>
                  <a:pt x="57686" y="0"/>
                </a:moveTo>
                <a:lnTo>
                  <a:pt x="57686" y="57687"/>
                </a:lnTo>
                <a:lnTo>
                  <a:pt x="0" y="57687"/>
                </a:lnTo>
                <a:lnTo>
                  <a:pt x="0" y="18875"/>
                </a:lnTo>
                <a:lnTo>
                  <a:pt x="9022" y="12315"/>
                </a:lnTo>
                <a:lnTo>
                  <a:pt x="24287"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5" name="Illustrative delivered road transport cost class None; reference terminal None"/>
          <p:cNvSpPr/>
          <p:nvPr/>
        </p:nvSpPr>
        <p:spPr>
          <a:xfrm>
            <a:off x="4132328" y="2786964"/>
            <a:ext cx="33399" cy="57686"/>
          </a:xfrm>
          <a:custGeom>
            <a:avLst/>
            <a:gdLst/>
            <a:ahLst/>
            <a:cxnLst/>
            <a:rect l="l" t="t" r="r" b="b"/>
            <a:pathLst>
              <a:path w="33399" h="57686">
                <a:moveTo>
                  <a:pt x="33399" y="0"/>
                </a:moveTo>
                <a:lnTo>
                  <a:pt x="33399" y="57686"/>
                </a:lnTo>
                <a:lnTo>
                  <a:pt x="0" y="57686"/>
                </a:lnTo>
                <a:lnTo>
                  <a:pt x="2260" y="55863"/>
                </a:lnTo>
                <a:lnTo>
                  <a:pt x="17708" y="0"/>
                </a:lnTo>
                <a:lnTo>
                  <a:pt x="33399"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6" name="Illustrative delivered road transport cost class None; reference terminal None"/>
          <p:cNvSpPr/>
          <p:nvPr/>
        </p:nvSpPr>
        <p:spPr>
          <a:xfrm>
            <a:off x="4150036" y="2730223"/>
            <a:ext cx="15691" cy="56741"/>
          </a:xfrm>
          <a:custGeom>
            <a:avLst/>
            <a:gdLst/>
            <a:ahLst/>
            <a:cxnLst/>
            <a:rect l="l" t="t" r="r" b="b"/>
            <a:pathLst>
              <a:path w="15691" h="56741">
                <a:moveTo>
                  <a:pt x="15691" y="56741"/>
                </a:moveTo>
                <a:lnTo>
                  <a:pt x="0" y="56741"/>
                </a:lnTo>
                <a:lnTo>
                  <a:pt x="15691" y="0"/>
                </a:lnTo>
                <a:lnTo>
                  <a:pt x="15691" y="567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7" name="Illustrative delivered road transport cost class 2; reference terminal Durban"/>
          <p:cNvSpPr/>
          <p:nvPr/>
        </p:nvSpPr>
        <p:spPr>
          <a:xfrm>
            <a:off x="4165727" y="5152113"/>
            <a:ext cx="57687" cy="54209"/>
          </a:xfrm>
          <a:custGeom>
            <a:avLst/>
            <a:gdLst/>
            <a:ahLst/>
            <a:cxnLst/>
            <a:rect l="l" t="t" r="r" b="b"/>
            <a:pathLst>
              <a:path w="57687" h="54209">
                <a:moveTo>
                  <a:pt x="0" y="0"/>
                </a:moveTo>
                <a:lnTo>
                  <a:pt x="57687" y="0"/>
                </a:lnTo>
                <a:lnTo>
                  <a:pt x="57687" y="16022"/>
                </a:lnTo>
                <a:lnTo>
                  <a:pt x="46487" y="24455"/>
                </a:lnTo>
                <a:lnTo>
                  <a:pt x="0" y="5420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8" name="Illustrative delivered road transport cost class 2; reference terminal Durban"/>
          <p:cNvSpPr/>
          <p:nvPr/>
        </p:nvSpPr>
        <p:spPr>
          <a:xfrm>
            <a:off x="416572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9" name="Illustrative delivered road transport cost class 2; reference terminal Durban"/>
          <p:cNvSpPr/>
          <p:nvPr/>
        </p:nvSpPr>
        <p:spPr>
          <a:xfrm>
            <a:off x="416572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0" name="Illustrative delivered road transport cost class 2; reference terminal Durban"/>
          <p:cNvSpPr/>
          <p:nvPr/>
        </p:nvSpPr>
        <p:spPr>
          <a:xfrm>
            <a:off x="416572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 name="Illustrative delivered road transport cost class 2; reference terminal Durban"/>
          <p:cNvSpPr/>
          <p:nvPr/>
        </p:nvSpPr>
        <p:spPr>
          <a:xfrm>
            <a:off x="416572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 name="Illustrative delivered road transport cost class 2; reference terminal Durban"/>
          <p:cNvSpPr/>
          <p:nvPr/>
        </p:nvSpPr>
        <p:spPr>
          <a:xfrm>
            <a:off x="416572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 name="Illustrative delivered road transport cost class 2; reference terminal Durban"/>
          <p:cNvSpPr/>
          <p:nvPr/>
        </p:nvSpPr>
        <p:spPr>
          <a:xfrm>
            <a:off x="416572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 name="Illustrative delivered road transport cost class 2; reference terminal Durban"/>
          <p:cNvSpPr/>
          <p:nvPr/>
        </p:nvSpPr>
        <p:spPr>
          <a:xfrm>
            <a:off x="416572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 name="Illustrative delivered road transport cost class 2; reference terminal Durban"/>
          <p:cNvSpPr/>
          <p:nvPr/>
        </p:nvSpPr>
        <p:spPr>
          <a:xfrm>
            <a:off x="416572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6" name="Illustrative delivered road transport cost class 2; reference terminal Lesedi"/>
          <p:cNvSpPr/>
          <p:nvPr/>
        </p:nvSpPr>
        <p:spPr>
          <a:xfrm>
            <a:off x="416572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7" name="Illustrative delivered road transport cost class 2; reference terminal Lesedi"/>
          <p:cNvSpPr/>
          <p:nvPr/>
        </p:nvSpPr>
        <p:spPr>
          <a:xfrm>
            <a:off x="416572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8" name="Illustrative delivered road transport cost class 2; reference terminal Lesedi"/>
          <p:cNvSpPr/>
          <p:nvPr/>
        </p:nvSpPr>
        <p:spPr>
          <a:xfrm>
            <a:off x="416572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9" name="Illustrative delivered road transport cost class 2; reference terminal Lesedi"/>
          <p:cNvSpPr/>
          <p:nvPr/>
        </p:nvSpPr>
        <p:spPr>
          <a:xfrm>
            <a:off x="416572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0" name="Illustrative delivered road transport cost class 2; reference terminal Lesedi"/>
          <p:cNvSpPr/>
          <p:nvPr/>
        </p:nvSpPr>
        <p:spPr>
          <a:xfrm>
            <a:off x="416572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1" name="Illustrative delivered road transport cost class 2; reference terminal Lesedi"/>
          <p:cNvSpPr/>
          <p:nvPr/>
        </p:nvSpPr>
        <p:spPr>
          <a:xfrm>
            <a:off x="4165727" y="4344501"/>
            <a:ext cx="57687" cy="57687"/>
          </a:xfrm>
          <a:custGeom>
            <a:avLst/>
            <a:gdLst/>
            <a:ahLst/>
            <a:cxnLst/>
            <a:rect l="l" t="t" r="r" b="b"/>
            <a:pathLst>
              <a:path w="57687" h="57687">
                <a:moveTo>
                  <a:pt x="57687" y="57687"/>
                </a:moveTo>
                <a:lnTo>
                  <a:pt x="0" y="57687"/>
                </a:lnTo>
                <a:lnTo>
                  <a:pt x="0" y="0"/>
                </a:lnTo>
                <a:lnTo>
                  <a:pt x="53227" y="0"/>
                </a:lnTo>
                <a:lnTo>
                  <a:pt x="57687" y="6645"/>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2" name="Illustrative delivered road transport cost class 2; reference terminal Lesedi"/>
          <p:cNvSpPr/>
          <p:nvPr/>
        </p:nvSpPr>
        <p:spPr>
          <a:xfrm>
            <a:off x="4165727" y="4286814"/>
            <a:ext cx="53227" cy="57687"/>
          </a:xfrm>
          <a:custGeom>
            <a:avLst/>
            <a:gdLst/>
            <a:ahLst/>
            <a:cxnLst/>
            <a:rect l="l" t="t" r="r" b="b"/>
            <a:pathLst>
              <a:path w="53227" h="57687">
                <a:moveTo>
                  <a:pt x="0" y="57687"/>
                </a:moveTo>
                <a:lnTo>
                  <a:pt x="0" y="0"/>
                </a:lnTo>
                <a:lnTo>
                  <a:pt x="19572" y="0"/>
                </a:lnTo>
                <a:lnTo>
                  <a:pt x="27137" y="14551"/>
                </a:lnTo>
                <a:lnTo>
                  <a:pt x="37058" y="33677"/>
                </a:lnTo>
                <a:lnTo>
                  <a:pt x="52829" y="57094"/>
                </a:lnTo>
                <a:lnTo>
                  <a:pt x="5322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3" name="Illustrative delivered road transport cost class 2; reference terminal Lesedi"/>
          <p:cNvSpPr/>
          <p:nvPr/>
        </p:nvSpPr>
        <p:spPr>
          <a:xfrm>
            <a:off x="4165727" y="4238523"/>
            <a:ext cx="19572" cy="48291"/>
          </a:xfrm>
          <a:custGeom>
            <a:avLst/>
            <a:gdLst/>
            <a:ahLst/>
            <a:cxnLst/>
            <a:rect l="l" t="t" r="r" b="b"/>
            <a:pathLst>
              <a:path w="19572" h="48291">
                <a:moveTo>
                  <a:pt x="0" y="48291"/>
                </a:moveTo>
                <a:lnTo>
                  <a:pt x="0" y="0"/>
                </a:lnTo>
                <a:lnTo>
                  <a:pt x="5339" y="14450"/>
                </a:lnTo>
                <a:lnTo>
                  <a:pt x="13562" y="36733"/>
                </a:lnTo>
                <a:lnTo>
                  <a:pt x="19572" y="48291"/>
                </a:lnTo>
                <a:lnTo>
                  <a:pt x="0" y="48291"/>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4" name="Illustrative delivered road transport cost class 2; reference terminal Lesedi"/>
          <p:cNvSpPr/>
          <p:nvPr/>
        </p:nvSpPr>
        <p:spPr>
          <a:xfrm>
            <a:off x="4165727" y="4171441"/>
            <a:ext cx="57687" cy="47216"/>
          </a:xfrm>
          <a:custGeom>
            <a:avLst/>
            <a:gdLst/>
            <a:ahLst/>
            <a:cxnLst/>
            <a:rect l="l" t="t" r="r" b="b"/>
            <a:pathLst>
              <a:path w="57687" h="47216">
                <a:moveTo>
                  <a:pt x="0" y="0"/>
                </a:moveTo>
                <a:lnTo>
                  <a:pt x="57687" y="0"/>
                </a:lnTo>
                <a:lnTo>
                  <a:pt x="57687" y="15727"/>
                </a:lnTo>
                <a:lnTo>
                  <a:pt x="51753" y="22429"/>
                </a:lnTo>
                <a:lnTo>
                  <a:pt x="32104" y="30975"/>
                </a:lnTo>
                <a:lnTo>
                  <a:pt x="6812" y="42057"/>
                </a:lnTo>
                <a:lnTo>
                  <a:pt x="0" y="47216"/>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5" name="Illustrative delivered road transport cost class 1; reference terminal Lesedi"/>
          <p:cNvSpPr/>
          <p:nvPr/>
        </p:nvSpPr>
        <p:spPr>
          <a:xfrm>
            <a:off x="416572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6" name="Illustrative delivered road transport cost class 1; reference terminal Lesedi"/>
          <p:cNvSpPr/>
          <p:nvPr/>
        </p:nvSpPr>
        <p:spPr>
          <a:xfrm>
            <a:off x="416572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7" name="Illustrative delivered road transport cost class 1; reference terminal Lesedi"/>
          <p:cNvSpPr/>
          <p:nvPr/>
        </p:nvSpPr>
        <p:spPr>
          <a:xfrm>
            <a:off x="416572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8" name="Illustrative delivered road transport cost class 1; reference terminal Lesedi"/>
          <p:cNvSpPr/>
          <p:nvPr/>
        </p:nvSpPr>
        <p:spPr>
          <a:xfrm>
            <a:off x="416572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9" name="Illustrative delivered road transport cost class 1; reference terminal Lesedi"/>
          <p:cNvSpPr/>
          <p:nvPr/>
        </p:nvSpPr>
        <p:spPr>
          <a:xfrm>
            <a:off x="416572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0" name="Illustrative delivered road transport cost class 0; reference terminal Lesedi"/>
          <p:cNvSpPr/>
          <p:nvPr/>
        </p:nvSpPr>
        <p:spPr>
          <a:xfrm>
            <a:off x="416572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1" name="Illustrative delivered road transport cost class 0; reference terminal Lesedi"/>
          <p:cNvSpPr/>
          <p:nvPr/>
        </p:nvSpPr>
        <p:spPr>
          <a:xfrm>
            <a:off x="416572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2" name="Illustrative delivered road transport cost class 0; reference terminal Lesedi"/>
          <p:cNvSpPr/>
          <p:nvPr/>
        </p:nvSpPr>
        <p:spPr>
          <a:xfrm>
            <a:off x="416572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3" name="Illustrative delivered road transport cost class 0; reference terminal Lesedi"/>
          <p:cNvSpPr/>
          <p:nvPr/>
        </p:nvSpPr>
        <p:spPr>
          <a:xfrm>
            <a:off x="416572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4" name="Illustrative delivered road transport cost class 0; reference terminal Lesedi"/>
          <p:cNvSpPr/>
          <p:nvPr/>
        </p:nvSpPr>
        <p:spPr>
          <a:xfrm>
            <a:off x="416572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5" name="Illustrative delivered road transport cost class 0; reference terminal Lesedi"/>
          <p:cNvSpPr/>
          <p:nvPr/>
        </p:nvSpPr>
        <p:spPr>
          <a:xfrm>
            <a:off x="416572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6" name="Illustrative delivered road transport cost class 0; reference terminal Lesedi"/>
          <p:cNvSpPr/>
          <p:nvPr/>
        </p:nvSpPr>
        <p:spPr>
          <a:xfrm>
            <a:off x="416572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7" name="Illustrative delivered road transport cost class 0; reference terminal Lesedi"/>
          <p:cNvSpPr/>
          <p:nvPr/>
        </p:nvSpPr>
        <p:spPr>
          <a:xfrm>
            <a:off x="416572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8" name="Illustrative delivered road transport cost class 0; reference terminal Lesedi"/>
          <p:cNvSpPr/>
          <p:nvPr/>
        </p:nvSpPr>
        <p:spPr>
          <a:xfrm>
            <a:off x="416572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9" name="Illustrative delivered road transport cost class 0; reference terminal Lesedi"/>
          <p:cNvSpPr/>
          <p:nvPr/>
        </p:nvSpPr>
        <p:spPr>
          <a:xfrm>
            <a:off x="416572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0" name="Illustrative delivered road transport cost class 0; reference terminal Lesedi"/>
          <p:cNvSpPr/>
          <p:nvPr/>
        </p:nvSpPr>
        <p:spPr>
          <a:xfrm>
            <a:off x="416572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1" name="Illustrative delivered road transport cost class 0; reference terminal Lesedi"/>
          <p:cNvSpPr/>
          <p:nvPr/>
        </p:nvSpPr>
        <p:spPr>
          <a:xfrm>
            <a:off x="416572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2" name="Illustrative delivered road transport cost class 0; reference terminal Lesedi"/>
          <p:cNvSpPr/>
          <p:nvPr/>
        </p:nvSpPr>
        <p:spPr>
          <a:xfrm>
            <a:off x="416572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3" name="Illustrative delivered road transport cost class 0; reference terminal Lesedi"/>
          <p:cNvSpPr/>
          <p:nvPr/>
        </p:nvSpPr>
        <p:spPr>
          <a:xfrm>
            <a:off x="416572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4" name="Illustrative delivered road transport cost class 0; reference terminal Lesedi"/>
          <p:cNvSpPr/>
          <p:nvPr/>
        </p:nvSpPr>
        <p:spPr>
          <a:xfrm>
            <a:off x="416572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5" name="Illustrative delivered road transport cost class 0; reference terminal Lesedi"/>
          <p:cNvSpPr/>
          <p:nvPr/>
        </p:nvSpPr>
        <p:spPr>
          <a:xfrm>
            <a:off x="416572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6" name="Illustrative delivered road transport cost class None; reference terminal None"/>
          <p:cNvSpPr/>
          <p:nvPr/>
        </p:nvSpPr>
        <p:spPr>
          <a:xfrm>
            <a:off x="4165727"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7" name="Illustrative delivered road transport cost class None; reference terminal None"/>
          <p:cNvSpPr/>
          <p:nvPr/>
        </p:nvSpPr>
        <p:spPr>
          <a:xfrm>
            <a:off x="4165727"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8" name="Illustrative delivered road transport cost class None; reference terminal None"/>
          <p:cNvSpPr/>
          <p:nvPr/>
        </p:nvSpPr>
        <p:spPr>
          <a:xfrm>
            <a:off x="4165727"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9" name="Illustrative delivered road transport cost class None; reference terminal None"/>
          <p:cNvSpPr/>
          <p:nvPr/>
        </p:nvSpPr>
        <p:spPr>
          <a:xfrm>
            <a:off x="4165727" y="2729277"/>
            <a:ext cx="57687" cy="57687"/>
          </a:xfrm>
          <a:custGeom>
            <a:avLst/>
            <a:gdLst/>
            <a:ahLst/>
            <a:cxnLst/>
            <a:rect l="l" t="t" r="r" b="b"/>
            <a:pathLst>
              <a:path w="57687" h="57687">
                <a:moveTo>
                  <a:pt x="57687" y="0"/>
                </a:moveTo>
                <a:lnTo>
                  <a:pt x="57687" y="57687"/>
                </a:lnTo>
                <a:lnTo>
                  <a:pt x="0" y="57687"/>
                </a:lnTo>
                <a:lnTo>
                  <a:pt x="0" y="946"/>
                </a:lnTo>
                <a:lnTo>
                  <a:pt x="26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0" name="Illustrative delivered road transport cost class None; reference terminal None"/>
          <p:cNvSpPr/>
          <p:nvPr/>
        </p:nvSpPr>
        <p:spPr>
          <a:xfrm>
            <a:off x="4165989" y="2671590"/>
            <a:ext cx="57425" cy="57687"/>
          </a:xfrm>
          <a:custGeom>
            <a:avLst/>
            <a:gdLst/>
            <a:ahLst/>
            <a:cxnLst/>
            <a:rect l="l" t="t" r="r" b="b"/>
            <a:pathLst>
              <a:path w="57425" h="57687">
                <a:moveTo>
                  <a:pt x="57425" y="0"/>
                </a:moveTo>
                <a:lnTo>
                  <a:pt x="57425" y="57687"/>
                </a:lnTo>
                <a:lnTo>
                  <a:pt x="0" y="57687"/>
                </a:lnTo>
                <a:lnTo>
                  <a:pt x="2170" y="49838"/>
                </a:lnTo>
                <a:lnTo>
                  <a:pt x="6253" y="34865"/>
                </a:lnTo>
                <a:lnTo>
                  <a:pt x="29955" y="2910"/>
                </a:lnTo>
                <a:lnTo>
                  <a:pt x="33111" y="0"/>
                </a:lnTo>
                <a:lnTo>
                  <a:pt x="57425"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1" name="Illustrative delivered road transport cost class None; reference terminal None"/>
          <p:cNvSpPr/>
          <p:nvPr/>
        </p:nvSpPr>
        <p:spPr>
          <a:xfrm>
            <a:off x="4199100" y="2658698"/>
            <a:ext cx="24314" cy="12892"/>
          </a:xfrm>
          <a:custGeom>
            <a:avLst/>
            <a:gdLst/>
            <a:ahLst/>
            <a:cxnLst/>
            <a:rect l="l" t="t" r="r" b="b"/>
            <a:pathLst>
              <a:path w="24314" h="12892">
                <a:moveTo>
                  <a:pt x="24314" y="12892"/>
                </a:moveTo>
                <a:lnTo>
                  <a:pt x="0" y="12892"/>
                </a:lnTo>
                <a:lnTo>
                  <a:pt x="11401" y="2384"/>
                </a:lnTo>
                <a:lnTo>
                  <a:pt x="20640" y="2296"/>
                </a:lnTo>
                <a:lnTo>
                  <a:pt x="24314" y="0"/>
                </a:lnTo>
                <a:lnTo>
                  <a:pt x="24314" y="1289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2" name="Illustrative delivered road transport cost class 2; reference terminal Durban"/>
          <p:cNvSpPr/>
          <p:nvPr/>
        </p:nvSpPr>
        <p:spPr>
          <a:xfrm>
            <a:off x="4223414" y="5152113"/>
            <a:ext cx="21282" cy="16022"/>
          </a:xfrm>
          <a:custGeom>
            <a:avLst/>
            <a:gdLst/>
            <a:ahLst/>
            <a:cxnLst/>
            <a:rect l="l" t="t" r="r" b="b"/>
            <a:pathLst>
              <a:path w="21282" h="16022">
                <a:moveTo>
                  <a:pt x="0" y="0"/>
                </a:moveTo>
                <a:lnTo>
                  <a:pt x="21282" y="0"/>
                </a:lnTo>
                <a:lnTo>
                  <a:pt x="0" y="1602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3" name="Illustrative delivered road transport cost class 2; reference terminal Durban"/>
          <p:cNvSpPr/>
          <p:nvPr/>
        </p:nvSpPr>
        <p:spPr>
          <a:xfrm>
            <a:off x="4223414" y="5094426"/>
            <a:ext cx="57686" cy="57687"/>
          </a:xfrm>
          <a:custGeom>
            <a:avLst/>
            <a:gdLst/>
            <a:ahLst/>
            <a:cxnLst/>
            <a:rect l="l" t="t" r="r" b="b"/>
            <a:pathLst>
              <a:path w="57686" h="57687">
                <a:moveTo>
                  <a:pt x="0" y="57687"/>
                </a:moveTo>
                <a:lnTo>
                  <a:pt x="0" y="0"/>
                </a:lnTo>
                <a:lnTo>
                  <a:pt x="57686" y="0"/>
                </a:lnTo>
                <a:lnTo>
                  <a:pt x="57686" y="30279"/>
                </a:lnTo>
                <a:lnTo>
                  <a:pt x="2128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4" name="Illustrative delivered road transport cost class 2; reference terminal Durban"/>
          <p:cNvSpPr/>
          <p:nvPr/>
        </p:nvSpPr>
        <p:spPr>
          <a:xfrm>
            <a:off x="422341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5" name="Illustrative delivered road transport cost class 2; reference terminal Durban"/>
          <p:cNvSpPr/>
          <p:nvPr/>
        </p:nvSpPr>
        <p:spPr>
          <a:xfrm>
            <a:off x="422341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6" name="Illustrative delivered road transport cost class 1; reference terminal Durban"/>
          <p:cNvSpPr/>
          <p:nvPr/>
        </p:nvSpPr>
        <p:spPr>
          <a:xfrm>
            <a:off x="422341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7" name="Illustrative delivered road transport cost class 1; reference terminal Durban"/>
          <p:cNvSpPr/>
          <p:nvPr/>
        </p:nvSpPr>
        <p:spPr>
          <a:xfrm>
            <a:off x="422341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8" name="Illustrative delivered road transport cost class 1; reference terminal Durban"/>
          <p:cNvSpPr/>
          <p:nvPr/>
        </p:nvSpPr>
        <p:spPr>
          <a:xfrm>
            <a:off x="422341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9" name="Illustrative delivered road transport cost class 1; reference terminal Durban"/>
          <p:cNvSpPr/>
          <p:nvPr/>
        </p:nvSpPr>
        <p:spPr>
          <a:xfrm>
            <a:off x="422341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0" name="Illustrative delivered road transport cost class 2; reference terminal Durban"/>
          <p:cNvSpPr/>
          <p:nvPr/>
        </p:nvSpPr>
        <p:spPr>
          <a:xfrm>
            <a:off x="422341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1" name="Illustrative delivered road transport cost class 2; reference terminal Lesedi"/>
          <p:cNvSpPr/>
          <p:nvPr/>
        </p:nvSpPr>
        <p:spPr>
          <a:xfrm>
            <a:off x="422341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2" name="Illustrative delivered road transport cost class 2; reference terminal Lesedi"/>
          <p:cNvSpPr/>
          <p:nvPr/>
        </p:nvSpPr>
        <p:spPr>
          <a:xfrm>
            <a:off x="422341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3" name="Illustrative delivered road transport cost class 2; reference terminal Lesedi"/>
          <p:cNvSpPr/>
          <p:nvPr/>
        </p:nvSpPr>
        <p:spPr>
          <a:xfrm>
            <a:off x="422341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4" name="Illustrative delivered road transport cost class 2; reference terminal Lesedi"/>
          <p:cNvSpPr/>
          <p:nvPr/>
        </p:nvSpPr>
        <p:spPr>
          <a:xfrm>
            <a:off x="422341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5" name="Illustrative delivered road transport cost class 2; reference terminal Lesedi"/>
          <p:cNvSpPr/>
          <p:nvPr/>
        </p:nvSpPr>
        <p:spPr>
          <a:xfrm>
            <a:off x="4223414" y="4402188"/>
            <a:ext cx="57686" cy="57686"/>
          </a:xfrm>
          <a:custGeom>
            <a:avLst/>
            <a:gdLst/>
            <a:ahLst/>
            <a:cxnLst/>
            <a:rect l="l" t="t" r="r" b="b"/>
            <a:pathLst>
              <a:path w="57686" h="57686">
                <a:moveTo>
                  <a:pt x="57686" y="57686"/>
                </a:moveTo>
                <a:lnTo>
                  <a:pt x="0" y="57686"/>
                </a:lnTo>
                <a:lnTo>
                  <a:pt x="0" y="0"/>
                </a:lnTo>
                <a:lnTo>
                  <a:pt x="17701" y="0"/>
                </a:lnTo>
                <a:lnTo>
                  <a:pt x="20286" y="1798"/>
                </a:lnTo>
                <a:lnTo>
                  <a:pt x="33574" y="8598"/>
                </a:lnTo>
                <a:lnTo>
                  <a:pt x="36706" y="13013"/>
                </a:lnTo>
                <a:lnTo>
                  <a:pt x="45952" y="20958"/>
                </a:lnTo>
                <a:lnTo>
                  <a:pt x="54637" y="35267"/>
                </a:lnTo>
                <a:lnTo>
                  <a:pt x="57686" y="38904"/>
                </a:lnTo>
                <a:lnTo>
                  <a:pt x="57686"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6" name="Illustrative delivered road transport cost class 2; reference terminal Lesedi"/>
          <p:cNvSpPr/>
          <p:nvPr/>
        </p:nvSpPr>
        <p:spPr>
          <a:xfrm>
            <a:off x="4223414" y="4351146"/>
            <a:ext cx="17701" cy="51042"/>
          </a:xfrm>
          <a:custGeom>
            <a:avLst/>
            <a:gdLst/>
            <a:ahLst/>
            <a:cxnLst/>
            <a:rect l="l" t="t" r="r" b="b"/>
            <a:pathLst>
              <a:path w="17701" h="51042">
                <a:moveTo>
                  <a:pt x="0" y="51042"/>
                </a:moveTo>
                <a:lnTo>
                  <a:pt x="0" y="0"/>
                </a:lnTo>
                <a:lnTo>
                  <a:pt x="4354" y="6488"/>
                </a:lnTo>
                <a:lnTo>
                  <a:pt x="2632" y="29167"/>
                </a:lnTo>
                <a:lnTo>
                  <a:pt x="5652" y="37373"/>
                </a:lnTo>
                <a:lnTo>
                  <a:pt x="10875" y="46874"/>
                </a:lnTo>
                <a:lnTo>
                  <a:pt x="15288" y="49363"/>
                </a:lnTo>
                <a:lnTo>
                  <a:pt x="17701" y="51042"/>
                </a:lnTo>
                <a:lnTo>
                  <a:pt x="0" y="51042"/>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7" name="Illustrative delivered road transport cost class None; reference terminal None"/>
          <p:cNvSpPr/>
          <p:nvPr/>
        </p:nvSpPr>
        <p:spPr>
          <a:xfrm>
            <a:off x="4223414" y="4171441"/>
            <a:ext cx="12464" cy="15727"/>
          </a:xfrm>
          <a:custGeom>
            <a:avLst/>
            <a:gdLst/>
            <a:ahLst/>
            <a:cxnLst/>
            <a:rect l="l" t="t" r="r" b="b"/>
            <a:pathLst>
              <a:path w="12464" h="15727">
                <a:moveTo>
                  <a:pt x="0" y="0"/>
                </a:moveTo>
                <a:lnTo>
                  <a:pt x="12464" y="0"/>
                </a:lnTo>
                <a:lnTo>
                  <a:pt x="8330" y="6319"/>
                </a:lnTo>
                <a:lnTo>
                  <a:pt x="0" y="1572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8" name="Illustrative delivered road transport cost class None; reference terminal None"/>
          <p:cNvSpPr/>
          <p:nvPr/>
        </p:nvSpPr>
        <p:spPr>
          <a:xfrm>
            <a:off x="4223414" y="4113755"/>
            <a:ext cx="53309" cy="57686"/>
          </a:xfrm>
          <a:custGeom>
            <a:avLst/>
            <a:gdLst/>
            <a:ahLst/>
            <a:cxnLst/>
            <a:rect l="l" t="t" r="r" b="b"/>
            <a:pathLst>
              <a:path w="53309" h="57686">
                <a:moveTo>
                  <a:pt x="0" y="57686"/>
                </a:moveTo>
                <a:lnTo>
                  <a:pt x="0" y="0"/>
                </a:lnTo>
                <a:lnTo>
                  <a:pt x="53309" y="0"/>
                </a:lnTo>
                <a:lnTo>
                  <a:pt x="47645" y="8746"/>
                </a:lnTo>
                <a:lnTo>
                  <a:pt x="39324" y="18915"/>
                </a:lnTo>
                <a:lnTo>
                  <a:pt x="31785" y="25453"/>
                </a:lnTo>
                <a:lnTo>
                  <a:pt x="24064" y="39961"/>
                </a:lnTo>
                <a:lnTo>
                  <a:pt x="1246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9" name="Illustrative delivered road transport cost class None; reference terminal None"/>
          <p:cNvSpPr/>
          <p:nvPr/>
        </p:nvSpPr>
        <p:spPr>
          <a:xfrm>
            <a:off x="4223414" y="4056068"/>
            <a:ext cx="57686" cy="57687"/>
          </a:xfrm>
          <a:custGeom>
            <a:avLst/>
            <a:gdLst/>
            <a:ahLst/>
            <a:cxnLst/>
            <a:rect l="l" t="t" r="r" b="b"/>
            <a:pathLst>
              <a:path w="57686" h="57687">
                <a:moveTo>
                  <a:pt x="0" y="57687"/>
                </a:moveTo>
                <a:lnTo>
                  <a:pt x="0" y="0"/>
                </a:lnTo>
                <a:lnTo>
                  <a:pt x="57686" y="0"/>
                </a:lnTo>
                <a:lnTo>
                  <a:pt x="57686" y="50928"/>
                </a:lnTo>
                <a:lnTo>
                  <a:pt x="5330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0" name="Illustrative delivered road transport cost class 1; reference terminal Lesedi"/>
          <p:cNvSpPr/>
          <p:nvPr/>
        </p:nvSpPr>
        <p:spPr>
          <a:xfrm>
            <a:off x="4223414"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1" name="Illustrative delivered road transport cost class 1; reference terminal Lesedi"/>
          <p:cNvSpPr/>
          <p:nvPr/>
        </p:nvSpPr>
        <p:spPr>
          <a:xfrm>
            <a:off x="4223414"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2" name="Illustrative delivered road transport cost class 1; reference terminal Lesedi"/>
          <p:cNvSpPr/>
          <p:nvPr/>
        </p:nvSpPr>
        <p:spPr>
          <a:xfrm>
            <a:off x="4223414"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3" name="Illustrative delivered road transport cost class 0; reference terminal Lesedi"/>
          <p:cNvSpPr/>
          <p:nvPr/>
        </p:nvSpPr>
        <p:spPr>
          <a:xfrm>
            <a:off x="4223414"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4" name="Illustrative delivered road transport cost class 0; reference terminal Lesedi"/>
          <p:cNvSpPr/>
          <p:nvPr/>
        </p:nvSpPr>
        <p:spPr>
          <a:xfrm>
            <a:off x="4223414"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5" name="Illustrative delivered road transport cost class 0; reference terminal Lesedi"/>
          <p:cNvSpPr/>
          <p:nvPr/>
        </p:nvSpPr>
        <p:spPr>
          <a:xfrm>
            <a:off x="4223414"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6" name="Illustrative delivered road transport cost class 0; reference terminal Lesedi"/>
          <p:cNvSpPr/>
          <p:nvPr/>
        </p:nvSpPr>
        <p:spPr>
          <a:xfrm>
            <a:off x="4223414"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7" name="Illustrative delivered road transport cost class 0; reference terminal Lesedi"/>
          <p:cNvSpPr/>
          <p:nvPr/>
        </p:nvSpPr>
        <p:spPr>
          <a:xfrm>
            <a:off x="4223414"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8" name="Illustrative delivered road transport cost class 0; reference terminal Lesedi"/>
          <p:cNvSpPr/>
          <p:nvPr/>
        </p:nvSpPr>
        <p:spPr>
          <a:xfrm>
            <a:off x="4223414"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9" name="Illustrative delivered road transport cost class 0; reference terminal Lesedi"/>
          <p:cNvSpPr/>
          <p:nvPr/>
        </p:nvSpPr>
        <p:spPr>
          <a:xfrm>
            <a:off x="4223414"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0" name="Illustrative delivered road transport cost class 0; reference terminal Lesedi"/>
          <p:cNvSpPr/>
          <p:nvPr/>
        </p:nvSpPr>
        <p:spPr>
          <a:xfrm>
            <a:off x="4223414"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1" name="Illustrative delivered road transport cost class 0; reference terminal Lesedi"/>
          <p:cNvSpPr/>
          <p:nvPr/>
        </p:nvSpPr>
        <p:spPr>
          <a:xfrm>
            <a:off x="4223414"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2" name="Illustrative delivered road transport cost class 0; reference terminal Lesedi"/>
          <p:cNvSpPr/>
          <p:nvPr/>
        </p:nvSpPr>
        <p:spPr>
          <a:xfrm>
            <a:off x="4223414"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3" name="Illustrative delivered road transport cost class 0; reference terminal Lesedi"/>
          <p:cNvSpPr/>
          <p:nvPr/>
        </p:nvSpPr>
        <p:spPr>
          <a:xfrm>
            <a:off x="4223414"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4" name="Illustrative delivered road transport cost class 0; reference terminal Lesedi"/>
          <p:cNvSpPr/>
          <p:nvPr/>
        </p:nvSpPr>
        <p:spPr>
          <a:xfrm>
            <a:off x="4223414"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5" name="Illustrative delivered road transport cost class 0; reference terminal Lesedi"/>
          <p:cNvSpPr/>
          <p:nvPr/>
        </p:nvSpPr>
        <p:spPr>
          <a:xfrm>
            <a:off x="4223414"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6" name="Illustrative delivered road transport cost class 0; reference terminal Lesedi"/>
          <p:cNvSpPr/>
          <p:nvPr/>
        </p:nvSpPr>
        <p:spPr>
          <a:xfrm>
            <a:off x="4223414"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7" name="Illustrative delivered road transport cost class 0; reference terminal Lesedi"/>
          <p:cNvSpPr/>
          <p:nvPr/>
        </p:nvSpPr>
        <p:spPr>
          <a:xfrm>
            <a:off x="4223414"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8" name="Illustrative delivered road transport cost class 0; reference terminal Lesedi"/>
          <p:cNvSpPr/>
          <p:nvPr/>
        </p:nvSpPr>
        <p:spPr>
          <a:xfrm>
            <a:off x="4223414"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9" name="Illustrative delivered road transport cost class None; reference terminal None"/>
          <p:cNvSpPr/>
          <p:nvPr/>
        </p:nvSpPr>
        <p:spPr>
          <a:xfrm>
            <a:off x="4223414"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0" name="Illustrative delivered road transport cost class None; reference terminal None"/>
          <p:cNvSpPr/>
          <p:nvPr/>
        </p:nvSpPr>
        <p:spPr>
          <a:xfrm>
            <a:off x="4223414"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1" name="Illustrative delivered road transport cost class None; reference terminal None"/>
          <p:cNvSpPr/>
          <p:nvPr/>
        </p:nvSpPr>
        <p:spPr>
          <a:xfrm>
            <a:off x="4223414"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2" name="Illustrative delivered road transport cost class None; reference terminal None"/>
          <p:cNvSpPr/>
          <p:nvPr/>
        </p:nvSpPr>
        <p:spPr>
          <a:xfrm>
            <a:off x="4223414"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3" name="Illustrative delivered road transport cost class None; reference terminal None"/>
          <p:cNvSpPr/>
          <p:nvPr/>
        </p:nvSpPr>
        <p:spPr>
          <a:xfrm>
            <a:off x="4223414"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4" name="Illustrative delivered road transport cost class None; reference terminal None"/>
          <p:cNvSpPr/>
          <p:nvPr/>
        </p:nvSpPr>
        <p:spPr>
          <a:xfrm>
            <a:off x="4223414" y="2624722"/>
            <a:ext cx="57686" cy="46868"/>
          </a:xfrm>
          <a:custGeom>
            <a:avLst/>
            <a:gdLst/>
            <a:ahLst/>
            <a:cxnLst/>
            <a:rect l="l" t="t" r="r" b="b"/>
            <a:pathLst>
              <a:path w="57686" h="46868">
                <a:moveTo>
                  <a:pt x="57686" y="46868"/>
                </a:moveTo>
                <a:lnTo>
                  <a:pt x="0" y="46868"/>
                </a:lnTo>
                <a:lnTo>
                  <a:pt x="0" y="33976"/>
                </a:lnTo>
                <a:lnTo>
                  <a:pt x="9593" y="27980"/>
                </a:lnTo>
                <a:lnTo>
                  <a:pt x="26902" y="11490"/>
                </a:lnTo>
                <a:lnTo>
                  <a:pt x="47342" y="1504"/>
                </a:lnTo>
                <a:lnTo>
                  <a:pt x="57686" y="0"/>
                </a:lnTo>
                <a:lnTo>
                  <a:pt x="57686" y="4686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5" name="Illustrative delivered road transport cost class 1; reference terminal Durban"/>
          <p:cNvSpPr/>
          <p:nvPr/>
        </p:nvSpPr>
        <p:spPr>
          <a:xfrm>
            <a:off x="4281100" y="5094426"/>
            <a:ext cx="46760" cy="30279"/>
          </a:xfrm>
          <a:custGeom>
            <a:avLst/>
            <a:gdLst/>
            <a:ahLst/>
            <a:cxnLst/>
            <a:rect l="l" t="t" r="r" b="b"/>
            <a:pathLst>
              <a:path w="46760" h="30279">
                <a:moveTo>
                  <a:pt x="0" y="0"/>
                </a:moveTo>
                <a:lnTo>
                  <a:pt x="46760" y="0"/>
                </a:lnTo>
                <a:lnTo>
                  <a:pt x="39941" y="6163"/>
                </a:lnTo>
                <a:lnTo>
                  <a:pt x="18427" y="16406"/>
                </a:lnTo>
                <a:lnTo>
                  <a:pt x="0" y="3027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6" name="Illustrative delivered road transport cost class 1; reference terminal Durban"/>
          <p:cNvSpPr/>
          <p:nvPr/>
        </p:nvSpPr>
        <p:spPr>
          <a:xfrm>
            <a:off x="4281100" y="5036740"/>
            <a:ext cx="57687" cy="57686"/>
          </a:xfrm>
          <a:custGeom>
            <a:avLst/>
            <a:gdLst/>
            <a:ahLst/>
            <a:cxnLst/>
            <a:rect l="l" t="t" r="r" b="b"/>
            <a:pathLst>
              <a:path w="57687" h="57686">
                <a:moveTo>
                  <a:pt x="0" y="57686"/>
                </a:moveTo>
                <a:lnTo>
                  <a:pt x="0" y="0"/>
                </a:lnTo>
                <a:lnTo>
                  <a:pt x="57687" y="0"/>
                </a:lnTo>
                <a:lnTo>
                  <a:pt x="57687" y="47813"/>
                </a:lnTo>
                <a:lnTo>
                  <a:pt x="46760"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7" name="Illustrative delivered road transport cost class 1; reference terminal Durban"/>
          <p:cNvSpPr/>
          <p:nvPr/>
        </p:nvSpPr>
        <p:spPr>
          <a:xfrm>
            <a:off x="428110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8" name="Illustrative delivered road transport cost class 1; reference terminal Durban"/>
          <p:cNvSpPr/>
          <p:nvPr/>
        </p:nvSpPr>
        <p:spPr>
          <a:xfrm>
            <a:off x="428110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9" name="Illustrative delivered road transport cost class 1; reference terminal Durban"/>
          <p:cNvSpPr/>
          <p:nvPr/>
        </p:nvSpPr>
        <p:spPr>
          <a:xfrm>
            <a:off x="428110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0" name="Illustrative delivered road transport cost class 1; reference terminal Durban"/>
          <p:cNvSpPr/>
          <p:nvPr/>
        </p:nvSpPr>
        <p:spPr>
          <a:xfrm>
            <a:off x="428110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1" name="Illustrative delivered road transport cost class 1; reference terminal Durban"/>
          <p:cNvSpPr/>
          <p:nvPr/>
        </p:nvSpPr>
        <p:spPr>
          <a:xfrm>
            <a:off x="428110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2" name="Illustrative delivered road transport cost class 1; reference terminal Durban"/>
          <p:cNvSpPr/>
          <p:nvPr/>
        </p:nvSpPr>
        <p:spPr>
          <a:xfrm>
            <a:off x="428110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3" name="Illustrative delivered road transport cost class 1; reference terminal Durban"/>
          <p:cNvSpPr/>
          <p:nvPr/>
        </p:nvSpPr>
        <p:spPr>
          <a:xfrm>
            <a:off x="428110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4" name="Illustrative delivered road transport cost class 2; reference terminal Lesedi"/>
          <p:cNvSpPr/>
          <p:nvPr/>
        </p:nvSpPr>
        <p:spPr>
          <a:xfrm>
            <a:off x="428110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5" name="Illustrative delivered road transport cost class 2; reference terminal Lesedi"/>
          <p:cNvSpPr/>
          <p:nvPr/>
        </p:nvSpPr>
        <p:spPr>
          <a:xfrm>
            <a:off x="428110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6" name="Illustrative delivered road transport cost class 2; reference terminal Lesedi"/>
          <p:cNvSpPr/>
          <p:nvPr/>
        </p:nvSpPr>
        <p:spPr>
          <a:xfrm>
            <a:off x="4281100" y="4459874"/>
            <a:ext cx="57687" cy="57687"/>
          </a:xfrm>
          <a:custGeom>
            <a:avLst/>
            <a:gdLst/>
            <a:ahLst/>
            <a:cxnLst/>
            <a:rect l="l" t="t" r="r" b="b"/>
            <a:pathLst>
              <a:path w="57687" h="57687">
                <a:moveTo>
                  <a:pt x="57687" y="57687"/>
                </a:moveTo>
                <a:lnTo>
                  <a:pt x="0" y="57687"/>
                </a:lnTo>
                <a:lnTo>
                  <a:pt x="0" y="0"/>
                </a:lnTo>
                <a:lnTo>
                  <a:pt x="16796" y="0"/>
                </a:lnTo>
                <a:lnTo>
                  <a:pt x="32339" y="12574"/>
                </a:lnTo>
                <a:lnTo>
                  <a:pt x="57687" y="17906"/>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7" name="Illustrative delivered road transport cost class None; reference terminal None"/>
          <p:cNvSpPr/>
          <p:nvPr/>
        </p:nvSpPr>
        <p:spPr>
          <a:xfrm>
            <a:off x="4281100" y="4441092"/>
            <a:ext cx="16796" cy="18782"/>
          </a:xfrm>
          <a:custGeom>
            <a:avLst/>
            <a:gdLst/>
            <a:ahLst/>
            <a:cxnLst/>
            <a:rect l="l" t="t" r="r" b="b"/>
            <a:pathLst>
              <a:path w="16796" h="18782">
                <a:moveTo>
                  <a:pt x="0" y="18782"/>
                </a:moveTo>
                <a:lnTo>
                  <a:pt x="0" y="0"/>
                </a:lnTo>
                <a:lnTo>
                  <a:pt x="13545" y="16152"/>
                </a:lnTo>
                <a:lnTo>
                  <a:pt x="16796" y="18782"/>
                </a:lnTo>
                <a:lnTo>
                  <a:pt x="0" y="1878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8" name="Illustrative delivered road transport cost class None; reference terminal None"/>
          <p:cNvSpPr/>
          <p:nvPr/>
        </p:nvSpPr>
        <p:spPr>
          <a:xfrm>
            <a:off x="4281100" y="4056068"/>
            <a:ext cx="33084" cy="50928"/>
          </a:xfrm>
          <a:custGeom>
            <a:avLst/>
            <a:gdLst/>
            <a:ahLst/>
            <a:cxnLst/>
            <a:rect l="l" t="t" r="r" b="b"/>
            <a:pathLst>
              <a:path w="33084" h="50928">
                <a:moveTo>
                  <a:pt x="0" y="0"/>
                </a:moveTo>
                <a:lnTo>
                  <a:pt x="33084" y="0"/>
                </a:lnTo>
                <a:lnTo>
                  <a:pt x="20940" y="18711"/>
                </a:lnTo>
                <a:lnTo>
                  <a:pt x="4609" y="43812"/>
                </a:lnTo>
                <a:lnTo>
                  <a:pt x="0" y="50928"/>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9" name="Illustrative delivered road transport cost class None; reference terminal None"/>
          <p:cNvSpPr/>
          <p:nvPr/>
        </p:nvSpPr>
        <p:spPr>
          <a:xfrm>
            <a:off x="4281100" y="3998382"/>
            <a:ext cx="57687" cy="57686"/>
          </a:xfrm>
          <a:custGeom>
            <a:avLst/>
            <a:gdLst/>
            <a:ahLst/>
            <a:cxnLst/>
            <a:rect l="l" t="t" r="r" b="b"/>
            <a:pathLst>
              <a:path w="57687" h="57686">
                <a:moveTo>
                  <a:pt x="0" y="57686"/>
                </a:moveTo>
                <a:lnTo>
                  <a:pt x="0" y="0"/>
                </a:lnTo>
                <a:lnTo>
                  <a:pt x="57687" y="0"/>
                </a:lnTo>
                <a:lnTo>
                  <a:pt x="57687" y="42797"/>
                </a:lnTo>
                <a:lnTo>
                  <a:pt x="38441" y="49434"/>
                </a:lnTo>
                <a:lnTo>
                  <a:pt x="3308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0" name="Illustrative delivered road transport cost class 1; reference terminal Lesedi"/>
          <p:cNvSpPr/>
          <p:nvPr/>
        </p:nvSpPr>
        <p:spPr>
          <a:xfrm>
            <a:off x="4281100"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1" name="Illustrative delivered road transport cost class 1; reference terminal Lesedi"/>
          <p:cNvSpPr/>
          <p:nvPr/>
        </p:nvSpPr>
        <p:spPr>
          <a:xfrm>
            <a:off x="428110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2" name="Illustrative delivered road transport cost class 1; reference terminal Lesedi"/>
          <p:cNvSpPr/>
          <p:nvPr/>
        </p:nvSpPr>
        <p:spPr>
          <a:xfrm>
            <a:off x="428110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3" name="Illustrative delivered road transport cost class 0; reference terminal Lesedi"/>
          <p:cNvSpPr/>
          <p:nvPr/>
        </p:nvSpPr>
        <p:spPr>
          <a:xfrm>
            <a:off x="428110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4" name="Illustrative delivered road transport cost class 0; reference terminal Lesedi"/>
          <p:cNvSpPr/>
          <p:nvPr/>
        </p:nvSpPr>
        <p:spPr>
          <a:xfrm>
            <a:off x="428110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5" name="Illustrative delivered road transport cost class 0; reference terminal Lesedi"/>
          <p:cNvSpPr/>
          <p:nvPr/>
        </p:nvSpPr>
        <p:spPr>
          <a:xfrm>
            <a:off x="428110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6" name="Illustrative delivered road transport cost class 0; reference terminal Lesedi"/>
          <p:cNvSpPr/>
          <p:nvPr/>
        </p:nvSpPr>
        <p:spPr>
          <a:xfrm>
            <a:off x="428110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7" name="Illustrative delivered road transport cost class 0; reference terminal Lesedi"/>
          <p:cNvSpPr/>
          <p:nvPr/>
        </p:nvSpPr>
        <p:spPr>
          <a:xfrm>
            <a:off x="428110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8" name="Illustrative delivered road transport cost class 0; reference terminal Lesedi"/>
          <p:cNvSpPr/>
          <p:nvPr/>
        </p:nvSpPr>
        <p:spPr>
          <a:xfrm>
            <a:off x="428110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9" name="Illustrative delivered road transport cost class 0; reference terminal Lesedi"/>
          <p:cNvSpPr/>
          <p:nvPr/>
        </p:nvSpPr>
        <p:spPr>
          <a:xfrm>
            <a:off x="428110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0" name="Illustrative delivered road transport cost class 0; reference terminal Lesedi"/>
          <p:cNvSpPr/>
          <p:nvPr/>
        </p:nvSpPr>
        <p:spPr>
          <a:xfrm>
            <a:off x="428110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1" name="Illustrative delivered road transport cost class 0; reference terminal Lesedi"/>
          <p:cNvSpPr/>
          <p:nvPr/>
        </p:nvSpPr>
        <p:spPr>
          <a:xfrm>
            <a:off x="428110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2" name="Illustrative delivered road transport cost class 0; reference terminal Lesedi"/>
          <p:cNvSpPr/>
          <p:nvPr/>
        </p:nvSpPr>
        <p:spPr>
          <a:xfrm>
            <a:off x="428110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3" name="Illustrative delivered road transport cost class 0; reference terminal Lesedi"/>
          <p:cNvSpPr/>
          <p:nvPr/>
        </p:nvSpPr>
        <p:spPr>
          <a:xfrm>
            <a:off x="428110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4" name="Illustrative delivered road transport cost class 0; reference terminal Lesedi"/>
          <p:cNvSpPr/>
          <p:nvPr/>
        </p:nvSpPr>
        <p:spPr>
          <a:xfrm>
            <a:off x="428110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5" name="Illustrative delivered road transport cost class 0; reference terminal Lesedi"/>
          <p:cNvSpPr/>
          <p:nvPr/>
        </p:nvSpPr>
        <p:spPr>
          <a:xfrm>
            <a:off x="428110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6" name="Illustrative delivered road transport cost class 0; reference terminal Lesedi"/>
          <p:cNvSpPr/>
          <p:nvPr/>
        </p:nvSpPr>
        <p:spPr>
          <a:xfrm>
            <a:off x="428110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7" name="Illustrative delivered road transport cost class 0; reference terminal Lesedi"/>
          <p:cNvSpPr/>
          <p:nvPr/>
        </p:nvSpPr>
        <p:spPr>
          <a:xfrm>
            <a:off x="428110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8" name="Illustrative delivered road transport cost class None; reference terminal None"/>
          <p:cNvSpPr/>
          <p:nvPr/>
        </p:nvSpPr>
        <p:spPr>
          <a:xfrm>
            <a:off x="428110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9" name="Illustrative delivered road transport cost class None; reference terminal None"/>
          <p:cNvSpPr/>
          <p:nvPr/>
        </p:nvSpPr>
        <p:spPr>
          <a:xfrm>
            <a:off x="428110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0" name="Illustrative delivered road transport cost class None; reference terminal None"/>
          <p:cNvSpPr/>
          <p:nvPr/>
        </p:nvSpPr>
        <p:spPr>
          <a:xfrm>
            <a:off x="428110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1" name="Illustrative delivered road transport cost class None; reference terminal None"/>
          <p:cNvSpPr/>
          <p:nvPr/>
        </p:nvSpPr>
        <p:spPr>
          <a:xfrm>
            <a:off x="428110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2" name="Illustrative delivered road transport cost class None; reference terminal None"/>
          <p:cNvSpPr/>
          <p:nvPr/>
        </p:nvSpPr>
        <p:spPr>
          <a:xfrm>
            <a:off x="428110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3" name="Illustrative delivered road transport cost class None; reference terminal None"/>
          <p:cNvSpPr/>
          <p:nvPr/>
        </p:nvSpPr>
        <p:spPr>
          <a:xfrm>
            <a:off x="4281100" y="2613904"/>
            <a:ext cx="57687" cy="57686"/>
          </a:xfrm>
          <a:custGeom>
            <a:avLst/>
            <a:gdLst/>
            <a:ahLst/>
            <a:cxnLst/>
            <a:rect l="l" t="t" r="r" b="b"/>
            <a:pathLst>
              <a:path w="57687" h="57686">
                <a:moveTo>
                  <a:pt x="57687" y="0"/>
                </a:moveTo>
                <a:lnTo>
                  <a:pt x="57687" y="57686"/>
                </a:lnTo>
                <a:lnTo>
                  <a:pt x="0" y="57686"/>
                </a:lnTo>
                <a:lnTo>
                  <a:pt x="0" y="10818"/>
                </a:lnTo>
                <a:lnTo>
                  <a:pt x="13219" y="8896"/>
                </a:lnTo>
                <a:lnTo>
                  <a:pt x="25858"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4" name="Illustrative delivered road transport cost class None; reference terminal None"/>
          <p:cNvSpPr/>
          <p:nvPr/>
        </p:nvSpPr>
        <p:spPr>
          <a:xfrm>
            <a:off x="4306958" y="2585046"/>
            <a:ext cx="31829" cy="28858"/>
          </a:xfrm>
          <a:custGeom>
            <a:avLst/>
            <a:gdLst/>
            <a:ahLst/>
            <a:cxnLst/>
            <a:rect l="l" t="t" r="r" b="b"/>
            <a:pathLst>
              <a:path w="31829" h="28858">
                <a:moveTo>
                  <a:pt x="31829" y="28858"/>
                </a:moveTo>
                <a:lnTo>
                  <a:pt x="0" y="28858"/>
                </a:lnTo>
                <a:lnTo>
                  <a:pt x="2787" y="26896"/>
                </a:lnTo>
                <a:lnTo>
                  <a:pt x="10101" y="8669"/>
                </a:lnTo>
                <a:lnTo>
                  <a:pt x="22365" y="0"/>
                </a:lnTo>
                <a:lnTo>
                  <a:pt x="31829" y="478"/>
                </a:lnTo>
                <a:lnTo>
                  <a:pt x="31829" y="288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5" name="Illustrative delivered road transport cost class 1; reference terminal Durban"/>
          <p:cNvSpPr/>
          <p:nvPr/>
        </p:nvSpPr>
        <p:spPr>
          <a:xfrm>
            <a:off x="4338787" y="5036740"/>
            <a:ext cx="52912" cy="47813"/>
          </a:xfrm>
          <a:custGeom>
            <a:avLst/>
            <a:gdLst/>
            <a:ahLst/>
            <a:cxnLst/>
            <a:rect l="l" t="t" r="r" b="b"/>
            <a:pathLst>
              <a:path w="52912" h="47813">
                <a:moveTo>
                  <a:pt x="0" y="0"/>
                </a:moveTo>
                <a:lnTo>
                  <a:pt x="52912" y="0"/>
                </a:lnTo>
                <a:lnTo>
                  <a:pt x="0" y="4781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6" name="Illustrative delivered road transport cost class 1; reference terminal Durban"/>
          <p:cNvSpPr/>
          <p:nvPr/>
        </p:nvSpPr>
        <p:spPr>
          <a:xfrm>
            <a:off x="4338787" y="4979053"/>
            <a:ext cx="57686" cy="57687"/>
          </a:xfrm>
          <a:custGeom>
            <a:avLst/>
            <a:gdLst/>
            <a:ahLst/>
            <a:cxnLst/>
            <a:rect l="l" t="t" r="r" b="b"/>
            <a:pathLst>
              <a:path w="57686" h="57687">
                <a:moveTo>
                  <a:pt x="0" y="57687"/>
                </a:moveTo>
                <a:lnTo>
                  <a:pt x="0" y="0"/>
                </a:lnTo>
                <a:lnTo>
                  <a:pt x="57686" y="0"/>
                </a:lnTo>
                <a:lnTo>
                  <a:pt x="57686" y="53373"/>
                </a:lnTo>
                <a:lnTo>
                  <a:pt x="5291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7" name="Illustrative delivered road transport cost class 1; reference terminal Durban"/>
          <p:cNvSpPr/>
          <p:nvPr/>
        </p:nvSpPr>
        <p:spPr>
          <a:xfrm>
            <a:off x="433878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8" name="Illustrative delivered road transport cost class 1; reference terminal Durban"/>
          <p:cNvSpPr/>
          <p:nvPr/>
        </p:nvSpPr>
        <p:spPr>
          <a:xfrm>
            <a:off x="433878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9" name="Illustrative delivered road transport cost class 1; reference terminal Durban"/>
          <p:cNvSpPr/>
          <p:nvPr/>
        </p:nvSpPr>
        <p:spPr>
          <a:xfrm>
            <a:off x="433878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0" name="Illustrative delivered road transport cost class 1; reference terminal Durban"/>
          <p:cNvSpPr/>
          <p:nvPr/>
        </p:nvSpPr>
        <p:spPr>
          <a:xfrm>
            <a:off x="433878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1" name="Illustrative delivered road transport cost class 1; reference terminal Durban"/>
          <p:cNvSpPr/>
          <p:nvPr/>
        </p:nvSpPr>
        <p:spPr>
          <a:xfrm>
            <a:off x="433878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2" name="Illustrative delivered road transport cost class 1; reference terminal Durban"/>
          <p:cNvSpPr/>
          <p:nvPr/>
        </p:nvSpPr>
        <p:spPr>
          <a:xfrm>
            <a:off x="433878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3" name="Illustrative delivered road transport cost class 1; reference terminal Durban"/>
          <p:cNvSpPr/>
          <p:nvPr/>
        </p:nvSpPr>
        <p:spPr>
          <a:xfrm>
            <a:off x="433878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4" name="Illustrative delivered road transport cost class None; reference terminal None"/>
          <p:cNvSpPr/>
          <p:nvPr/>
        </p:nvSpPr>
        <p:spPr>
          <a:xfrm>
            <a:off x="433878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5" name="Illustrative delivered road transport cost class None; reference terminal None"/>
          <p:cNvSpPr/>
          <p:nvPr/>
        </p:nvSpPr>
        <p:spPr>
          <a:xfrm>
            <a:off x="4338787" y="4459874"/>
            <a:ext cx="57686" cy="57687"/>
          </a:xfrm>
          <a:custGeom>
            <a:avLst/>
            <a:gdLst/>
            <a:ahLst/>
            <a:cxnLst/>
            <a:rect l="l" t="t" r="r" b="b"/>
            <a:pathLst>
              <a:path w="57686" h="57687">
                <a:moveTo>
                  <a:pt x="57686" y="0"/>
                </a:moveTo>
                <a:lnTo>
                  <a:pt x="57686" y="57687"/>
                </a:lnTo>
                <a:lnTo>
                  <a:pt x="0" y="57687"/>
                </a:lnTo>
                <a:lnTo>
                  <a:pt x="0" y="17906"/>
                </a:lnTo>
                <a:lnTo>
                  <a:pt x="7396" y="19461"/>
                </a:lnTo>
                <a:lnTo>
                  <a:pt x="32990" y="24831"/>
                </a:lnTo>
                <a:lnTo>
                  <a:pt x="41617" y="22181"/>
                </a:lnTo>
                <a:lnTo>
                  <a:pt x="50685" y="10522"/>
                </a:lnTo>
                <a:lnTo>
                  <a:pt x="5598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6" name="Illustrative delivered road transport cost class None; reference terminal None"/>
          <p:cNvSpPr/>
          <p:nvPr/>
        </p:nvSpPr>
        <p:spPr>
          <a:xfrm>
            <a:off x="4338787" y="3998382"/>
            <a:ext cx="57686" cy="42797"/>
          </a:xfrm>
          <a:custGeom>
            <a:avLst/>
            <a:gdLst/>
            <a:ahLst/>
            <a:cxnLst/>
            <a:rect l="l" t="t" r="r" b="b"/>
            <a:pathLst>
              <a:path w="57686" h="42797">
                <a:moveTo>
                  <a:pt x="0" y="0"/>
                </a:moveTo>
                <a:lnTo>
                  <a:pt x="57686" y="0"/>
                </a:lnTo>
                <a:lnTo>
                  <a:pt x="57686" y="12496"/>
                </a:lnTo>
                <a:lnTo>
                  <a:pt x="31616" y="33586"/>
                </a:lnTo>
                <a:lnTo>
                  <a:pt x="2264" y="42017"/>
                </a:lnTo>
                <a:lnTo>
                  <a:pt x="0" y="4279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7" name="Illustrative delivered road transport cost class None; reference terminal None"/>
          <p:cNvSpPr/>
          <p:nvPr/>
        </p:nvSpPr>
        <p:spPr>
          <a:xfrm>
            <a:off x="4338787"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8" name="Illustrative delivered road transport cost class None; reference terminal None"/>
          <p:cNvSpPr/>
          <p:nvPr/>
        </p:nvSpPr>
        <p:spPr>
          <a:xfrm>
            <a:off x="433878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9" name="Illustrative delivered road transport cost class 1; reference terminal Lesedi"/>
          <p:cNvSpPr/>
          <p:nvPr/>
        </p:nvSpPr>
        <p:spPr>
          <a:xfrm>
            <a:off x="433878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0" name="Illustrative delivered road transport cost class 1; reference terminal Lesedi"/>
          <p:cNvSpPr/>
          <p:nvPr/>
        </p:nvSpPr>
        <p:spPr>
          <a:xfrm>
            <a:off x="433878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1" name="Illustrative delivered road transport cost class 0; reference terminal Lesedi"/>
          <p:cNvSpPr/>
          <p:nvPr/>
        </p:nvSpPr>
        <p:spPr>
          <a:xfrm>
            <a:off x="433878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2" name="Illustrative delivered road transport cost class 0; reference terminal Lesedi"/>
          <p:cNvSpPr/>
          <p:nvPr/>
        </p:nvSpPr>
        <p:spPr>
          <a:xfrm>
            <a:off x="433878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3" name="Illustrative delivered road transport cost class 0; reference terminal Lesedi"/>
          <p:cNvSpPr/>
          <p:nvPr/>
        </p:nvSpPr>
        <p:spPr>
          <a:xfrm>
            <a:off x="433878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4" name="Illustrative delivered road transport cost class 0; reference terminal Lesedi"/>
          <p:cNvSpPr/>
          <p:nvPr/>
        </p:nvSpPr>
        <p:spPr>
          <a:xfrm>
            <a:off x="433878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5" name="Illustrative delivered road transport cost class 0; reference terminal Lesedi"/>
          <p:cNvSpPr/>
          <p:nvPr/>
        </p:nvSpPr>
        <p:spPr>
          <a:xfrm>
            <a:off x="433878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6" name="Illustrative delivered road transport cost class 0; reference terminal Lesedi"/>
          <p:cNvSpPr/>
          <p:nvPr/>
        </p:nvSpPr>
        <p:spPr>
          <a:xfrm>
            <a:off x="433878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7" name="Illustrative delivered road transport cost class 0; reference terminal Lesedi"/>
          <p:cNvSpPr/>
          <p:nvPr/>
        </p:nvSpPr>
        <p:spPr>
          <a:xfrm>
            <a:off x="433878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8" name="Illustrative delivered road transport cost class 0; reference terminal Lesedi"/>
          <p:cNvSpPr/>
          <p:nvPr/>
        </p:nvSpPr>
        <p:spPr>
          <a:xfrm>
            <a:off x="433878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9" name="Illustrative delivered road transport cost class 0; reference terminal Lesedi"/>
          <p:cNvSpPr/>
          <p:nvPr/>
        </p:nvSpPr>
        <p:spPr>
          <a:xfrm>
            <a:off x="433878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0" name="Illustrative delivered road transport cost class 0; reference terminal Lesedi"/>
          <p:cNvSpPr/>
          <p:nvPr/>
        </p:nvSpPr>
        <p:spPr>
          <a:xfrm>
            <a:off x="433878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1" name="Illustrative delivered road transport cost class 0; reference terminal Lesedi"/>
          <p:cNvSpPr/>
          <p:nvPr/>
        </p:nvSpPr>
        <p:spPr>
          <a:xfrm>
            <a:off x="433878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2" name="Illustrative delivered road transport cost class 0; reference terminal Lesedi"/>
          <p:cNvSpPr/>
          <p:nvPr/>
        </p:nvSpPr>
        <p:spPr>
          <a:xfrm>
            <a:off x="433878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3" name="Illustrative delivered road transport cost class 0; reference terminal Lesedi"/>
          <p:cNvSpPr/>
          <p:nvPr/>
        </p:nvSpPr>
        <p:spPr>
          <a:xfrm>
            <a:off x="433878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4" name="Illustrative delivered road transport cost class 0; reference terminal Lesedi"/>
          <p:cNvSpPr/>
          <p:nvPr/>
        </p:nvSpPr>
        <p:spPr>
          <a:xfrm>
            <a:off x="433878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5" name="Illustrative delivered road transport cost class 0; reference terminal Lesedi"/>
          <p:cNvSpPr/>
          <p:nvPr/>
        </p:nvSpPr>
        <p:spPr>
          <a:xfrm>
            <a:off x="433878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6" name="Illustrative delivered road transport cost class None; reference terminal None"/>
          <p:cNvSpPr/>
          <p:nvPr/>
        </p:nvSpPr>
        <p:spPr>
          <a:xfrm>
            <a:off x="433878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7" name="Illustrative delivered road transport cost class None; reference terminal None"/>
          <p:cNvSpPr/>
          <p:nvPr/>
        </p:nvSpPr>
        <p:spPr>
          <a:xfrm>
            <a:off x="433878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8" name="Illustrative delivered road transport cost class None; reference terminal None"/>
          <p:cNvSpPr/>
          <p:nvPr/>
        </p:nvSpPr>
        <p:spPr>
          <a:xfrm>
            <a:off x="433878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9" name="Illustrative delivered road transport cost class None; reference terminal None"/>
          <p:cNvSpPr/>
          <p:nvPr/>
        </p:nvSpPr>
        <p:spPr>
          <a:xfrm>
            <a:off x="433878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0" name="Illustrative delivered road transport cost class None; reference terminal None"/>
          <p:cNvSpPr/>
          <p:nvPr/>
        </p:nvSpPr>
        <p:spPr>
          <a:xfrm>
            <a:off x="433878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1" name="Illustrative delivered road transport cost class None; reference terminal None"/>
          <p:cNvSpPr/>
          <p:nvPr/>
        </p:nvSpPr>
        <p:spPr>
          <a:xfrm>
            <a:off x="4338787" y="2556217"/>
            <a:ext cx="57686" cy="57687"/>
          </a:xfrm>
          <a:custGeom>
            <a:avLst/>
            <a:gdLst/>
            <a:ahLst/>
            <a:cxnLst/>
            <a:rect l="l" t="t" r="r" b="b"/>
            <a:pathLst>
              <a:path w="57686" h="57687">
                <a:moveTo>
                  <a:pt x="57686" y="0"/>
                </a:moveTo>
                <a:lnTo>
                  <a:pt x="57686" y="57687"/>
                </a:lnTo>
                <a:lnTo>
                  <a:pt x="0" y="57687"/>
                </a:lnTo>
                <a:lnTo>
                  <a:pt x="0" y="29307"/>
                </a:lnTo>
                <a:lnTo>
                  <a:pt x="7768" y="29699"/>
                </a:lnTo>
                <a:lnTo>
                  <a:pt x="17695" y="24082"/>
                </a:lnTo>
                <a:lnTo>
                  <a:pt x="20365" y="11922"/>
                </a:lnTo>
                <a:lnTo>
                  <a:pt x="30994" y="1712"/>
                </a:lnTo>
                <a:lnTo>
                  <a:pt x="34844"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2" name="Illustrative delivered road transport cost class None; reference terminal None"/>
          <p:cNvSpPr/>
          <p:nvPr/>
        </p:nvSpPr>
        <p:spPr>
          <a:xfrm>
            <a:off x="4373631" y="2541422"/>
            <a:ext cx="22842" cy="14795"/>
          </a:xfrm>
          <a:custGeom>
            <a:avLst/>
            <a:gdLst/>
            <a:ahLst/>
            <a:cxnLst/>
            <a:rect l="l" t="t" r="r" b="b"/>
            <a:pathLst>
              <a:path w="22842" h="14795">
                <a:moveTo>
                  <a:pt x="22842" y="14795"/>
                </a:moveTo>
                <a:lnTo>
                  <a:pt x="0" y="14795"/>
                </a:lnTo>
                <a:lnTo>
                  <a:pt x="14767" y="8230"/>
                </a:lnTo>
                <a:lnTo>
                  <a:pt x="22842" y="0"/>
                </a:lnTo>
                <a:lnTo>
                  <a:pt x="22842" y="1479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3" name="Illustrative delivered road transport cost class 1; reference terminal Durban"/>
          <p:cNvSpPr/>
          <p:nvPr/>
        </p:nvSpPr>
        <p:spPr>
          <a:xfrm>
            <a:off x="4396473" y="4979053"/>
            <a:ext cx="57687" cy="53373"/>
          </a:xfrm>
          <a:custGeom>
            <a:avLst/>
            <a:gdLst/>
            <a:ahLst/>
            <a:cxnLst/>
            <a:rect l="l" t="t" r="r" b="b"/>
            <a:pathLst>
              <a:path w="57687" h="53373">
                <a:moveTo>
                  <a:pt x="0" y="0"/>
                </a:moveTo>
                <a:lnTo>
                  <a:pt x="57687" y="0"/>
                </a:lnTo>
                <a:lnTo>
                  <a:pt x="57687" y="12780"/>
                </a:lnTo>
                <a:lnTo>
                  <a:pt x="54944" y="15243"/>
                </a:lnTo>
                <a:lnTo>
                  <a:pt x="2897" y="50755"/>
                </a:lnTo>
                <a:lnTo>
                  <a:pt x="0" y="5337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4" name="Illustrative delivered road transport cost class 1; reference terminal Durban"/>
          <p:cNvSpPr/>
          <p:nvPr/>
        </p:nvSpPr>
        <p:spPr>
          <a:xfrm>
            <a:off x="439647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5" name="Illustrative delivered road transport cost class 1; reference terminal Durban"/>
          <p:cNvSpPr/>
          <p:nvPr/>
        </p:nvSpPr>
        <p:spPr>
          <a:xfrm>
            <a:off x="439647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6" name="Illustrative delivered road transport cost class 1; reference terminal Durban"/>
          <p:cNvSpPr/>
          <p:nvPr/>
        </p:nvSpPr>
        <p:spPr>
          <a:xfrm>
            <a:off x="439647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7" name="Illustrative delivered road transport cost class 1; reference terminal Durban"/>
          <p:cNvSpPr/>
          <p:nvPr/>
        </p:nvSpPr>
        <p:spPr>
          <a:xfrm>
            <a:off x="439647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8" name="Illustrative delivered road transport cost class 1; reference terminal Durban"/>
          <p:cNvSpPr/>
          <p:nvPr/>
        </p:nvSpPr>
        <p:spPr>
          <a:xfrm>
            <a:off x="439647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9" name="Illustrative delivered road transport cost class 1; reference terminal Durban"/>
          <p:cNvSpPr/>
          <p:nvPr/>
        </p:nvSpPr>
        <p:spPr>
          <a:xfrm>
            <a:off x="439647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0" name="Illustrative delivered road transport cost class 1; reference terminal Durban"/>
          <p:cNvSpPr/>
          <p:nvPr/>
        </p:nvSpPr>
        <p:spPr>
          <a:xfrm>
            <a:off x="439647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1" name="Illustrative delivered road transport cost class 1; reference terminal Durban"/>
          <p:cNvSpPr/>
          <p:nvPr/>
        </p:nvSpPr>
        <p:spPr>
          <a:xfrm>
            <a:off x="439647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2" name="Illustrative delivered road transport cost class 1; reference terminal Durban"/>
          <p:cNvSpPr/>
          <p:nvPr/>
        </p:nvSpPr>
        <p:spPr>
          <a:xfrm>
            <a:off x="439647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3" name="Illustrative delivered road transport cost class None; reference terminal None"/>
          <p:cNvSpPr/>
          <p:nvPr/>
        </p:nvSpPr>
        <p:spPr>
          <a:xfrm>
            <a:off x="4396473" y="4402188"/>
            <a:ext cx="57687" cy="57686"/>
          </a:xfrm>
          <a:custGeom>
            <a:avLst/>
            <a:gdLst/>
            <a:ahLst/>
            <a:cxnLst/>
            <a:rect l="l" t="t" r="r" b="b"/>
            <a:pathLst>
              <a:path w="57687" h="57686">
                <a:moveTo>
                  <a:pt x="57687" y="0"/>
                </a:moveTo>
                <a:lnTo>
                  <a:pt x="57687" y="57686"/>
                </a:lnTo>
                <a:lnTo>
                  <a:pt x="0" y="57686"/>
                </a:lnTo>
                <a:lnTo>
                  <a:pt x="0" y="54310"/>
                </a:lnTo>
                <a:lnTo>
                  <a:pt x="566" y="53187"/>
                </a:lnTo>
                <a:lnTo>
                  <a:pt x="3386" y="34016"/>
                </a:lnTo>
                <a:lnTo>
                  <a:pt x="11889" y="23997"/>
                </a:lnTo>
                <a:lnTo>
                  <a:pt x="27990"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4" name="Illustrative delivered road transport cost class None; reference terminal None"/>
          <p:cNvSpPr/>
          <p:nvPr/>
        </p:nvSpPr>
        <p:spPr>
          <a:xfrm>
            <a:off x="4424463" y="4364487"/>
            <a:ext cx="29697" cy="37701"/>
          </a:xfrm>
          <a:custGeom>
            <a:avLst/>
            <a:gdLst/>
            <a:ahLst/>
            <a:cxnLst/>
            <a:rect l="l" t="t" r="r" b="b"/>
            <a:pathLst>
              <a:path w="29697" h="37701">
                <a:moveTo>
                  <a:pt x="29697" y="37701"/>
                </a:moveTo>
                <a:lnTo>
                  <a:pt x="0" y="37701"/>
                </a:lnTo>
                <a:lnTo>
                  <a:pt x="16171" y="13598"/>
                </a:lnTo>
                <a:lnTo>
                  <a:pt x="29697" y="0"/>
                </a:lnTo>
                <a:lnTo>
                  <a:pt x="29697" y="3770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5" name="Illustrative delivered road transport cost class None; reference terminal None"/>
          <p:cNvSpPr/>
          <p:nvPr/>
        </p:nvSpPr>
        <p:spPr>
          <a:xfrm>
            <a:off x="4396473" y="3998382"/>
            <a:ext cx="20941" cy="12496"/>
          </a:xfrm>
          <a:custGeom>
            <a:avLst/>
            <a:gdLst/>
            <a:ahLst/>
            <a:cxnLst/>
            <a:rect l="l" t="t" r="r" b="b"/>
            <a:pathLst>
              <a:path w="20941" h="12496">
                <a:moveTo>
                  <a:pt x="0" y="0"/>
                </a:moveTo>
                <a:lnTo>
                  <a:pt x="20941" y="0"/>
                </a:lnTo>
                <a:lnTo>
                  <a:pt x="2562" y="10424"/>
                </a:lnTo>
                <a:lnTo>
                  <a:pt x="0" y="12496"/>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6" name="Illustrative delivered road transport cost class 1; reference terminal Lesedi"/>
          <p:cNvSpPr/>
          <p:nvPr/>
        </p:nvSpPr>
        <p:spPr>
          <a:xfrm>
            <a:off x="4396473" y="3940695"/>
            <a:ext cx="57687" cy="57687"/>
          </a:xfrm>
          <a:custGeom>
            <a:avLst/>
            <a:gdLst/>
            <a:ahLst/>
            <a:cxnLst/>
            <a:rect l="l" t="t" r="r" b="b"/>
            <a:pathLst>
              <a:path w="57687" h="57687">
                <a:moveTo>
                  <a:pt x="0" y="57687"/>
                </a:moveTo>
                <a:lnTo>
                  <a:pt x="0" y="0"/>
                </a:lnTo>
                <a:lnTo>
                  <a:pt x="57687" y="0"/>
                </a:lnTo>
                <a:lnTo>
                  <a:pt x="57687" y="40967"/>
                </a:lnTo>
                <a:lnTo>
                  <a:pt x="36487" y="48869"/>
                </a:lnTo>
                <a:lnTo>
                  <a:pt x="20941"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7" name="Illustrative delivered road transport cost class 1; reference terminal Lesedi"/>
          <p:cNvSpPr/>
          <p:nvPr/>
        </p:nvSpPr>
        <p:spPr>
          <a:xfrm>
            <a:off x="439647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8" name="Illustrative delivered road transport cost class 1; reference terminal Lesedi"/>
          <p:cNvSpPr/>
          <p:nvPr/>
        </p:nvSpPr>
        <p:spPr>
          <a:xfrm>
            <a:off x="439647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9" name="Illustrative delivered road transport cost class 0; reference terminal Lesedi"/>
          <p:cNvSpPr/>
          <p:nvPr/>
        </p:nvSpPr>
        <p:spPr>
          <a:xfrm>
            <a:off x="439647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0" name="Illustrative delivered road transport cost class 0; reference terminal Lesedi"/>
          <p:cNvSpPr/>
          <p:nvPr/>
        </p:nvSpPr>
        <p:spPr>
          <a:xfrm>
            <a:off x="439647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1" name="Illustrative delivered road transport cost class 0; reference terminal Lesedi"/>
          <p:cNvSpPr/>
          <p:nvPr/>
        </p:nvSpPr>
        <p:spPr>
          <a:xfrm>
            <a:off x="439647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2" name="Illustrative delivered road transport cost class 0; reference terminal Lesedi"/>
          <p:cNvSpPr/>
          <p:nvPr/>
        </p:nvSpPr>
        <p:spPr>
          <a:xfrm>
            <a:off x="439647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3" name="Illustrative delivered road transport cost class 0; reference terminal Lesedi"/>
          <p:cNvSpPr/>
          <p:nvPr/>
        </p:nvSpPr>
        <p:spPr>
          <a:xfrm>
            <a:off x="439647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4" name="Illustrative delivered road transport cost class 0; reference terminal Lesedi"/>
          <p:cNvSpPr/>
          <p:nvPr/>
        </p:nvSpPr>
        <p:spPr>
          <a:xfrm>
            <a:off x="439647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5" name="Illustrative delivered road transport cost class 0; reference terminal Lesedi"/>
          <p:cNvSpPr/>
          <p:nvPr/>
        </p:nvSpPr>
        <p:spPr>
          <a:xfrm>
            <a:off x="439647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6" name="Illustrative delivered road transport cost class 0; reference terminal Lesedi"/>
          <p:cNvSpPr/>
          <p:nvPr/>
        </p:nvSpPr>
        <p:spPr>
          <a:xfrm>
            <a:off x="439647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7" name="Illustrative delivered road transport cost class 0; reference terminal Lesedi"/>
          <p:cNvSpPr/>
          <p:nvPr/>
        </p:nvSpPr>
        <p:spPr>
          <a:xfrm>
            <a:off x="439647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8" name="Illustrative delivered road transport cost class 0; reference terminal Lesedi"/>
          <p:cNvSpPr/>
          <p:nvPr/>
        </p:nvSpPr>
        <p:spPr>
          <a:xfrm>
            <a:off x="439647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9" name="Illustrative delivered road transport cost class 0; reference terminal Lesedi"/>
          <p:cNvSpPr/>
          <p:nvPr/>
        </p:nvSpPr>
        <p:spPr>
          <a:xfrm>
            <a:off x="439647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0" name="Illustrative delivered road transport cost class 0; reference terminal Lesedi"/>
          <p:cNvSpPr/>
          <p:nvPr/>
        </p:nvSpPr>
        <p:spPr>
          <a:xfrm>
            <a:off x="439647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1" name="Illustrative delivered road transport cost class 0; reference terminal Lesedi"/>
          <p:cNvSpPr/>
          <p:nvPr/>
        </p:nvSpPr>
        <p:spPr>
          <a:xfrm>
            <a:off x="439647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2" name="Illustrative delivered road transport cost class 0; reference terminal Lesedi"/>
          <p:cNvSpPr/>
          <p:nvPr/>
        </p:nvSpPr>
        <p:spPr>
          <a:xfrm>
            <a:off x="439647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3" name="Illustrative delivered road transport cost class 0; reference terminal Lesedi"/>
          <p:cNvSpPr/>
          <p:nvPr/>
        </p:nvSpPr>
        <p:spPr>
          <a:xfrm>
            <a:off x="439647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4" name="Illustrative delivered road transport cost class 0; reference terminal Lesedi"/>
          <p:cNvSpPr/>
          <p:nvPr/>
        </p:nvSpPr>
        <p:spPr>
          <a:xfrm>
            <a:off x="439647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5" name="Illustrative delivered road transport cost class 1; reference terminal Lesedi"/>
          <p:cNvSpPr/>
          <p:nvPr/>
        </p:nvSpPr>
        <p:spPr>
          <a:xfrm>
            <a:off x="439647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6" name="Illustrative delivered road transport cost class None; reference terminal None"/>
          <p:cNvSpPr/>
          <p:nvPr/>
        </p:nvSpPr>
        <p:spPr>
          <a:xfrm>
            <a:off x="439647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7" name="Illustrative delivered road transport cost class None; reference terminal None"/>
          <p:cNvSpPr/>
          <p:nvPr/>
        </p:nvSpPr>
        <p:spPr>
          <a:xfrm>
            <a:off x="439647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8" name="Illustrative delivered road transport cost class None; reference terminal None"/>
          <p:cNvSpPr/>
          <p:nvPr/>
        </p:nvSpPr>
        <p:spPr>
          <a:xfrm>
            <a:off x="439647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9" name="Illustrative delivered road transport cost class None; reference terminal None"/>
          <p:cNvSpPr/>
          <p:nvPr/>
        </p:nvSpPr>
        <p:spPr>
          <a:xfrm>
            <a:off x="439647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0" name="Illustrative delivered road transport cost class None; reference terminal None"/>
          <p:cNvSpPr/>
          <p:nvPr/>
        </p:nvSpPr>
        <p:spPr>
          <a:xfrm>
            <a:off x="439647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1" name="Illustrative delivered road transport cost class None; reference terminal None"/>
          <p:cNvSpPr/>
          <p:nvPr/>
        </p:nvSpPr>
        <p:spPr>
          <a:xfrm>
            <a:off x="4396473" y="2498531"/>
            <a:ext cx="57687" cy="57686"/>
          </a:xfrm>
          <a:custGeom>
            <a:avLst/>
            <a:gdLst/>
            <a:ahLst/>
            <a:cxnLst/>
            <a:rect l="l" t="t" r="r" b="b"/>
            <a:pathLst>
              <a:path w="57687" h="57686">
                <a:moveTo>
                  <a:pt x="57687" y="0"/>
                </a:moveTo>
                <a:lnTo>
                  <a:pt x="57687" y="57686"/>
                </a:lnTo>
                <a:lnTo>
                  <a:pt x="0" y="57686"/>
                </a:lnTo>
                <a:lnTo>
                  <a:pt x="0" y="42891"/>
                </a:lnTo>
                <a:lnTo>
                  <a:pt x="1803" y="41053"/>
                </a:lnTo>
                <a:lnTo>
                  <a:pt x="2934" y="29185"/>
                </a:lnTo>
                <a:lnTo>
                  <a:pt x="25556" y="801"/>
                </a:lnTo>
                <a:lnTo>
                  <a:pt x="2634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2" name="Illustrative delivered road transport cost class None; reference terminal None"/>
          <p:cNvSpPr/>
          <p:nvPr/>
        </p:nvSpPr>
        <p:spPr>
          <a:xfrm>
            <a:off x="4422819" y="2466743"/>
            <a:ext cx="31341" cy="31788"/>
          </a:xfrm>
          <a:custGeom>
            <a:avLst/>
            <a:gdLst/>
            <a:ahLst/>
            <a:cxnLst/>
            <a:rect l="l" t="t" r="r" b="b"/>
            <a:pathLst>
              <a:path w="31341" h="31788">
                <a:moveTo>
                  <a:pt x="31341" y="31788"/>
                </a:moveTo>
                <a:lnTo>
                  <a:pt x="0" y="31788"/>
                </a:lnTo>
                <a:lnTo>
                  <a:pt x="31341" y="0"/>
                </a:lnTo>
                <a:lnTo>
                  <a:pt x="31341" y="317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3" name="Illustrative delivered road transport cost class 1; reference terminal Durban"/>
          <p:cNvSpPr/>
          <p:nvPr/>
        </p:nvSpPr>
        <p:spPr>
          <a:xfrm>
            <a:off x="4454160" y="4979053"/>
            <a:ext cx="14233" cy="12780"/>
          </a:xfrm>
          <a:custGeom>
            <a:avLst/>
            <a:gdLst/>
            <a:ahLst/>
            <a:cxnLst/>
            <a:rect l="l" t="t" r="r" b="b"/>
            <a:pathLst>
              <a:path w="14233" h="12780">
                <a:moveTo>
                  <a:pt x="0" y="0"/>
                </a:moveTo>
                <a:lnTo>
                  <a:pt x="14233" y="0"/>
                </a:lnTo>
                <a:lnTo>
                  <a:pt x="0" y="1278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4" name="Illustrative delivered road transport cost class 1; reference terminal Durban"/>
          <p:cNvSpPr/>
          <p:nvPr/>
        </p:nvSpPr>
        <p:spPr>
          <a:xfrm>
            <a:off x="4454160" y="4921367"/>
            <a:ext cx="57687" cy="57686"/>
          </a:xfrm>
          <a:custGeom>
            <a:avLst/>
            <a:gdLst/>
            <a:ahLst/>
            <a:cxnLst/>
            <a:rect l="l" t="t" r="r" b="b"/>
            <a:pathLst>
              <a:path w="57687" h="57686">
                <a:moveTo>
                  <a:pt x="0" y="57686"/>
                </a:moveTo>
                <a:lnTo>
                  <a:pt x="0" y="0"/>
                </a:lnTo>
                <a:lnTo>
                  <a:pt x="57687" y="0"/>
                </a:lnTo>
                <a:lnTo>
                  <a:pt x="57687" y="18669"/>
                </a:lnTo>
                <a:lnTo>
                  <a:pt x="14233"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5" name="Illustrative delivered road transport cost class 1; reference terminal Durban"/>
          <p:cNvSpPr/>
          <p:nvPr/>
        </p:nvSpPr>
        <p:spPr>
          <a:xfrm>
            <a:off x="445416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6" name="Illustrative delivered road transport cost class 1; reference terminal Durban"/>
          <p:cNvSpPr/>
          <p:nvPr/>
        </p:nvSpPr>
        <p:spPr>
          <a:xfrm>
            <a:off x="445416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7" name="Illustrative delivered road transport cost class 1; reference terminal Durban"/>
          <p:cNvSpPr/>
          <p:nvPr/>
        </p:nvSpPr>
        <p:spPr>
          <a:xfrm>
            <a:off x="445416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8" name="Illustrative delivered road transport cost class 1; reference terminal Durban"/>
          <p:cNvSpPr/>
          <p:nvPr/>
        </p:nvSpPr>
        <p:spPr>
          <a:xfrm>
            <a:off x="445416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9" name="Illustrative delivered road transport cost class 1; reference terminal Durban"/>
          <p:cNvSpPr/>
          <p:nvPr/>
        </p:nvSpPr>
        <p:spPr>
          <a:xfrm>
            <a:off x="445416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0" name="Illustrative delivered road transport cost class 1; reference terminal Durban"/>
          <p:cNvSpPr/>
          <p:nvPr/>
        </p:nvSpPr>
        <p:spPr>
          <a:xfrm>
            <a:off x="445416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1" name="Illustrative delivered road transport cost class 1; reference terminal Durban"/>
          <p:cNvSpPr/>
          <p:nvPr/>
        </p:nvSpPr>
        <p:spPr>
          <a:xfrm>
            <a:off x="445416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2" name="Illustrative delivered road transport cost class 0; reference terminal Durban"/>
          <p:cNvSpPr/>
          <p:nvPr/>
        </p:nvSpPr>
        <p:spPr>
          <a:xfrm>
            <a:off x="445416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3" name="Illustrative delivered road transport cost class 0; reference terminal Durban"/>
          <p:cNvSpPr/>
          <p:nvPr/>
        </p:nvSpPr>
        <p:spPr>
          <a:xfrm>
            <a:off x="445416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4" name="Illustrative delivered road transport cost class 1; reference terminal Durban"/>
          <p:cNvSpPr/>
          <p:nvPr/>
        </p:nvSpPr>
        <p:spPr>
          <a:xfrm>
            <a:off x="4454160" y="4355384"/>
            <a:ext cx="57687" cy="46804"/>
          </a:xfrm>
          <a:custGeom>
            <a:avLst/>
            <a:gdLst/>
            <a:ahLst/>
            <a:cxnLst/>
            <a:rect l="l" t="t" r="r" b="b"/>
            <a:pathLst>
              <a:path w="57687" h="46804">
                <a:moveTo>
                  <a:pt x="57687" y="46804"/>
                </a:moveTo>
                <a:lnTo>
                  <a:pt x="0" y="46804"/>
                </a:lnTo>
                <a:lnTo>
                  <a:pt x="0" y="9103"/>
                </a:lnTo>
                <a:lnTo>
                  <a:pt x="4027" y="5054"/>
                </a:lnTo>
                <a:lnTo>
                  <a:pt x="14501" y="4058"/>
                </a:lnTo>
                <a:lnTo>
                  <a:pt x="28057" y="984"/>
                </a:lnTo>
                <a:lnTo>
                  <a:pt x="45223" y="0"/>
                </a:lnTo>
                <a:lnTo>
                  <a:pt x="57687" y="1796"/>
                </a:lnTo>
                <a:lnTo>
                  <a:pt x="57687" y="4680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5" name="Illustrative delivered road transport cost class 1; reference terminal Lesedi"/>
          <p:cNvSpPr/>
          <p:nvPr/>
        </p:nvSpPr>
        <p:spPr>
          <a:xfrm>
            <a:off x="4454160" y="3940695"/>
            <a:ext cx="57687" cy="40967"/>
          </a:xfrm>
          <a:custGeom>
            <a:avLst/>
            <a:gdLst/>
            <a:ahLst/>
            <a:cxnLst/>
            <a:rect l="l" t="t" r="r" b="b"/>
            <a:pathLst>
              <a:path w="57687" h="40967">
                <a:moveTo>
                  <a:pt x="0" y="0"/>
                </a:moveTo>
                <a:lnTo>
                  <a:pt x="57687" y="0"/>
                </a:lnTo>
                <a:lnTo>
                  <a:pt x="57687" y="23923"/>
                </a:lnTo>
                <a:lnTo>
                  <a:pt x="33345" y="28537"/>
                </a:lnTo>
                <a:lnTo>
                  <a:pt x="0" y="40967"/>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6" name="Illustrative delivered road transport cost class 1; reference terminal Lesedi"/>
          <p:cNvSpPr/>
          <p:nvPr/>
        </p:nvSpPr>
        <p:spPr>
          <a:xfrm>
            <a:off x="445416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7" name="Illustrative delivered road transport cost class 0; reference terminal Lesedi"/>
          <p:cNvSpPr/>
          <p:nvPr/>
        </p:nvSpPr>
        <p:spPr>
          <a:xfrm>
            <a:off x="445416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8" name="Illustrative delivered road transport cost class 0; reference terminal Lesedi"/>
          <p:cNvSpPr/>
          <p:nvPr/>
        </p:nvSpPr>
        <p:spPr>
          <a:xfrm>
            <a:off x="445416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9" name="Illustrative delivered road transport cost class 0; reference terminal Lesedi"/>
          <p:cNvSpPr/>
          <p:nvPr/>
        </p:nvSpPr>
        <p:spPr>
          <a:xfrm>
            <a:off x="445416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0" name="Illustrative delivered road transport cost class 0; reference terminal Lesedi"/>
          <p:cNvSpPr/>
          <p:nvPr/>
        </p:nvSpPr>
        <p:spPr>
          <a:xfrm>
            <a:off x="445416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1" name="Illustrative delivered road transport cost class 0; reference terminal Lesedi"/>
          <p:cNvSpPr/>
          <p:nvPr/>
        </p:nvSpPr>
        <p:spPr>
          <a:xfrm>
            <a:off x="445416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2" name="Illustrative delivered road transport cost class 0; reference terminal Lesedi"/>
          <p:cNvSpPr/>
          <p:nvPr/>
        </p:nvSpPr>
        <p:spPr>
          <a:xfrm>
            <a:off x="445416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3" name="Illustrative delivered road transport cost class 0; reference terminal Lesedi"/>
          <p:cNvSpPr/>
          <p:nvPr/>
        </p:nvSpPr>
        <p:spPr>
          <a:xfrm>
            <a:off x="445416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4" name="Illustrative delivered road transport cost class 0; reference terminal Lesedi"/>
          <p:cNvSpPr/>
          <p:nvPr/>
        </p:nvSpPr>
        <p:spPr>
          <a:xfrm>
            <a:off x="445416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5" name="Illustrative delivered road transport cost class 0; reference terminal Lesedi"/>
          <p:cNvSpPr/>
          <p:nvPr/>
        </p:nvSpPr>
        <p:spPr>
          <a:xfrm>
            <a:off x="445416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6" name="Illustrative delivered road transport cost class 0; reference terminal Lesedi"/>
          <p:cNvSpPr/>
          <p:nvPr/>
        </p:nvSpPr>
        <p:spPr>
          <a:xfrm>
            <a:off x="445416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7" name="Illustrative delivered road transport cost class 0; reference terminal Lesedi"/>
          <p:cNvSpPr/>
          <p:nvPr/>
        </p:nvSpPr>
        <p:spPr>
          <a:xfrm>
            <a:off x="445416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8" name="Illustrative delivered road transport cost class 0; reference terminal Lesedi"/>
          <p:cNvSpPr/>
          <p:nvPr/>
        </p:nvSpPr>
        <p:spPr>
          <a:xfrm>
            <a:off x="445416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9" name="Illustrative delivered road transport cost class 0; reference terminal Lesedi"/>
          <p:cNvSpPr/>
          <p:nvPr/>
        </p:nvSpPr>
        <p:spPr>
          <a:xfrm>
            <a:off x="445416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0" name="Illustrative delivered road transport cost class 0; reference terminal Lesedi"/>
          <p:cNvSpPr/>
          <p:nvPr/>
        </p:nvSpPr>
        <p:spPr>
          <a:xfrm>
            <a:off x="445416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1" name="Illustrative delivered road transport cost class 0; reference terminal Lesedi"/>
          <p:cNvSpPr/>
          <p:nvPr/>
        </p:nvSpPr>
        <p:spPr>
          <a:xfrm>
            <a:off x="445416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2" name="Illustrative delivered road transport cost class 0; reference terminal Lesedi"/>
          <p:cNvSpPr/>
          <p:nvPr/>
        </p:nvSpPr>
        <p:spPr>
          <a:xfrm>
            <a:off x="445416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3" name="Illustrative delivered road transport cost class 0; reference terminal Lesedi"/>
          <p:cNvSpPr/>
          <p:nvPr/>
        </p:nvSpPr>
        <p:spPr>
          <a:xfrm>
            <a:off x="445416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4" name="Illustrative delivered road transport cost class 1; reference terminal Lesedi"/>
          <p:cNvSpPr/>
          <p:nvPr/>
        </p:nvSpPr>
        <p:spPr>
          <a:xfrm>
            <a:off x="445416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5" name="Illustrative delivered road transport cost class 1; reference terminal Lesedi"/>
          <p:cNvSpPr/>
          <p:nvPr/>
        </p:nvSpPr>
        <p:spPr>
          <a:xfrm>
            <a:off x="445416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6" name="Illustrative delivered road transport cost class 1; reference terminal Lesedi"/>
          <p:cNvSpPr/>
          <p:nvPr/>
        </p:nvSpPr>
        <p:spPr>
          <a:xfrm>
            <a:off x="445416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7" name="Illustrative delivered road transport cost class None; reference terminal None"/>
          <p:cNvSpPr/>
          <p:nvPr/>
        </p:nvSpPr>
        <p:spPr>
          <a:xfrm>
            <a:off x="445416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8" name="Illustrative delivered road transport cost class None; reference terminal None"/>
          <p:cNvSpPr/>
          <p:nvPr/>
        </p:nvSpPr>
        <p:spPr>
          <a:xfrm>
            <a:off x="4454160"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9" name="Illustrative delivered road transport cost class None; reference terminal None"/>
          <p:cNvSpPr/>
          <p:nvPr/>
        </p:nvSpPr>
        <p:spPr>
          <a:xfrm>
            <a:off x="4454160"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0" name="Illustrative delivered road transport cost class None; reference terminal None"/>
          <p:cNvSpPr/>
          <p:nvPr/>
        </p:nvSpPr>
        <p:spPr>
          <a:xfrm>
            <a:off x="4454160"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1" name="Illustrative delivered road transport cost class None; reference terminal None"/>
          <p:cNvSpPr/>
          <p:nvPr/>
        </p:nvSpPr>
        <p:spPr>
          <a:xfrm>
            <a:off x="4454160" y="2440844"/>
            <a:ext cx="57687" cy="57687"/>
          </a:xfrm>
          <a:custGeom>
            <a:avLst/>
            <a:gdLst/>
            <a:ahLst/>
            <a:cxnLst/>
            <a:rect l="l" t="t" r="r" b="b"/>
            <a:pathLst>
              <a:path w="57687" h="57687">
                <a:moveTo>
                  <a:pt x="57687" y="0"/>
                </a:moveTo>
                <a:lnTo>
                  <a:pt x="57687" y="57687"/>
                </a:lnTo>
                <a:lnTo>
                  <a:pt x="0" y="57687"/>
                </a:lnTo>
                <a:lnTo>
                  <a:pt x="0" y="25899"/>
                </a:lnTo>
                <a:lnTo>
                  <a:pt x="12112" y="13614"/>
                </a:lnTo>
                <a:lnTo>
                  <a:pt x="3506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2" name="Illustrative delivered road transport cost class None; reference terminal None"/>
          <p:cNvSpPr/>
          <p:nvPr/>
        </p:nvSpPr>
        <p:spPr>
          <a:xfrm>
            <a:off x="4489224" y="2429483"/>
            <a:ext cx="22623" cy="11361"/>
          </a:xfrm>
          <a:custGeom>
            <a:avLst/>
            <a:gdLst/>
            <a:ahLst/>
            <a:cxnLst/>
            <a:rect l="l" t="t" r="r" b="b"/>
            <a:pathLst>
              <a:path w="22623" h="11361">
                <a:moveTo>
                  <a:pt x="22623" y="11361"/>
                </a:moveTo>
                <a:lnTo>
                  <a:pt x="0" y="11361"/>
                </a:lnTo>
                <a:lnTo>
                  <a:pt x="18382" y="458"/>
                </a:lnTo>
                <a:lnTo>
                  <a:pt x="22623" y="0"/>
                </a:lnTo>
                <a:lnTo>
                  <a:pt x="22623" y="1136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3" name="Illustrative delivered road transport cost class 1; reference terminal Durban"/>
          <p:cNvSpPr/>
          <p:nvPr/>
        </p:nvSpPr>
        <p:spPr>
          <a:xfrm>
            <a:off x="4511847" y="4921367"/>
            <a:ext cx="20792" cy="18669"/>
          </a:xfrm>
          <a:custGeom>
            <a:avLst/>
            <a:gdLst/>
            <a:ahLst/>
            <a:cxnLst/>
            <a:rect l="l" t="t" r="r" b="b"/>
            <a:pathLst>
              <a:path w="20792" h="18669">
                <a:moveTo>
                  <a:pt x="0" y="0"/>
                </a:moveTo>
                <a:lnTo>
                  <a:pt x="20792" y="0"/>
                </a:lnTo>
                <a:lnTo>
                  <a:pt x="0" y="1866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4" name="Illustrative delivered road transport cost class 1; reference terminal Durban"/>
          <p:cNvSpPr/>
          <p:nvPr/>
        </p:nvSpPr>
        <p:spPr>
          <a:xfrm>
            <a:off x="4511847" y="4863680"/>
            <a:ext cx="57686" cy="57687"/>
          </a:xfrm>
          <a:custGeom>
            <a:avLst/>
            <a:gdLst/>
            <a:ahLst/>
            <a:cxnLst/>
            <a:rect l="l" t="t" r="r" b="b"/>
            <a:pathLst>
              <a:path w="57686" h="57687">
                <a:moveTo>
                  <a:pt x="0" y="57687"/>
                </a:moveTo>
                <a:lnTo>
                  <a:pt x="0" y="0"/>
                </a:lnTo>
                <a:lnTo>
                  <a:pt x="57686" y="0"/>
                </a:lnTo>
                <a:lnTo>
                  <a:pt x="57686" y="17156"/>
                </a:lnTo>
                <a:lnTo>
                  <a:pt x="30553" y="48922"/>
                </a:lnTo>
                <a:lnTo>
                  <a:pt x="2079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5" name="Illustrative delivered road transport cost class 1; reference terminal Durban"/>
          <p:cNvSpPr/>
          <p:nvPr/>
        </p:nvSpPr>
        <p:spPr>
          <a:xfrm>
            <a:off x="451184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6" name="Illustrative delivered road transport cost class 1; reference terminal Durban"/>
          <p:cNvSpPr/>
          <p:nvPr/>
        </p:nvSpPr>
        <p:spPr>
          <a:xfrm>
            <a:off x="451184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7" name="Illustrative delivered road transport cost class 1; reference terminal Durban"/>
          <p:cNvSpPr/>
          <p:nvPr/>
        </p:nvSpPr>
        <p:spPr>
          <a:xfrm>
            <a:off x="451184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8" name="Illustrative delivered road transport cost class 1; reference terminal Durban"/>
          <p:cNvSpPr/>
          <p:nvPr/>
        </p:nvSpPr>
        <p:spPr>
          <a:xfrm>
            <a:off x="451184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9" name="Illustrative delivered road transport cost class 0; reference terminal Durban"/>
          <p:cNvSpPr/>
          <p:nvPr/>
        </p:nvSpPr>
        <p:spPr>
          <a:xfrm>
            <a:off x="451184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0" name="Illustrative delivered road transport cost class 0; reference terminal Durban"/>
          <p:cNvSpPr/>
          <p:nvPr/>
        </p:nvSpPr>
        <p:spPr>
          <a:xfrm>
            <a:off x="451184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1" name="Illustrative delivered road transport cost class 0; reference terminal Durban"/>
          <p:cNvSpPr/>
          <p:nvPr/>
        </p:nvSpPr>
        <p:spPr>
          <a:xfrm>
            <a:off x="451184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2" name="Illustrative delivered road transport cost class 0; reference terminal Durban"/>
          <p:cNvSpPr/>
          <p:nvPr/>
        </p:nvSpPr>
        <p:spPr>
          <a:xfrm>
            <a:off x="451184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3" name="Illustrative delivered road transport cost class 0; reference terminal Durban"/>
          <p:cNvSpPr/>
          <p:nvPr/>
        </p:nvSpPr>
        <p:spPr>
          <a:xfrm>
            <a:off x="4511847" y="4344501"/>
            <a:ext cx="57686" cy="57687"/>
          </a:xfrm>
          <a:custGeom>
            <a:avLst/>
            <a:gdLst/>
            <a:ahLst/>
            <a:cxnLst/>
            <a:rect l="l" t="t" r="r" b="b"/>
            <a:pathLst>
              <a:path w="57686" h="57687">
                <a:moveTo>
                  <a:pt x="57686" y="0"/>
                </a:moveTo>
                <a:lnTo>
                  <a:pt x="57686" y="57687"/>
                </a:lnTo>
                <a:lnTo>
                  <a:pt x="0" y="57687"/>
                </a:lnTo>
                <a:lnTo>
                  <a:pt x="0" y="12679"/>
                </a:lnTo>
                <a:lnTo>
                  <a:pt x="314" y="12725"/>
                </a:lnTo>
                <a:lnTo>
                  <a:pt x="3108" y="12261"/>
                </a:lnTo>
                <a:lnTo>
                  <a:pt x="23316" y="6595"/>
                </a:lnTo>
                <a:lnTo>
                  <a:pt x="39543"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4" name="Illustrative delivered road transport cost class 1; reference terminal Durban"/>
          <p:cNvSpPr/>
          <p:nvPr/>
        </p:nvSpPr>
        <p:spPr>
          <a:xfrm>
            <a:off x="4551390" y="4337127"/>
            <a:ext cx="18143" cy="7374"/>
          </a:xfrm>
          <a:custGeom>
            <a:avLst/>
            <a:gdLst/>
            <a:ahLst/>
            <a:cxnLst/>
            <a:rect l="l" t="t" r="r" b="b"/>
            <a:pathLst>
              <a:path w="18143" h="7374">
                <a:moveTo>
                  <a:pt x="18143" y="7374"/>
                </a:moveTo>
                <a:lnTo>
                  <a:pt x="0" y="7374"/>
                </a:lnTo>
                <a:lnTo>
                  <a:pt x="18143" y="0"/>
                </a:lnTo>
                <a:lnTo>
                  <a:pt x="18143" y="73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5" name="Illustrative delivered road transport cost class 0; reference terminal Durban"/>
          <p:cNvSpPr/>
          <p:nvPr/>
        </p:nvSpPr>
        <p:spPr>
          <a:xfrm>
            <a:off x="4553217" y="3998382"/>
            <a:ext cx="16316" cy="12749"/>
          </a:xfrm>
          <a:custGeom>
            <a:avLst/>
            <a:gdLst/>
            <a:ahLst/>
            <a:cxnLst/>
            <a:rect l="l" t="t" r="r" b="b"/>
            <a:pathLst>
              <a:path w="16316" h="12749">
                <a:moveTo>
                  <a:pt x="16316" y="0"/>
                </a:moveTo>
                <a:lnTo>
                  <a:pt x="16316" y="12749"/>
                </a:lnTo>
                <a:lnTo>
                  <a:pt x="10754" y="9811"/>
                </a:lnTo>
                <a:lnTo>
                  <a:pt x="0" y="0"/>
                </a:lnTo>
                <a:lnTo>
                  <a:pt x="1631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6" name="Illustrative delivered road transport cost class 0; reference terminal Lesedi"/>
          <p:cNvSpPr/>
          <p:nvPr/>
        </p:nvSpPr>
        <p:spPr>
          <a:xfrm>
            <a:off x="4511847" y="3940695"/>
            <a:ext cx="57686" cy="57687"/>
          </a:xfrm>
          <a:custGeom>
            <a:avLst/>
            <a:gdLst/>
            <a:ahLst/>
            <a:cxnLst/>
            <a:rect l="l" t="t" r="r" b="b"/>
            <a:pathLst>
              <a:path w="57686" h="57687">
                <a:moveTo>
                  <a:pt x="0" y="0"/>
                </a:moveTo>
                <a:lnTo>
                  <a:pt x="57686" y="0"/>
                </a:lnTo>
                <a:lnTo>
                  <a:pt x="57686" y="57687"/>
                </a:lnTo>
                <a:lnTo>
                  <a:pt x="41370" y="57687"/>
                </a:lnTo>
                <a:lnTo>
                  <a:pt x="31431" y="48619"/>
                </a:lnTo>
                <a:lnTo>
                  <a:pt x="22601" y="37871"/>
                </a:lnTo>
                <a:lnTo>
                  <a:pt x="16556" y="25162"/>
                </a:lnTo>
                <a:lnTo>
                  <a:pt x="10625" y="20856"/>
                </a:lnTo>
                <a:lnTo>
                  <a:pt x="971" y="23738"/>
                </a:lnTo>
                <a:lnTo>
                  <a:pt x="0" y="2392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7" name="Illustrative delivered road transport cost class 0; reference terminal Lesedi"/>
          <p:cNvSpPr/>
          <p:nvPr/>
        </p:nvSpPr>
        <p:spPr>
          <a:xfrm>
            <a:off x="451184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8" name="Illustrative delivered road transport cost class 0; reference terminal Lesedi"/>
          <p:cNvSpPr/>
          <p:nvPr/>
        </p:nvSpPr>
        <p:spPr>
          <a:xfrm>
            <a:off x="451184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9" name="Illustrative delivered road transport cost class 0; reference terminal Lesedi"/>
          <p:cNvSpPr/>
          <p:nvPr/>
        </p:nvSpPr>
        <p:spPr>
          <a:xfrm>
            <a:off x="451184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0" name="Illustrative delivered road transport cost class 0; reference terminal Lesedi"/>
          <p:cNvSpPr/>
          <p:nvPr/>
        </p:nvSpPr>
        <p:spPr>
          <a:xfrm>
            <a:off x="451184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1" name="Illustrative delivered road transport cost class 0; reference terminal Lesedi"/>
          <p:cNvSpPr/>
          <p:nvPr/>
        </p:nvSpPr>
        <p:spPr>
          <a:xfrm>
            <a:off x="451184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2" name="Illustrative delivered road transport cost class 0; reference terminal Lesedi"/>
          <p:cNvSpPr/>
          <p:nvPr/>
        </p:nvSpPr>
        <p:spPr>
          <a:xfrm>
            <a:off x="451184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3" name="Illustrative delivered road transport cost class 0; reference terminal Lesedi"/>
          <p:cNvSpPr/>
          <p:nvPr/>
        </p:nvSpPr>
        <p:spPr>
          <a:xfrm>
            <a:off x="451184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4" name="Illustrative delivered road transport cost class 0; reference terminal Lesedi"/>
          <p:cNvSpPr/>
          <p:nvPr/>
        </p:nvSpPr>
        <p:spPr>
          <a:xfrm>
            <a:off x="451184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5" name="Illustrative delivered road transport cost class 0; reference terminal Lesedi"/>
          <p:cNvSpPr/>
          <p:nvPr/>
        </p:nvSpPr>
        <p:spPr>
          <a:xfrm>
            <a:off x="451184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6" name="Illustrative delivered road transport cost class 0; reference terminal Lesedi"/>
          <p:cNvSpPr/>
          <p:nvPr/>
        </p:nvSpPr>
        <p:spPr>
          <a:xfrm>
            <a:off x="451184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7" name="Illustrative delivered road transport cost class 0; reference terminal Lesedi"/>
          <p:cNvSpPr/>
          <p:nvPr/>
        </p:nvSpPr>
        <p:spPr>
          <a:xfrm>
            <a:off x="451184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8" name="Illustrative delivered road transport cost class 0; reference terminal Lesedi"/>
          <p:cNvSpPr/>
          <p:nvPr/>
        </p:nvSpPr>
        <p:spPr>
          <a:xfrm>
            <a:off x="451184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9" name="Illustrative delivered road transport cost class 0; reference terminal Lesedi"/>
          <p:cNvSpPr/>
          <p:nvPr/>
        </p:nvSpPr>
        <p:spPr>
          <a:xfrm>
            <a:off x="451184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0" name="Illustrative delivered road transport cost class 0; reference terminal Lesedi"/>
          <p:cNvSpPr/>
          <p:nvPr/>
        </p:nvSpPr>
        <p:spPr>
          <a:xfrm>
            <a:off x="451184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1" name="Illustrative delivered road transport cost class 0; reference terminal Lesedi"/>
          <p:cNvSpPr/>
          <p:nvPr/>
        </p:nvSpPr>
        <p:spPr>
          <a:xfrm>
            <a:off x="451184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2" name="Illustrative delivered road transport cost class 0; reference terminal Lesedi"/>
          <p:cNvSpPr/>
          <p:nvPr/>
        </p:nvSpPr>
        <p:spPr>
          <a:xfrm>
            <a:off x="451184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3" name="Illustrative delivered road transport cost class 0; reference terminal Lesedi"/>
          <p:cNvSpPr/>
          <p:nvPr/>
        </p:nvSpPr>
        <p:spPr>
          <a:xfrm>
            <a:off x="451184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4" name="Illustrative delivered road transport cost class 0; reference terminal Lesedi"/>
          <p:cNvSpPr/>
          <p:nvPr/>
        </p:nvSpPr>
        <p:spPr>
          <a:xfrm>
            <a:off x="451184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5" name="Illustrative delivered road transport cost class 1; reference terminal Lesedi"/>
          <p:cNvSpPr/>
          <p:nvPr/>
        </p:nvSpPr>
        <p:spPr>
          <a:xfrm>
            <a:off x="451184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6" name="Illustrative delivered road transport cost class 1; reference terminal Lesedi"/>
          <p:cNvSpPr/>
          <p:nvPr/>
        </p:nvSpPr>
        <p:spPr>
          <a:xfrm>
            <a:off x="451184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7" name="Illustrative delivered road transport cost class 1; reference terminal Lesedi"/>
          <p:cNvSpPr/>
          <p:nvPr/>
        </p:nvSpPr>
        <p:spPr>
          <a:xfrm>
            <a:off x="451184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8" name="Illustrative delivered road transport cost class 1; reference terminal Lesedi"/>
          <p:cNvSpPr/>
          <p:nvPr/>
        </p:nvSpPr>
        <p:spPr>
          <a:xfrm>
            <a:off x="451184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9" name="Illustrative delivered road transport cost class None; reference terminal None"/>
          <p:cNvSpPr/>
          <p:nvPr/>
        </p:nvSpPr>
        <p:spPr>
          <a:xfrm>
            <a:off x="451184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0" name="Illustrative delivered road transport cost class None; reference terminal None"/>
          <p:cNvSpPr/>
          <p:nvPr/>
        </p:nvSpPr>
        <p:spPr>
          <a:xfrm>
            <a:off x="4511847"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1" name="Illustrative delivered road transport cost class None; reference terminal None"/>
          <p:cNvSpPr/>
          <p:nvPr/>
        </p:nvSpPr>
        <p:spPr>
          <a:xfrm>
            <a:off x="4511847"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2" name="Illustrative delivered road transport cost class None; reference terminal None"/>
          <p:cNvSpPr/>
          <p:nvPr/>
        </p:nvSpPr>
        <p:spPr>
          <a:xfrm>
            <a:off x="4511847"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3" name="Illustrative delivered road transport cost class None; reference terminal None"/>
          <p:cNvSpPr/>
          <p:nvPr/>
        </p:nvSpPr>
        <p:spPr>
          <a:xfrm>
            <a:off x="4511847" y="2420300"/>
            <a:ext cx="57686" cy="20544"/>
          </a:xfrm>
          <a:custGeom>
            <a:avLst/>
            <a:gdLst/>
            <a:ahLst/>
            <a:cxnLst/>
            <a:rect l="l" t="t" r="r" b="b"/>
            <a:pathLst>
              <a:path w="57686" h="20544">
                <a:moveTo>
                  <a:pt x="57686" y="20544"/>
                </a:moveTo>
                <a:lnTo>
                  <a:pt x="0" y="20544"/>
                </a:lnTo>
                <a:lnTo>
                  <a:pt x="0" y="9183"/>
                </a:lnTo>
                <a:lnTo>
                  <a:pt x="34152" y="5493"/>
                </a:lnTo>
                <a:lnTo>
                  <a:pt x="57686" y="0"/>
                </a:lnTo>
                <a:lnTo>
                  <a:pt x="57686" y="2054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4" name="Illustrative delivered road transport cost class 1; reference terminal Durban"/>
          <p:cNvSpPr/>
          <p:nvPr/>
        </p:nvSpPr>
        <p:spPr>
          <a:xfrm>
            <a:off x="4569533" y="4863680"/>
            <a:ext cx="14654" cy="17156"/>
          </a:xfrm>
          <a:custGeom>
            <a:avLst/>
            <a:gdLst/>
            <a:ahLst/>
            <a:cxnLst/>
            <a:rect l="l" t="t" r="r" b="b"/>
            <a:pathLst>
              <a:path w="14654" h="17156">
                <a:moveTo>
                  <a:pt x="0" y="0"/>
                </a:moveTo>
                <a:lnTo>
                  <a:pt x="14654" y="0"/>
                </a:lnTo>
                <a:lnTo>
                  <a:pt x="0" y="1715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5" name="Illustrative delivered road transport cost class 1; reference terminal Durban"/>
          <p:cNvSpPr/>
          <p:nvPr/>
        </p:nvSpPr>
        <p:spPr>
          <a:xfrm>
            <a:off x="4569533" y="4805994"/>
            <a:ext cx="57687" cy="57686"/>
          </a:xfrm>
          <a:custGeom>
            <a:avLst/>
            <a:gdLst/>
            <a:ahLst/>
            <a:cxnLst/>
            <a:rect l="l" t="t" r="r" b="b"/>
            <a:pathLst>
              <a:path w="57687" h="57686">
                <a:moveTo>
                  <a:pt x="0" y="57686"/>
                </a:moveTo>
                <a:lnTo>
                  <a:pt x="0" y="0"/>
                </a:lnTo>
                <a:lnTo>
                  <a:pt x="57687" y="0"/>
                </a:lnTo>
                <a:lnTo>
                  <a:pt x="57687" y="11126"/>
                </a:lnTo>
                <a:lnTo>
                  <a:pt x="34711" y="34204"/>
                </a:lnTo>
                <a:lnTo>
                  <a:pt x="14654"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6" name="Illustrative delivered road transport cost class 1; reference terminal Durban"/>
          <p:cNvSpPr/>
          <p:nvPr/>
        </p:nvSpPr>
        <p:spPr>
          <a:xfrm>
            <a:off x="456953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7" name="Illustrative delivered road transport cost class 1; reference terminal Durban"/>
          <p:cNvSpPr/>
          <p:nvPr/>
        </p:nvSpPr>
        <p:spPr>
          <a:xfrm>
            <a:off x="456953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8" name="Illustrative delivered road transport cost class 1; reference terminal Durban"/>
          <p:cNvSpPr/>
          <p:nvPr/>
        </p:nvSpPr>
        <p:spPr>
          <a:xfrm>
            <a:off x="456953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9" name="Illustrative delivered road transport cost class 0; reference terminal Durban"/>
          <p:cNvSpPr/>
          <p:nvPr/>
        </p:nvSpPr>
        <p:spPr>
          <a:xfrm>
            <a:off x="456953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0" name="Illustrative delivered road transport cost class 0; reference terminal Durban"/>
          <p:cNvSpPr/>
          <p:nvPr/>
        </p:nvSpPr>
        <p:spPr>
          <a:xfrm>
            <a:off x="456953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1" name="Illustrative delivered road transport cost class 0; reference terminal Durban"/>
          <p:cNvSpPr/>
          <p:nvPr/>
        </p:nvSpPr>
        <p:spPr>
          <a:xfrm>
            <a:off x="456953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2" name="Illustrative delivered road transport cost class 0; reference terminal Durban"/>
          <p:cNvSpPr/>
          <p:nvPr/>
        </p:nvSpPr>
        <p:spPr>
          <a:xfrm>
            <a:off x="456953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3" name="Illustrative delivered road transport cost class 0; reference terminal Durban"/>
          <p:cNvSpPr/>
          <p:nvPr/>
        </p:nvSpPr>
        <p:spPr>
          <a:xfrm>
            <a:off x="456953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4" name="Illustrative delivered road transport cost class 0; reference terminal Durban"/>
          <p:cNvSpPr/>
          <p:nvPr/>
        </p:nvSpPr>
        <p:spPr>
          <a:xfrm>
            <a:off x="4569533" y="4286814"/>
            <a:ext cx="57687" cy="57687"/>
          </a:xfrm>
          <a:custGeom>
            <a:avLst/>
            <a:gdLst/>
            <a:ahLst/>
            <a:cxnLst/>
            <a:rect l="l" t="t" r="r" b="b"/>
            <a:pathLst>
              <a:path w="57687" h="57687">
                <a:moveTo>
                  <a:pt x="57687" y="0"/>
                </a:moveTo>
                <a:lnTo>
                  <a:pt x="57687" y="57687"/>
                </a:lnTo>
                <a:lnTo>
                  <a:pt x="0" y="57687"/>
                </a:lnTo>
                <a:lnTo>
                  <a:pt x="0" y="50313"/>
                </a:lnTo>
                <a:lnTo>
                  <a:pt x="2657" y="49233"/>
                </a:lnTo>
                <a:lnTo>
                  <a:pt x="19503" y="39795"/>
                </a:lnTo>
                <a:lnTo>
                  <a:pt x="31732" y="32059"/>
                </a:lnTo>
                <a:lnTo>
                  <a:pt x="47533" y="20177"/>
                </a:lnTo>
                <a:lnTo>
                  <a:pt x="51841" y="0"/>
                </a:lnTo>
                <a:lnTo>
                  <a:pt x="57687"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5" name="Illustrative delivered road transport cost class 0; reference terminal Durban"/>
          <p:cNvSpPr/>
          <p:nvPr/>
        </p:nvSpPr>
        <p:spPr>
          <a:xfrm>
            <a:off x="4621374" y="4259370"/>
            <a:ext cx="5846" cy="27444"/>
          </a:xfrm>
          <a:custGeom>
            <a:avLst/>
            <a:gdLst/>
            <a:ahLst/>
            <a:cxnLst/>
            <a:rect l="l" t="t" r="r" b="b"/>
            <a:pathLst>
              <a:path w="5846" h="27444">
                <a:moveTo>
                  <a:pt x="5846" y="27444"/>
                </a:moveTo>
                <a:lnTo>
                  <a:pt x="0" y="27444"/>
                </a:lnTo>
                <a:lnTo>
                  <a:pt x="2088" y="17663"/>
                </a:lnTo>
                <a:lnTo>
                  <a:pt x="5846" y="0"/>
                </a:lnTo>
                <a:lnTo>
                  <a:pt x="5846" y="27444"/>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6" name="Illustrative delivered road transport cost class 0; reference terminal Durban"/>
          <p:cNvSpPr/>
          <p:nvPr/>
        </p:nvSpPr>
        <p:spPr>
          <a:xfrm>
            <a:off x="4612267" y="4056068"/>
            <a:ext cx="14953" cy="12657"/>
          </a:xfrm>
          <a:custGeom>
            <a:avLst/>
            <a:gdLst/>
            <a:ahLst/>
            <a:cxnLst/>
            <a:rect l="l" t="t" r="r" b="b"/>
            <a:pathLst>
              <a:path w="14953" h="12657">
                <a:moveTo>
                  <a:pt x="14953" y="0"/>
                </a:moveTo>
                <a:lnTo>
                  <a:pt x="14953" y="12657"/>
                </a:lnTo>
                <a:lnTo>
                  <a:pt x="4438" y="3748"/>
                </a:lnTo>
                <a:lnTo>
                  <a:pt x="0" y="0"/>
                </a:lnTo>
                <a:lnTo>
                  <a:pt x="14953"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7" name="Illustrative delivered road transport cost class 0; reference terminal Durban"/>
          <p:cNvSpPr/>
          <p:nvPr/>
        </p:nvSpPr>
        <p:spPr>
          <a:xfrm>
            <a:off x="4569533" y="3998382"/>
            <a:ext cx="57687" cy="57686"/>
          </a:xfrm>
          <a:custGeom>
            <a:avLst/>
            <a:gdLst/>
            <a:ahLst/>
            <a:cxnLst/>
            <a:rect l="l" t="t" r="r" b="b"/>
            <a:pathLst>
              <a:path w="57687" h="57686">
                <a:moveTo>
                  <a:pt x="0" y="0"/>
                </a:moveTo>
                <a:lnTo>
                  <a:pt x="57687" y="0"/>
                </a:lnTo>
                <a:lnTo>
                  <a:pt x="57687" y="57686"/>
                </a:lnTo>
                <a:lnTo>
                  <a:pt x="42734" y="57686"/>
                </a:lnTo>
                <a:lnTo>
                  <a:pt x="24352" y="42163"/>
                </a:lnTo>
                <a:lnTo>
                  <a:pt x="3310" y="14497"/>
                </a:lnTo>
                <a:lnTo>
                  <a:pt x="0" y="12749"/>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8" name="Illustrative delivered road transport cost class 0; reference terminal Lesedi"/>
          <p:cNvSpPr/>
          <p:nvPr/>
        </p:nvSpPr>
        <p:spPr>
          <a:xfrm>
            <a:off x="456953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9" name="Illustrative delivered road transport cost class 0; reference terminal Lesedi"/>
          <p:cNvSpPr/>
          <p:nvPr/>
        </p:nvSpPr>
        <p:spPr>
          <a:xfrm>
            <a:off x="456953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0" name="Illustrative delivered road transport cost class 0; reference terminal Lesedi"/>
          <p:cNvSpPr/>
          <p:nvPr/>
        </p:nvSpPr>
        <p:spPr>
          <a:xfrm>
            <a:off x="456953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1" name="Illustrative delivered road transport cost class 0; reference terminal Lesedi"/>
          <p:cNvSpPr/>
          <p:nvPr/>
        </p:nvSpPr>
        <p:spPr>
          <a:xfrm>
            <a:off x="456953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2" name="Illustrative delivered road transport cost class 0; reference terminal Lesedi"/>
          <p:cNvSpPr/>
          <p:nvPr/>
        </p:nvSpPr>
        <p:spPr>
          <a:xfrm>
            <a:off x="456953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3" name="Illustrative delivered road transport cost class 0; reference terminal Lesedi"/>
          <p:cNvSpPr/>
          <p:nvPr/>
        </p:nvSpPr>
        <p:spPr>
          <a:xfrm>
            <a:off x="456953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4" name="Illustrative delivered road transport cost class 0; reference terminal Lesedi"/>
          <p:cNvSpPr/>
          <p:nvPr/>
        </p:nvSpPr>
        <p:spPr>
          <a:xfrm>
            <a:off x="456953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5" name="Illustrative delivered road transport cost class 0; reference terminal Lesedi"/>
          <p:cNvSpPr/>
          <p:nvPr/>
        </p:nvSpPr>
        <p:spPr>
          <a:xfrm>
            <a:off x="456953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6" name="Illustrative delivered road transport cost class 0; reference terminal Lesedi"/>
          <p:cNvSpPr/>
          <p:nvPr/>
        </p:nvSpPr>
        <p:spPr>
          <a:xfrm>
            <a:off x="456953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7" name="Illustrative delivered road transport cost class 0; reference terminal Lesedi"/>
          <p:cNvSpPr/>
          <p:nvPr/>
        </p:nvSpPr>
        <p:spPr>
          <a:xfrm>
            <a:off x="456953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8" name="Illustrative delivered road transport cost class 0; reference terminal Lesedi"/>
          <p:cNvSpPr/>
          <p:nvPr/>
        </p:nvSpPr>
        <p:spPr>
          <a:xfrm>
            <a:off x="456953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9" name="Illustrative delivered road transport cost class 0; reference terminal Lesedi"/>
          <p:cNvSpPr/>
          <p:nvPr/>
        </p:nvSpPr>
        <p:spPr>
          <a:xfrm>
            <a:off x="456953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0" name="Illustrative delivered road transport cost class 0; reference terminal Lesedi"/>
          <p:cNvSpPr/>
          <p:nvPr/>
        </p:nvSpPr>
        <p:spPr>
          <a:xfrm>
            <a:off x="456953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1" name="Illustrative delivered road transport cost class 0; reference terminal Lesedi"/>
          <p:cNvSpPr/>
          <p:nvPr/>
        </p:nvSpPr>
        <p:spPr>
          <a:xfrm>
            <a:off x="456953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2" name="Illustrative delivered road transport cost class 0; reference terminal Lesedi"/>
          <p:cNvSpPr/>
          <p:nvPr/>
        </p:nvSpPr>
        <p:spPr>
          <a:xfrm>
            <a:off x="456953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3" name="Illustrative delivered road transport cost class 0; reference terminal Lesedi"/>
          <p:cNvSpPr/>
          <p:nvPr/>
        </p:nvSpPr>
        <p:spPr>
          <a:xfrm>
            <a:off x="456953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4" name="Illustrative delivered road transport cost class 0; reference terminal Lesedi"/>
          <p:cNvSpPr/>
          <p:nvPr/>
        </p:nvSpPr>
        <p:spPr>
          <a:xfrm>
            <a:off x="456953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5" name="Illustrative delivered road transport cost class 0; reference terminal Lesedi"/>
          <p:cNvSpPr/>
          <p:nvPr/>
        </p:nvSpPr>
        <p:spPr>
          <a:xfrm>
            <a:off x="456953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6" name="Illustrative delivered road transport cost class 0; reference terminal Lesedi"/>
          <p:cNvSpPr/>
          <p:nvPr/>
        </p:nvSpPr>
        <p:spPr>
          <a:xfrm>
            <a:off x="456953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7" name="Illustrative delivered road transport cost class 0; reference terminal Lesedi"/>
          <p:cNvSpPr/>
          <p:nvPr/>
        </p:nvSpPr>
        <p:spPr>
          <a:xfrm>
            <a:off x="456953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8" name="Illustrative delivered road transport cost class 1; reference terminal Lesedi"/>
          <p:cNvSpPr/>
          <p:nvPr/>
        </p:nvSpPr>
        <p:spPr>
          <a:xfrm>
            <a:off x="456953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9" name="Illustrative delivered road transport cost class 1; reference terminal Lesedi"/>
          <p:cNvSpPr/>
          <p:nvPr/>
        </p:nvSpPr>
        <p:spPr>
          <a:xfrm>
            <a:off x="456953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0" name="Illustrative delivered road transport cost class 1; reference terminal Lesedi"/>
          <p:cNvSpPr/>
          <p:nvPr/>
        </p:nvSpPr>
        <p:spPr>
          <a:xfrm>
            <a:off x="456953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1" name="Illustrative delivered road transport cost class 1; reference terminal Lesedi"/>
          <p:cNvSpPr/>
          <p:nvPr/>
        </p:nvSpPr>
        <p:spPr>
          <a:xfrm>
            <a:off x="456953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2" name="Illustrative delivered road transport cost class 1; reference terminal Lesedi"/>
          <p:cNvSpPr/>
          <p:nvPr/>
        </p:nvSpPr>
        <p:spPr>
          <a:xfrm>
            <a:off x="456953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3" name="Illustrative delivered road transport cost class 1; reference terminal Lesedi"/>
          <p:cNvSpPr/>
          <p:nvPr/>
        </p:nvSpPr>
        <p:spPr>
          <a:xfrm>
            <a:off x="4569533"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4" name="Illustrative delivered road transport cost class None; reference terminal None"/>
          <p:cNvSpPr/>
          <p:nvPr/>
        </p:nvSpPr>
        <p:spPr>
          <a:xfrm>
            <a:off x="4569533"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5" name="Illustrative delivered road transport cost class None; reference terminal None"/>
          <p:cNvSpPr/>
          <p:nvPr/>
        </p:nvSpPr>
        <p:spPr>
          <a:xfrm>
            <a:off x="4569533" y="2396154"/>
            <a:ext cx="57687" cy="44690"/>
          </a:xfrm>
          <a:custGeom>
            <a:avLst/>
            <a:gdLst/>
            <a:ahLst/>
            <a:cxnLst/>
            <a:rect l="l" t="t" r="r" b="b"/>
            <a:pathLst>
              <a:path w="57687" h="44690">
                <a:moveTo>
                  <a:pt x="57687" y="44690"/>
                </a:moveTo>
                <a:lnTo>
                  <a:pt x="0" y="44690"/>
                </a:lnTo>
                <a:lnTo>
                  <a:pt x="0" y="24146"/>
                </a:lnTo>
                <a:lnTo>
                  <a:pt x="12965" y="21120"/>
                </a:lnTo>
                <a:lnTo>
                  <a:pt x="47630" y="8224"/>
                </a:lnTo>
                <a:lnTo>
                  <a:pt x="57687" y="0"/>
                </a:lnTo>
                <a:lnTo>
                  <a:pt x="57687" y="4469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6" name="Illustrative delivered road transport cost class 1; reference terminal Durban"/>
          <p:cNvSpPr/>
          <p:nvPr/>
        </p:nvSpPr>
        <p:spPr>
          <a:xfrm>
            <a:off x="4627220" y="4805994"/>
            <a:ext cx="11076" cy="11126"/>
          </a:xfrm>
          <a:custGeom>
            <a:avLst/>
            <a:gdLst/>
            <a:ahLst/>
            <a:cxnLst/>
            <a:rect l="l" t="t" r="r" b="b"/>
            <a:pathLst>
              <a:path w="11076" h="11126">
                <a:moveTo>
                  <a:pt x="0" y="0"/>
                </a:moveTo>
                <a:lnTo>
                  <a:pt x="11076" y="0"/>
                </a:lnTo>
                <a:lnTo>
                  <a:pt x="0" y="1112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7" name="Illustrative delivered road transport cost class 1; reference terminal Durban"/>
          <p:cNvSpPr/>
          <p:nvPr/>
        </p:nvSpPr>
        <p:spPr>
          <a:xfrm>
            <a:off x="4627220" y="4748307"/>
            <a:ext cx="57686" cy="57687"/>
          </a:xfrm>
          <a:custGeom>
            <a:avLst/>
            <a:gdLst/>
            <a:ahLst/>
            <a:cxnLst/>
            <a:rect l="l" t="t" r="r" b="b"/>
            <a:pathLst>
              <a:path w="57686" h="57687">
                <a:moveTo>
                  <a:pt x="0" y="57687"/>
                </a:moveTo>
                <a:lnTo>
                  <a:pt x="0" y="0"/>
                </a:lnTo>
                <a:lnTo>
                  <a:pt x="57686" y="0"/>
                </a:lnTo>
                <a:lnTo>
                  <a:pt x="57686" y="10868"/>
                </a:lnTo>
                <a:lnTo>
                  <a:pt x="1107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8" name="Illustrative delivered road transport cost class 1; reference terminal Durban"/>
          <p:cNvSpPr/>
          <p:nvPr/>
        </p:nvSpPr>
        <p:spPr>
          <a:xfrm>
            <a:off x="462722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9" name="Illustrative delivered road transport cost class 0; reference terminal Durban"/>
          <p:cNvSpPr/>
          <p:nvPr/>
        </p:nvSpPr>
        <p:spPr>
          <a:xfrm>
            <a:off x="462722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0" name="Illustrative delivered road transport cost class 0; reference terminal Durban"/>
          <p:cNvSpPr/>
          <p:nvPr/>
        </p:nvSpPr>
        <p:spPr>
          <a:xfrm>
            <a:off x="462722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1" name="Illustrative delivered road transport cost class 0; reference terminal Durban"/>
          <p:cNvSpPr/>
          <p:nvPr/>
        </p:nvSpPr>
        <p:spPr>
          <a:xfrm>
            <a:off x="462722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2" name="Illustrative delivered road transport cost class 0; reference terminal Durban"/>
          <p:cNvSpPr/>
          <p:nvPr/>
        </p:nvSpPr>
        <p:spPr>
          <a:xfrm>
            <a:off x="462722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3" name="Illustrative delivered road transport cost class 0; reference terminal Durban"/>
          <p:cNvSpPr/>
          <p:nvPr/>
        </p:nvSpPr>
        <p:spPr>
          <a:xfrm>
            <a:off x="462722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4" name="Illustrative delivered road transport cost class 0; reference terminal Durban"/>
          <p:cNvSpPr/>
          <p:nvPr/>
        </p:nvSpPr>
        <p:spPr>
          <a:xfrm>
            <a:off x="462722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5" name="Illustrative delivered road transport cost class 0; reference terminal Durban"/>
          <p:cNvSpPr/>
          <p:nvPr/>
        </p:nvSpPr>
        <p:spPr>
          <a:xfrm>
            <a:off x="462722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6" name="Illustrative delivered road transport cost class 0; reference terminal Durban"/>
          <p:cNvSpPr/>
          <p:nvPr/>
        </p:nvSpPr>
        <p:spPr>
          <a:xfrm>
            <a:off x="4627220" y="4229128"/>
            <a:ext cx="57686" cy="57686"/>
          </a:xfrm>
          <a:custGeom>
            <a:avLst/>
            <a:gdLst/>
            <a:ahLst/>
            <a:cxnLst/>
            <a:rect l="l" t="t" r="r" b="b"/>
            <a:pathLst>
              <a:path w="57686" h="57686">
                <a:moveTo>
                  <a:pt x="57686" y="0"/>
                </a:moveTo>
                <a:lnTo>
                  <a:pt x="57686" y="57686"/>
                </a:lnTo>
                <a:lnTo>
                  <a:pt x="0" y="57686"/>
                </a:lnTo>
                <a:lnTo>
                  <a:pt x="0" y="30242"/>
                </a:lnTo>
                <a:lnTo>
                  <a:pt x="1660" y="22439"/>
                </a:lnTo>
                <a:lnTo>
                  <a:pt x="13920" y="10244"/>
                </a:lnTo>
                <a:lnTo>
                  <a:pt x="26299" y="2285"/>
                </a:lnTo>
                <a:lnTo>
                  <a:pt x="28135"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7" name="Illustrative delivered road transport cost class 0; reference terminal Durban"/>
          <p:cNvSpPr/>
          <p:nvPr/>
        </p:nvSpPr>
        <p:spPr>
          <a:xfrm>
            <a:off x="4655355" y="4171441"/>
            <a:ext cx="29551" cy="57687"/>
          </a:xfrm>
          <a:custGeom>
            <a:avLst/>
            <a:gdLst/>
            <a:ahLst/>
            <a:cxnLst/>
            <a:rect l="l" t="t" r="r" b="b"/>
            <a:pathLst>
              <a:path w="29551" h="57687">
                <a:moveTo>
                  <a:pt x="29551" y="0"/>
                </a:moveTo>
                <a:lnTo>
                  <a:pt x="29551" y="57687"/>
                </a:lnTo>
                <a:lnTo>
                  <a:pt x="0" y="57687"/>
                </a:lnTo>
                <a:lnTo>
                  <a:pt x="8550" y="47044"/>
                </a:lnTo>
                <a:lnTo>
                  <a:pt x="22082" y="15554"/>
                </a:lnTo>
                <a:lnTo>
                  <a:pt x="26926" y="0"/>
                </a:lnTo>
                <a:lnTo>
                  <a:pt x="29551"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8" name="Illustrative delivered road transport cost class 0; reference terminal Durban"/>
          <p:cNvSpPr/>
          <p:nvPr/>
        </p:nvSpPr>
        <p:spPr>
          <a:xfrm>
            <a:off x="4682281" y="4163014"/>
            <a:ext cx="2625" cy="8427"/>
          </a:xfrm>
          <a:custGeom>
            <a:avLst/>
            <a:gdLst/>
            <a:ahLst/>
            <a:cxnLst/>
            <a:rect l="l" t="t" r="r" b="b"/>
            <a:pathLst>
              <a:path w="2625" h="8427">
                <a:moveTo>
                  <a:pt x="2625" y="8427"/>
                </a:moveTo>
                <a:lnTo>
                  <a:pt x="0" y="8427"/>
                </a:lnTo>
                <a:lnTo>
                  <a:pt x="2625" y="0"/>
                </a:lnTo>
                <a:lnTo>
                  <a:pt x="2625" y="842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9" name="Illustrative delivered road transport cost class 0; reference terminal Durban"/>
          <p:cNvSpPr/>
          <p:nvPr/>
        </p:nvSpPr>
        <p:spPr>
          <a:xfrm>
            <a:off x="4676458" y="4113755"/>
            <a:ext cx="8448" cy="17626"/>
          </a:xfrm>
          <a:custGeom>
            <a:avLst/>
            <a:gdLst/>
            <a:ahLst/>
            <a:cxnLst/>
            <a:rect l="l" t="t" r="r" b="b"/>
            <a:pathLst>
              <a:path w="8448" h="17626">
                <a:moveTo>
                  <a:pt x="8448" y="0"/>
                </a:moveTo>
                <a:lnTo>
                  <a:pt x="8448" y="17626"/>
                </a:lnTo>
                <a:lnTo>
                  <a:pt x="8041" y="16258"/>
                </a:lnTo>
                <a:lnTo>
                  <a:pt x="722" y="1960"/>
                </a:lnTo>
                <a:lnTo>
                  <a:pt x="0" y="0"/>
                </a:lnTo>
                <a:lnTo>
                  <a:pt x="8448"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0" name="Illustrative delivered road transport cost class 0; reference terminal Durban"/>
          <p:cNvSpPr/>
          <p:nvPr/>
        </p:nvSpPr>
        <p:spPr>
          <a:xfrm>
            <a:off x="4627220" y="4056068"/>
            <a:ext cx="57686" cy="57687"/>
          </a:xfrm>
          <a:custGeom>
            <a:avLst/>
            <a:gdLst/>
            <a:ahLst/>
            <a:cxnLst/>
            <a:rect l="l" t="t" r="r" b="b"/>
            <a:pathLst>
              <a:path w="57686" h="57687">
                <a:moveTo>
                  <a:pt x="0" y="0"/>
                </a:moveTo>
                <a:lnTo>
                  <a:pt x="57686" y="0"/>
                </a:lnTo>
                <a:lnTo>
                  <a:pt x="57686" y="57687"/>
                </a:lnTo>
                <a:lnTo>
                  <a:pt x="49238" y="57687"/>
                </a:lnTo>
                <a:lnTo>
                  <a:pt x="42897" y="40485"/>
                </a:lnTo>
                <a:lnTo>
                  <a:pt x="33670" y="37201"/>
                </a:lnTo>
                <a:lnTo>
                  <a:pt x="15701" y="25960"/>
                </a:lnTo>
                <a:lnTo>
                  <a:pt x="0" y="12657"/>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1" name="Illustrative delivered road transport cost class 0; reference terminal Durban"/>
          <p:cNvSpPr/>
          <p:nvPr/>
        </p:nvSpPr>
        <p:spPr>
          <a:xfrm>
            <a:off x="462722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2" name="Illustrative delivered road transport cost class 0; reference terminal Durban"/>
          <p:cNvSpPr/>
          <p:nvPr/>
        </p:nvSpPr>
        <p:spPr>
          <a:xfrm>
            <a:off x="462722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3" name="Illustrative delivered road transport cost class 0; reference terminal Lesedi"/>
          <p:cNvSpPr/>
          <p:nvPr/>
        </p:nvSpPr>
        <p:spPr>
          <a:xfrm>
            <a:off x="462722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4" name="Illustrative delivered road transport cost class 0; reference terminal Lesedi"/>
          <p:cNvSpPr/>
          <p:nvPr/>
        </p:nvSpPr>
        <p:spPr>
          <a:xfrm>
            <a:off x="462722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5" name="Illustrative delivered road transport cost class 0; reference terminal Lesedi"/>
          <p:cNvSpPr/>
          <p:nvPr/>
        </p:nvSpPr>
        <p:spPr>
          <a:xfrm>
            <a:off x="462722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6" name="Illustrative delivered road transport cost class 0; reference terminal Lesedi"/>
          <p:cNvSpPr/>
          <p:nvPr/>
        </p:nvSpPr>
        <p:spPr>
          <a:xfrm>
            <a:off x="462722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7" name="Illustrative delivered road transport cost class 0; reference terminal Lesedi"/>
          <p:cNvSpPr/>
          <p:nvPr/>
        </p:nvSpPr>
        <p:spPr>
          <a:xfrm>
            <a:off x="462722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8" name="Illustrative delivered road transport cost class 0; reference terminal Lesedi"/>
          <p:cNvSpPr/>
          <p:nvPr/>
        </p:nvSpPr>
        <p:spPr>
          <a:xfrm>
            <a:off x="462722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9" name="Illustrative delivered road transport cost class 0; reference terminal Lesedi"/>
          <p:cNvSpPr/>
          <p:nvPr/>
        </p:nvSpPr>
        <p:spPr>
          <a:xfrm>
            <a:off x="462722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0" name="Illustrative delivered road transport cost class 0; reference terminal Lesedi"/>
          <p:cNvSpPr/>
          <p:nvPr/>
        </p:nvSpPr>
        <p:spPr>
          <a:xfrm>
            <a:off x="462722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1" name="Illustrative delivered road transport cost class 0; reference terminal Lesedi"/>
          <p:cNvSpPr/>
          <p:nvPr/>
        </p:nvSpPr>
        <p:spPr>
          <a:xfrm>
            <a:off x="462722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2" name="Illustrative delivered road transport cost class 0; reference terminal Lesedi"/>
          <p:cNvSpPr/>
          <p:nvPr/>
        </p:nvSpPr>
        <p:spPr>
          <a:xfrm>
            <a:off x="462722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3" name="Illustrative delivered road transport cost class 0; reference terminal Lesedi"/>
          <p:cNvSpPr/>
          <p:nvPr/>
        </p:nvSpPr>
        <p:spPr>
          <a:xfrm>
            <a:off x="462722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4" name="Illustrative delivered road transport cost class 0; reference terminal Lesedi"/>
          <p:cNvSpPr/>
          <p:nvPr/>
        </p:nvSpPr>
        <p:spPr>
          <a:xfrm>
            <a:off x="462722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5" name="Illustrative delivered road transport cost class 0; reference terminal Lesedi"/>
          <p:cNvSpPr/>
          <p:nvPr/>
        </p:nvSpPr>
        <p:spPr>
          <a:xfrm>
            <a:off x="462722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6" name="Illustrative delivered road transport cost class 0; reference terminal Lesedi"/>
          <p:cNvSpPr/>
          <p:nvPr/>
        </p:nvSpPr>
        <p:spPr>
          <a:xfrm>
            <a:off x="4627220"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7" name="Illustrative delivered road transport cost class 0; reference terminal Lesedi"/>
          <p:cNvSpPr/>
          <p:nvPr/>
        </p:nvSpPr>
        <p:spPr>
          <a:xfrm>
            <a:off x="4627220"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8" name="Illustrative delivered road transport cost class 0; reference terminal Lesedi"/>
          <p:cNvSpPr/>
          <p:nvPr/>
        </p:nvSpPr>
        <p:spPr>
          <a:xfrm>
            <a:off x="4627220"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9" name="Illustrative delivered road transport cost class 0; reference terminal Lesedi"/>
          <p:cNvSpPr/>
          <p:nvPr/>
        </p:nvSpPr>
        <p:spPr>
          <a:xfrm>
            <a:off x="4627220"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0" name="Illustrative delivered road transport cost class 0; reference terminal Lesedi"/>
          <p:cNvSpPr/>
          <p:nvPr/>
        </p:nvSpPr>
        <p:spPr>
          <a:xfrm>
            <a:off x="4627220"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1" name="Illustrative delivered road transport cost class 0; reference terminal Lesedi"/>
          <p:cNvSpPr/>
          <p:nvPr/>
        </p:nvSpPr>
        <p:spPr>
          <a:xfrm>
            <a:off x="4627220"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2" name="Illustrative delivered road transport cost class 1; reference terminal Lesedi"/>
          <p:cNvSpPr/>
          <p:nvPr/>
        </p:nvSpPr>
        <p:spPr>
          <a:xfrm>
            <a:off x="4627220"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3" name="Illustrative delivered road transport cost class 1; reference terminal Lesedi"/>
          <p:cNvSpPr/>
          <p:nvPr/>
        </p:nvSpPr>
        <p:spPr>
          <a:xfrm>
            <a:off x="4627220"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4" name="Illustrative delivered road transport cost class 1; reference terminal Lesedi"/>
          <p:cNvSpPr/>
          <p:nvPr/>
        </p:nvSpPr>
        <p:spPr>
          <a:xfrm>
            <a:off x="4627220"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5" name="Illustrative delivered road transport cost class 1; reference terminal Lesedi"/>
          <p:cNvSpPr/>
          <p:nvPr/>
        </p:nvSpPr>
        <p:spPr>
          <a:xfrm>
            <a:off x="4627220"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6" name="Illustrative delivered road transport cost class 1; reference terminal Lesedi"/>
          <p:cNvSpPr/>
          <p:nvPr/>
        </p:nvSpPr>
        <p:spPr>
          <a:xfrm>
            <a:off x="4627220"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7" name="Illustrative delivered road transport cost class 1; reference terminal Lesedi"/>
          <p:cNvSpPr/>
          <p:nvPr/>
        </p:nvSpPr>
        <p:spPr>
          <a:xfrm>
            <a:off x="4627220"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8" name="Illustrative delivered road transport cost class 1; reference terminal Lesedi"/>
          <p:cNvSpPr/>
          <p:nvPr/>
        </p:nvSpPr>
        <p:spPr>
          <a:xfrm>
            <a:off x="4627220"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9" name="Illustrative delivered road transport cost class 2; reference terminal Lesedi"/>
          <p:cNvSpPr/>
          <p:nvPr/>
        </p:nvSpPr>
        <p:spPr>
          <a:xfrm>
            <a:off x="4627220" y="2383158"/>
            <a:ext cx="57686" cy="57686"/>
          </a:xfrm>
          <a:custGeom>
            <a:avLst/>
            <a:gdLst/>
            <a:ahLst/>
            <a:cxnLst/>
            <a:rect l="l" t="t" r="r" b="b"/>
            <a:pathLst>
              <a:path w="57686" h="57686">
                <a:moveTo>
                  <a:pt x="57686" y="0"/>
                </a:moveTo>
                <a:lnTo>
                  <a:pt x="57686" y="57686"/>
                </a:lnTo>
                <a:lnTo>
                  <a:pt x="0" y="57686"/>
                </a:lnTo>
                <a:lnTo>
                  <a:pt x="0" y="12996"/>
                </a:lnTo>
                <a:lnTo>
                  <a:pt x="15735" y="127"/>
                </a:lnTo>
                <a:lnTo>
                  <a:pt x="15809" y="0"/>
                </a:lnTo>
                <a:lnTo>
                  <a:pt x="57686"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0" name="Illustrative delivered road transport cost class 2; reference terminal Lesedi"/>
          <p:cNvSpPr/>
          <p:nvPr/>
        </p:nvSpPr>
        <p:spPr>
          <a:xfrm>
            <a:off x="4643029" y="2340078"/>
            <a:ext cx="41877" cy="43080"/>
          </a:xfrm>
          <a:custGeom>
            <a:avLst/>
            <a:gdLst/>
            <a:ahLst/>
            <a:cxnLst/>
            <a:rect l="l" t="t" r="r" b="b"/>
            <a:pathLst>
              <a:path w="41877" h="43080">
                <a:moveTo>
                  <a:pt x="41877" y="43080"/>
                </a:moveTo>
                <a:lnTo>
                  <a:pt x="0" y="43080"/>
                </a:lnTo>
                <a:lnTo>
                  <a:pt x="16866" y="13946"/>
                </a:lnTo>
                <a:lnTo>
                  <a:pt x="41877" y="0"/>
                </a:lnTo>
                <a:lnTo>
                  <a:pt x="41877" y="43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1" name="Illustrative delivered road transport cost class 1; reference terminal Durban"/>
          <p:cNvSpPr/>
          <p:nvPr/>
        </p:nvSpPr>
        <p:spPr>
          <a:xfrm>
            <a:off x="4684906" y="4748307"/>
            <a:ext cx="12440" cy="10868"/>
          </a:xfrm>
          <a:custGeom>
            <a:avLst/>
            <a:gdLst/>
            <a:ahLst/>
            <a:cxnLst/>
            <a:rect l="l" t="t" r="r" b="b"/>
            <a:pathLst>
              <a:path w="12440" h="10868">
                <a:moveTo>
                  <a:pt x="0" y="0"/>
                </a:moveTo>
                <a:lnTo>
                  <a:pt x="12440" y="0"/>
                </a:lnTo>
                <a:lnTo>
                  <a:pt x="85" y="10783"/>
                </a:lnTo>
                <a:lnTo>
                  <a:pt x="0" y="1086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2" name="Illustrative delivered road transport cost class 1; reference terminal Durban"/>
          <p:cNvSpPr/>
          <p:nvPr/>
        </p:nvSpPr>
        <p:spPr>
          <a:xfrm>
            <a:off x="4684906" y="4690620"/>
            <a:ext cx="57687" cy="57687"/>
          </a:xfrm>
          <a:custGeom>
            <a:avLst/>
            <a:gdLst/>
            <a:ahLst/>
            <a:cxnLst/>
            <a:rect l="l" t="t" r="r" b="b"/>
            <a:pathLst>
              <a:path w="57687" h="57687">
                <a:moveTo>
                  <a:pt x="0" y="57687"/>
                </a:moveTo>
                <a:lnTo>
                  <a:pt x="0" y="0"/>
                </a:lnTo>
                <a:lnTo>
                  <a:pt x="57687" y="0"/>
                </a:lnTo>
                <a:lnTo>
                  <a:pt x="57687" y="18285"/>
                </a:lnTo>
                <a:lnTo>
                  <a:pt x="57434" y="18416"/>
                </a:lnTo>
                <a:lnTo>
                  <a:pt x="124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3" name="Illustrative delivered road transport cost class 0; reference terminal Durban"/>
          <p:cNvSpPr/>
          <p:nvPr/>
        </p:nvSpPr>
        <p:spPr>
          <a:xfrm>
            <a:off x="468490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4" name="Illustrative delivered road transport cost class 0; reference terminal Durban"/>
          <p:cNvSpPr/>
          <p:nvPr/>
        </p:nvSpPr>
        <p:spPr>
          <a:xfrm>
            <a:off x="468490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5" name="Illustrative delivered road transport cost class 0; reference terminal Durban"/>
          <p:cNvSpPr/>
          <p:nvPr/>
        </p:nvSpPr>
        <p:spPr>
          <a:xfrm>
            <a:off x="468490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6" name="Illustrative delivered road transport cost class 0; reference terminal Durban"/>
          <p:cNvSpPr/>
          <p:nvPr/>
        </p:nvSpPr>
        <p:spPr>
          <a:xfrm>
            <a:off x="468490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7" name="Illustrative delivered road transport cost class 0; reference terminal Durban"/>
          <p:cNvSpPr/>
          <p:nvPr/>
        </p:nvSpPr>
        <p:spPr>
          <a:xfrm>
            <a:off x="468490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8" name="Illustrative delivered road transport cost class 0; reference terminal Durban"/>
          <p:cNvSpPr/>
          <p:nvPr/>
        </p:nvSpPr>
        <p:spPr>
          <a:xfrm>
            <a:off x="468490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9" name="Illustrative delivered road transport cost class 0; reference terminal Durban"/>
          <p:cNvSpPr/>
          <p:nvPr/>
        </p:nvSpPr>
        <p:spPr>
          <a:xfrm>
            <a:off x="468490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0" name="Illustrative delivered road transport cost class 0; reference terminal Durban"/>
          <p:cNvSpPr/>
          <p:nvPr/>
        </p:nvSpPr>
        <p:spPr>
          <a:xfrm>
            <a:off x="468490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1" name="Illustrative delivered road transport cost class 0; reference terminal Durban"/>
          <p:cNvSpPr/>
          <p:nvPr/>
        </p:nvSpPr>
        <p:spPr>
          <a:xfrm>
            <a:off x="468490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2" name="Illustrative delivered road transport cost class 0; reference terminal Durban"/>
          <p:cNvSpPr/>
          <p:nvPr/>
        </p:nvSpPr>
        <p:spPr>
          <a:xfrm>
            <a:off x="4684906" y="4113755"/>
            <a:ext cx="57687" cy="57686"/>
          </a:xfrm>
          <a:custGeom>
            <a:avLst/>
            <a:gdLst/>
            <a:ahLst/>
            <a:cxnLst/>
            <a:rect l="l" t="t" r="r" b="b"/>
            <a:pathLst>
              <a:path w="57687" h="57686">
                <a:moveTo>
                  <a:pt x="0" y="0"/>
                </a:moveTo>
                <a:lnTo>
                  <a:pt x="57687" y="0"/>
                </a:lnTo>
                <a:lnTo>
                  <a:pt x="57687" y="57686"/>
                </a:lnTo>
                <a:lnTo>
                  <a:pt x="0" y="57686"/>
                </a:lnTo>
                <a:lnTo>
                  <a:pt x="0" y="49259"/>
                </a:lnTo>
                <a:lnTo>
                  <a:pt x="2172" y="42287"/>
                </a:lnTo>
                <a:lnTo>
                  <a:pt x="3546" y="29534"/>
                </a:lnTo>
                <a:lnTo>
                  <a:pt x="0" y="17626"/>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3" name="Illustrative delivered road transport cost class 0; reference terminal Durban"/>
          <p:cNvSpPr/>
          <p:nvPr/>
        </p:nvSpPr>
        <p:spPr>
          <a:xfrm>
            <a:off x="468490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4" name="Illustrative delivered road transport cost class 0; reference terminal Durban"/>
          <p:cNvSpPr/>
          <p:nvPr/>
        </p:nvSpPr>
        <p:spPr>
          <a:xfrm>
            <a:off x="468490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5" name="Illustrative delivered road transport cost class 0; reference terminal Durban"/>
          <p:cNvSpPr/>
          <p:nvPr/>
        </p:nvSpPr>
        <p:spPr>
          <a:xfrm>
            <a:off x="468490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6" name="Illustrative delivered road transport cost class 0; reference terminal Durban"/>
          <p:cNvSpPr/>
          <p:nvPr/>
        </p:nvSpPr>
        <p:spPr>
          <a:xfrm>
            <a:off x="468490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7" name="Illustrative delivered road transport cost class 0; reference terminal Lesedi"/>
          <p:cNvSpPr/>
          <p:nvPr/>
        </p:nvSpPr>
        <p:spPr>
          <a:xfrm>
            <a:off x="468490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8" name="Illustrative delivered road transport cost class 0; reference terminal Lesedi"/>
          <p:cNvSpPr/>
          <p:nvPr/>
        </p:nvSpPr>
        <p:spPr>
          <a:xfrm>
            <a:off x="468490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9" name="Illustrative delivered road transport cost class 0; reference terminal Lesedi"/>
          <p:cNvSpPr/>
          <p:nvPr/>
        </p:nvSpPr>
        <p:spPr>
          <a:xfrm>
            <a:off x="468490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0" name="Illustrative delivered road transport cost class 0; reference terminal Lesedi"/>
          <p:cNvSpPr/>
          <p:nvPr/>
        </p:nvSpPr>
        <p:spPr>
          <a:xfrm>
            <a:off x="468490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1" name="Illustrative delivered road transport cost class 0; reference terminal Lesedi"/>
          <p:cNvSpPr/>
          <p:nvPr/>
        </p:nvSpPr>
        <p:spPr>
          <a:xfrm>
            <a:off x="468490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2" name="Illustrative delivered road transport cost class 0; reference terminal Lesedi"/>
          <p:cNvSpPr/>
          <p:nvPr/>
        </p:nvSpPr>
        <p:spPr>
          <a:xfrm>
            <a:off x="468490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3" name="Illustrative delivered road transport cost class 0; reference terminal Lesedi"/>
          <p:cNvSpPr/>
          <p:nvPr/>
        </p:nvSpPr>
        <p:spPr>
          <a:xfrm>
            <a:off x="468490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4" name="Illustrative delivered road transport cost class 0; reference terminal Lesedi"/>
          <p:cNvSpPr/>
          <p:nvPr/>
        </p:nvSpPr>
        <p:spPr>
          <a:xfrm>
            <a:off x="468490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5" name="Illustrative delivered road transport cost class 0; reference terminal Lesedi"/>
          <p:cNvSpPr/>
          <p:nvPr/>
        </p:nvSpPr>
        <p:spPr>
          <a:xfrm>
            <a:off x="468490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6" name="Illustrative delivered road transport cost class 0; reference terminal Lesedi"/>
          <p:cNvSpPr/>
          <p:nvPr/>
        </p:nvSpPr>
        <p:spPr>
          <a:xfrm>
            <a:off x="468490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7" name="Illustrative delivered road transport cost class 0; reference terminal Lesedi"/>
          <p:cNvSpPr/>
          <p:nvPr/>
        </p:nvSpPr>
        <p:spPr>
          <a:xfrm>
            <a:off x="468490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8" name="Illustrative delivered road transport cost class 0; reference terminal Lesedi"/>
          <p:cNvSpPr/>
          <p:nvPr/>
        </p:nvSpPr>
        <p:spPr>
          <a:xfrm>
            <a:off x="468490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9" name="Illustrative delivered road transport cost class 0; reference terminal Lesedi"/>
          <p:cNvSpPr/>
          <p:nvPr/>
        </p:nvSpPr>
        <p:spPr>
          <a:xfrm>
            <a:off x="468490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0" name="Illustrative delivered road transport cost class 0; reference terminal Lesedi"/>
          <p:cNvSpPr/>
          <p:nvPr/>
        </p:nvSpPr>
        <p:spPr>
          <a:xfrm>
            <a:off x="468490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1" name="Illustrative delivered road transport cost class 0; reference terminal Lesedi"/>
          <p:cNvSpPr/>
          <p:nvPr/>
        </p:nvSpPr>
        <p:spPr>
          <a:xfrm>
            <a:off x="468490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2" name="Illustrative delivered road transport cost class 0; reference terminal Lesedi"/>
          <p:cNvSpPr/>
          <p:nvPr/>
        </p:nvSpPr>
        <p:spPr>
          <a:xfrm>
            <a:off x="468490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3" name="Illustrative delivered road transport cost class 1; reference terminal Lesedi"/>
          <p:cNvSpPr/>
          <p:nvPr/>
        </p:nvSpPr>
        <p:spPr>
          <a:xfrm>
            <a:off x="468490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4" name="Illustrative delivered road transport cost class 1; reference terminal Lesedi"/>
          <p:cNvSpPr/>
          <p:nvPr/>
        </p:nvSpPr>
        <p:spPr>
          <a:xfrm>
            <a:off x="468490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5" name="Illustrative delivered road transport cost class 1; reference terminal Lesedi"/>
          <p:cNvSpPr/>
          <p:nvPr/>
        </p:nvSpPr>
        <p:spPr>
          <a:xfrm>
            <a:off x="468490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6" name="Illustrative delivered road transport cost class 1; reference terminal Lesedi"/>
          <p:cNvSpPr/>
          <p:nvPr/>
        </p:nvSpPr>
        <p:spPr>
          <a:xfrm>
            <a:off x="468490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7" name="Illustrative delivered road transport cost class 1; reference terminal Lesedi"/>
          <p:cNvSpPr/>
          <p:nvPr/>
        </p:nvSpPr>
        <p:spPr>
          <a:xfrm>
            <a:off x="468490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8" name="Illustrative delivered road transport cost class 1; reference terminal Lesedi"/>
          <p:cNvSpPr/>
          <p:nvPr/>
        </p:nvSpPr>
        <p:spPr>
          <a:xfrm>
            <a:off x="468490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9" name="Illustrative delivered road transport cost class 1; reference terminal Lesedi"/>
          <p:cNvSpPr/>
          <p:nvPr/>
        </p:nvSpPr>
        <p:spPr>
          <a:xfrm>
            <a:off x="468490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0" name="Illustrative delivered road transport cost class 1; reference terminal Lesedi"/>
          <p:cNvSpPr/>
          <p:nvPr/>
        </p:nvSpPr>
        <p:spPr>
          <a:xfrm>
            <a:off x="468490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1" name="Illustrative delivered road transport cost class 1; reference terminal Lesedi"/>
          <p:cNvSpPr/>
          <p:nvPr/>
        </p:nvSpPr>
        <p:spPr>
          <a:xfrm>
            <a:off x="468490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2" name="Illustrative delivered road transport cost class 1; reference terminal Lesedi"/>
          <p:cNvSpPr/>
          <p:nvPr/>
        </p:nvSpPr>
        <p:spPr>
          <a:xfrm>
            <a:off x="468490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3" name="Illustrative delivered road transport cost class 2; reference terminal Lesedi"/>
          <p:cNvSpPr/>
          <p:nvPr/>
        </p:nvSpPr>
        <p:spPr>
          <a:xfrm>
            <a:off x="4684906" y="2335355"/>
            <a:ext cx="57687" cy="47803"/>
          </a:xfrm>
          <a:custGeom>
            <a:avLst/>
            <a:gdLst/>
            <a:ahLst/>
            <a:cxnLst/>
            <a:rect l="l" t="t" r="r" b="b"/>
            <a:pathLst>
              <a:path w="57687" h="47803">
                <a:moveTo>
                  <a:pt x="57687" y="47803"/>
                </a:moveTo>
                <a:lnTo>
                  <a:pt x="0" y="47803"/>
                </a:lnTo>
                <a:lnTo>
                  <a:pt x="0" y="4723"/>
                </a:lnTo>
                <a:lnTo>
                  <a:pt x="3175" y="2952"/>
                </a:lnTo>
                <a:lnTo>
                  <a:pt x="57687" y="0"/>
                </a:lnTo>
                <a:lnTo>
                  <a:pt x="57687" y="47803"/>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4" name="Illustrative delivered road transport cost class 0; reference terminal Durban"/>
          <p:cNvSpPr/>
          <p:nvPr/>
        </p:nvSpPr>
        <p:spPr>
          <a:xfrm>
            <a:off x="4742593" y="4690620"/>
            <a:ext cx="30629" cy="18285"/>
          </a:xfrm>
          <a:custGeom>
            <a:avLst/>
            <a:gdLst/>
            <a:ahLst/>
            <a:cxnLst/>
            <a:rect l="l" t="t" r="r" b="b"/>
            <a:pathLst>
              <a:path w="30629" h="18285">
                <a:moveTo>
                  <a:pt x="0" y="0"/>
                </a:moveTo>
                <a:lnTo>
                  <a:pt x="30629" y="0"/>
                </a:lnTo>
                <a:lnTo>
                  <a:pt x="21093" y="7360"/>
                </a:lnTo>
                <a:lnTo>
                  <a:pt x="0" y="1828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5" name="Illustrative delivered road transport cost class 0; reference terminal Durban"/>
          <p:cNvSpPr/>
          <p:nvPr/>
        </p:nvSpPr>
        <p:spPr>
          <a:xfrm>
            <a:off x="4742593" y="4632934"/>
            <a:ext cx="57686" cy="57686"/>
          </a:xfrm>
          <a:custGeom>
            <a:avLst/>
            <a:gdLst/>
            <a:ahLst/>
            <a:cxnLst/>
            <a:rect l="l" t="t" r="r" b="b"/>
            <a:pathLst>
              <a:path w="57686" h="57686">
                <a:moveTo>
                  <a:pt x="0" y="57686"/>
                </a:moveTo>
                <a:lnTo>
                  <a:pt x="0" y="0"/>
                </a:lnTo>
                <a:lnTo>
                  <a:pt x="57686" y="0"/>
                </a:lnTo>
                <a:lnTo>
                  <a:pt x="57686" y="34953"/>
                </a:lnTo>
                <a:lnTo>
                  <a:pt x="53122" y="40326"/>
                </a:lnTo>
                <a:lnTo>
                  <a:pt x="30629"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6" name="Illustrative delivered road transport cost class 0; reference terminal Durban"/>
          <p:cNvSpPr/>
          <p:nvPr/>
        </p:nvSpPr>
        <p:spPr>
          <a:xfrm>
            <a:off x="474259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7" name="Illustrative delivered road transport cost class 0; reference terminal Durban"/>
          <p:cNvSpPr/>
          <p:nvPr/>
        </p:nvSpPr>
        <p:spPr>
          <a:xfrm>
            <a:off x="474259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8" name="Illustrative delivered road transport cost class 0; reference terminal Durban"/>
          <p:cNvSpPr/>
          <p:nvPr/>
        </p:nvSpPr>
        <p:spPr>
          <a:xfrm>
            <a:off x="474259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9" name="Illustrative delivered road transport cost class 0; reference terminal Durban"/>
          <p:cNvSpPr/>
          <p:nvPr/>
        </p:nvSpPr>
        <p:spPr>
          <a:xfrm>
            <a:off x="474259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0" name="Illustrative delivered road transport cost class 0; reference terminal Durban"/>
          <p:cNvSpPr/>
          <p:nvPr/>
        </p:nvSpPr>
        <p:spPr>
          <a:xfrm>
            <a:off x="474259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1" name="Illustrative delivered road transport cost class 0; reference terminal Durban"/>
          <p:cNvSpPr/>
          <p:nvPr/>
        </p:nvSpPr>
        <p:spPr>
          <a:xfrm>
            <a:off x="474259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2" name="Illustrative delivered road transport cost class 0; reference terminal Durban"/>
          <p:cNvSpPr/>
          <p:nvPr/>
        </p:nvSpPr>
        <p:spPr>
          <a:xfrm>
            <a:off x="474259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3" name="Illustrative delivered road transport cost class 0; reference terminal Durban"/>
          <p:cNvSpPr/>
          <p:nvPr/>
        </p:nvSpPr>
        <p:spPr>
          <a:xfrm>
            <a:off x="474259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4" name="Illustrative delivered road transport cost class 0; reference terminal Durban"/>
          <p:cNvSpPr/>
          <p:nvPr/>
        </p:nvSpPr>
        <p:spPr>
          <a:xfrm>
            <a:off x="474259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5" name="Illustrative delivered road transport cost class 0; reference terminal Durban"/>
          <p:cNvSpPr/>
          <p:nvPr/>
        </p:nvSpPr>
        <p:spPr>
          <a:xfrm>
            <a:off x="474259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6" name="Illustrative delivered road transport cost class 0; reference terminal Durban"/>
          <p:cNvSpPr/>
          <p:nvPr/>
        </p:nvSpPr>
        <p:spPr>
          <a:xfrm>
            <a:off x="474259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7" name="Illustrative delivered road transport cost class 0; reference terminal Durban"/>
          <p:cNvSpPr/>
          <p:nvPr/>
        </p:nvSpPr>
        <p:spPr>
          <a:xfrm>
            <a:off x="474259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8" name="Illustrative delivered road transport cost class 0; reference terminal Durban"/>
          <p:cNvSpPr/>
          <p:nvPr/>
        </p:nvSpPr>
        <p:spPr>
          <a:xfrm>
            <a:off x="474259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9" name="Illustrative delivered road transport cost class 0; reference terminal Lesedi"/>
          <p:cNvSpPr/>
          <p:nvPr/>
        </p:nvSpPr>
        <p:spPr>
          <a:xfrm>
            <a:off x="474259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0" name="Illustrative delivered road transport cost class 0; reference terminal Lesedi"/>
          <p:cNvSpPr/>
          <p:nvPr/>
        </p:nvSpPr>
        <p:spPr>
          <a:xfrm>
            <a:off x="474259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1" name="Illustrative delivered road transport cost class 0; reference terminal Lesedi"/>
          <p:cNvSpPr/>
          <p:nvPr/>
        </p:nvSpPr>
        <p:spPr>
          <a:xfrm>
            <a:off x="474259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2" name="Illustrative delivered road transport cost class 0; reference terminal Lesedi"/>
          <p:cNvSpPr/>
          <p:nvPr/>
        </p:nvSpPr>
        <p:spPr>
          <a:xfrm>
            <a:off x="474259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3" name="Illustrative delivered road transport cost class 0; reference terminal Lesedi"/>
          <p:cNvSpPr/>
          <p:nvPr/>
        </p:nvSpPr>
        <p:spPr>
          <a:xfrm>
            <a:off x="474259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4" name="Illustrative delivered road transport cost class 0; reference terminal Lesedi"/>
          <p:cNvSpPr/>
          <p:nvPr/>
        </p:nvSpPr>
        <p:spPr>
          <a:xfrm>
            <a:off x="474259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5" name="Illustrative delivered road transport cost class 0; reference terminal Lesedi"/>
          <p:cNvSpPr/>
          <p:nvPr/>
        </p:nvSpPr>
        <p:spPr>
          <a:xfrm>
            <a:off x="474259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6" name="Illustrative delivered road transport cost class 0; reference terminal Lesedi"/>
          <p:cNvSpPr/>
          <p:nvPr/>
        </p:nvSpPr>
        <p:spPr>
          <a:xfrm>
            <a:off x="474259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7" name="Illustrative delivered road transport cost class 0; reference terminal Lesedi"/>
          <p:cNvSpPr/>
          <p:nvPr/>
        </p:nvSpPr>
        <p:spPr>
          <a:xfrm>
            <a:off x="474259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8" name="Illustrative delivered road transport cost class 0; reference terminal Lesedi"/>
          <p:cNvSpPr/>
          <p:nvPr/>
        </p:nvSpPr>
        <p:spPr>
          <a:xfrm>
            <a:off x="474259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9" name="Illustrative delivered road transport cost class 0; reference terminal Lesedi"/>
          <p:cNvSpPr/>
          <p:nvPr/>
        </p:nvSpPr>
        <p:spPr>
          <a:xfrm>
            <a:off x="474259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0" name="Illustrative delivered road transport cost class 0; reference terminal Lesedi"/>
          <p:cNvSpPr/>
          <p:nvPr/>
        </p:nvSpPr>
        <p:spPr>
          <a:xfrm>
            <a:off x="474259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1" name="Illustrative delivered road transport cost class 0; reference terminal Lesedi"/>
          <p:cNvSpPr/>
          <p:nvPr/>
        </p:nvSpPr>
        <p:spPr>
          <a:xfrm>
            <a:off x="474259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2" name="Illustrative delivered road transport cost class 0; reference terminal Lesedi"/>
          <p:cNvSpPr/>
          <p:nvPr/>
        </p:nvSpPr>
        <p:spPr>
          <a:xfrm>
            <a:off x="474259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3" name="Illustrative delivered road transport cost class 1; reference terminal Lesedi"/>
          <p:cNvSpPr/>
          <p:nvPr/>
        </p:nvSpPr>
        <p:spPr>
          <a:xfrm>
            <a:off x="474259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4" name="Illustrative delivered road transport cost class 1; reference terminal Lesedi"/>
          <p:cNvSpPr/>
          <p:nvPr/>
        </p:nvSpPr>
        <p:spPr>
          <a:xfrm>
            <a:off x="474259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5" name="Illustrative delivered road transport cost class 1; reference terminal Lesedi"/>
          <p:cNvSpPr/>
          <p:nvPr/>
        </p:nvSpPr>
        <p:spPr>
          <a:xfrm>
            <a:off x="474259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6" name="Illustrative delivered road transport cost class 1; reference terminal Lesedi"/>
          <p:cNvSpPr/>
          <p:nvPr/>
        </p:nvSpPr>
        <p:spPr>
          <a:xfrm>
            <a:off x="474259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7" name="Illustrative delivered road transport cost class 1; reference terminal Lesedi"/>
          <p:cNvSpPr/>
          <p:nvPr/>
        </p:nvSpPr>
        <p:spPr>
          <a:xfrm>
            <a:off x="474259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8" name="Illustrative delivered road transport cost class 1; reference terminal Lesedi"/>
          <p:cNvSpPr/>
          <p:nvPr/>
        </p:nvSpPr>
        <p:spPr>
          <a:xfrm>
            <a:off x="474259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9" name="Illustrative delivered road transport cost class 1; reference terminal Lesedi"/>
          <p:cNvSpPr/>
          <p:nvPr/>
        </p:nvSpPr>
        <p:spPr>
          <a:xfrm>
            <a:off x="474259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0" name="Illustrative delivered road transport cost class 1; reference terminal Lesedi"/>
          <p:cNvSpPr/>
          <p:nvPr/>
        </p:nvSpPr>
        <p:spPr>
          <a:xfrm>
            <a:off x="474259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1" name="Illustrative delivered road transport cost class 1; reference terminal Lesedi"/>
          <p:cNvSpPr/>
          <p:nvPr/>
        </p:nvSpPr>
        <p:spPr>
          <a:xfrm>
            <a:off x="474259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2" name="Illustrative delivered road transport cost class 1; reference terminal Lesedi"/>
          <p:cNvSpPr/>
          <p:nvPr/>
        </p:nvSpPr>
        <p:spPr>
          <a:xfrm>
            <a:off x="474259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3" name="Illustrative delivered road transport cost class 1; reference terminal Lesedi"/>
          <p:cNvSpPr/>
          <p:nvPr/>
        </p:nvSpPr>
        <p:spPr>
          <a:xfrm>
            <a:off x="474259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4" name="Illustrative delivered road transport cost class 1; reference terminal Lesedi"/>
          <p:cNvSpPr/>
          <p:nvPr/>
        </p:nvSpPr>
        <p:spPr>
          <a:xfrm>
            <a:off x="474259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5" name="Illustrative delivered road transport cost class 2; reference terminal Lesedi"/>
          <p:cNvSpPr/>
          <p:nvPr/>
        </p:nvSpPr>
        <p:spPr>
          <a:xfrm>
            <a:off x="4742593" y="2327771"/>
            <a:ext cx="57686" cy="55387"/>
          </a:xfrm>
          <a:custGeom>
            <a:avLst/>
            <a:gdLst/>
            <a:ahLst/>
            <a:cxnLst/>
            <a:rect l="l" t="t" r="r" b="b"/>
            <a:pathLst>
              <a:path w="57686" h="55387">
                <a:moveTo>
                  <a:pt x="57686" y="55387"/>
                </a:moveTo>
                <a:lnTo>
                  <a:pt x="0" y="55387"/>
                </a:lnTo>
                <a:lnTo>
                  <a:pt x="0" y="7584"/>
                </a:lnTo>
                <a:lnTo>
                  <a:pt x="1574" y="7498"/>
                </a:lnTo>
                <a:lnTo>
                  <a:pt x="4582" y="7304"/>
                </a:lnTo>
                <a:lnTo>
                  <a:pt x="57686" y="0"/>
                </a:lnTo>
                <a:lnTo>
                  <a:pt x="57686" y="553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6" name="Illustrative delivered road transport cost class 0; reference terminal Durban"/>
          <p:cNvSpPr/>
          <p:nvPr/>
        </p:nvSpPr>
        <p:spPr>
          <a:xfrm>
            <a:off x="4800279" y="4632934"/>
            <a:ext cx="29693" cy="34953"/>
          </a:xfrm>
          <a:custGeom>
            <a:avLst/>
            <a:gdLst/>
            <a:ahLst/>
            <a:cxnLst/>
            <a:rect l="l" t="t" r="r" b="b"/>
            <a:pathLst>
              <a:path w="29693" h="34953">
                <a:moveTo>
                  <a:pt x="0" y="0"/>
                </a:moveTo>
                <a:lnTo>
                  <a:pt x="29693" y="0"/>
                </a:lnTo>
                <a:lnTo>
                  <a:pt x="0" y="3495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7" name="Illustrative delivered road transport cost class 0; reference terminal Durban"/>
          <p:cNvSpPr/>
          <p:nvPr/>
        </p:nvSpPr>
        <p:spPr>
          <a:xfrm>
            <a:off x="4800279" y="4575247"/>
            <a:ext cx="57687" cy="57687"/>
          </a:xfrm>
          <a:custGeom>
            <a:avLst/>
            <a:gdLst/>
            <a:ahLst/>
            <a:cxnLst/>
            <a:rect l="l" t="t" r="r" b="b"/>
            <a:pathLst>
              <a:path w="57687" h="57687">
                <a:moveTo>
                  <a:pt x="0" y="57687"/>
                </a:moveTo>
                <a:lnTo>
                  <a:pt x="0" y="0"/>
                </a:lnTo>
                <a:lnTo>
                  <a:pt x="57687" y="0"/>
                </a:lnTo>
                <a:lnTo>
                  <a:pt x="57687" y="24734"/>
                </a:lnTo>
                <a:lnTo>
                  <a:pt x="2969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8" name="Illustrative delivered road transport cost class 0; reference terminal Durban"/>
          <p:cNvSpPr/>
          <p:nvPr/>
        </p:nvSpPr>
        <p:spPr>
          <a:xfrm>
            <a:off x="480027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9" name="Illustrative delivered road transport cost class 0; reference terminal Durban"/>
          <p:cNvSpPr/>
          <p:nvPr/>
        </p:nvSpPr>
        <p:spPr>
          <a:xfrm>
            <a:off x="480027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0" name="Illustrative delivered road transport cost class 0; reference terminal Durban"/>
          <p:cNvSpPr/>
          <p:nvPr/>
        </p:nvSpPr>
        <p:spPr>
          <a:xfrm>
            <a:off x="480027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1" name="Illustrative delivered road transport cost class 0; reference terminal Durban"/>
          <p:cNvSpPr/>
          <p:nvPr/>
        </p:nvSpPr>
        <p:spPr>
          <a:xfrm>
            <a:off x="480027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2" name="Illustrative delivered road transport cost class 0; reference terminal Durban"/>
          <p:cNvSpPr/>
          <p:nvPr/>
        </p:nvSpPr>
        <p:spPr>
          <a:xfrm>
            <a:off x="480027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3" name="Illustrative delivered road transport cost class 0; reference terminal Durban"/>
          <p:cNvSpPr/>
          <p:nvPr/>
        </p:nvSpPr>
        <p:spPr>
          <a:xfrm>
            <a:off x="480027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4" name="Illustrative delivered road transport cost class 0; reference terminal Durban"/>
          <p:cNvSpPr/>
          <p:nvPr/>
        </p:nvSpPr>
        <p:spPr>
          <a:xfrm>
            <a:off x="480027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5" name="Illustrative delivered road transport cost class 0; reference terminal Durban"/>
          <p:cNvSpPr/>
          <p:nvPr/>
        </p:nvSpPr>
        <p:spPr>
          <a:xfrm>
            <a:off x="480027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6" name="Illustrative delivered road transport cost class 0; reference terminal Durban"/>
          <p:cNvSpPr/>
          <p:nvPr/>
        </p:nvSpPr>
        <p:spPr>
          <a:xfrm>
            <a:off x="480027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7" name="Illustrative delivered road transport cost class 0; reference terminal Durban"/>
          <p:cNvSpPr/>
          <p:nvPr/>
        </p:nvSpPr>
        <p:spPr>
          <a:xfrm>
            <a:off x="480027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8" name="Illustrative delivered road transport cost class 0; reference terminal Durban"/>
          <p:cNvSpPr/>
          <p:nvPr/>
        </p:nvSpPr>
        <p:spPr>
          <a:xfrm>
            <a:off x="480027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9" name="Illustrative delivered road transport cost class 0; reference terminal Durban"/>
          <p:cNvSpPr/>
          <p:nvPr/>
        </p:nvSpPr>
        <p:spPr>
          <a:xfrm>
            <a:off x="480027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0" name="Illustrative delivered road transport cost class 0; reference terminal Lesedi"/>
          <p:cNvSpPr/>
          <p:nvPr/>
        </p:nvSpPr>
        <p:spPr>
          <a:xfrm>
            <a:off x="480027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1" name="Illustrative delivered road transport cost class 0; reference terminal Lesedi"/>
          <p:cNvSpPr/>
          <p:nvPr/>
        </p:nvSpPr>
        <p:spPr>
          <a:xfrm>
            <a:off x="480027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2" name="Illustrative delivered road transport cost class 0; reference terminal Lesedi"/>
          <p:cNvSpPr/>
          <p:nvPr/>
        </p:nvSpPr>
        <p:spPr>
          <a:xfrm>
            <a:off x="480027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3" name="Illustrative delivered road transport cost class 0; reference terminal Lesedi"/>
          <p:cNvSpPr/>
          <p:nvPr/>
        </p:nvSpPr>
        <p:spPr>
          <a:xfrm>
            <a:off x="480027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4" name="Illustrative delivered road transport cost class 0; reference terminal Lesedi"/>
          <p:cNvSpPr/>
          <p:nvPr/>
        </p:nvSpPr>
        <p:spPr>
          <a:xfrm>
            <a:off x="480027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5" name="Illustrative delivered road transport cost class 0; reference terminal Lesedi"/>
          <p:cNvSpPr/>
          <p:nvPr/>
        </p:nvSpPr>
        <p:spPr>
          <a:xfrm>
            <a:off x="480027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6" name="Illustrative delivered road transport cost class 0; reference terminal Lesedi"/>
          <p:cNvSpPr/>
          <p:nvPr/>
        </p:nvSpPr>
        <p:spPr>
          <a:xfrm>
            <a:off x="480027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7" name="Illustrative delivered road transport cost class 0; reference terminal Lesedi"/>
          <p:cNvSpPr/>
          <p:nvPr/>
        </p:nvSpPr>
        <p:spPr>
          <a:xfrm>
            <a:off x="480027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8" name="Illustrative delivered road transport cost class 0; reference terminal Lesedi"/>
          <p:cNvSpPr/>
          <p:nvPr/>
        </p:nvSpPr>
        <p:spPr>
          <a:xfrm>
            <a:off x="480027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9" name="Illustrative delivered road transport cost class 0; reference terminal Lesedi"/>
          <p:cNvSpPr/>
          <p:nvPr/>
        </p:nvSpPr>
        <p:spPr>
          <a:xfrm>
            <a:off x="480027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0" name="Illustrative delivered road transport cost class 0; reference terminal Lesedi"/>
          <p:cNvSpPr/>
          <p:nvPr/>
        </p:nvSpPr>
        <p:spPr>
          <a:xfrm>
            <a:off x="480027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1" name="Illustrative delivered road transport cost class 0; reference terminal Lesedi"/>
          <p:cNvSpPr/>
          <p:nvPr/>
        </p:nvSpPr>
        <p:spPr>
          <a:xfrm>
            <a:off x="480027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2" name="Illustrative delivered road transport cost class 0; reference terminal Lesedi"/>
          <p:cNvSpPr/>
          <p:nvPr/>
        </p:nvSpPr>
        <p:spPr>
          <a:xfrm>
            <a:off x="480027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3" name="Illustrative delivered road transport cost class 0; reference terminal Lesedi"/>
          <p:cNvSpPr/>
          <p:nvPr/>
        </p:nvSpPr>
        <p:spPr>
          <a:xfrm>
            <a:off x="480027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4" name="Illustrative delivered road transport cost class 1; reference terminal Lesedi"/>
          <p:cNvSpPr/>
          <p:nvPr/>
        </p:nvSpPr>
        <p:spPr>
          <a:xfrm>
            <a:off x="480027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5" name="Illustrative delivered road transport cost class 1; reference terminal Lesedi"/>
          <p:cNvSpPr/>
          <p:nvPr/>
        </p:nvSpPr>
        <p:spPr>
          <a:xfrm>
            <a:off x="480027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6" name="Illustrative delivered road transport cost class 1; reference terminal Lesedi"/>
          <p:cNvSpPr/>
          <p:nvPr/>
        </p:nvSpPr>
        <p:spPr>
          <a:xfrm>
            <a:off x="480027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7" name="Illustrative delivered road transport cost class 1; reference terminal Lesedi"/>
          <p:cNvSpPr/>
          <p:nvPr/>
        </p:nvSpPr>
        <p:spPr>
          <a:xfrm>
            <a:off x="480027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8" name="Illustrative delivered road transport cost class 1; reference terminal Lesedi"/>
          <p:cNvSpPr/>
          <p:nvPr/>
        </p:nvSpPr>
        <p:spPr>
          <a:xfrm>
            <a:off x="480027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9" name="Illustrative delivered road transport cost class 1; reference terminal Lesedi"/>
          <p:cNvSpPr/>
          <p:nvPr/>
        </p:nvSpPr>
        <p:spPr>
          <a:xfrm>
            <a:off x="480027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0" name="Illustrative delivered road transport cost class 1; reference terminal Lesedi"/>
          <p:cNvSpPr/>
          <p:nvPr/>
        </p:nvSpPr>
        <p:spPr>
          <a:xfrm>
            <a:off x="480027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1" name="Illustrative delivered road transport cost class 1; reference terminal Lesedi"/>
          <p:cNvSpPr/>
          <p:nvPr/>
        </p:nvSpPr>
        <p:spPr>
          <a:xfrm>
            <a:off x="480027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2" name="Illustrative delivered road transport cost class 1; reference terminal Lesedi"/>
          <p:cNvSpPr/>
          <p:nvPr/>
        </p:nvSpPr>
        <p:spPr>
          <a:xfrm>
            <a:off x="480027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3" name="Illustrative delivered road transport cost class 1; reference terminal Lesedi"/>
          <p:cNvSpPr/>
          <p:nvPr/>
        </p:nvSpPr>
        <p:spPr>
          <a:xfrm>
            <a:off x="480027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4" name="Illustrative delivered road transport cost class 1; reference terminal Lesedi"/>
          <p:cNvSpPr/>
          <p:nvPr/>
        </p:nvSpPr>
        <p:spPr>
          <a:xfrm>
            <a:off x="480027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5" name="Illustrative delivered road transport cost class 1; reference terminal Lesedi"/>
          <p:cNvSpPr/>
          <p:nvPr/>
        </p:nvSpPr>
        <p:spPr>
          <a:xfrm>
            <a:off x="480027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6" name="Illustrative delivered road transport cost class 1; reference terminal Lesedi"/>
          <p:cNvSpPr/>
          <p:nvPr/>
        </p:nvSpPr>
        <p:spPr>
          <a:xfrm>
            <a:off x="4800279" y="2325669"/>
            <a:ext cx="57687" cy="57489"/>
          </a:xfrm>
          <a:custGeom>
            <a:avLst/>
            <a:gdLst/>
            <a:ahLst/>
            <a:cxnLst/>
            <a:rect l="l" t="t" r="r" b="b"/>
            <a:pathLst>
              <a:path w="57687" h="57489">
                <a:moveTo>
                  <a:pt x="57687" y="57489"/>
                </a:moveTo>
                <a:lnTo>
                  <a:pt x="0" y="57489"/>
                </a:lnTo>
                <a:lnTo>
                  <a:pt x="0" y="2102"/>
                </a:lnTo>
                <a:lnTo>
                  <a:pt x="15287" y="0"/>
                </a:lnTo>
                <a:lnTo>
                  <a:pt x="57687" y="8864"/>
                </a:lnTo>
                <a:lnTo>
                  <a:pt x="57687" y="5748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7" name="Illustrative delivered road transport cost class 0; reference terminal Durban"/>
          <p:cNvSpPr/>
          <p:nvPr/>
        </p:nvSpPr>
        <p:spPr>
          <a:xfrm>
            <a:off x="4857966" y="4575247"/>
            <a:ext cx="19200" cy="24734"/>
          </a:xfrm>
          <a:custGeom>
            <a:avLst/>
            <a:gdLst/>
            <a:ahLst/>
            <a:cxnLst/>
            <a:rect l="l" t="t" r="r" b="b"/>
            <a:pathLst>
              <a:path w="19200" h="24734">
                <a:moveTo>
                  <a:pt x="0" y="0"/>
                </a:moveTo>
                <a:lnTo>
                  <a:pt x="19200" y="0"/>
                </a:lnTo>
                <a:lnTo>
                  <a:pt x="11598" y="11082"/>
                </a:lnTo>
                <a:lnTo>
                  <a:pt x="0" y="2473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8" name="Illustrative delivered road transport cost class 0; reference terminal Durban"/>
          <p:cNvSpPr/>
          <p:nvPr/>
        </p:nvSpPr>
        <p:spPr>
          <a:xfrm>
            <a:off x="4857966" y="4517561"/>
            <a:ext cx="57687" cy="57686"/>
          </a:xfrm>
          <a:custGeom>
            <a:avLst/>
            <a:gdLst/>
            <a:ahLst/>
            <a:cxnLst/>
            <a:rect l="l" t="t" r="r" b="b"/>
            <a:pathLst>
              <a:path w="57687" h="57686">
                <a:moveTo>
                  <a:pt x="0" y="57686"/>
                </a:moveTo>
                <a:lnTo>
                  <a:pt x="0" y="0"/>
                </a:lnTo>
                <a:lnTo>
                  <a:pt x="57687" y="0"/>
                </a:lnTo>
                <a:lnTo>
                  <a:pt x="57687" y="1421"/>
                </a:lnTo>
                <a:lnTo>
                  <a:pt x="55153" y="5279"/>
                </a:lnTo>
                <a:lnTo>
                  <a:pt x="19200"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9" name="Illustrative delivered road transport cost class 0; reference terminal Durban"/>
          <p:cNvSpPr/>
          <p:nvPr/>
        </p:nvSpPr>
        <p:spPr>
          <a:xfrm>
            <a:off x="485796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0" name="Illustrative delivered road transport cost class 0; reference terminal Durban"/>
          <p:cNvSpPr/>
          <p:nvPr/>
        </p:nvSpPr>
        <p:spPr>
          <a:xfrm>
            <a:off x="485796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1" name="Illustrative delivered road transport cost class 0; reference terminal Durban"/>
          <p:cNvSpPr/>
          <p:nvPr/>
        </p:nvSpPr>
        <p:spPr>
          <a:xfrm>
            <a:off x="485796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2" name="Illustrative delivered road transport cost class 0; reference terminal Durban"/>
          <p:cNvSpPr/>
          <p:nvPr/>
        </p:nvSpPr>
        <p:spPr>
          <a:xfrm>
            <a:off x="485796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3" name="Illustrative delivered road transport cost class 0; reference terminal Durban"/>
          <p:cNvSpPr/>
          <p:nvPr/>
        </p:nvSpPr>
        <p:spPr>
          <a:xfrm>
            <a:off x="485796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4" name="Illustrative delivered road transport cost class 0; reference terminal Durban"/>
          <p:cNvSpPr/>
          <p:nvPr/>
        </p:nvSpPr>
        <p:spPr>
          <a:xfrm>
            <a:off x="485796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5" name="Illustrative delivered road transport cost class 0; reference terminal Durban"/>
          <p:cNvSpPr/>
          <p:nvPr/>
        </p:nvSpPr>
        <p:spPr>
          <a:xfrm>
            <a:off x="485796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6" name="Illustrative delivered road transport cost class 0; reference terminal Durban"/>
          <p:cNvSpPr/>
          <p:nvPr/>
        </p:nvSpPr>
        <p:spPr>
          <a:xfrm>
            <a:off x="485796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7" name="Illustrative delivered road transport cost class 0; reference terminal Durban"/>
          <p:cNvSpPr/>
          <p:nvPr/>
        </p:nvSpPr>
        <p:spPr>
          <a:xfrm>
            <a:off x="485796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8" name="Illustrative delivered road transport cost class 0; reference terminal Durban"/>
          <p:cNvSpPr/>
          <p:nvPr/>
        </p:nvSpPr>
        <p:spPr>
          <a:xfrm>
            <a:off x="485796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9" name="Illustrative delivered road transport cost class 0; reference terminal Durban"/>
          <p:cNvSpPr/>
          <p:nvPr/>
        </p:nvSpPr>
        <p:spPr>
          <a:xfrm>
            <a:off x="485796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0" name="Illustrative delivered road transport cost class None; reference terminal None"/>
          <p:cNvSpPr/>
          <p:nvPr/>
        </p:nvSpPr>
        <p:spPr>
          <a:xfrm>
            <a:off x="485796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1" name="Illustrative delivered road transport cost class None; reference terminal None"/>
          <p:cNvSpPr/>
          <p:nvPr/>
        </p:nvSpPr>
        <p:spPr>
          <a:xfrm>
            <a:off x="485796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2" name="Illustrative delivered road transport cost class None; reference terminal None"/>
          <p:cNvSpPr/>
          <p:nvPr/>
        </p:nvSpPr>
        <p:spPr>
          <a:xfrm>
            <a:off x="485796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3" name="Illustrative delivered road transport cost class 1; reference terminal Lesedi"/>
          <p:cNvSpPr/>
          <p:nvPr/>
        </p:nvSpPr>
        <p:spPr>
          <a:xfrm>
            <a:off x="485796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4" name="Illustrative delivered road transport cost class 1; reference terminal Lesedi"/>
          <p:cNvSpPr/>
          <p:nvPr/>
        </p:nvSpPr>
        <p:spPr>
          <a:xfrm>
            <a:off x="485796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5" name="Illustrative delivered road transport cost class 1; reference terminal Lesedi"/>
          <p:cNvSpPr/>
          <p:nvPr/>
        </p:nvSpPr>
        <p:spPr>
          <a:xfrm>
            <a:off x="485796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6" name="Illustrative delivered road transport cost class 0; reference terminal Lesedi"/>
          <p:cNvSpPr/>
          <p:nvPr/>
        </p:nvSpPr>
        <p:spPr>
          <a:xfrm>
            <a:off x="485796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7" name="Illustrative delivered road transport cost class 0; reference terminal Lesedi"/>
          <p:cNvSpPr/>
          <p:nvPr/>
        </p:nvSpPr>
        <p:spPr>
          <a:xfrm>
            <a:off x="485796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8" name="Illustrative delivered road transport cost class 0; reference terminal Lesedi"/>
          <p:cNvSpPr/>
          <p:nvPr/>
        </p:nvSpPr>
        <p:spPr>
          <a:xfrm>
            <a:off x="485796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9" name="Illustrative delivered road transport cost class 0; reference terminal Lesedi"/>
          <p:cNvSpPr/>
          <p:nvPr/>
        </p:nvSpPr>
        <p:spPr>
          <a:xfrm>
            <a:off x="485796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0" name="Illustrative delivered road transport cost class 0; reference terminal Lesedi"/>
          <p:cNvSpPr/>
          <p:nvPr/>
        </p:nvSpPr>
        <p:spPr>
          <a:xfrm>
            <a:off x="485796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1" name="Illustrative delivered road transport cost class 0; reference terminal Lesedi"/>
          <p:cNvSpPr/>
          <p:nvPr/>
        </p:nvSpPr>
        <p:spPr>
          <a:xfrm>
            <a:off x="485796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2" name="Illustrative delivered road transport cost class 0; reference terminal Lesedi"/>
          <p:cNvSpPr/>
          <p:nvPr/>
        </p:nvSpPr>
        <p:spPr>
          <a:xfrm>
            <a:off x="485796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3" name="Illustrative delivered road transport cost class 1; reference terminal Lesedi"/>
          <p:cNvSpPr/>
          <p:nvPr/>
        </p:nvSpPr>
        <p:spPr>
          <a:xfrm>
            <a:off x="485796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4" name="Illustrative delivered road transport cost class 1; reference terminal Lesedi"/>
          <p:cNvSpPr/>
          <p:nvPr/>
        </p:nvSpPr>
        <p:spPr>
          <a:xfrm>
            <a:off x="485796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5" name="Illustrative delivered road transport cost class None; reference terminal None"/>
          <p:cNvSpPr/>
          <p:nvPr/>
        </p:nvSpPr>
        <p:spPr>
          <a:xfrm>
            <a:off x="485796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6" name="Illustrative delivered road transport cost class 1; reference terminal Lesedi"/>
          <p:cNvSpPr/>
          <p:nvPr/>
        </p:nvSpPr>
        <p:spPr>
          <a:xfrm>
            <a:off x="485796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7" name="Illustrative delivered road transport cost class 1; reference terminal Lesedi"/>
          <p:cNvSpPr/>
          <p:nvPr/>
        </p:nvSpPr>
        <p:spPr>
          <a:xfrm>
            <a:off x="485796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8" name="Illustrative delivered road transport cost class 1; reference terminal Lesedi"/>
          <p:cNvSpPr/>
          <p:nvPr/>
        </p:nvSpPr>
        <p:spPr>
          <a:xfrm>
            <a:off x="485796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9" name="Illustrative delivered road transport cost class 1; reference terminal Lesedi"/>
          <p:cNvSpPr/>
          <p:nvPr/>
        </p:nvSpPr>
        <p:spPr>
          <a:xfrm>
            <a:off x="485796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0" name="Illustrative delivered road transport cost class 1; reference terminal Lesedi"/>
          <p:cNvSpPr/>
          <p:nvPr/>
        </p:nvSpPr>
        <p:spPr>
          <a:xfrm>
            <a:off x="485796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1" name="Illustrative delivered road transport cost class 1; reference terminal Lesedi"/>
          <p:cNvSpPr/>
          <p:nvPr/>
        </p:nvSpPr>
        <p:spPr>
          <a:xfrm>
            <a:off x="485796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2" name="Illustrative delivered road transport cost class 1; reference terminal Lesedi"/>
          <p:cNvSpPr/>
          <p:nvPr/>
        </p:nvSpPr>
        <p:spPr>
          <a:xfrm>
            <a:off x="485796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3" name="Illustrative delivered road transport cost class 1; reference terminal Lesedi"/>
          <p:cNvSpPr/>
          <p:nvPr/>
        </p:nvSpPr>
        <p:spPr>
          <a:xfrm>
            <a:off x="485796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4" name="Illustrative delivered road transport cost class 1; reference terminal Lesedi"/>
          <p:cNvSpPr/>
          <p:nvPr/>
        </p:nvSpPr>
        <p:spPr>
          <a:xfrm>
            <a:off x="485796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5" name="Illustrative delivered road transport cost class 1; reference terminal Lesedi"/>
          <p:cNvSpPr/>
          <p:nvPr/>
        </p:nvSpPr>
        <p:spPr>
          <a:xfrm>
            <a:off x="485796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6" name="Illustrative delivered road transport cost class 1; reference terminal Lesedi"/>
          <p:cNvSpPr/>
          <p:nvPr/>
        </p:nvSpPr>
        <p:spPr>
          <a:xfrm>
            <a:off x="4857966" y="2334533"/>
            <a:ext cx="57687" cy="48625"/>
          </a:xfrm>
          <a:custGeom>
            <a:avLst/>
            <a:gdLst/>
            <a:ahLst/>
            <a:cxnLst/>
            <a:rect l="l" t="t" r="r" b="b"/>
            <a:pathLst>
              <a:path w="57687" h="48625">
                <a:moveTo>
                  <a:pt x="57687" y="48625"/>
                </a:moveTo>
                <a:lnTo>
                  <a:pt x="0" y="48625"/>
                </a:lnTo>
                <a:lnTo>
                  <a:pt x="0" y="0"/>
                </a:lnTo>
                <a:lnTo>
                  <a:pt x="14232" y="2975"/>
                </a:lnTo>
                <a:lnTo>
                  <a:pt x="57687" y="22297"/>
                </a:lnTo>
                <a:lnTo>
                  <a:pt x="57687" y="48625"/>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7" name="Illustrative delivered road transport cost class 0; reference terminal Durban"/>
          <p:cNvSpPr/>
          <p:nvPr/>
        </p:nvSpPr>
        <p:spPr>
          <a:xfrm>
            <a:off x="4915653" y="4459874"/>
            <a:ext cx="38817" cy="57687"/>
          </a:xfrm>
          <a:custGeom>
            <a:avLst/>
            <a:gdLst/>
            <a:ahLst/>
            <a:cxnLst/>
            <a:rect l="l" t="t" r="r" b="b"/>
            <a:pathLst>
              <a:path w="38817" h="57687">
                <a:moveTo>
                  <a:pt x="0" y="57687"/>
                </a:moveTo>
                <a:lnTo>
                  <a:pt x="0" y="0"/>
                </a:lnTo>
                <a:lnTo>
                  <a:pt x="38817" y="0"/>
                </a:lnTo>
                <a:lnTo>
                  <a:pt x="93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8" name="Illustrative delivered road transport cost class 0; reference terminal Durban"/>
          <p:cNvSpPr/>
          <p:nvPr/>
        </p:nvSpPr>
        <p:spPr>
          <a:xfrm>
            <a:off x="4915653" y="4402188"/>
            <a:ext cx="57686" cy="57686"/>
          </a:xfrm>
          <a:custGeom>
            <a:avLst/>
            <a:gdLst/>
            <a:ahLst/>
            <a:cxnLst/>
            <a:rect l="l" t="t" r="r" b="b"/>
            <a:pathLst>
              <a:path w="57686" h="57686">
                <a:moveTo>
                  <a:pt x="0" y="57686"/>
                </a:moveTo>
                <a:lnTo>
                  <a:pt x="0" y="0"/>
                </a:lnTo>
                <a:lnTo>
                  <a:pt x="57686" y="0"/>
                </a:lnTo>
                <a:lnTo>
                  <a:pt x="57686" y="25851"/>
                </a:lnTo>
                <a:lnTo>
                  <a:pt x="43228" y="50968"/>
                </a:lnTo>
                <a:lnTo>
                  <a:pt x="3881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9" name="Illustrative delivered road transport cost class 0; reference terminal Durban"/>
          <p:cNvSpPr/>
          <p:nvPr/>
        </p:nvSpPr>
        <p:spPr>
          <a:xfrm>
            <a:off x="491565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0" name="Illustrative delivered road transport cost class 0; reference terminal Durban"/>
          <p:cNvSpPr/>
          <p:nvPr/>
        </p:nvSpPr>
        <p:spPr>
          <a:xfrm>
            <a:off x="491565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1" name="Illustrative delivered road transport cost class 0; reference terminal Durban"/>
          <p:cNvSpPr/>
          <p:nvPr/>
        </p:nvSpPr>
        <p:spPr>
          <a:xfrm>
            <a:off x="491565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2" name="Illustrative delivered road transport cost class 0; reference terminal Durban"/>
          <p:cNvSpPr/>
          <p:nvPr/>
        </p:nvSpPr>
        <p:spPr>
          <a:xfrm>
            <a:off x="491565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3" name="Illustrative delivered road transport cost class 0; reference terminal Durban"/>
          <p:cNvSpPr/>
          <p:nvPr/>
        </p:nvSpPr>
        <p:spPr>
          <a:xfrm>
            <a:off x="491565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4" name="Illustrative delivered road transport cost class 0; reference terminal Durban"/>
          <p:cNvSpPr/>
          <p:nvPr/>
        </p:nvSpPr>
        <p:spPr>
          <a:xfrm>
            <a:off x="491565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5" name="Illustrative delivered road transport cost class 0; reference terminal Durban"/>
          <p:cNvSpPr/>
          <p:nvPr/>
        </p:nvSpPr>
        <p:spPr>
          <a:xfrm>
            <a:off x="491565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6" name="Illustrative delivered road transport cost class 0; reference terminal Durban"/>
          <p:cNvSpPr/>
          <p:nvPr/>
        </p:nvSpPr>
        <p:spPr>
          <a:xfrm>
            <a:off x="491565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7" name="Illustrative delivered road transport cost class None; reference terminal None"/>
          <p:cNvSpPr/>
          <p:nvPr/>
        </p:nvSpPr>
        <p:spPr>
          <a:xfrm>
            <a:off x="491565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8" name="Illustrative delivered road transport cost class None; reference terminal None"/>
          <p:cNvSpPr/>
          <p:nvPr/>
        </p:nvSpPr>
        <p:spPr>
          <a:xfrm>
            <a:off x="491565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9" name="Illustrative delivered road transport cost class None; reference terminal None"/>
          <p:cNvSpPr/>
          <p:nvPr/>
        </p:nvSpPr>
        <p:spPr>
          <a:xfrm>
            <a:off x="491565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0" name="Illustrative delivered road transport cost class 1; reference terminal Lesedi"/>
          <p:cNvSpPr/>
          <p:nvPr/>
        </p:nvSpPr>
        <p:spPr>
          <a:xfrm>
            <a:off x="491565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1" name="Illustrative delivered road transport cost class 1; reference terminal Lesedi"/>
          <p:cNvSpPr/>
          <p:nvPr/>
        </p:nvSpPr>
        <p:spPr>
          <a:xfrm>
            <a:off x="491565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2" name="Illustrative delivered road transport cost class 1; reference terminal Lesedi"/>
          <p:cNvSpPr/>
          <p:nvPr/>
        </p:nvSpPr>
        <p:spPr>
          <a:xfrm>
            <a:off x="491565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3" name="Illustrative delivered road transport cost class 1; reference terminal Lesedi"/>
          <p:cNvSpPr/>
          <p:nvPr/>
        </p:nvSpPr>
        <p:spPr>
          <a:xfrm>
            <a:off x="491565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4" name="Illustrative delivered road transport cost class 0; reference terminal Lesedi"/>
          <p:cNvSpPr/>
          <p:nvPr/>
        </p:nvSpPr>
        <p:spPr>
          <a:xfrm>
            <a:off x="491565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5" name="Illustrative delivered road transport cost class 0; reference terminal Lesedi"/>
          <p:cNvSpPr/>
          <p:nvPr/>
        </p:nvSpPr>
        <p:spPr>
          <a:xfrm>
            <a:off x="491565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6" name="Illustrative delivered road transport cost class 0; reference terminal Lesedi"/>
          <p:cNvSpPr/>
          <p:nvPr/>
        </p:nvSpPr>
        <p:spPr>
          <a:xfrm>
            <a:off x="491565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7" name="Illustrative delivered road transport cost class 1; reference terminal Lesedi"/>
          <p:cNvSpPr/>
          <p:nvPr/>
        </p:nvSpPr>
        <p:spPr>
          <a:xfrm>
            <a:off x="491565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8" name="Illustrative delivered road transport cost class 1; reference terminal Lesedi"/>
          <p:cNvSpPr/>
          <p:nvPr/>
        </p:nvSpPr>
        <p:spPr>
          <a:xfrm>
            <a:off x="491565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9" name="Illustrative delivered road transport cost class 0; reference terminal Lesedi"/>
          <p:cNvSpPr/>
          <p:nvPr/>
        </p:nvSpPr>
        <p:spPr>
          <a:xfrm>
            <a:off x="491565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0" name="Illustrative delivered road transport cost class 1; reference terminal Lesedi"/>
          <p:cNvSpPr/>
          <p:nvPr/>
        </p:nvSpPr>
        <p:spPr>
          <a:xfrm>
            <a:off x="491565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1" name="Illustrative delivered road transport cost class 1; reference terminal Lesedi"/>
          <p:cNvSpPr/>
          <p:nvPr/>
        </p:nvSpPr>
        <p:spPr>
          <a:xfrm>
            <a:off x="491565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2" name="Illustrative delivered road transport cost class 1; reference terminal Lesedi"/>
          <p:cNvSpPr/>
          <p:nvPr/>
        </p:nvSpPr>
        <p:spPr>
          <a:xfrm>
            <a:off x="491565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3" name="Illustrative delivered road transport cost class 1; reference terminal Lesedi"/>
          <p:cNvSpPr/>
          <p:nvPr/>
        </p:nvSpPr>
        <p:spPr>
          <a:xfrm>
            <a:off x="491565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4" name="Illustrative delivered road transport cost class None; reference terminal None"/>
          <p:cNvSpPr/>
          <p:nvPr/>
        </p:nvSpPr>
        <p:spPr>
          <a:xfrm>
            <a:off x="491565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5" name="Illustrative delivered road transport cost class 1; reference terminal Lesedi"/>
          <p:cNvSpPr/>
          <p:nvPr/>
        </p:nvSpPr>
        <p:spPr>
          <a:xfrm>
            <a:off x="491565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6" name="Illustrative delivered road transport cost class 1; reference terminal Lesedi"/>
          <p:cNvSpPr/>
          <p:nvPr/>
        </p:nvSpPr>
        <p:spPr>
          <a:xfrm>
            <a:off x="491565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7" name="Illustrative delivered road transport cost class 1; reference terminal Lesedi"/>
          <p:cNvSpPr/>
          <p:nvPr/>
        </p:nvSpPr>
        <p:spPr>
          <a:xfrm>
            <a:off x="491565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8" name="Illustrative delivered road transport cost class 1; reference terminal Lesedi"/>
          <p:cNvSpPr/>
          <p:nvPr/>
        </p:nvSpPr>
        <p:spPr>
          <a:xfrm>
            <a:off x="491565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9" name="Illustrative delivered road transport cost class 1; reference terminal Lesedi"/>
          <p:cNvSpPr/>
          <p:nvPr/>
        </p:nvSpPr>
        <p:spPr>
          <a:xfrm>
            <a:off x="491565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0" name="Illustrative delivered road transport cost class 1; reference terminal Lesedi"/>
          <p:cNvSpPr/>
          <p:nvPr/>
        </p:nvSpPr>
        <p:spPr>
          <a:xfrm>
            <a:off x="491565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1" name="Illustrative delivered road transport cost class 1; reference terminal Lesedi"/>
          <p:cNvSpPr/>
          <p:nvPr/>
        </p:nvSpPr>
        <p:spPr>
          <a:xfrm>
            <a:off x="491565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2" name="Illustrative delivered road transport cost class 1; reference terminal Lesedi"/>
          <p:cNvSpPr/>
          <p:nvPr/>
        </p:nvSpPr>
        <p:spPr>
          <a:xfrm>
            <a:off x="491565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3" name="Illustrative delivered road transport cost class 1; reference terminal Lesedi"/>
          <p:cNvSpPr/>
          <p:nvPr/>
        </p:nvSpPr>
        <p:spPr>
          <a:xfrm>
            <a:off x="491565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4" name="Illustrative delivered road transport cost class 2; reference terminal Lesedi"/>
          <p:cNvSpPr/>
          <p:nvPr/>
        </p:nvSpPr>
        <p:spPr>
          <a:xfrm>
            <a:off x="4915653" y="2356830"/>
            <a:ext cx="57686" cy="26328"/>
          </a:xfrm>
          <a:custGeom>
            <a:avLst/>
            <a:gdLst/>
            <a:ahLst/>
            <a:cxnLst/>
            <a:rect l="l" t="t" r="r" b="b"/>
            <a:pathLst>
              <a:path w="57686" h="26328">
                <a:moveTo>
                  <a:pt x="57686" y="26328"/>
                </a:moveTo>
                <a:lnTo>
                  <a:pt x="0" y="26328"/>
                </a:lnTo>
                <a:lnTo>
                  <a:pt x="0" y="0"/>
                </a:lnTo>
                <a:lnTo>
                  <a:pt x="24105" y="10719"/>
                </a:lnTo>
                <a:lnTo>
                  <a:pt x="57686" y="17248"/>
                </a:lnTo>
                <a:lnTo>
                  <a:pt x="57686" y="26328"/>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5" name="Illustrative delivered road transport cost class 0; reference terminal Durban"/>
          <p:cNvSpPr/>
          <p:nvPr/>
        </p:nvSpPr>
        <p:spPr>
          <a:xfrm>
            <a:off x="4973339" y="4402188"/>
            <a:ext cx="14881" cy="25851"/>
          </a:xfrm>
          <a:custGeom>
            <a:avLst/>
            <a:gdLst/>
            <a:ahLst/>
            <a:cxnLst/>
            <a:rect l="l" t="t" r="r" b="b"/>
            <a:pathLst>
              <a:path w="14881" h="25851">
                <a:moveTo>
                  <a:pt x="0" y="0"/>
                </a:moveTo>
                <a:lnTo>
                  <a:pt x="14881" y="0"/>
                </a:lnTo>
                <a:lnTo>
                  <a:pt x="0" y="2585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6" name="Illustrative delivered road transport cost class 0; reference terminal Durban"/>
          <p:cNvSpPr/>
          <p:nvPr/>
        </p:nvSpPr>
        <p:spPr>
          <a:xfrm>
            <a:off x="4973339" y="4344501"/>
            <a:ext cx="52634" cy="57687"/>
          </a:xfrm>
          <a:custGeom>
            <a:avLst/>
            <a:gdLst/>
            <a:ahLst/>
            <a:cxnLst/>
            <a:rect l="l" t="t" r="r" b="b"/>
            <a:pathLst>
              <a:path w="52634" h="57687">
                <a:moveTo>
                  <a:pt x="0" y="57687"/>
                </a:moveTo>
                <a:lnTo>
                  <a:pt x="0" y="0"/>
                </a:lnTo>
                <a:lnTo>
                  <a:pt x="52634" y="0"/>
                </a:lnTo>
                <a:lnTo>
                  <a:pt x="37641" y="18144"/>
                </a:lnTo>
                <a:lnTo>
                  <a:pt x="1488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7" name="Illustrative delivered road transport cost class 0; reference terminal Durban"/>
          <p:cNvSpPr/>
          <p:nvPr/>
        </p:nvSpPr>
        <p:spPr>
          <a:xfrm>
            <a:off x="4973339" y="4286814"/>
            <a:ext cx="57687" cy="57687"/>
          </a:xfrm>
          <a:custGeom>
            <a:avLst/>
            <a:gdLst/>
            <a:ahLst/>
            <a:cxnLst/>
            <a:rect l="l" t="t" r="r" b="b"/>
            <a:pathLst>
              <a:path w="57687" h="57687">
                <a:moveTo>
                  <a:pt x="0" y="57687"/>
                </a:moveTo>
                <a:lnTo>
                  <a:pt x="0" y="0"/>
                </a:lnTo>
                <a:lnTo>
                  <a:pt x="57687" y="0"/>
                </a:lnTo>
                <a:lnTo>
                  <a:pt x="57687" y="51572"/>
                </a:lnTo>
                <a:lnTo>
                  <a:pt x="52634"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8" name="Illustrative delivered road transport cost class 0; reference terminal Durban"/>
          <p:cNvSpPr/>
          <p:nvPr/>
        </p:nvSpPr>
        <p:spPr>
          <a:xfrm>
            <a:off x="497333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9" name="Illustrative delivered road transport cost class 0; reference terminal Durban"/>
          <p:cNvSpPr/>
          <p:nvPr/>
        </p:nvSpPr>
        <p:spPr>
          <a:xfrm>
            <a:off x="497333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0" name="Illustrative delivered road transport cost class 0; reference terminal Durban"/>
          <p:cNvSpPr/>
          <p:nvPr/>
        </p:nvSpPr>
        <p:spPr>
          <a:xfrm>
            <a:off x="497333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1" name="Illustrative delivered road transport cost class 0; reference terminal Durban"/>
          <p:cNvSpPr/>
          <p:nvPr/>
        </p:nvSpPr>
        <p:spPr>
          <a:xfrm>
            <a:off x="497333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2" name="Illustrative delivered road transport cost class 0; reference terminal Durban"/>
          <p:cNvSpPr/>
          <p:nvPr/>
        </p:nvSpPr>
        <p:spPr>
          <a:xfrm>
            <a:off x="497333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3" name="Illustrative delivered road transport cost class None; reference terminal None"/>
          <p:cNvSpPr/>
          <p:nvPr/>
        </p:nvSpPr>
        <p:spPr>
          <a:xfrm>
            <a:off x="497333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4" name="Illustrative delivered road transport cost class None; reference terminal None"/>
          <p:cNvSpPr/>
          <p:nvPr/>
        </p:nvSpPr>
        <p:spPr>
          <a:xfrm>
            <a:off x="497333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5" name="Illustrative delivered road transport cost class None; reference terminal None"/>
          <p:cNvSpPr/>
          <p:nvPr/>
        </p:nvSpPr>
        <p:spPr>
          <a:xfrm>
            <a:off x="497333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6" name="Illustrative delivered road transport cost class 1; reference terminal Lesedi"/>
          <p:cNvSpPr/>
          <p:nvPr/>
        </p:nvSpPr>
        <p:spPr>
          <a:xfrm>
            <a:off x="497333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7" name="Illustrative delivered road transport cost class 1; reference terminal Lesedi"/>
          <p:cNvSpPr/>
          <p:nvPr/>
        </p:nvSpPr>
        <p:spPr>
          <a:xfrm>
            <a:off x="497333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8" name="Illustrative delivered road transport cost class 1; reference terminal Lesedi"/>
          <p:cNvSpPr/>
          <p:nvPr/>
        </p:nvSpPr>
        <p:spPr>
          <a:xfrm>
            <a:off x="497333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9" name="Illustrative delivered road transport cost class 1; reference terminal Lesedi"/>
          <p:cNvSpPr/>
          <p:nvPr/>
        </p:nvSpPr>
        <p:spPr>
          <a:xfrm>
            <a:off x="497333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0" name="Illustrative delivered road transport cost class 1; reference terminal Lesedi"/>
          <p:cNvSpPr/>
          <p:nvPr/>
        </p:nvSpPr>
        <p:spPr>
          <a:xfrm>
            <a:off x="497333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1" name="Illustrative delivered road transport cost class 1; reference terminal Lesedi"/>
          <p:cNvSpPr/>
          <p:nvPr/>
        </p:nvSpPr>
        <p:spPr>
          <a:xfrm>
            <a:off x="497333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2" name="Illustrative delivered road transport cost class 1; reference terminal Lesedi"/>
          <p:cNvSpPr/>
          <p:nvPr/>
        </p:nvSpPr>
        <p:spPr>
          <a:xfrm>
            <a:off x="497333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3" name="Illustrative delivered road transport cost class 1; reference terminal Lesedi"/>
          <p:cNvSpPr/>
          <p:nvPr/>
        </p:nvSpPr>
        <p:spPr>
          <a:xfrm>
            <a:off x="497333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4" name="Illustrative delivered road transport cost class 1; reference terminal Lesedi"/>
          <p:cNvSpPr/>
          <p:nvPr/>
        </p:nvSpPr>
        <p:spPr>
          <a:xfrm>
            <a:off x="497333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5" name="Illustrative delivered road transport cost class 1; reference terminal Lesedi"/>
          <p:cNvSpPr/>
          <p:nvPr/>
        </p:nvSpPr>
        <p:spPr>
          <a:xfrm>
            <a:off x="497333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6" name="Illustrative delivered road transport cost class 1; reference terminal Lesedi"/>
          <p:cNvSpPr/>
          <p:nvPr/>
        </p:nvSpPr>
        <p:spPr>
          <a:xfrm>
            <a:off x="497333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7" name="Illustrative delivered road transport cost class 1; reference terminal Lesedi"/>
          <p:cNvSpPr/>
          <p:nvPr/>
        </p:nvSpPr>
        <p:spPr>
          <a:xfrm>
            <a:off x="497333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8" name="Illustrative delivered road transport cost class 1; reference terminal Lesedi"/>
          <p:cNvSpPr/>
          <p:nvPr/>
        </p:nvSpPr>
        <p:spPr>
          <a:xfrm>
            <a:off x="497333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9" name="Illustrative delivered road transport cost class 1; reference terminal Lesedi"/>
          <p:cNvSpPr/>
          <p:nvPr/>
        </p:nvSpPr>
        <p:spPr>
          <a:xfrm>
            <a:off x="497333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0" name="Illustrative delivered road transport cost class 1; reference terminal Lesedi"/>
          <p:cNvSpPr/>
          <p:nvPr/>
        </p:nvSpPr>
        <p:spPr>
          <a:xfrm>
            <a:off x="497333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1" name="Illustrative delivered road transport cost class None; reference terminal None"/>
          <p:cNvSpPr/>
          <p:nvPr/>
        </p:nvSpPr>
        <p:spPr>
          <a:xfrm>
            <a:off x="497333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2" name="Illustrative delivered road transport cost class None; reference terminal None"/>
          <p:cNvSpPr/>
          <p:nvPr/>
        </p:nvSpPr>
        <p:spPr>
          <a:xfrm>
            <a:off x="497333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3" name="Illustrative delivered road transport cost class None; reference terminal None"/>
          <p:cNvSpPr/>
          <p:nvPr/>
        </p:nvSpPr>
        <p:spPr>
          <a:xfrm>
            <a:off x="497333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4" name="Illustrative delivered road transport cost class None; reference terminal None"/>
          <p:cNvSpPr/>
          <p:nvPr/>
        </p:nvSpPr>
        <p:spPr>
          <a:xfrm>
            <a:off x="497333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5" name="Illustrative delivered road transport cost class 1; reference terminal Lesedi"/>
          <p:cNvSpPr/>
          <p:nvPr/>
        </p:nvSpPr>
        <p:spPr>
          <a:xfrm>
            <a:off x="497333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6" name="Illustrative delivered road transport cost class 1; reference terminal Lesedi"/>
          <p:cNvSpPr/>
          <p:nvPr/>
        </p:nvSpPr>
        <p:spPr>
          <a:xfrm>
            <a:off x="497333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7" name="Illustrative delivered road transport cost class 1; reference terminal Lesedi"/>
          <p:cNvSpPr/>
          <p:nvPr/>
        </p:nvSpPr>
        <p:spPr>
          <a:xfrm>
            <a:off x="497333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8" name="Illustrative delivered road transport cost class 1; reference terminal Lesedi"/>
          <p:cNvSpPr/>
          <p:nvPr/>
        </p:nvSpPr>
        <p:spPr>
          <a:xfrm>
            <a:off x="497333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9" name="Illustrative delivered road transport cost class 2; reference terminal Lesedi"/>
          <p:cNvSpPr/>
          <p:nvPr/>
        </p:nvSpPr>
        <p:spPr>
          <a:xfrm>
            <a:off x="497333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0" name="Illustrative delivered road transport cost class 2; reference terminal Lesedi"/>
          <p:cNvSpPr/>
          <p:nvPr/>
        </p:nvSpPr>
        <p:spPr>
          <a:xfrm>
            <a:off x="497333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1" name="Illustrative delivered road transport cost class 2; reference terminal Lesedi"/>
          <p:cNvSpPr/>
          <p:nvPr/>
        </p:nvSpPr>
        <p:spPr>
          <a:xfrm>
            <a:off x="4973339" y="2374078"/>
            <a:ext cx="57687" cy="9080"/>
          </a:xfrm>
          <a:custGeom>
            <a:avLst/>
            <a:gdLst/>
            <a:ahLst/>
            <a:cxnLst/>
            <a:rect l="l" t="t" r="r" b="b"/>
            <a:pathLst>
              <a:path w="57687" h="9080">
                <a:moveTo>
                  <a:pt x="57687" y="9080"/>
                </a:moveTo>
                <a:lnTo>
                  <a:pt x="0" y="9080"/>
                </a:lnTo>
                <a:lnTo>
                  <a:pt x="0" y="0"/>
                </a:lnTo>
                <a:lnTo>
                  <a:pt x="30175" y="5866"/>
                </a:lnTo>
                <a:lnTo>
                  <a:pt x="57687" y="3449"/>
                </a:lnTo>
                <a:lnTo>
                  <a:pt x="57687" y="9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2" name="Illustrative delivered road transport cost class 0; reference terminal Durban"/>
          <p:cNvSpPr/>
          <p:nvPr/>
        </p:nvSpPr>
        <p:spPr>
          <a:xfrm>
            <a:off x="5031026" y="4286814"/>
            <a:ext cx="30662" cy="51572"/>
          </a:xfrm>
          <a:custGeom>
            <a:avLst/>
            <a:gdLst/>
            <a:ahLst/>
            <a:cxnLst/>
            <a:rect l="l" t="t" r="r" b="b"/>
            <a:pathLst>
              <a:path w="30662" h="51572">
                <a:moveTo>
                  <a:pt x="0" y="0"/>
                </a:moveTo>
                <a:lnTo>
                  <a:pt x="30662" y="0"/>
                </a:lnTo>
                <a:lnTo>
                  <a:pt x="14564" y="33945"/>
                </a:lnTo>
                <a:lnTo>
                  <a:pt x="0" y="51572"/>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3" name="Illustrative delivered road transport cost class 0; reference terminal Durban"/>
          <p:cNvSpPr/>
          <p:nvPr/>
        </p:nvSpPr>
        <p:spPr>
          <a:xfrm>
            <a:off x="5031026" y="4229128"/>
            <a:ext cx="57686" cy="57686"/>
          </a:xfrm>
          <a:custGeom>
            <a:avLst/>
            <a:gdLst/>
            <a:ahLst/>
            <a:cxnLst/>
            <a:rect l="l" t="t" r="r" b="b"/>
            <a:pathLst>
              <a:path w="57686" h="57686">
                <a:moveTo>
                  <a:pt x="0" y="57686"/>
                </a:moveTo>
                <a:lnTo>
                  <a:pt x="0" y="0"/>
                </a:lnTo>
                <a:lnTo>
                  <a:pt x="57686" y="0"/>
                </a:lnTo>
                <a:lnTo>
                  <a:pt x="57686" y="5704"/>
                </a:lnTo>
                <a:lnTo>
                  <a:pt x="51361" y="14039"/>
                </a:lnTo>
                <a:lnTo>
                  <a:pt x="30662"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4" name="Illustrative delivered road transport cost class 0; reference terminal Durban"/>
          <p:cNvSpPr/>
          <p:nvPr/>
        </p:nvSpPr>
        <p:spPr>
          <a:xfrm>
            <a:off x="503102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5" name="Illustrative delivered road transport cost class 0; reference terminal Durban"/>
          <p:cNvSpPr/>
          <p:nvPr/>
        </p:nvSpPr>
        <p:spPr>
          <a:xfrm>
            <a:off x="503102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6" name="Illustrative delivered road transport cost class 0; reference terminal Durban"/>
          <p:cNvSpPr/>
          <p:nvPr/>
        </p:nvSpPr>
        <p:spPr>
          <a:xfrm>
            <a:off x="503102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7" name="Illustrative delivered road transport cost class 0; reference terminal Durban"/>
          <p:cNvSpPr/>
          <p:nvPr/>
        </p:nvSpPr>
        <p:spPr>
          <a:xfrm>
            <a:off x="503102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8" name="Illustrative delivered road transport cost class 0; reference terminal Durban"/>
          <p:cNvSpPr/>
          <p:nvPr/>
        </p:nvSpPr>
        <p:spPr>
          <a:xfrm>
            <a:off x="503102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9" name="Illustrative delivered road transport cost class 0; reference terminal Durban"/>
          <p:cNvSpPr/>
          <p:nvPr/>
        </p:nvSpPr>
        <p:spPr>
          <a:xfrm>
            <a:off x="503102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0" name="Illustrative delivered road transport cost class 1; reference terminal Durban"/>
          <p:cNvSpPr/>
          <p:nvPr/>
        </p:nvSpPr>
        <p:spPr>
          <a:xfrm>
            <a:off x="503102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1" name="Illustrative delivered road transport cost class 1; reference terminal Lesedi"/>
          <p:cNvSpPr/>
          <p:nvPr/>
        </p:nvSpPr>
        <p:spPr>
          <a:xfrm>
            <a:off x="503102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2" name="Illustrative delivered road transport cost class 1; reference terminal Lesedi"/>
          <p:cNvSpPr/>
          <p:nvPr/>
        </p:nvSpPr>
        <p:spPr>
          <a:xfrm>
            <a:off x="503102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3" name="Illustrative delivered road transport cost class 1; reference terminal Lesedi"/>
          <p:cNvSpPr/>
          <p:nvPr/>
        </p:nvSpPr>
        <p:spPr>
          <a:xfrm>
            <a:off x="503102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4" name="Illustrative delivered road transport cost class 1; reference terminal Lesedi"/>
          <p:cNvSpPr/>
          <p:nvPr/>
        </p:nvSpPr>
        <p:spPr>
          <a:xfrm>
            <a:off x="5031026" y="3594576"/>
            <a:ext cx="57686" cy="57686"/>
          </a:xfrm>
          <a:custGeom>
            <a:avLst/>
            <a:gdLst/>
            <a:ahLst/>
            <a:cxnLst/>
            <a:rect l="l" t="t" r="r" b="b"/>
            <a:pathLst>
              <a:path w="57686" h="57686">
                <a:moveTo>
                  <a:pt x="57686" y="57686"/>
                </a:moveTo>
                <a:lnTo>
                  <a:pt x="0" y="57686"/>
                </a:lnTo>
                <a:lnTo>
                  <a:pt x="0" y="0"/>
                </a:lnTo>
                <a:lnTo>
                  <a:pt x="52632" y="0"/>
                </a:lnTo>
                <a:lnTo>
                  <a:pt x="57686" y="9962"/>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5" name="Illustrative delivered road transport cost class 1; reference terminal Lesedi"/>
          <p:cNvSpPr/>
          <p:nvPr/>
        </p:nvSpPr>
        <p:spPr>
          <a:xfrm>
            <a:off x="5031026" y="3536889"/>
            <a:ext cx="52632" cy="57687"/>
          </a:xfrm>
          <a:custGeom>
            <a:avLst/>
            <a:gdLst/>
            <a:ahLst/>
            <a:cxnLst/>
            <a:rect l="l" t="t" r="r" b="b"/>
            <a:pathLst>
              <a:path w="52632" h="57687">
                <a:moveTo>
                  <a:pt x="0" y="57687"/>
                </a:moveTo>
                <a:lnTo>
                  <a:pt x="0" y="0"/>
                </a:lnTo>
                <a:lnTo>
                  <a:pt x="26602" y="0"/>
                </a:lnTo>
                <a:lnTo>
                  <a:pt x="33371" y="19719"/>
                </a:lnTo>
                <a:lnTo>
                  <a:pt x="5263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6" name="Illustrative delivered road transport cost class 1; reference terminal Lesedi"/>
          <p:cNvSpPr/>
          <p:nvPr/>
        </p:nvSpPr>
        <p:spPr>
          <a:xfrm>
            <a:off x="5031026" y="3479202"/>
            <a:ext cx="26602" cy="57687"/>
          </a:xfrm>
          <a:custGeom>
            <a:avLst/>
            <a:gdLst/>
            <a:ahLst/>
            <a:cxnLst/>
            <a:rect l="l" t="t" r="r" b="b"/>
            <a:pathLst>
              <a:path w="26602" h="57687">
                <a:moveTo>
                  <a:pt x="0" y="57687"/>
                </a:moveTo>
                <a:lnTo>
                  <a:pt x="0" y="0"/>
                </a:lnTo>
                <a:lnTo>
                  <a:pt x="2497" y="0"/>
                </a:lnTo>
                <a:lnTo>
                  <a:pt x="2291" y="37066"/>
                </a:lnTo>
                <a:lnTo>
                  <a:pt x="4883" y="42569"/>
                </a:lnTo>
                <a:lnTo>
                  <a:pt x="22330" y="45241"/>
                </a:lnTo>
                <a:lnTo>
                  <a:pt x="2660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7" name="Illustrative delivered road transport cost class 1; reference terminal Lesedi"/>
          <p:cNvSpPr/>
          <p:nvPr/>
        </p:nvSpPr>
        <p:spPr>
          <a:xfrm>
            <a:off x="5031026" y="3421516"/>
            <a:ext cx="12263" cy="57686"/>
          </a:xfrm>
          <a:custGeom>
            <a:avLst/>
            <a:gdLst/>
            <a:ahLst/>
            <a:cxnLst/>
            <a:rect l="l" t="t" r="r" b="b"/>
            <a:pathLst>
              <a:path w="12263" h="57686">
                <a:moveTo>
                  <a:pt x="0" y="57686"/>
                </a:moveTo>
                <a:lnTo>
                  <a:pt x="0" y="0"/>
                </a:lnTo>
                <a:lnTo>
                  <a:pt x="12263" y="0"/>
                </a:lnTo>
                <a:lnTo>
                  <a:pt x="8495" y="5195"/>
                </a:lnTo>
                <a:lnTo>
                  <a:pt x="4726" y="15770"/>
                </a:lnTo>
                <a:lnTo>
                  <a:pt x="2505" y="56187"/>
                </a:lnTo>
                <a:lnTo>
                  <a:pt x="249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8" name="Illustrative delivered road transport cost class 1; reference terminal Lesedi"/>
          <p:cNvSpPr/>
          <p:nvPr/>
        </p:nvSpPr>
        <p:spPr>
          <a:xfrm>
            <a:off x="5031026" y="3363829"/>
            <a:ext cx="54119" cy="57687"/>
          </a:xfrm>
          <a:custGeom>
            <a:avLst/>
            <a:gdLst/>
            <a:ahLst/>
            <a:cxnLst/>
            <a:rect l="l" t="t" r="r" b="b"/>
            <a:pathLst>
              <a:path w="54119" h="57687">
                <a:moveTo>
                  <a:pt x="0" y="57687"/>
                </a:moveTo>
                <a:lnTo>
                  <a:pt x="0" y="0"/>
                </a:lnTo>
                <a:lnTo>
                  <a:pt x="54119" y="0"/>
                </a:lnTo>
                <a:lnTo>
                  <a:pt x="43438" y="14699"/>
                </a:lnTo>
                <a:lnTo>
                  <a:pt x="1226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9" name="Illustrative delivered road transport cost class 1; reference terminal Lesedi"/>
          <p:cNvSpPr/>
          <p:nvPr/>
        </p:nvSpPr>
        <p:spPr>
          <a:xfrm>
            <a:off x="5031026" y="3306143"/>
            <a:ext cx="57686" cy="57686"/>
          </a:xfrm>
          <a:custGeom>
            <a:avLst/>
            <a:gdLst/>
            <a:ahLst/>
            <a:cxnLst/>
            <a:rect l="l" t="t" r="r" b="b"/>
            <a:pathLst>
              <a:path w="57686" h="57686">
                <a:moveTo>
                  <a:pt x="0" y="57686"/>
                </a:moveTo>
                <a:lnTo>
                  <a:pt x="0" y="0"/>
                </a:lnTo>
                <a:lnTo>
                  <a:pt x="57686" y="0"/>
                </a:lnTo>
                <a:lnTo>
                  <a:pt x="57686" y="52778"/>
                </a:lnTo>
                <a:lnTo>
                  <a:pt x="5411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0" name="Illustrative delivered road transport cost class 1; reference terminal Lesedi"/>
          <p:cNvSpPr/>
          <p:nvPr/>
        </p:nvSpPr>
        <p:spPr>
          <a:xfrm>
            <a:off x="5031026"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1" name="Illustrative delivered road transport cost class 1; reference terminal Lesedi"/>
          <p:cNvSpPr/>
          <p:nvPr/>
        </p:nvSpPr>
        <p:spPr>
          <a:xfrm>
            <a:off x="5031026"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2" name="Illustrative delivered road transport cost class 1; reference terminal Lesedi"/>
          <p:cNvSpPr/>
          <p:nvPr/>
        </p:nvSpPr>
        <p:spPr>
          <a:xfrm>
            <a:off x="5031026"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3" name="Illustrative delivered road transport cost class 1; reference terminal Lesedi"/>
          <p:cNvSpPr/>
          <p:nvPr/>
        </p:nvSpPr>
        <p:spPr>
          <a:xfrm>
            <a:off x="5031026"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4" name="Illustrative delivered road transport cost class 1; reference terminal Lesedi"/>
          <p:cNvSpPr/>
          <p:nvPr/>
        </p:nvSpPr>
        <p:spPr>
          <a:xfrm>
            <a:off x="5031026"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5" name="Illustrative delivered road transport cost class 1; reference terminal Lesedi"/>
          <p:cNvSpPr/>
          <p:nvPr/>
        </p:nvSpPr>
        <p:spPr>
          <a:xfrm>
            <a:off x="5031026"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6" name="Illustrative delivered road transport cost class None; reference terminal None"/>
          <p:cNvSpPr/>
          <p:nvPr/>
        </p:nvSpPr>
        <p:spPr>
          <a:xfrm>
            <a:off x="5031026"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7" name="Illustrative delivered road transport cost class None; reference terminal None"/>
          <p:cNvSpPr/>
          <p:nvPr/>
        </p:nvSpPr>
        <p:spPr>
          <a:xfrm>
            <a:off x="5031026"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8" name="Illustrative delivered road transport cost class None; reference terminal None"/>
          <p:cNvSpPr/>
          <p:nvPr/>
        </p:nvSpPr>
        <p:spPr>
          <a:xfrm>
            <a:off x="5031026"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9" name="Illustrative delivered road transport cost class None; reference terminal None"/>
          <p:cNvSpPr/>
          <p:nvPr/>
        </p:nvSpPr>
        <p:spPr>
          <a:xfrm>
            <a:off x="5031026"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0" name="Illustrative delivered road transport cost class None; reference terminal None"/>
          <p:cNvSpPr/>
          <p:nvPr/>
        </p:nvSpPr>
        <p:spPr>
          <a:xfrm>
            <a:off x="5031026"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1" name="Illustrative delivered road transport cost class None; reference terminal None"/>
          <p:cNvSpPr/>
          <p:nvPr/>
        </p:nvSpPr>
        <p:spPr>
          <a:xfrm>
            <a:off x="5031026"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2" name="Illustrative delivered road transport cost class None; reference terminal None"/>
          <p:cNvSpPr/>
          <p:nvPr/>
        </p:nvSpPr>
        <p:spPr>
          <a:xfrm>
            <a:off x="5031026"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3" name="Illustrative delivered road transport cost class 2; reference terminal Lesedi"/>
          <p:cNvSpPr/>
          <p:nvPr/>
        </p:nvSpPr>
        <p:spPr>
          <a:xfrm>
            <a:off x="5031026"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4" name="Illustrative delivered road transport cost class 2; reference terminal Lesedi"/>
          <p:cNvSpPr/>
          <p:nvPr/>
        </p:nvSpPr>
        <p:spPr>
          <a:xfrm>
            <a:off x="5031026"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5" name="Illustrative delivered road transport cost class 2; reference terminal Lesedi"/>
          <p:cNvSpPr/>
          <p:nvPr/>
        </p:nvSpPr>
        <p:spPr>
          <a:xfrm>
            <a:off x="5031026"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6" name="Illustrative delivered road transport cost class 2; reference terminal Lesedi"/>
          <p:cNvSpPr/>
          <p:nvPr/>
        </p:nvSpPr>
        <p:spPr>
          <a:xfrm>
            <a:off x="5031026" y="2374664"/>
            <a:ext cx="57686" cy="8494"/>
          </a:xfrm>
          <a:custGeom>
            <a:avLst/>
            <a:gdLst/>
            <a:ahLst/>
            <a:cxnLst/>
            <a:rect l="l" t="t" r="r" b="b"/>
            <a:pathLst>
              <a:path w="57686" h="8494">
                <a:moveTo>
                  <a:pt x="57686" y="8494"/>
                </a:moveTo>
                <a:lnTo>
                  <a:pt x="0" y="8494"/>
                </a:lnTo>
                <a:lnTo>
                  <a:pt x="0" y="2863"/>
                </a:lnTo>
                <a:lnTo>
                  <a:pt x="32573" y="0"/>
                </a:lnTo>
                <a:lnTo>
                  <a:pt x="57686" y="227"/>
                </a:lnTo>
                <a:lnTo>
                  <a:pt x="57686" y="8494"/>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7" name="Illustrative delivered road transport cost class 0; reference terminal Durban"/>
          <p:cNvSpPr/>
          <p:nvPr/>
        </p:nvSpPr>
        <p:spPr>
          <a:xfrm>
            <a:off x="5088712" y="4229128"/>
            <a:ext cx="4329" cy="5704"/>
          </a:xfrm>
          <a:custGeom>
            <a:avLst/>
            <a:gdLst/>
            <a:ahLst/>
            <a:cxnLst/>
            <a:rect l="l" t="t" r="r" b="b"/>
            <a:pathLst>
              <a:path w="4329" h="5704">
                <a:moveTo>
                  <a:pt x="0" y="0"/>
                </a:moveTo>
                <a:lnTo>
                  <a:pt x="4329" y="0"/>
                </a:lnTo>
                <a:lnTo>
                  <a:pt x="0" y="570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8" name="Illustrative delivered road transport cost class 0; reference terminal Durban"/>
          <p:cNvSpPr/>
          <p:nvPr/>
        </p:nvSpPr>
        <p:spPr>
          <a:xfrm>
            <a:off x="5088712" y="4171441"/>
            <a:ext cx="52435" cy="57687"/>
          </a:xfrm>
          <a:custGeom>
            <a:avLst/>
            <a:gdLst/>
            <a:ahLst/>
            <a:cxnLst/>
            <a:rect l="l" t="t" r="r" b="b"/>
            <a:pathLst>
              <a:path w="52435" h="57687">
                <a:moveTo>
                  <a:pt x="0" y="57687"/>
                </a:moveTo>
                <a:lnTo>
                  <a:pt x="0" y="0"/>
                </a:lnTo>
                <a:lnTo>
                  <a:pt x="52435" y="0"/>
                </a:lnTo>
                <a:lnTo>
                  <a:pt x="33464" y="19296"/>
                </a:lnTo>
                <a:lnTo>
                  <a:pt x="4329"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9" name="Illustrative delivered road transport cost class 0; reference terminal Durban"/>
          <p:cNvSpPr/>
          <p:nvPr/>
        </p:nvSpPr>
        <p:spPr>
          <a:xfrm>
            <a:off x="5088712" y="4113755"/>
            <a:ext cx="57687" cy="57686"/>
          </a:xfrm>
          <a:custGeom>
            <a:avLst/>
            <a:gdLst/>
            <a:ahLst/>
            <a:cxnLst/>
            <a:rect l="l" t="t" r="r" b="b"/>
            <a:pathLst>
              <a:path w="57687" h="57686">
                <a:moveTo>
                  <a:pt x="0" y="57686"/>
                </a:moveTo>
                <a:lnTo>
                  <a:pt x="0" y="0"/>
                </a:lnTo>
                <a:lnTo>
                  <a:pt x="57687" y="0"/>
                </a:lnTo>
                <a:lnTo>
                  <a:pt x="57687" y="52345"/>
                </a:lnTo>
                <a:lnTo>
                  <a:pt x="52435"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0" name="Illustrative delivered road transport cost class 0; reference terminal Durban"/>
          <p:cNvSpPr/>
          <p:nvPr/>
        </p:nvSpPr>
        <p:spPr>
          <a:xfrm>
            <a:off x="508871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1" name="Illustrative delivered road transport cost class 0; reference terminal Durban"/>
          <p:cNvSpPr/>
          <p:nvPr/>
        </p:nvSpPr>
        <p:spPr>
          <a:xfrm>
            <a:off x="508871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2" name="Illustrative delivered road transport cost class 0; reference terminal Durban"/>
          <p:cNvSpPr/>
          <p:nvPr/>
        </p:nvSpPr>
        <p:spPr>
          <a:xfrm>
            <a:off x="508871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3" name="Illustrative delivered road transport cost class 0; reference terminal Durban"/>
          <p:cNvSpPr/>
          <p:nvPr/>
        </p:nvSpPr>
        <p:spPr>
          <a:xfrm>
            <a:off x="508871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4" name="Illustrative delivered road transport cost class 0; reference terminal Durban"/>
          <p:cNvSpPr/>
          <p:nvPr/>
        </p:nvSpPr>
        <p:spPr>
          <a:xfrm>
            <a:off x="508871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5" name="Illustrative delivered road transport cost class 1; reference terminal Durban"/>
          <p:cNvSpPr/>
          <p:nvPr/>
        </p:nvSpPr>
        <p:spPr>
          <a:xfrm>
            <a:off x="508871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6" name="Illustrative delivered road transport cost class 1; reference terminal Durban"/>
          <p:cNvSpPr/>
          <p:nvPr/>
        </p:nvSpPr>
        <p:spPr>
          <a:xfrm>
            <a:off x="508871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7" name="Illustrative delivered road transport cost class 1; reference terminal Durban"/>
          <p:cNvSpPr/>
          <p:nvPr/>
        </p:nvSpPr>
        <p:spPr>
          <a:xfrm>
            <a:off x="508871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8" name="Illustrative delivered road transport cost class 1; reference terminal Lesedi"/>
          <p:cNvSpPr/>
          <p:nvPr/>
        </p:nvSpPr>
        <p:spPr>
          <a:xfrm>
            <a:off x="5088712" y="3604538"/>
            <a:ext cx="57687" cy="47724"/>
          </a:xfrm>
          <a:custGeom>
            <a:avLst/>
            <a:gdLst/>
            <a:ahLst/>
            <a:cxnLst/>
            <a:rect l="l" t="t" r="r" b="b"/>
            <a:pathLst>
              <a:path w="57687" h="47724">
                <a:moveTo>
                  <a:pt x="57687" y="47724"/>
                </a:moveTo>
                <a:lnTo>
                  <a:pt x="0" y="47724"/>
                </a:lnTo>
                <a:lnTo>
                  <a:pt x="0" y="0"/>
                </a:lnTo>
                <a:lnTo>
                  <a:pt x="1888" y="3721"/>
                </a:lnTo>
                <a:lnTo>
                  <a:pt x="48337" y="38415"/>
                </a:lnTo>
                <a:lnTo>
                  <a:pt x="57687" y="42036"/>
                </a:lnTo>
                <a:lnTo>
                  <a:pt x="57687" y="4772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9" name="Illustrative delivered road transport cost class 1; reference terminal Lesedi"/>
          <p:cNvSpPr/>
          <p:nvPr/>
        </p:nvSpPr>
        <p:spPr>
          <a:xfrm>
            <a:off x="5088712" y="3306143"/>
            <a:ext cx="32964" cy="52778"/>
          </a:xfrm>
          <a:custGeom>
            <a:avLst/>
            <a:gdLst/>
            <a:ahLst/>
            <a:cxnLst/>
            <a:rect l="l" t="t" r="r" b="b"/>
            <a:pathLst>
              <a:path w="32964" h="52778">
                <a:moveTo>
                  <a:pt x="0" y="0"/>
                </a:moveTo>
                <a:lnTo>
                  <a:pt x="32964" y="0"/>
                </a:lnTo>
                <a:lnTo>
                  <a:pt x="21545" y="13175"/>
                </a:lnTo>
                <a:lnTo>
                  <a:pt x="7493" y="42466"/>
                </a:lnTo>
                <a:lnTo>
                  <a:pt x="0" y="5277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0" name="Illustrative delivered road transport cost class 1; reference terminal Lesedi"/>
          <p:cNvSpPr/>
          <p:nvPr/>
        </p:nvSpPr>
        <p:spPr>
          <a:xfrm>
            <a:off x="5088712" y="3248456"/>
            <a:ext cx="57687" cy="57687"/>
          </a:xfrm>
          <a:custGeom>
            <a:avLst/>
            <a:gdLst/>
            <a:ahLst/>
            <a:cxnLst/>
            <a:rect l="l" t="t" r="r" b="b"/>
            <a:pathLst>
              <a:path w="57687" h="57687">
                <a:moveTo>
                  <a:pt x="0" y="57687"/>
                </a:moveTo>
                <a:lnTo>
                  <a:pt x="0" y="0"/>
                </a:lnTo>
                <a:lnTo>
                  <a:pt x="57687" y="0"/>
                </a:lnTo>
                <a:lnTo>
                  <a:pt x="57687" y="32428"/>
                </a:lnTo>
                <a:lnTo>
                  <a:pt x="50745" y="37169"/>
                </a:lnTo>
                <a:lnTo>
                  <a:pt x="32964"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1" name="Illustrative delivered road transport cost class 1; reference terminal Lesedi"/>
          <p:cNvSpPr/>
          <p:nvPr/>
        </p:nvSpPr>
        <p:spPr>
          <a:xfrm>
            <a:off x="508871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2" name="Illustrative delivered road transport cost class 1; reference terminal Lesedi"/>
          <p:cNvSpPr/>
          <p:nvPr/>
        </p:nvSpPr>
        <p:spPr>
          <a:xfrm>
            <a:off x="508871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3" name="Illustrative delivered road transport cost class 1; reference terminal Lesedi"/>
          <p:cNvSpPr/>
          <p:nvPr/>
        </p:nvSpPr>
        <p:spPr>
          <a:xfrm>
            <a:off x="508871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4" name="Illustrative delivered road transport cost class 1; reference terminal Lesedi"/>
          <p:cNvSpPr/>
          <p:nvPr/>
        </p:nvSpPr>
        <p:spPr>
          <a:xfrm>
            <a:off x="508871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5" name="Illustrative delivered road transport cost class 1; reference terminal Lesedi"/>
          <p:cNvSpPr/>
          <p:nvPr/>
        </p:nvSpPr>
        <p:spPr>
          <a:xfrm>
            <a:off x="508871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6" name="Illustrative delivered road transport cost class None; reference terminal None"/>
          <p:cNvSpPr/>
          <p:nvPr/>
        </p:nvSpPr>
        <p:spPr>
          <a:xfrm>
            <a:off x="508871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7" name="Illustrative delivered road transport cost class None; reference terminal None"/>
          <p:cNvSpPr/>
          <p:nvPr/>
        </p:nvSpPr>
        <p:spPr>
          <a:xfrm>
            <a:off x="5088712"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8" name="Illustrative delivered road transport cost class None; reference terminal None"/>
          <p:cNvSpPr/>
          <p:nvPr/>
        </p:nvSpPr>
        <p:spPr>
          <a:xfrm>
            <a:off x="5088712"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9" name="Illustrative delivered road transport cost class None; reference terminal None"/>
          <p:cNvSpPr/>
          <p:nvPr/>
        </p:nvSpPr>
        <p:spPr>
          <a:xfrm>
            <a:off x="5088712"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0" name="Illustrative delivered road transport cost class None; reference terminal None"/>
          <p:cNvSpPr/>
          <p:nvPr/>
        </p:nvSpPr>
        <p:spPr>
          <a:xfrm>
            <a:off x="5088712"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1" name="Illustrative delivered road transport cost class None; reference terminal None"/>
          <p:cNvSpPr/>
          <p:nvPr/>
        </p:nvSpPr>
        <p:spPr>
          <a:xfrm>
            <a:off x="5088712"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2" name="Illustrative delivered road transport cost class None; reference terminal None"/>
          <p:cNvSpPr/>
          <p:nvPr/>
        </p:nvSpPr>
        <p:spPr>
          <a:xfrm>
            <a:off x="5088712"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3" name="Illustrative delivered road transport cost class None; reference terminal None"/>
          <p:cNvSpPr/>
          <p:nvPr/>
        </p:nvSpPr>
        <p:spPr>
          <a:xfrm>
            <a:off x="5088712"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4" name="Illustrative delivered road transport cost class None; reference terminal None"/>
          <p:cNvSpPr/>
          <p:nvPr/>
        </p:nvSpPr>
        <p:spPr>
          <a:xfrm>
            <a:off x="5088712"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5" name="Illustrative delivered road transport cost class None; reference terminal None"/>
          <p:cNvSpPr/>
          <p:nvPr/>
        </p:nvSpPr>
        <p:spPr>
          <a:xfrm>
            <a:off x="5088712"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6" name="Illustrative delivered road transport cost class 2; reference terminal Lesedi"/>
          <p:cNvSpPr/>
          <p:nvPr/>
        </p:nvSpPr>
        <p:spPr>
          <a:xfrm>
            <a:off x="5088712" y="2374891"/>
            <a:ext cx="57687" cy="8267"/>
          </a:xfrm>
          <a:custGeom>
            <a:avLst/>
            <a:gdLst/>
            <a:ahLst/>
            <a:cxnLst/>
            <a:rect l="l" t="t" r="r" b="b"/>
            <a:pathLst>
              <a:path w="57687" h="8267">
                <a:moveTo>
                  <a:pt x="57687" y="8267"/>
                </a:moveTo>
                <a:lnTo>
                  <a:pt x="0" y="8267"/>
                </a:lnTo>
                <a:lnTo>
                  <a:pt x="0" y="0"/>
                </a:lnTo>
                <a:lnTo>
                  <a:pt x="23566" y="212"/>
                </a:lnTo>
                <a:lnTo>
                  <a:pt x="57687" y="5855"/>
                </a:lnTo>
                <a:lnTo>
                  <a:pt x="57687" y="826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7" name="Illustrative delivered road transport cost class 0; reference terminal Durban"/>
          <p:cNvSpPr/>
          <p:nvPr/>
        </p:nvSpPr>
        <p:spPr>
          <a:xfrm>
            <a:off x="5146399" y="4113755"/>
            <a:ext cx="51467" cy="52345"/>
          </a:xfrm>
          <a:custGeom>
            <a:avLst/>
            <a:gdLst/>
            <a:ahLst/>
            <a:cxnLst/>
            <a:rect l="l" t="t" r="r" b="b"/>
            <a:pathLst>
              <a:path w="51467" h="52345">
                <a:moveTo>
                  <a:pt x="0" y="0"/>
                </a:moveTo>
                <a:lnTo>
                  <a:pt x="51467" y="0"/>
                </a:lnTo>
                <a:lnTo>
                  <a:pt x="0" y="5234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8" name="Illustrative delivered road transport cost class 0; reference terminal Durban"/>
          <p:cNvSpPr/>
          <p:nvPr/>
        </p:nvSpPr>
        <p:spPr>
          <a:xfrm>
            <a:off x="5146399" y="4056068"/>
            <a:ext cx="57686" cy="57687"/>
          </a:xfrm>
          <a:custGeom>
            <a:avLst/>
            <a:gdLst/>
            <a:ahLst/>
            <a:cxnLst/>
            <a:rect l="l" t="t" r="r" b="b"/>
            <a:pathLst>
              <a:path w="57686" h="57687">
                <a:moveTo>
                  <a:pt x="0" y="57687"/>
                </a:moveTo>
                <a:lnTo>
                  <a:pt x="0" y="0"/>
                </a:lnTo>
                <a:lnTo>
                  <a:pt x="57686" y="0"/>
                </a:lnTo>
                <a:lnTo>
                  <a:pt x="57686" y="51361"/>
                </a:lnTo>
                <a:lnTo>
                  <a:pt x="514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9" name="Illustrative delivered road transport cost class 0; reference terminal Durban"/>
          <p:cNvSpPr/>
          <p:nvPr/>
        </p:nvSpPr>
        <p:spPr>
          <a:xfrm>
            <a:off x="514639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0" name="Illustrative delivered road transport cost class 0; reference terminal Durban"/>
          <p:cNvSpPr/>
          <p:nvPr/>
        </p:nvSpPr>
        <p:spPr>
          <a:xfrm>
            <a:off x="514639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1" name="Illustrative delivered road transport cost class 0; reference terminal Durban"/>
          <p:cNvSpPr/>
          <p:nvPr/>
        </p:nvSpPr>
        <p:spPr>
          <a:xfrm>
            <a:off x="514639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2" name="Illustrative delivered road transport cost class 0; reference terminal Durban"/>
          <p:cNvSpPr/>
          <p:nvPr/>
        </p:nvSpPr>
        <p:spPr>
          <a:xfrm>
            <a:off x="514639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3" name="Illustrative delivered road transport cost class 1; reference terminal Durban"/>
          <p:cNvSpPr/>
          <p:nvPr/>
        </p:nvSpPr>
        <p:spPr>
          <a:xfrm>
            <a:off x="514639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4" name="Illustrative delivered road transport cost class 1; reference terminal Durban"/>
          <p:cNvSpPr/>
          <p:nvPr/>
        </p:nvSpPr>
        <p:spPr>
          <a:xfrm>
            <a:off x="514639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5" name="Illustrative delivered road transport cost class 1; reference terminal Durban"/>
          <p:cNvSpPr/>
          <p:nvPr/>
        </p:nvSpPr>
        <p:spPr>
          <a:xfrm>
            <a:off x="5146399" y="3652262"/>
            <a:ext cx="57686" cy="57687"/>
          </a:xfrm>
          <a:custGeom>
            <a:avLst/>
            <a:gdLst/>
            <a:ahLst/>
            <a:cxnLst/>
            <a:rect l="l" t="t" r="r" b="b"/>
            <a:pathLst>
              <a:path w="57686" h="57687">
                <a:moveTo>
                  <a:pt x="57686" y="57687"/>
                </a:moveTo>
                <a:lnTo>
                  <a:pt x="0" y="57687"/>
                </a:lnTo>
                <a:lnTo>
                  <a:pt x="0" y="0"/>
                </a:lnTo>
                <a:lnTo>
                  <a:pt x="14684" y="0"/>
                </a:lnTo>
                <a:lnTo>
                  <a:pt x="34456" y="7658"/>
                </a:lnTo>
                <a:lnTo>
                  <a:pt x="57686" y="10325"/>
                </a:lnTo>
                <a:lnTo>
                  <a:pt x="57686"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6" name="Illustrative delivered road transport cost class 1; reference terminal Durban"/>
          <p:cNvSpPr/>
          <p:nvPr/>
        </p:nvSpPr>
        <p:spPr>
          <a:xfrm>
            <a:off x="5146399" y="3646574"/>
            <a:ext cx="14684" cy="5688"/>
          </a:xfrm>
          <a:custGeom>
            <a:avLst/>
            <a:gdLst/>
            <a:ahLst/>
            <a:cxnLst/>
            <a:rect l="l" t="t" r="r" b="b"/>
            <a:pathLst>
              <a:path w="14684" h="5688">
                <a:moveTo>
                  <a:pt x="0" y="5688"/>
                </a:moveTo>
                <a:lnTo>
                  <a:pt x="0" y="0"/>
                </a:lnTo>
                <a:lnTo>
                  <a:pt x="14684" y="5688"/>
                </a:lnTo>
                <a:lnTo>
                  <a:pt x="0" y="5688"/>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7" name="Illustrative delivered road transport cost class 1; reference terminal Lesedi"/>
          <p:cNvSpPr/>
          <p:nvPr/>
        </p:nvSpPr>
        <p:spPr>
          <a:xfrm>
            <a:off x="5146399" y="3248456"/>
            <a:ext cx="57686" cy="32428"/>
          </a:xfrm>
          <a:custGeom>
            <a:avLst/>
            <a:gdLst/>
            <a:ahLst/>
            <a:cxnLst/>
            <a:rect l="l" t="t" r="r" b="b"/>
            <a:pathLst>
              <a:path w="57686" h="32428">
                <a:moveTo>
                  <a:pt x="0" y="0"/>
                </a:moveTo>
                <a:lnTo>
                  <a:pt x="57686" y="0"/>
                </a:lnTo>
                <a:lnTo>
                  <a:pt x="57686" y="25216"/>
                </a:lnTo>
                <a:lnTo>
                  <a:pt x="42266" y="14932"/>
                </a:lnTo>
                <a:lnTo>
                  <a:pt x="34799" y="13613"/>
                </a:lnTo>
                <a:lnTo>
                  <a:pt x="23676" y="16259"/>
                </a:lnTo>
                <a:lnTo>
                  <a:pt x="0" y="324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8" name="Illustrative delivered road transport cost class 1; reference terminal Lesedi"/>
          <p:cNvSpPr/>
          <p:nvPr/>
        </p:nvSpPr>
        <p:spPr>
          <a:xfrm>
            <a:off x="514639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9" name="Illustrative delivered road transport cost class 1; reference terminal Lesedi"/>
          <p:cNvSpPr/>
          <p:nvPr/>
        </p:nvSpPr>
        <p:spPr>
          <a:xfrm>
            <a:off x="514639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0" name="Illustrative delivered road transport cost class 1; reference terminal Lesedi"/>
          <p:cNvSpPr/>
          <p:nvPr/>
        </p:nvSpPr>
        <p:spPr>
          <a:xfrm>
            <a:off x="5146399"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1" name="Illustrative delivered road transport cost class 1; reference terminal Lesedi"/>
          <p:cNvSpPr/>
          <p:nvPr/>
        </p:nvSpPr>
        <p:spPr>
          <a:xfrm>
            <a:off x="5146399"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2" name="Illustrative delivered road transport cost class 1; reference terminal Lesedi"/>
          <p:cNvSpPr/>
          <p:nvPr/>
        </p:nvSpPr>
        <p:spPr>
          <a:xfrm>
            <a:off x="5146399"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3" name="Illustrative delivered road transport cost class None; reference terminal None"/>
          <p:cNvSpPr/>
          <p:nvPr/>
        </p:nvSpPr>
        <p:spPr>
          <a:xfrm>
            <a:off x="5146399"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4" name="Illustrative delivered road transport cost class None; reference terminal None"/>
          <p:cNvSpPr/>
          <p:nvPr/>
        </p:nvSpPr>
        <p:spPr>
          <a:xfrm>
            <a:off x="5146399"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5" name="Illustrative delivered road transport cost class None; reference terminal None"/>
          <p:cNvSpPr/>
          <p:nvPr/>
        </p:nvSpPr>
        <p:spPr>
          <a:xfrm>
            <a:off x="5146399"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6" name="Illustrative delivered road transport cost class None; reference terminal None"/>
          <p:cNvSpPr/>
          <p:nvPr/>
        </p:nvSpPr>
        <p:spPr>
          <a:xfrm>
            <a:off x="5146399"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7" name="Illustrative delivered road transport cost class None; reference terminal None"/>
          <p:cNvSpPr/>
          <p:nvPr/>
        </p:nvSpPr>
        <p:spPr>
          <a:xfrm>
            <a:off x="5146399"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8" name="Illustrative delivered road transport cost class None; reference terminal None"/>
          <p:cNvSpPr/>
          <p:nvPr/>
        </p:nvSpPr>
        <p:spPr>
          <a:xfrm>
            <a:off x="5146399"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9" name="Illustrative delivered road transport cost class None; reference terminal None"/>
          <p:cNvSpPr/>
          <p:nvPr/>
        </p:nvSpPr>
        <p:spPr>
          <a:xfrm>
            <a:off x="5146399"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0" name="Illustrative delivered road transport cost class None; reference terminal None"/>
          <p:cNvSpPr/>
          <p:nvPr/>
        </p:nvSpPr>
        <p:spPr>
          <a:xfrm>
            <a:off x="5146399"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1" name="Illustrative delivered road transport cost class None; reference terminal None"/>
          <p:cNvSpPr/>
          <p:nvPr/>
        </p:nvSpPr>
        <p:spPr>
          <a:xfrm>
            <a:off x="5146399"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2" name="Illustrative delivered road transport cost class None; reference terminal None"/>
          <p:cNvSpPr/>
          <p:nvPr/>
        </p:nvSpPr>
        <p:spPr>
          <a:xfrm>
            <a:off x="5146399" y="2383158"/>
            <a:ext cx="57686" cy="57686"/>
          </a:xfrm>
          <a:custGeom>
            <a:avLst/>
            <a:gdLst/>
            <a:ahLst/>
            <a:cxnLst/>
            <a:rect l="l" t="t" r="r" b="b"/>
            <a:pathLst>
              <a:path w="57686" h="57686">
                <a:moveTo>
                  <a:pt x="57686" y="57686"/>
                </a:moveTo>
                <a:lnTo>
                  <a:pt x="0" y="57686"/>
                </a:lnTo>
                <a:lnTo>
                  <a:pt x="0" y="0"/>
                </a:lnTo>
                <a:lnTo>
                  <a:pt x="8138" y="0"/>
                </a:lnTo>
                <a:lnTo>
                  <a:pt x="32085" y="9008"/>
                </a:lnTo>
                <a:lnTo>
                  <a:pt x="52957" y="24659"/>
                </a:lnTo>
                <a:lnTo>
                  <a:pt x="53606" y="38152"/>
                </a:lnTo>
                <a:lnTo>
                  <a:pt x="55000" y="44341"/>
                </a:lnTo>
                <a:lnTo>
                  <a:pt x="57686" y="5427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3" name="Illustrative delivered road transport cost class None; reference terminal None"/>
          <p:cNvSpPr/>
          <p:nvPr/>
        </p:nvSpPr>
        <p:spPr>
          <a:xfrm>
            <a:off x="5146399" y="2380746"/>
            <a:ext cx="8138" cy="2412"/>
          </a:xfrm>
          <a:custGeom>
            <a:avLst/>
            <a:gdLst/>
            <a:ahLst/>
            <a:cxnLst/>
            <a:rect l="l" t="t" r="r" b="b"/>
            <a:pathLst>
              <a:path w="8138" h="2412">
                <a:moveTo>
                  <a:pt x="0" y="2412"/>
                </a:moveTo>
                <a:lnTo>
                  <a:pt x="0" y="0"/>
                </a:lnTo>
                <a:lnTo>
                  <a:pt x="3080" y="509"/>
                </a:lnTo>
                <a:lnTo>
                  <a:pt x="8138" y="2412"/>
                </a:lnTo>
                <a:lnTo>
                  <a:pt x="0" y="24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4" name="Illustrative delivered road transport cost class 0; reference terminal Durban"/>
          <p:cNvSpPr/>
          <p:nvPr/>
        </p:nvSpPr>
        <p:spPr>
          <a:xfrm>
            <a:off x="5204085" y="4056068"/>
            <a:ext cx="57687" cy="51361"/>
          </a:xfrm>
          <a:custGeom>
            <a:avLst/>
            <a:gdLst/>
            <a:ahLst/>
            <a:cxnLst/>
            <a:rect l="l" t="t" r="r" b="b"/>
            <a:pathLst>
              <a:path w="57687" h="51361">
                <a:moveTo>
                  <a:pt x="0" y="0"/>
                </a:moveTo>
                <a:lnTo>
                  <a:pt x="57687" y="0"/>
                </a:lnTo>
                <a:lnTo>
                  <a:pt x="57687" y="18855"/>
                </a:lnTo>
                <a:lnTo>
                  <a:pt x="49331" y="22482"/>
                </a:lnTo>
                <a:lnTo>
                  <a:pt x="23552" y="27408"/>
                </a:lnTo>
                <a:lnTo>
                  <a:pt x="0" y="5136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5" name="Illustrative delivered road transport cost class 0; reference terminal Durban"/>
          <p:cNvSpPr/>
          <p:nvPr/>
        </p:nvSpPr>
        <p:spPr>
          <a:xfrm>
            <a:off x="520408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6" name="Illustrative delivered road transport cost class 0; reference terminal Durban"/>
          <p:cNvSpPr/>
          <p:nvPr/>
        </p:nvSpPr>
        <p:spPr>
          <a:xfrm>
            <a:off x="520408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7" name="Illustrative delivered road transport cost class 0; reference terminal Durban"/>
          <p:cNvSpPr/>
          <p:nvPr/>
        </p:nvSpPr>
        <p:spPr>
          <a:xfrm>
            <a:off x="520408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8" name="Illustrative delivered road transport cost class 0; reference terminal Durban"/>
          <p:cNvSpPr/>
          <p:nvPr/>
        </p:nvSpPr>
        <p:spPr>
          <a:xfrm>
            <a:off x="520408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9" name="Illustrative delivered road transport cost class 0; reference terminal Durban"/>
          <p:cNvSpPr/>
          <p:nvPr/>
        </p:nvSpPr>
        <p:spPr>
          <a:xfrm>
            <a:off x="520408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0" name="Illustrative delivered road transport cost class 1; reference terminal Durban"/>
          <p:cNvSpPr/>
          <p:nvPr/>
        </p:nvSpPr>
        <p:spPr>
          <a:xfrm>
            <a:off x="520408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1" name="Illustrative delivered road transport cost class 1; reference terminal Durban"/>
          <p:cNvSpPr/>
          <p:nvPr/>
        </p:nvSpPr>
        <p:spPr>
          <a:xfrm>
            <a:off x="5204085" y="3662587"/>
            <a:ext cx="57687" cy="47362"/>
          </a:xfrm>
          <a:custGeom>
            <a:avLst/>
            <a:gdLst/>
            <a:ahLst/>
            <a:cxnLst/>
            <a:rect l="l" t="t" r="r" b="b"/>
            <a:pathLst>
              <a:path w="57687" h="47362">
                <a:moveTo>
                  <a:pt x="57687" y="47362"/>
                </a:moveTo>
                <a:lnTo>
                  <a:pt x="0" y="47362"/>
                </a:lnTo>
                <a:lnTo>
                  <a:pt x="0" y="0"/>
                </a:lnTo>
                <a:lnTo>
                  <a:pt x="38771" y="4451"/>
                </a:lnTo>
                <a:lnTo>
                  <a:pt x="57687" y="5127"/>
                </a:lnTo>
                <a:lnTo>
                  <a:pt x="57687" y="4736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2" name="Illustrative delivered road transport cost class 1; reference terminal Lesedi"/>
          <p:cNvSpPr/>
          <p:nvPr/>
        </p:nvSpPr>
        <p:spPr>
          <a:xfrm>
            <a:off x="5253756" y="3306143"/>
            <a:ext cx="8016" cy="4988"/>
          </a:xfrm>
          <a:custGeom>
            <a:avLst/>
            <a:gdLst/>
            <a:ahLst/>
            <a:cxnLst/>
            <a:rect l="l" t="t" r="r" b="b"/>
            <a:pathLst>
              <a:path w="8016" h="4988">
                <a:moveTo>
                  <a:pt x="8016" y="0"/>
                </a:moveTo>
                <a:lnTo>
                  <a:pt x="8016" y="4988"/>
                </a:lnTo>
                <a:lnTo>
                  <a:pt x="0" y="0"/>
                </a:lnTo>
                <a:lnTo>
                  <a:pt x="801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3" name="Illustrative delivered road transport cost class 1; reference terminal Lesedi"/>
          <p:cNvSpPr/>
          <p:nvPr/>
        </p:nvSpPr>
        <p:spPr>
          <a:xfrm>
            <a:off x="5204085" y="3248456"/>
            <a:ext cx="57687" cy="57687"/>
          </a:xfrm>
          <a:custGeom>
            <a:avLst/>
            <a:gdLst/>
            <a:ahLst/>
            <a:cxnLst/>
            <a:rect l="l" t="t" r="r" b="b"/>
            <a:pathLst>
              <a:path w="57687" h="57687">
                <a:moveTo>
                  <a:pt x="0" y="0"/>
                </a:moveTo>
                <a:lnTo>
                  <a:pt x="57687" y="0"/>
                </a:lnTo>
                <a:lnTo>
                  <a:pt x="57687" y="57687"/>
                </a:lnTo>
                <a:lnTo>
                  <a:pt x="49671" y="57687"/>
                </a:lnTo>
                <a:lnTo>
                  <a:pt x="35018" y="48569"/>
                </a:lnTo>
                <a:lnTo>
                  <a:pt x="0" y="2521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4" name="Illustrative delivered road transport cost class 1; reference terminal Lesedi"/>
          <p:cNvSpPr/>
          <p:nvPr/>
        </p:nvSpPr>
        <p:spPr>
          <a:xfrm>
            <a:off x="520408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5" name="Illustrative delivered road transport cost class 1; reference terminal Lesedi"/>
          <p:cNvSpPr/>
          <p:nvPr/>
        </p:nvSpPr>
        <p:spPr>
          <a:xfrm>
            <a:off x="5204085"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6" name="Illustrative delivered road transport cost class 1; reference terminal Lesedi"/>
          <p:cNvSpPr/>
          <p:nvPr/>
        </p:nvSpPr>
        <p:spPr>
          <a:xfrm>
            <a:off x="5204085"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7" name="Illustrative delivered road transport cost class 1; reference terminal Lesedi"/>
          <p:cNvSpPr/>
          <p:nvPr/>
        </p:nvSpPr>
        <p:spPr>
          <a:xfrm>
            <a:off x="5204085"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8" name="Illustrative delivered road transport cost class 1; reference terminal Lesedi"/>
          <p:cNvSpPr/>
          <p:nvPr/>
        </p:nvSpPr>
        <p:spPr>
          <a:xfrm>
            <a:off x="5204085"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9" name="Illustrative delivered road transport cost class None; reference terminal None"/>
          <p:cNvSpPr/>
          <p:nvPr/>
        </p:nvSpPr>
        <p:spPr>
          <a:xfrm>
            <a:off x="5204085"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0" name="Illustrative delivered road transport cost class None; reference terminal None"/>
          <p:cNvSpPr/>
          <p:nvPr/>
        </p:nvSpPr>
        <p:spPr>
          <a:xfrm>
            <a:off x="5204085"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1" name="Illustrative delivered road transport cost class None; reference terminal None"/>
          <p:cNvSpPr/>
          <p:nvPr/>
        </p:nvSpPr>
        <p:spPr>
          <a:xfrm>
            <a:off x="5204085"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2" name="Illustrative delivered road transport cost class None; reference terminal None"/>
          <p:cNvSpPr/>
          <p:nvPr/>
        </p:nvSpPr>
        <p:spPr>
          <a:xfrm>
            <a:off x="5204085"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3" name="Illustrative delivered road transport cost class None; reference terminal None"/>
          <p:cNvSpPr/>
          <p:nvPr/>
        </p:nvSpPr>
        <p:spPr>
          <a:xfrm>
            <a:off x="5204085" y="2671590"/>
            <a:ext cx="57687" cy="57687"/>
          </a:xfrm>
          <a:custGeom>
            <a:avLst/>
            <a:gdLst/>
            <a:ahLst/>
            <a:cxnLst/>
            <a:rect l="l" t="t" r="r" b="b"/>
            <a:pathLst>
              <a:path w="57687" h="57687">
                <a:moveTo>
                  <a:pt x="57687" y="57687"/>
                </a:moveTo>
                <a:lnTo>
                  <a:pt x="0" y="57687"/>
                </a:lnTo>
                <a:lnTo>
                  <a:pt x="0" y="0"/>
                </a:lnTo>
                <a:lnTo>
                  <a:pt x="40358" y="0"/>
                </a:lnTo>
                <a:lnTo>
                  <a:pt x="40331" y="447"/>
                </a:lnTo>
                <a:lnTo>
                  <a:pt x="43386" y="15080"/>
                </a:lnTo>
                <a:lnTo>
                  <a:pt x="56278" y="33836"/>
                </a:lnTo>
                <a:lnTo>
                  <a:pt x="57687" y="36774"/>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4" name="Illustrative delivered road transport cost class None; reference terminal None"/>
          <p:cNvSpPr/>
          <p:nvPr/>
        </p:nvSpPr>
        <p:spPr>
          <a:xfrm>
            <a:off x="5204085" y="2613904"/>
            <a:ext cx="42599" cy="57686"/>
          </a:xfrm>
          <a:custGeom>
            <a:avLst/>
            <a:gdLst/>
            <a:ahLst/>
            <a:cxnLst/>
            <a:rect l="l" t="t" r="r" b="b"/>
            <a:pathLst>
              <a:path w="42599" h="57686">
                <a:moveTo>
                  <a:pt x="0" y="57686"/>
                </a:moveTo>
                <a:lnTo>
                  <a:pt x="0" y="0"/>
                </a:lnTo>
                <a:lnTo>
                  <a:pt x="38866" y="0"/>
                </a:lnTo>
                <a:lnTo>
                  <a:pt x="42599" y="20814"/>
                </a:lnTo>
                <a:lnTo>
                  <a:pt x="40358"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5" name="Illustrative delivered road transport cost class None; reference terminal None"/>
          <p:cNvSpPr/>
          <p:nvPr/>
        </p:nvSpPr>
        <p:spPr>
          <a:xfrm>
            <a:off x="5204085" y="2556217"/>
            <a:ext cx="38866" cy="57687"/>
          </a:xfrm>
          <a:custGeom>
            <a:avLst/>
            <a:gdLst/>
            <a:ahLst/>
            <a:cxnLst/>
            <a:rect l="l" t="t" r="r" b="b"/>
            <a:pathLst>
              <a:path w="38866" h="57687">
                <a:moveTo>
                  <a:pt x="0" y="57687"/>
                </a:moveTo>
                <a:lnTo>
                  <a:pt x="0" y="0"/>
                </a:lnTo>
                <a:lnTo>
                  <a:pt x="28510" y="0"/>
                </a:lnTo>
                <a:lnTo>
                  <a:pt x="30424" y="10620"/>
                </a:lnTo>
                <a:lnTo>
                  <a:pt x="3886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6" name="Illustrative delivered road transport cost class None; reference terminal None"/>
          <p:cNvSpPr/>
          <p:nvPr/>
        </p:nvSpPr>
        <p:spPr>
          <a:xfrm>
            <a:off x="5204085" y="2498531"/>
            <a:ext cx="28510" cy="57686"/>
          </a:xfrm>
          <a:custGeom>
            <a:avLst/>
            <a:gdLst/>
            <a:ahLst/>
            <a:cxnLst/>
            <a:rect l="l" t="t" r="r" b="b"/>
            <a:pathLst>
              <a:path w="28510" h="57686">
                <a:moveTo>
                  <a:pt x="0" y="57686"/>
                </a:moveTo>
                <a:lnTo>
                  <a:pt x="0" y="0"/>
                </a:lnTo>
                <a:lnTo>
                  <a:pt x="16451" y="0"/>
                </a:lnTo>
                <a:lnTo>
                  <a:pt x="21505" y="18825"/>
                </a:lnTo>
                <a:lnTo>
                  <a:pt x="28510"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7" name="Illustrative delivered road transport cost class None; reference terminal None"/>
          <p:cNvSpPr/>
          <p:nvPr/>
        </p:nvSpPr>
        <p:spPr>
          <a:xfrm>
            <a:off x="5204085" y="2440844"/>
            <a:ext cx="16451" cy="57687"/>
          </a:xfrm>
          <a:custGeom>
            <a:avLst/>
            <a:gdLst/>
            <a:ahLst/>
            <a:cxnLst/>
            <a:rect l="l" t="t" r="r" b="b"/>
            <a:pathLst>
              <a:path w="16451" h="57687">
                <a:moveTo>
                  <a:pt x="0" y="57687"/>
                </a:moveTo>
                <a:lnTo>
                  <a:pt x="0" y="0"/>
                </a:lnTo>
                <a:lnTo>
                  <a:pt x="921" y="0"/>
                </a:lnTo>
                <a:lnTo>
                  <a:pt x="7056" y="22690"/>
                </a:lnTo>
                <a:lnTo>
                  <a:pt x="16451"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8" name="Illustrative delivered road transport cost class 0; reference terminal Durban"/>
          <p:cNvSpPr/>
          <p:nvPr/>
        </p:nvSpPr>
        <p:spPr>
          <a:xfrm>
            <a:off x="5261772" y="4056068"/>
            <a:ext cx="29918" cy="18855"/>
          </a:xfrm>
          <a:custGeom>
            <a:avLst/>
            <a:gdLst/>
            <a:ahLst/>
            <a:cxnLst/>
            <a:rect l="l" t="t" r="r" b="b"/>
            <a:pathLst>
              <a:path w="29918" h="18855">
                <a:moveTo>
                  <a:pt x="0" y="0"/>
                </a:moveTo>
                <a:lnTo>
                  <a:pt x="29918" y="0"/>
                </a:lnTo>
                <a:lnTo>
                  <a:pt x="23193" y="5720"/>
                </a:lnTo>
                <a:lnTo>
                  <a:pt x="6396" y="16079"/>
                </a:lnTo>
                <a:lnTo>
                  <a:pt x="0" y="1885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9" name="Illustrative delivered road transport cost class 0; reference terminal Durban"/>
          <p:cNvSpPr/>
          <p:nvPr/>
        </p:nvSpPr>
        <p:spPr>
          <a:xfrm>
            <a:off x="5261772" y="3998382"/>
            <a:ext cx="57687" cy="57686"/>
          </a:xfrm>
          <a:custGeom>
            <a:avLst/>
            <a:gdLst/>
            <a:ahLst/>
            <a:cxnLst/>
            <a:rect l="l" t="t" r="r" b="b"/>
            <a:pathLst>
              <a:path w="57687" h="57686">
                <a:moveTo>
                  <a:pt x="0" y="57686"/>
                </a:moveTo>
                <a:lnTo>
                  <a:pt x="0" y="0"/>
                </a:lnTo>
                <a:lnTo>
                  <a:pt x="57687" y="0"/>
                </a:lnTo>
                <a:lnTo>
                  <a:pt x="57687" y="34068"/>
                </a:lnTo>
                <a:lnTo>
                  <a:pt x="29918"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0" name="Illustrative delivered road transport cost class 0; reference terminal Durban"/>
          <p:cNvSpPr/>
          <p:nvPr/>
        </p:nvSpPr>
        <p:spPr>
          <a:xfrm>
            <a:off x="526177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1" name="Illustrative delivered road transport cost class 0; reference terminal Durban"/>
          <p:cNvSpPr/>
          <p:nvPr/>
        </p:nvSpPr>
        <p:spPr>
          <a:xfrm>
            <a:off x="526177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2" name="Illustrative delivered road transport cost class 0; reference terminal Durban"/>
          <p:cNvSpPr/>
          <p:nvPr/>
        </p:nvSpPr>
        <p:spPr>
          <a:xfrm>
            <a:off x="526177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3" name="Illustrative delivered road transport cost class 0; reference terminal Durban"/>
          <p:cNvSpPr/>
          <p:nvPr/>
        </p:nvSpPr>
        <p:spPr>
          <a:xfrm>
            <a:off x="526177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4" name="Illustrative delivered road transport cost class 0; reference terminal Durban"/>
          <p:cNvSpPr/>
          <p:nvPr/>
        </p:nvSpPr>
        <p:spPr>
          <a:xfrm>
            <a:off x="526177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5" name="Illustrative delivered road transport cost class 1; reference terminal Durban"/>
          <p:cNvSpPr/>
          <p:nvPr/>
        </p:nvSpPr>
        <p:spPr>
          <a:xfrm>
            <a:off x="5261772" y="3652262"/>
            <a:ext cx="57687" cy="57687"/>
          </a:xfrm>
          <a:custGeom>
            <a:avLst/>
            <a:gdLst/>
            <a:ahLst/>
            <a:cxnLst/>
            <a:rect l="l" t="t" r="r" b="b"/>
            <a:pathLst>
              <a:path w="57687" h="57687">
                <a:moveTo>
                  <a:pt x="57687" y="0"/>
                </a:moveTo>
                <a:lnTo>
                  <a:pt x="57687" y="57687"/>
                </a:lnTo>
                <a:lnTo>
                  <a:pt x="0" y="57687"/>
                </a:lnTo>
                <a:lnTo>
                  <a:pt x="0" y="15452"/>
                </a:lnTo>
                <a:lnTo>
                  <a:pt x="30293" y="16534"/>
                </a:lnTo>
                <a:lnTo>
                  <a:pt x="29855"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6" name="Illustrative delivered road transport cost class 1; reference terminal Durban"/>
          <p:cNvSpPr/>
          <p:nvPr/>
        </p:nvSpPr>
        <p:spPr>
          <a:xfrm>
            <a:off x="5291165" y="3594576"/>
            <a:ext cx="28294" cy="57686"/>
          </a:xfrm>
          <a:custGeom>
            <a:avLst/>
            <a:gdLst/>
            <a:ahLst/>
            <a:cxnLst/>
            <a:rect l="l" t="t" r="r" b="b"/>
            <a:pathLst>
              <a:path w="28294" h="57686">
                <a:moveTo>
                  <a:pt x="28294" y="0"/>
                </a:moveTo>
                <a:lnTo>
                  <a:pt x="28294" y="57686"/>
                </a:lnTo>
                <a:lnTo>
                  <a:pt x="462" y="57686"/>
                </a:lnTo>
                <a:lnTo>
                  <a:pt x="0" y="40259"/>
                </a:lnTo>
                <a:lnTo>
                  <a:pt x="5849" y="0"/>
                </a:lnTo>
                <a:lnTo>
                  <a:pt x="2829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7" name="Illustrative delivered road transport cost class 1; reference terminal Durban"/>
          <p:cNvSpPr/>
          <p:nvPr/>
        </p:nvSpPr>
        <p:spPr>
          <a:xfrm>
            <a:off x="5297014" y="3543224"/>
            <a:ext cx="22445" cy="51352"/>
          </a:xfrm>
          <a:custGeom>
            <a:avLst/>
            <a:gdLst/>
            <a:ahLst/>
            <a:cxnLst/>
            <a:rect l="l" t="t" r="r" b="b"/>
            <a:pathLst>
              <a:path w="22445" h="51352">
                <a:moveTo>
                  <a:pt x="22445" y="51352"/>
                </a:moveTo>
                <a:lnTo>
                  <a:pt x="0" y="51352"/>
                </a:lnTo>
                <a:lnTo>
                  <a:pt x="2019" y="37449"/>
                </a:lnTo>
                <a:lnTo>
                  <a:pt x="10365" y="1222"/>
                </a:lnTo>
                <a:lnTo>
                  <a:pt x="17336" y="0"/>
                </a:lnTo>
                <a:lnTo>
                  <a:pt x="22445" y="1698"/>
                </a:lnTo>
                <a:lnTo>
                  <a:pt x="22445" y="5135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8" name="Illustrative delivered road transport cost class 1; reference terminal Lesedi"/>
          <p:cNvSpPr/>
          <p:nvPr/>
        </p:nvSpPr>
        <p:spPr>
          <a:xfrm>
            <a:off x="5261772" y="3306143"/>
            <a:ext cx="47082" cy="23070"/>
          </a:xfrm>
          <a:custGeom>
            <a:avLst/>
            <a:gdLst/>
            <a:ahLst/>
            <a:cxnLst/>
            <a:rect l="l" t="t" r="r" b="b"/>
            <a:pathLst>
              <a:path w="47082" h="23070">
                <a:moveTo>
                  <a:pt x="0" y="0"/>
                </a:moveTo>
                <a:lnTo>
                  <a:pt x="43645" y="0"/>
                </a:lnTo>
                <a:lnTo>
                  <a:pt x="47082" y="17939"/>
                </a:lnTo>
                <a:lnTo>
                  <a:pt x="40806" y="20433"/>
                </a:lnTo>
                <a:lnTo>
                  <a:pt x="29060" y="23070"/>
                </a:lnTo>
                <a:lnTo>
                  <a:pt x="0" y="498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9" name="Illustrative delivered road transport cost class 1; reference terminal Lesedi"/>
          <p:cNvSpPr/>
          <p:nvPr/>
        </p:nvSpPr>
        <p:spPr>
          <a:xfrm>
            <a:off x="5261772" y="3248456"/>
            <a:ext cx="56621" cy="57687"/>
          </a:xfrm>
          <a:custGeom>
            <a:avLst/>
            <a:gdLst/>
            <a:ahLst/>
            <a:cxnLst/>
            <a:rect l="l" t="t" r="r" b="b"/>
            <a:pathLst>
              <a:path w="56621" h="57687">
                <a:moveTo>
                  <a:pt x="0" y="57687"/>
                </a:moveTo>
                <a:lnTo>
                  <a:pt x="0" y="0"/>
                </a:lnTo>
                <a:lnTo>
                  <a:pt x="56621" y="0"/>
                </a:lnTo>
                <a:lnTo>
                  <a:pt x="43187" y="28320"/>
                </a:lnTo>
                <a:lnTo>
                  <a:pt x="43493" y="56897"/>
                </a:lnTo>
                <a:lnTo>
                  <a:pt x="4364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0" name="Illustrative delivered road transport cost class 1; reference terminal Lesedi"/>
          <p:cNvSpPr/>
          <p:nvPr/>
        </p:nvSpPr>
        <p:spPr>
          <a:xfrm>
            <a:off x="5261772" y="3190770"/>
            <a:ext cx="57687" cy="57686"/>
          </a:xfrm>
          <a:custGeom>
            <a:avLst/>
            <a:gdLst/>
            <a:ahLst/>
            <a:cxnLst/>
            <a:rect l="l" t="t" r="r" b="b"/>
            <a:pathLst>
              <a:path w="57687" h="57686">
                <a:moveTo>
                  <a:pt x="0" y="57686"/>
                </a:moveTo>
                <a:lnTo>
                  <a:pt x="0" y="0"/>
                </a:lnTo>
                <a:lnTo>
                  <a:pt x="57687" y="0"/>
                </a:lnTo>
                <a:lnTo>
                  <a:pt x="57687" y="55440"/>
                </a:lnTo>
                <a:lnTo>
                  <a:pt x="56621"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1" name="Illustrative delivered road transport cost class 1; reference terminal Lesedi"/>
          <p:cNvSpPr/>
          <p:nvPr/>
        </p:nvSpPr>
        <p:spPr>
          <a:xfrm>
            <a:off x="526177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2" name="Illustrative delivered road transport cost class 1; reference terminal Lesedi"/>
          <p:cNvSpPr/>
          <p:nvPr/>
        </p:nvSpPr>
        <p:spPr>
          <a:xfrm>
            <a:off x="526177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3" name="Illustrative delivered road transport cost class 1; reference terminal Lesedi"/>
          <p:cNvSpPr/>
          <p:nvPr/>
        </p:nvSpPr>
        <p:spPr>
          <a:xfrm>
            <a:off x="526177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4" name="Illustrative delivered road transport cost class 1; reference terminal Lesedi"/>
          <p:cNvSpPr/>
          <p:nvPr/>
        </p:nvSpPr>
        <p:spPr>
          <a:xfrm>
            <a:off x="526177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5" name="Illustrative delivered road transport cost class None; reference terminal None"/>
          <p:cNvSpPr/>
          <p:nvPr/>
        </p:nvSpPr>
        <p:spPr>
          <a:xfrm>
            <a:off x="526177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6" name="Illustrative delivered road transport cost class None; reference terminal None"/>
          <p:cNvSpPr/>
          <p:nvPr/>
        </p:nvSpPr>
        <p:spPr>
          <a:xfrm>
            <a:off x="5261772" y="2844650"/>
            <a:ext cx="57687" cy="57687"/>
          </a:xfrm>
          <a:custGeom>
            <a:avLst/>
            <a:gdLst/>
            <a:ahLst/>
            <a:cxnLst/>
            <a:rect l="l" t="t" r="r" b="b"/>
            <a:pathLst>
              <a:path w="57687" h="57687">
                <a:moveTo>
                  <a:pt x="57687" y="57687"/>
                </a:moveTo>
                <a:lnTo>
                  <a:pt x="0" y="57687"/>
                </a:lnTo>
                <a:lnTo>
                  <a:pt x="0" y="0"/>
                </a:lnTo>
                <a:lnTo>
                  <a:pt x="54116" y="0"/>
                </a:lnTo>
                <a:lnTo>
                  <a:pt x="57687" y="19985"/>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7" name="Illustrative delivered road transport cost class None; reference terminal None"/>
          <p:cNvSpPr/>
          <p:nvPr/>
        </p:nvSpPr>
        <p:spPr>
          <a:xfrm>
            <a:off x="5261772" y="2786964"/>
            <a:ext cx="54116" cy="57686"/>
          </a:xfrm>
          <a:custGeom>
            <a:avLst/>
            <a:gdLst/>
            <a:ahLst/>
            <a:cxnLst/>
            <a:rect l="l" t="t" r="r" b="b"/>
            <a:pathLst>
              <a:path w="54116" h="57686">
                <a:moveTo>
                  <a:pt x="0" y="57686"/>
                </a:moveTo>
                <a:lnTo>
                  <a:pt x="0" y="0"/>
                </a:lnTo>
                <a:lnTo>
                  <a:pt x="35399" y="0"/>
                </a:lnTo>
                <a:lnTo>
                  <a:pt x="40218" y="7573"/>
                </a:lnTo>
                <a:lnTo>
                  <a:pt x="52053" y="46139"/>
                </a:lnTo>
                <a:lnTo>
                  <a:pt x="5411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8" name="Illustrative delivered road transport cost class None; reference terminal None"/>
          <p:cNvSpPr/>
          <p:nvPr/>
        </p:nvSpPr>
        <p:spPr>
          <a:xfrm>
            <a:off x="5261772" y="2729277"/>
            <a:ext cx="35399" cy="57687"/>
          </a:xfrm>
          <a:custGeom>
            <a:avLst/>
            <a:gdLst/>
            <a:ahLst/>
            <a:cxnLst/>
            <a:rect l="l" t="t" r="r" b="b"/>
            <a:pathLst>
              <a:path w="35399" h="57687">
                <a:moveTo>
                  <a:pt x="0" y="57687"/>
                </a:moveTo>
                <a:lnTo>
                  <a:pt x="0" y="0"/>
                </a:lnTo>
                <a:lnTo>
                  <a:pt x="10034" y="0"/>
                </a:lnTo>
                <a:lnTo>
                  <a:pt x="13880" y="8018"/>
                </a:lnTo>
                <a:lnTo>
                  <a:pt x="18746" y="25906"/>
                </a:lnTo>
                <a:lnTo>
                  <a:pt x="23734" y="39353"/>
                </a:lnTo>
                <a:lnTo>
                  <a:pt x="3539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9" name="Illustrative delivered road transport cost class None; reference terminal None"/>
          <p:cNvSpPr/>
          <p:nvPr/>
        </p:nvSpPr>
        <p:spPr>
          <a:xfrm>
            <a:off x="5261772" y="2708364"/>
            <a:ext cx="10034" cy="20913"/>
          </a:xfrm>
          <a:custGeom>
            <a:avLst/>
            <a:gdLst/>
            <a:ahLst/>
            <a:cxnLst/>
            <a:rect l="l" t="t" r="r" b="b"/>
            <a:pathLst>
              <a:path w="10034" h="20913">
                <a:moveTo>
                  <a:pt x="0" y="20913"/>
                </a:moveTo>
                <a:lnTo>
                  <a:pt x="0" y="0"/>
                </a:lnTo>
                <a:lnTo>
                  <a:pt x="10034" y="20913"/>
                </a:lnTo>
                <a:lnTo>
                  <a:pt x="0" y="2091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0" name="Illustrative delivered road transport cost class 0; reference terminal Durban"/>
          <p:cNvSpPr/>
          <p:nvPr/>
        </p:nvSpPr>
        <p:spPr>
          <a:xfrm>
            <a:off x="5319459" y="3998382"/>
            <a:ext cx="35067" cy="34068"/>
          </a:xfrm>
          <a:custGeom>
            <a:avLst/>
            <a:gdLst/>
            <a:ahLst/>
            <a:cxnLst/>
            <a:rect l="l" t="t" r="r" b="b"/>
            <a:pathLst>
              <a:path w="35067" h="34068">
                <a:moveTo>
                  <a:pt x="0" y="0"/>
                </a:moveTo>
                <a:lnTo>
                  <a:pt x="35067" y="0"/>
                </a:lnTo>
                <a:lnTo>
                  <a:pt x="26933" y="11159"/>
                </a:lnTo>
                <a:lnTo>
                  <a:pt x="0" y="34068"/>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1" name="Illustrative delivered road transport cost class 0; reference terminal Durban"/>
          <p:cNvSpPr/>
          <p:nvPr/>
        </p:nvSpPr>
        <p:spPr>
          <a:xfrm>
            <a:off x="5319459" y="3940695"/>
            <a:ext cx="57686" cy="57687"/>
          </a:xfrm>
          <a:custGeom>
            <a:avLst/>
            <a:gdLst/>
            <a:ahLst/>
            <a:cxnLst/>
            <a:rect l="l" t="t" r="r" b="b"/>
            <a:pathLst>
              <a:path w="57686" h="57687">
                <a:moveTo>
                  <a:pt x="0" y="57687"/>
                </a:moveTo>
                <a:lnTo>
                  <a:pt x="0" y="0"/>
                </a:lnTo>
                <a:lnTo>
                  <a:pt x="57686" y="0"/>
                </a:lnTo>
                <a:lnTo>
                  <a:pt x="57686" y="22764"/>
                </a:lnTo>
                <a:lnTo>
                  <a:pt x="48992" y="38582"/>
                </a:lnTo>
                <a:lnTo>
                  <a:pt x="350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2" name="Illustrative delivered road transport cost class 0; reference terminal Durban"/>
          <p:cNvSpPr/>
          <p:nvPr/>
        </p:nvSpPr>
        <p:spPr>
          <a:xfrm>
            <a:off x="531945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3" name="Illustrative delivered road transport cost class 0; reference terminal Durban"/>
          <p:cNvSpPr/>
          <p:nvPr/>
        </p:nvSpPr>
        <p:spPr>
          <a:xfrm>
            <a:off x="531945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4" name="Illustrative delivered road transport cost class 0; reference terminal Durban"/>
          <p:cNvSpPr/>
          <p:nvPr/>
        </p:nvSpPr>
        <p:spPr>
          <a:xfrm>
            <a:off x="531945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5" name="Illustrative delivered road transport cost class 1; reference terminal Durban"/>
          <p:cNvSpPr/>
          <p:nvPr/>
        </p:nvSpPr>
        <p:spPr>
          <a:xfrm>
            <a:off x="531945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6" name="Illustrative delivered road transport cost class 1; reference terminal Durban"/>
          <p:cNvSpPr/>
          <p:nvPr/>
        </p:nvSpPr>
        <p:spPr>
          <a:xfrm>
            <a:off x="531945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7" name="Illustrative delivered road transport cost class 1; reference terminal Durban"/>
          <p:cNvSpPr/>
          <p:nvPr/>
        </p:nvSpPr>
        <p:spPr>
          <a:xfrm>
            <a:off x="531945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8" name="Illustrative delivered road transport cost class 1; reference terminal Durban"/>
          <p:cNvSpPr/>
          <p:nvPr/>
        </p:nvSpPr>
        <p:spPr>
          <a:xfrm>
            <a:off x="5319459" y="3544922"/>
            <a:ext cx="57686" cy="49654"/>
          </a:xfrm>
          <a:custGeom>
            <a:avLst/>
            <a:gdLst/>
            <a:ahLst/>
            <a:cxnLst/>
            <a:rect l="l" t="t" r="r" b="b"/>
            <a:pathLst>
              <a:path w="57686" h="49654">
                <a:moveTo>
                  <a:pt x="57686" y="49654"/>
                </a:moveTo>
                <a:lnTo>
                  <a:pt x="0" y="49654"/>
                </a:lnTo>
                <a:lnTo>
                  <a:pt x="0" y="0"/>
                </a:lnTo>
                <a:lnTo>
                  <a:pt x="7692" y="2558"/>
                </a:lnTo>
                <a:lnTo>
                  <a:pt x="14625" y="6723"/>
                </a:lnTo>
                <a:lnTo>
                  <a:pt x="34541" y="6379"/>
                </a:lnTo>
                <a:lnTo>
                  <a:pt x="57686" y="12580"/>
                </a:lnTo>
                <a:lnTo>
                  <a:pt x="57686" y="4965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9" name="Illustrative delivered road transport cost class 1; reference terminal Lesedi"/>
          <p:cNvSpPr/>
          <p:nvPr/>
        </p:nvSpPr>
        <p:spPr>
          <a:xfrm>
            <a:off x="5319459" y="3190770"/>
            <a:ext cx="4173" cy="55440"/>
          </a:xfrm>
          <a:custGeom>
            <a:avLst/>
            <a:gdLst/>
            <a:ahLst/>
            <a:cxnLst/>
            <a:rect l="l" t="t" r="r" b="b"/>
            <a:pathLst>
              <a:path w="4173" h="55440">
                <a:moveTo>
                  <a:pt x="0" y="0"/>
                </a:moveTo>
                <a:lnTo>
                  <a:pt x="4173" y="0"/>
                </a:lnTo>
                <a:lnTo>
                  <a:pt x="2308" y="50574"/>
                </a:lnTo>
                <a:lnTo>
                  <a:pt x="0" y="5544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0" name="Illustrative delivered road transport cost class 1; reference terminal Lesedi"/>
          <p:cNvSpPr/>
          <p:nvPr/>
        </p:nvSpPr>
        <p:spPr>
          <a:xfrm>
            <a:off x="5319459" y="3133083"/>
            <a:ext cx="8638" cy="57687"/>
          </a:xfrm>
          <a:custGeom>
            <a:avLst/>
            <a:gdLst/>
            <a:ahLst/>
            <a:cxnLst/>
            <a:rect l="l" t="t" r="r" b="b"/>
            <a:pathLst>
              <a:path w="8638" h="57687">
                <a:moveTo>
                  <a:pt x="0" y="57687"/>
                </a:moveTo>
                <a:lnTo>
                  <a:pt x="0" y="0"/>
                </a:lnTo>
                <a:lnTo>
                  <a:pt x="8638" y="0"/>
                </a:lnTo>
                <a:lnTo>
                  <a:pt x="7964" y="14155"/>
                </a:lnTo>
                <a:lnTo>
                  <a:pt x="4878" y="38579"/>
                </a:lnTo>
                <a:lnTo>
                  <a:pt x="417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1" name="Illustrative delivered road transport cost class 1; reference terminal Lesedi"/>
          <p:cNvSpPr/>
          <p:nvPr/>
        </p:nvSpPr>
        <p:spPr>
          <a:xfrm>
            <a:off x="5319459" y="3075396"/>
            <a:ext cx="11392" cy="57687"/>
          </a:xfrm>
          <a:custGeom>
            <a:avLst/>
            <a:gdLst/>
            <a:ahLst/>
            <a:cxnLst/>
            <a:rect l="l" t="t" r="r" b="b"/>
            <a:pathLst>
              <a:path w="11392" h="57687">
                <a:moveTo>
                  <a:pt x="0" y="57687"/>
                </a:moveTo>
                <a:lnTo>
                  <a:pt x="0" y="0"/>
                </a:lnTo>
                <a:lnTo>
                  <a:pt x="11392" y="0"/>
                </a:lnTo>
                <a:lnTo>
                  <a:pt x="10271" y="23375"/>
                </a:lnTo>
                <a:lnTo>
                  <a:pt x="863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2" name="Illustrative delivered road transport cost class 1; reference terminal Lesedi"/>
          <p:cNvSpPr/>
          <p:nvPr/>
        </p:nvSpPr>
        <p:spPr>
          <a:xfrm>
            <a:off x="5319459" y="3017710"/>
            <a:ext cx="14156" cy="57686"/>
          </a:xfrm>
          <a:custGeom>
            <a:avLst/>
            <a:gdLst/>
            <a:ahLst/>
            <a:cxnLst/>
            <a:rect l="l" t="t" r="r" b="b"/>
            <a:pathLst>
              <a:path w="14156" h="57686">
                <a:moveTo>
                  <a:pt x="0" y="57686"/>
                </a:moveTo>
                <a:lnTo>
                  <a:pt x="0" y="0"/>
                </a:lnTo>
                <a:lnTo>
                  <a:pt x="14156" y="0"/>
                </a:lnTo>
                <a:lnTo>
                  <a:pt x="13087" y="22344"/>
                </a:lnTo>
                <a:lnTo>
                  <a:pt x="11392"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3" name="Illustrative delivered road transport cost class 1; reference terminal Lesedi"/>
          <p:cNvSpPr/>
          <p:nvPr/>
        </p:nvSpPr>
        <p:spPr>
          <a:xfrm>
            <a:off x="5319459" y="2960023"/>
            <a:ext cx="17427" cy="57687"/>
          </a:xfrm>
          <a:custGeom>
            <a:avLst/>
            <a:gdLst/>
            <a:ahLst/>
            <a:cxnLst/>
            <a:rect l="l" t="t" r="r" b="b"/>
            <a:pathLst>
              <a:path w="17427" h="57687">
                <a:moveTo>
                  <a:pt x="0" y="57687"/>
                </a:moveTo>
                <a:lnTo>
                  <a:pt x="0" y="0"/>
                </a:lnTo>
                <a:lnTo>
                  <a:pt x="17427" y="0"/>
                </a:lnTo>
                <a:lnTo>
                  <a:pt x="15603" y="27458"/>
                </a:lnTo>
                <a:lnTo>
                  <a:pt x="1415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4" name="Illustrative delivered road transport cost class None; reference terminal None"/>
          <p:cNvSpPr/>
          <p:nvPr/>
        </p:nvSpPr>
        <p:spPr>
          <a:xfrm>
            <a:off x="5319459" y="2902337"/>
            <a:ext cx="18614" cy="57686"/>
          </a:xfrm>
          <a:custGeom>
            <a:avLst/>
            <a:gdLst/>
            <a:ahLst/>
            <a:cxnLst/>
            <a:rect l="l" t="t" r="r" b="b"/>
            <a:pathLst>
              <a:path w="18614" h="57686">
                <a:moveTo>
                  <a:pt x="0" y="57686"/>
                </a:moveTo>
                <a:lnTo>
                  <a:pt x="0" y="0"/>
                </a:lnTo>
                <a:lnTo>
                  <a:pt x="9987" y="0"/>
                </a:lnTo>
                <a:lnTo>
                  <a:pt x="12128" y="6045"/>
                </a:lnTo>
                <a:lnTo>
                  <a:pt x="15252" y="18054"/>
                </a:lnTo>
                <a:lnTo>
                  <a:pt x="18614" y="39809"/>
                </a:lnTo>
                <a:lnTo>
                  <a:pt x="1742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5" name="Illustrative delivered road transport cost class None; reference terminal None"/>
          <p:cNvSpPr/>
          <p:nvPr/>
        </p:nvSpPr>
        <p:spPr>
          <a:xfrm>
            <a:off x="5319459" y="2864635"/>
            <a:ext cx="9987" cy="37702"/>
          </a:xfrm>
          <a:custGeom>
            <a:avLst/>
            <a:gdLst/>
            <a:ahLst/>
            <a:cxnLst/>
            <a:rect l="l" t="t" r="r" b="b"/>
            <a:pathLst>
              <a:path w="9987" h="37702">
                <a:moveTo>
                  <a:pt x="0" y="37702"/>
                </a:moveTo>
                <a:lnTo>
                  <a:pt x="0" y="0"/>
                </a:lnTo>
                <a:lnTo>
                  <a:pt x="3424" y="19169"/>
                </a:lnTo>
                <a:lnTo>
                  <a:pt x="9987" y="37702"/>
                </a:lnTo>
                <a:lnTo>
                  <a:pt x="0" y="3770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6" name="Illustrative delivered road transport cost class 0; reference terminal Durban"/>
          <p:cNvSpPr/>
          <p:nvPr/>
        </p:nvSpPr>
        <p:spPr>
          <a:xfrm>
            <a:off x="5377145" y="3940695"/>
            <a:ext cx="12511" cy="22764"/>
          </a:xfrm>
          <a:custGeom>
            <a:avLst/>
            <a:gdLst/>
            <a:ahLst/>
            <a:cxnLst/>
            <a:rect l="l" t="t" r="r" b="b"/>
            <a:pathLst>
              <a:path w="12511" h="22764">
                <a:moveTo>
                  <a:pt x="0" y="0"/>
                </a:moveTo>
                <a:lnTo>
                  <a:pt x="12511" y="0"/>
                </a:lnTo>
                <a:lnTo>
                  <a:pt x="0" y="2276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7" name="Illustrative delivered road transport cost class 0; reference terminal Durban"/>
          <p:cNvSpPr/>
          <p:nvPr/>
        </p:nvSpPr>
        <p:spPr>
          <a:xfrm>
            <a:off x="5377145" y="3883008"/>
            <a:ext cx="37524" cy="57687"/>
          </a:xfrm>
          <a:custGeom>
            <a:avLst/>
            <a:gdLst/>
            <a:ahLst/>
            <a:cxnLst/>
            <a:rect l="l" t="t" r="r" b="b"/>
            <a:pathLst>
              <a:path w="37524" h="57687">
                <a:moveTo>
                  <a:pt x="0" y="57687"/>
                </a:moveTo>
                <a:lnTo>
                  <a:pt x="0" y="0"/>
                </a:lnTo>
                <a:lnTo>
                  <a:pt x="37524" y="0"/>
                </a:lnTo>
                <a:lnTo>
                  <a:pt x="32013" y="22204"/>
                </a:lnTo>
                <a:lnTo>
                  <a:pt x="1251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8" name="Illustrative delivered road transport cost class 0; reference terminal Durban"/>
          <p:cNvSpPr/>
          <p:nvPr/>
        </p:nvSpPr>
        <p:spPr>
          <a:xfrm>
            <a:off x="5377145" y="3825322"/>
            <a:ext cx="51840" cy="57686"/>
          </a:xfrm>
          <a:custGeom>
            <a:avLst/>
            <a:gdLst/>
            <a:ahLst/>
            <a:cxnLst/>
            <a:rect l="l" t="t" r="r" b="b"/>
            <a:pathLst>
              <a:path w="51840" h="57686">
                <a:moveTo>
                  <a:pt x="0" y="57686"/>
                </a:moveTo>
                <a:lnTo>
                  <a:pt x="0" y="0"/>
                </a:lnTo>
                <a:lnTo>
                  <a:pt x="51840" y="0"/>
                </a:lnTo>
                <a:lnTo>
                  <a:pt x="37524"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9" name="Illustrative delivered road transport cost class 1; reference terminal Durban"/>
          <p:cNvSpPr/>
          <p:nvPr/>
        </p:nvSpPr>
        <p:spPr>
          <a:xfrm>
            <a:off x="5377145" y="3767635"/>
            <a:ext cx="57687" cy="57687"/>
          </a:xfrm>
          <a:custGeom>
            <a:avLst/>
            <a:gdLst/>
            <a:ahLst/>
            <a:cxnLst/>
            <a:rect l="l" t="t" r="r" b="b"/>
            <a:pathLst>
              <a:path w="57687" h="57687">
                <a:moveTo>
                  <a:pt x="0" y="57687"/>
                </a:moveTo>
                <a:lnTo>
                  <a:pt x="0" y="0"/>
                </a:lnTo>
                <a:lnTo>
                  <a:pt x="57687" y="0"/>
                </a:lnTo>
                <a:lnTo>
                  <a:pt x="57687" y="34128"/>
                </a:lnTo>
                <a:lnTo>
                  <a:pt x="518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0" name="Illustrative delivered road transport cost class 1; reference terminal Durban"/>
          <p:cNvSpPr/>
          <p:nvPr/>
        </p:nvSpPr>
        <p:spPr>
          <a:xfrm>
            <a:off x="537714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1" name="Illustrative delivered road transport cost class 1; reference terminal Durban"/>
          <p:cNvSpPr/>
          <p:nvPr/>
        </p:nvSpPr>
        <p:spPr>
          <a:xfrm>
            <a:off x="537714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2" name="Illustrative delivered road transport cost class 1; reference terminal Durban"/>
          <p:cNvSpPr/>
          <p:nvPr/>
        </p:nvSpPr>
        <p:spPr>
          <a:xfrm>
            <a:off x="537714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3" name="Illustrative delivered road transport cost class 1; reference terminal Durban"/>
          <p:cNvSpPr/>
          <p:nvPr/>
        </p:nvSpPr>
        <p:spPr>
          <a:xfrm>
            <a:off x="5377145" y="3557502"/>
            <a:ext cx="57687" cy="37074"/>
          </a:xfrm>
          <a:custGeom>
            <a:avLst/>
            <a:gdLst/>
            <a:ahLst/>
            <a:cxnLst/>
            <a:rect l="l" t="t" r="r" b="b"/>
            <a:pathLst>
              <a:path w="57687" h="37074">
                <a:moveTo>
                  <a:pt x="57687" y="37074"/>
                </a:moveTo>
                <a:lnTo>
                  <a:pt x="0" y="37074"/>
                </a:lnTo>
                <a:lnTo>
                  <a:pt x="0" y="0"/>
                </a:lnTo>
                <a:lnTo>
                  <a:pt x="11619" y="3113"/>
                </a:lnTo>
                <a:lnTo>
                  <a:pt x="40056" y="4064"/>
                </a:lnTo>
                <a:lnTo>
                  <a:pt x="57687" y="4681"/>
                </a:lnTo>
                <a:lnTo>
                  <a:pt x="57687" y="370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4" name="Illustrative delivered road transport cost class 1; reference terminal Durban"/>
          <p:cNvSpPr/>
          <p:nvPr/>
        </p:nvSpPr>
        <p:spPr>
          <a:xfrm>
            <a:off x="5434832" y="3767635"/>
            <a:ext cx="8469" cy="34128"/>
          </a:xfrm>
          <a:custGeom>
            <a:avLst/>
            <a:gdLst/>
            <a:ahLst/>
            <a:cxnLst/>
            <a:rect l="l" t="t" r="r" b="b"/>
            <a:pathLst>
              <a:path w="8469" h="34128">
                <a:moveTo>
                  <a:pt x="0" y="0"/>
                </a:moveTo>
                <a:lnTo>
                  <a:pt x="8469" y="0"/>
                </a:lnTo>
                <a:lnTo>
                  <a:pt x="0" y="341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5" name="Illustrative delivered road transport cost class 1; reference terminal Durban"/>
          <p:cNvSpPr/>
          <p:nvPr/>
        </p:nvSpPr>
        <p:spPr>
          <a:xfrm>
            <a:off x="5434832" y="3709949"/>
            <a:ext cx="26895" cy="57686"/>
          </a:xfrm>
          <a:custGeom>
            <a:avLst/>
            <a:gdLst/>
            <a:ahLst/>
            <a:cxnLst/>
            <a:rect l="l" t="t" r="r" b="b"/>
            <a:pathLst>
              <a:path w="26895" h="57686">
                <a:moveTo>
                  <a:pt x="0" y="57686"/>
                </a:moveTo>
                <a:lnTo>
                  <a:pt x="0" y="0"/>
                </a:lnTo>
                <a:lnTo>
                  <a:pt x="26895" y="0"/>
                </a:lnTo>
                <a:lnTo>
                  <a:pt x="25214" y="3946"/>
                </a:lnTo>
                <a:lnTo>
                  <a:pt x="11470" y="45595"/>
                </a:lnTo>
                <a:lnTo>
                  <a:pt x="846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6" name="Illustrative delivered road transport cost class 1; reference terminal Durban"/>
          <p:cNvSpPr/>
          <p:nvPr/>
        </p:nvSpPr>
        <p:spPr>
          <a:xfrm>
            <a:off x="5434832" y="3652262"/>
            <a:ext cx="51458" cy="57687"/>
          </a:xfrm>
          <a:custGeom>
            <a:avLst/>
            <a:gdLst/>
            <a:ahLst/>
            <a:cxnLst/>
            <a:rect l="l" t="t" r="r" b="b"/>
            <a:pathLst>
              <a:path w="51458" h="57687">
                <a:moveTo>
                  <a:pt x="0" y="57687"/>
                </a:moveTo>
                <a:lnTo>
                  <a:pt x="0" y="0"/>
                </a:lnTo>
                <a:lnTo>
                  <a:pt x="51458" y="0"/>
                </a:lnTo>
                <a:lnTo>
                  <a:pt x="2689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7" name="Illustrative delivered road transport cost class 1; reference terminal Durban"/>
          <p:cNvSpPr/>
          <p:nvPr/>
        </p:nvSpPr>
        <p:spPr>
          <a:xfrm>
            <a:off x="5434832" y="3594576"/>
            <a:ext cx="57686" cy="57686"/>
          </a:xfrm>
          <a:custGeom>
            <a:avLst/>
            <a:gdLst/>
            <a:ahLst/>
            <a:cxnLst/>
            <a:rect l="l" t="t" r="r" b="b"/>
            <a:pathLst>
              <a:path w="57686" h="57686">
                <a:moveTo>
                  <a:pt x="0" y="57686"/>
                </a:moveTo>
                <a:lnTo>
                  <a:pt x="0" y="0"/>
                </a:lnTo>
                <a:lnTo>
                  <a:pt x="57686" y="0"/>
                </a:lnTo>
                <a:lnTo>
                  <a:pt x="57686" y="43059"/>
                </a:lnTo>
                <a:lnTo>
                  <a:pt x="51458"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8" name="Illustrative delivered road transport cost class 1; reference terminal Durban"/>
          <p:cNvSpPr/>
          <p:nvPr/>
        </p:nvSpPr>
        <p:spPr>
          <a:xfrm>
            <a:off x="5434832" y="3562183"/>
            <a:ext cx="57686" cy="32393"/>
          </a:xfrm>
          <a:custGeom>
            <a:avLst/>
            <a:gdLst/>
            <a:ahLst/>
            <a:cxnLst/>
            <a:rect l="l" t="t" r="r" b="b"/>
            <a:pathLst>
              <a:path w="57686" h="32393">
                <a:moveTo>
                  <a:pt x="57686" y="32393"/>
                </a:moveTo>
                <a:lnTo>
                  <a:pt x="0" y="32393"/>
                </a:lnTo>
                <a:lnTo>
                  <a:pt x="0" y="0"/>
                </a:lnTo>
                <a:lnTo>
                  <a:pt x="7786" y="273"/>
                </a:lnTo>
                <a:lnTo>
                  <a:pt x="50772" y="1789"/>
                </a:lnTo>
                <a:lnTo>
                  <a:pt x="57686" y="2122"/>
                </a:lnTo>
                <a:lnTo>
                  <a:pt x="57686" y="32393"/>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9" name="Illustrative delivered road transport cost class 1; reference terminal Durban"/>
          <p:cNvSpPr/>
          <p:nvPr/>
        </p:nvSpPr>
        <p:spPr>
          <a:xfrm>
            <a:off x="5492518" y="3594576"/>
            <a:ext cx="12020" cy="43059"/>
          </a:xfrm>
          <a:custGeom>
            <a:avLst/>
            <a:gdLst/>
            <a:ahLst/>
            <a:cxnLst/>
            <a:rect l="l" t="t" r="r" b="b"/>
            <a:pathLst>
              <a:path w="12020" h="43059">
                <a:moveTo>
                  <a:pt x="0" y="0"/>
                </a:moveTo>
                <a:lnTo>
                  <a:pt x="12020" y="0"/>
                </a:lnTo>
                <a:lnTo>
                  <a:pt x="5964" y="29053"/>
                </a:lnTo>
                <a:lnTo>
                  <a:pt x="0" y="4305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0" name="Illustrative delivered road transport cost class None; reference terminal None"/>
          <p:cNvSpPr/>
          <p:nvPr/>
        </p:nvSpPr>
        <p:spPr>
          <a:xfrm>
            <a:off x="5492518" y="3564305"/>
            <a:ext cx="18147" cy="30271"/>
          </a:xfrm>
          <a:custGeom>
            <a:avLst/>
            <a:gdLst/>
            <a:ahLst/>
            <a:cxnLst/>
            <a:rect l="l" t="t" r="r" b="b"/>
            <a:pathLst>
              <a:path w="18147" h="30271">
                <a:moveTo>
                  <a:pt x="0" y="30271"/>
                </a:moveTo>
                <a:lnTo>
                  <a:pt x="0" y="0"/>
                </a:lnTo>
                <a:lnTo>
                  <a:pt x="18147" y="872"/>
                </a:lnTo>
                <a:lnTo>
                  <a:pt x="12020" y="30271"/>
                </a:lnTo>
                <a:lnTo>
                  <a:pt x="0" y="3027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TextBox 512"/>
          <p:cNvSpPr txBox="1"/>
          <p:nvPr/>
        </p:nvSpPr>
        <p:spPr>
          <a:xfrm>
            <a:off x="5166221" y="4169192"/>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0A2373"/>
                </a:solidFill>
                <a:latin typeface="Lato"/>
              </a:defRPr>
            </a:pPr>
            <a:r>
              <a:t>Durban</a:t>
            </a:r>
          </a:p>
        </p:txBody>
      </p:sp>
      <p:sp>
        <p:nvSpPr>
          <p:cNvPr id="514" name="Diamond 513"/>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TextBox 514"/>
          <p:cNvSpPr txBox="1"/>
          <p:nvPr/>
        </p:nvSpPr>
        <p:spPr>
          <a:xfrm>
            <a:off x="4603291" y="3266119"/>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0A2373"/>
                </a:solidFill>
                <a:latin typeface="Lato"/>
              </a:defRPr>
            </a:pPr>
            <a:r>
              <a:t>Lesedi*</a:t>
            </a:r>
          </a:p>
        </p:txBody>
      </p:sp>
      <p:cxnSp>
        <p:nvCxnSpPr>
          <p:cNvPr id="516" name="Connector 515"/>
          <p:cNvCxnSpPr/>
          <p:nvPr/>
        </p:nvCxnSpPr>
        <p:spPr>
          <a:xfrm flipH="1" flipV="1">
            <a:off x="4908306" y="4236989"/>
            <a:ext cx="139043" cy="7850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7" name="Connector 516"/>
          <p:cNvCxnSpPr/>
          <p:nvPr/>
        </p:nvCxnSpPr>
        <p:spPr>
          <a:xfrm flipH="1" flipV="1">
            <a:off x="4776353" y="4128835"/>
            <a:ext cx="131953" cy="10815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8" name="Connector 517"/>
          <p:cNvCxnSpPr/>
          <p:nvPr/>
        </p:nvCxnSpPr>
        <p:spPr>
          <a:xfrm flipH="1" flipV="1">
            <a:off x="4638838" y="3888100"/>
            <a:ext cx="137515" cy="240735"/>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9" name="Connector 518"/>
          <p:cNvCxnSpPr/>
          <p:nvPr/>
        </p:nvCxnSpPr>
        <p:spPr>
          <a:xfrm flipV="1">
            <a:off x="4638838" y="3655201"/>
            <a:ext cx="1051" cy="23289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0" name="Connector 519"/>
          <p:cNvCxnSpPr/>
          <p:nvPr/>
        </p:nvCxnSpPr>
        <p:spPr>
          <a:xfrm flipH="1" flipV="1">
            <a:off x="4477109" y="3427567"/>
            <a:ext cx="162780" cy="22763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1" name="Connector 520"/>
          <p:cNvCxnSpPr/>
          <p:nvPr/>
        </p:nvCxnSpPr>
        <p:spPr>
          <a:xfrm flipH="1" flipV="1">
            <a:off x="4407683" y="3349004"/>
            <a:ext cx="69426" cy="78563"/>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2" name="Connector 52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523" name="Connector 522"/>
          <p:cNvCxnSpPr/>
          <p:nvPr/>
        </p:nvCxnSpPr>
        <p:spPr>
          <a:xfrm flipV="1">
            <a:off x="4532053" y="4470941"/>
            <a:ext cx="150466" cy="2610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4" name="Connector 523"/>
          <p:cNvCxnSpPr/>
          <p:nvPr/>
        </p:nvCxnSpPr>
        <p:spPr>
          <a:xfrm>
            <a:off x="4682519" y="4470941"/>
            <a:ext cx="225376" cy="5817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5" name="Connector 524"/>
          <p:cNvCxnSpPr/>
          <p:nvPr/>
        </p:nvCxnSpPr>
        <p:spPr>
          <a:xfrm flipV="1">
            <a:off x="4907895" y="4315496"/>
            <a:ext cx="139454" cy="2136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6" name="Connector 525"/>
          <p:cNvCxnSpPr/>
          <p:nvPr/>
        </p:nvCxnSpPr>
        <p:spPr>
          <a:xfrm flipV="1">
            <a:off x="5047349" y="4037215"/>
            <a:ext cx="210381" cy="278281"/>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7" name="Connector 526"/>
          <p:cNvCxnSpPr/>
          <p:nvPr/>
        </p:nvCxnSpPr>
        <p:spPr>
          <a:xfrm flipV="1">
            <a:off x="5257730" y="3712239"/>
            <a:ext cx="57336" cy="324976"/>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8" name="Connector 527"/>
          <p:cNvCxnSpPr/>
          <p:nvPr/>
        </p:nvCxnSpPr>
        <p:spPr>
          <a:xfrm flipH="1" flipV="1">
            <a:off x="5072949" y="3578600"/>
            <a:ext cx="242117" cy="13363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9" name="Connector 528"/>
          <p:cNvCxnSpPr/>
          <p:nvPr/>
        </p:nvCxnSpPr>
        <p:spPr>
          <a:xfrm flipH="1" flipV="1">
            <a:off x="4849118" y="3448062"/>
            <a:ext cx="223831" cy="130538"/>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0" name="Connector 529"/>
          <p:cNvCxnSpPr/>
          <p:nvPr/>
        </p:nvCxnSpPr>
        <p:spPr>
          <a:xfrm flipH="1" flipV="1">
            <a:off x="4407683" y="3349004"/>
            <a:ext cx="639666" cy="9664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531" name="Diamond 530"/>
          <p:cNvSpPr/>
          <p:nvPr/>
        </p:nvSpPr>
        <p:spPr>
          <a:xfrm>
            <a:off x="4965053" y="4233200"/>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2" name="Connector 53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533" name="Connector 532"/>
          <p:cNvCxnSpPr/>
          <p:nvPr/>
        </p:nvCxnSpPr>
        <p:spPr>
          <a:xfrm flipH="1" flipV="1">
            <a:off x="4407683" y="3349004"/>
            <a:ext cx="76736" cy="63419"/>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4" name="Connector 533"/>
          <p:cNvCxnSpPr/>
          <p:nvPr/>
        </p:nvCxnSpPr>
        <p:spPr>
          <a:xfrm flipV="1">
            <a:off x="4407683" y="3234833"/>
            <a:ext cx="35153" cy="114171"/>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5" name="Connector 534"/>
          <p:cNvCxnSpPr/>
          <p:nvPr/>
        </p:nvCxnSpPr>
        <p:spPr>
          <a:xfrm>
            <a:off x="3869319" y="3105553"/>
            <a:ext cx="353970" cy="10393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6" name="Connector 535"/>
          <p:cNvCxnSpPr/>
          <p:nvPr/>
        </p:nvCxnSpPr>
        <p:spPr>
          <a:xfrm>
            <a:off x="4223289" y="3209491"/>
            <a:ext cx="219547" cy="25342"/>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7" name="Connector 536"/>
          <p:cNvCxnSpPr/>
          <p:nvPr/>
        </p:nvCxnSpPr>
        <p:spPr>
          <a:xfrm>
            <a:off x="4442836" y="3234833"/>
            <a:ext cx="239629" cy="37995"/>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8" name="Connector 537"/>
          <p:cNvCxnSpPr/>
          <p:nvPr/>
        </p:nvCxnSpPr>
        <p:spPr>
          <a:xfrm flipV="1">
            <a:off x="4682465" y="3187480"/>
            <a:ext cx="406634" cy="8534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9" name="Connector 538"/>
          <p:cNvCxnSpPr/>
          <p:nvPr/>
        </p:nvCxnSpPr>
        <p:spPr>
          <a:xfrm>
            <a:off x="5089099" y="3187480"/>
            <a:ext cx="234267" cy="4764"/>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40" name="Connector 539"/>
          <p:cNvCxnSpPr/>
          <p:nvPr/>
        </p:nvCxnSpPr>
        <p:spPr>
          <a:xfrm flipV="1">
            <a:off x="4211966" y="3349004"/>
            <a:ext cx="195717" cy="366556"/>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1" name="Connector 540"/>
          <p:cNvCxnSpPr/>
          <p:nvPr/>
        </p:nvCxnSpPr>
        <p:spPr>
          <a:xfrm flipV="1">
            <a:off x="4407683" y="3234833"/>
            <a:ext cx="35153" cy="11417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2" name="Connector 541"/>
          <p:cNvCxnSpPr/>
          <p:nvPr/>
        </p:nvCxnSpPr>
        <p:spPr>
          <a:xfrm flipV="1">
            <a:off x="4442836" y="2771412"/>
            <a:ext cx="307542" cy="46342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3" name="Connector 542"/>
          <p:cNvCxnSpPr/>
          <p:nvPr/>
        </p:nvCxnSpPr>
        <p:spPr>
          <a:xfrm flipV="1">
            <a:off x="4750378" y="2350020"/>
            <a:ext cx="142270" cy="4213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544" name="Diamond 543"/>
          <p:cNvSpPr/>
          <p:nvPr/>
        </p:nvSpPr>
        <p:spPr>
          <a:xfrm>
            <a:off x="4402123" y="3330127"/>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Rectangle 544"/>
          <p:cNvSpPr/>
          <p:nvPr/>
        </p:nvSpPr>
        <p:spPr>
          <a:xfrm>
            <a:off x="507492" y="5966460"/>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TextBox 545"/>
          <p:cNvSpPr txBox="1"/>
          <p:nvPr/>
        </p:nvSpPr>
        <p:spPr>
          <a:xfrm>
            <a:off x="685800"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≤0.75</a:t>
            </a:r>
          </a:p>
        </p:txBody>
      </p:sp>
      <p:sp>
        <p:nvSpPr>
          <p:cNvPr id="547" name="Rectangle 546"/>
          <p:cNvSpPr/>
          <p:nvPr/>
        </p:nvSpPr>
        <p:spPr>
          <a:xfrm>
            <a:off x="1440180" y="5966460"/>
            <a:ext cx="100584" cy="100584"/>
          </a:xfrm>
          <a:prstGeom prst="rect">
            <a:avLst/>
          </a:prstGeom>
          <a:solidFill>
            <a:srgbClr val="37579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TextBox 547"/>
          <p:cNvSpPr txBox="1"/>
          <p:nvPr/>
        </p:nvSpPr>
        <p:spPr>
          <a:xfrm>
            <a:off x="1618488"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0.75–1.25</a:t>
            </a:r>
          </a:p>
        </p:txBody>
      </p:sp>
      <p:sp>
        <p:nvSpPr>
          <p:cNvPr id="549" name="Rectangle 548"/>
          <p:cNvSpPr/>
          <p:nvPr/>
        </p:nvSpPr>
        <p:spPr>
          <a:xfrm>
            <a:off x="2372868" y="5966460"/>
            <a:ext cx="100584" cy="100584"/>
          </a:xfrm>
          <a:prstGeom prst="rect">
            <a:avLst/>
          </a:prstGeom>
          <a:solidFill>
            <a:srgbClr val="728BBB"/>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TextBox 549"/>
          <p:cNvSpPr txBox="1"/>
          <p:nvPr/>
        </p:nvSpPr>
        <p:spPr>
          <a:xfrm>
            <a:off x="2551176"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1.25–1.75</a:t>
            </a:r>
          </a:p>
        </p:txBody>
      </p:sp>
      <p:sp>
        <p:nvSpPr>
          <p:cNvPr id="551" name="Rectangle 550"/>
          <p:cNvSpPr/>
          <p:nvPr/>
        </p:nvSpPr>
        <p:spPr>
          <a:xfrm>
            <a:off x="3305556" y="5966460"/>
            <a:ext cx="100584" cy="100584"/>
          </a:xfrm>
          <a:prstGeom prst="rect">
            <a:avLst/>
          </a:prstGeom>
          <a:solidFill>
            <a:srgbClr val="A9BDDC"/>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TextBox 551"/>
          <p:cNvSpPr txBox="1"/>
          <p:nvPr/>
        </p:nvSpPr>
        <p:spPr>
          <a:xfrm>
            <a:off x="3483864"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1.75–2.25</a:t>
            </a:r>
          </a:p>
        </p:txBody>
      </p:sp>
      <p:sp>
        <p:nvSpPr>
          <p:cNvPr id="553" name="Rectangle 552"/>
          <p:cNvSpPr/>
          <p:nvPr/>
        </p:nvSpPr>
        <p:spPr>
          <a:xfrm>
            <a:off x="4238244" y="5966460"/>
            <a:ext cx="100584" cy="100584"/>
          </a:xfrm>
          <a:prstGeom prst="rect">
            <a:avLst/>
          </a:prstGeom>
          <a:solidFill>
            <a:srgbClr val="DDE6F2"/>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TextBox 553"/>
          <p:cNvSpPr txBox="1"/>
          <p:nvPr/>
        </p:nvSpPr>
        <p:spPr>
          <a:xfrm>
            <a:off x="4416552"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&gt;2.25</a:t>
            </a:r>
          </a:p>
        </p:txBody>
      </p:sp>
      <p:sp>
        <p:nvSpPr>
          <p:cNvPr id="555" name="Rectangle 554"/>
          <p:cNvSpPr/>
          <p:nvPr/>
        </p:nvSpPr>
        <p:spPr>
          <a:xfrm>
            <a:off x="5253228" y="5966460"/>
            <a:ext cx="100584" cy="100584"/>
          </a:xfrm>
          <a:prstGeom prst="rect">
            <a:avLst/>
          </a:pr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TextBox 555"/>
          <p:cNvSpPr txBox="1"/>
          <p:nvPr/>
        </p:nvSpPr>
        <p:spPr>
          <a:xfrm>
            <a:off x="5431536" y="5888736"/>
            <a:ext cx="123444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Unassessed</a:t>
            </a:r>
          </a:p>
        </p:txBody>
      </p:sp>
      <p:sp>
        <p:nvSpPr>
          <p:cNvPr id="558" name="TextBox 557"/>
          <p:cNvSpPr txBox="1"/>
          <p:nvPr/>
        </p:nvSpPr>
        <p:spPr>
          <a:xfrm>
            <a:off x="457200" y="6153912"/>
            <a:ext cx="6446520" cy="192024"/>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Example rate: R0.15/L dispatch + R0.002/L/km. Grey = unassessed.</a:t>
            </a:r>
          </a:p>
        </p:txBody>
      </p:sp>
      <p:sp>
        <p:nvSpPr>
          <p:cNvPr id="559" name="TextBox 558"/>
          <p:cNvSpPr txBox="1"/>
          <p:nvPr/>
        </p:nvSpPr>
        <p:spPr>
          <a:xfrm>
            <a:off x="457200" y="6391656"/>
            <a:ext cx="653796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Illustrative road cost only. Pipeline/rail access and commercial rights are not priced.</a:t>
            </a:r>
          </a:p>
        </p:txBody>
      </p:sp>
      <p:sp>
        <p:nvSpPr>
          <p:cNvPr id="2521" name="Transnet lease overlay: Isosceles Triangle 2520"/>
          <p:cNvSpPr/>
          <p:nvPr/>
        </p:nvSpPr>
        <p:spPr>
          <a:xfrm>
            <a:off x="4748449" y="3924272"/>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22" name="Transnet lease overlay: Connector 2521"/>
          <p:cNvCxnSpPr/>
          <p:nvPr/>
        </p:nvCxnSpPr>
        <p:spPr>
          <a:xfrm>
            <a:off x="4785025" y="3960848"/>
            <a:ext cx="137160" cy="9144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523" name="Transnet lease overlay: TextBox 2522"/>
          <p:cNvSpPr txBox="1"/>
          <p:nvPr/>
        </p:nvSpPr>
        <p:spPr>
          <a:xfrm>
            <a:off x="4858177" y="398828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1</a:t>
            </a:r>
          </a:p>
        </p:txBody>
      </p:sp>
      <p:sp>
        <p:nvSpPr>
          <p:cNvPr id="2524" name="Transnet lease overlay: Isosceles Triangle 2523"/>
          <p:cNvSpPr/>
          <p:nvPr/>
        </p:nvSpPr>
        <p:spPr>
          <a:xfrm>
            <a:off x="4635581" y="3512195"/>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25" name="Transnet lease overlay: Connector 2524"/>
          <p:cNvCxnSpPr/>
          <p:nvPr/>
        </p:nvCxnSpPr>
        <p:spPr>
          <a:xfrm flipV="1">
            <a:off x="4672157" y="3503051"/>
            <a:ext cx="137160"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526" name="Transnet lease overlay: TextBox 2525"/>
          <p:cNvSpPr txBox="1"/>
          <p:nvPr/>
        </p:nvSpPr>
        <p:spPr>
          <a:xfrm>
            <a:off x="4745309" y="3439043"/>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2</a:t>
            </a:r>
          </a:p>
        </p:txBody>
      </p:sp>
      <p:sp>
        <p:nvSpPr>
          <p:cNvPr id="2527" name="Transnet lease overlay: Isosceles Triangle 2526"/>
          <p:cNvSpPr/>
          <p:nvPr/>
        </p:nvSpPr>
        <p:spPr>
          <a:xfrm>
            <a:off x="4174679" y="368561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28" name="Transnet lease overlay: Connector 2527"/>
          <p:cNvCxnSpPr/>
          <p:nvPr/>
        </p:nvCxnSpPr>
        <p:spPr>
          <a:xfrm flipH="1" flipV="1">
            <a:off x="3909503" y="3676466"/>
            <a:ext cx="301752"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529" name="Transnet lease overlay: TextBox 2528"/>
          <p:cNvSpPr txBox="1"/>
          <p:nvPr/>
        </p:nvSpPr>
        <p:spPr>
          <a:xfrm>
            <a:off x="3845495" y="3612458"/>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3</a:t>
            </a:r>
          </a:p>
        </p:txBody>
      </p:sp>
      <p:sp>
        <p:nvSpPr>
          <p:cNvPr id="2530" name="Transnet lease overlay: Isosceles Triangle 2529"/>
          <p:cNvSpPr/>
          <p:nvPr/>
        </p:nvSpPr>
        <p:spPr>
          <a:xfrm>
            <a:off x="4414479" y="3832751"/>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31" name="Transnet lease overlay: Connector 2530"/>
          <p:cNvCxnSpPr/>
          <p:nvPr/>
        </p:nvCxnSpPr>
        <p:spPr>
          <a:xfrm flipH="1">
            <a:off x="4377903" y="3869327"/>
            <a:ext cx="73152" cy="12801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532" name="Transnet lease overlay: TextBox 2531"/>
          <p:cNvSpPr txBox="1"/>
          <p:nvPr/>
        </p:nvSpPr>
        <p:spPr>
          <a:xfrm>
            <a:off x="4313895" y="3933335"/>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4</a:t>
            </a:r>
          </a:p>
        </p:txBody>
      </p:sp>
      <p:sp>
        <p:nvSpPr>
          <p:cNvPr id="2533" name="Transnet lease overlay: Isosceles Triangle 2532"/>
          <p:cNvSpPr/>
          <p:nvPr/>
        </p:nvSpPr>
        <p:spPr>
          <a:xfrm>
            <a:off x="4194803" y="3670658"/>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34" name="Transnet lease overlay: Connector 2533"/>
          <p:cNvCxnSpPr/>
          <p:nvPr/>
        </p:nvCxnSpPr>
        <p:spPr>
          <a:xfrm flipH="1" flipV="1">
            <a:off x="4094219" y="3624938"/>
            <a:ext cx="137160" cy="8229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535" name="Transnet lease overlay: TextBox 2534"/>
          <p:cNvSpPr txBox="1"/>
          <p:nvPr/>
        </p:nvSpPr>
        <p:spPr>
          <a:xfrm>
            <a:off x="4030211" y="356093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5</a:t>
            </a:r>
          </a:p>
        </p:txBody>
      </p:sp>
      <p:sp>
        <p:nvSpPr>
          <p:cNvPr id="2536" name="Transnet lease overlay: TextBox 2535"/>
          <p:cNvSpPr txBox="1"/>
          <p:nvPr/>
        </p:nvSpPr>
        <p:spPr>
          <a:xfrm>
            <a:off x="594360" y="3776472"/>
            <a:ext cx="2029968" cy="932688"/>
          </a:xfrm>
          <a:prstGeom prst="rect">
            <a:avLst/>
          </a:prstGeom>
          <a:solidFill>
            <a:srgbClr val="FFFFFF"/>
          </a:solidFill>
        </p:spPr>
        <p:txBody>
          <a:bodyPr wrap="square" lIns="22860" rIns="22860" tIns="0" bIns="0">
            <a:spAutoFit/>
          </a:bodyPr>
          <a:lstStyle/>
          <a:p>
            <a:pPr>
              <a:spcAft>
                <a:spcPts val="300"/>
              </a:spcAft>
              <a:defRPr sz="1100" b="1">
                <a:solidFill>
                  <a:srgbClr val="000000"/>
                </a:solidFill>
                <a:latin typeface="Lato"/>
              </a:defRPr>
            </a:pPr>
            <a:r>
              <a:t>   Transnet lease offers</a:t>
            </a:r>
          </a:p>
          <a:p>
            <a:pPr>
              <a:spcAft>
                <a:spcPts val="300"/>
              </a:spcAft>
              <a:defRPr sz="1100" b="1">
                <a:solidFill>
                  <a:srgbClr val="000000"/>
                </a:solidFill>
                <a:latin typeface="Lato"/>
              </a:defRPr>
            </a:pPr>
            <a:r>
              <a:t>1 Ladysmith | 2 Standerton</a:t>
            </a:r>
          </a:p>
          <a:p>
            <a:pPr>
              <a:spcAft>
                <a:spcPts val="300"/>
              </a:spcAft>
              <a:defRPr sz="1100" b="1">
                <a:solidFill>
                  <a:srgbClr val="000000"/>
                </a:solidFill>
                <a:latin typeface="Lato"/>
              </a:defRPr>
            </a:pPr>
            <a:r>
              <a:t>3 Kroonstad | 4 Bethlehem</a:t>
            </a:r>
          </a:p>
          <a:p>
            <a:pPr>
              <a:spcAft>
                <a:spcPts val="300"/>
              </a:spcAft>
              <a:defRPr sz="1100" b="1">
                <a:solidFill>
                  <a:srgbClr val="000000"/>
                </a:solidFill>
                <a:latin typeface="Lato"/>
              </a:defRPr>
            </a:pPr>
            <a:r>
              <a:t>5 Magdala*</a:t>
            </a:r>
          </a:p>
        </p:txBody>
      </p:sp>
      <p:sp>
        <p:nvSpPr>
          <p:cNvPr id="2537" name="Transnet lease overlay: Isosceles Triangle 2536"/>
          <p:cNvSpPr/>
          <p:nvPr/>
        </p:nvSpPr>
        <p:spPr>
          <a:xfrm>
            <a:off x="612647" y="3808476"/>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Separate demand, accessible volume and Vopak flows</a:t>
            </a:r>
          </a:p>
        </p:txBody>
      </p:sp>
      <p:sp>
        <p:nvSpPr>
          <p:cNvPr id="3" name="Slide Number Placeholder"/>
          <p:cNvSpPr>
            <a:spLocks noGrp="1"/>
          </p:cNvSpPr>
          <p:nvPr>
            <p:ph type="sldNum" sz="quarter" idx="12"/>
          </p:nvPr>
        </p:nvSpPr>
        <p:spPr/>
        <p:txBody>
          <a:bodyPr/>
          <a:lstStyle/>
          <a:p>
            <a:fld id="{85B775BA-8643-4C9E-8C12-5812EF8EBFE2}"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Illustrative CSVs and road transport rates; no actual Vopak throughput or quoted transport costs supplied.</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t>Illustrative road cost (R/litre) and market volumes</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800" b="1">
                <a:solidFill>
                  <a:srgbClr val="000000"/>
                </a:solidFill>
                <a:latin typeface="Lato"/>
              </a:defRPr>
            </a:pPr>
            <a:r>
              <a:t>Key takeaways</a:t>
            </a:r>
          </a:p>
        </p:txBody>
      </p: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424927" y="218541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National balance sets import needs</a:t>
            </a:r>
          </a:p>
        </p:txBody>
      </p:sp>
      <p:sp>
        <p:nvSpPr>
          <p:cNvPr id="15" name="TextBox 14"/>
          <p:cNvSpPr txBox="1"/>
          <p:nvPr/>
        </p:nvSpPr>
        <p:spPr>
          <a:xfrm>
            <a:off x="7424927" y="257860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Demand of 21.0 less domestic production of 7.0 gives required imports of 14.0 in this illustration.</a:t>
            </a:r>
          </a:p>
        </p:txBody>
      </p:sp>
      <p:sp>
        <p:nvSpPr>
          <p:cNvPr id="16" name="TextBox 15"/>
          <p:cNvSpPr txBox="1"/>
          <p:nvPr/>
        </p:nvSpPr>
        <p:spPr>
          <a:xfrm>
            <a:off x="7424927" y="319125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Count unique customer demand once</a:t>
            </a:r>
          </a:p>
        </p:txBody>
      </p:sp>
      <p:sp>
        <p:nvSpPr>
          <p:cNvPr id="17" name="TextBox 16"/>
          <p:cNvSpPr txBox="1"/>
          <p:nvPr/>
        </p:nvSpPr>
        <p:spPr>
          <a:xfrm>
            <a:off x="7424927" y="358444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Receipts of 2.8 at Durban and 2.0 at Lesedi include a shared 1.8 transfer. Unique demand served is 3.0.</a:t>
            </a:r>
          </a:p>
        </p:txBody>
      </p:sp>
      <p:sp>
        <p:nvSpPr>
          <p:cNvPr id="18" name="TextBox 17"/>
          <p:cNvSpPr txBox="1"/>
          <p:nvPr/>
        </p:nvSpPr>
        <p:spPr>
          <a:xfrm>
            <a:off x="7424927" y="419709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Candidate opportunity is conditional</a:t>
            </a:r>
          </a:p>
        </p:txBody>
      </p:sp>
      <p:sp>
        <p:nvSpPr>
          <p:cNvPr id="19" name="TextBox 18"/>
          <p:cNvSpPr txBox="1"/>
          <p:nvPr/>
        </p:nvSpPr>
        <p:spPr>
          <a:xfrm>
            <a:off x="7424927" y="459028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example commercial envelope is 8.5; current unique demand served is 3.0, leaving a candidate 5.5.</a:t>
            </a:r>
          </a:p>
        </p:txBody>
      </p:sp>
      <p:sp>
        <p:nvSpPr>
          <p:cNvPr id="20" name="TextBox 19"/>
          <p:cNvSpPr txBox="1"/>
          <p:nvPr/>
        </p:nvSpPr>
        <p:spPr>
          <a:xfrm>
            <a:off x="7424927" y="520293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04 · Replace examples with evidence</a:t>
            </a:r>
          </a:p>
        </p:txBody>
      </p:sp>
      <p:sp>
        <p:nvSpPr>
          <p:cNvPr id="21" name="TextBox 20"/>
          <p:cNvSpPr txBox="1"/>
          <p:nvPr/>
        </p:nvSpPr>
        <p:spPr>
          <a:xfrm>
            <a:off x="7424927" y="559612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Match regional demand, route constraints, customer flows and contracts by product, period and units.</a:t>
            </a:r>
          </a:p>
        </p:txBody>
      </p: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Illustrative delivered road transport cost class None; reference terminal None"/>
          <p:cNvSpPr/>
          <p:nvPr/>
        </p:nvSpPr>
        <p:spPr>
          <a:xfrm>
            <a:off x="1777332" y="4003253"/>
            <a:ext cx="23246" cy="51234"/>
          </a:xfrm>
          <a:custGeom>
            <a:avLst/>
            <a:gdLst/>
            <a:ahLst/>
            <a:cxnLst/>
            <a:rect l="l" t="t" r="r" b="b"/>
            <a:pathLst>
              <a:path w="23246" h="51234">
                <a:moveTo>
                  <a:pt x="23246" y="51234"/>
                </a:moveTo>
                <a:lnTo>
                  <a:pt x="7894" y="29876"/>
                </a:lnTo>
                <a:lnTo>
                  <a:pt x="0" y="24297"/>
                </a:lnTo>
                <a:lnTo>
                  <a:pt x="8068" y="12224"/>
                </a:lnTo>
                <a:lnTo>
                  <a:pt x="23246" y="0"/>
                </a:lnTo>
                <a:lnTo>
                  <a:pt x="23246" y="5123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Illustrative delivered road transport cost class None; reference terminal None"/>
          <p:cNvSpPr/>
          <p:nvPr/>
        </p:nvSpPr>
        <p:spPr>
          <a:xfrm>
            <a:off x="1843178" y="4113755"/>
            <a:ext cx="15086" cy="24460"/>
          </a:xfrm>
          <a:custGeom>
            <a:avLst/>
            <a:gdLst/>
            <a:ahLst/>
            <a:cxnLst/>
            <a:rect l="l" t="t" r="r" b="b"/>
            <a:pathLst>
              <a:path w="15086" h="24460">
                <a:moveTo>
                  <a:pt x="15086" y="0"/>
                </a:moveTo>
                <a:lnTo>
                  <a:pt x="15086" y="24460"/>
                </a:lnTo>
                <a:lnTo>
                  <a:pt x="6687" y="9302"/>
                </a:lnTo>
                <a:lnTo>
                  <a:pt x="0" y="0"/>
                </a:lnTo>
                <a:lnTo>
                  <a:pt x="150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Illustrative delivered road transport cost class 4; reference terminal Lesedi"/>
          <p:cNvSpPr/>
          <p:nvPr/>
        </p:nvSpPr>
        <p:spPr>
          <a:xfrm>
            <a:off x="1801714" y="4056068"/>
            <a:ext cx="56550" cy="57687"/>
          </a:xfrm>
          <a:custGeom>
            <a:avLst/>
            <a:gdLst/>
            <a:ahLst/>
            <a:cxnLst/>
            <a:rect l="l" t="t" r="r" b="b"/>
            <a:pathLst>
              <a:path w="56550" h="57687">
                <a:moveTo>
                  <a:pt x="56550" y="0"/>
                </a:moveTo>
                <a:lnTo>
                  <a:pt x="56550" y="57687"/>
                </a:lnTo>
                <a:lnTo>
                  <a:pt x="41464" y="57687"/>
                </a:lnTo>
                <a:lnTo>
                  <a:pt x="0" y="0"/>
                </a:lnTo>
                <a:lnTo>
                  <a:pt x="565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Illustrative delivered road transport cost class 4; reference terminal Lesedi"/>
          <p:cNvSpPr/>
          <p:nvPr/>
        </p:nvSpPr>
        <p:spPr>
          <a:xfrm>
            <a:off x="1800578" y="3998382"/>
            <a:ext cx="57686" cy="57686"/>
          </a:xfrm>
          <a:custGeom>
            <a:avLst/>
            <a:gdLst/>
            <a:ahLst/>
            <a:cxnLst/>
            <a:rect l="l" t="t" r="r" b="b"/>
            <a:pathLst>
              <a:path w="57686" h="57686">
                <a:moveTo>
                  <a:pt x="57686" y="0"/>
                </a:moveTo>
                <a:lnTo>
                  <a:pt x="57686" y="57686"/>
                </a:lnTo>
                <a:lnTo>
                  <a:pt x="1136" y="57686"/>
                </a:lnTo>
                <a:lnTo>
                  <a:pt x="0" y="56105"/>
                </a:lnTo>
                <a:lnTo>
                  <a:pt x="0" y="4871"/>
                </a:lnTo>
                <a:lnTo>
                  <a:pt x="6049"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Illustrative delivered road transport cost class 4; reference terminal Lesedi"/>
          <p:cNvSpPr/>
          <p:nvPr/>
        </p:nvSpPr>
        <p:spPr>
          <a:xfrm>
            <a:off x="1806627" y="3940695"/>
            <a:ext cx="51637" cy="57687"/>
          </a:xfrm>
          <a:custGeom>
            <a:avLst/>
            <a:gdLst/>
            <a:ahLst/>
            <a:cxnLst/>
            <a:rect l="l" t="t" r="r" b="b"/>
            <a:pathLst>
              <a:path w="51637" h="57687">
                <a:moveTo>
                  <a:pt x="51637" y="0"/>
                </a:moveTo>
                <a:lnTo>
                  <a:pt x="51637" y="57687"/>
                </a:lnTo>
                <a:lnTo>
                  <a:pt x="0" y="57687"/>
                </a:lnTo>
                <a:lnTo>
                  <a:pt x="8502" y="50839"/>
                </a:lnTo>
                <a:lnTo>
                  <a:pt x="22328" y="43972"/>
                </a:lnTo>
                <a:lnTo>
                  <a:pt x="30073" y="46140"/>
                </a:lnTo>
                <a:lnTo>
                  <a:pt x="37022" y="39661"/>
                </a:lnTo>
                <a:lnTo>
                  <a:pt x="43159" y="24487"/>
                </a:lnTo>
                <a:lnTo>
                  <a:pt x="43800" y="10598"/>
                </a:lnTo>
                <a:lnTo>
                  <a:pt x="44977" y="0"/>
                </a:lnTo>
                <a:lnTo>
                  <a:pt x="5163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Illustrative delivered road transport cost class None; reference terminal None"/>
          <p:cNvSpPr/>
          <p:nvPr/>
        </p:nvSpPr>
        <p:spPr>
          <a:xfrm>
            <a:off x="1851604" y="3920521"/>
            <a:ext cx="6660" cy="20174"/>
          </a:xfrm>
          <a:custGeom>
            <a:avLst/>
            <a:gdLst/>
            <a:ahLst/>
            <a:cxnLst/>
            <a:rect l="l" t="t" r="r" b="b"/>
            <a:pathLst>
              <a:path w="6660" h="20174">
                <a:moveTo>
                  <a:pt x="6660" y="20174"/>
                </a:moveTo>
                <a:lnTo>
                  <a:pt x="0" y="20174"/>
                </a:lnTo>
                <a:lnTo>
                  <a:pt x="1015" y="11032"/>
                </a:lnTo>
                <a:lnTo>
                  <a:pt x="6660" y="0"/>
                </a:lnTo>
                <a:lnTo>
                  <a:pt x="6660" y="2017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Illustrative delivered road transport cost class 4; reference terminal Lesedi"/>
          <p:cNvSpPr/>
          <p:nvPr/>
        </p:nvSpPr>
        <p:spPr>
          <a:xfrm>
            <a:off x="1907099" y="4229128"/>
            <a:ext cx="8852" cy="23653"/>
          </a:xfrm>
          <a:custGeom>
            <a:avLst/>
            <a:gdLst/>
            <a:ahLst/>
            <a:cxnLst/>
            <a:rect l="l" t="t" r="r" b="b"/>
            <a:pathLst>
              <a:path w="8852" h="23653">
                <a:moveTo>
                  <a:pt x="8852" y="0"/>
                </a:moveTo>
                <a:lnTo>
                  <a:pt x="8852" y="23653"/>
                </a:lnTo>
                <a:lnTo>
                  <a:pt x="0" y="0"/>
                </a:lnTo>
                <a:lnTo>
                  <a:pt x="885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Illustrative delivered road transport cost class 4; reference terminal Lesedi"/>
          <p:cNvSpPr/>
          <p:nvPr/>
        </p:nvSpPr>
        <p:spPr>
          <a:xfrm>
            <a:off x="1876677" y="4171441"/>
            <a:ext cx="39274" cy="57687"/>
          </a:xfrm>
          <a:custGeom>
            <a:avLst/>
            <a:gdLst/>
            <a:ahLst/>
            <a:cxnLst/>
            <a:rect l="l" t="t" r="r" b="b"/>
            <a:pathLst>
              <a:path w="39274" h="57687">
                <a:moveTo>
                  <a:pt x="39274" y="0"/>
                </a:moveTo>
                <a:lnTo>
                  <a:pt x="39274" y="57687"/>
                </a:lnTo>
                <a:lnTo>
                  <a:pt x="30422" y="57687"/>
                </a:lnTo>
                <a:lnTo>
                  <a:pt x="27208" y="49100"/>
                </a:lnTo>
                <a:lnTo>
                  <a:pt x="0" y="0"/>
                </a:lnTo>
                <a:lnTo>
                  <a:pt x="3927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Illustrative delivered road transport cost class 4; reference terminal Lesedi"/>
          <p:cNvSpPr/>
          <p:nvPr/>
        </p:nvSpPr>
        <p:spPr>
          <a:xfrm>
            <a:off x="1858264" y="4113755"/>
            <a:ext cx="57687" cy="57686"/>
          </a:xfrm>
          <a:custGeom>
            <a:avLst/>
            <a:gdLst/>
            <a:ahLst/>
            <a:cxnLst/>
            <a:rect l="l" t="t" r="r" b="b"/>
            <a:pathLst>
              <a:path w="57687" h="57686">
                <a:moveTo>
                  <a:pt x="0" y="0"/>
                </a:moveTo>
                <a:lnTo>
                  <a:pt x="57687" y="0"/>
                </a:lnTo>
                <a:lnTo>
                  <a:pt x="57687" y="57686"/>
                </a:lnTo>
                <a:lnTo>
                  <a:pt x="18413" y="57686"/>
                </a:lnTo>
                <a:lnTo>
                  <a:pt x="0" y="2446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Illustrative delivered road transport cost class 4; reference terminal Lesedi"/>
          <p:cNvSpPr/>
          <p:nvPr/>
        </p:nvSpPr>
        <p:spPr>
          <a:xfrm>
            <a:off x="185826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Illustrative delivered road transport cost class 4; reference terminal Lesedi"/>
          <p:cNvSpPr/>
          <p:nvPr/>
        </p:nvSpPr>
        <p:spPr>
          <a:xfrm>
            <a:off x="185826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Illustrative delivered road transport cost class 4; reference terminal Lesedi"/>
          <p:cNvSpPr/>
          <p:nvPr/>
        </p:nvSpPr>
        <p:spPr>
          <a:xfrm>
            <a:off x="185826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Illustrative delivered road transport cost class 4; reference terminal Lesedi"/>
          <p:cNvSpPr/>
          <p:nvPr/>
        </p:nvSpPr>
        <p:spPr>
          <a:xfrm>
            <a:off x="1858264" y="3883008"/>
            <a:ext cx="57687" cy="57687"/>
          </a:xfrm>
          <a:custGeom>
            <a:avLst/>
            <a:gdLst/>
            <a:ahLst/>
            <a:cxnLst/>
            <a:rect l="l" t="t" r="r" b="b"/>
            <a:pathLst>
              <a:path w="57687" h="57687">
                <a:moveTo>
                  <a:pt x="57687" y="0"/>
                </a:moveTo>
                <a:lnTo>
                  <a:pt x="57687" y="57687"/>
                </a:lnTo>
                <a:lnTo>
                  <a:pt x="0" y="57687"/>
                </a:lnTo>
                <a:lnTo>
                  <a:pt x="0" y="37513"/>
                </a:lnTo>
                <a:lnTo>
                  <a:pt x="567" y="36406"/>
                </a:lnTo>
                <a:lnTo>
                  <a:pt x="6687" y="12614"/>
                </a:lnTo>
                <a:lnTo>
                  <a:pt x="16351"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Illustrative delivered road transport cost class None; reference terminal None"/>
          <p:cNvSpPr/>
          <p:nvPr/>
        </p:nvSpPr>
        <p:spPr>
          <a:xfrm>
            <a:off x="1874615" y="3868101"/>
            <a:ext cx="41336" cy="14907"/>
          </a:xfrm>
          <a:custGeom>
            <a:avLst/>
            <a:gdLst/>
            <a:ahLst/>
            <a:cxnLst/>
            <a:rect l="l" t="t" r="r" b="b"/>
            <a:pathLst>
              <a:path w="41336" h="14907">
                <a:moveTo>
                  <a:pt x="41336" y="14907"/>
                </a:moveTo>
                <a:lnTo>
                  <a:pt x="0" y="14907"/>
                </a:lnTo>
                <a:lnTo>
                  <a:pt x="2436" y="11727"/>
                </a:lnTo>
                <a:lnTo>
                  <a:pt x="29562" y="0"/>
                </a:lnTo>
                <a:lnTo>
                  <a:pt x="41336" y="6282"/>
                </a:lnTo>
                <a:lnTo>
                  <a:pt x="41336" y="1490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Illustrative delivered road transport cost class 4; reference terminal Lesedi"/>
          <p:cNvSpPr/>
          <p:nvPr/>
        </p:nvSpPr>
        <p:spPr>
          <a:xfrm>
            <a:off x="1950278" y="4344501"/>
            <a:ext cx="23360" cy="57687"/>
          </a:xfrm>
          <a:custGeom>
            <a:avLst/>
            <a:gdLst/>
            <a:ahLst/>
            <a:cxnLst/>
            <a:rect l="l" t="t" r="r" b="b"/>
            <a:pathLst>
              <a:path w="23360" h="57687">
                <a:moveTo>
                  <a:pt x="23360" y="0"/>
                </a:moveTo>
                <a:lnTo>
                  <a:pt x="23360" y="57687"/>
                </a:lnTo>
                <a:lnTo>
                  <a:pt x="22322" y="57687"/>
                </a:lnTo>
                <a:lnTo>
                  <a:pt x="18894" y="50486"/>
                </a:lnTo>
                <a:lnTo>
                  <a:pt x="0" y="0"/>
                </a:lnTo>
                <a:lnTo>
                  <a:pt x="2336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Illustrative delivered road transport cost class 4; reference terminal Lesedi"/>
          <p:cNvSpPr/>
          <p:nvPr/>
        </p:nvSpPr>
        <p:spPr>
          <a:xfrm>
            <a:off x="1928688" y="4286814"/>
            <a:ext cx="44950" cy="57687"/>
          </a:xfrm>
          <a:custGeom>
            <a:avLst/>
            <a:gdLst/>
            <a:ahLst/>
            <a:cxnLst/>
            <a:rect l="l" t="t" r="r" b="b"/>
            <a:pathLst>
              <a:path w="44950" h="57687">
                <a:moveTo>
                  <a:pt x="44950" y="0"/>
                </a:moveTo>
                <a:lnTo>
                  <a:pt x="44950" y="57687"/>
                </a:lnTo>
                <a:lnTo>
                  <a:pt x="21590" y="57687"/>
                </a:lnTo>
                <a:lnTo>
                  <a:pt x="0" y="0"/>
                </a:lnTo>
                <a:lnTo>
                  <a:pt x="449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Illustrative delivered road transport cost class 4; reference terminal Lesedi"/>
          <p:cNvSpPr/>
          <p:nvPr/>
        </p:nvSpPr>
        <p:spPr>
          <a:xfrm>
            <a:off x="1915951" y="4229128"/>
            <a:ext cx="57687" cy="57686"/>
          </a:xfrm>
          <a:custGeom>
            <a:avLst/>
            <a:gdLst/>
            <a:ahLst/>
            <a:cxnLst/>
            <a:rect l="l" t="t" r="r" b="b"/>
            <a:pathLst>
              <a:path w="57687" h="57686">
                <a:moveTo>
                  <a:pt x="0" y="0"/>
                </a:moveTo>
                <a:lnTo>
                  <a:pt x="57687" y="0"/>
                </a:lnTo>
                <a:lnTo>
                  <a:pt x="57687" y="57686"/>
                </a:lnTo>
                <a:lnTo>
                  <a:pt x="12737" y="57686"/>
                </a:lnTo>
                <a:lnTo>
                  <a:pt x="0" y="236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Illustrative delivered road transport cost class 4; reference terminal Lesedi"/>
          <p:cNvSpPr/>
          <p:nvPr/>
        </p:nvSpPr>
        <p:spPr>
          <a:xfrm>
            <a:off x="191595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0" name="Illustrative delivered road transport cost class 4; reference terminal Lesedi"/>
          <p:cNvSpPr/>
          <p:nvPr/>
        </p:nvSpPr>
        <p:spPr>
          <a:xfrm>
            <a:off x="191595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1" name="Illustrative delivered road transport cost class 4; reference terminal Lesedi"/>
          <p:cNvSpPr/>
          <p:nvPr/>
        </p:nvSpPr>
        <p:spPr>
          <a:xfrm>
            <a:off x="191595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2" name="Illustrative delivered road transport cost class 4; reference terminal Lesedi"/>
          <p:cNvSpPr/>
          <p:nvPr/>
        </p:nvSpPr>
        <p:spPr>
          <a:xfrm>
            <a:off x="191595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3" name="Illustrative delivered road transport cost class 4; reference terminal Lesedi"/>
          <p:cNvSpPr/>
          <p:nvPr/>
        </p:nvSpPr>
        <p:spPr>
          <a:xfrm>
            <a:off x="191595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4" name="Illustrative delivered road transport cost class 4; reference terminal Lesedi"/>
          <p:cNvSpPr/>
          <p:nvPr/>
        </p:nvSpPr>
        <p:spPr>
          <a:xfrm>
            <a:off x="1915951" y="3883008"/>
            <a:ext cx="57687" cy="57687"/>
          </a:xfrm>
          <a:custGeom>
            <a:avLst/>
            <a:gdLst/>
            <a:ahLst/>
            <a:cxnLst/>
            <a:rect l="l" t="t" r="r" b="b"/>
            <a:pathLst>
              <a:path w="57687" h="57687">
                <a:moveTo>
                  <a:pt x="57687" y="57687"/>
                </a:moveTo>
                <a:lnTo>
                  <a:pt x="0" y="57687"/>
                </a:lnTo>
                <a:lnTo>
                  <a:pt x="0" y="0"/>
                </a:lnTo>
                <a:lnTo>
                  <a:pt x="12664" y="0"/>
                </a:lnTo>
                <a:lnTo>
                  <a:pt x="19786" y="9055"/>
                </a:lnTo>
                <a:lnTo>
                  <a:pt x="24519" y="25768"/>
                </a:lnTo>
                <a:lnTo>
                  <a:pt x="34346" y="33348"/>
                </a:lnTo>
                <a:lnTo>
                  <a:pt x="49248" y="31805"/>
                </a:lnTo>
                <a:lnTo>
                  <a:pt x="57687" y="39160"/>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Illustrative delivered road transport cost class 4; reference terminal Lesedi"/>
          <p:cNvSpPr/>
          <p:nvPr/>
        </p:nvSpPr>
        <p:spPr>
          <a:xfrm>
            <a:off x="1915951" y="3874383"/>
            <a:ext cx="12664" cy="8625"/>
          </a:xfrm>
          <a:custGeom>
            <a:avLst/>
            <a:gdLst/>
            <a:ahLst/>
            <a:cxnLst/>
            <a:rect l="l" t="t" r="r" b="b"/>
            <a:pathLst>
              <a:path w="12664" h="8625">
                <a:moveTo>
                  <a:pt x="0" y="8625"/>
                </a:moveTo>
                <a:lnTo>
                  <a:pt x="0" y="0"/>
                </a:lnTo>
                <a:lnTo>
                  <a:pt x="10130" y="5404"/>
                </a:lnTo>
                <a:lnTo>
                  <a:pt x="12664" y="8625"/>
                </a:lnTo>
                <a:lnTo>
                  <a:pt x="0" y="8625"/>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6" name="Illustrative delivered road transport cost class 4; reference terminal Lesedi"/>
          <p:cNvSpPr/>
          <p:nvPr/>
        </p:nvSpPr>
        <p:spPr>
          <a:xfrm>
            <a:off x="2000058" y="4459874"/>
            <a:ext cx="31266" cy="57683"/>
          </a:xfrm>
          <a:custGeom>
            <a:avLst/>
            <a:gdLst/>
            <a:ahLst/>
            <a:cxnLst/>
            <a:rect l="l" t="t" r="r" b="b"/>
            <a:pathLst>
              <a:path w="31266" h="57683">
                <a:moveTo>
                  <a:pt x="31266" y="0"/>
                </a:moveTo>
                <a:lnTo>
                  <a:pt x="31266" y="57683"/>
                </a:lnTo>
                <a:lnTo>
                  <a:pt x="10000" y="21010"/>
                </a:lnTo>
                <a:lnTo>
                  <a:pt x="0" y="0"/>
                </a:lnTo>
                <a:lnTo>
                  <a:pt x="312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Illustrative delivered road transport cost class 4; reference terminal Lesedi"/>
          <p:cNvSpPr/>
          <p:nvPr/>
        </p:nvSpPr>
        <p:spPr>
          <a:xfrm>
            <a:off x="1973638" y="4402188"/>
            <a:ext cx="57686" cy="57686"/>
          </a:xfrm>
          <a:custGeom>
            <a:avLst/>
            <a:gdLst/>
            <a:ahLst/>
            <a:cxnLst/>
            <a:rect l="l" t="t" r="r" b="b"/>
            <a:pathLst>
              <a:path w="57686" h="57686">
                <a:moveTo>
                  <a:pt x="0" y="0"/>
                </a:moveTo>
                <a:lnTo>
                  <a:pt x="57686" y="0"/>
                </a:lnTo>
                <a:lnTo>
                  <a:pt x="57686" y="57686"/>
                </a:lnTo>
                <a:lnTo>
                  <a:pt x="26420" y="57686"/>
                </a:lnTo>
                <a:lnTo>
                  <a:pt x="0" y="218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8" name="Illustrative delivered road transport cost class 4; reference terminal Lesedi"/>
          <p:cNvSpPr/>
          <p:nvPr/>
        </p:nvSpPr>
        <p:spPr>
          <a:xfrm>
            <a:off x="197363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9" name="Illustrative delivered road transport cost class 4; reference terminal Lesedi"/>
          <p:cNvSpPr/>
          <p:nvPr/>
        </p:nvSpPr>
        <p:spPr>
          <a:xfrm>
            <a:off x="197363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0" name="Illustrative delivered road transport cost class 4; reference terminal Lesedi"/>
          <p:cNvSpPr/>
          <p:nvPr/>
        </p:nvSpPr>
        <p:spPr>
          <a:xfrm>
            <a:off x="197363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Illustrative delivered road transport cost class 4; reference terminal Lesedi"/>
          <p:cNvSpPr/>
          <p:nvPr/>
        </p:nvSpPr>
        <p:spPr>
          <a:xfrm>
            <a:off x="197363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2" name="Illustrative delivered road transport cost class 4; reference terminal Lesedi"/>
          <p:cNvSpPr/>
          <p:nvPr/>
        </p:nvSpPr>
        <p:spPr>
          <a:xfrm>
            <a:off x="197363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3" name="Illustrative delivered road transport cost class 4; reference terminal Lesedi"/>
          <p:cNvSpPr/>
          <p:nvPr/>
        </p:nvSpPr>
        <p:spPr>
          <a:xfrm>
            <a:off x="197363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4" name="Illustrative delivered road transport cost class 4; reference terminal Lesedi"/>
          <p:cNvSpPr/>
          <p:nvPr/>
        </p:nvSpPr>
        <p:spPr>
          <a:xfrm>
            <a:off x="1973638" y="3998382"/>
            <a:ext cx="57686" cy="57686"/>
          </a:xfrm>
          <a:custGeom>
            <a:avLst/>
            <a:gdLst/>
            <a:ahLst/>
            <a:cxnLst/>
            <a:rect l="l" t="t" r="r" b="b"/>
            <a:pathLst>
              <a:path w="57686" h="57686">
                <a:moveTo>
                  <a:pt x="57686" y="57686"/>
                </a:moveTo>
                <a:lnTo>
                  <a:pt x="0" y="57686"/>
                </a:lnTo>
                <a:lnTo>
                  <a:pt x="0" y="0"/>
                </a:lnTo>
                <a:lnTo>
                  <a:pt x="15412" y="0"/>
                </a:lnTo>
                <a:lnTo>
                  <a:pt x="15901" y="621"/>
                </a:lnTo>
                <a:lnTo>
                  <a:pt x="21308" y="15265"/>
                </a:lnTo>
                <a:lnTo>
                  <a:pt x="29800" y="34501"/>
                </a:lnTo>
                <a:lnTo>
                  <a:pt x="57686" y="41064"/>
                </a:lnTo>
                <a:lnTo>
                  <a:pt x="57686"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5" name="Illustrative delivered road transport cost class 4; reference terminal Lesedi"/>
          <p:cNvSpPr/>
          <p:nvPr/>
        </p:nvSpPr>
        <p:spPr>
          <a:xfrm>
            <a:off x="1973638" y="3940695"/>
            <a:ext cx="15412" cy="57687"/>
          </a:xfrm>
          <a:custGeom>
            <a:avLst/>
            <a:gdLst/>
            <a:ahLst/>
            <a:cxnLst/>
            <a:rect l="l" t="t" r="r" b="b"/>
            <a:pathLst>
              <a:path w="15412" h="57687">
                <a:moveTo>
                  <a:pt x="0" y="57687"/>
                </a:moveTo>
                <a:lnTo>
                  <a:pt x="0" y="0"/>
                </a:lnTo>
                <a:lnTo>
                  <a:pt x="8474" y="0"/>
                </a:lnTo>
                <a:lnTo>
                  <a:pt x="10213" y="4904"/>
                </a:lnTo>
                <a:lnTo>
                  <a:pt x="9967" y="20511"/>
                </a:lnTo>
                <a:lnTo>
                  <a:pt x="2091" y="30693"/>
                </a:lnTo>
                <a:lnTo>
                  <a:pt x="4087" y="43274"/>
                </a:lnTo>
                <a:lnTo>
                  <a:pt x="15412"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6" name="Illustrative delivered road transport cost class 4; reference terminal Lesedi"/>
          <p:cNvSpPr/>
          <p:nvPr/>
        </p:nvSpPr>
        <p:spPr>
          <a:xfrm>
            <a:off x="1973638" y="3922168"/>
            <a:ext cx="8474" cy="18527"/>
          </a:xfrm>
          <a:custGeom>
            <a:avLst/>
            <a:gdLst/>
            <a:ahLst/>
            <a:cxnLst/>
            <a:rect l="l" t="t" r="r" b="b"/>
            <a:pathLst>
              <a:path w="8474" h="18527">
                <a:moveTo>
                  <a:pt x="0" y="18527"/>
                </a:moveTo>
                <a:lnTo>
                  <a:pt x="0" y="0"/>
                </a:lnTo>
                <a:lnTo>
                  <a:pt x="2756" y="2402"/>
                </a:lnTo>
                <a:lnTo>
                  <a:pt x="8474" y="18527"/>
                </a:lnTo>
                <a:lnTo>
                  <a:pt x="0" y="185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7" name="Illustrative delivered road transport cost class 4; reference terminal Lesedi"/>
          <p:cNvSpPr/>
          <p:nvPr/>
        </p:nvSpPr>
        <p:spPr>
          <a:xfrm>
            <a:off x="2064777" y="4575247"/>
            <a:ext cx="24234" cy="41791"/>
          </a:xfrm>
          <a:custGeom>
            <a:avLst/>
            <a:gdLst/>
            <a:ahLst/>
            <a:cxnLst/>
            <a:rect l="l" t="t" r="r" b="b"/>
            <a:pathLst>
              <a:path w="24234" h="41791">
                <a:moveTo>
                  <a:pt x="24234" y="0"/>
                </a:moveTo>
                <a:lnTo>
                  <a:pt x="24234" y="41791"/>
                </a:lnTo>
                <a:lnTo>
                  <a:pt x="0" y="0"/>
                </a:lnTo>
                <a:lnTo>
                  <a:pt x="242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8" name="Illustrative delivered road transport cost class 4; reference terminal Lesedi"/>
          <p:cNvSpPr/>
          <p:nvPr/>
        </p:nvSpPr>
        <p:spPr>
          <a:xfrm>
            <a:off x="2031326" y="4517561"/>
            <a:ext cx="57685" cy="57686"/>
          </a:xfrm>
          <a:custGeom>
            <a:avLst/>
            <a:gdLst/>
            <a:ahLst/>
            <a:cxnLst/>
            <a:rect l="l" t="t" r="r" b="b"/>
            <a:pathLst>
              <a:path w="57685" h="57686">
                <a:moveTo>
                  <a:pt x="57685" y="0"/>
                </a:moveTo>
                <a:lnTo>
                  <a:pt x="57685" y="57686"/>
                </a:lnTo>
                <a:lnTo>
                  <a:pt x="33451" y="57686"/>
                </a:lnTo>
                <a:lnTo>
                  <a:pt x="0" y="0"/>
                </a:lnTo>
                <a:lnTo>
                  <a:pt x="5768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9" name="Illustrative delivered road transport cost class 4; reference terminal Lesedi"/>
          <p:cNvSpPr/>
          <p:nvPr/>
        </p:nvSpPr>
        <p:spPr>
          <a:xfrm>
            <a:off x="2031324" y="4459874"/>
            <a:ext cx="57687" cy="57687"/>
          </a:xfrm>
          <a:custGeom>
            <a:avLst/>
            <a:gdLst/>
            <a:ahLst/>
            <a:cxnLst/>
            <a:rect l="l" t="t" r="r" b="b"/>
            <a:pathLst>
              <a:path w="57687" h="57687">
                <a:moveTo>
                  <a:pt x="0" y="0"/>
                </a:moveTo>
                <a:lnTo>
                  <a:pt x="57687" y="0"/>
                </a:lnTo>
                <a:lnTo>
                  <a:pt x="57687" y="57687"/>
                </a:lnTo>
                <a:lnTo>
                  <a:pt x="2" y="57687"/>
                </a:lnTo>
                <a:lnTo>
                  <a:pt x="0" y="5768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0" name="Illustrative delivered road transport cost class 4; reference terminal Lesedi"/>
          <p:cNvSpPr/>
          <p:nvPr/>
        </p:nvSpPr>
        <p:spPr>
          <a:xfrm>
            <a:off x="203132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1" name="Illustrative delivered road transport cost class 4; reference terminal Lesedi"/>
          <p:cNvSpPr/>
          <p:nvPr/>
        </p:nvSpPr>
        <p:spPr>
          <a:xfrm>
            <a:off x="203132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2" name="Illustrative delivered road transport cost class 4; reference terminal Lesedi"/>
          <p:cNvSpPr/>
          <p:nvPr/>
        </p:nvSpPr>
        <p:spPr>
          <a:xfrm>
            <a:off x="203132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3" name="Illustrative delivered road transport cost class 4; reference terminal Lesedi"/>
          <p:cNvSpPr/>
          <p:nvPr/>
        </p:nvSpPr>
        <p:spPr>
          <a:xfrm>
            <a:off x="203132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4" name="Illustrative delivered road transport cost class 4; reference terminal Lesedi"/>
          <p:cNvSpPr/>
          <p:nvPr/>
        </p:nvSpPr>
        <p:spPr>
          <a:xfrm>
            <a:off x="203132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5" name="Illustrative delivered road transport cost class 4; reference terminal Lesedi"/>
          <p:cNvSpPr/>
          <p:nvPr/>
        </p:nvSpPr>
        <p:spPr>
          <a:xfrm>
            <a:off x="203132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6" name="Illustrative delivered road transport cost class 4; reference terminal Lesedi"/>
          <p:cNvSpPr/>
          <p:nvPr/>
        </p:nvSpPr>
        <p:spPr>
          <a:xfrm>
            <a:off x="203132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7" name="Illustrative delivered road transport cost class 4; reference terminal Lesedi"/>
          <p:cNvSpPr/>
          <p:nvPr/>
        </p:nvSpPr>
        <p:spPr>
          <a:xfrm>
            <a:off x="2031324" y="4039446"/>
            <a:ext cx="57687" cy="16622"/>
          </a:xfrm>
          <a:custGeom>
            <a:avLst/>
            <a:gdLst/>
            <a:ahLst/>
            <a:cxnLst/>
            <a:rect l="l" t="t" r="r" b="b"/>
            <a:pathLst>
              <a:path w="57687" h="16622">
                <a:moveTo>
                  <a:pt x="57687" y="16622"/>
                </a:moveTo>
                <a:lnTo>
                  <a:pt x="0" y="16622"/>
                </a:lnTo>
                <a:lnTo>
                  <a:pt x="0" y="0"/>
                </a:lnTo>
                <a:lnTo>
                  <a:pt x="10762" y="2533"/>
                </a:lnTo>
                <a:lnTo>
                  <a:pt x="29693" y="7851"/>
                </a:lnTo>
                <a:lnTo>
                  <a:pt x="57687" y="8068"/>
                </a:lnTo>
                <a:lnTo>
                  <a:pt x="57687" y="16622"/>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8" name="Illustrative delivered road transport cost class 4; reference terminal Lesedi"/>
          <p:cNvSpPr/>
          <p:nvPr/>
        </p:nvSpPr>
        <p:spPr>
          <a:xfrm>
            <a:off x="2140180" y="4690620"/>
            <a:ext cx="6517" cy="9236"/>
          </a:xfrm>
          <a:custGeom>
            <a:avLst/>
            <a:gdLst/>
            <a:ahLst/>
            <a:cxnLst/>
            <a:rect l="l" t="t" r="r" b="b"/>
            <a:pathLst>
              <a:path w="6517" h="9236">
                <a:moveTo>
                  <a:pt x="6517" y="0"/>
                </a:moveTo>
                <a:lnTo>
                  <a:pt x="6517" y="9236"/>
                </a:lnTo>
                <a:lnTo>
                  <a:pt x="0" y="0"/>
                </a:lnTo>
                <a:lnTo>
                  <a:pt x="651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9" name="Illustrative delivered road transport cost class 4; reference terminal Lesedi"/>
          <p:cNvSpPr/>
          <p:nvPr/>
        </p:nvSpPr>
        <p:spPr>
          <a:xfrm>
            <a:off x="2099475" y="4632934"/>
            <a:ext cx="47222" cy="57686"/>
          </a:xfrm>
          <a:custGeom>
            <a:avLst/>
            <a:gdLst/>
            <a:ahLst/>
            <a:cxnLst/>
            <a:rect l="l" t="t" r="r" b="b"/>
            <a:pathLst>
              <a:path w="47222" h="57686">
                <a:moveTo>
                  <a:pt x="47222" y="0"/>
                </a:moveTo>
                <a:lnTo>
                  <a:pt x="47222" y="57686"/>
                </a:lnTo>
                <a:lnTo>
                  <a:pt x="40705" y="57686"/>
                </a:lnTo>
                <a:lnTo>
                  <a:pt x="0" y="0"/>
                </a:lnTo>
                <a:lnTo>
                  <a:pt x="4722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0" name="Illustrative delivered road transport cost class 4; reference terminal Lesedi"/>
          <p:cNvSpPr/>
          <p:nvPr/>
        </p:nvSpPr>
        <p:spPr>
          <a:xfrm>
            <a:off x="2089011" y="4575247"/>
            <a:ext cx="57686" cy="57687"/>
          </a:xfrm>
          <a:custGeom>
            <a:avLst/>
            <a:gdLst/>
            <a:ahLst/>
            <a:cxnLst/>
            <a:rect l="l" t="t" r="r" b="b"/>
            <a:pathLst>
              <a:path w="57686" h="57687">
                <a:moveTo>
                  <a:pt x="0" y="0"/>
                </a:moveTo>
                <a:lnTo>
                  <a:pt x="57686" y="0"/>
                </a:lnTo>
                <a:lnTo>
                  <a:pt x="57686" y="57687"/>
                </a:lnTo>
                <a:lnTo>
                  <a:pt x="10464" y="57687"/>
                </a:lnTo>
                <a:lnTo>
                  <a:pt x="3467" y="47770"/>
                </a:lnTo>
                <a:lnTo>
                  <a:pt x="0" y="4179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1" name="Illustrative delivered road transport cost class 4; reference terminal Lesedi"/>
          <p:cNvSpPr/>
          <p:nvPr/>
        </p:nvSpPr>
        <p:spPr>
          <a:xfrm>
            <a:off x="208901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2" name="Illustrative delivered road transport cost class 4; reference terminal Lesedi"/>
          <p:cNvSpPr/>
          <p:nvPr/>
        </p:nvSpPr>
        <p:spPr>
          <a:xfrm>
            <a:off x="208901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3" name="Illustrative delivered road transport cost class 4; reference terminal Lesedi"/>
          <p:cNvSpPr/>
          <p:nvPr/>
        </p:nvSpPr>
        <p:spPr>
          <a:xfrm>
            <a:off x="208901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4" name="Illustrative delivered road transport cost class 4; reference terminal Lesedi"/>
          <p:cNvSpPr/>
          <p:nvPr/>
        </p:nvSpPr>
        <p:spPr>
          <a:xfrm>
            <a:off x="208901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5" name="Illustrative delivered road transport cost class 4; reference terminal Lesedi"/>
          <p:cNvSpPr/>
          <p:nvPr/>
        </p:nvSpPr>
        <p:spPr>
          <a:xfrm>
            <a:off x="208901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6" name="Illustrative delivered road transport cost class 4; reference terminal Lesedi"/>
          <p:cNvSpPr/>
          <p:nvPr/>
        </p:nvSpPr>
        <p:spPr>
          <a:xfrm>
            <a:off x="208901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7" name="Illustrative delivered road transport cost class 4; reference terminal Lesedi"/>
          <p:cNvSpPr/>
          <p:nvPr/>
        </p:nvSpPr>
        <p:spPr>
          <a:xfrm>
            <a:off x="208901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8" name="Illustrative delivered road transport cost class 4; reference terminal Lesedi"/>
          <p:cNvSpPr/>
          <p:nvPr/>
        </p:nvSpPr>
        <p:spPr>
          <a:xfrm>
            <a:off x="208901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9" name="Illustrative delivered road transport cost class 4; reference terminal Lesedi"/>
          <p:cNvSpPr/>
          <p:nvPr/>
        </p:nvSpPr>
        <p:spPr>
          <a:xfrm>
            <a:off x="2089011" y="4056068"/>
            <a:ext cx="57686" cy="57687"/>
          </a:xfrm>
          <a:custGeom>
            <a:avLst/>
            <a:gdLst/>
            <a:ahLst/>
            <a:cxnLst/>
            <a:rect l="l" t="t" r="r" b="b"/>
            <a:pathLst>
              <a:path w="57686" h="57687">
                <a:moveTo>
                  <a:pt x="57686" y="57687"/>
                </a:moveTo>
                <a:lnTo>
                  <a:pt x="0" y="57687"/>
                </a:lnTo>
                <a:lnTo>
                  <a:pt x="0" y="0"/>
                </a:lnTo>
                <a:lnTo>
                  <a:pt x="38095" y="0"/>
                </a:lnTo>
                <a:lnTo>
                  <a:pt x="57686" y="9190"/>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0" name="Illustrative delivered road transport cost class 4; reference terminal Lesedi"/>
          <p:cNvSpPr/>
          <p:nvPr/>
        </p:nvSpPr>
        <p:spPr>
          <a:xfrm>
            <a:off x="2089011" y="4047514"/>
            <a:ext cx="38095" cy="8554"/>
          </a:xfrm>
          <a:custGeom>
            <a:avLst/>
            <a:gdLst/>
            <a:ahLst/>
            <a:cxnLst/>
            <a:rect l="l" t="t" r="r" b="b"/>
            <a:pathLst>
              <a:path w="38095" h="8554">
                <a:moveTo>
                  <a:pt x="0" y="8554"/>
                </a:moveTo>
                <a:lnTo>
                  <a:pt x="0" y="0"/>
                </a:lnTo>
                <a:lnTo>
                  <a:pt x="4092" y="32"/>
                </a:lnTo>
                <a:lnTo>
                  <a:pt x="34812" y="7014"/>
                </a:lnTo>
                <a:lnTo>
                  <a:pt x="38095" y="8554"/>
                </a:lnTo>
                <a:lnTo>
                  <a:pt x="0" y="855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1" name="Illustrative delivered road transport cost class 4; reference terminal Lesedi"/>
          <p:cNvSpPr/>
          <p:nvPr/>
        </p:nvSpPr>
        <p:spPr>
          <a:xfrm>
            <a:off x="2192258" y="5152113"/>
            <a:ext cx="12126" cy="17590"/>
          </a:xfrm>
          <a:custGeom>
            <a:avLst/>
            <a:gdLst/>
            <a:ahLst/>
            <a:cxnLst/>
            <a:rect l="l" t="t" r="r" b="b"/>
            <a:pathLst>
              <a:path w="12126" h="17590">
                <a:moveTo>
                  <a:pt x="12126" y="0"/>
                </a:moveTo>
                <a:lnTo>
                  <a:pt x="12126" y="17590"/>
                </a:lnTo>
                <a:lnTo>
                  <a:pt x="4095" y="11974"/>
                </a:lnTo>
                <a:lnTo>
                  <a:pt x="0" y="0"/>
                </a:lnTo>
                <a:lnTo>
                  <a:pt x="1212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2" name="Illustrative delivered road transport cost class 4; reference terminal Lesedi"/>
          <p:cNvSpPr/>
          <p:nvPr/>
        </p:nvSpPr>
        <p:spPr>
          <a:xfrm>
            <a:off x="2163229" y="5094426"/>
            <a:ext cx="41155" cy="57687"/>
          </a:xfrm>
          <a:custGeom>
            <a:avLst/>
            <a:gdLst/>
            <a:ahLst/>
            <a:cxnLst/>
            <a:rect l="l" t="t" r="r" b="b"/>
            <a:pathLst>
              <a:path w="41155" h="57687">
                <a:moveTo>
                  <a:pt x="41155" y="0"/>
                </a:moveTo>
                <a:lnTo>
                  <a:pt x="41155" y="57687"/>
                </a:lnTo>
                <a:lnTo>
                  <a:pt x="29029" y="57687"/>
                </a:lnTo>
                <a:lnTo>
                  <a:pt x="24017" y="43031"/>
                </a:lnTo>
                <a:lnTo>
                  <a:pt x="5354" y="22405"/>
                </a:lnTo>
                <a:lnTo>
                  <a:pt x="0" y="0"/>
                </a:lnTo>
                <a:lnTo>
                  <a:pt x="4115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3" name="Illustrative delivered road transport cost class 4; reference terminal Lesedi"/>
          <p:cNvSpPr/>
          <p:nvPr/>
        </p:nvSpPr>
        <p:spPr>
          <a:xfrm>
            <a:off x="2160481" y="5051030"/>
            <a:ext cx="43903" cy="43396"/>
          </a:xfrm>
          <a:custGeom>
            <a:avLst/>
            <a:gdLst/>
            <a:ahLst/>
            <a:cxnLst/>
            <a:rect l="l" t="t" r="r" b="b"/>
            <a:pathLst>
              <a:path w="43903" h="43396">
                <a:moveTo>
                  <a:pt x="43903" y="43396"/>
                </a:moveTo>
                <a:lnTo>
                  <a:pt x="2748" y="43396"/>
                </a:lnTo>
                <a:lnTo>
                  <a:pt x="0" y="31896"/>
                </a:lnTo>
                <a:lnTo>
                  <a:pt x="8243" y="11636"/>
                </a:lnTo>
                <a:lnTo>
                  <a:pt x="22628" y="0"/>
                </a:lnTo>
                <a:lnTo>
                  <a:pt x="39098" y="16063"/>
                </a:lnTo>
                <a:lnTo>
                  <a:pt x="43903" y="14057"/>
                </a:lnTo>
                <a:lnTo>
                  <a:pt x="43903" y="433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4" name="Illustrative delivered road transport cost class 4; reference terminal Lesedi"/>
          <p:cNvSpPr/>
          <p:nvPr/>
        </p:nvSpPr>
        <p:spPr>
          <a:xfrm>
            <a:off x="2184391" y="4748307"/>
            <a:ext cx="19993" cy="24875"/>
          </a:xfrm>
          <a:custGeom>
            <a:avLst/>
            <a:gdLst/>
            <a:ahLst/>
            <a:cxnLst/>
            <a:rect l="l" t="t" r="r" b="b"/>
            <a:pathLst>
              <a:path w="19993" h="24875">
                <a:moveTo>
                  <a:pt x="19993" y="0"/>
                </a:moveTo>
                <a:lnTo>
                  <a:pt x="19993" y="24875"/>
                </a:lnTo>
                <a:lnTo>
                  <a:pt x="0" y="0"/>
                </a:lnTo>
                <a:lnTo>
                  <a:pt x="1999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5" name="Illustrative delivered road transport cost class 4; reference terminal Lesedi"/>
          <p:cNvSpPr/>
          <p:nvPr/>
        </p:nvSpPr>
        <p:spPr>
          <a:xfrm>
            <a:off x="2146697" y="4690620"/>
            <a:ext cx="57687" cy="57687"/>
          </a:xfrm>
          <a:custGeom>
            <a:avLst/>
            <a:gdLst/>
            <a:ahLst/>
            <a:cxnLst/>
            <a:rect l="l" t="t" r="r" b="b"/>
            <a:pathLst>
              <a:path w="57687" h="57687">
                <a:moveTo>
                  <a:pt x="0" y="0"/>
                </a:moveTo>
                <a:lnTo>
                  <a:pt x="57687" y="0"/>
                </a:lnTo>
                <a:lnTo>
                  <a:pt x="57687" y="57687"/>
                </a:lnTo>
                <a:lnTo>
                  <a:pt x="37694" y="57687"/>
                </a:lnTo>
                <a:lnTo>
                  <a:pt x="8976" y="21957"/>
                </a:lnTo>
                <a:lnTo>
                  <a:pt x="0" y="92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6" name="Illustrative delivered road transport cost class 4; reference terminal Lesedi"/>
          <p:cNvSpPr/>
          <p:nvPr/>
        </p:nvSpPr>
        <p:spPr>
          <a:xfrm>
            <a:off x="214669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7" name="Illustrative delivered road transport cost class 4; reference terminal Lesedi"/>
          <p:cNvSpPr/>
          <p:nvPr/>
        </p:nvSpPr>
        <p:spPr>
          <a:xfrm>
            <a:off x="214669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8" name="Illustrative delivered road transport cost class 4; reference terminal Lesedi"/>
          <p:cNvSpPr/>
          <p:nvPr/>
        </p:nvSpPr>
        <p:spPr>
          <a:xfrm>
            <a:off x="214669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9" name="Illustrative delivered road transport cost class 4; reference terminal Lesedi"/>
          <p:cNvSpPr/>
          <p:nvPr/>
        </p:nvSpPr>
        <p:spPr>
          <a:xfrm>
            <a:off x="214669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0" name="Illustrative delivered road transport cost class 4; reference terminal Lesedi"/>
          <p:cNvSpPr/>
          <p:nvPr/>
        </p:nvSpPr>
        <p:spPr>
          <a:xfrm>
            <a:off x="214669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1" name="Illustrative delivered road transport cost class 4; reference terminal Lesedi"/>
          <p:cNvSpPr/>
          <p:nvPr/>
        </p:nvSpPr>
        <p:spPr>
          <a:xfrm>
            <a:off x="214669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2" name="Illustrative delivered road transport cost class 4; reference terminal Lesedi"/>
          <p:cNvSpPr/>
          <p:nvPr/>
        </p:nvSpPr>
        <p:spPr>
          <a:xfrm>
            <a:off x="214669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3" name="Illustrative delivered road transport cost class 4; reference terminal Lesedi"/>
          <p:cNvSpPr/>
          <p:nvPr/>
        </p:nvSpPr>
        <p:spPr>
          <a:xfrm>
            <a:off x="214669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4" name="Illustrative delivered road transport cost class 4; reference terminal Lesedi"/>
          <p:cNvSpPr/>
          <p:nvPr/>
        </p:nvSpPr>
        <p:spPr>
          <a:xfrm>
            <a:off x="214669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5" name="Illustrative delivered road transport cost class 4; reference terminal Lesedi"/>
          <p:cNvSpPr/>
          <p:nvPr/>
        </p:nvSpPr>
        <p:spPr>
          <a:xfrm>
            <a:off x="214669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6" name="Illustrative delivered road transport cost class 4; reference terminal Lesedi"/>
          <p:cNvSpPr/>
          <p:nvPr/>
        </p:nvSpPr>
        <p:spPr>
          <a:xfrm>
            <a:off x="2146697" y="4065258"/>
            <a:ext cx="57687" cy="48497"/>
          </a:xfrm>
          <a:custGeom>
            <a:avLst/>
            <a:gdLst/>
            <a:ahLst/>
            <a:cxnLst/>
            <a:rect l="l" t="t" r="r" b="b"/>
            <a:pathLst>
              <a:path w="57687" h="48497">
                <a:moveTo>
                  <a:pt x="57687" y="48497"/>
                </a:moveTo>
                <a:lnTo>
                  <a:pt x="0" y="48497"/>
                </a:lnTo>
                <a:lnTo>
                  <a:pt x="0" y="0"/>
                </a:lnTo>
                <a:lnTo>
                  <a:pt x="6462" y="3031"/>
                </a:lnTo>
                <a:lnTo>
                  <a:pt x="53380" y="4073"/>
                </a:lnTo>
                <a:lnTo>
                  <a:pt x="57687" y="3306"/>
                </a:lnTo>
                <a:lnTo>
                  <a:pt x="57687" y="4849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7" name="Illustrative delivered road transport cost class 4; reference terminal Lesedi"/>
          <p:cNvSpPr/>
          <p:nvPr/>
        </p:nvSpPr>
        <p:spPr>
          <a:xfrm>
            <a:off x="2232266" y="5209799"/>
            <a:ext cx="29804" cy="26922"/>
          </a:xfrm>
          <a:custGeom>
            <a:avLst/>
            <a:gdLst/>
            <a:ahLst/>
            <a:cxnLst/>
            <a:rect l="l" t="t" r="r" b="b"/>
            <a:pathLst>
              <a:path w="29804" h="26922">
                <a:moveTo>
                  <a:pt x="29804" y="0"/>
                </a:moveTo>
                <a:lnTo>
                  <a:pt x="29804" y="26922"/>
                </a:lnTo>
                <a:lnTo>
                  <a:pt x="26094" y="19665"/>
                </a:lnTo>
                <a:lnTo>
                  <a:pt x="2611" y="4925"/>
                </a:lnTo>
                <a:lnTo>
                  <a:pt x="0" y="0"/>
                </a:lnTo>
                <a:lnTo>
                  <a:pt x="2980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8" name="Illustrative delivered road transport cost class 4; reference terminal Lesedi"/>
          <p:cNvSpPr/>
          <p:nvPr/>
        </p:nvSpPr>
        <p:spPr>
          <a:xfrm>
            <a:off x="2204384" y="5152113"/>
            <a:ext cx="57686" cy="57686"/>
          </a:xfrm>
          <a:custGeom>
            <a:avLst/>
            <a:gdLst/>
            <a:ahLst/>
            <a:cxnLst/>
            <a:rect l="l" t="t" r="r" b="b"/>
            <a:pathLst>
              <a:path w="57686" h="57686">
                <a:moveTo>
                  <a:pt x="0" y="0"/>
                </a:moveTo>
                <a:lnTo>
                  <a:pt x="57686" y="0"/>
                </a:lnTo>
                <a:lnTo>
                  <a:pt x="57686" y="57686"/>
                </a:lnTo>
                <a:lnTo>
                  <a:pt x="27882" y="57686"/>
                </a:lnTo>
                <a:lnTo>
                  <a:pt x="10528" y="24952"/>
                </a:lnTo>
                <a:lnTo>
                  <a:pt x="0" y="1759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9" name="Illustrative delivered road transport cost class 4; reference terminal Lesedi"/>
          <p:cNvSpPr/>
          <p:nvPr/>
        </p:nvSpPr>
        <p:spPr>
          <a:xfrm>
            <a:off x="220438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0" name="Illustrative delivered road transport cost class 4; reference terminal Lesedi"/>
          <p:cNvSpPr/>
          <p:nvPr/>
        </p:nvSpPr>
        <p:spPr>
          <a:xfrm>
            <a:off x="2204384" y="5036740"/>
            <a:ext cx="57686" cy="57686"/>
          </a:xfrm>
          <a:custGeom>
            <a:avLst/>
            <a:gdLst/>
            <a:ahLst/>
            <a:cxnLst/>
            <a:rect l="l" t="t" r="r" b="b"/>
            <a:pathLst>
              <a:path w="57686" h="57686">
                <a:moveTo>
                  <a:pt x="57686" y="0"/>
                </a:moveTo>
                <a:lnTo>
                  <a:pt x="57686" y="57686"/>
                </a:lnTo>
                <a:lnTo>
                  <a:pt x="0" y="57686"/>
                </a:lnTo>
                <a:lnTo>
                  <a:pt x="0" y="28347"/>
                </a:lnTo>
                <a:lnTo>
                  <a:pt x="13851" y="22565"/>
                </a:lnTo>
                <a:lnTo>
                  <a:pt x="35747"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1" name="Illustrative delivered road transport cost class 4; reference terminal Lesedi"/>
          <p:cNvSpPr/>
          <p:nvPr/>
        </p:nvSpPr>
        <p:spPr>
          <a:xfrm>
            <a:off x="2240131" y="4979053"/>
            <a:ext cx="21939" cy="57687"/>
          </a:xfrm>
          <a:custGeom>
            <a:avLst/>
            <a:gdLst/>
            <a:ahLst/>
            <a:cxnLst/>
            <a:rect l="l" t="t" r="r" b="b"/>
            <a:pathLst>
              <a:path w="21939" h="57687">
                <a:moveTo>
                  <a:pt x="21939" y="0"/>
                </a:moveTo>
                <a:lnTo>
                  <a:pt x="21939" y="57687"/>
                </a:lnTo>
                <a:lnTo>
                  <a:pt x="0" y="57687"/>
                </a:lnTo>
                <a:lnTo>
                  <a:pt x="3718" y="53856"/>
                </a:lnTo>
                <a:lnTo>
                  <a:pt x="17484" y="15299"/>
                </a:lnTo>
                <a:lnTo>
                  <a:pt x="16805" y="0"/>
                </a:lnTo>
                <a:lnTo>
                  <a:pt x="2193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2" name="Illustrative delivered road transport cost class 4; reference terminal Lesedi"/>
          <p:cNvSpPr/>
          <p:nvPr/>
        </p:nvSpPr>
        <p:spPr>
          <a:xfrm>
            <a:off x="2252747" y="4921367"/>
            <a:ext cx="9323" cy="57686"/>
          </a:xfrm>
          <a:custGeom>
            <a:avLst/>
            <a:gdLst/>
            <a:ahLst/>
            <a:cxnLst/>
            <a:rect l="l" t="t" r="r" b="b"/>
            <a:pathLst>
              <a:path w="9323" h="57686">
                <a:moveTo>
                  <a:pt x="9323" y="0"/>
                </a:moveTo>
                <a:lnTo>
                  <a:pt x="9323" y="57686"/>
                </a:lnTo>
                <a:lnTo>
                  <a:pt x="4189" y="57686"/>
                </a:lnTo>
                <a:lnTo>
                  <a:pt x="2195" y="12740"/>
                </a:lnTo>
                <a:lnTo>
                  <a:pt x="0" y="0"/>
                </a:lnTo>
                <a:lnTo>
                  <a:pt x="93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3" name="Illustrative delivered road transport cost class 4; reference terminal Lesedi"/>
          <p:cNvSpPr/>
          <p:nvPr/>
        </p:nvSpPr>
        <p:spPr>
          <a:xfrm>
            <a:off x="2238964" y="4863680"/>
            <a:ext cx="23106" cy="57687"/>
          </a:xfrm>
          <a:custGeom>
            <a:avLst/>
            <a:gdLst/>
            <a:ahLst/>
            <a:cxnLst/>
            <a:rect l="l" t="t" r="r" b="b"/>
            <a:pathLst>
              <a:path w="23106" h="57687">
                <a:moveTo>
                  <a:pt x="23106" y="0"/>
                </a:moveTo>
                <a:lnTo>
                  <a:pt x="23106" y="57687"/>
                </a:lnTo>
                <a:lnTo>
                  <a:pt x="13783" y="57687"/>
                </a:lnTo>
                <a:lnTo>
                  <a:pt x="9541" y="33071"/>
                </a:lnTo>
                <a:lnTo>
                  <a:pt x="0" y="0"/>
                </a:lnTo>
                <a:lnTo>
                  <a:pt x="2310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4" name="Illustrative delivered road transport cost class 4; reference terminal Lesedi"/>
          <p:cNvSpPr/>
          <p:nvPr/>
        </p:nvSpPr>
        <p:spPr>
          <a:xfrm>
            <a:off x="2222323" y="4805994"/>
            <a:ext cx="39747" cy="57686"/>
          </a:xfrm>
          <a:custGeom>
            <a:avLst/>
            <a:gdLst/>
            <a:ahLst/>
            <a:cxnLst/>
            <a:rect l="l" t="t" r="r" b="b"/>
            <a:pathLst>
              <a:path w="39747" h="57686">
                <a:moveTo>
                  <a:pt x="39747" y="0"/>
                </a:moveTo>
                <a:lnTo>
                  <a:pt x="39747" y="57686"/>
                </a:lnTo>
                <a:lnTo>
                  <a:pt x="16641" y="57686"/>
                </a:lnTo>
                <a:lnTo>
                  <a:pt x="0" y="0"/>
                </a:lnTo>
                <a:lnTo>
                  <a:pt x="3974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5" name="Illustrative delivered road transport cost class 4; reference terminal Lesedi"/>
          <p:cNvSpPr/>
          <p:nvPr/>
        </p:nvSpPr>
        <p:spPr>
          <a:xfrm>
            <a:off x="2204384" y="4748307"/>
            <a:ext cx="57686" cy="57687"/>
          </a:xfrm>
          <a:custGeom>
            <a:avLst/>
            <a:gdLst/>
            <a:ahLst/>
            <a:cxnLst/>
            <a:rect l="l" t="t" r="r" b="b"/>
            <a:pathLst>
              <a:path w="57686" h="57687">
                <a:moveTo>
                  <a:pt x="0" y="0"/>
                </a:moveTo>
                <a:lnTo>
                  <a:pt x="57686" y="0"/>
                </a:lnTo>
                <a:lnTo>
                  <a:pt x="57686" y="57687"/>
                </a:lnTo>
                <a:lnTo>
                  <a:pt x="17939" y="57687"/>
                </a:lnTo>
                <a:lnTo>
                  <a:pt x="16463" y="52570"/>
                </a:lnTo>
                <a:lnTo>
                  <a:pt x="4806" y="30855"/>
                </a:lnTo>
                <a:lnTo>
                  <a:pt x="0" y="2487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6" name="Illustrative delivered road transport cost class 4; reference terminal Lesedi"/>
          <p:cNvSpPr/>
          <p:nvPr/>
        </p:nvSpPr>
        <p:spPr>
          <a:xfrm>
            <a:off x="220438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7" name="Illustrative delivered road transport cost class 4; reference terminal Lesedi"/>
          <p:cNvSpPr/>
          <p:nvPr/>
        </p:nvSpPr>
        <p:spPr>
          <a:xfrm>
            <a:off x="220438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8" name="Illustrative delivered road transport cost class 4; reference terminal Lesedi"/>
          <p:cNvSpPr/>
          <p:nvPr/>
        </p:nvSpPr>
        <p:spPr>
          <a:xfrm>
            <a:off x="220438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9" name="Illustrative delivered road transport cost class 4; reference terminal Lesedi"/>
          <p:cNvSpPr/>
          <p:nvPr/>
        </p:nvSpPr>
        <p:spPr>
          <a:xfrm>
            <a:off x="220438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0" name="Illustrative delivered road transport cost class 4; reference terminal Lesedi"/>
          <p:cNvSpPr/>
          <p:nvPr/>
        </p:nvSpPr>
        <p:spPr>
          <a:xfrm>
            <a:off x="220438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1" name="Illustrative delivered road transport cost class 4; reference terminal Lesedi"/>
          <p:cNvSpPr/>
          <p:nvPr/>
        </p:nvSpPr>
        <p:spPr>
          <a:xfrm>
            <a:off x="220438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2" name="Illustrative delivered road transport cost class 4; reference terminal Lesedi"/>
          <p:cNvSpPr/>
          <p:nvPr/>
        </p:nvSpPr>
        <p:spPr>
          <a:xfrm>
            <a:off x="220438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3" name="Illustrative delivered road transport cost class 4; reference terminal Lesedi"/>
          <p:cNvSpPr/>
          <p:nvPr/>
        </p:nvSpPr>
        <p:spPr>
          <a:xfrm>
            <a:off x="220438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4" name="Illustrative delivered road transport cost class 4; reference terminal Lesedi"/>
          <p:cNvSpPr/>
          <p:nvPr/>
        </p:nvSpPr>
        <p:spPr>
          <a:xfrm>
            <a:off x="220438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5" name="Illustrative delivered road transport cost class 4; reference terminal Lesedi"/>
          <p:cNvSpPr/>
          <p:nvPr/>
        </p:nvSpPr>
        <p:spPr>
          <a:xfrm>
            <a:off x="220438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6" name="Illustrative delivered road transport cost class 4; reference terminal Lesedi"/>
          <p:cNvSpPr/>
          <p:nvPr/>
        </p:nvSpPr>
        <p:spPr>
          <a:xfrm>
            <a:off x="220438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7" name="Illustrative delivered road transport cost class 4; reference terminal Lesedi"/>
          <p:cNvSpPr/>
          <p:nvPr/>
        </p:nvSpPr>
        <p:spPr>
          <a:xfrm>
            <a:off x="2204384" y="4058286"/>
            <a:ext cx="57686" cy="55469"/>
          </a:xfrm>
          <a:custGeom>
            <a:avLst/>
            <a:gdLst/>
            <a:ahLst/>
            <a:cxnLst/>
            <a:rect l="l" t="t" r="r" b="b"/>
            <a:pathLst>
              <a:path w="57686" h="55469">
                <a:moveTo>
                  <a:pt x="57686" y="55469"/>
                </a:moveTo>
                <a:lnTo>
                  <a:pt x="0" y="55469"/>
                </a:lnTo>
                <a:lnTo>
                  <a:pt x="0" y="10278"/>
                </a:lnTo>
                <a:lnTo>
                  <a:pt x="57686" y="0"/>
                </a:lnTo>
                <a:lnTo>
                  <a:pt x="57686" y="55469"/>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8" name="Illustrative delivered road transport cost class 4; reference terminal Lesedi"/>
          <p:cNvSpPr/>
          <p:nvPr/>
        </p:nvSpPr>
        <p:spPr>
          <a:xfrm>
            <a:off x="2298674" y="5440546"/>
            <a:ext cx="17176" cy="22856"/>
          </a:xfrm>
          <a:custGeom>
            <a:avLst/>
            <a:gdLst/>
            <a:ahLst/>
            <a:cxnLst/>
            <a:rect l="l" t="t" r="r" b="b"/>
            <a:pathLst>
              <a:path w="17176" h="22856">
                <a:moveTo>
                  <a:pt x="15808" y="0"/>
                </a:moveTo>
                <a:lnTo>
                  <a:pt x="17176" y="22856"/>
                </a:lnTo>
                <a:lnTo>
                  <a:pt x="5490" y="10384"/>
                </a:lnTo>
                <a:lnTo>
                  <a:pt x="0" y="0"/>
                </a:lnTo>
                <a:lnTo>
                  <a:pt x="1580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9" name="Illustrative delivered road transport cost class 4; reference terminal Lesedi"/>
          <p:cNvSpPr/>
          <p:nvPr/>
        </p:nvSpPr>
        <p:spPr>
          <a:xfrm>
            <a:off x="2284267" y="5382859"/>
            <a:ext cx="35490" cy="57687"/>
          </a:xfrm>
          <a:custGeom>
            <a:avLst/>
            <a:gdLst/>
            <a:ahLst/>
            <a:cxnLst/>
            <a:rect l="l" t="t" r="r" b="b"/>
            <a:pathLst>
              <a:path w="35490" h="57687">
                <a:moveTo>
                  <a:pt x="35490" y="0"/>
                </a:moveTo>
                <a:lnTo>
                  <a:pt x="35490" y="20566"/>
                </a:lnTo>
                <a:lnTo>
                  <a:pt x="28847" y="34848"/>
                </a:lnTo>
                <a:lnTo>
                  <a:pt x="30215" y="57687"/>
                </a:lnTo>
                <a:lnTo>
                  <a:pt x="14407" y="57687"/>
                </a:lnTo>
                <a:lnTo>
                  <a:pt x="5806" y="41418"/>
                </a:lnTo>
                <a:lnTo>
                  <a:pt x="0" y="12455"/>
                </a:lnTo>
                <a:lnTo>
                  <a:pt x="821" y="0"/>
                </a:lnTo>
                <a:lnTo>
                  <a:pt x="354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Illustrative delivered road transport cost class 4; reference terminal Lesedi"/>
          <p:cNvSpPr/>
          <p:nvPr/>
        </p:nvSpPr>
        <p:spPr>
          <a:xfrm>
            <a:off x="2285088" y="5325173"/>
            <a:ext cx="34669" cy="57686"/>
          </a:xfrm>
          <a:custGeom>
            <a:avLst/>
            <a:gdLst/>
            <a:ahLst/>
            <a:cxnLst/>
            <a:rect l="l" t="t" r="r" b="b"/>
            <a:pathLst>
              <a:path w="34669" h="57686">
                <a:moveTo>
                  <a:pt x="34669" y="0"/>
                </a:moveTo>
                <a:lnTo>
                  <a:pt x="34669" y="57686"/>
                </a:lnTo>
                <a:lnTo>
                  <a:pt x="0" y="57686"/>
                </a:lnTo>
                <a:lnTo>
                  <a:pt x="1472" y="35343"/>
                </a:lnTo>
                <a:lnTo>
                  <a:pt x="24220" y="20879"/>
                </a:lnTo>
                <a:lnTo>
                  <a:pt x="21281" y="0"/>
                </a:lnTo>
                <a:lnTo>
                  <a:pt x="3466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Illustrative delivered road transport cost class 4; reference terminal Lesedi"/>
          <p:cNvSpPr/>
          <p:nvPr/>
        </p:nvSpPr>
        <p:spPr>
          <a:xfrm>
            <a:off x="2278956" y="5267486"/>
            <a:ext cx="40801" cy="57687"/>
          </a:xfrm>
          <a:custGeom>
            <a:avLst/>
            <a:gdLst/>
            <a:ahLst/>
            <a:cxnLst/>
            <a:rect l="l" t="t" r="r" b="b"/>
            <a:pathLst>
              <a:path w="40801" h="57687">
                <a:moveTo>
                  <a:pt x="40801" y="0"/>
                </a:moveTo>
                <a:lnTo>
                  <a:pt x="40801" y="57687"/>
                </a:lnTo>
                <a:lnTo>
                  <a:pt x="27413" y="57687"/>
                </a:lnTo>
                <a:lnTo>
                  <a:pt x="27083" y="55337"/>
                </a:lnTo>
                <a:lnTo>
                  <a:pt x="20834" y="35385"/>
                </a:lnTo>
                <a:lnTo>
                  <a:pt x="0" y="0"/>
                </a:lnTo>
                <a:lnTo>
                  <a:pt x="40801"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Illustrative delivered road transport cost class 4; reference terminal Lesedi"/>
          <p:cNvSpPr/>
          <p:nvPr/>
        </p:nvSpPr>
        <p:spPr>
          <a:xfrm>
            <a:off x="2262070" y="5209799"/>
            <a:ext cx="57687" cy="57687"/>
          </a:xfrm>
          <a:custGeom>
            <a:avLst/>
            <a:gdLst/>
            <a:ahLst/>
            <a:cxnLst/>
            <a:rect l="l" t="t" r="r" b="b"/>
            <a:pathLst>
              <a:path w="57687" h="57687">
                <a:moveTo>
                  <a:pt x="0" y="0"/>
                </a:moveTo>
                <a:lnTo>
                  <a:pt x="57687" y="0"/>
                </a:lnTo>
                <a:lnTo>
                  <a:pt x="57687" y="57687"/>
                </a:lnTo>
                <a:lnTo>
                  <a:pt x="16886" y="57687"/>
                </a:lnTo>
                <a:lnTo>
                  <a:pt x="8102" y="42768"/>
                </a:lnTo>
                <a:lnTo>
                  <a:pt x="0" y="2692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Illustrative delivered road transport cost class 4; reference terminal Lesedi"/>
          <p:cNvSpPr/>
          <p:nvPr/>
        </p:nvSpPr>
        <p:spPr>
          <a:xfrm>
            <a:off x="226207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Illustrative delivered road transport cost class 4; reference terminal Lesedi"/>
          <p:cNvSpPr/>
          <p:nvPr/>
        </p:nvSpPr>
        <p:spPr>
          <a:xfrm>
            <a:off x="226207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Illustrative delivered road transport cost class 4; reference terminal Lesedi"/>
          <p:cNvSpPr/>
          <p:nvPr/>
        </p:nvSpPr>
        <p:spPr>
          <a:xfrm>
            <a:off x="226207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Illustrative delivered road transport cost class 4; reference terminal Lesedi"/>
          <p:cNvSpPr/>
          <p:nvPr/>
        </p:nvSpPr>
        <p:spPr>
          <a:xfrm>
            <a:off x="226207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Illustrative delivered road transport cost class 4; reference terminal Lesedi"/>
          <p:cNvSpPr/>
          <p:nvPr/>
        </p:nvSpPr>
        <p:spPr>
          <a:xfrm>
            <a:off x="226207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Illustrative delivered road transport cost class 4; reference terminal Lesedi"/>
          <p:cNvSpPr/>
          <p:nvPr/>
        </p:nvSpPr>
        <p:spPr>
          <a:xfrm>
            <a:off x="226207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Illustrative delivered road transport cost class 4; reference terminal Lesedi"/>
          <p:cNvSpPr/>
          <p:nvPr/>
        </p:nvSpPr>
        <p:spPr>
          <a:xfrm>
            <a:off x="226207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Illustrative delivered road transport cost class 4; reference terminal Lesedi"/>
          <p:cNvSpPr/>
          <p:nvPr/>
        </p:nvSpPr>
        <p:spPr>
          <a:xfrm>
            <a:off x="226207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Illustrative delivered road transport cost class 4; reference terminal Lesedi"/>
          <p:cNvSpPr/>
          <p:nvPr/>
        </p:nvSpPr>
        <p:spPr>
          <a:xfrm>
            <a:off x="226207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Illustrative delivered road transport cost class 4; reference terminal Lesedi"/>
          <p:cNvSpPr/>
          <p:nvPr/>
        </p:nvSpPr>
        <p:spPr>
          <a:xfrm>
            <a:off x="226207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Illustrative delivered road transport cost class 4; reference terminal Lesedi"/>
          <p:cNvSpPr/>
          <p:nvPr/>
        </p:nvSpPr>
        <p:spPr>
          <a:xfrm>
            <a:off x="226207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Illustrative delivered road transport cost class 4; reference terminal Lesedi"/>
          <p:cNvSpPr/>
          <p:nvPr/>
        </p:nvSpPr>
        <p:spPr>
          <a:xfrm>
            <a:off x="226207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Illustrative delivered road transport cost class 4; reference terminal Lesedi"/>
          <p:cNvSpPr/>
          <p:nvPr/>
        </p:nvSpPr>
        <p:spPr>
          <a:xfrm>
            <a:off x="226207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6" name="Illustrative delivered road transport cost class 4; reference terminal Lesedi"/>
          <p:cNvSpPr/>
          <p:nvPr/>
        </p:nvSpPr>
        <p:spPr>
          <a:xfrm>
            <a:off x="226207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7" name="Illustrative delivered road transport cost class 4; reference terminal Lesedi"/>
          <p:cNvSpPr/>
          <p:nvPr/>
        </p:nvSpPr>
        <p:spPr>
          <a:xfrm>
            <a:off x="226207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8" name="Illustrative delivered road transport cost class 4; reference terminal Lesedi"/>
          <p:cNvSpPr/>
          <p:nvPr/>
        </p:nvSpPr>
        <p:spPr>
          <a:xfrm>
            <a:off x="226207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Illustrative delivered road transport cost class 4; reference terminal Lesedi"/>
          <p:cNvSpPr/>
          <p:nvPr/>
        </p:nvSpPr>
        <p:spPr>
          <a:xfrm>
            <a:off x="226207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0" name="Illustrative delivered road transport cost class 4; reference terminal Lesedi"/>
          <p:cNvSpPr/>
          <p:nvPr/>
        </p:nvSpPr>
        <p:spPr>
          <a:xfrm>
            <a:off x="226207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Illustrative delivered road transport cost class 4; reference terminal Lesedi"/>
          <p:cNvSpPr/>
          <p:nvPr/>
        </p:nvSpPr>
        <p:spPr>
          <a:xfrm>
            <a:off x="226207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2" name="Illustrative delivered road transport cost class 4; reference terminal Lesedi"/>
          <p:cNvSpPr/>
          <p:nvPr/>
        </p:nvSpPr>
        <p:spPr>
          <a:xfrm>
            <a:off x="2262070" y="4057828"/>
            <a:ext cx="57687" cy="55927"/>
          </a:xfrm>
          <a:custGeom>
            <a:avLst/>
            <a:gdLst/>
            <a:ahLst/>
            <a:cxnLst/>
            <a:rect l="l" t="t" r="r" b="b"/>
            <a:pathLst>
              <a:path w="57687" h="55927">
                <a:moveTo>
                  <a:pt x="57687" y="55927"/>
                </a:moveTo>
                <a:lnTo>
                  <a:pt x="0" y="55927"/>
                </a:lnTo>
                <a:lnTo>
                  <a:pt x="0" y="458"/>
                </a:lnTo>
                <a:lnTo>
                  <a:pt x="2572" y="0"/>
                </a:lnTo>
                <a:lnTo>
                  <a:pt x="56290" y="711"/>
                </a:lnTo>
                <a:lnTo>
                  <a:pt x="57687" y="1131"/>
                </a:lnTo>
                <a:lnTo>
                  <a:pt x="57687" y="559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Illustrative delivered road transport cost class 4; reference terminal Lesedi"/>
          <p:cNvSpPr/>
          <p:nvPr/>
        </p:nvSpPr>
        <p:spPr>
          <a:xfrm>
            <a:off x="2319757" y="5382859"/>
            <a:ext cx="57687" cy="20566"/>
          </a:xfrm>
          <a:custGeom>
            <a:avLst/>
            <a:gdLst/>
            <a:ahLst/>
            <a:cxnLst/>
            <a:rect l="l" t="t" r="r" b="b"/>
            <a:pathLst>
              <a:path w="57687" h="20566">
                <a:moveTo>
                  <a:pt x="0" y="0"/>
                </a:moveTo>
                <a:lnTo>
                  <a:pt x="57687" y="0"/>
                </a:lnTo>
                <a:lnTo>
                  <a:pt x="57687" y="11455"/>
                </a:lnTo>
                <a:lnTo>
                  <a:pt x="53664" y="9552"/>
                </a:lnTo>
                <a:lnTo>
                  <a:pt x="44260" y="7315"/>
                </a:lnTo>
                <a:lnTo>
                  <a:pt x="22335" y="9939"/>
                </a:lnTo>
                <a:lnTo>
                  <a:pt x="7314" y="12991"/>
                </a:lnTo>
                <a:lnTo>
                  <a:pt x="561" y="19360"/>
                </a:lnTo>
                <a:lnTo>
                  <a:pt x="0" y="2056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4" name="Illustrative delivered road transport cost class 4; reference terminal Lesedi"/>
          <p:cNvSpPr/>
          <p:nvPr/>
        </p:nvSpPr>
        <p:spPr>
          <a:xfrm>
            <a:off x="2319757"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5" name="Illustrative delivered road transport cost class 4; reference terminal Lesedi"/>
          <p:cNvSpPr/>
          <p:nvPr/>
        </p:nvSpPr>
        <p:spPr>
          <a:xfrm>
            <a:off x="2319757"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6" name="Illustrative delivered road transport cost class 4; reference terminal Lesedi"/>
          <p:cNvSpPr/>
          <p:nvPr/>
        </p:nvSpPr>
        <p:spPr>
          <a:xfrm>
            <a:off x="2319757"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Illustrative delivered road transport cost class 4; reference terminal Lesedi"/>
          <p:cNvSpPr/>
          <p:nvPr/>
        </p:nvSpPr>
        <p:spPr>
          <a:xfrm>
            <a:off x="231975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8" name="Illustrative delivered road transport cost class 4; reference terminal Lesedi"/>
          <p:cNvSpPr/>
          <p:nvPr/>
        </p:nvSpPr>
        <p:spPr>
          <a:xfrm>
            <a:off x="231975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Illustrative delivered road transport cost class 4; reference terminal Lesedi"/>
          <p:cNvSpPr/>
          <p:nvPr/>
        </p:nvSpPr>
        <p:spPr>
          <a:xfrm>
            <a:off x="231975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0" name="Illustrative delivered road transport cost class 4; reference terminal Lesedi"/>
          <p:cNvSpPr/>
          <p:nvPr/>
        </p:nvSpPr>
        <p:spPr>
          <a:xfrm>
            <a:off x="231975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Illustrative delivered road transport cost class 4; reference terminal Lesedi"/>
          <p:cNvSpPr/>
          <p:nvPr/>
        </p:nvSpPr>
        <p:spPr>
          <a:xfrm>
            <a:off x="231975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2" name="Illustrative delivered road transport cost class 4; reference terminal Lesedi"/>
          <p:cNvSpPr/>
          <p:nvPr/>
        </p:nvSpPr>
        <p:spPr>
          <a:xfrm>
            <a:off x="231975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Illustrative delivered road transport cost class 4; reference terminal Lesedi"/>
          <p:cNvSpPr/>
          <p:nvPr/>
        </p:nvSpPr>
        <p:spPr>
          <a:xfrm>
            <a:off x="231975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4" name="Illustrative delivered road transport cost class 4; reference terminal Lesedi"/>
          <p:cNvSpPr/>
          <p:nvPr/>
        </p:nvSpPr>
        <p:spPr>
          <a:xfrm>
            <a:off x="231975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Illustrative delivered road transport cost class 4; reference terminal Lesedi"/>
          <p:cNvSpPr/>
          <p:nvPr/>
        </p:nvSpPr>
        <p:spPr>
          <a:xfrm>
            <a:off x="231975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6" name="Illustrative delivered road transport cost class 4; reference terminal Lesedi"/>
          <p:cNvSpPr/>
          <p:nvPr/>
        </p:nvSpPr>
        <p:spPr>
          <a:xfrm>
            <a:off x="231975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7" name="Illustrative delivered road transport cost class 4; reference terminal Lesedi"/>
          <p:cNvSpPr/>
          <p:nvPr/>
        </p:nvSpPr>
        <p:spPr>
          <a:xfrm>
            <a:off x="231975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Illustrative delivered road transport cost class 4; reference terminal Lesedi"/>
          <p:cNvSpPr/>
          <p:nvPr/>
        </p:nvSpPr>
        <p:spPr>
          <a:xfrm>
            <a:off x="231975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9" name="Illustrative delivered road transport cost class 4; reference terminal Lesedi"/>
          <p:cNvSpPr/>
          <p:nvPr/>
        </p:nvSpPr>
        <p:spPr>
          <a:xfrm>
            <a:off x="231975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Illustrative delivered road transport cost class 4; reference terminal Lesedi"/>
          <p:cNvSpPr/>
          <p:nvPr/>
        </p:nvSpPr>
        <p:spPr>
          <a:xfrm>
            <a:off x="231975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1" name="Illustrative delivered road transport cost class 4; reference terminal Lesedi"/>
          <p:cNvSpPr/>
          <p:nvPr/>
        </p:nvSpPr>
        <p:spPr>
          <a:xfrm>
            <a:off x="231975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Illustrative delivered road transport cost class 4; reference terminal Lesedi"/>
          <p:cNvSpPr/>
          <p:nvPr/>
        </p:nvSpPr>
        <p:spPr>
          <a:xfrm>
            <a:off x="231975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3" name="Illustrative delivered road transport cost class 4; reference terminal Lesedi"/>
          <p:cNvSpPr/>
          <p:nvPr/>
        </p:nvSpPr>
        <p:spPr>
          <a:xfrm>
            <a:off x="231975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4" name="Illustrative delivered road transport cost class 4; reference terminal Lesedi"/>
          <p:cNvSpPr/>
          <p:nvPr/>
        </p:nvSpPr>
        <p:spPr>
          <a:xfrm>
            <a:off x="231975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Illustrative delivered road transport cost class 4; reference terminal Lesedi"/>
          <p:cNvSpPr/>
          <p:nvPr/>
        </p:nvSpPr>
        <p:spPr>
          <a:xfrm>
            <a:off x="231975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Illustrative delivered road transport cost class 4; reference terminal Lesedi"/>
          <p:cNvSpPr/>
          <p:nvPr/>
        </p:nvSpPr>
        <p:spPr>
          <a:xfrm>
            <a:off x="2319757" y="4058959"/>
            <a:ext cx="57687" cy="54796"/>
          </a:xfrm>
          <a:custGeom>
            <a:avLst/>
            <a:gdLst/>
            <a:ahLst/>
            <a:cxnLst/>
            <a:rect l="l" t="t" r="r" b="b"/>
            <a:pathLst>
              <a:path w="57687" h="54796">
                <a:moveTo>
                  <a:pt x="57687" y="54796"/>
                </a:moveTo>
                <a:lnTo>
                  <a:pt x="0" y="54796"/>
                </a:lnTo>
                <a:lnTo>
                  <a:pt x="0" y="0"/>
                </a:lnTo>
                <a:lnTo>
                  <a:pt x="41425" y="12459"/>
                </a:lnTo>
                <a:lnTo>
                  <a:pt x="57687" y="13126"/>
                </a:lnTo>
                <a:lnTo>
                  <a:pt x="57687" y="547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Illustrative delivered road transport cost class 4; reference terminal Lesedi"/>
          <p:cNvSpPr/>
          <p:nvPr/>
        </p:nvSpPr>
        <p:spPr>
          <a:xfrm>
            <a:off x="2392135" y="5440546"/>
            <a:ext cx="42995" cy="22866"/>
          </a:xfrm>
          <a:custGeom>
            <a:avLst/>
            <a:gdLst/>
            <a:ahLst/>
            <a:cxnLst/>
            <a:rect l="l" t="t" r="r" b="b"/>
            <a:pathLst>
              <a:path w="42995" h="22866">
                <a:moveTo>
                  <a:pt x="42995" y="0"/>
                </a:moveTo>
                <a:lnTo>
                  <a:pt x="42995" y="16296"/>
                </a:lnTo>
                <a:lnTo>
                  <a:pt x="27646" y="16299"/>
                </a:lnTo>
                <a:lnTo>
                  <a:pt x="17172" y="21189"/>
                </a:lnTo>
                <a:lnTo>
                  <a:pt x="2340" y="22866"/>
                </a:lnTo>
                <a:lnTo>
                  <a:pt x="0" y="5670"/>
                </a:lnTo>
                <a:lnTo>
                  <a:pt x="281" y="0"/>
                </a:lnTo>
                <a:lnTo>
                  <a:pt x="4299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Illustrative delivered road transport cost class 4; reference terminal Lesedi"/>
          <p:cNvSpPr/>
          <p:nvPr/>
        </p:nvSpPr>
        <p:spPr>
          <a:xfrm>
            <a:off x="2377444" y="5382859"/>
            <a:ext cx="57686" cy="57687"/>
          </a:xfrm>
          <a:custGeom>
            <a:avLst/>
            <a:gdLst/>
            <a:ahLst/>
            <a:cxnLst/>
            <a:rect l="l" t="t" r="r" b="b"/>
            <a:pathLst>
              <a:path w="57686" h="57687">
                <a:moveTo>
                  <a:pt x="0" y="0"/>
                </a:moveTo>
                <a:lnTo>
                  <a:pt x="57686" y="0"/>
                </a:lnTo>
                <a:lnTo>
                  <a:pt x="57686" y="57687"/>
                </a:lnTo>
                <a:lnTo>
                  <a:pt x="14972" y="57687"/>
                </a:lnTo>
                <a:lnTo>
                  <a:pt x="15233" y="52413"/>
                </a:lnTo>
                <a:lnTo>
                  <a:pt x="13341" y="35743"/>
                </a:lnTo>
                <a:lnTo>
                  <a:pt x="8403" y="15432"/>
                </a:lnTo>
                <a:lnTo>
                  <a:pt x="0" y="1145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Illustrative delivered road transport cost class 4; reference terminal Lesedi"/>
          <p:cNvSpPr/>
          <p:nvPr/>
        </p:nvSpPr>
        <p:spPr>
          <a:xfrm>
            <a:off x="2377444"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Illustrative delivered road transport cost class 4; reference terminal Lesedi"/>
          <p:cNvSpPr/>
          <p:nvPr/>
        </p:nvSpPr>
        <p:spPr>
          <a:xfrm>
            <a:off x="2377444"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1" name="Illustrative delivered road transport cost class 4; reference terminal Lesedi"/>
          <p:cNvSpPr/>
          <p:nvPr/>
        </p:nvSpPr>
        <p:spPr>
          <a:xfrm>
            <a:off x="2377444"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Illustrative delivered road transport cost class 4; reference terminal Lesedi"/>
          <p:cNvSpPr/>
          <p:nvPr/>
        </p:nvSpPr>
        <p:spPr>
          <a:xfrm>
            <a:off x="2377444"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3" name="Illustrative delivered road transport cost class 4; reference terminal Lesedi"/>
          <p:cNvSpPr/>
          <p:nvPr/>
        </p:nvSpPr>
        <p:spPr>
          <a:xfrm>
            <a:off x="237744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Illustrative delivered road transport cost class 4; reference terminal Lesedi"/>
          <p:cNvSpPr/>
          <p:nvPr/>
        </p:nvSpPr>
        <p:spPr>
          <a:xfrm>
            <a:off x="237744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5" name="Illustrative delivered road transport cost class 4; reference terminal Lesedi"/>
          <p:cNvSpPr/>
          <p:nvPr/>
        </p:nvSpPr>
        <p:spPr>
          <a:xfrm>
            <a:off x="237744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Illustrative delivered road transport cost class 4; reference terminal Lesedi"/>
          <p:cNvSpPr/>
          <p:nvPr/>
        </p:nvSpPr>
        <p:spPr>
          <a:xfrm>
            <a:off x="237744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7" name="Illustrative delivered road transport cost class 4; reference terminal Lesedi"/>
          <p:cNvSpPr/>
          <p:nvPr/>
        </p:nvSpPr>
        <p:spPr>
          <a:xfrm>
            <a:off x="237744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8" name="Illustrative delivered road transport cost class 4; reference terminal Lesedi"/>
          <p:cNvSpPr/>
          <p:nvPr/>
        </p:nvSpPr>
        <p:spPr>
          <a:xfrm>
            <a:off x="237744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9" name="Illustrative delivered road transport cost class 4; reference terminal Lesedi"/>
          <p:cNvSpPr/>
          <p:nvPr/>
        </p:nvSpPr>
        <p:spPr>
          <a:xfrm>
            <a:off x="237744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Illustrative delivered road transport cost class 4; reference terminal Lesedi"/>
          <p:cNvSpPr/>
          <p:nvPr/>
        </p:nvSpPr>
        <p:spPr>
          <a:xfrm>
            <a:off x="237744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1" name="Illustrative delivered road transport cost class 4; reference terminal Lesedi"/>
          <p:cNvSpPr/>
          <p:nvPr/>
        </p:nvSpPr>
        <p:spPr>
          <a:xfrm>
            <a:off x="237744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2" name="Illustrative delivered road transport cost class 4; reference terminal Lesedi"/>
          <p:cNvSpPr/>
          <p:nvPr/>
        </p:nvSpPr>
        <p:spPr>
          <a:xfrm>
            <a:off x="237744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3" name="Illustrative delivered road transport cost class 4; reference terminal Lesedi"/>
          <p:cNvSpPr/>
          <p:nvPr/>
        </p:nvSpPr>
        <p:spPr>
          <a:xfrm>
            <a:off x="237744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4" name="Illustrative delivered road transport cost class 4; reference terminal Lesedi"/>
          <p:cNvSpPr/>
          <p:nvPr/>
        </p:nvSpPr>
        <p:spPr>
          <a:xfrm>
            <a:off x="237744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5" name="Illustrative delivered road transport cost class 4; reference terminal Lesedi"/>
          <p:cNvSpPr/>
          <p:nvPr/>
        </p:nvSpPr>
        <p:spPr>
          <a:xfrm>
            <a:off x="237744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6" name="Illustrative delivered road transport cost class 4; reference terminal Lesedi"/>
          <p:cNvSpPr/>
          <p:nvPr/>
        </p:nvSpPr>
        <p:spPr>
          <a:xfrm>
            <a:off x="237744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7" name="Illustrative delivered road transport cost class 4; reference terminal Lesedi"/>
          <p:cNvSpPr/>
          <p:nvPr/>
        </p:nvSpPr>
        <p:spPr>
          <a:xfrm>
            <a:off x="237744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8" name="Illustrative delivered road transport cost class 4; reference terminal Lesedi"/>
          <p:cNvSpPr/>
          <p:nvPr/>
        </p:nvSpPr>
        <p:spPr>
          <a:xfrm>
            <a:off x="237744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9" name="Illustrative delivered road transport cost class 4; reference terminal Lesedi"/>
          <p:cNvSpPr/>
          <p:nvPr/>
        </p:nvSpPr>
        <p:spPr>
          <a:xfrm>
            <a:off x="237744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0" name="Illustrative delivered road transport cost class 4; reference terminal Lesedi"/>
          <p:cNvSpPr/>
          <p:nvPr/>
        </p:nvSpPr>
        <p:spPr>
          <a:xfrm>
            <a:off x="237744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1" name="Illustrative delivered road transport cost class 4; reference terminal Lesedi"/>
          <p:cNvSpPr/>
          <p:nvPr/>
        </p:nvSpPr>
        <p:spPr>
          <a:xfrm>
            <a:off x="2377444" y="4056068"/>
            <a:ext cx="57686" cy="57687"/>
          </a:xfrm>
          <a:custGeom>
            <a:avLst/>
            <a:gdLst/>
            <a:ahLst/>
            <a:cxnLst/>
            <a:rect l="l" t="t" r="r" b="b"/>
            <a:pathLst>
              <a:path w="57686" h="57687">
                <a:moveTo>
                  <a:pt x="57686" y="0"/>
                </a:moveTo>
                <a:lnTo>
                  <a:pt x="57686" y="57687"/>
                </a:lnTo>
                <a:lnTo>
                  <a:pt x="0" y="57687"/>
                </a:lnTo>
                <a:lnTo>
                  <a:pt x="0" y="16017"/>
                </a:lnTo>
                <a:lnTo>
                  <a:pt x="14325" y="16605"/>
                </a:lnTo>
                <a:lnTo>
                  <a:pt x="32739" y="6194"/>
                </a:lnTo>
                <a:lnTo>
                  <a:pt x="36035"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2" name="Illustrative delivered road transport cost class 4; reference terminal Lesedi"/>
          <p:cNvSpPr/>
          <p:nvPr/>
        </p:nvSpPr>
        <p:spPr>
          <a:xfrm>
            <a:off x="2413479" y="4015168"/>
            <a:ext cx="21651" cy="40900"/>
          </a:xfrm>
          <a:custGeom>
            <a:avLst/>
            <a:gdLst/>
            <a:ahLst/>
            <a:cxnLst/>
            <a:rect l="l" t="t" r="r" b="b"/>
            <a:pathLst>
              <a:path w="21651" h="40900">
                <a:moveTo>
                  <a:pt x="21651" y="40900"/>
                </a:moveTo>
                <a:lnTo>
                  <a:pt x="0" y="40900"/>
                </a:lnTo>
                <a:lnTo>
                  <a:pt x="4223" y="32964"/>
                </a:lnTo>
                <a:lnTo>
                  <a:pt x="834" y="15133"/>
                </a:lnTo>
                <a:lnTo>
                  <a:pt x="9667" y="3321"/>
                </a:lnTo>
                <a:lnTo>
                  <a:pt x="21651" y="0"/>
                </a:lnTo>
                <a:lnTo>
                  <a:pt x="21651" y="4090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3" name="Illustrative delivered road transport cost class 4; reference terminal Lesedi"/>
          <p:cNvSpPr/>
          <p:nvPr/>
        </p:nvSpPr>
        <p:spPr>
          <a:xfrm>
            <a:off x="2435130" y="5440546"/>
            <a:ext cx="57687" cy="39277"/>
          </a:xfrm>
          <a:custGeom>
            <a:avLst/>
            <a:gdLst/>
            <a:ahLst/>
            <a:cxnLst/>
            <a:rect l="l" t="t" r="r" b="b"/>
            <a:pathLst>
              <a:path w="57687" h="39277">
                <a:moveTo>
                  <a:pt x="0" y="0"/>
                </a:moveTo>
                <a:lnTo>
                  <a:pt x="57687" y="0"/>
                </a:lnTo>
                <a:lnTo>
                  <a:pt x="57687" y="39277"/>
                </a:lnTo>
                <a:lnTo>
                  <a:pt x="55343" y="36540"/>
                </a:lnTo>
                <a:lnTo>
                  <a:pt x="47632" y="30598"/>
                </a:lnTo>
                <a:lnTo>
                  <a:pt x="27459" y="32805"/>
                </a:lnTo>
                <a:lnTo>
                  <a:pt x="15740" y="16292"/>
                </a:lnTo>
                <a:lnTo>
                  <a:pt x="0" y="162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4" name="Illustrative delivered road transport cost class 4; reference terminal Lesedi"/>
          <p:cNvSpPr/>
          <p:nvPr/>
        </p:nvSpPr>
        <p:spPr>
          <a:xfrm>
            <a:off x="2435130"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5" name="Illustrative delivered road transport cost class 4; reference terminal Lesedi"/>
          <p:cNvSpPr/>
          <p:nvPr/>
        </p:nvSpPr>
        <p:spPr>
          <a:xfrm>
            <a:off x="2435130"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6" name="Illustrative delivered road transport cost class 4; reference terminal Lesedi"/>
          <p:cNvSpPr/>
          <p:nvPr/>
        </p:nvSpPr>
        <p:spPr>
          <a:xfrm>
            <a:off x="2435130"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7" name="Illustrative delivered road transport cost class 4; reference terminal Lesedi"/>
          <p:cNvSpPr/>
          <p:nvPr/>
        </p:nvSpPr>
        <p:spPr>
          <a:xfrm>
            <a:off x="2435130"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8" name="Illustrative delivered road transport cost class 4; reference terminal Lesedi"/>
          <p:cNvSpPr/>
          <p:nvPr/>
        </p:nvSpPr>
        <p:spPr>
          <a:xfrm>
            <a:off x="243513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9" name="Illustrative delivered road transport cost class 4; reference terminal Lesedi"/>
          <p:cNvSpPr/>
          <p:nvPr/>
        </p:nvSpPr>
        <p:spPr>
          <a:xfrm>
            <a:off x="243513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0" name="Illustrative delivered road transport cost class 4; reference terminal Lesedi"/>
          <p:cNvSpPr/>
          <p:nvPr/>
        </p:nvSpPr>
        <p:spPr>
          <a:xfrm>
            <a:off x="243513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1" name="Illustrative delivered road transport cost class 4; reference terminal Lesedi"/>
          <p:cNvSpPr/>
          <p:nvPr/>
        </p:nvSpPr>
        <p:spPr>
          <a:xfrm>
            <a:off x="243513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2" name="Illustrative delivered road transport cost class 4; reference terminal Lesedi"/>
          <p:cNvSpPr/>
          <p:nvPr/>
        </p:nvSpPr>
        <p:spPr>
          <a:xfrm>
            <a:off x="243513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3" name="Illustrative delivered road transport cost class 4; reference terminal Lesedi"/>
          <p:cNvSpPr/>
          <p:nvPr/>
        </p:nvSpPr>
        <p:spPr>
          <a:xfrm>
            <a:off x="243513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4" name="Illustrative delivered road transport cost class 4; reference terminal Lesedi"/>
          <p:cNvSpPr/>
          <p:nvPr/>
        </p:nvSpPr>
        <p:spPr>
          <a:xfrm>
            <a:off x="243513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5" name="Illustrative delivered road transport cost class 4; reference terminal Lesedi"/>
          <p:cNvSpPr/>
          <p:nvPr/>
        </p:nvSpPr>
        <p:spPr>
          <a:xfrm>
            <a:off x="243513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6" name="Illustrative delivered road transport cost class 4; reference terminal Lesedi"/>
          <p:cNvSpPr/>
          <p:nvPr/>
        </p:nvSpPr>
        <p:spPr>
          <a:xfrm>
            <a:off x="243513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7" name="Illustrative delivered road transport cost class 4; reference terminal Lesedi"/>
          <p:cNvSpPr/>
          <p:nvPr/>
        </p:nvSpPr>
        <p:spPr>
          <a:xfrm>
            <a:off x="243513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8" name="Illustrative delivered road transport cost class 4; reference terminal Lesedi"/>
          <p:cNvSpPr/>
          <p:nvPr/>
        </p:nvSpPr>
        <p:spPr>
          <a:xfrm>
            <a:off x="243513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9" name="Illustrative delivered road transport cost class 4; reference terminal Lesedi"/>
          <p:cNvSpPr/>
          <p:nvPr/>
        </p:nvSpPr>
        <p:spPr>
          <a:xfrm>
            <a:off x="243513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0" name="Illustrative delivered road transport cost class 4; reference terminal Lesedi"/>
          <p:cNvSpPr/>
          <p:nvPr/>
        </p:nvSpPr>
        <p:spPr>
          <a:xfrm>
            <a:off x="243513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1" name="Illustrative delivered road transport cost class None; reference terminal None"/>
          <p:cNvSpPr/>
          <p:nvPr/>
        </p:nvSpPr>
        <p:spPr>
          <a:xfrm>
            <a:off x="243513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2" name="Illustrative delivered road transport cost class None; reference terminal None"/>
          <p:cNvSpPr/>
          <p:nvPr/>
        </p:nvSpPr>
        <p:spPr>
          <a:xfrm>
            <a:off x="243513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3" name="Illustrative delivered road transport cost class 4; reference terminal Lesedi"/>
          <p:cNvSpPr/>
          <p:nvPr/>
        </p:nvSpPr>
        <p:spPr>
          <a:xfrm>
            <a:off x="243513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4" name="Illustrative delivered road transport cost class 4; reference terminal Lesedi"/>
          <p:cNvSpPr/>
          <p:nvPr/>
        </p:nvSpPr>
        <p:spPr>
          <a:xfrm>
            <a:off x="243513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5" name="Illustrative delivered road transport cost class 4; reference terminal Lesedi"/>
          <p:cNvSpPr/>
          <p:nvPr/>
        </p:nvSpPr>
        <p:spPr>
          <a:xfrm>
            <a:off x="243513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6" name="Illustrative delivered road transport cost class 4; reference terminal Lesedi"/>
          <p:cNvSpPr/>
          <p:nvPr/>
        </p:nvSpPr>
        <p:spPr>
          <a:xfrm>
            <a:off x="243513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7" name="Illustrative delivered road transport cost class 4; reference terminal Lesedi"/>
          <p:cNvSpPr/>
          <p:nvPr/>
        </p:nvSpPr>
        <p:spPr>
          <a:xfrm>
            <a:off x="2435130"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8" name="Illustrative delivered road transport cost class 4; reference terminal Lesedi"/>
          <p:cNvSpPr/>
          <p:nvPr/>
        </p:nvSpPr>
        <p:spPr>
          <a:xfrm>
            <a:off x="2435130" y="3998382"/>
            <a:ext cx="57687" cy="57686"/>
          </a:xfrm>
          <a:custGeom>
            <a:avLst/>
            <a:gdLst/>
            <a:ahLst/>
            <a:cxnLst/>
            <a:rect l="l" t="t" r="r" b="b"/>
            <a:pathLst>
              <a:path w="57687" h="57686">
                <a:moveTo>
                  <a:pt x="57687" y="0"/>
                </a:moveTo>
                <a:lnTo>
                  <a:pt x="57687" y="57686"/>
                </a:lnTo>
                <a:lnTo>
                  <a:pt x="0" y="57686"/>
                </a:lnTo>
                <a:lnTo>
                  <a:pt x="0" y="16786"/>
                </a:lnTo>
                <a:lnTo>
                  <a:pt x="9054" y="14278"/>
                </a:lnTo>
                <a:lnTo>
                  <a:pt x="25427"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9" name="Illustrative delivered road transport cost class 4; reference terminal Lesedi"/>
          <p:cNvSpPr/>
          <p:nvPr/>
        </p:nvSpPr>
        <p:spPr>
          <a:xfrm>
            <a:off x="2460557" y="3961764"/>
            <a:ext cx="32260" cy="36618"/>
          </a:xfrm>
          <a:custGeom>
            <a:avLst/>
            <a:gdLst/>
            <a:ahLst/>
            <a:cxnLst/>
            <a:rect l="l" t="t" r="r" b="b"/>
            <a:pathLst>
              <a:path w="32260" h="36618">
                <a:moveTo>
                  <a:pt x="32260" y="36618"/>
                </a:moveTo>
                <a:lnTo>
                  <a:pt x="0" y="36618"/>
                </a:lnTo>
                <a:lnTo>
                  <a:pt x="31" y="36591"/>
                </a:lnTo>
                <a:lnTo>
                  <a:pt x="11831" y="13751"/>
                </a:lnTo>
                <a:lnTo>
                  <a:pt x="32260" y="0"/>
                </a:lnTo>
                <a:lnTo>
                  <a:pt x="32260" y="3661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0" name="Illustrative delivered road transport cost class 4; reference terminal Durban"/>
          <p:cNvSpPr/>
          <p:nvPr/>
        </p:nvSpPr>
        <p:spPr>
          <a:xfrm>
            <a:off x="2496946" y="5498232"/>
            <a:ext cx="53557" cy="43173"/>
          </a:xfrm>
          <a:custGeom>
            <a:avLst/>
            <a:gdLst/>
            <a:ahLst/>
            <a:cxnLst/>
            <a:rect l="l" t="t" r="r" b="b"/>
            <a:pathLst>
              <a:path w="53557" h="43173">
                <a:moveTo>
                  <a:pt x="53557" y="0"/>
                </a:moveTo>
                <a:lnTo>
                  <a:pt x="53557" y="43173"/>
                </a:lnTo>
                <a:lnTo>
                  <a:pt x="19589" y="20766"/>
                </a:lnTo>
                <a:lnTo>
                  <a:pt x="0" y="24144"/>
                </a:lnTo>
                <a:lnTo>
                  <a:pt x="4671" y="12576"/>
                </a:lnTo>
                <a:lnTo>
                  <a:pt x="4986" y="0"/>
                </a:lnTo>
                <a:lnTo>
                  <a:pt x="5355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1" name="Illustrative delivered road transport cost class 4; reference terminal Lesedi"/>
          <p:cNvSpPr/>
          <p:nvPr/>
        </p:nvSpPr>
        <p:spPr>
          <a:xfrm>
            <a:off x="2492817" y="5440546"/>
            <a:ext cx="57686" cy="57686"/>
          </a:xfrm>
          <a:custGeom>
            <a:avLst/>
            <a:gdLst/>
            <a:ahLst/>
            <a:cxnLst/>
            <a:rect l="l" t="t" r="r" b="b"/>
            <a:pathLst>
              <a:path w="57686" h="57686">
                <a:moveTo>
                  <a:pt x="0" y="0"/>
                </a:moveTo>
                <a:lnTo>
                  <a:pt x="57686" y="0"/>
                </a:lnTo>
                <a:lnTo>
                  <a:pt x="57686" y="57686"/>
                </a:lnTo>
                <a:lnTo>
                  <a:pt x="9115" y="57686"/>
                </a:lnTo>
                <a:lnTo>
                  <a:pt x="9305" y="50144"/>
                </a:lnTo>
                <a:lnTo>
                  <a:pt x="0" y="3927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2" name="Illustrative delivered road transport cost class 4; reference terminal Lesedi"/>
          <p:cNvSpPr/>
          <p:nvPr/>
        </p:nvSpPr>
        <p:spPr>
          <a:xfrm>
            <a:off x="2492817"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3" name="Illustrative delivered road transport cost class 4; reference terminal Lesedi"/>
          <p:cNvSpPr/>
          <p:nvPr/>
        </p:nvSpPr>
        <p:spPr>
          <a:xfrm>
            <a:off x="2492817"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4" name="Illustrative delivered road transport cost class 4; reference terminal Lesedi"/>
          <p:cNvSpPr/>
          <p:nvPr/>
        </p:nvSpPr>
        <p:spPr>
          <a:xfrm>
            <a:off x="2492817"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5" name="Illustrative delivered road transport cost class 4; reference terminal Lesedi"/>
          <p:cNvSpPr/>
          <p:nvPr/>
        </p:nvSpPr>
        <p:spPr>
          <a:xfrm>
            <a:off x="2492817"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6" name="Illustrative delivered road transport cost class 4; reference terminal Lesedi"/>
          <p:cNvSpPr/>
          <p:nvPr/>
        </p:nvSpPr>
        <p:spPr>
          <a:xfrm>
            <a:off x="2492817"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7" name="Illustrative delivered road transport cost class 4; reference terminal Lesedi"/>
          <p:cNvSpPr/>
          <p:nvPr/>
        </p:nvSpPr>
        <p:spPr>
          <a:xfrm>
            <a:off x="2492817"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8" name="Illustrative delivered road transport cost class 4; reference terminal Lesedi"/>
          <p:cNvSpPr/>
          <p:nvPr/>
        </p:nvSpPr>
        <p:spPr>
          <a:xfrm>
            <a:off x="2492817"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9" name="Illustrative delivered road transport cost class 4; reference terminal Lesedi"/>
          <p:cNvSpPr/>
          <p:nvPr/>
        </p:nvSpPr>
        <p:spPr>
          <a:xfrm>
            <a:off x="2492817"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0" name="Illustrative delivered road transport cost class 4; reference terminal Lesedi"/>
          <p:cNvSpPr/>
          <p:nvPr/>
        </p:nvSpPr>
        <p:spPr>
          <a:xfrm>
            <a:off x="249281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1" name="Illustrative delivered road transport cost class 4; reference terminal Lesedi"/>
          <p:cNvSpPr/>
          <p:nvPr/>
        </p:nvSpPr>
        <p:spPr>
          <a:xfrm>
            <a:off x="249281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2" name="Illustrative delivered road transport cost class 4; reference terminal Lesedi"/>
          <p:cNvSpPr/>
          <p:nvPr/>
        </p:nvSpPr>
        <p:spPr>
          <a:xfrm>
            <a:off x="249281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3" name="Illustrative delivered road transport cost class 4; reference terminal Lesedi"/>
          <p:cNvSpPr/>
          <p:nvPr/>
        </p:nvSpPr>
        <p:spPr>
          <a:xfrm>
            <a:off x="249281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4" name="Illustrative delivered road transport cost class 4; reference terminal Lesedi"/>
          <p:cNvSpPr/>
          <p:nvPr/>
        </p:nvSpPr>
        <p:spPr>
          <a:xfrm>
            <a:off x="249281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5" name="Illustrative delivered road transport cost class 4; reference terminal Lesedi"/>
          <p:cNvSpPr/>
          <p:nvPr/>
        </p:nvSpPr>
        <p:spPr>
          <a:xfrm>
            <a:off x="249281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6" name="Illustrative delivered road transport cost class None; reference terminal None"/>
          <p:cNvSpPr/>
          <p:nvPr/>
        </p:nvSpPr>
        <p:spPr>
          <a:xfrm>
            <a:off x="249281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7" name="Illustrative delivered road transport cost class None; reference terminal None"/>
          <p:cNvSpPr/>
          <p:nvPr/>
        </p:nvSpPr>
        <p:spPr>
          <a:xfrm>
            <a:off x="249281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8" name="Illustrative delivered road transport cost class None; reference terminal None"/>
          <p:cNvSpPr/>
          <p:nvPr/>
        </p:nvSpPr>
        <p:spPr>
          <a:xfrm>
            <a:off x="249281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9" name="Illustrative delivered road transport cost class None; reference terminal None"/>
          <p:cNvSpPr/>
          <p:nvPr/>
        </p:nvSpPr>
        <p:spPr>
          <a:xfrm>
            <a:off x="249281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0" name="Illustrative delivered road transport cost class None; reference terminal None"/>
          <p:cNvSpPr/>
          <p:nvPr/>
        </p:nvSpPr>
        <p:spPr>
          <a:xfrm>
            <a:off x="2492817"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1" name="Illustrative delivered road transport cost class 4; reference terminal Lesedi"/>
          <p:cNvSpPr/>
          <p:nvPr/>
        </p:nvSpPr>
        <p:spPr>
          <a:xfrm>
            <a:off x="2492817"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2" name="Illustrative delivered road transport cost class 4; reference terminal Lesedi"/>
          <p:cNvSpPr/>
          <p:nvPr/>
        </p:nvSpPr>
        <p:spPr>
          <a:xfrm>
            <a:off x="2492817"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3" name="Illustrative delivered road transport cost class 4; reference terminal Lesedi"/>
          <p:cNvSpPr/>
          <p:nvPr/>
        </p:nvSpPr>
        <p:spPr>
          <a:xfrm>
            <a:off x="2492817"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4" name="Illustrative delivered road transport cost class 4; reference terminal Lesedi"/>
          <p:cNvSpPr/>
          <p:nvPr/>
        </p:nvSpPr>
        <p:spPr>
          <a:xfrm>
            <a:off x="2492817"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5" name="Illustrative delivered road transport cost class 4; reference terminal Lesedi"/>
          <p:cNvSpPr/>
          <p:nvPr/>
        </p:nvSpPr>
        <p:spPr>
          <a:xfrm>
            <a:off x="2492817"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6" name="Illustrative delivered road transport cost class 4; reference terminal Lesedi"/>
          <p:cNvSpPr/>
          <p:nvPr/>
        </p:nvSpPr>
        <p:spPr>
          <a:xfrm>
            <a:off x="2492817"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7" name="Illustrative delivered road transport cost class 4; reference terminal Lesedi"/>
          <p:cNvSpPr/>
          <p:nvPr/>
        </p:nvSpPr>
        <p:spPr>
          <a:xfrm>
            <a:off x="2492817" y="3940695"/>
            <a:ext cx="57686" cy="57687"/>
          </a:xfrm>
          <a:custGeom>
            <a:avLst/>
            <a:gdLst/>
            <a:ahLst/>
            <a:cxnLst/>
            <a:rect l="l" t="t" r="r" b="b"/>
            <a:pathLst>
              <a:path w="57686" h="57687">
                <a:moveTo>
                  <a:pt x="57686" y="0"/>
                </a:moveTo>
                <a:lnTo>
                  <a:pt x="57686" y="57687"/>
                </a:lnTo>
                <a:lnTo>
                  <a:pt x="0" y="57687"/>
                </a:lnTo>
                <a:lnTo>
                  <a:pt x="0" y="21069"/>
                </a:lnTo>
                <a:lnTo>
                  <a:pt x="8428" y="15396"/>
                </a:lnTo>
                <a:lnTo>
                  <a:pt x="52698"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8" name="Illustrative delivered road transport cost class 4; reference terminal Lesedi"/>
          <p:cNvSpPr/>
          <p:nvPr/>
        </p:nvSpPr>
        <p:spPr>
          <a:xfrm>
            <a:off x="2549204" y="3421516"/>
            <a:ext cx="1299" cy="32656"/>
          </a:xfrm>
          <a:custGeom>
            <a:avLst/>
            <a:gdLst/>
            <a:ahLst/>
            <a:cxnLst/>
            <a:rect l="l" t="t" r="r" b="b"/>
            <a:pathLst>
              <a:path w="1299" h="32656">
                <a:moveTo>
                  <a:pt x="1299" y="0"/>
                </a:moveTo>
                <a:lnTo>
                  <a:pt x="1299" y="32656"/>
                </a:lnTo>
                <a:lnTo>
                  <a:pt x="1081" y="27216"/>
                </a:lnTo>
                <a:lnTo>
                  <a:pt x="0" y="0"/>
                </a:lnTo>
                <a:lnTo>
                  <a:pt x="129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9" name="Illustrative delivered road transport cost class 4; reference terminal Lesedi"/>
          <p:cNvSpPr/>
          <p:nvPr/>
        </p:nvSpPr>
        <p:spPr>
          <a:xfrm>
            <a:off x="2546913" y="3363829"/>
            <a:ext cx="3590" cy="57687"/>
          </a:xfrm>
          <a:custGeom>
            <a:avLst/>
            <a:gdLst/>
            <a:ahLst/>
            <a:cxnLst/>
            <a:rect l="l" t="t" r="r" b="b"/>
            <a:pathLst>
              <a:path w="3590" h="57687">
                <a:moveTo>
                  <a:pt x="3590" y="0"/>
                </a:moveTo>
                <a:lnTo>
                  <a:pt x="3590" y="57687"/>
                </a:lnTo>
                <a:lnTo>
                  <a:pt x="2291" y="57687"/>
                </a:lnTo>
                <a:lnTo>
                  <a:pt x="0" y="0"/>
                </a:lnTo>
                <a:lnTo>
                  <a:pt x="35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0" name="Illustrative delivered road transport cost class 4; reference terminal Lesedi"/>
          <p:cNvSpPr/>
          <p:nvPr/>
        </p:nvSpPr>
        <p:spPr>
          <a:xfrm>
            <a:off x="2544635" y="3306143"/>
            <a:ext cx="5868" cy="57686"/>
          </a:xfrm>
          <a:custGeom>
            <a:avLst/>
            <a:gdLst/>
            <a:ahLst/>
            <a:cxnLst/>
            <a:rect l="l" t="t" r="r" b="b"/>
            <a:pathLst>
              <a:path w="5868" h="57686">
                <a:moveTo>
                  <a:pt x="5868" y="0"/>
                </a:moveTo>
                <a:lnTo>
                  <a:pt x="5868" y="57686"/>
                </a:lnTo>
                <a:lnTo>
                  <a:pt x="2278" y="57686"/>
                </a:lnTo>
                <a:lnTo>
                  <a:pt x="1135" y="28904"/>
                </a:lnTo>
                <a:lnTo>
                  <a:pt x="0" y="0"/>
                </a:lnTo>
                <a:lnTo>
                  <a:pt x="586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1" name="Illustrative delivered road transport cost class 4; reference terminal Lesedi"/>
          <p:cNvSpPr/>
          <p:nvPr/>
        </p:nvSpPr>
        <p:spPr>
          <a:xfrm>
            <a:off x="2542370" y="3248456"/>
            <a:ext cx="8133" cy="57687"/>
          </a:xfrm>
          <a:custGeom>
            <a:avLst/>
            <a:gdLst/>
            <a:ahLst/>
            <a:cxnLst/>
            <a:rect l="l" t="t" r="r" b="b"/>
            <a:pathLst>
              <a:path w="8133" h="57687">
                <a:moveTo>
                  <a:pt x="8133" y="0"/>
                </a:moveTo>
                <a:lnTo>
                  <a:pt x="8133" y="57687"/>
                </a:lnTo>
                <a:lnTo>
                  <a:pt x="2265" y="57687"/>
                </a:lnTo>
                <a:lnTo>
                  <a:pt x="0" y="0"/>
                </a:lnTo>
                <a:lnTo>
                  <a:pt x="813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2" name="Illustrative delivered road transport cost class 4; reference terminal Lesedi"/>
          <p:cNvSpPr/>
          <p:nvPr/>
        </p:nvSpPr>
        <p:spPr>
          <a:xfrm>
            <a:off x="2540119" y="3190770"/>
            <a:ext cx="10384" cy="57686"/>
          </a:xfrm>
          <a:custGeom>
            <a:avLst/>
            <a:gdLst/>
            <a:ahLst/>
            <a:cxnLst/>
            <a:rect l="l" t="t" r="r" b="b"/>
            <a:pathLst>
              <a:path w="10384" h="57686">
                <a:moveTo>
                  <a:pt x="10384" y="0"/>
                </a:moveTo>
                <a:lnTo>
                  <a:pt x="10384" y="57686"/>
                </a:lnTo>
                <a:lnTo>
                  <a:pt x="2251" y="57686"/>
                </a:lnTo>
                <a:lnTo>
                  <a:pt x="1189" y="30632"/>
                </a:lnTo>
                <a:lnTo>
                  <a:pt x="0" y="0"/>
                </a:lnTo>
                <a:lnTo>
                  <a:pt x="1038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3" name="Illustrative delivered road transport cost class 4; reference terminal Lesedi"/>
          <p:cNvSpPr/>
          <p:nvPr/>
        </p:nvSpPr>
        <p:spPr>
          <a:xfrm>
            <a:off x="2537880" y="3133083"/>
            <a:ext cx="12623" cy="57687"/>
          </a:xfrm>
          <a:custGeom>
            <a:avLst/>
            <a:gdLst/>
            <a:ahLst/>
            <a:cxnLst/>
            <a:rect l="l" t="t" r="r" b="b"/>
            <a:pathLst>
              <a:path w="12623" h="57687">
                <a:moveTo>
                  <a:pt x="12623" y="0"/>
                </a:moveTo>
                <a:lnTo>
                  <a:pt x="12623" y="57687"/>
                </a:lnTo>
                <a:lnTo>
                  <a:pt x="2239" y="57687"/>
                </a:lnTo>
                <a:lnTo>
                  <a:pt x="0" y="0"/>
                </a:lnTo>
                <a:lnTo>
                  <a:pt x="126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4" name="Illustrative delivered road transport cost class 4; reference terminal Lesedi"/>
          <p:cNvSpPr/>
          <p:nvPr/>
        </p:nvSpPr>
        <p:spPr>
          <a:xfrm>
            <a:off x="2535654" y="3075396"/>
            <a:ext cx="14849" cy="57687"/>
          </a:xfrm>
          <a:custGeom>
            <a:avLst/>
            <a:gdLst/>
            <a:ahLst/>
            <a:cxnLst/>
            <a:rect l="l" t="t" r="r" b="b"/>
            <a:pathLst>
              <a:path w="14849" h="57687">
                <a:moveTo>
                  <a:pt x="14849" y="0"/>
                </a:moveTo>
                <a:lnTo>
                  <a:pt x="14849" y="57687"/>
                </a:lnTo>
                <a:lnTo>
                  <a:pt x="2226" y="57687"/>
                </a:lnTo>
                <a:lnTo>
                  <a:pt x="1242" y="32353"/>
                </a:lnTo>
                <a:lnTo>
                  <a:pt x="0" y="0"/>
                </a:lnTo>
                <a:lnTo>
                  <a:pt x="1484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5" name="Illustrative delivered road transport cost class 4; reference terminal Lesedi"/>
          <p:cNvSpPr/>
          <p:nvPr/>
        </p:nvSpPr>
        <p:spPr>
          <a:xfrm>
            <a:off x="2533440" y="3017710"/>
            <a:ext cx="17063" cy="57686"/>
          </a:xfrm>
          <a:custGeom>
            <a:avLst/>
            <a:gdLst/>
            <a:ahLst/>
            <a:cxnLst/>
            <a:rect l="l" t="t" r="r" b="b"/>
            <a:pathLst>
              <a:path w="17063" h="57686">
                <a:moveTo>
                  <a:pt x="17063" y="0"/>
                </a:moveTo>
                <a:lnTo>
                  <a:pt x="17063" y="57686"/>
                </a:lnTo>
                <a:lnTo>
                  <a:pt x="2214" y="57686"/>
                </a:lnTo>
                <a:lnTo>
                  <a:pt x="0" y="0"/>
                </a:lnTo>
                <a:lnTo>
                  <a:pt x="1706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6" name="Illustrative delivered road transport cost class None; reference terminal None"/>
          <p:cNvSpPr/>
          <p:nvPr/>
        </p:nvSpPr>
        <p:spPr>
          <a:xfrm>
            <a:off x="2532778" y="3000452"/>
            <a:ext cx="17725" cy="17258"/>
          </a:xfrm>
          <a:custGeom>
            <a:avLst/>
            <a:gdLst/>
            <a:ahLst/>
            <a:cxnLst/>
            <a:rect l="l" t="t" r="r" b="b"/>
            <a:pathLst>
              <a:path w="17725" h="17258">
                <a:moveTo>
                  <a:pt x="17725" y="17258"/>
                </a:moveTo>
                <a:lnTo>
                  <a:pt x="662" y="17258"/>
                </a:lnTo>
                <a:lnTo>
                  <a:pt x="0" y="0"/>
                </a:lnTo>
                <a:lnTo>
                  <a:pt x="11517" y="7276"/>
                </a:lnTo>
                <a:lnTo>
                  <a:pt x="17725" y="11700"/>
                </a:lnTo>
                <a:lnTo>
                  <a:pt x="17725" y="172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7" name="Illustrative delivered road transport cost class 4; reference terminal Durban"/>
          <p:cNvSpPr/>
          <p:nvPr/>
        </p:nvSpPr>
        <p:spPr>
          <a:xfrm>
            <a:off x="2550503" y="5498232"/>
            <a:ext cx="57687" cy="56008"/>
          </a:xfrm>
          <a:custGeom>
            <a:avLst/>
            <a:gdLst/>
            <a:ahLst/>
            <a:cxnLst/>
            <a:rect l="l" t="t" r="r" b="b"/>
            <a:pathLst>
              <a:path w="57687" h="56008">
                <a:moveTo>
                  <a:pt x="0" y="0"/>
                </a:moveTo>
                <a:lnTo>
                  <a:pt x="57687" y="0"/>
                </a:lnTo>
                <a:lnTo>
                  <a:pt x="57687" y="54951"/>
                </a:lnTo>
                <a:lnTo>
                  <a:pt x="19459" y="56008"/>
                </a:lnTo>
                <a:lnTo>
                  <a:pt x="0" y="4317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8" name="Illustrative delivered road transport cost class 4; reference terminal Durban"/>
          <p:cNvSpPr/>
          <p:nvPr/>
        </p:nvSpPr>
        <p:spPr>
          <a:xfrm>
            <a:off x="2550503" y="544054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9" name="Illustrative delivered road transport cost class 4; reference terminal Durban"/>
          <p:cNvSpPr/>
          <p:nvPr/>
        </p:nvSpPr>
        <p:spPr>
          <a:xfrm>
            <a:off x="255050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0" name="Illustrative delivered road transport cost class 4; reference terminal Lesedi"/>
          <p:cNvSpPr/>
          <p:nvPr/>
        </p:nvSpPr>
        <p:spPr>
          <a:xfrm>
            <a:off x="255050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1" name="Illustrative delivered road transport cost class 4; reference terminal Lesedi"/>
          <p:cNvSpPr/>
          <p:nvPr/>
        </p:nvSpPr>
        <p:spPr>
          <a:xfrm>
            <a:off x="255050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2" name="Illustrative delivered road transport cost class 4; reference terminal Lesedi"/>
          <p:cNvSpPr/>
          <p:nvPr/>
        </p:nvSpPr>
        <p:spPr>
          <a:xfrm>
            <a:off x="255050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3" name="Illustrative delivered road transport cost class 4; reference terminal Lesedi"/>
          <p:cNvSpPr/>
          <p:nvPr/>
        </p:nvSpPr>
        <p:spPr>
          <a:xfrm>
            <a:off x="255050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4" name="Illustrative delivered road transport cost class 4; reference terminal Lesedi"/>
          <p:cNvSpPr/>
          <p:nvPr/>
        </p:nvSpPr>
        <p:spPr>
          <a:xfrm>
            <a:off x="255050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5" name="Illustrative delivered road transport cost class 4; reference terminal Lesedi"/>
          <p:cNvSpPr/>
          <p:nvPr/>
        </p:nvSpPr>
        <p:spPr>
          <a:xfrm>
            <a:off x="255050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6" name="Illustrative delivered road transport cost class 4; reference terminal Lesedi"/>
          <p:cNvSpPr/>
          <p:nvPr/>
        </p:nvSpPr>
        <p:spPr>
          <a:xfrm>
            <a:off x="255050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7" name="Illustrative delivered road transport cost class 4; reference terminal Lesedi"/>
          <p:cNvSpPr/>
          <p:nvPr/>
        </p:nvSpPr>
        <p:spPr>
          <a:xfrm>
            <a:off x="255050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8" name="Illustrative delivered road transport cost class 4; reference terminal Lesedi"/>
          <p:cNvSpPr/>
          <p:nvPr/>
        </p:nvSpPr>
        <p:spPr>
          <a:xfrm>
            <a:off x="255050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9" name="Illustrative delivered road transport cost class 4; reference terminal Lesedi"/>
          <p:cNvSpPr/>
          <p:nvPr/>
        </p:nvSpPr>
        <p:spPr>
          <a:xfrm>
            <a:off x="255050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0" name="Illustrative delivered road transport cost class None; reference terminal None"/>
          <p:cNvSpPr/>
          <p:nvPr/>
        </p:nvSpPr>
        <p:spPr>
          <a:xfrm>
            <a:off x="255050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1" name="Illustrative delivered road transport cost class None; reference terminal None"/>
          <p:cNvSpPr/>
          <p:nvPr/>
        </p:nvSpPr>
        <p:spPr>
          <a:xfrm>
            <a:off x="255050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2" name="Illustrative delivered road transport cost class None; reference terminal None"/>
          <p:cNvSpPr/>
          <p:nvPr/>
        </p:nvSpPr>
        <p:spPr>
          <a:xfrm>
            <a:off x="255050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3" name="Illustrative delivered road transport cost class None; reference terminal None"/>
          <p:cNvSpPr/>
          <p:nvPr/>
        </p:nvSpPr>
        <p:spPr>
          <a:xfrm>
            <a:off x="255050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4" name="Illustrative delivered road transport cost class None; reference terminal None"/>
          <p:cNvSpPr/>
          <p:nvPr/>
        </p:nvSpPr>
        <p:spPr>
          <a:xfrm>
            <a:off x="255050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5" name="Illustrative delivered road transport cost class None; reference terminal None"/>
          <p:cNvSpPr/>
          <p:nvPr/>
        </p:nvSpPr>
        <p:spPr>
          <a:xfrm>
            <a:off x="255050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6" name="Illustrative delivered road transport cost class None; reference terminal None"/>
          <p:cNvSpPr/>
          <p:nvPr/>
        </p:nvSpPr>
        <p:spPr>
          <a:xfrm>
            <a:off x="255050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7" name="Illustrative delivered road transport cost class None; reference terminal None"/>
          <p:cNvSpPr/>
          <p:nvPr/>
        </p:nvSpPr>
        <p:spPr>
          <a:xfrm>
            <a:off x="255050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8" name="Illustrative delivered road transport cost class None; reference terminal None"/>
          <p:cNvSpPr/>
          <p:nvPr/>
        </p:nvSpPr>
        <p:spPr>
          <a:xfrm>
            <a:off x="255050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9" name="Illustrative delivered road transport cost class 4; reference terminal Lesedi"/>
          <p:cNvSpPr/>
          <p:nvPr/>
        </p:nvSpPr>
        <p:spPr>
          <a:xfrm>
            <a:off x="255050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0" name="Illustrative delivered road transport cost class 4; reference terminal Lesedi"/>
          <p:cNvSpPr/>
          <p:nvPr/>
        </p:nvSpPr>
        <p:spPr>
          <a:xfrm>
            <a:off x="255050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1" name="Illustrative delivered road transport cost class 4; reference terminal Lesedi"/>
          <p:cNvSpPr/>
          <p:nvPr/>
        </p:nvSpPr>
        <p:spPr>
          <a:xfrm>
            <a:off x="255050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2" name="Illustrative delivered road transport cost class 4; reference terminal Lesedi"/>
          <p:cNvSpPr/>
          <p:nvPr/>
        </p:nvSpPr>
        <p:spPr>
          <a:xfrm>
            <a:off x="255050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3" name="Illustrative delivered road transport cost class 4; reference terminal Lesedi"/>
          <p:cNvSpPr/>
          <p:nvPr/>
        </p:nvSpPr>
        <p:spPr>
          <a:xfrm>
            <a:off x="255050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4" name="Illustrative delivered road transport cost class 4; reference terminal Lesedi"/>
          <p:cNvSpPr/>
          <p:nvPr/>
        </p:nvSpPr>
        <p:spPr>
          <a:xfrm>
            <a:off x="255050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5" name="Illustrative delivered road transport cost class 4; reference terminal Lesedi"/>
          <p:cNvSpPr/>
          <p:nvPr/>
        </p:nvSpPr>
        <p:spPr>
          <a:xfrm>
            <a:off x="2550503" y="3883008"/>
            <a:ext cx="57687" cy="57687"/>
          </a:xfrm>
          <a:custGeom>
            <a:avLst/>
            <a:gdLst/>
            <a:ahLst/>
            <a:cxnLst/>
            <a:rect l="l" t="t" r="r" b="b"/>
            <a:pathLst>
              <a:path w="57687" h="57687">
                <a:moveTo>
                  <a:pt x="57687" y="0"/>
                </a:moveTo>
                <a:lnTo>
                  <a:pt x="57687" y="57687"/>
                </a:lnTo>
                <a:lnTo>
                  <a:pt x="0" y="57687"/>
                </a:lnTo>
                <a:lnTo>
                  <a:pt x="0" y="57034"/>
                </a:lnTo>
                <a:lnTo>
                  <a:pt x="19858" y="56596"/>
                </a:lnTo>
                <a:lnTo>
                  <a:pt x="18352" y="20565"/>
                </a:lnTo>
                <a:lnTo>
                  <a:pt x="17499"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6" name="Illustrative delivered road transport cost class 4; reference terminal Lesedi"/>
          <p:cNvSpPr/>
          <p:nvPr/>
        </p:nvSpPr>
        <p:spPr>
          <a:xfrm>
            <a:off x="2565608" y="3825322"/>
            <a:ext cx="42582" cy="57686"/>
          </a:xfrm>
          <a:custGeom>
            <a:avLst/>
            <a:gdLst/>
            <a:ahLst/>
            <a:cxnLst/>
            <a:rect l="l" t="t" r="r" b="b"/>
            <a:pathLst>
              <a:path w="42582" h="57686">
                <a:moveTo>
                  <a:pt x="42582" y="0"/>
                </a:moveTo>
                <a:lnTo>
                  <a:pt x="42582" y="57686"/>
                </a:lnTo>
                <a:lnTo>
                  <a:pt x="2394" y="57686"/>
                </a:lnTo>
                <a:lnTo>
                  <a:pt x="0" y="0"/>
                </a:lnTo>
                <a:lnTo>
                  <a:pt x="425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7" name="Illustrative delivered road transport cost class 4; reference terminal Lesedi"/>
          <p:cNvSpPr/>
          <p:nvPr/>
        </p:nvSpPr>
        <p:spPr>
          <a:xfrm>
            <a:off x="2563224" y="3767635"/>
            <a:ext cx="44966" cy="57687"/>
          </a:xfrm>
          <a:custGeom>
            <a:avLst/>
            <a:gdLst/>
            <a:ahLst/>
            <a:cxnLst/>
            <a:rect l="l" t="t" r="r" b="b"/>
            <a:pathLst>
              <a:path w="44966" h="57687">
                <a:moveTo>
                  <a:pt x="44966" y="0"/>
                </a:moveTo>
                <a:lnTo>
                  <a:pt x="44966" y="57687"/>
                </a:lnTo>
                <a:lnTo>
                  <a:pt x="2384" y="57687"/>
                </a:lnTo>
                <a:lnTo>
                  <a:pt x="912" y="22206"/>
                </a:lnTo>
                <a:lnTo>
                  <a:pt x="0" y="0"/>
                </a:lnTo>
                <a:lnTo>
                  <a:pt x="449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8" name="Illustrative delivered road transport cost class 4; reference terminal Lesedi"/>
          <p:cNvSpPr/>
          <p:nvPr/>
        </p:nvSpPr>
        <p:spPr>
          <a:xfrm>
            <a:off x="2560856" y="3709949"/>
            <a:ext cx="47334" cy="57686"/>
          </a:xfrm>
          <a:custGeom>
            <a:avLst/>
            <a:gdLst/>
            <a:ahLst/>
            <a:cxnLst/>
            <a:rect l="l" t="t" r="r" b="b"/>
            <a:pathLst>
              <a:path w="47334" h="57686">
                <a:moveTo>
                  <a:pt x="47334" y="0"/>
                </a:moveTo>
                <a:lnTo>
                  <a:pt x="47334" y="57686"/>
                </a:lnTo>
                <a:lnTo>
                  <a:pt x="2368" y="57686"/>
                </a:lnTo>
                <a:lnTo>
                  <a:pt x="0" y="0"/>
                </a:lnTo>
                <a:lnTo>
                  <a:pt x="4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9" name="Illustrative delivered road transport cost class 4; reference terminal Lesedi"/>
          <p:cNvSpPr/>
          <p:nvPr/>
        </p:nvSpPr>
        <p:spPr>
          <a:xfrm>
            <a:off x="2558498" y="3652262"/>
            <a:ext cx="49692" cy="57687"/>
          </a:xfrm>
          <a:custGeom>
            <a:avLst/>
            <a:gdLst/>
            <a:ahLst/>
            <a:cxnLst/>
            <a:rect l="l" t="t" r="r" b="b"/>
            <a:pathLst>
              <a:path w="49692" h="57687">
                <a:moveTo>
                  <a:pt x="49692" y="0"/>
                </a:moveTo>
                <a:lnTo>
                  <a:pt x="49692" y="57687"/>
                </a:lnTo>
                <a:lnTo>
                  <a:pt x="2358" y="57687"/>
                </a:lnTo>
                <a:lnTo>
                  <a:pt x="969" y="23856"/>
                </a:lnTo>
                <a:lnTo>
                  <a:pt x="0" y="0"/>
                </a:lnTo>
                <a:lnTo>
                  <a:pt x="4969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0" name="Illustrative delivered road transport cost class 4; reference terminal Lesedi"/>
          <p:cNvSpPr/>
          <p:nvPr/>
        </p:nvSpPr>
        <p:spPr>
          <a:xfrm>
            <a:off x="2556156" y="3594576"/>
            <a:ext cx="52034" cy="57686"/>
          </a:xfrm>
          <a:custGeom>
            <a:avLst/>
            <a:gdLst/>
            <a:ahLst/>
            <a:cxnLst/>
            <a:rect l="l" t="t" r="r" b="b"/>
            <a:pathLst>
              <a:path w="52034" h="57686">
                <a:moveTo>
                  <a:pt x="52034" y="0"/>
                </a:moveTo>
                <a:lnTo>
                  <a:pt x="52034" y="57686"/>
                </a:lnTo>
                <a:lnTo>
                  <a:pt x="2342" y="57686"/>
                </a:lnTo>
                <a:lnTo>
                  <a:pt x="0" y="0"/>
                </a:lnTo>
                <a:lnTo>
                  <a:pt x="520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1" name="Illustrative delivered road transport cost class 4; reference terminal Lesedi"/>
          <p:cNvSpPr/>
          <p:nvPr/>
        </p:nvSpPr>
        <p:spPr>
          <a:xfrm>
            <a:off x="2553825" y="3536889"/>
            <a:ext cx="54365" cy="57687"/>
          </a:xfrm>
          <a:custGeom>
            <a:avLst/>
            <a:gdLst/>
            <a:ahLst/>
            <a:cxnLst/>
            <a:rect l="l" t="t" r="r" b="b"/>
            <a:pathLst>
              <a:path w="54365" h="57687">
                <a:moveTo>
                  <a:pt x="54365" y="0"/>
                </a:moveTo>
                <a:lnTo>
                  <a:pt x="54365" y="57687"/>
                </a:lnTo>
                <a:lnTo>
                  <a:pt x="2331" y="57687"/>
                </a:lnTo>
                <a:lnTo>
                  <a:pt x="1026" y="25543"/>
                </a:lnTo>
                <a:lnTo>
                  <a:pt x="0" y="0"/>
                </a:lnTo>
                <a:lnTo>
                  <a:pt x="5436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2" name="Illustrative delivered road transport cost class 4; reference terminal Lesedi"/>
          <p:cNvSpPr/>
          <p:nvPr/>
        </p:nvSpPr>
        <p:spPr>
          <a:xfrm>
            <a:off x="2551508" y="3479202"/>
            <a:ext cx="56682" cy="57687"/>
          </a:xfrm>
          <a:custGeom>
            <a:avLst/>
            <a:gdLst/>
            <a:ahLst/>
            <a:cxnLst/>
            <a:rect l="l" t="t" r="r" b="b"/>
            <a:pathLst>
              <a:path w="56682" h="57687">
                <a:moveTo>
                  <a:pt x="56682" y="0"/>
                </a:moveTo>
                <a:lnTo>
                  <a:pt x="56682" y="57687"/>
                </a:lnTo>
                <a:lnTo>
                  <a:pt x="2317" y="57687"/>
                </a:lnTo>
                <a:lnTo>
                  <a:pt x="0" y="0"/>
                </a:lnTo>
                <a:lnTo>
                  <a:pt x="566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3" name="Illustrative delivered road transport cost class 4; reference terminal Lesedi"/>
          <p:cNvSpPr/>
          <p:nvPr/>
        </p:nvSpPr>
        <p:spPr>
          <a:xfrm>
            <a:off x="2550503" y="3421516"/>
            <a:ext cx="57687" cy="57686"/>
          </a:xfrm>
          <a:custGeom>
            <a:avLst/>
            <a:gdLst/>
            <a:ahLst/>
            <a:cxnLst/>
            <a:rect l="l" t="t" r="r" b="b"/>
            <a:pathLst>
              <a:path w="57687" h="57686">
                <a:moveTo>
                  <a:pt x="0" y="0"/>
                </a:moveTo>
                <a:lnTo>
                  <a:pt x="57687" y="0"/>
                </a:lnTo>
                <a:lnTo>
                  <a:pt x="57687" y="57686"/>
                </a:lnTo>
                <a:lnTo>
                  <a:pt x="1005" y="57686"/>
                </a:lnTo>
                <a:lnTo>
                  <a:pt x="0" y="3265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4" name="Illustrative delivered road transport cost class 4; reference terminal Lesedi"/>
          <p:cNvSpPr/>
          <p:nvPr/>
        </p:nvSpPr>
        <p:spPr>
          <a:xfrm>
            <a:off x="255050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5" name="Illustrative delivered road transport cost class 4; reference terminal Lesedi"/>
          <p:cNvSpPr/>
          <p:nvPr/>
        </p:nvSpPr>
        <p:spPr>
          <a:xfrm>
            <a:off x="255050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6" name="Illustrative delivered road transport cost class 4; reference terminal Lesedi"/>
          <p:cNvSpPr/>
          <p:nvPr/>
        </p:nvSpPr>
        <p:spPr>
          <a:xfrm>
            <a:off x="255050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7" name="Illustrative delivered road transport cost class 4; reference terminal Lesedi"/>
          <p:cNvSpPr/>
          <p:nvPr/>
        </p:nvSpPr>
        <p:spPr>
          <a:xfrm>
            <a:off x="255050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8" name="Illustrative delivered road transport cost class 4; reference terminal Lesedi"/>
          <p:cNvSpPr/>
          <p:nvPr/>
        </p:nvSpPr>
        <p:spPr>
          <a:xfrm>
            <a:off x="255050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9" name="Illustrative delivered road transport cost class 4; reference terminal Lesedi"/>
          <p:cNvSpPr/>
          <p:nvPr/>
        </p:nvSpPr>
        <p:spPr>
          <a:xfrm>
            <a:off x="255050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0" name="Illustrative delivered road transport cost class 4; reference terminal Lesedi"/>
          <p:cNvSpPr/>
          <p:nvPr/>
        </p:nvSpPr>
        <p:spPr>
          <a:xfrm>
            <a:off x="2550503" y="3017710"/>
            <a:ext cx="57687" cy="57686"/>
          </a:xfrm>
          <a:custGeom>
            <a:avLst/>
            <a:gdLst/>
            <a:ahLst/>
            <a:cxnLst/>
            <a:rect l="l" t="t" r="r" b="b"/>
            <a:pathLst>
              <a:path w="57687" h="57686">
                <a:moveTo>
                  <a:pt x="57687" y="57686"/>
                </a:moveTo>
                <a:lnTo>
                  <a:pt x="0" y="57686"/>
                </a:lnTo>
                <a:lnTo>
                  <a:pt x="0" y="0"/>
                </a:lnTo>
                <a:lnTo>
                  <a:pt x="7800" y="0"/>
                </a:lnTo>
                <a:lnTo>
                  <a:pt x="57687" y="35548"/>
                </a:lnTo>
                <a:lnTo>
                  <a:pt x="57687"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1" name="Illustrative delivered road transport cost class None; reference terminal None"/>
          <p:cNvSpPr/>
          <p:nvPr/>
        </p:nvSpPr>
        <p:spPr>
          <a:xfrm>
            <a:off x="2550503" y="3012152"/>
            <a:ext cx="7800" cy="5558"/>
          </a:xfrm>
          <a:custGeom>
            <a:avLst/>
            <a:gdLst/>
            <a:ahLst/>
            <a:cxnLst/>
            <a:rect l="l" t="t" r="r" b="b"/>
            <a:pathLst>
              <a:path w="7800" h="5558">
                <a:moveTo>
                  <a:pt x="0" y="5558"/>
                </a:moveTo>
                <a:lnTo>
                  <a:pt x="0" y="0"/>
                </a:lnTo>
                <a:lnTo>
                  <a:pt x="7800" y="5558"/>
                </a:lnTo>
                <a:lnTo>
                  <a:pt x="0" y="55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2" name="Illustrative delivered road transport cost class 4; reference terminal Durban"/>
          <p:cNvSpPr/>
          <p:nvPr/>
        </p:nvSpPr>
        <p:spPr>
          <a:xfrm>
            <a:off x="2627732" y="5555919"/>
            <a:ext cx="27334" cy="2892"/>
          </a:xfrm>
          <a:custGeom>
            <a:avLst/>
            <a:gdLst/>
            <a:ahLst/>
            <a:cxnLst/>
            <a:rect l="l" t="t" r="r" b="b"/>
            <a:pathLst>
              <a:path w="27334" h="2892">
                <a:moveTo>
                  <a:pt x="27334" y="0"/>
                </a:moveTo>
                <a:lnTo>
                  <a:pt x="24061" y="2892"/>
                </a:lnTo>
                <a:lnTo>
                  <a:pt x="4009" y="955"/>
                </a:lnTo>
                <a:lnTo>
                  <a:pt x="0" y="0"/>
                </a:lnTo>
                <a:lnTo>
                  <a:pt x="2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3" name="Illustrative delivered road transport cost class 4; reference terminal Durban"/>
          <p:cNvSpPr/>
          <p:nvPr/>
        </p:nvSpPr>
        <p:spPr>
          <a:xfrm>
            <a:off x="2608190" y="5498232"/>
            <a:ext cx="57686" cy="57687"/>
          </a:xfrm>
          <a:custGeom>
            <a:avLst/>
            <a:gdLst/>
            <a:ahLst/>
            <a:cxnLst/>
            <a:rect l="l" t="t" r="r" b="b"/>
            <a:pathLst>
              <a:path w="57686" h="57687">
                <a:moveTo>
                  <a:pt x="0" y="0"/>
                </a:moveTo>
                <a:lnTo>
                  <a:pt x="57686" y="0"/>
                </a:lnTo>
                <a:lnTo>
                  <a:pt x="57686" y="48136"/>
                </a:lnTo>
                <a:lnTo>
                  <a:pt x="46876" y="57687"/>
                </a:lnTo>
                <a:lnTo>
                  <a:pt x="19542" y="57687"/>
                </a:lnTo>
                <a:lnTo>
                  <a:pt x="7220" y="54751"/>
                </a:lnTo>
                <a:lnTo>
                  <a:pt x="0" y="5495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4" name="Illustrative delivered road transport cost class 4; reference terminal Durban"/>
          <p:cNvSpPr/>
          <p:nvPr/>
        </p:nvSpPr>
        <p:spPr>
          <a:xfrm>
            <a:off x="2608190" y="544054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5" name="Illustrative delivered road transport cost class 4; reference terminal Durban"/>
          <p:cNvSpPr/>
          <p:nvPr/>
        </p:nvSpPr>
        <p:spPr>
          <a:xfrm>
            <a:off x="260819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6" name="Illustrative delivered road transport cost class 4; reference terminal Lesedi"/>
          <p:cNvSpPr/>
          <p:nvPr/>
        </p:nvSpPr>
        <p:spPr>
          <a:xfrm>
            <a:off x="260819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7" name="Illustrative delivered road transport cost class 4; reference terminal Lesedi"/>
          <p:cNvSpPr/>
          <p:nvPr/>
        </p:nvSpPr>
        <p:spPr>
          <a:xfrm>
            <a:off x="260819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8" name="Illustrative delivered road transport cost class 4; reference terminal Lesedi"/>
          <p:cNvSpPr/>
          <p:nvPr/>
        </p:nvSpPr>
        <p:spPr>
          <a:xfrm>
            <a:off x="260819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9" name="Illustrative delivered road transport cost class 4; reference terminal Lesedi"/>
          <p:cNvSpPr/>
          <p:nvPr/>
        </p:nvSpPr>
        <p:spPr>
          <a:xfrm>
            <a:off x="260819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0" name="Illustrative delivered road transport cost class 4; reference terminal Lesedi"/>
          <p:cNvSpPr/>
          <p:nvPr/>
        </p:nvSpPr>
        <p:spPr>
          <a:xfrm>
            <a:off x="260819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1" name="Illustrative delivered road transport cost class 4; reference terminal Lesedi"/>
          <p:cNvSpPr/>
          <p:nvPr/>
        </p:nvSpPr>
        <p:spPr>
          <a:xfrm>
            <a:off x="260819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2" name="Illustrative delivered road transport cost class 4; reference terminal Lesedi"/>
          <p:cNvSpPr/>
          <p:nvPr/>
        </p:nvSpPr>
        <p:spPr>
          <a:xfrm>
            <a:off x="260819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3" name="Illustrative delivered road transport cost class 4; reference terminal Lesedi"/>
          <p:cNvSpPr/>
          <p:nvPr/>
        </p:nvSpPr>
        <p:spPr>
          <a:xfrm>
            <a:off x="260819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4" name="Illustrative delivered road transport cost class None; reference terminal None"/>
          <p:cNvSpPr/>
          <p:nvPr/>
        </p:nvSpPr>
        <p:spPr>
          <a:xfrm>
            <a:off x="260819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5" name="Illustrative delivered road transport cost class None; reference terminal None"/>
          <p:cNvSpPr/>
          <p:nvPr/>
        </p:nvSpPr>
        <p:spPr>
          <a:xfrm>
            <a:off x="260819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6" name="Illustrative delivered road transport cost class None; reference terminal None"/>
          <p:cNvSpPr/>
          <p:nvPr/>
        </p:nvSpPr>
        <p:spPr>
          <a:xfrm>
            <a:off x="260819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7" name="Illustrative delivered road transport cost class None; reference terminal None"/>
          <p:cNvSpPr/>
          <p:nvPr/>
        </p:nvSpPr>
        <p:spPr>
          <a:xfrm>
            <a:off x="260819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8" name="Illustrative delivered road transport cost class None; reference terminal None"/>
          <p:cNvSpPr/>
          <p:nvPr/>
        </p:nvSpPr>
        <p:spPr>
          <a:xfrm>
            <a:off x="260819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9" name="Illustrative delivered road transport cost class None; reference terminal None"/>
          <p:cNvSpPr/>
          <p:nvPr/>
        </p:nvSpPr>
        <p:spPr>
          <a:xfrm>
            <a:off x="260819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0" name="Illustrative delivered road transport cost class None; reference terminal None"/>
          <p:cNvSpPr/>
          <p:nvPr/>
        </p:nvSpPr>
        <p:spPr>
          <a:xfrm>
            <a:off x="260819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1" name="Illustrative delivered road transport cost class None; reference terminal None"/>
          <p:cNvSpPr/>
          <p:nvPr/>
        </p:nvSpPr>
        <p:spPr>
          <a:xfrm>
            <a:off x="260819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2" name="Illustrative delivered road transport cost class None; reference terminal None"/>
          <p:cNvSpPr/>
          <p:nvPr/>
        </p:nvSpPr>
        <p:spPr>
          <a:xfrm>
            <a:off x="260819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3" name="Illustrative delivered road transport cost class None; reference terminal None"/>
          <p:cNvSpPr/>
          <p:nvPr/>
        </p:nvSpPr>
        <p:spPr>
          <a:xfrm>
            <a:off x="260819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4" name="Illustrative delivered road transport cost class None; reference terminal None"/>
          <p:cNvSpPr/>
          <p:nvPr/>
        </p:nvSpPr>
        <p:spPr>
          <a:xfrm>
            <a:off x="260819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5" name="Illustrative delivered road transport cost class None; reference terminal None"/>
          <p:cNvSpPr/>
          <p:nvPr/>
        </p:nvSpPr>
        <p:spPr>
          <a:xfrm>
            <a:off x="260819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6" name="Illustrative delivered road transport cost class 4; reference terminal Lesedi"/>
          <p:cNvSpPr/>
          <p:nvPr/>
        </p:nvSpPr>
        <p:spPr>
          <a:xfrm>
            <a:off x="260819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7" name="Illustrative delivered road transport cost class 4; reference terminal Lesedi"/>
          <p:cNvSpPr/>
          <p:nvPr/>
        </p:nvSpPr>
        <p:spPr>
          <a:xfrm>
            <a:off x="260819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8" name="Illustrative delivered road transport cost class 4; reference terminal Lesedi"/>
          <p:cNvSpPr/>
          <p:nvPr/>
        </p:nvSpPr>
        <p:spPr>
          <a:xfrm>
            <a:off x="260819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9" name="Illustrative delivered road transport cost class 4; reference terminal Lesedi"/>
          <p:cNvSpPr/>
          <p:nvPr/>
        </p:nvSpPr>
        <p:spPr>
          <a:xfrm>
            <a:off x="260819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0" name="Illustrative delivered road transport cost class 4; reference terminal Lesedi"/>
          <p:cNvSpPr/>
          <p:nvPr/>
        </p:nvSpPr>
        <p:spPr>
          <a:xfrm>
            <a:off x="260819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1" name="Illustrative delivered road transport cost class 4; reference terminal Lesedi"/>
          <p:cNvSpPr/>
          <p:nvPr/>
        </p:nvSpPr>
        <p:spPr>
          <a:xfrm>
            <a:off x="260819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2" name="Illustrative delivered road transport cost class 4; reference terminal Lesedi"/>
          <p:cNvSpPr/>
          <p:nvPr/>
        </p:nvSpPr>
        <p:spPr>
          <a:xfrm>
            <a:off x="260819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3" name="Illustrative delivered road transport cost class 4; reference terminal Lesedi"/>
          <p:cNvSpPr/>
          <p:nvPr/>
        </p:nvSpPr>
        <p:spPr>
          <a:xfrm>
            <a:off x="260819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4" name="Illustrative delivered road transport cost class 4; reference terminal Lesedi"/>
          <p:cNvSpPr/>
          <p:nvPr/>
        </p:nvSpPr>
        <p:spPr>
          <a:xfrm>
            <a:off x="260819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5" name="Illustrative delivered road transport cost class 4; reference terminal Lesedi"/>
          <p:cNvSpPr/>
          <p:nvPr/>
        </p:nvSpPr>
        <p:spPr>
          <a:xfrm>
            <a:off x="260819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6" name="Illustrative delivered road transport cost class 4; reference terminal Lesedi"/>
          <p:cNvSpPr/>
          <p:nvPr/>
        </p:nvSpPr>
        <p:spPr>
          <a:xfrm>
            <a:off x="260819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7" name="Illustrative delivered road transport cost class 4; reference terminal Lesedi"/>
          <p:cNvSpPr/>
          <p:nvPr/>
        </p:nvSpPr>
        <p:spPr>
          <a:xfrm>
            <a:off x="260819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8" name="Illustrative delivered road transport cost class 4; reference terminal Lesedi"/>
          <p:cNvSpPr/>
          <p:nvPr/>
        </p:nvSpPr>
        <p:spPr>
          <a:xfrm>
            <a:off x="260819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9" name="Illustrative delivered road transport cost class 4; reference terminal Lesedi"/>
          <p:cNvSpPr/>
          <p:nvPr/>
        </p:nvSpPr>
        <p:spPr>
          <a:xfrm>
            <a:off x="260819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0" name="Illustrative delivered road transport cost class 4; reference terminal Lesedi"/>
          <p:cNvSpPr/>
          <p:nvPr/>
        </p:nvSpPr>
        <p:spPr>
          <a:xfrm>
            <a:off x="260819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1" name="Illustrative delivered road transport cost class 4; reference terminal Lesedi"/>
          <p:cNvSpPr/>
          <p:nvPr/>
        </p:nvSpPr>
        <p:spPr>
          <a:xfrm>
            <a:off x="260819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2" name="Illustrative delivered road transport cost class 4; reference terminal Lesedi"/>
          <p:cNvSpPr/>
          <p:nvPr/>
        </p:nvSpPr>
        <p:spPr>
          <a:xfrm>
            <a:off x="260819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3" name="Illustrative delivered road transport cost class 4; reference terminal Lesedi"/>
          <p:cNvSpPr/>
          <p:nvPr/>
        </p:nvSpPr>
        <p:spPr>
          <a:xfrm>
            <a:off x="260819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4" name="Illustrative delivered road transport cost class 4; reference terminal Lesedi"/>
          <p:cNvSpPr/>
          <p:nvPr/>
        </p:nvSpPr>
        <p:spPr>
          <a:xfrm>
            <a:off x="2608190" y="3133083"/>
            <a:ext cx="57686" cy="57687"/>
          </a:xfrm>
          <a:custGeom>
            <a:avLst/>
            <a:gdLst/>
            <a:ahLst/>
            <a:cxnLst/>
            <a:rect l="l" t="t" r="r" b="b"/>
            <a:pathLst>
              <a:path w="57686" h="57687">
                <a:moveTo>
                  <a:pt x="57686" y="57687"/>
                </a:moveTo>
                <a:lnTo>
                  <a:pt x="0" y="57687"/>
                </a:lnTo>
                <a:lnTo>
                  <a:pt x="0" y="0"/>
                </a:lnTo>
                <a:lnTo>
                  <a:pt x="55191" y="0"/>
                </a:lnTo>
                <a:lnTo>
                  <a:pt x="57686" y="4983"/>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5" name="Illustrative delivered road transport cost class 4; reference terminal Lesedi"/>
          <p:cNvSpPr/>
          <p:nvPr/>
        </p:nvSpPr>
        <p:spPr>
          <a:xfrm>
            <a:off x="2608190" y="3075396"/>
            <a:ext cx="55191" cy="57687"/>
          </a:xfrm>
          <a:custGeom>
            <a:avLst/>
            <a:gdLst/>
            <a:ahLst/>
            <a:cxnLst/>
            <a:rect l="l" t="t" r="r" b="b"/>
            <a:pathLst>
              <a:path w="55191" h="57687">
                <a:moveTo>
                  <a:pt x="0" y="57687"/>
                </a:moveTo>
                <a:lnTo>
                  <a:pt x="0" y="0"/>
                </a:lnTo>
                <a:lnTo>
                  <a:pt x="21710" y="0"/>
                </a:lnTo>
                <a:lnTo>
                  <a:pt x="32863" y="15553"/>
                </a:lnTo>
                <a:lnTo>
                  <a:pt x="43399" y="34147"/>
                </a:lnTo>
                <a:lnTo>
                  <a:pt x="55191"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6" name="Illustrative delivered road transport cost class 4; reference terminal Lesedi"/>
          <p:cNvSpPr/>
          <p:nvPr/>
        </p:nvSpPr>
        <p:spPr>
          <a:xfrm>
            <a:off x="2608190" y="3053258"/>
            <a:ext cx="21710" cy="22138"/>
          </a:xfrm>
          <a:custGeom>
            <a:avLst/>
            <a:gdLst/>
            <a:ahLst/>
            <a:cxnLst/>
            <a:rect l="l" t="t" r="r" b="b"/>
            <a:pathLst>
              <a:path w="21710" h="22138">
                <a:moveTo>
                  <a:pt x="0" y="22138"/>
                </a:moveTo>
                <a:lnTo>
                  <a:pt x="0" y="0"/>
                </a:lnTo>
                <a:lnTo>
                  <a:pt x="11930" y="8502"/>
                </a:lnTo>
                <a:lnTo>
                  <a:pt x="21710" y="22138"/>
                </a:lnTo>
                <a:lnTo>
                  <a:pt x="0" y="2213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7" name="Illustrative delivered road transport cost class 4; reference terminal Durban"/>
          <p:cNvSpPr/>
          <p:nvPr/>
        </p:nvSpPr>
        <p:spPr>
          <a:xfrm>
            <a:off x="2665876" y="5498232"/>
            <a:ext cx="54480" cy="48136"/>
          </a:xfrm>
          <a:custGeom>
            <a:avLst/>
            <a:gdLst/>
            <a:ahLst/>
            <a:cxnLst/>
            <a:rect l="l" t="t" r="r" b="b"/>
            <a:pathLst>
              <a:path w="54480" h="48136">
                <a:moveTo>
                  <a:pt x="0" y="0"/>
                </a:moveTo>
                <a:lnTo>
                  <a:pt x="54480" y="0"/>
                </a:lnTo>
                <a:lnTo>
                  <a:pt x="0" y="481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8" name="Illustrative delivered road transport cost class 4; reference terminal Durban"/>
          <p:cNvSpPr/>
          <p:nvPr/>
        </p:nvSpPr>
        <p:spPr>
          <a:xfrm>
            <a:off x="2665876" y="5440546"/>
            <a:ext cx="57687" cy="57686"/>
          </a:xfrm>
          <a:custGeom>
            <a:avLst/>
            <a:gdLst/>
            <a:ahLst/>
            <a:cxnLst/>
            <a:rect l="l" t="t" r="r" b="b"/>
            <a:pathLst>
              <a:path w="57687" h="57686">
                <a:moveTo>
                  <a:pt x="0" y="57686"/>
                </a:moveTo>
                <a:lnTo>
                  <a:pt x="0" y="0"/>
                </a:lnTo>
                <a:lnTo>
                  <a:pt x="57687" y="0"/>
                </a:lnTo>
                <a:lnTo>
                  <a:pt x="57687" y="54853"/>
                </a:lnTo>
                <a:lnTo>
                  <a:pt x="54480"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9" name="Illustrative delivered road transport cost class 4; reference terminal Durban"/>
          <p:cNvSpPr/>
          <p:nvPr/>
        </p:nvSpPr>
        <p:spPr>
          <a:xfrm>
            <a:off x="266587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0" name="Illustrative delivered road transport cost class 4; reference terminal Durban"/>
          <p:cNvSpPr/>
          <p:nvPr/>
        </p:nvSpPr>
        <p:spPr>
          <a:xfrm>
            <a:off x="266587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1" name="Illustrative delivered road transport cost class 4; reference terminal Lesedi"/>
          <p:cNvSpPr/>
          <p:nvPr/>
        </p:nvSpPr>
        <p:spPr>
          <a:xfrm>
            <a:off x="266587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2" name="Illustrative delivered road transport cost class 4; reference terminal Lesedi"/>
          <p:cNvSpPr/>
          <p:nvPr/>
        </p:nvSpPr>
        <p:spPr>
          <a:xfrm>
            <a:off x="266587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3" name="Illustrative delivered road transport cost class 4; reference terminal Lesedi"/>
          <p:cNvSpPr/>
          <p:nvPr/>
        </p:nvSpPr>
        <p:spPr>
          <a:xfrm>
            <a:off x="266587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4" name="Illustrative delivered road transport cost class 4; reference terminal Lesedi"/>
          <p:cNvSpPr/>
          <p:nvPr/>
        </p:nvSpPr>
        <p:spPr>
          <a:xfrm>
            <a:off x="266587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5" name="Illustrative delivered road transport cost class 4; reference terminal Lesedi"/>
          <p:cNvSpPr/>
          <p:nvPr/>
        </p:nvSpPr>
        <p:spPr>
          <a:xfrm>
            <a:off x="266587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6" name="Illustrative delivered road transport cost class 4; reference terminal Lesedi"/>
          <p:cNvSpPr/>
          <p:nvPr/>
        </p:nvSpPr>
        <p:spPr>
          <a:xfrm>
            <a:off x="266587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7" name="Illustrative delivered road transport cost class 4; reference terminal Lesedi"/>
          <p:cNvSpPr/>
          <p:nvPr/>
        </p:nvSpPr>
        <p:spPr>
          <a:xfrm>
            <a:off x="266587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8" name="Illustrative delivered road transport cost class None; reference terminal None"/>
          <p:cNvSpPr/>
          <p:nvPr/>
        </p:nvSpPr>
        <p:spPr>
          <a:xfrm>
            <a:off x="266587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9" name="Illustrative delivered road transport cost class None; reference terminal None"/>
          <p:cNvSpPr/>
          <p:nvPr/>
        </p:nvSpPr>
        <p:spPr>
          <a:xfrm>
            <a:off x="266587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0" name="Illustrative delivered road transport cost class None; reference terminal None"/>
          <p:cNvSpPr/>
          <p:nvPr/>
        </p:nvSpPr>
        <p:spPr>
          <a:xfrm>
            <a:off x="266587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1" name="Illustrative delivered road transport cost class None; reference terminal None"/>
          <p:cNvSpPr/>
          <p:nvPr/>
        </p:nvSpPr>
        <p:spPr>
          <a:xfrm>
            <a:off x="266587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2" name="Illustrative delivered road transport cost class None; reference terminal None"/>
          <p:cNvSpPr/>
          <p:nvPr/>
        </p:nvSpPr>
        <p:spPr>
          <a:xfrm>
            <a:off x="266587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3" name="Illustrative delivered road transport cost class None; reference terminal None"/>
          <p:cNvSpPr/>
          <p:nvPr/>
        </p:nvSpPr>
        <p:spPr>
          <a:xfrm>
            <a:off x="266587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4" name="Illustrative delivered road transport cost class None; reference terminal None"/>
          <p:cNvSpPr/>
          <p:nvPr/>
        </p:nvSpPr>
        <p:spPr>
          <a:xfrm>
            <a:off x="266587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5" name="Illustrative delivered road transport cost class None; reference terminal None"/>
          <p:cNvSpPr/>
          <p:nvPr/>
        </p:nvSpPr>
        <p:spPr>
          <a:xfrm>
            <a:off x="266587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6" name="Illustrative delivered road transport cost class None; reference terminal None"/>
          <p:cNvSpPr/>
          <p:nvPr/>
        </p:nvSpPr>
        <p:spPr>
          <a:xfrm>
            <a:off x="266587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7" name="Illustrative delivered road transport cost class None; reference terminal None"/>
          <p:cNvSpPr/>
          <p:nvPr/>
        </p:nvSpPr>
        <p:spPr>
          <a:xfrm>
            <a:off x="266587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8" name="Illustrative delivered road transport cost class None; reference terminal None"/>
          <p:cNvSpPr/>
          <p:nvPr/>
        </p:nvSpPr>
        <p:spPr>
          <a:xfrm>
            <a:off x="266587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9" name="Illustrative delivered road transport cost class None; reference terminal None"/>
          <p:cNvSpPr/>
          <p:nvPr/>
        </p:nvSpPr>
        <p:spPr>
          <a:xfrm>
            <a:off x="266587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0" name="Illustrative delivered road transport cost class 4; reference terminal Lesedi"/>
          <p:cNvSpPr/>
          <p:nvPr/>
        </p:nvSpPr>
        <p:spPr>
          <a:xfrm>
            <a:off x="266587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1" name="Illustrative delivered road transport cost class 4; reference terminal Lesedi"/>
          <p:cNvSpPr/>
          <p:nvPr/>
        </p:nvSpPr>
        <p:spPr>
          <a:xfrm>
            <a:off x="266587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2" name="Illustrative delivered road transport cost class 4; reference terminal Lesedi"/>
          <p:cNvSpPr/>
          <p:nvPr/>
        </p:nvSpPr>
        <p:spPr>
          <a:xfrm>
            <a:off x="266587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3" name="Illustrative delivered road transport cost class 3; reference terminal Lesedi"/>
          <p:cNvSpPr/>
          <p:nvPr/>
        </p:nvSpPr>
        <p:spPr>
          <a:xfrm>
            <a:off x="266587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4" name="Illustrative delivered road transport cost class 3; reference terminal Lesedi"/>
          <p:cNvSpPr/>
          <p:nvPr/>
        </p:nvSpPr>
        <p:spPr>
          <a:xfrm>
            <a:off x="266587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5" name="Illustrative delivered road transport cost class 4; reference terminal Lesedi"/>
          <p:cNvSpPr/>
          <p:nvPr/>
        </p:nvSpPr>
        <p:spPr>
          <a:xfrm>
            <a:off x="266587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6" name="Illustrative delivered road transport cost class 4; reference terminal Lesedi"/>
          <p:cNvSpPr/>
          <p:nvPr/>
        </p:nvSpPr>
        <p:spPr>
          <a:xfrm>
            <a:off x="266587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7" name="Illustrative delivered road transport cost class 4; reference terminal Lesedi"/>
          <p:cNvSpPr/>
          <p:nvPr/>
        </p:nvSpPr>
        <p:spPr>
          <a:xfrm>
            <a:off x="266587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8" name="Illustrative delivered road transport cost class 4; reference terminal Lesedi"/>
          <p:cNvSpPr/>
          <p:nvPr/>
        </p:nvSpPr>
        <p:spPr>
          <a:xfrm>
            <a:off x="266587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9" name="Illustrative delivered road transport cost class 4; reference terminal Lesedi"/>
          <p:cNvSpPr/>
          <p:nvPr/>
        </p:nvSpPr>
        <p:spPr>
          <a:xfrm>
            <a:off x="266587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0" name="Illustrative delivered road transport cost class 4; reference terminal Lesedi"/>
          <p:cNvSpPr/>
          <p:nvPr/>
        </p:nvSpPr>
        <p:spPr>
          <a:xfrm>
            <a:off x="266587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1" name="Illustrative delivered road transport cost class 4; reference terminal Lesedi"/>
          <p:cNvSpPr/>
          <p:nvPr/>
        </p:nvSpPr>
        <p:spPr>
          <a:xfrm>
            <a:off x="266587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2" name="Illustrative delivered road transport cost class 4; reference terminal Lesedi"/>
          <p:cNvSpPr/>
          <p:nvPr/>
        </p:nvSpPr>
        <p:spPr>
          <a:xfrm>
            <a:off x="2665876" y="3479202"/>
            <a:ext cx="57687" cy="57687"/>
          </a:xfrm>
          <a:custGeom>
            <a:avLst/>
            <a:gdLst/>
            <a:ahLst/>
            <a:cxnLst/>
            <a:rect l="l" t="t" r="r" b="b"/>
            <a:pathLst>
              <a:path w="57687" h="57687">
                <a:moveTo>
                  <a:pt x="57687" y="57687"/>
                </a:moveTo>
                <a:lnTo>
                  <a:pt x="0" y="57687"/>
                </a:lnTo>
                <a:lnTo>
                  <a:pt x="0" y="0"/>
                </a:lnTo>
                <a:lnTo>
                  <a:pt x="35371" y="0"/>
                </a:lnTo>
                <a:lnTo>
                  <a:pt x="38098" y="17586"/>
                </a:lnTo>
                <a:lnTo>
                  <a:pt x="48817" y="37746"/>
                </a:lnTo>
                <a:lnTo>
                  <a:pt x="57687" y="42112"/>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3" name="Illustrative delivered road transport cost class 4; reference terminal Lesedi"/>
          <p:cNvSpPr/>
          <p:nvPr/>
        </p:nvSpPr>
        <p:spPr>
          <a:xfrm>
            <a:off x="2665876" y="3421516"/>
            <a:ext cx="35371" cy="57686"/>
          </a:xfrm>
          <a:custGeom>
            <a:avLst/>
            <a:gdLst/>
            <a:ahLst/>
            <a:cxnLst/>
            <a:rect l="l" t="t" r="r" b="b"/>
            <a:pathLst>
              <a:path w="35371" h="57686">
                <a:moveTo>
                  <a:pt x="0" y="57686"/>
                </a:moveTo>
                <a:lnTo>
                  <a:pt x="0" y="0"/>
                </a:lnTo>
                <a:lnTo>
                  <a:pt x="32074" y="0"/>
                </a:lnTo>
                <a:lnTo>
                  <a:pt x="31730" y="34214"/>
                </a:lnTo>
                <a:lnTo>
                  <a:pt x="35371"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4" name="Illustrative delivered road transport cost class 4; reference terminal Lesedi"/>
          <p:cNvSpPr/>
          <p:nvPr/>
        </p:nvSpPr>
        <p:spPr>
          <a:xfrm>
            <a:off x="2665876" y="3363829"/>
            <a:ext cx="57687" cy="57687"/>
          </a:xfrm>
          <a:custGeom>
            <a:avLst/>
            <a:gdLst/>
            <a:ahLst/>
            <a:cxnLst/>
            <a:rect l="l" t="t" r="r" b="b"/>
            <a:pathLst>
              <a:path w="57687" h="57687">
                <a:moveTo>
                  <a:pt x="0" y="57687"/>
                </a:moveTo>
                <a:lnTo>
                  <a:pt x="0" y="0"/>
                </a:lnTo>
                <a:lnTo>
                  <a:pt x="57687" y="0"/>
                </a:lnTo>
                <a:lnTo>
                  <a:pt x="57687" y="14138"/>
                </a:lnTo>
                <a:lnTo>
                  <a:pt x="47524" y="29733"/>
                </a:lnTo>
                <a:lnTo>
                  <a:pt x="32082" y="56825"/>
                </a:lnTo>
                <a:lnTo>
                  <a:pt x="32074"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5" name="Illustrative delivered road transport cost class 4; reference terminal Lesedi"/>
          <p:cNvSpPr/>
          <p:nvPr/>
        </p:nvSpPr>
        <p:spPr>
          <a:xfrm>
            <a:off x="266587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6" name="Illustrative delivered road transport cost class 4; reference terminal Lesedi"/>
          <p:cNvSpPr/>
          <p:nvPr/>
        </p:nvSpPr>
        <p:spPr>
          <a:xfrm>
            <a:off x="2665876" y="3248456"/>
            <a:ext cx="57687" cy="57687"/>
          </a:xfrm>
          <a:custGeom>
            <a:avLst/>
            <a:gdLst/>
            <a:ahLst/>
            <a:cxnLst/>
            <a:rect l="l" t="t" r="r" b="b"/>
            <a:pathLst>
              <a:path w="57687" h="57687">
                <a:moveTo>
                  <a:pt x="57687" y="57687"/>
                </a:moveTo>
                <a:lnTo>
                  <a:pt x="0" y="57687"/>
                </a:lnTo>
                <a:lnTo>
                  <a:pt x="0" y="0"/>
                </a:lnTo>
                <a:lnTo>
                  <a:pt x="49795" y="0"/>
                </a:lnTo>
                <a:lnTo>
                  <a:pt x="57687" y="17604"/>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7" name="Illustrative delivered road transport cost class 4; reference terminal Lesedi"/>
          <p:cNvSpPr/>
          <p:nvPr/>
        </p:nvSpPr>
        <p:spPr>
          <a:xfrm>
            <a:off x="2665876" y="3190770"/>
            <a:ext cx="49795" cy="57686"/>
          </a:xfrm>
          <a:custGeom>
            <a:avLst/>
            <a:gdLst/>
            <a:ahLst/>
            <a:cxnLst/>
            <a:rect l="l" t="t" r="r" b="b"/>
            <a:pathLst>
              <a:path w="49795" h="57686">
                <a:moveTo>
                  <a:pt x="0" y="57686"/>
                </a:moveTo>
                <a:lnTo>
                  <a:pt x="0" y="0"/>
                </a:lnTo>
                <a:lnTo>
                  <a:pt x="25307" y="0"/>
                </a:lnTo>
                <a:lnTo>
                  <a:pt x="45264" y="47580"/>
                </a:lnTo>
                <a:lnTo>
                  <a:pt x="49795"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8" name="Illustrative delivered road transport cost class 4; reference terminal Lesedi"/>
          <p:cNvSpPr/>
          <p:nvPr/>
        </p:nvSpPr>
        <p:spPr>
          <a:xfrm>
            <a:off x="2665876" y="3138066"/>
            <a:ext cx="25307" cy="52704"/>
          </a:xfrm>
          <a:custGeom>
            <a:avLst/>
            <a:gdLst/>
            <a:ahLst/>
            <a:cxnLst/>
            <a:rect l="l" t="t" r="r" b="b"/>
            <a:pathLst>
              <a:path w="25307" h="52704">
                <a:moveTo>
                  <a:pt x="0" y="52704"/>
                </a:moveTo>
                <a:lnTo>
                  <a:pt x="0" y="0"/>
                </a:lnTo>
                <a:lnTo>
                  <a:pt x="19680" y="39287"/>
                </a:lnTo>
                <a:lnTo>
                  <a:pt x="25307" y="52704"/>
                </a:lnTo>
                <a:lnTo>
                  <a:pt x="0" y="5270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9" name="Illustrative delivered road transport cost class 4; reference terminal Durban"/>
          <p:cNvSpPr/>
          <p:nvPr/>
        </p:nvSpPr>
        <p:spPr>
          <a:xfrm>
            <a:off x="2723563" y="5440546"/>
            <a:ext cx="57687" cy="54853"/>
          </a:xfrm>
          <a:custGeom>
            <a:avLst/>
            <a:gdLst/>
            <a:ahLst/>
            <a:cxnLst/>
            <a:rect l="l" t="t" r="r" b="b"/>
            <a:pathLst>
              <a:path w="57687" h="54853">
                <a:moveTo>
                  <a:pt x="0" y="0"/>
                </a:moveTo>
                <a:lnTo>
                  <a:pt x="57687" y="0"/>
                </a:lnTo>
                <a:lnTo>
                  <a:pt x="57687" y="27433"/>
                </a:lnTo>
                <a:lnTo>
                  <a:pt x="32235" y="31324"/>
                </a:lnTo>
                <a:lnTo>
                  <a:pt x="12559" y="43757"/>
                </a:lnTo>
                <a:lnTo>
                  <a:pt x="0" y="548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0" name="Illustrative delivered road transport cost class 4; reference terminal Durban"/>
          <p:cNvSpPr/>
          <p:nvPr/>
        </p:nvSpPr>
        <p:spPr>
          <a:xfrm>
            <a:off x="272356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1" name="Illustrative delivered road transport cost class 4; reference terminal Durban"/>
          <p:cNvSpPr/>
          <p:nvPr/>
        </p:nvSpPr>
        <p:spPr>
          <a:xfrm>
            <a:off x="272356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2" name="Illustrative delivered road transport cost class 4; reference terminal Lesedi"/>
          <p:cNvSpPr/>
          <p:nvPr/>
        </p:nvSpPr>
        <p:spPr>
          <a:xfrm>
            <a:off x="272356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3" name="Illustrative delivered road transport cost class 4; reference terminal Lesedi"/>
          <p:cNvSpPr/>
          <p:nvPr/>
        </p:nvSpPr>
        <p:spPr>
          <a:xfrm>
            <a:off x="272356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4" name="Illustrative delivered road transport cost class 4; reference terminal Lesedi"/>
          <p:cNvSpPr/>
          <p:nvPr/>
        </p:nvSpPr>
        <p:spPr>
          <a:xfrm>
            <a:off x="272356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5" name="Illustrative delivered road transport cost class 4; reference terminal Lesedi"/>
          <p:cNvSpPr/>
          <p:nvPr/>
        </p:nvSpPr>
        <p:spPr>
          <a:xfrm>
            <a:off x="272356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6" name="Illustrative delivered road transport cost class 4; reference terminal Lesedi"/>
          <p:cNvSpPr/>
          <p:nvPr/>
        </p:nvSpPr>
        <p:spPr>
          <a:xfrm>
            <a:off x="272356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7" name="Illustrative delivered road transport cost class 4; reference terminal Lesedi"/>
          <p:cNvSpPr/>
          <p:nvPr/>
        </p:nvSpPr>
        <p:spPr>
          <a:xfrm>
            <a:off x="272356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8" name="Illustrative delivered road transport cost class 4; reference terminal Lesedi"/>
          <p:cNvSpPr/>
          <p:nvPr/>
        </p:nvSpPr>
        <p:spPr>
          <a:xfrm>
            <a:off x="272356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9" name="Illustrative delivered road transport cost class 4; reference terminal Lesedi"/>
          <p:cNvSpPr/>
          <p:nvPr/>
        </p:nvSpPr>
        <p:spPr>
          <a:xfrm>
            <a:off x="272356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0" name="Illustrative delivered road transport cost class None; reference terminal None"/>
          <p:cNvSpPr/>
          <p:nvPr/>
        </p:nvSpPr>
        <p:spPr>
          <a:xfrm>
            <a:off x="272356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1" name="Illustrative delivered road transport cost class None; reference terminal None"/>
          <p:cNvSpPr/>
          <p:nvPr/>
        </p:nvSpPr>
        <p:spPr>
          <a:xfrm>
            <a:off x="272356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2" name="Illustrative delivered road transport cost class None; reference terminal None"/>
          <p:cNvSpPr/>
          <p:nvPr/>
        </p:nvSpPr>
        <p:spPr>
          <a:xfrm>
            <a:off x="272356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3" name="Illustrative delivered road transport cost class None; reference terminal None"/>
          <p:cNvSpPr/>
          <p:nvPr/>
        </p:nvSpPr>
        <p:spPr>
          <a:xfrm>
            <a:off x="272356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4" name="Illustrative delivered road transport cost class None; reference terminal None"/>
          <p:cNvSpPr/>
          <p:nvPr/>
        </p:nvSpPr>
        <p:spPr>
          <a:xfrm>
            <a:off x="272356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5" name="Illustrative delivered road transport cost class None; reference terminal None"/>
          <p:cNvSpPr/>
          <p:nvPr/>
        </p:nvSpPr>
        <p:spPr>
          <a:xfrm>
            <a:off x="272356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6" name="Illustrative delivered road transport cost class None; reference terminal None"/>
          <p:cNvSpPr/>
          <p:nvPr/>
        </p:nvSpPr>
        <p:spPr>
          <a:xfrm>
            <a:off x="272356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7" name="Illustrative delivered road transport cost class None; reference terminal None"/>
          <p:cNvSpPr/>
          <p:nvPr/>
        </p:nvSpPr>
        <p:spPr>
          <a:xfrm>
            <a:off x="272356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8" name="Illustrative delivered road transport cost class None; reference terminal None"/>
          <p:cNvSpPr/>
          <p:nvPr/>
        </p:nvSpPr>
        <p:spPr>
          <a:xfrm>
            <a:off x="272356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9" name="Illustrative delivered road transport cost class None; reference terminal None"/>
          <p:cNvSpPr/>
          <p:nvPr/>
        </p:nvSpPr>
        <p:spPr>
          <a:xfrm>
            <a:off x="272356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0" name="Illustrative delivered road transport cost class 3; reference terminal Lesedi"/>
          <p:cNvSpPr/>
          <p:nvPr/>
        </p:nvSpPr>
        <p:spPr>
          <a:xfrm>
            <a:off x="272356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1" name="Illustrative delivered road transport cost class 3; reference terminal Lesedi"/>
          <p:cNvSpPr/>
          <p:nvPr/>
        </p:nvSpPr>
        <p:spPr>
          <a:xfrm>
            <a:off x="272356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2" name="Illustrative delivered road transport cost class 3; reference terminal Lesedi"/>
          <p:cNvSpPr/>
          <p:nvPr/>
        </p:nvSpPr>
        <p:spPr>
          <a:xfrm>
            <a:off x="272356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3" name="Illustrative delivered road transport cost class 3; reference terminal Lesedi"/>
          <p:cNvSpPr/>
          <p:nvPr/>
        </p:nvSpPr>
        <p:spPr>
          <a:xfrm>
            <a:off x="272356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4" name="Illustrative delivered road transport cost class 3; reference terminal Lesedi"/>
          <p:cNvSpPr/>
          <p:nvPr/>
        </p:nvSpPr>
        <p:spPr>
          <a:xfrm>
            <a:off x="272356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5" name="Illustrative delivered road transport cost class 3; reference terminal Lesedi"/>
          <p:cNvSpPr/>
          <p:nvPr/>
        </p:nvSpPr>
        <p:spPr>
          <a:xfrm>
            <a:off x="272356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6" name="Illustrative delivered road transport cost class 4; reference terminal Lesedi"/>
          <p:cNvSpPr/>
          <p:nvPr/>
        </p:nvSpPr>
        <p:spPr>
          <a:xfrm>
            <a:off x="272356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7" name="Illustrative delivered road transport cost class 4; reference terminal Lesedi"/>
          <p:cNvSpPr/>
          <p:nvPr/>
        </p:nvSpPr>
        <p:spPr>
          <a:xfrm>
            <a:off x="272356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8" name="Illustrative delivered road transport cost class 4; reference terminal Lesedi"/>
          <p:cNvSpPr/>
          <p:nvPr/>
        </p:nvSpPr>
        <p:spPr>
          <a:xfrm>
            <a:off x="272356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9" name="Illustrative delivered road transport cost class 4; reference terminal Lesedi"/>
          <p:cNvSpPr/>
          <p:nvPr/>
        </p:nvSpPr>
        <p:spPr>
          <a:xfrm>
            <a:off x="272356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0" name="Illustrative delivered road transport cost class 4; reference terminal Lesedi"/>
          <p:cNvSpPr/>
          <p:nvPr/>
        </p:nvSpPr>
        <p:spPr>
          <a:xfrm>
            <a:off x="272356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1" name="Illustrative delivered road transport cost class 4; reference terminal Lesedi"/>
          <p:cNvSpPr/>
          <p:nvPr/>
        </p:nvSpPr>
        <p:spPr>
          <a:xfrm>
            <a:off x="272356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2" name="Illustrative delivered road transport cost class 4; reference terminal Lesedi"/>
          <p:cNvSpPr/>
          <p:nvPr/>
        </p:nvSpPr>
        <p:spPr>
          <a:xfrm>
            <a:off x="272356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3" name="Illustrative delivered road transport cost class 4; reference terminal Lesedi"/>
          <p:cNvSpPr/>
          <p:nvPr/>
        </p:nvSpPr>
        <p:spPr>
          <a:xfrm>
            <a:off x="2723563" y="3511963"/>
            <a:ext cx="57687" cy="24926"/>
          </a:xfrm>
          <a:custGeom>
            <a:avLst/>
            <a:gdLst/>
            <a:ahLst/>
            <a:cxnLst/>
            <a:rect l="l" t="t" r="r" b="b"/>
            <a:pathLst>
              <a:path w="57687" h="24926">
                <a:moveTo>
                  <a:pt x="57687" y="24926"/>
                </a:moveTo>
                <a:lnTo>
                  <a:pt x="0" y="24926"/>
                </a:lnTo>
                <a:lnTo>
                  <a:pt x="0" y="9351"/>
                </a:lnTo>
                <a:lnTo>
                  <a:pt x="3915" y="11278"/>
                </a:lnTo>
                <a:lnTo>
                  <a:pt x="33602" y="0"/>
                </a:lnTo>
                <a:lnTo>
                  <a:pt x="52730" y="2502"/>
                </a:lnTo>
                <a:lnTo>
                  <a:pt x="57687" y="3774"/>
                </a:lnTo>
                <a:lnTo>
                  <a:pt x="57687" y="2492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4" name="Illustrative delivered road transport cost class 4; reference terminal Lesedi"/>
          <p:cNvSpPr/>
          <p:nvPr/>
        </p:nvSpPr>
        <p:spPr>
          <a:xfrm>
            <a:off x="2723563" y="3363829"/>
            <a:ext cx="7574" cy="14138"/>
          </a:xfrm>
          <a:custGeom>
            <a:avLst/>
            <a:gdLst/>
            <a:ahLst/>
            <a:cxnLst/>
            <a:rect l="l" t="t" r="r" b="b"/>
            <a:pathLst>
              <a:path w="7574" h="14138">
                <a:moveTo>
                  <a:pt x="0" y="0"/>
                </a:moveTo>
                <a:lnTo>
                  <a:pt x="7574" y="0"/>
                </a:lnTo>
                <a:lnTo>
                  <a:pt x="2805" y="9834"/>
                </a:lnTo>
                <a:lnTo>
                  <a:pt x="0" y="14138"/>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5" name="Illustrative delivered road transport cost class 4; reference terminal Lesedi"/>
          <p:cNvSpPr/>
          <p:nvPr/>
        </p:nvSpPr>
        <p:spPr>
          <a:xfrm>
            <a:off x="2723563" y="3306143"/>
            <a:ext cx="16709" cy="57686"/>
          </a:xfrm>
          <a:custGeom>
            <a:avLst/>
            <a:gdLst/>
            <a:ahLst/>
            <a:cxnLst/>
            <a:rect l="l" t="t" r="r" b="b"/>
            <a:pathLst>
              <a:path w="16709" h="57686">
                <a:moveTo>
                  <a:pt x="0" y="57686"/>
                </a:moveTo>
                <a:lnTo>
                  <a:pt x="0" y="0"/>
                </a:lnTo>
                <a:lnTo>
                  <a:pt x="10418" y="0"/>
                </a:lnTo>
                <a:lnTo>
                  <a:pt x="13692" y="20167"/>
                </a:lnTo>
                <a:lnTo>
                  <a:pt x="16709" y="30307"/>
                </a:lnTo>
                <a:lnTo>
                  <a:pt x="15326" y="41698"/>
                </a:lnTo>
                <a:lnTo>
                  <a:pt x="7574"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6" name="Illustrative delivered road transport cost class 4; reference terminal Lesedi"/>
          <p:cNvSpPr/>
          <p:nvPr/>
        </p:nvSpPr>
        <p:spPr>
          <a:xfrm>
            <a:off x="2723563" y="3266060"/>
            <a:ext cx="10418" cy="40083"/>
          </a:xfrm>
          <a:custGeom>
            <a:avLst/>
            <a:gdLst/>
            <a:ahLst/>
            <a:cxnLst/>
            <a:rect l="l" t="t" r="r" b="b"/>
            <a:pathLst>
              <a:path w="10418" h="40083">
                <a:moveTo>
                  <a:pt x="0" y="40083"/>
                </a:moveTo>
                <a:lnTo>
                  <a:pt x="0" y="0"/>
                </a:lnTo>
                <a:lnTo>
                  <a:pt x="8178" y="18241"/>
                </a:lnTo>
                <a:lnTo>
                  <a:pt x="10324" y="39504"/>
                </a:lnTo>
                <a:lnTo>
                  <a:pt x="10418" y="40083"/>
                </a:lnTo>
                <a:lnTo>
                  <a:pt x="0" y="40083"/>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7" name="Illustrative delivered road transport cost class 4; reference terminal Durban"/>
          <p:cNvSpPr/>
          <p:nvPr/>
        </p:nvSpPr>
        <p:spPr>
          <a:xfrm>
            <a:off x="2781250" y="5440546"/>
            <a:ext cx="57686" cy="27433"/>
          </a:xfrm>
          <a:custGeom>
            <a:avLst/>
            <a:gdLst/>
            <a:ahLst/>
            <a:cxnLst/>
            <a:rect l="l" t="t" r="r" b="b"/>
            <a:pathLst>
              <a:path w="57686" h="27433">
                <a:moveTo>
                  <a:pt x="0" y="0"/>
                </a:moveTo>
                <a:lnTo>
                  <a:pt x="57686" y="0"/>
                </a:lnTo>
                <a:lnTo>
                  <a:pt x="57686" y="6629"/>
                </a:lnTo>
                <a:lnTo>
                  <a:pt x="48517" y="8933"/>
                </a:lnTo>
                <a:lnTo>
                  <a:pt x="26231" y="23423"/>
                </a:lnTo>
                <a:lnTo>
                  <a:pt x="0" y="2743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8" name="Illustrative delivered road transport cost class 4; reference terminal Durban"/>
          <p:cNvSpPr/>
          <p:nvPr/>
        </p:nvSpPr>
        <p:spPr>
          <a:xfrm>
            <a:off x="278125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9" name="Illustrative delivered road transport cost class 4; reference terminal Durban"/>
          <p:cNvSpPr/>
          <p:nvPr/>
        </p:nvSpPr>
        <p:spPr>
          <a:xfrm>
            <a:off x="278125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0" name="Illustrative delivered road transport cost class 4; reference terminal Lesedi"/>
          <p:cNvSpPr/>
          <p:nvPr/>
        </p:nvSpPr>
        <p:spPr>
          <a:xfrm>
            <a:off x="278125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1" name="Illustrative delivered road transport cost class 4; reference terminal Lesedi"/>
          <p:cNvSpPr/>
          <p:nvPr/>
        </p:nvSpPr>
        <p:spPr>
          <a:xfrm>
            <a:off x="278125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2" name="Illustrative delivered road transport cost class 4; reference terminal Lesedi"/>
          <p:cNvSpPr/>
          <p:nvPr/>
        </p:nvSpPr>
        <p:spPr>
          <a:xfrm>
            <a:off x="278125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3" name="Illustrative delivered road transport cost class 4; reference terminal Lesedi"/>
          <p:cNvSpPr/>
          <p:nvPr/>
        </p:nvSpPr>
        <p:spPr>
          <a:xfrm>
            <a:off x="278125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4" name="Illustrative delivered road transport cost class 4; reference terminal Lesedi"/>
          <p:cNvSpPr/>
          <p:nvPr/>
        </p:nvSpPr>
        <p:spPr>
          <a:xfrm>
            <a:off x="278125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5" name="Illustrative delivered road transport cost class 4; reference terminal Lesedi"/>
          <p:cNvSpPr/>
          <p:nvPr/>
        </p:nvSpPr>
        <p:spPr>
          <a:xfrm>
            <a:off x="278125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6" name="Illustrative delivered road transport cost class 4; reference terminal Lesedi"/>
          <p:cNvSpPr/>
          <p:nvPr/>
        </p:nvSpPr>
        <p:spPr>
          <a:xfrm>
            <a:off x="278125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7" name="Illustrative delivered road transport cost class 4; reference terminal Lesedi"/>
          <p:cNvSpPr/>
          <p:nvPr/>
        </p:nvSpPr>
        <p:spPr>
          <a:xfrm>
            <a:off x="278125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8" name="Illustrative delivered road transport cost class None; reference terminal None"/>
          <p:cNvSpPr/>
          <p:nvPr/>
        </p:nvSpPr>
        <p:spPr>
          <a:xfrm>
            <a:off x="278125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9" name="Illustrative delivered road transport cost class None; reference terminal None"/>
          <p:cNvSpPr/>
          <p:nvPr/>
        </p:nvSpPr>
        <p:spPr>
          <a:xfrm>
            <a:off x="278125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0" name="Illustrative delivered road transport cost class None; reference terminal None"/>
          <p:cNvSpPr/>
          <p:nvPr/>
        </p:nvSpPr>
        <p:spPr>
          <a:xfrm>
            <a:off x="278125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1" name="Illustrative delivered road transport cost class None; reference terminal None"/>
          <p:cNvSpPr/>
          <p:nvPr/>
        </p:nvSpPr>
        <p:spPr>
          <a:xfrm>
            <a:off x="278125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2" name="Illustrative delivered road transport cost class None; reference terminal None"/>
          <p:cNvSpPr/>
          <p:nvPr/>
        </p:nvSpPr>
        <p:spPr>
          <a:xfrm>
            <a:off x="278125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3" name="Illustrative delivered road transport cost class None; reference terminal None"/>
          <p:cNvSpPr/>
          <p:nvPr/>
        </p:nvSpPr>
        <p:spPr>
          <a:xfrm>
            <a:off x="278125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4" name="Illustrative delivered road transport cost class None; reference terminal None"/>
          <p:cNvSpPr/>
          <p:nvPr/>
        </p:nvSpPr>
        <p:spPr>
          <a:xfrm>
            <a:off x="278125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5" name="Illustrative delivered road transport cost class None; reference terminal None"/>
          <p:cNvSpPr/>
          <p:nvPr/>
        </p:nvSpPr>
        <p:spPr>
          <a:xfrm>
            <a:off x="278125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6" name="Illustrative delivered road transport cost class None; reference terminal None"/>
          <p:cNvSpPr/>
          <p:nvPr/>
        </p:nvSpPr>
        <p:spPr>
          <a:xfrm>
            <a:off x="278125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7" name="Illustrative delivered road transport cost class None; reference terminal None"/>
          <p:cNvSpPr/>
          <p:nvPr/>
        </p:nvSpPr>
        <p:spPr>
          <a:xfrm>
            <a:off x="278125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8" name="Illustrative delivered road transport cost class 3; reference terminal Lesedi"/>
          <p:cNvSpPr/>
          <p:nvPr/>
        </p:nvSpPr>
        <p:spPr>
          <a:xfrm>
            <a:off x="278125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9" name="Illustrative delivered road transport cost class 3; reference terminal Lesedi"/>
          <p:cNvSpPr/>
          <p:nvPr/>
        </p:nvSpPr>
        <p:spPr>
          <a:xfrm>
            <a:off x="278125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0" name="Illustrative delivered road transport cost class 3; reference terminal Lesedi"/>
          <p:cNvSpPr/>
          <p:nvPr/>
        </p:nvSpPr>
        <p:spPr>
          <a:xfrm>
            <a:off x="278125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1" name="Illustrative delivered road transport cost class 3; reference terminal Lesedi"/>
          <p:cNvSpPr/>
          <p:nvPr/>
        </p:nvSpPr>
        <p:spPr>
          <a:xfrm>
            <a:off x="278125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2" name="Illustrative delivered road transport cost class 3; reference terminal Lesedi"/>
          <p:cNvSpPr/>
          <p:nvPr/>
        </p:nvSpPr>
        <p:spPr>
          <a:xfrm>
            <a:off x="278125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3" name="Illustrative delivered road transport cost class 3; reference terminal Lesedi"/>
          <p:cNvSpPr/>
          <p:nvPr/>
        </p:nvSpPr>
        <p:spPr>
          <a:xfrm>
            <a:off x="278125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4" name="Illustrative delivered road transport cost class 3; reference terminal Lesedi"/>
          <p:cNvSpPr/>
          <p:nvPr/>
        </p:nvSpPr>
        <p:spPr>
          <a:xfrm>
            <a:off x="278125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5" name="Illustrative delivered road transport cost class 4; reference terminal Lesedi"/>
          <p:cNvSpPr/>
          <p:nvPr/>
        </p:nvSpPr>
        <p:spPr>
          <a:xfrm>
            <a:off x="278125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6" name="Illustrative delivered road transport cost class 4; reference terminal Lesedi"/>
          <p:cNvSpPr/>
          <p:nvPr/>
        </p:nvSpPr>
        <p:spPr>
          <a:xfrm>
            <a:off x="278125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7" name="Illustrative delivered road transport cost class 4; reference terminal Lesedi"/>
          <p:cNvSpPr/>
          <p:nvPr/>
        </p:nvSpPr>
        <p:spPr>
          <a:xfrm>
            <a:off x="278125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8" name="Illustrative delivered road transport cost class 4; reference terminal Lesedi"/>
          <p:cNvSpPr/>
          <p:nvPr/>
        </p:nvSpPr>
        <p:spPr>
          <a:xfrm>
            <a:off x="278125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9" name="Illustrative delivered road transport cost class 4; reference terminal Lesedi"/>
          <p:cNvSpPr/>
          <p:nvPr/>
        </p:nvSpPr>
        <p:spPr>
          <a:xfrm>
            <a:off x="278125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0" name="Illustrative delivered road transport cost class 4; reference terminal Lesedi"/>
          <p:cNvSpPr/>
          <p:nvPr/>
        </p:nvSpPr>
        <p:spPr>
          <a:xfrm>
            <a:off x="278125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1" name="Illustrative delivered road transport cost class None; reference terminal None"/>
          <p:cNvSpPr/>
          <p:nvPr/>
        </p:nvSpPr>
        <p:spPr>
          <a:xfrm>
            <a:off x="2781250" y="3515737"/>
            <a:ext cx="57686" cy="21152"/>
          </a:xfrm>
          <a:custGeom>
            <a:avLst/>
            <a:gdLst/>
            <a:ahLst/>
            <a:cxnLst/>
            <a:rect l="l" t="t" r="r" b="b"/>
            <a:pathLst>
              <a:path w="57686" h="21152">
                <a:moveTo>
                  <a:pt x="57686" y="21152"/>
                </a:moveTo>
                <a:lnTo>
                  <a:pt x="0" y="21152"/>
                </a:lnTo>
                <a:lnTo>
                  <a:pt x="0" y="0"/>
                </a:lnTo>
                <a:lnTo>
                  <a:pt x="22125" y="5679"/>
                </a:lnTo>
                <a:lnTo>
                  <a:pt x="57686" y="2617"/>
                </a:lnTo>
                <a:lnTo>
                  <a:pt x="57686" y="2115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2" name="Illustrative delivered road transport cost class 4; reference terminal Durban"/>
          <p:cNvSpPr/>
          <p:nvPr/>
        </p:nvSpPr>
        <p:spPr>
          <a:xfrm>
            <a:off x="2838936" y="5440546"/>
            <a:ext cx="57687" cy="8882"/>
          </a:xfrm>
          <a:custGeom>
            <a:avLst/>
            <a:gdLst/>
            <a:ahLst/>
            <a:cxnLst/>
            <a:rect l="l" t="t" r="r" b="b"/>
            <a:pathLst>
              <a:path w="57687" h="8882">
                <a:moveTo>
                  <a:pt x="0" y="0"/>
                </a:moveTo>
                <a:lnTo>
                  <a:pt x="57687" y="0"/>
                </a:lnTo>
                <a:lnTo>
                  <a:pt x="57687" y="8882"/>
                </a:lnTo>
                <a:lnTo>
                  <a:pt x="28340" y="2006"/>
                </a:lnTo>
                <a:lnTo>
                  <a:pt x="13442" y="3251"/>
                </a:lnTo>
                <a:lnTo>
                  <a:pt x="0" y="6629"/>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3" name="Illustrative delivered road transport cost class 4; reference terminal Durban"/>
          <p:cNvSpPr/>
          <p:nvPr/>
        </p:nvSpPr>
        <p:spPr>
          <a:xfrm>
            <a:off x="283893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4" name="Illustrative delivered road transport cost class 4; reference terminal Durban"/>
          <p:cNvSpPr/>
          <p:nvPr/>
        </p:nvSpPr>
        <p:spPr>
          <a:xfrm>
            <a:off x="283893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5" name="Illustrative delivered road transport cost class 4; reference terminal Lesedi"/>
          <p:cNvSpPr/>
          <p:nvPr/>
        </p:nvSpPr>
        <p:spPr>
          <a:xfrm>
            <a:off x="283893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6" name="Illustrative delivered road transport cost class 4; reference terminal Lesedi"/>
          <p:cNvSpPr/>
          <p:nvPr/>
        </p:nvSpPr>
        <p:spPr>
          <a:xfrm>
            <a:off x="283893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7" name="Illustrative delivered road transport cost class 4; reference terminal Lesedi"/>
          <p:cNvSpPr/>
          <p:nvPr/>
        </p:nvSpPr>
        <p:spPr>
          <a:xfrm>
            <a:off x="283893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8" name="Illustrative delivered road transport cost class 4; reference terminal Lesedi"/>
          <p:cNvSpPr/>
          <p:nvPr/>
        </p:nvSpPr>
        <p:spPr>
          <a:xfrm>
            <a:off x="283893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9" name="Illustrative delivered road transport cost class 4; reference terminal Lesedi"/>
          <p:cNvSpPr/>
          <p:nvPr/>
        </p:nvSpPr>
        <p:spPr>
          <a:xfrm>
            <a:off x="283893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0" name="Illustrative delivered road transport cost class 4; reference terminal Lesedi"/>
          <p:cNvSpPr/>
          <p:nvPr/>
        </p:nvSpPr>
        <p:spPr>
          <a:xfrm>
            <a:off x="283893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1" name="Illustrative delivered road transport cost class 4; reference terminal Lesedi"/>
          <p:cNvSpPr/>
          <p:nvPr/>
        </p:nvSpPr>
        <p:spPr>
          <a:xfrm>
            <a:off x="283893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2" name="Illustrative delivered road transport cost class 4; reference terminal Lesedi"/>
          <p:cNvSpPr/>
          <p:nvPr/>
        </p:nvSpPr>
        <p:spPr>
          <a:xfrm>
            <a:off x="283893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3" name="Illustrative delivered road transport cost class 4; reference terminal Lesedi"/>
          <p:cNvSpPr/>
          <p:nvPr/>
        </p:nvSpPr>
        <p:spPr>
          <a:xfrm>
            <a:off x="283893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4" name="Illustrative delivered road transport cost class None; reference terminal None"/>
          <p:cNvSpPr/>
          <p:nvPr/>
        </p:nvSpPr>
        <p:spPr>
          <a:xfrm>
            <a:off x="283893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5" name="Illustrative delivered road transport cost class None; reference terminal None"/>
          <p:cNvSpPr/>
          <p:nvPr/>
        </p:nvSpPr>
        <p:spPr>
          <a:xfrm>
            <a:off x="283893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6" name="Illustrative delivered road transport cost class None; reference terminal None"/>
          <p:cNvSpPr/>
          <p:nvPr/>
        </p:nvSpPr>
        <p:spPr>
          <a:xfrm>
            <a:off x="283893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7" name="Illustrative delivered road transport cost class None; reference terminal None"/>
          <p:cNvSpPr/>
          <p:nvPr/>
        </p:nvSpPr>
        <p:spPr>
          <a:xfrm>
            <a:off x="283893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8" name="Illustrative delivered road transport cost class None; reference terminal None"/>
          <p:cNvSpPr/>
          <p:nvPr/>
        </p:nvSpPr>
        <p:spPr>
          <a:xfrm>
            <a:off x="283893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9" name="Illustrative delivered road transport cost class None; reference terminal None"/>
          <p:cNvSpPr/>
          <p:nvPr/>
        </p:nvSpPr>
        <p:spPr>
          <a:xfrm>
            <a:off x="283893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0" name="Illustrative delivered road transport cost class None; reference terminal None"/>
          <p:cNvSpPr/>
          <p:nvPr/>
        </p:nvSpPr>
        <p:spPr>
          <a:xfrm>
            <a:off x="283893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1" name="Illustrative delivered road transport cost class None; reference terminal None"/>
          <p:cNvSpPr/>
          <p:nvPr/>
        </p:nvSpPr>
        <p:spPr>
          <a:xfrm>
            <a:off x="283893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2" name="Illustrative delivered road transport cost class 3; reference terminal Lesedi"/>
          <p:cNvSpPr/>
          <p:nvPr/>
        </p:nvSpPr>
        <p:spPr>
          <a:xfrm>
            <a:off x="283893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3" name="Illustrative delivered road transport cost class 3; reference terminal Lesedi"/>
          <p:cNvSpPr/>
          <p:nvPr/>
        </p:nvSpPr>
        <p:spPr>
          <a:xfrm>
            <a:off x="283893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4" name="Illustrative delivered road transport cost class 3; reference terminal Lesedi"/>
          <p:cNvSpPr/>
          <p:nvPr/>
        </p:nvSpPr>
        <p:spPr>
          <a:xfrm>
            <a:off x="283893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5" name="Illustrative delivered road transport cost class 3; reference terminal Lesedi"/>
          <p:cNvSpPr/>
          <p:nvPr/>
        </p:nvSpPr>
        <p:spPr>
          <a:xfrm>
            <a:off x="283893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6" name="Illustrative delivered road transport cost class 3; reference terminal Lesedi"/>
          <p:cNvSpPr/>
          <p:nvPr/>
        </p:nvSpPr>
        <p:spPr>
          <a:xfrm>
            <a:off x="283893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7" name="Illustrative delivered road transport cost class 3; reference terminal Lesedi"/>
          <p:cNvSpPr/>
          <p:nvPr/>
        </p:nvSpPr>
        <p:spPr>
          <a:xfrm>
            <a:off x="283893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8" name="Illustrative delivered road transport cost class 3; reference terminal Lesedi"/>
          <p:cNvSpPr/>
          <p:nvPr/>
        </p:nvSpPr>
        <p:spPr>
          <a:xfrm>
            <a:off x="283893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9" name="Illustrative delivered road transport cost class 3; reference terminal Lesedi"/>
          <p:cNvSpPr/>
          <p:nvPr/>
        </p:nvSpPr>
        <p:spPr>
          <a:xfrm>
            <a:off x="283893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0" name="Illustrative delivered road transport cost class 4; reference terminal Lesedi"/>
          <p:cNvSpPr/>
          <p:nvPr/>
        </p:nvSpPr>
        <p:spPr>
          <a:xfrm>
            <a:off x="283893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1" name="Illustrative delivered road transport cost class 4; reference terminal Lesedi"/>
          <p:cNvSpPr/>
          <p:nvPr/>
        </p:nvSpPr>
        <p:spPr>
          <a:xfrm>
            <a:off x="283893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2" name="Illustrative delivered road transport cost class 4; reference terminal Lesedi"/>
          <p:cNvSpPr/>
          <p:nvPr/>
        </p:nvSpPr>
        <p:spPr>
          <a:xfrm>
            <a:off x="283893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3" name="Illustrative delivered road transport cost class 4; reference terminal Lesedi"/>
          <p:cNvSpPr/>
          <p:nvPr/>
        </p:nvSpPr>
        <p:spPr>
          <a:xfrm>
            <a:off x="283893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4" name="Illustrative delivered road transport cost class 4; reference terminal Lesedi"/>
          <p:cNvSpPr/>
          <p:nvPr/>
        </p:nvSpPr>
        <p:spPr>
          <a:xfrm>
            <a:off x="283893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5" name="Illustrative delivered road transport cost class None; reference terminal None"/>
          <p:cNvSpPr/>
          <p:nvPr/>
        </p:nvSpPr>
        <p:spPr>
          <a:xfrm>
            <a:off x="283893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6" name="Illustrative delivered road transport cost class None; reference terminal None"/>
          <p:cNvSpPr/>
          <p:nvPr/>
        </p:nvSpPr>
        <p:spPr>
          <a:xfrm>
            <a:off x="2838936" y="3513850"/>
            <a:ext cx="57687" cy="23039"/>
          </a:xfrm>
          <a:custGeom>
            <a:avLst/>
            <a:gdLst/>
            <a:ahLst/>
            <a:cxnLst/>
            <a:rect l="l" t="t" r="r" b="b"/>
            <a:pathLst>
              <a:path w="57687" h="23039">
                <a:moveTo>
                  <a:pt x="57687" y="23039"/>
                </a:moveTo>
                <a:lnTo>
                  <a:pt x="0" y="23039"/>
                </a:lnTo>
                <a:lnTo>
                  <a:pt x="0" y="4504"/>
                </a:lnTo>
                <a:lnTo>
                  <a:pt x="52294" y="0"/>
                </a:lnTo>
                <a:lnTo>
                  <a:pt x="57687" y="1114"/>
                </a:lnTo>
                <a:lnTo>
                  <a:pt x="57687" y="2303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7" name="Illustrative delivered road transport cost class 4; reference terminal Durban"/>
          <p:cNvSpPr/>
          <p:nvPr/>
        </p:nvSpPr>
        <p:spPr>
          <a:xfrm>
            <a:off x="2896623" y="5440546"/>
            <a:ext cx="57686" cy="11486"/>
          </a:xfrm>
          <a:custGeom>
            <a:avLst/>
            <a:gdLst/>
            <a:ahLst/>
            <a:cxnLst/>
            <a:rect l="l" t="t" r="r" b="b"/>
            <a:pathLst>
              <a:path w="57686" h="11486">
                <a:moveTo>
                  <a:pt x="0" y="0"/>
                </a:moveTo>
                <a:lnTo>
                  <a:pt x="57686" y="0"/>
                </a:lnTo>
                <a:lnTo>
                  <a:pt x="57686" y="5027"/>
                </a:lnTo>
                <a:lnTo>
                  <a:pt x="32532" y="11090"/>
                </a:lnTo>
                <a:lnTo>
                  <a:pt x="11114" y="11486"/>
                </a:lnTo>
                <a:lnTo>
                  <a:pt x="0" y="888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8" name="Illustrative delivered road transport cost class 4; reference terminal Durban"/>
          <p:cNvSpPr/>
          <p:nvPr/>
        </p:nvSpPr>
        <p:spPr>
          <a:xfrm>
            <a:off x="2896623"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9" name="Illustrative delivered road transport cost class 4; reference terminal Lesedi"/>
          <p:cNvSpPr/>
          <p:nvPr/>
        </p:nvSpPr>
        <p:spPr>
          <a:xfrm>
            <a:off x="2896623"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0" name="Illustrative delivered road transport cost class 4; reference terminal Lesedi"/>
          <p:cNvSpPr/>
          <p:nvPr/>
        </p:nvSpPr>
        <p:spPr>
          <a:xfrm>
            <a:off x="2896623"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1" name="Illustrative delivered road transport cost class 4; reference terminal Lesedi"/>
          <p:cNvSpPr/>
          <p:nvPr/>
        </p:nvSpPr>
        <p:spPr>
          <a:xfrm>
            <a:off x="2896623"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2" name="Illustrative delivered road transport cost class 4; reference terminal Lesedi"/>
          <p:cNvSpPr/>
          <p:nvPr/>
        </p:nvSpPr>
        <p:spPr>
          <a:xfrm>
            <a:off x="2896623"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3" name="Illustrative delivered road transport cost class 4; reference terminal Lesedi"/>
          <p:cNvSpPr/>
          <p:nvPr/>
        </p:nvSpPr>
        <p:spPr>
          <a:xfrm>
            <a:off x="2896623"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4" name="Illustrative delivered road transport cost class 4; reference terminal Lesedi"/>
          <p:cNvSpPr/>
          <p:nvPr/>
        </p:nvSpPr>
        <p:spPr>
          <a:xfrm>
            <a:off x="2896623"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5" name="Illustrative delivered road transport cost class 4; reference terminal Lesedi"/>
          <p:cNvSpPr/>
          <p:nvPr/>
        </p:nvSpPr>
        <p:spPr>
          <a:xfrm>
            <a:off x="2896623"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6" name="Illustrative delivered road transport cost class 4; reference terminal Lesedi"/>
          <p:cNvSpPr/>
          <p:nvPr/>
        </p:nvSpPr>
        <p:spPr>
          <a:xfrm>
            <a:off x="2896623"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7" name="Illustrative delivered road transport cost class 4; reference terminal Lesedi"/>
          <p:cNvSpPr/>
          <p:nvPr/>
        </p:nvSpPr>
        <p:spPr>
          <a:xfrm>
            <a:off x="2896623"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8" name="Illustrative delivered road transport cost class 4; reference terminal Lesedi"/>
          <p:cNvSpPr/>
          <p:nvPr/>
        </p:nvSpPr>
        <p:spPr>
          <a:xfrm>
            <a:off x="2896623"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9" name="Illustrative delivered road transport cost class None; reference terminal None"/>
          <p:cNvSpPr/>
          <p:nvPr/>
        </p:nvSpPr>
        <p:spPr>
          <a:xfrm>
            <a:off x="2896623"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0" name="Illustrative delivered road transport cost class None; reference terminal None"/>
          <p:cNvSpPr/>
          <p:nvPr/>
        </p:nvSpPr>
        <p:spPr>
          <a:xfrm>
            <a:off x="2896623"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1" name="Illustrative delivered road transport cost class None; reference terminal None"/>
          <p:cNvSpPr/>
          <p:nvPr/>
        </p:nvSpPr>
        <p:spPr>
          <a:xfrm>
            <a:off x="2896623"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2" name="Illustrative delivered road transport cost class None; reference terminal None"/>
          <p:cNvSpPr/>
          <p:nvPr/>
        </p:nvSpPr>
        <p:spPr>
          <a:xfrm>
            <a:off x="289662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3" name="Illustrative delivered road transport cost class None; reference terminal None"/>
          <p:cNvSpPr/>
          <p:nvPr/>
        </p:nvSpPr>
        <p:spPr>
          <a:xfrm>
            <a:off x="289662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4" name="Illustrative delivered road transport cost class None; reference terminal None"/>
          <p:cNvSpPr/>
          <p:nvPr/>
        </p:nvSpPr>
        <p:spPr>
          <a:xfrm>
            <a:off x="289662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5" name="Illustrative delivered road transport cost class None; reference terminal None"/>
          <p:cNvSpPr/>
          <p:nvPr/>
        </p:nvSpPr>
        <p:spPr>
          <a:xfrm>
            <a:off x="289662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6" name="Illustrative delivered road transport cost class None; reference terminal None"/>
          <p:cNvSpPr/>
          <p:nvPr/>
        </p:nvSpPr>
        <p:spPr>
          <a:xfrm>
            <a:off x="289662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7" name="Illustrative delivered road transport cost class 3; reference terminal Lesedi"/>
          <p:cNvSpPr/>
          <p:nvPr/>
        </p:nvSpPr>
        <p:spPr>
          <a:xfrm>
            <a:off x="289662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8" name="Illustrative delivered road transport cost class 3; reference terminal Lesedi"/>
          <p:cNvSpPr/>
          <p:nvPr/>
        </p:nvSpPr>
        <p:spPr>
          <a:xfrm>
            <a:off x="289662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9" name="Illustrative delivered road transport cost class 3; reference terminal Lesedi"/>
          <p:cNvSpPr/>
          <p:nvPr/>
        </p:nvSpPr>
        <p:spPr>
          <a:xfrm>
            <a:off x="289662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0" name="Illustrative delivered road transport cost class 3; reference terminal Lesedi"/>
          <p:cNvSpPr/>
          <p:nvPr/>
        </p:nvSpPr>
        <p:spPr>
          <a:xfrm>
            <a:off x="289662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1" name="Illustrative delivered road transport cost class 3; reference terminal Lesedi"/>
          <p:cNvSpPr/>
          <p:nvPr/>
        </p:nvSpPr>
        <p:spPr>
          <a:xfrm>
            <a:off x="289662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Illustrative delivered road transport cost class 3; reference terminal Lesedi"/>
          <p:cNvSpPr/>
          <p:nvPr/>
        </p:nvSpPr>
        <p:spPr>
          <a:xfrm>
            <a:off x="289662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Illustrative delivered road transport cost class 3; reference terminal Lesedi"/>
          <p:cNvSpPr/>
          <p:nvPr/>
        </p:nvSpPr>
        <p:spPr>
          <a:xfrm>
            <a:off x="289662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Illustrative delivered road transport cost class 3; reference terminal Lesedi"/>
          <p:cNvSpPr/>
          <p:nvPr/>
        </p:nvSpPr>
        <p:spPr>
          <a:xfrm>
            <a:off x="289662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5" name="Illustrative delivered road transport cost class 3; reference terminal Lesedi"/>
          <p:cNvSpPr/>
          <p:nvPr/>
        </p:nvSpPr>
        <p:spPr>
          <a:xfrm>
            <a:off x="289662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6" name="Illustrative delivered road transport cost class 3; reference terminal Lesedi"/>
          <p:cNvSpPr/>
          <p:nvPr/>
        </p:nvSpPr>
        <p:spPr>
          <a:xfrm>
            <a:off x="289662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Illustrative delivered road transport cost class 3; reference terminal Lesedi"/>
          <p:cNvSpPr/>
          <p:nvPr/>
        </p:nvSpPr>
        <p:spPr>
          <a:xfrm>
            <a:off x="289662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8" name="Illustrative delivered road transport cost class 4; reference terminal Lesedi"/>
          <p:cNvSpPr/>
          <p:nvPr/>
        </p:nvSpPr>
        <p:spPr>
          <a:xfrm>
            <a:off x="289662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Illustrative delivered road transport cost class 4; reference terminal Lesedi"/>
          <p:cNvSpPr/>
          <p:nvPr/>
        </p:nvSpPr>
        <p:spPr>
          <a:xfrm>
            <a:off x="289662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Illustrative delivered road transport cost class None; reference terminal None"/>
          <p:cNvSpPr/>
          <p:nvPr/>
        </p:nvSpPr>
        <p:spPr>
          <a:xfrm>
            <a:off x="289662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Illustrative delivered road transport cost class None; reference terminal None"/>
          <p:cNvSpPr/>
          <p:nvPr/>
        </p:nvSpPr>
        <p:spPr>
          <a:xfrm>
            <a:off x="2896623" y="3506901"/>
            <a:ext cx="57686" cy="29988"/>
          </a:xfrm>
          <a:custGeom>
            <a:avLst/>
            <a:gdLst/>
            <a:ahLst/>
            <a:cxnLst/>
            <a:rect l="l" t="t" r="r" b="b"/>
            <a:pathLst>
              <a:path w="57686" h="29988">
                <a:moveTo>
                  <a:pt x="57686" y="29988"/>
                </a:moveTo>
                <a:lnTo>
                  <a:pt x="0" y="29988"/>
                </a:lnTo>
                <a:lnTo>
                  <a:pt x="0" y="8063"/>
                </a:lnTo>
                <a:lnTo>
                  <a:pt x="5311" y="9160"/>
                </a:lnTo>
                <a:lnTo>
                  <a:pt x="38607" y="11163"/>
                </a:lnTo>
                <a:lnTo>
                  <a:pt x="49619" y="7462"/>
                </a:lnTo>
                <a:lnTo>
                  <a:pt x="57686" y="0"/>
                </a:lnTo>
                <a:lnTo>
                  <a:pt x="57686" y="299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2" name="Illustrative delivered road transport cost class 4; reference terminal Durban"/>
          <p:cNvSpPr/>
          <p:nvPr/>
        </p:nvSpPr>
        <p:spPr>
          <a:xfrm>
            <a:off x="2954309" y="5440546"/>
            <a:ext cx="41969" cy="5027"/>
          </a:xfrm>
          <a:custGeom>
            <a:avLst/>
            <a:gdLst/>
            <a:ahLst/>
            <a:cxnLst/>
            <a:rect l="l" t="t" r="r" b="b"/>
            <a:pathLst>
              <a:path w="41969" h="5027">
                <a:moveTo>
                  <a:pt x="0" y="0"/>
                </a:moveTo>
                <a:lnTo>
                  <a:pt x="41969" y="0"/>
                </a:lnTo>
                <a:lnTo>
                  <a:pt x="17720" y="757"/>
                </a:lnTo>
                <a:lnTo>
                  <a:pt x="0" y="502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3" name="Illustrative delivered road transport cost class 4; reference terminal Durban"/>
          <p:cNvSpPr/>
          <p:nvPr/>
        </p:nvSpPr>
        <p:spPr>
          <a:xfrm>
            <a:off x="2954309" y="5382859"/>
            <a:ext cx="57687" cy="57687"/>
          </a:xfrm>
          <a:custGeom>
            <a:avLst/>
            <a:gdLst/>
            <a:ahLst/>
            <a:cxnLst/>
            <a:rect l="l" t="t" r="r" b="b"/>
            <a:pathLst>
              <a:path w="57687" h="57687">
                <a:moveTo>
                  <a:pt x="0" y="57687"/>
                </a:moveTo>
                <a:lnTo>
                  <a:pt x="0" y="0"/>
                </a:lnTo>
                <a:lnTo>
                  <a:pt x="57687" y="0"/>
                </a:lnTo>
                <a:lnTo>
                  <a:pt x="57687" y="57196"/>
                </a:lnTo>
                <a:lnTo>
                  <a:pt x="41969"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Illustrative delivered road transport cost class 4; reference terminal Durban"/>
          <p:cNvSpPr/>
          <p:nvPr/>
        </p:nvSpPr>
        <p:spPr>
          <a:xfrm>
            <a:off x="2954309"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5" name="Illustrative delivered road transport cost class 4; reference terminal Lesedi"/>
          <p:cNvSpPr/>
          <p:nvPr/>
        </p:nvSpPr>
        <p:spPr>
          <a:xfrm>
            <a:off x="2954309"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Illustrative delivered road transport cost class 4; reference terminal Lesedi"/>
          <p:cNvSpPr/>
          <p:nvPr/>
        </p:nvSpPr>
        <p:spPr>
          <a:xfrm>
            <a:off x="2954309"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Illustrative delivered road transport cost class 4; reference terminal Lesedi"/>
          <p:cNvSpPr/>
          <p:nvPr/>
        </p:nvSpPr>
        <p:spPr>
          <a:xfrm>
            <a:off x="2954309"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Illustrative delivered road transport cost class 4; reference terminal Lesedi"/>
          <p:cNvSpPr/>
          <p:nvPr/>
        </p:nvSpPr>
        <p:spPr>
          <a:xfrm>
            <a:off x="2954309"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9" name="Illustrative delivered road transport cost class 3; reference terminal Lesedi"/>
          <p:cNvSpPr/>
          <p:nvPr/>
        </p:nvSpPr>
        <p:spPr>
          <a:xfrm>
            <a:off x="2954309"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0" name="Illustrative delivered road transport cost class 3; reference terminal Lesedi"/>
          <p:cNvSpPr/>
          <p:nvPr/>
        </p:nvSpPr>
        <p:spPr>
          <a:xfrm>
            <a:off x="2954309"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Illustrative delivered road transport cost class 3; reference terminal Lesedi"/>
          <p:cNvSpPr/>
          <p:nvPr/>
        </p:nvSpPr>
        <p:spPr>
          <a:xfrm>
            <a:off x="2954309"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2" name="Illustrative delivered road transport cost class 3; reference terminal Lesedi"/>
          <p:cNvSpPr/>
          <p:nvPr/>
        </p:nvSpPr>
        <p:spPr>
          <a:xfrm>
            <a:off x="2954309"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3" name="Illustrative delivered road transport cost class 3; reference terminal Lesedi"/>
          <p:cNvSpPr/>
          <p:nvPr/>
        </p:nvSpPr>
        <p:spPr>
          <a:xfrm>
            <a:off x="2954309"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4" name="Illustrative delivered road transport cost class 4; reference terminal Lesedi"/>
          <p:cNvSpPr/>
          <p:nvPr/>
        </p:nvSpPr>
        <p:spPr>
          <a:xfrm>
            <a:off x="2954309"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5" name="Illustrative delivered road transport cost class None; reference terminal None"/>
          <p:cNvSpPr/>
          <p:nvPr/>
        </p:nvSpPr>
        <p:spPr>
          <a:xfrm>
            <a:off x="2954309"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6" name="Illustrative delivered road transport cost class None; reference terminal None"/>
          <p:cNvSpPr/>
          <p:nvPr/>
        </p:nvSpPr>
        <p:spPr>
          <a:xfrm>
            <a:off x="2954309"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7" name="Illustrative delivered road transport cost class None; reference terminal None"/>
          <p:cNvSpPr/>
          <p:nvPr/>
        </p:nvSpPr>
        <p:spPr>
          <a:xfrm>
            <a:off x="2954309"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8" name="Illustrative delivered road transport cost class None; reference terminal None"/>
          <p:cNvSpPr/>
          <p:nvPr/>
        </p:nvSpPr>
        <p:spPr>
          <a:xfrm>
            <a:off x="295430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9" name="Illustrative delivered road transport cost class None; reference terminal None"/>
          <p:cNvSpPr/>
          <p:nvPr/>
        </p:nvSpPr>
        <p:spPr>
          <a:xfrm>
            <a:off x="295430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0" name="Illustrative delivered road transport cost class None; reference terminal None"/>
          <p:cNvSpPr/>
          <p:nvPr/>
        </p:nvSpPr>
        <p:spPr>
          <a:xfrm>
            <a:off x="295430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1" name="Illustrative delivered road transport cost class 3; reference terminal Lesedi"/>
          <p:cNvSpPr/>
          <p:nvPr/>
        </p:nvSpPr>
        <p:spPr>
          <a:xfrm>
            <a:off x="295430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2" name="Illustrative delivered road transport cost class 3; reference terminal Lesedi"/>
          <p:cNvSpPr/>
          <p:nvPr/>
        </p:nvSpPr>
        <p:spPr>
          <a:xfrm>
            <a:off x="295430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3" name="Illustrative delivered road transport cost class 3; reference terminal Lesedi"/>
          <p:cNvSpPr/>
          <p:nvPr/>
        </p:nvSpPr>
        <p:spPr>
          <a:xfrm>
            <a:off x="295430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4" name="Illustrative delivered road transport cost class 3; reference terminal Lesedi"/>
          <p:cNvSpPr/>
          <p:nvPr/>
        </p:nvSpPr>
        <p:spPr>
          <a:xfrm>
            <a:off x="295430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5" name="Illustrative delivered road transport cost class 3; reference terminal Lesedi"/>
          <p:cNvSpPr/>
          <p:nvPr/>
        </p:nvSpPr>
        <p:spPr>
          <a:xfrm>
            <a:off x="295430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6" name="Illustrative delivered road transport cost class 3; reference terminal Lesedi"/>
          <p:cNvSpPr/>
          <p:nvPr/>
        </p:nvSpPr>
        <p:spPr>
          <a:xfrm>
            <a:off x="295430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7" name="Illustrative delivered road transport cost class 3; reference terminal Lesedi"/>
          <p:cNvSpPr/>
          <p:nvPr/>
        </p:nvSpPr>
        <p:spPr>
          <a:xfrm>
            <a:off x="295430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8" name="Illustrative delivered road transport cost class 3; reference terminal Lesedi"/>
          <p:cNvSpPr/>
          <p:nvPr/>
        </p:nvSpPr>
        <p:spPr>
          <a:xfrm>
            <a:off x="295430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9" name="Illustrative delivered road transport cost class 3; reference terminal Lesedi"/>
          <p:cNvSpPr/>
          <p:nvPr/>
        </p:nvSpPr>
        <p:spPr>
          <a:xfrm>
            <a:off x="295430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0" name="Illustrative delivered road transport cost class 3; reference terminal Lesedi"/>
          <p:cNvSpPr/>
          <p:nvPr/>
        </p:nvSpPr>
        <p:spPr>
          <a:xfrm>
            <a:off x="295430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1" name="Illustrative delivered road transport cost class 3; reference terminal Lesedi"/>
          <p:cNvSpPr/>
          <p:nvPr/>
        </p:nvSpPr>
        <p:spPr>
          <a:xfrm>
            <a:off x="295430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2" name="Illustrative delivered road transport cost class 3; reference terminal Lesedi"/>
          <p:cNvSpPr/>
          <p:nvPr/>
        </p:nvSpPr>
        <p:spPr>
          <a:xfrm>
            <a:off x="295430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3" name="Illustrative delivered road transport cost class 3; reference terminal Lesedi"/>
          <p:cNvSpPr/>
          <p:nvPr/>
        </p:nvSpPr>
        <p:spPr>
          <a:xfrm>
            <a:off x="295430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4" name="Illustrative delivered road transport cost class 3; reference terminal Lesedi"/>
          <p:cNvSpPr/>
          <p:nvPr/>
        </p:nvSpPr>
        <p:spPr>
          <a:xfrm>
            <a:off x="295430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5" name="Illustrative delivered road transport cost class 4; reference terminal Lesedi"/>
          <p:cNvSpPr/>
          <p:nvPr/>
        </p:nvSpPr>
        <p:spPr>
          <a:xfrm>
            <a:off x="295430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6" name="Illustrative delivered road transport cost class None; reference terminal None"/>
          <p:cNvSpPr/>
          <p:nvPr/>
        </p:nvSpPr>
        <p:spPr>
          <a:xfrm>
            <a:off x="2954309" y="3479202"/>
            <a:ext cx="57687" cy="57687"/>
          </a:xfrm>
          <a:custGeom>
            <a:avLst/>
            <a:gdLst/>
            <a:ahLst/>
            <a:cxnLst/>
            <a:rect l="l" t="t" r="r" b="b"/>
            <a:pathLst>
              <a:path w="57687" h="57687">
                <a:moveTo>
                  <a:pt x="57687" y="0"/>
                </a:moveTo>
                <a:lnTo>
                  <a:pt x="57687" y="57687"/>
                </a:lnTo>
                <a:lnTo>
                  <a:pt x="0" y="57687"/>
                </a:lnTo>
                <a:lnTo>
                  <a:pt x="0" y="27699"/>
                </a:lnTo>
                <a:lnTo>
                  <a:pt x="1644" y="26178"/>
                </a:lnTo>
                <a:lnTo>
                  <a:pt x="12518" y="1132"/>
                </a:lnTo>
                <a:lnTo>
                  <a:pt x="1388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7" name="Illustrative delivered road transport cost class None; reference terminal None"/>
          <p:cNvSpPr/>
          <p:nvPr/>
        </p:nvSpPr>
        <p:spPr>
          <a:xfrm>
            <a:off x="2968191" y="3461853"/>
            <a:ext cx="43805" cy="17349"/>
          </a:xfrm>
          <a:custGeom>
            <a:avLst/>
            <a:gdLst/>
            <a:ahLst/>
            <a:cxnLst/>
            <a:rect l="l" t="t" r="r" b="b"/>
            <a:pathLst>
              <a:path w="43805" h="17349">
                <a:moveTo>
                  <a:pt x="43805" y="17349"/>
                </a:moveTo>
                <a:lnTo>
                  <a:pt x="0" y="17349"/>
                </a:lnTo>
                <a:lnTo>
                  <a:pt x="8741" y="10096"/>
                </a:lnTo>
                <a:lnTo>
                  <a:pt x="27313" y="5420"/>
                </a:lnTo>
                <a:lnTo>
                  <a:pt x="43805" y="0"/>
                </a:lnTo>
                <a:lnTo>
                  <a:pt x="43805" y="1734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8" name="Illustrative delivered road transport cost class 4; reference terminal Durban"/>
          <p:cNvSpPr/>
          <p:nvPr/>
        </p:nvSpPr>
        <p:spPr>
          <a:xfrm>
            <a:off x="3011996" y="5382859"/>
            <a:ext cx="57686" cy="57196"/>
          </a:xfrm>
          <a:custGeom>
            <a:avLst/>
            <a:gdLst/>
            <a:ahLst/>
            <a:cxnLst/>
            <a:rect l="l" t="t" r="r" b="b"/>
            <a:pathLst>
              <a:path w="57686" h="57196">
                <a:moveTo>
                  <a:pt x="0" y="0"/>
                </a:moveTo>
                <a:lnTo>
                  <a:pt x="57686" y="0"/>
                </a:lnTo>
                <a:lnTo>
                  <a:pt x="57686" y="16696"/>
                </a:lnTo>
                <a:lnTo>
                  <a:pt x="10084" y="56881"/>
                </a:lnTo>
                <a:lnTo>
                  <a:pt x="0" y="571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9" name="Illustrative delivered road transport cost class 4; reference terminal Durban"/>
          <p:cNvSpPr/>
          <p:nvPr/>
        </p:nvSpPr>
        <p:spPr>
          <a:xfrm>
            <a:off x="3011996"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0" name="Illustrative delivered road transport cost class 4; reference terminal Lesedi"/>
          <p:cNvSpPr/>
          <p:nvPr/>
        </p:nvSpPr>
        <p:spPr>
          <a:xfrm>
            <a:off x="3011996"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1" name="Illustrative delivered road transport cost class 4; reference terminal Lesedi"/>
          <p:cNvSpPr/>
          <p:nvPr/>
        </p:nvSpPr>
        <p:spPr>
          <a:xfrm>
            <a:off x="3011996"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2" name="Illustrative delivered road transport cost class 4; reference terminal Lesedi"/>
          <p:cNvSpPr/>
          <p:nvPr/>
        </p:nvSpPr>
        <p:spPr>
          <a:xfrm>
            <a:off x="3011996"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3" name="Illustrative delivered road transport cost class 4; reference terminal Lesedi"/>
          <p:cNvSpPr/>
          <p:nvPr/>
        </p:nvSpPr>
        <p:spPr>
          <a:xfrm>
            <a:off x="3011996"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4" name="Illustrative delivered road transport cost class 3; reference terminal Lesedi"/>
          <p:cNvSpPr/>
          <p:nvPr/>
        </p:nvSpPr>
        <p:spPr>
          <a:xfrm>
            <a:off x="3011996"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5" name="Illustrative delivered road transport cost class 3; reference terminal Lesedi"/>
          <p:cNvSpPr/>
          <p:nvPr/>
        </p:nvSpPr>
        <p:spPr>
          <a:xfrm>
            <a:off x="3011996"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6" name="Illustrative delivered road transport cost class 3; reference terminal Lesedi"/>
          <p:cNvSpPr/>
          <p:nvPr/>
        </p:nvSpPr>
        <p:spPr>
          <a:xfrm>
            <a:off x="3011996"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7" name="Illustrative delivered road transport cost class 3; reference terminal Lesedi"/>
          <p:cNvSpPr/>
          <p:nvPr/>
        </p:nvSpPr>
        <p:spPr>
          <a:xfrm>
            <a:off x="3011996"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8" name="Illustrative delivered road transport cost class 3; reference terminal Lesedi"/>
          <p:cNvSpPr/>
          <p:nvPr/>
        </p:nvSpPr>
        <p:spPr>
          <a:xfrm>
            <a:off x="3011996"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9" name="Illustrative delivered road transport cost class 3; reference terminal Lesedi"/>
          <p:cNvSpPr/>
          <p:nvPr/>
        </p:nvSpPr>
        <p:spPr>
          <a:xfrm>
            <a:off x="3011996"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0" name="Illustrative delivered road transport cost class None; reference terminal None"/>
          <p:cNvSpPr/>
          <p:nvPr/>
        </p:nvSpPr>
        <p:spPr>
          <a:xfrm>
            <a:off x="3011996"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1" name="Illustrative delivered road transport cost class None; reference terminal None"/>
          <p:cNvSpPr/>
          <p:nvPr/>
        </p:nvSpPr>
        <p:spPr>
          <a:xfrm>
            <a:off x="3011996"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2" name="Illustrative delivered road transport cost class None; reference terminal None"/>
          <p:cNvSpPr/>
          <p:nvPr/>
        </p:nvSpPr>
        <p:spPr>
          <a:xfrm>
            <a:off x="3011996"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3" name="Illustrative delivered road transport cost class None; reference terminal None"/>
          <p:cNvSpPr/>
          <p:nvPr/>
        </p:nvSpPr>
        <p:spPr>
          <a:xfrm>
            <a:off x="3011996"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4" name="Illustrative delivered road transport cost class None; reference terminal None"/>
          <p:cNvSpPr/>
          <p:nvPr/>
        </p:nvSpPr>
        <p:spPr>
          <a:xfrm>
            <a:off x="3011996"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5" name="Illustrative delivered road transport cost class None; reference terminal None"/>
          <p:cNvSpPr/>
          <p:nvPr/>
        </p:nvSpPr>
        <p:spPr>
          <a:xfrm>
            <a:off x="3011996"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6" name="Illustrative delivered road transport cost class 3; reference terminal Lesedi"/>
          <p:cNvSpPr/>
          <p:nvPr/>
        </p:nvSpPr>
        <p:spPr>
          <a:xfrm>
            <a:off x="3011996"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7" name="Illustrative delivered road transport cost class 3; reference terminal Lesedi"/>
          <p:cNvSpPr/>
          <p:nvPr/>
        </p:nvSpPr>
        <p:spPr>
          <a:xfrm>
            <a:off x="3011996"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8" name="Illustrative delivered road transport cost class 3; reference terminal Lesedi"/>
          <p:cNvSpPr/>
          <p:nvPr/>
        </p:nvSpPr>
        <p:spPr>
          <a:xfrm>
            <a:off x="3011996"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9" name="Illustrative delivered road transport cost class 3; reference terminal Lesedi"/>
          <p:cNvSpPr/>
          <p:nvPr/>
        </p:nvSpPr>
        <p:spPr>
          <a:xfrm>
            <a:off x="301199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0" name="Illustrative delivered road transport cost class 3; reference terminal Lesedi"/>
          <p:cNvSpPr/>
          <p:nvPr/>
        </p:nvSpPr>
        <p:spPr>
          <a:xfrm>
            <a:off x="301199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1" name="Illustrative delivered road transport cost class 3; reference terminal Lesedi"/>
          <p:cNvSpPr/>
          <p:nvPr/>
        </p:nvSpPr>
        <p:spPr>
          <a:xfrm>
            <a:off x="301199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2" name="Illustrative delivered road transport cost class 3; reference terminal Lesedi"/>
          <p:cNvSpPr/>
          <p:nvPr/>
        </p:nvSpPr>
        <p:spPr>
          <a:xfrm>
            <a:off x="301199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3" name="Illustrative delivered road transport cost class 3; reference terminal Lesedi"/>
          <p:cNvSpPr/>
          <p:nvPr/>
        </p:nvSpPr>
        <p:spPr>
          <a:xfrm>
            <a:off x="301199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4" name="Illustrative delivered road transport cost class 3; reference terminal Lesedi"/>
          <p:cNvSpPr/>
          <p:nvPr/>
        </p:nvSpPr>
        <p:spPr>
          <a:xfrm>
            <a:off x="301199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5" name="Illustrative delivered road transport cost class 3; reference terminal Lesedi"/>
          <p:cNvSpPr/>
          <p:nvPr/>
        </p:nvSpPr>
        <p:spPr>
          <a:xfrm>
            <a:off x="301199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6" name="Illustrative delivered road transport cost class 3; reference terminal Lesedi"/>
          <p:cNvSpPr/>
          <p:nvPr/>
        </p:nvSpPr>
        <p:spPr>
          <a:xfrm>
            <a:off x="301199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7" name="Illustrative delivered road transport cost class 3; reference terminal Lesedi"/>
          <p:cNvSpPr/>
          <p:nvPr/>
        </p:nvSpPr>
        <p:spPr>
          <a:xfrm>
            <a:off x="301199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8" name="Illustrative delivered road transport cost class 3; reference terminal Lesedi"/>
          <p:cNvSpPr/>
          <p:nvPr/>
        </p:nvSpPr>
        <p:spPr>
          <a:xfrm>
            <a:off x="301199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9" name="Illustrative delivered road transport cost class 3; reference terminal Lesedi"/>
          <p:cNvSpPr/>
          <p:nvPr/>
        </p:nvSpPr>
        <p:spPr>
          <a:xfrm>
            <a:off x="3011996"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0" name="Illustrative delivered road transport cost class 3; reference terminal Lesedi"/>
          <p:cNvSpPr/>
          <p:nvPr/>
        </p:nvSpPr>
        <p:spPr>
          <a:xfrm>
            <a:off x="3011996"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1" name="Illustrative delivered road transport cost class None; reference terminal None"/>
          <p:cNvSpPr/>
          <p:nvPr/>
        </p:nvSpPr>
        <p:spPr>
          <a:xfrm>
            <a:off x="3011996"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2" name="Illustrative delivered road transport cost class None; reference terminal None"/>
          <p:cNvSpPr/>
          <p:nvPr/>
        </p:nvSpPr>
        <p:spPr>
          <a:xfrm>
            <a:off x="3011996" y="3421516"/>
            <a:ext cx="57686" cy="57686"/>
          </a:xfrm>
          <a:custGeom>
            <a:avLst/>
            <a:gdLst/>
            <a:ahLst/>
            <a:cxnLst/>
            <a:rect l="l" t="t" r="r" b="b"/>
            <a:pathLst>
              <a:path w="57686" h="57686">
                <a:moveTo>
                  <a:pt x="57686" y="0"/>
                </a:moveTo>
                <a:lnTo>
                  <a:pt x="57686" y="57686"/>
                </a:lnTo>
                <a:lnTo>
                  <a:pt x="0" y="57686"/>
                </a:lnTo>
                <a:lnTo>
                  <a:pt x="0" y="40337"/>
                </a:lnTo>
                <a:lnTo>
                  <a:pt x="5481" y="38536"/>
                </a:lnTo>
                <a:lnTo>
                  <a:pt x="23520" y="23860"/>
                </a:lnTo>
                <a:lnTo>
                  <a:pt x="3700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3" name="Illustrative delivered road transport cost class None; reference terminal None"/>
          <p:cNvSpPr/>
          <p:nvPr/>
        </p:nvSpPr>
        <p:spPr>
          <a:xfrm>
            <a:off x="3049002" y="3391017"/>
            <a:ext cx="20680" cy="30499"/>
          </a:xfrm>
          <a:custGeom>
            <a:avLst/>
            <a:gdLst/>
            <a:ahLst/>
            <a:cxnLst/>
            <a:rect l="l" t="t" r="r" b="b"/>
            <a:pathLst>
              <a:path w="20680" h="30499">
                <a:moveTo>
                  <a:pt x="20680" y="30499"/>
                </a:moveTo>
                <a:lnTo>
                  <a:pt x="0" y="30499"/>
                </a:lnTo>
                <a:lnTo>
                  <a:pt x="14539" y="4776"/>
                </a:lnTo>
                <a:lnTo>
                  <a:pt x="20680" y="0"/>
                </a:lnTo>
                <a:lnTo>
                  <a:pt x="20680" y="3049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4" name="Illustrative delivered road transport cost class 4; reference terminal Durban"/>
          <p:cNvSpPr/>
          <p:nvPr/>
        </p:nvSpPr>
        <p:spPr>
          <a:xfrm>
            <a:off x="3069682" y="5382859"/>
            <a:ext cx="19778" cy="16696"/>
          </a:xfrm>
          <a:custGeom>
            <a:avLst/>
            <a:gdLst/>
            <a:ahLst/>
            <a:cxnLst/>
            <a:rect l="l" t="t" r="r" b="b"/>
            <a:pathLst>
              <a:path w="19778" h="16696">
                <a:moveTo>
                  <a:pt x="0" y="0"/>
                </a:moveTo>
                <a:lnTo>
                  <a:pt x="19778" y="0"/>
                </a:lnTo>
                <a:lnTo>
                  <a:pt x="0" y="166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5" name="Illustrative delivered road transport cost class 4; reference terminal Durban"/>
          <p:cNvSpPr/>
          <p:nvPr/>
        </p:nvSpPr>
        <p:spPr>
          <a:xfrm>
            <a:off x="3069682" y="5325173"/>
            <a:ext cx="57687" cy="57686"/>
          </a:xfrm>
          <a:custGeom>
            <a:avLst/>
            <a:gdLst/>
            <a:ahLst/>
            <a:cxnLst/>
            <a:rect l="l" t="t" r="r" b="b"/>
            <a:pathLst>
              <a:path w="57687" h="57686">
                <a:moveTo>
                  <a:pt x="0" y="57686"/>
                </a:moveTo>
                <a:lnTo>
                  <a:pt x="0" y="0"/>
                </a:lnTo>
                <a:lnTo>
                  <a:pt x="57687" y="0"/>
                </a:lnTo>
                <a:lnTo>
                  <a:pt x="57687" y="33061"/>
                </a:lnTo>
                <a:lnTo>
                  <a:pt x="47320" y="34436"/>
                </a:lnTo>
                <a:lnTo>
                  <a:pt x="19778"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6" name="Illustrative delivered road transport cost class 4; reference terminal Durban"/>
          <p:cNvSpPr/>
          <p:nvPr/>
        </p:nvSpPr>
        <p:spPr>
          <a:xfrm>
            <a:off x="306968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7" name="Illustrative delivered road transport cost class 4; reference terminal Lesedi"/>
          <p:cNvSpPr/>
          <p:nvPr/>
        </p:nvSpPr>
        <p:spPr>
          <a:xfrm>
            <a:off x="306968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8" name="Illustrative delivered road transport cost class 4; reference terminal Lesedi"/>
          <p:cNvSpPr/>
          <p:nvPr/>
        </p:nvSpPr>
        <p:spPr>
          <a:xfrm>
            <a:off x="306968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9" name="Illustrative delivered road transport cost class 3; reference terminal Lesedi"/>
          <p:cNvSpPr/>
          <p:nvPr/>
        </p:nvSpPr>
        <p:spPr>
          <a:xfrm>
            <a:off x="306968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0" name="Illustrative delivered road transport cost class 3; reference terminal Lesedi"/>
          <p:cNvSpPr/>
          <p:nvPr/>
        </p:nvSpPr>
        <p:spPr>
          <a:xfrm>
            <a:off x="306968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1" name="Illustrative delivered road transport cost class 3; reference terminal Lesedi"/>
          <p:cNvSpPr/>
          <p:nvPr/>
        </p:nvSpPr>
        <p:spPr>
          <a:xfrm>
            <a:off x="306968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2" name="Illustrative delivered road transport cost class 3; reference terminal Lesedi"/>
          <p:cNvSpPr/>
          <p:nvPr/>
        </p:nvSpPr>
        <p:spPr>
          <a:xfrm>
            <a:off x="306968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3" name="Illustrative delivered road transport cost class 3; reference terminal Lesedi"/>
          <p:cNvSpPr/>
          <p:nvPr/>
        </p:nvSpPr>
        <p:spPr>
          <a:xfrm>
            <a:off x="306968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4" name="Illustrative delivered road transport cost class 3; reference terminal Lesedi"/>
          <p:cNvSpPr/>
          <p:nvPr/>
        </p:nvSpPr>
        <p:spPr>
          <a:xfrm>
            <a:off x="306968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5" name="Illustrative delivered road transport cost class 3; reference terminal Lesedi"/>
          <p:cNvSpPr/>
          <p:nvPr/>
        </p:nvSpPr>
        <p:spPr>
          <a:xfrm>
            <a:off x="306968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6" name="Illustrative delivered road transport cost class 3; reference terminal Lesedi"/>
          <p:cNvSpPr/>
          <p:nvPr/>
        </p:nvSpPr>
        <p:spPr>
          <a:xfrm>
            <a:off x="306968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7" name="Illustrative delivered road transport cost class None; reference terminal None"/>
          <p:cNvSpPr/>
          <p:nvPr/>
        </p:nvSpPr>
        <p:spPr>
          <a:xfrm>
            <a:off x="306968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8" name="Illustrative delivered road transport cost class None; reference terminal None"/>
          <p:cNvSpPr/>
          <p:nvPr/>
        </p:nvSpPr>
        <p:spPr>
          <a:xfrm>
            <a:off x="306968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9" name="Illustrative delivered road transport cost class None; reference terminal None"/>
          <p:cNvSpPr/>
          <p:nvPr/>
        </p:nvSpPr>
        <p:spPr>
          <a:xfrm>
            <a:off x="306968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 name="Illustrative delivered road transport cost class None; reference terminal None"/>
          <p:cNvSpPr/>
          <p:nvPr/>
        </p:nvSpPr>
        <p:spPr>
          <a:xfrm>
            <a:off x="306968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 name="Illustrative delivered road transport cost class 3; reference terminal Lesedi"/>
          <p:cNvSpPr/>
          <p:nvPr/>
        </p:nvSpPr>
        <p:spPr>
          <a:xfrm>
            <a:off x="306968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2" name="Illustrative delivered road transport cost class 3; reference terminal Lesedi"/>
          <p:cNvSpPr/>
          <p:nvPr/>
        </p:nvSpPr>
        <p:spPr>
          <a:xfrm>
            <a:off x="306968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3" name="Illustrative delivered road transport cost class 3; reference terminal Lesedi"/>
          <p:cNvSpPr/>
          <p:nvPr/>
        </p:nvSpPr>
        <p:spPr>
          <a:xfrm>
            <a:off x="306968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4" name="Illustrative delivered road transport cost class 3; reference terminal Lesedi"/>
          <p:cNvSpPr/>
          <p:nvPr/>
        </p:nvSpPr>
        <p:spPr>
          <a:xfrm>
            <a:off x="306968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5" name="Illustrative delivered road transport cost class 3; reference terminal Lesedi"/>
          <p:cNvSpPr/>
          <p:nvPr/>
        </p:nvSpPr>
        <p:spPr>
          <a:xfrm>
            <a:off x="306968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6" name="Illustrative delivered road transport cost class 3; reference terminal Lesedi"/>
          <p:cNvSpPr/>
          <p:nvPr/>
        </p:nvSpPr>
        <p:spPr>
          <a:xfrm>
            <a:off x="306968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7" name="Illustrative delivered road transport cost class 3; reference terminal Lesedi"/>
          <p:cNvSpPr/>
          <p:nvPr/>
        </p:nvSpPr>
        <p:spPr>
          <a:xfrm>
            <a:off x="306968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8" name="Illustrative delivered road transport cost class 3; reference terminal Lesedi"/>
          <p:cNvSpPr/>
          <p:nvPr/>
        </p:nvSpPr>
        <p:spPr>
          <a:xfrm>
            <a:off x="306968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9" name="Illustrative delivered road transport cost class 3; reference terminal Lesedi"/>
          <p:cNvSpPr/>
          <p:nvPr/>
        </p:nvSpPr>
        <p:spPr>
          <a:xfrm>
            <a:off x="306968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0" name="Illustrative delivered road transport cost class 3; reference terminal Lesedi"/>
          <p:cNvSpPr/>
          <p:nvPr/>
        </p:nvSpPr>
        <p:spPr>
          <a:xfrm>
            <a:off x="306968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1" name="Illustrative delivered road transport cost class 3; reference terminal Lesedi"/>
          <p:cNvSpPr/>
          <p:nvPr/>
        </p:nvSpPr>
        <p:spPr>
          <a:xfrm>
            <a:off x="306968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2" name="Illustrative delivered road transport cost class 3; reference terminal Lesedi"/>
          <p:cNvSpPr/>
          <p:nvPr/>
        </p:nvSpPr>
        <p:spPr>
          <a:xfrm>
            <a:off x="306968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3" name="Illustrative delivered road transport cost class 3; reference terminal Lesedi"/>
          <p:cNvSpPr/>
          <p:nvPr/>
        </p:nvSpPr>
        <p:spPr>
          <a:xfrm>
            <a:off x="306968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4" name="Illustrative delivered road transport cost class 3; reference terminal Lesedi"/>
          <p:cNvSpPr/>
          <p:nvPr/>
        </p:nvSpPr>
        <p:spPr>
          <a:xfrm>
            <a:off x="306968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5" name="Illustrative delivered road transport cost class 3; reference terminal Lesedi"/>
          <p:cNvSpPr/>
          <p:nvPr/>
        </p:nvSpPr>
        <p:spPr>
          <a:xfrm>
            <a:off x="306968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6" name="Illustrative delivered road transport cost class 3; reference terminal Lesedi"/>
          <p:cNvSpPr/>
          <p:nvPr/>
        </p:nvSpPr>
        <p:spPr>
          <a:xfrm>
            <a:off x="306968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7" name="Illustrative delivered road transport cost class None; reference terminal None"/>
          <p:cNvSpPr/>
          <p:nvPr/>
        </p:nvSpPr>
        <p:spPr>
          <a:xfrm>
            <a:off x="306968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8" name="Illustrative delivered road transport cost class None; reference terminal None"/>
          <p:cNvSpPr/>
          <p:nvPr/>
        </p:nvSpPr>
        <p:spPr>
          <a:xfrm>
            <a:off x="306968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9" name="Illustrative delivered road transport cost class None; reference terminal None"/>
          <p:cNvSpPr/>
          <p:nvPr/>
        </p:nvSpPr>
        <p:spPr>
          <a:xfrm>
            <a:off x="3069682" y="3363829"/>
            <a:ext cx="57687" cy="57687"/>
          </a:xfrm>
          <a:custGeom>
            <a:avLst/>
            <a:gdLst/>
            <a:ahLst/>
            <a:cxnLst/>
            <a:rect l="l" t="t" r="r" b="b"/>
            <a:pathLst>
              <a:path w="57687" h="57687">
                <a:moveTo>
                  <a:pt x="57687" y="0"/>
                </a:moveTo>
                <a:lnTo>
                  <a:pt x="57687" y="57687"/>
                </a:lnTo>
                <a:lnTo>
                  <a:pt x="0" y="57687"/>
                </a:lnTo>
                <a:lnTo>
                  <a:pt x="0" y="27188"/>
                </a:lnTo>
                <a:lnTo>
                  <a:pt x="3495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0" name="Illustrative delivered road transport cost class None; reference terminal None"/>
          <p:cNvSpPr/>
          <p:nvPr/>
        </p:nvSpPr>
        <p:spPr>
          <a:xfrm>
            <a:off x="3104636" y="3347240"/>
            <a:ext cx="22733" cy="16589"/>
          </a:xfrm>
          <a:custGeom>
            <a:avLst/>
            <a:gdLst/>
            <a:ahLst/>
            <a:cxnLst/>
            <a:rect l="l" t="t" r="r" b="b"/>
            <a:pathLst>
              <a:path w="22733" h="16589">
                <a:moveTo>
                  <a:pt x="22733" y="16589"/>
                </a:moveTo>
                <a:lnTo>
                  <a:pt x="0" y="16589"/>
                </a:lnTo>
                <a:lnTo>
                  <a:pt x="16351" y="3871"/>
                </a:lnTo>
                <a:lnTo>
                  <a:pt x="22733" y="0"/>
                </a:lnTo>
                <a:lnTo>
                  <a:pt x="22733" y="1658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1" name="Illustrative delivered road transport cost class 4; reference terminal Durban"/>
          <p:cNvSpPr/>
          <p:nvPr/>
        </p:nvSpPr>
        <p:spPr>
          <a:xfrm>
            <a:off x="3127369" y="5325173"/>
            <a:ext cx="57686" cy="33061"/>
          </a:xfrm>
          <a:custGeom>
            <a:avLst/>
            <a:gdLst/>
            <a:ahLst/>
            <a:cxnLst/>
            <a:rect l="l" t="t" r="r" b="b"/>
            <a:pathLst>
              <a:path w="57686" h="33061">
                <a:moveTo>
                  <a:pt x="0" y="0"/>
                </a:moveTo>
                <a:lnTo>
                  <a:pt x="57686" y="0"/>
                </a:lnTo>
                <a:lnTo>
                  <a:pt x="57686" y="17782"/>
                </a:lnTo>
                <a:lnTo>
                  <a:pt x="54992" y="17834"/>
                </a:lnTo>
                <a:lnTo>
                  <a:pt x="25544" y="29674"/>
                </a:lnTo>
                <a:lnTo>
                  <a:pt x="0" y="3306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2" name="Illustrative delivered road transport cost class 4; reference terminal Durban"/>
          <p:cNvSpPr/>
          <p:nvPr/>
        </p:nvSpPr>
        <p:spPr>
          <a:xfrm>
            <a:off x="312736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3" name="Illustrative delivered road transport cost class 4; reference terminal Durban"/>
          <p:cNvSpPr/>
          <p:nvPr/>
        </p:nvSpPr>
        <p:spPr>
          <a:xfrm>
            <a:off x="312736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4" name="Illustrative delivered road transport cost class 4; reference terminal Lesedi"/>
          <p:cNvSpPr/>
          <p:nvPr/>
        </p:nvSpPr>
        <p:spPr>
          <a:xfrm>
            <a:off x="312736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5" name="Illustrative delivered road transport cost class 3; reference terminal Lesedi"/>
          <p:cNvSpPr/>
          <p:nvPr/>
        </p:nvSpPr>
        <p:spPr>
          <a:xfrm>
            <a:off x="312736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6" name="Illustrative delivered road transport cost class 3; reference terminal Lesedi"/>
          <p:cNvSpPr/>
          <p:nvPr/>
        </p:nvSpPr>
        <p:spPr>
          <a:xfrm>
            <a:off x="312736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7" name="Illustrative delivered road transport cost class 3; reference terminal Lesedi"/>
          <p:cNvSpPr/>
          <p:nvPr/>
        </p:nvSpPr>
        <p:spPr>
          <a:xfrm>
            <a:off x="312736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8" name="Illustrative delivered road transport cost class 3; reference terminal Lesedi"/>
          <p:cNvSpPr/>
          <p:nvPr/>
        </p:nvSpPr>
        <p:spPr>
          <a:xfrm>
            <a:off x="312736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9" name="Illustrative delivered road transport cost class 3; reference terminal Lesedi"/>
          <p:cNvSpPr/>
          <p:nvPr/>
        </p:nvSpPr>
        <p:spPr>
          <a:xfrm>
            <a:off x="312736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0" name="Illustrative delivered road transport cost class 3; reference terminal Lesedi"/>
          <p:cNvSpPr/>
          <p:nvPr/>
        </p:nvSpPr>
        <p:spPr>
          <a:xfrm>
            <a:off x="312736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1" name="Illustrative delivered road transport cost class 3; reference terminal Lesedi"/>
          <p:cNvSpPr/>
          <p:nvPr/>
        </p:nvSpPr>
        <p:spPr>
          <a:xfrm>
            <a:off x="312736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2" name="Illustrative delivered road transport cost class 3; reference terminal Lesedi"/>
          <p:cNvSpPr/>
          <p:nvPr/>
        </p:nvSpPr>
        <p:spPr>
          <a:xfrm>
            <a:off x="312736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3" name="Illustrative delivered road transport cost class 3; reference terminal Lesedi"/>
          <p:cNvSpPr/>
          <p:nvPr/>
        </p:nvSpPr>
        <p:spPr>
          <a:xfrm>
            <a:off x="312736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4" name="Illustrative delivered road transport cost class 3; reference terminal Lesedi"/>
          <p:cNvSpPr/>
          <p:nvPr/>
        </p:nvSpPr>
        <p:spPr>
          <a:xfrm>
            <a:off x="312736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5" name="Illustrative delivered road transport cost class None; reference terminal None"/>
          <p:cNvSpPr/>
          <p:nvPr/>
        </p:nvSpPr>
        <p:spPr>
          <a:xfrm>
            <a:off x="312736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6" name="Illustrative delivered road transport cost class None; reference terminal None"/>
          <p:cNvSpPr/>
          <p:nvPr/>
        </p:nvSpPr>
        <p:spPr>
          <a:xfrm>
            <a:off x="312736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7" name="Illustrative delivered road transport cost class 3; reference terminal Lesedi"/>
          <p:cNvSpPr/>
          <p:nvPr/>
        </p:nvSpPr>
        <p:spPr>
          <a:xfrm>
            <a:off x="312736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8" name="Illustrative delivered road transport cost class 3; reference terminal Lesedi"/>
          <p:cNvSpPr/>
          <p:nvPr/>
        </p:nvSpPr>
        <p:spPr>
          <a:xfrm>
            <a:off x="312736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9" name="Illustrative delivered road transport cost class 3; reference terminal Lesedi"/>
          <p:cNvSpPr/>
          <p:nvPr/>
        </p:nvSpPr>
        <p:spPr>
          <a:xfrm>
            <a:off x="312736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0" name="Illustrative delivered road transport cost class 3; reference terminal Lesedi"/>
          <p:cNvSpPr/>
          <p:nvPr/>
        </p:nvSpPr>
        <p:spPr>
          <a:xfrm>
            <a:off x="312736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1" name="Illustrative delivered road transport cost class 3; reference terminal Lesedi"/>
          <p:cNvSpPr/>
          <p:nvPr/>
        </p:nvSpPr>
        <p:spPr>
          <a:xfrm>
            <a:off x="312736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2" name="Illustrative delivered road transport cost class 3; reference terminal Lesedi"/>
          <p:cNvSpPr/>
          <p:nvPr/>
        </p:nvSpPr>
        <p:spPr>
          <a:xfrm>
            <a:off x="312736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3" name="Illustrative delivered road transport cost class 3; reference terminal Lesedi"/>
          <p:cNvSpPr/>
          <p:nvPr/>
        </p:nvSpPr>
        <p:spPr>
          <a:xfrm>
            <a:off x="312736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4" name="Illustrative delivered road transport cost class 3; reference terminal Lesedi"/>
          <p:cNvSpPr/>
          <p:nvPr/>
        </p:nvSpPr>
        <p:spPr>
          <a:xfrm>
            <a:off x="312736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5" name="Illustrative delivered road transport cost class 3; reference terminal Lesedi"/>
          <p:cNvSpPr/>
          <p:nvPr/>
        </p:nvSpPr>
        <p:spPr>
          <a:xfrm>
            <a:off x="312736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6" name="Illustrative delivered road transport cost class 3; reference terminal Lesedi"/>
          <p:cNvSpPr/>
          <p:nvPr/>
        </p:nvSpPr>
        <p:spPr>
          <a:xfrm>
            <a:off x="312736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7" name="Illustrative delivered road transport cost class 3; reference terminal Lesedi"/>
          <p:cNvSpPr/>
          <p:nvPr/>
        </p:nvSpPr>
        <p:spPr>
          <a:xfrm>
            <a:off x="312736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8" name="Illustrative delivered road transport cost class 3; reference terminal Lesedi"/>
          <p:cNvSpPr/>
          <p:nvPr/>
        </p:nvSpPr>
        <p:spPr>
          <a:xfrm>
            <a:off x="312736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9" name="Illustrative delivered road transport cost class 3; reference terminal Lesedi"/>
          <p:cNvSpPr/>
          <p:nvPr/>
        </p:nvSpPr>
        <p:spPr>
          <a:xfrm>
            <a:off x="312736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0" name="Illustrative delivered road transport cost class 3; reference terminal Lesedi"/>
          <p:cNvSpPr/>
          <p:nvPr/>
        </p:nvSpPr>
        <p:spPr>
          <a:xfrm>
            <a:off x="312736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1" name="Illustrative delivered road transport cost class 3; reference terminal Lesedi"/>
          <p:cNvSpPr/>
          <p:nvPr/>
        </p:nvSpPr>
        <p:spPr>
          <a:xfrm>
            <a:off x="312736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2" name="Illustrative delivered road transport cost class 3; reference terminal Lesedi"/>
          <p:cNvSpPr/>
          <p:nvPr/>
        </p:nvSpPr>
        <p:spPr>
          <a:xfrm>
            <a:off x="312736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3" name="Illustrative delivered road transport cost class 3; reference terminal Lesedi"/>
          <p:cNvSpPr/>
          <p:nvPr/>
        </p:nvSpPr>
        <p:spPr>
          <a:xfrm>
            <a:off x="312736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4" name="Illustrative delivered road transport cost class None; reference terminal None"/>
          <p:cNvSpPr/>
          <p:nvPr/>
        </p:nvSpPr>
        <p:spPr>
          <a:xfrm>
            <a:off x="312736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5" name="Illustrative delivered road transport cost class None; reference terminal None"/>
          <p:cNvSpPr/>
          <p:nvPr/>
        </p:nvSpPr>
        <p:spPr>
          <a:xfrm>
            <a:off x="312736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6" name="Illustrative delivered road transport cost class None; reference terminal None"/>
          <p:cNvSpPr/>
          <p:nvPr/>
        </p:nvSpPr>
        <p:spPr>
          <a:xfrm>
            <a:off x="3127369" y="3306143"/>
            <a:ext cx="57686" cy="57686"/>
          </a:xfrm>
          <a:custGeom>
            <a:avLst/>
            <a:gdLst/>
            <a:ahLst/>
            <a:cxnLst/>
            <a:rect l="l" t="t" r="r" b="b"/>
            <a:pathLst>
              <a:path w="57686" h="57686">
                <a:moveTo>
                  <a:pt x="57686" y="0"/>
                </a:moveTo>
                <a:lnTo>
                  <a:pt x="57686" y="57686"/>
                </a:lnTo>
                <a:lnTo>
                  <a:pt x="0" y="57686"/>
                </a:lnTo>
                <a:lnTo>
                  <a:pt x="0" y="41097"/>
                </a:lnTo>
                <a:lnTo>
                  <a:pt x="11340" y="34218"/>
                </a:lnTo>
                <a:lnTo>
                  <a:pt x="22425" y="22311"/>
                </a:lnTo>
                <a:lnTo>
                  <a:pt x="31958" y="6395"/>
                </a:lnTo>
                <a:lnTo>
                  <a:pt x="3422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7" name="Illustrative delivered road transport cost class None; reference terminal None"/>
          <p:cNvSpPr/>
          <p:nvPr/>
        </p:nvSpPr>
        <p:spPr>
          <a:xfrm>
            <a:off x="3161595" y="3248456"/>
            <a:ext cx="23460" cy="57687"/>
          </a:xfrm>
          <a:custGeom>
            <a:avLst/>
            <a:gdLst/>
            <a:ahLst/>
            <a:cxnLst/>
            <a:rect l="l" t="t" r="r" b="b"/>
            <a:pathLst>
              <a:path w="23460" h="57687">
                <a:moveTo>
                  <a:pt x="23460" y="0"/>
                </a:moveTo>
                <a:lnTo>
                  <a:pt x="23460" y="57687"/>
                </a:lnTo>
                <a:lnTo>
                  <a:pt x="0" y="57687"/>
                </a:lnTo>
                <a:lnTo>
                  <a:pt x="17253" y="9036"/>
                </a:lnTo>
                <a:lnTo>
                  <a:pt x="20158" y="0"/>
                </a:lnTo>
                <a:lnTo>
                  <a:pt x="2346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8" name="Illustrative delivered road transport cost class None; reference terminal None"/>
          <p:cNvSpPr/>
          <p:nvPr/>
        </p:nvSpPr>
        <p:spPr>
          <a:xfrm>
            <a:off x="3181753" y="3238184"/>
            <a:ext cx="3302" cy="10272"/>
          </a:xfrm>
          <a:custGeom>
            <a:avLst/>
            <a:gdLst/>
            <a:ahLst/>
            <a:cxnLst/>
            <a:rect l="l" t="t" r="r" b="b"/>
            <a:pathLst>
              <a:path w="3302" h="10272">
                <a:moveTo>
                  <a:pt x="3302" y="10272"/>
                </a:moveTo>
                <a:lnTo>
                  <a:pt x="0" y="10272"/>
                </a:lnTo>
                <a:lnTo>
                  <a:pt x="3302" y="0"/>
                </a:lnTo>
                <a:lnTo>
                  <a:pt x="3302" y="1027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9" name="Illustrative delivered road transport cost class 3; reference terminal Durban"/>
          <p:cNvSpPr/>
          <p:nvPr/>
        </p:nvSpPr>
        <p:spPr>
          <a:xfrm>
            <a:off x="3185055" y="5325173"/>
            <a:ext cx="57687" cy="23847"/>
          </a:xfrm>
          <a:custGeom>
            <a:avLst/>
            <a:gdLst/>
            <a:ahLst/>
            <a:cxnLst/>
            <a:rect l="l" t="t" r="r" b="b"/>
            <a:pathLst>
              <a:path w="57687" h="23847">
                <a:moveTo>
                  <a:pt x="0" y="0"/>
                </a:moveTo>
                <a:lnTo>
                  <a:pt x="57687" y="0"/>
                </a:lnTo>
                <a:lnTo>
                  <a:pt x="57687" y="23847"/>
                </a:lnTo>
                <a:lnTo>
                  <a:pt x="36069" y="17085"/>
                </a:lnTo>
                <a:lnTo>
                  <a:pt x="0" y="17782"/>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0" name="Illustrative delivered road transport cost class 3; reference terminal Durban"/>
          <p:cNvSpPr/>
          <p:nvPr/>
        </p:nvSpPr>
        <p:spPr>
          <a:xfrm>
            <a:off x="318505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1" name="Illustrative delivered road transport cost class 3; reference terminal Durban"/>
          <p:cNvSpPr/>
          <p:nvPr/>
        </p:nvSpPr>
        <p:spPr>
          <a:xfrm>
            <a:off x="318505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2" name="Illustrative delivered road transport cost class 4; reference terminal Durban"/>
          <p:cNvSpPr/>
          <p:nvPr/>
        </p:nvSpPr>
        <p:spPr>
          <a:xfrm>
            <a:off x="318505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3" name="Illustrative delivered road transport cost class 3; reference terminal Lesedi"/>
          <p:cNvSpPr/>
          <p:nvPr/>
        </p:nvSpPr>
        <p:spPr>
          <a:xfrm>
            <a:off x="318505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4" name="Illustrative delivered road transport cost class 3; reference terminal Lesedi"/>
          <p:cNvSpPr/>
          <p:nvPr/>
        </p:nvSpPr>
        <p:spPr>
          <a:xfrm>
            <a:off x="318505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5" name="Illustrative delivered road transport cost class 3; reference terminal Lesedi"/>
          <p:cNvSpPr/>
          <p:nvPr/>
        </p:nvSpPr>
        <p:spPr>
          <a:xfrm>
            <a:off x="318505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6" name="Illustrative delivered road transport cost class 3; reference terminal Lesedi"/>
          <p:cNvSpPr/>
          <p:nvPr/>
        </p:nvSpPr>
        <p:spPr>
          <a:xfrm>
            <a:off x="318505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7" name="Illustrative delivered road transport cost class 3; reference terminal Lesedi"/>
          <p:cNvSpPr/>
          <p:nvPr/>
        </p:nvSpPr>
        <p:spPr>
          <a:xfrm>
            <a:off x="318505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8" name="Illustrative delivered road transport cost class 3; reference terminal Lesedi"/>
          <p:cNvSpPr/>
          <p:nvPr/>
        </p:nvSpPr>
        <p:spPr>
          <a:xfrm>
            <a:off x="318505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9" name="Illustrative delivered road transport cost class 3; reference terminal Lesedi"/>
          <p:cNvSpPr/>
          <p:nvPr/>
        </p:nvSpPr>
        <p:spPr>
          <a:xfrm>
            <a:off x="318505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0" name="Illustrative delivered road transport cost class 3; reference terminal Lesedi"/>
          <p:cNvSpPr/>
          <p:nvPr/>
        </p:nvSpPr>
        <p:spPr>
          <a:xfrm>
            <a:off x="318505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1" name="Illustrative delivered road transport cost class 3; reference terminal Lesedi"/>
          <p:cNvSpPr/>
          <p:nvPr/>
        </p:nvSpPr>
        <p:spPr>
          <a:xfrm>
            <a:off x="318505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2" name="Illustrative delivered road transport cost class 3; reference terminal Lesedi"/>
          <p:cNvSpPr/>
          <p:nvPr/>
        </p:nvSpPr>
        <p:spPr>
          <a:xfrm>
            <a:off x="318505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3" name="Illustrative delivered road transport cost class 3; reference terminal Lesedi"/>
          <p:cNvSpPr/>
          <p:nvPr/>
        </p:nvSpPr>
        <p:spPr>
          <a:xfrm>
            <a:off x="318505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4" name="Illustrative delivered road transport cost class 3; reference terminal Lesedi"/>
          <p:cNvSpPr/>
          <p:nvPr/>
        </p:nvSpPr>
        <p:spPr>
          <a:xfrm>
            <a:off x="318505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5" name="Illustrative delivered road transport cost class 3; reference terminal Lesedi"/>
          <p:cNvSpPr/>
          <p:nvPr/>
        </p:nvSpPr>
        <p:spPr>
          <a:xfrm>
            <a:off x="318505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6" name="Illustrative delivered road transport cost class 3; reference terminal Lesedi"/>
          <p:cNvSpPr/>
          <p:nvPr/>
        </p:nvSpPr>
        <p:spPr>
          <a:xfrm>
            <a:off x="318505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7" name="Illustrative delivered road transport cost class 3; reference terminal Lesedi"/>
          <p:cNvSpPr/>
          <p:nvPr/>
        </p:nvSpPr>
        <p:spPr>
          <a:xfrm>
            <a:off x="318505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8" name="Illustrative delivered road transport cost class 2; reference terminal Lesedi"/>
          <p:cNvSpPr/>
          <p:nvPr/>
        </p:nvSpPr>
        <p:spPr>
          <a:xfrm>
            <a:off x="318505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9" name="Illustrative delivered road transport cost class 2; reference terminal Lesedi"/>
          <p:cNvSpPr/>
          <p:nvPr/>
        </p:nvSpPr>
        <p:spPr>
          <a:xfrm>
            <a:off x="318505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0" name="Illustrative delivered road transport cost class 3; reference terminal Lesedi"/>
          <p:cNvSpPr/>
          <p:nvPr/>
        </p:nvSpPr>
        <p:spPr>
          <a:xfrm>
            <a:off x="318505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1" name="Illustrative delivered road transport cost class 3; reference terminal Lesedi"/>
          <p:cNvSpPr/>
          <p:nvPr/>
        </p:nvSpPr>
        <p:spPr>
          <a:xfrm>
            <a:off x="318505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2" name="Illustrative delivered road transport cost class 3; reference terminal Lesedi"/>
          <p:cNvSpPr/>
          <p:nvPr/>
        </p:nvSpPr>
        <p:spPr>
          <a:xfrm>
            <a:off x="318505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3" name="Illustrative delivered road transport cost class None; reference terminal None"/>
          <p:cNvSpPr/>
          <p:nvPr/>
        </p:nvSpPr>
        <p:spPr>
          <a:xfrm>
            <a:off x="318505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4" name="Illustrative delivered road transport cost class 3; reference terminal Lesedi"/>
          <p:cNvSpPr/>
          <p:nvPr/>
        </p:nvSpPr>
        <p:spPr>
          <a:xfrm>
            <a:off x="318505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5" name="Illustrative delivered road transport cost class 3; reference terminal Lesedi"/>
          <p:cNvSpPr/>
          <p:nvPr/>
        </p:nvSpPr>
        <p:spPr>
          <a:xfrm>
            <a:off x="318505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6" name="Illustrative delivered road transport cost class 3; reference terminal Lesedi"/>
          <p:cNvSpPr/>
          <p:nvPr/>
        </p:nvSpPr>
        <p:spPr>
          <a:xfrm>
            <a:off x="318505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7" name="Illustrative delivered road transport cost class 3; reference terminal Lesedi"/>
          <p:cNvSpPr/>
          <p:nvPr/>
        </p:nvSpPr>
        <p:spPr>
          <a:xfrm>
            <a:off x="318505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8" name="Illustrative delivered road transport cost class 3; reference terminal Lesedi"/>
          <p:cNvSpPr/>
          <p:nvPr/>
        </p:nvSpPr>
        <p:spPr>
          <a:xfrm>
            <a:off x="318505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9" name="Illustrative delivered road transport cost class 3; reference terminal Lesedi"/>
          <p:cNvSpPr/>
          <p:nvPr/>
        </p:nvSpPr>
        <p:spPr>
          <a:xfrm>
            <a:off x="318505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0" name="Illustrative delivered road transport cost class 3; reference terminal Lesedi"/>
          <p:cNvSpPr/>
          <p:nvPr/>
        </p:nvSpPr>
        <p:spPr>
          <a:xfrm>
            <a:off x="318505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1" name="Illustrative delivered road transport cost class 3; reference terminal Lesedi"/>
          <p:cNvSpPr/>
          <p:nvPr/>
        </p:nvSpPr>
        <p:spPr>
          <a:xfrm>
            <a:off x="318505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2" name="Illustrative delivered road transport cost class None; reference terminal None"/>
          <p:cNvSpPr/>
          <p:nvPr/>
        </p:nvSpPr>
        <p:spPr>
          <a:xfrm>
            <a:off x="318505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3" name="Illustrative delivered road transport cost class None; reference terminal None"/>
          <p:cNvSpPr/>
          <p:nvPr/>
        </p:nvSpPr>
        <p:spPr>
          <a:xfrm>
            <a:off x="318505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4" name="Illustrative delivered road transport cost class None; reference terminal None"/>
          <p:cNvSpPr/>
          <p:nvPr/>
        </p:nvSpPr>
        <p:spPr>
          <a:xfrm>
            <a:off x="318505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5" name="Illustrative delivered road transport cost class None; reference terminal None"/>
          <p:cNvSpPr/>
          <p:nvPr/>
        </p:nvSpPr>
        <p:spPr>
          <a:xfrm>
            <a:off x="318505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6" name="Illustrative delivered road transport cost class None; reference terminal None"/>
          <p:cNvSpPr/>
          <p:nvPr/>
        </p:nvSpPr>
        <p:spPr>
          <a:xfrm>
            <a:off x="3185055" y="3190770"/>
            <a:ext cx="57687" cy="57686"/>
          </a:xfrm>
          <a:custGeom>
            <a:avLst/>
            <a:gdLst/>
            <a:ahLst/>
            <a:cxnLst/>
            <a:rect l="l" t="t" r="r" b="b"/>
            <a:pathLst>
              <a:path w="57687" h="57686">
                <a:moveTo>
                  <a:pt x="57687" y="0"/>
                </a:moveTo>
                <a:lnTo>
                  <a:pt x="57687" y="57686"/>
                </a:lnTo>
                <a:lnTo>
                  <a:pt x="0" y="57686"/>
                </a:lnTo>
                <a:lnTo>
                  <a:pt x="0" y="47414"/>
                </a:lnTo>
                <a:lnTo>
                  <a:pt x="8527" y="20894"/>
                </a:lnTo>
                <a:lnTo>
                  <a:pt x="1330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7" name="Illustrative delivered road transport cost class None; reference terminal None"/>
          <p:cNvSpPr/>
          <p:nvPr/>
        </p:nvSpPr>
        <p:spPr>
          <a:xfrm>
            <a:off x="3198361" y="3133083"/>
            <a:ext cx="44381" cy="57687"/>
          </a:xfrm>
          <a:custGeom>
            <a:avLst/>
            <a:gdLst/>
            <a:ahLst/>
            <a:cxnLst/>
            <a:rect l="l" t="t" r="r" b="b"/>
            <a:pathLst>
              <a:path w="44381" h="57687">
                <a:moveTo>
                  <a:pt x="44381" y="0"/>
                </a:moveTo>
                <a:lnTo>
                  <a:pt x="44381" y="57687"/>
                </a:lnTo>
                <a:lnTo>
                  <a:pt x="0" y="57687"/>
                </a:lnTo>
                <a:lnTo>
                  <a:pt x="151" y="57025"/>
                </a:lnTo>
                <a:lnTo>
                  <a:pt x="13453" y="21722"/>
                </a:lnTo>
                <a:lnTo>
                  <a:pt x="29229" y="0"/>
                </a:lnTo>
                <a:lnTo>
                  <a:pt x="44381"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8" name="Illustrative delivered road transport cost class None; reference terminal None"/>
          <p:cNvSpPr/>
          <p:nvPr/>
        </p:nvSpPr>
        <p:spPr>
          <a:xfrm>
            <a:off x="3227590" y="3121400"/>
            <a:ext cx="15152" cy="11683"/>
          </a:xfrm>
          <a:custGeom>
            <a:avLst/>
            <a:gdLst/>
            <a:ahLst/>
            <a:cxnLst/>
            <a:rect l="l" t="t" r="r" b="b"/>
            <a:pathLst>
              <a:path w="15152" h="11683">
                <a:moveTo>
                  <a:pt x="15152" y="11683"/>
                </a:moveTo>
                <a:lnTo>
                  <a:pt x="0" y="11683"/>
                </a:lnTo>
                <a:lnTo>
                  <a:pt x="688" y="10736"/>
                </a:lnTo>
                <a:lnTo>
                  <a:pt x="15152" y="0"/>
                </a:lnTo>
                <a:lnTo>
                  <a:pt x="15152" y="1168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9" name="Illustrative delivered road transport cost class 3; reference terminal Durban"/>
          <p:cNvSpPr/>
          <p:nvPr/>
        </p:nvSpPr>
        <p:spPr>
          <a:xfrm>
            <a:off x="3242742" y="5325173"/>
            <a:ext cx="57687" cy="31626"/>
          </a:xfrm>
          <a:custGeom>
            <a:avLst/>
            <a:gdLst/>
            <a:ahLst/>
            <a:cxnLst/>
            <a:rect l="l" t="t" r="r" b="b"/>
            <a:pathLst>
              <a:path w="57687" h="31626">
                <a:moveTo>
                  <a:pt x="0" y="0"/>
                </a:moveTo>
                <a:lnTo>
                  <a:pt x="57687" y="0"/>
                </a:lnTo>
                <a:lnTo>
                  <a:pt x="57687" y="31626"/>
                </a:lnTo>
                <a:lnTo>
                  <a:pt x="19183" y="29847"/>
                </a:lnTo>
                <a:lnTo>
                  <a:pt x="0" y="2384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0" name="Illustrative delivered road transport cost class 3; reference terminal Durban"/>
          <p:cNvSpPr/>
          <p:nvPr/>
        </p:nvSpPr>
        <p:spPr>
          <a:xfrm>
            <a:off x="324274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1" name="Illustrative delivered road transport cost class 3; reference terminal Durban"/>
          <p:cNvSpPr/>
          <p:nvPr/>
        </p:nvSpPr>
        <p:spPr>
          <a:xfrm>
            <a:off x="324274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2" name="Illustrative delivered road transport cost class 4; reference terminal Durban"/>
          <p:cNvSpPr/>
          <p:nvPr/>
        </p:nvSpPr>
        <p:spPr>
          <a:xfrm>
            <a:off x="324274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3" name="Illustrative delivered road transport cost class 3; reference terminal Lesedi"/>
          <p:cNvSpPr/>
          <p:nvPr/>
        </p:nvSpPr>
        <p:spPr>
          <a:xfrm>
            <a:off x="324274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4" name="Illustrative delivered road transport cost class 3; reference terminal Lesedi"/>
          <p:cNvSpPr/>
          <p:nvPr/>
        </p:nvSpPr>
        <p:spPr>
          <a:xfrm>
            <a:off x="324274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5" name="Illustrative delivered road transport cost class 3; reference terminal Lesedi"/>
          <p:cNvSpPr/>
          <p:nvPr/>
        </p:nvSpPr>
        <p:spPr>
          <a:xfrm>
            <a:off x="324274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6" name="Illustrative delivered road transport cost class 3; reference terminal Lesedi"/>
          <p:cNvSpPr/>
          <p:nvPr/>
        </p:nvSpPr>
        <p:spPr>
          <a:xfrm>
            <a:off x="324274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7" name="Illustrative delivered road transport cost class 3; reference terminal Lesedi"/>
          <p:cNvSpPr/>
          <p:nvPr/>
        </p:nvSpPr>
        <p:spPr>
          <a:xfrm>
            <a:off x="324274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8" name="Illustrative delivered road transport cost class 3; reference terminal Lesedi"/>
          <p:cNvSpPr/>
          <p:nvPr/>
        </p:nvSpPr>
        <p:spPr>
          <a:xfrm>
            <a:off x="324274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9" name="Illustrative delivered road transport cost class 3; reference terminal Lesedi"/>
          <p:cNvSpPr/>
          <p:nvPr/>
        </p:nvSpPr>
        <p:spPr>
          <a:xfrm>
            <a:off x="324274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0" name="Illustrative delivered road transport cost class 3; reference terminal Lesedi"/>
          <p:cNvSpPr/>
          <p:nvPr/>
        </p:nvSpPr>
        <p:spPr>
          <a:xfrm>
            <a:off x="324274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1" name="Illustrative delivered road transport cost class 3; reference terminal Lesedi"/>
          <p:cNvSpPr/>
          <p:nvPr/>
        </p:nvSpPr>
        <p:spPr>
          <a:xfrm>
            <a:off x="324274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2" name="Illustrative delivered road transport cost class 3; reference terminal Lesedi"/>
          <p:cNvSpPr/>
          <p:nvPr/>
        </p:nvSpPr>
        <p:spPr>
          <a:xfrm>
            <a:off x="324274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3" name="Illustrative delivered road transport cost class 3; reference terminal Lesedi"/>
          <p:cNvSpPr/>
          <p:nvPr/>
        </p:nvSpPr>
        <p:spPr>
          <a:xfrm>
            <a:off x="324274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4" name="Illustrative delivered road transport cost class 3; reference terminal Lesedi"/>
          <p:cNvSpPr/>
          <p:nvPr/>
        </p:nvSpPr>
        <p:spPr>
          <a:xfrm>
            <a:off x="324274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5" name="Illustrative delivered road transport cost class 3; reference terminal Lesedi"/>
          <p:cNvSpPr/>
          <p:nvPr/>
        </p:nvSpPr>
        <p:spPr>
          <a:xfrm>
            <a:off x="324274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6" name="Illustrative delivered road transport cost class 2; reference terminal Lesedi"/>
          <p:cNvSpPr/>
          <p:nvPr/>
        </p:nvSpPr>
        <p:spPr>
          <a:xfrm>
            <a:off x="324274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7" name="Illustrative delivered road transport cost class 2; reference terminal Lesedi"/>
          <p:cNvSpPr/>
          <p:nvPr/>
        </p:nvSpPr>
        <p:spPr>
          <a:xfrm>
            <a:off x="324274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8" name="Illustrative delivered road transport cost class 2; reference terminal Lesedi"/>
          <p:cNvSpPr/>
          <p:nvPr/>
        </p:nvSpPr>
        <p:spPr>
          <a:xfrm>
            <a:off x="324274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9" name="Illustrative delivered road transport cost class 2; reference terminal Lesedi"/>
          <p:cNvSpPr/>
          <p:nvPr/>
        </p:nvSpPr>
        <p:spPr>
          <a:xfrm>
            <a:off x="324274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0" name="Illustrative delivered road transport cost class 3; reference terminal Lesedi"/>
          <p:cNvSpPr/>
          <p:nvPr/>
        </p:nvSpPr>
        <p:spPr>
          <a:xfrm>
            <a:off x="324274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1" name="Illustrative delivered road transport cost class 3; reference terminal Lesedi"/>
          <p:cNvSpPr/>
          <p:nvPr/>
        </p:nvSpPr>
        <p:spPr>
          <a:xfrm>
            <a:off x="324274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2" name="Illustrative delivered road transport cost class 3; reference terminal Lesedi"/>
          <p:cNvSpPr/>
          <p:nvPr/>
        </p:nvSpPr>
        <p:spPr>
          <a:xfrm>
            <a:off x="324274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3" name="Illustrative delivered road transport cost class None; reference terminal None"/>
          <p:cNvSpPr/>
          <p:nvPr/>
        </p:nvSpPr>
        <p:spPr>
          <a:xfrm>
            <a:off x="324274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4" name="Illustrative delivered road transport cost class 3; reference terminal Lesedi"/>
          <p:cNvSpPr/>
          <p:nvPr/>
        </p:nvSpPr>
        <p:spPr>
          <a:xfrm>
            <a:off x="324274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5" name="Illustrative delivered road transport cost class 3; reference terminal Lesedi"/>
          <p:cNvSpPr/>
          <p:nvPr/>
        </p:nvSpPr>
        <p:spPr>
          <a:xfrm>
            <a:off x="324274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6" name="Illustrative delivered road transport cost class 3; reference terminal Lesedi"/>
          <p:cNvSpPr/>
          <p:nvPr/>
        </p:nvSpPr>
        <p:spPr>
          <a:xfrm>
            <a:off x="324274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7" name="Illustrative delivered road transport cost class 3; reference terminal Lesedi"/>
          <p:cNvSpPr/>
          <p:nvPr/>
        </p:nvSpPr>
        <p:spPr>
          <a:xfrm>
            <a:off x="324274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8" name="Illustrative delivered road transport cost class 3; reference terminal Lesedi"/>
          <p:cNvSpPr/>
          <p:nvPr/>
        </p:nvSpPr>
        <p:spPr>
          <a:xfrm>
            <a:off x="324274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9" name="Illustrative delivered road transport cost class 3; reference terminal Lesedi"/>
          <p:cNvSpPr/>
          <p:nvPr/>
        </p:nvSpPr>
        <p:spPr>
          <a:xfrm>
            <a:off x="324274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0" name="Illustrative delivered road transport cost class 3; reference terminal Lesedi"/>
          <p:cNvSpPr/>
          <p:nvPr/>
        </p:nvSpPr>
        <p:spPr>
          <a:xfrm>
            <a:off x="324274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1" name="Illustrative delivered road transport cost class 3; reference terminal Lesedi"/>
          <p:cNvSpPr/>
          <p:nvPr/>
        </p:nvSpPr>
        <p:spPr>
          <a:xfrm>
            <a:off x="324274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2" name="Illustrative delivered road transport cost class 3; reference terminal Lesedi"/>
          <p:cNvSpPr/>
          <p:nvPr/>
        </p:nvSpPr>
        <p:spPr>
          <a:xfrm>
            <a:off x="324274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3" name="Illustrative delivered road transport cost class None; reference terminal None"/>
          <p:cNvSpPr/>
          <p:nvPr/>
        </p:nvSpPr>
        <p:spPr>
          <a:xfrm>
            <a:off x="3242742"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4" name="Illustrative delivered road transport cost class None; reference terminal None"/>
          <p:cNvSpPr/>
          <p:nvPr/>
        </p:nvSpPr>
        <p:spPr>
          <a:xfrm>
            <a:off x="3242742"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5" name="Illustrative delivered road transport cost class None; reference terminal None"/>
          <p:cNvSpPr/>
          <p:nvPr/>
        </p:nvSpPr>
        <p:spPr>
          <a:xfrm>
            <a:off x="3242742"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6" name="Illustrative delivered road transport cost class None; reference terminal None"/>
          <p:cNvSpPr/>
          <p:nvPr/>
        </p:nvSpPr>
        <p:spPr>
          <a:xfrm>
            <a:off x="324274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7" name="Illustrative delivered road transport cost class None; reference terminal None"/>
          <p:cNvSpPr/>
          <p:nvPr/>
        </p:nvSpPr>
        <p:spPr>
          <a:xfrm>
            <a:off x="324274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8" name="Illustrative delivered road transport cost class None; reference terminal None"/>
          <p:cNvSpPr/>
          <p:nvPr/>
        </p:nvSpPr>
        <p:spPr>
          <a:xfrm>
            <a:off x="3242742" y="3104642"/>
            <a:ext cx="57687" cy="28441"/>
          </a:xfrm>
          <a:custGeom>
            <a:avLst/>
            <a:gdLst/>
            <a:ahLst/>
            <a:cxnLst/>
            <a:rect l="l" t="t" r="r" b="b"/>
            <a:pathLst>
              <a:path w="57687" h="28441">
                <a:moveTo>
                  <a:pt x="57687" y="28441"/>
                </a:moveTo>
                <a:lnTo>
                  <a:pt x="0" y="28441"/>
                </a:lnTo>
                <a:lnTo>
                  <a:pt x="0" y="16758"/>
                </a:lnTo>
                <a:lnTo>
                  <a:pt x="1801" y="15421"/>
                </a:lnTo>
                <a:lnTo>
                  <a:pt x="9993" y="12270"/>
                </a:lnTo>
                <a:lnTo>
                  <a:pt x="31104" y="5903"/>
                </a:lnTo>
                <a:lnTo>
                  <a:pt x="57687" y="0"/>
                </a:lnTo>
                <a:lnTo>
                  <a:pt x="57687" y="284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9" name="Illustrative delivered road transport cost class 3; reference terminal Durban"/>
          <p:cNvSpPr/>
          <p:nvPr/>
        </p:nvSpPr>
        <p:spPr>
          <a:xfrm>
            <a:off x="3300429" y="5325173"/>
            <a:ext cx="57686" cy="33224"/>
          </a:xfrm>
          <a:custGeom>
            <a:avLst/>
            <a:gdLst/>
            <a:ahLst/>
            <a:cxnLst/>
            <a:rect l="l" t="t" r="r" b="b"/>
            <a:pathLst>
              <a:path w="57686" h="33224">
                <a:moveTo>
                  <a:pt x="0" y="0"/>
                </a:moveTo>
                <a:lnTo>
                  <a:pt x="57686" y="0"/>
                </a:lnTo>
                <a:lnTo>
                  <a:pt x="57686" y="27360"/>
                </a:lnTo>
                <a:lnTo>
                  <a:pt x="52084" y="29844"/>
                </a:lnTo>
                <a:lnTo>
                  <a:pt x="34605" y="33224"/>
                </a:lnTo>
                <a:lnTo>
                  <a:pt x="0" y="3162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0" name="Illustrative delivered road transport cost class 3; reference terminal Durban"/>
          <p:cNvSpPr/>
          <p:nvPr/>
        </p:nvSpPr>
        <p:spPr>
          <a:xfrm>
            <a:off x="330042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1" name="Illustrative delivered road transport cost class 3; reference terminal Durban"/>
          <p:cNvSpPr/>
          <p:nvPr/>
        </p:nvSpPr>
        <p:spPr>
          <a:xfrm>
            <a:off x="330042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2" name="Illustrative delivered road transport cost class 3; reference terminal Durban"/>
          <p:cNvSpPr/>
          <p:nvPr/>
        </p:nvSpPr>
        <p:spPr>
          <a:xfrm>
            <a:off x="330042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3" name="Illustrative delivered road transport cost class 4; reference terminal Durban"/>
          <p:cNvSpPr/>
          <p:nvPr/>
        </p:nvSpPr>
        <p:spPr>
          <a:xfrm>
            <a:off x="330042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4" name="Illustrative delivered road transport cost class 3; reference terminal Lesedi"/>
          <p:cNvSpPr/>
          <p:nvPr/>
        </p:nvSpPr>
        <p:spPr>
          <a:xfrm>
            <a:off x="330042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5" name="Illustrative delivered road transport cost class 3; reference terminal Lesedi"/>
          <p:cNvSpPr/>
          <p:nvPr/>
        </p:nvSpPr>
        <p:spPr>
          <a:xfrm>
            <a:off x="330042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6" name="Illustrative delivered road transport cost class 3; reference terminal Lesedi"/>
          <p:cNvSpPr/>
          <p:nvPr/>
        </p:nvSpPr>
        <p:spPr>
          <a:xfrm>
            <a:off x="330042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7" name="Illustrative delivered road transport cost class 3; reference terminal Lesedi"/>
          <p:cNvSpPr/>
          <p:nvPr/>
        </p:nvSpPr>
        <p:spPr>
          <a:xfrm>
            <a:off x="330042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8" name="Illustrative delivered road transport cost class 3; reference terminal Lesedi"/>
          <p:cNvSpPr/>
          <p:nvPr/>
        </p:nvSpPr>
        <p:spPr>
          <a:xfrm>
            <a:off x="330042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9" name="Illustrative delivered road transport cost class 3; reference terminal Lesedi"/>
          <p:cNvSpPr/>
          <p:nvPr/>
        </p:nvSpPr>
        <p:spPr>
          <a:xfrm>
            <a:off x="330042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0" name="Illustrative delivered road transport cost class 3; reference terminal Lesedi"/>
          <p:cNvSpPr/>
          <p:nvPr/>
        </p:nvSpPr>
        <p:spPr>
          <a:xfrm>
            <a:off x="330042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1" name="Illustrative delivered road transport cost class 3; reference terminal Lesedi"/>
          <p:cNvSpPr/>
          <p:nvPr/>
        </p:nvSpPr>
        <p:spPr>
          <a:xfrm>
            <a:off x="330042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2" name="Illustrative delivered road transport cost class 3; reference terminal Lesedi"/>
          <p:cNvSpPr/>
          <p:nvPr/>
        </p:nvSpPr>
        <p:spPr>
          <a:xfrm>
            <a:off x="330042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3" name="Illustrative delivered road transport cost class 2; reference terminal Lesedi"/>
          <p:cNvSpPr/>
          <p:nvPr/>
        </p:nvSpPr>
        <p:spPr>
          <a:xfrm>
            <a:off x="330042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4" name="Illustrative delivered road transport cost class 2; reference terminal Lesedi"/>
          <p:cNvSpPr/>
          <p:nvPr/>
        </p:nvSpPr>
        <p:spPr>
          <a:xfrm>
            <a:off x="330042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5" name="Illustrative delivered road transport cost class 2; reference terminal Lesedi"/>
          <p:cNvSpPr/>
          <p:nvPr/>
        </p:nvSpPr>
        <p:spPr>
          <a:xfrm>
            <a:off x="330042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6" name="Illustrative delivered road transport cost class 2; reference terminal Lesedi"/>
          <p:cNvSpPr/>
          <p:nvPr/>
        </p:nvSpPr>
        <p:spPr>
          <a:xfrm>
            <a:off x="330042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7" name="Illustrative delivered road transport cost class 2; reference terminal Lesedi"/>
          <p:cNvSpPr/>
          <p:nvPr/>
        </p:nvSpPr>
        <p:spPr>
          <a:xfrm>
            <a:off x="330042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8" name="Illustrative delivered road transport cost class 2; reference terminal Lesedi"/>
          <p:cNvSpPr/>
          <p:nvPr/>
        </p:nvSpPr>
        <p:spPr>
          <a:xfrm>
            <a:off x="330042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9" name="Illustrative delivered road transport cost class 2; reference terminal Lesedi"/>
          <p:cNvSpPr/>
          <p:nvPr/>
        </p:nvSpPr>
        <p:spPr>
          <a:xfrm>
            <a:off x="330042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0" name="Illustrative delivered road transport cost class 2; reference terminal Lesedi"/>
          <p:cNvSpPr/>
          <p:nvPr/>
        </p:nvSpPr>
        <p:spPr>
          <a:xfrm>
            <a:off x="330042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1" name="Illustrative delivered road transport cost class 3; reference terminal Lesedi"/>
          <p:cNvSpPr/>
          <p:nvPr/>
        </p:nvSpPr>
        <p:spPr>
          <a:xfrm>
            <a:off x="330042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2" name="Illustrative delivered road transport cost class None; reference terminal None"/>
          <p:cNvSpPr/>
          <p:nvPr/>
        </p:nvSpPr>
        <p:spPr>
          <a:xfrm>
            <a:off x="330042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3" name="Illustrative delivered road transport cost class None; reference terminal None"/>
          <p:cNvSpPr/>
          <p:nvPr/>
        </p:nvSpPr>
        <p:spPr>
          <a:xfrm>
            <a:off x="330042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4" name="Illustrative delivered road transport cost class 3; reference terminal Lesedi"/>
          <p:cNvSpPr/>
          <p:nvPr/>
        </p:nvSpPr>
        <p:spPr>
          <a:xfrm>
            <a:off x="330042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5" name="Illustrative delivered road transport cost class 3; reference terminal Lesedi"/>
          <p:cNvSpPr/>
          <p:nvPr/>
        </p:nvSpPr>
        <p:spPr>
          <a:xfrm>
            <a:off x="330042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6" name="Illustrative delivered road transport cost class 3; reference terminal Lesedi"/>
          <p:cNvSpPr/>
          <p:nvPr/>
        </p:nvSpPr>
        <p:spPr>
          <a:xfrm>
            <a:off x="330042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7" name="Illustrative delivered road transport cost class 3; reference terminal Lesedi"/>
          <p:cNvSpPr/>
          <p:nvPr/>
        </p:nvSpPr>
        <p:spPr>
          <a:xfrm>
            <a:off x="330042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8" name="Illustrative delivered road transport cost class 3; reference terminal Lesedi"/>
          <p:cNvSpPr/>
          <p:nvPr/>
        </p:nvSpPr>
        <p:spPr>
          <a:xfrm>
            <a:off x="330042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9" name="Illustrative delivered road transport cost class 3; reference terminal Lesedi"/>
          <p:cNvSpPr/>
          <p:nvPr/>
        </p:nvSpPr>
        <p:spPr>
          <a:xfrm>
            <a:off x="330042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0" name="Illustrative delivered road transport cost class 3; reference terminal Lesedi"/>
          <p:cNvSpPr/>
          <p:nvPr/>
        </p:nvSpPr>
        <p:spPr>
          <a:xfrm>
            <a:off x="330042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1" name="Illustrative delivered road transport cost class 3; reference terminal Lesedi"/>
          <p:cNvSpPr/>
          <p:nvPr/>
        </p:nvSpPr>
        <p:spPr>
          <a:xfrm>
            <a:off x="330042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2" name="Illustrative delivered road transport cost class 3; reference terminal Lesedi"/>
          <p:cNvSpPr/>
          <p:nvPr/>
        </p:nvSpPr>
        <p:spPr>
          <a:xfrm>
            <a:off x="330042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3" name="Illustrative delivered road transport cost class None; reference terminal None"/>
          <p:cNvSpPr/>
          <p:nvPr/>
        </p:nvSpPr>
        <p:spPr>
          <a:xfrm>
            <a:off x="330042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4" name="Illustrative delivered road transport cost class None; reference terminal None"/>
          <p:cNvSpPr/>
          <p:nvPr/>
        </p:nvSpPr>
        <p:spPr>
          <a:xfrm>
            <a:off x="3300429"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5" name="Illustrative delivered road transport cost class None; reference terminal None"/>
          <p:cNvSpPr/>
          <p:nvPr/>
        </p:nvSpPr>
        <p:spPr>
          <a:xfrm>
            <a:off x="3300429"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6" name="Illustrative delivered road transport cost class None; reference terminal None"/>
          <p:cNvSpPr/>
          <p:nvPr/>
        </p:nvSpPr>
        <p:spPr>
          <a:xfrm>
            <a:off x="330042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7" name="Illustrative delivered road transport cost class None; reference terminal None"/>
          <p:cNvSpPr/>
          <p:nvPr/>
        </p:nvSpPr>
        <p:spPr>
          <a:xfrm>
            <a:off x="330042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8" name="Illustrative delivered road transport cost class None; reference terminal None"/>
          <p:cNvSpPr/>
          <p:nvPr/>
        </p:nvSpPr>
        <p:spPr>
          <a:xfrm>
            <a:off x="3300429" y="3104507"/>
            <a:ext cx="57686" cy="28576"/>
          </a:xfrm>
          <a:custGeom>
            <a:avLst/>
            <a:gdLst/>
            <a:ahLst/>
            <a:cxnLst/>
            <a:rect l="l" t="t" r="r" b="b"/>
            <a:pathLst>
              <a:path w="57686" h="28576">
                <a:moveTo>
                  <a:pt x="57686" y="28576"/>
                </a:moveTo>
                <a:lnTo>
                  <a:pt x="0" y="28576"/>
                </a:lnTo>
                <a:lnTo>
                  <a:pt x="0" y="135"/>
                </a:lnTo>
                <a:lnTo>
                  <a:pt x="606" y="0"/>
                </a:lnTo>
                <a:lnTo>
                  <a:pt x="29338" y="5946"/>
                </a:lnTo>
                <a:lnTo>
                  <a:pt x="57686" y="18023"/>
                </a:lnTo>
                <a:lnTo>
                  <a:pt x="57686" y="2857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9" name="Illustrative delivered road transport cost class 3; reference terminal Durban"/>
          <p:cNvSpPr/>
          <p:nvPr/>
        </p:nvSpPr>
        <p:spPr>
          <a:xfrm>
            <a:off x="3358115" y="5325173"/>
            <a:ext cx="57687" cy="27360"/>
          </a:xfrm>
          <a:custGeom>
            <a:avLst/>
            <a:gdLst/>
            <a:ahLst/>
            <a:cxnLst/>
            <a:rect l="l" t="t" r="r" b="b"/>
            <a:pathLst>
              <a:path w="57687" h="27360">
                <a:moveTo>
                  <a:pt x="0" y="0"/>
                </a:moveTo>
                <a:lnTo>
                  <a:pt x="57687" y="0"/>
                </a:lnTo>
                <a:lnTo>
                  <a:pt x="57687" y="8680"/>
                </a:lnTo>
                <a:lnTo>
                  <a:pt x="44245" y="7748"/>
                </a:lnTo>
                <a:lnTo>
                  <a:pt x="0" y="2736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0" name="Illustrative delivered road transport cost class 3; reference terminal Durban"/>
          <p:cNvSpPr/>
          <p:nvPr/>
        </p:nvSpPr>
        <p:spPr>
          <a:xfrm>
            <a:off x="335811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1" name="Illustrative delivered road transport cost class 3; reference terminal Durban"/>
          <p:cNvSpPr/>
          <p:nvPr/>
        </p:nvSpPr>
        <p:spPr>
          <a:xfrm>
            <a:off x="335811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2" name="Illustrative delivered road transport cost class 3; reference terminal Durban"/>
          <p:cNvSpPr/>
          <p:nvPr/>
        </p:nvSpPr>
        <p:spPr>
          <a:xfrm>
            <a:off x="335811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3" name="Illustrative delivered road transport cost class 3; reference terminal Durban"/>
          <p:cNvSpPr/>
          <p:nvPr/>
        </p:nvSpPr>
        <p:spPr>
          <a:xfrm>
            <a:off x="335811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4" name="Illustrative delivered road transport cost class None; reference terminal None"/>
          <p:cNvSpPr/>
          <p:nvPr/>
        </p:nvSpPr>
        <p:spPr>
          <a:xfrm>
            <a:off x="335811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5" name="Illustrative delivered road transport cost class 3; reference terminal Lesedi"/>
          <p:cNvSpPr/>
          <p:nvPr/>
        </p:nvSpPr>
        <p:spPr>
          <a:xfrm>
            <a:off x="335811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6" name="Illustrative delivered road transport cost class 3; reference terminal Lesedi"/>
          <p:cNvSpPr/>
          <p:nvPr/>
        </p:nvSpPr>
        <p:spPr>
          <a:xfrm>
            <a:off x="335811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7" name="Illustrative delivered road transport cost class 3; reference terminal Lesedi"/>
          <p:cNvSpPr/>
          <p:nvPr/>
        </p:nvSpPr>
        <p:spPr>
          <a:xfrm>
            <a:off x="335811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8" name="Illustrative delivered road transport cost class 3; reference terminal Lesedi"/>
          <p:cNvSpPr/>
          <p:nvPr/>
        </p:nvSpPr>
        <p:spPr>
          <a:xfrm>
            <a:off x="335811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9" name="Illustrative delivered road transport cost class 3; reference terminal Lesedi"/>
          <p:cNvSpPr/>
          <p:nvPr/>
        </p:nvSpPr>
        <p:spPr>
          <a:xfrm>
            <a:off x="335811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0" name="Illustrative delivered road transport cost class 3; reference terminal Lesedi"/>
          <p:cNvSpPr/>
          <p:nvPr/>
        </p:nvSpPr>
        <p:spPr>
          <a:xfrm>
            <a:off x="335811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1" name="Illustrative delivered road transport cost class 3; reference terminal Lesedi"/>
          <p:cNvSpPr/>
          <p:nvPr/>
        </p:nvSpPr>
        <p:spPr>
          <a:xfrm>
            <a:off x="335811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2" name="Illustrative delivered road transport cost class 2; reference terminal Lesedi"/>
          <p:cNvSpPr/>
          <p:nvPr/>
        </p:nvSpPr>
        <p:spPr>
          <a:xfrm>
            <a:off x="335811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3" name="Illustrative delivered road transport cost class 2; reference terminal Lesedi"/>
          <p:cNvSpPr/>
          <p:nvPr/>
        </p:nvSpPr>
        <p:spPr>
          <a:xfrm>
            <a:off x="335811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4" name="Illustrative delivered road transport cost class 2; reference terminal Lesedi"/>
          <p:cNvSpPr/>
          <p:nvPr/>
        </p:nvSpPr>
        <p:spPr>
          <a:xfrm>
            <a:off x="335811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5" name="Illustrative delivered road transport cost class 2; reference terminal Lesedi"/>
          <p:cNvSpPr/>
          <p:nvPr/>
        </p:nvSpPr>
        <p:spPr>
          <a:xfrm>
            <a:off x="335811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6" name="Illustrative delivered road transport cost class 2; reference terminal Lesedi"/>
          <p:cNvSpPr/>
          <p:nvPr/>
        </p:nvSpPr>
        <p:spPr>
          <a:xfrm>
            <a:off x="335811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7" name="Illustrative delivered road transport cost class 2; reference terminal Lesedi"/>
          <p:cNvSpPr/>
          <p:nvPr/>
        </p:nvSpPr>
        <p:spPr>
          <a:xfrm>
            <a:off x="335811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8" name="Illustrative delivered road transport cost class 2; reference terminal Lesedi"/>
          <p:cNvSpPr/>
          <p:nvPr/>
        </p:nvSpPr>
        <p:spPr>
          <a:xfrm>
            <a:off x="335811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9" name="Illustrative delivered road transport cost class 2; reference terminal Lesedi"/>
          <p:cNvSpPr/>
          <p:nvPr/>
        </p:nvSpPr>
        <p:spPr>
          <a:xfrm>
            <a:off x="335811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0" name="Illustrative delivered road transport cost class 2; reference terminal Lesedi"/>
          <p:cNvSpPr/>
          <p:nvPr/>
        </p:nvSpPr>
        <p:spPr>
          <a:xfrm>
            <a:off x="335811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1" name="Illustrative delivered road transport cost class 2; reference terminal Lesedi"/>
          <p:cNvSpPr/>
          <p:nvPr/>
        </p:nvSpPr>
        <p:spPr>
          <a:xfrm>
            <a:off x="335811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2" name="Illustrative delivered road transport cost class 2; reference terminal Lesedi"/>
          <p:cNvSpPr/>
          <p:nvPr/>
        </p:nvSpPr>
        <p:spPr>
          <a:xfrm>
            <a:off x="335811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3" name="Illustrative delivered road transport cost class None; reference terminal None"/>
          <p:cNvSpPr/>
          <p:nvPr/>
        </p:nvSpPr>
        <p:spPr>
          <a:xfrm>
            <a:off x="335811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4" name="Illustrative delivered road transport cost class None; reference terminal None"/>
          <p:cNvSpPr/>
          <p:nvPr/>
        </p:nvSpPr>
        <p:spPr>
          <a:xfrm>
            <a:off x="335811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5" name="Illustrative delivered road transport cost class 3; reference terminal Lesedi"/>
          <p:cNvSpPr/>
          <p:nvPr/>
        </p:nvSpPr>
        <p:spPr>
          <a:xfrm>
            <a:off x="335811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6" name="Illustrative delivered road transport cost class 3; reference terminal Lesedi"/>
          <p:cNvSpPr/>
          <p:nvPr/>
        </p:nvSpPr>
        <p:spPr>
          <a:xfrm>
            <a:off x="335811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7" name="Illustrative delivered road transport cost class 3; reference terminal Lesedi"/>
          <p:cNvSpPr/>
          <p:nvPr/>
        </p:nvSpPr>
        <p:spPr>
          <a:xfrm>
            <a:off x="335811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8" name="Illustrative delivered road transport cost class 3; reference terminal Lesedi"/>
          <p:cNvSpPr/>
          <p:nvPr/>
        </p:nvSpPr>
        <p:spPr>
          <a:xfrm>
            <a:off x="335811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9" name="Illustrative delivered road transport cost class 3; reference terminal Lesedi"/>
          <p:cNvSpPr/>
          <p:nvPr/>
        </p:nvSpPr>
        <p:spPr>
          <a:xfrm>
            <a:off x="335811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0" name="Illustrative delivered road transport cost class 3; reference terminal Lesedi"/>
          <p:cNvSpPr/>
          <p:nvPr/>
        </p:nvSpPr>
        <p:spPr>
          <a:xfrm>
            <a:off x="335811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1" name="Illustrative delivered road transport cost class 3; reference terminal Lesedi"/>
          <p:cNvSpPr/>
          <p:nvPr/>
        </p:nvSpPr>
        <p:spPr>
          <a:xfrm>
            <a:off x="335811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2" name="Illustrative delivered road transport cost class 3; reference terminal Lesedi"/>
          <p:cNvSpPr/>
          <p:nvPr/>
        </p:nvSpPr>
        <p:spPr>
          <a:xfrm>
            <a:off x="335811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3" name="Illustrative delivered road transport cost class None; reference terminal None"/>
          <p:cNvSpPr/>
          <p:nvPr/>
        </p:nvSpPr>
        <p:spPr>
          <a:xfrm>
            <a:off x="335811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4" name="Illustrative delivered road transport cost class None; reference terminal None"/>
          <p:cNvSpPr/>
          <p:nvPr/>
        </p:nvSpPr>
        <p:spPr>
          <a:xfrm>
            <a:off x="335811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5" name="Illustrative delivered road transport cost class None; reference terminal None"/>
          <p:cNvSpPr/>
          <p:nvPr/>
        </p:nvSpPr>
        <p:spPr>
          <a:xfrm>
            <a:off x="335811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6" name="Illustrative delivered road transport cost class None; reference terminal None"/>
          <p:cNvSpPr/>
          <p:nvPr/>
        </p:nvSpPr>
        <p:spPr>
          <a:xfrm>
            <a:off x="335811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7" name="Illustrative delivered road transport cost class None; reference terminal None"/>
          <p:cNvSpPr/>
          <p:nvPr/>
        </p:nvSpPr>
        <p:spPr>
          <a:xfrm>
            <a:off x="3358115" y="3133083"/>
            <a:ext cx="57687" cy="57687"/>
          </a:xfrm>
          <a:custGeom>
            <a:avLst/>
            <a:gdLst/>
            <a:ahLst/>
            <a:cxnLst/>
            <a:rect l="l" t="t" r="r" b="b"/>
            <a:pathLst>
              <a:path w="57687" h="57687">
                <a:moveTo>
                  <a:pt x="57687" y="57687"/>
                </a:moveTo>
                <a:lnTo>
                  <a:pt x="0" y="57687"/>
                </a:lnTo>
                <a:lnTo>
                  <a:pt x="0" y="0"/>
                </a:lnTo>
                <a:lnTo>
                  <a:pt x="17247" y="0"/>
                </a:lnTo>
                <a:lnTo>
                  <a:pt x="37452" y="13013"/>
                </a:lnTo>
                <a:lnTo>
                  <a:pt x="57687" y="28822"/>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8" name="Illustrative delivered road transport cost class None; reference terminal None"/>
          <p:cNvSpPr/>
          <p:nvPr/>
        </p:nvSpPr>
        <p:spPr>
          <a:xfrm>
            <a:off x="3358115" y="3122530"/>
            <a:ext cx="17247" cy="10553"/>
          </a:xfrm>
          <a:custGeom>
            <a:avLst/>
            <a:gdLst/>
            <a:ahLst/>
            <a:cxnLst/>
            <a:rect l="l" t="t" r="r" b="b"/>
            <a:pathLst>
              <a:path w="17247" h="10553">
                <a:moveTo>
                  <a:pt x="0" y="10553"/>
                </a:moveTo>
                <a:lnTo>
                  <a:pt x="0" y="0"/>
                </a:lnTo>
                <a:lnTo>
                  <a:pt x="2544" y="1083"/>
                </a:lnTo>
                <a:lnTo>
                  <a:pt x="17247" y="10553"/>
                </a:lnTo>
                <a:lnTo>
                  <a:pt x="0" y="1055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9" name="Illustrative delivered road transport cost class 3; reference terminal Durban"/>
          <p:cNvSpPr/>
          <p:nvPr/>
        </p:nvSpPr>
        <p:spPr>
          <a:xfrm>
            <a:off x="3415802" y="5325173"/>
            <a:ext cx="57686" cy="16967"/>
          </a:xfrm>
          <a:custGeom>
            <a:avLst/>
            <a:gdLst/>
            <a:ahLst/>
            <a:cxnLst/>
            <a:rect l="l" t="t" r="r" b="b"/>
            <a:pathLst>
              <a:path w="57686" h="16967">
                <a:moveTo>
                  <a:pt x="0" y="0"/>
                </a:moveTo>
                <a:lnTo>
                  <a:pt x="57686" y="0"/>
                </a:lnTo>
                <a:lnTo>
                  <a:pt x="57686" y="16967"/>
                </a:lnTo>
                <a:lnTo>
                  <a:pt x="10549" y="9411"/>
                </a:lnTo>
                <a:lnTo>
                  <a:pt x="0" y="868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0" name="Illustrative delivered road transport cost class 3; reference terminal Durban"/>
          <p:cNvSpPr/>
          <p:nvPr/>
        </p:nvSpPr>
        <p:spPr>
          <a:xfrm>
            <a:off x="3415802"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1" name="Illustrative delivered road transport cost class 3; reference terminal Durban"/>
          <p:cNvSpPr/>
          <p:nvPr/>
        </p:nvSpPr>
        <p:spPr>
          <a:xfrm>
            <a:off x="3415802"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2" name="Illustrative delivered road transport cost class 3; reference terminal Durban"/>
          <p:cNvSpPr/>
          <p:nvPr/>
        </p:nvSpPr>
        <p:spPr>
          <a:xfrm>
            <a:off x="3415802"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3" name="Illustrative delivered road transport cost class 3; reference terminal Durban"/>
          <p:cNvSpPr/>
          <p:nvPr/>
        </p:nvSpPr>
        <p:spPr>
          <a:xfrm>
            <a:off x="3415802"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4" name="Illustrative delivered road transport cost class None; reference terminal None"/>
          <p:cNvSpPr/>
          <p:nvPr/>
        </p:nvSpPr>
        <p:spPr>
          <a:xfrm>
            <a:off x="3415802"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5" name="Illustrative delivered road transport cost class None; reference terminal None"/>
          <p:cNvSpPr/>
          <p:nvPr/>
        </p:nvSpPr>
        <p:spPr>
          <a:xfrm>
            <a:off x="3415802"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6" name="Illustrative delivered road transport cost class 3; reference terminal Lesedi"/>
          <p:cNvSpPr/>
          <p:nvPr/>
        </p:nvSpPr>
        <p:spPr>
          <a:xfrm>
            <a:off x="3415802"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7" name="Illustrative delivered road transport cost class 3; reference terminal Lesedi"/>
          <p:cNvSpPr/>
          <p:nvPr/>
        </p:nvSpPr>
        <p:spPr>
          <a:xfrm>
            <a:off x="3415802"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8" name="Illustrative delivered road transport cost class 3; reference terminal Lesedi"/>
          <p:cNvSpPr/>
          <p:nvPr/>
        </p:nvSpPr>
        <p:spPr>
          <a:xfrm>
            <a:off x="3415802"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9" name="Illustrative delivered road transport cost class 3; reference terminal Lesedi"/>
          <p:cNvSpPr/>
          <p:nvPr/>
        </p:nvSpPr>
        <p:spPr>
          <a:xfrm>
            <a:off x="3415802"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0" name="Illustrative delivered road transport cost class 2; reference terminal Lesedi"/>
          <p:cNvSpPr/>
          <p:nvPr/>
        </p:nvSpPr>
        <p:spPr>
          <a:xfrm>
            <a:off x="3415802"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1" name="Illustrative delivered road transport cost class 2; reference terminal Lesedi"/>
          <p:cNvSpPr/>
          <p:nvPr/>
        </p:nvSpPr>
        <p:spPr>
          <a:xfrm>
            <a:off x="3415802"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2" name="Illustrative delivered road transport cost class 2; reference terminal Lesedi"/>
          <p:cNvSpPr/>
          <p:nvPr/>
        </p:nvSpPr>
        <p:spPr>
          <a:xfrm>
            <a:off x="3415802"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3" name="Illustrative delivered road transport cost class 2; reference terminal Lesedi"/>
          <p:cNvSpPr/>
          <p:nvPr/>
        </p:nvSpPr>
        <p:spPr>
          <a:xfrm>
            <a:off x="3415802"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4" name="Illustrative delivered road transport cost class 2; reference terminal Lesedi"/>
          <p:cNvSpPr/>
          <p:nvPr/>
        </p:nvSpPr>
        <p:spPr>
          <a:xfrm>
            <a:off x="3415802"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5" name="Illustrative delivered road transport cost class 2; reference terminal Lesedi"/>
          <p:cNvSpPr/>
          <p:nvPr/>
        </p:nvSpPr>
        <p:spPr>
          <a:xfrm>
            <a:off x="3415802"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6" name="Illustrative delivered road transport cost class 2; reference terminal Lesedi"/>
          <p:cNvSpPr/>
          <p:nvPr/>
        </p:nvSpPr>
        <p:spPr>
          <a:xfrm>
            <a:off x="3415802"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7" name="Illustrative delivered road transport cost class 2; reference terminal Lesedi"/>
          <p:cNvSpPr/>
          <p:nvPr/>
        </p:nvSpPr>
        <p:spPr>
          <a:xfrm>
            <a:off x="3415802"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8" name="Illustrative delivered road transport cost class 2; reference terminal Lesedi"/>
          <p:cNvSpPr/>
          <p:nvPr/>
        </p:nvSpPr>
        <p:spPr>
          <a:xfrm>
            <a:off x="3415802"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9" name="Illustrative delivered road transport cost class 2; reference terminal Lesedi"/>
          <p:cNvSpPr/>
          <p:nvPr/>
        </p:nvSpPr>
        <p:spPr>
          <a:xfrm>
            <a:off x="3415802"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0" name="Illustrative delivered road transport cost class 2; reference terminal Lesedi"/>
          <p:cNvSpPr/>
          <p:nvPr/>
        </p:nvSpPr>
        <p:spPr>
          <a:xfrm>
            <a:off x="3415802"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1" name="Illustrative delivered road transport cost class 2; reference terminal Lesedi"/>
          <p:cNvSpPr/>
          <p:nvPr/>
        </p:nvSpPr>
        <p:spPr>
          <a:xfrm>
            <a:off x="3415802"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2" name="Illustrative delivered road transport cost class 2; reference terminal Lesedi"/>
          <p:cNvSpPr/>
          <p:nvPr/>
        </p:nvSpPr>
        <p:spPr>
          <a:xfrm>
            <a:off x="3415802"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3" name="Illustrative delivered road transport cost class 2; reference terminal Lesedi"/>
          <p:cNvSpPr/>
          <p:nvPr/>
        </p:nvSpPr>
        <p:spPr>
          <a:xfrm>
            <a:off x="3415802"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4" name="Illustrative delivered road transport cost class 2; reference terminal Lesedi"/>
          <p:cNvSpPr/>
          <p:nvPr/>
        </p:nvSpPr>
        <p:spPr>
          <a:xfrm>
            <a:off x="3415802"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5" name="Illustrative delivered road transport cost class 2; reference terminal Lesedi"/>
          <p:cNvSpPr/>
          <p:nvPr/>
        </p:nvSpPr>
        <p:spPr>
          <a:xfrm>
            <a:off x="3415802"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6" name="Illustrative delivered road transport cost class 2; reference terminal Lesedi"/>
          <p:cNvSpPr/>
          <p:nvPr/>
        </p:nvSpPr>
        <p:spPr>
          <a:xfrm>
            <a:off x="3415802"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7" name="Illustrative delivered road transport cost class 2; reference terminal Lesedi"/>
          <p:cNvSpPr/>
          <p:nvPr/>
        </p:nvSpPr>
        <p:spPr>
          <a:xfrm>
            <a:off x="3415802"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8" name="Illustrative delivered road transport cost class 2; reference terminal Lesedi"/>
          <p:cNvSpPr/>
          <p:nvPr/>
        </p:nvSpPr>
        <p:spPr>
          <a:xfrm>
            <a:off x="3415802"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9" name="Illustrative delivered road transport cost class 2; reference terminal Lesedi"/>
          <p:cNvSpPr/>
          <p:nvPr/>
        </p:nvSpPr>
        <p:spPr>
          <a:xfrm>
            <a:off x="3415802"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0" name="Illustrative delivered road transport cost class 2; reference terminal Lesedi"/>
          <p:cNvSpPr/>
          <p:nvPr/>
        </p:nvSpPr>
        <p:spPr>
          <a:xfrm>
            <a:off x="3415802"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1" name="Illustrative delivered road transport cost class 2; reference terminal Lesedi"/>
          <p:cNvSpPr/>
          <p:nvPr/>
        </p:nvSpPr>
        <p:spPr>
          <a:xfrm>
            <a:off x="3415802"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2" name="Illustrative delivered road transport cost class 2; reference terminal Lesedi"/>
          <p:cNvSpPr/>
          <p:nvPr/>
        </p:nvSpPr>
        <p:spPr>
          <a:xfrm>
            <a:off x="3415802"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3" name="Illustrative delivered road transport cost class 3; reference terminal Lesedi"/>
          <p:cNvSpPr/>
          <p:nvPr/>
        </p:nvSpPr>
        <p:spPr>
          <a:xfrm>
            <a:off x="3415802"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4" name="Illustrative delivered road transport cost class None; reference terminal None"/>
          <p:cNvSpPr/>
          <p:nvPr/>
        </p:nvSpPr>
        <p:spPr>
          <a:xfrm>
            <a:off x="3415802"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5" name="Illustrative delivered road transport cost class None; reference terminal None"/>
          <p:cNvSpPr/>
          <p:nvPr/>
        </p:nvSpPr>
        <p:spPr>
          <a:xfrm>
            <a:off x="3415802"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6" name="Illustrative delivered road transport cost class None; reference terminal None"/>
          <p:cNvSpPr/>
          <p:nvPr/>
        </p:nvSpPr>
        <p:spPr>
          <a:xfrm>
            <a:off x="3415802" y="3190770"/>
            <a:ext cx="57686" cy="57686"/>
          </a:xfrm>
          <a:custGeom>
            <a:avLst/>
            <a:gdLst/>
            <a:ahLst/>
            <a:cxnLst/>
            <a:rect l="l" t="t" r="r" b="b"/>
            <a:pathLst>
              <a:path w="57686" h="57686">
                <a:moveTo>
                  <a:pt x="57686" y="57686"/>
                </a:moveTo>
                <a:lnTo>
                  <a:pt x="0" y="57686"/>
                </a:lnTo>
                <a:lnTo>
                  <a:pt x="0" y="0"/>
                </a:lnTo>
                <a:lnTo>
                  <a:pt x="39057" y="0"/>
                </a:lnTo>
                <a:lnTo>
                  <a:pt x="49542" y="3739"/>
                </a:lnTo>
                <a:lnTo>
                  <a:pt x="57686" y="425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7" name="Illustrative delivered road transport cost class None; reference terminal None"/>
          <p:cNvSpPr/>
          <p:nvPr/>
        </p:nvSpPr>
        <p:spPr>
          <a:xfrm>
            <a:off x="3415802" y="3161905"/>
            <a:ext cx="39057" cy="28865"/>
          </a:xfrm>
          <a:custGeom>
            <a:avLst/>
            <a:gdLst/>
            <a:ahLst/>
            <a:cxnLst/>
            <a:rect l="l" t="t" r="r" b="b"/>
            <a:pathLst>
              <a:path w="39057" h="28865">
                <a:moveTo>
                  <a:pt x="0" y="28865"/>
                </a:moveTo>
                <a:lnTo>
                  <a:pt x="0" y="0"/>
                </a:lnTo>
                <a:lnTo>
                  <a:pt x="15486" y="12099"/>
                </a:lnTo>
                <a:lnTo>
                  <a:pt x="31920" y="26320"/>
                </a:lnTo>
                <a:lnTo>
                  <a:pt x="39057" y="28865"/>
                </a:lnTo>
                <a:lnTo>
                  <a:pt x="0" y="2886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8" name="Illustrative delivered road transport cost class 3; reference terminal Durban"/>
          <p:cNvSpPr/>
          <p:nvPr/>
        </p:nvSpPr>
        <p:spPr>
          <a:xfrm>
            <a:off x="3473488" y="5325173"/>
            <a:ext cx="57687" cy="26403"/>
          </a:xfrm>
          <a:custGeom>
            <a:avLst/>
            <a:gdLst/>
            <a:ahLst/>
            <a:cxnLst/>
            <a:rect l="l" t="t" r="r" b="b"/>
            <a:pathLst>
              <a:path w="57687" h="26403">
                <a:moveTo>
                  <a:pt x="0" y="0"/>
                </a:moveTo>
                <a:lnTo>
                  <a:pt x="57687" y="0"/>
                </a:lnTo>
                <a:lnTo>
                  <a:pt x="57687" y="26403"/>
                </a:lnTo>
                <a:lnTo>
                  <a:pt x="56529" y="26029"/>
                </a:lnTo>
                <a:lnTo>
                  <a:pt x="0" y="1696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9" name="Illustrative delivered road transport cost class 3; reference terminal Durban"/>
          <p:cNvSpPr/>
          <p:nvPr/>
        </p:nvSpPr>
        <p:spPr>
          <a:xfrm>
            <a:off x="347348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0" name="Illustrative delivered road transport cost class 3; reference terminal Durban"/>
          <p:cNvSpPr/>
          <p:nvPr/>
        </p:nvSpPr>
        <p:spPr>
          <a:xfrm>
            <a:off x="347348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1" name="Illustrative delivered road transport cost class 3; reference terminal Durban"/>
          <p:cNvSpPr/>
          <p:nvPr/>
        </p:nvSpPr>
        <p:spPr>
          <a:xfrm>
            <a:off x="347348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2" name="Illustrative delivered road transport cost class 3; reference terminal Durban"/>
          <p:cNvSpPr/>
          <p:nvPr/>
        </p:nvSpPr>
        <p:spPr>
          <a:xfrm>
            <a:off x="347348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3" name="Illustrative delivered road transport cost class None; reference terminal None"/>
          <p:cNvSpPr/>
          <p:nvPr/>
        </p:nvSpPr>
        <p:spPr>
          <a:xfrm>
            <a:off x="347348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4" name="Illustrative delivered road transport cost class None; reference terminal None"/>
          <p:cNvSpPr/>
          <p:nvPr/>
        </p:nvSpPr>
        <p:spPr>
          <a:xfrm>
            <a:off x="347348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5" name="Illustrative delivered road transport cost class 3; reference terminal Lesedi"/>
          <p:cNvSpPr/>
          <p:nvPr/>
        </p:nvSpPr>
        <p:spPr>
          <a:xfrm>
            <a:off x="347348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6" name="Illustrative delivered road transport cost class 3; reference terminal Lesedi"/>
          <p:cNvSpPr/>
          <p:nvPr/>
        </p:nvSpPr>
        <p:spPr>
          <a:xfrm>
            <a:off x="347348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7" name="Illustrative delivered road transport cost class 3; reference terminal Lesedi"/>
          <p:cNvSpPr/>
          <p:nvPr/>
        </p:nvSpPr>
        <p:spPr>
          <a:xfrm>
            <a:off x="347348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8" name="Illustrative delivered road transport cost class 3; reference terminal Lesedi"/>
          <p:cNvSpPr/>
          <p:nvPr/>
        </p:nvSpPr>
        <p:spPr>
          <a:xfrm>
            <a:off x="347348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9" name="Illustrative delivered road transport cost class 2; reference terminal Lesedi"/>
          <p:cNvSpPr/>
          <p:nvPr/>
        </p:nvSpPr>
        <p:spPr>
          <a:xfrm>
            <a:off x="347348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0" name="Illustrative delivered road transport cost class 2; reference terminal Lesedi"/>
          <p:cNvSpPr/>
          <p:nvPr/>
        </p:nvSpPr>
        <p:spPr>
          <a:xfrm>
            <a:off x="347348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1" name="Illustrative delivered road transport cost class 2; reference terminal Lesedi"/>
          <p:cNvSpPr/>
          <p:nvPr/>
        </p:nvSpPr>
        <p:spPr>
          <a:xfrm>
            <a:off x="347348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2" name="Illustrative delivered road transport cost class 2; reference terminal Lesedi"/>
          <p:cNvSpPr/>
          <p:nvPr/>
        </p:nvSpPr>
        <p:spPr>
          <a:xfrm>
            <a:off x="347348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3" name="Illustrative delivered road transport cost class 2; reference terminal Lesedi"/>
          <p:cNvSpPr/>
          <p:nvPr/>
        </p:nvSpPr>
        <p:spPr>
          <a:xfrm>
            <a:off x="347348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4" name="Illustrative delivered road transport cost class 2; reference terminal Lesedi"/>
          <p:cNvSpPr/>
          <p:nvPr/>
        </p:nvSpPr>
        <p:spPr>
          <a:xfrm>
            <a:off x="347348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5" name="Illustrative delivered road transport cost class 2; reference terminal Lesedi"/>
          <p:cNvSpPr/>
          <p:nvPr/>
        </p:nvSpPr>
        <p:spPr>
          <a:xfrm>
            <a:off x="347348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6" name="Illustrative delivered road transport cost class 2; reference terminal Lesedi"/>
          <p:cNvSpPr/>
          <p:nvPr/>
        </p:nvSpPr>
        <p:spPr>
          <a:xfrm>
            <a:off x="347348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7" name="Illustrative delivered road transport cost class 2; reference terminal Lesedi"/>
          <p:cNvSpPr/>
          <p:nvPr/>
        </p:nvSpPr>
        <p:spPr>
          <a:xfrm>
            <a:off x="347348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8" name="Illustrative delivered road transport cost class 2; reference terminal Lesedi"/>
          <p:cNvSpPr/>
          <p:nvPr/>
        </p:nvSpPr>
        <p:spPr>
          <a:xfrm>
            <a:off x="347348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9" name="Illustrative delivered road transport cost class 2; reference terminal Lesedi"/>
          <p:cNvSpPr/>
          <p:nvPr/>
        </p:nvSpPr>
        <p:spPr>
          <a:xfrm>
            <a:off x="347348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0" name="Illustrative delivered road transport cost class 2; reference terminal Lesedi"/>
          <p:cNvSpPr/>
          <p:nvPr/>
        </p:nvSpPr>
        <p:spPr>
          <a:xfrm>
            <a:off x="347348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1" name="Illustrative delivered road transport cost class 2; reference terminal Lesedi"/>
          <p:cNvSpPr/>
          <p:nvPr/>
        </p:nvSpPr>
        <p:spPr>
          <a:xfrm>
            <a:off x="347348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2" name="Illustrative delivered road transport cost class 2; reference terminal Lesedi"/>
          <p:cNvSpPr/>
          <p:nvPr/>
        </p:nvSpPr>
        <p:spPr>
          <a:xfrm>
            <a:off x="347348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3" name="Illustrative delivered road transport cost class 2; reference terminal Lesedi"/>
          <p:cNvSpPr/>
          <p:nvPr/>
        </p:nvSpPr>
        <p:spPr>
          <a:xfrm>
            <a:off x="347348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4" name="Illustrative delivered road transport cost class 2; reference terminal Lesedi"/>
          <p:cNvSpPr/>
          <p:nvPr/>
        </p:nvSpPr>
        <p:spPr>
          <a:xfrm>
            <a:off x="347348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5" name="Illustrative delivered road transport cost class 2; reference terminal Lesedi"/>
          <p:cNvSpPr/>
          <p:nvPr/>
        </p:nvSpPr>
        <p:spPr>
          <a:xfrm>
            <a:off x="347348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6" name="Illustrative delivered road transport cost class 2; reference terminal Lesedi"/>
          <p:cNvSpPr/>
          <p:nvPr/>
        </p:nvSpPr>
        <p:spPr>
          <a:xfrm>
            <a:off x="347348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7" name="Illustrative delivered road transport cost class 2; reference terminal Lesedi"/>
          <p:cNvSpPr/>
          <p:nvPr/>
        </p:nvSpPr>
        <p:spPr>
          <a:xfrm>
            <a:off x="347348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8" name="Illustrative delivered road transport cost class 2; reference terminal Lesedi"/>
          <p:cNvSpPr/>
          <p:nvPr/>
        </p:nvSpPr>
        <p:spPr>
          <a:xfrm>
            <a:off x="347348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9" name="Illustrative delivered road transport cost class 2; reference terminal Lesedi"/>
          <p:cNvSpPr/>
          <p:nvPr/>
        </p:nvSpPr>
        <p:spPr>
          <a:xfrm>
            <a:off x="347348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0" name="Illustrative delivered road transport cost class 2; reference terminal Lesedi"/>
          <p:cNvSpPr/>
          <p:nvPr/>
        </p:nvSpPr>
        <p:spPr>
          <a:xfrm>
            <a:off x="347348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1" name="Illustrative delivered road transport cost class 2; reference terminal Lesedi"/>
          <p:cNvSpPr/>
          <p:nvPr/>
        </p:nvSpPr>
        <p:spPr>
          <a:xfrm>
            <a:off x="347348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2" name="Illustrative delivered road transport cost class 2; reference terminal Lesedi"/>
          <p:cNvSpPr/>
          <p:nvPr/>
        </p:nvSpPr>
        <p:spPr>
          <a:xfrm>
            <a:off x="347348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3" name="Illustrative delivered road transport cost class None; reference terminal None"/>
          <p:cNvSpPr/>
          <p:nvPr/>
        </p:nvSpPr>
        <p:spPr>
          <a:xfrm>
            <a:off x="347348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4" name="Illustrative delivered road transport cost class None; reference terminal None"/>
          <p:cNvSpPr/>
          <p:nvPr/>
        </p:nvSpPr>
        <p:spPr>
          <a:xfrm>
            <a:off x="347348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5" name="Illustrative delivered road transport cost class None; reference terminal None"/>
          <p:cNvSpPr/>
          <p:nvPr/>
        </p:nvSpPr>
        <p:spPr>
          <a:xfrm>
            <a:off x="3473488" y="3195029"/>
            <a:ext cx="57687" cy="53427"/>
          </a:xfrm>
          <a:custGeom>
            <a:avLst/>
            <a:gdLst/>
            <a:ahLst/>
            <a:cxnLst/>
            <a:rect l="l" t="t" r="r" b="b"/>
            <a:pathLst>
              <a:path w="57687" h="53427">
                <a:moveTo>
                  <a:pt x="57687" y="53427"/>
                </a:moveTo>
                <a:lnTo>
                  <a:pt x="0" y="53427"/>
                </a:lnTo>
                <a:lnTo>
                  <a:pt x="0" y="0"/>
                </a:lnTo>
                <a:lnTo>
                  <a:pt x="23158" y="1479"/>
                </a:lnTo>
                <a:lnTo>
                  <a:pt x="43665" y="837"/>
                </a:lnTo>
                <a:lnTo>
                  <a:pt x="57687" y="13049"/>
                </a:lnTo>
                <a:lnTo>
                  <a:pt x="57687" y="5342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6" name="Illustrative delivered road transport cost class 3; reference terminal Durban"/>
          <p:cNvSpPr/>
          <p:nvPr/>
        </p:nvSpPr>
        <p:spPr>
          <a:xfrm>
            <a:off x="3531175" y="5325173"/>
            <a:ext cx="57686" cy="45016"/>
          </a:xfrm>
          <a:custGeom>
            <a:avLst/>
            <a:gdLst/>
            <a:ahLst/>
            <a:cxnLst/>
            <a:rect l="l" t="t" r="r" b="b"/>
            <a:pathLst>
              <a:path w="57686" h="45016">
                <a:moveTo>
                  <a:pt x="0" y="0"/>
                </a:moveTo>
                <a:lnTo>
                  <a:pt x="57686" y="0"/>
                </a:lnTo>
                <a:lnTo>
                  <a:pt x="57686" y="45016"/>
                </a:lnTo>
                <a:lnTo>
                  <a:pt x="0" y="26403"/>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7" name="Illustrative delivered road transport cost class 3; reference terminal Durban"/>
          <p:cNvSpPr/>
          <p:nvPr/>
        </p:nvSpPr>
        <p:spPr>
          <a:xfrm>
            <a:off x="3531175"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8" name="Illustrative delivered road transport cost class 3; reference terminal Durban"/>
          <p:cNvSpPr/>
          <p:nvPr/>
        </p:nvSpPr>
        <p:spPr>
          <a:xfrm>
            <a:off x="353117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9" name="Illustrative delivered road transport cost class 3; reference terminal Durban"/>
          <p:cNvSpPr/>
          <p:nvPr/>
        </p:nvSpPr>
        <p:spPr>
          <a:xfrm>
            <a:off x="353117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0" name="Illustrative delivered road transport cost class 3; reference terminal Durban"/>
          <p:cNvSpPr/>
          <p:nvPr/>
        </p:nvSpPr>
        <p:spPr>
          <a:xfrm>
            <a:off x="353117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1" name="Illustrative delivered road transport cost class None; reference terminal None"/>
          <p:cNvSpPr/>
          <p:nvPr/>
        </p:nvSpPr>
        <p:spPr>
          <a:xfrm>
            <a:off x="353117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2" name="Illustrative delivered road transport cost class None; reference terminal None"/>
          <p:cNvSpPr/>
          <p:nvPr/>
        </p:nvSpPr>
        <p:spPr>
          <a:xfrm>
            <a:off x="353117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3" name="Illustrative delivered road transport cost class None; reference terminal None"/>
          <p:cNvSpPr/>
          <p:nvPr/>
        </p:nvSpPr>
        <p:spPr>
          <a:xfrm>
            <a:off x="353117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4" name="Illustrative delivered road transport cost class 3; reference terminal Lesedi"/>
          <p:cNvSpPr/>
          <p:nvPr/>
        </p:nvSpPr>
        <p:spPr>
          <a:xfrm>
            <a:off x="353117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5" name="Illustrative delivered road transport cost class 3; reference terminal Lesedi"/>
          <p:cNvSpPr/>
          <p:nvPr/>
        </p:nvSpPr>
        <p:spPr>
          <a:xfrm>
            <a:off x="353117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6" name="Illustrative delivered road transport cost class 3; reference terminal Lesedi"/>
          <p:cNvSpPr/>
          <p:nvPr/>
        </p:nvSpPr>
        <p:spPr>
          <a:xfrm>
            <a:off x="353117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7" name="Illustrative delivered road transport cost class 2; reference terminal Lesedi"/>
          <p:cNvSpPr/>
          <p:nvPr/>
        </p:nvSpPr>
        <p:spPr>
          <a:xfrm>
            <a:off x="353117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8" name="Illustrative delivered road transport cost class 2; reference terminal Lesedi"/>
          <p:cNvSpPr/>
          <p:nvPr/>
        </p:nvSpPr>
        <p:spPr>
          <a:xfrm>
            <a:off x="353117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9" name="Illustrative delivered road transport cost class 2; reference terminal Lesedi"/>
          <p:cNvSpPr/>
          <p:nvPr/>
        </p:nvSpPr>
        <p:spPr>
          <a:xfrm>
            <a:off x="353117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0" name="Illustrative delivered road transport cost class 2; reference terminal Lesedi"/>
          <p:cNvSpPr/>
          <p:nvPr/>
        </p:nvSpPr>
        <p:spPr>
          <a:xfrm>
            <a:off x="353117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1" name="Illustrative delivered road transport cost class 2; reference terminal Lesedi"/>
          <p:cNvSpPr/>
          <p:nvPr/>
        </p:nvSpPr>
        <p:spPr>
          <a:xfrm>
            <a:off x="353117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2" name="Illustrative delivered road transport cost class 2; reference terminal Lesedi"/>
          <p:cNvSpPr/>
          <p:nvPr/>
        </p:nvSpPr>
        <p:spPr>
          <a:xfrm>
            <a:off x="353117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3" name="Illustrative delivered road transport cost class 2; reference terminal Lesedi"/>
          <p:cNvSpPr/>
          <p:nvPr/>
        </p:nvSpPr>
        <p:spPr>
          <a:xfrm>
            <a:off x="353117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4" name="Illustrative delivered road transport cost class 2; reference terminal Lesedi"/>
          <p:cNvSpPr/>
          <p:nvPr/>
        </p:nvSpPr>
        <p:spPr>
          <a:xfrm>
            <a:off x="353117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5" name="Illustrative delivered road transport cost class 2; reference terminal Lesedi"/>
          <p:cNvSpPr/>
          <p:nvPr/>
        </p:nvSpPr>
        <p:spPr>
          <a:xfrm>
            <a:off x="353117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6" name="Illustrative delivered road transport cost class 2; reference terminal Lesedi"/>
          <p:cNvSpPr/>
          <p:nvPr/>
        </p:nvSpPr>
        <p:spPr>
          <a:xfrm>
            <a:off x="353117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7" name="Illustrative delivered road transport cost class 2; reference terminal Lesedi"/>
          <p:cNvSpPr/>
          <p:nvPr/>
        </p:nvSpPr>
        <p:spPr>
          <a:xfrm>
            <a:off x="353117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8" name="Illustrative delivered road transport cost class 1; reference terminal Lesedi"/>
          <p:cNvSpPr/>
          <p:nvPr/>
        </p:nvSpPr>
        <p:spPr>
          <a:xfrm>
            <a:off x="353117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9" name="Illustrative delivered road transport cost class 1; reference terminal Lesedi"/>
          <p:cNvSpPr/>
          <p:nvPr/>
        </p:nvSpPr>
        <p:spPr>
          <a:xfrm>
            <a:off x="353117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0" name="Illustrative delivered road transport cost class 1; reference terminal Lesedi"/>
          <p:cNvSpPr/>
          <p:nvPr/>
        </p:nvSpPr>
        <p:spPr>
          <a:xfrm>
            <a:off x="353117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1" name="Illustrative delivered road transport cost class 1; reference terminal Lesedi"/>
          <p:cNvSpPr/>
          <p:nvPr/>
        </p:nvSpPr>
        <p:spPr>
          <a:xfrm>
            <a:off x="353117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2" name="Illustrative delivered road transport cost class 1; reference terminal Lesedi"/>
          <p:cNvSpPr/>
          <p:nvPr/>
        </p:nvSpPr>
        <p:spPr>
          <a:xfrm>
            <a:off x="353117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3" name="Illustrative delivered road transport cost class 1; reference terminal Lesedi"/>
          <p:cNvSpPr/>
          <p:nvPr/>
        </p:nvSpPr>
        <p:spPr>
          <a:xfrm>
            <a:off x="353117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4" name="Illustrative delivered road transport cost class 1; reference terminal Lesedi"/>
          <p:cNvSpPr/>
          <p:nvPr/>
        </p:nvSpPr>
        <p:spPr>
          <a:xfrm>
            <a:off x="353117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5" name="Illustrative delivered road transport cost class 2; reference terminal Lesedi"/>
          <p:cNvSpPr/>
          <p:nvPr/>
        </p:nvSpPr>
        <p:spPr>
          <a:xfrm>
            <a:off x="353117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6" name="Illustrative delivered road transport cost class 2; reference terminal Lesedi"/>
          <p:cNvSpPr/>
          <p:nvPr/>
        </p:nvSpPr>
        <p:spPr>
          <a:xfrm>
            <a:off x="353117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7" name="Illustrative delivered road transport cost class 2; reference terminal Lesedi"/>
          <p:cNvSpPr/>
          <p:nvPr/>
        </p:nvSpPr>
        <p:spPr>
          <a:xfrm>
            <a:off x="353117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8" name="Illustrative delivered road transport cost class 2; reference terminal Lesedi"/>
          <p:cNvSpPr/>
          <p:nvPr/>
        </p:nvSpPr>
        <p:spPr>
          <a:xfrm>
            <a:off x="353117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9" name="Illustrative delivered road transport cost class 2; reference terminal Lesedi"/>
          <p:cNvSpPr/>
          <p:nvPr/>
        </p:nvSpPr>
        <p:spPr>
          <a:xfrm>
            <a:off x="353117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0" name="Illustrative delivered road transport cost class 2; reference terminal Lesedi"/>
          <p:cNvSpPr/>
          <p:nvPr/>
        </p:nvSpPr>
        <p:spPr>
          <a:xfrm>
            <a:off x="353117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1" name="Illustrative delivered road transport cost class 2; reference terminal Lesedi"/>
          <p:cNvSpPr/>
          <p:nvPr/>
        </p:nvSpPr>
        <p:spPr>
          <a:xfrm>
            <a:off x="353117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2" name="Illustrative delivered road transport cost class 3; reference terminal Lesedi"/>
          <p:cNvSpPr/>
          <p:nvPr/>
        </p:nvSpPr>
        <p:spPr>
          <a:xfrm>
            <a:off x="353117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3" name="Illustrative delivered road transport cost class None; reference terminal None"/>
          <p:cNvSpPr/>
          <p:nvPr/>
        </p:nvSpPr>
        <p:spPr>
          <a:xfrm>
            <a:off x="3531175" y="3208078"/>
            <a:ext cx="57686" cy="40378"/>
          </a:xfrm>
          <a:custGeom>
            <a:avLst/>
            <a:gdLst/>
            <a:ahLst/>
            <a:cxnLst/>
            <a:rect l="l" t="t" r="r" b="b"/>
            <a:pathLst>
              <a:path w="57686" h="40378">
                <a:moveTo>
                  <a:pt x="57686" y="40378"/>
                </a:moveTo>
                <a:lnTo>
                  <a:pt x="0" y="40378"/>
                </a:lnTo>
                <a:lnTo>
                  <a:pt x="0" y="0"/>
                </a:lnTo>
                <a:lnTo>
                  <a:pt x="18020" y="15694"/>
                </a:lnTo>
                <a:lnTo>
                  <a:pt x="34154" y="17382"/>
                </a:lnTo>
                <a:lnTo>
                  <a:pt x="57686" y="22831"/>
                </a:lnTo>
                <a:lnTo>
                  <a:pt x="57686" y="4037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4" name="Illustrative delivered road transport cost class 3; reference terminal Durban"/>
          <p:cNvSpPr/>
          <p:nvPr/>
        </p:nvSpPr>
        <p:spPr>
          <a:xfrm>
            <a:off x="3588861" y="5325173"/>
            <a:ext cx="57687" cy="54447"/>
          </a:xfrm>
          <a:custGeom>
            <a:avLst/>
            <a:gdLst/>
            <a:ahLst/>
            <a:cxnLst/>
            <a:rect l="l" t="t" r="r" b="b"/>
            <a:pathLst>
              <a:path w="57687" h="54447">
                <a:moveTo>
                  <a:pt x="0" y="0"/>
                </a:moveTo>
                <a:lnTo>
                  <a:pt x="57687" y="0"/>
                </a:lnTo>
                <a:lnTo>
                  <a:pt x="57687" y="53554"/>
                </a:lnTo>
                <a:lnTo>
                  <a:pt x="29228" y="54447"/>
                </a:lnTo>
                <a:lnTo>
                  <a:pt x="0" y="4501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5" name="Illustrative delivered road transport cost class 3; reference terminal Durban"/>
          <p:cNvSpPr/>
          <p:nvPr/>
        </p:nvSpPr>
        <p:spPr>
          <a:xfrm>
            <a:off x="358886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6" name="Illustrative delivered road transport cost class 3; reference terminal Durban"/>
          <p:cNvSpPr/>
          <p:nvPr/>
        </p:nvSpPr>
        <p:spPr>
          <a:xfrm>
            <a:off x="358886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7" name="Illustrative delivered road transport cost class 3; reference terminal Durban"/>
          <p:cNvSpPr/>
          <p:nvPr/>
        </p:nvSpPr>
        <p:spPr>
          <a:xfrm>
            <a:off x="358886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8" name="Illustrative delivered road transport cost class 3; reference terminal Durban"/>
          <p:cNvSpPr/>
          <p:nvPr/>
        </p:nvSpPr>
        <p:spPr>
          <a:xfrm>
            <a:off x="358886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9" name="Illustrative delivered road transport cost class 4; reference terminal Lesedi"/>
          <p:cNvSpPr/>
          <p:nvPr/>
        </p:nvSpPr>
        <p:spPr>
          <a:xfrm>
            <a:off x="358886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0" name="Illustrative delivered road transport cost class 3; reference terminal Lesedi"/>
          <p:cNvSpPr/>
          <p:nvPr/>
        </p:nvSpPr>
        <p:spPr>
          <a:xfrm>
            <a:off x="358886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1" name="Illustrative delivered road transport cost class 3; reference terminal Lesedi"/>
          <p:cNvSpPr/>
          <p:nvPr/>
        </p:nvSpPr>
        <p:spPr>
          <a:xfrm>
            <a:off x="358886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2" name="Illustrative delivered road transport cost class 3; reference terminal Lesedi"/>
          <p:cNvSpPr/>
          <p:nvPr/>
        </p:nvSpPr>
        <p:spPr>
          <a:xfrm>
            <a:off x="358886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3" name="Illustrative delivered road transport cost class 3; reference terminal Lesedi"/>
          <p:cNvSpPr/>
          <p:nvPr/>
        </p:nvSpPr>
        <p:spPr>
          <a:xfrm>
            <a:off x="358886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4" name="Illustrative delivered road transport cost class 3; reference terminal Lesedi"/>
          <p:cNvSpPr/>
          <p:nvPr/>
        </p:nvSpPr>
        <p:spPr>
          <a:xfrm>
            <a:off x="358886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5" name="Illustrative delivered road transport cost class 2; reference terminal Lesedi"/>
          <p:cNvSpPr/>
          <p:nvPr/>
        </p:nvSpPr>
        <p:spPr>
          <a:xfrm>
            <a:off x="358886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6" name="Illustrative delivered road transport cost class 2; reference terminal Lesedi"/>
          <p:cNvSpPr/>
          <p:nvPr/>
        </p:nvSpPr>
        <p:spPr>
          <a:xfrm>
            <a:off x="358886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7" name="Illustrative delivered road transport cost class 2; reference terminal Lesedi"/>
          <p:cNvSpPr/>
          <p:nvPr/>
        </p:nvSpPr>
        <p:spPr>
          <a:xfrm>
            <a:off x="358886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8" name="Illustrative delivered road transport cost class 2; reference terminal Lesedi"/>
          <p:cNvSpPr/>
          <p:nvPr/>
        </p:nvSpPr>
        <p:spPr>
          <a:xfrm>
            <a:off x="358886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9" name="Illustrative delivered road transport cost class 2; reference terminal Lesedi"/>
          <p:cNvSpPr/>
          <p:nvPr/>
        </p:nvSpPr>
        <p:spPr>
          <a:xfrm>
            <a:off x="358886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0" name="Illustrative delivered road transport cost class 2; reference terminal Lesedi"/>
          <p:cNvSpPr/>
          <p:nvPr/>
        </p:nvSpPr>
        <p:spPr>
          <a:xfrm>
            <a:off x="358886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1" name="Illustrative delivered road transport cost class 2; reference terminal Lesedi"/>
          <p:cNvSpPr/>
          <p:nvPr/>
        </p:nvSpPr>
        <p:spPr>
          <a:xfrm>
            <a:off x="358886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2" name="Illustrative delivered road transport cost class 2; reference terminal Lesedi"/>
          <p:cNvSpPr/>
          <p:nvPr/>
        </p:nvSpPr>
        <p:spPr>
          <a:xfrm>
            <a:off x="358886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3" name="Illustrative delivered road transport cost class 2; reference terminal Lesedi"/>
          <p:cNvSpPr/>
          <p:nvPr/>
        </p:nvSpPr>
        <p:spPr>
          <a:xfrm>
            <a:off x="358886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4" name="Illustrative delivered road transport cost class 2; reference terminal Lesedi"/>
          <p:cNvSpPr/>
          <p:nvPr/>
        </p:nvSpPr>
        <p:spPr>
          <a:xfrm>
            <a:off x="358886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5" name="Illustrative delivered road transport cost class 2; reference terminal Lesedi"/>
          <p:cNvSpPr/>
          <p:nvPr/>
        </p:nvSpPr>
        <p:spPr>
          <a:xfrm>
            <a:off x="358886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6" name="Illustrative delivered road transport cost class 1; reference terminal Lesedi"/>
          <p:cNvSpPr/>
          <p:nvPr/>
        </p:nvSpPr>
        <p:spPr>
          <a:xfrm>
            <a:off x="358886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7" name="Illustrative delivered road transport cost class 1; reference terminal Lesedi"/>
          <p:cNvSpPr/>
          <p:nvPr/>
        </p:nvSpPr>
        <p:spPr>
          <a:xfrm>
            <a:off x="358886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8" name="Illustrative delivered road transport cost class 1; reference terminal Lesedi"/>
          <p:cNvSpPr/>
          <p:nvPr/>
        </p:nvSpPr>
        <p:spPr>
          <a:xfrm>
            <a:off x="358886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9" name="Illustrative delivered road transport cost class 1; reference terminal Lesedi"/>
          <p:cNvSpPr/>
          <p:nvPr/>
        </p:nvSpPr>
        <p:spPr>
          <a:xfrm>
            <a:off x="358886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0" name="Illustrative delivered road transport cost class 1; reference terminal Lesedi"/>
          <p:cNvSpPr/>
          <p:nvPr/>
        </p:nvSpPr>
        <p:spPr>
          <a:xfrm>
            <a:off x="358886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1" name="Illustrative delivered road transport cost class 1; reference terminal Lesedi"/>
          <p:cNvSpPr/>
          <p:nvPr/>
        </p:nvSpPr>
        <p:spPr>
          <a:xfrm>
            <a:off x="358886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2" name="Illustrative delivered road transport cost class 1; reference terminal Lesedi"/>
          <p:cNvSpPr/>
          <p:nvPr/>
        </p:nvSpPr>
        <p:spPr>
          <a:xfrm>
            <a:off x="358886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3" name="Illustrative delivered road transport cost class 1; reference terminal Lesedi"/>
          <p:cNvSpPr/>
          <p:nvPr/>
        </p:nvSpPr>
        <p:spPr>
          <a:xfrm>
            <a:off x="358886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4" name="Illustrative delivered road transport cost class 2; reference terminal Lesedi"/>
          <p:cNvSpPr/>
          <p:nvPr/>
        </p:nvSpPr>
        <p:spPr>
          <a:xfrm>
            <a:off x="358886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5" name="Illustrative delivered road transport cost class 2; reference terminal Lesedi"/>
          <p:cNvSpPr/>
          <p:nvPr/>
        </p:nvSpPr>
        <p:spPr>
          <a:xfrm>
            <a:off x="358886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6" name="Illustrative delivered road transport cost class 2; reference terminal Lesedi"/>
          <p:cNvSpPr/>
          <p:nvPr/>
        </p:nvSpPr>
        <p:spPr>
          <a:xfrm>
            <a:off x="358886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7" name="Illustrative delivered road transport cost class 2; reference terminal Lesedi"/>
          <p:cNvSpPr/>
          <p:nvPr/>
        </p:nvSpPr>
        <p:spPr>
          <a:xfrm>
            <a:off x="358886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8" name="Illustrative delivered road transport cost class 2; reference terminal Lesedi"/>
          <p:cNvSpPr/>
          <p:nvPr/>
        </p:nvSpPr>
        <p:spPr>
          <a:xfrm>
            <a:off x="358886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9" name="Illustrative delivered road transport cost class 2; reference terminal Lesedi"/>
          <p:cNvSpPr/>
          <p:nvPr/>
        </p:nvSpPr>
        <p:spPr>
          <a:xfrm>
            <a:off x="358886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0" name="Illustrative delivered road transport cost class 3; reference terminal Lesedi"/>
          <p:cNvSpPr/>
          <p:nvPr/>
        </p:nvSpPr>
        <p:spPr>
          <a:xfrm>
            <a:off x="358886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1" name="Illustrative delivered road transport cost class 3; reference terminal Lesedi"/>
          <p:cNvSpPr/>
          <p:nvPr/>
        </p:nvSpPr>
        <p:spPr>
          <a:xfrm>
            <a:off x="3588861" y="3230909"/>
            <a:ext cx="57687" cy="17547"/>
          </a:xfrm>
          <a:custGeom>
            <a:avLst/>
            <a:gdLst/>
            <a:ahLst/>
            <a:cxnLst/>
            <a:rect l="l" t="t" r="r" b="b"/>
            <a:pathLst>
              <a:path w="57687" h="17547">
                <a:moveTo>
                  <a:pt x="57687" y="17547"/>
                </a:moveTo>
                <a:lnTo>
                  <a:pt x="0" y="17547"/>
                </a:lnTo>
                <a:lnTo>
                  <a:pt x="0" y="0"/>
                </a:lnTo>
                <a:lnTo>
                  <a:pt x="12547" y="2906"/>
                </a:lnTo>
                <a:lnTo>
                  <a:pt x="57082" y="11538"/>
                </a:lnTo>
                <a:lnTo>
                  <a:pt x="57687" y="11516"/>
                </a:lnTo>
                <a:lnTo>
                  <a:pt x="57687" y="1754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2" name="Illustrative delivered road transport cost class 3; reference terminal Durban"/>
          <p:cNvSpPr/>
          <p:nvPr/>
        </p:nvSpPr>
        <p:spPr>
          <a:xfrm>
            <a:off x="3646548" y="5325173"/>
            <a:ext cx="57687" cy="53554"/>
          </a:xfrm>
          <a:custGeom>
            <a:avLst/>
            <a:gdLst/>
            <a:ahLst/>
            <a:cxnLst/>
            <a:rect l="l" t="t" r="r" b="b"/>
            <a:pathLst>
              <a:path w="57687" h="53554">
                <a:moveTo>
                  <a:pt x="0" y="0"/>
                </a:moveTo>
                <a:lnTo>
                  <a:pt x="57687" y="0"/>
                </a:lnTo>
                <a:lnTo>
                  <a:pt x="57687" y="3597"/>
                </a:lnTo>
                <a:lnTo>
                  <a:pt x="37549" y="24965"/>
                </a:lnTo>
                <a:lnTo>
                  <a:pt x="20872" y="52899"/>
                </a:lnTo>
                <a:lnTo>
                  <a:pt x="0" y="53554"/>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3" name="Illustrative delivered road transport cost class 3; reference terminal Durban"/>
          <p:cNvSpPr/>
          <p:nvPr/>
        </p:nvSpPr>
        <p:spPr>
          <a:xfrm>
            <a:off x="364654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4" name="Illustrative delivered road transport cost class 3; reference terminal Durban"/>
          <p:cNvSpPr/>
          <p:nvPr/>
        </p:nvSpPr>
        <p:spPr>
          <a:xfrm>
            <a:off x="364654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5" name="Illustrative delivered road transport cost class 3; reference terminal Durban"/>
          <p:cNvSpPr/>
          <p:nvPr/>
        </p:nvSpPr>
        <p:spPr>
          <a:xfrm>
            <a:off x="364654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6" name="Illustrative delivered road transport cost class 3; reference terminal Durban"/>
          <p:cNvSpPr/>
          <p:nvPr/>
        </p:nvSpPr>
        <p:spPr>
          <a:xfrm>
            <a:off x="364654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7" name="Illustrative delivered road transport cost class 3; reference terminal Lesedi"/>
          <p:cNvSpPr/>
          <p:nvPr/>
        </p:nvSpPr>
        <p:spPr>
          <a:xfrm>
            <a:off x="364654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8" name="Illustrative delivered road transport cost class 3; reference terminal Lesedi"/>
          <p:cNvSpPr/>
          <p:nvPr/>
        </p:nvSpPr>
        <p:spPr>
          <a:xfrm>
            <a:off x="364654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9" name="Illustrative delivered road transport cost class 3; reference terminal Lesedi"/>
          <p:cNvSpPr/>
          <p:nvPr/>
        </p:nvSpPr>
        <p:spPr>
          <a:xfrm>
            <a:off x="364654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0" name="Illustrative delivered road transport cost class 3; reference terminal Lesedi"/>
          <p:cNvSpPr/>
          <p:nvPr/>
        </p:nvSpPr>
        <p:spPr>
          <a:xfrm>
            <a:off x="364654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1" name="Illustrative delivered road transport cost class 3; reference terminal Lesedi"/>
          <p:cNvSpPr/>
          <p:nvPr/>
        </p:nvSpPr>
        <p:spPr>
          <a:xfrm>
            <a:off x="364654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2" name="Illustrative delivered road transport cost class 3; reference terminal Lesedi"/>
          <p:cNvSpPr/>
          <p:nvPr/>
        </p:nvSpPr>
        <p:spPr>
          <a:xfrm>
            <a:off x="364654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3" name="Illustrative delivered road transport cost class 2; reference terminal Lesedi"/>
          <p:cNvSpPr/>
          <p:nvPr/>
        </p:nvSpPr>
        <p:spPr>
          <a:xfrm>
            <a:off x="364654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4" name="Illustrative delivered road transport cost class 2; reference terminal Lesedi"/>
          <p:cNvSpPr/>
          <p:nvPr/>
        </p:nvSpPr>
        <p:spPr>
          <a:xfrm>
            <a:off x="364654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5" name="Illustrative delivered road transport cost class 2; reference terminal Lesedi"/>
          <p:cNvSpPr/>
          <p:nvPr/>
        </p:nvSpPr>
        <p:spPr>
          <a:xfrm>
            <a:off x="364654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6" name="Illustrative delivered road transport cost class 2; reference terminal Lesedi"/>
          <p:cNvSpPr/>
          <p:nvPr/>
        </p:nvSpPr>
        <p:spPr>
          <a:xfrm>
            <a:off x="364654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7" name="Illustrative delivered road transport cost class 2; reference terminal Lesedi"/>
          <p:cNvSpPr/>
          <p:nvPr/>
        </p:nvSpPr>
        <p:spPr>
          <a:xfrm>
            <a:off x="364654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8" name="Illustrative delivered road transport cost class 2; reference terminal Lesedi"/>
          <p:cNvSpPr/>
          <p:nvPr/>
        </p:nvSpPr>
        <p:spPr>
          <a:xfrm>
            <a:off x="364654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9" name="Illustrative delivered road transport cost class 2; reference terminal Lesedi"/>
          <p:cNvSpPr/>
          <p:nvPr/>
        </p:nvSpPr>
        <p:spPr>
          <a:xfrm>
            <a:off x="364654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0" name="Illustrative delivered road transport cost class 2; reference terminal Lesedi"/>
          <p:cNvSpPr/>
          <p:nvPr/>
        </p:nvSpPr>
        <p:spPr>
          <a:xfrm>
            <a:off x="364654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1" name="Illustrative delivered road transport cost class 2; reference terminal Lesedi"/>
          <p:cNvSpPr/>
          <p:nvPr/>
        </p:nvSpPr>
        <p:spPr>
          <a:xfrm>
            <a:off x="364654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2" name="Illustrative delivered road transport cost class 2; reference terminal Lesedi"/>
          <p:cNvSpPr/>
          <p:nvPr/>
        </p:nvSpPr>
        <p:spPr>
          <a:xfrm>
            <a:off x="364654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3" name="Illustrative delivered road transport cost class 2; reference terminal Lesedi"/>
          <p:cNvSpPr/>
          <p:nvPr/>
        </p:nvSpPr>
        <p:spPr>
          <a:xfrm>
            <a:off x="364654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4" name="Illustrative delivered road transport cost class 1; reference terminal Lesedi"/>
          <p:cNvSpPr/>
          <p:nvPr/>
        </p:nvSpPr>
        <p:spPr>
          <a:xfrm>
            <a:off x="364654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5" name="Illustrative delivered road transport cost class 1; reference terminal Lesedi"/>
          <p:cNvSpPr/>
          <p:nvPr/>
        </p:nvSpPr>
        <p:spPr>
          <a:xfrm>
            <a:off x="364654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6" name="Illustrative delivered road transport cost class 1; reference terminal Lesedi"/>
          <p:cNvSpPr/>
          <p:nvPr/>
        </p:nvSpPr>
        <p:spPr>
          <a:xfrm>
            <a:off x="364654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7" name="Illustrative delivered road transport cost class 1; reference terminal Lesedi"/>
          <p:cNvSpPr/>
          <p:nvPr/>
        </p:nvSpPr>
        <p:spPr>
          <a:xfrm>
            <a:off x="364654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8" name="Illustrative delivered road transport cost class 1; reference terminal Lesedi"/>
          <p:cNvSpPr/>
          <p:nvPr/>
        </p:nvSpPr>
        <p:spPr>
          <a:xfrm>
            <a:off x="364654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9" name="Illustrative delivered road transport cost class 1; reference terminal Lesedi"/>
          <p:cNvSpPr/>
          <p:nvPr/>
        </p:nvSpPr>
        <p:spPr>
          <a:xfrm>
            <a:off x="364654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0" name="Illustrative delivered road transport cost class 1; reference terminal Lesedi"/>
          <p:cNvSpPr/>
          <p:nvPr/>
        </p:nvSpPr>
        <p:spPr>
          <a:xfrm>
            <a:off x="364654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1" name="Illustrative delivered road transport cost class 1; reference terminal Lesedi"/>
          <p:cNvSpPr/>
          <p:nvPr/>
        </p:nvSpPr>
        <p:spPr>
          <a:xfrm>
            <a:off x="364654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2" name="Illustrative delivered road transport cost class 1; reference terminal Lesedi"/>
          <p:cNvSpPr/>
          <p:nvPr/>
        </p:nvSpPr>
        <p:spPr>
          <a:xfrm>
            <a:off x="364654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3" name="Illustrative delivered road transport cost class 1; reference terminal Lesedi"/>
          <p:cNvSpPr/>
          <p:nvPr/>
        </p:nvSpPr>
        <p:spPr>
          <a:xfrm>
            <a:off x="364654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4" name="Illustrative delivered road transport cost class 2; reference terminal Lesedi"/>
          <p:cNvSpPr/>
          <p:nvPr/>
        </p:nvSpPr>
        <p:spPr>
          <a:xfrm>
            <a:off x="364654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5" name="Illustrative delivered road transport cost class 2; reference terminal Lesedi"/>
          <p:cNvSpPr/>
          <p:nvPr/>
        </p:nvSpPr>
        <p:spPr>
          <a:xfrm>
            <a:off x="364654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6" name="Illustrative delivered road transport cost class 2; reference terminal Lesedi"/>
          <p:cNvSpPr/>
          <p:nvPr/>
        </p:nvSpPr>
        <p:spPr>
          <a:xfrm>
            <a:off x="364654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7" name="Illustrative delivered road transport cost class 2; reference terminal Lesedi"/>
          <p:cNvSpPr/>
          <p:nvPr/>
        </p:nvSpPr>
        <p:spPr>
          <a:xfrm>
            <a:off x="364654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8" name="Illustrative delivered road transport cost class 3; reference terminal Lesedi"/>
          <p:cNvSpPr/>
          <p:nvPr/>
        </p:nvSpPr>
        <p:spPr>
          <a:xfrm>
            <a:off x="364654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9" name="Illustrative delivered road transport cost class 1; reference terminal Lesedi"/>
          <p:cNvSpPr/>
          <p:nvPr/>
        </p:nvSpPr>
        <p:spPr>
          <a:xfrm>
            <a:off x="3646548" y="3226184"/>
            <a:ext cx="57687" cy="22272"/>
          </a:xfrm>
          <a:custGeom>
            <a:avLst/>
            <a:gdLst/>
            <a:ahLst/>
            <a:cxnLst/>
            <a:rect l="l" t="t" r="r" b="b"/>
            <a:pathLst>
              <a:path w="57687" h="22272">
                <a:moveTo>
                  <a:pt x="57687" y="22272"/>
                </a:moveTo>
                <a:lnTo>
                  <a:pt x="0" y="22272"/>
                </a:lnTo>
                <a:lnTo>
                  <a:pt x="0" y="16241"/>
                </a:lnTo>
                <a:lnTo>
                  <a:pt x="27421" y="15221"/>
                </a:lnTo>
                <a:lnTo>
                  <a:pt x="57438" y="7"/>
                </a:lnTo>
                <a:lnTo>
                  <a:pt x="57687" y="0"/>
                </a:lnTo>
                <a:lnTo>
                  <a:pt x="57687" y="2227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0" name="Illustrative delivered road transport cost class 3; reference terminal Durban"/>
          <p:cNvSpPr/>
          <p:nvPr/>
        </p:nvSpPr>
        <p:spPr>
          <a:xfrm>
            <a:off x="3741731" y="5325173"/>
            <a:ext cx="20190" cy="5362"/>
          </a:xfrm>
          <a:custGeom>
            <a:avLst/>
            <a:gdLst/>
            <a:ahLst/>
            <a:cxnLst/>
            <a:rect l="l" t="t" r="r" b="b"/>
            <a:pathLst>
              <a:path w="20190" h="5362">
                <a:moveTo>
                  <a:pt x="20190" y="0"/>
                </a:moveTo>
                <a:lnTo>
                  <a:pt x="20190" y="5362"/>
                </a:lnTo>
                <a:lnTo>
                  <a:pt x="0" y="0"/>
                </a:lnTo>
                <a:lnTo>
                  <a:pt x="2019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1" name="Illustrative delivered road transport cost class 3; reference terminal Durban"/>
          <p:cNvSpPr/>
          <p:nvPr/>
        </p:nvSpPr>
        <p:spPr>
          <a:xfrm>
            <a:off x="3704235" y="5325173"/>
            <a:ext cx="32586" cy="3597"/>
          </a:xfrm>
          <a:custGeom>
            <a:avLst/>
            <a:gdLst/>
            <a:ahLst/>
            <a:cxnLst/>
            <a:rect l="l" t="t" r="r" b="b"/>
            <a:pathLst>
              <a:path w="32586" h="3597">
                <a:moveTo>
                  <a:pt x="0" y="0"/>
                </a:moveTo>
                <a:lnTo>
                  <a:pt x="32586" y="0"/>
                </a:lnTo>
                <a:lnTo>
                  <a:pt x="625" y="2934"/>
                </a:lnTo>
                <a:lnTo>
                  <a:pt x="0" y="359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2" name="Illustrative delivered road transport cost class 3; reference terminal Durban"/>
          <p:cNvSpPr/>
          <p:nvPr/>
        </p:nvSpPr>
        <p:spPr>
          <a:xfrm>
            <a:off x="3704235" y="5267486"/>
            <a:ext cx="57686" cy="57687"/>
          </a:xfrm>
          <a:custGeom>
            <a:avLst/>
            <a:gdLst/>
            <a:ahLst/>
            <a:cxnLst/>
            <a:rect l="l" t="t" r="r" b="b"/>
            <a:pathLst>
              <a:path w="57686" h="57687">
                <a:moveTo>
                  <a:pt x="0" y="57687"/>
                </a:moveTo>
                <a:lnTo>
                  <a:pt x="0" y="0"/>
                </a:lnTo>
                <a:lnTo>
                  <a:pt x="57686" y="0"/>
                </a:lnTo>
                <a:lnTo>
                  <a:pt x="57686" y="57687"/>
                </a:lnTo>
                <a:lnTo>
                  <a:pt x="37496" y="57687"/>
                </a:lnTo>
                <a:lnTo>
                  <a:pt x="36235" y="57352"/>
                </a:lnTo>
                <a:lnTo>
                  <a:pt x="325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3" name="Illustrative delivered road transport cost class 3; reference terminal Durban"/>
          <p:cNvSpPr/>
          <p:nvPr/>
        </p:nvSpPr>
        <p:spPr>
          <a:xfrm>
            <a:off x="370423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4" name="Illustrative delivered road transport cost class 3; reference terminal Durban"/>
          <p:cNvSpPr/>
          <p:nvPr/>
        </p:nvSpPr>
        <p:spPr>
          <a:xfrm>
            <a:off x="370423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5" name="Illustrative delivered road transport cost class 3; reference terminal Durban"/>
          <p:cNvSpPr/>
          <p:nvPr/>
        </p:nvSpPr>
        <p:spPr>
          <a:xfrm>
            <a:off x="370423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6" name="Illustrative delivered road transport cost class 3; reference terminal Lesedi"/>
          <p:cNvSpPr/>
          <p:nvPr/>
        </p:nvSpPr>
        <p:spPr>
          <a:xfrm>
            <a:off x="370423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7" name="Illustrative delivered road transport cost class 3; reference terminal Lesedi"/>
          <p:cNvSpPr/>
          <p:nvPr/>
        </p:nvSpPr>
        <p:spPr>
          <a:xfrm>
            <a:off x="370423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8" name="Illustrative delivered road transport cost class 3; reference terminal Lesedi"/>
          <p:cNvSpPr/>
          <p:nvPr/>
        </p:nvSpPr>
        <p:spPr>
          <a:xfrm>
            <a:off x="370423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9" name="Illustrative delivered road transport cost class 3; reference terminal Lesedi"/>
          <p:cNvSpPr/>
          <p:nvPr/>
        </p:nvSpPr>
        <p:spPr>
          <a:xfrm>
            <a:off x="370423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0" name="Illustrative delivered road transport cost class 3; reference terminal Lesedi"/>
          <p:cNvSpPr/>
          <p:nvPr/>
        </p:nvSpPr>
        <p:spPr>
          <a:xfrm>
            <a:off x="370423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1" name="Illustrative delivered road transport cost class 2; reference terminal Lesedi"/>
          <p:cNvSpPr/>
          <p:nvPr/>
        </p:nvSpPr>
        <p:spPr>
          <a:xfrm>
            <a:off x="370423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2" name="Illustrative delivered road transport cost class 2; reference terminal Lesedi"/>
          <p:cNvSpPr/>
          <p:nvPr/>
        </p:nvSpPr>
        <p:spPr>
          <a:xfrm>
            <a:off x="370423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3" name="Illustrative delivered road transport cost class 2; reference terminal Lesedi"/>
          <p:cNvSpPr/>
          <p:nvPr/>
        </p:nvSpPr>
        <p:spPr>
          <a:xfrm>
            <a:off x="370423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4" name="Illustrative delivered road transport cost class 2; reference terminal Lesedi"/>
          <p:cNvSpPr/>
          <p:nvPr/>
        </p:nvSpPr>
        <p:spPr>
          <a:xfrm>
            <a:off x="370423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5" name="Illustrative delivered road transport cost class 2; reference terminal Lesedi"/>
          <p:cNvSpPr/>
          <p:nvPr/>
        </p:nvSpPr>
        <p:spPr>
          <a:xfrm>
            <a:off x="370423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6" name="Illustrative delivered road transport cost class 2; reference terminal Lesedi"/>
          <p:cNvSpPr/>
          <p:nvPr/>
        </p:nvSpPr>
        <p:spPr>
          <a:xfrm>
            <a:off x="370423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7" name="Illustrative delivered road transport cost class 2; reference terminal Lesedi"/>
          <p:cNvSpPr/>
          <p:nvPr/>
        </p:nvSpPr>
        <p:spPr>
          <a:xfrm>
            <a:off x="370423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8" name="Illustrative delivered road transport cost class 2; reference terminal Lesedi"/>
          <p:cNvSpPr/>
          <p:nvPr/>
        </p:nvSpPr>
        <p:spPr>
          <a:xfrm>
            <a:off x="370423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9" name="Illustrative delivered road transport cost class 2; reference terminal Lesedi"/>
          <p:cNvSpPr/>
          <p:nvPr/>
        </p:nvSpPr>
        <p:spPr>
          <a:xfrm>
            <a:off x="370423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0" name="Illustrative delivered road transport cost class 2; reference terminal Lesedi"/>
          <p:cNvSpPr/>
          <p:nvPr/>
        </p:nvSpPr>
        <p:spPr>
          <a:xfrm>
            <a:off x="370423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1" name="Illustrative delivered road transport cost class 2; reference terminal Lesedi"/>
          <p:cNvSpPr/>
          <p:nvPr/>
        </p:nvSpPr>
        <p:spPr>
          <a:xfrm>
            <a:off x="370423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2" name="Illustrative delivered road transport cost class 2; reference terminal Lesedi"/>
          <p:cNvSpPr/>
          <p:nvPr/>
        </p:nvSpPr>
        <p:spPr>
          <a:xfrm>
            <a:off x="370423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3" name="Illustrative delivered road transport cost class 1; reference terminal Lesedi"/>
          <p:cNvSpPr/>
          <p:nvPr/>
        </p:nvSpPr>
        <p:spPr>
          <a:xfrm>
            <a:off x="370423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4" name="Illustrative delivered road transport cost class 1; reference terminal Lesedi"/>
          <p:cNvSpPr/>
          <p:nvPr/>
        </p:nvSpPr>
        <p:spPr>
          <a:xfrm>
            <a:off x="370423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5" name="Illustrative delivered road transport cost class 1; reference terminal Lesedi"/>
          <p:cNvSpPr/>
          <p:nvPr/>
        </p:nvSpPr>
        <p:spPr>
          <a:xfrm>
            <a:off x="370423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6" name="Illustrative delivered road transport cost class 1; reference terminal Lesedi"/>
          <p:cNvSpPr/>
          <p:nvPr/>
        </p:nvSpPr>
        <p:spPr>
          <a:xfrm>
            <a:off x="370423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7" name="Illustrative delivered road transport cost class 1; reference terminal Lesedi"/>
          <p:cNvSpPr/>
          <p:nvPr/>
        </p:nvSpPr>
        <p:spPr>
          <a:xfrm>
            <a:off x="370423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8" name="Illustrative delivered road transport cost class 1; reference terminal Lesedi"/>
          <p:cNvSpPr/>
          <p:nvPr/>
        </p:nvSpPr>
        <p:spPr>
          <a:xfrm>
            <a:off x="370423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9" name="Illustrative delivered road transport cost class 1; reference terminal Lesedi"/>
          <p:cNvSpPr/>
          <p:nvPr/>
        </p:nvSpPr>
        <p:spPr>
          <a:xfrm>
            <a:off x="370423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0" name="Illustrative delivered road transport cost class 1; reference terminal Lesedi"/>
          <p:cNvSpPr/>
          <p:nvPr/>
        </p:nvSpPr>
        <p:spPr>
          <a:xfrm>
            <a:off x="370423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1" name="Illustrative delivered road transport cost class 1; reference terminal Lesedi"/>
          <p:cNvSpPr/>
          <p:nvPr/>
        </p:nvSpPr>
        <p:spPr>
          <a:xfrm>
            <a:off x="370423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2" name="Illustrative delivered road transport cost class 1; reference terminal Lesedi"/>
          <p:cNvSpPr/>
          <p:nvPr/>
        </p:nvSpPr>
        <p:spPr>
          <a:xfrm>
            <a:off x="370423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3" name="Illustrative delivered road transport cost class 1; reference terminal Lesedi"/>
          <p:cNvSpPr/>
          <p:nvPr/>
        </p:nvSpPr>
        <p:spPr>
          <a:xfrm>
            <a:off x="370423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4" name="Illustrative delivered road transport cost class 2; reference terminal Lesedi"/>
          <p:cNvSpPr/>
          <p:nvPr/>
        </p:nvSpPr>
        <p:spPr>
          <a:xfrm>
            <a:off x="370423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5" name="Illustrative delivered road transport cost class 2; reference terminal Lesedi"/>
          <p:cNvSpPr/>
          <p:nvPr/>
        </p:nvSpPr>
        <p:spPr>
          <a:xfrm>
            <a:off x="370423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6" name="Illustrative delivered road transport cost class 2; reference terminal Lesedi"/>
          <p:cNvSpPr/>
          <p:nvPr/>
        </p:nvSpPr>
        <p:spPr>
          <a:xfrm>
            <a:off x="370423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7" name="Illustrative delivered road transport cost class 1; reference terminal Lesedi"/>
          <p:cNvSpPr/>
          <p:nvPr/>
        </p:nvSpPr>
        <p:spPr>
          <a:xfrm>
            <a:off x="370423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8" name="Illustrative delivered road transport cost class 1; reference terminal Lesedi"/>
          <p:cNvSpPr/>
          <p:nvPr/>
        </p:nvSpPr>
        <p:spPr>
          <a:xfrm>
            <a:off x="3704235" y="3225550"/>
            <a:ext cx="57686" cy="22906"/>
          </a:xfrm>
          <a:custGeom>
            <a:avLst/>
            <a:gdLst/>
            <a:ahLst/>
            <a:cxnLst/>
            <a:rect l="l" t="t" r="r" b="b"/>
            <a:pathLst>
              <a:path w="57686" h="22906">
                <a:moveTo>
                  <a:pt x="57686" y="22906"/>
                </a:moveTo>
                <a:lnTo>
                  <a:pt x="0" y="22906"/>
                </a:lnTo>
                <a:lnTo>
                  <a:pt x="0" y="634"/>
                </a:lnTo>
                <a:lnTo>
                  <a:pt x="21416" y="0"/>
                </a:lnTo>
                <a:lnTo>
                  <a:pt x="49412" y="1258"/>
                </a:lnTo>
                <a:lnTo>
                  <a:pt x="57686" y="156"/>
                </a:lnTo>
                <a:lnTo>
                  <a:pt x="57686" y="2290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9" name="Illustrative delivered road transport cost class 2; reference terminal Durban"/>
          <p:cNvSpPr/>
          <p:nvPr/>
        </p:nvSpPr>
        <p:spPr>
          <a:xfrm>
            <a:off x="3761921" y="5325173"/>
            <a:ext cx="57687" cy="18354"/>
          </a:xfrm>
          <a:custGeom>
            <a:avLst/>
            <a:gdLst/>
            <a:ahLst/>
            <a:cxnLst/>
            <a:rect l="l" t="t" r="r" b="b"/>
            <a:pathLst>
              <a:path w="57687" h="18354">
                <a:moveTo>
                  <a:pt x="0" y="0"/>
                </a:moveTo>
                <a:lnTo>
                  <a:pt x="57687" y="0"/>
                </a:lnTo>
                <a:lnTo>
                  <a:pt x="57687" y="18354"/>
                </a:lnTo>
                <a:lnTo>
                  <a:pt x="44123" y="17079"/>
                </a:lnTo>
                <a:lnTo>
                  <a:pt x="0" y="536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0" name="Illustrative delivered road transport cost class 2; reference terminal Durban"/>
          <p:cNvSpPr/>
          <p:nvPr/>
        </p:nvSpPr>
        <p:spPr>
          <a:xfrm>
            <a:off x="376192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1" name="Illustrative delivered road transport cost class 3; reference terminal Durban"/>
          <p:cNvSpPr/>
          <p:nvPr/>
        </p:nvSpPr>
        <p:spPr>
          <a:xfrm>
            <a:off x="376192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2" name="Illustrative delivered road transport cost class 3; reference terminal Durban"/>
          <p:cNvSpPr/>
          <p:nvPr/>
        </p:nvSpPr>
        <p:spPr>
          <a:xfrm>
            <a:off x="376192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3" name="Illustrative delivered road transport cost class 3; reference terminal Durban"/>
          <p:cNvSpPr/>
          <p:nvPr/>
        </p:nvSpPr>
        <p:spPr>
          <a:xfrm>
            <a:off x="376192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4" name="Illustrative delivered road transport cost class 3; reference terminal Lesedi"/>
          <p:cNvSpPr/>
          <p:nvPr/>
        </p:nvSpPr>
        <p:spPr>
          <a:xfrm>
            <a:off x="376192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5" name="Illustrative delivered road transport cost class 3; reference terminal Lesedi"/>
          <p:cNvSpPr/>
          <p:nvPr/>
        </p:nvSpPr>
        <p:spPr>
          <a:xfrm>
            <a:off x="376192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6" name="Illustrative delivered road transport cost class 3; reference terminal Lesedi"/>
          <p:cNvSpPr/>
          <p:nvPr/>
        </p:nvSpPr>
        <p:spPr>
          <a:xfrm>
            <a:off x="376192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7" name="Illustrative delivered road transport cost class 3; reference terminal Lesedi"/>
          <p:cNvSpPr/>
          <p:nvPr/>
        </p:nvSpPr>
        <p:spPr>
          <a:xfrm>
            <a:off x="376192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8" name="Illustrative delivered road transport cost class 3; reference terminal Lesedi"/>
          <p:cNvSpPr/>
          <p:nvPr/>
        </p:nvSpPr>
        <p:spPr>
          <a:xfrm>
            <a:off x="376192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9" name="Illustrative delivered road transport cost class 3; reference terminal Lesedi"/>
          <p:cNvSpPr/>
          <p:nvPr/>
        </p:nvSpPr>
        <p:spPr>
          <a:xfrm>
            <a:off x="376192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0" name="Illustrative delivered road transport cost class 2; reference terminal Lesedi"/>
          <p:cNvSpPr/>
          <p:nvPr/>
        </p:nvSpPr>
        <p:spPr>
          <a:xfrm>
            <a:off x="376192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1" name="Illustrative delivered road transport cost class 2; reference terminal Lesedi"/>
          <p:cNvSpPr/>
          <p:nvPr/>
        </p:nvSpPr>
        <p:spPr>
          <a:xfrm>
            <a:off x="376192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2" name="Illustrative delivered road transport cost class 2; reference terminal Lesedi"/>
          <p:cNvSpPr/>
          <p:nvPr/>
        </p:nvSpPr>
        <p:spPr>
          <a:xfrm>
            <a:off x="376192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3" name="Illustrative delivered road transport cost class 2; reference terminal Lesedi"/>
          <p:cNvSpPr/>
          <p:nvPr/>
        </p:nvSpPr>
        <p:spPr>
          <a:xfrm>
            <a:off x="376192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4" name="Illustrative delivered road transport cost class 2; reference terminal Lesedi"/>
          <p:cNvSpPr/>
          <p:nvPr/>
        </p:nvSpPr>
        <p:spPr>
          <a:xfrm>
            <a:off x="376192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5" name="Illustrative delivered road transport cost class 2; reference terminal Lesedi"/>
          <p:cNvSpPr/>
          <p:nvPr/>
        </p:nvSpPr>
        <p:spPr>
          <a:xfrm>
            <a:off x="376192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6" name="Illustrative delivered road transport cost class 2; reference terminal Lesedi"/>
          <p:cNvSpPr/>
          <p:nvPr/>
        </p:nvSpPr>
        <p:spPr>
          <a:xfrm>
            <a:off x="376192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7" name="Illustrative delivered road transport cost class 2; reference terminal Lesedi"/>
          <p:cNvSpPr/>
          <p:nvPr/>
        </p:nvSpPr>
        <p:spPr>
          <a:xfrm>
            <a:off x="376192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8" name="Illustrative delivered road transport cost class 2; reference terminal Lesedi"/>
          <p:cNvSpPr/>
          <p:nvPr/>
        </p:nvSpPr>
        <p:spPr>
          <a:xfrm>
            <a:off x="376192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9" name="Illustrative delivered road transport cost class 1; reference terminal Lesedi"/>
          <p:cNvSpPr/>
          <p:nvPr/>
        </p:nvSpPr>
        <p:spPr>
          <a:xfrm>
            <a:off x="376192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0" name="Illustrative delivered road transport cost class 1; reference terminal Lesedi"/>
          <p:cNvSpPr/>
          <p:nvPr/>
        </p:nvSpPr>
        <p:spPr>
          <a:xfrm>
            <a:off x="376192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1" name="Illustrative delivered road transport cost class 1; reference terminal Lesedi"/>
          <p:cNvSpPr/>
          <p:nvPr/>
        </p:nvSpPr>
        <p:spPr>
          <a:xfrm>
            <a:off x="376192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2" name="Illustrative delivered road transport cost class 1; reference terminal Lesedi"/>
          <p:cNvSpPr/>
          <p:nvPr/>
        </p:nvSpPr>
        <p:spPr>
          <a:xfrm>
            <a:off x="376192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3" name="Illustrative delivered road transport cost class 1; reference terminal Lesedi"/>
          <p:cNvSpPr/>
          <p:nvPr/>
        </p:nvSpPr>
        <p:spPr>
          <a:xfrm>
            <a:off x="376192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4" name="Illustrative delivered road transport cost class 1; reference terminal Lesedi"/>
          <p:cNvSpPr/>
          <p:nvPr/>
        </p:nvSpPr>
        <p:spPr>
          <a:xfrm>
            <a:off x="376192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5" name="Illustrative delivered road transport cost class 1; reference terminal Lesedi"/>
          <p:cNvSpPr/>
          <p:nvPr/>
        </p:nvSpPr>
        <p:spPr>
          <a:xfrm>
            <a:off x="376192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6" name="Illustrative delivered road transport cost class 1; reference terminal Lesedi"/>
          <p:cNvSpPr/>
          <p:nvPr/>
        </p:nvSpPr>
        <p:spPr>
          <a:xfrm>
            <a:off x="376192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7" name="Illustrative delivered road transport cost class 1; reference terminal Lesedi"/>
          <p:cNvSpPr/>
          <p:nvPr/>
        </p:nvSpPr>
        <p:spPr>
          <a:xfrm>
            <a:off x="376192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8" name="Illustrative delivered road transport cost class 1; reference terminal Lesedi"/>
          <p:cNvSpPr/>
          <p:nvPr/>
        </p:nvSpPr>
        <p:spPr>
          <a:xfrm>
            <a:off x="376192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9" name="Illustrative delivered road transport cost class 1; reference terminal Lesedi"/>
          <p:cNvSpPr/>
          <p:nvPr/>
        </p:nvSpPr>
        <p:spPr>
          <a:xfrm>
            <a:off x="376192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0" name="Illustrative delivered road transport cost class 1; reference terminal Lesedi"/>
          <p:cNvSpPr/>
          <p:nvPr/>
        </p:nvSpPr>
        <p:spPr>
          <a:xfrm>
            <a:off x="376192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1" name="Illustrative delivered road transport cost class 1; reference terminal Lesedi"/>
          <p:cNvSpPr/>
          <p:nvPr/>
        </p:nvSpPr>
        <p:spPr>
          <a:xfrm>
            <a:off x="376192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2" name="Illustrative delivered road transport cost class 2; reference terminal Lesedi"/>
          <p:cNvSpPr/>
          <p:nvPr/>
        </p:nvSpPr>
        <p:spPr>
          <a:xfrm>
            <a:off x="376192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3" name="Illustrative delivered road transport cost class 2; reference terminal Lesedi"/>
          <p:cNvSpPr/>
          <p:nvPr/>
        </p:nvSpPr>
        <p:spPr>
          <a:xfrm>
            <a:off x="376192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4" name="Illustrative delivered road transport cost class 2; reference terminal Lesedi"/>
          <p:cNvSpPr/>
          <p:nvPr/>
        </p:nvSpPr>
        <p:spPr>
          <a:xfrm>
            <a:off x="376192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5" name="Illustrative delivered road transport cost class 1; reference terminal Lesedi"/>
          <p:cNvSpPr/>
          <p:nvPr/>
        </p:nvSpPr>
        <p:spPr>
          <a:xfrm>
            <a:off x="376192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6" name="Illustrative delivered road transport cost class 1; reference terminal Lesedi"/>
          <p:cNvSpPr/>
          <p:nvPr/>
        </p:nvSpPr>
        <p:spPr>
          <a:xfrm>
            <a:off x="3761921" y="3206715"/>
            <a:ext cx="57687" cy="41741"/>
          </a:xfrm>
          <a:custGeom>
            <a:avLst/>
            <a:gdLst/>
            <a:ahLst/>
            <a:cxnLst/>
            <a:rect l="l" t="t" r="r" b="b"/>
            <a:pathLst>
              <a:path w="57687" h="41741">
                <a:moveTo>
                  <a:pt x="57687" y="41741"/>
                </a:moveTo>
                <a:lnTo>
                  <a:pt x="0" y="41741"/>
                </a:lnTo>
                <a:lnTo>
                  <a:pt x="0" y="18991"/>
                </a:lnTo>
                <a:lnTo>
                  <a:pt x="22493" y="15996"/>
                </a:lnTo>
                <a:lnTo>
                  <a:pt x="45088" y="9556"/>
                </a:lnTo>
                <a:lnTo>
                  <a:pt x="57687" y="0"/>
                </a:lnTo>
                <a:lnTo>
                  <a:pt x="57687" y="41741"/>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7" name="Illustrative delivered road transport cost class 2; reference terminal Durban"/>
          <p:cNvSpPr/>
          <p:nvPr/>
        </p:nvSpPr>
        <p:spPr>
          <a:xfrm>
            <a:off x="3819608" y="5325173"/>
            <a:ext cx="21824" cy="19022"/>
          </a:xfrm>
          <a:custGeom>
            <a:avLst/>
            <a:gdLst/>
            <a:ahLst/>
            <a:cxnLst/>
            <a:rect l="l" t="t" r="r" b="b"/>
            <a:pathLst>
              <a:path w="21824" h="19022">
                <a:moveTo>
                  <a:pt x="0" y="0"/>
                </a:moveTo>
                <a:lnTo>
                  <a:pt x="21824" y="0"/>
                </a:lnTo>
                <a:lnTo>
                  <a:pt x="20794" y="12902"/>
                </a:lnTo>
                <a:lnTo>
                  <a:pt x="7112" y="19022"/>
                </a:lnTo>
                <a:lnTo>
                  <a:pt x="0" y="18354"/>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8" name="Illustrative delivered road transport cost class 2; reference terminal Durban"/>
          <p:cNvSpPr/>
          <p:nvPr/>
        </p:nvSpPr>
        <p:spPr>
          <a:xfrm>
            <a:off x="3819608" y="5267486"/>
            <a:ext cx="57686" cy="57687"/>
          </a:xfrm>
          <a:custGeom>
            <a:avLst/>
            <a:gdLst/>
            <a:ahLst/>
            <a:cxnLst/>
            <a:rect l="l" t="t" r="r" b="b"/>
            <a:pathLst>
              <a:path w="57686" h="57687">
                <a:moveTo>
                  <a:pt x="0" y="57687"/>
                </a:moveTo>
                <a:lnTo>
                  <a:pt x="0" y="0"/>
                </a:lnTo>
                <a:lnTo>
                  <a:pt x="57686" y="0"/>
                </a:lnTo>
                <a:lnTo>
                  <a:pt x="57686" y="657"/>
                </a:lnTo>
                <a:lnTo>
                  <a:pt x="57101" y="750"/>
                </a:lnTo>
                <a:lnTo>
                  <a:pt x="24090" y="29307"/>
                </a:lnTo>
                <a:lnTo>
                  <a:pt x="21824"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9" name="Illustrative delivered road transport cost class 2; reference terminal Durban"/>
          <p:cNvSpPr/>
          <p:nvPr/>
        </p:nvSpPr>
        <p:spPr>
          <a:xfrm>
            <a:off x="3819608"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0" name="Illustrative delivered road transport cost class 2; reference terminal Durban"/>
          <p:cNvSpPr/>
          <p:nvPr/>
        </p:nvSpPr>
        <p:spPr>
          <a:xfrm>
            <a:off x="3819608"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1" name="Illustrative delivered road transport cost class 3; reference terminal Durban"/>
          <p:cNvSpPr/>
          <p:nvPr/>
        </p:nvSpPr>
        <p:spPr>
          <a:xfrm>
            <a:off x="3819608"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2" name="Illustrative delivered road transport cost class 3; reference terminal Lesedi"/>
          <p:cNvSpPr/>
          <p:nvPr/>
        </p:nvSpPr>
        <p:spPr>
          <a:xfrm>
            <a:off x="3819608"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3" name="Illustrative delivered road transport cost class 3; reference terminal Lesedi"/>
          <p:cNvSpPr/>
          <p:nvPr/>
        </p:nvSpPr>
        <p:spPr>
          <a:xfrm>
            <a:off x="3819608"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4" name="Illustrative delivered road transport cost class 3; reference terminal Lesedi"/>
          <p:cNvSpPr/>
          <p:nvPr/>
        </p:nvSpPr>
        <p:spPr>
          <a:xfrm>
            <a:off x="3819608"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5" name="Illustrative delivered road transport cost class 3; reference terminal Lesedi"/>
          <p:cNvSpPr/>
          <p:nvPr/>
        </p:nvSpPr>
        <p:spPr>
          <a:xfrm>
            <a:off x="3819608"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6" name="Illustrative delivered road transport cost class 3; reference terminal Lesedi"/>
          <p:cNvSpPr/>
          <p:nvPr/>
        </p:nvSpPr>
        <p:spPr>
          <a:xfrm>
            <a:off x="3819608"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7" name="Illustrative delivered road transport cost class 3; reference terminal Lesedi"/>
          <p:cNvSpPr/>
          <p:nvPr/>
        </p:nvSpPr>
        <p:spPr>
          <a:xfrm>
            <a:off x="3819608"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8" name="Illustrative delivered road transport cost class 3; reference terminal Lesedi"/>
          <p:cNvSpPr/>
          <p:nvPr/>
        </p:nvSpPr>
        <p:spPr>
          <a:xfrm>
            <a:off x="3819608"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9" name="Illustrative delivered road transport cost class 2; reference terminal Lesedi"/>
          <p:cNvSpPr/>
          <p:nvPr/>
        </p:nvSpPr>
        <p:spPr>
          <a:xfrm>
            <a:off x="3819608"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0" name="Illustrative delivered road transport cost class 2; reference terminal Lesedi"/>
          <p:cNvSpPr/>
          <p:nvPr/>
        </p:nvSpPr>
        <p:spPr>
          <a:xfrm>
            <a:off x="3819608"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1" name="Illustrative delivered road transport cost class 2; reference terminal Lesedi"/>
          <p:cNvSpPr/>
          <p:nvPr/>
        </p:nvSpPr>
        <p:spPr>
          <a:xfrm>
            <a:off x="3819608"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2" name="Illustrative delivered road transport cost class 2; reference terminal Lesedi"/>
          <p:cNvSpPr/>
          <p:nvPr/>
        </p:nvSpPr>
        <p:spPr>
          <a:xfrm>
            <a:off x="3819608"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3" name="Illustrative delivered road transport cost class 2; reference terminal Lesedi"/>
          <p:cNvSpPr/>
          <p:nvPr/>
        </p:nvSpPr>
        <p:spPr>
          <a:xfrm>
            <a:off x="3819608"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4" name="Illustrative delivered road transport cost class 2; reference terminal Lesedi"/>
          <p:cNvSpPr/>
          <p:nvPr/>
        </p:nvSpPr>
        <p:spPr>
          <a:xfrm>
            <a:off x="381960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5" name="Illustrative delivered road transport cost class 1; reference terminal Lesedi"/>
          <p:cNvSpPr/>
          <p:nvPr/>
        </p:nvSpPr>
        <p:spPr>
          <a:xfrm>
            <a:off x="381960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6" name="Illustrative delivered road transport cost class 1; reference terminal Lesedi"/>
          <p:cNvSpPr/>
          <p:nvPr/>
        </p:nvSpPr>
        <p:spPr>
          <a:xfrm>
            <a:off x="381960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7" name="Illustrative delivered road transport cost class 1; reference terminal Lesedi"/>
          <p:cNvSpPr/>
          <p:nvPr/>
        </p:nvSpPr>
        <p:spPr>
          <a:xfrm>
            <a:off x="381960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8" name="Illustrative delivered road transport cost class 1; reference terminal Lesedi"/>
          <p:cNvSpPr/>
          <p:nvPr/>
        </p:nvSpPr>
        <p:spPr>
          <a:xfrm>
            <a:off x="381960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9" name="Illustrative delivered road transport cost class 1; reference terminal Lesedi"/>
          <p:cNvSpPr/>
          <p:nvPr/>
        </p:nvSpPr>
        <p:spPr>
          <a:xfrm>
            <a:off x="381960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0" name="Illustrative delivered road transport cost class 1; reference terminal Lesedi"/>
          <p:cNvSpPr/>
          <p:nvPr/>
        </p:nvSpPr>
        <p:spPr>
          <a:xfrm>
            <a:off x="3819608"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1" name="Illustrative delivered road transport cost class 1; reference terminal Lesedi"/>
          <p:cNvSpPr/>
          <p:nvPr/>
        </p:nvSpPr>
        <p:spPr>
          <a:xfrm>
            <a:off x="3819608"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2" name="Illustrative delivered road transport cost class 1; reference terminal Lesedi"/>
          <p:cNvSpPr/>
          <p:nvPr/>
        </p:nvSpPr>
        <p:spPr>
          <a:xfrm>
            <a:off x="3819608"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3" name="Illustrative delivered road transport cost class 1; reference terminal Lesedi"/>
          <p:cNvSpPr/>
          <p:nvPr/>
        </p:nvSpPr>
        <p:spPr>
          <a:xfrm>
            <a:off x="3819608"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4" name="Illustrative delivered road transport cost class 1; reference terminal Lesedi"/>
          <p:cNvSpPr/>
          <p:nvPr/>
        </p:nvSpPr>
        <p:spPr>
          <a:xfrm>
            <a:off x="3819608"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5" name="Illustrative delivered road transport cost class 1; reference terminal Lesedi"/>
          <p:cNvSpPr/>
          <p:nvPr/>
        </p:nvSpPr>
        <p:spPr>
          <a:xfrm>
            <a:off x="3819608"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6" name="Illustrative delivered road transport cost class 1; reference terminal Lesedi"/>
          <p:cNvSpPr/>
          <p:nvPr/>
        </p:nvSpPr>
        <p:spPr>
          <a:xfrm>
            <a:off x="3819608"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7" name="Illustrative delivered road transport cost class 1; reference terminal Lesedi"/>
          <p:cNvSpPr/>
          <p:nvPr/>
        </p:nvSpPr>
        <p:spPr>
          <a:xfrm>
            <a:off x="3819608"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8" name="Illustrative delivered road transport cost class 1; reference terminal Lesedi"/>
          <p:cNvSpPr/>
          <p:nvPr/>
        </p:nvSpPr>
        <p:spPr>
          <a:xfrm>
            <a:off x="3819608"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9" name="Illustrative delivered road transport cost class 1; reference terminal Lesedi"/>
          <p:cNvSpPr/>
          <p:nvPr/>
        </p:nvSpPr>
        <p:spPr>
          <a:xfrm>
            <a:off x="3819608"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0" name="Illustrative delivered road transport cost class 1; reference terminal Lesedi"/>
          <p:cNvSpPr/>
          <p:nvPr/>
        </p:nvSpPr>
        <p:spPr>
          <a:xfrm>
            <a:off x="3819608"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1" name="Illustrative delivered road transport cost class 3; reference terminal Lesedi"/>
          <p:cNvSpPr/>
          <p:nvPr/>
        </p:nvSpPr>
        <p:spPr>
          <a:xfrm>
            <a:off x="3819608"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2" name="Illustrative delivered road transport cost class 1; reference terminal Lesedi"/>
          <p:cNvSpPr/>
          <p:nvPr/>
        </p:nvSpPr>
        <p:spPr>
          <a:xfrm>
            <a:off x="3819608"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3" name="Illustrative delivered road transport cost class 1; reference terminal Lesedi"/>
          <p:cNvSpPr/>
          <p:nvPr/>
        </p:nvSpPr>
        <p:spPr>
          <a:xfrm>
            <a:off x="3819608"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4" name="Illustrative delivered road transport cost class 1; reference terminal Lesedi"/>
          <p:cNvSpPr/>
          <p:nvPr/>
        </p:nvSpPr>
        <p:spPr>
          <a:xfrm>
            <a:off x="3819608" y="3190770"/>
            <a:ext cx="57686" cy="57686"/>
          </a:xfrm>
          <a:custGeom>
            <a:avLst/>
            <a:gdLst/>
            <a:ahLst/>
            <a:cxnLst/>
            <a:rect l="l" t="t" r="r" b="b"/>
            <a:pathLst>
              <a:path w="57686" h="57686">
                <a:moveTo>
                  <a:pt x="57686" y="0"/>
                </a:moveTo>
                <a:lnTo>
                  <a:pt x="57686" y="57686"/>
                </a:lnTo>
                <a:lnTo>
                  <a:pt x="0" y="57686"/>
                </a:lnTo>
                <a:lnTo>
                  <a:pt x="0" y="15945"/>
                </a:lnTo>
                <a:lnTo>
                  <a:pt x="4715" y="12368"/>
                </a:lnTo>
                <a:lnTo>
                  <a:pt x="17853"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5" name="Illustrative delivered road transport cost class 1; reference terminal Lesedi"/>
          <p:cNvSpPr/>
          <p:nvPr/>
        </p:nvSpPr>
        <p:spPr>
          <a:xfrm>
            <a:off x="3837461" y="3133083"/>
            <a:ext cx="39833" cy="57687"/>
          </a:xfrm>
          <a:custGeom>
            <a:avLst/>
            <a:gdLst/>
            <a:ahLst/>
            <a:cxnLst/>
            <a:rect l="l" t="t" r="r" b="b"/>
            <a:pathLst>
              <a:path w="39833" h="57687">
                <a:moveTo>
                  <a:pt x="39833" y="0"/>
                </a:moveTo>
                <a:lnTo>
                  <a:pt x="39833" y="57687"/>
                </a:lnTo>
                <a:lnTo>
                  <a:pt x="0" y="57687"/>
                </a:lnTo>
                <a:lnTo>
                  <a:pt x="2137" y="55675"/>
                </a:lnTo>
                <a:lnTo>
                  <a:pt x="19837" y="12745"/>
                </a:lnTo>
                <a:lnTo>
                  <a:pt x="23626" y="0"/>
                </a:lnTo>
                <a:lnTo>
                  <a:pt x="39833"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6" name="Illustrative delivered road transport cost class 1; reference terminal Lesedi"/>
          <p:cNvSpPr/>
          <p:nvPr/>
        </p:nvSpPr>
        <p:spPr>
          <a:xfrm>
            <a:off x="3861087" y="3086937"/>
            <a:ext cx="16207" cy="46146"/>
          </a:xfrm>
          <a:custGeom>
            <a:avLst/>
            <a:gdLst/>
            <a:ahLst/>
            <a:cxnLst/>
            <a:rect l="l" t="t" r="r" b="b"/>
            <a:pathLst>
              <a:path w="16207" h="46146">
                <a:moveTo>
                  <a:pt x="16207" y="46146"/>
                </a:moveTo>
                <a:lnTo>
                  <a:pt x="0" y="46146"/>
                </a:lnTo>
                <a:lnTo>
                  <a:pt x="6489" y="24315"/>
                </a:lnTo>
                <a:lnTo>
                  <a:pt x="16207" y="0"/>
                </a:lnTo>
                <a:lnTo>
                  <a:pt x="16207" y="4614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7" name="Illustrative delivered road transport cost class 2; reference terminal Durban"/>
          <p:cNvSpPr/>
          <p:nvPr/>
        </p:nvSpPr>
        <p:spPr>
          <a:xfrm>
            <a:off x="3877294" y="5209799"/>
            <a:ext cx="57687" cy="57687"/>
          </a:xfrm>
          <a:custGeom>
            <a:avLst/>
            <a:gdLst/>
            <a:ahLst/>
            <a:cxnLst/>
            <a:rect l="l" t="t" r="r" b="b"/>
            <a:pathLst>
              <a:path w="57687" h="57687">
                <a:moveTo>
                  <a:pt x="0" y="57687"/>
                </a:moveTo>
                <a:lnTo>
                  <a:pt x="0" y="0"/>
                </a:lnTo>
                <a:lnTo>
                  <a:pt x="57687" y="0"/>
                </a:lnTo>
                <a:lnTo>
                  <a:pt x="57687" y="54833"/>
                </a:lnTo>
                <a:lnTo>
                  <a:pt x="38789" y="52153"/>
                </a:lnTo>
                <a:lnTo>
                  <a:pt x="4115"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8" name="Illustrative delivered road transport cost class 2; reference terminal Durban"/>
          <p:cNvSpPr/>
          <p:nvPr/>
        </p:nvSpPr>
        <p:spPr>
          <a:xfrm>
            <a:off x="387729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9" name="Illustrative delivered road transport cost class 2; reference terminal Durban"/>
          <p:cNvSpPr/>
          <p:nvPr/>
        </p:nvSpPr>
        <p:spPr>
          <a:xfrm>
            <a:off x="387729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0" name="Illustrative delivered road transport cost class 2; reference terminal Durban"/>
          <p:cNvSpPr/>
          <p:nvPr/>
        </p:nvSpPr>
        <p:spPr>
          <a:xfrm>
            <a:off x="387729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1" name="Illustrative delivered road transport cost class 3; reference terminal Lesedi"/>
          <p:cNvSpPr/>
          <p:nvPr/>
        </p:nvSpPr>
        <p:spPr>
          <a:xfrm>
            <a:off x="387729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2" name="Illustrative delivered road transport cost class 3; reference terminal Lesedi"/>
          <p:cNvSpPr/>
          <p:nvPr/>
        </p:nvSpPr>
        <p:spPr>
          <a:xfrm>
            <a:off x="387729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3" name="Illustrative delivered road transport cost class 2; reference terminal Durban"/>
          <p:cNvSpPr/>
          <p:nvPr/>
        </p:nvSpPr>
        <p:spPr>
          <a:xfrm>
            <a:off x="387729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4" name="Illustrative delivered road transport cost class 2; reference terminal Durban"/>
          <p:cNvSpPr/>
          <p:nvPr/>
        </p:nvSpPr>
        <p:spPr>
          <a:xfrm>
            <a:off x="387729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5" name="Illustrative delivered road transport cost class 2; reference terminal Durban"/>
          <p:cNvSpPr/>
          <p:nvPr/>
        </p:nvSpPr>
        <p:spPr>
          <a:xfrm>
            <a:off x="387729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 name="Illustrative delivered road transport cost class 2; reference terminal Durban"/>
          <p:cNvSpPr/>
          <p:nvPr/>
        </p:nvSpPr>
        <p:spPr>
          <a:xfrm>
            <a:off x="387729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 name="Illustrative delivered road transport cost class 2; reference terminal Lesedi"/>
          <p:cNvSpPr/>
          <p:nvPr/>
        </p:nvSpPr>
        <p:spPr>
          <a:xfrm>
            <a:off x="387729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8" name="Illustrative delivered road transport cost class 2; reference terminal Lesedi"/>
          <p:cNvSpPr/>
          <p:nvPr/>
        </p:nvSpPr>
        <p:spPr>
          <a:xfrm>
            <a:off x="387729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9" name="Illustrative delivered road transport cost class 2; reference terminal Lesedi"/>
          <p:cNvSpPr/>
          <p:nvPr/>
        </p:nvSpPr>
        <p:spPr>
          <a:xfrm>
            <a:off x="387729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0" name="Illustrative delivered road transport cost class 2; reference terminal Lesedi"/>
          <p:cNvSpPr/>
          <p:nvPr/>
        </p:nvSpPr>
        <p:spPr>
          <a:xfrm>
            <a:off x="387729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1" name="Illustrative delivered road transport cost class 2; reference terminal Lesedi"/>
          <p:cNvSpPr/>
          <p:nvPr/>
        </p:nvSpPr>
        <p:spPr>
          <a:xfrm>
            <a:off x="387729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2" name="Illustrative delivered road transport cost class 2; reference terminal Lesedi"/>
          <p:cNvSpPr/>
          <p:nvPr/>
        </p:nvSpPr>
        <p:spPr>
          <a:xfrm>
            <a:off x="387729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3" name="Illustrative delivered road transport cost class 1; reference terminal Lesedi"/>
          <p:cNvSpPr/>
          <p:nvPr/>
        </p:nvSpPr>
        <p:spPr>
          <a:xfrm>
            <a:off x="387729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4" name="Illustrative delivered road transport cost class 1; reference terminal Lesedi"/>
          <p:cNvSpPr/>
          <p:nvPr/>
        </p:nvSpPr>
        <p:spPr>
          <a:xfrm>
            <a:off x="387729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5" name="Illustrative delivered road transport cost class 1; reference terminal Lesedi"/>
          <p:cNvSpPr/>
          <p:nvPr/>
        </p:nvSpPr>
        <p:spPr>
          <a:xfrm>
            <a:off x="387729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6" name="Illustrative delivered road transport cost class 1; reference terminal Lesedi"/>
          <p:cNvSpPr/>
          <p:nvPr/>
        </p:nvSpPr>
        <p:spPr>
          <a:xfrm>
            <a:off x="387729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7" name="Illustrative delivered road transport cost class 1; reference terminal Lesedi"/>
          <p:cNvSpPr/>
          <p:nvPr/>
        </p:nvSpPr>
        <p:spPr>
          <a:xfrm>
            <a:off x="387729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8" name="Illustrative delivered road transport cost class 1; reference terminal Lesedi"/>
          <p:cNvSpPr/>
          <p:nvPr/>
        </p:nvSpPr>
        <p:spPr>
          <a:xfrm>
            <a:off x="387729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9" name="Illustrative delivered road transport cost class 1; reference terminal Lesedi"/>
          <p:cNvSpPr/>
          <p:nvPr/>
        </p:nvSpPr>
        <p:spPr>
          <a:xfrm>
            <a:off x="387729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0" name="Illustrative delivered road transport cost class 1; reference terminal Lesedi"/>
          <p:cNvSpPr/>
          <p:nvPr/>
        </p:nvSpPr>
        <p:spPr>
          <a:xfrm>
            <a:off x="387729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1" name="Illustrative delivered road transport cost class 1; reference terminal Lesedi"/>
          <p:cNvSpPr/>
          <p:nvPr/>
        </p:nvSpPr>
        <p:spPr>
          <a:xfrm>
            <a:off x="387729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2" name="Illustrative delivered road transport cost class 1; reference terminal Lesedi"/>
          <p:cNvSpPr/>
          <p:nvPr/>
        </p:nvSpPr>
        <p:spPr>
          <a:xfrm>
            <a:off x="387729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3" name="Illustrative delivered road transport cost class 1; reference terminal Lesedi"/>
          <p:cNvSpPr/>
          <p:nvPr/>
        </p:nvSpPr>
        <p:spPr>
          <a:xfrm>
            <a:off x="387729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4" name="Illustrative delivered road transport cost class 1; reference terminal Lesedi"/>
          <p:cNvSpPr/>
          <p:nvPr/>
        </p:nvSpPr>
        <p:spPr>
          <a:xfrm>
            <a:off x="387729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5" name="Illustrative delivered road transport cost class 0; reference terminal Lesedi"/>
          <p:cNvSpPr/>
          <p:nvPr/>
        </p:nvSpPr>
        <p:spPr>
          <a:xfrm>
            <a:off x="387729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6" name="Illustrative delivered road transport cost class 0; reference terminal Lesedi"/>
          <p:cNvSpPr/>
          <p:nvPr/>
        </p:nvSpPr>
        <p:spPr>
          <a:xfrm>
            <a:off x="387729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7" name="Illustrative delivered road transport cost class 0; reference terminal Lesedi"/>
          <p:cNvSpPr/>
          <p:nvPr/>
        </p:nvSpPr>
        <p:spPr>
          <a:xfrm>
            <a:off x="387729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8" name="Illustrative delivered road transport cost class 0; reference terminal Lesedi"/>
          <p:cNvSpPr/>
          <p:nvPr/>
        </p:nvSpPr>
        <p:spPr>
          <a:xfrm>
            <a:off x="387729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9" name="Illustrative delivered road transport cost class 0; reference terminal Lesedi"/>
          <p:cNvSpPr/>
          <p:nvPr/>
        </p:nvSpPr>
        <p:spPr>
          <a:xfrm>
            <a:off x="387729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0" name="Illustrative delivered road transport cost class 1; reference terminal Lesedi"/>
          <p:cNvSpPr/>
          <p:nvPr/>
        </p:nvSpPr>
        <p:spPr>
          <a:xfrm>
            <a:off x="387729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1" name="Illustrative delivered road transport cost class 1; reference terminal Lesedi"/>
          <p:cNvSpPr/>
          <p:nvPr/>
        </p:nvSpPr>
        <p:spPr>
          <a:xfrm>
            <a:off x="387729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2" name="Illustrative delivered road transport cost class 1; reference terminal Lesedi"/>
          <p:cNvSpPr/>
          <p:nvPr/>
        </p:nvSpPr>
        <p:spPr>
          <a:xfrm>
            <a:off x="387729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3" name="Illustrative delivered road transport cost class 1; reference terminal Lesedi"/>
          <p:cNvSpPr/>
          <p:nvPr/>
        </p:nvSpPr>
        <p:spPr>
          <a:xfrm>
            <a:off x="387729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4" name="Illustrative delivered road transport cost class 1; reference terminal Lesedi"/>
          <p:cNvSpPr/>
          <p:nvPr/>
        </p:nvSpPr>
        <p:spPr>
          <a:xfrm>
            <a:off x="3877294" y="3075396"/>
            <a:ext cx="57687" cy="57687"/>
          </a:xfrm>
          <a:custGeom>
            <a:avLst/>
            <a:gdLst/>
            <a:ahLst/>
            <a:cxnLst/>
            <a:rect l="l" t="t" r="r" b="b"/>
            <a:pathLst>
              <a:path w="57687" h="57687">
                <a:moveTo>
                  <a:pt x="57687" y="0"/>
                </a:moveTo>
                <a:lnTo>
                  <a:pt x="57687" y="57687"/>
                </a:lnTo>
                <a:lnTo>
                  <a:pt x="0" y="57687"/>
                </a:lnTo>
                <a:lnTo>
                  <a:pt x="0" y="11541"/>
                </a:lnTo>
                <a:lnTo>
                  <a:pt x="461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5" name="Illustrative delivered road transport cost class 1; reference terminal Lesedi"/>
          <p:cNvSpPr/>
          <p:nvPr/>
        </p:nvSpPr>
        <p:spPr>
          <a:xfrm>
            <a:off x="3881907" y="3017710"/>
            <a:ext cx="53074" cy="57686"/>
          </a:xfrm>
          <a:custGeom>
            <a:avLst/>
            <a:gdLst/>
            <a:ahLst/>
            <a:cxnLst/>
            <a:rect l="l" t="t" r="r" b="b"/>
            <a:pathLst>
              <a:path w="53074" h="57686">
                <a:moveTo>
                  <a:pt x="53074" y="0"/>
                </a:moveTo>
                <a:lnTo>
                  <a:pt x="53074" y="57686"/>
                </a:lnTo>
                <a:lnTo>
                  <a:pt x="0" y="57686"/>
                </a:lnTo>
                <a:lnTo>
                  <a:pt x="1547" y="53815"/>
                </a:lnTo>
                <a:lnTo>
                  <a:pt x="21099" y="0"/>
                </a:lnTo>
                <a:lnTo>
                  <a:pt x="5307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6" name="Illustrative delivered road transport cost class 1; reference terminal Lesedi"/>
          <p:cNvSpPr/>
          <p:nvPr/>
        </p:nvSpPr>
        <p:spPr>
          <a:xfrm>
            <a:off x="3903006" y="2962694"/>
            <a:ext cx="31975" cy="55016"/>
          </a:xfrm>
          <a:custGeom>
            <a:avLst/>
            <a:gdLst/>
            <a:ahLst/>
            <a:cxnLst/>
            <a:rect l="l" t="t" r="r" b="b"/>
            <a:pathLst>
              <a:path w="31975" h="55016">
                <a:moveTo>
                  <a:pt x="31975" y="55016"/>
                </a:moveTo>
                <a:lnTo>
                  <a:pt x="0" y="55016"/>
                </a:lnTo>
                <a:lnTo>
                  <a:pt x="8" y="54996"/>
                </a:lnTo>
                <a:lnTo>
                  <a:pt x="7115" y="17425"/>
                </a:lnTo>
                <a:lnTo>
                  <a:pt x="14254" y="7124"/>
                </a:lnTo>
                <a:lnTo>
                  <a:pt x="31975" y="0"/>
                </a:lnTo>
                <a:lnTo>
                  <a:pt x="31975" y="5501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7" name="Illustrative delivered road transport cost class 2; reference terminal Durban"/>
          <p:cNvSpPr/>
          <p:nvPr/>
        </p:nvSpPr>
        <p:spPr>
          <a:xfrm>
            <a:off x="3955112" y="5267486"/>
            <a:ext cx="37555" cy="5325"/>
          </a:xfrm>
          <a:custGeom>
            <a:avLst/>
            <a:gdLst/>
            <a:ahLst/>
            <a:cxnLst/>
            <a:rect l="l" t="t" r="r" b="b"/>
            <a:pathLst>
              <a:path w="37555" h="5325">
                <a:moveTo>
                  <a:pt x="37555" y="0"/>
                </a:moveTo>
                <a:lnTo>
                  <a:pt x="37555" y="5325"/>
                </a:lnTo>
                <a:lnTo>
                  <a:pt x="0" y="0"/>
                </a:lnTo>
                <a:lnTo>
                  <a:pt x="37555"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8" name="Illustrative delivered road transport cost class 2; reference terminal Durban"/>
          <p:cNvSpPr/>
          <p:nvPr/>
        </p:nvSpPr>
        <p:spPr>
          <a:xfrm>
            <a:off x="3934981" y="5209799"/>
            <a:ext cx="57686" cy="57687"/>
          </a:xfrm>
          <a:custGeom>
            <a:avLst/>
            <a:gdLst/>
            <a:ahLst/>
            <a:cxnLst/>
            <a:rect l="l" t="t" r="r" b="b"/>
            <a:pathLst>
              <a:path w="57686" h="57687">
                <a:moveTo>
                  <a:pt x="0" y="0"/>
                </a:moveTo>
                <a:lnTo>
                  <a:pt x="57686" y="0"/>
                </a:lnTo>
                <a:lnTo>
                  <a:pt x="57686" y="57687"/>
                </a:lnTo>
                <a:lnTo>
                  <a:pt x="20131" y="57687"/>
                </a:lnTo>
                <a:lnTo>
                  <a:pt x="0" y="5483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9" name="Illustrative delivered road transport cost class 2; reference terminal Durban"/>
          <p:cNvSpPr/>
          <p:nvPr/>
        </p:nvSpPr>
        <p:spPr>
          <a:xfrm>
            <a:off x="3934981"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0" name="Illustrative delivered road transport cost class 2; reference terminal Durban"/>
          <p:cNvSpPr/>
          <p:nvPr/>
        </p:nvSpPr>
        <p:spPr>
          <a:xfrm>
            <a:off x="393498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1" name="Illustrative delivered road transport cost class 2; reference terminal Durban"/>
          <p:cNvSpPr/>
          <p:nvPr/>
        </p:nvSpPr>
        <p:spPr>
          <a:xfrm>
            <a:off x="393498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2" name="Illustrative delivered road transport cost class 3; reference terminal Lesedi"/>
          <p:cNvSpPr/>
          <p:nvPr/>
        </p:nvSpPr>
        <p:spPr>
          <a:xfrm>
            <a:off x="393498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3" name="Illustrative delivered road transport cost class 2; reference terminal Durban"/>
          <p:cNvSpPr/>
          <p:nvPr/>
        </p:nvSpPr>
        <p:spPr>
          <a:xfrm>
            <a:off x="393498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4" name="Illustrative delivered road transport cost class 2; reference terminal Durban"/>
          <p:cNvSpPr/>
          <p:nvPr/>
        </p:nvSpPr>
        <p:spPr>
          <a:xfrm>
            <a:off x="393498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5" name="Illustrative delivered road transport cost class 2; reference terminal Durban"/>
          <p:cNvSpPr/>
          <p:nvPr/>
        </p:nvSpPr>
        <p:spPr>
          <a:xfrm>
            <a:off x="393498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6" name="Illustrative delivered road transport cost class 2; reference terminal Durban"/>
          <p:cNvSpPr/>
          <p:nvPr/>
        </p:nvSpPr>
        <p:spPr>
          <a:xfrm>
            <a:off x="393498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7" name="Illustrative delivered road transport cost class 2; reference terminal Durban"/>
          <p:cNvSpPr/>
          <p:nvPr/>
        </p:nvSpPr>
        <p:spPr>
          <a:xfrm>
            <a:off x="393498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8" name="Illustrative delivered road transport cost class 2; reference terminal Lesedi"/>
          <p:cNvSpPr/>
          <p:nvPr/>
        </p:nvSpPr>
        <p:spPr>
          <a:xfrm>
            <a:off x="393498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9" name="Illustrative delivered road transport cost class 2; reference terminal Lesedi"/>
          <p:cNvSpPr/>
          <p:nvPr/>
        </p:nvSpPr>
        <p:spPr>
          <a:xfrm>
            <a:off x="393498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0" name="Illustrative delivered road transport cost class 2; reference terminal Lesedi"/>
          <p:cNvSpPr/>
          <p:nvPr/>
        </p:nvSpPr>
        <p:spPr>
          <a:xfrm>
            <a:off x="393498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1" name="Illustrative delivered road transport cost class 2; reference terminal Lesedi"/>
          <p:cNvSpPr/>
          <p:nvPr/>
        </p:nvSpPr>
        <p:spPr>
          <a:xfrm>
            <a:off x="393498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2" name="Illustrative delivered road transport cost class 2; reference terminal Lesedi"/>
          <p:cNvSpPr/>
          <p:nvPr/>
        </p:nvSpPr>
        <p:spPr>
          <a:xfrm>
            <a:off x="393498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3" name="Illustrative delivered road transport cost class 2; reference terminal Lesedi"/>
          <p:cNvSpPr/>
          <p:nvPr/>
        </p:nvSpPr>
        <p:spPr>
          <a:xfrm>
            <a:off x="393498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4" name="Illustrative delivered road transport cost class 1; reference terminal Lesedi"/>
          <p:cNvSpPr/>
          <p:nvPr/>
        </p:nvSpPr>
        <p:spPr>
          <a:xfrm>
            <a:off x="393498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5" name="Illustrative delivered road transport cost class 1; reference terminal Lesedi"/>
          <p:cNvSpPr/>
          <p:nvPr/>
        </p:nvSpPr>
        <p:spPr>
          <a:xfrm>
            <a:off x="393498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6" name="Illustrative delivered road transport cost class 1; reference terminal Lesedi"/>
          <p:cNvSpPr/>
          <p:nvPr/>
        </p:nvSpPr>
        <p:spPr>
          <a:xfrm>
            <a:off x="393498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7" name="Illustrative delivered road transport cost class 1; reference terminal Lesedi"/>
          <p:cNvSpPr/>
          <p:nvPr/>
        </p:nvSpPr>
        <p:spPr>
          <a:xfrm>
            <a:off x="393498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8" name="Illustrative delivered road transport cost class 1; reference terminal Lesedi"/>
          <p:cNvSpPr/>
          <p:nvPr/>
        </p:nvSpPr>
        <p:spPr>
          <a:xfrm>
            <a:off x="393498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9" name="Illustrative delivered road transport cost class 1; reference terminal Lesedi"/>
          <p:cNvSpPr/>
          <p:nvPr/>
        </p:nvSpPr>
        <p:spPr>
          <a:xfrm>
            <a:off x="393498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0" name="Illustrative delivered road transport cost class 1; reference terminal Lesedi"/>
          <p:cNvSpPr/>
          <p:nvPr/>
        </p:nvSpPr>
        <p:spPr>
          <a:xfrm>
            <a:off x="393498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1" name="Illustrative delivered road transport cost class 1; reference terminal Lesedi"/>
          <p:cNvSpPr/>
          <p:nvPr/>
        </p:nvSpPr>
        <p:spPr>
          <a:xfrm>
            <a:off x="393498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2" name="Illustrative delivered road transport cost class 1; reference terminal Lesedi"/>
          <p:cNvSpPr/>
          <p:nvPr/>
        </p:nvSpPr>
        <p:spPr>
          <a:xfrm>
            <a:off x="393498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3" name="Illustrative delivered road transport cost class 1; reference terminal Lesedi"/>
          <p:cNvSpPr/>
          <p:nvPr/>
        </p:nvSpPr>
        <p:spPr>
          <a:xfrm>
            <a:off x="393498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4" name="Illustrative delivered road transport cost class 1; reference terminal Lesedi"/>
          <p:cNvSpPr/>
          <p:nvPr/>
        </p:nvSpPr>
        <p:spPr>
          <a:xfrm>
            <a:off x="393498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5" name="Illustrative delivered road transport cost class 0; reference terminal Lesedi"/>
          <p:cNvSpPr/>
          <p:nvPr/>
        </p:nvSpPr>
        <p:spPr>
          <a:xfrm>
            <a:off x="393498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6" name="Illustrative delivered road transport cost class 0; reference terminal Lesedi"/>
          <p:cNvSpPr/>
          <p:nvPr/>
        </p:nvSpPr>
        <p:spPr>
          <a:xfrm>
            <a:off x="393498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7" name="Illustrative delivered road transport cost class 0; reference terminal Lesedi"/>
          <p:cNvSpPr/>
          <p:nvPr/>
        </p:nvSpPr>
        <p:spPr>
          <a:xfrm>
            <a:off x="393498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8" name="Illustrative delivered road transport cost class 0; reference terminal Lesedi"/>
          <p:cNvSpPr/>
          <p:nvPr/>
        </p:nvSpPr>
        <p:spPr>
          <a:xfrm>
            <a:off x="393498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9" name="Illustrative delivered road transport cost class 0; reference terminal Lesedi"/>
          <p:cNvSpPr/>
          <p:nvPr/>
        </p:nvSpPr>
        <p:spPr>
          <a:xfrm>
            <a:off x="393498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0" name="Illustrative delivered road transport cost class 0; reference terminal Lesedi"/>
          <p:cNvSpPr/>
          <p:nvPr/>
        </p:nvSpPr>
        <p:spPr>
          <a:xfrm>
            <a:off x="393498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1" name="Illustrative delivered road transport cost class 0; reference terminal Lesedi"/>
          <p:cNvSpPr/>
          <p:nvPr/>
        </p:nvSpPr>
        <p:spPr>
          <a:xfrm>
            <a:off x="393498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2" name="Illustrative delivered road transport cost class 1; reference terminal Lesedi"/>
          <p:cNvSpPr/>
          <p:nvPr/>
        </p:nvSpPr>
        <p:spPr>
          <a:xfrm>
            <a:off x="393498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3" name="Illustrative delivered road transport cost class 1; reference terminal Lesedi"/>
          <p:cNvSpPr/>
          <p:nvPr/>
        </p:nvSpPr>
        <p:spPr>
          <a:xfrm>
            <a:off x="393498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4" name="Illustrative delivered road transport cost class 1; reference terminal Lesedi"/>
          <p:cNvSpPr/>
          <p:nvPr/>
        </p:nvSpPr>
        <p:spPr>
          <a:xfrm>
            <a:off x="393498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5" name="Illustrative delivered road transport cost class 1; reference terminal Lesedi"/>
          <p:cNvSpPr/>
          <p:nvPr/>
        </p:nvSpPr>
        <p:spPr>
          <a:xfrm>
            <a:off x="393498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6" name="Illustrative delivered road transport cost class 1; reference terminal Lesedi"/>
          <p:cNvSpPr/>
          <p:nvPr/>
        </p:nvSpPr>
        <p:spPr>
          <a:xfrm>
            <a:off x="393498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7" name="Illustrative delivered road transport cost class 1; reference terminal Lesedi"/>
          <p:cNvSpPr/>
          <p:nvPr/>
        </p:nvSpPr>
        <p:spPr>
          <a:xfrm>
            <a:off x="3934981" y="2960023"/>
            <a:ext cx="57686" cy="57687"/>
          </a:xfrm>
          <a:custGeom>
            <a:avLst/>
            <a:gdLst/>
            <a:ahLst/>
            <a:cxnLst/>
            <a:rect l="l" t="t" r="r" b="b"/>
            <a:pathLst>
              <a:path w="57686" h="57687">
                <a:moveTo>
                  <a:pt x="57686" y="0"/>
                </a:moveTo>
                <a:lnTo>
                  <a:pt x="57686" y="57687"/>
                </a:lnTo>
                <a:lnTo>
                  <a:pt x="0" y="57687"/>
                </a:lnTo>
                <a:lnTo>
                  <a:pt x="0" y="2671"/>
                </a:lnTo>
                <a:lnTo>
                  <a:pt x="6641"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8" name="Illustrative delivered road transport cost class 1; reference terminal Lesedi"/>
          <p:cNvSpPr/>
          <p:nvPr/>
        </p:nvSpPr>
        <p:spPr>
          <a:xfrm>
            <a:off x="3941622" y="2945357"/>
            <a:ext cx="51045" cy="14666"/>
          </a:xfrm>
          <a:custGeom>
            <a:avLst/>
            <a:gdLst/>
            <a:ahLst/>
            <a:cxnLst/>
            <a:rect l="l" t="t" r="r" b="b"/>
            <a:pathLst>
              <a:path w="51045" h="14666">
                <a:moveTo>
                  <a:pt x="51045" y="14666"/>
                </a:moveTo>
                <a:lnTo>
                  <a:pt x="0" y="14666"/>
                </a:lnTo>
                <a:lnTo>
                  <a:pt x="3690" y="13183"/>
                </a:lnTo>
                <a:lnTo>
                  <a:pt x="26892" y="5479"/>
                </a:lnTo>
                <a:lnTo>
                  <a:pt x="51045" y="0"/>
                </a:lnTo>
                <a:lnTo>
                  <a:pt x="51045" y="1466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9" name="Illustrative delivered road transport cost class 2; reference terminal Durban"/>
          <p:cNvSpPr/>
          <p:nvPr/>
        </p:nvSpPr>
        <p:spPr>
          <a:xfrm>
            <a:off x="3992667" y="5267486"/>
            <a:ext cx="41532" cy="7796"/>
          </a:xfrm>
          <a:custGeom>
            <a:avLst/>
            <a:gdLst/>
            <a:ahLst/>
            <a:cxnLst/>
            <a:rect l="l" t="t" r="r" b="b"/>
            <a:pathLst>
              <a:path w="41532" h="7796">
                <a:moveTo>
                  <a:pt x="0" y="0"/>
                </a:moveTo>
                <a:lnTo>
                  <a:pt x="41532" y="0"/>
                </a:lnTo>
                <a:lnTo>
                  <a:pt x="17428" y="7796"/>
                </a:lnTo>
                <a:lnTo>
                  <a:pt x="0" y="5325"/>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0" name="Illustrative delivered road transport cost class 2; reference terminal Durban"/>
          <p:cNvSpPr/>
          <p:nvPr/>
        </p:nvSpPr>
        <p:spPr>
          <a:xfrm>
            <a:off x="3992667" y="5209799"/>
            <a:ext cx="57687" cy="57687"/>
          </a:xfrm>
          <a:custGeom>
            <a:avLst/>
            <a:gdLst/>
            <a:ahLst/>
            <a:cxnLst/>
            <a:rect l="l" t="t" r="r" b="b"/>
            <a:pathLst>
              <a:path w="57687" h="57687">
                <a:moveTo>
                  <a:pt x="0" y="57687"/>
                </a:moveTo>
                <a:lnTo>
                  <a:pt x="0" y="0"/>
                </a:lnTo>
                <a:lnTo>
                  <a:pt x="57687" y="0"/>
                </a:lnTo>
                <a:lnTo>
                  <a:pt x="57687" y="52373"/>
                </a:lnTo>
                <a:lnTo>
                  <a:pt x="57034" y="52673"/>
                </a:lnTo>
                <a:lnTo>
                  <a:pt x="4153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1" name="Illustrative delivered road transport cost class 2; reference terminal Durban"/>
          <p:cNvSpPr/>
          <p:nvPr/>
        </p:nvSpPr>
        <p:spPr>
          <a:xfrm>
            <a:off x="399266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2" name="Illustrative delivered road transport cost class 2; reference terminal Durban"/>
          <p:cNvSpPr/>
          <p:nvPr/>
        </p:nvSpPr>
        <p:spPr>
          <a:xfrm>
            <a:off x="399266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3" name="Illustrative delivered road transport cost class 2; reference terminal Durban"/>
          <p:cNvSpPr/>
          <p:nvPr/>
        </p:nvSpPr>
        <p:spPr>
          <a:xfrm>
            <a:off x="399266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4" name="Illustrative delivered road transport cost class 2; reference terminal Durban"/>
          <p:cNvSpPr/>
          <p:nvPr/>
        </p:nvSpPr>
        <p:spPr>
          <a:xfrm>
            <a:off x="399266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5" name="Illustrative delivered road transport cost class 2; reference terminal Durban"/>
          <p:cNvSpPr/>
          <p:nvPr/>
        </p:nvSpPr>
        <p:spPr>
          <a:xfrm>
            <a:off x="399266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6" name="Illustrative delivered road transport cost class 2; reference terminal Durban"/>
          <p:cNvSpPr/>
          <p:nvPr/>
        </p:nvSpPr>
        <p:spPr>
          <a:xfrm>
            <a:off x="399266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7" name="Illustrative delivered road transport cost class 2; reference terminal Durban"/>
          <p:cNvSpPr/>
          <p:nvPr/>
        </p:nvSpPr>
        <p:spPr>
          <a:xfrm>
            <a:off x="399266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8" name="Illustrative delivered road transport cost class 2; reference terminal Durban"/>
          <p:cNvSpPr/>
          <p:nvPr/>
        </p:nvSpPr>
        <p:spPr>
          <a:xfrm>
            <a:off x="399266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9" name="Illustrative delivered road transport cost class 2; reference terminal Lesedi"/>
          <p:cNvSpPr/>
          <p:nvPr/>
        </p:nvSpPr>
        <p:spPr>
          <a:xfrm>
            <a:off x="399266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0" name="Illustrative delivered road transport cost class 2; reference terminal Lesedi"/>
          <p:cNvSpPr/>
          <p:nvPr/>
        </p:nvSpPr>
        <p:spPr>
          <a:xfrm>
            <a:off x="399266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1" name="Illustrative delivered road transport cost class 2; reference terminal Lesedi"/>
          <p:cNvSpPr/>
          <p:nvPr/>
        </p:nvSpPr>
        <p:spPr>
          <a:xfrm>
            <a:off x="399266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2" name="Illustrative delivered road transport cost class 2; reference terminal Lesedi"/>
          <p:cNvSpPr/>
          <p:nvPr/>
        </p:nvSpPr>
        <p:spPr>
          <a:xfrm>
            <a:off x="399266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3" name="Illustrative delivered road transport cost class 2; reference terminal Lesedi"/>
          <p:cNvSpPr/>
          <p:nvPr/>
        </p:nvSpPr>
        <p:spPr>
          <a:xfrm>
            <a:off x="399266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4" name="Illustrative delivered road transport cost class 2; reference terminal Lesedi"/>
          <p:cNvSpPr/>
          <p:nvPr/>
        </p:nvSpPr>
        <p:spPr>
          <a:xfrm>
            <a:off x="399266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5" name="Illustrative delivered road transport cost class 2; reference terminal Lesedi"/>
          <p:cNvSpPr/>
          <p:nvPr/>
        </p:nvSpPr>
        <p:spPr>
          <a:xfrm>
            <a:off x="399266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6" name="Illustrative delivered road transport cost class 1; reference terminal Lesedi"/>
          <p:cNvSpPr/>
          <p:nvPr/>
        </p:nvSpPr>
        <p:spPr>
          <a:xfrm>
            <a:off x="399266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7" name="Illustrative delivered road transport cost class 1; reference terminal Lesedi"/>
          <p:cNvSpPr/>
          <p:nvPr/>
        </p:nvSpPr>
        <p:spPr>
          <a:xfrm>
            <a:off x="399266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8" name="Illustrative delivered road transport cost class 1; reference terminal Lesedi"/>
          <p:cNvSpPr/>
          <p:nvPr/>
        </p:nvSpPr>
        <p:spPr>
          <a:xfrm>
            <a:off x="399266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9" name="Illustrative delivered road transport cost class 1; reference terminal Lesedi"/>
          <p:cNvSpPr/>
          <p:nvPr/>
        </p:nvSpPr>
        <p:spPr>
          <a:xfrm>
            <a:off x="399266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0" name="Illustrative delivered road transport cost class 1; reference terminal Lesedi"/>
          <p:cNvSpPr/>
          <p:nvPr/>
        </p:nvSpPr>
        <p:spPr>
          <a:xfrm>
            <a:off x="399266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1" name="Illustrative delivered road transport cost class 1; reference terminal Lesedi"/>
          <p:cNvSpPr/>
          <p:nvPr/>
        </p:nvSpPr>
        <p:spPr>
          <a:xfrm>
            <a:off x="399266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2" name="Illustrative delivered road transport cost class 1; reference terminal Lesedi"/>
          <p:cNvSpPr/>
          <p:nvPr/>
        </p:nvSpPr>
        <p:spPr>
          <a:xfrm>
            <a:off x="399266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3" name="Illustrative delivered road transport cost class 1; reference terminal Lesedi"/>
          <p:cNvSpPr/>
          <p:nvPr/>
        </p:nvSpPr>
        <p:spPr>
          <a:xfrm>
            <a:off x="399266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4" name="Illustrative delivered road transport cost class 1; reference terminal Lesedi"/>
          <p:cNvSpPr/>
          <p:nvPr/>
        </p:nvSpPr>
        <p:spPr>
          <a:xfrm>
            <a:off x="399266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5" name="Illustrative delivered road transport cost class 1; reference terminal Lesedi"/>
          <p:cNvSpPr/>
          <p:nvPr/>
        </p:nvSpPr>
        <p:spPr>
          <a:xfrm>
            <a:off x="399266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6" name="Illustrative delivered road transport cost class 1; reference terminal Lesedi"/>
          <p:cNvSpPr/>
          <p:nvPr/>
        </p:nvSpPr>
        <p:spPr>
          <a:xfrm>
            <a:off x="399266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7" name="Illustrative delivered road transport cost class 0; reference terminal Lesedi"/>
          <p:cNvSpPr/>
          <p:nvPr/>
        </p:nvSpPr>
        <p:spPr>
          <a:xfrm>
            <a:off x="399266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8" name="Illustrative delivered road transport cost class 0; reference terminal Lesedi"/>
          <p:cNvSpPr/>
          <p:nvPr/>
        </p:nvSpPr>
        <p:spPr>
          <a:xfrm>
            <a:off x="399266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9" name="Illustrative delivered road transport cost class 0; reference terminal Lesedi"/>
          <p:cNvSpPr/>
          <p:nvPr/>
        </p:nvSpPr>
        <p:spPr>
          <a:xfrm>
            <a:off x="399266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0" name="Illustrative delivered road transport cost class 0; reference terminal Lesedi"/>
          <p:cNvSpPr/>
          <p:nvPr/>
        </p:nvSpPr>
        <p:spPr>
          <a:xfrm>
            <a:off x="399266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1" name="Illustrative delivered road transport cost class 0; reference terminal Lesedi"/>
          <p:cNvSpPr/>
          <p:nvPr/>
        </p:nvSpPr>
        <p:spPr>
          <a:xfrm>
            <a:off x="399266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2" name="Illustrative delivered road transport cost class 0; reference terminal Lesedi"/>
          <p:cNvSpPr/>
          <p:nvPr/>
        </p:nvSpPr>
        <p:spPr>
          <a:xfrm>
            <a:off x="399266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3" name="Illustrative delivered road transport cost class 0; reference terminal Lesedi"/>
          <p:cNvSpPr/>
          <p:nvPr/>
        </p:nvSpPr>
        <p:spPr>
          <a:xfrm>
            <a:off x="399266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4" name="Illustrative delivered road transport cost class 0; reference terminal Lesedi"/>
          <p:cNvSpPr/>
          <p:nvPr/>
        </p:nvSpPr>
        <p:spPr>
          <a:xfrm>
            <a:off x="399266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5" name="Illustrative delivered road transport cost class 0; reference terminal Lesedi"/>
          <p:cNvSpPr/>
          <p:nvPr/>
        </p:nvSpPr>
        <p:spPr>
          <a:xfrm>
            <a:off x="399266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6" name="Illustrative delivered road transport cost class 0; reference terminal Lesedi"/>
          <p:cNvSpPr/>
          <p:nvPr/>
        </p:nvSpPr>
        <p:spPr>
          <a:xfrm>
            <a:off x="399266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7" name="Illustrative delivered road transport cost class 0; reference terminal Lesedi"/>
          <p:cNvSpPr/>
          <p:nvPr/>
        </p:nvSpPr>
        <p:spPr>
          <a:xfrm>
            <a:off x="399266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8" name="Illustrative delivered road transport cost class 1; reference terminal Lesedi"/>
          <p:cNvSpPr/>
          <p:nvPr/>
        </p:nvSpPr>
        <p:spPr>
          <a:xfrm>
            <a:off x="399266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9" name="Illustrative delivered road transport cost class 1; reference terminal Lesedi"/>
          <p:cNvSpPr/>
          <p:nvPr/>
        </p:nvSpPr>
        <p:spPr>
          <a:xfrm>
            <a:off x="399266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0" name="Illustrative delivered road transport cost class 1; reference terminal Lesedi"/>
          <p:cNvSpPr/>
          <p:nvPr/>
        </p:nvSpPr>
        <p:spPr>
          <a:xfrm>
            <a:off x="3992667" y="2919144"/>
            <a:ext cx="57687" cy="40879"/>
          </a:xfrm>
          <a:custGeom>
            <a:avLst/>
            <a:gdLst/>
            <a:ahLst/>
            <a:cxnLst/>
            <a:rect l="l" t="t" r="r" b="b"/>
            <a:pathLst>
              <a:path w="57687" h="40879">
                <a:moveTo>
                  <a:pt x="57687" y="40879"/>
                </a:moveTo>
                <a:lnTo>
                  <a:pt x="0" y="40879"/>
                </a:lnTo>
                <a:lnTo>
                  <a:pt x="0" y="26213"/>
                </a:lnTo>
                <a:lnTo>
                  <a:pt x="38235" y="17540"/>
                </a:lnTo>
                <a:lnTo>
                  <a:pt x="51084" y="9806"/>
                </a:lnTo>
                <a:lnTo>
                  <a:pt x="57687" y="0"/>
                </a:lnTo>
                <a:lnTo>
                  <a:pt x="57687" y="4087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1" name="Illustrative delivered road transport cost class 2; reference terminal Durban"/>
          <p:cNvSpPr/>
          <p:nvPr/>
        </p:nvSpPr>
        <p:spPr>
          <a:xfrm>
            <a:off x="4050354" y="5209799"/>
            <a:ext cx="57687" cy="52373"/>
          </a:xfrm>
          <a:custGeom>
            <a:avLst/>
            <a:gdLst/>
            <a:ahLst/>
            <a:cxnLst/>
            <a:rect l="l" t="t" r="r" b="b"/>
            <a:pathLst>
              <a:path w="57687" h="52373">
                <a:moveTo>
                  <a:pt x="0" y="0"/>
                </a:moveTo>
                <a:lnTo>
                  <a:pt x="57687" y="0"/>
                </a:lnTo>
                <a:lnTo>
                  <a:pt x="57687" y="25879"/>
                </a:lnTo>
                <a:lnTo>
                  <a:pt x="0" y="5237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2" name="Illustrative delivered road transport cost class 2; reference terminal Durban"/>
          <p:cNvSpPr/>
          <p:nvPr/>
        </p:nvSpPr>
        <p:spPr>
          <a:xfrm>
            <a:off x="405035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3" name="Illustrative delivered road transport cost class 2; reference terminal Durban"/>
          <p:cNvSpPr/>
          <p:nvPr/>
        </p:nvSpPr>
        <p:spPr>
          <a:xfrm>
            <a:off x="405035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4" name="Illustrative delivered road transport cost class 2; reference terminal Durban"/>
          <p:cNvSpPr/>
          <p:nvPr/>
        </p:nvSpPr>
        <p:spPr>
          <a:xfrm>
            <a:off x="405035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5" name="Illustrative delivered road transport cost class 2; reference terminal Durban"/>
          <p:cNvSpPr/>
          <p:nvPr/>
        </p:nvSpPr>
        <p:spPr>
          <a:xfrm>
            <a:off x="405035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6" name="Illustrative delivered road transport cost class 2; reference terminal Durban"/>
          <p:cNvSpPr/>
          <p:nvPr/>
        </p:nvSpPr>
        <p:spPr>
          <a:xfrm>
            <a:off x="405035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7" name="Illustrative delivered road transport cost class 2; reference terminal Durban"/>
          <p:cNvSpPr/>
          <p:nvPr/>
        </p:nvSpPr>
        <p:spPr>
          <a:xfrm>
            <a:off x="405035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8" name="Illustrative delivered road transport cost class 2; reference terminal Durban"/>
          <p:cNvSpPr/>
          <p:nvPr/>
        </p:nvSpPr>
        <p:spPr>
          <a:xfrm>
            <a:off x="405035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9" name="Illustrative delivered road transport cost class 2; reference terminal Durban"/>
          <p:cNvSpPr/>
          <p:nvPr/>
        </p:nvSpPr>
        <p:spPr>
          <a:xfrm>
            <a:off x="405035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0" name="Illustrative delivered road transport cost class 2; reference terminal Lesedi"/>
          <p:cNvSpPr/>
          <p:nvPr/>
        </p:nvSpPr>
        <p:spPr>
          <a:xfrm>
            <a:off x="405035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1" name="Illustrative delivered road transport cost class 2; reference terminal Lesedi"/>
          <p:cNvSpPr/>
          <p:nvPr/>
        </p:nvSpPr>
        <p:spPr>
          <a:xfrm>
            <a:off x="405035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2" name="Illustrative delivered road transport cost class 2; reference terminal Lesedi"/>
          <p:cNvSpPr/>
          <p:nvPr/>
        </p:nvSpPr>
        <p:spPr>
          <a:xfrm>
            <a:off x="405035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3" name="Illustrative delivered road transport cost class 2; reference terminal Lesedi"/>
          <p:cNvSpPr/>
          <p:nvPr/>
        </p:nvSpPr>
        <p:spPr>
          <a:xfrm>
            <a:off x="405035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4" name="Illustrative delivered road transport cost class 2; reference terminal Lesedi"/>
          <p:cNvSpPr/>
          <p:nvPr/>
        </p:nvSpPr>
        <p:spPr>
          <a:xfrm>
            <a:off x="405035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5" name="Illustrative delivered road transport cost class 2; reference terminal Lesedi"/>
          <p:cNvSpPr/>
          <p:nvPr/>
        </p:nvSpPr>
        <p:spPr>
          <a:xfrm>
            <a:off x="405035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6" name="Illustrative delivered road transport cost class 2; reference terminal Lesedi"/>
          <p:cNvSpPr/>
          <p:nvPr/>
        </p:nvSpPr>
        <p:spPr>
          <a:xfrm>
            <a:off x="405035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7" name="Illustrative delivered road transport cost class 1; reference terminal Lesedi"/>
          <p:cNvSpPr/>
          <p:nvPr/>
        </p:nvSpPr>
        <p:spPr>
          <a:xfrm>
            <a:off x="405035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8" name="Illustrative delivered road transport cost class 1; reference terminal Lesedi"/>
          <p:cNvSpPr/>
          <p:nvPr/>
        </p:nvSpPr>
        <p:spPr>
          <a:xfrm>
            <a:off x="405035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9" name="Illustrative delivered road transport cost class 1; reference terminal Lesedi"/>
          <p:cNvSpPr/>
          <p:nvPr/>
        </p:nvSpPr>
        <p:spPr>
          <a:xfrm>
            <a:off x="405035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0" name="Illustrative delivered road transport cost class 1; reference terminal Lesedi"/>
          <p:cNvSpPr/>
          <p:nvPr/>
        </p:nvSpPr>
        <p:spPr>
          <a:xfrm>
            <a:off x="405035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1" name="Illustrative delivered road transport cost class 1; reference terminal Lesedi"/>
          <p:cNvSpPr/>
          <p:nvPr/>
        </p:nvSpPr>
        <p:spPr>
          <a:xfrm>
            <a:off x="405035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2" name="Illustrative delivered road transport cost class 1; reference terminal Lesedi"/>
          <p:cNvSpPr/>
          <p:nvPr/>
        </p:nvSpPr>
        <p:spPr>
          <a:xfrm>
            <a:off x="405035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3" name="Illustrative delivered road transport cost class 1; reference terminal Lesedi"/>
          <p:cNvSpPr/>
          <p:nvPr/>
        </p:nvSpPr>
        <p:spPr>
          <a:xfrm>
            <a:off x="405035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4" name="Illustrative delivered road transport cost class 1; reference terminal Lesedi"/>
          <p:cNvSpPr/>
          <p:nvPr/>
        </p:nvSpPr>
        <p:spPr>
          <a:xfrm>
            <a:off x="405035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5" name="Illustrative delivered road transport cost class 1; reference terminal Lesedi"/>
          <p:cNvSpPr/>
          <p:nvPr/>
        </p:nvSpPr>
        <p:spPr>
          <a:xfrm>
            <a:off x="405035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6" name="Illustrative delivered road transport cost class 0; reference terminal Lesedi"/>
          <p:cNvSpPr/>
          <p:nvPr/>
        </p:nvSpPr>
        <p:spPr>
          <a:xfrm>
            <a:off x="405035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7" name="Illustrative delivered road transport cost class 0; reference terminal Lesedi"/>
          <p:cNvSpPr/>
          <p:nvPr/>
        </p:nvSpPr>
        <p:spPr>
          <a:xfrm>
            <a:off x="405035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8" name="Illustrative delivered road transport cost class 0; reference terminal Lesedi"/>
          <p:cNvSpPr/>
          <p:nvPr/>
        </p:nvSpPr>
        <p:spPr>
          <a:xfrm>
            <a:off x="405035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9" name="Illustrative delivered road transport cost class 0; reference terminal Lesedi"/>
          <p:cNvSpPr/>
          <p:nvPr/>
        </p:nvSpPr>
        <p:spPr>
          <a:xfrm>
            <a:off x="405035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0" name="Illustrative delivered road transport cost class 0; reference terminal Lesedi"/>
          <p:cNvSpPr/>
          <p:nvPr/>
        </p:nvSpPr>
        <p:spPr>
          <a:xfrm>
            <a:off x="405035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1" name="Illustrative delivered road transport cost class 0; reference terminal Lesedi"/>
          <p:cNvSpPr/>
          <p:nvPr/>
        </p:nvSpPr>
        <p:spPr>
          <a:xfrm>
            <a:off x="405035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2" name="Illustrative delivered road transport cost class 0; reference terminal Lesedi"/>
          <p:cNvSpPr/>
          <p:nvPr/>
        </p:nvSpPr>
        <p:spPr>
          <a:xfrm>
            <a:off x="405035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3" name="Illustrative delivered road transport cost class 0; reference terminal Lesedi"/>
          <p:cNvSpPr/>
          <p:nvPr/>
        </p:nvSpPr>
        <p:spPr>
          <a:xfrm>
            <a:off x="405035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4" name="Illustrative delivered road transport cost class 0; reference terminal Lesedi"/>
          <p:cNvSpPr/>
          <p:nvPr/>
        </p:nvSpPr>
        <p:spPr>
          <a:xfrm>
            <a:off x="405035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5" name="Illustrative delivered road transport cost class 0; reference terminal Lesedi"/>
          <p:cNvSpPr/>
          <p:nvPr/>
        </p:nvSpPr>
        <p:spPr>
          <a:xfrm>
            <a:off x="405035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6" name="Illustrative delivered road transport cost class 0; reference terminal Lesedi"/>
          <p:cNvSpPr/>
          <p:nvPr/>
        </p:nvSpPr>
        <p:spPr>
          <a:xfrm>
            <a:off x="405035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7" name="Illustrative delivered road transport cost class 0; reference terminal Lesedi"/>
          <p:cNvSpPr/>
          <p:nvPr/>
        </p:nvSpPr>
        <p:spPr>
          <a:xfrm>
            <a:off x="405035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8" name="Illustrative delivered road transport cost class 0; reference terminal Lesedi"/>
          <p:cNvSpPr/>
          <p:nvPr/>
        </p:nvSpPr>
        <p:spPr>
          <a:xfrm>
            <a:off x="4050354"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9" name="Illustrative delivered road transport cost class 0; reference terminal Lesedi"/>
          <p:cNvSpPr/>
          <p:nvPr/>
        </p:nvSpPr>
        <p:spPr>
          <a:xfrm>
            <a:off x="4050354"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0" name="Illustrative delivered road transport cost class 1; reference terminal Lesedi"/>
          <p:cNvSpPr/>
          <p:nvPr/>
        </p:nvSpPr>
        <p:spPr>
          <a:xfrm>
            <a:off x="4050354"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1" name="Illustrative delivered road transport cost class 1; reference terminal Lesedi"/>
          <p:cNvSpPr/>
          <p:nvPr/>
        </p:nvSpPr>
        <p:spPr>
          <a:xfrm>
            <a:off x="4050354" y="2902337"/>
            <a:ext cx="57687" cy="57686"/>
          </a:xfrm>
          <a:custGeom>
            <a:avLst/>
            <a:gdLst/>
            <a:ahLst/>
            <a:cxnLst/>
            <a:rect l="l" t="t" r="r" b="b"/>
            <a:pathLst>
              <a:path w="57687" h="57686">
                <a:moveTo>
                  <a:pt x="57687" y="0"/>
                </a:moveTo>
                <a:lnTo>
                  <a:pt x="57687" y="57686"/>
                </a:lnTo>
                <a:lnTo>
                  <a:pt x="0" y="57686"/>
                </a:lnTo>
                <a:lnTo>
                  <a:pt x="0" y="16807"/>
                </a:lnTo>
                <a:lnTo>
                  <a:pt x="5245" y="9018"/>
                </a:lnTo>
                <a:lnTo>
                  <a:pt x="1360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2" name="Illustrative delivered road transport cost class None; reference terminal None"/>
          <p:cNvSpPr/>
          <p:nvPr/>
        </p:nvSpPr>
        <p:spPr>
          <a:xfrm>
            <a:off x="4063957" y="2863525"/>
            <a:ext cx="44084" cy="38812"/>
          </a:xfrm>
          <a:custGeom>
            <a:avLst/>
            <a:gdLst/>
            <a:ahLst/>
            <a:cxnLst/>
            <a:rect l="l" t="t" r="r" b="b"/>
            <a:pathLst>
              <a:path w="44084" h="38812">
                <a:moveTo>
                  <a:pt x="44084" y="38812"/>
                </a:moveTo>
                <a:lnTo>
                  <a:pt x="0" y="38812"/>
                </a:lnTo>
                <a:lnTo>
                  <a:pt x="19199" y="18095"/>
                </a:lnTo>
                <a:lnTo>
                  <a:pt x="44084" y="0"/>
                </a:lnTo>
                <a:lnTo>
                  <a:pt x="44084" y="388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3" name="Illustrative delivered road transport cost class 2; reference terminal Durban"/>
          <p:cNvSpPr/>
          <p:nvPr/>
        </p:nvSpPr>
        <p:spPr>
          <a:xfrm>
            <a:off x="4108041" y="5209799"/>
            <a:ext cx="52253" cy="25879"/>
          </a:xfrm>
          <a:custGeom>
            <a:avLst/>
            <a:gdLst/>
            <a:ahLst/>
            <a:cxnLst/>
            <a:rect l="l" t="t" r="r" b="b"/>
            <a:pathLst>
              <a:path w="52253" h="25879">
                <a:moveTo>
                  <a:pt x="0" y="0"/>
                </a:moveTo>
                <a:lnTo>
                  <a:pt x="52253" y="0"/>
                </a:lnTo>
                <a:lnTo>
                  <a:pt x="41856" y="6655"/>
                </a:lnTo>
                <a:lnTo>
                  <a:pt x="0" y="2587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4" name="Illustrative delivered road transport cost class 2; reference terminal Durban"/>
          <p:cNvSpPr/>
          <p:nvPr/>
        </p:nvSpPr>
        <p:spPr>
          <a:xfrm>
            <a:off x="4108041" y="5152113"/>
            <a:ext cx="57686" cy="57686"/>
          </a:xfrm>
          <a:custGeom>
            <a:avLst/>
            <a:gdLst/>
            <a:ahLst/>
            <a:cxnLst/>
            <a:rect l="l" t="t" r="r" b="b"/>
            <a:pathLst>
              <a:path w="57686" h="57686">
                <a:moveTo>
                  <a:pt x="0" y="57686"/>
                </a:moveTo>
                <a:lnTo>
                  <a:pt x="0" y="0"/>
                </a:lnTo>
                <a:lnTo>
                  <a:pt x="57686" y="0"/>
                </a:lnTo>
                <a:lnTo>
                  <a:pt x="57686" y="54209"/>
                </a:lnTo>
                <a:lnTo>
                  <a:pt x="52253"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5" name="Illustrative delivered road transport cost class 2; reference terminal Durban"/>
          <p:cNvSpPr/>
          <p:nvPr/>
        </p:nvSpPr>
        <p:spPr>
          <a:xfrm>
            <a:off x="410804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6" name="Illustrative delivered road transport cost class 2; reference terminal Durban"/>
          <p:cNvSpPr/>
          <p:nvPr/>
        </p:nvSpPr>
        <p:spPr>
          <a:xfrm>
            <a:off x="410804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7" name="Illustrative delivered road transport cost class 2; reference terminal Durban"/>
          <p:cNvSpPr/>
          <p:nvPr/>
        </p:nvSpPr>
        <p:spPr>
          <a:xfrm>
            <a:off x="410804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8" name="Illustrative delivered road transport cost class 2; reference terminal Durban"/>
          <p:cNvSpPr/>
          <p:nvPr/>
        </p:nvSpPr>
        <p:spPr>
          <a:xfrm>
            <a:off x="410804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9" name="Illustrative delivered road transport cost class 2; reference terminal Durban"/>
          <p:cNvSpPr/>
          <p:nvPr/>
        </p:nvSpPr>
        <p:spPr>
          <a:xfrm>
            <a:off x="410804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0" name="Illustrative delivered road transport cost class 2; reference terminal Durban"/>
          <p:cNvSpPr/>
          <p:nvPr/>
        </p:nvSpPr>
        <p:spPr>
          <a:xfrm>
            <a:off x="410804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1" name="Illustrative delivered road transport cost class 2; reference terminal Durban"/>
          <p:cNvSpPr/>
          <p:nvPr/>
        </p:nvSpPr>
        <p:spPr>
          <a:xfrm>
            <a:off x="410804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2" name="Illustrative delivered road transport cost class 2; reference terminal Lesedi"/>
          <p:cNvSpPr/>
          <p:nvPr/>
        </p:nvSpPr>
        <p:spPr>
          <a:xfrm>
            <a:off x="410804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3" name="Illustrative delivered road transport cost class 2; reference terminal Lesedi"/>
          <p:cNvSpPr/>
          <p:nvPr/>
        </p:nvSpPr>
        <p:spPr>
          <a:xfrm>
            <a:off x="410804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4" name="Illustrative delivered road transport cost class 2; reference terminal Lesedi"/>
          <p:cNvSpPr/>
          <p:nvPr/>
        </p:nvSpPr>
        <p:spPr>
          <a:xfrm>
            <a:off x="410804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5" name="Illustrative delivered road transport cost class 2; reference terminal Lesedi"/>
          <p:cNvSpPr/>
          <p:nvPr/>
        </p:nvSpPr>
        <p:spPr>
          <a:xfrm>
            <a:off x="410804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6" name="Illustrative delivered road transport cost class 2; reference terminal Lesedi"/>
          <p:cNvSpPr/>
          <p:nvPr/>
        </p:nvSpPr>
        <p:spPr>
          <a:xfrm>
            <a:off x="410804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7" name="Illustrative delivered road transport cost class 2; reference terminal Lesedi"/>
          <p:cNvSpPr/>
          <p:nvPr/>
        </p:nvSpPr>
        <p:spPr>
          <a:xfrm>
            <a:off x="410804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8" name="Illustrative delivered road transport cost class 2; reference terminal Lesedi"/>
          <p:cNvSpPr/>
          <p:nvPr/>
        </p:nvSpPr>
        <p:spPr>
          <a:xfrm>
            <a:off x="410804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9" name="Illustrative delivered road transport cost class 2; reference terminal Lesedi"/>
          <p:cNvSpPr/>
          <p:nvPr/>
        </p:nvSpPr>
        <p:spPr>
          <a:xfrm>
            <a:off x="410804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0" name="Illustrative delivered road transport cost class 1; reference terminal Lesedi"/>
          <p:cNvSpPr/>
          <p:nvPr/>
        </p:nvSpPr>
        <p:spPr>
          <a:xfrm>
            <a:off x="4108041" y="4229128"/>
            <a:ext cx="57686" cy="57686"/>
          </a:xfrm>
          <a:custGeom>
            <a:avLst/>
            <a:gdLst/>
            <a:ahLst/>
            <a:cxnLst/>
            <a:rect l="l" t="t" r="r" b="b"/>
            <a:pathLst>
              <a:path w="57686" h="57686">
                <a:moveTo>
                  <a:pt x="57686" y="57686"/>
                </a:moveTo>
                <a:lnTo>
                  <a:pt x="0" y="57686"/>
                </a:lnTo>
                <a:lnTo>
                  <a:pt x="0" y="0"/>
                </a:lnTo>
                <a:lnTo>
                  <a:pt x="54598" y="0"/>
                </a:lnTo>
                <a:lnTo>
                  <a:pt x="54495" y="759"/>
                </a:lnTo>
                <a:lnTo>
                  <a:pt x="57686" y="9395"/>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1" name="Illustrative delivered road transport cost class 1; reference terminal Lesedi"/>
          <p:cNvSpPr/>
          <p:nvPr/>
        </p:nvSpPr>
        <p:spPr>
          <a:xfrm>
            <a:off x="4108041" y="4171441"/>
            <a:ext cx="57686" cy="57687"/>
          </a:xfrm>
          <a:custGeom>
            <a:avLst/>
            <a:gdLst/>
            <a:ahLst/>
            <a:cxnLst/>
            <a:rect l="l" t="t" r="r" b="b"/>
            <a:pathLst>
              <a:path w="57686" h="57687">
                <a:moveTo>
                  <a:pt x="0" y="57687"/>
                </a:moveTo>
                <a:lnTo>
                  <a:pt x="0" y="0"/>
                </a:lnTo>
                <a:lnTo>
                  <a:pt x="57686" y="0"/>
                </a:lnTo>
                <a:lnTo>
                  <a:pt x="57686" y="47216"/>
                </a:lnTo>
                <a:lnTo>
                  <a:pt x="55825" y="48626"/>
                </a:lnTo>
                <a:lnTo>
                  <a:pt x="5459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2" name="Illustrative delivered road transport cost class 1; reference terminal Lesedi"/>
          <p:cNvSpPr/>
          <p:nvPr/>
        </p:nvSpPr>
        <p:spPr>
          <a:xfrm>
            <a:off x="410804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3" name="Illustrative delivered road transport cost class 1; reference terminal Lesedi"/>
          <p:cNvSpPr/>
          <p:nvPr/>
        </p:nvSpPr>
        <p:spPr>
          <a:xfrm>
            <a:off x="410804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4" name="Illustrative delivered road transport cost class 1; reference terminal Lesedi"/>
          <p:cNvSpPr/>
          <p:nvPr/>
        </p:nvSpPr>
        <p:spPr>
          <a:xfrm>
            <a:off x="410804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5" name="Illustrative delivered road transport cost class 1; reference terminal Lesedi"/>
          <p:cNvSpPr/>
          <p:nvPr/>
        </p:nvSpPr>
        <p:spPr>
          <a:xfrm>
            <a:off x="410804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6" name="Illustrative delivered road transport cost class 1; reference terminal Lesedi"/>
          <p:cNvSpPr/>
          <p:nvPr/>
        </p:nvSpPr>
        <p:spPr>
          <a:xfrm>
            <a:off x="410804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7" name="Illustrative delivered road transport cost class 0; reference terminal Lesedi"/>
          <p:cNvSpPr/>
          <p:nvPr/>
        </p:nvSpPr>
        <p:spPr>
          <a:xfrm>
            <a:off x="410804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8" name="Illustrative delivered road transport cost class 0; reference terminal Lesedi"/>
          <p:cNvSpPr/>
          <p:nvPr/>
        </p:nvSpPr>
        <p:spPr>
          <a:xfrm>
            <a:off x="410804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9" name="Illustrative delivered road transport cost class 0; reference terminal Lesedi"/>
          <p:cNvSpPr/>
          <p:nvPr/>
        </p:nvSpPr>
        <p:spPr>
          <a:xfrm>
            <a:off x="410804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0" name="Illustrative delivered road transport cost class 0; reference terminal Lesedi"/>
          <p:cNvSpPr/>
          <p:nvPr/>
        </p:nvSpPr>
        <p:spPr>
          <a:xfrm>
            <a:off x="410804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1" name="Illustrative delivered road transport cost class 0; reference terminal Lesedi"/>
          <p:cNvSpPr/>
          <p:nvPr/>
        </p:nvSpPr>
        <p:spPr>
          <a:xfrm>
            <a:off x="410804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2" name="Illustrative delivered road transport cost class 0; reference terminal Lesedi"/>
          <p:cNvSpPr/>
          <p:nvPr/>
        </p:nvSpPr>
        <p:spPr>
          <a:xfrm>
            <a:off x="410804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3" name="Illustrative delivered road transport cost class 0; reference terminal Lesedi"/>
          <p:cNvSpPr/>
          <p:nvPr/>
        </p:nvSpPr>
        <p:spPr>
          <a:xfrm>
            <a:off x="410804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4" name="Illustrative delivered road transport cost class 0; reference terminal Lesedi"/>
          <p:cNvSpPr/>
          <p:nvPr/>
        </p:nvSpPr>
        <p:spPr>
          <a:xfrm>
            <a:off x="410804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5" name="Illustrative delivered road transport cost class 0; reference terminal Lesedi"/>
          <p:cNvSpPr/>
          <p:nvPr/>
        </p:nvSpPr>
        <p:spPr>
          <a:xfrm>
            <a:off x="410804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6" name="Illustrative delivered road transport cost class 0; reference terminal Lesedi"/>
          <p:cNvSpPr/>
          <p:nvPr/>
        </p:nvSpPr>
        <p:spPr>
          <a:xfrm>
            <a:off x="410804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7" name="Illustrative delivered road transport cost class 0; reference terminal Lesedi"/>
          <p:cNvSpPr/>
          <p:nvPr/>
        </p:nvSpPr>
        <p:spPr>
          <a:xfrm>
            <a:off x="410804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8" name="Illustrative delivered road transport cost class 0; reference terminal Lesedi"/>
          <p:cNvSpPr/>
          <p:nvPr/>
        </p:nvSpPr>
        <p:spPr>
          <a:xfrm>
            <a:off x="410804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9" name="Illustrative delivered road transport cost class 0; reference terminal Lesedi"/>
          <p:cNvSpPr/>
          <p:nvPr/>
        </p:nvSpPr>
        <p:spPr>
          <a:xfrm>
            <a:off x="410804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0" name="Illustrative delivered road transport cost class 0; reference terminal Lesedi"/>
          <p:cNvSpPr/>
          <p:nvPr/>
        </p:nvSpPr>
        <p:spPr>
          <a:xfrm>
            <a:off x="410804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1" name="Illustrative delivered road transport cost class 0; reference terminal Lesedi"/>
          <p:cNvSpPr/>
          <p:nvPr/>
        </p:nvSpPr>
        <p:spPr>
          <a:xfrm>
            <a:off x="410804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2" name="Illustrative delivered road transport cost class 1; reference terminal Lesedi"/>
          <p:cNvSpPr/>
          <p:nvPr/>
        </p:nvSpPr>
        <p:spPr>
          <a:xfrm>
            <a:off x="4108041"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3" name="Illustrative delivered road transport cost class None; reference terminal None"/>
          <p:cNvSpPr/>
          <p:nvPr/>
        </p:nvSpPr>
        <p:spPr>
          <a:xfrm>
            <a:off x="4108041"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4" name="Illustrative delivered road transport cost class None; reference terminal None"/>
          <p:cNvSpPr/>
          <p:nvPr/>
        </p:nvSpPr>
        <p:spPr>
          <a:xfrm>
            <a:off x="4108041" y="2844650"/>
            <a:ext cx="57686" cy="57687"/>
          </a:xfrm>
          <a:custGeom>
            <a:avLst/>
            <a:gdLst/>
            <a:ahLst/>
            <a:cxnLst/>
            <a:rect l="l" t="t" r="r" b="b"/>
            <a:pathLst>
              <a:path w="57686" h="57687">
                <a:moveTo>
                  <a:pt x="57686" y="0"/>
                </a:moveTo>
                <a:lnTo>
                  <a:pt x="57686" y="57687"/>
                </a:lnTo>
                <a:lnTo>
                  <a:pt x="0" y="57687"/>
                </a:lnTo>
                <a:lnTo>
                  <a:pt x="0" y="18875"/>
                </a:lnTo>
                <a:lnTo>
                  <a:pt x="9022" y="12315"/>
                </a:lnTo>
                <a:lnTo>
                  <a:pt x="24287"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5" name="Illustrative delivered road transport cost class None; reference terminal None"/>
          <p:cNvSpPr/>
          <p:nvPr/>
        </p:nvSpPr>
        <p:spPr>
          <a:xfrm>
            <a:off x="4132328" y="2786964"/>
            <a:ext cx="33399" cy="57686"/>
          </a:xfrm>
          <a:custGeom>
            <a:avLst/>
            <a:gdLst/>
            <a:ahLst/>
            <a:cxnLst/>
            <a:rect l="l" t="t" r="r" b="b"/>
            <a:pathLst>
              <a:path w="33399" h="57686">
                <a:moveTo>
                  <a:pt x="33399" y="0"/>
                </a:moveTo>
                <a:lnTo>
                  <a:pt x="33399" y="57686"/>
                </a:lnTo>
                <a:lnTo>
                  <a:pt x="0" y="57686"/>
                </a:lnTo>
                <a:lnTo>
                  <a:pt x="2260" y="55863"/>
                </a:lnTo>
                <a:lnTo>
                  <a:pt x="17708" y="0"/>
                </a:lnTo>
                <a:lnTo>
                  <a:pt x="33399"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6" name="Illustrative delivered road transport cost class None; reference terminal None"/>
          <p:cNvSpPr/>
          <p:nvPr/>
        </p:nvSpPr>
        <p:spPr>
          <a:xfrm>
            <a:off x="4150036" y="2730223"/>
            <a:ext cx="15691" cy="56741"/>
          </a:xfrm>
          <a:custGeom>
            <a:avLst/>
            <a:gdLst/>
            <a:ahLst/>
            <a:cxnLst/>
            <a:rect l="l" t="t" r="r" b="b"/>
            <a:pathLst>
              <a:path w="15691" h="56741">
                <a:moveTo>
                  <a:pt x="15691" y="56741"/>
                </a:moveTo>
                <a:lnTo>
                  <a:pt x="0" y="56741"/>
                </a:lnTo>
                <a:lnTo>
                  <a:pt x="15691" y="0"/>
                </a:lnTo>
                <a:lnTo>
                  <a:pt x="15691" y="567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7" name="Illustrative delivered road transport cost class 2; reference terminal Durban"/>
          <p:cNvSpPr/>
          <p:nvPr/>
        </p:nvSpPr>
        <p:spPr>
          <a:xfrm>
            <a:off x="4165727" y="5152113"/>
            <a:ext cx="57687" cy="54209"/>
          </a:xfrm>
          <a:custGeom>
            <a:avLst/>
            <a:gdLst/>
            <a:ahLst/>
            <a:cxnLst/>
            <a:rect l="l" t="t" r="r" b="b"/>
            <a:pathLst>
              <a:path w="57687" h="54209">
                <a:moveTo>
                  <a:pt x="0" y="0"/>
                </a:moveTo>
                <a:lnTo>
                  <a:pt x="57687" y="0"/>
                </a:lnTo>
                <a:lnTo>
                  <a:pt x="57687" y="16022"/>
                </a:lnTo>
                <a:lnTo>
                  <a:pt x="46487" y="24455"/>
                </a:lnTo>
                <a:lnTo>
                  <a:pt x="0" y="5420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8" name="Illustrative delivered road transport cost class 2; reference terminal Durban"/>
          <p:cNvSpPr/>
          <p:nvPr/>
        </p:nvSpPr>
        <p:spPr>
          <a:xfrm>
            <a:off x="416572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9" name="Illustrative delivered road transport cost class 2; reference terminal Durban"/>
          <p:cNvSpPr/>
          <p:nvPr/>
        </p:nvSpPr>
        <p:spPr>
          <a:xfrm>
            <a:off x="416572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0" name="Illustrative delivered road transport cost class 2; reference terminal Durban"/>
          <p:cNvSpPr/>
          <p:nvPr/>
        </p:nvSpPr>
        <p:spPr>
          <a:xfrm>
            <a:off x="416572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 name="Illustrative delivered road transport cost class 2; reference terminal Durban"/>
          <p:cNvSpPr/>
          <p:nvPr/>
        </p:nvSpPr>
        <p:spPr>
          <a:xfrm>
            <a:off x="416572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 name="Illustrative delivered road transport cost class 2; reference terminal Durban"/>
          <p:cNvSpPr/>
          <p:nvPr/>
        </p:nvSpPr>
        <p:spPr>
          <a:xfrm>
            <a:off x="416572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 name="Illustrative delivered road transport cost class 2; reference terminal Durban"/>
          <p:cNvSpPr/>
          <p:nvPr/>
        </p:nvSpPr>
        <p:spPr>
          <a:xfrm>
            <a:off x="416572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 name="Illustrative delivered road transport cost class 2; reference terminal Durban"/>
          <p:cNvSpPr/>
          <p:nvPr/>
        </p:nvSpPr>
        <p:spPr>
          <a:xfrm>
            <a:off x="416572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 name="Illustrative delivered road transport cost class 2; reference terminal Durban"/>
          <p:cNvSpPr/>
          <p:nvPr/>
        </p:nvSpPr>
        <p:spPr>
          <a:xfrm>
            <a:off x="416572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6" name="Illustrative delivered road transport cost class 2; reference terminal Lesedi"/>
          <p:cNvSpPr/>
          <p:nvPr/>
        </p:nvSpPr>
        <p:spPr>
          <a:xfrm>
            <a:off x="416572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7" name="Illustrative delivered road transport cost class 2; reference terminal Lesedi"/>
          <p:cNvSpPr/>
          <p:nvPr/>
        </p:nvSpPr>
        <p:spPr>
          <a:xfrm>
            <a:off x="416572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8" name="Illustrative delivered road transport cost class 2; reference terminal Lesedi"/>
          <p:cNvSpPr/>
          <p:nvPr/>
        </p:nvSpPr>
        <p:spPr>
          <a:xfrm>
            <a:off x="416572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9" name="Illustrative delivered road transport cost class 2; reference terminal Lesedi"/>
          <p:cNvSpPr/>
          <p:nvPr/>
        </p:nvSpPr>
        <p:spPr>
          <a:xfrm>
            <a:off x="416572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0" name="Illustrative delivered road transport cost class 2; reference terminal Lesedi"/>
          <p:cNvSpPr/>
          <p:nvPr/>
        </p:nvSpPr>
        <p:spPr>
          <a:xfrm>
            <a:off x="416572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1" name="Illustrative delivered road transport cost class 2; reference terminal Lesedi"/>
          <p:cNvSpPr/>
          <p:nvPr/>
        </p:nvSpPr>
        <p:spPr>
          <a:xfrm>
            <a:off x="4165727" y="4344501"/>
            <a:ext cx="57687" cy="57687"/>
          </a:xfrm>
          <a:custGeom>
            <a:avLst/>
            <a:gdLst/>
            <a:ahLst/>
            <a:cxnLst/>
            <a:rect l="l" t="t" r="r" b="b"/>
            <a:pathLst>
              <a:path w="57687" h="57687">
                <a:moveTo>
                  <a:pt x="57687" y="57687"/>
                </a:moveTo>
                <a:lnTo>
                  <a:pt x="0" y="57687"/>
                </a:lnTo>
                <a:lnTo>
                  <a:pt x="0" y="0"/>
                </a:lnTo>
                <a:lnTo>
                  <a:pt x="53227" y="0"/>
                </a:lnTo>
                <a:lnTo>
                  <a:pt x="57687" y="6645"/>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2" name="Illustrative delivered road transport cost class 2; reference terminal Lesedi"/>
          <p:cNvSpPr/>
          <p:nvPr/>
        </p:nvSpPr>
        <p:spPr>
          <a:xfrm>
            <a:off x="4165727" y="4286814"/>
            <a:ext cx="53227" cy="57687"/>
          </a:xfrm>
          <a:custGeom>
            <a:avLst/>
            <a:gdLst/>
            <a:ahLst/>
            <a:cxnLst/>
            <a:rect l="l" t="t" r="r" b="b"/>
            <a:pathLst>
              <a:path w="53227" h="57687">
                <a:moveTo>
                  <a:pt x="0" y="57687"/>
                </a:moveTo>
                <a:lnTo>
                  <a:pt x="0" y="0"/>
                </a:lnTo>
                <a:lnTo>
                  <a:pt x="19572" y="0"/>
                </a:lnTo>
                <a:lnTo>
                  <a:pt x="27137" y="14551"/>
                </a:lnTo>
                <a:lnTo>
                  <a:pt x="37058" y="33677"/>
                </a:lnTo>
                <a:lnTo>
                  <a:pt x="52829" y="57094"/>
                </a:lnTo>
                <a:lnTo>
                  <a:pt x="5322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3" name="Illustrative delivered road transport cost class 2; reference terminal Lesedi"/>
          <p:cNvSpPr/>
          <p:nvPr/>
        </p:nvSpPr>
        <p:spPr>
          <a:xfrm>
            <a:off x="4165727" y="4238523"/>
            <a:ext cx="19572" cy="48291"/>
          </a:xfrm>
          <a:custGeom>
            <a:avLst/>
            <a:gdLst/>
            <a:ahLst/>
            <a:cxnLst/>
            <a:rect l="l" t="t" r="r" b="b"/>
            <a:pathLst>
              <a:path w="19572" h="48291">
                <a:moveTo>
                  <a:pt x="0" y="48291"/>
                </a:moveTo>
                <a:lnTo>
                  <a:pt x="0" y="0"/>
                </a:lnTo>
                <a:lnTo>
                  <a:pt x="5339" y="14450"/>
                </a:lnTo>
                <a:lnTo>
                  <a:pt x="13562" y="36733"/>
                </a:lnTo>
                <a:lnTo>
                  <a:pt x="19572" y="48291"/>
                </a:lnTo>
                <a:lnTo>
                  <a:pt x="0" y="48291"/>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4" name="Illustrative delivered road transport cost class 2; reference terminal Lesedi"/>
          <p:cNvSpPr/>
          <p:nvPr/>
        </p:nvSpPr>
        <p:spPr>
          <a:xfrm>
            <a:off x="4165727" y="4171441"/>
            <a:ext cx="57687" cy="47216"/>
          </a:xfrm>
          <a:custGeom>
            <a:avLst/>
            <a:gdLst/>
            <a:ahLst/>
            <a:cxnLst/>
            <a:rect l="l" t="t" r="r" b="b"/>
            <a:pathLst>
              <a:path w="57687" h="47216">
                <a:moveTo>
                  <a:pt x="0" y="0"/>
                </a:moveTo>
                <a:lnTo>
                  <a:pt x="57687" y="0"/>
                </a:lnTo>
                <a:lnTo>
                  <a:pt x="57687" y="15727"/>
                </a:lnTo>
                <a:lnTo>
                  <a:pt x="51753" y="22429"/>
                </a:lnTo>
                <a:lnTo>
                  <a:pt x="32104" y="30975"/>
                </a:lnTo>
                <a:lnTo>
                  <a:pt x="6812" y="42057"/>
                </a:lnTo>
                <a:lnTo>
                  <a:pt x="0" y="47216"/>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5" name="Illustrative delivered road transport cost class 1; reference terminal Lesedi"/>
          <p:cNvSpPr/>
          <p:nvPr/>
        </p:nvSpPr>
        <p:spPr>
          <a:xfrm>
            <a:off x="416572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6" name="Illustrative delivered road transport cost class 1; reference terminal Lesedi"/>
          <p:cNvSpPr/>
          <p:nvPr/>
        </p:nvSpPr>
        <p:spPr>
          <a:xfrm>
            <a:off x="416572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7" name="Illustrative delivered road transport cost class 1; reference terminal Lesedi"/>
          <p:cNvSpPr/>
          <p:nvPr/>
        </p:nvSpPr>
        <p:spPr>
          <a:xfrm>
            <a:off x="416572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8" name="Illustrative delivered road transport cost class 1; reference terminal Lesedi"/>
          <p:cNvSpPr/>
          <p:nvPr/>
        </p:nvSpPr>
        <p:spPr>
          <a:xfrm>
            <a:off x="416572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9" name="Illustrative delivered road transport cost class 1; reference terminal Lesedi"/>
          <p:cNvSpPr/>
          <p:nvPr/>
        </p:nvSpPr>
        <p:spPr>
          <a:xfrm>
            <a:off x="416572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0" name="Illustrative delivered road transport cost class 0; reference terminal Lesedi"/>
          <p:cNvSpPr/>
          <p:nvPr/>
        </p:nvSpPr>
        <p:spPr>
          <a:xfrm>
            <a:off x="416572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1" name="Illustrative delivered road transport cost class 0; reference terminal Lesedi"/>
          <p:cNvSpPr/>
          <p:nvPr/>
        </p:nvSpPr>
        <p:spPr>
          <a:xfrm>
            <a:off x="416572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2" name="Illustrative delivered road transport cost class 0; reference terminal Lesedi"/>
          <p:cNvSpPr/>
          <p:nvPr/>
        </p:nvSpPr>
        <p:spPr>
          <a:xfrm>
            <a:off x="416572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3" name="Illustrative delivered road transport cost class 0; reference terminal Lesedi"/>
          <p:cNvSpPr/>
          <p:nvPr/>
        </p:nvSpPr>
        <p:spPr>
          <a:xfrm>
            <a:off x="416572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4" name="Illustrative delivered road transport cost class 0; reference terminal Lesedi"/>
          <p:cNvSpPr/>
          <p:nvPr/>
        </p:nvSpPr>
        <p:spPr>
          <a:xfrm>
            <a:off x="416572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5" name="Illustrative delivered road transport cost class 0; reference terminal Lesedi"/>
          <p:cNvSpPr/>
          <p:nvPr/>
        </p:nvSpPr>
        <p:spPr>
          <a:xfrm>
            <a:off x="416572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6" name="Illustrative delivered road transport cost class 0; reference terminal Lesedi"/>
          <p:cNvSpPr/>
          <p:nvPr/>
        </p:nvSpPr>
        <p:spPr>
          <a:xfrm>
            <a:off x="416572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7" name="Illustrative delivered road transport cost class 0; reference terminal Lesedi"/>
          <p:cNvSpPr/>
          <p:nvPr/>
        </p:nvSpPr>
        <p:spPr>
          <a:xfrm>
            <a:off x="416572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8" name="Illustrative delivered road transport cost class 0; reference terminal Lesedi"/>
          <p:cNvSpPr/>
          <p:nvPr/>
        </p:nvSpPr>
        <p:spPr>
          <a:xfrm>
            <a:off x="416572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9" name="Illustrative delivered road transport cost class 0; reference terminal Lesedi"/>
          <p:cNvSpPr/>
          <p:nvPr/>
        </p:nvSpPr>
        <p:spPr>
          <a:xfrm>
            <a:off x="416572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0" name="Illustrative delivered road transport cost class 0; reference terminal Lesedi"/>
          <p:cNvSpPr/>
          <p:nvPr/>
        </p:nvSpPr>
        <p:spPr>
          <a:xfrm>
            <a:off x="416572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1" name="Illustrative delivered road transport cost class 0; reference terminal Lesedi"/>
          <p:cNvSpPr/>
          <p:nvPr/>
        </p:nvSpPr>
        <p:spPr>
          <a:xfrm>
            <a:off x="416572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2" name="Illustrative delivered road transport cost class 0; reference terminal Lesedi"/>
          <p:cNvSpPr/>
          <p:nvPr/>
        </p:nvSpPr>
        <p:spPr>
          <a:xfrm>
            <a:off x="416572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3" name="Illustrative delivered road transport cost class 0; reference terminal Lesedi"/>
          <p:cNvSpPr/>
          <p:nvPr/>
        </p:nvSpPr>
        <p:spPr>
          <a:xfrm>
            <a:off x="416572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4" name="Illustrative delivered road transport cost class 0; reference terminal Lesedi"/>
          <p:cNvSpPr/>
          <p:nvPr/>
        </p:nvSpPr>
        <p:spPr>
          <a:xfrm>
            <a:off x="416572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5" name="Illustrative delivered road transport cost class 0; reference terminal Lesedi"/>
          <p:cNvSpPr/>
          <p:nvPr/>
        </p:nvSpPr>
        <p:spPr>
          <a:xfrm>
            <a:off x="416572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6" name="Illustrative delivered road transport cost class None; reference terminal None"/>
          <p:cNvSpPr/>
          <p:nvPr/>
        </p:nvSpPr>
        <p:spPr>
          <a:xfrm>
            <a:off x="4165727"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7" name="Illustrative delivered road transport cost class None; reference terminal None"/>
          <p:cNvSpPr/>
          <p:nvPr/>
        </p:nvSpPr>
        <p:spPr>
          <a:xfrm>
            <a:off x="4165727"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8" name="Illustrative delivered road transport cost class None; reference terminal None"/>
          <p:cNvSpPr/>
          <p:nvPr/>
        </p:nvSpPr>
        <p:spPr>
          <a:xfrm>
            <a:off x="4165727"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9" name="Illustrative delivered road transport cost class None; reference terminal None"/>
          <p:cNvSpPr/>
          <p:nvPr/>
        </p:nvSpPr>
        <p:spPr>
          <a:xfrm>
            <a:off x="4165727" y="2729277"/>
            <a:ext cx="57687" cy="57687"/>
          </a:xfrm>
          <a:custGeom>
            <a:avLst/>
            <a:gdLst/>
            <a:ahLst/>
            <a:cxnLst/>
            <a:rect l="l" t="t" r="r" b="b"/>
            <a:pathLst>
              <a:path w="57687" h="57687">
                <a:moveTo>
                  <a:pt x="57687" y="0"/>
                </a:moveTo>
                <a:lnTo>
                  <a:pt x="57687" y="57687"/>
                </a:lnTo>
                <a:lnTo>
                  <a:pt x="0" y="57687"/>
                </a:lnTo>
                <a:lnTo>
                  <a:pt x="0" y="946"/>
                </a:lnTo>
                <a:lnTo>
                  <a:pt x="26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0" name="Illustrative delivered road transport cost class None; reference terminal None"/>
          <p:cNvSpPr/>
          <p:nvPr/>
        </p:nvSpPr>
        <p:spPr>
          <a:xfrm>
            <a:off x="4165989" y="2671590"/>
            <a:ext cx="57425" cy="57687"/>
          </a:xfrm>
          <a:custGeom>
            <a:avLst/>
            <a:gdLst/>
            <a:ahLst/>
            <a:cxnLst/>
            <a:rect l="l" t="t" r="r" b="b"/>
            <a:pathLst>
              <a:path w="57425" h="57687">
                <a:moveTo>
                  <a:pt x="57425" y="0"/>
                </a:moveTo>
                <a:lnTo>
                  <a:pt x="57425" y="57687"/>
                </a:lnTo>
                <a:lnTo>
                  <a:pt x="0" y="57687"/>
                </a:lnTo>
                <a:lnTo>
                  <a:pt x="2170" y="49838"/>
                </a:lnTo>
                <a:lnTo>
                  <a:pt x="6253" y="34865"/>
                </a:lnTo>
                <a:lnTo>
                  <a:pt x="29955" y="2910"/>
                </a:lnTo>
                <a:lnTo>
                  <a:pt x="33111" y="0"/>
                </a:lnTo>
                <a:lnTo>
                  <a:pt x="57425"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1" name="Illustrative delivered road transport cost class None; reference terminal None"/>
          <p:cNvSpPr/>
          <p:nvPr/>
        </p:nvSpPr>
        <p:spPr>
          <a:xfrm>
            <a:off x="4199100" y="2658698"/>
            <a:ext cx="24314" cy="12892"/>
          </a:xfrm>
          <a:custGeom>
            <a:avLst/>
            <a:gdLst/>
            <a:ahLst/>
            <a:cxnLst/>
            <a:rect l="l" t="t" r="r" b="b"/>
            <a:pathLst>
              <a:path w="24314" h="12892">
                <a:moveTo>
                  <a:pt x="24314" y="12892"/>
                </a:moveTo>
                <a:lnTo>
                  <a:pt x="0" y="12892"/>
                </a:lnTo>
                <a:lnTo>
                  <a:pt x="11401" y="2384"/>
                </a:lnTo>
                <a:lnTo>
                  <a:pt x="20640" y="2296"/>
                </a:lnTo>
                <a:lnTo>
                  <a:pt x="24314" y="0"/>
                </a:lnTo>
                <a:lnTo>
                  <a:pt x="24314" y="1289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2" name="Illustrative delivered road transport cost class 2; reference terminal Durban"/>
          <p:cNvSpPr/>
          <p:nvPr/>
        </p:nvSpPr>
        <p:spPr>
          <a:xfrm>
            <a:off x="4223414" y="5152113"/>
            <a:ext cx="21282" cy="16022"/>
          </a:xfrm>
          <a:custGeom>
            <a:avLst/>
            <a:gdLst/>
            <a:ahLst/>
            <a:cxnLst/>
            <a:rect l="l" t="t" r="r" b="b"/>
            <a:pathLst>
              <a:path w="21282" h="16022">
                <a:moveTo>
                  <a:pt x="0" y="0"/>
                </a:moveTo>
                <a:lnTo>
                  <a:pt x="21282" y="0"/>
                </a:lnTo>
                <a:lnTo>
                  <a:pt x="0" y="1602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3" name="Illustrative delivered road transport cost class 2; reference terminal Durban"/>
          <p:cNvSpPr/>
          <p:nvPr/>
        </p:nvSpPr>
        <p:spPr>
          <a:xfrm>
            <a:off x="4223414" y="5094426"/>
            <a:ext cx="57686" cy="57687"/>
          </a:xfrm>
          <a:custGeom>
            <a:avLst/>
            <a:gdLst/>
            <a:ahLst/>
            <a:cxnLst/>
            <a:rect l="l" t="t" r="r" b="b"/>
            <a:pathLst>
              <a:path w="57686" h="57687">
                <a:moveTo>
                  <a:pt x="0" y="57687"/>
                </a:moveTo>
                <a:lnTo>
                  <a:pt x="0" y="0"/>
                </a:lnTo>
                <a:lnTo>
                  <a:pt x="57686" y="0"/>
                </a:lnTo>
                <a:lnTo>
                  <a:pt x="57686" y="30279"/>
                </a:lnTo>
                <a:lnTo>
                  <a:pt x="2128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4" name="Illustrative delivered road transport cost class 2; reference terminal Durban"/>
          <p:cNvSpPr/>
          <p:nvPr/>
        </p:nvSpPr>
        <p:spPr>
          <a:xfrm>
            <a:off x="422341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5" name="Illustrative delivered road transport cost class 2; reference terminal Durban"/>
          <p:cNvSpPr/>
          <p:nvPr/>
        </p:nvSpPr>
        <p:spPr>
          <a:xfrm>
            <a:off x="422341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6" name="Illustrative delivered road transport cost class 1; reference terminal Durban"/>
          <p:cNvSpPr/>
          <p:nvPr/>
        </p:nvSpPr>
        <p:spPr>
          <a:xfrm>
            <a:off x="422341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7" name="Illustrative delivered road transport cost class 1; reference terminal Durban"/>
          <p:cNvSpPr/>
          <p:nvPr/>
        </p:nvSpPr>
        <p:spPr>
          <a:xfrm>
            <a:off x="422341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8" name="Illustrative delivered road transport cost class 1; reference terminal Durban"/>
          <p:cNvSpPr/>
          <p:nvPr/>
        </p:nvSpPr>
        <p:spPr>
          <a:xfrm>
            <a:off x="422341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9" name="Illustrative delivered road transport cost class 1; reference terminal Durban"/>
          <p:cNvSpPr/>
          <p:nvPr/>
        </p:nvSpPr>
        <p:spPr>
          <a:xfrm>
            <a:off x="422341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0" name="Illustrative delivered road transport cost class 2; reference terminal Durban"/>
          <p:cNvSpPr/>
          <p:nvPr/>
        </p:nvSpPr>
        <p:spPr>
          <a:xfrm>
            <a:off x="422341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1" name="Illustrative delivered road transport cost class 2; reference terminal Lesedi"/>
          <p:cNvSpPr/>
          <p:nvPr/>
        </p:nvSpPr>
        <p:spPr>
          <a:xfrm>
            <a:off x="422341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2" name="Illustrative delivered road transport cost class 2; reference terminal Lesedi"/>
          <p:cNvSpPr/>
          <p:nvPr/>
        </p:nvSpPr>
        <p:spPr>
          <a:xfrm>
            <a:off x="422341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3" name="Illustrative delivered road transport cost class 2; reference terminal Lesedi"/>
          <p:cNvSpPr/>
          <p:nvPr/>
        </p:nvSpPr>
        <p:spPr>
          <a:xfrm>
            <a:off x="422341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4" name="Illustrative delivered road transport cost class 2; reference terminal Lesedi"/>
          <p:cNvSpPr/>
          <p:nvPr/>
        </p:nvSpPr>
        <p:spPr>
          <a:xfrm>
            <a:off x="422341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5" name="Illustrative delivered road transport cost class 2; reference terminal Lesedi"/>
          <p:cNvSpPr/>
          <p:nvPr/>
        </p:nvSpPr>
        <p:spPr>
          <a:xfrm>
            <a:off x="4223414" y="4402188"/>
            <a:ext cx="57686" cy="57686"/>
          </a:xfrm>
          <a:custGeom>
            <a:avLst/>
            <a:gdLst/>
            <a:ahLst/>
            <a:cxnLst/>
            <a:rect l="l" t="t" r="r" b="b"/>
            <a:pathLst>
              <a:path w="57686" h="57686">
                <a:moveTo>
                  <a:pt x="57686" y="57686"/>
                </a:moveTo>
                <a:lnTo>
                  <a:pt x="0" y="57686"/>
                </a:lnTo>
                <a:lnTo>
                  <a:pt x="0" y="0"/>
                </a:lnTo>
                <a:lnTo>
                  <a:pt x="17701" y="0"/>
                </a:lnTo>
                <a:lnTo>
                  <a:pt x="20286" y="1798"/>
                </a:lnTo>
                <a:lnTo>
                  <a:pt x="33574" y="8598"/>
                </a:lnTo>
                <a:lnTo>
                  <a:pt x="36706" y="13013"/>
                </a:lnTo>
                <a:lnTo>
                  <a:pt x="45952" y="20958"/>
                </a:lnTo>
                <a:lnTo>
                  <a:pt x="54637" y="35267"/>
                </a:lnTo>
                <a:lnTo>
                  <a:pt x="57686" y="38904"/>
                </a:lnTo>
                <a:lnTo>
                  <a:pt x="57686"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6" name="Illustrative delivered road transport cost class 2; reference terminal Lesedi"/>
          <p:cNvSpPr/>
          <p:nvPr/>
        </p:nvSpPr>
        <p:spPr>
          <a:xfrm>
            <a:off x="4223414" y="4351146"/>
            <a:ext cx="17701" cy="51042"/>
          </a:xfrm>
          <a:custGeom>
            <a:avLst/>
            <a:gdLst/>
            <a:ahLst/>
            <a:cxnLst/>
            <a:rect l="l" t="t" r="r" b="b"/>
            <a:pathLst>
              <a:path w="17701" h="51042">
                <a:moveTo>
                  <a:pt x="0" y="51042"/>
                </a:moveTo>
                <a:lnTo>
                  <a:pt x="0" y="0"/>
                </a:lnTo>
                <a:lnTo>
                  <a:pt x="4354" y="6488"/>
                </a:lnTo>
                <a:lnTo>
                  <a:pt x="2632" y="29167"/>
                </a:lnTo>
                <a:lnTo>
                  <a:pt x="5652" y="37373"/>
                </a:lnTo>
                <a:lnTo>
                  <a:pt x="10875" y="46874"/>
                </a:lnTo>
                <a:lnTo>
                  <a:pt x="15288" y="49363"/>
                </a:lnTo>
                <a:lnTo>
                  <a:pt x="17701" y="51042"/>
                </a:lnTo>
                <a:lnTo>
                  <a:pt x="0" y="51042"/>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7" name="Illustrative delivered road transport cost class None; reference terminal None"/>
          <p:cNvSpPr/>
          <p:nvPr/>
        </p:nvSpPr>
        <p:spPr>
          <a:xfrm>
            <a:off x="4223414" y="4171441"/>
            <a:ext cx="12464" cy="15727"/>
          </a:xfrm>
          <a:custGeom>
            <a:avLst/>
            <a:gdLst/>
            <a:ahLst/>
            <a:cxnLst/>
            <a:rect l="l" t="t" r="r" b="b"/>
            <a:pathLst>
              <a:path w="12464" h="15727">
                <a:moveTo>
                  <a:pt x="0" y="0"/>
                </a:moveTo>
                <a:lnTo>
                  <a:pt x="12464" y="0"/>
                </a:lnTo>
                <a:lnTo>
                  <a:pt x="8330" y="6319"/>
                </a:lnTo>
                <a:lnTo>
                  <a:pt x="0" y="1572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8" name="Illustrative delivered road transport cost class None; reference terminal None"/>
          <p:cNvSpPr/>
          <p:nvPr/>
        </p:nvSpPr>
        <p:spPr>
          <a:xfrm>
            <a:off x="4223414" y="4113755"/>
            <a:ext cx="53309" cy="57686"/>
          </a:xfrm>
          <a:custGeom>
            <a:avLst/>
            <a:gdLst/>
            <a:ahLst/>
            <a:cxnLst/>
            <a:rect l="l" t="t" r="r" b="b"/>
            <a:pathLst>
              <a:path w="53309" h="57686">
                <a:moveTo>
                  <a:pt x="0" y="57686"/>
                </a:moveTo>
                <a:lnTo>
                  <a:pt x="0" y="0"/>
                </a:lnTo>
                <a:lnTo>
                  <a:pt x="53309" y="0"/>
                </a:lnTo>
                <a:lnTo>
                  <a:pt x="47645" y="8746"/>
                </a:lnTo>
                <a:lnTo>
                  <a:pt x="39324" y="18915"/>
                </a:lnTo>
                <a:lnTo>
                  <a:pt x="31785" y="25453"/>
                </a:lnTo>
                <a:lnTo>
                  <a:pt x="24064" y="39961"/>
                </a:lnTo>
                <a:lnTo>
                  <a:pt x="1246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9" name="Illustrative delivered road transport cost class None; reference terminal None"/>
          <p:cNvSpPr/>
          <p:nvPr/>
        </p:nvSpPr>
        <p:spPr>
          <a:xfrm>
            <a:off x="4223414" y="4056068"/>
            <a:ext cx="57686" cy="57687"/>
          </a:xfrm>
          <a:custGeom>
            <a:avLst/>
            <a:gdLst/>
            <a:ahLst/>
            <a:cxnLst/>
            <a:rect l="l" t="t" r="r" b="b"/>
            <a:pathLst>
              <a:path w="57686" h="57687">
                <a:moveTo>
                  <a:pt x="0" y="57687"/>
                </a:moveTo>
                <a:lnTo>
                  <a:pt x="0" y="0"/>
                </a:lnTo>
                <a:lnTo>
                  <a:pt x="57686" y="0"/>
                </a:lnTo>
                <a:lnTo>
                  <a:pt x="57686" y="50928"/>
                </a:lnTo>
                <a:lnTo>
                  <a:pt x="5330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0" name="Illustrative delivered road transport cost class 1; reference terminal Lesedi"/>
          <p:cNvSpPr/>
          <p:nvPr/>
        </p:nvSpPr>
        <p:spPr>
          <a:xfrm>
            <a:off x="4223414"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1" name="Illustrative delivered road transport cost class 1; reference terminal Lesedi"/>
          <p:cNvSpPr/>
          <p:nvPr/>
        </p:nvSpPr>
        <p:spPr>
          <a:xfrm>
            <a:off x="4223414"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2" name="Illustrative delivered road transport cost class 1; reference terminal Lesedi"/>
          <p:cNvSpPr/>
          <p:nvPr/>
        </p:nvSpPr>
        <p:spPr>
          <a:xfrm>
            <a:off x="4223414"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3" name="Illustrative delivered road transport cost class 0; reference terminal Lesedi"/>
          <p:cNvSpPr/>
          <p:nvPr/>
        </p:nvSpPr>
        <p:spPr>
          <a:xfrm>
            <a:off x="4223414"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4" name="Illustrative delivered road transport cost class 0; reference terminal Lesedi"/>
          <p:cNvSpPr/>
          <p:nvPr/>
        </p:nvSpPr>
        <p:spPr>
          <a:xfrm>
            <a:off x="4223414"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5" name="Illustrative delivered road transport cost class 0; reference terminal Lesedi"/>
          <p:cNvSpPr/>
          <p:nvPr/>
        </p:nvSpPr>
        <p:spPr>
          <a:xfrm>
            <a:off x="4223414"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6" name="Illustrative delivered road transport cost class 0; reference terminal Lesedi"/>
          <p:cNvSpPr/>
          <p:nvPr/>
        </p:nvSpPr>
        <p:spPr>
          <a:xfrm>
            <a:off x="4223414"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7" name="Illustrative delivered road transport cost class 0; reference terminal Lesedi"/>
          <p:cNvSpPr/>
          <p:nvPr/>
        </p:nvSpPr>
        <p:spPr>
          <a:xfrm>
            <a:off x="4223414"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8" name="Illustrative delivered road transport cost class 0; reference terminal Lesedi"/>
          <p:cNvSpPr/>
          <p:nvPr/>
        </p:nvSpPr>
        <p:spPr>
          <a:xfrm>
            <a:off x="4223414"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9" name="Illustrative delivered road transport cost class 0; reference terminal Lesedi"/>
          <p:cNvSpPr/>
          <p:nvPr/>
        </p:nvSpPr>
        <p:spPr>
          <a:xfrm>
            <a:off x="4223414"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0" name="Illustrative delivered road transport cost class 0; reference terminal Lesedi"/>
          <p:cNvSpPr/>
          <p:nvPr/>
        </p:nvSpPr>
        <p:spPr>
          <a:xfrm>
            <a:off x="4223414"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1" name="Illustrative delivered road transport cost class 0; reference terminal Lesedi"/>
          <p:cNvSpPr/>
          <p:nvPr/>
        </p:nvSpPr>
        <p:spPr>
          <a:xfrm>
            <a:off x="4223414"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2" name="Illustrative delivered road transport cost class 0; reference terminal Lesedi"/>
          <p:cNvSpPr/>
          <p:nvPr/>
        </p:nvSpPr>
        <p:spPr>
          <a:xfrm>
            <a:off x="4223414"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3" name="Illustrative delivered road transport cost class 0; reference terminal Lesedi"/>
          <p:cNvSpPr/>
          <p:nvPr/>
        </p:nvSpPr>
        <p:spPr>
          <a:xfrm>
            <a:off x="4223414"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4" name="Illustrative delivered road transport cost class 0; reference terminal Lesedi"/>
          <p:cNvSpPr/>
          <p:nvPr/>
        </p:nvSpPr>
        <p:spPr>
          <a:xfrm>
            <a:off x="4223414"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5" name="Illustrative delivered road transport cost class 0; reference terminal Lesedi"/>
          <p:cNvSpPr/>
          <p:nvPr/>
        </p:nvSpPr>
        <p:spPr>
          <a:xfrm>
            <a:off x="4223414"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6" name="Illustrative delivered road transport cost class 0; reference terminal Lesedi"/>
          <p:cNvSpPr/>
          <p:nvPr/>
        </p:nvSpPr>
        <p:spPr>
          <a:xfrm>
            <a:off x="4223414"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7" name="Illustrative delivered road transport cost class 0; reference terminal Lesedi"/>
          <p:cNvSpPr/>
          <p:nvPr/>
        </p:nvSpPr>
        <p:spPr>
          <a:xfrm>
            <a:off x="4223414"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8" name="Illustrative delivered road transport cost class 0; reference terminal Lesedi"/>
          <p:cNvSpPr/>
          <p:nvPr/>
        </p:nvSpPr>
        <p:spPr>
          <a:xfrm>
            <a:off x="4223414"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9" name="Illustrative delivered road transport cost class None; reference terminal None"/>
          <p:cNvSpPr/>
          <p:nvPr/>
        </p:nvSpPr>
        <p:spPr>
          <a:xfrm>
            <a:off x="4223414"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0" name="Illustrative delivered road transport cost class None; reference terminal None"/>
          <p:cNvSpPr/>
          <p:nvPr/>
        </p:nvSpPr>
        <p:spPr>
          <a:xfrm>
            <a:off x="4223414"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1" name="Illustrative delivered road transport cost class None; reference terminal None"/>
          <p:cNvSpPr/>
          <p:nvPr/>
        </p:nvSpPr>
        <p:spPr>
          <a:xfrm>
            <a:off x="4223414"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2" name="Illustrative delivered road transport cost class None; reference terminal None"/>
          <p:cNvSpPr/>
          <p:nvPr/>
        </p:nvSpPr>
        <p:spPr>
          <a:xfrm>
            <a:off x="4223414"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3" name="Illustrative delivered road transport cost class None; reference terminal None"/>
          <p:cNvSpPr/>
          <p:nvPr/>
        </p:nvSpPr>
        <p:spPr>
          <a:xfrm>
            <a:off x="4223414"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4" name="Illustrative delivered road transport cost class None; reference terminal None"/>
          <p:cNvSpPr/>
          <p:nvPr/>
        </p:nvSpPr>
        <p:spPr>
          <a:xfrm>
            <a:off x="4223414" y="2624722"/>
            <a:ext cx="57686" cy="46868"/>
          </a:xfrm>
          <a:custGeom>
            <a:avLst/>
            <a:gdLst/>
            <a:ahLst/>
            <a:cxnLst/>
            <a:rect l="l" t="t" r="r" b="b"/>
            <a:pathLst>
              <a:path w="57686" h="46868">
                <a:moveTo>
                  <a:pt x="57686" y="46868"/>
                </a:moveTo>
                <a:lnTo>
                  <a:pt x="0" y="46868"/>
                </a:lnTo>
                <a:lnTo>
                  <a:pt x="0" y="33976"/>
                </a:lnTo>
                <a:lnTo>
                  <a:pt x="9593" y="27980"/>
                </a:lnTo>
                <a:lnTo>
                  <a:pt x="26902" y="11490"/>
                </a:lnTo>
                <a:lnTo>
                  <a:pt x="47342" y="1504"/>
                </a:lnTo>
                <a:lnTo>
                  <a:pt x="57686" y="0"/>
                </a:lnTo>
                <a:lnTo>
                  <a:pt x="57686" y="4686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5" name="Illustrative delivered road transport cost class 1; reference terminal Durban"/>
          <p:cNvSpPr/>
          <p:nvPr/>
        </p:nvSpPr>
        <p:spPr>
          <a:xfrm>
            <a:off x="4281100" y="5094426"/>
            <a:ext cx="46760" cy="30279"/>
          </a:xfrm>
          <a:custGeom>
            <a:avLst/>
            <a:gdLst/>
            <a:ahLst/>
            <a:cxnLst/>
            <a:rect l="l" t="t" r="r" b="b"/>
            <a:pathLst>
              <a:path w="46760" h="30279">
                <a:moveTo>
                  <a:pt x="0" y="0"/>
                </a:moveTo>
                <a:lnTo>
                  <a:pt x="46760" y="0"/>
                </a:lnTo>
                <a:lnTo>
                  <a:pt x="39941" y="6163"/>
                </a:lnTo>
                <a:lnTo>
                  <a:pt x="18427" y="16406"/>
                </a:lnTo>
                <a:lnTo>
                  <a:pt x="0" y="3027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6" name="Illustrative delivered road transport cost class 1; reference terminal Durban"/>
          <p:cNvSpPr/>
          <p:nvPr/>
        </p:nvSpPr>
        <p:spPr>
          <a:xfrm>
            <a:off x="4281100" y="5036740"/>
            <a:ext cx="57687" cy="57686"/>
          </a:xfrm>
          <a:custGeom>
            <a:avLst/>
            <a:gdLst/>
            <a:ahLst/>
            <a:cxnLst/>
            <a:rect l="l" t="t" r="r" b="b"/>
            <a:pathLst>
              <a:path w="57687" h="57686">
                <a:moveTo>
                  <a:pt x="0" y="57686"/>
                </a:moveTo>
                <a:lnTo>
                  <a:pt x="0" y="0"/>
                </a:lnTo>
                <a:lnTo>
                  <a:pt x="57687" y="0"/>
                </a:lnTo>
                <a:lnTo>
                  <a:pt x="57687" y="47813"/>
                </a:lnTo>
                <a:lnTo>
                  <a:pt x="46760"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7" name="Illustrative delivered road transport cost class 1; reference terminal Durban"/>
          <p:cNvSpPr/>
          <p:nvPr/>
        </p:nvSpPr>
        <p:spPr>
          <a:xfrm>
            <a:off x="428110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8" name="Illustrative delivered road transport cost class 1; reference terminal Durban"/>
          <p:cNvSpPr/>
          <p:nvPr/>
        </p:nvSpPr>
        <p:spPr>
          <a:xfrm>
            <a:off x="428110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9" name="Illustrative delivered road transport cost class 1; reference terminal Durban"/>
          <p:cNvSpPr/>
          <p:nvPr/>
        </p:nvSpPr>
        <p:spPr>
          <a:xfrm>
            <a:off x="428110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0" name="Illustrative delivered road transport cost class 1; reference terminal Durban"/>
          <p:cNvSpPr/>
          <p:nvPr/>
        </p:nvSpPr>
        <p:spPr>
          <a:xfrm>
            <a:off x="428110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1" name="Illustrative delivered road transport cost class 1; reference terminal Durban"/>
          <p:cNvSpPr/>
          <p:nvPr/>
        </p:nvSpPr>
        <p:spPr>
          <a:xfrm>
            <a:off x="428110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2" name="Illustrative delivered road transport cost class 1; reference terminal Durban"/>
          <p:cNvSpPr/>
          <p:nvPr/>
        </p:nvSpPr>
        <p:spPr>
          <a:xfrm>
            <a:off x="428110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3" name="Illustrative delivered road transport cost class 1; reference terminal Durban"/>
          <p:cNvSpPr/>
          <p:nvPr/>
        </p:nvSpPr>
        <p:spPr>
          <a:xfrm>
            <a:off x="428110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4" name="Illustrative delivered road transport cost class 2; reference terminal Lesedi"/>
          <p:cNvSpPr/>
          <p:nvPr/>
        </p:nvSpPr>
        <p:spPr>
          <a:xfrm>
            <a:off x="428110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5" name="Illustrative delivered road transport cost class 2; reference terminal Lesedi"/>
          <p:cNvSpPr/>
          <p:nvPr/>
        </p:nvSpPr>
        <p:spPr>
          <a:xfrm>
            <a:off x="428110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6" name="Illustrative delivered road transport cost class 2; reference terminal Lesedi"/>
          <p:cNvSpPr/>
          <p:nvPr/>
        </p:nvSpPr>
        <p:spPr>
          <a:xfrm>
            <a:off x="4281100" y="4459874"/>
            <a:ext cx="57687" cy="57687"/>
          </a:xfrm>
          <a:custGeom>
            <a:avLst/>
            <a:gdLst/>
            <a:ahLst/>
            <a:cxnLst/>
            <a:rect l="l" t="t" r="r" b="b"/>
            <a:pathLst>
              <a:path w="57687" h="57687">
                <a:moveTo>
                  <a:pt x="57687" y="57687"/>
                </a:moveTo>
                <a:lnTo>
                  <a:pt x="0" y="57687"/>
                </a:lnTo>
                <a:lnTo>
                  <a:pt x="0" y="0"/>
                </a:lnTo>
                <a:lnTo>
                  <a:pt x="16796" y="0"/>
                </a:lnTo>
                <a:lnTo>
                  <a:pt x="32339" y="12574"/>
                </a:lnTo>
                <a:lnTo>
                  <a:pt x="57687" y="17906"/>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7" name="Illustrative delivered road transport cost class None; reference terminal None"/>
          <p:cNvSpPr/>
          <p:nvPr/>
        </p:nvSpPr>
        <p:spPr>
          <a:xfrm>
            <a:off x="4281100" y="4441092"/>
            <a:ext cx="16796" cy="18782"/>
          </a:xfrm>
          <a:custGeom>
            <a:avLst/>
            <a:gdLst/>
            <a:ahLst/>
            <a:cxnLst/>
            <a:rect l="l" t="t" r="r" b="b"/>
            <a:pathLst>
              <a:path w="16796" h="18782">
                <a:moveTo>
                  <a:pt x="0" y="18782"/>
                </a:moveTo>
                <a:lnTo>
                  <a:pt x="0" y="0"/>
                </a:lnTo>
                <a:lnTo>
                  <a:pt x="13545" y="16152"/>
                </a:lnTo>
                <a:lnTo>
                  <a:pt x="16796" y="18782"/>
                </a:lnTo>
                <a:lnTo>
                  <a:pt x="0" y="1878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8" name="Illustrative delivered road transport cost class None; reference terminal None"/>
          <p:cNvSpPr/>
          <p:nvPr/>
        </p:nvSpPr>
        <p:spPr>
          <a:xfrm>
            <a:off x="4281100" y="4056068"/>
            <a:ext cx="33084" cy="50928"/>
          </a:xfrm>
          <a:custGeom>
            <a:avLst/>
            <a:gdLst/>
            <a:ahLst/>
            <a:cxnLst/>
            <a:rect l="l" t="t" r="r" b="b"/>
            <a:pathLst>
              <a:path w="33084" h="50928">
                <a:moveTo>
                  <a:pt x="0" y="0"/>
                </a:moveTo>
                <a:lnTo>
                  <a:pt x="33084" y="0"/>
                </a:lnTo>
                <a:lnTo>
                  <a:pt x="20940" y="18711"/>
                </a:lnTo>
                <a:lnTo>
                  <a:pt x="4609" y="43812"/>
                </a:lnTo>
                <a:lnTo>
                  <a:pt x="0" y="50928"/>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9" name="Illustrative delivered road transport cost class None; reference terminal None"/>
          <p:cNvSpPr/>
          <p:nvPr/>
        </p:nvSpPr>
        <p:spPr>
          <a:xfrm>
            <a:off x="4281100" y="3998382"/>
            <a:ext cx="57687" cy="57686"/>
          </a:xfrm>
          <a:custGeom>
            <a:avLst/>
            <a:gdLst/>
            <a:ahLst/>
            <a:cxnLst/>
            <a:rect l="l" t="t" r="r" b="b"/>
            <a:pathLst>
              <a:path w="57687" h="57686">
                <a:moveTo>
                  <a:pt x="0" y="57686"/>
                </a:moveTo>
                <a:lnTo>
                  <a:pt x="0" y="0"/>
                </a:lnTo>
                <a:lnTo>
                  <a:pt x="57687" y="0"/>
                </a:lnTo>
                <a:lnTo>
                  <a:pt x="57687" y="42797"/>
                </a:lnTo>
                <a:lnTo>
                  <a:pt x="38441" y="49434"/>
                </a:lnTo>
                <a:lnTo>
                  <a:pt x="3308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0" name="Illustrative delivered road transport cost class 1; reference terminal Lesedi"/>
          <p:cNvSpPr/>
          <p:nvPr/>
        </p:nvSpPr>
        <p:spPr>
          <a:xfrm>
            <a:off x="4281100"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1" name="Illustrative delivered road transport cost class 1; reference terminal Lesedi"/>
          <p:cNvSpPr/>
          <p:nvPr/>
        </p:nvSpPr>
        <p:spPr>
          <a:xfrm>
            <a:off x="428110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2" name="Illustrative delivered road transport cost class 1; reference terminal Lesedi"/>
          <p:cNvSpPr/>
          <p:nvPr/>
        </p:nvSpPr>
        <p:spPr>
          <a:xfrm>
            <a:off x="428110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3" name="Illustrative delivered road transport cost class 0; reference terminal Lesedi"/>
          <p:cNvSpPr/>
          <p:nvPr/>
        </p:nvSpPr>
        <p:spPr>
          <a:xfrm>
            <a:off x="428110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4" name="Illustrative delivered road transport cost class 0; reference terminal Lesedi"/>
          <p:cNvSpPr/>
          <p:nvPr/>
        </p:nvSpPr>
        <p:spPr>
          <a:xfrm>
            <a:off x="428110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5" name="Illustrative delivered road transport cost class 0; reference terminal Lesedi"/>
          <p:cNvSpPr/>
          <p:nvPr/>
        </p:nvSpPr>
        <p:spPr>
          <a:xfrm>
            <a:off x="428110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6" name="Illustrative delivered road transport cost class 0; reference terminal Lesedi"/>
          <p:cNvSpPr/>
          <p:nvPr/>
        </p:nvSpPr>
        <p:spPr>
          <a:xfrm>
            <a:off x="428110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7" name="Illustrative delivered road transport cost class 0; reference terminal Lesedi"/>
          <p:cNvSpPr/>
          <p:nvPr/>
        </p:nvSpPr>
        <p:spPr>
          <a:xfrm>
            <a:off x="428110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8" name="Illustrative delivered road transport cost class 0; reference terminal Lesedi"/>
          <p:cNvSpPr/>
          <p:nvPr/>
        </p:nvSpPr>
        <p:spPr>
          <a:xfrm>
            <a:off x="428110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9" name="Illustrative delivered road transport cost class 0; reference terminal Lesedi"/>
          <p:cNvSpPr/>
          <p:nvPr/>
        </p:nvSpPr>
        <p:spPr>
          <a:xfrm>
            <a:off x="428110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0" name="Illustrative delivered road transport cost class 0; reference terminal Lesedi"/>
          <p:cNvSpPr/>
          <p:nvPr/>
        </p:nvSpPr>
        <p:spPr>
          <a:xfrm>
            <a:off x="428110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1" name="Illustrative delivered road transport cost class 0; reference terminal Lesedi"/>
          <p:cNvSpPr/>
          <p:nvPr/>
        </p:nvSpPr>
        <p:spPr>
          <a:xfrm>
            <a:off x="428110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2" name="Illustrative delivered road transport cost class 0; reference terminal Lesedi"/>
          <p:cNvSpPr/>
          <p:nvPr/>
        </p:nvSpPr>
        <p:spPr>
          <a:xfrm>
            <a:off x="428110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3" name="Illustrative delivered road transport cost class 0; reference terminal Lesedi"/>
          <p:cNvSpPr/>
          <p:nvPr/>
        </p:nvSpPr>
        <p:spPr>
          <a:xfrm>
            <a:off x="428110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4" name="Illustrative delivered road transport cost class 0; reference terminal Lesedi"/>
          <p:cNvSpPr/>
          <p:nvPr/>
        </p:nvSpPr>
        <p:spPr>
          <a:xfrm>
            <a:off x="428110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5" name="Illustrative delivered road transport cost class 0; reference terminal Lesedi"/>
          <p:cNvSpPr/>
          <p:nvPr/>
        </p:nvSpPr>
        <p:spPr>
          <a:xfrm>
            <a:off x="428110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6" name="Illustrative delivered road transport cost class 0; reference terminal Lesedi"/>
          <p:cNvSpPr/>
          <p:nvPr/>
        </p:nvSpPr>
        <p:spPr>
          <a:xfrm>
            <a:off x="428110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7" name="Illustrative delivered road transport cost class 0; reference terminal Lesedi"/>
          <p:cNvSpPr/>
          <p:nvPr/>
        </p:nvSpPr>
        <p:spPr>
          <a:xfrm>
            <a:off x="428110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8" name="Illustrative delivered road transport cost class None; reference terminal None"/>
          <p:cNvSpPr/>
          <p:nvPr/>
        </p:nvSpPr>
        <p:spPr>
          <a:xfrm>
            <a:off x="428110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9" name="Illustrative delivered road transport cost class None; reference terminal None"/>
          <p:cNvSpPr/>
          <p:nvPr/>
        </p:nvSpPr>
        <p:spPr>
          <a:xfrm>
            <a:off x="428110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0" name="Illustrative delivered road transport cost class None; reference terminal None"/>
          <p:cNvSpPr/>
          <p:nvPr/>
        </p:nvSpPr>
        <p:spPr>
          <a:xfrm>
            <a:off x="428110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1" name="Illustrative delivered road transport cost class None; reference terminal None"/>
          <p:cNvSpPr/>
          <p:nvPr/>
        </p:nvSpPr>
        <p:spPr>
          <a:xfrm>
            <a:off x="428110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2" name="Illustrative delivered road transport cost class None; reference terminal None"/>
          <p:cNvSpPr/>
          <p:nvPr/>
        </p:nvSpPr>
        <p:spPr>
          <a:xfrm>
            <a:off x="428110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3" name="Illustrative delivered road transport cost class None; reference terminal None"/>
          <p:cNvSpPr/>
          <p:nvPr/>
        </p:nvSpPr>
        <p:spPr>
          <a:xfrm>
            <a:off x="4281100" y="2613904"/>
            <a:ext cx="57687" cy="57686"/>
          </a:xfrm>
          <a:custGeom>
            <a:avLst/>
            <a:gdLst/>
            <a:ahLst/>
            <a:cxnLst/>
            <a:rect l="l" t="t" r="r" b="b"/>
            <a:pathLst>
              <a:path w="57687" h="57686">
                <a:moveTo>
                  <a:pt x="57687" y="0"/>
                </a:moveTo>
                <a:lnTo>
                  <a:pt x="57687" y="57686"/>
                </a:lnTo>
                <a:lnTo>
                  <a:pt x="0" y="57686"/>
                </a:lnTo>
                <a:lnTo>
                  <a:pt x="0" y="10818"/>
                </a:lnTo>
                <a:lnTo>
                  <a:pt x="13219" y="8896"/>
                </a:lnTo>
                <a:lnTo>
                  <a:pt x="25858"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4" name="Illustrative delivered road transport cost class None; reference terminal None"/>
          <p:cNvSpPr/>
          <p:nvPr/>
        </p:nvSpPr>
        <p:spPr>
          <a:xfrm>
            <a:off x="4306958" y="2585046"/>
            <a:ext cx="31829" cy="28858"/>
          </a:xfrm>
          <a:custGeom>
            <a:avLst/>
            <a:gdLst/>
            <a:ahLst/>
            <a:cxnLst/>
            <a:rect l="l" t="t" r="r" b="b"/>
            <a:pathLst>
              <a:path w="31829" h="28858">
                <a:moveTo>
                  <a:pt x="31829" y="28858"/>
                </a:moveTo>
                <a:lnTo>
                  <a:pt x="0" y="28858"/>
                </a:lnTo>
                <a:lnTo>
                  <a:pt x="2787" y="26896"/>
                </a:lnTo>
                <a:lnTo>
                  <a:pt x="10101" y="8669"/>
                </a:lnTo>
                <a:lnTo>
                  <a:pt x="22365" y="0"/>
                </a:lnTo>
                <a:lnTo>
                  <a:pt x="31829" y="478"/>
                </a:lnTo>
                <a:lnTo>
                  <a:pt x="31829" y="288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5" name="Illustrative delivered road transport cost class 1; reference terminal Durban"/>
          <p:cNvSpPr/>
          <p:nvPr/>
        </p:nvSpPr>
        <p:spPr>
          <a:xfrm>
            <a:off x="4338787" y="5036740"/>
            <a:ext cx="52912" cy="47813"/>
          </a:xfrm>
          <a:custGeom>
            <a:avLst/>
            <a:gdLst/>
            <a:ahLst/>
            <a:cxnLst/>
            <a:rect l="l" t="t" r="r" b="b"/>
            <a:pathLst>
              <a:path w="52912" h="47813">
                <a:moveTo>
                  <a:pt x="0" y="0"/>
                </a:moveTo>
                <a:lnTo>
                  <a:pt x="52912" y="0"/>
                </a:lnTo>
                <a:lnTo>
                  <a:pt x="0" y="4781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6" name="Illustrative delivered road transport cost class 1; reference terminal Durban"/>
          <p:cNvSpPr/>
          <p:nvPr/>
        </p:nvSpPr>
        <p:spPr>
          <a:xfrm>
            <a:off x="4338787" y="4979053"/>
            <a:ext cx="57686" cy="57687"/>
          </a:xfrm>
          <a:custGeom>
            <a:avLst/>
            <a:gdLst/>
            <a:ahLst/>
            <a:cxnLst/>
            <a:rect l="l" t="t" r="r" b="b"/>
            <a:pathLst>
              <a:path w="57686" h="57687">
                <a:moveTo>
                  <a:pt x="0" y="57687"/>
                </a:moveTo>
                <a:lnTo>
                  <a:pt x="0" y="0"/>
                </a:lnTo>
                <a:lnTo>
                  <a:pt x="57686" y="0"/>
                </a:lnTo>
                <a:lnTo>
                  <a:pt x="57686" y="53373"/>
                </a:lnTo>
                <a:lnTo>
                  <a:pt x="5291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7" name="Illustrative delivered road transport cost class 1; reference terminal Durban"/>
          <p:cNvSpPr/>
          <p:nvPr/>
        </p:nvSpPr>
        <p:spPr>
          <a:xfrm>
            <a:off x="433878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8" name="Illustrative delivered road transport cost class 1; reference terminal Durban"/>
          <p:cNvSpPr/>
          <p:nvPr/>
        </p:nvSpPr>
        <p:spPr>
          <a:xfrm>
            <a:off x="433878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9" name="Illustrative delivered road transport cost class 1; reference terminal Durban"/>
          <p:cNvSpPr/>
          <p:nvPr/>
        </p:nvSpPr>
        <p:spPr>
          <a:xfrm>
            <a:off x="433878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0" name="Illustrative delivered road transport cost class 1; reference terminal Durban"/>
          <p:cNvSpPr/>
          <p:nvPr/>
        </p:nvSpPr>
        <p:spPr>
          <a:xfrm>
            <a:off x="433878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1" name="Illustrative delivered road transport cost class 1; reference terminal Durban"/>
          <p:cNvSpPr/>
          <p:nvPr/>
        </p:nvSpPr>
        <p:spPr>
          <a:xfrm>
            <a:off x="433878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2" name="Illustrative delivered road transport cost class 1; reference terminal Durban"/>
          <p:cNvSpPr/>
          <p:nvPr/>
        </p:nvSpPr>
        <p:spPr>
          <a:xfrm>
            <a:off x="433878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3" name="Illustrative delivered road transport cost class 1; reference terminal Durban"/>
          <p:cNvSpPr/>
          <p:nvPr/>
        </p:nvSpPr>
        <p:spPr>
          <a:xfrm>
            <a:off x="433878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4" name="Illustrative delivered road transport cost class None; reference terminal None"/>
          <p:cNvSpPr/>
          <p:nvPr/>
        </p:nvSpPr>
        <p:spPr>
          <a:xfrm>
            <a:off x="433878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5" name="Illustrative delivered road transport cost class None; reference terminal None"/>
          <p:cNvSpPr/>
          <p:nvPr/>
        </p:nvSpPr>
        <p:spPr>
          <a:xfrm>
            <a:off x="4338787" y="4459874"/>
            <a:ext cx="57686" cy="57687"/>
          </a:xfrm>
          <a:custGeom>
            <a:avLst/>
            <a:gdLst/>
            <a:ahLst/>
            <a:cxnLst/>
            <a:rect l="l" t="t" r="r" b="b"/>
            <a:pathLst>
              <a:path w="57686" h="57687">
                <a:moveTo>
                  <a:pt x="57686" y="0"/>
                </a:moveTo>
                <a:lnTo>
                  <a:pt x="57686" y="57687"/>
                </a:lnTo>
                <a:lnTo>
                  <a:pt x="0" y="57687"/>
                </a:lnTo>
                <a:lnTo>
                  <a:pt x="0" y="17906"/>
                </a:lnTo>
                <a:lnTo>
                  <a:pt x="7396" y="19461"/>
                </a:lnTo>
                <a:lnTo>
                  <a:pt x="32990" y="24831"/>
                </a:lnTo>
                <a:lnTo>
                  <a:pt x="41617" y="22181"/>
                </a:lnTo>
                <a:lnTo>
                  <a:pt x="50685" y="10522"/>
                </a:lnTo>
                <a:lnTo>
                  <a:pt x="5598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6" name="Illustrative delivered road transport cost class None; reference terminal None"/>
          <p:cNvSpPr/>
          <p:nvPr/>
        </p:nvSpPr>
        <p:spPr>
          <a:xfrm>
            <a:off x="4338787" y="3998382"/>
            <a:ext cx="57686" cy="42797"/>
          </a:xfrm>
          <a:custGeom>
            <a:avLst/>
            <a:gdLst/>
            <a:ahLst/>
            <a:cxnLst/>
            <a:rect l="l" t="t" r="r" b="b"/>
            <a:pathLst>
              <a:path w="57686" h="42797">
                <a:moveTo>
                  <a:pt x="0" y="0"/>
                </a:moveTo>
                <a:lnTo>
                  <a:pt x="57686" y="0"/>
                </a:lnTo>
                <a:lnTo>
                  <a:pt x="57686" y="12496"/>
                </a:lnTo>
                <a:lnTo>
                  <a:pt x="31616" y="33586"/>
                </a:lnTo>
                <a:lnTo>
                  <a:pt x="2264" y="42017"/>
                </a:lnTo>
                <a:lnTo>
                  <a:pt x="0" y="4279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7" name="Illustrative delivered road transport cost class None; reference terminal None"/>
          <p:cNvSpPr/>
          <p:nvPr/>
        </p:nvSpPr>
        <p:spPr>
          <a:xfrm>
            <a:off x="4338787"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8" name="Illustrative delivered road transport cost class None; reference terminal None"/>
          <p:cNvSpPr/>
          <p:nvPr/>
        </p:nvSpPr>
        <p:spPr>
          <a:xfrm>
            <a:off x="433878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9" name="Illustrative delivered road transport cost class 1; reference terminal Lesedi"/>
          <p:cNvSpPr/>
          <p:nvPr/>
        </p:nvSpPr>
        <p:spPr>
          <a:xfrm>
            <a:off x="433878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0" name="Illustrative delivered road transport cost class 1; reference terminal Lesedi"/>
          <p:cNvSpPr/>
          <p:nvPr/>
        </p:nvSpPr>
        <p:spPr>
          <a:xfrm>
            <a:off x="433878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1" name="Illustrative delivered road transport cost class 0; reference terminal Lesedi"/>
          <p:cNvSpPr/>
          <p:nvPr/>
        </p:nvSpPr>
        <p:spPr>
          <a:xfrm>
            <a:off x="433878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2" name="Illustrative delivered road transport cost class 0; reference terminal Lesedi"/>
          <p:cNvSpPr/>
          <p:nvPr/>
        </p:nvSpPr>
        <p:spPr>
          <a:xfrm>
            <a:off x="433878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3" name="Illustrative delivered road transport cost class 0; reference terminal Lesedi"/>
          <p:cNvSpPr/>
          <p:nvPr/>
        </p:nvSpPr>
        <p:spPr>
          <a:xfrm>
            <a:off x="433878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4" name="Illustrative delivered road transport cost class 0; reference terminal Lesedi"/>
          <p:cNvSpPr/>
          <p:nvPr/>
        </p:nvSpPr>
        <p:spPr>
          <a:xfrm>
            <a:off x="433878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5" name="Illustrative delivered road transport cost class 0; reference terminal Lesedi"/>
          <p:cNvSpPr/>
          <p:nvPr/>
        </p:nvSpPr>
        <p:spPr>
          <a:xfrm>
            <a:off x="433878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6" name="Illustrative delivered road transport cost class 0; reference terminal Lesedi"/>
          <p:cNvSpPr/>
          <p:nvPr/>
        </p:nvSpPr>
        <p:spPr>
          <a:xfrm>
            <a:off x="433878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7" name="Illustrative delivered road transport cost class 0; reference terminal Lesedi"/>
          <p:cNvSpPr/>
          <p:nvPr/>
        </p:nvSpPr>
        <p:spPr>
          <a:xfrm>
            <a:off x="433878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8" name="Illustrative delivered road transport cost class 0; reference terminal Lesedi"/>
          <p:cNvSpPr/>
          <p:nvPr/>
        </p:nvSpPr>
        <p:spPr>
          <a:xfrm>
            <a:off x="433878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9" name="Illustrative delivered road transport cost class 0; reference terminal Lesedi"/>
          <p:cNvSpPr/>
          <p:nvPr/>
        </p:nvSpPr>
        <p:spPr>
          <a:xfrm>
            <a:off x="433878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0" name="Illustrative delivered road transport cost class 0; reference terminal Lesedi"/>
          <p:cNvSpPr/>
          <p:nvPr/>
        </p:nvSpPr>
        <p:spPr>
          <a:xfrm>
            <a:off x="433878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1" name="Illustrative delivered road transport cost class 0; reference terminal Lesedi"/>
          <p:cNvSpPr/>
          <p:nvPr/>
        </p:nvSpPr>
        <p:spPr>
          <a:xfrm>
            <a:off x="433878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2" name="Illustrative delivered road transport cost class 0; reference terminal Lesedi"/>
          <p:cNvSpPr/>
          <p:nvPr/>
        </p:nvSpPr>
        <p:spPr>
          <a:xfrm>
            <a:off x="433878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3" name="Illustrative delivered road transport cost class 0; reference terminal Lesedi"/>
          <p:cNvSpPr/>
          <p:nvPr/>
        </p:nvSpPr>
        <p:spPr>
          <a:xfrm>
            <a:off x="433878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4" name="Illustrative delivered road transport cost class 0; reference terminal Lesedi"/>
          <p:cNvSpPr/>
          <p:nvPr/>
        </p:nvSpPr>
        <p:spPr>
          <a:xfrm>
            <a:off x="433878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5" name="Illustrative delivered road transport cost class 0; reference terminal Lesedi"/>
          <p:cNvSpPr/>
          <p:nvPr/>
        </p:nvSpPr>
        <p:spPr>
          <a:xfrm>
            <a:off x="433878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6" name="Illustrative delivered road transport cost class None; reference terminal None"/>
          <p:cNvSpPr/>
          <p:nvPr/>
        </p:nvSpPr>
        <p:spPr>
          <a:xfrm>
            <a:off x="433878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7" name="Illustrative delivered road transport cost class None; reference terminal None"/>
          <p:cNvSpPr/>
          <p:nvPr/>
        </p:nvSpPr>
        <p:spPr>
          <a:xfrm>
            <a:off x="433878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8" name="Illustrative delivered road transport cost class None; reference terminal None"/>
          <p:cNvSpPr/>
          <p:nvPr/>
        </p:nvSpPr>
        <p:spPr>
          <a:xfrm>
            <a:off x="433878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9" name="Illustrative delivered road transport cost class None; reference terminal None"/>
          <p:cNvSpPr/>
          <p:nvPr/>
        </p:nvSpPr>
        <p:spPr>
          <a:xfrm>
            <a:off x="433878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0" name="Illustrative delivered road transport cost class None; reference terminal None"/>
          <p:cNvSpPr/>
          <p:nvPr/>
        </p:nvSpPr>
        <p:spPr>
          <a:xfrm>
            <a:off x="433878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1" name="Illustrative delivered road transport cost class None; reference terminal None"/>
          <p:cNvSpPr/>
          <p:nvPr/>
        </p:nvSpPr>
        <p:spPr>
          <a:xfrm>
            <a:off x="4338787" y="2556217"/>
            <a:ext cx="57686" cy="57687"/>
          </a:xfrm>
          <a:custGeom>
            <a:avLst/>
            <a:gdLst/>
            <a:ahLst/>
            <a:cxnLst/>
            <a:rect l="l" t="t" r="r" b="b"/>
            <a:pathLst>
              <a:path w="57686" h="57687">
                <a:moveTo>
                  <a:pt x="57686" y="0"/>
                </a:moveTo>
                <a:lnTo>
                  <a:pt x="57686" y="57687"/>
                </a:lnTo>
                <a:lnTo>
                  <a:pt x="0" y="57687"/>
                </a:lnTo>
                <a:lnTo>
                  <a:pt x="0" y="29307"/>
                </a:lnTo>
                <a:lnTo>
                  <a:pt x="7768" y="29699"/>
                </a:lnTo>
                <a:lnTo>
                  <a:pt x="17695" y="24082"/>
                </a:lnTo>
                <a:lnTo>
                  <a:pt x="20365" y="11922"/>
                </a:lnTo>
                <a:lnTo>
                  <a:pt x="30994" y="1712"/>
                </a:lnTo>
                <a:lnTo>
                  <a:pt x="34844"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2" name="Illustrative delivered road transport cost class None; reference terminal None"/>
          <p:cNvSpPr/>
          <p:nvPr/>
        </p:nvSpPr>
        <p:spPr>
          <a:xfrm>
            <a:off x="4373631" y="2541422"/>
            <a:ext cx="22842" cy="14795"/>
          </a:xfrm>
          <a:custGeom>
            <a:avLst/>
            <a:gdLst/>
            <a:ahLst/>
            <a:cxnLst/>
            <a:rect l="l" t="t" r="r" b="b"/>
            <a:pathLst>
              <a:path w="22842" h="14795">
                <a:moveTo>
                  <a:pt x="22842" y="14795"/>
                </a:moveTo>
                <a:lnTo>
                  <a:pt x="0" y="14795"/>
                </a:lnTo>
                <a:lnTo>
                  <a:pt x="14767" y="8230"/>
                </a:lnTo>
                <a:lnTo>
                  <a:pt x="22842" y="0"/>
                </a:lnTo>
                <a:lnTo>
                  <a:pt x="22842" y="1479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3" name="Illustrative delivered road transport cost class 1; reference terminal Durban"/>
          <p:cNvSpPr/>
          <p:nvPr/>
        </p:nvSpPr>
        <p:spPr>
          <a:xfrm>
            <a:off x="4396473" y="4979053"/>
            <a:ext cx="57687" cy="53373"/>
          </a:xfrm>
          <a:custGeom>
            <a:avLst/>
            <a:gdLst/>
            <a:ahLst/>
            <a:cxnLst/>
            <a:rect l="l" t="t" r="r" b="b"/>
            <a:pathLst>
              <a:path w="57687" h="53373">
                <a:moveTo>
                  <a:pt x="0" y="0"/>
                </a:moveTo>
                <a:lnTo>
                  <a:pt x="57687" y="0"/>
                </a:lnTo>
                <a:lnTo>
                  <a:pt x="57687" y="12780"/>
                </a:lnTo>
                <a:lnTo>
                  <a:pt x="54944" y="15243"/>
                </a:lnTo>
                <a:lnTo>
                  <a:pt x="2897" y="50755"/>
                </a:lnTo>
                <a:lnTo>
                  <a:pt x="0" y="5337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4" name="Illustrative delivered road transport cost class 1; reference terminal Durban"/>
          <p:cNvSpPr/>
          <p:nvPr/>
        </p:nvSpPr>
        <p:spPr>
          <a:xfrm>
            <a:off x="439647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5" name="Illustrative delivered road transport cost class 1; reference terminal Durban"/>
          <p:cNvSpPr/>
          <p:nvPr/>
        </p:nvSpPr>
        <p:spPr>
          <a:xfrm>
            <a:off x="439647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6" name="Illustrative delivered road transport cost class 1; reference terminal Durban"/>
          <p:cNvSpPr/>
          <p:nvPr/>
        </p:nvSpPr>
        <p:spPr>
          <a:xfrm>
            <a:off x="439647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7" name="Illustrative delivered road transport cost class 1; reference terminal Durban"/>
          <p:cNvSpPr/>
          <p:nvPr/>
        </p:nvSpPr>
        <p:spPr>
          <a:xfrm>
            <a:off x="439647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8" name="Illustrative delivered road transport cost class 1; reference terminal Durban"/>
          <p:cNvSpPr/>
          <p:nvPr/>
        </p:nvSpPr>
        <p:spPr>
          <a:xfrm>
            <a:off x="439647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9" name="Illustrative delivered road transport cost class 1; reference terminal Durban"/>
          <p:cNvSpPr/>
          <p:nvPr/>
        </p:nvSpPr>
        <p:spPr>
          <a:xfrm>
            <a:off x="439647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0" name="Illustrative delivered road transport cost class 1; reference terminal Durban"/>
          <p:cNvSpPr/>
          <p:nvPr/>
        </p:nvSpPr>
        <p:spPr>
          <a:xfrm>
            <a:off x="439647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1" name="Illustrative delivered road transport cost class 1; reference terminal Durban"/>
          <p:cNvSpPr/>
          <p:nvPr/>
        </p:nvSpPr>
        <p:spPr>
          <a:xfrm>
            <a:off x="439647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2" name="Illustrative delivered road transport cost class 1; reference terminal Durban"/>
          <p:cNvSpPr/>
          <p:nvPr/>
        </p:nvSpPr>
        <p:spPr>
          <a:xfrm>
            <a:off x="439647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3" name="Illustrative delivered road transport cost class None; reference terminal None"/>
          <p:cNvSpPr/>
          <p:nvPr/>
        </p:nvSpPr>
        <p:spPr>
          <a:xfrm>
            <a:off x="4396473" y="4402188"/>
            <a:ext cx="57687" cy="57686"/>
          </a:xfrm>
          <a:custGeom>
            <a:avLst/>
            <a:gdLst/>
            <a:ahLst/>
            <a:cxnLst/>
            <a:rect l="l" t="t" r="r" b="b"/>
            <a:pathLst>
              <a:path w="57687" h="57686">
                <a:moveTo>
                  <a:pt x="57687" y="0"/>
                </a:moveTo>
                <a:lnTo>
                  <a:pt x="57687" y="57686"/>
                </a:lnTo>
                <a:lnTo>
                  <a:pt x="0" y="57686"/>
                </a:lnTo>
                <a:lnTo>
                  <a:pt x="0" y="54310"/>
                </a:lnTo>
                <a:lnTo>
                  <a:pt x="566" y="53187"/>
                </a:lnTo>
                <a:lnTo>
                  <a:pt x="3386" y="34016"/>
                </a:lnTo>
                <a:lnTo>
                  <a:pt x="11889" y="23997"/>
                </a:lnTo>
                <a:lnTo>
                  <a:pt x="27990"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4" name="Illustrative delivered road transport cost class None; reference terminal None"/>
          <p:cNvSpPr/>
          <p:nvPr/>
        </p:nvSpPr>
        <p:spPr>
          <a:xfrm>
            <a:off x="4424463" y="4364487"/>
            <a:ext cx="29697" cy="37701"/>
          </a:xfrm>
          <a:custGeom>
            <a:avLst/>
            <a:gdLst/>
            <a:ahLst/>
            <a:cxnLst/>
            <a:rect l="l" t="t" r="r" b="b"/>
            <a:pathLst>
              <a:path w="29697" h="37701">
                <a:moveTo>
                  <a:pt x="29697" y="37701"/>
                </a:moveTo>
                <a:lnTo>
                  <a:pt x="0" y="37701"/>
                </a:lnTo>
                <a:lnTo>
                  <a:pt x="16171" y="13598"/>
                </a:lnTo>
                <a:lnTo>
                  <a:pt x="29697" y="0"/>
                </a:lnTo>
                <a:lnTo>
                  <a:pt x="29697" y="3770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5" name="Illustrative delivered road transport cost class None; reference terminal None"/>
          <p:cNvSpPr/>
          <p:nvPr/>
        </p:nvSpPr>
        <p:spPr>
          <a:xfrm>
            <a:off x="4396473" y="3998382"/>
            <a:ext cx="20941" cy="12496"/>
          </a:xfrm>
          <a:custGeom>
            <a:avLst/>
            <a:gdLst/>
            <a:ahLst/>
            <a:cxnLst/>
            <a:rect l="l" t="t" r="r" b="b"/>
            <a:pathLst>
              <a:path w="20941" h="12496">
                <a:moveTo>
                  <a:pt x="0" y="0"/>
                </a:moveTo>
                <a:lnTo>
                  <a:pt x="20941" y="0"/>
                </a:lnTo>
                <a:lnTo>
                  <a:pt x="2562" y="10424"/>
                </a:lnTo>
                <a:lnTo>
                  <a:pt x="0" y="12496"/>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6" name="Illustrative delivered road transport cost class 1; reference terminal Lesedi"/>
          <p:cNvSpPr/>
          <p:nvPr/>
        </p:nvSpPr>
        <p:spPr>
          <a:xfrm>
            <a:off x="4396473" y="3940695"/>
            <a:ext cx="57687" cy="57687"/>
          </a:xfrm>
          <a:custGeom>
            <a:avLst/>
            <a:gdLst/>
            <a:ahLst/>
            <a:cxnLst/>
            <a:rect l="l" t="t" r="r" b="b"/>
            <a:pathLst>
              <a:path w="57687" h="57687">
                <a:moveTo>
                  <a:pt x="0" y="57687"/>
                </a:moveTo>
                <a:lnTo>
                  <a:pt x="0" y="0"/>
                </a:lnTo>
                <a:lnTo>
                  <a:pt x="57687" y="0"/>
                </a:lnTo>
                <a:lnTo>
                  <a:pt x="57687" y="40967"/>
                </a:lnTo>
                <a:lnTo>
                  <a:pt x="36487" y="48869"/>
                </a:lnTo>
                <a:lnTo>
                  <a:pt x="20941"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7" name="Illustrative delivered road transport cost class 1; reference terminal Lesedi"/>
          <p:cNvSpPr/>
          <p:nvPr/>
        </p:nvSpPr>
        <p:spPr>
          <a:xfrm>
            <a:off x="439647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8" name="Illustrative delivered road transport cost class 1; reference terminal Lesedi"/>
          <p:cNvSpPr/>
          <p:nvPr/>
        </p:nvSpPr>
        <p:spPr>
          <a:xfrm>
            <a:off x="439647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9" name="Illustrative delivered road transport cost class 0; reference terminal Lesedi"/>
          <p:cNvSpPr/>
          <p:nvPr/>
        </p:nvSpPr>
        <p:spPr>
          <a:xfrm>
            <a:off x="439647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0" name="Illustrative delivered road transport cost class 0; reference terminal Lesedi"/>
          <p:cNvSpPr/>
          <p:nvPr/>
        </p:nvSpPr>
        <p:spPr>
          <a:xfrm>
            <a:off x="439647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1" name="Illustrative delivered road transport cost class 0; reference terminal Lesedi"/>
          <p:cNvSpPr/>
          <p:nvPr/>
        </p:nvSpPr>
        <p:spPr>
          <a:xfrm>
            <a:off x="439647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2" name="Illustrative delivered road transport cost class 0; reference terminal Lesedi"/>
          <p:cNvSpPr/>
          <p:nvPr/>
        </p:nvSpPr>
        <p:spPr>
          <a:xfrm>
            <a:off x="439647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3" name="Illustrative delivered road transport cost class 0; reference terminal Lesedi"/>
          <p:cNvSpPr/>
          <p:nvPr/>
        </p:nvSpPr>
        <p:spPr>
          <a:xfrm>
            <a:off x="439647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4" name="Illustrative delivered road transport cost class 0; reference terminal Lesedi"/>
          <p:cNvSpPr/>
          <p:nvPr/>
        </p:nvSpPr>
        <p:spPr>
          <a:xfrm>
            <a:off x="439647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5" name="Illustrative delivered road transport cost class 0; reference terminal Lesedi"/>
          <p:cNvSpPr/>
          <p:nvPr/>
        </p:nvSpPr>
        <p:spPr>
          <a:xfrm>
            <a:off x="439647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6" name="Illustrative delivered road transport cost class 0; reference terminal Lesedi"/>
          <p:cNvSpPr/>
          <p:nvPr/>
        </p:nvSpPr>
        <p:spPr>
          <a:xfrm>
            <a:off x="439647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7" name="Illustrative delivered road transport cost class 0; reference terminal Lesedi"/>
          <p:cNvSpPr/>
          <p:nvPr/>
        </p:nvSpPr>
        <p:spPr>
          <a:xfrm>
            <a:off x="439647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8" name="Illustrative delivered road transport cost class 0; reference terminal Lesedi"/>
          <p:cNvSpPr/>
          <p:nvPr/>
        </p:nvSpPr>
        <p:spPr>
          <a:xfrm>
            <a:off x="439647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9" name="Illustrative delivered road transport cost class 0; reference terminal Lesedi"/>
          <p:cNvSpPr/>
          <p:nvPr/>
        </p:nvSpPr>
        <p:spPr>
          <a:xfrm>
            <a:off x="439647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0" name="Illustrative delivered road transport cost class 0; reference terminal Lesedi"/>
          <p:cNvSpPr/>
          <p:nvPr/>
        </p:nvSpPr>
        <p:spPr>
          <a:xfrm>
            <a:off x="439647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1" name="Illustrative delivered road transport cost class 0; reference terminal Lesedi"/>
          <p:cNvSpPr/>
          <p:nvPr/>
        </p:nvSpPr>
        <p:spPr>
          <a:xfrm>
            <a:off x="439647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2" name="Illustrative delivered road transport cost class 0; reference terminal Lesedi"/>
          <p:cNvSpPr/>
          <p:nvPr/>
        </p:nvSpPr>
        <p:spPr>
          <a:xfrm>
            <a:off x="439647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3" name="Illustrative delivered road transport cost class 0; reference terminal Lesedi"/>
          <p:cNvSpPr/>
          <p:nvPr/>
        </p:nvSpPr>
        <p:spPr>
          <a:xfrm>
            <a:off x="439647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4" name="Illustrative delivered road transport cost class 0; reference terminal Lesedi"/>
          <p:cNvSpPr/>
          <p:nvPr/>
        </p:nvSpPr>
        <p:spPr>
          <a:xfrm>
            <a:off x="439647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5" name="Illustrative delivered road transport cost class 1; reference terminal Lesedi"/>
          <p:cNvSpPr/>
          <p:nvPr/>
        </p:nvSpPr>
        <p:spPr>
          <a:xfrm>
            <a:off x="439647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6" name="Illustrative delivered road transport cost class None; reference terminal None"/>
          <p:cNvSpPr/>
          <p:nvPr/>
        </p:nvSpPr>
        <p:spPr>
          <a:xfrm>
            <a:off x="439647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7" name="Illustrative delivered road transport cost class None; reference terminal None"/>
          <p:cNvSpPr/>
          <p:nvPr/>
        </p:nvSpPr>
        <p:spPr>
          <a:xfrm>
            <a:off x="439647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8" name="Illustrative delivered road transport cost class None; reference terminal None"/>
          <p:cNvSpPr/>
          <p:nvPr/>
        </p:nvSpPr>
        <p:spPr>
          <a:xfrm>
            <a:off x="439647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9" name="Illustrative delivered road transport cost class None; reference terminal None"/>
          <p:cNvSpPr/>
          <p:nvPr/>
        </p:nvSpPr>
        <p:spPr>
          <a:xfrm>
            <a:off x="439647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0" name="Illustrative delivered road transport cost class None; reference terminal None"/>
          <p:cNvSpPr/>
          <p:nvPr/>
        </p:nvSpPr>
        <p:spPr>
          <a:xfrm>
            <a:off x="439647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1" name="Illustrative delivered road transport cost class None; reference terminal None"/>
          <p:cNvSpPr/>
          <p:nvPr/>
        </p:nvSpPr>
        <p:spPr>
          <a:xfrm>
            <a:off x="4396473" y="2498531"/>
            <a:ext cx="57687" cy="57686"/>
          </a:xfrm>
          <a:custGeom>
            <a:avLst/>
            <a:gdLst/>
            <a:ahLst/>
            <a:cxnLst/>
            <a:rect l="l" t="t" r="r" b="b"/>
            <a:pathLst>
              <a:path w="57687" h="57686">
                <a:moveTo>
                  <a:pt x="57687" y="0"/>
                </a:moveTo>
                <a:lnTo>
                  <a:pt x="57687" y="57686"/>
                </a:lnTo>
                <a:lnTo>
                  <a:pt x="0" y="57686"/>
                </a:lnTo>
                <a:lnTo>
                  <a:pt x="0" y="42891"/>
                </a:lnTo>
                <a:lnTo>
                  <a:pt x="1803" y="41053"/>
                </a:lnTo>
                <a:lnTo>
                  <a:pt x="2934" y="29185"/>
                </a:lnTo>
                <a:lnTo>
                  <a:pt x="25556" y="801"/>
                </a:lnTo>
                <a:lnTo>
                  <a:pt x="2634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2" name="Illustrative delivered road transport cost class None; reference terminal None"/>
          <p:cNvSpPr/>
          <p:nvPr/>
        </p:nvSpPr>
        <p:spPr>
          <a:xfrm>
            <a:off x="4422819" y="2466743"/>
            <a:ext cx="31341" cy="31788"/>
          </a:xfrm>
          <a:custGeom>
            <a:avLst/>
            <a:gdLst/>
            <a:ahLst/>
            <a:cxnLst/>
            <a:rect l="l" t="t" r="r" b="b"/>
            <a:pathLst>
              <a:path w="31341" h="31788">
                <a:moveTo>
                  <a:pt x="31341" y="31788"/>
                </a:moveTo>
                <a:lnTo>
                  <a:pt x="0" y="31788"/>
                </a:lnTo>
                <a:lnTo>
                  <a:pt x="31341" y="0"/>
                </a:lnTo>
                <a:lnTo>
                  <a:pt x="31341" y="317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3" name="Illustrative delivered road transport cost class 1; reference terminal Durban"/>
          <p:cNvSpPr/>
          <p:nvPr/>
        </p:nvSpPr>
        <p:spPr>
          <a:xfrm>
            <a:off x="4454160" y="4979053"/>
            <a:ext cx="14233" cy="12780"/>
          </a:xfrm>
          <a:custGeom>
            <a:avLst/>
            <a:gdLst/>
            <a:ahLst/>
            <a:cxnLst/>
            <a:rect l="l" t="t" r="r" b="b"/>
            <a:pathLst>
              <a:path w="14233" h="12780">
                <a:moveTo>
                  <a:pt x="0" y="0"/>
                </a:moveTo>
                <a:lnTo>
                  <a:pt x="14233" y="0"/>
                </a:lnTo>
                <a:lnTo>
                  <a:pt x="0" y="1278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4" name="Illustrative delivered road transport cost class 1; reference terminal Durban"/>
          <p:cNvSpPr/>
          <p:nvPr/>
        </p:nvSpPr>
        <p:spPr>
          <a:xfrm>
            <a:off x="4454160" y="4921367"/>
            <a:ext cx="57687" cy="57686"/>
          </a:xfrm>
          <a:custGeom>
            <a:avLst/>
            <a:gdLst/>
            <a:ahLst/>
            <a:cxnLst/>
            <a:rect l="l" t="t" r="r" b="b"/>
            <a:pathLst>
              <a:path w="57687" h="57686">
                <a:moveTo>
                  <a:pt x="0" y="57686"/>
                </a:moveTo>
                <a:lnTo>
                  <a:pt x="0" y="0"/>
                </a:lnTo>
                <a:lnTo>
                  <a:pt x="57687" y="0"/>
                </a:lnTo>
                <a:lnTo>
                  <a:pt x="57687" y="18669"/>
                </a:lnTo>
                <a:lnTo>
                  <a:pt x="14233"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5" name="Illustrative delivered road transport cost class 1; reference terminal Durban"/>
          <p:cNvSpPr/>
          <p:nvPr/>
        </p:nvSpPr>
        <p:spPr>
          <a:xfrm>
            <a:off x="445416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6" name="Illustrative delivered road transport cost class 1; reference terminal Durban"/>
          <p:cNvSpPr/>
          <p:nvPr/>
        </p:nvSpPr>
        <p:spPr>
          <a:xfrm>
            <a:off x="445416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7" name="Illustrative delivered road transport cost class 1; reference terminal Durban"/>
          <p:cNvSpPr/>
          <p:nvPr/>
        </p:nvSpPr>
        <p:spPr>
          <a:xfrm>
            <a:off x="445416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8" name="Illustrative delivered road transport cost class 1; reference terminal Durban"/>
          <p:cNvSpPr/>
          <p:nvPr/>
        </p:nvSpPr>
        <p:spPr>
          <a:xfrm>
            <a:off x="445416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9" name="Illustrative delivered road transport cost class 1; reference terminal Durban"/>
          <p:cNvSpPr/>
          <p:nvPr/>
        </p:nvSpPr>
        <p:spPr>
          <a:xfrm>
            <a:off x="445416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0" name="Illustrative delivered road transport cost class 1; reference terminal Durban"/>
          <p:cNvSpPr/>
          <p:nvPr/>
        </p:nvSpPr>
        <p:spPr>
          <a:xfrm>
            <a:off x="445416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1" name="Illustrative delivered road transport cost class 1; reference terminal Durban"/>
          <p:cNvSpPr/>
          <p:nvPr/>
        </p:nvSpPr>
        <p:spPr>
          <a:xfrm>
            <a:off x="445416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2" name="Illustrative delivered road transport cost class 0; reference terminal Durban"/>
          <p:cNvSpPr/>
          <p:nvPr/>
        </p:nvSpPr>
        <p:spPr>
          <a:xfrm>
            <a:off x="445416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3" name="Illustrative delivered road transport cost class 0; reference terminal Durban"/>
          <p:cNvSpPr/>
          <p:nvPr/>
        </p:nvSpPr>
        <p:spPr>
          <a:xfrm>
            <a:off x="445416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4" name="Illustrative delivered road transport cost class 1; reference terminal Durban"/>
          <p:cNvSpPr/>
          <p:nvPr/>
        </p:nvSpPr>
        <p:spPr>
          <a:xfrm>
            <a:off x="4454160" y="4355384"/>
            <a:ext cx="57687" cy="46804"/>
          </a:xfrm>
          <a:custGeom>
            <a:avLst/>
            <a:gdLst/>
            <a:ahLst/>
            <a:cxnLst/>
            <a:rect l="l" t="t" r="r" b="b"/>
            <a:pathLst>
              <a:path w="57687" h="46804">
                <a:moveTo>
                  <a:pt x="57687" y="46804"/>
                </a:moveTo>
                <a:lnTo>
                  <a:pt x="0" y="46804"/>
                </a:lnTo>
                <a:lnTo>
                  <a:pt x="0" y="9103"/>
                </a:lnTo>
                <a:lnTo>
                  <a:pt x="4027" y="5054"/>
                </a:lnTo>
                <a:lnTo>
                  <a:pt x="14501" y="4058"/>
                </a:lnTo>
                <a:lnTo>
                  <a:pt x="28057" y="984"/>
                </a:lnTo>
                <a:lnTo>
                  <a:pt x="45223" y="0"/>
                </a:lnTo>
                <a:lnTo>
                  <a:pt x="57687" y="1796"/>
                </a:lnTo>
                <a:lnTo>
                  <a:pt x="57687" y="4680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5" name="Illustrative delivered road transport cost class 1; reference terminal Lesedi"/>
          <p:cNvSpPr/>
          <p:nvPr/>
        </p:nvSpPr>
        <p:spPr>
          <a:xfrm>
            <a:off x="4454160" y="3940695"/>
            <a:ext cx="57687" cy="40967"/>
          </a:xfrm>
          <a:custGeom>
            <a:avLst/>
            <a:gdLst/>
            <a:ahLst/>
            <a:cxnLst/>
            <a:rect l="l" t="t" r="r" b="b"/>
            <a:pathLst>
              <a:path w="57687" h="40967">
                <a:moveTo>
                  <a:pt x="0" y="0"/>
                </a:moveTo>
                <a:lnTo>
                  <a:pt x="57687" y="0"/>
                </a:lnTo>
                <a:lnTo>
                  <a:pt x="57687" y="23923"/>
                </a:lnTo>
                <a:lnTo>
                  <a:pt x="33345" y="28537"/>
                </a:lnTo>
                <a:lnTo>
                  <a:pt x="0" y="40967"/>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6" name="Illustrative delivered road transport cost class 1; reference terminal Lesedi"/>
          <p:cNvSpPr/>
          <p:nvPr/>
        </p:nvSpPr>
        <p:spPr>
          <a:xfrm>
            <a:off x="445416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7" name="Illustrative delivered road transport cost class 0; reference terminal Lesedi"/>
          <p:cNvSpPr/>
          <p:nvPr/>
        </p:nvSpPr>
        <p:spPr>
          <a:xfrm>
            <a:off x="445416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8" name="Illustrative delivered road transport cost class 0; reference terminal Lesedi"/>
          <p:cNvSpPr/>
          <p:nvPr/>
        </p:nvSpPr>
        <p:spPr>
          <a:xfrm>
            <a:off x="445416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9" name="Illustrative delivered road transport cost class 0; reference terminal Lesedi"/>
          <p:cNvSpPr/>
          <p:nvPr/>
        </p:nvSpPr>
        <p:spPr>
          <a:xfrm>
            <a:off x="445416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0" name="Illustrative delivered road transport cost class 0; reference terminal Lesedi"/>
          <p:cNvSpPr/>
          <p:nvPr/>
        </p:nvSpPr>
        <p:spPr>
          <a:xfrm>
            <a:off x="445416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1" name="Illustrative delivered road transport cost class 0; reference terminal Lesedi"/>
          <p:cNvSpPr/>
          <p:nvPr/>
        </p:nvSpPr>
        <p:spPr>
          <a:xfrm>
            <a:off x="445416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2" name="Illustrative delivered road transport cost class 0; reference terminal Lesedi"/>
          <p:cNvSpPr/>
          <p:nvPr/>
        </p:nvSpPr>
        <p:spPr>
          <a:xfrm>
            <a:off x="445416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3" name="Illustrative delivered road transport cost class 0; reference terminal Lesedi"/>
          <p:cNvSpPr/>
          <p:nvPr/>
        </p:nvSpPr>
        <p:spPr>
          <a:xfrm>
            <a:off x="445416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4" name="Illustrative delivered road transport cost class 0; reference terminal Lesedi"/>
          <p:cNvSpPr/>
          <p:nvPr/>
        </p:nvSpPr>
        <p:spPr>
          <a:xfrm>
            <a:off x="445416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5" name="Illustrative delivered road transport cost class 0; reference terminal Lesedi"/>
          <p:cNvSpPr/>
          <p:nvPr/>
        </p:nvSpPr>
        <p:spPr>
          <a:xfrm>
            <a:off x="445416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6" name="Illustrative delivered road transport cost class 0; reference terminal Lesedi"/>
          <p:cNvSpPr/>
          <p:nvPr/>
        </p:nvSpPr>
        <p:spPr>
          <a:xfrm>
            <a:off x="445416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7" name="Illustrative delivered road transport cost class 0; reference terminal Lesedi"/>
          <p:cNvSpPr/>
          <p:nvPr/>
        </p:nvSpPr>
        <p:spPr>
          <a:xfrm>
            <a:off x="445416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8" name="Illustrative delivered road transport cost class 0; reference terminal Lesedi"/>
          <p:cNvSpPr/>
          <p:nvPr/>
        </p:nvSpPr>
        <p:spPr>
          <a:xfrm>
            <a:off x="445416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9" name="Illustrative delivered road transport cost class 0; reference terminal Lesedi"/>
          <p:cNvSpPr/>
          <p:nvPr/>
        </p:nvSpPr>
        <p:spPr>
          <a:xfrm>
            <a:off x="445416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0" name="Illustrative delivered road transport cost class 0; reference terminal Lesedi"/>
          <p:cNvSpPr/>
          <p:nvPr/>
        </p:nvSpPr>
        <p:spPr>
          <a:xfrm>
            <a:off x="445416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1" name="Illustrative delivered road transport cost class 0; reference terminal Lesedi"/>
          <p:cNvSpPr/>
          <p:nvPr/>
        </p:nvSpPr>
        <p:spPr>
          <a:xfrm>
            <a:off x="445416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2" name="Illustrative delivered road transport cost class 0; reference terminal Lesedi"/>
          <p:cNvSpPr/>
          <p:nvPr/>
        </p:nvSpPr>
        <p:spPr>
          <a:xfrm>
            <a:off x="445416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3" name="Illustrative delivered road transport cost class 0; reference terminal Lesedi"/>
          <p:cNvSpPr/>
          <p:nvPr/>
        </p:nvSpPr>
        <p:spPr>
          <a:xfrm>
            <a:off x="445416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4" name="Illustrative delivered road transport cost class 1; reference terminal Lesedi"/>
          <p:cNvSpPr/>
          <p:nvPr/>
        </p:nvSpPr>
        <p:spPr>
          <a:xfrm>
            <a:off x="445416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5" name="Illustrative delivered road transport cost class 1; reference terminal Lesedi"/>
          <p:cNvSpPr/>
          <p:nvPr/>
        </p:nvSpPr>
        <p:spPr>
          <a:xfrm>
            <a:off x="445416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6" name="Illustrative delivered road transport cost class 1; reference terminal Lesedi"/>
          <p:cNvSpPr/>
          <p:nvPr/>
        </p:nvSpPr>
        <p:spPr>
          <a:xfrm>
            <a:off x="445416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7" name="Illustrative delivered road transport cost class None; reference terminal None"/>
          <p:cNvSpPr/>
          <p:nvPr/>
        </p:nvSpPr>
        <p:spPr>
          <a:xfrm>
            <a:off x="445416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8" name="Illustrative delivered road transport cost class None; reference terminal None"/>
          <p:cNvSpPr/>
          <p:nvPr/>
        </p:nvSpPr>
        <p:spPr>
          <a:xfrm>
            <a:off x="4454160"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9" name="Illustrative delivered road transport cost class None; reference terminal None"/>
          <p:cNvSpPr/>
          <p:nvPr/>
        </p:nvSpPr>
        <p:spPr>
          <a:xfrm>
            <a:off x="4454160"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0" name="Illustrative delivered road transport cost class None; reference terminal None"/>
          <p:cNvSpPr/>
          <p:nvPr/>
        </p:nvSpPr>
        <p:spPr>
          <a:xfrm>
            <a:off x="4454160"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1" name="Illustrative delivered road transport cost class None; reference terminal None"/>
          <p:cNvSpPr/>
          <p:nvPr/>
        </p:nvSpPr>
        <p:spPr>
          <a:xfrm>
            <a:off x="4454160" y="2440844"/>
            <a:ext cx="57687" cy="57687"/>
          </a:xfrm>
          <a:custGeom>
            <a:avLst/>
            <a:gdLst/>
            <a:ahLst/>
            <a:cxnLst/>
            <a:rect l="l" t="t" r="r" b="b"/>
            <a:pathLst>
              <a:path w="57687" h="57687">
                <a:moveTo>
                  <a:pt x="57687" y="0"/>
                </a:moveTo>
                <a:lnTo>
                  <a:pt x="57687" y="57687"/>
                </a:lnTo>
                <a:lnTo>
                  <a:pt x="0" y="57687"/>
                </a:lnTo>
                <a:lnTo>
                  <a:pt x="0" y="25899"/>
                </a:lnTo>
                <a:lnTo>
                  <a:pt x="12112" y="13614"/>
                </a:lnTo>
                <a:lnTo>
                  <a:pt x="3506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2" name="Illustrative delivered road transport cost class None; reference terminal None"/>
          <p:cNvSpPr/>
          <p:nvPr/>
        </p:nvSpPr>
        <p:spPr>
          <a:xfrm>
            <a:off x="4489224" y="2429483"/>
            <a:ext cx="22623" cy="11361"/>
          </a:xfrm>
          <a:custGeom>
            <a:avLst/>
            <a:gdLst/>
            <a:ahLst/>
            <a:cxnLst/>
            <a:rect l="l" t="t" r="r" b="b"/>
            <a:pathLst>
              <a:path w="22623" h="11361">
                <a:moveTo>
                  <a:pt x="22623" y="11361"/>
                </a:moveTo>
                <a:lnTo>
                  <a:pt x="0" y="11361"/>
                </a:lnTo>
                <a:lnTo>
                  <a:pt x="18382" y="458"/>
                </a:lnTo>
                <a:lnTo>
                  <a:pt x="22623" y="0"/>
                </a:lnTo>
                <a:lnTo>
                  <a:pt x="22623" y="1136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3" name="Illustrative delivered road transport cost class 1; reference terminal Durban"/>
          <p:cNvSpPr/>
          <p:nvPr/>
        </p:nvSpPr>
        <p:spPr>
          <a:xfrm>
            <a:off x="4511847" y="4921367"/>
            <a:ext cx="20792" cy="18669"/>
          </a:xfrm>
          <a:custGeom>
            <a:avLst/>
            <a:gdLst/>
            <a:ahLst/>
            <a:cxnLst/>
            <a:rect l="l" t="t" r="r" b="b"/>
            <a:pathLst>
              <a:path w="20792" h="18669">
                <a:moveTo>
                  <a:pt x="0" y="0"/>
                </a:moveTo>
                <a:lnTo>
                  <a:pt x="20792" y="0"/>
                </a:lnTo>
                <a:lnTo>
                  <a:pt x="0" y="1866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4" name="Illustrative delivered road transport cost class 1; reference terminal Durban"/>
          <p:cNvSpPr/>
          <p:nvPr/>
        </p:nvSpPr>
        <p:spPr>
          <a:xfrm>
            <a:off x="4511847" y="4863680"/>
            <a:ext cx="57686" cy="57687"/>
          </a:xfrm>
          <a:custGeom>
            <a:avLst/>
            <a:gdLst/>
            <a:ahLst/>
            <a:cxnLst/>
            <a:rect l="l" t="t" r="r" b="b"/>
            <a:pathLst>
              <a:path w="57686" h="57687">
                <a:moveTo>
                  <a:pt x="0" y="57687"/>
                </a:moveTo>
                <a:lnTo>
                  <a:pt x="0" y="0"/>
                </a:lnTo>
                <a:lnTo>
                  <a:pt x="57686" y="0"/>
                </a:lnTo>
                <a:lnTo>
                  <a:pt x="57686" y="17156"/>
                </a:lnTo>
                <a:lnTo>
                  <a:pt x="30553" y="48922"/>
                </a:lnTo>
                <a:lnTo>
                  <a:pt x="2079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5" name="Illustrative delivered road transport cost class 1; reference terminal Durban"/>
          <p:cNvSpPr/>
          <p:nvPr/>
        </p:nvSpPr>
        <p:spPr>
          <a:xfrm>
            <a:off x="451184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6" name="Illustrative delivered road transport cost class 1; reference terminal Durban"/>
          <p:cNvSpPr/>
          <p:nvPr/>
        </p:nvSpPr>
        <p:spPr>
          <a:xfrm>
            <a:off x="451184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7" name="Illustrative delivered road transport cost class 1; reference terminal Durban"/>
          <p:cNvSpPr/>
          <p:nvPr/>
        </p:nvSpPr>
        <p:spPr>
          <a:xfrm>
            <a:off x="451184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8" name="Illustrative delivered road transport cost class 1; reference terminal Durban"/>
          <p:cNvSpPr/>
          <p:nvPr/>
        </p:nvSpPr>
        <p:spPr>
          <a:xfrm>
            <a:off x="451184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9" name="Illustrative delivered road transport cost class 0; reference terminal Durban"/>
          <p:cNvSpPr/>
          <p:nvPr/>
        </p:nvSpPr>
        <p:spPr>
          <a:xfrm>
            <a:off x="451184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0" name="Illustrative delivered road transport cost class 0; reference terminal Durban"/>
          <p:cNvSpPr/>
          <p:nvPr/>
        </p:nvSpPr>
        <p:spPr>
          <a:xfrm>
            <a:off x="451184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1" name="Illustrative delivered road transport cost class 0; reference terminal Durban"/>
          <p:cNvSpPr/>
          <p:nvPr/>
        </p:nvSpPr>
        <p:spPr>
          <a:xfrm>
            <a:off x="451184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2" name="Illustrative delivered road transport cost class 0; reference terminal Durban"/>
          <p:cNvSpPr/>
          <p:nvPr/>
        </p:nvSpPr>
        <p:spPr>
          <a:xfrm>
            <a:off x="451184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3" name="Illustrative delivered road transport cost class 0; reference terminal Durban"/>
          <p:cNvSpPr/>
          <p:nvPr/>
        </p:nvSpPr>
        <p:spPr>
          <a:xfrm>
            <a:off x="4511847" y="4344501"/>
            <a:ext cx="57686" cy="57687"/>
          </a:xfrm>
          <a:custGeom>
            <a:avLst/>
            <a:gdLst/>
            <a:ahLst/>
            <a:cxnLst/>
            <a:rect l="l" t="t" r="r" b="b"/>
            <a:pathLst>
              <a:path w="57686" h="57687">
                <a:moveTo>
                  <a:pt x="57686" y="0"/>
                </a:moveTo>
                <a:lnTo>
                  <a:pt x="57686" y="57687"/>
                </a:lnTo>
                <a:lnTo>
                  <a:pt x="0" y="57687"/>
                </a:lnTo>
                <a:lnTo>
                  <a:pt x="0" y="12679"/>
                </a:lnTo>
                <a:lnTo>
                  <a:pt x="314" y="12725"/>
                </a:lnTo>
                <a:lnTo>
                  <a:pt x="3108" y="12261"/>
                </a:lnTo>
                <a:lnTo>
                  <a:pt x="23316" y="6595"/>
                </a:lnTo>
                <a:lnTo>
                  <a:pt x="39543"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4" name="Illustrative delivered road transport cost class 1; reference terminal Durban"/>
          <p:cNvSpPr/>
          <p:nvPr/>
        </p:nvSpPr>
        <p:spPr>
          <a:xfrm>
            <a:off x="4551390" y="4337127"/>
            <a:ext cx="18143" cy="7374"/>
          </a:xfrm>
          <a:custGeom>
            <a:avLst/>
            <a:gdLst/>
            <a:ahLst/>
            <a:cxnLst/>
            <a:rect l="l" t="t" r="r" b="b"/>
            <a:pathLst>
              <a:path w="18143" h="7374">
                <a:moveTo>
                  <a:pt x="18143" y="7374"/>
                </a:moveTo>
                <a:lnTo>
                  <a:pt x="0" y="7374"/>
                </a:lnTo>
                <a:lnTo>
                  <a:pt x="18143" y="0"/>
                </a:lnTo>
                <a:lnTo>
                  <a:pt x="18143" y="73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5" name="Illustrative delivered road transport cost class 0; reference terminal Durban"/>
          <p:cNvSpPr/>
          <p:nvPr/>
        </p:nvSpPr>
        <p:spPr>
          <a:xfrm>
            <a:off x="4553217" y="3998382"/>
            <a:ext cx="16316" cy="12749"/>
          </a:xfrm>
          <a:custGeom>
            <a:avLst/>
            <a:gdLst/>
            <a:ahLst/>
            <a:cxnLst/>
            <a:rect l="l" t="t" r="r" b="b"/>
            <a:pathLst>
              <a:path w="16316" h="12749">
                <a:moveTo>
                  <a:pt x="16316" y="0"/>
                </a:moveTo>
                <a:lnTo>
                  <a:pt x="16316" y="12749"/>
                </a:lnTo>
                <a:lnTo>
                  <a:pt x="10754" y="9811"/>
                </a:lnTo>
                <a:lnTo>
                  <a:pt x="0" y="0"/>
                </a:lnTo>
                <a:lnTo>
                  <a:pt x="1631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6" name="Illustrative delivered road transport cost class 0; reference terminal Lesedi"/>
          <p:cNvSpPr/>
          <p:nvPr/>
        </p:nvSpPr>
        <p:spPr>
          <a:xfrm>
            <a:off x="4511847" y="3940695"/>
            <a:ext cx="57686" cy="57687"/>
          </a:xfrm>
          <a:custGeom>
            <a:avLst/>
            <a:gdLst/>
            <a:ahLst/>
            <a:cxnLst/>
            <a:rect l="l" t="t" r="r" b="b"/>
            <a:pathLst>
              <a:path w="57686" h="57687">
                <a:moveTo>
                  <a:pt x="0" y="0"/>
                </a:moveTo>
                <a:lnTo>
                  <a:pt x="57686" y="0"/>
                </a:lnTo>
                <a:lnTo>
                  <a:pt x="57686" y="57687"/>
                </a:lnTo>
                <a:lnTo>
                  <a:pt x="41370" y="57687"/>
                </a:lnTo>
                <a:lnTo>
                  <a:pt x="31431" y="48619"/>
                </a:lnTo>
                <a:lnTo>
                  <a:pt x="22601" y="37871"/>
                </a:lnTo>
                <a:lnTo>
                  <a:pt x="16556" y="25162"/>
                </a:lnTo>
                <a:lnTo>
                  <a:pt x="10625" y="20856"/>
                </a:lnTo>
                <a:lnTo>
                  <a:pt x="971" y="23738"/>
                </a:lnTo>
                <a:lnTo>
                  <a:pt x="0" y="2392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7" name="Illustrative delivered road transport cost class 0; reference terminal Lesedi"/>
          <p:cNvSpPr/>
          <p:nvPr/>
        </p:nvSpPr>
        <p:spPr>
          <a:xfrm>
            <a:off x="451184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8" name="Illustrative delivered road transport cost class 0; reference terminal Lesedi"/>
          <p:cNvSpPr/>
          <p:nvPr/>
        </p:nvSpPr>
        <p:spPr>
          <a:xfrm>
            <a:off x="451184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9" name="Illustrative delivered road transport cost class 0; reference terminal Lesedi"/>
          <p:cNvSpPr/>
          <p:nvPr/>
        </p:nvSpPr>
        <p:spPr>
          <a:xfrm>
            <a:off x="451184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0" name="Illustrative delivered road transport cost class 0; reference terminal Lesedi"/>
          <p:cNvSpPr/>
          <p:nvPr/>
        </p:nvSpPr>
        <p:spPr>
          <a:xfrm>
            <a:off x="451184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1" name="Illustrative delivered road transport cost class 0; reference terminal Lesedi"/>
          <p:cNvSpPr/>
          <p:nvPr/>
        </p:nvSpPr>
        <p:spPr>
          <a:xfrm>
            <a:off x="451184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2" name="Illustrative delivered road transport cost class 0; reference terminal Lesedi"/>
          <p:cNvSpPr/>
          <p:nvPr/>
        </p:nvSpPr>
        <p:spPr>
          <a:xfrm>
            <a:off x="451184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3" name="Illustrative delivered road transport cost class 0; reference terminal Lesedi"/>
          <p:cNvSpPr/>
          <p:nvPr/>
        </p:nvSpPr>
        <p:spPr>
          <a:xfrm>
            <a:off x="451184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4" name="Illustrative delivered road transport cost class 0; reference terminal Lesedi"/>
          <p:cNvSpPr/>
          <p:nvPr/>
        </p:nvSpPr>
        <p:spPr>
          <a:xfrm>
            <a:off x="451184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5" name="Illustrative delivered road transport cost class 0; reference terminal Lesedi"/>
          <p:cNvSpPr/>
          <p:nvPr/>
        </p:nvSpPr>
        <p:spPr>
          <a:xfrm>
            <a:off x="451184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6" name="Illustrative delivered road transport cost class 0; reference terminal Lesedi"/>
          <p:cNvSpPr/>
          <p:nvPr/>
        </p:nvSpPr>
        <p:spPr>
          <a:xfrm>
            <a:off x="451184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7" name="Illustrative delivered road transport cost class 0; reference terminal Lesedi"/>
          <p:cNvSpPr/>
          <p:nvPr/>
        </p:nvSpPr>
        <p:spPr>
          <a:xfrm>
            <a:off x="451184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8" name="Illustrative delivered road transport cost class 0; reference terminal Lesedi"/>
          <p:cNvSpPr/>
          <p:nvPr/>
        </p:nvSpPr>
        <p:spPr>
          <a:xfrm>
            <a:off x="451184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9" name="Illustrative delivered road transport cost class 0; reference terminal Lesedi"/>
          <p:cNvSpPr/>
          <p:nvPr/>
        </p:nvSpPr>
        <p:spPr>
          <a:xfrm>
            <a:off x="451184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0" name="Illustrative delivered road transport cost class 0; reference terminal Lesedi"/>
          <p:cNvSpPr/>
          <p:nvPr/>
        </p:nvSpPr>
        <p:spPr>
          <a:xfrm>
            <a:off x="451184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1" name="Illustrative delivered road transport cost class 0; reference terminal Lesedi"/>
          <p:cNvSpPr/>
          <p:nvPr/>
        </p:nvSpPr>
        <p:spPr>
          <a:xfrm>
            <a:off x="451184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2" name="Illustrative delivered road transport cost class 0; reference terminal Lesedi"/>
          <p:cNvSpPr/>
          <p:nvPr/>
        </p:nvSpPr>
        <p:spPr>
          <a:xfrm>
            <a:off x="451184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3" name="Illustrative delivered road transport cost class 0; reference terminal Lesedi"/>
          <p:cNvSpPr/>
          <p:nvPr/>
        </p:nvSpPr>
        <p:spPr>
          <a:xfrm>
            <a:off x="451184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4" name="Illustrative delivered road transport cost class 0; reference terminal Lesedi"/>
          <p:cNvSpPr/>
          <p:nvPr/>
        </p:nvSpPr>
        <p:spPr>
          <a:xfrm>
            <a:off x="451184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5" name="Illustrative delivered road transport cost class 1; reference terminal Lesedi"/>
          <p:cNvSpPr/>
          <p:nvPr/>
        </p:nvSpPr>
        <p:spPr>
          <a:xfrm>
            <a:off x="451184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6" name="Illustrative delivered road transport cost class 1; reference terminal Lesedi"/>
          <p:cNvSpPr/>
          <p:nvPr/>
        </p:nvSpPr>
        <p:spPr>
          <a:xfrm>
            <a:off x="451184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7" name="Illustrative delivered road transport cost class 1; reference terminal Lesedi"/>
          <p:cNvSpPr/>
          <p:nvPr/>
        </p:nvSpPr>
        <p:spPr>
          <a:xfrm>
            <a:off x="451184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8" name="Illustrative delivered road transport cost class 1; reference terminal Lesedi"/>
          <p:cNvSpPr/>
          <p:nvPr/>
        </p:nvSpPr>
        <p:spPr>
          <a:xfrm>
            <a:off x="451184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9" name="Illustrative delivered road transport cost class None; reference terminal None"/>
          <p:cNvSpPr/>
          <p:nvPr/>
        </p:nvSpPr>
        <p:spPr>
          <a:xfrm>
            <a:off x="451184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0" name="Illustrative delivered road transport cost class None; reference terminal None"/>
          <p:cNvSpPr/>
          <p:nvPr/>
        </p:nvSpPr>
        <p:spPr>
          <a:xfrm>
            <a:off x="4511847"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1" name="Illustrative delivered road transport cost class None; reference terminal None"/>
          <p:cNvSpPr/>
          <p:nvPr/>
        </p:nvSpPr>
        <p:spPr>
          <a:xfrm>
            <a:off x="4511847"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2" name="Illustrative delivered road transport cost class None; reference terminal None"/>
          <p:cNvSpPr/>
          <p:nvPr/>
        </p:nvSpPr>
        <p:spPr>
          <a:xfrm>
            <a:off x="4511847"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3" name="Illustrative delivered road transport cost class None; reference terminal None"/>
          <p:cNvSpPr/>
          <p:nvPr/>
        </p:nvSpPr>
        <p:spPr>
          <a:xfrm>
            <a:off x="4511847" y="2420300"/>
            <a:ext cx="57686" cy="20544"/>
          </a:xfrm>
          <a:custGeom>
            <a:avLst/>
            <a:gdLst/>
            <a:ahLst/>
            <a:cxnLst/>
            <a:rect l="l" t="t" r="r" b="b"/>
            <a:pathLst>
              <a:path w="57686" h="20544">
                <a:moveTo>
                  <a:pt x="57686" y="20544"/>
                </a:moveTo>
                <a:lnTo>
                  <a:pt x="0" y="20544"/>
                </a:lnTo>
                <a:lnTo>
                  <a:pt x="0" y="9183"/>
                </a:lnTo>
                <a:lnTo>
                  <a:pt x="34152" y="5493"/>
                </a:lnTo>
                <a:lnTo>
                  <a:pt x="57686" y="0"/>
                </a:lnTo>
                <a:lnTo>
                  <a:pt x="57686" y="2054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4" name="Illustrative delivered road transport cost class 1; reference terminal Durban"/>
          <p:cNvSpPr/>
          <p:nvPr/>
        </p:nvSpPr>
        <p:spPr>
          <a:xfrm>
            <a:off x="4569533" y="4863680"/>
            <a:ext cx="14654" cy="17156"/>
          </a:xfrm>
          <a:custGeom>
            <a:avLst/>
            <a:gdLst/>
            <a:ahLst/>
            <a:cxnLst/>
            <a:rect l="l" t="t" r="r" b="b"/>
            <a:pathLst>
              <a:path w="14654" h="17156">
                <a:moveTo>
                  <a:pt x="0" y="0"/>
                </a:moveTo>
                <a:lnTo>
                  <a:pt x="14654" y="0"/>
                </a:lnTo>
                <a:lnTo>
                  <a:pt x="0" y="1715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5" name="Illustrative delivered road transport cost class 1; reference terminal Durban"/>
          <p:cNvSpPr/>
          <p:nvPr/>
        </p:nvSpPr>
        <p:spPr>
          <a:xfrm>
            <a:off x="4569533" y="4805994"/>
            <a:ext cx="57687" cy="57686"/>
          </a:xfrm>
          <a:custGeom>
            <a:avLst/>
            <a:gdLst/>
            <a:ahLst/>
            <a:cxnLst/>
            <a:rect l="l" t="t" r="r" b="b"/>
            <a:pathLst>
              <a:path w="57687" h="57686">
                <a:moveTo>
                  <a:pt x="0" y="57686"/>
                </a:moveTo>
                <a:lnTo>
                  <a:pt x="0" y="0"/>
                </a:lnTo>
                <a:lnTo>
                  <a:pt x="57687" y="0"/>
                </a:lnTo>
                <a:lnTo>
                  <a:pt x="57687" y="11126"/>
                </a:lnTo>
                <a:lnTo>
                  <a:pt x="34711" y="34204"/>
                </a:lnTo>
                <a:lnTo>
                  <a:pt x="14654"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6" name="Illustrative delivered road transport cost class 1; reference terminal Durban"/>
          <p:cNvSpPr/>
          <p:nvPr/>
        </p:nvSpPr>
        <p:spPr>
          <a:xfrm>
            <a:off x="456953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7" name="Illustrative delivered road transport cost class 1; reference terminal Durban"/>
          <p:cNvSpPr/>
          <p:nvPr/>
        </p:nvSpPr>
        <p:spPr>
          <a:xfrm>
            <a:off x="456953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8" name="Illustrative delivered road transport cost class 1; reference terminal Durban"/>
          <p:cNvSpPr/>
          <p:nvPr/>
        </p:nvSpPr>
        <p:spPr>
          <a:xfrm>
            <a:off x="456953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9" name="Illustrative delivered road transport cost class 0; reference terminal Durban"/>
          <p:cNvSpPr/>
          <p:nvPr/>
        </p:nvSpPr>
        <p:spPr>
          <a:xfrm>
            <a:off x="456953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0" name="Illustrative delivered road transport cost class 0; reference terminal Durban"/>
          <p:cNvSpPr/>
          <p:nvPr/>
        </p:nvSpPr>
        <p:spPr>
          <a:xfrm>
            <a:off x="456953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1" name="Illustrative delivered road transport cost class 0; reference terminal Durban"/>
          <p:cNvSpPr/>
          <p:nvPr/>
        </p:nvSpPr>
        <p:spPr>
          <a:xfrm>
            <a:off x="456953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2" name="Illustrative delivered road transport cost class 0; reference terminal Durban"/>
          <p:cNvSpPr/>
          <p:nvPr/>
        </p:nvSpPr>
        <p:spPr>
          <a:xfrm>
            <a:off x="456953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3" name="Illustrative delivered road transport cost class 0; reference terminal Durban"/>
          <p:cNvSpPr/>
          <p:nvPr/>
        </p:nvSpPr>
        <p:spPr>
          <a:xfrm>
            <a:off x="456953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4" name="Illustrative delivered road transport cost class 0; reference terminal Durban"/>
          <p:cNvSpPr/>
          <p:nvPr/>
        </p:nvSpPr>
        <p:spPr>
          <a:xfrm>
            <a:off x="4569533" y="4286814"/>
            <a:ext cx="57687" cy="57687"/>
          </a:xfrm>
          <a:custGeom>
            <a:avLst/>
            <a:gdLst/>
            <a:ahLst/>
            <a:cxnLst/>
            <a:rect l="l" t="t" r="r" b="b"/>
            <a:pathLst>
              <a:path w="57687" h="57687">
                <a:moveTo>
                  <a:pt x="57687" y="0"/>
                </a:moveTo>
                <a:lnTo>
                  <a:pt x="57687" y="57687"/>
                </a:lnTo>
                <a:lnTo>
                  <a:pt x="0" y="57687"/>
                </a:lnTo>
                <a:lnTo>
                  <a:pt x="0" y="50313"/>
                </a:lnTo>
                <a:lnTo>
                  <a:pt x="2657" y="49233"/>
                </a:lnTo>
                <a:lnTo>
                  <a:pt x="19503" y="39795"/>
                </a:lnTo>
                <a:lnTo>
                  <a:pt x="31732" y="32059"/>
                </a:lnTo>
                <a:lnTo>
                  <a:pt x="47533" y="20177"/>
                </a:lnTo>
                <a:lnTo>
                  <a:pt x="51841" y="0"/>
                </a:lnTo>
                <a:lnTo>
                  <a:pt x="57687"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5" name="Illustrative delivered road transport cost class 0; reference terminal Durban"/>
          <p:cNvSpPr/>
          <p:nvPr/>
        </p:nvSpPr>
        <p:spPr>
          <a:xfrm>
            <a:off x="4621374" y="4259370"/>
            <a:ext cx="5846" cy="27444"/>
          </a:xfrm>
          <a:custGeom>
            <a:avLst/>
            <a:gdLst/>
            <a:ahLst/>
            <a:cxnLst/>
            <a:rect l="l" t="t" r="r" b="b"/>
            <a:pathLst>
              <a:path w="5846" h="27444">
                <a:moveTo>
                  <a:pt x="5846" y="27444"/>
                </a:moveTo>
                <a:lnTo>
                  <a:pt x="0" y="27444"/>
                </a:lnTo>
                <a:lnTo>
                  <a:pt x="2088" y="17663"/>
                </a:lnTo>
                <a:lnTo>
                  <a:pt x="5846" y="0"/>
                </a:lnTo>
                <a:lnTo>
                  <a:pt x="5846" y="27444"/>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6" name="Illustrative delivered road transport cost class 0; reference terminal Durban"/>
          <p:cNvSpPr/>
          <p:nvPr/>
        </p:nvSpPr>
        <p:spPr>
          <a:xfrm>
            <a:off x="4612267" y="4056068"/>
            <a:ext cx="14953" cy="12657"/>
          </a:xfrm>
          <a:custGeom>
            <a:avLst/>
            <a:gdLst/>
            <a:ahLst/>
            <a:cxnLst/>
            <a:rect l="l" t="t" r="r" b="b"/>
            <a:pathLst>
              <a:path w="14953" h="12657">
                <a:moveTo>
                  <a:pt x="14953" y="0"/>
                </a:moveTo>
                <a:lnTo>
                  <a:pt x="14953" y="12657"/>
                </a:lnTo>
                <a:lnTo>
                  <a:pt x="4438" y="3748"/>
                </a:lnTo>
                <a:lnTo>
                  <a:pt x="0" y="0"/>
                </a:lnTo>
                <a:lnTo>
                  <a:pt x="14953"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7" name="Illustrative delivered road transport cost class 0; reference terminal Durban"/>
          <p:cNvSpPr/>
          <p:nvPr/>
        </p:nvSpPr>
        <p:spPr>
          <a:xfrm>
            <a:off x="4569533" y="3998382"/>
            <a:ext cx="57687" cy="57686"/>
          </a:xfrm>
          <a:custGeom>
            <a:avLst/>
            <a:gdLst/>
            <a:ahLst/>
            <a:cxnLst/>
            <a:rect l="l" t="t" r="r" b="b"/>
            <a:pathLst>
              <a:path w="57687" h="57686">
                <a:moveTo>
                  <a:pt x="0" y="0"/>
                </a:moveTo>
                <a:lnTo>
                  <a:pt x="57687" y="0"/>
                </a:lnTo>
                <a:lnTo>
                  <a:pt x="57687" y="57686"/>
                </a:lnTo>
                <a:lnTo>
                  <a:pt x="42734" y="57686"/>
                </a:lnTo>
                <a:lnTo>
                  <a:pt x="24352" y="42163"/>
                </a:lnTo>
                <a:lnTo>
                  <a:pt x="3310" y="14497"/>
                </a:lnTo>
                <a:lnTo>
                  <a:pt x="0" y="12749"/>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8" name="Illustrative delivered road transport cost class 0; reference terminal Lesedi"/>
          <p:cNvSpPr/>
          <p:nvPr/>
        </p:nvSpPr>
        <p:spPr>
          <a:xfrm>
            <a:off x="456953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9" name="Illustrative delivered road transport cost class 0; reference terminal Lesedi"/>
          <p:cNvSpPr/>
          <p:nvPr/>
        </p:nvSpPr>
        <p:spPr>
          <a:xfrm>
            <a:off x="456953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0" name="Illustrative delivered road transport cost class 0; reference terminal Lesedi"/>
          <p:cNvSpPr/>
          <p:nvPr/>
        </p:nvSpPr>
        <p:spPr>
          <a:xfrm>
            <a:off x="456953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1" name="Illustrative delivered road transport cost class 0; reference terminal Lesedi"/>
          <p:cNvSpPr/>
          <p:nvPr/>
        </p:nvSpPr>
        <p:spPr>
          <a:xfrm>
            <a:off x="456953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2" name="Illustrative delivered road transport cost class 0; reference terminal Lesedi"/>
          <p:cNvSpPr/>
          <p:nvPr/>
        </p:nvSpPr>
        <p:spPr>
          <a:xfrm>
            <a:off x="456953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3" name="Illustrative delivered road transport cost class 0; reference terminal Lesedi"/>
          <p:cNvSpPr/>
          <p:nvPr/>
        </p:nvSpPr>
        <p:spPr>
          <a:xfrm>
            <a:off x="456953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4" name="Illustrative delivered road transport cost class 0; reference terminal Lesedi"/>
          <p:cNvSpPr/>
          <p:nvPr/>
        </p:nvSpPr>
        <p:spPr>
          <a:xfrm>
            <a:off x="456953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5" name="Illustrative delivered road transport cost class 0; reference terminal Lesedi"/>
          <p:cNvSpPr/>
          <p:nvPr/>
        </p:nvSpPr>
        <p:spPr>
          <a:xfrm>
            <a:off x="456953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6" name="Illustrative delivered road transport cost class 0; reference terminal Lesedi"/>
          <p:cNvSpPr/>
          <p:nvPr/>
        </p:nvSpPr>
        <p:spPr>
          <a:xfrm>
            <a:off x="456953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7" name="Illustrative delivered road transport cost class 0; reference terminal Lesedi"/>
          <p:cNvSpPr/>
          <p:nvPr/>
        </p:nvSpPr>
        <p:spPr>
          <a:xfrm>
            <a:off x="456953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8" name="Illustrative delivered road transport cost class 0; reference terminal Lesedi"/>
          <p:cNvSpPr/>
          <p:nvPr/>
        </p:nvSpPr>
        <p:spPr>
          <a:xfrm>
            <a:off x="456953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9" name="Illustrative delivered road transport cost class 0; reference terminal Lesedi"/>
          <p:cNvSpPr/>
          <p:nvPr/>
        </p:nvSpPr>
        <p:spPr>
          <a:xfrm>
            <a:off x="456953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0" name="Illustrative delivered road transport cost class 0; reference terminal Lesedi"/>
          <p:cNvSpPr/>
          <p:nvPr/>
        </p:nvSpPr>
        <p:spPr>
          <a:xfrm>
            <a:off x="456953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1" name="Illustrative delivered road transport cost class 0; reference terminal Lesedi"/>
          <p:cNvSpPr/>
          <p:nvPr/>
        </p:nvSpPr>
        <p:spPr>
          <a:xfrm>
            <a:off x="456953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2" name="Illustrative delivered road transport cost class 0; reference terminal Lesedi"/>
          <p:cNvSpPr/>
          <p:nvPr/>
        </p:nvSpPr>
        <p:spPr>
          <a:xfrm>
            <a:off x="456953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3" name="Illustrative delivered road transport cost class 0; reference terminal Lesedi"/>
          <p:cNvSpPr/>
          <p:nvPr/>
        </p:nvSpPr>
        <p:spPr>
          <a:xfrm>
            <a:off x="456953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4" name="Illustrative delivered road transport cost class 0; reference terminal Lesedi"/>
          <p:cNvSpPr/>
          <p:nvPr/>
        </p:nvSpPr>
        <p:spPr>
          <a:xfrm>
            <a:off x="456953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5" name="Illustrative delivered road transport cost class 0; reference terminal Lesedi"/>
          <p:cNvSpPr/>
          <p:nvPr/>
        </p:nvSpPr>
        <p:spPr>
          <a:xfrm>
            <a:off x="456953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6" name="Illustrative delivered road transport cost class 0; reference terminal Lesedi"/>
          <p:cNvSpPr/>
          <p:nvPr/>
        </p:nvSpPr>
        <p:spPr>
          <a:xfrm>
            <a:off x="456953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7" name="Illustrative delivered road transport cost class 0; reference terminal Lesedi"/>
          <p:cNvSpPr/>
          <p:nvPr/>
        </p:nvSpPr>
        <p:spPr>
          <a:xfrm>
            <a:off x="456953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8" name="Illustrative delivered road transport cost class 1; reference terminal Lesedi"/>
          <p:cNvSpPr/>
          <p:nvPr/>
        </p:nvSpPr>
        <p:spPr>
          <a:xfrm>
            <a:off x="456953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9" name="Illustrative delivered road transport cost class 1; reference terminal Lesedi"/>
          <p:cNvSpPr/>
          <p:nvPr/>
        </p:nvSpPr>
        <p:spPr>
          <a:xfrm>
            <a:off x="456953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0" name="Illustrative delivered road transport cost class 1; reference terminal Lesedi"/>
          <p:cNvSpPr/>
          <p:nvPr/>
        </p:nvSpPr>
        <p:spPr>
          <a:xfrm>
            <a:off x="456953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1" name="Illustrative delivered road transport cost class 1; reference terminal Lesedi"/>
          <p:cNvSpPr/>
          <p:nvPr/>
        </p:nvSpPr>
        <p:spPr>
          <a:xfrm>
            <a:off x="456953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2" name="Illustrative delivered road transport cost class 1; reference terminal Lesedi"/>
          <p:cNvSpPr/>
          <p:nvPr/>
        </p:nvSpPr>
        <p:spPr>
          <a:xfrm>
            <a:off x="456953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3" name="Illustrative delivered road transport cost class 1; reference terminal Lesedi"/>
          <p:cNvSpPr/>
          <p:nvPr/>
        </p:nvSpPr>
        <p:spPr>
          <a:xfrm>
            <a:off x="4569533"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4" name="Illustrative delivered road transport cost class None; reference terminal None"/>
          <p:cNvSpPr/>
          <p:nvPr/>
        </p:nvSpPr>
        <p:spPr>
          <a:xfrm>
            <a:off x="4569533"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5" name="Illustrative delivered road transport cost class None; reference terminal None"/>
          <p:cNvSpPr/>
          <p:nvPr/>
        </p:nvSpPr>
        <p:spPr>
          <a:xfrm>
            <a:off x="4569533" y="2396154"/>
            <a:ext cx="57687" cy="44690"/>
          </a:xfrm>
          <a:custGeom>
            <a:avLst/>
            <a:gdLst/>
            <a:ahLst/>
            <a:cxnLst/>
            <a:rect l="l" t="t" r="r" b="b"/>
            <a:pathLst>
              <a:path w="57687" h="44690">
                <a:moveTo>
                  <a:pt x="57687" y="44690"/>
                </a:moveTo>
                <a:lnTo>
                  <a:pt x="0" y="44690"/>
                </a:lnTo>
                <a:lnTo>
                  <a:pt x="0" y="24146"/>
                </a:lnTo>
                <a:lnTo>
                  <a:pt x="12965" y="21120"/>
                </a:lnTo>
                <a:lnTo>
                  <a:pt x="47630" y="8224"/>
                </a:lnTo>
                <a:lnTo>
                  <a:pt x="57687" y="0"/>
                </a:lnTo>
                <a:lnTo>
                  <a:pt x="57687" y="4469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6" name="Illustrative delivered road transport cost class 1; reference terminal Durban"/>
          <p:cNvSpPr/>
          <p:nvPr/>
        </p:nvSpPr>
        <p:spPr>
          <a:xfrm>
            <a:off x="4627220" y="4805994"/>
            <a:ext cx="11076" cy="11126"/>
          </a:xfrm>
          <a:custGeom>
            <a:avLst/>
            <a:gdLst/>
            <a:ahLst/>
            <a:cxnLst/>
            <a:rect l="l" t="t" r="r" b="b"/>
            <a:pathLst>
              <a:path w="11076" h="11126">
                <a:moveTo>
                  <a:pt x="0" y="0"/>
                </a:moveTo>
                <a:lnTo>
                  <a:pt x="11076" y="0"/>
                </a:lnTo>
                <a:lnTo>
                  <a:pt x="0" y="1112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7" name="Illustrative delivered road transport cost class 1; reference terminal Durban"/>
          <p:cNvSpPr/>
          <p:nvPr/>
        </p:nvSpPr>
        <p:spPr>
          <a:xfrm>
            <a:off x="4627220" y="4748307"/>
            <a:ext cx="57686" cy="57687"/>
          </a:xfrm>
          <a:custGeom>
            <a:avLst/>
            <a:gdLst/>
            <a:ahLst/>
            <a:cxnLst/>
            <a:rect l="l" t="t" r="r" b="b"/>
            <a:pathLst>
              <a:path w="57686" h="57687">
                <a:moveTo>
                  <a:pt x="0" y="57687"/>
                </a:moveTo>
                <a:lnTo>
                  <a:pt x="0" y="0"/>
                </a:lnTo>
                <a:lnTo>
                  <a:pt x="57686" y="0"/>
                </a:lnTo>
                <a:lnTo>
                  <a:pt x="57686" y="10868"/>
                </a:lnTo>
                <a:lnTo>
                  <a:pt x="1107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8" name="Illustrative delivered road transport cost class 1; reference terminal Durban"/>
          <p:cNvSpPr/>
          <p:nvPr/>
        </p:nvSpPr>
        <p:spPr>
          <a:xfrm>
            <a:off x="462722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9" name="Illustrative delivered road transport cost class 0; reference terminal Durban"/>
          <p:cNvSpPr/>
          <p:nvPr/>
        </p:nvSpPr>
        <p:spPr>
          <a:xfrm>
            <a:off x="462722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0" name="Illustrative delivered road transport cost class 0; reference terminal Durban"/>
          <p:cNvSpPr/>
          <p:nvPr/>
        </p:nvSpPr>
        <p:spPr>
          <a:xfrm>
            <a:off x="462722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1" name="Illustrative delivered road transport cost class 0; reference terminal Durban"/>
          <p:cNvSpPr/>
          <p:nvPr/>
        </p:nvSpPr>
        <p:spPr>
          <a:xfrm>
            <a:off x="462722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2" name="Illustrative delivered road transport cost class 0; reference terminal Durban"/>
          <p:cNvSpPr/>
          <p:nvPr/>
        </p:nvSpPr>
        <p:spPr>
          <a:xfrm>
            <a:off x="462722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3" name="Illustrative delivered road transport cost class 0; reference terminal Durban"/>
          <p:cNvSpPr/>
          <p:nvPr/>
        </p:nvSpPr>
        <p:spPr>
          <a:xfrm>
            <a:off x="462722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4" name="Illustrative delivered road transport cost class 0; reference terminal Durban"/>
          <p:cNvSpPr/>
          <p:nvPr/>
        </p:nvSpPr>
        <p:spPr>
          <a:xfrm>
            <a:off x="462722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5" name="Illustrative delivered road transport cost class 0; reference terminal Durban"/>
          <p:cNvSpPr/>
          <p:nvPr/>
        </p:nvSpPr>
        <p:spPr>
          <a:xfrm>
            <a:off x="462722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6" name="Illustrative delivered road transport cost class 0; reference terminal Durban"/>
          <p:cNvSpPr/>
          <p:nvPr/>
        </p:nvSpPr>
        <p:spPr>
          <a:xfrm>
            <a:off x="4627220" y="4229128"/>
            <a:ext cx="57686" cy="57686"/>
          </a:xfrm>
          <a:custGeom>
            <a:avLst/>
            <a:gdLst/>
            <a:ahLst/>
            <a:cxnLst/>
            <a:rect l="l" t="t" r="r" b="b"/>
            <a:pathLst>
              <a:path w="57686" h="57686">
                <a:moveTo>
                  <a:pt x="57686" y="0"/>
                </a:moveTo>
                <a:lnTo>
                  <a:pt x="57686" y="57686"/>
                </a:lnTo>
                <a:lnTo>
                  <a:pt x="0" y="57686"/>
                </a:lnTo>
                <a:lnTo>
                  <a:pt x="0" y="30242"/>
                </a:lnTo>
                <a:lnTo>
                  <a:pt x="1660" y="22439"/>
                </a:lnTo>
                <a:lnTo>
                  <a:pt x="13920" y="10244"/>
                </a:lnTo>
                <a:lnTo>
                  <a:pt x="26299" y="2285"/>
                </a:lnTo>
                <a:lnTo>
                  <a:pt x="28135"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7" name="Illustrative delivered road transport cost class 0; reference terminal Durban"/>
          <p:cNvSpPr/>
          <p:nvPr/>
        </p:nvSpPr>
        <p:spPr>
          <a:xfrm>
            <a:off x="4655355" y="4171441"/>
            <a:ext cx="29551" cy="57687"/>
          </a:xfrm>
          <a:custGeom>
            <a:avLst/>
            <a:gdLst/>
            <a:ahLst/>
            <a:cxnLst/>
            <a:rect l="l" t="t" r="r" b="b"/>
            <a:pathLst>
              <a:path w="29551" h="57687">
                <a:moveTo>
                  <a:pt x="29551" y="0"/>
                </a:moveTo>
                <a:lnTo>
                  <a:pt x="29551" y="57687"/>
                </a:lnTo>
                <a:lnTo>
                  <a:pt x="0" y="57687"/>
                </a:lnTo>
                <a:lnTo>
                  <a:pt x="8550" y="47044"/>
                </a:lnTo>
                <a:lnTo>
                  <a:pt x="22082" y="15554"/>
                </a:lnTo>
                <a:lnTo>
                  <a:pt x="26926" y="0"/>
                </a:lnTo>
                <a:lnTo>
                  <a:pt x="29551"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8" name="Illustrative delivered road transport cost class 0; reference terminal Durban"/>
          <p:cNvSpPr/>
          <p:nvPr/>
        </p:nvSpPr>
        <p:spPr>
          <a:xfrm>
            <a:off x="4682281" y="4163014"/>
            <a:ext cx="2625" cy="8427"/>
          </a:xfrm>
          <a:custGeom>
            <a:avLst/>
            <a:gdLst/>
            <a:ahLst/>
            <a:cxnLst/>
            <a:rect l="l" t="t" r="r" b="b"/>
            <a:pathLst>
              <a:path w="2625" h="8427">
                <a:moveTo>
                  <a:pt x="2625" y="8427"/>
                </a:moveTo>
                <a:lnTo>
                  <a:pt x="0" y="8427"/>
                </a:lnTo>
                <a:lnTo>
                  <a:pt x="2625" y="0"/>
                </a:lnTo>
                <a:lnTo>
                  <a:pt x="2625" y="842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9" name="Illustrative delivered road transport cost class 0; reference terminal Durban"/>
          <p:cNvSpPr/>
          <p:nvPr/>
        </p:nvSpPr>
        <p:spPr>
          <a:xfrm>
            <a:off x="4676458" y="4113755"/>
            <a:ext cx="8448" cy="17626"/>
          </a:xfrm>
          <a:custGeom>
            <a:avLst/>
            <a:gdLst/>
            <a:ahLst/>
            <a:cxnLst/>
            <a:rect l="l" t="t" r="r" b="b"/>
            <a:pathLst>
              <a:path w="8448" h="17626">
                <a:moveTo>
                  <a:pt x="8448" y="0"/>
                </a:moveTo>
                <a:lnTo>
                  <a:pt x="8448" y="17626"/>
                </a:lnTo>
                <a:lnTo>
                  <a:pt x="8041" y="16258"/>
                </a:lnTo>
                <a:lnTo>
                  <a:pt x="722" y="1960"/>
                </a:lnTo>
                <a:lnTo>
                  <a:pt x="0" y="0"/>
                </a:lnTo>
                <a:lnTo>
                  <a:pt x="8448"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0" name="Illustrative delivered road transport cost class 0; reference terminal Durban"/>
          <p:cNvSpPr/>
          <p:nvPr/>
        </p:nvSpPr>
        <p:spPr>
          <a:xfrm>
            <a:off x="4627220" y="4056068"/>
            <a:ext cx="57686" cy="57687"/>
          </a:xfrm>
          <a:custGeom>
            <a:avLst/>
            <a:gdLst/>
            <a:ahLst/>
            <a:cxnLst/>
            <a:rect l="l" t="t" r="r" b="b"/>
            <a:pathLst>
              <a:path w="57686" h="57687">
                <a:moveTo>
                  <a:pt x="0" y="0"/>
                </a:moveTo>
                <a:lnTo>
                  <a:pt x="57686" y="0"/>
                </a:lnTo>
                <a:lnTo>
                  <a:pt x="57686" y="57687"/>
                </a:lnTo>
                <a:lnTo>
                  <a:pt x="49238" y="57687"/>
                </a:lnTo>
                <a:lnTo>
                  <a:pt x="42897" y="40485"/>
                </a:lnTo>
                <a:lnTo>
                  <a:pt x="33670" y="37201"/>
                </a:lnTo>
                <a:lnTo>
                  <a:pt x="15701" y="25960"/>
                </a:lnTo>
                <a:lnTo>
                  <a:pt x="0" y="12657"/>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1" name="Illustrative delivered road transport cost class 0; reference terminal Durban"/>
          <p:cNvSpPr/>
          <p:nvPr/>
        </p:nvSpPr>
        <p:spPr>
          <a:xfrm>
            <a:off x="462722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2" name="Illustrative delivered road transport cost class 0; reference terminal Durban"/>
          <p:cNvSpPr/>
          <p:nvPr/>
        </p:nvSpPr>
        <p:spPr>
          <a:xfrm>
            <a:off x="462722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3" name="Illustrative delivered road transport cost class 0; reference terminal Lesedi"/>
          <p:cNvSpPr/>
          <p:nvPr/>
        </p:nvSpPr>
        <p:spPr>
          <a:xfrm>
            <a:off x="462722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4" name="Illustrative delivered road transport cost class 0; reference terminal Lesedi"/>
          <p:cNvSpPr/>
          <p:nvPr/>
        </p:nvSpPr>
        <p:spPr>
          <a:xfrm>
            <a:off x="462722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5" name="Illustrative delivered road transport cost class 0; reference terminal Lesedi"/>
          <p:cNvSpPr/>
          <p:nvPr/>
        </p:nvSpPr>
        <p:spPr>
          <a:xfrm>
            <a:off x="462722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6" name="Illustrative delivered road transport cost class 0; reference terminal Lesedi"/>
          <p:cNvSpPr/>
          <p:nvPr/>
        </p:nvSpPr>
        <p:spPr>
          <a:xfrm>
            <a:off x="462722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7" name="Illustrative delivered road transport cost class 0; reference terminal Lesedi"/>
          <p:cNvSpPr/>
          <p:nvPr/>
        </p:nvSpPr>
        <p:spPr>
          <a:xfrm>
            <a:off x="462722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8" name="Illustrative delivered road transport cost class 0; reference terminal Lesedi"/>
          <p:cNvSpPr/>
          <p:nvPr/>
        </p:nvSpPr>
        <p:spPr>
          <a:xfrm>
            <a:off x="462722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9" name="Illustrative delivered road transport cost class 0; reference terminal Lesedi"/>
          <p:cNvSpPr/>
          <p:nvPr/>
        </p:nvSpPr>
        <p:spPr>
          <a:xfrm>
            <a:off x="462722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0" name="Illustrative delivered road transport cost class 0; reference terminal Lesedi"/>
          <p:cNvSpPr/>
          <p:nvPr/>
        </p:nvSpPr>
        <p:spPr>
          <a:xfrm>
            <a:off x="462722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1" name="Illustrative delivered road transport cost class 0; reference terminal Lesedi"/>
          <p:cNvSpPr/>
          <p:nvPr/>
        </p:nvSpPr>
        <p:spPr>
          <a:xfrm>
            <a:off x="462722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2" name="Illustrative delivered road transport cost class 0; reference terminal Lesedi"/>
          <p:cNvSpPr/>
          <p:nvPr/>
        </p:nvSpPr>
        <p:spPr>
          <a:xfrm>
            <a:off x="462722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3" name="Illustrative delivered road transport cost class 0; reference terminal Lesedi"/>
          <p:cNvSpPr/>
          <p:nvPr/>
        </p:nvSpPr>
        <p:spPr>
          <a:xfrm>
            <a:off x="462722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4" name="Illustrative delivered road transport cost class 0; reference terminal Lesedi"/>
          <p:cNvSpPr/>
          <p:nvPr/>
        </p:nvSpPr>
        <p:spPr>
          <a:xfrm>
            <a:off x="462722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5" name="Illustrative delivered road transport cost class 0; reference terminal Lesedi"/>
          <p:cNvSpPr/>
          <p:nvPr/>
        </p:nvSpPr>
        <p:spPr>
          <a:xfrm>
            <a:off x="462722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6" name="Illustrative delivered road transport cost class 0; reference terminal Lesedi"/>
          <p:cNvSpPr/>
          <p:nvPr/>
        </p:nvSpPr>
        <p:spPr>
          <a:xfrm>
            <a:off x="4627220"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7" name="Illustrative delivered road transport cost class 0; reference terminal Lesedi"/>
          <p:cNvSpPr/>
          <p:nvPr/>
        </p:nvSpPr>
        <p:spPr>
          <a:xfrm>
            <a:off x="4627220"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8" name="Illustrative delivered road transport cost class 0; reference terminal Lesedi"/>
          <p:cNvSpPr/>
          <p:nvPr/>
        </p:nvSpPr>
        <p:spPr>
          <a:xfrm>
            <a:off x="4627220"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9" name="Illustrative delivered road transport cost class 0; reference terminal Lesedi"/>
          <p:cNvSpPr/>
          <p:nvPr/>
        </p:nvSpPr>
        <p:spPr>
          <a:xfrm>
            <a:off x="4627220"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0" name="Illustrative delivered road transport cost class 0; reference terminal Lesedi"/>
          <p:cNvSpPr/>
          <p:nvPr/>
        </p:nvSpPr>
        <p:spPr>
          <a:xfrm>
            <a:off x="4627220"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1" name="Illustrative delivered road transport cost class 0; reference terminal Lesedi"/>
          <p:cNvSpPr/>
          <p:nvPr/>
        </p:nvSpPr>
        <p:spPr>
          <a:xfrm>
            <a:off x="4627220"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2" name="Illustrative delivered road transport cost class 1; reference terminal Lesedi"/>
          <p:cNvSpPr/>
          <p:nvPr/>
        </p:nvSpPr>
        <p:spPr>
          <a:xfrm>
            <a:off x="4627220"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3" name="Illustrative delivered road transport cost class 1; reference terminal Lesedi"/>
          <p:cNvSpPr/>
          <p:nvPr/>
        </p:nvSpPr>
        <p:spPr>
          <a:xfrm>
            <a:off x="4627220"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4" name="Illustrative delivered road transport cost class 1; reference terminal Lesedi"/>
          <p:cNvSpPr/>
          <p:nvPr/>
        </p:nvSpPr>
        <p:spPr>
          <a:xfrm>
            <a:off x="4627220"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5" name="Illustrative delivered road transport cost class 1; reference terminal Lesedi"/>
          <p:cNvSpPr/>
          <p:nvPr/>
        </p:nvSpPr>
        <p:spPr>
          <a:xfrm>
            <a:off x="4627220"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6" name="Illustrative delivered road transport cost class 1; reference terminal Lesedi"/>
          <p:cNvSpPr/>
          <p:nvPr/>
        </p:nvSpPr>
        <p:spPr>
          <a:xfrm>
            <a:off x="4627220"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7" name="Illustrative delivered road transport cost class 1; reference terminal Lesedi"/>
          <p:cNvSpPr/>
          <p:nvPr/>
        </p:nvSpPr>
        <p:spPr>
          <a:xfrm>
            <a:off x="4627220"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8" name="Illustrative delivered road transport cost class 1; reference terminal Lesedi"/>
          <p:cNvSpPr/>
          <p:nvPr/>
        </p:nvSpPr>
        <p:spPr>
          <a:xfrm>
            <a:off x="4627220"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9" name="Illustrative delivered road transport cost class 2; reference terminal Lesedi"/>
          <p:cNvSpPr/>
          <p:nvPr/>
        </p:nvSpPr>
        <p:spPr>
          <a:xfrm>
            <a:off x="4627220" y="2383158"/>
            <a:ext cx="57686" cy="57686"/>
          </a:xfrm>
          <a:custGeom>
            <a:avLst/>
            <a:gdLst/>
            <a:ahLst/>
            <a:cxnLst/>
            <a:rect l="l" t="t" r="r" b="b"/>
            <a:pathLst>
              <a:path w="57686" h="57686">
                <a:moveTo>
                  <a:pt x="57686" y="0"/>
                </a:moveTo>
                <a:lnTo>
                  <a:pt x="57686" y="57686"/>
                </a:lnTo>
                <a:lnTo>
                  <a:pt x="0" y="57686"/>
                </a:lnTo>
                <a:lnTo>
                  <a:pt x="0" y="12996"/>
                </a:lnTo>
                <a:lnTo>
                  <a:pt x="15735" y="127"/>
                </a:lnTo>
                <a:lnTo>
                  <a:pt x="15809" y="0"/>
                </a:lnTo>
                <a:lnTo>
                  <a:pt x="57686"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0" name="Illustrative delivered road transport cost class 2; reference terminal Lesedi"/>
          <p:cNvSpPr/>
          <p:nvPr/>
        </p:nvSpPr>
        <p:spPr>
          <a:xfrm>
            <a:off x="4643029" y="2340078"/>
            <a:ext cx="41877" cy="43080"/>
          </a:xfrm>
          <a:custGeom>
            <a:avLst/>
            <a:gdLst/>
            <a:ahLst/>
            <a:cxnLst/>
            <a:rect l="l" t="t" r="r" b="b"/>
            <a:pathLst>
              <a:path w="41877" h="43080">
                <a:moveTo>
                  <a:pt x="41877" y="43080"/>
                </a:moveTo>
                <a:lnTo>
                  <a:pt x="0" y="43080"/>
                </a:lnTo>
                <a:lnTo>
                  <a:pt x="16866" y="13946"/>
                </a:lnTo>
                <a:lnTo>
                  <a:pt x="41877" y="0"/>
                </a:lnTo>
                <a:lnTo>
                  <a:pt x="41877" y="43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1" name="Illustrative delivered road transport cost class 1; reference terminal Durban"/>
          <p:cNvSpPr/>
          <p:nvPr/>
        </p:nvSpPr>
        <p:spPr>
          <a:xfrm>
            <a:off x="4684906" y="4748307"/>
            <a:ext cx="12440" cy="10868"/>
          </a:xfrm>
          <a:custGeom>
            <a:avLst/>
            <a:gdLst/>
            <a:ahLst/>
            <a:cxnLst/>
            <a:rect l="l" t="t" r="r" b="b"/>
            <a:pathLst>
              <a:path w="12440" h="10868">
                <a:moveTo>
                  <a:pt x="0" y="0"/>
                </a:moveTo>
                <a:lnTo>
                  <a:pt x="12440" y="0"/>
                </a:lnTo>
                <a:lnTo>
                  <a:pt x="85" y="10783"/>
                </a:lnTo>
                <a:lnTo>
                  <a:pt x="0" y="1086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2" name="Illustrative delivered road transport cost class 1; reference terminal Durban"/>
          <p:cNvSpPr/>
          <p:nvPr/>
        </p:nvSpPr>
        <p:spPr>
          <a:xfrm>
            <a:off x="4684906" y="4690620"/>
            <a:ext cx="57687" cy="57687"/>
          </a:xfrm>
          <a:custGeom>
            <a:avLst/>
            <a:gdLst/>
            <a:ahLst/>
            <a:cxnLst/>
            <a:rect l="l" t="t" r="r" b="b"/>
            <a:pathLst>
              <a:path w="57687" h="57687">
                <a:moveTo>
                  <a:pt x="0" y="57687"/>
                </a:moveTo>
                <a:lnTo>
                  <a:pt x="0" y="0"/>
                </a:lnTo>
                <a:lnTo>
                  <a:pt x="57687" y="0"/>
                </a:lnTo>
                <a:lnTo>
                  <a:pt x="57687" y="18285"/>
                </a:lnTo>
                <a:lnTo>
                  <a:pt x="57434" y="18416"/>
                </a:lnTo>
                <a:lnTo>
                  <a:pt x="124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3" name="Illustrative delivered road transport cost class 0; reference terminal Durban"/>
          <p:cNvSpPr/>
          <p:nvPr/>
        </p:nvSpPr>
        <p:spPr>
          <a:xfrm>
            <a:off x="468490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4" name="Illustrative delivered road transport cost class 0; reference terminal Durban"/>
          <p:cNvSpPr/>
          <p:nvPr/>
        </p:nvSpPr>
        <p:spPr>
          <a:xfrm>
            <a:off x="468490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5" name="Illustrative delivered road transport cost class 0; reference terminal Durban"/>
          <p:cNvSpPr/>
          <p:nvPr/>
        </p:nvSpPr>
        <p:spPr>
          <a:xfrm>
            <a:off x="468490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6" name="Illustrative delivered road transport cost class 0; reference terminal Durban"/>
          <p:cNvSpPr/>
          <p:nvPr/>
        </p:nvSpPr>
        <p:spPr>
          <a:xfrm>
            <a:off x="468490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7" name="Illustrative delivered road transport cost class 0; reference terminal Durban"/>
          <p:cNvSpPr/>
          <p:nvPr/>
        </p:nvSpPr>
        <p:spPr>
          <a:xfrm>
            <a:off x="468490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8" name="Illustrative delivered road transport cost class 0; reference terminal Durban"/>
          <p:cNvSpPr/>
          <p:nvPr/>
        </p:nvSpPr>
        <p:spPr>
          <a:xfrm>
            <a:off x="468490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9" name="Illustrative delivered road transport cost class 0; reference terminal Durban"/>
          <p:cNvSpPr/>
          <p:nvPr/>
        </p:nvSpPr>
        <p:spPr>
          <a:xfrm>
            <a:off x="468490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0" name="Illustrative delivered road transport cost class 0; reference terminal Durban"/>
          <p:cNvSpPr/>
          <p:nvPr/>
        </p:nvSpPr>
        <p:spPr>
          <a:xfrm>
            <a:off x="468490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1" name="Illustrative delivered road transport cost class 0; reference terminal Durban"/>
          <p:cNvSpPr/>
          <p:nvPr/>
        </p:nvSpPr>
        <p:spPr>
          <a:xfrm>
            <a:off x="468490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2" name="Illustrative delivered road transport cost class 0; reference terminal Durban"/>
          <p:cNvSpPr/>
          <p:nvPr/>
        </p:nvSpPr>
        <p:spPr>
          <a:xfrm>
            <a:off x="4684906" y="4113755"/>
            <a:ext cx="57687" cy="57686"/>
          </a:xfrm>
          <a:custGeom>
            <a:avLst/>
            <a:gdLst/>
            <a:ahLst/>
            <a:cxnLst/>
            <a:rect l="l" t="t" r="r" b="b"/>
            <a:pathLst>
              <a:path w="57687" h="57686">
                <a:moveTo>
                  <a:pt x="0" y="0"/>
                </a:moveTo>
                <a:lnTo>
                  <a:pt x="57687" y="0"/>
                </a:lnTo>
                <a:lnTo>
                  <a:pt x="57687" y="57686"/>
                </a:lnTo>
                <a:lnTo>
                  <a:pt x="0" y="57686"/>
                </a:lnTo>
                <a:lnTo>
                  <a:pt x="0" y="49259"/>
                </a:lnTo>
                <a:lnTo>
                  <a:pt x="2172" y="42287"/>
                </a:lnTo>
                <a:lnTo>
                  <a:pt x="3546" y="29534"/>
                </a:lnTo>
                <a:lnTo>
                  <a:pt x="0" y="17626"/>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3" name="Illustrative delivered road transport cost class 0; reference terminal Durban"/>
          <p:cNvSpPr/>
          <p:nvPr/>
        </p:nvSpPr>
        <p:spPr>
          <a:xfrm>
            <a:off x="468490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4" name="Illustrative delivered road transport cost class 0; reference terminal Durban"/>
          <p:cNvSpPr/>
          <p:nvPr/>
        </p:nvSpPr>
        <p:spPr>
          <a:xfrm>
            <a:off x="468490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5" name="Illustrative delivered road transport cost class 0; reference terminal Durban"/>
          <p:cNvSpPr/>
          <p:nvPr/>
        </p:nvSpPr>
        <p:spPr>
          <a:xfrm>
            <a:off x="468490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6" name="Illustrative delivered road transport cost class 0; reference terminal Durban"/>
          <p:cNvSpPr/>
          <p:nvPr/>
        </p:nvSpPr>
        <p:spPr>
          <a:xfrm>
            <a:off x="468490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7" name="Illustrative delivered road transport cost class 0; reference terminal Lesedi"/>
          <p:cNvSpPr/>
          <p:nvPr/>
        </p:nvSpPr>
        <p:spPr>
          <a:xfrm>
            <a:off x="468490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8" name="Illustrative delivered road transport cost class 0; reference terminal Lesedi"/>
          <p:cNvSpPr/>
          <p:nvPr/>
        </p:nvSpPr>
        <p:spPr>
          <a:xfrm>
            <a:off x="468490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9" name="Illustrative delivered road transport cost class 0; reference terminal Lesedi"/>
          <p:cNvSpPr/>
          <p:nvPr/>
        </p:nvSpPr>
        <p:spPr>
          <a:xfrm>
            <a:off x="468490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0" name="Illustrative delivered road transport cost class 0; reference terminal Lesedi"/>
          <p:cNvSpPr/>
          <p:nvPr/>
        </p:nvSpPr>
        <p:spPr>
          <a:xfrm>
            <a:off x="468490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1" name="Illustrative delivered road transport cost class 0; reference terminal Lesedi"/>
          <p:cNvSpPr/>
          <p:nvPr/>
        </p:nvSpPr>
        <p:spPr>
          <a:xfrm>
            <a:off x="468490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2" name="Illustrative delivered road transport cost class 0; reference terminal Lesedi"/>
          <p:cNvSpPr/>
          <p:nvPr/>
        </p:nvSpPr>
        <p:spPr>
          <a:xfrm>
            <a:off x="468490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3" name="Illustrative delivered road transport cost class 0; reference terminal Lesedi"/>
          <p:cNvSpPr/>
          <p:nvPr/>
        </p:nvSpPr>
        <p:spPr>
          <a:xfrm>
            <a:off x="468490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4" name="Illustrative delivered road transport cost class 0; reference terminal Lesedi"/>
          <p:cNvSpPr/>
          <p:nvPr/>
        </p:nvSpPr>
        <p:spPr>
          <a:xfrm>
            <a:off x="468490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5" name="Illustrative delivered road transport cost class 0; reference terminal Lesedi"/>
          <p:cNvSpPr/>
          <p:nvPr/>
        </p:nvSpPr>
        <p:spPr>
          <a:xfrm>
            <a:off x="468490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6" name="Illustrative delivered road transport cost class 0; reference terminal Lesedi"/>
          <p:cNvSpPr/>
          <p:nvPr/>
        </p:nvSpPr>
        <p:spPr>
          <a:xfrm>
            <a:off x="468490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7" name="Illustrative delivered road transport cost class 0; reference terminal Lesedi"/>
          <p:cNvSpPr/>
          <p:nvPr/>
        </p:nvSpPr>
        <p:spPr>
          <a:xfrm>
            <a:off x="468490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8" name="Illustrative delivered road transport cost class 0; reference terminal Lesedi"/>
          <p:cNvSpPr/>
          <p:nvPr/>
        </p:nvSpPr>
        <p:spPr>
          <a:xfrm>
            <a:off x="468490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9" name="Illustrative delivered road transport cost class 0; reference terminal Lesedi"/>
          <p:cNvSpPr/>
          <p:nvPr/>
        </p:nvSpPr>
        <p:spPr>
          <a:xfrm>
            <a:off x="468490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0" name="Illustrative delivered road transport cost class 0; reference terminal Lesedi"/>
          <p:cNvSpPr/>
          <p:nvPr/>
        </p:nvSpPr>
        <p:spPr>
          <a:xfrm>
            <a:off x="468490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1" name="Illustrative delivered road transport cost class 0; reference terminal Lesedi"/>
          <p:cNvSpPr/>
          <p:nvPr/>
        </p:nvSpPr>
        <p:spPr>
          <a:xfrm>
            <a:off x="468490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2" name="Illustrative delivered road transport cost class 0; reference terminal Lesedi"/>
          <p:cNvSpPr/>
          <p:nvPr/>
        </p:nvSpPr>
        <p:spPr>
          <a:xfrm>
            <a:off x="468490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3" name="Illustrative delivered road transport cost class 1; reference terminal Lesedi"/>
          <p:cNvSpPr/>
          <p:nvPr/>
        </p:nvSpPr>
        <p:spPr>
          <a:xfrm>
            <a:off x="468490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4" name="Illustrative delivered road transport cost class 1; reference terminal Lesedi"/>
          <p:cNvSpPr/>
          <p:nvPr/>
        </p:nvSpPr>
        <p:spPr>
          <a:xfrm>
            <a:off x="468490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5" name="Illustrative delivered road transport cost class 1; reference terminal Lesedi"/>
          <p:cNvSpPr/>
          <p:nvPr/>
        </p:nvSpPr>
        <p:spPr>
          <a:xfrm>
            <a:off x="468490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6" name="Illustrative delivered road transport cost class 1; reference terminal Lesedi"/>
          <p:cNvSpPr/>
          <p:nvPr/>
        </p:nvSpPr>
        <p:spPr>
          <a:xfrm>
            <a:off x="468490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7" name="Illustrative delivered road transport cost class 1; reference terminal Lesedi"/>
          <p:cNvSpPr/>
          <p:nvPr/>
        </p:nvSpPr>
        <p:spPr>
          <a:xfrm>
            <a:off x="468490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8" name="Illustrative delivered road transport cost class 1; reference terminal Lesedi"/>
          <p:cNvSpPr/>
          <p:nvPr/>
        </p:nvSpPr>
        <p:spPr>
          <a:xfrm>
            <a:off x="468490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9" name="Illustrative delivered road transport cost class 1; reference terminal Lesedi"/>
          <p:cNvSpPr/>
          <p:nvPr/>
        </p:nvSpPr>
        <p:spPr>
          <a:xfrm>
            <a:off x="468490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0" name="Illustrative delivered road transport cost class 1; reference terminal Lesedi"/>
          <p:cNvSpPr/>
          <p:nvPr/>
        </p:nvSpPr>
        <p:spPr>
          <a:xfrm>
            <a:off x="468490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1" name="Illustrative delivered road transport cost class 1; reference terminal Lesedi"/>
          <p:cNvSpPr/>
          <p:nvPr/>
        </p:nvSpPr>
        <p:spPr>
          <a:xfrm>
            <a:off x="468490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2" name="Illustrative delivered road transport cost class 1; reference terminal Lesedi"/>
          <p:cNvSpPr/>
          <p:nvPr/>
        </p:nvSpPr>
        <p:spPr>
          <a:xfrm>
            <a:off x="468490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3" name="Illustrative delivered road transport cost class 2; reference terminal Lesedi"/>
          <p:cNvSpPr/>
          <p:nvPr/>
        </p:nvSpPr>
        <p:spPr>
          <a:xfrm>
            <a:off x="4684906" y="2335355"/>
            <a:ext cx="57687" cy="47803"/>
          </a:xfrm>
          <a:custGeom>
            <a:avLst/>
            <a:gdLst/>
            <a:ahLst/>
            <a:cxnLst/>
            <a:rect l="l" t="t" r="r" b="b"/>
            <a:pathLst>
              <a:path w="57687" h="47803">
                <a:moveTo>
                  <a:pt x="57687" y="47803"/>
                </a:moveTo>
                <a:lnTo>
                  <a:pt x="0" y="47803"/>
                </a:lnTo>
                <a:lnTo>
                  <a:pt x="0" y="4723"/>
                </a:lnTo>
                <a:lnTo>
                  <a:pt x="3175" y="2952"/>
                </a:lnTo>
                <a:lnTo>
                  <a:pt x="57687" y="0"/>
                </a:lnTo>
                <a:lnTo>
                  <a:pt x="57687" y="47803"/>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4" name="Illustrative delivered road transport cost class 0; reference terminal Durban"/>
          <p:cNvSpPr/>
          <p:nvPr/>
        </p:nvSpPr>
        <p:spPr>
          <a:xfrm>
            <a:off x="4742593" y="4690620"/>
            <a:ext cx="30629" cy="18285"/>
          </a:xfrm>
          <a:custGeom>
            <a:avLst/>
            <a:gdLst/>
            <a:ahLst/>
            <a:cxnLst/>
            <a:rect l="l" t="t" r="r" b="b"/>
            <a:pathLst>
              <a:path w="30629" h="18285">
                <a:moveTo>
                  <a:pt x="0" y="0"/>
                </a:moveTo>
                <a:lnTo>
                  <a:pt x="30629" y="0"/>
                </a:lnTo>
                <a:lnTo>
                  <a:pt x="21093" y="7360"/>
                </a:lnTo>
                <a:lnTo>
                  <a:pt x="0" y="1828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5" name="Illustrative delivered road transport cost class 0; reference terminal Durban"/>
          <p:cNvSpPr/>
          <p:nvPr/>
        </p:nvSpPr>
        <p:spPr>
          <a:xfrm>
            <a:off x="4742593" y="4632934"/>
            <a:ext cx="57686" cy="57686"/>
          </a:xfrm>
          <a:custGeom>
            <a:avLst/>
            <a:gdLst/>
            <a:ahLst/>
            <a:cxnLst/>
            <a:rect l="l" t="t" r="r" b="b"/>
            <a:pathLst>
              <a:path w="57686" h="57686">
                <a:moveTo>
                  <a:pt x="0" y="57686"/>
                </a:moveTo>
                <a:lnTo>
                  <a:pt x="0" y="0"/>
                </a:lnTo>
                <a:lnTo>
                  <a:pt x="57686" y="0"/>
                </a:lnTo>
                <a:lnTo>
                  <a:pt x="57686" y="34953"/>
                </a:lnTo>
                <a:lnTo>
                  <a:pt x="53122" y="40326"/>
                </a:lnTo>
                <a:lnTo>
                  <a:pt x="30629"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6" name="Illustrative delivered road transport cost class 0; reference terminal Durban"/>
          <p:cNvSpPr/>
          <p:nvPr/>
        </p:nvSpPr>
        <p:spPr>
          <a:xfrm>
            <a:off x="474259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7" name="Illustrative delivered road transport cost class 0; reference terminal Durban"/>
          <p:cNvSpPr/>
          <p:nvPr/>
        </p:nvSpPr>
        <p:spPr>
          <a:xfrm>
            <a:off x="474259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8" name="Illustrative delivered road transport cost class 0; reference terminal Durban"/>
          <p:cNvSpPr/>
          <p:nvPr/>
        </p:nvSpPr>
        <p:spPr>
          <a:xfrm>
            <a:off x="474259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9" name="Illustrative delivered road transport cost class 0; reference terminal Durban"/>
          <p:cNvSpPr/>
          <p:nvPr/>
        </p:nvSpPr>
        <p:spPr>
          <a:xfrm>
            <a:off x="474259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0" name="Illustrative delivered road transport cost class 0; reference terminal Durban"/>
          <p:cNvSpPr/>
          <p:nvPr/>
        </p:nvSpPr>
        <p:spPr>
          <a:xfrm>
            <a:off x="474259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1" name="Illustrative delivered road transport cost class 0; reference terminal Durban"/>
          <p:cNvSpPr/>
          <p:nvPr/>
        </p:nvSpPr>
        <p:spPr>
          <a:xfrm>
            <a:off x="474259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2" name="Illustrative delivered road transport cost class 0; reference terminal Durban"/>
          <p:cNvSpPr/>
          <p:nvPr/>
        </p:nvSpPr>
        <p:spPr>
          <a:xfrm>
            <a:off x="474259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3" name="Illustrative delivered road transport cost class 0; reference terminal Durban"/>
          <p:cNvSpPr/>
          <p:nvPr/>
        </p:nvSpPr>
        <p:spPr>
          <a:xfrm>
            <a:off x="474259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4" name="Illustrative delivered road transport cost class 0; reference terminal Durban"/>
          <p:cNvSpPr/>
          <p:nvPr/>
        </p:nvSpPr>
        <p:spPr>
          <a:xfrm>
            <a:off x="474259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5" name="Illustrative delivered road transport cost class 0; reference terminal Durban"/>
          <p:cNvSpPr/>
          <p:nvPr/>
        </p:nvSpPr>
        <p:spPr>
          <a:xfrm>
            <a:off x="474259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6" name="Illustrative delivered road transport cost class 0; reference terminal Durban"/>
          <p:cNvSpPr/>
          <p:nvPr/>
        </p:nvSpPr>
        <p:spPr>
          <a:xfrm>
            <a:off x="474259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7" name="Illustrative delivered road transport cost class 0; reference terminal Durban"/>
          <p:cNvSpPr/>
          <p:nvPr/>
        </p:nvSpPr>
        <p:spPr>
          <a:xfrm>
            <a:off x="474259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8" name="Illustrative delivered road transport cost class 0; reference terminal Durban"/>
          <p:cNvSpPr/>
          <p:nvPr/>
        </p:nvSpPr>
        <p:spPr>
          <a:xfrm>
            <a:off x="474259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9" name="Illustrative delivered road transport cost class 0; reference terminal Lesedi"/>
          <p:cNvSpPr/>
          <p:nvPr/>
        </p:nvSpPr>
        <p:spPr>
          <a:xfrm>
            <a:off x="474259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0" name="Illustrative delivered road transport cost class 0; reference terminal Lesedi"/>
          <p:cNvSpPr/>
          <p:nvPr/>
        </p:nvSpPr>
        <p:spPr>
          <a:xfrm>
            <a:off x="474259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1" name="Illustrative delivered road transport cost class 0; reference terminal Lesedi"/>
          <p:cNvSpPr/>
          <p:nvPr/>
        </p:nvSpPr>
        <p:spPr>
          <a:xfrm>
            <a:off x="474259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2" name="Illustrative delivered road transport cost class 0; reference terminal Lesedi"/>
          <p:cNvSpPr/>
          <p:nvPr/>
        </p:nvSpPr>
        <p:spPr>
          <a:xfrm>
            <a:off x="474259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3" name="Illustrative delivered road transport cost class 0; reference terminal Lesedi"/>
          <p:cNvSpPr/>
          <p:nvPr/>
        </p:nvSpPr>
        <p:spPr>
          <a:xfrm>
            <a:off x="474259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4" name="Illustrative delivered road transport cost class 0; reference terminal Lesedi"/>
          <p:cNvSpPr/>
          <p:nvPr/>
        </p:nvSpPr>
        <p:spPr>
          <a:xfrm>
            <a:off x="474259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5" name="Illustrative delivered road transport cost class 0; reference terminal Lesedi"/>
          <p:cNvSpPr/>
          <p:nvPr/>
        </p:nvSpPr>
        <p:spPr>
          <a:xfrm>
            <a:off x="474259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6" name="Illustrative delivered road transport cost class 0; reference terminal Lesedi"/>
          <p:cNvSpPr/>
          <p:nvPr/>
        </p:nvSpPr>
        <p:spPr>
          <a:xfrm>
            <a:off x="474259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7" name="Illustrative delivered road transport cost class 0; reference terminal Lesedi"/>
          <p:cNvSpPr/>
          <p:nvPr/>
        </p:nvSpPr>
        <p:spPr>
          <a:xfrm>
            <a:off x="474259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8" name="Illustrative delivered road transport cost class 0; reference terminal Lesedi"/>
          <p:cNvSpPr/>
          <p:nvPr/>
        </p:nvSpPr>
        <p:spPr>
          <a:xfrm>
            <a:off x="474259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9" name="Illustrative delivered road transport cost class 0; reference terminal Lesedi"/>
          <p:cNvSpPr/>
          <p:nvPr/>
        </p:nvSpPr>
        <p:spPr>
          <a:xfrm>
            <a:off x="474259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0" name="Illustrative delivered road transport cost class 0; reference terminal Lesedi"/>
          <p:cNvSpPr/>
          <p:nvPr/>
        </p:nvSpPr>
        <p:spPr>
          <a:xfrm>
            <a:off x="474259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1" name="Illustrative delivered road transport cost class 0; reference terminal Lesedi"/>
          <p:cNvSpPr/>
          <p:nvPr/>
        </p:nvSpPr>
        <p:spPr>
          <a:xfrm>
            <a:off x="474259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2" name="Illustrative delivered road transport cost class 0; reference terminal Lesedi"/>
          <p:cNvSpPr/>
          <p:nvPr/>
        </p:nvSpPr>
        <p:spPr>
          <a:xfrm>
            <a:off x="474259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3" name="Illustrative delivered road transport cost class 1; reference terminal Lesedi"/>
          <p:cNvSpPr/>
          <p:nvPr/>
        </p:nvSpPr>
        <p:spPr>
          <a:xfrm>
            <a:off x="474259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4" name="Illustrative delivered road transport cost class 1; reference terminal Lesedi"/>
          <p:cNvSpPr/>
          <p:nvPr/>
        </p:nvSpPr>
        <p:spPr>
          <a:xfrm>
            <a:off x="474259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5" name="Illustrative delivered road transport cost class 1; reference terminal Lesedi"/>
          <p:cNvSpPr/>
          <p:nvPr/>
        </p:nvSpPr>
        <p:spPr>
          <a:xfrm>
            <a:off x="474259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6" name="Illustrative delivered road transport cost class 1; reference terminal Lesedi"/>
          <p:cNvSpPr/>
          <p:nvPr/>
        </p:nvSpPr>
        <p:spPr>
          <a:xfrm>
            <a:off x="474259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7" name="Illustrative delivered road transport cost class 1; reference terminal Lesedi"/>
          <p:cNvSpPr/>
          <p:nvPr/>
        </p:nvSpPr>
        <p:spPr>
          <a:xfrm>
            <a:off x="474259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8" name="Illustrative delivered road transport cost class 1; reference terminal Lesedi"/>
          <p:cNvSpPr/>
          <p:nvPr/>
        </p:nvSpPr>
        <p:spPr>
          <a:xfrm>
            <a:off x="474259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9" name="Illustrative delivered road transport cost class 1; reference terminal Lesedi"/>
          <p:cNvSpPr/>
          <p:nvPr/>
        </p:nvSpPr>
        <p:spPr>
          <a:xfrm>
            <a:off x="474259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0" name="Illustrative delivered road transport cost class 1; reference terminal Lesedi"/>
          <p:cNvSpPr/>
          <p:nvPr/>
        </p:nvSpPr>
        <p:spPr>
          <a:xfrm>
            <a:off x="474259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1" name="Illustrative delivered road transport cost class 1; reference terminal Lesedi"/>
          <p:cNvSpPr/>
          <p:nvPr/>
        </p:nvSpPr>
        <p:spPr>
          <a:xfrm>
            <a:off x="474259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2" name="Illustrative delivered road transport cost class 1; reference terminal Lesedi"/>
          <p:cNvSpPr/>
          <p:nvPr/>
        </p:nvSpPr>
        <p:spPr>
          <a:xfrm>
            <a:off x="474259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3" name="Illustrative delivered road transport cost class 1; reference terminal Lesedi"/>
          <p:cNvSpPr/>
          <p:nvPr/>
        </p:nvSpPr>
        <p:spPr>
          <a:xfrm>
            <a:off x="474259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4" name="Illustrative delivered road transport cost class 1; reference terminal Lesedi"/>
          <p:cNvSpPr/>
          <p:nvPr/>
        </p:nvSpPr>
        <p:spPr>
          <a:xfrm>
            <a:off x="474259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5" name="Illustrative delivered road transport cost class 2; reference terminal Lesedi"/>
          <p:cNvSpPr/>
          <p:nvPr/>
        </p:nvSpPr>
        <p:spPr>
          <a:xfrm>
            <a:off x="4742593" y="2327771"/>
            <a:ext cx="57686" cy="55387"/>
          </a:xfrm>
          <a:custGeom>
            <a:avLst/>
            <a:gdLst/>
            <a:ahLst/>
            <a:cxnLst/>
            <a:rect l="l" t="t" r="r" b="b"/>
            <a:pathLst>
              <a:path w="57686" h="55387">
                <a:moveTo>
                  <a:pt x="57686" y="55387"/>
                </a:moveTo>
                <a:lnTo>
                  <a:pt x="0" y="55387"/>
                </a:lnTo>
                <a:lnTo>
                  <a:pt x="0" y="7584"/>
                </a:lnTo>
                <a:lnTo>
                  <a:pt x="1574" y="7498"/>
                </a:lnTo>
                <a:lnTo>
                  <a:pt x="4582" y="7304"/>
                </a:lnTo>
                <a:lnTo>
                  <a:pt x="57686" y="0"/>
                </a:lnTo>
                <a:lnTo>
                  <a:pt x="57686" y="553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6" name="Illustrative delivered road transport cost class 0; reference terminal Durban"/>
          <p:cNvSpPr/>
          <p:nvPr/>
        </p:nvSpPr>
        <p:spPr>
          <a:xfrm>
            <a:off x="4800279" y="4632934"/>
            <a:ext cx="29693" cy="34953"/>
          </a:xfrm>
          <a:custGeom>
            <a:avLst/>
            <a:gdLst/>
            <a:ahLst/>
            <a:cxnLst/>
            <a:rect l="l" t="t" r="r" b="b"/>
            <a:pathLst>
              <a:path w="29693" h="34953">
                <a:moveTo>
                  <a:pt x="0" y="0"/>
                </a:moveTo>
                <a:lnTo>
                  <a:pt x="29693" y="0"/>
                </a:lnTo>
                <a:lnTo>
                  <a:pt x="0" y="3495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7" name="Illustrative delivered road transport cost class 0; reference terminal Durban"/>
          <p:cNvSpPr/>
          <p:nvPr/>
        </p:nvSpPr>
        <p:spPr>
          <a:xfrm>
            <a:off x="4800279" y="4575247"/>
            <a:ext cx="57687" cy="57687"/>
          </a:xfrm>
          <a:custGeom>
            <a:avLst/>
            <a:gdLst/>
            <a:ahLst/>
            <a:cxnLst/>
            <a:rect l="l" t="t" r="r" b="b"/>
            <a:pathLst>
              <a:path w="57687" h="57687">
                <a:moveTo>
                  <a:pt x="0" y="57687"/>
                </a:moveTo>
                <a:lnTo>
                  <a:pt x="0" y="0"/>
                </a:lnTo>
                <a:lnTo>
                  <a:pt x="57687" y="0"/>
                </a:lnTo>
                <a:lnTo>
                  <a:pt x="57687" y="24734"/>
                </a:lnTo>
                <a:lnTo>
                  <a:pt x="2969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8" name="Illustrative delivered road transport cost class 0; reference terminal Durban"/>
          <p:cNvSpPr/>
          <p:nvPr/>
        </p:nvSpPr>
        <p:spPr>
          <a:xfrm>
            <a:off x="480027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9" name="Illustrative delivered road transport cost class 0; reference terminal Durban"/>
          <p:cNvSpPr/>
          <p:nvPr/>
        </p:nvSpPr>
        <p:spPr>
          <a:xfrm>
            <a:off x="480027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0" name="Illustrative delivered road transport cost class 0; reference terminal Durban"/>
          <p:cNvSpPr/>
          <p:nvPr/>
        </p:nvSpPr>
        <p:spPr>
          <a:xfrm>
            <a:off x="480027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1" name="Illustrative delivered road transport cost class 0; reference terminal Durban"/>
          <p:cNvSpPr/>
          <p:nvPr/>
        </p:nvSpPr>
        <p:spPr>
          <a:xfrm>
            <a:off x="480027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2" name="Illustrative delivered road transport cost class 0; reference terminal Durban"/>
          <p:cNvSpPr/>
          <p:nvPr/>
        </p:nvSpPr>
        <p:spPr>
          <a:xfrm>
            <a:off x="480027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3" name="Illustrative delivered road transport cost class 0; reference terminal Durban"/>
          <p:cNvSpPr/>
          <p:nvPr/>
        </p:nvSpPr>
        <p:spPr>
          <a:xfrm>
            <a:off x="480027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4" name="Illustrative delivered road transport cost class 0; reference terminal Durban"/>
          <p:cNvSpPr/>
          <p:nvPr/>
        </p:nvSpPr>
        <p:spPr>
          <a:xfrm>
            <a:off x="480027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5" name="Illustrative delivered road transport cost class 0; reference terminal Durban"/>
          <p:cNvSpPr/>
          <p:nvPr/>
        </p:nvSpPr>
        <p:spPr>
          <a:xfrm>
            <a:off x="480027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6" name="Illustrative delivered road transport cost class 0; reference terminal Durban"/>
          <p:cNvSpPr/>
          <p:nvPr/>
        </p:nvSpPr>
        <p:spPr>
          <a:xfrm>
            <a:off x="480027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7" name="Illustrative delivered road transport cost class 0; reference terminal Durban"/>
          <p:cNvSpPr/>
          <p:nvPr/>
        </p:nvSpPr>
        <p:spPr>
          <a:xfrm>
            <a:off x="480027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8" name="Illustrative delivered road transport cost class 0; reference terminal Durban"/>
          <p:cNvSpPr/>
          <p:nvPr/>
        </p:nvSpPr>
        <p:spPr>
          <a:xfrm>
            <a:off x="480027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9" name="Illustrative delivered road transport cost class 0; reference terminal Durban"/>
          <p:cNvSpPr/>
          <p:nvPr/>
        </p:nvSpPr>
        <p:spPr>
          <a:xfrm>
            <a:off x="480027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0" name="Illustrative delivered road transport cost class 0; reference terminal Lesedi"/>
          <p:cNvSpPr/>
          <p:nvPr/>
        </p:nvSpPr>
        <p:spPr>
          <a:xfrm>
            <a:off x="480027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1" name="Illustrative delivered road transport cost class 0; reference terminal Lesedi"/>
          <p:cNvSpPr/>
          <p:nvPr/>
        </p:nvSpPr>
        <p:spPr>
          <a:xfrm>
            <a:off x="480027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2" name="Illustrative delivered road transport cost class 0; reference terminal Lesedi"/>
          <p:cNvSpPr/>
          <p:nvPr/>
        </p:nvSpPr>
        <p:spPr>
          <a:xfrm>
            <a:off x="480027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3" name="Illustrative delivered road transport cost class 0; reference terminal Lesedi"/>
          <p:cNvSpPr/>
          <p:nvPr/>
        </p:nvSpPr>
        <p:spPr>
          <a:xfrm>
            <a:off x="480027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4" name="Illustrative delivered road transport cost class 0; reference terminal Lesedi"/>
          <p:cNvSpPr/>
          <p:nvPr/>
        </p:nvSpPr>
        <p:spPr>
          <a:xfrm>
            <a:off x="480027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5" name="Illustrative delivered road transport cost class 0; reference terminal Lesedi"/>
          <p:cNvSpPr/>
          <p:nvPr/>
        </p:nvSpPr>
        <p:spPr>
          <a:xfrm>
            <a:off x="480027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6" name="Illustrative delivered road transport cost class 0; reference terminal Lesedi"/>
          <p:cNvSpPr/>
          <p:nvPr/>
        </p:nvSpPr>
        <p:spPr>
          <a:xfrm>
            <a:off x="480027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7" name="Illustrative delivered road transport cost class 0; reference terminal Lesedi"/>
          <p:cNvSpPr/>
          <p:nvPr/>
        </p:nvSpPr>
        <p:spPr>
          <a:xfrm>
            <a:off x="480027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8" name="Illustrative delivered road transport cost class 0; reference terminal Lesedi"/>
          <p:cNvSpPr/>
          <p:nvPr/>
        </p:nvSpPr>
        <p:spPr>
          <a:xfrm>
            <a:off x="480027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9" name="Illustrative delivered road transport cost class 0; reference terminal Lesedi"/>
          <p:cNvSpPr/>
          <p:nvPr/>
        </p:nvSpPr>
        <p:spPr>
          <a:xfrm>
            <a:off x="480027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0" name="Illustrative delivered road transport cost class 0; reference terminal Lesedi"/>
          <p:cNvSpPr/>
          <p:nvPr/>
        </p:nvSpPr>
        <p:spPr>
          <a:xfrm>
            <a:off x="480027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1" name="Illustrative delivered road transport cost class 0; reference terminal Lesedi"/>
          <p:cNvSpPr/>
          <p:nvPr/>
        </p:nvSpPr>
        <p:spPr>
          <a:xfrm>
            <a:off x="480027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2" name="Illustrative delivered road transport cost class 0; reference terminal Lesedi"/>
          <p:cNvSpPr/>
          <p:nvPr/>
        </p:nvSpPr>
        <p:spPr>
          <a:xfrm>
            <a:off x="480027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3" name="Illustrative delivered road transport cost class 0; reference terminal Lesedi"/>
          <p:cNvSpPr/>
          <p:nvPr/>
        </p:nvSpPr>
        <p:spPr>
          <a:xfrm>
            <a:off x="480027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4" name="Illustrative delivered road transport cost class 1; reference terminal Lesedi"/>
          <p:cNvSpPr/>
          <p:nvPr/>
        </p:nvSpPr>
        <p:spPr>
          <a:xfrm>
            <a:off x="480027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5" name="Illustrative delivered road transport cost class 1; reference terminal Lesedi"/>
          <p:cNvSpPr/>
          <p:nvPr/>
        </p:nvSpPr>
        <p:spPr>
          <a:xfrm>
            <a:off x="480027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6" name="Illustrative delivered road transport cost class 1; reference terminal Lesedi"/>
          <p:cNvSpPr/>
          <p:nvPr/>
        </p:nvSpPr>
        <p:spPr>
          <a:xfrm>
            <a:off x="480027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7" name="Illustrative delivered road transport cost class 1; reference terminal Lesedi"/>
          <p:cNvSpPr/>
          <p:nvPr/>
        </p:nvSpPr>
        <p:spPr>
          <a:xfrm>
            <a:off x="480027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8" name="Illustrative delivered road transport cost class 1; reference terminal Lesedi"/>
          <p:cNvSpPr/>
          <p:nvPr/>
        </p:nvSpPr>
        <p:spPr>
          <a:xfrm>
            <a:off x="480027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9" name="Illustrative delivered road transport cost class 1; reference terminal Lesedi"/>
          <p:cNvSpPr/>
          <p:nvPr/>
        </p:nvSpPr>
        <p:spPr>
          <a:xfrm>
            <a:off x="480027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0" name="Illustrative delivered road transport cost class 1; reference terminal Lesedi"/>
          <p:cNvSpPr/>
          <p:nvPr/>
        </p:nvSpPr>
        <p:spPr>
          <a:xfrm>
            <a:off x="480027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1" name="Illustrative delivered road transport cost class 1; reference terminal Lesedi"/>
          <p:cNvSpPr/>
          <p:nvPr/>
        </p:nvSpPr>
        <p:spPr>
          <a:xfrm>
            <a:off x="480027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2" name="Illustrative delivered road transport cost class 1; reference terminal Lesedi"/>
          <p:cNvSpPr/>
          <p:nvPr/>
        </p:nvSpPr>
        <p:spPr>
          <a:xfrm>
            <a:off x="480027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3" name="Illustrative delivered road transport cost class 1; reference terminal Lesedi"/>
          <p:cNvSpPr/>
          <p:nvPr/>
        </p:nvSpPr>
        <p:spPr>
          <a:xfrm>
            <a:off x="480027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4" name="Illustrative delivered road transport cost class 1; reference terminal Lesedi"/>
          <p:cNvSpPr/>
          <p:nvPr/>
        </p:nvSpPr>
        <p:spPr>
          <a:xfrm>
            <a:off x="480027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5" name="Illustrative delivered road transport cost class 1; reference terminal Lesedi"/>
          <p:cNvSpPr/>
          <p:nvPr/>
        </p:nvSpPr>
        <p:spPr>
          <a:xfrm>
            <a:off x="480027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6" name="Illustrative delivered road transport cost class 1; reference terminal Lesedi"/>
          <p:cNvSpPr/>
          <p:nvPr/>
        </p:nvSpPr>
        <p:spPr>
          <a:xfrm>
            <a:off x="4800279" y="2325669"/>
            <a:ext cx="57687" cy="57489"/>
          </a:xfrm>
          <a:custGeom>
            <a:avLst/>
            <a:gdLst/>
            <a:ahLst/>
            <a:cxnLst/>
            <a:rect l="l" t="t" r="r" b="b"/>
            <a:pathLst>
              <a:path w="57687" h="57489">
                <a:moveTo>
                  <a:pt x="57687" y="57489"/>
                </a:moveTo>
                <a:lnTo>
                  <a:pt x="0" y="57489"/>
                </a:lnTo>
                <a:lnTo>
                  <a:pt x="0" y="2102"/>
                </a:lnTo>
                <a:lnTo>
                  <a:pt x="15287" y="0"/>
                </a:lnTo>
                <a:lnTo>
                  <a:pt x="57687" y="8864"/>
                </a:lnTo>
                <a:lnTo>
                  <a:pt x="57687" y="5748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7" name="Illustrative delivered road transport cost class 0; reference terminal Durban"/>
          <p:cNvSpPr/>
          <p:nvPr/>
        </p:nvSpPr>
        <p:spPr>
          <a:xfrm>
            <a:off x="4857966" y="4575247"/>
            <a:ext cx="19200" cy="24734"/>
          </a:xfrm>
          <a:custGeom>
            <a:avLst/>
            <a:gdLst/>
            <a:ahLst/>
            <a:cxnLst/>
            <a:rect l="l" t="t" r="r" b="b"/>
            <a:pathLst>
              <a:path w="19200" h="24734">
                <a:moveTo>
                  <a:pt x="0" y="0"/>
                </a:moveTo>
                <a:lnTo>
                  <a:pt x="19200" y="0"/>
                </a:lnTo>
                <a:lnTo>
                  <a:pt x="11598" y="11082"/>
                </a:lnTo>
                <a:lnTo>
                  <a:pt x="0" y="2473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8" name="Illustrative delivered road transport cost class 0; reference terminal Durban"/>
          <p:cNvSpPr/>
          <p:nvPr/>
        </p:nvSpPr>
        <p:spPr>
          <a:xfrm>
            <a:off x="4857966" y="4517561"/>
            <a:ext cx="57687" cy="57686"/>
          </a:xfrm>
          <a:custGeom>
            <a:avLst/>
            <a:gdLst/>
            <a:ahLst/>
            <a:cxnLst/>
            <a:rect l="l" t="t" r="r" b="b"/>
            <a:pathLst>
              <a:path w="57687" h="57686">
                <a:moveTo>
                  <a:pt x="0" y="57686"/>
                </a:moveTo>
                <a:lnTo>
                  <a:pt x="0" y="0"/>
                </a:lnTo>
                <a:lnTo>
                  <a:pt x="57687" y="0"/>
                </a:lnTo>
                <a:lnTo>
                  <a:pt x="57687" y="1421"/>
                </a:lnTo>
                <a:lnTo>
                  <a:pt x="55153" y="5279"/>
                </a:lnTo>
                <a:lnTo>
                  <a:pt x="19200"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9" name="Illustrative delivered road transport cost class 0; reference terminal Durban"/>
          <p:cNvSpPr/>
          <p:nvPr/>
        </p:nvSpPr>
        <p:spPr>
          <a:xfrm>
            <a:off x="485796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0" name="Illustrative delivered road transport cost class 0; reference terminal Durban"/>
          <p:cNvSpPr/>
          <p:nvPr/>
        </p:nvSpPr>
        <p:spPr>
          <a:xfrm>
            <a:off x="485796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1" name="Illustrative delivered road transport cost class 0; reference terminal Durban"/>
          <p:cNvSpPr/>
          <p:nvPr/>
        </p:nvSpPr>
        <p:spPr>
          <a:xfrm>
            <a:off x="485796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2" name="Illustrative delivered road transport cost class 0; reference terminal Durban"/>
          <p:cNvSpPr/>
          <p:nvPr/>
        </p:nvSpPr>
        <p:spPr>
          <a:xfrm>
            <a:off x="485796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3" name="Illustrative delivered road transport cost class 0; reference terminal Durban"/>
          <p:cNvSpPr/>
          <p:nvPr/>
        </p:nvSpPr>
        <p:spPr>
          <a:xfrm>
            <a:off x="485796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4" name="Illustrative delivered road transport cost class 0; reference terminal Durban"/>
          <p:cNvSpPr/>
          <p:nvPr/>
        </p:nvSpPr>
        <p:spPr>
          <a:xfrm>
            <a:off x="485796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5" name="Illustrative delivered road transport cost class 0; reference terminal Durban"/>
          <p:cNvSpPr/>
          <p:nvPr/>
        </p:nvSpPr>
        <p:spPr>
          <a:xfrm>
            <a:off x="485796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6" name="Illustrative delivered road transport cost class 0; reference terminal Durban"/>
          <p:cNvSpPr/>
          <p:nvPr/>
        </p:nvSpPr>
        <p:spPr>
          <a:xfrm>
            <a:off x="485796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7" name="Illustrative delivered road transport cost class 0; reference terminal Durban"/>
          <p:cNvSpPr/>
          <p:nvPr/>
        </p:nvSpPr>
        <p:spPr>
          <a:xfrm>
            <a:off x="485796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8" name="Illustrative delivered road transport cost class 0; reference terminal Durban"/>
          <p:cNvSpPr/>
          <p:nvPr/>
        </p:nvSpPr>
        <p:spPr>
          <a:xfrm>
            <a:off x="485796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9" name="Illustrative delivered road transport cost class 0; reference terminal Durban"/>
          <p:cNvSpPr/>
          <p:nvPr/>
        </p:nvSpPr>
        <p:spPr>
          <a:xfrm>
            <a:off x="485796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0" name="Illustrative delivered road transport cost class None; reference terminal None"/>
          <p:cNvSpPr/>
          <p:nvPr/>
        </p:nvSpPr>
        <p:spPr>
          <a:xfrm>
            <a:off x="485796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1" name="Illustrative delivered road transport cost class None; reference terminal None"/>
          <p:cNvSpPr/>
          <p:nvPr/>
        </p:nvSpPr>
        <p:spPr>
          <a:xfrm>
            <a:off x="485796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2" name="Illustrative delivered road transport cost class None; reference terminal None"/>
          <p:cNvSpPr/>
          <p:nvPr/>
        </p:nvSpPr>
        <p:spPr>
          <a:xfrm>
            <a:off x="485796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3" name="Illustrative delivered road transport cost class 1; reference terminal Lesedi"/>
          <p:cNvSpPr/>
          <p:nvPr/>
        </p:nvSpPr>
        <p:spPr>
          <a:xfrm>
            <a:off x="485796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4" name="Illustrative delivered road transport cost class 1; reference terminal Lesedi"/>
          <p:cNvSpPr/>
          <p:nvPr/>
        </p:nvSpPr>
        <p:spPr>
          <a:xfrm>
            <a:off x="485796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5" name="Illustrative delivered road transport cost class 1; reference terminal Lesedi"/>
          <p:cNvSpPr/>
          <p:nvPr/>
        </p:nvSpPr>
        <p:spPr>
          <a:xfrm>
            <a:off x="485796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6" name="Illustrative delivered road transport cost class 0; reference terminal Lesedi"/>
          <p:cNvSpPr/>
          <p:nvPr/>
        </p:nvSpPr>
        <p:spPr>
          <a:xfrm>
            <a:off x="485796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7" name="Illustrative delivered road transport cost class 0; reference terminal Lesedi"/>
          <p:cNvSpPr/>
          <p:nvPr/>
        </p:nvSpPr>
        <p:spPr>
          <a:xfrm>
            <a:off x="485796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8" name="Illustrative delivered road transport cost class 0; reference terminal Lesedi"/>
          <p:cNvSpPr/>
          <p:nvPr/>
        </p:nvSpPr>
        <p:spPr>
          <a:xfrm>
            <a:off x="485796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9" name="Illustrative delivered road transport cost class 0; reference terminal Lesedi"/>
          <p:cNvSpPr/>
          <p:nvPr/>
        </p:nvSpPr>
        <p:spPr>
          <a:xfrm>
            <a:off x="485796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0" name="Illustrative delivered road transport cost class 0; reference terminal Lesedi"/>
          <p:cNvSpPr/>
          <p:nvPr/>
        </p:nvSpPr>
        <p:spPr>
          <a:xfrm>
            <a:off x="485796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1" name="Illustrative delivered road transport cost class 0; reference terminal Lesedi"/>
          <p:cNvSpPr/>
          <p:nvPr/>
        </p:nvSpPr>
        <p:spPr>
          <a:xfrm>
            <a:off x="485796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2" name="Illustrative delivered road transport cost class 0; reference terminal Lesedi"/>
          <p:cNvSpPr/>
          <p:nvPr/>
        </p:nvSpPr>
        <p:spPr>
          <a:xfrm>
            <a:off x="485796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3" name="Illustrative delivered road transport cost class 1; reference terminal Lesedi"/>
          <p:cNvSpPr/>
          <p:nvPr/>
        </p:nvSpPr>
        <p:spPr>
          <a:xfrm>
            <a:off x="485796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4" name="Illustrative delivered road transport cost class 1; reference terminal Lesedi"/>
          <p:cNvSpPr/>
          <p:nvPr/>
        </p:nvSpPr>
        <p:spPr>
          <a:xfrm>
            <a:off x="485796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5" name="Illustrative delivered road transport cost class None; reference terminal None"/>
          <p:cNvSpPr/>
          <p:nvPr/>
        </p:nvSpPr>
        <p:spPr>
          <a:xfrm>
            <a:off x="485796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6" name="Illustrative delivered road transport cost class 1; reference terminal Lesedi"/>
          <p:cNvSpPr/>
          <p:nvPr/>
        </p:nvSpPr>
        <p:spPr>
          <a:xfrm>
            <a:off x="485796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7" name="Illustrative delivered road transport cost class 1; reference terminal Lesedi"/>
          <p:cNvSpPr/>
          <p:nvPr/>
        </p:nvSpPr>
        <p:spPr>
          <a:xfrm>
            <a:off x="485796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8" name="Illustrative delivered road transport cost class 1; reference terminal Lesedi"/>
          <p:cNvSpPr/>
          <p:nvPr/>
        </p:nvSpPr>
        <p:spPr>
          <a:xfrm>
            <a:off x="485796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9" name="Illustrative delivered road transport cost class 1; reference terminal Lesedi"/>
          <p:cNvSpPr/>
          <p:nvPr/>
        </p:nvSpPr>
        <p:spPr>
          <a:xfrm>
            <a:off x="485796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0" name="Illustrative delivered road transport cost class 1; reference terminal Lesedi"/>
          <p:cNvSpPr/>
          <p:nvPr/>
        </p:nvSpPr>
        <p:spPr>
          <a:xfrm>
            <a:off x="485796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1" name="Illustrative delivered road transport cost class 1; reference terminal Lesedi"/>
          <p:cNvSpPr/>
          <p:nvPr/>
        </p:nvSpPr>
        <p:spPr>
          <a:xfrm>
            <a:off x="485796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2" name="Illustrative delivered road transport cost class 1; reference terminal Lesedi"/>
          <p:cNvSpPr/>
          <p:nvPr/>
        </p:nvSpPr>
        <p:spPr>
          <a:xfrm>
            <a:off x="485796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3" name="Illustrative delivered road transport cost class 1; reference terminal Lesedi"/>
          <p:cNvSpPr/>
          <p:nvPr/>
        </p:nvSpPr>
        <p:spPr>
          <a:xfrm>
            <a:off x="485796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4" name="Illustrative delivered road transport cost class 1; reference terminal Lesedi"/>
          <p:cNvSpPr/>
          <p:nvPr/>
        </p:nvSpPr>
        <p:spPr>
          <a:xfrm>
            <a:off x="485796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5" name="Illustrative delivered road transport cost class 1; reference terminal Lesedi"/>
          <p:cNvSpPr/>
          <p:nvPr/>
        </p:nvSpPr>
        <p:spPr>
          <a:xfrm>
            <a:off x="485796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6" name="Illustrative delivered road transport cost class 1; reference terminal Lesedi"/>
          <p:cNvSpPr/>
          <p:nvPr/>
        </p:nvSpPr>
        <p:spPr>
          <a:xfrm>
            <a:off x="4857966" y="2334533"/>
            <a:ext cx="57687" cy="48625"/>
          </a:xfrm>
          <a:custGeom>
            <a:avLst/>
            <a:gdLst/>
            <a:ahLst/>
            <a:cxnLst/>
            <a:rect l="l" t="t" r="r" b="b"/>
            <a:pathLst>
              <a:path w="57687" h="48625">
                <a:moveTo>
                  <a:pt x="57687" y="48625"/>
                </a:moveTo>
                <a:lnTo>
                  <a:pt x="0" y="48625"/>
                </a:lnTo>
                <a:lnTo>
                  <a:pt x="0" y="0"/>
                </a:lnTo>
                <a:lnTo>
                  <a:pt x="14232" y="2975"/>
                </a:lnTo>
                <a:lnTo>
                  <a:pt x="57687" y="22297"/>
                </a:lnTo>
                <a:lnTo>
                  <a:pt x="57687" y="48625"/>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7" name="Illustrative delivered road transport cost class 0; reference terminal Durban"/>
          <p:cNvSpPr/>
          <p:nvPr/>
        </p:nvSpPr>
        <p:spPr>
          <a:xfrm>
            <a:off x="4915653" y="4459874"/>
            <a:ext cx="38817" cy="57687"/>
          </a:xfrm>
          <a:custGeom>
            <a:avLst/>
            <a:gdLst/>
            <a:ahLst/>
            <a:cxnLst/>
            <a:rect l="l" t="t" r="r" b="b"/>
            <a:pathLst>
              <a:path w="38817" h="57687">
                <a:moveTo>
                  <a:pt x="0" y="57687"/>
                </a:moveTo>
                <a:lnTo>
                  <a:pt x="0" y="0"/>
                </a:lnTo>
                <a:lnTo>
                  <a:pt x="38817" y="0"/>
                </a:lnTo>
                <a:lnTo>
                  <a:pt x="93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8" name="Illustrative delivered road transport cost class 0; reference terminal Durban"/>
          <p:cNvSpPr/>
          <p:nvPr/>
        </p:nvSpPr>
        <p:spPr>
          <a:xfrm>
            <a:off x="4915653" y="4402188"/>
            <a:ext cx="57686" cy="57686"/>
          </a:xfrm>
          <a:custGeom>
            <a:avLst/>
            <a:gdLst/>
            <a:ahLst/>
            <a:cxnLst/>
            <a:rect l="l" t="t" r="r" b="b"/>
            <a:pathLst>
              <a:path w="57686" h="57686">
                <a:moveTo>
                  <a:pt x="0" y="57686"/>
                </a:moveTo>
                <a:lnTo>
                  <a:pt x="0" y="0"/>
                </a:lnTo>
                <a:lnTo>
                  <a:pt x="57686" y="0"/>
                </a:lnTo>
                <a:lnTo>
                  <a:pt x="57686" y="25851"/>
                </a:lnTo>
                <a:lnTo>
                  <a:pt x="43228" y="50968"/>
                </a:lnTo>
                <a:lnTo>
                  <a:pt x="3881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9" name="Illustrative delivered road transport cost class 0; reference terminal Durban"/>
          <p:cNvSpPr/>
          <p:nvPr/>
        </p:nvSpPr>
        <p:spPr>
          <a:xfrm>
            <a:off x="491565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0" name="Illustrative delivered road transport cost class 0; reference terminal Durban"/>
          <p:cNvSpPr/>
          <p:nvPr/>
        </p:nvSpPr>
        <p:spPr>
          <a:xfrm>
            <a:off x="491565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1" name="Illustrative delivered road transport cost class 0; reference terminal Durban"/>
          <p:cNvSpPr/>
          <p:nvPr/>
        </p:nvSpPr>
        <p:spPr>
          <a:xfrm>
            <a:off x="491565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2" name="Illustrative delivered road transport cost class 0; reference terminal Durban"/>
          <p:cNvSpPr/>
          <p:nvPr/>
        </p:nvSpPr>
        <p:spPr>
          <a:xfrm>
            <a:off x="491565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3" name="Illustrative delivered road transport cost class 0; reference terminal Durban"/>
          <p:cNvSpPr/>
          <p:nvPr/>
        </p:nvSpPr>
        <p:spPr>
          <a:xfrm>
            <a:off x="491565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4" name="Illustrative delivered road transport cost class 0; reference terminal Durban"/>
          <p:cNvSpPr/>
          <p:nvPr/>
        </p:nvSpPr>
        <p:spPr>
          <a:xfrm>
            <a:off x="491565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5" name="Illustrative delivered road transport cost class 0; reference terminal Durban"/>
          <p:cNvSpPr/>
          <p:nvPr/>
        </p:nvSpPr>
        <p:spPr>
          <a:xfrm>
            <a:off x="491565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6" name="Illustrative delivered road transport cost class 0; reference terminal Durban"/>
          <p:cNvSpPr/>
          <p:nvPr/>
        </p:nvSpPr>
        <p:spPr>
          <a:xfrm>
            <a:off x="491565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7" name="Illustrative delivered road transport cost class None; reference terminal None"/>
          <p:cNvSpPr/>
          <p:nvPr/>
        </p:nvSpPr>
        <p:spPr>
          <a:xfrm>
            <a:off x="491565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8" name="Illustrative delivered road transport cost class None; reference terminal None"/>
          <p:cNvSpPr/>
          <p:nvPr/>
        </p:nvSpPr>
        <p:spPr>
          <a:xfrm>
            <a:off x="491565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9" name="Illustrative delivered road transport cost class None; reference terminal None"/>
          <p:cNvSpPr/>
          <p:nvPr/>
        </p:nvSpPr>
        <p:spPr>
          <a:xfrm>
            <a:off x="491565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0" name="Illustrative delivered road transport cost class 1; reference terminal Lesedi"/>
          <p:cNvSpPr/>
          <p:nvPr/>
        </p:nvSpPr>
        <p:spPr>
          <a:xfrm>
            <a:off x="491565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1" name="Illustrative delivered road transport cost class 1; reference terminal Lesedi"/>
          <p:cNvSpPr/>
          <p:nvPr/>
        </p:nvSpPr>
        <p:spPr>
          <a:xfrm>
            <a:off x="491565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2" name="Illustrative delivered road transport cost class 1; reference terminal Lesedi"/>
          <p:cNvSpPr/>
          <p:nvPr/>
        </p:nvSpPr>
        <p:spPr>
          <a:xfrm>
            <a:off x="491565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3" name="Illustrative delivered road transport cost class 1; reference terminal Lesedi"/>
          <p:cNvSpPr/>
          <p:nvPr/>
        </p:nvSpPr>
        <p:spPr>
          <a:xfrm>
            <a:off x="491565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4" name="Illustrative delivered road transport cost class 0; reference terminal Lesedi"/>
          <p:cNvSpPr/>
          <p:nvPr/>
        </p:nvSpPr>
        <p:spPr>
          <a:xfrm>
            <a:off x="491565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5" name="Illustrative delivered road transport cost class 0; reference terminal Lesedi"/>
          <p:cNvSpPr/>
          <p:nvPr/>
        </p:nvSpPr>
        <p:spPr>
          <a:xfrm>
            <a:off x="491565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6" name="Illustrative delivered road transport cost class 0; reference terminal Lesedi"/>
          <p:cNvSpPr/>
          <p:nvPr/>
        </p:nvSpPr>
        <p:spPr>
          <a:xfrm>
            <a:off x="491565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7" name="Illustrative delivered road transport cost class 1; reference terminal Lesedi"/>
          <p:cNvSpPr/>
          <p:nvPr/>
        </p:nvSpPr>
        <p:spPr>
          <a:xfrm>
            <a:off x="491565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8" name="Illustrative delivered road transport cost class 1; reference terminal Lesedi"/>
          <p:cNvSpPr/>
          <p:nvPr/>
        </p:nvSpPr>
        <p:spPr>
          <a:xfrm>
            <a:off x="491565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9" name="Illustrative delivered road transport cost class 0; reference terminal Lesedi"/>
          <p:cNvSpPr/>
          <p:nvPr/>
        </p:nvSpPr>
        <p:spPr>
          <a:xfrm>
            <a:off x="491565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0" name="Illustrative delivered road transport cost class 1; reference terminal Lesedi"/>
          <p:cNvSpPr/>
          <p:nvPr/>
        </p:nvSpPr>
        <p:spPr>
          <a:xfrm>
            <a:off x="491565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1" name="Illustrative delivered road transport cost class 1; reference terminal Lesedi"/>
          <p:cNvSpPr/>
          <p:nvPr/>
        </p:nvSpPr>
        <p:spPr>
          <a:xfrm>
            <a:off x="491565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2" name="Illustrative delivered road transport cost class 1; reference terminal Lesedi"/>
          <p:cNvSpPr/>
          <p:nvPr/>
        </p:nvSpPr>
        <p:spPr>
          <a:xfrm>
            <a:off x="491565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3" name="Illustrative delivered road transport cost class 1; reference terminal Lesedi"/>
          <p:cNvSpPr/>
          <p:nvPr/>
        </p:nvSpPr>
        <p:spPr>
          <a:xfrm>
            <a:off x="491565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4" name="Illustrative delivered road transport cost class None; reference terminal None"/>
          <p:cNvSpPr/>
          <p:nvPr/>
        </p:nvSpPr>
        <p:spPr>
          <a:xfrm>
            <a:off x="491565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5" name="Illustrative delivered road transport cost class 1; reference terminal Lesedi"/>
          <p:cNvSpPr/>
          <p:nvPr/>
        </p:nvSpPr>
        <p:spPr>
          <a:xfrm>
            <a:off x="491565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6" name="Illustrative delivered road transport cost class 1; reference terminal Lesedi"/>
          <p:cNvSpPr/>
          <p:nvPr/>
        </p:nvSpPr>
        <p:spPr>
          <a:xfrm>
            <a:off x="491565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7" name="Illustrative delivered road transport cost class 1; reference terminal Lesedi"/>
          <p:cNvSpPr/>
          <p:nvPr/>
        </p:nvSpPr>
        <p:spPr>
          <a:xfrm>
            <a:off x="491565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8" name="Illustrative delivered road transport cost class 1; reference terminal Lesedi"/>
          <p:cNvSpPr/>
          <p:nvPr/>
        </p:nvSpPr>
        <p:spPr>
          <a:xfrm>
            <a:off x="491565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9" name="Illustrative delivered road transport cost class 1; reference terminal Lesedi"/>
          <p:cNvSpPr/>
          <p:nvPr/>
        </p:nvSpPr>
        <p:spPr>
          <a:xfrm>
            <a:off x="491565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0" name="Illustrative delivered road transport cost class 1; reference terminal Lesedi"/>
          <p:cNvSpPr/>
          <p:nvPr/>
        </p:nvSpPr>
        <p:spPr>
          <a:xfrm>
            <a:off x="491565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1" name="Illustrative delivered road transport cost class 1; reference terminal Lesedi"/>
          <p:cNvSpPr/>
          <p:nvPr/>
        </p:nvSpPr>
        <p:spPr>
          <a:xfrm>
            <a:off x="491565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2" name="Illustrative delivered road transport cost class 1; reference terminal Lesedi"/>
          <p:cNvSpPr/>
          <p:nvPr/>
        </p:nvSpPr>
        <p:spPr>
          <a:xfrm>
            <a:off x="491565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3" name="Illustrative delivered road transport cost class 1; reference terminal Lesedi"/>
          <p:cNvSpPr/>
          <p:nvPr/>
        </p:nvSpPr>
        <p:spPr>
          <a:xfrm>
            <a:off x="491565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4" name="Illustrative delivered road transport cost class 2; reference terminal Lesedi"/>
          <p:cNvSpPr/>
          <p:nvPr/>
        </p:nvSpPr>
        <p:spPr>
          <a:xfrm>
            <a:off x="4915653" y="2356830"/>
            <a:ext cx="57686" cy="26328"/>
          </a:xfrm>
          <a:custGeom>
            <a:avLst/>
            <a:gdLst/>
            <a:ahLst/>
            <a:cxnLst/>
            <a:rect l="l" t="t" r="r" b="b"/>
            <a:pathLst>
              <a:path w="57686" h="26328">
                <a:moveTo>
                  <a:pt x="57686" y="26328"/>
                </a:moveTo>
                <a:lnTo>
                  <a:pt x="0" y="26328"/>
                </a:lnTo>
                <a:lnTo>
                  <a:pt x="0" y="0"/>
                </a:lnTo>
                <a:lnTo>
                  <a:pt x="24105" y="10719"/>
                </a:lnTo>
                <a:lnTo>
                  <a:pt x="57686" y="17248"/>
                </a:lnTo>
                <a:lnTo>
                  <a:pt x="57686" y="26328"/>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5" name="Illustrative delivered road transport cost class 0; reference terminal Durban"/>
          <p:cNvSpPr/>
          <p:nvPr/>
        </p:nvSpPr>
        <p:spPr>
          <a:xfrm>
            <a:off x="4973339" y="4402188"/>
            <a:ext cx="14881" cy="25851"/>
          </a:xfrm>
          <a:custGeom>
            <a:avLst/>
            <a:gdLst/>
            <a:ahLst/>
            <a:cxnLst/>
            <a:rect l="l" t="t" r="r" b="b"/>
            <a:pathLst>
              <a:path w="14881" h="25851">
                <a:moveTo>
                  <a:pt x="0" y="0"/>
                </a:moveTo>
                <a:lnTo>
                  <a:pt x="14881" y="0"/>
                </a:lnTo>
                <a:lnTo>
                  <a:pt x="0" y="2585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6" name="Illustrative delivered road transport cost class 0; reference terminal Durban"/>
          <p:cNvSpPr/>
          <p:nvPr/>
        </p:nvSpPr>
        <p:spPr>
          <a:xfrm>
            <a:off x="4973339" y="4344501"/>
            <a:ext cx="52634" cy="57687"/>
          </a:xfrm>
          <a:custGeom>
            <a:avLst/>
            <a:gdLst/>
            <a:ahLst/>
            <a:cxnLst/>
            <a:rect l="l" t="t" r="r" b="b"/>
            <a:pathLst>
              <a:path w="52634" h="57687">
                <a:moveTo>
                  <a:pt x="0" y="57687"/>
                </a:moveTo>
                <a:lnTo>
                  <a:pt x="0" y="0"/>
                </a:lnTo>
                <a:lnTo>
                  <a:pt x="52634" y="0"/>
                </a:lnTo>
                <a:lnTo>
                  <a:pt x="37641" y="18144"/>
                </a:lnTo>
                <a:lnTo>
                  <a:pt x="1488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7" name="Illustrative delivered road transport cost class 0; reference terminal Durban"/>
          <p:cNvSpPr/>
          <p:nvPr/>
        </p:nvSpPr>
        <p:spPr>
          <a:xfrm>
            <a:off x="4973339" y="4286814"/>
            <a:ext cx="57687" cy="57687"/>
          </a:xfrm>
          <a:custGeom>
            <a:avLst/>
            <a:gdLst/>
            <a:ahLst/>
            <a:cxnLst/>
            <a:rect l="l" t="t" r="r" b="b"/>
            <a:pathLst>
              <a:path w="57687" h="57687">
                <a:moveTo>
                  <a:pt x="0" y="57687"/>
                </a:moveTo>
                <a:lnTo>
                  <a:pt x="0" y="0"/>
                </a:lnTo>
                <a:lnTo>
                  <a:pt x="57687" y="0"/>
                </a:lnTo>
                <a:lnTo>
                  <a:pt x="57687" y="51572"/>
                </a:lnTo>
                <a:lnTo>
                  <a:pt x="52634"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8" name="Illustrative delivered road transport cost class 0; reference terminal Durban"/>
          <p:cNvSpPr/>
          <p:nvPr/>
        </p:nvSpPr>
        <p:spPr>
          <a:xfrm>
            <a:off x="497333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9" name="Illustrative delivered road transport cost class 0; reference terminal Durban"/>
          <p:cNvSpPr/>
          <p:nvPr/>
        </p:nvSpPr>
        <p:spPr>
          <a:xfrm>
            <a:off x="497333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0" name="Illustrative delivered road transport cost class 0; reference terminal Durban"/>
          <p:cNvSpPr/>
          <p:nvPr/>
        </p:nvSpPr>
        <p:spPr>
          <a:xfrm>
            <a:off x="497333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1" name="Illustrative delivered road transport cost class 0; reference terminal Durban"/>
          <p:cNvSpPr/>
          <p:nvPr/>
        </p:nvSpPr>
        <p:spPr>
          <a:xfrm>
            <a:off x="497333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2" name="Illustrative delivered road transport cost class 0; reference terminal Durban"/>
          <p:cNvSpPr/>
          <p:nvPr/>
        </p:nvSpPr>
        <p:spPr>
          <a:xfrm>
            <a:off x="497333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3" name="Illustrative delivered road transport cost class None; reference terminal None"/>
          <p:cNvSpPr/>
          <p:nvPr/>
        </p:nvSpPr>
        <p:spPr>
          <a:xfrm>
            <a:off x="497333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4" name="Illustrative delivered road transport cost class None; reference terminal None"/>
          <p:cNvSpPr/>
          <p:nvPr/>
        </p:nvSpPr>
        <p:spPr>
          <a:xfrm>
            <a:off x="497333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5" name="Illustrative delivered road transport cost class None; reference terminal None"/>
          <p:cNvSpPr/>
          <p:nvPr/>
        </p:nvSpPr>
        <p:spPr>
          <a:xfrm>
            <a:off x="497333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6" name="Illustrative delivered road transport cost class 1; reference terminal Lesedi"/>
          <p:cNvSpPr/>
          <p:nvPr/>
        </p:nvSpPr>
        <p:spPr>
          <a:xfrm>
            <a:off x="497333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7" name="Illustrative delivered road transport cost class 1; reference terminal Lesedi"/>
          <p:cNvSpPr/>
          <p:nvPr/>
        </p:nvSpPr>
        <p:spPr>
          <a:xfrm>
            <a:off x="497333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8" name="Illustrative delivered road transport cost class 1; reference terminal Lesedi"/>
          <p:cNvSpPr/>
          <p:nvPr/>
        </p:nvSpPr>
        <p:spPr>
          <a:xfrm>
            <a:off x="497333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9" name="Illustrative delivered road transport cost class 1; reference terminal Lesedi"/>
          <p:cNvSpPr/>
          <p:nvPr/>
        </p:nvSpPr>
        <p:spPr>
          <a:xfrm>
            <a:off x="497333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0" name="Illustrative delivered road transport cost class 1; reference terminal Lesedi"/>
          <p:cNvSpPr/>
          <p:nvPr/>
        </p:nvSpPr>
        <p:spPr>
          <a:xfrm>
            <a:off x="497333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1" name="Illustrative delivered road transport cost class 1; reference terminal Lesedi"/>
          <p:cNvSpPr/>
          <p:nvPr/>
        </p:nvSpPr>
        <p:spPr>
          <a:xfrm>
            <a:off x="497333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2" name="Illustrative delivered road transport cost class 1; reference terminal Lesedi"/>
          <p:cNvSpPr/>
          <p:nvPr/>
        </p:nvSpPr>
        <p:spPr>
          <a:xfrm>
            <a:off x="497333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3" name="Illustrative delivered road transport cost class 1; reference terminal Lesedi"/>
          <p:cNvSpPr/>
          <p:nvPr/>
        </p:nvSpPr>
        <p:spPr>
          <a:xfrm>
            <a:off x="497333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4" name="Illustrative delivered road transport cost class 1; reference terminal Lesedi"/>
          <p:cNvSpPr/>
          <p:nvPr/>
        </p:nvSpPr>
        <p:spPr>
          <a:xfrm>
            <a:off x="497333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5" name="Illustrative delivered road transport cost class 1; reference terminal Lesedi"/>
          <p:cNvSpPr/>
          <p:nvPr/>
        </p:nvSpPr>
        <p:spPr>
          <a:xfrm>
            <a:off x="497333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6" name="Illustrative delivered road transport cost class 1; reference terminal Lesedi"/>
          <p:cNvSpPr/>
          <p:nvPr/>
        </p:nvSpPr>
        <p:spPr>
          <a:xfrm>
            <a:off x="497333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7" name="Illustrative delivered road transport cost class 1; reference terminal Lesedi"/>
          <p:cNvSpPr/>
          <p:nvPr/>
        </p:nvSpPr>
        <p:spPr>
          <a:xfrm>
            <a:off x="497333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8" name="Illustrative delivered road transport cost class 1; reference terminal Lesedi"/>
          <p:cNvSpPr/>
          <p:nvPr/>
        </p:nvSpPr>
        <p:spPr>
          <a:xfrm>
            <a:off x="497333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9" name="Illustrative delivered road transport cost class 1; reference terminal Lesedi"/>
          <p:cNvSpPr/>
          <p:nvPr/>
        </p:nvSpPr>
        <p:spPr>
          <a:xfrm>
            <a:off x="497333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0" name="Illustrative delivered road transport cost class 1; reference terminal Lesedi"/>
          <p:cNvSpPr/>
          <p:nvPr/>
        </p:nvSpPr>
        <p:spPr>
          <a:xfrm>
            <a:off x="497333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1" name="Illustrative delivered road transport cost class None; reference terminal None"/>
          <p:cNvSpPr/>
          <p:nvPr/>
        </p:nvSpPr>
        <p:spPr>
          <a:xfrm>
            <a:off x="497333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2" name="Illustrative delivered road transport cost class None; reference terminal None"/>
          <p:cNvSpPr/>
          <p:nvPr/>
        </p:nvSpPr>
        <p:spPr>
          <a:xfrm>
            <a:off x="497333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3" name="Illustrative delivered road transport cost class None; reference terminal None"/>
          <p:cNvSpPr/>
          <p:nvPr/>
        </p:nvSpPr>
        <p:spPr>
          <a:xfrm>
            <a:off x="497333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4" name="Illustrative delivered road transport cost class None; reference terminal None"/>
          <p:cNvSpPr/>
          <p:nvPr/>
        </p:nvSpPr>
        <p:spPr>
          <a:xfrm>
            <a:off x="497333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5" name="Illustrative delivered road transport cost class 1; reference terminal Lesedi"/>
          <p:cNvSpPr/>
          <p:nvPr/>
        </p:nvSpPr>
        <p:spPr>
          <a:xfrm>
            <a:off x="497333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6" name="Illustrative delivered road transport cost class 1; reference terminal Lesedi"/>
          <p:cNvSpPr/>
          <p:nvPr/>
        </p:nvSpPr>
        <p:spPr>
          <a:xfrm>
            <a:off x="497333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7" name="Illustrative delivered road transport cost class 1; reference terminal Lesedi"/>
          <p:cNvSpPr/>
          <p:nvPr/>
        </p:nvSpPr>
        <p:spPr>
          <a:xfrm>
            <a:off x="497333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8" name="Illustrative delivered road transport cost class 1; reference terminal Lesedi"/>
          <p:cNvSpPr/>
          <p:nvPr/>
        </p:nvSpPr>
        <p:spPr>
          <a:xfrm>
            <a:off x="497333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9" name="Illustrative delivered road transport cost class 2; reference terminal Lesedi"/>
          <p:cNvSpPr/>
          <p:nvPr/>
        </p:nvSpPr>
        <p:spPr>
          <a:xfrm>
            <a:off x="497333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0" name="Illustrative delivered road transport cost class 2; reference terminal Lesedi"/>
          <p:cNvSpPr/>
          <p:nvPr/>
        </p:nvSpPr>
        <p:spPr>
          <a:xfrm>
            <a:off x="497333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1" name="Illustrative delivered road transport cost class 2; reference terminal Lesedi"/>
          <p:cNvSpPr/>
          <p:nvPr/>
        </p:nvSpPr>
        <p:spPr>
          <a:xfrm>
            <a:off x="4973339" y="2374078"/>
            <a:ext cx="57687" cy="9080"/>
          </a:xfrm>
          <a:custGeom>
            <a:avLst/>
            <a:gdLst/>
            <a:ahLst/>
            <a:cxnLst/>
            <a:rect l="l" t="t" r="r" b="b"/>
            <a:pathLst>
              <a:path w="57687" h="9080">
                <a:moveTo>
                  <a:pt x="57687" y="9080"/>
                </a:moveTo>
                <a:lnTo>
                  <a:pt x="0" y="9080"/>
                </a:lnTo>
                <a:lnTo>
                  <a:pt x="0" y="0"/>
                </a:lnTo>
                <a:lnTo>
                  <a:pt x="30175" y="5866"/>
                </a:lnTo>
                <a:lnTo>
                  <a:pt x="57687" y="3449"/>
                </a:lnTo>
                <a:lnTo>
                  <a:pt x="57687" y="9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2" name="Illustrative delivered road transport cost class 0; reference terminal Durban"/>
          <p:cNvSpPr/>
          <p:nvPr/>
        </p:nvSpPr>
        <p:spPr>
          <a:xfrm>
            <a:off x="5031026" y="4286814"/>
            <a:ext cx="30662" cy="51572"/>
          </a:xfrm>
          <a:custGeom>
            <a:avLst/>
            <a:gdLst/>
            <a:ahLst/>
            <a:cxnLst/>
            <a:rect l="l" t="t" r="r" b="b"/>
            <a:pathLst>
              <a:path w="30662" h="51572">
                <a:moveTo>
                  <a:pt x="0" y="0"/>
                </a:moveTo>
                <a:lnTo>
                  <a:pt x="30662" y="0"/>
                </a:lnTo>
                <a:lnTo>
                  <a:pt x="14564" y="33945"/>
                </a:lnTo>
                <a:lnTo>
                  <a:pt x="0" y="51572"/>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3" name="Illustrative delivered road transport cost class 0; reference terminal Durban"/>
          <p:cNvSpPr/>
          <p:nvPr/>
        </p:nvSpPr>
        <p:spPr>
          <a:xfrm>
            <a:off x="5031026" y="4229128"/>
            <a:ext cx="57686" cy="57686"/>
          </a:xfrm>
          <a:custGeom>
            <a:avLst/>
            <a:gdLst/>
            <a:ahLst/>
            <a:cxnLst/>
            <a:rect l="l" t="t" r="r" b="b"/>
            <a:pathLst>
              <a:path w="57686" h="57686">
                <a:moveTo>
                  <a:pt x="0" y="57686"/>
                </a:moveTo>
                <a:lnTo>
                  <a:pt x="0" y="0"/>
                </a:lnTo>
                <a:lnTo>
                  <a:pt x="57686" y="0"/>
                </a:lnTo>
                <a:lnTo>
                  <a:pt x="57686" y="5704"/>
                </a:lnTo>
                <a:lnTo>
                  <a:pt x="51361" y="14039"/>
                </a:lnTo>
                <a:lnTo>
                  <a:pt x="30662"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4" name="Illustrative delivered road transport cost class 0; reference terminal Durban"/>
          <p:cNvSpPr/>
          <p:nvPr/>
        </p:nvSpPr>
        <p:spPr>
          <a:xfrm>
            <a:off x="503102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5" name="Illustrative delivered road transport cost class 0; reference terminal Durban"/>
          <p:cNvSpPr/>
          <p:nvPr/>
        </p:nvSpPr>
        <p:spPr>
          <a:xfrm>
            <a:off x="503102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6" name="Illustrative delivered road transport cost class 0; reference terminal Durban"/>
          <p:cNvSpPr/>
          <p:nvPr/>
        </p:nvSpPr>
        <p:spPr>
          <a:xfrm>
            <a:off x="503102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7" name="Illustrative delivered road transport cost class 0; reference terminal Durban"/>
          <p:cNvSpPr/>
          <p:nvPr/>
        </p:nvSpPr>
        <p:spPr>
          <a:xfrm>
            <a:off x="503102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8" name="Illustrative delivered road transport cost class 0; reference terminal Durban"/>
          <p:cNvSpPr/>
          <p:nvPr/>
        </p:nvSpPr>
        <p:spPr>
          <a:xfrm>
            <a:off x="503102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9" name="Illustrative delivered road transport cost class 0; reference terminal Durban"/>
          <p:cNvSpPr/>
          <p:nvPr/>
        </p:nvSpPr>
        <p:spPr>
          <a:xfrm>
            <a:off x="503102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0" name="Illustrative delivered road transport cost class 1; reference terminal Durban"/>
          <p:cNvSpPr/>
          <p:nvPr/>
        </p:nvSpPr>
        <p:spPr>
          <a:xfrm>
            <a:off x="503102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1" name="Illustrative delivered road transport cost class 1; reference terminal Lesedi"/>
          <p:cNvSpPr/>
          <p:nvPr/>
        </p:nvSpPr>
        <p:spPr>
          <a:xfrm>
            <a:off x="503102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2" name="Illustrative delivered road transport cost class 1; reference terminal Lesedi"/>
          <p:cNvSpPr/>
          <p:nvPr/>
        </p:nvSpPr>
        <p:spPr>
          <a:xfrm>
            <a:off x="503102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3" name="Illustrative delivered road transport cost class 1; reference terminal Lesedi"/>
          <p:cNvSpPr/>
          <p:nvPr/>
        </p:nvSpPr>
        <p:spPr>
          <a:xfrm>
            <a:off x="503102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4" name="Illustrative delivered road transport cost class 1; reference terminal Lesedi"/>
          <p:cNvSpPr/>
          <p:nvPr/>
        </p:nvSpPr>
        <p:spPr>
          <a:xfrm>
            <a:off x="5031026" y="3594576"/>
            <a:ext cx="57686" cy="57686"/>
          </a:xfrm>
          <a:custGeom>
            <a:avLst/>
            <a:gdLst/>
            <a:ahLst/>
            <a:cxnLst/>
            <a:rect l="l" t="t" r="r" b="b"/>
            <a:pathLst>
              <a:path w="57686" h="57686">
                <a:moveTo>
                  <a:pt x="57686" y="57686"/>
                </a:moveTo>
                <a:lnTo>
                  <a:pt x="0" y="57686"/>
                </a:lnTo>
                <a:lnTo>
                  <a:pt x="0" y="0"/>
                </a:lnTo>
                <a:lnTo>
                  <a:pt x="52632" y="0"/>
                </a:lnTo>
                <a:lnTo>
                  <a:pt x="57686" y="9962"/>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5" name="Illustrative delivered road transport cost class 1; reference terminal Lesedi"/>
          <p:cNvSpPr/>
          <p:nvPr/>
        </p:nvSpPr>
        <p:spPr>
          <a:xfrm>
            <a:off x="5031026" y="3536889"/>
            <a:ext cx="52632" cy="57687"/>
          </a:xfrm>
          <a:custGeom>
            <a:avLst/>
            <a:gdLst/>
            <a:ahLst/>
            <a:cxnLst/>
            <a:rect l="l" t="t" r="r" b="b"/>
            <a:pathLst>
              <a:path w="52632" h="57687">
                <a:moveTo>
                  <a:pt x="0" y="57687"/>
                </a:moveTo>
                <a:lnTo>
                  <a:pt x="0" y="0"/>
                </a:lnTo>
                <a:lnTo>
                  <a:pt x="26602" y="0"/>
                </a:lnTo>
                <a:lnTo>
                  <a:pt x="33371" y="19719"/>
                </a:lnTo>
                <a:lnTo>
                  <a:pt x="5263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6" name="Illustrative delivered road transport cost class 1; reference terminal Lesedi"/>
          <p:cNvSpPr/>
          <p:nvPr/>
        </p:nvSpPr>
        <p:spPr>
          <a:xfrm>
            <a:off x="5031026" y="3479202"/>
            <a:ext cx="26602" cy="57687"/>
          </a:xfrm>
          <a:custGeom>
            <a:avLst/>
            <a:gdLst/>
            <a:ahLst/>
            <a:cxnLst/>
            <a:rect l="l" t="t" r="r" b="b"/>
            <a:pathLst>
              <a:path w="26602" h="57687">
                <a:moveTo>
                  <a:pt x="0" y="57687"/>
                </a:moveTo>
                <a:lnTo>
                  <a:pt x="0" y="0"/>
                </a:lnTo>
                <a:lnTo>
                  <a:pt x="2497" y="0"/>
                </a:lnTo>
                <a:lnTo>
                  <a:pt x="2291" y="37066"/>
                </a:lnTo>
                <a:lnTo>
                  <a:pt x="4883" y="42569"/>
                </a:lnTo>
                <a:lnTo>
                  <a:pt x="22330" y="45241"/>
                </a:lnTo>
                <a:lnTo>
                  <a:pt x="2660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7" name="Illustrative delivered road transport cost class 1; reference terminal Lesedi"/>
          <p:cNvSpPr/>
          <p:nvPr/>
        </p:nvSpPr>
        <p:spPr>
          <a:xfrm>
            <a:off x="5031026" y="3421516"/>
            <a:ext cx="12263" cy="57686"/>
          </a:xfrm>
          <a:custGeom>
            <a:avLst/>
            <a:gdLst/>
            <a:ahLst/>
            <a:cxnLst/>
            <a:rect l="l" t="t" r="r" b="b"/>
            <a:pathLst>
              <a:path w="12263" h="57686">
                <a:moveTo>
                  <a:pt x="0" y="57686"/>
                </a:moveTo>
                <a:lnTo>
                  <a:pt x="0" y="0"/>
                </a:lnTo>
                <a:lnTo>
                  <a:pt x="12263" y="0"/>
                </a:lnTo>
                <a:lnTo>
                  <a:pt x="8495" y="5195"/>
                </a:lnTo>
                <a:lnTo>
                  <a:pt x="4726" y="15770"/>
                </a:lnTo>
                <a:lnTo>
                  <a:pt x="2505" y="56187"/>
                </a:lnTo>
                <a:lnTo>
                  <a:pt x="249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8" name="Illustrative delivered road transport cost class 1; reference terminal Lesedi"/>
          <p:cNvSpPr/>
          <p:nvPr/>
        </p:nvSpPr>
        <p:spPr>
          <a:xfrm>
            <a:off x="5031026" y="3363829"/>
            <a:ext cx="54119" cy="57687"/>
          </a:xfrm>
          <a:custGeom>
            <a:avLst/>
            <a:gdLst/>
            <a:ahLst/>
            <a:cxnLst/>
            <a:rect l="l" t="t" r="r" b="b"/>
            <a:pathLst>
              <a:path w="54119" h="57687">
                <a:moveTo>
                  <a:pt x="0" y="57687"/>
                </a:moveTo>
                <a:lnTo>
                  <a:pt x="0" y="0"/>
                </a:lnTo>
                <a:lnTo>
                  <a:pt x="54119" y="0"/>
                </a:lnTo>
                <a:lnTo>
                  <a:pt x="43438" y="14699"/>
                </a:lnTo>
                <a:lnTo>
                  <a:pt x="1226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9" name="Illustrative delivered road transport cost class 1; reference terminal Lesedi"/>
          <p:cNvSpPr/>
          <p:nvPr/>
        </p:nvSpPr>
        <p:spPr>
          <a:xfrm>
            <a:off x="5031026" y="3306143"/>
            <a:ext cx="57686" cy="57686"/>
          </a:xfrm>
          <a:custGeom>
            <a:avLst/>
            <a:gdLst/>
            <a:ahLst/>
            <a:cxnLst/>
            <a:rect l="l" t="t" r="r" b="b"/>
            <a:pathLst>
              <a:path w="57686" h="57686">
                <a:moveTo>
                  <a:pt x="0" y="57686"/>
                </a:moveTo>
                <a:lnTo>
                  <a:pt x="0" y="0"/>
                </a:lnTo>
                <a:lnTo>
                  <a:pt x="57686" y="0"/>
                </a:lnTo>
                <a:lnTo>
                  <a:pt x="57686" y="52778"/>
                </a:lnTo>
                <a:lnTo>
                  <a:pt x="5411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0" name="Illustrative delivered road transport cost class 1; reference terminal Lesedi"/>
          <p:cNvSpPr/>
          <p:nvPr/>
        </p:nvSpPr>
        <p:spPr>
          <a:xfrm>
            <a:off x="5031026"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1" name="Illustrative delivered road transport cost class 1; reference terminal Lesedi"/>
          <p:cNvSpPr/>
          <p:nvPr/>
        </p:nvSpPr>
        <p:spPr>
          <a:xfrm>
            <a:off x="5031026"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2" name="Illustrative delivered road transport cost class 1; reference terminal Lesedi"/>
          <p:cNvSpPr/>
          <p:nvPr/>
        </p:nvSpPr>
        <p:spPr>
          <a:xfrm>
            <a:off x="5031026"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3" name="Illustrative delivered road transport cost class 1; reference terminal Lesedi"/>
          <p:cNvSpPr/>
          <p:nvPr/>
        </p:nvSpPr>
        <p:spPr>
          <a:xfrm>
            <a:off x="5031026"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4" name="Illustrative delivered road transport cost class 1; reference terminal Lesedi"/>
          <p:cNvSpPr/>
          <p:nvPr/>
        </p:nvSpPr>
        <p:spPr>
          <a:xfrm>
            <a:off x="5031026"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5" name="Illustrative delivered road transport cost class 1; reference terminal Lesedi"/>
          <p:cNvSpPr/>
          <p:nvPr/>
        </p:nvSpPr>
        <p:spPr>
          <a:xfrm>
            <a:off x="5031026"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6" name="Illustrative delivered road transport cost class None; reference terminal None"/>
          <p:cNvSpPr/>
          <p:nvPr/>
        </p:nvSpPr>
        <p:spPr>
          <a:xfrm>
            <a:off x="5031026"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7" name="Illustrative delivered road transport cost class None; reference terminal None"/>
          <p:cNvSpPr/>
          <p:nvPr/>
        </p:nvSpPr>
        <p:spPr>
          <a:xfrm>
            <a:off x="5031026"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8" name="Illustrative delivered road transport cost class None; reference terminal None"/>
          <p:cNvSpPr/>
          <p:nvPr/>
        </p:nvSpPr>
        <p:spPr>
          <a:xfrm>
            <a:off x="5031026"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9" name="Illustrative delivered road transport cost class None; reference terminal None"/>
          <p:cNvSpPr/>
          <p:nvPr/>
        </p:nvSpPr>
        <p:spPr>
          <a:xfrm>
            <a:off x="5031026"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0" name="Illustrative delivered road transport cost class None; reference terminal None"/>
          <p:cNvSpPr/>
          <p:nvPr/>
        </p:nvSpPr>
        <p:spPr>
          <a:xfrm>
            <a:off x="5031026"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1" name="Illustrative delivered road transport cost class None; reference terminal None"/>
          <p:cNvSpPr/>
          <p:nvPr/>
        </p:nvSpPr>
        <p:spPr>
          <a:xfrm>
            <a:off x="5031026"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2" name="Illustrative delivered road transport cost class None; reference terminal None"/>
          <p:cNvSpPr/>
          <p:nvPr/>
        </p:nvSpPr>
        <p:spPr>
          <a:xfrm>
            <a:off x="5031026"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3" name="Illustrative delivered road transport cost class 2; reference terminal Lesedi"/>
          <p:cNvSpPr/>
          <p:nvPr/>
        </p:nvSpPr>
        <p:spPr>
          <a:xfrm>
            <a:off x="5031026"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4" name="Illustrative delivered road transport cost class 2; reference terminal Lesedi"/>
          <p:cNvSpPr/>
          <p:nvPr/>
        </p:nvSpPr>
        <p:spPr>
          <a:xfrm>
            <a:off x="5031026"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5" name="Illustrative delivered road transport cost class 2; reference terminal Lesedi"/>
          <p:cNvSpPr/>
          <p:nvPr/>
        </p:nvSpPr>
        <p:spPr>
          <a:xfrm>
            <a:off x="5031026"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6" name="Illustrative delivered road transport cost class 2; reference terminal Lesedi"/>
          <p:cNvSpPr/>
          <p:nvPr/>
        </p:nvSpPr>
        <p:spPr>
          <a:xfrm>
            <a:off x="5031026" y="2374664"/>
            <a:ext cx="57686" cy="8494"/>
          </a:xfrm>
          <a:custGeom>
            <a:avLst/>
            <a:gdLst/>
            <a:ahLst/>
            <a:cxnLst/>
            <a:rect l="l" t="t" r="r" b="b"/>
            <a:pathLst>
              <a:path w="57686" h="8494">
                <a:moveTo>
                  <a:pt x="57686" y="8494"/>
                </a:moveTo>
                <a:lnTo>
                  <a:pt x="0" y="8494"/>
                </a:lnTo>
                <a:lnTo>
                  <a:pt x="0" y="2863"/>
                </a:lnTo>
                <a:lnTo>
                  <a:pt x="32573" y="0"/>
                </a:lnTo>
                <a:lnTo>
                  <a:pt x="57686" y="227"/>
                </a:lnTo>
                <a:lnTo>
                  <a:pt x="57686" y="8494"/>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7" name="Illustrative delivered road transport cost class 0; reference terminal Durban"/>
          <p:cNvSpPr/>
          <p:nvPr/>
        </p:nvSpPr>
        <p:spPr>
          <a:xfrm>
            <a:off x="5088712" y="4229128"/>
            <a:ext cx="4329" cy="5704"/>
          </a:xfrm>
          <a:custGeom>
            <a:avLst/>
            <a:gdLst/>
            <a:ahLst/>
            <a:cxnLst/>
            <a:rect l="l" t="t" r="r" b="b"/>
            <a:pathLst>
              <a:path w="4329" h="5704">
                <a:moveTo>
                  <a:pt x="0" y="0"/>
                </a:moveTo>
                <a:lnTo>
                  <a:pt x="4329" y="0"/>
                </a:lnTo>
                <a:lnTo>
                  <a:pt x="0" y="570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8" name="Illustrative delivered road transport cost class 0; reference terminal Durban"/>
          <p:cNvSpPr/>
          <p:nvPr/>
        </p:nvSpPr>
        <p:spPr>
          <a:xfrm>
            <a:off x="5088712" y="4171441"/>
            <a:ext cx="52435" cy="57687"/>
          </a:xfrm>
          <a:custGeom>
            <a:avLst/>
            <a:gdLst/>
            <a:ahLst/>
            <a:cxnLst/>
            <a:rect l="l" t="t" r="r" b="b"/>
            <a:pathLst>
              <a:path w="52435" h="57687">
                <a:moveTo>
                  <a:pt x="0" y="57687"/>
                </a:moveTo>
                <a:lnTo>
                  <a:pt x="0" y="0"/>
                </a:lnTo>
                <a:lnTo>
                  <a:pt x="52435" y="0"/>
                </a:lnTo>
                <a:lnTo>
                  <a:pt x="33464" y="19296"/>
                </a:lnTo>
                <a:lnTo>
                  <a:pt x="4329"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9" name="Illustrative delivered road transport cost class 0; reference terminal Durban"/>
          <p:cNvSpPr/>
          <p:nvPr/>
        </p:nvSpPr>
        <p:spPr>
          <a:xfrm>
            <a:off x="5088712" y="4113755"/>
            <a:ext cx="57687" cy="57686"/>
          </a:xfrm>
          <a:custGeom>
            <a:avLst/>
            <a:gdLst/>
            <a:ahLst/>
            <a:cxnLst/>
            <a:rect l="l" t="t" r="r" b="b"/>
            <a:pathLst>
              <a:path w="57687" h="57686">
                <a:moveTo>
                  <a:pt x="0" y="57686"/>
                </a:moveTo>
                <a:lnTo>
                  <a:pt x="0" y="0"/>
                </a:lnTo>
                <a:lnTo>
                  <a:pt x="57687" y="0"/>
                </a:lnTo>
                <a:lnTo>
                  <a:pt x="57687" y="52345"/>
                </a:lnTo>
                <a:lnTo>
                  <a:pt x="52435"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0" name="Illustrative delivered road transport cost class 0; reference terminal Durban"/>
          <p:cNvSpPr/>
          <p:nvPr/>
        </p:nvSpPr>
        <p:spPr>
          <a:xfrm>
            <a:off x="508871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1" name="Illustrative delivered road transport cost class 0; reference terminal Durban"/>
          <p:cNvSpPr/>
          <p:nvPr/>
        </p:nvSpPr>
        <p:spPr>
          <a:xfrm>
            <a:off x="508871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2" name="Illustrative delivered road transport cost class 0; reference terminal Durban"/>
          <p:cNvSpPr/>
          <p:nvPr/>
        </p:nvSpPr>
        <p:spPr>
          <a:xfrm>
            <a:off x="508871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3" name="Illustrative delivered road transport cost class 0; reference terminal Durban"/>
          <p:cNvSpPr/>
          <p:nvPr/>
        </p:nvSpPr>
        <p:spPr>
          <a:xfrm>
            <a:off x="508871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4" name="Illustrative delivered road transport cost class 0; reference terminal Durban"/>
          <p:cNvSpPr/>
          <p:nvPr/>
        </p:nvSpPr>
        <p:spPr>
          <a:xfrm>
            <a:off x="508871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5" name="Illustrative delivered road transport cost class 1; reference terminal Durban"/>
          <p:cNvSpPr/>
          <p:nvPr/>
        </p:nvSpPr>
        <p:spPr>
          <a:xfrm>
            <a:off x="508871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6" name="Illustrative delivered road transport cost class 1; reference terminal Durban"/>
          <p:cNvSpPr/>
          <p:nvPr/>
        </p:nvSpPr>
        <p:spPr>
          <a:xfrm>
            <a:off x="508871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7" name="Illustrative delivered road transport cost class 1; reference terminal Durban"/>
          <p:cNvSpPr/>
          <p:nvPr/>
        </p:nvSpPr>
        <p:spPr>
          <a:xfrm>
            <a:off x="508871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8" name="Illustrative delivered road transport cost class 1; reference terminal Lesedi"/>
          <p:cNvSpPr/>
          <p:nvPr/>
        </p:nvSpPr>
        <p:spPr>
          <a:xfrm>
            <a:off x="5088712" y="3604538"/>
            <a:ext cx="57687" cy="47724"/>
          </a:xfrm>
          <a:custGeom>
            <a:avLst/>
            <a:gdLst/>
            <a:ahLst/>
            <a:cxnLst/>
            <a:rect l="l" t="t" r="r" b="b"/>
            <a:pathLst>
              <a:path w="57687" h="47724">
                <a:moveTo>
                  <a:pt x="57687" y="47724"/>
                </a:moveTo>
                <a:lnTo>
                  <a:pt x="0" y="47724"/>
                </a:lnTo>
                <a:lnTo>
                  <a:pt x="0" y="0"/>
                </a:lnTo>
                <a:lnTo>
                  <a:pt x="1888" y="3721"/>
                </a:lnTo>
                <a:lnTo>
                  <a:pt x="48337" y="38415"/>
                </a:lnTo>
                <a:lnTo>
                  <a:pt x="57687" y="42036"/>
                </a:lnTo>
                <a:lnTo>
                  <a:pt x="57687" y="4772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9" name="Illustrative delivered road transport cost class 1; reference terminal Lesedi"/>
          <p:cNvSpPr/>
          <p:nvPr/>
        </p:nvSpPr>
        <p:spPr>
          <a:xfrm>
            <a:off x="5088712" y="3306143"/>
            <a:ext cx="32964" cy="52778"/>
          </a:xfrm>
          <a:custGeom>
            <a:avLst/>
            <a:gdLst/>
            <a:ahLst/>
            <a:cxnLst/>
            <a:rect l="l" t="t" r="r" b="b"/>
            <a:pathLst>
              <a:path w="32964" h="52778">
                <a:moveTo>
                  <a:pt x="0" y="0"/>
                </a:moveTo>
                <a:lnTo>
                  <a:pt x="32964" y="0"/>
                </a:lnTo>
                <a:lnTo>
                  <a:pt x="21545" y="13175"/>
                </a:lnTo>
                <a:lnTo>
                  <a:pt x="7493" y="42466"/>
                </a:lnTo>
                <a:lnTo>
                  <a:pt x="0" y="5277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0" name="Illustrative delivered road transport cost class 1; reference terminal Lesedi"/>
          <p:cNvSpPr/>
          <p:nvPr/>
        </p:nvSpPr>
        <p:spPr>
          <a:xfrm>
            <a:off x="5088712" y="3248456"/>
            <a:ext cx="57687" cy="57687"/>
          </a:xfrm>
          <a:custGeom>
            <a:avLst/>
            <a:gdLst/>
            <a:ahLst/>
            <a:cxnLst/>
            <a:rect l="l" t="t" r="r" b="b"/>
            <a:pathLst>
              <a:path w="57687" h="57687">
                <a:moveTo>
                  <a:pt x="0" y="57687"/>
                </a:moveTo>
                <a:lnTo>
                  <a:pt x="0" y="0"/>
                </a:lnTo>
                <a:lnTo>
                  <a:pt x="57687" y="0"/>
                </a:lnTo>
                <a:lnTo>
                  <a:pt x="57687" y="32428"/>
                </a:lnTo>
                <a:lnTo>
                  <a:pt x="50745" y="37169"/>
                </a:lnTo>
                <a:lnTo>
                  <a:pt x="32964"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1" name="Illustrative delivered road transport cost class 1; reference terminal Lesedi"/>
          <p:cNvSpPr/>
          <p:nvPr/>
        </p:nvSpPr>
        <p:spPr>
          <a:xfrm>
            <a:off x="508871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2" name="Illustrative delivered road transport cost class 1; reference terminal Lesedi"/>
          <p:cNvSpPr/>
          <p:nvPr/>
        </p:nvSpPr>
        <p:spPr>
          <a:xfrm>
            <a:off x="508871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3" name="Illustrative delivered road transport cost class 1; reference terminal Lesedi"/>
          <p:cNvSpPr/>
          <p:nvPr/>
        </p:nvSpPr>
        <p:spPr>
          <a:xfrm>
            <a:off x="508871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4" name="Illustrative delivered road transport cost class 1; reference terminal Lesedi"/>
          <p:cNvSpPr/>
          <p:nvPr/>
        </p:nvSpPr>
        <p:spPr>
          <a:xfrm>
            <a:off x="508871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5" name="Illustrative delivered road transport cost class 1; reference terminal Lesedi"/>
          <p:cNvSpPr/>
          <p:nvPr/>
        </p:nvSpPr>
        <p:spPr>
          <a:xfrm>
            <a:off x="508871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6" name="Illustrative delivered road transport cost class None; reference terminal None"/>
          <p:cNvSpPr/>
          <p:nvPr/>
        </p:nvSpPr>
        <p:spPr>
          <a:xfrm>
            <a:off x="508871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7" name="Illustrative delivered road transport cost class None; reference terminal None"/>
          <p:cNvSpPr/>
          <p:nvPr/>
        </p:nvSpPr>
        <p:spPr>
          <a:xfrm>
            <a:off x="5088712"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8" name="Illustrative delivered road transport cost class None; reference terminal None"/>
          <p:cNvSpPr/>
          <p:nvPr/>
        </p:nvSpPr>
        <p:spPr>
          <a:xfrm>
            <a:off x="5088712"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9" name="Illustrative delivered road transport cost class None; reference terminal None"/>
          <p:cNvSpPr/>
          <p:nvPr/>
        </p:nvSpPr>
        <p:spPr>
          <a:xfrm>
            <a:off x="5088712"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0" name="Illustrative delivered road transport cost class None; reference terminal None"/>
          <p:cNvSpPr/>
          <p:nvPr/>
        </p:nvSpPr>
        <p:spPr>
          <a:xfrm>
            <a:off x="5088712"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1" name="Illustrative delivered road transport cost class None; reference terminal None"/>
          <p:cNvSpPr/>
          <p:nvPr/>
        </p:nvSpPr>
        <p:spPr>
          <a:xfrm>
            <a:off x="5088712"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2" name="Illustrative delivered road transport cost class None; reference terminal None"/>
          <p:cNvSpPr/>
          <p:nvPr/>
        </p:nvSpPr>
        <p:spPr>
          <a:xfrm>
            <a:off x="5088712"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3" name="Illustrative delivered road transport cost class None; reference terminal None"/>
          <p:cNvSpPr/>
          <p:nvPr/>
        </p:nvSpPr>
        <p:spPr>
          <a:xfrm>
            <a:off x="5088712"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4" name="Illustrative delivered road transport cost class None; reference terminal None"/>
          <p:cNvSpPr/>
          <p:nvPr/>
        </p:nvSpPr>
        <p:spPr>
          <a:xfrm>
            <a:off x="5088712"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5" name="Illustrative delivered road transport cost class None; reference terminal None"/>
          <p:cNvSpPr/>
          <p:nvPr/>
        </p:nvSpPr>
        <p:spPr>
          <a:xfrm>
            <a:off x="5088712"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6" name="Illustrative delivered road transport cost class 2; reference terminal Lesedi"/>
          <p:cNvSpPr/>
          <p:nvPr/>
        </p:nvSpPr>
        <p:spPr>
          <a:xfrm>
            <a:off x="5088712" y="2374891"/>
            <a:ext cx="57687" cy="8267"/>
          </a:xfrm>
          <a:custGeom>
            <a:avLst/>
            <a:gdLst/>
            <a:ahLst/>
            <a:cxnLst/>
            <a:rect l="l" t="t" r="r" b="b"/>
            <a:pathLst>
              <a:path w="57687" h="8267">
                <a:moveTo>
                  <a:pt x="57687" y="8267"/>
                </a:moveTo>
                <a:lnTo>
                  <a:pt x="0" y="8267"/>
                </a:lnTo>
                <a:lnTo>
                  <a:pt x="0" y="0"/>
                </a:lnTo>
                <a:lnTo>
                  <a:pt x="23566" y="212"/>
                </a:lnTo>
                <a:lnTo>
                  <a:pt x="57687" y="5855"/>
                </a:lnTo>
                <a:lnTo>
                  <a:pt x="57687" y="826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7" name="Illustrative delivered road transport cost class 0; reference terminal Durban"/>
          <p:cNvSpPr/>
          <p:nvPr/>
        </p:nvSpPr>
        <p:spPr>
          <a:xfrm>
            <a:off x="5146399" y="4113755"/>
            <a:ext cx="51467" cy="52345"/>
          </a:xfrm>
          <a:custGeom>
            <a:avLst/>
            <a:gdLst/>
            <a:ahLst/>
            <a:cxnLst/>
            <a:rect l="l" t="t" r="r" b="b"/>
            <a:pathLst>
              <a:path w="51467" h="52345">
                <a:moveTo>
                  <a:pt x="0" y="0"/>
                </a:moveTo>
                <a:lnTo>
                  <a:pt x="51467" y="0"/>
                </a:lnTo>
                <a:lnTo>
                  <a:pt x="0" y="5234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8" name="Illustrative delivered road transport cost class 0; reference terminal Durban"/>
          <p:cNvSpPr/>
          <p:nvPr/>
        </p:nvSpPr>
        <p:spPr>
          <a:xfrm>
            <a:off x="5146399" y="4056068"/>
            <a:ext cx="57686" cy="57687"/>
          </a:xfrm>
          <a:custGeom>
            <a:avLst/>
            <a:gdLst/>
            <a:ahLst/>
            <a:cxnLst/>
            <a:rect l="l" t="t" r="r" b="b"/>
            <a:pathLst>
              <a:path w="57686" h="57687">
                <a:moveTo>
                  <a:pt x="0" y="57687"/>
                </a:moveTo>
                <a:lnTo>
                  <a:pt x="0" y="0"/>
                </a:lnTo>
                <a:lnTo>
                  <a:pt x="57686" y="0"/>
                </a:lnTo>
                <a:lnTo>
                  <a:pt x="57686" y="51361"/>
                </a:lnTo>
                <a:lnTo>
                  <a:pt x="514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9" name="Illustrative delivered road transport cost class 0; reference terminal Durban"/>
          <p:cNvSpPr/>
          <p:nvPr/>
        </p:nvSpPr>
        <p:spPr>
          <a:xfrm>
            <a:off x="514639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0" name="Illustrative delivered road transport cost class 0; reference terminal Durban"/>
          <p:cNvSpPr/>
          <p:nvPr/>
        </p:nvSpPr>
        <p:spPr>
          <a:xfrm>
            <a:off x="514639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1" name="Illustrative delivered road transport cost class 0; reference terminal Durban"/>
          <p:cNvSpPr/>
          <p:nvPr/>
        </p:nvSpPr>
        <p:spPr>
          <a:xfrm>
            <a:off x="514639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2" name="Illustrative delivered road transport cost class 0; reference terminal Durban"/>
          <p:cNvSpPr/>
          <p:nvPr/>
        </p:nvSpPr>
        <p:spPr>
          <a:xfrm>
            <a:off x="514639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3" name="Illustrative delivered road transport cost class 1; reference terminal Durban"/>
          <p:cNvSpPr/>
          <p:nvPr/>
        </p:nvSpPr>
        <p:spPr>
          <a:xfrm>
            <a:off x="514639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4" name="Illustrative delivered road transport cost class 1; reference terminal Durban"/>
          <p:cNvSpPr/>
          <p:nvPr/>
        </p:nvSpPr>
        <p:spPr>
          <a:xfrm>
            <a:off x="514639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5" name="Illustrative delivered road transport cost class 1; reference terminal Durban"/>
          <p:cNvSpPr/>
          <p:nvPr/>
        </p:nvSpPr>
        <p:spPr>
          <a:xfrm>
            <a:off x="5146399" y="3652262"/>
            <a:ext cx="57686" cy="57687"/>
          </a:xfrm>
          <a:custGeom>
            <a:avLst/>
            <a:gdLst/>
            <a:ahLst/>
            <a:cxnLst/>
            <a:rect l="l" t="t" r="r" b="b"/>
            <a:pathLst>
              <a:path w="57686" h="57687">
                <a:moveTo>
                  <a:pt x="57686" y="57687"/>
                </a:moveTo>
                <a:lnTo>
                  <a:pt x="0" y="57687"/>
                </a:lnTo>
                <a:lnTo>
                  <a:pt x="0" y="0"/>
                </a:lnTo>
                <a:lnTo>
                  <a:pt x="14684" y="0"/>
                </a:lnTo>
                <a:lnTo>
                  <a:pt x="34456" y="7658"/>
                </a:lnTo>
                <a:lnTo>
                  <a:pt x="57686" y="10325"/>
                </a:lnTo>
                <a:lnTo>
                  <a:pt x="57686"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6" name="Illustrative delivered road transport cost class 1; reference terminal Durban"/>
          <p:cNvSpPr/>
          <p:nvPr/>
        </p:nvSpPr>
        <p:spPr>
          <a:xfrm>
            <a:off x="5146399" y="3646574"/>
            <a:ext cx="14684" cy="5688"/>
          </a:xfrm>
          <a:custGeom>
            <a:avLst/>
            <a:gdLst/>
            <a:ahLst/>
            <a:cxnLst/>
            <a:rect l="l" t="t" r="r" b="b"/>
            <a:pathLst>
              <a:path w="14684" h="5688">
                <a:moveTo>
                  <a:pt x="0" y="5688"/>
                </a:moveTo>
                <a:lnTo>
                  <a:pt x="0" y="0"/>
                </a:lnTo>
                <a:lnTo>
                  <a:pt x="14684" y="5688"/>
                </a:lnTo>
                <a:lnTo>
                  <a:pt x="0" y="5688"/>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7" name="Illustrative delivered road transport cost class 1; reference terminal Lesedi"/>
          <p:cNvSpPr/>
          <p:nvPr/>
        </p:nvSpPr>
        <p:spPr>
          <a:xfrm>
            <a:off x="5146399" y="3248456"/>
            <a:ext cx="57686" cy="32428"/>
          </a:xfrm>
          <a:custGeom>
            <a:avLst/>
            <a:gdLst/>
            <a:ahLst/>
            <a:cxnLst/>
            <a:rect l="l" t="t" r="r" b="b"/>
            <a:pathLst>
              <a:path w="57686" h="32428">
                <a:moveTo>
                  <a:pt x="0" y="0"/>
                </a:moveTo>
                <a:lnTo>
                  <a:pt x="57686" y="0"/>
                </a:lnTo>
                <a:lnTo>
                  <a:pt x="57686" y="25216"/>
                </a:lnTo>
                <a:lnTo>
                  <a:pt x="42266" y="14932"/>
                </a:lnTo>
                <a:lnTo>
                  <a:pt x="34799" y="13613"/>
                </a:lnTo>
                <a:lnTo>
                  <a:pt x="23676" y="16259"/>
                </a:lnTo>
                <a:lnTo>
                  <a:pt x="0" y="324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8" name="Illustrative delivered road transport cost class 1; reference terminal Lesedi"/>
          <p:cNvSpPr/>
          <p:nvPr/>
        </p:nvSpPr>
        <p:spPr>
          <a:xfrm>
            <a:off x="514639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9" name="Illustrative delivered road transport cost class 1; reference terminal Lesedi"/>
          <p:cNvSpPr/>
          <p:nvPr/>
        </p:nvSpPr>
        <p:spPr>
          <a:xfrm>
            <a:off x="514639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0" name="Illustrative delivered road transport cost class 1; reference terminal Lesedi"/>
          <p:cNvSpPr/>
          <p:nvPr/>
        </p:nvSpPr>
        <p:spPr>
          <a:xfrm>
            <a:off x="5146399"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1" name="Illustrative delivered road transport cost class 1; reference terminal Lesedi"/>
          <p:cNvSpPr/>
          <p:nvPr/>
        </p:nvSpPr>
        <p:spPr>
          <a:xfrm>
            <a:off x="5146399"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2" name="Illustrative delivered road transport cost class 1; reference terminal Lesedi"/>
          <p:cNvSpPr/>
          <p:nvPr/>
        </p:nvSpPr>
        <p:spPr>
          <a:xfrm>
            <a:off x="5146399"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3" name="Illustrative delivered road transport cost class None; reference terminal None"/>
          <p:cNvSpPr/>
          <p:nvPr/>
        </p:nvSpPr>
        <p:spPr>
          <a:xfrm>
            <a:off x="5146399"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4" name="Illustrative delivered road transport cost class None; reference terminal None"/>
          <p:cNvSpPr/>
          <p:nvPr/>
        </p:nvSpPr>
        <p:spPr>
          <a:xfrm>
            <a:off x="5146399"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5" name="Illustrative delivered road transport cost class None; reference terminal None"/>
          <p:cNvSpPr/>
          <p:nvPr/>
        </p:nvSpPr>
        <p:spPr>
          <a:xfrm>
            <a:off x="5146399"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6" name="Illustrative delivered road transport cost class None; reference terminal None"/>
          <p:cNvSpPr/>
          <p:nvPr/>
        </p:nvSpPr>
        <p:spPr>
          <a:xfrm>
            <a:off x="5146399"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7" name="Illustrative delivered road transport cost class None; reference terminal None"/>
          <p:cNvSpPr/>
          <p:nvPr/>
        </p:nvSpPr>
        <p:spPr>
          <a:xfrm>
            <a:off x="5146399"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8" name="Illustrative delivered road transport cost class None; reference terminal None"/>
          <p:cNvSpPr/>
          <p:nvPr/>
        </p:nvSpPr>
        <p:spPr>
          <a:xfrm>
            <a:off x="5146399"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9" name="Illustrative delivered road transport cost class None; reference terminal None"/>
          <p:cNvSpPr/>
          <p:nvPr/>
        </p:nvSpPr>
        <p:spPr>
          <a:xfrm>
            <a:off x="5146399"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0" name="Illustrative delivered road transport cost class None; reference terminal None"/>
          <p:cNvSpPr/>
          <p:nvPr/>
        </p:nvSpPr>
        <p:spPr>
          <a:xfrm>
            <a:off x="5146399"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1" name="Illustrative delivered road transport cost class None; reference terminal None"/>
          <p:cNvSpPr/>
          <p:nvPr/>
        </p:nvSpPr>
        <p:spPr>
          <a:xfrm>
            <a:off x="5146399"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2" name="Illustrative delivered road transport cost class None; reference terminal None"/>
          <p:cNvSpPr/>
          <p:nvPr/>
        </p:nvSpPr>
        <p:spPr>
          <a:xfrm>
            <a:off x="5146399" y="2383158"/>
            <a:ext cx="57686" cy="57686"/>
          </a:xfrm>
          <a:custGeom>
            <a:avLst/>
            <a:gdLst/>
            <a:ahLst/>
            <a:cxnLst/>
            <a:rect l="l" t="t" r="r" b="b"/>
            <a:pathLst>
              <a:path w="57686" h="57686">
                <a:moveTo>
                  <a:pt x="57686" y="57686"/>
                </a:moveTo>
                <a:lnTo>
                  <a:pt x="0" y="57686"/>
                </a:lnTo>
                <a:lnTo>
                  <a:pt x="0" y="0"/>
                </a:lnTo>
                <a:lnTo>
                  <a:pt x="8138" y="0"/>
                </a:lnTo>
                <a:lnTo>
                  <a:pt x="32085" y="9008"/>
                </a:lnTo>
                <a:lnTo>
                  <a:pt x="52957" y="24659"/>
                </a:lnTo>
                <a:lnTo>
                  <a:pt x="53606" y="38152"/>
                </a:lnTo>
                <a:lnTo>
                  <a:pt x="55000" y="44341"/>
                </a:lnTo>
                <a:lnTo>
                  <a:pt x="57686" y="5427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3" name="Illustrative delivered road transport cost class None; reference terminal None"/>
          <p:cNvSpPr/>
          <p:nvPr/>
        </p:nvSpPr>
        <p:spPr>
          <a:xfrm>
            <a:off x="5146399" y="2380746"/>
            <a:ext cx="8138" cy="2412"/>
          </a:xfrm>
          <a:custGeom>
            <a:avLst/>
            <a:gdLst/>
            <a:ahLst/>
            <a:cxnLst/>
            <a:rect l="l" t="t" r="r" b="b"/>
            <a:pathLst>
              <a:path w="8138" h="2412">
                <a:moveTo>
                  <a:pt x="0" y="2412"/>
                </a:moveTo>
                <a:lnTo>
                  <a:pt x="0" y="0"/>
                </a:lnTo>
                <a:lnTo>
                  <a:pt x="3080" y="509"/>
                </a:lnTo>
                <a:lnTo>
                  <a:pt x="8138" y="2412"/>
                </a:lnTo>
                <a:lnTo>
                  <a:pt x="0" y="24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4" name="Illustrative delivered road transport cost class 0; reference terminal Durban"/>
          <p:cNvSpPr/>
          <p:nvPr/>
        </p:nvSpPr>
        <p:spPr>
          <a:xfrm>
            <a:off x="5204085" y="4056068"/>
            <a:ext cx="57687" cy="51361"/>
          </a:xfrm>
          <a:custGeom>
            <a:avLst/>
            <a:gdLst/>
            <a:ahLst/>
            <a:cxnLst/>
            <a:rect l="l" t="t" r="r" b="b"/>
            <a:pathLst>
              <a:path w="57687" h="51361">
                <a:moveTo>
                  <a:pt x="0" y="0"/>
                </a:moveTo>
                <a:lnTo>
                  <a:pt x="57687" y="0"/>
                </a:lnTo>
                <a:lnTo>
                  <a:pt x="57687" y="18855"/>
                </a:lnTo>
                <a:lnTo>
                  <a:pt x="49331" y="22482"/>
                </a:lnTo>
                <a:lnTo>
                  <a:pt x="23552" y="27408"/>
                </a:lnTo>
                <a:lnTo>
                  <a:pt x="0" y="5136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5" name="Illustrative delivered road transport cost class 0; reference terminal Durban"/>
          <p:cNvSpPr/>
          <p:nvPr/>
        </p:nvSpPr>
        <p:spPr>
          <a:xfrm>
            <a:off x="520408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6" name="Illustrative delivered road transport cost class 0; reference terminal Durban"/>
          <p:cNvSpPr/>
          <p:nvPr/>
        </p:nvSpPr>
        <p:spPr>
          <a:xfrm>
            <a:off x="520408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7" name="Illustrative delivered road transport cost class 0; reference terminal Durban"/>
          <p:cNvSpPr/>
          <p:nvPr/>
        </p:nvSpPr>
        <p:spPr>
          <a:xfrm>
            <a:off x="520408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8" name="Illustrative delivered road transport cost class 0; reference terminal Durban"/>
          <p:cNvSpPr/>
          <p:nvPr/>
        </p:nvSpPr>
        <p:spPr>
          <a:xfrm>
            <a:off x="520408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9" name="Illustrative delivered road transport cost class 0; reference terminal Durban"/>
          <p:cNvSpPr/>
          <p:nvPr/>
        </p:nvSpPr>
        <p:spPr>
          <a:xfrm>
            <a:off x="520408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0" name="Illustrative delivered road transport cost class 1; reference terminal Durban"/>
          <p:cNvSpPr/>
          <p:nvPr/>
        </p:nvSpPr>
        <p:spPr>
          <a:xfrm>
            <a:off x="520408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1" name="Illustrative delivered road transport cost class 1; reference terminal Durban"/>
          <p:cNvSpPr/>
          <p:nvPr/>
        </p:nvSpPr>
        <p:spPr>
          <a:xfrm>
            <a:off x="5204085" y="3662587"/>
            <a:ext cx="57687" cy="47362"/>
          </a:xfrm>
          <a:custGeom>
            <a:avLst/>
            <a:gdLst/>
            <a:ahLst/>
            <a:cxnLst/>
            <a:rect l="l" t="t" r="r" b="b"/>
            <a:pathLst>
              <a:path w="57687" h="47362">
                <a:moveTo>
                  <a:pt x="57687" y="47362"/>
                </a:moveTo>
                <a:lnTo>
                  <a:pt x="0" y="47362"/>
                </a:lnTo>
                <a:lnTo>
                  <a:pt x="0" y="0"/>
                </a:lnTo>
                <a:lnTo>
                  <a:pt x="38771" y="4451"/>
                </a:lnTo>
                <a:lnTo>
                  <a:pt x="57687" y="5127"/>
                </a:lnTo>
                <a:lnTo>
                  <a:pt x="57687" y="4736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2" name="Illustrative delivered road transport cost class 1; reference terminal Lesedi"/>
          <p:cNvSpPr/>
          <p:nvPr/>
        </p:nvSpPr>
        <p:spPr>
          <a:xfrm>
            <a:off x="5253756" y="3306143"/>
            <a:ext cx="8016" cy="4988"/>
          </a:xfrm>
          <a:custGeom>
            <a:avLst/>
            <a:gdLst/>
            <a:ahLst/>
            <a:cxnLst/>
            <a:rect l="l" t="t" r="r" b="b"/>
            <a:pathLst>
              <a:path w="8016" h="4988">
                <a:moveTo>
                  <a:pt x="8016" y="0"/>
                </a:moveTo>
                <a:lnTo>
                  <a:pt x="8016" y="4988"/>
                </a:lnTo>
                <a:lnTo>
                  <a:pt x="0" y="0"/>
                </a:lnTo>
                <a:lnTo>
                  <a:pt x="801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3" name="Illustrative delivered road transport cost class 1; reference terminal Lesedi"/>
          <p:cNvSpPr/>
          <p:nvPr/>
        </p:nvSpPr>
        <p:spPr>
          <a:xfrm>
            <a:off x="5204085" y="3248456"/>
            <a:ext cx="57687" cy="57687"/>
          </a:xfrm>
          <a:custGeom>
            <a:avLst/>
            <a:gdLst/>
            <a:ahLst/>
            <a:cxnLst/>
            <a:rect l="l" t="t" r="r" b="b"/>
            <a:pathLst>
              <a:path w="57687" h="57687">
                <a:moveTo>
                  <a:pt x="0" y="0"/>
                </a:moveTo>
                <a:lnTo>
                  <a:pt x="57687" y="0"/>
                </a:lnTo>
                <a:lnTo>
                  <a:pt x="57687" y="57687"/>
                </a:lnTo>
                <a:lnTo>
                  <a:pt x="49671" y="57687"/>
                </a:lnTo>
                <a:lnTo>
                  <a:pt x="35018" y="48569"/>
                </a:lnTo>
                <a:lnTo>
                  <a:pt x="0" y="2521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4" name="Illustrative delivered road transport cost class 1; reference terminal Lesedi"/>
          <p:cNvSpPr/>
          <p:nvPr/>
        </p:nvSpPr>
        <p:spPr>
          <a:xfrm>
            <a:off x="520408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5" name="Illustrative delivered road transport cost class 1; reference terminal Lesedi"/>
          <p:cNvSpPr/>
          <p:nvPr/>
        </p:nvSpPr>
        <p:spPr>
          <a:xfrm>
            <a:off x="5204085"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6" name="Illustrative delivered road transport cost class 1; reference terminal Lesedi"/>
          <p:cNvSpPr/>
          <p:nvPr/>
        </p:nvSpPr>
        <p:spPr>
          <a:xfrm>
            <a:off x="5204085"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7" name="Illustrative delivered road transport cost class 1; reference terminal Lesedi"/>
          <p:cNvSpPr/>
          <p:nvPr/>
        </p:nvSpPr>
        <p:spPr>
          <a:xfrm>
            <a:off x="5204085"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8" name="Illustrative delivered road transport cost class 1; reference terminal Lesedi"/>
          <p:cNvSpPr/>
          <p:nvPr/>
        </p:nvSpPr>
        <p:spPr>
          <a:xfrm>
            <a:off x="5204085"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9" name="Illustrative delivered road transport cost class None; reference terminal None"/>
          <p:cNvSpPr/>
          <p:nvPr/>
        </p:nvSpPr>
        <p:spPr>
          <a:xfrm>
            <a:off x="5204085"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0" name="Illustrative delivered road transport cost class None; reference terminal None"/>
          <p:cNvSpPr/>
          <p:nvPr/>
        </p:nvSpPr>
        <p:spPr>
          <a:xfrm>
            <a:off x="5204085"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1" name="Illustrative delivered road transport cost class None; reference terminal None"/>
          <p:cNvSpPr/>
          <p:nvPr/>
        </p:nvSpPr>
        <p:spPr>
          <a:xfrm>
            <a:off x="5204085"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2" name="Illustrative delivered road transport cost class None; reference terminal None"/>
          <p:cNvSpPr/>
          <p:nvPr/>
        </p:nvSpPr>
        <p:spPr>
          <a:xfrm>
            <a:off x="5204085"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3" name="Illustrative delivered road transport cost class None; reference terminal None"/>
          <p:cNvSpPr/>
          <p:nvPr/>
        </p:nvSpPr>
        <p:spPr>
          <a:xfrm>
            <a:off x="5204085" y="2671590"/>
            <a:ext cx="57687" cy="57687"/>
          </a:xfrm>
          <a:custGeom>
            <a:avLst/>
            <a:gdLst/>
            <a:ahLst/>
            <a:cxnLst/>
            <a:rect l="l" t="t" r="r" b="b"/>
            <a:pathLst>
              <a:path w="57687" h="57687">
                <a:moveTo>
                  <a:pt x="57687" y="57687"/>
                </a:moveTo>
                <a:lnTo>
                  <a:pt x="0" y="57687"/>
                </a:lnTo>
                <a:lnTo>
                  <a:pt x="0" y="0"/>
                </a:lnTo>
                <a:lnTo>
                  <a:pt x="40358" y="0"/>
                </a:lnTo>
                <a:lnTo>
                  <a:pt x="40331" y="447"/>
                </a:lnTo>
                <a:lnTo>
                  <a:pt x="43386" y="15080"/>
                </a:lnTo>
                <a:lnTo>
                  <a:pt x="56278" y="33836"/>
                </a:lnTo>
                <a:lnTo>
                  <a:pt x="57687" y="36774"/>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4" name="Illustrative delivered road transport cost class None; reference terminal None"/>
          <p:cNvSpPr/>
          <p:nvPr/>
        </p:nvSpPr>
        <p:spPr>
          <a:xfrm>
            <a:off x="5204085" y="2613904"/>
            <a:ext cx="42599" cy="57686"/>
          </a:xfrm>
          <a:custGeom>
            <a:avLst/>
            <a:gdLst/>
            <a:ahLst/>
            <a:cxnLst/>
            <a:rect l="l" t="t" r="r" b="b"/>
            <a:pathLst>
              <a:path w="42599" h="57686">
                <a:moveTo>
                  <a:pt x="0" y="57686"/>
                </a:moveTo>
                <a:lnTo>
                  <a:pt x="0" y="0"/>
                </a:lnTo>
                <a:lnTo>
                  <a:pt x="38866" y="0"/>
                </a:lnTo>
                <a:lnTo>
                  <a:pt x="42599" y="20814"/>
                </a:lnTo>
                <a:lnTo>
                  <a:pt x="40358"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5" name="Illustrative delivered road transport cost class None; reference terminal None"/>
          <p:cNvSpPr/>
          <p:nvPr/>
        </p:nvSpPr>
        <p:spPr>
          <a:xfrm>
            <a:off x="5204085" y="2556217"/>
            <a:ext cx="38866" cy="57687"/>
          </a:xfrm>
          <a:custGeom>
            <a:avLst/>
            <a:gdLst/>
            <a:ahLst/>
            <a:cxnLst/>
            <a:rect l="l" t="t" r="r" b="b"/>
            <a:pathLst>
              <a:path w="38866" h="57687">
                <a:moveTo>
                  <a:pt x="0" y="57687"/>
                </a:moveTo>
                <a:lnTo>
                  <a:pt x="0" y="0"/>
                </a:lnTo>
                <a:lnTo>
                  <a:pt x="28510" y="0"/>
                </a:lnTo>
                <a:lnTo>
                  <a:pt x="30424" y="10620"/>
                </a:lnTo>
                <a:lnTo>
                  <a:pt x="3886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6" name="Illustrative delivered road transport cost class None; reference terminal None"/>
          <p:cNvSpPr/>
          <p:nvPr/>
        </p:nvSpPr>
        <p:spPr>
          <a:xfrm>
            <a:off x="5204085" y="2498531"/>
            <a:ext cx="28510" cy="57686"/>
          </a:xfrm>
          <a:custGeom>
            <a:avLst/>
            <a:gdLst/>
            <a:ahLst/>
            <a:cxnLst/>
            <a:rect l="l" t="t" r="r" b="b"/>
            <a:pathLst>
              <a:path w="28510" h="57686">
                <a:moveTo>
                  <a:pt x="0" y="57686"/>
                </a:moveTo>
                <a:lnTo>
                  <a:pt x="0" y="0"/>
                </a:lnTo>
                <a:lnTo>
                  <a:pt x="16451" y="0"/>
                </a:lnTo>
                <a:lnTo>
                  <a:pt x="21505" y="18825"/>
                </a:lnTo>
                <a:lnTo>
                  <a:pt x="28510"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7" name="Illustrative delivered road transport cost class None; reference terminal None"/>
          <p:cNvSpPr/>
          <p:nvPr/>
        </p:nvSpPr>
        <p:spPr>
          <a:xfrm>
            <a:off x="5204085" y="2440844"/>
            <a:ext cx="16451" cy="57687"/>
          </a:xfrm>
          <a:custGeom>
            <a:avLst/>
            <a:gdLst/>
            <a:ahLst/>
            <a:cxnLst/>
            <a:rect l="l" t="t" r="r" b="b"/>
            <a:pathLst>
              <a:path w="16451" h="57687">
                <a:moveTo>
                  <a:pt x="0" y="57687"/>
                </a:moveTo>
                <a:lnTo>
                  <a:pt x="0" y="0"/>
                </a:lnTo>
                <a:lnTo>
                  <a:pt x="921" y="0"/>
                </a:lnTo>
                <a:lnTo>
                  <a:pt x="7056" y="22690"/>
                </a:lnTo>
                <a:lnTo>
                  <a:pt x="16451"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8" name="Illustrative delivered road transport cost class 0; reference terminal Durban"/>
          <p:cNvSpPr/>
          <p:nvPr/>
        </p:nvSpPr>
        <p:spPr>
          <a:xfrm>
            <a:off x="5261772" y="4056068"/>
            <a:ext cx="29918" cy="18855"/>
          </a:xfrm>
          <a:custGeom>
            <a:avLst/>
            <a:gdLst/>
            <a:ahLst/>
            <a:cxnLst/>
            <a:rect l="l" t="t" r="r" b="b"/>
            <a:pathLst>
              <a:path w="29918" h="18855">
                <a:moveTo>
                  <a:pt x="0" y="0"/>
                </a:moveTo>
                <a:lnTo>
                  <a:pt x="29918" y="0"/>
                </a:lnTo>
                <a:lnTo>
                  <a:pt x="23193" y="5720"/>
                </a:lnTo>
                <a:lnTo>
                  <a:pt x="6396" y="16079"/>
                </a:lnTo>
                <a:lnTo>
                  <a:pt x="0" y="1885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9" name="Illustrative delivered road transport cost class 0; reference terminal Durban"/>
          <p:cNvSpPr/>
          <p:nvPr/>
        </p:nvSpPr>
        <p:spPr>
          <a:xfrm>
            <a:off x="5261772" y="3998382"/>
            <a:ext cx="57687" cy="57686"/>
          </a:xfrm>
          <a:custGeom>
            <a:avLst/>
            <a:gdLst/>
            <a:ahLst/>
            <a:cxnLst/>
            <a:rect l="l" t="t" r="r" b="b"/>
            <a:pathLst>
              <a:path w="57687" h="57686">
                <a:moveTo>
                  <a:pt x="0" y="57686"/>
                </a:moveTo>
                <a:lnTo>
                  <a:pt x="0" y="0"/>
                </a:lnTo>
                <a:lnTo>
                  <a:pt x="57687" y="0"/>
                </a:lnTo>
                <a:lnTo>
                  <a:pt x="57687" y="34068"/>
                </a:lnTo>
                <a:lnTo>
                  <a:pt x="29918"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0" name="Illustrative delivered road transport cost class 0; reference terminal Durban"/>
          <p:cNvSpPr/>
          <p:nvPr/>
        </p:nvSpPr>
        <p:spPr>
          <a:xfrm>
            <a:off x="526177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1" name="Illustrative delivered road transport cost class 0; reference terminal Durban"/>
          <p:cNvSpPr/>
          <p:nvPr/>
        </p:nvSpPr>
        <p:spPr>
          <a:xfrm>
            <a:off x="526177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2" name="Illustrative delivered road transport cost class 0; reference terminal Durban"/>
          <p:cNvSpPr/>
          <p:nvPr/>
        </p:nvSpPr>
        <p:spPr>
          <a:xfrm>
            <a:off x="526177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3" name="Illustrative delivered road transport cost class 0; reference terminal Durban"/>
          <p:cNvSpPr/>
          <p:nvPr/>
        </p:nvSpPr>
        <p:spPr>
          <a:xfrm>
            <a:off x="526177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4" name="Illustrative delivered road transport cost class 0; reference terminal Durban"/>
          <p:cNvSpPr/>
          <p:nvPr/>
        </p:nvSpPr>
        <p:spPr>
          <a:xfrm>
            <a:off x="526177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5" name="Illustrative delivered road transport cost class 1; reference terminal Durban"/>
          <p:cNvSpPr/>
          <p:nvPr/>
        </p:nvSpPr>
        <p:spPr>
          <a:xfrm>
            <a:off x="5261772" y="3652262"/>
            <a:ext cx="57687" cy="57687"/>
          </a:xfrm>
          <a:custGeom>
            <a:avLst/>
            <a:gdLst/>
            <a:ahLst/>
            <a:cxnLst/>
            <a:rect l="l" t="t" r="r" b="b"/>
            <a:pathLst>
              <a:path w="57687" h="57687">
                <a:moveTo>
                  <a:pt x="57687" y="0"/>
                </a:moveTo>
                <a:lnTo>
                  <a:pt x="57687" y="57687"/>
                </a:lnTo>
                <a:lnTo>
                  <a:pt x="0" y="57687"/>
                </a:lnTo>
                <a:lnTo>
                  <a:pt x="0" y="15452"/>
                </a:lnTo>
                <a:lnTo>
                  <a:pt x="30293" y="16534"/>
                </a:lnTo>
                <a:lnTo>
                  <a:pt x="29855"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6" name="Illustrative delivered road transport cost class 1; reference terminal Durban"/>
          <p:cNvSpPr/>
          <p:nvPr/>
        </p:nvSpPr>
        <p:spPr>
          <a:xfrm>
            <a:off x="5291165" y="3594576"/>
            <a:ext cx="28294" cy="57686"/>
          </a:xfrm>
          <a:custGeom>
            <a:avLst/>
            <a:gdLst/>
            <a:ahLst/>
            <a:cxnLst/>
            <a:rect l="l" t="t" r="r" b="b"/>
            <a:pathLst>
              <a:path w="28294" h="57686">
                <a:moveTo>
                  <a:pt x="28294" y="0"/>
                </a:moveTo>
                <a:lnTo>
                  <a:pt x="28294" y="57686"/>
                </a:lnTo>
                <a:lnTo>
                  <a:pt x="462" y="57686"/>
                </a:lnTo>
                <a:lnTo>
                  <a:pt x="0" y="40259"/>
                </a:lnTo>
                <a:lnTo>
                  <a:pt x="5849" y="0"/>
                </a:lnTo>
                <a:lnTo>
                  <a:pt x="2829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7" name="Illustrative delivered road transport cost class 1; reference terminal Durban"/>
          <p:cNvSpPr/>
          <p:nvPr/>
        </p:nvSpPr>
        <p:spPr>
          <a:xfrm>
            <a:off x="5297014" y="3543224"/>
            <a:ext cx="22445" cy="51352"/>
          </a:xfrm>
          <a:custGeom>
            <a:avLst/>
            <a:gdLst/>
            <a:ahLst/>
            <a:cxnLst/>
            <a:rect l="l" t="t" r="r" b="b"/>
            <a:pathLst>
              <a:path w="22445" h="51352">
                <a:moveTo>
                  <a:pt x="22445" y="51352"/>
                </a:moveTo>
                <a:lnTo>
                  <a:pt x="0" y="51352"/>
                </a:lnTo>
                <a:lnTo>
                  <a:pt x="2019" y="37449"/>
                </a:lnTo>
                <a:lnTo>
                  <a:pt x="10365" y="1222"/>
                </a:lnTo>
                <a:lnTo>
                  <a:pt x="17336" y="0"/>
                </a:lnTo>
                <a:lnTo>
                  <a:pt x="22445" y="1698"/>
                </a:lnTo>
                <a:lnTo>
                  <a:pt x="22445" y="5135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8" name="Illustrative delivered road transport cost class 1; reference terminal Lesedi"/>
          <p:cNvSpPr/>
          <p:nvPr/>
        </p:nvSpPr>
        <p:spPr>
          <a:xfrm>
            <a:off x="5261772" y="3306143"/>
            <a:ext cx="47082" cy="23070"/>
          </a:xfrm>
          <a:custGeom>
            <a:avLst/>
            <a:gdLst/>
            <a:ahLst/>
            <a:cxnLst/>
            <a:rect l="l" t="t" r="r" b="b"/>
            <a:pathLst>
              <a:path w="47082" h="23070">
                <a:moveTo>
                  <a:pt x="0" y="0"/>
                </a:moveTo>
                <a:lnTo>
                  <a:pt x="43645" y="0"/>
                </a:lnTo>
                <a:lnTo>
                  <a:pt x="47082" y="17939"/>
                </a:lnTo>
                <a:lnTo>
                  <a:pt x="40806" y="20433"/>
                </a:lnTo>
                <a:lnTo>
                  <a:pt x="29060" y="23070"/>
                </a:lnTo>
                <a:lnTo>
                  <a:pt x="0" y="498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9" name="Illustrative delivered road transport cost class 1; reference terminal Lesedi"/>
          <p:cNvSpPr/>
          <p:nvPr/>
        </p:nvSpPr>
        <p:spPr>
          <a:xfrm>
            <a:off x="5261772" y="3248456"/>
            <a:ext cx="56621" cy="57687"/>
          </a:xfrm>
          <a:custGeom>
            <a:avLst/>
            <a:gdLst/>
            <a:ahLst/>
            <a:cxnLst/>
            <a:rect l="l" t="t" r="r" b="b"/>
            <a:pathLst>
              <a:path w="56621" h="57687">
                <a:moveTo>
                  <a:pt x="0" y="57687"/>
                </a:moveTo>
                <a:lnTo>
                  <a:pt x="0" y="0"/>
                </a:lnTo>
                <a:lnTo>
                  <a:pt x="56621" y="0"/>
                </a:lnTo>
                <a:lnTo>
                  <a:pt x="43187" y="28320"/>
                </a:lnTo>
                <a:lnTo>
                  <a:pt x="43493" y="56897"/>
                </a:lnTo>
                <a:lnTo>
                  <a:pt x="4364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0" name="Illustrative delivered road transport cost class 1; reference terminal Lesedi"/>
          <p:cNvSpPr/>
          <p:nvPr/>
        </p:nvSpPr>
        <p:spPr>
          <a:xfrm>
            <a:off x="5261772" y="3190770"/>
            <a:ext cx="57687" cy="57686"/>
          </a:xfrm>
          <a:custGeom>
            <a:avLst/>
            <a:gdLst/>
            <a:ahLst/>
            <a:cxnLst/>
            <a:rect l="l" t="t" r="r" b="b"/>
            <a:pathLst>
              <a:path w="57687" h="57686">
                <a:moveTo>
                  <a:pt x="0" y="57686"/>
                </a:moveTo>
                <a:lnTo>
                  <a:pt x="0" y="0"/>
                </a:lnTo>
                <a:lnTo>
                  <a:pt x="57687" y="0"/>
                </a:lnTo>
                <a:lnTo>
                  <a:pt x="57687" y="55440"/>
                </a:lnTo>
                <a:lnTo>
                  <a:pt x="56621"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1" name="Illustrative delivered road transport cost class 1; reference terminal Lesedi"/>
          <p:cNvSpPr/>
          <p:nvPr/>
        </p:nvSpPr>
        <p:spPr>
          <a:xfrm>
            <a:off x="526177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2" name="Illustrative delivered road transport cost class 1; reference terminal Lesedi"/>
          <p:cNvSpPr/>
          <p:nvPr/>
        </p:nvSpPr>
        <p:spPr>
          <a:xfrm>
            <a:off x="526177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3" name="Illustrative delivered road transport cost class 1; reference terminal Lesedi"/>
          <p:cNvSpPr/>
          <p:nvPr/>
        </p:nvSpPr>
        <p:spPr>
          <a:xfrm>
            <a:off x="526177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4" name="Illustrative delivered road transport cost class 1; reference terminal Lesedi"/>
          <p:cNvSpPr/>
          <p:nvPr/>
        </p:nvSpPr>
        <p:spPr>
          <a:xfrm>
            <a:off x="526177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5" name="Illustrative delivered road transport cost class None; reference terminal None"/>
          <p:cNvSpPr/>
          <p:nvPr/>
        </p:nvSpPr>
        <p:spPr>
          <a:xfrm>
            <a:off x="526177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6" name="Illustrative delivered road transport cost class None; reference terminal None"/>
          <p:cNvSpPr/>
          <p:nvPr/>
        </p:nvSpPr>
        <p:spPr>
          <a:xfrm>
            <a:off x="5261772" y="2844650"/>
            <a:ext cx="57687" cy="57687"/>
          </a:xfrm>
          <a:custGeom>
            <a:avLst/>
            <a:gdLst/>
            <a:ahLst/>
            <a:cxnLst/>
            <a:rect l="l" t="t" r="r" b="b"/>
            <a:pathLst>
              <a:path w="57687" h="57687">
                <a:moveTo>
                  <a:pt x="57687" y="57687"/>
                </a:moveTo>
                <a:lnTo>
                  <a:pt x="0" y="57687"/>
                </a:lnTo>
                <a:lnTo>
                  <a:pt x="0" y="0"/>
                </a:lnTo>
                <a:lnTo>
                  <a:pt x="54116" y="0"/>
                </a:lnTo>
                <a:lnTo>
                  <a:pt x="57687" y="19985"/>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7" name="Illustrative delivered road transport cost class None; reference terminal None"/>
          <p:cNvSpPr/>
          <p:nvPr/>
        </p:nvSpPr>
        <p:spPr>
          <a:xfrm>
            <a:off x="5261772" y="2786964"/>
            <a:ext cx="54116" cy="57686"/>
          </a:xfrm>
          <a:custGeom>
            <a:avLst/>
            <a:gdLst/>
            <a:ahLst/>
            <a:cxnLst/>
            <a:rect l="l" t="t" r="r" b="b"/>
            <a:pathLst>
              <a:path w="54116" h="57686">
                <a:moveTo>
                  <a:pt x="0" y="57686"/>
                </a:moveTo>
                <a:lnTo>
                  <a:pt x="0" y="0"/>
                </a:lnTo>
                <a:lnTo>
                  <a:pt x="35399" y="0"/>
                </a:lnTo>
                <a:lnTo>
                  <a:pt x="40218" y="7573"/>
                </a:lnTo>
                <a:lnTo>
                  <a:pt x="52053" y="46139"/>
                </a:lnTo>
                <a:lnTo>
                  <a:pt x="5411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8" name="Illustrative delivered road transport cost class None; reference terminal None"/>
          <p:cNvSpPr/>
          <p:nvPr/>
        </p:nvSpPr>
        <p:spPr>
          <a:xfrm>
            <a:off x="5261772" y="2729277"/>
            <a:ext cx="35399" cy="57687"/>
          </a:xfrm>
          <a:custGeom>
            <a:avLst/>
            <a:gdLst/>
            <a:ahLst/>
            <a:cxnLst/>
            <a:rect l="l" t="t" r="r" b="b"/>
            <a:pathLst>
              <a:path w="35399" h="57687">
                <a:moveTo>
                  <a:pt x="0" y="57687"/>
                </a:moveTo>
                <a:lnTo>
                  <a:pt x="0" y="0"/>
                </a:lnTo>
                <a:lnTo>
                  <a:pt x="10034" y="0"/>
                </a:lnTo>
                <a:lnTo>
                  <a:pt x="13880" y="8018"/>
                </a:lnTo>
                <a:lnTo>
                  <a:pt x="18746" y="25906"/>
                </a:lnTo>
                <a:lnTo>
                  <a:pt x="23734" y="39353"/>
                </a:lnTo>
                <a:lnTo>
                  <a:pt x="3539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9" name="Illustrative delivered road transport cost class None; reference terminal None"/>
          <p:cNvSpPr/>
          <p:nvPr/>
        </p:nvSpPr>
        <p:spPr>
          <a:xfrm>
            <a:off x="5261772" y="2708364"/>
            <a:ext cx="10034" cy="20913"/>
          </a:xfrm>
          <a:custGeom>
            <a:avLst/>
            <a:gdLst/>
            <a:ahLst/>
            <a:cxnLst/>
            <a:rect l="l" t="t" r="r" b="b"/>
            <a:pathLst>
              <a:path w="10034" h="20913">
                <a:moveTo>
                  <a:pt x="0" y="20913"/>
                </a:moveTo>
                <a:lnTo>
                  <a:pt x="0" y="0"/>
                </a:lnTo>
                <a:lnTo>
                  <a:pt x="10034" y="20913"/>
                </a:lnTo>
                <a:lnTo>
                  <a:pt x="0" y="2091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0" name="Illustrative delivered road transport cost class 0; reference terminal Durban"/>
          <p:cNvSpPr/>
          <p:nvPr/>
        </p:nvSpPr>
        <p:spPr>
          <a:xfrm>
            <a:off x="5319459" y="3998382"/>
            <a:ext cx="35067" cy="34068"/>
          </a:xfrm>
          <a:custGeom>
            <a:avLst/>
            <a:gdLst/>
            <a:ahLst/>
            <a:cxnLst/>
            <a:rect l="l" t="t" r="r" b="b"/>
            <a:pathLst>
              <a:path w="35067" h="34068">
                <a:moveTo>
                  <a:pt x="0" y="0"/>
                </a:moveTo>
                <a:lnTo>
                  <a:pt x="35067" y="0"/>
                </a:lnTo>
                <a:lnTo>
                  <a:pt x="26933" y="11159"/>
                </a:lnTo>
                <a:lnTo>
                  <a:pt x="0" y="34068"/>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1" name="Illustrative delivered road transport cost class 0; reference terminal Durban"/>
          <p:cNvSpPr/>
          <p:nvPr/>
        </p:nvSpPr>
        <p:spPr>
          <a:xfrm>
            <a:off x="5319459" y="3940695"/>
            <a:ext cx="57686" cy="57687"/>
          </a:xfrm>
          <a:custGeom>
            <a:avLst/>
            <a:gdLst/>
            <a:ahLst/>
            <a:cxnLst/>
            <a:rect l="l" t="t" r="r" b="b"/>
            <a:pathLst>
              <a:path w="57686" h="57687">
                <a:moveTo>
                  <a:pt x="0" y="57687"/>
                </a:moveTo>
                <a:lnTo>
                  <a:pt x="0" y="0"/>
                </a:lnTo>
                <a:lnTo>
                  <a:pt x="57686" y="0"/>
                </a:lnTo>
                <a:lnTo>
                  <a:pt x="57686" y="22764"/>
                </a:lnTo>
                <a:lnTo>
                  <a:pt x="48992" y="38582"/>
                </a:lnTo>
                <a:lnTo>
                  <a:pt x="350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2" name="Illustrative delivered road transport cost class 0; reference terminal Durban"/>
          <p:cNvSpPr/>
          <p:nvPr/>
        </p:nvSpPr>
        <p:spPr>
          <a:xfrm>
            <a:off x="531945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3" name="Illustrative delivered road transport cost class 0; reference terminal Durban"/>
          <p:cNvSpPr/>
          <p:nvPr/>
        </p:nvSpPr>
        <p:spPr>
          <a:xfrm>
            <a:off x="531945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4" name="Illustrative delivered road transport cost class 0; reference terminal Durban"/>
          <p:cNvSpPr/>
          <p:nvPr/>
        </p:nvSpPr>
        <p:spPr>
          <a:xfrm>
            <a:off x="531945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5" name="Illustrative delivered road transport cost class 1; reference terminal Durban"/>
          <p:cNvSpPr/>
          <p:nvPr/>
        </p:nvSpPr>
        <p:spPr>
          <a:xfrm>
            <a:off x="531945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6" name="Illustrative delivered road transport cost class 1; reference terminal Durban"/>
          <p:cNvSpPr/>
          <p:nvPr/>
        </p:nvSpPr>
        <p:spPr>
          <a:xfrm>
            <a:off x="531945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7" name="Illustrative delivered road transport cost class 1; reference terminal Durban"/>
          <p:cNvSpPr/>
          <p:nvPr/>
        </p:nvSpPr>
        <p:spPr>
          <a:xfrm>
            <a:off x="531945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8" name="Illustrative delivered road transport cost class 1; reference terminal Durban"/>
          <p:cNvSpPr/>
          <p:nvPr/>
        </p:nvSpPr>
        <p:spPr>
          <a:xfrm>
            <a:off x="5319459" y="3544922"/>
            <a:ext cx="57686" cy="49654"/>
          </a:xfrm>
          <a:custGeom>
            <a:avLst/>
            <a:gdLst/>
            <a:ahLst/>
            <a:cxnLst/>
            <a:rect l="l" t="t" r="r" b="b"/>
            <a:pathLst>
              <a:path w="57686" h="49654">
                <a:moveTo>
                  <a:pt x="57686" y="49654"/>
                </a:moveTo>
                <a:lnTo>
                  <a:pt x="0" y="49654"/>
                </a:lnTo>
                <a:lnTo>
                  <a:pt x="0" y="0"/>
                </a:lnTo>
                <a:lnTo>
                  <a:pt x="7692" y="2558"/>
                </a:lnTo>
                <a:lnTo>
                  <a:pt x="14625" y="6723"/>
                </a:lnTo>
                <a:lnTo>
                  <a:pt x="34541" y="6379"/>
                </a:lnTo>
                <a:lnTo>
                  <a:pt x="57686" y="12580"/>
                </a:lnTo>
                <a:lnTo>
                  <a:pt x="57686" y="4965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9" name="Illustrative delivered road transport cost class 1; reference terminal Lesedi"/>
          <p:cNvSpPr/>
          <p:nvPr/>
        </p:nvSpPr>
        <p:spPr>
          <a:xfrm>
            <a:off x="5319459" y="3190770"/>
            <a:ext cx="4173" cy="55440"/>
          </a:xfrm>
          <a:custGeom>
            <a:avLst/>
            <a:gdLst/>
            <a:ahLst/>
            <a:cxnLst/>
            <a:rect l="l" t="t" r="r" b="b"/>
            <a:pathLst>
              <a:path w="4173" h="55440">
                <a:moveTo>
                  <a:pt x="0" y="0"/>
                </a:moveTo>
                <a:lnTo>
                  <a:pt x="4173" y="0"/>
                </a:lnTo>
                <a:lnTo>
                  <a:pt x="2308" y="50574"/>
                </a:lnTo>
                <a:lnTo>
                  <a:pt x="0" y="5544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0" name="Illustrative delivered road transport cost class 1; reference terminal Lesedi"/>
          <p:cNvSpPr/>
          <p:nvPr/>
        </p:nvSpPr>
        <p:spPr>
          <a:xfrm>
            <a:off x="5319459" y="3133083"/>
            <a:ext cx="8638" cy="57687"/>
          </a:xfrm>
          <a:custGeom>
            <a:avLst/>
            <a:gdLst/>
            <a:ahLst/>
            <a:cxnLst/>
            <a:rect l="l" t="t" r="r" b="b"/>
            <a:pathLst>
              <a:path w="8638" h="57687">
                <a:moveTo>
                  <a:pt x="0" y="57687"/>
                </a:moveTo>
                <a:lnTo>
                  <a:pt x="0" y="0"/>
                </a:lnTo>
                <a:lnTo>
                  <a:pt x="8638" y="0"/>
                </a:lnTo>
                <a:lnTo>
                  <a:pt x="7964" y="14155"/>
                </a:lnTo>
                <a:lnTo>
                  <a:pt x="4878" y="38579"/>
                </a:lnTo>
                <a:lnTo>
                  <a:pt x="417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1" name="Illustrative delivered road transport cost class 1; reference terminal Lesedi"/>
          <p:cNvSpPr/>
          <p:nvPr/>
        </p:nvSpPr>
        <p:spPr>
          <a:xfrm>
            <a:off x="5319459" y="3075396"/>
            <a:ext cx="11392" cy="57687"/>
          </a:xfrm>
          <a:custGeom>
            <a:avLst/>
            <a:gdLst/>
            <a:ahLst/>
            <a:cxnLst/>
            <a:rect l="l" t="t" r="r" b="b"/>
            <a:pathLst>
              <a:path w="11392" h="57687">
                <a:moveTo>
                  <a:pt x="0" y="57687"/>
                </a:moveTo>
                <a:lnTo>
                  <a:pt x="0" y="0"/>
                </a:lnTo>
                <a:lnTo>
                  <a:pt x="11392" y="0"/>
                </a:lnTo>
                <a:lnTo>
                  <a:pt x="10271" y="23375"/>
                </a:lnTo>
                <a:lnTo>
                  <a:pt x="863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2" name="Illustrative delivered road transport cost class 1; reference terminal Lesedi"/>
          <p:cNvSpPr/>
          <p:nvPr/>
        </p:nvSpPr>
        <p:spPr>
          <a:xfrm>
            <a:off x="5319459" y="3017710"/>
            <a:ext cx="14156" cy="57686"/>
          </a:xfrm>
          <a:custGeom>
            <a:avLst/>
            <a:gdLst/>
            <a:ahLst/>
            <a:cxnLst/>
            <a:rect l="l" t="t" r="r" b="b"/>
            <a:pathLst>
              <a:path w="14156" h="57686">
                <a:moveTo>
                  <a:pt x="0" y="57686"/>
                </a:moveTo>
                <a:lnTo>
                  <a:pt x="0" y="0"/>
                </a:lnTo>
                <a:lnTo>
                  <a:pt x="14156" y="0"/>
                </a:lnTo>
                <a:lnTo>
                  <a:pt x="13087" y="22344"/>
                </a:lnTo>
                <a:lnTo>
                  <a:pt x="11392"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3" name="Illustrative delivered road transport cost class 1; reference terminal Lesedi"/>
          <p:cNvSpPr/>
          <p:nvPr/>
        </p:nvSpPr>
        <p:spPr>
          <a:xfrm>
            <a:off x="5319459" y="2960023"/>
            <a:ext cx="17427" cy="57687"/>
          </a:xfrm>
          <a:custGeom>
            <a:avLst/>
            <a:gdLst/>
            <a:ahLst/>
            <a:cxnLst/>
            <a:rect l="l" t="t" r="r" b="b"/>
            <a:pathLst>
              <a:path w="17427" h="57687">
                <a:moveTo>
                  <a:pt x="0" y="57687"/>
                </a:moveTo>
                <a:lnTo>
                  <a:pt x="0" y="0"/>
                </a:lnTo>
                <a:lnTo>
                  <a:pt x="17427" y="0"/>
                </a:lnTo>
                <a:lnTo>
                  <a:pt x="15603" y="27458"/>
                </a:lnTo>
                <a:lnTo>
                  <a:pt x="1415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4" name="Illustrative delivered road transport cost class None; reference terminal None"/>
          <p:cNvSpPr/>
          <p:nvPr/>
        </p:nvSpPr>
        <p:spPr>
          <a:xfrm>
            <a:off x="5319459" y="2902337"/>
            <a:ext cx="18614" cy="57686"/>
          </a:xfrm>
          <a:custGeom>
            <a:avLst/>
            <a:gdLst/>
            <a:ahLst/>
            <a:cxnLst/>
            <a:rect l="l" t="t" r="r" b="b"/>
            <a:pathLst>
              <a:path w="18614" h="57686">
                <a:moveTo>
                  <a:pt x="0" y="57686"/>
                </a:moveTo>
                <a:lnTo>
                  <a:pt x="0" y="0"/>
                </a:lnTo>
                <a:lnTo>
                  <a:pt x="9987" y="0"/>
                </a:lnTo>
                <a:lnTo>
                  <a:pt x="12128" y="6045"/>
                </a:lnTo>
                <a:lnTo>
                  <a:pt x="15252" y="18054"/>
                </a:lnTo>
                <a:lnTo>
                  <a:pt x="18614" y="39809"/>
                </a:lnTo>
                <a:lnTo>
                  <a:pt x="1742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5" name="Illustrative delivered road transport cost class None; reference terminal None"/>
          <p:cNvSpPr/>
          <p:nvPr/>
        </p:nvSpPr>
        <p:spPr>
          <a:xfrm>
            <a:off x="5319459" y="2864635"/>
            <a:ext cx="9987" cy="37702"/>
          </a:xfrm>
          <a:custGeom>
            <a:avLst/>
            <a:gdLst/>
            <a:ahLst/>
            <a:cxnLst/>
            <a:rect l="l" t="t" r="r" b="b"/>
            <a:pathLst>
              <a:path w="9987" h="37702">
                <a:moveTo>
                  <a:pt x="0" y="37702"/>
                </a:moveTo>
                <a:lnTo>
                  <a:pt x="0" y="0"/>
                </a:lnTo>
                <a:lnTo>
                  <a:pt x="3424" y="19169"/>
                </a:lnTo>
                <a:lnTo>
                  <a:pt x="9987" y="37702"/>
                </a:lnTo>
                <a:lnTo>
                  <a:pt x="0" y="3770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6" name="Illustrative delivered road transport cost class 0; reference terminal Durban"/>
          <p:cNvSpPr/>
          <p:nvPr/>
        </p:nvSpPr>
        <p:spPr>
          <a:xfrm>
            <a:off x="5377145" y="3940695"/>
            <a:ext cx="12511" cy="22764"/>
          </a:xfrm>
          <a:custGeom>
            <a:avLst/>
            <a:gdLst/>
            <a:ahLst/>
            <a:cxnLst/>
            <a:rect l="l" t="t" r="r" b="b"/>
            <a:pathLst>
              <a:path w="12511" h="22764">
                <a:moveTo>
                  <a:pt x="0" y="0"/>
                </a:moveTo>
                <a:lnTo>
                  <a:pt x="12511" y="0"/>
                </a:lnTo>
                <a:lnTo>
                  <a:pt x="0" y="2276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7" name="Illustrative delivered road transport cost class 0; reference terminal Durban"/>
          <p:cNvSpPr/>
          <p:nvPr/>
        </p:nvSpPr>
        <p:spPr>
          <a:xfrm>
            <a:off x="5377145" y="3883008"/>
            <a:ext cx="37524" cy="57687"/>
          </a:xfrm>
          <a:custGeom>
            <a:avLst/>
            <a:gdLst/>
            <a:ahLst/>
            <a:cxnLst/>
            <a:rect l="l" t="t" r="r" b="b"/>
            <a:pathLst>
              <a:path w="37524" h="57687">
                <a:moveTo>
                  <a:pt x="0" y="57687"/>
                </a:moveTo>
                <a:lnTo>
                  <a:pt x="0" y="0"/>
                </a:lnTo>
                <a:lnTo>
                  <a:pt x="37524" y="0"/>
                </a:lnTo>
                <a:lnTo>
                  <a:pt x="32013" y="22204"/>
                </a:lnTo>
                <a:lnTo>
                  <a:pt x="1251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8" name="Illustrative delivered road transport cost class 0; reference terminal Durban"/>
          <p:cNvSpPr/>
          <p:nvPr/>
        </p:nvSpPr>
        <p:spPr>
          <a:xfrm>
            <a:off x="5377145" y="3825322"/>
            <a:ext cx="51840" cy="57686"/>
          </a:xfrm>
          <a:custGeom>
            <a:avLst/>
            <a:gdLst/>
            <a:ahLst/>
            <a:cxnLst/>
            <a:rect l="l" t="t" r="r" b="b"/>
            <a:pathLst>
              <a:path w="51840" h="57686">
                <a:moveTo>
                  <a:pt x="0" y="57686"/>
                </a:moveTo>
                <a:lnTo>
                  <a:pt x="0" y="0"/>
                </a:lnTo>
                <a:lnTo>
                  <a:pt x="51840" y="0"/>
                </a:lnTo>
                <a:lnTo>
                  <a:pt x="37524"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9" name="Illustrative delivered road transport cost class 1; reference terminal Durban"/>
          <p:cNvSpPr/>
          <p:nvPr/>
        </p:nvSpPr>
        <p:spPr>
          <a:xfrm>
            <a:off x="5377145" y="3767635"/>
            <a:ext cx="57687" cy="57687"/>
          </a:xfrm>
          <a:custGeom>
            <a:avLst/>
            <a:gdLst/>
            <a:ahLst/>
            <a:cxnLst/>
            <a:rect l="l" t="t" r="r" b="b"/>
            <a:pathLst>
              <a:path w="57687" h="57687">
                <a:moveTo>
                  <a:pt x="0" y="57687"/>
                </a:moveTo>
                <a:lnTo>
                  <a:pt x="0" y="0"/>
                </a:lnTo>
                <a:lnTo>
                  <a:pt x="57687" y="0"/>
                </a:lnTo>
                <a:lnTo>
                  <a:pt x="57687" y="34128"/>
                </a:lnTo>
                <a:lnTo>
                  <a:pt x="518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0" name="Illustrative delivered road transport cost class 1; reference terminal Durban"/>
          <p:cNvSpPr/>
          <p:nvPr/>
        </p:nvSpPr>
        <p:spPr>
          <a:xfrm>
            <a:off x="537714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1" name="Illustrative delivered road transport cost class 1; reference terminal Durban"/>
          <p:cNvSpPr/>
          <p:nvPr/>
        </p:nvSpPr>
        <p:spPr>
          <a:xfrm>
            <a:off x="537714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2" name="Illustrative delivered road transport cost class 1; reference terminal Durban"/>
          <p:cNvSpPr/>
          <p:nvPr/>
        </p:nvSpPr>
        <p:spPr>
          <a:xfrm>
            <a:off x="537714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3" name="Illustrative delivered road transport cost class 1; reference terminal Durban"/>
          <p:cNvSpPr/>
          <p:nvPr/>
        </p:nvSpPr>
        <p:spPr>
          <a:xfrm>
            <a:off x="5377145" y="3557502"/>
            <a:ext cx="57687" cy="37074"/>
          </a:xfrm>
          <a:custGeom>
            <a:avLst/>
            <a:gdLst/>
            <a:ahLst/>
            <a:cxnLst/>
            <a:rect l="l" t="t" r="r" b="b"/>
            <a:pathLst>
              <a:path w="57687" h="37074">
                <a:moveTo>
                  <a:pt x="57687" y="37074"/>
                </a:moveTo>
                <a:lnTo>
                  <a:pt x="0" y="37074"/>
                </a:lnTo>
                <a:lnTo>
                  <a:pt x="0" y="0"/>
                </a:lnTo>
                <a:lnTo>
                  <a:pt x="11619" y="3113"/>
                </a:lnTo>
                <a:lnTo>
                  <a:pt x="40056" y="4064"/>
                </a:lnTo>
                <a:lnTo>
                  <a:pt x="57687" y="4681"/>
                </a:lnTo>
                <a:lnTo>
                  <a:pt x="57687" y="370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4" name="Illustrative delivered road transport cost class 1; reference terminal Durban"/>
          <p:cNvSpPr/>
          <p:nvPr/>
        </p:nvSpPr>
        <p:spPr>
          <a:xfrm>
            <a:off x="5434832" y="3767635"/>
            <a:ext cx="8469" cy="34128"/>
          </a:xfrm>
          <a:custGeom>
            <a:avLst/>
            <a:gdLst/>
            <a:ahLst/>
            <a:cxnLst/>
            <a:rect l="l" t="t" r="r" b="b"/>
            <a:pathLst>
              <a:path w="8469" h="34128">
                <a:moveTo>
                  <a:pt x="0" y="0"/>
                </a:moveTo>
                <a:lnTo>
                  <a:pt x="8469" y="0"/>
                </a:lnTo>
                <a:lnTo>
                  <a:pt x="0" y="341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5" name="Illustrative delivered road transport cost class 1; reference terminal Durban"/>
          <p:cNvSpPr/>
          <p:nvPr/>
        </p:nvSpPr>
        <p:spPr>
          <a:xfrm>
            <a:off x="5434832" y="3709949"/>
            <a:ext cx="26895" cy="57686"/>
          </a:xfrm>
          <a:custGeom>
            <a:avLst/>
            <a:gdLst/>
            <a:ahLst/>
            <a:cxnLst/>
            <a:rect l="l" t="t" r="r" b="b"/>
            <a:pathLst>
              <a:path w="26895" h="57686">
                <a:moveTo>
                  <a:pt x="0" y="57686"/>
                </a:moveTo>
                <a:lnTo>
                  <a:pt x="0" y="0"/>
                </a:lnTo>
                <a:lnTo>
                  <a:pt x="26895" y="0"/>
                </a:lnTo>
                <a:lnTo>
                  <a:pt x="25214" y="3946"/>
                </a:lnTo>
                <a:lnTo>
                  <a:pt x="11470" y="45595"/>
                </a:lnTo>
                <a:lnTo>
                  <a:pt x="846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6" name="Illustrative delivered road transport cost class 1; reference terminal Durban"/>
          <p:cNvSpPr/>
          <p:nvPr/>
        </p:nvSpPr>
        <p:spPr>
          <a:xfrm>
            <a:off x="5434832" y="3652262"/>
            <a:ext cx="51458" cy="57687"/>
          </a:xfrm>
          <a:custGeom>
            <a:avLst/>
            <a:gdLst/>
            <a:ahLst/>
            <a:cxnLst/>
            <a:rect l="l" t="t" r="r" b="b"/>
            <a:pathLst>
              <a:path w="51458" h="57687">
                <a:moveTo>
                  <a:pt x="0" y="57687"/>
                </a:moveTo>
                <a:lnTo>
                  <a:pt x="0" y="0"/>
                </a:lnTo>
                <a:lnTo>
                  <a:pt x="51458" y="0"/>
                </a:lnTo>
                <a:lnTo>
                  <a:pt x="2689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7" name="Illustrative delivered road transport cost class 1; reference terminal Durban"/>
          <p:cNvSpPr/>
          <p:nvPr/>
        </p:nvSpPr>
        <p:spPr>
          <a:xfrm>
            <a:off x="5434832" y="3594576"/>
            <a:ext cx="57686" cy="57686"/>
          </a:xfrm>
          <a:custGeom>
            <a:avLst/>
            <a:gdLst/>
            <a:ahLst/>
            <a:cxnLst/>
            <a:rect l="l" t="t" r="r" b="b"/>
            <a:pathLst>
              <a:path w="57686" h="57686">
                <a:moveTo>
                  <a:pt x="0" y="57686"/>
                </a:moveTo>
                <a:lnTo>
                  <a:pt x="0" y="0"/>
                </a:lnTo>
                <a:lnTo>
                  <a:pt x="57686" y="0"/>
                </a:lnTo>
                <a:lnTo>
                  <a:pt x="57686" y="43059"/>
                </a:lnTo>
                <a:lnTo>
                  <a:pt x="51458"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8" name="Illustrative delivered road transport cost class 1; reference terminal Durban"/>
          <p:cNvSpPr/>
          <p:nvPr/>
        </p:nvSpPr>
        <p:spPr>
          <a:xfrm>
            <a:off x="5434832" y="3562183"/>
            <a:ext cx="57686" cy="32393"/>
          </a:xfrm>
          <a:custGeom>
            <a:avLst/>
            <a:gdLst/>
            <a:ahLst/>
            <a:cxnLst/>
            <a:rect l="l" t="t" r="r" b="b"/>
            <a:pathLst>
              <a:path w="57686" h="32393">
                <a:moveTo>
                  <a:pt x="57686" y="32393"/>
                </a:moveTo>
                <a:lnTo>
                  <a:pt x="0" y="32393"/>
                </a:lnTo>
                <a:lnTo>
                  <a:pt x="0" y="0"/>
                </a:lnTo>
                <a:lnTo>
                  <a:pt x="7786" y="273"/>
                </a:lnTo>
                <a:lnTo>
                  <a:pt x="50772" y="1789"/>
                </a:lnTo>
                <a:lnTo>
                  <a:pt x="57686" y="2122"/>
                </a:lnTo>
                <a:lnTo>
                  <a:pt x="57686" y="32393"/>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9" name="Illustrative delivered road transport cost class 1; reference terminal Durban"/>
          <p:cNvSpPr/>
          <p:nvPr/>
        </p:nvSpPr>
        <p:spPr>
          <a:xfrm>
            <a:off x="5492518" y="3594576"/>
            <a:ext cx="12020" cy="43059"/>
          </a:xfrm>
          <a:custGeom>
            <a:avLst/>
            <a:gdLst/>
            <a:ahLst/>
            <a:cxnLst/>
            <a:rect l="l" t="t" r="r" b="b"/>
            <a:pathLst>
              <a:path w="12020" h="43059">
                <a:moveTo>
                  <a:pt x="0" y="0"/>
                </a:moveTo>
                <a:lnTo>
                  <a:pt x="12020" y="0"/>
                </a:lnTo>
                <a:lnTo>
                  <a:pt x="5964" y="29053"/>
                </a:lnTo>
                <a:lnTo>
                  <a:pt x="0" y="4305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0" name="Illustrative delivered road transport cost class None; reference terminal None"/>
          <p:cNvSpPr/>
          <p:nvPr/>
        </p:nvSpPr>
        <p:spPr>
          <a:xfrm>
            <a:off x="5492518" y="3564305"/>
            <a:ext cx="18147" cy="30271"/>
          </a:xfrm>
          <a:custGeom>
            <a:avLst/>
            <a:gdLst/>
            <a:ahLst/>
            <a:cxnLst/>
            <a:rect l="l" t="t" r="r" b="b"/>
            <a:pathLst>
              <a:path w="18147" h="30271">
                <a:moveTo>
                  <a:pt x="0" y="30271"/>
                </a:moveTo>
                <a:lnTo>
                  <a:pt x="0" y="0"/>
                </a:lnTo>
                <a:lnTo>
                  <a:pt x="18147" y="872"/>
                </a:lnTo>
                <a:lnTo>
                  <a:pt x="12020" y="30271"/>
                </a:lnTo>
                <a:lnTo>
                  <a:pt x="0" y="3027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TextBox 512"/>
          <p:cNvSpPr txBox="1"/>
          <p:nvPr/>
        </p:nvSpPr>
        <p:spPr>
          <a:xfrm>
            <a:off x="5166221" y="4169192"/>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0A2373"/>
                </a:solidFill>
                <a:latin typeface="Lato"/>
              </a:defRPr>
            </a:pPr>
            <a:r>
              <a:t>Durban</a:t>
            </a:r>
          </a:p>
        </p:txBody>
      </p:sp>
      <p:sp>
        <p:nvSpPr>
          <p:cNvPr id="514" name="Diamond 513"/>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TextBox 514"/>
          <p:cNvSpPr txBox="1"/>
          <p:nvPr/>
        </p:nvSpPr>
        <p:spPr>
          <a:xfrm>
            <a:off x="4603291" y="3266119"/>
            <a:ext cx="1051560" cy="265176"/>
          </a:xfrm>
          <a:prstGeom prst="rect">
            <a:avLst/>
          </a:prstGeom>
          <a:solidFill>
            <a:srgbClr val="FFFFFF"/>
          </a:solidFill>
        </p:spPr>
        <p:txBody>
          <a:bodyPr wrap="square" lIns="22860" rIns="22860" tIns="0" bIns="0">
            <a:spAutoFit/>
          </a:bodyPr>
          <a:lstStyle/>
          <a:p>
            <a:pPr>
              <a:spcAft>
                <a:spcPts val="300"/>
              </a:spcAft>
              <a:defRPr sz="1100" b="0">
                <a:solidFill>
                  <a:srgbClr val="0A2373"/>
                </a:solidFill>
                <a:latin typeface="Lato"/>
              </a:defRPr>
            </a:pPr>
            <a:r>
              <a:t>Lesedi*</a:t>
            </a:r>
          </a:p>
        </p:txBody>
      </p:sp>
      <p:sp>
        <p:nvSpPr>
          <p:cNvPr id="516" name="TextBox 515"/>
          <p:cNvSpPr txBox="1"/>
          <p:nvPr/>
        </p:nvSpPr>
        <p:spPr>
          <a:xfrm>
            <a:off x="731520" y="2487168"/>
            <a:ext cx="2743200" cy="768096"/>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Inland market | illustrative</a:t>
            </a:r>
          </a:p>
          <a:p>
            <a:pPr>
              <a:spcAft>
                <a:spcPts val="300"/>
              </a:spcAft>
              <a:defRPr sz="1100" b="1">
                <a:solidFill>
                  <a:srgbClr val="0A2373"/>
                </a:solidFill>
                <a:latin typeface="Lato"/>
              </a:defRPr>
            </a:pPr>
            <a:r>
              <a:t>Demand 10.0 | envelope 6.0</a:t>
            </a:r>
          </a:p>
          <a:p>
            <a:pPr>
              <a:spcAft>
                <a:spcPts val="300"/>
              </a:spcAft>
              <a:defRPr sz="1100" b="1">
                <a:solidFill>
                  <a:srgbClr val="0A2373"/>
                </a:solidFill>
                <a:latin typeface="Lato"/>
              </a:defRPr>
            </a:pPr>
            <a:r>
              <a:t>Current 2.0 | candidate 4.0</a:t>
            </a:r>
          </a:p>
        </p:txBody>
      </p:sp>
      <p:sp>
        <p:nvSpPr>
          <p:cNvPr id="517" name="TextBox 516"/>
          <p:cNvSpPr txBox="1"/>
          <p:nvPr/>
        </p:nvSpPr>
        <p:spPr>
          <a:xfrm>
            <a:off x="4151376" y="5047488"/>
            <a:ext cx="2743200" cy="768096"/>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Eastern/coastal | illustrative</a:t>
            </a:r>
          </a:p>
          <a:p>
            <a:pPr>
              <a:spcAft>
                <a:spcPts val="300"/>
              </a:spcAft>
              <a:defRPr sz="1100" b="1">
                <a:solidFill>
                  <a:srgbClr val="0A2373"/>
                </a:solidFill>
                <a:latin typeface="Lato"/>
              </a:defRPr>
            </a:pPr>
            <a:r>
              <a:t>Demand 4.5 | envelope 2.5</a:t>
            </a:r>
          </a:p>
          <a:p>
            <a:pPr>
              <a:spcAft>
                <a:spcPts val="300"/>
              </a:spcAft>
              <a:defRPr sz="1100" b="1">
                <a:solidFill>
                  <a:srgbClr val="0A2373"/>
                </a:solidFill>
                <a:latin typeface="Lato"/>
              </a:defRPr>
            </a:pPr>
            <a:r>
              <a:t>Current 1.0 | candidate 1.5</a:t>
            </a:r>
          </a:p>
        </p:txBody>
      </p:sp>
      <p:sp>
        <p:nvSpPr>
          <p:cNvPr id="518" name="Rectangle 517"/>
          <p:cNvSpPr/>
          <p:nvPr/>
        </p:nvSpPr>
        <p:spPr>
          <a:xfrm>
            <a:off x="507492" y="5966460"/>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TextBox 518"/>
          <p:cNvSpPr txBox="1"/>
          <p:nvPr/>
        </p:nvSpPr>
        <p:spPr>
          <a:xfrm>
            <a:off x="685800"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≤0.75</a:t>
            </a:r>
          </a:p>
        </p:txBody>
      </p:sp>
      <p:sp>
        <p:nvSpPr>
          <p:cNvPr id="520" name="Rectangle 519"/>
          <p:cNvSpPr/>
          <p:nvPr/>
        </p:nvSpPr>
        <p:spPr>
          <a:xfrm>
            <a:off x="1440180" y="5966460"/>
            <a:ext cx="100584" cy="100584"/>
          </a:xfrm>
          <a:prstGeom prst="rect">
            <a:avLst/>
          </a:prstGeom>
          <a:solidFill>
            <a:srgbClr val="37579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TextBox 520"/>
          <p:cNvSpPr txBox="1"/>
          <p:nvPr/>
        </p:nvSpPr>
        <p:spPr>
          <a:xfrm>
            <a:off x="1618488"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0.75–1.25</a:t>
            </a:r>
          </a:p>
        </p:txBody>
      </p:sp>
      <p:sp>
        <p:nvSpPr>
          <p:cNvPr id="522" name="Rectangle 521"/>
          <p:cNvSpPr/>
          <p:nvPr/>
        </p:nvSpPr>
        <p:spPr>
          <a:xfrm>
            <a:off x="2372868" y="5966460"/>
            <a:ext cx="100584" cy="100584"/>
          </a:xfrm>
          <a:prstGeom prst="rect">
            <a:avLst/>
          </a:prstGeom>
          <a:solidFill>
            <a:srgbClr val="728BBB"/>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TextBox 522"/>
          <p:cNvSpPr txBox="1"/>
          <p:nvPr/>
        </p:nvSpPr>
        <p:spPr>
          <a:xfrm>
            <a:off x="2551176"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1.25–1.75</a:t>
            </a:r>
          </a:p>
        </p:txBody>
      </p:sp>
      <p:sp>
        <p:nvSpPr>
          <p:cNvPr id="524" name="Rectangle 523"/>
          <p:cNvSpPr/>
          <p:nvPr/>
        </p:nvSpPr>
        <p:spPr>
          <a:xfrm>
            <a:off x="3305556" y="5966460"/>
            <a:ext cx="100584" cy="100584"/>
          </a:xfrm>
          <a:prstGeom prst="rect">
            <a:avLst/>
          </a:prstGeom>
          <a:solidFill>
            <a:srgbClr val="A9BDDC"/>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5" name="TextBox 524"/>
          <p:cNvSpPr txBox="1"/>
          <p:nvPr/>
        </p:nvSpPr>
        <p:spPr>
          <a:xfrm>
            <a:off x="3483864"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1.75–2.25</a:t>
            </a:r>
          </a:p>
        </p:txBody>
      </p:sp>
      <p:sp>
        <p:nvSpPr>
          <p:cNvPr id="526" name="Rectangle 525"/>
          <p:cNvSpPr/>
          <p:nvPr/>
        </p:nvSpPr>
        <p:spPr>
          <a:xfrm>
            <a:off x="4238244" y="5966460"/>
            <a:ext cx="100584" cy="100584"/>
          </a:xfrm>
          <a:prstGeom prst="rect">
            <a:avLst/>
          </a:prstGeom>
          <a:solidFill>
            <a:srgbClr val="DDE6F2"/>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TextBox 526"/>
          <p:cNvSpPr txBox="1"/>
          <p:nvPr/>
        </p:nvSpPr>
        <p:spPr>
          <a:xfrm>
            <a:off x="4416552" y="5888736"/>
            <a:ext cx="96012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&gt;2.25</a:t>
            </a:r>
          </a:p>
        </p:txBody>
      </p:sp>
      <p:sp>
        <p:nvSpPr>
          <p:cNvPr id="528" name="Rectangle 527"/>
          <p:cNvSpPr/>
          <p:nvPr/>
        </p:nvSpPr>
        <p:spPr>
          <a:xfrm>
            <a:off x="5253228" y="5966460"/>
            <a:ext cx="100584" cy="100584"/>
          </a:xfrm>
          <a:prstGeom prst="rect">
            <a:avLst/>
          </a:pr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TextBox 528"/>
          <p:cNvSpPr txBox="1"/>
          <p:nvPr/>
        </p:nvSpPr>
        <p:spPr>
          <a:xfrm>
            <a:off x="5431536" y="5888736"/>
            <a:ext cx="123444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Unassessed</a:t>
            </a:r>
          </a:p>
        </p:txBody>
      </p:sp>
      <p:sp>
        <p:nvSpPr>
          <p:cNvPr id="531" name="TextBox 530"/>
          <p:cNvSpPr txBox="1"/>
          <p:nvPr/>
        </p:nvSpPr>
        <p:spPr>
          <a:xfrm>
            <a:off x="457200" y="6144768"/>
            <a:ext cx="6446520" cy="210312"/>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Receipts 2.8 + 2.0 − transfer 1.8 = unique demand 3.0</a:t>
            </a:r>
          </a:p>
        </p:txBody>
      </p:sp>
      <p:sp>
        <p:nvSpPr>
          <p:cNvPr id="532" name="TextBox 531"/>
          <p:cNvSpPr txBox="1"/>
          <p:nvPr/>
        </p:nvSpPr>
        <p:spPr>
          <a:xfrm>
            <a:off x="457200" y="6391656"/>
            <a:ext cx="649224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Example rates: R0.15/L + R0.002/L/km. Grey = unassessed. Volumes: bn L/year.</a:t>
            </a:r>
          </a:p>
        </p:txBody>
      </p:sp>
      <p:sp>
        <p:nvSpPr>
          <p:cNvPr id="2521" name="Transnet lease overlay: Isosceles Triangle 2520"/>
          <p:cNvSpPr/>
          <p:nvPr/>
        </p:nvSpPr>
        <p:spPr>
          <a:xfrm>
            <a:off x="4748449" y="3924272"/>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22" name="Transnet lease overlay: Connector 2521"/>
          <p:cNvCxnSpPr/>
          <p:nvPr/>
        </p:nvCxnSpPr>
        <p:spPr>
          <a:xfrm>
            <a:off x="4785025" y="3960848"/>
            <a:ext cx="137160" cy="9144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523" name="Transnet lease overlay: TextBox 2522"/>
          <p:cNvSpPr txBox="1"/>
          <p:nvPr/>
        </p:nvSpPr>
        <p:spPr>
          <a:xfrm>
            <a:off x="4858177" y="398828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1</a:t>
            </a:r>
          </a:p>
        </p:txBody>
      </p:sp>
      <p:sp>
        <p:nvSpPr>
          <p:cNvPr id="2524" name="Transnet lease overlay: Isosceles Triangle 2523"/>
          <p:cNvSpPr/>
          <p:nvPr/>
        </p:nvSpPr>
        <p:spPr>
          <a:xfrm>
            <a:off x="4635581" y="3512195"/>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25" name="Transnet lease overlay: Connector 2524"/>
          <p:cNvCxnSpPr/>
          <p:nvPr/>
        </p:nvCxnSpPr>
        <p:spPr>
          <a:xfrm flipV="1">
            <a:off x="4672157" y="3503051"/>
            <a:ext cx="137160"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526" name="Transnet lease overlay: TextBox 2525"/>
          <p:cNvSpPr txBox="1"/>
          <p:nvPr/>
        </p:nvSpPr>
        <p:spPr>
          <a:xfrm>
            <a:off x="4745309" y="3439043"/>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2</a:t>
            </a:r>
          </a:p>
        </p:txBody>
      </p:sp>
      <p:sp>
        <p:nvSpPr>
          <p:cNvPr id="2527" name="Transnet lease overlay: Isosceles Triangle 2526"/>
          <p:cNvSpPr/>
          <p:nvPr/>
        </p:nvSpPr>
        <p:spPr>
          <a:xfrm>
            <a:off x="4174679" y="368561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28" name="Transnet lease overlay: Connector 2527"/>
          <p:cNvCxnSpPr/>
          <p:nvPr/>
        </p:nvCxnSpPr>
        <p:spPr>
          <a:xfrm flipH="1" flipV="1">
            <a:off x="3909503" y="3676466"/>
            <a:ext cx="301752"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529" name="Transnet lease overlay: TextBox 2528"/>
          <p:cNvSpPr txBox="1"/>
          <p:nvPr/>
        </p:nvSpPr>
        <p:spPr>
          <a:xfrm>
            <a:off x="3845495" y="3612458"/>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3</a:t>
            </a:r>
          </a:p>
        </p:txBody>
      </p:sp>
      <p:sp>
        <p:nvSpPr>
          <p:cNvPr id="2530" name="Transnet lease overlay: Isosceles Triangle 2529"/>
          <p:cNvSpPr/>
          <p:nvPr/>
        </p:nvSpPr>
        <p:spPr>
          <a:xfrm>
            <a:off x="4414479" y="3832751"/>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31" name="Transnet lease overlay: Connector 2530"/>
          <p:cNvCxnSpPr/>
          <p:nvPr/>
        </p:nvCxnSpPr>
        <p:spPr>
          <a:xfrm flipH="1">
            <a:off x="4377903" y="3869327"/>
            <a:ext cx="73152" cy="12801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532" name="Transnet lease overlay: TextBox 2531"/>
          <p:cNvSpPr txBox="1"/>
          <p:nvPr/>
        </p:nvSpPr>
        <p:spPr>
          <a:xfrm>
            <a:off x="4313895" y="3933335"/>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4</a:t>
            </a:r>
          </a:p>
        </p:txBody>
      </p:sp>
      <p:sp>
        <p:nvSpPr>
          <p:cNvPr id="2533" name="Transnet lease overlay: Isosceles Triangle 2532"/>
          <p:cNvSpPr/>
          <p:nvPr/>
        </p:nvSpPr>
        <p:spPr>
          <a:xfrm>
            <a:off x="4194803" y="3670658"/>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34" name="Transnet lease overlay: Connector 2533"/>
          <p:cNvCxnSpPr/>
          <p:nvPr/>
        </p:nvCxnSpPr>
        <p:spPr>
          <a:xfrm flipH="1" flipV="1">
            <a:off x="4094219" y="3624938"/>
            <a:ext cx="137160" cy="8229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535" name="Transnet lease overlay: TextBox 2534"/>
          <p:cNvSpPr txBox="1"/>
          <p:nvPr/>
        </p:nvSpPr>
        <p:spPr>
          <a:xfrm>
            <a:off x="4030211" y="356093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5</a:t>
            </a:r>
          </a:p>
        </p:txBody>
      </p:sp>
      <p:sp>
        <p:nvSpPr>
          <p:cNvPr id="2536" name="Transnet lease overlay: TextBox 2535"/>
          <p:cNvSpPr txBox="1"/>
          <p:nvPr/>
        </p:nvSpPr>
        <p:spPr>
          <a:xfrm>
            <a:off x="594360" y="3776472"/>
            <a:ext cx="2029968" cy="932688"/>
          </a:xfrm>
          <a:prstGeom prst="rect">
            <a:avLst/>
          </a:prstGeom>
          <a:solidFill>
            <a:srgbClr val="FFFFFF"/>
          </a:solidFill>
        </p:spPr>
        <p:txBody>
          <a:bodyPr wrap="square" lIns="22860" rIns="22860" tIns="0" bIns="0">
            <a:spAutoFit/>
          </a:bodyPr>
          <a:lstStyle/>
          <a:p>
            <a:pPr>
              <a:spcAft>
                <a:spcPts val="300"/>
              </a:spcAft>
              <a:defRPr sz="1100" b="1">
                <a:solidFill>
                  <a:srgbClr val="000000"/>
                </a:solidFill>
                <a:latin typeface="Lato"/>
              </a:defRPr>
            </a:pPr>
            <a:r>
              <a:t>   Transnet lease offers</a:t>
            </a:r>
          </a:p>
          <a:p>
            <a:pPr>
              <a:spcAft>
                <a:spcPts val="300"/>
              </a:spcAft>
              <a:defRPr sz="1100" b="1">
                <a:solidFill>
                  <a:srgbClr val="000000"/>
                </a:solidFill>
                <a:latin typeface="Lato"/>
              </a:defRPr>
            </a:pPr>
            <a:r>
              <a:t>1 Ladysmith | 2 Standerton</a:t>
            </a:r>
          </a:p>
          <a:p>
            <a:pPr>
              <a:spcAft>
                <a:spcPts val="300"/>
              </a:spcAft>
              <a:defRPr sz="1100" b="1">
                <a:solidFill>
                  <a:srgbClr val="000000"/>
                </a:solidFill>
                <a:latin typeface="Lato"/>
              </a:defRPr>
            </a:pPr>
            <a:r>
              <a:t>3 Kroonstad | 4 Bethlehem</a:t>
            </a:r>
          </a:p>
          <a:p>
            <a:pPr>
              <a:spcAft>
                <a:spcPts val="300"/>
              </a:spcAft>
              <a:defRPr sz="1100" b="1">
                <a:solidFill>
                  <a:srgbClr val="000000"/>
                </a:solidFill>
                <a:latin typeface="Lato"/>
              </a:defRPr>
            </a:pPr>
            <a:r>
              <a:t>5 Magdala*</a:t>
            </a:r>
          </a:p>
        </p:txBody>
      </p:sp>
      <p:sp>
        <p:nvSpPr>
          <p:cNvPr id="2537" name="Transnet lease overlay: Isosceles Triangle 2536"/>
          <p:cNvSpPr/>
          <p:nvPr/>
        </p:nvSpPr>
        <p:spPr>
          <a:xfrm>
            <a:off x="612647" y="3808476"/>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l="26237" r="26237"/>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t>Agree priorities</a:t>
            </a:r>
          </a:p>
          <a:p>
            <a:pPr>
              <a:spcAft>
                <a:spcPts val="800"/>
              </a:spcAft>
              <a:defRPr sz="3100" b="0">
                <a:solidFill>
                  <a:srgbClr val="FFFFFF"/>
                </a:solidFill>
                <a:latin typeface="Lato"/>
              </a:defRPr>
            </a:pPr>
            <a:r>
              <a:t>and next steps</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t>Confirm demand, routes and access</a:t>
            </a:r>
          </a:p>
        </p:txBody>
      </p:sp>
      <p:sp>
        <p:nvSpPr>
          <p:cNvPr id="8" name="TextBox 7"/>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6 October 2026</a:t>
            </a:r>
          </a:p>
        </p:txBody>
      </p:sp>
      <p:sp>
        <p:nvSpPr>
          <p:cNvPr id="9" name="TextBox 8"/>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t>Internal working discussion</a:t>
            </a:r>
          </a:p>
        </p:txBody>
      </p:sp>
      <p:sp>
        <p:nvSpPr>
          <p:cNvPr id="10"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t>Photo source: Royal Vopak | Terminal Lesedi | vopak.com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Locate fuel demand alongside the infrastructure serving it</a:t>
            </a:r>
          </a:p>
        </p:txBody>
      </p:sp>
      <p:sp>
        <p:nvSpPr>
          <p:cNvPr id="3" name="Slide Number Placeholder"/>
          <p:cNvSpPr>
            <a:spLocks noGrp="1"/>
          </p:cNvSpPr>
          <p:nvPr>
            <p:ph type="sldNum" sz="quarter" idx="12"/>
          </p:nvPr>
        </p:nvSpPr>
        <p:spPr/>
        <p:txBody>
          <a:bodyPr/>
          <a:lstStyle/>
          <a:p>
            <a:fld id="{CA7E068B-BB5A-480C-AFD4-C945B262DFE0}"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sales; geoBoundaries/OCHA/MDB 2020 provinces (CC BY 3.0 IGO); operator sources on slide 7.</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t>Petrol + diesel sales by province | 2022,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800" b="1">
                <a:solidFill>
                  <a:srgbClr val="000000"/>
                </a:solidFill>
                <a:latin typeface="Lato"/>
              </a:defRPr>
            </a:pPr>
            <a:r>
              <a:t>Key takeaways</a:t>
            </a:r>
          </a:p>
        </p:txBody>
      </p: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424927" y="218541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Demand concentrates in three provinces</a:t>
            </a:r>
          </a:p>
        </p:txBody>
      </p:sp>
      <p:sp>
        <p:nvSpPr>
          <p:cNvPr id="15" name="TextBox 14"/>
          <p:cNvSpPr txBox="1"/>
          <p:nvPr/>
        </p:nvSpPr>
        <p:spPr>
          <a:xfrm>
            <a:off x="7424927" y="257860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Gauteng 6.81, KwaZulu-Natal 4.28 and Western Cape 3.93 bn litres represent 68.6% of reported sales.</a:t>
            </a:r>
          </a:p>
        </p:txBody>
      </p:sp>
      <p:sp>
        <p:nvSpPr>
          <p:cNvPr id="16" name="TextBox 15"/>
          <p:cNvSpPr txBox="1"/>
          <p:nvPr/>
        </p:nvSpPr>
        <p:spPr>
          <a:xfrm>
            <a:off x="7424927" y="319125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Regions have explicit boundaries</a:t>
            </a:r>
          </a:p>
        </p:txBody>
      </p:sp>
      <p:sp>
        <p:nvSpPr>
          <p:cNvPr id="17" name="TextBox 16"/>
          <p:cNvSpPr txBox="1"/>
          <p:nvPr/>
        </p:nvSpPr>
        <p:spPr>
          <a:xfrm>
            <a:off x="7424927" y="358444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Eastern coast = EC + KZN; inland = GP, FS, LP, MP and NW; western coast = WC; other = NC. These are working groupings.</a:t>
            </a:r>
          </a:p>
        </p:txBody>
      </p:sp>
      <p:sp>
        <p:nvSpPr>
          <p:cNvPr id="18" name="TextBox 17"/>
          <p:cNvSpPr txBox="1"/>
          <p:nvPr/>
        </p:nvSpPr>
        <p:spPr>
          <a:xfrm>
            <a:off x="7424927" y="419709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Five Transnet lease offers added</a:t>
            </a:r>
          </a:p>
        </p:txBody>
      </p:sp>
      <p:sp>
        <p:nvSpPr>
          <p:cNvPr id="19" name="TextBox 18"/>
          <p:cNvSpPr txBox="1"/>
          <p:nvPr/>
        </p:nvSpPr>
        <p:spPr>
          <a:xfrm>
            <a:off x="7424927" y="459028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Numbered triangles locate stranded depots offered for lease. Refurbishment, licensing and customer access remain conditional.</a:t>
            </a:r>
          </a:p>
        </p:txBody>
      </p:sp>
      <p:sp>
        <p:nvSpPr>
          <p:cNvPr id="20" name="TextBox 19"/>
          <p:cNvSpPr txBox="1"/>
          <p:nvPr/>
        </p:nvSpPr>
        <p:spPr>
          <a:xfrm>
            <a:off x="7424927" y="520293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04 · Sales do not establish accessible volume</a:t>
            </a:r>
          </a:p>
        </p:txBody>
      </p:sp>
      <p:sp>
        <p:nvSpPr>
          <p:cNvPr id="21" name="TextBox 20"/>
          <p:cNvSpPr txBox="1"/>
          <p:nvPr/>
        </p:nvSpPr>
        <p:spPr>
          <a:xfrm>
            <a:off x="7424927" y="559612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All four quarters of 2022 reconcile to national sales. Current demand, delivered cost and customer rights need separate evidence.</a:t>
            </a:r>
          </a:p>
        </p:txBody>
      </p: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2022 provincial petrol/diesel sales: EC"/>
          <p:cNvSpPr/>
          <p:nvPr/>
        </p:nvSpPr>
        <p:spPr>
          <a:xfrm>
            <a:off x="3217820" y="4327517"/>
            <a:ext cx="1626648" cy="1062036"/>
          </a:xfrm>
          <a:custGeom>
            <a:avLst/>
            <a:gdLst/>
            <a:ahLst/>
            <a:cxnLst/>
            <a:rect l="l" t="t" r="r" b="b"/>
            <a:pathLst>
              <a:path w="1626648" h="1062036">
                <a:moveTo>
                  <a:pt x="1626648" y="291217"/>
                </a:moveTo>
                <a:lnTo>
                  <a:pt x="1600396" y="324955"/>
                </a:lnTo>
                <a:lnTo>
                  <a:pt x="1552222" y="372068"/>
                </a:lnTo>
                <a:lnTo>
                  <a:pt x="1532452" y="375347"/>
                </a:lnTo>
                <a:lnTo>
                  <a:pt x="1481036" y="423881"/>
                </a:lnTo>
                <a:lnTo>
                  <a:pt x="1453741" y="435408"/>
                </a:lnTo>
                <a:lnTo>
                  <a:pt x="1449105" y="446073"/>
                </a:lnTo>
                <a:lnTo>
                  <a:pt x="1438747" y="451957"/>
                </a:lnTo>
                <a:lnTo>
                  <a:pt x="1436318" y="463441"/>
                </a:lnTo>
                <a:lnTo>
                  <a:pt x="1417163" y="478127"/>
                </a:lnTo>
                <a:lnTo>
                  <a:pt x="1405540" y="498493"/>
                </a:lnTo>
                <a:lnTo>
                  <a:pt x="1388233" y="510898"/>
                </a:lnTo>
                <a:lnTo>
                  <a:pt x="1377202" y="532111"/>
                </a:lnTo>
                <a:lnTo>
                  <a:pt x="1362051" y="541960"/>
                </a:lnTo>
                <a:lnTo>
                  <a:pt x="1330982" y="581759"/>
                </a:lnTo>
                <a:lnTo>
                  <a:pt x="1308715" y="596970"/>
                </a:lnTo>
                <a:lnTo>
                  <a:pt x="1256150" y="654155"/>
                </a:lnTo>
                <a:lnTo>
                  <a:pt x="1230251" y="668343"/>
                </a:lnTo>
                <a:lnTo>
                  <a:pt x="1216543" y="686817"/>
                </a:lnTo>
                <a:lnTo>
                  <a:pt x="1165080" y="711568"/>
                </a:lnTo>
                <a:lnTo>
                  <a:pt x="1151740" y="738027"/>
                </a:lnTo>
                <a:lnTo>
                  <a:pt x="1125327" y="754410"/>
                </a:lnTo>
                <a:lnTo>
                  <a:pt x="1117376" y="766896"/>
                </a:lnTo>
                <a:lnTo>
                  <a:pt x="1074306" y="789536"/>
                </a:lnTo>
                <a:lnTo>
                  <a:pt x="1046671" y="814744"/>
                </a:lnTo>
                <a:lnTo>
                  <a:pt x="949172" y="878333"/>
                </a:lnTo>
                <a:lnTo>
                  <a:pt x="939555" y="889984"/>
                </a:lnTo>
                <a:lnTo>
                  <a:pt x="901724" y="903829"/>
                </a:lnTo>
                <a:lnTo>
                  <a:pt x="886408" y="915044"/>
                </a:lnTo>
                <a:lnTo>
                  <a:pt x="859634" y="921425"/>
                </a:lnTo>
                <a:lnTo>
                  <a:pt x="819926" y="945234"/>
                </a:lnTo>
                <a:lnTo>
                  <a:pt x="800548" y="951402"/>
                </a:lnTo>
                <a:lnTo>
                  <a:pt x="769694" y="949621"/>
                </a:lnTo>
                <a:lnTo>
                  <a:pt x="707203" y="932919"/>
                </a:lnTo>
                <a:lnTo>
                  <a:pt x="655271" y="942321"/>
                </a:lnTo>
                <a:lnTo>
                  <a:pt x="628675" y="962207"/>
                </a:lnTo>
                <a:lnTo>
                  <a:pt x="617419" y="986949"/>
                </a:lnTo>
                <a:lnTo>
                  <a:pt x="617199" y="994455"/>
                </a:lnTo>
                <a:lnTo>
                  <a:pt x="636585" y="1015956"/>
                </a:lnTo>
                <a:lnTo>
                  <a:pt x="610310" y="1020625"/>
                </a:lnTo>
                <a:lnTo>
                  <a:pt x="573395" y="1016635"/>
                </a:lnTo>
                <a:lnTo>
                  <a:pt x="529835" y="999060"/>
                </a:lnTo>
                <a:lnTo>
                  <a:pt x="490048" y="1000441"/>
                </a:lnTo>
                <a:lnTo>
                  <a:pt x="471149" y="1011118"/>
                </a:lnTo>
                <a:lnTo>
                  <a:pt x="469864" y="1027741"/>
                </a:lnTo>
                <a:lnTo>
                  <a:pt x="452936" y="1043577"/>
                </a:lnTo>
                <a:lnTo>
                  <a:pt x="450696" y="1050279"/>
                </a:lnTo>
                <a:lnTo>
                  <a:pt x="459042" y="1057644"/>
                </a:lnTo>
                <a:lnTo>
                  <a:pt x="451741" y="1062036"/>
                </a:lnTo>
                <a:lnTo>
                  <a:pt x="411111" y="1051678"/>
                </a:lnTo>
                <a:lnTo>
                  <a:pt x="403086" y="1056406"/>
                </a:lnTo>
                <a:lnTo>
                  <a:pt x="378057" y="1050435"/>
                </a:lnTo>
                <a:lnTo>
                  <a:pt x="354681" y="1034044"/>
                </a:lnTo>
                <a:lnTo>
                  <a:pt x="339416" y="1033817"/>
                </a:lnTo>
                <a:lnTo>
                  <a:pt x="314495" y="1023274"/>
                </a:lnTo>
                <a:lnTo>
                  <a:pt x="197202" y="1006379"/>
                </a:lnTo>
                <a:lnTo>
                  <a:pt x="195364" y="986818"/>
                </a:lnTo>
                <a:lnTo>
                  <a:pt x="209291" y="974144"/>
                </a:lnTo>
                <a:lnTo>
                  <a:pt x="178963" y="965525"/>
                </a:lnTo>
                <a:lnTo>
                  <a:pt x="177856" y="956453"/>
                </a:lnTo>
                <a:lnTo>
                  <a:pt x="169576" y="953672"/>
                </a:lnTo>
                <a:lnTo>
                  <a:pt x="163303" y="960252"/>
                </a:lnTo>
                <a:lnTo>
                  <a:pt x="143142" y="956718"/>
                </a:lnTo>
                <a:lnTo>
                  <a:pt x="152462" y="937345"/>
                </a:lnTo>
                <a:lnTo>
                  <a:pt x="174088" y="932495"/>
                </a:lnTo>
                <a:lnTo>
                  <a:pt x="177187" y="920180"/>
                </a:lnTo>
                <a:lnTo>
                  <a:pt x="183552" y="925525"/>
                </a:lnTo>
                <a:lnTo>
                  <a:pt x="201656" y="925259"/>
                </a:lnTo>
                <a:lnTo>
                  <a:pt x="202480" y="913310"/>
                </a:lnTo>
                <a:lnTo>
                  <a:pt x="185421" y="899869"/>
                </a:lnTo>
                <a:lnTo>
                  <a:pt x="186839" y="880384"/>
                </a:lnTo>
                <a:lnTo>
                  <a:pt x="163393" y="867136"/>
                </a:lnTo>
                <a:lnTo>
                  <a:pt x="133168" y="866970"/>
                </a:lnTo>
                <a:lnTo>
                  <a:pt x="135221" y="872205"/>
                </a:lnTo>
                <a:lnTo>
                  <a:pt x="120555" y="853719"/>
                </a:lnTo>
                <a:lnTo>
                  <a:pt x="85680" y="854000"/>
                </a:lnTo>
                <a:lnTo>
                  <a:pt x="42919" y="865353"/>
                </a:lnTo>
                <a:lnTo>
                  <a:pt x="8442" y="863593"/>
                </a:lnTo>
                <a:lnTo>
                  <a:pt x="0" y="857370"/>
                </a:lnTo>
                <a:lnTo>
                  <a:pt x="377" y="839254"/>
                </a:lnTo>
                <a:lnTo>
                  <a:pt x="11249" y="834778"/>
                </a:lnTo>
                <a:lnTo>
                  <a:pt x="45596" y="774241"/>
                </a:lnTo>
                <a:lnTo>
                  <a:pt x="40770" y="761158"/>
                </a:lnTo>
                <a:lnTo>
                  <a:pt x="48217" y="753789"/>
                </a:lnTo>
                <a:lnTo>
                  <a:pt x="43585" y="742786"/>
                </a:lnTo>
                <a:lnTo>
                  <a:pt x="55889" y="722817"/>
                </a:lnTo>
                <a:lnTo>
                  <a:pt x="79366" y="718628"/>
                </a:lnTo>
                <a:lnTo>
                  <a:pt x="73248" y="703680"/>
                </a:lnTo>
                <a:lnTo>
                  <a:pt x="94332" y="695223"/>
                </a:lnTo>
                <a:lnTo>
                  <a:pt x="135896" y="709335"/>
                </a:lnTo>
                <a:lnTo>
                  <a:pt x="139796" y="693540"/>
                </a:lnTo>
                <a:lnTo>
                  <a:pt x="129817" y="693760"/>
                </a:lnTo>
                <a:lnTo>
                  <a:pt x="125528" y="678428"/>
                </a:lnTo>
                <a:lnTo>
                  <a:pt x="111699" y="670412"/>
                </a:lnTo>
                <a:lnTo>
                  <a:pt x="118492" y="665275"/>
                </a:lnTo>
                <a:lnTo>
                  <a:pt x="119628" y="654983"/>
                </a:lnTo>
                <a:lnTo>
                  <a:pt x="115240" y="639594"/>
                </a:lnTo>
                <a:lnTo>
                  <a:pt x="105613" y="630023"/>
                </a:lnTo>
                <a:lnTo>
                  <a:pt x="100288" y="607545"/>
                </a:lnTo>
                <a:lnTo>
                  <a:pt x="118782" y="599818"/>
                </a:lnTo>
                <a:lnTo>
                  <a:pt x="124194" y="588285"/>
                </a:lnTo>
                <a:lnTo>
                  <a:pt x="141021" y="597784"/>
                </a:lnTo>
                <a:lnTo>
                  <a:pt x="149277" y="580807"/>
                </a:lnTo>
                <a:lnTo>
                  <a:pt x="196329" y="585582"/>
                </a:lnTo>
                <a:lnTo>
                  <a:pt x="199156" y="581682"/>
                </a:lnTo>
                <a:lnTo>
                  <a:pt x="192646" y="573804"/>
                </a:lnTo>
                <a:lnTo>
                  <a:pt x="197151" y="558315"/>
                </a:lnTo>
                <a:lnTo>
                  <a:pt x="217819" y="543010"/>
                </a:lnTo>
                <a:lnTo>
                  <a:pt x="245460" y="562227"/>
                </a:lnTo>
                <a:lnTo>
                  <a:pt x="260319" y="549702"/>
                </a:lnTo>
                <a:lnTo>
                  <a:pt x="275388" y="546236"/>
                </a:lnTo>
                <a:lnTo>
                  <a:pt x="276942" y="537181"/>
                </a:lnTo>
                <a:lnTo>
                  <a:pt x="290476" y="538574"/>
                </a:lnTo>
                <a:lnTo>
                  <a:pt x="298102" y="528065"/>
                </a:lnTo>
                <a:lnTo>
                  <a:pt x="292390" y="518171"/>
                </a:lnTo>
                <a:lnTo>
                  <a:pt x="289875" y="524965"/>
                </a:lnTo>
                <a:lnTo>
                  <a:pt x="290873" y="514499"/>
                </a:lnTo>
                <a:lnTo>
                  <a:pt x="299166" y="509697"/>
                </a:lnTo>
                <a:lnTo>
                  <a:pt x="299043" y="499556"/>
                </a:lnTo>
                <a:lnTo>
                  <a:pt x="309628" y="499618"/>
                </a:lnTo>
                <a:lnTo>
                  <a:pt x="316725" y="485090"/>
                </a:lnTo>
                <a:lnTo>
                  <a:pt x="303920" y="471564"/>
                </a:lnTo>
                <a:lnTo>
                  <a:pt x="291087" y="472795"/>
                </a:lnTo>
                <a:lnTo>
                  <a:pt x="294946" y="457501"/>
                </a:lnTo>
                <a:lnTo>
                  <a:pt x="301452" y="459432"/>
                </a:lnTo>
                <a:lnTo>
                  <a:pt x="301718" y="451135"/>
                </a:lnTo>
                <a:lnTo>
                  <a:pt x="308010" y="448737"/>
                </a:lnTo>
                <a:lnTo>
                  <a:pt x="301562" y="444954"/>
                </a:lnTo>
                <a:lnTo>
                  <a:pt x="303037" y="430067"/>
                </a:lnTo>
                <a:lnTo>
                  <a:pt x="330074" y="436289"/>
                </a:lnTo>
                <a:lnTo>
                  <a:pt x="342169" y="423083"/>
                </a:lnTo>
                <a:lnTo>
                  <a:pt x="360237" y="422427"/>
                </a:lnTo>
                <a:lnTo>
                  <a:pt x="357871" y="416522"/>
                </a:lnTo>
                <a:lnTo>
                  <a:pt x="364168" y="422656"/>
                </a:lnTo>
                <a:lnTo>
                  <a:pt x="380104" y="420630"/>
                </a:lnTo>
                <a:lnTo>
                  <a:pt x="381038" y="367662"/>
                </a:lnTo>
                <a:lnTo>
                  <a:pt x="389663" y="363520"/>
                </a:lnTo>
                <a:lnTo>
                  <a:pt x="391430" y="347348"/>
                </a:lnTo>
                <a:lnTo>
                  <a:pt x="397756" y="342348"/>
                </a:lnTo>
                <a:lnTo>
                  <a:pt x="412866" y="338330"/>
                </a:lnTo>
                <a:lnTo>
                  <a:pt x="422899" y="344915"/>
                </a:lnTo>
                <a:lnTo>
                  <a:pt x="440024" y="339750"/>
                </a:lnTo>
                <a:lnTo>
                  <a:pt x="448094" y="331309"/>
                </a:lnTo>
                <a:lnTo>
                  <a:pt x="456304" y="335672"/>
                </a:lnTo>
                <a:lnTo>
                  <a:pt x="454121" y="324062"/>
                </a:lnTo>
                <a:lnTo>
                  <a:pt x="471825" y="322043"/>
                </a:lnTo>
                <a:lnTo>
                  <a:pt x="487650" y="307388"/>
                </a:lnTo>
                <a:lnTo>
                  <a:pt x="499266" y="308998"/>
                </a:lnTo>
                <a:lnTo>
                  <a:pt x="523898" y="301297"/>
                </a:lnTo>
                <a:lnTo>
                  <a:pt x="532823" y="289272"/>
                </a:lnTo>
                <a:lnTo>
                  <a:pt x="564344" y="300575"/>
                </a:lnTo>
                <a:lnTo>
                  <a:pt x="571349" y="295952"/>
                </a:lnTo>
                <a:lnTo>
                  <a:pt x="571045" y="278847"/>
                </a:lnTo>
                <a:lnTo>
                  <a:pt x="584703" y="265910"/>
                </a:lnTo>
                <a:lnTo>
                  <a:pt x="583079" y="256002"/>
                </a:lnTo>
                <a:lnTo>
                  <a:pt x="596965" y="242220"/>
                </a:lnTo>
                <a:lnTo>
                  <a:pt x="591132" y="236182"/>
                </a:lnTo>
                <a:lnTo>
                  <a:pt x="599085" y="229013"/>
                </a:lnTo>
                <a:lnTo>
                  <a:pt x="600655" y="215154"/>
                </a:lnTo>
                <a:lnTo>
                  <a:pt x="590431" y="207010"/>
                </a:lnTo>
                <a:lnTo>
                  <a:pt x="607753" y="186914"/>
                </a:lnTo>
                <a:lnTo>
                  <a:pt x="592496" y="183760"/>
                </a:lnTo>
                <a:lnTo>
                  <a:pt x="589765" y="144179"/>
                </a:lnTo>
                <a:lnTo>
                  <a:pt x="610847" y="142256"/>
                </a:lnTo>
                <a:lnTo>
                  <a:pt x="618483" y="135653"/>
                </a:lnTo>
                <a:lnTo>
                  <a:pt x="624657" y="144364"/>
                </a:lnTo>
                <a:lnTo>
                  <a:pt x="622161" y="152462"/>
                </a:lnTo>
                <a:lnTo>
                  <a:pt x="635844" y="148468"/>
                </a:lnTo>
                <a:lnTo>
                  <a:pt x="639716" y="157701"/>
                </a:lnTo>
                <a:lnTo>
                  <a:pt x="655389" y="160971"/>
                </a:lnTo>
                <a:lnTo>
                  <a:pt x="661857" y="147863"/>
                </a:lnTo>
                <a:lnTo>
                  <a:pt x="683577" y="141154"/>
                </a:lnTo>
                <a:lnTo>
                  <a:pt x="682521" y="124151"/>
                </a:lnTo>
                <a:lnTo>
                  <a:pt x="692479" y="134772"/>
                </a:lnTo>
                <a:lnTo>
                  <a:pt x="702772" y="122864"/>
                </a:lnTo>
                <a:lnTo>
                  <a:pt x="729484" y="117552"/>
                </a:lnTo>
                <a:lnTo>
                  <a:pt x="739321" y="123721"/>
                </a:lnTo>
                <a:lnTo>
                  <a:pt x="736766" y="113428"/>
                </a:lnTo>
                <a:lnTo>
                  <a:pt x="744002" y="109255"/>
                </a:lnTo>
                <a:lnTo>
                  <a:pt x="751578" y="121630"/>
                </a:lnTo>
                <a:lnTo>
                  <a:pt x="766102" y="124714"/>
                </a:lnTo>
                <a:lnTo>
                  <a:pt x="769754" y="136677"/>
                </a:lnTo>
                <a:lnTo>
                  <a:pt x="786525" y="138229"/>
                </a:lnTo>
                <a:lnTo>
                  <a:pt x="807211" y="131917"/>
                </a:lnTo>
                <a:lnTo>
                  <a:pt x="816051" y="138295"/>
                </a:lnTo>
                <a:lnTo>
                  <a:pt x="814589" y="147437"/>
                </a:lnTo>
                <a:lnTo>
                  <a:pt x="830954" y="156458"/>
                </a:lnTo>
                <a:lnTo>
                  <a:pt x="846691" y="156075"/>
                </a:lnTo>
                <a:lnTo>
                  <a:pt x="846671" y="164297"/>
                </a:lnTo>
                <a:lnTo>
                  <a:pt x="856910" y="157698"/>
                </a:lnTo>
                <a:lnTo>
                  <a:pt x="862977" y="162743"/>
                </a:lnTo>
                <a:lnTo>
                  <a:pt x="885759" y="150925"/>
                </a:lnTo>
                <a:lnTo>
                  <a:pt x="898464" y="162575"/>
                </a:lnTo>
                <a:lnTo>
                  <a:pt x="901923" y="156357"/>
                </a:lnTo>
                <a:lnTo>
                  <a:pt x="917422" y="156354"/>
                </a:lnTo>
                <a:lnTo>
                  <a:pt x="913262" y="147558"/>
                </a:lnTo>
                <a:lnTo>
                  <a:pt x="917444" y="143314"/>
                </a:lnTo>
                <a:lnTo>
                  <a:pt x="936451" y="141853"/>
                </a:lnTo>
                <a:lnTo>
                  <a:pt x="930541" y="125533"/>
                </a:lnTo>
                <a:lnTo>
                  <a:pt x="948202" y="123480"/>
                </a:lnTo>
                <a:lnTo>
                  <a:pt x="952665" y="131304"/>
                </a:lnTo>
                <a:lnTo>
                  <a:pt x="959866" y="124757"/>
                </a:lnTo>
                <a:lnTo>
                  <a:pt x="958298" y="119081"/>
                </a:lnTo>
                <a:lnTo>
                  <a:pt x="970610" y="123013"/>
                </a:lnTo>
                <a:lnTo>
                  <a:pt x="976640" y="113498"/>
                </a:lnTo>
                <a:lnTo>
                  <a:pt x="980275" y="119341"/>
                </a:lnTo>
                <a:lnTo>
                  <a:pt x="982581" y="111978"/>
                </a:lnTo>
                <a:lnTo>
                  <a:pt x="995498" y="120147"/>
                </a:lnTo>
                <a:lnTo>
                  <a:pt x="1002261" y="113080"/>
                </a:lnTo>
                <a:lnTo>
                  <a:pt x="996312" y="102787"/>
                </a:lnTo>
                <a:lnTo>
                  <a:pt x="1011446" y="101386"/>
                </a:lnTo>
                <a:lnTo>
                  <a:pt x="1001657" y="97647"/>
                </a:lnTo>
                <a:lnTo>
                  <a:pt x="1005040" y="91350"/>
                </a:lnTo>
                <a:lnTo>
                  <a:pt x="1013406" y="94218"/>
                </a:lnTo>
                <a:lnTo>
                  <a:pt x="1019395" y="90128"/>
                </a:lnTo>
                <a:lnTo>
                  <a:pt x="1008113" y="73675"/>
                </a:lnTo>
                <a:lnTo>
                  <a:pt x="1017203" y="76634"/>
                </a:lnTo>
                <a:lnTo>
                  <a:pt x="1030933" y="70206"/>
                </a:lnTo>
                <a:lnTo>
                  <a:pt x="1038546" y="85673"/>
                </a:lnTo>
                <a:lnTo>
                  <a:pt x="1052509" y="93073"/>
                </a:lnTo>
                <a:lnTo>
                  <a:pt x="1055407" y="104303"/>
                </a:lnTo>
                <a:lnTo>
                  <a:pt x="1063453" y="105305"/>
                </a:lnTo>
                <a:lnTo>
                  <a:pt x="1064500" y="117508"/>
                </a:lnTo>
                <a:lnTo>
                  <a:pt x="1082101" y="129478"/>
                </a:lnTo>
                <a:lnTo>
                  <a:pt x="1093114" y="145870"/>
                </a:lnTo>
                <a:lnTo>
                  <a:pt x="1104866" y="150040"/>
                </a:lnTo>
                <a:lnTo>
                  <a:pt x="1131525" y="146131"/>
                </a:lnTo>
                <a:lnTo>
                  <a:pt x="1136779" y="157219"/>
                </a:lnTo>
                <a:lnTo>
                  <a:pt x="1168558" y="160562"/>
                </a:lnTo>
                <a:lnTo>
                  <a:pt x="1174818" y="166255"/>
                </a:lnTo>
                <a:lnTo>
                  <a:pt x="1175253" y="146890"/>
                </a:lnTo>
                <a:lnTo>
                  <a:pt x="1183788" y="143059"/>
                </a:lnTo>
                <a:lnTo>
                  <a:pt x="1189922" y="128185"/>
                </a:lnTo>
                <a:lnTo>
                  <a:pt x="1185757" y="112789"/>
                </a:lnTo>
                <a:lnTo>
                  <a:pt x="1192569" y="105213"/>
                </a:lnTo>
                <a:lnTo>
                  <a:pt x="1208565" y="101083"/>
                </a:lnTo>
                <a:lnTo>
                  <a:pt x="1211712" y="84792"/>
                </a:lnTo>
                <a:lnTo>
                  <a:pt x="1198193" y="68443"/>
                </a:lnTo>
                <a:lnTo>
                  <a:pt x="1204924" y="60731"/>
                </a:lnTo>
                <a:lnTo>
                  <a:pt x="1229466" y="54241"/>
                </a:lnTo>
                <a:lnTo>
                  <a:pt x="1234213" y="38136"/>
                </a:lnTo>
                <a:lnTo>
                  <a:pt x="1242109" y="31979"/>
                </a:lnTo>
                <a:lnTo>
                  <a:pt x="1258170" y="35499"/>
                </a:lnTo>
                <a:lnTo>
                  <a:pt x="1275789" y="27073"/>
                </a:lnTo>
                <a:lnTo>
                  <a:pt x="1301627" y="33007"/>
                </a:lnTo>
                <a:lnTo>
                  <a:pt x="1343760" y="21407"/>
                </a:lnTo>
                <a:lnTo>
                  <a:pt x="1379968" y="0"/>
                </a:lnTo>
                <a:lnTo>
                  <a:pt x="1402758" y="25620"/>
                </a:lnTo>
                <a:lnTo>
                  <a:pt x="1397903" y="45505"/>
                </a:lnTo>
                <a:lnTo>
                  <a:pt x="1404552" y="67280"/>
                </a:lnTo>
                <a:lnTo>
                  <a:pt x="1430477" y="79371"/>
                </a:lnTo>
                <a:lnTo>
                  <a:pt x="1426871" y="69525"/>
                </a:lnTo>
                <a:lnTo>
                  <a:pt x="1440782" y="83662"/>
                </a:lnTo>
                <a:lnTo>
                  <a:pt x="1440906" y="98966"/>
                </a:lnTo>
                <a:lnTo>
                  <a:pt x="1434755" y="97816"/>
                </a:lnTo>
                <a:lnTo>
                  <a:pt x="1435755" y="102841"/>
                </a:lnTo>
                <a:lnTo>
                  <a:pt x="1416416" y="112042"/>
                </a:lnTo>
                <a:lnTo>
                  <a:pt x="1411347" y="132691"/>
                </a:lnTo>
                <a:lnTo>
                  <a:pt x="1405434" y="131113"/>
                </a:lnTo>
                <a:lnTo>
                  <a:pt x="1402962" y="137028"/>
                </a:lnTo>
                <a:lnTo>
                  <a:pt x="1410242" y="141875"/>
                </a:lnTo>
                <a:lnTo>
                  <a:pt x="1397029" y="148545"/>
                </a:lnTo>
                <a:lnTo>
                  <a:pt x="1401213" y="155227"/>
                </a:lnTo>
                <a:lnTo>
                  <a:pt x="1412146" y="159046"/>
                </a:lnTo>
                <a:lnTo>
                  <a:pt x="1411417" y="164861"/>
                </a:lnTo>
                <a:lnTo>
                  <a:pt x="1416392" y="159618"/>
                </a:lnTo>
                <a:lnTo>
                  <a:pt x="1428929" y="160322"/>
                </a:lnTo>
                <a:lnTo>
                  <a:pt x="1447068" y="173940"/>
                </a:lnTo>
                <a:lnTo>
                  <a:pt x="1459689" y="166141"/>
                </a:lnTo>
                <a:lnTo>
                  <a:pt x="1484432" y="161648"/>
                </a:lnTo>
                <a:lnTo>
                  <a:pt x="1486836" y="167616"/>
                </a:lnTo>
                <a:lnTo>
                  <a:pt x="1500645" y="172718"/>
                </a:lnTo>
                <a:lnTo>
                  <a:pt x="1502954" y="180631"/>
                </a:lnTo>
                <a:lnTo>
                  <a:pt x="1519550" y="176089"/>
                </a:lnTo>
                <a:lnTo>
                  <a:pt x="1533756" y="190528"/>
                </a:lnTo>
                <a:lnTo>
                  <a:pt x="1543928" y="187533"/>
                </a:lnTo>
                <a:lnTo>
                  <a:pt x="1542869" y="183737"/>
                </a:lnTo>
                <a:lnTo>
                  <a:pt x="1549971" y="185065"/>
                </a:lnTo>
                <a:lnTo>
                  <a:pt x="1548548" y="192741"/>
                </a:lnTo>
                <a:lnTo>
                  <a:pt x="1557234" y="194854"/>
                </a:lnTo>
                <a:lnTo>
                  <a:pt x="1557893" y="201337"/>
                </a:lnTo>
                <a:lnTo>
                  <a:pt x="1566891" y="200995"/>
                </a:lnTo>
                <a:lnTo>
                  <a:pt x="1565312" y="207538"/>
                </a:lnTo>
                <a:lnTo>
                  <a:pt x="1571643" y="204304"/>
                </a:lnTo>
                <a:lnTo>
                  <a:pt x="1569865" y="211195"/>
                </a:lnTo>
                <a:lnTo>
                  <a:pt x="1574635" y="209797"/>
                </a:lnTo>
                <a:lnTo>
                  <a:pt x="1573354" y="203771"/>
                </a:lnTo>
                <a:lnTo>
                  <a:pt x="1579262" y="204571"/>
                </a:lnTo>
                <a:lnTo>
                  <a:pt x="1575113" y="213706"/>
                </a:lnTo>
                <a:lnTo>
                  <a:pt x="1584025" y="212828"/>
                </a:lnTo>
                <a:lnTo>
                  <a:pt x="1581997" y="220451"/>
                </a:lnTo>
                <a:lnTo>
                  <a:pt x="1591539" y="219167"/>
                </a:lnTo>
                <a:lnTo>
                  <a:pt x="1594353" y="227241"/>
                </a:lnTo>
                <a:lnTo>
                  <a:pt x="1603293" y="225390"/>
                </a:lnTo>
                <a:lnTo>
                  <a:pt x="1610310" y="229341"/>
                </a:lnTo>
                <a:lnTo>
                  <a:pt x="1605870" y="234259"/>
                </a:lnTo>
                <a:lnTo>
                  <a:pt x="1615457" y="236158"/>
                </a:lnTo>
                <a:lnTo>
                  <a:pt x="1620986" y="245203"/>
                </a:lnTo>
                <a:lnTo>
                  <a:pt x="1617882" y="255679"/>
                </a:lnTo>
                <a:lnTo>
                  <a:pt x="1622570" y="258989"/>
                </a:lnTo>
                <a:lnTo>
                  <a:pt x="1617568" y="267249"/>
                </a:lnTo>
                <a:lnTo>
                  <a:pt x="1624986" y="271774"/>
                </a:lnTo>
                <a:lnTo>
                  <a:pt x="1626648" y="29121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2022 provincial petrol/diesel sales: FS"/>
          <p:cNvSpPr/>
          <p:nvPr/>
        </p:nvSpPr>
        <p:spPr>
          <a:xfrm>
            <a:off x="3558265" y="3468483"/>
            <a:ext cx="1235577" cy="1023331"/>
          </a:xfrm>
          <a:custGeom>
            <a:avLst/>
            <a:gdLst/>
            <a:ahLst/>
            <a:cxnLst/>
            <a:rect l="l" t="t" r="r" b="b"/>
            <a:pathLst>
              <a:path w="1235577" h="1023331">
                <a:moveTo>
                  <a:pt x="670255" y="931412"/>
                </a:moveTo>
                <a:lnTo>
                  <a:pt x="671266" y="943502"/>
                </a:lnTo>
                <a:lnTo>
                  <a:pt x="676451" y="940178"/>
                </a:lnTo>
                <a:lnTo>
                  <a:pt x="678950" y="949162"/>
                </a:lnTo>
                <a:lnTo>
                  <a:pt x="672961" y="953252"/>
                </a:lnTo>
                <a:lnTo>
                  <a:pt x="664595" y="950384"/>
                </a:lnTo>
                <a:lnTo>
                  <a:pt x="661212" y="956681"/>
                </a:lnTo>
                <a:lnTo>
                  <a:pt x="671001" y="960420"/>
                </a:lnTo>
                <a:lnTo>
                  <a:pt x="655867" y="961821"/>
                </a:lnTo>
                <a:lnTo>
                  <a:pt x="661816" y="972114"/>
                </a:lnTo>
                <a:lnTo>
                  <a:pt x="655053" y="979181"/>
                </a:lnTo>
                <a:lnTo>
                  <a:pt x="642136" y="971012"/>
                </a:lnTo>
                <a:lnTo>
                  <a:pt x="639830" y="978375"/>
                </a:lnTo>
                <a:lnTo>
                  <a:pt x="636195" y="972532"/>
                </a:lnTo>
                <a:lnTo>
                  <a:pt x="630165" y="982047"/>
                </a:lnTo>
                <a:lnTo>
                  <a:pt x="617853" y="978115"/>
                </a:lnTo>
                <a:lnTo>
                  <a:pt x="619421" y="983791"/>
                </a:lnTo>
                <a:lnTo>
                  <a:pt x="612220" y="990338"/>
                </a:lnTo>
                <a:lnTo>
                  <a:pt x="607757" y="982514"/>
                </a:lnTo>
                <a:lnTo>
                  <a:pt x="590096" y="984567"/>
                </a:lnTo>
                <a:lnTo>
                  <a:pt x="596006" y="1000887"/>
                </a:lnTo>
                <a:lnTo>
                  <a:pt x="576999" y="1002348"/>
                </a:lnTo>
                <a:lnTo>
                  <a:pt x="572817" y="1006592"/>
                </a:lnTo>
                <a:lnTo>
                  <a:pt x="576977" y="1015388"/>
                </a:lnTo>
                <a:lnTo>
                  <a:pt x="561478" y="1015391"/>
                </a:lnTo>
                <a:lnTo>
                  <a:pt x="558019" y="1021609"/>
                </a:lnTo>
                <a:lnTo>
                  <a:pt x="545314" y="1009959"/>
                </a:lnTo>
                <a:lnTo>
                  <a:pt x="522532" y="1021777"/>
                </a:lnTo>
                <a:lnTo>
                  <a:pt x="516465" y="1016732"/>
                </a:lnTo>
                <a:lnTo>
                  <a:pt x="506226" y="1023331"/>
                </a:lnTo>
                <a:lnTo>
                  <a:pt x="506246" y="1015109"/>
                </a:lnTo>
                <a:lnTo>
                  <a:pt x="490509" y="1015492"/>
                </a:lnTo>
                <a:lnTo>
                  <a:pt x="474144" y="1006471"/>
                </a:lnTo>
                <a:lnTo>
                  <a:pt x="475606" y="997329"/>
                </a:lnTo>
                <a:lnTo>
                  <a:pt x="466766" y="990951"/>
                </a:lnTo>
                <a:lnTo>
                  <a:pt x="446080" y="997263"/>
                </a:lnTo>
                <a:lnTo>
                  <a:pt x="429309" y="995711"/>
                </a:lnTo>
                <a:lnTo>
                  <a:pt x="425657" y="983748"/>
                </a:lnTo>
                <a:lnTo>
                  <a:pt x="411133" y="980664"/>
                </a:lnTo>
                <a:lnTo>
                  <a:pt x="403557" y="968289"/>
                </a:lnTo>
                <a:lnTo>
                  <a:pt x="396321" y="972462"/>
                </a:lnTo>
                <a:lnTo>
                  <a:pt x="398876" y="982755"/>
                </a:lnTo>
                <a:lnTo>
                  <a:pt x="389039" y="976586"/>
                </a:lnTo>
                <a:lnTo>
                  <a:pt x="362327" y="981898"/>
                </a:lnTo>
                <a:lnTo>
                  <a:pt x="352034" y="993806"/>
                </a:lnTo>
                <a:lnTo>
                  <a:pt x="342076" y="983185"/>
                </a:lnTo>
                <a:lnTo>
                  <a:pt x="343132" y="1000188"/>
                </a:lnTo>
                <a:lnTo>
                  <a:pt x="321412" y="1006897"/>
                </a:lnTo>
                <a:lnTo>
                  <a:pt x="314944" y="1020005"/>
                </a:lnTo>
                <a:lnTo>
                  <a:pt x="299271" y="1016735"/>
                </a:lnTo>
                <a:lnTo>
                  <a:pt x="295399" y="1007502"/>
                </a:lnTo>
                <a:lnTo>
                  <a:pt x="281716" y="1011496"/>
                </a:lnTo>
                <a:lnTo>
                  <a:pt x="284212" y="1003398"/>
                </a:lnTo>
                <a:lnTo>
                  <a:pt x="278038" y="994687"/>
                </a:lnTo>
                <a:lnTo>
                  <a:pt x="250972" y="1005990"/>
                </a:lnTo>
                <a:lnTo>
                  <a:pt x="238504" y="991273"/>
                </a:lnTo>
                <a:lnTo>
                  <a:pt x="219843" y="986093"/>
                </a:lnTo>
                <a:lnTo>
                  <a:pt x="213577" y="990905"/>
                </a:lnTo>
                <a:lnTo>
                  <a:pt x="198098" y="971271"/>
                </a:lnTo>
                <a:lnTo>
                  <a:pt x="187972" y="970864"/>
                </a:lnTo>
                <a:lnTo>
                  <a:pt x="167291" y="938803"/>
                </a:lnTo>
                <a:lnTo>
                  <a:pt x="154462" y="936010"/>
                </a:lnTo>
                <a:lnTo>
                  <a:pt x="153611" y="916542"/>
                </a:lnTo>
                <a:lnTo>
                  <a:pt x="142933" y="917516"/>
                </a:lnTo>
                <a:lnTo>
                  <a:pt x="134092" y="907758"/>
                </a:lnTo>
                <a:lnTo>
                  <a:pt x="135795" y="901173"/>
                </a:lnTo>
                <a:lnTo>
                  <a:pt x="129329" y="894683"/>
                </a:lnTo>
                <a:lnTo>
                  <a:pt x="123748" y="896227"/>
                </a:lnTo>
                <a:lnTo>
                  <a:pt x="117317" y="877768"/>
                </a:lnTo>
                <a:lnTo>
                  <a:pt x="100977" y="856577"/>
                </a:lnTo>
                <a:lnTo>
                  <a:pt x="100096" y="843128"/>
                </a:lnTo>
                <a:lnTo>
                  <a:pt x="73468" y="837200"/>
                </a:lnTo>
                <a:lnTo>
                  <a:pt x="71320" y="818376"/>
                </a:lnTo>
                <a:lnTo>
                  <a:pt x="58598" y="820796"/>
                </a:lnTo>
                <a:lnTo>
                  <a:pt x="33929" y="796537"/>
                </a:lnTo>
                <a:lnTo>
                  <a:pt x="20807" y="796267"/>
                </a:lnTo>
                <a:lnTo>
                  <a:pt x="1851" y="770371"/>
                </a:lnTo>
                <a:lnTo>
                  <a:pt x="0" y="755749"/>
                </a:lnTo>
                <a:lnTo>
                  <a:pt x="123825" y="497580"/>
                </a:lnTo>
                <a:lnTo>
                  <a:pt x="107099" y="492211"/>
                </a:lnTo>
                <a:lnTo>
                  <a:pt x="116114" y="464094"/>
                </a:lnTo>
                <a:lnTo>
                  <a:pt x="111382" y="460701"/>
                </a:lnTo>
                <a:lnTo>
                  <a:pt x="120384" y="450772"/>
                </a:lnTo>
                <a:lnTo>
                  <a:pt x="131854" y="414946"/>
                </a:lnTo>
                <a:lnTo>
                  <a:pt x="121150" y="411197"/>
                </a:lnTo>
                <a:lnTo>
                  <a:pt x="116649" y="401011"/>
                </a:lnTo>
                <a:lnTo>
                  <a:pt x="137947" y="395974"/>
                </a:lnTo>
                <a:lnTo>
                  <a:pt x="152339" y="350646"/>
                </a:lnTo>
                <a:lnTo>
                  <a:pt x="162726" y="348715"/>
                </a:lnTo>
                <a:lnTo>
                  <a:pt x="170353" y="334915"/>
                </a:lnTo>
                <a:lnTo>
                  <a:pt x="166536" y="327780"/>
                </a:lnTo>
                <a:lnTo>
                  <a:pt x="176298" y="312764"/>
                </a:lnTo>
                <a:lnTo>
                  <a:pt x="203722" y="297418"/>
                </a:lnTo>
                <a:lnTo>
                  <a:pt x="200160" y="289563"/>
                </a:lnTo>
                <a:lnTo>
                  <a:pt x="208520" y="279846"/>
                </a:lnTo>
                <a:lnTo>
                  <a:pt x="223383" y="279025"/>
                </a:lnTo>
                <a:lnTo>
                  <a:pt x="235737" y="262627"/>
                </a:lnTo>
                <a:lnTo>
                  <a:pt x="272492" y="252028"/>
                </a:lnTo>
                <a:lnTo>
                  <a:pt x="280477" y="244015"/>
                </a:lnTo>
                <a:lnTo>
                  <a:pt x="297275" y="253993"/>
                </a:lnTo>
                <a:lnTo>
                  <a:pt x="300575" y="237593"/>
                </a:lnTo>
                <a:lnTo>
                  <a:pt x="334508" y="221720"/>
                </a:lnTo>
                <a:lnTo>
                  <a:pt x="341401" y="236356"/>
                </a:lnTo>
                <a:lnTo>
                  <a:pt x="356527" y="231272"/>
                </a:lnTo>
                <a:lnTo>
                  <a:pt x="361710" y="238841"/>
                </a:lnTo>
                <a:lnTo>
                  <a:pt x="369592" y="237446"/>
                </a:lnTo>
                <a:lnTo>
                  <a:pt x="375603" y="246719"/>
                </a:lnTo>
                <a:lnTo>
                  <a:pt x="374167" y="257782"/>
                </a:lnTo>
                <a:lnTo>
                  <a:pt x="381555" y="265516"/>
                </a:lnTo>
                <a:lnTo>
                  <a:pt x="395173" y="253741"/>
                </a:lnTo>
                <a:lnTo>
                  <a:pt x="386081" y="248321"/>
                </a:lnTo>
                <a:lnTo>
                  <a:pt x="393300" y="242969"/>
                </a:lnTo>
                <a:lnTo>
                  <a:pt x="392977" y="229529"/>
                </a:lnTo>
                <a:lnTo>
                  <a:pt x="426161" y="208548"/>
                </a:lnTo>
                <a:lnTo>
                  <a:pt x="429399" y="187942"/>
                </a:lnTo>
                <a:lnTo>
                  <a:pt x="441603" y="184071"/>
                </a:lnTo>
                <a:lnTo>
                  <a:pt x="448066" y="188524"/>
                </a:lnTo>
                <a:lnTo>
                  <a:pt x="453120" y="176414"/>
                </a:lnTo>
                <a:lnTo>
                  <a:pt x="470723" y="182119"/>
                </a:lnTo>
                <a:lnTo>
                  <a:pt x="477361" y="176798"/>
                </a:lnTo>
                <a:lnTo>
                  <a:pt x="490849" y="179406"/>
                </a:lnTo>
                <a:lnTo>
                  <a:pt x="476216" y="167564"/>
                </a:lnTo>
                <a:lnTo>
                  <a:pt x="482984" y="157065"/>
                </a:lnTo>
                <a:lnTo>
                  <a:pt x="487037" y="159877"/>
                </a:lnTo>
                <a:lnTo>
                  <a:pt x="488068" y="146764"/>
                </a:lnTo>
                <a:lnTo>
                  <a:pt x="470745" y="121144"/>
                </a:lnTo>
                <a:lnTo>
                  <a:pt x="472820" y="116525"/>
                </a:lnTo>
                <a:lnTo>
                  <a:pt x="482904" y="117646"/>
                </a:lnTo>
                <a:lnTo>
                  <a:pt x="495810" y="101660"/>
                </a:lnTo>
                <a:lnTo>
                  <a:pt x="508317" y="106173"/>
                </a:lnTo>
                <a:lnTo>
                  <a:pt x="508100" y="92133"/>
                </a:lnTo>
                <a:lnTo>
                  <a:pt x="516843" y="79534"/>
                </a:lnTo>
                <a:lnTo>
                  <a:pt x="528200" y="77446"/>
                </a:lnTo>
                <a:lnTo>
                  <a:pt x="532692" y="83486"/>
                </a:lnTo>
                <a:lnTo>
                  <a:pt x="538975" y="72304"/>
                </a:lnTo>
                <a:lnTo>
                  <a:pt x="559641" y="61882"/>
                </a:lnTo>
                <a:lnTo>
                  <a:pt x="565433" y="66408"/>
                </a:lnTo>
                <a:lnTo>
                  <a:pt x="573089" y="58739"/>
                </a:lnTo>
                <a:lnTo>
                  <a:pt x="585836" y="72897"/>
                </a:lnTo>
                <a:lnTo>
                  <a:pt x="590901" y="46895"/>
                </a:lnTo>
                <a:lnTo>
                  <a:pt x="610762" y="63701"/>
                </a:lnTo>
                <a:lnTo>
                  <a:pt x="630240" y="61580"/>
                </a:lnTo>
                <a:lnTo>
                  <a:pt x="637149" y="65689"/>
                </a:lnTo>
                <a:lnTo>
                  <a:pt x="644772" y="61470"/>
                </a:lnTo>
                <a:lnTo>
                  <a:pt x="644027" y="72603"/>
                </a:lnTo>
                <a:lnTo>
                  <a:pt x="651729" y="75674"/>
                </a:lnTo>
                <a:lnTo>
                  <a:pt x="674779" y="43741"/>
                </a:lnTo>
                <a:lnTo>
                  <a:pt x="680945" y="44074"/>
                </a:lnTo>
                <a:lnTo>
                  <a:pt x="699274" y="62706"/>
                </a:lnTo>
                <a:lnTo>
                  <a:pt x="721919" y="40709"/>
                </a:lnTo>
                <a:lnTo>
                  <a:pt x="721783" y="27393"/>
                </a:lnTo>
                <a:lnTo>
                  <a:pt x="738460" y="24652"/>
                </a:lnTo>
                <a:lnTo>
                  <a:pt x="735850" y="17848"/>
                </a:lnTo>
                <a:lnTo>
                  <a:pt x="749628" y="14321"/>
                </a:lnTo>
                <a:lnTo>
                  <a:pt x="750160" y="24485"/>
                </a:lnTo>
                <a:lnTo>
                  <a:pt x="772127" y="22108"/>
                </a:lnTo>
                <a:lnTo>
                  <a:pt x="781445" y="32151"/>
                </a:lnTo>
                <a:lnTo>
                  <a:pt x="784618" y="19820"/>
                </a:lnTo>
                <a:lnTo>
                  <a:pt x="807035" y="19169"/>
                </a:lnTo>
                <a:lnTo>
                  <a:pt x="810260" y="10233"/>
                </a:lnTo>
                <a:lnTo>
                  <a:pt x="828807" y="0"/>
                </a:lnTo>
                <a:lnTo>
                  <a:pt x="840877" y="28759"/>
                </a:lnTo>
                <a:lnTo>
                  <a:pt x="837622" y="32041"/>
                </a:lnTo>
                <a:lnTo>
                  <a:pt x="860280" y="45604"/>
                </a:lnTo>
                <a:lnTo>
                  <a:pt x="860983" y="57107"/>
                </a:lnTo>
                <a:lnTo>
                  <a:pt x="872635" y="57309"/>
                </a:lnTo>
                <a:lnTo>
                  <a:pt x="869182" y="47603"/>
                </a:lnTo>
                <a:lnTo>
                  <a:pt x="873302" y="46319"/>
                </a:lnTo>
                <a:lnTo>
                  <a:pt x="885211" y="66546"/>
                </a:lnTo>
                <a:lnTo>
                  <a:pt x="887675" y="55784"/>
                </a:lnTo>
                <a:lnTo>
                  <a:pt x="902464" y="71415"/>
                </a:lnTo>
                <a:lnTo>
                  <a:pt x="909093" y="67259"/>
                </a:lnTo>
                <a:lnTo>
                  <a:pt x="907639" y="73619"/>
                </a:lnTo>
                <a:lnTo>
                  <a:pt x="922523" y="69362"/>
                </a:lnTo>
                <a:lnTo>
                  <a:pt x="931290" y="84568"/>
                </a:lnTo>
                <a:lnTo>
                  <a:pt x="928706" y="90586"/>
                </a:lnTo>
                <a:lnTo>
                  <a:pt x="936451" y="82710"/>
                </a:lnTo>
                <a:lnTo>
                  <a:pt x="933202" y="78324"/>
                </a:lnTo>
                <a:lnTo>
                  <a:pt x="940149" y="83182"/>
                </a:lnTo>
                <a:lnTo>
                  <a:pt x="942743" y="74949"/>
                </a:lnTo>
                <a:lnTo>
                  <a:pt x="948215" y="89880"/>
                </a:lnTo>
                <a:lnTo>
                  <a:pt x="958492" y="98687"/>
                </a:lnTo>
                <a:lnTo>
                  <a:pt x="954837" y="105150"/>
                </a:lnTo>
                <a:lnTo>
                  <a:pt x="972177" y="90635"/>
                </a:lnTo>
                <a:lnTo>
                  <a:pt x="980356" y="93974"/>
                </a:lnTo>
                <a:lnTo>
                  <a:pt x="982616" y="87634"/>
                </a:lnTo>
                <a:lnTo>
                  <a:pt x="971544" y="86776"/>
                </a:lnTo>
                <a:lnTo>
                  <a:pt x="981113" y="76699"/>
                </a:lnTo>
                <a:lnTo>
                  <a:pt x="995958" y="81371"/>
                </a:lnTo>
                <a:lnTo>
                  <a:pt x="1014746" y="97241"/>
                </a:lnTo>
                <a:lnTo>
                  <a:pt x="1017140" y="92864"/>
                </a:lnTo>
                <a:lnTo>
                  <a:pt x="1018983" y="100865"/>
                </a:lnTo>
                <a:lnTo>
                  <a:pt x="1029157" y="96673"/>
                </a:lnTo>
                <a:lnTo>
                  <a:pt x="1035912" y="105679"/>
                </a:lnTo>
                <a:lnTo>
                  <a:pt x="1037415" y="93990"/>
                </a:lnTo>
                <a:lnTo>
                  <a:pt x="1051337" y="94019"/>
                </a:lnTo>
                <a:lnTo>
                  <a:pt x="1054975" y="88987"/>
                </a:lnTo>
                <a:lnTo>
                  <a:pt x="1068787" y="99003"/>
                </a:lnTo>
                <a:lnTo>
                  <a:pt x="1073375" y="93207"/>
                </a:lnTo>
                <a:lnTo>
                  <a:pt x="1078334" y="108082"/>
                </a:lnTo>
                <a:lnTo>
                  <a:pt x="1073953" y="112581"/>
                </a:lnTo>
                <a:lnTo>
                  <a:pt x="1087173" y="136332"/>
                </a:lnTo>
                <a:lnTo>
                  <a:pt x="1097136" y="129180"/>
                </a:lnTo>
                <a:lnTo>
                  <a:pt x="1111842" y="130099"/>
                </a:lnTo>
                <a:lnTo>
                  <a:pt x="1116550" y="142364"/>
                </a:lnTo>
                <a:lnTo>
                  <a:pt x="1136689" y="147021"/>
                </a:lnTo>
                <a:lnTo>
                  <a:pt x="1135294" y="161323"/>
                </a:lnTo>
                <a:lnTo>
                  <a:pt x="1149110" y="156525"/>
                </a:lnTo>
                <a:lnTo>
                  <a:pt x="1157524" y="159685"/>
                </a:lnTo>
                <a:lnTo>
                  <a:pt x="1170122" y="178967"/>
                </a:lnTo>
                <a:lnTo>
                  <a:pt x="1168997" y="187288"/>
                </a:lnTo>
                <a:lnTo>
                  <a:pt x="1184424" y="197778"/>
                </a:lnTo>
                <a:lnTo>
                  <a:pt x="1182848" y="206005"/>
                </a:lnTo>
                <a:lnTo>
                  <a:pt x="1198636" y="225784"/>
                </a:lnTo>
                <a:lnTo>
                  <a:pt x="1217544" y="223427"/>
                </a:lnTo>
                <a:lnTo>
                  <a:pt x="1217445" y="212368"/>
                </a:lnTo>
                <a:lnTo>
                  <a:pt x="1222697" y="207965"/>
                </a:lnTo>
                <a:lnTo>
                  <a:pt x="1231089" y="210806"/>
                </a:lnTo>
                <a:lnTo>
                  <a:pt x="1219439" y="215262"/>
                </a:lnTo>
                <a:lnTo>
                  <a:pt x="1224548" y="222161"/>
                </a:lnTo>
                <a:lnTo>
                  <a:pt x="1219132" y="228516"/>
                </a:lnTo>
                <a:lnTo>
                  <a:pt x="1230178" y="232416"/>
                </a:lnTo>
                <a:lnTo>
                  <a:pt x="1235577" y="250459"/>
                </a:lnTo>
                <a:lnTo>
                  <a:pt x="1209126" y="263192"/>
                </a:lnTo>
                <a:lnTo>
                  <a:pt x="1217254" y="275790"/>
                </a:lnTo>
                <a:lnTo>
                  <a:pt x="1215333" y="293180"/>
                </a:lnTo>
                <a:lnTo>
                  <a:pt x="1221228" y="304005"/>
                </a:lnTo>
                <a:lnTo>
                  <a:pt x="1213294" y="307892"/>
                </a:lnTo>
                <a:lnTo>
                  <a:pt x="1211075" y="326049"/>
                </a:lnTo>
                <a:lnTo>
                  <a:pt x="1202513" y="332769"/>
                </a:lnTo>
                <a:lnTo>
                  <a:pt x="1208063" y="341730"/>
                </a:lnTo>
                <a:lnTo>
                  <a:pt x="1201416" y="343847"/>
                </a:lnTo>
                <a:lnTo>
                  <a:pt x="1192932" y="364036"/>
                </a:lnTo>
                <a:lnTo>
                  <a:pt x="1201257" y="375416"/>
                </a:lnTo>
                <a:lnTo>
                  <a:pt x="1202513" y="388781"/>
                </a:lnTo>
                <a:lnTo>
                  <a:pt x="1202065" y="397784"/>
                </a:lnTo>
                <a:lnTo>
                  <a:pt x="1193720" y="399634"/>
                </a:lnTo>
                <a:lnTo>
                  <a:pt x="1189637" y="406976"/>
                </a:lnTo>
                <a:lnTo>
                  <a:pt x="1191689" y="413762"/>
                </a:lnTo>
                <a:lnTo>
                  <a:pt x="1160448" y="420503"/>
                </a:lnTo>
                <a:lnTo>
                  <a:pt x="1143959" y="446442"/>
                </a:lnTo>
                <a:lnTo>
                  <a:pt x="1134757" y="445076"/>
                </a:lnTo>
                <a:lnTo>
                  <a:pt x="1115334" y="461266"/>
                </a:lnTo>
                <a:lnTo>
                  <a:pt x="1106115" y="457610"/>
                </a:lnTo>
                <a:lnTo>
                  <a:pt x="1092572" y="474765"/>
                </a:lnTo>
                <a:lnTo>
                  <a:pt x="1097930" y="481424"/>
                </a:lnTo>
                <a:lnTo>
                  <a:pt x="1093220" y="487912"/>
                </a:lnTo>
                <a:lnTo>
                  <a:pt x="1087618" y="483872"/>
                </a:lnTo>
                <a:lnTo>
                  <a:pt x="1079181" y="492864"/>
                </a:lnTo>
                <a:lnTo>
                  <a:pt x="1070643" y="487138"/>
                </a:lnTo>
                <a:lnTo>
                  <a:pt x="1042798" y="493739"/>
                </a:lnTo>
                <a:lnTo>
                  <a:pt x="1035113" y="513026"/>
                </a:lnTo>
                <a:lnTo>
                  <a:pt x="1024509" y="522909"/>
                </a:lnTo>
                <a:lnTo>
                  <a:pt x="1018535" y="543152"/>
                </a:lnTo>
                <a:lnTo>
                  <a:pt x="1015049" y="539262"/>
                </a:lnTo>
                <a:lnTo>
                  <a:pt x="1003856" y="542887"/>
                </a:lnTo>
                <a:lnTo>
                  <a:pt x="1003851" y="527106"/>
                </a:lnTo>
                <a:lnTo>
                  <a:pt x="981299" y="516552"/>
                </a:lnTo>
                <a:lnTo>
                  <a:pt x="981475" y="502907"/>
                </a:lnTo>
                <a:lnTo>
                  <a:pt x="970064" y="490448"/>
                </a:lnTo>
                <a:lnTo>
                  <a:pt x="956090" y="499649"/>
                </a:lnTo>
                <a:lnTo>
                  <a:pt x="913393" y="502462"/>
                </a:lnTo>
                <a:lnTo>
                  <a:pt x="901036" y="522365"/>
                </a:lnTo>
                <a:lnTo>
                  <a:pt x="891052" y="519255"/>
                </a:lnTo>
                <a:lnTo>
                  <a:pt x="885544" y="524874"/>
                </a:lnTo>
                <a:lnTo>
                  <a:pt x="874942" y="519509"/>
                </a:lnTo>
                <a:lnTo>
                  <a:pt x="866475" y="523411"/>
                </a:lnTo>
                <a:lnTo>
                  <a:pt x="863588" y="518888"/>
                </a:lnTo>
                <a:lnTo>
                  <a:pt x="832949" y="549863"/>
                </a:lnTo>
                <a:lnTo>
                  <a:pt x="827630" y="565360"/>
                </a:lnTo>
                <a:lnTo>
                  <a:pt x="818989" y="566123"/>
                </a:lnTo>
                <a:lnTo>
                  <a:pt x="807459" y="556959"/>
                </a:lnTo>
                <a:lnTo>
                  <a:pt x="797078" y="564624"/>
                </a:lnTo>
                <a:lnTo>
                  <a:pt x="795790" y="574186"/>
                </a:lnTo>
                <a:lnTo>
                  <a:pt x="782712" y="570496"/>
                </a:lnTo>
                <a:lnTo>
                  <a:pt x="779546" y="574914"/>
                </a:lnTo>
                <a:lnTo>
                  <a:pt x="765685" y="568507"/>
                </a:lnTo>
                <a:lnTo>
                  <a:pt x="767224" y="578956"/>
                </a:lnTo>
                <a:lnTo>
                  <a:pt x="758415" y="581652"/>
                </a:lnTo>
                <a:lnTo>
                  <a:pt x="755921" y="597139"/>
                </a:lnTo>
                <a:lnTo>
                  <a:pt x="749564" y="595331"/>
                </a:lnTo>
                <a:lnTo>
                  <a:pt x="746620" y="605597"/>
                </a:lnTo>
                <a:lnTo>
                  <a:pt x="739493" y="605903"/>
                </a:lnTo>
                <a:lnTo>
                  <a:pt x="746978" y="614123"/>
                </a:lnTo>
                <a:lnTo>
                  <a:pt x="739105" y="615042"/>
                </a:lnTo>
                <a:lnTo>
                  <a:pt x="740189" y="624300"/>
                </a:lnTo>
                <a:lnTo>
                  <a:pt x="729994" y="629044"/>
                </a:lnTo>
                <a:lnTo>
                  <a:pt x="732715" y="636040"/>
                </a:lnTo>
                <a:lnTo>
                  <a:pt x="725171" y="636422"/>
                </a:lnTo>
                <a:lnTo>
                  <a:pt x="710121" y="650965"/>
                </a:lnTo>
                <a:lnTo>
                  <a:pt x="715744" y="660157"/>
                </a:lnTo>
                <a:lnTo>
                  <a:pt x="703953" y="670676"/>
                </a:lnTo>
                <a:lnTo>
                  <a:pt x="696195" y="669419"/>
                </a:lnTo>
                <a:lnTo>
                  <a:pt x="700052" y="675274"/>
                </a:lnTo>
                <a:lnTo>
                  <a:pt x="691899" y="678659"/>
                </a:lnTo>
                <a:lnTo>
                  <a:pt x="690801" y="688567"/>
                </a:lnTo>
                <a:lnTo>
                  <a:pt x="685164" y="686179"/>
                </a:lnTo>
                <a:lnTo>
                  <a:pt x="688866" y="696592"/>
                </a:lnTo>
                <a:lnTo>
                  <a:pt x="673450" y="708610"/>
                </a:lnTo>
                <a:lnTo>
                  <a:pt x="674264" y="717098"/>
                </a:lnTo>
                <a:lnTo>
                  <a:pt x="661892" y="719781"/>
                </a:lnTo>
                <a:lnTo>
                  <a:pt x="661691" y="729054"/>
                </a:lnTo>
                <a:lnTo>
                  <a:pt x="642897" y="731516"/>
                </a:lnTo>
                <a:lnTo>
                  <a:pt x="638432" y="737619"/>
                </a:lnTo>
                <a:lnTo>
                  <a:pt x="627629" y="735452"/>
                </a:lnTo>
                <a:lnTo>
                  <a:pt x="611946" y="749002"/>
                </a:lnTo>
                <a:lnTo>
                  <a:pt x="607813" y="744375"/>
                </a:lnTo>
                <a:lnTo>
                  <a:pt x="605606" y="754535"/>
                </a:lnTo>
                <a:lnTo>
                  <a:pt x="597008" y="749193"/>
                </a:lnTo>
                <a:lnTo>
                  <a:pt x="595698" y="760461"/>
                </a:lnTo>
                <a:lnTo>
                  <a:pt x="613978" y="778426"/>
                </a:lnTo>
                <a:lnTo>
                  <a:pt x="639900" y="850564"/>
                </a:lnTo>
                <a:lnTo>
                  <a:pt x="656952" y="862681"/>
                </a:lnTo>
                <a:lnTo>
                  <a:pt x="663228" y="886346"/>
                </a:lnTo>
                <a:lnTo>
                  <a:pt x="681120" y="885788"/>
                </a:lnTo>
                <a:lnTo>
                  <a:pt x="671429" y="904380"/>
                </a:lnTo>
                <a:lnTo>
                  <a:pt x="671465" y="918679"/>
                </a:lnTo>
                <a:lnTo>
                  <a:pt x="677560" y="927461"/>
                </a:lnTo>
                <a:lnTo>
                  <a:pt x="670255" y="931412"/>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2022 provincial petrol/diesel sales: GP"/>
          <p:cNvSpPr/>
          <p:nvPr/>
        </p:nvSpPr>
        <p:spPr>
          <a:xfrm>
            <a:off x="4200203" y="3074864"/>
            <a:ext cx="454565" cy="460165"/>
          </a:xfrm>
          <a:custGeom>
            <a:avLst/>
            <a:gdLst/>
            <a:ahLst/>
            <a:cxnLst/>
            <a:rect l="l" t="t" r="r" b="b"/>
            <a:pathLst>
              <a:path w="454565" h="460165">
                <a:moveTo>
                  <a:pt x="246514" y="449498"/>
                </a:moveTo>
                <a:lnTo>
                  <a:pt x="243273" y="460165"/>
                </a:lnTo>
                <a:lnTo>
                  <a:pt x="228722" y="439756"/>
                </a:lnTo>
                <a:lnTo>
                  <a:pt x="230697" y="450928"/>
                </a:lnTo>
                <a:lnTo>
                  <a:pt x="219045" y="450726"/>
                </a:lnTo>
                <a:lnTo>
                  <a:pt x="218342" y="439223"/>
                </a:lnTo>
                <a:lnTo>
                  <a:pt x="195684" y="425660"/>
                </a:lnTo>
                <a:lnTo>
                  <a:pt x="198939" y="422378"/>
                </a:lnTo>
                <a:lnTo>
                  <a:pt x="186869" y="393619"/>
                </a:lnTo>
                <a:lnTo>
                  <a:pt x="168322" y="403852"/>
                </a:lnTo>
                <a:lnTo>
                  <a:pt x="165097" y="412788"/>
                </a:lnTo>
                <a:lnTo>
                  <a:pt x="142680" y="413439"/>
                </a:lnTo>
                <a:lnTo>
                  <a:pt x="139507" y="425770"/>
                </a:lnTo>
                <a:lnTo>
                  <a:pt x="130189" y="415727"/>
                </a:lnTo>
                <a:lnTo>
                  <a:pt x="108222" y="418104"/>
                </a:lnTo>
                <a:lnTo>
                  <a:pt x="108575" y="408304"/>
                </a:lnTo>
                <a:lnTo>
                  <a:pt x="96656" y="407357"/>
                </a:lnTo>
                <a:lnTo>
                  <a:pt x="101779" y="397606"/>
                </a:lnTo>
                <a:lnTo>
                  <a:pt x="95071" y="403446"/>
                </a:lnTo>
                <a:lnTo>
                  <a:pt x="94268" y="385866"/>
                </a:lnTo>
                <a:lnTo>
                  <a:pt x="68108" y="381019"/>
                </a:lnTo>
                <a:lnTo>
                  <a:pt x="61335" y="385776"/>
                </a:lnTo>
                <a:lnTo>
                  <a:pt x="47935" y="366170"/>
                </a:lnTo>
                <a:lnTo>
                  <a:pt x="41695" y="365512"/>
                </a:lnTo>
                <a:lnTo>
                  <a:pt x="42780" y="376119"/>
                </a:lnTo>
                <a:lnTo>
                  <a:pt x="19156" y="381636"/>
                </a:lnTo>
                <a:lnTo>
                  <a:pt x="16350" y="364860"/>
                </a:lnTo>
                <a:lnTo>
                  <a:pt x="5824" y="365581"/>
                </a:lnTo>
                <a:lnTo>
                  <a:pt x="0" y="352613"/>
                </a:lnTo>
                <a:lnTo>
                  <a:pt x="17351" y="348113"/>
                </a:lnTo>
                <a:lnTo>
                  <a:pt x="7919" y="315311"/>
                </a:lnTo>
                <a:lnTo>
                  <a:pt x="41095" y="291372"/>
                </a:lnTo>
                <a:lnTo>
                  <a:pt x="32820" y="256138"/>
                </a:lnTo>
                <a:lnTo>
                  <a:pt x="48196" y="258987"/>
                </a:lnTo>
                <a:lnTo>
                  <a:pt x="49179" y="249050"/>
                </a:lnTo>
                <a:lnTo>
                  <a:pt x="62490" y="249780"/>
                </a:lnTo>
                <a:lnTo>
                  <a:pt x="73533" y="186114"/>
                </a:lnTo>
                <a:lnTo>
                  <a:pt x="93378" y="182379"/>
                </a:lnTo>
                <a:lnTo>
                  <a:pt x="115909" y="168676"/>
                </a:lnTo>
                <a:lnTo>
                  <a:pt x="116503" y="180104"/>
                </a:lnTo>
                <a:lnTo>
                  <a:pt x="125057" y="189196"/>
                </a:lnTo>
                <a:lnTo>
                  <a:pt x="138553" y="183064"/>
                </a:lnTo>
                <a:lnTo>
                  <a:pt x="138738" y="194415"/>
                </a:lnTo>
                <a:lnTo>
                  <a:pt x="159027" y="186072"/>
                </a:lnTo>
                <a:lnTo>
                  <a:pt x="165570" y="175652"/>
                </a:lnTo>
                <a:lnTo>
                  <a:pt x="173166" y="176877"/>
                </a:lnTo>
                <a:lnTo>
                  <a:pt x="170841" y="186783"/>
                </a:lnTo>
                <a:lnTo>
                  <a:pt x="189050" y="175490"/>
                </a:lnTo>
                <a:lnTo>
                  <a:pt x="186873" y="161057"/>
                </a:lnTo>
                <a:lnTo>
                  <a:pt x="193898" y="159106"/>
                </a:lnTo>
                <a:lnTo>
                  <a:pt x="186988" y="144558"/>
                </a:lnTo>
                <a:lnTo>
                  <a:pt x="188182" y="133926"/>
                </a:lnTo>
                <a:lnTo>
                  <a:pt x="194854" y="128793"/>
                </a:lnTo>
                <a:lnTo>
                  <a:pt x="189777" y="118397"/>
                </a:lnTo>
                <a:lnTo>
                  <a:pt x="195595" y="105789"/>
                </a:lnTo>
                <a:lnTo>
                  <a:pt x="211272" y="110474"/>
                </a:lnTo>
                <a:lnTo>
                  <a:pt x="212086" y="104419"/>
                </a:lnTo>
                <a:lnTo>
                  <a:pt x="198288" y="99534"/>
                </a:lnTo>
                <a:lnTo>
                  <a:pt x="208663" y="87662"/>
                </a:lnTo>
                <a:lnTo>
                  <a:pt x="188082" y="70825"/>
                </a:lnTo>
                <a:lnTo>
                  <a:pt x="194170" y="59787"/>
                </a:lnTo>
                <a:lnTo>
                  <a:pt x="201077" y="59054"/>
                </a:lnTo>
                <a:lnTo>
                  <a:pt x="211115" y="70121"/>
                </a:lnTo>
                <a:lnTo>
                  <a:pt x="226020" y="61617"/>
                </a:lnTo>
                <a:lnTo>
                  <a:pt x="241968" y="61736"/>
                </a:lnTo>
                <a:lnTo>
                  <a:pt x="242220" y="52212"/>
                </a:lnTo>
                <a:lnTo>
                  <a:pt x="247995" y="51115"/>
                </a:lnTo>
                <a:lnTo>
                  <a:pt x="254038" y="59066"/>
                </a:lnTo>
                <a:lnTo>
                  <a:pt x="270327" y="55704"/>
                </a:lnTo>
                <a:lnTo>
                  <a:pt x="270538" y="48303"/>
                </a:lnTo>
                <a:lnTo>
                  <a:pt x="289476" y="44138"/>
                </a:lnTo>
                <a:lnTo>
                  <a:pt x="290081" y="51593"/>
                </a:lnTo>
                <a:lnTo>
                  <a:pt x="318268" y="49240"/>
                </a:lnTo>
                <a:lnTo>
                  <a:pt x="320883" y="35843"/>
                </a:lnTo>
                <a:lnTo>
                  <a:pt x="339877" y="34676"/>
                </a:lnTo>
                <a:lnTo>
                  <a:pt x="348448" y="42739"/>
                </a:lnTo>
                <a:lnTo>
                  <a:pt x="359871" y="27810"/>
                </a:lnTo>
                <a:lnTo>
                  <a:pt x="345466" y="9834"/>
                </a:lnTo>
                <a:lnTo>
                  <a:pt x="375711" y="0"/>
                </a:lnTo>
                <a:lnTo>
                  <a:pt x="384126" y="30700"/>
                </a:lnTo>
                <a:lnTo>
                  <a:pt x="379368" y="28618"/>
                </a:lnTo>
                <a:lnTo>
                  <a:pt x="373234" y="45675"/>
                </a:lnTo>
                <a:lnTo>
                  <a:pt x="345730" y="56384"/>
                </a:lnTo>
                <a:lnTo>
                  <a:pt x="349096" y="71911"/>
                </a:lnTo>
                <a:lnTo>
                  <a:pt x="343104" y="90626"/>
                </a:lnTo>
                <a:lnTo>
                  <a:pt x="354959" y="141404"/>
                </a:lnTo>
                <a:lnTo>
                  <a:pt x="363187" y="146202"/>
                </a:lnTo>
                <a:lnTo>
                  <a:pt x="367054" y="133264"/>
                </a:lnTo>
                <a:lnTo>
                  <a:pt x="376770" y="137452"/>
                </a:lnTo>
                <a:lnTo>
                  <a:pt x="374225" y="152438"/>
                </a:lnTo>
                <a:lnTo>
                  <a:pt x="395174" y="147091"/>
                </a:lnTo>
                <a:lnTo>
                  <a:pt x="387265" y="136768"/>
                </a:lnTo>
                <a:lnTo>
                  <a:pt x="400535" y="141046"/>
                </a:lnTo>
                <a:lnTo>
                  <a:pt x="401275" y="136852"/>
                </a:lnTo>
                <a:lnTo>
                  <a:pt x="395170" y="117428"/>
                </a:lnTo>
                <a:lnTo>
                  <a:pt x="387107" y="118917"/>
                </a:lnTo>
                <a:lnTo>
                  <a:pt x="384681" y="110860"/>
                </a:lnTo>
                <a:lnTo>
                  <a:pt x="397673" y="100977"/>
                </a:lnTo>
                <a:lnTo>
                  <a:pt x="402649" y="107593"/>
                </a:lnTo>
                <a:lnTo>
                  <a:pt x="398652" y="118209"/>
                </a:lnTo>
                <a:lnTo>
                  <a:pt x="411017" y="107195"/>
                </a:lnTo>
                <a:lnTo>
                  <a:pt x="418877" y="126717"/>
                </a:lnTo>
                <a:lnTo>
                  <a:pt x="433263" y="120628"/>
                </a:lnTo>
                <a:lnTo>
                  <a:pt x="428705" y="111793"/>
                </a:lnTo>
                <a:lnTo>
                  <a:pt x="435131" y="105093"/>
                </a:lnTo>
                <a:lnTo>
                  <a:pt x="445453" y="109028"/>
                </a:lnTo>
                <a:lnTo>
                  <a:pt x="450646" y="100862"/>
                </a:lnTo>
                <a:lnTo>
                  <a:pt x="454565" y="112018"/>
                </a:lnTo>
                <a:lnTo>
                  <a:pt x="439496" y="118079"/>
                </a:lnTo>
                <a:lnTo>
                  <a:pt x="445887" y="138506"/>
                </a:lnTo>
                <a:lnTo>
                  <a:pt x="423461" y="145668"/>
                </a:lnTo>
                <a:lnTo>
                  <a:pt x="418825" y="159577"/>
                </a:lnTo>
                <a:lnTo>
                  <a:pt x="425802" y="163453"/>
                </a:lnTo>
                <a:lnTo>
                  <a:pt x="415186" y="183762"/>
                </a:lnTo>
                <a:lnTo>
                  <a:pt x="414674" y="200463"/>
                </a:lnTo>
                <a:lnTo>
                  <a:pt x="402934" y="195683"/>
                </a:lnTo>
                <a:lnTo>
                  <a:pt x="397388" y="230198"/>
                </a:lnTo>
                <a:lnTo>
                  <a:pt x="375755" y="231208"/>
                </a:lnTo>
                <a:lnTo>
                  <a:pt x="373343" y="223306"/>
                </a:lnTo>
                <a:lnTo>
                  <a:pt x="343378" y="219254"/>
                </a:lnTo>
                <a:lnTo>
                  <a:pt x="333609" y="227072"/>
                </a:lnTo>
                <a:lnTo>
                  <a:pt x="330425" y="241585"/>
                </a:lnTo>
                <a:lnTo>
                  <a:pt x="321206" y="238302"/>
                </a:lnTo>
                <a:lnTo>
                  <a:pt x="312882" y="242151"/>
                </a:lnTo>
                <a:lnTo>
                  <a:pt x="315705" y="246695"/>
                </a:lnTo>
                <a:lnTo>
                  <a:pt x="309546" y="258064"/>
                </a:lnTo>
                <a:lnTo>
                  <a:pt x="319320" y="270073"/>
                </a:lnTo>
                <a:lnTo>
                  <a:pt x="318077" y="283611"/>
                </a:lnTo>
                <a:lnTo>
                  <a:pt x="339052" y="290131"/>
                </a:lnTo>
                <a:lnTo>
                  <a:pt x="339792" y="301423"/>
                </a:lnTo>
                <a:lnTo>
                  <a:pt x="358592" y="314475"/>
                </a:lnTo>
                <a:lnTo>
                  <a:pt x="380717" y="306297"/>
                </a:lnTo>
                <a:lnTo>
                  <a:pt x="392941" y="330215"/>
                </a:lnTo>
                <a:lnTo>
                  <a:pt x="376309" y="336822"/>
                </a:lnTo>
                <a:lnTo>
                  <a:pt x="369624" y="360038"/>
                </a:lnTo>
                <a:lnTo>
                  <a:pt x="341594" y="356510"/>
                </a:lnTo>
                <a:lnTo>
                  <a:pt x="340503" y="366643"/>
                </a:lnTo>
                <a:lnTo>
                  <a:pt x="315436" y="354364"/>
                </a:lnTo>
                <a:lnTo>
                  <a:pt x="314843" y="376968"/>
                </a:lnTo>
                <a:lnTo>
                  <a:pt x="305099" y="381538"/>
                </a:lnTo>
                <a:lnTo>
                  <a:pt x="305897" y="388141"/>
                </a:lnTo>
                <a:lnTo>
                  <a:pt x="285052" y="392590"/>
                </a:lnTo>
                <a:lnTo>
                  <a:pt x="280686" y="408452"/>
                </a:lnTo>
                <a:lnTo>
                  <a:pt x="285860" y="419899"/>
                </a:lnTo>
                <a:lnTo>
                  <a:pt x="265593" y="427254"/>
                </a:lnTo>
                <a:lnTo>
                  <a:pt x="262743" y="449370"/>
                </a:lnTo>
                <a:lnTo>
                  <a:pt x="257061" y="445365"/>
                </a:lnTo>
                <a:lnTo>
                  <a:pt x="246514" y="449498"/>
                </a:lnTo>
                <a:close/>
              </a:path>
            </a:pathLst>
          </a:custGeom>
          <a:solidFill>
            <a:srgbClr val="0A2373"/>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2022 provincial petrol/diesel sales: KZN"/>
          <p:cNvSpPr/>
          <p:nvPr/>
        </p:nvSpPr>
        <p:spPr>
          <a:xfrm>
            <a:off x="4576800" y="3542692"/>
            <a:ext cx="946941" cy="1069830"/>
          </a:xfrm>
          <a:custGeom>
            <a:avLst/>
            <a:gdLst/>
            <a:ahLst/>
            <a:cxnLst/>
            <a:rect l="l" t="t" r="r" b="b"/>
            <a:pathLst>
              <a:path w="946941" h="1069830">
                <a:moveTo>
                  <a:pt x="270551" y="1069830"/>
                </a:moveTo>
                <a:lnTo>
                  <a:pt x="264247" y="1062786"/>
                </a:lnTo>
                <a:lnTo>
                  <a:pt x="266006" y="1056599"/>
                </a:lnTo>
                <a:lnTo>
                  <a:pt x="258588" y="1052074"/>
                </a:lnTo>
                <a:lnTo>
                  <a:pt x="263590" y="1043814"/>
                </a:lnTo>
                <a:lnTo>
                  <a:pt x="258902" y="1040504"/>
                </a:lnTo>
                <a:lnTo>
                  <a:pt x="262006" y="1030028"/>
                </a:lnTo>
                <a:lnTo>
                  <a:pt x="256477" y="1020983"/>
                </a:lnTo>
                <a:lnTo>
                  <a:pt x="245800" y="1017105"/>
                </a:lnTo>
                <a:lnTo>
                  <a:pt x="251330" y="1014166"/>
                </a:lnTo>
                <a:lnTo>
                  <a:pt x="235373" y="1012066"/>
                </a:lnTo>
                <a:lnTo>
                  <a:pt x="232559" y="1003992"/>
                </a:lnTo>
                <a:lnTo>
                  <a:pt x="223017" y="1005276"/>
                </a:lnTo>
                <a:lnTo>
                  <a:pt x="225045" y="997653"/>
                </a:lnTo>
                <a:lnTo>
                  <a:pt x="216133" y="998531"/>
                </a:lnTo>
                <a:lnTo>
                  <a:pt x="220282" y="989396"/>
                </a:lnTo>
                <a:lnTo>
                  <a:pt x="214374" y="988596"/>
                </a:lnTo>
                <a:lnTo>
                  <a:pt x="215655" y="994622"/>
                </a:lnTo>
                <a:lnTo>
                  <a:pt x="210885" y="996020"/>
                </a:lnTo>
                <a:lnTo>
                  <a:pt x="212663" y="989129"/>
                </a:lnTo>
                <a:lnTo>
                  <a:pt x="206332" y="992363"/>
                </a:lnTo>
                <a:lnTo>
                  <a:pt x="207911" y="985820"/>
                </a:lnTo>
                <a:lnTo>
                  <a:pt x="198913" y="986162"/>
                </a:lnTo>
                <a:lnTo>
                  <a:pt x="198254" y="979679"/>
                </a:lnTo>
                <a:lnTo>
                  <a:pt x="189568" y="977566"/>
                </a:lnTo>
                <a:lnTo>
                  <a:pt x="190991" y="969890"/>
                </a:lnTo>
                <a:lnTo>
                  <a:pt x="183889" y="968562"/>
                </a:lnTo>
                <a:lnTo>
                  <a:pt x="184948" y="972358"/>
                </a:lnTo>
                <a:lnTo>
                  <a:pt x="174776" y="975353"/>
                </a:lnTo>
                <a:lnTo>
                  <a:pt x="160570" y="960914"/>
                </a:lnTo>
                <a:lnTo>
                  <a:pt x="143974" y="965456"/>
                </a:lnTo>
                <a:lnTo>
                  <a:pt x="141665" y="957543"/>
                </a:lnTo>
                <a:lnTo>
                  <a:pt x="127856" y="952441"/>
                </a:lnTo>
                <a:lnTo>
                  <a:pt x="125452" y="946473"/>
                </a:lnTo>
                <a:lnTo>
                  <a:pt x="100709" y="950966"/>
                </a:lnTo>
                <a:lnTo>
                  <a:pt x="88088" y="958765"/>
                </a:lnTo>
                <a:lnTo>
                  <a:pt x="69949" y="945147"/>
                </a:lnTo>
                <a:lnTo>
                  <a:pt x="57412" y="944443"/>
                </a:lnTo>
                <a:lnTo>
                  <a:pt x="52437" y="949686"/>
                </a:lnTo>
                <a:lnTo>
                  <a:pt x="53166" y="943871"/>
                </a:lnTo>
                <a:lnTo>
                  <a:pt x="42233" y="940052"/>
                </a:lnTo>
                <a:lnTo>
                  <a:pt x="38049" y="933370"/>
                </a:lnTo>
                <a:lnTo>
                  <a:pt x="51262" y="926700"/>
                </a:lnTo>
                <a:lnTo>
                  <a:pt x="43982" y="921853"/>
                </a:lnTo>
                <a:lnTo>
                  <a:pt x="46454" y="915938"/>
                </a:lnTo>
                <a:lnTo>
                  <a:pt x="52367" y="917516"/>
                </a:lnTo>
                <a:lnTo>
                  <a:pt x="57436" y="896867"/>
                </a:lnTo>
                <a:lnTo>
                  <a:pt x="76775" y="887666"/>
                </a:lnTo>
                <a:lnTo>
                  <a:pt x="75775" y="882641"/>
                </a:lnTo>
                <a:lnTo>
                  <a:pt x="81926" y="883791"/>
                </a:lnTo>
                <a:lnTo>
                  <a:pt x="81802" y="868487"/>
                </a:lnTo>
                <a:lnTo>
                  <a:pt x="67891" y="854350"/>
                </a:lnTo>
                <a:lnTo>
                  <a:pt x="71497" y="864196"/>
                </a:lnTo>
                <a:lnTo>
                  <a:pt x="45572" y="852105"/>
                </a:lnTo>
                <a:lnTo>
                  <a:pt x="38923" y="830330"/>
                </a:lnTo>
                <a:lnTo>
                  <a:pt x="43778" y="810445"/>
                </a:lnTo>
                <a:lnTo>
                  <a:pt x="20988" y="784825"/>
                </a:lnTo>
                <a:lnTo>
                  <a:pt x="56217" y="764098"/>
                </a:lnTo>
                <a:lnTo>
                  <a:pt x="55020" y="755797"/>
                </a:lnTo>
                <a:lnTo>
                  <a:pt x="41609" y="745868"/>
                </a:lnTo>
                <a:lnTo>
                  <a:pt x="48578" y="740739"/>
                </a:lnTo>
                <a:lnTo>
                  <a:pt x="47329" y="725716"/>
                </a:lnTo>
                <a:lnTo>
                  <a:pt x="56159" y="704303"/>
                </a:lnTo>
                <a:lnTo>
                  <a:pt x="73345" y="693929"/>
                </a:lnTo>
                <a:lnTo>
                  <a:pt x="83879" y="695090"/>
                </a:lnTo>
                <a:lnTo>
                  <a:pt x="85067" y="680222"/>
                </a:lnTo>
                <a:lnTo>
                  <a:pt x="94129" y="676793"/>
                </a:lnTo>
                <a:lnTo>
                  <a:pt x="87774" y="656139"/>
                </a:lnTo>
                <a:lnTo>
                  <a:pt x="112808" y="645388"/>
                </a:lnTo>
                <a:lnTo>
                  <a:pt x="125562" y="618155"/>
                </a:lnTo>
                <a:lnTo>
                  <a:pt x="116150" y="586055"/>
                </a:lnTo>
                <a:lnTo>
                  <a:pt x="102094" y="579185"/>
                </a:lnTo>
                <a:lnTo>
                  <a:pt x="105297" y="564110"/>
                </a:lnTo>
                <a:lnTo>
                  <a:pt x="95909" y="551263"/>
                </a:lnTo>
                <a:lnTo>
                  <a:pt x="82879" y="553397"/>
                </a:lnTo>
                <a:lnTo>
                  <a:pt x="74583" y="536857"/>
                </a:lnTo>
                <a:lnTo>
                  <a:pt x="54602" y="524435"/>
                </a:lnTo>
                <a:lnTo>
                  <a:pt x="31758" y="498465"/>
                </a:lnTo>
                <a:lnTo>
                  <a:pt x="22757" y="506548"/>
                </a:lnTo>
                <a:lnTo>
                  <a:pt x="14119" y="492881"/>
                </a:lnTo>
                <a:lnTo>
                  <a:pt x="16309" y="484301"/>
                </a:lnTo>
                <a:lnTo>
                  <a:pt x="10527" y="480060"/>
                </a:lnTo>
                <a:lnTo>
                  <a:pt x="16686" y="478096"/>
                </a:lnTo>
                <a:lnTo>
                  <a:pt x="15697" y="472518"/>
                </a:lnTo>
                <a:lnTo>
                  <a:pt x="7471" y="466200"/>
                </a:lnTo>
                <a:lnTo>
                  <a:pt x="0" y="468943"/>
                </a:lnTo>
                <a:lnTo>
                  <a:pt x="5974" y="448700"/>
                </a:lnTo>
                <a:lnTo>
                  <a:pt x="16578" y="438817"/>
                </a:lnTo>
                <a:lnTo>
                  <a:pt x="24263" y="419530"/>
                </a:lnTo>
                <a:lnTo>
                  <a:pt x="52108" y="412929"/>
                </a:lnTo>
                <a:lnTo>
                  <a:pt x="60646" y="418655"/>
                </a:lnTo>
                <a:lnTo>
                  <a:pt x="69083" y="409663"/>
                </a:lnTo>
                <a:lnTo>
                  <a:pt x="74685" y="413703"/>
                </a:lnTo>
                <a:lnTo>
                  <a:pt x="79395" y="407215"/>
                </a:lnTo>
                <a:lnTo>
                  <a:pt x="74037" y="400556"/>
                </a:lnTo>
                <a:lnTo>
                  <a:pt x="87580" y="383401"/>
                </a:lnTo>
                <a:lnTo>
                  <a:pt x="96799" y="387057"/>
                </a:lnTo>
                <a:lnTo>
                  <a:pt x="116222" y="370867"/>
                </a:lnTo>
                <a:lnTo>
                  <a:pt x="125424" y="372233"/>
                </a:lnTo>
                <a:lnTo>
                  <a:pt x="141913" y="346294"/>
                </a:lnTo>
                <a:lnTo>
                  <a:pt x="173154" y="339553"/>
                </a:lnTo>
                <a:lnTo>
                  <a:pt x="175185" y="325425"/>
                </a:lnTo>
                <a:lnTo>
                  <a:pt x="183530" y="323575"/>
                </a:lnTo>
                <a:lnTo>
                  <a:pt x="182722" y="301207"/>
                </a:lnTo>
                <a:lnTo>
                  <a:pt x="174397" y="289827"/>
                </a:lnTo>
                <a:lnTo>
                  <a:pt x="182881" y="269638"/>
                </a:lnTo>
                <a:lnTo>
                  <a:pt x="189528" y="267521"/>
                </a:lnTo>
                <a:lnTo>
                  <a:pt x="183978" y="258560"/>
                </a:lnTo>
                <a:lnTo>
                  <a:pt x="192540" y="251840"/>
                </a:lnTo>
                <a:lnTo>
                  <a:pt x="194759" y="233683"/>
                </a:lnTo>
                <a:lnTo>
                  <a:pt x="202693" y="229796"/>
                </a:lnTo>
                <a:lnTo>
                  <a:pt x="196798" y="218971"/>
                </a:lnTo>
                <a:lnTo>
                  <a:pt x="198719" y="201581"/>
                </a:lnTo>
                <a:lnTo>
                  <a:pt x="190591" y="188983"/>
                </a:lnTo>
                <a:lnTo>
                  <a:pt x="217042" y="176250"/>
                </a:lnTo>
                <a:lnTo>
                  <a:pt x="211643" y="158207"/>
                </a:lnTo>
                <a:lnTo>
                  <a:pt x="200597" y="154307"/>
                </a:lnTo>
                <a:lnTo>
                  <a:pt x="206013" y="147952"/>
                </a:lnTo>
                <a:lnTo>
                  <a:pt x="200904" y="141053"/>
                </a:lnTo>
                <a:lnTo>
                  <a:pt x="212554" y="136597"/>
                </a:lnTo>
                <a:lnTo>
                  <a:pt x="220959" y="140805"/>
                </a:lnTo>
                <a:lnTo>
                  <a:pt x="231762" y="121085"/>
                </a:lnTo>
                <a:lnTo>
                  <a:pt x="245056" y="123370"/>
                </a:lnTo>
                <a:lnTo>
                  <a:pt x="249570" y="115514"/>
                </a:lnTo>
                <a:lnTo>
                  <a:pt x="271694" y="127486"/>
                </a:lnTo>
                <a:lnTo>
                  <a:pt x="288083" y="120726"/>
                </a:lnTo>
                <a:lnTo>
                  <a:pt x="300502" y="132752"/>
                </a:lnTo>
                <a:lnTo>
                  <a:pt x="313584" y="118407"/>
                </a:lnTo>
                <a:lnTo>
                  <a:pt x="321646" y="125303"/>
                </a:lnTo>
                <a:lnTo>
                  <a:pt x="332093" y="122648"/>
                </a:lnTo>
                <a:lnTo>
                  <a:pt x="333270" y="108831"/>
                </a:lnTo>
                <a:lnTo>
                  <a:pt x="352502" y="108979"/>
                </a:lnTo>
                <a:lnTo>
                  <a:pt x="353200" y="97674"/>
                </a:lnTo>
                <a:lnTo>
                  <a:pt x="366593" y="98890"/>
                </a:lnTo>
                <a:lnTo>
                  <a:pt x="365978" y="110422"/>
                </a:lnTo>
                <a:lnTo>
                  <a:pt x="370916" y="113919"/>
                </a:lnTo>
                <a:lnTo>
                  <a:pt x="382294" y="110508"/>
                </a:lnTo>
                <a:lnTo>
                  <a:pt x="402605" y="114181"/>
                </a:lnTo>
                <a:lnTo>
                  <a:pt x="432860" y="105539"/>
                </a:lnTo>
                <a:lnTo>
                  <a:pt x="444489" y="117004"/>
                </a:lnTo>
                <a:lnTo>
                  <a:pt x="448738" y="113732"/>
                </a:lnTo>
                <a:lnTo>
                  <a:pt x="455853" y="124673"/>
                </a:lnTo>
                <a:lnTo>
                  <a:pt x="464016" y="122287"/>
                </a:lnTo>
                <a:lnTo>
                  <a:pt x="466285" y="114550"/>
                </a:lnTo>
                <a:lnTo>
                  <a:pt x="479198" y="113231"/>
                </a:lnTo>
                <a:lnTo>
                  <a:pt x="482990" y="129575"/>
                </a:lnTo>
                <a:lnTo>
                  <a:pt x="519137" y="121562"/>
                </a:lnTo>
                <a:lnTo>
                  <a:pt x="533926" y="132251"/>
                </a:lnTo>
                <a:lnTo>
                  <a:pt x="560257" y="101489"/>
                </a:lnTo>
                <a:lnTo>
                  <a:pt x="609294" y="122549"/>
                </a:lnTo>
                <a:lnTo>
                  <a:pt x="719505" y="129340"/>
                </a:lnTo>
                <a:lnTo>
                  <a:pt x="721677" y="77892"/>
                </a:lnTo>
                <a:lnTo>
                  <a:pt x="734467" y="118"/>
                </a:lnTo>
                <a:lnTo>
                  <a:pt x="754869" y="0"/>
                </a:lnTo>
                <a:lnTo>
                  <a:pt x="758974" y="8890"/>
                </a:lnTo>
                <a:lnTo>
                  <a:pt x="772748" y="15945"/>
                </a:lnTo>
                <a:lnTo>
                  <a:pt x="781810" y="8714"/>
                </a:lnTo>
                <a:lnTo>
                  <a:pt x="806794" y="18198"/>
                </a:lnTo>
                <a:lnTo>
                  <a:pt x="934915" y="24748"/>
                </a:lnTo>
                <a:lnTo>
                  <a:pt x="946941" y="29161"/>
                </a:lnTo>
                <a:lnTo>
                  <a:pt x="931801" y="92016"/>
                </a:lnTo>
                <a:lnTo>
                  <a:pt x="888252" y="189222"/>
                </a:lnTo>
                <a:lnTo>
                  <a:pt x="865563" y="270227"/>
                </a:lnTo>
                <a:lnTo>
                  <a:pt x="851324" y="348836"/>
                </a:lnTo>
                <a:lnTo>
                  <a:pt x="817674" y="409994"/>
                </a:lnTo>
                <a:lnTo>
                  <a:pt x="813336" y="434627"/>
                </a:lnTo>
                <a:lnTo>
                  <a:pt x="800906" y="431554"/>
                </a:lnTo>
                <a:lnTo>
                  <a:pt x="786796" y="456942"/>
                </a:lnTo>
                <a:lnTo>
                  <a:pt x="704354" y="528481"/>
                </a:lnTo>
                <a:lnTo>
                  <a:pt x="645845" y="549010"/>
                </a:lnTo>
                <a:lnTo>
                  <a:pt x="546409" y="649299"/>
                </a:lnTo>
                <a:lnTo>
                  <a:pt x="478658" y="745275"/>
                </a:lnTo>
                <a:lnTo>
                  <a:pt x="472672" y="761240"/>
                </a:lnTo>
                <a:lnTo>
                  <a:pt x="477149" y="773018"/>
                </a:lnTo>
                <a:lnTo>
                  <a:pt x="435953" y="816798"/>
                </a:lnTo>
                <a:lnTo>
                  <a:pt x="353947" y="958657"/>
                </a:lnTo>
                <a:lnTo>
                  <a:pt x="277872" y="1066058"/>
                </a:lnTo>
                <a:lnTo>
                  <a:pt x="270551" y="1069830"/>
                </a:lnTo>
                <a:close/>
              </a:path>
            </a:pathLst>
          </a:custGeom>
          <a:solidFill>
            <a:srgbClr val="3D619D"/>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2022 provincial petrol/diesel sales: LP"/>
          <p:cNvSpPr/>
          <p:nvPr/>
        </p:nvSpPr>
        <p:spPr>
          <a:xfrm>
            <a:off x="4033528" y="2320210"/>
            <a:ext cx="1287007" cy="840746"/>
          </a:xfrm>
          <a:custGeom>
            <a:avLst/>
            <a:gdLst/>
            <a:ahLst/>
            <a:cxnLst/>
            <a:rect l="l" t="t" r="r" b="b"/>
            <a:pathLst>
              <a:path w="1287007" h="840746">
                <a:moveTo>
                  <a:pt x="512141" y="764488"/>
                </a:moveTo>
                <a:lnTo>
                  <a:pt x="526546" y="782464"/>
                </a:lnTo>
                <a:lnTo>
                  <a:pt x="515123" y="797393"/>
                </a:lnTo>
                <a:lnTo>
                  <a:pt x="508762" y="790076"/>
                </a:lnTo>
                <a:lnTo>
                  <a:pt x="499330" y="789101"/>
                </a:lnTo>
                <a:lnTo>
                  <a:pt x="484678" y="792792"/>
                </a:lnTo>
                <a:lnTo>
                  <a:pt x="484943" y="803894"/>
                </a:lnTo>
                <a:lnTo>
                  <a:pt x="456756" y="806247"/>
                </a:lnTo>
                <a:lnTo>
                  <a:pt x="456151" y="798792"/>
                </a:lnTo>
                <a:lnTo>
                  <a:pt x="437213" y="802957"/>
                </a:lnTo>
                <a:lnTo>
                  <a:pt x="425782" y="777721"/>
                </a:lnTo>
                <a:lnTo>
                  <a:pt x="400123" y="775207"/>
                </a:lnTo>
                <a:lnTo>
                  <a:pt x="398922" y="759851"/>
                </a:lnTo>
                <a:lnTo>
                  <a:pt x="390851" y="760356"/>
                </a:lnTo>
                <a:lnTo>
                  <a:pt x="388699" y="748006"/>
                </a:lnTo>
                <a:lnTo>
                  <a:pt x="405093" y="744950"/>
                </a:lnTo>
                <a:lnTo>
                  <a:pt x="409515" y="753559"/>
                </a:lnTo>
                <a:lnTo>
                  <a:pt x="419044" y="755888"/>
                </a:lnTo>
                <a:lnTo>
                  <a:pt x="429956" y="736313"/>
                </a:lnTo>
                <a:lnTo>
                  <a:pt x="398900" y="723830"/>
                </a:lnTo>
                <a:lnTo>
                  <a:pt x="397852" y="717333"/>
                </a:lnTo>
                <a:lnTo>
                  <a:pt x="378474" y="718350"/>
                </a:lnTo>
                <a:lnTo>
                  <a:pt x="366189" y="711019"/>
                </a:lnTo>
                <a:lnTo>
                  <a:pt x="357297" y="721889"/>
                </a:lnTo>
                <a:lnTo>
                  <a:pt x="320783" y="712166"/>
                </a:lnTo>
                <a:lnTo>
                  <a:pt x="296960" y="718747"/>
                </a:lnTo>
                <a:lnTo>
                  <a:pt x="283390" y="713178"/>
                </a:lnTo>
                <a:lnTo>
                  <a:pt x="276084" y="715874"/>
                </a:lnTo>
                <a:lnTo>
                  <a:pt x="275054" y="727243"/>
                </a:lnTo>
                <a:lnTo>
                  <a:pt x="262772" y="744503"/>
                </a:lnTo>
                <a:lnTo>
                  <a:pt x="248718" y="736315"/>
                </a:lnTo>
                <a:lnTo>
                  <a:pt x="214906" y="740953"/>
                </a:lnTo>
                <a:lnTo>
                  <a:pt x="209677" y="729167"/>
                </a:lnTo>
                <a:lnTo>
                  <a:pt x="199998" y="727614"/>
                </a:lnTo>
                <a:lnTo>
                  <a:pt x="188593" y="735247"/>
                </a:lnTo>
                <a:lnTo>
                  <a:pt x="190623" y="727286"/>
                </a:lnTo>
                <a:lnTo>
                  <a:pt x="184064" y="726419"/>
                </a:lnTo>
                <a:lnTo>
                  <a:pt x="189635" y="708825"/>
                </a:lnTo>
                <a:lnTo>
                  <a:pt x="179755" y="704708"/>
                </a:lnTo>
                <a:lnTo>
                  <a:pt x="172781" y="712363"/>
                </a:lnTo>
                <a:lnTo>
                  <a:pt x="160777" y="691988"/>
                </a:lnTo>
                <a:lnTo>
                  <a:pt x="146853" y="688413"/>
                </a:lnTo>
                <a:lnTo>
                  <a:pt x="144043" y="645355"/>
                </a:lnTo>
                <a:lnTo>
                  <a:pt x="132260" y="645684"/>
                </a:lnTo>
                <a:lnTo>
                  <a:pt x="133171" y="659777"/>
                </a:lnTo>
                <a:lnTo>
                  <a:pt x="85992" y="674875"/>
                </a:lnTo>
                <a:lnTo>
                  <a:pt x="79238" y="686344"/>
                </a:lnTo>
                <a:lnTo>
                  <a:pt x="49321" y="667257"/>
                </a:lnTo>
                <a:lnTo>
                  <a:pt x="11107" y="666678"/>
                </a:lnTo>
                <a:lnTo>
                  <a:pt x="3681" y="656816"/>
                </a:lnTo>
                <a:lnTo>
                  <a:pt x="4356" y="627949"/>
                </a:lnTo>
                <a:lnTo>
                  <a:pt x="0" y="624820"/>
                </a:lnTo>
                <a:lnTo>
                  <a:pt x="14719" y="610391"/>
                </a:lnTo>
                <a:lnTo>
                  <a:pt x="24189" y="584723"/>
                </a:lnTo>
                <a:lnTo>
                  <a:pt x="42482" y="565205"/>
                </a:lnTo>
                <a:lnTo>
                  <a:pt x="60437" y="557891"/>
                </a:lnTo>
                <a:lnTo>
                  <a:pt x="70061" y="542862"/>
                </a:lnTo>
                <a:lnTo>
                  <a:pt x="89291" y="539239"/>
                </a:lnTo>
                <a:lnTo>
                  <a:pt x="108252" y="525335"/>
                </a:lnTo>
                <a:lnTo>
                  <a:pt x="112549" y="509720"/>
                </a:lnTo>
                <a:lnTo>
                  <a:pt x="108178" y="506966"/>
                </a:lnTo>
                <a:lnTo>
                  <a:pt x="111683" y="502161"/>
                </a:lnTo>
                <a:lnTo>
                  <a:pt x="107432" y="488419"/>
                </a:lnTo>
                <a:lnTo>
                  <a:pt x="113273" y="484143"/>
                </a:lnTo>
                <a:lnTo>
                  <a:pt x="124887" y="450072"/>
                </a:lnTo>
                <a:lnTo>
                  <a:pt x="130601" y="429378"/>
                </a:lnTo>
                <a:lnTo>
                  <a:pt x="125295" y="423454"/>
                </a:lnTo>
                <a:lnTo>
                  <a:pt x="131605" y="418256"/>
                </a:lnTo>
                <a:lnTo>
                  <a:pt x="134967" y="385718"/>
                </a:lnTo>
                <a:lnTo>
                  <a:pt x="142340" y="382200"/>
                </a:lnTo>
                <a:lnTo>
                  <a:pt x="142672" y="370903"/>
                </a:lnTo>
                <a:lnTo>
                  <a:pt x="148059" y="371044"/>
                </a:lnTo>
                <a:lnTo>
                  <a:pt x="150796" y="380841"/>
                </a:lnTo>
                <a:lnTo>
                  <a:pt x="158548" y="377897"/>
                </a:lnTo>
                <a:lnTo>
                  <a:pt x="161123" y="370964"/>
                </a:lnTo>
                <a:lnTo>
                  <a:pt x="156116" y="363033"/>
                </a:lnTo>
                <a:lnTo>
                  <a:pt x="165658" y="360731"/>
                </a:lnTo>
                <a:lnTo>
                  <a:pt x="169947" y="350403"/>
                </a:lnTo>
                <a:lnTo>
                  <a:pt x="178771" y="352332"/>
                </a:lnTo>
                <a:lnTo>
                  <a:pt x="174334" y="340624"/>
                </a:lnTo>
                <a:lnTo>
                  <a:pt x="189811" y="343632"/>
                </a:lnTo>
                <a:lnTo>
                  <a:pt x="187935" y="334339"/>
                </a:lnTo>
                <a:lnTo>
                  <a:pt x="214058" y="325844"/>
                </a:lnTo>
                <a:lnTo>
                  <a:pt x="220758" y="310678"/>
                </a:lnTo>
                <a:lnTo>
                  <a:pt x="226247" y="309449"/>
                </a:lnTo>
                <a:lnTo>
                  <a:pt x="225314" y="316614"/>
                </a:lnTo>
                <a:lnTo>
                  <a:pt x="231143" y="317006"/>
                </a:lnTo>
                <a:lnTo>
                  <a:pt x="231971" y="309849"/>
                </a:lnTo>
                <a:lnTo>
                  <a:pt x="239366" y="307461"/>
                </a:lnTo>
                <a:lnTo>
                  <a:pt x="237569" y="313539"/>
                </a:lnTo>
                <a:lnTo>
                  <a:pt x="242374" y="317080"/>
                </a:lnTo>
                <a:lnTo>
                  <a:pt x="247318" y="306487"/>
                </a:lnTo>
                <a:lnTo>
                  <a:pt x="267775" y="307049"/>
                </a:lnTo>
                <a:lnTo>
                  <a:pt x="277054" y="295965"/>
                </a:lnTo>
                <a:lnTo>
                  <a:pt x="278806" y="276643"/>
                </a:lnTo>
                <a:lnTo>
                  <a:pt x="285574" y="272152"/>
                </a:lnTo>
                <a:lnTo>
                  <a:pt x="286024" y="264255"/>
                </a:lnTo>
                <a:lnTo>
                  <a:pt x="297091" y="266912"/>
                </a:lnTo>
                <a:lnTo>
                  <a:pt x="306645" y="259592"/>
                </a:lnTo>
                <a:lnTo>
                  <a:pt x="318839" y="268586"/>
                </a:lnTo>
                <a:lnTo>
                  <a:pt x="329433" y="253595"/>
                </a:lnTo>
                <a:lnTo>
                  <a:pt x="325200" y="244152"/>
                </a:lnTo>
                <a:lnTo>
                  <a:pt x="335450" y="244407"/>
                </a:lnTo>
                <a:lnTo>
                  <a:pt x="336607" y="237334"/>
                </a:lnTo>
                <a:lnTo>
                  <a:pt x="365746" y="224016"/>
                </a:lnTo>
                <a:lnTo>
                  <a:pt x="366099" y="201276"/>
                </a:lnTo>
                <a:lnTo>
                  <a:pt x="390458" y="189143"/>
                </a:lnTo>
                <a:lnTo>
                  <a:pt x="391925" y="168826"/>
                </a:lnTo>
                <a:lnTo>
                  <a:pt x="418258" y="153279"/>
                </a:lnTo>
                <a:lnTo>
                  <a:pt x="426238" y="132784"/>
                </a:lnTo>
                <a:lnTo>
                  <a:pt x="464615" y="104751"/>
                </a:lnTo>
                <a:lnTo>
                  <a:pt x="507775" y="109132"/>
                </a:lnTo>
                <a:lnTo>
                  <a:pt x="581494" y="85990"/>
                </a:lnTo>
                <a:lnTo>
                  <a:pt x="581345" y="79951"/>
                </a:lnTo>
                <a:lnTo>
                  <a:pt x="587701" y="76717"/>
                </a:lnTo>
                <a:lnTo>
                  <a:pt x="603630" y="78705"/>
                </a:lnTo>
                <a:lnTo>
                  <a:pt x="615656" y="58641"/>
                </a:lnTo>
                <a:lnTo>
                  <a:pt x="614941" y="41045"/>
                </a:lnTo>
                <a:lnTo>
                  <a:pt x="632404" y="18149"/>
                </a:lnTo>
                <a:lnTo>
                  <a:pt x="659582" y="18871"/>
                </a:lnTo>
                <a:lnTo>
                  <a:pt x="675855" y="9840"/>
                </a:lnTo>
                <a:lnTo>
                  <a:pt x="700164" y="12923"/>
                </a:lnTo>
                <a:lnTo>
                  <a:pt x="703490" y="17566"/>
                </a:lnTo>
                <a:lnTo>
                  <a:pt x="734497" y="8793"/>
                </a:lnTo>
                <a:lnTo>
                  <a:pt x="749601" y="12369"/>
                </a:lnTo>
                <a:lnTo>
                  <a:pt x="752497" y="6002"/>
                </a:lnTo>
                <a:lnTo>
                  <a:pt x="769375" y="7392"/>
                </a:lnTo>
                <a:lnTo>
                  <a:pt x="780697" y="0"/>
                </a:lnTo>
                <a:lnTo>
                  <a:pt x="808392" y="5207"/>
                </a:lnTo>
                <a:lnTo>
                  <a:pt x="834339" y="19780"/>
                </a:lnTo>
                <a:lnTo>
                  <a:pt x="844183" y="18983"/>
                </a:lnTo>
                <a:lnTo>
                  <a:pt x="854388" y="28133"/>
                </a:lnTo>
                <a:lnTo>
                  <a:pt x="865697" y="29802"/>
                </a:lnTo>
                <a:lnTo>
                  <a:pt x="867382" y="36178"/>
                </a:lnTo>
                <a:lnTo>
                  <a:pt x="890764" y="51796"/>
                </a:lnTo>
                <a:lnTo>
                  <a:pt x="915865" y="48953"/>
                </a:lnTo>
                <a:lnTo>
                  <a:pt x="929337" y="64951"/>
                </a:lnTo>
                <a:lnTo>
                  <a:pt x="977060" y="56810"/>
                </a:lnTo>
                <a:lnTo>
                  <a:pt x="1010676" y="63400"/>
                </a:lnTo>
                <a:lnTo>
                  <a:pt x="1018441" y="57276"/>
                </a:lnTo>
                <a:lnTo>
                  <a:pt x="1059544" y="54308"/>
                </a:lnTo>
                <a:lnTo>
                  <a:pt x="1119060" y="71737"/>
                </a:lnTo>
                <a:lnTo>
                  <a:pt x="1136993" y="67374"/>
                </a:lnTo>
                <a:lnTo>
                  <a:pt x="1148448" y="78207"/>
                </a:lnTo>
                <a:lnTo>
                  <a:pt x="1161618" y="78573"/>
                </a:lnTo>
                <a:lnTo>
                  <a:pt x="1170698" y="92956"/>
                </a:lnTo>
                <a:lnTo>
                  <a:pt x="1221661" y="294162"/>
                </a:lnTo>
                <a:lnTo>
                  <a:pt x="1217575" y="366559"/>
                </a:lnTo>
                <a:lnTo>
                  <a:pt x="1246205" y="405842"/>
                </a:lnTo>
                <a:lnTo>
                  <a:pt x="1246645" y="429533"/>
                </a:lnTo>
                <a:lnTo>
                  <a:pt x="1261382" y="472814"/>
                </a:lnTo>
                <a:lnTo>
                  <a:pt x="1286664" y="491433"/>
                </a:lnTo>
                <a:lnTo>
                  <a:pt x="1287007" y="499018"/>
                </a:lnTo>
                <a:lnTo>
                  <a:pt x="1270109" y="501848"/>
                </a:lnTo>
                <a:lnTo>
                  <a:pt x="1260341" y="497182"/>
                </a:lnTo>
                <a:lnTo>
                  <a:pt x="1251763" y="503920"/>
                </a:lnTo>
                <a:lnTo>
                  <a:pt x="1251528" y="512803"/>
                </a:lnTo>
                <a:lnTo>
                  <a:pt x="1243410" y="515904"/>
                </a:lnTo>
                <a:lnTo>
                  <a:pt x="1234010" y="503660"/>
                </a:lnTo>
                <a:lnTo>
                  <a:pt x="1224894" y="505514"/>
                </a:lnTo>
                <a:lnTo>
                  <a:pt x="1219147" y="513673"/>
                </a:lnTo>
                <a:lnTo>
                  <a:pt x="1212434" y="507362"/>
                </a:lnTo>
                <a:lnTo>
                  <a:pt x="1202967" y="512901"/>
                </a:lnTo>
                <a:lnTo>
                  <a:pt x="1184331" y="502511"/>
                </a:lnTo>
                <a:lnTo>
                  <a:pt x="1172360" y="514081"/>
                </a:lnTo>
                <a:lnTo>
                  <a:pt x="1167882" y="509932"/>
                </a:lnTo>
                <a:lnTo>
                  <a:pt x="1138745" y="520930"/>
                </a:lnTo>
                <a:lnTo>
                  <a:pt x="1124612" y="502297"/>
                </a:lnTo>
                <a:lnTo>
                  <a:pt x="1113305" y="511621"/>
                </a:lnTo>
                <a:lnTo>
                  <a:pt x="1095587" y="514236"/>
                </a:lnTo>
                <a:lnTo>
                  <a:pt x="1106853" y="516567"/>
                </a:lnTo>
                <a:lnTo>
                  <a:pt x="1105234" y="523896"/>
                </a:lnTo>
                <a:lnTo>
                  <a:pt x="1100816" y="523204"/>
                </a:lnTo>
                <a:lnTo>
                  <a:pt x="1103090" y="530577"/>
                </a:lnTo>
                <a:lnTo>
                  <a:pt x="1089184" y="540536"/>
                </a:lnTo>
                <a:lnTo>
                  <a:pt x="1089046" y="574972"/>
                </a:lnTo>
                <a:lnTo>
                  <a:pt x="1122930" y="572324"/>
                </a:lnTo>
                <a:lnTo>
                  <a:pt x="1132020" y="588266"/>
                </a:lnTo>
                <a:lnTo>
                  <a:pt x="1112719" y="589889"/>
                </a:lnTo>
                <a:lnTo>
                  <a:pt x="1111982" y="605682"/>
                </a:lnTo>
                <a:lnTo>
                  <a:pt x="1122225" y="603394"/>
                </a:lnTo>
                <a:lnTo>
                  <a:pt x="1133129" y="622549"/>
                </a:lnTo>
                <a:lnTo>
                  <a:pt x="1126030" y="636753"/>
                </a:lnTo>
                <a:lnTo>
                  <a:pt x="1063446" y="640319"/>
                </a:lnTo>
                <a:lnTo>
                  <a:pt x="1062980" y="624736"/>
                </a:lnTo>
                <a:lnTo>
                  <a:pt x="1043494" y="628205"/>
                </a:lnTo>
                <a:lnTo>
                  <a:pt x="1018043" y="606966"/>
                </a:lnTo>
                <a:lnTo>
                  <a:pt x="1010891" y="616428"/>
                </a:lnTo>
                <a:lnTo>
                  <a:pt x="1009704" y="644584"/>
                </a:lnTo>
                <a:lnTo>
                  <a:pt x="1003237" y="638571"/>
                </a:lnTo>
                <a:lnTo>
                  <a:pt x="997620" y="647846"/>
                </a:lnTo>
                <a:lnTo>
                  <a:pt x="1006250" y="669123"/>
                </a:lnTo>
                <a:lnTo>
                  <a:pt x="996230" y="676483"/>
                </a:lnTo>
                <a:lnTo>
                  <a:pt x="986467" y="675589"/>
                </a:lnTo>
                <a:lnTo>
                  <a:pt x="985526" y="681796"/>
                </a:lnTo>
                <a:lnTo>
                  <a:pt x="992458" y="686239"/>
                </a:lnTo>
                <a:lnTo>
                  <a:pt x="990181" y="695624"/>
                </a:lnTo>
                <a:lnTo>
                  <a:pt x="971599" y="714142"/>
                </a:lnTo>
                <a:lnTo>
                  <a:pt x="971557" y="721701"/>
                </a:lnTo>
                <a:lnTo>
                  <a:pt x="967522" y="716283"/>
                </a:lnTo>
                <a:lnTo>
                  <a:pt x="951827" y="720248"/>
                </a:lnTo>
                <a:lnTo>
                  <a:pt x="950927" y="730074"/>
                </a:lnTo>
                <a:lnTo>
                  <a:pt x="935874" y="704217"/>
                </a:lnTo>
                <a:lnTo>
                  <a:pt x="927702" y="702470"/>
                </a:lnTo>
                <a:lnTo>
                  <a:pt x="929038" y="708105"/>
                </a:lnTo>
                <a:lnTo>
                  <a:pt x="919418" y="702066"/>
                </a:lnTo>
                <a:lnTo>
                  <a:pt x="918761" y="710781"/>
                </a:lnTo>
                <a:lnTo>
                  <a:pt x="908299" y="710736"/>
                </a:lnTo>
                <a:lnTo>
                  <a:pt x="905977" y="706206"/>
                </a:lnTo>
                <a:lnTo>
                  <a:pt x="881571" y="702022"/>
                </a:lnTo>
                <a:lnTo>
                  <a:pt x="875584" y="735979"/>
                </a:lnTo>
                <a:lnTo>
                  <a:pt x="881292" y="748297"/>
                </a:lnTo>
                <a:lnTo>
                  <a:pt x="869667" y="746779"/>
                </a:lnTo>
                <a:lnTo>
                  <a:pt x="867788" y="770099"/>
                </a:lnTo>
                <a:lnTo>
                  <a:pt x="855325" y="770015"/>
                </a:lnTo>
                <a:lnTo>
                  <a:pt x="841755" y="753750"/>
                </a:lnTo>
                <a:lnTo>
                  <a:pt x="841547" y="758972"/>
                </a:lnTo>
                <a:lnTo>
                  <a:pt x="829639" y="760417"/>
                </a:lnTo>
                <a:lnTo>
                  <a:pt x="835279" y="774019"/>
                </a:lnTo>
                <a:lnTo>
                  <a:pt x="833536" y="824091"/>
                </a:lnTo>
                <a:lnTo>
                  <a:pt x="806104" y="822529"/>
                </a:lnTo>
                <a:lnTo>
                  <a:pt x="805828" y="829109"/>
                </a:lnTo>
                <a:lnTo>
                  <a:pt x="794597" y="834286"/>
                </a:lnTo>
                <a:lnTo>
                  <a:pt x="790217" y="827089"/>
                </a:lnTo>
                <a:lnTo>
                  <a:pt x="783899" y="827657"/>
                </a:lnTo>
                <a:lnTo>
                  <a:pt x="778202" y="837533"/>
                </a:lnTo>
                <a:lnTo>
                  <a:pt x="756117" y="829164"/>
                </a:lnTo>
                <a:lnTo>
                  <a:pt x="741688" y="835894"/>
                </a:lnTo>
                <a:lnTo>
                  <a:pt x="720733" y="836243"/>
                </a:lnTo>
                <a:lnTo>
                  <a:pt x="719693" y="840746"/>
                </a:lnTo>
                <a:lnTo>
                  <a:pt x="680680" y="834686"/>
                </a:lnTo>
                <a:lnTo>
                  <a:pt x="679134" y="826555"/>
                </a:lnTo>
                <a:lnTo>
                  <a:pt x="661083" y="826531"/>
                </a:lnTo>
                <a:lnTo>
                  <a:pt x="647508" y="836064"/>
                </a:lnTo>
                <a:lnTo>
                  <a:pt x="645175" y="824654"/>
                </a:lnTo>
                <a:lnTo>
                  <a:pt x="630058" y="829244"/>
                </a:lnTo>
                <a:lnTo>
                  <a:pt x="637975" y="820366"/>
                </a:lnTo>
                <a:lnTo>
                  <a:pt x="639054" y="807328"/>
                </a:lnTo>
                <a:lnTo>
                  <a:pt x="622406" y="811323"/>
                </a:lnTo>
                <a:lnTo>
                  <a:pt x="621334" y="803159"/>
                </a:lnTo>
                <a:lnTo>
                  <a:pt x="609423" y="799453"/>
                </a:lnTo>
                <a:lnTo>
                  <a:pt x="608092" y="792870"/>
                </a:lnTo>
                <a:lnTo>
                  <a:pt x="611447" y="764749"/>
                </a:lnTo>
                <a:lnTo>
                  <a:pt x="622390" y="767146"/>
                </a:lnTo>
                <a:lnTo>
                  <a:pt x="631650" y="758401"/>
                </a:lnTo>
                <a:lnTo>
                  <a:pt x="622389" y="755681"/>
                </a:lnTo>
                <a:lnTo>
                  <a:pt x="618593" y="745797"/>
                </a:lnTo>
                <a:lnTo>
                  <a:pt x="595529" y="746245"/>
                </a:lnTo>
                <a:lnTo>
                  <a:pt x="587508" y="728043"/>
                </a:lnTo>
                <a:lnTo>
                  <a:pt x="581721" y="729668"/>
                </a:lnTo>
                <a:lnTo>
                  <a:pt x="577764" y="716345"/>
                </a:lnTo>
                <a:lnTo>
                  <a:pt x="589612" y="711139"/>
                </a:lnTo>
                <a:lnTo>
                  <a:pt x="585736" y="702804"/>
                </a:lnTo>
                <a:lnTo>
                  <a:pt x="567395" y="710336"/>
                </a:lnTo>
                <a:lnTo>
                  <a:pt x="565428" y="705864"/>
                </a:lnTo>
                <a:lnTo>
                  <a:pt x="547284" y="704111"/>
                </a:lnTo>
                <a:lnTo>
                  <a:pt x="510826" y="726561"/>
                </a:lnTo>
                <a:lnTo>
                  <a:pt x="517090" y="740757"/>
                </a:lnTo>
                <a:lnTo>
                  <a:pt x="479507" y="747612"/>
                </a:lnTo>
                <a:lnTo>
                  <a:pt x="484220" y="758602"/>
                </a:lnTo>
                <a:lnTo>
                  <a:pt x="457083" y="763853"/>
                </a:lnTo>
                <a:lnTo>
                  <a:pt x="464138" y="776712"/>
                </a:lnTo>
                <a:lnTo>
                  <a:pt x="458469" y="778743"/>
                </a:lnTo>
                <a:lnTo>
                  <a:pt x="475920" y="776187"/>
                </a:lnTo>
                <a:lnTo>
                  <a:pt x="520102" y="754827"/>
                </a:lnTo>
                <a:lnTo>
                  <a:pt x="520506" y="762505"/>
                </a:lnTo>
                <a:lnTo>
                  <a:pt x="512141" y="764488"/>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2022 provincial petrol/diesel sales: MP"/>
          <p:cNvSpPr/>
          <p:nvPr/>
        </p:nvSpPr>
        <p:spPr>
          <a:xfrm>
            <a:off x="4447954" y="2817392"/>
            <a:ext cx="896564" cy="876875"/>
          </a:xfrm>
          <a:custGeom>
            <a:avLst/>
            <a:gdLst/>
            <a:ahLst/>
            <a:cxnLst/>
            <a:rect l="l" t="t" r="r" b="b"/>
            <a:pathLst>
              <a:path w="896564" h="876875">
                <a:moveTo>
                  <a:pt x="338721" y="859896"/>
                </a:moveTo>
                <a:lnTo>
                  <a:pt x="327756" y="863459"/>
                </a:lnTo>
                <a:lnTo>
                  <a:pt x="327855" y="874518"/>
                </a:lnTo>
                <a:lnTo>
                  <a:pt x="308947" y="876875"/>
                </a:lnTo>
                <a:lnTo>
                  <a:pt x="293159" y="857096"/>
                </a:lnTo>
                <a:lnTo>
                  <a:pt x="294735" y="848869"/>
                </a:lnTo>
                <a:lnTo>
                  <a:pt x="279308" y="838379"/>
                </a:lnTo>
                <a:lnTo>
                  <a:pt x="280433" y="830058"/>
                </a:lnTo>
                <a:lnTo>
                  <a:pt x="267835" y="810776"/>
                </a:lnTo>
                <a:lnTo>
                  <a:pt x="259421" y="807616"/>
                </a:lnTo>
                <a:lnTo>
                  <a:pt x="245605" y="812414"/>
                </a:lnTo>
                <a:lnTo>
                  <a:pt x="247000" y="798112"/>
                </a:lnTo>
                <a:lnTo>
                  <a:pt x="226861" y="793455"/>
                </a:lnTo>
                <a:lnTo>
                  <a:pt x="222153" y="781190"/>
                </a:lnTo>
                <a:lnTo>
                  <a:pt x="207447" y="780271"/>
                </a:lnTo>
                <a:lnTo>
                  <a:pt x="197484" y="787423"/>
                </a:lnTo>
                <a:lnTo>
                  <a:pt x="184264" y="763672"/>
                </a:lnTo>
                <a:lnTo>
                  <a:pt x="188645" y="759173"/>
                </a:lnTo>
                <a:lnTo>
                  <a:pt x="183686" y="744298"/>
                </a:lnTo>
                <a:lnTo>
                  <a:pt x="179098" y="750094"/>
                </a:lnTo>
                <a:lnTo>
                  <a:pt x="165286" y="740078"/>
                </a:lnTo>
                <a:lnTo>
                  <a:pt x="161648" y="745110"/>
                </a:lnTo>
                <a:lnTo>
                  <a:pt x="147726" y="745081"/>
                </a:lnTo>
                <a:lnTo>
                  <a:pt x="146223" y="756770"/>
                </a:lnTo>
                <a:lnTo>
                  <a:pt x="139468" y="747764"/>
                </a:lnTo>
                <a:lnTo>
                  <a:pt x="129294" y="751956"/>
                </a:lnTo>
                <a:lnTo>
                  <a:pt x="127451" y="743955"/>
                </a:lnTo>
                <a:lnTo>
                  <a:pt x="125057" y="748332"/>
                </a:lnTo>
                <a:lnTo>
                  <a:pt x="106269" y="732462"/>
                </a:lnTo>
                <a:lnTo>
                  <a:pt x="91424" y="727790"/>
                </a:lnTo>
                <a:lnTo>
                  <a:pt x="81855" y="737867"/>
                </a:lnTo>
                <a:lnTo>
                  <a:pt x="92927" y="738725"/>
                </a:lnTo>
                <a:lnTo>
                  <a:pt x="90667" y="745065"/>
                </a:lnTo>
                <a:lnTo>
                  <a:pt x="82488" y="741726"/>
                </a:lnTo>
                <a:lnTo>
                  <a:pt x="65148" y="756241"/>
                </a:lnTo>
                <a:lnTo>
                  <a:pt x="68803" y="749778"/>
                </a:lnTo>
                <a:lnTo>
                  <a:pt x="58526" y="740971"/>
                </a:lnTo>
                <a:lnTo>
                  <a:pt x="53054" y="726040"/>
                </a:lnTo>
                <a:lnTo>
                  <a:pt x="50460" y="734273"/>
                </a:lnTo>
                <a:lnTo>
                  <a:pt x="43513" y="729415"/>
                </a:lnTo>
                <a:lnTo>
                  <a:pt x="46762" y="733801"/>
                </a:lnTo>
                <a:lnTo>
                  <a:pt x="39017" y="741677"/>
                </a:lnTo>
                <a:lnTo>
                  <a:pt x="41601" y="735659"/>
                </a:lnTo>
                <a:lnTo>
                  <a:pt x="35225" y="721797"/>
                </a:lnTo>
                <a:lnTo>
                  <a:pt x="17950" y="724710"/>
                </a:lnTo>
                <a:lnTo>
                  <a:pt x="19404" y="718350"/>
                </a:lnTo>
                <a:lnTo>
                  <a:pt x="12775" y="722506"/>
                </a:lnTo>
                <a:lnTo>
                  <a:pt x="0" y="707804"/>
                </a:lnTo>
                <a:lnTo>
                  <a:pt x="9310" y="702837"/>
                </a:lnTo>
                <a:lnTo>
                  <a:pt x="14992" y="706842"/>
                </a:lnTo>
                <a:lnTo>
                  <a:pt x="17842" y="684726"/>
                </a:lnTo>
                <a:lnTo>
                  <a:pt x="38109" y="677371"/>
                </a:lnTo>
                <a:lnTo>
                  <a:pt x="32935" y="665924"/>
                </a:lnTo>
                <a:lnTo>
                  <a:pt x="37301" y="650062"/>
                </a:lnTo>
                <a:lnTo>
                  <a:pt x="58146" y="645613"/>
                </a:lnTo>
                <a:lnTo>
                  <a:pt x="57348" y="639010"/>
                </a:lnTo>
                <a:lnTo>
                  <a:pt x="67092" y="634440"/>
                </a:lnTo>
                <a:lnTo>
                  <a:pt x="67685" y="611836"/>
                </a:lnTo>
                <a:lnTo>
                  <a:pt x="92752" y="624115"/>
                </a:lnTo>
                <a:lnTo>
                  <a:pt x="93843" y="613982"/>
                </a:lnTo>
                <a:lnTo>
                  <a:pt x="121873" y="617510"/>
                </a:lnTo>
                <a:lnTo>
                  <a:pt x="128558" y="594294"/>
                </a:lnTo>
                <a:lnTo>
                  <a:pt x="145190" y="587687"/>
                </a:lnTo>
                <a:lnTo>
                  <a:pt x="132966" y="563769"/>
                </a:lnTo>
                <a:lnTo>
                  <a:pt x="110841" y="571947"/>
                </a:lnTo>
                <a:lnTo>
                  <a:pt x="92041" y="558895"/>
                </a:lnTo>
                <a:lnTo>
                  <a:pt x="91301" y="547603"/>
                </a:lnTo>
                <a:lnTo>
                  <a:pt x="70326" y="541083"/>
                </a:lnTo>
                <a:lnTo>
                  <a:pt x="71569" y="527545"/>
                </a:lnTo>
                <a:lnTo>
                  <a:pt x="61795" y="515536"/>
                </a:lnTo>
                <a:lnTo>
                  <a:pt x="67954" y="504167"/>
                </a:lnTo>
                <a:lnTo>
                  <a:pt x="65131" y="499623"/>
                </a:lnTo>
                <a:lnTo>
                  <a:pt x="73455" y="495774"/>
                </a:lnTo>
                <a:lnTo>
                  <a:pt x="82674" y="499057"/>
                </a:lnTo>
                <a:lnTo>
                  <a:pt x="85858" y="484544"/>
                </a:lnTo>
                <a:lnTo>
                  <a:pt x="95627" y="476726"/>
                </a:lnTo>
                <a:lnTo>
                  <a:pt x="125592" y="480778"/>
                </a:lnTo>
                <a:lnTo>
                  <a:pt x="128004" y="488680"/>
                </a:lnTo>
                <a:lnTo>
                  <a:pt x="149637" y="487670"/>
                </a:lnTo>
                <a:lnTo>
                  <a:pt x="155183" y="453155"/>
                </a:lnTo>
                <a:lnTo>
                  <a:pt x="166923" y="457935"/>
                </a:lnTo>
                <a:lnTo>
                  <a:pt x="167435" y="441234"/>
                </a:lnTo>
                <a:lnTo>
                  <a:pt x="178051" y="420925"/>
                </a:lnTo>
                <a:lnTo>
                  <a:pt x="171074" y="417049"/>
                </a:lnTo>
                <a:lnTo>
                  <a:pt x="175710" y="403140"/>
                </a:lnTo>
                <a:lnTo>
                  <a:pt x="198136" y="395978"/>
                </a:lnTo>
                <a:lnTo>
                  <a:pt x="191745" y="375551"/>
                </a:lnTo>
                <a:lnTo>
                  <a:pt x="206814" y="369490"/>
                </a:lnTo>
                <a:lnTo>
                  <a:pt x="202895" y="358334"/>
                </a:lnTo>
                <a:lnTo>
                  <a:pt x="197702" y="366500"/>
                </a:lnTo>
                <a:lnTo>
                  <a:pt x="187380" y="362565"/>
                </a:lnTo>
                <a:lnTo>
                  <a:pt x="180954" y="369265"/>
                </a:lnTo>
                <a:lnTo>
                  <a:pt x="185512" y="378100"/>
                </a:lnTo>
                <a:lnTo>
                  <a:pt x="171126" y="384189"/>
                </a:lnTo>
                <a:lnTo>
                  <a:pt x="163266" y="364667"/>
                </a:lnTo>
                <a:lnTo>
                  <a:pt x="150901" y="375681"/>
                </a:lnTo>
                <a:lnTo>
                  <a:pt x="154898" y="365065"/>
                </a:lnTo>
                <a:lnTo>
                  <a:pt x="149922" y="358449"/>
                </a:lnTo>
                <a:lnTo>
                  <a:pt x="136930" y="368332"/>
                </a:lnTo>
                <a:lnTo>
                  <a:pt x="139356" y="376389"/>
                </a:lnTo>
                <a:lnTo>
                  <a:pt x="147419" y="374900"/>
                </a:lnTo>
                <a:lnTo>
                  <a:pt x="153524" y="394324"/>
                </a:lnTo>
                <a:lnTo>
                  <a:pt x="152784" y="398518"/>
                </a:lnTo>
                <a:lnTo>
                  <a:pt x="139514" y="394240"/>
                </a:lnTo>
                <a:lnTo>
                  <a:pt x="147423" y="404563"/>
                </a:lnTo>
                <a:lnTo>
                  <a:pt x="126474" y="409910"/>
                </a:lnTo>
                <a:lnTo>
                  <a:pt x="129019" y="394924"/>
                </a:lnTo>
                <a:lnTo>
                  <a:pt x="119303" y="390736"/>
                </a:lnTo>
                <a:lnTo>
                  <a:pt x="115436" y="403674"/>
                </a:lnTo>
                <a:lnTo>
                  <a:pt x="109698" y="401597"/>
                </a:lnTo>
                <a:lnTo>
                  <a:pt x="97513" y="364347"/>
                </a:lnTo>
                <a:lnTo>
                  <a:pt x="96775" y="333700"/>
                </a:lnTo>
                <a:lnTo>
                  <a:pt x="101345" y="329383"/>
                </a:lnTo>
                <a:lnTo>
                  <a:pt x="97979" y="313856"/>
                </a:lnTo>
                <a:lnTo>
                  <a:pt x="125483" y="303147"/>
                </a:lnTo>
                <a:lnTo>
                  <a:pt x="131617" y="286090"/>
                </a:lnTo>
                <a:lnTo>
                  <a:pt x="136375" y="288172"/>
                </a:lnTo>
                <a:lnTo>
                  <a:pt x="127960" y="257472"/>
                </a:lnTo>
                <a:lnTo>
                  <a:pt x="106080" y="265323"/>
                </a:lnTo>
                <a:lnTo>
                  <a:pt x="105676" y="257645"/>
                </a:lnTo>
                <a:lnTo>
                  <a:pt x="61494" y="279005"/>
                </a:lnTo>
                <a:lnTo>
                  <a:pt x="44043" y="281561"/>
                </a:lnTo>
                <a:lnTo>
                  <a:pt x="49712" y="279530"/>
                </a:lnTo>
                <a:lnTo>
                  <a:pt x="42657" y="266671"/>
                </a:lnTo>
                <a:lnTo>
                  <a:pt x="69794" y="261420"/>
                </a:lnTo>
                <a:lnTo>
                  <a:pt x="65081" y="250430"/>
                </a:lnTo>
                <a:lnTo>
                  <a:pt x="102664" y="243575"/>
                </a:lnTo>
                <a:lnTo>
                  <a:pt x="96400" y="229379"/>
                </a:lnTo>
                <a:lnTo>
                  <a:pt x="132858" y="206929"/>
                </a:lnTo>
                <a:lnTo>
                  <a:pt x="151002" y="208682"/>
                </a:lnTo>
                <a:lnTo>
                  <a:pt x="152969" y="213154"/>
                </a:lnTo>
                <a:lnTo>
                  <a:pt x="171310" y="205622"/>
                </a:lnTo>
                <a:lnTo>
                  <a:pt x="175186" y="213957"/>
                </a:lnTo>
                <a:lnTo>
                  <a:pt x="163338" y="219163"/>
                </a:lnTo>
                <a:lnTo>
                  <a:pt x="167295" y="232486"/>
                </a:lnTo>
                <a:lnTo>
                  <a:pt x="173082" y="230861"/>
                </a:lnTo>
                <a:lnTo>
                  <a:pt x="181103" y="249063"/>
                </a:lnTo>
                <a:lnTo>
                  <a:pt x="204167" y="248615"/>
                </a:lnTo>
                <a:lnTo>
                  <a:pt x="207963" y="258499"/>
                </a:lnTo>
                <a:lnTo>
                  <a:pt x="217224" y="261219"/>
                </a:lnTo>
                <a:lnTo>
                  <a:pt x="207964" y="269964"/>
                </a:lnTo>
                <a:lnTo>
                  <a:pt x="197021" y="267567"/>
                </a:lnTo>
                <a:lnTo>
                  <a:pt x="193666" y="295688"/>
                </a:lnTo>
                <a:lnTo>
                  <a:pt x="194997" y="302271"/>
                </a:lnTo>
                <a:lnTo>
                  <a:pt x="206908" y="305977"/>
                </a:lnTo>
                <a:lnTo>
                  <a:pt x="207980" y="314141"/>
                </a:lnTo>
                <a:lnTo>
                  <a:pt x="224628" y="310146"/>
                </a:lnTo>
                <a:lnTo>
                  <a:pt x="223549" y="323184"/>
                </a:lnTo>
                <a:lnTo>
                  <a:pt x="215632" y="332062"/>
                </a:lnTo>
                <a:lnTo>
                  <a:pt x="230749" y="327472"/>
                </a:lnTo>
                <a:lnTo>
                  <a:pt x="233082" y="338882"/>
                </a:lnTo>
                <a:lnTo>
                  <a:pt x="246657" y="329349"/>
                </a:lnTo>
                <a:lnTo>
                  <a:pt x="264708" y="329373"/>
                </a:lnTo>
                <a:lnTo>
                  <a:pt x="266254" y="337504"/>
                </a:lnTo>
                <a:lnTo>
                  <a:pt x="305267" y="343564"/>
                </a:lnTo>
                <a:lnTo>
                  <a:pt x="306307" y="339061"/>
                </a:lnTo>
                <a:lnTo>
                  <a:pt x="327262" y="338712"/>
                </a:lnTo>
                <a:lnTo>
                  <a:pt x="341691" y="331982"/>
                </a:lnTo>
                <a:lnTo>
                  <a:pt x="363776" y="340351"/>
                </a:lnTo>
                <a:lnTo>
                  <a:pt x="369473" y="330475"/>
                </a:lnTo>
                <a:lnTo>
                  <a:pt x="375791" y="329907"/>
                </a:lnTo>
                <a:lnTo>
                  <a:pt x="380171" y="337104"/>
                </a:lnTo>
                <a:lnTo>
                  <a:pt x="391402" y="331927"/>
                </a:lnTo>
                <a:lnTo>
                  <a:pt x="391678" y="325347"/>
                </a:lnTo>
                <a:lnTo>
                  <a:pt x="419110" y="326909"/>
                </a:lnTo>
                <a:lnTo>
                  <a:pt x="420853" y="276837"/>
                </a:lnTo>
                <a:lnTo>
                  <a:pt x="415213" y="263235"/>
                </a:lnTo>
                <a:lnTo>
                  <a:pt x="427121" y="261790"/>
                </a:lnTo>
                <a:lnTo>
                  <a:pt x="427329" y="256568"/>
                </a:lnTo>
                <a:lnTo>
                  <a:pt x="440899" y="272833"/>
                </a:lnTo>
                <a:lnTo>
                  <a:pt x="453362" y="272917"/>
                </a:lnTo>
                <a:lnTo>
                  <a:pt x="455241" y="249597"/>
                </a:lnTo>
                <a:lnTo>
                  <a:pt x="466866" y="251115"/>
                </a:lnTo>
                <a:lnTo>
                  <a:pt x="461158" y="238797"/>
                </a:lnTo>
                <a:lnTo>
                  <a:pt x="467145" y="204840"/>
                </a:lnTo>
                <a:lnTo>
                  <a:pt x="491551" y="209024"/>
                </a:lnTo>
                <a:lnTo>
                  <a:pt x="493873" y="213554"/>
                </a:lnTo>
                <a:lnTo>
                  <a:pt x="504335" y="213599"/>
                </a:lnTo>
                <a:lnTo>
                  <a:pt x="504992" y="204884"/>
                </a:lnTo>
                <a:lnTo>
                  <a:pt x="514612" y="210923"/>
                </a:lnTo>
                <a:lnTo>
                  <a:pt x="513276" y="205288"/>
                </a:lnTo>
                <a:lnTo>
                  <a:pt x="521448" y="207035"/>
                </a:lnTo>
                <a:lnTo>
                  <a:pt x="536501" y="232892"/>
                </a:lnTo>
                <a:lnTo>
                  <a:pt x="537401" y="223066"/>
                </a:lnTo>
                <a:lnTo>
                  <a:pt x="553096" y="219101"/>
                </a:lnTo>
                <a:lnTo>
                  <a:pt x="557131" y="224519"/>
                </a:lnTo>
                <a:lnTo>
                  <a:pt x="557173" y="216960"/>
                </a:lnTo>
                <a:lnTo>
                  <a:pt x="575755" y="198442"/>
                </a:lnTo>
                <a:lnTo>
                  <a:pt x="578032" y="189057"/>
                </a:lnTo>
                <a:lnTo>
                  <a:pt x="571100" y="184614"/>
                </a:lnTo>
                <a:lnTo>
                  <a:pt x="572041" y="178407"/>
                </a:lnTo>
                <a:lnTo>
                  <a:pt x="581804" y="179301"/>
                </a:lnTo>
                <a:lnTo>
                  <a:pt x="591824" y="171941"/>
                </a:lnTo>
                <a:lnTo>
                  <a:pt x="583194" y="150664"/>
                </a:lnTo>
                <a:lnTo>
                  <a:pt x="588811" y="141389"/>
                </a:lnTo>
                <a:lnTo>
                  <a:pt x="595278" y="147402"/>
                </a:lnTo>
                <a:lnTo>
                  <a:pt x="596465" y="119246"/>
                </a:lnTo>
                <a:lnTo>
                  <a:pt x="603617" y="109784"/>
                </a:lnTo>
                <a:lnTo>
                  <a:pt x="629068" y="131023"/>
                </a:lnTo>
                <a:lnTo>
                  <a:pt x="648554" y="127554"/>
                </a:lnTo>
                <a:lnTo>
                  <a:pt x="649020" y="143137"/>
                </a:lnTo>
                <a:lnTo>
                  <a:pt x="711604" y="139571"/>
                </a:lnTo>
                <a:lnTo>
                  <a:pt x="718703" y="125367"/>
                </a:lnTo>
                <a:lnTo>
                  <a:pt x="707799" y="106212"/>
                </a:lnTo>
                <a:lnTo>
                  <a:pt x="697556" y="108500"/>
                </a:lnTo>
                <a:lnTo>
                  <a:pt x="698293" y="92707"/>
                </a:lnTo>
                <a:lnTo>
                  <a:pt x="717594" y="91084"/>
                </a:lnTo>
                <a:lnTo>
                  <a:pt x="708504" y="75142"/>
                </a:lnTo>
                <a:lnTo>
                  <a:pt x="674620" y="77790"/>
                </a:lnTo>
                <a:lnTo>
                  <a:pt x="674758" y="43354"/>
                </a:lnTo>
                <a:lnTo>
                  <a:pt x="688664" y="33395"/>
                </a:lnTo>
                <a:lnTo>
                  <a:pt x="686390" y="26022"/>
                </a:lnTo>
                <a:lnTo>
                  <a:pt x="690808" y="26714"/>
                </a:lnTo>
                <a:lnTo>
                  <a:pt x="692427" y="19385"/>
                </a:lnTo>
                <a:lnTo>
                  <a:pt x="681161" y="17054"/>
                </a:lnTo>
                <a:lnTo>
                  <a:pt x="698879" y="14439"/>
                </a:lnTo>
                <a:lnTo>
                  <a:pt x="710186" y="5115"/>
                </a:lnTo>
                <a:lnTo>
                  <a:pt x="724319" y="23748"/>
                </a:lnTo>
                <a:lnTo>
                  <a:pt x="753456" y="12750"/>
                </a:lnTo>
                <a:lnTo>
                  <a:pt x="757934" y="16899"/>
                </a:lnTo>
                <a:lnTo>
                  <a:pt x="769905" y="5329"/>
                </a:lnTo>
                <a:lnTo>
                  <a:pt x="788541" y="15719"/>
                </a:lnTo>
                <a:lnTo>
                  <a:pt x="798008" y="10180"/>
                </a:lnTo>
                <a:lnTo>
                  <a:pt x="804721" y="16491"/>
                </a:lnTo>
                <a:lnTo>
                  <a:pt x="810468" y="8332"/>
                </a:lnTo>
                <a:lnTo>
                  <a:pt x="819584" y="6478"/>
                </a:lnTo>
                <a:lnTo>
                  <a:pt x="828984" y="18722"/>
                </a:lnTo>
                <a:lnTo>
                  <a:pt x="837102" y="15621"/>
                </a:lnTo>
                <a:lnTo>
                  <a:pt x="837337" y="6738"/>
                </a:lnTo>
                <a:lnTo>
                  <a:pt x="845915" y="0"/>
                </a:lnTo>
                <a:lnTo>
                  <a:pt x="855683" y="4666"/>
                </a:lnTo>
                <a:lnTo>
                  <a:pt x="872581" y="1836"/>
                </a:lnTo>
                <a:lnTo>
                  <a:pt x="875641" y="52673"/>
                </a:lnTo>
                <a:lnTo>
                  <a:pt x="892549" y="84305"/>
                </a:lnTo>
                <a:lnTo>
                  <a:pt x="896564" y="123570"/>
                </a:lnTo>
                <a:lnTo>
                  <a:pt x="889922" y="183433"/>
                </a:lnTo>
                <a:lnTo>
                  <a:pt x="891006" y="309909"/>
                </a:lnTo>
                <a:lnTo>
                  <a:pt x="884377" y="360630"/>
                </a:lnTo>
                <a:lnTo>
                  <a:pt x="874332" y="383680"/>
                </a:lnTo>
                <a:lnTo>
                  <a:pt x="878604" y="427626"/>
                </a:lnTo>
                <a:lnTo>
                  <a:pt x="858443" y="476598"/>
                </a:lnTo>
                <a:lnTo>
                  <a:pt x="866827" y="505897"/>
                </a:lnTo>
                <a:lnTo>
                  <a:pt x="841795" y="516363"/>
                </a:lnTo>
                <a:lnTo>
                  <a:pt x="741335" y="438901"/>
                </a:lnTo>
                <a:lnTo>
                  <a:pt x="717840" y="443891"/>
                </a:lnTo>
                <a:lnTo>
                  <a:pt x="671908" y="487165"/>
                </a:lnTo>
                <a:lnTo>
                  <a:pt x="629726" y="572304"/>
                </a:lnTo>
                <a:lnTo>
                  <a:pt x="613016" y="586622"/>
                </a:lnTo>
                <a:lnTo>
                  <a:pt x="591340" y="622934"/>
                </a:lnTo>
                <a:lnTo>
                  <a:pt x="585169" y="685554"/>
                </a:lnTo>
                <a:lnTo>
                  <a:pt x="588592" y="719331"/>
                </a:lnTo>
                <a:lnTo>
                  <a:pt x="607461" y="705275"/>
                </a:lnTo>
                <a:lnTo>
                  <a:pt x="610107" y="724586"/>
                </a:lnTo>
                <a:lnTo>
                  <a:pt x="624650" y="737672"/>
                </a:lnTo>
                <a:lnTo>
                  <a:pt x="620138" y="758950"/>
                </a:lnTo>
                <a:lnTo>
                  <a:pt x="625627" y="770714"/>
                </a:lnTo>
                <a:lnTo>
                  <a:pt x="661405" y="814826"/>
                </a:lnTo>
                <a:lnTo>
                  <a:pt x="689103" y="826789"/>
                </a:lnTo>
                <a:lnTo>
                  <a:pt x="662772" y="857551"/>
                </a:lnTo>
                <a:lnTo>
                  <a:pt x="647983" y="846862"/>
                </a:lnTo>
                <a:lnTo>
                  <a:pt x="611836" y="854875"/>
                </a:lnTo>
                <a:lnTo>
                  <a:pt x="608044" y="838531"/>
                </a:lnTo>
                <a:lnTo>
                  <a:pt x="595131" y="839850"/>
                </a:lnTo>
                <a:lnTo>
                  <a:pt x="592862" y="847587"/>
                </a:lnTo>
                <a:lnTo>
                  <a:pt x="584699" y="849973"/>
                </a:lnTo>
                <a:lnTo>
                  <a:pt x="577584" y="839032"/>
                </a:lnTo>
                <a:lnTo>
                  <a:pt x="573335" y="842304"/>
                </a:lnTo>
                <a:lnTo>
                  <a:pt x="561706" y="830839"/>
                </a:lnTo>
                <a:lnTo>
                  <a:pt x="531451" y="839481"/>
                </a:lnTo>
                <a:lnTo>
                  <a:pt x="511140" y="835808"/>
                </a:lnTo>
                <a:lnTo>
                  <a:pt x="499762" y="839219"/>
                </a:lnTo>
                <a:lnTo>
                  <a:pt x="494824" y="835722"/>
                </a:lnTo>
                <a:lnTo>
                  <a:pt x="495439" y="824190"/>
                </a:lnTo>
                <a:lnTo>
                  <a:pt x="482046" y="822974"/>
                </a:lnTo>
                <a:lnTo>
                  <a:pt x="481348" y="834279"/>
                </a:lnTo>
                <a:lnTo>
                  <a:pt x="462116" y="834131"/>
                </a:lnTo>
                <a:lnTo>
                  <a:pt x="460939" y="847948"/>
                </a:lnTo>
                <a:lnTo>
                  <a:pt x="450492" y="850603"/>
                </a:lnTo>
                <a:lnTo>
                  <a:pt x="442430" y="843707"/>
                </a:lnTo>
                <a:lnTo>
                  <a:pt x="429348" y="858052"/>
                </a:lnTo>
                <a:lnTo>
                  <a:pt x="416929" y="846026"/>
                </a:lnTo>
                <a:lnTo>
                  <a:pt x="400540" y="852786"/>
                </a:lnTo>
                <a:lnTo>
                  <a:pt x="378416" y="840814"/>
                </a:lnTo>
                <a:lnTo>
                  <a:pt x="373902" y="848670"/>
                </a:lnTo>
                <a:lnTo>
                  <a:pt x="360608" y="846385"/>
                </a:lnTo>
                <a:lnTo>
                  <a:pt x="349805" y="866105"/>
                </a:lnTo>
                <a:lnTo>
                  <a:pt x="338721" y="859896"/>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2022 provincial petrol/diesel sales: NW"/>
          <p:cNvSpPr/>
          <p:nvPr/>
        </p:nvSpPr>
        <p:spPr>
          <a:xfrm>
            <a:off x="3157044" y="2942563"/>
            <a:ext cx="1313825" cy="886727"/>
          </a:xfrm>
          <a:custGeom>
            <a:avLst/>
            <a:gdLst/>
            <a:ahLst/>
            <a:cxnLst/>
            <a:rect l="l" t="t" r="r" b="b"/>
            <a:pathLst>
              <a:path w="1313825" h="886727">
                <a:moveTo>
                  <a:pt x="1144938" y="529907"/>
                </a:moveTo>
                <a:lnTo>
                  <a:pt x="1138230" y="551828"/>
                </a:lnTo>
                <a:lnTo>
                  <a:pt x="1123004" y="553313"/>
                </a:lnTo>
                <a:lnTo>
                  <a:pt x="1123140" y="566629"/>
                </a:lnTo>
                <a:lnTo>
                  <a:pt x="1100495" y="588626"/>
                </a:lnTo>
                <a:lnTo>
                  <a:pt x="1082166" y="569994"/>
                </a:lnTo>
                <a:lnTo>
                  <a:pt x="1076000" y="569661"/>
                </a:lnTo>
                <a:lnTo>
                  <a:pt x="1051903" y="601718"/>
                </a:lnTo>
                <a:lnTo>
                  <a:pt x="1045248" y="598523"/>
                </a:lnTo>
                <a:lnTo>
                  <a:pt x="1045993" y="587390"/>
                </a:lnTo>
                <a:lnTo>
                  <a:pt x="1038370" y="591609"/>
                </a:lnTo>
                <a:lnTo>
                  <a:pt x="1031461" y="587500"/>
                </a:lnTo>
                <a:lnTo>
                  <a:pt x="1011983" y="589621"/>
                </a:lnTo>
                <a:lnTo>
                  <a:pt x="992122" y="572815"/>
                </a:lnTo>
                <a:lnTo>
                  <a:pt x="987057" y="598817"/>
                </a:lnTo>
                <a:lnTo>
                  <a:pt x="974310" y="584659"/>
                </a:lnTo>
                <a:lnTo>
                  <a:pt x="966654" y="592328"/>
                </a:lnTo>
                <a:lnTo>
                  <a:pt x="960862" y="587802"/>
                </a:lnTo>
                <a:lnTo>
                  <a:pt x="940196" y="598224"/>
                </a:lnTo>
                <a:lnTo>
                  <a:pt x="933913" y="609406"/>
                </a:lnTo>
                <a:lnTo>
                  <a:pt x="929421" y="603366"/>
                </a:lnTo>
                <a:lnTo>
                  <a:pt x="918064" y="605454"/>
                </a:lnTo>
                <a:lnTo>
                  <a:pt x="909321" y="618053"/>
                </a:lnTo>
                <a:lnTo>
                  <a:pt x="909538" y="632093"/>
                </a:lnTo>
                <a:lnTo>
                  <a:pt x="897031" y="627580"/>
                </a:lnTo>
                <a:lnTo>
                  <a:pt x="884125" y="643566"/>
                </a:lnTo>
                <a:lnTo>
                  <a:pt x="874041" y="642445"/>
                </a:lnTo>
                <a:lnTo>
                  <a:pt x="871966" y="647064"/>
                </a:lnTo>
                <a:lnTo>
                  <a:pt x="889289" y="672684"/>
                </a:lnTo>
                <a:lnTo>
                  <a:pt x="888258" y="685797"/>
                </a:lnTo>
                <a:lnTo>
                  <a:pt x="884205" y="682985"/>
                </a:lnTo>
                <a:lnTo>
                  <a:pt x="877437" y="693484"/>
                </a:lnTo>
                <a:lnTo>
                  <a:pt x="892070" y="705326"/>
                </a:lnTo>
                <a:lnTo>
                  <a:pt x="878582" y="702718"/>
                </a:lnTo>
                <a:lnTo>
                  <a:pt x="871944" y="708039"/>
                </a:lnTo>
                <a:lnTo>
                  <a:pt x="854341" y="702334"/>
                </a:lnTo>
                <a:lnTo>
                  <a:pt x="849287" y="714444"/>
                </a:lnTo>
                <a:lnTo>
                  <a:pt x="842824" y="709991"/>
                </a:lnTo>
                <a:lnTo>
                  <a:pt x="830620" y="713862"/>
                </a:lnTo>
                <a:lnTo>
                  <a:pt x="827382" y="734468"/>
                </a:lnTo>
                <a:lnTo>
                  <a:pt x="794198" y="755449"/>
                </a:lnTo>
                <a:lnTo>
                  <a:pt x="794521" y="768889"/>
                </a:lnTo>
                <a:lnTo>
                  <a:pt x="787302" y="774241"/>
                </a:lnTo>
                <a:lnTo>
                  <a:pt x="796394" y="779661"/>
                </a:lnTo>
                <a:lnTo>
                  <a:pt x="789748" y="786928"/>
                </a:lnTo>
                <a:lnTo>
                  <a:pt x="780673" y="790937"/>
                </a:lnTo>
                <a:lnTo>
                  <a:pt x="770813" y="763366"/>
                </a:lnTo>
                <a:lnTo>
                  <a:pt x="762931" y="764761"/>
                </a:lnTo>
                <a:lnTo>
                  <a:pt x="757748" y="757192"/>
                </a:lnTo>
                <a:lnTo>
                  <a:pt x="742622" y="762276"/>
                </a:lnTo>
                <a:lnTo>
                  <a:pt x="735729" y="747640"/>
                </a:lnTo>
                <a:lnTo>
                  <a:pt x="701796" y="763513"/>
                </a:lnTo>
                <a:lnTo>
                  <a:pt x="698496" y="779913"/>
                </a:lnTo>
                <a:lnTo>
                  <a:pt x="681698" y="769935"/>
                </a:lnTo>
                <a:lnTo>
                  <a:pt x="673713" y="777948"/>
                </a:lnTo>
                <a:lnTo>
                  <a:pt x="636958" y="788547"/>
                </a:lnTo>
                <a:lnTo>
                  <a:pt x="624604" y="804945"/>
                </a:lnTo>
                <a:lnTo>
                  <a:pt x="609741" y="805766"/>
                </a:lnTo>
                <a:lnTo>
                  <a:pt x="601381" y="815483"/>
                </a:lnTo>
                <a:lnTo>
                  <a:pt x="604943" y="823338"/>
                </a:lnTo>
                <a:lnTo>
                  <a:pt x="577519" y="838684"/>
                </a:lnTo>
                <a:lnTo>
                  <a:pt x="567757" y="853700"/>
                </a:lnTo>
                <a:lnTo>
                  <a:pt x="571574" y="860835"/>
                </a:lnTo>
                <a:lnTo>
                  <a:pt x="563947" y="874635"/>
                </a:lnTo>
                <a:lnTo>
                  <a:pt x="541155" y="878496"/>
                </a:lnTo>
                <a:lnTo>
                  <a:pt x="535991" y="886727"/>
                </a:lnTo>
                <a:lnTo>
                  <a:pt x="508545" y="840234"/>
                </a:lnTo>
                <a:lnTo>
                  <a:pt x="514811" y="838702"/>
                </a:lnTo>
                <a:lnTo>
                  <a:pt x="512417" y="835089"/>
                </a:lnTo>
                <a:lnTo>
                  <a:pt x="558095" y="781002"/>
                </a:lnTo>
                <a:lnTo>
                  <a:pt x="547127" y="776165"/>
                </a:lnTo>
                <a:lnTo>
                  <a:pt x="501937" y="781559"/>
                </a:lnTo>
                <a:lnTo>
                  <a:pt x="498061" y="756728"/>
                </a:lnTo>
                <a:lnTo>
                  <a:pt x="491787" y="758006"/>
                </a:lnTo>
                <a:lnTo>
                  <a:pt x="493002" y="764050"/>
                </a:lnTo>
                <a:lnTo>
                  <a:pt x="477122" y="767150"/>
                </a:lnTo>
                <a:lnTo>
                  <a:pt x="473922" y="772706"/>
                </a:lnTo>
                <a:lnTo>
                  <a:pt x="477506" y="790271"/>
                </a:lnTo>
                <a:lnTo>
                  <a:pt x="469569" y="804429"/>
                </a:lnTo>
                <a:lnTo>
                  <a:pt x="478278" y="818886"/>
                </a:lnTo>
                <a:lnTo>
                  <a:pt x="469531" y="820214"/>
                </a:lnTo>
                <a:lnTo>
                  <a:pt x="463149" y="833084"/>
                </a:lnTo>
                <a:lnTo>
                  <a:pt x="457932" y="831950"/>
                </a:lnTo>
                <a:lnTo>
                  <a:pt x="462832" y="857786"/>
                </a:lnTo>
                <a:lnTo>
                  <a:pt x="458454" y="864891"/>
                </a:lnTo>
                <a:lnTo>
                  <a:pt x="447237" y="867879"/>
                </a:lnTo>
                <a:lnTo>
                  <a:pt x="448223" y="875866"/>
                </a:lnTo>
                <a:lnTo>
                  <a:pt x="441654" y="881534"/>
                </a:lnTo>
                <a:lnTo>
                  <a:pt x="421158" y="866228"/>
                </a:lnTo>
                <a:lnTo>
                  <a:pt x="426260" y="853076"/>
                </a:lnTo>
                <a:lnTo>
                  <a:pt x="413172" y="838493"/>
                </a:lnTo>
                <a:lnTo>
                  <a:pt x="409250" y="843180"/>
                </a:lnTo>
                <a:lnTo>
                  <a:pt x="401914" y="835321"/>
                </a:lnTo>
                <a:lnTo>
                  <a:pt x="422688" y="802455"/>
                </a:lnTo>
                <a:lnTo>
                  <a:pt x="412718" y="797020"/>
                </a:lnTo>
                <a:lnTo>
                  <a:pt x="421276" y="782085"/>
                </a:lnTo>
                <a:lnTo>
                  <a:pt x="411809" y="776590"/>
                </a:lnTo>
                <a:lnTo>
                  <a:pt x="344929" y="791782"/>
                </a:lnTo>
                <a:lnTo>
                  <a:pt x="340846" y="783101"/>
                </a:lnTo>
                <a:lnTo>
                  <a:pt x="346446" y="761793"/>
                </a:lnTo>
                <a:lnTo>
                  <a:pt x="330919" y="757050"/>
                </a:lnTo>
                <a:lnTo>
                  <a:pt x="330515" y="745765"/>
                </a:lnTo>
                <a:lnTo>
                  <a:pt x="338568" y="693263"/>
                </a:lnTo>
                <a:lnTo>
                  <a:pt x="295004" y="667847"/>
                </a:lnTo>
                <a:lnTo>
                  <a:pt x="312823" y="623379"/>
                </a:lnTo>
                <a:lnTo>
                  <a:pt x="326825" y="616706"/>
                </a:lnTo>
                <a:lnTo>
                  <a:pt x="311131" y="576058"/>
                </a:lnTo>
                <a:lnTo>
                  <a:pt x="298790" y="566878"/>
                </a:lnTo>
                <a:lnTo>
                  <a:pt x="287919" y="566691"/>
                </a:lnTo>
                <a:lnTo>
                  <a:pt x="284266" y="575262"/>
                </a:lnTo>
                <a:lnTo>
                  <a:pt x="199870" y="537732"/>
                </a:lnTo>
                <a:lnTo>
                  <a:pt x="221696" y="506135"/>
                </a:lnTo>
                <a:lnTo>
                  <a:pt x="193669" y="484475"/>
                </a:lnTo>
                <a:lnTo>
                  <a:pt x="148306" y="473407"/>
                </a:lnTo>
                <a:lnTo>
                  <a:pt x="151396" y="436056"/>
                </a:lnTo>
                <a:lnTo>
                  <a:pt x="137258" y="418826"/>
                </a:lnTo>
                <a:lnTo>
                  <a:pt x="157387" y="385454"/>
                </a:lnTo>
                <a:lnTo>
                  <a:pt x="135334" y="379093"/>
                </a:lnTo>
                <a:lnTo>
                  <a:pt x="138879" y="362927"/>
                </a:lnTo>
                <a:lnTo>
                  <a:pt x="167114" y="371934"/>
                </a:lnTo>
                <a:lnTo>
                  <a:pt x="174573" y="350537"/>
                </a:lnTo>
                <a:lnTo>
                  <a:pt x="105070" y="345512"/>
                </a:lnTo>
                <a:lnTo>
                  <a:pt x="100413" y="375366"/>
                </a:lnTo>
                <a:lnTo>
                  <a:pt x="82427" y="373337"/>
                </a:lnTo>
                <a:lnTo>
                  <a:pt x="81322" y="389353"/>
                </a:lnTo>
                <a:lnTo>
                  <a:pt x="64200" y="387945"/>
                </a:lnTo>
                <a:lnTo>
                  <a:pt x="51671" y="446956"/>
                </a:lnTo>
                <a:lnTo>
                  <a:pt x="41594" y="467028"/>
                </a:lnTo>
                <a:lnTo>
                  <a:pt x="19681" y="456498"/>
                </a:lnTo>
                <a:lnTo>
                  <a:pt x="16984" y="382133"/>
                </a:lnTo>
                <a:lnTo>
                  <a:pt x="327" y="383151"/>
                </a:lnTo>
                <a:lnTo>
                  <a:pt x="0" y="376536"/>
                </a:lnTo>
                <a:lnTo>
                  <a:pt x="9877" y="370462"/>
                </a:lnTo>
                <a:lnTo>
                  <a:pt x="8532" y="355384"/>
                </a:lnTo>
                <a:lnTo>
                  <a:pt x="21732" y="354858"/>
                </a:lnTo>
                <a:lnTo>
                  <a:pt x="21045" y="338658"/>
                </a:lnTo>
                <a:lnTo>
                  <a:pt x="26757" y="330348"/>
                </a:lnTo>
                <a:lnTo>
                  <a:pt x="18041" y="324109"/>
                </a:lnTo>
                <a:lnTo>
                  <a:pt x="33853" y="306293"/>
                </a:lnTo>
                <a:lnTo>
                  <a:pt x="22805" y="298636"/>
                </a:lnTo>
                <a:lnTo>
                  <a:pt x="28511" y="297252"/>
                </a:lnTo>
                <a:lnTo>
                  <a:pt x="30575" y="282946"/>
                </a:lnTo>
                <a:lnTo>
                  <a:pt x="42469" y="271900"/>
                </a:lnTo>
                <a:lnTo>
                  <a:pt x="44350" y="263508"/>
                </a:lnTo>
                <a:lnTo>
                  <a:pt x="37338" y="257244"/>
                </a:lnTo>
                <a:lnTo>
                  <a:pt x="49534" y="252528"/>
                </a:lnTo>
                <a:lnTo>
                  <a:pt x="40283" y="244321"/>
                </a:lnTo>
                <a:lnTo>
                  <a:pt x="49214" y="231661"/>
                </a:lnTo>
                <a:lnTo>
                  <a:pt x="47378" y="220616"/>
                </a:lnTo>
                <a:lnTo>
                  <a:pt x="59910" y="219550"/>
                </a:lnTo>
                <a:lnTo>
                  <a:pt x="56422" y="214892"/>
                </a:lnTo>
                <a:lnTo>
                  <a:pt x="62376" y="202210"/>
                </a:lnTo>
                <a:lnTo>
                  <a:pt x="75628" y="192267"/>
                </a:lnTo>
                <a:lnTo>
                  <a:pt x="77307" y="181689"/>
                </a:lnTo>
                <a:lnTo>
                  <a:pt x="85047" y="180540"/>
                </a:lnTo>
                <a:lnTo>
                  <a:pt x="84088" y="170934"/>
                </a:lnTo>
                <a:lnTo>
                  <a:pt x="89630" y="174580"/>
                </a:lnTo>
                <a:lnTo>
                  <a:pt x="94874" y="168532"/>
                </a:lnTo>
                <a:lnTo>
                  <a:pt x="100282" y="179320"/>
                </a:lnTo>
                <a:lnTo>
                  <a:pt x="131461" y="163867"/>
                </a:lnTo>
                <a:lnTo>
                  <a:pt x="146814" y="163820"/>
                </a:lnTo>
                <a:lnTo>
                  <a:pt x="150824" y="168872"/>
                </a:lnTo>
                <a:lnTo>
                  <a:pt x="164867" y="166393"/>
                </a:lnTo>
                <a:lnTo>
                  <a:pt x="178621" y="174046"/>
                </a:lnTo>
                <a:lnTo>
                  <a:pt x="184993" y="164042"/>
                </a:lnTo>
                <a:lnTo>
                  <a:pt x="190736" y="164008"/>
                </a:lnTo>
                <a:lnTo>
                  <a:pt x="188755" y="169302"/>
                </a:lnTo>
                <a:lnTo>
                  <a:pt x="197225" y="174361"/>
                </a:lnTo>
                <a:lnTo>
                  <a:pt x="197757" y="182945"/>
                </a:lnTo>
                <a:lnTo>
                  <a:pt x="212498" y="183557"/>
                </a:lnTo>
                <a:lnTo>
                  <a:pt x="219520" y="194157"/>
                </a:lnTo>
                <a:lnTo>
                  <a:pt x="225684" y="190882"/>
                </a:lnTo>
                <a:lnTo>
                  <a:pt x="230798" y="203004"/>
                </a:lnTo>
                <a:lnTo>
                  <a:pt x="237934" y="198967"/>
                </a:lnTo>
                <a:lnTo>
                  <a:pt x="237614" y="205591"/>
                </a:lnTo>
                <a:lnTo>
                  <a:pt x="245978" y="210706"/>
                </a:lnTo>
                <a:lnTo>
                  <a:pt x="252083" y="206551"/>
                </a:lnTo>
                <a:lnTo>
                  <a:pt x="260106" y="220996"/>
                </a:lnTo>
                <a:lnTo>
                  <a:pt x="273595" y="223339"/>
                </a:lnTo>
                <a:lnTo>
                  <a:pt x="270784" y="231610"/>
                </a:lnTo>
                <a:lnTo>
                  <a:pt x="276955" y="230508"/>
                </a:lnTo>
                <a:lnTo>
                  <a:pt x="278067" y="237348"/>
                </a:lnTo>
                <a:lnTo>
                  <a:pt x="287493" y="239703"/>
                </a:lnTo>
                <a:lnTo>
                  <a:pt x="293231" y="252447"/>
                </a:lnTo>
                <a:lnTo>
                  <a:pt x="302915" y="255144"/>
                </a:lnTo>
                <a:lnTo>
                  <a:pt x="308986" y="249072"/>
                </a:lnTo>
                <a:lnTo>
                  <a:pt x="318145" y="251460"/>
                </a:lnTo>
                <a:lnTo>
                  <a:pt x="316628" y="258331"/>
                </a:lnTo>
                <a:lnTo>
                  <a:pt x="322320" y="253925"/>
                </a:lnTo>
                <a:lnTo>
                  <a:pt x="328994" y="258371"/>
                </a:lnTo>
                <a:lnTo>
                  <a:pt x="331076" y="253011"/>
                </a:lnTo>
                <a:lnTo>
                  <a:pt x="335292" y="256151"/>
                </a:lnTo>
                <a:lnTo>
                  <a:pt x="351755" y="247035"/>
                </a:lnTo>
                <a:lnTo>
                  <a:pt x="352334" y="252642"/>
                </a:lnTo>
                <a:lnTo>
                  <a:pt x="359810" y="250098"/>
                </a:lnTo>
                <a:lnTo>
                  <a:pt x="367975" y="256081"/>
                </a:lnTo>
                <a:lnTo>
                  <a:pt x="375963" y="272204"/>
                </a:lnTo>
                <a:lnTo>
                  <a:pt x="382320" y="268842"/>
                </a:lnTo>
                <a:lnTo>
                  <a:pt x="381654" y="277064"/>
                </a:lnTo>
                <a:lnTo>
                  <a:pt x="390798" y="272849"/>
                </a:lnTo>
                <a:lnTo>
                  <a:pt x="390821" y="278563"/>
                </a:lnTo>
                <a:lnTo>
                  <a:pt x="402457" y="286566"/>
                </a:lnTo>
                <a:lnTo>
                  <a:pt x="419032" y="278697"/>
                </a:lnTo>
                <a:lnTo>
                  <a:pt x="473559" y="301524"/>
                </a:lnTo>
                <a:lnTo>
                  <a:pt x="484465" y="296474"/>
                </a:lnTo>
                <a:lnTo>
                  <a:pt x="499684" y="301874"/>
                </a:lnTo>
                <a:lnTo>
                  <a:pt x="523334" y="298144"/>
                </a:lnTo>
                <a:lnTo>
                  <a:pt x="555868" y="275505"/>
                </a:lnTo>
                <a:lnTo>
                  <a:pt x="575299" y="286132"/>
                </a:lnTo>
                <a:lnTo>
                  <a:pt x="626401" y="287556"/>
                </a:lnTo>
                <a:lnTo>
                  <a:pt x="681846" y="254502"/>
                </a:lnTo>
                <a:lnTo>
                  <a:pt x="700341" y="212592"/>
                </a:lnTo>
                <a:lnTo>
                  <a:pt x="709893" y="165787"/>
                </a:lnTo>
                <a:lnTo>
                  <a:pt x="747928" y="72332"/>
                </a:lnTo>
                <a:lnTo>
                  <a:pt x="752856" y="69807"/>
                </a:lnTo>
                <a:lnTo>
                  <a:pt x="745297" y="29080"/>
                </a:lnTo>
                <a:lnTo>
                  <a:pt x="772427" y="27854"/>
                </a:lnTo>
                <a:lnTo>
                  <a:pt x="872887" y="0"/>
                </a:lnTo>
                <a:lnTo>
                  <a:pt x="880840" y="5596"/>
                </a:lnTo>
                <a:lnTo>
                  <a:pt x="880165" y="34463"/>
                </a:lnTo>
                <a:lnTo>
                  <a:pt x="887591" y="44325"/>
                </a:lnTo>
                <a:lnTo>
                  <a:pt x="925805" y="44904"/>
                </a:lnTo>
                <a:lnTo>
                  <a:pt x="955722" y="63991"/>
                </a:lnTo>
                <a:lnTo>
                  <a:pt x="962476" y="52522"/>
                </a:lnTo>
                <a:lnTo>
                  <a:pt x="1009655" y="37424"/>
                </a:lnTo>
                <a:lnTo>
                  <a:pt x="1008744" y="23331"/>
                </a:lnTo>
                <a:lnTo>
                  <a:pt x="1020527" y="23002"/>
                </a:lnTo>
                <a:lnTo>
                  <a:pt x="1023337" y="66060"/>
                </a:lnTo>
                <a:lnTo>
                  <a:pt x="1037261" y="69635"/>
                </a:lnTo>
                <a:lnTo>
                  <a:pt x="1049265" y="90010"/>
                </a:lnTo>
                <a:lnTo>
                  <a:pt x="1056239" y="82355"/>
                </a:lnTo>
                <a:lnTo>
                  <a:pt x="1066119" y="86472"/>
                </a:lnTo>
                <a:lnTo>
                  <a:pt x="1060548" y="104066"/>
                </a:lnTo>
                <a:lnTo>
                  <a:pt x="1067107" y="104933"/>
                </a:lnTo>
                <a:lnTo>
                  <a:pt x="1065077" y="112894"/>
                </a:lnTo>
                <a:lnTo>
                  <a:pt x="1076482" y="105261"/>
                </a:lnTo>
                <a:lnTo>
                  <a:pt x="1086161" y="106814"/>
                </a:lnTo>
                <a:lnTo>
                  <a:pt x="1091390" y="118600"/>
                </a:lnTo>
                <a:lnTo>
                  <a:pt x="1125202" y="113962"/>
                </a:lnTo>
                <a:lnTo>
                  <a:pt x="1139256" y="122150"/>
                </a:lnTo>
                <a:lnTo>
                  <a:pt x="1151538" y="104890"/>
                </a:lnTo>
                <a:lnTo>
                  <a:pt x="1152568" y="93521"/>
                </a:lnTo>
                <a:lnTo>
                  <a:pt x="1159874" y="90825"/>
                </a:lnTo>
                <a:lnTo>
                  <a:pt x="1173444" y="96394"/>
                </a:lnTo>
                <a:lnTo>
                  <a:pt x="1197267" y="89813"/>
                </a:lnTo>
                <a:lnTo>
                  <a:pt x="1233781" y="99536"/>
                </a:lnTo>
                <a:lnTo>
                  <a:pt x="1242673" y="88666"/>
                </a:lnTo>
                <a:lnTo>
                  <a:pt x="1254958" y="95997"/>
                </a:lnTo>
                <a:lnTo>
                  <a:pt x="1274336" y="94980"/>
                </a:lnTo>
                <a:lnTo>
                  <a:pt x="1275384" y="101477"/>
                </a:lnTo>
                <a:lnTo>
                  <a:pt x="1306440" y="113960"/>
                </a:lnTo>
                <a:lnTo>
                  <a:pt x="1295528" y="133535"/>
                </a:lnTo>
                <a:lnTo>
                  <a:pt x="1285999" y="131206"/>
                </a:lnTo>
                <a:lnTo>
                  <a:pt x="1281577" y="122597"/>
                </a:lnTo>
                <a:lnTo>
                  <a:pt x="1265183" y="125653"/>
                </a:lnTo>
                <a:lnTo>
                  <a:pt x="1267335" y="138003"/>
                </a:lnTo>
                <a:lnTo>
                  <a:pt x="1275406" y="137498"/>
                </a:lnTo>
                <a:lnTo>
                  <a:pt x="1276607" y="152854"/>
                </a:lnTo>
                <a:lnTo>
                  <a:pt x="1302266" y="155368"/>
                </a:lnTo>
                <a:lnTo>
                  <a:pt x="1313825" y="176223"/>
                </a:lnTo>
                <a:lnTo>
                  <a:pt x="1313486" y="188005"/>
                </a:lnTo>
                <a:lnTo>
                  <a:pt x="1297197" y="191367"/>
                </a:lnTo>
                <a:lnTo>
                  <a:pt x="1291154" y="183416"/>
                </a:lnTo>
                <a:lnTo>
                  <a:pt x="1285379" y="184513"/>
                </a:lnTo>
                <a:lnTo>
                  <a:pt x="1285127" y="194037"/>
                </a:lnTo>
                <a:lnTo>
                  <a:pt x="1269179" y="193918"/>
                </a:lnTo>
                <a:lnTo>
                  <a:pt x="1254274" y="202422"/>
                </a:lnTo>
                <a:lnTo>
                  <a:pt x="1244236" y="191355"/>
                </a:lnTo>
                <a:lnTo>
                  <a:pt x="1237329" y="192088"/>
                </a:lnTo>
                <a:lnTo>
                  <a:pt x="1231241" y="203126"/>
                </a:lnTo>
                <a:lnTo>
                  <a:pt x="1251822" y="219963"/>
                </a:lnTo>
                <a:lnTo>
                  <a:pt x="1241447" y="231835"/>
                </a:lnTo>
                <a:lnTo>
                  <a:pt x="1255245" y="236720"/>
                </a:lnTo>
                <a:lnTo>
                  <a:pt x="1254431" y="242775"/>
                </a:lnTo>
                <a:lnTo>
                  <a:pt x="1238754" y="238090"/>
                </a:lnTo>
                <a:lnTo>
                  <a:pt x="1232936" y="250698"/>
                </a:lnTo>
                <a:lnTo>
                  <a:pt x="1238013" y="261094"/>
                </a:lnTo>
                <a:lnTo>
                  <a:pt x="1231341" y="266227"/>
                </a:lnTo>
                <a:lnTo>
                  <a:pt x="1230147" y="276859"/>
                </a:lnTo>
                <a:lnTo>
                  <a:pt x="1237057" y="291407"/>
                </a:lnTo>
                <a:lnTo>
                  <a:pt x="1230032" y="293358"/>
                </a:lnTo>
                <a:lnTo>
                  <a:pt x="1232209" y="307791"/>
                </a:lnTo>
                <a:lnTo>
                  <a:pt x="1214000" y="319084"/>
                </a:lnTo>
                <a:lnTo>
                  <a:pt x="1216325" y="309178"/>
                </a:lnTo>
                <a:lnTo>
                  <a:pt x="1208729" y="307953"/>
                </a:lnTo>
                <a:lnTo>
                  <a:pt x="1202186" y="318373"/>
                </a:lnTo>
                <a:lnTo>
                  <a:pt x="1181897" y="326716"/>
                </a:lnTo>
                <a:lnTo>
                  <a:pt x="1181712" y="315365"/>
                </a:lnTo>
                <a:lnTo>
                  <a:pt x="1168216" y="321497"/>
                </a:lnTo>
                <a:lnTo>
                  <a:pt x="1159662" y="312405"/>
                </a:lnTo>
                <a:lnTo>
                  <a:pt x="1159068" y="300977"/>
                </a:lnTo>
                <a:lnTo>
                  <a:pt x="1136537" y="314680"/>
                </a:lnTo>
                <a:lnTo>
                  <a:pt x="1116692" y="318415"/>
                </a:lnTo>
                <a:lnTo>
                  <a:pt x="1105649" y="382081"/>
                </a:lnTo>
                <a:lnTo>
                  <a:pt x="1092338" y="381351"/>
                </a:lnTo>
                <a:lnTo>
                  <a:pt x="1091355" y="391288"/>
                </a:lnTo>
                <a:lnTo>
                  <a:pt x="1075979" y="388439"/>
                </a:lnTo>
                <a:lnTo>
                  <a:pt x="1084254" y="423673"/>
                </a:lnTo>
                <a:lnTo>
                  <a:pt x="1051078" y="447612"/>
                </a:lnTo>
                <a:lnTo>
                  <a:pt x="1060510" y="480414"/>
                </a:lnTo>
                <a:lnTo>
                  <a:pt x="1043159" y="484914"/>
                </a:lnTo>
                <a:lnTo>
                  <a:pt x="1048983" y="497882"/>
                </a:lnTo>
                <a:lnTo>
                  <a:pt x="1059509" y="497161"/>
                </a:lnTo>
                <a:lnTo>
                  <a:pt x="1062315" y="513937"/>
                </a:lnTo>
                <a:lnTo>
                  <a:pt x="1085939" y="508420"/>
                </a:lnTo>
                <a:lnTo>
                  <a:pt x="1084854" y="497813"/>
                </a:lnTo>
                <a:lnTo>
                  <a:pt x="1091094" y="498471"/>
                </a:lnTo>
                <a:lnTo>
                  <a:pt x="1104494" y="518077"/>
                </a:lnTo>
                <a:lnTo>
                  <a:pt x="1111267" y="513320"/>
                </a:lnTo>
                <a:lnTo>
                  <a:pt x="1137427" y="518167"/>
                </a:lnTo>
                <a:lnTo>
                  <a:pt x="1138230" y="535747"/>
                </a:lnTo>
                <a:lnTo>
                  <a:pt x="1144938" y="52990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2022 provincial petrol/diesel sales: NC"/>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2022 provincial petrol/diesel sales: WC"/>
          <p:cNvSpPr/>
          <p:nvPr/>
        </p:nvSpPr>
        <p:spPr>
          <a:xfrm>
            <a:off x="2284853" y="5322748"/>
            <a:ext cx="5752" cy="7186"/>
          </a:xfrm>
          <a:custGeom>
            <a:avLst/>
            <a:gdLst/>
            <a:ahLst/>
            <a:cxnLst/>
            <a:rect l="l" t="t" r="r" b="b"/>
            <a:pathLst>
              <a:path w="5752" h="7186">
                <a:moveTo>
                  <a:pt x="3500" y="0"/>
                </a:moveTo>
                <a:lnTo>
                  <a:pt x="5752" y="5055"/>
                </a:lnTo>
                <a:lnTo>
                  <a:pt x="3290" y="7186"/>
                </a:lnTo>
                <a:lnTo>
                  <a:pt x="0" y="2653"/>
                </a:lnTo>
                <a:lnTo>
                  <a:pt x="3500" y="0"/>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2022 provincial petrol/diesel sales: WC"/>
          <p:cNvSpPr/>
          <p:nvPr/>
        </p:nvSpPr>
        <p:spPr>
          <a:xfrm>
            <a:off x="2220092" y="5229576"/>
            <a:ext cx="3544" cy="4871"/>
          </a:xfrm>
          <a:custGeom>
            <a:avLst/>
            <a:gdLst/>
            <a:ahLst/>
            <a:cxnLst/>
            <a:rect l="l" t="t" r="r" b="b"/>
            <a:pathLst>
              <a:path w="3544" h="4871">
                <a:moveTo>
                  <a:pt x="0" y="4871"/>
                </a:moveTo>
                <a:lnTo>
                  <a:pt x="1386" y="0"/>
                </a:lnTo>
                <a:lnTo>
                  <a:pt x="3544" y="4547"/>
                </a:lnTo>
                <a:lnTo>
                  <a:pt x="0" y="4871"/>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2022 provincial petrol/diesel sales: WC"/>
          <p:cNvSpPr/>
          <p:nvPr/>
        </p:nvSpPr>
        <p:spPr>
          <a:xfrm>
            <a:off x="2112260" y="4460901"/>
            <a:ext cx="1422285" cy="1110490"/>
          </a:xfrm>
          <a:custGeom>
            <a:avLst/>
            <a:gdLst/>
            <a:ahLst/>
            <a:cxnLst/>
            <a:rect l="l" t="t" r="r" b="b"/>
            <a:pathLst>
              <a:path w="1422285" h="1110490">
                <a:moveTo>
                  <a:pt x="1388914" y="313955"/>
                </a:moveTo>
                <a:lnTo>
                  <a:pt x="1413570" y="315353"/>
                </a:lnTo>
                <a:lnTo>
                  <a:pt x="1407278" y="317751"/>
                </a:lnTo>
                <a:lnTo>
                  <a:pt x="1407012" y="326048"/>
                </a:lnTo>
                <a:lnTo>
                  <a:pt x="1400506" y="324117"/>
                </a:ln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Working geographic region: Eastern coastal"/>
          <p:cNvSpPr/>
          <p:nvPr/>
        </p:nvSpPr>
        <p:spPr>
          <a:xfrm>
            <a:off x="3217820" y="3542692"/>
            <a:ext cx="2305921" cy="1846861"/>
          </a:xfrm>
          <a:custGeom>
            <a:avLst/>
            <a:gdLst/>
            <a:ahLst/>
            <a:cxnLst/>
            <a:rect l="l" t="t" r="r" b="b"/>
            <a:pathLst>
              <a:path w="2305921" h="1846861">
                <a:moveTo>
                  <a:pt x="1600396" y="1109780"/>
                </a:moveTo>
                <a:lnTo>
                  <a:pt x="1552222" y="1156893"/>
                </a:lnTo>
                <a:lnTo>
                  <a:pt x="1532452" y="1160172"/>
                </a:lnTo>
                <a:lnTo>
                  <a:pt x="1481036" y="1208706"/>
                </a:lnTo>
                <a:lnTo>
                  <a:pt x="1453741" y="1220233"/>
                </a:lnTo>
                <a:lnTo>
                  <a:pt x="1449105" y="1230898"/>
                </a:lnTo>
                <a:lnTo>
                  <a:pt x="1438747" y="1236782"/>
                </a:lnTo>
                <a:lnTo>
                  <a:pt x="1436318" y="1248266"/>
                </a:lnTo>
                <a:lnTo>
                  <a:pt x="1417163" y="1262952"/>
                </a:lnTo>
                <a:lnTo>
                  <a:pt x="1405540" y="1283318"/>
                </a:lnTo>
                <a:lnTo>
                  <a:pt x="1388233" y="1295723"/>
                </a:lnTo>
                <a:lnTo>
                  <a:pt x="1377202" y="1316936"/>
                </a:lnTo>
                <a:lnTo>
                  <a:pt x="1362051" y="1326785"/>
                </a:lnTo>
                <a:lnTo>
                  <a:pt x="1330982" y="1366584"/>
                </a:lnTo>
                <a:lnTo>
                  <a:pt x="1308715" y="1381795"/>
                </a:lnTo>
                <a:lnTo>
                  <a:pt x="1256150" y="1438980"/>
                </a:lnTo>
                <a:lnTo>
                  <a:pt x="1230251" y="1453168"/>
                </a:lnTo>
                <a:lnTo>
                  <a:pt x="1216543" y="1471642"/>
                </a:lnTo>
                <a:lnTo>
                  <a:pt x="1165080" y="1496393"/>
                </a:lnTo>
                <a:lnTo>
                  <a:pt x="1151740" y="1522852"/>
                </a:lnTo>
                <a:lnTo>
                  <a:pt x="1125327" y="1539235"/>
                </a:lnTo>
                <a:lnTo>
                  <a:pt x="1117376" y="1551721"/>
                </a:lnTo>
                <a:lnTo>
                  <a:pt x="1074306" y="1574361"/>
                </a:lnTo>
                <a:lnTo>
                  <a:pt x="1046671" y="1599569"/>
                </a:lnTo>
                <a:lnTo>
                  <a:pt x="949172" y="1663158"/>
                </a:lnTo>
                <a:lnTo>
                  <a:pt x="939555" y="1674809"/>
                </a:lnTo>
                <a:lnTo>
                  <a:pt x="901724" y="1688654"/>
                </a:lnTo>
                <a:lnTo>
                  <a:pt x="886408" y="1699869"/>
                </a:lnTo>
                <a:lnTo>
                  <a:pt x="859634" y="1706250"/>
                </a:lnTo>
                <a:lnTo>
                  <a:pt x="819926" y="1730059"/>
                </a:lnTo>
                <a:lnTo>
                  <a:pt x="800548" y="1736227"/>
                </a:lnTo>
                <a:lnTo>
                  <a:pt x="769694" y="1734446"/>
                </a:lnTo>
                <a:lnTo>
                  <a:pt x="707203" y="1717744"/>
                </a:lnTo>
                <a:lnTo>
                  <a:pt x="655271" y="1727146"/>
                </a:lnTo>
                <a:lnTo>
                  <a:pt x="628675" y="1747032"/>
                </a:lnTo>
                <a:lnTo>
                  <a:pt x="617419" y="1771774"/>
                </a:lnTo>
                <a:lnTo>
                  <a:pt x="617199" y="1779280"/>
                </a:lnTo>
                <a:lnTo>
                  <a:pt x="636585" y="1800781"/>
                </a:lnTo>
                <a:lnTo>
                  <a:pt x="610310" y="1805450"/>
                </a:lnTo>
                <a:lnTo>
                  <a:pt x="573395" y="1801460"/>
                </a:lnTo>
                <a:lnTo>
                  <a:pt x="529835" y="1783885"/>
                </a:lnTo>
                <a:lnTo>
                  <a:pt x="490048" y="1785266"/>
                </a:lnTo>
                <a:lnTo>
                  <a:pt x="471149" y="1795943"/>
                </a:lnTo>
                <a:lnTo>
                  <a:pt x="469864" y="1812566"/>
                </a:lnTo>
                <a:lnTo>
                  <a:pt x="452936" y="1828402"/>
                </a:lnTo>
                <a:lnTo>
                  <a:pt x="450696" y="1835104"/>
                </a:lnTo>
                <a:lnTo>
                  <a:pt x="459042" y="1842469"/>
                </a:lnTo>
                <a:lnTo>
                  <a:pt x="451741" y="1846861"/>
                </a:lnTo>
                <a:lnTo>
                  <a:pt x="411111" y="1836503"/>
                </a:lnTo>
                <a:lnTo>
                  <a:pt x="403086" y="1841231"/>
                </a:lnTo>
                <a:lnTo>
                  <a:pt x="378057" y="1835260"/>
                </a:lnTo>
                <a:lnTo>
                  <a:pt x="354681" y="1818869"/>
                </a:lnTo>
                <a:lnTo>
                  <a:pt x="339416" y="1818642"/>
                </a:lnTo>
                <a:lnTo>
                  <a:pt x="314495" y="1808099"/>
                </a:lnTo>
                <a:lnTo>
                  <a:pt x="197202" y="1791204"/>
                </a:lnTo>
                <a:lnTo>
                  <a:pt x="195364" y="1771643"/>
                </a:lnTo>
                <a:lnTo>
                  <a:pt x="209291" y="1758969"/>
                </a:lnTo>
                <a:lnTo>
                  <a:pt x="178963" y="1750350"/>
                </a:lnTo>
                <a:lnTo>
                  <a:pt x="177856" y="1741278"/>
                </a:lnTo>
                <a:lnTo>
                  <a:pt x="169576" y="1738497"/>
                </a:lnTo>
                <a:lnTo>
                  <a:pt x="163303" y="1745077"/>
                </a:lnTo>
                <a:lnTo>
                  <a:pt x="143142" y="1741543"/>
                </a:lnTo>
                <a:lnTo>
                  <a:pt x="152462" y="1722170"/>
                </a:lnTo>
                <a:lnTo>
                  <a:pt x="174088" y="1717320"/>
                </a:lnTo>
                <a:lnTo>
                  <a:pt x="177187" y="1705005"/>
                </a:lnTo>
                <a:lnTo>
                  <a:pt x="183552" y="1710350"/>
                </a:lnTo>
                <a:lnTo>
                  <a:pt x="201656" y="1710084"/>
                </a:lnTo>
                <a:lnTo>
                  <a:pt x="202480" y="1698135"/>
                </a:lnTo>
                <a:lnTo>
                  <a:pt x="185421" y="1684694"/>
                </a:lnTo>
                <a:lnTo>
                  <a:pt x="186839" y="1665209"/>
                </a:lnTo>
                <a:lnTo>
                  <a:pt x="163393" y="1651961"/>
                </a:lnTo>
                <a:lnTo>
                  <a:pt x="133168" y="1651795"/>
                </a:lnTo>
                <a:lnTo>
                  <a:pt x="135221" y="1657030"/>
                </a:lnTo>
                <a:lnTo>
                  <a:pt x="120555" y="1638544"/>
                </a:lnTo>
                <a:lnTo>
                  <a:pt x="85680" y="1638825"/>
                </a:lnTo>
                <a:lnTo>
                  <a:pt x="42919" y="1650178"/>
                </a:lnTo>
                <a:lnTo>
                  <a:pt x="8442" y="1648418"/>
                </a:lnTo>
                <a:lnTo>
                  <a:pt x="0" y="1642195"/>
                </a:lnTo>
                <a:lnTo>
                  <a:pt x="377" y="1624079"/>
                </a:lnTo>
                <a:lnTo>
                  <a:pt x="11249" y="1619603"/>
                </a:lnTo>
                <a:lnTo>
                  <a:pt x="45596" y="1559066"/>
                </a:lnTo>
                <a:lnTo>
                  <a:pt x="40770" y="1545983"/>
                </a:lnTo>
                <a:lnTo>
                  <a:pt x="48217" y="1538614"/>
                </a:lnTo>
                <a:lnTo>
                  <a:pt x="43585" y="1527611"/>
                </a:lnTo>
                <a:lnTo>
                  <a:pt x="55889" y="1507642"/>
                </a:lnTo>
                <a:lnTo>
                  <a:pt x="79366" y="1503453"/>
                </a:lnTo>
                <a:lnTo>
                  <a:pt x="73248" y="1488505"/>
                </a:lnTo>
                <a:lnTo>
                  <a:pt x="94332" y="1480048"/>
                </a:lnTo>
                <a:lnTo>
                  <a:pt x="135896" y="1494160"/>
                </a:lnTo>
                <a:lnTo>
                  <a:pt x="139796" y="1478365"/>
                </a:lnTo>
                <a:lnTo>
                  <a:pt x="129817" y="1478585"/>
                </a:lnTo>
                <a:lnTo>
                  <a:pt x="125528" y="1463253"/>
                </a:lnTo>
                <a:lnTo>
                  <a:pt x="111699" y="1455237"/>
                </a:lnTo>
                <a:lnTo>
                  <a:pt x="118492" y="1450100"/>
                </a:lnTo>
                <a:lnTo>
                  <a:pt x="119628" y="1439808"/>
                </a:lnTo>
                <a:lnTo>
                  <a:pt x="115240" y="1424419"/>
                </a:lnTo>
                <a:lnTo>
                  <a:pt x="105613" y="1414848"/>
                </a:lnTo>
                <a:lnTo>
                  <a:pt x="100288" y="1392370"/>
                </a:lnTo>
                <a:lnTo>
                  <a:pt x="118782" y="1384643"/>
                </a:lnTo>
                <a:lnTo>
                  <a:pt x="124194" y="1373110"/>
                </a:lnTo>
                <a:lnTo>
                  <a:pt x="141021" y="1382609"/>
                </a:lnTo>
                <a:lnTo>
                  <a:pt x="149277" y="1365632"/>
                </a:lnTo>
                <a:lnTo>
                  <a:pt x="196329" y="1370407"/>
                </a:lnTo>
                <a:lnTo>
                  <a:pt x="199156" y="1366507"/>
                </a:lnTo>
                <a:lnTo>
                  <a:pt x="192646" y="1358629"/>
                </a:lnTo>
                <a:lnTo>
                  <a:pt x="197151" y="1343140"/>
                </a:lnTo>
                <a:lnTo>
                  <a:pt x="217819" y="1327835"/>
                </a:lnTo>
                <a:lnTo>
                  <a:pt x="245460" y="1347052"/>
                </a:lnTo>
                <a:lnTo>
                  <a:pt x="260319" y="1334527"/>
                </a:lnTo>
                <a:lnTo>
                  <a:pt x="275388" y="1331061"/>
                </a:lnTo>
                <a:lnTo>
                  <a:pt x="276942" y="1322006"/>
                </a:lnTo>
                <a:lnTo>
                  <a:pt x="290476" y="1323399"/>
                </a:lnTo>
                <a:lnTo>
                  <a:pt x="298102" y="1312890"/>
                </a:lnTo>
                <a:lnTo>
                  <a:pt x="292390" y="1302996"/>
                </a:lnTo>
                <a:lnTo>
                  <a:pt x="289875" y="1309790"/>
                </a:lnTo>
                <a:lnTo>
                  <a:pt x="290873" y="1299324"/>
                </a:lnTo>
                <a:lnTo>
                  <a:pt x="299166" y="1294522"/>
                </a:lnTo>
                <a:lnTo>
                  <a:pt x="299043" y="1284381"/>
                </a:lnTo>
                <a:lnTo>
                  <a:pt x="309628" y="1284443"/>
                </a:lnTo>
                <a:lnTo>
                  <a:pt x="316725" y="1269915"/>
                </a:lnTo>
                <a:lnTo>
                  <a:pt x="303920" y="1256389"/>
                </a:lnTo>
                <a:lnTo>
                  <a:pt x="291087" y="1257620"/>
                </a:lnTo>
                <a:lnTo>
                  <a:pt x="294946" y="1242326"/>
                </a:lnTo>
                <a:lnTo>
                  <a:pt x="301452" y="1244257"/>
                </a:lnTo>
                <a:lnTo>
                  <a:pt x="301718" y="1235960"/>
                </a:lnTo>
                <a:lnTo>
                  <a:pt x="308010" y="1233562"/>
                </a:lnTo>
                <a:lnTo>
                  <a:pt x="301562" y="1229779"/>
                </a:lnTo>
                <a:lnTo>
                  <a:pt x="303037" y="1214892"/>
                </a:lnTo>
                <a:lnTo>
                  <a:pt x="330074" y="1221114"/>
                </a:lnTo>
                <a:lnTo>
                  <a:pt x="342169" y="1207908"/>
                </a:lnTo>
                <a:lnTo>
                  <a:pt x="360237" y="1207252"/>
                </a:lnTo>
                <a:lnTo>
                  <a:pt x="357871" y="1201347"/>
                </a:lnTo>
                <a:lnTo>
                  <a:pt x="364168" y="1207481"/>
                </a:lnTo>
                <a:lnTo>
                  <a:pt x="380104" y="1205455"/>
                </a:lnTo>
                <a:lnTo>
                  <a:pt x="381038" y="1152487"/>
                </a:lnTo>
                <a:lnTo>
                  <a:pt x="389663" y="1148345"/>
                </a:lnTo>
                <a:lnTo>
                  <a:pt x="391430" y="1132173"/>
                </a:lnTo>
                <a:lnTo>
                  <a:pt x="397756" y="1127173"/>
                </a:lnTo>
                <a:lnTo>
                  <a:pt x="412866" y="1123155"/>
                </a:lnTo>
                <a:lnTo>
                  <a:pt x="422899" y="1129740"/>
                </a:lnTo>
                <a:lnTo>
                  <a:pt x="440024" y="1124575"/>
                </a:lnTo>
                <a:lnTo>
                  <a:pt x="448094" y="1116134"/>
                </a:lnTo>
                <a:lnTo>
                  <a:pt x="456304" y="1120497"/>
                </a:lnTo>
                <a:lnTo>
                  <a:pt x="454121" y="1108887"/>
                </a:lnTo>
                <a:lnTo>
                  <a:pt x="471825" y="1106868"/>
                </a:lnTo>
                <a:lnTo>
                  <a:pt x="487650" y="1092213"/>
                </a:lnTo>
                <a:lnTo>
                  <a:pt x="499266" y="1093823"/>
                </a:lnTo>
                <a:lnTo>
                  <a:pt x="523898" y="1086122"/>
                </a:lnTo>
                <a:lnTo>
                  <a:pt x="532823" y="1074097"/>
                </a:lnTo>
                <a:lnTo>
                  <a:pt x="564344" y="1085400"/>
                </a:lnTo>
                <a:lnTo>
                  <a:pt x="571349" y="1080777"/>
                </a:lnTo>
                <a:lnTo>
                  <a:pt x="571045" y="1063672"/>
                </a:lnTo>
                <a:lnTo>
                  <a:pt x="584703" y="1050735"/>
                </a:lnTo>
                <a:lnTo>
                  <a:pt x="583079" y="1040827"/>
                </a:lnTo>
                <a:lnTo>
                  <a:pt x="596965" y="1027045"/>
                </a:lnTo>
                <a:lnTo>
                  <a:pt x="591132" y="1021007"/>
                </a:lnTo>
                <a:lnTo>
                  <a:pt x="599085" y="1013838"/>
                </a:lnTo>
                <a:lnTo>
                  <a:pt x="600655" y="999979"/>
                </a:lnTo>
                <a:lnTo>
                  <a:pt x="590431" y="991835"/>
                </a:lnTo>
                <a:lnTo>
                  <a:pt x="607753" y="971739"/>
                </a:lnTo>
                <a:lnTo>
                  <a:pt x="592496" y="968585"/>
                </a:lnTo>
                <a:lnTo>
                  <a:pt x="589765" y="929004"/>
                </a:lnTo>
                <a:lnTo>
                  <a:pt x="610847" y="927081"/>
                </a:lnTo>
                <a:lnTo>
                  <a:pt x="618483" y="920478"/>
                </a:lnTo>
                <a:lnTo>
                  <a:pt x="624657" y="929189"/>
                </a:lnTo>
                <a:lnTo>
                  <a:pt x="622161" y="937287"/>
                </a:lnTo>
                <a:lnTo>
                  <a:pt x="635844" y="933293"/>
                </a:lnTo>
                <a:lnTo>
                  <a:pt x="639716" y="942526"/>
                </a:lnTo>
                <a:lnTo>
                  <a:pt x="655389" y="945796"/>
                </a:lnTo>
                <a:lnTo>
                  <a:pt x="661857" y="932688"/>
                </a:lnTo>
                <a:lnTo>
                  <a:pt x="683577" y="925979"/>
                </a:lnTo>
                <a:lnTo>
                  <a:pt x="682521" y="908976"/>
                </a:lnTo>
                <a:lnTo>
                  <a:pt x="692479" y="919597"/>
                </a:lnTo>
                <a:lnTo>
                  <a:pt x="702772" y="907689"/>
                </a:lnTo>
                <a:lnTo>
                  <a:pt x="729484" y="902377"/>
                </a:lnTo>
                <a:lnTo>
                  <a:pt x="739321" y="908546"/>
                </a:lnTo>
                <a:lnTo>
                  <a:pt x="736766" y="898253"/>
                </a:lnTo>
                <a:lnTo>
                  <a:pt x="744002" y="894080"/>
                </a:lnTo>
                <a:lnTo>
                  <a:pt x="751578" y="906455"/>
                </a:lnTo>
                <a:lnTo>
                  <a:pt x="766102" y="909539"/>
                </a:lnTo>
                <a:lnTo>
                  <a:pt x="769754" y="921502"/>
                </a:lnTo>
                <a:lnTo>
                  <a:pt x="786525" y="923054"/>
                </a:lnTo>
                <a:lnTo>
                  <a:pt x="807211" y="916742"/>
                </a:lnTo>
                <a:lnTo>
                  <a:pt x="816051" y="923120"/>
                </a:lnTo>
                <a:lnTo>
                  <a:pt x="814589" y="932262"/>
                </a:lnTo>
                <a:lnTo>
                  <a:pt x="830954" y="941283"/>
                </a:lnTo>
                <a:lnTo>
                  <a:pt x="846691" y="940900"/>
                </a:lnTo>
                <a:lnTo>
                  <a:pt x="846671" y="949122"/>
                </a:lnTo>
                <a:lnTo>
                  <a:pt x="856910" y="942523"/>
                </a:lnTo>
                <a:lnTo>
                  <a:pt x="862977" y="947568"/>
                </a:lnTo>
                <a:lnTo>
                  <a:pt x="885759" y="935750"/>
                </a:lnTo>
                <a:lnTo>
                  <a:pt x="898464" y="947400"/>
                </a:lnTo>
                <a:lnTo>
                  <a:pt x="901923" y="941182"/>
                </a:lnTo>
                <a:lnTo>
                  <a:pt x="917422" y="941179"/>
                </a:lnTo>
                <a:lnTo>
                  <a:pt x="913262" y="932383"/>
                </a:lnTo>
                <a:lnTo>
                  <a:pt x="917444" y="928139"/>
                </a:lnTo>
                <a:lnTo>
                  <a:pt x="936451" y="926678"/>
                </a:lnTo>
                <a:lnTo>
                  <a:pt x="930541" y="910358"/>
                </a:lnTo>
                <a:lnTo>
                  <a:pt x="948202" y="908305"/>
                </a:lnTo>
                <a:lnTo>
                  <a:pt x="952665" y="916129"/>
                </a:lnTo>
                <a:lnTo>
                  <a:pt x="959866" y="909582"/>
                </a:lnTo>
                <a:lnTo>
                  <a:pt x="958298" y="903906"/>
                </a:lnTo>
                <a:lnTo>
                  <a:pt x="970610" y="907838"/>
                </a:lnTo>
                <a:lnTo>
                  <a:pt x="976640" y="898323"/>
                </a:lnTo>
                <a:lnTo>
                  <a:pt x="980275" y="904166"/>
                </a:lnTo>
                <a:lnTo>
                  <a:pt x="982581" y="896803"/>
                </a:lnTo>
                <a:lnTo>
                  <a:pt x="995498" y="904972"/>
                </a:lnTo>
                <a:lnTo>
                  <a:pt x="1002261" y="897905"/>
                </a:lnTo>
                <a:lnTo>
                  <a:pt x="996312" y="887612"/>
                </a:lnTo>
                <a:lnTo>
                  <a:pt x="1011446" y="886211"/>
                </a:lnTo>
                <a:lnTo>
                  <a:pt x="1001657" y="882472"/>
                </a:lnTo>
                <a:lnTo>
                  <a:pt x="1005040" y="876175"/>
                </a:lnTo>
                <a:lnTo>
                  <a:pt x="1013406" y="879043"/>
                </a:lnTo>
                <a:lnTo>
                  <a:pt x="1019395" y="874953"/>
                </a:lnTo>
                <a:lnTo>
                  <a:pt x="1008113" y="858500"/>
                </a:lnTo>
                <a:lnTo>
                  <a:pt x="1017203" y="861459"/>
                </a:lnTo>
                <a:lnTo>
                  <a:pt x="1030933" y="855031"/>
                </a:lnTo>
                <a:lnTo>
                  <a:pt x="1038546" y="870498"/>
                </a:lnTo>
                <a:lnTo>
                  <a:pt x="1052509" y="877898"/>
                </a:lnTo>
                <a:lnTo>
                  <a:pt x="1055407" y="889128"/>
                </a:lnTo>
                <a:lnTo>
                  <a:pt x="1063453" y="890130"/>
                </a:lnTo>
                <a:lnTo>
                  <a:pt x="1064500" y="902333"/>
                </a:lnTo>
                <a:lnTo>
                  <a:pt x="1082101" y="914303"/>
                </a:lnTo>
                <a:lnTo>
                  <a:pt x="1093114" y="930695"/>
                </a:lnTo>
                <a:lnTo>
                  <a:pt x="1104866" y="934865"/>
                </a:lnTo>
                <a:lnTo>
                  <a:pt x="1131525" y="930956"/>
                </a:lnTo>
                <a:lnTo>
                  <a:pt x="1136779" y="942044"/>
                </a:lnTo>
                <a:lnTo>
                  <a:pt x="1168558" y="945387"/>
                </a:lnTo>
                <a:lnTo>
                  <a:pt x="1174818" y="951080"/>
                </a:lnTo>
                <a:lnTo>
                  <a:pt x="1175253" y="931715"/>
                </a:lnTo>
                <a:lnTo>
                  <a:pt x="1183788" y="927884"/>
                </a:lnTo>
                <a:lnTo>
                  <a:pt x="1189922" y="913010"/>
                </a:lnTo>
                <a:lnTo>
                  <a:pt x="1185757" y="897614"/>
                </a:lnTo>
                <a:lnTo>
                  <a:pt x="1192569" y="890038"/>
                </a:lnTo>
                <a:lnTo>
                  <a:pt x="1208565" y="885908"/>
                </a:lnTo>
                <a:lnTo>
                  <a:pt x="1211712" y="869617"/>
                </a:lnTo>
                <a:lnTo>
                  <a:pt x="1198193" y="853268"/>
                </a:lnTo>
                <a:lnTo>
                  <a:pt x="1204924" y="845556"/>
                </a:lnTo>
                <a:lnTo>
                  <a:pt x="1229466" y="839066"/>
                </a:lnTo>
                <a:lnTo>
                  <a:pt x="1234213" y="822961"/>
                </a:lnTo>
                <a:lnTo>
                  <a:pt x="1242109" y="816804"/>
                </a:lnTo>
                <a:lnTo>
                  <a:pt x="1258170" y="820324"/>
                </a:lnTo>
                <a:lnTo>
                  <a:pt x="1275789" y="811898"/>
                </a:lnTo>
                <a:lnTo>
                  <a:pt x="1301627" y="817832"/>
                </a:lnTo>
                <a:lnTo>
                  <a:pt x="1343760" y="806232"/>
                </a:lnTo>
                <a:lnTo>
                  <a:pt x="1379968" y="784825"/>
                </a:lnTo>
                <a:lnTo>
                  <a:pt x="1415197" y="764098"/>
                </a:lnTo>
                <a:lnTo>
                  <a:pt x="1414000" y="755797"/>
                </a:lnTo>
                <a:lnTo>
                  <a:pt x="1400589" y="745868"/>
                </a:lnTo>
                <a:lnTo>
                  <a:pt x="1407558" y="740739"/>
                </a:lnTo>
                <a:lnTo>
                  <a:pt x="1406309" y="725716"/>
                </a:lnTo>
                <a:lnTo>
                  <a:pt x="1415139" y="704303"/>
                </a:lnTo>
                <a:lnTo>
                  <a:pt x="1432325" y="693929"/>
                </a:lnTo>
                <a:lnTo>
                  <a:pt x="1442859" y="695090"/>
                </a:lnTo>
                <a:lnTo>
                  <a:pt x="1444047" y="680222"/>
                </a:lnTo>
                <a:lnTo>
                  <a:pt x="1453109" y="676793"/>
                </a:lnTo>
                <a:lnTo>
                  <a:pt x="1446754" y="656139"/>
                </a:lnTo>
                <a:lnTo>
                  <a:pt x="1471788" y="645388"/>
                </a:lnTo>
                <a:lnTo>
                  <a:pt x="1484542" y="618155"/>
                </a:lnTo>
                <a:lnTo>
                  <a:pt x="1475130" y="586055"/>
                </a:lnTo>
                <a:lnTo>
                  <a:pt x="1461074" y="579185"/>
                </a:lnTo>
                <a:lnTo>
                  <a:pt x="1464277" y="564110"/>
                </a:lnTo>
                <a:lnTo>
                  <a:pt x="1454889" y="551263"/>
                </a:lnTo>
                <a:lnTo>
                  <a:pt x="1441859" y="553397"/>
                </a:lnTo>
                <a:lnTo>
                  <a:pt x="1433563" y="536857"/>
                </a:lnTo>
                <a:lnTo>
                  <a:pt x="1413582" y="524435"/>
                </a:lnTo>
                <a:lnTo>
                  <a:pt x="1390738" y="498465"/>
                </a:lnTo>
                <a:lnTo>
                  <a:pt x="1381737" y="506548"/>
                </a:lnTo>
                <a:lnTo>
                  <a:pt x="1373099" y="492881"/>
                </a:lnTo>
                <a:lnTo>
                  <a:pt x="1375289" y="484301"/>
                </a:lnTo>
                <a:lnTo>
                  <a:pt x="1369507" y="480060"/>
                </a:lnTo>
                <a:lnTo>
                  <a:pt x="1375666" y="478096"/>
                </a:lnTo>
                <a:lnTo>
                  <a:pt x="1374677" y="472518"/>
                </a:lnTo>
                <a:lnTo>
                  <a:pt x="1366451" y="466200"/>
                </a:lnTo>
                <a:lnTo>
                  <a:pt x="1358980" y="468943"/>
                </a:lnTo>
                <a:lnTo>
                  <a:pt x="1364954" y="448700"/>
                </a:lnTo>
                <a:lnTo>
                  <a:pt x="1375558" y="438817"/>
                </a:lnTo>
                <a:lnTo>
                  <a:pt x="1383243" y="419530"/>
                </a:lnTo>
                <a:lnTo>
                  <a:pt x="1411088" y="412929"/>
                </a:lnTo>
                <a:lnTo>
                  <a:pt x="1419626" y="418655"/>
                </a:lnTo>
                <a:lnTo>
                  <a:pt x="1428063" y="409663"/>
                </a:lnTo>
                <a:lnTo>
                  <a:pt x="1433665" y="413703"/>
                </a:lnTo>
                <a:lnTo>
                  <a:pt x="1438375" y="407215"/>
                </a:lnTo>
                <a:lnTo>
                  <a:pt x="1433017" y="400556"/>
                </a:lnTo>
                <a:lnTo>
                  <a:pt x="1446560" y="383401"/>
                </a:lnTo>
                <a:lnTo>
                  <a:pt x="1455779" y="387057"/>
                </a:lnTo>
                <a:lnTo>
                  <a:pt x="1475202" y="370867"/>
                </a:lnTo>
                <a:lnTo>
                  <a:pt x="1484404" y="372233"/>
                </a:lnTo>
                <a:lnTo>
                  <a:pt x="1500893" y="346294"/>
                </a:lnTo>
                <a:lnTo>
                  <a:pt x="1532134" y="339553"/>
                </a:lnTo>
                <a:lnTo>
                  <a:pt x="1534165" y="325425"/>
                </a:lnTo>
                <a:lnTo>
                  <a:pt x="1542510" y="323575"/>
                </a:lnTo>
                <a:lnTo>
                  <a:pt x="1541702" y="301207"/>
                </a:lnTo>
                <a:lnTo>
                  <a:pt x="1533377" y="289827"/>
                </a:lnTo>
                <a:lnTo>
                  <a:pt x="1541861" y="269638"/>
                </a:lnTo>
                <a:lnTo>
                  <a:pt x="1548508" y="267521"/>
                </a:lnTo>
                <a:lnTo>
                  <a:pt x="1542958" y="258560"/>
                </a:lnTo>
                <a:lnTo>
                  <a:pt x="1551520" y="251840"/>
                </a:lnTo>
                <a:lnTo>
                  <a:pt x="1553739" y="233683"/>
                </a:lnTo>
                <a:lnTo>
                  <a:pt x="1561673" y="229796"/>
                </a:lnTo>
                <a:lnTo>
                  <a:pt x="1555778" y="218971"/>
                </a:lnTo>
                <a:lnTo>
                  <a:pt x="1557699" y="201581"/>
                </a:lnTo>
                <a:lnTo>
                  <a:pt x="1549571" y="188983"/>
                </a:lnTo>
                <a:lnTo>
                  <a:pt x="1576022" y="176250"/>
                </a:lnTo>
                <a:lnTo>
                  <a:pt x="1570623" y="158207"/>
                </a:lnTo>
                <a:lnTo>
                  <a:pt x="1559577" y="154307"/>
                </a:lnTo>
                <a:lnTo>
                  <a:pt x="1564993" y="147952"/>
                </a:lnTo>
                <a:lnTo>
                  <a:pt x="1559884" y="141053"/>
                </a:lnTo>
                <a:lnTo>
                  <a:pt x="1571534" y="136597"/>
                </a:lnTo>
                <a:lnTo>
                  <a:pt x="1579939" y="140805"/>
                </a:lnTo>
                <a:lnTo>
                  <a:pt x="1590742" y="121085"/>
                </a:lnTo>
                <a:lnTo>
                  <a:pt x="1604036" y="123370"/>
                </a:lnTo>
                <a:lnTo>
                  <a:pt x="1608550" y="115514"/>
                </a:lnTo>
                <a:lnTo>
                  <a:pt x="1630674" y="127486"/>
                </a:lnTo>
                <a:lnTo>
                  <a:pt x="1647063" y="120726"/>
                </a:lnTo>
                <a:lnTo>
                  <a:pt x="1659482" y="132752"/>
                </a:lnTo>
                <a:lnTo>
                  <a:pt x="1672564" y="118407"/>
                </a:lnTo>
                <a:lnTo>
                  <a:pt x="1680626" y="125303"/>
                </a:lnTo>
                <a:lnTo>
                  <a:pt x="1691073" y="122648"/>
                </a:lnTo>
                <a:lnTo>
                  <a:pt x="1692250" y="108831"/>
                </a:lnTo>
                <a:lnTo>
                  <a:pt x="1711482" y="108979"/>
                </a:lnTo>
                <a:lnTo>
                  <a:pt x="1712180" y="97674"/>
                </a:lnTo>
                <a:lnTo>
                  <a:pt x="1725573" y="98890"/>
                </a:lnTo>
                <a:lnTo>
                  <a:pt x="1724958" y="110422"/>
                </a:lnTo>
                <a:lnTo>
                  <a:pt x="1729896" y="113919"/>
                </a:lnTo>
                <a:lnTo>
                  <a:pt x="1741274" y="110508"/>
                </a:lnTo>
                <a:lnTo>
                  <a:pt x="1761585" y="114181"/>
                </a:lnTo>
                <a:lnTo>
                  <a:pt x="1791840" y="105539"/>
                </a:lnTo>
                <a:lnTo>
                  <a:pt x="1803469" y="117004"/>
                </a:lnTo>
                <a:lnTo>
                  <a:pt x="1807718" y="113732"/>
                </a:lnTo>
                <a:lnTo>
                  <a:pt x="1814833" y="124673"/>
                </a:lnTo>
                <a:lnTo>
                  <a:pt x="1822996" y="122287"/>
                </a:lnTo>
                <a:lnTo>
                  <a:pt x="1825265" y="114550"/>
                </a:lnTo>
                <a:lnTo>
                  <a:pt x="1838178" y="113231"/>
                </a:lnTo>
                <a:lnTo>
                  <a:pt x="1841970" y="129575"/>
                </a:lnTo>
                <a:lnTo>
                  <a:pt x="1878117" y="121562"/>
                </a:lnTo>
                <a:lnTo>
                  <a:pt x="1892906" y="132251"/>
                </a:lnTo>
                <a:lnTo>
                  <a:pt x="1919237" y="101489"/>
                </a:lnTo>
                <a:lnTo>
                  <a:pt x="1968274" y="122549"/>
                </a:lnTo>
                <a:lnTo>
                  <a:pt x="2078485" y="129340"/>
                </a:lnTo>
                <a:lnTo>
                  <a:pt x="2080657" y="77892"/>
                </a:lnTo>
                <a:lnTo>
                  <a:pt x="2093447" y="118"/>
                </a:lnTo>
                <a:lnTo>
                  <a:pt x="2113849" y="0"/>
                </a:lnTo>
                <a:lnTo>
                  <a:pt x="2117954" y="8890"/>
                </a:lnTo>
                <a:lnTo>
                  <a:pt x="2131728" y="15945"/>
                </a:lnTo>
                <a:lnTo>
                  <a:pt x="2140790" y="8714"/>
                </a:lnTo>
                <a:lnTo>
                  <a:pt x="2165774" y="18198"/>
                </a:lnTo>
                <a:lnTo>
                  <a:pt x="2293895" y="24748"/>
                </a:lnTo>
                <a:lnTo>
                  <a:pt x="2305921" y="29161"/>
                </a:lnTo>
                <a:lnTo>
                  <a:pt x="2290781" y="92016"/>
                </a:lnTo>
                <a:lnTo>
                  <a:pt x="2247232" y="189222"/>
                </a:lnTo>
                <a:lnTo>
                  <a:pt x="2224543" y="270227"/>
                </a:lnTo>
                <a:lnTo>
                  <a:pt x="2210304" y="348836"/>
                </a:lnTo>
                <a:lnTo>
                  <a:pt x="2176654" y="409994"/>
                </a:lnTo>
                <a:lnTo>
                  <a:pt x="2172316" y="434627"/>
                </a:lnTo>
                <a:lnTo>
                  <a:pt x="2159886" y="431554"/>
                </a:lnTo>
                <a:lnTo>
                  <a:pt x="2145776" y="456942"/>
                </a:lnTo>
                <a:lnTo>
                  <a:pt x="2063334" y="528481"/>
                </a:lnTo>
                <a:lnTo>
                  <a:pt x="2004825" y="549010"/>
                </a:lnTo>
                <a:lnTo>
                  <a:pt x="1905389" y="649299"/>
                </a:lnTo>
                <a:lnTo>
                  <a:pt x="1837638" y="745275"/>
                </a:lnTo>
                <a:lnTo>
                  <a:pt x="1831652" y="761240"/>
                </a:lnTo>
                <a:lnTo>
                  <a:pt x="1836129" y="773018"/>
                </a:lnTo>
                <a:lnTo>
                  <a:pt x="1794933" y="816798"/>
                </a:lnTo>
                <a:lnTo>
                  <a:pt x="1712927" y="958657"/>
                </a:lnTo>
                <a:lnTo>
                  <a:pt x="1636852" y="1066058"/>
                </a:lnTo>
                <a:lnTo>
                  <a:pt x="1629531" y="1069830"/>
                </a:lnTo>
                <a:lnTo>
                  <a:pt x="1625757" y="1065613"/>
                </a:lnTo>
                <a:lnTo>
                  <a:pt x="1626648" y="1076042"/>
                </a:lnTo>
                <a:lnTo>
                  <a:pt x="1600396" y="110978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Working geographic region: Inland"/>
          <p:cNvSpPr/>
          <p:nvPr/>
        </p:nvSpPr>
        <p:spPr>
          <a:xfrm>
            <a:off x="3157044" y="2320210"/>
            <a:ext cx="2187474" cy="2171604"/>
          </a:xfrm>
          <a:custGeom>
            <a:avLst/>
            <a:gdLst/>
            <a:ahLst/>
            <a:cxnLst/>
            <a:rect l="l" t="t" r="r" b="b"/>
            <a:pathLst>
              <a:path w="2187474" h="2171604">
                <a:moveTo>
                  <a:pt x="1077672" y="2088451"/>
                </a:moveTo>
                <a:lnTo>
                  <a:pt x="1080171" y="2097435"/>
                </a:lnTo>
                <a:lnTo>
                  <a:pt x="1074182" y="2101525"/>
                </a:lnTo>
                <a:lnTo>
                  <a:pt x="1065816" y="2098657"/>
                </a:lnTo>
                <a:lnTo>
                  <a:pt x="1062433" y="2104954"/>
                </a:lnTo>
                <a:lnTo>
                  <a:pt x="1072222" y="2108693"/>
                </a:lnTo>
                <a:lnTo>
                  <a:pt x="1057088" y="2110094"/>
                </a:lnTo>
                <a:lnTo>
                  <a:pt x="1063037" y="2120387"/>
                </a:lnTo>
                <a:lnTo>
                  <a:pt x="1056274" y="2127454"/>
                </a:lnTo>
                <a:lnTo>
                  <a:pt x="1043357" y="2119285"/>
                </a:lnTo>
                <a:lnTo>
                  <a:pt x="1041051" y="2126648"/>
                </a:lnTo>
                <a:lnTo>
                  <a:pt x="1037416" y="2120805"/>
                </a:lnTo>
                <a:lnTo>
                  <a:pt x="1031386" y="2130320"/>
                </a:lnTo>
                <a:lnTo>
                  <a:pt x="1019074" y="2126388"/>
                </a:lnTo>
                <a:lnTo>
                  <a:pt x="1020642" y="2132064"/>
                </a:lnTo>
                <a:lnTo>
                  <a:pt x="1013441" y="2138611"/>
                </a:lnTo>
                <a:lnTo>
                  <a:pt x="1008978" y="2130787"/>
                </a:lnTo>
                <a:lnTo>
                  <a:pt x="991317" y="2132840"/>
                </a:lnTo>
                <a:lnTo>
                  <a:pt x="997227" y="2149160"/>
                </a:lnTo>
                <a:lnTo>
                  <a:pt x="978220" y="2150621"/>
                </a:lnTo>
                <a:lnTo>
                  <a:pt x="974038" y="2154865"/>
                </a:lnTo>
                <a:lnTo>
                  <a:pt x="978198" y="2163661"/>
                </a:lnTo>
                <a:lnTo>
                  <a:pt x="962699" y="2163664"/>
                </a:lnTo>
                <a:lnTo>
                  <a:pt x="959240" y="2169882"/>
                </a:lnTo>
                <a:lnTo>
                  <a:pt x="946535" y="2158232"/>
                </a:lnTo>
                <a:lnTo>
                  <a:pt x="923753" y="2170050"/>
                </a:lnTo>
                <a:lnTo>
                  <a:pt x="917686" y="2165005"/>
                </a:lnTo>
                <a:lnTo>
                  <a:pt x="907447" y="2171604"/>
                </a:lnTo>
                <a:lnTo>
                  <a:pt x="907467" y="2163382"/>
                </a:lnTo>
                <a:lnTo>
                  <a:pt x="891730" y="2163765"/>
                </a:lnTo>
                <a:lnTo>
                  <a:pt x="875365" y="2154744"/>
                </a:lnTo>
                <a:lnTo>
                  <a:pt x="876827" y="2145602"/>
                </a:lnTo>
                <a:lnTo>
                  <a:pt x="867987" y="2139224"/>
                </a:lnTo>
                <a:lnTo>
                  <a:pt x="847301" y="2145536"/>
                </a:lnTo>
                <a:lnTo>
                  <a:pt x="830530" y="2143984"/>
                </a:lnTo>
                <a:lnTo>
                  <a:pt x="826878" y="2132021"/>
                </a:lnTo>
                <a:lnTo>
                  <a:pt x="812354" y="2128937"/>
                </a:lnTo>
                <a:lnTo>
                  <a:pt x="804778" y="2116562"/>
                </a:lnTo>
                <a:lnTo>
                  <a:pt x="797542" y="2120735"/>
                </a:lnTo>
                <a:lnTo>
                  <a:pt x="800097" y="2131028"/>
                </a:lnTo>
                <a:lnTo>
                  <a:pt x="790260" y="2124859"/>
                </a:lnTo>
                <a:lnTo>
                  <a:pt x="763548" y="2130171"/>
                </a:lnTo>
                <a:lnTo>
                  <a:pt x="753255" y="2142079"/>
                </a:lnTo>
                <a:lnTo>
                  <a:pt x="743297" y="2131458"/>
                </a:lnTo>
                <a:lnTo>
                  <a:pt x="744353" y="2148461"/>
                </a:lnTo>
                <a:lnTo>
                  <a:pt x="722633" y="2155170"/>
                </a:lnTo>
                <a:lnTo>
                  <a:pt x="716165" y="2168278"/>
                </a:lnTo>
                <a:lnTo>
                  <a:pt x="700492" y="2165008"/>
                </a:lnTo>
                <a:lnTo>
                  <a:pt x="696620" y="2155775"/>
                </a:lnTo>
                <a:lnTo>
                  <a:pt x="682937" y="2159769"/>
                </a:lnTo>
                <a:lnTo>
                  <a:pt x="685433" y="2151671"/>
                </a:lnTo>
                <a:lnTo>
                  <a:pt x="679259" y="2142960"/>
                </a:lnTo>
                <a:lnTo>
                  <a:pt x="652193" y="2154263"/>
                </a:lnTo>
                <a:lnTo>
                  <a:pt x="639725" y="2139546"/>
                </a:lnTo>
                <a:lnTo>
                  <a:pt x="621064" y="2134366"/>
                </a:lnTo>
                <a:lnTo>
                  <a:pt x="614798" y="2139178"/>
                </a:lnTo>
                <a:lnTo>
                  <a:pt x="599319" y="2119544"/>
                </a:lnTo>
                <a:lnTo>
                  <a:pt x="589193" y="2119137"/>
                </a:lnTo>
                <a:lnTo>
                  <a:pt x="568512" y="2087076"/>
                </a:lnTo>
                <a:lnTo>
                  <a:pt x="555683" y="2084283"/>
                </a:lnTo>
                <a:lnTo>
                  <a:pt x="554832" y="2064815"/>
                </a:lnTo>
                <a:lnTo>
                  <a:pt x="544154" y="2065789"/>
                </a:lnTo>
                <a:lnTo>
                  <a:pt x="535313" y="2056031"/>
                </a:lnTo>
                <a:lnTo>
                  <a:pt x="537016" y="2049446"/>
                </a:lnTo>
                <a:lnTo>
                  <a:pt x="530550" y="2042956"/>
                </a:lnTo>
                <a:lnTo>
                  <a:pt x="524969" y="2044500"/>
                </a:lnTo>
                <a:lnTo>
                  <a:pt x="518538" y="2026041"/>
                </a:lnTo>
                <a:lnTo>
                  <a:pt x="502198" y="2004850"/>
                </a:lnTo>
                <a:lnTo>
                  <a:pt x="501317" y="1991401"/>
                </a:lnTo>
                <a:lnTo>
                  <a:pt x="474689" y="1985473"/>
                </a:lnTo>
                <a:lnTo>
                  <a:pt x="472541" y="1966649"/>
                </a:lnTo>
                <a:lnTo>
                  <a:pt x="459819" y="1969069"/>
                </a:lnTo>
                <a:lnTo>
                  <a:pt x="435150" y="1944810"/>
                </a:lnTo>
                <a:lnTo>
                  <a:pt x="422028" y="1944540"/>
                </a:lnTo>
                <a:lnTo>
                  <a:pt x="403072" y="1918644"/>
                </a:lnTo>
                <a:lnTo>
                  <a:pt x="401221" y="1904022"/>
                </a:lnTo>
                <a:lnTo>
                  <a:pt x="525046" y="1645853"/>
                </a:lnTo>
                <a:lnTo>
                  <a:pt x="508320" y="1640484"/>
                </a:lnTo>
                <a:lnTo>
                  <a:pt x="517335" y="1612367"/>
                </a:lnTo>
                <a:lnTo>
                  <a:pt x="512603" y="1608974"/>
                </a:lnTo>
                <a:lnTo>
                  <a:pt x="521605" y="1599045"/>
                </a:lnTo>
                <a:lnTo>
                  <a:pt x="533075" y="1563219"/>
                </a:lnTo>
                <a:lnTo>
                  <a:pt x="522371" y="1559470"/>
                </a:lnTo>
                <a:lnTo>
                  <a:pt x="517870" y="1549284"/>
                </a:lnTo>
                <a:lnTo>
                  <a:pt x="539168" y="1544247"/>
                </a:lnTo>
                <a:lnTo>
                  <a:pt x="553560" y="1498919"/>
                </a:lnTo>
                <a:lnTo>
                  <a:pt x="563947" y="1496988"/>
                </a:lnTo>
                <a:lnTo>
                  <a:pt x="541155" y="1500849"/>
                </a:lnTo>
                <a:lnTo>
                  <a:pt x="535991" y="1509080"/>
                </a:lnTo>
                <a:lnTo>
                  <a:pt x="508545" y="1462587"/>
                </a:lnTo>
                <a:lnTo>
                  <a:pt x="514811" y="1461055"/>
                </a:lnTo>
                <a:lnTo>
                  <a:pt x="512417" y="1457442"/>
                </a:lnTo>
                <a:lnTo>
                  <a:pt x="558095" y="1403355"/>
                </a:lnTo>
                <a:lnTo>
                  <a:pt x="547127" y="1398518"/>
                </a:lnTo>
                <a:lnTo>
                  <a:pt x="501937" y="1403912"/>
                </a:lnTo>
                <a:lnTo>
                  <a:pt x="498061" y="1379081"/>
                </a:lnTo>
                <a:lnTo>
                  <a:pt x="491787" y="1380359"/>
                </a:lnTo>
                <a:lnTo>
                  <a:pt x="493002" y="1386403"/>
                </a:lnTo>
                <a:lnTo>
                  <a:pt x="477122" y="1389503"/>
                </a:lnTo>
                <a:lnTo>
                  <a:pt x="473922" y="1395059"/>
                </a:lnTo>
                <a:lnTo>
                  <a:pt x="477506" y="1412624"/>
                </a:lnTo>
                <a:lnTo>
                  <a:pt x="469569" y="1426782"/>
                </a:lnTo>
                <a:lnTo>
                  <a:pt x="478278" y="1441239"/>
                </a:lnTo>
                <a:lnTo>
                  <a:pt x="469531" y="1442567"/>
                </a:lnTo>
                <a:lnTo>
                  <a:pt x="463149" y="1455437"/>
                </a:lnTo>
                <a:lnTo>
                  <a:pt x="457932" y="1454303"/>
                </a:lnTo>
                <a:lnTo>
                  <a:pt x="462832" y="1480139"/>
                </a:lnTo>
                <a:lnTo>
                  <a:pt x="458454" y="1487244"/>
                </a:lnTo>
                <a:lnTo>
                  <a:pt x="447237" y="1490232"/>
                </a:lnTo>
                <a:lnTo>
                  <a:pt x="448223" y="1498219"/>
                </a:lnTo>
                <a:lnTo>
                  <a:pt x="441654" y="1503887"/>
                </a:lnTo>
                <a:lnTo>
                  <a:pt x="421158" y="1488581"/>
                </a:lnTo>
                <a:lnTo>
                  <a:pt x="426260" y="1475429"/>
                </a:lnTo>
                <a:lnTo>
                  <a:pt x="413172" y="1460846"/>
                </a:lnTo>
                <a:lnTo>
                  <a:pt x="409250" y="1465533"/>
                </a:lnTo>
                <a:lnTo>
                  <a:pt x="401914" y="1457674"/>
                </a:lnTo>
                <a:lnTo>
                  <a:pt x="422688" y="1424808"/>
                </a:lnTo>
                <a:lnTo>
                  <a:pt x="412718" y="1419373"/>
                </a:lnTo>
                <a:lnTo>
                  <a:pt x="421276" y="1404438"/>
                </a:lnTo>
                <a:lnTo>
                  <a:pt x="411809" y="1398943"/>
                </a:lnTo>
                <a:lnTo>
                  <a:pt x="344929" y="1414135"/>
                </a:lnTo>
                <a:lnTo>
                  <a:pt x="340846" y="1405454"/>
                </a:lnTo>
                <a:lnTo>
                  <a:pt x="346446" y="1384146"/>
                </a:lnTo>
                <a:lnTo>
                  <a:pt x="330919" y="1379403"/>
                </a:lnTo>
                <a:lnTo>
                  <a:pt x="330515" y="1368118"/>
                </a:lnTo>
                <a:lnTo>
                  <a:pt x="338568" y="1315616"/>
                </a:lnTo>
                <a:lnTo>
                  <a:pt x="295004" y="1290200"/>
                </a:lnTo>
                <a:lnTo>
                  <a:pt x="312823" y="1245732"/>
                </a:lnTo>
                <a:lnTo>
                  <a:pt x="326825" y="1239059"/>
                </a:lnTo>
                <a:lnTo>
                  <a:pt x="311131" y="1198411"/>
                </a:lnTo>
                <a:lnTo>
                  <a:pt x="298790" y="1189231"/>
                </a:lnTo>
                <a:lnTo>
                  <a:pt x="287919" y="1189044"/>
                </a:lnTo>
                <a:lnTo>
                  <a:pt x="284266" y="1197615"/>
                </a:lnTo>
                <a:lnTo>
                  <a:pt x="199870" y="1160085"/>
                </a:lnTo>
                <a:lnTo>
                  <a:pt x="221696" y="1128488"/>
                </a:lnTo>
                <a:lnTo>
                  <a:pt x="193669" y="1106828"/>
                </a:lnTo>
                <a:lnTo>
                  <a:pt x="148306" y="1095760"/>
                </a:lnTo>
                <a:lnTo>
                  <a:pt x="151396" y="1058409"/>
                </a:lnTo>
                <a:lnTo>
                  <a:pt x="137258" y="1041179"/>
                </a:lnTo>
                <a:lnTo>
                  <a:pt x="157387" y="1007807"/>
                </a:lnTo>
                <a:lnTo>
                  <a:pt x="135334" y="1001446"/>
                </a:lnTo>
                <a:lnTo>
                  <a:pt x="138879" y="985280"/>
                </a:lnTo>
                <a:lnTo>
                  <a:pt x="167114" y="994287"/>
                </a:lnTo>
                <a:lnTo>
                  <a:pt x="174573" y="972890"/>
                </a:lnTo>
                <a:lnTo>
                  <a:pt x="105070" y="967865"/>
                </a:lnTo>
                <a:lnTo>
                  <a:pt x="100413" y="997719"/>
                </a:lnTo>
                <a:lnTo>
                  <a:pt x="82427" y="995690"/>
                </a:lnTo>
                <a:lnTo>
                  <a:pt x="81322" y="1011706"/>
                </a:lnTo>
                <a:lnTo>
                  <a:pt x="64200" y="1010298"/>
                </a:lnTo>
                <a:lnTo>
                  <a:pt x="51671" y="1069309"/>
                </a:lnTo>
                <a:lnTo>
                  <a:pt x="41594" y="1089381"/>
                </a:lnTo>
                <a:lnTo>
                  <a:pt x="19681" y="1078851"/>
                </a:lnTo>
                <a:lnTo>
                  <a:pt x="16984" y="1004486"/>
                </a:lnTo>
                <a:lnTo>
                  <a:pt x="327" y="1005504"/>
                </a:lnTo>
                <a:lnTo>
                  <a:pt x="0" y="998889"/>
                </a:lnTo>
                <a:lnTo>
                  <a:pt x="9877" y="992815"/>
                </a:lnTo>
                <a:lnTo>
                  <a:pt x="8532" y="977737"/>
                </a:lnTo>
                <a:lnTo>
                  <a:pt x="21732" y="977211"/>
                </a:lnTo>
                <a:lnTo>
                  <a:pt x="21045" y="961011"/>
                </a:lnTo>
                <a:lnTo>
                  <a:pt x="26757" y="952701"/>
                </a:lnTo>
                <a:lnTo>
                  <a:pt x="18041" y="946462"/>
                </a:lnTo>
                <a:lnTo>
                  <a:pt x="33853" y="928646"/>
                </a:lnTo>
                <a:lnTo>
                  <a:pt x="22805" y="920989"/>
                </a:lnTo>
                <a:lnTo>
                  <a:pt x="28511" y="919605"/>
                </a:lnTo>
                <a:lnTo>
                  <a:pt x="30575" y="905299"/>
                </a:lnTo>
                <a:lnTo>
                  <a:pt x="42469" y="894253"/>
                </a:lnTo>
                <a:lnTo>
                  <a:pt x="44350" y="885861"/>
                </a:lnTo>
                <a:lnTo>
                  <a:pt x="37338" y="879597"/>
                </a:lnTo>
                <a:lnTo>
                  <a:pt x="49534" y="874881"/>
                </a:lnTo>
                <a:lnTo>
                  <a:pt x="40283" y="866674"/>
                </a:lnTo>
                <a:lnTo>
                  <a:pt x="49214" y="854014"/>
                </a:lnTo>
                <a:lnTo>
                  <a:pt x="47378" y="842969"/>
                </a:lnTo>
                <a:lnTo>
                  <a:pt x="59910" y="841903"/>
                </a:lnTo>
                <a:lnTo>
                  <a:pt x="56422" y="837245"/>
                </a:lnTo>
                <a:lnTo>
                  <a:pt x="62376" y="824563"/>
                </a:lnTo>
                <a:lnTo>
                  <a:pt x="75628" y="814620"/>
                </a:lnTo>
                <a:lnTo>
                  <a:pt x="77307" y="804042"/>
                </a:lnTo>
                <a:lnTo>
                  <a:pt x="85047" y="802893"/>
                </a:lnTo>
                <a:lnTo>
                  <a:pt x="84088" y="793287"/>
                </a:lnTo>
                <a:lnTo>
                  <a:pt x="89630" y="796933"/>
                </a:lnTo>
                <a:lnTo>
                  <a:pt x="94874" y="790885"/>
                </a:lnTo>
                <a:lnTo>
                  <a:pt x="100282" y="801673"/>
                </a:lnTo>
                <a:lnTo>
                  <a:pt x="131461" y="786220"/>
                </a:lnTo>
                <a:lnTo>
                  <a:pt x="146814" y="786173"/>
                </a:lnTo>
                <a:lnTo>
                  <a:pt x="150824" y="791225"/>
                </a:lnTo>
                <a:lnTo>
                  <a:pt x="164867" y="788746"/>
                </a:lnTo>
                <a:lnTo>
                  <a:pt x="178621" y="796399"/>
                </a:lnTo>
                <a:lnTo>
                  <a:pt x="184993" y="786395"/>
                </a:lnTo>
                <a:lnTo>
                  <a:pt x="190736" y="786361"/>
                </a:lnTo>
                <a:lnTo>
                  <a:pt x="188755" y="791655"/>
                </a:lnTo>
                <a:lnTo>
                  <a:pt x="197225" y="796714"/>
                </a:lnTo>
                <a:lnTo>
                  <a:pt x="197757" y="805298"/>
                </a:lnTo>
                <a:lnTo>
                  <a:pt x="212498" y="805910"/>
                </a:lnTo>
                <a:lnTo>
                  <a:pt x="219520" y="816510"/>
                </a:lnTo>
                <a:lnTo>
                  <a:pt x="225684" y="813235"/>
                </a:lnTo>
                <a:lnTo>
                  <a:pt x="230798" y="825357"/>
                </a:lnTo>
                <a:lnTo>
                  <a:pt x="237934" y="821320"/>
                </a:lnTo>
                <a:lnTo>
                  <a:pt x="237614" y="827944"/>
                </a:lnTo>
                <a:lnTo>
                  <a:pt x="245978" y="833059"/>
                </a:lnTo>
                <a:lnTo>
                  <a:pt x="252083" y="828904"/>
                </a:lnTo>
                <a:lnTo>
                  <a:pt x="260106" y="843349"/>
                </a:lnTo>
                <a:lnTo>
                  <a:pt x="273595" y="845692"/>
                </a:lnTo>
                <a:lnTo>
                  <a:pt x="270784" y="853963"/>
                </a:lnTo>
                <a:lnTo>
                  <a:pt x="276955" y="852861"/>
                </a:lnTo>
                <a:lnTo>
                  <a:pt x="278067" y="859701"/>
                </a:lnTo>
                <a:lnTo>
                  <a:pt x="287493" y="862056"/>
                </a:lnTo>
                <a:lnTo>
                  <a:pt x="293231" y="874800"/>
                </a:lnTo>
                <a:lnTo>
                  <a:pt x="302915" y="877497"/>
                </a:lnTo>
                <a:lnTo>
                  <a:pt x="308986" y="871425"/>
                </a:lnTo>
                <a:lnTo>
                  <a:pt x="318145" y="873813"/>
                </a:lnTo>
                <a:lnTo>
                  <a:pt x="316628" y="880684"/>
                </a:lnTo>
                <a:lnTo>
                  <a:pt x="322320" y="876278"/>
                </a:lnTo>
                <a:lnTo>
                  <a:pt x="328994" y="880724"/>
                </a:lnTo>
                <a:lnTo>
                  <a:pt x="331076" y="875364"/>
                </a:lnTo>
                <a:lnTo>
                  <a:pt x="335292" y="878504"/>
                </a:lnTo>
                <a:lnTo>
                  <a:pt x="351755" y="869388"/>
                </a:lnTo>
                <a:lnTo>
                  <a:pt x="352334" y="874995"/>
                </a:lnTo>
                <a:lnTo>
                  <a:pt x="359810" y="872451"/>
                </a:lnTo>
                <a:lnTo>
                  <a:pt x="367975" y="878434"/>
                </a:lnTo>
                <a:lnTo>
                  <a:pt x="375963" y="894557"/>
                </a:lnTo>
                <a:lnTo>
                  <a:pt x="382320" y="891195"/>
                </a:lnTo>
                <a:lnTo>
                  <a:pt x="381654" y="899417"/>
                </a:lnTo>
                <a:lnTo>
                  <a:pt x="390798" y="895202"/>
                </a:lnTo>
                <a:lnTo>
                  <a:pt x="390821" y="900916"/>
                </a:lnTo>
                <a:lnTo>
                  <a:pt x="402457" y="908919"/>
                </a:lnTo>
                <a:lnTo>
                  <a:pt x="419032" y="901050"/>
                </a:lnTo>
                <a:lnTo>
                  <a:pt x="473559" y="923877"/>
                </a:lnTo>
                <a:lnTo>
                  <a:pt x="484465" y="918827"/>
                </a:lnTo>
                <a:lnTo>
                  <a:pt x="499684" y="924227"/>
                </a:lnTo>
                <a:lnTo>
                  <a:pt x="523334" y="920497"/>
                </a:lnTo>
                <a:lnTo>
                  <a:pt x="555868" y="897858"/>
                </a:lnTo>
                <a:lnTo>
                  <a:pt x="575299" y="908485"/>
                </a:lnTo>
                <a:lnTo>
                  <a:pt x="626401" y="909909"/>
                </a:lnTo>
                <a:lnTo>
                  <a:pt x="681846" y="876855"/>
                </a:lnTo>
                <a:lnTo>
                  <a:pt x="700341" y="834945"/>
                </a:lnTo>
                <a:lnTo>
                  <a:pt x="709893" y="788140"/>
                </a:lnTo>
                <a:lnTo>
                  <a:pt x="747928" y="694685"/>
                </a:lnTo>
                <a:lnTo>
                  <a:pt x="752856" y="692160"/>
                </a:lnTo>
                <a:lnTo>
                  <a:pt x="745297" y="651433"/>
                </a:lnTo>
                <a:lnTo>
                  <a:pt x="772427" y="650207"/>
                </a:lnTo>
                <a:lnTo>
                  <a:pt x="872887" y="622353"/>
                </a:lnTo>
                <a:lnTo>
                  <a:pt x="880840" y="627949"/>
                </a:lnTo>
                <a:lnTo>
                  <a:pt x="876484" y="624820"/>
                </a:lnTo>
                <a:lnTo>
                  <a:pt x="891203" y="610391"/>
                </a:lnTo>
                <a:lnTo>
                  <a:pt x="900673" y="584723"/>
                </a:lnTo>
                <a:lnTo>
                  <a:pt x="918966" y="565205"/>
                </a:lnTo>
                <a:lnTo>
                  <a:pt x="936921" y="557891"/>
                </a:lnTo>
                <a:lnTo>
                  <a:pt x="946545" y="542862"/>
                </a:lnTo>
                <a:lnTo>
                  <a:pt x="965775" y="539239"/>
                </a:lnTo>
                <a:lnTo>
                  <a:pt x="984736" y="525335"/>
                </a:lnTo>
                <a:lnTo>
                  <a:pt x="989033" y="509720"/>
                </a:lnTo>
                <a:lnTo>
                  <a:pt x="984662" y="506966"/>
                </a:lnTo>
                <a:lnTo>
                  <a:pt x="988167" y="502161"/>
                </a:lnTo>
                <a:lnTo>
                  <a:pt x="983916" y="488419"/>
                </a:lnTo>
                <a:lnTo>
                  <a:pt x="989757" y="484143"/>
                </a:lnTo>
                <a:lnTo>
                  <a:pt x="1001371" y="450072"/>
                </a:lnTo>
                <a:lnTo>
                  <a:pt x="1007085" y="429378"/>
                </a:lnTo>
                <a:lnTo>
                  <a:pt x="1001779" y="423454"/>
                </a:lnTo>
                <a:lnTo>
                  <a:pt x="1008089" y="418256"/>
                </a:lnTo>
                <a:lnTo>
                  <a:pt x="1011451" y="385718"/>
                </a:lnTo>
                <a:lnTo>
                  <a:pt x="1018824" y="382200"/>
                </a:lnTo>
                <a:lnTo>
                  <a:pt x="1019156" y="370903"/>
                </a:lnTo>
                <a:lnTo>
                  <a:pt x="1024543" y="371044"/>
                </a:lnTo>
                <a:lnTo>
                  <a:pt x="1027280" y="380841"/>
                </a:lnTo>
                <a:lnTo>
                  <a:pt x="1035032" y="377897"/>
                </a:lnTo>
                <a:lnTo>
                  <a:pt x="1037607" y="370964"/>
                </a:lnTo>
                <a:lnTo>
                  <a:pt x="1032600" y="363033"/>
                </a:lnTo>
                <a:lnTo>
                  <a:pt x="1042142" y="360731"/>
                </a:lnTo>
                <a:lnTo>
                  <a:pt x="1046431" y="350403"/>
                </a:lnTo>
                <a:lnTo>
                  <a:pt x="1055255" y="352332"/>
                </a:lnTo>
                <a:lnTo>
                  <a:pt x="1050818" y="340624"/>
                </a:lnTo>
                <a:lnTo>
                  <a:pt x="1066295" y="343632"/>
                </a:lnTo>
                <a:lnTo>
                  <a:pt x="1064419" y="334339"/>
                </a:lnTo>
                <a:lnTo>
                  <a:pt x="1090542" y="325844"/>
                </a:lnTo>
                <a:lnTo>
                  <a:pt x="1097242" y="310678"/>
                </a:lnTo>
                <a:lnTo>
                  <a:pt x="1102731" y="309449"/>
                </a:lnTo>
                <a:lnTo>
                  <a:pt x="1101798" y="316614"/>
                </a:lnTo>
                <a:lnTo>
                  <a:pt x="1107627" y="317006"/>
                </a:lnTo>
                <a:lnTo>
                  <a:pt x="1108455" y="309849"/>
                </a:lnTo>
                <a:lnTo>
                  <a:pt x="1115850" y="307461"/>
                </a:lnTo>
                <a:lnTo>
                  <a:pt x="1114053" y="313539"/>
                </a:lnTo>
                <a:lnTo>
                  <a:pt x="1118858" y="317080"/>
                </a:lnTo>
                <a:lnTo>
                  <a:pt x="1123802" y="306487"/>
                </a:lnTo>
                <a:lnTo>
                  <a:pt x="1144259" y="307049"/>
                </a:lnTo>
                <a:lnTo>
                  <a:pt x="1153538" y="295965"/>
                </a:lnTo>
                <a:lnTo>
                  <a:pt x="1155290" y="276643"/>
                </a:lnTo>
                <a:lnTo>
                  <a:pt x="1162058" y="272152"/>
                </a:lnTo>
                <a:lnTo>
                  <a:pt x="1162508" y="264255"/>
                </a:lnTo>
                <a:lnTo>
                  <a:pt x="1173575" y="266912"/>
                </a:lnTo>
                <a:lnTo>
                  <a:pt x="1183129" y="259592"/>
                </a:lnTo>
                <a:lnTo>
                  <a:pt x="1195323" y="268586"/>
                </a:lnTo>
                <a:lnTo>
                  <a:pt x="1205917" y="253595"/>
                </a:lnTo>
                <a:lnTo>
                  <a:pt x="1201684" y="244152"/>
                </a:lnTo>
                <a:lnTo>
                  <a:pt x="1211934" y="244407"/>
                </a:lnTo>
                <a:lnTo>
                  <a:pt x="1213091" y="237334"/>
                </a:lnTo>
                <a:lnTo>
                  <a:pt x="1242230" y="224016"/>
                </a:lnTo>
                <a:lnTo>
                  <a:pt x="1242583" y="201276"/>
                </a:lnTo>
                <a:lnTo>
                  <a:pt x="1266942" y="189143"/>
                </a:lnTo>
                <a:lnTo>
                  <a:pt x="1268409" y="168826"/>
                </a:lnTo>
                <a:lnTo>
                  <a:pt x="1294742" y="153279"/>
                </a:lnTo>
                <a:lnTo>
                  <a:pt x="1302722" y="132784"/>
                </a:lnTo>
                <a:lnTo>
                  <a:pt x="1341099" y="104751"/>
                </a:lnTo>
                <a:lnTo>
                  <a:pt x="1384259" y="109132"/>
                </a:lnTo>
                <a:lnTo>
                  <a:pt x="1457978" y="85990"/>
                </a:lnTo>
                <a:lnTo>
                  <a:pt x="1457829" y="79951"/>
                </a:lnTo>
                <a:lnTo>
                  <a:pt x="1464185" y="76717"/>
                </a:lnTo>
                <a:lnTo>
                  <a:pt x="1480114" y="78705"/>
                </a:lnTo>
                <a:lnTo>
                  <a:pt x="1492140" y="58641"/>
                </a:lnTo>
                <a:lnTo>
                  <a:pt x="1491425" y="41045"/>
                </a:lnTo>
                <a:lnTo>
                  <a:pt x="1508888" y="18149"/>
                </a:lnTo>
                <a:lnTo>
                  <a:pt x="1536066" y="18871"/>
                </a:lnTo>
                <a:lnTo>
                  <a:pt x="1552339" y="9840"/>
                </a:lnTo>
                <a:lnTo>
                  <a:pt x="1576648" y="12923"/>
                </a:lnTo>
                <a:lnTo>
                  <a:pt x="1579974" y="17566"/>
                </a:lnTo>
                <a:lnTo>
                  <a:pt x="1610981" y="8793"/>
                </a:lnTo>
                <a:lnTo>
                  <a:pt x="1626085" y="12369"/>
                </a:lnTo>
                <a:lnTo>
                  <a:pt x="1628981" y="6002"/>
                </a:lnTo>
                <a:lnTo>
                  <a:pt x="1645859" y="7392"/>
                </a:lnTo>
                <a:lnTo>
                  <a:pt x="1657181" y="0"/>
                </a:lnTo>
                <a:lnTo>
                  <a:pt x="1684876" y="5207"/>
                </a:lnTo>
                <a:lnTo>
                  <a:pt x="1710823" y="19780"/>
                </a:lnTo>
                <a:lnTo>
                  <a:pt x="1720667" y="18983"/>
                </a:lnTo>
                <a:lnTo>
                  <a:pt x="1730872" y="28133"/>
                </a:lnTo>
                <a:lnTo>
                  <a:pt x="1742181" y="29802"/>
                </a:lnTo>
                <a:lnTo>
                  <a:pt x="1743866" y="36178"/>
                </a:lnTo>
                <a:lnTo>
                  <a:pt x="1767248" y="51796"/>
                </a:lnTo>
                <a:lnTo>
                  <a:pt x="1792349" y="48953"/>
                </a:lnTo>
                <a:lnTo>
                  <a:pt x="1805821" y="64951"/>
                </a:lnTo>
                <a:lnTo>
                  <a:pt x="1853544" y="56810"/>
                </a:lnTo>
                <a:lnTo>
                  <a:pt x="1887160" y="63400"/>
                </a:lnTo>
                <a:lnTo>
                  <a:pt x="1894925" y="57276"/>
                </a:lnTo>
                <a:lnTo>
                  <a:pt x="1936028" y="54308"/>
                </a:lnTo>
                <a:lnTo>
                  <a:pt x="1995544" y="71737"/>
                </a:lnTo>
                <a:lnTo>
                  <a:pt x="2013477" y="67374"/>
                </a:lnTo>
                <a:lnTo>
                  <a:pt x="2024932" y="78207"/>
                </a:lnTo>
                <a:lnTo>
                  <a:pt x="2038102" y="78573"/>
                </a:lnTo>
                <a:lnTo>
                  <a:pt x="2047182" y="92956"/>
                </a:lnTo>
                <a:lnTo>
                  <a:pt x="2098145" y="294162"/>
                </a:lnTo>
                <a:lnTo>
                  <a:pt x="2094059" y="366559"/>
                </a:lnTo>
                <a:lnTo>
                  <a:pt x="2122689" y="405842"/>
                </a:lnTo>
                <a:lnTo>
                  <a:pt x="2123129" y="429533"/>
                </a:lnTo>
                <a:lnTo>
                  <a:pt x="2137866" y="472814"/>
                </a:lnTo>
                <a:lnTo>
                  <a:pt x="2163148" y="491433"/>
                </a:lnTo>
                <a:lnTo>
                  <a:pt x="2163491" y="499018"/>
                </a:lnTo>
                <a:lnTo>
                  <a:pt x="2166551" y="549855"/>
                </a:lnTo>
                <a:lnTo>
                  <a:pt x="2183459" y="581487"/>
                </a:lnTo>
                <a:lnTo>
                  <a:pt x="2187474" y="620752"/>
                </a:lnTo>
                <a:lnTo>
                  <a:pt x="2180832" y="680615"/>
                </a:lnTo>
                <a:lnTo>
                  <a:pt x="2181916" y="807091"/>
                </a:lnTo>
                <a:lnTo>
                  <a:pt x="2175287" y="857812"/>
                </a:lnTo>
                <a:lnTo>
                  <a:pt x="2165242" y="880862"/>
                </a:lnTo>
                <a:lnTo>
                  <a:pt x="2169514" y="924808"/>
                </a:lnTo>
                <a:lnTo>
                  <a:pt x="2149353" y="973780"/>
                </a:lnTo>
                <a:lnTo>
                  <a:pt x="2157737" y="1003079"/>
                </a:lnTo>
                <a:lnTo>
                  <a:pt x="2132705" y="1013545"/>
                </a:lnTo>
                <a:lnTo>
                  <a:pt x="2032245" y="936083"/>
                </a:lnTo>
                <a:lnTo>
                  <a:pt x="2008750" y="941073"/>
                </a:lnTo>
                <a:lnTo>
                  <a:pt x="1962818" y="984347"/>
                </a:lnTo>
                <a:lnTo>
                  <a:pt x="1920636" y="1069486"/>
                </a:lnTo>
                <a:lnTo>
                  <a:pt x="1903926" y="1083804"/>
                </a:lnTo>
                <a:lnTo>
                  <a:pt x="1882250" y="1120116"/>
                </a:lnTo>
                <a:lnTo>
                  <a:pt x="1876079" y="1182736"/>
                </a:lnTo>
                <a:lnTo>
                  <a:pt x="1879502" y="1216513"/>
                </a:lnTo>
                <a:lnTo>
                  <a:pt x="1898371" y="1202457"/>
                </a:lnTo>
                <a:lnTo>
                  <a:pt x="1901017" y="1221768"/>
                </a:lnTo>
                <a:lnTo>
                  <a:pt x="1915560" y="1234854"/>
                </a:lnTo>
                <a:lnTo>
                  <a:pt x="1911048" y="1256132"/>
                </a:lnTo>
                <a:lnTo>
                  <a:pt x="1916537" y="1267896"/>
                </a:lnTo>
                <a:lnTo>
                  <a:pt x="1952315" y="1312008"/>
                </a:lnTo>
                <a:lnTo>
                  <a:pt x="1980013" y="1323971"/>
                </a:lnTo>
                <a:lnTo>
                  <a:pt x="1953682" y="1354733"/>
                </a:lnTo>
                <a:lnTo>
                  <a:pt x="1938893" y="1344044"/>
                </a:lnTo>
                <a:lnTo>
                  <a:pt x="1902746" y="1352057"/>
                </a:lnTo>
                <a:lnTo>
                  <a:pt x="1898954" y="1335713"/>
                </a:lnTo>
                <a:lnTo>
                  <a:pt x="1886041" y="1337032"/>
                </a:lnTo>
                <a:lnTo>
                  <a:pt x="1883772" y="1344769"/>
                </a:lnTo>
                <a:lnTo>
                  <a:pt x="1875609" y="1347155"/>
                </a:lnTo>
                <a:lnTo>
                  <a:pt x="1868494" y="1336214"/>
                </a:lnTo>
                <a:lnTo>
                  <a:pt x="1864245" y="1339486"/>
                </a:lnTo>
                <a:lnTo>
                  <a:pt x="1852616" y="1328021"/>
                </a:lnTo>
                <a:lnTo>
                  <a:pt x="1822361" y="1336663"/>
                </a:lnTo>
                <a:lnTo>
                  <a:pt x="1802050" y="1332990"/>
                </a:lnTo>
                <a:lnTo>
                  <a:pt x="1790672" y="1336401"/>
                </a:lnTo>
                <a:lnTo>
                  <a:pt x="1785734" y="1332904"/>
                </a:lnTo>
                <a:lnTo>
                  <a:pt x="1786349" y="1321372"/>
                </a:lnTo>
                <a:lnTo>
                  <a:pt x="1772956" y="1320156"/>
                </a:lnTo>
                <a:lnTo>
                  <a:pt x="1772258" y="1331461"/>
                </a:lnTo>
                <a:lnTo>
                  <a:pt x="1753026" y="1331313"/>
                </a:lnTo>
                <a:lnTo>
                  <a:pt x="1751849" y="1345130"/>
                </a:lnTo>
                <a:lnTo>
                  <a:pt x="1741402" y="1347785"/>
                </a:lnTo>
                <a:lnTo>
                  <a:pt x="1733340" y="1340889"/>
                </a:lnTo>
                <a:lnTo>
                  <a:pt x="1720258" y="1355234"/>
                </a:lnTo>
                <a:lnTo>
                  <a:pt x="1707839" y="1343208"/>
                </a:lnTo>
                <a:lnTo>
                  <a:pt x="1691450" y="1349968"/>
                </a:lnTo>
                <a:lnTo>
                  <a:pt x="1669326" y="1337996"/>
                </a:lnTo>
                <a:lnTo>
                  <a:pt x="1664812" y="1345852"/>
                </a:lnTo>
                <a:lnTo>
                  <a:pt x="1651518" y="1343567"/>
                </a:lnTo>
                <a:lnTo>
                  <a:pt x="1640715" y="1363287"/>
                </a:lnTo>
                <a:lnTo>
                  <a:pt x="1629631" y="1357078"/>
                </a:lnTo>
                <a:lnTo>
                  <a:pt x="1627982" y="1357614"/>
                </a:lnTo>
                <a:lnTo>
                  <a:pt x="1632310" y="1359079"/>
                </a:lnTo>
                <a:lnTo>
                  <a:pt x="1620660" y="1363535"/>
                </a:lnTo>
                <a:lnTo>
                  <a:pt x="1625769" y="1370434"/>
                </a:lnTo>
                <a:lnTo>
                  <a:pt x="1620353" y="1376789"/>
                </a:lnTo>
                <a:lnTo>
                  <a:pt x="1631399" y="1380689"/>
                </a:lnTo>
                <a:lnTo>
                  <a:pt x="1636798" y="1398732"/>
                </a:lnTo>
                <a:lnTo>
                  <a:pt x="1610347" y="1411465"/>
                </a:lnTo>
                <a:lnTo>
                  <a:pt x="1618475" y="1424063"/>
                </a:lnTo>
                <a:lnTo>
                  <a:pt x="1616554" y="1441453"/>
                </a:lnTo>
                <a:lnTo>
                  <a:pt x="1622449" y="1452278"/>
                </a:lnTo>
                <a:lnTo>
                  <a:pt x="1614515" y="1456165"/>
                </a:lnTo>
                <a:lnTo>
                  <a:pt x="1612296" y="1474322"/>
                </a:lnTo>
                <a:lnTo>
                  <a:pt x="1603734" y="1481042"/>
                </a:lnTo>
                <a:lnTo>
                  <a:pt x="1609284" y="1490003"/>
                </a:lnTo>
                <a:lnTo>
                  <a:pt x="1602637" y="1492120"/>
                </a:lnTo>
                <a:lnTo>
                  <a:pt x="1594153" y="1512309"/>
                </a:lnTo>
                <a:lnTo>
                  <a:pt x="1602478" y="1523689"/>
                </a:lnTo>
                <a:lnTo>
                  <a:pt x="1603734" y="1537054"/>
                </a:lnTo>
                <a:lnTo>
                  <a:pt x="1603286" y="1546057"/>
                </a:lnTo>
                <a:lnTo>
                  <a:pt x="1594941" y="1547907"/>
                </a:lnTo>
                <a:lnTo>
                  <a:pt x="1590858" y="1555249"/>
                </a:lnTo>
                <a:lnTo>
                  <a:pt x="1592910" y="1562035"/>
                </a:lnTo>
                <a:lnTo>
                  <a:pt x="1561669" y="1568776"/>
                </a:lnTo>
                <a:lnTo>
                  <a:pt x="1545180" y="1594715"/>
                </a:lnTo>
                <a:lnTo>
                  <a:pt x="1535978" y="1593349"/>
                </a:lnTo>
                <a:lnTo>
                  <a:pt x="1516555" y="1609539"/>
                </a:lnTo>
                <a:lnTo>
                  <a:pt x="1507336" y="1605883"/>
                </a:lnTo>
                <a:lnTo>
                  <a:pt x="1493793" y="1623038"/>
                </a:lnTo>
                <a:lnTo>
                  <a:pt x="1499151" y="1629697"/>
                </a:lnTo>
                <a:lnTo>
                  <a:pt x="1494441" y="1636185"/>
                </a:lnTo>
                <a:lnTo>
                  <a:pt x="1488839" y="1632145"/>
                </a:lnTo>
                <a:lnTo>
                  <a:pt x="1480402" y="1641137"/>
                </a:lnTo>
                <a:lnTo>
                  <a:pt x="1471864" y="1635411"/>
                </a:lnTo>
                <a:lnTo>
                  <a:pt x="1444019" y="1642012"/>
                </a:lnTo>
                <a:lnTo>
                  <a:pt x="1436334" y="1661299"/>
                </a:lnTo>
                <a:lnTo>
                  <a:pt x="1425730" y="1671182"/>
                </a:lnTo>
                <a:lnTo>
                  <a:pt x="1419756" y="1691425"/>
                </a:lnTo>
                <a:lnTo>
                  <a:pt x="1416270" y="1687535"/>
                </a:lnTo>
                <a:lnTo>
                  <a:pt x="1405077" y="1691160"/>
                </a:lnTo>
                <a:lnTo>
                  <a:pt x="1405072" y="1675379"/>
                </a:lnTo>
                <a:lnTo>
                  <a:pt x="1382520" y="1664825"/>
                </a:lnTo>
                <a:lnTo>
                  <a:pt x="1382696" y="1651180"/>
                </a:lnTo>
                <a:lnTo>
                  <a:pt x="1371285" y="1638721"/>
                </a:lnTo>
                <a:lnTo>
                  <a:pt x="1357311" y="1647922"/>
                </a:lnTo>
                <a:lnTo>
                  <a:pt x="1314614" y="1650735"/>
                </a:lnTo>
                <a:lnTo>
                  <a:pt x="1302257" y="1670638"/>
                </a:lnTo>
                <a:lnTo>
                  <a:pt x="1292273" y="1667528"/>
                </a:lnTo>
                <a:lnTo>
                  <a:pt x="1286765" y="1673147"/>
                </a:lnTo>
                <a:lnTo>
                  <a:pt x="1276163" y="1667782"/>
                </a:lnTo>
                <a:lnTo>
                  <a:pt x="1267696" y="1671684"/>
                </a:lnTo>
                <a:lnTo>
                  <a:pt x="1264809" y="1667161"/>
                </a:lnTo>
                <a:lnTo>
                  <a:pt x="1234170" y="1698136"/>
                </a:lnTo>
                <a:lnTo>
                  <a:pt x="1228851" y="1713633"/>
                </a:lnTo>
                <a:lnTo>
                  <a:pt x="1220210" y="1714396"/>
                </a:lnTo>
                <a:lnTo>
                  <a:pt x="1208680" y="1705232"/>
                </a:lnTo>
                <a:lnTo>
                  <a:pt x="1198299" y="1712897"/>
                </a:lnTo>
                <a:lnTo>
                  <a:pt x="1197011" y="1722459"/>
                </a:lnTo>
                <a:lnTo>
                  <a:pt x="1183933" y="1718769"/>
                </a:lnTo>
                <a:lnTo>
                  <a:pt x="1180767" y="1723187"/>
                </a:lnTo>
                <a:lnTo>
                  <a:pt x="1166906" y="1716780"/>
                </a:lnTo>
                <a:lnTo>
                  <a:pt x="1168445" y="1727229"/>
                </a:lnTo>
                <a:lnTo>
                  <a:pt x="1159636" y="1729925"/>
                </a:lnTo>
                <a:lnTo>
                  <a:pt x="1157142" y="1745412"/>
                </a:lnTo>
                <a:lnTo>
                  <a:pt x="1150785" y="1743604"/>
                </a:lnTo>
                <a:lnTo>
                  <a:pt x="1147841" y="1753870"/>
                </a:lnTo>
                <a:lnTo>
                  <a:pt x="1140714" y="1754176"/>
                </a:lnTo>
                <a:lnTo>
                  <a:pt x="1148199" y="1762396"/>
                </a:lnTo>
                <a:lnTo>
                  <a:pt x="1140326" y="1763315"/>
                </a:lnTo>
                <a:lnTo>
                  <a:pt x="1141410" y="1772573"/>
                </a:lnTo>
                <a:lnTo>
                  <a:pt x="1131215" y="1777317"/>
                </a:lnTo>
                <a:lnTo>
                  <a:pt x="1133936" y="1784313"/>
                </a:lnTo>
                <a:lnTo>
                  <a:pt x="1126392" y="1784695"/>
                </a:lnTo>
                <a:lnTo>
                  <a:pt x="1111342" y="1799238"/>
                </a:lnTo>
                <a:lnTo>
                  <a:pt x="1116965" y="1808430"/>
                </a:lnTo>
                <a:lnTo>
                  <a:pt x="1105174" y="1818949"/>
                </a:lnTo>
                <a:lnTo>
                  <a:pt x="1097416" y="1817692"/>
                </a:lnTo>
                <a:lnTo>
                  <a:pt x="1101273" y="1823547"/>
                </a:lnTo>
                <a:lnTo>
                  <a:pt x="1093120" y="1826932"/>
                </a:lnTo>
                <a:lnTo>
                  <a:pt x="1092022" y="1836840"/>
                </a:lnTo>
                <a:lnTo>
                  <a:pt x="1086385" y="1834452"/>
                </a:lnTo>
                <a:lnTo>
                  <a:pt x="1090087" y="1844865"/>
                </a:lnTo>
                <a:lnTo>
                  <a:pt x="1074671" y="1856883"/>
                </a:lnTo>
                <a:lnTo>
                  <a:pt x="1075485" y="1865371"/>
                </a:lnTo>
                <a:lnTo>
                  <a:pt x="1063113" y="1868054"/>
                </a:lnTo>
                <a:lnTo>
                  <a:pt x="1062912" y="1877327"/>
                </a:lnTo>
                <a:lnTo>
                  <a:pt x="1044118" y="1879789"/>
                </a:lnTo>
                <a:lnTo>
                  <a:pt x="1039653" y="1885892"/>
                </a:lnTo>
                <a:lnTo>
                  <a:pt x="1028850" y="1883725"/>
                </a:lnTo>
                <a:lnTo>
                  <a:pt x="1013167" y="1897275"/>
                </a:lnTo>
                <a:lnTo>
                  <a:pt x="1009034" y="1892648"/>
                </a:lnTo>
                <a:lnTo>
                  <a:pt x="1006827" y="1902808"/>
                </a:lnTo>
                <a:lnTo>
                  <a:pt x="998229" y="1897466"/>
                </a:lnTo>
                <a:lnTo>
                  <a:pt x="996919" y="1908734"/>
                </a:lnTo>
                <a:lnTo>
                  <a:pt x="1015199" y="1926699"/>
                </a:lnTo>
                <a:lnTo>
                  <a:pt x="1041121" y="1998837"/>
                </a:lnTo>
                <a:lnTo>
                  <a:pt x="1058173" y="2010954"/>
                </a:lnTo>
                <a:lnTo>
                  <a:pt x="1064449" y="2034619"/>
                </a:lnTo>
                <a:lnTo>
                  <a:pt x="1082341" y="2034061"/>
                </a:lnTo>
                <a:lnTo>
                  <a:pt x="1072650" y="2052653"/>
                </a:lnTo>
                <a:lnTo>
                  <a:pt x="1072686" y="2066952"/>
                </a:lnTo>
                <a:lnTo>
                  <a:pt x="1078781" y="2075734"/>
                </a:lnTo>
                <a:lnTo>
                  <a:pt x="1071476" y="2079685"/>
                </a:lnTo>
                <a:lnTo>
                  <a:pt x="1072487" y="2091775"/>
                </a:lnTo>
                <a:lnTo>
                  <a:pt x="1077672" y="2088451"/>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Working geographic region: Other / Northern Cape"/>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Working geographic region: Western coastal"/>
          <p:cNvSpPr/>
          <p:nvPr/>
        </p:nvSpPr>
        <p:spPr>
          <a:xfrm>
            <a:off x="2284853" y="5322748"/>
            <a:ext cx="5752" cy="7186"/>
          </a:xfrm>
          <a:custGeom>
            <a:avLst/>
            <a:gdLst/>
            <a:ahLst/>
            <a:cxnLst/>
            <a:rect l="l" t="t" r="r" b="b"/>
            <a:pathLst>
              <a:path w="5752" h="7186">
                <a:moveTo>
                  <a:pt x="0" y="2653"/>
                </a:moveTo>
                <a:lnTo>
                  <a:pt x="3500" y="0"/>
                </a:lnTo>
                <a:lnTo>
                  <a:pt x="5752" y="5055"/>
                </a:lnTo>
                <a:lnTo>
                  <a:pt x="3290" y="7186"/>
                </a:lnTo>
                <a:lnTo>
                  <a:pt x="0" y="2653"/>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Working geographic region: Western coastal"/>
          <p:cNvSpPr/>
          <p:nvPr/>
        </p:nvSpPr>
        <p:spPr>
          <a:xfrm>
            <a:off x="2220092" y="5229576"/>
            <a:ext cx="3544" cy="4871"/>
          </a:xfrm>
          <a:custGeom>
            <a:avLst/>
            <a:gdLst/>
            <a:ahLst/>
            <a:cxnLst/>
            <a:rect l="l" t="t" r="r" b="b"/>
            <a:pathLst>
              <a:path w="3544" h="4871">
                <a:moveTo>
                  <a:pt x="1386" y="0"/>
                </a:moveTo>
                <a:lnTo>
                  <a:pt x="3544" y="4547"/>
                </a:lnTo>
                <a:lnTo>
                  <a:pt x="0" y="4871"/>
                </a:lnTo>
                <a:lnTo>
                  <a:pt x="1386" y="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Working geographic region: Western coastal"/>
          <p:cNvSpPr/>
          <p:nvPr/>
        </p:nvSpPr>
        <p:spPr>
          <a:xfrm>
            <a:off x="2112260" y="4460901"/>
            <a:ext cx="1422285" cy="1110490"/>
          </a:xfrm>
          <a:custGeom>
            <a:avLst/>
            <a:gdLst/>
            <a:ahLst/>
            <a:cxnLst/>
            <a:rect l="l" t="t" r="r" b="b"/>
            <a:pathLst>
              <a:path w="1422285" h="1110490">
                <a:moveTo>
                  <a:pt x="1400506" y="324117"/>
                </a:move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lnTo>
                  <a:pt x="1413570" y="315353"/>
                </a:lnTo>
                <a:lnTo>
                  <a:pt x="1407278" y="317751"/>
                </a:lnTo>
                <a:lnTo>
                  <a:pt x="1407012" y="326048"/>
                </a:lnTo>
                <a:lnTo>
                  <a:pt x="1400506" y="324117"/>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Lesotho: outside South African demand"/>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Diamond 512"/>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Hexagon 513"/>
          <p:cNvSpPr/>
          <p:nvPr/>
        </p:nvSpPr>
        <p:spPr>
          <a:xfrm>
            <a:off x="4997057" y="4265204"/>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Hexagon 514"/>
          <p:cNvSpPr/>
          <p:nvPr/>
        </p:nvSpPr>
        <p:spPr>
          <a:xfrm>
            <a:off x="5242626" y="4001821"/>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6" name="Hexagon 515"/>
          <p:cNvSpPr/>
          <p:nvPr/>
        </p:nvSpPr>
        <p:spPr>
          <a:xfrm>
            <a:off x="4394666" y="3284328"/>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7" name="Hexagon 516"/>
          <p:cNvSpPr/>
          <p:nvPr/>
        </p:nvSpPr>
        <p:spPr>
          <a:xfrm>
            <a:off x="4375076" y="3329851"/>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8" name="Hexagon 517"/>
          <p:cNvSpPr/>
          <p:nvPr/>
        </p:nvSpPr>
        <p:spPr>
          <a:xfrm>
            <a:off x="4385601" y="3184360"/>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Hexagon 518"/>
          <p:cNvSpPr/>
          <p:nvPr/>
        </p:nvSpPr>
        <p:spPr>
          <a:xfrm>
            <a:off x="4422829" y="3177679"/>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0" name="Hexagon 519"/>
          <p:cNvSpPr/>
          <p:nvPr/>
        </p:nvSpPr>
        <p:spPr>
          <a:xfrm>
            <a:off x="4303161" y="3453400"/>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Hexagon 520"/>
          <p:cNvSpPr/>
          <p:nvPr/>
        </p:nvSpPr>
        <p:spPr>
          <a:xfrm>
            <a:off x="4263607" y="3265671"/>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2" name="Hexagon 521"/>
          <p:cNvSpPr/>
          <p:nvPr/>
        </p:nvSpPr>
        <p:spPr>
          <a:xfrm>
            <a:off x="4434127" y="3362131"/>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Hexagon 522"/>
          <p:cNvSpPr/>
          <p:nvPr/>
        </p:nvSpPr>
        <p:spPr>
          <a:xfrm>
            <a:off x="2251904" y="5301864"/>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24" name="Connector 523"/>
          <p:cNvCxnSpPr/>
          <p:nvPr/>
        </p:nvCxnSpPr>
        <p:spPr>
          <a:xfrm flipH="1">
            <a:off x="5001768" y="4315496"/>
            <a:ext cx="45581" cy="96484"/>
          </a:xfrm>
          <a:prstGeom prst="line">
            <a:avLst/>
          </a:prstGeom>
          <a:ln w="8255">
            <a:solidFill>
              <a:srgbClr val="0A2373"/>
            </a:solidFill>
          </a:ln>
        </p:spPr>
        <p:style>
          <a:lnRef idx="2">
            <a:schemeClr val="accent1"/>
          </a:lnRef>
          <a:fillRef idx="0">
            <a:schemeClr val="accent1"/>
          </a:fillRef>
          <a:effectRef idx="1">
            <a:schemeClr val="accent1"/>
          </a:effectRef>
          <a:fontRef idx="minor">
            <a:schemeClr val="tx1"/>
          </a:fontRef>
        </p:style>
      </p:cxnSp>
      <p:sp>
        <p:nvSpPr>
          <p:cNvPr id="525" name="TextBox 524"/>
          <p:cNvSpPr txBox="1"/>
          <p:nvPr/>
        </p:nvSpPr>
        <p:spPr>
          <a:xfrm>
            <a:off x="5001768" y="4160520"/>
            <a:ext cx="1508760" cy="502920"/>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Durban</a:t>
            </a:r>
          </a:p>
          <a:p>
            <a:pPr>
              <a:spcAft>
                <a:spcPts val="300"/>
              </a:spcAft>
              <a:defRPr sz="1100" b="1">
                <a:solidFill>
                  <a:srgbClr val="0A2373"/>
                </a:solidFill>
                <a:latin typeface="Lato"/>
              </a:defRPr>
            </a:pPr>
            <a:r>
              <a:t>Vopak / Bidvest</a:t>
            </a:r>
          </a:p>
        </p:txBody>
      </p:sp>
      <p:cxnSp>
        <p:nvCxnSpPr>
          <p:cNvPr id="526" name="Connector 525"/>
          <p:cNvCxnSpPr/>
          <p:nvPr/>
        </p:nvCxnSpPr>
        <p:spPr>
          <a:xfrm flipH="1" flipV="1">
            <a:off x="5148072" y="3863340"/>
            <a:ext cx="144846" cy="188773"/>
          </a:xfrm>
          <a:prstGeom prst="line">
            <a:avLst/>
          </a:prstGeom>
          <a:ln w="8255">
            <a:solidFill>
              <a:srgbClr val="0A2373"/>
            </a:solidFill>
          </a:ln>
        </p:spPr>
        <p:style>
          <a:lnRef idx="2">
            <a:schemeClr val="accent1"/>
          </a:lnRef>
          <a:fillRef idx="0">
            <a:schemeClr val="accent1"/>
          </a:fillRef>
          <a:effectRef idx="1">
            <a:schemeClr val="accent1"/>
          </a:effectRef>
          <a:fontRef idx="minor">
            <a:schemeClr val="tx1"/>
          </a:fontRef>
        </p:style>
      </p:cxnSp>
      <p:sp>
        <p:nvSpPr>
          <p:cNvPr id="527" name="TextBox 526"/>
          <p:cNvSpPr txBox="1"/>
          <p:nvPr/>
        </p:nvSpPr>
        <p:spPr>
          <a:xfrm>
            <a:off x="5148072" y="3611880"/>
            <a:ext cx="1554480" cy="502920"/>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Richards Bay</a:t>
            </a:r>
          </a:p>
          <a:p>
            <a:pPr>
              <a:spcAft>
                <a:spcPts val="300"/>
              </a:spcAft>
              <a:defRPr sz="1100" b="1">
                <a:solidFill>
                  <a:srgbClr val="0A2373"/>
                </a:solidFill>
                <a:latin typeface="Lato"/>
              </a:defRPr>
            </a:pPr>
            <a:r>
              <a:t>Bidvest</a:t>
            </a:r>
          </a:p>
        </p:txBody>
      </p:sp>
      <p:cxnSp>
        <p:nvCxnSpPr>
          <p:cNvPr id="528" name="Connector 527"/>
          <p:cNvCxnSpPr/>
          <p:nvPr/>
        </p:nvCxnSpPr>
        <p:spPr>
          <a:xfrm flipH="1" flipV="1">
            <a:off x="566928" y="4983479"/>
            <a:ext cx="1735268" cy="368677"/>
          </a:xfrm>
          <a:prstGeom prst="line">
            <a:avLst/>
          </a:prstGeom>
          <a:ln w="8255">
            <a:solidFill>
              <a:srgbClr val="0A2373"/>
            </a:solidFill>
          </a:ln>
        </p:spPr>
        <p:style>
          <a:lnRef idx="2">
            <a:schemeClr val="accent1"/>
          </a:lnRef>
          <a:fillRef idx="0">
            <a:schemeClr val="accent1"/>
          </a:fillRef>
          <a:effectRef idx="1">
            <a:schemeClr val="accent1"/>
          </a:effectRef>
          <a:fontRef idx="minor">
            <a:schemeClr val="tx1"/>
          </a:fontRef>
        </p:style>
      </p:cxnSp>
      <p:sp>
        <p:nvSpPr>
          <p:cNvPr id="529" name="TextBox 528"/>
          <p:cNvSpPr txBox="1"/>
          <p:nvPr/>
        </p:nvSpPr>
        <p:spPr>
          <a:xfrm>
            <a:off x="566928" y="4736592"/>
            <a:ext cx="1508760" cy="493776"/>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Cape Town</a:t>
            </a:r>
          </a:p>
          <a:p>
            <a:pPr>
              <a:spcAft>
                <a:spcPts val="300"/>
              </a:spcAft>
              <a:defRPr sz="1100" b="1">
                <a:solidFill>
                  <a:srgbClr val="0A2373"/>
                </a:solidFill>
                <a:latin typeface="Lato"/>
              </a:defRPr>
            </a:pPr>
            <a:r>
              <a:t>Burgan Cape</a:t>
            </a:r>
          </a:p>
        </p:txBody>
      </p:sp>
      <p:cxnSp>
        <p:nvCxnSpPr>
          <p:cNvPr id="530" name="Connector 529"/>
          <p:cNvCxnSpPr/>
          <p:nvPr/>
        </p:nvCxnSpPr>
        <p:spPr>
          <a:xfrm flipH="1" flipV="1">
            <a:off x="594360" y="3255264"/>
            <a:ext cx="3847905" cy="94630"/>
          </a:xfrm>
          <a:prstGeom prst="line">
            <a:avLst/>
          </a:prstGeom>
          <a:ln w="8255">
            <a:solidFill>
              <a:srgbClr val="0A2373"/>
            </a:solidFill>
          </a:ln>
        </p:spPr>
        <p:style>
          <a:lnRef idx="2">
            <a:schemeClr val="accent1"/>
          </a:lnRef>
          <a:fillRef idx="0">
            <a:schemeClr val="accent1"/>
          </a:fillRef>
          <a:effectRef idx="1">
            <a:schemeClr val="accent1"/>
          </a:effectRef>
          <a:fontRef idx="minor">
            <a:schemeClr val="tx1"/>
          </a:fontRef>
        </p:style>
      </p:cxnSp>
      <p:sp>
        <p:nvSpPr>
          <p:cNvPr id="531" name="TextBox 530"/>
          <p:cNvSpPr txBox="1"/>
          <p:nvPr/>
        </p:nvSpPr>
        <p:spPr>
          <a:xfrm>
            <a:off x="594360" y="2907792"/>
            <a:ext cx="2011680" cy="694944"/>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Lesedi / inland storage</a:t>
            </a:r>
          </a:p>
          <a:p>
            <a:pPr>
              <a:spcAft>
                <a:spcPts val="300"/>
              </a:spcAft>
              <a:defRPr sz="1100" b="1">
                <a:solidFill>
                  <a:srgbClr val="0A2373"/>
                </a:solidFill>
                <a:latin typeface="Lato"/>
              </a:defRPr>
            </a:pPr>
            <a:r>
              <a:t>Vopak / Bidvest</a:t>
            </a:r>
          </a:p>
          <a:p>
            <a:pPr>
              <a:spcAft>
                <a:spcPts val="300"/>
              </a:spcAft>
              <a:defRPr sz="1100" b="1">
                <a:solidFill>
                  <a:srgbClr val="0A2373"/>
                </a:solidFill>
                <a:latin typeface="Lato"/>
              </a:defRPr>
            </a:pPr>
            <a:r>
              <a:t>Sasol / Transnet</a:t>
            </a:r>
          </a:p>
        </p:txBody>
      </p:sp>
      <p:sp>
        <p:nvSpPr>
          <p:cNvPr id="532" name="Transnet lease overlay: Isosceles Triangle 531"/>
          <p:cNvSpPr/>
          <p:nvPr/>
        </p:nvSpPr>
        <p:spPr>
          <a:xfrm>
            <a:off x="4748449" y="3924272"/>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3" name="Transnet lease overlay: Connector 532"/>
          <p:cNvCxnSpPr/>
          <p:nvPr/>
        </p:nvCxnSpPr>
        <p:spPr>
          <a:xfrm>
            <a:off x="4785025" y="3960848"/>
            <a:ext cx="137160" cy="9144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534" name="Transnet lease overlay: TextBox 533"/>
          <p:cNvSpPr txBox="1"/>
          <p:nvPr/>
        </p:nvSpPr>
        <p:spPr>
          <a:xfrm>
            <a:off x="4858177" y="398828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1</a:t>
            </a:r>
          </a:p>
        </p:txBody>
      </p:sp>
      <p:sp>
        <p:nvSpPr>
          <p:cNvPr id="535" name="Transnet lease overlay: Isosceles Triangle 534"/>
          <p:cNvSpPr/>
          <p:nvPr/>
        </p:nvSpPr>
        <p:spPr>
          <a:xfrm>
            <a:off x="4635581" y="3512195"/>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6" name="Transnet lease overlay: Connector 535"/>
          <p:cNvCxnSpPr/>
          <p:nvPr/>
        </p:nvCxnSpPr>
        <p:spPr>
          <a:xfrm flipV="1">
            <a:off x="4672157" y="3503051"/>
            <a:ext cx="137160"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537" name="Transnet lease overlay: TextBox 536"/>
          <p:cNvSpPr txBox="1"/>
          <p:nvPr/>
        </p:nvSpPr>
        <p:spPr>
          <a:xfrm>
            <a:off x="4745309" y="3439043"/>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2</a:t>
            </a:r>
          </a:p>
        </p:txBody>
      </p:sp>
      <p:sp>
        <p:nvSpPr>
          <p:cNvPr id="538" name="Transnet lease overlay: Isosceles Triangle 537"/>
          <p:cNvSpPr/>
          <p:nvPr/>
        </p:nvSpPr>
        <p:spPr>
          <a:xfrm>
            <a:off x="4174679" y="368561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9" name="Transnet lease overlay: Connector 538"/>
          <p:cNvCxnSpPr/>
          <p:nvPr/>
        </p:nvCxnSpPr>
        <p:spPr>
          <a:xfrm flipH="1" flipV="1">
            <a:off x="3909503" y="3676466"/>
            <a:ext cx="301752"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540" name="Transnet lease overlay: TextBox 539"/>
          <p:cNvSpPr txBox="1"/>
          <p:nvPr/>
        </p:nvSpPr>
        <p:spPr>
          <a:xfrm>
            <a:off x="3845495" y="3612458"/>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3</a:t>
            </a:r>
          </a:p>
        </p:txBody>
      </p:sp>
      <p:sp>
        <p:nvSpPr>
          <p:cNvPr id="541" name="Transnet lease overlay: Isosceles Triangle 540"/>
          <p:cNvSpPr/>
          <p:nvPr/>
        </p:nvSpPr>
        <p:spPr>
          <a:xfrm>
            <a:off x="4414479" y="3832751"/>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2" name="Transnet lease overlay: Connector 541"/>
          <p:cNvCxnSpPr/>
          <p:nvPr/>
        </p:nvCxnSpPr>
        <p:spPr>
          <a:xfrm flipH="1">
            <a:off x="4377903" y="3869327"/>
            <a:ext cx="73152" cy="12801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543" name="Transnet lease overlay: TextBox 542"/>
          <p:cNvSpPr txBox="1"/>
          <p:nvPr/>
        </p:nvSpPr>
        <p:spPr>
          <a:xfrm>
            <a:off x="4313895" y="3933335"/>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4</a:t>
            </a:r>
          </a:p>
        </p:txBody>
      </p:sp>
      <p:sp>
        <p:nvSpPr>
          <p:cNvPr id="544" name="Transnet lease overlay: Isosceles Triangle 543"/>
          <p:cNvSpPr/>
          <p:nvPr/>
        </p:nvSpPr>
        <p:spPr>
          <a:xfrm>
            <a:off x="4194803" y="3670658"/>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5" name="Transnet lease overlay: Connector 544"/>
          <p:cNvCxnSpPr/>
          <p:nvPr/>
        </p:nvCxnSpPr>
        <p:spPr>
          <a:xfrm flipH="1" flipV="1">
            <a:off x="4094219" y="3624938"/>
            <a:ext cx="137160" cy="8229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546" name="Transnet lease overlay: TextBox 545"/>
          <p:cNvSpPr txBox="1"/>
          <p:nvPr/>
        </p:nvSpPr>
        <p:spPr>
          <a:xfrm>
            <a:off x="4030211" y="356093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5</a:t>
            </a:r>
          </a:p>
        </p:txBody>
      </p:sp>
      <p:sp>
        <p:nvSpPr>
          <p:cNvPr id="547" name="Transnet lease overlay: TextBox 546"/>
          <p:cNvSpPr txBox="1"/>
          <p:nvPr/>
        </p:nvSpPr>
        <p:spPr>
          <a:xfrm>
            <a:off x="594360" y="3694176"/>
            <a:ext cx="2029968" cy="932688"/>
          </a:xfrm>
          <a:prstGeom prst="rect">
            <a:avLst/>
          </a:prstGeom>
          <a:solidFill>
            <a:srgbClr val="FFFFFF"/>
          </a:solidFill>
        </p:spPr>
        <p:txBody>
          <a:bodyPr wrap="square" lIns="22860" rIns="22860" tIns="0" bIns="0">
            <a:spAutoFit/>
          </a:bodyPr>
          <a:lstStyle/>
          <a:p>
            <a:pPr>
              <a:spcAft>
                <a:spcPts val="300"/>
              </a:spcAft>
              <a:defRPr sz="1100" b="1">
                <a:solidFill>
                  <a:srgbClr val="000000"/>
                </a:solidFill>
                <a:latin typeface="Lato"/>
              </a:defRPr>
            </a:pPr>
            <a:r>
              <a:t>   Transnet lease offers</a:t>
            </a:r>
          </a:p>
          <a:p>
            <a:pPr>
              <a:spcAft>
                <a:spcPts val="300"/>
              </a:spcAft>
              <a:defRPr sz="1100" b="1">
                <a:solidFill>
                  <a:srgbClr val="000000"/>
                </a:solidFill>
                <a:latin typeface="Lato"/>
              </a:defRPr>
            </a:pPr>
            <a:r>
              <a:t>1 Ladysmith | 2 Standerton</a:t>
            </a:r>
          </a:p>
          <a:p>
            <a:pPr>
              <a:spcAft>
                <a:spcPts val="300"/>
              </a:spcAft>
              <a:defRPr sz="1100" b="1">
                <a:solidFill>
                  <a:srgbClr val="000000"/>
                </a:solidFill>
                <a:latin typeface="Lato"/>
              </a:defRPr>
            </a:pPr>
            <a:r>
              <a:t>3 Kroonstad | 4 Bethlehem</a:t>
            </a:r>
          </a:p>
          <a:p>
            <a:pPr>
              <a:spcAft>
                <a:spcPts val="300"/>
              </a:spcAft>
              <a:defRPr sz="1100" b="1">
                <a:solidFill>
                  <a:srgbClr val="000000"/>
                </a:solidFill>
                <a:latin typeface="Lato"/>
              </a:defRPr>
            </a:pPr>
            <a:r>
              <a:t>5 Magdala*</a:t>
            </a:r>
          </a:p>
        </p:txBody>
      </p:sp>
      <p:sp>
        <p:nvSpPr>
          <p:cNvPr id="548" name="Transnet lease overlay: Isosceles Triangle 547"/>
          <p:cNvSpPr/>
          <p:nvPr/>
        </p:nvSpPr>
        <p:spPr>
          <a:xfrm>
            <a:off x="612647" y="372618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9" name="Connector 548"/>
          <p:cNvCxnSpPr/>
          <p:nvPr/>
        </p:nvCxnSpPr>
        <p:spPr>
          <a:xfrm flipH="1" flipV="1">
            <a:off x="4078053" y="2959337"/>
            <a:ext cx="296213" cy="337706"/>
          </a:xfrm>
          <a:prstGeom prst="line">
            <a:avLst/>
          </a:prstGeom>
          <a:ln w="7620">
            <a:solidFill>
              <a:srgbClr val="0A2373"/>
            </a:solidFill>
          </a:ln>
        </p:spPr>
        <p:style>
          <a:lnRef idx="2">
            <a:schemeClr val="accent1"/>
          </a:lnRef>
          <a:fillRef idx="0">
            <a:schemeClr val="accent1"/>
          </a:fillRef>
          <a:effectRef idx="1">
            <a:schemeClr val="accent1"/>
          </a:effectRef>
          <a:fontRef idx="minor">
            <a:schemeClr val="tx1"/>
          </a:fontRef>
        </p:style>
      </p:cxnSp>
      <p:sp>
        <p:nvSpPr>
          <p:cNvPr id="550" name="TextBox 549"/>
          <p:cNvSpPr txBox="1"/>
          <p:nvPr/>
        </p:nvSpPr>
        <p:spPr>
          <a:xfrm>
            <a:off x="3733647" y="4797656"/>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EC</a:t>
            </a:r>
          </a:p>
          <a:p>
            <a:pPr>
              <a:spcAft>
                <a:spcPts val="300"/>
              </a:spcAft>
              <a:defRPr sz="900" b="1">
                <a:solidFill>
                  <a:srgbClr val="0A2373"/>
                </a:solidFill>
                <a:latin typeface="Lato"/>
              </a:defRPr>
            </a:pPr>
            <a:r>
              <a:t>1.74</a:t>
            </a:r>
          </a:p>
        </p:txBody>
      </p:sp>
      <p:sp>
        <p:nvSpPr>
          <p:cNvPr id="551" name="TextBox 550"/>
          <p:cNvSpPr txBox="1"/>
          <p:nvPr/>
        </p:nvSpPr>
        <p:spPr>
          <a:xfrm>
            <a:off x="3542762" y="3798560"/>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FS</a:t>
            </a:r>
          </a:p>
          <a:p>
            <a:pPr>
              <a:spcAft>
                <a:spcPts val="300"/>
              </a:spcAft>
              <a:defRPr sz="900" b="1">
                <a:solidFill>
                  <a:srgbClr val="0A2373"/>
                </a:solidFill>
                <a:latin typeface="Lato"/>
              </a:defRPr>
            </a:pPr>
            <a:r>
              <a:t>1.37</a:t>
            </a:r>
          </a:p>
        </p:txBody>
      </p:sp>
      <p:sp>
        <p:nvSpPr>
          <p:cNvPr id="552" name="TextBox 551"/>
          <p:cNvSpPr txBox="1"/>
          <p:nvPr/>
        </p:nvSpPr>
        <p:spPr>
          <a:xfrm>
            <a:off x="3803733" y="2803889"/>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GP</a:t>
            </a:r>
          </a:p>
          <a:p>
            <a:pPr>
              <a:spcAft>
                <a:spcPts val="300"/>
              </a:spcAft>
              <a:defRPr sz="900" b="1">
                <a:solidFill>
                  <a:srgbClr val="0A2373"/>
                </a:solidFill>
                <a:latin typeface="Lato"/>
              </a:defRPr>
            </a:pPr>
            <a:r>
              <a:t>6.81</a:t>
            </a:r>
          </a:p>
        </p:txBody>
      </p:sp>
      <p:sp>
        <p:nvSpPr>
          <p:cNvPr id="553" name="TextBox 552"/>
          <p:cNvSpPr txBox="1"/>
          <p:nvPr/>
        </p:nvSpPr>
        <p:spPr>
          <a:xfrm>
            <a:off x="4411105" y="4123524"/>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KZN</a:t>
            </a:r>
          </a:p>
          <a:p>
            <a:pPr>
              <a:spcAft>
                <a:spcPts val="300"/>
              </a:spcAft>
              <a:defRPr sz="900" b="1">
                <a:solidFill>
                  <a:srgbClr val="0A2373"/>
                </a:solidFill>
                <a:latin typeface="Lato"/>
              </a:defRPr>
            </a:pPr>
            <a:r>
              <a:t>4.28</a:t>
            </a:r>
          </a:p>
        </p:txBody>
      </p:sp>
      <p:sp>
        <p:nvSpPr>
          <p:cNvPr id="554" name="TextBox 553"/>
          <p:cNvSpPr txBox="1"/>
          <p:nvPr/>
        </p:nvSpPr>
        <p:spPr>
          <a:xfrm>
            <a:off x="4417727" y="2601143"/>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LP</a:t>
            </a:r>
          </a:p>
          <a:p>
            <a:pPr>
              <a:spcAft>
                <a:spcPts val="300"/>
              </a:spcAft>
              <a:defRPr sz="900" b="1">
                <a:solidFill>
                  <a:srgbClr val="0A2373"/>
                </a:solidFill>
                <a:latin typeface="Lato"/>
              </a:defRPr>
            </a:pPr>
            <a:r>
              <a:t>0.50</a:t>
            </a:r>
          </a:p>
        </p:txBody>
      </p:sp>
      <p:sp>
        <p:nvSpPr>
          <p:cNvPr id="555" name="TextBox 554"/>
          <p:cNvSpPr txBox="1"/>
          <p:nvPr/>
        </p:nvSpPr>
        <p:spPr>
          <a:xfrm>
            <a:off x="4643472" y="3134231"/>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MP</a:t>
            </a:r>
          </a:p>
          <a:p>
            <a:pPr>
              <a:spcAft>
                <a:spcPts val="300"/>
              </a:spcAft>
              <a:defRPr sz="900" b="1">
                <a:solidFill>
                  <a:srgbClr val="0A2373"/>
                </a:solidFill>
                <a:latin typeface="Lato"/>
              </a:defRPr>
            </a:pPr>
            <a:r>
              <a:t>1.76</a:t>
            </a:r>
          </a:p>
        </p:txBody>
      </p:sp>
      <p:sp>
        <p:nvSpPr>
          <p:cNvPr id="556" name="TextBox 555"/>
          <p:cNvSpPr txBox="1"/>
          <p:nvPr/>
        </p:nvSpPr>
        <p:spPr>
          <a:xfrm>
            <a:off x="3637071" y="3249390"/>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NW</a:t>
            </a:r>
          </a:p>
          <a:p>
            <a:pPr>
              <a:spcAft>
                <a:spcPts val="300"/>
              </a:spcAft>
              <a:defRPr sz="900" b="1">
                <a:solidFill>
                  <a:srgbClr val="0A2373"/>
                </a:solidFill>
                <a:latin typeface="Lato"/>
              </a:defRPr>
            </a:pPr>
            <a:r>
              <a:t>1.07</a:t>
            </a:r>
          </a:p>
        </p:txBody>
      </p:sp>
      <p:sp>
        <p:nvSpPr>
          <p:cNvPr id="557" name="TextBox 556"/>
          <p:cNvSpPr txBox="1"/>
          <p:nvPr/>
        </p:nvSpPr>
        <p:spPr>
          <a:xfrm>
            <a:off x="2660447" y="4116476"/>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NC</a:t>
            </a:r>
          </a:p>
          <a:p>
            <a:pPr>
              <a:spcAft>
                <a:spcPts val="300"/>
              </a:spcAft>
              <a:defRPr sz="900" b="1">
                <a:solidFill>
                  <a:srgbClr val="0A2373"/>
                </a:solidFill>
                <a:latin typeface="Lato"/>
              </a:defRPr>
            </a:pPr>
            <a:r>
              <a:t>0.45</a:t>
            </a:r>
          </a:p>
        </p:txBody>
      </p:sp>
      <p:sp>
        <p:nvSpPr>
          <p:cNvPr id="558" name="TextBox 557"/>
          <p:cNvSpPr txBox="1"/>
          <p:nvPr/>
        </p:nvSpPr>
        <p:spPr>
          <a:xfrm>
            <a:off x="2480876" y="4941829"/>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WC</a:t>
            </a:r>
          </a:p>
          <a:p>
            <a:pPr>
              <a:spcAft>
                <a:spcPts val="300"/>
              </a:spcAft>
              <a:defRPr sz="900" b="1">
                <a:solidFill>
                  <a:srgbClr val="0A2373"/>
                </a:solidFill>
                <a:latin typeface="Lato"/>
              </a:defRPr>
            </a:pPr>
            <a:r>
              <a:t>3.93</a:t>
            </a:r>
          </a:p>
        </p:txBody>
      </p:sp>
      <p:sp>
        <p:nvSpPr>
          <p:cNvPr id="559" name="Rectangle 558"/>
          <p:cNvSpPr/>
          <p:nvPr/>
        </p:nvSpPr>
        <p:spPr>
          <a:xfrm>
            <a:off x="507492" y="5939028"/>
            <a:ext cx="100584" cy="100584"/>
          </a:xfrm>
          <a:prstGeom prst="rect">
            <a:avLst/>
          </a:prstGeom>
          <a:solidFill>
            <a:srgbClr val="E3EBF6"/>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TextBox 559"/>
          <p:cNvSpPr txBox="1"/>
          <p:nvPr/>
        </p:nvSpPr>
        <p:spPr>
          <a:xfrm>
            <a:off x="685800"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&lt;1</a:t>
            </a:r>
          </a:p>
        </p:txBody>
      </p:sp>
      <p:sp>
        <p:nvSpPr>
          <p:cNvPr id="561" name="Rectangle 560"/>
          <p:cNvSpPr/>
          <p:nvPr/>
        </p:nvSpPr>
        <p:spPr>
          <a:xfrm>
            <a:off x="1367028" y="5939028"/>
            <a:ext cx="100584" cy="100584"/>
          </a:xfrm>
          <a:prstGeom prst="rect">
            <a:avLst/>
          </a:prstGeom>
          <a:solidFill>
            <a:srgbClr val="BACCE4"/>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2" name="TextBox 561"/>
          <p:cNvSpPr txBox="1"/>
          <p:nvPr/>
        </p:nvSpPr>
        <p:spPr>
          <a:xfrm>
            <a:off x="1545336"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1-2</a:t>
            </a:r>
          </a:p>
        </p:txBody>
      </p:sp>
      <p:sp>
        <p:nvSpPr>
          <p:cNvPr id="563" name="Rectangle 562"/>
          <p:cNvSpPr/>
          <p:nvPr/>
        </p:nvSpPr>
        <p:spPr>
          <a:xfrm>
            <a:off x="2226563" y="5939028"/>
            <a:ext cx="100584" cy="100584"/>
          </a:xfrm>
          <a:prstGeom prst="rect">
            <a:avLst/>
          </a:prstGeom>
          <a:solidFill>
            <a:srgbClr val="809CC7"/>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4" name="TextBox 563"/>
          <p:cNvSpPr txBox="1"/>
          <p:nvPr/>
        </p:nvSpPr>
        <p:spPr>
          <a:xfrm>
            <a:off x="2404872"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2-4</a:t>
            </a:r>
          </a:p>
        </p:txBody>
      </p:sp>
      <p:sp>
        <p:nvSpPr>
          <p:cNvPr id="565" name="Rectangle 564"/>
          <p:cNvSpPr/>
          <p:nvPr/>
        </p:nvSpPr>
        <p:spPr>
          <a:xfrm>
            <a:off x="3086100" y="5939028"/>
            <a:ext cx="100584" cy="100584"/>
          </a:xfrm>
          <a:prstGeom prst="rect">
            <a:avLst/>
          </a:prstGeom>
          <a:solidFill>
            <a:srgbClr val="3D619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6" name="TextBox 565"/>
          <p:cNvSpPr txBox="1"/>
          <p:nvPr/>
        </p:nvSpPr>
        <p:spPr>
          <a:xfrm>
            <a:off x="3264408"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4-6</a:t>
            </a:r>
          </a:p>
        </p:txBody>
      </p:sp>
      <p:sp>
        <p:nvSpPr>
          <p:cNvPr id="567" name="Rectangle 566"/>
          <p:cNvSpPr/>
          <p:nvPr/>
        </p:nvSpPr>
        <p:spPr>
          <a:xfrm>
            <a:off x="3945635" y="5939028"/>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8" name="TextBox 567"/>
          <p:cNvSpPr txBox="1"/>
          <p:nvPr/>
        </p:nvSpPr>
        <p:spPr>
          <a:xfrm>
            <a:off x="4123944"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6+</a:t>
            </a:r>
          </a:p>
        </p:txBody>
      </p:sp>
      <p:sp>
        <p:nvSpPr>
          <p:cNvPr id="569" name="TextBox 568"/>
          <p:cNvSpPr txBox="1"/>
          <p:nvPr/>
        </p:nvSpPr>
        <p:spPr>
          <a:xfrm>
            <a:off x="4773168" y="5897880"/>
            <a:ext cx="2112264"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bn L/year; darker = more sales</a:t>
            </a:r>
          </a:p>
        </p:txBody>
      </p:sp>
      <p:sp>
        <p:nvSpPr>
          <p:cNvPr id="570" name="Oval 569"/>
          <p:cNvSpPr/>
          <p:nvPr/>
        </p:nvSpPr>
        <p:spPr>
          <a:xfrm>
            <a:off x="507492" y="619506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1" name="TextBox 570"/>
          <p:cNvSpPr txBox="1"/>
          <p:nvPr/>
        </p:nvSpPr>
        <p:spPr>
          <a:xfrm>
            <a:off x="64008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Production</a:t>
            </a:r>
          </a:p>
        </p:txBody>
      </p:sp>
      <p:sp>
        <p:nvSpPr>
          <p:cNvPr id="572" name="Rectangle 571"/>
          <p:cNvSpPr/>
          <p:nvPr/>
        </p:nvSpPr>
        <p:spPr>
          <a:xfrm>
            <a:off x="1677924" y="6195060"/>
            <a:ext cx="82296" cy="82296"/>
          </a:xfrm>
          <a:prstGeom prst="rect">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3" name="TextBox 572"/>
          <p:cNvSpPr txBox="1"/>
          <p:nvPr/>
        </p:nvSpPr>
        <p:spPr>
          <a:xfrm>
            <a:off x="1810512"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Port</a:t>
            </a:r>
          </a:p>
        </p:txBody>
      </p:sp>
      <p:sp>
        <p:nvSpPr>
          <p:cNvPr id="574" name="Diamond 573"/>
          <p:cNvSpPr/>
          <p:nvPr/>
        </p:nvSpPr>
        <p:spPr>
          <a:xfrm>
            <a:off x="2382012" y="6195060"/>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5" name="TextBox 574"/>
          <p:cNvSpPr txBox="1"/>
          <p:nvPr/>
        </p:nvSpPr>
        <p:spPr>
          <a:xfrm>
            <a:off x="251460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Vopak</a:t>
            </a:r>
          </a:p>
        </p:txBody>
      </p:sp>
      <p:sp>
        <p:nvSpPr>
          <p:cNvPr id="576" name="Hexagon 575"/>
          <p:cNvSpPr/>
          <p:nvPr/>
        </p:nvSpPr>
        <p:spPr>
          <a:xfrm>
            <a:off x="3204972" y="6195060"/>
            <a:ext cx="82296" cy="82296"/>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7" name="TextBox 576"/>
          <p:cNvSpPr txBox="1"/>
          <p:nvPr/>
        </p:nvSpPr>
        <p:spPr>
          <a:xfrm>
            <a:off x="333756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Other storage</a:t>
            </a:r>
          </a:p>
        </p:txBody>
      </p:sp>
      <p:sp>
        <p:nvSpPr>
          <p:cNvPr id="578" name="TextBox 577"/>
          <p:cNvSpPr txBox="1"/>
          <p:nvPr/>
        </p:nvSpPr>
        <p:spPr>
          <a:xfrm>
            <a:off x="4489704" y="6144768"/>
            <a:ext cx="2432304" cy="237744"/>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Lines: road / pipe / rail; heavy outlines: working regions</a:t>
            </a:r>
          </a:p>
        </p:txBody>
      </p:sp>
      <p:sp>
        <p:nvSpPr>
          <p:cNvPr id="579" name="TextBox 578"/>
          <p:cNvSpPr txBox="1"/>
          <p:nvPr/>
        </p:nvSpPr>
        <p:spPr>
          <a:xfrm>
            <a:off x="457200" y="6391656"/>
            <a:ext cx="649224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Lease offers are not operating capacity. *Magdala RFP location narrative conflicts; briefing coordinate used. Jet excluded.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Track petrol and diesel sales by province over time</a:t>
            </a:r>
          </a:p>
        </p:txBody>
      </p:sp>
      <p:sp>
        <p:nvSpPr>
          <p:cNvPr id="3" name="Slide Number Placeholder"/>
          <p:cNvSpPr>
            <a:spLocks noGrp="1"/>
          </p:cNvSpPr>
          <p:nvPr>
            <p:ph type="sldNum" sz="quarter" idx="12"/>
          </p:nvPr>
        </p:nvSpPr>
        <p:spPr/>
        <p:txBody>
          <a:bodyPr/>
          <a:lstStyle/>
          <a:p>
            <a:fld id="{6D212AE2-7A55-456D-82A9-59016ACE1496}"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quarterly provincial sales extract; complete calendar years only. Petrol + diesel; jet excluded.</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t>Annual provincial sales | 2013–2022,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800" b="1">
                <a:solidFill>
                  <a:srgbClr val="000000"/>
                </a:solidFill>
                <a:latin typeface="Lato"/>
              </a:defRPr>
            </a:pPr>
            <a:r>
              <a:t>Key takeaways</a:t>
            </a:r>
          </a:p>
        </p:txBody>
      </p: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424927" y="218541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One line per province</a:t>
            </a:r>
          </a:p>
        </p:txBody>
      </p:sp>
      <p:sp>
        <p:nvSpPr>
          <p:cNvPr id="15" name="TextBox 14"/>
          <p:cNvSpPr txBox="1"/>
          <p:nvPr/>
        </p:nvSpPr>
        <p:spPr>
          <a:xfrm>
            <a:off x="7424927" y="257860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Compare provincial demand histories on one shared scale. Petrol and diesel are combined; jet is excluded.</a:t>
            </a:r>
          </a:p>
        </p:txBody>
      </p:sp>
      <p:sp>
        <p:nvSpPr>
          <p:cNvPr id="16" name="TextBox 15"/>
          <p:cNvSpPr txBox="1"/>
          <p:nvPr/>
        </p:nvSpPr>
        <p:spPr>
          <a:xfrm>
            <a:off x="7424927" y="319125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Keep history separate from outlook</a:t>
            </a:r>
          </a:p>
        </p:txBody>
      </p:sp>
      <p:sp>
        <p:nvSpPr>
          <p:cNvPr id="17" name="TextBox 16"/>
          <p:cNvSpPr txBox="1"/>
          <p:nvPr/>
        </p:nvSpPr>
        <p:spPr>
          <a:xfrm>
            <a:off x="7424927" y="358444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latest complete year in this extract is 2022. These lines are reported sales, not a current-year forecast.</a:t>
            </a:r>
          </a:p>
        </p:txBody>
      </p:sp>
      <p:sp>
        <p:nvSpPr>
          <p:cNvPr id="18" name="TextBox 17"/>
          <p:cNvSpPr txBox="1"/>
          <p:nvPr/>
        </p:nvSpPr>
        <p:spPr>
          <a:xfrm>
            <a:off x="7424927" y="419709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Incomplete periods are excluded</a:t>
            </a:r>
          </a:p>
        </p:txBody>
      </p:sp>
      <p:sp>
        <p:nvSpPr>
          <p:cNvPr id="19" name="TextBox 18"/>
          <p:cNvSpPr txBox="1"/>
          <p:nvPr/>
        </p:nvSpPr>
        <p:spPr>
          <a:xfrm>
            <a:off x="7424927" y="459028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2023 contains Q1 only. A partial year must not appear as a full-year demand collapse.</a:t>
            </a:r>
          </a:p>
        </p:txBody>
      </p:sp>
      <p:sp>
        <p:nvSpPr>
          <p:cNvPr id="20" name="TextBox 19"/>
          <p:cNvSpPr txBox="1"/>
          <p:nvPr/>
        </p:nvSpPr>
        <p:spPr>
          <a:xfrm>
            <a:off x="7424927" y="520293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04 · Historical totals need reconciliation</a:t>
            </a:r>
          </a:p>
        </p:txBody>
      </p:sp>
      <p:sp>
        <p:nvSpPr>
          <p:cNvPr id="21" name="TextBox 20"/>
          <p:cNvSpPr txBox="1"/>
          <p:nvPr/>
        </p:nvSpPr>
        <p:spPr>
          <a:xfrm>
            <a:off x="7424927" y="559612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Provincial and national series differ in 6 years. Largest gaps: 2013 +0.54 and 2018 -0.43 bn litres. Review the source workbooks.</a:t>
            </a:r>
          </a:p>
        </p:txBody>
      </p:sp>
      <p:graphicFrame>
        <p:nvGraphicFramePr>
          <p:cNvPr id="22" name="Chart 21"/>
          <p:cNvGraphicFramePr>
            <a:graphicFrameLocks noGrp="1"/>
          </p:cNvGraphicFramePr>
          <p:nvPr/>
        </p:nvGraphicFramePr>
        <p:xfrm>
          <a:off x="457200" y="2167128"/>
          <a:ext cx="6446520" cy="3593592"/>
        </p:xfrm>
        <a:graphic>
          <a:graphicData uri="http://schemas.openxmlformats.org/drawingml/2006/chart">
            <c:chart xmlns:c="http://schemas.openxmlformats.org/drawingml/2006/chart" r:id="rId3"/>
          </a:graphicData>
        </a:graphic>
      </p:graphicFrame>
      <p:cxnSp>
        <p:nvCxnSpPr>
          <p:cNvPr id="23" name="Connector 22"/>
          <p:cNvCxnSpPr/>
          <p:nvPr/>
        </p:nvCxnSpPr>
        <p:spPr>
          <a:xfrm>
            <a:off x="502920" y="5879592"/>
            <a:ext cx="246888" cy="0"/>
          </a:xfrm>
          <a:prstGeom prst="line">
            <a:avLst/>
          </a:prstGeom>
          <a:ln w="21590">
            <a:solidFill>
              <a:srgbClr val="0A2373"/>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13816" y="5815584"/>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Gauteng</a:t>
            </a:r>
          </a:p>
        </p:txBody>
      </p:sp>
      <p:cxnSp>
        <p:nvCxnSpPr>
          <p:cNvPr id="25" name="Connector 24"/>
          <p:cNvCxnSpPr/>
          <p:nvPr/>
        </p:nvCxnSpPr>
        <p:spPr>
          <a:xfrm>
            <a:off x="2606039" y="5879592"/>
            <a:ext cx="246888" cy="0"/>
          </a:xfrm>
          <a:prstGeom prst="line">
            <a:avLst/>
          </a:prstGeom>
          <a:ln w="21590">
            <a:solidFill>
              <a:srgbClr val="546CA2"/>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916935" y="5815584"/>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KwaZulu-Natal</a:t>
            </a:r>
          </a:p>
        </p:txBody>
      </p:sp>
      <p:cxnSp>
        <p:nvCxnSpPr>
          <p:cNvPr id="27" name="Connector 26"/>
          <p:cNvCxnSpPr/>
          <p:nvPr/>
        </p:nvCxnSpPr>
        <p:spPr>
          <a:xfrm>
            <a:off x="4709159" y="5879592"/>
            <a:ext cx="246889" cy="0"/>
          </a:xfrm>
          <a:prstGeom prst="line">
            <a:avLst/>
          </a:prstGeom>
          <a:ln w="21590">
            <a:solidFill>
              <a:srgbClr val="40404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020055" y="5815584"/>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Western Cape</a:t>
            </a:r>
          </a:p>
        </p:txBody>
      </p:sp>
      <p:cxnSp>
        <p:nvCxnSpPr>
          <p:cNvPr id="29" name="Connector 28"/>
          <p:cNvCxnSpPr/>
          <p:nvPr/>
        </p:nvCxnSpPr>
        <p:spPr>
          <a:xfrm>
            <a:off x="502920" y="6117336"/>
            <a:ext cx="246888" cy="0"/>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13816" y="6053328"/>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Mpumalanga</a:t>
            </a:r>
          </a:p>
        </p:txBody>
      </p:sp>
      <p:cxnSp>
        <p:nvCxnSpPr>
          <p:cNvPr id="31" name="Connector 30"/>
          <p:cNvCxnSpPr/>
          <p:nvPr/>
        </p:nvCxnSpPr>
        <p:spPr>
          <a:xfrm>
            <a:off x="2606039" y="6117336"/>
            <a:ext cx="246888" cy="0"/>
          </a:xfrm>
          <a:prstGeom prst="line">
            <a:avLst/>
          </a:prstGeom>
          <a:ln w="21590">
            <a:solidFill>
              <a:srgbClr val="767676"/>
            </a:solidFill>
            <a:prstDash val="dash"/>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2916935" y="6053328"/>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Eastern Cape</a:t>
            </a:r>
          </a:p>
        </p:txBody>
      </p:sp>
      <p:cxnSp>
        <p:nvCxnSpPr>
          <p:cNvPr id="33" name="Connector 32"/>
          <p:cNvCxnSpPr/>
          <p:nvPr/>
        </p:nvCxnSpPr>
        <p:spPr>
          <a:xfrm>
            <a:off x="4709159" y="6117336"/>
            <a:ext cx="246889" cy="0"/>
          </a:xfrm>
          <a:prstGeom prst="line">
            <a:avLst/>
          </a:prstGeom>
          <a:ln w="21590">
            <a:solidFill>
              <a:srgbClr val="0A2373"/>
            </a:solidFill>
            <a:prstDash val="sysDot"/>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020055" y="6053328"/>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Free State</a:t>
            </a:r>
          </a:p>
        </p:txBody>
      </p:sp>
      <p:cxnSp>
        <p:nvCxnSpPr>
          <p:cNvPr id="35" name="Connector 34"/>
          <p:cNvCxnSpPr/>
          <p:nvPr/>
        </p:nvCxnSpPr>
        <p:spPr>
          <a:xfrm>
            <a:off x="502920" y="6355080"/>
            <a:ext cx="246888" cy="0"/>
          </a:xfrm>
          <a:prstGeom prst="line">
            <a:avLst/>
          </a:prstGeom>
          <a:ln w="21590">
            <a:solidFill>
              <a:srgbClr val="404040"/>
            </a:solidFill>
            <a:prstDash val="dashDot"/>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13816" y="6291072"/>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 West</a:t>
            </a:r>
          </a:p>
        </p:txBody>
      </p:sp>
      <p:cxnSp>
        <p:nvCxnSpPr>
          <p:cNvPr id="37" name="Connector 36"/>
          <p:cNvCxnSpPr/>
          <p:nvPr/>
        </p:nvCxnSpPr>
        <p:spPr>
          <a:xfrm>
            <a:off x="2606039" y="6355080"/>
            <a:ext cx="246888" cy="0"/>
          </a:xfrm>
          <a:prstGeom prst="line">
            <a:avLst/>
          </a:prstGeom>
          <a:ln w="21590">
            <a:solidFill>
              <a:srgbClr val="767676"/>
            </a:solidFill>
            <a:prstDash val="sysDot"/>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2916935" y="6291072"/>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Limpopo</a:t>
            </a:r>
          </a:p>
        </p:txBody>
      </p:sp>
      <p:cxnSp>
        <p:nvCxnSpPr>
          <p:cNvPr id="39" name="Connector 38"/>
          <p:cNvCxnSpPr/>
          <p:nvPr/>
        </p:nvCxnSpPr>
        <p:spPr>
          <a:xfrm>
            <a:off x="4709159" y="6355080"/>
            <a:ext cx="246889" cy="0"/>
          </a:xfrm>
          <a:prstGeom prst="line">
            <a:avLst/>
          </a:prstGeom>
          <a:ln w="21590">
            <a:solidFill>
              <a:srgbClr val="BDBEC1"/>
            </a:solidFill>
            <a:prstDash val="lgDash"/>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020055" y="6291072"/>
            <a:ext cx="178308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Northern Cape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Shape the provincial split between domestic fuel and imports</a:t>
            </a:r>
          </a:p>
        </p:txBody>
      </p:sp>
      <p:sp>
        <p:nvSpPr>
          <p:cNvPr id="3" name="Slide Number Placeholder"/>
          <p:cNvSpPr>
            <a:spLocks noGrp="1"/>
          </p:cNvSpPr>
          <p:nvPr>
            <p:ph type="sldNum" sz="quarter" idx="12"/>
          </p:nvPr>
        </p:nvSpPr>
        <p:spPr/>
        <p:txBody>
          <a:bodyPr/>
          <a:lstStyle/>
          <a:p>
            <a:fld id="{1CCD98D8-C01B-49DD-9A00-8D2D90D09FC4}"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provincial sales totals; source mix from the existing illustrative national-balance CSV. Not observed origin.</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t>2022 sales totals | ILLUSTRATIVE domestic/import allocation</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800" b="1">
                <a:solidFill>
                  <a:srgbClr val="000000"/>
                </a:solidFill>
                <a:latin typeface="Lato"/>
              </a:defRPr>
            </a:pPr>
            <a:r>
              <a:t>Key takeaways</a:t>
            </a:r>
          </a:p>
        </p:txBody>
      </p: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424927" y="218541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Demand totals are reported sales</a:t>
            </a:r>
          </a:p>
        </p:txBody>
      </p:sp>
      <p:sp>
        <p:nvSpPr>
          <p:cNvPr id="15" name="TextBox 14"/>
          <p:cNvSpPr txBox="1"/>
          <p:nvPr/>
        </p:nvSpPr>
        <p:spPr>
          <a:xfrm>
            <a:off x="7424927" y="257860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Each complete bar matches its province’s reported petrol + diesel sales in 2022. The source split is illustrative.</a:t>
            </a:r>
          </a:p>
        </p:txBody>
      </p:sp>
      <p:sp>
        <p:nvSpPr>
          <p:cNvPr id="16" name="TextBox 15"/>
          <p:cNvSpPr txBox="1"/>
          <p:nvPr/>
        </p:nvSpPr>
        <p:spPr>
          <a:xfrm>
            <a:off x="7424927" y="319125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Allocate by product, then aggregate</a:t>
            </a:r>
          </a:p>
        </p:txBody>
      </p:sp>
      <p:sp>
        <p:nvSpPr>
          <p:cNvPr id="17" name="TextBox 16"/>
          <p:cNvSpPr txBox="1"/>
          <p:nvPr/>
        </p:nvSpPr>
        <p:spPr>
          <a:xfrm>
            <a:off x="7424927" y="358444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Use the existing example domestic shares separately for petrol and diesel. Provinces differ because their fuel mix differs.</a:t>
            </a:r>
          </a:p>
        </p:txBody>
      </p:sp>
      <p:sp>
        <p:nvSpPr>
          <p:cNvPr id="18" name="TextBox 17"/>
          <p:cNvSpPr txBox="1"/>
          <p:nvPr/>
        </p:nvSpPr>
        <p:spPr>
          <a:xfrm>
            <a:off x="7424927" y="419709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Provincial origins remain unverified</a:t>
            </a:r>
          </a:p>
        </p:txBody>
      </p:sp>
      <p:sp>
        <p:nvSpPr>
          <p:cNvPr id="19" name="TextBox 18"/>
          <p:cNvSpPr txBox="1"/>
          <p:nvPr/>
        </p:nvSpPr>
        <p:spPr>
          <a:xfrm>
            <a:off x="7424927" y="459028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National production/imports do not tell us which province received each litre. Obtain refinery, port and onward customer flows.</a:t>
            </a:r>
          </a:p>
        </p:txBody>
      </p:sp>
      <p:sp>
        <p:nvSpPr>
          <p:cNvPr id="20" name="TextBox 19"/>
          <p:cNvSpPr txBox="1"/>
          <p:nvPr/>
        </p:nvSpPr>
        <p:spPr>
          <a:xfrm>
            <a:off x="7424927" y="520293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04 · Refined fuel origin is the distinction</a:t>
            </a:r>
          </a:p>
        </p:txBody>
      </p:sp>
      <p:sp>
        <p:nvSpPr>
          <p:cNvPr id="21" name="TextBox 20"/>
          <p:cNvSpPr txBox="1"/>
          <p:nvPr/>
        </p:nvSpPr>
        <p:spPr>
          <a:xfrm>
            <a:off x="7424927" y="559612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Locally refined fuel counts as domestic, including output made from imported crude. Imports here mean finished petrol/diesel.</a:t>
            </a:r>
          </a:p>
        </p:txBody>
      </p:sp>
      <p:cxnSp>
        <p:nvCxnSpPr>
          <p:cNvPr id="22" name="Connector 21"/>
          <p:cNvCxnSpPr/>
          <p:nvPr/>
        </p:nvCxnSpPr>
        <p:spPr>
          <a:xfrm>
            <a:off x="187451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792223"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4" name="Connector 23"/>
          <p:cNvCxnSpPr/>
          <p:nvPr/>
        </p:nvCxnSpPr>
        <p:spPr>
          <a:xfrm>
            <a:off x="2971800"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288950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2</a:t>
            </a:r>
          </a:p>
        </p:txBody>
      </p:sp>
      <p:cxnSp>
        <p:nvCxnSpPr>
          <p:cNvPr id="26" name="Connector 25"/>
          <p:cNvCxnSpPr/>
          <p:nvPr/>
        </p:nvCxnSpPr>
        <p:spPr>
          <a:xfrm>
            <a:off x="406907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986783"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a:t>
            </a:r>
          </a:p>
        </p:txBody>
      </p:sp>
      <p:cxnSp>
        <p:nvCxnSpPr>
          <p:cNvPr id="28" name="Connector 27"/>
          <p:cNvCxnSpPr/>
          <p:nvPr/>
        </p:nvCxnSpPr>
        <p:spPr>
          <a:xfrm>
            <a:off x="516635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08406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6</a:t>
            </a:r>
          </a:p>
        </p:txBody>
      </p:sp>
      <p:cxnSp>
        <p:nvCxnSpPr>
          <p:cNvPr id="30" name="Connector 29"/>
          <p:cNvCxnSpPr/>
          <p:nvPr/>
        </p:nvCxnSpPr>
        <p:spPr>
          <a:xfrm>
            <a:off x="6263640"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181344" y="2212848"/>
            <a:ext cx="365760"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a:t>
            </a:r>
          </a:p>
        </p:txBody>
      </p:sp>
      <p:sp>
        <p:nvSpPr>
          <p:cNvPr id="32" name="TextBox 31"/>
          <p:cNvSpPr txBox="1"/>
          <p:nvPr/>
        </p:nvSpPr>
        <p:spPr>
          <a:xfrm>
            <a:off x="457200" y="2606039"/>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Gauteng</a:t>
            </a:r>
          </a:p>
        </p:txBody>
      </p:sp>
      <p:sp>
        <p:nvSpPr>
          <p:cNvPr id="33" name="Rectangle 32"/>
          <p:cNvSpPr/>
          <p:nvPr/>
        </p:nvSpPr>
        <p:spPr>
          <a:xfrm>
            <a:off x="1874519" y="2596896"/>
            <a:ext cx="1310608"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185128" y="2596896"/>
            <a:ext cx="242531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74454" y="259689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6.81</a:t>
            </a:r>
          </a:p>
        </p:txBody>
      </p:sp>
      <p:sp>
        <p:nvSpPr>
          <p:cNvPr id="36" name="TextBox 35"/>
          <p:cNvSpPr txBox="1"/>
          <p:nvPr/>
        </p:nvSpPr>
        <p:spPr>
          <a:xfrm>
            <a:off x="457200" y="2916935"/>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KwaZulu-Natal</a:t>
            </a:r>
          </a:p>
        </p:txBody>
      </p:sp>
      <p:sp>
        <p:nvSpPr>
          <p:cNvPr id="37" name="Rectangle 36"/>
          <p:cNvSpPr/>
          <p:nvPr/>
        </p:nvSpPr>
        <p:spPr>
          <a:xfrm>
            <a:off x="1874519" y="2907791"/>
            <a:ext cx="747567"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622087" y="2907791"/>
            <a:ext cx="1603076"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289172" y="2907791"/>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4.28</a:t>
            </a:r>
          </a:p>
        </p:txBody>
      </p:sp>
      <p:sp>
        <p:nvSpPr>
          <p:cNvPr id="40" name="TextBox 39"/>
          <p:cNvSpPr txBox="1"/>
          <p:nvPr/>
        </p:nvSpPr>
        <p:spPr>
          <a:xfrm>
            <a:off x="457200" y="3227832"/>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Western Cape</a:t>
            </a:r>
          </a:p>
        </p:txBody>
      </p:sp>
      <p:sp>
        <p:nvSpPr>
          <p:cNvPr id="41" name="Rectangle 40"/>
          <p:cNvSpPr/>
          <p:nvPr/>
        </p:nvSpPr>
        <p:spPr>
          <a:xfrm>
            <a:off x="1874519" y="3218688"/>
            <a:ext cx="691804"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566324" y="3218688"/>
            <a:ext cx="1464775"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095108" y="321868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3.93</a:t>
            </a:r>
          </a:p>
        </p:txBody>
      </p:sp>
      <p:sp>
        <p:nvSpPr>
          <p:cNvPr id="44" name="TextBox 43"/>
          <p:cNvSpPr txBox="1"/>
          <p:nvPr/>
        </p:nvSpPr>
        <p:spPr>
          <a:xfrm>
            <a:off x="457200" y="3538727"/>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Mpumalanga</a:t>
            </a:r>
          </a:p>
        </p:txBody>
      </p:sp>
      <p:sp>
        <p:nvSpPr>
          <p:cNvPr id="45" name="Rectangle 44"/>
          <p:cNvSpPr/>
          <p:nvPr/>
        </p:nvSpPr>
        <p:spPr>
          <a:xfrm>
            <a:off x="1874519" y="3529584"/>
            <a:ext cx="306332"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180852" y="3529584"/>
            <a:ext cx="65773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902592" y="352958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1.76</a:t>
            </a:r>
          </a:p>
        </p:txBody>
      </p:sp>
      <p:sp>
        <p:nvSpPr>
          <p:cNvPr id="48" name="TextBox 47"/>
          <p:cNvSpPr txBox="1"/>
          <p:nvPr/>
        </p:nvSpPr>
        <p:spPr>
          <a:xfrm>
            <a:off x="457200" y="3849624"/>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Eastern Cape</a:t>
            </a:r>
          </a:p>
        </p:txBody>
      </p:sp>
      <p:sp>
        <p:nvSpPr>
          <p:cNvPr id="49" name="Rectangle 48"/>
          <p:cNvSpPr/>
          <p:nvPr/>
        </p:nvSpPr>
        <p:spPr>
          <a:xfrm>
            <a:off x="1874519" y="3840480"/>
            <a:ext cx="313049"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187569" y="3840480"/>
            <a:ext cx="63910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890684" y="3840480"/>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1.74</a:t>
            </a:r>
          </a:p>
        </p:txBody>
      </p:sp>
      <p:sp>
        <p:nvSpPr>
          <p:cNvPr id="52" name="TextBox 51"/>
          <p:cNvSpPr txBox="1"/>
          <p:nvPr/>
        </p:nvSpPr>
        <p:spPr>
          <a:xfrm>
            <a:off x="457200" y="4160520"/>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Free State</a:t>
            </a:r>
          </a:p>
        </p:txBody>
      </p:sp>
      <p:sp>
        <p:nvSpPr>
          <p:cNvPr id="53" name="Rectangle 52"/>
          <p:cNvSpPr/>
          <p:nvPr/>
        </p:nvSpPr>
        <p:spPr>
          <a:xfrm>
            <a:off x="1874519" y="4151376"/>
            <a:ext cx="250485"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2125005" y="4151376"/>
            <a:ext cx="50077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689791" y="415137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1.37</a:t>
            </a:r>
          </a:p>
        </p:txBody>
      </p:sp>
      <p:sp>
        <p:nvSpPr>
          <p:cNvPr id="56" name="TextBox 55"/>
          <p:cNvSpPr txBox="1"/>
          <p:nvPr/>
        </p:nvSpPr>
        <p:spPr>
          <a:xfrm>
            <a:off x="457200" y="4471416"/>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North West</a:t>
            </a:r>
          </a:p>
        </p:txBody>
      </p:sp>
      <p:sp>
        <p:nvSpPr>
          <p:cNvPr id="57" name="Rectangle 56"/>
          <p:cNvSpPr/>
          <p:nvPr/>
        </p:nvSpPr>
        <p:spPr>
          <a:xfrm>
            <a:off x="1874519" y="4462272"/>
            <a:ext cx="194304"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2068824" y="4462272"/>
            <a:ext cx="391677"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524509" y="4462272"/>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1.07</a:t>
            </a:r>
          </a:p>
        </p:txBody>
      </p:sp>
      <p:sp>
        <p:nvSpPr>
          <p:cNvPr id="60" name="TextBox 59"/>
          <p:cNvSpPr txBox="1"/>
          <p:nvPr/>
        </p:nvSpPr>
        <p:spPr>
          <a:xfrm>
            <a:off x="457200" y="4782312"/>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Limpopo</a:t>
            </a:r>
          </a:p>
        </p:txBody>
      </p:sp>
      <p:sp>
        <p:nvSpPr>
          <p:cNvPr id="61" name="Rectangle 60"/>
          <p:cNvSpPr/>
          <p:nvPr/>
        </p:nvSpPr>
        <p:spPr>
          <a:xfrm>
            <a:off x="1874519" y="4773168"/>
            <a:ext cx="97173"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971693" y="4773168"/>
            <a:ext cx="174750"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210451" y="477316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0.50</a:t>
            </a:r>
          </a:p>
        </p:txBody>
      </p:sp>
      <p:sp>
        <p:nvSpPr>
          <p:cNvPr id="64" name="TextBox 63"/>
          <p:cNvSpPr txBox="1"/>
          <p:nvPr/>
        </p:nvSpPr>
        <p:spPr>
          <a:xfrm>
            <a:off x="457200" y="5093208"/>
            <a:ext cx="138988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Northern Cape</a:t>
            </a:r>
          </a:p>
        </p:txBody>
      </p:sp>
      <p:sp>
        <p:nvSpPr>
          <p:cNvPr id="65" name="Rectangle 64"/>
          <p:cNvSpPr/>
          <p:nvPr/>
        </p:nvSpPr>
        <p:spPr>
          <a:xfrm>
            <a:off x="1874519" y="5084064"/>
            <a:ext cx="7262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1947140" y="5084064"/>
            <a:ext cx="175260"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186409" y="508406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0.45</a:t>
            </a:r>
          </a:p>
        </p:txBody>
      </p:sp>
      <p:sp>
        <p:nvSpPr>
          <p:cNvPr id="68" name="Rectangle 67"/>
          <p:cNvSpPr/>
          <p:nvPr/>
        </p:nvSpPr>
        <p:spPr>
          <a:xfrm>
            <a:off x="457200" y="5715000"/>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21792" y="5669280"/>
            <a:ext cx="3200400" cy="24688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Illustrative domestic fuel</a:t>
            </a:r>
          </a:p>
        </p:txBody>
      </p:sp>
      <p:sp>
        <p:nvSpPr>
          <p:cNvPr id="70" name="Rectangle 69"/>
          <p:cNvSpPr/>
          <p:nvPr/>
        </p:nvSpPr>
        <p:spPr>
          <a:xfrm>
            <a:off x="3246120" y="5715000"/>
            <a:ext cx="109728" cy="10972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410712" y="5669280"/>
            <a:ext cx="3200400" cy="246888"/>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Illustrative finished-product imports</a:t>
            </a:r>
          </a:p>
        </p:txBody>
      </p:sp>
      <p:sp>
        <p:nvSpPr>
          <p:cNvPr id="72" name="TextBox 71"/>
          <p:cNvSpPr txBox="1"/>
          <p:nvPr/>
        </p:nvSpPr>
        <p:spPr>
          <a:xfrm>
            <a:off x="457200" y="6062472"/>
            <a:ext cx="6446520" cy="374904"/>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Units: bn litres/year. Imported/domestic segments are a scenario illustration, not measured provincial flows.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Size each regional market and locate competing storage</a:t>
            </a:r>
          </a:p>
        </p:txBody>
      </p:sp>
      <p:sp>
        <p:nvSpPr>
          <p:cNvPr id="3" name="Slide Number Placeholder"/>
          <p:cNvSpPr>
            <a:spLocks noGrp="1"/>
          </p:cNvSpPr>
          <p:nvPr>
            <p:ph type="sldNum" sz="quarter" idx="12"/>
          </p:nvPr>
        </p:nvSpPr>
        <p:spPr/>
        <p:txBody>
          <a:bodyPr/>
          <a:lstStyle/>
          <a:p>
            <a:fld id="{2A1A1E58-F0AE-448F-9463-9F1141519C6C}"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provincial petrol/diesel sales; public operator sources [1-7], checked 6 Oct 2026. Share not established.</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t>All four regions | reported 2022 demand,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800" b="1">
                <a:solidFill>
                  <a:srgbClr val="000000"/>
                </a:solidFill>
                <a:latin typeface="Lato"/>
              </a:defRPr>
            </a:pPr>
            <a:r>
              <a:t>Key takeaways | competitors</a:t>
            </a:r>
          </a:p>
        </p:txBody>
      </p: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57200" y="2176272"/>
            <a:ext cx="6446520" cy="246888"/>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National total 21.90 bn L | petrol + diesel; jet excluded</a:t>
            </a:r>
          </a:p>
        </p:txBody>
      </p:sp>
      <p:sp>
        <p:nvSpPr>
          <p:cNvPr id="15" name="TextBox 14"/>
          <p:cNvSpPr txBox="1"/>
          <p:nvPr/>
        </p:nvSpPr>
        <p:spPr>
          <a:xfrm>
            <a:off x="457200" y="2624328"/>
            <a:ext cx="1298448"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Region / provinces</a:t>
            </a:r>
          </a:p>
        </p:txBody>
      </p:sp>
      <p:sp>
        <p:nvSpPr>
          <p:cNvPr id="16" name="TextBox 15"/>
          <p:cNvSpPr txBox="1"/>
          <p:nvPr/>
        </p:nvSpPr>
        <p:spPr>
          <a:xfrm>
            <a:off x="1847088" y="2624328"/>
            <a:ext cx="2542032"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Reported demand</a:t>
            </a:r>
          </a:p>
        </p:txBody>
      </p:sp>
      <p:sp>
        <p:nvSpPr>
          <p:cNvPr id="17" name="TextBox 16"/>
          <p:cNvSpPr txBox="1"/>
          <p:nvPr/>
        </p:nvSpPr>
        <p:spPr>
          <a:xfrm>
            <a:off x="4553712" y="2624328"/>
            <a:ext cx="1051560"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Vopak</a:t>
            </a:r>
          </a:p>
          <a:p>
            <a:pPr>
              <a:spcAft>
                <a:spcPts val="300"/>
              </a:spcAft>
              <a:defRPr sz="1200" b="1">
                <a:solidFill>
                  <a:srgbClr val="000000"/>
                </a:solidFill>
                <a:latin typeface="Lato"/>
              </a:defRPr>
            </a:pPr>
            <a:r>
              <a:t>served</a:t>
            </a:r>
          </a:p>
        </p:txBody>
      </p:sp>
      <p:sp>
        <p:nvSpPr>
          <p:cNvPr id="18" name="TextBox 17"/>
          <p:cNvSpPr txBox="1"/>
          <p:nvPr/>
        </p:nvSpPr>
        <p:spPr>
          <a:xfrm>
            <a:off x="5760720" y="2624328"/>
            <a:ext cx="1143000" cy="512064"/>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Additional</a:t>
            </a:r>
          </a:p>
          <a:p>
            <a:pPr>
              <a:spcAft>
                <a:spcPts val="300"/>
              </a:spcAft>
              <a:defRPr sz="1200" b="1">
                <a:solidFill>
                  <a:srgbClr val="000000"/>
                </a:solidFill>
                <a:latin typeface="Lato"/>
              </a:defRPr>
            </a:pPr>
            <a:r>
              <a:t>contestable</a:t>
            </a:r>
          </a:p>
        </p:txBody>
      </p:sp>
      <p:sp>
        <p:nvSpPr>
          <p:cNvPr id="19" name="TextBox 18"/>
          <p:cNvSpPr txBox="1"/>
          <p:nvPr/>
        </p:nvSpPr>
        <p:spPr>
          <a:xfrm>
            <a:off x="1755648"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0" name="Connector 19"/>
          <p:cNvCxnSpPr/>
          <p:nvPr/>
        </p:nvCxnSpPr>
        <p:spPr>
          <a:xfrm>
            <a:off x="1847088"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2493264"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a:t>
            </a:r>
          </a:p>
        </p:txBody>
      </p:sp>
      <p:cxnSp>
        <p:nvCxnSpPr>
          <p:cNvPr id="22" name="Connector 21"/>
          <p:cNvCxnSpPr/>
          <p:nvPr/>
        </p:nvCxnSpPr>
        <p:spPr>
          <a:xfrm>
            <a:off x="2584704"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230880"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a:t>
            </a:r>
          </a:p>
        </p:txBody>
      </p:sp>
      <p:cxnSp>
        <p:nvCxnSpPr>
          <p:cNvPr id="24" name="Connector 23"/>
          <p:cNvCxnSpPr/>
          <p:nvPr/>
        </p:nvCxnSpPr>
        <p:spPr>
          <a:xfrm>
            <a:off x="3322320"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968496" y="3035808"/>
            <a:ext cx="36576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12</a:t>
            </a:r>
          </a:p>
        </p:txBody>
      </p:sp>
      <p:cxnSp>
        <p:nvCxnSpPr>
          <p:cNvPr id="26" name="Connector 25"/>
          <p:cNvCxnSpPr/>
          <p:nvPr/>
        </p:nvCxnSpPr>
        <p:spPr>
          <a:xfrm>
            <a:off x="4059935"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57200" y="3374136"/>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Eastern coast</a:t>
            </a:r>
          </a:p>
        </p:txBody>
      </p:sp>
      <p:sp>
        <p:nvSpPr>
          <p:cNvPr id="28" name="TextBox 27"/>
          <p:cNvSpPr txBox="1"/>
          <p:nvPr/>
        </p:nvSpPr>
        <p:spPr>
          <a:xfrm>
            <a:off x="457200" y="3639312"/>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EC/KZN</a:t>
            </a:r>
          </a:p>
        </p:txBody>
      </p:sp>
      <p:sp>
        <p:nvSpPr>
          <p:cNvPr id="29" name="Reported 2022 petrol/diesel demand: Eastern coastal: 6.019977323 bn L"/>
          <p:cNvSpPr/>
          <p:nvPr/>
        </p:nvSpPr>
        <p:spPr>
          <a:xfrm>
            <a:off x="1847088" y="3447288"/>
            <a:ext cx="1110107"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021203" y="3447288"/>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6.02</a:t>
            </a:r>
          </a:p>
        </p:txBody>
      </p:sp>
      <p:sp>
        <p:nvSpPr>
          <p:cNvPr id="31" name="Unknown share input: Eastern coastal at 4.98"/>
          <p:cNvSpPr txBox="1"/>
          <p:nvPr/>
        </p:nvSpPr>
        <p:spPr>
          <a:xfrm>
            <a:off x="4553712" y="3392424"/>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Not</a:t>
            </a:r>
          </a:p>
          <a:p>
            <a:pPr>
              <a:spcAft>
                <a:spcPts val="300"/>
              </a:spcAft>
              <a:defRPr sz="1200" b="0">
                <a:solidFill>
                  <a:srgbClr val="000000"/>
                </a:solidFill>
                <a:latin typeface="Lato"/>
              </a:defRPr>
            </a:pPr>
            <a:r>
              <a:t>established</a:t>
            </a:r>
          </a:p>
        </p:txBody>
      </p:sp>
      <p:sp>
        <p:nvSpPr>
          <p:cNvPr id="32" name="Unknown share input: Eastern coastal at 6.3"/>
          <p:cNvSpPr txBox="1"/>
          <p:nvPr/>
        </p:nvSpPr>
        <p:spPr>
          <a:xfrm>
            <a:off x="5760720" y="3392424"/>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Not</a:t>
            </a:r>
          </a:p>
          <a:p>
            <a:pPr>
              <a:spcAft>
                <a:spcPts val="300"/>
              </a:spcAft>
              <a:defRPr sz="1200" b="0">
                <a:solidFill>
                  <a:srgbClr val="000000"/>
                </a:solidFill>
                <a:latin typeface="Lato"/>
              </a:defRPr>
            </a:pPr>
            <a:r>
              <a:t>established</a:t>
            </a:r>
          </a:p>
        </p:txBody>
      </p:sp>
      <p:sp>
        <p:nvSpPr>
          <p:cNvPr id="33" name="TextBox 32"/>
          <p:cNvSpPr txBox="1"/>
          <p:nvPr/>
        </p:nvSpPr>
        <p:spPr>
          <a:xfrm>
            <a:off x="457200" y="3913632"/>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Inland</a:t>
            </a:r>
          </a:p>
        </p:txBody>
      </p:sp>
      <p:sp>
        <p:nvSpPr>
          <p:cNvPr id="34" name="TextBox 33"/>
          <p:cNvSpPr txBox="1"/>
          <p:nvPr/>
        </p:nvSpPr>
        <p:spPr>
          <a:xfrm>
            <a:off x="457200" y="4178808"/>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GP/FS/LP/MP/NW</a:t>
            </a:r>
          </a:p>
        </p:txBody>
      </p:sp>
      <p:sp>
        <p:nvSpPr>
          <p:cNvPr id="35" name="Reported 2022 petrol/diesel demand: Inland: 11.499633855 bn L"/>
          <p:cNvSpPr/>
          <p:nvPr/>
        </p:nvSpPr>
        <p:spPr>
          <a:xfrm>
            <a:off x="1847088" y="3986784"/>
            <a:ext cx="2120578"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031674" y="3986784"/>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11.50</a:t>
            </a:r>
          </a:p>
        </p:txBody>
      </p:sp>
      <p:sp>
        <p:nvSpPr>
          <p:cNvPr id="37" name="Unknown share input: Inland at 4.98"/>
          <p:cNvSpPr txBox="1"/>
          <p:nvPr/>
        </p:nvSpPr>
        <p:spPr>
          <a:xfrm>
            <a:off x="4553712" y="3931920"/>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Not</a:t>
            </a:r>
          </a:p>
          <a:p>
            <a:pPr>
              <a:spcAft>
                <a:spcPts val="300"/>
              </a:spcAft>
              <a:defRPr sz="1200" b="0">
                <a:solidFill>
                  <a:srgbClr val="000000"/>
                </a:solidFill>
                <a:latin typeface="Lato"/>
              </a:defRPr>
            </a:pPr>
            <a:r>
              <a:t>established</a:t>
            </a:r>
          </a:p>
        </p:txBody>
      </p:sp>
      <p:sp>
        <p:nvSpPr>
          <p:cNvPr id="38" name="Unknown share input: Inland at 6.3"/>
          <p:cNvSpPr txBox="1"/>
          <p:nvPr/>
        </p:nvSpPr>
        <p:spPr>
          <a:xfrm>
            <a:off x="5760720" y="3931920"/>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Not</a:t>
            </a:r>
          </a:p>
          <a:p>
            <a:pPr>
              <a:spcAft>
                <a:spcPts val="300"/>
              </a:spcAft>
              <a:defRPr sz="1200" b="0">
                <a:solidFill>
                  <a:srgbClr val="000000"/>
                </a:solidFill>
                <a:latin typeface="Lato"/>
              </a:defRPr>
            </a:pPr>
            <a:r>
              <a:t>established</a:t>
            </a:r>
          </a:p>
        </p:txBody>
      </p:sp>
      <p:sp>
        <p:nvSpPr>
          <p:cNvPr id="39" name="TextBox 38"/>
          <p:cNvSpPr txBox="1"/>
          <p:nvPr/>
        </p:nvSpPr>
        <p:spPr>
          <a:xfrm>
            <a:off x="457200" y="4453128"/>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Western coast</a:t>
            </a:r>
          </a:p>
        </p:txBody>
      </p:sp>
      <p:sp>
        <p:nvSpPr>
          <p:cNvPr id="40" name="TextBox 39"/>
          <p:cNvSpPr txBox="1"/>
          <p:nvPr/>
        </p:nvSpPr>
        <p:spPr>
          <a:xfrm>
            <a:off x="457200" y="4718304"/>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WC</a:t>
            </a:r>
          </a:p>
        </p:txBody>
      </p:sp>
      <p:sp>
        <p:nvSpPr>
          <p:cNvPr id="41" name="Reported 2022 petrol/diesel demand: Western coastal: 3.930775007 bn L"/>
          <p:cNvSpPr/>
          <p:nvPr/>
        </p:nvSpPr>
        <p:spPr>
          <a:xfrm>
            <a:off x="1847088" y="4526280"/>
            <a:ext cx="72485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635946" y="4526280"/>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3.93</a:t>
            </a:r>
          </a:p>
        </p:txBody>
      </p:sp>
      <p:sp>
        <p:nvSpPr>
          <p:cNvPr id="43" name="Unknown share input: Western coastal at 4.98"/>
          <p:cNvSpPr txBox="1"/>
          <p:nvPr/>
        </p:nvSpPr>
        <p:spPr>
          <a:xfrm>
            <a:off x="4553712" y="4471416"/>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Not</a:t>
            </a:r>
          </a:p>
          <a:p>
            <a:pPr>
              <a:spcAft>
                <a:spcPts val="300"/>
              </a:spcAft>
              <a:defRPr sz="1200" b="0">
                <a:solidFill>
                  <a:srgbClr val="000000"/>
                </a:solidFill>
                <a:latin typeface="Lato"/>
              </a:defRPr>
            </a:pPr>
            <a:r>
              <a:t>established</a:t>
            </a:r>
          </a:p>
        </p:txBody>
      </p:sp>
      <p:sp>
        <p:nvSpPr>
          <p:cNvPr id="44" name="Unknown share input: Western coastal at 6.3"/>
          <p:cNvSpPr txBox="1"/>
          <p:nvPr/>
        </p:nvSpPr>
        <p:spPr>
          <a:xfrm>
            <a:off x="5760720" y="4471416"/>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Not</a:t>
            </a:r>
          </a:p>
          <a:p>
            <a:pPr>
              <a:spcAft>
                <a:spcPts val="300"/>
              </a:spcAft>
              <a:defRPr sz="1200" b="0">
                <a:solidFill>
                  <a:srgbClr val="000000"/>
                </a:solidFill>
                <a:latin typeface="Lato"/>
              </a:defRPr>
            </a:pPr>
            <a:r>
              <a:t>established</a:t>
            </a:r>
          </a:p>
        </p:txBody>
      </p:sp>
      <p:sp>
        <p:nvSpPr>
          <p:cNvPr id="45" name="TextBox 44"/>
          <p:cNvSpPr txBox="1"/>
          <p:nvPr/>
        </p:nvSpPr>
        <p:spPr>
          <a:xfrm>
            <a:off x="457200" y="4992624"/>
            <a:ext cx="13441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Other</a:t>
            </a:r>
          </a:p>
        </p:txBody>
      </p:sp>
      <p:sp>
        <p:nvSpPr>
          <p:cNvPr id="46" name="TextBox 45"/>
          <p:cNvSpPr txBox="1"/>
          <p:nvPr/>
        </p:nvSpPr>
        <p:spPr>
          <a:xfrm>
            <a:off x="457200" y="5257800"/>
            <a:ext cx="1344168"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Northern Cape</a:t>
            </a:r>
          </a:p>
        </p:txBody>
      </p:sp>
      <p:sp>
        <p:nvSpPr>
          <p:cNvPr id="47" name="Reported 2022 petrol/diesel demand: Other / Northern Cape: 0.451810049 bn L"/>
          <p:cNvSpPr/>
          <p:nvPr/>
        </p:nvSpPr>
        <p:spPr>
          <a:xfrm>
            <a:off x="1847088" y="5065776"/>
            <a:ext cx="83315"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994411" y="5065776"/>
            <a:ext cx="557784"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0.45</a:t>
            </a:r>
          </a:p>
        </p:txBody>
      </p:sp>
      <p:sp>
        <p:nvSpPr>
          <p:cNvPr id="49" name="Unknown share input: Other / Northern Cape at 4.98"/>
          <p:cNvSpPr txBox="1"/>
          <p:nvPr/>
        </p:nvSpPr>
        <p:spPr>
          <a:xfrm>
            <a:off x="4553712" y="5010912"/>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Not</a:t>
            </a:r>
          </a:p>
          <a:p>
            <a:pPr>
              <a:spcAft>
                <a:spcPts val="300"/>
              </a:spcAft>
              <a:defRPr sz="1200" b="0">
                <a:solidFill>
                  <a:srgbClr val="000000"/>
                </a:solidFill>
                <a:latin typeface="Lato"/>
              </a:defRPr>
            </a:pPr>
            <a:r>
              <a:t>established</a:t>
            </a:r>
          </a:p>
        </p:txBody>
      </p:sp>
      <p:sp>
        <p:nvSpPr>
          <p:cNvPr id="50" name="Unknown share input: Other / Northern Cape at 6.3"/>
          <p:cNvSpPr txBox="1"/>
          <p:nvPr/>
        </p:nvSpPr>
        <p:spPr>
          <a:xfrm>
            <a:off x="5760720" y="5010912"/>
            <a:ext cx="1097280" cy="448056"/>
          </a:xfrm>
          <a:prstGeom prst="rect">
            <a:avLst/>
          </a:prstGeom>
          <a:noFill/>
        </p:spPr>
        <p:txBody>
          <a:bodyPr wrap="square" lIns="22860" rIns="22860" tIns="0" bIns="0">
            <a:spAutoFit/>
          </a:bodyPr>
          <a:lstStyle/>
          <a:p>
            <a:pPr>
              <a:spcAft>
                <a:spcPts val="300"/>
              </a:spcAft>
              <a:defRPr sz="1200" b="0">
                <a:solidFill>
                  <a:srgbClr val="000000"/>
                </a:solidFill>
                <a:latin typeface="Lato"/>
              </a:defRPr>
            </a:pPr>
            <a:r>
              <a:t>Not</a:t>
            </a:r>
          </a:p>
          <a:p>
            <a:pPr>
              <a:spcAft>
                <a:spcPts val="300"/>
              </a:spcAft>
              <a:defRPr sz="1200" b="0">
                <a:solidFill>
                  <a:srgbClr val="000000"/>
                </a:solidFill>
                <a:latin typeface="Lato"/>
              </a:defRPr>
            </a:pPr>
            <a:r>
              <a:t>established</a:t>
            </a:r>
          </a:p>
        </p:txBody>
      </p:sp>
      <p:sp>
        <p:nvSpPr>
          <p:cNvPr id="51" name="TextBox 50"/>
          <p:cNvSpPr txBox="1"/>
          <p:nvPr/>
        </p:nvSpPr>
        <p:spPr>
          <a:xfrm>
            <a:off x="457200" y="5641848"/>
            <a:ext cx="6446520" cy="26517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To calculate share: unique Vopak customer deliveries / same-year regional demand.</a:t>
            </a:r>
          </a:p>
        </p:txBody>
      </p:sp>
      <p:sp>
        <p:nvSpPr>
          <p:cNvPr id="52" name="TextBox 51"/>
          <p:cNvSpPr txBox="1"/>
          <p:nvPr/>
        </p:nvSpPr>
        <p:spPr>
          <a:xfrm>
            <a:off x="457200" y="5952744"/>
            <a:ext cx="6446520" cy="402336"/>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Contestable demand needs route cost, compatible tanks, contracts and switching evidence.</a:t>
            </a:r>
          </a:p>
          <a:p>
            <a:pPr>
              <a:spcAft>
                <a:spcPts val="300"/>
              </a:spcAft>
              <a:defRPr sz="1000" b="0">
                <a:solidFill>
                  <a:srgbClr val="000000"/>
                </a:solidFill>
                <a:latin typeface="Lato"/>
              </a:defRPr>
            </a:pPr>
            <a:r>
              <a:t>Count Durban-Lesedi transfers once. Region boundaries are working groupings, not catchments.</a:t>
            </a:r>
          </a:p>
        </p:txBody>
      </p:sp>
      <p:sp>
        <p:nvSpPr>
          <p:cNvPr id="53" name="TextBox 52"/>
          <p:cNvSpPr txBox="1"/>
          <p:nvPr/>
        </p:nvSpPr>
        <p:spPr>
          <a:xfrm>
            <a:off x="7424927" y="2194560"/>
            <a:ext cx="3685032" cy="28346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Eastern coast</a:t>
            </a:r>
          </a:p>
        </p:txBody>
      </p:sp>
      <p:sp>
        <p:nvSpPr>
          <p:cNvPr id="54" name="TextBox 53"/>
          <p:cNvSpPr txBox="1"/>
          <p:nvPr/>
        </p:nvSpPr>
        <p:spPr>
          <a:xfrm>
            <a:off x="7424927" y="2523744"/>
            <a:ext cx="3685032" cy="704088"/>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Vopak: Durban [1]. Bidvest: Durban and Richards Bay [2]; mixed-product capacity.</a:t>
            </a:r>
          </a:p>
          <a:p>
            <a:pPr>
              <a:spcAft>
                <a:spcPts val="300"/>
              </a:spcAft>
              <a:defRPr sz="1250" b="0">
                <a:solidFill>
                  <a:srgbClr val="000000"/>
                </a:solidFill>
                <a:latin typeface="Lato"/>
              </a:defRPr>
            </a:pPr>
            <a:r>
              <a:t>Transnet: Ladysmith lease tanks [7].</a:t>
            </a:r>
          </a:p>
        </p:txBody>
      </p:sp>
      <p:sp>
        <p:nvSpPr>
          <p:cNvPr id="55" name="TextBox 54"/>
          <p:cNvSpPr txBox="1"/>
          <p:nvPr/>
        </p:nvSpPr>
        <p:spPr>
          <a:xfrm>
            <a:off x="7424927" y="3246120"/>
            <a:ext cx="3685032" cy="28346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Inland</a:t>
            </a:r>
          </a:p>
        </p:txBody>
      </p:sp>
      <p:sp>
        <p:nvSpPr>
          <p:cNvPr id="56" name="TextBox 55"/>
          <p:cNvSpPr txBox="1"/>
          <p:nvPr/>
        </p:nvSpPr>
        <p:spPr>
          <a:xfrm>
            <a:off x="7424927" y="3575303"/>
            <a:ext cx="3685032" cy="832104"/>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Vopak: Lesedi [1]. Bidvest: Isando [2].</a:t>
            </a:r>
          </a:p>
          <a:p>
            <a:pPr>
              <a:spcAft>
                <a:spcPts val="300"/>
              </a:spcAft>
              <a:defRPr sz="1250" b="0">
                <a:solidFill>
                  <a:srgbClr val="000000"/>
                </a:solidFill>
                <a:latin typeface="Lato"/>
              </a:defRPr>
            </a:pPr>
            <a:r>
              <a:t>Sasol: Alrode, Pretoria West, Waltloo, Sasolburg [6]. Transnet: Tarlton / Jameson Park + four lease sites [7].</a:t>
            </a:r>
          </a:p>
        </p:txBody>
      </p:sp>
      <p:sp>
        <p:nvSpPr>
          <p:cNvPr id="57" name="TextBox 56"/>
          <p:cNvSpPr txBox="1"/>
          <p:nvPr/>
        </p:nvSpPr>
        <p:spPr>
          <a:xfrm>
            <a:off x="7424927" y="4507992"/>
            <a:ext cx="3685032" cy="28346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Western coast</a:t>
            </a:r>
          </a:p>
        </p:txBody>
      </p:sp>
      <p:sp>
        <p:nvSpPr>
          <p:cNvPr id="58" name="TextBox 57"/>
          <p:cNvSpPr txBox="1"/>
          <p:nvPr/>
        </p:nvSpPr>
        <p:spPr>
          <a:xfrm>
            <a:off x="7424927" y="4837176"/>
            <a:ext cx="3685032" cy="66751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Burgan Cape: Cape Town petrol/diesel terminal [3]. Confirm current tank availability and customer access.</a:t>
            </a:r>
          </a:p>
        </p:txBody>
      </p:sp>
      <p:sp>
        <p:nvSpPr>
          <p:cNvPr id="59" name="TextBox 58"/>
          <p:cNvSpPr txBox="1"/>
          <p:nvPr/>
        </p:nvSpPr>
        <p:spPr>
          <a:xfrm>
            <a:off x="7424927" y="5486400"/>
            <a:ext cx="3685032" cy="28346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04 Other / Northern Cape</a:t>
            </a:r>
          </a:p>
        </p:txBody>
      </p:sp>
      <p:sp>
        <p:nvSpPr>
          <p:cNvPr id="60" name="TextBox 59"/>
          <p:cNvSpPr txBox="1"/>
          <p:nvPr/>
        </p:nvSpPr>
        <p:spPr>
          <a:xfrm>
            <a:off x="7424927" y="5815584"/>
            <a:ext cx="3685032" cy="576072"/>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Operator coverage incomplete. Check Shell site notices [4] and NERSA licences/access records [5].</a:t>
            </a:r>
          </a:p>
        </p:txBody>
      </p:sp>
      <p:sp>
        <p:nvSpPr>
          <p:cNvPr id="61" name="TextBox 60"/>
          <p:cNvSpPr txBox="1"/>
          <p:nvPr/>
        </p:nvSpPr>
        <p:spPr>
          <a:xfrm>
            <a:off x="457200"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3"/>
              </a:rPr>
              <a:t>[1] Vopak</a:t>
            </a:r>
          </a:p>
        </p:txBody>
      </p:sp>
      <p:sp>
        <p:nvSpPr>
          <p:cNvPr id="62" name="TextBox 61"/>
          <p:cNvSpPr txBox="1"/>
          <p:nvPr/>
        </p:nvSpPr>
        <p:spPr>
          <a:xfrm>
            <a:off x="1353312"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4"/>
              </a:rPr>
              <a:t>[2] Bidvest</a:t>
            </a:r>
          </a:p>
        </p:txBody>
      </p:sp>
      <p:sp>
        <p:nvSpPr>
          <p:cNvPr id="63" name="TextBox 62"/>
          <p:cNvSpPr txBox="1"/>
          <p:nvPr/>
        </p:nvSpPr>
        <p:spPr>
          <a:xfrm>
            <a:off x="2249424"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5"/>
              </a:rPr>
              <a:t>[3] Burgan</a:t>
            </a:r>
          </a:p>
        </p:txBody>
      </p:sp>
      <p:sp>
        <p:nvSpPr>
          <p:cNvPr id="64" name="TextBox 63"/>
          <p:cNvSpPr txBox="1"/>
          <p:nvPr/>
        </p:nvSpPr>
        <p:spPr>
          <a:xfrm>
            <a:off x="3145536"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6"/>
              </a:rPr>
              <a:t>[4] Shell</a:t>
            </a:r>
          </a:p>
        </p:txBody>
      </p:sp>
      <p:sp>
        <p:nvSpPr>
          <p:cNvPr id="65" name="TextBox 64"/>
          <p:cNvSpPr txBox="1"/>
          <p:nvPr/>
        </p:nvSpPr>
        <p:spPr>
          <a:xfrm>
            <a:off x="4041648"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7"/>
              </a:rPr>
              <a:t>[5] NERSA</a:t>
            </a:r>
          </a:p>
        </p:txBody>
      </p:sp>
      <p:sp>
        <p:nvSpPr>
          <p:cNvPr id="66" name="TextBox 65"/>
          <p:cNvSpPr txBox="1"/>
          <p:nvPr/>
        </p:nvSpPr>
        <p:spPr>
          <a:xfrm>
            <a:off x="4937760"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8"/>
              </a:rPr>
              <a:t>[6] Sasol</a:t>
            </a:r>
          </a:p>
        </p:txBody>
      </p:sp>
      <p:sp>
        <p:nvSpPr>
          <p:cNvPr id="67" name="TextBox 66"/>
          <p:cNvSpPr txBox="1"/>
          <p:nvPr/>
        </p:nvSpPr>
        <p:spPr>
          <a:xfrm>
            <a:off x="5833872"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9"/>
              </a:rPr>
              <a:t>[7] Transnet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Compare published storage capacity by location</a:t>
            </a:r>
          </a:p>
        </p:txBody>
      </p:sp>
      <p:sp>
        <p:nvSpPr>
          <p:cNvPr id="3" name="Slide Number Placeholder"/>
          <p:cNvSpPr>
            <a:spLocks noGrp="1"/>
          </p:cNvSpPr>
          <p:nvPr>
            <p:ph type="sldNum" sz="quarter" idx="12"/>
          </p:nvPr>
        </p:nvSpPr>
        <p:spPr/>
        <p:txBody>
          <a:bodyPr/>
          <a:lstStyle/>
          <a:p>
            <a:fld id="{24D8A105-802E-4151-BB58-43500D95688B}"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Vopak; Bidvest; VTTI Burgan Cape; Transnet lease RFPs (5 Oct 2026), pp. 2-3. Checked 6 Oct 2026.</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t>Published storage by location | thousand m³; mixed capacity bases</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800" b="1">
                <a:solidFill>
                  <a:srgbClr val="000000"/>
                </a:solidFill>
                <a:latin typeface="Lato"/>
              </a:defRPr>
            </a:pPr>
            <a:r>
              <a:t>Key takeaways</a:t>
            </a:r>
          </a:p>
        </p:txBody>
      </p: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424927" y="218541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Durban leads this evidenced subset</a:t>
            </a:r>
          </a:p>
        </p:txBody>
      </p:sp>
      <p:sp>
        <p:nvSpPr>
          <p:cNvPr id="15" name="TextBox 14"/>
          <p:cNvSpPr txBox="1"/>
          <p:nvPr/>
        </p:nvSpPr>
        <p:spPr>
          <a:xfrm>
            <a:off x="7424927" y="257860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Published Vopak and Bidvest gross capacity totals 799.6 thousand m³. Mixed products limit the fuel-only comparison.</a:t>
            </a:r>
          </a:p>
        </p:txBody>
      </p:sp>
      <p:sp>
        <p:nvSpPr>
          <p:cNvPr id="16" name="TextBox 15"/>
          <p:cNvSpPr txBox="1"/>
          <p:nvPr/>
        </p:nvSpPr>
        <p:spPr>
          <a:xfrm>
            <a:off x="7424927" y="319125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Transnet tanks are much smaller</a:t>
            </a:r>
          </a:p>
        </p:txBody>
      </p:sp>
      <p:sp>
        <p:nvSpPr>
          <p:cNvPr id="17" name="TextBox 16"/>
          <p:cNvSpPr txBox="1"/>
          <p:nvPr/>
        </p:nvSpPr>
        <p:spPr>
          <a:xfrm>
            <a:off x="7424927" y="358444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Lease tankage: Ladysmith 8.54, Kroonstad 3.30, Standerton 2.35 thousand m³. Bethlehem and Magdala remain unquantified.</a:t>
            </a:r>
          </a:p>
        </p:txBody>
      </p:sp>
      <p:sp>
        <p:nvSpPr>
          <p:cNvPr id="18" name="TextBox 17"/>
          <p:cNvSpPr txBox="1"/>
          <p:nvPr/>
        </p:nvSpPr>
        <p:spPr>
          <a:xfrm>
            <a:off x="7424927" y="419709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Capacity bases must stay visible</a:t>
            </a:r>
          </a:p>
        </p:txBody>
      </p:sp>
      <p:sp>
        <p:nvSpPr>
          <p:cNvPr id="19" name="TextBox 18"/>
          <p:cNvSpPr txBox="1"/>
          <p:nvPr/>
        </p:nvSpPr>
        <p:spPr>
          <a:xfrm>
            <a:off x="7424927" y="459028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Gross stocks elsewhere; Ladysmith* uses petrol/diesel working capacity. Kroonstad/Standerton basis is unspecified.</a:t>
            </a:r>
          </a:p>
        </p:txBody>
      </p:sp>
      <p:sp>
        <p:nvSpPr>
          <p:cNvPr id="20" name="TextBox 19"/>
          <p:cNvSpPr txBox="1"/>
          <p:nvPr/>
        </p:nvSpPr>
        <p:spPr>
          <a:xfrm>
            <a:off x="7424927" y="520293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04 · Lease offers require reactivation</a:t>
            </a:r>
          </a:p>
        </p:txBody>
      </p:sp>
      <p:sp>
        <p:nvSpPr>
          <p:cNvPr id="21" name="TextBox 20"/>
          <p:cNvSpPr txBox="1"/>
          <p:nvPr/>
        </p:nvSpPr>
        <p:spPr>
          <a:xfrm>
            <a:off x="7424927" y="559612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Do not count these tanks as operating supply. Test refurbishment, receipt/dispatch, licensing and lease award. RFP close: 4 Dec 2026.</a:t>
            </a:r>
          </a:p>
        </p:txBody>
      </p:sp>
      <p:sp>
        <p:nvSpPr>
          <p:cNvPr id="22" name="TextBox 21"/>
          <p:cNvSpPr txBox="1"/>
          <p:nvPr/>
        </p:nvSpPr>
        <p:spPr>
          <a:xfrm>
            <a:off x="457200" y="2176272"/>
            <a:ext cx="6446520" cy="246888"/>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One shared scale for every location</a:t>
            </a:r>
          </a:p>
        </p:txBody>
      </p:sp>
      <p:cxnSp>
        <p:nvCxnSpPr>
          <p:cNvPr id="23" name="Connector 22"/>
          <p:cNvCxnSpPr/>
          <p:nvPr/>
        </p:nvCxnSpPr>
        <p:spPr>
          <a:xfrm>
            <a:off x="2029968"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892808"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0</a:t>
            </a:r>
          </a:p>
        </p:txBody>
      </p:sp>
      <p:cxnSp>
        <p:nvCxnSpPr>
          <p:cNvPr id="25" name="Connector 24"/>
          <p:cNvCxnSpPr/>
          <p:nvPr/>
        </p:nvCxnSpPr>
        <p:spPr>
          <a:xfrm>
            <a:off x="3026126"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888966"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200</a:t>
            </a:r>
          </a:p>
        </p:txBody>
      </p:sp>
      <p:cxnSp>
        <p:nvCxnSpPr>
          <p:cNvPr id="27" name="Connector 26"/>
          <p:cNvCxnSpPr/>
          <p:nvPr/>
        </p:nvCxnSpPr>
        <p:spPr>
          <a:xfrm>
            <a:off x="4022284"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885124"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400</a:t>
            </a:r>
          </a:p>
        </p:txBody>
      </p:sp>
      <p:cxnSp>
        <p:nvCxnSpPr>
          <p:cNvPr id="29" name="Connector 28"/>
          <p:cNvCxnSpPr/>
          <p:nvPr/>
        </p:nvCxnSpPr>
        <p:spPr>
          <a:xfrm>
            <a:off x="5018442"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881282"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600</a:t>
            </a:r>
          </a:p>
        </p:txBody>
      </p:sp>
      <p:cxnSp>
        <p:nvCxnSpPr>
          <p:cNvPr id="31" name="Connector 30"/>
          <p:cNvCxnSpPr/>
          <p:nvPr/>
        </p:nvCxnSpPr>
        <p:spPr>
          <a:xfrm>
            <a:off x="6014600" y="2715768"/>
            <a:ext cx="0" cy="2770632"/>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877440" y="2468880"/>
            <a:ext cx="411480" cy="219456"/>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800</a:t>
            </a:r>
          </a:p>
        </p:txBody>
      </p:sp>
      <p:sp>
        <p:nvSpPr>
          <p:cNvPr id="33" name="Storage location label: Durban"/>
          <p:cNvSpPr txBox="1"/>
          <p:nvPr/>
        </p:nvSpPr>
        <p:spPr>
          <a:xfrm>
            <a:off x="457200" y="2779776"/>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Durban</a:t>
            </a:r>
          </a:p>
        </p:txBody>
      </p:sp>
      <p:sp>
        <p:nvSpPr>
          <p:cNvPr id="34" name="Published gross capacity: Vopak Durban: 360246.0 m3; shared scale"/>
          <p:cNvSpPr/>
          <p:nvPr/>
        </p:nvSpPr>
        <p:spPr>
          <a:xfrm>
            <a:off x="2029968" y="2788920"/>
            <a:ext cx="1794309"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Published gross capacity: Bidvest Tank Terminals Durban: 439306.0 m3; shared scale"/>
          <p:cNvSpPr/>
          <p:nvPr/>
        </p:nvSpPr>
        <p:spPr>
          <a:xfrm>
            <a:off x="3824277" y="2788920"/>
            <a:ext cx="218809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torage value label: Durban"/>
          <p:cNvSpPr txBox="1"/>
          <p:nvPr/>
        </p:nvSpPr>
        <p:spPr>
          <a:xfrm>
            <a:off x="6094665" y="2779776"/>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799.55</a:t>
            </a:r>
          </a:p>
        </p:txBody>
      </p:sp>
      <p:sp>
        <p:nvSpPr>
          <p:cNvPr id="37" name="Storage location label: Richards Bay"/>
          <p:cNvSpPr txBox="1"/>
          <p:nvPr/>
        </p:nvSpPr>
        <p:spPr>
          <a:xfrm>
            <a:off x="457200" y="3127248"/>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Richards Bay</a:t>
            </a:r>
          </a:p>
        </p:txBody>
      </p:sp>
      <p:sp>
        <p:nvSpPr>
          <p:cNvPr id="38" name="Published gross capacity: Bidvest Tank Terminals Richards Bay: 483797.0 m3; shared scale"/>
          <p:cNvSpPr/>
          <p:nvPr/>
        </p:nvSpPr>
        <p:spPr>
          <a:xfrm>
            <a:off x="2029968" y="3136391"/>
            <a:ext cx="2409691"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Storage value label: Richards Bay"/>
          <p:cNvSpPr txBox="1"/>
          <p:nvPr/>
        </p:nvSpPr>
        <p:spPr>
          <a:xfrm>
            <a:off x="4521955" y="3127248"/>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483.80</a:t>
            </a:r>
          </a:p>
        </p:txBody>
      </p:sp>
      <p:sp>
        <p:nvSpPr>
          <p:cNvPr id="40" name="Storage location label: Lesedi"/>
          <p:cNvSpPr txBox="1"/>
          <p:nvPr/>
        </p:nvSpPr>
        <p:spPr>
          <a:xfrm>
            <a:off x="457200" y="3474720"/>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Lesedi</a:t>
            </a:r>
          </a:p>
        </p:txBody>
      </p:sp>
      <p:sp>
        <p:nvSpPr>
          <p:cNvPr id="41" name="Published gross capacity: Vopak Lesedi: 140000.0 m3; shared scale"/>
          <p:cNvSpPr/>
          <p:nvPr/>
        </p:nvSpPr>
        <p:spPr>
          <a:xfrm>
            <a:off x="2029968" y="3483863"/>
            <a:ext cx="69731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Storage value label: Lesedi"/>
          <p:cNvSpPr txBox="1"/>
          <p:nvPr/>
        </p:nvSpPr>
        <p:spPr>
          <a:xfrm>
            <a:off x="2809574" y="3474720"/>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140.00</a:t>
            </a:r>
          </a:p>
        </p:txBody>
      </p:sp>
      <p:sp>
        <p:nvSpPr>
          <p:cNvPr id="43" name="Storage location label: Cape Town"/>
          <p:cNvSpPr txBox="1"/>
          <p:nvPr/>
        </p:nvSpPr>
        <p:spPr>
          <a:xfrm>
            <a:off x="457200" y="3822191"/>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Cape Town</a:t>
            </a:r>
          </a:p>
        </p:txBody>
      </p:sp>
      <p:sp>
        <p:nvSpPr>
          <p:cNvPr id="44" name="Published gross capacity: VTTI Burgan Cape Terminal Cape Town: 122000.0 m3; shared scale"/>
          <p:cNvSpPr/>
          <p:nvPr/>
        </p:nvSpPr>
        <p:spPr>
          <a:xfrm>
            <a:off x="2029968" y="3831335"/>
            <a:ext cx="607656" cy="246888"/>
          </a:xfrm>
          <a:prstGeom prst="rect">
            <a:avLst/>
          </a:prstGeom>
          <a:solidFill>
            <a:srgbClr val="BAC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torage value label: Cape Town"/>
          <p:cNvSpPr txBox="1"/>
          <p:nvPr/>
        </p:nvSpPr>
        <p:spPr>
          <a:xfrm>
            <a:off x="2719920" y="3822191"/>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122.00</a:t>
            </a:r>
          </a:p>
        </p:txBody>
      </p:sp>
      <p:sp>
        <p:nvSpPr>
          <p:cNvPr id="46" name="Storage location label: Isando"/>
          <p:cNvSpPr txBox="1"/>
          <p:nvPr/>
        </p:nvSpPr>
        <p:spPr>
          <a:xfrm>
            <a:off x="457200" y="4169664"/>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Isando</a:t>
            </a:r>
          </a:p>
        </p:txBody>
      </p:sp>
      <p:sp>
        <p:nvSpPr>
          <p:cNvPr id="47" name="Published gross capacity: Bidvest Tank Terminals Isando: 32500.0 m3; shared scale"/>
          <p:cNvSpPr/>
          <p:nvPr/>
        </p:nvSpPr>
        <p:spPr>
          <a:xfrm>
            <a:off x="2029968" y="4178808"/>
            <a:ext cx="161875" cy="24688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Storage value label: Isando"/>
          <p:cNvSpPr txBox="1"/>
          <p:nvPr/>
        </p:nvSpPr>
        <p:spPr>
          <a:xfrm>
            <a:off x="2274139" y="4169664"/>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32.50</a:t>
            </a:r>
          </a:p>
        </p:txBody>
      </p:sp>
      <p:sp>
        <p:nvSpPr>
          <p:cNvPr id="49" name="Storage location label: Ladysmith"/>
          <p:cNvSpPr txBox="1"/>
          <p:nvPr/>
        </p:nvSpPr>
        <p:spPr>
          <a:xfrm>
            <a:off x="457200" y="4517136"/>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Ladysmith*</a:t>
            </a:r>
          </a:p>
        </p:txBody>
      </p:sp>
      <p:sp>
        <p:nvSpPr>
          <p:cNvPr id="50" name="Lease offer capacity: Transnet Pipelines Ladysmith: 8540.0 m3; shared scale"/>
          <p:cNvSpPr/>
          <p:nvPr/>
        </p:nvSpPr>
        <p:spPr>
          <a:xfrm>
            <a:off x="2029968" y="4526279"/>
            <a:ext cx="42535"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Storage value label: Ladysmith"/>
          <p:cNvSpPr txBox="1"/>
          <p:nvPr/>
        </p:nvSpPr>
        <p:spPr>
          <a:xfrm>
            <a:off x="2154799" y="4517136"/>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8.54</a:t>
            </a:r>
          </a:p>
        </p:txBody>
      </p:sp>
      <p:sp>
        <p:nvSpPr>
          <p:cNvPr id="52" name="Storage location label: Kroonstad"/>
          <p:cNvSpPr txBox="1"/>
          <p:nvPr/>
        </p:nvSpPr>
        <p:spPr>
          <a:xfrm>
            <a:off x="457200" y="4864608"/>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Kroonstad</a:t>
            </a:r>
          </a:p>
        </p:txBody>
      </p:sp>
      <p:sp>
        <p:nvSpPr>
          <p:cNvPr id="53" name="Lease offer capacity: Transnet Pipelines Kroonstad: 3300.0 m3; shared scale"/>
          <p:cNvSpPr/>
          <p:nvPr/>
        </p:nvSpPr>
        <p:spPr>
          <a:xfrm>
            <a:off x="2029968" y="4873752"/>
            <a:ext cx="16436"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Storage value label: Kroonstad"/>
          <p:cNvSpPr txBox="1"/>
          <p:nvPr/>
        </p:nvSpPr>
        <p:spPr>
          <a:xfrm>
            <a:off x="2128700" y="4864608"/>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3.30</a:t>
            </a:r>
          </a:p>
        </p:txBody>
      </p:sp>
      <p:sp>
        <p:nvSpPr>
          <p:cNvPr id="55" name="Storage location label: Standerton"/>
          <p:cNvSpPr txBox="1"/>
          <p:nvPr/>
        </p:nvSpPr>
        <p:spPr>
          <a:xfrm>
            <a:off x="457200" y="5212080"/>
            <a:ext cx="1508760"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Standerton</a:t>
            </a:r>
          </a:p>
        </p:txBody>
      </p:sp>
      <p:sp>
        <p:nvSpPr>
          <p:cNvPr id="56" name="Lease offer capacity: Transnet Pipelines Standerton: 2353.0 m3; shared scale"/>
          <p:cNvSpPr/>
          <p:nvPr/>
        </p:nvSpPr>
        <p:spPr>
          <a:xfrm>
            <a:off x="2029968" y="5221224"/>
            <a:ext cx="11719" cy="246888"/>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Storage value label: Standerton"/>
          <p:cNvSpPr txBox="1"/>
          <p:nvPr/>
        </p:nvSpPr>
        <p:spPr>
          <a:xfrm>
            <a:off x="2123983" y="5212080"/>
            <a:ext cx="658368" cy="265176"/>
          </a:xfrm>
          <a:prstGeom prst="rect">
            <a:avLst/>
          </a:prstGeom>
          <a:noFill/>
        </p:spPr>
        <p:txBody>
          <a:bodyPr wrap="square" lIns="22860" rIns="22860" tIns="0" bIns="0">
            <a:spAutoFit/>
          </a:bodyPr>
          <a:lstStyle/>
          <a:p>
            <a:pPr>
              <a:spcAft>
                <a:spcPts val="300"/>
              </a:spcAft>
              <a:defRPr sz="1200" b="1">
                <a:solidFill>
                  <a:srgbClr val="000000"/>
                </a:solidFill>
                <a:latin typeface="Lato"/>
              </a:defRPr>
            </a:pPr>
            <a:r>
              <a:t>2.35</a:t>
            </a:r>
          </a:p>
        </p:txBody>
      </p:sp>
      <p:sp>
        <p:nvSpPr>
          <p:cNvPr id="58" name="Rectangle 57"/>
          <p:cNvSpPr/>
          <p:nvPr/>
        </p:nvSpPr>
        <p:spPr>
          <a:xfrm>
            <a:off x="457200" y="5660136"/>
            <a:ext cx="118872" cy="11887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63093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Vopak</a:t>
            </a:r>
          </a:p>
        </p:txBody>
      </p:sp>
      <p:sp>
        <p:nvSpPr>
          <p:cNvPr id="60" name="Rectangle 59"/>
          <p:cNvSpPr/>
          <p:nvPr/>
        </p:nvSpPr>
        <p:spPr>
          <a:xfrm>
            <a:off x="1828800" y="5660136"/>
            <a:ext cx="118872" cy="118872"/>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200253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Bidvest</a:t>
            </a:r>
          </a:p>
        </p:txBody>
      </p:sp>
      <p:sp>
        <p:nvSpPr>
          <p:cNvPr id="62" name="Rectangle 61"/>
          <p:cNvSpPr/>
          <p:nvPr/>
        </p:nvSpPr>
        <p:spPr>
          <a:xfrm>
            <a:off x="3182112" y="5660136"/>
            <a:ext cx="118872" cy="118872"/>
          </a:xfrm>
          <a:prstGeom prst="rect">
            <a:avLst/>
          </a:prstGeom>
          <a:solidFill>
            <a:srgbClr val="BAC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3355848"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Burgan Cape</a:t>
            </a:r>
          </a:p>
        </p:txBody>
      </p:sp>
      <p:sp>
        <p:nvSpPr>
          <p:cNvPr id="64" name="Rectangle 63"/>
          <p:cNvSpPr/>
          <p:nvPr/>
        </p:nvSpPr>
        <p:spPr>
          <a:xfrm>
            <a:off x="4892040" y="5660136"/>
            <a:ext cx="118872" cy="118872"/>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5065776" y="5614416"/>
            <a:ext cx="1810512" cy="237744"/>
          </a:xfrm>
          <a:prstGeom prst="rect">
            <a:avLst/>
          </a:prstGeom>
          <a:noFill/>
        </p:spPr>
        <p:txBody>
          <a:bodyPr wrap="square" lIns="22860" rIns="22860" tIns="0" bIns="0">
            <a:spAutoFit/>
          </a:bodyPr>
          <a:lstStyle/>
          <a:p>
            <a:pPr>
              <a:spcAft>
                <a:spcPts val="300"/>
              </a:spcAft>
              <a:defRPr sz="1100" b="0">
                <a:solidFill>
                  <a:srgbClr val="000000"/>
                </a:solidFill>
                <a:latin typeface="Lato"/>
              </a:defRPr>
            </a:pPr>
            <a:r>
              <a:t>Transnet (lease)</a:t>
            </a:r>
          </a:p>
        </p:txBody>
      </p:sp>
      <p:sp>
        <p:nvSpPr>
          <p:cNvPr id="66" name="TextBox 65"/>
          <p:cNvSpPr txBox="1"/>
          <p:nvPr/>
        </p:nvSpPr>
        <p:spPr>
          <a:xfrm>
            <a:off x="457200" y="5971032"/>
            <a:ext cx="6446520" cy="274320"/>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Small lease bars reflect smaller tank volumes; they are not operating supply.</a:t>
            </a:r>
          </a:p>
        </p:txBody>
      </p:sp>
      <p:sp>
        <p:nvSpPr>
          <p:cNvPr id="67" name="TextBox 66"/>
          <p:cNvSpPr txBox="1"/>
          <p:nvPr/>
        </p:nvSpPr>
        <p:spPr>
          <a:xfrm>
            <a:off x="457200" y="6318504"/>
            <a:ext cx="6446520" cy="201168"/>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*Ladysmith excludes 0.474 intermixture. Unquantified: Bethlehem, Magdala, Sasol, Tarlton, Jameson Park.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Connect the SA market story to evidence and next actions</a:t>
            </a:r>
          </a:p>
        </p:txBody>
      </p:sp>
      <p:sp>
        <p:nvSpPr>
          <p:cNvPr id="3" name="Slide Number Placeholder"/>
          <p:cNvSpPr>
            <a:spLocks noGrp="1"/>
          </p:cNvSpPr>
          <p:nvPr>
            <p:ph type="sldNum" sz="quarter" idx="12"/>
          </p:nvPr>
        </p:nvSpPr>
        <p:spPr/>
        <p:txBody>
          <a:bodyPr/>
          <a:lstStyle/>
          <a:p>
            <a:fld id="{7A295A24-AFD2-4DBD-ACBB-3F0890533B4B}"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Partner SA storyboard pp.30-32; repository evidence and diagnostics, 6 Oct 2026. All gaps remain open.</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t>Situation - Complication - Resolution | evidence and gaps</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800" b="1">
                <a:solidFill>
                  <a:srgbClr val="000000"/>
                </a:solidFill>
                <a:latin typeface="Lato"/>
              </a:defRPr>
            </a:pPr>
            <a:r>
              <a:t>Key takeaways</a:t>
            </a:r>
          </a:p>
        </p:txBody>
      </p: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424927" y="218541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Baseline before forecasts</a:t>
            </a:r>
          </a:p>
        </p:txBody>
      </p:sp>
      <p:sp>
        <p:nvSpPr>
          <p:cNvPr id="15" name="TextBox 14"/>
          <p:cNvSpPr txBox="1"/>
          <p:nvPr/>
        </p:nvSpPr>
        <p:spPr>
          <a:xfrm>
            <a:off x="7424927" y="257860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Manish: reconcile flagged rows; map each used/staged input to its calculation and affected output. Nigel reviews.</a:t>
            </a:r>
          </a:p>
        </p:txBody>
      </p:sp>
      <p:sp>
        <p:nvSpPr>
          <p:cNvPr id="16" name="TextBox 15"/>
          <p:cNvSpPr txBox="1"/>
          <p:nvPr/>
        </p:nvSpPr>
        <p:spPr>
          <a:xfrm>
            <a:off x="7424927" y="319125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Define levers in Week 1</a:t>
            </a:r>
          </a:p>
        </p:txBody>
      </p:sp>
      <p:sp>
        <p:nvSpPr>
          <p:cNvPr id="17" name="TextBox 16"/>
          <p:cNvSpPr txBox="1"/>
          <p:nvPr/>
        </p:nvSpPr>
        <p:spPr>
          <a:xfrm>
            <a:off x="7424927" y="358444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Rail, BEV/hybrid, efficiency, power dispatch and refinery cases need baseline, alternatives, units, dates and equations.</a:t>
            </a:r>
          </a:p>
        </p:txBody>
      </p:sp>
      <p:sp>
        <p:nvSpPr>
          <p:cNvPr id="18" name="TextBox 17"/>
          <p:cNvSpPr txBox="1"/>
          <p:nvPr/>
        </p:nvSpPr>
        <p:spPr>
          <a:xfrm>
            <a:off x="7424927" y="419709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Request actual Vopak flows</a:t>
            </a:r>
          </a:p>
        </p:txBody>
      </p:sp>
      <p:sp>
        <p:nvSpPr>
          <p:cNvPr id="19" name="TextBox 18"/>
          <p:cNvSpPr txBox="1"/>
          <p:nvPr/>
        </p:nvSpPr>
        <p:spPr>
          <a:xfrm>
            <a:off x="7424927" y="459028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Nigel requests receipts, transfers, deliveries and destinations. Manish reconciles unique demand; actual share stays unknown.</a:t>
            </a:r>
          </a:p>
        </p:txBody>
      </p:sp>
      <p:sp>
        <p:nvSpPr>
          <p:cNvPr id="20" name="TextBox 19"/>
          <p:cNvSpPr txBox="1"/>
          <p:nvPr/>
        </p:nvSpPr>
        <p:spPr>
          <a:xfrm>
            <a:off x="7424927" y="520293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04 · Compare the competing routes</a:t>
            </a:r>
          </a:p>
        </p:txBody>
      </p:sp>
      <p:sp>
        <p:nvSpPr>
          <p:cNvPr id="21" name="TextBox 20"/>
          <p:cNvSpPr txBox="1"/>
          <p:nvPr/>
        </p:nvSpPr>
        <p:spPr>
          <a:xfrm>
            <a:off x="7424927" y="559612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Durban-NMPP-Lesedi versus Durban road/rail, Matola and Walvis Bay: same product, destination and cost basis.</a:t>
            </a:r>
          </a:p>
        </p:txBody>
      </p:sp>
      <p:sp>
        <p:nvSpPr>
          <p:cNvPr id="22" name="TextBox 21"/>
          <p:cNvSpPr txBox="1"/>
          <p:nvPr/>
        </p:nvSpPr>
        <p:spPr>
          <a:xfrm>
            <a:off x="457200" y="2194560"/>
            <a:ext cx="6446520" cy="28346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Situation | establish the market baseline</a:t>
            </a:r>
          </a:p>
        </p:txBody>
      </p:sp>
      <p:sp>
        <p:nvSpPr>
          <p:cNvPr id="23" name="TextBox 22"/>
          <p:cNvSpPr txBox="1"/>
          <p:nvPr/>
        </p:nvSpPr>
        <p:spPr>
          <a:xfrm>
            <a:off x="457200" y="2587752"/>
            <a:ext cx="6446520" cy="786384"/>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Have: demand history, regions and operators (pp.2-3,7-8).</a:t>
            </a:r>
          </a:p>
          <a:p>
            <a:pPr>
              <a:spcAft>
                <a:spcPts val="300"/>
              </a:spcAft>
              <a:defRPr sz="1150" b="0">
                <a:solidFill>
                  <a:srgbClr val="000000"/>
                </a:solidFill>
                <a:latin typeface="Lato"/>
              </a:defRPr>
            </a:pPr>
            <a:r>
              <a:t>Gap: recent fuel balance, finished imports and entry ports.</a:t>
            </a:r>
          </a:p>
          <a:p>
            <a:pPr>
              <a:spcAft>
                <a:spcPts val="300"/>
              </a:spcAft>
              <a:defRPr sz="1150" b="0">
                <a:solidFill>
                  <a:srgbClr val="000000"/>
                </a:solidFill>
                <a:latin typeface="Lato"/>
              </a:defRPr>
            </a:pPr>
            <a:r>
              <a:t>Close: matched-year balance and exact data reconciliation. W1-W2.</a:t>
            </a:r>
          </a:p>
        </p:txBody>
      </p:sp>
      <p:cxnSp>
        <p:nvCxnSpPr>
          <p:cNvPr id="24" name="Connector 23"/>
          <p:cNvCxnSpPr/>
          <p:nvPr/>
        </p:nvCxnSpPr>
        <p:spPr>
          <a:xfrm>
            <a:off x="457200" y="3383280"/>
            <a:ext cx="6446520" cy="0"/>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457200" y="3493008"/>
            <a:ext cx="6446520" cy="28346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Complication | quantify what could change</a:t>
            </a:r>
          </a:p>
        </p:txBody>
      </p:sp>
      <p:sp>
        <p:nvSpPr>
          <p:cNvPr id="26" name="TextBox 25"/>
          <p:cNvSpPr txBox="1"/>
          <p:nvPr/>
        </p:nvSpPr>
        <p:spPr>
          <a:xfrm>
            <a:off x="457200" y="3886200"/>
            <a:ext cx="6446520" cy="786384"/>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Have: provisional vehicle, power-diesel and supply calculations.</a:t>
            </a:r>
          </a:p>
          <a:p>
            <a:pPr>
              <a:spcAft>
                <a:spcPts val="300"/>
              </a:spcAft>
              <a:defRPr sz="1150" b="0">
                <a:solidFill>
                  <a:srgbClr val="000000"/>
                </a:solidFill>
                <a:latin typeface="Lato"/>
              </a:defRPr>
            </a:pPr>
            <a:r>
              <a:t>Gap: calibrated driver reversals, refinery cases and route costs.</a:t>
            </a:r>
          </a:p>
          <a:p>
            <a:pPr>
              <a:spcAft>
                <a:spcPts val="300"/>
              </a:spcAft>
              <a:defRPr sz="1150" b="0">
                <a:solidFill>
                  <a:srgbClr val="000000"/>
                </a:solidFill>
                <a:latin typeface="Lato"/>
              </a:defRPr>
            </a:pPr>
            <a:r>
              <a:t>Close: define levers in W1; test their litres/import effects in W2-W4.</a:t>
            </a:r>
          </a:p>
        </p:txBody>
      </p:sp>
      <p:cxnSp>
        <p:nvCxnSpPr>
          <p:cNvPr id="27" name="Connector 26"/>
          <p:cNvCxnSpPr/>
          <p:nvPr/>
        </p:nvCxnSpPr>
        <p:spPr>
          <a:xfrm>
            <a:off x="457200" y="4681728"/>
            <a:ext cx="6446520" cy="0"/>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457200" y="4791456"/>
            <a:ext cx="6446520" cy="28346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Resolution | establish Vopak opportunity</a:t>
            </a:r>
          </a:p>
        </p:txBody>
      </p:sp>
      <p:sp>
        <p:nvSpPr>
          <p:cNvPr id="29" name="TextBox 28"/>
          <p:cNvSpPr txBox="1"/>
          <p:nvPr/>
        </p:nvSpPr>
        <p:spPr>
          <a:xfrm>
            <a:off x="457200" y="5184648"/>
            <a:ext cx="6446520" cy="786384"/>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Have: regional competitor footprint and published tank stocks.</a:t>
            </a:r>
          </a:p>
          <a:p>
            <a:pPr>
              <a:spcAft>
                <a:spcPts val="300"/>
              </a:spcAft>
              <a:defRPr sz="1150" b="0">
                <a:solidFill>
                  <a:srgbClr val="000000"/>
                </a:solidFill>
                <a:latin typeface="Lato"/>
              </a:defRPr>
            </a:pPr>
            <a:r>
              <a:t>Gap: actual share, customer access and additional contestable volume.</a:t>
            </a:r>
          </a:p>
          <a:p>
            <a:pPr>
              <a:spcAft>
                <a:spcPts val="300"/>
              </a:spcAft>
              <a:defRPr sz="1150" b="0">
                <a:solidFill>
                  <a:srgbClr val="000000"/>
                </a:solidFill>
                <a:latin typeface="Lato"/>
              </a:defRPr>
            </a:pPr>
            <a:r>
              <a:t>Close: client flows + cost/access tests; investment follows the flow case.</a:t>
            </a:r>
          </a:p>
        </p:txBody>
      </p:sp>
      <p:cxnSp>
        <p:nvCxnSpPr>
          <p:cNvPr id="30" name="Connector 29"/>
          <p:cNvCxnSpPr/>
          <p:nvPr/>
        </p:nvCxnSpPr>
        <p:spPr>
          <a:xfrm>
            <a:off x="457200" y="5980176"/>
            <a:ext cx="6446520" cy="0"/>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457200" y="6291072"/>
            <a:ext cx="6446520" cy="210312"/>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Week windows are targets. Partner propositions require testing; they are not established findings.</a:t>
            </a:r>
          </a:p>
        </p:txBody>
      </p:sp>
    </p:spTree>
  </p:cSld>
  <p:clrMapOvr>
    <a:masterClrMapping/>
  </p:clrMapOvr>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pak Theme" id="{EB158558-B090-4A15-9406-52ADAF46E73D}" vid="{169915E9-BA5A-4298-BC78-09D681881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729E3C0-DBBA-4E87-A833-D4D671FDC2D1}">
  <we:reference id="WA200010725" version="1.0.0.1" store="Omex" storeType="OMEX"/>
  <we:alternateReferences>
    <we:reference id="WA200010725" version="1.0.0.1" store="WA200010725" storeType="OMEX"/>
  </we:alternateReferences>
  <we:properties>
    <we:property name="claude.fileId" value="&quot;440e1679-9fef-4664-be92-b7e3c5432c2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B14DAA3CC024F49A081857B4C9CD92A" ma:contentTypeVersion="20" ma:contentTypeDescription="Create a new document." ma:contentTypeScope="" ma:versionID="cdb2463664abbc9cc5ebc4769b50ad18">
  <xsd:schema xmlns:xsd="http://www.w3.org/2001/XMLSchema" xmlns:xs="http://www.w3.org/2001/XMLSchema" xmlns:p="http://schemas.microsoft.com/office/2006/metadata/properties" xmlns:ns2="265cb39c-7109-435c-af5d-13dc21a2db6b" xmlns:ns3="62b85a0e-09bb-4b0f-bd28-e34020cdc070" targetNamespace="http://schemas.microsoft.com/office/2006/metadata/properties" ma:root="true" ma:fieldsID="ee545d7bb76dd121542a05c73fb4a941" ns2:_="" ns3:_="">
    <xsd:import namespace="265cb39c-7109-435c-af5d-13dc21a2db6b"/>
    <xsd:import namespace="62b85a0e-09bb-4b0f-bd28-e34020cdc07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Archiv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5cb39c-7109-435c-af5d-13dc21a2d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f3d1728-64fa-4f01-bb7d-5585de3a980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rchive" ma:index="26" nillable="true" ma:displayName="Archive" ma:default="0" ma:description="Folder to be backed up, archived and removed from SharePoint" ma:format="Dropdown" ma:internalName="Archive">
      <xsd:simpleType>
        <xsd:restriction base="dms:Boolea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b85a0e-09bb-4b0f-bd28-e34020cdc07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44b13c9-2708-4b8b-a658-00962d7928c2}" ma:internalName="TaxCatchAll" ma:showField="CatchAllData" ma:web="62b85a0e-09bb-4b0f-bd28-e34020cdc0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65cb39c-7109-435c-af5d-13dc21a2db6b">
      <Terms xmlns="http://schemas.microsoft.com/office/infopath/2007/PartnerControls"/>
    </lcf76f155ced4ddcb4097134ff3c332f>
    <TaxCatchAll xmlns="62b85a0e-09bb-4b0f-bd28-e34020cdc070" xsi:nil="true"/>
    <SharedWithUsers xmlns="62b85a0e-09bb-4b0f-bd28-e34020cdc070">
      <UserInfo>
        <DisplayName>Joseph Kihara</DisplayName>
        <AccountId>3747</AccountId>
        <AccountType/>
      </UserInfo>
    </SharedWithUsers>
    <Archive xmlns="265cb39c-7109-435c-af5d-13dc21a2db6b">false</Archive>
  </documentManagement>
</p:properties>
</file>

<file path=customXml/itemProps1.xml><?xml version="1.0" encoding="utf-8"?>
<ds:datastoreItem xmlns:ds="http://schemas.openxmlformats.org/officeDocument/2006/customXml" ds:itemID="{1E0AC09D-7AB9-4C7E-89AA-55CFDED1BCB9}">
  <ds:schemaRefs>
    <ds:schemaRef ds:uri="http://schemas.microsoft.com/sharepoint/v3/contenttype/forms"/>
  </ds:schemaRefs>
</ds:datastoreItem>
</file>

<file path=customXml/itemProps2.xml><?xml version="1.0" encoding="utf-8"?>
<ds:datastoreItem xmlns:ds="http://schemas.openxmlformats.org/officeDocument/2006/customXml" ds:itemID="{1B9F3023-3460-4C94-AC6C-4F171062BD4F}">
  <ds:schemaRefs>
    <ds:schemaRef ds:uri="265cb39c-7109-435c-af5d-13dc21a2db6b"/>
    <ds:schemaRef ds:uri="62b85a0e-09bb-4b0f-bd28-e34020cdc0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9FA9FA0-2CB2-436E-A336-3A77ADFE4CF1}">
  <ds:schemaRefs>
    <ds:schemaRef ds:uri="http://purl.org/dc/terms/"/>
    <ds:schemaRef ds:uri="http://schemas.microsoft.com/office/infopath/2007/PartnerControls"/>
    <ds:schemaRef ds:uri="http://purl.org/dc/dcmitype/"/>
    <ds:schemaRef ds:uri="http://schemas.openxmlformats.org/package/2006/metadata/core-properties"/>
    <ds:schemaRef ds:uri="http://schemas.microsoft.com/office/2006/metadata/properties"/>
    <ds:schemaRef ds:uri="http://schemas.microsoft.com/office/2006/documentManagement/types"/>
    <ds:schemaRef ds:uri="265cb39c-7109-435c-af5d-13dc21a2db6b"/>
    <ds:schemaRef ds:uri="http://purl.org/dc/elements/1.1/"/>
    <ds:schemaRef ds:uri="62b85a0e-09bb-4b0f-bd28-e34020cdc070"/>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Vopak Theme</Template>
  <TotalTime>0</TotalTime>
  <Words>15</Words>
  <Application>Microsoft Office PowerPoint</Application>
  <PresentationFormat>Custom</PresentationFormat>
  <Paragraphs>4</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Lato</vt:lpstr>
      <vt:lpstr>Vopak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Africa liquid fuels: Week 1 analytical maps</dc:title>
  <dc:creator>Africa International Advisors</dc:creator>
  <cp:lastModifiedBy>Nigel Zhuwaki</cp:lastModifiedBy>
  <cp:revision>1</cp:revision>
  <dcterms:created xsi:type="dcterms:W3CDTF">2017-11-16T09:19:07Z</dcterms:created>
  <dcterms:modified xsi:type="dcterms:W3CDTF">2026-10-01T12:10:22Z</dcterms:modified>
  <dc:subject>Illustrative demand geography and conditional Vopak market access</dc:subject>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0x010100BB14DAA3CC024F49A081857B4C9CD92A</vt:lpwstr>
  </property>
  <property fmtid="{D5CDD505-2E9C-101B-9397-08002B2CF9AE}" pid="3" name="MediaServiceImageTags">
    <vt:lpwstr/>
  </property>
</Properties>
</file>