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17"/>
    <p:sldId id="263" r:id="rId6"/>
    <p:sldId id="264" r:id="rId19"/>
    <p:sldId id="258" r:id="rId5"/>
    <p:sldId id="259" r:id="rId16"/>
    <p:sldId id="265" r:id="rId20"/>
    <p:sldId id="266" r:id="rId21"/>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xml"/><Relationship Id="rId6" Type="http://schemas.openxmlformats.org/officeDocument/2006/relationships/slide" Target="slides/slide6.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3.xml"/><Relationship Id="rId17" Type="http://schemas.openxmlformats.org/officeDocument/2006/relationships/slide" Target="slides/slide5.xml"/><Relationship Id="rId18" Type="http://schemas.openxmlformats.org/officeDocument/2006/relationships/slide" Target="slides/slide4.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9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9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slides 6-7.</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market/share figures on slides 6-7.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 evidence reviewed 6 October 2026. Competitor list is a starting inventory, not exhaustive. Actual petrol/diesel throughput share remains unknown. Capacity is a stock and may include chemicals/gases. Bidvest site capacities: Durban 439306 + Richards Bay 483797 + Isando 32500 = 955603 m3; homepage instead states 868000 m3. Reconcile dates and products. Burgan Cape Terminal publishes 122000 m3 and a 2025-2026 uncommitted-capacity download; confirm the current period before treating it as available. Market volume illustration uses the authored regional CSV, not public company volumes. Current unique demand served / matched catchment demand; additional candidate / matched catchment demand. National, catchment, eligible-throughput and capacity denominators must not be interchanged. [1]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https://www.transnet.net/getFile.ashx?id=5330 | 2024-09-01 commencement | Not evidence of current spare capacity or an independent merchant tank service; historical inactive depots excluded</a:t>
            </a:r>
          </a:p>
          <a:p>
            <a:r>
              <a:t>Stacked bars are authored illustration only; not actual market share. Eastern coast current 22.2%, additional candidate 33.3%, outside envelope 44.4%; inland 20%, 40%, 40%. Candidate volume is conditional, not forecast capture. Regions use the working province definitions on slide 2, but the bar denominators remain the illustrative 4.5/10.0 bn L, not observed 2022 sales. Western/other unassessed.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Main panel gross stocks; separate lease panel has an enlarged 0–10 thousand m3 axis. Ladysmith: 8540 m3 petrol/diesel working capacity; excluded intermixture 474 m3; total working 9014 m3. Standerton: (1350000 + 220000 + 783000)/1000 = 2353 m3; gross/working basis unstated. Kroonstad: approximately 3300 m3; gross/working basis unstated. Bethlehem/Magdala have no quantified petroleum tank capacity. Lease assets are not added to operating supply, gross totals or accessibility cost-model origins. Vopak HTML data-end-number uses cbm, not the alternate displayed barrels. Primary RFPs retained under external/data/raw/transnet_leasing_20261006/. https://www.transnet.net/TPL-Leasing-Opportunities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TPL-Leasing-Opportunitie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Map conditional market access from Durban and Lesedi</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About</a:t>
            </a:r>
          </a:p>
        </p:txBody>
      </p:sp>
      <p:sp>
        <p:nvSpPr>
          <p:cNvPr id="5" name="Section navigation 2"/>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Analytical specifications</a:t>
            </a:r>
          </a:p>
        </p:txBody>
      </p:sp>
      <p:sp>
        <p:nvSpPr>
          <p:cNvPr id="6" name="Section navigation 3"/>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Model build</a:t>
            </a:r>
          </a:p>
        </p:txBody>
      </p:sp>
      <p:sp>
        <p:nvSpPr>
          <p:cNvPr id="7" name="Section navigation 4"/>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Delivery approach</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appendix routes; illustrative candidate connections, not verified catchments. Natural Earth 1:50m.</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t>Road-delivery accessibility | illustrative transport cost, R/litre</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800" b="1">
                <a:solidFill>
                  <a:srgbClr val="000000"/>
                </a:solidFill>
                <a:latin typeface="Lato"/>
              </a:defRPr>
            </a:pPr>
            <a:r>
              <a:t>Key takeaways</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24927" y="218541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Durban: coastal and inland links</a:t>
            </a:r>
          </a:p>
        </p:txBody>
      </p:sp>
      <p:sp>
        <p:nvSpPr>
          <p:cNvPr id="15" name="TextBox 14"/>
          <p:cNvSpPr txBox="1"/>
          <p:nvPr/>
        </p:nvSpPr>
        <p:spPr>
          <a:xfrm>
            <a:off x="7424927" y="257860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Road candidates connect coastal customers and inland transfers. Pipelines are separate supply connections.</a:t>
            </a:r>
          </a:p>
        </p:txBody>
      </p:sp>
      <p:sp>
        <p:nvSpPr>
          <p:cNvPr id="16" name="TextBox 15"/>
          <p:cNvSpPr txBox="1"/>
          <p:nvPr/>
        </p:nvSpPr>
        <p:spPr>
          <a:xfrm>
            <a:off x="7424927" y="319125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Lesedi: inland dispatch</a:t>
            </a:r>
          </a:p>
        </p:txBody>
      </p:sp>
      <p:sp>
        <p:nvSpPr>
          <p:cNvPr id="17" name="TextBox 16"/>
          <p:cNvSpPr txBox="1"/>
          <p:nvPr/>
        </p:nvSpPr>
        <p:spPr>
          <a:xfrm>
            <a:off x="7424927" y="358444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Test receipt, dispatch, tanker cycles and customer destinations for connected inland markets.</a:t>
            </a:r>
          </a:p>
        </p:txBody>
      </p:sp>
      <p:sp>
        <p:nvSpPr>
          <p:cNvPr id="18" name="TextBox 17"/>
          <p:cNvSpPr txBox="1"/>
          <p:nvPr/>
        </p:nvSpPr>
        <p:spPr>
          <a:xfrm>
            <a:off x="7424927" y="419709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Lower cost means higher accessibility</a:t>
            </a:r>
          </a:p>
        </p:txBody>
      </p:sp>
      <p:sp>
        <p:nvSpPr>
          <p:cNvPr id="19" name="TextBox 18"/>
          <p:cNvSpPr txBox="1"/>
          <p:nvPr/>
        </p:nvSpPr>
        <p:spPr>
          <a:xfrm>
            <a:off x="7424927" y="459028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Darker cells show lower example road-delivery cost from either facility. Pipe and rail lines remain context.</a:t>
            </a:r>
          </a:p>
        </p:txBody>
      </p:sp>
      <p:sp>
        <p:nvSpPr>
          <p:cNvPr id="20" name="TextBox 19"/>
          <p:cNvSpPr txBox="1"/>
          <p:nvPr/>
        </p:nvSpPr>
        <p:spPr>
          <a:xfrm>
            <a:off x="7424927" y="520293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 Customer access is unverified</a:t>
            </a:r>
          </a:p>
        </p:txBody>
      </p:sp>
      <p:sp>
        <p:nvSpPr>
          <p:cNvPr id="21" name="TextBox 20"/>
          <p:cNvSpPr txBox="1"/>
          <p:nvPr/>
        </p:nvSpPr>
        <p:spPr>
          <a:xfrm>
            <a:off x="7424927" y="559612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Contracts and competitors define the commercial envelope. Actual customer catchments are not supplied.</a:t>
            </a:r>
          </a:p>
        </p:txBody>
      </p: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28600"/>
          </a:xfrm>
          <a:prstGeom prst="rect">
            <a:avLst/>
          </a:prstGeom>
          <a:solidFill>
            <a:srgbClr val="FFFFFF"/>
          </a:solidFill>
        </p:spPr>
        <p:txBody>
          <a:bodyPr wrap="square" lIns="22860" rIns="22860" tIns="0" bIns="0">
            <a:spAutoFit/>
          </a:bodyPr>
          <a:lstStyle/>
          <a:p>
            <a:pPr>
              <a:spcAft>
                <a:spcPts val="300"/>
              </a:spcAft>
              <a:defRPr sz="9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28600"/>
          </a:xfrm>
          <a:prstGeom prst="rect">
            <a:avLst/>
          </a:prstGeom>
          <a:solidFill>
            <a:srgbClr val="FFFFFF"/>
          </a:solidFill>
        </p:spPr>
        <p:txBody>
          <a:bodyPr wrap="square" lIns="22860" rIns="22860" tIns="0" bIns="0">
            <a:spAutoFit/>
          </a:bodyPr>
          <a:lstStyle/>
          <a:p>
            <a:pPr>
              <a:spcAft>
                <a:spcPts val="300"/>
              </a:spcAft>
              <a:defRPr sz="900" b="0">
                <a:solidFill>
                  <a:srgbClr val="0A2373"/>
                </a:solidFill>
                <a:latin typeface="Lato"/>
              </a:defRPr>
            </a:pPr>
            <a:r>
              <a:t>Lesedi*</a:t>
            </a:r>
          </a:p>
        </p:txBody>
      </p:sp>
      <p:cxnSp>
        <p:nvCxnSpPr>
          <p:cNvPr id="516"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2"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TextBox 545"/>
          <p:cNvSpPr txBox="1"/>
          <p:nvPr/>
        </p:nvSpPr>
        <p:spPr>
          <a:xfrm>
            <a:off x="685800"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≤0.75</a:t>
            </a:r>
          </a:p>
        </p:txBody>
      </p:sp>
      <p:sp>
        <p:nvSpPr>
          <p:cNvPr id="547"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TextBox 547"/>
          <p:cNvSpPr txBox="1"/>
          <p:nvPr/>
        </p:nvSpPr>
        <p:spPr>
          <a:xfrm>
            <a:off x="1618488"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0.75–1.25</a:t>
            </a:r>
          </a:p>
        </p:txBody>
      </p:sp>
      <p:sp>
        <p:nvSpPr>
          <p:cNvPr id="549"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TextBox 549"/>
          <p:cNvSpPr txBox="1"/>
          <p:nvPr/>
        </p:nvSpPr>
        <p:spPr>
          <a:xfrm>
            <a:off x="2551176"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1.25–1.75</a:t>
            </a:r>
          </a:p>
        </p:txBody>
      </p:sp>
      <p:sp>
        <p:nvSpPr>
          <p:cNvPr id="551"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TextBox 551"/>
          <p:cNvSpPr txBox="1"/>
          <p:nvPr/>
        </p:nvSpPr>
        <p:spPr>
          <a:xfrm>
            <a:off x="3483864"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1.75–2.25</a:t>
            </a:r>
          </a:p>
        </p:txBody>
      </p:sp>
      <p:sp>
        <p:nvSpPr>
          <p:cNvPr id="553"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TextBox 553"/>
          <p:cNvSpPr txBox="1"/>
          <p:nvPr/>
        </p:nvSpPr>
        <p:spPr>
          <a:xfrm>
            <a:off x="4416552"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&gt;2.25</a:t>
            </a:r>
          </a:p>
        </p:txBody>
      </p:sp>
      <p:sp>
        <p:nvSpPr>
          <p:cNvPr id="555"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TextBox 555"/>
          <p:cNvSpPr txBox="1"/>
          <p:nvPr/>
        </p:nvSpPr>
        <p:spPr>
          <a:xfrm>
            <a:off x="5431536" y="5916168"/>
            <a:ext cx="731520" cy="201168"/>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Unassessed</a:t>
            </a:r>
          </a:p>
        </p:txBody>
      </p:sp>
      <p:sp>
        <p:nvSpPr>
          <p:cNvPr id="557" name="TextBox 556"/>
          <p:cNvSpPr txBox="1"/>
          <p:nvPr/>
        </p:nvSpPr>
        <p:spPr>
          <a:xfrm>
            <a:off x="6254496" y="5916168"/>
            <a:ext cx="640080" cy="201168"/>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R/litre</a:t>
            </a:r>
          </a:p>
        </p:txBody>
      </p:sp>
      <p:sp>
        <p:nvSpPr>
          <p:cNvPr id="558"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Example rate: R0.15/L dispatch + R0.002/L/km. Grey = unassessed.</a:t>
            </a:r>
          </a:p>
        </p:txBody>
      </p:sp>
      <p:sp>
        <p:nvSpPr>
          <p:cNvPr id="559" name="TextBox 558"/>
          <p:cNvSpPr txBox="1"/>
          <p:nvPr/>
        </p:nvSpPr>
        <p:spPr>
          <a:xfrm>
            <a:off x="457200" y="6391656"/>
            <a:ext cx="653796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Illustrative road cost only. Pipeline/rail access and commercial rights are not priced.</a:t>
            </a:r>
          </a:p>
        </p:txBody>
      </p:sp>
      <p:sp>
        <p:nvSpPr>
          <p:cNvPr id="2521" name="Transnet lease overlay: Isosceles Triangle 2520"/>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22" name="Transnet lease overlay: Connector 2521"/>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523" name="Transnet lease overlay: TextBox 2522"/>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2524" name="Transnet lease overlay: Isosceles Triangle 2523"/>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25" name="Transnet lease overlay: Connector 2524"/>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526" name="Transnet lease overlay: TextBox 2525"/>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2527" name="Transnet lease overlay: Isosceles Triangle 2526"/>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28" name="Transnet lease overlay: Connector 2527"/>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529" name="Transnet lease overlay: TextBox 2528"/>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2530" name="Transnet lease overlay: Isosceles Triangle 2529"/>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31" name="Transnet lease overlay: Connector 2530"/>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532" name="Transnet lease overlay: TextBox 2531"/>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2533" name="Transnet lease overlay: Isosceles Triangle 2532"/>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34" name="Transnet lease overlay: Connector 2533"/>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535" name="Transnet lease overlay: TextBox 2534"/>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2536" name="Transnet lease overlay: TextBox 2535"/>
          <p:cNvSpPr txBox="1"/>
          <p:nvPr/>
        </p:nvSpPr>
        <p:spPr>
          <a:xfrm>
            <a:off x="594360" y="3776472"/>
            <a:ext cx="1865376" cy="786384"/>
          </a:xfrm>
          <a:prstGeom prst="rect">
            <a:avLst/>
          </a:prstGeom>
          <a:solidFill>
            <a:srgbClr val="FFFFFF"/>
          </a:solidFill>
        </p:spPr>
        <p:txBody>
          <a:bodyPr wrap="square" lIns="22860" rIns="22860" tIns="0" bIns="0">
            <a:spAutoFit/>
          </a:bodyPr>
          <a:lstStyle/>
          <a:p>
            <a:pPr>
              <a:spcAft>
                <a:spcPts val="300"/>
              </a:spcAft>
              <a:defRPr sz="900" b="1">
                <a:solidFill>
                  <a:srgbClr val="000000"/>
                </a:solidFill>
                <a:latin typeface="Lato"/>
              </a:defRPr>
            </a:pPr>
            <a:r>
              <a:t>   Transnet lease offers</a:t>
            </a:r>
          </a:p>
          <a:p>
            <a:pPr>
              <a:spcAft>
                <a:spcPts val="300"/>
              </a:spcAft>
              <a:defRPr sz="900" b="1">
                <a:solidFill>
                  <a:srgbClr val="000000"/>
                </a:solidFill>
                <a:latin typeface="Lato"/>
              </a:defRPr>
            </a:pPr>
            <a:r>
              <a:t>1 Ladysmith | 2 Standerton</a:t>
            </a:r>
          </a:p>
          <a:p>
            <a:pPr>
              <a:spcAft>
                <a:spcPts val="300"/>
              </a:spcAft>
              <a:defRPr sz="900" b="1">
                <a:solidFill>
                  <a:srgbClr val="000000"/>
                </a:solidFill>
                <a:latin typeface="Lato"/>
              </a:defRPr>
            </a:pPr>
            <a:r>
              <a:t>3 Kroonstad | 4 Bethlehem</a:t>
            </a:r>
          </a:p>
          <a:p>
            <a:pPr>
              <a:spcAft>
                <a:spcPts val="300"/>
              </a:spcAft>
              <a:defRPr sz="900" b="1">
                <a:solidFill>
                  <a:srgbClr val="000000"/>
                </a:solidFill>
                <a:latin typeface="Lato"/>
              </a:defRPr>
            </a:pPr>
            <a:r>
              <a:t>5 Magdala*</a:t>
            </a:r>
          </a:p>
        </p:txBody>
      </p:sp>
      <p:sp>
        <p:nvSpPr>
          <p:cNvPr id="2537" name="Transnet lease overlay: Isosceles Triangle 2536"/>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Separate demand, accessible volume and Vopak flows</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About</a:t>
            </a:r>
          </a:p>
        </p:txBody>
      </p:sp>
      <p:sp>
        <p:nvSpPr>
          <p:cNvPr id="5" name="Section navigation 2"/>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Analytical specifications</a:t>
            </a:r>
          </a:p>
        </p:txBody>
      </p:sp>
      <p:sp>
        <p:nvSpPr>
          <p:cNvPr id="6" name="Section navigation 3"/>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Model build</a:t>
            </a:r>
          </a:p>
        </p:txBody>
      </p:sp>
      <p:sp>
        <p:nvSpPr>
          <p:cNvPr id="7" name="Section navigation 4"/>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Delivery approach</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Illustrative CSVs and road transport rates; no actual Vopak throughput or quoted transport costs supplied.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t>Cost accessibility and market volumes | illustrative</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800" b="1">
                <a:solidFill>
                  <a:srgbClr val="000000"/>
                </a:solidFill>
                <a:latin typeface="Lato"/>
              </a:defRPr>
            </a:pPr>
            <a:r>
              <a:t>Key takeaways</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24927" y="218541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National balance sets import needs</a:t>
            </a:r>
          </a:p>
        </p:txBody>
      </p:sp>
      <p:sp>
        <p:nvSpPr>
          <p:cNvPr id="15" name="TextBox 14"/>
          <p:cNvSpPr txBox="1"/>
          <p:nvPr/>
        </p:nvSpPr>
        <p:spPr>
          <a:xfrm>
            <a:off x="7424927" y="257860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Demand of 21.0 less domestic production of 7.0 gives required imports of 14.0 in this illustration.</a:t>
            </a:r>
          </a:p>
        </p:txBody>
      </p:sp>
      <p:sp>
        <p:nvSpPr>
          <p:cNvPr id="16" name="TextBox 15"/>
          <p:cNvSpPr txBox="1"/>
          <p:nvPr/>
        </p:nvSpPr>
        <p:spPr>
          <a:xfrm>
            <a:off x="7424927" y="319125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Count unique customer demand once</a:t>
            </a:r>
          </a:p>
        </p:txBody>
      </p:sp>
      <p:sp>
        <p:nvSpPr>
          <p:cNvPr id="17" name="TextBox 16"/>
          <p:cNvSpPr txBox="1"/>
          <p:nvPr/>
        </p:nvSpPr>
        <p:spPr>
          <a:xfrm>
            <a:off x="7424927" y="358444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Receipts of 2.8 at Durban and 2.0 at Lesedi include a shared 1.8 transfer. Unique demand served is 3.0.</a:t>
            </a:r>
          </a:p>
        </p:txBody>
      </p:sp>
      <p:sp>
        <p:nvSpPr>
          <p:cNvPr id="18" name="TextBox 17"/>
          <p:cNvSpPr txBox="1"/>
          <p:nvPr/>
        </p:nvSpPr>
        <p:spPr>
          <a:xfrm>
            <a:off x="7424927" y="419709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Candidate opportunity is conditional</a:t>
            </a:r>
          </a:p>
        </p:txBody>
      </p:sp>
      <p:sp>
        <p:nvSpPr>
          <p:cNvPr id="19" name="TextBox 18"/>
          <p:cNvSpPr txBox="1"/>
          <p:nvPr/>
        </p:nvSpPr>
        <p:spPr>
          <a:xfrm>
            <a:off x="7424927" y="459028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example commercial envelope is 8.5; current unique demand served is 3.0, leaving a candidate 5.5.</a:t>
            </a:r>
          </a:p>
        </p:txBody>
      </p:sp>
      <p:sp>
        <p:nvSpPr>
          <p:cNvPr id="20" name="TextBox 19"/>
          <p:cNvSpPr txBox="1"/>
          <p:nvPr/>
        </p:nvSpPr>
        <p:spPr>
          <a:xfrm>
            <a:off x="7424927" y="520293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 Replace examples with evidence</a:t>
            </a:r>
          </a:p>
        </p:txBody>
      </p:sp>
      <p:sp>
        <p:nvSpPr>
          <p:cNvPr id="21" name="TextBox 20"/>
          <p:cNvSpPr txBox="1"/>
          <p:nvPr/>
        </p:nvSpPr>
        <p:spPr>
          <a:xfrm>
            <a:off x="7424927" y="559612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Match regional demand, route constraints, customer flows and contracts by product, period and units.</a:t>
            </a:r>
          </a:p>
        </p:txBody>
      </p: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28600"/>
          </a:xfrm>
          <a:prstGeom prst="rect">
            <a:avLst/>
          </a:prstGeom>
          <a:solidFill>
            <a:srgbClr val="FFFFFF"/>
          </a:solidFill>
        </p:spPr>
        <p:txBody>
          <a:bodyPr wrap="square" lIns="22860" rIns="22860" tIns="0" bIns="0">
            <a:spAutoFit/>
          </a:bodyPr>
          <a:lstStyle/>
          <a:p>
            <a:pPr>
              <a:spcAft>
                <a:spcPts val="300"/>
              </a:spcAft>
              <a:defRPr sz="9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28600"/>
          </a:xfrm>
          <a:prstGeom prst="rect">
            <a:avLst/>
          </a:prstGeom>
          <a:solidFill>
            <a:srgbClr val="FFFFFF"/>
          </a:solidFill>
        </p:spPr>
        <p:txBody>
          <a:bodyPr wrap="square" lIns="22860" rIns="22860" tIns="0" bIns="0">
            <a:spAutoFit/>
          </a:bodyPr>
          <a:lstStyle/>
          <a:p>
            <a:pPr>
              <a:spcAft>
                <a:spcPts val="300"/>
              </a:spcAft>
              <a:defRPr sz="900" b="0">
                <a:solidFill>
                  <a:srgbClr val="0A2373"/>
                </a:solidFill>
                <a:latin typeface="Lato"/>
              </a:defRPr>
            </a:pPr>
            <a:r>
              <a:t>Lesedi*</a:t>
            </a:r>
          </a:p>
        </p:txBody>
      </p:sp>
      <p:sp>
        <p:nvSpPr>
          <p:cNvPr id="516" name="TextBox 515"/>
          <p:cNvSpPr txBox="1"/>
          <p:nvPr/>
        </p:nvSpPr>
        <p:spPr>
          <a:xfrm>
            <a:off x="731520" y="2487168"/>
            <a:ext cx="2468880" cy="66751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Inland market | illustrative</a:t>
            </a:r>
          </a:p>
          <a:p>
            <a:pPr>
              <a:spcAft>
                <a:spcPts val="300"/>
              </a:spcAft>
              <a:defRPr sz="1100" b="1">
                <a:solidFill>
                  <a:srgbClr val="0A2373"/>
                </a:solidFill>
                <a:latin typeface="Lato"/>
              </a:defRPr>
            </a:pPr>
            <a:r>
              <a:t>Demand 10.0 | envelope 6.0</a:t>
            </a:r>
          </a:p>
          <a:p>
            <a:pPr>
              <a:spcAft>
                <a:spcPts val="300"/>
              </a:spcAft>
              <a:defRPr sz="1100" b="1">
                <a:solidFill>
                  <a:srgbClr val="0A2373"/>
                </a:solidFill>
                <a:latin typeface="Lato"/>
              </a:defRPr>
            </a:pPr>
            <a:r>
              <a:t>Current 2.0 | candidate 4.0</a:t>
            </a:r>
          </a:p>
        </p:txBody>
      </p:sp>
      <p:sp>
        <p:nvSpPr>
          <p:cNvPr id="517" name="TextBox 516"/>
          <p:cNvSpPr txBox="1"/>
          <p:nvPr/>
        </p:nvSpPr>
        <p:spPr>
          <a:xfrm>
            <a:off x="4343400" y="5047488"/>
            <a:ext cx="2468880" cy="66751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Eastern/coastal | illustrative</a:t>
            </a:r>
          </a:p>
          <a:p>
            <a:pPr>
              <a:spcAft>
                <a:spcPts val="300"/>
              </a:spcAft>
              <a:defRPr sz="1100" b="1">
                <a:solidFill>
                  <a:srgbClr val="0A2373"/>
                </a:solidFill>
                <a:latin typeface="Lato"/>
              </a:defRPr>
            </a:pPr>
            <a:r>
              <a:t>Demand 4.5 | envelope 2.5</a:t>
            </a:r>
          </a:p>
          <a:p>
            <a:pPr>
              <a:spcAft>
                <a:spcPts val="300"/>
              </a:spcAft>
              <a:defRPr sz="1100" b="1">
                <a:solidFill>
                  <a:srgbClr val="0A2373"/>
                </a:solidFill>
                <a:latin typeface="Lato"/>
              </a:defRPr>
            </a:pPr>
            <a:r>
              <a:t>Current 1.0 | candidate 1.5</a:t>
            </a:r>
          </a:p>
        </p:txBody>
      </p:sp>
      <p:sp>
        <p:nvSpPr>
          <p:cNvPr id="518" name="Rectangle 517"/>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TextBox 518"/>
          <p:cNvSpPr txBox="1"/>
          <p:nvPr/>
        </p:nvSpPr>
        <p:spPr>
          <a:xfrm>
            <a:off x="685800"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≤0.75</a:t>
            </a:r>
          </a:p>
        </p:txBody>
      </p:sp>
      <p:sp>
        <p:nvSpPr>
          <p:cNvPr id="520" name="Rectangle 519"/>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TextBox 520"/>
          <p:cNvSpPr txBox="1"/>
          <p:nvPr/>
        </p:nvSpPr>
        <p:spPr>
          <a:xfrm>
            <a:off x="1618488"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0.75–1.25</a:t>
            </a:r>
          </a:p>
        </p:txBody>
      </p:sp>
      <p:sp>
        <p:nvSpPr>
          <p:cNvPr id="522" name="Rectangle 521"/>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TextBox 522"/>
          <p:cNvSpPr txBox="1"/>
          <p:nvPr/>
        </p:nvSpPr>
        <p:spPr>
          <a:xfrm>
            <a:off x="2551176"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1.25–1.75</a:t>
            </a:r>
          </a:p>
        </p:txBody>
      </p:sp>
      <p:sp>
        <p:nvSpPr>
          <p:cNvPr id="524" name="Rectangle 523"/>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TextBox 524"/>
          <p:cNvSpPr txBox="1"/>
          <p:nvPr/>
        </p:nvSpPr>
        <p:spPr>
          <a:xfrm>
            <a:off x="3483864"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1.75–2.25</a:t>
            </a:r>
          </a:p>
        </p:txBody>
      </p:sp>
      <p:sp>
        <p:nvSpPr>
          <p:cNvPr id="526" name="Rectangle 525"/>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TextBox 526"/>
          <p:cNvSpPr txBox="1"/>
          <p:nvPr/>
        </p:nvSpPr>
        <p:spPr>
          <a:xfrm>
            <a:off x="4416552" y="5916168"/>
            <a:ext cx="960120" cy="201168"/>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&gt;2.25</a:t>
            </a:r>
          </a:p>
        </p:txBody>
      </p:sp>
      <p:sp>
        <p:nvSpPr>
          <p:cNvPr id="528" name="Rectangle 527"/>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TextBox 528"/>
          <p:cNvSpPr txBox="1"/>
          <p:nvPr/>
        </p:nvSpPr>
        <p:spPr>
          <a:xfrm>
            <a:off x="5431536" y="5916168"/>
            <a:ext cx="731520" cy="201168"/>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Unassessed</a:t>
            </a:r>
          </a:p>
        </p:txBody>
      </p:sp>
      <p:sp>
        <p:nvSpPr>
          <p:cNvPr id="530" name="TextBox 529"/>
          <p:cNvSpPr txBox="1"/>
          <p:nvPr/>
        </p:nvSpPr>
        <p:spPr>
          <a:xfrm>
            <a:off x="6254496" y="5916168"/>
            <a:ext cx="640080" cy="201168"/>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R/litre</a:t>
            </a:r>
          </a:p>
        </p:txBody>
      </p:sp>
      <p:sp>
        <p:nvSpPr>
          <p:cNvPr id="531" name="TextBox 530"/>
          <p:cNvSpPr txBox="1"/>
          <p:nvPr/>
        </p:nvSpPr>
        <p:spPr>
          <a:xfrm>
            <a:off x="457200" y="6144768"/>
            <a:ext cx="6446520" cy="21031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Receipts 2.8 + 2.0 − transfer 1.8 = unique demand 3.0</a:t>
            </a:r>
          </a:p>
        </p:txBody>
      </p:sp>
      <p:sp>
        <p:nvSpPr>
          <p:cNvPr id="532" name="TextBox 531"/>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Example rates: R0.15/L + R0.002/L/km. Grey = unassessed. Volumes: bn L/year.</a:t>
            </a:r>
          </a:p>
        </p:txBody>
      </p:sp>
      <p:sp>
        <p:nvSpPr>
          <p:cNvPr id="2521" name="Transnet lease overlay: Isosceles Triangle 2520"/>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22" name="Transnet lease overlay: Connector 2521"/>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523" name="Transnet lease overlay: TextBox 2522"/>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2524" name="Transnet lease overlay: Isosceles Triangle 2523"/>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25" name="Transnet lease overlay: Connector 2524"/>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526" name="Transnet lease overlay: TextBox 2525"/>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2527" name="Transnet lease overlay: Isosceles Triangle 2526"/>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28" name="Transnet lease overlay: Connector 2527"/>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529" name="Transnet lease overlay: TextBox 2528"/>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2530" name="Transnet lease overlay: Isosceles Triangle 2529"/>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31" name="Transnet lease overlay: Connector 2530"/>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532" name="Transnet lease overlay: TextBox 2531"/>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2533" name="Transnet lease overlay: Isosceles Triangle 2532"/>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34" name="Transnet lease overlay: Connector 2533"/>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535" name="Transnet lease overlay: TextBox 2534"/>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2536" name="Transnet lease overlay: TextBox 2535"/>
          <p:cNvSpPr txBox="1"/>
          <p:nvPr/>
        </p:nvSpPr>
        <p:spPr>
          <a:xfrm>
            <a:off x="594360" y="3776472"/>
            <a:ext cx="1865376" cy="786384"/>
          </a:xfrm>
          <a:prstGeom prst="rect">
            <a:avLst/>
          </a:prstGeom>
          <a:solidFill>
            <a:srgbClr val="FFFFFF"/>
          </a:solidFill>
        </p:spPr>
        <p:txBody>
          <a:bodyPr wrap="square" lIns="22860" rIns="22860" tIns="0" bIns="0">
            <a:spAutoFit/>
          </a:bodyPr>
          <a:lstStyle/>
          <a:p>
            <a:pPr>
              <a:spcAft>
                <a:spcPts val="300"/>
              </a:spcAft>
              <a:defRPr sz="900" b="1">
                <a:solidFill>
                  <a:srgbClr val="000000"/>
                </a:solidFill>
                <a:latin typeface="Lato"/>
              </a:defRPr>
            </a:pPr>
            <a:r>
              <a:t>   Transnet lease offers</a:t>
            </a:r>
          </a:p>
          <a:p>
            <a:pPr>
              <a:spcAft>
                <a:spcPts val="300"/>
              </a:spcAft>
              <a:defRPr sz="900" b="1">
                <a:solidFill>
                  <a:srgbClr val="000000"/>
                </a:solidFill>
                <a:latin typeface="Lato"/>
              </a:defRPr>
            </a:pPr>
            <a:r>
              <a:t>1 Ladysmith | 2 Standerton</a:t>
            </a:r>
          </a:p>
          <a:p>
            <a:pPr>
              <a:spcAft>
                <a:spcPts val="300"/>
              </a:spcAft>
              <a:defRPr sz="900" b="1">
                <a:solidFill>
                  <a:srgbClr val="000000"/>
                </a:solidFill>
                <a:latin typeface="Lato"/>
              </a:defRPr>
            </a:pPr>
            <a:r>
              <a:t>3 Kroonstad | 4 Bethlehem</a:t>
            </a:r>
          </a:p>
          <a:p>
            <a:pPr>
              <a:spcAft>
                <a:spcPts val="300"/>
              </a:spcAft>
              <a:defRPr sz="900" b="1">
                <a:solidFill>
                  <a:srgbClr val="000000"/>
                </a:solidFill>
                <a:latin typeface="Lato"/>
              </a:defRPr>
            </a:pPr>
            <a:r>
              <a:t>5 Magdala*</a:t>
            </a:r>
          </a:p>
        </p:txBody>
      </p:sp>
      <p:sp>
        <p:nvSpPr>
          <p:cNvPr id="2537" name="Transnet lease overlay: Isosceles Triangle 2536"/>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Agree priorities</a:t>
            </a:r>
          </a:p>
          <a:p>
            <a:pPr>
              <a:spcAft>
                <a:spcPts val="800"/>
              </a:spcAft>
              <a:defRPr sz="3100" b="0">
                <a:solidFill>
                  <a:srgbClr val="FFFFFF"/>
                </a:solidFill>
                <a:latin typeface="Lato"/>
              </a:defRPr>
            </a:pPr>
            <a: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Locate fuel demand alongside the infrastructure serving it</a:t>
            </a:r>
          </a:p>
        </p:txBody>
      </p:sp>
      <p:sp>
        <p:nvSpPr>
          <p:cNvPr id="3" name="Slide Number Placeholder"/>
          <p:cNvSpPr>
            <a:spLocks noGrp="1"/>
          </p:cNvSpPr>
          <p:nvPr>
            <p:ph type="sldNum" sz="quarter" idx="12"/>
          </p:nvPr>
        </p:nvSpPr>
        <p:spPr/>
        <p:txBody>
          <a:bodyPr/>
          <a:lstStyle/>
          <a:p>
            <a:fld id="{8F49CB3D-B1BB-4969-8330-384C7B94EF42}" type="slidenum">
              <a:rPr lang="en-US"/>
              <a:t>‹#›</a:t>
            </a:fld>
          </a:p>
        </p:txBody>
      </p:sp>
      <p:sp>
        <p:nvSpPr>
          <p:cNvPr id="4" name="Section navigation 1"/>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About</a:t>
            </a:r>
          </a:p>
        </p:txBody>
      </p:sp>
      <p:sp>
        <p:nvSpPr>
          <p:cNvPr id="5" name="Section navigation 2"/>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Analytical specifications</a:t>
            </a:r>
          </a:p>
        </p:txBody>
      </p:sp>
      <p:sp>
        <p:nvSpPr>
          <p:cNvPr id="6" name="Section navigation 3"/>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Model build</a:t>
            </a:r>
          </a:p>
        </p:txBody>
      </p:sp>
      <p:sp>
        <p:nvSpPr>
          <p:cNvPr id="7" name="Section navigation 4"/>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Delivery approach</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geoBoundaries/OCHA/MDB 2020 provinces (CC BY 3.0 IGO); operator sources on slide 7.</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800" b="1">
                <a:solidFill>
                  <a:srgbClr val="000000"/>
                </a:solidFill>
                <a:latin typeface="Lato"/>
              </a:defRPr>
            </a:pPr>
            <a:r>
              <a:t>Key takeaways</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24927" y="218541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concentrates in three provinces</a:t>
            </a:r>
          </a:p>
        </p:txBody>
      </p:sp>
      <p:sp>
        <p:nvSpPr>
          <p:cNvPr id="15" name="TextBox 14"/>
          <p:cNvSpPr txBox="1"/>
          <p:nvPr/>
        </p:nvSpPr>
        <p:spPr>
          <a:xfrm>
            <a:off x="7424927" y="257860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6.81, KwaZulu-Natal 4.28 and Western Cape 3.93 bn litres represent 68.6% of reported sales.</a:t>
            </a:r>
          </a:p>
        </p:txBody>
      </p:sp>
      <p:sp>
        <p:nvSpPr>
          <p:cNvPr id="16" name="TextBox 15"/>
          <p:cNvSpPr txBox="1"/>
          <p:nvPr/>
        </p:nvSpPr>
        <p:spPr>
          <a:xfrm>
            <a:off x="7424927" y="319125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Regions have explicit boundaries</a:t>
            </a:r>
          </a:p>
        </p:txBody>
      </p:sp>
      <p:sp>
        <p:nvSpPr>
          <p:cNvPr id="17" name="TextBox 16"/>
          <p:cNvSpPr txBox="1"/>
          <p:nvPr/>
        </p:nvSpPr>
        <p:spPr>
          <a:xfrm>
            <a:off x="7424927" y="358444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Eastern coast = EC + KZN; inland = GP, FS, LP, MP and NW; western coast = WC; other = NC. These are working groupings.</a:t>
            </a:r>
          </a:p>
        </p:txBody>
      </p:sp>
      <p:sp>
        <p:nvSpPr>
          <p:cNvPr id="18" name="TextBox 17"/>
          <p:cNvSpPr txBox="1"/>
          <p:nvPr/>
        </p:nvSpPr>
        <p:spPr>
          <a:xfrm>
            <a:off x="7424927" y="419709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Five Transnet lease offers added</a:t>
            </a:r>
          </a:p>
        </p:txBody>
      </p:sp>
      <p:sp>
        <p:nvSpPr>
          <p:cNvPr id="19" name="TextBox 18"/>
          <p:cNvSpPr txBox="1"/>
          <p:nvPr/>
        </p:nvSpPr>
        <p:spPr>
          <a:xfrm>
            <a:off x="7424927" y="459028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Numbered triangles locate stranded depots offered for lease. Refurbishment, licensing and customer access remain conditional.</a:t>
            </a:r>
          </a:p>
        </p:txBody>
      </p:sp>
      <p:sp>
        <p:nvSpPr>
          <p:cNvPr id="20" name="TextBox 19"/>
          <p:cNvSpPr txBox="1"/>
          <p:nvPr/>
        </p:nvSpPr>
        <p:spPr>
          <a:xfrm>
            <a:off x="7424927" y="520293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 Sales do not establish accessible volume</a:t>
            </a:r>
          </a:p>
        </p:txBody>
      </p:sp>
      <p:sp>
        <p:nvSpPr>
          <p:cNvPr id="21" name="TextBox 20"/>
          <p:cNvSpPr txBox="1"/>
          <p:nvPr/>
        </p:nvSpPr>
        <p:spPr>
          <a:xfrm>
            <a:off x="7424927" y="559612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All four quarters of 2022 reconcile to national sales. Current demand, delivered cost and customer rights need separate evidence.</a:t>
            </a:r>
          </a:p>
        </p:txBody>
      </p: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Hexagon 513"/>
          <p:cNvSpPr/>
          <p:nvPr/>
        </p:nvSpPr>
        <p:spPr>
          <a:xfrm>
            <a:off x="4997057" y="4265204"/>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Hexagon 514"/>
          <p:cNvSpPr/>
          <p:nvPr/>
        </p:nvSpPr>
        <p:spPr>
          <a:xfrm>
            <a:off x="5242626" y="400182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Hexagon 515"/>
          <p:cNvSpPr/>
          <p:nvPr/>
        </p:nvSpPr>
        <p:spPr>
          <a:xfrm>
            <a:off x="4394666" y="3284328"/>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Hexagon 516"/>
          <p:cNvSpPr/>
          <p:nvPr/>
        </p:nvSpPr>
        <p:spPr>
          <a:xfrm>
            <a:off x="4375076" y="332985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Hexagon 517"/>
          <p:cNvSpPr/>
          <p:nvPr/>
        </p:nvSpPr>
        <p:spPr>
          <a:xfrm>
            <a:off x="4385601" y="3184360"/>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Hexagon 518"/>
          <p:cNvSpPr/>
          <p:nvPr/>
        </p:nvSpPr>
        <p:spPr>
          <a:xfrm>
            <a:off x="4422829" y="3177679"/>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Hexagon 519"/>
          <p:cNvSpPr/>
          <p:nvPr/>
        </p:nvSpPr>
        <p:spPr>
          <a:xfrm>
            <a:off x="4303161" y="3453400"/>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Hexagon 520"/>
          <p:cNvSpPr/>
          <p:nvPr/>
        </p:nvSpPr>
        <p:spPr>
          <a:xfrm>
            <a:off x="4263607" y="326567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Hexagon 521"/>
          <p:cNvSpPr/>
          <p:nvPr/>
        </p:nvSpPr>
        <p:spPr>
          <a:xfrm>
            <a:off x="4434127" y="336213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Hexagon 522"/>
          <p:cNvSpPr/>
          <p:nvPr/>
        </p:nvSpPr>
        <p:spPr>
          <a:xfrm>
            <a:off x="2251904" y="5301864"/>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4" name="Connector 523"/>
          <p:cNvCxnSpPr/>
          <p:nvPr/>
        </p:nvCxnSpPr>
        <p:spPr>
          <a:xfrm flipH="1">
            <a:off x="5001768" y="4315496"/>
            <a:ext cx="45581" cy="50763"/>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5" name="TextBox 524"/>
          <p:cNvSpPr txBox="1"/>
          <p:nvPr/>
        </p:nvSpPr>
        <p:spPr>
          <a:xfrm>
            <a:off x="5001768" y="4160520"/>
            <a:ext cx="1508760" cy="411480"/>
          </a:xfrm>
          <a:prstGeom prst="rect">
            <a:avLst/>
          </a:prstGeom>
          <a:solidFill>
            <a:srgbClr val="FFFFFF"/>
          </a:solidFill>
        </p:spPr>
        <p:txBody>
          <a:bodyPr wrap="square" lIns="22860" rIns="22860" tIns="0" bIns="0">
            <a:spAutoFit/>
          </a:bodyPr>
          <a:lstStyle/>
          <a:p>
            <a:pPr>
              <a:spcAft>
                <a:spcPts val="300"/>
              </a:spcAft>
              <a:defRPr sz="1000" b="1">
                <a:solidFill>
                  <a:srgbClr val="0A2373"/>
                </a:solidFill>
                <a:latin typeface="Lato"/>
              </a:defRPr>
            </a:pPr>
            <a:r>
              <a:t>Durban</a:t>
            </a:r>
          </a:p>
          <a:p>
            <a:pPr>
              <a:spcAft>
                <a:spcPts val="300"/>
              </a:spcAft>
              <a:defRPr sz="1000" b="1">
                <a:solidFill>
                  <a:srgbClr val="0A2373"/>
                </a:solidFill>
                <a:latin typeface="Lato"/>
              </a:defRPr>
            </a:pPr>
            <a:r>
              <a:t>Vopak / Bidvest</a:t>
            </a:r>
          </a:p>
        </p:txBody>
      </p:sp>
      <p:cxnSp>
        <p:nvCxnSpPr>
          <p:cNvPr id="526" name="Connector 525"/>
          <p:cNvCxnSpPr/>
          <p:nvPr/>
        </p:nvCxnSpPr>
        <p:spPr>
          <a:xfrm flipH="1" flipV="1">
            <a:off x="5148072" y="3817620"/>
            <a:ext cx="144846" cy="234493"/>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7" name="TextBox 526"/>
          <p:cNvSpPr txBox="1"/>
          <p:nvPr/>
        </p:nvSpPr>
        <p:spPr>
          <a:xfrm>
            <a:off x="5148072" y="3611880"/>
            <a:ext cx="1554480" cy="411480"/>
          </a:xfrm>
          <a:prstGeom prst="rect">
            <a:avLst/>
          </a:prstGeom>
          <a:solidFill>
            <a:srgbClr val="FFFFFF"/>
          </a:solidFill>
        </p:spPr>
        <p:txBody>
          <a:bodyPr wrap="square" lIns="22860" rIns="22860" tIns="0" bIns="0">
            <a:spAutoFit/>
          </a:bodyPr>
          <a:lstStyle/>
          <a:p>
            <a:pPr>
              <a:spcAft>
                <a:spcPts val="300"/>
              </a:spcAft>
              <a:defRPr sz="1000" b="1">
                <a:solidFill>
                  <a:srgbClr val="0A2373"/>
                </a:solidFill>
                <a:latin typeface="Lato"/>
              </a:defRPr>
            </a:pPr>
            <a:r>
              <a:t>Richards Bay</a:t>
            </a:r>
          </a:p>
          <a:p>
            <a:pPr>
              <a:spcAft>
                <a:spcPts val="300"/>
              </a:spcAft>
              <a:defRPr sz="1000" b="1">
                <a:solidFill>
                  <a:srgbClr val="0A2373"/>
                </a:solidFill>
                <a:latin typeface="Lato"/>
              </a:defRPr>
            </a:pPr>
            <a:r>
              <a:t>Bidvest</a:t>
            </a:r>
          </a:p>
        </p:txBody>
      </p:sp>
      <p:cxnSp>
        <p:nvCxnSpPr>
          <p:cNvPr id="528" name="Connector 527"/>
          <p:cNvCxnSpPr/>
          <p:nvPr/>
        </p:nvCxnSpPr>
        <p:spPr>
          <a:xfrm flipH="1" flipV="1">
            <a:off x="566928" y="4773168"/>
            <a:ext cx="1735268" cy="578988"/>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9" name="TextBox 528"/>
          <p:cNvSpPr txBox="1"/>
          <p:nvPr/>
        </p:nvSpPr>
        <p:spPr>
          <a:xfrm>
            <a:off x="566928" y="4572000"/>
            <a:ext cx="1298448" cy="402336"/>
          </a:xfrm>
          <a:prstGeom prst="rect">
            <a:avLst/>
          </a:prstGeom>
          <a:solidFill>
            <a:srgbClr val="FFFFFF"/>
          </a:solidFill>
        </p:spPr>
        <p:txBody>
          <a:bodyPr wrap="square" lIns="22860" rIns="22860" tIns="0" bIns="0">
            <a:spAutoFit/>
          </a:bodyPr>
          <a:lstStyle/>
          <a:p>
            <a:pPr>
              <a:spcAft>
                <a:spcPts val="300"/>
              </a:spcAft>
              <a:defRPr sz="1000" b="1">
                <a:solidFill>
                  <a:srgbClr val="0A2373"/>
                </a:solidFill>
                <a:latin typeface="Lato"/>
              </a:defRPr>
            </a:pPr>
            <a:r>
              <a:t>Cape Town</a:t>
            </a:r>
          </a:p>
          <a:p>
            <a:pPr>
              <a:spcAft>
                <a:spcPts val="300"/>
              </a:spcAft>
              <a:defRPr sz="1000" b="1">
                <a:solidFill>
                  <a:srgbClr val="0A2373"/>
                </a:solidFill>
                <a:latin typeface="Lato"/>
              </a:defRPr>
            </a:pPr>
            <a:r>
              <a:t>Burgan Cape</a:t>
            </a:r>
          </a:p>
        </p:txBody>
      </p:sp>
      <p:cxnSp>
        <p:nvCxnSpPr>
          <p:cNvPr id="530" name="Connector 529"/>
          <p:cNvCxnSpPr/>
          <p:nvPr/>
        </p:nvCxnSpPr>
        <p:spPr>
          <a:xfrm flipH="1" flipV="1">
            <a:off x="594360" y="3209544"/>
            <a:ext cx="3847905" cy="140350"/>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31" name="TextBox 530"/>
          <p:cNvSpPr txBox="1"/>
          <p:nvPr/>
        </p:nvSpPr>
        <p:spPr>
          <a:xfrm>
            <a:off x="594360" y="2907792"/>
            <a:ext cx="1874519" cy="603504"/>
          </a:xfrm>
          <a:prstGeom prst="rect">
            <a:avLst/>
          </a:prstGeom>
          <a:solidFill>
            <a:srgbClr val="FFFFFF"/>
          </a:solidFill>
        </p:spPr>
        <p:txBody>
          <a:bodyPr wrap="square" lIns="22860" rIns="22860" tIns="0" bIns="0">
            <a:spAutoFit/>
          </a:bodyPr>
          <a:lstStyle/>
          <a:p>
            <a:pPr>
              <a:spcAft>
                <a:spcPts val="300"/>
              </a:spcAft>
              <a:defRPr sz="1000" b="1">
                <a:solidFill>
                  <a:srgbClr val="0A2373"/>
                </a:solidFill>
                <a:latin typeface="Lato"/>
              </a:defRPr>
            </a:pPr>
            <a:r>
              <a:t>Lesedi / inland storage</a:t>
            </a:r>
          </a:p>
          <a:p>
            <a:pPr>
              <a:spcAft>
                <a:spcPts val="300"/>
              </a:spcAft>
              <a:defRPr sz="1000" b="1">
                <a:solidFill>
                  <a:srgbClr val="0A2373"/>
                </a:solidFill>
                <a:latin typeface="Lato"/>
              </a:defRPr>
            </a:pPr>
            <a:r>
              <a:t>Vopak / Bidvest</a:t>
            </a:r>
          </a:p>
          <a:p>
            <a:pPr>
              <a:spcAft>
                <a:spcPts val="300"/>
              </a:spcAft>
              <a:defRPr sz="1000" b="1">
                <a:solidFill>
                  <a:srgbClr val="0A2373"/>
                </a:solidFill>
                <a:latin typeface="Lato"/>
              </a:defRPr>
            </a:pPr>
            <a:r>
              <a:t>Sasol / Transnet</a:t>
            </a:r>
          </a:p>
        </p:txBody>
      </p:sp>
      <p:sp>
        <p:nvSpPr>
          <p:cNvPr id="532" name="Transnet lease overlay: Isosceles Triangle 531"/>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3" name="Transnet lease overlay: Connector 532"/>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34" name="Transnet lease overlay: TextBox 533"/>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535" name="Transnet lease overlay: Isosceles Triangle 534"/>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6" name="Transnet lease overlay: Connector 535"/>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37" name="Transnet lease overlay: TextBox 536"/>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538" name="Transnet lease overlay: Isosceles Triangle 537"/>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9" name="Transnet lease overlay: Connector 538"/>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0" name="Transnet lease overlay: TextBox 539"/>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541" name="Transnet lease overlay: Isosceles Triangle 540"/>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2" name="Transnet lease overlay: Connector 541"/>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3" name="Transnet lease overlay: TextBox 542"/>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544" name="Transnet lease overlay: Isosceles Triangle 543"/>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5" name="Transnet lease overlay: Connector 544"/>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6" name="Transnet lease overlay: TextBox 545"/>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547" name="Transnet lease overlay: TextBox 546"/>
          <p:cNvSpPr txBox="1"/>
          <p:nvPr/>
        </p:nvSpPr>
        <p:spPr>
          <a:xfrm>
            <a:off x="594360" y="3694176"/>
            <a:ext cx="1865376" cy="786384"/>
          </a:xfrm>
          <a:prstGeom prst="rect">
            <a:avLst/>
          </a:prstGeom>
          <a:solidFill>
            <a:srgbClr val="FFFFFF"/>
          </a:solidFill>
        </p:spPr>
        <p:txBody>
          <a:bodyPr wrap="square" lIns="22860" rIns="22860" tIns="0" bIns="0">
            <a:spAutoFit/>
          </a:bodyPr>
          <a:lstStyle/>
          <a:p>
            <a:pPr>
              <a:spcAft>
                <a:spcPts val="300"/>
              </a:spcAft>
              <a:defRPr sz="900" b="1">
                <a:solidFill>
                  <a:srgbClr val="000000"/>
                </a:solidFill>
                <a:latin typeface="Lato"/>
              </a:defRPr>
            </a:pPr>
            <a:r>
              <a:t>   Transnet lease offers</a:t>
            </a:r>
          </a:p>
          <a:p>
            <a:pPr>
              <a:spcAft>
                <a:spcPts val="300"/>
              </a:spcAft>
              <a:defRPr sz="900" b="1">
                <a:solidFill>
                  <a:srgbClr val="000000"/>
                </a:solidFill>
                <a:latin typeface="Lato"/>
              </a:defRPr>
            </a:pPr>
            <a:r>
              <a:t>1 Ladysmith | 2 Standerton</a:t>
            </a:r>
          </a:p>
          <a:p>
            <a:pPr>
              <a:spcAft>
                <a:spcPts val="300"/>
              </a:spcAft>
              <a:defRPr sz="900" b="1">
                <a:solidFill>
                  <a:srgbClr val="000000"/>
                </a:solidFill>
                <a:latin typeface="Lato"/>
              </a:defRPr>
            </a:pPr>
            <a:r>
              <a:t>3 Kroonstad | 4 Bethlehem</a:t>
            </a:r>
          </a:p>
          <a:p>
            <a:pPr>
              <a:spcAft>
                <a:spcPts val="300"/>
              </a:spcAft>
              <a:defRPr sz="900" b="1">
                <a:solidFill>
                  <a:srgbClr val="000000"/>
                </a:solidFill>
                <a:latin typeface="Lato"/>
              </a:defRPr>
            </a:pPr>
            <a:r>
              <a:t>5 Magdala*</a:t>
            </a:r>
          </a:p>
        </p:txBody>
      </p:sp>
      <p:sp>
        <p:nvSpPr>
          <p:cNvPr id="548" name="Transnet lease overlay: Isosceles Triangle 547"/>
          <p:cNvSpPr/>
          <p:nvPr/>
        </p:nvSpPr>
        <p:spPr>
          <a:xfrm>
            <a:off x="612647" y="372618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9" name="Connector 548"/>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50" name="TextBox 549"/>
          <p:cNvSpPr txBox="1"/>
          <p:nvPr/>
        </p:nvSpPr>
        <p:spPr>
          <a:xfrm>
            <a:off x="3733647" y="479765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EC</a:t>
            </a:r>
          </a:p>
          <a:p>
            <a:pPr>
              <a:spcAft>
                <a:spcPts val="300"/>
              </a:spcAft>
              <a:defRPr sz="900" b="1">
                <a:solidFill>
                  <a:srgbClr val="0A2373"/>
                </a:solidFill>
                <a:latin typeface="Lato"/>
              </a:defRPr>
            </a:pPr>
            <a:r>
              <a:t>1.74</a:t>
            </a:r>
          </a:p>
        </p:txBody>
      </p:sp>
      <p:sp>
        <p:nvSpPr>
          <p:cNvPr id="551" name="TextBox 550"/>
          <p:cNvSpPr txBox="1"/>
          <p:nvPr/>
        </p:nvSpPr>
        <p:spPr>
          <a:xfrm>
            <a:off x="3542762" y="379856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FS</a:t>
            </a:r>
          </a:p>
          <a:p>
            <a:pPr>
              <a:spcAft>
                <a:spcPts val="300"/>
              </a:spcAft>
              <a:defRPr sz="900" b="1">
                <a:solidFill>
                  <a:srgbClr val="0A2373"/>
                </a:solidFill>
                <a:latin typeface="Lato"/>
              </a:defRPr>
            </a:pPr>
            <a:r>
              <a:t>1.37</a:t>
            </a:r>
          </a:p>
        </p:txBody>
      </p:sp>
      <p:sp>
        <p:nvSpPr>
          <p:cNvPr id="552" name="TextBox 551"/>
          <p:cNvSpPr txBox="1"/>
          <p:nvPr/>
        </p:nvSpPr>
        <p:spPr>
          <a:xfrm>
            <a:off x="3803733" y="280388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GP</a:t>
            </a:r>
          </a:p>
          <a:p>
            <a:pPr>
              <a:spcAft>
                <a:spcPts val="300"/>
              </a:spcAft>
              <a:defRPr sz="900" b="1">
                <a:solidFill>
                  <a:srgbClr val="0A2373"/>
                </a:solidFill>
                <a:latin typeface="Lato"/>
              </a:defRPr>
            </a:pPr>
            <a:r>
              <a:t>6.81</a:t>
            </a:r>
          </a:p>
        </p:txBody>
      </p:sp>
      <p:sp>
        <p:nvSpPr>
          <p:cNvPr id="553" name="TextBox 552"/>
          <p:cNvSpPr txBox="1"/>
          <p:nvPr/>
        </p:nvSpPr>
        <p:spPr>
          <a:xfrm>
            <a:off x="4411105" y="4123524"/>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KZN</a:t>
            </a:r>
          </a:p>
          <a:p>
            <a:pPr>
              <a:spcAft>
                <a:spcPts val="300"/>
              </a:spcAft>
              <a:defRPr sz="900" b="1">
                <a:solidFill>
                  <a:srgbClr val="0A2373"/>
                </a:solidFill>
                <a:latin typeface="Lato"/>
              </a:defRPr>
            </a:pPr>
            <a:r>
              <a:t>4.28</a:t>
            </a:r>
          </a:p>
        </p:txBody>
      </p:sp>
      <p:sp>
        <p:nvSpPr>
          <p:cNvPr id="554" name="TextBox 553"/>
          <p:cNvSpPr txBox="1"/>
          <p:nvPr/>
        </p:nvSpPr>
        <p:spPr>
          <a:xfrm>
            <a:off x="4417727" y="2601143"/>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LP</a:t>
            </a:r>
          </a:p>
          <a:p>
            <a:pPr>
              <a:spcAft>
                <a:spcPts val="300"/>
              </a:spcAft>
              <a:defRPr sz="900" b="1">
                <a:solidFill>
                  <a:srgbClr val="0A2373"/>
                </a:solidFill>
                <a:latin typeface="Lato"/>
              </a:defRPr>
            </a:pPr>
            <a:r>
              <a:t>0.50</a:t>
            </a:r>
          </a:p>
        </p:txBody>
      </p:sp>
      <p:sp>
        <p:nvSpPr>
          <p:cNvPr id="555" name="TextBox 554"/>
          <p:cNvSpPr txBox="1"/>
          <p:nvPr/>
        </p:nvSpPr>
        <p:spPr>
          <a:xfrm>
            <a:off x="4643472" y="3134231"/>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MP</a:t>
            </a:r>
          </a:p>
          <a:p>
            <a:pPr>
              <a:spcAft>
                <a:spcPts val="300"/>
              </a:spcAft>
              <a:defRPr sz="900" b="1">
                <a:solidFill>
                  <a:srgbClr val="0A2373"/>
                </a:solidFill>
                <a:latin typeface="Lato"/>
              </a:defRPr>
            </a:pPr>
            <a:r>
              <a:t>1.76</a:t>
            </a:r>
          </a:p>
        </p:txBody>
      </p:sp>
      <p:sp>
        <p:nvSpPr>
          <p:cNvPr id="556" name="TextBox 555"/>
          <p:cNvSpPr txBox="1"/>
          <p:nvPr/>
        </p:nvSpPr>
        <p:spPr>
          <a:xfrm>
            <a:off x="3637071" y="324939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NW</a:t>
            </a:r>
          </a:p>
          <a:p>
            <a:pPr>
              <a:spcAft>
                <a:spcPts val="300"/>
              </a:spcAft>
              <a:defRPr sz="900" b="1">
                <a:solidFill>
                  <a:srgbClr val="0A2373"/>
                </a:solidFill>
                <a:latin typeface="Lato"/>
              </a:defRPr>
            </a:pPr>
            <a:r>
              <a:t>1.07</a:t>
            </a:r>
          </a:p>
        </p:txBody>
      </p:sp>
      <p:sp>
        <p:nvSpPr>
          <p:cNvPr id="557" name="TextBox 556"/>
          <p:cNvSpPr txBox="1"/>
          <p:nvPr/>
        </p:nvSpPr>
        <p:spPr>
          <a:xfrm>
            <a:off x="2660447" y="411647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NC</a:t>
            </a:r>
          </a:p>
          <a:p>
            <a:pPr>
              <a:spcAft>
                <a:spcPts val="300"/>
              </a:spcAft>
              <a:defRPr sz="900" b="1">
                <a:solidFill>
                  <a:srgbClr val="0A2373"/>
                </a:solidFill>
                <a:latin typeface="Lato"/>
              </a:defRPr>
            </a:pPr>
            <a:r>
              <a:t>0.45</a:t>
            </a:r>
          </a:p>
        </p:txBody>
      </p:sp>
      <p:sp>
        <p:nvSpPr>
          <p:cNvPr id="558" name="TextBox 557"/>
          <p:cNvSpPr txBox="1"/>
          <p:nvPr/>
        </p:nvSpPr>
        <p:spPr>
          <a:xfrm>
            <a:off x="2480876" y="494182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WC</a:t>
            </a:r>
          </a:p>
          <a:p>
            <a:pPr>
              <a:spcAft>
                <a:spcPts val="300"/>
              </a:spcAft>
              <a:defRPr sz="900" b="1">
                <a:solidFill>
                  <a:srgbClr val="0A2373"/>
                </a:solidFill>
                <a:latin typeface="Lato"/>
              </a:defRPr>
            </a:pPr>
            <a:r>
              <a:t>3.93</a:t>
            </a:r>
          </a:p>
        </p:txBody>
      </p:sp>
      <p:sp>
        <p:nvSpPr>
          <p:cNvPr id="559" name="Rectangle 558"/>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TextBox 559"/>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&lt;1</a:t>
            </a:r>
          </a:p>
        </p:txBody>
      </p:sp>
      <p:sp>
        <p:nvSpPr>
          <p:cNvPr id="561" name="Rectangle 560"/>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TextBox 561"/>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a:t>
            </a:r>
          </a:p>
        </p:txBody>
      </p:sp>
      <p:sp>
        <p:nvSpPr>
          <p:cNvPr id="563" name="Rectangle 562"/>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TextBox 563"/>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2-4</a:t>
            </a:r>
          </a:p>
        </p:txBody>
      </p:sp>
      <p:sp>
        <p:nvSpPr>
          <p:cNvPr id="565" name="Rectangle 564"/>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TextBox 565"/>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4-6</a:t>
            </a:r>
          </a:p>
        </p:txBody>
      </p:sp>
      <p:sp>
        <p:nvSpPr>
          <p:cNvPr id="567" name="Rectangle 566"/>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TextBox 567"/>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6+</a:t>
            </a:r>
          </a:p>
        </p:txBody>
      </p:sp>
      <p:sp>
        <p:nvSpPr>
          <p:cNvPr id="569" name="TextBox 568"/>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bn L/year; darker = more sales</a:t>
            </a:r>
          </a:p>
        </p:txBody>
      </p:sp>
      <p:sp>
        <p:nvSpPr>
          <p:cNvPr id="570" name="Oval 569"/>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TextBox 570"/>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Production</a:t>
            </a:r>
          </a:p>
        </p:txBody>
      </p:sp>
      <p:sp>
        <p:nvSpPr>
          <p:cNvPr id="572" name="Rectangle 571"/>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TextBox 572"/>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Port</a:t>
            </a:r>
          </a:p>
        </p:txBody>
      </p:sp>
      <p:sp>
        <p:nvSpPr>
          <p:cNvPr id="574" name="Diamond 573"/>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TextBox 574"/>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Vopak</a:t>
            </a:r>
          </a:p>
        </p:txBody>
      </p:sp>
      <p:sp>
        <p:nvSpPr>
          <p:cNvPr id="576" name="Hexagon 575"/>
          <p:cNvSpPr/>
          <p:nvPr/>
        </p:nvSpPr>
        <p:spPr>
          <a:xfrm>
            <a:off x="3204972" y="6195060"/>
            <a:ext cx="82296" cy="82296"/>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TextBox 576"/>
          <p:cNvSpPr txBox="1"/>
          <p:nvPr/>
        </p:nvSpPr>
        <p:spPr>
          <a:xfrm>
            <a:off x="333756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Other storage</a:t>
            </a:r>
          </a:p>
        </p:txBody>
      </p:sp>
      <p:sp>
        <p:nvSpPr>
          <p:cNvPr id="578" name="TextBox 577"/>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Lines: road / pipe / rail; heavy outlines: working regions</a:t>
            </a:r>
          </a:p>
        </p:txBody>
      </p:sp>
      <p:sp>
        <p:nvSpPr>
          <p:cNvPr id="579" name="TextBox 578"/>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Lease offers are not operating capacity. *Magdala RFP location narrative conflicts; briefing coordinate used. Jet excluded.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Track petrol and diesel sales by province over time</a:t>
            </a:r>
          </a:p>
        </p:txBody>
      </p:sp>
      <p:sp>
        <p:nvSpPr>
          <p:cNvPr id="3" name="Slide Number Placeholder"/>
          <p:cNvSpPr>
            <a:spLocks noGrp="1"/>
          </p:cNvSpPr>
          <p:nvPr>
            <p:ph type="sldNum" sz="quarter" idx="12"/>
          </p:nvPr>
        </p:nvSpPr>
        <p:spPr/>
        <p:txBody>
          <a:bodyPr/>
          <a:lstStyle/>
          <a:p>
            <a:fld id="{654A49EB-0689-457F-9F82-56ADA510801B}" type="slidenum">
              <a:rPr lang="en-US"/>
              <a:t>‹#›</a:t>
            </a:fld>
          </a:p>
        </p:txBody>
      </p:sp>
      <p:sp>
        <p:nvSpPr>
          <p:cNvPr id="4" name="Section navigation 1"/>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About</a:t>
            </a:r>
          </a:p>
        </p:txBody>
      </p:sp>
      <p:sp>
        <p:nvSpPr>
          <p:cNvPr id="5" name="Section navigation 2"/>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Analytical specifications</a:t>
            </a:r>
          </a:p>
        </p:txBody>
      </p:sp>
      <p:sp>
        <p:nvSpPr>
          <p:cNvPr id="6" name="Section navigation 3"/>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Model build</a:t>
            </a:r>
          </a:p>
        </p:txBody>
      </p:sp>
      <p:sp>
        <p:nvSpPr>
          <p:cNvPr id="7" name="Section navigation 4"/>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Delivery approach</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quarterly provincial sales extract; complete calendar years only. Petrol + diesel; jet excluded.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800" b="1">
                <a:solidFill>
                  <a:srgbClr val="000000"/>
                </a:solidFill>
                <a:latin typeface="Lato"/>
              </a:defRPr>
            </a:pPr>
            <a:r>
              <a:t>Key takeaways</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24927" y="218541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One line per province</a:t>
            </a:r>
          </a:p>
        </p:txBody>
      </p:sp>
      <p:sp>
        <p:nvSpPr>
          <p:cNvPr id="15" name="TextBox 14"/>
          <p:cNvSpPr txBox="1"/>
          <p:nvPr/>
        </p:nvSpPr>
        <p:spPr>
          <a:xfrm>
            <a:off x="7424927" y="257860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Compare provincial demand histories on one shared scale. Petrol and diesel are combined; jet is excluded.</a:t>
            </a:r>
          </a:p>
        </p:txBody>
      </p:sp>
      <p:sp>
        <p:nvSpPr>
          <p:cNvPr id="16" name="TextBox 15"/>
          <p:cNvSpPr txBox="1"/>
          <p:nvPr/>
        </p:nvSpPr>
        <p:spPr>
          <a:xfrm>
            <a:off x="7424927" y="319125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Keep history separate from outlook</a:t>
            </a:r>
          </a:p>
        </p:txBody>
      </p:sp>
      <p:sp>
        <p:nvSpPr>
          <p:cNvPr id="17" name="TextBox 16"/>
          <p:cNvSpPr txBox="1"/>
          <p:nvPr/>
        </p:nvSpPr>
        <p:spPr>
          <a:xfrm>
            <a:off x="7424927" y="358444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latest complete year in this extract is 2022. These lines are reported sales, not a current-year forecast.</a:t>
            </a:r>
          </a:p>
        </p:txBody>
      </p:sp>
      <p:sp>
        <p:nvSpPr>
          <p:cNvPr id="18" name="TextBox 17"/>
          <p:cNvSpPr txBox="1"/>
          <p:nvPr/>
        </p:nvSpPr>
        <p:spPr>
          <a:xfrm>
            <a:off x="7424927" y="419709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Incomplete periods are excluded</a:t>
            </a:r>
          </a:p>
        </p:txBody>
      </p:sp>
      <p:sp>
        <p:nvSpPr>
          <p:cNvPr id="19" name="TextBox 18"/>
          <p:cNvSpPr txBox="1"/>
          <p:nvPr/>
        </p:nvSpPr>
        <p:spPr>
          <a:xfrm>
            <a:off x="7424927" y="459028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2023 contains Q1 only. A partial year must not appear as a full-year demand collapse.</a:t>
            </a:r>
          </a:p>
        </p:txBody>
      </p:sp>
      <p:sp>
        <p:nvSpPr>
          <p:cNvPr id="20" name="TextBox 19"/>
          <p:cNvSpPr txBox="1"/>
          <p:nvPr/>
        </p:nvSpPr>
        <p:spPr>
          <a:xfrm>
            <a:off x="7424927" y="520293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 Historical totals need reconciliation</a:t>
            </a:r>
          </a:p>
        </p:txBody>
      </p:sp>
      <p:sp>
        <p:nvSpPr>
          <p:cNvPr id="21" name="TextBox 20"/>
          <p:cNvSpPr txBox="1"/>
          <p:nvPr/>
        </p:nvSpPr>
        <p:spPr>
          <a:xfrm>
            <a:off x="7424927" y="559612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Provincial and national series differ in 6 years. Largest gaps: 2013 +0.54 and 2018 -0.43 bn litres. Review the source workbooks.</a:t>
            </a:r>
          </a:p>
        </p:txBody>
      </p: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943600"/>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879592"/>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Gauteng</a:t>
            </a:r>
          </a:p>
        </p:txBody>
      </p:sp>
      <p:cxnSp>
        <p:nvCxnSpPr>
          <p:cNvPr id="25" name="Connector 24"/>
          <p:cNvCxnSpPr/>
          <p:nvPr/>
        </p:nvCxnSpPr>
        <p:spPr>
          <a:xfrm>
            <a:off x="2606039" y="5943600"/>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879592"/>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KwaZulu-Natal</a:t>
            </a:r>
          </a:p>
        </p:txBody>
      </p:sp>
      <p:cxnSp>
        <p:nvCxnSpPr>
          <p:cNvPr id="27" name="Connector 26"/>
          <p:cNvCxnSpPr/>
          <p:nvPr/>
        </p:nvCxnSpPr>
        <p:spPr>
          <a:xfrm>
            <a:off x="4709159" y="5943600"/>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879592"/>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Western Cape</a:t>
            </a:r>
          </a:p>
        </p:txBody>
      </p:sp>
      <p:cxnSp>
        <p:nvCxnSpPr>
          <p:cNvPr id="29" name="Connector 28"/>
          <p:cNvCxnSpPr/>
          <p:nvPr/>
        </p:nvCxnSpPr>
        <p:spPr>
          <a:xfrm>
            <a:off x="502920" y="6153912"/>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6089904"/>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Mpumalanga</a:t>
            </a:r>
          </a:p>
        </p:txBody>
      </p:sp>
      <p:cxnSp>
        <p:nvCxnSpPr>
          <p:cNvPr id="31" name="Connector 30"/>
          <p:cNvCxnSpPr/>
          <p:nvPr/>
        </p:nvCxnSpPr>
        <p:spPr>
          <a:xfrm>
            <a:off x="2606039" y="6153912"/>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6089904"/>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Eastern Cape</a:t>
            </a:r>
          </a:p>
        </p:txBody>
      </p:sp>
      <p:cxnSp>
        <p:nvCxnSpPr>
          <p:cNvPr id="33" name="Connector 32"/>
          <p:cNvCxnSpPr/>
          <p:nvPr/>
        </p:nvCxnSpPr>
        <p:spPr>
          <a:xfrm>
            <a:off x="4709159" y="6153912"/>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6089904"/>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Free State</a:t>
            </a:r>
          </a:p>
        </p:txBody>
      </p:sp>
      <p:cxnSp>
        <p:nvCxnSpPr>
          <p:cNvPr id="35" name="Connector 34"/>
          <p:cNvCxnSpPr/>
          <p:nvPr/>
        </p:nvCxnSpPr>
        <p:spPr>
          <a:xfrm>
            <a:off x="502920" y="6364224"/>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300216"/>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North West</a:t>
            </a:r>
          </a:p>
        </p:txBody>
      </p:sp>
      <p:cxnSp>
        <p:nvCxnSpPr>
          <p:cNvPr id="37" name="Connector 36"/>
          <p:cNvCxnSpPr/>
          <p:nvPr/>
        </p:nvCxnSpPr>
        <p:spPr>
          <a:xfrm>
            <a:off x="2606039" y="6364224"/>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300216"/>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Limpopo</a:t>
            </a:r>
          </a:p>
        </p:txBody>
      </p:sp>
      <p:cxnSp>
        <p:nvCxnSpPr>
          <p:cNvPr id="39" name="Connector 38"/>
          <p:cNvCxnSpPr/>
          <p:nvPr/>
        </p:nvCxnSpPr>
        <p:spPr>
          <a:xfrm>
            <a:off x="4709159" y="6364224"/>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300216"/>
            <a:ext cx="1783080" cy="173736"/>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Northern Cape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Shape the provincial split between domestic fuel and imports</a:t>
            </a:r>
          </a:p>
        </p:txBody>
      </p:sp>
      <p:sp>
        <p:nvSpPr>
          <p:cNvPr id="3" name="Slide Number Placeholder"/>
          <p:cNvSpPr>
            <a:spLocks noGrp="1"/>
          </p:cNvSpPr>
          <p:nvPr>
            <p:ph type="sldNum" sz="quarter" idx="12"/>
          </p:nvPr>
        </p:nvSpPr>
        <p:spPr/>
        <p:txBody>
          <a:bodyPr/>
          <a:lstStyle/>
          <a:p>
            <a:fld id="{E896F896-C78D-4CFD-8ADD-EDDFB02C6753}" type="slidenum">
              <a:rPr lang="en-US"/>
              <a:t>‹#›</a:t>
            </a:fld>
          </a:p>
        </p:txBody>
      </p:sp>
      <p:sp>
        <p:nvSpPr>
          <p:cNvPr id="4" name="Section navigation 1"/>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About</a:t>
            </a:r>
          </a:p>
        </p:txBody>
      </p:sp>
      <p:sp>
        <p:nvSpPr>
          <p:cNvPr id="5" name="Section navigation 2"/>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Analytical specifications</a:t>
            </a:r>
          </a:p>
        </p:txBody>
      </p:sp>
      <p:sp>
        <p:nvSpPr>
          <p:cNvPr id="6" name="Section navigation 3"/>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Model build</a:t>
            </a:r>
          </a:p>
        </p:txBody>
      </p:sp>
      <p:sp>
        <p:nvSpPr>
          <p:cNvPr id="7" name="Section navigation 4"/>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Delivery approach</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800" b="1">
                <a:solidFill>
                  <a:srgbClr val="000000"/>
                </a:solidFill>
                <a:latin typeface="Lato"/>
              </a:defRPr>
            </a:pPr>
            <a:r>
              <a:t>Key takeaways</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24927" y="218541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totals are reported sales</a:t>
            </a:r>
          </a:p>
        </p:txBody>
      </p:sp>
      <p:sp>
        <p:nvSpPr>
          <p:cNvPr id="15" name="TextBox 14"/>
          <p:cNvSpPr txBox="1"/>
          <p:nvPr/>
        </p:nvSpPr>
        <p:spPr>
          <a:xfrm>
            <a:off x="7424927" y="257860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Each complete bar matches its province’s reported petrol + diesel sales in 2022. The source split is illustrative.</a:t>
            </a:r>
          </a:p>
        </p:txBody>
      </p:sp>
      <p:sp>
        <p:nvSpPr>
          <p:cNvPr id="16" name="TextBox 15"/>
          <p:cNvSpPr txBox="1"/>
          <p:nvPr/>
        </p:nvSpPr>
        <p:spPr>
          <a:xfrm>
            <a:off x="7424927" y="319125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Allocate by product, then aggregate</a:t>
            </a:r>
          </a:p>
        </p:txBody>
      </p:sp>
      <p:sp>
        <p:nvSpPr>
          <p:cNvPr id="17" name="TextBox 16"/>
          <p:cNvSpPr txBox="1"/>
          <p:nvPr/>
        </p:nvSpPr>
        <p:spPr>
          <a:xfrm>
            <a:off x="7424927" y="358444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Use the existing example domestic shares separately for petrol and diesel. Provinces differ because their fuel mix differs.</a:t>
            </a:r>
          </a:p>
        </p:txBody>
      </p:sp>
      <p:sp>
        <p:nvSpPr>
          <p:cNvPr id="18" name="TextBox 17"/>
          <p:cNvSpPr txBox="1"/>
          <p:nvPr/>
        </p:nvSpPr>
        <p:spPr>
          <a:xfrm>
            <a:off x="7424927" y="419709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Provincial origins remain unverified</a:t>
            </a:r>
          </a:p>
        </p:txBody>
      </p:sp>
      <p:sp>
        <p:nvSpPr>
          <p:cNvPr id="19" name="TextBox 18"/>
          <p:cNvSpPr txBox="1"/>
          <p:nvPr/>
        </p:nvSpPr>
        <p:spPr>
          <a:xfrm>
            <a:off x="7424927" y="459028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National production/imports do not tell us which province received each litre. Obtain refinery, port and onward customer flows.</a:t>
            </a:r>
          </a:p>
        </p:txBody>
      </p:sp>
      <p:sp>
        <p:nvSpPr>
          <p:cNvPr id="20" name="TextBox 19"/>
          <p:cNvSpPr txBox="1"/>
          <p:nvPr/>
        </p:nvSpPr>
        <p:spPr>
          <a:xfrm>
            <a:off x="7424927" y="520293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 Refined fuel origin is the distinction</a:t>
            </a:r>
          </a:p>
        </p:txBody>
      </p:sp>
      <p:sp>
        <p:nvSpPr>
          <p:cNvPr id="21" name="TextBox 20"/>
          <p:cNvSpPr txBox="1"/>
          <p:nvPr/>
        </p:nvSpPr>
        <p:spPr>
          <a:xfrm>
            <a:off x="7424927" y="559612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Locally refined fuel counts as domestic, including output made from imported crude. Imports here mean finished petrol/diesel.</a:t>
            </a:r>
          </a:p>
        </p:txBody>
      </p: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20040" cy="173736"/>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20040" cy="173736"/>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20040" cy="173736"/>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20040" cy="173736"/>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20040" cy="173736"/>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8</a:t>
            </a:r>
          </a:p>
        </p:txBody>
      </p:sp>
      <p:sp>
        <p:nvSpPr>
          <p:cNvPr id="32" name="TextBox 31"/>
          <p:cNvSpPr txBox="1"/>
          <p:nvPr/>
        </p:nvSpPr>
        <p:spPr>
          <a:xfrm>
            <a:off x="457200" y="2606039"/>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Gauteng</a:t>
            </a:r>
          </a:p>
        </p:txBody>
      </p:sp>
      <p:sp>
        <p:nvSpPr>
          <p:cNvPr id="33" name="Rectangle 32"/>
          <p:cNvSpPr/>
          <p:nvPr/>
        </p:nvSpPr>
        <p:spPr>
          <a:xfrm>
            <a:off x="1874519" y="2596896"/>
            <a:ext cx="1310608"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85128" y="2596896"/>
            <a:ext cx="2425317"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4454" y="2596896"/>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6.81</a:t>
            </a:r>
          </a:p>
        </p:txBody>
      </p:sp>
      <p:sp>
        <p:nvSpPr>
          <p:cNvPr id="36" name="TextBox 35"/>
          <p:cNvSpPr txBox="1"/>
          <p:nvPr/>
        </p:nvSpPr>
        <p:spPr>
          <a:xfrm>
            <a:off x="457200" y="2916935"/>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KwaZulu-Natal</a:t>
            </a:r>
          </a:p>
        </p:txBody>
      </p:sp>
      <p:sp>
        <p:nvSpPr>
          <p:cNvPr id="37" name="Rectangle 36"/>
          <p:cNvSpPr/>
          <p:nvPr/>
        </p:nvSpPr>
        <p:spPr>
          <a:xfrm>
            <a:off x="1874519" y="2907791"/>
            <a:ext cx="747567"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622087" y="2907791"/>
            <a:ext cx="1603076"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89172" y="2907791"/>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4.28</a:t>
            </a:r>
          </a:p>
        </p:txBody>
      </p:sp>
      <p:sp>
        <p:nvSpPr>
          <p:cNvPr id="40" name="TextBox 39"/>
          <p:cNvSpPr txBox="1"/>
          <p:nvPr/>
        </p:nvSpPr>
        <p:spPr>
          <a:xfrm>
            <a:off x="457200" y="3227832"/>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Western Cape</a:t>
            </a:r>
          </a:p>
        </p:txBody>
      </p:sp>
      <p:sp>
        <p:nvSpPr>
          <p:cNvPr id="41" name="Rectangle 40"/>
          <p:cNvSpPr/>
          <p:nvPr/>
        </p:nvSpPr>
        <p:spPr>
          <a:xfrm>
            <a:off x="1874519" y="3218688"/>
            <a:ext cx="691804"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6324" y="3218688"/>
            <a:ext cx="1464775"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95108" y="3218688"/>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3.93</a:t>
            </a:r>
          </a:p>
        </p:txBody>
      </p:sp>
      <p:sp>
        <p:nvSpPr>
          <p:cNvPr id="44" name="TextBox 43"/>
          <p:cNvSpPr txBox="1"/>
          <p:nvPr/>
        </p:nvSpPr>
        <p:spPr>
          <a:xfrm>
            <a:off x="457200" y="3538727"/>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Mpumalanga</a:t>
            </a:r>
          </a:p>
        </p:txBody>
      </p:sp>
      <p:sp>
        <p:nvSpPr>
          <p:cNvPr id="45" name="Rectangle 44"/>
          <p:cNvSpPr/>
          <p:nvPr/>
        </p:nvSpPr>
        <p:spPr>
          <a:xfrm>
            <a:off x="1874519" y="3529584"/>
            <a:ext cx="306332"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180852" y="3529584"/>
            <a:ext cx="657731"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02592" y="3529584"/>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1.76</a:t>
            </a:r>
          </a:p>
        </p:txBody>
      </p:sp>
      <p:sp>
        <p:nvSpPr>
          <p:cNvPr id="48" name="TextBox 47"/>
          <p:cNvSpPr txBox="1"/>
          <p:nvPr/>
        </p:nvSpPr>
        <p:spPr>
          <a:xfrm>
            <a:off x="457200" y="3849624"/>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Eastern Cape</a:t>
            </a:r>
          </a:p>
        </p:txBody>
      </p:sp>
      <p:sp>
        <p:nvSpPr>
          <p:cNvPr id="49" name="Rectangle 48"/>
          <p:cNvSpPr/>
          <p:nvPr/>
        </p:nvSpPr>
        <p:spPr>
          <a:xfrm>
            <a:off x="1874519" y="3840480"/>
            <a:ext cx="313049"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187569" y="3840480"/>
            <a:ext cx="639107"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90684" y="3840480"/>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1.74</a:t>
            </a:r>
          </a:p>
        </p:txBody>
      </p:sp>
      <p:sp>
        <p:nvSpPr>
          <p:cNvPr id="52" name="TextBox 51"/>
          <p:cNvSpPr txBox="1"/>
          <p:nvPr/>
        </p:nvSpPr>
        <p:spPr>
          <a:xfrm>
            <a:off x="457200" y="4160520"/>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Free State</a:t>
            </a:r>
          </a:p>
        </p:txBody>
      </p:sp>
      <p:sp>
        <p:nvSpPr>
          <p:cNvPr id="53" name="Rectangle 52"/>
          <p:cNvSpPr/>
          <p:nvPr/>
        </p:nvSpPr>
        <p:spPr>
          <a:xfrm>
            <a:off x="1874519" y="4151376"/>
            <a:ext cx="250485"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125005" y="4151376"/>
            <a:ext cx="500777"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689791" y="4151376"/>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1.37</a:t>
            </a:r>
          </a:p>
        </p:txBody>
      </p:sp>
      <p:sp>
        <p:nvSpPr>
          <p:cNvPr id="56" name="TextBox 55"/>
          <p:cNvSpPr txBox="1"/>
          <p:nvPr/>
        </p:nvSpPr>
        <p:spPr>
          <a:xfrm>
            <a:off x="457200" y="4471416"/>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North West</a:t>
            </a:r>
          </a:p>
        </p:txBody>
      </p:sp>
      <p:sp>
        <p:nvSpPr>
          <p:cNvPr id="57" name="Rectangle 56"/>
          <p:cNvSpPr/>
          <p:nvPr/>
        </p:nvSpPr>
        <p:spPr>
          <a:xfrm>
            <a:off x="1874519" y="4462272"/>
            <a:ext cx="194304"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068824" y="4462272"/>
            <a:ext cx="391677"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524509" y="4462272"/>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1.07</a:t>
            </a:r>
          </a:p>
        </p:txBody>
      </p:sp>
      <p:sp>
        <p:nvSpPr>
          <p:cNvPr id="60" name="TextBox 59"/>
          <p:cNvSpPr txBox="1"/>
          <p:nvPr/>
        </p:nvSpPr>
        <p:spPr>
          <a:xfrm>
            <a:off x="457200" y="4782312"/>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Limpopo</a:t>
            </a:r>
          </a:p>
        </p:txBody>
      </p:sp>
      <p:sp>
        <p:nvSpPr>
          <p:cNvPr id="61" name="Rectangle 60"/>
          <p:cNvSpPr/>
          <p:nvPr/>
        </p:nvSpPr>
        <p:spPr>
          <a:xfrm>
            <a:off x="1874519" y="4773168"/>
            <a:ext cx="97173"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971693" y="4773168"/>
            <a:ext cx="174750"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210451" y="4773168"/>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0.50</a:t>
            </a:r>
          </a:p>
        </p:txBody>
      </p:sp>
      <p:sp>
        <p:nvSpPr>
          <p:cNvPr id="64" name="TextBox 63"/>
          <p:cNvSpPr txBox="1"/>
          <p:nvPr/>
        </p:nvSpPr>
        <p:spPr>
          <a:xfrm>
            <a:off x="457200" y="5093208"/>
            <a:ext cx="1389888"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Northern Cape</a:t>
            </a:r>
          </a:p>
        </p:txBody>
      </p:sp>
      <p:sp>
        <p:nvSpPr>
          <p:cNvPr id="65" name="Rectangle 64"/>
          <p:cNvSpPr/>
          <p:nvPr/>
        </p:nvSpPr>
        <p:spPr>
          <a:xfrm>
            <a:off x="1874519" y="5084064"/>
            <a:ext cx="72620" cy="20116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947140" y="5084064"/>
            <a:ext cx="175260" cy="20116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186409" y="5084064"/>
            <a:ext cx="457200" cy="201168"/>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1792" y="5669280"/>
            <a:ext cx="3200400" cy="219456"/>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410712" y="5669280"/>
            <a:ext cx="3200400" cy="219456"/>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Units: bn litres/year. Imported/domestic segments are a scenario illustration, not measured provincial flows.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Define Vopak’s current share and the market it can contest</a:t>
            </a:r>
          </a:p>
        </p:txBody>
      </p:sp>
      <p:sp>
        <p:nvSpPr>
          <p:cNvPr id="3" name="Slide Number Placeholder"/>
          <p:cNvSpPr>
            <a:spLocks noGrp="1"/>
          </p:cNvSpPr>
          <p:nvPr>
            <p:ph type="sldNum" sz="quarter" idx="12"/>
          </p:nvPr>
        </p:nvSpPr>
        <p:spPr/>
        <p:txBody>
          <a:bodyPr/>
          <a:lstStyle/>
          <a:p>
            <a:fld id="{9788A459-17E2-4351-B21A-163A0F6482C3}" type="slidenum">
              <a:rPr lang="en-US"/>
              <a:t>‹#›</a:t>
            </a:fld>
          </a:p>
        </p:txBody>
      </p:sp>
      <p:sp>
        <p:nvSpPr>
          <p:cNvPr id="4" name="Section navigation 1"/>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About</a:t>
            </a:r>
          </a:p>
        </p:txBody>
      </p:sp>
      <p:sp>
        <p:nvSpPr>
          <p:cNvPr id="5" name="Section navigation 2"/>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Analytical specifications</a:t>
            </a:r>
          </a:p>
        </p:txBody>
      </p:sp>
      <p:sp>
        <p:nvSpPr>
          <p:cNvPr id="6" name="Section navigation 3"/>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Model build</a:t>
            </a:r>
          </a:p>
        </p:txBody>
      </p:sp>
      <p:sp>
        <p:nvSpPr>
          <p:cNvPr id="7" name="Section navigation 4"/>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Delivery approach</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Operator sites/reports and NERSA [1–7], checked 6 Oct 2026; site inventory in slide 2 notes; shares illustrative.</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t>Competitive footprint and share | petrol/diesel focus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800" b="1">
                <a:solidFill>
                  <a:srgbClr val="000000"/>
                </a:solidFill>
                <a:latin typeface="Lato"/>
              </a:defRPr>
            </a:pPr>
            <a:r>
              <a:t>Key takeaways</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24927" y="218541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Actual Vopak share is not established</a:t>
            </a:r>
          </a:p>
        </p:txBody>
      </p:sp>
      <p:sp>
        <p:nvSpPr>
          <p:cNvPr id="15" name="TextBox 14"/>
          <p:cNvSpPr txBox="1"/>
          <p:nvPr/>
        </p:nvSpPr>
        <p:spPr>
          <a:xfrm>
            <a:off x="7424927" y="257860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Need unique petrol/diesel deliveries divided by matched catchment demand, for the same period.</a:t>
            </a:r>
          </a:p>
        </p:txBody>
      </p:sp>
      <p:sp>
        <p:nvSpPr>
          <p:cNvPr id="16" name="TextBox 15"/>
          <p:cNvSpPr txBox="1"/>
          <p:nvPr/>
        </p:nvSpPr>
        <p:spPr>
          <a:xfrm>
            <a:off x="7424927" y="319125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Contestability requires customer access</a:t>
            </a:r>
          </a:p>
        </p:txBody>
      </p:sp>
      <p:sp>
        <p:nvSpPr>
          <p:cNvPr id="17" name="TextBox 16"/>
          <p:cNvSpPr txBox="1"/>
          <p:nvPr/>
        </p:nvSpPr>
        <p:spPr>
          <a:xfrm>
            <a:off x="7424927" y="358444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Test cost, compatible capacity, contracts and switching. Other operators’ volume is not automatically available.</a:t>
            </a:r>
          </a:p>
        </p:txBody>
      </p:sp>
      <p:sp>
        <p:nvSpPr>
          <p:cNvPr id="18" name="TextBox 17"/>
          <p:cNvSpPr txBox="1"/>
          <p:nvPr/>
        </p:nvSpPr>
        <p:spPr>
          <a:xfrm>
            <a:off x="7424927" y="419709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Storage has different commercial roles</a:t>
            </a:r>
          </a:p>
        </p:txBody>
      </p:sp>
      <p:sp>
        <p:nvSpPr>
          <p:cNvPr id="19" name="TextBox 18"/>
          <p:cNvSpPr txBox="1"/>
          <p:nvPr/>
        </p:nvSpPr>
        <p:spPr>
          <a:xfrm>
            <a:off x="7424927" y="459028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Bidvest and Burgan offer terminal services; Sasol depots and Transnet accumulation need separate access tests.</a:t>
            </a:r>
          </a:p>
        </p:txBody>
      </p:sp>
      <p:sp>
        <p:nvSpPr>
          <p:cNvPr id="20" name="TextBox 19"/>
          <p:cNvSpPr txBox="1"/>
          <p:nvPr/>
        </p:nvSpPr>
        <p:spPr>
          <a:xfrm>
            <a:off x="7424927" y="520293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 Capacity share is a separate measure</a:t>
            </a:r>
          </a:p>
        </p:txBody>
      </p:sp>
      <p:sp>
        <p:nvSpPr>
          <p:cNvPr id="21" name="TextBox 20"/>
          <p:cNvSpPr txBox="1"/>
          <p:nvPr/>
        </p:nvSpPr>
        <p:spPr>
          <a:xfrm>
            <a:off x="7424927" y="559612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Exclude chemicals, gas, jet and unusable tanks. Reconcile dates; do not convert storage capacity into fuel throughput.</a:t>
            </a:r>
          </a:p>
        </p:txBody>
      </p:sp>
      <p:graphicFrame>
        <p:nvGraphicFramePr>
          <p:cNvPr id="22" name="Table 21"/>
          <p:cNvGraphicFramePr>
            <a:graphicFrameLocks noGrp="1"/>
          </p:cNvGraphicFramePr>
          <p:nvPr/>
        </p:nvGraphicFramePr>
        <p:xfrm>
          <a:off x="457200" y="2176272"/>
          <a:ext cx="6446520" cy="2331720"/>
        </p:xfrm>
        <a:graphic>
          <a:graphicData uri="http://schemas.openxmlformats.org/drawingml/2006/table">
            <a:tbl>
              <a:tblPr firstRow="1" bandRow="1">
                <a:tableStyleId>{2D5ABB26-0587-4C30-8999-92F81FD0307C}</a:tableStyleId>
              </a:tblPr>
              <a:tblGrid>
                <a:gridCol w="1234440"/>
                <a:gridCol w="2651760"/>
                <a:gridCol w="2560320"/>
              </a:tblGrid>
              <a:tr h="388620">
                <a:tc>
                  <a:txBody>
                    <a:bodyPr/>
                    <a:lstStyle/>
                    <a:p>
                      <a:pPr>
                        <a:defRPr sz="1050" b="1">
                          <a:solidFill>
                            <a:srgbClr val="000000"/>
                          </a:solidFill>
                          <a:latin typeface="Lato"/>
                        </a:defRPr>
                      </a:pPr>
                      <a:r>
                        <a:t>Operator / public source</a:t>
                      </a:r>
                    </a:p>
                  </a:txBody>
                  <a:tcPr marL="91440" marR="91440" marT="25400" marB="25400" anchor="ctr">
                    <a:lnB w="4445" cap="flat">
                      <a:solidFill>
                        <a:srgbClr val="A0A0A0"/>
                      </a:solidFill>
                    </a:lnB>
                    <a:solidFill>
                      <a:srgbClr val="FFFFFF"/>
                    </a:solidFill>
                  </a:tcPr>
                </a:tc>
                <a:tc>
                  <a:txBody>
                    <a:bodyPr/>
                    <a:lstStyle/>
                    <a:p>
                      <a:pPr>
                        <a:defRPr sz="1050" b="1">
                          <a:solidFill>
                            <a:srgbClr val="000000"/>
                          </a:solidFill>
                          <a:latin typeface="Lato"/>
                        </a:defRPr>
                      </a:pPr>
                      <a:r>
                        <a:t>Locations / role</a:t>
                      </a:r>
                    </a:p>
                  </a:txBody>
                  <a:tcPr marL="91440" marR="91440" marT="25400" marB="25400" anchor="ctr">
                    <a:lnB w="4445" cap="flat">
                      <a:solidFill>
                        <a:srgbClr val="A0A0A0"/>
                      </a:solidFill>
                    </a:lnB>
                    <a:solidFill>
                      <a:srgbClr val="FFFFFF"/>
                    </a:solidFill>
                  </a:tcPr>
                </a:tc>
                <a:tc>
                  <a:txBody>
                    <a:bodyPr/>
                    <a:lstStyle/>
                    <a:p>
                      <a:pPr>
                        <a:defRPr sz="1050" b="1">
                          <a:solidFill>
                            <a:srgbClr val="000000"/>
                          </a:solidFill>
                          <a:latin typeface="Lato"/>
                        </a:defRPr>
                      </a:pPr>
                      <a:r>
                        <a:t>Key evidence gap</a:t>
                      </a:r>
                    </a:p>
                  </a:txBody>
                  <a:tcPr marL="91440" marR="91440" marT="25400" marB="25400" anchor="ctr">
                    <a:lnB w="4445" cap="flat">
                      <a:solidFill>
                        <a:srgbClr val="A0A0A0"/>
                      </a:solidFill>
                    </a:lnB>
                    <a:solidFill>
                      <a:srgbClr val="FFFFFF"/>
                    </a:solidFill>
                  </a:tcPr>
                </a:tc>
              </a:tr>
              <a:tr h="388620">
                <a:tc>
                  <a:txBody>
                    <a:bodyPr/>
                    <a:lstStyle/>
                    <a:p>
                      <a:pPr>
                        <a:defRPr sz="1050" b="0">
                          <a:solidFill>
                            <a:srgbClr val="000000"/>
                          </a:solidFill>
                          <a:latin typeface="Lato"/>
                        </a:defRPr>
                      </a:pPr>
                      <a:r>
                        <a:t>Vopak [1]</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Durban; Lesedi</a:t>
                      </a:r>
                    </a:p>
                    <a:p>
                      <a:pPr>
                        <a:defRPr sz="1050" b="0">
                          <a:solidFill>
                            <a:srgbClr val="000000"/>
                          </a:solidFill>
                          <a:latin typeface="Lato"/>
                        </a:defRPr>
                      </a:pPr>
                      <a:r>
                        <a:t>Storage and handling</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Actual unique fuel deliveries</a:t>
                      </a:r>
                    </a:p>
                    <a:p>
                      <a:pPr>
                        <a:defRPr sz="1050" b="0">
                          <a:solidFill>
                            <a:srgbClr val="000000"/>
                          </a:solidFill>
                          <a:latin typeface="Lato"/>
                        </a:defRPr>
                      </a:pPr>
                      <a:r>
                        <a:t>and usable fuel capacity</a:t>
                      </a:r>
                    </a:p>
                  </a:txBody>
                  <a:tcPr marL="91440" marR="91440" marT="25400" marB="25400" anchor="ctr">
                    <a:lnB w="4445" cap="flat">
                      <a:solidFill>
                        <a:srgbClr val="B8B8B8"/>
                      </a:solidFill>
                    </a:lnB>
                    <a:solidFill>
                      <a:srgbClr val="FFFFFF"/>
                    </a:solidFill>
                  </a:tcPr>
                </a:tc>
              </a:tr>
              <a:tr h="388620">
                <a:tc>
                  <a:txBody>
                    <a:bodyPr/>
                    <a:lstStyle/>
                    <a:p>
                      <a:pPr>
                        <a:defRPr sz="1050" b="0">
                          <a:solidFill>
                            <a:srgbClr val="000000"/>
                          </a:solidFill>
                          <a:latin typeface="Lato"/>
                        </a:defRPr>
                      </a:pPr>
                      <a:r>
                        <a:t>Bidvest [2]</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Durban; Richards Bay; Isando</a:t>
                      </a:r>
                    </a:p>
                    <a:p>
                      <a:pPr>
                        <a:defRPr sz="1050" b="0">
                          <a:solidFill>
                            <a:srgbClr val="000000"/>
                          </a:solidFill>
                          <a:latin typeface="Lato"/>
                        </a:defRPr>
                      </a:pPr>
                      <a:r>
                        <a:t>Mixed-product terminals</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Petrol/diesel scope; conflicting</a:t>
                      </a:r>
                    </a:p>
                    <a:p>
                      <a:pPr>
                        <a:defRPr sz="1050" b="0">
                          <a:solidFill>
                            <a:srgbClr val="000000"/>
                          </a:solidFill>
                          <a:latin typeface="Lato"/>
                        </a:defRPr>
                      </a:pPr>
                      <a:r>
                        <a:t>totals 955,603 vs 868,000 m³</a:t>
                      </a:r>
                    </a:p>
                  </a:txBody>
                  <a:tcPr marL="91440" marR="91440" marT="25400" marB="25400" anchor="ctr">
                    <a:lnB w="4445" cap="flat">
                      <a:solidFill>
                        <a:srgbClr val="B8B8B8"/>
                      </a:solidFill>
                    </a:lnB>
                    <a:solidFill>
                      <a:srgbClr val="FFFFFF"/>
                    </a:solidFill>
                  </a:tcPr>
                </a:tc>
              </a:tr>
              <a:tr h="388620">
                <a:tc>
                  <a:txBody>
                    <a:bodyPr/>
                    <a:lstStyle/>
                    <a:p>
                      <a:pPr>
                        <a:defRPr sz="1050" b="0">
                          <a:solidFill>
                            <a:srgbClr val="000000"/>
                          </a:solidFill>
                          <a:latin typeface="Lato"/>
                        </a:defRPr>
                      </a:pPr>
                      <a:r>
                        <a:t>Sasol [6]</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Alrode; Pretoria West; Waltloo;</a:t>
                      </a:r>
                    </a:p>
                    <a:p>
                      <a:pPr>
                        <a:defRPr sz="1050" b="0">
                          <a:solidFill>
                            <a:srgbClr val="000000"/>
                          </a:solidFill>
                          <a:latin typeface="Lato"/>
                        </a:defRPr>
                      </a:pPr>
                      <a:r>
                        <a:t>Sasolburg blending/logistics</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Current access; linked 2025/26</a:t>
                      </a:r>
                    </a:p>
                    <a:p>
                      <a:pPr>
                        <a:defRPr sz="1050" b="0">
                          <a:solidFill>
                            <a:srgbClr val="000000"/>
                          </a:solidFill>
                          <a:latin typeface="Lato"/>
                        </a:defRPr>
                      </a:pPr>
                      <a:r>
                        <a:t>notice ends March 2026</a:t>
                      </a:r>
                    </a:p>
                  </a:txBody>
                  <a:tcPr marL="91440" marR="91440" marT="25400" marB="25400" anchor="ctr">
                    <a:lnB w="4445" cap="flat">
                      <a:solidFill>
                        <a:srgbClr val="B8B8B8"/>
                      </a:solidFill>
                    </a:lnB>
                    <a:solidFill>
                      <a:srgbClr val="FFFFFF"/>
                    </a:solidFill>
                  </a:tcPr>
                </a:tc>
              </a:tr>
              <a:tr h="388620">
                <a:tc>
                  <a:txBody>
                    <a:bodyPr/>
                    <a:lstStyle/>
                    <a:p>
                      <a:pPr>
                        <a:defRPr sz="1050" b="0">
                          <a:solidFill>
                            <a:srgbClr val="000000"/>
                          </a:solidFill>
                          <a:latin typeface="Lato"/>
                        </a:defRPr>
                      </a:pPr>
                      <a:r>
                        <a:t>Transnet [7]</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Tarlton / Jameson Park;</a:t>
                      </a:r>
                    </a:p>
                    <a:p>
                      <a:pPr>
                        <a:defRPr sz="1050" b="0">
                          <a:solidFill>
                            <a:srgbClr val="000000"/>
                          </a:solidFill>
                          <a:latin typeface="Lato"/>
                        </a:defRPr>
                      </a:pPr>
                      <a:r>
                        <a:t>5 depot lease opportunities</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Lease award / refurbishment / licence;</a:t>
                      </a:r>
                    </a:p>
                    <a:p>
                      <a:pPr>
                        <a:defRPr sz="1050" b="0">
                          <a:solidFill>
                            <a:srgbClr val="000000"/>
                          </a:solidFill>
                          <a:latin typeface="Lato"/>
                        </a:defRPr>
                      </a:pPr>
                      <a:r>
                        <a:t>no operating availability inferred</a:t>
                      </a:r>
                    </a:p>
                  </a:txBody>
                  <a:tcPr marL="91440" marR="91440" marT="25400" marB="25400" anchor="ctr">
                    <a:lnB w="4445" cap="flat">
                      <a:solidFill>
                        <a:srgbClr val="B8B8B8"/>
                      </a:solidFill>
                    </a:lnB>
                    <a:solidFill>
                      <a:srgbClr val="FFFFFF"/>
                    </a:solidFill>
                  </a:tcPr>
                </a:tc>
              </a:tr>
              <a:tr h="388620">
                <a:tc>
                  <a:txBody>
                    <a:bodyPr/>
                    <a:lstStyle/>
                    <a:p>
                      <a:pPr>
                        <a:defRPr sz="1050" b="0">
                          <a:solidFill>
                            <a:srgbClr val="000000"/>
                          </a:solidFill>
                          <a:latin typeface="Lato"/>
                        </a:defRPr>
                      </a:pPr>
                      <a:r>
                        <a:t>Burgan Cape [3]</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Cape Town petrol/diesel terminal</a:t>
                      </a:r>
                    </a:p>
                    <a:p>
                      <a:pPr>
                        <a:defRPr sz="1050" b="0">
                          <a:solidFill>
                            <a:srgbClr val="000000"/>
                          </a:solidFill>
                          <a:latin typeface="Lato"/>
                        </a:defRPr>
                      </a:pPr>
                      <a:r>
                        <a:t>Published capacity 122,000 m³</a:t>
                      </a:r>
                    </a:p>
                  </a:txBody>
                  <a:tcPr marL="91440" marR="91440" marT="25400" marB="25400" anchor="ctr">
                    <a:lnB w="4445" cap="flat">
                      <a:solidFill>
                        <a:srgbClr val="B8B8B8"/>
                      </a:solidFill>
                    </a:lnB>
                    <a:solidFill>
                      <a:srgbClr val="FFFFFF"/>
                    </a:solidFill>
                  </a:tcPr>
                </a:tc>
                <a:tc>
                  <a:txBody>
                    <a:bodyPr/>
                    <a:lstStyle/>
                    <a:p>
                      <a:pPr>
                        <a:defRPr sz="1050" b="0">
                          <a:solidFill>
                            <a:srgbClr val="000000"/>
                          </a:solidFill>
                          <a:latin typeface="Lato"/>
                        </a:defRPr>
                      </a:pPr>
                      <a:r>
                        <a:t>Current available capacity;</a:t>
                      </a:r>
                    </a:p>
                    <a:p>
                      <a:pPr>
                        <a:defRPr sz="1050" b="0">
                          <a:solidFill>
                            <a:srgbClr val="000000"/>
                          </a:solidFill>
                          <a:latin typeface="Lato"/>
                        </a:defRPr>
                      </a:pPr>
                      <a:r>
                        <a:t>Cape overlap unassessed</a:t>
                      </a:r>
                    </a:p>
                  </a:txBody>
                  <a:tcPr marL="91440" marR="91440" marT="25400" marB="25400" anchor="ctr">
                    <a:lnB w="4445" cap="flat">
                      <a:solidFill>
                        <a:srgbClr val="B8B8B8"/>
                      </a:solidFill>
                    </a:lnB>
                    <a:solidFill>
                      <a:srgbClr val="FFFFFF"/>
                    </a:solidFill>
                  </a:tcPr>
                </a:tc>
              </a:tr>
            </a:tbl>
          </a:graphicData>
        </a:graphic>
      </p:graphicFrame>
      <p:sp>
        <p:nvSpPr>
          <p:cNvPr id="23" name="TextBox 22"/>
          <p:cNvSpPr txBox="1"/>
          <p:nvPr/>
        </p:nvSpPr>
        <p:spPr>
          <a:xfrm>
            <a:off x="457200" y="4599432"/>
            <a:ext cx="6446520" cy="27432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Shell [4] and NERSA [5]: extend the inventory through site notices and allocation mechanisms.</a:t>
            </a:r>
          </a:p>
        </p:txBody>
      </p:sp>
      <p:sp>
        <p:nvSpPr>
          <p:cNvPr id="24" name="TextBox 23"/>
          <p:cNvSpPr txBox="1"/>
          <p:nvPr/>
        </p:nvSpPr>
        <p:spPr>
          <a:xfrm>
            <a:off x="457200" y="4901184"/>
            <a:ext cx="6446520" cy="201168"/>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Illustrative share of each regional market | % of demand</a:t>
            </a:r>
          </a:p>
        </p:txBody>
      </p:sp>
      <p:sp>
        <p:nvSpPr>
          <p:cNvPr id="25" name="TextBox 24"/>
          <p:cNvSpPr txBox="1"/>
          <p:nvPr/>
        </p:nvSpPr>
        <p:spPr>
          <a:xfrm>
            <a:off x="457200" y="5175504"/>
            <a:ext cx="1508760"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Eastern coast</a:t>
            </a:r>
          </a:p>
        </p:txBody>
      </p:sp>
      <p:sp>
        <p:nvSpPr>
          <p:cNvPr id="26" name="Illustrative Eastern coastal share segment 1: 22.222%"/>
          <p:cNvSpPr/>
          <p:nvPr/>
        </p:nvSpPr>
        <p:spPr>
          <a:xfrm>
            <a:off x="2011680" y="5193792"/>
            <a:ext cx="985520"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11680" y="5212079"/>
            <a:ext cx="985520" cy="164592"/>
          </a:xfrm>
          <a:prstGeom prst="rect">
            <a:avLst/>
          </a:prstGeom>
          <a:noFill/>
        </p:spPr>
        <p:txBody>
          <a:bodyPr wrap="square" lIns="22860" rIns="22860" tIns="0" bIns="0">
            <a:spAutoFit/>
          </a:bodyPr>
          <a:lstStyle/>
          <a:p>
            <a:pPr algn="ctr">
              <a:spcAft>
                <a:spcPts val="300"/>
              </a:spcAft>
              <a:defRPr sz="900" b="1">
                <a:solidFill>
                  <a:srgbClr val="FFFFFF"/>
                </a:solidFill>
                <a:latin typeface="Lato"/>
              </a:defRPr>
            </a:pPr>
            <a:r>
              <a:t>22.2%</a:t>
            </a:r>
          </a:p>
        </p:txBody>
      </p:sp>
      <p:sp>
        <p:nvSpPr>
          <p:cNvPr id="28" name="Illustrative Eastern coastal share segment 2: 33.333%"/>
          <p:cNvSpPr/>
          <p:nvPr/>
        </p:nvSpPr>
        <p:spPr>
          <a:xfrm>
            <a:off x="2997200" y="5193792"/>
            <a:ext cx="1478279" cy="21031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97200" y="5212079"/>
            <a:ext cx="1478279" cy="164592"/>
          </a:xfrm>
          <a:prstGeom prst="rect">
            <a:avLst/>
          </a:prstGeom>
          <a:noFill/>
        </p:spPr>
        <p:txBody>
          <a:bodyPr wrap="square" lIns="22860" rIns="22860" tIns="0" bIns="0">
            <a:spAutoFit/>
          </a:bodyPr>
          <a:lstStyle/>
          <a:p>
            <a:pPr algn="ctr">
              <a:spcAft>
                <a:spcPts val="300"/>
              </a:spcAft>
              <a:defRPr sz="900" b="1">
                <a:solidFill>
                  <a:srgbClr val="000000"/>
                </a:solidFill>
                <a:latin typeface="Lato"/>
              </a:defRPr>
            </a:pPr>
            <a:r>
              <a:t>33.3%</a:t>
            </a:r>
          </a:p>
        </p:txBody>
      </p:sp>
      <p:sp>
        <p:nvSpPr>
          <p:cNvPr id="30" name="Illustrative Eastern coastal share segment 3: 44.444%"/>
          <p:cNvSpPr/>
          <p:nvPr/>
        </p:nvSpPr>
        <p:spPr>
          <a:xfrm>
            <a:off x="4475479" y="5193792"/>
            <a:ext cx="1971040" cy="210312"/>
          </a:xfrm>
          <a:prstGeom prst="rect">
            <a:avLst/>
          </a:prstGeom>
          <a:solidFill>
            <a:srgbClr val="E5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75479" y="5212079"/>
            <a:ext cx="1971040" cy="164592"/>
          </a:xfrm>
          <a:prstGeom prst="rect">
            <a:avLst/>
          </a:prstGeom>
          <a:noFill/>
        </p:spPr>
        <p:txBody>
          <a:bodyPr wrap="square" lIns="22860" rIns="22860" tIns="0" bIns="0">
            <a:spAutoFit/>
          </a:bodyPr>
          <a:lstStyle/>
          <a:p>
            <a:pPr algn="ctr">
              <a:spcAft>
                <a:spcPts val="300"/>
              </a:spcAft>
              <a:defRPr sz="900" b="1">
                <a:solidFill>
                  <a:srgbClr val="000000"/>
                </a:solidFill>
                <a:latin typeface="Lato"/>
              </a:defRPr>
            </a:pPr>
            <a:r>
              <a:t>44.4%</a:t>
            </a:r>
          </a:p>
        </p:txBody>
      </p:sp>
      <p:sp>
        <p:nvSpPr>
          <p:cNvPr id="32" name="TextBox 31"/>
          <p:cNvSpPr txBox="1"/>
          <p:nvPr/>
        </p:nvSpPr>
        <p:spPr>
          <a:xfrm>
            <a:off x="457200" y="5458968"/>
            <a:ext cx="1508760" cy="201168"/>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Inland</a:t>
            </a:r>
          </a:p>
        </p:txBody>
      </p:sp>
      <p:sp>
        <p:nvSpPr>
          <p:cNvPr id="33" name="Illustrative Inland share segment 1: 20.000%"/>
          <p:cNvSpPr/>
          <p:nvPr/>
        </p:nvSpPr>
        <p:spPr>
          <a:xfrm>
            <a:off x="2011680" y="5477255"/>
            <a:ext cx="886968"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011680" y="5495543"/>
            <a:ext cx="886968" cy="164592"/>
          </a:xfrm>
          <a:prstGeom prst="rect">
            <a:avLst/>
          </a:prstGeom>
          <a:noFill/>
        </p:spPr>
        <p:txBody>
          <a:bodyPr wrap="square" lIns="22860" rIns="22860" tIns="0" bIns="0">
            <a:spAutoFit/>
          </a:bodyPr>
          <a:lstStyle/>
          <a:p>
            <a:pPr algn="ctr">
              <a:spcAft>
                <a:spcPts val="300"/>
              </a:spcAft>
              <a:defRPr sz="900" b="1">
                <a:solidFill>
                  <a:srgbClr val="FFFFFF"/>
                </a:solidFill>
                <a:latin typeface="Lato"/>
              </a:defRPr>
            </a:pPr>
            <a:r>
              <a:t>20.0%</a:t>
            </a:r>
          </a:p>
        </p:txBody>
      </p:sp>
      <p:sp>
        <p:nvSpPr>
          <p:cNvPr id="35" name="Illustrative Inland share segment 2: 40.000%"/>
          <p:cNvSpPr/>
          <p:nvPr/>
        </p:nvSpPr>
        <p:spPr>
          <a:xfrm>
            <a:off x="2898648" y="5477255"/>
            <a:ext cx="1773936" cy="21031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898648" y="5495543"/>
            <a:ext cx="1773936" cy="164592"/>
          </a:xfrm>
          <a:prstGeom prst="rect">
            <a:avLst/>
          </a:prstGeom>
          <a:noFill/>
        </p:spPr>
        <p:txBody>
          <a:bodyPr wrap="square" lIns="22860" rIns="22860" tIns="0" bIns="0">
            <a:spAutoFit/>
          </a:bodyPr>
          <a:lstStyle/>
          <a:p>
            <a:pPr algn="ctr">
              <a:spcAft>
                <a:spcPts val="300"/>
              </a:spcAft>
              <a:defRPr sz="900" b="1">
                <a:solidFill>
                  <a:srgbClr val="000000"/>
                </a:solidFill>
                <a:latin typeface="Lato"/>
              </a:defRPr>
            </a:pPr>
            <a:r>
              <a:t>40.0%</a:t>
            </a:r>
          </a:p>
        </p:txBody>
      </p:sp>
      <p:sp>
        <p:nvSpPr>
          <p:cNvPr id="37" name="Illustrative Inland share segment 3: 40.000%"/>
          <p:cNvSpPr/>
          <p:nvPr/>
        </p:nvSpPr>
        <p:spPr>
          <a:xfrm>
            <a:off x="4672583" y="5477255"/>
            <a:ext cx="1773936" cy="210312"/>
          </a:xfrm>
          <a:prstGeom prst="rect">
            <a:avLst/>
          </a:prstGeom>
          <a:solidFill>
            <a:srgbClr val="E5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72583" y="5495543"/>
            <a:ext cx="1773936" cy="164592"/>
          </a:xfrm>
          <a:prstGeom prst="rect">
            <a:avLst/>
          </a:prstGeom>
          <a:noFill/>
        </p:spPr>
        <p:txBody>
          <a:bodyPr wrap="square" lIns="22860" rIns="22860" tIns="0" bIns="0">
            <a:spAutoFit/>
          </a:bodyPr>
          <a:lstStyle/>
          <a:p>
            <a:pPr algn="ctr">
              <a:spcAft>
                <a:spcPts val="300"/>
              </a:spcAft>
              <a:defRPr sz="900" b="1">
                <a:solidFill>
                  <a:srgbClr val="000000"/>
                </a:solidFill>
                <a:latin typeface="Lato"/>
              </a:defRPr>
            </a:pPr>
            <a:r>
              <a:t>40.0%</a:t>
            </a:r>
          </a:p>
        </p:txBody>
      </p:sp>
      <p:sp>
        <p:nvSpPr>
          <p:cNvPr id="39" name="TextBox 38"/>
          <p:cNvSpPr txBox="1"/>
          <p:nvPr/>
        </p:nvSpPr>
        <p:spPr>
          <a:xfrm>
            <a:off x="457200" y="5760720"/>
            <a:ext cx="150876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Western coast</a:t>
            </a:r>
          </a:p>
        </p:txBody>
      </p:sp>
      <p:sp>
        <p:nvSpPr>
          <p:cNvPr id="40" name="Rectangle 39"/>
          <p:cNvSpPr/>
          <p:nvPr/>
        </p:nvSpPr>
        <p:spPr>
          <a:xfrm>
            <a:off x="2011680" y="5760720"/>
            <a:ext cx="4434840" cy="164592"/>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011680" y="5760720"/>
            <a:ext cx="4434840" cy="164592"/>
          </a:xfrm>
          <a:prstGeom prst="rect">
            <a:avLst/>
          </a:prstGeom>
          <a:noFill/>
        </p:spPr>
        <p:txBody>
          <a:bodyPr wrap="square" lIns="22860" rIns="22860" tIns="0" bIns="0">
            <a:spAutoFit/>
          </a:bodyPr>
          <a:lstStyle/>
          <a:p>
            <a:pPr algn="ctr">
              <a:spcAft>
                <a:spcPts val="300"/>
              </a:spcAft>
              <a:defRPr sz="850" b="0">
                <a:solidFill>
                  <a:srgbClr val="000000"/>
                </a:solidFill>
                <a:latin typeface="Lato"/>
              </a:defRPr>
            </a:pPr>
            <a:r>
              <a:t>Unassessed - no share estimate</a:t>
            </a:r>
          </a:p>
        </p:txBody>
      </p:sp>
      <p:sp>
        <p:nvSpPr>
          <p:cNvPr id="42" name="TextBox 41"/>
          <p:cNvSpPr txBox="1"/>
          <p:nvPr/>
        </p:nvSpPr>
        <p:spPr>
          <a:xfrm>
            <a:off x="457200" y="5971032"/>
            <a:ext cx="150876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Other / NC</a:t>
            </a:r>
          </a:p>
        </p:txBody>
      </p:sp>
      <p:sp>
        <p:nvSpPr>
          <p:cNvPr id="43" name="Rectangle 42"/>
          <p:cNvSpPr/>
          <p:nvPr/>
        </p:nvSpPr>
        <p:spPr>
          <a:xfrm>
            <a:off x="2011680" y="5971032"/>
            <a:ext cx="4434840" cy="164592"/>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011680" y="5971032"/>
            <a:ext cx="4434840" cy="164592"/>
          </a:xfrm>
          <a:prstGeom prst="rect">
            <a:avLst/>
          </a:prstGeom>
          <a:noFill/>
        </p:spPr>
        <p:txBody>
          <a:bodyPr wrap="square" lIns="22860" rIns="22860" tIns="0" bIns="0">
            <a:spAutoFit/>
          </a:bodyPr>
          <a:lstStyle/>
          <a:p>
            <a:pPr algn="ctr">
              <a:spcAft>
                <a:spcPts val="300"/>
              </a:spcAft>
              <a:defRPr sz="850" b="0">
                <a:solidFill>
                  <a:srgbClr val="000000"/>
                </a:solidFill>
                <a:latin typeface="Lato"/>
              </a:defRPr>
            </a:pPr>
            <a:r>
              <a:t>Unassessed - no share estimate</a:t>
            </a:r>
          </a:p>
        </p:txBody>
      </p:sp>
      <p:sp>
        <p:nvSpPr>
          <p:cNvPr id="45" name="Rectangle 44"/>
          <p:cNvSpPr/>
          <p:nvPr/>
        </p:nvSpPr>
        <p:spPr>
          <a:xfrm>
            <a:off x="457200" y="6236208"/>
            <a:ext cx="100584" cy="100584"/>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4360" y="6199632"/>
            <a:ext cx="224028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Current Vopak</a:t>
            </a:r>
          </a:p>
        </p:txBody>
      </p:sp>
      <p:sp>
        <p:nvSpPr>
          <p:cNvPr id="47" name="Rectangle 46"/>
          <p:cNvSpPr/>
          <p:nvPr/>
        </p:nvSpPr>
        <p:spPr>
          <a:xfrm>
            <a:off x="2103120" y="6236208"/>
            <a:ext cx="100584" cy="100584"/>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240279" y="6199632"/>
            <a:ext cx="224028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Additional candidate</a:t>
            </a:r>
          </a:p>
        </p:txBody>
      </p:sp>
      <p:sp>
        <p:nvSpPr>
          <p:cNvPr id="49" name="Rectangle 48"/>
          <p:cNvSpPr/>
          <p:nvPr/>
        </p:nvSpPr>
        <p:spPr>
          <a:xfrm>
            <a:off x="4526280" y="6236208"/>
            <a:ext cx="100584" cy="100584"/>
          </a:xfrm>
          <a:prstGeom prst="rect">
            <a:avLst/>
          </a:prstGeom>
          <a:solidFill>
            <a:srgbClr val="E5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663440" y="6199632"/>
            <a:ext cx="224028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Outside envelope</a:t>
            </a:r>
          </a:p>
        </p:txBody>
      </p:sp>
      <p:sp>
        <p:nvSpPr>
          <p:cNvPr id="51" name="TextBox 50"/>
          <p:cNvSpPr txBox="1"/>
          <p:nvPr/>
        </p:nvSpPr>
        <p:spPr>
          <a:xfrm>
            <a:off x="457200" y="6364224"/>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3"/>
              </a:rPr>
              <a:t>[1] Vopak</a:t>
            </a:r>
          </a:p>
        </p:txBody>
      </p:sp>
      <p:sp>
        <p:nvSpPr>
          <p:cNvPr id="52" name="TextBox 51"/>
          <p:cNvSpPr txBox="1"/>
          <p:nvPr/>
        </p:nvSpPr>
        <p:spPr>
          <a:xfrm>
            <a:off x="1353312" y="6364224"/>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4"/>
              </a:rPr>
              <a:t>[2] Bidvest</a:t>
            </a:r>
          </a:p>
        </p:txBody>
      </p:sp>
      <p:sp>
        <p:nvSpPr>
          <p:cNvPr id="53" name="TextBox 52"/>
          <p:cNvSpPr txBox="1"/>
          <p:nvPr/>
        </p:nvSpPr>
        <p:spPr>
          <a:xfrm>
            <a:off x="2249424" y="6364224"/>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5"/>
              </a:rPr>
              <a:t>[3] Burgan</a:t>
            </a:r>
          </a:p>
        </p:txBody>
      </p:sp>
      <p:sp>
        <p:nvSpPr>
          <p:cNvPr id="54" name="TextBox 53"/>
          <p:cNvSpPr txBox="1"/>
          <p:nvPr/>
        </p:nvSpPr>
        <p:spPr>
          <a:xfrm>
            <a:off x="3145536" y="6364224"/>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6"/>
              </a:rPr>
              <a:t>[4] Shell</a:t>
            </a:r>
          </a:p>
        </p:txBody>
      </p:sp>
      <p:sp>
        <p:nvSpPr>
          <p:cNvPr id="55" name="TextBox 54"/>
          <p:cNvSpPr txBox="1"/>
          <p:nvPr/>
        </p:nvSpPr>
        <p:spPr>
          <a:xfrm>
            <a:off x="4041648" y="6364224"/>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7"/>
              </a:rPr>
              <a:t>[5] NERSA</a:t>
            </a:r>
          </a:p>
        </p:txBody>
      </p:sp>
      <p:sp>
        <p:nvSpPr>
          <p:cNvPr id="56" name="TextBox 55"/>
          <p:cNvSpPr txBox="1"/>
          <p:nvPr/>
        </p:nvSpPr>
        <p:spPr>
          <a:xfrm>
            <a:off x="4937760" y="6364224"/>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8"/>
              </a:rPr>
              <a:t>[6] Sasol</a:t>
            </a:r>
          </a:p>
        </p:txBody>
      </p:sp>
      <p:sp>
        <p:nvSpPr>
          <p:cNvPr id="57" name="TextBox 56"/>
          <p:cNvSpPr txBox="1"/>
          <p:nvPr/>
        </p:nvSpPr>
        <p:spPr>
          <a:xfrm>
            <a:off x="5833872" y="6364224"/>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9"/>
              </a:rPr>
              <a:t>[7] Transnet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published storage capacity by location</a:t>
            </a:r>
          </a:p>
        </p:txBody>
      </p:sp>
      <p:sp>
        <p:nvSpPr>
          <p:cNvPr id="3" name="Slide Number Placeholder"/>
          <p:cNvSpPr>
            <a:spLocks noGrp="1"/>
          </p:cNvSpPr>
          <p:nvPr>
            <p:ph type="sldNum" sz="quarter" idx="12"/>
          </p:nvPr>
        </p:nvSpPr>
        <p:spPr/>
        <p:txBody>
          <a:bodyPr/>
          <a:lstStyle/>
          <a:p>
            <a:fld id="{B85B3624-E0F3-44C7-9D6B-26EA87C8A7E9}" type="slidenum">
              <a:rPr lang="en-US"/>
              <a:t>‹#›</a:t>
            </a:fld>
          </a:p>
        </p:txBody>
      </p:sp>
      <p:sp>
        <p:nvSpPr>
          <p:cNvPr id="4" name="Section navigation 1"/>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About</a:t>
            </a:r>
          </a:p>
        </p:txBody>
      </p:sp>
      <p:sp>
        <p:nvSpPr>
          <p:cNvPr id="5" name="Section navigation 2"/>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Analytical specifications</a:t>
            </a:r>
          </a:p>
        </p:txBody>
      </p:sp>
      <p:sp>
        <p:nvSpPr>
          <p:cNvPr id="6" name="Section navigation 3"/>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Model build</a:t>
            </a:r>
          </a:p>
        </p:txBody>
      </p:sp>
      <p:sp>
        <p:nvSpPr>
          <p:cNvPr id="7" name="Section navigation 4"/>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Delivery approach</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Vopak; Bidvest; VTTI Burgan Cape; Transnet lease RFPs (5 Oct 2026), pp. 2–3. Checked 6 Oct 2026.</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t>Storage stocks and lease opportunities | thousand m³</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800" b="1">
                <a:solidFill>
                  <a:srgbClr val="000000"/>
                </a:solidFill>
                <a:latin typeface="Lato"/>
              </a:defRPr>
            </a:pPr>
            <a:r>
              <a:t>Key takeaways</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24927" y="218541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Durban leads this evidenced subset</a:t>
            </a:r>
          </a:p>
        </p:txBody>
      </p:sp>
      <p:sp>
        <p:nvSpPr>
          <p:cNvPr id="15" name="TextBox 14"/>
          <p:cNvSpPr txBox="1"/>
          <p:nvPr/>
        </p:nvSpPr>
        <p:spPr>
          <a:xfrm>
            <a:off x="7424927" y="257860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Vopak and Bidvest gross capacity totals 799.6 thousand m³. Mixed products limit the fuel-only comparison.</a:t>
            </a:r>
          </a:p>
        </p:txBody>
      </p:sp>
      <p:sp>
        <p:nvSpPr>
          <p:cNvPr id="16" name="TextBox 15"/>
          <p:cNvSpPr txBox="1"/>
          <p:nvPr/>
        </p:nvSpPr>
        <p:spPr>
          <a:xfrm>
            <a:off x="7424927" y="319125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Five Transnet lease opportunities</a:t>
            </a:r>
          </a:p>
        </p:txBody>
      </p:sp>
      <p:sp>
        <p:nvSpPr>
          <p:cNvPr id="17" name="TextBox 16"/>
          <p:cNvSpPr txBox="1"/>
          <p:nvPr/>
        </p:nvSpPr>
        <p:spPr>
          <a:xfrm>
            <a:off x="7424927" y="358444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Ladysmith, Standerton and Kroonstad have stated capacities. Bethlehem and Magdala remain unquantified, not zero.</a:t>
            </a:r>
          </a:p>
        </p:txBody>
      </p:sp>
      <p:sp>
        <p:nvSpPr>
          <p:cNvPr id="18" name="TextBox 17"/>
          <p:cNvSpPr txBox="1"/>
          <p:nvPr/>
        </p:nvSpPr>
        <p:spPr>
          <a:xfrm>
            <a:off x="7424927" y="419709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Capacity bases must stay visible</a:t>
            </a:r>
          </a:p>
        </p:txBody>
      </p:sp>
      <p:sp>
        <p:nvSpPr>
          <p:cNvPr id="19" name="TextBox 18"/>
          <p:cNvSpPr txBox="1"/>
          <p:nvPr/>
        </p:nvSpPr>
        <p:spPr>
          <a:xfrm>
            <a:off x="7424927" y="459028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Ladysmith shows petrol/diesel working capacity. Kroonstad and Standerton have RFP-stated tank capacities; gross/working basis is unspecified.</a:t>
            </a:r>
          </a:p>
        </p:txBody>
      </p:sp>
      <p:sp>
        <p:nvSpPr>
          <p:cNvPr id="20" name="TextBox 19"/>
          <p:cNvSpPr txBox="1"/>
          <p:nvPr/>
        </p:nvSpPr>
        <p:spPr>
          <a:xfrm>
            <a:off x="7424927" y="5202936"/>
            <a:ext cx="3703320" cy="37490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 Lease offers require reactivation</a:t>
            </a:r>
          </a:p>
        </p:txBody>
      </p:sp>
      <p:sp>
        <p:nvSpPr>
          <p:cNvPr id="21" name="TextBox 20"/>
          <p:cNvSpPr txBox="1"/>
          <p:nvPr/>
        </p:nvSpPr>
        <p:spPr>
          <a:xfrm>
            <a:off x="7424927" y="5596128"/>
            <a:ext cx="3703320" cy="585216"/>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 not count these tanks as operating supply. Test refurbishment, receipt/dispatch, licensing and lease award. RFP close: 4 Dec 2026.</a:t>
            </a:r>
          </a:p>
        </p:txBody>
      </p:sp>
      <p:sp>
        <p:nvSpPr>
          <p:cNvPr id="22" name="TextBox 21"/>
          <p:cNvSpPr txBox="1"/>
          <p:nvPr/>
        </p:nvSpPr>
        <p:spPr>
          <a:xfrm>
            <a:off x="457200" y="2167128"/>
            <a:ext cx="6446520" cy="210312"/>
          </a:xfrm>
          <a:prstGeom prst="rect">
            <a:avLst/>
          </a:prstGeom>
          <a:noFill/>
        </p:spPr>
        <p:txBody>
          <a:bodyPr wrap="square" lIns="22860" rIns="22860" tIns="0" bIns="0">
            <a:spAutoFit/>
          </a:bodyPr>
          <a:lstStyle/>
          <a:p>
            <a:pPr>
              <a:spcAft>
                <a:spcPts val="300"/>
              </a:spcAft>
              <a:defRPr sz="1000" b="1">
                <a:solidFill>
                  <a:srgbClr val="000000"/>
                </a:solidFill>
                <a:latin typeface="Lato"/>
              </a:defRPr>
            </a:pPr>
            <a:r>
              <a:t>Published gross capacity | mixed product scopes</a:t>
            </a:r>
          </a:p>
        </p:txBody>
      </p:sp>
      <p:cxnSp>
        <p:nvCxnSpPr>
          <p:cNvPr id="23" name="Connector 22"/>
          <p:cNvCxnSpPr/>
          <p:nvPr/>
        </p:nvCxnSpPr>
        <p:spPr>
          <a:xfrm>
            <a:off x="2029968" y="2615184"/>
            <a:ext cx="0" cy="1609344"/>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8" y="2404872"/>
            <a:ext cx="38404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0</a:t>
            </a:r>
          </a:p>
        </p:txBody>
      </p:sp>
      <p:cxnSp>
        <p:nvCxnSpPr>
          <p:cNvPr id="25" name="Connector 24"/>
          <p:cNvCxnSpPr/>
          <p:nvPr/>
        </p:nvCxnSpPr>
        <p:spPr>
          <a:xfrm>
            <a:off x="3026126" y="2615184"/>
            <a:ext cx="0" cy="1609344"/>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888966" y="2404872"/>
            <a:ext cx="38404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200</a:t>
            </a:r>
          </a:p>
        </p:txBody>
      </p:sp>
      <p:cxnSp>
        <p:nvCxnSpPr>
          <p:cNvPr id="27" name="Connector 26"/>
          <p:cNvCxnSpPr/>
          <p:nvPr/>
        </p:nvCxnSpPr>
        <p:spPr>
          <a:xfrm>
            <a:off x="4022284" y="2615184"/>
            <a:ext cx="0" cy="1609344"/>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85124" y="2404872"/>
            <a:ext cx="38404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400</a:t>
            </a:r>
          </a:p>
        </p:txBody>
      </p:sp>
      <p:cxnSp>
        <p:nvCxnSpPr>
          <p:cNvPr id="29" name="Connector 28"/>
          <p:cNvCxnSpPr/>
          <p:nvPr/>
        </p:nvCxnSpPr>
        <p:spPr>
          <a:xfrm>
            <a:off x="5018442" y="2615184"/>
            <a:ext cx="0" cy="1609344"/>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881282" y="2404872"/>
            <a:ext cx="38404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600</a:t>
            </a:r>
          </a:p>
        </p:txBody>
      </p:sp>
      <p:cxnSp>
        <p:nvCxnSpPr>
          <p:cNvPr id="31" name="Connector 30"/>
          <p:cNvCxnSpPr/>
          <p:nvPr/>
        </p:nvCxnSpPr>
        <p:spPr>
          <a:xfrm>
            <a:off x="6014600" y="2615184"/>
            <a:ext cx="0" cy="1609344"/>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77440" y="2404872"/>
            <a:ext cx="38404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800</a:t>
            </a:r>
          </a:p>
        </p:txBody>
      </p:sp>
      <p:sp>
        <p:nvSpPr>
          <p:cNvPr id="33" name="TextBox 32"/>
          <p:cNvSpPr txBox="1"/>
          <p:nvPr/>
        </p:nvSpPr>
        <p:spPr>
          <a:xfrm>
            <a:off x="457200" y="2670048"/>
            <a:ext cx="1508760" cy="219456"/>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Durban</a:t>
            </a:r>
          </a:p>
        </p:txBody>
      </p:sp>
      <p:sp>
        <p:nvSpPr>
          <p:cNvPr id="34" name="Published gross capacity: Vopak Durban: 360246 m3"/>
          <p:cNvSpPr/>
          <p:nvPr/>
        </p:nvSpPr>
        <p:spPr>
          <a:xfrm>
            <a:off x="2029968" y="2670048"/>
            <a:ext cx="1794309"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ublished gross capacity: Bidvest Tank Terminals Durban: 439306 m3"/>
          <p:cNvSpPr/>
          <p:nvPr/>
        </p:nvSpPr>
        <p:spPr>
          <a:xfrm>
            <a:off x="3824277" y="2670048"/>
            <a:ext cx="2188091" cy="21031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85521" y="2670048"/>
            <a:ext cx="566928" cy="219456"/>
          </a:xfrm>
          <a:prstGeom prst="rect">
            <a:avLst/>
          </a:prstGeom>
          <a:noFill/>
        </p:spPr>
        <p:txBody>
          <a:bodyPr wrap="square" lIns="22860" rIns="22860" tIns="0" bIns="0">
            <a:spAutoFit/>
          </a:bodyPr>
          <a:lstStyle/>
          <a:p>
            <a:pPr>
              <a:spcAft>
                <a:spcPts val="300"/>
              </a:spcAft>
              <a:defRPr sz="1050" b="1">
                <a:solidFill>
                  <a:srgbClr val="000000"/>
                </a:solidFill>
                <a:latin typeface="Lato"/>
              </a:defRPr>
            </a:pPr>
            <a:r>
              <a:t>799.6</a:t>
            </a:r>
          </a:p>
        </p:txBody>
      </p:sp>
      <p:sp>
        <p:nvSpPr>
          <p:cNvPr id="37" name="TextBox 36"/>
          <p:cNvSpPr txBox="1"/>
          <p:nvPr/>
        </p:nvSpPr>
        <p:spPr>
          <a:xfrm>
            <a:off x="457200" y="2980944"/>
            <a:ext cx="1508760" cy="219456"/>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Richards Bay</a:t>
            </a:r>
          </a:p>
        </p:txBody>
      </p:sp>
      <p:sp>
        <p:nvSpPr>
          <p:cNvPr id="38" name="Published gross capacity: Bidvest Tank Terminals Richards Bay: 483797 m3"/>
          <p:cNvSpPr/>
          <p:nvPr/>
        </p:nvSpPr>
        <p:spPr>
          <a:xfrm>
            <a:off x="2029968" y="2980944"/>
            <a:ext cx="2409691" cy="21031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12811" y="2980944"/>
            <a:ext cx="566928" cy="219456"/>
          </a:xfrm>
          <a:prstGeom prst="rect">
            <a:avLst/>
          </a:prstGeom>
          <a:noFill/>
        </p:spPr>
        <p:txBody>
          <a:bodyPr wrap="square" lIns="22860" rIns="22860" tIns="0" bIns="0">
            <a:spAutoFit/>
          </a:bodyPr>
          <a:lstStyle/>
          <a:p>
            <a:pPr>
              <a:spcAft>
                <a:spcPts val="300"/>
              </a:spcAft>
              <a:defRPr sz="1050" b="1">
                <a:solidFill>
                  <a:srgbClr val="000000"/>
                </a:solidFill>
                <a:latin typeface="Lato"/>
              </a:defRPr>
            </a:pPr>
            <a:r>
              <a:t>483.8</a:t>
            </a:r>
          </a:p>
        </p:txBody>
      </p:sp>
      <p:sp>
        <p:nvSpPr>
          <p:cNvPr id="40" name="TextBox 39"/>
          <p:cNvSpPr txBox="1"/>
          <p:nvPr/>
        </p:nvSpPr>
        <p:spPr>
          <a:xfrm>
            <a:off x="457200" y="3291840"/>
            <a:ext cx="1508760" cy="219456"/>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Lesedi</a:t>
            </a:r>
          </a:p>
        </p:txBody>
      </p:sp>
      <p:sp>
        <p:nvSpPr>
          <p:cNvPr id="41" name="Published gross capacity: Vopak Lesedi: 140000 m3"/>
          <p:cNvSpPr/>
          <p:nvPr/>
        </p:nvSpPr>
        <p:spPr>
          <a:xfrm>
            <a:off x="2029968" y="3291840"/>
            <a:ext cx="697310"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800430" y="3291840"/>
            <a:ext cx="566928" cy="219456"/>
          </a:xfrm>
          <a:prstGeom prst="rect">
            <a:avLst/>
          </a:prstGeom>
          <a:noFill/>
        </p:spPr>
        <p:txBody>
          <a:bodyPr wrap="square" lIns="22860" rIns="22860" tIns="0" bIns="0">
            <a:spAutoFit/>
          </a:bodyPr>
          <a:lstStyle/>
          <a:p>
            <a:pPr>
              <a:spcAft>
                <a:spcPts val="300"/>
              </a:spcAft>
              <a:defRPr sz="1050" b="1">
                <a:solidFill>
                  <a:srgbClr val="000000"/>
                </a:solidFill>
                <a:latin typeface="Lato"/>
              </a:defRPr>
            </a:pPr>
            <a:r>
              <a:t>140.0</a:t>
            </a:r>
          </a:p>
        </p:txBody>
      </p:sp>
      <p:sp>
        <p:nvSpPr>
          <p:cNvPr id="43" name="TextBox 42"/>
          <p:cNvSpPr txBox="1"/>
          <p:nvPr/>
        </p:nvSpPr>
        <p:spPr>
          <a:xfrm>
            <a:off x="457200" y="3602736"/>
            <a:ext cx="1508760" cy="219456"/>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Cape Town</a:t>
            </a:r>
          </a:p>
        </p:txBody>
      </p:sp>
      <p:sp>
        <p:nvSpPr>
          <p:cNvPr id="44" name="Published gross capacity: VTTI Burgan Cape Terminal Cape Town: 122000 m3"/>
          <p:cNvSpPr/>
          <p:nvPr/>
        </p:nvSpPr>
        <p:spPr>
          <a:xfrm>
            <a:off x="2029968" y="3602736"/>
            <a:ext cx="607656" cy="210312"/>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710776" y="3602736"/>
            <a:ext cx="566928" cy="219456"/>
          </a:xfrm>
          <a:prstGeom prst="rect">
            <a:avLst/>
          </a:prstGeom>
          <a:noFill/>
        </p:spPr>
        <p:txBody>
          <a:bodyPr wrap="square" lIns="22860" rIns="22860" tIns="0" bIns="0">
            <a:spAutoFit/>
          </a:bodyPr>
          <a:lstStyle/>
          <a:p>
            <a:pPr>
              <a:spcAft>
                <a:spcPts val="300"/>
              </a:spcAft>
              <a:defRPr sz="1050" b="1">
                <a:solidFill>
                  <a:srgbClr val="000000"/>
                </a:solidFill>
                <a:latin typeface="Lato"/>
              </a:defRPr>
            </a:pPr>
            <a:r>
              <a:t>122.0</a:t>
            </a:r>
          </a:p>
        </p:txBody>
      </p:sp>
      <p:sp>
        <p:nvSpPr>
          <p:cNvPr id="46" name="TextBox 45"/>
          <p:cNvSpPr txBox="1"/>
          <p:nvPr/>
        </p:nvSpPr>
        <p:spPr>
          <a:xfrm>
            <a:off x="457200" y="3913632"/>
            <a:ext cx="1508760" cy="219456"/>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Isando</a:t>
            </a:r>
          </a:p>
        </p:txBody>
      </p:sp>
      <p:sp>
        <p:nvSpPr>
          <p:cNvPr id="47" name="Published gross capacity: Bidvest Tank Terminals Isando: 32500 m3"/>
          <p:cNvSpPr/>
          <p:nvPr/>
        </p:nvSpPr>
        <p:spPr>
          <a:xfrm>
            <a:off x="2029968" y="3913632"/>
            <a:ext cx="161875" cy="21031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264995" y="3913632"/>
            <a:ext cx="566928" cy="219456"/>
          </a:xfrm>
          <a:prstGeom prst="rect">
            <a:avLst/>
          </a:prstGeom>
          <a:noFill/>
        </p:spPr>
        <p:txBody>
          <a:bodyPr wrap="square" lIns="22860" rIns="22860" tIns="0" bIns="0">
            <a:spAutoFit/>
          </a:bodyPr>
          <a:lstStyle/>
          <a:p>
            <a:pPr>
              <a:spcAft>
                <a:spcPts val="300"/>
              </a:spcAft>
              <a:defRPr sz="1050" b="1">
                <a:solidFill>
                  <a:srgbClr val="000000"/>
                </a:solidFill>
                <a:latin typeface="Lato"/>
              </a:defRPr>
            </a:pPr>
            <a:r>
              <a:t>32.5</a:t>
            </a:r>
          </a:p>
        </p:txBody>
      </p:sp>
      <p:sp>
        <p:nvSpPr>
          <p:cNvPr id="49" name="Rectangle 48"/>
          <p:cNvSpPr/>
          <p:nvPr/>
        </p:nvSpPr>
        <p:spPr>
          <a:xfrm>
            <a:off x="457200" y="4370832"/>
            <a:ext cx="100584" cy="100584"/>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4315968"/>
            <a:ext cx="1554480" cy="210312"/>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Vopak</a:t>
            </a:r>
          </a:p>
        </p:txBody>
      </p:sp>
      <p:sp>
        <p:nvSpPr>
          <p:cNvPr id="51" name="Rectangle 50"/>
          <p:cNvSpPr/>
          <p:nvPr/>
        </p:nvSpPr>
        <p:spPr>
          <a:xfrm>
            <a:off x="2194560" y="4370832"/>
            <a:ext cx="100584" cy="100584"/>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359152" y="4315968"/>
            <a:ext cx="1554480" cy="210312"/>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Bidvest</a:t>
            </a:r>
          </a:p>
        </p:txBody>
      </p:sp>
      <p:sp>
        <p:nvSpPr>
          <p:cNvPr id="53" name="Rectangle 52"/>
          <p:cNvSpPr/>
          <p:nvPr/>
        </p:nvSpPr>
        <p:spPr>
          <a:xfrm>
            <a:off x="4023360" y="4370832"/>
            <a:ext cx="100584" cy="100584"/>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87952" y="4315968"/>
            <a:ext cx="1554480" cy="210312"/>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Burgan Cape</a:t>
            </a:r>
          </a:p>
        </p:txBody>
      </p:sp>
      <p:sp>
        <p:nvSpPr>
          <p:cNvPr id="55" name="TextBox 54"/>
          <p:cNvSpPr txBox="1"/>
          <p:nvPr/>
        </p:nvSpPr>
        <p:spPr>
          <a:xfrm>
            <a:off x="457200" y="4599432"/>
            <a:ext cx="6446520" cy="219456"/>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Transnet lease opportunities | enlarged scale; not operating supply</a:t>
            </a:r>
          </a:p>
        </p:txBody>
      </p:sp>
      <p:cxnSp>
        <p:nvCxnSpPr>
          <p:cNvPr id="56" name="Connector 55"/>
          <p:cNvCxnSpPr/>
          <p:nvPr/>
        </p:nvCxnSpPr>
        <p:spPr>
          <a:xfrm>
            <a:off x="2029968" y="5093208"/>
            <a:ext cx="0" cy="859536"/>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1892808" y="4864608"/>
            <a:ext cx="38404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0</a:t>
            </a:r>
          </a:p>
        </p:txBody>
      </p:sp>
      <p:cxnSp>
        <p:nvCxnSpPr>
          <p:cNvPr id="58" name="Connector 57"/>
          <p:cNvCxnSpPr/>
          <p:nvPr/>
        </p:nvCxnSpPr>
        <p:spPr>
          <a:xfrm>
            <a:off x="2876702" y="5093208"/>
            <a:ext cx="0" cy="859536"/>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2739542" y="4864608"/>
            <a:ext cx="38404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2</a:t>
            </a:r>
          </a:p>
        </p:txBody>
      </p:sp>
      <p:cxnSp>
        <p:nvCxnSpPr>
          <p:cNvPr id="60" name="Connector 59"/>
          <p:cNvCxnSpPr/>
          <p:nvPr/>
        </p:nvCxnSpPr>
        <p:spPr>
          <a:xfrm>
            <a:off x="3723436" y="5093208"/>
            <a:ext cx="0" cy="859536"/>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586276" y="4864608"/>
            <a:ext cx="38404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4</a:t>
            </a:r>
          </a:p>
        </p:txBody>
      </p:sp>
      <p:cxnSp>
        <p:nvCxnSpPr>
          <p:cNvPr id="62" name="Connector 61"/>
          <p:cNvCxnSpPr/>
          <p:nvPr/>
        </p:nvCxnSpPr>
        <p:spPr>
          <a:xfrm>
            <a:off x="4570171" y="5093208"/>
            <a:ext cx="0" cy="859536"/>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4433011" y="4864608"/>
            <a:ext cx="38404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6</a:t>
            </a:r>
          </a:p>
        </p:txBody>
      </p:sp>
      <p:cxnSp>
        <p:nvCxnSpPr>
          <p:cNvPr id="64" name="Connector 63"/>
          <p:cNvCxnSpPr/>
          <p:nvPr/>
        </p:nvCxnSpPr>
        <p:spPr>
          <a:xfrm>
            <a:off x="5416905" y="5093208"/>
            <a:ext cx="0" cy="859536"/>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5279745" y="4864608"/>
            <a:ext cx="38404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8</a:t>
            </a:r>
          </a:p>
        </p:txBody>
      </p:sp>
      <p:cxnSp>
        <p:nvCxnSpPr>
          <p:cNvPr id="66" name="Connector 65"/>
          <p:cNvCxnSpPr/>
          <p:nvPr/>
        </p:nvCxnSpPr>
        <p:spPr>
          <a:xfrm>
            <a:off x="6263640" y="5093208"/>
            <a:ext cx="0" cy="859536"/>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6126479" y="4864608"/>
            <a:ext cx="38404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10</a:t>
            </a:r>
          </a:p>
        </p:txBody>
      </p:sp>
      <p:sp>
        <p:nvSpPr>
          <p:cNvPr id="68" name="TextBox 67"/>
          <p:cNvSpPr txBox="1"/>
          <p:nvPr/>
        </p:nvSpPr>
        <p:spPr>
          <a:xfrm>
            <a:off x="457200" y="5120640"/>
            <a:ext cx="1508760" cy="219456"/>
          </a:xfrm>
          <a:prstGeom prst="rect">
            <a:avLst/>
          </a:prstGeom>
          <a:noFill/>
        </p:spPr>
        <p:txBody>
          <a:bodyPr wrap="square" lIns="22860" rIns="22860" tIns="0" bIns="0">
            <a:spAutoFit/>
          </a:bodyPr>
          <a:lstStyle/>
          <a:p>
            <a:pPr>
              <a:spcAft>
                <a:spcPts val="300"/>
              </a:spcAft>
              <a:defRPr sz="1000" b="1">
                <a:solidFill>
                  <a:srgbClr val="000000"/>
                </a:solidFill>
                <a:latin typeface="Lato"/>
              </a:defRPr>
            </a:pPr>
            <a:r>
              <a:t>Ladysmith*</a:t>
            </a:r>
          </a:p>
        </p:txBody>
      </p:sp>
      <p:sp>
        <p:nvSpPr>
          <p:cNvPr id="69" name="Transnet lease offer: Ladysmith: 8540 m3; Petrol/diesel working capacity; excludes 474 m3 intermixture"/>
          <p:cNvSpPr/>
          <p:nvPr/>
        </p:nvSpPr>
        <p:spPr>
          <a:xfrm>
            <a:off x="2029968" y="5120640"/>
            <a:ext cx="3615555" cy="182880"/>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718675" y="5120640"/>
            <a:ext cx="566928" cy="210312"/>
          </a:xfrm>
          <a:prstGeom prst="rect">
            <a:avLst/>
          </a:prstGeom>
          <a:noFill/>
        </p:spPr>
        <p:txBody>
          <a:bodyPr wrap="square" lIns="22860" rIns="22860" tIns="0" bIns="0">
            <a:spAutoFit/>
          </a:bodyPr>
          <a:lstStyle/>
          <a:p>
            <a:pPr>
              <a:spcAft>
                <a:spcPts val="300"/>
              </a:spcAft>
              <a:defRPr sz="1000" b="1">
                <a:solidFill>
                  <a:srgbClr val="000000"/>
                </a:solidFill>
                <a:latin typeface="Lato"/>
              </a:defRPr>
            </a:pPr>
            <a:r>
              <a:t>8.54</a:t>
            </a:r>
          </a:p>
        </p:txBody>
      </p:sp>
      <p:sp>
        <p:nvSpPr>
          <p:cNvPr id="71" name="TextBox 70"/>
          <p:cNvSpPr txBox="1"/>
          <p:nvPr/>
        </p:nvSpPr>
        <p:spPr>
          <a:xfrm>
            <a:off x="457200" y="5385816"/>
            <a:ext cx="1508760" cy="219456"/>
          </a:xfrm>
          <a:prstGeom prst="rect">
            <a:avLst/>
          </a:prstGeom>
          <a:noFill/>
        </p:spPr>
        <p:txBody>
          <a:bodyPr wrap="square" lIns="22860" rIns="22860" tIns="0" bIns="0">
            <a:spAutoFit/>
          </a:bodyPr>
          <a:lstStyle/>
          <a:p>
            <a:pPr>
              <a:spcAft>
                <a:spcPts val="300"/>
              </a:spcAft>
              <a:defRPr sz="1000" b="1">
                <a:solidFill>
                  <a:srgbClr val="000000"/>
                </a:solidFill>
                <a:latin typeface="Lato"/>
              </a:defRPr>
            </a:pPr>
            <a:r>
              <a:t>Kroonstad</a:t>
            </a:r>
          </a:p>
        </p:txBody>
      </p:sp>
      <p:sp>
        <p:nvSpPr>
          <p:cNvPr id="72" name="Transnet lease offer: Kroonstad: 3300 m3; Approximate RFP stated storage capacity; gross/working basis unspecified"/>
          <p:cNvSpPr/>
          <p:nvPr/>
        </p:nvSpPr>
        <p:spPr>
          <a:xfrm>
            <a:off x="2029968" y="5385816"/>
            <a:ext cx="1397111" cy="182880"/>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500231" y="5385816"/>
            <a:ext cx="566928" cy="210312"/>
          </a:xfrm>
          <a:prstGeom prst="rect">
            <a:avLst/>
          </a:prstGeom>
          <a:noFill/>
        </p:spPr>
        <p:txBody>
          <a:bodyPr wrap="square" lIns="22860" rIns="22860" tIns="0" bIns="0">
            <a:spAutoFit/>
          </a:bodyPr>
          <a:lstStyle/>
          <a:p>
            <a:pPr>
              <a:spcAft>
                <a:spcPts val="300"/>
              </a:spcAft>
              <a:defRPr sz="1000" b="1">
                <a:solidFill>
                  <a:srgbClr val="000000"/>
                </a:solidFill>
                <a:latin typeface="Lato"/>
              </a:defRPr>
            </a:pPr>
            <a:r>
              <a:t>3.30</a:t>
            </a:r>
          </a:p>
        </p:txBody>
      </p:sp>
      <p:sp>
        <p:nvSpPr>
          <p:cNvPr id="74" name="TextBox 73"/>
          <p:cNvSpPr txBox="1"/>
          <p:nvPr/>
        </p:nvSpPr>
        <p:spPr>
          <a:xfrm>
            <a:off x="457200" y="5650992"/>
            <a:ext cx="1508760" cy="219456"/>
          </a:xfrm>
          <a:prstGeom prst="rect">
            <a:avLst/>
          </a:prstGeom>
          <a:noFill/>
        </p:spPr>
        <p:txBody>
          <a:bodyPr wrap="square" lIns="22860" rIns="22860" tIns="0" bIns="0">
            <a:spAutoFit/>
          </a:bodyPr>
          <a:lstStyle/>
          <a:p>
            <a:pPr>
              <a:spcAft>
                <a:spcPts val="300"/>
              </a:spcAft>
              <a:defRPr sz="1000" b="1">
                <a:solidFill>
                  <a:srgbClr val="000000"/>
                </a:solidFill>
                <a:latin typeface="Lato"/>
              </a:defRPr>
            </a:pPr>
            <a:r>
              <a:t>Standerton</a:t>
            </a:r>
          </a:p>
        </p:txBody>
      </p:sp>
      <p:sp>
        <p:nvSpPr>
          <p:cNvPr id="75" name="Transnet lease offer: Standerton: 2353 m3; RFP stated tank capacities; gross/working basis unspecified"/>
          <p:cNvSpPr/>
          <p:nvPr/>
        </p:nvSpPr>
        <p:spPr>
          <a:xfrm>
            <a:off x="2029968" y="5650992"/>
            <a:ext cx="996183" cy="182880"/>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099303" y="5650992"/>
            <a:ext cx="566928" cy="210312"/>
          </a:xfrm>
          <a:prstGeom prst="rect">
            <a:avLst/>
          </a:prstGeom>
          <a:noFill/>
        </p:spPr>
        <p:txBody>
          <a:bodyPr wrap="square" lIns="22860" rIns="22860" tIns="0" bIns="0">
            <a:spAutoFit/>
          </a:bodyPr>
          <a:lstStyle/>
          <a:p>
            <a:pPr>
              <a:spcAft>
                <a:spcPts val="300"/>
              </a:spcAft>
              <a:defRPr sz="1000" b="1">
                <a:solidFill>
                  <a:srgbClr val="000000"/>
                </a:solidFill>
                <a:latin typeface="Lato"/>
              </a:defRPr>
            </a:pPr>
            <a:r>
              <a:t>2.35</a:t>
            </a:r>
          </a:p>
        </p:txBody>
      </p:sp>
      <p:sp>
        <p:nvSpPr>
          <p:cNvPr id="77" name="TextBox 76"/>
          <p:cNvSpPr txBox="1"/>
          <p:nvPr/>
        </p:nvSpPr>
        <p:spPr>
          <a:xfrm>
            <a:off x="457200" y="6016752"/>
            <a:ext cx="6446520" cy="22860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*Ladysmith: petrol/diesel working; excludes 0.474 intermixture. Other lease tank bases unspecified.</a:t>
            </a:r>
          </a:p>
        </p:txBody>
      </p:sp>
      <p:sp>
        <p:nvSpPr>
          <p:cNvPr id="78" name="TextBox 77"/>
          <p:cNvSpPr txBox="1"/>
          <p:nvPr/>
        </p:nvSpPr>
        <p:spPr>
          <a:xfrm>
            <a:off x="457200" y="6272784"/>
            <a:ext cx="6446520" cy="219456"/>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Unquantified: Bethlehem, Magdala, Sasol depots, Tarlton and Jameson Park. Stock ≠ throughput.</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