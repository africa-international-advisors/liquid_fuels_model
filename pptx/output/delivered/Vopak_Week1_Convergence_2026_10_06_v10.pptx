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1.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7.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2.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18–20.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7.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7.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SARS / Stats SA / operator evidence, 6 Oct 2026. Remaining gaps labelled.</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74320"/>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Current answer | validate customer access before committing additional capacity</a:t>
            </a:r>
          </a:p>
        </p:txBody>
      </p:sp>
      <p:graphicFrame>
        <p:nvGraphicFramePr>
          <p:cNvPr id="47" name="Table 46"/>
          <p:cNvGraphicFramePr>
            <a:graphicFrameLocks noGrp="1"/>
          </p:cNvGraphicFramePr>
          <p:nvPr/>
        </p:nvGraphicFramePr>
        <p:xfrm>
          <a:off x="457200" y="206654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Current answer and implication</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Next step / proposed lead</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Imports underpin the national market</a:t>
                      </a:r>
                    </a:p>
                    <a:p>
                      <a:pPr>
                        <a:spcAft>
                          <a:spcPts val="0"/>
                        </a:spcAft>
                        <a:defRPr sz="1050" b="0">
                          <a:solidFill>
                            <a:srgbClr val="000000"/>
                          </a:solidFill>
                          <a:latin typeface="Lato"/>
                        </a:defRPr>
                      </a:pPr>
                      <a:r>
                        <a:t>2024 net petrol/diesel imports: 13.078 bn L. Production, stocks and sales coverage remain unmatched.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Match the national balance</a:t>
                      </a:r>
                    </a:p>
                    <a:p>
                      <a:pPr>
                        <a:spcAft>
                          <a:spcPts val="0"/>
                        </a:spcAft>
                        <a:defRPr sz="1050" b="0">
                          <a:solidFill>
                            <a:srgbClr val="000000"/>
                          </a:solidFill>
                          <a:latin typeface="Lato"/>
                        </a:defRPr>
                      </a:pPr>
                      <a:r>
                        <a:t>Manish; Nigel source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is concentrated, but later provincial data are estimates</a:t>
                      </a:r>
                    </a:p>
                    <a:p>
                      <a:pPr>
                        <a:spcAft>
                          <a:spcPts val="0"/>
                        </a:spcAft>
                        <a:defRPr sz="1050" b="0">
                          <a:solidFill>
                            <a:srgbClr val="000000"/>
                          </a:solidFill>
                          <a:latin typeface="Lato"/>
                        </a:defRPr>
                      </a:pPr>
                      <a:r>
                        <a:t>GP, KZN and WC account for 68.6% of reported 2022 sales. The map does not establish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Refresh observed demand and destinations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drivers can move in different directions</a:t>
                      </a:r>
                    </a:p>
                    <a:p>
                      <a:pPr>
                        <a:spcAft>
                          <a:spcPts val="0"/>
                        </a:spcAft>
                        <a:defRPr sz="1050" b="0">
                          <a:solidFill>
                            <a:srgbClr val="000000"/>
                          </a:solidFill>
                          <a:latin typeface="Lato"/>
                        </a:defRPr>
                      </a:pPr>
                      <a:r>
                        <a:t>Power, freight, prices and vehicle mix need separate mechanisms; observed activity is not a fuel forecast.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Define growth, lever cases and back-tests</a:t>
                      </a:r>
                    </a:p>
                    <a:p>
                      <a:pPr>
                        <a:spcAft>
                          <a:spcPts val="0"/>
                        </a:spcAft>
                        <a:defRPr sz="1050" b="0">
                          <a:solidFill>
                            <a:srgbClr val="000000"/>
                          </a:solidFill>
                          <a:latin typeface="Lato"/>
                        </a:defRPr>
                      </a:pPr>
                      <a:r>
                        <a:t>Manish; Nigel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Confirm plant status, timing and yields</a:t>
                      </a:r>
                    </a:p>
                    <a:p>
                      <a:pPr>
                        <a:spcAft>
                          <a:spcPts val="0"/>
                        </a:spcAft>
                        <a:defRPr sz="1050" b="0">
                          <a:solidFill>
                            <a:srgbClr val="000000"/>
                          </a:solidFill>
                          <a:latin typeface="Lato"/>
                        </a:defRPr>
                      </a:pPr>
                      <a:r>
                        <a:t>Manish; Henry review</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Compare one product and destination</a:t>
                      </a:r>
                    </a:p>
                    <a:p>
                      <a:pPr>
                        <a:spcAft>
                          <a:spcPts val="0"/>
                        </a:spcAft>
                        <a:defRPr sz="1050" b="0">
                          <a:solidFill>
                            <a:srgbClr val="000000"/>
                          </a:solidFill>
                          <a:latin typeface="Lato"/>
                        </a:defRPr>
                      </a:pPr>
                      <a:r>
                        <a:t>Manish; Nigel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Market share of Vopak in Dbn and Lesedi</a:t>
                      </a:r>
                    </a:p>
                    <a:p>
                      <a:pPr>
                        <a:spcAft>
                          <a:spcPts val="0"/>
                        </a:spcAft>
                        <a:defRPr sz="1050" b="0">
                          <a:solidFill>
                            <a:srgbClr val="000000"/>
                          </a:solidFill>
                          <a:latin typeface="Lato"/>
                        </a:defRPr>
                      </a:pPr>
                      <a:r>
                        <a:t>Share is not established. Published tanks show footprint; unique customer deliveries establish served demand.</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Obtain flows, remove transfers, test capture gates</a:t>
                      </a:r>
                    </a:p>
                    <a:p>
                      <a:pPr>
                        <a:spcAft>
                          <a:spcPts val="0"/>
                        </a:spcAft>
                        <a:defRPr sz="1050" b="0">
                          <a:solidFill>
                            <a:srgbClr val="000000"/>
                          </a:solidFill>
                          <a:latin typeface="Lato"/>
                        </a:defRPr>
                      </a:pPr>
                      <a:r>
                        <a:t>Nigel client data; Manish</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Validate where, how and when to act</a:t>
                      </a:r>
                    </a:p>
                    <a:p>
                      <a:pPr>
                        <a:spcAft>
                          <a:spcPts val="0"/>
                        </a:spcAft>
                        <a:defRPr sz="1050" b="0">
                          <a:solidFill>
                            <a:srgbClr val="000000"/>
                          </a:solidFill>
                          <a:latin typeface="Lato"/>
                        </a:defRPr>
                      </a:pPr>
                      <a:r>
                        <a:t>Nigel; Manish / Henry</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17</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48259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S1</a:t>
            </a:r>
          </a:p>
        </p:txBody>
      </p:sp>
      <p:sp>
        <p:nvSpPr>
          <p:cNvPr id="49" name="SCR pill 2"/>
          <p:cNvSpPr/>
          <p:nvPr/>
        </p:nvSpPr>
        <p:spPr>
          <a:xfrm>
            <a:off x="1687068" y="301817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S2</a:t>
            </a:r>
          </a:p>
        </p:txBody>
      </p:sp>
      <p:sp>
        <p:nvSpPr>
          <p:cNvPr id="50" name="SCR pill 3"/>
          <p:cNvSpPr/>
          <p:nvPr/>
        </p:nvSpPr>
        <p:spPr>
          <a:xfrm>
            <a:off x="1687068" y="355375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S/C3</a:t>
            </a:r>
          </a:p>
        </p:txBody>
      </p:sp>
      <p:sp>
        <p:nvSpPr>
          <p:cNvPr id="51" name="SCR pill 4"/>
          <p:cNvSpPr/>
          <p:nvPr/>
        </p:nvSpPr>
        <p:spPr>
          <a:xfrm>
            <a:off x="1687068" y="408932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C4</a:t>
            </a:r>
          </a:p>
        </p:txBody>
      </p:sp>
      <p:sp>
        <p:nvSpPr>
          <p:cNvPr id="52" name="SCR pill 5"/>
          <p:cNvSpPr/>
          <p:nvPr/>
        </p:nvSpPr>
        <p:spPr>
          <a:xfrm>
            <a:off x="1687068" y="462490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C5</a:t>
            </a:r>
          </a:p>
        </p:txBody>
      </p:sp>
      <p:sp>
        <p:nvSpPr>
          <p:cNvPr id="53" name="SCR pill 6"/>
          <p:cNvSpPr/>
          <p:nvPr/>
        </p:nvSpPr>
        <p:spPr>
          <a:xfrm>
            <a:off x="1687068" y="516048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R6</a:t>
            </a:r>
          </a:p>
        </p:txBody>
      </p:sp>
      <p:sp>
        <p:nvSpPr>
          <p:cNvPr id="54" name="SCR pill 7"/>
          <p:cNvSpPr/>
          <p:nvPr/>
        </p:nvSpPr>
        <p:spPr>
          <a:xfrm>
            <a:off x="1687068" y="569605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1">
                <a:solidFill>
                  <a:srgbClr val="0A2373"/>
                </a:solidFill>
                <a:latin typeface="Lato"/>
              </a:defRPr>
            </a:pPr>
            <a:r>
              <a:t>R7</a:t>
            </a:r>
          </a:p>
        </p:txBody>
      </p:sp>
      <p:sp>
        <p:nvSpPr>
          <p:cNvPr id="55" name="TextBox 54"/>
          <p:cNvSpPr txBox="1"/>
          <p:nvPr/>
        </p:nvSpPr>
        <p:spPr>
          <a:xfrm>
            <a:off x="457200" y="6272784"/>
            <a:ext cx="10652760" cy="228600"/>
          </a:xfrm>
          <a:prstGeom prst="rect">
            <a:avLst/>
          </a:prstGeom>
          <a:noFill/>
        </p:spPr>
        <p:txBody>
          <a:bodyPr wrap="none" lIns="0" rIns="0" tIns="0" bIns="0">
            <a:spAutoFit/>
          </a:bodyPr>
          <a:lstStyle/>
          <a:p>
            <a:pPr>
              <a:spcAft>
                <a:spcPts val="0"/>
              </a:spcAft>
              <a:defRPr sz="950" b="0">
                <a:solidFill>
                  <a:srgbClr val="000000"/>
                </a:solidFill>
                <a:latin typeface="Lato"/>
              </a:defRPr>
            </a:pPr>
            <a:r>
              <a:t>S = Situation   C = Complication   R = Resolution | Every Henry storyboard prompt has a response on pages 18–20; open items remain open.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Reported sales</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Compare consumption with reported sales; explain coverage and the residual.</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Diesel imports 10.793 bn L.</a:t>
            </a:r>
          </a:p>
          <a:p>
            <a:pPr>
              <a:spcAft>
                <a:spcPts val="300"/>
              </a:spcAft>
              <a:defRPr sz="1150" b="0">
                <a:solidFill>
                  <a:srgbClr val="000000"/>
                </a:solidFill>
                <a:latin typeface="Lato"/>
              </a:defRPr>
            </a:pPr>
            <a:r>
              <a:t>Government rounds to 10.800; FIASA 14.793.</a:t>
            </a:r>
          </a:p>
          <a:p>
            <a:pPr>
              <a:spcAft>
                <a:spcPts val="300"/>
              </a:spcAft>
              <a:defRPr sz="1150" b="0">
                <a:solidFill>
                  <a:srgbClr val="000000"/>
                </a:solidFill>
                <a:latin typeface="Lato"/>
              </a:defRPr>
            </a:pPr>
            <a: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Sales less net imports = 7.685 bn L.</a:t>
            </a:r>
          </a:p>
          <a:p>
            <a:pPr>
              <a:spcAft>
                <a:spcPts val="300"/>
              </a:spcAft>
              <a:defRPr sz="1150" b="0">
                <a:solidFill>
                  <a:srgbClr val="000000"/>
                </a:solidFill>
                <a:latin typeface="Lato"/>
              </a:defRPr>
            </a:pPr>
            <a:r>
              <a:t>Balancing requirement, not production.</a:t>
            </a:r>
          </a:p>
          <a:p>
            <a:pPr>
              <a:spcAft>
                <a:spcPts val="300"/>
              </a:spcAft>
              <a:defRPr sz="1150" b="0">
                <a:solidFill>
                  <a:srgbClr val="000000"/>
                </a:solidFill>
                <a:latin typeface="Lato"/>
              </a:defRPr>
            </a:pPr>
            <a: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rebuild the balance CSV from SARS; match product, year, actual output and stock changes. Nigel: agree the sales selection and obtain customer/port evidence.</a:t>
            </a:r>
          </a:p>
        </p:txBody>
      </p:sp>
      <p:sp>
        <p:nvSpPr>
          <p:cNvPr id="6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1">
                <a:solidFill>
                  <a:srgbClr val="FFFFFF"/>
                </a:solidFill>
                <a:latin typeface="Lato"/>
              </a:defRPr>
            </a:pPr>
            <a:r>
              <a:t>KZN</a:t>
            </a:r>
          </a:p>
          <a:p>
            <a:pPr>
              <a:spcAft>
                <a:spcPts val="300"/>
              </a:spcAft>
              <a:defRPr sz="900" b="1">
                <a:solidFill>
                  <a:srgbClr val="FFFFFF"/>
                </a:solidFill>
                <a:latin typeface="Lato"/>
              </a:defRPr>
            </a:pPr>
            <a: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44" name="TextBox 543"/>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Sales totals, not density. Vopak locations highlighted; detailed operator inventory on pages 13 and 15. Jet excluded.</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customer markets for Durban and Lesedi. Manish: retain the observed 2022 map; present later estimates separately with national-source flags.</a:t>
            </a:r>
          </a:p>
        </p:txBody>
      </p:sp>
      <p:sp>
        <p:nvSpPr>
          <p:cNvPr id="565"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6"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67"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68"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analyst branch corrects the 2013 parser. Sources differ in 2014/2015; 2018 district coverage is incomplete. Retain these flags.</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reconcile source selections and retain estimate labels. Nigel: decide whether estimated petrol volumes belong in the outlook; diesel booking shares are less stable.</a:t>
            </a:r>
          </a:p>
        </p:txBody>
      </p:sp>
      <p:sp>
        <p:nvSpPr>
          <p:cNvPr id="6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populate the matched-year national balance first; retain provincial origin as unknown until supported.</a:t>
            </a:r>
          </a:p>
        </p:txBody>
      </p:sp>
      <p:sp>
        <p:nvSpPr>
          <p:cNvPr id="8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Diesel wholesale</a:t>
            </a:r>
          </a:p>
        </p:txBody>
      </p:sp>
      <p:sp>
        <p:nvSpPr>
          <p:cNvPr id="76" name="TextBox 75"/>
          <p:cNvSpPr txBox="1"/>
          <p:nvPr/>
        </p:nvSpPr>
        <p:spPr>
          <a:xfrm>
            <a:off x="457200" y="6291072"/>
            <a:ext cx="10652760" cy="16459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Latest staged: activity Jul 2026; GDP Q2 2026; inland prices Oct 2026. Charts use complete years. Fuel-use rates need validation; FY ends March.</a:t>
            </a:r>
          </a:p>
        </p:txBody>
      </p:sp>
      <p:sp>
        <p:nvSpPr>
          <p:cNvPr id="7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Reported FY2024 output: Secunda 29.1; Natref Sasol share 17.8 million barrels.</a:t>
            </a:r>
          </a:p>
        </p:txBody>
      </p:sp>
      <p:sp>
        <p:nvSpPr>
          <p:cNvPr id="37" name="TextBox 36"/>
          <p:cNvSpPr txBox="1"/>
          <p:nvPr/>
        </p:nvSpPr>
        <p:spPr>
          <a:xfrm>
            <a:off x="457200" y="6217920"/>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All products; year to June, not calendar-year petrol/diesel. B adds 400 from 2033, conditional on FID.</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match operator output to product/year and document Natref ownership basis. Henry: review technical mechanisms. Nigel: agree refinery scenario timing.</a:t>
            </a:r>
          </a:p>
        </p:txBody>
      </p:sp>
      <p:sp>
        <p:nvSpPr>
          <p:cNvPr id="5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6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Connect historical changes to forecast cases and market decisions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changes | historical evidence, forecast cases and decision outputs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2103120"/>
            <a:ext cx="1065276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STRUCTURE FOR REVIEW | assumptions and fuel-volume effects remain uncalibrated</a:t>
            </a:r>
          </a:p>
        </p:txBody>
      </p:sp>
      <p:graphicFrame>
        <p:nvGraphicFramePr>
          <p:cNvPr id="12" name="Table 11"/>
          <p:cNvGraphicFramePr>
            <a:graphicFrameLocks noGrp="1"/>
          </p:cNvGraphicFramePr>
          <p:nvPr/>
        </p:nvGraphicFramePr>
        <p:xfrm>
          <a:off x="457200" y="2542032"/>
          <a:ext cx="10652760" cy="3154680"/>
        </p:xfrm>
        <a:graphic>
          <a:graphicData uri="http://schemas.openxmlformats.org/drawingml/2006/table">
            <a:tbl>
              <a:tblPr firstRow="1" bandRow="1">
                <a:tableStyleId>{2D5ABB26-0587-4C30-8999-92F81FD0307C}</a:tableStyleId>
              </a:tblPr>
              <a:tblGrid>
                <a:gridCol w="2514600"/>
                <a:gridCol w="3154680"/>
                <a:gridCol w="2606040"/>
                <a:gridCol w="2377440"/>
              </a:tblGrid>
              <a:tr h="630936">
                <a:tc>
                  <a:txBody>
                    <a:bodyPr/>
                    <a:lstStyle/>
                    <a:p>
                      <a:pPr>
                        <a:spcAft>
                          <a:spcPts val="0"/>
                        </a:spcAft>
                        <a:defRPr sz="1100" b="1">
                          <a:solidFill>
                            <a:srgbClr val="000000"/>
                          </a:solidFill>
                          <a:latin typeface="Lato"/>
                        </a:defRPr>
                      </a:pPr>
                      <a:r>
                        <a:t>Historical evidence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Forecast cases to define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 to calculate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Decision it supports</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Fleet, activity and prices</a:t>
                      </a:r>
                    </a:p>
                    <a:p>
                      <a:pPr>
                        <a:spcAft>
                          <a:spcPts val="0"/>
                        </a:spcAft>
                        <a:defRPr sz="1100" b="0">
                          <a:solidFill>
                            <a:srgbClr val="000000"/>
                          </a:solidFill>
                          <a:latin typeface="Lato"/>
                        </a:defRPr>
                      </a:pPr>
                      <a:r>
                        <a:t>Observed history and recent partial periods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Base: observed performance continues. High / low: explicit growth, mileage and price assumptions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 / diesel demand by year; forecast bands and sensitivity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customer markets grow, contract or change product mix?</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EV, freight, sectors and power</a:t>
                      </a:r>
                    </a:p>
                    <a:p>
                      <a:pPr>
                        <a:spcAft>
                          <a:spcPts val="0"/>
                        </a:spcAft>
                        <a:defRPr sz="1100" b="0">
                          <a:solidFill>
                            <a:srgbClr val="000000"/>
                          </a:solidFill>
                          <a:latin typeface="Lato"/>
                        </a:defRPr>
                      </a:pPr>
                      <a:r>
                        <a:t>Separate activity from fuel use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Change uptake, modal share, fuel intensity and OCGT use; separate BEV and hybrids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Incremental litres by lever; avoid overlap with the base growth path</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Which service proposition and customer segment should Vopak prioritise?</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Refinery capacity and reported output</a:t>
                      </a:r>
                    </a:p>
                    <a:p>
                      <a:pPr>
                        <a:spcAft>
                          <a:spcPts val="0"/>
                        </a:spcAft>
                        <a:defRPr sz="1100" b="0">
                          <a:solidFill>
                            <a:srgbClr val="000000"/>
                          </a:solidFill>
                          <a:latin typeface="Lato"/>
                        </a:defRPr>
                      </a:pPr>
                      <a:r>
                        <a:t>Separate actual from conditional additions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Existing plants: output, downtime and yields. Redevelopment: conditional timing and ramp-up</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Product-specific domestic output; matched imports, exports and stock changes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When could additional import handling or storage be needed?</a:t>
                      </a:r>
                    </a:p>
                  </a:txBody>
                  <a:tcPr marL="50292" marR="50292" marT="41148" marB="41148" anchor="ctr">
                    <a:lnB w="6350" cap="flat">
                      <a:solidFill>
                        <a:srgbClr val="EEEEEE"/>
                      </a:solidFill>
                    </a:lnB>
                    <a:solidFill>
                      <a:srgbClr val="FFFFFF"/>
                    </a:solidFill>
                  </a:tcPr>
                </a:tc>
              </a:tr>
              <a:tr h="630936">
                <a:tc>
                  <a:txBody>
                    <a:bodyPr/>
                    <a:lstStyle/>
                    <a:p>
                      <a:pPr>
                        <a:spcAft>
                          <a:spcPts val="0"/>
                        </a:spcAft>
                        <a:defRPr sz="1100" b="0">
                          <a:solidFill>
                            <a:srgbClr val="000000"/>
                          </a:solidFill>
                          <a:latin typeface="Lato"/>
                        </a:defRPr>
                      </a:pPr>
                      <a:r>
                        <a:t>Provincial sales and competing routes</a:t>
                      </a:r>
                    </a:p>
                    <a:p>
                      <a:pPr>
                        <a:spcAft>
                          <a:spcPts val="0"/>
                        </a:spcAft>
                        <a:defRPr sz="1100" b="0">
                          <a:solidFill>
                            <a:srgbClr val="000000"/>
                          </a:solidFill>
                          <a:latin typeface="Lato"/>
                        </a:defRPr>
                      </a:pPr>
                      <a:r>
                        <a:t>Later fuel shares are estimates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Allocate national cases with explicit regional assumptions; test route cost and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customer litres by region and route; actual Vopak deliveries separately</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Where to play, how to win and the conditions for committing capacity</a:t>
                      </a:r>
                    </a:p>
                  </a:txBody>
                  <a:tcPr marL="50292" marR="50292" marT="41148" marB="41148" anchor="ctr">
                    <a:lnB w="6350" cap="flat">
                      <a:solidFill>
                        <a:srgbClr val="EEEEEE"/>
                      </a:solidFill>
                    </a:lnB>
                    <a:solidFill>
                      <a:srgbClr val="FFFFFF"/>
                    </a:solidFill>
                  </a:tcPr>
                </a:tc>
              </a:tr>
            </a:tbl>
          </a:graphicData>
        </a:graphic>
      </p:graphicFrame>
      <p:sp>
        <p:nvSpPr>
          <p:cNvPr id="13" name="TextBox 12"/>
          <p:cNvSpPr txBox="1"/>
          <p:nvPr/>
        </p:nvSpPr>
        <p:spPr>
          <a:xfrm>
            <a:off x="457200" y="5879592"/>
            <a:ext cx="10652760" cy="256032"/>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Historical evidence → agreed assumptions and levers → annual demand and supply → regional access → Vopak decision</a:t>
            </a:r>
          </a:p>
        </p:txBody>
      </p:sp>
      <p:sp>
        <p:nvSpPr>
          <p:cNvPr id="14" name="TextBox 13"/>
          <p:cNvSpPr txBox="1"/>
          <p:nvPr/>
        </p:nvSpPr>
        <p:spPr>
          <a:xfrm>
            <a:off x="457200" y="6236208"/>
            <a:ext cx="10652760" cy="22860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History is observed; forecast cases are proposed. No new fuel forecast is shown until the assumptions, source selections and back-tests are reviewed.</a:t>
            </a:r>
          </a:p>
        </p:txBody>
      </p:sp>
      <p:sp>
        <p:nvSpPr>
          <p:cNvPr id="1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t>Diamonds: Vopak. Triangles: lease offers (context).</a:t>
            </a:r>
          </a:p>
        </p:txBody>
      </p:sp>
      <p:sp>
        <p:nvSpPr>
          <p:cNvPr id="3173"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4"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75"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317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Galp / IPG GIMTL</a:t>
            </a:r>
          </a:p>
          <a:p>
            <a:pPr>
              <a:spcAft>
                <a:spcPts val="300"/>
              </a:spcAft>
              <a:defRPr sz="900" b="1">
                <a:solidFill>
                  <a:srgbClr val="0A2373"/>
                </a:solidFill>
                <a:latin typeface="Lato"/>
              </a:defRPr>
            </a:pPr>
            <a: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NAMCOR NOSF</a:t>
            </a:r>
          </a:p>
          <a:p>
            <a:pPr>
              <a:spcAft>
                <a:spcPts val="300"/>
              </a:spcAft>
              <a:defRPr sz="900" b="1">
                <a:solidFill>
                  <a:srgbClr val="0A2373"/>
                </a:solidFill>
                <a:latin typeface="Lato"/>
              </a:defRPr>
            </a:pPr>
            <a: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Walvis–Gauteng (Trans-Kalahari)</a:t>
            </a:r>
          </a:p>
        </p:txBody>
      </p:sp>
      <p:sp>
        <p:nvSpPr>
          <p:cNvPr id="107" name="TextBox 106"/>
          <p:cNvSpPr txBox="1"/>
          <p:nvPr/>
        </p:nvSpPr>
        <p:spPr>
          <a:xfrm>
            <a:off x="457200" y="6400800"/>
            <a:ext cx="644652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Routes schematic; access unverified. Colour measures provincial totals, not density or Vopak share.</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available tanks, customer access and full delivered costs. Source Namibia/Mozambique demand before extending the heatmap; grey means unassessed.</a:t>
            </a:r>
          </a:p>
        </p:txBody>
      </p:sp>
      <p:sp>
        <p:nvSpPr>
          <p:cNvPr id="12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3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3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request customer deliveries, destinations and transfer records. Manish: calculate unique served demand before estimating additional access.</a:t>
            </a:r>
          </a:p>
        </p:txBody>
      </p:sp>
      <p:sp>
        <p:nvSpPr>
          <p:cNvPr id="14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14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Compare regional demand with Vopak’s published storage footprint</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Regional competitor evidence</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 tanks</a:t>
            </a:r>
          </a:p>
          <a:p>
            <a:pPr>
              <a:spcAft>
                <a:spcPts val="300"/>
              </a:spcAft>
              <a:defRPr sz="1200" b="1">
                <a:solidFill>
                  <a:srgbClr val="000000"/>
                </a:solidFill>
                <a:latin typeface="Lato"/>
              </a:defRPr>
            </a:pPr>
            <a:r>
              <a:t>000 m³</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 tanks</a:t>
            </a:r>
          </a:p>
          <a:p>
            <a:pPr>
              <a:spcAft>
                <a:spcPts val="300"/>
              </a:spcAft>
              <a:defRPr sz="1200" b="1">
                <a:solidFill>
                  <a:srgbClr val="000000"/>
                </a:solidFill>
                <a:latin typeface="Lato"/>
              </a:defRPr>
            </a:pPr>
            <a:r>
              <a:t>000 m³</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0182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49326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800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13944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69417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3785616"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972491"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3587"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TextBox 30"/>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360.2</a:t>
            </a:r>
          </a:p>
        </p:txBody>
      </p:sp>
      <p:sp>
        <p:nvSpPr>
          <p:cNvPr id="32" name="TextBox 31"/>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923.1</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1857696"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8792"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TextBox 36"/>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140.0</a:t>
            </a:r>
          </a:p>
        </p:txBody>
      </p:sp>
      <p:sp>
        <p:nvSpPr>
          <p:cNvPr id="38" name="TextBox 37"/>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32.5</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63499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46089"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TextBox 42"/>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44" name="TextBox 4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122.0</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7298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84083"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TextBox 4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 listed</a:t>
            </a:r>
          </a:p>
          <a:p>
            <a:pPr>
              <a:spcAft>
                <a:spcPts val="300"/>
              </a:spcAft>
              <a:defRPr sz="1200" b="0">
                <a:solidFill>
                  <a:srgbClr val="000000"/>
                </a:solidFill>
                <a:latin typeface="Lato"/>
              </a:defRPr>
            </a:pPr>
            <a:r>
              <a:t>Vopak site</a:t>
            </a:r>
          </a:p>
        </p:txBody>
      </p:sp>
      <p:sp>
        <p:nvSpPr>
          <p:cNvPr id="50" name="TextBox 49"/>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Unknown</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Published capacity is a provisional footprint measure, not annual demand served.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Partial gross inventory; mixed products and unknown Sasol/Transnet capacities.</a:t>
            </a:r>
          </a:p>
          <a:p>
            <a:pPr>
              <a:spcAft>
                <a:spcPts val="300"/>
              </a:spcAft>
              <a:defRPr sz="1000" b="0">
                <a:solidFill>
                  <a:srgbClr val="000000"/>
                </a:solidFill>
                <a:latin typeface="Lato"/>
              </a:defRPr>
            </a:pPr>
            <a:r>
              <a:t>Fuel-compatible capacity share and actual Vopak demand share remain unestablished.</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
        <p:nvSpPr>
          <p:cNvPr id="6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The illustrative additional opportunity is 5.5 billion litres a year</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illustrative catchment CSV; conditions authored for review. No actual Vopak share, cost threshold or forecast capture established.</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Accessibility gates and volume milestones | illustrative bn L/year</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each increment requires evidence; not cumulative terminal receipts</a:t>
            </a:r>
          </a:p>
        </p:txBody>
      </p:sp>
      <p:sp>
        <p:nvSpPr>
          <p:cNvPr id="30" name="TextBox 29"/>
          <p:cNvSpPr txBox="1"/>
          <p:nvPr/>
        </p:nvSpPr>
        <p:spPr>
          <a:xfrm>
            <a:off x="457200" y="2724912"/>
            <a:ext cx="6446520" cy="457200"/>
          </a:xfrm>
          <a:prstGeom prst="rect">
            <a:avLst/>
          </a:prstGeom>
          <a:noFill/>
        </p:spPr>
        <p:txBody>
          <a:bodyPr wrap="square" lIns="22860" rIns="22860" tIns="0" bIns="0">
            <a:spAutoFit/>
          </a:bodyPr>
          <a:lstStyle/>
          <a:p>
            <a:pPr>
              <a:spcAft>
                <a:spcPts val="300"/>
              </a:spcAft>
              <a:defRPr sz="2200" b="1">
                <a:solidFill>
                  <a:srgbClr val="0A2373"/>
                </a:solidFill>
                <a:latin typeface="Lato"/>
              </a:defRPr>
            </a:pPr>
            <a:r>
              <a:t>5.5 bn L/year additional candidate</a:t>
            </a:r>
          </a:p>
        </p:txBody>
      </p:sp>
      <p:sp>
        <p:nvSpPr>
          <p:cNvPr id="31" name="TextBox 30"/>
          <p:cNvSpPr txBox="1"/>
          <p:nvPr/>
        </p:nvSpPr>
        <p:spPr>
          <a:xfrm>
            <a:off x="457200" y="3255264"/>
            <a:ext cx="6446520" cy="283464"/>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3.0 current example + 5.5 additional = 8.5 total envelope</a:t>
            </a:r>
          </a:p>
        </p:txBody>
      </p:sp>
      <p:sp>
        <p:nvSpPr>
          <p:cNvPr id="32" name="Rectangle 31"/>
          <p:cNvSpPr/>
          <p:nvPr/>
        </p:nvSpPr>
        <p:spPr>
          <a:xfrm>
            <a:off x="457200" y="3813048"/>
            <a:ext cx="2275242" cy="59436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3968496"/>
            <a:ext cx="2147226" cy="274320"/>
          </a:xfrm>
          <a:prstGeom prst="rect">
            <a:avLst/>
          </a:prstGeom>
          <a:noFill/>
        </p:spPr>
        <p:txBody>
          <a:bodyPr wrap="square" lIns="22860" rIns="22860" tIns="0" bIns="0">
            <a:spAutoFit/>
          </a:bodyPr>
          <a:lstStyle/>
          <a:p>
            <a:pPr>
              <a:spcAft>
                <a:spcPts val="300"/>
              </a:spcAft>
              <a:defRPr sz="1200" b="1">
                <a:solidFill>
                  <a:srgbClr val="FFFFFF"/>
                </a:solidFill>
                <a:latin typeface="Lato"/>
              </a:defRPr>
            </a:pPr>
            <a:r>
              <a:t>Current 3.0</a:t>
            </a:r>
          </a:p>
        </p:txBody>
      </p:sp>
      <p:sp>
        <p:nvSpPr>
          <p:cNvPr id="34" name="Rectangle 33"/>
          <p:cNvSpPr/>
          <p:nvPr/>
        </p:nvSpPr>
        <p:spPr>
          <a:xfrm>
            <a:off x="2732442" y="3813048"/>
            <a:ext cx="1137621" cy="59436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96450" y="3968496"/>
            <a:ext cx="1009605"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Coastal + 1.5</a:t>
            </a:r>
          </a:p>
        </p:txBody>
      </p:sp>
      <p:sp>
        <p:nvSpPr>
          <p:cNvPr id="36" name="Rectangle 35"/>
          <p:cNvSpPr/>
          <p:nvPr/>
        </p:nvSpPr>
        <p:spPr>
          <a:xfrm>
            <a:off x="3870063" y="3813048"/>
            <a:ext cx="3033656" cy="59436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34071" y="3968496"/>
            <a:ext cx="2905640" cy="27432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 + 4.0</a:t>
            </a:r>
          </a:p>
        </p:txBody>
      </p:sp>
      <p:sp>
        <p:nvSpPr>
          <p:cNvPr id="38" name="TextBox 37"/>
          <p:cNvSpPr txBox="1"/>
          <p:nvPr/>
        </p:nvSpPr>
        <p:spPr>
          <a:xfrm>
            <a:off x="457200" y="4800600"/>
            <a:ext cx="6446520" cy="301752"/>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What must hold before any additional litres are counted?</a:t>
            </a:r>
          </a:p>
        </p:txBody>
      </p:sp>
      <p:graphicFrame>
        <p:nvGraphicFramePr>
          <p:cNvPr id="39" name="Table 38"/>
          <p:cNvGraphicFramePr>
            <a:graphicFrameLocks noGrp="1"/>
          </p:cNvGraphicFramePr>
          <p:nvPr/>
        </p:nvGraphicFramePr>
        <p:xfrm>
          <a:off x="457200" y="5349240"/>
          <a:ext cx="6446520" cy="576072"/>
        </p:xfrm>
        <a:graphic>
          <a:graphicData uri="http://schemas.openxmlformats.org/drawingml/2006/table">
            <a:tbl>
              <a:tblPr firstRow="1" bandRow="1">
                <a:tableStyleId>{2D5ABB26-0587-4C30-8999-92F81FD0307C}</a:tableStyleId>
              </a:tblPr>
              <a:tblGrid>
                <a:gridCol w="1609344"/>
                <a:gridCol w="1609344"/>
                <a:gridCol w="1609344"/>
                <a:gridCol w="1618488"/>
              </a:tblGrid>
              <a:tr h="576072">
                <a:tc>
                  <a:txBody>
                    <a:bodyPr/>
                    <a:lstStyle/>
                    <a:p>
                      <a:pPr>
                        <a:spcAft>
                          <a:spcPts val="0"/>
                        </a:spcAft>
                        <a:defRPr sz="1100" b="1">
                          <a:solidFill>
                            <a:srgbClr val="000000"/>
                          </a:solidFill>
                          <a:latin typeface="Lato"/>
                        </a:defRPr>
                      </a:pPr>
                      <a:r>
                        <a:t>Competitive cost</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Usable capacity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Unique deliveries</a:t>
                      </a:r>
                    </a:p>
                  </a:txBody>
                  <a:tcPr marL="50292" marR="50292" marT="41148" marB="41148" anchor="ctr">
                    <a:lnB w="6350" cap="flat">
                      <a:solidFill>
                        <a:srgbClr val="EEEEEE"/>
                      </a:solidFill>
                    </a:lnB>
                    <a:solidFill>
                      <a:srgbClr val="FFFFFF"/>
                    </a:solidFill>
                  </a:tcPr>
                </a:tc>
              </a:tr>
            </a:tbl>
          </a:graphicData>
        </a:graphic>
      </p:graphicFrame>
      <p:sp>
        <p:nvSpPr>
          <p:cNvPr id="40" name="TextBox 39"/>
          <p:cNvSpPr txBox="1"/>
          <p:nvPr/>
        </p:nvSpPr>
        <p:spPr>
          <a:xfrm>
            <a:off x="457200" y="6035040"/>
            <a:ext cx="6446520" cy="36576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Detailed customer-by-route gates belong in the evidence register.</a:t>
            </a:r>
          </a:p>
          <a:p>
            <a:pPr>
              <a:spcAft>
                <a:spcPts val="300"/>
              </a:spcAft>
              <a:defRPr sz="1100" b="0">
                <a:solidFill>
                  <a:srgbClr val="000000"/>
                </a:solidFill>
                <a:latin typeface="Lato"/>
              </a:defRPr>
            </a:pPr>
            <a:r>
              <a:t>Illustration only; 5.5 is neither a forecast nor a confirmed capturable market.</a:t>
            </a:r>
          </a:p>
        </p:txBody>
      </p:sp>
      <p:sp>
        <p:nvSpPr>
          <p:cNvPr id="41" name="TextBox 4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2" name="TextBox 4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Reach is necessary, not sufficient</a:t>
            </a:r>
          </a:p>
        </p:txBody>
      </p:sp>
      <p:sp>
        <p:nvSpPr>
          <p:cNvPr id="43" name="TextBox 4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Accessibility map p10 and competing routes p11 locate candidate access. Neither currently links a verified cost threshold to customer litres.</a:t>
            </a:r>
          </a:p>
        </p:txBody>
      </p:sp>
      <p:sp>
        <p:nvSpPr>
          <p:cNvPr id="44" name="TextBox 4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Example milestones are conditional</a:t>
            </a:r>
          </a:p>
        </p:txBody>
      </p:sp>
      <p:sp>
        <p:nvSpPr>
          <p:cNvPr id="45" name="TextBox 4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current example is 3.0. Coastal candidate 1.5 raises it to 4.5; inland candidate 4.0 raises it to 8.5. These are authored volumes.</a:t>
            </a:r>
          </a:p>
        </p:txBody>
      </p:sp>
      <p:sp>
        <p:nvSpPr>
          <p:cNvPr id="46" name="TextBox 4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Every increment needs four gates</a:t>
            </a:r>
          </a:p>
        </p:txBody>
      </p:sp>
      <p:sp>
        <p:nvSpPr>
          <p:cNvPr id="47" name="TextBox 4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Evidence cost, route/tank capacity, customer rights and unique deliveries for the same product and period. Unassessed litres remain explicit.</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50" name="TextBox 4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agree destinations and acceptable delivered cost. Manish: build a customer-by-route gate table; record passed, failed and unassessed litres, with sources and conditions.</a:t>
            </a:r>
          </a:p>
        </p:txBody>
      </p:sp>
      <p:sp>
        <p:nvSpPr>
          <p:cNvPr id="51"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is a stock</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tank volumes are not annual fuel deliveries or market share.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Manish: verify product compatibility, capacity basis and operating status. Nigel: confirm usable client capacity.</a:t>
            </a:r>
          </a:p>
        </p:txBody>
      </p:sp>
      <p:sp>
        <p:nvSpPr>
          <p:cNvPr id="78"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80"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Authored market hypotheses; demand, gateway and storage evidence on pp.4, 10–15.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457200" y="2176272"/>
          <a:ext cx="10652760" cy="3090672"/>
        </p:xfrm>
        <a:graphic>
          <a:graphicData uri="http://schemas.openxmlformats.org/drawingml/2006/table">
            <a:tbl>
              <a:tblPr firstRow="1" bandRow="1">
                <a:tableStyleId>{2D5ABB26-0587-4C30-8999-92F81FD0307C}</a:tableStyleId>
              </a:tblPr>
              <a:tblGrid>
                <a:gridCol w="2103120"/>
                <a:gridCol w="2834640"/>
                <a:gridCol w="2788920"/>
                <a:gridCol w="2926080"/>
              </a:tblGrid>
              <a:tr h="772668">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772668">
                <a:tc>
                  <a:txBody>
                    <a:bodyPr/>
                    <a:lstStyle/>
                    <a:p>
                      <a:pPr>
                        <a:spcAft>
                          <a:spcPts val="0"/>
                        </a:spcAft>
                        <a:defRPr sz="1150" b="0">
                          <a:solidFill>
                            <a:srgbClr val="000000"/>
                          </a:solidFill>
                          <a:latin typeface="Lato"/>
                        </a:defRPr>
                      </a:pPr>
                      <a:r>
                        <a:t>Matola and Walvis Bay</a:t>
                      </a:r>
                    </a:p>
                    <a:p>
                      <a:pPr>
                        <a:spcAft>
                          <a:spcPts val="0"/>
                        </a:spcAft>
                        <a:defRPr sz="1150" b="0">
                          <a:solidFill>
                            <a:srgbClr val="000000"/>
                          </a:solidFill>
                          <a:latin typeface="Lato"/>
                        </a:defRPr>
                      </a:pPr>
                      <a:r>
                        <a:t>Competing gateways to compare</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12" name="TextBox 1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Investment gate</a:t>
            </a:r>
          </a:p>
        </p:txBody>
      </p:sp>
      <p:sp>
        <p:nvSpPr>
          <p:cNvPr id="13" name="TextBox 1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New storage follows secured incremental flows and a gap in usable capacity; the illustrative 5.5 bn litres does not establish a commitment.</a:t>
            </a:r>
          </a:p>
        </p:txBody>
      </p:sp>
      <p:sp>
        <p:nvSpPr>
          <p:cNvPr id="14" name="TextBox 1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Nigel: Choose the first customer/product and acceptable cost. Confirm the service proposition and commercial access.</a:t>
            </a:r>
          </a:p>
        </p:txBody>
      </p:sp>
      <p:sp>
        <p:nvSpPr>
          <p:cNvPr id="15" name="TextBox 1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Manish: Build a customer-by-route evidence table: litres, cost, capacity, rights, timing and owner. Mark each gate passed, failed or unassessed.</a:t>
            </a:r>
          </a:p>
        </p:txBody>
      </p:sp>
      <p:sp>
        <p:nvSpPr>
          <p:cNvPr id="16"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Translate additional fuel flows into a preliminary inventory requirement</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5.5 bn L/year candidate example; authored inventory-day sensitivity, 6 Oct 2026. Not new-capacity sizing.</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Working inventory sensitivity | illustrative, thousand m³</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48840"/>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ILLUSTRATIVE | additional 5.5 bn litres/year; uniform daily flow</a:t>
            </a:r>
          </a:p>
        </p:txBody>
      </p:sp>
      <p:sp>
        <p:nvSpPr>
          <p:cNvPr id="30" name="TextBox 29"/>
          <p:cNvSpPr txBox="1"/>
          <p:nvPr/>
        </p:nvSpPr>
        <p:spPr>
          <a:xfrm>
            <a:off x="457200" y="2587752"/>
            <a:ext cx="6446520"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More inventory days require more working stock</a:t>
            </a:r>
          </a:p>
        </p:txBody>
      </p:sp>
      <p:graphicFrame>
        <p:nvGraphicFramePr>
          <p:cNvPr id="31" name="Chart 30"/>
          <p:cNvGraphicFramePr>
            <a:graphicFrameLocks noGrp="1"/>
          </p:cNvGraphicFramePr>
          <p:nvPr/>
        </p:nvGraphicFramePr>
        <p:xfrm>
          <a:off x="457200" y="3008376"/>
          <a:ext cx="6446520" cy="2340864"/>
        </p:xfrm>
        <a:graphic>
          <a:graphicData uri="http://schemas.openxmlformats.org/drawingml/2006/chart">
            <c:chart xmlns:c="http://schemas.openxmlformats.org/drawingml/2006/chart" r:id="rId3"/>
          </a:graphicData>
        </a:graphic>
      </p:graphicFrame>
      <p:sp>
        <p:nvSpPr>
          <p:cNvPr id="32" name="TextBox 31"/>
          <p:cNvSpPr txBox="1"/>
          <p:nvPr/>
        </p:nvSpPr>
        <p:spPr>
          <a:xfrm>
            <a:off x="457200" y="5513832"/>
            <a:ext cx="6446520" cy="274320"/>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Working m³ = annual litres ÷ 365 ÷ 1,000 × inventory days</a:t>
            </a:r>
          </a:p>
        </p:txBody>
      </p:sp>
      <p:sp>
        <p:nvSpPr>
          <p:cNvPr id="33" name="TextBox 32"/>
          <p:cNvSpPr txBox="1"/>
          <p:nvPr/>
        </p:nvSpPr>
        <p:spPr>
          <a:xfrm>
            <a:off x="457200" y="5925312"/>
            <a:ext cx="6446520" cy="502920"/>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At 14 days: approximately 211 thousand m³ of working inventory.</a:t>
            </a:r>
          </a:p>
          <a:p>
            <a:pPr>
              <a:spcAft>
                <a:spcPts val="300"/>
              </a:spcAft>
              <a:defRPr sz="1150" b="0">
                <a:solidFill>
                  <a:srgbClr val="000000"/>
                </a:solidFill>
                <a:latin typeface="Lato"/>
              </a:defRPr>
            </a:pPr>
            <a:r>
              <a:t>New tanks depend on usable spare capacity, peaks, product segregation and dispatch limits.</a:t>
            </a:r>
          </a:p>
        </p:txBody>
      </p:sp>
      <p:sp>
        <p:nvSpPr>
          <p:cNvPr id="34" name="TextBox 3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5" name="TextBox 3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Inventory days set working stock</a:t>
            </a:r>
          </a:p>
        </p:txBody>
      </p:sp>
      <p:sp>
        <p:nvSpPr>
          <p:cNvPr id="36" name="TextBox 3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At the illustrative 5.5 bn litres/year, 14 days needs about 211 thousand m³. More inventory days require more stock.</a:t>
            </a:r>
          </a:p>
        </p:txBody>
      </p:sp>
      <p:sp>
        <p:nvSpPr>
          <p:cNvPr id="37" name="TextBox 3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Existing tanks may cover part</a:t>
            </a:r>
          </a:p>
        </p:txBody>
      </p:sp>
      <p:sp>
        <p:nvSpPr>
          <p:cNvPr id="38" name="TextBox 3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Usable spare tanks may absorb this inventory. Published gross capacity does not establish spare petrol/diesel space.</a:t>
            </a:r>
          </a:p>
        </p:txBody>
      </p:sp>
      <p:sp>
        <p:nvSpPr>
          <p:cNvPr id="39" name="TextBox 3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Sizing needs an operating case</a:t>
            </a:r>
          </a:p>
        </p:txBody>
      </p:sp>
      <p:sp>
        <p:nvSpPr>
          <p:cNvPr id="40" name="TextBox 3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peak receipts, product segregation, tank heels and dispatch limits. This is a sensitivity, not an investment recommendation.</a:t>
            </a:r>
          </a:p>
        </p:txBody>
      </p:sp>
      <p:cxnSp>
        <p:nvCxnSpPr>
          <p:cNvPr id="41" name="Connector 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To resolve next</a:t>
            </a:r>
          </a:p>
        </p:txBody>
      </p:sp>
      <p:sp>
        <p:nvSpPr>
          <p:cNvPr id="43" name="TextBox 4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Nigel: confirm candidate flows and inventory policy. Manish and Henry: test usable spare tanks, peak flows and operating allowances before sizing new capacity.</a:t>
            </a:r>
          </a:p>
        </p:txBody>
      </p:sp>
      <p:sp>
        <p:nvSpPr>
          <p:cNvPr id="44" name="SCR divider marker: circle"/>
          <p:cNvSpPr/>
          <p:nvPr/>
        </p:nvSpPr>
        <p:spPr>
          <a:xfrm>
            <a:off x="7086600" y="1828800"/>
            <a:ext cx="237744" cy="237744"/>
          </a:xfrm>
          <a:prstGeom prst="ellipse">
            <a:avLst/>
          </a:prstGeom>
          <a:solidFill>
            <a:srgbClr val="FFFFFF"/>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SCR divider marker: arrow"/>
          <p:cNvCxnSpPr/>
          <p:nvPr/>
        </p:nvCxnSpPr>
        <p:spPr>
          <a:xfrm>
            <a:off x="7173468" y="1888236"/>
            <a:ext cx="64008" cy="59436"/>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46" name="SCR divider marker: arrow"/>
          <p:cNvCxnSpPr/>
          <p:nvPr/>
        </p:nvCxnSpPr>
        <p:spPr>
          <a:xfrm flipH="1">
            <a:off x="7173468" y="1947672"/>
            <a:ext cx="64008" cy="59435"/>
          </a:xfrm>
          <a:prstGeom prst="line">
            <a:avLst/>
          </a:prstGeom>
          <a:ln w="13970">
            <a:solidFill>
              <a:srgbClr val="0A2373"/>
            </a:solidFill>
          </a:ln>
        </p:spPr>
        <p:style>
          <a:lnRef idx="2">
            <a:schemeClr val="accent1"/>
          </a:lnRef>
          <a:fillRef idx="0">
            <a:schemeClr val="accent1"/>
          </a:fillRef>
          <a:effectRef idx="1">
            <a:schemeClr val="accent1"/>
          </a:effectRef>
          <a:fontRef idx="minor">
            <a:schemeClr val="tx1"/>
          </a:fontRef>
        </p:style>
      </p:cxnSp>
      <p:sp>
        <p:nvSpPr>
          <p:cNvPr id="47"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Henry storyboard pp30–32; reporting evidence and explicit gaps, 6 Oct 2026. Responses do not establish closure.</a:t>
            </a:r>
          </a:p>
        </p:txBody>
      </p:sp>
      <p:sp>
        <p:nvSpPr>
          <p:cNvPr id="45"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17</a:t>
                      </a:r>
                    </a:p>
                  </a:txBody>
                  <a:tcPr marL="41148" marR="41148" marT="41148" marB="18288" anchor="t">
                    <a:lnB w="7620" cap="flat">
                      <a:solidFill>
                        <a:srgbClr val="EEEEEE"/>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#D9D9D9</a:t>
            </a:r>
          </a:p>
        </p:txBody>
      </p:sp>
      <p:sp>
        <p:nvSpPr>
          <p:cNvPr id="68" name="TextBox 67"/>
          <p:cNvSpPr txBox="1"/>
          <p:nvPr/>
        </p:nvSpPr>
        <p:spPr>
          <a:xfrm>
            <a:off x="457200" y="6309360"/>
            <a:ext cx="1065276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Typeface: Lato. Sales colours show totals, not density or market share. Grey denotes unassessed demand.</a:t>
            </a:r>
          </a:p>
        </p:txBody>
      </p:sp>
      <p:sp>
        <p:nvSpPr>
          <p:cNvPr id="69" name="TextBox 68"/>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