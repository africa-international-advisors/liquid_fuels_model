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8" r:id="rId23"/>
    <p:sldId id="262" r:id="rId17"/>
    <p:sldId id="263" r:id="rId6"/>
    <p:sldId id="264" r:id="rId19"/>
    <p:sldId id="269" r:id="rId24"/>
    <p:sldId id="270" r:id="rId25"/>
    <p:sldId id="258" r:id="rId5"/>
    <p:sldId id="271" r:id="rId26"/>
    <p:sldId id="259" r:id="rId16"/>
    <p:sldId id="265" r:id="rId20"/>
    <p:sldId id="272" r:id="rId27"/>
    <p:sldId id="266" r:id="rId21"/>
    <p:sldId id="274" r:id="rId29"/>
    <p:sldId id="273" r:id="rId28"/>
    <p:sldId id="261" r:id="rId18"/>
    <p:sldId id="275" r:id="rId30"/>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9.xml"/><Relationship Id="rId6" Type="http://schemas.openxmlformats.org/officeDocument/2006/relationships/slide" Target="slides/slide5.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1.xml"/><Relationship Id="rId17" Type="http://schemas.openxmlformats.org/officeDocument/2006/relationships/slide" Target="slides/slide4.xml"/><Relationship Id="rId18" Type="http://schemas.openxmlformats.org/officeDocument/2006/relationships/slide" Target="slides/slide17.xml"/><Relationship Id="rId19" Type="http://schemas.openxmlformats.org/officeDocument/2006/relationships/slide" Target="slides/slide6.xml"/><Relationship Id="rId20" Type="http://schemas.openxmlformats.org/officeDocument/2006/relationships/slide" Target="slides/slide12.xml"/><Relationship Id="rId21" Type="http://schemas.openxmlformats.org/officeDocument/2006/relationships/slide" Target="slides/slide14.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10.xml"/><Relationship Id="rId27" Type="http://schemas.openxmlformats.org/officeDocument/2006/relationships/slide" Target="slides/slide13.xml"/><Relationship Id="rId28" Type="http://schemas.openxmlformats.org/officeDocument/2006/relationships/slide" Target="slides/slide16.xml"/><Relationship Id="rId29" Type="http://schemas.openxmlformats.org/officeDocument/2006/relationships/slide" Target="slides/slide15.xml"/><Relationship Id="rId30"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Clickable story chevrons: overview p2; Situation p3; Complication p7; Resolution p11.</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Clickable story chevrons: overview p2; Situation p3; Complication p7; Resolution p11.</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Clickable story chevrons: overview p2; Situation p3; Complication p7; Resolution p11.</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Clickable story chevrons: overview p2; Situation p3; Complication p7; Resolution p11.</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11.</a:t>
            </a:r>
          </a:p>
          <a:p>
            <a:r>
              <a:t>Clickable story chevrons: overview p2; Situation p3; Complication p7; Resolution p11.</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4.</a:t>
            </a:r>
          </a:p>
          <a:p>
            <a:r>
              <a:t>Clickable story chevrons: overview p2; Situation p3; Complication p7; Resolution p11.</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6.</a:t>
            </a:r>
          </a:p>
          <a:p>
            <a:r>
              <a:t>Clickable story chevrons: overview p2; Situation p3; Complication p7; Resolution p11.</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12.</a:t>
            </a:r>
          </a:p>
          <a:p>
            <a:r>
              <a:t>Clickable story chevrons: overview p2; Situation p3; Complication p7; Resolution p11.</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14.</a:t>
            </a:r>
          </a:p>
          <a:p>
            <a:r>
              <a:t>Clickable story chevrons: overview p2; Situation p3; Complication p7; Resolution p11.</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2.</a:t>
            </a:r>
          </a:p>
          <a:p>
            <a:r>
              <a:t>Clickable story chevrons: overview p2; Situation p3; Complication p7; Resolution p11.</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3.</a:t>
            </a:r>
          </a:p>
          <a:p>
            <a:r>
              <a:t>Clickable story chevrons: overview p2; Situation p3; Complication p7; Resolution p11.</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7.</a:t>
            </a:r>
          </a:p>
          <a:p>
            <a:r>
              <a:t>Clickable story chevrons: overview p2; Situation p3; Complication p7; Resolution p11.</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8.</a:t>
            </a:r>
          </a:p>
          <a:p>
            <a:r>
              <a:t>Clickable story chevrons: overview p2; Situation p3; Complication p7; Resolution p11.</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10.</a:t>
            </a:r>
          </a:p>
          <a:p>
            <a:r>
              <a:t>Clickable story chevrons: overview p2; Situation p3; Complication p7; Resolution p11.</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13.</a:t>
            </a:r>
          </a:p>
          <a:p>
            <a:r>
              <a:t>Clickable story chevrons: overview p2; Situation p3; Complication p7; Resolution p11.</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15.</a:t>
            </a:r>
          </a:p>
          <a:p>
            <a:r>
              <a:t>Clickable story chevrons: overview p2; Situation p3; Complication p7; Resolution p11.</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3.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9.xml"/><Relationship Id="rId10" Type="http://schemas.openxmlformats.org/officeDocument/2006/relationships/slide" Target="slide10.xml"/><Relationship Id="rId11" Type="http://schemas.openxmlformats.org/officeDocument/2006/relationships/slide" Target="slide11.xml"/><Relationship Id="rId12" Type="http://schemas.openxmlformats.org/officeDocument/2006/relationships/slide" Target="slide12.xml"/><Relationship Id="rId13" Type="http://schemas.openxmlformats.org/officeDocument/2006/relationships/slide" Target="slide13.xml"/><Relationship Id="rId14" Type="http://schemas.openxmlformats.org/officeDocument/2006/relationships/slide" Target="slide14.xml"/><Relationship Id="rId15" Type="http://schemas.openxmlformats.org/officeDocument/2006/relationships/slide" Target="slide16.xml"/><Relationship Id="rId16" Type="http://schemas.openxmlformats.org/officeDocument/2006/relationships/slide" Target="slide2.xml"/><Relationship Id="rId17" Type="http://schemas.openxmlformats.org/officeDocument/2006/relationships/slide" Target="slide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7.xml"/><Relationship Id="rId14" Type="http://schemas.openxmlformats.org/officeDocument/2006/relationships/slide" Target="slide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7.xml"/><Relationship Id="rId8" Type="http://schemas.openxmlformats.org/officeDocument/2006/relationships/slide" Target="slide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7.xml"/><Relationship Id="rId13" Type="http://schemas.openxmlformats.org/officeDocument/2006/relationships/slide" Target="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
        <p:nvSpPr>
          <p:cNvPr id="12"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Size the fuel market, reconcile supply, then test Vopak access</a:t>
            </a:r>
          </a:p>
        </p:txBody>
      </p:sp>
      <p:sp>
        <p:nvSpPr>
          <p:cNvPr id="3" name="Slide Number Placeholder"/>
          <p:cNvSpPr>
            <a:spLocks noGrp="1"/>
          </p:cNvSpPr>
          <p:nvPr>
            <p:ph type="sldNum" sz="quarter" idx="12"/>
          </p:nvPr>
        </p:nvSpPr>
        <p:spPr/>
        <p:txBody>
          <a:bodyPr/>
          <a:lstStyle/>
          <a:p>
            <a:fld id="{529DD960-256B-4A03-9CCF-BE81E59AABF4}" type="slidenum">
              <a:rPr lang="en-US"/>
              <a:t>‹#›</a:t>
            </a:fld>
          </a:p>
        </p:txBody>
      </p:sp>
      <p:sp>
        <p:nvSpPr>
          <p:cNvPr id="4" name="Section navigation 1">
            <a:hlinkClick action="ppaction://hlinksldjump" r:id="rId16"/>
          </p:cNvPr>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SCR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11"/>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SARS / Stats SA / operator evidence, 6 Oct 2026. Remaining gaps labelled.</a:t>
            </a:r>
          </a:p>
        </p:txBody>
      </p:sp>
      <p:sp>
        <p:nvSpPr>
          <p:cNvPr id="42" name="TextBox 41"/>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rPr sz="1400" b="1">
                <a:latin typeface="Lato"/>
              </a:rPr>
              <a:t>Situation → Complication → Resolution | evidence, actions and delivery roadmap</a:t>
            </a:r>
          </a:p>
        </p:txBody>
      </p:sp>
      <p:graphicFrame>
        <p:nvGraphicFramePr>
          <p:cNvPr id="43" name="SCR master roadmap | native PowerPoint table"/>
          <p:cNvGraphicFramePr>
            <a:graphicFrameLocks noGrp="1"/>
          </p:cNvGraphicFramePr>
          <p:nvPr/>
        </p:nvGraphicFramePr>
        <p:xfrm>
          <a:off x="457200" y="2029968"/>
          <a:ext cx="10652760" cy="4039815"/>
        </p:xfrm>
        <a:graphic>
          <a:graphicData uri="http://schemas.openxmlformats.org/drawingml/2006/table">
            <a:tbl>
              <a:tblPr firstRow="1" bandRow="1">
                <a:tableStyleId>{2D5ABB26-0587-4C30-8999-92F81FD0307C}</a:tableStyleId>
              </a:tblPr>
              <a:tblGrid>
                <a:gridCol w="932688"/>
                <a:gridCol w="4599432"/>
                <a:gridCol w="1508760"/>
                <a:gridCol w="2487168"/>
                <a:gridCol w="1124712"/>
              </a:tblGrid>
              <a:tr h="365760">
                <a:tc>
                  <a:txBody>
                    <a:bodyPr/>
                    <a:lstStyle/>
                    <a:p>
                      <a:pPr>
                        <a:spcAft>
                          <a:spcPts val="0"/>
                        </a:spcAft>
                        <a:defRPr sz="1000" b="1">
                          <a:solidFill>
                            <a:srgbClr val="0A2373"/>
                          </a:solidFill>
                          <a:latin typeface="Lato"/>
                        </a:defRPr>
                      </a:pPr>
                      <a:r>
                        <a:t>SCR reference</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Evidence and required next step</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Proposed lead</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Timing and output</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A2373"/>
                          </a:solidFill>
                          <a:latin typeface="Lato"/>
                        </a:defRPr>
                      </a:pPr>
                      <a:r>
                        <a:t>Deep dives</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S1</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baseline and regional market</a:t>
                      </a:r>
                    </a:p>
                    <a:p>
                      <a:pPr>
                        <a:spcAft>
                          <a:spcPts val="0"/>
                        </a:spcAft>
                        <a:defRPr sz="1050">
                          <a:solidFill>
                            <a:srgbClr val="000000"/>
                          </a:solidFill>
                          <a:latin typeface="Lato"/>
                        </a:defRPr>
                      </a:pPr>
                      <a:r>
                        <a:t>2022 provinces are observed; 2023-2024 are estimated separately. Resolve source versions before forecasting.</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W1–W2</a:t>
                      </a:r>
                    </a:p>
                    <a:p>
                      <a:pPr>
                        <a:spcAft>
                          <a:spcPts val="0"/>
                        </a:spcAft>
                        <a:defRPr sz="1050" b="0">
                          <a:solidFill>
                            <a:srgbClr val="000000"/>
                          </a:solidFill>
                          <a:latin typeface="Lato"/>
                        </a:defRPr>
                      </a:pPr>
                      <a:r>
                        <a:t>Sourced demand baseline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3" action="ppaction://hlinksldjump"/>
                        </a:rPr>
                        <a:t>4</a:t>
                      </a:r>
                      <a:r>
                        <a:rPr sz="1100">
                          <a:solidFill>
                            <a:srgbClr val="0A2373"/>
                          </a:solidFill>
                          <a:latin typeface="Lato"/>
                          <a:hlinkClick r:id="rId4" action="ppaction://hlinksldjump"/>
                        </a:rPr>
                        <a:t> / 5</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S2</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Domestic supply and finished imports</a:t>
                      </a:r>
                    </a:p>
                    <a:p>
                      <a:pPr>
                        <a:spcAft>
                          <a:spcPts val="0"/>
                        </a:spcAft>
                        <a:defRPr sz="1050">
                          <a:solidFill>
                            <a:srgbClr val="000000"/>
                          </a:solidFill>
                          <a:latin typeface="Lato"/>
                        </a:defRPr>
                      </a:pPr>
                      <a:r>
                        <a:t>SARS 2024 net diesel imports: 9.997 bn L. Match actual production, stocks and sales coverage; port allocation remains open.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access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Fuel balance + port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5" action="ppaction://hlinksldjump"/>
                        </a:rPr>
                        <a:t>3</a:t>
                      </a:r>
                      <a:r>
                        <a:rPr sz="1100">
                          <a:solidFill>
                            <a:srgbClr val="0A2373"/>
                          </a:solidFill>
                          <a:latin typeface="Lato"/>
                          <a:hlinkClick r:id="rId6" action="ppaction://hlinksldjump"/>
                        </a:rPr>
                        <a:t> / 6</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C1</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drivers</a:t>
                      </a:r>
                    </a:p>
                    <a:p>
                      <a:pPr>
                        <a:spcAft>
                          <a:spcPts val="0"/>
                        </a:spcAft>
                        <a:defRPr sz="1050">
                          <a:solidFill>
                            <a:srgbClr val="000000"/>
                          </a:solidFill>
                          <a:latin typeface="Lato"/>
                        </a:defRPr>
                      </a:pPr>
                      <a:r>
                        <a:t>Monthly activity to Jul 2026; GDP Q2 2026; inland prices Oct 2026. Define activity-to-litres bridges before calibrating cases.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define; W2–W4 test</a:t>
                      </a:r>
                    </a:p>
                    <a:p>
                      <a:pPr>
                        <a:spcAft>
                          <a:spcPts val="0"/>
                        </a:spcAft>
                        <a:defRPr sz="1050" b="0">
                          <a:solidFill>
                            <a:srgbClr val="000000"/>
                          </a:solidFill>
                          <a:latin typeface="Lato"/>
                        </a:defRPr>
                      </a:pPr>
                      <a:r>
                        <a:t>Lever-to-demand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7" action="ppaction://hlinksldjump"/>
                        </a:rPr>
                        <a:t>7</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C2</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Refinery availability</a:t>
                      </a:r>
                    </a:p>
                    <a:p>
                      <a:pPr>
                        <a:spcAft>
                          <a:spcPts val="0"/>
                        </a:spcAft>
                        <a:defRPr sz="1050">
                          <a:solidFill>
                            <a:srgbClr val="000000"/>
                          </a:solidFill>
                          <a:latin typeface="Lato"/>
                        </a:defRPr>
                      </a:pPr>
                      <a:r>
                        <a:t>Capacity history and reported operator output are distinct. Align fiscal/calendar years and product yields; redevelopment stays conditional.</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Henry / Nigel</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Plant output + imports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8" action="ppaction://hlinksldjump"/>
                        </a:rPr>
                        <a:t>8</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C3</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Competing supply routes</a:t>
                      </a:r>
                    </a:p>
                    <a:p>
                      <a:pPr>
                        <a:spcAft>
                          <a:spcPts val="0"/>
                        </a:spcAft>
                        <a:defRPr sz="1050">
                          <a:solidFill>
                            <a:srgbClr val="000000"/>
                          </a:solidFill>
                          <a:latin typeface="Lato"/>
                        </a:defRPr>
                      </a:pPr>
                      <a:r>
                        <a:t>Compare Durban, Matola and Walvis Bay for one customer. Test full route cost, capacity and customer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scope; W2–W4 test</a:t>
                      </a:r>
                    </a:p>
                    <a:p>
                      <a:pPr>
                        <a:spcAft>
                          <a:spcPts val="0"/>
                        </a:spcAft>
                        <a:defRPr sz="1050" b="0">
                          <a:solidFill>
                            <a:srgbClr val="000000"/>
                          </a:solidFill>
                          <a:latin typeface="Lato"/>
                        </a:defRPr>
                      </a:pPr>
                      <a:r>
                        <a:t>Delivered R/litre +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9" action="ppaction://hlinksldjump"/>
                        </a:rPr>
                        <a:t>9</a:t>
                      </a:r>
                      <a:r>
                        <a:rPr sz="1100">
                          <a:solidFill>
                            <a:srgbClr val="0A2373"/>
                          </a:solidFill>
                          <a:latin typeface="Lato"/>
                          <a:hlinkClick r:id="rId10" action="ppaction://hlinksldjump"/>
                        </a:rPr>
                        <a:t> / 10</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R1</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Vopak share and additional demand</a:t>
                      </a:r>
                    </a:p>
                    <a:p>
                      <a:pPr>
                        <a:spcAft>
                          <a:spcPts val="0"/>
                        </a:spcAft>
                        <a:defRPr sz="1050">
                          <a:solidFill>
                            <a:srgbClr val="000000"/>
                          </a:solidFill>
                          <a:latin typeface="Lato"/>
                        </a:defRPr>
                      </a:pPr>
                      <a:r>
                        <a:t>Match unique deliveries to regional demand. Test additional volumes against physical and commercial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client data</a:t>
                      </a:r>
                    </a:p>
                    <a:p>
                      <a:pPr>
                        <a:spcAft>
                          <a:spcPts val="0"/>
                        </a:spcAft>
                        <a:defRPr sz="1000" b="0">
                          <a:solidFill>
                            <a:srgbClr val="000000"/>
                          </a:solidFill>
                          <a:latin typeface="Lato"/>
                        </a:defRPr>
                      </a:pPr>
                      <a:r>
                        <a:t>Manish analysis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request; W2–W4 test</a:t>
                      </a:r>
                    </a:p>
                    <a:p>
                      <a:pPr>
                        <a:spcAft>
                          <a:spcPts val="0"/>
                        </a:spcAft>
                        <a:defRPr sz="1050" b="0">
                          <a:solidFill>
                            <a:srgbClr val="000000"/>
                          </a:solidFill>
                          <a:latin typeface="Lato"/>
                        </a:defRPr>
                      </a:pPr>
                      <a:r>
                        <a:t>Served + contestable litres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1" action="ppaction://hlinksldjump"/>
                        </a:rPr>
                        <a:t>11</a:t>
                      </a:r>
                      <a:r>
                        <a:rPr sz="1100">
                          <a:solidFill>
                            <a:srgbClr val="0A2373"/>
                          </a:solidFill>
                          <a:latin typeface="Lato"/>
                          <a:hlinkClick r:id="rId12" action="ppaction://hlinksldjump"/>
                        </a:rPr>
                        <a:t> / 12</a:t>
                      </a:r>
                      <a:r>
                        <a:rPr sz="1100">
                          <a:solidFill>
                            <a:srgbClr val="0A2373"/>
                          </a:solidFill>
                          <a:latin typeface="Lato"/>
                          <a:hlinkClick r:id="rId13" action="ppaction://hlinksldjump"/>
                        </a:rPr>
                        <a:t> / 13</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R2</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a:latin typeface="Lato"/>
                        </a:defRPr>
                      </a:pPr>
                      <a:r>
                        <a:t>Market playbook and optional investment</a:t>
                      </a:r>
                    </a:p>
                    <a:p>
                      <a:pPr>
                        <a:spcAft>
                          <a:spcPts val="0"/>
                        </a:spcAft>
                        <a:defRPr sz="1050">
                          <a:latin typeface="Lato"/>
                        </a:defRPr>
                      </a:pPr>
                      <a:r>
                        <a:t>Prioritise markets, validate service/cost and secure flows. Size storage after usable-capacity and operating checks.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priority</a:t>
                      </a:r>
                    </a:p>
                    <a:p>
                      <a:pPr>
                        <a:spcAft>
                          <a:spcPts val="0"/>
                        </a:spcAft>
                        <a:defRPr sz="1000" b="0">
                          <a:solidFill>
                            <a:srgbClr val="000000"/>
                          </a:solidFill>
                          <a:latin typeface="Lato"/>
                        </a:defRPr>
                      </a:pPr>
                      <a:r>
                        <a:t>Manish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W4–W6 if prioritised</a:t>
                      </a:r>
                    </a:p>
                    <a:p>
                      <a:pPr>
                        <a:spcAft>
                          <a:spcPts val="0"/>
                        </a:spcAft>
                        <a:defRPr sz="1050" b="0">
                          <a:solidFill>
                            <a:srgbClr val="000000"/>
                          </a:solidFill>
                          <a:latin typeface="Lato"/>
                        </a:defRPr>
                      </a:pPr>
                      <a:r>
                        <a:t>Flow-to-stock / investment</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hlinkClick r:id="rId14" action="ppaction://hlinksldjump"/>
                        </a:rPr>
                        <a:t>14</a:t>
                      </a:r>
                      <a:r>
                        <a:rPr sz="1100">
                          <a:solidFill>
                            <a:srgbClr val="0A2373"/>
                          </a:solidFill>
                          <a:hlinkClick r:id="rId17" action="ppaction://hlinksldjump"/>
                        </a:rPr>
                        <a:t> / 15</a:t>
                      </a:r>
                      <a:r>
                        <a:rPr sz="1100">
                          <a:solidFill>
                            <a:srgbClr val="0A2373"/>
                          </a:solidFill>
                          <a:hlinkClick r:id="rId15" action="ppaction://hlinksldjump"/>
                        </a:rPr>
                        <a:t> / 16</a:t>
                      </a:r>
                    </a:p>
                  </a:txBody>
                  <a:tcPr marL="45720" marR="45720" marT="50292" marB="18288" anchor="t">
                    <a:lnB w="7620" cap="flat">
                      <a:solidFill>
                        <a:srgbClr val="EEEEEE"/>
                      </a:solidFill>
                    </a:lnB>
                    <a:solidFill>
                      <a:srgbClr val="FFFFFF"/>
                    </a:solidFill>
                  </a:tcPr>
                </a:tc>
              </a:tr>
            </a:tbl>
          </a:graphicData>
        </a:graphic>
      </p:graphicFrame>
      <p:sp>
        <p:nvSpPr>
          <p:cNvPr id="44" name="TextBox 43"/>
          <p:cNvSpPr txBox="1"/>
          <p:nvPr/>
        </p:nvSpPr>
        <p:spPr>
          <a:xfrm>
            <a:off x="457200" y="6263640"/>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 diesel; jet separate. Owners and weeks are proposed. Open gaps and illustrations remain explicitly labelled.</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Customs records 10.0 billion litres of net diesel imports in 2024</a:t>
            </a:r>
          </a:p>
        </p:txBody>
      </p:sp>
      <p:sp>
        <p:nvSpPr>
          <p:cNvPr id="3" name="Slide Number Placeholder"/>
          <p:cNvSpPr>
            <a:spLocks noGrp="1"/>
          </p:cNvSpPr>
          <p:nvPr>
            <p:ph type="sldNum" sz="quarter" idx="12"/>
          </p:nvPr>
        </p:nvSpPr>
        <p:spPr/>
        <p:txBody>
          <a:bodyPr/>
          <a:lstStyle/>
          <a:p>
            <a:fld id="{58B1B58F-2EEF-4F71-A93F-94E6B356973B}"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Reported sales</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Compare consumption with reported sales; explain coverage and the residual.</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Diesel imports 10.793 bn L.</a:t>
            </a:r>
          </a:p>
          <a:p>
            <a:pPr>
              <a:spcAft>
                <a:spcPts val="300"/>
              </a:spcAft>
              <a:defRPr sz="1150" b="0">
                <a:solidFill>
                  <a:srgbClr val="000000"/>
                </a:solidFill>
                <a:latin typeface="Lato"/>
              </a:defRPr>
            </a:pPr>
            <a:r>
              <a:t>Government rounds to 10.800; FIASA 14.793.</a:t>
            </a:r>
          </a:p>
          <a:p>
            <a:pPr>
              <a:spcAft>
                <a:spcPts val="300"/>
              </a:spcAft>
              <a:defRPr sz="1150" b="0">
                <a:solidFill>
                  <a:srgbClr val="000000"/>
                </a:solidFill>
                <a:latin typeface="Lato"/>
              </a:defRPr>
            </a:pPr>
            <a: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Sales less net imports = 7.685 bn L.</a:t>
            </a:r>
          </a:p>
          <a:p>
            <a:pPr>
              <a:spcAft>
                <a:spcPts val="300"/>
              </a:spcAft>
              <a:defRPr sz="1150" b="0">
                <a:solidFill>
                  <a:srgbClr val="000000"/>
                </a:solidFill>
                <a:latin typeface="Lato"/>
              </a:defRPr>
            </a:pPr>
            <a:r>
              <a:t>Balancing requirement, not production.</a:t>
            </a:r>
          </a:p>
          <a:p>
            <a:pPr>
              <a:spcAft>
                <a:spcPts val="300"/>
              </a:spcAft>
              <a:defRPr sz="1150" b="0">
                <a:solidFill>
                  <a:srgbClr val="000000"/>
                </a:solidFill>
                <a:latin typeface="Lato"/>
              </a:defRPr>
            </a:pPr>
            <a: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Customs supports the trade selection</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SARS records diesel imports of 10.793 and exports of 0.796 bn litres in 2024. Net imports are 9.997; use customs as the primary trade source.</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sales remain a proxy</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petrol/diesel sales of 20.763 bn litres for 2024. Editions differ; this demand proxy remains unverified and is not imports plus exports.</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Production and stocks remain open</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Production and stocks remain unresolved. The proposed 3-4 bn litre diesel gap is a hypothesis, not measured consumption.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rebuild the balance CSV from SARS; match product, year, actual output and stock changes. Nigel: agree the sales selection and obtain customer/port evidence.</a:t>
            </a:r>
          </a:p>
        </p:txBody>
      </p:sp>
      <p:sp>
        <p:nvSpPr>
          <p:cNvPr id="6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Three provinces account for 69% of reported fuel sales</a:t>
            </a:r>
          </a:p>
        </p:txBody>
      </p:sp>
      <p:sp>
        <p:nvSpPr>
          <p:cNvPr id="3" name="Slide Number Placeholder"/>
          <p:cNvSpPr>
            <a:spLocks noGrp="1"/>
          </p:cNvSpPr>
          <p:nvPr>
            <p:ph type="sldNum" sz="quarter" idx="12"/>
          </p:nvPr>
        </p:nvSpPr>
        <p:spPr/>
        <p:txBody>
          <a:bodyPr/>
          <a:lstStyle/>
          <a:p>
            <a:fld id="{68E16D15-9B76-4480-AA88-F9DC6AEAD269}"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1">
                <a:solidFill>
                  <a:srgbClr val="FFFFFF"/>
                </a:solidFill>
                <a:latin typeface="Lato"/>
              </a:defRPr>
            </a:pPr>
            <a:r>
              <a:t>KZN</a:t>
            </a:r>
          </a:p>
          <a:p>
            <a:pPr>
              <a:spcAft>
                <a:spcPts val="300"/>
              </a:spcAft>
              <a:defRPr sz="900" b="1">
                <a:solidFill>
                  <a:srgbClr val="FFFFFF"/>
                </a:solidFill>
                <a:latin typeface="Lato"/>
              </a:defRPr>
            </a:pPr>
            <a: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44" name="TextBox 543"/>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Sales totals, not density. Vopak locations highlighted; detailed operator inventory on pages 12 and 14. Jet excluded.</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Colours show provincial sales totals, not density or customer catchments. Only Durban and Lesedi are labelled; competitor detail is on pages 12 and 14.</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customer markets for Durban and Lesedi. Manish: retain the observed 2022 map; present later estimates separately with national-source flags.</a:t>
            </a:r>
          </a:p>
        </p:txBody>
      </p:sp>
      <p:sp>
        <p:nvSpPr>
          <p:cNvPr id="565"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6"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67"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68"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Provincial sales show different demand patterns over time</a:t>
            </a:r>
          </a:p>
        </p:txBody>
      </p:sp>
      <p:sp>
        <p:nvSpPr>
          <p:cNvPr id="3" name="Slide Number Placeholder"/>
          <p:cNvSpPr>
            <a:spLocks noGrp="1"/>
          </p:cNvSpPr>
          <p:nvPr>
            <p:ph type="sldNum" sz="quarter" idx="12"/>
          </p:nvPr>
        </p:nvSpPr>
        <p:spPr/>
        <p:txBody>
          <a:bodyPr/>
          <a:lstStyle/>
          <a:p>
            <a:fld id="{E6348AAE-E4BF-4E41-B415-BAD807E3D082}"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Later provinces are estimates</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 estimates: Gauteng 3.47, KZN 1.47, Western Cape 1.41 bn L. These hold 2022 shares; no later observed provincial sales were found.</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differences are traced</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2013 national parser is corrected on the analyst branch. 2014/2015 source versions differ; 2018 district coverage is incomplete. Preserve the flags.</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source selections and retain estimate labels. Nigel: decide whether estimated petrol volumes belong in the outlook; diesel booking shares are less stable.</a:t>
            </a:r>
          </a:p>
        </p:txBody>
      </p:sp>
      <p:sp>
        <p:nvSpPr>
          <p:cNvPr id="6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Provincial demand is known; its supply origin still needs evidence</a:t>
            </a:r>
          </a:p>
        </p:txBody>
      </p:sp>
      <p:sp>
        <p:nvSpPr>
          <p:cNvPr id="3" name="Slide Number Placeholder"/>
          <p:cNvSpPr>
            <a:spLocks noGrp="1"/>
          </p:cNvSpPr>
          <p:nvPr>
            <p:ph type="sldNum" sz="quarter" idx="12"/>
          </p:nvPr>
        </p:nvSpPr>
        <p:spPr/>
        <p:txBody>
          <a:bodyPr/>
          <a:lstStyle/>
          <a:p>
            <a:fld id="{6809C566-18B3-4693-901D-FB9C10E97163}"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Observed activity helps define the fuel levers; intensities remain open</a:t>
            </a:r>
          </a:p>
        </p:txBody>
      </p:sp>
      <p:sp>
        <p:nvSpPr>
          <p:cNvPr id="3" name="Slide Number Placeholder"/>
          <p:cNvSpPr>
            <a:spLocks noGrp="1"/>
          </p:cNvSpPr>
          <p:nvPr>
            <p:ph type="sldNum" sz="quarter" idx="12"/>
          </p:nvPr>
        </p:nvSpPr>
        <p:spPr/>
        <p:txBody>
          <a:bodyPr/>
          <a:lstStyle/>
          <a:p>
            <a:fld id="{5C1F2670-EEF8-4DB1-8262-18AB4E8FFD2F}" type="slidenum">
              <a:rPr lang="en-US"/>
              <a:t>‹#›</a:t>
            </a:fld>
          </a:p>
        </p:txBody>
      </p:sp>
      <p:sp>
        <p:nvSpPr>
          <p:cNvPr id="4" name="Section navigation 1">
            <a:hlinkClick action="ppaction://hlinksldjump" r:id="rId11"/>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12"/>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13"/>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14"/>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Diesel wholesale</a:t>
            </a:r>
          </a:p>
        </p:txBody>
      </p:sp>
      <p:sp>
        <p:nvSpPr>
          <p:cNvPr id="76" name="TextBox 75"/>
          <p:cNvSpPr txBox="1"/>
          <p:nvPr/>
        </p:nvSpPr>
        <p:spPr>
          <a:xfrm>
            <a:off x="457200" y="6327648"/>
            <a:ext cx="10652760" cy="16459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Latest staged: activity Jul 2026; GDP Q2 2026; inland prices Oct 2026. Charts use complete years. Fuel intensities remain open; FY ends March.</a:t>
            </a:r>
          </a:p>
        </p:txBody>
      </p:sp>
      <p:sp>
        <p:nvSpPr>
          <p:cNvPr id="7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Refinery capacity has fallen; redevelopment remains conditional</a:t>
            </a:r>
          </a:p>
        </p:txBody>
      </p:sp>
      <p:sp>
        <p:nvSpPr>
          <p:cNvPr id="3" name="Slide Number Placeholder"/>
          <p:cNvSpPr>
            <a:spLocks noGrp="1"/>
          </p:cNvSpPr>
          <p:nvPr>
            <p:ph type="sldNum" sz="quarter" idx="12"/>
          </p:nvPr>
        </p:nvSpPr>
        <p:spPr/>
        <p:txBody>
          <a:bodyPr/>
          <a:lstStyle/>
          <a:p>
            <a:fld id="{B3CCC9BE-6592-4ED4-9F47-BE1A974F8FDC}" type="slidenum">
              <a:rPr lang="en-US"/>
              <a:t>‹#›</a:t>
            </a:fld>
          </a:p>
        </p:txBody>
      </p:sp>
      <p:sp>
        <p:nvSpPr>
          <p:cNvPr id="4" name="Section navigation 1">
            <a:hlinkClick action="ppaction://hlinksldjump" r:id="rId5"/>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6"/>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8"/>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Reported FY2024 output: Secunda 29.1; Natref Sasol share 17.8 million barrels.</a:t>
            </a:r>
          </a:p>
        </p:txBody>
      </p:sp>
      <p:sp>
        <p:nvSpPr>
          <p:cNvPr id="37" name="TextBox 36"/>
          <p:cNvSpPr txBox="1"/>
          <p:nvPr/>
        </p:nvSpPr>
        <p:spPr>
          <a:xfrm>
            <a:off x="457200" y="6217920"/>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All products; year to June, not calendar-year petrol/diesel. B adds 400 from 2033, conditional on FID.</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9" name="TextBox 4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has fallen</a:t>
            </a:r>
          </a:p>
        </p:txBody>
      </p:sp>
      <p:sp>
        <p:nvSpPr>
          <p:cNvPr id="50" name="TextBox 4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capacity falls from 718 to 358 thousand bbl/day between 2020 and 2022. Redevelopment remains conditional.</a:t>
            </a:r>
          </a:p>
        </p:txBody>
      </p:sp>
      <p:sp>
        <p:nvSpPr>
          <p:cNvPr id="51" name="TextBox 5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output is different</a:t>
            </a:r>
          </a:p>
        </p:txBody>
      </p:sp>
      <p:sp>
        <p:nvSpPr>
          <p:cNvPr id="52" name="TextBox 5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FY2024 Secunda output is 29.1 million barrels; Natref is 17.8 for Sasol’s share. Both cover all products and a year to June.</a:t>
            </a:r>
          </a:p>
        </p:txBody>
      </p:sp>
      <p:sp>
        <p:nvSpPr>
          <p:cNvPr id="53" name="TextBox 5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product bridge is needed</a:t>
            </a:r>
          </a:p>
        </p:txBody>
      </p:sp>
      <p:sp>
        <p:nvSpPr>
          <p:cNvPr id="54" name="TextBox 5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product yields, calendar years and downtime before calculating import effects. Capacity does not measure actual output.</a:t>
            </a:r>
          </a:p>
        </p:txBody>
      </p:sp>
      <p:cxnSp>
        <p:nvCxnSpPr>
          <p:cNvPr id="55" name="Connector 5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7" name="TextBox 5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match operator output to product/year and document Natref ownership basis. Henry: review technical mechanisms. Nigel: agree refinery scenario timing.</a:t>
            </a:r>
          </a:p>
        </p:txBody>
      </p:sp>
      <p:sp>
        <p:nvSpPr>
          <p:cNvPr id="5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1" name="Connector 308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9" name="Connector 308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097" name="Transnet lease overlay: Isosceles Triangle 309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98" name="Transnet lease overlay: Connector 309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099" name="Transnet lease overlay: TextBox 309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3100" name="Transnet lease overlay: Isosceles Triangle 309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01" name="Transnet lease overlay: Connector 310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02" name="Transnet lease overlay: TextBox 310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3103" name="Transnet lease overlay: Isosceles Triangle 310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04" name="Transnet lease overlay: Connector 310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05" name="Transnet lease overlay: TextBox 310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3106" name="Transnet lease overlay: Isosceles Triangle 310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07" name="Transnet lease overlay: Connector 310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08" name="Transnet lease overlay: TextBox 310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3109" name="Transnet lease overlay: Isosceles Triangle 310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10" name="Transnet lease overlay: Connector 310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11" name="Transnet lease overlay: TextBox 311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3112" name="Transnet lease overlay: TextBox 311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Lease offers (context)
1 Ladysmith | 2 Standerton
3 Kroonstad | 4 Bethlehem
5 Magdala*</a:t>
            </a:r>
          </a:p>
        </p:txBody>
      </p:sp>
      <p:sp>
        <p:nvSpPr>
          <p:cNvPr id="3113" name="Transnet lease overlay: Isosceles Triangle 311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21" name="Connector 312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22" name="TextBox 312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123" name="TextBox 312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124" name="TextBox 312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Cells show example road cost from Durban or Lesedi. The rate is illustrative and excludes fuel price, storage and pipeline tariffs.</a:t>
            </a:r>
          </a:p>
        </p:txBody>
      </p:sp>
      <p:sp>
        <p:nvSpPr>
          <p:cNvPr id="3125" name="TextBox 312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126" name="TextBox 312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Grey areas have no assessed road connection under this illustration. They are not confirmed to be inaccessible.</a:t>
            </a:r>
          </a:p>
        </p:txBody>
      </p:sp>
      <p:sp>
        <p:nvSpPr>
          <p:cNvPr id="3127" name="TextBox 312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128" name="TextBox 312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lines are context. Route capacity, product compatibility and customer rights still determine serviceable demand.</a:t>
            </a:r>
          </a:p>
        </p:txBody>
      </p:sp>
      <p:cxnSp>
        <p:nvCxnSpPr>
          <p:cNvPr id="3129" name="Connector 312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30" name="TextBox 312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3131" name="TextBox 313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first customer destination and cost threshold. Manish: replace example rates with dated route costs and access evidence.</a:t>
            </a:r>
          </a:p>
        </p:txBody>
      </p:sp>
      <p:sp>
        <p:nvSpPr>
          <p:cNvPr id="3132" name="TextBox 313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t>Diamonds: Vopak. Triangles: lease offers (context).</a:t>
            </a:r>
          </a:p>
        </p:txBody>
      </p:sp>
      <p:sp>
        <p:nvSpPr>
          <p:cNvPr id="313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3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3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313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Durban, Matola and Walvis Bay for the same inland customer</a:t>
            </a:r>
          </a:p>
        </p:txBody>
      </p:sp>
      <p:sp>
        <p:nvSpPr>
          <p:cNvPr id="3" name="Slide Number Placeholder"/>
          <p:cNvSpPr>
            <a:spLocks noGrp="1"/>
          </p:cNvSpPr>
          <p:nvPr>
            <p:ph type="sldNum" sz="quarter" idx="12"/>
          </p:nvPr>
        </p:nvSpPr>
        <p:spPr/>
        <p:txBody>
          <a:bodyPr/>
          <a:lstStyle/>
          <a:p>
            <a:fld id="{2605C6B4-0455-4129-979D-6B100100C671}"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Galp / IPG GIMTL</a:t>
            </a:r>
          </a:p>
          <a:p>
            <a:pPr>
              <a:spcAft>
                <a:spcPts val="300"/>
              </a:spcAft>
              <a:defRPr sz="900" b="1">
                <a:solidFill>
                  <a:srgbClr val="0A2373"/>
                </a:solidFill>
                <a:latin typeface="Lato"/>
              </a:defRPr>
            </a:pPr>
            <a:r>
              <a:t>60k m³ petrol/diesel</a:t>
            </a:r>
          </a:p>
        </p:txBody>
      </p:sp>
      <p:sp>
        <p:nvSpPr>
          <p:cNvPr id="31"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NAMCOR NOSF</a:t>
            </a:r>
          </a:p>
          <a:p>
            <a:pPr>
              <a:spcAft>
                <a:spcPts val="300"/>
              </a:spcAft>
              <a:defRPr sz="900" b="1">
                <a:solidFill>
                  <a:srgbClr val="0A2373"/>
                </a:solidFill>
                <a:latin typeface="Lato"/>
              </a:defRPr>
            </a:pPr>
            <a:r>
              <a:t>65k m³ petrol/diesel</a:t>
            </a:r>
          </a:p>
        </p:txBody>
      </p:sp>
      <p:sp>
        <p:nvSpPr>
          <p:cNvPr id="32"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33"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4"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5"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6"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7"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Walvis–Gauteng (Trans-Kalahari)</a:t>
            </a:r>
          </a:p>
        </p:txBody>
      </p:sp>
      <p:sp>
        <p:nvSpPr>
          <p:cNvPr id="107" name="TextBox 106"/>
          <p:cNvSpPr txBox="1"/>
          <p:nvPr/>
        </p:nvSpPr>
        <p:spPr>
          <a:xfrm>
            <a:off x="457200" y="6400800"/>
            <a:ext cx="644652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Routes schematic; access unverified. Colour measures provincial totals, not density or Vopak share.</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available tanks, customer access and full delivered costs. Source Namibia/Mozambique demand before extending the heatmap; grey means unassessed.</a:t>
            </a:r>
          </a:p>
        </p:txBody>
      </p:sp>
      <p:sp>
        <p:nvSpPr>
          <p:cNvPr id="12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3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3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market catchment and transfer examples. Not reported sales or actual Vopak flows.</a:t>
            </a:r>
          </a:p>
        </p:txBody>
      </p:sp>
      <p:sp>
        <p:nvSpPr>
          <p:cNvPr id="77" name="TextBox 76"/>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78" name="Connector 77"/>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Successive screens; these volumes are illustrative</a:t>
            </a:r>
          </a:p>
        </p:txBody>
      </p:sp>
      <p:sp>
        <p:nvSpPr>
          <p:cNvPr id="82" name="TextBox 81"/>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Catchment demand</a:t>
            </a:r>
          </a:p>
        </p:txBody>
      </p:sp>
      <p:sp>
        <p:nvSpPr>
          <p:cNvPr id="83" name="Rectangle 82"/>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14.5</a:t>
            </a:r>
          </a:p>
        </p:txBody>
      </p:sp>
      <p:sp>
        <p:nvSpPr>
          <p:cNvPr id="85" name="TextBox 84"/>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Physically feasible</a:t>
            </a:r>
          </a:p>
        </p:txBody>
      </p:sp>
      <p:sp>
        <p:nvSpPr>
          <p:cNvPr id="86" name="Rectangle 85"/>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12.0</a:t>
            </a:r>
          </a:p>
        </p:txBody>
      </p:sp>
      <p:sp>
        <p:nvSpPr>
          <p:cNvPr id="88" name="TextBox 87"/>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Commercial envelope</a:t>
            </a:r>
          </a:p>
        </p:txBody>
      </p:sp>
      <p:sp>
        <p:nvSpPr>
          <p:cNvPr id="89" name="Rectangle 88"/>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91" name="TextBox 90"/>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unique deliveries</a:t>
            </a:r>
          </a:p>
        </p:txBody>
      </p:sp>
      <p:sp>
        <p:nvSpPr>
          <p:cNvPr id="92" name="Rectangle 91"/>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94" name="TextBox 93"/>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Count Durban–Lesedi transfers once</a:t>
            </a:r>
          </a:p>
        </p:txBody>
      </p:sp>
      <p:sp>
        <p:nvSpPr>
          <p:cNvPr id="95" name="TextBox 94"/>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 2.8 + Lesedi 2.0 − shared transfer 1.8 = unique 3.0</a:t>
            </a:r>
          </a:p>
        </p:txBody>
      </p:sp>
      <p:sp>
        <p:nvSpPr>
          <p:cNvPr id="96" name="TextBox 95"/>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Demand ≠ terminal receipts ≠ storage capacity. Incremental opportunity is on page 13.</a:t>
            </a:r>
          </a:p>
        </p:txBody>
      </p:sp>
      <p:sp>
        <p:nvSpPr>
          <p:cNvPr id="97" name="TextBox 96"/>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98" name="TextBox 97"/>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99" name="TextBox 98"/>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receipts of 2.8 at Durban and 2.0 at Lesedi include a shared 1.8 transfer. Unique demand served is therefore 3.0 bn litres.</a:t>
            </a:r>
          </a:p>
        </p:txBody>
      </p:sp>
      <p:sp>
        <p:nvSpPr>
          <p:cNvPr id="100" name="TextBox 99"/>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101" name="TextBox 100"/>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catchment demand 14.5 → physically feasible 12.0 → commercial envelope 8.5. Each screen requires evidence.</a:t>
            </a:r>
          </a:p>
        </p:txBody>
      </p:sp>
      <p:sp>
        <p:nvSpPr>
          <p:cNvPr id="102" name="TextBox 101"/>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103" name="TextBox 102"/>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market volumes illustrate the calculation. They are not the reported 2022 regional totals or actual Vopak deliveries.</a:t>
            </a:r>
          </a:p>
        </p:txBody>
      </p:sp>
      <p:cxnSp>
        <p:nvCxnSpPr>
          <p:cNvPr id="104" name="Connector 10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06" name="TextBox 105"/>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customer deliveries, destinations and transfer records. Manish: calculate unique served demand before estimating additional access.</a:t>
            </a:r>
          </a:p>
        </p:txBody>
      </p:sp>
      <p:sp>
        <p:nvSpPr>
          <p:cNvPr id="107"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8"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09"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10"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regional demand with Vopak’s published storage footprint</a:t>
            </a:r>
          </a:p>
        </p:txBody>
      </p:sp>
      <p:sp>
        <p:nvSpPr>
          <p:cNvPr id="3" name="Slide Number Placeholder"/>
          <p:cNvSpPr>
            <a:spLocks noGrp="1"/>
          </p:cNvSpPr>
          <p:nvPr>
            <p:ph type="sldNum" sz="quarter" idx="12"/>
          </p:nvPr>
        </p:nvSpPr>
        <p:spPr/>
        <p:txBody>
          <a:bodyPr/>
          <a:lstStyle/>
          <a:p>
            <a:fld id="{FF5434EF-217F-4FAE-A553-81D0791784FF}"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12"/>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13"/>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 tanks</a:t>
            </a:r>
          </a:p>
          <a:p>
            <a:pPr>
              <a:spcAft>
                <a:spcPts val="300"/>
              </a:spcAft>
              <a:defRPr sz="1200" b="1">
                <a:solidFill>
                  <a:srgbClr val="000000"/>
                </a:solidFill>
                <a:latin typeface="Lato"/>
              </a:defRPr>
            </a:pPr>
            <a:r>
              <a:t>000 m³</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 tanks</a:t>
            </a:r>
          </a:p>
          <a:p>
            <a:pPr>
              <a:spcAft>
                <a:spcPts val="300"/>
              </a:spcAft>
              <a:defRPr sz="1200" b="1">
                <a:solidFill>
                  <a:srgbClr val="000000"/>
                </a:solidFill>
                <a:latin typeface="Lato"/>
              </a:defRPr>
            </a:pPr>
            <a:r>
              <a:t>000 m³</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0182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49326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4800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13944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9417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3785616"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972491"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3587"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TextBox 30"/>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360.2</a:t>
            </a:r>
          </a:p>
        </p:txBody>
      </p:sp>
      <p:sp>
        <p:nvSpPr>
          <p:cNvPr id="32" name="TextBox 31"/>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923.1</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1857696"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68792"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TextBox 36"/>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140.0</a:t>
            </a:r>
          </a:p>
        </p:txBody>
      </p:sp>
      <p:sp>
        <p:nvSpPr>
          <p:cNvPr id="38" name="TextBox 37"/>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32.5</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63499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46089"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TextBox 42"/>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44" name="TextBox 4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122.0</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7298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84083"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TextBox 4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50" name="TextBox 49"/>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Unknown</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Published capacity is a provisional footprint measure, not annual demand served.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Partial gross inventory; mixed products and unknown Sasol/Transnet capacities.</a:t>
            </a:r>
          </a:p>
          <a:p>
            <a:pPr>
              <a:spcAft>
                <a:spcPts val="300"/>
              </a:spcAft>
              <a:defRPr sz="1000" b="0">
                <a:solidFill>
                  <a:srgbClr val="000000"/>
                </a:solidFill>
                <a:latin typeface="Lato"/>
              </a:defRPr>
            </a:pPr>
            <a:r>
              <a:t>Fuel-compatible capacity share and actual Vopak demand share remain unestablished.</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
        <p:nvSpPr>
          <p:cNvPr id="6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The illustrative additional opportunity is 5.5 billion litres a year</a:t>
            </a:r>
          </a:p>
        </p:txBody>
      </p:sp>
      <p:sp>
        <p:nvSpPr>
          <p:cNvPr id="3" name="Slide Number Placeholder"/>
          <p:cNvSpPr>
            <a:spLocks noGrp="1"/>
          </p:cNvSpPr>
          <p:nvPr>
            <p:ph type="sldNum" sz="quarter" idx="12"/>
          </p:nvPr>
        </p:nvSpPr>
        <p:spPr/>
        <p:txBody>
          <a:bodyPr/>
          <a:lstStyle/>
          <a:p>
            <a:fld id="{473BC800-B2C0-444A-82E6-417A595BC98F}"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catchment CSV; conditions authored for review. No actual Vopak share, cost threshold or forecast capture established.</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Accessibility gates and volume milestones | illustrative bn L/year</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each increment requires evidence; not cumulative terminal receipts</a:t>
            </a:r>
          </a:p>
        </p:txBody>
      </p:sp>
      <p:sp>
        <p:nvSpPr>
          <p:cNvPr id="30" name="TextBox 29"/>
          <p:cNvSpPr txBox="1"/>
          <p:nvPr/>
        </p:nvSpPr>
        <p:spPr>
          <a:xfrm>
            <a:off x="457200" y="2724912"/>
            <a:ext cx="6446520" cy="457200"/>
          </a:xfrm>
          <a:prstGeom prst="rect">
            <a:avLst/>
          </a:prstGeom>
          <a:noFill/>
        </p:spPr>
        <p:txBody>
          <a:bodyPr wrap="square" lIns="22860" rIns="22860" tIns="0" bIns="0">
            <a:spAutoFit/>
          </a:bodyPr>
          <a:lstStyle/>
          <a:p>
            <a:pPr>
              <a:spcAft>
                <a:spcPts val="300"/>
              </a:spcAft>
              <a:defRPr sz="2200" b="1">
                <a:solidFill>
                  <a:srgbClr val="0A2373"/>
                </a:solidFill>
                <a:latin typeface="Lato"/>
              </a:defRPr>
            </a:pPr>
            <a:r>
              <a:t>5.5 bn L/year additional candidate</a:t>
            </a:r>
          </a:p>
        </p:txBody>
      </p:sp>
      <p:sp>
        <p:nvSpPr>
          <p:cNvPr id="31" name="TextBox 30"/>
          <p:cNvSpPr txBox="1"/>
          <p:nvPr/>
        </p:nvSpPr>
        <p:spPr>
          <a:xfrm>
            <a:off x="457200" y="3255264"/>
            <a:ext cx="6446520" cy="28346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3.0 current example + 5.5 additional = 8.5 total envelope</a:t>
            </a:r>
          </a:p>
        </p:txBody>
      </p:sp>
      <p:sp>
        <p:nvSpPr>
          <p:cNvPr id="32" name="Rectangle 31"/>
          <p:cNvSpPr/>
          <p:nvPr/>
        </p:nvSpPr>
        <p:spPr>
          <a:xfrm>
            <a:off x="457200" y="3813048"/>
            <a:ext cx="2275242" cy="59436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3968496"/>
            <a:ext cx="2147226" cy="274320"/>
          </a:xfrm>
          <a:prstGeom prst="rect">
            <a:avLst/>
          </a:prstGeom>
          <a:noFill/>
        </p:spPr>
        <p:txBody>
          <a:bodyPr wrap="square" lIns="22860" rIns="22860" tIns="0" bIns="0">
            <a:spAutoFit/>
          </a:bodyPr>
          <a:lstStyle/>
          <a:p>
            <a:pPr>
              <a:spcAft>
                <a:spcPts val="300"/>
              </a:spcAft>
              <a:defRPr sz="1200" b="1">
                <a:solidFill>
                  <a:srgbClr val="FFFFFF"/>
                </a:solidFill>
                <a:latin typeface="Lato"/>
              </a:defRPr>
            </a:pPr>
            <a:r>
              <a:t>Current 3.0</a:t>
            </a:r>
          </a:p>
        </p:txBody>
      </p:sp>
      <p:sp>
        <p:nvSpPr>
          <p:cNvPr id="34" name="Rectangle 33"/>
          <p:cNvSpPr/>
          <p:nvPr/>
        </p:nvSpPr>
        <p:spPr>
          <a:xfrm>
            <a:off x="2732442" y="3813048"/>
            <a:ext cx="1137621" cy="59436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96450" y="3968496"/>
            <a:ext cx="1009605"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Coastal + 1.5</a:t>
            </a:r>
          </a:p>
        </p:txBody>
      </p:sp>
      <p:sp>
        <p:nvSpPr>
          <p:cNvPr id="36" name="Rectangle 35"/>
          <p:cNvSpPr/>
          <p:nvPr/>
        </p:nvSpPr>
        <p:spPr>
          <a:xfrm>
            <a:off x="3870063" y="3813048"/>
            <a:ext cx="3033656" cy="59436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34071" y="3968496"/>
            <a:ext cx="2905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 + 4.0</a:t>
            </a:r>
          </a:p>
        </p:txBody>
      </p:sp>
      <p:sp>
        <p:nvSpPr>
          <p:cNvPr id="38" name="TextBox 37"/>
          <p:cNvSpPr txBox="1"/>
          <p:nvPr/>
        </p:nvSpPr>
        <p:spPr>
          <a:xfrm>
            <a:off x="457200" y="480060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What must hold before any additional litres are counted?</a:t>
            </a:r>
          </a:p>
        </p:txBody>
      </p:sp>
      <p:graphicFrame>
        <p:nvGraphicFramePr>
          <p:cNvPr id="39" name="Table 38"/>
          <p:cNvGraphicFramePr>
            <a:graphicFrameLocks noGrp="1"/>
          </p:cNvGraphicFramePr>
          <p:nvPr/>
        </p:nvGraphicFramePr>
        <p:xfrm>
          <a:off x="457200" y="5349240"/>
          <a:ext cx="6446520" cy="576072"/>
        </p:xfrm>
        <a:graphic>
          <a:graphicData uri="http://schemas.openxmlformats.org/drawingml/2006/table">
            <a:tbl>
              <a:tblPr firstRow="1" bandRow="1">
                <a:tableStyleId>{2D5ABB26-0587-4C30-8999-92F81FD0307C}</a:tableStyleId>
              </a:tblPr>
              <a:tblGrid>
                <a:gridCol w="1609344"/>
                <a:gridCol w="1609344"/>
                <a:gridCol w="1609344"/>
                <a:gridCol w="1618488"/>
              </a:tblGrid>
              <a:tr h="576072">
                <a:tc>
                  <a:txBody>
                    <a:bodyPr/>
                    <a:lstStyle/>
                    <a:p>
                      <a:pPr>
                        <a:spcAft>
                          <a:spcPts val="0"/>
                        </a:spcAft>
                        <a:defRPr sz="1100" b="1">
                          <a:solidFill>
                            <a:srgbClr val="000000"/>
                          </a:solidFill>
                          <a:latin typeface="Lato"/>
                        </a:defRPr>
                      </a:pPr>
                      <a:r>
                        <a:t>Competitive cost</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Usable capacity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Unique deliveries</a:t>
                      </a:r>
                    </a:p>
                  </a:txBody>
                  <a:tcPr marL="50292" marR="50292" marT="41148" marB="41148" anchor="ctr">
                    <a:lnB w="6350" cap="flat">
                      <a:solidFill>
                        <a:srgbClr val="EEEEEE"/>
                      </a:solidFill>
                    </a:lnB>
                    <a:solidFill>
                      <a:srgbClr val="FFFFFF"/>
                    </a:solidFill>
                  </a:tcPr>
                </a:tc>
              </a:tr>
            </a:tbl>
          </a:graphicData>
        </a:graphic>
      </p:graphicFrame>
      <p:sp>
        <p:nvSpPr>
          <p:cNvPr id="40" name="TextBox 39"/>
          <p:cNvSpPr txBox="1"/>
          <p:nvPr/>
        </p:nvSpPr>
        <p:spPr>
          <a:xfrm>
            <a:off x="457200" y="6035040"/>
            <a:ext cx="6446520"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Detailed customer-by-route gates belong in the evidence register.</a:t>
            </a:r>
          </a:p>
          <a:p>
            <a:pPr>
              <a:spcAft>
                <a:spcPts val="300"/>
              </a:spcAft>
              <a:defRPr sz="1100" b="0">
                <a:solidFill>
                  <a:srgbClr val="000000"/>
                </a:solidFill>
                <a:latin typeface="Lato"/>
              </a:defRPr>
            </a:pPr>
            <a:r>
              <a:t>Illustration only; 5.5 is neither a forecast nor a confirmed capturable market.</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Reach is necessary, not sufficient</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Accessibility map p9 and competing routes p10 locate candidate access. Neither currently links a verified cost threshold to customer litres.</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Example milestones are conditional</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current example is 3.0. Coastal candidate 1.5 raises it to 4.5; inland candidate 4.0 raises it to 8.5. These are authored volumes.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Every increment needs four gates</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Evidence cost, route/tank capacity, customer rights and unique deliveries for the same product and period. Unassessed litres remain explicit.</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destinations and acceptable delivered cost. Manish: build a customer-by-route gate table; record passed, failed and unassessed litres, with sources and conditions.</a:t>
            </a:r>
          </a:p>
        </p:txBody>
      </p:sp>
      <p:sp>
        <p:nvSpPr>
          <p:cNvPr id="5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Durban leads the published storage subset</a:t>
            </a:r>
          </a:p>
        </p:txBody>
      </p:sp>
      <p:sp>
        <p:nvSpPr>
          <p:cNvPr id="3" name="Slide Number Placeholder"/>
          <p:cNvSpPr>
            <a:spLocks noGrp="1"/>
          </p:cNvSpPr>
          <p:nvPr>
            <p:ph type="sldNum" sz="quarter" idx="12"/>
          </p:nvPr>
        </p:nvSpPr>
        <p:spPr/>
        <p:txBody>
          <a:bodyPr/>
          <a:lstStyle/>
          <a:p>
            <a:fld id="{9A9DD224-1A49-4010-81C4-CE9FA1A1EAD6}"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Prioritise customer markets, win on service and cost, then expand</a:t>
            </a:r>
          </a:p>
        </p:txBody>
      </p:sp>
      <p:sp>
        <p:nvSpPr>
          <p:cNvPr id="3" name="Slide Number Placeholder"/>
          <p:cNvSpPr>
            <a:spLocks noGrp="1"/>
          </p:cNvSpPr>
          <p:nvPr>
            <p:ph type="sldNum" sz="quarter" idx="12"/>
          </p:nvPr>
        </p:nvSpPr>
        <p:spPr/>
        <p:txBody>
          <a:bodyPr/>
          <a:lstStyle/>
          <a:p>
            <a:fld id="{6C1A8DD4-F998-4B07-8D1C-8F609F61716E}"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Authored market hypotheses; demand, gateway and storage evidence on pp.4, 9–14. Customer capture remains unverified.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playbook | priority hypotheses and conditional timing</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457200" y="2176272"/>
          <a:ext cx="10652760" cy="3090672"/>
        </p:xfrm>
        <a:graphic>
          <a:graphicData uri="http://schemas.openxmlformats.org/drawingml/2006/table">
            <a:tbl>
              <a:tblPr firstRow="1" bandRow="1">
                <a:tableStyleId>{2D5ABB26-0587-4C30-8999-92F81FD0307C}</a:tableStyleId>
              </a:tblPr>
              <a:tblGrid>
                <a:gridCol w="2103120"/>
                <a:gridCol w="2834640"/>
                <a:gridCol w="2788920"/>
                <a:gridCol w="2926080"/>
              </a:tblGrid>
              <a:tr h="772668">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Matola and Walvis Bay</a:t>
                      </a:r>
                    </a:p>
                    <a:p>
                      <a:pPr>
                        <a:spcAft>
                          <a:spcPts val="0"/>
                        </a:spcAft>
                        <a:defRPr sz="1150" b="0">
                          <a:solidFill>
                            <a:srgbClr val="000000"/>
                          </a:solidFill>
                          <a:latin typeface="Lato"/>
                        </a:defRPr>
                      </a:pPr>
                      <a:r>
                        <a:t>Competing gateways to compare</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12" name="TextBox 1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Investment gate</a:t>
            </a:r>
          </a:p>
        </p:txBody>
      </p:sp>
      <p:sp>
        <p:nvSpPr>
          <p:cNvPr id="13" name="TextBox 1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New storage follows secured incremental flows and a gap in usable capacity; the illustrative 5.5 bn litres does not establish a commitment.</a:t>
            </a:r>
          </a:p>
        </p:txBody>
      </p:sp>
      <p:sp>
        <p:nvSpPr>
          <p:cNvPr id="14" name="TextBox 1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Nigel: Choose the first customer/product and acceptable cost. Confirm the service proposition and commercial access.</a:t>
            </a:r>
          </a:p>
        </p:txBody>
      </p:sp>
      <p:sp>
        <p:nvSpPr>
          <p:cNvPr id="15" name="TextBox 1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Manish: Build a customer-by-route evidence table: litres, cost, capacity, rights, timing and owner. Mark each gate passed, failed or unassessed.</a:t>
            </a:r>
          </a:p>
        </p:txBody>
      </p:sp>
      <p:sp>
        <p:nvSpPr>
          <p:cNvPr id="1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Translate additional fuel flows into a preliminary inventory requirement</a:t>
            </a:r>
          </a:p>
        </p:txBody>
      </p:sp>
      <p:sp>
        <p:nvSpPr>
          <p:cNvPr id="3" name="Slide Number Placeholder"/>
          <p:cNvSpPr>
            <a:spLocks noGrp="1"/>
          </p:cNvSpPr>
          <p:nvPr>
            <p:ph type="sldNum" sz="quarter" idx="12"/>
          </p:nvPr>
        </p:nvSpPr>
        <p:spPr/>
        <p:txBody>
          <a:bodyPr/>
          <a:lstStyle/>
          <a:p>
            <a:fld id="{2AF3B0C2-3DE6-4EE9-8AFD-F84A3068B62D}"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5.5 bn L/year candidate example; authored inventory-day sensitivity, 6 Oct 2026. Not new-capacity sizing.</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Working inventory sensitivity | illustrative, thousand m³</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additional 5.5 bn litres/year; uniform daily flow</a:t>
            </a:r>
          </a:p>
        </p:txBody>
      </p:sp>
      <p:sp>
        <p:nvSpPr>
          <p:cNvPr id="30" name="TextBox 29"/>
          <p:cNvSpPr txBox="1"/>
          <p:nvPr/>
        </p:nvSpPr>
        <p:spPr>
          <a:xfrm>
            <a:off x="457200" y="258775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More inventory days require more working stock</a:t>
            </a:r>
          </a:p>
        </p:txBody>
      </p:sp>
      <p:graphicFrame>
        <p:nvGraphicFramePr>
          <p:cNvPr id="31" name="Chart 30"/>
          <p:cNvGraphicFramePr>
            <a:graphicFrameLocks noGrp="1"/>
          </p:cNvGraphicFramePr>
          <p:nvPr/>
        </p:nvGraphicFramePr>
        <p:xfrm>
          <a:off x="457200" y="3008376"/>
          <a:ext cx="6446520" cy="2340864"/>
        </p:xfrm>
        <a:graphic>
          <a:graphicData uri="http://schemas.openxmlformats.org/drawingml/2006/chart">
            <c:chart xmlns:c="http://schemas.openxmlformats.org/drawingml/2006/chart" r:id="rId3"/>
          </a:graphicData>
        </a:graphic>
      </p:graphicFrame>
      <p:sp>
        <p:nvSpPr>
          <p:cNvPr id="32" name="TextBox 31"/>
          <p:cNvSpPr txBox="1"/>
          <p:nvPr/>
        </p:nvSpPr>
        <p:spPr>
          <a:xfrm>
            <a:off x="457200" y="5513832"/>
            <a:ext cx="644652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Working m³ = annual litres ÷ 365 ÷ 1,000 × inventory days</a:t>
            </a:r>
          </a:p>
        </p:txBody>
      </p:sp>
      <p:sp>
        <p:nvSpPr>
          <p:cNvPr id="33" name="TextBox 32"/>
          <p:cNvSpPr txBox="1"/>
          <p:nvPr/>
        </p:nvSpPr>
        <p:spPr>
          <a:xfrm>
            <a:off x="457200" y="5925312"/>
            <a:ext cx="6446520" cy="502920"/>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At 14 days: approximately 211 thousand m³ of working inventory.</a:t>
            </a:r>
          </a:p>
          <a:p>
            <a:pPr>
              <a:spcAft>
                <a:spcPts val="300"/>
              </a:spcAft>
              <a:defRPr sz="1150" b="0">
                <a:solidFill>
                  <a:srgbClr val="000000"/>
                </a:solidFill>
                <a:latin typeface="Lato"/>
              </a:defRPr>
            </a:pPr>
            <a:r>
              <a:t>New tanks depend on usable spare capacity, peaks, product segregation and dispatch limits.</a:t>
            </a:r>
          </a:p>
        </p:txBody>
      </p:sp>
      <p:sp>
        <p:nvSpPr>
          <p:cNvPr id="34" name="TextBox 3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5" name="TextBox 3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Inventory days set working stock</a:t>
            </a:r>
          </a:p>
        </p:txBody>
      </p:sp>
      <p:sp>
        <p:nvSpPr>
          <p:cNvPr id="36" name="TextBox 3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At the illustrative 5.5 bn litres/year, 14 days needs about 211 thousand m³. More inventory days require more stock.</a:t>
            </a:r>
          </a:p>
        </p:txBody>
      </p:sp>
      <p:sp>
        <p:nvSpPr>
          <p:cNvPr id="37" name="TextBox 3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Existing tanks may cover part</a:t>
            </a:r>
          </a:p>
        </p:txBody>
      </p:sp>
      <p:sp>
        <p:nvSpPr>
          <p:cNvPr id="38" name="TextBox 3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Usable spare tanks may absorb this inventory. Published gross capacity does not establish spare petrol/diesel space.</a:t>
            </a:r>
          </a:p>
        </p:txBody>
      </p:sp>
      <p:sp>
        <p:nvSpPr>
          <p:cNvPr id="39" name="TextBox 3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Sizing needs an operating case</a:t>
            </a:r>
          </a:p>
        </p:txBody>
      </p:sp>
      <p:sp>
        <p:nvSpPr>
          <p:cNvPr id="40" name="TextBox 3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peak receipts, product segregation, tank heels and dispatch limits. This is a sensitivity, not an investment recommendation.</a:t>
            </a:r>
          </a:p>
        </p:txBody>
      </p:sp>
      <p:cxnSp>
        <p:nvCxnSpPr>
          <p:cNvPr id="41" name="Connector 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43" name="TextBox 4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candidate flows and inventory policy. Manish and Henry: test usable spare tanks, peak flows and operating allowances before sizing new capacity.</a:t>
            </a:r>
          </a:p>
        </p:txBody>
      </p:sp>
      <p:sp>
        <p:nvSpPr>
          <p:cNvPr id="4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4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
        <p:nvSpPr>
          <p:cNvPr id="1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4BC08C63-3CA2-45A1-A4A8-A7CCE25657B2}"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#D9D9D9</a:t>
            </a:r>
          </a:p>
        </p:txBody>
      </p:sp>
      <p:sp>
        <p:nvSpPr>
          <p:cNvPr id="68" name="TextBox 67"/>
          <p:cNvSpPr txBox="1"/>
          <p:nvPr/>
        </p:nvSpPr>
        <p:spPr>
          <a:xfrm>
            <a:off x="457200" y="6309360"/>
            <a:ext cx="10652760" cy="210312"/>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Typeface: Lato. Sales colours show totals, not density or market share. Grey denotes unassessed demand.</a:t>
            </a:r>
          </a:p>
        </p:txBody>
      </p:sp>
      <p:sp>
        <p:nvSpPr>
          <p:cNvPr id="69" name="TextBox 68"/>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supplied Vopak template; pptx/brand_configs/vopak.py; provincial_demand_map.py.</a:t>
            </a:r>
          </a:p>
        </p:txBody>
      </p:sp>
      <p:sp>
        <p:nvSpPr>
          <p:cNvPr id="3" name="Slide Number Placeholder"/>
          <p:cNvSpPr>
            <a:spLocks noGrp="1"/>
          </p:cNvSpPr>
          <p:nvPr>
            <p:ph type="sldNum" sz="quarter" idx="12"/>
          </p:nvPr>
        </p:nvSpPr>
        <p:spPr/>
        <p:txBody>
          <a:bodyPr/>
          <a:lstStyle/>
          <a:p>
            <a:fld id="{58B1B58F-2EEF-4F71-A93F-94E6B356973B}" type="slidenum">
              <a:rPr lang="en-US"/>
              <a:t>‹#›</a:t>
            </a:fld>
          </a:p>
        </p:txBody>
      </p:sp>
      <p:sp>
        <p:nvSpPr>
          <p:cNvPr id="70"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