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84" r:id="rId39"/>
    <p:sldId id="270" r:id="rId25"/>
    <p:sldId id="275" r:id="rId30"/>
    <p:sldId id="285" r:id="rId40"/>
    <p:sldId id="286" r:id="rId41"/>
    <p:sldId id="287" r:id="rId42"/>
    <p:sldId id="258" r:id="rId5"/>
    <p:sldId id="271" r:id="rId26"/>
    <p:sldId id="266" r:id="rId21"/>
    <p:sldId id="259" r:id="rId16"/>
    <p:sldId id="272" r:id="rId27"/>
    <p:sldId id="265" r:id="rId20"/>
    <p:sldId id="273" r:id="rId28"/>
    <p:sldId id="274" r:id="rId29"/>
    <p:sldId id="282" r:id="rId37"/>
    <p:sldId id="288" r:id="rId43"/>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5.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8.xml"/><Relationship Id="rId17" Type="http://schemas.openxmlformats.org/officeDocument/2006/relationships/slide" Target="slides/slide5.xml"/><Relationship Id="rId18" Type="http://schemas.openxmlformats.org/officeDocument/2006/relationships/slide" Target="slides/slide30.xml"/><Relationship Id="rId19" Type="http://schemas.openxmlformats.org/officeDocument/2006/relationships/slide" Target="slides/slide7.xml"/><Relationship Id="rId20" Type="http://schemas.openxmlformats.org/officeDocument/2006/relationships/slide" Target="slides/slide20.xml"/><Relationship Id="rId21" Type="http://schemas.openxmlformats.org/officeDocument/2006/relationships/slide" Target="slides/slide17.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10.xml"/><Relationship Id="rId26" Type="http://schemas.openxmlformats.org/officeDocument/2006/relationships/slide" Target="slides/slide16.xml"/><Relationship Id="rId27"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11.xml"/><Relationship Id="rId31" Type="http://schemas.openxmlformats.org/officeDocument/2006/relationships/slide" Target="slides/slide31.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25.xml"/><Relationship Id="rId36" Type="http://schemas.openxmlformats.org/officeDocument/2006/relationships/slide" Target="slides/slide2.xml"/><Relationship Id="rId37" Type="http://schemas.openxmlformats.org/officeDocument/2006/relationships/slide" Target="slides/slide23.xml"/><Relationship Id="rId38" Type="http://schemas.openxmlformats.org/officeDocument/2006/relationships/slide" Target="slides/slide26.xml"/><Relationship Id="rId39" Type="http://schemas.openxmlformats.org/officeDocument/2006/relationships/slide" Target="slides/slide9.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"R7. Close the baseline and agree forecast inputs before integrating Manish’s handback",</a:t>
            </a:r>
          </a:p>
          <a:p>
            <a:r>
              <a:t>  "subtitle": "Manish’s focus | 7 October 2026 | proposed outputs and Nigel’s review decisions",</a:t>
            </a:r>
          </a:p>
          <a:p>
            <a:r>
              <a:t>  "rows": [</a:t>
            </a:r>
          </a:p>
          <a:p>
            <a:r>
              <a:t>    [</a:t>
            </a:r>
          </a:p>
          <a:p>
            <a:r>
              <a:t>      "1  National balance",</a:t>
            </a:r>
          </a:p>
          <a:p>
            <a:r>
              <a:t>      "Present the corrected petrol/diesel balance, source differences and missing production / stocks",</a:t>
            </a:r>
          </a:p>
          <a:p>
            <a:r>
              <a:t>      "Agree 2024 sales source; review corrected SARS trade"</a:t>
            </a:r>
          </a:p>
          <a:p>
            <a:r>
              <a:t>    ],</a:t>
            </a:r>
          </a:p>
          <a:p>
            <a:r>
              <a:t>    [</a:t>
            </a:r>
          </a:p>
          <a:p>
            <a:r>
              <a:t>      "2  Forecast levers",</a:t>
            </a:r>
          </a:p>
          <a:p>
            <a:r>
              <a:t>      "Complete diesel, jet and petrol tables: baseline and L/M/H inputs for 2030 / 2035, with units, rationale and sources",</a:t>
            </a:r>
          </a:p>
          <a:p>
            <a:r>
              <a:t>      "Challenge ranges; agree the reference case"</a:t>
            </a:r>
          </a:p>
          <a:p>
            <a:r>
              <a:t>    ],</a:t>
            </a:r>
          </a:p>
          <a:p>
            <a:r>
              <a:t>    [</a:t>
            </a:r>
          </a:p>
          <a:p>
            <a:r>
              <a:t>      "3  Sector baselines",</a:t>
            </a:r>
          </a:p>
          <a:p>
            <a:r>
              <a:t>      "Propose agriculture / industry starting values; identify overlaps and double counting",</a:t>
            </a:r>
          </a:p>
          <a:p>
            <a:r>
              <a:t>      "Agree starting values for the model"</a:t>
            </a:r>
          </a:p>
          <a:p>
            <a:r>
              <a:t>    ],</a:t>
            </a:r>
          </a:p>
          <a:p>
            <a:r>
              <a:t>    [</a:t>
            </a:r>
          </a:p>
          <a:p>
            <a:r>
              <a:t>      "4  Tank handling",</a:t>
            </a:r>
          </a:p>
          <a:p>
            <a:r>
              <a:t>      "Set site assumptions for usable fuel capacity, monthly turns and receipt / dispatch limits; label evidence and estimates",</a:t>
            </a:r>
          </a:p>
          <a:p>
            <a:r>
              <a:t>      "Agree provisional operating ranges"</a:t>
            </a:r>
          </a:p>
          <a:p>
            <a:r>
              <a:t>    ],</a:t>
            </a:r>
          </a:p>
          <a:p>
            <a:r>
              <a:t>    [</a:t>
            </a:r>
          </a:p>
          <a:p>
            <a:r>
              <a:t>      "5  Reviewable handback",</a:t>
            </a:r>
          </a:p>
          <a:p>
            <a:r>
              <a:t>      "Check pack figures against originals; refresh handback and list ready, proposed and unresolved items",</a:t>
            </a:r>
          </a:p>
          <a:p>
            <a:r>
              <a:t>      "Review corrections before integration into main"</a:t>
            </a:r>
          </a:p>
          <a:p>
            <a:r>
              <a:t>    ]</a:t>
            </a:r>
          </a:p>
          <a:p>
            <a:r>
              <a:t>  ],</a:t>
            </a:r>
          </a:p>
          <a:p>
            <a:r>
              <a:t>  "target": "End-of-day target: a reviewed baseline, three comparable fuel input tables and an owned decision log",</a:t>
            </a:r>
          </a:p>
          <a:p>
            <a:r>
              <a:t>  "status": "Latest balance and EV corrections are supplied on Manish’s branch; review and integration remain outstanding.",</a:t>
            </a:r>
          </a:p>
          <a:p>
            <a:r>
              <a:t>  "source": "Manish handback update, 7 Oct 2026 (ef1720a); Nigel’s agreed focus table. Targets proposed; no acceptance inferred.",</a:t>
            </a:r>
          </a:p>
          <a:p>
            <a:r>
              <a:t>  "handback": "https://github.com/Africa-International-Advisors/liquid_fuels_model/blob/manish-branch/workstreams/WS0_governance/workplan/manish_handback_2026-10-06.md"</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8.xml"/><Relationship Id="rId12" Type="http://schemas.openxmlformats.org/officeDocument/2006/relationships/slide" Target="slide20.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3.xml"/><Relationship Id="rId17" Type="http://schemas.openxmlformats.org/officeDocument/2006/relationships/slide" Target="slide22.xml"/><Relationship Id="rId18" Type="http://schemas.openxmlformats.org/officeDocument/2006/relationships/slide" Target="slide11.xml"/><Relationship Id="rId19" Type="http://schemas.openxmlformats.org/officeDocument/2006/relationships/slide" Target="slide23.xml"/><Relationship Id="rId20" Type="http://schemas.openxmlformats.org/officeDocument/2006/relationships/slide" Target="slide9.xml"/><Relationship Id="rId21" Type="http://schemas.openxmlformats.org/officeDocument/2006/relationships/slide" Target="slide12.xml"/><Relationship Id="rId22" Type="http://schemas.openxmlformats.org/officeDocument/2006/relationships/slide" Target="slide13.xml"/><Relationship Id="rId23" Type="http://schemas.openxmlformats.org/officeDocument/2006/relationships/slide" Target="slide14.xml"/><Relationship Id="rId24"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 Id="rId8" Type="http://schemas.openxmlformats.org/officeDocument/2006/relationships/chart" Target="../charts/chart14.xml"/><Relationship Id="rId9" Type="http://schemas.openxmlformats.org/officeDocument/2006/relationships/chart" Target="../charts/char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slide" Target="slide19.xml"/><Relationship Id="rId8" Type="http://schemas.openxmlformats.org/officeDocument/2006/relationships/slide" Target="slide8.xml"/><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9.xml"/><Relationship Id="rId15" Type="http://schemas.openxmlformats.org/officeDocument/2006/relationships/slide" Target="slide12.xml"/><Relationship Id="rId16" Type="http://schemas.openxmlformats.org/officeDocument/2006/relationships/slide" Target="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2.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8.xml"/><Relationship Id="rId13" Type="http://schemas.openxmlformats.org/officeDocument/2006/relationships/slide" Target="slide12.xml"/><Relationship Id="rId14" Type="http://schemas.openxmlformats.org/officeDocument/2006/relationships/slide" Target="slide9.xml"/><Relationship Id="rId15" Type="http://schemas.openxmlformats.org/officeDocument/2006/relationships/slide" Target="slide14.xml"/><Relationship Id="rId16" Type="http://schemas.openxmlformats.org/officeDocument/2006/relationships/slide" Target="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8.xml"/><Relationship Id="rId3" Type="http://schemas.openxmlformats.org/officeDocument/2006/relationships/slide" Target="slide20.xml"/><Relationship Id="rId4" Type="http://schemas.openxmlformats.org/officeDocument/2006/relationships/slide" Target="slide19.xml"/><Relationship Id="rId5" Type="http://schemas.openxmlformats.org/officeDocument/2006/relationships/slide" Target="slide17.xml"/><Relationship Id="rId6" Type="http://schemas.openxmlformats.org/officeDocument/2006/relationships/slide" Target="slide22.xml"/><Relationship Id="rId7" Type="http://schemas.openxmlformats.org/officeDocument/2006/relationships/slide" Target="slide21.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fld id="{FEC521F0-0E91-4AF0-85F5-1660F1E3D14F}"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Vopak’s 2026 Liquid Fuels Outlook: target accessible customers in an import-led market</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27–29; open items remain open.
Source: Partner SA storyboard; SARS / Stats SA / operator evidence, 6 Oct 2026. Remaining gaps labelled.</a:t>
            </a:r>
          </a:p>
        </p:txBody>
      </p:sp>
      <p:graphicFrame>
        <p:nvGraphicFramePr>
          <p:cNvPr id="46" name="Table 45"/>
          <p:cNvGraphicFramePr>
            <a:graphicFrameLocks noGrp="1"/>
          </p:cNvGraphicFramePr>
          <p:nvPr/>
        </p:nvGraphicFramePr>
        <p:xfrm>
          <a:off x="457200" y="1792224"/>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Diesel drives imports; sales reports conflict</a:t>
                      </a:r>
                    </a:p>
                    <a:p>
                      <a:pPr>
                        <a:spcAft>
                          <a:spcPts val="0"/>
                        </a:spcAft>
                        <a:defRPr sz="1050" b="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imports are material.</a:t>
                      </a:r>
                    </a:p>
                    <a:p>
                      <a:pPr>
                        <a:spcAft>
                          <a:spcPts val="0"/>
                        </a:spcAft>
                        <a:defRPr sz="1050" b="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sits around Vopak’s footprint</a:t>
                      </a:r>
                    </a:p>
                    <a:p>
                      <a:pPr>
                        <a:spcAft>
                          <a:spcPts val="0"/>
                        </a:spcAft>
                        <a:defRPr sz="1050" b="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concentrated demand.</a:t>
                      </a:r>
                    </a:p>
                    <a:p>
                      <a:pPr>
                        <a:spcAft>
                          <a:spcPts val="0"/>
                        </a:spcAft>
                        <a:defRPr sz="1050" b="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20" action="ppaction://hlinksldjump"/>
                        </a:rPr>
                        <a:t> / 9</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refining capacity fell.</a:t>
                      </a:r>
                    </a:p>
                    <a:p>
                      <a:pPr>
                        <a:spcAft>
                          <a:spcPts val="0"/>
                        </a:spcAft>
                        <a:defRPr sz="1050" b="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10</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Open: gateway competition.</a:t>
                      </a:r>
                    </a:p>
                    <a:p>
                      <a:pPr>
                        <a:spcAft>
                          <a:spcPts val="0"/>
                        </a:spcAft>
                        <a:defRPr sz="1050" b="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15</a:t>
                      </a:r>
                      <a:r>
                        <a:rPr sz="1050">
                          <a:solidFill>
                            <a:srgbClr val="0A2373"/>
                          </a:solidFill>
                          <a:latin typeface="Lato"/>
                          <a:hlinkClick r:id="rId10" action="ppaction://hlinksldjump"/>
                        </a:rPr>
                        <a:t> / 16</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Footprint → unique deliveries → opportunity → handling</a:t>
                      </a:r>
                    </a:p>
                    <a:p>
                      <a:pPr>
                        <a:defRPr sz="1050">
                          <a:solidFill>
                            <a:srgbClr val="000000"/>
                          </a:solidFill>
                          <a:latin typeface="Lato"/>
                        </a:defRPr>
                      </a:pPr>
                      <a:r>
                        <a:t>Anchor Durban/Lesedi, remove shared transfers, screen customers and test annual handling.</a:t>
                      </a: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Prioritise accessible customer flows.</a:t>
                      </a:r>
                    </a:p>
                    <a:p>
                      <a:pPr>
                        <a:defRPr sz="1050">
                          <a:solidFill>
                            <a:srgbClr val="000000"/>
                          </a:solidFill>
                          <a:latin typeface="Lato"/>
                        </a:defRPr>
                      </a:pPr>
                      <a:r>
                        <a:t>Verify usable fuel space, cost/service, rights and unique deliveries before claiming share.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1" action="ppaction://hlinksldjump"/>
                        </a:rPr>
                        <a:t> / 18</a:t>
                      </a:r>
                      <a:r>
                        <a:rPr sz="1050">
                          <a:solidFill>
                            <a:srgbClr val="0A2373"/>
                          </a:solidFill>
                          <a:latin typeface="Lato"/>
                          <a:hlinkClick r:id="rId13" action="ppaction://hlinksldjump"/>
                        </a:rPr>
                        <a:t> / 19</a:t>
                      </a:r>
                      <a:r>
                        <a:rPr sz="1050">
                          <a:solidFill>
                            <a:srgbClr val="0A2373"/>
                          </a:solidFill>
                          <a:latin typeface="Lato"/>
                          <a:hlinkClick r:id="rId12" action="ppaction://hlinksldjump"/>
                        </a:rPr>
                        <a:t> / 20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21</a:t>
                      </a:r>
                      <a:r>
                        <a:rPr sz="1050">
                          <a:solidFill>
                            <a:srgbClr val="0A2373"/>
                          </a:solidFill>
                          <a:latin typeface="Lato"/>
                          <a:hlinkClick r:id="rId17" action="ppaction://hlinksldjump"/>
                        </a:rPr>
                        <a:t> / 22</a:t>
                      </a:r>
                      <a:r>
                        <a:rPr sz="1050">
                          <a:solidFill>
                            <a:srgbClr val="0A2373"/>
                          </a:solidFill>
                          <a:latin typeface="Lato"/>
                          <a:hlinkClick r:id="rId19" action="ppaction://hlinksldjump"/>
                        </a:rPr>
                        <a:t> / 23</a:t>
                      </a:r>
                      <a:r>
                        <a:rPr sz="1050">
                          <a:solidFill>
                            <a:srgbClr val="0A2373"/>
                          </a:solidFill>
                          <a:latin typeface="Lato"/>
                          <a:hlinkClick r:id="rId24" action="ppaction://hlinksldjump"/>
                        </a:rPr>
                        <a:t> / 24</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0"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Use diesel-led imports as the trade baseline; reconcile 2024 sales before forecasting</a:t>
            </a:r>
          </a:p>
        </p:txBody>
      </p:sp>
      <p:sp>
        <p:nvSpPr>
          <p:cNvPr id="3" name="Slide Number Placeholder"/>
          <p:cNvSpPr>
            <a:spLocks noGrp="1"/>
          </p:cNvSpPr>
          <p:nvPr>
            <p:ph type="sldNum" sz="quarter" idx="12"/>
          </p:nvPr>
        </p:nvSpPr>
        <p:spPr/>
        <p:txBody>
          <a:bodyPr/>
          <a:lstStyle/>
          <a:p>
            <a:fld id="{3876619A-1D52-4115-85B4-EF3E3C2EEBED}"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329184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 2024, bn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3017520"/>
        </p:xfrm>
        <a:graphic>
          <a:graphicData uri="http://schemas.openxmlformats.org/drawingml/2006/chart">
            <c:chart xmlns:c="http://schemas.openxmlformats.org/drawingml/2006/chart" r:id="rId3"/>
          </a:graphicData>
        </a:graphic>
      </p:graphicFrame>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6089904"/>
            <a:ext cx="6446520" cy="237744"/>
          </a:xfrm>
          <a:prstGeom prst="rect">
            <a:avLst/>
          </a:prstGeom>
          <a:noFill/>
        </p:spPr>
        <p:txBody>
          <a:bodyPr wrap="square" lIns="22860" rIns="22860" tIns="0" bIns="0">
            <a:noAutofit/>
          </a:bodyPr>
          <a:lstStyle/>
          <a:p>
            <a:pPr>
              <a:spcAft>
                <a:spcPts val="300"/>
              </a:spcAft>
              <a:defRPr sz="1100" b="0">
                <a:solidFill>
                  <a:srgbClr val="404040"/>
                </a:solidFill>
                <a:latin typeface="Lato"/>
              </a:defRPr>
            </a:pPr>
            <a:r>
              <a:rPr sz="1100" b="0">
                <a:solidFill/>
                <a:latin typeface="Lato"/>
              </a:rPr>
              <a:t>Net imports: petrol 3.081, diesel 9.997; combined 13.078 bn litres.</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3" name="Trade custom legend swatch Sales proxy"/>
          <p:cNvSpPr/>
          <p:nvPr/>
        </p:nvSpPr>
        <p:spPr>
          <a:xfrm>
            <a:off x="3877056" y="1732788"/>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rade custom legend label Sales proxy"/>
          <p:cNvSpPr txBox="1"/>
          <p:nvPr/>
        </p:nvSpPr>
        <p:spPr>
          <a:xfrm>
            <a:off x="4041648" y="1664208"/>
            <a:ext cx="987552"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Sales proxy</a:t>
            </a:r>
          </a:p>
        </p:txBody>
      </p:sp>
      <p:sp>
        <p:nvSpPr>
          <p:cNvPr id="75" name="Trade custom legend swatch Imports"/>
          <p:cNvSpPr/>
          <p:nvPr/>
        </p:nvSpPr>
        <p:spPr>
          <a:xfrm>
            <a:off x="5148072" y="1732788"/>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rade custom legend label Imports"/>
          <p:cNvSpPr txBox="1"/>
          <p:nvPr/>
        </p:nvSpPr>
        <p:spPr>
          <a:xfrm>
            <a:off x="5312664"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Imports</a:t>
            </a:r>
          </a:p>
        </p:txBody>
      </p:sp>
      <p:sp>
        <p:nvSpPr>
          <p:cNvPr id="77" name="Trade custom legend swatch Exports"/>
          <p:cNvSpPr/>
          <p:nvPr/>
        </p:nvSpPr>
        <p:spPr>
          <a:xfrm>
            <a:off x="6080760" y="1732788"/>
            <a:ext cx="109728" cy="109728"/>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rade custom legend label Exports"/>
          <p:cNvSpPr txBox="1"/>
          <p:nvPr/>
        </p:nvSpPr>
        <p:spPr>
          <a:xfrm>
            <a:off x="6245352"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Exports</a:t>
            </a:r>
          </a:p>
        </p:txBody>
      </p:sp>
      <p:sp>
        <p:nvSpPr>
          <p:cNvPr id="79" name="TextBox 7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80" name="Connector 7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customs for the trade baseline</a:t>
            </a:r>
          </a:p>
        </p:txBody>
      </p:sp>
      <p:sp>
        <p:nvSpPr>
          <p:cNvPr id="82" name="TextBox 8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SARS records 10.793 bn litres of diesel imports and 0.796 of exports in 2024: net imports of 9.997 bn litres.</a:t>
            </a:r>
          </a:p>
        </p:txBody>
      </p:sp>
      <p:sp>
        <p:nvSpPr>
          <p:cNvPr id="83" name="TextBox 8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Reconcile the sales proxy</a:t>
            </a:r>
          </a:p>
        </p:txBody>
      </p:sp>
      <p:sp>
        <p:nvSpPr>
          <p:cNvPr id="84" name="TextBox 8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FIASA reports 20.763 bn litres of petrol/diesel sales. Editions conflict; this is an unverified consumption proxy.</a:t>
            </a:r>
          </a:p>
        </p:txBody>
      </p:sp>
      <p:sp>
        <p:nvSpPr>
          <p:cNvPr id="85" name="TextBox 8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Do not call the residual production</a:t>
            </a:r>
          </a:p>
        </p:txBody>
      </p:sp>
      <p:sp>
        <p:nvSpPr>
          <p:cNvPr id="86" name="TextBox 8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Sales less net imports leaves 7.685 bn litres. Production, stock changes and coverage must explain that residual.</a:t>
            </a:r>
          </a:p>
        </p:txBody>
      </p:sp>
      <p:cxnSp>
        <p:nvCxnSpPr>
          <p:cNvPr id="87" name="Connector 8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9" name="TextBox 8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match production, trade and stocks by product/year. Nigel: agree the sales source before forecasting.</a:t>
            </a:r>
          </a:p>
        </p:txBody>
      </p: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Target Gauteng and KZN first; three provinces account for 69% of reported fuel sales</a:t>
            </a:r>
          </a:p>
        </p:txBody>
      </p:sp>
      <p:sp>
        <p:nvSpPr>
          <p:cNvPr id="3" name="Slide Number Placeholder"/>
          <p:cNvSpPr>
            <a:spLocks noGrp="1"/>
          </p:cNvSpPr>
          <p:nvPr>
            <p:ph type="sldNum" sz="quarter" idx="12"/>
          </p:nvPr>
        </p:nvSpPr>
        <p:spPr/>
        <p:txBody>
          <a:bodyPr/>
          <a:lstStyle/>
          <a:p>
            <a:fld id="{F83ED214-6B24-43D1-9E0C-8AE19F54923B}"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Provincial totals, not density. Operator footprint on p17; handling on p20. Jet excluded.
Source: DMPR 2022 sales; geoBoundaries/OCHA/MDB 2020 provinces; operator inventory and evidence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99" name="TextBox 573"/>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00" name="Connector 574"/>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1" name="TextBox 575"/>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Concentrate the first customer tests</a:t>
            </a:r>
          </a:p>
        </p:txBody>
      </p:sp>
      <p:sp>
        <p:nvSpPr>
          <p:cNvPr id="602" name="TextBox 576"/>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KZN and Western Cape hold 68.6% of reported 2022 sales. Vopak sites sit in the top two provinces.</a:t>
            </a:r>
          </a:p>
        </p:txBody>
      </p:sp>
      <p:sp>
        <p:nvSpPr>
          <p:cNvPr id="603" name="TextBox 577"/>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consistent reporting regions</a:t>
            </a:r>
          </a:p>
        </p:txBody>
      </p:sp>
      <p:sp>
        <p:nvSpPr>
          <p:cNvPr id="604" name="TextBox 578"/>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Eastern: EC/KZN. Inland: GP/FS/LP/MP/NW. Western: WC. Other: NC. These groups align the demand and storage tests.</a:t>
            </a:r>
          </a:p>
        </p:txBody>
      </p:sp>
      <p:sp>
        <p:nvSpPr>
          <p:cNvPr id="605" name="TextBox 579"/>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access customer by customer</a:t>
            </a:r>
          </a:p>
        </p:txBody>
      </p:sp>
      <p:sp>
        <p:nvSpPr>
          <p:cNvPr id="606" name="TextBox 580"/>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Provincial sales locate the market; they do not prove terminal reach, customer rights or Vopak deliveries.</a:t>
            </a:r>
          </a:p>
        </p:txBody>
      </p:sp>
      <p:cxnSp>
        <p:nvCxnSpPr>
          <p:cNvPr id="607" name="Connector 581"/>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08" name="TextBox 582"/>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609" name="TextBox 583"/>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select Durban/Lesedi customer destinations. Manish: retain observed 2022 sales and label later estimates.</a:t>
            </a:r>
          </a:p>
        </p:txBody>
      </p:sp>
      <p:sp>
        <p:nvSpPr>
          <p:cNvPr id="6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Anchor demand cases in broadly steady pre-2023 sales; keep later estimates separate</a:t>
            </a:r>
          </a:p>
        </p:txBody>
      </p:sp>
      <p:sp>
        <p:nvSpPr>
          <p:cNvPr id="3" name="Slide Number Placeholder"/>
          <p:cNvSpPr>
            <a:spLocks noGrp="1"/>
          </p:cNvSpPr>
          <p:nvPr>
            <p:ph type="sldNum" sz="quarter" idx="12"/>
          </p:nvPr>
        </p:nvSpPr>
        <p:spPr/>
        <p:txBody>
          <a:bodyPr/>
          <a:lstStyle/>
          <a:p>
            <a:fld id="{202CEB7E-0534-4458-9261-33E09DCECDE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1" name="Connector 7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Start with the observed pattern</a:t>
            </a:r>
          </a:p>
        </p:txBody>
      </p:sp>
      <p:sp>
        <p:nvSpPr>
          <p:cNvPr id="73" name="TextBox 7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remains the largest province through 2013–2022. Volumes were broadly steady, with a clear pandemic dip.</a:t>
            </a:r>
          </a:p>
        </p:txBody>
      </p:sp>
      <p:sp>
        <p:nvSpPr>
          <p:cNvPr id="74" name="TextBox 7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2024 estimates separate</a:t>
            </a:r>
          </a:p>
        </p:txBody>
      </p:sp>
      <p:sp>
        <p:nvSpPr>
          <p:cNvPr id="75" name="TextBox 7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Petrol estimates hold 2022 shares: GP 3.47, KZN 1.47 and WC 1.41 bn litres. These are not observed provincial sales.</a:t>
            </a:r>
          </a:p>
        </p:txBody>
      </p:sp>
      <p:sp>
        <p:nvSpPr>
          <p:cNvPr id="76" name="TextBox 7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Resolve the remaining source choices</a:t>
            </a:r>
          </a:p>
        </p:txBody>
      </p:sp>
      <p:sp>
        <p:nvSpPr>
          <p:cNvPr id="77" name="TextBox 7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fixed the 2013 parser and traced 2015 to a revision. The 2014 conflict and incomplete 2018 coverage still need decisions.</a:t>
            </a:r>
          </a:p>
        </p:txBody>
      </p:sp>
      <p:cxnSp>
        <p:nvCxnSpPr>
          <p:cNvPr id="78" name="Connector 7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0" name="TextBox 7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close the source choices. Nigel: decide whether held-share petrol estimates support the outlook; test diesel separately.</a:t>
            </a:r>
          </a:p>
        </p:txBody>
      </p: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Reconcile national supply before assigning imports to provincial demand</a:t>
            </a:r>
          </a:p>
        </p:txBody>
      </p:sp>
      <p:sp>
        <p:nvSpPr>
          <p:cNvPr id="3" name="Slide Number Placeholder"/>
          <p:cNvSpPr>
            <a:spLocks noGrp="1"/>
          </p:cNvSpPr>
          <p:nvPr>
            <p:ph type="sldNum" sz="quarter" idx="12"/>
          </p:nvPr>
        </p:nvSpPr>
        <p:spPr/>
        <p:txBody>
          <a:bodyPr/>
          <a:lstStyle/>
          <a:p>
            <a:fld id="{E58EB0A2-E028-4CB4-AFAC-934032DB1556}"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60603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59689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2916935"/>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2907791"/>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22783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2186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5387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52958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38496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38404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16052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1513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4714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4622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7823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7731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0932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0840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
        <p:nvSpPr>
          <p:cNvPr id="10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Test passenger, freight and sector activity separately before forecasting fuel demand</a:t>
            </a:r>
          </a:p>
        </p:txBody>
      </p:sp>
      <p:sp>
        <p:nvSpPr>
          <p:cNvPr id="3" name="Slide Number Placeholder"/>
          <p:cNvSpPr>
            <a:spLocks noGrp="1"/>
          </p:cNvSpPr>
          <p:nvPr>
            <p:ph type="sldNum" sz="quarter" idx="12"/>
          </p:nvPr>
        </p:nvSpPr>
        <p:spPr/>
        <p:txBody>
          <a:bodyPr/>
          <a:lstStyle/>
          <a:p>
            <a:fld id="{A9E426D3-01D1-4D76-B705-54CF14ADED19}"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Test diesel power, vehicle mix and prices alongside industrial demand</a:t>
            </a:r>
          </a:p>
        </p:txBody>
      </p:sp>
      <p:sp>
        <p:nvSpPr>
          <p:cNvPr id="3" name="Slide Number Placeholder"/>
          <p:cNvSpPr>
            <a:spLocks noGrp="1"/>
          </p:cNvSpPr>
          <p:nvPr>
            <p:ph type="sldNum" sz="quarter" idx="12"/>
          </p:nvPr>
        </p:nvSpPr>
        <p:spPr/>
        <p:txBody>
          <a:bodyPr/>
          <a:lstStyle/>
          <a:p>
            <a:fld id="{D990C9CE-8639-41AD-B651-244E29681559}"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C4. Published refinery capacity has halved; keep restart upside conditional</a:t>
            </a:r>
          </a:p>
        </p:txBody>
      </p:sp>
      <p:sp>
        <p:nvSpPr>
          <p:cNvPr id="3" name="Slide Number Placeholder"/>
          <p:cNvSpPr>
            <a:spLocks noGrp="1"/>
          </p:cNvSpPr>
          <p:nvPr>
            <p:ph type="sldNum" sz="quarter" idx="12"/>
          </p:nvPr>
        </p:nvSpPr>
        <p:spPr/>
        <p:txBody>
          <a:bodyPr/>
          <a:lstStyle/>
          <a:p>
            <a:fld id="{C5B0358A-3194-4888-BF4F-A4DB787F9E9C}"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2697480"/>
          <a:ext cx="3108960" cy="2788920"/>
        </p:xfrm>
        <a:graphic>
          <a:graphicData uri="http://schemas.openxmlformats.org/drawingml/2006/chart">
            <c:chart xmlns:c="http://schemas.openxmlformats.org/drawingml/2006/chart" r:id="rId3"/>
          </a:graphicData>
        </a:graphic>
      </p:graphicFrame>
      <p:sp>
        <p:nvSpPr>
          <p:cNvPr id="32" name="TextBox 31"/>
          <p:cNvSpPr txBox="1"/>
          <p:nvPr/>
        </p:nvSpPr>
        <p:spPr>
          <a:xfrm>
            <a:off x="457200"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2697480"/>
          <a:ext cx="3108960" cy="2788920"/>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8" name="Connector 6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Plan around the smaller footprint</a:t>
            </a:r>
          </a:p>
        </p:txBody>
      </p:sp>
      <p:sp>
        <p:nvSpPr>
          <p:cNvPr id="70" name="TextBox 6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capacity falls from 718 to 358 thousand bbl/day between 2020 and 2022. A restart remains conditional.</a:t>
            </a:r>
          </a:p>
        </p:txBody>
      </p:sp>
      <p:sp>
        <p:nvSpPr>
          <p:cNvPr id="71" name="TextBox 7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output for the fuel balance</a:t>
            </a:r>
          </a:p>
        </p:txBody>
      </p:sp>
      <p:sp>
        <p:nvSpPr>
          <p:cNvPr id="72" name="TextBox 7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FY2024 output is 29.1 million barrels at Secunda and 17.8 for Sasol’s Natref share; both cover all products and fiscal years.</a:t>
            </a:r>
          </a:p>
        </p:txBody>
      </p:sp>
      <p:sp>
        <p:nvSpPr>
          <p:cNvPr id="73" name="TextBox 7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the restart as a separate case</a:t>
            </a:r>
          </a:p>
        </p:txBody>
      </p:sp>
      <p:sp>
        <p:nvSpPr>
          <p:cNvPr id="74" name="TextBox 7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yields, downtime and calendar years before estimating imports. Nameplate capacity does not establish petrol/diesel output.</a:t>
            </a:r>
          </a:p>
        </p:txBody>
      </p:sp>
      <p:cxnSp>
        <p:nvCxnSpPr>
          <p:cNvPr id="75" name="Connector 7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7" name="TextBox 7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build the product/year output bridge. Henry: review plant assumptions. Nigel: agree conditional restart timing.</a:t>
            </a:r>
          </a:p>
        </p:txBody>
      </p:sp>
      <p:sp>
        <p:nvSpPr>
          <p:cNvPr id="7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 C4. Agree low, base and high levers before using the outlook for decisions</a:t>
            </a:r>
          </a:p>
        </p:txBody>
      </p:sp>
      <p:sp>
        <p:nvSpPr>
          <p:cNvPr id="3" name="Slide Number Placeholder"/>
          <p:cNvSpPr>
            <a:spLocks noGrp="1"/>
          </p:cNvSpPr>
          <p:nvPr>
            <p:ph type="sldNum" sz="quarter" idx="12"/>
          </p:nvPr>
        </p:nvSpPr>
        <p:spPr/>
        <p:txBody>
          <a:bodyPr/>
          <a:lstStyle/>
          <a:p>
            <a:fld id="{6E8091B0-FC6B-45C8-A52C-1ABE13472D1E}"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Test freight, rail and power before setting diesel import requirements</a:t>
            </a:r>
          </a:p>
        </p:txBody>
      </p:sp>
      <p:sp>
        <p:nvSpPr>
          <p:cNvPr id="3" name="Slide Number Placeholder"/>
          <p:cNvSpPr>
            <a:spLocks noGrp="1"/>
          </p:cNvSpPr>
          <p:nvPr>
            <p:ph type="sldNum" sz="quarter" idx="12"/>
          </p:nvPr>
        </p:nvSpPr>
        <p:spPr/>
        <p:txBody>
          <a:bodyPr/>
          <a:lstStyle/>
          <a:p>
            <a:fld id="{F0A6033D-B984-4F1F-81CA-FCB403EEB81C}"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Build jet demand from aircraft movements and fuel burn before estimating imports</a:t>
            </a:r>
          </a:p>
        </p:txBody>
      </p:sp>
      <p:sp>
        <p:nvSpPr>
          <p:cNvPr id="3" name="Slide Number Placeholder"/>
          <p:cNvSpPr>
            <a:spLocks noGrp="1"/>
          </p:cNvSpPr>
          <p:nvPr>
            <p:ph type="sldNum" sz="quarter" idx="12"/>
          </p:nvPr>
        </p:nvSpPr>
        <p:spPr/>
        <p:txBody>
          <a:bodyPr/>
          <a:lstStyle/>
          <a:p>
            <a:fld id="{59C65515-84DB-4871-B081-C686CD77EE9B}"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Test travel, fleet growth and electrification before setting petrol import requirements</a:t>
            </a:r>
          </a:p>
        </p:txBody>
      </p:sp>
      <p:sp>
        <p:nvSpPr>
          <p:cNvPr id="3" name="Slide Number Placeholder"/>
          <p:cNvSpPr>
            <a:spLocks noGrp="1"/>
          </p:cNvSpPr>
          <p:nvPr>
            <p:ph type="sldNum" sz="quarter" idx="12"/>
          </p:nvPr>
        </p:nvSpPr>
        <p:spPr/>
        <p:txBody>
          <a:bodyPr/>
          <a:lstStyle/>
          <a:p>
            <a:fld id="{06703470-9CE6-4E75-B5DE-C6C7506508FF}"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Test delivered cost and service before treating road reach as customer access</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39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9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9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399" name="TextBox 339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3400" name="Connector 339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401" name="TextBox 340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road cost as the first screen</a:t>
            </a:r>
          </a:p>
        </p:txBody>
      </p:sp>
      <p:sp>
        <p:nvSpPr>
          <p:cNvPr id="3402" name="TextBox 340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Darker cells show lower illustrative road cost from Durban or Lesedi. Fuel price, storage and pipeline tariffs are excluded.</a:t>
            </a:r>
          </a:p>
        </p:txBody>
      </p:sp>
      <p:sp>
        <p:nvSpPr>
          <p:cNvPr id="3403" name="TextBox 340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grey areas unassessed</a:t>
            </a:r>
          </a:p>
        </p:txBody>
      </p:sp>
      <p:sp>
        <p:nvSpPr>
          <p:cNvPr id="3404" name="TextBox 340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Grey marks no assessed connection under the schematic rule. It does not establish that a customer is unreachable.</a:t>
            </a:r>
          </a:p>
        </p:txBody>
      </p:sp>
      <p:sp>
        <p:nvSpPr>
          <p:cNvPr id="3405" name="TextBox 340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Prove the full service proposition</a:t>
            </a:r>
          </a:p>
        </p:txBody>
      </p:sp>
      <p:sp>
        <p:nvSpPr>
          <p:cNvPr id="3406" name="TextBox 340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Pipeline/rail lines are context. Route capacity, product compatibility, receipt/dispatch and customer rights still need evidence.</a:t>
            </a:r>
          </a:p>
        </p:txBody>
      </p:sp>
      <p:cxnSp>
        <p:nvCxnSpPr>
          <p:cNvPr id="3407" name="Connector 340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408" name="TextBox 340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3409" name="TextBox 340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choose a destination and cost/service threshold. Manish: replace example rates with dated route quotes and access evidence.</a:t>
            </a:r>
          </a:p>
        </p:txBody>
      </p:sp>
      <p:sp>
        <p:nvSpPr>
          <p:cNvPr id="34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Compare Durban, Matola and Walvis Bay on cost and service for the same customer</a:t>
            </a:r>
          </a:p>
        </p:txBody>
      </p:sp>
      <p:sp>
        <p:nvSpPr>
          <p:cNvPr id="3" name="Slide Number Placeholder"/>
          <p:cNvSpPr>
            <a:spLocks noGrp="1"/>
          </p:cNvSpPr>
          <p:nvPr>
            <p:ph type="sldNum" sz="quarter" idx="12"/>
          </p:nvPr>
        </p:nvSpPr>
        <p:spPr/>
        <p:txBody>
          <a:bodyPr/>
          <a:lstStyle/>
          <a:p>
            <a:fld id="{5AC9793E-1B87-488B-9852-9E446CE2A0D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51" name="TextBox 13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52" name="Connector 13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53" name="TextBox 13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Keep Durban in the inland comparison</a:t>
            </a:r>
          </a:p>
        </p:txBody>
      </p:sp>
      <p:sp>
        <p:nvSpPr>
          <p:cNvPr id="154" name="TextBox 13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Durban and Lesedi form Vopak’s SA footprint. Compare their full delivered service with alternatives for the same customer.</a:t>
            </a:r>
          </a:p>
        </p:txBody>
      </p:sp>
      <p:sp>
        <p:nvSpPr>
          <p:cNvPr id="155" name="TextBox 14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Test the eastern alternative</a:t>
            </a:r>
          </a:p>
        </p:txBody>
      </p:sp>
      <p:sp>
        <p:nvSpPr>
          <p:cNvPr id="156" name="TextBox 14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Matola’s GIMTL lists 60,000 m³ of petrol/diesel tanks. Test availability, N4 route cost and customer access.</a:t>
            </a:r>
          </a:p>
        </p:txBody>
      </p:sp>
      <p:sp>
        <p:nvSpPr>
          <p:cNvPr id="157" name="TextBox 14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Test the western alternative</a:t>
            </a:r>
          </a:p>
        </p:txBody>
      </p:sp>
      <p:sp>
        <p:nvSpPr>
          <p:cNvPr id="158" name="TextBox 14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Walvis Bay’s NOSF lists 65,000 m³ of petrol/diesel capacity. Test the Trans-Kalahari route on the same cost/service basis.</a:t>
            </a:r>
          </a:p>
        </p:txBody>
      </p:sp>
      <p:cxnSp>
        <p:nvCxnSpPr>
          <p:cNvPr id="159" name="Connector 14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60" name="TextBox 14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61" name="TextBox 14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compare one product and destination across all three gateways. Nigel: agree the service standard and commercial access test.</a:t>
            </a:r>
          </a:p>
        </p:txBody>
      </p:sp>
      <p:sp>
        <p:nvSpPr>
          <p:cNvPr id="16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Prioritise Durban and Lesedi; verify usable capacity before sizing growth</a:t>
            </a:r>
          </a:p>
        </p:txBody>
      </p:sp>
      <p:sp>
        <p:nvSpPr>
          <p:cNvPr id="3" name="Slide Number Placeholder"/>
          <p:cNvSpPr>
            <a:spLocks noGrp="1"/>
          </p:cNvSpPr>
          <p:nvPr>
            <p:ph type="sldNum" sz="quarter" idx="12"/>
          </p:nvPr>
        </p:nvSpPr>
        <p:spPr/>
        <p:txBody>
          <a:bodyPr/>
          <a:lstStyle/>
          <a:p>
            <a:fld id="{99B6864E-7F53-46DE-ABC9-74126E18FB67}"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194560"/>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1" name="TextBox 13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2" name="Connector 1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
        <p:nvSpPr>
          <p:cNvPr id="14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Remove Durban–Lesedi transfers to count customer deliveries once</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19.</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Receipts of 2.8 plus 2.0, less the shared 1.8 transfer, leave 3.0 bn litres of unique deliveries. Actual throughput is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19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
        <p:nvSpPr>
          <p:cNvPr id="2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Test the illustrative 5.5 bn litre opportunity against reach, price, service and access</a:t>
            </a:r>
          </a:p>
        </p:txBody>
      </p:sp>
      <p:sp>
        <p:nvSpPr>
          <p:cNvPr id="3" name="Slide Number Placeholder"/>
          <p:cNvSpPr>
            <a:spLocks noGrp="1"/>
          </p:cNvSpPr>
          <p:nvPr>
            <p:ph type="sldNum" sz="quarter" idx="12"/>
          </p:nvPr>
        </p:nvSpPr>
        <p:spPr/>
        <p:txBody>
          <a:bodyPr/>
          <a:lstStyle/>
          <a:p>
            <a:fld id="{175E4115-E0DB-4254-B6DC-5BF4D8718EF8}"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Verify turnover before translating tankage into annual handling</a:t>
            </a:r>
          </a:p>
        </p:txBody>
      </p:sp>
      <p:sp>
        <p:nvSpPr>
          <p:cNvPr id="3" name="Slide Number Placeholder"/>
          <p:cNvSpPr>
            <a:spLocks noGrp="1"/>
          </p:cNvSpPr>
          <p:nvPr>
            <p:ph type="sldNum" sz="quarter" idx="12"/>
          </p:nvPr>
        </p:nvSpPr>
        <p:spPr/>
        <p:txBody>
          <a:bodyPr/>
          <a:lstStyle/>
          <a:p>
            <a:fld id="{90343E7D-65FB-48FB-A01A-6423CB64694F}"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194560"/>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55117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0" name="Connector 12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
        <p:nvSpPr>
          <p:cNvPr id="14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Test spare space: the 5.5 bn litre example needs 211,000 m³ at 14 days</a:t>
            </a:r>
          </a:p>
        </p:txBody>
      </p:sp>
      <p:sp>
        <p:nvSpPr>
          <p:cNvPr id="3" name="Slide Number Placeholder"/>
          <p:cNvSpPr>
            <a:spLocks noGrp="1"/>
          </p:cNvSpPr>
          <p:nvPr>
            <p:ph type="sldNum" sz="quarter" idx="12"/>
          </p:nvPr>
        </p:nvSpPr>
        <p:spPr/>
        <p:txBody>
          <a:bodyPr/>
          <a:lstStyle/>
          <a:p>
            <a:fld id="{ED238A84-4C48-41F4-824B-739DF01680BC}"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Win Durban and Lesedi customer flows before adding storage</a:t>
            </a:r>
          </a:p>
        </p:txBody>
      </p:sp>
      <p:sp>
        <p:nvSpPr>
          <p:cNvPr id="3" name="Slide Number Placeholder"/>
          <p:cNvSpPr>
            <a:spLocks noGrp="1"/>
          </p:cNvSpPr>
          <p:nvPr>
            <p:ph type="sldNum" sz="quarter" idx="12"/>
          </p:nvPr>
        </p:nvSpPr>
        <p:spPr/>
        <p:txBody>
          <a:bodyPr/>
          <a:lstStyle/>
          <a:p>
            <a:fld id="{E201E36E-4DFB-47FE-96C4-7085261AFBF3}"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11–19.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13" name="Connector 12"/>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15"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18" name="Connector 17"/>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0"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23" name="Table 22"/>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24" name="TextBox 23"/>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25" name="TextBox 24"/>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26" name="TextBox 25"/>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27" name="TextBox 26"/>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Close evidence gaps through six-week gates and four proposed client checkpoints</a:t>
            </a:r>
          </a:p>
        </p:txBody>
      </p:sp>
      <p:sp>
        <p:nvSpPr>
          <p:cNvPr id="3" name="Slide Number Placeholder"/>
          <p:cNvSpPr>
            <a:spLocks noGrp="1"/>
          </p:cNvSpPr>
          <p:nvPr>
            <p:ph type="sldNum" sz="quarter" idx="12"/>
          </p:nvPr>
        </p:nvSpPr>
        <p:spPr/>
        <p:txBody>
          <a:bodyPr/>
          <a:lstStyle/>
          <a:p>
            <a:fld id="{8EC6DB60-73A3-41DA-80D1-9B618C80D244}"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latin typeface="Lato"/>
              </a:defRPr>
            </a:pPr>
            <a:r>
              <a:rPr>
                <a:latin typeface="Lato"/>
              </a:rPr>
              <a:t>R7. Close the baseline and agree forecast inputs before integrating Manish’s handback</a:t>
            </a:r>
          </a:p>
        </p:txBody>
      </p:sp>
      <p:sp>
        <p:nvSpPr>
          <p:cNvPr id="3" name="Slide Number Placeholder"/>
          <p:cNvSpPr>
            <a:spLocks noGrp="1"/>
          </p:cNvSpPr>
          <p:nvPr>
            <p:ph type="sldNum" sz="quarter" idx="12"/>
          </p:nvPr>
        </p:nvSpPr>
        <p:spPr/>
        <p:txBody>
          <a:bodyPr/>
          <a:lstStyle/>
          <a:p>
            <a:fld id="{8362C7AC-3C1A-4ECF-A6F5-69E0EE250738}" type="slidenum">
              <a:rPr lang="en-US"/>
              <a:t>‹#›</a:t>
            </a:fld>
          </a:p>
        </p:txBody>
      </p:sp>
      <p:sp>
        <p:nvSpPr>
          <p:cNvPr id="19"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TextBox 22"/>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Manish’s focus | 7 October 2026 | proposed outputs and Nigel’s review decisions</a:t>
            </a:r>
          </a:p>
        </p:txBody>
      </p:sp>
      <p:graphicFrame>
        <p:nvGraphicFramePr>
          <p:cNvPr id="24" name="Table 23"/>
          <p:cNvGraphicFramePr>
            <a:graphicFrameLocks noGrp="1"/>
          </p:cNvGraphicFramePr>
          <p:nvPr/>
        </p:nvGraphicFramePr>
        <p:xfrm>
          <a:off x="457200" y="2148840"/>
          <a:ext cx="10652759" cy="3410712"/>
        </p:xfrm>
        <a:graphic>
          <a:graphicData uri="http://schemas.openxmlformats.org/drawingml/2006/table">
            <a:tbl>
              <a:tblPr firstRow="1" bandRow="1">
                <a:tableStyleId>{2D5ABB26-0587-4C30-8999-92F81FD0307C}</a:tableStyleId>
              </a:tblPr>
              <a:tblGrid>
                <a:gridCol w="1874519"/>
                <a:gridCol w="5120640"/>
                <a:gridCol w="3657600"/>
              </a:tblGrid>
              <a:tr h="438912">
                <a:tc>
                  <a:txBody>
                    <a:bodyPr/>
                    <a:lstStyle/>
                    <a:p>
                      <a:pPr>
                        <a:spcAft>
                          <a:spcPts val="0"/>
                        </a:spcAft>
                        <a:defRPr sz="1200" b="1">
                          <a:solidFill>
                            <a:srgbClr val="000000"/>
                          </a:solidFill>
                          <a:latin typeface="Lato"/>
                        </a:defRPr>
                      </a:pPr>
                      <a:r>
                        <a:t>Priority / focus</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Manish: output today</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Nigel: decision / review</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1  National balance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Present the corrected petrol/diesel balance, source differences and missing production / stocks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2024 sales source; review corrected SARS trade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2  Forecast levers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Complete diesel, jet and petrol tables: baseline and L/M/H inputs for 2030 / 2035, with units, rationale and sources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Challenge ranges; agree the reference case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3  Sector baselines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Propose agriculture / industry starting values; identify overlaps and double counting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starting values for the model</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4  Tank handling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Set site assumptions for usable fuel capacity, monthly turns and receipt / dispatch limits; label evidence and estimates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provisional operating ranges</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5  Reviewable handback</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Check pack figures against originals; refresh handback and list ready, proposed and unresolved items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Review corrections before integration into main</a:t>
                      </a:r>
                    </a:p>
                  </a:txBody>
                  <a:tcPr marL="36576" marR="27432" marT="45720" marB="0">
                    <a:lnB w="6350" cap="flat">
                      <a:solidFill>
                        <a:srgbClr val="EEEEEE"/>
                      </a:solidFill>
                    </a:lnB>
                    <a:solidFill>
                      <a:srgbClr val="FFFFFF"/>
                    </a:solidFill>
                  </a:tcPr>
                </a:tc>
              </a:tr>
            </a:tbl>
          </a:graphicData>
        </a:graphic>
      </p:graphicFrame>
      <p:sp>
        <p:nvSpPr>
          <p:cNvPr id="25" name="TextBox 24"/>
          <p:cNvSpPr txBox="1"/>
          <p:nvPr/>
        </p:nvSpPr>
        <p:spPr>
          <a:xfrm>
            <a:off x="457200" y="5733288"/>
            <a:ext cx="10652760" cy="393192"/>
          </a:xfrm>
          <a:prstGeom prst="rect">
            <a:avLst/>
          </a:prstGeom>
          <a:noFill/>
        </p:spPr>
        <p:txBody>
          <a:bodyPr wrap="square" lIns="0" rIns="0" tIns="0" bIns="0">
            <a:spAutoFit/>
          </a:bodyPr>
          <a:lstStyle/>
          <a:p>
            <a:pPr>
              <a:spcAft>
                <a:spcPts val="300"/>
              </a:spcAft>
              <a:defRPr sz="1300" b="1">
                <a:solidFill>
                  <a:srgbClr val="404040"/>
                </a:solidFill>
                <a:latin typeface="Lato"/>
              </a:defRPr>
            </a:pPr>
            <a:r>
              <a:t>End-of-day target: a reviewed baseline, three comparable fuel input tables and an owned decision log</a:t>
            </a:r>
          </a:p>
        </p:txBody>
      </p:sp>
      <p:sp>
        <p:nvSpPr>
          <p:cNvPr id="26" name="TextBox 25"/>
          <p:cNvSpPr txBox="1"/>
          <p:nvPr/>
        </p:nvSpPr>
        <p:spPr>
          <a:xfrm>
            <a:off x="457200" y="6217920"/>
            <a:ext cx="1065276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Latest balance and EV corrections are supplied on Manish’s branch; review and integration remain outstanding.</a:t>
            </a:r>
          </a:p>
        </p:txBody>
      </p:sp>
      <p:sp>
        <p:nvSpPr>
          <p:cNvPr id="2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Manish handback update, 7 Oct 2026 (ef1720a); Nigel’s agreed focus table. Targets proposed; no acceptance inferred.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256617F7-F170-4E48-A97D-D47933A9F9B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1C013319-9E60-45A7-95C2-51EA16D0CE6B}"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15</a:t>
                      </a:r>
                      <a:r>
                        <a:rPr sz="1050">
                          <a:solidFill>
                            <a:srgbClr val="0A2373"/>
                          </a:solidFill>
                          <a:latin typeface="Lato"/>
                          <a:hlinkClick r:id="rId6" action="ppaction://hlinksldjump"/>
                        </a:rPr>
                        <a:t> / 18</a:t>
                      </a:r>
                      <a:r>
                        <a:rPr sz="1050">
                          <a:solidFill>
                            <a:srgbClr val="0A2373"/>
                          </a:solidFill>
                          <a:latin typeface="Lato"/>
                          <a:hlinkClick r:id="rId7"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13" action="ppaction://hlinksldjump"/>
                        </a:rPr>
                        <a:t> / 12</a:t>
                      </a:r>
                      <a:r>
                        <a:rPr sz="1050">
                          <a:solidFill>
                            <a:srgbClr val="0A2373"/>
                          </a:solidFill>
                          <a:latin typeface="Lato"/>
                          <a:hlinkClick r:id="rId16" action="ppaction://hlinksldjump"/>
                        </a:rPr>
                        <a:t> / 13</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16</a:t>
                      </a:r>
                      <a:r>
                        <a:rPr sz="1050">
                          <a:solidFill>
                            <a:srgbClr val="0A2373"/>
                          </a:solidFill>
                          <a:latin typeface="Lato"/>
                          <a:hlinkClick r:id="rId7" action="ppaction://hlinksldjump"/>
                        </a:rPr>
                        <a:t> / 19</a:t>
                      </a:r>
                      <a:r>
                        <a:rPr sz="1050">
                          <a:solidFill>
                            <a:srgbClr val="0A2373"/>
                          </a:solidFill>
                          <a:latin typeface="Lato"/>
                          <a:hlinkClick r:id="rId8" action="ppaction://hlinksldjump"/>
                        </a:rPr>
                        <a:t> / 22</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18</a:t>
                      </a:r>
                      <a:r>
                        <a:rPr sz="1050">
                          <a:solidFill>
                            <a:srgbClr val="0A2373"/>
                          </a:solidFill>
                          <a:latin typeface="Lato"/>
                          <a:hlinkClick r:id="rId3" action="ppaction://hlinksldjump"/>
                        </a:rPr>
                        <a:t> / 20</a:t>
                      </a:r>
                      <a:r>
                        <a:rPr sz="1050">
                          <a:solidFill>
                            <a:srgbClr val="0A2373"/>
                          </a:solidFill>
                          <a:latin typeface="Lato"/>
                          <a:hlinkClick r:id="rId4" action="ppaction://hlinksldjump"/>
                        </a:rPr>
                        <a:t> / 19</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17</a:t>
                      </a:r>
                      <a:r>
                        <a:rPr sz="1050">
                          <a:solidFill>
                            <a:srgbClr val="0A2373"/>
                          </a:solidFill>
                          <a:latin typeface="Lato"/>
                          <a:hlinkClick r:id="rId6" action="ppaction://hlinksldjump"/>
                        </a:rPr>
                        <a:t> / 22</a:t>
                      </a:r>
                      <a:r>
                        <a:rPr sz="1050">
                          <a:solidFill>
                            <a:srgbClr val="0A2373"/>
                          </a:solidFill>
                          <a:latin typeface="Lato"/>
                          <a:hlinkClick r:id="rId7" action="ppaction://hlinksldjump"/>
                        </a:rPr>
                        <a:t> / 21</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BA6D44DB-252B-4DEF-A6A6-A83296AA1E7B}"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3876619A-1D52-4115-85B4-EF3E3C2EEBED}" type="slidenum">
              <a:rPr lang="en-US"/>
              <a:t>‹#›</a:t>
            </a:fld>
          </a:p>
        </p:txBody>
      </p: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