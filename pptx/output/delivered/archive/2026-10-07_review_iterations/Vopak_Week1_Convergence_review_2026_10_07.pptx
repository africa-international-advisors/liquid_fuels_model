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84" r:id="rId39"/>
    <p:sldId id="270" r:id="rId25"/>
    <p:sldId id="275" r:id="rId30"/>
    <p:sldId id="285" r:id="rId40"/>
    <p:sldId id="286" r:id="rId41"/>
    <p:sldId id="287" r:id="rId42"/>
    <p:sldId id="258" r:id="rId5"/>
    <p:sldId id="271" r:id="rId26"/>
    <p:sldId id="266" r:id="rId21"/>
    <p:sldId id="265" r:id="rId20"/>
    <p:sldId id="274" r:id="rId29"/>
    <p:sldId id="282" r:id="rId37"/>
    <p:sldId id="288" r:id="rId43"/>
    <p:sldId id="280" r:id="rId35"/>
    <p:sldId id="259" r:id="rId16"/>
    <p:sldId id="272" r:id="rId27"/>
    <p:sldId id="273" r:id="rId28"/>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5.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8.xml"/><Relationship Id="rId17" Type="http://schemas.openxmlformats.org/officeDocument/2006/relationships/slide" Target="slides/slide5.xml"/><Relationship Id="rId18" Type="http://schemas.openxmlformats.org/officeDocument/2006/relationships/slide" Target="slides/slide30.xml"/><Relationship Id="rId19" Type="http://schemas.openxmlformats.org/officeDocument/2006/relationships/slide" Target="slides/slide7.xml"/><Relationship Id="rId20" Type="http://schemas.openxmlformats.org/officeDocument/2006/relationships/slide" Target="slides/slide20.xml"/><Relationship Id="rId21" Type="http://schemas.openxmlformats.org/officeDocument/2006/relationships/slide" Target="slides/slide17.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10.xml"/><Relationship Id="rId26" Type="http://schemas.openxmlformats.org/officeDocument/2006/relationships/slide" Target="slides/slide16.xml"/><Relationship Id="rId27"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11.xml"/><Relationship Id="rId31" Type="http://schemas.openxmlformats.org/officeDocument/2006/relationships/slide" Target="slides/slide31.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25.xml"/><Relationship Id="rId36" Type="http://schemas.openxmlformats.org/officeDocument/2006/relationships/slide" Target="slides/slide2.xml"/><Relationship Id="rId37" Type="http://schemas.openxmlformats.org/officeDocument/2006/relationships/slide" Target="slides/slide23.xml"/><Relationship Id="rId38" Type="http://schemas.openxmlformats.org/officeDocument/2006/relationships/slide" Target="slides/slide26.xml"/><Relationship Id="rId39" Type="http://schemas.openxmlformats.org/officeDocument/2006/relationships/slide" Target="slides/slide9.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 Id="rId43"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former 20.763 bn litre figure sums selected 2024 reported petrol and diesel sales. It is not a model demand result. The recorded workbook has 16.433 bn litres of road petrol/diesel demand and 23.984 bn litres when the additional modelled diesel sectors are included. The broader diesel scope includes marine and remains unreconciled. Neither total is presented as a verified replacement market size.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Published capacity establishes a footprint, not recent growth or diversion from Durban. The existing evidence does not establish a winning gateway. User confirmed this is original page 16, not page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linked workbook is under review. Source choices, sector baselines, national/provincial logic and H/M/L definitions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"R7. Close the baseline and agree forecast inputs before integrating Manish’s handback",</a:t>
            </a:r>
          </a:p>
          <a:p>
            <a:r>
              <a:t>  "subtitle": "Manish’s focus | 7 October 2026 | proposed outputs and Nigel’s review decisions",</a:t>
            </a:r>
          </a:p>
          <a:p>
            <a:r>
              <a:t>  "rows": [</a:t>
            </a:r>
          </a:p>
          <a:p>
            <a:r>
              <a:t>    [</a:t>
            </a:r>
          </a:p>
          <a:p>
            <a:r>
              <a:t>      "1  National balance",</a:t>
            </a:r>
          </a:p>
          <a:p>
            <a:r>
              <a:t>      "Present the corrected petrol/diesel balance, source differences and missing production / stocks",</a:t>
            </a:r>
          </a:p>
          <a:p>
            <a:r>
              <a:t>      "Agree 2024 sales source; review corrected SARS trade"</a:t>
            </a:r>
          </a:p>
          <a:p>
            <a:r>
              <a:t>    ],</a:t>
            </a:r>
          </a:p>
          <a:p>
            <a:r>
              <a:t>    [</a:t>
            </a:r>
          </a:p>
          <a:p>
            <a:r>
              <a:t>      "2  Forecast levers",</a:t>
            </a:r>
          </a:p>
          <a:p>
            <a:r>
              <a:t>      "Complete diesel, jet and petrol tables: baseline and L/M/H inputs for 2030 / 2035, with units, rationale and sources",</a:t>
            </a:r>
          </a:p>
          <a:p>
            <a:r>
              <a:t>      "Challenge ranges; agree the reference case"</a:t>
            </a:r>
          </a:p>
          <a:p>
            <a:r>
              <a:t>    ],</a:t>
            </a:r>
          </a:p>
          <a:p>
            <a:r>
              <a:t>    [</a:t>
            </a:r>
          </a:p>
          <a:p>
            <a:r>
              <a:t>      "3  Sector baselines",</a:t>
            </a:r>
          </a:p>
          <a:p>
            <a:r>
              <a:t>      "Propose agriculture / industry starting values; identify overlaps and double counting",</a:t>
            </a:r>
          </a:p>
          <a:p>
            <a:r>
              <a:t>      "Agree starting values for the model"</a:t>
            </a:r>
          </a:p>
          <a:p>
            <a:r>
              <a:t>    ],</a:t>
            </a:r>
          </a:p>
          <a:p>
            <a:r>
              <a:t>    [</a:t>
            </a:r>
          </a:p>
          <a:p>
            <a:r>
              <a:t>      "4  Tank handling",</a:t>
            </a:r>
          </a:p>
          <a:p>
            <a:r>
              <a:t>      "Set site assumptions for usable fuel capacity, monthly turns and receipt / dispatch limits; label evidence and estimates",</a:t>
            </a:r>
          </a:p>
          <a:p>
            <a:r>
              <a:t>      "Agree provisional operating ranges"</a:t>
            </a:r>
          </a:p>
          <a:p>
            <a:r>
              <a:t>    ],</a:t>
            </a:r>
          </a:p>
          <a:p>
            <a:r>
              <a:t>    [</a:t>
            </a:r>
          </a:p>
          <a:p>
            <a:r>
              <a:t>      "5  Reviewable handback",</a:t>
            </a:r>
          </a:p>
          <a:p>
            <a:r>
              <a:t>      "Check pack figures against originals; refresh handback and list ready, proposed and unresolved items",</a:t>
            </a:r>
          </a:p>
          <a:p>
            <a:r>
              <a:t>      "Review corrections before integration into main"</a:t>
            </a:r>
          </a:p>
          <a:p>
            <a:r>
              <a:t>    ]</a:t>
            </a:r>
          </a:p>
          <a:p>
            <a:r>
              <a:t>  ],</a:t>
            </a:r>
          </a:p>
          <a:p>
            <a:r>
              <a:t>  "target": "End-of-day target: a reviewed baseline, three comparable fuel input tables and an owned decision log",</a:t>
            </a:r>
          </a:p>
          <a:p>
            <a:r>
              <a:t>  "status": "Latest balance and EV corrections are supplied on Manish’s branch; review and integration remain outstanding.",</a:t>
            </a:r>
          </a:p>
          <a:p>
            <a:r>
              <a:t>  "source": "Manish handback update, 7 Oct 2026 (ef1720a); Nigel’s agreed focus table. Targets proposed; no acceptance inferred.",</a:t>
            </a:r>
          </a:p>
          <a:p>
            <a:r>
              <a:t>  "handback": "https://github.com/Africa-International-Advisors/liquid_fuels_model/blob/manish-branch/workstreams/WS0_governance/workplan/manish_handback_2026-10-06.md"</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8.xml"/><Relationship Id="rId12" Type="http://schemas.openxmlformats.org/officeDocument/2006/relationships/slide" Target="slide20.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3.xml"/><Relationship Id="rId17" Type="http://schemas.openxmlformats.org/officeDocument/2006/relationships/slide" Target="slide22.xml"/><Relationship Id="rId18" Type="http://schemas.openxmlformats.org/officeDocument/2006/relationships/slide" Target="slide11.xml"/><Relationship Id="rId19" Type="http://schemas.openxmlformats.org/officeDocument/2006/relationships/slide" Target="slide23.xml"/><Relationship Id="rId20" Type="http://schemas.openxmlformats.org/officeDocument/2006/relationships/slide" Target="slide9.xml"/><Relationship Id="rId21" Type="http://schemas.openxmlformats.org/officeDocument/2006/relationships/slide" Target="slide12.xml"/><Relationship Id="rId22" Type="http://schemas.openxmlformats.org/officeDocument/2006/relationships/slide" Target="slide13.xml"/><Relationship Id="rId23" Type="http://schemas.openxmlformats.org/officeDocument/2006/relationships/slide" Target="slide14.xml"/><Relationship Id="rId24" Type="http://schemas.openxmlformats.org/officeDocument/2006/relationships/slide" Target="slide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 Id="rId8" Type="http://schemas.openxmlformats.org/officeDocument/2006/relationships/chart" Target="../charts/chart14.xml"/><Relationship Id="rId9" Type="http://schemas.openxmlformats.org/officeDocument/2006/relationships/chart" Target="../charts/char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slide" Target="slide19.xml"/><Relationship Id="rId8" Type="http://schemas.openxmlformats.org/officeDocument/2006/relationships/slide" Target="slide8.xml"/><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9.xml"/><Relationship Id="rId15" Type="http://schemas.openxmlformats.org/officeDocument/2006/relationships/slide" Target="slide12.xml"/><Relationship Id="rId16" Type="http://schemas.openxmlformats.org/officeDocument/2006/relationships/slide" Target="slide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2.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8.xml"/><Relationship Id="rId13" Type="http://schemas.openxmlformats.org/officeDocument/2006/relationships/slide" Target="slide12.xml"/><Relationship Id="rId14" Type="http://schemas.openxmlformats.org/officeDocument/2006/relationships/slide" Target="slide9.xml"/><Relationship Id="rId15" Type="http://schemas.openxmlformats.org/officeDocument/2006/relationships/slide" Target="slide14.xml"/><Relationship Id="rId16" Type="http://schemas.openxmlformats.org/officeDocument/2006/relationships/slide" Target="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8.xml"/><Relationship Id="rId3" Type="http://schemas.openxmlformats.org/officeDocument/2006/relationships/slide" Target="slide20.xml"/><Relationship Id="rId4" Type="http://schemas.openxmlformats.org/officeDocument/2006/relationships/slide" Target="slide19.xml"/><Relationship Id="rId5" Type="http://schemas.openxmlformats.org/officeDocument/2006/relationships/slide" Target="slide17.xml"/><Relationship Id="rId6" Type="http://schemas.openxmlformats.org/officeDocument/2006/relationships/slide" Target="slide22.xml"/><Relationship Id="rId7" Type="http://schemas.openxmlformats.org/officeDocument/2006/relationships/slide" Target="slide21.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Diesel dominates net imports, and fuel sales concentrate in Gauteng, KZN and Western Cape</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3</a:t>
            </a:r>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 = Situation   C = Complication   R = Resolution. Sources: SARS trade, departmental sales and published plant/site evidence. Detailed qualifications accompany the exhibits.</a:t>
            </a:r>
          </a:p>
        </p:txBody>
      </p:sp>
      <p:graphicFrame>
        <p:nvGraphicFramePr>
          <p:cNvPr id="46" name="Table 45"/>
          <p:cNvGraphicFramePr>
            <a:graphicFrameLocks noGrp="1"/>
          </p:cNvGraphicFramePr>
          <p:nvPr/>
        </p:nvGraphicFramePr>
        <p:xfrm>
          <a:off x="457200" y="1792224"/>
          <a:ext cx="10652760" cy="4379976"/>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Finding</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Implication for Vopak</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accounts for most net imports. In 2024, net diesel imports were 9.997 bn litres, compared with 3.081 bn litres for petrol.</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import flows are the largest observed trade component to assess against Vopak's services.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KZN and Western Cape account for 68.6% of reported 2022 petrol and diesel sales.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and KZN are the first demand markets to assess against Lesedi and Durban.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76072">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OCGT generation has fallen sharply since FY2024. Freight activity and changing vehicle sales affect other parts of fuel demand.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Forecast each end use separately. A single growth rate would miss changes in the demand mix.</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20" action="ppaction://hlinksldjump"/>
                        </a:rPr>
                        <a:t> / 9</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Published refining capacity fell from 718 to 358 thousand barrels/day between 2020 and 2022. Future plant output remains uncertain.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production assumptions materially affect the forecast import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10</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Matola and Walvis Bay provide alternative fuel supply nodes. Their effect on inland competition still needs route and volume evidence.</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Compare competing supply routes to the same inland market.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15</a:t>
                      </a:r>
                      <a:r>
                        <a:rPr sz="1050">
                          <a:solidFill>
                            <a:srgbClr val="0A2373"/>
                          </a:solidFill>
                          <a:latin typeface="Lato"/>
                          <a:hlinkClick r:id="rId10" action="ppaction://hlinksldjump"/>
                        </a:rPr>
                        <a:t> / 16</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has facilities in Durban and Lesedi, alongside the coastal and inland markets identified in the demand analysis.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Establish current fuel volumes and usable capacity at these sites before estimating additional business.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2" action="ppaction://hlinksldjump"/>
                        </a:rPr>
                        <a:t> / 18</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The evidence does not yet establish a need for additional storage. Customer volumes and usable spare capacity remain unverified.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Determine how much additional fuel existing assets could handle, then assess any remaining capacity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7" action="ppaction://hlinksldjump"/>
                        </a:rPr>
                        <a:t>19</a:t>
                      </a:r>
                      <a:r>
                        <a:rPr sz="1050">
                          <a:solidFill>
                            <a:srgbClr val="0A2373"/>
                          </a:solidFill>
                          <a:latin typeface="Lato"/>
                          <a:hlinkClick r:id="rId19" action="ppaction://hlinksldjump"/>
                        </a:rPr>
                        <a:t> / 20</a:t>
                      </a:r>
                      <a:r>
                        <a:rPr sz="1050">
                          <a:solidFill>
                            <a:srgbClr val="0A2373"/>
                          </a:solidFill>
                          <a:latin typeface="Lato"/>
                          <a:hlinkClick r:id="rId24" action="ppaction://hlinksldjump"/>
                        </a:rPr>
                        <a:t> / 21</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8434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36042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C3</a:t>
            </a:r>
          </a:p>
        </p:txBody>
      </p:sp>
      <p:sp>
        <p:nvSpPr>
          <p:cNvPr id="50" name="SCR pill 4"/>
          <p:cNvSpPr/>
          <p:nvPr/>
        </p:nvSpPr>
        <p:spPr>
          <a:xfrm>
            <a:off x="1687068" y="3936492"/>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51256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508863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66470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Net diesel imports were more than three times net petrol imports in 2024</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4</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329184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and diesel, 2024, bn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3017520"/>
        </p:xfrm>
        <a:graphic>
          <a:graphicData uri="http://schemas.openxmlformats.org/drawingml/2006/chart">
            <c:chart xmlns:c="http://schemas.openxmlformats.org/drawingml/2006/chart" r:id="rId3"/>
          </a:graphicData>
        </a:graphic>
      </p:graphicFrame>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6089904"/>
            <a:ext cx="6446520" cy="237744"/>
          </a:xfrm>
          <a:prstGeom prst="rect">
            <a:avLst/>
          </a:prstGeom>
          <a:noFill/>
        </p:spPr>
        <p:txBody>
          <a:bodyPr wrap="square" lIns="22860" rIns="22860" tIns="0" bIns="0">
            <a:noAutofit/>
          </a:bodyPr>
          <a:lstStyle/>
          <a:p>
            <a:pPr>
              <a:spcAft>
                <a:spcPts val="300"/>
              </a:spcAft>
              <a:defRPr sz="1100" b="0">
                <a:solidFill>
                  <a:srgbClr val="404040"/>
                </a:solidFill>
                <a:latin typeface="Lato"/>
              </a:defRPr>
            </a:pPr>
            <a:r>
              <a:rPr sz="1100" b="0">
                <a:solidFill/>
                <a:latin typeface="Lato"/>
              </a:rPr>
              <a:t>Net imports: diesel 9.997 bn litres; petrol 3.081 bn litres.</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3" name="Trade custom legend swatch Sales proxy"/>
          <p:cNvSpPr/>
          <p:nvPr/>
        </p:nvSpPr>
        <p:spPr>
          <a:xfrm>
            <a:off x="3877056" y="1732788"/>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rade custom legend label Sales proxy"/>
          <p:cNvSpPr txBox="1"/>
          <p:nvPr/>
        </p:nvSpPr>
        <p:spPr>
          <a:xfrm>
            <a:off x="4041648" y="1664208"/>
            <a:ext cx="987552"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Sales proxy</a:t>
            </a:r>
          </a:p>
        </p:txBody>
      </p:sp>
      <p:sp>
        <p:nvSpPr>
          <p:cNvPr id="75" name="Trade custom legend swatch Imports"/>
          <p:cNvSpPr/>
          <p:nvPr/>
        </p:nvSpPr>
        <p:spPr>
          <a:xfrm>
            <a:off x="5148072" y="1732788"/>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rade custom legend label Imports"/>
          <p:cNvSpPr txBox="1"/>
          <p:nvPr/>
        </p:nvSpPr>
        <p:spPr>
          <a:xfrm>
            <a:off x="5312664"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Imports</a:t>
            </a:r>
          </a:p>
        </p:txBody>
      </p:sp>
      <p:sp>
        <p:nvSpPr>
          <p:cNvPr id="77" name="Trade custom legend swatch Exports"/>
          <p:cNvSpPr/>
          <p:nvPr/>
        </p:nvSpPr>
        <p:spPr>
          <a:xfrm>
            <a:off x="6080760" y="1732788"/>
            <a:ext cx="109728" cy="109728"/>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rade custom legend label Exports"/>
          <p:cNvSpPr txBox="1"/>
          <p:nvPr/>
        </p:nvSpPr>
        <p:spPr>
          <a:xfrm>
            <a:off x="6245352"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Exports</a:t>
            </a:r>
          </a:p>
        </p:txBody>
      </p: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91" name="TextBox 90"/>
          <p:cNvSpPr txBox="1"/>
          <p:nvPr/>
        </p:nvSpPr>
        <p:spPr>
          <a:xfrm>
            <a:off x="7424927" y="1627632"/>
            <a:ext cx="3685032" cy="310896"/>
          </a:xfrm>
          <a:prstGeom prst="rect">
            <a:avLst/>
          </a:prstGeom>
          <a:noFill/>
        </p:spPr>
        <p:txBody>
          <a:bodyPr wrap="square" lIns="0" rIns="0" tIns="0" bIns="0">
            <a:spAutoFit/>
          </a:bodyPr>
          <a:lstStyle/>
          <a:p>
            <a:pPr>
              <a:spcAft>
                <a:spcPts val="300"/>
              </a:spcAft>
              <a:defRPr sz="1700" b="1">
                <a:solidFill>
                  <a:srgbClr val="000000"/>
                </a:solidFill>
                <a:latin typeface="Lato"/>
              </a:defRPr>
            </a:pPr>
            <a:r>
              <a:t>Implication for Vopak</a:t>
            </a:r>
          </a:p>
        </p:txBody>
      </p:sp>
      <p:sp>
        <p:nvSpPr>
          <p:cNvPr id="92" name="TextBox 91"/>
          <p:cNvSpPr txBox="1"/>
          <p:nvPr/>
        </p:nvSpPr>
        <p:spPr>
          <a:xfrm>
            <a:off x="7424927" y="2194560"/>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Diesel</a:t>
            </a:r>
          </a:p>
        </p:txBody>
      </p:sp>
      <p:sp>
        <p:nvSpPr>
          <p:cNvPr id="93" name="TextBox 92"/>
          <p:cNvSpPr txBox="1"/>
          <p:nvPr/>
        </p:nvSpPr>
        <p:spPr>
          <a:xfrm>
            <a:off x="7424927" y="2542032"/>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Imports of 10.793 bn litres less exports of 0.796 bn litres give net imports of 9.997 bn litres.</a:t>
            </a:r>
          </a:p>
        </p:txBody>
      </p:sp>
      <p:sp>
        <p:nvSpPr>
          <p:cNvPr id="94" name="TextBox 93"/>
          <p:cNvSpPr txBox="1"/>
          <p:nvPr/>
        </p:nvSpPr>
        <p:spPr>
          <a:xfrm>
            <a:off x="7424927" y="3236976"/>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Petrol</a:t>
            </a:r>
          </a:p>
        </p:txBody>
      </p:sp>
      <p:sp>
        <p:nvSpPr>
          <p:cNvPr id="95" name="TextBox 94"/>
          <p:cNvSpPr txBox="1"/>
          <p:nvPr/>
        </p:nvSpPr>
        <p:spPr>
          <a:xfrm>
            <a:off x="7424927" y="3584448"/>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Imports of 4.001 bn litres less exports of 0.920 bn litres give net imports of 3.081 bn litres.</a:t>
            </a:r>
          </a:p>
        </p:txBody>
      </p:sp>
      <p:sp>
        <p:nvSpPr>
          <p:cNvPr id="96" name="TextBox 95"/>
          <p:cNvSpPr txBox="1"/>
          <p:nvPr/>
        </p:nvSpPr>
        <p:spPr>
          <a:xfrm>
            <a:off x="7424927" y="4279392"/>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Demand comparison</a:t>
            </a:r>
          </a:p>
        </p:txBody>
      </p:sp>
      <p:sp>
        <p:nvSpPr>
          <p:cNvPr id="97" name="TextBox 96"/>
          <p:cNvSpPr txBox="1"/>
          <p:nvPr/>
        </p:nvSpPr>
        <p:spPr>
          <a:xfrm>
            <a:off x="7424927" y="4626864"/>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Reported sales and model estimates remain separate. The workbook reconciles each product and identifies the missing coverage.</a:t>
            </a:r>
          </a:p>
        </p:txBody>
      </p:sp>
      <p:sp>
        <p:nvSpPr>
          <p:cNvPr id="98" name="TextBox 97"/>
          <p:cNvSpPr txBox="1"/>
          <p:nvPr/>
        </p:nvSpPr>
        <p:spPr>
          <a:xfrm>
            <a:off x="7424927" y="5431536"/>
            <a:ext cx="3685032" cy="256032"/>
          </a:xfrm>
          <a:prstGeom prst="rect">
            <a:avLst/>
          </a:prstGeom>
          <a:noFill/>
        </p:spPr>
        <p:txBody>
          <a:bodyPr wrap="square" lIns="0" rIns="0" tIns="0" bIns="0">
            <a:spAutoFit/>
          </a:bodyPr>
          <a:lstStyle/>
          <a:p>
            <a:pPr>
              <a:spcAft>
                <a:spcPts val="300"/>
              </a:spcAft>
              <a:defRPr sz="1250" b="1">
                <a:solidFill>
                  <a:srgbClr val="000000"/>
                </a:solidFill>
                <a:latin typeface="Lato"/>
              </a:defRPr>
            </a:pPr>
            <a:r>
              <a:t>Current work</a:t>
            </a:r>
          </a:p>
        </p:txBody>
      </p:sp>
      <p:sp>
        <p:nvSpPr>
          <p:cNvPr id="99" name="TextBox 98"/>
          <p:cNvSpPr txBox="1"/>
          <p:nvPr/>
        </p:nvSpPr>
        <p:spPr>
          <a:xfrm>
            <a:off x="7424927" y="5760720"/>
            <a:ext cx="3685032" cy="548640"/>
          </a:xfrm>
          <a:prstGeom prst="rect">
            <a:avLst/>
          </a:prstGeom>
          <a:noFill/>
        </p:spPr>
        <p:txBody>
          <a:bodyPr wrap="square" lIns="0" rIns="0" tIns="0" bIns="0">
            <a:spAutoFit/>
          </a:bodyPr>
          <a:lstStyle/>
          <a:p>
            <a:pPr>
              <a:spcAft>
                <a:spcPts val="300"/>
              </a:spcAft>
              <a:defRPr sz="1150" b="0">
                <a:solidFill>
                  <a:srgbClr val="000000"/>
                </a:solidFill>
                <a:latin typeface="Lato"/>
              </a:defRPr>
            </a:pPr>
            <a:r>
              <a:t>Match production, trade, sales and stock movements by product and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Gauteng, KZN and Western Cape account for 68.6% of reported petrol and diesel sales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5</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Provincial totals, not density. Operator footprint on p17; handling on p18. Jet excluded.
Source: DMPR 2022 sales; geoBoundaries/OCHA/MDB 2020 provinces; operator inventory and evidence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670048"/>
            <a:ext cx="6446520" cy="3163824"/>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762497"/>
            <a:ext cx="640603" cy="107836"/>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609262"/>
            <a:ext cx="303816" cy="351818"/>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799276"/>
            <a:ext cx="3733333" cy="2796667"/>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762471"/>
            <a:ext cx="1183416" cy="154796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786242"/>
            <a:ext cx="602150" cy="1085208"/>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4214314"/>
            <a:ext cx="525916" cy="452528"/>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762471"/>
            <a:ext cx="2238197" cy="1072704"/>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647004" y="5588209"/>
            <a:ext cx="3076" cy="55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643945" y="5532946"/>
            <a:ext cx="3059" cy="55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640901" y="5477679"/>
            <a:ext cx="3044" cy="55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637873" y="5422407"/>
            <a:ext cx="3028" cy="552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634861" y="5367133"/>
            <a:ext cx="3012" cy="55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631865" y="5311854"/>
            <a:ext cx="2996" cy="55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628885" y="5256573"/>
            <a:ext cx="2980" cy="552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201288"/>
            <a:ext cx="2965" cy="552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146001"/>
            <a:ext cx="2948" cy="552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5090711"/>
            <a:ext cx="2933" cy="552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5035419"/>
            <a:ext cx="2916" cy="55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980125"/>
            <a:ext cx="2901" cy="55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924830"/>
            <a:ext cx="2885"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869532"/>
            <a:ext cx="2869"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814235"/>
            <a:ext cx="2853"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758935"/>
            <a:ext cx="2837"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703636"/>
            <a:ext cx="2821"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648335"/>
            <a:ext cx="2805" cy="553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593034"/>
            <a:ext cx="2789"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537734"/>
            <a:ext cx="2773"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482434"/>
            <a:ext cx="2757"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427134"/>
            <a:ext cx="2741"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371836"/>
            <a:ext cx="2725" cy="552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316538"/>
            <a:ext cx="2709"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261242"/>
            <a:ext cx="2693"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4205947"/>
            <a:ext cx="2677"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4150654"/>
            <a:ext cx="2660" cy="552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4095363"/>
            <a:ext cx="2645" cy="552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4040075"/>
            <a:ext cx="2629" cy="552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984790"/>
            <a:ext cx="2612" cy="552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929507"/>
            <a:ext cx="2596" cy="55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874227"/>
            <a:ext cx="2581" cy="552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818950"/>
            <a:ext cx="2564" cy="552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763677"/>
            <a:ext cx="2548" cy="552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708408"/>
            <a:ext cx="2531" cy="55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653143"/>
            <a:ext cx="2516" cy="55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597883"/>
            <a:ext cx="2499" cy="55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542627"/>
            <a:ext cx="2483" cy="552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487376"/>
            <a:ext cx="2467" cy="55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432131"/>
            <a:ext cx="2451" cy="552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3376890"/>
            <a:ext cx="2434" cy="55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3321655"/>
            <a:ext cx="2419" cy="552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3266426"/>
            <a:ext cx="2402" cy="552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3211204"/>
            <a:ext cx="2385" cy="552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3155987"/>
            <a:ext cx="2370" cy="552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3100777"/>
            <a:ext cx="2353" cy="552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3045574"/>
            <a:ext cx="2337" cy="552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990378"/>
            <a:ext cx="2320" cy="551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935189"/>
            <a:ext cx="2304" cy="551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880008"/>
            <a:ext cx="2288" cy="551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824835"/>
            <a:ext cx="2271" cy="551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769670"/>
            <a:ext cx="2255" cy="551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68076"/>
            <a:ext cx="0" cy="55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512793"/>
            <a:ext cx="0" cy="55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457507"/>
            <a:ext cx="0" cy="552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402216"/>
            <a:ext cx="0" cy="552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346923"/>
            <a:ext cx="0" cy="552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91626"/>
            <a:ext cx="0" cy="55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236328"/>
            <a:ext cx="0" cy="552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181026"/>
            <a:ext cx="0" cy="553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125722"/>
            <a:ext cx="0" cy="55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5070416"/>
            <a:ext cx="0" cy="553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5015109"/>
            <a:ext cx="0" cy="553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959800"/>
            <a:ext cx="0" cy="553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904490"/>
            <a:ext cx="0" cy="553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849179"/>
            <a:ext cx="0" cy="553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793866"/>
            <a:ext cx="0" cy="55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738555"/>
            <a:ext cx="0" cy="553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683242"/>
            <a:ext cx="0" cy="55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627930"/>
            <a:ext cx="0" cy="55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572618"/>
            <a:ext cx="0" cy="55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517306"/>
            <a:ext cx="0" cy="553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461995"/>
            <a:ext cx="0" cy="553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406686"/>
            <a:ext cx="0" cy="553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351377"/>
            <a:ext cx="0" cy="553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296071"/>
            <a:ext cx="0" cy="553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4240766"/>
            <a:ext cx="0" cy="553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4185463"/>
            <a:ext cx="0" cy="553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4130163"/>
            <a:ext cx="0"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4074865"/>
            <a:ext cx="0"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4019570"/>
            <a:ext cx="0"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964279"/>
            <a:ext cx="0" cy="55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908990"/>
            <a:ext cx="0" cy="552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853705"/>
            <a:ext cx="0" cy="552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798424"/>
            <a:ext cx="0" cy="552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743147"/>
            <a:ext cx="0" cy="552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687874"/>
            <a:ext cx="0" cy="552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632606"/>
            <a:ext cx="0" cy="55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577343"/>
            <a:ext cx="0" cy="55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522084"/>
            <a:ext cx="0" cy="55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466831"/>
            <a:ext cx="0" cy="552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411584"/>
            <a:ext cx="0" cy="552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3356343"/>
            <a:ext cx="0" cy="55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3301107"/>
            <a:ext cx="0" cy="55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3245878"/>
            <a:ext cx="0" cy="552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3190656"/>
            <a:ext cx="0" cy="552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3135440"/>
            <a:ext cx="0" cy="55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3080231"/>
            <a:ext cx="0" cy="552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3025031"/>
            <a:ext cx="0" cy="552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969837"/>
            <a:ext cx="0" cy="551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914650"/>
            <a:ext cx="0" cy="551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859473"/>
            <a:ext cx="0" cy="55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804303"/>
            <a:ext cx="0" cy="551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749143"/>
            <a:ext cx="0" cy="551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88209"/>
            <a:ext cx="3076" cy="55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532946"/>
            <a:ext cx="3059" cy="55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77679"/>
            <a:ext cx="3044" cy="55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422407"/>
            <a:ext cx="3028" cy="552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367133"/>
            <a:ext cx="3012" cy="55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311854"/>
            <a:ext cx="2996" cy="55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256573"/>
            <a:ext cx="2980" cy="552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201288"/>
            <a:ext cx="2965" cy="552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146001"/>
            <a:ext cx="2948" cy="552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5090711"/>
            <a:ext cx="2933" cy="552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5035419"/>
            <a:ext cx="2917" cy="55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980125"/>
            <a:ext cx="2900" cy="55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924830"/>
            <a:ext cx="2885"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869532"/>
            <a:ext cx="2869"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814235"/>
            <a:ext cx="2853"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758935"/>
            <a:ext cx="2837"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703636"/>
            <a:ext cx="2821"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648335"/>
            <a:ext cx="2805" cy="553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593034"/>
            <a:ext cx="2789"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537734"/>
            <a:ext cx="2773"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482434"/>
            <a:ext cx="2757" cy="553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427134"/>
            <a:ext cx="2741" cy="552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371836"/>
            <a:ext cx="2725" cy="552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316538"/>
            <a:ext cx="2709" cy="55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261242"/>
            <a:ext cx="2693"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4205947"/>
            <a:ext cx="2677" cy="552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4150654"/>
            <a:ext cx="2661" cy="552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4095363"/>
            <a:ext cx="2644" cy="552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4040075"/>
            <a:ext cx="2629" cy="552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984790"/>
            <a:ext cx="2612" cy="552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929507"/>
            <a:ext cx="2597" cy="55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874227"/>
            <a:ext cx="2580" cy="552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818950"/>
            <a:ext cx="2564" cy="552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763677"/>
            <a:ext cx="2548" cy="552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708408"/>
            <a:ext cx="2531" cy="55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653143"/>
            <a:ext cx="2516" cy="55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597883"/>
            <a:ext cx="2499" cy="55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542627"/>
            <a:ext cx="2484" cy="552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487376"/>
            <a:ext cx="2466" cy="55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432131"/>
            <a:ext cx="2451" cy="552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3376890"/>
            <a:ext cx="2435" cy="55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3321655"/>
            <a:ext cx="2418" cy="552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3266426"/>
            <a:ext cx="2402" cy="552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3211204"/>
            <a:ext cx="2385" cy="552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3155987"/>
            <a:ext cx="2370" cy="552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3100777"/>
            <a:ext cx="2353" cy="552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3045574"/>
            <a:ext cx="2337" cy="552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990378"/>
            <a:ext cx="2320" cy="551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935189"/>
            <a:ext cx="2304" cy="551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880008"/>
            <a:ext cx="2288" cy="551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824835"/>
            <a:ext cx="2272" cy="551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769670"/>
            <a:ext cx="2255" cy="551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474523"/>
            <a:ext cx="57983" cy="36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470976"/>
            <a:ext cx="58000" cy="35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467533"/>
            <a:ext cx="58015" cy="34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464192"/>
            <a:ext cx="58029" cy="33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460955"/>
            <a:ext cx="58044" cy="32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457820"/>
            <a:ext cx="58058" cy="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454788"/>
            <a:ext cx="58071" cy="3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451860"/>
            <a:ext cx="58085" cy="2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449034"/>
            <a:ext cx="58096" cy="2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446311"/>
            <a:ext cx="58109" cy="2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443690"/>
            <a:ext cx="58121" cy="26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441173"/>
            <a:ext cx="58132" cy="2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438757"/>
            <a:ext cx="58142" cy="24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436446"/>
            <a:ext cx="58153" cy="23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434237"/>
            <a:ext cx="58163" cy="22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432131"/>
            <a:ext cx="58172" cy="21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430127"/>
            <a:ext cx="58181" cy="2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428226"/>
            <a:ext cx="58190" cy="1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426429"/>
            <a:ext cx="58197" cy="17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424733"/>
            <a:ext cx="58206" cy="16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423141"/>
            <a:ext cx="58212" cy="15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421651"/>
            <a:ext cx="58219" cy="14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420265"/>
            <a:ext cx="58226" cy="1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418980"/>
            <a:ext cx="58231" cy="12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417798"/>
            <a:ext cx="58237" cy="11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416720"/>
            <a:ext cx="58241" cy="1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415744"/>
            <a:ext cx="58246" cy="9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414871"/>
            <a:ext cx="58251"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414101"/>
            <a:ext cx="58253" cy="7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413433"/>
            <a:ext cx="58257" cy="6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412868"/>
            <a:ext cx="58260" cy="5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412406"/>
            <a:ext cx="58261" cy="4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412046"/>
            <a:ext cx="58264"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411789"/>
            <a:ext cx="58265" cy="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411635"/>
            <a:ext cx="58265" cy="1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411584"/>
            <a:ext cx="58267" cy="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411584"/>
            <a:ext cx="58266" cy="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411635"/>
            <a:ext cx="58266" cy="1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411789"/>
            <a:ext cx="58264" cy="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412046"/>
            <a:ext cx="58264"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412406"/>
            <a:ext cx="58262" cy="4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412868"/>
            <a:ext cx="58259" cy="5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413433"/>
            <a:ext cx="58257" cy="6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414101"/>
            <a:ext cx="58254" cy="7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414871"/>
            <a:ext cx="58250"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415744"/>
            <a:ext cx="58246" cy="9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416720"/>
            <a:ext cx="58241" cy="1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417798"/>
            <a:ext cx="58237" cy="11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418980"/>
            <a:ext cx="58231" cy="12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420265"/>
            <a:ext cx="58226" cy="1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421651"/>
            <a:ext cx="58219" cy="14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423141"/>
            <a:ext cx="58212" cy="15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424733"/>
            <a:ext cx="58206" cy="16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426429"/>
            <a:ext cx="58197" cy="17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428226"/>
            <a:ext cx="58190" cy="1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430127"/>
            <a:ext cx="58181" cy="2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432131"/>
            <a:ext cx="58172" cy="21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434237"/>
            <a:ext cx="58163" cy="22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436446"/>
            <a:ext cx="58153" cy="23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438757"/>
            <a:ext cx="58142" cy="24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441173"/>
            <a:ext cx="58132" cy="2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443690"/>
            <a:ext cx="58121" cy="26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446311"/>
            <a:ext cx="58109" cy="2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449034"/>
            <a:ext cx="58097" cy="2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451860"/>
            <a:ext cx="58084" cy="2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454788"/>
            <a:ext cx="58071" cy="3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457820"/>
            <a:ext cx="58058" cy="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460955"/>
            <a:ext cx="58044" cy="32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464192"/>
            <a:ext cx="58030" cy="33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467533"/>
            <a:ext cx="58014" cy="34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470976"/>
            <a:ext cx="58000" cy="35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579878"/>
            <a:ext cx="55375" cy="36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576352"/>
            <a:ext cx="55390" cy="35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572929"/>
            <a:ext cx="55407" cy="34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569608"/>
            <a:ext cx="55421" cy="33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566390"/>
            <a:ext cx="55436" cy="3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563274"/>
            <a:ext cx="55450" cy="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560259"/>
            <a:ext cx="55464" cy="30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557348"/>
            <a:ext cx="55477" cy="2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554538"/>
            <a:ext cx="55490" cy="28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551831"/>
            <a:ext cx="55503" cy="27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549226"/>
            <a:ext cx="55514" cy="26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546723"/>
            <a:ext cx="55525" cy="25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544323"/>
            <a:ext cx="55537" cy="24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542024"/>
            <a:ext cx="55547" cy="22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539828"/>
            <a:ext cx="55557" cy="21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537734"/>
            <a:ext cx="55567" cy="20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535742"/>
            <a:ext cx="55576" cy="19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533853"/>
            <a:ext cx="55584" cy="18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532065"/>
            <a:ext cx="55593" cy="17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530380"/>
            <a:ext cx="55601"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528797"/>
            <a:ext cx="55607" cy="15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527315"/>
            <a:ext cx="55615" cy="14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525936"/>
            <a:ext cx="55621" cy="13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524659"/>
            <a:ext cx="55627" cy="12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523486"/>
            <a:ext cx="55633" cy="11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522413"/>
            <a:ext cx="55637" cy="10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521442"/>
            <a:ext cx="55642" cy="9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520575"/>
            <a:ext cx="55646" cy="8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519808"/>
            <a:ext cx="55650" cy="7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519145"/>
            <a:ext cx="55653" cy="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518583"/>
            <a:ext cx="55656" cy="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518123"/>
            <a:ext cx="55658" cy="4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517766"/>
            <a:ext cx="55660" cy="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517510"/>
            <a:ext cx="55661" cy="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517357"/>
            <a:ext cx="55662" cy="1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517306"/>
            <a:ext cx="55663" cy="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517306"/>
            <a:ext cx="55662" cy="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517357"/>
            <a:ext cx="55662" cy="1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517510"/>
            <a:ext cx="55662" cy="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517766"/>
            <a:ext cx="55659" cy="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518123"/>
            <a:ext cx="55658" cy="4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518583"/>
            <a:ext cx="55656" cy="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519145"/>
            <a:ext cx="55653" cy="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519808"/>
            <a:ext cx="55650" cy="7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520575"/>
            <a:ext cx="55646" cy="8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521442"/>
            <a:ext cx="55642" cy="9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522413"/>
            <a:ext cx="55638" cy="10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523486"/>
            <a:ext cx="55632" cy="11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524659"/>
            <a:ext cx="55627" cy="12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525936"/>
            <a:ext cx="55621" cy="13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527315"/>
            <a:ext cx="55615" cy="14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528797"/>
            <a:ext cx="55608" cy="15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530380"/>
            <a:ext cx="5560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532065"/>
            <a:ext cx="55593" cy="17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533853"/>
            <a:ext cx="55584" cy="18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535742"/>
            <a:ext cx="55576" cy="19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537734"/>
            <a:ext cx="55567" cy="20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539828"/>
            <a:ext cx="55557" cy="21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542024"/>
            <a:ext cx="55547" cy="22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544323"/>
            <a:ext cx="55537" cy="24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546723"/>
            <a:ext cx="55525" cy="25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549226"/>
            <a:ext cx="55515" cy="26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551831"/>
            <a:ext cx="55502" cy="27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554538"/>
            <a:ext cx="55490" cy="28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557348"/>
            <a:ext cx="55477" cy="2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560259"/>
            <a:ext cx="55464" cy="30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563274"/>
            <a:ext cx="55450" cy="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566390"/>
            <a:ext cx="55436" cy="3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569608"/>
            <a:ext cx="55422" cy="33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572929"/>
            <a:ext cx="55406" cy="34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576352"/>
            <a:ext cx="55391" cy="35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84957"/>
            <a:ext cx="52447" cy="35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81487"/>
            <a:ext cx="52464" cy="34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78117"/>
            <a:ext cx="52479" cy="33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74848"/>
            <a:ext cx="52495" cy="3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71680"/>
            <a:ext cx="52509" cy="31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68612"/>
            <a:ext cx="52523" cy="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65645"/>
            <a:ext cx="52538" cy="29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62778"/>
            <a:ext cx="52551" cy="28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60012"/>
            <a:ext cx="52564" cy="27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57347"/>
            <a:ext cx="52576" cy="26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54782"/>
            <a:ext cx="52588" cy="25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52318"/>
            <a:ext cx="52600" cy="24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49954"/>
            <a:ext cx="52611" cy="23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47691"/>
            <a:ext cx="52622" cy="2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45529"/>
            <a:ext cx="52631" cy="2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43467"/>
            <a:ext cx="52642" cy="20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41506"/>
            <a:ext cx="52651"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39645"/>
            <a:ext cx="52659" cy="18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37886"/>
            <a:ext cx="52668" cy="17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36226"/>
            <a:ext cx="52675" cy="16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34667"/>
            <a:ext cx="52683" cy="15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33210"/>
            <a:ext cx="52690" cy="14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31852"/>
            <a:ext cx="52697" cy="1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630595"/>
            <a:ext cx="52702" cy="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629438"/>
            <a:ext cx="52708" cy="11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628382"/>
            <a:ext cx="52713" cy="10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627427"/>
            <a:ext cx="52718" cy="9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626573"/>
            <a:ext cx="52722" cy="8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625818"/>
            <a:ext cx="52725" cy="7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625164"/>
            <a:ext cx="5272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624612"/>
            <a:ext cx="52732" cy="5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624159"/>
            <a:ext cx="52733" cy="4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623807"/>
            <a:ext cx="52736"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623555"/>
            <a:ext cx="52737" cy="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623405"/>
            <a:ext cx="52738" cy="1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623355"/>
            <a:ext cx="52739" cy="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623355"/>
            <a:ext cx="52738" cy="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623405"/>
            <a:ext cx="52738" cy="1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623555"/>
            <a:ext cx="52737" cy="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623807"/>
            <a:ext cx="52736"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624159"/>
            <a:ext cx="52734" cy="4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624612"/>
            <a:ext cx="52731" cy="5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625164"/>
            <a:ext cx="5272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625818"/>
            <a:ext cx="52725" cy="7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626573"/>
            <a:ext cx="52722" cy="8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627427"/>
            <a:ext cx="52718" cy="9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628382"/>
            <a:ext cx="52713" cy="10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629438"/>
            <a:ext cx="52708" cy="11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630595"/>
            <a:ext cx="52702" cy="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31852"/>
            <a:ext cx="52697" cy="1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33210"/>
            <a:ext cx="52690" cy="14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34667"/>
            <a:ext cx="52683" cy="15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36226"/>
            <a:ext cx="52675" cy="16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37886"/>
            <a:ext cx="52668" cy="17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39645"/>
            <a:ext cx="52660" cy="18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41506"/>
            <a:ext cx="52650"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43467"/>
            <a:ext cx="52642" cy="20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45529"/>
            <a:ext cx="52632" cy="2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47691"/>
            <a:ext cx="52621" cy="2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49954"/>
            <a:ext cx="52611" cy="23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52318"/>
            <a:ext cx="52600" cy="24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54782"/>
            <a:ext cx="52588" cy="25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57347"/>
            <a:ext cx="52577" cy="26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60012"/>
            <a:ext cx="52563" cy="27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62778"/>
            <a:ext cx="52551" cy="28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65645"/>
            <a:ext cx="52538" cy="29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68612"/>
            <a:ext cx="52523" cy="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71680"/>
            <a:ext cx="52510" cy="31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74848"/>
            <a:ext cx="52494" cy="3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78117"/>
            <a:ext cx="52479" cy="33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81487"/>
            <a:ext cx="52464" cy="34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3110754"/>
            <a:ext cx="9059" cy="13251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928834"/>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3110754"/>
            <a:ext cx="36576" cy="7118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3110754"/>
            <a:ext cx="36576" cy="7118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59861"/>
            <a:ext cx="1153731" cy="1"/>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32178"/>
            <a:ext cx="0" cy="5536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32178"/>
            <a:ext cx="0" cy="5536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32178"/>
            <a:ext cx="0" cy="5536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77941"/>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77941"/>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530874"/>
            <a:ext cx="1626648" cy="918661"/>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787810"/>
            <a:ext cx="1235577" cy="88518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447330"/>
            <a:ext cx="454565" cy="398042"/>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852001"/>
            <a:ext cx="946941" cy="925402"/>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794554"/>
            <a:ext cx="1287007" cy="727245"/>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3224616"/>
            <a:ext cx="896564" cy="758496"/>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3332889"/>
            <a:ext cx="1313825" cy="767018"/>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3380404"/>
            <a:ext cx="2047002" cy="1804229"/>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91749"/>
            <a:ext cx="5752" cy="6215"/>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311155"/>
            <a:ext cx="3544" cy="4213"/>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646252"/>
            <a:ext cx="1422285" cy="960573"/>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852001"/>
            <a:ext cx="2305921" cy="1597534"/>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794554"/>
            <a:ext cx="2187474" cy="1878437"/>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3380404"/>
            <a:ext cx="2047002" cy="1804229"/>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91749"/>
            <a:ext cx="5752" cy="6215"/>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311155"/>
            <a:ext cx="3544" cy="4213"/>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646252"/>
            <a:ext cx="1422285" cy="960573"/>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4214314"/>
            <a:ext cx="525916" cy="452528"/>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2302196" y="5349715"/>
            <a:ext cx="213860" cy="674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2516056" y="5041988"/>
            <a:ext cx="662353" cy="3077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3178409" y="4676613"/>
            <a:ext cx="547930" cy="36537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3726339" y="4323817"/>
            <a:ext cx="249625" cy="35279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975964" y="4001532"/>
            <a:ext cx="236002" cy="32228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4211966" y="3684461"/>
            <a:ext cx="195717" cy="3170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4407683" y="3585703"/>
            <a:ext cx="35153" cy="987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4442836" y="3184844"/>
            <a:ext cx="307542" cy="4008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4750378" y="2820340"/>
            <a:ext cx="142270" cy="36450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2302196" y="5417187"/>
            <a:ext cx="427623" cy="85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729819" y="5425717"/>
            <a:ext cx="365466" cy="229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3095285" y="5398581"/>
            <a:ext cx="66761" cy="5004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3162046" y="5398581"/>
            <a:ext cx="194573" cy="168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3356619" y="5393690"/>
            <a:ext cx="482114" cy="21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3838733" y="5314423"/>
            <a:ext cx="270649" cy="792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4109382" y="5194525"/>
            <a:ext cx="222461" cy="1198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4331843" y="4880720"/>
            <a:ext cx="200210" cy="31380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4532053" y="4654936"/>
            <a:ext cx="150466" cy="2257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654936"/>
            <a:ext cx="225376" cy="503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520476"/>
            <a:ext cx="139454" cy="1847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279763"/>
            <a:ext cx="210381" cy="2407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998659"/>
            <a:ext cx="57336" cy="28110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883061"/>
            <a:ext cx="242117" cy="1155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770146"/>
            <a:ext cx="223831" cy="11291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684461"/>
            <a:ext cx="69426" cy="679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752418"/>
            <a:ext cx="162780" cy="1969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949321"/>
            <a:ext cx="1051" cy="2014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4150779"/>
            <a:ext cx="137515" cy="2082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359014"/>
            <a:ext cx="131953" cy="935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452568"/>
            <a:ext cx="139043" cy="679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473876"/>
            <a:ext cx="353970" cy="8990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563782"/>
            <a:ext cx="219547" cy="219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585703"/>
            <a:ext cx="239629" cy="328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544742"/>
            <a:ext cx="406634" cy="738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544742"/>
            <a:ext cx="234267" cy="412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323817"/>
            <a:ext cx="106233" cy="3551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678990"/>
            <a:ext cx="32515" cy="2615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940551"/>
            <a:ext cx="114104" cy="15010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5090655"/>
            <a:ext cx="103027" cy="1038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314899"/>
            <a:ext cx="50706" cy="10228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119837"/>
            <a:ext cx="45400" cy="1950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905413"/>
            <a:ext cx="63955" cy="2144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485751"/>
            <a:ext cx="218806" cy="4196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289802"/>
            <a:ext cx="72308" cy="19594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5088388"/>
            <a:ext cx="6994" cy="2522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846966"/>
            <a:ext cx="123535" cy="241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526848"/>
            <a:ext cx="206947" cy="3201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446223"/>
            <a:ext cx="297840" cy="806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4195181"/>
            <a:ext cx="572624" cy="2510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600258"/>
            <a:ext cx="86635" cy="594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317875"/>
            <a:ext cx="57971" cy="8070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5041988"/>
            <a:ext cx="74334" cy="2758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944884"/>
            <a:ext cx="121983" cy="9710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526848"/>
            <a:ext cx="199089" cy="4180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4236385"/>
            <a:ext cx="152908" cy="2904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997748"/>
            <a:ext cx="188468" cy="23863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825036"/>
            <a:ext cx="246356" cy="17271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793200"/>
            <a:ext cx="99239" cy="318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684461"/>
            <a:ext cx="221231" cy="1087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618568"/>
            <a:ext cx="274782" cy="658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350590"/>
            <a:ext cx="329795" cy="1351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4195181"/>
            <a:ext cx="183681" cy="1554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957454"/>
            <a:ext cx="717115" cy="2377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844919"/>
            <a:ext cx="296236" cy="1125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707879"/>
            <a:ext cx="448951" cy="1370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661061"/>
            <a:ext cx="254672" cy="468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610018"/>
            <a:ext cx="96145" cy="510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684461"/>
            <a:ext cx="89560" cy="131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697593"/>
            <a:ext cx="150223" cy="527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750318"/>
            <a:ext cx="201652" cy="198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770146"/>
            <a:ext cx="188669" cy="427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4099214"/>
            <a:ext cx="17835" cy="1371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844919"/>
            <a:ext cx="27856" cy="2542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599783"/>
            <a:ext cx="209952" cy="2451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473729"/>
            <a:ext cx="15552" cy="1260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739318"/>
            <a:ext cx="562930" cy="78115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739318"/>
            <a:ext cx="126380" cy="7904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818359"/>
            <a:ext cx="273085" cy="443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739318"/>
            <a:ext cx="178462" cy="29162"/>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663303"/>
            <a:ext cx="39867" cy="1051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577557"/>
            <a:ext cx="149827" cy="85745"/>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711396"/>
            <a:ext cx="59051" cy="27922"/>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684212"/>
            <a:ext cx="29213" cy="2718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684461"/>
            <a:ext cx="639666" cy="83601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684461"/>
            <a:ext cx="755294" cy="55192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4236385"/>
            <a:ext cx="167140" cy="42553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661917"/>
            <a:ext cx="1183053" cy="75527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684461"/>
            <a:ext cx="431719" cy="639356"/>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323817"/>
            <a:ext cx="355879" cy="87070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323817"/>
            <a:ext cx="490715" cy="3380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661917"/>
            <a:ext cx="353484" cy="73177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661917"/>
            <a:ext cx="366559" cy="69644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4029486"/>
            <a:ext cx="1064238" cy="119845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4029486"/>
            <a:ext cx="402984" cy="2068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4236385"/>
            <a:ext cx="167140" cy="42553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684461"/>
            <a:ext cx="441435" cy="8568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770146"/>
            <a:ext cx="443800" cy="52250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484883"/>
            <a:ext cx="82296" cy="7118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782766"/>
            <a:ext cx="82296" cy="7118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732888"/>
            <a:ext cx="82296" cy="7118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371803"/>
            <a:ext cx="82296" cy="7118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407356"/>
            <a:ext cx="82296" cy="7118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192352"/>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81594"/>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413034"/>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358097"/>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322773"/>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158932"/>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484883"/>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257057"/>
            <a:ext cx="82296" cy="7118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484883"/>
            <a:ext cx="82296" cy="7118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703725"/>
            <a:ext cx="82296" cy="7118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544205"/>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857962"/>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3347399"/>
            <a:ext cx="296213" cy="292115"/>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937545"/>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407521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321293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261161"/>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303756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498682"/>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598295"/>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348324"/>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5062254"/>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2116836"/>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2075688"/>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2116836"/>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2075688"/>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2116836"/>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2075688"/>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2116836"/>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2075688"/>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2116836"/>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2075688"/>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2075688"/>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237286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2322575"/>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2372868"/>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2322575"/>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237286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2322575"/>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2322575"/>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11" name="TextBox 610"/>
          <p:cNvSpPr txBox="1"/>
          <p:nvPr/>
        </p:nvSpPr>
        <p:spPr>
          <a:xfrm>
            <a:off x="7424927" y="1627632"/>
            <a:ext cx="3685032" cy="310896"/>
          </a:xfrm>
          <a:prstGeom prst="rect">
            <a:avLst/>
          </a:prstGeom>
          <a:noFill/>
        </p:spPr>
        <p:txBody>
          <a:bodyPr wrap="square" lIns="0" rIns="0" tIns="0" bIns="0">
            <a:spAutoFit/>
          </a:bodyPr>
          <a:lstStyle/>
          <a:p>
            <a:pPr>
              <a:spcAft>
                <a:spcPts val="300"/>
              </a:spcAft>
              <a:defRPr sz="1700" b="1">
                <a:solidFill>
                  <a:srgbClr val="000000"/>
                </a:solidFill>
                <a:latin typeface="Lato"/>
              </a:defRPr>
            </a:pPr>
            <a:r>
              <a:t>Provincial contribution</a:t>
            </a:r>
          </a:p>
        </p:txBody>
      </p:sp>
      <p:graphicFrame>
        <p:nvGraphicFramePr>
          <p:cNvPr id="612" name="Table 611"/>
          <p:cNvGraphicFramePr>
            <a:graphicFrameLocks noGrp="1"/>
          </p:cNvGraphicFramePr>
          <p:nvPr/>
        </p:nvGraphicFramePr>
        <p:xfrm>
          <a:off x="7424927" y="2176272"/>
          <a:ext cx="3685032" cy="1837944"/>
        </p:xfrm>
        <a:graphic>
          <a:graphicData uri="http://schemas.openxmlformats.org/drawingml/2006/table">
            <a:tbl>
              <a:tblPr firstRow="1" bandRow="1">
                <a:tableStyleId>{2D5ABB26-0587-4C30-8999-92F81FD0307C}</a:tableStyleId>
              </a:tblPr>
              <a:tblGrid>
                <a:gridCol w="1490472"/>
                <a:gridCol w="1097280"/>
                <a:gridCol w="1097280"/>
              </a:tblGrid>
              <a:tr h="411480">
                <a:tc>
                  <a:txBody>
                    <a:bodyPr/>
                    <a:lstStyle/>
                    <a:p>
                      <a:pPr>
                        <a:spcAft>
                          <a:spcPts val="0"/>
                        </a:spcAft>
                        <a:defRPr sz="1100" b="1">
                          <a:solidFill>
                            <a:srgbClr val="000000"/>
                          </a:solidFill>
                          <a:latin typeface="Lato"/>
                        </a:defRPr>
                      </a:pPr>
                      <a:r>
                        <a:t>Province</a:t>
                      </a:r>
                    </a:p>
                  </a:txBody>
                  <a:tcPr marL="36576" marR="27432" marT="45720" marB="0">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2022 bn litres</a:t>
                      </a:r>
                    </a:p>
                  </a:txBody>
                  <a:tcPr marL="36576" marR="27432" marT="45720" marB="0">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National share</a:t>
                      </a:r>
                    </a:p>
                  </a:txBody>
                  <a:tcPr marL="36576" marR="27432" marT="45720" marB="0">
                    <a:lnB w="6350" cap="flat">
                      <a:solidFill>
                        <a:srgbClr val="EEEEEE"/>
                      </a:solidFill>
                    </a:lnB>
                    <a:solidFill>
                      <a:srgbClr val="FFFFFF"/>
                    </a:solidFill>
                  </a:tcPr>
                </a:tc>
              </a:tr>
              <a:tr h="356616">
                <a:tc>
                  <a:txBody>
                    <a:bodyPr/>
                    <a:lstStyle/>
                    <a:p>
                      <a:pPr>
                        <a:spcAft>
                          <a:spcPts val="0"/>
                        </a:spcAft>
                        <a:defRPr sz="1100" b="0">
                          <a:solidFill>
                            <a:srgbClr val="000000"/>
                          </a:solidFill>
                          <a:latin typeface="Lato"/>
                        </a:defRPr>
                      </a:pPr>
                      <a:r>
                        <a:t>Gauteng</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6.81</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31.1%</a:t>
                      </a:r>
                    </a:p>
                  </a:txBody>
                  <a:tcPr marL="36576" marR="27432" marT="45720" marB="0">
                    <a:lnB w="6350" cap="flat">
                      <a:solidFill>
                        <a:srgbClr val="EEEEEE"/>
                      </a:solidFill>
                    </a:lnB>
                    <a:solidFill>
                      <a:srgbClr val="FFFFFF"/>
                    </a:solidFill>
                  </a:tcPr>
                </a:tc>
              </a:tr>
              <a:tr h="356616">
                <a:tc>
                  <a:txBody>
                    <a:bodyPr/>
                    <a:lstStyle/>
                    <a:p>
                      <a:pPr>
                        <a:spcAft>
                          <a:spcPts val="0"/>
                        </a:spcAft>
                        <a:defRPr sz="1100" b="0">
                          <a:solidFill>
                            <a:srgbClr val="000000"/>
                          </a:solidFill>
                          <a:latin typeface="Lato"/>
                        </a:defRPr>
                      </a:pPr>
                      <a:r>
                        <a:t>KZN</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4.28</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19.6%</a:t>
                      </a:r>
                    </a:p>
                  </a:txBody>
                  <a:tcPr marL="36576" marR="27432" marT="45720" marB="0">
                    <a:lnB w="6350" cap="flat">
                      <a:solidFill>
                        <a:srgbClr val="EEEEEE"/>
                      </a:solidFill>
                    </a:lnB>
                    <a:solidFill>
                      <a:srgbClr val="FFFFFF"/>
                    </a:solidFill>
                  </a:tcPr>
                </a:tc>
              </a:tr>
              <a:tr h="356616">
                <a:tc>
                  <a:txBody>
                    <a:bodyPr/>
                    <a:lstStyle/>
                    <a:p>
                      <a:pPr>
                        <a:spcAft>
                          <a:spcPts val="0"/>
                        </a:spcAft>
                        <a:defRPr sz="1100" b="0">
                          <a:solidFill>
                            <a:srgbClr val="000000"/>
                          </a:solidFill>
                          <a:latin typeface="Lato"/>
                        </a:defRPr>
                      </a:pPr>
                      <a:r>
                        <a:t>Western Cape</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3.93</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17.9%</a:t>
                      </a:r>
                    </a:p>
                  </a:txBody>
                  <a:tcPr marL="36576" marR="27432" marT="45720" marB="0">
                    <a:lnB w="6350" cap="flat">
                      <a:solidFill>
                        <a:srgbClr val="EEEEEE"/>
                      </a:solidFill>
                    </a:lnB>
                    <a:solidFill>
                      <a:srgbClr val="FFFFFF"/>
                    </a:solidFill>
                  </a:tcPr>
                </a:tc>
              </a:tr>
              <a:tr h="356616">
                <a:tc>
                  <a:txBody>
                    <a:bodyPr/>
                    <a:lstStyle/>
                    <a:p>
                      <a:pPr>
                        <a:spcAft>
                          <a:spcPts val="0"/>
                        </a:spcAft>
                        <a:defRPr sz="1100" b="0">
                          <a:solidFill>
                            <a:srgbClr val="000000"/>
                          </a:solidFill>
                          <a:latin typeface="Lato"/>
                        </a:defRPr>
                      </a:pPr>
                      <a:r>
                        <a:t>Combined</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15.02</a:t>
                      </a:r>
                    </a:p>
                  </a:txBody>
                  <a:tcPr marL="36576" marR="27432" marT="45720" marB="0">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68.6%</a:t>
                      </a:r>
                    </a:p>
                  </a:txBody>
                  <a:tcPr marL="36576" marR="27432" marT="45720" marB="0">
                    <a:lnB w="6350" cap="flat">
                      <a:solidFill>
                        <a:srgbClr val="EEEEEE"/>
                      </a:solidFill>
                    </a:lnB>
                    <a:solidFill>
                      <a:srgbClr val="FFFFFF"/>
                    </a:solidFill>
                  </a:tcPr>
                </a:tc>
              </a:tr>
            </a:tbl>
          </a:graphicData>
        </a:graphic>
      </p:graphicFrame>
      <p:sp>
        <p:nvSpPr>
          <p:cNvPr id="613" name="TextBox 612"/>
          <p:cNvSpPr txBox="1"/>
          <p:nvPr/>
        </p:nvSpPr>
        <p:spPr>
          <a:xfrm>
            <a:off x="7424927" y="4279392"/>
            <a:ext cx="3685032" cy="594360"/>
          </a:xfrm>
          <a:prstGeom prst="rect">
            <a:avLst/>
          </a:prstGeom>
          <a:noFill/>
        </p:spPr>
        <p:txBody>
          <a:bodyPr wrap="square" lIns="0" rIns="0" tIns="0" bIns="0">
            <a:spAutoFit/>
          </a:bodyPr>
          <a:lstStyle/>
          <a:p>
            <a:pPr>
              <a:spcAft>
                <a:spcPts val="300"/>
              </a:spcAft>
              <a:defRPr sz="1300" b="1">
                <a:solidFill>
                  <a:srgbClr val="000000"/>
                </a:solidFill>
                <a:latin typeface="Lato"/>
              </a:defRPr>
            </a:pPr>
            <a:r>
              <a:t>Gauteng and KZN together account for 50.7% of reported sales.</a:t>
            </a:r>
          </a:p>
        </p:txBody>
      </p:sp>
      <p:sp>
        <p:nvSpPr>
          <p:cNvPr id="614" name="TextBox 613"/>
          <p:cNvSpPr txBox="1"/>
          <p:nvPr/>
        </p:nvSpPr>
        <p:spPr>
          <a:xfrm>
            <a:off x="7424927" y="5111496"/>
            <a:ext cx="3685032" cy="914400"/>
          </a:xfrm>
          <a:prstGeom prst="rect">
            <a:avLst/>
          </a:prstGeom>
          <a:noFill/>
        </p:spPr>
        <p:txBody>
          <a:bodyPr wrap="square" lIns="0" rIns="0" tIns="0" bIns="0">
            <a:spAutoFit/>
          </a:bodyPr>
          <a:lstStyle/>
          <a:p>
            <a:pPr>
              <a:spcAft>
                <a:spcPts val="300"/>
              </a:spcAft>
              <a:defRPr sz="1150" b="0">
                <a:solidFill>
                  <a:srgbClr val="000000"/>
                </a:solidFill>
                <a:latin typeface="Lato"/>
              </a:defRPr>
            </a:pPr>
            <a:r>
              <a:t>Shares use unrounded 2022 provincial source values. Reported sales locate demand; they do not establish Vopak customer access.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Anchor demand cases in broadly steady pre-2023 sales; keep later estimates separate</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6</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1" name="Connector 7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Start with the observed pattern</a:t>
            </a:r>
          </a:p>
        </p:txBody>
      </p:sp>
      <p:sp>
        <p:nvSpPr>
          <p:cNvPr id="73" name="TextBox 7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remains the largest province through 2013–2022. Volumes were broadly steady, with a clear pandemic dip.</a:t>
            </a:r>
          </a:p>
        </p:txBody>
      </p:sp>
      <p:sp>
        <p:nvSpPr>
          <p:cNvPr id="74" name="TextBox 7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2024 estimates separate</a:t>
            </a:r>
          </a:p>
        </p:txBody>
      </p:sp>
      <p:sp>
        <p:nvSpPr>
          <p:cNvPr id="75" name="TextBox 7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Petrol estimates hold 2022 shares: GP 3.47, KZN 1.47 and WC 1.41 bn litres. These are not observed provincial sales.</a:t>
            </a:r>
          </a:p>
        </p:txBody>
      </p:sp>
      <p:sp>
        <p:nvSpPr>
          <p:cNvPr id="76" name="TextBox 7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Resolve the remaining source choices</a:t>
            </a:r>
          </a:p>
        </p:txBody>
      </p:sp>
      <p:sp>
        <p:nvSpPr>
          <p:cNvPr id="77" name="TextBox 7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fixed the 2013 parser and traced 2015 to a revision. The 2014 conflict and incomplete 2018 coverage still need decisions.</a:t>
            </a:r>
          </a:p>
        </p:txBody>
      </p:sp>
      <p:cxnSp>
        <p:nvCxnSpPr>
          <p:cNvPr id="78" name="Connector 7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0" name="TextBox 7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close the source choices. Nigel: decide whether held-share petrol estimates support the outlook; test diesel separately.</a:t>
            </a:r>
          </a:p>
        </p:txBody>
      </p:sp>
      <p:sp>
        <p:nvSpPr>
          <p:cNvPr id="8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Reconcile national supply before assigning imports to provincial demand</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7</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770631"/>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761488"/>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761488"/>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7614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30815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3072383"/>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3072383"/>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3072383"/>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3924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383280"/>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383280"/>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3832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70331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694176"/>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694176"/>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6941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40142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4005072"/>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4005072"/>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40050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3251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315968"/>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315968"/>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3159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6360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626864"/>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626864"/>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6268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94690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937760"/>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937760"/>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93776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25780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248656"/>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248656"/>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24865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2112264"/>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2112264"/>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
        <p:nvSpPr>
          <p:cNvPr id="10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C3. Test passenger, freight and sector activity separately before forecasting fuel demand</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8</a:t>
            </a:r>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C3. Test diesel power, vehicle mix and prices alongside industrial demand</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9</a:t>
            </a:r>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C4. Published refinery capacity has halved; keep restart upside conditional</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10</a:t>
            </a:r>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2697480"/>
          <a:ext cx="3108960" cy="2788920"/>
        </p:xfrm>
        <a:graphic>
          <a:graphicData uri="http://schemas.openxmlformats.org/drawingml/2006/chart">
            <c:chart xmlns:c="http://schemas.openxmlformats.org/drawingml/2006/chart" r:id="rId3"/>
          </a:graphicData>
        </a:graphic>
      </p:graphicFrame>
      <p:sp>
        <p:nvSpPr>
          <p:cNvPr id="32" name="TextBox 31"/>
          <p:cNvSpPr txBox="1"/>
          <p:nvPr/>
        </p:nvSpPr>
        <p:spPr>
          <a:xfrm>
            <a:off x="457200"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2697480"/>
          <a:ext cx="3108960" cy="2788920"/>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8" name="Connector 6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Plan around the smaller footprint</a:t>
            </a:r>
          </a:p>
        </p:txBody>
      </p:sp>
      <p:sp>
        <p:nvSpPr>
          <p:cNvPr id="70" name="TextBox 6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capacity falls from 718 to 358 thousand bbl/day between 2020 and 2022. A restart remains conditional.</a:t>
            </a:r>
          </a:p>
        </p:txBody>
      </p:sp>
      <p:sp>
        <p:nvSpPr>
          <p:cNvPr id="71" name="TextBox 7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output for the fuel balance</a:t>
            </a:r>
          </a:p>
        </p:txBody>
      </p:sp>
      <p:sp>
        <p:nvSpPr>
          <p:cNvPr id="72" name="TextBox 7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FY2024 output is 29.1 million barrels at Secunda and 17.8 for Sasol’s Natref share; both cover all products and fiscal years.</a:t>
            </a:r>
          </a:p>
        </p:txBody>
      </p:sp>
      <p:sp>
        <p:nvSpPr>
          <p:cNvPr id="73" name="TextBox 7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the restart as a separate case</a:t>
            </a:r>
          </a:p>
        </p:txBody>
      </p:sp>
      <p:sp>
        <p:nvSpPr>
          <p:cNvPr id="74" name="TextBox 7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yields, downtime and calendar years before estimating imports. Nameplate capacity does not establish petrol/diesel output.</a:t>
            </a:r>
          </a:p>
        </p:txBody>
      </p:sp>
      <p:cxnSp>
        <p:nvCxnSpPr>
          <p:cNvPr id="75" name="Connector 7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7" name="TextBox 7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build the product/year output bridge. Henry: review plant assumptions. Nigel: agree conditional restart timing.</a:t>
            </a:r>
          </a:p>
        </p:txBody>
      </p:sp>
      <p:sp>
        <p:nvSpPr>
          <p:cNvPr id="7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C3 / C4. Agree low, base and high levers before using the outlook for decisions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11</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C3 / C4. Test freight, rail and power before setting diesel import requirements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12</a:t>
            </a:r>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C3 / C4. Build jet demand from aircraft movements and fuel burn before estimating imports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13</a:t>
            </a:r>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C3 / C4. Test travel, fleet growth and electrification before setting petrol import requirements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14</a:t>
            </a:r>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The cost illustration compares road delivery from Durban and Lesedi</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15</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39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9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9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399" name="TextBox 339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3400" name="Connector 339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401" name="TextBox 340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road cost as the first screen</a:t>
            </a:r>
          </a:p>
        </p:txBody>
      </p:sp>
      <p:sp>
        <p:nvSpPr>
          <p:cNvPr id="3402" name="TextBox 340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Each 25 km cell shows the lower illustrative road cost from Durban or Lesedi. Destinations are grid cells, not customers.</a:t>
            </a:r>
          </a:p>
        </p:txBody>
      </p:sp>
      <p:sp>
        <p:nvSpPr>
          <p:cNvPr id="3403" name="TextBox 340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grey areas unassessed</a:t>
            </a:r>
          </a:p>
        </p:txBody>
      </p:sp>
      <p:sp>
        <p:nvSpPr>
          <p:cNvPr id="3404" name="TextBox 340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Grey marks no assessed connection under the schematic rule. It does not establish that a customer is unreachable.</a:t>
            </a:r>
          </a:p>
        </p:txBody>
      </p:sp>
      <p:sp>
        <p:nvSpPr>
          <p:cNvPr id="3405" name="TextBox 340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Prove the full service proposition</a:t>
            </a:r>
          </a:p>
        </p:txBody>
      </p:sp>
      <p:sp>
        <p:nvSpPr>
          <p:cNvPr id="3406" name="TextBox 340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Pipeline/rail lines are context. Route capacity, product compatibility, receipt/dispatch and customer rights still need evidence.</a:t>
            </a:r>
          </a:p>
        </p:txBody>
      </p:sp>
      <p:cxnSp>
        <p:nvCxnSpPr>
          <p:cNvPr id="3407" name="Connector 340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408" name="TextBox 340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3409" name="TextBox 340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choose a destination and cost/service threshold. Manish: replace example rates with dated route quotes and access evidence.</a:t>
            </a:r>
          </a:p>
        </p:txBody>
      </p:sp>
      <p:sp>
        <p:nvSpPr>
          <p:cNvPr id="34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Matola and Walvis Bay add alternative supply nodes to the inland market</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16</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Existing gateways and potential inland distribution nodes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14300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 demand</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6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63" name="TextBox 162"/>
          <p:cNvSpPr txBox="1"/>
          <p:nvPr/>
        </p:nvSpPr>
        <p:spPr>
          <a:xfrm>
            <a:off x="7424927" y="1627632"/>
            <a:ext cx="3685032" cy="310896"/>
          </a:xfrm>
          <a:prstGeom prst="rect">
            <a:avLst/>
          </a:prstGeom>
          <a:noFill/>
        </p:spPr>
        <p:txBody>
          <a:bodyPr wrap="square" lIns="0" rIns="0" tIns="0" bIns="0">
            <a:spAutoFit/>
          </a:bodyPr>
          <a:lstStyle/>
          <a:p>
            <a:pPr>
              <a:spcAft>
                <a:spcPts val="300"/>
              </a:spcAft>
              <a:defRPr sz="1700" b="1">
                <a:solidFill>
                  <a:srgbClr val="000000"/>
                </a:solidFill>
                <a:latin typeface="Lato"/>
              </a:defRPr>
            </a:pPr>
            <a:r>
              <a:t>Implication for Vopak</a:t>
            </a:r>
          </a:p>
        </p:txBody>
      </p:sp>
      <p:sp>
        <p:nvSpPr>
          <p:cNvPr id="164" name="TextBox 163"/>
          <p:cNvSpPr txBox="1"/>
          <p:nvPr/>
        </p:nvSpPr>
        <p:spPr>
          <a:xfrm>
            <a:off x="7424927" y="2194560"/>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Existing alternative gateways</a:t>
            </a:r>
          </a:p>
        </p:txBody>
      </p:sp>
      <p:sp>
        <p:nvSpPr>
          <p:cNvPr id="165" name="TextBox 164"/>
          <p:cNvSpPr txBox="1"/>
          <p:nvPr/>
        </p:nvSpPr>
        <p:spPr>
          <a:xfrm>
            <a:off x="7424927" y="2542032"/>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published inventory includes 60,000 m3 of petrol/diesel storage at Matola's GIMTL and 65,000 m3 at Walvis Bay's NOSF.</a:t>
            </a:r>
          </a:p>
        </p:txBody>
      </p:sp>
      <p:sp>
        <p:nvSpPr>
          <p:cNvPr id="166" name="TextBox 165"/>
          <p:cNvSpPr txBox="1"/>
          <p:nvPr/>
        </p:nvSpPr>
        <p:spPr>
          <a:xfrm>
            <a:off x="7424927" y="3236976"/>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Potential inland nodes</a:t>
            </a:r>
          </a:p>
        </p:txBody>
      </p:sp>
      <p:sp>
        <p:nvSpPr>
          <p:cNvPr id="167" name="TextBox 166"/>
          <p:cNvSpPr txBox="1"/>
          <p:nvPr/>
        </p:nvSpPr>
        <p:spPr>
          <a:xfrm>
            <a:off x="7424927" y="3584448"/>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Transnet depot lease offers identify possible inland distribution nodes. Refurbishment, licensing and commercial operation remain conditional.</a:t>
            </a:r>
          </a:p>
        </p:txBody>
      </p:sp>
      <p:sp>
        <p:nvSpPr>
          <p:cNvPr id="168" name="TextBox 167"/>
          <p:cNvSpPr txBox="1"/>
          <p:nvPr/>
        </p:nvSpPr>
        <p:spPr>
          <a:xfrm>
            <a:off x="7424927" y="4279392"/>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What would demonstrate a market shift</a:t>
            </a:r>
          </a:p>
        </p:txBody>
      </p:sp>
      <p:sp>
        <p:nvSpPr>
          <p:cNvPr id="169" name="TextBox 168"/>
          <p:cNvSpPr txBox="1"/>
          <p:nvPr/>
        </p:nvSpPr>
        <p:spPr>
          <a:xfrm>
            <a:off x="7424927" y="4626864"/>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Commissioning dates, growth in handled volumes and changes in delivered cost would show whether these nodes are changing inland supply patterns.</a:t>
            </a:r>
          </a:p>
        </p:txBody>
      </p:sp>
      <p:sp>
        <p:nvSpPr>
          <p:cNvPr id="170" name="TextBox 169"/>
          <p:cNvSpPr txBox="1"/>
          <p:nvPr/>
        </p:nvSpPr>
        <p:spPr>
          <a:xfrm>
            <a:off x="7424927" y="5431536"/>
            <a:ext cx="3685032" cy="256032"/>
          </a:xfrm>
          <a:prstGeom prst="rect">
            <a:avLst/>
          </a:prstGeom>
          <a:noFill/>
        </p:spPr>
        <p:txBody>
          <a:bodyPr wrap="square" lIns="0" rIns="0" tIns="0" bIns="0">
            <a:spAutoFit/>
          </a:bodyPr>
          <a:lstStyle/>
          <a:p>
            <a:pPr>
              <a:spcAft>
                <a:spcPts val="300"/>
              </a:spcAft>
              <a:defRPr sz="1250" b="1">
                <a:solidFill>
                  <a:srgbClr val="000000"/>
                </a:solidFill>
                <a:latin typeface="Lato"/>
              </a:defRPr>
            </a:pPr>
            <a:r>
              <a:t>Current work</a:t>
            </a:r>
          </a:p>
        </p:txBody>
      </p:sp>
      <p:sp>
        <p:nvSpPr>
          <p:cNvPr id="171" name="TextBox 170"/>
          <p:cNvSpPr txBox="1"/>
          <p:nvPr/>
        </p:nvSpPr>
        <p:spPr>
          <a:xfrm>
            <a:off x="7424927" y="5760720"/>
            <a:ext cx="3685032" cy="548640"/>
          </a:xfrm>
          <a:prstGeom prst="rect">
            <a:avLst/>
          </a:prstGeom>
          <a:noFill/>
        </p:spPr>
        <p:txBody>
          <a:bodyPr wrap="square" lIns="0" rIns="0" tIns="0" bIns="0">
            <a:spAutoFit/>
          </a:bodyPr>
          <a:lstStyle/>
          <a:p>
            <a:pPr>
              <a:spcAft>
                <a:spcPts val="300"/>
              </a:spcAft>
              <a:defRPr sz="1150" b="0">
                <a:solidFill>
                  <a:srgbClr val="000000"/>
                </a:solidFill>
                <a:latin typeface="Lato"/>
              </a:defRPr>
            </a:pPr>
            <a:r>
              <a:t>Compare the same product and inland destination. Record existing operations separately from proposed facilities.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Prioritise Durban and Lesedi; verify usable capacity before sizing growth</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17</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194560"/>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0574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011680"/>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057400"/>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011680"/>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1" name="TextBox 13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2" name="Connector 1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
        <p:nvSpPr>
          <p:cNvPr id="14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Supporting method: terminal transfers can count the same fuel twice</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23</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24.</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3.0 result removes the shared transfer and assumes no net stock change or other adjustments. Actual flows remain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24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
        <p:nvSpPr>
          <p:cNvPr id="2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Supporting method: how route and customer evidence would narrow an opportunity</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24</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Verify turnover before translating tankage into annual handling</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18</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423160"/>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103120"/>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057400"/>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103120"/>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057400"/>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103120"/>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057400"/>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0" name="Connector 12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
        <p:nvSpPr>
          <p:cNvPr id="14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Supporting method: inventory days convert annual flow into working stock</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25</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Gauteng and KZN are the first markets to assess against Vopak's existing facilities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19</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2022 departmental provincial sales; SARS 2024 trade; published Vopak, Matola and Walvis Bay inventory; Transnet lease offers. Additional Vopak volumes remain unquantified.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29" name="Table 28"/>
          <p:cNvGraphicFramePr>
            <a:graphicFrameLocks noGrp="1"/>
          </p:cNvGraphicFramePr>
          <p:nvPr/>
        </p:nvGraphicFramePr>
        <p:xfrm>
          <a:off x="457200" y="1938528"/>
          <a:ext cx="10652760" cy="3438144"/>
        </p:xfrm>
        <a:graphic>
          <a:graphicData uri="http://schemas.openxmlformats.org/drawingml/2006/table">
            <a:tbl>
              <a:tblPr firstRow="1" bandRow="1">
                <a:tableStyleId>{2D5ABB26-0587-4C30-8999-92F81FD0307C}</a:tableStyleId>
              </a:tblPr>
              <a:tblGrid>
                <a:gridCol w="1143000"/>
                <a:gridCol w="3200400"/>
                <a:gridCol w="3017520"/>
                <a:gridCol w="3291840"/>
              </a:tblGrid>
              <a:tr h="420624">
                <a:tc>
                  <a:txBody>
                    <a:bodyPr/>
                    <a:lstStyle/>
                    <a:p>
                      <a:pPr>
                        <a:spcAft>
                          <a:spcPts val="0"/>
                        </a:spcAft>
                        <a:defRPr sz="1200" b="1">
                          <a:solidFill>
                            <a:srgbClr val="000000"/>
                          </a:solidFill>
                          <a:latin typeface="Lato"/>
                        </a:defRPr>
                      </a:pPr>
                      <a:r>
                        <a:t>Site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Current evidence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Implication for Vopak</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Evidence still needed</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Durban</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KZN accounts for 19.6% of reported 2022 fuel sales. Diesel is the largest component of national net imports.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coastal demand and inland flows that Durban could handle.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product volumes, customer destinations and usable fuel capacity.</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Lesedi</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Gauteng accounts for 31.1% of reported 2022 fuel sales, the largest provincial share.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inland demand against Lesedi's receipt and dispatch capability.</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throughput and the full delivered cost from competing gateways.</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Competing nodes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Matola and Walvis Bay have published petrol/diesel storage. Inland depot lease offers could add distribution points.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Establish where alternative supply routes could change Vopak's inland business.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Operating status, handled volumes, route costs and service to the same destinations.</a:t>
                      </a:r>
                    </a:p>
                  </a:txBody>
                  <a:tcPr marL="36576" marR="27432" marT="45720" marB="0">
                    <a:lnB w="6350" cap="flat">
                      <a:solidFill>
                        <a:srgbClr val="EEEEEE"/>
                      </a:solidFill>
                    </a:lnB>
                    <a:solidFill>
                      <a:srgbClr val="FFFFFF"/>
                    </a:solidFill>
                  </a:tcPr>
                </a:tc>
              </a:tr>
            </a:tbl>
          </a:graphicData>
        </a:graphic>
      </p:graphicFrame>
      <p:sp>
        <p:nvSpPr>
          <p:cNvPr id="30" name="TextBox 29"/>
          <p:cNvSpPr txBox="1"/>
          <p:nvPr/>
        </p:nvSpPr>
        <p:spPr>
          <a:xfrm>
            <a:off x="457200" y="5724144"/>
            <a:ext cx="10652760" cy="502920"/>
          </a:xfrm>
          <a:prstGeom prst="rect">
            <a:avLst/>
          </a:prstGeom>
          <a:noFill/>
        </p:spPr>
        <p:txBody>
          <a:bodyPr wrap="square" lIns="0" rIns="0" tIns="0" bIns="0">
            <a:spAutoFit/>
          </a:bodyPr>
          <a:lstStyle/>
          <a:p>
            <a:pPr>
              <a:spcAft>
                <a:spcPts val="300"/>
              </a:spcAft>
              <a:defRPr sz="1300" b="1">
                <a:solidFill>
                  <a:srgbClr val="000000"/>
                </a:solidFill>
                <a:latin typeface="Lato"/>
              </a:defRPr>
            </a:pPr>
            <a:r>
              <a:t>The current evidence identifies priority markets. It does not yet quantify additional Vopak volumes or a requirement for new tanks.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Fuel-baseline reconciliation and assumption review are active</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20</a:t>
            </a:r>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Current activity and proposed delivery sequence, as at 7 October 2026</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1  Fuel baseline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2  Assumption review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defRPr sz="1000" b="1">
                          <a:solidFill>
                            <a:srgbClr val="0A2373"/>
                          </a:solidFill>
                          <a:latin typeface="Lato"/>
                        </a:defRPr>
                      </a:pPr>
                      <a:r>
                        <a:t>Storyline and evidence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Active: source reconciliation, sector baselines and assumption definitions. Forecast runs follow reviewed inputs.</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ACTIVE = current work; grey = proposed timing; diamonds = proposed checkpoints. Active does not mean complete.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latin typeface="Lato"/>
              </a:defRPr>
            </a:pPr>
            <a:r>
              <a:rPr>
                <a:latin typeface="Lato"/>
              </a:rPr>
              <a:t>R7. Close the baseline and agree forecast inputs before integrating Manish’s handback</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21</a:t>
            </a:r>
          </a:p>
        </p:txBody>
      </p:sp>
      <p:sp>
        <p:nvSpPr>
          <p:cNvPr id="19"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TextBox 22"/>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Manish’s focus | 7 October 2026 | proposed outputs and Nigel’s review decisions</a:t>
            </a:r>
          </a:p>
        </p:txBody>
      </p:sp>
      <p:graphicFrame>
        <p:nvGraphicFramePr>
          <p:cNvPr id="24" name="Table 23"/>
          <p:cNvGraphicFramePr>
            <a:graphicFrameLocks noGrp="1"/>
          </p:cNvGraphicFramePr>
          <p:nvPr/>
        </p:nvGraphicFramePr>
        <p:xfrm>
          <a:off x="457200" y="2148840"/>
          <a:ext cx="10652759" cy="3410712"/>
        </p:xfrm>
        <a:graphic>
          <a:graphicData uri="http://schemas.openxmlformats.org/drawingml/2006/table">
            <a:tbl>
              <a:tblPr firstRow="1" bandRow="1">
                <a:tableStyleId>{2D5ABB26-0587-4C30-8999-92F81FD0307C}</a:tableStyleId>
              </a:tblPr>
              <a:tblGrid>
                <a:gridCol w="1874519"/>
                <a:gridCol w="5120640"/>
                <a:gridCol w="3657600"/>
              </a:tblGrid>
              <a:tr h="438912">
                <a:tc>
                  <a:txBody>
                    <a:bodyPr/>
                    <a:lstStyle/>
                    <a:p>
                      <a:pPr>
                        <a:spcAft>
                          <a:spcPts val="0"/>
                        </a:spcAft>
                        <a:defRPr sz="1200" b="1">
                          <a:solidFill>
                            <a:srgbClr val="000000"/>
                          </a:solidFill>
                          <a:latin typeface="Lato"/>
                        </a:defRPr>
                      </a:pPr>
                      <a:r>
                        <a:t>Priority / focus</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Manish: output today</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Nigel: decision / review</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1  National balance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Present the corrected petrol/diesel balance, source differences and missing production / stocks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2024 sales source; review corrected SARS trade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2  Forecast levers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Complete diesel, jet and petrol tables: baseline and L/M/H inputs for 2030 / 2035, with units, rationale and sources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Challenge ranges; agree the reference case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3  Sector baselines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Propose agriculture / industry starting values; identify overlaps and double counting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starting values for the model</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4  Tank handling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Set site assumptions for usable fuel capacity, monthly turns and receipt / dispatch limits; label evidence and estimates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provisional operating ranges</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5  Reviewable handback</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Check pack figures against originals; refresh handback and list ready, proposed and unresolved items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Review corrections before integration into main</a:t>
                      </a:r>
                    </a:p>
                  </a:txBody>
                  <a:tcPr marL="36576" marR="27432" marT="45720" marB="0">
                    <a:lnB w="6350" cap="flat">
                      <a:solidFill>
                        <a:srgbClr val="EEEEEE"/>
                      </a:solidFill>
                    </a:lnB>
                    <a:solidFill>
                      <a:srgbClr val="FFFFFF"/>
                    </a:solidFill>
                  </a:tcPr>
                </a:tc>
              </a:tr>
            </a:tbl>
          </a:graphicData>
        </a:graphic>
      </p:graphicFrame>
      <p:sp>
        <p:nvSpPr>
          <p:cNvPr id="25" name="TextBox 24"/>
          <p:cNvSpPr txBox="1"/>
          <p:nvPr/>
        </p:nvSpPr>
        <p:spPr>
          <a:xfrm>
            <a:off x="457200" y="5733288"/>
            <a:ext cx="10652760" cy="393192"/>
          </a:xfrm>
          <a:prstGeom prst="rect">
            <a:avLst/>
          </a:prstGeom>
          <a:noFill/>
        </p:spPr>
        <p:txBody>
          <a:bodyPr wrap="square" lIns="0" rIns="0" tIns="0" bIns="0">
            <a:spAutoFit/>
          </a:bodyPr>
          <a:lstStyle/>
          <a:p>
            <a:pPr>
              <a:spcAft>
                <a:spcPts val="300"/>
              </a:spcAft>
              <a:defRPr sz="1300" b="1">
                <a:solidFill>
                  <a:srgbClr val="404040"/>
                </a:solidFill>
                <a:latin typeface="Lato"/>
              </a:defRPr>
            </a:pPr>
            <a:r>
              <a:t>End-of-day target: a reviewed baseline, three comparable fuel input tables and an owned decision log</a:t>
            </a:r>
          </a:p>
        </p:txBody>
      </p:sp>
      <p:sp>
        <p:nvSpPr>
          <p:cNvPr id="26" name="TextBox 25"/>
          <p:cNvSpPr txBox="1"/>
          <p:nvPr/>
        </p:nvSpPr>
        <p:spPr>
          <a:xfrm>
            <a:off x="457200" y="6217920"/>
            <a:ext cx="1065276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Latest balance and EV corrections are supplied on Manish’s branch; review and integration remain outstanding.</a:t>
            </a:r>
          </a:p>
        </p:txBody>
      </p:sp>
      <p:sp>
        <p:nvSpPr>
          <p:cNvPr id="2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Manish handback update, 7 Oct 2026 (ef1720a); Nigel’s agreed focus table. Targets proposed; no acceptance inferred.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22</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26</a:t>
            </a:r>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C3 / C4. Henry storyboard answers | Market baseline</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27</a:t>
            </a:r>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defRPr sz="1000">
                          <a:solidFill>
                            <a:srgbClr val="000000"/>
                          </a:solidFill>
                          <a:latin typeface="Lato"/>
                        </a:defRPr>
                      </a:pPr>
                      <a:r>
                        <a:t>Reported 2024 sales: petrol 9.029 bn L and diesel 11.734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15</a:t>
                      </a:r>
                      <a:r>
                        <a:rPr sz="1050">
                          <a:solidFill>
                            <a:srgbClr val="0A2373"/>
                          </a:solidFill>
                          <a:latin typeface="Lato"/>
                          <a:hlinkClick r:id="rId6" action="ppaction://hlinksldjump"/>
                        </a:rPr>
                        <a:t> / 23</a:t>
                      </a:r>
                      <a:r>
                        <a:rPr sz="1050">
                          <a:solidFill>
                            <a:srgbClr val="0A2373"/>
                          </a:solidFill>
                          <a:latin typeface="Lato"/>
                          <a:hlinkClick r:id="rId7" action="ppaction://hlinksldjump"/>
                        </a:rPr>
                        <a:t> / 24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C3 / C4 / C5. Henry storyboard answers | Market changes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28</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13" action="ppaction://hlinksldjump"/>
                        </a:rPr>
                        <a:t> / 12</a:t>
                      </a:r>
                      <a:r>
                        <a:rPr sz="1050">
                          <a:solidFill>
                            <a:srgbClr val="0A2373"/>
                          </a:solidFill>
                          <a:latin typeface="Lato"/>
                          <a:hlinkClick r:id="rId16" action="ppaction://hlinksldjump"/>
                        </a:rPr>
                        <a:t> / 13</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24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16</a:t>
                      </a:r>
                      <a:r>
                        <a:rPr sz="1050">
                          <a:solidFill>
                            <a:srgbClr val="0A2373"/>
                          </a:solidFill>
                          <a:latin typeface="Lato"/>
                          <a:hlinkClick r:id="rId7" action="ppaction://hlinksldjump"/>
                        </a:rPr>
                        <a:t> / 24</a:t>
                      </a:r>
                      <a:r>
                        <a:rPr sz="1050">
                          <a:solidFill>
                            <a:srgbClr val="0A2373"/>
                          </a:solidFill>
                          <a:latin typeface="Lato"/>
                          <a:hlinkClick r:id="rId8"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29</a:t>
            </a:r>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23</a:t>
                      </a:r>
                      <a:r>
                        <a:rPr sz="1050">
                          <a:solidFill>
                            <a:srgbClr val="0A2373"/>
                          </a:solidFill>
                          <a:latin typeface="Lato"/>
                          <a:hlinkClick r:id="rId3" action="ppaction://hlinksldjump"/>
                        </a:rPr>
                        <a:t> / 18</a:t>
                      </a:r>
                      <a:r>
                        <a:rPr sz="1050">
                          <a:solidFill>
                            <a:srgbClr val="0A2373"/>
                          </a:solidFill>
                          <a:latin typeface="Lato"/>
                          <a:hlinkClick r:id="rId4" action="ppaction://hlinksldjump"/>
                        </a:rPr>
                        <a:t> / 24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17</a:t>
                      </a:r>
                      <a:r>
                        <a:rPr sz="1050">
                          <a:solidFill>
                            <a:srgbClr val="0A2373"/>
                          </a:solidFill>
                          <a:latin typeface="Lato"/>
                          <a:hlinkClick r:id="rId6" action="ppaction://hlinksldjump"/>
                        </a:rPr>
                        <a:t> / 19</a:t>
                      </a:r>
                      <a:r>
                        <a:rPr sz="1050">
                          <a:solidFill>
                            <a:srgbClr val="0A2373"/>
                          </a:solidFill>
                          <a:latin typeface="Lato"/>
                          <a:hlinkClick r:id="rId7" action="ppaction://hlinksldjump"/>
                        </a:rPr>
                        <a:t> / 25</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pPr>
              <a:defRPr sz="1000">
                <a:solidFill>
                  <a:srgbClr val="000000"/>
                </a:solidFill>
                <a:latin typeface="Lato"/>
              </a:defRPr>
            </a:pPr>
            <a:r>
              <a:t>31</a:t>
            </a:r>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pPr>
              <a:defRPr sz="1000">
                <a:solidFill>
                  <a:srgbClr val="000000"/>
                </a:solidFill>
                <a:latin typeface="Lato"/>
              </a:defRPr>
            </a:pPr>
            <a:r>
              <a:t>31</a:t>
            </a:r>
          </a:p>
        </p:txBody>
      </p: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