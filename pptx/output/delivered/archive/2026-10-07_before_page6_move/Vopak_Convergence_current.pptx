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charts/chart19.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81" r:id="rId36"/>
    <p:sldId id="267" r:id="rId22"/>
    <p:sldId id="268" r:id="rId23"/>
    <p:sldId id="262" r:id="rId17"/>
    <p:sldId id="264" r:id="rId19"/>
    <p:sldId id="270" r:id="rId25"/>
    <p:sldId id="258" r:id="rId5"/>
    <p:sldId id="271" r:id="rId26"/>
    <p:sldId id="266" r:id="rId21"/>
    <p:sldId id="265" r:id="rId20"/>
    <p:sldId id="274" r:id="rId29"/>
    <p:sldId id="282" r:id="rId37"/>
    <p:sldId id="288" r:id="rId43"/>
    <p:sldId id="280" r:id="rId35"/>
    <p:sldId id="269" r:id="rId24"/>
    <p:sldId id="284" r:id="rId39"/>
    <p:sldId id="275" r:id="rId30"/>
    <p:sldId id="285" r:id="rId40"/>
    <p:sldId id="286" r:id="rId41"/>
    <p:sldId id="287" r:id="rId42"/>
    <p:sldId id="259" r:id="rId16"/>
    <p:sldId id="272" r:id="rId27"/>
    <p:sldId id="273" r:id="rId28"/>
    <p:sldId id="283" r:id="rId3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8.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22.xml"/><Relationship Id="rId17" Type="http://schemas.openxmlformats.org/officeDocument/2006/relationships/slide" Target="slides/slide5.xml"/><Relationship Id="rId18" Type="http://schemas.openxmlformats.org/officeDocument/2006/relationships/slide" Target="slides/slide29.xml"/><Relationship Id="rId19" Type="http://schemas.openxmlformats.org/officeDocument/2006/relationships/slide" Target="slides/slide6.xml"/><Relationship Id="rId20" Type="http://schemas.openxmlformats.org/officeDocument/2006/relationships/slide" Target="slides/slide11.xml"/><Relationship Id="rId21" Type="http://schemas.openxmlformats.org/officeDocument/2006/relationships/slide" Target="slides/slide10.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16.xml"/><Relationship Id="rId25" Type="http://schemas.openxmlformats.org/officeDocument/2006/relationships/slide" Target="slides/slide7.xml"/><Relationship Id="rId26" Type="http://schemas.openxmlformats.org/officeDocument/2006/relationships/slide" Target="slides/slide9.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12.xml"/><Relationship Id="rId30" Type="http://schemas.openxmlformats.org/officeDocument/2006/relationships/slide" Target="slides/slide18.xml"/><Relationship Id="rId31" Type="http://schemas.openxmlformats.org/officeDocument/2006/relationships/slide" Target="slides/slide30.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15.xml"/><Relationship Id="rId36" Type="http://schemas.openxmlformats.org/officeDocument/2006/relationships/slide" Target="slides/slide2.xml"/><Relationship Id="rId37" Type="http://schemas.openxmlformats.org/officeDocument/2006/relationships/slide" Target="slides/slide13.xml"/><Relationship Id="rId38" Type="http://schemas.openxmlformats.org/officeDocument/2006/relationships/slide" Target="slides/slide25.xml"/><Relationship Id="rId39" Type="http://schemas.openxmlformats.org/officeDocument/2006/relationships/slide" Target="slides/slide17.xml"/><Relationship Id="rId40" Type="http://schemas.openxmlformats.org/officeDocument/2006/relationships/slide" Target="slides/slide19.xml"/><Relationship Id="rId41" Type="http://schemas.openxmlformats.org/officeDocument/2006/relationships/slide" Target="slides/slide20.xml"/><Relationship Id="rId42" Type="http://schemas.openxmlformats.org/officeDocument/2006/relationships/slide" Target="slides/slide21.xml"/><Relationship Id="rId43" Type="http://schemas.openxmlformats.org/officeDocument/2006/relationships/slide" Target="slides/slide14.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Sheet16.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Sheet17.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Sheet18.xlsx"/></Relationships>
</file>

<file path=ppt/charts/_rels/chart19.xml.rels><?xml version='1.0' encoding='UTF-8' standalone='yes'?>
<Relationships xmlns="http://schemas.openxmlformats.org/package/2006/relationships"><Relationship Id="rId1" Type="http://schemas.openxmlformats.org/officeDocument/2006/relationships/package" Target="../embeddings/Microsoft_Excel_Sheet19.xlsx"/></Relationships>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D9D9D9"/>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sz="1200">
                  <a:latin typeface="Lato"/>
                </a:defRPr>
              </a:pPr>
            </a:p>
          </c:txPr>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0A2373"/>
              </a:solidFill>
            </c:spPr>
          </c:dPt>
          <c:dPt>
            <c:idx val="0"/>
            <c:spPr>
              <a:solidFill>
                <a:srgbClr val="EEEEEE"/>
              </a:solidFill>
            </c:spPr>
          </c:dPt>
          <c:dPt>
            <c:idx val="2"/>
            <c:spPr>
              <a:solidFill>
                <a:srgbClr val="EEEEEE"/>
              </a:solidFill>
            </c:spPr>
          </c:dPt>
          <c:dPt>
            <c:idx val="3"/>
            <c:spPr>
              <a:solidFill>
                <a:srgbClr val="EEEEEE"/>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Department sales</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10.773208065062</c:v>
                </c:pt>
                <c:pt idx="1">
                  <c:v>8.761470961496</c:v>
                </c:pt>
                <c:pt idx="2">
                  <c:v>9.301584227683001</c:v>
                </c:pt>
                <c:pt idx="3">
                  <c:v>9.184869915573</c:v>
                </c:pt>
                <c:pt idx="4">
                  <c:v>9.036950113492</c:v>
                </c:pt>
              </c:numCache>
            </c:numRef>
          </c:val>
          <c:smooth val="0"/>
        </c:ser>
        <c:ser>
          <c:idx val="1"/>
          <c:order val="1"/>
          <c:tx>
            <c:strRef>
              <c:f>Sheet1!$C$1</c:f>
              <c:strCache>
                <c:ptCount val="1"/>
                <c:pt idx="0">
                  <c:v>FIASA 2024 sales</c:v>
                </c:pt>
              </c:strCache>
            </c:strRef>
          </c:tx>
          <c:spPr>
            <a:solidFill>
              <a:srgbClr val="546CA2"/>
            </a:solidFill>
            <a:ln w="25400">
              <a:solidFill>
                <a:srgbClr val="0A2373"/>
              </a:solidFill>
            </a:ln>
          </c:spPr>
          <c:marker>
            <c:symbol val="diamond"/>
            <c:size val="8"/>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5">
                  <c:v>9.029</c:v>
                </c:pt>
              </c:numCache>
            </c:numRef>
          </c:val>
          <c:smooth val="0"/>
        </c:ser>
        <c:ser>
          <c:idx val="2"/>
          <c:order val="2"/>
          <c:tx>
            <c:strRef>
              <c:f>Sheet1!$D$1</c:f>
              <c:strCache>
                <c:ptCount val="1"/>
                <c:pt idx="0">
                  <c:v>Imports</c:v>
                </c:pt>
              </c:strCache>
            </c:strRef>
          </c:tx>
          <c:spPr>
            <a:solidFill>
              <a:srgbClr val="404040"/>
            </a:solidFill>
            <a:ln w="25400">
              <a:solidFill>
                <a:srgbClr val="546CA2"/>
              </a:solidFill>
            </a:ln>
          </c:spPr>
          <c:marker>
            <c:symbol val="circle"/>
            <c:size val="4"/>
            <c:spPr>
              <a:solidFill>
                <a:srgbClr val="546CA2"/>
              </a:solidFill>
              <a:ln>
                <a:solidFill>
                  <a:srgbClr val="546CA2"/>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1.4773858410899998</c:v>
                </c:pt>
                <c:pt idx="1">
                  <c:v>1.71967306448</c:v>
                </c:pt>
                <c:pt idx="2">
                  <c:v>4.00861276378</c:v>
                </c:pt>
                <c:pt idx="3">
                  <c:v>5.45526181472</c:v>
                </c:pt>
                <c:pt idx="4">
                  <c:v>4.48277476038</c:v>
                </c:pt>
                <c:pt idx="5">
                  <c:v>4.00085443345</c:v>
                </c:pt>
                <c:pt idx="6">
                  <c:v>4.45347117815</c:v>
                </c:pt>
              </c:numCache>
            </c:numRef>
          </c:val>
          <c:smooth val="0"/>
        </c:ser>
        <c:ser>
          <c:idx val="3"/>
          <c:order val="3"/>
          <c:tx>
            <c:strRef>
              <c:f>Sheet1!$E$1</c:f>
              <c:strCache>
                <c:ptCount val="1"/>
                <c:pt idx="0">
                  <c:v>Exports</c:v>
                </c:pt>
              </c:strCache>
            </c:strRef>
          </c:tx>
          <c:spPr>
            <a:solidFill>
              <a:srgbClr val="767676"/>
            </a:solidFill>
            <a:ln w="25400">
              <a:solidFill>
                <a:srgbClr val="000000"/>
              </a:solidFill>
            </a:ln>
          </c:spPr>
          <c:marker>
            <c:symbol val="circl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Sheet1!$E$2:$E$8</c:f>
              <c:numCache>
                <c:formatCode>General</c:formatCode>
                <c:ptCount val="7"/>
                <c:pt idx="0">
                  <c:v>1.1747017778900002</c:v>
                </c:pt>
                <c:pt idx="1">
                  <c:v>1.1547790711800001</c:v>
                </c:pt>
                <c:pt idx="2">
                  <c:v>1.0524951445700002</c:v>
                </c:pt>
                <c:pt idx="3">
                  <c:v>0.85461371378</c:v>
                </c:pt>
                <c:pt idx="4">
                  <c:v>0.9940195590199999</c:v>
                </c:pt>
                <c:pt idx="5">
                  <c:v>0.91974501589</c:v>
                </c:pt>
                <c:pt idx="6">
                  <c:v>0.801762466</c:v>
                </c:pt>
              </c:numCache>
            </c:numRef>
          </c:val>
          <c:smooth val="0"/>
        </c:ser>
        <c:ser>
          <c:idx val="4"/>
          <c:order val="4"/>
          <c:tx>
            <c:strRef>
              <c:f>Sheet1!$F$1</c:f>
              <c:strCache>
                <c:ptCount val="1"/>
                <c:pt idx="0">
                  <c:v>Net imports</c:v>
                </c:pt>
              </c:strCache>
            </c:strRef>
          </c:tx>
          <c:spPr>
            <a:solidFill>
              <a:srgbClr val="767676"/>
            </a:solidFill>
            <a:ln w="22860">
              <a:solidFill>
                <a:srgbClr val="0A2373"/>
              </a:solidFill>
              <a:prstDash val="dash"/>
            </a:ln>
          </c:spPr>
          <c:marker>
            <c:symbol val="non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Sheet1!$F$2:$F$8</c:f>
              <c:numCache>
                <c:formatCode>General</c:formatCode>
                <c:ptCount val="7"/>
                <c:pt idx="0">
                  <c:v>0.30268406319999963</c:v>
                </c:pt>
                <c:pt idx="1">
                  <c:v>0.5648939932999999</c:v>
                </c:pt>
                <c:pt idx="2">
                  <c:v>2.9561176192100005</c:v>
                </c:pt>
                <c:pt idx="3">
                  <c:v>4.60064810094</c:v>
                </c:pt>
                <c:pt idx="4">
                  <c:v>3.48875520136</c:v>
                </c:pt>
                <c:pt idx="5">
                  <c:v>3.0811094175599996</c:v>
                </c:pt>
                <c:pt idx="6">
                  <c:v>3.65170871215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15.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Department sales</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12.908631232217</c:v>
                </c:pt>
                <c:pt idx="1">
                  <c:v>11.689957759296</c:v>
                </c:pt>
                <c:pt idx="2">
                  <c:v>12.945782750434999</c:v>
                </c:pt>
                <c:pt idx="3">
                  <c:v>12.717326319019001</c:v>
                </c:pt>
                <c:pt idx="4">
                  <c:v>12.907499965808</c:v>
                </c:pt>
              </c:numCache>
            </c:numRef>
          </c:val>
          <c:smooth val="0"/>
        </c:ser>
        <c:ser>
          <c:idx val="1"/>
          <c:order val="1"/>
          <c:tx>
            <c:strRef>
              <c:f>Sheet1!$C$1</c:f>
              <c:strCache>
                <c:ptCount val="1"/>
                <c:pt idx="0">
                  <c:v>FIASA 2024 sales</c:v>
                </c:pt>
              </c:strCache>
            </c:strRef>
          </c:tx>
          <c:spPr>
            <a:solidFill>
              <a:srgbClr val="546CA2"/>
            </a:solidFill>
            <a:ln w="25400">
              <a:solidFill>
                <a:srgbClr val="0A2373"/>
              </a:solidFill>
            </a:ln>
          </c:spPr>
          <c:marker>
            <c:symbol val="diamond"/>
            <c:size val="8"/>
            <c:spPr>
              <a:solidFill>
                <a:srgbClr val="0A2373"/>
              </a:solidFill>
              <a:ln>
                <a:solidFill>
                  <a:srgbClr val="0A2373"/>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5">
                  <c:v>11.734</c:v>
                </c:pt>
              </c:numCache>
            </c:numRef>
          </c:val>
          <c:smooth val="0"/>
        </c:ser>
        <c:ser>
          <c:idx val="2"/>
          <c:order val="2"/>
          <c:tx>
            <c:strRef>
              <c:f>Sheet1!$D$1</c:f>
              <c:strCache>
                <c:ptCount val="1"/>
                <c:pt idx="0">
                  <c:v>Imports</c:v>
                </c:pt>
              </c:strCache>
            </c:strRef>
          </c:tx>
          <c:spPr>
            <a:solidFill>
              <a:srgbClr val="404040"/>
            </a:solidFill>
            <a:ln w="25400">
              <a:solidFill>
                <a:srgbClr val="546CA2"/>
              </a:solidFill>
            </a:ln>
          </c:spPr>
          <c:marker>
            <c:symbol val="circle"/>
            <c:size val="4"/>
            <c:spPr>
              <a:solidFill>
                <a:srgbClr val="546CA2"/>
              </a:solidFill>
              <a:ln>
                <a:solidFill>
                  <a:srgbClr val="546CA2"/>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5.590272108560001</c:v>
                </c:pt>
                <c:pt idx="1">
                  <c:v>6.81498544784</c:v>
                </c:pt>
                <c:pt idx="2">
                  <c:v>9.761395305739999</c:v>
                </c:pt>
                <c:pt idx="3">
                  <c:v>11.9542565479</c:v>
                </c:pt>
                <c:pt idx="4">
                  <c:v>12.87003210067</c:v>
                </c:pt>
                <c:pt idx="5">
                  <c:v>10.792547134049999</c:v>
                </c:pt>
                <c:pt idx="6">
                  <c:v>12.24872026207</c:v>
                </c:pt>
              </c:numCache>
            </c:numRef>
          </c:val>
          <c:smooth val="0"/>
        </c:ser>
        <c:ser>
          <c:idx val="3"/>
          <c:order val="3"/>
          <c:tx>
            <c:strRef>
              <c:f>Sheet1!$E$1</c:f>
              <c:strCache>
                <c:ptCount val="1"/>
                <c:pt idx="0">
                  <c:v>Exports</c:v>
                </c:pt>
              </c:strCache>
            </c:strRef>
          </c:tx>
          <c:spPr>
            <a:solidFill>
              <a:srgbClr val="767676"/>
            </a:solidFill>
            <a:ln w="25400">
              <a:solidFill>
                <a:srgbClr val="000000"/>
              </a:solidFill>
            </a:ln>
          </c:spPr>
          <c:marker>
            <c:symbol val="circl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Sheet1!$E$2:$E$8</c:f>
              <c:numCache>
                <c:formatCode>General</c:formatCode>
                <c:ptCount val="7"/>
                <c:pt idx="0">
                  <c:v>1.7413773122</c:v>
                </c:pt>
                <c:pt idx="1">
                  <c:v>0.91381452025</c:v>
                </c:pt>
                <c:pt idx="2">
                  <c:v>0.8934881057699999</c:v>
                </c:pt>
                <c:pt idx="3">
                  <c:v>0.88919906782</c:v>
                </c:pt>
                <c:pt idx="4">
                  <c:v>0.88944590792</c:v>
                </c:pt>
                <c:pt idx="5">
                  <c:v>0.79583467852</c:v>
                </c:pt>
                <c:pt idx="6">
                  <c:v>0.7467002100700001</c:v>
                </c:pt>
              </c:numCache>
            </c:numRef>
          </c:val>
          <c:smooth val="0"/>
        </c:ser>
        <c:ser>
          <c:idx val="4"/>
          <c:order val="4"/>
          <c:tx>
            <c:strRef>
              <c:f>Sheet1!$F$1</c:f>
              <c:strCache>
                <c:ptCount val="1"/>
                <c:pt idx="0">
                  <c:v>Net imports</c:v>
                </c:pt>
              </c:strCache>
            </c:strRef>
          </c:tx>
          <c:spPr>
            <a:solidFill>
              <a:srgbClr val="767676"/>
            </a:solidFill>
            <a:ln w="22860">
              <a:solidFill>
                <a:srgbClr val="0A2373"/>
              </a:solidFill>
              <a:prstDash val="dash"/>
            </a:ln>
          </c:spPr>
          <c:marker>
            <c:symbol val="none"/>
            <c:size val="4"/>
            <c:spPr>
              <a:solidFill>
                <a:srgbClr val="000000"/>
              </a:solidFill>
              <a:ln>
                <a:solidFill>
                  <a:srgbClr val="000000"/>
                </a:solidFill>
              </a:ln>
            </c:spPr>
          </c:marker>
          <c:cat>
            <c:strRef>
              <c:f>Sheet1!$A$2:$A$8</c:f>
              <c:strCache>
                <c:ptCount val="7"/>
                <c:pt idx="0">
                  <c:v>2019</c:v>
                </c:pt>
                <c:pt idx="1">
                  <c:v>2020</c:v>
                </c:pt>
                <c:pt idx="2">
                  <c:v>2021</c:v>
                </c:pt>
                <c:pt idx="3">
                  <c:v>2022</c:v>
                </c:pt>
                <c:pt idx="4">
                  <c:v>2023</c:v>
                </c:pt>
                <c:pt idx="5">
                  <c:v>2024</c:v>
                </c:pt>
                <c:pt idx="6">
                  <c:v>2025</c:v>
                </c:pt>
              </c:strCache>
            </c:strRef>
          </c:cat>
          <c:val>
            <c:numRef>
              <c:f>Sheet1!$F$2:$F$8</c:f>
              <c:numCache>
                <c:formatCode>General</c:formatCode>
                <c:ptCount val="7"/>
                <c:pt idx="0">
                  <c:v>3.8488947963600006</c:v>
                </c:pt>
                <c:pt idx="1">
                  <c:v>5.90117092759</c:v>
                </c:pt>
                <c:pt idx="2">
                  <c:v>8.867907199969999</c:v>
                </c:pt>
                <c:pt idx="3">
                  <c:v>11.06505748008</c:v>
                </c:pt>
                <c:pt idx="4">
                  <c:v>11.98058619275</c:v>
                </c:pt>
                <c:pt idx="5">
                  <c:v>9.996712455529998</c:v>
                </c:pt>
                <c:pt idx="6">
                  <c:v>11.502020052</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15.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circle"/>
            <c:size val="4"/>
            <c:spPr>
              <a:solidFill>
                <a:srgbClr val="0A2373"/>
              </a:solidFill>
              <a:ln>
                <a:solidFill>
                  <a:srgbClr val="0A2373"/>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2">
                  <c:v>7.27979359</c:v>
                </c:pt>
                <c:pt idx="3">
                  <c:v>7.130303529232998</c:v>
                </c:pt>
                <c:pt idx="4">
                  <c:v>7.213928482944991</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circle"/>
            <c:size val="4"/>
            <c:spPr>
              <a:solidFill>
                <a:srgbClr val="546CA2"/>
              </a:solidFill>
              <a:ln>
                <a:solidFill>
                  <a:srgbClr val="546CA2"/>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2">
                  <c:v>3.912559734</c:v>
                </c:pt>
                <c:pt idx="3">
                  <c:v>3.942573461657999</c:v>
                </c:pt>
                <c:pt idx="4">
                  <c:v>4.185357397407999</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circle"/>
            <c:size val="4"/>
            <c:spPr>
              <a:solidFill>
                <a:srgbClr val="404040"/>
              </a:solidFill>
              <a:ln>
                <a:solidFill>
                  <a:srgbClr val="404040"/>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2">
                  <c:v>4.69646532</c:v>
                </c:pt>
                <c:pt idx="3">
                  <c:v>3.721210313077999</c:v>
                </c:pt>
                <c:pt idx="4">
                  <c:v>3.627265157763995</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25400">
              <a:solidFill>
                <a:srgbClr val="809CC7"/>
              </a:solidFill>
            </a:ln>
          </c:spPr>
          <c:marker>
            <c:symbol val="circle"/>
            <c:size val="4"/>
            <c:spPr>
              <a:solidFill>
                <a:srgbClr val="809CC7"/>
              </a:solidFill>
              <a:ln>
                <a:solidFill>
                  <a:srgbClr val="809CC7"/>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2">
                  <c:v>2.454368402</c:v>
                </c:pt>
                <c:pt idx="3">
                  <c:v>2.6606009079020003</c:v>
                </c:pt>
                <c:pt idx="4">
                  <c:v>2.508828751910999</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25400">
              <a:solidFill>
                <a:srgbClr val="3D619D"/>
              </a:solidFill>
            </a:ln>
          </c:spPr>
          <c:marker>
            <c:symbol val="circle"/>
            <c:size val="4"/>
            <c:spPr>
              <a:solidFill>
                <a:srgbClr val="3D619D"/>
              </a:solidFill>
              <a:ln>
                <a:solidFill>
                  <a:srgbClr val="3D619D"/>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2">
                  <c:v>1.7991415320000002</c:v>
                </c:pt>
                <c:pt idx="3">
                  <c:v>1.785883066283</c:v>
                </c:pt>
                <c:pt idx="4">
                  <c:v>1.7690115308639982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25400">
              <a:solidFill>
                <a:srgbClr val="767676"/>
              </a:solidFill>
            </a:ln>
          </c:spPr>
          <c:marker>
            <c:symbol val="circle"/>
            <c:size val="4"/>
            <c:spPr>
              <a:solidFill>
                <a:srgbClr val="767676"/>
              </a:solidFill>
              <a:ln>
                <a:solidFill>
                  <a:srgbClr val="767676"/>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2">
                  <c:v>2.180302781</c:v>
                </c:pt>
                <c:pt idx="3">
                  <c:v>1.939700986869</c:v>
                </c:pt>
                <c:pt idx="4">
                  <c:v>1.744134882427</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25400">
              <a:solidFill>
                <a:srgbClr val="BACCE4"/>
              </a:solidFill>
            </a:ln>
          </c:spPr>
          <c:marker>
            <c:symbol val="circle"/>
            <c:size val="4"/>
            <c:spPr>
              <a:solidFill>
                <a:srgbClr val="BACCE4"/>
              </a:solidFill>
              <a:ln>
                <a:solidFill>
                  <a:srgbClr val="BACCE4"/>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2">
                  <c:v>1.1888144409999999</c:v>
                </c:pt>
                <c:pt idx="3">
                  <c:v>1.1648558408760001</c:v>
                </c:pt>
                <c:pt idx="4">
                  <c:v>1.1013055398449991</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25400">
              <a:solidFill>
                <a:srgbClr val="A0A0A0"/>
              </a:solidFill>
            </a:ln>
          </c:spPr>
          <c:marker>
            <c:symbol val="circle"/>
            <c:size val="4"/>
            <c:spPr>
              <a:solidFill>
                <a:srgbClr val="A0A0A0"/>
              </a:solidFill>
              <a:ln>
                <a:solidFill>
                  <a:srgbClr val="A0A0A0"/>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2">
                  <c:v>0.7817361970000001</c:v>
                </c:pt>
                <c:pt idx="3">
                  <c:v>0.666418652288</c:v>
                </c:pt>
                <c:pt idx="4">
                  <c:v>0.6305076475039999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25400">
              <a:solidFill>
                <a:srgbClr val="BDBEC1"/>
              </a:solidFill>
            </a:ln>
          </c:spPr>
          <c:marker>
            <c:symbol val="circle"/>
            <c:size val="4"/>
            <c:spPr>
              <a:solidFill>
                <a:srgbClr val="BDBEC1"/>
              </a:solidFill>
              <a:ln>
                <a:solidFill>
                  <a:srgbClr val="BDBEC1"/>
                </a:solidFill>
              </a:ln>
            </c:spPr>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2">
                  <c:v>0.6686238340000001</c:v>
                </c:pt>
                <c:pt idx="3">
                  <c:v>0.533079746921</c:v>
                </c:pt>
                <c:pt idx="4">
                  <c:v>0.538621802891</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Sasol</c:v>
                </c:pt>
              </c:strCache>
            </c:strRef>
          </c:tx>
          <c:spPr>
            <a:solidFill>
              <a:srgbClr val="0A2373"/>
            </a:solidFill>
            <a:ln w="25400">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150.0</c:v>
                </c:pt>
                <c:pt idx="1">
                  <c:v>150.0</c:v>
                </c:pt>
                <c:pt idx="2">
                  <c:v>150.0</c:v>
                </c:pt>
                <c:pt idx="3">
                  <c:v>150.0</c:v>
                </c:pt>
                <c:pt idx="4">
                  <c:v>150.0</c:v>
                </c:pt>
                <c:pt idx="5">
                  <c:v>150.0</c:v>
                </c:pt>
                <c:pt idx="6">
                  <c:v>150.0</c:v>
                </c:pt>
                <c:pt idx="7">
                  <c:v>150.0</c:v>
                </c:pt>
                <c:pt idx="8">
                  <c:v>150.0</c:v>
                </c:pt>
                <c:pt idx="9">
                  <c:v>150.0</c:v>
                </c:pt>
                <c:pt idx="10">
                  <c:v>150.0</c:v>
                </c:pt>
                <c:pt idx="11">
                  <c:v>150.0</c:v>
                </c:pt>
                <c:pt idx="12">
                  <c:v>150.0</c:v>
                </c:pt>
                <c:pt idx="13">
                  <c:v>150.0</c:v>
                </c:pt>
                <c:pt idx="14">
                  <c:v>150.0</c:v>
                </c:pt>
                <c:pt idx="15">
                  <c:v>150.0</c:v>
                </c:pt>
                <c:pt idx="16">
                  <c:v>150.0</c:v>
                </c:pt>
                <c:pt idx="17">
                  <c:v>150.0</c:v>
                </c:pt>
                <c:pt idx="18">
                  <c:v>150.0</c:v>
                </c:pt>
                <c:pt idx="19">
                  <c:v>150.0</c:v>
                </c:pt>
                <c:pt idx="20">
                  <c:v>150.0</c:v>
                </c:pt>
              </c:numCache>
            </c:numRef>
          </c:val>
        </c:ser>
        <c:ser>
          <c:idx val="1"/>
          <c:order val="1"/>
          <c:tx>
            <c:strRef>
              <c:f>Sheet1!$C$1</c:f>
              <c:strCache>
                <c:ptCount val="1"/>
                <c:pt idx="0">
                  <c:v>Natref</c:v>
                </c:pt>
              </c:strCache>
            </c:strRef>
          </c:tx>
          <c:spPr>
            <a:solidFill>
              <a:srgbClr val="546CA2"/>
            </a:solidFill>
            <a:ln w="25400">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108.0</c:v>
                </c:pt>
                <c:pt idx="1">
                  <c:v>108.0</c:v>
                </c:pt>
                <c:pt idx="2">
                  <c:v>108.0</c:v>
                </c:pt>
                <c:pt idx="3">
                  <c:v>108.0</c:v>
                </c:pt>
                <c:pt idx="4">
                  <c:v>108.0</c:v>
                </c:pt>
                <c:pt idx="5">
                  <c:v>108.0</c:v>
                </c:pt>
                <c:pt idx="6">
                  <c:v>108.0</c:v>
                </c:pt>
                <c:pt idx="7">
                  <c:v>108.0</c:v>
                </c:pt>
                <c:pt idx="8">
                  <c:v>108.0</c:v>
                </c:pt>
                <c:pt idx="9">
                  <c:v>108.0</c:v>
                </c:pt>
                <c:pt idx="10">
                  <c:v>108.0</c:v>
                </c:pt>
                <c:pt idx="11">
                  <c:v>108.0</c:v>
                </c:pt>
                <c:pt idx="12">
                  <c:v>108.0</c:v>
                </c:pt>
                <c:pt idx="13">
                  <c:v>108.0</c:v>
                </c:pt>
                <c:pt idx="14">
                  <c:v>108.0</c:v>
                </c:pt>
                <c:pt idx="15">
                  <c:v>108.0</c:v>
                </c:pt>
                <c:pt idx="16">
                  <c:v>108.0</c:v>
                </c:pt>
                <c:pt idx="17">
                  <c:v>108.0</c:v>
                </c:pt>
                <c:pt idx="18">
                  <c:v>108.0</c:v>
                </c:pt>
                <c:pt idx="19">
                  <c:v>108.0</c:v>
                </c:pt>
                <c:pt idx="20">
                  <c:v>108.0</c:v>
                </c:pt>
              </c:numCache>
            </c:numRef>
          </c:val>
        </c:ser>
        <c:ser>
          <c:idx val="2"/>
          <c:order val="2"/>
          <c:tx>
            <c:strRef>
              <c:f>Sheet1!$D$1</c:f>
              <c:strCache>
                <c:ptCount val="1"/>
                <c:pt idx="0">
                  <c:v>Astron Energy</c:v>
                </c:pt>
              </c:strCache>
            </c:strRef>
          </c:tx>
          <c:spPr>
            <a:solidFill>
              <a:srgbClr val="809CC7"/>
            </a:solidFill>
            <a:ln w="25400">
              <a:solidFill>
                <a:srgbClr val="809CC7"/>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Sheet1!$D$2:$D$22</c:f>
              <c:numCache>
                <c:formatCode>General</c:formatCode>
                <c:ptCount val="21"/>
                <c:pt idx="0">
                  <c:v>100.0</c:v>
                </c:pt>
                <c:pt idx="1">
                  <c:v>100.0</c:v>
                </c:pt>
                <c:pt idx="2">
                  <c:v>100.0</c:v>
                </c:pt>
                <c:pt idx="3">
                  <c:v>100.0</c:v>
                </c:pt>
                <c:pt idx="4">
                  <c:v>100.0</c:v>
                </c:pt>
                <c:pt idx="5">
                  <c:v>100.0</c:v>
                </c:pt>
                <c:pt idx="6">
                  <c:v>100.0</c:v>
                </c:pt>
                <c:pt idx="7">
                  <c:v>100.0</c:v>
                </c:pt>
                <c:pt idx="8">
                  <c:v>100.0</c:v>
                </c:pt>
                <c:pt idx="9">
                  <c:v>100.0</c:v>
                </c:pt>
                <c:pt idx="10">
                  <c:v>100.0</c:v>
                </c:pt>
                <c:pt idx="11">
                  <c:v>100.0</c:v>
                </c:pt>
                <c:pt idx="12">
                  <c:v>100.0</c:v>
                </c:pt>
                <c:pt idx="13">
                  <c:v>100.0</c:v>
                </c:pt>
                <c:pt idx="14">
                  <c:v>100.0</c:v>
                </c:pt>
                <c:pt idx="15">
                  <c:v>100.0</c:v>
                </c:pt>
                <c:pt idx="16">
                  <c:v>100.0</c:v>
                </c:pt>
                <c:pt idx="17">
                  <c:v>100.0</c:v>
                </c:pt>
                <c:pt idx="18">
                  <c:v>100.0</c:v>
                </c:pt>
                <c:pt idx="19">
                  <c:v>100.0</c:v>
                </c:pt>
                <c:pt idx="20">
                  <c:v>100.0</c:v>
                </c:pt>
              </c:numCache>
            </c:numRef>
          </c:val>
        </c:ser>
        <c:ser>
          <c:idx val="3"/>
          <c:order val="3"/>
          <c:tx>
            <c:strRef>
              <c:f>Sheet1!$E$1</c:f>
              <c:strCache>
                <c:ptCount val="1"/>
                <c:pt idx="0">
                  <c:v>PetroSA</c:v>
                </c:pt>
              </c:strCache>
            </c:strRef>
          </c:tx>
          <c:spPr>
            <a:solidFill>
              <a:srgbClr val="E3EBF6"/>
            </a:solidFill>
            <a:ln w="25400">
              <a:solidFill>
                <a:srgbClr val="E3EBF6"/>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Sheet1!$E$2:$E$22</c:f>
              <c:numCache>
                <c:formatCode>General</c:formatCode>
                <c:ptCount val="21"/>
                <c:pt idx="0">
                  <c:v>45.0</c:v>
                </c:pt>
                <c:pt idx="1">
                  <c:v>45.0</c:v>
                </c:pt>
                <c:pt idx="2">
                  <c:v>45.0</c:v>
                </c:pt>
                <c:pt idx="3">
                  <c:v>45.0</c:v>
                </c:pt>
                <c:pt idx="4">
                  <c:v>45.0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4"/>
          <c:order val="4"/>
          <c:tx>
            <c:strRef>
              <c:f>Sheet1!$F$1</c:f>
              <c:strCache>
                <c:ptCount val="1"/>
                <c:pt idx="0">
                  <c:v>Enref</c:v>
                </c:pt>
              </c:strCache>
            </c:strRef>
          </c:tx>
          <c:spPr>
            <a:solidFill>
              <a:srgbClr val="767676"/>
            </a:solidFill>
            <a:ln w="25400">
              <a:solidFill>
                <a:srgbClr val="767676"/>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Sheet1!$F$2:$F$22</c:f>
              <c:numCache>
                <c:formatCode>General</c:formatCode>
                <c:ptCount val="21"/>
                <c:pt idx="0">
                  <c:v>135.0</c:v>
                </c:pt>
                <c:pt idx="1">
                  <c:v>135.0</c:v>
                </c:pt>
                <c:pt idx="2">
                  <c:v>135.0</c:v>
                </c:pt>
                <c:pt idx="3">
                  <c:v>135.0</c:v>
                </c:pt>
                <c:pt idx="4">
                  <c:v>135.0</c:v>
                </c:pt>
                <c:pt idx="5">
                  <c:v>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5"/>
          <c:order val="5"/>
          <c:tx>
            <c:strRef>
              <c:f>Sheet1!$G$1</c:f>
              <c:strCache>
                <c:ptCount val="1"/>
                <c:pt idx="0">
                  <c:v>Sapref</c:v>
                </c:pt>
              </c:strCache>
            </c:strRef>
          </c:tx>
          <c:spPr>
            <a:solidFill>
              <a:srgbClr val="404040"/>
            </a:solidFill>
            <a:ln w="25400">
              <a:solidFill>
                <a:srgbClr val="404040"/>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Sheet1!$G$2:$G$22</c:f>
              <c:numCache>
                <c:formatCode>General</c:formatCode>
                <c:ptCount val="21"/>
                <c:pt idx="0">
                  <c:v>180.0</c:v>
                </c:pt>
                <c:pt idx="1">
                  <c:v>180.0</c:v>
                </c:pt>
                <c:pt idx="2">
                  <c:v>180.0</c:v>
                </c:pt>
                <c:pt idx="3">
                  <c:v>180.0</c:v>
                </c:pt>
                <c:pt idx="4">
                  <c:v>180.0</c:v>
                </c:pt>
                <c:pt idx="5">
                  <c:v>180.0</c:v>
                </c:pt>
                <c:pt idx="6">
                  <c:v>0.0</c:v>
                </c:pt>
                <c:pt idx="7">
                  <c:v>0.0</c:v>
                </c:pt>
                <c:pt idx="8">
                  <c:v>0.0</c:v>
                </c:pt>
                <c:pt idx="9">
                  <c:v>0.0</c:v>
                </c:pt>
                <c:pt idx="10">
                  <c:v>0.0</c:v>
                </c:pt>
                <c:pt idx="11">
                  <c:v>0.0</c:v>
                </c:pt>
                <c:pt idx="12">
                  <c:v>0.0</c:v>
                </c:pt>
                <c:pt idx="13">
                  <c:v>0.0</c:v>
                </c:pt>
                <c:pt idx="14">
                  <c:v>0.0</c:v>
                </c:pt>
                <c:pt idx="15">
                  <c:v>0.0</c:v>
                </c:pt>
                <c:pt idx="16">
                  <c:v>0.0</c:v>
                </c:pt>
                <c:pt idx="17">
                  <c:v>0.0</c:v>
                </c:pt>
                <c:pt idx="18">
                  <c:v>0.0</c:v>
                </c:pt>
                <c:pt idx="19">
                  <c:v>0.0</c:v>
                </c:pt>
                <c:pt idx="20">
                  <c:v>0.0</c:v>
                </c:pt>
              </c:numCache>
            </c:numRef>
          </c:val>
        </c:ser>
        <c:ser>
          <c:idx val="6"/>
          <c:order val="6"/>
          <c:tx>
            <c:strRef>
              <c:f>Sheet1!$H$1</c:f>
              <c:strCache>
                <c:ptCount val="1"/>
                <c:pt idx="0">
                  <c:v>SAPREF / CEF proposal</c:v>
                </c:pt>
              </c:strCache>
            </c:strRef>
          </c:tx>
          <c:spPr>
            <a:solidFill>
              <a:srgbClr val="BDBEC1"/>
            </a:solidFill>
            <a:ln w="25400">
              <a:solidFill>
                <a:srgbClr val="BDBEC1"/>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Sheet1!$H$2:$H$22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0718248"/>
        <c:crosses val="autoZero"/>
        <c:auto val="1"/>
        <c:lblAlgn val="ctr"/>
        <c:lblOffset val="100"/>
        <c:noMultiLvlLbl val="0"/>
        <c:tickLblSkip val="2"/>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01159928"/>
        <c:crosses val="autoZero"/>
        <c:crossBetween val="midCat"/>
      </c:valAx>
    </c:plotArea>
    <c:plotVisOnly val="1"/>
    <c:dispBlanksAs val="zero"/>
    <c:showDLblsOverMax val="0"/>
  </c:chart>
  <c:txPr>
    <a:bodyPr/>
    <a:lstStyle/>
    <a:p>
      <a:pPr>
        <a:defRPr sz="1800"/>
      </a:pPr>
      <a:endParaR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Approved scope: both competitive and margin tests for each feasible route to the same customer/product. Include acquisition, storage/handling, transport, border costs where relevant, stock financing and losses exactly once. Competitive test requires feasibility and comparable service. Profitability is supplier economics, distinct from Vopak terminal margin. Owner Nigel/Manish; resolve before numerical route breakpoint or customer capture is presented.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PARTNER-REVIEW: p14 now has one job: remove the existing shared-transfer example. Market screens remain on p15. Values read from illustrative_terminal_routes.csv; no actual terminal throughput inferred.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S2;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Combined with former page 6. Same chart observations; 2014 and 2018 suppressed pending source decisions. Map legend is a volume scale, chart legend identifies provinces.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Regional reporting groups match the demand-map membership CSV. Primary gross inventory is unchanged; conditional lease volumes remain in source CSV and notes, not operating bars. Northern Cape coverage incomplete.</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Overview rows numbered continuously 1–7: S1, S2, S/C3, C4, C5, R6, R7. Each analytical title starts with its matching row reference(s).</a:t>
            </a:r>
          </a:p>
          <a:p>
            <a:r>
              <a:t>Agenda-led opening answer. Henry prompt-by-prompt current responses are on pages 20–22. Source pp30–32; open is not closed.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Custom legend: editable header key, Sales proxy / Imports / Exports. Exports darkened to #D9D9D9 for visibility; bar and swatch match. Reported sales remain an unverified consumption proxy; series values unchanged.</a:t>
            </a:r>
          </a:p>
          <a:p>
            <a:r>
              <a:t>Lower duplicate accounting blocks moved to notes:</a:t>
            </a:r>
          </a:p>
          <a:p>
            <a:r>
              <a:t>Primary trade | SARS customs</a:t>
            </a:r>
          </a:p>
          <a:p>
            <a:r>
              <a:t>Diesel imports 10.793 bn L.</a:t>
            </a:r>
          </a:p>
          <a:p>
            <a:r>
              <a:t>Government rounds to 10.800; FIASA 14.793.</a:t>
            </a:r>
          </a:p>
          <a:p>
            <a:r>
              <a:t>Use SARS; retain the source discrepancy.</a:t>
            </a:r>
          </a:p>
          <a:p>
            <a:r>
              <a:t>2024 accounting remains open</a:t>
            </a:r>
          </a:p>
          <a:p>
            <a:r>
              <a:t>Sales less net imports = 7.685 bn L.</a:t>
            </a:r>
          </a:p>
          <a:p>
            <a:r>
              <a:t>Balancing requirement, not production.</a:t>
            </a:r>
          </a:p>
          <a:p>
            <a:r>
              <a:t>Production, stocks and coverage unresolved.</a:t>
            </a:r>
          </a:p>
          <a:p>
            <a:r>
              <a:t>7 Oct trade layout: enlarge the grouped trade/sales chart, remove gridlines and retain one net-import summary. Source selection and residual are explained once in the RHS panel. Chart values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The former 20.763 bn litre figure sums selected 2024 reported petrol and diesel sales. It is not a model demand result. The recorded workbook has 16.433 bn litres of road petrol/diesel demand and 23.984 bn litres when the additional modelled diesel sectors are included. The broader diesel scope includes marine and remains unreconciled. Neither total is presented as a verified replacement market size.</a:t>
            </a:r>
          </a:p>
          <a:p>
            <a:r>
              <a:t>National time-series evidence: {"petrol": {"department_sales": [10.773208065062, 8.761470961496, 9.301584227683001, 9.184869915573, 9.036950113492, null, null], "fiasa_2024": [null, null, null, null, null, 9.029, null], "imports": [1.4773858410899998, 1.71967306448, 4.00861276378, 5.45526181472, 4.48277476038, 4.00085443345, 4.45347117815], "exports": [1.1747017778900002, 1.1547790711800001, 1.0524951445700002, 0.85461371378, 0.9940195590199999, 0.91974501589, 0.801762466], "net_imports": [0.3026840631999998, 0.5648939932999999, 2.95611761921, 4.600648100940001, 3.48875520136, 3.08110941756, 3.6517087121499996], "net_import_change_pct": 18.519280468847164}, "diesel": {"department_sales": [12.908631232217, 11.689957759296, 12.945782750434999, 12.717326319019001, 12.907499965808, null, null], "fiasa_2024": [null, null, null, null, null, 11.734, null], "imports": [5.590272108560001, 6.81498544784, 9.761395305739999, 11.9542565479, 12.87003210067, 10.792547134049999, 12.24872026207], "exports": [1.7413773122, 0.91381452025, 0.8934881057699999, 0.88919906782, 0.88944590792, 0.79583467852, 0.7467002100700001], "net_imports": [3.8488947963600006, 5.90117092759, 8.867907199969999, 11.06505748008, 11.98058619275, 9.996712455529998, 11.502020052], "net_import_change_pct": 15.058026357828203}}</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Refinery exhibit caveats moved to speaker notes:</a:t>
            </a:r>
          </a:p>
          <a:p>
            <a:r>
              <a:t>History 2016–2025 is sourced; 2026 onward is illustrative, not a forecast</a:t>
            </a:r>
          </a:p>
          <a:p>
            <a:r>
              <a:t>Reported FY2024 output: Secunda 29.1; Natref Sasol share 17.8 million barrels.</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Named-site stacking: {"Sasol": [150.0, 150.0, 150.0, 150.0, 150.0, 150.0, 150.0, 150.0, 150.0, 150.0, 150.0, 150.0, 150.0, 150.0, 150.0, 150.0, 150.0, 150.0, 150.0, 150.0, 150.0], "Natref": [108.0, 108.0, 108.0, 108.0, 108.0, 108.0, 108.0, 108.0, 108.0, 108.0, 108.0, 108.0, 108.0, 108.0, 108.0, 108.0, 108.0, 108.0, 108.0, 108.0, 108.0], "Astron Energy": [100.0, 100.0, 100.0, 100.0, 100.0, 100.0, 100.0, 100.0, 100.0, 100.0, 100.0, 100.0, 100.0, 100.0, 100.0, 100.0, 100.0, 100.0, 100.0, 100.0, 100.0], "PetroSA": [45.0, 45.0, 45.0, 45.0, 45.0, 0.0, 0.0, 0.0, 0.0, 0.0, 0.0, 0.0, 0.0, 0.0, 0.0, 0.0, 0.0, 0.0, 0.0, 0.0, 0.0], "Enref": [135.0, 135.0, 135.0, 135.0, 135.0, 0.0, 0.0, 0.0, 0.0, 0.0, 0.0, 0.0, 0.0, 0.0, 0.0, 0.0, 0.0, 0.0, 0.0, 0.0, 0.0], "Sapref": [180.0, 180.0, 180.0, 180.0, 180.0, 180.0, 0.0, 0.0, 0.0, 0.0, 0.0, 0.0, 0.0, 0.0, 0.0, 0.0, 0.0, 0.0, 0.0, 0.0, 0.0], "SAPREF / CEF proposal": [0, 0, 0, 0, 0, 0, 0, 0, 0, 0, 0, 0, 0, 0, 0, 0, 0, 400.0, 400.0, 400.0, 400.0]}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Published capacity establishes a footprint, not recent growth or diversion from Durban. The existing evidence does not establish a winning gateway. User confirmed this is original page 16, not page 26.</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R6; Overview chevron returns to page 2.</a:t>
            </a:r>
          </a:p>
          <a:p>
            <a:r>
              <a:t>Footer notes and source occupy the fixed footer band below the rule; legends remain above it. Divider circle is filled blue with a white arrow.</a:t>
            </a:r>
          </a:p>
          <a:p>
            <a:r>
              <a:t>REACH-MAP: source cells with a non-None cost class are collapsed into one illustrated road-connection layer and clipped to the selected Eastern coastal/Inland province union. No new cost cutoff or operating feasibility is inferred. Original 100 km schematic connection rule retained; original cost detail remains on the earlier transport page. Selected market outline uses declared reporting regions, not a verified terminal catchment. The 14.5/2.5/12.0 volume example is independent of the spatial classification; no area-to-litres or measured reach claim.</a:t>
            </a:r>
          </a:p>
          <a:p>
            <a:r>
              <a:t>VISUAL-PLACEMENT: stages 1-5 are schematic map markers matched to waterfall bars. Marker centres, halos and label leaders are editorial placements, not geocoded customers, area-weighted losses, observed destinations or new input assumptions.</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collapses the existing road-cost surface into illustrated road connection within selected eastern/inland reporting regions. It does not quantify the reach deduction; Numbered customer-screen markers on the map are schematic visual placements, not actual customer locations or calibrated spatial allocations.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7 Oct inventory layout: chart narrowed into the standard left exhibit, all major/minor gridlines removed. Evidence/implication and action panel added on the right. Values and 14-day highlight unchanged.</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Supporting illustration only. Not an estimate of additional Vopak volumes or investment needs.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 Walvis Bay port-storage gateways\nCompare inland supply routes",</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Main-story decisions supported by p17 working inventory and p19 kickoff-aligned delivery gates; detailed turnover sensitivity in appendix p21. Client touchpoints W1/W3/W5/W6 remain proposed.</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 C4; Overview chevron returns to page 2.</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7 October: explicit diesel, jet and petrol draft L/M/H inputs now follow at 2030 and 2035. These are review proposals, not calibrated or engine-consumed scenarios. Customer-access and operational settings remain separate tasks.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Final story navigation: Overview p2; Market baseline p3; Market changes p7; Vopak outlook p12. Henry SCR naming remains in the overview.</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km\u2019s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Final story navigation: Overview p2; Market baseline p3; Market changes p7; Vopak outlook p12. Henry SCR naming remains in the overview.</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Final story navigation: Overview p2; Market baseline p3; Market changes p7; Vopak outlook p12. Henry SCR naming remains in the overview.</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timing and client checkpoints; no meetings scheduled or acceptance inferred",</a:t>
            </a:r>
          </a:p>
          <a:p>
            <a:r>
              <a:t>  "sources": [</a:t>
            </a:r>
          </a:p>
          <a:p>
            <a:r>
              <a:t>    "Vopak_Analyst_Kickoff.pdf pp23-27",</a:t>
            </a:r>
          </a:p>
          <a:p>
            <a:r>
              <a:t>    "workstreams/WS0_governance/workplan/six_week_plan.md",</a:t>
            </a:r>
          </a:p>
          <a:p>
            <a:r>
              <a:t>    "workstreams/WS0_governance/workplan/feedback_focus_2026-10-06.md",</a:t>
            </a:r>
          </a:p>
          <a:p>
            <a:r>
              <a:t>    "workstreams/WS1_data_validation/manish_branch_review_2026-10-06.md",</a:t>
            </a:r>
          </a:p>
          <a:p>
            <a:r>
              <a:t>    "GATE_CHECKLIST.md"</a:t>
            </a:r>
          </a:p>
          <a:p>
            <a:r>
              <a:t>  ],</a:t>
            </a:r>
          </a:p>
          <a:p>
            <a:r>
              <a:t>  "weeks": [</a:t>
            </a:r>
          </a:p>
          <a:p>
            <a:r>
              <a:t>    "W1\n02 Oct",</a:t>
            </a:r>
          </a:p>
          <a:p>
            <a:r>
              <a:t>    "W2\n09 Oct",</a:t>
            </a:r>
          </a:p>
          <a:p>
            <a:r>
              <a:t>    "W3\n16 Oct",</a:t>
            </a:r>
          </a:p>
          <a:p>
            <a:r>
              <a:t>    "W4\n23 Oct",</a:t>
            </a:r>
          </a:p>
          <a:p>
            <a:r>
              <a:t>    "W5\n30 Oct",</a:t>
            </a:r>
          </a:p>
          <a:p>
            <a:r>
              <a:t>    "W6\n06 Nov"</a:t>
            </a:r>
          </a:p>
          <a:p>
            <a:r>
              <a:t>  ],</a:t>
            </a:r>
          </a:p>
          <a:p>
            <a:r>
              <a:t>  "rows": [</a:t>
            </a:r>
          </a:p>
          <a:p>
            <a:r>
              <a:t>    {</a:t>
            </a:r>
          </a:p>
          <a:p>
            <a:r>
              <a:t>      "activity": "1  Establish the fuel baseline",</a:t>
            </a:r>
          </a:p>
          <a:p>
            <a:r>
              <a:t>      "owner": "Manish / Nigel",</a:t>
            </a:r>
          </a:p>
          <a:p>
            <a:r>
              <a:t>      "active": [</a:t>
            </a:r>
          </a:p>
          <a:p>
            <a:r>
              <a:t>        1,</a:t>
            </a:r>
          </a:p>
          <a:p>
            <a:r>
              <a:t>        2</a:t>
            </a:r>
          </a:p>
          <a:p>
            <a:r>
              <a:t>      ],</a:t>
            </a:r>
          </a:p>
          <a:p>
            <a:r>
              <a:t>      "gate_week": 2,</a:t>
            </a:r>
          </a:p>
          <a:p>
            <a:r>
              <a:t>      "gate": "Reconcile history, sources and opening assumptions",</a:t>
            </a:r>
          </a:p>
          <a:p>
            <a:r>
              <a:t>      "now": "Reference runs reproduced; source proposals staged. Balance and acceptance open."</a:t>
            </a:r>
          </a:p>
          <a:p>
            <a:r>
              <a:t>    },</a:t>
            </a:r>
          </a:p>
          <a:p>
            <a:r>
              <a:t>    {</a:t>
            </a:r>
          </a:p>
          <a:p>
            <a:r>
              <a:t>      "activity": "2  Test demand and supply cases",</a:t>
            </a:r>
          </a:p>
          <a:p>
            <a:r>
              <a:t>      "owner": "Manish / Henry",</a:t>
            </a:r>
          </a:p>
          <a:p>
            <a:r>
              <a:t>      "active": [</a:t>
            </a:r>
          </a:p>
          <a:p>
            <a:r>
              <a:t>        2,</a:t>
            </a:r>
          </a:p>
          <a:p>
            <a:r>
              <a:t>        3,</a:t>
            </a:r>
          </a:p>
          <a:p>
            <a:r>
              <a:t>        4</a:t>
            </a:r>
          </a:p>
          <a:p>
            <a:r>
              <a:t>      ],</a:t>
            </a:r>
          </a:p>
          <a:p>
            <a:r>
              <a:t>      "gate_week": 4,</a:t>
            </a:r>
          </a:p>
          <a:p>
            <a:r>
              <a:t>      "gate": "Reviewed drivers and independent nine-case matrix",</a:t>
            </a:r>
          </a:p>
          <a:p>
            <a:r>
              <a:t>      "now": "Historical evidence and lever framework available; calibrated settings and integration pending."</a:t>
            </a:r>
          </a:p>
          <a:p>
            <a:r>
              <a:t>    },</a:t>
            </a:r>
          </a:p>
          <a:p>
            <a:r>
              <a:t>    {</a:t>
            </a:r>
          </a:p>
          <a:p>
            <a:r>
              <a:t>      "activity": "3  Prove reach and handling",</a:t>
            </a:r>
          </a:p>
          <a:p>
            <a:r>
              <a:t>      "owner": "Manish / Nigel",</a:t>
            </a:r>
          </a:p>
          <a:p>
            <a:r>
              <a:t>      "active": [</a:t>
            </a:r>
          </a:p>
          <a:p>
            <a:r>
              <a:t>        2,</a:t>
            </a:r>
          </a:p>
          <a:p>
            <a:r>
              <a:t>        3,</a:t>
            </a:r>
          </a:p>
          <a:p>
            <a:r>
              <a:t>        4</a:t>
            </a:r>
          </a:p>
          <a:p>
            <a:r>
              <a:t>      ],</a:t>
            </a:r>
          </a:p>
          <a:p>
            <a:r>
              <a:t>      "gate_week": 3,</a:t>
            </a:r>
          </a:p>
          <a:p>
            <a:r>
              <a:t>      "gate": "One evidenced route; usable capacity and access",</a:t>
            </a:r>
          </a:p>
          <a:p>
            <a:r>
              <a:t>      "now": "Public inventory and schematic routes assembled; operating capacity/access unverified."</a:t>
            </a:r>
          </a:p>
          <a:p>
            <a:r>
              <a:t>    },</a:t>
            </a:r>
          </a:p>
          <a:p>
            <a:r>
              <a:t>    {</a:t>
            </a:r>
          </a:p>
          <a:p>
            <a:r>
              <a:t>      "activity": "4  Quantify customer opportunity",</a:t>
            </a:r>
          </a:p>
          <a:p>
            <a:r>
              <a:t>      "owner": "Nigel / Manish",</a:t>
            </a:r>
          </a:p>
          <a:p>
            <a:r>
              <a:t>      "active": [</a:t>
            </a:r>
          </a:p>
          <a:p>
            <a:r>
              <a:t>        3,</a:t>
            </a:r>
          </a:p>
          <a:p>
            <a:r>
              <a:t>        4,</a:t>
            </a:r>
          </a:p>
          <a:p>
            <a:r>
              <a:t>        5</a:t>
            </a:r>
          </a:p>
          <a:p>
            <a:r>
              <a:t>      ],</a:t>
            </a:r>
          </a:p>
          <a:p>
            <a:r>
              <a:t>      "gate_week": 4,</a:t>
            </a:r>
          </a:p>
          <a:p>
            <a:r>
              <a:t>      "gate": "Competitive delivered cost, rights and unique litres",</a:t>
            </a:r>
          </a:p>
          <a:p>
            <a:r>
              <a:t>      "now": "Illustrative waterfall only; actual customer volumes and cost/service screens needed."</a:t>
            </a:r>
          </a:p>
          <a:p>
            <a:r>
              <a:t>    },</a:t>
            </a:r>
          </a:p>
          <a:p>
            <a:r>
              <a:t>    {</a:t>
            </a:r>
          </a:p>
          <a:p>
            <a:r>
              <a:t>      "activity": "5  Test working stock and constraints",</a:t>
            </a:r>
          </a:p>
          <a:p>
            <a:r>
              <a:t>      "owner": "Manish / Henry",</a:t>
            </a:r>
          </a:p>
          <a:p>
            <a:r>
              <a:t>      "active": [</a:t>
            </a:r>
          </a:p>
          <a:p>
            <a:r>
              <a:t>        4,</a:t>
            </a:r>
          </a:p>
          <a:p>
            <a:r>
              <a:t>        5</a:t>
            </a:r>
          </a:p>
          <a:p>
            <a:r>
              <a:t>      ],</a:t>
            </a:r>
          </a:p>
          <a:p>
            <a:r>
              <a:t>      "gate_week": 5,</a:t>
            </a:r>
          </a:p>
          <a:p>
            <a:r>
              <a:t>      "gate": "Working stock versus usable spare space; sensitivities",</a:t>
            </a:r>
          </a:p>
          <a:p>
            <a:r>
              <a:t>      "now": "Turnover and inventory-day illustrations available; spare fuel space and peaks unknown."</a:t>
            </a:r>
          </a:p>
          <a:p>
            <a:r>
              <a:t>    },</a:t>
            </a:r>
          </a:p>
          <a:p>
            <a:r>
              <a:t>    {</a:t>
            </a:r>
          </a:p>
          <a:p>
            <a:r>
              <a:t>      "activity": "6  Challenge, reproduce and hand over",</a:t>
            </a:r>
          </a:p>
          <a:p>
            <a:r>
              <a:t>      "owner": "Nigel / Henry",</a:t>
            </a:r>
          </a:p>
          <a:p>
            <a:r>
              <a:t>      "active": [</a:t>
            </a:r>
          </a:p>
          <a:p>
            <a:r>
              <a:t>        5,</a:t>
            </a:r>
          </a:p>
          <a:p>
            <a:r>
              <a:t>        6</a:t>
            </a:r>
          </a:p>
          <a:p>
            <a:r>
              <a:t>      ],</a:t>
            </a:r>
          </a:p>
          <a:p>
            <a:r>
              <a:t>      "gate_week": 6,</a:t>
            </a:r>
          </a:p>
          <a:p>
            <a:r>
              <a:t>      "gate": "Reviewed decision pack, repeatable outputs and open gates",</a:t>
            </a:r>
          </a:p>
          <a:p>
            <a:r>
              <a:t>      "now": "Convergence draft exists; peer review and business acceptance not recorded."</a:t>
            </a:r>
          </a:p>
          <a:p>
            <a:r>
              <a:t>    },</a:t>
            </a:r>
          </a:p>
          <a:p>
            <a:r>
              <a:t>    {</a:t>
            </a:r>
          </a:p>
          <a:p>
            <a:r>
              <a:t>      "activity": "Storyline and evidence integration",</a:t>
            </a:r>
          </a:p>
          <a:p>
            <a:r>
              <a:t>      "owner": "Nigel / Manish",</a:t>
            </a:r>
          </a:p>
          <a:p>
            <a:r>
              <a:t>      "active": [</a:t>
            </a:r>
          </a:p>
          <a:p>
            <a:r>
              <a:t>        1,</a:t>
            </a:r>
          </a:p>
          <a:p>
            <a:r>
              <a:t>        2,</a:t>
            </a:r>
          </a:p>
          <a:p>
            <a:r>
              <a:t>        3,</a:t>
            </a:r>
          </a:p>
          <a:p>
            <a:r>
              <a:t>        4,</a:t>
            </a:r>
          </a:p>
          <a:p>
            <a:r>
              <a:t>        5,</a:t>
            </a:r>
          </a:p>
          <a:p>
            <a:r>
              <a:t>        6</a:t>
            </a:r>
          </a:p>
          <a:p>
            <a:r>
              <a:t>      ],</a:t>
            </a:r>
          </a:p>
          <a:p>
            <a:r>
              <a:t>      "gate_week": null,</a:t>
            </a:r>
          </a:p>
          <a:p>
            <a:r>
              <a:t>      "gate": "Every claim traced to evidence and acceptance status",</a:t>
            </a:r>
          </a:p>
          <a:p>
            <a:r>
              <a:t>      "now": "Henry prompts traced; partial/open answers remain explicit."</a:t>
            </a:r>
          </a:p>
          <a:p>
            <a:r>
              <a:t>    }</a:t>
            </a:r>
          </a:p>
          <a:p>
            <a:r>
              <a:t>  ],</a:t>
            </a:r>
          </a:p>
          <a:p>
            <a:r>
              <a:t>  "client_touchpoints": [</a:t>
            </a:r>
          </a:p>
          <a:p>
            <a:r>
              <a:t>    {</a:t>
            </a:r>
          </a:p>
          <a:p>
            <a:r>
              <a:t>      "week": 1,</a:t>
            </a:r>
          </a:p>
          <a:p>
            <a:r>
              <a:t>      "label": "Scope / data",</a:t>
            </a:r>
          </a:p>
          <a:p>
            <a:r>
              <a:t>      "decision": "Agree reporting boundaries, source access and priority customer data"</a:t>
            </a:r>
          </a:p>
          <a:p>
            <a:r>
              <a:t>    },</a:t>
            </a:r>
          </a:p>
          <a:p>
            <a:r>
              <a:t>    {</a:t>
            </a:r>
          </a:p>
          <a:p>
            <a:r>
              <a:t>      "week": 3,</a:t>
            </a:r>
          </a:p>
          <a:p>
            <a:r>
              <a:t>      "label": "Emerging findings",</a:t>
            </a:r>
          </a:p>
          <a:p>
            <a:r>
              <a:t>      "decision": "Challenge scenarios, first-route evidence and customer hypotheses"</a:t>
            </a:r>
          </a:p>
          <a:p>
            <a:r>
              <a:t>    },</a:t>
            </a:r>
          </a:p>
          <a:p>
            <a:r>
              <a:t>    {</a:t>
            </a:r>
          </a:p>
          <a:p>
            <a:r>
              <a:t>      "week": 5,</a:t>
            </a:r>
          </a:p>
          <a:p>
            <a:r>
              <a:t>      "label": "Draft implications",</a:t>
            </a:r>
          </a:p>
          <a:p>
            <a:r>
              <a:t>      "decision": "Challenge reachable flows, operating constraints and storage needs"</a:t>
            </a:r>
          </a:p>
          <a:p>
            <a:r>
              <a:t>    },</a:t>
            </a:r>
          </a:p>
          <a:p>
            <a:r>
              <a:t>    {</a:t>
            </a:r>
          </a:p>
          <a:p>
            <a:r>
              <a:t>      "week": 6,</a:t>
            </a:r>
          </a:p>
          <a:p>
            <a:r>
              <a:t>      "label": "Final review",</a:t>
            </a:r>
          </a:p>
          <a:p>
            <a:r>
              <a:t>      "decision": "Accept outputs or record remaining conditions; handover target 12 November"</a:t>
            </a:r>
          </a:p>
          <a:p>
            <a:r>
              <a:t>    }</a:t>
            </a:r>
          </a:p>
          <a:p>
            <a:r>
              <a:t>  ],</a:t>
            </a:r>
          </a:p>
          <a:p>
            <a:r>
              <a:t>  "cadence": "Daily internal check-in / written check-out; weekly technical and partner reviews; Henry at gates. Client touchpoints proposed in W1/W3/W5/W6.",</a:t>
            </a:r>
          </a:p>
          <a:p>
            <a:r>
              <a:t>  "priority": "Fuel baseline and source-to-model integration take priority. Infrastructure is not a Week 1 gate; route breadth depends on shared team capacity.",</a:t>
            </a:r>
          </a:p>
          <a:p>
            <a:r>
              <a:t>  "owner": "Nigel leads priorities and client alignment; Manish builds evidence; Henry reviews readiness",</a:t>
            </a:r>
          </a:p>
          <a:p>
            <a:r>
              <a:t>  "expiry_trigger": "Revise at next workplan review or when client checkpoint dates and data-access commitments are agreed"</a:t>
            </a:r>
          </a:p>
          <a:p>
            <a:r>
              <a:t>}</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The linked workbook is under review. Source choices, sector baselines, national/provincial logic and H/M/L definitions remain open.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Title supports overview row(s) S/C3;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EDITORIAL-REVIEW 7 Oct: evidence-led title and implication/action copy. Fixed type roles: title24, subtitle14, panel/body12, chart labels11, values12, axes10; compact map/dashboard9, source7.5. Existing input vintage and uncertainty remain unchanged.</a:t>
            </a:r>
          </a:p>
          <a:p>
            <a:r>
              <a:t>Footer notes and source occupy the fixed footer band below the rule; legends remain above it. Divider circle is filled blue with a white arrow.</a:t>
            </a:r>
          </a:p>
          <a:p>
            <a:r>
              <a:t>Four-chart second driver page; native series and periods preserved. Mining, diesel power, vehicle sales and fuel prices remain separate proxies, not a fuel forecast.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Legend correction: editable series keys moved from beneath the charts into compact right-aligned rows above each plot. Series data, colours and 11pt legend type preserved.</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"diesel",</a:t>
            </a:r>
          </a:p>
          <a:p>
            <a:r>
              <a:t>    "title": "S/C3 / C4. Test freight, rail and power before setting diesel import requirements",</a:t>
            </a:r>
          </a:p>
          <a:p>
            <a:r>
              <a:t>    "bridge": "More road activity and power use raise diesel demand; efficiency, rail and domestic output reduce the import requirement.",</a:t>
            </a:r>
          </a:p>
          <a:p>
            <a:r>
              <a:t>    "levers": [</a:t>
            </a:r>
          </a:p>
          <a:p>
            <a:r>
              <a:t>      {</a:t>
            </a:r>
          </a:p>
          <a:p>
            <a:r>
              <a:t>        "id": "road_activity",</a:t>
            </a:r>
          </a:p>
          <a:p>
            <a:r>
              <a:t>        "label": "Freight activity\n2024 = 100",</a:t>
            </a:r>
          </a:p>
          <a:p>
            <a:r>
              <a:t>        "unit": "index_2024_100",</a:t>
            </a:r>
          </a:p>
          <a:p>
            <a:r>
              <a:t>        "reference": "2024 = 100\nObserved proxy",</a:t>
            </a:r>
          </a:p>
          <a:p>
            <a:r>
              <a:t>        "rationale": "Authored flat / recovery / expansion tests. Apply before rail diversion; calibrate litres per activity unit.",</a:t>
            </a:r>
          </a:p>
          <a:p>
            <a:r>
              <a:t>        "anchor": "Observed freight proxy, not fuel demand"</a:t>
            </a:r>
          </a:p>
          <a:p>
            <a:r>
              <a:t>      },</a:t>
            </a:r>
          </a:p>
          <a:p>
            <a:r>
              <a:t>      {</a:t>
            </a:r>
          </a:p>
          <a:p>
            <a:r>
              <a:t>        "id": "rail_diversion",</a:t>
            </a:r>
          </a:p>
          <a:p>
            <a:r>
              <a:t>        "label": "Road freight moved to rail\n% of reference road work",</a:t>
            </a:r>
          </a:p>
          <a:p>
            <a:r>
              <a:t>        "unit": "percent",</a:t>
            </a:r>
          </a:p>
          <a:p>
            <a:r>
              <a:t>        "reference": "No agreed diversion\nM is proposed",</a:t>
            </a:r>
          </a:p>
          <a:p>
            <a:r>
              <a:t>        "rationale": "Higher diversion lowers road diesel. Avoid subtracting rail again if already embedded in the activity path.",</a:t>
            </a:r>
          </a:p>
          <a:p>
            <a:r>
              <a:t>        "anchor": "Authored modal-shift sensitivity; rail capacity unverified"</a:t>
            </a:r>
          </a:p>
          <a:p>
            <a:r>
              <a:t>      },</a:t>
            </a:r>
          </a:p>
          <a:p>
            <a:r>
              <a:t>      {</a:t>
            </a:r>
          </a:p>
          <a:p>
            <a:r>
              <a:t>        "id": "ocgt_generation",</a:t>
            </a:r>
          </a:p>
          <a:p>
            <a:r>
              <a:t>        "label": "Diesel OCGT generation\nFY2024 = 100",</a:t>
            </a:r>
          </a:p>
          <a:p>
            <a:r>
              <a:t>        "unit": "index_FY2024_100",</a:t>
            </a:r>
          </a:p>
          <a:p>
            <a:r>
              <a:t>        "reference": "FY2024 = 100\nLatest trend is lower",</a:t>
            </a:r>
          </a:p>
          <a:p>
            <a:r>
              <a:t>        "rationale": "Test grid recovery versus stress. Use one generation path; do not add a second load-shedding allowance.",</a:t>
            </a:r>
          </a:p>
          <a:p>
            <a:r>
              <a:t>        "anchor": "Observed OCGT trend; all target-year indices authored"</a:t>
            </a:r>
          </a:p>
          <a:p>
            <a:r>
              <a:t>      },</a:t>
            </a:r>
          </a:p>
          <a:p>
            <a:r>
              <a:t>      {</a:t>
            </a:r>
          </a:p>
          <a:p>
            <a:r>
              <a:t>        "id": "new_cohort_efficiency",</a:t>
            </a:r>
          </a:p>
          <a:p>
            <a:r>
              <a:t>        "label": "New-vehicle efficiency gain\n% per year",</a:t>
            </a:r>
          </a:p>
          <a:p>
            <a:r>
              <a:t>        "unit": "percent_per_year",</a:t>
            </a:r>
          </a:p>
          <a:p>
            <a:r>
              <a:t>        "reference": "Legacy: 0.5–1.0%\nNew cohorts only",</a:t>
            </a:r>
          </a:p>
          <a:p>
            <a:r>
              <a:t>        "rationale": "Existing low/high input endpoints; M is a proposed midpoint. Higher gain lowers new-cohort fuel use.",</a:t>
            </a:r>
          </a:p>
          <a:p>
            <a:r>
              <a:t>        "anchor": "Registered diesel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output; exclude closed capacity and count downtime once.",</a:t>
            </a:r>
          </a:p>
          <a:p>
            <a:r>
              <a:t>        "anchor": "Authored utilisation range; not observed plant operation"</a:t>
            </a:r>
          </a:p>
          <a:p>
            <a:r>
              <a:t>      },</a:t>
            </a:r>
          </a:p>
          <a:p>
            <a:r>
              <a:t>      {</a:t>
            </a:r>
          </a:p>
          <a:p>
            <a:r>
              <a:t>        "id": "product_yield",</a:t>
            </a:r>
          </a:p>
          <a:p>
            <a:r>
              <a:t>        "label": "Diesel product yield\n% of plant throughput",</a:t>
            </a:r>
          </a:p>
          <a:p>
            <a:r>
              <a:t>        "unit": "percent",</a:t>
            </a:r>
          </a:p>
          <a:p>
            <a:r>
              <a:t>        "reference": "Legacy yield: 25%\nPlant mix unverified",</a:t>
            </a:r>
          </a:p>
          <a:p>
            <a:r>
              <a:t>        "rationale": "Brackets the legacy yield. Higher yield raises diesel output; enforce a consistent cross-product yield slate.",</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H requires FID, timing, ramp-up and product yields; it is not committed output.",</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"jet",</a:t>
            </a:r>
          </a:p>
          <a:p>
            <a:r>
              <a:t>    "title": "S/C3 / C4. Build jet demand from aircraft movements and fuel burn before estimating imports",</a:t>
            </a:r>
          </a:p>
          <a:p>
            <a:r>
              <a:t>    "bridge": "Traffic and fuel burn set total jet demand; SAF changes the fossil share, while refinery output sets the import balance.",</a:t>
            </a:r>
          </a:p>
          <a:p>
            <a:r>
              <a:t>    "levers": [</a:t>
            </a:r>
          </a:p>
          <a:p>
            <a:r>
              <a:t>      {</a:t>
            </a:r>
          </a:p>
          <a:p>
            <a:r>
              <a:t>        "id": "aircraft_movements",</a:t>
            </a:r>
          </a:p>
          <a:p>
            <a:r>
              <a:t>        "label": "Aircraft movements\n2024 = 100",</a:t>
            </a:r>
          </a:p>
          <a:p>
            <a:r>
              <a:t>        "unit": "index_2024_100",</a:t>
            </a:r>
          </a:p>
          <a:p>
            <a:r>
              <a:t>        "reference": "2024 = 100\nACSA coverage only",</a:t>
            </a:r>
          </a:p>
          <a:p>
            <a:r>
              <a:t>        "rationale": "Authored flat / recovery / expansion tests. Follow Manish's movement driver; re-fit against matched jet deliveries.",</a:t>
            </a:r>
          </a:p>
          <a:p>
            <a:r>
              <a:t>        "anchor": "Registered ACSA movement source; target indices authored"</a:t>
            </a:r>
          </a:p>
          <a:p>
            <a:r>
              <a:t>      },</a:t>
            </a:r>
          </a:p>
          <a:p>
            <a:r>
              <a:t>      {</a:t>
            </a:r>
          </a:p>
          <a:p>
            <a:r>
              <a:t>        "id": "fuel_burn_per_movement",</a:t>
            </a:r>
          </a:p>
          <a:p>
            <a:r>
              <a:t>        "label": "Fuel burn per movement\n2024 = 100",</a:t>
            </a:r>
          </a:p>
          <a:p>
            <a:r>
              <a:t>        "unit": "index_2024_100",</a:t>
            </a:r>
          </a:p>
          <a:p>
            <a:r>
              <a:t>        "reference": "2024 = 100 assumed\nNot yet measured",</a:t>
            </a:r>
          </a:p>
          <a:p>
            <a:r>
              <a:t>        "rationale": "Lower burn lowers litres. Separate aircraft efficiency from route length, aircraft size and international mix.",</a:t>
            </a:r>
          </a:p>
          <a:p>
            <a:r>
              <a:t>        "anchor": "Authored intensity tests; ICAO supports mechanism, not these SA values"</a:t>
            </a:r>
          </a:p>
          <a:p>
            <a:r>
              <a:t>      },</a:t>
            </a:r>
          </a:p>
          <a:p>
            <a:r>
              <a:t>      {</a:t>
            </a:r>
          </a:p>
          <a:p>
            <a:r>
              <a:t>        "id": "saf_volume_share",</a:t>
            </a:r>
          </a:p>
          <a:p>
            <a:r>
              <a:t>        "label": "SAF share of jet deliveries\n% by volume",</a:t>
            </a:r>
          </a:p>
          <a:p>
            <a:r>
              <a:t>        "unit": "percent",</a:t>
            </a:r>
          </a:p>
          <a:p>
            <a:r>
              <a:t>        "reference": "SA blend baseline unknown\nNot a local mandate",</a:t>
            </a:r>
          </a:p>
          <a:p>
            <a:r>
              <a:t>        "rationale": "Changes fossil jet share, not total jet litres. Authored blend tests; ICAO's 5% emissions vision is not a volume target.",</a:t>
            </a:r>
          </a:p>
          <a:p>
            <a:r>
              <a:t>        "anchor": "Authored SA sensitivity; ICAO global framework only"</a:t>
            </a:r>
          </a:p>
          <a:p>
            <a:r>
              <a:t>      },</a:t>
            </a:r>
          </a:p>
          <a:p>
            <a:r>
              <a:t>      {</a:t>
            </a:r>
          </a:p>
          <a:p>
            <a:r>
              <a:t>        "id": "plant_utilisation",</a:t>
            </a:r>
          </a:p>
          <a:p>
            <a:r>
              <a:t>        "label": "Existing plant utilisation\n% of operable capacity",</a:t>
            </a:r>
          </a:p>
          <a:p>
            <a:r>
              <a:t>        "unit": "percent",</a:t>
            </a:r>
          </a:p>
          <a:p>
            <a:r>
              <a:t>        "reference": "Actual output unresolved\n75% is a test",</a:t>
            </a:r>
          </a:p>
          <a:p>
            <a:r>
              <a:t>        "rationale": "Same plant setting as diesel and petrol. Higher utilisation raises jet output, subject to actual product capability.",</a:t>
            </a:r>
          </a:p>
          <a:p>
            <a:r>
              <a:t>        "anchor": "Authored shared utilisation range"</a:t>
            </a:r>
          </a:p>
          <a:p>
            <a:r>
              <a:t>      },</a:t>
            </a:r>
          </a:p>
          <a:p>
            <a:r>
              <a:t>      {</a:t>
            </a:r>
          </a:p>
          <a:p>
            <a:r>
              <a:t>        "id": "product_yield",</a:t>
            </a:r>
          </a:p>
          <a:p>
            <a:r>
              <a:t>        "label": "Jet product yield\n% of capable plant throughput",</a:t>
            </a:r>
          </a:p>
          <a:p>
            <a:r>
              <a:t>        "unit": "percent",</a:t>
            </a:r>
          </a:p>
          <a:p>
            <a:r>
              <a:t>        "reference": "Legacy capable plants: 10%\nOther plants: 0%",</a:t>
            </a:r>
          </a:p>
          <a:p>
            <a:r>
              <a:t>        "rationale": "Apply only to jet-capable plants. Brackets the legacy yield; cannot assume every refinery produces aviation fuel.",</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addition\nJet capability unknown",</a:t>
            </a:r>
          </a:p>
          <a:p>
            <a:r>
              <a:t>        "rationale": "Same refinery branch, counted once. Jet output depends on a verified yield and specification, not nameplate alone.",</a:t>
            </a:r>
          </a:p>
          <a:p>
            <a:r>
              <a:t>        "anchor": "Existing illustrative refinery case; jet eligibility unresolved"</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"Proposed sensitivity inputs for review; not calibrated, approved or wired into forecasts",</a:t>
            </a:r>
          </a:p>
          <a:p>
            <a:r>
              <a:t>  "fuel": {</a:t>
            </a:r>
          </a:p>
          <a:p>
            <a:r>
              <a:t>    "fuel": "petrol",</a:t>
            </a:r>
          </a:p>
          <a:p>
            <a:r>
              <a:t>    "title": "S/C3 / C4. Test travel, fleet growth and electrification before setting petrol import requirements",</a:t>
            </a:r>
          </a:p>
          <a:p>
            <a:r>
              <a:t>    "bridge": "Travel and fleet additions raise petrol demand; electrification and new-cohort efficiency offset growth before supply is matched.",</a:t>
            </a:r>
          </a:p>
          <a:p>
            <a:r>
              <a:t>    "levers": [</a:t>
            </a:r>
          </a:p>
          <a:p>
            <a:r>
              <a:t>      {</a:t>
            </a:r>
          </a:p>
          <a:p>
            <a:r>
              <a:t>        "id": "passenger_mileage",</a:t>
            </a:r>
          </a:p>
          <a:p>
            <a:r>
              <a:t>        "label": "Passenger mileage\nkm / vehicle / year",</a:t>
            </a:r>
          </a:p>
          <a:p>
            <a:r>
              <a:t>        "unit": "km_per_vehicle_year",</a:t>
            </a:r>
          </a:p>
          <a:p>
            <a:r>
              <a:t>        "reference": "Registered: 17,000\nProvisional placeholder",</a:t>
            </a:r>
          </a:p>
          <a:p>
            <a:r>
              <a:t>        "rationale": "Authored ±20% around the current mileage placeholder. Higher mileage raises petrol demand at a given fleet.",</a:t>
            </a:r>
          </a:p>
          <a:p>
            <a:r>
              <a:t>        "anchor": "Registered provisional passenger mileage"</a:t>
            </a:r>
          </a:p>
          <a:p>
            <a:r>
              <a:t>      },</a:t>
            </a:r>
          </a:p>
          <a:p>
            <a:r>
              <a:t>      {</a:t>
            </a:r>
          </a:p>
          <a:p>
            <a:r>
              <a:t>        "id": "gdp_growth",</a:t>
            </a:r>
          </a:p>
          <a:p>
            <a:r>
              <a:t>        "label": "Real GDP growth\n% per year",</a:t>
            </a:r>
          </a:p>
          <a:p>
            <a:r>
              <a:t>        "unit": "percent_per_year",</a:t>
            </a:r>
          </a:p>
          <a:p>
            <a:r>
              <a:t>        "reference": "Team continuation: 2%\nBeyond official 2028",</a:t>
            </a:r>
          </a:p>
          <a:p>
            <a:r>
              <a:t>        "rationale": "Bracket the 2% continuation proposal. Drives fleet additions through the fitted relationship, not a second fuel multiplier.",</a:t>
            </a:r>
          </a:p>
          <a:p>
            <a:r>
              <a:t>        "anchor": "Registered macro proposal; outer range authored"</a:t>
            </a:r>
          </a:p>
          <a:p>
            <a:r>
              <a:t>      },</a:t>
            </a:r>
          </a:p>
          <a:p>
            <a:r>
              <a:t>      {</a:t>
            </a:r>
          </a:p>
          <a:p>
            <a:r>
              <a:t>        "id": "bev_new_sales_share",</a:t>
            </a:r>
          </a:p>
          <a:p>
            <a:r>
              <a:t>        "label": "BEV share of new sales\n% of passenger sales",</a:t>
            </a:r>
          </a:p>
          <a:p>
            <a:r>
              <a:t>        "unit": "percent",</a:t>
            </a:r>
          </a:p>
          <a:p>
            <a:r>
              <a:t>        "reference": "Legacy uptake curves\nSales/fleet basis to resolve",</a:t>
            </a:r>
          </a:p>
          <a:p>
            <a:r>
              <a:t>        "rationale": "Authored sales-share tests. Higher BEV uptake lowers new ICE additions; total-fleet effect depends on survival.",</a:t>
            </a:r>
          </a:p>
          <a:p>
            <a:r>
              <a:t>        "anchor": "Authored replacement design, not values from legacy S-curves"</a:t>
            </a:r>
          </a:p>
          <a:p>
            <a:r>
              <a:t>      },</a:t>
            </a:r>
          </a:p>
          <a:p>
            <a:r>
              <a:t>      {</a:t>
            </a:r>
          </a:p>
          <a:p>
            <a:r>
              <a:t>        "id": "new_cohort_efficiency",</a:t>
            </a:r>
          </a:p>
          <a:p>
            <a:r>
              <a:t>        "label": "New-vehicle efficiency gain\n% per year",</a:t>
            </a:r>
          </a:p>
          <a:p>
            <a:r>
              <a:t>        "unit": "percent_per_year",</a:t>
            </a:r>
          </a:p>
          <a:p>
            <a:r>
              <a:t>        "reference": "Legacy: 1.0–1.5%\nNew cohorts only",</a:t>
            </a:r>
          </a:p>
          <a:p>
            <a:r>
              <a:t>        "rationale": "Existing low/high input endpoints; M is a proposed midpoint. Preserve each cohort's entry-year consumption.",</a:t>
            </a:r>
          </a:p>
          <a:p>
            <a:r>
              <a:t>        "anchor": "Registered gasoline efficiency CSV; unreviewed"</a:t>
            </a:r>
          </a:p>
          <a:p>
            <a:r>
              <a:t>      },</a:t>
            </a:r>
          </a:p>
          <a:p>
            <a:r>
              <a:t>      {</a:t>
            </a:r>
          </a:p>
          <a:p>
            <a:r>
              <a:t>        "id": "plant_utilisation",</a:t>
            </a:r>
          </a:p>
          <a:p>
            <a:r>
              <a:t>        "label": "Existing plant utilisation\n% of operable capacity",</a:t>
            </a:r>
          </a:p>
          <a:p>
            <a:r>
              <a:t>        "unit": "percent",</a:t>
            </a:r>
          </a:p>
          <a:p>
            <a:r>
              <a:t>        "reference": "Actual output unresolved\n75% is a test",</a:t>
            </a:r>
          </a:p>
          <a:p>
            <a:r>
              <a:t>        "rationale": "Shared across fuels. Higher utilisation raises domestic petrol output; use actual operable capacity and downtime.",</a:t>
            </a:r>
          </a:p>
          <a:p>
            <a:r>
              <a:t>        "anchor": "Authored shared utilisation range"</a:t>
            </a:r>
          </a:p>
          <a:p>
            <a:r>
              <a:t>      },</a:t>
            </a:r>
          </a:p>
          <a:p>
            <a:r>
              <a:t>      {</a:t>
            </a:r>
          </a:p>
          <a:p>
            <a:r>
              <a:t>        "id": "product_yield",</a:t>
            </a:r>
          </a:p>
          <a:p>
            <a:r>
              <a:t>        "label": "Petrol yield (conventional)\n% of plant throughput",</a:t>
            </a:r>
          </a:p>
          <a:p>
            <a:r>
              <a:t>        "unit": "percent",</a:t>
            </a:r>
          </a:p>
          <a:p>
            <a:r>
              <a:t>        "reference": "Legacy conventional: 45%\nSynthetic plants differ",</a:t>
            </a:r>
          </a:p>
          <a:p>
            <a:r>
              <a:t>        "rationale": "Brackets conventional-plant legacy yield. Keep synthetic plants separate and enforce the product-slate constraint.",</a:t>
            </a:r>
          </a:p>
          <a:p>
            <a:r>
              <a:t>        "anchor": "Registered legacy supply mix; range authored"</a:t>
            </a:r>
          </a:p>
          <a:p>
            <a:r>
              <a:t>      },</a:t>
            </a:r>
          </a:p>
          <a:p>
            <a:r>
              <a:t>      {</a:t>
            </a:r>
          </a:p>
          <a:p>
            <a:r>
              <a:t>        "id": "restart_capacity",</a:t>
            </a:r>
          </a:p>
          <a:p>
            <a:r>
              <a:t>        "label": "Conditional added capacity\nthousand bbl/day",</a:t>
            </a:r>
          </a:p>
          <a:p>
            <a:r>
              <a:t>        "unit": "thousand_bbl_per_day",</a:t>
            </a:r>
          </a:p>
          <a:p>
            <a:r>
              <a:t>        "reference": "No committed addition\nConditional case only",</a:t>
            </a:r>
          </a:p>
          <a:p>
            <a:r>
              <a:t>        "rationale": "Shared refinery branch, counted once. Petrol output requires FID, ramp-up and a verified product bridge.",</a:t>
            </a:r>
          </a:p>
          <a:p>
            <a:r>
              <a:t>        "anchor": "Existing illustrative refinery case"</a:t>
            </a:r>
          </a:p>
          <a:p>
            <a:r>
              <a:t>      }</a:t>
            </a:r>
          </a:p>
          <a:p>
            <a:r>
              <a:t>    ]</a:t>
            </a:r>
          </a:p>
          <a:p>
            <a:r>
              <a:t>  },</a:t>
            </a:r>
          </a:p>
          <a:p>
            <a:r>
              <a:t>  "sources": {</a:t>
            </a:r>
          </a:p>
          <a:p>
            <a:r>
              <a:t>    "vehicles": "assumptions/2026/vehicles.yaml and timeseries/efficiency_improvement_{diesel,gasoline}.csv; provisional vehicle mileage and legacy efficiency paths",</a:t>
            </a:r>
          </a:p>
          <a:p>
            <a:r>
              <a:t>    "supply": "assumptions/2026/supply.yaml; legacy yields, not plant-specific verified yields",</a:t>
            </a:r>
          </a:p>
          <a:p>
            <a:r>
              <a:t>    "macro": "assumptions/2026/macro.yaml; 2% continuation beyond 2028 is a team proposal, not an official 2030/2035 forecast",</a:t>
            </a:r>
          </a:p>
          <a:p>
            <a:r>
              <a:t>    "treasury": "https://www.treasury.gov.za/documents/national%20budget/2026/review/FullBR.pdf",</a:t>
            </a:r>
          </a:p>
          <a:p>
            <a:r>
              <a:t>    "aviation": "assumptions/2026/aviation.yaml; Manish's 5 October movement-driver proposal; re-estimation outstanding",</a:t>
            </a:r>
          </a:p>
          <a:p>
            <a:r>
              <a:t>    "icao": "https://www.icao.int/environmental-protection/trends-emissions-affect-climate-change",</a:t>
            </a:r>
          </a:p>
          <a:p>
            <a:r>
              <a:t>    "saf": "https://www.icao.int/SAF; global emissions-reduction aspiration is NOT a South African volume-blend requirement",</a:t>
            </a:r>
          </a:p>
          <a:p>
            <a:r>
              <a:t>    "restart": "pptx/scripts/supply_review_pages.py; existing illustrative refinery capacity branch, not committed output"</a:t>
            </a:r>
          </a:p>
          <a:p>
            <a:r>
              <a:t>  },</a:t>
            </a:r>
          </a:p>
          <a:p>
            <a:r>
              <a:t>  "handoff": "Not yet consumed by engine. Percentages are stored as display percentages: divide by 100 when mapping to model fractions. Define annual paths from a matched opening year through 2030 and 2035; do not interpolate silently. Shared utilisation and restart must be identical across all fuel pages. Yield slates must sum to &lt;=100% including other products. ACSA excludes non-ACSA airports; movement model must be re-estimated. SAF does not reduce total jet litres. Owners: Manish baseline/source and integration; Nigel range selection; Henry technical challenge."</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"R7. Close the baseline and agree forecast inputs before integrating Manish’s handback",</a:t>
            </a:r>
          </a:p>
          <a:p>
            <a:r>
              <a:t>  "subtitle": "Manish’s focus | 7 October 2026 | proposed outputs and Nigel’s review decisions",</a:t>
            </a:r>
          </a:p>
          <a:p>
            <a:r>
              <a:t>  "rows": [</a:t>
            </a:r>
          </a:p>
          <a:p>
            <a:r>
              <a:t>    [</a:t>
            </a:r>
          </a:p>
          <a:p>
            <a:r>
              <a:t>      "1  National balance",</a:t>
            </a:r>
          </a:p>
          <a:p>
            <a:r>
              <a:t>      "Present the corrected petrol/diesel balance, source differences and missing production / stocks",</a:t>
            </a:r>
          </a:p>
          <a:p>
            <a:r>
              <a:t>      "Agree 2024 sales source; review corrected SARS trade"</a:t>
            </a:r>
          </a:p>
          <a:p>
            <a:r>
              <a:t>    ],</a:t>
            </a:r>
          </a:p>
          <a:p>
            <a:r>
              <a:t>    [</a:t>
            </a:r>
          </a:p>
          <a:p>
            <a:r>
              <a:t>      "2  Forecast levers",</a:t>
            </a:r>
          </a:p>
          <a:p>
            <a:r>
              <a:t>      "Complete diesel, jet and petrol tables: baseline and L/M/H inputs for 2030 / 2035, with units, rationale and sources",</a:t>
            </a:r>
          </a:p>
          <a:p>
            <a:r>
              <a:t>      "Challenge ranges; agree the reference case"</a:t>
            </a:r>
          </a:p>
          <a:p>
            <a:r>
              <a:t>    ],</a:t>
            </a:r>
          </a:p>
          <a:p>
            <a:r>
              <a:t>    [</a:t>
            </a:r>
          </a:p>
          <a:p>
            <a:r>
              <a:t>      "3  Sector baselines",</a:t>
            </a:r>
          </a:p>
          <a:p>
            <a:r>
              <a:t>      "Propose agriculture / industry starting values; identify overlaps and double counting",</a:t>
            </a:r>
          </a:p>
          <a:p>
            <a:r>
              <a:t>      "Agree starting values for the model"</a:t>
            </a:r>
          </a:p>
          <a:p>
            <a:r>
              <a:t>    ],</a:t>
            </a:r>
          </a:p>
          <a:p>
            <a:r>
              <a:t>    [</a:t>
            </a:r>
          </a:p>
          <a:p>
            <a:r>
              <a:t>      "4  Tank handling",</a:t>
            </a:r>
          </a:p>
          <a:p>
            <a:r>
              <a:t>      "Set site assumptions for usable fuel capacity, monthly turns and receipt / dispatch limits; label evidence and estimates",</a:t>
            </a:r>
          </a:p>
          <a:p>
            <a:r>
              <a:t>      "Agree provisional operating ranges"</a:t>
            </a:r>
          </a:p>
          <a:p>
            <a:r>
              <a:t>    ],</a:t>
            </a:r>
          </a:p>
          <a:p>
            <a:r>
              <a:t>    [</a:t>
            </a:r>
          </a:p>
          <a:p>
            <a:r>
              <a:t>      "5  Reviewable handback",</a:t>
            </a:r>
          </a:p>
          <a:p>
            <a:r>
              <a:t>      "Check pack figures against originals; refresh handback and list ready, proposed and unresolved items",</a:t>
            </a:r>
          </a:p>
          <a:p>
            <a:r>
              <a:t>      "Review corrections before integration into main"</a:t>
            </a:r>
          </a:p>
          <a:p>
            <a:r>
              <a:t>    ]</a:t>
            </a:r>
          </a:p>
          <a:p>
            <a:r>
              <a:t>  ],</a:t>
            </a:r>
          </a:p>
          <a:p>
            <a:r>
              <a:t>  "target": "End-of-day target: a reviewed baseline, three comparable fuel input tables and an owned decision log",</a:t>
            </a:r>
          </a:p>
          <a:p>
            <a:r>
              <a:t>  "status": "Latest balance and EV corrections are supplied on Manish’s branch; review and integration remain outstanding.",</a:t>
            </a:r>
          </a:p>
          <a:p>
            <a:r>
              <a:t>  "source": "Manish handback update, 7 Oct 2026 (ef1720a); Nigel’s agreed focus table. Targets proposed; no acceptance inferred.",</a:t>
            </a:r>
          </a:p>
          <a:p>
            <a:r>
              <a:t>  "handback": "https://github.com/Africa-International-Advisors/liquid_fuels_model/blob/manish-branch/workstreams/WS0_governance/workplan/manish_handback_2026-10-06.md"</a:t>
            </a:r>
          </a:p>
          <a:p>
            <a:r>
              <a:t>}</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 Target="slide4.xml"/><Relationship Id="rId6" Type="http://schemas.openxmlformats.org/officeDocument/2006/relationships/slide" Target="slide6.xml"/><Relationship Id="rId7" Type="http://schemas.openxmlformats.org/officeDocument/2006/relationships/slide" Target="slide16.xml"/><Relationship Id="rId8" Type="http://schemas.openxmlformats.org/officeDocument/2006/relationships/slide" Target="slide7.xml"/><Relationship Id="rId9" Type="http://schemas.openxmlformats.org/officeDocument/2006/relationships/slide" Target="slide8.xml"/><Relationship Id="rId10" Type="http://schemas.openxmlformats.org/officeDocument/2006/relationships/slide" Target="slide9.xml"/><Relationship Id="rId11" Type="http://schemas.openxmlformats.org/officeDocument/2006/relationships/slide" Target="slide22.xml"/><Relationship Id="rId12" Type="http://schemas.openxmlformats.org/officeDocument/2006/relationships/slide" Target="slide11.xml"/><Relationship Id="rId13" Type="http://schemas.openxmlformats.org/officeDocument/2006/relationships/slide" Target="slide23.xml"/><Relationship Id="rId14" Type="http://schemas.openxmlformats.org/officeDocument/2006/relationships/slide" Target="slide10.xml"/><Relationship Id="rId15" Type="http://schemas.openxmlformats.org/officeDocument/2006/relationships/slide" Target="slide24.xml"/><Relationship Id="rId16" Type="http://schemas.openxmlformats.org/officeDocument/2006/relationships/slide" Target="slide3.xml"/><Relationship Id="rId17" Type="http://schemas.openxmlformats.org/officeDocument/2006/relationships/slide" Target="slide12.xml"/><Relationship Id="rId18" Type="http://schemas.openxmlformats.org/officeDocument/2006/relationships/slide" Target="slide18.xml"/><Relationship Id="rId19" Type="http://schemas.openxmlformats.org/officeDocument/2006/relationships/slide" Target="slide13.xml"/><Relationship Id="rId20" Type="http://schemas.openxmlformats.org/officeDocument/2006/relationships/slide" Target="slide17.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6.xml"/><Relationship Id="rId7" Type="http://schemas.openxmlformats.org/officeDocument/2006/relationships/slide" Target="slide22.xml"/><Relationship Id="rId8" Type="http://schemas.openxmlformats.org/officeDocument/2006/relationships/chart" Target="../charts/chart16.xml"/><Relationship Id="rId9" Type="http://schemas.openxmlformats.org/officeDocument/2006/relationships/chart" Target="../charts/char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 Id="rId7" Type="http://schemas.openxmlformats.org/officeDocument/2006/relationships/chart" Target="../charts/char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16.xml"/><Relationship Id="rId8" Type="http://schemas.openxmlformats.org/officeDocument/2006/relationships/slide" Target="slide22.xml"/><Relationship Id="rId9" Type="http://schemas.openxmlformats.org/officeDocument/2006/relationships/chart" Target="../charts/chart1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16.xml"/><Relationship Id="rId13" Type="http://schemas.openxmlformats.org/officeDocument/2006/relationships/slide" Target="slide2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3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3.xml"/><Relationship Id="rId12" Type="http://schemas.openxmlformats.org/officeDocument/2006/relationships/slide" Target="slide4.xml"/><Relationship Id="rId13" Type="http://schemas.openxmlformats.org/officeDocument/2006/relationships/slide" Target="slide16.xml"/><Relationship Id="rId14" Type="http://schemas.openxmlformats.org/officeDocument/2006/relationships/slide" Target="slide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chart" Target="../charts/chart6.xml"/><Relationship Id="rId7" Type="http://schemas.openxmlformats.org/officeDocument/2006/relationships/chart" Target="../charts/chart7.xml"/><Relationship Id="rId8" Type="http://schemas.openxmlformats.org/officeDocument/2006/relationships/chart" Target="../charts/chart8.xml"/><Relationship Id="rId9" Type="http://schemas.openxmlformats.org/officeDocument/2006/relationships/chart" Target="../charts/chart9.xml"/><Relationship Id="rId10" Type="http://schemas.openxmlformats.org/officeDocument/2006/relationships/notesSlide" Target="../notesSlides/notesSlide2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16.xml"/><Relationship Id="rId5" Type="http://schemas.openxmlformats.org/officeDocument/2006/relationships/slide" Target="slide22.xml"/><Relationship Id="rId6" Type="http://schemas.openxmlformats.org/officeDocument/2006/relationships/notesSlide" Target="../notesSlides/notesSlide3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16.xml"/><Relationship Id="rId6" Type="http://schemas.openxmlformats.org/officeDocument/2006/relationships/slide" Target="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16.xml"/><Relationship Id="rId7" Type="http://schemas.openxmlformats.org/officeDocument/2006/relationships/slide" Target="slide22.xml"/><Relationship Id="rId8" Type="http://schemas.openxmlformats.org/officeDocument/2006/relationships/chart" Target="../charts/chart14.xml"/><Relationship Id="rId9" Type="http://schemas.openxmlformats.org/officeDocument/2006/relationships/chart" Target="../charts/char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5.xml"/><Relationship Id="rId5" Type="http://schemas.openxmlformats.org/officeDocument/2006/relationships/slide" Target="slide8.xml"/><Relationship Id="rId6" Type="http://schemas.openxmlformats.org/officeDocument/2006/relationships/slide" Target="slide22.xml"/><Relationship Id="rId7" Type="http://schemas.openxmlformats.org/officeDocument/2006/relationships/slide" Target="slide23.xml"/><Relationship Id="rId8" Type="http://schemas.openxmlformats.org/officeDocument/2006/relationships/slide" Target="slide16.xml"/><Relationship Id="rId9" Type="http://schemas.openxmlformats.org/officeDocument/2006/relationships/slide" Target="slide18.xml"/><Relationship Id="rId10" Type="http://schemas.openxmlformats.org/officeDocument/2006/relationships/slide" Target="slide7.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3.xml"/><Relationship Id="rId14" Type="http://schemas.openxmlformats.org/officeDocument/2006/relationships/slide" Target="slide17.xml"/><Relationship Id="rId15" Type="http://schemas.openxmlformats.org/officeDocument/2006/relationships/slide" Target="slide19.xml"/><Relationship Id="rId16" Type="http://schemas.openxmlformats.org/officeDocument/2006/relationships/slide" Target="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6.xml"/><Relationship Id="rId3" Type="http://schemas.openxmlformats.org/officeDocument/2006/relationships/slide" Target="slide18.xml"/><Relationship Id="rId4" Type="http://schemas.openxmlformats.org/officeDocument/2006/relationships/slide" Target="slide7.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23.xml"/><Relationship Id="rId8" Type="http://schemas.openxmlformats.org/officeDocument/2006/relationships/slide" Target="slide12.xml"/><Relationship Id="rId9" Type="http://schemas.openxmlformats.org/officeDocument/2006/relationships/notesSlide" Target="../notesSlides/notesSlide21.xml"/><Relationship Id="rId10" Type="http://schemas.openxmlformats.org/officeDocument/2006/relationships/slide" Target="slide3.xml"/><Relationship Id="rId11" Type="http://schemas.openxmlformats.org/officeDocument/2006/relationships/slide" Target="slide4.xml"/><Relationship Id="rId12" Type="http://schemas.openxmlformats.org/officeDocument/2006/relationships/slide" Target="slide22.xml"/><Relationship Id="rId13" Type="http://schemas.openxmlformats.org/officeDocument/2006/relationships/slide" Target="slide19.xml"/><Relationship Id="rId14" Type="http://schemas.openxmlformats.org/officeDocument/2006/relationships/slide" Target="slide17.xml"/><Relationship Id="rId15" Type="http://schemas.openxmlformats.org/officeDocument/2006/relationships/slide" Target="slide21.xml"/><Relationship Id="rId16" Type="http://schemas.openxmlformats.org/officeDocument/2006/relationships/slide" Target="slide2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22.xml"/><Relationship Id="rId3" Type="http://schemas.openxmlformats.org/officeDocument/2006/relationships/slide" Target="slide11.xml"/><Relationship Id="rId4" Type="http://schemas.openxmlformats.org/officeDocument/2006/relationships/slide" Target="slide23.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24.xml"/><Relationship Id="rId8" Type="http://schemas.openxmlformats.org/officeDocument/2006/relationships/notesSlide" Target="../notesSlides/notesSlide22.xml"/><Relationship Id="rId9" Type="http://schemas.openxmlformats.org/officeDocument/2006/relationships/slide" Target="slide3.xml"/><Relationship Id="rId10" Type="http://schemas.openxmlformats.org/officeDocument/2006/relationships/slide" Target="slide4.xml"/><Relationship Id="rId11" Type="http://schemas.openxmlformats.org/officeDocument/2006/relationships/slide" Target="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59436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About this document</a:t>
            </a:r>
          </a:p>
        </p:txBody>
      </p:sp>
      <p:sp>
        <p:nvSpPr>
          <p:cNvPr id="3" name="Slide Number Placeholder"/>
          <p:cNvSpPr>
            <a:spLocks noGrp="1"/>
          </p:cNvSpPr>
          <p:nvPr>
            <p:ph type="sldNum" sz="quarter" idx="12"/>
          </p:nvPr>
        </p:nvSpPr>
        <p:spPr/>
        <p:txBody>
          <a:bodyPr/>
          <a:lstStyle/>
          <a:p>
            <a:pPr>
              <a:defRPr sz="1000">
                <a:latin typeface="Lato"/>
              </a:defRPr>
            </a:pPr>
            <a:r>
              <a:t>2</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Diesel, jet and petrol lever design at 2030 and 2035; draft L/M/H inputs for demand and domestic output.</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Diesel dominates net imports; additional Vopak volumes still need customer evidence</a:t>
            </a:r>
          </a:p>
        </p:txBody>
      </p:sp>
      <p:sp>
        <p:nvSpPr>
          <p:cNvPr id="3" name="Slide Number Placeholder"/>
          <p:cNvSpPr>
            <a:spLocks noGrp="1"/>
          </p:cNvSpPr>
          <p:nvPr>
            <p:ph type="sldNum" sz="quarter" idx="12"/>
          </p:nvPr>
        </p:nvSpPr>
        <p:spPr/>
        <p:txBody>
          <a:bodyPr/>
          <a:lstStyle/>
          <a:p>
            <a:pPr>
              <a:defRPr sz="1000">
                <a:latin typeface="Lato"/>
              </a:defRPr>
            </a:pPr>
            <a:r>
              <a:t>3</a:t>
            </a:r>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 = Situation   C = Complication   R = Resolution. Sources: SARS trade, departmental sales and published plant/site evidence. Detailed qualifications accompany the exhibits.</a:t>
            </a:r>
          </a:p>
        </p:txBody>
      </p:sp>
      <p:graphicFrame>
        <p:nvGraphicFramePr>
          <p:cNvPr id="46" name="Table 45"/>
          <p:cNvGraphicFramePr>
            <a:graphicFrameLocks noGrp="1"/>
          </p:cNvGraphicFramePr>
          <p:nvPr/>
        </p:nvGraphicFramePr>
        <p:xfrm>
          <a:off x="457200" y="1792224"/>
          <a:ext cx="10652760" cy="4379976"/>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Finding</a:t>
                      </a:r>
                    </a:p>
                  </a:txBody>
                  <a:tcPr marL="41148" marR="41148" marT="41148" marB="18288" anchor="t">
                    <a:lnB w="7620" cap="flat">
                      <a:solidFill>
                        <a:srgbClr val="EEEEEE"/>
                      </a:solidFill>
                    </a:lnB>
                    <a:solidFill>
                      <a:srgbClr val="FFFFFF"/>
                    </a:solidFill>
                  </a:tcPr>
                </a:tc>
                <a:tc>
                  <a:txBody>
                    <a:bodyPr/>
                    <a:lstStyle/>
                    <a:p>
                      <a:pPr>
                        <a:defRPr sz="1050" b="1">
                          <a:solidFill>
                            <a:srgbClr val="000000"/>
                          </a:solidFill>
                          <a:latin typeface="Lato"/>
                        </a:defRPr>
                      </a:pPr>
                      <a:r>
                        <a:t>Implication for Vopak</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accounts for most net imports. In 2024, net diesel imports were 9.997 bn litres, compared with 3.081 bn litres for petrol.</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import flows are the largest observed trade component to assess against Vopak's services.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4</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KZN and Western Cape account for 68.6% of reported 2022 petrol and diesel sales.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Gauteng and KZN are the first demand markets to assess against Lesedi and Durban.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5</a:t>
                      </a:r>
                    </a:p>
                  </a:txBody>
                  <a:tcPr marL="41148" marR="41148" marT="41148" marB="18288" anchor="t">
                    <a:lnB w="7620" cap="flat">
                      <a:solidFill>
                        <a:srgbClr val="EEEEEE"/>
                      </a:solidFill>
                    </a:lnB>
                    <a:solidFill>
                      <a:srgbClr val="FFFFFF"/>
                    </a:solidFill>
                  </a:tcPr>
                </a:tc>
              </a:tr>
              <a:tr h="576072">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OCGT generation has fallen sharply since FY2024. Freight activity and changing vehicle sales affect other parts of fuel demand.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Forecast each end use separately. A single growth rate would miss changes in the demand mix.</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16</a:t>
                      </a:r>
                      <a:r>
                        <a:rPr sz="1050">
                          <a:solidFill>
                            <a:srgbClr val="0A2373"/>
                          </a:solidFill>
                          <a:latin typeface="Lato"/>
                          <a:hlinkClick r:id="rId20" action="ppaction://hlinksldjump"/>
                        </a:rPr>
                        <a:t> / 17</a:t>
                      </a:r>
                      <a:r>
                        <a:rPr sz="1050">
                          <a:solidFill>
                            <a:srgbClr val="0A2373"/>
                          </a:solidFill>
                          <a:latin typeface="Lato"/>
                          <a:hlinkClick r:id="rId18" action="ppaction://hlinksldjump"/>
                        </a:rPr>
                        <a:t> / 18</a:t>
                      </a:r>
                      <a:r>
                        <a:rPr sz="1050">
                          <a:solidFill>
                            <a:srgbClr val="0A2373"/>
                          </a:solidFill>
                          <a:latin typeface="Lato"/>
                          <a:hlinkClick r:id="rId21" action="ppaction://hlinksldjump"/>
                        </a:rPr>
                        <a:t> / 19</a:t>
                      </a:r>
                      <a:r>
                        <a:rPr sz="1050">
                          <a:solidFill>
                            <a:srgbClr val="0A2373"/>
                          </a:solidFill>
                          <a:latin typeface="Lato"/>
                          <a:hlinkClick r:id="rId22" action="ppaction://hlinksldjump"/>
                        </a:rPr>
                        <a:t> / 20</a:t>
                      </a:r>
                      <a:r>
                        <a:rPr sz="1050">
                          <a:solidFill>
                            <a:srgbClr val="0A2373"/>
                          </a:solidFill>
                          <a:latin typeface="Lato"/>
                          <a:hlinkClick r:id="rId23" action="ppaction://hlinksldjump"/>
                        </a:rPr>
                        <a:t> / 21</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Published refining capacity fell from 718 to 358 thousand barrels/day between 2020 and 2022. Future plant output remains uncertain.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Domestic production assumptions materially affect the forecast import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18" action="ppaction://hlinksldjump"/>
                        </a:rPr>
                        <a:t> / 18</a:t>
                      </a:r>
                      <a:r>
                        <a:rPr sz="1050">
                          <a:solidFill>
                            <a:srgbClr val="0A2373"/>
                          </a:solidFill>
                          <a:latin typeface="Lato"/>
                          <a:hlinkClick r:id="rId21" action="ppaction://hlinksldjump"/>
                        </a:rPr>
                        <a:t> / 19</a:t>
                      </a:r>
                      <a:r>
                        <a:rPr sz="1050">
                          <a:solidFill>
                            <a:srgbClr val="0A2373"/>
                          </a:solidFill>
                          <a:latin typeface="Lato"/>
                          <a:hlinkClick r:id="rId22" action="ppaction://hlinksldjump"/>
                        </a:rPr>
                        <a:t> / 20</a:t>
                      </a:r>
                      <a:r>
                        <a:rPr sz="1050">
                          <a:solidFill>
                            <a:srgbClr val="0A2373"/>
                          </a:solidFill>
                          <a:latin typeface="Lato"/>
                          <a:hlinkClick r:id="rId23" action="ppaction://hlinksldjump"/>
                        </a:rPr>
                        <a:t> / 21</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Matola and Walvis Bay provide alternative fuel supply nodes. Their effect on inland competition still needs route and volume evidence.</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Compare competing supply routes to the same inland market.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8</a:t>
                      </a:r>
                      <a:r>
                        <a:rPr sz="1050">
                          <a:solidFill>
                            <a:srgbClr val="0A2373"/>
                          </a:solidFill>
                          <a:latin typeface="Lato"/>
                          <a:hlinkClick r:id="rId10" action="ppaction://hlinksldjump"/>
                        </a:rPr>
                        <a:t> / 9</a:t>
                      </a:r>
                    </a:p>
                  </a:txBody>
                  <a:tcPr marL="41148" marR="41148" marT="41148" marB="18288" anchor="t">
                    <a:lnB w="7620" cap="flat">
                      <a:solidFill>
                        <a:srgbClr val="EEEEEE"/>
                      </a:solidFill>
                    </a:lnB>
                    <a:solidFill>
                      <a:srgbClr val="FFFFFF"/>
                    </a:solidFill>
                  </a:tcPr>
                </a:tc>
              </a:tr>
              <a:tr h="576072">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has facilities in Durban and Lesedi, alongside the coastal and inland markets identified in the demand analysis.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Establish current fuel volumes and usable capacity at these sites before estimating additional business.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10</a:t>
                      </a:r>
                      <a:r>
                        <a:rPr sz="1050">
                          <a:solidFill>
                            <a:srgbClr val="0A2373"/>
                          </a:solidFill>
                          <a:latin typeface="Lato"/>
                          <a:hlinkClick r:id="rId12" action="ppaction://hlinksldjump"/>
                        </a:rPr>
                        <a:t> / 11</a:t>
                      </a:r>
                    </a:p>
                  </a:txBody>
                  <a:tcPr marL="41148" marR="41148" marT="41148" marB="18288" anchor="t">
                    <a:lnB w="7620" cap="flat">
                      <a:solidFill>
                        <a:srgbClr val="EEEEEE"/>
                      </a:solidFill>
                    </a:lnB>
                    <a:solidFill>
                      <a:srgbClr val="FFFFFF"/>
                    </a:solidFill>
                  </a:tcPr>
                </a:tc>
              </a:tr>
              <a:tr h="576072">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The evidence does not yet establish a need for additional storage. Customer volumes and usable spare capacity remain unverified.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Determine how much additional fuel existing assets could handle, then assess any remaining capacity requirement.</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7" action="ppaction://hlinksldjump"/>
                        </a:rPr>
                        <a:t>12</a:t>
                      </a:r>
                      <a:r>
                        <a:rPr sz="1050">
                          <a:solidFill>
                            <a:srgbClr val="0A2373"/>
                          </a:solidFill>
                          <a:latin typeface="Lato"/>
                          <a:hlinkClick r:id="rId19" action="ppaction://hlinksldjump"/>
                        </a:rPr>
                        <a:t> / 13</a:t>
                      </a:r>
                      <a:r>
                        <a:rPr sz="1050">
                          <a:solidFill>
                            <a:srgbClr val="0A2373"/>
                          </a:solidFill>
                          <a:latin typeface="Lato"/>
                          <a:hlinkClick r:id="rId24" action="ppaction://hlinksldjump"/>
                        </a:rPr>
                        <a:t> / 14</a:t>
                      </a:r>
                    </a:p>
                  </a:txBody>
                  <a:tcPr marL="41148" marR="41148" marT="41148" marB="18288" anchor="t">
                    <a:lnB w="7620" cap="flat">
                      <a:solidFill>
                        <a:srgbClr val="EEEEEE"/>
                      </a:solidFill>
                    </a:lnB>
                    <a:solidFill>
                      <a:srgbClr val="FFFFFF"/>
                    </a:solidFill>
                  </a:tcPr>
                </a:tc>
              </a:tr>
            </a:tbl>
          </a:graphicData>
        </a:graphic>
      </p:graphicFrame>
      <p:sp>
        <p:nvSpPr>
          <p:cNvPr id="47"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8" name="SCR pill 2"/>
          <p:cNvSpPr/>
          <p:nvPr/>
        </p:nvSpPr>
        <p:spPr>
          <a:xfrm>
            <a:off x="1687068" y="278434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49" name="SCR pill 3"/>
          <p:cNvSpPr/>
          <p:nvPr/>
        </p:nvSpPr>
        <p:spPr>
          <a:xfrm>
            <a:off x="1687068" y="336042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C3</a:t>
            </a:r>
          </a:p>
        </p:txBody>
      </p:sp>
      <p:sp>
        <p:nvSpPr>
          <p:cNvPr id="50" name="SCR pill 4"/>
          <p:cNvSpPr/>
          <p:nvPr/>
        </p:nvSpPr>
        <p:spPr>
          <a:xfrm>
            <a:off x="1687068" y="3936492"/>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1" name="SCR pill 5"/>
          <p:cNvSpPr/>
          <p:nvPr/>
        </p:nvSpPr>
        <p:spPr>
          <a:xfrm>
            <a:off x="1687068" y="451256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2" name="SCR pill 6"/>
          <p:cNvSpPr/>
          <p:nvPr/>
        </p:nvSpPr>
        <p:spPr>
          <a:xfrm>
            <a:off x="1687068" y="508863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3" name="SCR pill 7"/>
          <p:cNvSpPr/>
          <p:nvPr/>
        </p:nvSpPr>
        <p:spPr>
          <a:xfrm>
            <a:off x="1687068" y="566470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Net imports rose in 2025: diesel by 15% and petrol by 19%</a:t>
            </a:r>
          </a:p>
        </p:txBody>
      </p:sp>
      <p:sp>
        <p:nvSpPr>
          <p:cNvPr id="3" name="Slide Number Placeholder"/>
          <p:cNvSpPr>
            <a:spLocks noGrp="1"/>
          </p:cNvSpPr>
          <p:nvPr>
            <p:ph type="sldNum" sz="quarter" idx="12"/>
          </p:nvPr>
        </p:nvSpPr>
        <p:spPr/>
        <p:txBody>
          <a:bodyPr/>
          <a:lstStyle/>
          <a:p>
            <a:pPr>
              <a:defRPr sz="1000">
                <a:latin typeface="Lato"/>
              </a:defRPr>
            </a:pPr>
            <a:r>
              <a:t>4</a:t>
            </a:r>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Sources: departmental sales 2019-2023; FIASA 2024 sales (diamond; revisions unresolved); SARS trade 2019-2025. Net imports = imports minus exports.
Comparable national petrol/diesel production is not yet available: operator output mixes products, periods and ownership shares. No production residual inferred.</a:t>
            </a:r>
          </a:p>
        </p:txBody>
      </p: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100" name="Chart 99"/>
          <p:cNvGraphicFramePr>
            <a:graphicFrameLocks noGrp="1"/>
          </p:cNvGraphicFramePr>
          <p:nvPr/>
        </p:nvGraphicFramePr>
        <p:xfrm>
          <a:off x="457200" y="2542032"/>
          <a:ext cx="5029200" cy="2697480"/>
        </p:xfrm>
        <a:graphic>
          <a:graphicData uri="http://schemas.openxmlformats.org/drawingml/2006/chart">
            <c:chart xmlns:c="http://schemas.openxmlformats.org/drawingml/2006/chart" r:id="rId8"/>
          </a:graphicData>
        </a:graphic>
      </p:graphicFrame>
      <p:graphicFrame>
        <p:nvGraphicFramePr>
          <p:cNvPr id="110" name="Chart 109"/>
          <p:cNvGraphicFramePr>
            <a:graphicFrameLocks noGrp="1"/>
          </p:cNvGraphicFramePr>
          <p:nvPr/>
        </p:nvGraphicFramePr>
        <p:xfrm>
          <a:off x="5897880" y="2542032"/>
          <a:ext cx="5029200" cy="2697480"/>
        </p:xfrm>
        <a:graphic>
          <a:graphicData uri="http://schemas.openxmlformats.org/drawingml/2006/chart">
            <c:chart xmlns:c="http://schemas.openxmlformats.org/drawingml/2006/chart" r:id="rId9"/>
          </a:graphicData>
        </a:graphic>
      </p:graphicFrame>
      <p:sp>
        <p:nvSpPr>
          <p:cNvPr id="111" name="TextBox 110"/>
          <p:cNvSpPr txBox="1"/>
          <p:nvPr/>
        </p:nvSpPr>
        <p:spPr>
          <a:xfrm>
            <a:off x="457200" y="1627632"/>
            <a:ext cx="5029200" cy="320040"/>
          </a:xfrm>
          <a:prstGeom prst="rect">
            <a:avLst/>
          </a:prstGeom>
          <a:noFill/>
        </p:spPr>
        <p:txBody>
          <a:bodyPr wrap="square" lIns="0" rIns="0" tIns="0" bIns="0">
            <a:spAutoFit/>
          </a:bodyPr>
          <a:lstStyle/>
          <a:p>
            <a:pPr>
              <a:spcAft>
                <a:spcPts val="300"/>
              </a:spcAft>
              <a:defRPr sz="1500" b="1">
                <a:solidFill>
                  <a:srgbClr val="000000"/>
                </a:solidFill>
                <a:latin typeface="Lato"/>
              </a:defRPr>
            </a:pPr>
            <a:r>
              <a:t>Petrol | bn litres</a:t>
            </a:r>
          </a:p>
        </p:txBody>
      </p:sp>
      <p:cxnSp>
        <p:nvCxnSpPr>
          <p:cNvPr id="112" name="Connector 111"/>
          <p:cNvCxnSpPr/>
          <p:nvPr/>
        </p:nvCxnSpPr>
        <p:spPr>
          <a:xfrm>
            <a:off x="457200" y="1965960"/>
            <a:ext cx="5029200" cy="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457200" y="5449824"/>
            <a:ext cx="50292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14" name="TextBox 113"/>
          <p:cNvSpPr txBox="1"/>
          <p:nvPr/>
        </p:nvSpPr>
        <p:spPr>
          <a:xfrm>
            <a:off x="457200" y="5550408"/>
            <a:ext cx="5029200" cy="246888"/>
          </a:xfrm>
          <a:prstGeom prst="rect">
            <a:avLst/>
          </a:prstGeom>
          <a:noFill/>
        </p:spPr>
        <p:txBody>
          <a:bodyPr wrap="square" lIns="0" rIns="0" tIns="0" bIns="0">
            <a:spAutoFit/>
          </a:bodyPr>
          <a:lstStyle/>
          <a:p>
            <a:pPr>
              <a:spcAft>
                <a:spcPts val="300"/>
              </a:spcAft>
              <a:defRPr sz="1300" b="1">
                <a:solidFill>
                  <a:srgbClr val="0A2373"/>
                </a:solidFill>
                <a:latin typeface="Lato"/>
              </a:defRPr>
            </a:pPr>
            <a:r>
              <a:t>Insights</a:t>
            </a:r>
          </a:p>
        </p:txBody>
      </p:sp>
      <p:sp>
        <p:nvSpPr>
          <p:cNvPr id="115" name="TextBox 114"/>
          <p:cNvSpPr txBox="1"/>
          <p:nvPr/>
        </p:nvSpPr>
        <p:spPr>
          <a:xfrm>
            <a:off x="457200" y="5879592"/>
            <a:ext cx="5029200" cy="466344"/>
          </a:xfrm>
          <a:prstGeom prst="rect">
            <a:avLst/>
          </a:prstGeom>
          <a:noFill/>
        </p:spPr>
        <p:txBody>
          <a:bodyPr wrap="square" lIns="0" rIns="0" tIns="0" bIns="0">
            <a:spAutoFit/>
          </a:bodyPr>
          <a:lstStyle/>
          <a:p>
            <a:pPr>
              <a:spcAft>
                <a:spcPts val="300"/>
              </a:spcAft>
              <a:defRPr sz="1100" b="0">
                <a:solidFill>
                  <a:srgbClr val="000000"/>
                </a:solidFill>
                <a:latin typeface="Lato"/>
              </a:defRPr>
            </a:pPr>
            <a:r>
              <a:t>2025 imports of 4.45 bn L less exports of 0.80 bn L left net imports of 3.65 bn L, up 19% year on year.</a:t>
            </a:r>
          </a:p>
        </p:txBody>
      </p:sp>
      <p:sp>
        <p:nvSpPr>
          <p:cNvPr id="116" name="TextBox 115"/>
          <p:cNvSpPr txBox="1"/>
          <p:nvPr/>
        </p:nvSpPr>
        <p:spPr>
          <a:xfrm>
            <a:off x="5897880" y="1627632"/>
            <a:ext cx="5029200" cy="320040"/>
          </a:xfrm>
          <a:prstGeom prst="rect">
            <a:avLst/>
          </a:prstGeom>
          <a:noFill/>
        </p:spPr>
        <p:txBody>
          <a:bodyPr wrap="square" lIns="0" rIns="0" tIns="0" bIns="0">
            <a:spAutoFit/>
          </a:bodyPr>
          <a:lstStyle/>
          <a:p>
            <a:pPr>
              <a:spcAft>
                <a:spcPts val="300"/>
              </a:spcAft>
              <a:defRPr sz="1500" b="1">
                <a:solidFill>
                  <a:srgbClr val="000000"/>
                </a:solidFill>
                <a:latin typeface="Lato"/>
              </a:defRPr>
            </a:pPr>
            <a:r>
              <a:t>Diesel | bn litres</a:t>
            </a:r>
          </a:p>
        </p:txBody>
      </p:sp>
      <p:cxnSp>
        <p:nvCxnSpPr>
          <p:cNvPr id="117" name="Connector 116"/>
          <p:cNvCxnSpPr/>
          <p:nvPr/>
        </p:nvCxnSpPr>
        <p:spPr>
          <a:xfrm>
            <a:off x="5897880" y="1965960"/>
            <a:ext cx="5029200" cy="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5897880" y="5449824"/>
            <a:ext cx="50292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19" name="TextBox 118"/>
          <p:cNvSpPr txBox="1"/>
          <p:nvPr/>
        </p:nvSpPr>
        <p:spPr>
          <a:xfrm>
            <a:off x="5897880" y="5550408"/>
            <a:ext cx="5029200" cy="246888"/>
          </a:xfrm>
          <a:prstGeom prst="rect">
            <a:avLst/>
          </a:prstGeom>
          <a:noFill/>
        </p:spPr>
        <p:txBody>
          <a:bodyPr wrap="square" lIns="0" rIns="0" tIns="0" bIns="0">
            <a:spAutoFit/>
          </a:bodyPr>
          <a:lstStyle/>
          <a:p>
            <a:pPr>
              <a:spcAft>
                <a:spcPts val="300"/>
              </a:spcAft>
              <a:defRPr sz="1300" b="1">
                <a:solidFill>
                  <a:srgbClr val="0A2373"/>
                </a:solidFill>
                <a:latin typeface="Lato"/>
              </a:defRPr>
            </a:pPr>
            <a:r>
              <a:t>Insights</a:t>
            </a:r>
          </a:p>
        </p:txBody>
      </p:sp>
      <p:sp>
        <p:nvSpPr>
          <p:cNvPr id="120" name="TextBox 119"/>
          <p:cNvSpPr txBox="1"/>
          <p:nvPr/>
        </p:nvSpPr>
        <p:spPr>
          <a:xfrm>
            <a:off x="5897880" y="5879592"/>
            <a:ext cx="5029200" cy="466344"/>
          </a:xfrm>
          <a:prstGeom prst="rect">
            <a:avLst/>
          </a:prstGeom>
          <a:noFill/>
        </p:spPr>
        <p:txBody>
          <a:bodyPr wrap="square" lIns="0" rIns="0" tIns="0" bIns="0">
            <a:spAutoFit/>
          </a:bodyPr>
          <a:lstStyle/>
          <a:p>
            <a:pPr>
              <a:spcAft>
                <a:spcPts val="300"/>
              </a:spcAft>
              <a:defRPr sz="1100" b="0">
                <a:solidFill>
                  <a:srgbClr val="000000"/>
                </a:solidFill>
                <a:latin typeface="Lato"/>
              </a:defRPr>
            </a:pPr>
            <a:r>
              <a:t>2025 imports of 12.25 bn L less exports of 0.75 bn L left net imports of 11.50 bn L, up 15% year on year.</a:t>
            </a:r>
          </a:p>
        </p:txBody>
      </p:sp>
      <p:cxnSp>
        <p:nvCxnSpPr>
          <p:cNvPr id="121" name="Connector 120"/>
          <p:cNvCxnSpPr/>
          <p:nvPr/>
        </p:nvCxnSpPr>
        <p:spPr>
          <a:xfrm>
            <a:off x="457200" y="2331720"/>
            <a:ext cx="210312"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122" name="TextBox 121"/>
          <p:cNvSpPr txBox="1"/>
          <p:nvPr/>
        </p:nvSpPr>
        <p:spPr>
          <a:xfrm>
            <a:off x="73152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Sales</a:t>
            </a:r>
          </a:p>
        </p:txBody>
      </p:sp>
      <p:cxnSp>
        <p:nvCxnSpPr>
          <p:cNvPr id="123" name="Connector 122"/>
          <p:cNvCxnSpPr/>
          <p:nvPr/>
        </p:nvCxnSpPr>
        <p:spPr>
          <a:xfrm>
            <a:off x="1554480" y="2331720"/>
            <a:ext cx="210312"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124" name="TextBox 123"/>
          <p:cNvSpPr txBox="1"/>
          <p:nvPr/>
        </p:nvSpPr>
        <p:spPr>
          <a:xfrm>
            <a:off x="18288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Imports</a:t>
            </a:r>
          </a:p>
        </p:txBody>
      </p:sp>
      <p:cxnSp>
        <p:nvCxnSpPr>
          <p:cNvPr id="125" name="Connector 124"/>
          <p:cNvCxnSpPr/>
          <p:nvPr/>
        </p:nvCxnSpPr>
        <p:spPr>
          <a:xfrm>
            <a:off x="2788920" y="2331720"/>
            <a:ext cx="210312"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3063239"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Exports</a:t>
            </a:r>
          </a:p>
        </p:txBody>
      </p:sp>
      <p:cxnSp>
        <p:nvCxnSpPr>
          <p:cNvPr id="127" name="Connector 126"/>
          <p:cNvCxnSpPr/>
          <p:nvPr/>
        </p:nvCxnSpPr>
        <p:spPr>
          <a:xfrm>
            <a:off x="4069080" y="2331720"/>
            <a:ext cx="210312" cy="0"/>
          </a:xfrm>
          <a:prstGeom prst="line">
            <a:avLst/>
          </a:prstGeom>
          <a:ln w="2286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43434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Net imports</a:t>
            </a:r>
          </a:p>
        </p:txBody>
      </p:sp>
      <p:cxnSp>
        <p:nvCxnSpPr>
          <p:cNvPr id="129" name="Connector 128"/>
          <p:cNvCxnSpPr/>
          <p:nvPr/>
        </p:nvCxnSpPr>
        <p:spPr>
          <a:xfrm>
            <a:off x="5897880" y="2331720"/>
            <a:ext cx="210312"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617220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Sales</a:t>
            </a:r>
          </a:p>
        </p:txBody>
      </p:sp>
      <p:cxnSp>
        <p:nvCxnSpPr>
          <p:cNvPr id="131" name="Connector 130"/>
          <p:cNvCxnSpPr/>
          <p:nvPr/>
        </p:nvCxnSpPr>
        <p:spPr>
          <a:xfrm>
            <a:off x="6995160" y="2331720"/>
            <a:ext cx="210312"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726948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Imports</a:t>
            </a:r>
          </a:p>
        </p:txBody>
      </p:sp>
      <p:cxnSp>
        <p:nvCxnSpPr>
          <p:cNvPr id="133" name="Connector 132"/>
          <p:cNvCxnSpPr/>
          <p:nvPr/>
        </p:nvCxnSpPr>
        <p:spPr>
          <a:xfrm>
            <a:off x="8229600" y="2331720"/>
            <a:ext cx="210312"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850392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Exports</a:t>
            </a:r>
          </a:p>
        </p:txBody>
      </p:sp>
      <p:cxnSp>
        <p:nvCxnSpPr>
          <p:cNvPr id="135" name="Connector 134"/>
          <p:cNvCxnSpPr/>
          <p:nvPr/>
        </p:nvCxnSpPr>
        <p:spPr>
          <a:xfrm>
            <a:off x="9509760" y="2331720"/>
            <a:ext cx="210312" cy="0"/>
          </a:xfrm>
          <a:prstGeom prst="line">
            <a:avLst/>
          </a:prstGeom>
          <a:ln w="2286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9784080" y="2221992"/>
            <a:ext cx="1078992" cy="228600"/>
          </a:xfrm>
          <a:prstGeom prst="rect">
            <a:avLst/>
          </a:prstGeom>
          <a:noFill/>
        </p:spPr>
        <p:txBody>
          <a:bodyPr wrap="square" lIns="0" rIns="0" tIns="0" bIns="0">
            <a:spAutoFit/>
          </a:bodyPr>
          <a:lstStyle/>
          <a:p>
            <a:pPr>
              <a:spcAft>
                <a:spcPts val="300"/>
              </a:spcAft>
              <a:defRPr sz="900" b="0">
                <a:solidFill>
                  <a:srgbClr val="000000"/>
                </a:solidFill>
                <a:latin typeface="Lato"/>
              </a:defRPr>
            </a:pPr>
            <a:r>
              <a:t>Net imports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Gauteng leads provincial sales; Gauteng, KZN and Western Cape held 69% in 2022</a:t>
            </a:r>
          </a:p>
        </p:txBody>
      </p:sp>
      <p:sp>
        <p:nvSpPr>
          <p:cNvPr id="3" name="Slide Number Placeholder"/>
          <p:cNvSpPr>
            <a:spLocks noGrp="1"/>
          </p:cNvSpPr>
          <p:nvPr>
            <p:ph type="sldNum" sz="quarter" idx="12"/>
          </p:nvPr>
        </p:nvSpPr>
        <p:spPr/>
        <p:txBody>
          <a:bodyPr/>
          <a:lstStyle/>
          <a:p>
            <a:pPr>
              <a:defRPr sz="1000">
                <a:latin typeface="Lato"/>
              </a:defRPr>
            </a:pPr>
            <a:r>
              <a:t>5</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Sources: departmental provincial petrol/diesel sales; staged 2013-2022 history; 2022 geographic boundaries as previously cited. Jet excluded.
2014 source conflict and incomplete 2018 coverage are omitted from the trend. No held-share 2024 estimates are shown.</a:t>
            </a:r>
          </a:p>
        </p:txBody>
      </p:sp>
      <p:sp>
        <p:nvSpPr>
          <p:cNvPr id="22" name="Map frame; common geographic extent"/>
          <p:cNvSpPr/>
          <p:nvPr/>
        </p:nvSpPr>
        <p:spPr>
          <a:xfrm>
            <a:off x="457200" y="3211007"/>
            <a:ext cx="4776870" cy="2815254"/>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3576334" y="3447709"/>
            <a:ext cx="474686" cy="84112"/>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3848102" y="4108185"/>
            <a:ext cx="225127" cy="274418"/>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435416" y="3476396"/>
            <a:ext cx="2766399" cy="2181400"/>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273966" y="3447688"/>
            <a:ext cx="876910" cy="1207411"/>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3971136" y="3466230"/>
            <a:ext cx="446193" cy="846462"/>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3202853" y="4580126"/>
            <a:ext cx="389703" cy="352971"/>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1975338" y="3447688"/>
            <a:ext cx="1658503" cy="836709"/>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74" name="Connector 22"/>
          <p:cNvCxnSpPr/>
          <p:nvPr/>
        </p:nvCxnSpPr>
        <p:spPr>
          <a:xfrm flipH="1" flipV="1">
            <a:off x="2079844" y="5651764"/>
            <a:ext cx="2279" cy="43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5" name="Connector 23"/>
          <p:cNvCxnSpPr/>
          <p:nvPr/>
        </p:nvCxnSpPr>
        <p:spPr>
          <a:xfrm flipH="1" flipV="1">
            <a:off x="2077577" y="5608659"/>
            <a:ext cx="2266"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6" name="Connector 24"/>
          <p:cNvCxnSpPr/>
          <p:nvPr/>
        </p:nvCxnSpPr>
        <p:spPr>
          <a:xfrm flipH="1" flipV="1">
            <a:off x="2075321" y="5565551"/>
            <a:ext cx="2255" cy="431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7" name="Connector 25"/>
          <p:cNvCxnSpPr/>
          <p:nvPr/>
        </p:nvCxnSpPr>
        <p:spPr>
          <a:xfrm flipH="1" flipV="1">
            <a:off x="2073077" y="5522439"/>
            <a:ext cx="2242" cy="43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8" name="Connector 26"/>
          <p:cNvCxnSpPr/>
          <p:nvPr/>
        </p:nvCxnSpPr>
        <p:spPr>
          <a:xfrm flipH="1" flipV="1">
            <a:off x="2070846" y="5479325"/>
            <a:ext cx="2231" cy="431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9" name="Connector 27"/>
          <p:cNvCxnSpPr/>
          <p:nvPr/>
        </p:nvCxnSpPr>
        <p:spPr>
          <a:xfrm flipH="1" flipV="1">
            <a:off x="2068626" y="5436207"/>
            <a:ext cx="2219"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0" name="Connector 28"/>
          <p:cNvCxnSpPr/>
          <p:nvPr/>
        </p:nvCxnSpPr>
        <p:spPr>
          <a:xfrm flipH="1" flipV="1">
            <a:off x="2066418" y="5393088"/>
            <a:ext cx="2207"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064220" y="5349966"/>
            <a:ext cx="2196"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062036" y="5306842"/>
            <a:ext cx="2184"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059863" y="5263716"/>
            <a:ext cx="2172"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057702" y="5220588"/>
            <a:ext cx="216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055553" y="5177459"/>
            <a:ext cx="2148" cy="43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053414" y="5134329"/>
            <a:ext cx="2137"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051289" y="5091196"/>
            <a:ext cx="2125"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049174" y="5048064"/>
            <a:ext cx="2113"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047072" y="5004930"/>
            <a:ext cx="2101"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044982" y="4961797"/>
            <a:ext cx="209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042903" y="4918662"/>
            <a:ext cx="2077"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040837" y="4875528"/>
            <a:ext cx="2066"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038782" y="4832394"/>
            <a:ext cx="2053"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036739" y="4789260"/>
            <a:ext cx="2042"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034708" y="4746126"/>
            <a:ext cx="203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032689" y="4702993"/>
            <a:ext cx="2018"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030682" y="4659861"/>
            <a:ext cx="2007"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028686" y="4616730"/>
            <a:ext cx="1995"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026702" y="4573600"/>
            <a:ext cx="1983"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024731" y="4530471"/>
            <a:ext cx="1970"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022771" y="4487344"/>
            <a:ext cx="1959"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020824" y="4444220"/>
            <a:ext cx="1947" cy="431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018887" y="4401097"/>
            <a:ext cx="1935" cy="43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016964" y="4357977"/>
            <a:ext cx="1922"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015051" y="4314858"/>
            <a:ext cx="1912" cy="43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013151" y="4271742"/>
            <a:ext cx="1899"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011264" y="4228629"/>
            <a:ext cx="1887"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009388" y="4185519"/>
            <a:ext cx="1875"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007524" y="4142413"/>
            <a:ext cx="1863"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005672" y="4099310"/>
            <a:ext cx="1851" cy="431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003832" y="4056210"/>
            <a:ext cx="1839" cy="430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002004" y="4013114"/>
            <a:ext cx="1827" cy="430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000188" y="3970023"/>
            <a:ext cx="1815"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1998385" y="3926935"/>
            <a:ext cx="1803"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1996592" y="3883852"/>
            <a:ext cx="1791" cy="430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1994812" y="3840773"/>
            <a:ext cx="1779"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1993045" y="3797700"/>
            <a:ext cx="1767"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1991288" y="3754631"/>
            <a:ext cx="1755" cy="4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1989545" y="3711567"/>
            <a:ext cx="1743" cy="43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1987813" y="3668509"/>
            <a:ext cx="1730" cy="430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1986094" y="3625456"/>
            <a:ext cx="1718" cy="430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1984386" y="3582409"/>
            <a:ext cx="1707" cy="430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1982691" y="3539367"/>
            <a:ext cx="1694" cy="430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1981008" y="3496332"/>
            <a:ext cx="1682" cy="43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1979338" y="3453304"/>
            <a:ext cx="1670" cy="430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863252" y="5636060"/>
            <a:ext cx="0"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863252" y="5592940"/>
            <a:ext cx="0"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863252" y="5549817"/>
            <a:ext cx="0"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863252" y="5506690"/>
            <a:ext cx="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863252" y="5463561"/>
            <a:ext cx="0"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863252" y="5420429"/>
            <a:ext cx="0"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2863252" y="5377297"/>
            <a:ext cx="0"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2863252" y="5334161"/>
            <a:ext cx="0" cy="431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2863252" y="5291024"/>
            <a:ext cx="0" cy="43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2863252" y="5247886"/>
            <a:ext cx="0" cy="431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863252" y="5204746"/>
            <a:ext cx="0" cy="431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2863252" y="5161605"/>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863252" y="5118463"/>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863252" y="5075321"/>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863252" y="5032177"/>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863252" y="4989034"/>
            <a:ext cx="0" cy="431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863252" y="4945890"/>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863252" y="4902747"/>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863252" y="4859603"/>
            <a:ext cx="0" cy="431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2863252" y="4816460"/>
            <a:ext cx="0" cy="431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863252" y="4773317"/>
            <a:ext cx="0" cy="431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863252" y="4730176"/>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863252" y="4687035"/>
            <a:ext cx="0" cy="431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863252" y="4643896"/>
            <a:ext cx="0" cy="431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863252" y="4600759"/>
            <a:ext cx="0" cy="431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863252" y="4557622"/>
            <a:ext cx="0" cy="431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863252" y="4514488"/>
            <a:ext cx="0"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863252" y="4471356"/>
            <a:ext cx="0"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863252" y="4428226"/>
            <a:ext cx="0"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863252" y="4385099"/>
            <a:ext cx="0"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863252" y="4341973"/>
            <a:ext cx="0"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863252" y="4298851"/>
            <a:ext cx="0"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2863252" y="4255732"/>
            <a:ext cx="0"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2863252" y="4212616"/>
            <a:ext cx="0"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2863252" y="4169503"/>
            <a:ext cx="0"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863252" y="4126394"/>
            <a:ext cx="0"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863252" y="4083289"/>
            <a:ext cx="0"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863252" y="4040187"/>
            <a:ext cx="0" cy="431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863252" y="3997089"/>
            <a:ext cx="0" cy="430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863252" y="3953997"/>
            <a:ext cx="0"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863252" y="3910909"/>
            <a:ext cx="0"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863252" y="3867825"/>
            <a:ext cx="0" cy="430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863252" y="3824746"/>
            <a:ext cx="0"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863252" y="3781673"/>
            <a:ext cx="0"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863252" y="3738604"/>
            <a:ext cx="0" cy="43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863252" y="3695541"/>
            <a:ext cx="0" cy="430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863252" y="3652485"/>
            <a:ext cx="0" cy="430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863252" y="3609434"/>
            <a:ext cx="0" cy="430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863252" y="3566388"/>
            <a:ext cx="0" cy="430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863252" y="3523350"/>
            <a:ext cx="0" cy="430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863252" y="3480317"/>
            <a:ext cx="0" cy="43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863252" y="3437293"/>
            <a:ext cx="0" cy="430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644380" y="5651764"/>
            <a:ext cx="2279" cy="43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646659" y="5608659"/>
            <a:ext cx="2266"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648926" y="5565551"/>
            <a:ext cx="2255" cy="431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3651182" y="5522439"/>
            <a:ext cx="2242" cy="43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3653425" y="5479325"/>
            <a:ext cx="2231" cy="431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655658" y="5436207"/>
            <a:ext cx="2219" cy="431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657878" y="5393088"/>
            <a:ext cx="2207" cy="43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660086" y="5349966"/>
            <a:ext cx="2196" cy="431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662283" y="5306842"/>
            <a:ext cx="2184" cy="43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664467" y="5263716"/>
            <a:ext cx="2172" cy="431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666641" y="5220588"/>
            <a:ext cx="2161"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668802" y="5177459"/>
            <a:ext cx="2148" cy="43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670951" y="5134329"/>
            <a:ext cx="2137"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673088" y="5091196"/>
            <a:ext cx="2125"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675214" y="5048064"/>
            <a:ext cx="2113"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677329" y="5004930"/>
            <a:ext cx="2101"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679430" y="4961797"/>
            <a:ext cx="209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681521" y="4918662"/>
            <a:ext cx="2077"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683600" y="4875528"/>
            <a:ext cx="2066"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685666" y="4832394"/>
            <a:ext cx="2053"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687721" y="4789260"/>
            <a:ext cx="2042" cy="431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689765" y="4746126"/>
            <a:ext cx="2030" cy="431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691796" y="4702993"/>
            <a:ext cx="2018" cy="431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693814" y="4659861"/>
            <a:ext cx="2007" cy="431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695822" y="4616730"/>
            <a:ext cx="1995"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3697818" y="4573600"/>
            <a:ext cx="1983" cy="4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3699801" y="4530471"/>
            <a:ext cx="1971" cy="431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3701773" y="4487344"/>
            <a:ext cx="1958" cy="431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3703732" y="4444220"/>
            <a:ext cx="1947" cy="431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3705680" y="4401097"/>
            <a:ext cx="1935" cy="43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3707616" y="4357977"/>
            <a:ext cx="1923" cy="431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3709540" y="4314858"/>
            <a:ext cx="1911" cy="43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3711452" y="4271742"/>
            <a:ext cx="1899" cy="431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3713352" y="4228629"/>
            <a:ext cx="1887" cy="43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3715240" y="4185519"/>
            <a:ext cx="1875" cy="431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3717115" y="4142413"/>
            <a:ext cx="1863" cy="43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3718980" y="4099310"/>
            <a:ext cx="1851" cy="431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3720831" y="4056210"/>
            <a:ext cx="1840" cy="430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722672" y="4013114"/>
            <a:ext cx="1826" cy="430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3724499" y="3970023"/>
            <a:ext cx="1815" cy="430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3726316" y="3926935"/>
            <a:ext cx="1804" cy="43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3728120" y="3883852"/>
            <a:ext cx="1791" cy="430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3729912" y="3840773"/>
            <a:ext cx="1779" cy="43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3731692" y="3797700"/>
            <a:ext cx="1767" cy="430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3733459" y="3754631"/>
            <a:ext cx="1755" cy="430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3735214" y="3711567"/>
            <a:ext cx="1743" cy="43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3736959" y="3668509"/>
            <a:ext cx="1730" cy="430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3738690" y="3625456"/>
            <a:ext cx="1718" cy="430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3740409" y="3582409"/>
            <a:ext cx="1707" cy="430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3742116" y="3539367"/>
            <a:ext cx="1694" cy="430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3743812" y="3496332"/>
            <a:ext cx="1683" cy="43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3745495" y="3453304"/>
            <a:ext cx="1670" cy="430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311522" y="4003089"/>
            <a:ext cx="42964" cy="28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354488" y="4000322"/>
            <a:ext cx="42978" cy="2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397466" y="3997637"/>
            <a:ext cx="42988" cy="2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440455" y="3995031"/>
            <a:ext cx="42998" cy="26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483454" y="3992506"/>
            <a:ext cx="43010" cy="25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526465" y="3990061"/>
            <a:ext cx="43020" cy="24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569486" y="3987696"/>
            <a:ext cx="43030"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1612516" y="3985412"/>
            <a:ext cx="43040" cy="2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1655558" y="3983208"/>
            <a:ext cx="43048" cy="22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1698606" y="3981084"/>
            <a:ext cx="43058" cy="2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1741665" y="3979039"/>
            <a:ext cx="43067" cy="20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1784733" y="3977076"/>
            <a:ext cx="43074" cy="19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1827809" y="3975192"/>
            <a:ext cx="43082" cy="1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1870893" y="3973389"/>
            <a:ext cx="43091"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1913984" y="3971666"/>
            <a:ext cx="43098" cy="1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1957082" y="3970023"/>
            <a:ext cx="43105" cy="16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000188" y="3968460"/>
            <a:ext cx="43111"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043300" y="3966977"/>
            <a:ext cx="43118" cy="14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086419" y="3965576"/>
            <a:ext cx="43123" cy="1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129542" y="3964253"/>
            <a:ext cx="43130" cy="13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172673" y="3963011"/>
            <a:ext cx="43134" cy="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215808" y="3961849"/>
            <a:ext cx="43139" cy="1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258949" y="3960768"/>
            <a:ext cx="43145" cy="1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302094" y="3959766"/>
            <a:ext cx="43149" cy="10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2345244" y="3958844"/>
            <a:ext cx="43152" cy="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2388397" y="3958003"/>
            <a:ext cx="43155" cy="8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2431553" y="3957241"/>
            <a:ext cx="43159" cy="7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2474714" y="3956560"/>
            <a:ext cx="43163" cy="6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2517878" y="3955960"/>
            <a:ext cx="43165" cy="6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2561043" y="3955439"/>
            <a:ext cx="43168" cy="5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2604212" y="3954998"/>
            <a:ext cx="43169" cy="4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2647383" y="3954638"/>
            <a:ext cx="43170"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2690554" y="3954357"/>
            <a:ext cx="43172" cy="2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2733727" y="3954157"/>
            <a:ext cx="43173"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2776902" y="3954036"/>
            <a:ext cx="43173"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2820077" y="3953997"/>
            <a:ext cx="43175"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2863252" y="3953997"/>
            <a:ext cx="43174"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2906427" y="3954036"/>
            <a:ext cx="43174"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2949602" y="3954157"/>
            <a:ext cx="43172"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2992776" y="3954357"/>
            <a:ext cx="43172" cy="2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035950" y="3954638"/>
            <a:ext cx="43171" cy="3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079122" y="3954998"/>
            <a:ext cx="43169" cy="4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3122292" y="3955439"/>
            <a:ext cx="43168" cy="5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3165460" y="3955960"/>
            <a:ext cx="43166" cy="6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3208627" y="3956560"/>
            <a:ext cx="43163" cy="6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3251790" y="3957241"/>
            <a:ext cx="43159" cy="7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3294949" y="3958003"/>
            <a:ext cx="43155" cy="8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3338106" y="3958844"/>
            <a:ext cx="43152" cy="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3381260" y="3959766"/>
            <a:ext cx="43149" cy="10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3424409" y="3960768"/>
            <a:ext cx="43145" cy="1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3467555" y="3961849"/>
            <a:ext cx="43139" cy="11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3510695" y="3963011"/>
            <a:ext cx="43134" cy="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3553830" y="3964253"/>
            <a:ext cx="43130" cy="13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3596961" y="3965576"/>
            <a:ext cx="43123" cy="1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3640084" y="3966977"/>
            <a:ext cx="43118" cy="14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3683203" y="3968460"/>
            <a:ext cx="43111"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3726316" y="3970023"/>
            <a:ext cx="43105" cy="16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3769421" y="3971666"/>
            <a:ext cx="43098" cy="17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3812520" y="3973389"/>
            <a:ext cx="43091"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3855611" y="3975192"/>
            <a:ext cx="43082" cy="1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3898694" y="3977076"/>
            <a:ext cx="43074" cy="19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3941770" y="3979039"/>
            <a:ext cx="43067" cy="20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3984837" y="3981084"/>
            <a:ext cx="43058" cy="21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4027896" y="3983208"/>
            <a:ext cx="43049" cy="22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4070946" y="3985412"/>
            <a:ext cx="43039" cy="22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4113987" y="3987696"/>
            <a:ext cx="43030"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4157017" y="3990061"/>
            <a:ext cx="43020" cy="24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4200038" y="3992506"/>
            <a:ext cx="43010" cy="25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4243049" y="3995031"/>
            <a:ext cx="42999" cy="26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4286049" y="3997637"/>
            <a:ext cx="42987" cy="2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4329038" y="4000322"/>
            <a:ext cx="42978" cy="2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381026" y="4865266"/>
            <a:ext cx="41032" cy="28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422058" y="4862516"/>
            <a:ext cx="41043" cy="27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463103" y="4859846"/>
            <a:ext cx="41056" cy="26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504159" y="4857255"/>
            <a:ext cx="41066"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545226" y="4854745"/>
            <a:ext cx="41078" cy="25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586305" y="4852315"/>
            <a:ext cx="41088" cy="24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627393" y="4849963"/>
            <a:ext cx="41097" cy="23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1668491" y="4847693"/>
            <a:ext cx="41108" cy="22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709601" y="4845501"/>
            <a:ext cx="41117" cy="2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750719" y="4843389"/>
            <a:ext cx="41127" cy="2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791846" y="4841357"/>
            <a:ext cx="41135"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1832982" y="4839405"/>
            <a:ext cx="41143" cy="1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874125" y="4837533"/>
            <a:ext cx="41152" cy="1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915279" y="4835740"/>
            <a:ext cx="41159" cy="1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956439" y="4834027"/>
            <a:ext cx="41167" cy="1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997606" y="4832394"/>
            <a:ext cx="41174" cy="16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038782" y="4830840"/>
            <a:ext cx="41181" cy="1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079964" y="4829366"/>
            <a:ext cx="41187" cy="14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121152" y="4827972"/>
            <a:ext cx="41193" cy="1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162346" y="4826658"/>
            <a:ext cx="41199" cy="1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203547" y="4825423"/>
            <a:ext cx="41204" cy="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244751" y="4824267"/>
            <a:ext cx="41210" cy="11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285962" y="4823191"/>
            <a:ext cx="41214" cy="10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327177" y="4822195"/>
            <a:ext cx="41219" cy="9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2368396" y="4821280"/>
            <a:ext cx="41223" cy="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2409621" y="4820443"/>
            <a:ext cx="41226" cy="8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2450848" y="4819686"/>
            <a:ext cx="41230"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2492079" y="4819010"/>
            <a:ext cx="41232" cy="6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2533312" y="4818411"/>
            <a:ext cx="41236" cy="5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2574549" y="4817894"/>
            <a:ext cx="41238" cy="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2615788" y="4817456"/>
            <a:ext cx="41240" cy="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2657029" y="4817097"/>
            <a:ext cx="41242" cy="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2698271" y="4816819"/>
            <a:ext cx="41243" cy="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2739516" y="4816619"/>
            <a:ext cx="41244"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2780760" y="4816500"/>
            <a:ext cx="41245"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2822006" y="4816460"/>
            <a:ext cx="41246"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2863252" y="4816460"/>
            <a:ext cx="41245"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2904497" y="4816500"/>
            <a:ext cx="41245" cy="1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2945744" y="4816619"/>
            <a:ext cx="41245" cy="1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2986989" y="4816819"/>
            <a:ext cx="41243" cy="2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028232" y="4817097"/>
            <a:ext cx="41242" cy="3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069474" y="4817456"/>
            <a:ext cx="41240" cy="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3110716" y="4817894"/>
            <a:ext cx="41238" cy="5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3151954" y="4818411"/>
            <a:ext cx="41236" cy="5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3193191" y="4819010"/>
            <a:ext cx="41232" cy="6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3234425" y="4819686"/>
            <a:ext cx="41230"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3275656" y="4820443"/>
            <a:ext cx="41227" cy="8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3316883" y="4821280"/>
            <a:ext cx="41222" cy="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3358106" y="4822195"/>
            <a:ext cx="41219" cy="9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3399326" y="4823191"/>
            <a:ext cx="41214" cy="10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3440542" y="4824267"/>
            <a:ext cx="41210" cy="11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3481753" y="4825423"/>
            <a:ext cx="41205" cy="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3522958" y="4826658"/>
            <a:ext cx="41199" cy="1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3564157" y="4827972"/>
            <a:ext cx="41193" cy="1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3605351" y="4829366"/>
            <a:ext cx="41187" cy="147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3646540" y="4830840"/>
            <a:ext cx="41181" cy="1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3687721" y="4832394"/>
            <a:ext cx="41174" cy="16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3728896" y="4834027"/>
            <a:ext cx="41167" cy="1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3770064" y="4835740"/>
            <a:ext cx="41159" cy="1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3811225" y="4837533"/>
            <a:ext cx="41152" cy="1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3852377" y="4839405"/>
            <a:ext cx="41143" cy="1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3893521" y="4841357"/>
            <a:ext cx="41135"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3934658" y="4843389"/>
            <a:ext cx="41126" cy="2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3975785" y="4845501"/>
            <a:ext cx="41117" cy="2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4016903" y="4847693"/>
            <a:ext cx="41108" cy="22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4058011" y="4849963"/>
            <a:ext cx="41097" cy="23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4099110" y="4852315"/>
            <a:ext cx="41088" cy="24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4140198" y="4854745"/>
            <a:ext cx="41078" cy="25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4181276" y="4857255"/>
            <a:ext cx="41067"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4222345" y="4859846"/>
            <a:ext cx="41055" cy="26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4263400" y="4862516"/>
            <a:ext cx="41043" cy="27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459061" y="5727228"/>
            <a:ext cx="38862" cy="27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497924" y="5724521"/>
            <a:ext cx="38874" cy="27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536799" y="5721892"/>
            <a:ext cx="38886" cy="26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575687" y="5719343"/>
            <a:ext cx="38898" cy="25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1614585" y="5716872"/>
            <a:ext cx="38909" cy="24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1653495" y="5714478"/>
            <a:ext cx="38918" cy="2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1692414" y="5712164"/>
            <a:ext cx="38930" cy="23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1731345" y="5709928"/>
            <a:ext cx="38939" cy="2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1770285" y="5707770"/>
            <a:ext cx="38949" cy="21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1809235" y="5705692"/>
            <a:ext cx="38958"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1848194" y="5703691"/>
            <a:ext cx="38967" cy="19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1887161" y="5701769"/>
            <a:ext cx="38976" cy="1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1926138" y="5699925"/>
            <a:ext cx="38984" cy="18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1965123" y="5698160"/>
            <a:ext cx="38992" cy="1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004116" y="5696474"/>
            <a:ext cx="38999"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043115" y="5694865"/>
            <a:ext cx="39007" cy="16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082123" y="5693336"/>
            <a:ext cx="39013" cy="15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121138" y="5691884"/>
            <a:ext cx="39020" cy="14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160158" y="5690512"/>
            <a:ext cx="39026" cy="13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199185" y="5689217"/>
            <a:ext cx="39031" cy="1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238217" y="5688001"/>
            <a:ext cx="39037" cy="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277255" y="5686865"/>
            <a:ext cx="39043" cy="1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316298" y="5685806"/>
            <a:ext cx="39047" cy="10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2355347" y="5684825"/>
            <a:ext cx="39051" cy="9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2394399" y="5683923"/>
            <a:ext cx="39056" cy="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2433456" y="5683099"/>
            <a:ext cx="39060" cy="8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2472516" y="5682354"/>
            <a:ext cx="39064" cy="7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2511580" y="5681688"/>
            <a:ext cx="39066" cy="6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2550647" y="5681099"/>
            <a:ext cx="39068" cy="5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2589716" y="5680589"/>
            <a:ext cx="39071" cy="5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2628788" y="5680158"/>
            <a:ext cx="39073" cy="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2667863" y="5679805"/>
            <a:ext cx="39074"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2706938" y="5679531"/>
            <a:ext cx="39077" cy="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2746016" y="5679334"/>
            <a:ext cx="39077" cy="1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2785094" y="5679217"/>
            <a:ext cx="39078" cy="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2824172" y="5679178"/>
            <a:ext cx="39079"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2863252" y="5679178"/>
            <a:ext cx="39078" cy="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2902330" y="5679217"/>
            <a:ext cx="39078" cy="1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2941410" y="5679334"/>
            <a:ext cx="39077" cy="1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2980488" y="5679531"/>
            <a:ext cx="39077" cy="2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019565" y="5679805"/>
            <a:ext cx="39075" cy="3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058642" y="5680158"/>
            <a:ext cx="39073" cy="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3097715" y="5680589"/>
            <a:ext cx="39071" cy="5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3136787" y="5681099"/>
            <a:ext cx="39068" cy="5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3175856" y="5681688"/>
            <a:ext cx="39066" cy="6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3214923" y="5682354"/>
            <a:ext cx="39064" cy="7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3253987" y="5683099"/>
            <a:ext cx="39060" cy="8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3293047" y="5683923"/>
            <a:ext cx="39056" cy="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3332104" y="5684825"/>
            <a:ext cx="39051" cy="9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3371156" y="5685806"/>
            <a:ext cx="39047" cy="10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3410205" y="5686865"/>
            <a:ext cx="39043" cy="11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3449248" y="5688001"/>
            <a:ext cx="39037" cy="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3488287" y="5689217"/>
            <a:ext cx="39031" cy="12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3527318" y="5690512"/>
            <a:ext cx="39026" cy="13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3566345" y="5691884"/>
            <a:ext cx="39020" cy="14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3605367" y="5693336"/>
            <a:ext cx="39013" cy="15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3644380" y="5694865"/>
            <a:ext cx="39007" cy="16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3683388" y="5696474"/>
            <a:ext cx="38999"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3722388" y="5698160"/>
            <a:ext cx="38991" cy="17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3761380" y="5699925"/>
            <a:ext cx="38984" cy="18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3800365" y="5701769"/>
            <a:ext cx="38976" cy="1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3839342" y="5703691"/>
            <a:ext cx="38967" cy="19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3878309" y="5705692"/>
            <a:ext cx="38959"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3917269" y="5707770"/>
            <a:ext cx="38949" cy="21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3956218" y="5709928"/>
            <a:ext cx="38939" cy="2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3995158" y="5712164"/>
            <a:ext cx="38930" cy="23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4034089" y="5714478"/>
            <a:ext cx="38918" cy="23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4073009" y="5716872"/>
            <a:ext cx="38909" cy="24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4111919" y="5719343"/>
            <a:ext cx="38897" cy="25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4150817" y="5721892"/>
            <a:ext cx="38886" cy="26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4189704" y="5724521"/>
            <a:ext cx="38874" cy="27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465307" y="3719349"/>
            <a:ext cx="6712" cy="103359"/>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411102" y="3577452"/>
            <a:ext cx="135513" cy="142646"/>
          </a:xfrm>
          <a:prstGeom prst="rect">
            <a:avLst/>
          </a:prstGeom>
          <a:noFill/>
        </p:spPr>
        <p:txBody>
          <a:bodyPr wrap="square" lIns="22860" rIns="22860" tIns="0" bIns="0">
            <a:spAutoFit/>
          </a:bodyPr>
          <a:lstStyle/>
          <a:p>
            <a:pPr>
              <a:spcAft>
                <a:spcPts val="300"/>
              </a:spcAft>
              <a:defRPr sz="765" b="0">
                <a:solidFill>
                  <a:srgbClr val="000000"/>
                </a:solidFill>
                <a:latin typeface="Lato"/>
              </a:defRPr>
            </a:pPr>
            <a:r>
              <a:rPr>
                <a:solidFill/>
              </a:rPr>
              <a:t>N</a:t>
            </a:r>
          </a:p>
        </p:txBody>
      </p:sp>
      <p:cxnSp>
        <p:nvCxnSpPr>
          <p:cNvPr id="394" name="Connector 393"/>
          <p:cNvCxnSpPr/>
          <p:nvPr/>
        </p:nvCxnSpPr>
        <p:spPr>
          <a:xfrm flipH="1">
            <a:off x="1438205" y="3719349"/>
            <a:ext cx="27102" cy="55525"/>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465307" y="3719349"/>
            <a:ext cx="27102" cy="55525"/>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592713" y="5707653"/>
            <a:ext cx="854914"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592713"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020170"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447628" y="5686060"/>
            <a:ext cx="0" cy="43185"/>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579161" y="5565755"/>
            <a:ext cx="121961" cy="128381"/>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0</a:t>
            </a:r>
          </a:p>
        </p:txBody>
      </p:sp>
      <p:sp>
        <p:nvSpPr>
          <p:cNvPr id="401" name="TextBox 400"/>
          <p:cNvSpPr txBox="1"/>
          <p:nvPr/>
        </p:nvSpPr>
        <p:spPr>
          <a:xfrm>
            <a:off x="1339217" y="5565755"/>
            <a:ext cx="372663" cy="128381"/>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500 km</a:t>
            </a:r>
          </a:p>
        </p:txBody>
      </p:sp>
      <p:sp>
        <p:nvSpPr>
          <p:cNvPr id="402" name="2022 provincial petrol/diesel sales: EC"/>
          <p:cNvSpPr/>
          <p:nvPr/>
        </p:nvSpPr>
        <p:spPr>
          <a:xfrm>
            <a:off x="2502818" y="4827043"/>
            <a:ext cx="1205345" cy="716555"/>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2755088" y="4247453"/>
            <a:ext cx="915562" cy="69044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3230764" y="3981879"/>
            <a:ext cx="336832" cy="310472"/>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3509823" y="4297522"/>
            <a:ext cx="701682" cy="721813"/>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3107258" y="3472713"/>
            <a:ext cx="953671" cy="567251"/>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3414348" y="3808162"/>
            <a:ext cx="664353" cy="591626"/>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2457784" y="3892615"/>
            <a:ext cx="973543" cy="598274"/>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436335" y="3929676"/>
            <a:ext cx="1516827" cy="1407298"/>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1811490" y="5498525"/>
            <a:ext cx="4261" cy="4847"/>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1763502" y="5435662"/>
            <a:ext cx="2625" cy="3286"/>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1683598" y="4917038"/>
            <a:ext cx="1053912" cy="749246"/>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2502818" y="4297522"/>
            <a:ext cx="1708687" cy="1246076"/>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2457784" y="3472713"/>
            <a:ext cx="1620917" cy="1465180"/>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436335" y="3929676"/>
            <a:ext cx="1516827" cy="1407298"/>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1811490" y="5498525"/>
            <a:ext cx="4261" cy="4847"/>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1763502" y="5435662"/>
            <a:ext cx="2625" cy="3286"/>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1683598" y="4917038"/>
            <a:ext cx="1053912" cy="749246"/>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3202853" y="4580126"/>
            <a:ext cx="389703" cy="352971"/>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81" name="Connector 401"/>
          <p:cNvCxnSpPr/>
          <p:nvPr/>
        </p:nvCxnSpPr>
        <p:spPr>
          <a:xfrm flipV="1">
            <a:off x="1824341" y="5465739"/>
            <a:ext cx="158469" cy="526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2" name="Connector 402"/>
          <p:cNvCxnSpPr/>
          <p:nvPr/>
        </p:nvCxnSpPr>
        <p:spPr>
          <a:xfrm flipV="1">
            <a:off x="1982811" y="5225712"/>
            <a:ext cx="490803" cy="2400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3" name="Connector 403"/>
          <p:cNvCxnSpPr/>
          <p:nvPr/>
        </p:nvCxnSpPr>
        <p:spPr>
          <a:xfrm flipV="1">
            <a:off x="2473615" y="4940719"/>
            <a:ext cx="406015" cy="2849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4" name="Connector 404"/>
          <p:cNvCxnSpPr/>
          <p:nvPr/>
        </p:nvCxnSpPr>
        <p:spPr>
          <a:xfrm flipV="1">
            <a:off x="2879631" y="4665538"/>
            <a:ext cx="184971" cy="2751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5" name="Connector 405"/>
          <p:cNvCxnSpPr/>
          <p:nvPr/>
        </p:nvCxnSpPr>
        <p:spPr>
          <a:xfrm flipV="1">
            <a:off x="3064603" y="4414156"/>
            <a:ext cx="174876" cy="251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6" name="Connector 406"/>
          <p:cNvCxnSpPr/>
          <p:nvPr/>
        </p:nvCxnSpPr>
        <p:spPr>
          <a:xfrm flipV="1">
            <a:off x="3239481" y="4166841"/>
            <a:ext cx="145026" cy="2473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7" name="Connector 407"/>
          <p:cNvCxnSpPr/>
          <p:nvPr/>
        </p:nvCxnSpPr>
        <p:spPr>
          <a:xfrm flipV="1">
            <a:off x="3384507" y="4089809"/>
            <a:ext cx="26048" cy="770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8" name="Connector 408"/>
          <p:cNvCxnSpPr/>
          <p:nvPr/>
        </p:nvCxnSpPr>
        <p:spPr>
          <a:xfrm flipV="1">
            <a:off x="3410556" y="3777139"/>
            <a:ext cx="227887" cy="31267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89" name="Connector 409"/>
          <p:cNvCxnSpPr/>
          <p:nvPr/>
        </p:nvCxnSpPr>
        <p:spPr>
          <a:xfrm flipV="1">
            <a:off x="3638444" y="3492826"/>
            <a:ext cx="105421" cy="2843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0" name="Connector 410"/>
          <p:cNvCxnSpPr/>
          <p:nvPr/>
        </p:nvCxnSpPr>
        <p:spPr>
          <a:xfrm>
            <a:off x="1824341" y="5518367"/>
            <a:ext cx="316867" cy="66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1" name="Connector 411"/>
          <p:cNvCxnSpPr/>
          <p:nvPr/>
        </p:nvCxnSpPr>
        <p:spPr>
          <a:xfrm>
            <a:off x="2141209" y="5525020"/>
            <a:ext cx="270809" cy="1786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2" name="Connector 412"/>
          <p:cNvCxnSpPr/>
          <p:nvPr/>
        </p:nvCxnSpPr>
        <p:spPr>
          <a:xfrm flipV="1">
            <a:off x="2412020" y="5503854"/>
            <a:ext cx="49469" cy="390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3" name="Connector 413"/>
          <p:cNvCxnSpPr/>
          <p:nvPr/>
        </p:nvCxnSpPr>
        <p:spPr>
          <a:xfrm>
            <a:off x="2461490" y="5503854"/>
            <a:ext cx="144177" cy="1313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4" name="Connector 414"/>
          <p:cNvCxnSpPr/>
          <p:nvPr/>
        </p:nvCxnSpPr>
        <p:spPr>
          <a:xfrm flipV="1">
            <a:off x="2605668" y="5500039"/>
            <a:ext cx="357245" cy="169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5" name="Connector 415"/>
          <p:cNvCxnSpPr/>
          <p:nvPr/>
        </p:nvCxnSpPr>
        <p:spPr>
          <a:xfrm flipV="1">
            <a:off x="2962915" y="5438211"/>
            <a:ext cx="200550" cy="618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6" name="Connector 416"/>
          <p:cNvCxnSpPr/>
          <p:nvPr/>
        </p:nvCxnSpPr>
        <p:spPr>
          <a:xfrm flipV="1">
            <a:off x="3163465" y="5344691"/>
            <a:ext cx="164843" cy="9351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7" name="Connector 417"/>
          <p:cNvCxnSpPr/>
          <p:nvPr/>
        </p:nvCxnSpPr>
        <p:spPr>
          <a:xfrm flipV="1">
            <a:off x="3328309" y="5099923"/>
            <a:ext cx="148354" cy="2447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598" name="Connector 418"/>
          <p:cNvCxnSpPr/>
          <p:nvPr/>
        </p:nvCxnSpPr>
        <p:spPr>
          <a:xfrm flipV="1">
            <a:off x="3476665" y="4923811"/>
            <a:ext cx="111494" cy="17611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3588160" y="4923811"/>
            <a:ext cx="167003" cy="3925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3755164" y="4818932"/>
            <a:ext cx="103335" cy="14413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3858500" y="4631176"/>
            <a:ext cx="155892" cy="1877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4014392" y="4411915"/>
            <a:ext cx="42485" cy="2192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3877469" y="4321749"/>
            <a:ext cx="179408" cy="901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3711611" y="4233675"/>
            <a:ext cx="165858" cy="880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3384507" y="4166841"/>
            <a:ext cx="51444" cy="530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3435952" y="4219847"/>
            <a:ext cx="120619" cy="153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3555793" y="4373431"/>
            <a:ext cx="778" cy="157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3555793" y="4530569"/>
            <a:ext cx="101897" cy="1624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3657692" y="4692992"/>
            <a:ext cx="97776" cy="729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3755468" y="4765964"/>
            <a:ext cx="103030" cy="529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2985579" y="4002584"/>
            <a:ext cx="262291" cy="701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3247871" y="4072711"/>
            <a:ext cx="162683" cy="1709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3410556" y="4089809"/>
            <a:ext cx="177564" cy="25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3588120" y="4057860"/>
            <a:ext cx="301315" cy="57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3889436" y="4057860"/>
            <a:ext cx="173591" cy="321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064603" y="4665538"/>
            <a:ext cx="78717" cy="2770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3143322" y="4942573"/>
            <a:ext cx="24092" cy="2040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3167416" y="5146591"/>
            <a:ext cx="84550" cy="117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3251967" y="5263672"/>
            <a:ext cx="76342" cy="810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1824341" y="5438582"/>
            <a:ext cx="37572" cy="797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1861914" y="5286434"/>
            <a:ext cx="33641" cy="1521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1848165" y="5119183"/>
            <a:ext cx="47389" cy="1672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1686029" y="4791847"/>
            <a:ext cx="162134" cy="3273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1632449" y="4639007"/>
            <a:ext cx="53580" cy="1528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2956417" y="5261904"/>
            <a:ext cx="5182" cy="19672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2864877" y="5073595"/>
            <a:ext cx="91539" cy="1883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2711530" y="4823903"/>
            <a:ext cx="153347" cy="2496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2490829" y="4761015"/>
            <a:ext cx="220699" cy="628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066516" y="4565202"/>
            <a:ext cx="424313" cy="1958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002318" y="4101162"/>
            <a:ext cx="64196" cy="4640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2418533" y="5440904"/>
            <a:ext cx="42956" cy="629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2418533" y="5225712"/>
            <a:ext cx="55081" cy="21519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2473615" y="5149971"/>
            <a:ext cx="90388" cy="7574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2564004" y="4823903"/>
            <a:ext cx="147524" cy="32606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2711530" y="4597341"/>
            <a:ext cx="113304" cy="22656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2824834" y="4411205"/>
            <a:ext cx="139654" cy="1861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2964489" y="4276489"/>
            <a:ext cx="182549" cy="13471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3147039" y="4251657"/>
            <a:ext cx="73535" cy="2483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3220575" y="4166841"/>
            <a:ext cx="163932" cy="848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3384507" y="4115444"/>
            <a:ext cx="203612" cy="513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1686029" y="4686421"/>
            <a:ext cx="244378" cy="10542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1930408" y="4565202"/>
            <a:ext cx="136107" cy="12121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066516" y="4379775"/>
            <a:ext cx="531381" cy="18542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2597897" y="4291998"/>
            <a:ext cx="219510" cy="877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2817409" y="4185107"/>
            <a:ext cx="332671" cy="10689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3150081" y="4148589"/>
            <a:ext cx="188711" cy="365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3338793" y="4108775"/>
            <a:ext cx="71243" cy="398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3384507" y="4166841"/>
            <a:ext cx="66363" cy="102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3450871" y="4177084"/>
            <a:ext cx="111314" cy="41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3562186" y="4218209"/>
            <a:ext cx="149423" cy="1546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3711611" y="4233675"/>
            <a:ext cx="139802" cy="333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2824834" y="4490348"/>
            <a:ext cx="13215" cy="1069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2817409" y="4291998"/>
            <a:ext cx="20640" cy="1983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2817409" y="4100792"/>
            <a:ext cx="155573" cy="1912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2961459" y="4002470"/>
            <a:ext cx="11523" cy="983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3441368" y="4209629"/>
            <a:ext cx="417130" cy="60930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3347721" y="4209629"/>
            <a:ext cx="93647" cy="6165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3145365" y="4271281"/>
            <a:ext cx="202355" cy="346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3441368" y="4209629"/>
            <a:ext cx="132240" cy="22746"/>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3544067" y="4150337"/>
            <a:ext cx="29541" cy="8203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3433045" y="4083456"/>
            <a:ext cx="111021" cy="6688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3397612" y="4187850"/>
            <a:ext cx="43756" cy="21779"/>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3375964" y="4166646"/>
            <a:ext cx="21646" cy="2120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3384507" y="4166841"/>
            <a:ext cx="473992" cy="65209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2824834" y="4166841"/>
            <a:ext cx="559672" cy="43050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2700984" y="4597341"/>
            <a:ext cx="123850" cy="33191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1824341" y="4929256"/>
            <a:ext cx="876641" cy="58911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064603" y="4166841"/>
            <a:ext cx="319903" cy="49869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064603" y="4665538"/>
            <a:ext cx="263705" cy="67915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2700984" y="4665538"/>
            <a:ext cx="363619" cy="26371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2700984" y="4929256"/>
            <a:ext cx="261931" cy="57078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2700984" y="4929256"/>
            <a:ext cx="271620" cy="54323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1737623" y="4435960"/>
            <a:ext cx="788599" cy="93479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2526223" y="4435960"/>
            <a:ext cx="298610" cy="1613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2700984" y="4597341"/>
            <a:ext cx="123850" cy="33191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3384507" y="4166841"/>
            <a:ext cx="327103" cy="6683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3711611" y="4233675"/>
            <a:ext cx="328855" cy="40755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3828009" y="4791170"/>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3317230" y="4243519"/>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3543118" y="4204614"/>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1807590" y="5482967"/>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2349824" y="5510699"/>
            <a:ext cx="60980" cy="55525"/>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1707132" y="5342996"/>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1793850" y="5490604"/>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2381529" y="5515128"/>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2932425" y="5472277"/>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2942113" y="5444724"/>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3297819" y="5316928"/>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3828009" y="4791170"/>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4009975" y="4613466"/>
            <a:ext cx="60980" cy="55525"/>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3828009" y="4791170"/>
            <a:ext cx="60980" cy="55525"/>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3410878" y="4181867"/>
            <a:ext cx="60980" cy="55525"/>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3939808" y="4837441"/>
            <a:ext cx="508177" cy="156911"/>
          </a:xfrm>
          <a:prstGeom prst="rect">
            <a:avLst/>
          </a:prstGeom>
          <a:noFill/>
        </p:spPr>
        <p:txBody>
          <a:bodyPr wrap="square" lIns="22860" rIns="22860" tIns="0" bIns="0">
            <a:spAutoFit/>
          </a:bodyPr>
          <a:lstStyle/>
          <a:p>
            <a:pPr>
              <a:spcAft>
                <a:spcPts val="300"/>
              </a:spcAft>
              <a:defRPr sz="850" b="0">
                <a:solidFill>
                  <a:srgbClr val="404040"/>
                </a:solidFill>
                <a:latin typeface="Lato"/>
              </a:defRPr>
            </a:pPr>
            <a:r>
              <a:rPr>
                <a:solidFill/>
              </a:rPr>
              <a:t>Durban</a:t>
            </a:r>
          </a:p>
        </p:txBody>
      </p:sp>
      <p:sp>
        <p:nvSpPr>
          <p:cNvPr id="515" name="TextBox 514"/>
          <p:cNvSpPr txBox="1"/>
          <p:nvPr/>
        </p:nvSpPr>
        <p:spPr>
          <a:xfrm>
            <a:off x="3204219" y="4302171"/>
            <a:ext cx="508177" cy="156911"/>
          </a:xfrm>
          <a:prstGeom prst="rect">
            <a:avLst/>
          </a:prstGeom>
          <a:noFill/>
        </p:spPr>
        <p:txBody>
          <a:bodyPr wrap="square" lIns="22860" rIns="22860" tIns="0" bIns="0">
            <a:spAutoFit/>
          </a:bodyPr>
          <a:lstStyle/>
          <a:p>
            <a:pPr>
              <a:spcAft>
                <a:spcPts val="300"/>
              </a:spcAft>
              <a:defRPr sz="850" b="0">
                <a:solidFill>
                  <a:srgbClr val="404040"/>
                </a:solidFill>
                <a:latin typeface="Lato"/>
              </a:defRPr>
            </a:pPr>
            <a:r>
              <a:rPr>
                <a:solidFill/>
              </a:rPr>
              <a:t>Lesedi</a:t>
            </a:r>
          </a:p>
        </p:txBody>
      </p:sp>
      <p:cxnSp>
        <p:nvCxnSpPr>
          <p:cNvPr id="516" name="Connector 515"/>
          <p:cNvCxnSpPr/>
          <p:nvPr/>
        </p:nvCxnSpPr>
        <p:spPr>
          <a:xfrm flipH="1" flipV="1">
            <a:off x="3140251" y="3903932"/>
            <a:ext cx="219493" cy="227849"/>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2885046" y="5144246"/>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EC</a:t>
            </a:r>
          </a:p>
          <a:p>
            <a:pPr>
              <a:spcAft>
                <a:spcPts val="300"/>
              </a:spcAft>
              <a:defRPr sz="765" b="0">
                <a:solidFill>
                  <a:srgbClr val="404040"/>
                </a:solidFill>
                <a:latin typeface="Lato"/>
              </a:defRPr>
            </a:pPr>
            <a:r>
              <a:rPr>
                <a:solidFill/>
              </a:rPr>
              <a:t>1.74</a:t>
            </a:r>
          </a:p>
        </p:txBody>
      </p:sp>
      <p:sp>
        <p:nvSpPr>
          <p:cNvPr id="518" name="TextBox 517"/>
          <p:cNvSpPr txBox="1"/>
          <p:nvPr/>
        </p:nvSpPr>
        <p:spPr>
          <a:xfrm>
            <a:off x="2927552" y="4471632"/>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FS</a:t>
            </a:r>
          </a:p>
          <a:p>
            <a:pPr>
              <a:spcAft>
                <a:spcPts val="300"/>
              </a:spcAft>
              <a:defRPr sz="765" b="0">
                <a:solidFill>
                  <a:srgbClr val="404040"/>
                </a:solidFill>
                <a:latin typeface="Lato"/>
              </a:defRPr>
            </a:pPr>
            <a:r>
              <a:rPr>
                <a:solidFill/>
              </a:rPr>
              <a:t>1.37</a:t>
            </a:r>
          </a:p>
        </p:txBody>
      </p:sp>
      <p:sp>
        <p:nvSpPr>
          <p:cNvPr id="519" name="TextBox 518"/>
          <p:cNvSpPr txBox="1"/>
          <p:nvPr/>
        </p:nvSpPr>
        <p:spPr>
          <a:xfrm>
            <a:off x="2936980" y="3799051"/>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GP</a:t>
            </a:r>
          </a:p>
          <a:p>
            <a:pPr>
              <a:spcAft>
                <a:spcPts val="300"/>
              </a:spcAft>
              <a:defRPr sz="765" b="0">
                <a:solidFill>
                  <a:srgbClr val="404040"/>
                </a:solidFill>
                <a:latin typeface="Lato"/>
              </a:defRPr>
            </a:pPr>
            <a:r>
              <a:rPr>
                <a:solidFill/>
              </a:rPr>
              <a:t>6.81</a:t>
            </a:r>
          </a:p>
        </p:txBody>
      </p:sp>
      <p:sp>
        <p:nvSpPr>
          <p:cNvPr id="520" name="TextBox 519"/>
          <p:cNvSpPr txBox="1"/>
          <p:nvPr/>
        </p:nvSpPr>
        <p:spPr>
          <a:xfrm>
            <a:off x="3522889" y="4616667"/>
            <a:ext cx="406542" cy="256763"/>
          </a:xfrm>
          <a:prstGeom prst="rect">
            <a:avLst/>
          </a:prstGeom>
          <a:noFill/>
        </p:spPr>
        <p:txBody>
          <a:bodyPr wrap="square" lIns="22860" rIns="22860" tIns="0" bIns="0">
            <a:spAutoFit/>
          </a:bodyPr>
          <a:lstStyle/>
          <a:p>
            <a:pPr>
              <a:spcAft>
                <a:spcPts val="300"/>
              </a:spcAft>
              <a:defRPr sz="765" b="0">
                <a:solidFill>
                  <a:srgbClr val="FFFFFF"/>
                </a:solidFill>
                <a:latin typeface="Lato"/>
              </a:defRPr>
            </a:pPr>
            <a:r>
              <a:rPr>
                <a:solidFill/>
              </a:rPr>
              <a:t>KZN</a:t>
            </a:r>
          </a:p>
          <a:p>
            <a:pPr>
              <a:spcAft>
                <a:spcPts val="300"/>
              </a:spcAft>
              <a:defRPr sz="765" b="0">
                <a:solidFill>
                  <a:srgbClr val="FFFFFF"/>
                </a:solidFill>
                <a:latin typeface="Lato"/>
              </a:defRPr>
            </a:pPr>
            <a:r>
              <a:rPr>
                <a:solidFill/>
              </a:rPr>
              <a:t>4.28</a:t>
            </a:r>
          </a:p>
        </p:txBody>
      </p:sp>
      <p:sp>
        <p:nvSpPr>
          <p:cNvPr id="521" name="TextBox 520"/>
          <p:cNvSpPr txBox="1"/>
          <p:nvPr/>
        </p:nvSpPr>
        <p:spPr>
          <a:xfrm>
            <a:off x="3391950" y="3662259"/>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LP</a:t>
            </a:r>
          </a:p>
          <a:p>
            <a:pPr>
              <a:spcAft>
                <a:spcPts val="300"/>
              </a:spcAft>
              <a:defRPr sz="765" b="0">
                <a:solidFill>
                  <a:srgbClr val="404040"/>
                </a:solidFill>
                <a:latin typeface="Lato"/>
              </a:defRPr>
            </a:pPr>
            <a:r>
              <a:rPr>
                <a:solidFill/>
              </a:rPr>
              <a:t>0.50</a:t>
            </a:r>
          </a:p>
        </p:txBody>
      </p:sp>
      <p:sp>
        <p:nvSpPr>
          <p:cNvPr id="522" name="TextBox 521"/>
          <p:cNvSpPr txBox="1"/>
          <p:nvPr/>
        </p:nvSpPr>
        <p:spPr>
          <a:xfrm>
            <a:off x="3559227" y="4021933"/>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MP</a:t>
            </a:r>
          </a:p>
          <a:p>
            <a:pPr>
              <a:spcAft>
                <a:spcPts val="300"/>
              </a:spcAft>
              <a:defRPr sz="765" b="0">
                <a:solidFill>
                  <a:srgbClr val="404040"/>
                </a:solidFill>
                <a:latin typeface="Lato"/>
              </a:defRPr>
            </a:pPr>
            <a:r>
              <a:rPr>
                <a:solidFill/>
              </a:rPr>
              <a:t>1.76</a:t>
            </a:r>
          </a:p>
        </p:txBody>
      </p:sp>
      <p:sp>
        <p:nvSpPr>
          <p:cNvPr id="523" name="TextBox 522"/>
          <p:cNvSpPr txBox="1"/>
          <p:nvPr/>
        </p:nvSpPr>
        <p:spPr>
          <a:xfrm>
            <a:off x="2813484" y="4099631"/>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NW</a:t>
            </a:r>
          </a:p>
          <a:p>
            <a:pPr>
              <a:spcAft>
                <a:spcPts val="300"/>
              </a:spcAft>
              <a:defRPr sz="765" b="0">
                <a:solidFill>
                  <a:srgbClr val="404040"/>
                </a:solidFill>
                <a:latin typeface="Lato"/>
              </a:defRPr>
            </a:pPr>
            <a:r>
              <a:rPr>
                <a:solidFill/>
              </a:rPr>
              <a:t>1.07</a:t>
            </a:r>
          </a:p>
        </p:txBody>
      </p:sp>
      <p:sp>
        <p:nvSpPr>
          <p:cNvPr id="524" name="TextBox 523"/>
          <p:cNvSpPr txBox="1"/>
          <p:nvPr/>
        </p:nvSpPr>
        <p:spPr>
          <a:xfrm>
            <a:off x="2089805" y="4684654"/>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NC</a:t>
            </a:r>
          </a:p>
          <a:p>
            <a:pPr>
              <a:spcAft>
                <a:spcPts val="300"/>
              </a:spcAft>
              <a:defRPr sz="765" b="0">
                <a:solidFill>
                  <a:srgbClr val="404040"/>
                </a:solidFill>
                <a:latin typeface="Lato"/>
              </a:defRPr>
            </a:pPr>
            <a:r>
              <a:rPr>
                <a:solidFill/>
              </a:rPr>
              <a:t>0.45</a:t>
            </a:r>
          </a:p>
        </p:txBody>
      </p:sp>
      <p:sp>
        <p:nvSpPr>
          <p:cNvPr id="525" name="TextBox 524"/>
          <p:cNvSpPr txBox="1"/>
          <p:nvPr/>
        </p:nvSpPr>
        <p:spPr>
          <a:xfrm>
            <a:off x="1956743" y="5241519"/>
            <a:ext cx="406542" cy="256763"/>
          </a:xfrm>
          <a:prstGeom prst="rect">
            <a:avLst/>
          </a:prstGeom>
          <a:noFill/>
        </p:spPr>
        <p:txBody>
          <a:bodyPr wrap="square" lIns="22860" rIns="22860" tIns="0" bIns="0">
            <a:spAutoFit/>
          </a:bodyPr>
          <a:lstStyle/>
          <a:p>
            <a:pPr>
              <a:spcAft>
                <a:spcPts val="300"/>
              </a:spcAft>
              <a:defRPr sz="765" b="0">
                <a:solidFill>
                  <a:srgbClr val="404040"/>
                </a:solidFill>
                <a:latin typeface="Lato"/>
              </a:defRPr>
            </a:pPr>
            <a:r>
              <a:rPr>
                <a:solidFill/>
              </a:rPr>
              <a:t>WC</a:t>
            </a:r>
          </a:p>
          <a:p>
            <a:pPr>
              <a:spcAft>
                <a:spcPts val="300"/>
              </a:spcAft>
              <a:defRPr sz="765" b="0">
                <a:solidFill>
                  <a:srgbClr val="404040"/>
                </a:solidFill>
                <a:latin typeface="Lato"/>
              </a:defRPr>
            </a:pPr>
            <a:r>
              <a:rPr>
                <a:solidFill/>
              </a:rPr>
              <a:t>3.93</a:t>
            </a:r>
          </a:p>
        </p:txBody>
      </p:sp>
      <p:sp>
        <p:nvSpPr>
          <p:cNvPr id="526" name="Rectangle 525"/>
          <p:cNvSpPr/>
          <p:nvPr/>
        </p:nvSpPr>
        <p:spPr>
          <a:xfrm>
            <a:off x="494465" y="2368021"/>
            <a:ext cx="74532" cy="78455"/>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26592"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&lt;1</a:t>
            </a:r>
          </a:p>
        </p:txBody>
      </p:sp>
      <p:sp>
        <p:nvSpPr>
          <p:cNvPr id="528" name="Rectangle 527"/>
          <p:cNvSpPr/>
          <p:nvPr/>
        </p:nvSpPr>
        <p:spPr>
          <a:xfrm>
            <a:off x="1131381" y="2368021"/>
            <a:ext cx="74532" cy="78455"/>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263508"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1-2</a:t>
            </a:r>
          </a:p>
        </p:txBody>
      </p:sp>
      <p:sp>
        <p:nvSpPr>
          <p:cNvPr id="530" name="Rectangle 529"/>
          <p:cNvSpPr/>
          <p:nvPr/>
        </p:nvSpPr>
        <p:spPr>
          <a:xfrm>
            <a:off x="1768297" y="2368021"/>
            <a:ext cx="74532" cy="78455"/>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1900424"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2-4</a:t>
            </a:r>
          </a:p>
        </p:txBody>
      </p:sp>
      <p:sp>
        <p:nvSpPr>
          <p:cNvPr id="532" name="Rectangle 531"/>
          <p:cNvSpPr/>
          <p:nvPr/>
        </p:nvSpPr>
        <p:spPr>
          <a:xfrm>
            <a:off x="2405214" y="2368021"/>
            <a:ext cx="74532" cy="78455"/>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2537340"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4-6</a:t>
            </a:r>
          </a:p>
        </p:txBody>
      </p:sp>
      <p:sp>
        <p:nvSpPr>
          <p:cNvPr id="534" name="Rectangle 533"/>
          <p:cNvSpPr/>
          <p:nvPr/>
        </p:nvSpPr>
        <p:spPr>
          <a:xfrm>
            <a:off x="3042130" y="2368021"/>
            <a:ext cx="74532" cy="78455"/>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3174257" y="2335926"/>
            <a:ext cx="420092" cy="142646"/>
          </a:xfrm>
          <a:prstGeom prst="rect">
            <a:avLst/>
          </a:prstGeom>
          <a:noFill/>
        </p:spPr>
        <p:txBody>
          <a:bodyPr wrap="square" lIns="22860" rIns="22860" tIns="0" bIns="0">
            <a:spAutoFit/>
          </a:bodyPr>
          <a:lstStyle/>
          <a:p>
            <a:pPr>
              <a:spcAft>
                <a:spcPts val="300"/>
              </a:spcAft>
              <a:defRPr sz="722" b="0">
                <a:solidFill>
                  <a:srgbClr val="000000"/>
                </a:solidFill>
                <a:latin typeface="Lato"/>
              </a:defRPr>
            </a:pPr>
            <a:r>
              <a:rPr>
                <a:solidFill/>
              </a:rPr>
              <a:t>6+</a:t>
            </a:r>
          </a:p>
        </p:txBody>
      </p:sp>
      <p:sp>
        <p:nvSpPr>
          <p:cNvPr id="536" name="TextBox 535"/>
          <p:cNvSpPr txBox="1"/>
          <p:nvPr/>
        </p:nvSpPr>
        <p:spPr>
          <a:xfrm>
            <a:off x="3655332" y="2335926"/>
            <a:ext cx="1565186"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Provincial totals, not density</a:t>
            </a:r>
          </a:p>
        </p:txBody>
      </p:sp>
      <p:sp>
        <p:nvSpPr>
          <p:cNvPr id="537" name="Oval 536"/>
          <p:cNvSpPr/>
          <p:nvPr/>
        </p:nvSpPr>
        <p:spPr>
          <a:xfrm>
            <a:off x="494465" y="2567726"/>
            <a:ext cx="60980" cy="64190"/>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59271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Production</a:t>
            </a:r>
          </a:p>
        </p:txBody>
      </p:sp>
      <p:sp>
        <p:nvSpPr>
          <p:cNvPr id="539" name="Rectangle 538"/>
          <p:cNvSpPr/>
          <p:nvPr/>
        </p:nvSpPr>
        <p:spPr>
          <a:xfrm>
            <a:off x="1361755" y="2567726"/>
            <a:ext cx="60980" cy="64190"/>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46000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Port</a:t>
            </a:r>
          </a:p>
        </p:txBody>
      </p:sp>
      <p:sp>
        <p:nvSpPr>
          <p:cNvPr id="541" name="Diamond 540"/>
          <p:cNvSpPr/>
          <p:nvPr/>
        </p:nvSpPr>
        <p:spPr>
          <a:xfrm>
            <a:off x="1883485" y="2567726"/>
            <a:ext cx="60980" cy="64190"/>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1981733" y="2528498"/>
            <a:ext cx="833411" cy="14264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Vopak</a:t>
            </a:r>
          </a:p>
        </p:txBody>
      </p:sp>
      <p:sp>
        <p:nvSpPr>
          <p:cNvPr id="543" name="TextBox 542"/>
          <p:cNvSpPr txBox="1"/>
          <p:nvPr/>
        </p:nvSpPr>
        <p:spPr>
          <a:xfrm>
            <a:off x="3445285" y="2528498"/>
            <a:ext cx="1802337" cy="185440"/>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Lines: road / pipe / rail; heavy outlines: working regions</a:t>
            </a:r>
          </a:p>
        </p:txBody>
      </p:sp>
      <p:sp>
        <p:nvSpPr>
          <p:cNvPr id="6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611" name="TextBox 610"/>
          <p:cNvSpPr txBox="1"/>
          <p:nvPr/>
        </p:nvSpPr>
        <p:spPr>
          <a:xfrm>
            <a:off x="457200" y="1627632"/>
            <a:ext cx="4517136" cy="320040"/>
          </a:xfrm>
          <a:prstGeom prst="rect">
            <a:avLst/>
          </a:prstGeom>
          <a:noFill/>
        </p:spPr>
        <p:txBody>
          <a:bodyPr wrap="square" lIns="0" rIns="0" tIns="0" bIns="0">
            <a:spAutoFit/>
          </a:bodyPr>
          <a:lstStyle/>
          <a:p>
            <a:pPr>
              <a:spcAft>
                <a:spcPts val="300"/>
              </a:spcAft>
              <a:defRPr sz="1400" b="1">
                <a:solidFill>
                  <a:srgbClr val="000000"/>
                </a:solidFill>
                <a:latin typeface="Lato"/>
              </a:defRPr>
            </a:pPr>
            <a:r>
              <a:t>Where demand sits | 2022, bn litres</a:t>
            </a:r>
          </a:p>
        </p:txBody>
      </p:sp>
      <p:sp>
        <p:nvSpPr>
          <p:cNvPr id="612" name="TextBox 611"/>
          <p:cNvSpPr txBox="1"/>
          <p:nvPr/>
        </p:nvSpPr>
        <p:spPr>
          <a:xfrm>
            <a:off x="5623560" y="1627632"/>
            <a:ext cx="5394960" cy="320040"/>
          </a:xfrm>
          <a:prstGeom prst="rect">
            <a:avLst/>
          </a:prstGeom>
          <a:noFill/>
        </p:spPr>
        <p:txBody>
          <a:bodyPr wrap="square" lIns="0" rIns="0" tIns="0" bIns="0">
            <a:spAutoFit/>
          </a:bodyPr>
          <a:lstStyle/>
          <a:p>
            <a:pPr>
              <a:spcAft>
                <a:spcPts val="300"/>
              </a:spcAft>
              <a:defRPr sz="1400" b="1">
                <a:solidFill>
                  <a:srgbClr val="000000"/>
                </a:solidFill>
                <a:latin typeface="Lato"/>
              </a:defRPr>
            </a:pPr>
            <a:r>
              <a:t>How it changed | 2013-2022, bn litres/year</a:t>
            </a:r>
          </a:p>
        </p:txBody>
      </p:sp>
      <p:graphicFrame>
        <p:nvGraphicFramePr>
          <p:cNvPr id="613" name="Chart 612"/>
          <p:cNvGraphicFramePr>
            <a:graphicFrameLocks noGrp="1"/>
          </p:cNvGraphicFramePr>
          <p:nvPr/>
        </p:nvGraphicFramePr>
        <p:xfrm>
          <a:off x="5623560" y="2670048"/>
          <a:ext cx="4526280" cy="2962656"/>
        </p:xfrm>
        <a:graphic>
          <a:graphicData uri="http://schemas.openxmlformats.org/drawingml/2006/chart">
            <c:chart xmlns:c="http://schemas.openxmlformats.org/drawingml/2006/chart" r:id="rId7"/>
          </a:graphicData>
        </a:graphic>
      </p:graphicFrame>
      <p:sp>
        <p:nvSpPr>
          <p:cNvPr id="614" name="TextBox 613"/>
          <p:cNvSpPr txBox="1"/>
          <p:nvPr/>
        </p:nvSpPr>
        <p:spPr>
          <a:xfrm>
            <a:off x="5623560" y="2057400"/>
            <a:ext cx="5394960" cy="228600"/>
          </a:xfrm>
          <a:prstGeom prst="rect">
            <a:avLst/>
          </a:prstGeom>
          <a:noFill/>
        </p:spPr>
        <p:txBody>
          <a:bodyPr wrap="square" lIns="0" rIns="0" tIns="0" bIns="0">
            <a:spAutoFit/>
          </a:bodyPr>
          <a:lstStyle/>
          <a:p>
            <a:pPr>
              <a:spcAft>
                <a:spcPts val="300"/>
              </a:spcAft>
              <a:defRPr sz="1000" b="1">
                <a:solidFill>
                  <a:srgbClr val="0A2373"/>
                </a:solidFill>
                <a:latin typeface="Lato"/>
              </a:defRPr>
            </a:pPr>
            <a:r>
              <a:t>Gaps are withheld observations, not demand declines:</a:t>
            </a:r>
          </a:p>
        </p:txBody>
      </p:sp>
      <p:sp>
        <p:nvSpPr>
          <p:cNvPr id="615" name="TextBox 614"/>
          <p:cNvSpPr txBox="1"/>
          <p:nvPr/>
        </p:nvSpPr>
        <p:spPr>
          <a:xfrm>
            <a:off x="5623560" y="2350008"/>
            <a:ext cx="5394960" cy="228600"/>
          </a:xfrm>
          <a:prstGeom prst="rect">
            <a:avLst/>
          </a:prstGeom>
          <a:noFill/>
        </p:spPr>
        <p:txBody>
          <a:bodyPr wrap="square" lIns="0" rIns="0" tIns="0" bIns="0">
            <a:spAutoFit/>
          </a:bodyPr>
          <a:lstStyle/>
          <a:p>
            <a:pPr>
              <a:spcAft>
                <a:spcPts val="300"/>
              </a:spcAft>
              <a:defRPr sz="1000" b="0">
                <a:solidFill>
                  <a:srgbClr val="000000"/>
                </a:solidFill>
                <a:latin typeface="Lato"/>
              </a:defRPr>
            </a:pPr>
            <a:r>
              <a:t>2014: source conflict  |  2018: incomplete coverage</a:t>
            </a:r>
          </a:p>
        </p:txBody>
      </p:sp>
      <p:cxnSp>
        <p:nvCxnSpPr>
          <p:cNvPr id="616" name="Connector 615"/>
          <p:cNvCxnSpPr/>
          <p:nvPr/>
        </p:nvCxnSpPr>
        <p:spPr>
          <a:xfrm>
            <a:off x="10332720" y="2871215"/>
            <a:ext cx="201168" cy="0"/>
          </a:xfrm>
          <a:prstGeom prst="line">
            <a:avLst/>
          </a:prstGeom>
          <a:ln w="25400">
            <a:solidFill>
              <a:srgbClr val="0A2373"/>
            </a:solidFill>
          </a:ln>
        </p:spPr>
        <p:style>
          <a:lnRef idx="2">
            <a:schemeClr val="accent1"/>
          </a:lnRef>
          <a:fillRef idx="0">
            <a:schemeClr val="accent1"/>
          </a:fillRef>
          <a:effectRef idx="1">
            <a:schemeClr val="accent1"/>
          </a:effectRef>
          <a:fontRef idx="minor">
            <a:schemeClr val="tx1"/>
          </a:fontRef>
        </p:style>
      </p:cxnSp>
      <p:sp>
        <p:nvSpPr>
          <p:cNvPr id="617" name="TextBox 616"/>
          <p:cNvSpPr txBox="1"/>
          <p:nvPr/>
        </p:nvSpPr>
        <p:spPr>
          <a:xfrm>
            <a:off x="10634472" y="2788920"/>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GP</a:t>
            </a:r>
          </a:p>
        </p:txBody>
      </p:sp>
      <p:cxnSp>
        <p:nvCxnSpPr>
          <p:cNvPr id="618" name="Connector 617"/>
          <p:cNvCxnSpPr/>
          <p:nvPr/>
        </p:nvCxnSpPr>
        <p:spPr>
          <a:xfrm>
            <a:off x="10332720" y="3182111"/>
            <a:ext cx="201168" cy="0"/>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sp>
        <p:nvSpPr>
          <p:cNvPr id="619" name="TextBox 618"/>
          <p:cNvSpPr txBox="1"/>
          <p:nvPr/>
        </p:nvSpPr>
        <p:spPr>
          <a:xfrm>
            <a:off x="10634472" y="3099815"/>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KZN</a:t>
            </a:r>
          </a:p>
        </p:txBody>
      </p:sp>
      <p:cxnSp>
        <p:nvCxnSpPr>
          <p:cNvPr id="620" name="Connector 619"/>
          <p:cNvCxnSpPr/>
          <p:nvPr/>
        </p:nvCxnSpPr>
        <p:spPr>
          <a:xfrm>
            <a:off x="10332720" y="3493008"/>
            <a:ext cx="201168" cy="0"/>
          </a:xfrm>
          <a:prstGeom prst="line">
            <a:avLst/>
          </a:prstGeom>
          <a:ln w="25400">
            <a:solidFill>
              <a:srgbClr val="404040"/>
            </a:solidFill>
          </a:ln>
        </p:spPr>
        <p:style>
          <a:lnRef idx="2">
            <a:schemeClr val="accent1"/>
          </a:lnRef>
          <a:fillRef idx="0">
            <a:schemeClr val="accent1"/>
          </a:fillRef>
          <a:effectRef idx="1">
            <a:schemeClr val="accent1"/>
          </a:effectRef>
          <a:fontRef idx="minor">
            <a:schemeClr val="tx1"/>
          </a:fontRef>
        </p:style>
      </p:cxnSp>
      <p:sp>
        <p:nvSpPr>
          <p:cNvPr id="621" name="TextBox 620"/>
          <p:cNvSpPr txBox="1"/>
          <p:nvPr/>
        </p:nvSpPr>
        <p:spPr>
          <a:xfrm>
            <a:off x="10634472" y="3410712"/>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WC</a:t>
            </a:r>
          </a:p>
        </p:txBody>
      </p:sp>
      <p:cxnSp>
        <p:nvCxnSpPr>
          <p:cNvPr id="622" name="Connector 621"/>
          <p:cNvCxnSpPr/>
          <p:nvPr/>
        </p:nvCxnSpPr>
        <p:spPr>
          <a:xfrm>
            <a:off x="10332720" y="3803904"/>
            <a:ext cx="201168" cy="0"/>
          </a:xfrm>
          <a:prstGeom prst="line">
            <a:avLst/>
          </a:prstGeom>
          <a:ln w="25400">
            <a:solidFill>
              <a:srgbClr val="809CC7"/>
            </a:solidFill>
          </a:ln>
        </p:spPr>
        <p:style>
          <a:lnRef idx="2">
            <a:schemeClr val="accent1"/>
          </a:lnRef>
          <a:fillRef idx="0">
            <a:schemeClr val="accent1"/>
          </a:fillRef>
          <a:effectRef idx="1">
            <a:schemeClr val="accent1"/>
          </a:effectRef>
          <a:fontRef idx="minor">
            <a:schemeClr val="tx1"/>
          </a:fontRef>
        </p:style>
      </p:cxnSp>
      <p:sp>
        <p:nvSpPr>
          <p:cNvPr id="623" name="TextBox 622"/>
          <p:cNvSpPr txBox="1"/>
          <p:nvPr/>
        </p:nvSpPr>
        <p:spPr>
          <a:xfrm>
            <a:off x="10634472" y="3721608"/>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MP</a:t>
            </a:r>
          </a:p>
        </p:txBody>
      </p:sp>
      <p:cxnSp>
        <p:nvCxnSpPr>
          <p:cNvPr id="624" name="Connector 623"/>
          <p:cNvCxnSpPr/>
          <p:nvPr/>
        </p:nvCxnSpPr>
        <p:spPr>
          <a:xfrm>
            <a:off x="10332720" y="4114800"/>
            <a:ext cx="201168" cy="0"/>
          </a:xfrm>
          <a:prstGeom prst="line">
            <a:avLst/>
          </a:prstGeom>
          <a:ln w="25400">
            <a:solidFill>
              <a:srgbClr val="3D619D"/>
            </a:solidFill>
          </a:ln>
        </p:spPr>
        <p:style>
          <a:lnRef idx="2">
            <a:schemeClr val="accent1"/>
          </a:lnRef>
          <a:fillRef idx="0">
            <a:schemeClr val="accent1"/>
          </a:fillRef>
          <a:effectRef idx="1">
            <a:schemeClr val="accent1"/>
          </a:effectRef>
          <a:fontRef idx="minor">
            <a:schemeClr val="tx1"/>
          </a:fontRef>
        </p:style>
      </p:cxnSp>
      <p:sp>
        <p:nvSpPr>
          <p:cNvPr id="625" name="TextBox 624"/>
          <p:cNvSpPr txBox="1"/>
          <p:nvPr/>
        </p:nvSpPr>
        <p:spPr>
          <a:xfrm>
            <a:off x="10634472" y="4032504"/>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EC</a:t>
            </a:r>
          </a:p>
        </p:txBody>
      </p:sp>
      <p:cxnSp>
        <p:nvCxnSpPr>
          <p:cNvPr id="626" name="Connector 625"/>
          <p:cNvCxnSpPr/>
          <p:nvPr/>
        </p:nvCxnSpPr>
        <p:spPr>
          <a:xfrm>
            <a:off x="10332720" y="4425696"/>
            <a:ext cx="201168" cy="0"/>
          </a:xfrm>
          <a:prstGeom prst="line">
            <a:avLst/>
          </a:prstGeom>
          <a:ln w="25400">
            <a:solidFill>
              <a:srgbClr val="767676"/>
            </a:solidFill>
          </a:ln>
        </p:spPr>
        <p:style>
          <a:lnRef idx="2">
            <a:schemeClr val="accent1"/>
          </a:lnRef>
          <a:fillRef idx="0">
            <a:schemeClr val="accent1"/>
          </a:fillRef>
          <a:effectRef idx="1">
            <a:schemeClr val="accent1"/>
          </a:effectRef>
          <a:fontRef idx="minor">
            <a:schemeClr val="tx1"/>
          </a:fontRef>
        </p:style>
      </p:cxnSp>
      <p:sp>
        <p:nvSpPr>
          <p:cNvPr id="627" name="TextBox 626"/>
          <p:cNvSpPr txBox="1"/>
          <p:nvPr/>
        </p:nvSpPr>
        <p:spPr>
          <a:xfrm>
            <a:off x="10634472" y="4343400"/>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FS</a:t>
            </a:r>
          </a:p>
        </p:txBody>
      </p:sp>
      <p:cxnSp>
        <p:nvCxnSpPr>
          <p:cNvPr id="628" name="Connector 627"/>
          <p:cNvCxnSpPr/>
          <p:nvPr/>
        </p:nvCxnSpPr>
        <p:spPr>
          <a:xfrm>
            <a:off x="10332720" y="4736592"/>
            <a:ext cx="201168" cy="0"/>
          </a:xfrm>
          <a:prstGeom prst="line">
            <a:avLst/>
          </a:prstGeom>
          <a:ln w="25400">
            <a:solidFill>
              <a:srgbClr val="BACCE4"/>
            </a:solidFill>
          </a:ln>
        </p:spPr>
        <p:style>
          <a:lnRef idx="2">
            <a:schemeClr val="accent1"/>
          </a:lnRef>
          <a:fillRef idx="0">
            <a:schemeClr val="accent1"/>
          </a:fillRef>
          <a:effectRef idx="1">
            <a:schemeClr val="accent1"/>
          </a:effectRef>
          <a:fontRef idx="minor">
            <a:schemeClr val="tx1"/>
          </a:fontRef>
        </p:style>
      </p:cxnSp>
      <p:sp>
        <p:nvSpPr>
          <p:cNvPr id="629" name="TextBox 628"/>
          <p:cNvSpPr txBox="1"/>
          <p:nvPr/>
        </p:nvSpPr>
        <p:spPr>
          <a:xfrm>
            <a:off x="10634472" y="4654296"/>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NW</a:t>
            </a:r>
          </a:p>
        </p:txBody>
      </p:sp>
      <p:cxnSp>
        <p:nvCxnSpPr>
          <p:cNvPr id="630" name="Connector 629"/>
          <p:cNvCxnSpPr/>
          <p:nvPr/>
        </p:nvCxnSpPr>
        <p:spPr>
          <a:xfrm>
            <a:off x="10332720" y="5047488"/>
            <a:ext cx="201168" cy="0"/>
          </a:xfrm>
          <a:prstGeom prst="line">
            <a:avLst/>
          </a:prstGeom>
          <a:ln w="25400">
            <a:solidFill>
              <a:srgbClr val="A0A0A0"/>
            </a:solidFill>
          </a:ln>
        </p:spPr>
        <p:style>
          <a:lnRef idx="2">
            <a:schemeClr val="accent1"/>
          </a:lnRef>
          <a:fillRef idx="0">
            <a:schemeClr val="accent1"/>
          </a:fillRef>
          <a:effectRef idx="1">
            <a:schemeClr val="accent1"/>
          </a:effectRef>
          <a:fontRef idx="minor">
            <a:schemeClr val="tx1"/>
          </a:fontRef>
        </p:style>
      </p:cxnSp>
      <p:sp>
        <p:nvSpPr>
          <p:cNvPr id="631" name="TextBox 630"/>
          <p:cNvSpPr txBox="1"/>
          <p:nvPr/>
        </p:nvSpPr>
        <p:spPr>
          <a:xfrm>
            <a:off x="10634472" y="4965192"/>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LP</a:t>
            </a:r>
          </a:p>
        </p:txBody>
      </p:sp>
      <p:cxnSp>
        <p:nvCxnSpPr>
          <p:cNvPr id="632" name="Connector 631"/>
          <p:cNvCxnSpPr/>
          <p:nvPr/>
        </p:nvCxnSpPr>
        <p:spPr>
          <a:xfrm>
            <a:off x="10332720" y="5358383"/>
            <a:ext cx="201168" cy="0"/>
          </a:xfrm>
          <a:prstGeom prst="line">
            <a:avLst/>
          </a:prstGeom>
          <a:ln w="25400">
            <a:solidFill>
              <a:srgbClr val="BDBEC1"/>
            </a:solidFill>
          </a:ln>
        </p:spPr>
        <p:style>
          <a:lnRef idx="2">
            <a:schemeClr val="accent1"/>
          </a:lnRef>
          <a:fillRef idx="0">
            <a:schemeClr val="accent1"/>
          </a:fillRef>
          <a:effectRef idx="1">
            <a:schemeClr val="accent1"/>
          </a:effectRef>
          <a:fontRef idx="minor">
            <a:schemeClr val="tx1"/>
          </a:fontRef>
        </p:style>
      </p:cxnSp>
      <p:sp>
        <p:nvSpPr>
          <p:cNvPr id="633" name="TextBox 632"/>
          <p:cNvSpPr txBox="1"/>
          <p:nvPr/>
        </p:nvSpPr>
        <p:spPr>
          <a:xfrm>
            <a:off x="10634472" y="5276088"/>
            <a:ext cx="530352" cy="201168"/>
          </a:xfrm>
          <a:prstGeom prst="rect">
            <a:avLst/>
          </a:prstGeom>
          <a:noFill/>
        </p:spPr>
        <p:txBody>
          <a:bodyPr wrap="square" lIns="0" rIns="0" tIns="0" bIns="0">
            <a:spAutoFit/>
          </a:bodyPr>
          <a:lstStyle/>
          <a:p>
            <a:pPr>
              <a:spcAft>
                <a:spcPts val="300"/>
              </a:spcAft>
              <a:defRPr sz="900" b="0">
                <a:solidFill>
                  <a:srgbClr val="000000"/>
                </a:solidFill>
                <a:latin typeface="Lato"/>
              </a:defRPr>
            </a:pPr>
            <a:r>
              <a:t>NC</a:t>
            </a:r>
          </a:p>
        </p:txBody>
      </p:sp>
      <p:sp>
        <p:nvSpPr>
          <p:cNvPr id="634" name="TextBox 633"/>
          <p:cNvSpPr txBox="1"/>
          <p:nvPr/>
        </p:nvSpPr>
        <p:spPr>
          <a:xfrm>
            <a:off x="457200" y="6153912"/>
            <a:ext cx="9989820" cy="210312"/>
          </a:xfrm>
          <a:prstGeom prst="rect">
            <a:avLst/>
          </a:prstGeom>
          <a:noFill/>
        </p:spPr>
        <p:txBody>
          <a:bodyPr wrap="square" lIns="0" rIns="0" tIns="0" bIns="0">
            <a:spAutoFit/>
          </a:bodyPr>
          <a:lstStyle/>
          <a:p>
            <a:pPr>
              <a:spcAft>
                <a:spcPts val="300"/>
              </a:spcAft>
              <a:defRPr sz="1000" b="0">
                <a:solidFill>
                  <a:srgbClr val="000000"/>
                </a:solidFill>
                <a:latin typeface="Lato"/>
              </a:defRPr>
            </a:pPr>
            <a:r>
              <a:t>Same province codes on map and chart; map shade measures volume.</a:t>
            </a:r>
          </a:p>
        </p:txBody>
      </p:sp>
      <p:cxnSp>
        <p:nvCxnSpPr>
          <p:cNvPr id="635" name="Connector 634"/>
          <p:cNvCxnSpPr/>
          <p:nvPr/>
        </p:nvCxnSpPr>
        <p:spPr>
          <a:xfrm>
            <a:off x="457200" y="1947672"/>
            <a:ext cx="475488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6" name="Connector 635"/>
          <p:cNvCxnSpPr/>
          <p:nvPr/>
        </p:nvCxnSpPr>
        <p:spPr>
          <a:xfrm>
            <a:off x="5623560" y="1947672"/>
            <a:ext cx="548640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37" name="Connector 636"/>
          <p:cNvCxnSpPr/>
          <p:nvPr/>
        </p:nvCxnSpPr>
        <p:spPr>
          <a:xfrm>
            <a:off x="5422392" y="1947672"/>
            <a:ext cx="0" cy="4334256"/>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638" name="SCR divider marker: circle"/>
          <p:cNvSpPr/>
          <p:nvPr/>
        </p:nvSpPr>
        <p:spPr>
          <a:xfrm>
            <a:off x="530352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9" name="SCR divider marker: arrow"/>
          <p:cNvCxnSpPr/>
          <p:nvPr/>
        </p:nvCxnSpPr>
        <p:spPr>
          <a:xfrm>
            <a:off x="539038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0" name="SCR divider marker: arrow"/>
          <p:cNvCxnSpPr/>
          <p:nvPr/>
        </p:nvCxnSpPr>
        <p:spPr>
          <a:xfrm flipH="1">
            <a:off x="539038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Provincial sales locate demand, but do not show where imported fuel is delivered</a:t>
            </a:r>
          </a:p>
        </p:txBody>
      </p:sp>
      <p:sp>
        <p:nvSpPr>
          <p:cNvPr id="3" name="Slide Number Placeholder"/>
          <p:cNvSpPr>
            <a:spLocks noGrp="1"/>
          </p:cNvSpPr>
          <p:nvPr>
            <p:ph type="sldNum" sz="quarter" idx="12"/>
          </p:nvPr>
        </p:nvSpPr>
        <p:spPr/>
        <p:txBody>
          <a:bodyPr/>
          <a:lstStyle/>
          <a:p>
            <a:pPr>
              <a:defRPr sz="1000">
                <a:latin typeface="Lato"/>
              </a:defRPr>
            </a:pPr>
            <a:r>
              <a:t>6</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0</a:t>
            </a:r>
          </a:p>
        </p:txBody>
      </p:sp>
      <p:cxnSp>
        <p:nvCxnSpPr>
          <p:cNvPr id="24" name="Connector 23"/>
          <p:cNvCxnSpPr/>
          <p:nvPr/>
        </p:nvCxnSpPr>
        <p:spPr>
          <a:xfrm>
            <a:off x="297180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2</a:t>
            </a:r>
          </a:p>
        </p:txBody>
      </p:sp>
      <p:cxnSp>
        <p:nvCxnSpPr>
          <p:cNvPr id="26" name="Connector 25"/>
          <p:cNvCxnSpPr/>
          <p:nvPr/>
        </p:nvCxnSpPr>
        <p:spPr>
          <a:xfrm>
            <a:off x="406907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4</a:t>
            </a:r>
          </a:p>
        </p:txBody>
      </p:sp>
      <p:cxnSp>
        <p:nvCxnSpPr>
          <p:cNvPr id="28" name="Connector 27"/>
          <p:cNvCxnSpPr/>
          <p:nvPr/>
        </p:nvCxnSpPr>
        <p:spPr>
          <a:xfrm>
            <a:off x="5166359"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6</a:t>
            </a:r>
          </a:p>
        </p:txBody>
      </p:sp>
      <p:cxnSp>
        <p:nvCxnSpPr>
          <p:cNvPr id="30" name="Connector 29"/>
          <p:cNvCxnSpPr/>
          <p:nvPr/>
        </p:nvCxnSpPr>
        <p:spPr>
          <a:xfrm>
            <a:off x="6263640" y="2633472"/>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377440"/>
            <a:ext cx="365760" cy="237744"/>
          </a:xfrm>
          <a:prstGeom prst="rect">
            <a:avLst/>
          </a:prstGeom>
          <a:noFill/>
        </p:spPr>
        <p:txBody>
          <a:bodyPr wrap="square" lIns="22860" rIns="22860" tIns="0" bIns="0">
            <a:noAutofit/>
          </a:bodyPr>
          <a:lstStyle/>
          <a:p>
            <a:pPr>
              <a:spcAft>
                <a:spcPts val="300"/>
              </a:spcAft>
              <a:defRPr sz="1000" b="0">
                <a:solidFill>
                  <a:srgbClr val="000000"/>
                </a:solidFill>
                <a:latin typeface="Lato"/>
              </a:defRPr>
            </a:pPr>
            <a:r>
              <a:rPr sz="1000" b="0">
                <a:solidFill/>
                <a:latin typeface="Lato"/>
              </a:rPr>
              <a:t>8</a:t>
            </a:r>
          </a:p>
        </p:txBody>
      </p:sp>
      <p:sp>
        <p:nvSpPr>
          <p:cNvPr id="32" name="TextBox 31"/>
          <p:cNvSpPr txBox="1"/>
          <p:nvPr/>
        </p:nvSpPr>
        <p:spPr>
          <a:xfrm>
            <a:off x="457200" y="2770631"/>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Gauteng</a:t>
            </a:r>
          </a:p>
        </p:txBody>
      </p:sp>
      <p:sp>
        <p:nvSpPr>
          <p:cNvPr id="33" name="Rectangle 32"/>
          <p:cNvSpPr/>
          <p:nvPr/>
        </p:nvSpPr>
        <p:spPr>
          <a:xfrm>
            <a:off x="1874519" y="2761488"/>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4" name="Rectangle 33"/>
          <p:cNvSpPr/>
          <p:nvPr/>
        </p:nvSpPr>
        <p:spPr>
          <a:xfrm>
            <a:off x="3185128" y="2761488"/>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5" name="TextBox 34"/>
          <p:cNvSpPr txBox="1"/>
          <p:nvPr/>
        </p:nvSpPr>
        <p:spPr>
          <a:xfrm>
            <a:off x="5674454" y="276148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6.81</a:t>
            </a:r>
          </a:p>
        </p:txBody>
      </p:sp>
      <p:sp>
        <p:nvSpPr>
          <p:cNvPr id="36" name="TextBox 35"/>
          <p:cNvSpPr txBox="1"/>
          <p:nvPr/>
        </p:nvSpPr>
        <p:spPr>
          <a:xfrm>
            <a:off x="457200" y="3081527"/>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KwaZulu-Natal</a:t>
            </a:r>
          </a:p>
        </p:txBody>
      </p:sp>
      <p:sp>
        <p:nvSpPr>
          <p:cNvPr id="37" name="Rectangle 36"/>
          <p:cNvSpPr/>
          <p:nvPr/>
        </p:nvSpPr>
        <p:spPr>
          <a:xfrm>
            <a:off x="1874519" y="3072383"/>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8" name="Rectangle 37"/>
          <p:cNvSpPr/>
          <p:nvPr/>
        </p:nvSpPr>
        <p:spPr>
          <a:xfrm>
            <a:off x="2622087" y="3072383"/>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39" name="TextBox 38"/>
          <p:cNvSpPr txBox="1"/>
          <p:nvPr/>
        </p:nvSpPr>
        <p:spPr>
          <a:xfrm>
            <a:off x="4289172" y="3072383"/>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4.28</a:t>
            </a:r>
          </a:p>
        </p:txBody>
      </p:sp>
      <p:sp>
        <p:nvSpPr>
          <p:cNvPr id="40" name="TextBox 39"/>
          <p:cNvSpPr txBox="1"/>
          <p:nvPr/>
        </p:nvSpPr>
        <p:spPr>
          <a:xfrm>
            <a:off x="457200" y="339242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Western Cape</a:t>
            </a:r>
          </a:p>
        </p:txBody>
      </p:sp>
      <p:sp>
        <p:nvSpPr>
          <p:cNvPr id="41" name="Rectangle 40"/>
          <p:cNvSpPr/>
          <p:nvPr/>
        </p:nvSpPr>
        <p:spPr>
          <a:xfrm>
            <a:off x="1874519" y="3383280"/>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2" name="Rectangle 41"/>
          <p:cNvSpPr/>
          <p:nvPr/>
        </p:nvSpPr>
        <p:spPr>
          <a:xfrm>
            <a:off x="2566324" y="3383280"/>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3" name="TextBox 42"/>
          <p:cNvSpPr txBox="1"/>
          <p:nvPr/>
        </p:nvSpPr>
        <p:spPr>
          <a:xfrm>
            <a:off x="4095108" y="338328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3.93</a:t>
            </a:r>
          </a:p>
        </p:txBody>
      </p:sp>
      <p:sp>
        <p:nvSpPr>
          <p:cNvPr id="44" name="TextBox 43"/>
          <p:cNvSpPr txBox="1"/>
          <p:nvPr/>
        </p:nvSpPr>
        <p:spPr>
          <a:xfrm>
            <a:off x="457200" y="3703319"/>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Mpumalanga</a:t>
            </a:r>
          </a:p>
        </p:txBody>
      </p:sp>
      <p:sp>
        <p:nvSpPr>
          <p:cNvPr id="45" name="Rectangle 44"/>
          <p:cNvSpPr/>
          <p:nvPr/>
        </p:nvSpPr>
        <p:spPr>
          <a:xfrm>
            <a:off x="1874519" y="3694176"/>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6" name="Rectangle 45"/>
          <p:cNvSpPr/>
          <p:nvPr/>
        </p:nvSpPr>
        <p:spPr>
          <a:xfrm>
            <a:off x="2180852" y="3694176"/>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47" name="TextBox 46"/>
          <p:cNvSpPr txBox="1"/>
          <p:nvPr/>
        </p:nvSpPr>
        <p:spPr>
          <a:xfrm>
            <a:off x="2902592" y="369417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1.76</a:t>
            </a:r>
          </a:p>
        </p:txBody>
      </p:sp>
      <p:sp>
        <p:nvSpPr>
          <p:cNvPr id="48" name="TextBox 47"/>
          <p:cNvSpPr txBox="1"/>
          <p:nvPr/>
        </p:nvSpPr>
        <p:spPr>
          <a:xfrm>
            <a:off x="457200" y="4014216"/>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Eastern Cape</a:t>
            </a:r>
          </a:p>
        </p:txBody>
      </p:sp>
      <p:sp>
        <p:nvSpPr>
          <p:cNvPr id="49" name="Rectangle 48"/>
          <p:cNvSpPr/>
          <p:nvPr/>
        </p:nvSpPr>
        <p:spPr>
          <a:xfrm>
            <a:off x="1874519" y="4005072"/>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0" name="Rectangle 49"/>
          <p:cNvSpPr/>
          <p:nvPr/>
        </p:nvSpPr>
        <p:spPr>
          <a:xfrm>
            <a:off x="2187569" y="4005072"/>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1" name="TextBox 50"/>
          <p:cNvSpPr txBox="1"/>
          <p:nvPr/>
        </p:nvSpPr>
        <p:spPr>
          <a:xfrm>
            <a:off x="2890684" y="4005072"/>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1.74</a:t>
            </a:r>
          </a:p>
        </p:txBody>
      </p:sp>
      <p:sp>
        <p:nvSpPr>
          <p:cNvPr id="52" name="TextBox 51"/>
          <p:cNvSpPr txBox="1"/>
          <p:nvPr/>
        </p:nvSpPr>
        <p:spPr>
          <a:xfrm>
            <a:off x="457200" y="4325112"/>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Free State</a:t>
            </a:r>
          </a:p>
        </p:txBody>
      </p:sp>
      <p:sp>
        <p:nvSpPr>
          <p:cNvPr id="53" name="Rectangle 52"/>
          <p:cNvSpPr/>
          <p:nvPr/>
        </p:nvSpPr>
        <p:spPr>
          <a:xfrm>
            <a:off x="1874519" y="4315968"/>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4" name="Rectangle 53"/>
          <p:cNvSpPr/>
          <p:nvPr/>
        </p:nvSpPr>
        <p:spPr>
          <a:xfrm>
            <a:off x="2125005" y="4315968"/>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5" name="TextBox 54"/>
          <p:cNvSpPr txBox="1"/>
          <p:nvPr/>
        </p:nvSpPr>
        <p:spPr>
          <a:xfrm>
            <a:off x="2689791" y="4315968"/>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1.37</a:t>
            </a:r>
          </a:p>
        </p:txBody>
      </p:sp>
      <p:sp>
        <p:nvSpPr>
          <p:cNvPr id="56" name="TextBox 55"/>
          <p:cNvSpPr txBox="1"/>
          <p:nvPr/>
        </p:nvSpPr>
        <p:spPr>
          <a:xfrm>
            <a:off x="457200" y="4636008"/>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 West</a:t>
            </a:r>
          </a:p>
        </p:txBody>
      </p:sp>
      <p:sp>
        <p:nvSpPr>
          <p:cNvPr id="57" name="Rectangle 56"/>
          <p:cNvSpPr/>
          <p:nvPr/>
        </p:nvSpPr>
        <p:spPr>
          <a:xfrm>
            <a:off x="1874519" y="4626864"/>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8" name="Rectangle 57"/>
          <p:cNvSpPr/>
          <p:nvPr/>
        </p:nvSpPr>
        <p:spPr>
          <a:xfrm>
            <a:off x="2068824" y="4626864"/>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59" name="TextBox 58"/>
          <p:cNvSpPr txBox="1"/>
          <p:nvPr/>
        </p:nvSpPr>
        <p:spPr>
          <a:xfrm>
            <a:off x="2524509" y="4626864"/>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1.07</a:t>
            </a:r>
          </a:p>
        </p:txBody>
      </p:sp>
      <p:sp>
        <p:nvSpPr>
          <p:cNvPr id="60" name="TextBox 59"/>
          <p:cNvSpPr txBox="1"/>
          <p:nvPr/>
        </p:nvSpPr>
        <p:spPr>
          <a:xfrm>
            <a:off x="457200" y="4946904"/>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Limpopo</a:t>
            </a:r>
          </a:p>
        </p:txBody>
      </p:sp>
      <p:sp>
        <p:nvSpPr>
          <p:cNvPr id="61" name="Rectangle 60"/>
          <p:cNvSpPr/>
          <p:nvPr/>
        </p:nvSpPr>
        <p:spPr>
          <a:xfrm>
            <a:off x="1874519" y="4937760"/>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2" name="Rectangle 61"/>
          <p:cNvSpPr/>
          <p:nvPr/>
        </p:nvSpPr>
        <p:spPr>
          <a:xfrm>
            <a:off x="1971693" y="4937760"/>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3" name="TextBox 62"/>
          <p:cNvSpPr txBox="1"/>
          <p:nvPr/>
        </p:nvSpPr>
        <p:spPr>
          <a:xfrm>
            <a:off x="2210451" y="4937760"/>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0.50</a:t>
            </a:r>
          </a:p>
        </p:txBody>
      </p:sp>
      <p:sp>
        <p:nvSpPr>
          <p:cNvPr id="64" name="TextBox 63"/>
          <p:cNvSpPr txBox="1"/>
          <p:nvPr/>
        </p:nvSpPr>
        <p:spPr>
          <a:xfrm>
            <a:off x="457200" y="5257800"/>
            <a:ext cx="1389888" cy="265176"/>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Northern Cape</a:t>
            </a:r>
          </a:p>
        </p:txBody>
      </p:sp>
      <p:sp>
        <p:nvSpPr>
          <p:cNvPr id="65" name="Rectangle 64"/>
          <p:cNvSpPr/>
          <p:nvPr/>
        </p:nvSpPr>
        <p:spPr>
          <a:xfrm>
            <a:off x="1874519" y="5248656"/>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6" name="Rectangle 65"/>
          <p:cNvSpPr/>
          <p:nvPr/>
        </p:nvSpPr>
        <p:spPr>
          <a:xfrm>
            <a:off x="1947140" y="5248656"/>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7" name="TextBox 66"/>
          <p:cNvSpPr txBox="1"/>
          <p:nvPr/>
        </p:nvSpPr>
        <p:spPr>
          <a:xfrm>
            <a:off x="2186409" y="5248656"/>
            <a:ext cx="557784" cy="265176"/>
          </a:xfrm>
          <a:prstGeom prst="rect">
            <a:avLst/>
          </a:prstGeom>
          <a:noFill/>
        </p:spPr>
        <p:txBody>
          <a:bodyPr wrap="square" lIns="22860" rIns="22860" tIns="0" bIns="0">
            <a:noAutofit/>
          </a:bodyPr>
          <a:lstStyle/>
          <a:p>
            <a:pPr>
              <a:spcAft>
                <a:spcPts val="300"/>
              </a:spcAft>
              <a:defRPr sz="1200" b="0">
                <a:solidFill>
                  <a:srgbClr val="000000"/>
                </a:solidFill>
                <a:latin typeface="Lato"/>
              </a:defRPr>
            </a:pPr>
            <a:r>
              <a:rPr sz="1200" b="0">
                <a:solidFill/>
                <a:latin typeface="Lato"/>
              </a:rPr>
              <a:t>0.45</a:t>
            </a:r>
          </a:p>
        </p:txBody>
      </p:sp>
      <p:sp>
        <p:nvSpPr>
          <p:cNvPr id="68" name="Rectangle 67"/>
          <p:cNvSpPr/>
          <p:nvPr/>
        </p:nvSpPr>
        <p:spPr>
          <a:xfrm>
            <a:off x="457200" y="2112264"/>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69" name="TextBox 68"/>
          <p:cNvSpPr txBox="1"/>
          <p:nvPr/>
        </p:nvSpPr>
        <p:spPr>
          <a:xfrm>
            <a:off x="62179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domestic fuel</a:t>
            </a:r>
          </a:p>
        </p:txBody>
      </p:sp>
      <p:sp>
        <p:nvSpPr>
          <p:cNvPr id="70" name="Rectangle 69"/>
          <p:cNvSpPr/>
          <p:nvPr/>
        </p:nvSpPr>
        <p:spPr>
          <a:xfrm>
            <a:off x="3246120" y="2112264"/>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solidFill/>
                <a:latin typeface="Lato"/>
              </a:defRPr>
            </a:pPr>
          </a:p>
        </p:txBody>
      </p:sp>
      <p:sp>
        <p:nvSpPr>
          <p:cNvPr id="71" name="TextBox 70"/>
          <p:cNvSpPr txBox="1"/>
          <p:nvPr/>
        </p:nvSpPr>
        <p:spPr>
          <a:xfrm>
            <a:off x="3410712" y="2066544"/>
            <a:ext cx="3200400" cy="246888"/>
          </a:xfrm>
          <a:prstGeom prst="rect">
            <a:avLst/>
          </a:prstGeom>
          <a:noFill/>
        </p:spPr>
        <p:txBody>
          <a:bodyPr wrap="square" lIns="22860" rIns="22860" tIns="0" bIns="0">
            <a:noAutofit/>
          </a:bodyPr>
          <a:lstStyle/>
          <a:p>
            <a:pPr>
              <a:spcAft>
                <a:spcPts val="300"/>
              </a:spcAft>
              <a:defRPr sz="1100" b="0">
                <a:solidFill>
                  <a:srgbClr val="000000"/>
                </a:solidFill>
                <a:latin typeface="Lato"/>
              </a:defRPr>
            </a:pPr>
            <a:r>
              <a:rPr sz="1100" b="0">
                <a:solidFill/>
                <a:latin typeface="Lato"/>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noAutofit/>
          </a:bodyPr>
          <a:lstStyle/>
          <a:p>
            <a:pPr>
              <a:spcAft>
                <a:spcPts val="300"/>
              </a:spcAft>
              <a:defRPr sz="900" b="0">
                <a:solidFill>
                  <a:srgbClr val="404040"/>
                </a:solidFill>
                <a:latin typeface="Lato"/>
              </a:defRPr>
            </a:pPr>
            <a:r>
              <a:rPr sz="900">
                <a:solidFill/>
                <a:latin typeface="Lato"/>
              </a:rPr>
              <a:t>Units: bn litres/year. Imported/domestic segments are a scenario illustration, not measured provincial flows.</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b="0">
                <a:latin typeface="Lato"/>
              </a:defRPr>
            </a:pP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2" name="TextBox 91"/>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93" name="Connector 92"/>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TextBox 93"/>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Use sourced provincial totals</a:t>
            </a:r>
          </a:p>
        </p:txBody>
      </p:sp>
      <p:sp>
        <p:nvSpPr>
          <p:cNvPr id="95" name="TextBox 94"/>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total bars use reported 2022 petrol/diesel sales. This establishes provincial demand, not where the fuel came from.</a:t>
            </a:r>
          </a:p>
        </p:txBody>
      </p:sp>
      <p:sp>
        <p:nvSpPr>
          <p:cNvPr id="96" name="TextBox 95"/>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Treat origin shares as an example</a:t>
            </a:r>
          </a:p>
        </p:txBody>
      </p:sp>
      <p:sp>
        <p:nvSpPr>
          <p:cNvPr id="97" name="TextBox 96"/>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Domestic/import segments are authored illustrations. No measured provincial supply-origin allocation is established.</a:t>
            </a:r>
          </a:p>
        </p:txBody>
      </p:sp>
      <p:sp>
        <p:nvSpPr>
          <p:cNvPr id="98" name="TextBox 97"/>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Close the national balance first</a:t>
            </a:r>
          </a:p>
        </p:txBody>
      </p:sp>
      <p:sp>
        <p:nvSpPr>
          <p:cNvPr id="99" name="TextBox 98"/>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production, exports and stock movements to the demand year before allocating an import requirement to provinces.</a:t>
            </a:r>
          </a:p>
        </p:txBody>
      </p:sp>
      <p:cxnSp>
        <p:nvCxnSpPr>
          <p:cNvPr id="100" name="Connector 99"/>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02" name="TextBox 101"/>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reconcile the national balance, then obtain origin/destination evidence. Keep unsupported provincial origin unknown.</a:t>
            </a:r>
          </a:p>
        </p:txBody>
      </p:sp>
      <p:sp>
        <p:nvSpPr>
          <p:cNvPr id="10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Enref, PetroSA and SAPREF explain the capacity decline; the CEF case adds capacity in 2033</a:t>
            </a:r>
          </a:p>
        </p:txBody>
      </p:sp>
      <p:sp>
        <p:nvSpPr>
          <p:cNvPr id="3" name="Slide Number Placeholder"/>
          <p:cNvSpPr>
            <a:spLocks noGrp="1"/>
          </p:cNvSpPr>
          <p:nvPr>
            <p:ph type="sldNum" sz="quarter" idx="12"/>
          </p:nvPr>
        </p:nvSpPr>
        <p:spPr/>
        <p:txBody>
          <a:bodyPr/>
          <a:lstStyle/>
          <a:p>
            <a:pPr>
              <a:defRPr sz="1000">
                <a:latin typeface="Lato"/>
              </a:defRPr>
            </a:pPr>
            <a:r>
              <a:t>7</a:t>
            </a:r>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Sources: FIASA 2025 p49, refinery_capacity_reported.csv; registered review_capacity_scenarios.yaml; CEF proposal as previously sourced.
Reported nameplate footprint is not actual output or operating availability. Source dashes are excluded from reported totals. No model inputs changed.</a:t>
            </a:r>
          </a:p>
        </p:txBody>
      </p:sp>
      <p:sp>
        <p:nvSpPr>
          <p:cNvPr id="7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79" name="TextBox 78"/>
          <p:cNvSpPr txBox="1"/>
          <p:nvPr/>
        </p:nvSpPr>
        <p:spPr>
          <a:xfrm>
            <a:off x="457200" y="1627632"/>
            <a:ext cx="7315200"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Capacity by refinery | thousand bbl/day | all products</a:t>
            </a:r>
          </a:p>
        </p:txBody>
      </p:sp>
      <p:sp>
        <p:nvSpPr>
          <p:cNvPr id="80" name="Refinery legend Sasol"/>
          <p:cNvSpPr/>
          <p:nvPr/>
        </p:nvSpPr>
        <p:spPr>
          <a:xfrm>
            <a:off x="457200" y="2103120"/>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400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Sasol</a:t>
            </a:r>
          </a:p>
        </p:txBody>
      </p:sp>
      <p:sp>
        <p:nvSpPr>
          <p:cNvPr id="82" name="Refinery legend Natref"/>
          <p:cNvSpPr/>
          <p:nvPr/>
        </p:nvSpPr>
        <p:spPr>
          <a:xfrm>
            <a:off x="2286000" y="2103120"/>
            <a:ext cx="118872" cy="11887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24688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Natref</a:t>
            </a:r>
          </a:p>
        </p:txBody>
      </p:sp>
      <p:sp>
        <p:nvSpPr>
          <p:cNvPr id="84" name="Refinery legend Astron Energy"/>
          <p:cNvSpPr/>
          <p:nvPr/>
        </p:nvSpPr>
        <p:spPr>
          <a:xfrm>
            <a:off x="4114800" y="2103120"/>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42976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Astron Energy</a:t>
            </a:r>
          </a:p>
        </p:txBody>
      </p:sp>
      <p:sp>
        <p:nvSpPr>
          <p:cNvPr id="86" name="Refinery legend PetroSA"/>
          <p:cNvSpPr/>
          <p:nvPr/>
        </p:nvSpPr>
        <p:spPr>
          <a:xfrm>
            <a:off x="5943600" y="2103120"/>
            <a:ext cx="118872" cy="118872"/>
          </a:xfrm>
          <a:prstGeom prst="rect">
            <a:avLst/>
          </a:prstGeom>
          <a:solidFill>
            <a:srgbClr val="E3EB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6126480" y="2075688"/>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PetroSA</a:t>
            </a:r>
          </a:p>
        </p:txBody>
      </p:sp>
      <p:sp>
        <p:nvSpPr>
          <p:cNvPr id="88" name="Refinery legend Enref"/>
          <p:cNvSpPr/>
          <p:nvPr/>
        </p:nvSpPr>
        <p:spPr>
          <a:xfrm>
            <a:off x="457200" y="2368296"/>
            <a:ext cx="118872" cy="118872"/>
          </a:xfrm>
          <a:prstGeom prst="rect">
            <a:avLst/>
          </a:prstGeom>
          <a:solidFill>
            <a:srgbClr val="7676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400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Enref</a:t>
            </a:r>
          </a:p>
        </p:txBody>
      </p:sp>
      <p:sp>
        <p:nvSpPr>
          <p:cNvPr id="90" name="Refinery legend Sapref"/>
          <p:cNvSpPr/>
          <p:nvPr/>
        </p:nvSpPr>
        <p:spPr>
          <a:xfrm>
            <a:off x="2286000" y="2368296"/>
            <a:ext cx="118872" cy="11887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24688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Sapref</a:t>
            </a:r>
          </a:p>
        </p:txBody>
      </p:sp>
      <p:sp>
        <p:nvSpPr>
          <p:cNvPr id="92" name="Refinery legend SAPREF / CEF proposal"/>
          <p:cNvSpPr/>
          <p:nvPr/>
        </p:nvSpPr>
        <p:spPr>
          <a:xfrm>
            <a:off x="4114800" y="2368296"/>
            <a:ext cx="118872" cy="118872"/>
          </a:xfrm>
          <a:prstGeom prst="rect">
            <a:avLst/>
          </a:prstGeom>
          <a:solidFill>
            <a:srgbClr val="BDBE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297680" y="2340864"/>
            <a:ext cx="1627632" cy="219456"/>
          </a:xfrm>
          <a:prstGeom prst="rect">
            <a:avLst/>
          </a:prstGeom>
          <a:noFill/>
        </p:spPr>
        <p:txBody>
          <a:bodyPr wrap="square" lIns="0" rIns="0" tIns="0" bIns="0">
            <a:spAutoFit/>
          </a:bodyPr>
          <a:lstStyle/>
          <a:p>
            <a:pPr>
              <a:spcAft>
                <a:spcPts val="300"/>
              </a:spcAft>
              <a:defRPr sz="900" b="0">
                <a:solidFill>
                  <a:srgbClr val="000000"/>
                </a:solidFill>
                <a:latin typeface="Lato"/>
              </a:defRPr>
            </a:pPr>
            <a:r>
              <a:t>SAPREF / CEF proposal</a:t>
            </a:r>
          </a:p>
        </p:txBody>
      </p:sp>
      <p:graphicFrame>
        <p:nvGraphicFramePr>
          <p:cNvPr id="94" name="Chart 93"/>
          <p:cNvGraphicFramePr>
            <a:graphicFrameLocks noGrp="1"/>
          </p:cNvGraphicFramePr>
          <p:nvPr/>
        </p:nvGraphicFramePr>
        <p:xfrm>
          <a:off x="457200" y="2743200"/>
          <a:ext cx="7315200" cy="3063240"/>
        </p:xfrm>
        <a:graphic>
          <a:graphicData uri="http://schemas.openxmlformats.org/drawingml/2006/chart">
            <c:chart xmlns:c="http://schemas.openxmlformats.org/drawingml/2006/chart" r:id="rId9"/>
          </a:graphicData>
        </a:graphic>
      </p:graphicFrame>
      <p:sp>
        <p:nvSpPr>
          <p:cNvPr id="95" name="TextBox 94"/>
          <p:cNvSpPr txBox="1"/>
          <p:nvPr/>
        </p:nvSpPr>
        <p:spPr>
          <a:xfrm>
            <a:off x="457200" y="5952744"/>
            <a:ext cx="7315200" cy="365760"/>
          </a:xfrm>
          <a:prstGeom prst="rect">
            <a:avLst/>
          </a:prstGeom>
          <a:noFill/>
        </p:spPr>
        <p:txBody>
          <a:bodyPr wrap="square" lIns="0" rIns="0" tIns="0" bIns="0">
            <a:spAutoFit/>
          </a:bodyPr>
          <a:lstStyle/>
          <a:p>
            <a:pPr>
              <a:spcAft>
                <a:spcPts val="300"/>
              </a:spcAft>
              <a:defRPr sz="1000" b="0">
                <a:solidFill>
                  <a:srgbClr val="000000"/>
                </a:solidFill>
                <a:latin typeface="Lato"/>
              </a:defRPr>
            </a:pPr>
            <a:r>
              <a:t>2016-2025: reported capacity | 2026 onward: held-flat base + conditional addition</a:t>
            </a:r>
          </a:p>
        </p:txBody>
      </p:sp>
      <p:sp>
        <p:nvSpPr>
          <p:cNvPr id="96" name="TextBox 95"/>
          <p:cNvSpPr txBox="1"/>
          <p:nvPr/>
        </p:nvSpPr>
        <p:spPr>
          <a:xfrm>
            <a:off x="8046720" y="2404872"/>
            <a:ext cx="2834640" cy="530352"/>
          </a:xfrm>
          <a:prstGeom prst="rect">
            <a:avLst/>
          </a:prstGeom>
          <a:noFill/>
        </p:spPr>
        <p:txBody>
          <a:bodyPr wrap="square" lIns="0" rIns="0" tIns="0" bIns="0">
            <a:spAutoFit/>
          </a:bodyPr>
          <a:lstStyle/>
          <a:p>
            <a:pPr>
              <a:spcAft>
                <a:spcPts val="300"/>
              </a:spcAft>
              <a:defRPr sz="2500" b="1">
                <a:solidFill>
                  <a:srgbClr val="0A2373"/>
                </a:solidFill>
                <a:latin typeface="Lato"/>
              </a:defRPr>
            </a:pPr>
            <a:r>
              <a:t>358 → 758</a:t>
            </a:r>
          </a:p>
        </p:txBody>
      </p:sp>
      <p:sp>
        <p:nvSpPr>
          <p:cNvPr id="97" name="TextBox 96"/>
          <p:cNvSpPr txBox="1"/>
          <p:nvPr/>
        </p:nvSpPr>
        <p:spPr>
          <a:xfrm>
            <a:off x="8046720" y="2944368"/>
            <a:ext cx="2834640" cy="457200"/>
          </a:xfrm>
          <a:prstGeom prst="rect">
            <a:avLst/>
          </a:prstGeom>
          <a:noFill/>
        </p:spPr>
        <p:txBody>
          <a:bodyPr wrap="square" lIns="0" rIns="0" tIns="0" bIns="0">
            <a:spAutoFit/>
          </a:bodyPr>
          <a:lstStyle/>
          <a:p>
            <a:pPr>
              <a:spcAft>
                <a:spcPts val="300"/>
              </a:spcAft>
              <a:defRPr sz="1200" b="0">
                <a:solidFill>
                  <a:srgbClr val="000000"/>
                </a:solidFill>
                <a:latin typeface="Lato"/>
              </a:defRPr>
            </a:pPr>
            <a:r>
              <a:t>thousand bbl/day in the conditional case</a:t>
            </a:r>
          </a:p>
        </p:txBody>
      </p:sp>
      <p:sp>
        <p:nvSpPr>
          <p:cNvPr id="98" name="TextBox 97"/>
          <p:cNvSpPr txBox="1"/>
          <p:nvPr/>
        </p:nvSpPr>
        <p:spPr>
          <a:xfrm>
            <a:off x="8046720" y="3630168"/>
            <a:ext cx="2834640" cy="914400"/>
          </a:xfrm>
          <a:prstGeom prst="rect">
            <a:avLst/>
          </a:prstGeom>
          <a:noFill/>
        </p:spPr>
        <p:txBody>
          <a:bodyPr wrap="square" lIns="0" rIns="0" tIns="0" bIns="0">
            <a:spAutoFit/>
          </a:bodyPr>
          <a:lstStyle/>
          <a:p>
            <a:pPr>
              <a:spcAft>
                <a:spcPts val="300"/>
              </a:spcAft>
              <a:defRPr sz="1300" b="1">
                <a:solidFill>
                  <a:srgbClr val="000000"/>
                </a:solidFill>
                <a:latin typeface="Lato"/>
              </a:defRPr>
            </a:pPr>
            <a:r>
              <a:t>2029 assumed FID</a:t>
            </a:r>
          </a:p>
          <a:p>
            <a:pPr>
              <a:spcAft>
                <a:spcPts val="300"/>
              </a:spcAft>
              <a:defRPr sz="1300" b="1">
                <a:solidFill>
                  <a:srgbClr val="000000"/>
                </a:solidFill>
                <a:latin typeface="Lato"/>
              </a:defRPr>
            </a:pPr>
            <a:r>
              <a:t>+ 48 months construction</a:t>
            </a:r>
          </a:p>
          <a:p>
            <a:pPr>
              <a:spcAft>
                <a:spcPts val="300"/>
              </a:spcAft>
              <a:defRPr sz="1300" b="1">
                <a:solidFill>
                  <a:srgbClr val="000000"/>
                </a:solidFill>
                <a:latin typeface="Lato"/>
              </a:defRPr>
            </a:pPr>
            <a:r>
              <a:t>= 2033 assumed availability</a:t>
            </a:r>
          </a:p>
        </p:txBody>
      </p:sp>
      <p:sp>
        <p:nvSpPr>
          <p:cNvPr id="99" name="TextBox 98"/>
          <p:cNvSpPr txBox="1"/>
          <p:nvPr/>
        </p:nvSpPr>
        <p:spPr>
          <a:xfrm>
            <a:off x="8046720" y="4828032"/>
            <a:ext cx="2834640" cy="1033271"/>
          </a:xfrm>
          <a:prstGeom prst="rect">
            <a:avLst/>
          </a:prstGeom>
          <a:noFill/>
        </p:spPr>
        <p:txBody>
          <a:bodyPr wrap="square" lIns="0" rIns="0" tIns="0" bIns="0">
            <a:spAutoFit/>
          </a:bodyPr>
          <a:lstStyle/>
          <a:p>
            <a:pPr>
              <a:spcAft>
                <a:spcPts val="300"/>
              </a:spcAft>
              <a:defRPr sz="1200" b="0">
                <a:solidFill>
                  <a:srgbClr val="000000"/>
                </a:solidFill>
                <a:latin typeface="Lato"/>
              </a:defRPr>
            </a:pPr>
            <a:r>
              <a:t>No-addition case stays at 358.</a:t>
            </a:r>
          </a:p>
          <a:p>
            <a:pPr>
              <a:spcAft>
                <a:spcPts val="300"/>
              </a:spcAft>
              <a:defRPr sz="1200" b="0">
                <a:solidFill>
                  <a:srgbClr val="000000"/>
                </a:solidFill>
                <a:latin typeface="Lato"/>
              </a:defRPr>
            </a:pPr>
            <a:r>
              <a:t>The CEF project is not committed capacity; timing is an existing reporting assumption.</a:t>
            </a:r>
          </a:p>
        </p:txBody>
      </p:sp>
      <p:cxnSp>
        <p:nvCxnSpPr>
          <p:cNvPr id="100" name="Connector 99"/>
          <p:cNvCxnSpPr/>
          <p:nvPr/>
        </p:nvCxnSpPr>
        <p:spPr>
          <a:xfrm>
            <a:off x="7882127"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046720" y="1947672"/>
            <a:ext cx="306324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457200" y="1947672"/>
            <a:ext cx="7223760"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8046720" y="1627632"/>
            <a:ext cx="3063240" cy="310896"/>
          </a:xfrm>
          <a:prstGeom prst="rect">
            <a:avLst/>
          </a:prstGeom>
          <a:noFill/>
        </p:spPr>
        <p:txBody>
          <a:bodyPr wrap="square" lIns="0" rIns="0" tIns="0" bIns="0">
            <a:spAutoFit/>
          </a:bodyPr>
          <a:lstStyle/>
          <a:p>
            <a:pPr>
              <a:spcAft>
                <a:spcPts val="300"/>
              </a:spcAft>
              <a:defRPr sz="1400" b="1">
                <a:solidFill>
                  <a:srgbClr val="000000"/>
                </a:solidFill>
                <a:latin typeface="Lato"/>
              </a:defRPr>
            </a:pPr>
            <a:r>
              <a:t>Insights</a:t>
            </a:r>
          </a:p>
        </p:txBody>
      </p:sp>
      <p:sp>
        <p:nvSpPr>
          <p:cNvPr id="133" name="SCR divider marker: circle"/>
          <p:cNvSpPr/>
          <p:nvPr/>
        </p:nvSpPr>
        <p:spPr>
          <a:xfrm>
            <a:off x="7763255"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4" name="SCR divider marker: arrow"/>
          <p:cNvCxnSpPr/>
          <p:nvPr/>
        </p:nvCxnSpPr>
        <p:spPr>
          <a:xfrm>
            <a:off x="7850123"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5" name="SCR divider marker: arrow"/>
          <p:cNvCxnSpPr/>
          <p:nvPr/>
        </p:nvCxnSpPr>
        <p:spPr>
          <a:xfrm flipH="1">
            <a:off x="7850123"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 viable customer route must be competitive and still earn the supplier's required margin</a:t>
            </a:r>
          </a:p>
        </p:txBody>
      </p:sp>
      <p:sp>
        <p:nvSpPr>
          <p:cNvPr id="3" name="Slide Number Placeholder"/>
          <p:cNvSpPr>
            <a:spLocks noGrp="1"/>
          </p:cNvSpPr>
          <p:nvPr>
            <p:ph type="sldNum" sz="quarter" idx="12"/>
          </p:nvPr>
        </p:nvSpPr>
        <p:spPr/>
        <p:txBody>
          <a:bodyPr/>
          <a:lstStyle/>
          <a:p>
            <a:pPr>
              <a:defRPr sz="1000">
                <a:latin typeface="Lato"/>
              </a:defRPr>
            </a:pPr>
            <a:r>
              <a:t>8</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Map: existing illustrative road costs only; grid cells are not customers. Pipeline/rail costs, tariffs, storage and rights remain unverified.
Both tests concern supplier delivered economics, not Vopak terminal margin. No numerical breakpoint or validated catchment is claimed.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1"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2"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3"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4"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5"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6"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7"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88"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89"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0"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1"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2"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3"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4"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5"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6"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7"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8"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199"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0"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1"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2"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3"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4"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5"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6"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7"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8"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09"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0"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1"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2"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3"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4"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5"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6"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7"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8"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19"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0"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1"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2"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3"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4"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5"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6"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7"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8"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29"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0"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1"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2"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3"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4"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5"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6"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7"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8"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39"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0"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1"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2"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3"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4"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5"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6"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7"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8"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49"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0"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1"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2"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3"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4"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5"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6"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7"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8"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59"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0"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1"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2"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3263"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4"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5"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6"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7"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8"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69"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0"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271"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2"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3"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4"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5"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6"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7"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8"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79"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0"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1"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2"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3"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3284"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3285"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6"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7"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8"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89"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0"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1"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2"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3"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4"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5"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6"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7"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8"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99"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3300"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01"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3302"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3"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4"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5"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6"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7"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08"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09"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0"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1"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2"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3"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4"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5"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316"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17"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18"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319"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0"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1"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2"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3"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4"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5"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3326"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7"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8"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3329"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3330"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1"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2"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3333"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4"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3335"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6"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3337"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38"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3339"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0"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3341"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42"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3343"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sp>
        <p:nvSpPr>
          <p:cNvPr id="2801" name="TextBox 2800"/>
          <p:cNvSpPr txBox="1"/>
          <p:nvPr/>
        </p:nvSpPr>
        <p:spPr>
          <a:xfrm>
            <a:off x="457200" y="1627632"/>
            <a:ext cx="6446520" cy="384048"/>
          </a:xfrm>
          <a:prstGeom prst="rect">
            <a:avLst/>
          </a:prstGeom>
          <a:noFill/>
        </p:spPr>
        <p:txBody>
          <a:bodyPr wrap="none" lIns="22860" rIns="22860" tIns="0" bIns="0">
            <a:no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5" name="Transnet lease overlay: Isosceles Triangle 3354"/>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6" name="Transnet lease overlay: Connector 3355"/>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57" name="Transnet lease overlay: TextBox 3356"/>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358" name="Transnet lease overlay: Isosceles Triangle 3357"/>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59" name="Transnet lease overlay: Connector 3358"/>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0" name="Transnet lease overlay: TextBox 3359"/>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361" name="Transnet lease overlay: Isosceles Triangle 3360"/>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2" name="Transnet lease overlay: Connector 3361"/>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3" name="Transnet lease overlay: TextBox 3362"/>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364" name="Transnet lease overlay: Isosceles Triangle 3363"/>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5" name="Transnet lease overlay: Connector 3364"/>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6" name="Transnet lease overlay: TextBox 3365"/>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367" name="Transnet lease overlay: Isosceles Triangle 3366"/>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368" name="Transnet lease overlay: Connector 3367"/>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69" name="Transnet lease overlay: TextBox 3368"/>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370" name="Transnet lease overlay: TextBox 3369"/>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371" name="Transnet lease overlay: Isosceles Triangle 3370"/>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90" name="TextBox 3389"/>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4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3411" name="TextBox 3410"/>
          <p:cNvSpPr txBox="1"/>
          <p:nvPr/>
        </p:nvSpPr>
        <p:spPr>
          <a:xfrm>
            <a:off x="7424927" y="1627632"/>
            <a:ext cx="3685032" cy="384048"/>
          </a:xfrm>
          <a:prstGeom prst="rect">
            <a:avLst/>
          </a:prstGeom>
          <a:noFill/>
        </p:spPr>
        <p:txBody>
          <a:bodyPr wrap="square" lIns="0" rIns="0" tIns="0" bIns="0">
            <a:spAutoFit/>
          </a:bodyPr>
          <a:lstStyle/>
          <a:p>
            <a:pPr>
              <a:spcAft>
                <a:spcPts val="300"/>
              </a:spcAft>
              <a:defRPr sz="1400" b="1">
                <a:solidFill>
                  <a:srgbClr val="000000"/>
                </a:solidFill>
                <a:latin typeface="Lato"/>
              </a:defRPr>
            </a:pPr>
            <a:r>
              <a:t>Two tests for each customer and product</a:t>
            </a:r>
          </a:p>
        </p:txBody>
      </p:sp>
      <p:sp>
        <p:nvSpPr>
          <p:cNvPr id="3412" name="TextBox 3411"/>
          <p:cNvSpPr txBox="1"/>
          <p:nvPr/>
        </p:nvSpPr>
        <p:spPr>
          <a:xfrm>
            <a:off x="7424927" y="2157984"/>
            <a:ext cx="3685032" cy="265176"/>
          </a:xfrm>
          <a:prstGeom prst="rect">
            <a:avLst/>
          </a:prstGeom>
          <a:noFill/>
        </p:spPr>
        <p:txBody>
          <a:bodyPr wrap="square" lIns="0" rIns="0" tIns="0" bIns="0">
            <a:spAutoFit/>
          </a:bodyPr>
          <a:lstStyle/>
          <a:p>
            <a:pPr>
              <a:spcAft>
                <a:spcPts val="300"/>
              </a:spcAft>
              <a:defRPr sz="1300" b="1">
                <a:solidFill>
                  <a:srgbClr val="0A2373"/>
                </a:solidFill>
                <a:latin typeface="Lato"/>
              </a:defRPr>
            </a:pPr>
            <a:r>
              <a:t>1 | Competitive breakpoint</a:t>
            </a:r>
          </a:p>
        </p:txBody>
      </p:sp>
      <p:sp>
        <p:nvSpPr>
          <p:cNvPr id="3413" name="TextBox 3412"/>
          <p:cNvSpPr txBox="1"/>
          <p:nvPr/>
        </p:nvSpPr>
        <p:spPr>
          <a:xfrm>
            <a:off x="7424927" y="2551176"/>
            <a:ext cx="3685032" cy="576072"/>
          </a:xfrm>
          <a:prstGeom prst="rect">
            <a:avLst/>
          </a:prstGeom>
          <a:noFill/>
        </p:spPr>
        <p:txBody>
          <a:bodyPr wrap="square" lIns="0" rIns="0" tIns="0" bIns="0">
            <a:spAutoFit/>
          </a:bodyPr>
          <a:lstStyle/>
          <a:p>
            <a:pPr>
              <a:spcAft>
                <a:spcPts val="300"/>
              </a:spcAft>
              <a:defRPr sz="1200" b="1">
                <a:solidFill>
                  <a:srgbClr val="000000"/>
                </a:solidFill>
                <a:latin typeface="Lato"/>
              </a:defRPr>
            </a:pPr>
            <a:r>
              <a:t>Delivered cost via Durban / Lesedi</a:t>
            </a:r>
          </a:p>
          <a:p>
            <a:pPr>
              <a:spcAft>
                <a:spcPts val="300"/>
              </a:spcAft>
              <a:defRPr sz="1200" b="1">
                <a:solidFill>
                  <a:srgbClr val="000000"/>
                </a:solidFill>
                <a:latin typeface="Lato"/>
              </a:defRPr>
            </a:pPr>
            <a:r>
              <a:t>= lowest feasible alternative delivered cost</a:t>
            </a:r>
          </a:p>
        </p:txBody>
      </p:sp>
      <p:sp>
        <p:nvSpPr>
          <p:cNvPr id="3414" name="TextBox 3413"/>
          <p:cNvSpPr txBox="1"/>
          <p:nvPr/>
        </p:nvSpPr>
        <p:spPr>
          <a:xfrm>
            <a:off x="7424927" y="3163824"/>
            <a:ext cx="3685032" cy="557784"/>
          </a:xfrm>
          <a:prstGeom prst="rect">
            <a:avLst/>
          </a:prstGeom>
          <a:noFill/>
        </p:spPr>
        <p:txBody>
          <a:bodyPr wrap="square" lIns="0" rIns="0" tIns="0" bIns="0">
            <a:spAutoFit/>
          </a:bodyPr>
          <a:lstStyle/>
          <a:p>
            <a:pPr>
              <a:spcAft>
                <a:spcPts val="300"/>
              </a:spcAft>
              <a:defRPr sz="1100" b="0">
                <a:solidFill>
                  <a:srgbClr val="000000"/>
                </a:solidFill>
                <a:latin typeface="Lato"/>
              </a:defRPr>
            </a:pPr>
            <a:r>
              <a:t>Above this cost, the route loses its cost advantage. Compare the same product, destination and service terms.</a:t>
            </a:r>
          </a:p>
        </p:txBody>
      </p:sp>
      <p:sp>
        <p:nvSpPr>
          <p:cNvPr id="3415" name="TextBox 3414"/>
          <p:cNvSpPr txBox="1"/>
          <p:nvPr/>
        </p:nvSpPr>
        <p:spPr>
          <a:xfrm>
            <a:off x="7424927" y="3867912"/>
            <a:ext cx="3685032" cy="265176"/>
          </a:xfrm>
          <a:prstGeom prst="rect">
            <a:avLst/>
          </a:prstGeom>
          <a:noFill/>
        </p:spPr>
        <p:txBody>
          <a:bodyPr wrap="square" lIns="0" rIns="0" tIns="0" bIns="0">
            <a:spAutoFit/>
          </a:bodyPr>
          <a:lstStyle/>
          <a:p>
            <a:pPr>
              <a:spcAft>
                <a:spcPts val="300"/>
              </a:spcAft>
              <a:defRPr sz="1300" b="1">
                <a:solidFill>
                  <a:srgbClr val="0A2373"/>
                </a:solidFill>
                <a:latin typeface="Lato"/>
              </a:defRPr>
            </a:pPr>
            <a:r>
              <a:t>2 | Margin breakpoint</a:t>
            </a:r>
          </a:p>
        </p:txBody>
      </p:sp>
      <p:sp>
        <p:nvSpPr>
          <p:cNvPr id="3416" name="TextBox 3415"/>
          <p:cNvSpPr txBox="1"/>
          <p:nvPr/>
        </p:nvSpPr>
        <p:spPr>
          <a:xfrm>
            <a:off x="7424927" y="4261104"/>
            <a:ext cx="3685032" cy="749808"/>
          </a:xfrm>
          <a:prstGeom prst="rect">
            <a:avLst/>
          </a:prstGeom>
          <a:noFill/>
        </p:spPr>
        <p:txBody>
          <a:bodyPr wrap="square" lIns="0" rIns="0" tIns="0" bIns="0">
            <a:spAutoFit/>
          </a:bodyPr>
          <a:lstStyle/>
          <a:p>
            <a:pPr>
              <a:spcAft>
                <a:spcPts val="300"/>
              </a:spcAft>
              <a:defRPr sz="1200" b="1">
                <a:solidFill>
                  <a:srgbClr val="000000"/>
                </a:solidFill>
                <a:latin typeface="Lato"/>
              </a:defRPr>
            </a:pPr>
            <a:r>
              <a:t>Maximum storage + transport cost</a:t>
            </a:r>
          </a:p>
          <a:p>
            <a:pPr>
              <a:spcAft>
                <a:spcPts val="300"/>
              </a:spcAft>
              <a:defRPr sz="1200" b="1">
                <a:solidFill>
                  <a:srgbClr val="000000"/>
                </a:solidFill>
                <a:latin typeface="Lato"/>
              </a:defRPr>
            </a:pPr>
            <a:r>
              <a:t>= delivered price − fuel cost</a:t>
            </a:r>
          </a:p>
          <a:p>
            <a:pPr>
              <a:spcAft>
                <a:spcPts val="300"/>
              </a:spcAft>
              <a:defRPr sz="1200" b="1">
                <a:solidFill>
                  <a:srgbClr val="000000"/>
                </a:solidFill>
                <a:latin typeface="Lato"/>
              </a:defRPr>
            </a:pPr>
            <a:r>
              <a:t>− other costs − required supplier margin</a:t>
            </a:r>
          </a:p>
        </p:txBody>
      </p:sp>
      <p:sp>
        <p:nvSpPr>
          <p:cNvPr id="3417" name="TextBox 3416"/>
          <p:cNvSpPr txBox="1"/>
          <p:nvPr/>
        </p:nvSpPr>
        <p:spPr>
          <a:xfrm>
            <a:off x="7424927" y="5102352"/>
            <a:ext cx="3685032" cy="484632"/>
          </a:xfrm>
          <a:prstGeom prst="rect">
            <a:avLst/>
          </a:prstGeom>
          <a:noFill/>
        </p:spPr>
        <p:txBody>
          <a:bodyPr wrap="square" lIns="0" rIns="0" tIns="0" bIns="0">
            <a:spAutoFit/>
          </a:bodyPr>
          <a:lstStyle/>
          <a:p>
            <a:pPr>
              <a:spcAft>
                <a:spcPts val="300"/>
              </a:spcAft>
              <a:defRPr sz="1100" b="0">
                <a:solidFill>
                  <a:srgbClr val="000000"/>
                </a:solidFill>
                <a:latin typeface="Lato"/>
              </a:defRPr>
            </a:pPr>
            <a:r>
              <a:t>Above this allowance, the route fails the margin target even if it is the cheapest option.</a:t>
            </a:r>
          </a:p>
        </p:txBody>
      </p:sp>
      <p:sp>
        <p:nvSpPr>
          <p:cNvPr id="3418" name="TextBox 3417"/>
          <p:cNvSpPr txBox="1"/>
          <p:nvPr/>
        </p:nvSpPr>
        <p:spPr>
          <a:xfrm>
            <a:off x="7424927" y="5705856"/>
            <a:ext cx="3685032" cy="246888"/>
          </a:xfrm>
          <a:prstGeom prst="rect">
            <a:avLst/>
          </a:prstGeom>
          <a:noFill/>
        </p:spPr>
        <p:txBody>
          <a:bodyPr wrap="square" lIns="0" rIns="0" tIns="0" bIns="0">
            <a:spAutoFit/>
          </a:bodyPr>
          <a:lstStyle/>
          <a:p>
            <a:pPr>
              <a:spcAft>
                <a:spcPts val="300"/>
              </a:spcAft>
              <a:defRPr sz="1200" b="1">
                <a:solidFill>
                  <a:srgbClr val="0A2373"/>
                </a:solidFill>
                <a:latin typeface="Lato"/>
              </a:defRPr>
            </a:pPr>
            <a:r>
              <a:t>Thresholds not yet quantified</a:t>
            </a:r>
          </a:p>
        </p:txBody>
      </p:sp>
      <p:sp>
        <p:nvSpPr>
          <p:cNvPr id="3419" name="TextBox 3418"/>
          <p:cNvSpPr txBox="1"/>
          <p:nvPr/>
        </p:nvSpPr>
        <p:spPr>
          <a:xfrm>
            <a:off x="7424927" y="6025896"/>
            <a:ext cx="3685032" cy="356616"/>
          </a:xfrm>
          <a:prstGeom prst="rect">
            <a:avLst/>
          </a:prstGeom>
          <a:noFill/>
        </p:spPr>
        <p:txBody>
          <a:bodyPr wrap="square" lIns="0" rIns="0" tIns="0" bIns="0">
            <a:spAutoFit/>
          </a:bodyPr>
          <a:lstStyle/>
          <a:p>
            <a:pPr>
              <a:spcAft>
                <a:spcPts val="300"/>
              </a:spcAft>
              <a:defRPr sz="900" b="0">
                <a:solidFill>
                  <a:srgbClr val="000000"/>
                </a:solidFill>
                <a:latin typeface="Lato"/>
              </a:defRPr>
            </a:pPr>
            <a:r>
              <a:t>Need customer prices, route quotes, handling, stock costs and required margin. Owner: Nigel / Manish.</a:t>
            </a:r>
          </a:p>
        </p:txBody>
      </p:sp>
      <p:cxnSp>
        <p:nvCxnSpPr>
          <p:cNvPr id="3420" name="Connector 3419"/>
          <p:cNvCxnSpPr/>
          <p:nvPr/>
        </p:nvCxnSpPr>
        <p:spPr>
          <a:xfrm>
            <a:off x="7205472" y="1947672"/>
            <a:ext cx="0" cy="4361688"/>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421" name="Connector 3420"/>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42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2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42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Matola and Walvis Bay offer alternative gateways; their impact on Durban is unproven</a:t>
            </a:r>
          </a:p>
        </p:txBody>
      </p:sp>
      <p:sp>
        <p:nvSpPr>
          <p:cNvPr id="3" name="Slide Number Placeholder"/>
          <p:cNvSpPr>
            <a:spLocks noGrp="1"/>
          </p:cNvSpPr>
          <p:nvPr>
            <p:ph type="sldNum" sz="quarter" idx="12"/>
          </p:nvPr>
        </p:nvSpPr>
        <p:spPr/>
        <p:txBody>
          <a:bodyPr/>
          <a:lstStyle/>
          <a:p>
            <a:pPr>
              <a:defRPr sz="1000">
                <a:latin typeface="Lato"/>
              </a:defRPr>
            </a:pPr>
            <a:r>
              <a:t>9</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Existing gateways and potential inland distribution nodes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138"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139"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140"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141"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142"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143"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144"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5"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6"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49"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150"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14300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 demand</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6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63" name="TextBox 162"/>
          <p:cNvSpPr txBox="1"/>
          <p:nvPr/>
        </p:nvSpPr>
        <p:spPr>
          <a:xfrm>
            <a:off x="7424927" y="1627632"/>
            <a:ext cx="3685032" cy="310896"/>
          </a:xfrm>
          <a:prstGeom prst="rect">
            <a:avLst/>
          </a:prstGeom>
          <a:noFill/>
        </p:spPr>
        <p:txBody>
          <a:bodyPr wrap="square" lIns="0" rIns="0" tIns="0" bIns="0">
            <a:spAutoFit/>
          </a:bodyPr>
          <a:lstStyle/>
          <a:p>
            <a:pPr>
              <a:spcAft>
                <a:spcPts val="300"/>
              </a:spcAft>
              <a:defRPr sz="1400" b="1">
                <a:solidFill>
                  <a:srgbClr val="000000"/>
                </a:solidFill>
                <a:latin typeface="Lato"/>
              </a:defRPr>
            </a:pPr>
            <a:r>
              <a:rPr sz="1400"/>
              <a:t>Implication for Vopak</a:t>
            </a:r>
          </a:p>
        </p:txBody>
      </p:sp>
      <p:sp>
        <p:nvSpPr>
          <p:cNvPr id="164" name="TextBox 163"/>
          <p:cNvSpPr txBox="1"/>
          <p:nvPr/>
        </p:nvSpPr>
        <p:spPr>
          <a:xfrm>
            <a:off x="7424927" y="2194560"/>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Existing alternative gateways</a:t>
            </a:r>
          </a:p>
        </p:txBody>
      </p:sp>
      <p:sp>
        <p:nvSpPr>
          <p:cNvPr id="165" name="TextBox 164"/>
          <p:cNvSpPr txBox="1"/>
          <p:nvPr/>
        </p:nvSpPr>
        <p:spPr>
          <a:xfrm>
            <a:off x="7424927" y="2542032"/>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published inventory includes 60,000 m3 of petrol/diesel storage at Matola's GIMTL and 65,000 m3 at Walvis Bay's NOSF.</a:t>
            </a:r>
          </a:p>
        </p:txBody>
      </p:sp>
      <p:sp>
        <p:nvSpPr>
          <p:cNvPr id="166" name="TextBox 165"/>
          <p:cNvSpPr txBox="1"/>
          <p:nvPr/>
        </p:nvSpPr>
        <p:spPr>
          <a:xfrm>
            <a:off x="7424927" y="3236976"/>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Potential inland nodes</a:t>
            </a:r>
          </a:p>
        </p:txBody>
      </p:sp>
      <p:sp>
        <p:nvSpPr>
          <p:cNvPr id="167" name="TextBox 166"/>
          <p:cNvSpPr txBox="1"/>
          <p:nvPr/>
        </p:nvSpPr>
        <p:spPr>
          <a:xfrm>
            <a:off x="7424927" y="3584448"/>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The Transnet depot lease offers identify possible inland distribution nodes. Refurbishment, licensing and commercial operation remain conditional.</a:t>
            </a:r>
          </a:p>
        </p:txBody>
      </p:sp>
      <p:sp>
        <p:nvSpPr>
          <p:cNvPr id="168" name="TextBox 167"/>
          <p:cNvSpPr txBox="1"/>
          <p:nvPr/>
        </p:nvSpPr>
        <p:spPr>
          <a:xfrm>
            <a:off x="7424927" y="4279392"/>
            <a:ext cx="3685032" cy="310896"/>
          </a:xfrm>
          <a:prstGeom prst="rect">
            <a:avLst/>
          </a:prstGeom>
          <a:noFill/>
        </p:spPr>
        <p:txBody>
          <a:bodyPr wrap="square" lIns="0" rIns="0" tIns="0" bIns="0">
            <a:spAutoFit/>
          </a:bodyPr>
          <a:lstStyle/>
          <a:p>
            <a:pPr>
              <a:spcAft>
                <a:spcPts val="300"/>
              </a:spcAft>
              <a:defRPr sz="1250" b="1">
                <a:solidFill>
                  <a:srgbClr val="000000"/>
                </a:solidFill>
                <a:latin typeface="Lato"/>
              </a:defRPr>
            </a:pPr>
            <a:r>
              <a:t>What would demonstrate a market shift</a:t>
            </a:r>
          </a:p>
        </p:txBody>
      </p:sp>
      <p:sp>
        <p:nvSpPr>
          <p:cNvPr id="169" name="TextBox 168"/>
          <p:cNvSpPr txBox="1"/>
          <p:nvPr/>
        </p:nvSpPr>
        <p:spPr>
          <a:xfrm>
            <a:off x="7424927" y="4626864"/>
            <a:ext cx="3685032" cy="667512"/>
          </a:xfrm>
          <a:prstGeom prst="rect">
            <a:avLst/>
          </a:prstGeom>
          <a:noFill/>
        </p:spPr>
        <p:txBody>
          <a:bodyPr wrap="square" lIns="0" rIns="0" tIns="0" bIns="0">
            <a:spAutoFit/>
          </a:bodyPr>
          <a:lstStyle/>
          <a:p>
            <a:pPr>
              <a:spcAft>
                <a:spcPts val="300"/>
              </a:spcAft>
              <a:defRPr sz="1150" b="0">
                <a:solidFill>
                  <a:srgbClr val="000000"/>
                </a:solidFill>
                <a:latin typeface="Lato"/>
              </a:defRPr>
            </a:pPr>
            <a:r>
              <a:t>Commissioning dates, growth in handled volumes and changes in delivered cost would show whether these nodes are changing inland supply patterns.</a:t>
            </a:r>
          </a:p>
        </p:txBody>
      </p:sp>
      <p:sp>
        <p:nvSpPr>
          <p:cNvPr id="170" name="TextBox 169"/>
          <p:cNvSpPr txBox="1"/>
          <p:nvPr/>
        </p:nvSpPr>
        <p:spPr>
          <a:xfrm>
            <a:off x="7424927" y="5431536"/>
            <a:ext cx="3685032" cy="256032"/>
          </a:xfrm>
          <a:prstGeom prst="rect">
            <a:avLst/>
          </a:prstGeom>
          <a:noFill/>
        </p:spPr>
        <p:txBody>
          <a:bodyPr wrap="square" lIns="0" rIns="0" tIns="0" bIns="0">
            <a:spAutoFit/>
          </a:bodyPr>
          <a:lstStyle/>
          <a:p>
            <a:pPr>
              <a:spcAft>
                <a:spcPts val="300"/>
              </a:spcAft>
              <a:defRPr sz="1250" b="1">
                <a:solidFill>
                  <a:srgbClr val="000000"/>
                </a:solidFill>
                <a:latin typeface="Lato"/>
              </a:defRPr>
            </a:pPr>
            <a:r>
              <a:t>Current work</a:t>
            </a:r>
          </a:p>
        </p:txBody>
      </p:sp>
      <p:sp>
        <p:nvSpPr>
          <p:cNvPr id="171" name="TextBox 170"/>
          <p:cNvSpPr txBox="1"/>
          <p:nvPr/>
        </p:nvSpPr>
        <p:spPr>
          <a:xfrm>
            <a:off x="7424927" y="5760720"/>
            <a:ext cx="3685032" cy="548640"/>
          </a:xfrm>
          <a:prstGeom prst="rect">
            <a:avLst/>
          </a:prstGeom>
          <a:noFill/>
        </p:spPr>
        <p:txBody>
          <a:bodyPr wrap="square" lIns="0" rIns="0" tIns="0" bIns="0">
            <a:spAutoFit/>
          </a:bodyPr>
          <a:lstStyle/>
          <a:p>
            <a:pPr>
              <a:spcAft>
                <a:spcPts val="300"/>
              </a:spcAft>
              <a:defRPr sz="1150" b="0">
                <a:solidFill>
                  <a:srgbClr val="000000"/>
                </a:solidFill>
                <a:latin typeface="Lato"/>
              </a:defRPr>
            </a:pPr>
            <a:r>
              <a:t>Compare the same product and inland destination. Record existing operations separately from proposed facilities.</a:t>
            </a:r>
          </a:p>
        </p:txBody>
      </p:sp>
      <p:cxnSp>
        <p:nvCxnSpPr>
          <p:cNvPr id="172" name="Connector 171"/>
          <p:cNvCxnSpPr/>
          <p:nvPr/>
        </p:nvCxnSpPr>
        <p:spPr>
          <a:xfrm>
            <a:off x="7424927" y="1947672"/>
            <a:ext cx="368503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Published Vopak tankage does not establish spare fuel capacity at Durban or Lesedi</a:t>
            </a:r>
          </a:p>
        </p:txBody>
      </p:sp>
      <p:sp>
        <p:nvSpPr>
          <p:cNvPr id="3" name="Slide Number Placeholder"/>
          <p:cNvSpPr>
            <a:spLocks noGrp="1"/>
          </p:cNvSpPr>
          <p:nvPr>
            <p:ph type="sldNum" sz="quarter" idx="12"/>
          </p:nvPr>
        </p:nvSpPr>
        <p:spPr/>
        <p:txBody>
          <a:bodyPr/>
          <a:lstStyle/>
          <a:p>
            <a:pPr>
              <a:defRPr sz="1000">
                <a:latin typeface="Lato"/>
              </a:defRPr>
            </a:pPr>
            <a:r>
              <a:t>10</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Source: Vopak; Bidvest; Burgan Cape; Transnet lease RFPs (5 Oct 2026). Operator sources and capacity bases in notes.</a:t>
            </a:r>
          </a:p>
        </p:txBody>
      </p:sp>
      <p:sp>
        <p:nvSpPr>
          <p:cNvPr id="9" name="TextBox 8"/>
          <p:cNvSpPr txBox="1"/>
          <p:nvPr/>
        </p:nvSpPr>
        <p:spPr>
          <a:xfrm>
            <a:off x="457200" y="1627632"/>
            <a:ext cx="6446520" cy="320040"/>
          </a:xfrm>
          <a:prstGeom prst="rect">
            <a:avLst/>
          </a:prstGeom>
          <a:noFill/>
        </p:spPr>
        <p:txBody>
          <a:bodyPr wrap="square" lIns="22860" rIns="22860" tIns="0" bIns="0">
            <a:noAutofit/>
          </a:bodyPr>
          <a:lstStyle/>
          <a:p>
            <a:pPr>
              <a:spcAft>
                <a:spcPts val="300"/>
              </a:spcAft>
              <a:defRPr sz="1350" b="1">
                <a:solidFill>
                  <a:srgbClr val="000000"/>
                </a:solidFill>
                <a:latin typeface="Lato"/>
              </a:defRPr>
            </a:pPr>
            <a:r>
              <a:rPr sz="1350" b="1">
                <a:latin typeface="Lato"/>
              </a:rPr>
              <a:t>Regional footprint | published gross storage, thousand m³</a:t>
            </a:r>
          </a:p>
        </p:txBody>
      </p:sp>
      <p:cxnSp>
        <p:nvCxnSpPr>
          <p:cNvPr id="10" name="Connector 9"/>
          <p:cNvCxnSpPr/>
          <p:nvPr/>
        </p:nvCxnSpPr>
        <p:spPr>
          <a:xfrm>
            <a:off x="457200" y="2286000"/>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2286000"/>
            <a:ext cx="0" cy="3986784"/>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SCR divider marker: circle"/>
          <p:cNvSpPr/>
          <p:nvPr/>
        </p:nvSpPr>
        <p:spPr>
          <a:xfrm>
            <a:off x="7086600" y="2167128"/>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83" name="SCR divider marker: arrow"/>
          <p:cNvCxnSpPr/>
          <p:nvPr/>
        </p:nvCxnSpPr>
        <p:spPr>
          <a:xfrm>
            <a:off x="7173468" y="2226564"/>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2286000"/>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457200" y="2487168"/>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Region / provinces</a:t>
            </a:r>
          </a:p>
        </p:txBody>
      </p:sp>
      <p:sp>
        <p:nvSpPr>
          <p:cNvPr id="87" name="TextBox 86"/>
          <p:cNvSpPr txBox="1"/>
          <p:nvPr/>
        </p:nvSpPr>
        <p:spPr>
          <a:xfrm>
            <a:off x="2011680" y="2487168"/>
            <a:ext cx="164592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Storage location</a:t>
            </a:r>
          </a:p>
        </p:txBody>
      </p:sp>
      <p:sp>
        <p:nvSpPr>
          <p:cNvPr id="88" name="TextBox 87"/>
          <p:cNvSpPr txBox="1"/>
          <p:nvPr/>
        </p:nvSpPr>
        <p:spPr>
          <a:xfrm>
            <a:off x="3657600" y="2487168"/>
            <a:ext cx="3108960" cy="228600"/>
          </a:xfrm>
          <a:prstGeom prst="rect">
            <a:avLst/>
          </a:prstGeom>
          <a:noFill/>
        </p:spPr>
        <p:txBody>
          <a:bodyPr wrap="square" lIns="0" rIns="0" tIns="0" bIns="0">
            <a:noAutofit/>
          </a:bodyPr>
          <a:lstStyle/>
          <a:p>
            <a:pPr>
              <a:spcAft>
                <a:spcPts val="300"/>
              </a:spcAft>
              <a:defRPr sz="1100" b="1">
                <a:solidFill>
                  <a:srgbClr val="404040"/>
                </a:solidFill>
                <a:latin typeface="Lato"/>
              </a:defRPr>
            </a:pPr>
            <a:r>
              <a:rPr sz="1100">
                <a:latin typeface="Lato"/>
              </a:rPr>
              <a:t>Published tank capacity</a:t>
            </a:r>
          </a:p>
        </p:txBody>
      </p:sp>
      <p:sp>
        <p:nvSpPr>
          <p:cNvPr id="89" name="Footprint legend"/>
          <p:cNvSpPr/>
          <p:nvPr/>
        </p:nvSpPr>
        <p:spPr>
          <a:xfrm>
            <a:off x="3657600" y="20574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0" name="TextBox 89"/>
          <p:cNvSpPr txBox="1"/>
          <p:nvPr/>
        </p:nvSpPr>
        <p:spPr>
          <a:xfrm>
            <a:off x="3822191" y="200253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Vopak</a:t>
            </a:r>
          </a:p>
        </p:txBody>
      </p:sp>
      <p:sp>
        <p:nvSpPr>
          <p:cNvPr id="91" name="Footprint legend"/>
          <p:cNvSpPr/>
          <p:nvPr/>
        </p:nvSpPr>
        <p:spPr>
          <a:xfrm>
            <a:off x="4846320" y="2057400"/>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92" name="TextBox 91"/>
          <p:cNvSpPr txBox="1"/>
          <p:nvPr/>
        </p:nvSpPr>
        <p:spPr>
          <a:xfrm>
            <a:off x="5010912" y="2002536"/>
            <a:ext cx="1371600" cy="219456"/>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 listed</a:t>
            </a:r>
          </a:p>
        </p:txBody>
      </p:sp>
      <p:sp>
        <p:nvSpPr>
          <p:cNvPr id="93" name="TextBox 92"/>
          <p:cNvSpPr txBox="1"/>
          <p:nvPr/>
        </p:nvSpPr>
        <p:spPr>
          <a:xfrm>
            <a:off x="356616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0</a:t>
            </a:r>
          </a:p>
        </p:txBody>
      </p:sp>
      <p:cxnSp>
        <p:nvCxnSpPr>
          <p:cNvPr id="94" name="Connector 93"/>
          <p:cNvCxnSpPr/>
          <p:nvPr/>
        </p:nvCxnSpPr>
        <p:spPr>
          <a:xfrm>
            <a:off x="365760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5" name="TextBox 94"/>
          <p:cNvSpPr txBox="1"/>
          <p:nvPr/>
        </p:nvSpPr>
        <p:spPr>
          <a:xfrm>
            <a:off x="413631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200</a:t>
            </a:r>
          </a:p>
        </p:txBody>
      </p:sp>
      <p:cxnSp>
        <p:nvCxnSpPr>
          <p:cNvPr id="96" name="Connector 95"/>
          <p:cNvCxnSpPr/>
          <p:nvPr/>
        </p:nvCxnSpPr>
        <p:spPr>
          <a:xfrm>
            <a:off x="422775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4706470"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400</a:t>
            </a:r>
          </a:p>
        </p:txBody>
      </p:sp>
      <p:cxnSp>
        <p:nvCxnSpPr>
          <p:cNvPr id="98" name="Connector 97"/>
          <p:cNvCxnSpPr/>
          <p:nvPr/>
        </p:nvCxnSpPr>
        <p:spPr>
          <a:xfrm>
            <a:off x="4797910"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99" name="TextBox 98"/>
          <p:cNvSpPr txBox="1"/>
          <p:nvPr/>
        </p:nvSpPr>
        <p:spPr>
          <a:xfrm>
            <a:off x="5276625"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600</a:t>
            </a:r>
          </a:p>
        </p:txBody>
      </p:sp>
      <p:cxnSp>
        <p:nvCxnSpPr>
          <p:cNvPr id="100" name="Connector 99"/>
          <p:cNvCxnSpPr/>
          <p:nvPr/>
        </p:nvCxnSpPr>
        <p:spPr>
          <a:xfrm>
            <a:off x="5368065"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5846781" y="2889504"/>
            <a:ext cx="384048" cy="210312"/>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latin typeface="Lato"/>
              </a:rPr>
              <a:t>800</a:t>
            </a:r>
          </a:p>
        </p:txBody>
      </p:sp>
      <p:cxnSp>
        <p:nvCxnSpPr>
          <p:cNvPr id="102" name="Connector 101"/>
          <p:cNvCxnSpPr/>
          <p:nvPr/>
        </p:nvCxnSpPr>
        <p:spPr>
          <a:xfrm>
            <a:off x="5938221" y="3182112"/>
            <a:ext cx="0" cy="239572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03" name="TextBox 102"/>
          <p:cNvSpPr txBox="1"/>
          <p:nvPr/>
        </p:nvSpPr>
        <p:spPr>
          <a:xfrm>
            <a:off x="457200" y="3291840"/>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Eastern coast</a:t>
            </a:r>
          </a:p>
        </p:txBody>
      </p:sp>
      <p:sp>
        <p:nvSpPr>
          <p:cNvPr id="104" name="TextBox 103"/>
          <p:cNvSpPr txBox="1"/>
          <p:nvPr/>
        </p:nvSpPr>
        <p:spPr>
          <a:xfrm>
            <a:off x="457200" y="3538728"/>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EC/KZN</a:t>
            </a:r>
          </a:p>
        </p:txBody>
      </p:sp>
      <p:sp>
        <p:nvSpPr>
          <p:cNvPr id="105" name="TextBox 104"/>
          <p:cNvSpPr txBox="1"/>
          <p:nvPr/>
        </p:nvSpPr>
        <p:spPr>
          <a:xfrm>
            <a:off x="2011680" y="329184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Durban</a:t>
            </a:r>
          </a:p>
        </p:txBody>
      </p:sp>
      <p:sp>
        <p:nvSpPr>
          <p:cNvPr id="106" name="Published gross Durban"/>
          <p:cNvSpPr/>
          <p:nvPr/>
        </p:nvSpPr>
        <p:spPr>
          <a:xfrm>
            <a:off x="3657600" y="3300984"/>
            <a:ext cx="102698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7" name="Published gross Durban"/>
          <p:cNvSpPr/>
          <p:nvPr/>
        </p:nvSpPr>
        <p:spPr>
          <a:xfrm>
            <a:off x="4684580" y="3300984"/>
            <a:ext cx="125236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08" name="TextBox 107"/>
          <p:cNvSpPr txBox="1"/>
          <p:nvPr/>
        </p:nvSpPr>
        <p:spPr>
          <a:xfrm>
            <a:off x="6000952" y="328269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799.55</a:t>
            </a:r>
          </a:p>
        </p:txBody>
      </p:sp>
      <p:sp>
        <p:nvSpPr>
          <p:cNvPr id="109" name="TextBox 108"/>
          <p:cNvSpPr txBox="1"/>
          <p:nvPr/>
        </p:nvSpPr>
        <p:spPr>
          <a:xfrm>
            <a:off x="2011680" y="3657600"/>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Richards Bay</a:t>
            </a:r>
          </a:p>
        </p:txBody>
      </p:sp>
      <p:sp>
        <p:nvSpPr>
          <p:cNvPr id="110" name="Published gross Richards Bay"/>
          <p:cNvSpPr/>
          <p:nvPr/>
        </p:nvSpPr>
        <p:spPr>
          <a:xfrm>
            <a:off x="3657600" y="3666744"/>
            <a:ext cx="1379197"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1" name="TextBox 110"/>
          <p:cNvSpPr txBox="1"/>
          <p:nvPr/>
        </p:nvSpPr>
        <p:spPr>
          <a:xfrm>
            <a:off x="5100805" y="3648456"/>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483.80</a:t>
            </a:r>
          </a:p>
        </p:txBody>
      </p:sp>
      <p:sp>
        <p:nvSpPr>
          <p:cNvPr id="112" name="TextBox 111"/>
          <p:cNvSpPr txBox="1"/>
          <p:nvPr/>
        </p:nvSpPr>
        <p:spPr>
          <a:xfrm>
            <a:off x="457200" y="4187952"/>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Inland</a:t>
            </a:r>
          </a:p>
        </p:txBody>
      </p:sp>
      <p:sp>
        <p:nvSpPr>
          <p:cNvPr id="113" name="TextBox 112"/>
          <p:cNvSpPr txBox="1"/>
          <p:nvPr/>
        </p:nvSpPr>
        <p:spPr>
          <a:xfrm>
            <a:off x="457200" y="4434840"/>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GP/FS/LP/MP/NW</a:t>
            </a:r>
          </a:p>
        </p:txBody>
      </p:sp>
      <p:sp>
        <p:nvSpPr>
          <p:cNvPr id="114" name="TextBox 113"/>
          <p:cNvSpPr txBox="1"/>
          <p:nvPr/>
        </p:nvSpPr>
        <p:spPr>
          <a:xfrm>
            <a:off x="2011680" y="418795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Lesedi</a:t>
            </a:r>
          </a:p>
        </p:txBody>
      </p:sp>
      <p:sp>
        <p:nvSpPr>
          <p:cNvPr id="115" name="Published gross Lesedi"/>
          <p:cNvSpPr/>
          <p:nvPr/>
        </p:nvSpPr>
        <p:spPr>
          <a:xfrm>
            <a:off x="3657600" y="4197096"/>
            <a:ext cx="399108"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6" name="TextBox 115"/>
          <p:cNvSpPr txBox="1"/>
          <p:nvPr/>
        </p:nvSpPr>
        <p:spPr>
          <a:xfrm>
            <a:off x="4120716" y="417880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140.00</a:t>
            </a:r>
          </a:p>
        </p:txBody>
      </p:sp>
      <p:sp>
        <p:nvSpPr>
          <p:cNvPr id="117" name="TextBox 116"/>
          <p:cNvSpPr txBox="1"/>
          <p:nvPr/>
        </p:nvSpPr>
        <p:spPr>
          <a:xfrm>
            <a:off x="2011680" y="4553712"/>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Isando</a:t>
            </a:r>
          </a:p>
        </p:txBody>
      </p:sp>
      <p:sp>
        <p:nvSpPr>
          <p:cNvPr id="118" name="Published gross Isando"/>
          <p:cNvSpPr/>
          <p:nvPr/>
        </p:nvSpPr>
        <p:spPr>
          <a:xfrm>
            <a:off x="3657600" y="4562856"/>
            <a:ext cx="92650"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19" name="TextBox 118"/>
          <p:cNvSpPr txBox="1"/>
          <p:nvPr/>
        </p:nvSpPr>
        <p:spPr>
          <a:xfrm>
            <a:off x="3814258" y="4544568"/>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32.50</a:t>
            </a:r>
          </a:p>
        </p:txBody>
      </p:sp>
      <p:sp>
        <p:nvSpPr>
          <p:cNvPr id="120" name="TextBox 119"/>
          <p:cNvSpPr txBox="1"/>
          <p:nvPr/>
        </p:nvSpPr>
        <p:spPr>
          <a:xfrm>
            <a:off x="457200" y="5084064"/>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Western coast</a:t>
            </a:r>
          </a:p>
        </p:txBody>
      </p:sp>
      <p:sp>
        <p:nvSpPr>
          <p:cNvPr id="121" name="TextBox 120"/>
          <p:cNvSpPr txBox="1"/>
          <p:nvPr/>
        </p:nvSpPr>
        <p:spPr>
          <a:xfrm>
            <a:off x="457200" y="5330952"/>
            <a:ext cx="146304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WC</a:t>
            </a:r>
          </a:p>
        </p:txBody>
      </p:sp>
      <p:sp>
        <p:nvSpPr>
          <p:cNvPr id="122" name="TextBox 121"/>
          <p:cNvSpPr txBox="1"/>
          <p:nvPr/>
        </p:nvSpPr>
        <p:spPr>
          <a:xfrm>
            <a:off x="2011680" y="5084064"/>
            <a:ext cx="150876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Cape Town</a:t>
            </a:r>
          </a:p>
        </p:txBody>
      </p:sp>
      <p:sp>
        <p:nvSpPr>
          <p:cNvPr id="123" name="Published gross Cape Town"/>
          <p:cNvSpPr/>
          <p:nvPr/>
        </p:nvSpPr>
        <p:spPr>
          <a:xfrm>
            <a:off x="3657600" y="5093208"/>
            <a:ext cx="347794"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sp>
        <p:nvSpPr>
          <p:cNvPr id="124" name="TextBox 123"/>
          <p:cNvSpPr txBox="1"/>
          <p:nvPr/>
        </p:nvSpPr>
        <p:spPr>
          <a:xfrm>
            <a:off x="4069402" y="5074920"/>
            <a:ext cx="685800" cy="237744"/>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latin typeface="Lato"/>
              </a:rPr>
              <a:t>122.00</a:t>
            </a:r>
          </a:p>
        </p:txBody>
      </p:sp>
      <p:sp>
        <p:nvSpPr>
          <p:cNvPr id="125" name="TextBox 124"/>
          <p:cNvSpPr txBox="1"/>
          <p:nvPr/>
        </p:nvSpPr>
        <p:spPr>
          <a:xfrm>
            <a:off x="457200" y="5614416"/>
            <a:ext cx="146304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Other</a:t>
            </a:r>
          </a:p>
        </p:txBody>
      </p:sp>
      <p:sp>
        <p:nvSpPr>
          <p:cNvPr id="126" name="TextBox 125"/>
          <p:cNvSpPr txBox="1"/>
          <p:nvPr/>
        </p:nvSpPr>
        <p:spPr>
          <a:xfrm>
            <a:off x="457200" y="5797296"/>
            <a:ext cx="146304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latin typeface="Lato"/>
              </a:rPr>
              <a:t>NC</a:t>
            </a:r>
          </a:p>
        </p:txBody>
      </p:sp>
      <p:sp>
        <p:nvSpPr>
          <p:cNvPr id="127" name="TextBox 126"/>
          <p:cNvSpPr txBox="1"/>
          <p:nvPr/>
        </p:nvSpPr>
        <p:spPr>
          <a:xfrm>
            <a:off x="2011680" y="5614416"/>
            <a:ext cx="4389120" cy="23774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latin typeface="Lato"/>
              </a:rPr>
              <a:t>?  capacity not established</a:t>
            </a:r>
          </a:p>
        </p:txBody>
      </p:sp>
      <p:sp>
        <p:nvSpPr>
          <p:cNvPr id="128" name="TextBox 127"/>
          <p:cNvSpPr txBox="1"/>
          <p:nvPr/>
        </p:nvSpPr>
        <p:spPr>
          <a:xfrm>
            <a:off x="457200" y="5998464"/>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Partial inventory; mixed products. Unlisted capacities remain unknown.</a:t>
            </a:r>
          </a:p>
        </p:txBody>
      </p:sp>
      <p:sp>
        <p:nvSpPr>
          <p:cNvPr id="129" name="TextBox 128"/>
          <p:cNvSpPr txBox="1"/>
          <p:nvPr/>
        </p:nvSpPr>
        <p:spPr>
          <a:xfrm>
            <a:off x="457200" y="6190488"/>
            <a:ext cx="6446520" cy="192024"/>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latin typeface="Lato"/>
              </a:rPr>
              <a:t>Mixed products; lease offers excluded. Working fuel space and customer share remain unverified.</a:t>
            </a:r>
          </a:p>
        </p:txBody>
      </p:sp>
      <p:sp>
        <p:nvSpPr>
          <p:cNvPr id="131" name="TextBox 130"/>
          <p:cNvSpPr txBox="1"/>
          <p:nvPr/>
        </p:nvSpPr>
        <p:spPr>
          <a:xfrm>
            <a:off x="7424927" y="1627632"/>
            <a:ext cx="3685032" cy="320040"/>
          </a:xfrm>
          <a:prstGeom prst="rect">
            <a:avLst/>
          </a:prstGeom>
          <a:noFill/>
        </p:spPr>
        <p:txBody>
          <a:bodyPr wrap="square" lIns="0" rIns="0" tIns="0" bIns="0">
            <a:noAutofit/>
          </a:bodyPr>
          <a:lstStyle/>
          <a:p>
            <a:pPr>
              <a:spcAft>
                <a:spcPts val="300"/>
              </a:spcAft>
              <a:defRPr sz="1350" b="1">
                <a:solidFill>
                  <a:srgbClr val="000000"/>
                </a:solidFill>
                <a:latin typeface="Lato"/>
              </a:defRPr>
            </a:pPr>
            <a:r>
              <a:rPr sz="1350" b="1">
                <a:latin typeface="Lato"/>
              </a:rPr>
              <a:t>Implication for Vopak</a:t>
            </a:r>
          </a:p>
        </p:txBody>
      </p:sp>
      <p:cxnSp>
        <p:nvCxnSpPr>
          <p:cNvPr id="132" name="Connector 131"/>
          <p:cNvCxnSpPr/>
          <p:nvPr/>
        </p:nvCxnSpPr>
        <p:spPr>
          <a:xfrm>
            <a:off x="7424927" y="2286000"/>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3" name="TextBox 132"/>
          <p:cNvSpPr txBox="1"/>
          <p:nvPr/>
        </p:nvSpPr>
        <p:spPr>
          <a:xfrm>
            <a:off x="7424927" y="250545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Anchor the test in Durban and Lesedi</a:t>
            </a:r>
          </a:p>
        </p:txBody>
      </p:sp>
      <p:sp>
        <p:nvSpPr>
          <p:cNvPr id="134" name="TextBox 133"/>
          <p:cNvSpPr txBox="1"/>
          <p:nvPr/>
        </p:nvSpPr>
        <p:spPr>
          <a:xfrm>
            <a:off x="7424927" y="281818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Vopak lists 360,200 m³ in Durban and 140,000 m³ at Lesedi. These anchor the eastern and inland customer tests.</a:t>
            </a:r>
          </a:p>
        </p:txBody>
      </p:sp>
      <p:sp>
        <p:nvSpPr>
          <p:cNvPr id="135" name="TextBox 134"/>
          <p:cNvSpPr txBox="1"/>
          <p:nvPr/>
        </p:nvSpPr>
        <p:spPr>
          <a:xfrm>
            <a:off x="7424927" y="3394252"/>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Verify working fuel capacity</a:t>
            </a:r>
          </a:p>
        </p:txBody>
      </p:sp>
      <p:sp>
        <p:nvSpPr>
          <p:cNvPr id="136" name="TextBox 135"/>
          <p:cNvSpPr txBox="1"/>
          <p:nvPr/>
        </p:nvSpPr>
        <p:spPr>
          <a:xfrm>
            <a:off x="7424927" y="3706977"/>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Published gross tankage covers mixed products. It does not establish usable petrol/diesel space, annual deliveries or customer share.</a:t>
            </a:r>
          </a:p>
        </p:txBody>
      </p:sp>
      <p:sp>
        <p:nvSpPr>
          <p:cNvPr id="137" name="TextBox 136"/>
          <p:cNvSpPr txBox="1"/>
          <p:nvPr/>
        </p:nvSpPr>
        <p:spPr>
          <a:xfrm>
            <a:off x="7424927" y="4283049"/>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Keep coverage gaps explicit</a:t>
            </a:r>
          </a:p>
        </p:txBody>
      </p:sp>
      <p:sp>
        <p:nvSpPr>
          <p:cNvPr id="138" name="TextBox 137"/>
          <p:cNvSpPr txBox="1"/>
          <p:nvPr/>
        </p:nvSpPr>
        <p:spPr>
          <a:xfrm>
            <a:off x="7424927" y="4595774"/>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Missing operator capacities remain unknown. Conditional Transnet leases are excluded from the operating bars.</a:t>
            </a:r>
          </a:p>
        </p:txBody>
      </p:sp>
      <p:cxnSp>
        <p:nvCxnSpPr>
          <p:cNvPr id="139" name="Connector 138"/>
          <p:cNvCxnSpPr/>
          <p:nvPr/>
        </p:nvCxnSpPr>
        <p:spPr>
          <a:xfrm>
            <a:off x="7424927" y="529529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7424927" y="5410504"/>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41" name="TextBox 140"/>
          <p:cNvSpPr txBox="1"/>
          <p:nvPr/>
        </p:nvSpPr>
        <p:spPr>
          <a:xfrm>
            <a:off x="7424927" y="5723229"/>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confirm fuel-compatible working space and dispatch by site. Nigel: obtain operating data for Durban and Lesedi.</a:t>
            </a:r>
          </a:p>
        </p:txBody>
      </p:sp>
      <p:sp>
        <p:nvSpPr>
          <p:cNvPr id="14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Illustrative tank handling cannot establish a regional fuel surplus or shortage</a:t>
            </a:r>
          </a:p>
        </p:txBody>
      </p:sp>
      <p:sp>
        <p:nvSpPr>
          <p:cNvPr id="3" name="Slide Number Placeholder"/>
          <p:cNvSpPr>
            <a:spLocks noGrp="1"/>
          </p:cNvSpPr>
          <p:nvPr>
            <p:ph type="sldNum" sz="quarter" idx="12"/>
          </p:nvPr>
        </p:nvSpPr>
        <p:spPr/>
        <p:txBody>
          <a:bodyPr/>
          <a:lstStyle/>
          <a:p>
            <a:pPr>
              <a:defRPr sz="1000">
                <a:latin typeface="Lato"/>
              </a:defRPr>
            </a:pPr>
            <a:r>
              <a:t>11</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20040"/>
          </a:xfrm>
          <a:prstGeom prst="rect">
            <a:avLst/>
          </a:prstGeom>
          <a:noFill/>
        </p:spPr>
        <p:txBody>
          <a:bodyPr wrap="square" lIns="22860" rIns="22860" tIns="0" bIns="0">
            <a:noAutofit/>
          </a:bodyPr>
          <a:lstStyle/>
          <a:p>
            <a:pPr>
              <a:spcAft>
                <a:spcPts val="300"/>
              </a:spcAft>
              <a:defRPr sz="1350" b="1">
                <a:solidFill>
                  <a:srgbClr val="000000"/>
                </a:solidFill>
                <a:latin typeface="Lato"/>
              </a:defRPr>
            </a:pPr>
            <a:r>
              <a:rPr sz="1350" b="1">
                <a:latin typeface="Lato"/>
              </a:rPr>
              <a:t>Annual demand and gross handling equivalent | million m³/year</a:t>
            </a:r>
          </a:p>
        </p:txBody>
      </p:sp>
      <p:cxnSp>
        <p:nvCxnSpPr>
          <p:cNvPr id="10" name="Connector 9"/>
          <p:cNvCxnSpPr/>
          <p:nvPr/>
        </p:nvCxnSpPr>
        <p:spPr>
          <a:xfrm>
            <a:off x="457200" y="2286000"/>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2286000"/>
            <a:ext cx="0" cy="3986784"/>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72" name="TextBox 71"/>
          <p:cNvSpPr txBox="1"/>
          <p:nvPr/>
        </p:nvSpPr>
        <p:spPr>
          <a:xfrm>
            <a:off x="457200" y="2542032"/>
            <a:ext cx="6446520" cy="25603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Base estimate: 2 turns/month; published gross tankage</a:t>
            </a:r>
          </a:p>
        </p:txBody>
      </p:sp>
      <p:sp>
        <p:nvSpPr>
          <p:cNvPr id="73" name="Demand legend"/>
          <p:cNvSpPr/>
          <p:nvPr/>
        </p:nvSpPr>
        <p:spPr>
          <a:xfrm>
            <a:off x="1920240" y="2057400"/>
            <a:ext cx="100584" cy="100584"/>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4" name="TextBox 73"/>
          <p:cNvSpPr txBox="1"/>
          <p:nvPr/>
        </p:nvSpPr>
        <p:spPr>
          <a:xfrm>
            <a:off x="2066543" y="2002536"/>
            <a:ext cx="137160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Reported demand</a:t>
            </a:r>
          </a:p>
        </p:txBody>
      </p:sp>
      <p:sp>
        <p:nvSpPr>
          <p:cNvPr id="75" name="Handling legend"/>
          <p:cNvSpPr/>
          <p:nvPr/>
        </p:nvSpPr>
        <p:spPr>
          <a:xfrm>
            <a:off x="3657600" y="2057400"/>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6" name="TextBox 75"/>
          <p:cNvSpPr txBox="1"/>
          <p:nvPr/>
        </p:nvSpPr>
        <p:spPr>
          <a:xfrm>
            <a:off x="3803904" y="200253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Vopak</a:t>
            </a:r>
          </a:p>
        </p:txBody>
      </p:sp>
      <p:sp>
        <p:nvSpPr>
          <p:cNvPr id="77" name="Handling legend"/>
          <p:cNvSpPr/>
          <p:nvPr/>
        </p:nvSpPr>
        <p:spPr>
          <a:xfrm>
            <a:off x="4663440" y="2057400"/>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78" name="TextBox 77"/>
          <p:cNvSpPr txBox="1"/>
          <p:nvPr/>
        </p:nvSpPr>
        <p:spPr>
          <a:xfrm>
            <a:off x="4809744" y="2002536"/>
            <a:ext cx="1280160" cy="20116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 listed</a:t>
            </a:r>
          </a:p>
        </p:txBody>
      </p:sp>
      <p:sp>
        <p:nvSpPr>
          <p:cNvPr id="79" name="TextBox 78"/>
          <p:cNvSpPr txBox="1"/>
          <p:nvPr/>
        </p:nvSpPr>
        <p:spPr>
          <a:xfrm>
            <a:off x="1920240" y="2798064"/>
            <a:ext cx="4480560" cy="210312"/>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Upper bar: reported demand; lower stack: estimated handling</a:t>
            </a:r>
          </a:p>
        </p:txBody>
      </p:sp>
      <p:sp>
        <p:nvSpPr>
          <p:cNvPr id="80" name="TextBox 79"/>
          <p:cNvSpPr txBox="1"/>
          <p:nvPr/>
        </p:nvSpPr>
        <p:spPr>
          <a:xfrm>
            <a:off x="1828800"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0</a:t>
            </a:r>
          </a:p>
        </p:txBody>
      </p:sp>
      <p:cxnSp>
        <p:nvCxnSpPr>
          <p:cNvPr id="81" name="Connector 80"/>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2952205"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10</a:t>
            </a:r>
          </a:p>
        </p:txBody>
      </p:sp>
      <p:cxnSp>
        <p:nvCxnSpPr>
          <p:cNvPr id="83" name="Connector 82"/>
          <p:cNvCxnSpPr/>
          <p:nvPr/>
        </p:nvCxnSpPr>
        <p:spPr>
          <a:xfrm>
            <a:off x="3043645"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4" name="TextBox 83"/>
          <p:cNvSpPr txBox="1"/>
          <p:nvPr/>
        </p:nvSpPr>
        <p:spPr>
          <a:xfrm>
            <a:off x="4075611"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20</a:t>
            </a:r>
          </a:p>
        </p:txBody>
      </p:sp>
      <p:cxnSp>
        <p:nvCxnSpPr>
          <p:cNvPr id="85" name="Connector 84"/>
          <p:cNvCxnSpPr/>
          <p:nvPr/>
        </p:nvCxnSpPr>
        <p:spPr>
          <a:xfrm>
            <a:off x="4167051"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6" name="TextBox 85"/>
          <p:cNvSpPr txBox="1"/>
          <p:nvPr/>
        </p:nvSpPr>
        <p:spPr>
          <a:xfrm>
            <a:off x="5199017" y="3044952"/>
            <a:ext cx="365760" cy="182880"/>
          </a:xfrm>
          <a:prstGeom prst="rect">
            <a:avLst/>
          </a:prstGeom>
          <a:noFill/>
        </p:spPr>
        <p:txBody>
          <a:bodyPr wrap="square" lIns="0" rIns="0" tIns="0" bIns="0">
            <a:noAutofit/>
          </a:bodyPr>
          <a:lstStyle/>
          <a:p>
            <a:pPr>
              <a:spcAft>
                <a:spcPts val="300"/>
              </a:spcAft>
              <a:defRPr sz="1000" b="0">
                <a:solidFill>
                  <a:srgbClr val="404040"/>
                </a:solidFill>
                <a:latin typeface="Lato"/>
              </a:defRPr>
            </a:pPr>
            <a:r>
              <a:rPr sz="1000" b="0">
                <a:solidFill/>
                <a:latin typeface="Lato"/>
              </a:rPr>
              <a:t>30</a:t>
            </a:r>
          </a:p>
        </p:txBody>
      </p:sp>
      <p:cxnSp>
        <p:nvCxnSpPr>
          <p:cNvPr id="87" name="Connector 86"/>
          <p:cNvCxnSpPr/>
          <p:nvPr/>
        </p:nvCxnSpPr>
        <p:spPr>
          <a:xfrm>
            <a:off x="5290457"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457200" y="333756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Eastern coast</a:t>
            </a:r>
          </a:p>
        </p:txBody>
      </p:sp>
      <p:sp>
        <p:nvSpPr>
          <p:cNvPr id="89" name="TextBox 88"/>
          <p:cNvSpPr txBox="1"/>
          <p:nvPr/>
        </p:nvSpPr>
        <p:spPr>
          <a:xfrm>
            <a:off x="457200" y="360273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EC/KZN</a:t>
            </a:r>
          </a:p>
        </p:txBody>
      </p:sp>
      <p:sp>
        <p:nvSpPr>
          <p:cNvPr id="90" name="Reported annual demand Eastern coast"/>
          <p:cNvSpPr/>
          <p:nvPr/>
        </p:nvSpPr>
        <p:spPr>
          <a:xfrm>
            <a:off x="1920240" y="3337560"/>
            <a:ext cx="676287"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1" name="TextBox 90"/>
          <p:cNvSpPr txBox="1"/>
          <p:nvPr/>
        </p:nvSpPr>
        <p:spPr>
          <a:xfrm>
            <a:off x="2642247" y="330555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6.02</a:t>
            </a:r>
          </a:p>
        </p:txBody>
      </p:sp>
      <p:sp>
        <p:nvSpPr>
          <p:cNvPr id="92" name="Estimated base handling Eastern coast"/>
          <p:cNvSpPr/>
          <p:nvPr/>
        </p:nvSpPr>
        <p:spPr>
          <a:xfrm>
            <a:off x="1920240" y="3630168"/>
            <a:ext cx="971285"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3" name="Estimated base handling Eastern coast"/>
          <p:cNvSpPr/>
          <p:nvPr/>
        </p:nvSpPr>
        <p:spPr>
          <a:xfrm>
            <a:off x="2891525" y="3630168"/>
            <a:ext cx="2488846"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4" name="TextBox 93"/>
          <p:cNvSpPr txBox="1"/>
          <p:nvPr/>
        </p:nvSpPr>
        <p:spPr>
          <a:xfrm>
            <a:off x="5444379" y="360273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30.80</a:t>
            </a:r>
          </a:p>
        </p:txBody>
      </p:sp>
      <p:sp>
        <p:nvSpPr>
          <p:cNvPr id="95" name="TextBox 94"/>
          <p:cNvSpPr txBox="1"/>
          <p:nvPr/>
        </p:nvSpPr>
        <p:spPr>
          <a:xfrm>
            <a:off x="457200" y="393192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Inland</a:t>
            </a:r>
          </a:p>
        </p:txBody>
      </p:sp>
      <p:sp>
        <p:nvSpPr>
          <p:cNvPr id="96" name="TextBox 95"/>
          <p:cNvSpPr txBox="1"/>
          <p:nvPr/>
        </p:nvSpPr>
        <p:spPr>
          <a:xfrm>
            <a:off x="457200" y="419709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GP/FS/LP/MP/NW</a:t>
            </a:r>
          </a:p>
        </p:txBody>
      </p:sp>
      <p:sp>
        <p:nvSpPr>
          <p:cNvPr id="97" name="Reported annual demand Inland"/>
          <p:cNvSpPr/>
          <p:nvPr/>
        </p:nvSpPr>
        <p:spPr>
          <a:xfrm>
            <a:off x="1920240" y="3931920"/>
            <a:ext cx="129187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98" name="TextBox 97"/>
          <p:cNvSpPr txBox="1"/>
          <p:nvPr/>
        </p:nvSpPr>
        <p:spPr>
          <a:xfrm>
            <a:off x="3257835" y="3899915"/>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11.50</a:t>
            </a:r>
          </a:p>
        </p:txBody>
      </p:sp>
      <p:sp>
        <p:nvSpPr>
          <p:cNvPr id="99" name="Estimated base handling Inland"/>
          <p:cNvSpPr/>
          <p:nvPr/>
        </p:nvSpPr>
        <p:spPr>
          <a:xfrm>
            <a:off x="1920240" y="4224528"/>
            <a:ext cx="377464"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0" name="Estimated base handling Inland"/>
          <p:cNvSpPr/>
          <p:nvPr/>
        </p:nvSpPr>
        <p:spPr>
          <a:xfrm>
            <a:off x="2297704" y="4224528"/>
            <a:ext cx="87625"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1" name="TextBox 100"/>
          <p:cNvSpPr txBox="1"/>
          <p:nvPr/>
        </p:nvSpPr>
        <p:spPr>
          <a:xfrm>
            <a:off x="2449337" y="419709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4.14</a:t>
            </a:r>
          </a:p>
        </p:txBody>
      </p:sp>
      <p:sp>
        <p:nvSpPr>
          <p:cNvPr id="102" name="TextBox 101"/>
          <p:cNvSpPr txBox="1"/>
          <p:nvPr/>
        </p:nvSpPr>
        <p:spPr>
          <a:xfrm>
            <a:off x="457200" y="452628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Western coast</a:t>
            </a:r>
          </a:p>
        </p:txBody>
      </p:sp>
      <p:sp>
        <p:nvSpPr>
          <p:cNvPr id="103" name="TextBox 102"/>
          <p:cNvSpPr txBox="1"/>
          <p:nvPr/>
        </p:nvSpPr>
        <p:spPr>
          <a:xfrm>
            <a:off x="457200" y="479145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WC</a:t>
            </a:r>
          </a:p>
        </p:txBody>
      </p:sp>
      <p:sp>
        <p:nvSpPr>
          <p:cNvPr id="104" name="Reported annual demand Western coast"/>
          <p:cNvSpPr/>
          <p:nvPr/>
        </p:nvSpPr>
        <p:spPr>
          <a:xfrm>
            <a:off x="1920240" y="4526280"/>
            <a:ext cx="441585"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5" name="TextBox 104"/>
          <p:cNvSpPr txBox="1"/>
          <p:nvPr/>
        </p:nvSpPr>
        <p:spPr>
          <a:xfrm>
            <a:off x="2407545" y="449427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3.93</a:t>
            </a:r>
          </a:p>
        </p:txBody>
      </p:sp>
      <p:sp>
        <p:nvSpPr>
          <p:cNvPr id="106" name="Estimated base handling Western coast"/>
          <p:cNvSpPr/>
          <p:nvPr/>
        </p:nvSpPr>
        <p:spPr>
          <a:xfrm>
            <a:off x="1920240" y="4818888"/>
            <a:ext cx="328933" cy="21031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07" name="TextBox 106"/>
          <p:cNvSpPr txBox="1"/>
          <p:nvPr/>
        </p:nvSpPr>
        <p:spPr>
          <a:xfrm>
            <a:off x="2313181" y="4791456"/>
            <a:ext cx="576072" cy="219456"/>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2.93</a:t>
            </a:r>
          </a:p>
        </p:txBody>
      </p:sp>
      <p:sp>
        <p:nvSpPr>
          <p:cNvPr id="108" name="TextBox 107"/>
          <p:cNvSpPr txBox="1"/>
          <p:nvPr/>
        </p:nvSpPr>
        <p:spPr>
          <a:xfrm>
            <a:off x="457200" y="5120640"/>
            <a:ext cx="137160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Other</a:t>
            </a:r>
          </a:p>
        </p:txBody>
      </p:sp>
      <p:sp>
        <p:nvSpPr>
          <p:cNvPr id="109" name="TextBox 108"/>
          <p:cNvSpPr txBox="1"/>
          <p:nvPr/>
        </p:nvSpPr>
        <p:spPr>
          <a:xfrm>
            <a:off x="457200" y="5385816"/>
            <a:ext cx="1371600" cy="21031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b="0">
                <a:solidFill/>
                <a:latin typeface="Lato"/>
              </a:rPr>
              <a:t>Northern Cape</a:t>
            </a:r>
          </a:p>
        </p:txBody>
      </p:sp>
      <p:sp>
        <p:nvSpPr>
          <p:cNvPr id="110" name="Reported annual demand Other"/>
          <p:cNvSpPr/>
          <p:nvPr/>
        </p:nvSpPr>
        <p:spPr>
          <a:xfrm>
            <a:off x="1920240" y="5120640"/>
            <a:ext cx="50756" cy="21031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solidFill/>
                <a:latin typeface="Lato"/>
              </a:defRPr>
            </a:pPr>
          </a:p>
        </p:txBody>
      </p:sp>
      <p:sp>
        <p:nvSpPr>
          <p:cNvPr id="111" name="TextBox 110"/>
          <p:cNvSpPr txBox="1"/>
          <p:nvPr/>
        </p:nvSpPr>
        <p:spPr>
          <a:xfrm>
            <a:off x="2016716" y="5088636"/>
            <a:ext cx="548640" cy="210312"/>
          </a:xfrm>
          <a:prstGeom prst="rect">
            <a:avLst/>
          </a:prstGeom>
          <a:noFill/>
        </p:spPr>
        <p:txBody>
          <a:bodyPr wrap="square" lIns="0" rIns="0" tIns="0" bIns="0">
            <a:noAutofit/>
          </a:bodyPr>
          <a:lstStyle/>
          <a:p>
            <a:pPr>
              <a:spcAft>
                <a:spcPts val="300"/>
              </a:spcAft>
              <a:defRPr sz="1200" b="0">
                <a:solidFill>
                  <a:srgbClr val="404040"/>
                </a:solidFill>
                <a:latin typeface="Lato"/>
              </a:defRPr>
            </a:pPr>
            <a:r>
              <a:rPr sz="1200" b="0">
                <a:solidFill/>
                <a:latin typeface="Lato"/>
              </a:rPr>
              <a:t>0.45</a:t>
            </a:r>
          </a:p>
        </p:txBody>
      </p:sp>
      <p:sp>
        <p:nvSpPr>
          <p:cNvPr id="112" name="TextBox 111"/>
          <p:cNvSpPr txBox="1"/>
          <p:nvPr/>
        </p:nvSpPr>
        <p:spPr>
          <a:xfrm>
            <a:off x="1920240" y="5385816"/>
            <a:ext cx="3474720" cy="228600"/>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a:solidFill/>
                <a:latin typeface="Lato"/>
              </a:rPr>
              <a:t>?  inventory incomplete</a:t>
            </a:r>
          </a:p>
        </p:txBody>
      </p:sp>
      <p:sp>
        <p:nvSpPr>
          <p:cNvPr id="113" name="TextBox 112"/>
          <p:cNvSpPr txBox="1"/>
          <p:nvPr/>
        </p:nvSpPr>
        <p:spPr>
          <a:xfrm>
            <a:off x="457200" y="6007608"/>
            <a:ext cx="6446520" cy="228600"/>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Same annual scale. Gross tankage × monthly turns × 12; not available fuel supply.</a:t>
            </a:r>
          </a:p>
        </p:txBody>
      </p:sp>
      <p:sp>
        <p:nvSpPr>
          <p:cNvPr id="114" name="TextBox 113"/>
          <p:cNvSpPr txBox="1"/>
          <p:nvPr/>
        </p:nvSpPr>
        <p:spPr>
          <a:xfrm>
            <a:off x="457200" y="6199632"/>
            <a:ext cx="6446520" cy="164592"/>
          </a:xfrm>
          <a:prstGeom prst="rect">
            <a:avLst/>
          </a:prstGeom>
          <a:noFill/>
        </p:spPr>
        <p:txBody>
          <a:bodyPr wrap="square" lIns="0" rIns="0" tIns="0" bIns="0">
            <a:noAutofit/>
          </a:bodyPr>
          <a:lstStyle/>
          <a:p>
            <a:pPr>
              <a:spcAft>
                <a:spcPts val="300"/>
              </a:spcAft>
              <a:defRPr sz="900" b="0">
                <a:solidFill>
                  <a:srgbClr val="404040"/>
                </a:solidFill>
                <a:latin typeface="Lato"/>
              </a:defRPr>
            </a:pPr>
            <a:r>
              <a:rPr sz="900">
                <a:solidFill/>
                <a:latin typeface="Lato"/>
              </a:rPr>
              <a:t>2022 demand vs 2026 mixed-product inventory; incomplete coverage. No shortage or share conclusion.</a:t>
            </a:r>
          </a:p>
        </p:txBody>
      </p:sp>
      <p:sp>
        <p:nvSpPr>
          <p:cNvPr id="124" name="SCR divider marker: circle"/>
          <p:cNvSpPr/>
          <p:nvPr/>
        </p:nvSpPr>
        <p:spPr>
          <a:xfrm>
            <a:off x="7086600" y="2167128"/>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noAutofit/>
          </a:bodyPr>
          <a:lstStyle/>
          <a:p>
            <a:pPr algn="ctr">
              <a:defRPr sz="1100">
                <a:latin typeface="Lato"/>
              </a:defRPr>
            </a:pPr>
          </a:p>
        </p:txBody>
      </p:sp>
      <p:cxnSp>
        <p:nvCxnSpPr>
          <p:cNvPr id="125" name="SCR divider marker: arrow"/>
          <p:cNvCxnSpPr/>
          <p:nvPr/>
        </p:nvCxnSpPr>
        <p:spPr>
          <a:xfrm>
            <a:off x="7173468" y="2226564"/>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6" name="SCR divider marker: arrow"/>
          <p:cNvCxnSpPr/>
          <p:nvPr/>
        </p:nvCxnSpPr>
        <p:spPr>
          <a:xfrm flipH="1">
            <a:off x="7173468" y="2286000"/>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9" name="TextBox 128"/>
          <p:cNvSpPr txBox="1"/>
          <p:nvPr/>
        </p:nvSpPr>
        <p:spPr>
          <a:xfrm>
            <a:off x="7424927" y="1627632"/>
            <a:ext cx="3685032" cy="320040"/>
          </a:xfrm>
          <a:prstGeom prst="rect">
            <a:avLst/>
          </a:prstGeom>
          <a:noFill/>
        </p:spPr>
        <p:txBody>
          <a:bodyPr wrap="square" lIns="0" rIns="0" tIns="0" bIns="0">
            <a:noAutofit/>
          </a:bodyPr>
          <a:lstStyle/>
          <a:p>
            <a:pPr>
              <a:spcAft>
                <a:spcPts val="300"/>
              </a:spcAft>
              <a:defRPr sz="1350" b="1">
                <a:solidFill>
                  <a:srgbClr val="000000"/>
                </a:solidFill>
                <a:latin typeface="Lato"/>
              </a:defRPr>
            </a:pPr>
            <a:r>
              <a:rPr sz="1350" b="1">
                <a:latin typeface="Lato"/>
              </a:rPr>
              <a:t>Implication for Vopak</a:t>
            </a:r>
          </a:p>
        </p:txBody>
      </p:sp>
      <p:cxnSp>
        <p:nvCxnSpPr>
          <p:cNvPr id="130" name="Connector 129"/>
          <p:cNvCxnSpPr/>
          <p:nvPr/>
        </p:nvCxnSpPr>
        <p:spPr>
          <a:xfrm>
            <a:off x="7424927" y="2286000"/>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1" name="TextBox 130"/>
          <p:cNvSpPr txBox="1"/>
          <p:nvPr/>
        </p:nvSpPr>
        <p:spPr>
          <a:xfrm>
            <a:off x="7424927" y="250545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Test turnover against operating data</a:t>
            </a:r>
          </a:p>
        </p:txBody>
      </p:sp>
      <p:sp>
        <p:nvSpPr>
          <p:cNvPr id="132" name="TextBox 131"/>
          <p:cNvSpPr txBox="1"/>
          <p:nvPr/>
        </p:nvSpPr>
        <p:spPr>
          <a:xfrm>
            <a:off x="7424927" y="281818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Two monthly turns is an authored base, not a verified SA site rate. The appendix tests one and three turns.</a:t>
            </a:r>
          </a:p>
        </p:txBody>
      </p:sp>
      <p:sp>
        <p:nvSpPr>
          <p:cNvPr id="133" name="TextBox 132"/>
          <p:cNvSpPr txBox="1"/>
          <p:nvPr/>
        </p:nvSpPr>
        <p:spPr>
          <a:xfrm>
            <a:off x="7424927" y="3394252"/>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Estimate achievable handling</a:t>
            </a:r>
          </a:p>
        </p:txBody>
      </p:sp>
      <p:sp>
        <p:nvSpPr>
          <p:cNvPr id="134" name="TextBox 133"/>
          <p:cNvSpPr txBox="1"/>
          <p:nvPr/>
        </p:nvSpPr>
        <p:spPr>
          <a:xfrm>
            <a:off x="7424927" y="3706977"/>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Use compatible working space, downtime and receipt/dispatch limits. Gross tankage alone overstates what may be handled.</a:t>
            </a:r>
          </a:p>
        </p:txBody>
      </p:sp>
      <p:sp>
        <p:nvSpPr>
          <p:cNvPr id="135" name="TextBox 134"/>
          <p:cNvSpPr txBox="1"/>
          <p:nvPr/>
        </p:nvSpPr>
        <p:spPr>
          <a:xfrm>
            <a:off x="7424927" y="4283049"/>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Avoid a regional shortage conclusion</a:t>
            </a:r>
          </a:p>
        </p:txBody>
      </p:sp>
      <p:sp>
        <p:nvSpPr>
          <p:cNvPr id="136" name="TextBox 135"/>
          <p:cNvSpPr txBox="1"/>
          <p:nvPr/>
        </p:nvSpPr>
        <p:spPr>
          <a:xfrm>
            <a:off x="7424927" y="4595774"/>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Inland inventory omits material operators. Coastal tanks can serve inland demand, and transfers can count the same fuel twice.</a:t>
            </a:r>
          </a:p>
        </p:txBody>
      </p:sp>
      <p:cxnSp>
        <p:nvCxnSpPr>
          <p:cNvPr id="137" name="Connector 136"/>
          <p:cNvCxnSpPr/>
          <p:nvPr/>
        </p:nvCxnSpPr>
        <p:spPr>
          <a:xfrm>
            <a:off x="7424927" y="529529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7424927" y="5410504"/>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139" name="TextBox 138"/>
          <p:cNvSpPr txBox="1"/>
          <p:nvPr/>
        </p:nvSpPr>
        <p:spPr>
          <a:xfrm>
            <a:off x="7424927" y="5723229"/>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Manish: verify working capacity and unique dispatch. Nigel: obtain site records. Replace common turns with site-specific evidence.</a:t>
            </a:r>
          </a:p>
        </p:txBody>
      </p:sp>
      <p:sp>
        <p:nvSpPr>
          <p:cNvPr id="14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Additional Durban and Lesedi volumes depend on customer access, not national demand alone</a:t>
            </a:r>
          </a:p>
        </p:txBody>
      </p:sp>
      <p:sp>
        <p:nvSpPr>
          <p:cNvPr id="3" name="Slide Number Placeholder"/>
          <p:cNvSpPr>
            <a:spLocks noGrp="1"/>
          </p:cNvSpPr>
          <p:nvPr>
            <p:ph type="sldNum" sz="quarter" idx="12"/>
          </p:nvPr>
        </p:nvSpPr>
        <p:spPr/>
        <p:txBody>
          <a:bodyPr/>
          <a:lstStyle/>
          <a:p>
            <a:pPr>
              <a:defRPr sz="1000">
                <a:latin typeface="Lato"/>
              </a:defRPr>
            </a:pPr>
            <a:r>
              <a:t>12</a:t>
            </a:r>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2022 departmental provincial sales; SARS 2024 trade; published Vopak, Matola and Walvis Bay inventory; Transnet lease offers. Additional Vopak volumes remain unquantified.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graphicFrame>
        <p:nvGraphicFramePr>
          <p:cNvPr id="29" name="Table 28"/>
          <p:cNvGraphicFramePr>
            <a:graphicFrameLocks noGrp="1"/>
          </p:cNvGraphicFramePr>
          <p:nvPr/>
        </p:nvGraphicFramePr>
        <p:xfrm>
          <a:off x="457200" y="1938528"/>
          <a:ext cx="10652760" cy="3438144"/>
        </p:xfrm>
        <a:graphic>
          <a:graphicData uri="http://schemas.openxmlformats.org/drawingml/2006/table">
            <a:tbl>
              <a:tblPr firstRow="1" bandRow="1">
                <a:tableStyleId>{2D5ABB26-0587-4C30-8999-92F81FD0307C}</a:tableStyleId>
              </a:tblPr>
              <a:tblGrid>
                <a:gridCol w="1143000"/>
                <a:gridCol w="3200400"/>
                <a:gridCol w="3017520"/>
                <a:gridCol w="3291840"/>
              </a:tblGrid>
              <a:tr h="420624">
                <a:tc>
                  <a:txBody>
                    <a:bodyPr/>
                    <a:lstStyle/>
                    <a:p>
                      <a:pPr>
                        <a:spcAft>
                          <a:spcPts val="0"/>
                        </a:spcAft>
                        <a:defRPr sz="1200" b="1">
                          <a:solidFill>
                            <a:srgbClr val="000000"/>
                          </a:solidFill>
                          <a:latin typeface="Lato"/>
                        </a:defRPr>
                      </a:pPr>
                      <a:r>
                        <a:t>Site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Current evidence</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Implication for Vopak</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Evidence still needed</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Durban</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KZN accounts for 19.6% of reported 2022 fuel sales. Diesel is the largest component of national net imports.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coastal demand and inland flows that Durban could handle.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product volumes, customer destinations and usable fuel capacity.</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Lesedi</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Gauteng accounts for 31.1% of reported 2022 fuel sales, the largest provincial share.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Assess inland demand against Lesedi's receipt and dispatch capability.</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Current throughput and the full delivered cost from competing gateways.</a:t>
                      </a:r>
                    </a:p>
                  </a:txBody>
                  <a:tcPr marL="36576" marR="27432" marT="45720" marB="0">
                    <a:lnB w="6350" cap="flat">
                      <a:solidFill>
                        <a:srgbClr val="EEEEEE"/>
                      </a:solidFill>
                    </a:lnB>
                    <a:solidFill>
                      <a:srgbClr val="FFFFFF"/>
                    </a:solidFill>
                  </a:tcPr>
                </a:tc>
              </a:tr>
              <a:tr h="1005840">
                <a:tc>
                  <a:txBody>
                    <a:bodyPr/>
                    <a:lstStyle/>
                    <a:p>
                      <a:pPr>
                        <a:spcAft>
                          <a:spcPts val="0"/>
                        </a:spcAft>
                        <a:defRPr sz="1200" b="0">
                          <a:solidFill>
                            <a:srgbClr val="000000"/>
                          </a:solidFill>
                          <a:latin typeface="Lato"/>
                        </a:defRPr>
                      </a:pPr>
                      <a:r>
                        <a:t>Competing nodes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Matola and Walvis Bay have published petrol/diesel storage. Inland depot lease offers could add distribution points.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Establish where alternative supply routes could change Vopak's inland business.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Operating status, handled volumes, route costs and service to the same destinations.</a:t>
                      </a:r>
                    </a:p>
                  </a:txBody>
                  <a:tcPr marL="36576" marR="27432" marT="45720" marB="0">
                    <a:lnB w="6350" cap="flat">
                      <a:solidFill>
                        <a:srgbClr val="EEEEEE"/>
                      </a:solidFill>
                    </a:lnB>
                    <a:solidFill>
                      <a:srgbClr val="FFFFFF"/>
                    </a:solidFill>
                  </a:tcPr>
                </a:tc>
              </a:tr>
            </a:tbl>
          </a:graphicData>
        </a:graphic>
      </p:graphicFrame>
      <p:sp>
        <p:nvSpPr>
          <p:cNvPr id="30" name="TextBox 29"/>
          <p:cNvSpPr txBox="1"/>
          <p:nvPr/>
        </p:nvSpPr>
        <p:spPr>
          <a:xfrm>
            <a:off x="457200" y="5724144"/>
            <a:ext cx="10652760" cy="502920"/>
          </a:xfrm>
          <a:prstGeom prst="rect">
            <a:avLst/>
          </a:prstGeom>
          <a:noFill/>
        </p:spPr>
        <p:txBody>
          <a:bodyPr wrap="square" lIns="0" rIns="0" tIns="0" bIns="0">
            <a:spAutoFit/>
          </a:bodyPr>
          <a:lstStyle/>
          <a:p>
            <a:pPr>
              <a:spcAft>
                <a:spcPts val="300"/>
              </a:spcAft>
              <a:defRPr sz="1300" b="1">
                <a:solidFill>
                  <a:srgbClr val="000000"/>
                </a:solidFill>
                <a:latin typeface="Lato"/>
              </a:defRPr>
            </a:pPr>
            <a:r>
              <a:t>The current evidence identifies priority markets. It does not yet quantify additional Vopak volumes or a requirement for new tanks.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Baseline reconciliation and assumption review are active; forecast runs follow reviewed inputs</a:t>
            </a:r>
          </a:p>
        </p:txBody>
      </p:sp>
      <p:sp>
        <p:nvSpPr>
          <p:cNvPr id="3" name="Slide Number Placeholder"/>
          <p:cNvSpPr>
            <a:spLocks noGrp="1"/>
          </p:cNvSpPr>
          <p:nvPr>
            <p:ph type="sldNum" sz="quarter" idx="12"/>
          </p:nvPr>
        </p:nvSpPr>
        <p:spPr/>
        <p:txBody>
          <a:bodyPr/>
          <a:lstStyle/>
          <a:p>
            <a:pPr>
              <a:defRPr sz="1000">
                <a:latin typeface="Lato"/>
              </a:defRPr>
            </a:pPr>
            <a:r>
              <a:t>13</a:t>
            </a:r>
          </a:p>
        </p:txBody>
      </p:sp>
      <p:sp>
        <p:nvSpPr>
          <p:cNvPr id="4" name="TextBox 3"/>
          <p:cNvSpPr txBox="1"/>
          <p:nvPr/>
        </p:nvSpPr>
        <p:spPr>
          <a:xfrm>
            <a:off x="457200" y="1627632"/>
            <a:ext cx="10652760" cy="310896"/>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Current activity and proposed delivery sequence, as at 7 October 2026</a:t>
            </a:r>
          </a:p>
        </p:txBody>
      </p:sp>
      <p:graphicFrame>
        <p:nvGraphicFramePr>
          <p:cNvPr id="5" name="Table 4"/>
          <p:cNvGraphicFramePr>
            <a:graphicFrameLocks noGrp="1"/>
          </p:cNvGraphicFramePr>
          <p:nvPr/>
        </p:nvGraphicFramePr>
        <p:xfrm>
          <a:off x="457200" y="2167128"/>
          <a:ext cx="10652759" cy="2871216"/>
        </p:xfrm>
        <a:graphic>
          <a:graphicData uri="http://schemas.openxmlformats.org/drawingml/2006/table">
            <a:tbl>
              <a:tblPr firstRow="1" bandRow="1">
                <a:tableStyleId>{2D5ABB26-0587-4C30-8999-92F81FD0307C}</a:tableStyleId>
              </a:tblPr>
              <a:tblGrid>
                <a:gridCol w="3749039"/>
                <a:gridCol w="1691640"/>
                <a:gridCol w="868680"/>
                <a:gridCol w="868680"/>
                <a:gridCol w="868680"/>
                <a:gridCol w="868680"/>
                <a:gridCol w="868680"/>
                <a:gridCol w="868680"/>
              </a:tblGrid>
              <a:tr h="502920">
                <a:tc>
                  <a:txBody>
                    <a:bodyPr/>
                    <a:lstStyle/>
                    <a:p>
                      <a:pPr>
                        <a:spcAft>
                          <a:spcPts val="0"/>
                        </a:spcAft>
                        <a:defRPr sz="1000" b="1">
                          <a:solidFill>
                            <a:srgbClr val="000000"/>
                          </a:solidFill>
                          <a:latin typeface="Lato"/>
                        </a:defRPr>
                      </a:pPr>
                      <a:r>
                        <a:t>Activity / workstream</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Resources</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W1</a:t>
                      </a:r>
                    </a:p>
                    <a:p>
                      <a:pPr>
                        <a:spcAft>
                          <a:spcPts val="0"/>
                        </a:spcAft>
                        <a:defRPr sz="1000" b="1">
                          <a:solidFill>
                            <a:srgbClr val="000000"/>
                          </a:solidFill>
                          <a:latin typeface="Lato"/>
                        </a:defRPr>
                      </a:pPr>
                      <a:r>
                        <a:t>02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W2</a:t>
                      </a:r>
                    </a:p>
                    <a:p>
                      <a:pPr>
                        <a:spcAft>
                          <a:spcPts val="0"/>
                        </a:spcAft>
                        <a:defRPr sz="1000" b="1">
                          <a:solidFill>
                            <a:srgbClr val="000000"/>
                          </a:solidFill>
                          <a:latin typeface="Lato"/>
                        </a:defRPr>
                      </a:pPr>
                      <a:r>
                        <a:t>09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W3</a:t>
                      </a:r>
                    </a:p>
                    <a:p>
                      <a:pPr>
                        <a:spcAft>
                          <a:spcPts val="0"/>
                        </a:spcAft>
                        <a:defRPr sz="1000" b="1">
                          <a:solidFill>
                            <a:srgbClr val="000000"/>
                          </a:solidFill>
                          <a:latin typeface="Lato"/>
                        </a:defRPr>
                      </a:pPr>
                      <a:r>
                        <a:t>16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W4</a:t>
                      </a:r>
                    </a:p>
                    <a:p>
                      <a:pPr>
                        <a:spcAft>
                          <a:spcPts val="0"/>
                        </a:spcAft>
                        <a:defRPr sz="1000" b="1">
                          <a:solidFill>
                            <a:srgbClr val="000000"/>
                          </a:solidFill>
                          <a:latin typeface="Lato"/>
                        </a:defRPr>
                      </a:pPr>
                      <a:r>
                        <a:t>23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W5</a:t>
                      </a:r>
                    </a:p>
                    <a:p>
                      <a:pPr>
                        <a:spcAft>
                          <a:spcPts val="0"/>
                        </a:spcAft>
                        <a:defRPr sz="1000" b="1">
                          <a:solidFill>
                            <a:srgbClr val="000000"/>
                          </a:solidFill>
                          <a:latin typeface="Lato"/>
                        </a:defRPr>
                      </a:pPr>
                      <a:r>
                        <a:t>30 Oct</a:t>
                      </a:r>
                    </a:p>
                  </a:txBody>
                  <a:tcPr marL="36576" marR="27432" marT="45720" marB="0">
                    <a:lnB w="6350" cap="flat">
                      <a:solidFill>
                        <a:srgbClr val="EEEEEE"/>
                      </a:solidFill>
                    </a:lnB>
                    <a:solidFill>
                      <a:srgbClr val="FFFFFF"/>
                    </a:solidFill>
                  </a:tcPr>
                </a:tc>
                <a:tc>
                  <a:txBody>
                    <a:bodyPr/>
                    <a:lstStyle/>
                    <a:p>
                      <a:pPr>
                        <a:spcAft>
                          <a:spcPts val="0"/>
                        </a:spcAft>
                        <a:defRPr sz="1000" b="1">
                          <a:solidFill>
                            <a:srgbClr val="000000"/>
                          </a:solidFill>
                          <a:latin typeface="Lato"/>
                        </a:defRPr>
                      </a:pPr>
                      <a:r>
                        <a:t>W6</a:t>
                      </a:r>
                    </a:p>
                    <a:p>
                      <a:pPr>
                        <a:spcAft>
                          <a:spcPts val="0"/>
                        </a:spcAft>
                        <a:defRPr sz="1000" b="1">
                          <a:solidFill>
                            <a:srgbClr val="000000"/>
                          </a:solidFill>
                          <a:latin typeface="Lato"/>
                        </a:defRPr>
                      </a:pPr>
                      <a:r>
                        <a:t>06 Nov</a:t>
                      </a:r>
                    </a:p>
                  </a:txBody>
                  <a:tcPr marL="36576" marR="27432" marT="45720" marB="0">
                    <a:lnB w="6350" cap="flat">
                      <a:solidFill>
                        <a:srgbClr val="EEEEEE"/>
                      </a:solidFill>
                    </a:lnB>
                    <a:solidFill>
                      <a:srgbClr val="FFFFFF"/>
                    </a:solidFill>
                  </a:tcPr>
                </a:tc>
              </a:tr>
              <a:tr h="338328">
                <a:tc>
                  <a:txBody>
                    <a:bodyPr/>
                    <a:lstStyle/>
                    <a:p>
                      <a:pPr>
                        <a:defRPr sz="1000" b="1">
                          <a:solidFill>
                            <a:srgbClr val="0A2373"/>
                          </a:solidFill>
                          <a:latin typeface="Lato"/>
                        </a:defRPr>
                      </a:pPr>
                      <a:r>
                        <a:t>1  Fuel baseline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defRPr sz="1000" b="1">
                          <a:solidFill>
                            <a:srgbClr val="0A2373"/>
                          </a:solidFill>
                          <a:latin typeface="Lato"/>
                        </a:defRPr>
                      </a:pPr>
                      <a:r>
                        <a:t>2  Assumption review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3  Prove reach and handling</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Nigel</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4  Quantify customer opportunity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5  Test working stock and constraints</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Manish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r>
              <a:tr h="338328">
                <a:tc>
                  <a:txBody>
                    <a:bodyPr/>
                    <a:lstStyle/>
                    <a:p>
                      <a:pPr>
                        <a:spcAft>
                          <a:spcPts val="0"/>
                        </a:spcAft>
                        <a:defRPr sz="1000" b="0">
                          <a:solidFill>
                            <a:srgbClr val="000000"/>
                          </a:solidFill>
                          <a:latin typeface="Lato"/>
                        </a:defRPr>
                      </a:pPr>
                      <a:r>
                        <a:t>6  Challenge, reproduce and hand over</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Henry</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EEEEEE"/>
                    </a:solidFill>
                  </a:tcPr>
                </a:tc>
                <a:tc>
                  <a:txBody>
                    <a:bodyPr/>
                    <a:lstStyle/>
                    <a:p>
                      <a:pPr>
                        <a:defRPr sz="1400">
                          <a:solidFill>
                            <a:srgbClr val="0A2373"/>
                          </a:solidFill>
                        </a:defRPr>
                      </a:pPr>
                      <a:r>
                        <a:t>◆</a:t>
                      </a:r>
                    </a:p>
                  </a:txBody>
                  <a:tcPr marL="36576" marR="27432" marT="45720" marB="0">
                    <a:lnB w="6350" cap="flat">
                      <a:solidFill>
                        <a:srgbClr val="EEEEEE"/>
                      </a:solidFill>
                    </a:lnB>
                    <a:solidFill>
                      <a:srgbClr val="EEEEEE"/>
                    </a:solidFill>
                  </a:tcPr>
                </a:tc>
              </a:tr>
              <a:tr h="338328">
                <a:tc>
                  <a:txBody>
                    <a:bodyPr/>
                    <a:lstStyle/>
                    <a:p>
                      <a:pPr>
                        <a:defRPr sz="1000" b="1">
                          <a:solidFill>
                            <a:srgbClr val="0A2373"/>
                          </a:solidFill>
                          <a:latin typeface="Lato"/>
                        </a:defRPr>
                      </a:pPr>
                      <a:r>
                        <a:t>Storyline and evidence - ACTIVE NOW</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r>
                        <a:t>Nigel / Manish</a:t>
                      </a:r>
                    </a:p>
                  </a:txBody>
                  <a:tcPr marL="36576" marR="27432" marT="45720" marB="0">
                    <a:lnB w="6350" cap="flat">
                      <a:solidFill>
                        <a:srgbClr val="EEEEEE"/>
                      </a:solidFill>
                    </a:lnB>
                    <a:solidFill>
                      <a:srgbClr val="FFFFFF"/>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defRPr sz="900" b="1">
                          <a:solidFill>
                            <a:srgbClr val="FFFFFF"/>
                          </a:solidFill>
                          <a:latin typeface="Lato"/>
                        </a:defRPr>
                      </a:pPr>
                      <a:r>
                        <a:t>ACTIVE</a:t>
                      </a:r>
                    </a:p>
                  </a:txBody>
                  <a:tcPr marL="36576" marR="27432" marT="45720" marB="0">
                    <a:lnB w="6350" cap="flat">
                      <a:solidFill>
                        <a:srgbClr val="EEEEEE"/>
                      </a:solidFill>
                    </a:lnB>
                    <a:solidFill>
                      <a:srgbClr val="0A2373"/>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c>
                  <a:txBody>
                    <a:bodyPr/>
                    <a:lstStyle/>
                    <a:p>
                      <a:pPr>
                        <a:spcAft>
                          <a:spcPts val="0"/>
                        </a:spcAft>
                        <a:defRPr sz="1000" b="0">
                          <a:solidFill>
                            <a:srgbClr val="000000"/>
                          </a:solidFill>
                          <a:latin typeface="Lato"/>
                        </a:defRPr>
                      </a:pPr>
                    </a:p>
                  </a:txBody>
                  <a:tcPr marL="36576" marR="27432" marT="45720" marB="0">
                    <a:lnB w="6350" cap="flat">
                      <a:solidFill>
                        <a:srgbClr val="EEEEEE"/>
                      </a:solidFill>
                    </a:lnB>
                    <a:solidFill>
                      <a:srgbClr val="546CA2"/>
                    </a:solidFill>
                  </a:tcPr>
                </a:tc>
              </a:tr>
            </a:tbl>
          </a:graphicData>
        </a:graphic>
      </p:graphicFrame>
      <p:sp>
        <p:nvSpPr>
          <p:cNvPr id="6" name="TextBox 5"/>
          <p:cNvSpPr txBox="1"/>
          <p:nvPr/>
        </p:nvSpPr>
        <p:spPr>
          <a:xfrm>
            <a:off x="457200" y="5212080"/>
            <a:ext cx="2651760" cy="237744"/>
          </a:xfrm>
          <a:prstGeom prst="rect">
            <a:avLst/>
          </a:prstGeom>
          <a:noFill/>
        </p:spPr>
        <p:txBody>
          <a:bodyPr wrap="square" lIns="0" rIns="0" tIns="0" bIns="0">
            <a:spAutoFit/>
          </a:bodyPr>
          <a:lstStyle/>
          <a:p>
            <a:pPr>
              <a:spcAft>
                <a:spcPts val="300"/>
              </a:spcAft>
              <a:defRPr sz="1100" b="1">
                <a:solidFill>
                  <a:srgbClr val="404040"/>
                </a:solidFill>
                <a:latin typeface="Lato"/>
              </a:defRPr>
            </a:pPr>
            <a:r>
              <a:t>Client touchpoints</a:t>
            </a:r>
          </a:p>
        </p:txBody>
      </p:sp>
      <p:sp>
        <p:nvSpPr>
          <p:cNvPr id="7" name="Diamond 6"/>
          <p:cNvSpPr/>
          <p:nvPr/>
        </p:nvSpPr>
        <p:spPr>
          <a:xfrm>
            <a:off x="6254495"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71031"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Scope /</a:t>
            </a:r>
          </a:p>
          <a:p>
            <a:pPr>
              <a:spcAft>
                <a:spcPts val="300"/>
              </a:spcAft>
              <a:defRPr sz="850" b="0">
                <a:solidFill>
                  <a:srgbClr val="404040"/>
                </a:solidFill>
                <a:latin typeface="Lato"/>
              </a:defRPr>
            </a:pPr>
            <a:r>
              <a:t>data</a:t>
            </a:r>
          </a:p>
        </p:txBody>
      </p:sp>
      <p:sp>
        <p:nvSpPr>
          <p:cNvPr id="9" name="Diamond 8"/>
          <p:cNvSpPr/>
          <p:nvPr/>
        </p:nvSpPr>
        <p:spPr>
          <a:xfrm>
            <a:off x="799185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0839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Emerging</a:t>
            </a:r>
          </a:p>
          <a:p>
            <a:pPr>
              <a:spcAft>
                <a:spcPts val="300"/>
              </a:spcAft>
              <a:defRPr sz="850" b="0">
                <a:solidFill>
                  <a:srgbClr val="404040"/>
                </a:solidFill>
                <a:latin typeface="Lato"/>
              </a:defRPr>
            </a:pPr>
            <a:r>
              <a:t>findings</a:t>
            </a:r>
          </a:p>
        </p:txBody>
      </p:sp>
      <p:sp>
        <p:nvSpPr>
          <p:cNvPr id="11" name="Diamond 10"/>
          <p:cNvSpPr/>
          <p:nvPr/>
        </p:nvSpPr>
        <p:spPr>
          <a:xfrm>
            <a:off x="972921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44575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Draft</a:t>
            </a:r>
          </a:p>
          <a:p>
            <a:pPr>
              <a:spcAft>
                <a:spcPts val="300"/>
              </a:spcAft>
              <a:defRPr sz="850" b="0">
                <a:solidFill>
                  <a:srgbClr val="404040"/>
                </a:solidFill>
                <a:latin typeface="Lato"/>
              </a:defRPr>
            </a:pPr>
            <a:r>
              <a:t>implications</a:t>
            </a:r>
          </a:p>
        </p:txBody>
      </p:sp>
      <p:sp>
        <p:nvSpPr>
          <p:cNvPr id="13" name="Diamond 12"/>
          <p:cNvSpPr/>
          <p:nvPr/>
        </p:nvSpPr>
        <p:spPr>
          <a:xfrm>
            <a:off x="10597896" y="5257800"/>
            <a:ext cx="109728" cy="109728"/>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14432" y="5477256"/>
            <a:ext cx="859536" cy="393192"/>
          </a:xfrm>
          <a:prstGeom prst="rect">
            <a:avLst/>
          </a:prstGeom>
          <a:noFill/>
        </p:spPr>
        <p:txBody>
          <a:bodyPr wrap="square" lIns="0" rIns="0" tIns="0" bIns="0">
            <a:spAutoFit/>
          </a:bodyPr>
          <a:lstStyle/>
          <a:p>
            <a:pPr>
              <a:spcAft>
                <a:spcPts val="300"/>
              </a:spcAft>
              <a:defRPr sz="850" b="0">
                <a:solidFill>
                  <a:srgbClr val="404040"/>
                </a:solidFill>
                <a:latin typeface="Lato"/>
              </a:defRPr>
            </a:pPr>
            <a:r>
              <a:t>Final</a:t>
            </a:r>
          </a:p>
          <a:p>
            <a:pPr>
              <a:spcAft>
                <a:spcPts val="300"/>
              </a:spcAft>
              <a:defRPr sz="850" b="0">
                <a:solidFill>
                  <a:srgbClr val="404040"/>
                </a:solidFill>
                <a:latin typeface="Lato"/>
              </a:defRPr>
            </a:pPr>
            <a:r>
              <a:t>review</a:t>
            </a:r>
          </a:p>
        </p:txBody>
      </p:sp>
      <p:sp>
        <p:nvSpPr>
          <p:cNvPr id="15" name="TextBox 14"/>
          <p:cNvSpPr txBox="1"/>
          <p:nvPr/>
        </p:nvSpPr>
        <p:spPr>
          <a:xfrm>
            <a:off x="457200" y="5879592"/>
            <a:ext cx="10652760" cy="256032"/>
          </a:xfrm>
          <a:prstGeom prst="rect">
            <a:avLst/>
          </a:prstGeom>
          <a:noFill/>
        </p:spPr>
        <p:txBody>
          <a:bodyPr wrap="square" lIns="0" rIns="0" tIns="0" bIns="0">
            <a:spAutoFit/>
          </a:bodyPr>
          <a:lstStyle/>
          <a:p>
            <a:pPr>
              <a:spcAft>
                <a:spcPts val="300"/>
              </a:spcAft>
              <a:defRPr sz="1050" b="1">
                <a:solidFill>
                  <a:srgbClr val="404040"/>
                </a:solidFill>
                <a:latin typeface="Lato"/>
              </a:defRPr>
            </a:pPr>
            <a:r>
              <a:t>Active: source reconciliation, sector baselines and assumption definitions. Forecast runs follow reviewed inputs.</a:t>
            </a:r>
          </a:p>
        </p:txBody>
      </p:sp>
      <p:sp>
        <p:nvSpPr>
          <p:cNvPr id="16" name="TextBox 15"/>
          <p:cNvSpPr txBox="1"/>
          <p:nvPr/>
        </p:nvSpPr>
        <p:spPr>
          <a:xfrm>
            <a:off x="457200" y="6199632"/>
            <a:ext cx="1065276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t>ACTIVE = current work; grey = proposed timing; diamonds = proposed checkpoints. Active does not mean complete.</a:t>
            </a:r>
          </a:p>
        </p:txBody>
      </p:sp>
      <p:sp>
        <p:nvSpPr>
          <p:cNvPr id="1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Kickoff pack pp23–27; six_week_plan.md (fuel-first update). Proposed workplan; no review or client approval inferred.</a:t>
            </a:r>
          </a:p>
        </p:txBody>
      </p:sp>
      <p:sp>
        <p:nvSpPr>
          <p:cNvPr id="19"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latin typeface="Lato"/>
              </a:defRPr>
            </a:pPr>
            <a:r>
              <a:rPr>
                <a:latin typeface="Lato"/>
              </a:rPr>
              <a:t>Manish's handback needs source decisions and agreed inputs before integration</a:t>
            </a:r>
          </a:p>
        </p:txBody>
      </p:sp>
      <p:sp>
        <p:nvSpPr>
          <p:cNvPr id="3" name="Slide Number Placeholder"/>
          <p:cNvSpPr>
            <a:spLocks noGrp="1"/>
          </p:cNvSpPr>
          <p:nvPr>
            <p:ph type="sldNum" sz="quarter" idx="12"/>
          </p:nvPr>
        </p:nvSpPr>
        <p:spPr/>
        <p:txBody>
          <a:bodyPr/>
          <a:lstStyle/>
          <a:p>
            <a:pPr>
              <a:defRPr sz="1000">
                <a:latin typeface="Lato"/>
              </a:defRPr>
            </a:pPr>
            <a:r>
              <a:t>14</a:t>
            </a:r>
          </a:p>
        </p:txBody>
      </p:sp>
      <p:sp>
        <p:nvSpPr>
          <p:cNvPr id="19" name="Section navigation 1">
            <a:hlinkClick action="ppaction://hlinksldjump" r:id="rId2"/>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1  Overview</a:t>
            </a:r>
          </a:p>
        </p:txBody>
      </p:sp>
      <p:sp>
        <p:nvSpPr>
          <p:cNvPr id="20" name="Section navigation 2">
            <a:hlinkClick action="ppaction://hlinksldjump" r:id="rId3"/>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2  Market baseline</a:t>
            </a:r>
          </a:p>
        </p:txBody>
      </p:sp>
      <p:sp>
        <p:nvSpPr>
          <p:cNvPr id="21" name="Section navigation 3">
            <a:hlinkClick action="ppaction://hlinksldjump" r:id="rId4"/>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0">
                <a:solidFill>
                  <a:srgbClr val="0A2373"/>
                </a:solidFill>
                <a:latin typeface="Lato"/>
              </a:defRPr>
            </a:pPr>
            <a:r>
              <a:rPr sz="1050">
                <a:latin typeface="Lato"/>
              </a:rPr>
              <a:t>3  Market changes</a:t>
            </a:r>
          </a:p>
        </p:txBody>
      </p:sp>
      <p:sp>
        <p:nvSpPr>
          <p:cNvPr id="22" name="Section navigation 4">
            <a:hlinkClick action="ppaction://hlinksldjump" r:id="rId5"/>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noAutofit/>
          </a:bodyPr>
          <a:lstStyle/>
          <a:p>
            <a:pPr algn="ctr">
              <a:defRPr sz="1050" b="1">
                <a:solidFill>
                  <a:srgbClr val="FFFFFF"/>
                </a:solidFill>
                <a:latin typeface="Lato"/>
              </a:defRPr>
            </a:pPr>
            <a:r>
              <a:rPr sz="1050">
                <a:latin typeface="Lato"/>
              </a:rPr>
              <a:t>4  Vopak outlook</a:t>
            </a:r>
          </a:p>
        </p:txBody>
      </p:sp>
      <p:sp>
        <p:nvSpPr>
          <p:cNvPr id="23" name="TextBox 22"/>
          <p:cNvSpPr txBox="1"/>
          <p:nvPr/>
        </p:nvSpPr>
        <p:spPr>
          <a:xfrm>
            <a:off x="457200" y="1627632"/>
            <a:ext cx="1065276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Manish’s focus | 7 October 2026 | proposed outputs and Nigel’s review decisions</a:t>
            </a:r>
          </a:p>
        </p:txBody>
      </p:sp>
      <p:graphicFrame>
        <p:nvGraphicFramePr>
          <p:cNvPr id="24" name="Table 23"/>
          <p:cNvGraphicFramePr>
            <a:graphicFrameLocks noGrp="1"/>
          </p:cNvGraphicFramePr>
          <p:nvPr/>
        </p:nvGraphicFramePr>
        <p:xfrm>
          <a:off x="457200" y="2148840"/>
          <a:ext cx="10652759" cy="3410712"/>
        </p:xfrm>
        <a:graphic>
          <a:graphicData uri="http://schemas.openxmlformats.org/drawingml/2006/table">
            <a:tbl>
              <a:tblPr firstRow="1" bandRow="1">
                <a:tableStyleId>{2D5ABB26-0587-4C30-8999-92F81FD0307C}</a:tableStyleId>
              </a:tblPr>
              <a:tblGrid>
                <a:gridCol w="1874519"/>
                <a:gridCol w="5120640"/>
                <a:gridCol w="3657600"/>
              </a:tblGrid>
              <a:tr h="438912">
                <a:tc>
                  <a:txBody>
                    <a:bodyPr/>
                    <a:lstStyle/>
                    <a:p>
                      <a:pPr>
                        <a:spcAft>
                          <a:spcPts val="0"/>
                        </a:spcAft>
                        <a:defRPr sz="1200" b="1">
                          <a:solidFill>
                            <a:srgbClr val="000000"/>
                          </a:solidFill>
                          <a:latin typeface="Lato"/>
                        </a:defRPr>
                      </a:pPr>
                      <a:r>
                        <a:t>Priority / focus</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Manish: output today</a:t>
                      </a:r>
                    </a:p>
                  </a:txBody>
                  <a:tcPr marL="36576" marR="27432" marT="45720" marB="0">
                    <a:lnB w="6350" cap="flat">
                      <a:solidFill>
                        <a:srgbClr val="EEEEEE"/>
                      </a:solidFill>
                    </a:lnB>
                    <a:solidFill>
                      <a:srgbClr val="FFFFFF"/>
                    </a:solidFill>
                  </a:tcPr>
                </a:tc>
                <a:tc>
                  <a:txBody>
                    <a:bodyPr/>
                    <a:lstStyle/>
                    <a:p>
                      <a:pPr>
                        <a:spcAft>
                          <a:spcPts val="0"/>
                        </a:spcAft>
                        <a:defRPr sz="1200" b="1">
                          <a:solidFill>
                            <a:srgbClr val="000000"/>
                          </a:solidFill>
                          <a:latin typeface="Lato"/>
                        </a:defRPr>
                      </a:pPr>
                      <a:r>
                        <a:t>Nigel: decision / review</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1  National balance</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Present the corrected petrol/diesel balance, source differences and missing production / stocks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2024 sales source; review corrected SARS trade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2  Forecast levers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Complete diesel, jet and petrol tables: baseline and L/M/H inputs for 2030 / 2035, with units, rationale and sources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Challenge ranges; agree the reference case</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3  Sector baselines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Propose agriculture / industry starting values; identify overlaps and double counting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starting values for the model</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4  Tank handling</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Set site assumptions for usable fuel capacity, monthly turns and receipt / dispatch limits; label evidence and estimates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Agree provisional operating ranges</a:t>
                      </a:r>
                    </a:p>
                  </a:txBody>
                  <a:tcPr marL="36576" marR="27432" marT="45720" marB="0">
                    <a:lnB w="6350" cap="flat">
                      <a:solidFill>
                        <a:srgbClr val="EEEEEE"/>
                      </a:solidFill>
                    </a:lnB>
                    <a:solidFill>
                      <a:srgbClr val="FFFFFF"/>
                    </a:solidFill>
                  </a:tcPr>
                </a:tc>
              </a:tr>
              <a:tr h="594360">
                <a:tc>
                  <a:txBody>
                    <a:bodyPr/>
                    <a:lstStyle/>
                    <a:p>
                      <a:pPr>
                        <a:spcAft>
                          <a:spcPts val="0"/>
                        </a:spcAft>
                        <a:defRPr sz="1200" b="0">
                          <a:solidFill>
                            <a:srgbClr val="000000"/>
                          </a:solidFill>
                          <a:latin typeface="Lato"/>
                        </a:defRPr>
                      </a:pPr>
                      <a:r>
                        <a:t>5  Reviewable handback</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Check pack figures against originals; refresh handback and list ready, proposed and unresolved items</a:t>
                      </a:r>
                    </a:p>
                  </a:txBody>
                  <a:tcPr marL="36576" marR="27432" marT="45720" marB="0">
                    <a:lnB w="6350" cap="flat">
                      <a:solidFill>
                        <a:srgbClr val="EEEEEE"/>
                      </a:solidFill>
                    </a:lnB>
                    <a:solidFill>
                      <a:srgbClr val="FFFFFF"/>
                    </a:solidFill>
                  </a:tcPr>
                </a:tc>
                <a:tc>
                  <a:txBody>
                    <a:bodyPr/>
                    <a:lstStyle/>
                    <a:p>
                      <a:pPr>
                        <a:spcAft>
                          <a:spcPts val="0"/>
                        </a:spcAft>
                        <a:defRPr sz="1200" b="0">
                          <a:solidFill>
                            <a:srgbClr val="000000"/>
                          </a:solidFill>
                          <a:latin typeface="Lato"/>
                        </a:defRPr>
                      </a:pPr>
                      <a:r>
                        <a:t>Review corrections before integration into main</a:t>
                      </a:r>
                    </a:p>
                  </a:txBody>
                  <a:tcPr marL="36576" marR="27432" marT="45720" marB="0">
                    <a:lnB w="6350" cap="flat">
                      <a:solidFill>
                        <a:srgbClr val="EEEEEE"/>
                      </a:solidFill>
                    </a:lnB>
                    <a:solidFill>
                      <a:srgbClr val="FFFFFF"/>
                    </a:solidFill>
                  </a:tcPr>
                </a:tc>
              </a:tr>
            </a:tbl>
          </a:graphicData>
        </a:graphic>
      </p:graphicFrame>
      <p:sp>
        <p:nvSpPr>
          <p:cNvPr id="25" name="TextBox 24"/>
          <p:cNvSpPr txBox="1"/>
          <p:nvPr/>
        </p:nvSpPr>
        <p:spPr>
          <a:xfrm>
            <a:off x="457200" y="5733288"/>
            <a:ext cx="10652760" cy="393192"/>
          </a:xfrm>
          <a:prstGeom prst="rect">
            <a:avLst/>
          </a:prstGeom>
          <a:noFill/>
        </p:spPr>
        <p:txBody>
          <a:bodyPr wrap="square" lIns="0" rIns="0" tIns="0" bIns="0">
            <a:spAutoFit/>
          </a:bodyPr>
          <a:lstStyle/>
          <a:p>
            <a:pPr>
              <a:spcAft>
                <a:spcPts val="300"/>
              </a:spcAft>
              <a:defRPr sz="1300" b="1">
                <a:solidFill>
                  <a:srgbClr val="404040"/>
                </a:solidFill>
                <a:latin typeface="Lato"/>
              </a:defRPr>
            </a:pPr>
            <a:r>
              <a:t>End-of-day target: a reviewed baseline, three comparable fuel input tables and an owned decision log</a:t>
            </a:r>
          </a:p>
        </p:txBody>
      </p:sp>
      <p:sp>
        <p:nvSpPr>
          <p:cNvPr id="26" name="TextBox 25"/>
          <p:cNvSpPr txBox="1"/>
          <p:nvPr/>
        </p:nvSpPr>
        <p:spPr>
          <a:xfrm>
            <a:off x="457200" y="6217920"/>
            <a:ext cx="1065276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Latest balance and EV corrections are supplied on Manish’s branch; review and integration remain outstanding.</a:t>
            </a:r>
          </a:p>
        </p:txBody>
      </p:sp>
      <p:sp>
        <p:nvSpPr>
          <p:cNvPr id="27"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Manish handback update, 7 Oct 2026 (ef1720a); Nigel’s agreed focus table. Targets proposed; no acceptance inferred.</a:t>
            </a:r>
          </a:p>
        </p:txBody>
      </p:sp>
      <p:sp>
        <p:nvSpPr>
          <p:cNvPr id="2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pPr>
              <a:defRPr sz="1000">
                <a:latin typeface="Lato"/>
              </a:defRPr>
            </a:pPr>
            <a:r>
              <a:t>15</a:t>
            </a:r>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with the outlook and delivery roadmap.</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Demand drivers · scenario framework · fuel assumptions · operating sensitivities</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The car fleet grew 3% in 2025 while road-freight payload was broadly flat</a:t>
            </a:r>
          </a:p>
        </p:txBody>
      </p:sp>
      <p:sp>
        <p:nvSpPr>
          <p:cNvPr id="3" name="Slide Number Placeholder"/>
          <p:cNvSpPr>
            <a:spLocks noGrp="1"/>
          </p:cNvSpPr>
          <p:nvPr>
            <p:ph type="sldNum" sz="quarter" idx="12"/>
          </p:nvPr>
        </p:nvSpPr>
        <p:spPr/>
        <p:txBody>
          <a:bodyPr/>
          <a:lstStyle/>
          <a:p>
            <a:pPr>
              <a:defRPr sz="1000">
                <a:latin typeface="Lato"/>
              </a:defRPr>
            </a:pPr>
            <a:r>
              <a:t>16</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Activity drivers | observed series; 2024 = 100</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activity proxies; fuel use per unit still requires validation.</a:t>
            </a:r>
          </a:p>
        </p:txBody>
      </p:sp>
      <p:sp>
        <p:nvSpPr>
          <p:cNvPr id="34" name="TextBox 3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3"/>
          </a:graphicData>
        </a:graphic>
      </p:graphicFrame>
      <p:cxnSp>
        <p:nvCxnSpPr>
          <p:cNvPr id="36" name="Driver header legend swatch Cars"/>
          <p:cNvCxnSpPr/>
          <p:nvPr/>
        </p:nvCxnSpPr>
        <p:spPr>
          <a:xfrm>
            <a:off x="3886200"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Driver header legend label Cars"/>
          <p:cNvSpPr txBox="1"/>
          <p:nvPr/>
        </p:nvSpPr>
        <p:spPr>
          <a:xfrm>
            <a:off x="4105656" y="2560320"/>
            <a:ext cx="34747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Cars</a:t>
            </a:r>
          </a:p>
        </p:txBody>
      </p:sp>
      <p:cxnSp>
        <p:nvCxnSpPr>
          <p:cNvPr id="38" name="Driver header legend swatch Minibuses"/>
          <p:cNvCxnSpPr/>
          <p:nvPr/>
        </p:nvCxnSpPr>
        <p:spPr>
          <a:xfrm>
            <a:off x="4654296" y="2642616"/>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Driver header legend label Minibuses"/>
          <p:cNvSpPr txBox="1"/>
          <p:nvPr/>
        </p:nvSpPr>
        <p:spPr>
          <a:xfrm>
            <a:off x="4873752" y="2560320"/>
            <a:ext cx="7498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Minibuses</a:t>
            </a:r>
          </a:p>
        </p:txBody>
      </p:sp>
      <p:sp>
        <p:nvSpPr>
          <p:cNvPr id="40" name="TextBox 39"/>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4"/>
          </a:graphicData>
        </a:graphic>
      </p:graphicFrame>
      <p:cxnSp>
        <p:nvCxnSpPr>
          <p:cNvPr id="42" name="Driver header legend swatch Road"/>
          <p:cNvCxnSpPr/>
          <p:nvPr/>
        </p:nvCxnSpPr>
        <p:spPr>
          <a:xfrm>
            <a:off x="9811512"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Driver header legend label Road"/>
          <p:cNvSpPr txBox="1"/>
          <p:nvPr/>
        </p:nvSpPr>
        <p:spPr>
          <a:xfrm>
            <a:off x="10030968" y="2560320"/>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Road</a:t>
            </a:r>
          </a:p>
        </p:txBody>
      </p:sp>
      <p:cxnSp>
        <p:nvCxnSpPr>
          <p:cNvPr id="44" name="Driver header legend swatch Rail"/>
          <p:cNvCxnSpPr/>
          <p:nvPr/>
        </p:nvCxnSpPr>
        <p:spPr>
          <a:xfrm>
            <a:off x="10597896" y="2642616"/>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Driver header legend label Rail"/>
          <p:cNvSpPr txBox="1"/>
          <p:nvPr/>
        </p:nvSpPr>
        <p:spPr>
          <a:xfrm>
            <a:off x="10817352" y="2560320"/>
            <a:ext cx="29260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Rail</a:t>
            </a:r>
          </a:p>
        </p:txBody>
      </p:sp>
      <p:sp>
        <p:nvSpPr>
          <p:cNvPr id="46" name="TextBox 45"/>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5"/>
          </a:graphicData>
        </a:graphic>
      </p:graphicFrame>
      <p:cxnSp>
        <p:nvCxnSpPr>
          <p:cNvPr id="48" name="Driver header legend swatch Agriculture / forestry / fishing"/>
          <p:cNvCxnSpPr/>
          <p:nvPr/>
        </p:nvCxnSpPr>
        <p:spPr>
          <a:xfrm>
            <a:off x="3163824"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Driver header legend label Agriculture / forestry / fishing"/>
          <p:cNvSpPr txBox="1"/>
          <p:nvPr/>
        </p:nvSpPr>
        <p:spPr>
          <a:xfrm>
            <a:off x="3383280" y="4654296"/>
            <a:ext cx="22402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Agriculture / forestry / fishing</a:t>
            </a:r>
          </a:p>
        </p:txBody>
      </p:sp>
      <p:sp>
        <p:nvSpPr>
          <p:cNvPr id="50" name="TextBox 4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6"/>
          </a:graphicData>
        </a:graphic>
      </p:graphicFrame>
      <p:cxnSp>
        <p:nvCxnSpPr>
          <p:cNvPr id="52" name="Driver header legend swatch Manufacturing"/>
          <p:cNvCxnSpPr/>
          <p:nvPr/>
        </p:nvCxnSpPr>
        <p:spPr>
          <a:xfrm>
            <a:off x="9811512"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Driver header legend label Manufacturing"/>
          <p:cNvSpPr txBox="1"/>
          <p:nvPr/>
        </p:nvSpPr>
        <p:spPr>
          <a:xfrm>
            <a:off x="10030968" y="4654296"/>
            <a:ext cx="1078992"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Manufacturing</a:t>
            </a:r>
          </a:p>
        </p:txBody>
      </p:sp>
      <p:sp>
        <p:nvSpPr>
          <p:cNvPr id="5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OCGT generation fell 79% from FY2024 to FY2026, reducing a driver of diesel use</a:t>
            </a:r>
          </a:p>
        </p:txBody>
      </p:sp>
      <p:sp>
        <p:nvSpPr>
          <p:cNvPr id="3" name="Slide Number Placeholder"/>
          <p:cNvSpPr>
            <a:spLocks noGrp="1"/>
          </p:cNvSpPr>
          <p:nvPr>
            <p:ph type="sldNum" sz="quarter" idx="12"/>
          </p:nvPr>
        </p:nvSpPr>
        <p:spPr/>
        <p:txBody>
          <a:bodyPr/>
          <a:lstStyle/>
          <a:p>
            <a:pPr>
              <a:defRPr sz="1000">
                <a:latin typeface="Lato"/>
              </a:defRPr>
            </a:pPr>
            <a:r>
              <a:t>17</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54" name="TextBox 53"/>
          <p:cNvSpPr txBox="1"/>
          <p:nvPr/>
        </p:nvSpPr>
        <p:spPr>
          <a:xfrm>
            <a:off x="4572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2862072"/>
          <a:ext cx="5166360" cy="1188720"/>
        </p:xfrm>
        <a:graphic>
          <a:graphicData uri="http://schemas.openxmlformats.org/drawingml/2006/chart">
            <c:chart xmlns:c="http://schemas.openxmlformats.org/drawingml/2006/chart" r:id="rId6"/>
          </a:graphicData>
        </a:graphic>
      </p:graphicFrame>
      <p:cxnSp>
        <p:nvCxnSpPr>
          <p:cNvPr id="56" name="Driver header legend swatch Mining"/>
          <p:cNvCxnSpPr/>
          <p:nvPr/>
        </p:nvCxnSpPr>
        <p:spPr>
          <a:xfrm>
            <a:off x="492861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Driver header legend label Mining"/>
          <p:cNvSpPr txBox="1"/>
          <p:nvPr/>
        </p:nvSpPr>
        <p:spPr>
          <a:xfrm>
            <a:off x="5148072" y="2560320"/>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Mining</a:t>
            </a:r>
          </a:p>
        </p:txBody>
      </p:sp>
      <p:sp>
        <p:nvSpPr>
          <p:cNvPr id="58" name="TextBox 57"/>
          <p:cNvSpPr txBox="1"/>
          <p:nvPr/>
        </p:nvSpPr>
        <p:spPr>
          <a:xfrm>
            <a:off x="5943600" y="2240280"/>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2862072"/>
          <a:ext cx="5166360" cy="1188720"/>
        </p:xfrm>
        <a:graphic>
          <a:graphicData uri="http://schemas.openxmlformats.org/drawingml/2006/chart">
            <c:chart xmlns:c="http://schemas.openxmlformats.org/drawingml/2006/chart" r:id="rId7"/>
          </a:graphicData>
        </a:graphic>
      </p:graphicFrame>
      <p:cxnSp>
        <p:nvCxnSpPr>
          <p:cNvPr id="60" name="Driver header legend swatch Eskom + IPP"/>
          <p:cNvCxnSpPr/>
          <p:nvPr/>
        </p:nvCxnSpPr>
        <p:spPr>
          <a:xfrm>
            <a:off x="10003536" y="2642616"/>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Driver header legend label Eskom + IPP"/>
          <p:cNvSpPr txBox="1"/>
          <p:nvPr/>
        </p:nvSpPr>
        <p:spPr>
          <a:xfrm>
            <a:off x="10222992" y="2560320"/>
            <a:ext cx="88696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Eskom + IPP</a:t>
            </a:r>
          </a:p>
        </p:txBody>
      </p:sp>
      <p:sp>
        <p:nvSpPr>
          <p:cNvPr id="62" name="TextBox 61"/>
          <p:cNvSpPr txBox="1"/>
          <p:nvPr/>
        </p:nvSpPr>
        <p:spPr>
          <a:xfrm>
            <a:off x="4572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4956048"/>
          <a:ext cx="5166360" cy="1188720"/>
        </p:xfrm>
        <a:graphic>
          <a:graphicData uri="http://schemas.openxmlformats.org/drawingml/2006/chart">
            <c:chart xmlns:c="http://schemas.openxmlformats.org/drawingml/2006/chart" r:id="rId8"/>
          </a:graphicData>
        </a:graphic>
      </p:graphicFrame>
      <p:cxnSp>
        <p:nvCxnSpPr>
          <p:cNvPr id="64" name="Driver header legend swatch BEV"/>
          <p:cNvCxnSpPr/>
          <p:nvPr/>
        </p:nvCxnSpPr>
        <p:spPr>
          <a:xfrm>
            <a:off x="2551176"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Driver header legend label BEV"/>
          <p:cNvSpPr txBox="1"/>
          <p:nvPr/>
        </p:nvSpPr>
        <p:spPr>
          <a:xfrm>
            <a:off x="2770632" y="4654296"/>
            <a:ext cx="47548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BEV</a:t>
            </a:r>
          </a:p>
        </p:txBody>
      </p:sp>
      <p:cxnSp>
        <p:nvCxnSpPr>
          <p:cNvPr id="66" name="Driver header legend swatch Plug-in hybrid"/>
          <p:cNvCxnSpPr/>
          <p:nvPr/>
        </p:nvCxnSpPr>
        <p:spPr>
          <a:xfrm>
            <a:off x="3447288" y="4736592"/>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Driver header legend label Plug-in hybrid"/>
          <p:cNvSpPr txBox="1"/>
          <p:nvPr/>
        </p:nvSpPr>
        <p:spPr>
          <a:xfrm>
            <a:off x="3666744" y="4654296"/>
            <a:ext cx="1024128"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Plug-in hybrid</a:t>
            </a:r>
          </a:p>
        </p:txBody>
      </p:sp>
      <p:cxnSp>
        <p:nvCxnSpPr>
          <p:cNvPr id="68" name="Driver header legend swatch Hybrid"/>
          <p:cNvCxnSpPr/>
          <p:nvPr/>
        </p:nvCxnSpPr>
        <p:spPr>
          <a:xfrm>
            <a:off x="4892040" y="4736592"/>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Driver header legend label Hybrid"/>
          <p:cNvSpPr txBox="1"/>
          <p:nvPr/>
        </p:nvSpPr>
        <p:spPr>
          <a:xfrm>
            <a:off x="5111496" y="4654296"/>
            <a:ext cx="512064"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Hybrid</a:t>
            </a:r>
          </a:p>
        </p:txBody>
      </p:sp>
      <p:sp>
        <p:nvSpPr>
          <p:cNvPr id="70" name="TextBox 69"/>
          <p:cNvSpPr txBox="1"/>
          <p:nvPr/>
        </p:nvSpPr>
        <p:spPr>
          <a:xfrm>
            <a:off x="5943600" y="4334256"/>
            <a:ext cx="51663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4956048"/>
          <a:ext cx="5166360" cy="1188720"/>
        </p:xfrm>
        <a:graphic>
          <a:graphicData uri="http://schemas.openxmlformats.org/drawingml/2006/chart">
            <c:chart xmlns:c="http://schemas.openxmlformats.org/drawingml/2006/chart" r:id="rId9"/>
          </a:graphicData>
        </a:graphic>
      </p:graphicFrame>
      <p:cxnSp>
        <p:nvCxnSpPr>
          <p:cNvPr id="72" name="Driver header legend swatch Petrol retail"/>
          <p:cNvCxnSpPr/>
          <p:nvPr/>
        </p:nvCxnSpPr>
        <p:spPr>
          <a:xfrm>
            <a:off x="8366760" y="473659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Driver header legend label Petrol retail"/>
          <p:cNvSpPr txBox="1"/>
          <p:nvPr/>
        </p:nvSpPr>
        <p:spPr>
          <a:xfrm>
            <a:off x="8586216" y="4654296"/>
            <a:ext cx="8686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Petrol retail</a:t>
            </a:r>
          </a:p>
        </p:txBody>
      </p:sp>
      <p:cxnSp>
        <p:nvCxnSpPr>
          <p:cNvPr id="74" name="Driver header legend swatch Diesel wholesale"/>
          <p:cNvCxnSpPr/>
          <p:nvPr/>
        </p:nvCxnSpPr>
        <p:spPr>
          <a:xfrm>
            <a:off x="9656064" y="4736592"/>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Driver header legend label Diesel wholesale"/>
          <p:cNvSpPr txBox="1"/>
          <p:nvPr/>
        </p:nvSpPr>
        <p:spPr>
          <a:xfrm>
            <a:off x="9875520" y="4654296"/>
            <a:ext cx="123444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sz="1100">
                <a:solidFill/>
              </a:rPr>
              <a:t>Diesel wholesale</a:t>
            </a:r>
          </a:p>
        </p:txBody>
      </p:sp>
      <p:sp>
        <p:nvSpPr>
          <p:cNvPr id="80" name="TextBox 79"/>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Power, vehicle mix and prices | observed indices and nominal R/litre</a:t>
            </a:r>
          </a:p>
        </p:txBody>
      </p:sp>
      <p:sp>
        <p:nvSpPr>
          <p:cNvPr id="81" name="TextBox 80"/>
          <p:cNvSpPr txBox="1"/>
          <p:nvPr/>
        </p:nvSpPr>
        <p:spPr>
          <a:xfrm>
            <a:off x="457200" y="2011680"/>
            <a:ext cx="10652760" cy="201168"/>
          </a:xfrm>
          <a:prstGeom prst="rect">
            <a:avLst/>
          </a:prstGeom>
          <a:noFill/>
        </p:spPr>
        <p:txBody>
          <a:bodyPr wrap="square" lIns="0" rIns="0" tIns="0" bIns="0">
            <a:spAutoFit/>
          </a:bodyPr>
          <a:lstStyle/>
          <a:p>
            <a:pPr>
              <a:spcAft>
                <a:spcPts val="300"/>
              </a:spcAft>
              <a:defRPr sz="1000" b="0">
                <a:solidFill>
                  <a:srgbClr val="404040"/>
                </a:solidFill>
                <a:latin typeface="Lato"/>
              </a:defRPr>
            </a:pPr>
            <a:r>
              <a:t>Indices: 2024 = 100. Prices: nominal R/litre. OCGT generation: FY to March.</a:t>
            </a:r>
          </a:p>
        </p:txBody>
      </p:sp>
      <p:cxnSp>
        <p:nvCxnSpPr>
          <p:cNvPr id="82" name="Connector 8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8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Demand growth alone cannot determine imports, accessible volumes or storage needs</a:t>
            </a:r>
          </a:p>
        </p:txBody>
      </p:sp>
      <p:sp>
        <p:nvSpPr>
          <p:cNvPr id="3" name="Slide Number Placeholder"/>
          <p:cNvSpPr>
            <a:spLocks noGrp="1"/>
          </p:cNvSpPr>
          <p:nvPr>
            <p:ph type="sldNum" sz="quarter" idx="12"/>
          </p:nvPr>
        </p:nvSpPr>
        <p:spPr/>
        <p:txBody>
          <a:bodyPr/>
          <a:lstStyle/>
          <a:p>
            <a:pPr>
              <a:defRPr sz="1000">
                <a:latin typeface="Lato"/>
              </a:defRPr>
            </a:pPr>
            <a:r>
              <a:t>18</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Proposed M settings; fuel inputs follow</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Rail diversion and lower OCGT use could offset freight-led diesel growth</a:t>
            </a:r>
          </a:p>
        </p:txBody>
      </p:sp>
      <p:sp>
        <p:nvSpPr>
          <p:cNvPr id="3" name="Slide Number Placeholder"/>
          <p:cNvSpPr>
            <a:spLocks noGrp="1"/>
          </p:cNvSpPr>
          <p:nvPr>
            <p:ph type="sldNum" sz="quarter" idx="12"/>
          </p:nvPr>
        </p:nvSpPr>
        <p:spPr/>
        <p:txBody>
          <a:bodyPr/>
          <a:lstStyle/>
          <a:p>
            <a:pPr>
              <a:defRPr sz="1000">
                <a:latin typeface="Lato"/>
              </a:defRPr>
            </a:pPr>
            <a:r>
              <a:t>19</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Diesel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Freight activity</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Observed proxy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115 / 135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95 / 135 / 175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Apply before rail diversion; calibrate litres per activity unit.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Road freight moved to rail</a:t>
                      </a:r>
                    </a:p>
                    <a:p>
                      <a:pPr>
                        <a:spcAft>
                          <a:spcPts val="0"/>
                        </a:spcAft>
                        <a:defRPr sz="1100" b="0">
                          <a:solidFill>
                            <a:srgbClr val="000000"/>
                          </a:solidFill>
                          <a:latin typeface="Lato"/>
                        </a:defRPr>
                      </a:pPr>
                      <a:r>
                        <a:t>% of reference road work</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agreed diversion</a:t>
                      </a:r>
                    </a:p>
                    <a:p>
                      <a:pPr>
                        <a:spcAft>
                          <a:spcPts val="0"/>
                        </a:spcAft>
                        <a:defRPr sz="1100" b="0">
                          <a:solidFill>
                            <a:srgbClr val="000000"/>
                          </a:solidFill>
                          <a:latin typeface="Lato"/>
                        </a:defRPr>
                      </a:pPr>
                      <a:r>
                        <a:t>M is proposed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10 / 20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20 / 35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Higher diversion lowers road diesel. Avoid subtracting rail again if already embedded in the activity path.</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OCGT generation</a:t>
                      </a:r>
                    </a:p>
                    <a:p>
                      <a:pPr>
                        <a:spcAft>
                          <a:spcPts val="0"/>
                        </a:spcAft>
                        <a:defRPr sz="1100" b="0">
                          <a:solidFill>
                            <a:srgbClr val="000000"/>
                          </a:solidFill>
                          <a:latin typeface="Lato"/>
                        </a:defRPr>
                      </a:pPr>
                      <a:r>
                        <a:t>FY2024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FY2024 = 100</a:t>
                      </a:r>
                    </a:p>
                    <a:p>
                      <a:pPr>
                        <a:spcAft>
                          <a:spcPts val="0"/>
                        </a:spcAft>
                        <a:defRPr sz="1100" b="0">
                          <a:solidFill>
                            <a:srgbClr val="000000"/>
                          </a:solidFill>
                          <a:latin typeface="Lato"/>
                        </a:defRPr>
                      </a:pPr>
                      <a:r>
                        <a:t>Latest trend is lower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 / 25 / 60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50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Test grid recovery versus stress. Use one generation path; do not add a second load-shedding allowance.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0.5–1.0%</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0.5 / 0.75 / 1</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Higher gain lowers new-cohort fuel use.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output; exclude closed capacity and count downtime once.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Diesel product yield</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yield: 25%</a:t>
                      </a:r>
                    </a:p>
                    <a:p>
                      <a:pPr>
                        <a:spcAft>
                          <a:spcPts val="0"/>
                        </a:spcAft>
                        <a:defRPr sz="1100" b="0">
                          <a:solidFill>
                            <a:srgbClr val="000000"/>
                          </a:solidFill>
                          <a:latin typeface="Lato"/>
                        </a:defRPr>
                      </a:pPr>
                      <a:r>
                        <a:t>Plant mix unverified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 / 25 / 30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the legacy yield. Higher yield raises diesel output; enforce a consistent cross-product yield slate.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H requires FID, timing, ramp-up and product yields; it is not committed output.</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More road activity and power use raise diesel demand; efficiency, rail and domestic output reduce the import requirement.</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Flight activity and fuel burn set jet demand; SAF changes its fossil-fuel share</a:t>
            </a:r>
          </a:p>
        </p:txBody>
      </p:sp>
      <p:sp>
        <p:nvSpPr>
          <p:cNvPr id="3" name="Slide Number Placeholder"/>
          <p:cNvSpPr>
            <a:spLocks noGrp="1"/>
          </p:cNvSpPr>
          <p:nvPr>
            <p:ph type="sldNum" sz="quarter" idx="12"/>
          </p:nvPr>
        </p:nvSpPr>
        <p:spPr/>
        <p:txBody>
          <a:bodyPr/>
          <a:lstStyle/>
          <a:p>
            <a:pPr>
              <a:defRPr sz="1000">
                <a:latin typeface="Lato"/>
              </a:defRPr>
            </a:pPr>
            <a:r>
              <a:t>20</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Jet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38"/>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Aircraft movements</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a:t>
                      </a:r>
                    </a:p>
                    <a:p>
                      <a:pPr>
                        <a:spcAft>
                          <a:spcPts val="0"/>
                        </a:spcAft>
                        <a:defRPr sz="1100" b="0">
                          <a:solidFill>
                            <a:srgbClr val="000000"/>
                          </a:solidFill>
                          <a:latin typeface="Lato"/>
                        </a:defRPr>
                      </a:pPr>
                      <a:r>
                        <a:t>ACSA coverage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120 / 140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100 / 145 / 190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flat / recovery / expansion tests. Follow Manish's movement driver; re-fit against matched jet deliveries.</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Fuel burn per movement</a:t>
                      </a:r>
                    </a:p>
                    <a:p>
                      <a:pPr>
                        <a:spcAft>
                          <a:spcPts val="0"/>
                        </a:spcAft>
                        <a:defRPr sz="1100" b="0">
                          <a:solidFill>
                            <a:srgbClr val="000000"/>
                          </a:solidFill>
                          <a:latin typeface="Lato"/>
                        </a:defRPr>
                      </a:pPr>
                      <a:r>
                        <a:t>2024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2024 = 100 assumed</a:t>
                      </a:r>
                    </a:p>
                    <a:p>
                      <a:pPr>
                        <a:spcAft>
                          <a:spcPts val="0"/>
                        </a:spcAft>
                        <a:defRPr sz="1100" b="0">
                          <a:solidFill>
                            <a:srgbClr val="000000"/>
                          </a:solidFill>
                          <a:latin typeface="Lato"/>
                        </a:defRPr>
                      </a:pPr>
                      <a:r>
                        <a:t>Not yet measured</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80 / 90 / 100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65 / 80 / 100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Lower burn lowers litres. Separate aircraft efficiency from route length, aircraft size and international mix.</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SAF share of jet deliveries</a:t>
                      </a:r>
                    </a:p>
                    <a:p>
                      <a:pPr>
                        <a:spcAft>
                          <a:spcPts val="0"/>
                        </a:spcAft>
                        <a:defRPr sz="1100" b="0">
                          <a:solidFill>
                            <a:srgbClr val="000000"/>
                          </a:solidFill>
                          <a:latin typeface="Lato"/>
                        </a:defRPr>
                      </a:pPr>
                      <a:r>
                        <a:t>% by volume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SA blend baseline unknown</a:t>
                      </a:r>
                    </a:p>
                    <a:p>
                      <a:pPr>
                        <a:spcAft>
                          <a:spcPts val="0"/>
                        </a:spcAft>
                        <a:defRPr sz="1100" b="0">
                          <a:solidFill>
                            <a:srgbClr val="000000"/>
                          </a:solidFill>
                          <a:latin typeface="Lato"/>
                        </a:defRPr>
                      </a:pPr>
                      <a:r>
                        <a:t>Not a local mandate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2 / 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5 / 10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Changes fossil jet share, not total jet litres. Authored blend tests; ICAO's 5% emissions vision is not a volume target.</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plant setting as diesel and petrol. Higher utilisation raises jet output, subject to actual product capability.</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Jet product yield</a:t>
                      </a:r>
                    </a:p>
                    <a:p>
                      <a:pPr>
                        <a:spcAft>
                          <a:spcPts val="0"/>
                        </a:spcAft>
                        <a:defRPr sz="1100" b="0">
                          <a:solidFill>
                            <a:srgbClr val="000000"/>
                          </a:solidFill>
                          <a:latin typeface="Lato"/>
                        </a:defRPr>
                      </a:pPr>
                      <a:r>
                        <a:t>% of capable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capable plants: 10%</a:t>
                      </a:r>
                    </a:p>
                    <a:p>
                      <a:pPr>
                        <a:spcAft>
                          <a:spcPts val="0"/>
                        </a:spcAft>
                        <a:defRPr sz="1100" b="0">
                          <a:solidFill>
                            <a:srgbClr val="000000"/>
                          </a:solidFill>
                          <a:latin typeface="Lato"/>
                        </a:defRPr>
                      </a:pPr>
                      <a:r>
                        <a:t>Other plants: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10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Apply only to jet-capable plants. Brackets the legacy yield; cannot assume every refinery produces aviation fuel.</a:t>
                      </a:r>
                    </a:p>
                  </a:txBody>
                  <a:tcPr marL="32004" marR="32004" marT="32004" marB="0" anchor="t">
                    <a:lnB w="6350" cap="flat">
                      <a:solidFill>
                        <a:srgbClr val="EEEEEE"/>
                      </a:solidFill>
                    </a:lnB>
                    <a:solidFill>
                      <a:srgbClr val="FFFFFF"/>
                    </a:solidFill>
                  </a:tcPr>
                </a:tc>
              </a:tr>
              <a:tr h="507491">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Jet capability unknown</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Same refinery branch, counted once. Jet output depends on a verified yield and specification, not nameplate alone.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Traffic and fuel burn set total jet demand; SAF changes the fossil share, while refinery output sets the import balance.</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400" b="1"/>
            </a:pPr>
            <a:r>
              <a:rPr sz="2400" b="1">
                <a:latin typeface="Lato"/>
              </a:rPr>
              <a:t>Fleet growth raises petrol demand; electrification and efficiency could offset it</a:t>
            </a:r>
          </a:p>
        </p:txBody>
      </p:sp>
      <p:sp>
        <p:nvSpPr>
          <p:cNvPr id="3" name="Slide Number Placeholder"/>
          <p:cNvSpPr>
            <a:spLocks noGrp="1"/>
          </p:cNvSpPr>
          <p:nvPr>
            <p:ph type="sldNum" sz="quarter" idx="12"/>
          </p:nvPr>
        </p:nvSpPr>
        <p:spPr/>
        <p:txBody>
          <a:bodyPr/>
          <a:lstStyle/>
          <a:p>
            <a:pPr>
              <a:defRPr sz="1000">
                <a:latin typeface="Lato"/>
              </a:defRPr>
            </a:pPr>
            <a:r>
              <a:t>21</a:t>
            </a:r>
          </a:p>
        </p:txBody>
      </p:sp>
      <p:sp>
        <p:nvSpPr>
          <p:cNvPr id="26" name="TextBox 25"/>
          <p:cNvSpPr txBox="1"/>
          <p:nvPr/>
        </p:nvSpPr>
        <p:spPr>
          <a:xfrm>
            <a:off x="457200" y="1627632"/>
            <a:ext cx="10652760" cy="292608"/>
          </a:xfrm>
          <a:prstGeom prst="rect">
            <a:avLst/>
          </a:prstGeom>
          <a:noFill/>
        </p:spPr>
        <p:txBody>
          <a:bodyPr wrap="square" lIns="0" rIns="0" tIns="0" bIns="0">
            <a:spAutoFit/>
          </a:bodyPr>
          <a:lstStyle/>
          <a:p>
            <a:pPr>
              <a:spcAft>
                <a:spcPts val="300"/>
              </a:spcAft>
              <a:defRPr sz="1400" b="1">
                <a:solidFill>
                  <a:srgbClr val="404040"/>
                </a:solidFill>
                <a:latin typeface="Lato"/>
              </a:defRPr>
            </a:pPr>
            <a:r>
              <a:t>Petrol levers | proposed input values for review</a:t>
            </a:r>
          </a:p>
        </p:txBody>
      </p:sp>
      <p:cxnSp>
        <p:nvCxnSpPr>
          <p:cNvPr id="27" name="Connector 26"/>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2057400"/>
            <a:ext cx="10652760" cy="246888"/>
          </a:xfrm>
          <a:prstGeom prst="rect">
            <a:avLst/>
          </a:prstGeom>
          <a:noFill/>
        </p:spPr>
        <p:txBody>
          <a:bodyPr wrap="square" lIns="0" rIns="0" tIns="0" bIns="0">
            <a:spAutoFit/>
          </a:bodyPr>
          <a:lstStyle/>
          <a:p>
            <a:pPr>
              <a:spcAft>
                <a:spcPts val="300"/>
              </a:spcAft>
              <a:defRPr sz="1100" b="0">
                <a:solidFill>
                  <a:srgbClr val="404040"/>
                </a:solidFill>
                <a:latin typeface="Lato"/>
              </a:defRPr>
            </a:pPr>
            <a:r>
              <a:t>L / M / H means low / medium / high input level; fuel effects differ by lever. M is a proposed reference.</a:t>
            </a:r>
          </a:p>
        </p:txBody>
      </p:sp>
      <p:graphicFrame>
        <p:nvGraphicFramePr>
          <p:cNvPr id="29" name="Table 28"/>
          <p:cNvGraphicFramePr>
            <a:graphicFrameLocks noGrp="1"/>
          </p:cNvGraphicFramePr>
          <p:nvPr/>
        </p:nvGraphicFramePr>
        <p:xfrm>
          <a:off x="457200" y="2487168"/>
          <a:ext cx="10652758" cy="3438143"/>
        </p:xfrm>
        <a:graphic>
          <a:graphicData uri="http://schemas.openxmlformats.org/drawingml/2006/table">
            <a:tbl>
              <a:tblPr firstRow="1" bandRow="1">
                <a:tableStyleId>{2D5ABB26-0587-4C30-8999-92F81FD0307C}</a:tableStyleId>
              </a:tblPr>
              <a:tblGrid>
                <a:gridCol w="2075688"/>
                <a:gridCol w="1874519"/>
                <a:gridCol w="1399032"/>
                <a:gridCol w="1399032"/>
                <a:gridCol w="3904487"/>
              </a:tblGrid>
              <a:tr h="393192">
                <a:tc>
                  <a:txBody>
                    <a:bodyPr/>
                    <a:lstStyle/>
                    <a:p>
                      <a:pPr>
                        <a:spcAft>
                          <a:spcPts val="0"/>
                        </a:spcAft>
                        <a:defRPr sz="1100" b="1">
                          <a:solidFill>
                            <a:srgbClr val="000000"/>
                          </a:solidFill>
                          <a:latin typeface="Lato"/>
                        </a:defRPr>
                      </a:pPr>
                      <a:r>
                        <a:t>Lever / unit</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Current reference</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2030</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2035</a:t>
                      </a:r>
                    </a:p>
                    <a:p>
                      <a:pPr>
                        <a:spcAft>
                          <a:spcPts val="0"/>
                        </a:spcAft>
                        <a:defRPr sz="1100" b="1">
                          <a:solidFill>
                            <a:srgbClr val="000000"/>
                          </a:solidFill>
                          <a:latin typeface="Lato"/>
                        </a:defRPr>
                      </a:pPr>
                      <a:r>
                        <a:t>L / M / H</a:t>
                      </a:r>
                    </a:p>
                  </a:txBody>
                  <a:tcPr marL="32004" marR="32004" marT="32004" marB="0" anchor="t">
                    <a:lnB w="6350" cap="flat">
                      <a:solidFill>
                        <a:srgbClr val="EEEEEE"/>
                      </a:solidFill>
                    </a:lnB>
                    <a:solidFill>
                      <a:srgbClr val="FFFFFF"/>
                    </a:solidFill>
                  </a:tcPr>
                </a:tc>
                <a:tc>
                  <a:txBody>
                    <a:bodyPr/>
                    <a:lstStyle/>
                    <a:p>
                      <a:pPr>
                        <a:spcAft>
                          <a:spcPts val="0"/>
                        </a:spcAft>
                        <a:defRPr sz="1050" b="1">
                          <a:solidFill>
                            <a:srgbClr val="000000"/>
                          </a:solidFill>
                          <a:latin typeface="Lato"/>
                        </a:defRPr>
                      </a:pPr>
                      <a:r>
                        <a:t>Rationale / effect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Passenger mileage</a:t>
                      </a:r>
                    </a:p>
                    <a:p>
                      <a:pPr>
                        <a:spcAft>
                          <a:spcPts val="0"/>
                        </a:spcAft>
                        <a:defRPr sz="1100" b="0">
                          <a:solidFill>
                            <a:srgbClr val="000000"/>
                          </a:solidFill>
                          <a:latin typeface="Lato"/>
                        </a:defRPr>
                      </a:pPr>
                      <a:r>
                        <a:t>km / vehicle /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Registered: 17,000</a:t>
                      </a:r>
                    </a:p>
                    <a:p>
                      <a:pPr>
                        <a:spcAft>
                          <a:spcPts val="0"/>
                        </a:spcAft>
                        <a:defRPr sz="1100" b="0">
                          <a:solidFill>
                            <a:srgbClr val="000000"/>
                          </a:solidFill>
                          <a:latin typeface="Lato"/>
                        </a:defRPr>
                      </a:pPr>
                      <a:r>
                        <a:t>Provisional placeholder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13600 / 17000 / 20400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±20% around the current mileage placeholder. Higher mileage raises petrol demand at a given fleet.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Real GDP growth</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Team continuation: 2%</a:t>
                      </a:r>
                    </a:p>
                    <a:p>
                      <a:pPr>
                        <a:spcAft>
                          <a:spcPts val="0"/>
                        </a:spcAft>
                        <a:defRPr sz="1100" b="0">
                          <a:solidFill>
                            <a:srgbClr val="000000"/>
                          </a:solidFill>
                          <a:latin typeface="Lato"/>
                        </a:defRPr>
                      </a:pPr>
                      <a:r>
                        <a:t>Beyond official 2028</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2 / 3</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 the 2% continuation proposal. Drives fleet additions through the fitted relationship, not a second fuel multiplier.</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BEV share of new sales</a:t>
                      </a:r>
                    </a:p>
                    <a:p>
                      <a:pPr>
                        <a:spcAft>
                          <a:spcPts val="0"/>
                        </a:spcAft>
                        <a:defRPr sz="1100" b="0">
                          <a:solidFill>
                            <a:srgbClr val="000000"/>
                          </a:solidFill>
                          <a:latin typeface="Lato"/>
                        </a:defRPr>
                      </a:pPr>
                      <a:r>
                        <a:t>% of passenger sales</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uptake curves</a:t>
                      </a:r>
                    </a:p>
                    <a:p>
                      <a:pPr>
                        <a:spcAft>
                          <a:spcPts val="0"/>
                        </a:spcAft>
                        <a:defRPr sz="1100" b="0">
                          <a:solidFill>
                            <a:srgbClr val="000000"/>
                          </a:solidFill>
                          <a:latin typeface="Lato"/>
                        </a:defRPr>
                      </a:pPr>
                      <a:r>
                        <a:t>Sales/fleet basis to resolve</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5 / 15 / 30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15 / 35 / 60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Authored sales-share tests. Higher BEV uptake lowers new ICE additions; total-fleet effect depends on survival.</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New-vehicle efficiency gain</a:t>
                      </a:r>
                    </a:p>
                    <a:p>
                      <a:pPr>
                        <a:spcAft>
                          <a:spcPts val="0"/>
                        </a:spcAft>
                        <a:defRPr sz="1100" b="0">
                          <a:solidFill>
                            <a:srgbClr val="000000"/>
                          </a:solidFill>
                          <a:latin typeface="Lato"/>
                        </a:defRPr>
                      </a:pPr>
                      <a:r>
                        <a:t>% per year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1.0–1.5%</a:t>
                      </a:r>
                    </a:p>
                    <a:p>
                      <a:pPr>
                        <a:spcAft>
                          <a:spcPts val="0"/>
                        </a:spcAft>
                        <a:defRPr sz="1100" b="0">
                          <a:solidFill>
                            <a:srgbClr val="000000"/>
                          </a:solidFill>
                          <a:latin typeface="Lato"/>
                        </a:defRPr>
                      </a:pPr>
                      <a:r>
                        <a:t>New cohorts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1 / 1.25 / 1.5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Existing low/high input endpoints; M is a proposed midpoint. Preserve each cohort's entry-year consumption.</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Existing plant utilisation</a:t>
                      </a:r>
                    </a:p>
                    <a:p>
                      <a:pPr>
                        <a:spcAft>
                          <a:spcPts val="0"/>
                        </a:spcAft>
                        <a:defRPr sz="1100" b="0">
                          <a:solidFill>
                            <a:srgbClr val="000000"/>
                          </a:solidFill>
                          <a:latin typeface="Lato"/>
                        </a:defRPr>
                      </a:pPr>
                      <a:r>
                        <a:t>% of operable capacity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Actual output unresolved</a:t>
                      </a:r>
                    </a:p>
                    <a:p>
                      <a:pPr>
                        <a:spcAft>
                          <a:spcPts val="0"/>
                        </a:spcAft>
                        <a:defRPr sz="1100" b="0">
                          <a:solidFill>
                            <a:srgbClr val="000000"/>
                          </a:solidFill>
                          <a:latin typeface="Lato"/>
                        </a:defRPr>
                      </a:pPr>
                      <a:r>
                        <a:t>75% is a test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60 / 75 / 90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across fuels. Higher utilisation raises domestic petrol output; use actual operable capacity and downtime.</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Petrol yield (conventional)</a:t>
                      </a:r>
                    </a:p>
                    <a:p>
                      <a:pPr>
                        <a:spcAft>
                          <a:spcPts val="0"/>
                        </a:spcAft>
                        <a:defRPr sz="1100" b="0">
                          <a:solidFill>
                            <a:srgbClr val="000000"/>
                          </a:solidFill>
                          <a:latin typeface="Lato"/>
                        </a:defRPr>
                      </a:pPr>
                      <a:r>
                        <a:t>% of plant throughput</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Legacy conventional: 45%</a:t>
                      </a:r>
                    </a:p>
                    <a:p>
                      <a:pPr>
                        <a:spcAft>
                          <a:spcPts val="0"/>
                        </a:spcAft>
                        <a:defRPr sz="1100" b="0">
                          <a:solidFill>
                            <a:srgbClr val="000000"/>
                          </a:solidFill>
                          <a:latin typeface="Lato"/>
                        </a:defRPr>
                      </a:pPr>
                      <a:r>
                        <a:t>Synthetic plants differ</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35 / 45 / 55</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Brackets conventional-plant legacy yield. Keep synthetic plants separate and enforce the product-slate constraint.</a:t>
                      </a:r>
                    </a:p>
                  </a:txBody>
                  <a:tcPr marL="32004" marR="32004" marT="32004" marB="0" anchor="t">
                    <a:lnB w="6350" cap="flat">
                      <a:solidFill>
                        <a:srgbClr val="EEEEEE"/>
                      </a:solidFill>
                    </a:lnB>
                    <a:solidFill>
                      <a:srgbClr val="FFFFFF"/>
                    </a:solidFill>
                  </a:tcPr>
                </a:tc>
              </a:tr>
              <a:tr h="434993">
                <a:tc>
                  <a:txBody>
                    <a:bodyPr/>
                    <a:lstStyle/>
                    <a:p>
                      <a:pPr>
                        <a:spcAft>
                          <a:spcPts val="0"/>
                        </a:spcAft>
                        <a:defRPr sz="1100" b="0">
                          <a:solidFill>
                            <a:srgbClr val="000000"/>
                          </a:solidFill>
                          <a:latin typeface="Lato"/>
                        </a:defRPr>
                      </a:pPr>
                      <a:r>
                        <a:t>Conditional added capacity</a:t>
                      </a:r>
                    </a:p>
                    <a:p>
                      <a:pPr>
                        <a:spcAft>
                          <a:spcPts val="0"/>
                        </a:spcAft>
                        <a:defRPr sz="1100" b="0">
                          <a:solidFill>
                            <a:srgbClr val="000000"/>
                          </a:solidFill>
                          <a:latin typeface="Lato"/>
                        </a:defRPr>
                      </a:pPr>
                      <a:r>
                        <a:t>thousand bbl/day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No committed addition</a:t>
                      </a:r>
                    </a:p>
                    <a:p>
                      <a:pPr>
                        <a:spcAft>
                          <a:spcPts val="0"/>
                        </a:spcAft>
                        <a:defRPr sz="1100" b="0">
                          <a:solidFill>
                            <a:srgbClr val="000000"/>
                          </a:solidFill>
                          <a:latin typeface="Lato"/>
                        </a:defRPr>
                      </a:pPr>
                      <a:r>
                        <a:t>Conditional case only</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0</a:t>
                      </a:r>
                    </a:p>
                  </a:txBody>
                  <a:tcPr marL="32004" marR="32004" marT="32004" marB="0" anchor="t">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0 / 0 / 400</a:t>
                      </a:r>
                    </a:p>
                  </a:txBody>
                  <a:tcPr marL="32004" marR="32004" marT="32004" marB="0" anchor="t">
                    <a:lnB w="6350" cap="flat">
                      <a:solidFill>
                        <a:srgbClr val="EEEEEE"/>
                      </a:solidFill>
                    </a:lnB>
                    <a:solidFill>
                      <a:srgbClr val="FFFFFF"/>
                    </a:solidFill>
                  </a:tcPr>
                </a:tc>
                <a:tc>
                  <a:txBody>
                    <a:bodyPr/>
                    <a:lstStyle/>
                    <a:p>
                      <a:pPr>
                        <a:spcAft>
                          <a:spcPts val="0"/>
                        </a:spcAft>
                        <a:defRPr sz="1050" b="0">
                          <a:solidFill>
                            <a:srgbClr val="000000"/>
                          </a:solidFill>
                          <a:latin typeface="Lato"/>
                        </a:defRPr>
                      </a:pPr>
                      <a:r>
                        <a:t>Shared refinery branch, counted once. Petrol output requires FID, ramp-up and a verified product bridge.</a:t>
                      </a:r>
                    </a:p>
                  </a:txBody>
                  <a:tcPr marL="32004" marR="32004" marT="32004" marB="0" anchor="t">
                    <a:lnB w="6350" cap="flat">
                      <a:solidFill>
                        <a:srgbClr val="EEEEEE"/>
                      </a:solidFill>
                    </a:lnB>
                    <a:solidFill>
                      <a:srgbClr val="FFFFFF"/>
                    </a:solidFill>
                  </a:tcPr>
                </a:tc>
              </a:tr>
            </a:tbl>
          </a:graphicData>
        </a:graphic>
      </p:graphicFrame>
      <p:sp>
        <p:nvSpPr>
          <p:cNvPr id="30" name="TextBox 29"/>
          <p:cNvSpPr txBox="1"/>
          <p:nvPr/>
        </p:nvSpPr>
        <p:spPr>
          <a:xfrm>
            <a:off x="457200" y="6044184"/>
            <a:ext cx="10652760" cy="310896"/>
          </a:xfrm>
          <a:prstGeom prst="rect">
            <a:avLst/>
          </a:prstGeom>
          <a:noFill/>
        </p:spPr>
        <p:txBody>
          <a:bodyPr wrap="square" lIns="0" rIns="0" tIns="0" bIns="0">
            <a:spAutoFit/>
          </a:bodyPr>
          <a:lstStyle/>
          <a:p>
            <a:pPr>
              <a:spcAft>
                <a:spcPts val="300"/>
              </a:spcAft>
              <a:defRPr sz="1100" b="0">
                <a:solidFill>
                  <a:srgbClr val="404040"/>
                </a:solidFill>
                <a:latin typeface="Lato"/>
              </a:defRPr>
            </a:pPr>
            <a:r>
              <a:t>Travel and fleet additions raise petrol demand; electrification and new-cohort efficiency offset growth before supply is matched.</a:t>
            </a:r>
          </a:p>
        </p:txBody>
      </p:sp>
      <p:sp>
        <p:nvSpPr>
          <p:cNvPr id="31"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draft fuel_lever_design inputs, 7 Oct 2026; existing input anchors and primary-source URLs in notes. Review outstanding.</a:t>
            </a:r>
          </a:p>
        </p:txBody>
      </p:sp>
      <p:sp>
        <p:nvSpPr>
          <p:cNvPr id="3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Inter-terminal transfers can count the same fuel twice and overstate unique deliveries</a:t>
            </a:r>
          </a:p>
        </p:txBody>
      </p:sp>
      <p:sp>
        <p:nvSpPr>
          <p:cNvPr id="3" name="Slide Number Placeholder"/>
          <p:cNvSpPr>
            <a:spLocks noGrp="1"/>
          </p:cNvSpPr>
          <p:nvPr>
            <p:ph type="sldNum" sz="quarter" idx="12"/>
          </p:nvPr>
        </p:nvSpPr>
        <p:spPr/>
        <p:txBody>
          <a:bodyPr/>
          <a:lstStyle/>
          <a:p>
            <a:pPr>
              <a:defRPr sz="1000">
                <a:latin typeface="Lato"/>
              </a:defRPr>
            </a:pPr>
            <a:r>
              <a:t>22</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49" name="TextBox 148"/>
          <p:cNvSpPr txBox="1"/>
          <p:nvPr/>
        </p:nvSpPr>
        <p:spPr>
          <a:xfrm>
            <a:off x="457200" y="1627632"/>
            <a:ext cx="6446520" cy="384048"/>
          </a:xfrm>
          <a:prstGeom prst="rect">
            <a:avLst/>
          </a:prstGeom>
          <a:noFill/>
        </p:spPr>
        <p:txBody>
          <a:bodyPr wrap="square" lIns="22860" rIns="22860" tIns="0" bIns="0">
            <a:noAutofit/>
          </a:bodyPr>
          <a:lstStyle/>
          <a:p>
            <a:pPr>
              <a:spcAft>
                <a:spcPts val="300"/>
              </a:spcAft>
              <a:defRPr sz="1400" b="1">
                <a:solidFill>
                  <a:srgbClr val="000000"/>
                </a:solidFill>
                <a:latin typeface="Lato"/>
              </a:defRPr>
            </a:pPr>
            <a:r>
              <a:rPr sz="1400" b="1">
                <a:latin typeface="Lato"/>
              </a:rPr>
              <a:t>Unique customer deliveries | illustrative bn litres/year</a:t>
            </a:r>
          </a:p>
        </p:txBody>
      </p:sp>
      <p:cxnSp>
        <p:nvCxnSpPr>
          <p:cNvPr id="150" name="Connector 149"/>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8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8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87" name="TextBox 186"/>
          <p:cNvSpPr txBox="1"/>
          <p:nvPr/>
        </p:nvSpPr>
        <p:spPr>
          <a:xfrm>
            <a:off x="457200" y="2212848"/>
            <a:ext cx="6446520" cy="310896"/>
          </a:xfrm>
          <a:prstGeom prst="rect">
            <a:avLst/>
          </a:prstGeom>
          <a:noFill/>
        </p:spPr>
        <p:txBody>
          <a:bodyPr wrap="square" lIns="0" rIns="0" tIns="0" bIns="0">
            <a:spAutoFit/>
          </a:bodyPr>
          <a:lstStyle/>
          <a:p>
            <a:pPr>
              <a:spcAft>
                <a:spcPts val="300"/>
              </a:spcAft>
              <a:defRPr sz="1400" b="1">
                <a:solidFill>
                  <a:srgbClr val="404040"/>
                </a:solidFill>
                <a:latin typeface="Lato"/>
              </a:defRPr>
            </a:pPr>
            <a:r>
              <a:t>2.8 + 2.0 − 1.8 = 3.0 bn litres counted once</a:t>
            </a:r>
          </a:p>
        </p:txBody>
      </p:sp>
      <p:sp>
        <p:nvSpPr>
          <p:cNvPr id="188" name="TextBox 187"/>
          <p:cNvSpPr txBox="1"/>
          <p:nvPr/>
        </p:nvSpPr>
        <p:spPr>
          <a:xfrm>
            <a:off x="457200" y="2642616"/>
            <a:ext cx="644652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receipts and shared transfer; actual Vopak flows unverified</a:t>
            </a:r>
          </a:p>
        </p:txBody>
      </p:sp>
      <p:sp>
        <p:nvSpPr>
          <p:cNvPr id="189" name="Unique delivery illustration Durban&#10;receipts"/>
          <p:cNvSpPr/>
          <p:nvPr/>
        </p:nvSpPr>
        <p:spPr>
          <a:xfrm>
            <a:off x="868680" y="4262628"/>
            <a:ext cx="822960" cy="1269492"/>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850392" y="394258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2.8</a:t>
            </a:r>
          </a:p>
        </p:txBody>
      </p:sp>
      <p:sp>
        <p:nvSpPr>
          <p:cNvPr id="191" name="TextBox 190"/>
          <p:cNvSpPr txBox="1"/>
          <p:nvPr/>
        </p:nvSpPr>
        <p:spPr>
          <a:xfrm>
            <a:off x="75895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Durban</a:t>
            </a:r>
          </a:p>
          <a:p>
            <a:pPr>
              <a:spcAft>
                <a:spcPts val="300"/>
              </a:spcAft>
              <a:defRPr sz="1100" b="0">
                <a:solidFill>
                  <a:srgbClr val="404040"/>
                </a:solidFill>
                <a:latin typeface="Lato"/>
              </a:defRPr>
            </a:pPr>
            <a:r>
              <a:t>receipts</a:t>
            </a:r>
          </a:p>
        </p:txBody>
      </p:sp>
      <p:cxnSp>
        <p:nvCxnSpPr>
          <p:cNvPr id="192" name="Connector 191"/>
          <p:cNvCxnSpPr/>
          <p:nvPr/>
        </p:nvCxnSpPr>
        <p:spPr>
          <a:xfrm>
            <a:off x="1691640" y="4262628"/>
            <a:ext cx="685799"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3" name="Unique delivery illustration Lesedi&#10;receipts"/>
          <p:cNvSpPr/>
          <p:nvPr/>
        </p:nvSpPr>
        <p:spPr>
          <a:xfrm>
            <a:off x="2377439" y="3355848"/>
            <a:ext cx="822960" cy="90677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2359151"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+2.0</a:t>
            </a:r>
          </a:p>
        </p:txBody>
      </p:sp>
      <p:sp>
        <p:nvSpPr>
          <p:cNvPr id="195" name="TextBox 194"/>
          <p:cNvSpPr txBox="1"/>
          <p:nvPr/>
        </p:nvSpPr>
        <p:spPr>
          <a:xfrm>
            <a:off x="226771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Lesedi</a:t>
            </a:r>
          </a:p>
          <a:p>
            <a:pPr>
              <a:spcAft>
                <a:spcPts val="300"/>
              </a:spcAft>
              <a:defRPr sz="1100" b="0">
                <a:solidFill>
                  <a:srgbClr val="404040"/>
                </a:solidFill>
                <a:latin typeface="Lato"/>
              </a:defRPr>
            </a:pPr>
            <a:r>
              <a:t>receipts</a:t>
            </a:r>
          </a:p>
        </p:txBody>
      </p:sp>
      <p:cxnSp>
        <p:nvCxnSpPr>
          <p:cNvPr id="196" name="Connector 195"/>
          <p:cNvCxnSpPr/>
          <p:nvPr/>
        </p:nvCxnSpPr>
        <p:spPr>
          <a:xfrm>
            <a:off x="3200399" y="3355848"/>
            <a:ext cx="685801"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197" name="Unique delivery illustration Remove shared&#10;transfer"/>
          <p:cNvSpPr/>
          <p:nvPr/>
        </p:nvSpPr>
        <p:spPr>
          <a:xfrm>
            <a:off x="3886200" y="3355848"/>
            <a:ext cx="822960" cy="816102"/>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3867912" y="3035808"/>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−1.8</a:t>
            </a:r>
          </a:p>
        </p:txBody>
      </p:sp>
      <p:sp>
        <p:nvSpPr>
          <p:cNvPr id="199" name="TextBox 198"/>
          <p:cNvSpPr txBox="1"/>
          <p:nvPr/>
        </p:nvSpPr>
        <p:spPr>
          <a:xfrm>
            <a:off x="3776472"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Remove shared</a:t>
            </a:r>
          </a:p>
          <a:p>
            <a:pPr>
              <a:spcAft>
                <a:spcPts val="300"/>
              </a:spcAft>
              <a:defRPr sz="1100" b="0">
                <a:solidFill>
                  <a:srgbClr val="404040"/>
                </a:solidFill>
                <a:latin typeface="Lato"/>
              </a:defRPr>
            </a:pPr>
            <a:r>
              <a:t>transfer</a:t>
            </a:r>
          </a:p>
        </p:txBody>
      </p:sp>
      <p:cxnSp>
        <p:nvCxnSpPr>
          <p:cNvPr id="200" name="Connector 199"/>
          <p:cNvCxnSpPr/>
          <p:nvPr/>
        </p:nvCxnSpPr>
        <p:spPr>
          <a:xfrm>
            <a:off x="4709160" y="4171950"/>
            <a:ext cx="685800" cy="0"/>
          </a:xfrm>
          <a:prstGeom prst="line">
            <a:avLst/>
          </a:prstGeom>
          <a:ln w="7620">
            <a:solidFill>
              <a:srgbClr val="404040"/>
            </a:solidFill>
          </a:ln>
        </p:spPr>
        <p:style>
          <a:lnRef idx="2">
            <a:schemeClr val="accent1"/>
          </a:lnRef>
          <a:fillRef idx="0">
            <a:schemeClr val="accent1"/>
          </a:fillRef>
          <a:effectRef idx="1">
            <a:schemeClr val="accent1"/>
          </a:effectRef>
          <a:fontRef idx="minor">
            <a:schemeClr val="tx1"/>
          </a:fontRef>
        </p:style>
      </p:cxnSp>
      <p:sp>
        <p:nvSpPr>
          <p:cNvPr id="201" name="Unique delivery illustration Unique customer&#10;deliveries"/>
          <p:cNvSpPr/>
          <p:nvPr/>
        </p:nvSpPr>
        <p:spPr>
          <a:xfrm>
            <a:off x="5394959" y="4171950"/>
            <a:ext cx="822960" cy="136017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5376672" y="3851910"/>
            <a:ext cx="859536" cy="274320"/>
          </a:xfrm>
          <a:prstGeom prst="rect">
            <a:avLst/>
          </a:prstGeom>
          <a:noFill/>
        </p:spPr>
        <p:txBody>
          <a:bodyPr wrap="square" lIns="0" rIns="0" tIns="0" bIns="0">
            <a:spAutoFit/>
          </a:bodyPr>
          <a:lstStyle/>
          <a:p>
            <a:pPr>
              <a:spcAft>
                <a:spcPts val="300"/>
              </a:spcAft>
              <a:defRPr sz="1200" b="0">
                <a:solidFill>
                  <a:srgbClr val="404040"/>
                </a:solidFill>
                <a:latin typeface="Lato"/>
              </a:defRPr>
            </a:pPr>
            <a:r>
              <a:t>3.0</a:t>
            </a:r>
          </a:p>
        </p:txBody>
      </p:sp>
      <p:sp>
        <p:nvSpPr>
          <p:cNvPr id="203" name="TextBox 202"/>
          <p:cNvSpPr txBox="1"/>
          <p:nvPr/>
        </p:nvSpPr>
        <p:spPr>
          <a:xfrm>
            <a:off x="5285231" y="5696712"/>
            <a:ext cx="1234440" cy="420624"/>
          </a:xfrm>
          <a:prstGeom prst="rect">
            <a:avLst/>
          </a:prstGeom>
          <a:noFill/>
        </p:spPr>
        <p:txBody>
          <a:bodyPr wrap="square" lIns="0" rIns="0" tIns="0" bIns="0">
            <a:spAutoFit/>
          </a:bodyPr>
          <a:lstStyle/>
          <a:p>
            <a:pPr>
              <a:spcAft>
                <a:spcPts val="300"/>
              </a:spcAft>
              <a:defRPr sz="1100" b="0">
                <a:solidFill>
                  <a:srgbClr val="404040"/>
                </a:solidFill>
                <a:latin typeface="Lato"/>
              </a:defRPr>
            </a:pPr>
            <a:r>
              <a:t>Unique customer</a:t>
            </a:r>
          </a:p>
          <a:p>
            <a:pPr>
              <a:spcAft>
                <a:spcPts val="300"/>
              </a:spcAft>
              <a:defRPr sz="1100" b="0">
                <a:solidFill>
                  <a:srgbClr val="404040"/>
                </a:solidFill>
                <a:latin typeface="Lato"/>
              </a:defRPr>
            </a:pPr>
            <a:r>
              <a:t>deliveries</a:t>
            </a:r>
          </a:p>
        </p:txBody>
      </p:sp>
      <p:sp>
        <p:nvSpPr>
          <p:cNvPr id="204" name="TextBox 203"/>
          <p:cNvSpPr txBox="1"/>
          <p:nvPr/>
        </p:nvSpPr>
        <p:spPr>
          <a:xfrm>
            <a:off x="457200" y="6217920"/>
            <a:ext cx="644652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Use unique served demand in the additional-opportunity screen on page 23.</a:t>
            </a:r>
          </a:p>
        </p:txBody>
      </p:sp>
      <p:sp>
        <p:nvSpPr>
          <p:cNvPr id="205" name="TextBox 204"/>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206" name="Connector 205"/>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07" name="TextBox 206"/>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Remove inter-terminal transfers</a:t>
            </a:r>
          </a:p>
        </p:txBody>
      </p:sp>
      <p:sp>
        <p:nvSpPr>
          <p:cNvPr id="208" name="TextBox 207"/>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example includes 1.8 bn litres transferred through both Durban and Lesedi. Counting both receipts would count that fuel twice.</a:t>
            </a:r>
          </a:p>
        </p:txBody>
      </p:sp>
      <p:sp>
        <p:nvSpPr>
          <p:cNvPr id="209" name="TextBox 208"/>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Use 3.0 in this illustration</a:t>
            </a:r>
          </a:p>
        </p:txBody>
      </p:sp>
      <p:sp>
        <p:nvSpPr>
          <p:cNvPr id="210" name="TextBox 209"/>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The 3.0 result removes the shared transfer and assumes no net stock change or other adjustments. Actual flows remain unverified.</a:t>
            </a:r>
          </a:p>
        </p:txBody>
      </p:sp>
      <p:sp>
        <p:nvSpPr>
          <p:cNvPr id="211" name="TextBox 210"/>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Establish served demand before growth</a:t>
            </a:r>
          </a:p>
        </p:txBody>
      </p:sp>
      <p:sp>
        <p:nvSpPr>
          <p:cNvPr id="212" name="TextBox 211"/>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Match customer, product and period records. The opportunity waterfall on page 23 then removes already-served volumes once.</a:t>
            </a:r>
          </a:p>
        </p:txBody>
      </p:sp>
      <p:cxnSp>
        <p:nvCxnSpPr>
          <p:cNvPr id="213" name="Connector 212"/>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14" name="TextBox 213"/>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215" name="TextBox 214"/>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obtain customer deliveries and transfer records. Manish: reconcile unique served volumes before estimating growth.</a:t>
            </a:r>
          </a:p>
        </p:txBody>
      </p:sp>
      <p:sp>
        <p:nvSpPr>
          <p:cNvPr id="21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Route limits, commercial access and existing business reduce the addressable opportunity</a:t>
            </a:r>
          </a:p>
        </p:txBody>
      </p:sp>
      <p:sp>
        <p:nvSpPr>
          <p:cNvPr id="3" name="Slide Number Placeholder"/>
          <p:cNvSpPr>
            <a:spLocks noGrp="1"/>
          </p:cNvSpPr>
          <p:nvPr>
            <p:ph type="sldNum" sz="quarter" idx="12"/>
          </p:nvPr>
        </p:nvSpPr>
        <p:spPr/>
        <p:txBody>
          <a:bodyPr/>
          <a:lstStyle/>
          <a:p>
            <a:pPr>
              <a:defRPr sz="1000">
                <a:latin typeface="Lato"/>
              </a:defRPr>
            </a:pPr>
            <a:r>
              <a:t>23</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catchment CSV; existing schematic road surface; declared reporting regions. Reach and customer volumes unverified.</a:t>
            </a:r>
          </a:p>
        </p:txBody>
      </p:sp>
      <p:sp>
        <p:nvSpPr>
          <p:cNvPr id="59" name="TextBox 58"/>
          <p:cNvSpPr txBox="1"/>
          <p:nvPr/>
        </p:nvSpPr>
        <p:spPr>
          <a:xfrm>
            <a:off x="457200" y="1627632"/>
            <a:ext cx="1065276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Illustrative reach and volume bridge | bn litres/year; customer capture unverified</a:t>
            </a:r>
          </a:p>
        </p:txBody>
      </p:sp>
      <p:cxnSp>
        <p:nvCxnSpPr>
          <p:cNvPr id="60" name="Connector 5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Selected market and illustrated road reach</a:t>
            </a:r>
          </a:p>
        </p:txBody>
      </p:sp>
      <p:sp>
        <p:nvSpPr>
          <p:cNvPr id="62" name="Reach map frame"/>
          <p:cNvSpPr/>
          <p:nvPr/>
        </p:nvSpPr>
        <p:spPr>
          <a:xfrm>
            <a:off x="457200" y="2770632"/>
            <a:ext cx="4160520" cy="236057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South Africa context"/>
          <p:cNvSpPr/>
          <p:nvPr/>
        </p:nvSpPr>
        <p:spPr>
          <a:xfrm>
            <a:off x="1309200" y="2867051"/>
            <a:ext cx="2409456" cy="2086638"/>
          </a:xfrm>
          <a:custGeom>
            <a:avLst/>
            <a:gdLst/>
            <a:ahLst/>
            <a:cxnLst/>
            <a:rect l="l" t="t" r="r" b="b"/>
            <a:pathLst>
              <a:path w="2409456" h="2086638">
                <a:moveTo>
                  <a:pt x="1914765" y="6196"/>
                </a:moveTo>
                <a:lnTo>
                  <a:pt x="1916707" y="6070"/>
                </a:lnTo>
                <a:lnTo>
                  <a:pt x="1960846" y="0"/>
                </a:lnTo>
                <a:lnTo>
                  <a:pt x="1997395" y="7641"/>
                </a:lnTo>
                <a:lnTo>
                  <a:pt x="2040998" y="27029"/>
                </a:lnTo>
                <a:lnTo>
                  <a:pt x="2082145" y="35028"/>
                </a:lnTo>
                <a:lnTo>
                  <a:pt x="2120924" y="31621"/>
                </a:lnTo>
                <a:lnTo>
                  <a:pt x="2152341" y="31904"/>
                </a:lnTo>
                <a:lnTo>
                  <a:pt x="2176350" y="35874"/>
                </a:lnTo>
                <a:lnTo>
                  <a:pt x="2195069" y="42916"/>
                </a:lnTo>
                <a:lnTo>
                  <a:pt x="2208540" y="53017"/>
                </a:lnTo>
                <a:lnTo>
                  <a:pt x="2208959" y="61726"/>
                </a:lnTo>
                <a:lnTo>
                  <a:pt x="2209858" y="65720"/>
                </a:lnTo>
                <a:lnTo>
                  <a:pt x="2216146" y="88977"/>
                </a:lnTo>
                <a:lnTo>
                  <a:pt x="2225471" y="123713"/>
                </a:lnTo>
                <a:lnTo>
                  <a:pt x="2231227" y="155647"/>
                </a:lnTo>
                <a:lnTo>
                  <a:pt x="2239085" y="199457"/>
                </a:lnTo>
                <a:lnTo>
                  <a:pt x="2237621" y="223542"/>
                </a:lnTo>
                <a:lnTo>
                  <a:pt x="2239593" y="232986"/>
                </a:lnTo>
                <a:lnTo>
                  <a:pt x="2247913" y="245091"/>
                </a:lnTo>
                <a:lnTo>
                  <a:pt x="2257781" y="265659"/>
                </a:lnTo>
                <a:lnTo>
                  <a:pt x="2260921" y="277204"/>
                </a:lnTo>
                <a:lnTo>
                  <a:pt x="2264140" y="285882"/>
                </a:lnTo>
                <a:lnTo>
                  <a:pt x="2274779" y="302603"/>
                </a:lnTo>
                <a:lnTo>
                  <a:pt x="2282417" y="327493"/>
                </a:lnTo>
                <a:lnTo>
                  <a:pt x="2288263" y="360215"/>
                </a:lnTo>
                <a:lnTo>
                  <a:pt x="2293880" y="376077"/>
                </a:lnTo>
                <a:lnTo>
                  <a:pt x="2295897" y="383828"/>
                </a:lnTo>
                <a:lnTo>
                  <a:pt x="2298066" y="397868"/>
                </a:lnTo>
                <a:lnTo>
                  <a:pt x="2296123" y="427127"/>
                </a:lnTo>
                <a:lnTo>
                  <a:pt x="2294499" y="461057"/>
                </a:lnTo>
                <a:lnTo>
                  <a:pt x="2292682" y="498952"/>
                </a:lnTo>
                <a:lnTo>
                  <a:pt x="2291193" y="530232"/>
                </a:lnTo>
                <a:lnTo>
                  <a:pt x="2289201" y="545995"/>
                </a:lnTo>
                <a:lnTo>
                  <a:pt x="2287543" y="590967"/>
                </a:lnTo>
                <a:lnTo>
                  <a:pt x="2276695" y="613835"/>
                </a:lnTo>
                <a:lnTo>
                  <a:pt x="2276893" y="632278"/>
                </a:lnTo>
                <a:lnTo>
                  <a:pt x="2279209" y="644366"/>
                </a:lnTo>
                <a:lnTo>
                  <a:pt x="2275158" y="645975"/>
                </a:lnTo>
                <a:lnTo>
                  <a:pt x="2267578" y="647677"/>
                </a:lnTo>
                <a:lnTo>
                  <a:pt x="2234192" y="626903"/>
                </a:lnTo>
                <a:lnTo>
                  <a:pt x="2201640" y="605194"/>
                </a:lnTo>
                <a:lnTo>
                  <a:pt x="2196821" y="604343"/>
                </a:lnTo>
                <a:lnTo>
                  <a:pt x="2189642" y="606051"/>
                </a:lnTo>
                <a:lnTo>
                  <a:pt x="2169882" y="619546"/>
                </a:lnTo>
                <a:lnTo>
                  <a:pt x="2151036" y="641291"/>
                </a:lnTo>
                <a:lnTo>
                  <a:pt x="2141967" y="660195"/>
                </a:lnTo>
                <a:lnTo>
                  <a:pt x="2127936" y="679505"/>
                </a:lnTo>
                <a:lnTo>
                  <a:pt x="2105384" y="710601"/>
                </a:lnTo>
                <a:lnTo>
                  <a:pt x="2102952" y="717426"/>
                </a:lnTo>
                <a:lnTo>
                  <a:pt x="2101518" y="743511"/>
                </a:lnTo>
                <a:lnTo>
                  <a:pt x="2101380" y="768401"/>
                </a:lnTo>
                <a:lnTo>
                  <a:pt x="2103053" y="771952"/>
                </a:lnTo>
                <a:lnTo>
                  <a:pt x="2114313" y="773677"/>
                </a:lnTo>
                <a:lnTo>
                  <a:pt x="2121439" y="794436"/>
                </a:lnTo>
                <a:lnTo>
                  <a:pt x="2138350" y="827771"/>
                </a:lnTo>
                <a:lnTo>
                  <a:pt x="2168328" y="850162"/>
                </a:lnTo>
                <a:lnTo>
                  <a:pt x="2196600" y="861112"/>
                </a:lnTo>
                <a:lnTo>
                  <a:pt x="2236614" y="865706"/>
                </a:lnTo>
                <a:lnTo>
                  <a:pt x="2268373" y="866841"/>
                </a:lnTo>
                <a:lnTo>
                  <a:pt x="2267793" y="844923"/>
                </a:lnTo>
                <a:lnTo>
                  <a:pt x="2272870" y="809967"/>
                </a:lnTo>
                <a:lnTo>
                  <a:pt x="2278257" y="786586"/>
                </a:lnTo>
                <a:lnTo>
                  <a:pt x="2282756" y="785798"/>
                </a:lnTo>
                <a:lnTo>
                  <a:pt x="2291018" y="788545"/>
                </a:lnTo>
                <a:lnTo>
                  <a:pt x="2295492" y="791233"/>
                </a:lnTo>
                <a:lnTo>
                  <a:pt x="2308346" y="791011"/>
                </a:lnTo>
                <a:lnTo>
                  <a:pt x="2330782" y="797022"/>
                </a:lnTo>
                <a:lnTo>
                  <a:pt x="2349135" y="797635"/>
                </a:lnTo>
                <a:lnTo>
                  <a:pt x="2365539" y="798210"/>
                </a:lnTo>
                <a:lnTo>
                  <a:pt x="2393282" y="799188"/>
                </a:lnTo>
                <a:lnTo>
                  <a:pt x="2409456" y="799966"/>
                </a:lnTo>
                <a:lnTo>
                  <a:pt x="2401593" y="837690"/>
                </a:lnTo>
                <a:lnTo>
                  <a:pt x="2376787" y="895947"/>
                </a:lnTo>
                <a:lnTo>
                  <a:pt x="2367916" y="922827"/>
                </a:lnTo>
                <a:lnTo>
                  <a:pt x="2343944" y="1019421"/>
                </a:lnTo>
                <a:lnTo>
                  <a:pt x="2317672" y="1067222"/>
                </a:lnTo>
                <a:lnTo>
                  <a:pt x="2303435" y="1086754"/>
                </a:lnTo>
                <a:lnTo>
                  <a:pt x="2263791" y="1120474"/>
                </a:lnTo>
                <a:lnTo>
                  <a:pt x="2252950" y="1127159"/>
                </a:lnTo>
                <a:lnTo>
                  <a:pt x="2243430" y="1131292"/>
                </a:lnTo>
                <a:lnTo>
                  <a:pt x="2226792" y="1134471"/>
                </a:lnTo>
                <a:lnTo>
                  <a:pt x="2158729" y="1203696"/>
                </a:lnTo>
                <a:lnTo>
                  <a:pt x="2133049" y="1237534"/>
                </a:lnTo>
                <a:lnTo>
                  <a:pt x="2109301" y="1287611"/>
                </a:lnTo>
                <a:lnTo>
                  <a:pt x="2086964" y="1314644"/>
                </a:lnTo>
                <a:lnTo>
                  <a:pt x="2053340" y="1373059"/>
                </a:lnTo>
                <a:lnTo>
                  <a:pt x="2023805" y="1418032"/>
                </a:lnTo>
                <a:lnTo>
                  <a:pt x="1995695" y="1459007"/>
                </a:lnTo>
                <a:lnTo>
                  <a:pt x="1948034" y="1515112"/>
                </a:lnTo>
                <a:lnTo>
                  <a:pt x="1927363" y="1531066"/>
                </a:lnTo>
                <a:lnTo>
                  <a:pt x="1913586" y="1538201"/>
                </a:lnTo>
                <a:lnTo>
                  <a:pt x="1876574" y="1570506"/>
                </a:lnTo>
                <a:lnTo>
                  <a:pt x="1824461" y="1622852"/>
                </a:lnTo>
                <a:lnTo>
                  <a:pt x="1784547" y="1669581"/>
                </a:lnTo>
                <a:lnTo>
                  <a:pt x="1725827" y="1722305"/>
                </a:lnTo>
                <a:lnTo>
                  <a:pt x="1692237" y="1745224"/>
                </a:lnTo>
                <a:lnTo>
                  <a:pt x="1641684" y="1790906"/>
                </a:lnTo>
                <a:lnTo>
                  <a:pt x="1627799" y="1797516"/>
                </a:lnTo>
                <a:lnTo>
                  <a:pt x="1571448" y="1839942"/>
                </a:lnTo>
                <a:lnTo>
                  <a:pt x="1531229" y="1865684"/>
                </a:lnTo>
                <a:lnTo>
                  <a:pt x="1466564" y="1895383"/>
                </a:lnTo>
                <a:lnTo>
                  <a:pt x="1441003" y="1903651"/>
                </a:lnTo>
                <a:lnTo>
                  <a:pt x="1380328" y="1895048"/>
                </a:lnTo>
                <a:lnTo>
                  <a:pt x="1354917" y="1899103"/>
                </a:lnTo>
                <a:lnTo>
                  <a:pt x="1333612" y="1917534"/>
                </a:lnTo>
                <a:lnTo>
                  <a:pt x="1331484" y="1944177"/>
                </a:lnTo>
                <a:lnTo>
                  <a:pt x="1322654" y="1948127"/>
                </a:lnTo>
                <a:lnTo>
                  <a:pt x="1309310" y="1946873"/>
                </a:lnTo>
                <a:lnTo>
                  <a:pt x="1266989" y="1935634"/>
                </a:lnTo>
                <a:lnTo>
                  <a:pt x="1244007" y="1937744"/>
                </a:lnTo>
                <a:lnTo>
                  <a:pt x="1230607" y="1951962"/>
                </a:lnTo>
                <a:lnTo>
                  <a:pt x="1219844" y="1969990"/>
                </a:lnTo>
                <a:lnTo>
                  <a:pt x="1188006" y="1970989"/>
                </a:lnTo>
                <a:lnTo>
                  <a:pt x="1131165" y="1952649"/>
                </a:lnTo>
                <a:lnTo>
                  <a:pt x="1064260" y="1941924"/>
                </a:lnTo>
                <a:lnTo>
                  <a:pt x="1048777" y="1940850"/>
                </a:lnTo>
                <a:lnTo>
                  <a:pt x="1016606" y="1955111"/>
                </a:lnTo>
                <a:lnTo>
                  <a:pt x="1005325" y="1957292"/>
                </a:lnTo>
                <a:lnTo>
                  <a:pt x="958141" y="1955113"/>
                </a:lnTo>
                <a:lnTo>
                  <a:pt x="931809" y="1946876"/>
                </a:lnTo>
                <a:lnTo>
                  <a:pt x="906791" y="1947360"/>
                </a:lnTo>
                <a:lnTo>
                  <a:pt x="887786" y="1955001"/>
                </a:lnTo>
                <a:lnTo>
                  <a:pt x="864609" y="1958075"/>
                </a:lnTo>
                <a:lnTo>
                  <a:pt x="803348" y="2009790"/>
                </a:lnTo>
                <a:lnTo>
                  <a:pt x="771045" y="2010799"/>
                </a:lnTo>
                <a:lnTo>
                  <a:pt x="743375" y="2017468"/>
                </a:lnTo>
                <a:lnTo>
                  <a:pt x="729552" y="2017723"/>
                </a:lnTo>
                <a:lnTo>
                  <a:pt x="703439" y="2011605"/>
                </a:lnTo>
                <a:lnTo>
                  <a:pt x="693824" y="2012409"/>
                </a:lnTo>
                <a:lnTo>
                  <a:pt x="679231" y="2016076"/>
                </a:lnTo>
                <a:lnTo>
                  <a:pt x="664848" y="2025428"/>
                </a:lnTo>
                <a:lnTo>
                  <a:pt x="631492" y="2030527"/>
                </a:lnTo>
                <a:lnTo>
                  <a:pt x="618793" y="2038551"/>
                </a:lnTo>
                <a:lnTo>
                  <a:pt x="564368" y="2086638"/>
                </a:lnTo>
                <a:lnTo>
                  <a:pt x="551427" y="2085387"/>
                </a:lnTo>
                <a:lnTo>
                  <a:pt x="540887" y="2082876"/>
                </a:lnTo>
                <a:lnTo>
                  <a:pt x="511555" y="2083688"/>
                </a:lnTo>
                <a:lnTo>
                  <a:pt x="477074" y="2060943"/>
                </a:lnTo>
                <a:lnTo>
                  <a:pt x="464431" y="2063123"/>
                </a:lnTo>
                <a:lnTo>
                  <a:pt x="467446" y="2055657"/>
                </a:lnTo>
                <a:lnTo>
                  <a:pt x="467772" y="2042673"/>
                </a:lnTo>
                <a:lnTo>
                  <a:pt x="460254" y="2033893"/>
                </a:lnTo>
                <a:lnTo>
                  <a:pt x="455277" y="2030058"/>
                </a:lnTo>
                <a:lnTo>
                  <a:pt x="442258" y="2031483"/>
                </a:lnTo>
                <a:lnTo>
                  <a:pt x="434694" y="2020825"/>
                </a:lnTo>
                <a:lnTo>
                  <a:pt x="414630" y="2020830"/>
                </a:lnTo>
                <a:lnTo>
                  <a:pt x="407870" y="2023986"/>
                </a:lnTo>
                <a:lnTo>
                  <a:pt x="398298" y="2025068"/>
                </a:lnTo>
                <a:lnTo>
                  <a:pt x="396787" y="2013970"/>
                </a:lnTo>
                <a:lnTo>
                  <a:pt x="397137" y="2006907"/>
                </a:lnTo>
                <a:lnTo>
                  <a:pt x="395916" y="1996148"/>
                </a:lnTo>
                <a:lnTo>
                  <a:pt x="392729" y="1983040"/>
                </a:lnTo>
                <a:lnTo>
                  <a:pt x="384710" y="1979245"/>
                </a:lnTo>
                <a:lnTo>
                  <a:pt x="378640" y="1977801"/>
                </a:lnTo>
                <a:lnTo>
                  <a:pt x="364490" y="1979494"/>
                </a:lnTo>
                <a:lnTo>
                  <a:pt x="354796" y="1981464"/>
                </a:lnTo>
                <a:lnTo>
                  <a:pt x="350437" y="1985575"/>
                </a:lnTo>
                <a:lnTo>
                  <a:pt x="345788" y="1995570"/>
                </a:lnTo>
                <a:lnTo>
                  <a:pt x="347554" y="2025062"/>
                </a:lnTo>
                <a:lnTo>
                  <a:pt x="340012" y="2017012"/>
                </a:lnTo>
                <a:lnTo>
                  <a:pt x="330918" y="1999811"/>
                </a:lnTo>
                <a:lnTo>
                  <a:pt x="327170" y="1981118"/>
                </a:lnTo>
                <a:lnTo>
                  <a:pt x="328650" y="1958660"/>
                </a:lnTo>
                <a:lnTo>
                  <a:pt x="343332" y="1949325"/>
                </a:lnTo>
                <a:lnTo>
                  <a:pt x="341222" y="1934333"/>
                </a:lnTo>
                <a:lnTo>
                  <a:pt x="337189" y="1921456"/>
                </a:lnTo>
                <a:lnTo>
                  <a:pt x="318074" y="1888991"/>
                </a:lnTo>
                <a:lnTo>
                  <a:pt x="310450" y="1874080"/>
                </a:lnTo>
                <a:lnTo>
                  <a:pt x="295295" y="1864567"/>
                </a:lnTo>
                <a:lnTo>
                  <a:pt x="282409" y="1840263"/>
                </a:lnTo>
                <a:lnTo>
                  <a:pt x="270432" y="1831887"/>
                </a:lnTo>
                <a:lnTo>
                  <a:pt x="264554" y="1814700"/>
                </a:lnTo>
                <a:lnTo>
                  <a:pt x="252509" y="1801388"/>
                </a:lnTo>
                <a:lnTo>
                  <a:pt x="247280" y="1779506"/>
                </a:lnTo>
                <a:lnTo>
                  <a:pt x="252600" y="1766431"/>
                </a:lnTo>
                <a:lnTo>
                  <a:pt x="261884" y="1758921"/>
                </a:lnTo>
                <a:lnTo>
                  <a:pt x="272514" y="1769288"/>
                </a:lnTo>
                <a:lnTo>
                  <a:pt x="284554" y="1764261"/>
                </a:lnTo>
                <a:lnTo>
                  <a:pt x="301085" y="1747226"/>
                </a:lnTo>
                <a:lnTo>
                  <a:pt x="309969" y="1722341"/>
                </a:lnTo>
                <a:lnTo>
                  <a:pt x="308244" y="1683460"/>
                </a:lnTo>
                <a:lnTo>
                  <a:pt x="304090" y="1659351"/>
                </a:lnTo>
                <a:lnTo>
                  <a:pt x="286240" y="1597475"/>
                </a:lnTo>
                <a:lnTo>
                  <a:pt x="278716" y="1583460"/>
                </a:lnTo>
                <a:lnTo>
                  <a:pt x="244177" y="1540487"/>
                </a:lnTo>
                <a:lnTo>
                  <a:pt x="203392" y="1482685"/>
                </a:lnTo>
                <a:lnTo>
                  <a:pt x="150199" y="1390954"/>
                </a:lnTo>
                <a:lnTo>
                  <a:pt x="123811" y="1335517"/>
                </a:lnTo>
                <a:lnTo>
                  <a:pt x="81676" y="1222931"/>
                </a:lnTo>
                <a:lnTo>
                  <a:pt x="46812" y="1160016"/>
                </a:lnTo>
                <a:lnTo>
                  <a:pt x="5094" y="1101978"/>
                </a:lnTo>
                <a:lnTo>
                  <a:pt x="0" y="1098377"/>
                </a:lnTo>
                <a:lnTo>
                  <a:pt x="5207" y="1090585"/>
                </a:lnTo>
                <a:lnTo>
                  <a:pt x="24393" y="1075133"/>
                </a:lnTo>
                <a:lnTo>
                  <a:pt x="33317" y="1070701"/>
                </a:lnTo>
                <a:lnTo>
                  <a:pt x="38315" y="1072100"/>
                </a:lnTo>
                <a:lnTo>
                  <a:pt x="42800" y="1067918"/>
                </a:lnTo>
                <a:lnTo>
                  <a:pt x="46761" y="1058125"/>
                </a:lnTo>
                <a:lnTo>
                  <a:pt x="47174" y="1049161"/>
                </a:lnTo>
                <a:lnTo>
                  <a:pt x="48589" y="1036421"/>
                </a:lnTo>
                <a:lnTo>
                  <a:pt x="52598" y="1028587"/>
                </a:lnTo>
                <a:lnTo>
                  <a:pt x="56548" y="1013232"/>
                </a:lnTo>
                <a:lnTo>
                  <a:pt x="64357" y="1003039"/>
                </a:lnTo>
                <a:lnTo>
                  <a:pt x="81864" y="995470"/>
                </a:lnTo>
                <a:lnTo>
                  <a:pt x="96001" y="1003012"/>
                </a:lnTo>
                <a:lnTo>
                  <a:pt x="102233" y="1010935"/>
                </a:lnTo>
                <a:lnTo>
                  <a:pt x="105287" y="1021721"/>
                </a:lnTo>
                <a:lnTo>
                  <a:pt x="111629" y="1026613"/>
                </a:lnTo>
                <a:lnTo>
                  <a:pt x="121247" y="1025618"/>
                </a:lnTo>
                <a:lnTo>
                  <a:pt x="128472" y="1031915"/>
                </a:lnTo>
                <a:lnTo>
                  <a:pt x="133285" y="1045487"/>
                </a:lnTo>
                <a:lnTo>
                  <a:pt x="133126" y="1055559"/>
                </a:lnTo>
                <a:lnTo>
                  <a:pt x="128043" y="1062131"/>
                </a:lnTo>
                <a:lnTo>
                  <a:pt x="129331" y="1070250"/>
                </a:lnTo>
                <a:lnTo>
                  <a:pt x="136956" y="1079953"/>
                </a:lnTo>
                <a:lnTo>
                  <a:pt x="140446" y="1089404"/>
                </a:lnTo>
                <a:lnTo>
                  <a:pt x="145926" y="1101819"/>
                </a:lnTo>
                <a:lnTo>
                  <a:pt x="170869" y="1107689"/>
                </a:lnTo>
                <a:lnTo>
                  <a:pt x="183087" y="1111121"/>
                </a:lnTo>
                <a:lnTo>
                  <a:pt x="203795" y="1111282"/>
                </a:lnTo>
                <a:lnTo>
                  <a:pt x="223621" y="1115788"/>
                </a:lnTo>
                <a:lnTo>
                  <a:pt x="242555" y="1124669"/>
                </a:lnTo>
                <a:lnTo>
                  <a:pt x="272835" y="1125342"/>
                </a:lnTo>
                <a:lnTo>
                  <a:pt x="314505" y="1117918"/>
                </a:lnTo>
                <a:lnTo>
                  <a:pt x="349174" y="1118377"/>
                </a:lnTo>
                <a:lnTo>
                  <a:pt x="376811" y="1126689"/>
                </a:lnTo>
                <a:lnTo>
                  <a:pt x="396551" y="1127499"/>
                </a:lnTo>
                <a:lnTo>
                  <a:pt x="408435" y="1120780"/>
                </a:lnTo>
                <a:lnTo>
                  <a:pt x="413288" y="1111660"/>
                </a:lnTo>
                <a:lnTo>
                  <a:pt x="411101" y="1100152"/>
                </a:lnTo>
                <a:lnTo>
                  <a:pt x="416802" y="1092529"/>
                </a:lnTo>
                <a:lnTo>
                  <a:pt x="430379" y="1088767"/>
                </a:lnTo>
                <a:lnTo>
                  <a:pt x="440966" y="1079535"/>
                </a:lnTo>
                <a:lnTo>
                  <a:pt x="448582" y="1064794"/>
                </a:lnTo>
                <a:lnTo>
                  <a:pt x="467206" y="1052258"/>
                </a:lnTo>
                <a:lnTo>
                  <a:pt x="496853" y="1041947"/>
                </a:lnTo>
                <a:lnTo>
                  <a:pt x="511813" y="1041617"/>
                </a:lnTo>
                <a:lnTo>
                  <a:pt x="510841" y="1018363"/>
                </a:lnTo>
                <a:lnTo>
                  <a:pt x="507795" y="944962"/>
                </a:lnTo>
                <a:lnTo>
                  <a:pt x="504782" y="871566"/>
                </a:lnTo>
                <a:lnTo>
                  <a:pt x="501803" y="798194"/>
                </a:lnTo>
                <a:lnTo>
                  <a:pt x="498856" y="724814"/>
                </a:lnTo>
                <a:lnTo>
                  <a:pt x="495942" y="651442"/>
                </a:lnTo>
                <a:lnTo>
                  <a:pt x="493062" y="578097"/>
                </a:lnTo>
                <a:lnTo>
                  <a:pt x="490215" y="504747"/>
                </a:lnTo>
                <a:lnTo>
                  <a:pt x="487557" y="435498"/>
                </a:lnTo>
                <a:lnTo>
                  <a:pt x="494990" y="440194"/>
                </a:lnTo>
                <a:lnTo>
                  <a:pt x="543927" y="475066"/>
                </a:lnTo>
                <a:lnTo>
                  <a:pt x="557437" y="493904"/>
                </a:lnTo>
                <a:lnTo>
                  <a:pt x="564236" y="505904"/>
                </a:lnTo>
                <a:lnTo>
                  <a:pt x="586158" y="549668"/>
                </a:lnTo>
                <a:lnTo>
                  <a:pt x="602670" y="589035"/>
                </a:lnTo>
                <a:lnTo>
                  <a:pt x="615966" y="618691"/>
                </a:lnTo>
                <a:lnTo>
                  <a:pt x="617351" y="632414"/>
                </a:lnTo>
                <a:lnTo>
                  <a:pt x="619524" y="645804"/>
                </a:lnTo>
                <a:lnTo>
                  <a:pt x="621472" y="652348"/>
                </a:lnTo>
                <a:lnTo>
                  <a:pt x="620579" y="659700"/>
                </a:lnTo>
                <a:lnTo>
                  <a:pt x="612498" y="676365"/>
                </a:lnTo>
                <a:lnTo>
                  <a:pt x="604129" y="689207"/>
                </a:lnTo>
                <a:lnTo>
                  <a:pt x="594162" y="706692"/>
                </a:lnTo>
                <a:lnTo>
                  <a:pt x="593935" y="729330"/>
                </a:lnTo>
                <a:lnTo>
                  <a:pt x="598045" y="755828"/>
                </a:lnTo>
                <a:lnTo>
                  <a:pt x="604963" y="768839"/>
                </a:lnTo>
                <a:lnTo>
                  <a:pt x="613214" y="772901"/>
                </a:lnTo>
                <a:lnTo>
                  <a:pt x="632374" y="765622"/>
                </a:lnTo>
                <a:lnTo>
                  <a:pt x="644719" y="767237"/>
                </a:lnTo>
                <a:lnTo>
                  <a:pt x="662198" y="771723"/>
                </a:lnTo>
                <a:lnTo>
                  <a:pt x="718898" y="766840"/>
                </a:lnTo>
                <a:lnTo>
                  <a:pt x="725807" y="768267"/>
                </a:lnTo>
                <a:lnTo>
                  <a:pt x="747295" y="769560"/>
                </a:lnTo>
                <a:lnTo>
                  <a:pt x="754402" y="767171"/>
                </a:lnTo>
                <a:lnTo>
                  <a:pt x="760670" y="761374"/>
                </a:lnTo>
                <a:lnTo>
                  <a:pt x="767688" y="745209"/>
                </a:lnTo>
                <a:lnTo>
                  <a:pt x="774210" y="739798"/>
                </a:lnTo>
                <a:lnTo>
                  <a:pt x="786196" y="736780"/>
                </a:lnTo>
                <a:lnTo>
                  <a:pt x="800377" y="732119"/>
                </a:lnTo>
                <a:lnTo>
                  <a:pt x="812019" y="722648"/>
                </a:lnTo>
                <a:lnTo>
                  <a:pt x="830106" y="690647"/>
                </a:lnTo>
                <a:lnTo>
                  <a:pt x="867181" y="661810"/>
                </a:lnTo>
                <a:lnTo>
                  <a:pt x="878619" y="654872"/>
                </a:lnTo>
                <a:lnTo>
                  <a:pt x="885773" y="647187"/>
                </a:lnTo>
                <a:lnTo>
                  <a:pt x="891925" y="636915"/>
                </a:lnTo>
                <a:lnTo>
                  <a:pt x="904524" y="601389"/>
                </a:lnTo>
                <a:lnTo>
                  <a:pt x="914033" y="571812"/>
                </a:lnTo>
                <a:lnTo>
                  <a:pt x="917215" y="557900"/>
                </a:lnTo>
                <a:lnTo>
                  <a:pt x="925800" y="535116"/>
                </a:lnTo>
                <a:lnTo>
                  <a:pt x="936426" y="520486"/>
                </a:lnTo>
                <a:lnTo>
                  <a:pt x="946923" y="512694"/>
                </a:lnTo>
                <a:lnTo>
                  <a:pt x="952210" y="510660"/>
                </a:lnTo>
                <a:lnTo>
                  <a:pt x="965835" y="506551"/>
                </a:lnTo>
                <a:lnTo>
                  <a:pt x="983382" y="502654"/>
                </a:lnTo>
                <a:lnTo>
                  <a:pt x="1001926" y="506492"/>
                </a:lnTo>
                <a:lnTo>
                  <a:pt x="1021863" y="514985"/>
                </a:lnTo>
                <a:lnTo>
                  <a:pt x="1044392" y="529495"/>
                </a:lnTo>
                <a:lnTo>
                  <a:pt x="1067446" y="547507"/>
                </a:lnTo>
                <a:lnTo>
                  <a:pt x="1078053" y="556685"/>
                </a:lnTo>
                <a:lnTo>
                  <a:pt x="1089426" y="560741"/>
                </a:lnTo>
                <a:lnTo>
                  <a:pt x="1109628" y="562031"/>
                </a:lnTo>
                <a:lnTo>
                  <a:pt x="1122863" y="561616"/>
                </a:lnTo>
                <a:lnTo>
                  <a:pt x="1143542" y="579627"/>
                </a:lnTo>
                <a:lnTo>
                  <a:pt x="1153955" y="580716"/>
                </a:lnTo>
                <a:lnTo>
                  <a:pt x="1177240" y="586108"/>
                </a:lnTo>
                <a:lnTo>
                  <a:pt x="1205983" y="591679"/>
                </a:lnTo>
                <a:lnTo>
                  <a:pt x="1224070" y="591007"/>
                </a:lnTo>
                <a:lnTo>
                  <a:pt x="1243443" y="581188"/>
                </a:lnTo>
                <a:lnTo>
                  <a:pt x="1257425" y="580774"/>
                </a:lnTo>
                <a:lnTo>
                  <a:pt x="1275494" y="581586"/>
                </a:lnTo>
                <a:lnTo>
                  <a:pt x="1295350" y="578942"/>
                </a:lnTo>
                <a:lnTo>
                  <a:pt x="1309933" y="574786"/>
                </a:lnTo>
                <a:lnTo>
                  <a:pt x="1321107" y="566310"/>
                </a:lnTo>
                <a:lnTo>
                  <a:pt x="1330966" y="557029"/>
                </a:lnTo>
                <a:lnTo>
                  <a:pt x="1342389" y="529322"/>
                </a:lnTo>
                <a:lnTo>
                  <a:pt x="1349022" y="507007"/>
                </a:lnTo>
                <a:lnTo>
                  <a:pt x="1359270" y="481368"/>
                </a:lnTo>
                <a:lnTo>
                  <a:pt x="1371894" y="446623"/>
                </a:lnTo>
                <a:lnTo>
                  <a:pt x="1376480" y="422375"/>
                </a:lnTo>
                <a:lnTo>
                  <a:pt x="1381088" y="415727"/>
                </a:lnTo>
                <a:lnTo>
                  <a:pt x="1399192" y="408449"/>
                </a:lnTo>
                <a:lnTo>
                  <a:pt x="1414167" y="403476"/>
                </a:lnTo>
                <a:lnTo>
                  <a:pt x="1454431" y="394343"/>
                </a:lnTo>
                <a:lnTo>
                  <a:pt x="1462724" y="389351"/>
                </a:lnTo>
                <a:lnTo>
                  <a:pt x="1470370" y="377996"/>
                </a:lnTo>
                <a:lnTo>
                  <a:pt x="1488156" y="358805"/>
                </a:lnTo>
                <a:lnTo>
                  <a:pt x="1510039" y="342893"/>
                </a:lnTo>
                <a:lnTo>
                  <a:pt x="1521349" y="333768"/>
                </a:lnTo>
                <a:lnTo>
                  <a:pt x="1543016" y="255419"/>
                </a:lnTo>
                <a:lnTo>
                  <a:pt x="1545651" y="245755"/>
                </a:lnTo>
                <a:lnTo>
                  <a:pt x="1560948" y="225132"/>
                </a:lnTo>
                <a:lnTo>
                  <a:pt x="1570343" y="216472"/>
                </a:lnTo>
                <a:lnTo>
                  <a:pt x="1576305" y="216415"/>
                </a:lnTo>
                <a:lnTo>
                  <a:pt x="1584868" y="211064"/>
                </a:lnTo>
                <a:lnTo>
                  <a:pt x="1596039" y="200421"/>
                </a:lnTo>
                <a:lnTo>
                  <a:pt x="1609231" y="193976"/>
                </a:lnTo>
                <a:lnTo>
                  <a:pt x="1624438" y="191765"/>
                </a:lnTo>
                <a:lnTo>
                  <a:pt x="1634394" y="184758"/>
                </a:lnTo>
                <a:lnTo>
                  <a:pt x="1639114" y="172994"/>
                </a:lnTo>
                <a:lnTo>
                  <a:pt x="1647029" y="167399"/>
                </a:lnTo>
                <a:lnTo>
                  <a:pt x="1658151" y="167961"/>
                </a:lnTo>
                <a:lnTo>
                  <a:pt x="1664557" y="164336"/>
                </a:lnTo>
                <a:lnTo>
                  <a:pt x="1666281" y="156488"/>
                </a:lnTo>
                <a:lnTo>
                  <a:pt x="1673140" y="149898"/>
                </a:lnTo>
                <a:lnTo>
                  <a:pt x="1685156" y="144556"/>
                </a:lnTo>
                <a:lnTo>
                  <a:pt x="1691531" y="138058"/>
                </a:lnTo>
                <a:lnTo>
                  <a:pt x="1692261" y="130399"/>
                </a:lnTo>
                <a:lnTo>
                  <a:pt x="1706861" y="112080"/>
                </a:lnTo>
                <a:lnTo>
                  <a:pt x="1735415" y="83119"/>
                </a:lnTo>
                <a:lnTo>
                  <a:pt x="1762091" y="67296"/>
                </a:lnTo>
                <a:lnTo>
                  <a:pt x="1786870" y="64619"/>
                </a:lnTo>
                <a:lnTo>
                  <a:pt x="1810426" y="59121"/>
                </a:lnTo>
                <a:lnTo>
                  <a:pt x="1832798" y="50798"/>
                </a:lnTo>
                <a:lnTo>
                  <a:pt x="1849444" y="37185"/>
                </a:lnTo>
                <a:lnTo>
                  <a:pt x="1860377" y="18300"/>
                </a:lnTo>
                <a:lnTo>
                  <a:pt x="1878568" y="8156"/>
                </a:lnTo>
                <a:lnTo>
                  <a:pt x="1914765" y="6196"/>
                </a:lnTo>
                <a:close/>
              </a:path>
            </a:pathLst>
          </a:custGeom>
          <a:solidFill>
            <a:srgbClr val="FFFFFF"/>
          </a:solidFill>
          <a:ln w="762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Selected market outside illustrated road reach"/>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Selected market outside illustrated road reach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Illustrated road connection within selected market"/>
          <p:cNvSpPr/>
          <p:nvPr/>
        </p:nvSpPr>
        <p:spPr>
          <a:xfrm>
            <a:off x="2238876" y="2867051"/>
            <a:ext cx="1475825" cy="1970989"/>
          </a:xfrm>
          <a:custGeom>
            <a:avLst/>
            <a:gdLst/>
            <a:ahLst/>
            <a:cxnLst/>
            <a:rect l="l" t="t" r="r" b="b"/>
            <a:pathLst>
              <a:path w="1475825" h="1970989">
                <a:moveTo>
                  <a:pt x="127776" y="1941452"/>
                </a:moveTo>
                <a:lnTo>
                  <a:pt x="134584" y="1941924"/>
                </a:lnTo>
                <a:lnTo>
                  <a:pt x="165006" y="1946800"/>
                </a:lnTo>
                <a:lnTo>
                  <a:pt x="201489" y="1952649"/>
                </a:lnTo>
                <a:lnTo>
                  <a:pt x="202236" y="1952890"/>
                </a:lnTo>
                <a:lnTo>
                  <a:pt x="202958" y="1953123"/>
                </a:lnTo>
                <a:lnTo>
                  <a:pt x="202972" y="1952384"/>
                </a:lnTo>
                <a:lnTo>
                  <a:pt x="203282" y="1952461"/>
                </a:lnTo>
                <a:lnTo>
                  <a:pt x="203896" y="1953217"/>
                </a:lnTo>
                <a:lnTo>
                  <a:pt x="204548" y="1953312"/>
                </a:lnTo>
                <a:lnTo>
                  <a:pt x="204749" y="1953701"/>
                </a:lnTo>
                <a:lnTo>
                  <a:pt x="206787" y="1954359"/>
                </a:lnTo>
                <a:lnTo>
                  <a:pt x="206818" y="1954307"/>
                </a:lnTo>
                <a:lnTo>
                  <a:pt x="207046" y="1954442"/>
                </a:lnTo>
                <a:lnTo>
                  <a:pt x="209927" y="1955372"/>
                </a:lnTo>
                <a:lnTo>
                  <a:pt x="209949" y="1955339"/>
                </a:lnTo>
                <a:lnTo>
                  <a:pt x="210001" y="1955395"/>
                </a:lnTo>
                <a:lnTo>
                  <a:pt x="222172" y="1959323"/>
                </a:lnTo>
                <a:lnTo>
                  <a:pt x="223066" y="1959179"/>
                </a:lnTo>
                <a:lnTo>
                  <a:pt x="223982" y="1959408"/>
                </a:lnTo>
                <a:lnTo>
                  <a:pt x="224670" y="1959168"/>
                </a:lnTo>
                <a:lnTo>
                  <a:pt x="225111" y="1959507"/>
                </a:lnTo>
                <a:lnTo>
                  <a:pt x="226032" y="1959418"/>
                </a:lnTo>
                <a:lnTo>
                  <a:pt x="226352" y="1959624"/>
                </a:lnTo>
                <a:lnTo>
                  <a:pt x="227671" y="1959245"/>
                </a:lnTo>
                <a:lnTo>
                  <a:pt x="228181" y="1959436"/>
                </a:lnTo>
                <a:lnTo>
                  <a:pt x="228908" y="1959334"/>
                </a:lnTo>
                <a:lnTo>
                  <a:pt x="228878" y="1959582"/>
                </a:lnTo>
                <a:lnTo>
                  <a:pt x="229989" y="1960307"/>
                </a:lnTo>
                <a:lnTo>
                  <a:pt x="230206" y="1960235"/>
                </a:lnTo>
                <a:lnTo>
                  <a:pt x="230282" y="1960553"/>
                </a:lnTo>
                <a:lnTo>
                  <a:pt x="230852" y="1960657"/>
                </a:lnTo>
                <a:lnTo>
                  <a:pt x="231642" y="1961648"/>
                </a:lnTo>
                <a:lnTo>
                  <a:pt x="232739" y="1961817"/>
                </a:lnTo>
                <a:lnTo>
                  <a:pt x="235195" y="1963301"/>
                </a:lnTo>
                <a:lnTo>
                  <a:pt x="235582" y="1963650"/>
                </a:lnTo>
                <a:lnTo>
                  <a:pt x="239466" y="1964903"/>
                </a:lnTo>
                <a:lnTo>
                  <a:pt x="258330" y="1970989"/>
                </a:lnTo>
                <a:lnTo>
                  <a:pt x="262322" y="1970864"/>
                </a:lnTo>
                <a:lnTo>
                  <a:pt x="263339" y="1970601"/>
                </a:lnTo>
                <a:lnTo>
                  <a:pt x="265327" y="1970715"/>
                </a:lnTo>
                <a:lnTo>
                  <a:pt x="265584" y="1970762"/>
                </a:lnTo>
                <a:lnTo>
                  <a:pt x="276697" y="1970413"/>
                </a:lnTo>
                <a:lnTo>
                  <a:pt x="290168" y="1969990"/>
                </a:lnTo>
                <a:lnTo>
                  <a:pt x="291639" y="1967526"/>
                </a:lnTo>
                <a:lnTo>
                  <a:pt x="292320" y="1965487"/>
                </a:lnTo>
                <a:lnTo>
                  <a:pt x="293115" y="1965054"/>
                </a:lnTo>
                <a:lnTo>
                  <a:pt x="300931" y="1951962"/>
                </a:lnTo>
                <a:lnTo>
                  <a:pt x="304738" y="1947922"/>
                </a:lnTo>
                <a:lnTo>
                  <a:pt x="304847" y="1947632"/>
                </a:lnTo>
                <a:lnTo>
                  <a:pt x="304161" y="1946094"/>
                </a:lnTo>
                <a:lnTo>
                  <a:pt x="304075" y="1944538"/>
                </a:lnTo>
                <a:lnTo>
                  <a:pt x="305527" y="1942744"/>
                </a:lnTo>
                <a:lnTo>
                  <a:pt x="309341" y="1940229"/>
                </a:lnTo>
                <a:lnTo>
                  <a:pt x="312380" y="1938829"/>
                </a:lnTo>
                <a:lnTo>
                  <a:pt x="313680" y="1938434"/>
                </a:lnTo>
                <a:lnTo>
                  <a:pt x="313928" y="1938171"/>
                </a:lnTo>
                <a:lnTo>
                  <a:pt x="314331" y="1937744"/>
                </a:lnTo>
                <a:lnTo>
                  <a:pt x="317688" y="1937435"/>
                </a:lnTo>
                <a:lnTo>
                  <a:pt x="318237" y="1937206"/>
                </a:lnTo>
                <a:lnTo>
                  <a:pt x="324653" y="1936281"/>
                </a:lnTo>
                <a:lnTo>
                  <a:pt x="328510" y="1935946"/>
                </a:lnTo>
                <a:lnTo>
                  <a:pt x="333693" y="1935966"/>
                </a:lnTo>
                <a:lnTo>
                  <a:pt x="334958" y="1935850"/>
                </a:lnTo>
                <a:lnTo>
                  <a:pt x="337313" y="1935634"/>
                </a:lnTo>
                <a:lnTo>
                  <a:pt x="338127" y="1935850"/>
                </a:lnTo>
                <a:lnTo>
                  <a:pt x="341224" y="1936672"/>
                </a:lnTo>
                <a:lnTo>
                  <a:pt x="341951" y="1936756"/>
                </a:lnTo>
                <a:lnTo>
                  <a:pt x="348995" y="1938511"/>
                </a:lnTo>
                <a:lnTo>
                  <a:pt x="351520" y="1939407"/>
                </a:lnTo>
                <a:lnTo>
                  <a:pt x="379634" y="1946873"/>
                </a:lnTo>
                <a:lnTo>
                  <a:pt x="388388" y="1947695"/>
                </a:lnTo>
                <a:lnTo>
                  <a:pt x="392978" y="1948127"/>
                </a:lnTo>
                <a:lnTo>
                  <a:pt x="401808" y="1944177"/>
                </a:lnTo>
                <a:lnTo>
                  <a:pt x="402422" y="1936490"/>
                </a:lnTo>
                <a:lnTo>
                  <a:pt x="401540" y="1937109"/>
                </a:lnTo>
                <a:lnTo>
                  <a:pt x="401048" y="1936720"/>
                </a:lnTo>
                <a:lnTo>
                  <a:pt x="401305" y="1936536"/>
                </a:lnTo>
                <a:lnTo>
                  <a:pt x="400776" y="1936534"/>
                </a:lnTo>
                <a:lnTo>
                  <a:pt x="400646" y="1936368"/>
                </a:lnTo>
                <a:lnTo>
                  <a:pt x="401680" y="1936238"/>
                </a:lnTo>
                <a:lnTo>
                  <a:pt x="401672" y="1936009"/>
                </a:lnTo>
                <a:lnTo>
                  <a:pt x="400862" y="1936074"/>
                </a:lnTo>
                <a:lnTo>
                  <a:pt x="400312" y="1935780"/>
                </a:lnTo>
                <a:lnTo>
                  <a:pt x="402229" y="1935507"/>
                </a:lnTo>
                <a:lnTo>
                  <a:pt x="402022" y="1934930"/>
                </a:lnTo>
                <a:lnTo>
                  <a:pt x="399969" y="1935077"/>
                </a:lnTo>
                <a:lnTo>
                  <a:pt x="398780" y="1934387"/>
                </a:lnTo>
                <a:lnTo>
                  <a:pt x="398334" y="1933784"/>
                </a:lnTo>
                <a:lnTo>
                  <a:pt x="398176" y="1930900"/>
                </a:lnTo>
                <a:lnTo>
                  <a:pt x="398477" y="1928940"/>
                </a:lnTo>
                <a:lnTo>
                  <a:pt x="399676" y="1924725"/>
                </a:lnTo>
                <a:lnTo>
                  <a:pt x="401224" y="1920793"/>
                </a:lnTo>
                <a:lnTo>
                  <a:pt x="401277" y="1920239"/>
                </a:lnTo>
                <a:lnTo>
                  <a:pt x="400958" y="1919933"/>
                </a:lnTo>
                <a:lnTo>
                  <a:pt x="401448" y="1919875"/>
                </a:lnTo>
                <a:lnTo>
                  <a:pt x="401744" y="1919495"/>
                </a:lnTo>
                <a:lnTo>
                  <a:pt x="402423" y="1917862"/>
                </a:lnTo>
                <a:lnTo>
                  <a:pt x="405741" y="1912971"/>
                </a:lnTo>
                <a:lnTo>
                  <a:pt x="408602" y="1909932"/>
                </a:lnTo>
                <a:lnTo>
                  <a:pt x="411107" y="1907815"/>
                </a:lnTo>
                <a:lnTo>
                  <a:pt x="415995" y="1904545"/>
                </a:lnTo>
                <a:lnTo>
                  <a:pt x="417380" y="1903967"/>
                </a:lnTo>
                <a:lnTo>
                  <a:pt x="419196" y="1902797"/>
                </a:lnTo>
                <a:lnTo>
                  <a:pt x="420442" y="1901622"/>
                </a:lnTo>
                <a:lnTo>
                  <a:pt x="422905" y="1900137"/>
                </a:lnTo>
                <a:lnTo>
                  <a:pt x="425232" y="1899111"/>
                </a:lnTo>
                <a:lnTo>
                  <a:pt x="425241" y="1899103"/>
                </a:lnTo>
                <a:lnTo>
                  <a:pt x="425254" y="1899101"/>
                </a:lnTo>
                <a:lnTo>
                  <a:pt x="425618" y="1898941"/>
                </a:lnTo>
                <a:lnTo>
                  <a:pt x="425618" y="1898619"/>
                </a:lnTo>
                <a:lnTo>
                  <a:pt x="426347" y="1898619"/>
                </a:lnTo>
                <a:lnTo>
                  <a:pt x="429707" y="1897137"/>
                </a:lnTo>
                <a:lnTo>
                  <a:pt x="438932" y="1895270"/>
                </a:lnTo>
                <a:lnTo>
                  <a:pt x="446136" y="1894536"/>
                </a:lnTo>
                <a:lnTo>
                  <a:pt x="456422" y="1894069"/>
                </a:lnTo>
                <a:lnTo>
                  <a:pt x="462985" y="1894404"/>
                </a:lnTo>
                <a:lnTo>
                  <a:pt x="470715" y="1895683"/>
                </a:lnTo>
                <a:lnTo>
                  <a:pt x="478090" y="1897762"/>
                </a:lnTo>
                <a:lnTo>
                  <a:pt x="482838" y="1899611"/>
                </a:lnTo>
                <a:lnTo>
                  <a:pt x="500079" y="1902056"/>
                </a:lnTo>
                <a:lnTo>
                  <a:pt x="511327" y="1903651"/>
                </a:lnTo>
                <a:lnTo>
                  <a:pt x="526883" y="1898619"/>
                </a:lnTo>
                <a:lnTo>
                  <a:pt x="536888" y="1895383"/>
                </a:lnTo>
                <a:lnTo>
                  <a:pt x="537309" y="1895190"/>
                </a:lnTo>
                <a:lnTo>
                  <a:pt x="553394" y="1887803"/>
                </a:lnTo>
                <a:lnTo>
                  <a:pt x="553860" y="1887132"/>
                </a:lnTo>
                <a:lnTo>
                  <a:pt x="554799" y="1886651"/>
                </a:lnTo>
                <a:lnTo>
                  <a:pt x="558156" y="1885610"/>
                </a:lnTo>
                <a:lnTo>
                  <a:pt x="558171" y="1885609"/>
                </a:lnTo>
                <a:lnTo>
                  <a:pt x="574540" y="1878091"/>
                </a:lnTo>
                <a:lnTo>
                  <a:pt x="601553" y="1865684"/>
                </a:lnTo>
                <a:lnTo>
                  <a:pt x="608264" y="1861389"/>
                </a:lnTo>
                <a:lnTo>
                  <a:pt x="611770" y="1859145"/>
                </a:lnTo>
                <a:lnTo>
                  <a:pt x="640014" y="1841067"/>
                </a:lnTo>
                <a:lnTo>
                  <a:pt x="640597" y="1840468"/>
                </a:lnTo>
                <a:lnTo>
                  <a:pt x="641493" y="1840120"/>
                </a:lnTo>
                <a:lnTo>
                  <a:pt x="641772" y="1839942"/>
                </a:lnTo>
                <a:lnTo>
                  <a:pt x="649001" y="1834499"/>
                </a:lnTo>
                <a:lnTo>
                  <a:pt x="662736" y="1824159"/>
                </a:lnTo>
                <a:lnTo>
                  <a:pt x="686231" y="1806470"/>
                </a:lnTo>
                <a:lnTo>
                  <a:pt x="698123" y="1797516"/>
                </a:lnTo>
                <a:lnTo>
                  <a:pt x="712008" y="1790906"/>
                </a:lnTo>
                <a:lnTo>
                  <a:pt x="716409" y="1786928"/>
                </a:lnTo>
                <a:lnTo>
                  <a:pt x="723461" y="1780556"/>
                </a:lnTo>
                <a:lnTo>
                  <a:pt x="748980" y="1757497"/>
                </a:lnTo>
                <a:lnTo>
                  <a:pt x="748991" y="1757256"/>
                </a:lnTo>
                <a:lnTo>
                  <a:pt x="748684" y="1756442"/>
                </a:lnTo>
                <a:lnTo>
                  <a:pt x="748761" y="1754971"/>
                </a:lnTo>
                <a:lnTo>
                  <a:pt x="751932" y="1751212"/>
                </a:lnTo>
                <a:lnTo>
                  <a:pt x="754293" y="1749435"/>
                </a:lnTo>
                <a:lnTo>
                  <a:pt x="756425" y="1748339"/>
                </a:lnTo>
                <a:lnTo>
                  <a:pt x="760304" y="1747264"/>
                </a:lnTo>
                <a:lnTo>
                  <a:pt x="760691" y="1746914"/>
                </a:lnTo>
                <a:lnTo>
                  <a:pt x="762561" y="1745224"/>
                </a:lnTo>
                <a:lnTo>
                  <a:pt x="793191" y="1724326"/>
                </a:lnTo>
                <a:lnTo>
                  <a:pt x="793190" y="1724323"/>
                </a:lnTo>
                <a:lnTo>
                  <a:pt x="793992" y="1723315"/>
                </a:lnTo>
                <a:lnTo>
                  <a:pt x="796184" y="1722276"/>
                </a:lnTo>
                <a:lnTo>
                  <a:pt x="797922" y="1720716"/>
                </a:lnTo>
                <a:lnTo>
                  <a:pt x="807108" y="1712468"/>
                </a:lnTo>
                <a:lnTo>
                  <a:pt x="835152" y="1687286"/>
                </a:lnTo>
                <a:lnTo>
                  <a:pt x="839824" y="1683092"/>
                </a:lnTo>
                <a:lnTo>
                  <a:pt x="839864" y="1682910"/>
                </a:lnTo>
                <a:lnTo>
                  <a:pt x="839730" y="1682306"/>
                </a:lnTo>
                <a:lnTo>
                  <a:pt x="840919" y="1681755"/>
                </a:lnTo>
                <a:lnTo>
                  <a:pt x="841455" y="1680915"/>
                </a:lnTo>
                <a:lnTo>
                  <a:pt x="842804" y="1680146"/>
                </a:lnTo>
                <a:lnTo>
                  <a:pt x="843522" y="1679015"/>
                </a:lnTo>
                <a:lnTo>
                  <a:pt x="843686" y="1678326"/>
                </a:lnTo>
                <a:lnTo>
                  <a:pt x="844557" y="1677674"/>
                </a:lnTo>
                <a:lnTo>
                  <a:pt x="844632" y="1677252"/>
                </a:lnTo>
                <a:lnTo>
                  <a:pt x="845377" y="1676671"/>
                </a:lnTo>
                <a:lnTo>
                  <a:pt x="845628" y="1677008"/>
                </a:lnTo>
                <a:lnTo>
                  <a:pt x="846186" y="1676901"/>
                </a:lnTo>
                <a:lnTo>
                  <a:pt x="847882" y="1675857"/>
                </a:lnTo>
                <a:lnTo>
                  <a:pt x="848571" y="1675238"/>
                </a:lnTo>
                <a:lnTo>
                  <a:pt x="849035" y="1674821"/>
                </a:lnTo>
                <a:lnTo>
                  <a:pt x="849100" y="1673701"/>
                </a:lnTo>
                <a:lnTo>
                  <a:pt x="850218" y="1673343"/>
                </a:lnTo>
                <a:lnTo>
                  <a:pt x="851411" y="1671323"/>
                </a:lnTo>
                <a:lnTo>
                  <a:pt x="852104" y="1671234"/>
                </a:lnTo>
                <a:lnTo>
                  <a:pt x="852407" y="1670672"/>
                </a:lnTo>
                <a:lnTo>
                  <a:pt x="852906" y="1670453"/>
                </a:lnTo>
                <a:lnTo>
                  <a:pt x="853786" y="1670555"/>
                </a:lnTo>
                <a:lnTo>
                  <a:pt x="854871" y="1669581"/>
                </a:lnTo>
                <a:lnTo>
                  <a:pt x="861043" y="1662354"/>
                </a:lnTo>
                <a:lnTo>
                  <a:pt x="861026" y="1661678"/>
                </a:lnTo>
                <a:lnTo>
                  <a:pt x="861344" y="1661631"/>
                </a:lnTo>
                <a:lnTo>
                  <a:pt x="861500" y="1661820"/>
                </a:lnTo>
                <a:lnTo>
                  <a:pt x="872382" y="1649079"/>
                </a:lnTo>
                <a:lnTo>
                  <a:pt x="881840" y="1638007"/>
                </a:lnTo>
                <a:lnTo>
                  <a:pt x="894785" y="1622852"/>
                </a:lnTo>
                <a:lnTo>
                  <a:pt x="900642" y="1616969"/>
                </a:lnTo>
                <a:lnTo>
                  <a:pt x="900650" y="1616914"/>
                </a:lnTo>
                <a:lnTo>
                  <a:pt x="900794" y="1616816"/>
                </a:lnTo>
                <a:lnTo>
                  <a:pt x="902782" y="1614819"/>
                </a:lnTo>
                <a:lnTo>
                  <a:pt x="902693" y="1614664"/>
                </a:lnTo>
                <a:lnTo>
                  <a:pt x="903115" y="1614485"/>
                </a:lnTo>
                <a:lnTo>
                  <a:pt x="909613" y="1607958"/>
                </a:lnTo>
                <a:lnTo>
                  <a:pt x="911633" y="1605929"/>
                </a:lnTo>
                <a:lnTo>
                  <a:pt x="911479" y="1605721"/>
                </a:lnTo>
                <a:lnTo>
                  <a:pt x="911582" y="1605465"/>
                </a:lnTo>
                <a:lnTo>
                  <a:pt x="912038" y="1605292"/>
                </a:lnTo>
                <a:lnTo>
                  <a:pt x="912043" y="1604924"/>
                </a:lnTo>
                <a:lnTo>
                  <a:pt x="912322" y="1604702"/>
                </a:lnTo>
                <a:lnTo>
                  <a:pt x="912688" y="1604498"/>
                </a:lnTo>
                <a:lnTo>
                  <a:pt x="912948" y="1604607"/>
                </a:lnTo>
                <a:lnTo>
                  <a:pt x="912959" y="1604597"/>
                </a:lnTo>
                <a:lnTo>
                  <a:pt x="912943" y="1604391"/>
                </a:lnTo>
                <a:lnTo>
                  <a:pt x="913266" y="1604288"/>
                </a:lnTo>
                <a:lnTo>
                  <a:pt x="914316" y="1603233"/>
                </a:lnTo>
                <a:lnTo>
                  <a:pt x="914214" y="1602974"/>
                </a:lnTo>
                <a:lnTo>
                  <a:pt x="914501" y="1602356"/>
                </a:lnTo>
                <a:lnTo>
                  <a:pt x="914282" y="1601519"/>
                </a:lnTo>
                <a:lnTo>
                  <a:pt x="914695" y="1601159"/>
                </a:lnTo>
                <a:lnTo>
                  <a:pt x="914623" y="1600551"/>
                </a:lnTo>
                <a:lnTo>
                  <a:pt x="915432" y="1599832"/>
                </a:lnTo>
                <a:lnTo>
                  <a:pt x="916094" y="1599769"/>
                </a:lnTo>
                <a:lnTo>
                  <a:pt x="917047" y="1598571"/>
                </a:lnTo>
                <a:lnTo>
                  <a:pt x="917005" y="1598120"/>
                </a:lnTo>
                <a:lnTo>
                  <a:pt x="917540" y="1598042"/>
                </a:lnTo>
                <a:lnTo>
                  <a:pt x="917833" y="1597379"/>
                </a:lnTo>
                <a:lnTo>
                  <a:pt x="918109" y="1597371"/>
                </a:lnTo>
                <a:lnTo>
                  <a:pt x="918673" y="1596793"/>
                </a:lnTo>
                <a:lnTo>
                  <a:pt x="918889" y="1595981"/>
                </a:lnTo>
                <a:lnTo>
                  <a:pt x="919595" y="1595368"/>
                </a:lnTo>
                <a:lnTo>
                  <a:pt x="919882" y="1595471"/>
                </a:lnTo>
                <a:lnTo>
                  <a:pt x="920504" y="1594854"/>
                </a:lnTo>
                <a:lnTo>
                  <a:pt x="920284" y="1594559"/>
                </a:lnTo>
                <a:lnTo>
                  <a:pt x="921018" y="1594406"/>
                </a:lnTo>
                <a:lnTo>
                  <a:pt x="921396" y="1593780"/>
                </a:lnTo>
                <a:lnTo>
                  <a:pt x="922213" y="1593224"/>
                </a:lnTo>
                <a:lnTo>
                  <a:pt x="922273" y="1592816"/>
                </a:lnTo>
                <a:lnTo>
                  <a:pt x="923010" y="1592487"/>
                </a:lnTo>
                <a:lnTo>
                  <a:pt x="923100" y="1592045"/>
                </a:lnTo>
                <a:lnTo>
                  <a:pt x="924615" y="1591515"/>
                </a:lnTo>
                <a:lnTo>
                  <a:pt x="925408" y="1591735"/>
                </a:lnTo>
                <a:lnTo>
                  <a:pt x="926028" y="1591274"/>
                </a:lnTo>
                <a:lnTo>
                  <a:pt x="926224" y="1591272"/>
                </a:lnTo>
                <a:lnTo>
                  <a:pt x="927164" y="1590328"/>
                </a:lnTo>
                <a:lnTo>
                  <a:pt x="926667" y="1589493"/>
                </a:lnTo>
                <a:lnTo>
                  <a:pt x="926987" y="1589096"/>
                </a:lnTo>
                <a:lnTo>
                  <a:pt x="927354" y="1589271"/>
                </a:lnTo>
                <a:lnTo>
                  <a:pt x="928081" y="1588521"/>
                </a:lnTo>
                <a:lnTo>
                  <a:pt x="928353" y="1587832"/>
                </a:lnTo>
                <a:lnTo>
                  <a:pt x="928583" y="1586497"/>
                </a:lnTo>
                <a:lnTo>
                  <a:pt x="928553" y="1583661"/>
                </a:lnTo>
                <a:lnTo>
                  <a:pt x="929327" y="1583474"/>
                </a:lnTo>
                <a:lnTo>
                  <a:pt x="930880" y="1582069"/>
                </a:lnTo>
                <a:lnTo>
                  <a:pt x="932392" y="1581903"/>
                </a:lnTo>
                <a:lnTo>
                  <a:pt x="933160" y="1580889"/>
                </a:lnTo>
                <a:lnTo>
                  <a:pt x="934011" y="1580298"/>
                </a:lnTo>
                <a:lnTo>
                  <a:pt x="935238" y="1579864"/>
                </a:lnTo>
                <a:lnTo>
                  <a:pt x="935199" y="1579143"/>
                </a:lnTo>
                <a:lnTo>
                  <a:pt x="935802" y="1578655"/>
                </a:lnTo>
                <a:lnTo>
                  <a:pt x="935341" y="1578345"/>
                </a:lnTo>
                <a:lnTo>
                  <a:pt x="935512" y="1578059"/>
                </a:lnTo>
                <a:lnTo>
                  <a:pt x="935405" y="1577402"/>
                </a:lnTo>
                <a:lnTo>
                  <a:pt x="936567" y="1576617"/>
                </a:lnTo>
                <a:lnTo>
                  <a:pt x="936739" y="1575415"/>
                </a:lnTo>
                <a:lnTo>
                  <a:pt x="937071" y="1575133"/>
                </a:lnTo>
                <a:lnTo>
                  <a:pt x="937303" y="1575207"/>
                </a:lnTo>
                <a:lnTo>
                  <a:pt x="937459" y="1574358"/>
                </a:lnTo>
                <a:lnTo>
                  <a:pt x="937975" y="1573675"/>
                </a:lnTo>
                <a:lnTo>
                  <a:pt x="938527" y="1573713"/>
                </a:lnTo>
                <a:lnTo>
                  <a:pt x="938624" y="1573376"/>
                </a:lnTo>
                <a:lnTo>
                  <a:pt x="938230" y="1572981"/>
                </a:lnTo>
                <a:lnTo>
                  <a:pt x="939608" y="1572164"/>
                </a:lnTo>
                <a:lnTo>
                  <a:pt x="940420" y="1571906"/>
                </a:lnTo>
                <a:lnTo>
                  <a:pt x="941003" y="1572006"/>
                </a:lnTo>
                <a:lnTo>
                  <a:pt x="941608" y="1571338"/>
                </a:lnTo>
                <a:lnTo>
                  <a:pt x="943558" y="1570636"/>
                </a:lnTo>
                <a:lnTo>
                  <a:pt x="945497" y="1570930"/>
                </a:lnTo>
                <a:lnTo>
                  <a:pt x="946137" y="1570505"/>
                </a:lnTo>
                <a:lnTo>
                  <a:pt x="947247" y="1570201"/>
                </a:lnTo>
                <a:lnTo>
                  <a:pt x="950277" y="1567556"/>
                </a:lnTo>
                <a:lnTo>
                  <a:pt x="950308" y="1567506"/>
                </a:lnTo>
                <a:lnTo>
                  <a:pt x="950334" y="1567507"/>
                </a:lnTo>
                <a:lnTo>
                  <a:pt x="954872" y="1563546"/>
                </a:lnTo>
                <a:lnTo>
                  <a:pt x="983759" y="1538333"/>
                </a:lnTo>
                <a:lnTo>
                  <a:pt x="983885" y="1537711"/>
                </a:lnTo>
                <a:lnTo>
                  <a:pt x="984392" y="1537227"/>
                </a:lnTo>
                <a:lnTo>
                  <a:pt x="984631" y="1537639"/>
                </a:lnTo>
                <a:lnTo>
                  <a:pt x="987434" y="1535366"/>
                </a:lnTo>
                <a:lnTo>
                  <a:pt x="988254" y="1535461"/>
                </a:lnTo>
                <a:lnTo>
                  <a:pt x="988476" y="1535199"/>
                </a:lnTo>
                <a:lnTo>
                  <a:pt x="988154" y="1534909"/>
                </a:lnTo>
                <a:lnTo>
                  <a:pt x="988929" y="1534881"/>
                </a:lnTo>
                <a:lnTo>
                  <a:pt x="989029" y="1534218"/>
                </a:lnTo>
                <a:lnTo>
                  <a:pt x="989885" y="1534780"/>
                </a:lnTo>
                <a:lnTo>
                  <a:pt x="990904" y="1534042"/>
                </a:lnTo>
                <a:lnTo>
                  <a:pt x="991217" y="1534236"/>
                </a:lnTo>
                <a:lnTo>
                  <a:pt x="991654" y="1534191"/>
                </a:lnTo>
                <a:lnTo>
                  <a:pt x="997687" y="1531066"/>
                </a:lnTo>
                <a:lnTo>
                  <a:pt x="1003841" y="1526316"/>
                </a:lnTo>
                <a:lnTo>
                  <a:pt x="1017785" y="1515554"/>
                </a:lnTo>
                <a:lnTo>
                  <a:pt x="1017690" y="1515503"/>
                </a:lnTo>
                <a:lnTo>
                  <a:pt x="1017531" y="1514861"/>
                </a:lnTo>
                <a:lnTo>
                  <a:pt x="1018328" y="1514543"/>
                </a:lnTo>
                <a:lnTo>
                  <a:pt x="1018592" y="1514753"/>
                </a:lnTo>
                <a:lnTo>
                  <a:pt x="1018679" y="1514734"/>
                </a:lnTo>
                <a:lnTo>
                  <a:pt x="1021304" y="1511644"/>
                </a:lnTo>
                <a:lnTo>
                  <a:pt x="1040467" y="1489086"/>
                </a:lnTo>
                <a:lnTo>
                  <a:pt x="1058534" y="1467818"/>
                </a:lnTo>
                <a:lnTo>
                  <a:pt x="1064673" y="1460592"/>
                </a:lnTo>
                <a:lnTo>
                  <a:pt x="1065275" y="1459636"/>
                </a:lnTo>
                <a:lnTo>
                  <a:pt x="1065960" y="1459077"/>
                </a:lnTo>
                <a:lnTo>
                  <a:pt x="1066019" y="1459007"/>
                </a:lnTo>
                <a:lnTo>
                  <a:pt x="1068050" y="1456047"/>
                </a:lnTo>
                <a:lnTo>
                  <a:pt x="1067956" y="1455590"/>
                </a:lnTo>
                <a:lnTo>
                  <a:pt x="1068509" y="1454905"/>
                </a:lnTo>
                <a:lnTo>
                  <a:pt x="1068486" y="1454358"/>
                </a:lnTo>
                <a:lnTo>
                  <a:pt x="1068979" y="1453653"/>
                </a:lnTo>
                <a:lnTo>
                  <a:pt x="1070233" y="1452569"/>
                </a:lnTo>
                <a:lnTo>
                  <a:pt x="1070430" y="1451981"/>
                </a:lnTo>
                <a:lnTo>
                  <a:pt x="1071212" y="1451438"/>
                </a:lnTo>
                <a:lnTo>
                  <a:pt x="1094129" y="1418032"/>
                </a:lnTo>
                <a:lnTo>
                  <a:pt x="1095765" y="1415542"/>
                </a:lnTo>
                <a:lnTo>
                  <a:pt x="1095765" y="1414625"/>
                </a:lnTo>
                <a:lnTo>
                  <a:pt x="1096367" y="1414625"/>
                </a:lnTo>
                <a:lnTo>
                  <a:pt x="1120817" y="1377395"/>
                </a:lnTo>
                <a:lnTo>
                  <a:pt x="1123664" y="1373059"/>
                </a:lnTo>
                <a:lnTo>
                  <a:pt x="1132995" y="1356849"/>
                </a:lnTo>
                <a:lnTo>
                  <a:pt x="1142599" y="1340165"/>
                </a:lnTo>
                <a:lnTo>
                  <a:pt x="1155045" y="1318541"/>
                </a:lnTo>
                <a:lnTo>
                  <a:pt x="1155038" y="1318244"/>
                </a:lnTo>
                <a:lnTo>
                  <a:pt x="1158432" y="1312608"/>
                </a:lnTo>
                <a:lnTo>
                  <a:pt x="1160555" y="1309943"/>
                </a:lnTo>
                <a:lnTo>
                  <a:pt x="1163048" y="1307674"/>
                </a:lnTo>
                <a:lnTo>
                  <a:pt x="1166964" y="1302934"/>
                </a:lnTo>
                <a:lnTo>
                  <a:pt x="1170225" y="1298987"/>
                </a:lnTo>
                <a:lnTo>
                  <a:pt x="1179625" y="1287611"/>
                </a:lnTo>
                <a:lnTo>
                  <a:pt x="1182873" y="1280761"/>
                </a:lnTo>
                <a:lnTo>
                  <a:pt x="1182274" y="1279042"/>
                </a:lnTo>
                <a:lnTo>
                  <a:pt x="1182130" y="1276751"/>
                </a:lnTo>
                <a:lnTo>
                  <a:pt x="1182485" y="1274769"/>
                </a:lnTo>
                <a:lnTo>
                  <a:pt x="1183421" y="1271835"/>
                </a:lnTo>
                <a:lnTo>
                  <a:pt x="1185993" y="1266447"/>
                </a:lnTo>
                <a:lnTo>
                  <a:pt x="1190515" y="1259575"/>
                </a:lnTo>
                <a:lnTo>
                  <a:pt x="1191697" y="1256919"/>
                </a:lnTo>
                <a:lnTo>
                  <a:pt x="1194360" y="1252452"/>
                </a:lnTo>
                <a:lnTo>
                  <a:pt x="1195111" y="1250696"/>
                </a:lnTo>
                <a:lnTo>
                  <a:pt x="1195973" y="1249640"/>
                </a:lnTo>
                <a:lnTo>
                  <a:pt x="1197311" y="1246728"/>
                </a:lnTo>
                <a:lnTo>
                  <a:pt x="1201628" y="1241080"/>
                </a:lnTo>
                <a:lnTo>
                  <a:pt x="1201960" y="1240515"/>
                </a:lnTo>
                <a:lnTo>
                  <a:pt x="1203373" y="1237534"/>
                </a:lnTo>
                <a:lnTo>
                  <a:pt x="1207455" y="1232155"/>
                </a:lnTo>
                <a:lnTo>
                  <a:pt x="1210249" y="1228473"/>
                </a:lnTo>
                <a:lnTo>
                  <a:pt x="1229053" y="1203696"/>
                </a:lnTo>
                <a:lnTo>
                  <a:pt x="1241296" y="1191243"/>
                </a:lnTo>
                <a:lnTo>
                  <a:pt x="1244686" y="1187796"/>
                </a:lnTo>
                <a:lnTo>
                  <a:pt x="1277902" y="1154013"/>
                </a:lnTo>
                <a:lnTo>
                  <a:pt x="1281916" y="1149930"/>
                </a:lnTo>
                <a:lnTo>
                  <a:pt x="1297116" y="1134471"/>
                </a:lnTo>
                <a:lnTo>
                  <a:pt x="1313754" y="1131292"/>
                </a:lnTo>
                <a:lnTo>
                  <a:pt x="1319147" y="1128951"/>
                </a:lnTo>
                <a:lnTo>
                  <a:pt x="1323274" y="1127159"/>
                </a:lnTo>
                <a:lnTo>
                  <a:pt x="1334115" y="1120474"/>
                </a:lnTo>
                <a:lnTo>
                  <a:pt x="1338455" y="1116782"/>
                </a:lnTo>
                <a:lnTo>
                  <a:pt x="1356377" y="1101539"/>
                </a:lnTo>
                <a:lnTo>
                  <a:pt x="1373759" y="1086754"/>
                </a:lnTo>
                <a:lnTo>
                  <a:pt x="1379009" y="1079552"/>
                </a:lnTo>
                <a:lnTo>
                  <a:pt x="1387996" y="1067222"/>
                </a:lnTo>
                <a:lnTo>
                  <a:pt x="1393607" y="1057013"/>
                </a:lnTo>
                <a:lnTo>
                  <a:pt x="1401682" y="1042322"/>
                </a:lnTo>
                <a:lnTo>
                  <a:pt x="1414268" y="1019421"/>
                </a:lnTo>
                <a:lnTo>
                  <a:pt x="1417825" y="1005091"/>
                </a:lnTo>
                <a:lnTo>
                  <a:pt x="1427064" y="967861"/>
                </a:lnTo>
                <a:lnTo>
                  <a:pt x="1430838" y="952656"/>
                </a:lnTo>
                <a:lnTo>
                  <a:pt x="1436304" y="930630"/>
                </a:lnTo>
                <a:lnTo>
                  <a:pt x="1438240" y="922827"/>
                </a:lnTo>
                <a:lnTo>
                  <a:pt x="1447111" y="895947"/>
                </a:lnTo>
                <a:lnTo>
                  <a:pt x="1448196" y="893400"/>
                </a:lnTo>
                <a:lnTo>
                  <a:pt x="1464048" y="856170"/>
                </a:lnTo>
                <a:lnTo>
                  <a:pt x="1468068" y="846730"/>
                </a:lnTo>
                <a:lnTo>
                  <a:pt x="1471917" y="837690"/>
                </a:lnTo>
                <a:lnTo>
                  <a:pt x="1475825" y="818940"/>
                </a:lnTo>
                <a:lnTo>
                  <a:pt x="1468068" y="818940"/>
                </a:lnTo>
                <a:lnTo>
                  <a:pt x="1468068" y="801721"/>
                </a:lnTo>
                <a:lnTo>
                  <a:pt x="1467936" y="801714"/>
                </a:lnTo>
                <a:lnTo>
                  <a:pt x="1462885" y="801092"/>
                </a:lnTo>
                <a:lnTo>
                  <a:pt x="1455947" y="801465"/>
                </a:lnTo>
                <a:lnTo>
                  <a:pt x="1449626" y="801133"/>
                </a:lnTo>
                <a:lnTo>
                  <a:pt x="1432377" y="799434"/>
                </a:lnTo>
                <a:lnTo>
                  <a:pt x="1400099" y="797363"/>
                </a:lnTo>
                <a:lnTo>
                  <a:pt x="1400088" y="796749"/>
                </a:lnTo>
                <a:lnTo>
                  <a:pt x="1399032" y="796466"/>
                </a:lnTo>
                <a:lnTo>
                  <a:pt x="1398943" y="796620"/>
                </a:lnTo>
                <a:lnTo>
                  <a:pt x="1397769" y="797199"/>
                </a:lnTo>
                <a:lnTo>
                  <a:pt x="1397040" y="795932"/>
                </a:lnTo>
                <a:lnTo>
                  <a:pt x="1395237" y="795449"/>
                </a:lnTo>
                <a:lnTo>
                  <a:pt x="1394474" y="795766"/>
                </a:lnTo>
                <a:lnTo>
                  <a:pt x="1392663" y="795042"/>
                </a:lnTo>
                <a:lnTo>
                  <a:pt x="1391510" y="795005"/>
                </a:lnTo>
                <a:lnTo>
                  <a:pt x="1390450" y="794250"/>
                </a:lnTo>
                <a:lnTo>
                  <a:pt x="1389677" y="794343"/>
                </a:lnTo>
                <a:lnTo>
                  <a:pt x="1387973" y="793862"/>
                </a:lnTo>
                <a:lnTo>
                  <a:pt x="1386983" y="794001"/>
                </a:lnTo>
                <a:lnTo>
                  <a:pt x="1386513" y="793119"/>
                </a:lnTo>
                <a:lnTo>
                  <a:pt x="1386501" y="793109"/>
                </a:lnTo>
                <a:lnTo>
                  <a:pt x="1380672" y="791547"/>
                </a:lnTo>
                <a:lnTo>
                  <a:pt x="1379812" y="792218"/>
                </a:lnTo>
                <a:lnTo>
                  <a:pt x="1379191" y="794570"/>
                </a:lnTo>
                <a:lnTo>
                  <a:pt x="1378156" y="794807"/>
                </a:lnTo>
                <a:lnTo>
                  <a:pt x="1376429" y="795758"/>
                </a:lnTo>
                <a:lnTo>
                  <a:pt x="1375797" y="795746"/>
                </a:lnTo>
                <a:lnTo>
                  <a:pt x="1373241" y="794982"/>
                </a:lnTo>
                <a:lnTo>
                  <a:pt x="1371836" y="794311"/>
                </a:lnTo>
                <a:lnTo>
                  <a:pt x="1370300" y="793013"/>
                </a:lnTo>
                <a:lnTo>
                  <a:pt x="1369879" y="791701"/>
                </a:lnTo>
                <a:lnTo>
                  <a:pt x="1367402" y="791438"/>
                </a:lnTo>
                <a:lnTo>
                  <a:pt x="1366949" y="791213"/>
                </a:lnTo>
                <a:lnTo>
                  <a:pt x="1365816" y="791233"/>
                </a:lnTo>
                <a:lnTo>
                  <a:pt x="1361342" y="788545"/>
                </a:lnTo>
                <a:lnTo>
                  <a:pt x="1357395" y="787232"/>
                </a:lnTo>
                <a:lnTo>
                  <a:pt x="1357322" y="787244"/>
                </a:lnTo>
                <a:lnTo>
                  <a:pt x="1356043" y="786929"/>
                </a:lnTo>
                <a:lnTo>
                  <a:pt x="1355786" y="786697"/>
                </a:lnTo>
                <a:lnTo>
                  <a:pt x="1353080" y="785798"/>
                </a:lnTo>
                <a:lnTo>
                  <a:pt x="1351299" y="786110"/>
                </a:lnTo>
                <a:lnTo>
                  <a:pt x="1351678" y="787164"/>
                </a:lnTo>
                <a:lnTo>
                  <a:pt x="1347775" y="804193"/>
                </a:lnTo>
                <a:lnTo>
                  <a:pt x="1348311" y="806526"/>
                </a:lnTo>
                <a:lnTo>
                  <a:pt x="1345362" y="816806"/>
                </a:lnTo>
                <a:lnTo>
                  <a:pt x="1345650" y="817654"/>
                </a:lnTo>
                <a:lnTo>
                  <a:pt x="1345082" y="822983"/>
                </a:lnTo>
                <a:lnTo>
                  <a:pt x="1343816" y="831580"/>
                </a:lnTo>
                <a:lnTo>
                  <a:pt x="1342835" y="835725"/>
                </a:lnTo>
                <a:lnTo>
                  <a:pt x="1343106" y="836643"/>
                </a:lnTo>
                <a:lnTo>
                  <a:pt x="1343070" y="838082"/>
                </a:lnTo>
                <a:lnTo>
                  <a:pt x="1342472" y="841000"/>
                </a:lnTo>
                <a:lnTo>
                  <a:pt x="1342222" y="853304"/>
                </a:lnTo>
                <a:lnTo>
                  <a:pt x="1341202" y="867799"/>
                </a:lnTo>
                <a:lnTo>
                  <a:pt x="1341434" y="868930"/>
                </a:lnTo>
                <a:lnTo>
                  <a:pt x="1270305" y="864546"/>
                </a:lnTo>
                <a:lnTo>
                  <a:pt x="1238657" y="850955"/>
                </a:lnTo>
                <a:lnTo>
                  <a:pt x="1220781" y="843234"/>
                </a:lnTo>
                <a:lnTo>
                  <a:pt x="1211970" y="830233"/>
                </a:lnTo>
                <a:lnTo>
                  <a:pt x="1208674" y="827771"/>
                </a:lnTo>
                <a:lnTo>
                  <a:pt x="1207455" y="825369"/>
                </a:lnTo>
                <a:lnTo>
                  <a:pt x="1206355" y="823199"/>
                </a:lnTo>
                <a:lnTo>
                  <a:pt x="1202899" y="820118"/>
                </a:lnTo>
                <a:lnTo>
                  <a:pt x="1197690" y="814764"/>
                </a:lnTo>
                <a:lnTo>
                  <a:pt x="1194147" y="807172"/>
                </a:lnTo>
                <a:lnTo>
                  <a:pt x="1196286" y="803352"/>
                </a:lnTo>
                <a:lnTo>
                  <a:pt x="1191763" y="794436"/>
                </a:lnTo>
                <a:lnTo>
                  <a:pt x="1188856" y="785969"/>
                </a:lnTo>
                <a:lnTo>
                  <a:pt x="1187673" y="784993"/>
                </a:lnTo>
                <a:lnTo>
                  <a:pt x="1187643" y="784167"/>
                </a:lnTo>
                <a:lnTo>
                  <a:pt x="1186973" y="783615"/>
                </a:lnTo>
                <a:lnTo>
                  <a:pt x="1186315" y="778567"/>
                </a:lnTo>
                <a:lnTo>
                  <a:pt x="1185243" y="775443"/>
                </a:lnTo>
                <a:lnTo>
                  <a:pt x="1185138" y="775553"/>
                </a:lnTo>
                <a:lnTo>
                  <a:pt x="1182840" y="776383"/>
                </a:lnTo>
                <a:lnTo>
                  <a:pt x="1181244" y="777858"/>
                </a:lnTo>
                <a:lnTo>
                  <a:pt x="1179990" y="777630"/>
                </a:lnTo>
                <a:lnTo>
                  <a:pt x="1179222" y="777809"/>
                </a:lnTo>
                <a:lnTo>
                  <a:pt x="1178578" y="778788"/>
                </a:lnTo>
                <a:lnTo>
                  <a:pt x="1177395" y="779032"/>
                </a:lnTo>
                <a:lnTo>
                  <a:pt x="1175699" y="781140"/>
                </a:lnTo>
                <a:lnTo>
                  <a:pt x="1173879" y="781768"/>
                </a:lnTo>
                <a:lnTo>
                  <a:pt x="1173788" y="781602"/>
                </a:lnTo>
                <a:lnTo>
                  <a:pt x="1172475" y="778318"/>
                </a:lnTo>
                <a:lnTo>
                  <a:pt x="1172028" y="769089"/>
                </a:lnTo>
                <a:lnTo>
                  <a:pt x="1171704" y="768401"/>
                </a:lnTo>
                <a:lnTo>
                  <a:pt x="1171734" y="763011"/>
                </a:lnTo>
                <a:lnTo>
                  <a:pt x="1171579" y="759803"/>
                </a:lnTo>
                <a:lnTo>
                  <a:pt x="1171772" y="756117"/>
                </a:lnTo>
                <a:lnTo>
                  <a:pt x="1171837" y="744479"/>
                </a:lnTo>
                <a:lnTo>
                  <a:pt x="1171842" y="743511"/>
                </a:lnTo>
                <a:lnTo>
                  <a:pt x="1173276" y="717426"/>
                </a:lnTo>
                <a:lnTo>
                  <a:pt x="1175708" y="710601"/>
                </a:lnTo>
                <a:lnTo>
                  <a:pt x="1178140" y="707249"/>
                </a:lnTo>
                <a:lnTo>
                  <a:pt x="1198260" y="679505"/>
                </a:lnTo>
                <a:lnTo>
                  <a:pt x="1205153" y="670018"/>
                </a:lnTo>
                <a:lnTo>
                  <a:pt x="1207455" y="666850"/>
                </a:lnTo>
                <a:lnTo>
                  <a:pt x="1212291" y="660195"/>
                </a:lnTo>
                <a:lnTo>
                  <a:pt x="1221360" y="641291"/>
                </a:lnTo>
                <a:lnTo>
                  <a:pt x="1226707" y="635122"/>
                </a:lnTo>
                <a:lnTo>
                  <a:pt x="1227559" y="631764"/>
                </a:lnTo>
                <a:lnTo>
                  <a:pt x="1234559" y="626062"/>
                </a:lnTo>
                <a:lnTo>
                  <a:pt x="1240206" y="619546"/>
                </a:lnTo>
                <a:lnTo>
                  <a:pt x="1244686" y="616486"/>
                </a:lnTo>
                <a:lnTo>
                  <a:pt x="1250186" y="612730"/>
                </a:lnTo>
                <a:lnTo>
                  <a:pt x="1257203" y="603836"/>
                </a:lnTo>
                <a:lnTo>
                  <a:pt x="1272367" y="600615"/>
                </a:lnTo>
                <a:lnTo>
                  <a:pt x="1314586" y="633170"/>
                </a:lnTo>
                <a:lnTo>
                  <a:pt x="1319147" y="636007"/>
                </a:lnTo>
                <a:lnTo>
                  <a:pt x="1337902" y="647677"/>
                </a:lnTo>
                <a:lnTo>
                  <a:pt x="1345482" y="645975"/>
                </a:lnTo>
                <a:lnTo>
                  <a:pt x="1349533" y="644366"/>
                </a:lnTo>
                <a:lnTo>
                  <a:pt x="1347315" y="632788"/>
                </a:lnTo>
                <a:lnTo>
                  <a:pt x="1347217" y="632278"/>
                </a:lnTo>
                <a:lnTo>
                  <a:pt x="1347019" y="613835"/>
                </a:lnTo>
                <a:lnTo>
                  <a:pt x="1355689" y="595557"/>
                </a:lnTo>
                <a:lnTo>
                  <a:pt x="1356377" y="594108"/>
                </a:lnTo>
                <a:lnTo>
                  <a:pt x="1357867" y="590967"/>
                </a:lnTo>
                <a:lnTo>
                  <a:pt x="1358524" y="573155"/>
                </a:lnTo>
                <a:lnTo>
                  <a:pt x="1358350" y="573112"/>
                </a:lnTo>
                <a:lnTo>
                  <a:pt x="1357885" y="570766"/>
                </a:lnTo>
                <a:lnTo>
                  <a:pt x="1358201" y="564977"/>
                </a:lnTo>
                <a:lnTo>
                  <a:pt x="1358690" y="562089"/>
                </a:lnTo>
                <a:lnTo>
                  <a:pt x="1358950" y="561600"/>
                </a:lnTo>
                <a:lnTo>
                  <a:pt x="1359070" y="558327"/>
                </a:lnTo>
                <a:lnTo>
                  <a:pt x="1359525" y="545995"/>
                </a:lnTo>
                <a:lnTo>
                  <a:pt x="1361517" y="530232"/>
                </a:lnTo>
                <a:lnTo>
                  <a:pt x="1361952" y="521097"/>
                </a:lnTo>
                <a:lnTo>
                  <a:pt x="1363006" y="498952"/>
                </a:lnTo>
                <a:lnTo>
                  <a:pt x="1363729" y="483866"/>
                </a:lnTo>
                <a:lnTo>
                  <a:pt x="1364823" y="461057"/>
                </a:lnTo>
                <a:lnTo>
                  <a:pt x="1365513" y="446636"/>
                </a:lnTo>
                <a:lnTo>
                  <a:pt x="1366447" y="427127"/>
                </a:lnTo>
                <a:lnTo>
                  <a:pt x="1367624" y="409406"/>
                </a:lnTo>
                <a:lnTo>
                  <a:pt x="1356377" y="409406"/>
                </a:lnTo>
                <a:lnTo>
                  <a:pt x="1319147" y="409406"/>
                </a:lnTo>
                <a:lnTo>
                  <a:pt x="1281916" y="409406"/>
                </a:lnTo>
                <a:lnTo>
                  <a:pt x="1244686" y="409406"/>
                </a:lnTo>
                <a:lnTo>
                  <a:pt x="1207455" y="409406"/>
                </a:lnTo>
                <a:lnTo>
                  <a:pt x="1170225" y="409406"/>
                </a:lnTo>
                <a:lnTo>
                  <a:pt x="1132995" y="409406"/>
                </a:lnTo>
                <a:lnTo>
                  <a:pt x="1095765" y="409406"/>
                </a:lnTo>
                <a:lnTo>
                  <a:pt x="1095765" y="372176"/>
                </a:lnTo>
                <a:lnTo>
                  <a:pt x="1132995" y="372176"/>
                </a:lnTo>
                <a:lnTo>
                  <a:pt x="1132995" y="334945"/>
                </a:lnTo>
                <a:lnTo>
                  <a:pt x="1132995" y="297715"/>
                </a:lnTo>
                <a:lnTo>
                  <a:pt x="1132995" y="260484"/>
                </a:lnTo>
                <a:lnTo>
                  <a:pt x="1170225" y="260484"/>
                </a:lnTo>
                <a:lnTo>
                  <a:pt x="1170225" y="223254"/>
                </a:lnTo>
                <a:lnTo>
                  <a:pt x="1170225" y="186024"/>
                </a:lnTo>
                <a:lnTo>
                  <a:pt x="1170225" y="148793"/>
                </a:lnTo>
                <a:lnTo>
                  <a:pt x="1207455" y="148793"/>
                </a:lnTo>
                <a:lnTo>
                  <a:pt x="1207455" y="111563"/>
                </a:lnTo>
                <a:lnTo>
                  <a:pt x="1207455" y="74333"/>
                </a:lnTo>
                <a:lnTo>
                  <a:pt x="1207455" y="37103"/>
                </a:lnTo>
                <a:lnTo>
                  <a:pt x="1230913" y="37103"/>
                </a:lnTo>
                <a:lnTo>
                  <a:pt x="1230559" y="36272"/>
                </a:lnTo>
                <a:lnTo>
                  <a:pt x="1227127" y="36138"/>
                </a:lnTo>
                <a:lnTo>
                  <a:pt x="1226348" y="35590"/>
                </a:lnTo>
                <a:lnTo>
                  <a:pt x="1225294" y="34050"/>
                </a:lnTo>
                <a:lnTo>
                  <a:pt x="1224732" y="33739"/>
                </a:lnTo>
                <a:lnTo>
                  <a:pt x="1222759" y="33553"/>
                </a:lnTo>
                <a:lnTo>
                  <a:pt x="1221382" y="32934"/>
                </a:lnTo>
                <a:lnTo>
                  <a:pt x="1220177" y="32717"/>
                </a:lnTo>
                <a:lnTo>
                  <a:pt x="1217872" y="33925"/>
                </a:lnTo>
                <a:lnTo>
                  <a:pt x="1217389" y="33970"/>
                </a:lnTo>
                <a:lnTo>
                  <a:pt x="1215512" y="32876"/>
                </a:lnTo>
                <a:lnTo>
                  <a:pt x="1211340" y="31802"/>
                </a:lnTo>
                <a:lnTo>
                  <a:pt x="1208975" y="31781"/>
                </a:lnTo>
                <a:lnTo>
                  <a:pt x="1204159" y="32727"/>
                </a:lnTo>
                <a:lnTo>
                  <a:pt x="1200834" y="33133"/>
                </a:lnTo>
                <a:lnTo>
                  <a:pt x="1198669" y="33015"/>
                </a:lnTo>
                <a:lnTo>
                  <a:pt x="1197029" y="33552"/>
                </a:lnTo>
                <a:lnTo>
                  <a:pt x="1194273" y="33661"/>
                </a:lnTo>
                <a:lnTo>
                  <a:pt x="1190660" y="34771"/>
                </a:lnTo>
                <a:lnTo>
                  <a:pt x="1184692" y="33429"/>
                </a:lnTo>
                <a:lnTo>
                  <a:pt x="1183742" y="33442"/>
                </a:lnTo>
                <a:lnTo>
                  <a:pt x="1182073" y="34211"/>
                </a:lnTo>
                <a:lnTo>
                  <a:pt x="1179889" y="36785"/>
                </a:lnTo>
                <a:lnTo>
                  <a:pt x="1178730" y="37394"/>
                </a:lnTo>
                <a:lnTo>
                  <a:pt x="1177420" y="37190"/>
                </a:lnTo>
                <a:lnTo>
                  <a:pt x="1175063" y="35042"/>
                </a:lnTo>
                <a:lnTo>
                  <a:pt x="1173175" y="34414"/>
                </a:lnTo>
                <a:lnTo>
                  <a:pt x="1171061" y="34184"/>
                </a:lnTo>
                <a:lnTo>
                  <a:pt x="1168915" y="34535"/>
                </a:lnTo>
                <a:lnTo>
                  <a:pt x="1168207" y="34929"/>
                </a:lnTo>
                <a:lnTo>
                  <a:pt x="1167420" y="35818"/>
                </a:lnTo>
                <a:lnTo>
                  <a:pt x="1166664" y="36088"/>
                </a:lnTo>
                <a:lnTo>
                  <a:pt x="1161287" y="34430"/>
                </a:lnTo>
                <a:lnTo>
                  <a:pt x="1160262" y="34344"/>
                </a:lnTo>
                <a:lnTo>
                  <a:pt x="1152469" y="35028"/>
                </a:lnTo>
                <a:lnTo>
                  <a:pt x="1152080" y="34953"/>
                </a:lnTo>
                <a:lnTo>
                  <a:pt x="1151235" y="35383"/>
                </a:lnTo>
                <a:lnTo>
                  <a:pt x="1149442" y="35978"/>
                </a:lnTo>
                <a:lnTo>
                  <a:pt x="1143015" y="37202"/>
                </a:lnTo>
                <a:lnTo>
                  <a:pt x="1140381" y="38113"/>
                </a:lnTo>
                <a:lnTo>
                  <a:pt x="1137151" y="37529"/>
                </a:lnTo>
                <a:lnTo>
                  <a:pt x="1133304" y="37767"/>
                </a:lnTo>
                <a:lnTo>
                  <a:pt x="1130293" y="37156"/>
                </a:lnTo>
                <a:lnTo>
                  <a:pt x="1128044" y="38169"/>
                </a:lnTo>
                <a:lnTo>
                  <a:pt x="1126235" y="38395"/>
                </a:lnTo>
                <a:lnTo>
                  <a:pt x="1125120" y="37979"/>
                </a:lnTo>
                <a:lnTo>
                  <a:pt x="1123756" y="36745"/>
                </a:lnTo>
                <a:lnTo>
                  <a:pt x="1122672" y="35131"/>
                </a:lnTo>
                <a:lnTo>
                  <a:pt x="1121451" y="32333"/>
                </a:lnTo>
                <a:lnTo>
                  <a:pt x="1120293" y="31073"/>
                </a:lnTo>
                <a:lnTo>
                  <a:pt x="1118914" y="30196"/>
                </a:lnTo>
                <a:lnTo>
                  <a:pt x="1118311" y="28751"/>
                </a:lnTo>
                <a:lnTo>
                  <a:pt x="1117783" y="28285"/>
                </a:lnTo>
                <a:lnTo>
                  <a:pt x="1115578" y="27856"/>
                </a:lnTo>
                <a:lnTo>
                  <a:pt x="1111720" y="27861"/>
                </a:lnTo>
                <a:lnTo>
                  <a:pt x="1106193" y="28253"/>
                </a:lnTo>
                <a:lnTo>
                  <a:pt x="1105087" y="28554"/>
                </a:lnTo>
                <a:lnTo>
                  <a:pt x="1102390" y="29945"/>
                </a:lnTo>
                <a:lnTo>
                  <a:pt x="1101341" y="29905"/>
                </a:lnTo>
                <a:lnTo>
                  <a:pt x="1100649" y="29485"/>
                </a:lnTo>
                <a:lnTo>
                  <a:pt x="1097668" y="25738"/>
                </a:lnTo>
                <a:lnTo>
                  <a:pt x="1093823" y="23544"/>
                </a:lnTo>
                <a:lnTo>
                  <a:pt x="1091208" y="20602"/>
                </a:lnTo>
                <a:lnTo>
                  <a:pt x="1090054" y="20194"/>
                </a:lnTo>
                <a:lnTo>
                  <a:pt x="1087134" y="20250"/>
                </a:lnTo>
                <a:lnTo>
                  <a:pt x="1086250" y="19825"/>
                </a:lnTo>
                <a:lnTo>
                  <a:pt x="1085696" y="19165"/>
                </a:lnTo>
                <a:lnTo>
                  <a:pt x="1085383" y="18307"/>
                </a:lnTo>
                <a:lnTo>
                  <a:pt x="1085481" y="16466"/>
                </a:lnTo>
                <a:lnTo>
                  <a:pt x="1085162" y="15711"/>
                </a:lnTo>
                <a:lnTo>
                  <a:pt x="1084196" y="15425"/>
                </a:lnTo>
                <a:lnTo>
                  <a:pt x="1082430" y="15579"/>
                </a:lnTo>
                <a:lnTo>
                  <a:pt x="1079710" y="14601"/>
                </a:lnTo>
                <a:lnTo>
                  <a:pt x="1077864" y="14633"/>
                </a:lnTo>
                <a:lnTo>
                  <a:pt x="1076494" y="12731"/>
                </a:lnTo>
                <a:lnTo>
                  <a:pt x="1072810" y="9904"/>
                </a:lnTo>
                <a:lnTo>
                  <a:pt x="1069937" y="8627"/>
                </a:lnTo>
                <a:lnTo>
                  <a:pt x="1069786" y="8615"/>
                </a:lnTo>
                <a:lnTo>
                  <a:pt x="1065813" y="9378"/>
                </a:lnTo>
                <a:lnTo>
                  <a:pt x="1064924" y="9243"/>
                </a:lnTo>
                <a:lnTo>
                  <a:pt x="1063892" y="8622"/>
                </a:lnTo>
                <a:lnTo>
                  <a:pt x="1061719" y="6386"/>
                </a:lnTo>
                <a:lnTo>
                  <a:pt x="1058896" y="5796"/>
                </a:lnTo>
                <a:lnTo>
                  <a:pt x="1056823" y="5698"/>
                </a:lnTo>
                <a:lnTo>
                  <a:pt x="1055351" y="5055"/>
                </a:lnTo>
                <a:lnTo>
                  <a:pt x="1031170" y="0"/>
                </a:lnTo>
                <a:lnTo>
                  <a:pt x="1023287" y="1084"/>
                </a:lnTo>
                <a:lnTo>
                  <a:pt x="1022997" y="1247"/>
                </a:lnTo>
                <a:lnTo>
                  <a:pt x="1022633" y="1174"/>
                </a:lnTo>
                <a:lnTo>
                  <a:pt x="1021304" y="1356"/>
                </a:lnTo>
                <a:lnTo>
                  <a:pt x="1011317" y="2730"/>
                </a:lnTo>
                <a:lnTo>
                  <a:pt x="1011325" y="3233"/>
                </a:lnTo>
                <a:lnTo>
                  <a:pt x="1010814" y="4054"/>
                </a:lnTo>
                <a:lnTo>
                  <a:pt x="1010235" y="4460"/>
                </a:lnTo>
                <a:lnTo>
                  <a:pt x="1007607" y="4177"/>
                </a:lnTo>
                <a:lnTo>
                  <a:pt x="1006099" y="3448"/>
                </a:lnTo>
                <a:lnTo>
                  <a:pt x="988530" y="5864"/>
                </a:lnTo>
                <a:lnTo>
                  <a:pt x="988283" y="6007"/>
                </a:lnTo>
                <a:lnTo>
                  <a:pt x="984759" y="7108"/>
                </a:lnTo>
                <a:lnTo>
                  <a:pt x="983219" y="6803"/>
                </a:lnTo>
                <a:lnTo>
                  <a:pt x="982940" y="6313"/>
                </a:lnTo>
                <a:lnTo>
                  <a:pt x="981977" y="6365"/>
                </a:lnTo>
                <a:lnTo>
                  <a:pt x="981260" y="7414"/>
                </a:lnTo>
                <a:lnTo>
                  <a:pt x="980475" y="7814"/>
                </a:lnTo>
                <a:lnTo>
                  <a:pt x="979989" y="7704"/>
                </a:lnTo>
                <a:lnTo>
                  <a:pt x="979321" y="7035"/>
                </a:lnTo>
                <a:lnTo>
                  <a:pt x="979190" y="6516"/>
                </a:lnTo>
                <a:lnTo>
                  <a:pt x="953675" y="7897"/>
                </a:lnTo>
                <a:lnTo>
                  <a:pt x="952819" y="8453"/>
                </a:lnTo>
                <a:lnTo>
                  <a:pt x="952138" y="8656"/>
                </a:lnTo>
                <a:lnTo>
                  <a:pt x="950938" y="8743"/>
                </a:lnTo>
                <a:lnTo>
                  <a:pt x="949411" y="8223"/>
                </a:lnTo>
                <a:lnTo>
                  <a:pt x="948708" y="8259"/>
                </a:lnTo>
                <a:lnTo>
                  <a:pt x="946843" y="9299"/>
                </a:lnTo>
                <a:lnTo>
                  <a:pt x="930701" y="18300"/>
                </a:lnTo>
                <a:lnTo>
                  <a:pt x="923414" y="30887"/>
                </a:lnTo>
                <a:lnTo>
                  <a:pt x="923509" y="31091"/>
                </a:lnTo>
                <a:lnTo>
                  <a:pt x="923890" y="32848"/>
                </a:lnTo>
                <a:lnTo>
                  <a:pt x="923788" y="34323"/>
                </a:lnTo>
                <a:lnTo>
                  <a:pt x="923173" y="35485"/>
                </a:lnTo>
                <a:lnTo>
                  <a:pt x="920745" y="38693"/>
                </a:lnTo>
                <a:lnTo>
                  <a:pt x="920499" y="40572"/>
                </a:lnTo>
                <a:lnTo>
                  <a:pt x="919423" y="42303"/>
                </a:lnTo>
                <a:lnTo>
                  <a:pt x="919373" y="43253"/>
                </a:lnTo>
                <a:lnTo>
                  <a:pt x="917761" y="44793"/>
                </a:lnTo>
                <a:lnTo>
                  <a:pt x="916027" y="47272"/>
                </a:lnTo>
                <a:lnTo>
                  <a:pt x="915100" y="47920"/>
                </a:lnTo>
                <a:lnTo>
                  <a:pt x="914249" y="47939"/>
                </a:lnTo>
                <a:lnTo>
                  <a:pt x="912368" y="46494"/>
                </a:lnTo>
                <a:lnTo>
                  <a:pt x="910446" y="46027"/>
                </a:lnTo>
                <a:lnTo>
                  <a:pt x="909613" y="45580"/>
                </a:lnTo>
                <a:lnTo>
                  <a:pt x="909613" y="74333"/>
                </a:lnTo>
                <a:lnTo>
                  <a:pt x="909613" y="111563"/>
                </a:lnTo>
                <a:lnTo>
                  <a:pt x="872382" y="111563"/>
                </a:lnTo>
                <a:lnTo>
                  <a:pt x="872382" y="148793"/>
                </a:lnTo>
                <a:lnTo>
                  <a:pt x="872382" y="186024"/>
                </a:lnTo>
                <a:lnTo>
                  <a:pt x="872382" y="223254"/>
                </a:lnTo>
                <a:lnTo>
                  <a:pt x="835152" y="223254"/>
                </a:lnTo>
                <a:lnTo>
                  <a:pt x="835152" y="260484"/>
                </a:lnTo>
                <a:lnTo>
                  <a:pt x="797922" y="260484"/>
                </a:lnTo>
                <a:lnTo>
                  <a:pt x="797922" y="297715"/>
                </a:lnTo>
                <a:lnTo>
                  <a:pt x="797922" y="334945"/>
                </a:lnTo>
                <a:lnTo>
                  <a:pt x="760691" y="334945"/>
                </a:lnTo>
                <a:lnTo>
                  <a:pt x="760691" y="372176"/>
                </a:lnTo>
                <a:lnTo>
                  <a:pt x="723461" y="372176"/>
                </a:lnTo>
                <a:lnTo>
                  <a:pt x="723461" y="409406"/>
                </a:lnTo>
                <a:lnTo>
                  <a:pt x="686231" y="409406"/>
                </a:lnTo>
                <a:lnTo>
                  <a:pt x="649001" y="409406"/>
                </a:lnTo>
                <a:lnTo>
                  <a:pt x="611770" y="409406"/>
                </a:lnTo>
                <a:lnTo>
                  <a:pt x="574540" y="409406"/>
                </a:lnTo>
                <a:lnTo>
                  <a:pt x="574540" y="372176"/>
                </a:lnTo>
                <a:lnTo>
                  <a:pt x="546089" y="372176"/>
                </a:lnTo>
                <a:lnTo>
                  <a:pt x="540694" y="377996"/>
                </a:lnTo>
                <a:lnTo>
                  <a:pt x="540614" y="378115"/>
                </a:lnTo>
                <a:lnTo>
                  <a:pt x="540474" y="379561"/>
                </a:lnTo>
                <a:lnTo>
                  <a:pt x="539906" y="380748"/>
                </a:lnTo>
                <a:lnTo>
                  <a:pt x="539281" y="381460"/>
                </a:lnTo>
                <a:lnTo>
                  <a:pt x="539315" y="381733"/>
                </a:lnTo>
                <a:lnTo>
                  <a:pt x="538859" y="382144"/>
                </a:lnTo>
                <a:lnTo>
                  <a:pt x="538525" y="384211"/>
                </a:lnTo>
                <a:lnTo>
                  <a:pt x="537542" y="385174"/>
                </a:lnTo>
                <a:lnTo>
                  <a:pt x="537445" y="385998"/>
                </a:lnTo>
                <a:lnTo>
                  <a:pt x="537649" y="386800"/>
                </a:lnTo>
                <a:lnTo>
                  <a:pt x="535950" y="390417"/>
                </a:lnTo>
                <a:lnTo>
                  <a:pt x="534509" y="391600"/>
                </a:lnTo>
                <a:lnTo>
                  <a:pt x="533010" y="393942"/>
                </a:lnTo>
                <a:lnTo>
                  <a:pt x="532340" y="394346"/>
                </a:lnTo>
                <a:lnTo>
                  <a:pt x="531449" y="394152"/>
                </a:lnTo>
                <a:lnTo>
                  <a:pt x="531126" y="394681"/>
                </a:lnTo>
                <a:lnTo>
                  <a:pt x="530173" y="395221"/>
                </a:lnTo>
                <a:lnTo>
                  <a:pt x="529433" y="395380"/>
                </a:lnTo>
                <a:lnTo>
                  <a:pt x="529143" y="395087"/>
                </a:lnTo>
                <a:lnTo>
                  <a:pt x="528510" y="396280"/>
                </a:lnTo>
                <a:lnTo>
                  <a:pt x="528372" y="397745"/>
                </a:lnTo>
                <a:lnTo>
                  <a:pt x="526450" y="399730"/>
                </a:lnTo>
                <a:lnTo>
                  <a:pt x="524129" y="398137"/>
                </a:lnTo>
                <a:lnTo>
                  <a:pt x="492934" y="406197"/>
                </a:lnTo>
                <a:lnTo>
                  <a:pt x="465806" y="412018"/>
                </a:lnTo>
                <a:lnTo>
                  <a:pt x="459293" y="416114"/>
                </a:lnTo>
                <a:lnTo>
                  <a:pt x="452190" y="415414"/>
                </a:lnTo>
                <a:lnTo>
                  <a:pt x="452148" y="415431"/>
                </a:lnTo>
                <a:lnTo>
                  <a:pt x="451295" y="416757"/>
                </a:lnTo>
                <a:lnTo>
                  <a:pt x="450670" y="416797"/>
                </a:lnTo>
                <a:lnTo>
                  <a:pt x="446804" y="422375"/>
                </a:lnTo>
                <a:lnTo>
                  <a:pt x="445493" y="429307"/>
                </a:lnTo>
                <a:lnTo>
                  <a:pt x="445709" y="430778"/>
                </a:lnTo>
                <a:lnTo>
                  <a:pt x="445552" y="432002"/>
                </a:lnTo>
                <a:lnTo>
                  <a:pt x="445978" y="432925"/>
                </a:lnTo>
                <a:lnTo>
                  <a:pt x="445888" y="433594"/>
                </a:lnTo>
                <a:lnTo>
                  <a:pt x="446663" y="434084"/>
                </a:lnTo>
                <a:lnTo>
                  <a:pt x="446872" y="436870"/>
                </a:lnTo>
                <a:lnTo>
                  <a:pt x="447251" y="437714"/>
                </a:lnTo>
                <a:lnTo>
                  <a:pt x="447744" y="437958"/>
                </a:lnTo>
                <a:lnTo>
                  <a:pt x="447143" y="438816"/>
                </a:lnTo>
                <a:lnTo>
                  <a:pt x="446423" y="438636"/>
                </a:lnTo>
                <a:lnTo>
                  <a:pt x="445900" y="438908"/>
                </a:lnTo>
                <a:lnTo>
                  <a:pt x="445861" y="440454"/>
                </a:lnTo>
                <a:lnTo>
                  <a:pt x="446468" y="440974"/>
                </a:lnTo>
                <a:lnTo>
                  <a:pt x="446497" y="441263"/>
                </a:lnTo>
                <a:lnTo>
                  <a:pt x="445497" y="441414"/>
                </a:lnTo>
                <a:lnTo>
                  <a:pt x="445278" y="441699"/>
                </a:lnTo>
                <a:lnTo>
                  <a:pt x="446662" y="443190"/>
                </a:lnTo>
                <a:lnTo>
                  <a:pt x="446106" y="443707"/>
                </a:lnTo>
                <a:lnTo>
                  <a:pt x="445251" y="443950"/>
                </a:lnTo>
                <a:lnTo>
                  <a:pt x="444977" y="444347"/>
                </a:lnTo>
                <a:lnTo>
                  <a:pt x="443481" y="444819"/>
                </a:lnTo>
                <a:lnTo>
                  <a:pt x="443634" y="445116"/>
                </a:lnTo>
                <a:lnTo>
                  <a:pt x="440428" y="454038"/>
                </a:lnTo>
                <a:lnTo>
                  <a:pt x="423359" y="499534"/>
                </a:lnTo>
                <a:lnTo>
                  <a:pt x="421283" y="502161"/>
                </a:lnTo>
                <a:lnTo>
                  <a:pt x="419346" y="507007"/>
                </a:lnTo>
                <a:lnTo>
                  <a:pt x="418186" y="510910"/>
                </a:lnTo>
                <a:lnTo>
                  <a:pt x="417121" y="519141"/>
                </a:lnTo>
                <a:lnTo>
                  <a:pt x="412769" y="535342"/>
                </a:lnTo>
                <a:lnTo>
                  <a:pt x="400833" y="562390"/>
                </a:lnTo>
                <a:lnTo>
                  <a:pt x="400321" y="562383"/>
                </a:lnTo>
                <a:lnTo>
                  <a:pt x="398707" y="563804"/>
                </a:lnTo>
                <a:lnTo>
                  <a:pt x="397342" y="564190"/>
                </a:lnTo>
                <a:lnTo>
                  <a:pt x="393856" y="566787"/>
                </a:lnTo>
                <a:lnTo>
                  <a:pt x="393355" y="567512"/>
                </a:lnTo>
                <a:lnTo>
                  <a:pt x="392824" y="567664"/>
                </a:lnTo>
                <a:lnTo>
                  <a:pt x="390643" y="569923"/>
                </a:lnTo>
                <a:lnTo>
                  <a:pt x="389755" y="570130"/>
                </a:lnTo>
                <a:lnTo>
                  <a:pt x="388706" y="570893"/>
                </a:lnTo>
                <a:lnTo>
                  <a:pt x="388472" y="570699"/>
                </a:lnTo>
                <a:lnTo>
                  <a:pt x="387717" y="570871"/>
                </a:lnTo>
                <a:lnTo>
                  <a:pt x="386984" y="570577"/>
                </a:lnTo>
                <a:lnTo>
                  <a:pt x="386501" y="571435"/>
                </a:lnTo>
                <a:lnTo>
                  <a:pt x="385705" y="571768"/>
                </a:lnTo>
                <a:lnTo>
                  <a:pt x="384278" y="571736"/>
                </a:lnTo>
                <a:lnTo>
                  <a:pt x="383949" y="571985"/>
                </a:lnTo>
                <a:lnTo>
                  <a:pt x="383506" y="572617"/>
                </a:lnTo>
                <a:lnTo>
                  <a:pt x="382499" y="573260"/>
                </a:lnTo>
                <a:lnTo>
                  <a:pt x="381937" y="574094"/>
                </a:lnTo>
                <a:lnTo>
                  <a:pt x="381448" y="574092"/>
                </a:lnTo>
                <a:lnTo>
                  <a:pt x="380608" y="574674"/>
                </a:lnTo>
                <a:lnTo>
                  <a:pt x="377275" y="577573"/>
                </a:lnTo>
                <a:lnTo>
                  <a:pt x="374814" y="578739"/>
                </a:lnTo>
                <a:lnTo>
                  <a:pt x="371681" y="579710"/>
                </a:lnTo>
                <a:lnTo>
                  <a:pt x="370446" y="580663"/>
                </a:lnTo>
                <a:lnTo>
                  <a:pt x="369486" y="581026"/>
                </a:lnTo>
                <a:lnTo>
                  <a:pt x="368749" y="581906"/>
                </a:lnTo>
                <a:lnTo>
                  <a:pt x="366479" y="582540"/>
                </a:lnTo>
                <a:lnTo>
                  <a:pt x="365783" y="583337"/>
                </a:lnTo>
                <a:lnTo>
                  <a:pt x="365049" y="583723"/>
                </a:lnTo>
                <a:lnTo>
                  <a:pt x="363858" y="584063"/>
                </a:lnTo>
                <a:lnTo>
                  <a:pt x="363043" y="583854"/>
                </a:lnTo>
                <a:lnTo>
                  <a:pt x="361667" y="584347"/>
                </a:lnTo>
                <a:lnTo>
                  <a:pt x="358675" y="583168"/>
                </a:lnTo>
                <a:lnTo>
                  <a:pt x="356548" y="583111"/>
                </a:lnTo>
                <a:lnTo>
                  <a:pt x="354995" y="583539"/>
                </a:lnTo>
                <a:lnTo>
                  <a:pt x="353496" y="583287"/>
                </a:lnTo>
                <a:lnTo>
                  <a:pt x="352995" y="583644"/>
                </a:lnTo>
                <a:lnTo>
                  <a:pt x="351630" y="583453"/>
                </a:lnTo>
                <a:lnTo>
                  <a:pt x="351064" y="583133"/>
                </a:lnTo>
                <a:lnTo>
                  <a:pt x="347394" y="582791"/>
                </a:lnTo>
                <a:lnTo>
                  <a:pt x="346779" y="583178"/>
                </a:lnTo>
                <a:lnTo>
                  <a:pt x="346145" y="582726"/>
                </a:lnTo>
                <a:lnTo>
                  <a:pt x="345187" y="582642"/>
                </a:lnTo>
                <a:lnTo>
                  <a:pt x="344841" y="582140"/>
                </a:lnTo>
                <a:lnTo>
                  <a:pt x="344283" y="581938"/>
                </a:lnTo>
                <a:lnTo>
                  <a:pt x="342644" y="582613"/>
                </a:lnTo>
                <a:lnTo>
                  <a:pt x="341369" y="582659"/>
                </a:lnTo>
                <a:lnTo>
                  <a:pt x="340250" y="583220"/>
                </a:lnTo>
                <a:lnTo>
                  <a:pt x="339724" y="583216"/>
                </a:lnTo>
                <a:lnTo>
                  <a:pt x="339140" y="583101"/>
                </a:lnTo>
                <a:lnTo>
                  <a:pt x="338676" y="582507"/>
                </a:lnTo>
                <a:lnTo>
                  <a:pt x="338001" y="582125"/>
                </a:lnTo>
                <a:lnTo>
                  <a:pt x="336104" y="582123"/>
                </a:lnTo>
                <a:lnTo>
                  <a:pt x="335244" y="581589"/>
                </a:lnTo>
                <a:lnTo>
                  <a:pt x="334095" y="581807"/>
                </a:lnTo>
                <a:lnTo>
                  <a:pt x="332922" y="582639"/>
                </a:lnTo>
                <a:lnTo>
                  <a:pt x="332069" y="582804"/>
                </a:lnTo>
                <a:lnTo>
                  <a:pt x="331281" y="582300"/>
                </a:lnTo>
                <a:lnTo>
                  <a:pt x="330789" y="581563"/>
                </a:lnTo>
                <a:lnTo>
                  <a:pt x="330179" y="581264"/>
                </a:lnTo>
                <a:lnTo>
                  <a:pt x="330251" y="580887"/>
                </a:lnTo>
                <a:lnTo>
                  <a:pt x="327749" y="580774"/>
                </a:lnTo>
                <a:lnTo>
                  <a:pt x="313928" y="581183"/>
                </a:lnTo>
                <a:lnTo>
                  <a:pt x="313767" y="581188"/>
                </a:lnTo>
                <a:lnTo>
                  <a:pt x="303253" y="586517"/>
                </a:lnTo>
                <a:lnTo>
                  <a:pt x="303140" y="586747"/>
                </a:lnTo>
                <a:lnTo>
                  <a:pt x="302104" y="587099"/>
                </a:lnTo>
                <a:lnTo>
                  <a:pt x="300927" y="587696"/>
                </a:lnTo>
                <a:lnTo>
                  <a:pt x="300940" y="588369"/>
                </a:lnTo>
                <a:lnTo>
                  <a:pt x="300148" y="588517"/>
                </a:lnTo>
                <a:lnTo>
                  <a:pt x="299694" y="589203"/>
                </a:lnTo>
                <a:lnTo>
                  <a:pt x="298634" y="589202"/>
                </a:lnTo>
                <a:lnTo>
                  <a:pt x="298440" y="589755"/>
                </a:lnTo>
                <a:lnTo>
                  <a:pt x="298820" y="590317"/>
                </a:lnTo>
                <a:lnTo>
                  <a:pt x="298530" y="590557"/>
                </a:lnTo>
                <a:lnTo>
                  <a:pt x="296860" y="589951"/>
                </a:lnTo>
                <a:lnTo>
                  <a:pt x="296189" y="590097"/>
                </a:lnTo>
                <a:lnTo>
                  <a:pt x="294394" y="591007"/>
                </a:lnTo>
                <a:lnTo>
                  <a:pt x="289241" y="591198"/>
                </a:lnTo>
                <a:lnTo>
                  <a:pt x="289051" y="591316"/>
                </a:lnTo>
                <a:lnTo>
                  <a:pt x="288823" y="591214"/>
                </a:lnTo>
                <a:lnTo>
                  <a:pt x="287142" y="591277"/>
                </a:lnTo>
                <a:lnTo>
                  <a:pt x="286798" y="591596"/>
                </a:lnTo>
                <a:lnTo>
                  <a:pt x="286472" y="591443"/>
                </a:lnTo>
                <a:lnTo>
                  <a:pt x="286455" y="591302"/>
                </a:lnTo>
                <a:lnTo>
                  <a:pt x="285670" y="591331"/>
                </a:lnTo>
                <a:lnTo>
                  <a:pt x="285621" y="591824"/>
                </a:lnTo>
                <a:lnTo>
                  <a:pt x="284436" y="591882"/>
                </a:lnTo>
                <a:lnTo>
                  <a:pt x="283267" y="592964"/>
                </a:lnTo>
                <a:lnTo>
                  <a:pt x="282185" y="591686"/>
                </a:lnTo>
                <a:lnTo>
                  <a:pt x="281620" y="591644"/>
                </a:lnTo>
                <a:lnTo>
                  <a:pt x="280820" y="592061"/>
                </a:lnTo>
                <a:lnTo>
                  <a:pt x="280075" y="591539"/>
                </a:lnTo>
                <a:lnTo>
                  <a:pt x="276697" y="591665"/>
                </a:lnTo>
                <a:lnTo>
                  <a:pt x="276307" y="591679"/>
                </a:lnTo>
                <a:lnTo>
                  <a:pt x="269447" y="590350"/>
                </a:lnTo>
                <a:lnTo>
                  <a:pt x="268597" y="590697"/>
                </a:lnTo>
                <a:lnTo>
                  <a:pt x="267006" y="592682"/>
                </a:lnTo>
                <a:lnTo>
                  <a:pt x="266406" y="592738"/>
                </a:lnTo>
                <a:lnTo>
                  <a:pt x="265983" y="592004"/>
                </a:lnTo>
                <a:lnTo>
                  <a:pt x="265489" y="591799"/>
                </a:lnTo>
                <a:lnTo>
                  <a:pt x="263776" y="591864"/>
                </a:lnTo>
                <a:lnTo>
                  <a:pt x="263088" y="591355"/>
                </a:lnTo>
                <a:lnTo>
                  <a:pt x="260941" y="590649"/>
                </a:lnTo>
                <a:lnTo>
                  <a:pt x="260185" y="590103"/>
                </a:lnTo>
                <a:lnTo>
                  <a:pt x="255498" y="588975"/>
                </a:lnTo>
                <a:lnTo>
                  <a:pt x="254000" y="587809"/>
                </a:lnTo>
                <a:lnTo>
                  <a:pt x="252575" y="587195"/>
                </a:lnTo>
                <a:lnTo>
                  <a:pt x="252461" y="587057"/>
                </a:lnTo>
                <a:lnTo>
                  <a:pt x="247564" y="586108"/>
                </a:lnTo>
                <a:lnTo>
                  <a:pt x="239466" y="584233"/>
                </a:lnTo>
                <a:lnTo>
                  <a:pt x="239466" y="595557"/>
                </a:lnTo>
                <a:lnTo>
                  <a:pt x="202236" y="595557"/>
                </a:lnTo>
                <a:lnTo>
                  <a:pt x="202236" y="632788"/>
                </a:lnTo>
                <a:lnTo>
                  <a:pt x="202236" y="670018"/>
                </a:lnTo>
                <a:lnTo>
                  <a:pt x="165006" y="670018"/>
                </a:lnTo>
                <a:lnTo>
                  <a:pt x="127776" y="670018"/>
                </a:lnTo>
                <a:lnTo>
                  <a:pt x="127776" y="707249"/>
                </a:lnTo>
                <a:lnTo>
                  <a:pt x="90545" y="707249"/>
                </a:lnTo>
                <a:lnTo>
                  <a:pt x="71160" y="707249"/>
                </a:lnTo>
                <a:lnTo>
                  <a:pt x="85768" y="710813"/>
                </a:lnTo>
                <a:lnTo>
                  <a:pt x="103856" y="724791"/>
                </a:lnTo>
                <a:lnTo>
                  <a:pt x="98502" y="731651"/>
                </a:lnTo>
                <a:lnTo>
                  <a:pt x="89770" y="745184"/>
                </a:lnTo>
                <a:lnTo>
                  <a:pt x="94809" y="747730"/>
                </a:lnTo>
                <a:lnTo>
                  <a:pt x="101954" y="750844"/>
                </a:lnTo>
                <a:lnTo>
                  <a:pt x="108857" y="753258"/>
                </a:lnTo>
                <a:lnTo>
                  <a:pt x="113507" y="756085"/>
                </a:lnTo>
                <a:lnTo>
                  <a:pt x="125182" y="759530"/>
                </a:lnTo>
                <a:lnTo>
                  <a:pt x="130470" y="761423"/>
                </a:lnTo>
                <a:lnTo>
                  <a:pt x="144239" y="769406"/>
                </a:lnTo>
                <a:lnTo>
                  <a:pt x="146596" y="763874"/>
                </a:lnTo>
                <a:lnTo>
                  <a:pt x="153612" y="763995"/>
                </a:lnTo>
                <a:lnTo>
                  <a:pt x="160467" y="770607"/>
                </a:lnTo>
                <a:lnTo>
                  <a:pt x="161577" y="769919"/>
                </a:lnTo>
                <a:lnTo>
                  <a:pt x="166174" y="777985"/>
                </a:lnTo>
                <a:lnTo>
                  <a:pt x="169946" y="787190"/>
                </a:lnTo>
                <a:lnTo>
                  <a:pt x="171706" y="796153"/>
                </a:lnTo>
                <a:lnTo>
                  <a:pt x="162669" y="800460"/>
                </a:lnTo>
                <a:lnTo>
                  <a:pt x="162324" y="803273"/>
                </a:lnTo>
                <a:lnTo>
                  <a:pt x="153933" y="822778"/>
                </a:lnTo>
                <a:lnTo>
                  <a:pt x="153136" y="824592"/>
                </a:lnTo>
                <a:lnTo>
                  <a:pt x="151406" y="826334"/>
                </a:lnTo>
                <a:lnTo>
                  <a:pt x="151169" y="829159"/>
                </a:lnTo>
                <a:lnTo>
                  <a:pt x="157807" y="833016"/>
                </a:lnTo>
                <a:lnTo>
                  <a:pt x="159131" y="834060"/>
                </a:lnTo>
                <a:lnTo>
                  <a:pt x="159526" y="833839"/>
                </a:lnTo>
                <a:lnTo>
                  <a:pt x="168736" y="840725"/>
                </a:lnTo>
                <a:lnTo>
                  <a:pt x="175991" y="845535"/>
                </a:lnTo>
                <a:lnTo>
                  <a:pt x="177246" y="845931"/>
                </a:lnTo>
                <a:lnTo>
                  <a:pt x="179284" y="845562"/>
                </a:lnTo>
                <a:lnTo>
                  <a:pt x="175143" y="858124"/>
                </a:lnTo>
                <a:lnTo>
                  <a:pt x="174402" y="863630"/>
                </a:lnTo>
                <a:lnTo>
                  <a:pt x="174921" y="871071"/>
                </a:lnTo>
                <a:lnTo>
                  <a:pt x="174087" y="879446"/>
                </a:lnTo>
                <a:lnTo>
                  <a:pt x="174348" y="886730"/>
                </a:lnTo>
                <a:lnTo>
                  <a:pt x="184369" y="889791"/>
                </a:lnTo>
                <a:lnTo>
                  <a:pt x="182422" y="894710"/>
                </a:lnTo>
                <a:lnTo>
                  <a:pt x="180755" y="903543"/>
                </a:lnTo>
                <a:lnTo>
                  <a:pt x="183390" y="909146"/>
                </a:lnTo>
                <a:lnTo>
                  <a:pt x="226553" y="899340"/>
                </a:lnTo>
                <a:lnTo>
                  <a:pt x="232664" y="902887"/>
                </a:lnTo>
                <a:lnTo>
                  <a:pt x="227140" y="912526"/>
                </a:lnTo>
                <a:lnTo>
                  <a:pt x="233575" y="916034"/>
                </a:lnTo>
                <a:lnTo>
                  <a:pt x="229922" y="925623"/>
                </a:lnTo>
                <a:lnTo>
                  <a:pt x="227357" y="926000"/>
                </a:lnTo>
                <a:lnTo>
                  <a:pt x="220168" y="937245"/>
                </a:lnTo>
                <a:lnTo>
                  <a:pt x="224902" y="942317"/>
                </a:lnTo>
                <a:lnTo>
                  <a:pt x="227433" y="939292"/>
                </a:lnTo>
                <a:lnTo>
                  <a:pt x="235880" y="948704"/>
                </a:lnTo>
                <a:lnTo>
                  <a:pt x="236020" y="951366"/>
                </a:lnTo>
                <a:lnTo>
                  <a:pt x="234638" y="954021"/>
                </a:lnTo>
                <a:lnTo>
                  <a:pt x="232587" y="957192"/>
                </a:lnTo>
                <a:lnTo>
                  <a:pt x="235655" y="957827"/>
                </a:lnTo>
                <a:lnTo>
                  <a:pt x="245815" y="967071"/>
                </a:lnTo>
                <a:lnTo>
                  <a:pt x="248435" y="964803"/>
                </a:lnTo>
                <a:lnTo>
                  <a:pt x="249500" y="964184"/>
                </a:lnTo>
                <a:lnTo>
                  <a:pt x="250055" y="963412"/>
                </a:lnTo>
                <a:lnTo>
                  <a:pt x="249970" y="961249"/>
                </a:lnTo>
                <a:lnTo>
                  <a:pt x="249169" y="959202"/>
                </a:lnTo>
                <a:lnTo>
                  <a:pt x="249418" y="958257"/>
                </a:lnTo>
                <a:lnTo>
                  <a:pt x="250434" y="957594"/>
                </a:lnTo>
                <a:lnTo>
                  <a:pt x="252242" y="957231"/>
                </a:lnTo>
                <a:lnTo>
                  <a:pt x="253695" y="956438"/>
                </a:lnTo>
                <a:lnTo>
                  <a:pt x="254157" y="957009"/>
                </a:lnTo>
                <a:lnTo>
                  <a:pt x="254491" y="956568"/>
                </a:lnTo>
                <a:lnTo>
                  <a:pt x="255809" y="956646"/>
                </a:lnTo>
                <a:lnTo>
                  <a:pt x="256525" y="956152"/>
                </a:lnTo>
                <a:lnTo>
                  <a:pt x="256658" y="956329"/>
                </a:lnTo>
                <a:lnTo>
                  <a:pt x="257450" y="955517"/>
                </a:lnTo>
                <a:lnTo>
                  <a:pt x="257411" y="955193"/>
                </a:lnTo>
                <a:lnTo>
                  <a:pt x="256604" y="954311"/>
                </a:lnTo>
                <a:lnTo>
                  <a:pt x="256535" y="953764"/>
                </a:lnTo>
                <a:lnTo>
                  <a:pt x="257834" y="953150"/>
                </a:lnTo>
                <a:lnTo>
                  <a:pt x="257761" y="952900"/>
                </a:lnTo>
                <a:lnTo>
                  <a:pt x="258393" y="952021"/>
                </a:lnTo>
                <a:lnTo>
                  <a:pt x="258736" y="952101"/>
                </a:lnTo>
                <a:lnTo>
                  <a:pt x="258972" y="951695"/>
                </a:lnTo>
                <a:lnTo>
                  <a:pt x="259483" y="951744"/>
                </a:lnTo>
                <a:lnTo>
                  <a:pt x="259334" y="951344"/>
                </a:lnTo>
                <a:lnTo>
                  <a:pt x="259630" y="950882"/>
                </a:lnTo>
                <a:lnTo>
                  <a:pt x="259334" y="950314"/>
                </a:lnTo>
                <a:lnTo>
                  <a:pt x="258976" y="950270"/>
                </a:lnTo>
                <a:lnTo>
                  <a:pt x="258386" y="948325"/>
                </a:lnTo>
                <a:lnTo>
                  <a:pt x="258699" y="947952"/>
                </a:lnTo>
                <a:lnTo>
                  <a:pt x="258367" y="947686"/>
                </a:lnTo>
                <a:lnTo>
                  <a:pt x="258653" y="947538"/>
                </a:lnTo>
                <a:lnTo>
                  <a:pt x="258529" y="947197"/>
                </a:lnTo>
                <a:lnTo>
                  <a:pt x="259068" y="946408"/>
                </a:lnTo>
                <a:lnTo>
                  <a:pt x="259194" y="945723"/>
                </a:lnTo>
                <a:lnTo>
                  <a:pt x="258561" y="945403"/>
                </a:lnTo>
                <a:lnTo>
                  <a:pt x="258206" y="943775"/>
                </a:lnTo>
                <a:lnTo>
                  <a:pt x="259265" y="942227"/>
                </a:lnTo>
                <a:lnTo>
                  <a:pt x="259190" y="941589"/>
                </a:lnTo>
                <a:lnTo>
                  <a:pt x="259521" y="941151"/>
                </a:lnTo>
                <a:lnTo>
                  <a:pt x="259060" y="940050"/>
                </a:lnTo>
                <a:lnTo>
                  <a:pt x="258552" y="939762"/>
                </a:lnTo>
                <a:lnTo>
                  <a:pt x="257984" y="938838"/>
                </a:lnTo>
                <a:lnTo>
                  <a:pt x="257830" y="937885"/>
                </a:lnTo>
                <a:lnTo>
                  <a:pt x="256971" y="936980"/>
                </a:lnTo>
                <a:lnTo>
                  <a:pt x="256294" y="936735"/>
                </a:lnTo>
                <a:lnTo>
                  <a:pt x="256322" y="935533"/>
                </a:lnTo>
                <a:lnTo>
                  <a:pt x="256161" y="935491"/>
                </a:lnTo>
                <a:lnTo>
                  <a:pt x="256321" y="935070"/>
                </a:lnTo>
                <a:lnTo>
                  <a:pt x="256983" y="934954"/>
                </a:lnTo>
                <a:lnTo>
                  <a:pt x="257234" y="935588"/>
                </a:lnTo>
                <a:lnTo>
                  <a:pt x="258087" y="936140"/>
                </a:lnTo>
                <a:lnTo>
                  <a:pt x="259688" y="935802"/>
                </a:lnTo>
                <a:lnTo>
                  <a:pt x="259997" y="935162"/>
                </a:lnTo>
                <a:lnTo>
                  <a:pt x="260043" y="933898"/>
                </a:lnTo>
                <a:lnTo>
                  <a:pt x="261333" y="933272"/>
                </a:lnTo>
                <a:lnTo>
                  <a:pt x="261892" y="933252"/>
                </a:lnTo>
                <a:lnTo>
                  <a:pt x="262509" y="932296"/>
                </a:lnTo>
                <a:lnTo>
                  <a:pt x="262881" y="931478"/>
                </a:lnTo>
                <a:lnTo>
                  <a:pt x="262898" y="930303"/>
                </a:lnTo>
                <a:lnTo>
                  <a:pt x="263524" y="929275"/>
                </a:lnTo>
                <a:lnTo>
                  <a:pt x="263528" y="927946"/>
                </a:lnTo>
                <a:lnTo>
                  <a:pt x="263807" y="927495"/>
                </a:lnTo>
                <a:lnTo>
                  <a:pt x="264803" y="927555"/>
                </a:lnTo>
                <a:lnTo>
                  <a:pt x="265505" y="927337"/>
                </a:lnTo>
                <a:lnTo>
                  <a:pt x="265739" y="927028"/>
                </a:lnTo>
                <a:lnTo>
                  <a:pt x="266754" y="927130"/>
                </a:lnTo>
                <a:lnTo>
                  <a:pt x="267179" y="926897"/>
                </a:lnTo>
                <a:lnTo>
                  <a:pt x="268288" y="927112"/>
                </a:lnTo>
                <a:lnTo>
                  <a:pt x="268508" y="927456"/>
                </a:lnTo>
                <a:lnTo>
                  <a:pt x="268632" y="927104"/>
                </a:lnTo>
                <a:lnTo>
                  <a:pt x="269452" y="926638"/>
                </a:lnTo>
                <a:lnTo>
                  <a:pt x="269174" y="925822"/>
                </a:lnTo>
                <a:lnTo>
                  <a:pt x="268207" y="925249"/>
                </a:lnTo>
                <a:lnTo>
                  <a:pt x="268164" y="924815"/>
                </a:lnTo>
                <a:lnTo>
                  <a:pt x="268566" y="924188"/>
                </a:lnTo>
                <a:lnTo>
                  <a:pt x="269812" y="923456"/>
                </a:lnTo>
                <a:lnTo>
                  <a:pt x="263831" y="917308"/>
                </a:lnTo>
                <a:lnTo>
                  <a:pt x="264295" y="916298"/>
                </a:lnTo>
                <a:lnTo>
                  <a:pt x="265373" y="916536"/>
                </a:lnTo>
                <a:lnTo>
                  <a:pt x="265948" y="915964"/>
                </a:lnTo>
                <a:lnTo>
                  <a:pt x="266326" y="913832"/>
                </a:lnTo>
                <a:lnTo>
                  <a:pt x="265541" y="912461"/>
                </a:lnTo>
                <a:lnTo>
                  <a:pt x="267005" y="908774"/>
                </a:lnTo>
                <a:lnTo>
                  <a:pt x="268954" y="908170"/>
                </a:lnTo>
                <a:lnTo>
                  <a:pt x="269202" y="905298"/>
                </a:lnTo>
                <a:lnTo>
                  <a:pt x="267101" y="902860"/>
                </a:lnTo>
                <a:lnTo>
                  <a:pt x="266213" y="901202"/>
                </a:lnTo>
                <a:lnTo>
                  <a:pt x="265848" y="899912"/>
                </a:lnTo>
                <a:lnTo>
                  <a:pt x="266115" y="899189"/>
                </a:lnTo>
                <a:lnTo>
                  <a:pt x="266577" y="898981"/>
                </a:lnTo>
                <a:lnTo>
                  <a:pt x="267410" y="899058"/>
                </a:lnTo>
                <a:lnTo>
                  <a:pt x="267791" y="898721"/>
                </a:lnTo>
                <a:lnTo>
                  <a:pt x="267571" y="898020"/>
                </a:lnTo>
                <a:lnTo>
                  <a:pt x="266719" y="897190"/>
                </a:lnTo>
                <a:lnTo>
                  <a:pt x="266640" y="896834"/>
                </a:lnTo>
                <a:lnTo>
                  <a:pt x="268636" y="894712"/>
                </a:lnTo>
                <a:lnTo>
                  <a:pt x="268706" y="893248"/>
                </a:lnTo>
                <a:lnTo>
                  <a:pt x="278955" y="891248"/>
                </a:lnTo>
                <a:lnTo>
                  <a:pt x="278171" y="887347"/>
                </a:lnTo>
                <a:lnTo>
                  <a:pt x="282219" y="886522"/>
                </a:lnTo>
                <a:lnTo>
                  <a:pt x="282212" y="887288"/>
                </a:lnTo>
                <a:lnTo>
                  <a:pt x="281955" y="887549"/>
                </a:lnTo>
                <a:lnTo>
                  <a:pt x="281691" y="888789"/>
                </a:lnTo>
                <a:lnTo>
                  <a:pt x="281921" y="891204"/>
                </a:lnTo>
                <a:lnTo>
                  <a:pt x="282566" y="892886"/>
                </a:lnTo>
                <a:lnTo>
                  <a:pt x="283622" y="893351"/>
                </a:lnTo>
                <a:lnTo>
                  <a:pt x="284202" y="895024"/>
                </a:lnTo>
                <a:lnTo>
                  <a:pt x="283826" y="896204"/>
                </a:lnTo>
                <a:lnTo>
                  <a:pt x="283859" y="897867"/>
                </a:lnTo>
                <a:lnTo>
                  <a:pt x="283635" y="898409"/>
                </a:lnTo>
                <a:lnTo>
                  <a:pt x="283790" y="899281"/>
                </a:lnTo>
                <a:lnTo>
                  <a:pt x="283376" y="900101"/>
                </a:lnTo>
                <a:lnTo>
                  <a:pt x="284104" y="901103"/>
                </a:lnTo>
                <a:lnTo>
                  <a:pt x="284056" y="901961"/>
                </a:lnTo>
                <a:lnTo>
                  <a:pt x="284721" y="902548"/>
                </a:lnTo>
                <a:lnTo>
                  <a:pt x="292554" y="901515"/>
                </a:lnTo>
                <a:lnTo>
                  <a:pt x="297140" y="901330"/>
                </a:lnTo>
                <a:lnTo>
                  <a:pt x="309994" y="899364"/>
                </a:lnTo>
                <a:lnTo>
                  <a:pt x="313886" y="899066"/>
                </a:lnTo>
                <a:lnTo>
                  <a:pt x="319042" y="901088"/>
                </a:lnTo>
                <a:lnTo>
                  <a:pt x="320965" y="902188"/>
                </a:lnTo>
                <a:lnTo>
                  <a:pt x="291485" y="937095"/>
                </a:lnTo>
                <a:lnTo>
                  <a:pt x="293626" y="936619"/>
                </a:lnTo>
                <a:lnTo>
                  <a:pt x="292974" y="937899"/>
                </a:lnTo>
                <a:lnTo>
                  <a:pt x="292957" y="938374"/>
                </a:lnTo>
                <a:lnTo>
                  <a:pt x="293377" y="938765"/>
                </a:lnTo>
                <a:lnTo>
                  <a:pt x="293061" y="938584"/>
                </a:lnTo>
                <a:lnTo>
                  <a:pt x="293030" y="939427"/>
                </a:lnTo>
                <a:lnTo>
                  <a:pt x="292193" y="939555"/>
                </a:lnTo>
                <a:lnTo>
                  <a:pt x="291294" y="939152"/>
                </a:lnTo>
                <a:lnTo>
                  <a:pt x="288986" y="940416"/>
                </a:lnTo>
                <a:lnTo>
                  <a:pt x="306699" y="970422"/>
                </a:lnTo>
                <a:lnTo>
                  <a:pt x="308006" y="968824"/>
                </a:lnTo>
                <a:lnTo>
                  <a:pt x="309051" y="967048"/>
                </a:lnTo>
                <a:lnTo>
                  <a:pt x="309451" y="965772"/>
                </a:lnTo>
                <a:lnTo>
                  <a:pt x="310032" y="965110"/>
                </a:lnTo>
                <a:lnTo>
                  <a:pt x="311708" y="964871"/>
                </a:lnTo>
                <a:lnTo>
                  <a:pt x="313821" y="965247"/>
                </a:lnTo>
                <a:lnTo>
                  <a:pt x="315360" y="964400"/>
                </a:lnTo>
                <a:lnTo>
                  <a:pt x="316871" y="964506"/>
                </a:lnTo>
                <a:lnTo>
                  <a:pt x="318038" y="963864"/>
                </a:lnTo>
                <a:lnTo>
                  <a:pt x="308750" y="993119"/>
                </a:lnTo>
                <a:lnTo>
                  <a:pt x="303212" y="992487"/>
                </a:lnTo>
                <a:lnTo>
                  <a:pt x="300098" y="997091"/>
                </a:lnTo>
                <a:lnTo>
                  <a:pt x="295004" y="996370"/>
                </a:lnTo>
                <a:lnTo>
                  <a:pt x="297909" y="1002943"/>
                </a:lnTo>
                <a:lnTo>
                  <a:pt x="304817" y="1005363"/>
                </a:lnTo>
                <a:lnTo>
                  <a:pt x="297414" y="1028484"/>
                </a:lnTo>
                <a:lnTo>
                  <a:pt x="296622" y="1028183"/>
                </a:lnTo>
                <a:lnTo>
                  <a:pt x="291605" y="1034893"/>
                </a:lnTo>
                <a:lnTo>
                  <a:pt x="294659" y="1037083"/>
                </a:lnTo>
                <a:lnTo>
                  <a:pt x="288841" y="1055229"/>
                </a:lnTo>
                <a:lnTo>
                  <a:pt x="299636" y="1058694"/>
                </a:lnTo>
                <a:lnTo>
                  <a:pt x="264907" y="1129918"/>
                </a:lnTo>
                <a:lnTo>
                  <a:pt x="219720" y="1225313"/>
                </a:lnTo>
                <a:lnTo>
                  <a:pt x="220532" y="1225770"/>
                </a:lnTo>
                <a:lnTo>
                  <a:pt x="220716" y="1226290"/>
                </a:lnTo>
                <a:lnTo>
                  <a:pt x="220085" y="1233115"/>
                </a:lnTo>
                <a:lnTo>
                  <a:pt x="220914" y="1234751"/>
                </a:lnTo>
                <a:lnTo>
                  <a:pt x="222826" y="1235960"/>
                </a:lnTo>
                <a:lnTo>
                  <a:pt x="224023" y="1237019"/>
                </a:lnTo>
                <a:lnTo>
                  <a:pt x="225760" y="1241449"/>
                </a:lnTo>
                <a:lnTo>
                  <a:pt x="227830" y="1244777"/>
                </a:lnTo>
                <a:lnTo>
                  <a:pt x="229036" y="1247305"/>
                </a:lnTo>
                <a:lnTo>
                  <a:pt x="231081" y="1249232"/>
                </a:lnTo>
                <a:lnTo>
                  <a:pt x="232596" y="1250002"/>
                </a:lnTo>
                <a:lnTo>
                  <a:pt x="233149" y="1251463"/>
                </a:lnTo>
                <a:lnTo>
                  <a:pt x="234343" y="1251520"/>
                </a:lnTo>
                <a:lnTo>
                  <a:pt x="235252" y="1250854"/>
                </a:lnTo>
                <a:lnTo>
                  <a:pt x="236045" y="1250786"/>
                </a:lnTo>
                <a:lnTo>
                  <a:pt x="240105" y="1251136"/>
                </a:lnTo>
                <a:lnTo>
                  <a:pt x="241617" y="1251638"/>
                </a:lnTo>
                <a:lnTo>
                  <a:pt x="242441" y="1252955"/>
                </a:lnTo>
                <a:lnTo>
                  <a:pt x="242213" y="1254467"/>
                </a:lnTo>
                <a:lnTo>
                  <a:pt x="242340" y="1255003"/>
                </a:lnTo>
                <a:lnTo>
                  <a:pt x="243455" y="1255827"/>
                </a:lnTo>
                <a:lnTo>
                  <a:pt x="245428" y="1256441"/>
                </a:lnTo>
                <a:lnTo>
                  <a:pt x="247658" y="1255947"/>
                </a:lnTo>
                <a:lnTo>
                  <a:pt x="248729" y="1256370"/>
                </a:lnTo>
                <a:lnTo>
                  <a:pt x="249264" y="1257081"/>
                </a:lnTo>
                <a:lnTo>
                  <a:pt x="249904" y="1259286"/>
                </a:lnTo>
                <a:lnTo>
                  <a:pt x="251226" y="1261780"/>
                </a:lnTo>
                <a:lnTo>
                  <a:pt x="254106" y="1264815"/>
                </a:lnTo>
                <a:lnTo>
                  <a:pt x="255806" y="1266234"/>
                </a:lnTo>
                <a:lnTo>
                  <a:pt x="257539" y="1267294"/>
                </a:lnTo>
                <a:lnTo>
                  <a:pt x="262908" y="1267284"/>
                </a:lnTo>
                <a:lnTo>
                  <a:pt x="263514" y="1266554"/>
                </a:lnTo>
                <a:lnTo>
                  <a:pt x="263557" y="1265678"/>
                </a:lnTo>
                <a:lnTo>
                  <a:pt x="263972" y="1265226"/>
                </a:lnTo>
                <a:lnTo>
                  <a:pt x="264918" y="1265286"/>
                </a:lnTo>
                <a:lnTo>
                  <a:pt x="265750" y="1265732"/>
                </a:lnTo>
                <a:lnTo>
                  <a:pt x="266157" y="1266915"/>
                </a:lnTo>
                <a:lnTo>
                  <a:pt x="265448" y="1272382"/>
                </a:lnTo>
                <a:lnTo>
                  <a:pt x="266422" y="1275503"/>
                </a:lnTo>
                <a:lnTo>
                  <a:pt x="266681" y="1277202"/>
                </a:lnTo>
                <a:lnTo>
                  <a:pt x="267136" y="1277881"/>
                </a:lnTo>
                <a:lnTo>
                  <a:pt x="270182" y="1279047"/>
                </a:lnTo>
                <a:lnTo>
                  <a:pt x="271330" y="1279214"/>
                </a:lnTo>
                <a:lnTo>
                  <a:pt x="272600" y="1280031"/>
                </a:lnTo>
                <a:lnTo>
                  <a:pt x="274227" y="1280603"/>
                </a:lnTo>
                <a:lnTo>
                  <a:pt x="278034" y="1280159"/>
                </a:lnTo>
                <a:lnTo>
                  <a:pt x="278974" y="1280705"/>
                </a:lnTo>
                <a:lnTo>
                  <a:pt x="281414" y="1280859"/>
                </a:lnTo>
                <a:lnTo>
                  <a:pt x="283586" y="1281327"/>
                </a:lnTo>
                <a:lnTo>
                  <a:pt x="284321" y="1281707"/>
                </a:lnTo>
                <a:lnTo>
                  <a:pt x="285720" y="1283816"/>
                </a:lnTo>
                <a:lnTo>
                  <a:pt x="286351" y="1285670"/>
                </a:lnTo>
                <a:lnTo>
                  <a:pt x="286239" y="1286222"/>
                </a:lnTo>
                <a:lnTo>
                  <a:pt x="285211" y="1287042"/>
                </a:lnTo>
                <a:lnTo>
                  <a:pt x="284989" y="1287477"/>
                </a:lnTo>
                <a:lnTo>
                  <a:pt x="284650" y="1289445"/>
                </a:lnTo>
                <a:lnTo>
                  <a:pt x="284890" y="1290387"/>
                </a:lnTo>
                <a:lnTo>
                  <a:pt x="285698" y="1291842"/>
                </a:lnTo>
                <a:lnTo>
                  <a:pt x="287237" y="1293076"/>
                </a:lnTo>
                <a:lnTo>
                  <a:pt x="287769" y="1295429"/>
                </a:lnTo>
                <a:lnTo>
                  <a:pt x="288953" y="1295939"/>
                </a:lnTo>
                <a:lnTo>
                  <a:pt x="289935" y="1297103"/>
                </a:lnTo>
                <a:lnTo>
                  <a:pt x="290741" y="1297579"/>
                </a:lnTo>
                <a:lnTo>
                  <a:pt x="290441" y="1300862"/>
                </a:lnTo>
                <a:lnTo>
                  <a:pt x="290617" y="1301311"/>
                </a:lnTo>
                <a:lnTo>
                  <a:pt x="291574" y="1302246"/>
                </a:lnTo>
                <a:lnTo>
                  <a:pt x="294876" y="1303440"/>
                </a:lnTo>
                <a:lnTo>
                  <a:pt x="295435" y="1304064"/>
                </a:lnTo>
                <a:lnTo>
                  <a:pt x="296766" y="1308088"/>
                </a:lnTo>
                <a:lnTo>
                  <a:pt x="296949" y="1310462"/>
                </a:lnTo>
                <a:lnTo>
                  <a:pt x="298893" y="1312264"/>
                </a:lnTo>
                <a:lnTo>
                  <a:pt x="298962" y="1314283"/>
                </a:lnTo>
                <a:lnTo>
                  <a:pt x="299586" y="1315976"/>
                </a:lnTo>
                <a:lnTo>
                  <a:pt x="300052" y="1316364"/>
                </a:lnTo>
                <a:lnTo>
                  <a:pt x="301082" y="1316462"/>
                </a:lnTo>
                <a:lnTo>
                  <a:pt x="302492" y="1314992"/>
                </a:lnTo>
                <a:lnTo>
                  <a:pt x="303187" y="1314980"/>
                </a:lnTo>
                <a:lnTo>
                  <a:pt x="303919" y="1316001"/>
                </a:lnTo>
                <a:lnTo>
                  <a:pt x="304470" y="1317762"/>
                </a:lnTo>
                <a:lnTo>
                  <a:pt x="305700" y="1318424"/>
                </a:lnTo>
                <a:lnTo>
                  <a:pt x="306192" y="1319036"/>
                </a:lnTo>
                <a:lnTo>
                  <a:pt x="306991" y="1318970"/>
                </a:lnTo>
                <a:lnTo>
                  <a:pt x="307361" y="1319169"/>
                </a:lnTo>
                <a:lnTo>
                  <a:pt x="307585" y="1320008"/>
                </a:lnTo>
                <a:lnTo>
                  <a:pt x="307522" y="1321241"/>
                </a:lnTo>
                <a:lnTo>
                  <a:pt x="306296" y="1322570"/>
                </a:lnTo>
                <a:lnTo>
                  <a:pt x="306262" y="1323419"/>
                </a:lnTo>
                <a:lnTo>
                  <a:pt x="308653" y="1326009"/>
                </a:lnTo>
                <a:lnTo>
                  <a:pt x="310504" y="1326966"/>
                </a:lnTo>
                <a:lnTo>
                  <a:pt x="311106" y="1328757"/>
                </a:lnTo>
                <a:lnTo>
                  <a:pt x="311967" y="1329716"/>
                </a:lnTo>
                <a:lnTo>
                  <a:pt x="314321" y="1330296"/>
                </a:lnTo>
                <a:lnTo>
                  <a:pt x="315064" y="1330074"/>
                </a:lnTo>
                <a:lnTo>
                  <a:pt x="316416" y="1329016"/>
                </a:lnTo>
                <a:lnTo>
                  <a:pt x="317260" y="1328652"/>
                </a:lnTo>
                <a:lnTo>
                  <a:pt x="318152" y="1328687"/>
                </a:lnTo>
                <a:lnTo>
                  <a:pt x="318859" y="1329088"/>
                </a:lnTo>
                <a:lnTo>
                  <a:pt x="320678" y="1334049"/>
                </a:lnTo>
                <a:lnTo>
                  <a:pt x="320609" y="1335149"/>
                </a:lnTo>
                <a:lnTo>
                  <a:pt x="320000" y="1337405"/>
                </a:lnTo>
                <a:lnTo>
                  <a:pt x="319007" y="1338788"/>
                </a:lnTo>
                <a:lnTo>
                  <a:pt x="319408" y="1341652"/>
                </a:lnTo>
                <a:lnTo>
                  <a:pt x="320038" y="1341855"/>
                </a:lnTo>
                <a:lnTo>
                  <a:pt x="321250" y="1340809"/>
                </a:lnTo>
                <a:lnTo>
                  <a:pt x="323091" y="1340771"/>
                </a:lnTo>
                <a:lnTo>
                  <a:pt x="324182" y="1341189"/>
                </a:lnTo>
                <a:lnTo>
                  <a:pt x="325504" y="1342428"/>
                </a:lnTo>
                <a:lnTo>
                  <a:pt x="327688" y="1343455"/>
                </a:lnTo>
                <a:lnTo>
                  <a:pt x="328546" y="1346451"/>
                </a:lnTo>
                <a:lnTo>
                  <a:pt x="329839" y="1348483"/>
                </a:lnTo>
                <a:lnTo>
                  <a:pt x="330170" y="1349409"/>
                </a:lnTo>
                <a:lnTo>
                  <a:pt x="331900" y="1351229"/>
                </a:lnTo>
                <a:lnTo>
                  <a:pt x="333947" y="1351890"/>
                </a:lnTo>
                <a:lnTo>
                  <a:pt x="334909" y="1353322"/>
                </a:lnTo>
                <a:lnTo>
                  <a:pt x="336488" y="1354930"/>
                </a:lnTo>
                <a:lnTo>
                  <a:pt x="336982" y="1356072"/>
                </a:lnTo>
                <a:lnTo>
                  <a:pt x="335823" y="1356676"/>
                </a:lnTo>
                <a:lnTo>
                  <a:pt x="335768" y="1357680"/>
                </a:lnTo>
                <a:lnTo>
                  <a:pt x="336821" y="1358579"/>
                </a:lnTo>
                <a:lnTo>
                  <a:pt x="337828" y="1360058"/>
                </a:lnTo>
                <a:lnTo>
                  <a:pt x="340197" y="1361768"/>
                </a:lnTo>
                <a:lnTo>
                  <a:pt x="341035" y="1364147"/>
                </a:lnTo>
                <a:lnTo>
                  <a:pt x="342945" y="1365076"/>
                </a:lnTo>
                <a:lnTo>
                  <a:pt x="343946" y="1365254"/>
                </a:lnTo>
                <a:lnTo>
                  <a:pt x="346122" y="1365021"/>
                </a:lnTo>
                <a:lnTo>
                  <a:pt x="347000" y="1364334"/>
                </a:lnTo>
                <a:lnTo>
                  <a:pt x="347570" y="1364409"/>
                </a:lnTo>
                <a:lnTo>
                  <a:pt x="348165" y="1365178"/>
                </a:lnTo>
                <a:lnTo>
                  <a:pt x="348725" y="1366665"/>
                </a:lnTo>
                <a:lnTo>
                  <a:pt x="350344" y="1367558"/>
                </a:lnTo>
                <a:lnTo>
                  <a:pt x="351338" y="1368705"/>
                </a:lnTo>
                <a:lnTo>
                  <a:pt x="352608" y="1370824"/>
                </a:lnTo>
                <a:lnTo>
                  <a:pt x="353796" y="1371708"/>
                </a:lnTo>
                <a:lnTo>
                  <a:pt x="354480" y="1374176"/>
                </a:lnTo>
                <a:lnTo>
                  <a:pt x="357561" y="1377081"/>
                </a:lnTo>
                <a:lnTo>
                  <a:pt x="358418" y="1377174"/>
                </a:lnTo>
                <a:lnTo>
                  <a:pt x="360183" y="1376404"/>
                </a:lnTo>
                <a:lnTo>
                  <a:pt x="360511" y="1375945"/>
                </a:lnTo>
                <a:lnTo>
                  <a:pt x="360847" y="1374528"/>
                </a:lnTo>
                <a:lnTo>
                  <a:pt x="361604" y="1373975"/>
                </a:lnTo>
                <a:lnTo>
                  <a:pt x="362513" y="1374082"/>
                </a:lnTo>
                <a:lnTo>
                  <a:pt x="363992" y="1375081"/>
                </a:lnTo>
                <a:lnTo>
                  <a:pt x="364972" y="1374971"/>
                </a:lnTo>
                <a:lnTo>
                  <a:pt x="365882" y="1374056"/>
                </a:lnTo>
                <a:lnTo>
                  <a:pt x="367475" y="1374234"/>
                </a:lnTo>
                <a:lnTo>
                  <a:pt x="370974" y="1376550"/>
                </a:lnTo>
                <a:lnTo>
                  <a:pt x="371891" y="1376393"/>
                </a:lnTo>
                <a:lnTo>
                  <a:pt x="373648" y="1377319"/>
                </a:lnTo>
                <a:lnTo>
                  <a:pt x="373924" y="1377699"/>
                </a:lnTo>
                <a:lnTo>
                  <a:pt x="373843" y="1378447"/>
                </a:lnTo>
                <a:lnTo>
                  <a:pt x="374117" y="1378852"/>
                </a:lnTo>
                <a:lnTo>
                  <a:pt x="378709" y="1382506"/>
                </a:lnTo>
                <a:lnTo>
                  <a:pt x="380628" y="1385024"/>
                </a:lnTo>
                <a:lnTo>
                  <a:pt x="379970" y="1385664"/>
                </a:lnTo>
                <a:lnTo>
                  <a:pt x="379104" y="1387130"/>
                </a:lnTo>
                <a:lnTo>
                  <a:pt x="379378" y="1390507"/>
                </a:lnTo>
                <a:lnTo>
                  <a:pt x="379645" y="1391056"/>
                </a:lnTo>
                <a:lnTo>
                  <a:pt x="381201" y="1392039"/>
                </a:lnTo>
                <a:lnTo>
                  <a:pt x="380977" y="1392387"/>
                </a:lnTo>
                <a:lnTo>
                  <a:pt x="381276" y="1393068"/>
                </a:lnTo>
                <a:lnTo>
                  <a:pt x="380044" y="1393854"/>
                </a:lnTo>
                <a:lnTo>
                  <a:pt x="379608" y="1394772"/>
                </a:lnTo>
                <a:lnTo>
                  <a:pt x="380113" y="1395791"/>
                </a:lnTo>
                <a:lnTo>
                  <a:pt x="380489" y="1399150"/>
                </a:lnTo>
                <a:lnTo>
                  <a:pt x="379912" y="1400100"/>
                </a:lnTo>
                <a:lnTo>
                  <a:pt x="379885" y="1401186"/>
                </a:lnTo>
                <a:lnTo>
                  <a:pt x="381536" y="1401356"/>
                </a:lnTo>
                <a:lnTo>
                  <a:pt x="381882" y="1402193"/>
                </a:lnTo>
                <a:lnTo>
                  <a:pt x="381986" y="1403900"/>
                </a:lnTo>
                <a:lnTo>
                  <a:pt x="381515" y="1404755"/>
                </a:lnTo>
                <a:lnTo>
                  <a:pt x="382362" y="1407410"/>
                </a:lnTo>
                <a:lnTo>
                  <a:pt x="382391" y="1410569"/>
                </a:lnTo>
                <a:lnTo>
                  <a:pt x="383277" y="1411504"/>
                </a:lnTo>
                <a:lnTo>
                  <a:pt x="385921" y="1411363"/>
                </a:lnTo>
                <a:lnTo>
                  <a:pt x="386410" y="1412214"/>
                </a:lnTo>
                <a:lnTo>
                  <a:pt x="388744" y="1413484"/>
                </a:lnTo>
                <a:lnTo>
                  <a:pt x="392039" y="1412410"/>
                </a:lnTo>
                <a:lnTo>
                  <a:pt x="392238" y="1412605"/>
                </a:lnTo>
                <a:lnTo>
                  <a:pt x="388257" y="1419553"/>
                </a:lnTo>
                <a:lnTo>
                  <a:pt x="383050" y="1422275"/>
                </a:lnTo>
                <a:lnTo>
                  <a:pt x="381059" y="1425575"/>
                </a:lnTo>
                <a:lnTo>
                  <a:pt x="385226" y="1428592"/>
                </a:lnTo>
                <a:lnTo>
                  <a:pt x="386328" y="1430279"/>
                </a:lnTo>
                <a:lnTo>
                  <a:pt x="387471" y="1431015"/>
                </a:lnTo>
                <a:lnTo>
                  <a:pt x="387657" y="1430831"/>
                </a:lnTo>
                <a:lnTo>
                  <a:pt x="387109" y="1434122"/>
                </a:lnTo>
                <a:lnTo>
                  <a:pt x="386590" y="1435267"/>
                </a:lnTo>
                <a:lnTo>
                  <a:pt x="385760" y="1436018"/>
                </a:lnTo>
                <a:lnTo>
                  <a:pt x="386280" y="1437535"/>
                </a:lnTo>
                <a:lnTo>
                  <a:pt x="386003" y="1438884"/>
                </a:lnTo>
                <a:lnTo>
                  <a:pt x="386644" y="1439775"/>
                </a:lnTo>
                <a:lnTo>
                  <a:pt x="384095" y="1441742"/>
                </a:lnTo>
                <a:lnTo>
                  <a:pt x="381511" y="1444402"/>
                </a:lnTo>
                <a:lnTo>
                  <a:pt x="381613" y="1445611"/>
                </a:lnTo>
                <a:lnTo>
                  <a:pt x="382892" y="1448114"/>
                </a:lnTo>
                <a:lnTo>
                  <a:pt x="385275" y="1448299"/>
                </a:lnTo>
                <a:lnTo>
                  <a:pt x="383142" y="1453163"/>
                </a:lnTo>
                <a:lnTo>
                  <a:pt x="379864" y="1456093"/>
                </a:lnTo>
                <a:lnTo>
                  <a:pt x="378360" y="1456000"/>
                </a:lnTo>
                <a:lnTo>
                  <a:pt x="376314" y="1457194"/>
                </a:lnTo>
                <a:lnTo>
                  <a:pt x="378498" y="1460142"/>
                </a:lnTo>
                <a:lnTo>
                  <a:pt x="377362" y="1463588"/>
                </a:lnTo>
                <a:lnTo>
                  <a:pt x="372966" y="1469218"/>
                </a:lnTo>
                <a:lnTo>
                  <a:pt x="370490" y="1468595"/>
                </a:lnTo>
                <a:lnTo>
                  <a:pt x="368547" y="1471938"/>
                </a:lnTo>
                <a:lnTo>
                  <a:pt x="367563" y="1479842"/>
                </a:lnTo>
                <a:lnTo>
                  <a:pt x="368221" y="1480769"/>
                </a:lnTo>
                <a:lnTo>
                  <a:pt x="368743" y="1482977"/>
                </a:lnTo>
                <a:lnTo>
                  <a:pt x="366262" y="1484318"/>
                </a:lnTo>
                <a:lnTo>
                  <a:pt x="364222" y="1485961"/>
                </a:lnTo>
                <a:lnTo>
                  <a:pt x="355172" y="1482218"/>
                </a:lnTo>
                <a:lnTo>
                  <a:pt x="354368" y="1483855"/>
                </a:lnTo>
                <a:lnTo>
                  <a:pt x="351996" y="1483422"/>
                </a:lnTo>
                <a:lnTo>
                  <a:pt x="352156" y="1482363"/>
                </a:lnTo>
                <a:lnTo>
                  <a:pt x="345876" y="1479180"/>
                </a:lnTo>
                <a:lnTo>
                  <a:pt x="345695" y="1478699"/>
                </a:lnTo>
                <a:lnTo>
                  <a:pt x="345126" y="1478388"/>
                </a:lnTo>
                <a:lnTo>
                  <a:pt x="343879" y="1478666"/>
                </a:lnTo>
                <a:lnTo>
                  <a:pt x="342936" y="1480254"/>
                </a:lnTo>
                <a:lnTo>
                  <a:pt x="343686" y="1480753"/>
                </a:lnTo>
                <a:lnTo>
                  <a:pt x="342999" y="1482460"/>
                </a:lnTo>
                <a:lnTo>
                  <a:pt x="342081" y="1482518"/>
                </a:lnTo>
                <a:lnTo>
                  <a:pt x="341231" y="1482170"/>
                </a:lnTo>
                <a:lnTo>
                  <a:pt x="339351" y="1483631"/>
                </a:lnTo>
                <a:lnTo>
                  <a:pt x="339064" y="1485669"/>
                </a:lnTo>
                <a:lnTo>
                  <a:pt x="338119" y="1486427"/>
                </a:lnTo>
                <a:lnTo>
                  <a:pt x="335952" y="1485098"/>
                </a:lnTo>
                <a:lnTo>
                  <a:pt x="335595" y="1487074"/>
                </a:lnTo>
                <a:lnTo>
                  <a:pt x="332471" y="1486456"/>
                </a:lnTo>
                <a:lnTo>
                  <a:pt x="330273" y="1487588"/>
                </a:lnTo>
                <a:lnTo>
                  <a:pt x="328227" y="1489762"/>
                </a:lnTo>
                <a:lnTo>
                  <a:pt x="325901" y="1490235"/>
                </a:lnTo>
                <a:lnTo>
                  <a:pt x="324350" y="1488739"/>
                </a:lnTo>
                <a:lnTo>
                  <a:pt x="322222" y="1491397"/>
                </a:lnTo>
                <a:lnTo>
                  <a:pt x="320236" y="1490861"/>
                </a:lnTo>
                <a:lnTo>
                  <a:pt x="314725" y="1490358"/>
                </a:lnTo>
                <a:lnTo>
                  <a:pt x="308321" y="1494058"/>
                </a:lnTo>
                <a:lnTo>
                  <a:pt x="306656" y="1496179"/>
                </a:lnTo>
                <a:lnTo>
                  <a:pt x="305699" y="1498939"/>
                </a:lnTo>
                <a:lnTo>
                  <a:pt x="304512" y="1499816"/>
                </a:lnTo>
                <a:lnTo>
                  <a:pt x="303063" y="1498680"/>
                </a:lnTo>
                <a:lnTo>
                  <a:pt x="299784" y="1499215"/>
                </a:lnTo>
                <a:lnTo>
                  <a:pt x="299585" y="1498717"/>
                </a:lnTo>
                <a:lnTo>
                  <a:pt x="293086" y="1501119"/>
                </a:lnTo>
                <a:lnTo>
                  <a:pt x="294276" y="1505756"/>
                </a:lnTo>
                <a:lnTo>
                  <a:pt x="294494" y="1508612"/>
                </a:lnTo>
                <a:lnTo>
                  <a:pt x="294121" y="1508673"/>
                </a:lnTo>
                <a:lnTo>
                  <a:pt x="292121" y="1507286"/>
                </a:lnTo>
                <a:lnTo>
                  <a:pt x="289196" y="1505796"/>
                </a:lnTo>
                <a:lnTo>
                  <a:pt x="283987" y="1511244"/>
                </a:lnTo>
                <a:lnTo>
                  <a:pt x="274870" y="1512980"/>
                </a:lnTo>
                <a:lnTo>
                  <a:pt x="272935" y="1514578"/>
                </a:lnTo>
                <a:lnTo>
                  <a:pt x="272109" y="1513107"/>
                </a:lnTo>
                <a:lnTo>
                  <a:pt x="266460" y="1510328"/>
                </a:lnTo>
                <a:lnTo>
                  <a:pt x="256708" y="1512921"/>
                </a:lnTo>
                <a:lnTo>
                  <a:pt x="252625" y="1516148"/>
                </a:lnTo>
                <a:lnTo>
                  <a:pt x="252693" y="1517552"/>
                </a:lnTo>
                <a:lnTo>
                  <a:pt x="251485" y="1526585"/>
                </a:lnTo>
                <a:lnTo>
                  <a:pt x="249004" y="1527420"/>
                </a:lnTo>
                <a:lnTo>
                  <a:pt x="245918" y="1529258"/>
                </a:lnTo>
                <a:lnTo>
                  <a:pt x="247850" y="1531211"/>
                </a:lnTo>
                <a:lnTo>
                  <a:pt x="246675" y="1537101"/>
                </a:lnTo>
                <a:lnTo>
                  <a:pt x="243772" y="1540908"/>
                </a:lnTo>
                <a:lnTo>
                  <a:pt x="246491" y="1546719"/>
                </a:lnTo>
                <a:lnTo>
                  <a:pt x="245724" y="1553472"/>
                </a:lnTo>
                <a:lnTo>
                  <a:pt x="245316" y="1563443"/>
                </a:lnTo>
                <a:lnTo>
                  <a:pt x="244207" y="1563755"/>
                </a:lnTo>
                <a:lnTo>
                  <a:pt x="239077" y="1563720"/>
                </a:lnTo>
                <a:lnTo>
                  <a:pt x="235030" y="1564750"/>
                </a:lnTo>
                <a:lnTo>
                  <a:pt x="230967" y="1560792"/>
                </a:lnTo>
                <a:lnTo>
                  <a:pt x="232494" y="1564603"/>
                </a:lnTo>
                <a:lnTo>
                  <a:pt x="220833" y="1565026"/>
                </a:lnTo>
                <a:lnTo>
                  <a:pt x="218584" y="1566728"/>
                </a:lnTo>
                <a:lnTo>
                  <a:pt x="218274" y="1569655"/>
                </a:lnTo>
                <a:lnTo>
                  <a:pt x="217290" y="1571039"/>
                </a:lnTo>
                <a:lnTo>
                  <a:pt x="215355" y="1572404"/>
                </a:lnTo>
                <a:lnTo>
                  <a:pt x="213027" y="1573549"/>
                </a:lnTo>
                <a:lnTo>
                  <a:pt x="210730" y="1572033"/>
                </a:lnTo>
                <a:lnTo>
                  <a:pt x="210662" y="1573810"/>
                </a:lnTo>
                <a:lnTo>
                  <a:pt x="207855" y="1572786"/>
                </a:lnTo>
                <a:lnTo>
                  <a:pt x="206684" y="1571420"/>
                </a:lnTo>
                <a:lnTo>
                  <a:pt x="204676" y="1570669"/>
                </a:lnTo>
                <a:lnTo>
                  <a:pt x="195577" y="1569534"/>
                </a:lnTo>
                <a:lnTo>
                  <a:pt x="193610" y="1574027"/>
                </a:lnTo>
                <a:lnTo>
                  <a:pt x="194349" y="1577542"/>
                </a:lnTo>
                <a:lnTo>
                  <a:pt x="194625" y="1579142"/>
                </a:lnTo>
                <a:lnTo>
                  <a:pt x="198787" y="1581583"/>
                </a:lnTo>
                <a:lnTo>
                  <a:pt x="198237" y="1582596"/>
                </a:lnTo>
                <a:lnTo>
                  <a:pt x="195424" y="1583235"/>
                </a:lnTo>
                <a:lnTo>
                  <a:pt x="194726" y="1583131"/>
                </a:lnTo>
                <a:lnTo>
                  <a:pt x="194554" y="1588486"/>
                </a:lnTo>
                <a:lnTo>
                  <a:pt x="190355" y="1587239"/>
                </a:lnTo>
                <a:lnTo>
                  <a:pt x="188248" y="1593688"/>
                </a:lnTo>
                <a:lnTo>
                  <a:pt x="187749" y="1593803"/>
                </a:lnTo>
                <a:lnTo>
                  <a:pt x="187865" y="1597110"/>
                </a:lnTo>
                <a:lnTo>
                  <a:pt x="192551" y="1596842"/>
                </a:lnTo>
                <a:lnTo>
                  <a:pt x="193697" y="1596379"/>
                </a:lnTo>
                <a:lnTo>
                  <a:pt x="193661" y="1595416"/>
                </a:lnTo>
                <a:lnTo>
                  <a:pt x="196147" y="1596315"/>
                </a:lnTo>
                <a:lnTo>
                  <a:pt x="200823" y="1599762"/>
                </a:lnTo>
                <a:lnTo>
                  <a:pt x="199974" y="1600310"/>
                </a:lnTo>
                <a:lnTo>
                  <a:pt x="199544" y="1601445"/>
                </a:lnTo>
                <a:lnTo>
                  <a:pt x="201213" y="1602909"/>
                </a:lnTo>
                <a:lnTo>
                  <a:pt x="202004" y="1602759"/>
                </a:lnTo>
                <a:lnTo>
                  <a:pt x="204412" y="1605045"/>
                </a:lnTo>
                <a:lnTo>
                  <a:pt x="198915" y="1611735"/>
                </a:lnTo>
                <a:lnTo>
                  <a:pt x="200433" y="1613192"/>
                </a:lnTo>
                <a:lnTo>
                  <a:pt x="199601" y="1613751"/>
                </a:lnTo>
                <a:lnTo>
                  <a:pt x="199831" y="1614421"/>
                </a:lnTo>
                <a:lnTo>
                  <a:pt x="197784" y="1614487"/>
                </a:lnTo>
                <a:lnTo>
                  <a:pt x="197741" y="1615706"/>
                </a:lnTo>
                <a:lnTo>
                  <a:pt x="193000" y="1614381"/>
                </a:lnTo>
                <a:lnTo>
                  <a:pt x="191313" y="1619270"/>
                </a:lnTo>
                <a:lnTo>
                  <a:pt x="193079" y="1620926"/>
                </a:lnTo>
                <a:lnTo>
                  <a:pt x="192209" y="1622392"/>
                </a:lnTo>
                <a:lnTo>
                  <a:pt x="190583" y="1621699"/>
                </a:lnTo>
                <a:lnTo>
                  <a:pt x="188981" y="1622654"/>
                </a:lnTo>
                <a:lnTo>
                  <a:pt x="189092" y="1624038"/>
                </a:lnTo>
                <a:lnTo>
                  <a:pt x="187946" y="1623652"/>
                </a:lnTo>
                <a:lnTo>
                  <a:pt x="187726" y="1624026"/>
                </a:lnTo>
                <a:lnTo>
                  <a:pt x="187048" y="1626553"/>
                </a:lnTo>
                <a:lnTo>
                  <a:pt x="187083" y="1630780"/>
                </a:lnTo>
                <a:lnTo>
                  <a:pt x="188706" y="1626395"/>
                </a:lnTo>
                <a:lnTo>
                  <a:pt x="192347" y="1628608"/>
                </a:lnTo>
                <a:lnTo>
                  <a:pt x="192392" y="1632780"/>
                </a:lnTo>
                <a:lnTo>
                  <a:pt x="191677" y="1634242"/>
                </a:lnTo>
                <a:lnTo>
                  <a:pt x="189883" y="1634793"/>
                </a:lnTo>
                <a:lnTo>
                  <a:pt x="187746" y="1637057"/>
                </a:lnTo>
                <a:lnTo>
                  <a:pt x="189252" y="1637392"/>
                </a:lnTo>
                <a:lnTo>
                  <a:pt x="187471" y="1639563"/>
                </a:lnTo>
                <a:lnTo>
                  <a:pt x="185794" y="1639548"/>
                </a:lnTo>
                <a:lnTo>
                  <a:pt x="183120" y="1638953"/>
                </a:lnTo>
                <a:lnTo>
                  <a:pt x="178736" y="1638664"/>
                </a:lnTo>
                <a:lnTo>
                  <a:pt x="179616" y="1642581"/>
                </a:lnTo>
                <a:lnTo>
                  <a:pt x="177733" y="1644508"/>
                </a:lnTo>
                <a:lnTo>
                  <a:pt x="171460" y="1645280"/>
                </a:lnTo>
                <a:lnTo>
                  <a:pt x="171266" y="1645042"/>
                </a:lnTo>
                <a:lnTo>
                  <a:pt x="171303" y="1645375"/>
                </a:lnTo>
                <a:lnTo>
                  <a:pt x="168007" y="1646745"/>
                </a:lnTo>
                <a:lnTo>
                  <a:pt x="166878" y="1648397"/>
                </a:lnTo>
                <a:lnTo>
                  <a:pt x="164425" y="1650972"/>
                </a:lnTo>
                <a:lnTo>
                  <a:pt x="162406" y="1651237"/>
                </a:lnTo>
                <a:lnTo>
                  <a:pt x="158417" y="1654828"/>
                </a:lnTo>
                <a:lnTo>
                  <a:pt x="154498" y="1653884"/>
                </a:lnTo>
                <a:lnTo>
                  <a:pt x="152609" y="1652833"/>
                </a:lnTo>
                <a:lnTo>
                  <a:pt x="145049" y="1644912"/>
                </a:lnTo>
                <a:lnTo>
                  <a:pt x="140578" y="1642426"/>
                </a:lnTo>
                <a:lnTo>
                  <a:pt x="137928" y="1646078"/>
                </a:lnTo>
                <a:lnTo>
                  <a:pt x="134994" y="1647393"/>
                </a:lnTo>
                <a:lnTo>
                  <a:pt x="132500" y="1649187"/>
                </a:lnTo>
                <a:lnTo>
                  <a:pt x="130315" y="1651574"/>
                </a:lnTo>
                <a:lnTo>
                  <a:pt x="127240" y="1652304"/>
                </a:lnTo>
                <a:lnTo>
                  <a:pt x="124332" y="1662300"/>
                </a:lnTo>
                <a:lnTo>
                  <a:pt x="125475" y="1663256"/>
                </a:lnTo>
                <a:lnTo>
                  <a:pt x="128533" y="1667384"/>
                </a:lnTo>
                <a:lnTo>
                  <a:pt x="126709" y="1669901"/>
                </a:lnTo>
                <a:lnTo>
                  <a:pt x="116412" y="1669452"/>
                </a:lnTo>
                <a:lnTo>
                  <a:pt x="111307" y="1668625"/>
                </a:lnTo>
                <a:lnTo>
                  <a:pt x="106822" y="1667589"/>
                </a:lnTo>
                <a:lnTo>
                  <a:pt x="96342" y="1666820"/>
                </a:lnTo>
                <a:lnTo>
                  <a:pt x="93010" y="1672308"/>
                </a:lnTo>
                <a:lnTo>
                  <a:pt x="91014" y="1677777"/>
                </a:lnTo>
                <a:lnTo>
                  <a:pt x="82459" y="1673804"/>
                </a:lnTo>
                <a:lnTo>
                  <a:pt x="80154" y="1671646"/>
                </a:lnTo>
                <a:lnTo>
                  <a:pt x="76661" y="1679090"/>
                </a:lnTo>
                <a:lnTo>
                  <a:pt x="73863" y="1680494"/>
                </a:lnTo>
                <a:lnTo>
                  <a:pt x="71741" y="1679945"/>
                </a:lnTo>
                <a:lnTo>
                  <a:pt x="64725" y="1684076"/>
                </a:lnTo>
                <a:lnTo>
                  <a:pt x="68465" y="1690671"/>
                </a:lnTo>
                <a:lnTo>
                  <a:pt x="68162" y="1698584"/>
                </a:lnTo>
                <a:lnTo>
                  <a:pt x="74375" y="1704761"/>
                </a:lnTo>
                <a:lnTo>
                  <a:pt x="77207" y="1714692"/>
                </a:lnTo>
                <a:lnTo>
                  <a:pt x="76474" y="1721335"/>
                </a:lnTo>
                <a:lnTo>
                  <a:pt x="72089" y="1724650"/>
                </a:lnTo>
                <a:lnTo>
                  <a:pt x="81015" y="1729823"/>
                </a:lnTo>
                <a:lnTo>
                  <a:pt x="83962" y="1734045"/>
                </a:lnTo>
                <a:lnTo>
                  <a:pt x="83783" y="1739718"/>
                </a:lnTo>
                <a:lnTo>
                  <a:pt x="90223" y="1739576"/>
                </a:lnTo>
                <a:lnTo>
                  <a:pt x="87706" y="1749771"/>
                </a:lnTo>
                <a:lnTo>
                  <a:pt x="77419" y="1747357"/>
                </a:lnTo>
                <a:lnTo>
                  <a:pt x="69723" y="1744018"/>
                </a:lnTo>
                <a:lnTo>
                  <a:pt x="62833" y="1743592"/>
                </a:lnTo>
                <a:lnTo>
                  <a:pt x="60881" y="1740663"/>
                </a:lnTo>
                <a:lnTo>
                  <a:pt x="55555" y="1740634"/>
                </a:lnTo>
                <a:lnTo>
                  <a:pt x="47274" y="1746121"/>
                </a:lnTo>
                <a:lnTo>
                  <a:pt x="51223" y="1755768"/>
                </a:lnTo>
                <a:lnTo>
                  <a:pt x="48701" y="1758402"/>
                </a:lnTo>
                <a:lnTo>
                  <a:pt x="36071" y="1758472"/>
                </a:lnTo>
                <a:lnTo>
                  <a:pt x="35624" y="1762683"/>
                </a:lnTo>
                <a:lnTo>
                  <a:pt x="28129" y="1771360"/>
                </a:lnTo>
                <a:lnTo>
                  <a:pt x="31119" y="1778460"/>
                </a:lnTo>
                <a:lnTo>
                  <a:pt x="26442" y="1781791"/>
                </a:lnTo>
                <a:lnTo>
                  <a:pt x="26313" y="1783216"/>
                </a:lnTo>
                <a:lnTo>
                  <a:pt x="29693" y="1787019"/>
                </a:lnTo>
                <a:lnTo>
                  <a:pt x="29427" y="1791660"/>
                </a:lnTo>
                <a:lnTo>
                  <a:pt x="20879" y="1803122"/>
                </a:lnTo>
                <a:lnTo>
                  <a:pt x="18931" y="1810636"/>
                </a:lnTo>
                <a:lnTo>
                  <a:pt x="13903" y="1816224"/>
                </a:lnTo>
                <a:lnTo>
                  <a:pt x="7260" y="1830730"/>
                </a:lnTo>
                <a:lnTo>
                  <a:pt x="5000" y="1831058"/>
                </a:lnTo>
                <a:lnTo>
                  <a:pt x="4984" y="1833903"/>
                </a:lnTo>
                <a:lnTo>
                  <a:pt x="243" y="1833619"/>
                </a:lnTo>
                <a:lnTo>
                  <a:pt x="0" y="1845311"/>
                </a:lnTo>
                <a:lnTo>
                  <a:pt x="6830" y="1848605"/>
                </a:lnTo>
                <a:lnTo>
                  <a:pt x="5449" y="1849327"/>
                </a:lnTo>
                <a:lnTo>
                  <a:pt x="13182" y="1849070"/>
                </a:lnTo>
                <a:lnTo>
                  <a:pt x="27700" y="1850463"/>
                </a:lnTo>
                <a:lnTo>
                  <a:pt x="45856" y="1845377"/>
                </a:lnTo>
                <a:lnTo>
                  <a:pt x="52298" y="1845362"/>
                </a:lnTo>
                <a:lnTo>
                  <a:pt x="55297" y="1843136"/>
                </a:lnTo>
                <a:lnTo>
                  <a:pt x="63691" y="1842759"/>
                </a:lnTo>
                <a:lnTo>
                  <a:pt x="77805" y="1842955"/>
                </a:lnTo>
                <a:lnTo>
                  <a:pt x="80750" y="1845859"/>
                </a:lnTo>
                <a:lnTo>
                  <a:pt x="87271" y="1854885"/>
                </a:lnTo>
                <a:lnTo>
                  <a:pt x="85945" y="1851507"/>
                </a:lnTo>
                <a:lnTo>
                  <a:pt x="88575" y="1852168"/>
                </a:lnTo>
                <a:lnTo>
                  <a:pt x="91290" y="1852177"/>
                </a:lnTo>
                <a:lnTo>
                  <a:pt x="95422" y="1851506"/>
                </a:lnTo>
                <a:lnTo>
                  <a:pt x="101582" y="1852441"/>
                </a:lnTo>
                <a:lnTo>
                  <a:pt x="105452" y="1851614"/>
                </a:lnTo>
                <a:lnTo>
                  <a:pt x="108067" y="1854765"/>
                </a:lnTo>
                <a:lnTo>
                  <a:pt x="117101" y="1858272"/>
                </a:lnTo>
                <a:lnTo>
                  <a:pt x="117046" y="1858438"/>
                </a:lnTo>
                <a:lnTo>
                  <a:pt x="120584" y="1860164"/>
                </a:lnTo>
                <a:lnTo>
                  <a:pt x="120896" y="1861307"/>
                </a:lnTo>
                <a:lnTo>
                  <a:pt x="120114" y="1865303"/>
                </a:lnTo>
                <a:lnTo>
                  <a:pt x="119669" y="1872739"/>
                </a:lnTo>
                <a:lnTo>
                  <a:pt x="122509" y="1872219"/>
                </a:lnTo>
                <a:lnTo>
                  <a:pt x="122987" y="1875829"/>
                </a:lnTo>
                <a:lnTo>
                  <a:pt x="130679" y="1881414"/>
                </a:lnTo>
                <a:lnTo>
                  <a:pt x="130147" y="1889126"/>
                </a:lnTo>
                <a:lnTo>
                  <a:pt x="124382" y="1888661"/>
                </a:lnTo>
                <a:lnTo>
                  <a:pt x="118463" y="1889297"/>
                </a:lnTo>
                <a:lnTo>
                  <a:pt x="114355" y="1885848"/>
                </a:lnTo>
                <a:lnTo>
                  <a:pt x="114266" y="1889384"/>
                </a:lnTo>
                <a:lnTo>
                  <a:pt x="112373" y="1891067"/>
                </a:lnTo>
                <a:lnTo>
                  <a:pt x="112355" y="1893796"/>
                </a:lnTo>
                <a:lnTo>
                  <a:pt x="103291" y="1896904"/>
                </a:lnTo>
                <a:lnTo>
                  <a:pt x="98398" y="1896926"/>
                </a:lnTo>
                <a:lnTo>
                  <a:pt x="97142" y="1904266"/>
                </a:lnTo>
                <a:lnTo>
                  <a:pt x="92383" y="1909429"/>
                </a:lnTo>
                <a:lnTo>
                  <a:pt x="95419" y="1909720"/>
                </a:lnTo>
                <a:lnTo>
                  <a:pt x="96909" y="1910426"/>
                </a:lnTo>
                <a:lnTo>
                  <a:pt x="100575" y="1911063"/>
                </a:lnTo>
                <a:lnTo>
                  <a:pt x="102495" y="1911740"/>
                </a:lnTo>
                <a:lnTo>
                  <a:pt x="105394" y="1911710"/>
                </a:lnTo>
                <a:lnTo>
                  <a:pt x="105209" y="1909065"/>
                </a:lnTo>
                <a:lnTo>
                  <a:pt x="109327" y="1908042"/>
                </a:lnTo>
                <a:lnTo>
                  <a:pt x="109443" y="1907463"/>
                </a:lnTo>
                <a:lnTo>
                  <a:pt x="114787" y="1909258"/>
                </a:lnTo>
                <a:lnTo>
                  <a:pt x="114333" y="1909750"/>
                </a:lnTo>
                <a:lnTo>
                  <a:pt x="115501" y="1915113"/>
                </a:lnTo>
                <a:lnTo>
                  <a:pt x="121872" y="1915693"/>
                </a:lnTo>
                <a:lnTo>
                  <a:pt x="123578" y="1917374"/>
                </a:lnTo>
                <a:lnTo>
                  <a:pt x="135074" y="1920675"/>
                </a:lnTo>
                <a:lnTo>
                  <a:pt x="134709" y="1921228"/>
                </a:lnTo>
                <a:lnTo>
                  <a:pt x="133837" y="1921335"/>
                </a:lnTo>
                <a:lnTo>
                  <a:pt x="133010" y="1923156"/>
                </a:lnTo>
                <a:lnTo>
                  <a:pt x="132313" y="1924000"/>
                </a:lnTo>
                <a:lnTo>
                  <a:pt x="130655" y="1923930"/>
                </a:lnTo>
                <a:lnTo>
                  <a:pt x="130413" y="1924258"/>
                </a:lnTo>
                <a:lnTo>
                  <a:pt x="130058" y="1924133"/>
                </a:lnTo>
                <a:lnTo>
                  <a:pt x="128870" y="1924650"/>
                </a:lnTo>
                <a:lnTo>
                  <a:pt x="128580" y="1924512"/>
                </a:lnTo>
                <a:lnTo>
                  <a:pt x="128007" y="1925489"/>
                </a:lnTo>
                <a:lnTo>
                  <a:pt x="127421" y="1925504"/>
                </a:lnTo>
                <a:lnTo>
                  <a:pt x="127616" y="1925786"/>
                </a:lnTo>
                <a:lnTo>
                  <a:pt x="127455" y="1926154"/>
                </a:lnTo>
                <a:lnTo>
                  <a:pt x="127692" y="1926206"/>
                </a:lnTo>
                <a:lnTo>
                  <a:pt x="127756" y="1926518"/>
                </a:lnTo>
                <a:lnTo>
                  <a:pt x="128756" y="1927048"/>
                </a:lnTo>
                <a:lnTo>
                  <a:pt x="128501" y="1927297"/>
                </a:lnTo>
                <a:lnTo>
                  <a:pt x="128865" y="1927479"/>
                </a:lnTo>
                <a:lnTo>
                  <a:pt x="128755" y="1927824"/>
                </a:lnTo>
                <a:lnTo>
                  <a:pt x="128140" y="1928272"/>
                </a:lnTo>
                <a:lnTo>
                  <a:pt x="126421" y="1928312"/>
                </a:lnTo>
                <a:lnTo>
                  <a:pt x="126086" y="1928855"/>
                </a:lnTo>
                <a:lnTo>
                  <a:pt x="126845" y="1929975"/>
                </a:lnTo>
                <a:lnTo>
                  <a:pt x="126914" y="1930387"/>
                </a:lnTo>
                <a:lnTo>
                  <a:pt x="126470" y="1930703"/>
                </a:lnTo>
                <a:lnTo>
                  <a:pt x="127023" y="1931241"/>
                </a:lnTo>
                <a:lnTo>
                  <a:pt x="127138" y="1931761"/>
                </a:lnTo>
                <a:lnTo>
                  <a:pt x="126933" y="1931960"/>
                </a:lnTo>
                <a:lnTo>
                  <a:pt x="126479" y="1931826"/>
                </a:lnTo>
                <a:lnTo>
                  <a:pt x="126579" y="1932188"/>
                </a:lnTo>
                <a:lnTo>
                  <a:pt x="126076" y="1932430"/>
                </a:lnTo>
                <a:lnTo>
                  <a:pt x="126296" y="1932847"/>
                </a:lnTo>
                <a:lnTo>
                  <a:pt x="125831" y="1933318"/>
                </a:lnTo>
                <a:lnTo>
                  <a:pt x="125785" y="1935305"/>
                </a:lnTo>
                <a:lnTo>
                  <a:pt x="126223" y="1935823"/>
                </a:lnTo>
                <a:lnTo>
                  <a:pt x="126661" y="1935742"/>
                </a:lnTo>
                <a:lnTo>
                  <a:pt x="127365" y="1937003"/>
                </a:lnTo>
                <a:lnTo>
                  <a:pt x="127167" y="1937232"/>
                </a:lnTo>
                <a:lnTo>
                  <a:pt x="127600" y="1938689"/>
                </a:lnTo>
                <a:lnTo>
                  <a:pt x="127323" y="1939205"/>
                </a:lnTo>
                <a:lnTo>
                  <a:pt x="127612" y="1939434"/>
                </a:lnTo>
                <a:lnTo>
                  <a:pt x="127558" y="1939990"/>
                </a:lnTo>
                <a:lnTo>
                  <a:pt x="127284" y="1941418"/>
                </a:lnTo>
                <a:lnTo>
                  <a:pt x="127776" y="1941452"/>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Illustrated road connection within selected market interior"/>
          <p:cNvSpPr/>
          <p:nvPr/>
        </p:nvSpPr>
        <p:spPr>
          <a:xfrm>
            <a:off x="3297410" y="3276457"/>
            <a:ext cx="37231" cy="37230"/>
          </a:xfrm>
          <a:custGeom>
            <a:avLst/>
            <a:gdLst/>
            <a:ahLst/>
            <a:cxnLst/>
            <a:rect l="l" t="t" r="r" b="b"/>
            <a:pathLst>
              <a:path w="37231" h="37230">
                <a:moveTo>
                  <a:pt x="37231" y="37230"/>
                </a:moveTo>
                <a:lnTo>
                  <a:pt x="0" y="37230"/>
                </a:lnTo>
                <a:lnTo>
                  <a:pt x="0" y="0"/>
                </a:lnTo>
                <a:lnTo>
                  <a:pt x="37231" y="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Illustrated road connection within selected market interior"/>
          <p:cNvSpPr/>
          <p:nvPr/>
        </p:nvSpPr>
        <p:spPr>
          <a:xfrm>
            <a:off x="2329421" y="4542289"/>
            <a:ext cx="148921" cy="111690"/>
          </a:xfrm>
          <a:custGeom>
            <a:avLst/>
            <a:gdLst/>
            <a:ahLst/>
            <a:cxnLst/>
            <a:rect l="l" t="t" r="r" b="b"/>
            <a:pathLst>
              <a:path w="148921" h="111690">
                <a:moveTo>
                  <a:pt x="37231" y="37230"/>
                </a:moveTo>
                <a:lnTo>
                  <a:pt x="74461" y="37230"/>
                </a:lnTo>
                <a:lnTo>
                  <a:pt x="111691" y="37230"/>
                </a:lnTo>
                <a:lnTo>
                  <a:pt x="111691" y="0"/>
                </a:lnTo>
                <a:lnTo>
                  <a:pt x="148921" y="0"/>
                </a:lnTo>
                <a:lnTo>
                  <a:pt x="148921" y="37230"/>
                </a:lnTo>
                <a:lnTo>
                  <a:pt x="148921" y="74460"/>
                </a:lnTo>
                <a:lnTo>
                  <a:pt x="148921" y="111690"/>
                </a:lnTo>
                <a:lnTo>
                  <a:pt x="111691" y="111690"/>
                </a:lnTo>
                <a:lnTo>
                  <a:pt x="74461" y="111690"/>
                </a:lnTo>
                <a:lnTo>
                  <a:pt x="37231" y="111690"/>
                </a:lnTo>
                <a:lnTo>
                  <a:pt x="0" y="111690"/>
                </a:lnTo>
                <a:lnTo>
                  <a:pt x="0" y="74460"/>
                </a:lnTo>
                <a:lnTo>
                  <a:pt x="37231" y="74460"/>
                </a:lnTo>
                <a:lnTo>
                  <a:pt x="37231" y="37230"/>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Illustrated road connection within selected market interior"/>
          <p:cNvSpPr/>
          <p:nvPr/>
        </p:nvSpPr>
        <p:spPr>
          <a:xfrm>
            <a:off x="2842841" y="3872142"/>
            <a:ext cx="354144" cy="446764"/>
          </a:xfrm>
          <a:custGeom>
            <a:avLst/>
            <a:gdLst/>
            <a:ahLst/>
            <a:cxnLst/>
            <a:rect l="l" t="t" r="r" b="b"/>
            <a:pathLst>
              <a:path w="354144" h="446764">
                <a:moveTo>
                  <a:pt x="156726" y="446764"/>
                </a:moveTo>
                <a:lnTo>
                  <a:pt x="119496" y="446764"/>
                </a:lnTo>
                <a:lnTo>
                  <a:pt x="119496" y="409534"/>
                </a:lnTo>
                <a:lnTo>
                  <a:pt x="119496" y="383860"/>
                </a:lnTo>
                <a:lnTo>
                  <a:pt x="116600" y="383251"/>
                </a:lnTo>
                <a:lnTo>
                  <a:pt x="114107" y="382946"/>
                </a:lnTo>
                <a:lnTo>
                  <a:pt x="113376" y="383150"/>
                </a:lnTo>
                <a:lnTo>
                  <a:pt x="112124" y="383093"/>
                </a:lnTo>
                <a:lnTo>
                  <a:pt x="111785" y="383313"/>
                </a:lnTo>
                <a:lnTo>
                  <a:pt x="110595" y="383160"/>
                </a:lnTo>
                <a:lnTo>
                  <a:pt x="109105" y="383716"/>
                </a:lnTo>
                <a:lnTo>
                  <a:pt x="108641" y="383452"/>
                </a:lnTo>
                <a:lnTo>
                  <a:pt x="107897" y="383654"/>
                </a:lnTo>
                <a:lnTo>
                  <a:pt x="107692" y="383384"/>
                </a:lnTo>
                <a:lnTo>
                  <a:pt x="107142" y="383370"/>
                </a:lnTo>
                <a:lnTo>
                  <a:pt x="105997" y="382846"/>
                </a:lnTo>
                <a:lnTo>
                  <a:pt x="105490" y="382306"/>
                </a:lnTo>
                <a:lnTo>
                  <a:pt x="105280" y="382451"/>
                </a:lnTo>
                <a:lnTo>
                  <a:pt x="104720" y="382183"/>
                </a:lnTo>
                <a:lnTo>
                  <a:pt x="103937" y="381561"/>
                </a:lnTo>
                <a:lnTo>
                  <a:pt x="103222" y="381341"/>
                </a:lnTo>
                <a:lnTo>
                  <a:pt x="102416" y="381422"/>
                </a:lnTo>
                <a:lnTo>
                  <a:pt x="101520" y="381025"/>
                </a:lnTo>
                <a:lnTo>
                  <a:pt x="100590" y="378821"/>
                </a:lnTo>
                <a:lnTo>
                  <a:pt x="99909" y="378627"/>
                </a:lnTo>
                <a:lnTo>
                  <a:pt x="98590" y="376852"/>
                </a:lnTo>
                <a:lnTo>
                  <a:pt x="98541" y="376700"/>
                </a:lnTo>
                <a:lnTo>
                  <a:pt x="93106" y="372304"/>
                </a:lnTo>
                <a:lnTo>
                  <a:pt x="82266" y="372304"/>
                </a:lnTo>
                <a:lnTo>
                  <a:pt x="82266" y="360182"/>
                </a:lnTo>
                <a:lnTo>
                  <a:pt x="80298" y="357835"/>
                </a:lnTo>
                <a:lnTo>
                  <a:pt x="78450" y="354790"/>
                </a:lnTo>
                <a:lnTo>
                  <a:pt x="77898" y="354759"/>
                </a:lnTo>
                <a:lnTo>
                  <a:pt x="77184" y="354198"/>
                </a:lnTo>
                <a:lnTo>
                  <a:pt x="76811" y="352481"/>
                </a:lnTo>
                <a:lnTo>
                  <a:pt x="76980" y="352368"/>
                </a:lnTo>
                <a:lnTo>
                  <a:pt x="74693" y="348600"/>
                </a:lnTo>
                <a:lnTo>
                  <a:pt x="69767" y="344367"/>
                </a:lnTo>
                <a:lnTo>
                  <a:pt x="69487" y="344506"/>
                </a:lnTo>
                <a:lnTo>
                  <a:pt x="68751" y="344568"/>
                </a:lnTo>
                <a:lnTo>
                  <a:pt x="67897" y="342982"/>
                </a:lnTo>
                <a:lnTo>
                  <a:pt x="68011" y="342465"/>
                </a:lnTo>
                <a:lnTo>
                  <a:pt x="67748" y="342094"/>
                </a:lnTo>
                <a:lnTo>
                  <a:pt x="67029" y="342374"/>
                </a:lnTo>
                <a:lnTo>
                  <a:pt x="66302" y="342174"/>
                </a:lnTo>
                <a:lnTo>
                  <a:pt x="66409" y="340949"/>
                </a:lnTo>
                <a:lnTo>
                  <a:pt x="66178" y="340437"/>
                </a:lnTo>
                <a:lnTo>
                  <a:pt x="65170" y="339997"/>
                </a:lnTo>
                <a:lnTo>
                  <a:pt x="64807" y="339652"/>
                </a:lnTo>
                <a:lnTo>
                  <a:pt x="58128" y="336234"/>
                </a:lnTo>
                <a:lnTo>
                  <a:pt x="56460" y="335074"/>
                </a:lnTo>
                <a:lnTo>
                  <a:pt x="55760" y="334587"/>
                </a:lnTo>
                <a:lnTo>
                  <a:pt x="55248" y="335059"/>
                </a:lnTo>
                <a:lnTo>
                  <a:pt x="52528" y="336341"/>
                </a:lnTo>
                <a:lnTo>
                  <a:pt x="51156" y="335789"/>
                </a:lnTo>
                <a:lnTo>
                  <a:pt x="50904" y="334552"/>
                </a:lnTo>
                <a:lnTo>
                  <a:pt x="50423" y="334201"/>
                </a:lnTo>
                <a:lnTo>
                  <a:pt x="50422" y="333819"/>
                </a:lnTo>
                <a:lnTo>
                  <a:pt x="51385" y="333033"/>
                </a:lnTo>
                <a:lnTo>
                  <a:pt x="51798" y="333723"/>
                </a:lnTo>
                <a:lnTo>
                  <a:pt x="52384" y="333433"/>
                </a:lnTo>
                <a:lnTo>
                  <a:pt x="52526" y="332891"/>
                </a:lnTo>
                <a:lnTo>
                  <a:pt x="52267" y="332504"/>
                </a:lnTo>
                <a:lnTo>
                  <a:pt x="52054" y="332384"/>
                </a:lnTo>
                <a:lnTo>
                  <a:pt x="48683" y="326252"/>
                </a:lnTo>
                <a:lnTo>
                  <a:pt x="46734" y="320956"/>
                </a:lnTo>
                <a:lnTo>
                  <a:pt x="47846" y="306319"/>
                </a:lnTo>
                <a:lnTo>
                  <a:pt x="46408" y="304176"/>
                </a:lnTo>
                <a:lnTo>
                  <a:pt x="45843" y="304199"/>
                </a:lnTo>
                <a:lnTo>
                  <a:pt x="45109" y="304484"/>
                </a:lnTo>
                <a:lnTo>
                  <a:pt x="43796" y="304509"/>
                </a:lnTo>
                <a:lnTo>
                  <a:pt x="43258" y="303143"/>
                </a:lnTo>
                <a:lnTo>
                  <a:pt x="41776" y="297276"/>
                </a:lnTo>
                <a:lnTo>
                  <a:pt x="31722" y="282347"/>
                </a:lnTo>
                <a:lnTo>
                  <a:pt x="31238" y="281415"/>
                </a:lnTo>
                <a:lnTo>
                  <a:pt x="31015" y="281168"/>
                </a:lnTo>
                <a:lnTo>
                  <a:pt x="28740" y="281415"/>
                </a:lnTo>
                <a:lnTo>
                  <a:pt x="29502" y="280725"/>
                </a:lnTo>
                <a:lnTo>
                  <a:pt x="29367" y="279238"/>
                </a:lnTo>
                <a:lnTo>
                  <a:pt x="27093" y="273423"/>
                </a:lnTo>
                <a:lnTo>
                  <a:pt x="25319" y="270003"/>
                </a:lnTo>
                <a:lnTo>
                  <a:pt x="20437" y="260612"/>
                </a:lnTo>
                <a:lnTo>
                  <a:pt x="16558" y="253153"/>
                </a:lnTo>
                <a:lnTo>
                  <a:pt x="11251" y="238772"/>
                </a:lnTo>
                <a:lnTo>
                  <a:pt x="8558" y="231483"/>
                </a:lnTo>
                <a:lnTo>
                  <a:pt x="7445" y="230678"/>
                </a:lnTo>
                <a:lnTo>
                  <a:pt x="3798" y="225968"/>
                </a:lnTo>
                <a:lnTo>
                  <a:pt x="2356" y="224971"/>
                </a:lnTo>
                <a:lnTo>
                  <a:pt x="1782" y="224142"/>
                </a:lnTo>
                <a:lnTo>
                  <a:pt x="1096" y="224233"/>
                </a:lnTo>
                <a:lnTo>
                  <a:pt x="1117" y="223814"/>
                </a:lnTo>
                <a:lnTo>
                  <a:pt x="213" y="223263"/>
                </a:lnTo>
                <a:lnTo>
                  <a:pt x="0" y="221212"/>
                </a:lnTo>
                <a:lnTo>
                  <a:pt x="2099" y="220163"/>
                </a:lnTo>
                <a:lnTo>
                  <a:pt x="2408" y="219647"/>
                </a:lnTo>
                <a:lnTo>
                  <a:pt x="1989" y="217891"/>
                </a:lnTo>
                <a:lnTo>
                  <a:pt x="934" y="216409"/>
                </a:lnTo>
                <a:lnTo>
                  <a:pt x="1058" y="215991"/>
                </a:lnTo>
                <a:lnTo>
                  <a:pt x="2534" y="215833"/>
                </a:lnTo>
                <a:lnTo>
                  <a:pt x="3316" y="215469"/>
                </a:lnTo>
                <a:lnTo>
                  <a:pt x="3717" y="216815"/>
                </a:lnTo>
                <a:lnTo>
                  <a:pt x="4624" y="218143"/>
                </a:lnTo>
                <a:lnTo>
                  <a:pt x="5391" y="218952"/>
                </a:lnTo>
                <a:lnTo>
                  <a:pt x="6359" y="219340"/>
                </a:lnTo>
                <a:lnTo>
                  <a:pt x="6604" y="217535"/>
                </a:lnTo>
                <a:lnTo>
                  <a:pt x="7805" y="216625"/>
                </a:lnTo>
                <a:lnTo>
                  <a:pt x="7908" y="216546"/>
                </a:lnTo>
                <a:lnTo>
                  <a:pt x="7668" y="215250"/>
                </a:lnTo>
                <a:lnTo>
                  <a:pt x="8048" y="214385"/>
                </a:lnTo>
                <a:lnTo>
                  <a:pt x="7829" y="213220"/>
                </a:lnTo>
                <a:lnTo>
                  <a:pt x="8031" y="212882"/>
                </a:lnTo>
                <a:lnTo>
                  <a:pt x="8493" y="212975"/>
                </a:lnTo>
                <a:lnTo>
                  <a:pt x="9332" y="213706"/>
                </a:lnTo>
                <a:lnTo>
                  <a:pt x="9786" y="215124"/>
                </a:lnTo>
                <a:lnTo>
                  <a:pt x="12201" y="213295"/>
                </a:lnTo>
                <a:lnTo>
                  <a:pt x="13604" y="212681"/>
                </a:lnTo>
                <a:lnTo>
                  <a:pt x="13494" y="211833"/>
                </a:lnTo>
                <a:lnTo>
                  <a:pt x="15022" y="211021"/>
                </a:lnTo>
                <a:lnTo>
                  <a:pt x="15754" y="209796"/>
                </a:lnTo>
                <a:lnTo>
                  <a:pt x="17289" y="209160"/>
                </a:lnTo>
                <a:lnTo>
                  <a:pt x="18035" y="209124"/>
                </a:lnTo>
                <a:lnTo>
                  <a:pt x="18889" y="209431"/>
                </a:lnTo>
                <a:lnTo>
                  <a:pt x="20821" y="207123"/>
                </a:lnTo>
                <a:lnTo>
                  <a:pt x="21480" y="206906"/>
                </a:lnTo>
                <a:lnTo>
                  <a:pt x="22389" y="207400"/>
                </a:lnTo>
                <a:lnTo>
                  <a:pt x="24583" y="207870"/>
                </a:lnTo>
                <a:lnTo>
                  <a:pt x="28525" y="206143"/>
                </a:lnTo>
                <a:lnTo>
                  <a:pt x="30563" y="205256"/>
                </a:lnTo>
                <a:lnTo>
                  <a:pt x="30452" y="204797"/>
                </a:lnTo>
                <a:lnTo>
                  <a:pt x="30675" y="204583"/>
                </a:lnTo>
                <a:lnTo>
                  <a:pt x="31366" y="204454"/>
                </a:lnTo>
                <a:lnTo>
                  <a:pt x="31505" y="204847"/>
                </a:lnTo>
                <a:lnTo>
                  <a:pt x="35654" y="203042"/>
                </a:lnTo>
                <a:lnTo>
                  <a:pt x="35788" y="202825"/>
                </a:lnTo>
                <a:lnTo>
                  <a:pt x="36132" y="202834"/>
                </a:lnTo>
                <a:lnTo>
                  <a:pt x="38499" y="201805"/>
                </a:lnTo>
                <a:lnTo>
                  <a:pt x="38632" y="201732"/>
                </a:lnTo>
                <a:lnTo>
                  <a:pt x="38651" y="201739"/>
                </a:lnTo>
                <a:lnTo>
                  <a:pt x="41206" y="200627"/>
                </a:lnTo>
                <a:lnTo>
                  <a:pt x="42074" y="199647"/>
                </a:lnTo>
                <a:lnTo>
                  <a:pt x="42046" y="199490"/>
                </a:lnTo>
                <a:lnTo>
                  <a:pt x="42780" y="198495"/>
                </a:lnTo>
                <a:lnTo>
                  <a:pt x="42684" y="197511"/>
                </a:lnTo>
                <a:lnTo>
                  <a:pt x="42933" y="197009"/>
                </a:lnTo>
                <a:lnTo>
                  <a:pt x="45036" y="195385"/>
                </a:lnTo>
                <a:lnTo>
                  <a:pt x="45036" y="186152"/>
                </a:lnTo>
                <a:lnTo>
                  <a:pt x="45036" y="148922"/>
                </a:lnTo>
                <a:lnTo>
                  <a:pt x="45036" y="111691"/>
                </a:lnTo>
                <a:lnTo>
                  <a:pt x="82266" y="111691"/>
                </a:lnTo>
                <a:lnTo>
                  <a:pt x="82266" y="74461"/>
                </a:lnTo>
                <a:lnTo>
                  <a:pt x="119496" y="74461"/>
                </a:lnTo>
                <a:lnTo>
                  <a:pt x="119496" y="37231"/>
                </a:lnTo>
                <a:lnTo>
                  <a:pt x="119496" y="0"/>
                </a:lnTo>
                <a:lnTo>
                  <a:pt x="156726" y="0"/>
                </a:lnTo>
                <a:lnTo>
                  <a:pt x="156726" y="37231"/>
                </a:lnTo>
                <a:lnTo>
                  <a:pt x="156726" y="74461"/>
                </a:lnTo>
                <a:lnTo>
                  <a:pt x="166025" y="74461"/>
                </a:lnTo>
                <a:lnTo>
                  <a:pt x="166428" y="73860"/>
                </a:lnTo>
                <a:lnTo>
                  <a:pt x="167009" y="74461"/>
                </a:lnTo>
                <a:lnTo>
                  <a:pt x="167035" y="74461"/>
                </a:lnTo>
                <a:lnTo>
                  <a:pt x="167168" y="73058"/>
                </a:lnTo>
                <a:lnTo>
                  <a:pt x="167667" y="72783"/>
                </a:lnTo>
                <a:lnTo>
                  <a:pt x="168241" y="71985"/>
                </a:lnTo>
                <a:lnTo>
                  <a:pt x="168864" y="73402"/>
                </a:lnTo>
                <a:lnTo>
                  <a:pt x="169249" y="73351"/>
                </a:lnTo>
                <a:lnTo>
                  <a:pt x="168929" y="72205"/>
                </a:lnTo>
                <a:lnTo>
                  <a:pt x="169207" y="72130"/>
                </a:lnTo>
                <a:lnTo>
                  <a:pt x="169550" y="72527"/>
                </a:lnTo>
                <a:lnTo>
                  <a:pt x="169725" y="71993"/>
                </a:lnTo>
                <a:lnTo>
                  <a:pt x="168953" y="71408"/>
                </a:lnTo>
                <a:lnTo>
                  <a:pt x="169986" y="71240"/>
                </a:lnTo>
                <a:lnTo>
                  <a:pt x="169621" y="70782"/>
                </a:lnTo>
                <a:lnTo>
                  <a:pt x="170561" y="70405"/>
                </a:lnTo>
                <a:lnTo>
                  <a:pt x="170871" y="69882"/>
                </a:lnTo>
                <a:lnTo>
                  <a:pt x="170714" y="69205"/>
                </a:lnTo>
                <a:lnTo>
                  <a:pt x="172020" y="69729"/>
                </a:lnTo>
                <a:lnTo>
                  <a:pt x="173171" y="69822"/>
                </a:lnTo>
                <a:lnTo>
                  <a:pt x="172839" y="68588"/>
                </a:lnTo>
                <a:lnTo>
                  <a:pt x="173404" y="67857"/>
                </a:lnTo>
                <a:lnTo>
                  <a:pt x="173106" y="67355"/>
                </a:lnTo>
                <a:lnTo>
                  <a:pt x="174129" y="67871"/>
                </a:lnTo>
                <a:lnTo>
                  <a:pt x="174137" y="69318"/>
                </a:lnTo>
                <a:lnTo>
                  <a:pt x="174970" y="70274"/>
                </a:lnTo>
                <a:lnTo>
                  <a:pt x="177005" y="69678"/>
                </a:lnTo>
                <a:lnTo>
                  <a:pt x="177538" y="68885"/>
                </a:lnTo>
                <a:lnTo>
                  <a:pt x="178137" y="68826"/>
                </a:lnTo>
                <a:lnTo>
                  <a:pt x="178524" y="69228"/>
                </a:lnTo>
                <a:lnTo>
                  <a:pt x="179719" y="68930"/>
                </a:lnTo>
                <a:lnTo>
                  <a:pt x="179845" y="68267"/>
                </a:lnTo>
                <a:lnTo>
                  <a:pt x="180434" y="67756"/>
                </a:lnTo>
                <a:lnTo>
                  <a:pt x="181569" y="68057"/>
                </a:lnTo>
                <a:lnTo>
                  <a:pt x="181625" y="68267"/>
                </a:lnTo>
                <a:lnTo>
                  <a:pt x="193957" y="63670"/>
                </a:lnTo>
                <a:lnTo>
                  <a:pt x="203518" y="60106"/>
                </a:lnTo>
                <a:lnTo>
                  <a:pt x="203539" y="59962"/>
                </a:lnTo>
                <a:lnTo>
                  <a:pt x="203826" y="59991"/>
                </a:lnTo>
                <a:lnTo>
                  <a:pt x="205453" y="59385"/>
                </a:lnTo>
                <a:lnTo>
                  <a:pt x="205560" y="58944"/>
                </a:lnTo>
                <a:lnTo>
                  <a:pt x="205079" y="58042"/>
                </a:lnTo>
                <a:lnTo>
                  <a:pt x="205391" y="57304"/>
                </a:lnTo>
                <a:lnTo>
                  <a:pt x="205111" y="56878"/>
                </a:lnTo>
                <a:lnTo>
                  <a:pt x="205250" y="56754"/>
                </a:lnTo>
                <a:lnTo>
                  <a:pt x="206363" y="56404"/>
                </a:lnTo>
                <a:lnTo>
                  <a:pt x="206889" y="57316"/>
                </a:lnTo>
                <a:lnTo>
                  <a:pt x="207438" y="57133"/>
                </a:lnTo>
                <a:lnTo>
                  <a:pt x="207797" y="57390"/>
                </a:lnTo>
                <a:lnTo>
                  <a:pt x="208553" y="56853"/>
                </a:lnTo>
                <a:lnTo>
                  <a:pt x="208771" y="57053"/>
                </a:lnTo>
                <a:lnTo>
                  <a:pt x="209377" y="56183"/>
                </a:lnTo>
                <a:lnTo>
                  <a:pt x="210393" y="56259"/>
                </a:lnTo>
                <a:lnTo>
                  <a:pt x="210459" y="56490"/>
                </a:lnTo>
                <a:lnTo>
                  <a:pt x="211009" y="55900"/>
                </a:lnTo>
                <a:lnTo>
                  <a:pt x="211202" y="56236"/>
                </a:lnTo>
                <a:lnTo>
                  <a:pt x="211587" y="55462"/>
                </a:lnTo>
                <a:lnTo>
                  <a:pt x="211774" y="56142"/>
                </a:lnTo>
                <a:lnTo>
                  <a:pt x="212192" y="55665"/>
                </a:lnTo>
                <a:lnTo>
                  <a:pt x="212805" y="56144"/>
                </a:lnTo>
                <a:lnTo>
                  <a:pt x="213152" y="55807"/>
                </a:lnTo>
                <a:lnTo>
                  <a:pt x="213255" y="54913"/>
                </a:lnTo>
                <a:lnTo>
                  <a:pt x="213936" y="55218"/>
                </a:lnTo>
                <a:lnTo>
                  <a:pt x="213664" y="54760"/>
                </a:lnTo>
                <a:lnTo>
                  <a:pt x="213916" y="54954"/>
                </a:lnTo>
                <a:lnTo>
                  <a:pt x="214190" y="54471"/>
                </a:lnTo>
                <a:lnTo>
                  <a:pt x="214374" y="54594"/>
                </a:lnTo>
                <a:lnTo>
                  <a:pt x="214732" y="54356"/>
                </a:lnTo>
                <a:lnTo>
                  <a:pt x="214850" y="54636"/>
                </a:lnTo>
                <a:lnTo>
                  <a:pt x="215224" y="54603"/>
                </a:lnTo>
                <a:lnTo>
                  <a:pt x="215248" y="54234"/>
                </a:lnTo>
                <a:lnTo>
                  <a:pt x="215607" y="53919"/>
                </a:lnTo>
                <a:lnTo>
                  <a:pt x="216172" y="54012"/>
                </a:lnTo>
                <a:lnTo>
                  <a:pt x="216455" y="54596"/>
                </a:lnTo>
                <a:lnTo>
                  <a:pt x="216941" y="54310"/>
                </a:lnTo>
                <a:lnTo>
                  <a:pt x="217568" y="55158"/>
                </a:lnTo>
                <a:lnTo>
                  <a:pt x="217832" y="54975"/>
                </a:lnTo>
                <a:lnTo>
                  <a:pt x="218106" y="54128"/>
                </a:lnTo>
                <a:lnTo>
                  <a:pt x="218844" y="54442"/>
                </a:lnTo>
                <a:lnTo>
                  <a:pt x="219074" y="54107"/>
                </a:lnTo>
                <a:lnTo>
                  <a:pt x="219522" y="54686"/>
                </a:lnTo>
                <a:lnTo>
                  <a:pt x="219981" y="54460"/>
                </a:lnTo>
                <a:lnTo>
                  <a:pt x="219906" y="54809"/>
                </a:lnTo>
                <a:lnTo>
                  <a:pt x="222176" y="54378"/>
                </a:lnTo>
                <a:lnTo>
                  <a:pt x="222267" y="53675"/>
                </a:lnTo>
                <a:lnTo>
                  <a:pt x="222715" y="53834"/>
                </a:lnTo>
                <a:lnTo>
                  <a:pt x="223149" y="53452"/>
                </a:lnTo>
                <a:lnTo>
                  <a:pt x="223632" y="54102"/>
                </a:lnTo>
                <a:lnTo>
                  <a:pt x="225496" y="53749"/>
                </a:lnTo>
                <a:lnTo>
                  <a:pt x="225498" y="53746"/>
                </a:lnTo>
                <a:lnTo>
                  <a:pt x="225499" y="53748"/>
                </a:lnTo>
                <a:lnTo>
                  <a:pt x="231187" y="52670"/>
                </a:lnTo>
                <a:lnTo>
                  <a:pt x="231814" y="52551"/>
                </a:lnTo>
                <a:lnTo>
                  <a:pt x="237330" y="50904"/>
                </a:lnTo>
                <a:lnTo>
                  <a:pt x="237500" y="50493"/>
                </a:lnTo>
                <a:lnTo>
                  <a:pt x="238473" y="50554"/>
                </a:lnTo>
                <a:lnTo>
                  <a:pt x="239008" y="50861"/>
                </a:lnTo>
                <a:lnTo>
                  <a:pt x="239049" y="50255"/>
                </a:lnTo>
                <a:lnTo>
                  <a:pt x="239414" y="50248"/>
                </a:lnTo>
                <a:lnTo>
                  <a:pt x="239656" y="49725"/>
                </a:lnTo>
                <a:lnTo>
                  <a:pt x="239962" y="50099"/>
                </a:lnTo>
                <a:lnTo>
                  <a:pt x="240072" y="49709"/>
                </a:lnTo>
                <a:lnTo>
                  <a:pt x="240837" y="49708"/>
                </a:lnTo>
                <a:lnTo>
                  <a:pt x="240887" y="49344"/>
                </a:lnTo>
                <a:lnTo>
                  <a:pt x="241825" y="49000"/>
                </a:lnTo>
                <a:lnTo>
                  <a:pt x="241891" y="49415"/>
                </a:lnTo>
                <a:lnTo>
                  <a:pt x="243222" y="50242"/>
                </a:lnTo>
                <a:lnTo>
                  <a:pt x="243656" y="50107"/>
                </a:lnTo>
                <a:lnTo>
                  <a:pt x="245041" y="51629"/>
                </a:lnTo>
                <a:lnTo>
                  <a:pt x="246152" y="52240"/>
                </a:lnTo>
                <a:lnTo>
                  <a:pt x="246704" y="53825"/>
                </a:lnTo>
                <a:lnTo>
                  <a:pt x="247578" y="54657"/>
                </a:lnTo>
                <a:lnTo>
                  <a:pt x="247835" y="55243"/>
                </a:lnTo>
                <a:lnTo>
                  <a:pt x="248264" y="55385"/>
                </a:lnTo>
                <a:lnTo>
                  <a:pt x="248422" y="56075"/>
                </a:lnTo>
                <a:lnTo>
                  <a:pt x="249189" y="57041"/>
                </a:lnTo>
                <a:lnTo>
                  <a:pt x="248285" y="58351"/>
                </a:lnTo>
                <a:lnTo>
                  <a:pt x="248323" y="59142"/>
                </a:lnTo>
                <a:lnTo>
                  <a:pt x="248703" y="60079"/>
                </a:lnTo>
                <a:lnTo>
                  <a:pt x="247986" y="60326"/>
                </a:lnTo>
                <a:lnTo>
                  <a:pt x="248098" y="60575"/>
                </a:lnTo>
                <a:lnTo>
                  <a:pt x="247764" y="61335"/>
                </a:lnTo>
                <a:lnTo>
                  <a:pt x="248248" y="61472"/>
                </a:lnTo>
                <a:lnTo>
                  <a:pt x="249415" y="62698"/>
                </a:lnTo>
                <a:lnTo>
                  <a:pt x="249152" y="63352"/>
                </a:lnTo>
                <a:lnTo>
                  <a:pt x="249608" y="64597"/>
                </a:lnTo>
                <a:lnTo>
                  <a:pt x="249120" y="65745"/>
                </a:lnTo>
                <a:lnTo>
                  <a:pt x="249344" y="66018"/>
                </a:lnTo>
                <a:lnTo>
                  <a:pt x="251858" y="67619"/>
                </a:lnTo>
                <a:lnTo>
                  <a:pt x="252175" y="68078"/>
                </a:lnTo>
                <a:lnTo>
                  <a:pt x="252107" y="68631"/>
                </a:lnTo>
                <a:lnTo>
                  <a:pt x="252668" y="68855"/>
                </a:lnTo>
                <a:lnTo>
                  <a:pt x="253332" y="68458"/>
                </a:lnTo>
                <a:lnTo>
                  <a:pt x="254614" y="68712"/>
                </a:lnTo>
                <a:lnTo>
                  <a:pt x="256102" y="68106"/>
                </a:lnTo>
                <a:lnTo>
                  <a:pt x="257865" y="69202"/>
                </a:lnTo>
                <a:lnTo>
                  <a:pt x="259555" y="71030"/>
                </a:lnTo>
                <a:lnTo>
                  <a:pt x="260546" y="71120"/>
                </a:lnTo>
                <a:lnTo>
                  <a:pt x="261421" y="70738"/>
                </a:lnTo>
                <a:lnTo>
                  <a:pt x="261847" y="70803"/>
                </a:lnTo>
                <a:lnTo>
                  <a:pt x="262627" y="72205"/>
                </a:lnTo>
                <a:lnTo>
                  <a:pt x="263630" y="72659"/>
                </a:lnTo>
                <a:lnTo>
                  <a:pt x="263700" y="73928"/>
                </a:lnTo>
                <a:lnTo>
                  <a:pt x="264376" y="74468"/>
                </a:lnTo>
                <a:lnTo>
                  <a:pt x="263107" y="75972"/>
                </a:lnTo>
                <a:lnTo>
                  <a:pt x="262616" y="78035"/>
                </a:lnTo>
                <a:lnTo>
                  <a:pt x="262680" y="78491"/>
                </a:lnTo>
                <a:lnTo>
                  <a:pt x="263149" y="78835"/>
                </a:lnTo>
                <a:lnTo>
                  <a:pt x="263126" y="79241"/>
                </a:lnTo>
                <a:lnTo>
                  <a:pt x="264828" y="80793"/>
                </a:lnTo>
                <a:lnTo>
                  <a:pt x="266753" y="81810"/>
                </a:lnTo>
                <a:lnTo>
                  <a:pt x="266872" y="81586"/>
                </a:lnTo>
                <a:lnTo>
                  <a:pt x="268331" y="81136"/>
                </a:lnTo>
                <a:lnTo>
                  <a:pt x="268509" y="80859"/>
                </a:lnTo>
                <a:lnTo>
                  <a:pt x="269242" y="81110"/>
                </a:lnTo>
                <a:lnTo>
                  <a:pt x="270077" y="81074"/>
                </a:lnTo>
                <a:lnTo>
                  <a:pt x="270858" y="80504"/>
                </a:lnTo>
                <a:lnTo>
                  <a:pt x="272434" y="81320"/>
                </a:lnTo>
                <a:lnTo>
                  <a:pt x="273107" y="83015"/>
                </a:lnTo>
                <a:lnTo>
                  <a:pt x="273123" y="83304"/>
                </a:lnTo>
                <a:lnTo>
                  <a:pt x="274085" y="83687"/>
                </a:lnTo>
                <a:lnTo>
                  <a:pt x="275210" y="83787"/>
                </a:lnTo>
                <a:lnTo>
                  <a:pt x="276041" y="82362"/>
                </a:lnTo>
                <a:lnTo>
                  <a:pt x="277929" y="81244"/>
                </a:lnTo>
                <a:lnTo>
                  <a:pt x="278132" y="81487"/>
                </a:lnTo>
                <a:lnTo>
                  <a:pt x="278798" y="81530"/>
                </a:lnTo>
                <a:lnTo>
                  <a:pt x="279209" y="82160"/>
                </a:lnTo>
                <a:lnTo>
                  <a:pt x="279180" y="83093"/>
                </a:lnTo>
                <a:lnTo>
                  <a:pt x="279994" y="83235"/>
                </a:lnTo>
                <a:lnTo>
                  <a:pt x="281575" y="83988"/>
                </a:lnTo>
                <a:lnTo>
                  <a:pt x="283238" y="85322"/>
                </a:lnTo>
                <a:lnTo>
                  <a:pt x="283422" y="86085"/>
                </a:lnTo>
                <a:lnTo>
                  <a:pt x="282966" y="86121"/>
                </a:lnTo>
                <a:lnTo>
                  <a:pt x="282522" y="85743"/>
                </a:lnTo>
                <a:lnTo>
                  <a:pt x="282038" y="86786"/>
                </a:lnTo>
                <a:lnTo>
                  <a:pt x="281498" y="86794"/>
                </a:lnTo>
                <a:lnTo>
                  <a:pt x="283735" y="87881"/>
                </a:lnTo>
                <a:lnTo>
                  <a:pt x="283876" y="88922"/>
                </a:lnTo>
                <a:lnTo>
                  <a:pt x="282612" y="89260"/>
                </a:lnTo>
                <a:lnTo>
                  <a:pt x="282015" y="88942"/>
                </a:lnTo>
                <a:lnTo>
                  <a:pt x="281715" y="89255"/>
                </a:lnTo>
                <a:lnTo>
                  <a:pt x="281786" y="89697"/>
                </a:lnTo>
                <a:lnTo>
                  <a:pt x="281038" y="89712"/>
                </a:lnTo>
                <a:lnTo>
                  <a:pt x="279902" y="90189"/>
                </a:lnTo>
                <a:lnTo>
                  <a:pt x="280206" y="90915"/>
                </a:lnTo>
                <a:lnTo>
                  <a:pt x="281175" y="91476"/>
                </a:lnTo>
                <a:lnTo>
                  <a:pt x="281770" y="91502"/>
                </a:lnTo>
                <a:lnTo>
                  <a:pt x="282433" y="91195"/>
                </a:lnTo>
                <a:lnTo>
                  <a:pt x="282130" y="92056"/>
                </a:lnTo>
                <a:lnTo>
                  <a:pt x="283309" y="92344"/>
                </a:lnTo>
                <a:lnTo>
                  <a:pt x="283166" y="92675"/>
                </a:lnTo>
                <a:lnTo>
                  <a:pt x="283633" y="92927"/>
                </a:lnTo>
                <a:lnTo>
                  <a:pt x="283228" y="93786"/>
                </a:lnTo>
                <a:lnTo>
                  <a:pt x="283492" y="94946"/>
                </a:lnTo>
                <a:lnTo>
                  <a:pt x="283024" y="95289"/>
                </a:lnTo>
                <a:lnTo>
                  <a:pt x="283244" y="95828"/>
                </a:lnTo>
                <a:lnTo>
                  <a:pt x="283915" y="96338"/>
                </a:lnTo>
                <a:lnTo>
                  <a:pt x="284191" y="97043"/>
                </a:lnTo>
                <a:lnTo>
                  <a:pt x="284045" y="97324"/>
                </a:lnTo>
                <a:lnTo>
                  <a:pt x="283239" y="97086"/>
                </a:lnTo>
                <a:lnTo>
                  <a:pt x="282755" y="97268"/>
                </a:lnTo>
                <a:lnTo>
                  <a:pt x="282927" y="97544"/>
                </a:lnTo>
                <a:lnTo>
                  <a:pt x="282185" y="98010"/>
                </a:lnTo>
                <a:lnTo>
                  <a:pt x="282219" y="98464"/>
                </a:lnTo>
                <a:lnTo>
                  <a:pt x="283445" y="99584"/>
                </a:lnTo>
                <a:lnTo>
                  <a:pt x="284180" y="99423"/>
                </a:lnTo>
                <a:lnTo>
                  <a:pt x="284823" y="99734"/>
                </a:lnTo>
                <a:lnTo>
                  <a:pt x="285410" y="99620"/>
                </a:lnTo>
                <a:lnTo>
                  <a:pt x="285244" y="99829"/>
                </a:lnTo>
                <a:lnTo>
                  <a:pt x="285522" y="100033"/>
                </a:lnTo>
                <a:lnTo>
                  <a:pt x="284666" y="100917"/>
                </a:lnTo>
                <a:lnTo>
                  <a:pt x="285232" y="101649"/>
                </a:lnTo>
                <a:lnTo>
                  <a:pt x="285660" y="101837"/>
                </a:lnTo>
                <a:lnTo>
                  <a:pt x="285428" y="102214"/>
                </a:lnTo>
                <a:lnTo>
                  <a:pt x="285586" y="102646"/>
                </a:lnTo>
                <a:lnTo>
                  <a:pt x="287061" y="103382"/>
                </a:lnTo>
                <a:lnTo>
                  <a:pt x="287074" y="104156"/>
                </a:lnTo>
                <a:lnTo>
                  <a:pt x="289676" y="106353"/>
                </a:lnTo>
                <a:lnTo>
                  <a:pt x="289882" y="105785"/>
                </a:lnTo>
                <a:lnTo>
                  <a:pt x="291247" y="105393"/>
                </a:lnTo>
                <a:lnTo>
                  <a:pt x="291555" y="104594"/>
                </a:lnTo>
                <a:lnTo>
                  <a:pt x="292512" y="104582"/>
                </a:lnTo>
                <a:lnTo>
                  <a:pt x="292719" y="104106"/>
                </a:lnTo>
                <a:lnTo>
                  <a:pt x="292253" y="103421"/>
                </a:lnTo>
                <a:lnTo>
                  <a:pt x="292476" y="102917"/>
                </a:lnTo>
                <a:lnTo>
                  <a:pt x="292292" y="102691"/>
                </a:lnTo>
                <a:lnTo>
                  <a:pt x="292589" y="102598"/>
                </a:lnTo>
                <a:lnTo>
                  <a:pt x="292430" y="102443"/>
                </a:lnTo>
                <a:lnTo>
                  <a:pt x="292622" y="102291"/>
                </a:lnTo>
                <a:lnTo>
                  <a:pt x="293603" y="102068"/>
                </a:lnTo>
                <a:lnTo>
                  <a:pt x="295034" y="103119"/>
                </a:lnTo>
                <a:lnTo>
                  <a:pt x="294972" y="104809"/>
                </a:lnTo>
                <a:lnTo>
                  <a:pt x="296199" y="106047"/>
                </a:lnTo>
                <a:lnTo>
                  <a:pt x="296359" y="106450"/>
                </a:lnTo>
                <a:lnTo>
                  <a:pt x="296218" y="107002"/>
                </a:lnTo>
                <a:lnTo>
                  <a:pt x="296653" y="107648"/>
                </a:lnTo>
                <a:lnTo>
                  <a:pt x="297754" y="107536"/>
                </a:lnTo>
                <a:lnTo>
                  <a:pt x="299049" y="108292"/>
                </a:lnTo>
                <a:lnTo>
                  <a:pt x="299341" y="107935"/>
                </a:lnTo>
                <a:lnTo>
                  <a:pt x="299914" y="107867"/>
                </a:lnTo>
                <a:lnTo>
                  <a:pt x="300967" y="108366"/>
                </a:lnTo>
                <a:lnTo>
                  <a:pt x="301933" y="108325"/>
                </a:lnTo>
                <a:lnTo>
                  <a:pt x="301123" y="109057"/>
                </a:lnTo>
                <a:lnTo>
                  <a:pt x="301790" y="110040"/>
                </a:lnTo>
                <a:lnTo>
                  <a:pt x="301221" y="111116"/>
                </a:lnTo>
                <a:lnTo>
                  <a:pt x="301260" y="111539"/>
                </a:lnTo>
                <a:lnTo>
                  <a:pt x="301973" y="111844"/>
                </a:lnTo>
                <a:lnTo>
                  <a:pt x="302966" y="111300"/>
                </a:lnTo>
                <a:lnTo>
                  <a:pt x="303480" y="111593"/>
                </a:lnTo>
                <a:lnTo>
                  <a:pt x="304081" y="111480"/>
                </a:lnTo>
                <a:lnTo>
                  <a:pt x="304095" y="111796"/>
                </a:lnTo>
                <a:lnTo>
                  <a:pt x="304933" y="112422"/>
                </a:lnTo>
                <a:lnTo>
                  <a:pt x="305163" y="113406"/>
                </a:lnTo>
                <a:lnTo>
                  <a:pt x="306183" y="113633"/>
                </a:lnTo>
                <a:lnTo>
                  <a:pt x="306585" y="114295"/>
                </a:lnTo>
                <a:lnTo>
                  <a:pt x="308767" y="116140"/>
                </a:lnTo>
                <a:lnTo>
                  <a:pt x="309286" y="117003"/>
                </a:lnTo>
                <a:lnTo>
                  <a:pt x="309008" y="117092"/>
                </a:lnTo>
                <a:lnTo>
                  <a:pt x="308676" y="116846"/>
                </a:lnTo>
                <a:lnTo>
                  <a:pt x="308235" y="117194"/>
                </a:lnTo>
                <a:lnTo>
                  <a:pt x="308347" y="118829"/>
                </a:lnTo>
                <a:lnTo>
                  <a:pt x="309649" y="119667"/>
                </a:lnTo>
                <a:lnTo>
                  <a:pt x="310225" y="119464"/>
                </a:lnTo>
                <a:lnTo>
                  <a:pt x="310279" y="119073"/>
                </a:lnTo>
                <a:lnTo>
                  <a:pt x="310712" y="119148"/>
                </a:lnTo>
                <a:lnTo>
                  <a:pt x="311061" y="119659"/>
                </a:lnTo>
                <a:lnTo>
                  <a:pt x="312245" y="120204"/>
                </a:lnTo>
                <a:lnTo>
                  <a:pt x="311881" y="120500"/>
                </a:lnTo>
                <a:lnTo>
                  <a:pt x="312389" y="120606"/>
                </a:lnTo>
                <a:lnTo>
                  <a:pt x="312611" y="121822"/>
                </a:lnTo>
                <a:lnTo>
                  <a:pt x="313248" y="122764"/>
                </a:lnTo>
                <a:lnTo>
                  <a:pt x="314366" y="122625"/>
                </a:lnTo>
                <a:lnTo>
                  <a:pt x="316010" y="122894"/>
                </a:lnTo>
                <a:lnTo>
                  <a:pt x="317022" y="124582"/>
                </a:lnTo>
                <a:lnTo>
                  <a:pt x="319373" y="125023"/>
                </a:lnTo>
                <a:lnTo>
                  <a:pt x="320322" y="126205"/>
                </a:lnTo>
                <a:lnTo>
                  <a:pt x="321243" y="126845"/>
                </a:lnTo>
                <a:lnTo>
                  <a:pt x="321507" y="127694"/>
                </a:lnTo>
                <a:lnTo>
                  <a:pt x="321155" y="128290"/>
                </a:lnTo>
                <a:lnTo>
                  <a:pt x="320573" y="128656"/>
                </a:lnTo>
                <a:lnTo>
                  <a:pt x="320909" y="129253"/>
                </a:lnTo>
                <a:lnTo>
                  <a:pt x="320635" y="130134"/>
                </a:lnTo>
                <a:lnTo>
                  <a:pt x="321108" y="130552"/>
                </a:lnTo>
                <a:lnTo>
                  <a:pt x="322608" y="130744"/>
                </a:lnTo>
                <a:lnTo>
                  <a:pt x="323135" y="131994"/>
                </a:lnTo>
                <a:lnTo>
                  <a:pt x="322884" y="132889"/>
                </a:lnTo>
                <a:lnTo>
                  <a:pt x="327378" y="135700"/>
                </a:lnTo>
                <a:lnTo>
                  <a:pt x="328794" y="136204"/>
                </a:lnTo>
                <a:lnTo>
                  <a:pt x="329523" y="136003"/>
                </a:lnTo>
                <a:lnTo>
                  <a:pt x="330246" y="135356"/>
                </a:lnTo>
                <a:lnTo>
                  <a:pt x="334348" y="135673"/>
                </a:lnTo>
                <a:lnTo>
                  <a:pt x="335006" y="136143"/>
                </a:lnTo>
                <a:lnTo>
                  <a:pt x="335280" y="137183"/>
                </a:lnTo>
                <a:lnTo>
                  <a:pt x="336790" y="139157"/>
                </a:lnTo>
                <a:lnTo>
                  <a:pt x="336852" y="139836"/>
                </a:lnTo>
                <a:lnTo>
                  <a:pt x="337330" y="139912"/>
                </a:lnTo>
                <a:lnTo>
                  <a:pt x="338536" y="140827"/>
                </a:lnTo>
                <a:lnTo>
                  <a:pt x="338629" y="141275"/>
                </a:lnTo>
                <a:lnTo>
                  <a:pt x="340121" y="142837"/>
                </a:lnTo>
                <a:lnTo>
                  <a:pt x="340034" y="143185"/>
                </a:lnTo>
                <a:lnTo>
                  <a:pt x="341065" y="144435"/>
                </a:lnTo>
                <a:lnTo>
                  <a:pt x="340814" y="144905"/>
                </a:lnTo>
                <a:lnTo>
                  <a:pt x="341122" y="145599"/>
                </a:lnTo>
                <a:lnTo>
                  <a:pt x="340601" y="145969"/>
                </a:lnTo>
                <a:lnTo>
                  <a:pt x="340247" y="146738"/>
                </a:lnTo>
                <a:lnTo>
                  <a:pt x="340469" y="147624"/>
                </a:lnTo>
                <a:lnTo>
                  <a:pt x="339838" y="147749"/>
                </a:lnTo>
                <a:lnTo>
                  <a:pt x="339106" y="148549"/>
                </a:lnTo>
                <a:lnTo>
                  <a:pt x="339740" y="150094"/>
                </a:lnTo>
                <a:lnTo>
                  <a:pt x="339446" y="150457"/>
                </a:lnTo>
                <a:lnTo>
                  <a:pt x="339461" y="151917"/>
                </a:lnTo>
                <a:lnTo>
                  <a:pt x="339048" y="152445"/>
                </a:lnTo>
                <a:lnTo>
                  <a:pt x="341433" y="157105"/>
                </a:lnTo>
                <a:lnTo>
                  <a:pt x="341524" y="157165"/>
                </a:lnTo>
                <a:lnTo>
                  <a:pt x="342293" y="157210"/>
                </a:lnTo>
                <a:lnTo>
                  <a:pt x="344195" y="156658"/>
                </a:lnTo>
                <a:lnTo>
                  <a:pt x="345173" y="157247"/>
                </a:lnTo>
                <a:lnTo>
                  <a:pt x="347015" y="157861"/>
                </a:lnTo>
                <a:lnTo>
                  <a:pt x="348070" y="158598"/>
                </a:lnTo>
                <a:lnTo>
                  <a:pt x="348780" y="160098"/>
                </a:lnTo>
                <a:lnTo>
                  <a:pt x="348094" y="160190"/>
                </a:lnTo>
                <a:lnTo>
                  <a:pt x="347758" y="161310"/>
                </a:lnTo>
                <a:lnTo>
                  <a:pt x="348953" y="161857"/>
                </a:lnTo>
                <a:lnTo>
                  <a:pt x="349346" y="162713"/>
                </a:lnTo>
                <a:lnTo>
                  <a:pt x="349837" y="162979"/>
                </a:lnTo>
                <a:lnTo>
                  <a:pt x="350397" y="164882"/>
                </a:lnTo>
                <a:lnTo>
                  <a:pt x="349904" y="165313"/>
                </a:lnTo>
                <a:lnTo>
                  <a:pt x="349318" y="165225"/>
                </a:lnTo>
                <a:lnTo>
                  <a:pt x="349250" y="166210"/>
                </a:lnTo>
                <a:lnTo>
                  <a:pt x="349588" y="166563"/>
                </a:lnTo>
                <a:lnTo>
                  <a:pt x="350417" y="166618"/>
                </a:lnTo>
                <a:lnTo>
                  <a:pt x="351576" y="167130"/>
                </a:lnTo>
                <a:lnTo>
                  <a:pt x="352309" y="168261"/>
                </a:lnTo>
                <a:lnTo>
                  <a:pt x="352165" y="169905"/>
                </a:lnTo>
                <a:lnTo>
                  <a:pt x="351532" y="169868"/>
                </a:lnTo>
                <a:lnTo>
                  <a:pt x="351686" y="170918"/>
                </a:lnTo>
                <a:lnTo>
                  <a:pt x="352122" y="171429"/>
                </a:lnTo>
                <a:lnTo>
                  <a:pt x="352171" y="172270"/>
                </a:lnTo>
                <a:lnTo>
                  <a:pt x="352577" y="173044"/>
                </a:lnTo>
                <a:lnTo>
                  <a:pt x="352485" y="173444"/>
                </a:lnTo>
                <a:lnTo>
                  <a:pt x="351978" y="173848"/>
                </a:lnTo>
                <a:lnTo>
                  <a:pt x="352028" y="174523"/>
                </a:lnTo>
                <a:lnTo>
                  <a:pt x="351803" y="174777"/>
                </a:lnTo>
                <a:lnTo>
                  <a:pt x="352392" y="175219"/>
                </a:lnTo>
                <a:lnTo>
                  <a:pt x="352247" y="175653"/>
                </a:lnTo>
                <a:lnTo>
                  <a:pt x="353027" y="175967"/>
                </a:lnTo>
                <a:lnTo>
                  <a:pt x="353212" y="176724"/>
                </a:lnTo>
                <a:lnTo>
                  <a:pt x="353660" y="176769"/>
                </a:lnTo>
                <a:lnTo>
                  <a:pt x="353689" y="178142"/>
                </a:lnTo>
                <a:lnTo>
                  <a:pt x="354144" y="179314"/>
                </a:lnTo>
                <a:lnTo>
                  <a:pt x="354099" y="180129"/>
                </a:lnTo>
                <a:lnTo>
                  <a:pt x="352015" y="180837"/>
                </a:lnTo>
                <a:lnTo>
                  <a:pt x="352264" y="181743"/>
                </a:lnTo>
                <a:lnTo>
                  <a:pt x="351977" y="182796"/>
                </a:lnTo>
                <a:lnTo>
                  <a:pt x="352359" y="183974"/>
                </a:lnTo>
                <a:lnTo>
                  <a:pt x="352965" y="184580"/>
                </a:lnTo>
                <a:lnTo>
                  <a:pt x="352859" y="185057"/>
                </a:lnTo>
                <a:lnTo>
                  <a:pt x="352535" y="185238"/>
                </a:lnTo>
                <a:lnTo>
                  <a:pt x="352640" y="185869"/>
                </a:lnTo>
                <a:lnTo>
                  <a:pt x="351044" y="187432"/>
                </a:lnTo>
                <a:lnTo>
                  <a:pt x="351117" y="188818"/>
                </a:lnTo>
                <a:lnTo>
                  <a:pt x="350903" y="189089"/>
                </a:lnTo>
                <a:lnTo>
                  <a:pt x="348540" y="189103"/>
                </a:lnTo>
                <a:lnTo>
                  <a:pt x="348338" y="190668"/>
                </a:lnTo>
                <a:lnTo>
                  <a:pt x="348880" y="191982"/>
                </a:lnTo>
                <a:lnTo>
                  <a:pt x="348482" y="192382"/>
                </a:lnTo>
                <a:lnTo>
                  <a:pt x="347108" y="192418"/>
                </a:lnTo>
                <a:lnTo>
                  <a:pt x="346532" y="192978"/>
                </a:lnTo>
                <a:lnTo>
                  <a:pt x="345844" y="194447"/>
                </a:lnTo>
                <a:lnTo>
                  <a:pt x="345766" y="195133"/>
                </a:lnTo>
                <a:lnTo>
                  <a:pt x="345425" y="195435"/>
                </a:lnTo>
                <a:lnTo>
                  <a:pt x="345913" y="196891"/>
                </a:lnTo>
                <a:lnTo>
                  <a:pt x="345415" y="196978"/>
                </a:lnTo>
                <a:lnTo>
                  <a:pt x="345473" y="197297"/>
                </a:lnTo>
                <a:lnTo>
                  <a:pt x="345027" y="197301"/>
                </a:lnTo>
                <a:lnTo>
                  <a:pt x="344459" y="197957"/>
                </a:lnTo>
                <a:lnTo>
                  <a:pt x="343727" y="198024"/>
                </a:lnTo>
                <a:lnTo>
                  <a:pt x="343563" y="198658"/>
                </a:lnTo>
                <a:lnTo>
                  <a:pt x="342945" y="198737"/>
                </a:lnTo>
                <a:lnTo>
                  <a:pt x="342511" y="198362"/>
                </a:lnTo>
                <a:lnTo>
                  <a:pt x="342059" y="198461"/>
                </a:lnTo>
                <a:lnTo>
                  <a:pt x="341428" y="199820"/>
                </a:lnTo>
                <a:lnTo>
                  <a:pt x="340676" y="199901"/>
                </a:lnTo>
                <a:lnTo>
                  <a:pt x="340149" y="200336"/>
                </a:lnTo>
                <a:lnTo>
                  <a:pt x="339946" y="200915"/>
                </a:lnTo>
                <a:lnTo>
                  <a:pt x="337492" y="200007"/>
                </a:lnTo>
                <a:lnTo>
                  <a:pt x="336675" y="200509"/>
                </a:lnTo>
                <a:lnTo>
                  <a:pt x="336516" y="201121"/>
                </a:lnTo>
                <a:lnTo>
                  <a:pt x="335981" y="201024"/>
                </a:lnTo>
                <a:lnTo>
                  <a:pt x="331611" y="211192"/>
                </a:lnTo>
                <a:lnTo>
                  <a:pt x="332311" y="211667"/>
                </a:lnTo>
                <a:lnTo>
                  <a:pt x="332208" y="213132"/>
                </a:lnTo>
                <a:lnTo>
                  <a:pt x="331358" y="213699"/>
                </a:lnTo>
                <a:lnTo>
                  <a:pt x="331143" y="214490"/>
                </a:lnTo>
                <a:lnTo>
                  <a:pt x="332436" y="215236"/>
                </a:lnTo>
                <a:lnTo>
                  <a:pt x="332656" y="215909"/>
                </a:lnTo>
                <a:lnTo>
                  <a:pt x="333234" y="216034"/>
                </a:lnTo>
                <a:lnTo>
                  <a:pt x="333319" y="216521"/>
                </a:lnTo>
                <a:lnTo>
                  <a:pt x="333722" y="216691"/>
                </a:lnTo>
                <a:lnTo>
                  <a:pt x="333857" y="217159"/>
                </a:lnTo>
                <a:lnTo>
                  <a:pt x="333010" y="219045"/>
                </a:lnTo>
                <a:lnTo>
                  <a:pt x="332509" y="219314"/>
                </a:lnTo>
                <a:lnTo>
                  <a:pt x="331536" y="219512"/>
                </a:lnTo>
                <a:lnTo>
                  <a:pt x="330866" y="219258"/>
                </a:lnTo>
                <a:lnTo>
                  <a:pt x="329784" y="219587"/>
                </a:lnTo>
                <a:lnTo>
                  <a:pt x="328009" y="219372"/>
                </a:lnTo>
                <a:lnTo>
                  <a:pt x="328042" y="220287"/>
                </a:lnTo>
                <a:lnTo>
                  <a:pt x="328970" y="222107"/>
                </a:lnTo>
                <a:lnTo>
                  <a:pt x="329010" y="223431"/>
                </a:lnTo>
                <a:lnTo>
                  <a:pt x="328685" y="224148"/>
                </a:lnTo>
                <a:lnTo>
                  <a:pt x="328859" y="224668"/>
                </a:lnTo>
                <a:lnTo>
                  <a:pt x="327426" y="225459"/>
                </a:lnTo>
                <a:lnTo>
                  <a:pt x="328029" y="226509"/>
                </a:lnTo>
                <a:lnTo>
                  <a:pt x="327242" y="228968"/>
                </a:lnTo>
                <a:lnTo>
                  <a:pt x="326514" y="229282"/>
                </a:lnTo>
                <a:lnTo>
                  <a:pt x="325328" y="228930"/>
                </a:lnTo>
                <a:lnTo>
                  <a:pt x="324723" y="228262"/>
                </a:lnTo>
                <a:lnTo>
                  <a:pt x="323347" y="228728"/>
                </a:lnTo>
                <a:lnTo>
                  <a:pt x="321187" y="228708"/>
                </a:lnTo>
                <a:lnTo>
                  <a:pt x="320444" y="228218"/>
                </a:lnTo>
                <a:lnTo>
                  <a:pt x="319753" y="228734"/>
                </a:lnTo>
                <a:lnTo>
                  <a:pt x="319626" y="229321"/>
                </a:lnTo>
                <a:lnTo>
                  <a:pt x="319260" y="229073"/>
                </a:lnTo>
                <a:lnTo>
                  <a:pt x="318516" y="229524"/>
                </a:lnTo>
                <a:lnTo>
                  <a:pt x="317951" y="229413"/>
                </a:lnTo>
                <a:lnTo>
                  <a:pt x="317388" y="230641"/>
                </a:lnTo>
                <a:lnTo>
                  <a:pt x="316952" y="230648"/>
                </a:lnTo>
                <a:lnTo>
                  <a:pt x="316520" y="231401"/>
                </a:lnTo>
                <a:lnTo>
                  <a:pt x="315308" y="231373"/>
                </a:lnTo>
                <a:lnTo>
                  <a:pt x="313937" y="233119"/>
                </a:lnTo>
                <a:lnTo>
                  <a:pt x="313480" y="233230"/>
                </a:lnTo>
                <a:lnTo>
                  <a:pt x="312756" y="232642"/>
                </a:lnTo>
                <a:lnTo>
                  <a:pt x="312098" y="233913"/>
                </a:lnTo>
                <a:lnTo>
                  <a:pt x="311115" y="234376"/>
                </a:lnTo>
                <a:lnTo>
                  <a:pt x="310434" y="234170"/>
                </a:lnTo>
                <a:lnTo>
                  <a:pt x="309463" y="235136"/>
                </a:lnTo>
                <a:lnTo>
                  <a:pt x="309868" y="235948"/>
                </a:lnTo>
                <a:lnTo>
                  <a:pt x="309565" y="236326"/>
                </a:lnTo>
                <a:lnTo>
                  <a:pt x="309727" y="236546"/>
                </a:lnTo>
                <a:lnTo>
                  <a:pt x="309626" y="237367"/>
                </a:lnTo>
                <a:lnTo>
                  <a:pt x="309148" y="238061"/>
                </a:lnTo>
                <a:lnTo>
                  <a:pt x="309350" y="238918"/>
                </a:lnTo>
                <a:lnTo>
                  <a:pt x="307896" y="239151"/>
                </a:lnTo>
                <a:lnTo>
                  <a:pt x="307711" y="239759"/>
                </a:lnTo>
                <a:lnTo>
                  <a:pt x="307259" y="239959"/>
                </a:lnTo>
                <a:lnTo>
                  <a:pt x="307068" y="240427"/>
                </a:lnTo>
                <a:lnTo>
                  <a:pt x="307879" y="243301"/>
                </a:lnTo>
                <a:lnTo>
                  <a:pt x="307489" y="243459"/>
                </a:lnTo>
                <a:lnTo>
                  <a:pt x="307611" y="243837"/>
                </a:lnTo>
                <a:lnTo>
                  <a:pt x="307124" y="244071"/>
                </a:lnTo>
                <a:lnTo>
                  <a:pt x="307038" y="244488"/>
                </a:lnTo>
                <a:lnTo>
                  <a:pt x="305600" y="244127"/>
                </a:lnTo>
                <a:lnTo>
                  <a:pt x="305550" y="244920"/>
                </a:lnTo>
                <a:lnTo>
                  <a:pt x="305830" y="245682"/>
                </a:lnTo>
                <a:lnTo>
                  <a:pt x="306216" y="246003"/>
                </a:lnTo>
                <a:lnTo>
                  <a:pt x="306057" y="247445"/>
                </a:lnTo>
                <a:lnTo>
                  <a:pt x="305163" y="247759"/>
                </a:lnTo>
                <a:lnTo>
                  <a:pt x="305280" y="248402"/>
                </a:lnTo>
                <a:lnTo>
                  <a:pt x="304505" y="248271"/>
                </a:lnTo>
                <a:lnTo>
                  <a:pt x="304280" y="249332"/>
                </a:lnTo>
                <a:lnTo>
                  <a:pt x="304698" y="249732"/>
                </a:lnTo>
                <a:lnTo>
                  <a:pt x="304442" y="250277"/>
                </a:lnTo>
                <a:lnTo>
                  <a:pt x="304355" y="252374"/>
                </a:lnTo>
                <a:lnTo>
                  <a:pt x="303685" y="253327"/>
                </a:lnTo>
                <a:lnTo>
                  <a:pt x="303429" y="255325"/>
                </a:lnTo>
                <a:lnTo>
                  <a:pt x="303904" y="256159"/>
                </a:lnTo>
                <a:lnTo>
                  <a:pt x="304658" y="256607"/>
                </a:lnTo>
                <a:lnTo>
                  <a:pt x="304194" y="257263"/>
                </a:lnTo>
                <a:lnTo>
                  <a:pt x="304459" y="258429"/>
                </a:lnTo>
                <a:lnTo>
                  <a:pt x="304027" y="259360"/>
                </a:lnTo>
                <a:lnTo>
                  <a:pt x="302506" y="259597"/>
                </a:lnTo>
                <a:lnTo>
                  <a:pt x="301825" y="260847"/>
                </a:lnTo>
                <a:lnTo>
                  <a:pt x="301383" y="262919"/>
                </a:lnTo>
                <a:lnTo>
                  <a:pt x="301470" y="263000"/>
                </a:lnTo>
                <a:lnTo>
                  <a:pt x="302041" y="262911"/>
                </a:lnTo>
                <a:lnTo>
                  <a:pt x="304290" y="264036"/>
                </a:lnTo>
                <a:lnTo>
                  <a:pt x="305286" y="264264"/>
                </a:lnTo>
                <a:lnTo>
                  <a:pt x="305349" y="264813"/>
                </a:lnTo>
                <a:lnTo>
                  <a:pt x="306197" y="265489"/>
                </a:lnTo>
                <a:lnTo>
                  <a:pt x="305553" y="266584"/>
                </a:lnTo>
                <a:lnTo>
                  <a:pt x="305571" y="266936"/>
                </a:lnTo>
                <a:lnTo>
                  <a:pt x="306203" y="267246"/>
                </a:lnTo>
                <a:lnTo>
                  <a:pt x="306604" y="268095"/>
                </a:lnTo>
                <a:lnTo>
                  <a:pt x="307383" y="268296"/>
                </a:lnTo>
                <a:lnTo>
                  <a:pt x="308277" y="267960"/>
                </a:lnTo>
                <a:lnTo>
                  <a:pt x="308617" y="268147"/>
                </a:lnTo>
                <a:lnTo>
                  <a:pt x="308484" y="268797"/>
                </a:lnTo>
                <a:lnTo>
                  <a:pt x="308666" y="269627"/>
                </a:lnTo>
                <a:lnTo>
                  <a:pt x="308267" y="270069"/>
                </a:lnTo>
                <a:lnTo>
                  <a:pt x="308316" y="271318"/>
                </a:lnTo>
                <a:lnTo>
                  <a:pt x="307816" y="271780"/>
                </a:lnTo>
                <a:lnTo>
                  <a:pt x="309238" y="272831"/>
                </a:lnTo>
                <a:lnTo>
                  <a:pt x="309389" y="273504"/>
                </a:lnTo>
                <a:lnTo>
                  <a:pt x="308285" y="274340"/>
                </a:lnTo>
                <a:lnTo>
                  <a:pt x="307693" y="274411"/>
                </a:lnTo>
                <a:lnTo>
                  <a:pt x="307294" y="275043"/>
                </a:lnTo>
                <a:lnTo>
                  <a:pt x="306317" y="274868"/>
                </a:lnTo>
                <a:lnTo>
                  <a:pt x="304713" y="275528"/>
                </a:lnTo>
                <a:lnTo>
                  <a:pt x="302987" y="275609"/>
                </a:lnTo>
                <a:lnTo>
                  <a:pt x="302480" y="276066"/>
                </a:lnTo>
                <a:lnTo>
                  <a:pt x="301969" y="276058"/>
                </a:lnTo>
                <a:lnTo>
                  <a:pt x="301419" y="276670"/>
                </a:lnTo>
                <a:lnTo>
                  <a:pt x="300909" y="276447"/>
                </a:lnTo>
                <a:lnTo>
                  <a:pt x="300561" y="276648"/>
                </a:lnTo>
                <a:lnTo>
                  <a:pt x="300543" y="277527"/>
                </a:lnTo>
                <a:lnTo>
                  <a:pt x="300154" y="277849"/>
                </a:lnTo>
                <a:lnTo>
                  <a:pt x="299808" y="279562"/>
                </a:lnTo>
                <a:lnTo>
                  <a:pt x="299507" y="279938"/>
                </a:lnTo>
                <a:lnTo>
                  <a:pt x="299724" y="280278"/>
                </a:lnTo>
                <a:lnTo>
                  <a:pt x="299629" y="281575"/>
                </a:lnTo>
                <a:lnTo>
                  <a:pt x="296851" y="279180"/>
                </a:lnTo>
                <a:lnTo>
                  <a:pt x="294338" y="282280"/>
                </a:lnTo>
                <a:lnTo>
                  <a:pt x="291961" y="283823"/>
                </a:lnTo>
                <a:lnTo>
                  <a:pt x="291052" y="283785"/>
                </a:lnTo>
                <a:lnTo>
                  <a:pt x="290630" y="284243"/>
                </a:lnTo>
                <a:lnTo>
                  <a:pt x="290198" y="284085"/>
                </a:lnTo>
                <a:lnTo>
                  <a:pt x="289501" y="284373"/>
                </a:lnTo>
                <a:lnTo>
                  <a:pt x="289248" y="284630"/>
                </a:lnTo>
                <a:lnTo>
                  <a:pt x="289392" y="285399"/>
                </a:lnTo>
                <a:lnTo>
                  <a:pt x="288864" y="286199"/>
                </a:lnTo>
                <a:lnTo>
                  <a:pt x="288043" y="286506"/>
                </a:lnTo>
                <a:lnTo>
                  <a:pt x="287470" y="286073"/>
                </a:lnTo>
                <a:lnTo>
                  <a:pt x="286653" y="286882"/>
                </a:lnTo>
                <a:lnTo>
                  <a:pt x="286030" y="287346"/>
                </a:lnTo>
                <a:lnTo>
                  <a:pt x="285123" y="287362"/>
                </a:lnTo>
                <a:lnTo>
                  <a:pt x="284090" y="288424"/>
                </a:lnTo>
                <a:lnTo>
                  <a:pt x="283106" y="289797"/>
                </a:lnTo>
                <a:lnTo>
                  <a:pt x="282976" y="290992"/>
                </a:lnTo>
                <a:lnTo>
                  <a:pt x="282305" y="291595"/>
                </a:lnTo>
                <a:lnTo>
                  <a:pt x="281207" y="291320"/>
                </a:lnTo>
                <a:lnTo>
                  <a:pt x="280911" y="291733"/>
                </a:lnTo>
                <a:lnTo>
                  <a:pt x="280336" y="291719"/>
                </a:lnTo>
                <a:lnTo>
                  <a:pt x="279936" y="291993"/>
                </a:lnTo>
                <a:lnTo>
                  <a:pt x="279306" y="291805"/>
                </a:lnTo>
                <a:lnTo>
                  <a:pt x="278276" y="292768"/>
                </a:lnTo>
                <a:lnTo>
                  <a:pt x="277770" y="292753"/>
                </a:lnTo>
                <a:lnTo>
                  <a:pt x="277482" y="292333"/>
                </a:lnTo>
                <a:lnTo>
                  <a:pt x="275869" y="292236"/>
                </a:lnTo>
                <a:lnTo>
                  <a:pt x="275131" y="294319"/>
                </a:lnTo>
                <a:lnTo>
                  <a:pt x="273321" y="295038"/>
                </a:lnTo>
                <a:lnTo>
                  <a:pt x="273015" y="294894"/>
                </a:lnTo>
                <a:lnTo>
                  <a:pt x="272578" y="295702"/>
                </a:lnTo>
                <a:lnTo>
                  <a:pt x="271388" y="295851"/>
                </a:lnTo>
                <a:lnTo>
                  <a:pt x="270266" y="296924"/>
                </a:lnTo>
                <a:lnTo>
                  <a:pt x="269390" y="296699"/>
                </a:lnTo>
                <a:lnTo>
                  <a:pt x="268860" y="297349"/>
                </a:lnTo>
                <a:lnTo>
                  <a:pt x="268377" y="297233"/>
                </a:lnTo>
                <a:lnTo>
                  <a:pt x="267280" y="297586"/>
                </a:lnTo>
                <a:lnTo>
                  <a:pt x="266782" y="297455"/>
                </a:lnTo>
                <a:lnTo>
                  <a:pt x="266177" y="298085"/>
                </a:lnTo>
                <a:lnTo>
                  <a:pt x="265564" y="298193"/>
                </a:lnTo>
                <a:lnTo>
                  <a:pt x="265353" y="298737"/>
                </a:lnTo>
                <a:lnTo>
                  <a:pt x="263668" y="298632"/>
                </a:lnTo>
                <a:lnTo>
                  <a:pt x="263622" y="299572"/>
                </a:lnTo>
                <a:lnTo>
                  <a:pt x="263890" y="300250"/>
                </a:lnTo>
                <a:lnTo>
                  <a:pt x="263285" y="300698"/>
                </a:lnTo>
                <a:lnTo>
                  <a:pt x="261687" y="301027"/>
                </a:lnTo>
                <a:lnTo>
                  <a:pt x="260923" y="300943"/>
                </a:lnTo>
                <a:lnTo>
                  <a:pt x="259794" y="301818"/>
                </a:lnTo>
                <a:lnTo>
                  <a:pt x="259078" y="301454"/>
                </a:lnTo>
                <a:lnTo>
                  <a:pt x="258105" y="301766"/>
                </a:lnTo>
                <a:lnTo>
                  <a:pt x="256398" y="301663"/>
                </a:lnTo>
                <a:lnTo>
                  <a:pt x="255630" y="302180"/>
                </a:lnTo>
                <a:lnTo>
                  <a:pt x="254569" y="302181"/>
                </a:lnTo>
                <a:lnTo>
                  <a:pt x="254654" y="302625"/>
                </a:lnTo>
                <a:lnTo>
                  <a:pt x="253976" y="303578"/>
                </a:lnTo>
                <a:lnTo>
                  <a:pt x="250775" y="303179"/>
                </a:lnTo>
                <a:lnTo>
                  <a:pt x="249785" y="302797"/>
                </a:lnTo>
                <a:lnTo>
                  <a:pt x="248062" y="302906"/>
                </a:lnTo>
                <a:lnTo>
                  <a:pt x="246870" y="303808"/>
                </a:lnTo>
                <a:lnTo>
                  <a:pt x="246877" y="304157"/>
                </a:lnTo>
                <a:lnTo>
                  <a:pt x="246554" y="304398"/>
                </a:lnTo>
                <a:lnTo>
                  <a:pt x="246066" y="303804"/>
                </a:lnTo>
                <a:lnTo>
                  <a:pt x="245024" y="303886"/>
                </a:lnTo>
                <a:lnTo>
                  <a:pt x="244334" y="304283"/>
                </a:lnTo>
                <a:lnTo>
                  <a:pt x="243835" y="304219"/>
                </a:lnTo>
                <a:lnTo>
                  <a:pt x="243551" y="304621"/>
                </a:lnTo>
                <a:lnTo>
                  <a:pt x="242141" y="304886"/>
                </a:lnTo>
                <a:lnTo>
                  <a:pt x="241044" y="305986"/>
                </a:lnTo>
                <a:lnTo>
                  <a:pt x="240680" y="306044"/>
                </a:lnTo>
                <a:lnTo>
                  <a:pt x="240164" y="305617"/>
                </a:lnTo>
                <a:lnTo>
                  <a:pt x="239435" y="305539"/>
                </a:lnTo>
                <a:lnTo>
                  <a:pt x="239074" y="306309"/>
                </a:lnTo>
                <a:lnTo>
                  <a:pt x="238659" y="306286"/>
                </a:lnTo>
                <a:lnTo>
                  <a:pt x="237653" y="307116"/>
                </a:lnTo>
                <a:lnTo>
                  <a:pt x="236694" y="307446"/>
                </a:lnTo>
                <a:lnTo>
                  <a:pt x="236092" y="308184"/>
                </a:lnTo>
                <a:lnTo>
                  <a:pt x="234719" y="307579"/>
                </a:lnTo>
                <a:lnTo>
                  <a:pt x="234104" y="307605"/>
                </a:lnTo>
                <a:lnTo>
                  <a:pt x="233629" y="306949"/>
                </a:lnTo>
                <a:lnTo>
                  <a:pt x="232609" y="306962"/>
                </a:lnTo>
                <a:lnTo>
                  <a:pt x="231946" y="306542"/>
                </a:lnTo>
                <a:lnTo>
                  <a:pt x="230308" y="306521"/>
                </a:lnTo>
                <a:lnTo>
                  <a:pt x="229095" y="307110"/>
                </a:lnTo>
                <a:lnTo>
                  <a:pt x="227913" y="306569"/>
                </a:lnTo>
                <a:lnTo>
                  <a:pt x="226076" y="306219"/>
                </a:lnTo>
                <a:lnTo>
                  <a:pt x="225135" y="305556"/>
                </a:lnTo>
                <a:lnTo>
                  <a:pt x="224260" y="305653"/>
                </a:lnTo>
                <a:lnTo>
                  <a:pt x="223587" y="305353"/>
                </a:lnTo>
                <a:lnTo>
                  <a:pt x="222891" y="305580"/>
                </a:lnTo>
                <a:lnTo>
                  <a:pt x="221961" y="304935"/>
                </a:lnTo>
                <a:lnTo>
                  <a:pt x="217107" y="305213"/>
                </a:lnTo>
                <a:lnTo>
                  <a:pt x="216607" y="306296"/>
                </a:lnTo>
                <a:lnTo>
                  <a:pt x="214463" y="307204"/>
                </a:lnTo>
                <a:lnTo>
                  <a:pt x="213795" y="307903"/>
                </a:lnTo>
                <a:lnTo>
                  <a:pt x="212965" y="308168"/>
                </a:lnTo>
                <a:lnTo>
                  <a:pt x="211985" y="309148"/>
                </a:lnTo>
                <a:lnTo>
                  <a:pt x="209344" y="308706"/>
                </a:lnTo>
                <a:lnTo>
                  <a:pt x="208222" y="309334"/>
                </a:lnTo>
                <a:lnTo>
                  <a:pt x="208046" y="309793"/>
                </a:lnTo>
                <a:lnTo>
                  <a:pt x="206364" y="309565"/>
                </a:lnTo>
                <a:lnTo>
                  <a:pt x="205794" y="310042"/>
                </a:lnTo>
                <a:lnTo>
                  <a:pt x="205018" y="310074"/>
                </a:lnTo>
                <a:lnTo>
                  <a:pt x="202318" y="309312"/>
                </a:lnTo>
                <a:lnTo>
                  <a:pt x="200519" y="308429"/>
                </a:lnTo>
                <a:lnTo>
                  <a:pt x="198887" y="307907"/>
                </a:lnTo>
                <a:lnTo>
                  <a:pt x="197225" y="308065"/>
                </a:lnTo>
                <a:lnTo>
                  <a:pt x="197076" y="308782"/>
                </a:lnTo>
                <a:lnTo>
                  <a:pt x="196610" y="309462"/>
                </a:lnTo>
                <a:lnTo>
                  <a:pt x="196528" y="310026"/>
                </a:lnTo>
                <a:lnTo>
                  <a:pt x="196263" y="310075"/>
                </a:lnTo>
                <a:lnTo>
                  <a:pt x="196206" y="310640"/>
                </a:lnTo>
                <a:lnTo>
                  <a:pt x="195321" y="310994"/>
                </a:lnTo>
                <a:lnTo>
                  <a:pt x="195129" y="311600"/>
                </a:lnTo>
                <a:lnTo>
                  <a:pt x="193957" y="311670"/>
                </a:lnTo>
                <a:lnTo>
                  <a:pt x="193957" y="335074"/>
                </a:lnTo>
                <a:lnTo>
                  <a:pt x="193957" y="372304"/>
                </a:lnTo>
                <a:lnTo>
                  <a:pt x="161395" y="372304"/>
                </a:lnTo>
                <a:lnTo>
                  <a:pt x="161041" y="372628"/>
                </a:lnTo>
                <a:lnTo>
                  <a:pt x="161238" y="373555"/>
                </a:lnTo>
                <a:lnTo>
                  <a:pt x="161924" y="374750"/>
                </a:lnTo>
                <a:lnTo>
                  <a:pt x="161528" y="375056"/>
                </a:lnTo>
                <a:lnTo>
                  <a:pt x="161759" y="375760"/>
                </a:lnTo>
                <a:lnTo>
                  <a:pt x="161269" y="376655"/>
                </a:lnTo>
                <a:lnTo>
                  <a:pt x="161408" y="377344"/>
                </a:lnTo>
                <a:lnTo>
                  <a:pt x="160411" y="377871"/>
                </a:lnTo>
                <a:lnTo>
                  <a:pt x="160040" y="379210"/>
                </a:lnTo>
                <a:lnTo>
                  <a:pt x="159146" y="379497"/>
                </a:lnTo>
                <a:lnTo>
                  <a:pt x="158019" y="380545"/>
                </a:lnTo>
                <a:lnTo>
                  <a:pt x="156898" y="380415"/>
                </a:lnTo>
                <a:lnTo>
                  <a:pt x="156726" y="380528"/>
                </a:lnTo>
                <a:lnTo>
                  <a:pt x="156726" y="409534"/>
                </a:lnTo>
                <a:lnTo>
                  <a:pt x="156726" y="446764"/>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Illustrated road connection within selected market interior"/>
          <p:cNvSpPr/>
          <p:nvPr/>
        </p:nvSpPr>
        <p:spPr>
          <a:xfrm>
            <a:off x="3297410" y="3760451"/>
            <a:ext cx="111691" cy="186152"/>
          </a:xfrm>
          <a:custGeom>
            <a:avLst/>
            <a:gdLst/>
            <a:ahLst/>
            <a:cxnLst/>
            <a:rect l="l" t="t" r="r" b="b"/>
            <a:pathLst>
              <a:path w="111691" h="186152">
                <a:moveTo>
                  <a:pt x="0" y="111691"/>
                </a:moveTo>
                <a:lnTo>
                  <a:pt x="0" y="74461"/>
                </a:lnTo>
                <a:lnTo>
                  <a:pt x="0" y="37230"/>
                </a:lnTo>
                <a:lnTo>
                  <a:pt x="0" y="0"/>
                </a:lnTo>
                <a:lnTo>
                  <a:pt x="37231" y="0"/>
                </a:lnTo>
                <a:lnTo>
                  <a:pt x="37231" y="37230"/>
                </a:lnTo>
                <a:lnTo>
                  <a:pt x="74461" y="37230"/>
                </a:lnTo>
                <a:lnTo>
                  <a:pt x="74461" y="74461"/>
                </a:lnTo>
                <a:lnTo>
                  <a:pt x="111691" y="74461"/>
                </a:lnTo>
                <a:lnTo>
                  <a:pt x="111691" y="111691"/>
                </a:lnTo>
                <a:lnTo>
                  <a:pt x="111691" y="148922"/>
                </a:lnTo>
                <a:lnTo>
                  <a:pt x="111691" y="186152"/>
                </a:lnTo>
                <a:lnTo>
                  <a:pt x="74461" y="186152"/>
                </a:lnTo>
                <a:lnTo>
                  <a:pt x="74461" y="148922"/>
                </a:lnTo>
                <a:lnTo>
                  <a:pt x="37231" y="148922"/>
                </a:lnTo>
                <a:lnTo>
                  <a:pt x="37231" y="111691"/>
                </a:lnTo>
                <a:lnTo>
                  <a:pt x="0" y="111691"/>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Illustrated road connection within selected market"/>
          <p:cNvSpPr/>
          <p:nvPr/>
        </p:nvSpPr>
        <p:spPr>
          <a:xfrm>
            <a:off x="3473425" y="2903797"/>
            <a:ext cx="1559" cy="357"/>
          </a:xfrm>
          <a:custGeom>
            <a:avLst/>
            <a:gdLst/>
            <a:ahLst/>
            <a:cxnLst/>
            <a:rect l="l" t="t" r="r" b="b"/>
            <a:pathLst>
              <a:path w="1559" h="357">
                <a:moveTo>
                  <a:pt x="1559" y="357"/>
                </a:moveTo>
                <a:lnTo>
                  <a:pt x="753" y="0"/>
                </a:lnTo>
                <a:lnTo>
                  <a:pt x="81" y="149"/>
                </a:lnTo>
                <a:lnTo>
                  <a:pt x="0" y="357"/>
                </a:lnTo>
                <a:lnTo>
                  <a:pt x="1559" y="357"/>
                </a:lnTo>
                <a:close/>
              </a:path>
            </a:pathLst>
          </a:cu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Selected eastern and inland market outline"/>
          <p:cNvSpPr/>
          <p:nvPr/>
        </p:nvSpPr>
        <p:spPr>
          <a:xfrm>
            <a:off x="2199568" y="2863528"/>
            <a:ext cx="1527527" cy="1980923"/>
          </a:xfrm>
          <a:custGeom>
            <a:avLst/>
            <a:gdLst/>
            <a:ahLst/>
            <a:cxnLst/>
            <a:rect l="l" t="t" r="r" b="b"/>
            <a:pathLst>
              <a:path w="1527527" h="1980923">
                <a:moveTo>
                  <a:pt x="1396158" y="317166"/>
                </a:moveTo>
                <a:lnTo>
                  <a:pt x="1379841" y="305149"/>
                </a:lnTo>
                <a:lnTo>
                  <a:pt x="1370331" y="277216"/>
                </a:lnTo>
                <a:lnTo>
                  <a:pt x="1370046" y="261926"/>
                </a:lnTo>
                <a:lnTo>
                  <a:pt x="1366606" y="255463"/>
                </a:lnTo>
                <a:lnTo>
                  <a:pt x="1351569" y="236573"/>
                </a:lnTo>
                <a:lnTo>
                  <a:pt x="1350574" y="224681"/>
                </a:lnTo>
                <a:lnTo>
                  <a:pt x="1352470" y="201454"/>
                </a:lnTo>
                <a:lnTo>
                  <a:pt x="1354206" y="189849"/>
                </a:lnTo>
                <a:lnTo>
                  <a:pt x="1351974" y="179650"/>
                </a:lnTo>
                <a:lnTo>
                  <a:pt x="1342868" y="144231"/>
                </a:lnTo>
                <a:lnTo>
                  <a:pt x="1321004" y="60215"/>
                </a:lnTo>
                <a:lnTo>
                  <a:pt x="1321315" y="59993"/>
                </a:lnTo>
                <a:lnTo>
                  <a:pt x="1318032" y="56914"/>
                </a:lnTo>
                <a:lnTo>
                  <a:pt x="1316791" y="54546"/>
                </a:lnTo>
                <a:lnTo>
                  <a:pt x="1316195" y="51937"/>
                </a:lnTo>
                <a:lnTo>
                  <a:pt x="1315454" y="50710"/>
                </a:lnTo>
                <a:lnTo>
                  <a:pt x="1314651" y="50226"/>
                </a:lnTo>
                <a:lnTo>
                  <a:pt x="1312569" y="49793"/>
                </a:lnTo>
                <a:lnTo>
                  <a:pt x="1308138" y="50717"/>
                </a:lnTo>
                <a:lnTo>
                  <a:pt x="1306955" y="50474"/>
                </a:lnTo>
                <a:lnTo>
                  <a:pt x="1305147" y="49090"/>
                </a:lnTo>
                <a:lnTo>
                  <a:pt x="1303234" y="45378"/>
                </a:lnTo>
                <a:lnTo>
                  <a:pt x="1301246" y="44049"/>
                </a:lnTo>
                <a:lnTo>
                  <a:pt x="1299562" y="43482"/>
                </a:lnTo>
                <a:lnTo>
                  <a:pt x="1298574" y="43440"/>
                </a:lnTo>
                <a:lnTo>
                  <a:pt x="1296174" y="43865"/>
                </a:lnTo>
                <a:lnTo>
                  <a:pt x="1289401" y="46149"/>
                </a:lnTo>
                <a:lnTo>
                  <a:pt x="1287988" y="46298"/>
                </a:lnTo>
                <a:lnTo>
                  <a:pt x="1284427" y="44752"/>
                </a:lnTo>
                <a:lnTo>
                  <a:pt x="1282194" y="44050"/>
                </a:lnTo>
                <a:lnTo>
                  <a:pt x="1277975" y="41757"/>
                </a:lnTo>
                <a:lnTo>
                  <a:pt x="1274610" y="40269"/>
                </a:lnTo>
                <a:lnTo>
                  <a:pt x="1273938" y="40418"/>
                </a:lnTo>
                <a:lnTo>
                  <a:pt x="1273521" y="41484"/>
                </a:lnTo>
                <a:lnTo>
                  <a:pt x="1273067" y="41875"/>
                </a:lnTo>
                <a:lnTo>
                  <a:pt x="1271650" y="41974"/>
                </a:lnTo>
                <a:lnTo>
                  <a:pt x="1270501" y="41282"/>
                </a:lnTo>
                <a:lnTo>
                  <a:pt x="1269867" y="39795"/>
                </a:lnTo>
                <a:lnTo>
                  <a:pt x="1266435" y="39661"/>
                </a:lnTo>
                <a:lnTo>
                  <a:pt x="1265656" y="39113"/>
                </a:lnTo>
                <a:lnTo>
                  <a:pt x="1264602" y="37573"/>
                </a:lnTo>
                <a:lnTo>
                  <a:pt x="1264040" y="37262"/>
                </a:lnTo>
                <a:lnTo>
                  <a:pt x="1262067" y="37076"/>
                </a:lnTo>
                <a:lnTo>
                  <a:pt x="1260690" y="36457"/>
                </a:lnTo>
                <a:lnTo>
                  <a:pt x="1259485" y="36240"/>
                </a:lnTo>
                <a:lnTo>
                  <a:pt x="1257180" y="37448"/>
                </a:lnTo>
                <a:lnTo>
                  <a:pt x="1256697" y="37493"/>
                </a:lnTo>
                <a:lnTo>
                  <a:pt x="1254820" y="36399"/>
                </a:lnTo>
                <a:lnTo>
                  <a:pt x="1249577" y="35050"/>
                </a:lnTo>
                <a:lnTo>
                  <a:pt x="1243467" y="36250"/>
                </a:lnTo>
                <a:lnTo>
                  <a:pt x="1240142" y="36656"/>
                </a:lnTo>
                <a:lnTo>
                  <a:pt x="1237977" y="36538"/>
                </a:lnTo>
                <a:lnTo>
                  <a:pt x="1236337" y="37075"/>
                </a:lnTo>
                <a:lnTo>
                  <a:pt x="1233581" y="37184"/>
                </a:lnTo>
                <a:lnTo>
                  <a:pt x="1229968" y="38294"/>
                </a:lnTo>
                <a:lnTo>
                  <a:pt x="1224000" y="36952"/>
                </a:lnTo>
                <a:lnTo>
                  <a:pt x="1223050" y="36965"/>
                </a:lnTo>
                <a:lnTo>
                  <a:pt x="1221381" y="37734"/>
                </a:lnTo>
                <a:lnTo>
                  <a:pt x="1219197" y="40308"/>
                </a:lnTo>
                <a:lnTo>
                  <a:pt x="1218038" y="40917"/>
                </a:lnTo>
                <a:lnTo>
                  <a:pt x="1216728" y="40713"/>
                </a:lnTo>
                <a:lnTo>
                  <a:pt x="1214371" y="38565"/>
                </a:lnTo>
                <a:lnTo>
                  <a:pt x="1212483" y="37937"/>
                </a:lnTo>
                <a:lnTo>
                  <a:pt x="1210369" y="37707"/>
                </a:lnTo>
                <a:lnTo>
                  <a:pt x="1208223" y="38058"/>
                </a:lnTo>
                <a:lnTo>
                  <a:pt x="1207515" y="38452"/>
                </a:lnTo>
                <a:lnTo>
                  <a:pt x="1206728" y="39341"/>
                </a:lnTo>
                <a:lnTo>
                  <a:pt x="1205972" y="39611"/>
                </a:lnTo>
                <a:lnTo>
                  <a:pt x="1200595" y="37953"/>
                </a:lnTo>
                <a:lnTo>
                  <a:pt x="1198828" y="37804"/>
                </a:lnTo>
                <a:lnTo>
                  <a:pt x="1196343" y="36664"/>
                </a:lnTo>
                <a:lnTo>
                  <a:pt x="1194231" y="37029"/>
                </a:lnTo>
                <a:lnTo>
                  <a:pt x="1190543" y="38906"/>
                </a:lnTo>
                <a:lnTo>
                  <a:pt x="1188750" y="39501"/>
                </a:lnTo>
                <a:lnTo>
                  <a:pt x="1182323" y="40725"/>
                </a:lnTo>
                <a:lnTo>
                  <a:pt x="1179689" y="41636"/>
                </a:lnTo>
                <a:lnTo>
                  <a:pt x="1176459" y="41052"/>
                </a:lnTo>
                <a:lnTo>
                  <a:pt x="1172612" y="41290"/>
                </a:lnTo>
                <a:lnTo>
                  <a:pt x="1169601" y="40679"/>
                </a:lnTo>
                <a:lnTo>
                  <a:pt x="1167352" y="41692"/>
                </a:lnTo>
                <a:lnTo>
                  <a:pt x="1165543" y="41918"/>
                </a:lnTo>
                <a:lnTo>
                  <a:pt x="1164428" y="41502"/>
                </a:lnTo>
                <a:lnTo>
                  <a:pt x="1163064" y="40268"/>
                </a:lnTo>
                <a:lnTo>
                  <a:pt x="1161980" y="38654"/>
                </a:lnTo>
                <a:lnTo>
                  <a:pt x="1160759" y="35856"/>
                </a:lnTo>
                <a:lnTo>
                  <a:pt x="1159601" y="34596"/>
                </a:lnTo>
                <a:lnTo>
                  <a:pt x="1158222" y="33719"/>
                </a:lnTo>
                <a:lnTo>
                  <a:pt x="1157619" y="32274"/>
                </a:lnTo>
                <a:lnTo>
                  <a:pt x="1156848" y="31594"/>
                </a:lnTo>
                <a:lnTo>
                  <a:pt x="1155410" y="31379"/>
                </a:lnTo>
                <a:lnTo>
                  <a:pt x="1151028" y="31384"/>
                </a:lnTo>
                <a:lnTo>
                  <a:pt x="1145501" y="31776"/>
                </a:lnTo>
                <a:lnTo>
                  <a:pt x="1144395" y="32077"/>
                </a:lnTo>
                <a:lnTo>
                  <a:pt x="1141698" y="33468"/>
                </a:lnTo>
                <a:lnTo>
                  <a:pt x="1140649" y="33428"/>
                </a:lnTo>
                <a:lnTo>
                  <a:pt x="1139957" y="33008"/>
                </a:lnTo>
                <a:lnTo>
                  <a:pt x="1136976" y="29261"/>
                </a:lnTo>
                <a:lnTo>
                  <a:pt x="1133131" y="27067"/>
                </a:lnTo>
                <a:lnTo>
                  <a:pt x="1130516" y="24125"/>
                </a:lnTo>
                <a:lnTo>
                  <a:pt x="1129362" y="23717"/>
                </a:lnTo>
                <a:lnTo>
                  <a:pt x="1126442" y="23773"/>
                </a:lnTo>
                <a:lnTo>
                  <a:pt x="1125558" y="23348"/>
                </a:lnTo>
                <a:lnTo>
                  <a:pt x="1125004" y="22688"/>
                </a:lnTo>
                <a:lnTo>
                  <a:pt x="1124691" y="21830"/>
                </a:lnTo>
                <a:lnTo>
                  <a:pt x="1124789" y="19989"/>
                </a:lnTo>
                <a:lnTo>
                  <a:pt x="1124470" y="19234"/>
                </a:lnTo>
                <a:lnTo>
                  <a:pt x="1123504" y="18948"/>
                </a:lnTo>
                <a:lnTo>
                  <a:pt x="1121738" y="19102"/>
                </a:lnTo>
                <a:lnTo>
                  <a:pt x="1119018" y="18124"/>
                </a:lnTo>
                <a:lnTo>
                  <a:pt x="1117172" y="18156"/>
                </a:lnTo>
                <a:lnTo>
                  <a:pt x="1115802" y="16254"/>
                </a:lnTo>
                <a:lnTo>
                  <a:pt x="1110585" y="12251"/>
                </a:lnTo>
                <a:lnTo>
                  <a:pt x="1109094" y="12138"/>
                </a:lnTo>
                <a:lnTo>
                  <a:pt x="1105121" y="12901"/>
                </a:lnTo>
                <a:lnTo>
                  <a:pt x="1104232" y="12766"/>
                </a:lnTo>
                <a:lnTo>
                  <a:pt x="1103200" y="12145"/>
                </a:lnTo>
                <a:lnTo>
                  <a:pt x="1100563" y="9431"/>
                </a:lnTo>
                <a:lnTo>
                  <a:pt x="1096131" y="9221"/>
                </a:lnTo>
                <a:lnTo>
                  <a:pt x="1092214" y="7510"/>
                </a:lnTo>
                <a:lnTo>
                  <a:pt x="1091152" y="6158"/>
                </a:lnTo>
                <a:lnTo>
                  <a:pt x="1087486" y="3360"/>
                </a:lnTo>
                <a:lnTo>
                  <a:pt x="1086324" y="3159"/>
                </a:lnTo>
                <a:lnTo>
                  <a:pt x="1081083" y="3104"/>
                </a:lnTo>
                <a:lnTo>
                  <a:pt x="1078711" y="3359"/>
                </a:lnTo>
                <a:lnTo>
                  <a:pt x="1076236" y="2225"/>
                </a:lnTo>
                <a:lnTo>
                  <a:pt x="1075002" y="2063"/>
                </a:lnTo>
                <a:lnTo>
                  <a:pt x="1071986" y="2346"/>
                </a:lnTo>
                <a:lnTo>
                  <a:pt x="1070536" y="443"/>
                </a:lnTo>
                <a:lnTo>
                  <a:pt x="1069612" y="0"/>
                </a:lnTo>
                <a:lnTo>
                  <a:pt x="1069048" y="38"/>
                </a:lnTo>
                <a:lnTo>
                  <a:pt x="1067117" y="1087"/>
                </a:lnTo>
                <a:lnTo>
                  <a:pt x="1065174" y="1568"/>
                </a:lnTo>
                <a:lnTo>
                  <a:pt x="1064206" y="2496"/>
                </a:lnTo>
                <a:lnTo>
                  <a:pt x="1063293" y="4213"/>
                </a:lnTo>
                <a:lnTo>
                  <a:pt x="1062305" y="4770"/>
                </a:lnTo>
                <a:lnTo>
                  <a:pt x="1061029" y="4512"/>
                </a:lnTo>
                <a:lnTo>
                  <a:pt x="1059001" y="2622"/>
                </a:lnTo>
                <a:lnTo>
                  <a:pt x="1057771" y="2166"/>
                </a:lnTo>
                <a:lnTo>
                  <a:pt x="1056937" y="2368"/>
                </a:lnTo>
                <a:lnTo>
                  <a:pt x="1055006" y="3536"/>
                </a:lnTo>
                <a:lnTo>
                  <a:pt x="1051412" y="3873"/>
                </a:lnTo>
                <a:lnTo>
                  <a:pt x="1050821" y="4264"/>
                </a:lnTo>
                <a:lnTo>
                  <a:pt x="1050603" y="4782"/>
                </a:lnTo>
                <a:lnTo>
                  <a:pt x="1050633" y="6756"/>
                </a:lnTo>
                <a:lnTo>
                  <a:pt x="1050122" y="7577"/>
                </a:lnTo>
                <a:lnTo>
                  <a:pt x="1049543" y="7983"/>
                </a:lnTo>
                <a:lnTo>
                  <a:pt x="1046915" y="7700"/>
                </a:lnTo>
                <a:lnTo>
                  <a:pt x="1045134" y="6838"/>
                </a:lnTo>
                <a:lnTo>
                  <a:pt x="1041901" y="5783"/>
                </a:lnTo>
                <a:lnTo>
                  <a:pt x="1039795" y="5675"/>
                </a:lnTo>
                <a:lnTo>
                  <a:pt x="1032485" y="6888"/>
                </a:lnTo>
                <a:lnTo>
                  <a:pt x="1031361" y="7368"/>
                </a:lnTo>
                <a:lnTo>
                  <a:pt x="1030749" y="8188"/>
                </a:lnTo>
                <a:lnTo>
                  <a:pt x="1029721" y="8301"/>
                </a:lnTo>
                <a:lnTo>
                  <a:pt x="1027591" y="9530"/>
                </a:lnTo>
                <a:lnTo>
                  <a:pt x="1024067" y="10631"/>
                </a:lnTo>
                <a:lnTo>
                  <a:pt x="1022527" y="10326"/>
                </a:lnTo>
                <a:lnTo>
                  <a:pt x="1022081" y="9544"/>
                </a:lnTo>
                <a:lnTo>
                  <a:pt x="1021600" y="9427"/>
                </a:lnTo>
                <a:lnTo>
                  <a:pt x="1020568" y="10937"/>
                </a:lnTo>
                <a:lnTo>
                  <a:pt x="1019783" y="11337"/>
                </a:lnTo>
                <a:lnTo>
                  <a:pt x="1019297" y="11227"/>
                </a:lnTo>
                <a:lnTo>
                  <a:pt x="1018629" y="10558"/>
                </a:lnTo>
                <a:lnTo>
                  <a:pt x="1018164" y="8708"/>
                </a:lnTo>
                <a:lnTo>
                  <a:pt x="1017637" y="8340"/>
                </a:lnTo>
                <a:lnTo>
                  <a:pt x="1015870" y="8495"/>
                </a:lnTo>
                <a:lnTo>
                  <a:pt x="1014382" y="8057"/>
                </a:lnTo>
                <a:lnTo>
                  <a:pt x="1013082" y="8359"/>
                </a:lnTo>
                <a:lnTo>
                  <a:pt x="1012048" y="8002"/>
                </a:lnTo>
                <a:lnTo>
                  <a:pt x="1010931" y="9038"/>
                </a:lnTo>
                <a:lnTo>
                  <a:pt x="1010006" y="9096"/>
                </a:lnTo>
                <a:lnTo>
                  <a:pt x="1009229" y="8448"/>
                </a:lnTo>
                <a:lnTo>
                  <a:pt x="1007941" y="9062"/>
                </a:lnTo>
                <a:lnTo>
                  <a:pt x="1005012" y="7056"/>
                </a:lnTo>
                <a:lnTo>
                  <a:pt x="1003285" y="6505"/>
                </a:lnTo>
                <a:lnTo>
                  <a:pt x="1001948" y="6351"/>
                </a:lnTo>
                <a:lnTo>
                  <a:pt x="1000891" y="6943"/>
                </a:lnTo>
                <a:lnTo>
                  <a:pt x="998805" y="7106"/>
                </a:lnTo>
                <a:lnTo>
                  <a:pt x="997689" y="7465"/>
                </a:lnTo>
                <a:lnTo>
                  <a:pt x="997138" y="8047"/>
                </a:lnTo>
                <a:lnTo>
                  <a:pt x="996083" y="8567"/>
                </a:lnTo>
                <a:lnTo>
                  <a:pt x="995112" y="9824"/>
                </a:lnTo>
                <a:lnTo>
                  <a:pt x="993803" y="10889"/>
                </a:lnTo>
                <a:lnTo>
                  <a:pt x="992127" y="11976"/>
                </a:lnTo>
                <a:lnTo>
                  <a:pt x="991446" y="12179"/>
                </a:lnTo>
                <a:lnTo>
                  <a:pt x="990246" y="12266"/>
                </a:lnTo>
                <a:lnTo>
                  <a:pt x="988719" y="11746"/>
                </a:lnTo>
                <a:lnTo>
                  <a:pt x="986954" y="11836"/>
                </a:lnTo>
                <a:lnTo>
                  <a:pt x="984845" y="11429"/>
                </a:lnTo>
                <a:lnTo>
                  <a:pt x="981483" y="12659"/>
                </a:lnTo>
                <a:lnTo>
                  <a:pt x="980701" y="12726"/>
                </a:lnTo>
                <a:lnTo>
                  <a:pt x="979205" y="12199"/>
                </a:lnTo>
                <a:lnTo>
                  <a:pt x="975749" y="12249"/>
                </a:lnTo>
                <a:lnTo>
                  <a:pt x="975207" y="11857"/>
                </a:lnTo>
                <a:lnTo>
                  <a:pt x="973905" y="11713"/>
                </a:lnTo>
                <a:lnTo>
                  <a:pt x="972942" y="12427"/>
                </a:lnTo>
                <a:lnTo>
                  <a:pt x="972608" y="13670"/>
                </a:lnTo>
                <a:lnTo>
                  <a:pt x="972294" y="13757"/>
                </a:lnTo>
                <a:lnTo>
                  <a:pt x="971226" y="13249"/>
                </a:lnTo>
                <a:lnTo>
                  <a:pt x="970475" y="13839"/>
                </a:lnTo>
                <a:lnTo>
                  <a:pt x="970093" y="15157"/>
                </a:lnTo>
                <a:lnTo>
                  <a:pt x="970140" y="18283"/>
                </a:lnTo>
                <a:lnTo>
                  <a:pt x="968760" y="19170"/>
                </a:lnTo>
                <a:lnTo>
                  <a:pt x="968382" y="21162"/>
                </a:lnTo>
                <a:lnTo>
                  <a:pt x="967389" y="22076"/>
                </a:lnTo>
                <a:lnTo>
                  <a:pt x="965165" y="22785"/>
                </a:lnTo>
                <a:lnTo>
                  <a:pt x="964447" y="23767"/>
                </a:lnTo>
                <a:lnTo>
                  <a:pt x="964462" y="24600"/>
                </a:lnTo>
                <a:lnTo>
                  <a:pt x="964168" y="25274"/>
                </a:lnTo>
                <a:lnTo>
                  <a:pt x="963007" y="25987"/>
                </a:lnTo>
                <a:lnTo>
                  <a:pt x="962635" y="26490"/>
                </a:lnTo>
                <a:lnTo>
                  <a:pt x="961982" y="29869"/>
                </a:lnTo>
                <a:lnTo>
                  <a:pt x="962157" y="31326"/>
                </a:lnTo>
                <a:lnTo>
                  <a:pt x="962019" y="32901"/>
                </a:lnTo>
                <a:lnTo>
                  <a:pt x="962817" y="34614"/>
                </a:lnTo>
                <a:lnTo>
                  <a:pt x="963198" y="36371"/>
                </a:lnTo>
                <a:lnTo>
                  <a:pt x="963096" y="37846"/>
                </a:lnTo>
                <a:lnTo>
                  <a:pt x="962481" y="39008"/>
                </a:lnTo>
                <a:lnTo>
                  <a:pt x="960053" y="42216"/>
                </a:lnTo>
                <a:lnTo>
                  <a:pt x="959807" y="44095"/>
                </a:lnTo>
                <a:lnTo>
                  <a:pt x="958731" y="45826"/>
                </a:lnTo>
                <a:lnTo>
                  <a:pt x="958681" y="46776"/>
                </a:lnTo>
                <a:lnTo>
                  <a:pt x="957069" y="48316"/>
                </a:lnTo>
                <a:lnTo>
                  <a:pt x="955335" y="50795"/>
                </a:lnTo>
                <a:lnTo>
                  <a:pt x="954408" y="51443"/>
                </a:lnTo>
                <a:lnTo>
                  <a:pt x="953557" y="51462"/>
                </a:lnTo>
                <a:lnTo>
                  <a:pt x="951676" y="50017"/>
                </a:lnTo>
                <a:lnTo>
                  <a:pt x="949754" y="49550"/>
                </a:lnTo>
                <a:lnTo>
                  <a:pt x="948874" y="49078"/>
                </a:lnTo>
                <a:lnTo>
                  <a:pt x="947032" y="49005"/>
                </a:lnTo>
                <a:lnTo>
                  <a:pt x="945055" y="49512"/>
                </a:lnTo>
                <a:lnTo>
                  <a:pt x="941387" y="51146"/>
                </a:lnTo>
                <a:lnTo>
                  <a:pt x="940952" y="51600"/>
                </a:lnTo>
                <a:lnTo>
                  <a:pt x="940802" y="52595"/>
                </a:lnTo>
                <a:lnTo>
                  <a:pt x="941494" y="54121"/>
                </a:lnTo>
                <a:lnTo>
                  <a:pt x="941389" y="54949"/>
                </a:lnTo>
                <a:lnTo>
                  <a:pt x="941048" y="55497"/>
                </a:lnTo>
                <a:lnTo>
                  <a:pt x="934731" y="56648"/>
                </a:lnTo>
                <a:lnTo>
                  <a:pt x="932579" y="57286"/>
                </a:lnTo>
                <a:lnTo>
                  <a:pt x="931487" y="57209"/>
                </a:lnTo>
                <a:lnTo>
                  <a:pt x="930124" y="57616"/>
                </a:lnTo>
                <a:lnTo>
                  <a:pt x="926625" y="57739"/>
                </a:lnTo>
                <a:lnTo>
                  <a:pt x="924262" y="58896"/>
                </a:lnTo>
                <a:lnTo>
                  <a:pt x="922012" y="59501"/>
                </a:lnTo>
                <a:lnTo>
                  <a:pt x="920987" y="60223"/>
                </a:lnTo>
                <a:lnTo>
                  <a:pt x="920860" y="61168"/>
                </a:lnTo>
                <a:lnTo>
                  <a:pt x="918883" y="62291"/>
                </a:lnTo>
                <a:lnTo>
                  <a:pt x="917411" y="61986"/>
                </a:lnTo>
                <a:lnTo>
                  <a:pt x="916112" y="62401"/>
                </a:lnTo>
                <a:lnTo>
                  <a:pt x="915240" y="63097"/>
                </a:lnTo>
                <a:lnTo>
                  <a:pt x="914258" y="64598"/>
                </a:lnTo>
                <a:lnTo>
                  <a:pt x="911645" y="66118"/>
                </a:lnTo>
                <a:lnTo>
                  <a:pt x="907975" y="66745"/>
                </a:lnTo>
                <a:lnTo>
                  <a:pt x="901553" y="66119"/>
                </a:lnTo>
                <a:lnTo>
                  <a:pt x="899804" y="66267"/>
                </a:lnTo>
                <a:lnTo>
                  <a:pt x="899342" y="66448"/>
                </a:lnTo>
                <a:lnTo>
                  <a:pt x="896324" y="69075"/>
                </a:lnTo>
                <a:lnTo>
                  <a:pt x="894928" y="69525"/>
                </a:lnTo>
                <a:lnTo>
                  <a:pt x="893471" y="70433"/>
                </a:lnTo>
                <a:lnTo>
                  <a:pt x="891236" y="70657"/>
                </a:lnTo>
                <a:lnTo>
                  <a:pt x="889391" y="68857"/>
                </a:lnTo>
                <a:lnTo>
                  <a:pt x="886740" y="67532"/>
                </a:lnTo>
                <a:lnTo>
                  <a:pt x="883461" y="67726"/>
                </a:lnTo>
                <a:lnTo>
                  <a:pt x="882276" y="67163"/>
                </a:lnTo>
                <a:lnTo>
                  <a:pt x="881187" y="67065"/>
                </a:lnTo>
                <a:lnTo>
                  <a:pt x="878150" y="67656"/>
                </a:lnTo>
                <a:lnTo>
                  <a:pt x="875557" y="67011"/>
                </a:lnTo>
                <a:lnTo>
                  <a:pt x="873512" y="67093"/>
                </a:lnTo>
                <a:lnTo>
                  <a:pt x="872065" y="66857"/>
                </a:lnTo>
                <a:lnTo>
                  <a:pt x="869472" y="67400"/>
                </a:lnTo>
                <a:lnTo>
                  <a:pt x="866617" y="67126"/>
                </a:lnTo>
                <a:lnTo>
                  <a:pt x="865616" y="67605"/>
                </a:lnTo>
                <a:lnTo>
                  <a:pt x="864748" y="69530"/>
                </a:lnTo>
                <a:lnTo>
                  <a:pt x="863793" y="70656"/>
                </a:lnTo>
                <a:lnTo>
                  <a:pt x="860870" y="72669"/>
                </a:lnTo>
                <a:lnTo>
                  <a:pt x="860004" y="73114"/>
                </a:lnTo>
                <a:lnTo>
                  <a:pt x="858955" y="73004"/>
                </a:lnTo>
                <a:lnTo>
                  <a:pt x="857768" y="73568"/>
                </a:lnTo>
                <a:lnTo>
                  <a:pt x="855808" y="73950"/>
                </a:lnTo>
                <a:lnTo>
                  <a:pt x="855089" y="74979"/>
                </a:lnTo>
                <a:lnTo>
                  <a:pt x="854606" y="76815"/>
                </a:lnTo>
                <a:lnTo>
                  <a:pt x="853999" y="77841"/>
                </a:lnTo>
                <a:lnTo>
                  <a:pt x="853177" y="78427"/>
                </a:lnTo>
                <a:lnTo>
                  <a:pt x="852423" y="78630"/>
                </a:lnTo>
                <a:lnTo>
                  <a:pt x="850771" y="80637"/>
                </a:lnTo>
                <a:lnTo>
                  <a:pt x="849237" y="80719"/>
                </a:lnTo>
                <a:lnTo>
                  <a:pt x="847615" y="81237"/>
                </a:lnTo>
                <a:lnTo>
                  <a:pt x="846546" y="81897"/>
                </a:lnTo>
                <a:lnTo>
                  <a:pt x="845083" y="81833"/>
                </a:lnTo>
                <a:lnTo>
                  <a:pt x="843235" y="83972"/>
                </a:lnTo>
                <a:lnTo>
                  <a:pt x="840848" y="85697"/>
                </a:lnTo>
                <a:lnTo>
                  <a:pt x="840166" y="86825"/>
                </a:lnTo>
                <a:lnTo>
                  <a:pt x="837905" y="89419"/>
                </a:lnTo>
                <a:lnTo>
                  <a:pt x="837140" y="90707"/>
                </a:lnTo>
                <a:lnTo>
                  <a:pt x="836977" y="91484"/>
                </a:lnTo>
                <a:lnTo>
                  <a:pt x="837746" y="94049"/>
                </a:lnTo>
                <a:lnTo>
                  <a:pt x="837810" y="95420"/>
                </a:lnTo>
                <a:lnTo>
                  <a:pt x="837496" y="96701"/>
                </a:lnTo>
                <a:lnTo>
                  <a:pt x="836559" y="97499"/>
                </a:lnTo>
                <a:lnTo>
                  <a:pt x="835698" y="98924"/>
                </a:lnTo>
                <a:lnTo>
                  <a:pt x="834138" y="100113"/>
                </a:lnTo>
                <a:lnTo>
                  <a:pt x="831125" y="101263"/>
                </a:lnTo>
                <a:lnTo>
                  <a:pt x="829329" y="103848"/>
                </a:lnTo>
                <a:lnTo>
                  <a:pt x="826942" y="105966"/>
                </a:lnTo>
                <a:lnTo>
                  <a:pt x="825064" y="106491"/>
                </a:lnTo>
                <a:lnTo>
                  <a:pt x="823679" y="107294"/>
                </a:lnTo>
                <a:lnTo>
                  <a:pt x="822785" y="108183"/>
                </a:lnTo>
                <a:lnTo>
                  <a:pt x="822211" y="108352"/>
                </a:lnTo>
                <a:lnTo>
                  <a:pt x="820986" y="108146"/>
                </a:lnTo>
                <a:lnTo>
                  <a:pt x="819542" y="108404"/>
                </a:lnTo>
                <a:lnTo>
                  <a:pt x="818703" y="108959"/>
                </a:lnTo>
                <a:lnTo>
                  <a:pt x="818331" y="110500"/>
                </a:lnTo>
                <a:lnTo>
                  <a:pt x="819519" y="113515"/>
                </a:lnTo>
                <a:lnTo>
                  <a:pt x="819029" y="115362"/>
                </a:lnTo>
                <a:lnTo>
                  <a:pt x="819851" y="116669"/>
                </a:lnTo>
                <a:lnTo>
                  <a:pt x="820030" y="117486"/>
                </a:lnTo>
                <a:lnTo>
                  <a:pt x="819811" y="118214"/>
                </a:lnTo>
                <a:lnTo>
                  <a:pt x="819102" y="118857"/>
                </a:lnTo>
                <a:lnTo>
                  <a:pt x="819099" y="119831"/>
                </a:lnTo>
                <a:lnTo>
                  <a:pt x="818778" y="120595"/>
                </a:lnTo>
                <a:lnTo>
                  <a:pt x="817756" y="122071"/>
                </a:lnTo>
                <a:lnTo>
                  <a:pt x="815788" y="123213"/>
                </a:lnTo>
                <a:lnTo>
                  <a:pt x="814123" y="124982"/>
                </a:lnTo>
                <a:lnTo>
                  <a:pt x="811012" y="125960"/>
                </a:lnTo>
                <a:lnTo>
                  <a:pt x="808712" y="127757"/>
                </a:lnTo>
                <a:lnTo>
                  <a:pt x="806760" y="128691"/>
                </a:lnTo>
                <a:lnTo>
                  <a:pt x="805751" y="129666"/>
                </a:lnTo>
                <a:lnTo>
                  <a:pt x="804015" y="129706"/>
                </a:lnTo>
                <a:lnTo>
                  <a:pt x="803606" y="129534"/>
                </a:lnTo>
                <a:lnTo>
                  <a:pt x="803127" y="128808"/>
                </a:lnTo>
                <a:lnTo>
                  <a:pt x="802728" y="128883"/>
                </a:lnTo>
                <a:lnTo>
                  <a:pt x="802035" y="129901"/>
                </a:lnTo>
                <a:lnTo>
                  <a:pt x="802003" y="130392"/>
                </a:lnTo>
                <a:lnTo>
                  <a:pt x="802744" y="132812"/>
                </a:lnTo>
                <a:lnTo>
                  <a:pt x="803024" y="135226"/>
                </a:lnTo>
                <a:lnTo>
                  <a:pt x="802808" y="136172"/>
                </a:lnTo>
                <a:lnTo>
                  <a:pt x="802266" y="136877"/>
                </a:lnTo>
                <a:lnTo>
                  <a:pt x="802138" y="138275"/>
                </a:lnTo>
                <a:lnTo>
                  <a:pt x="802975" y="140734"/>
                </a:lnTo>
                <a:lnTo>
                  <a:pt x="803008" y="142058"/>
                </a:lnTo>
                <a:lnTo>
                  <a:pt x="801807" y="144578"/>
                </a:lnTo>
                <a:lnTo>
                  <a:pt x="800502" y="145493"/>
                </a:lnTo>
                <a:lnTo>
                  <a:pt x="799322" y="147260"/>
                </a:lnTo>
                <a:lnTo>
                  <a:pt x="798672" y="147503"/>
                </a:lnTo>
                <a:lnTo>
                  <a:pt x="797786" y="148351"/>
                </a:lnTo>
                <a:lnTo>
                  <a:pt x="796171" y="148801"/>
                </a:lnTo>
                <a:lnTo>
                  <a:pt x="795428" y="149554"/>
                </a:lnTo>
                <a:lnTo>
                  <a:pt x="793398" y="150724"/>
                </a:lnTo>
                <a:lnTo>
                  <a:pt x="789115" y="152205"/>
                </a:lnTo>
                <a:lnTo>
                  <a:pt x="788178" y="153009"/>
                </a:lnTo>
                <a:lnTo>
                  <a:pt x="785839" y="153636"/>
                </a:lnTo>
                <a:lnTo>
                  <a:pt x="785196" y="153315"/>
                </a:lnTo>
                <a:lnTo>
                  <a:pt x="784305" y="153469"/>
                </a:lnTo>
                <a:lnTo>
                  <a:pt x="783856" y="152884"/>
                </a:lnTo>
                <a:lnTo>
                  <a:pt x="783001" y="153173"/>
                </a:lnTo>
                <a:lnTo>
                  <a:pt x="782682" y="153779"/>
                </a:lnTo>
                <a:lnTo>
                  <a:pt x="782851" y="154593"/>
                </a:lnTo>
                <a:lnTo>
                  <a:pt x="783700" y="155354"/>
                </a:lnTo>
                <a:lnTo>
                  <a:pt x="783765" y="156213"/>
                </a:lnTo>
                <a:lnTo>
                  <a:pt x="783595" y="156751"/>
                </a:lnTo>
                <a:lnTo>
                  <a:pt x="782624" y="157116"/>
                </a:lnTo>
                <a:lnTo>
                  <a:pt x="782254" y="157738"/>
                </a:lnTo>
                <a:lnTo>
                  <a:pt x="781822" y="157952"/>
                </a:lnTo>
                <a:lnTo>
                  <a:pt x="779806" y="158211"/>
                </a:lnTo>
                <a:lnTo>
                  <a:pt x="779377" y="158848"/>
                </a:lnTo>
                <a:lnTo>
                  <a:pt x="778846" y="158770"/>
                </a:lnTo>
                <a:lnTo>
                  <a:pt x="777966" y="159095"/>
                </a:lnTo>
                <a:lnTo>
                  <a:pt x="777649" y="158695"/>
                </a:lnTo>
                <a:lnTo>
                  <a:pt x="777830" y="157831"/>
                </a:lnTo>
                <a:lnTo>
                  <a:pt x="777483" y="157223"/>
                </a:lnTo>
                <a:lnTo>
                  <a:pt x="776886" y="157055"/>
                </a:lnTo>
                <a:lnTo>
                  <a:pt x="775639" y="157573"/>
                </a:lnTo>
                <a:lnTo>
                  <a:pt x="775437" y="158928"/>
                </a:lnTo>
                <a:lnTo>
                  <a:pt x="776315" y="159534"/>
                </a:lnTo>
                <a:lnTo>
                  <a:pt x="778140" y="161501"/>
                </a:lnTo>
                <a:lnTo>
                  <a:pt x="778458" y="162669"/>
                </a:lnTo>
                <a:lnTo>
                  <a:pt x="778371" y="163667"/>
                </a:lnTo>
                <a:lnTo>
                  <a:pt x="777700" y="164667"/>
                </a:lnTo>
                <a:lnTo>
                  <a:pt x="775972" y="165209"/>
                </a:lnTo>
                <a:lnTo>
                  <a:pt x="775771" y="165892"/>
                </a:lnTo>
                <a:lnTo>
                  <a:pt x="774411" y="166839"/>
                </a:lnTo>
                <a:lnTo>
                  <a:pt x="774390" y="167723"/>
                </a:lnTo>
                <a:lnTo>
                  <a:pt x="773847" y="168199"/>
                </a:lnTo>
                <a:lnTo>
                  <a:pt x="773521" y="168998"/>
                </a:lnTo>
                <a:lnTo>
                  <a:pt x="773009" y="169308"/>
                </a:lnTo>
                <a:lnTo>
                  <a:pt x="773169" y="171541"/>
                </a:lnTo>
                <a:lnTo>
                  <a:pt x="771534" y="173343"/>
                </a:lnTo>
                <a:lnTo>
                  <a:pt x="770567" y="173788"/>
                </a:lnTo>
                <a:lnTo>
                  <a:pt x="769140" y="173694"/>
                </a:lnTo>
                <a:lnTo>
                  <a:pt x="768864" y="173060"/>
                </a:lnTo>
                <a:lnTo>
                  <a:pt x="768222" y="173280"/>
                </a:lnTo>
                <a:lnTo>
                  <a:pt x="767325" y="172954"/>
                </a:lnTo>
                <a:lnTo>
                  <a:pt x="766993" y="172523"/>
                </a:lnTo>
                <a:lnTo>
                  <a:pt x="766937" y="171535"/>
                </a:lnTo>
                <a:lnTo>
                  <a:pt x="765839" y="168823"/>
                </a:lnTo>
                <a:lnTo>
                  <a:pt x="765258" y="168197"/>
                </a:lnTo>
                <a:lnTo>
                  <a:pt x="763664" y="167538"/>
                </a:lnTo>
                <a:lnTo>
                  <a:pt x="761012" y="168181"/>
                </a:lnTo>
                <a:lnTo>
                  <a:pt x="760343" y="168946"/>
                </a:lnTo>
                <a:lnTo>
                  <a:pt x="760198" y="169917"/>
                </a:lnTo>
                <a:lnTo>
                  <a:pt x="759160" y="170958"/>
                </a:lnTo>
                <a:lnTo>
                  <a:pt x="759173" y="171468"/>
                </a:lnTo>
                <a:lnTo>
                  <a:pt x="758908" y="171711"/>
                </a:lnTo>
                <a:lnTo>
                  <a:pt x="757946" y="171642"/>
                </a:lnTo>
                <a:lnTo>
                  <a:pt x="757498" y="172262"/>
                </a:lnTo>
                <a:lnTo>
                  <a:pt x="756172" y="172081"/>
                </a:lnTo>
                <a:lnTo>
                  <a:pt x="755896" y="172291"/>
                </a:lnTo>
                <a:lnTo>
                  <a:pt x="754801" y="171861"/>
                </a:lnTo>
                <a:lnTo>
                  <a:pt x="754464" y="171450"/>
                </a:lnTo>
                <a:lnTo>
                  <a:pt x="753684" y="171339"/>
                </a:lnTo>
                <a:lnTo>
                  <a:pt x="753217" y="170926"/>
                </a:lnTo>
                <a:lnTo>
                  <a:pt x="751963" y="171155"/>
                </a:lnTo>
                <a:lnTo>
                  <a:pt x="750708" y="170502"/>
                </a:lnTo>
                <a:lnTo>
                  <a:pt x="750355" y="170548"/>
                </a:lnTo>
                <a:lnTo>
                  <a:pt x="749639" y="171110"/>
                </a:lnTo>
                <a:lnTo>
                  <a:pt x="749333" y="173282"/>
                </a:lnTo>
                <a:lnTo>
                  <a:pt x="750067" y="175121"/>
                </a:lnTo>
                <a:lnTo>
                  <a:pt x="750064" y="175644"/>
                </a:lnTo>
                <a:lnTo>
                  <a:pt x="748559" y="177206"/>
                </a:lnTo>
                <a:lnTo>
                  <a:pt x="746916" y="177389"/>
                </a:lnTo>
                <a:lnTo>
                  <a:pt x="746197" y="177811"/>
                </a:lnTo>
                <a:lnTo>
                  <a:pt x="745697" y="178542"/>
                </a:lnTo>
                <a:lnTo>
                  <a:pt x="745850" y="179208"/>
                </a:lnTo>
                <a:lnTo>
                  <a:pt x="745694" y="179681"/>
                </a:lnTo>
                <a:lnTo>
                  <a:pt x="746162" y="181128"/>
                </a:lnTo>
                <a:lnTo>
                  <a:pt x="745563" y="182678"/>
                </a:lnTo>
                <a:lnTo>
                  <a:pt x="745630" y="183304"/>
                </a:lnTo>
                <a:lnTo>
                  <a:pt x="744939" y="184059"/>
                </a:lnTo>
                <a:lnTo>
                  <a:pt x="744871" y="184730"/>
                </a:lnTo>
                <a:lnTo>
                  <a:pt x="744184" y="185178"/>
                </a:lnTo>
                <a:lnTo>
                  <a:pt x="743598" y="186668"/>
                </a:lnTo>
                <a:lnTo>
                  <a:pt x="745173" y="188532"/>
                </a:lnTo>
                <a:lnTo>
                  <a:pt x="744566" y="191013"/>
                </a:lnTo>
                <a:lnTo>
                  <a:pt x="743890" y="192390"/>
                </a:lnTo>
                <a:lnTo>
                  <a:pt x="743078" y="192533"/>
                </a:lnTo>
                <a:lnTo>
                  <a:pt x="742512" y="193608"/>
                </a:lnTo>
                <a:lnTo>
                  <a:pt x="741602" y="193772"/>
                </a:lnTo>
                <a:lnTo>
                  <a:pt x="740620" y="194874"/>
                </a:lnTo>
                <a:lnTo>
                  <a:pt x="740142" y="194995"/>
                </a:lnTo>
                <a:lnTo>
                  <a:pt x="739822" y="196623"/>
                </a:lnTo>
                <a:lnTo>
                  <a:pt x="739162" y="196954"/>
                </a:lnTo>
                <a:lnTo>
                  <a:pt x="738579" y="197761"/>
                </a:lnTo>
                <a:lnTo>
                  <a:pt x="738577" y="198167"/>
                </a:lnTo>
                <a:lnTo>
                  <a:pt x="737715" y="198477"/>
                </a:lnTo>
                <a:lnTo>
                  <a:pt x="737046" y="198165"/>
                </a:lnTo>
                <a:lnTo>
                  <a:pt x="736319" y="198167"/>
                </a:lnTo>
                <a:lnTo>
                  <a:pt x="734881" y="198550"/>
                </a:lnTo>
                <a:lnTo>
                  <a:pt x="733541" y="197869"/>
                </a:lnTo>
                <a:lnTo>
                  <a:pt x="733314" y="197897"/>
                </a:lnTo>
                <a:lnTo>
                  <a:pt x="733174" y="198351"/>
                </a:lnTo>
                <a:lnTo>
                  <a:pt x="731592" y="197923"/>
                </a:lnTo>
                <a:lnTo>
                  <a:pt x="731250" y="198154"/>
                </a:lnTo>
                <a:lnTo>
                  <a:pt x="730244" y="198215"/>
                </a:lnTo>
                <a:lnTo>
                  <a:pt x="729807" y="197866"/>
                </a:lnTo>
                <a:lnTo>
                  <a:pt x="729226" y="198170"/>
                </a:lnTo>
                <a:lnTo>
                  <a:pt x="727879" y="197718"/>
                </a:lnTo>
                <a:lnTo>
                  <a:pt x="727405" y="198023"/>
                </a:lnTo>
                <a:lnTo>
                  <a:pt x="726340" y="198131"/>
                </a:lnTo>
                <a:lnTo>
                  <a:pt x="725375" y="197804"/>
                </a:lnTo>
                <a:lnTo>
                  <a:pt x="725266" y="199044"/>
                </a:lnTo>
                <a:lnTo>
                  <a:pt x="724268" y="199964"/>
                </a:lnTo>
                <a:lnTo>
                  <a:pt x="723968" y="202428"/>
                </a:lnTo>
                <a:lnTo>
                  <a:pt x="723548" y="202990"/>
                </a:lnTo>
                <a:lnTo>
                  <a:pt x="723176" y="204358"/>
                </a:lnTo>
                <a:lnTo>
                  <a:pt x="722184" y="204640"/>
                </a:lnTo>
                <a:lnTo>
                  <a:pt x="720384" y="204236"/>
                </a:lnTo>
                <a:lnTo>
                  <a:pt x="719670" y="203507"/>
                </a:lnTo>
                <a:lnTo>
                  <a:pt x="719082" y="202355"/>
                </a:lnTo>
                <a:lnTo>
                  <a:pt x="720494" y="200167"/>
                </a:lnTo>
                <a:lnTo>
                  <a:pt x="720565" y="198791"/>
                </a:lnTo>
                <a:lnTo>
                  <a:pt x="720243" y="198432"/>
                </a:lnTo>
                <a:lnTo>
                  <a:pt x="717083" y="198516"/>
                </a:lnTo>
                <a:lnTo>
                  <a:pt x="715470" y="199973"/>
                </a:lnTo>
                <a:lnTo>
                  <a:pt x="715378" y="200774"/>
                </a:lnTo>
                <a:lnTo>
                  <a:pt x="714794" y="201402"/>
                </a:lnTo>
                <a:lnTo>
                  <a:pt x="714768" y="201776"/>
                </a:lnTo>
                <a:lnTo>
                  <a:pt x="715957" y="203499"/>
                </a:lnTo>
                <a:lnTo>
                  <a:pt x="715170" y="203896"/>
                </a:lnTo>
                <a:lnTo>
                  <a:pt x="714935" y="204592"/>
                </a:lnTo>
                <a:lnTo>
                  <a:pt x="712466" y="204669"/>
                </a:lnTo>
                <a:lnTo>
                  <a:pt x="711173" y="204339"/>
                </a:lnTo>
                <a:lnTo>
                  <a:pt x="710952" y="203744"/>
                </a:lnTo>
                <a:lnTo>
                  <a:pt x="711341" y="203390"/>
                </a:lnTo>
                <a:lnTo>
                  <a:pt x="711653" y="202315"/>
                </a:lnTo>
                <a:lnTo>
                  <a:pt x="712261" y="201820"/>
                </a:lnTo>
                <a:lnTo>
                  <a:pt x="712146" y="200686"/>
                </a:lnTo>
                <a:lnTo>
                  <a:pt x="712372" y="200474"/>
                </a:lnTo>
                <a:lnTo>
                  <a:pt x="712329" y="200075"/>
                </a:lnTo>
                <a:lnTo>
                  <a:pt x="711776" y="199715"/>
                </a:lnTo>
                <a:lnTo>
                  <a:pt x="711143" y="199647"/>
                </a:lnTo>
                <a:lnTo>
                  <a:pt x="709336" y="200086"/>
                </a:lnTo>
                <a:lnTo>
                  <a:pt x="708233" y="200508"/>
                </a:lnTo>
                <a:lnTo>
                  <a:pt x="707518" y="201072"/>
                </a:lnTo>
                <a:lnTo>
                  <a:pt x="707458" y="202798"/>
                </a:lnTo>
                <a:lnTo>
                  <a:pt x="706706" y="203390"/>
                </a:lnTo>
                <a:lnTo>
                  <a:pt x="706111" y="204737"/>
                </a:lnTo>
                <a:lnTo>
                  <a:pt x="705553" y="205050"/>
                </a:lnTo>
                <a:lnTo>
                  <a:pt x="705401" y="205480"/>
                </a:lnTo>
                <a:lnTo>
                  <a:pt x="705975" y="205751"/>
                </a:lnTo>
                <a:lnTo>
                  <a:pt x="705567" y="206657"/>
                </a:lnTo>
                <a:lnTo>
                  <a:pt x="706144" y="207561"/>
                </a:lnTo>
                <a:lnTo>
                  <a:pt x="705153" y="207704"/>
                </a:lnTo>
                <a:lnTo>
                  <a:pt x="705566" y="208269"/>
                </a:lnTo>
                <a:lnTo>
                  <a:pt x="705233" y="208572"/>
                </a:lnTo>
                <a:lnTo>
                  <a:pt x="704841" y="208324"/>
                </a:lnTo>
                <a:lnTo>
                  <a:pt x="704379" y="208690"/>
                </a:lnTo>
                <a:lnTo>
                  <a:pt x="704411" y="209493"/>
                </a:lnTo>
                <a:lnTo>
                  <a:pt x="703909" y="210296"/>
                </a:lnTo>
                <a:lnTo>
                  <a:pt x="702752" y="209807"/>
                </a:lnTo>
                <a:lnTo>
                  <a:pt x="701643" y="210147"/>
                </a:lnTo>
                <a:lnTo>
                  <a:pt x="701116" y="211507"/>
                </a:lnTo>
                <a:lnTo>
                  <a:pt x="698494" y="212667"/>
                </a:lnTo>
                <a:lnTo>
                  <a:pt x="697947" y="212683"/>
                </a:lnTo>
                <a:lnTo>
                  <a:pt x="697463" y="211701"/>
                </a:lnTo>
                <a:lnTo>
                  <a:pt x="697197" y="211709"/>
                </a:lnTo>
                <a:lnTo>
                  <a:pt x="696662" y="212515"/>
                </a:lnTo>
                <a:lnTo>
                  <a:pt x="695355" y="212714"/>
                </a:lnTo>
                <a:lnTo>
                  <a:pt x="694763" y="213433"/>
                </a:lnTo>
                <a:lnTo>
                  <a:pt x="694201" y="213403"/>
                </a:lnTo>
                <a:lnTo>
                  <a:pt x="693781" y="213734"/>
                </a:lnTo>
                <a:lnTo>
                  <a:pt x="693616" y="215291"/>
                </a:lnTo>
                <a:lnTo>
                  <a:pt x="693283" y="215533"/>
                </a:lnTo>
                <a:lnTo>
                  <a:pt x="692246" y="215731"/>
                </a:lnTo>
                <a:lnTo>
                  <a:pt x="691843" y="215304"/>
                </a:lnTo>
                <a:lnTo>
                  <a:pt x="692329" y="213904"/>
                </a:lnTo>
                <a:lnTo>
                  <a:pt x="692216" y="213728"/>
                </a:lnTo>
                <a:lnTo>
                  <a:pt x="689648" y="214485"/>
                </a:lnTo>
                <a:lnTo>
                  <a:pt x="689324" y="214840"/>
                </a:lnTo>
                <a:lnTo>
                  <a:pt x="687049" y="215779"/>
                </a:lnTo>
                <a:lnTo>
                  <a:pt x="687247" y="218512"/>
                </a:lnTo>
                <a:lnTo>
                  <a:pt x="688105" y="218672"/>
                </a:lnTo>
                <a:lnTo>
                  <a:pt x="688545" y="219260"/>
                </a:lnTo>
                <a:lnTo>
                  <a:pt x="689520" y="219664"/>
                </a:lnTo>
                <a:lnTo>
                  <a:pt x="689785" y="220434"/>
                </a:lnTo>
                <a:lnTo>
                  <a:pt x="689713" y="220653"/>
                </a:lnTo>
                <a:lnTo>
                  <a:pt x="688863" y="220539"/>
                </a:lnTo>
                <a:lnTo>
                  <a:pt x="688408" y="220843"/>
                </a:lnTo>
                <a:lnTo>
                  <a:pt x="688260" y="221776"/>
                </a:lnTo>
                <a:lnTo>
                  <a:pt x="687645" y="221828"/>
                </a:lnTo>
                <a:lnTo>
                  <a:pt x="687158" y="221289"/>
                </a:lnTo>
                <a:lnTo>
                  <a:pt x="686863" y="221701"/>
                </a:lnTo>
                <a:lnTo>
                  <a:pt x="686315" y="221516"/>
                </a:lnTo>
                <a:lnTo>
                  <a:pt x="683904" y="219646"/>
                </a:lnTo>
                <a:lnTo>
                  <a:pt x="682981" y="220088"/>
                </a:lnTo>
                <a:lnTo>
                  <a:pt x="683162" y="220741"/>
                </a:lnTo>
                <a:lnTo>
                  <a:pt x="682729" y="222010"/>
                </a:lnTo>
                <a:lnTo>
                  <a:pt x="682001" y="222113"/>
                </a:lnTo>
                <a:lnTo>
                  <a:pt x="681867" y="221476"/>
                </a:lnTo>
                <a:lnTo>
                  <a:pt x="681469" y="221825"/>
                </a:lnTo>
                <a:lnTo>
                  <a:pt x="681229" y="221702"/>
                </a:lnTo>
                <a:lnTo>
                  <a:pt x="681173" y="220996"/>
                </a:lnTo>
                <a:lnTo>
                  <a:pt x="680202" y="219890"/>
                </a:lnTo>
                <a:lnTo>
                  <a:pt x="679560" y="220050"/>
                </a:lnTo>
                <a:lnTo>
                  <a:pt x="678851" y="219723"/>
                </a:lnTo>
                <a:lnTo>
                  <a:pt x="678271" y="219835"/>
                </a:lnTo>
                <a:lnTo>
                  <a:pt x="677972" y="220644"/>
                </a:lnTo>
                <a:lnTo>
                  <a:pt x="678631" y="220382"/>
                </a:lnTo>
                <a:lnTo>
                  <a:pt x="678920" y="220702"/>
                </a:lnTo>
                <a:lnTo>
                  <a:pt x="678189" y="221472"/>
                </a:lnTo>
                <a:lnTo>
                  <a:pt x="678134" y="223131"/>
                </a:lnTo>
                <a:lnTo>
                  <a:pt x="678934" y="224741"/>
                </a:lnTo>
                <a:lnTo>
                  <a:pt x="680207" y="224432"/>
                </a:lnTo>
                <a:lnTo>
                  <a:pt x="680428" y="225764"/>
                </a:lnTo>
                <a:lnTo>
                  <a:pt x="681135" y="227392"/>
                </a:lnTo>
                <a:lnTo>
                  <a:pt x="680819" y="227088"/>
                </a:lnTo>
                <a:lnTo>
                  <a:pt x="680531" y="227127"/>
                </a:lnTo>
                <a:lnTo>
                  <a:pt x="680522" y="227861"/>
                </a:lnTo>
                <a:lnTo>
                  <a:pt x="679748" y="228290"/>
                </a:lnTo>
                <a:lnTo>
                  <a:pt x="678996" y="227959"/>
                </a:lnTo>
                <a:lnTo>
                  <a:pt x="678582" y="228163"/>
                </a:lnTo>
                <a:lnTo>
                  <a:pt x="677343" y="228134"/>
                </a:lnTo>
                <a:lnTo>
                  <a:pt x="677546" y="227369"/>
                </a:lnTo>
                <a:lnTo>
                  <a:pt x="676524" y="227226"/>
                </a:lnTo>
                <a:lnTo>
                  <a:pt x="675440" y="226146"/>
                </a:lnTo>
                <a:lnTo>
                  <a:pt x="675402" y="226854"/>
                </a:lnTo>
                <a:lnTo>
                  <a:pt x="674821" y="227509"/>
                </a:lnTo>
                <a:lnTo>
                  <a:pt x="674339" y="227484"/>
                </a:lnTo>
                <a:lnTo>
                  <a:pt x="674026" y="226973"/>
                </a:lnTo>
                <a:lnTo>
                  <a:pt x="674044" y="228903"/>
                </a:lnTo>
                <a:lnTo>
                  <a:pt x="673758" y="229592"/>
                </a:lnTo>
                <a:lnTo>
                  <a:pt x="674057" y="230761"/>
                </a:lnTo>
                <a:lnTo>
                  <a:pt x="673565" y="231922"/>
                </a:lnTo>
                <a:lnTo>
                  <a:pt x="672679" y="232160"/>
                </a:lnTo>
                <a:lnTo>
                  <a:pt x="672672" y="232812"/>
                </a:lnTo>
                <a:lnTo>
                  <a:pt x="671817" y="232417"/>
                </a:lnTo>
                <a:lnTo>
                  <a:pt x="669931" y="232100"/>
                </a:lnTo>
                <a:lnTo>
                  <a:pt x="669605" y="232299"/>
                </a:lnTo>
                <a:lnTo>
                  <a:pt x="669610" y="233468"/>
                </a:lnTo>
                <a:lnTo>
                  <a:pt x="670425" y="233775"/>
                </a:lnTo>
                <a:lnTo>
                  <a:pt x="669643" y="234506"/>
                </a:lnTo>
                <a:lnTo>
                  <a:pt x="668665" y="234655"/>
                </a:lnTo>
                <a:lnTo>
                  <a:pt x="668275" y="234218"/>
                </a:lnTo>
                <a:lnTo>
                  <a:pt x="668531" y="233810"/>
                </a:lnTo>
                <a:lnTo>
                  <a:pt x="666514" y="234298"/>
                </a:lnTo>
                <a:lnTo>
                  <a:pt x="667036" y="236454"/>
                </a:lnTo>
                <a:lnTo>
                  <a:pt x="667321" y="236730"/>
                </a:lnTo>
                <a:lnTo>
                  <a:pt x="667908" y="236463"/>
                </a:lnTo>
                <a:lnTo>
                  <a:pt x="668065" y="237219"/>
                </a:lnTo>
                <a:lnTo>
                  <a:pt x="668725" y="237553"/>
                </a:lnTo>
                <a:lnTo>
                  <a:pt x="668866" y="238162"/>
                </a:lnTo>
                <a:lnTo>
                  <a:pt x="669746" y="239416"/>
                </a:lnTo>
                <a:lnTo>
                  <a:pt x="669384" y="240200"/>
                </a:lnTo>
                <a:lnTo>
                  <a:pt x="669740" y="241367"/>
                </a:lnTo>
                <a:lnTo>
                  <a:pt x="669185" y="241150"/>
                </a:lnTo>
                <a:lnTo>
                  <a:pt x="668719" y="241289"/>
                </a:lnTo>
                <a:lnTo>
                  <a:pt x="669159" y="241766"/>
                </a:lnTo>
                <a:lnTo>
                  <a:pt x="669186" y="242289"/>
                </a:lnTo>
                <a:lnTo>
                  <a:pt x="668554" y="242758"/>
                </a:lnTo>
                <a:lnTo>
                  <a:pt x="668083" y="243891"/>
                </a:lnTo>
                <a:lnTo>
                  <a:pt x="667131" y="243926"/>
                </a:lnTo>
                <a:lnTo>
                  <a:pt x="666268" y="244780"/>
                </a:lnTo>
                <a:lnTo>
                  <a:pt x="664239" y="245813"/>
                </a:lnTo>
                <a:lnTo>
                  <a:pt x="663081" y="245791"/>
                </a:lnTo>
                <a:lnTo>
                  <a:pt x="662057" y="244622"/>
                </a:lnTo>
                <a:lnTo>
                  <a:pt x="662672" y="243314"/>
                </a:lnTo>
                <a:lnTo>
                  <a:pt x="662931" y="241479"/>
                </a:lnTo>
                <a:lnTo>
                  <a:pt x="662381" y="241534"/>
                </a:lnTo>
                <a:lnTo>
                  <a:pt x="662076" y="242013"/>
                </a:lnTo>
                <a:lnTo>
                  <a:pt x="661382" y="241943"/>
                </a:lnTo>
                <a:lnTo>
                  <a:pt x="660588" y="241144"/>
                </a:lnTo>
                <a:lnTo>
                  <a:pt x="661344" y="240543"/>
                </a:lnTo>
                <a:lnTo>
                  <a:pt x="661314" y="239468"/>
                </a:lnTo>
                <a:lnTo>
                  <a:pt x="660361" y="239348"/>
                </a:lnTo>
                <a:lnTo>
                  <a:pt x="658991" y="238357"/>
                </a:lnTo>
                <a:lnTo>
                  <a:pt x="658644" y="239139"/>
                </a:lnTo>
                <a:lnTo>
                  <a:pt x="657837" y="239377"/>
                </a:lnTo>
                <a:lnTo>
                  <a:pt x="657332" y="240717"/>
                </a:lnTo>
                <a:lnTo>
                  <a:pt x="656728" y="240704"/>
                </a:lnTo>
                <a:lnTo>
                  <a:pt x="656937" y="241279"/>
                </a:lnTo>
                <a:lnTo>
                  <a:pt x="657506" y="241611"/>
                </a:lnTo>
                <a:lnTo>
                  <a:pt x="657762" y="242823"/>
                </a:lnTo>
                <a:lnTo>
                  <a:pt x="657610" y="243650"/>
                </a:lnTo>
                <a:lnTo>
                  <a:pt x="657233" y="243917"/>
                </a:lnTo>
                <a:lnTo>
                  <a:pt x="656995" y="244790"/>
                </a:lnTo>
                <a:lnTo>
                  <a:pt x="657683" y="246323"/>
                </a:lnTo>
                <a:lnTo>
                  <a:pt x="657623" y="246668"/>
                </a:lnTo>
                <a:lnTo>
                  <a:pt x="654145" y="247945"/>
                </a:lnTo>
                <a:lnTo>
                  <a:pt x="652864" y="248938"/>
                </a:lnTo>
                <a:lnTo>
                  <a:pt x="653226" y="249661"/>
                </a:lnTo>
                <a:lnTo>
                  <a:pt x="653334" y="250696"/>
                </a:lnTo>
                <a:lnTo>
                  <a:pt x="652680" y="251162"/>
                </a:lnTo>
                <a:lnTo>
                  <a:pt x="652398" y="252333"/>
                </a:lnTo>
                <a:lnTo>
                  <a:pt x="652714" y="253089"/>
                </a:lnTo>
                <a:lnTo>
                  <a:pt x="652114" y="253391"/>
                </a:lnTo>
                <a:lnTo>
                  <a:pt x="652118" y="254018"/>
                </a:lnTo>
                <a:lnTo>
                  <a:pt x="651804" y="254425"/>
                </a:lnTo>
                <a:lnTo>
                  <a:pt x="651784" y="255054"/>
                </a:lnTo>
                <a:lnTo>
                  <a:pt x="651295" y="256190"/>
                </a:lnTo>
                <a:lnTo>
                  <a:pt x="651878" y="257457"/>
                </a:lnTo>
                <a:lnTo>
                  <a:pt x="651465" y="258935"/>
                </a:lnTo>
                <a:lnTo>
                  <a:pt x="651855" y="259818"/>
                </a:lnTo>
                <a:lnTo>
                  <a:pt x="651593" y="260234"/>
                </a:lnTo>
                <a:lnTo>
                  <a:pt x="651610" y="261179"/>
                </a:lnTo>
                <a:lnTo>
                  <a:pt x="650611" y="262297"/>
                </a:lnTo>
                <a:lnTo>
                  <a:pt x="649729" y="263927"/>
                </a:lnTo>
                <a:lnTo>
                  <a:pt x="649934" y="265822"/>
                </a:lnTo>
                <a:lnTo>
                  <a:pt x="649255" y="267197"/>
                </a:lnTo>
                <a:lnTo>
                  <a:pt x="649188" y="268774"/>
                </a:lnTo>
                <a:lnTo>
                  <a:pt x="650049" y="269231"/>
                </a:lnTo>
                <a:lnTo>
                  <a:pt x="650695" y="269938"/>
                </a:lnTo>
                <a:lnTo>
                  <a:pt x="649469" y="271747"/>
                </a:lnTo>
                <a:lnTo>
                  <a:pt x="647778" y="272121"/>
                </a:lnTo>
                <a:lnTo>
                  <a:pt x="646622" y="273293"/>
                </a:lnTo>
                <a:lnTo>
                  <a:pt x="646848" y="274226"/>
                </a:lnTo>
                <a:lnTo>
                  <a:pt x="647328" y="274169"/>
                </a:lnTo>
                <a:lnTo>
                  <a:pt x="648255" y="274698"/>
                </a:lnTo>
                <a:lnTo>
                  <a:pt x="648892" y="274762"/>
                </a:lnTo>
                <a:lnTo>
                  <a:pt x="649438" y="275247"/>
                </a:lnTo>
                <a:lnTo>
                  <a:pt x="649863" y="275986"/>
                </a:lnTo>
                <a:lnTo>
                  <a:pt x="650047" y="277116"/>
                </a:lnTo>
                <a:lnTo>
                  <a:pt x="649648" y="277840"/>
                </a:lnTo>
                <a:lnTo>
                  <a:pt x="649019" y="278150"/>
                </a:lnTo>
                <a:lnTo>
                  <a:pt x="648130" y="279177"/>
                </a:lnTo>
                <a:lnTo>
                  <a:pt x="648218" y="279733"/>
                </a:lnTo>
                <a:lnTo>
                  <a:pt x="647879" y="280387"/>
                </a:lnTo>
                <a:lnTo>
                  <a:pt x="648042" y="281932"/>
                </a:lnTo>
                <a:lnTo>
                  <a:pt x="645769" y="285026"/>
                </a:lnTo>
                <a:lnTo>
                  <a:pt x="646333" y="287414"/>
                </a:lnTo>
                <a:lnTo>
                  <a:pt x="646359" y="290472"/>
                </a:lnTo>
                <a:lnTo>
                  <a:pt x="645526" y="291441"/>
                </a:lnTo>
                <a:lnTo>
                  <a:pt x="644705" y="291816"/>
                </a:lnTo>
                <a:lnTo>
                  <a:pt x="643657" y="293075"/>
                </a:lnTo>
                <a:lnTo>
                  <a:pt x="643077" y="295944"/>
                </a:lnTo>
                <a:lnTo>
                  <a:pt x="643323" y="297156"/>
                </a:lnTo>
                <a:lnTo>
                  <a:pt x="642979" y="297687"/>
                </a:lnTo>
                <a:lnTo>
                  <a:pt x="642889" y="298442"/>
                </a:lnTo>
                <a:lnTo>
                  <a:pt x="643232" y="299764"/>
                </a:lnTo>
                <a:lnTo>
                  <a:pt x="642716" y="302447"/>
                </a:lnTo>
                <a:lnTo>
                  <a:pt x="641876" y="303142"/>
                </a:lnTo>
                <a:lnTo>
                  <a:pt x="640392" y="305094"/>
                </a:lnTo>
                <a:lnTo>
                  <a:pt x="639601" y="306764"/>
                </a:lnTo>
                <a:lnTo>
                  <a:pt x="639521" y="309947"/>
                </a:lnTo>
                <a:lnTo>
                  <a:pt x="638863" y="312461"/>
                </a:lnTo>
                <a:lnTo>
                  <a:pt x="638380" y="313220"/>
                </a:lnTo>
                <a:lnTo>
                  <a:pt x="635564" y="314100"/>
                </a:lnTo>
                <a:lnTo>
                  <a:pt x="635094" y="315221"/>
                </a:lnTo>
                <a:lnTo>
                  <a:pt x="635681" y="316199"/>
                </a:lnTo>
                <a:lnTo>
                  <a:pt x="636169" y="318094"/>
                </a:lnTo>
                <a:lnTo>
                  <a:pt x="635249" y="320488"/>
                </a:lnTo>
                <a:lnTo>
                  <a:pt x="635957" y="321348"/>
                </a:lnTo>
                <a:lnTo>
                  <a:pt x="637159" y="321917"/>
                </a:lnTo>
                <a:lnTo>
                  <a:pt x="637837" y="324090"/>
                </a:lnTo>
                <a:lnTo>
                  <a:pt x="637758" y="324995"/>
                </a:lnTo>
                <a:lnTo>
                  <a:pt x="637323" y="325562"/>
                </a:lnTo>
                <a:lnTo>
                  <a:pt x="636648" y="325931"/>
                </a:lnTo>
                <a:lnTo>
                  <a:pt x="635742" y="326018"/>
                </a:lnTo>
                <a:lnTo>
                  <a:pt x="635575" y="327191"/>
                </a:lnTo>
                <a:lnTo>
                  <a:pt x="636032" y="327689"/>
                </a:lnTo>
                <a:lnTo>
                  <a:pt x="636182" y="329053"/>
                </a:lnTo>
                <a:lnTo>
                  <a:pt x="636657" y="329199"/>
                </a:lnTo>
                <a:lnTo>
                  <a:pt x="637227" y="328930"/>
                </a:lnTo>
                <a:lnTo>
                  <a:pt x="637871" y="329252"/>
                </a:lnTo>
                <a:lnTo>
                  <a:pt x="638087" y="328634"/>
                </a:lnTo>
                <a:lnTo>
                  <a:pt x="638396" y="328968"/>
                </a:lnTo>
                <a:lnTo>
                  <a:pt x="637911" y="329505"/>
                </a:lnTo>
                <a:lnTo>
                  <a:pt x="638021" y="330087"/>
                </a:lnTo>
                <a:lnTo>
                  <a:pt x="637669" y="330042"/>
                </a:lnTo>
                <a:lnTo>
                  <a:pt x="637784" y="330826"/>
                </a:lnTo>
                <a:lnTo>
                  <a:pt x="636801" y="331784"/>
                </a:lnTo>
                <a:lnTo>
                  <a:pt x="636479" y="333151"/>
                </a:lnTo>
                <a:lnTo>
                  <a:pt x="635137" y="333312"/>
                </a:lnTo>
                <a:lnTo>
                  <a:pt x="635191" y="333871"/>
                </a:lnTo>
                <a:lnTo>
                  <a:pt x="634693" y="334433"/>
                </a:lnTo>
                <a:lnTo>
                  <a:pt x="634850" y="335549"/>
                </a:lnTo>
                <a:lnTo>
                  <a:pt x="635052" y="335821"/>
                </a:lnTo>
                <a:lnTo>
                  <a:pt x="635375" y="335673"/>
                </a:lnTo>
                <a:lnTo>
                  <a:pt x="635465" y="336418"/>
                </a:lnTo>
                <a:lnTo>
                  <a:pt x="635150" y="336594"/>
                </a:lnTo>
                <a:lnTo>
                  <a:pt x="635157" y="336888"/>
                </a:lnTo>
                <a:lnTo>
                  <a:pt x="635664" y="337093"/>
                </a:lnTo>
                <a:lnTo>
                  <a:pt x="635783" y="337670"/>
                </a:lnTo>
                <a:lnTo>
                  <a:pt x="636125" y="337915"/>
                </a:lnTo>
                <a:lnTo>
                  <a:pt x="635546" y="338163"/>
                </a:lnTo>
                <a:lnTo>
                  <a:pt x="635701" y="338554"/>
                </a:lnTo>
                <a:lnTo>
                  <a:pt x="635397" y="338797"/>
                </a:lnTo>
                <a:lnTo>
                  <a:pt x="635623" y="339046"/>
                </a:lnTo>
                <a:lnTo>
                  <a:pt x="634654" y="339374"/>
                </a:lnTo>
                <a:lnTo>
                  <a:pt x="634583" y="339744"/>
                </a:lnTo>
                <a:lnTo>
                  <a:pt x="634337" y="339661"/>
                </a:lnTo>
                <a:lnTo>
                  <a:pt x="633928" y="340445"/>
                </a:lnTo>
                <a:lnTo>
                  <a:pt x="634126" y="340563"/>
                </a:lnTo>
                <a:lnTo>
                  <a:pt x="634059" y="341075"/>
                </a:lnTo>
                <a:lnTo>
                  <a:pt x="633803" y="341101"/>
                </a:lnTo>
                <a:lnTo>
                  <a:pt x="633759" y="340851"/>
                </a:lnTo>
                <a:lnTo>
                  <a:pt x="633385" y="340986"/>
                </a:lnTo>
                <a:lnTo>
                  <a:pt x="633445" y="341203"/>
                </a:lnTo>
                <a:lnTo>
                  <a:pt x="633181" y="341312"/>
                </a:lnTo>
                <a:lnTo>
                  <a:pt x="633394" y="341721"/>
                </a:lnTo>
                <a:lnTo>
                  <a:pt x="633113" y="341519"/>
                </a:lnTo>
                <a:lnTo>
                  <a:pt x="632768" y="342068"/>
                </a:lnTo>
                <a:lnTo>
                  <a:pt x="632522" y="342001"/>
                </a:lnTo>
                <a:lnTo>
                  <a:pt x="632065" y="342837"/>
                </a:lnTo>
                <a:lnTo>
                  <a:pt x="631771" y="342895"/>
                </a:lnTo>
                <a:lnTo>
                  <a:pt x="631489" y="342265"/>
                </a:lnTo>
                <a:lnTo>
                  <a:pt x="631423" y="342532"/>
                </a:lnTo>
                <a:lnTo>
                  <a:pt x="630995" y="342666"/>
                </a:lnTo>
                <a:lnTo>
                  <a:pt x="630750" y="342120"/>
                </a:lnTo>
                <a:lnTo>
                  <a:pt x="630557" y="342783"/>
                </a:lnTo>
                <a:lnTo>
                  <a:pt x="629928" y="342210"/>
                </a:lnTo>
                <a:lnTo>
                  <a:pt x="629798" y="342337"/>
                </a:lnTo>
                <a:lnTo>
                  <a:pt x="629996" y="342580"/>
                </a:lnTo>
                <a:lnTo>
                  <a:pt x="629670" y="342617"/>
                </a:lnTo>
                <a:lnTo>
                  <a:pt x="629579" y="342413"/>
                </a:lnTo>
                <a:lnTo>
                  <a:pt x="629391" y="342576"/>
                </a:lnTo>
                <a:lnTo>
                  <a:pt x="629112" y="343670"/>
                </a:lnTo>
                <a:lnTo>
                  <a:pt x="628973" y="343437"/>
                </a:lnTo>
                <a:lnTo>
                  <a:pt x="628426" y="343589"/>
                </a:lnTo>
                <a:lnTo>
                  <a:pt x="628519" y="344036"/>
                </a:lnTo>
                <a:lnTo>
                  <a:pt x="627759" y="344562"/>
                </a:lnTo>
                <a:lnTo>
                  <a:pt x="627932" y="344799"/>
                </a:lnTo>
                <a:lnTo>
                  <a:pt x="627207" y="344605"/>
                </a:lnTo>
                <a:lnTo>
                  <a:pt x="627064" y="345053"/>
                </a:lnTo>
                <a:lnTo>
                  <a:pt x="626742" y="344934"/>
                </a:lnTo>
                <a:lnTo>
                  <a:pt x="626832" y="345247"/>
                </a:lnTo>
                <a:lnTo>
                  <a:pt x="626382" y="344957"/>
                </a:lnTo>
                <a:lnTo>
                  <a:pt x="626260" y="345128"/>
                </a:lnTo>
                <a:lnTo>
                  <a:pt x="625774" y="345004"/>
                </a:lnTo>
                <a:lnTo>
                  <a:pt x="626061" y="345637"/>
                </a:lnTo>
                <a:lnTo>
                  <a:pt x="625845" y="346044"/>
                </a:lnTo>
                <a:lnTo>
                  <a:pt x="625999" y="346379"/>
                </a:lnTo>
                <a:lnTo>
                  <a:pt x="625660" y="346943"/>
                </a:lnTo>
                <a:lnTo>
                  <a:pt x="625167" y="346725"/>
                </a:lnTo>
                <a:lnTo>
                  <a:pt x="625216" y="347116"/>
                </a:lnTo>
                <a:lnTo>
                  <a:pt x="623986" y="347156"/>
                </a:lnTo>
                <a:lnTo>
                  <a:pt x="623386" y="348019"/>
                </a:lnTo>
                <a:lnTo>
                  <a:pt x="623095" y="347827"/>
                </a:lnTo>
                <a:lnTo>
                  <a:pt x="622758" y="346756"/>
                </a:lnTo>
                <a:lnTo>
                  <a:pt x="622628" y="346978"/>
                </a:lnTo>
                <a:lnTo>
                  <a:pt x="621863" y="347035"/>
                </a:lnTo>
                <a:lnTo>
                  <a:pt x="621984" y="347272"/>
                </a:lnTo>
                <a:lnTo>
                  <a:pt x="621494" y="347753"/>
                </a:lnTo>
                <a:lnTo>
                  <a:pt x="620507" y="347853"/>
                </a:lnTo>
                <a:lnTo>
                  <a:pt x="620283" y="347624"/>
                </a:lnTo>
                <a:lnTo>
                  <a:pt x="620016" y="347836"/>
                </a:lnTo>
                <a:lnTo>
                  <a:pt x="619845" y="348605"/>
                </a:lnTo>
                <a:lnTo>
                  <a:pt x="618637" y="348708"/>
                </a:lnTo>
                <a:lnTo>
                  <a:pt x="618705" y="348940"/>
                </a:lnTo>
                <a:lnTo>
                  <a:pt x="618245" y="349035"/>
                </a:lnTo>
                <a:lnTo>
                  <a:pt x="617373" y="348738"/>
                </a:lnTo>
                <a:lnTo>
                  <a:pt x="617526" y="347927"/>
                </a:lnTo>
                <a:lnTo>
                  <a:pt x="616755" y="347562"/>
                </a:lnTo>
                <a:lnTo>
                  <a:pt x="616638" y="347943"/>
                </a:lnTo>
                <a:lnTo>
                  <a:pt x="616333" y="347549"/>
                </a:lnTo>
                <a:lnTo>
                  <a:pt x="615454" y="347506"/>
                </a:lnTo>
                <a:lnTo>
                  <a:pt x="615100" y="348221"/>
                </a:lnTo>
                <a:lnTo>
                  <a:pt x="614783" y="348288"/>
                </a:lnTo>
                <a:lnTo>
                  <a:pt x="615087" y="348650"/>
                </a:lnTo>
                <a:lnTo>
                  <a:pt x="614713" y="348715"/>
                </a:lnTo>
                <a:lnTo>
                  <a:pt x="614869" y="348881"/>
                </a:lnTo>
                <a:lnTo>
                  <a:pt x="614577" y="348916"/>
                </a:lnTo>
                <a:lnTo>
                  <a:pt x="614601" y="349287"/>
                </a:lnTo>
                <a:lnTo>
                  <a:pt x="614383" y="349057"/>
                </a:lnTo>
                <a:lnTo>
                  <a:pt x="613837" y="349527"/>
                </a:lnTo>
                <a:lnTo>
                  <a:pt x="613414" y="349551"/>
                </a:lnTo>
                <a:lnTo>
                  <a:pt x="613414" y="350054"/>
                </a:lnTo>
                <a:lnTo>
                  <a:pt x="612873" y="349899"/>
                </a:lnTo>
                <a:lnTo>
                  <a:pt x="612738" y="350181"/>
                </a:lnTo>
                <a:lnTo>
                  <a:pt x="612082" y="350226"/>
                </a:lnTo>
                <a:lnTo>
                  <a:pt x="612128" y="349948"/>
                </a:lnTo>
                <a:lnTo>
                  <a:pt x="611878" y="349775"/>
                </a:lnTo>
                <a:lnTo>
                  <a:pt x="611825" y="350071"/>
                </a:lnTo>
                <a:lnTo>
                  <a:pt x="611527" y="350093"/>
                </a:lnTo>
                <a:lnTo>
                  <a:pt x="611734" y="350334"/>
                </a:lnTo>
                <a:lnTo>
                  <a:pt x="611349" y="350103"/>
                </a:lnTo>
                <a:lnTo>
                  <a:pt x="610975" y="350358"/>
                </a:lnTo>
                <a:lnTo>
                  <a:pt x="611150" y="350847"/>
                </a:lnTo>
                <a:lnTo>
                  <a:pt x="610682" y="350965"/>
                </a:lnTo>
                <a:lnTo>
                  <a:pt x="610480" y="351795"/>
                </a:lnTo>
                <a:lnTo>
                  <a:pt x="610723" y="352074"/>
                </a:lnTo>
                <a:lnTo>
                  <a:pt x="610426" y="352192"/>
                </a:lnTo>
                <a:lnTo>
                  <a:pt x="610743" y="352476"/>
                </a:lnTo>
                <a:lnTo>
                  <a:pt x="609872" y="352629"/>
                </a:lnTo>
                <a:lnTo>
                  <a:pt x="609882" y="353210"/>
                </a:lnTo>
                <a:lnTo>
                  <a:pt x="609379" y="352960"/>
                </a:lnTo>
                <a:lnTo>
                  <a:pt x="608893" y="353018"/>
                </a:lnTo>
                <a:lnTo>
                  <a:pt x="608682" y="352786"/>
                </a:lnTo>
                <a:lnTo>
                  <a:pt x="608100" y="353005"/>
                </a:lnTo>
                <a:lnTo>
                  <a:pt x="607930" y="353641"/>
                </a:lnTo>
                <a:lnTo>
                  <a:pt x="606645" y="353963"/>
                </a:lnTo>
                <a:lnTo>
                  <a:pt x="606611" y="354307"/>
                </a:lnTo>
                <a:lnTo>
                  <a:pt x="606789" y="354127"/>
                </a:lnTo>
                <a:lnTo>
                  <a:pt x="606928" y="354343"/>
                </a:lnTo>
                <a:lnTo>
                  <a:pt x="606771" y="354705"/>
                </a:lnTo>
                <a:lnTo>
                  <a:pt x="606507" y="354735"/>
                </a:lnTo>
                <a:lnTo>
                  <a:pt x="606635" y="355140"/>
                </a:lnTo>
                <a:lnTo>
                  <a:pt x="606413" y="354967"/>
                </a:lnTo>
                <a:lnTo>
                  <a:pt x="606369" y="355234"/>
                </a:lnTo>
                <a:lnTo>
                  <a:pt x="606135" y="355138"/>
                </a:lnTo>
                <a:lnTo>
                  <a:pt x="605919" y="355698"/>
                </a:lnTo>
                <a:lnTo>
                  <a:pt x="605558" y="355531"/>
                </a:lnTo>
                <a:lnTo>
                  <a:pt x="605797" y="355912"/>
                </a:lnTo>
                <a:lnTo>
                  <a:pt x="605426" y="355772"/>
                </a:lnTo>
                <a:lnTo>
                  <a:pt x="605490" y="355984"/>
                </a:lnTo>
                <a:lnTo>
                  <a:pt x="605239" y="356124"/>
                </a:lnTo>
                <a:lnTo>
                  <a:pt x="605408" y="356188"/>
                </a:lnTo>
                <a:lnTo>
                  <a:pt x="605335" y="356662"/>
                </a:lnTo>
                <a:lnTo>
                  <a:pt x="604865" y="356903"/>
                </a:lnTo>
                <a:lnTo>
                  <a:pt x="605104" y="356900"/>
                </a:lnTo>
                <a:lnTo>
                  <a:pt x="605460" y="357707"/>
                </a:lnTo>
                <a:lnTo>
                  <a:pt x="605752" y="357814"/>
                </a:lnTo>
                <a:lnTo>
                  <a:pt x="605562" y="358670"/>
                </a:lnTo>
                <a:lnTo>
                  <a:pt x="605272" y="358536"/>
                </a:lnTo>
                <a:lnTo>
                  <a:pt x="605006" y="358834"/>
                </a:lnTo>
                <a:lnTo>
                  <a:pt x="605281" y="358948"/>
                </a:lnTo>
                <a:lnTo>
                  <a:pt x="604915" y="359453"/>
                </a:lnTo>
                <a:lnTo>
                  <a:pt x="605123" y="359470"/>
                </a:lnTo>
                <a:lnTo>
                  <a:pt x="605065" y="359649"/>
                </a:lnTo>
                <a:lnTo>
                  <a:pt x="604635" y="359782"/>
                </a:lnTo>
                <a:lnTo>
                  <a:pt x="604763" y="360057"/>
                </a:lnTo>
                <a:lnTo>
                  <a:pt x="603836" y="360117"/>
                </a:lnTo>
                <a:lnTo>
                  <a:pt x="603995" y="360686"/>
                </a:lnTo>
                <a:lnTo>
                  <a:pt x="603451" y="360823"/>
                </a:lnTo>
                <a:lnTo>
                  <a:pt x="602170" y="360120"/>
                </a:lnTo>
                <a:lnTo>
                  <a:pt x="601792" y="360326"/>
                </a:lnTo>
                <a:lnTo>
                  <a:pt x="601836" y="360569"/>
                </a:lnTo>
                <a:lnTo>
                  <a:pt x="600492" y="361050"/>
                </a:lnTo>
                <a:lnTo>
                  <a:pt x="600747" y="361487"/>
                </a:lnTo>
                <a:lnTo>
                  <a:pt x="600460" y="361444"/>
                </a:lnTo>
                <a:lnTo>
                  <a:pt x="600557" y="361786"/>
                </a:lnTo>
                <a:lnTo>
                  <a:pt x="600341" y="361778"/>
                </a:lnTo>
                <a:lnTo>
                  <a:pt x="600042" y="362371"/>
                </a:lnTo>
                <a:lnTo>
                  <a:pt x="598980" y="362049"/>
                </a:lnTo>
                <a:lnTo>
                  <a:pt x="597973" y="362980"/>
                </a:lnTo>
                <a:lnTo>
                  <a:pt x="597678" y="362805"/>
                </a:lnTo>
                <a:lnTo>
                  <a:pt x="597190" y="363466"/>
                </a:lnTo>
                <a:lnTo>
                  <a:pt x="597054" y="364154"/>
                </a:lnTo>
                <a:lnTo>
                  <a:pt x="596370" y="364217"/>
                </a:lnTo>
                <a:lnTo>
                  <a:pt x="595537" y="364741"/>
                </a:lnTo>
                <a:lnTo>
                  <a:pt x="595086" y="364522"/>
                </a:lnTo>
                <a:lnTo>
                  <a:pt x="594687" y="364708"/>
                </a:lnTo>
                <a:lnTo>
                  <a:pt x="594463" y="364435"/>
                </a:lnTo>
                <a:lnTo>
                  <a:pt x="594254" y="364697"/>
                </a:lnTo>
                <a:lnTo>
                  <a:pt x="593599" y="364534"/>
                </a:lnTo>
                <a:lnTo>
                  <a:pt x="593176" y="364778"/>
                </a:lnTo>
                <a:lnTo>
                  <a:pt x="593526" y="365036"/>
                </a:lnTo>
                <a:lnTo>
                  <a:pt x="593279" y="365105"/>
                </a:lnTo>
                <a:lnTo>
                  <a:pt x="592958" y="366427"/>
                </a:lnTo>
                <a:lnTo>
                  <a:pt x="592825" y="366684"/>
                </a:lnTo>
                <a:lnTo>
                  <a:pt x="592259" y="366772"/>
                </a:lnTo>
                <a:lnTo>
                  <a:pt x="592287" y="367326"/>
                </a:lnTo>
                <a:lnTo>
                  <a:pt x="592631" y="367357"/>
                </a:lnTo>
                <a:lnTo>
                  <a:pt x="592218" y="367777"/>
                </a:lnTo>
                <a:lnTo>
                  <a:pt x="591846" y="367698"/>
                </a:lnTo>
                <a:lnTo>
                  <a:pt x="591285" y="368090"/>
                </a:lnTo>
                <a:lnTo>
                  <a:pt x="591056" y="368412"/>
                </a:lnTo>
                <a:lnTo>
                  <a:pt x="591424" y="368463"/>
                </a:lnTo>
                <a:lnTo>
                  <a:pt x="591190" y="368692"/>
                </a:lnTo>
                <a:lnTo>
                  <a:pt x="590683" y="368514"/>
                </a:lnTo>
                <a:lnTo>
                  <a:pt x="589821" y="368914"/>
                </a:lnTo>
                <a:lnTo>
                  <a:pt x="590145" y="368966"/>
                </a:lnTo>
                <a:lnTo>
                  <a:pt x="590213" y="369244"/>
                </a:lnTo>
                <a:lnTo>
                  <a:pt x="589877" y="369432"/>
                </a:lnTo>
                <a:lnTo>
                  <a:pt x="589861" y="370311"/>
                </a:lnTo>
                <a:lnTo>
                  <a:pt x="589312" y="370841"/>
                </a:lnTo>
                <a:lnTo>
                  <a:pt x="588890" y="371792"/>
                </a:lnTo>
                <a:lnTo>
                  <a:pt x="587836" y="371485"/>
                </a:lnTo>
                <a:lnTo>
                  <a:pt x="587568" y="371904"/>
                </a:lnTo>
                <a:lnTo>
                  <a:pt x="587446" y="372999"/>
                </a:lnTo>
                <a:lnTo>
                  <a:pt x="586915" y="373712"/>
                </a:lnTo>
                <a:lnTo>
                  <a:pt x="586003" y="373370"/>
                </a:lnTo>
                <a:lnTo>
                  <a:pt x="585602" y="373833"/>
                </a:lnTo>
                <a:lnTo>
                  <a:pt x="585683" y="374396"/>
                </a:lnTo>
                <a:lnTo>
                  <a:pt x="585283" y="374899"/>
                </a:lnTo>
                <a:lnTo>
                  <a:pt x="585322" y="375297"/>
                </a:lnTo>
                <a:lnTo>
                  <a:pt x="584830" y="375533"/>
                </a:lnTo>
                <a:lnTo>
                  <a:pt x="584098" y="375474"/>
                </a:lnTo>
                <a:lnTo>
                  <a:pt x="584094" y="375688"/>
                </a:lnTo>
                <a:lnTo>
                  <a:pt x="584363" y="375697"/>
                </a:lnTo>
                <a:lnTo>
                  <a:pt x="584244" y="375918"/>
                </a:lnTo>
                <a:lnTo>
                  <a:pt x="583845" y="375825"/>
                </a:lnTo>
                <a:lnTo>
                  <a:pt x="582743" y="376765"/>
                </a:lnTo>
                <a:lnTo>
                  <a:pt x="582185" y="376837"/>
                </a:lnTo>
                <a:lnTo>
                  <a:pt x="581369" y="377374"/>
                </a:lnTo>
                <a:lnTo>
                  <a:pt x="581564" y="378564"/>
                </a:lnTo>
                <a:lnTo>
                  <a:pt x="581244" y="378451"/>
                </a:lnTo>
                <a:lnTo>
                  <a:pt x="581450" y="379261"/>
                </a:lnTo>
                <a:lnTo>
                  <a:pt x="581329" y="379799"/>
                </a:lnTo>
                <a:lnTo>
                  <a:pt x="580761" y="380143"/>
                </a:lnTo>
                <a:lnTo>
                  <a:pt x="580681" y="380475"/>
                </a:lnTo>
                <a:lnTo>
                  <a:pt x="580213" y="380384"/>
                </a:lnTo>
                <a:lnTo>
                  <a:pt x="580003" y="380719"/>
                </a:lnTo>
                <a:lnTo>
                  <a:pt x="579943" y="380974"/>
                </a:lnTo>
                <a:lnTo>
                  <a:pt x="580200" y="381079"/>
                </a:lnTo>
                <a:lnTo>
                  <a:pt x="579926" y="381602"/>
                </a:lnTo>
                <a:lnTo>
                  <a:pt x="579782" y="383084"/>
                </a:lnTo>
                <a:lnTo>
                  <a:pt x="579214" y="384271"/>
                </a:lnTo>
                <a:lnTo>
                  <a:pt x="578589" y="384983"/>
                </a:lnTo>
                <a:lnTo>
                  <a:pt x="578623" y="385256"/>
                </a:lnTo>
                <a:lnTo>
                  <a:pt x="578167" y="385667"/>
                </a:lnTo>
                <a:lnTo>
                  <a:pt x="577833" y="387734"/>
                </a:lnTo>
                <a:lnTo>
                  <a:pt x="576850" y="388697"/>
                </a:lnTo>
                <a:lnTo>
                  <a:pt x="576753" y="389521"/>
                </a:lnTo>
                <a:lnTo>
                  <a:pt x="576957" y="390323"/>
                </a:lnTo>
                <a:lnTo>
                  <a:pt x="575258" y="393940"/>
                </a:lnTo>
                <a:lnTo>
                  <a:pt x="573817" y="395123"/>
                </a:lnTo>
                <a:lnTo>
                  <a:pt x="572318" y="397465"/>
                </a:lnTo>
                <a:lnTo>
                  <a:pt x="571648" y="397869"/>
                </a:lnTo>
                <a:lnTo>
                  <a:pt x="570757" y="397675"/>
                </a:lnTo>
                <a:lnTo>
                  <a:pt x="570434" y="398204"/>
                </a:lnTo>
                <a:lnTo>
                  <a:pt x="569481" y="398744"/>
                </a:lnTo>
                <a:lnTo>
                  <a:pt x="568741" y="398903"/>
                </a:lnTo>
                <a:lnTo>
                  <a:pt x="568451" y="398610"/>
                </a:lnTo>
                <a:lnTo>
                  <a:pt x="567818" y="399803"/>
                </a:lnTo>
                <a:lnTo>
                  <a:pt x="567680" y="401268"/>
                </a:lnTo>
                <a:lnTo>
                  <a:pt x="565758" y="403253"/>
                </a:lnTo>
                <a:lnTo>
                  <a:pt x="563437" y="401660"/>
                </a:lnTo>
                <a:lnTo>
                  <a:pt x="532242" y="409720"/>
                </a:lnTo>
                <a:lnTo>
                  <a:pt x="505114" y="415541"/>
                </a:lnTo>
                <a:lnTo>
                  <a:pt x="498601" y="419637"/>
                </a:lnTo>
                <a:lnTo>
                  <a:pt x="491469" y="418935"/>
                </a:lnTo>
                <a:lnTo>
                  <a:pt x="490603" y="420280"/>
                </a:lnTo>
                <a:lnTo>
                  <a:pt x="482601" y="420794"/>
                </a:lnTo>
                <a:lnTo>
                  <a:pt x="481091" y="420428"/>
                </a:lnTo>
                <a:lnTo>
                  <a:pt x="481520" y="421639"/>
                </a:lnTo>
                <a:lnTo>
                  <a:pt x="481553" y="423643"/>
                </a:lnTo>
                <a:lnTo>
                  <a:pt x="481351" y="424014"/>
                </a:lnTo>
                <a:lnTo>
                  <a:pt x="480443" y="424588"/>
                </a:lnTo>
                <a:lnTo>
                  <a:pt x="480169" y="426245"/>
                </a:lnTo>
                <a:lnTo>
                  <a:pt x="482998" y="429194"/>
                </a:lnTo>
                <a:lnTo>
                  <a:pt x="483279" y="429257"/>
                </a:lnTo>
                <a:lnTo>
                  <a:pt x="482557" y="431407"/>
                </a:lnTo>
                <a:lnTo>
                  <a:pt x="482674" y="432179"/>
                </a:lnTo>
                <a:lnTo>
                  <a:pt x="483123" y="432301"/>
                </a:lnTo>
                <a:lnTo>
                  <a:pt x="483609" y="431759"/>
                </a:lnTo>
                <a:lnTo>
                  <a:pt x="483891" y="431736"/>
                </a:lnTo>
                <a:lnTo>
                  <a:pt x="484205" y="432315"/>
                </a:lnTo>
                <a:lnTo>
                  <a:pt x="484778" y="432672"/>
                </a:lnTo>
                <a:lnTo>
                  <a:pt x="485017" y="434301"/>
                </a:lnTo>
                <a:lnTo>
                  <a:pt x="484860" y="435525"/>
                </a:lnTo>
                <a:lnTo>
                  <a:pt x="485286" y="436448"/>
                </a:lnTo>
                <a:lnTo>
                  <a:pt x="485196" y="437117"/>
                </a:lnTo>
                <a:lnTo>
                  <a:pt x="485971" y="437607"/>
                </a:lnTo>
                <a:lnTo>
                  <a:pt x="486180" y="440393"/>
                </a:lnTo>
                <a:lnTo>
                  <a:pt x="486559" y="441237"/>
                </a:lnTo>
                <a:lnTo>
                  <a:pt x="487052" y="441481"/>
                </a:lnTo>
                <a:lnTo>
                  <a:pt x="486451" y="442339"/>
                </a:lnTo>
                <a:lnTo>
                  <a:pt x="485731" y="442159"/>
                </a:lnTo>
                <a:lnTo>
                  <a:pt x="485208" y="442431"/>
                </a:lnTo>
                <a:lnTo>
                  <a:pt x="485169" y="443977"/>
                </a:lnTo>
                <a:lnTo>
                  <a:pt x="485776" y="444497"/>
                </a:lnTo>
                <a:lnTo>
                  <a:pt x="485805" y="444786"/>
                </a:lnTo>
                <a:lnTo>
                  <a:pt x="484805" y="444937"/>
                </a:lnTo>
                <a:lnTo>
                  <a:pt x="484586" y="445222"/>
                </a:lnTo>
                <a:lnTo>
                  <a:pt x="485970" y="446713"/>
                </a:lnTo>
                <a:lnTo>
                  <a:pt x="485414" y="447230"/>
                </a:lnTo>
                <a:lnTo>
                  <a:pt x="484559" y="447473"/>
                </a:lnTo>
                <a:lnTo>
                  <a:pt x="484285" y="447870"/>
                </a:lnTo>
                <a:lnTo>
                  <a:pt x="482789" y="448342"/>
                </a:lnTo>
                <a:lnTo>
                  <a:pt x="482942" y="448639"/>
                </a:lnTo>
                <a:lnTo>
                  <a:pt x="479736" y="457561"/>
                </a:lnTo>
                <a:lnTo>
                  <a:pt x="462667" y="503057"/>
                </a:lnTo>
                <a:lnTo>
                  <a:pt x="458242" y="508657"/>
                </a:lnTo>
                <a:lnTo>
                  <a:pt x="456429" y="522664"/>
                </a:lnTo>
                <a:lnTo>
                  <a:pt x="452077" y="538865"/>
                </a:lnTo>
                <a:lnTo>
                  <a:pt x="440141" y="565913"/>
                </a:lnTo>
                <a:lnTo>
                  <a:pt x="439629" y="565906"/>
                </a:lnTo>
                <a:lnTo>
                  <a:pt x="438015" y="567327"/>
                </a:lnTo>
                <a:lnTo>
                  <a:pt x="436650" y="567713"/>
                </a:lnTo>
                <a:lnTo>
                  <a:pt x="433164" y="570310"/>
                </a:lnTo>
                <a:lnTo>
                  <a:pt x="432663" y="571035"/>
                </a:lnTo>
                <a:lnTo>
                  <a:pt x="432132" y="571187"/>
                </a:lnTo>
                <a:lnTo>
                  <a:pt x="429951" y="573446"/>
                </a:lnTo>
                <a:lnTo>
                  <a:pt x="429063" y="573653"/>
                </a:lnTo>
                <a:lnTo>
                  <a:pt x="428014" y="574416"/>
                </a:lnTo>
                <a:lnTo>
                  <a:pt x="427780" y="574222"/>
                </a:lnTo>
                <a:lnTo>
                  <a:pt x="427025" y="574394"/>
                </a:lnTo>
                <a:lnTo>
                  <a:pt x="426292" y="574100"/>
                </a:lnTo>
                <a:lnTo>
                  <a:pt x="425809" y="574958"/>
                </a:lnTo>
                <a:lnTo>
                  <a:pt x="425013" y="575291"/>
                </a:lnTo>
                <a:lnTo>
                  <a:pt x="423435" y="575255"/>
                </a:lnTo>
                <a:lnTo>
                  <a:pt x="422814" y="576140"/>
                </a:lnTo>
                <a:lnTo>
                  <a:pt x="421807" y="576783"/>
                </a:lnTo>
                <a:lnTo>
                  <a:pt x="421245" y="577617"/>
                </a:lnTo>
                <a:lnTo>
                  <a:pt x="420756" y="577615"/>
                </a:lnTo>
                <a:lnTo>
                  <a:pt x="419916" y="578197"/>
                </a:lnTo>
                <a:lnTo>
                  <a:pt x="416583" y="581096"/>
                </a:lnTo>
                <a:lnTo>
                  <a:pt x="414122" y="582262"/>
                </a:lnTo>
                <a:lnTo>
                  <a:pt x="410989" y="583233"/>
                </a:lnTo>
                <a:lnTo>
                  <a:pt x="409754" y="584186"/>
                </a:lnTo>
                <a:lnTo>
                  <a:pt x="408794" y="584549"/>
                </a:lnTo>
                <a:lnTo>
                  <a:pt x="408057" y="585429"/>
                </a:lnTo>
                <a:lnTo>
                  <a:pt x="405787" y="586063"/>
                </a:lnTo>
                <a:lnTo>
                  <a:pt x="405091" y="586860"/>
                </a:lnTo>
                <a:lnTo>
                  <a:pt x="404357" y="587246"/>
                </a:lnTo>
                <a:lnTo>
                  <a:pt x="403166" y="587586"/>
                </a:lnTo>
                <a:lnTo>
                  <a:pt x="402351" y="587377"/>
                </a:lnTo>
                <a:lnTo>
                  <a:pt x="400975" y="587870"/>
                </a:lnTo>
                <a:lnTo>
                  <a:pt x="397983" y="586691"/>
                </a:lnTo>
                <a:lnTo>
                  <a:pt x="395856" y="586634"/>
                </a:lnTo>
                <a:lnTo>
                  <a:pt x="394303" y="587062"/>
                </a:lnTo>
                <a:lnTo>
                  <a:pt x="392804" y="586810"/>
                </a:lnTo>
                <a:lnTo>
                  <a:pt x="392303" y="587167"/>
                </a:lnTo>
                <a:lnTo>
                  <a:pt x="390938" y="586976"/>
                </a:lnTo>
                <a:lnTo>
                  <a:pt x="390372" y="586656"/>
                </a:lnTo>
                <a:lnTo>
                  <a:pt x="386702" y="586314"/>
                </a:lnTo>
                <a:lnTo>
                  <a:pt x="386087" y="586701"/>
                </a:lnTo>
                <a:lnTo>
                  <a:pt x="385453" y="586249"/>
                </a:lnTo>
                <a:lnTo>
                  <a:pt x="384495" y="586165"/>
                </a:lnTo>
                <a:lnTo>
                  <a:pt x="384149" y="585663"/>
                </a:lnTo>
                <a:lnTo>
                  <a:pt x="383591" y="585461"/>
                </a:lnTo>
                <a:lnTo>
                  <a:pt x="381952" y="586136"/>
                </a:lnTo>
                <a:lnTo>
                  <a:pt x="380677" y="586182"/>
                </a:lnTo>
                <a:lnTo>
                  <a:pt x="379558" y="586743"/>
                </a:lnTo>
                <a:lnTo>
                  <a:pt x="379032" y="586739"/>
                </a:lnTo>
                <a:lnTo>
                  <a:pt x="378448" y="586624"/>
                </a:lnTo>
                <a:lnTo>
                  <a:pt x="377984" y="586030"/>
                </a:lnTo>
                <a:lnTo>
                  <a:pt x="377309" y="585648"/>
                </a:lnTo>
                <a:lnTo>
                  <a:pt x="375412" y="585646"/>
                </a:lnTo>
                <a:lnTo>
                  <a:pt x="374552" y="585112"/>
                </a:lnTo>
                <a:lnTo>
                  <a:pt x="373403" y="585330"/>
                </a:lnTo>
                <a:lnTo>
                  <a:pt x="372230" y="586162"/>
                </a:lnTo>
                <a:lnTo>
                  <a:pt x="371377" y="586327"/>
                </a:lnTo>
                <a:lnTo>
                  <a:pt x="370589" y="585823"/>
                </a:lnTo>
                <a:lnTo>
                  <a:pt x="370097" y="585086"/>
                </a:lnTo>
                <a:lnTo>
                  <a:pt x="369487" y="584787"/>
                </a:lnTo>
                <a:lnTo>
                  <a:pt x="369669" y="583837"/>
                </a:lnTo>
                <a:lnTo>
                  <a:pt x="368517" y="583734"/>
                </a:lnTo>
                <a:lnTo>
                  <a:pt x="368498" y="583414"/>
                </a:lnTo>
                <a:lnTo>
                  <a:pt x="368967" y="582820"/>
                </a:lnTo>
                <a:lnTo>
                  <a:pt x="368830" y="582598"/>
                </a:lnTo>
                <a:lnTo>
                  <a:pt x="368075" y="582820"/>
                </a:lnTo>
                <a:lnTo>
                  <a:pt x="366241" y="582561"/>
                </a:lnTo>
                <a:lnTo>
                  <a:pt x="365833" y="582140"/>
                </a:lnTo>
                <a:lnTo>
                  <a:pt x="365329" y="580820"/>
                </a:lnTo>
                <a:lnTo>
                  <a:pt x="364731" y="580965"/>
                </a:lnTo>
                <a:lnTo>
                  <a:pt x="363938" y="581793"/>
                </a:lnTo>
                <a:lnTo>
                  <a:pt x="363297" y="581588"/>
                </a:lnTo>
                <a:lnTo>
                  <a:pt x="362460" y="581665"/>
                </a:lnTo>
                <a:lnTo>
                  <a:pt x="361299" y="580975"/>
                </a:lnTo>
                <a:lnTo>
                  <a:pt x="360946" y="580109"/>
                </a:lnTo>
                <a:lnTo>
                  <a:pt x="358836" y="579468"/>
                </a:lnTo>
                <a:lnTo>
                  <a:pt x="356665" y="580917"/>
                </a:lnTo>
                <a:lnTo>
                  <a:pt x="356002" y="580825"/>
                </a:lnTo>
                <a:lnTo>
                  <a:pt x="355430" y="580008"/>
                </a:lnTo>
                <a:lnTo>
                  <a:pt x="353321" y="580679"/>
                </a:lnTo>
                <a:lnTo>
                  <a:pt x="353205" y="580955"/>
                </a:lnTo>
                <a:lnTo>
                  <a:pt x="353802" y="581700"/>
                </a:lnTo>
                <a:lnTo>
                  <a:pt x="353776" y="582180"/>
                </a:lnTo>
                <a:lnTo>
                  <a:pt x="351691" y="583299"/>
                </a:lnTo>
                <a:lnTo>
                  <a:pt x="350825" y="584765"/>
                </a:lnTo>
                <a:lnTo>
                  <a:pt x="349542" y="584689"/>
                </a:lnTo>
                <a:lnTo>
                  <a:pt x="348265" y="586700"/>
                </a:lnTo>
                <a:lnTo>
                  <a:pt x="347483" y="586703"/>
                </a:lnTo>
                <a:lnTo>
                  <a:pt x="346417" y="585749"/>
                </a:lnTo>
                <a:lnTo>
                  <a:pt x="346036" y="586082"/>
                </a:lnTo>
                <a:lnTo>
                  <a:pt x="346339" y="587065"/>
                </a:lnTo>
                <a:lnTo>
                  <a:pt x="345934" y="587207"/>
                </a:lnTo>
                <a:lnTo>
                  <a:pt x="345970" y="587626"/>
                </a:lnTo>
                <a:lnTo>
                  <a:pt x="345130" y="588109"/>
                </a:lnTo>
                <a:lnTo>
                  <a:pt x="343346" y="588447"/>
                </a:lnTo>
                <a:lnTo>
                  <a:pt x="342448" y="590270"/>
                </a:lnTo>
                <a:lnTo>
                  <a:pt x="341326" y="590651"/>
                </a:lnTo>
                <a:lnTo>
                  <a:pt x="340662" y="589735"/>
                </a:lnTo>
                <a:lnTo>
                  <a:pt x="340206" y="589730"/>
                </a:lnTo>
                <a:lnTo>
                  <a:pt x="340248" y="591892"/>
                </a:lnTo>
                <a:lnTo>
                  <a:pt x="339456" y="592040"/>
                </a:lnTo>
                <a:lnTo>
                  <a:pt x="339002" y="592726"/>
                </a:lnTo>
                <a:lnTo>
                  <a:pt x="337942" y="592725"/>
                </a:lnTo>
                <a:lnTo>
                  <a:pt x="337748" y="593278"/>
                </a:lnTo>
                <a:lnTo>
                  <a:pt x="338128" y="593840"/>
                </a:lnTo>
                <a:lnTo>
                  <a:pt x="337838" y="594080"/>
                </a:lnTo>
                <a:lnTo>
                  <a:pt x="336168" y="593474"/>
                </a:lnTo>
                <a:lnTo>
                  <a:pt x="334607" y="593814"/>
                </a:lnTo>
                <a:lnTo>
                  <a:pt x="333753" y="593196"/>
                </a:lnTo>
                <a:lnTo>
                  <a:pt x="332641" y="593549"/>
                </a:lnTo>
                <a:lnTo>
                  <a:pt x="331858" y="593370"/>
                </a:lnTo>
                <a:lnTo>
                  <a:pt x="330956" y="593758"/>
                </a:lnTo>
                <a:lnTo>
                  <a:pt x="329982" y="593837"/>
                </a:lnTo>
                <a:lnTo>
                  <a:pt x="328359" y="594839"/>
                </a:lnTo>
                <a:lnTo>
                  <a:pt x="327041" y="594252"/>
                </a:lnTo>
                <a:lnTo>
                  <a:pt x="326106" y="595119"/>
                </a:lnTo>
                <a:lnTo>
                  <a:pt x="325780" y="594966"/>
                </a:lnTo>
                <a:lnTo>
                  <a:pt x="325692" y="594239"/>
                </a:lnTo>
                <a:lnTo>
                  <a:pt x="325326" y="594020"/>
                </a:lnTo>
                <a:lnTo>
                  <a:pt x="325020" y="594438"/>
                </a:lnTo>
                <a:lnTo>
                  <a:pt x="324929" y="595347"/>
                </a:lnTo>
                <a:lnTo>
                  <a:pt x="323744" y="595405"/>
                </a:lnTo>
                <a:lnTo>
                  <a:pt x="322575" y="596487"/>
                </a:lnTo>
                <a:lnTo>
                  <a:pt x="321493" y="595209"/>
                </a:lnTo>
                <a:lnTo>
                  <a:pt x="320928" y="595167"/>
                </a:lnTo>
                <a:lnTo>
                  <a:pt x="320128" y="595584"/>
                </a:lnTo>
                <a:lnTo>
                  <a:pt x="318491" y="594438"/>
                </a:lnTo>
                <a:lnTo>
                  <a:pt x="317639" y="594142"/>
                </a:lnTo>
                <a:lnTo>
                  <a:pt x="316774" y="594215"/>
                </a:lnTo>
                <a:lnTo>
                  <a:pt x="316188" y="594724"/>
                </a:lnTo>
                <a:lnTo>
                  <a:pt x="315612" y="594659"/>
                </a:lnTo>
                <a:lnTo>
                  <a:pt x="314660" y="594389"/>
                </a:lnTo>
                <a:lnTo>
                  <a:pt x="313895" y="593601"/>
                </a:lnTo>
                <a:lnTo>
                  <a:pt x="312753" y="593001"/>
                </a:lnTo>
                <a:lnTo>
                  <a:pt x="310151" y="593303"/>
                </a:lnTo>
                <a:lnTo>
                  <a:pt x="307905" y="594220"/>
                </a:lnTo>
                <a:lnTo>
                  <a:pt x="306314" y="596205"/>
                </a:lnTo>
                <a:lnTo>
                  <a:pt x="305714" y="596261"/>
                </a:lnTo>
                <a:lnTo>
                  <a:pt x="305291" y="595527"/>
                </a:lnTo>
                <a:lnTo>
                  <a:pt x="304797" y="595322"/>
                </a:lnTo>
                <a:lnTo>
                  <a:pt x="303084" y="595387"/>
                </a:lnTo>
                <a:lnTo>
                  <a:pt x="302396" y="594878"/>
                </a:lnTo>
                <a:lnTo>
                  <a:pt x="300249" y="594172"/>
                </a:lnTo>
                <a:lnTo>
                  <a:pt x="299493" y="593626"/>
                </a:lnTo>
                <a:lnTo>
                  <a:pt x="294806" y="592498"/>
                </a:lnTo>
                <a:lnTo>
                  <a:pt x="293308" y="591332"/>
                </a:lnTo>
                <a:lnTo>
                  <a:pt x="291883" y="590718"/>
                </a:lnTo>
                <a:lnTo>
                  <a:pt x="290192" y="588680"/>
                </a:lnTo>
                <a:lnTo>
                  <a:pt x="288889" y="587906"/>
                </a:lnTo>
                <a:lnTo>
                  <a:pt x="287705" y="587622"/>
                </a:lnTo>
                <a:lnTo>
                  <a:pt x="286071" y="587918"/>
                </a:lnTo>
                <a:lnTo>
                  <a:pt x="285146" y="587813"/>
                </a:lnTo>
                <a:lnTo>
                  <a:pt x="277136" y="584401"/>
                </a:lnTo>
                <a:lnTo>
                  <a:pt x="274300" y="583760"/>
                </a:lnTo>
                <a:lnTo>
                  <a:pt x="274113" y="583564"/>
                </a:lnTo>
                <a:lnTo>
                  <a:pt x="274093" y="582529"/>
                </a:lnTo>
                <a:lnTo>
                  <a:pt x="273619" y="582168"/>
                </a:lnTo>
                <a:lnTo>
                  <a:pt x="273216" y="582272"/>
                </a:lnTo>
                <a:lnTo>
                  <a:pt x="272969" y="583015"/>
                </a:lnTo>
                <a:lnTo>
                  <a:pt x="272321" y="583097"/>
                </a:lnTo>
                <a:lnTo>
                  <a:pt x="270523" y="581528"/>
                </a:lnTo>
                <a:lnTo>
                  <a:pt x="270161" y="581677"/>
                </a:lnTo>
                <a:lnTo>
                  <a:pt x="270109" y="582474"/>
                </a:lnTo>
                <a:lnTo>
                  <a:pt x="269735" y="582736"/>
                </a:lnTo>
                <a:lnTo>
                  <a:pt x="268832" y="581637"/>
                </a:lnTo>
                <a:lnTo>
                  <a:pt x="268461" y="581615"/>
                </a:lnTo>
                <a:lnTo>
                  <a:pt x="268399" y="583557"/>
                </a:lnTo>
                <a:lnTo>
                  <a:pt x="267444" y="584497"/>
                </a:lnTo>
                <a:lnTo>
                  <a:pt x="266637" y="584329"/>
                </a:lnTo>
                <a:lnTo>
                  <a:pt x="265189" y="583575"/>
                </a:lnTo>
                <a:lnTo>
                  <a:pt x="264360" y="583789"/>
                </a:lnTo>
                <a:lnTo>
                  <a:pt x="264141" y="584458"/>
                </a:lnTo>
                <a:lnTo>
                  <a:pt x="264133" y="585975"/>
                </a:lnTo>
                <a:lnTo>
                  <a:pt x="263840" y="586287"/>
                </a:lnTo>
                <a:lnTo>
                  <a:pt x="263162" y="586234"/>
                </a:lnTo>
                <a:lnTo>
                  <a:pt x="262654" y="585242"/>
                </a:lnTo>
                <a:lnTo>
                  <a:pt x="262299" y="585069"/>
                </a:lnTo>
                <a:lnTo>
                  <a:pt x="261447" y="585670"/>
                </a:lnTo>
                <a:lnTo>
                  <a:pt x="260818" y="586675"/>
                </a:lnTo>
                <a:lnTo>
                  <a:pt x="259826" y="586607"/>
                </a:lnTo>
                <a:lnTo>
                  <a:pt x="258256" y="585820"/>
                </a:lnTo>
                <a:lnTo>
                  <a:pt x="256825" y="585473"/>
                </a:lnTo>
                <a:lnTo>
                  <a:pt x="256115" y="584308"/>
                </a:lnTo>
                <a:lnTo>
                  <a:pt x="254496" y="583597"/>
                </a:lnTo>
                <a:lnTo>
                  <a:pt x="253537" y="582250"/>
                </a:lnTo>
                <a:lnTo>
                  <a:pt x="252316" y="581442"/>
                </a:lnTo>
                <a:lnTo>
                  <a:pt x="251960" y="580649"/>
                </a:lnTo>
                <a:lnTo>
                  <a:pt x="251965" y="579813"/>
                </a:lnTo>
                <a:lnTo>
                  <a:pt x="252765" y="578413"/>
                </a:lnTo>
                <a:lnTo>
                  <a:pt x="252301" y="577754"/>
                </a:lnTo>
                <a:lnTo>
                  <a:pt x="250802" y="578398"/>
                </a:lnTo>
                <a:lnTo>
                  <a:pt x="248698" y="578453"/>
                </a:lnTo>
                <a:lnTo>
                  <a:pt x="246851" y="580434"/>
                </a:lnTo>
                <a:lnTo>
                  <a:pt x="246400" y="580475"/>
                </a:lnTo>
                <a:lnTo>
                  <a:pt x="245488" y="579210"/>
                </a:lnTo>
                <a:lnTo>
                  <a:pt x="245335" y="578485"/>
                </a:lnTo>
                <a:lnTo>
                  <a:pt x="246061" y="577668"/>
                </a:lnTo>
                <a:lnTo>
                  <a:pt x="247234" y="577231"/>
                </a:lnTo>
                <a:lnTo>
                  <a:pt x="247172" y="575860"/>
                </a:lnTo>
                <a:lnTo>
                  <a:pt x="246829" y="575168"/>
                </a:lnTo>
                <a:lnTo>
                  <a:pt x="246270" y="574997"/>
                </a:lnTo>
                <a:lnTo>
                  <a:pt x="245374" y="575579"/>
                </a:lnTo>
                <a:lnTo>
                  <a:pt x="244546" y="576991"/>
                </a:lnTo>
                <a:lnTo>
                  <a:pt x="244118" y="577237"/>
                </a:lnTo>
                <a:lnTo>
                  <a:pt x="243478" y="577490"/>
                </a:lnTo>
                <a:lnTo>
                  <a:pt x="242726" y="577338"/>
                </a:lnTo>
                <a:lnTo>
                  <a:pt x="242431" y="576581"/>
                </a:lnTo>
                <a:lnTo>
                  <a:pt x="242686" y="574804"/>
                </a:lnTo>
                <a:lnTo>
                  <a:pt x="241763" y="574095"/>
                </a:lnTo>
                <a:lnTo>
                  <a:pt x="240671" y="573647"/>
                </a:lnTo>
                <a:lnTo>
                  <a:pt x="241308" y="571955"/>
                </a:lnTo>
                <a:lnTo>
                  <a:pt x="240680" y="571554"/>
                </a:lnTo>
                <a:lnTo>
                  <a:pt x="239865" y="571729"/>
                </a:lnTo>
                <a:lnTo>
                  <a:pt x="239060" y="571206"/>
                </a:lnTo>
                <a:lnTo>
                  <a:pt x="238626" y="569991"/>
                </a:lnTo>
                <a:lnTo>
                  <a:pt x="237529" y="568888"/>
                </a:lnTo>
                <a:lnTo>
                  <a:pt x="237726" y="567503"/>
                </a:lnTo>
                <a:lnTo>
                  <a:pt x="237571" y="566932"/>
                </a:lnTo>
                <a:lnTo>
                  <a:pt x="235812" y="566986"/>
                </a:lnTo>
                <a:lnTo>
                  <a:pt x="234647" y="565006"/>
                </a:lnTo>
                <a:lnTo>
                  <a:pt x="233550" y="564520"/>
                </a:lnTo>
                <a:lnTo>
                  <a:pt x="232802" y="563310"/>
                </a:lnTo>
                <a:lnTo>
                  <a:pt x="232302" y="563071"/>
                </a:lnTo>
                <a:lnTo>
                  <a:pt x="231209" y="563221"/>
                </a:lnTo>
                <a:lnTo>
                  <a:pt x="230470" y="564138"/>
                </a:lnTo>
                <a:lnTo>
                  <a:pt x="229174" y="564860"/>
                </a:lnTo>
                <a:lnTo>
                  <a:pt x="228720" y="564985"/>
                </a:lnTo>
                <a:lnTo>
                  <a:pt x="227477" y="564713"/>
                </a:lnTo>
                <a:lnTo>
                  <a:pt x="227084" y="563937"/>
                </a:lnTo>
                <a:lnTo>
                  <a:pt x="227896" y="562766"/>
                </a:lnTo>
                <a:lnTo>
                  <a:pt x="228004" y="562242"/>
                </a:lnTo>
                <a:lnTo>
                  <a:pt x="227629" y="561499"/>
                </a:lnTo>
                <a:lnTo>
                  <a:pt x="227103" y="561094"/>
                </a:lnTo>
                <a:lnTo>
                  <a:pt x="226440" y="561151"/>
                </a:lnTo>
                <a:lnTo>
                  <a:pt x="224636" y="562106"/>
                </a:lnTo>
                <a:lnTo>
                  <a:pt x="224410" y="562472"/>
                </a:lnTo>
                <a:lnTo>
                  <a:pt x="224663" y="563924"/>
                </a:lnTo>
                <a:lnTo>
                  <a:pt x="224357" y="564395"/>
                </a:lnTo>
                <a:lnTo>
                  <a:pt x="222536" y="564367"/>
                </a:lnTo>
                <a:lnTo>
                  <a:pt x="220828" y="565016"/>
                </a:lnTo>
                <a:lnTo>
                  <a:pt x="219232" y="564811"/>
                </a:lnTo>
                <a:lnTo>
                  <a:pt x="217523" y="565622"/>
                </a:lnTo>
                <a:lnTo>
                  <a:pt x="216478" y="566977"/>
                </a:lnTo>
                <a:lnTo>
                  <a:pt x="215729" y="566590"/>
                </a:lnTo>
                <a:lnTo>
                  <a:pt x="215229" y="564914"/>
                </a:lnTo>
                <a:lnTo>
                  <a:pt x="214658" y="564732"/>
                </a:lnTo>
                <a:lnTo>
                  <a:pt x="213757" y="564951"/>
                </a:lnTo>
                <a:lnTo>
                  <a:pt x="213240" y="565658"/>
                </a:lnTo>
                <a:lnTo>
                  <a:pt x="213767" y="567148"/>
                </a:lnTo>
                <a:lnTo>
                  <a:pt x="213699" y="567825"/>
                </a:lnTo>
                <a:lnTo>
                  <a:pt x="213474" y="568156"/>
                </a:lnTo>
                <a:lnTo>
                  <a:pt x="212413" y="568410"/>
                </a:lnTo>
                <a:lnTo>
                  <a:pt x="211344" y="568267"/>
                </a:lnTo>
                <a:lnTo>
                  <a:pt x="209968" y="567298"/>
                </a:lnTo>
                <a:lnTo>
                  <a:pt x="208977" y="565968"/>
                </a:lnTo>
                <a:lnTo>
                  <a:pt x="208106" y="565541"/>
                </a:lnTo>
                <a:lnTo>
                  <a:pt x="207624" y="565893"/>
                </a:lnTo>
                <a:lnTo>
                  <a:pt x="207735" y="566865"/>
                </a:lnTo>
                <a:lnTo>
                  <a:pt x="207500" y="567263"/>
                </a:lnTo>
                <a:lnTo>
                  <a:pt x="206200" y="567448"/>
                </a:lnTo>
                <a:lnTo>
                  <a:pt x="204988" y="568299"/>
                </a:lnTo>
                <a:lnTo>
                  <a:pt x="204433" y="568384"/>
                </a:lnTo>
                <a:lnTo>
                  <a:pt x="204079" y="567907"/>
                </a:lnTo>
                <a:lnTo>
                  <a:pt x="204073" y="565620"/>
                </a:lnTo>
                <a:lnTo>
                  <a:pt x="204252" y="565307"/>
                </a:lnTo>
                <a:lnTo>
                  <a:pt x="205455" y="564639"/>
                </a:lnTo>
                <a:lnTo>
                  <a:pt x="205411" y="563950"/>
                </a:lnTo>
                <a:lnTo>
                  <a:pt x="204164" y="563256"/>
                </a:lnTo>
                <a:lnTo>
                  <a:pt x="201188" y="563513"/>
                </a:lnTo>
                <a:lnTo>
                  <a:pt x="200228" y="562612"/>
                </a:lnTo>
                <a:lnTo>
                  <a:pt x="199501" y="562409"/>
                </a:lnTo>
                <a:lnTo>
                  <a:pt x="198523" y="562494"/>
                </a:lnTo>
                <a:lnTo>
                  <a:pt x="197772" y="563815"/>
                </a:lnTo>
                <a:lnTo>
                  <a:pt x="196570" y="563540"/>
                </a:lnTo>
                <a:lnTo>
                  <a:pt x="196253" y="563752"/>
                </a:lnTo>
                <a:lnTo>
                  <a:pt x="196470" y="565496"/>
                </a:lnTo>
                <a:lnTo>
                  <a:pt x="196144" y="566041"/>
                </a:lnTo>
                <a:lnTo>
                  <a:pt x="195582" y="566328"/>
                </a:lnTo>
                <a:lnTo>
                  <a:pt x="194011" y="566087"/>
                </a:lnTo>
                <a:lnTo>
                  <a:pt x="192943" y="566316"/>
                </a:lnTo>
                <a:lnTo>
                  <a:pt x="191431" y="564900"/>
                </a:lnTo>
                <a:lnTo>
                  <a:pt x="189332" y="564587"/>
                </a:lnTo>
                <a:lnTo>
                  <a:pt x="188897" y="563741"/>
                </a:lnTo>
                <a:lnTo>
                  <a:pt x="189678" y="560952"/>
                </a:lnTo>
                <a:lnTo>
                  <a:pt x="188991" y="560376"/>
                </a:lnTo>
                <a:lnTo>
                  <a:pt x="186852" y="559838"/>
                </a:lnTo>
                <a:lnTo>
                  <a:pt x="186042" y="559245"/>
                </a:lnTo>
                <a:lnTo>
                  <a:pt x="185721" y="558669"/>
                </a:lnTo>
                <a:lnTo>
                  <a:pt x="185936" y="557090"/>
                </a:lnTo>
                <a:lnTo>
                  <a:pt x="185629" y="556362"/>
                </a:lnTo>
                <a:lnTo>
                  <a:pt x="183753" y="555486"/>
                </a:lnTo>
                <a:lnTo>
                  <a:pt x="182024" y="555629"/>
                </a:lnTo>
                <a:lnTo>
                  <a:pt x="180273" y="555312"/>
                </a:lnTo>
                <a:lnTo>
                  <a:pt x="179546" y="554843"/>
                </a:lnTo>
                <a:lnTo>
                  <a:pt x="179232" y="554258"/>
                </a:lnTo>
                <a:lnTo>
                  <a:pt x="179296" y="553826"/>
                </a:lnTo>
                <a:lnTo>
                  <a:pt x="179898" y="553094"/>
                </a:lnTo>
                <a:lnTo>
                  <a:pt x="180078" y="552214"/>
                </a:lnTo>
                <a:lnTo>
                  <a:pt x="178828" y="550428"/>
                </a:lnTo>
                <a:lnTo>
                  <a:pt x="178146" y="550497"/>
                </a:lnTo>
                <a:lnTo>
                  <a:pt x="177238" y="551650"/>
                </a:lnTo>
                <a:lnTo>
                  <a:pt x="176646" y="552025"/>
                </a:lnTo>
                <a:lnTo>
                  <a:pt x="175986" y="551956"/>
                </a:lnTo>
                <a:lnTo>
                  <a:pt x="174846" y="551139"/>
                </a:lnTo>
                <a:lnTo>
                  <a:pt x="174387" y="550291"/>
                </a:lnTo>
                <a:lnTo>
                  <a:pt x="174284" y="549169"/>
                </a:lnTo>
                <a:lnTo>
                  <a:pt x="174725" y="548269"/>
                </a:lnTo>
                <a:lnTo>
                  <a:pt x="175728" y="547621"/>
                </a:lnTo>
                <a:lnTo>
                  <a:pt x="176702" y="546500"/>
                </a:lnTo>
                <a:lnTo>
                  <a:pt x="176659" y="545801"/>
                </a:lnTo>
                <a:lnTo>
                  <a:pt x="176008" y="545304"/>
                </a:lnTo>
                <a:lnTo>
                  <a:pt x="174510" y="545085"/>
                </a:lnTo>
                <a:lnTo>
                  <a:pt x="173432" y="545226"/>
                </a:lnTo>
                <a:lnTo>
                  <a:pt x="172329" y="545751"/>
                </a:lnTo>
                <a:lnTo>
                  <a:pt x="171353" y="545782"/>
                </a:lnTo>
                <a:lnTo>
                  <a:pt x="169966" y="544345"/>
                </a:lnTo>
                <a:lnTo>
                  <a:pt x="167954" y="544289"/>
                </a:lnTo>
                <a:lnTo>
                  <a:pt x="167681" y="543820"/>
                </a:lnTo>
                <a:lnTo>
                  <a:pt x="168024" y="542100"/>
                </a:lnTo>
                <a:lnTo>
                  <a:pt x="167565" y="541547"/>
                </a:lnTo>
                <a:lnTo>
                  <a:pt x="166463" y="541093"/>
                </a:lnTo>
                <a:lnTo>
                  <a:pt x="166194" y="540741"/>
                </a:lnTo>
                <a:lnTo>
                  <a:pt x="166305" y="539963"/>
                </a:lnTo>
                <a:lnTo>
                  <a:pt x="167093" y="539162"/>
                </a:lnTo>
                <a:lnTo>
                  <a:pt x="167165" y="538612"/>
                </a:lnTo>
                <a:lnTo>
                  <a:pt x="165656" y="537585"/>
                </a:lnTo>
                <a:lnTo>
                  <a:pt x="163528" y="536967"/>
                </a:lnTo>
                <a:lnTo>
                  <a:pt x="162776" y="534966"/>
                </a:lnTo>
                <a:lnTo>
                  <a:pt x="162152" y="534800"/>
                </a:lnTo>
                <a:lnTo>
                  <a:pt x="161755" y="534951"/>
                </a:lnTo>
                <a:lnTo>
                  <a:pt x="159851" y="537227"/>
                </a:lnTo>
                <a:lnTo>
                  <a:pt x="158836" y="537648"/>
                </a:lnTo>
                <a:lnTo>
                  <a:pt x="158627" y="537273"/>
                </a:lnTo>
                <a:lnTo>
                  <a:pt x="158723" y="535804"/>
                </a:lnTo>
                <a:lnTo>
                  <a:pt x="157879" y="534894"/>
                </a:lnTo>
                <a:lnTo>
                  <a:pt x="156865" y="534588"/>
                </a:lnTo>
                <a:lnTo>
                  <a:pt x="155386" y="535215"/>
                </a:lnTo>
                <a:lnTo>
                  <a:pt x="154239" y="534975"/>
                </a:lnTo>
                <a:lnTo>
                  <a:pt x="153438" y="534347"/>
                </a:lnTo>
                <a:lnTo>
                  <a:pt x="153591" y="533243"/>
                </a:lnTo>
                <a:lnTo>
                  <a:pt x="154879" y="531927"/>
                </a:lnTo>
                <a:lnTo>
                  <a:pt x="153644" y="530071"/>
                </a:lnTo>
                <a:lnTo>
                  <a:pt x="152778" y="529848"/>
                </a:lnTo>
                <a:lnTo>
                  <a:pt x="152306" y="529979"/>
                </a:lnTo>
                <a:lnTo>
                  <a:pt x="152033" y="530483"/>
                </a:lnTo>
                <a:lnTo>
                  <a:pt x="152020" y="531898"/>
                </a:lnTo>
                <a:lnTo>
                  <a:pt x="151518" y="532494"/>
                </a:lnTo>
                <a:lnTo>
                  <a:pt x="150084" y="532881"/>
                </a:lnTo>
                <a:lnTo>
                  <a:pt x="149038" y="532677"/>
                </a:lnTo>
                <a:lnTo>
                  <a:pt x="148515" y="531667"/>
                </a:lnTo>
                <a:lnTo>
                  <a:pt x="148295" y="529283"/>
                </a:lnTo>
                <a:lnTo>
                  <a:pt x="147659" y="528703"/>
                </a:lnTo>
                <a:lnTo>
                  <a:pt x="146043" y="528530"/>
                </a:lnTo>
                <a:lnTo>
                  <a:pt x="145102" y="528092"/>
                </a:lnTo>
                <a:lnTo>
                  <a:pt x="144972" y="527590"/>
                </a:lnTo>
                <a:lnTo>
                  <a:pt x="146093" y="526464"/>
                </a:lnTo>
                <a:lnTo>
                  <a:pt x="146388" y="525831"/>
                </a:lnTo>
                <a:lnTo>
                  <a:pt x="146227" y="525260"/>
                </a:lnTo>
                <a:lnTo>
                  <a:pt x="145738" y="524854"/>
                </a:lnTo>
                <a:lnTo>
                  <a:pt x="144319" y="524497"/>
                </a:lnTo>
                <a:lnTo>
                  <a:pt x="143723" y="524985"/>
                </a:lnTo>
                <a:lnTo>
                  <a:pt x="143175" y="526728"/>
                </a:lnTo>
                <a:lnTo>
                  <a:pt x="142596" y="527038"/>
                </a:lnTo>
                <a:lnTo>
                  <a:pt x="141760" y="526967"/>
                </a:lnTo>
                <a:lnTo>
                  <a:pt x="141271" y="526702"/>
                </a:lnTo>
                <a:lnTo>
                  <a:pt x="141009" y="526173"/>
                </a:lnTo>
                <a:lnTo>
                  <a:pt x="140986" y="523539"/>
                </a:lnTo>
                <a:lnTo>
                  <a:pt x="138435" y="522626"/>
                </a:lnTo>
                <a:lnTo>
                  <a:pt x="136912" y="522947"/>
                </a:lnTo>
                <a:lnTo>
                  <a:pt x="136749" y="522096"/>
                </a:lnTo>
                <a:lnTo>
                  <a:pt x="137513" y="520621"/>
                </a:lnTo>
                <a:lnTo>
                  <a:pt x="137228" y="520126"/>
                </a:lnTo>
                <a:lnTo>
                  <a:pt x="135543" y="519721"/>
                </a:lnTo>
                <a:lnTo>
                  <a:pt x="133400" y="519816"/>
                </a:lnTo>
                <a:lnTo>
                  <a:pt x="132634" y="518331"/>
                </a:lnTo>
                <a:lnTo>
                  <a:pt x="131872" y="517786"/>
                </a:lnTo>
                <a:lnTo>
                  <a:pt x="128526" y="519791"/>
                </a:lnTo>
                <a:lnTo>
                  <a:pt x="128036" y="519920"/>
                </a:lnTo>
                <a:lnTo>
                  <a:pt x="127714" y="519731"/>
                </a:lnTo>
                <a:lnTo>
                  <a:pt x="127759" y="518299"/>
                </a:lnTo>
                <a:lnTo>
                  <a:pt x="128315" y="516472"/>
                </a:lnTo>
                <a:lnTo>
                  <a:pt x="127371" y="514191"/>
                </a:lnTo>
                <a:lnTo>
                  <a:pt x="125640" y="512972"/>
                </a:lnTo>
                <a:lnTo>
                  <a:pt x="124941" y="511007"/>
                </a:lnTo>
                <a:lnTo>
                  <a:pt x="124031" y="510978"/>
                </a:lnTo>
                <a:lnTo>
                  <a:pt x="122872" y="511458"/>
                </a:lnTo>
                <a:lnTo>
                  <a:pt x="122334" y="511382"/>
                </a:lnTo>
                <a:lnTo>
                  <a:pt x="121904" y="510926"/>
                </a:lnTo>
                <a:lnTo>
                  <a:pt x="121863" y="510354"/>
                </a:lnTo>
                <a:lnTo>
                  <a:pt x="123280" y="508232"/>
                </a:lnTo>
                <a:lnTo>
                  <a:pt x="123389" y="507894"/>
                </a:lnTo>
                <a:lnTo>
                  <a:pt x="123183" y="507509"/>
                </a:lnTo>
                <a:lnTo>
                  <a:pt x="120388" y="507177"/>
                </a:lnTo>
                <a:lnTo>
                  <a:pt x="119476" y="507531"/>
                </a:lnTo>
                <a:lnTo>
                  <a:pt x="118215" y="510458"/>
                </a:lnTo>
                <a:lnTo>
                  <a:pt x="116726" y="512879"/>
                </a:lnTo>
                <a:lnTo>
                  <a:pt x="116194" y="513638"/>
                </a:lnTo>
                <a:lnTo>
                  <a:pt x="115364" y="513988"/>
                </a:lnTo>
                <a:lnTo>
                  <a:pt x="114893" y="513856"/>
                </a:lnTo>
                <a:lnTo>
                  <a:pt x="113733" y="512598"/>
                </a:lnTo>
                <a:lnTo>
                  <a:pt x="110791" y="512018"/>
                </a:lnTo>
                <a:lnTo>
                  <a:pt x="108455" y="512039"/>
                </a:lnTo>
                <a:lnTo>
                  <a:pt x="107495" y="509471"/>
                </a:lnTo>
                <a:lnTo>
                  <a:pt x="106488" y="509049"/>
                </a:lnTo>
                <a:lnTo>
                  <a:pt x="103945" y="509368"/>
                </a:lnTo>
                <a:lnTo>
                  <a:pt x="101782" y="510313"/>
                </a:lnTo>
                <a:lnTo>
                  <a:pt x="101119" y="509859"/>
                </a:lnTo>
                <a:lnTo>
                  <a:pt x="100480" y="508721"/>
                </a:lnTo>
                <a:lnTo>
                  <a:pt x="99834" y="508593"/>
                </a:lnTo>
                <a:lnTo>
                  <a:pt x="99482" y="508763"/>
                </a:lnTo>
                <a:lnTo>
                  <a:pt x="98761" y="510140"/>
                </a:lnTo>
                <a:lnTo>
                  <a:pt x="97424" y="510649"/>
                </a:lnTo>
                <a:lnTo>
                  <a:pt x="96626" y="510173"/>
                </a:lnTo>
                <a:lnTo>
                  <a:pt x="95873" y="508279"/>
                </a:lnTo>
                <a:lnTo>
                  <a:pt x="94836" y="507388"/>
                </a:lnTo>
                <a:lnTo>
                  <a:pt x="92137" y="508347"/>
                </a:lnTo>
                <a:lnTo>
                  <a:pt x="90264" y="507666"/>
                </a:lnTo>
                <a:lnTo>
                  <a:pt x="88326" y="508584"/>
                </a:lnTo>
                <a:lnTo>
                  <a:pt x="85763" y="507487"/>
                </a:lnTo>
                <a:lnTo>
                  <a:pt x="84927" y="507418"/>
                </a:lnTo>
                <a:lnTo>
                  <a:pt x="84123" y="507884"/>
                </a:lnTo>
                <a:lnTo>
                  <a:pt x="82284" y="508031"/>
                </a:lnTo>
                <a:lnTo>
                  <a:pt x="81267" y="508389"/>
                </a:lnTo>
                <a:lnTo>
                  <a:pt x="79121" y="510197"/>
                </a:lnTo>
                <a:lnTo>
                  <a:pt x="78621" y="511843"/>
                </a:lnTo>
                <a:lnTo>
                  <a:pt x="78026" y="512552"/>
                </a:lnTo>
                <a:lnTo>
                  <a:pt x="77502" y="512702"/>
                </a:lnTo>
                <a:lnTo>
                  <a:pt x="76104" y="512349"/>
                </a:lnTo>
                <a:lnTo>
                  <a:pt x="75386" y="512480"/>
                </a:lnTo>
                <a:lnTo>
                  <a:pt x="74588" y="513310"/>
                </a:lnTo>
                <a:lnTo>
                  <a:pt x="74036" y="514397"/>
                </a:lnTo>
                <a:lnTo>
                  <a:pt x="73406" y="514847"/>
                </a:lnTo>
                <a:lnTo>
                  <a:pt x="72497" y="514693"/>
                </a:lnTo>
                <a:lnTo>
                  <a:pt x="70233" y="512610"/>
                </a:lnTo>
                <a:lnTo>
                  <a:pt x="69303" y="512726"/>
                </a:lnTo>
                <a:lnTo>
                  <a:pt x="67880" y="513908"/>
                </a:lnTo>
                <a:lnTo>
                  <a:pt x="66471" y="514321"/>
                </a:lnTo>
                <a:lnTo>
                  <a:pt x="66488" y="515889"/>
                </a:lnTo>
                <a:lnTo>
                  <a:pt x="66253" y="516544"/>
                </a:lnTo>
                <a:lnTo>
                  <a:pt x="65620" y="517163"/>
                </a:lnTo>
                <a:lnTo>
                  <a:pt x="64805" y="517392"/>
                </a:lnTo>
                <a:lnTo>
                  <a:pt x="63223" y="517009"/>
                </a:lnTo>
                <a:lnTo>
                  <a:pt x="62210" y="516432"/>
                </a:lnTo>
                <a:lnTo>
                  <a:pt x="61396" y="515231"/>
                </a:lnTo>
                <a:lnTo>
                  <a:pt x="61553" y="514299"/>
                </a:lnTo>
                <a:lnTo>
                  <a:pt x="62386" y="513049"/>
                </a:lnTo>
                <a:lnTo>
                  <a:pt x="62501" y="512506"/>
                </a:lnTo>
                <a:lnTo>
                  <a:pt x="62153" y="510712"/>
                </a:lnTo>
                <a:lnTo>
                  <a:pt x="61315" y="510429"/>
                </a:lnTo>
                <a:lnTo>
                  <a:pt x="60693" y="510912"/>
                </a:lnTo>
                <a:lnTo>
                  <a:pt x="59682" y="512677"/>
                </a:lnTo>
                <a:lnTo>
                  <a:pt x="57930" y="514333"/>
                </a:lnTo>
                <a:lnTo>
                  <a:pt x="57448" y="514289"/>
                </a:lnTo>
                <a:lnTo>
                  <a:pt x="57385" y="513908"/>
                </a:lnTo>
                <a:lnTo>
                  <a:pt x="55512" y="512099"/>
                </a:lnTo>
                <a:lnTo>
                  <a:pt x="54831" y="511803"/>
                </a:lnTo>
                <a:lnTo>
                  <a:pt x="54354" y="511979"/>
                </a:lnTo>
                <a:lnTo>
                  <a:pt x="54113" y="512689"/>
                </a:lnTo>
                <a:lnTo>
                  <a:pt x="54193" y="513611"/>
                </a:lnTo>
                <a:lnTo>
                  <a:pt x="55264" y="517137"/>
                </a:lnTo>
                <a:lnTo>
                  <a:pt x="54972" y="518179"/>
                </a:lnTo>
                <a:lnTo>
                  <a:pt x="53785" y="518870"/>
                </a:lnTo>
                <a:lnTo>
                  <a:pt x="51499" y="518609"/>
                </a:lnTo>
                <a:lnTo>
                  <a:pt x="49977" y="518921"/>
                </a:lnTo>
                <a:lnTo>
                  <a:pt x="49204" y="520146"/>
                </a:lnTo>
                <a:lnTo>
                  <a:pt x="49510" y="520995"/>
                </a:lnTo>
                <a:lnTo>
                  <a:pt x="49393" y="522043"/>
                </a:lnTo>
                <a:lnTo>
                  <a:pt x="49783" y="522942"/>
                </a:lnTo>
                <a:lnTo>
                  <a:pt x="49833" y="524005"/>
                </a:lnTo>
                <a:lnTo>
                  <a:pt x="48893" y="525747"/>
                </a:lnTo>
                <a:lnTo>
                  <a:pt x="43093" y="530013"/>
                </a:lnTo>
                <a:lnTo>
                  <a:pt x="41342" y="531004"/>
                </a:lnTo>
                <a:lnTo>
                  <a:pt x="40341" y="532164"/>
                </a:lnTo>
                <a:lnTo>
                  <a:pt x="39619" y="533795"/>
                </a:lnTo>
                <a:lnTo>
                  <a:pt x="39494" y="534853"/>
                </a:lnTo>
                <a:lnTo>
                  <a:pt x="38384" y="538131"/>
                </a:lnTo>
                <a:lnTo>
                  <a:pt x="36498" y="540349"/>
                </a:lnTo>
                <a:lnTo>
                  <a:pt x="36869" y="541784"/>
                </a:lnTo>
                <a:lnTo>
                  <a:pt x="38781" y="542436"/>
                </a:lnTo>
                <a:lnTo>
                  <a:pt x="38750" y="543355"/>
                </a:lnTo>
                <a:lnTo>
                  <a:pt x="38219" y="543694"/>
                </a:lnTo>
                <a:lnTo>
                  <a:pt x="37808" y="543670"/>
                </a:lnTo>
                <a:lnTo>
                  <a:pt x="36056" y="542909"/>
                </a:lnTo>
                <a:lnTo>
                  <a:pt x="33235" y="542258"/>
                </a:lnTo>
                <a:lnTo>
                  <a:pt x="31420" y="543036"/>
                </a:lnTo>
                <a:lnTo>
                  <a:pt x="30661" y="544044"/>
                </a:lnTo>
                <a:lnTo>
                  <a:pt x="30875" y="545102"/>
                </a:lnTo>
                <a:lnTo>
                  <a:pt x="32330" y="546101"/>
                </a:lnTo>
                <a:lnTo>
                  <a:pt x="32801" y="546782"/>
                </a:lnTo>
                <a:lnTo>
                  <a:pt x="31592" y="549120"/>
                </a:lnTo>
                <a:lnTo>
                  <a:pt x="31846" y="551172"/>
                </a:lnTo>
                <a:lnTo>
                  <a:pt x="31726" y="551506"/>
                </a:lnTo>
                <a:lnTo>
                  <a:pt x="29879" y="553048"/>
                </a:lnTo>
                <a:lnTo>
                  <a:pt x="27941" y="557642"/>
                </a:lnTo>
                <a:lnTo>
                  <a:pt x="26184" y="558747"/>
                </a:lnTo>
                <a:lnTo>
                  <a:pt x="26082" y="559343"/>
                </a:lnTo>
                <a:lnTo>
                  <a:pt x="26708" y="559963"/>
                </a:lnTo>
                <a:lnTo>
                  <a:pt x="27947" y="560481"/>
                </a:lnTo>
                <a:lnTo>
                  <a:pt x="29670" y="562080"/>
                </a:lnTo>
                <a:lnTo>
                  <a:pt x="31130" y="563080"/>
                </a:lnTo>
                <a:lnTo>
                  <a:pt x="32057" y="564055"/>
                </a:lnTo>
                <a:lnTo>
                  <a:pt x="32053" y="564639"/>
                </a:lnTo>
                <a:lnTo>
                  <a:pt x="31232" y="565683"/>
                </a:lnTo>
                <a:lnTo>
                  <a:pt x="28657" y="565645"/>
                </a:lnTo>
                <a:lnTo>
                  <a:pt x="24773" y="567199"/>
                </a:lnTo>
                <a:lnTo>
                  <a:pt x="24182" y="567683"/>
                </a:lnTo>
                <a:lnTo>
                  <a:pt x="24055" y="568089"/>
                </a:lnTo>
                <a:lnTo>
                  <a:pt x="24418" y="569097"/>
                </a:lnTo>
                <a:lnTo>
                  <a:pt x="25407" y="570652"/>
                </a:lnTo>
                <a:lnTo>
                  <a:pt x="26585" y="571343"/>
                </a:lnTo>
                <a:lnTo>
                  <a:pt x="28325" y="571284"/>
                </a:lnTo>
                <a:lnTo>
                  <a:pt x="28707" y="571726"/>
                </a:lnTo>
                <a:lnTo>
                  <a:pt x="28730" y="572488"/>
                </a:lnTo>
                <a:lnTo>
                  <a:pt x="27461" y="574993"/>
                </a:lnTo>
                <a:lnTo>
                  <a:pt x="27493" y="577142"/>
                </a:lnTo>
                <a:lnTo>
                  <a:pt x="24362" y="582584"/>
                </a:lnTo>
                <a:lnTo>
                  <a:pt x="23405" y="583258"/>
                </a:lnTo>
                <a:lnTo>
                  <a:pt x="20390" y="583830"/>
                </a:lnTo>
                <a:lnTo>
                  <a:pt x="19817" y="584271"/>
                </a:lnTo>
                <a:lnTo>
                  <a:pt x="19385" y="585425"/>
                </a:lnTo>
                <a:lnTo>
                  <a:pt x="19228" y="586771"/>
                </a:lnTo>
                <a:lnTo>
                  <a:pt x="19073" y="592228"/>
                </a:lnTo>
                <a:lnTo>
                  <a:pt x="18485" y="593504"/>
                </a:lnTo>
                <a:lnTo>
                  <a:pt x="17778" y="593748"/>
                </a:lnTo>
                <a:lnTo>
                  <a:pt x="15377" y="593418"/>
                </a:lnTo>
                <a:lnTo>
                  <a:pt x="14802" y="594397"/>
                </a:lnTo>
                <a:lnTo>
                  <a:pt x="15361" y="595152"/>
                </a:lnTo>
                <a:lnTo>
                  <a:pt x="17311" y="596419"/>
                </a:lnTo>
                <a:lnTo>
                  <a:pt x="21164" y="597746"/>
                </a:lnTo>
                <a:lnTo>
                  <a:pt x="21674" y="598398"/>
                </a:lnTo>
                <a:lnTo>
                  <a:pt x="21933" y="599339"/>
                </a:lnTo>
                <a:lnTo>
                  <a:pt x="21897" y="600064"/>
                </a:lnTo>
                <a:lnTo>
                  <a:pt x="21537" y="600821"/>
                </a:lnTo>
                <a:lnTo>
                  <a:pt x="20519" y="602123"/>
                </a:lnTo>
                <a:lnTo>
                  <a:pt x="18569" y="603525"/>
                </a:lnTo>
                <a:lnTo>
                  <a:pt x="15199" y="604762"/>
                </a:lnTo>
                <a:lnTo>
                  <a:pt x="15048" y="605720"/>
                </a:lnTo>
                <a:lnTo>
                  <a:pt x="16038" y="607950"/>
                </a:lnTo>
                <a:lnTo>
                  <a:pt x="15583" y="608919"/>
                </a:lnTo>
                <a:lnTo>
                  <a:pt x="13476" y="609790"/>
                </a:lnTo>
                <a:lnTo>
                  <a:pt x="12503" y="609919"/>
                </a:lnTo>
                <a:lnTo>
                  <a:pt x="11920" y="610325"/>
                </a:lnTo>
                <a:lnTo>
                  <a:pt x="11727" y="610837"/>
                </a:lnTo>
                <a:lnTo>
                  <a:pt x="11829" y="611878"/>
                </a:lnTo>
                <a:lnTo>
                  <a:pt x="12679" y="612908"/>
                </a:lnTo>
                <a:lnTo>
                  <a:pt x="13390" y="613347"/>
                </a:lnTo>
                <a:lnTo>
                  <a:pt x="16692" y="614120"/>
                </a:lnTo>
                <a:lnTo>
                  <a:pt x="17353" y="614864"/>
                </a:lnTo>
                <a:lnTo>
                  <a:pt x="17240" y="615644"/>
                </a:lnTo>
                <a:lnTo>
                  <a:pt x="15407" y="616985"/>
                </a:lnTo>
                <a:lnTo>
                  <a:pt x="14329" y="618376"/>
                </a:lnTo>
                <a:lnTo>
                  <a:pt x="13667" y="620227"/>
                </a:lnTo>
                <a:lnTo>
                  <a:pt x="13585" y="621517"/>
                </a:lnTo>
                <a:lnTo>
                  <a:pt x="14551" y="624006"/>
                </a:lnTo>
                <a:lnTo>
                  <a:pt x="13915" y="628372"/>
                </a:lnTo>
                <a:lnTo>
                  <a:pt x="14110" y="630682"/>
                </a:lnTo>
                <a:lnTo>
                  <a:pt x="13443" y="631528"/>
                </a:lnTo>
                <a:lnTo>
                  <a:pt x="11816" y="631834"/>
                </a:lnTo>
                <a:lnTo>
                  <a:pt x="10233" y="631687"/>
                </a:lnTo>
                <a:lnTo>
                  <a:pt x="7124" y="630745"/>
                </a:lnTo>
                <a:lnTo>
                  <a:pt x="5590" y="631022"/>
                </a:lnTo>
                <a:lnTo>
                  <a:pt x="5084" y="631841"/>
                </a:lnTo>
                <a:lnTo>
                  <a:pt x="4928" y="632739"/>
                </a:lnTo>
                <a:lnTo>
                  <a:pt x="6167" y="635734"/>
                </a:lnTo>
                <a:lnTo>
                  <a:pt x="5990" y="638102"/>
                </a:lnTo>
                <a:lnTo>
                  <a:pt x="6459" y="640753"/>
                </a:lnTo>
                <a:lnTo>
                  <a:pt x="2999" y="642993"/>
                </a:lnTo>
                <a:lnTo>
                  <a:pt x="1211" y="643664"/>
                </a:lnTo>
                <a:lnTo>
                  <a:pt x="84" y="644673"/>
                </a:lnTo>
                <a:lnTo>
                  <a:pt x="0" y="645658"/>
                </a:lnTo>
                <a:lnTo>
                  <a:pt x="1206" y="647365"/>
                </a:lnTo>
                <a:lnTo>
                  <a:pt x="1192" y="647893"/>
                </a:lnTo>
                <a:lnTo>
                  <a:pt x="510" y="648724"/>
                </a:lnTo>
                <a:lnTo>
                  <a:pt x="295" y="648942"/>
                </a:lnTo>
                <a:lnTo>
                  <a:pt x="11045" y="648285"/>
                </a:lnTo>
                <a:lnTo>
                  <a:pt x="12786" y="696280"/>
                </a:lnTo>
                <a:lnTo>
                  <a:pt x="18164" y="698448"/>
                </a:lnTo>
                <a:lnTo>
                  <a:pt x="26928" y="703075"/>
                </a:lnTo>
                <a:lnTo>
                  <a:pt x="32506" y="693012"/>
                </a:lnTo>
                <a:lnTo>
                  <a:pt x="33432" y="690121"/>
                </a:lnTo>
                <a:lnTo>
                  <a:pt x="37927" y="671310"/>
                </a:lnTo>
                <a:lnTo>
                  <a:pt x="40546" y="663225"/>
                </a:lnTo>
                <a:lnTo>
                  <a:pt x="41518" y="652036"/>
                </a:lnTo>
                <a:lnTo>
                  <a:pt x="52568" y="652945"/>
                </a:lnTo>
                <a:lnTo>
                  <a:pt x="53282" y="642608"/>
                </a:lnTo>
                <a:lnTo>
                  <a:pt x="64890" y="643918"/>
                </a:lnTo>
                <a:lnTo>
                  <a:pt x="68229" y="634710"/>
                </a:lnTo>
                <a:lnTo>
                  <a:pt x="68138" y="627358"/>
                </a:lnTo>
                <a:lnTo>
                  <a:pt x="67895" y="624650"/>
                </a:lnTo>
                <a:lnTo>
                  <a:pt x="102761" y="625831"/>
                </a:lnTo>
                <a:lnTo>
                  <a:pt x="112751" y="627893"/>
                </a:lnTo>
                <a:lnTo>
                  <a:pt x="107937" y="641703"/>
                </a:lnTo>
                <a:lnTo>
                  <a:pt x="100891" y="638642"/>
                </a:lnTo>
                <a:lnTo>
                  <a:pt x="89715" y="635889"/>
                </a:lnTo>
                <a:lnTo>
                  <a:pt x="87427" y="646323"/>
                </a:lnTo>
                <a:lnTo>
                  <a:pt x="92801" y="645931"/>
                </a:lnTo>
                <a:lnTo>
                  <a:pt x="101660" y="650429"/>
                </a:lnTo>
                <a:lnTo>
                  <a:pt x="94915" y="660856"/>
                </a:lnTo>
                <a:lnTo>
                  <a:pt x="88669" y="671966"/>
                </a:lnTo>
                <a:lnTo>
                  <a:pt x="97794" y="683087"/>
                </a:lnTo>
                <a:lnTo>
                  <a:pt x="95799" y="707192"/>
                </a:lnTo>
                <a:lnTo>
                  <a:pt x="125076" y="714336"/>
                </a:lnTo>
                <a:lnTo>
                  <a:pt x="143164" y="728314"/>
                </a:lnTo>
                <a:lnTo>
                  <a:pt x="137810" y="735174"/>
                </a:lnTo>
                <a:lnTo>
                  <a:pt x="129078" y="748707"/>
                </a:lnTo>
                <a:lnTo>
                  <a:pt x="134117" y="751253"/>
                </a:lnTo>
                <a:lnTo>
                  <a:pt x="141262" y="754367"/>
                </a:lnTo>
                <a:lnTo>
                  <a:pt x="148165" y="756781"/>
                </a:lnTo>
                <a:lnTo>
                  <a:pt x="152815" y="759608"/>
                </a:lnTo>
                <a:lnTo>
                  <a:pt x="164490" y="763053"/>
                </a:lnTo>
                <a:lnTo>
                  <a:pt x="169778" y="764946"/>
                </a:lnTo>
                <a:lnTo>
                  <a:pt x="183547" y="772929"/>
                </a:lnTo>
                <a:lnTo>
                  <a:pt x="185904" y="767397"/>
                </a:lnTo>
                <a:lnTo>
                  <a:pt x="192920" y="767518"/>
                </a:lnTo>
                <a:lnTo>
                  <a:pt x="199775" y="774130"/>
                </a:lnTo>
                <a:lnTo>
                  <a:pt x="200885" y="773442"/>
                </a:lnTo>
                <a:lnTo>
                  <a:pt x="205482" y="781508"/>
                </a:lnTo>
                <a:lnTo>
                  <a:pt x="209254" y="790713"/>
                </a:lnTo>
                <a:lnTo>
                  <a:pt x="211014" y="799676"/>
                </a:lnTo>
                <a:lnTo>
                  <a:pt x="201977" y="803983"/>
                </a:lnTo>
                <a:lnTo>
                  <a:pt x="201632" y="806796"/>
                </a:lnTo>
                <a:lnTo>
                  <a:pt x="193241" y="826301"/>
                </a:lnTo>
                <a:lnTo>
                  <a:pt x="192444" y="828115"/>
                </a:lnTo>
                <a:lnTo>
                  <a:pt x="190714" y="829857"/>
                </a:lnTo>
                <a:lnTo>
                  <a:pt x="190477" y="832682"/>
                </a:lnTo>
                <a:lnTo>
                  <a:pt x="197115" y="836539"/>
                </a:lnTo>
                <a:lnTo>
                  <a:pt x="198439" y="837583"/>
                </a:lnTo>
                <a:lnTo>
                  <a:pt x="198834" y="837362"/>
                </a:lnTo>
                <a:lnTo>
                  <a:pt x="208044" y="844248"/>
                </a:lnTo>
                <a:lnTo>
                  <a:pt x="215299" y="849058"/>
                </a:lnTo>
                <a:lnTo>
                  <a:pt x="216554" y="849454"/>
                </a:lnTo>
                <a:lnTo>
                  <a:pt x="218592" y="849085"/>
                </a:lnTo>
                <a:lnTo>
                  <a:pt x="214451" y="861647"/>
                </a:lnTo>
                <a:lnTo>
                  <a:pt x="213710" y="867153"/>
                </a:lnTo>
                <a:lnTo>
                  <a:pt x="214229" y="874594"/>
                </a:lnTo>
                <a:lnTo>
                  <a:pt x="213395" y="882969"/>
                </a:lnTo>
                <a:lnTo>
                  <a:pt x="213656" y="890253"/>
                </a:lnTo>
                <a:lnTo>
                  <a:pt x="223677" y="893314"/>
                </a:lnTo>
                <a:lnTo>
                  <a:pt x="221730" y="898233"/>
                </a:lnTo>
                <a:lnTo>
                  <a:pt x="220063" y="907066"/>
                </a:lnTo>
                <a:lnTo>
                  <a:pt x="222698" y="912669"/>
                </a:lnTo>
                <a:lnTo>
                  <a:pt x="265861" y="902863"/>
                </a:lnTo>
                <a:lnTo>
                  <a:pt x="271972" y="906410"/>
                </a:lnTo>
                <a:lnTo>
                  <a:pt x="266448" y="916049"/>
                </a:lnTo>
                <a:lnTo>
                  <a:pt x="272883" y="919557"/>
                </a:lnTo>
                <a:lnTo>
                  <a:pt x="269230" y="929146"/>
                </a:lnTo>
                <a:lnTo>
                  <a:pt x="266665" y="929523"/>
                </a:lnTo>
                <a:lnTo>
                  <a:pt x="259476" y="940768"/>
                </a:lnTo>
                <a:lnTo>
                  <a:pt x="264210" y="945840"/>
                </a:lnTo>
                <a:lnTo>
                  <a:pt x="266741" y="942815"/>
                </a:lnTo>
                <a:lnTo>
                  <a:pt x="275188" y="952227"/>
                </a:lnTo>
                <a:lnTo>
                  <a:pt x="275328" y="954889"/>
                </a:lnTo>
                <a:lnTo>
                  <a:pt x="273946" y="957544"/>
                </a:lnTo>
                <a:lnTo>
                  <a:pt x="271895" y="960715"/>
                </a:lnTo>
                <a:lnTo>
                  <a:pt x="274963" y="961350"/>
                </a:lnTo>
                <a:lnTo>
                  <a:pt x="285123" y="970594"/>
                </a:lnTo>
                <a:lnTo>
                  <a:pt x="287743" y="968326"/>
                </a:lnTo>
                <a:lnTo>
                  <a:pt x="288808" y="967707"/>
                </a:lnTo>
                <a:lnTo>
                  <a:pt x="289363" y="966935"/>
                </a:lnTo>
                <a:lnTo>
                  <a:pt x="289278" y="964772"/>
                </a:lnTo>
                <a:lnTo>
                  <a:pt x="288477" y="962725"/>
                </a:lnTo>
                <a:lnTo>
                  <a:pt x="288726" y="961780"/>
                </a:lnTo>
                <a:lnTo>
                  <a:pt x="289742" y="961117"/>
                </a:lnTo>
                <a:lnTo>
                  <a:pt x="291550" y="960754"/>
                </a:lnTo>
                <a:lnTo>
                  <a:pt x="293003" y="959961"/>
                </a:lnTo>
                <a:lnTo>
                  <a:pt x="293465" y="960532"/>
                </a:lnTo>
                <a:lnTo>
                  <a:pt x="293799" y="960091"/>
                </a:lnTo>
                <a:lnTo>
                  <a:pt x="295117" y="960169"/>
                </a:lnTo>
                <a:lnTo>
                  <a:pt x="295833" y="959675"/>
                </a:lnTo>
                <a:lnTo>
                  <a:pt x="295966" y="959852"/>
                </a:lnTo>
                <a:lnTo>
                  <a:pt x="296758" y="959040"/>
                </a:lnTo>
                <a:lnTo>
                  <a:pt x="296719" y="958716"/>
                </a:lnTo>
                <a:lnTo>
                  <a:pt x="295912" y="957834"/>
                </a:lnTo>
                <a:lnTo>
                  <a:pt x="295843" y="957287"/>
                </a:lnTo>
                <a:lnTo>
                  <a:pt x="297142" y="956673"/>
                </a:lnTo>
                <a:lnTo>
                  <a:pt x="297069" y="956423"/>
                </a:lnTo>
                <a:lnTo>
                  <a:pt x="297701" y="955544"/>
                </a:lnTo>
                <a:lnTo>
                  <a:pt x="298044" y="955624"/>
                </a:lnTo>
                <a:lnTo>
                  <a:pt x="298280" y="955218"/>
                </a:lnTo>
                <a:lnTo>
                  <a:pt x="298791" y="955267"/>
                </a:lnTo>
                <a:lnTo>
                  <a:pt x="298642" y="954867"/>
                </a:lnTo>
                <a:lnTo>
                  <a:pt x="298938" y="954405"/>
                </a:lnTo>
                <a:lnTo>
                  <a:pt x="298642" y="953837"/>
                </a:lnTo>
                <a:lnTo>
                  <a:pt x="298284" y="953793"/>
                </a:lnTo>
                <a:lnTo>
                  <a:pt x="297694" y="951848"/>
                </a:lnTo>
                <a:lnTo>
                  <a:pt x="298007" y="951475"/>
                </a:lnTo>
                <a:lnTo>
                  <a:pt x="297675" y="951209"/>
                </a:lnTo>
                <a:lnTo>
                  <a:pt x="297961" y="951061"/>
                </a:lnTo>
                <a:lnTo>
                  <a:pt x="297837" y="950720"/>
                </a:lnTo>
                <a:lnTo>
                  <a:pt x="298376" y="949931"/>
                </a:lnTo>
                <a:lnTo>
                  <a:pt x="298502" y="949246"/>
                </a:lnTo>
                <a:lnTo>
                  <a:pt x="297869" y="948926"/>
                </a:lnTo>
                <a:lnTo>
                  <a:pt x="297514" y="947298"/>
                </a:lnTo>
                <a:lnTo>
                  <a:pt x="298573" y="945750"/>
                </a:lnTo>
                <a:lnTo>
                  <a:pt x="298498" y="945112"/>
                </a:lnTo>
                <a:lnTo>
                  <a:pt x="298829" y="944674"/>
                </a:lnTo>
                <a:lnTo>
                  <a:pt x="298368" y="943573"/>
                </a:lnTo>
                <a:lnTo>
                  <a:pt x="297860" y="943285"/>
                </a:lnTo>
                <a:lnTo>
                  <a:pt x="297292" y="942361"/>
                </a:lnTo>
                <a:lnTo>
                  <a:pt x="297138" y="941408"/>
                </a:lnTo>
                <a:lnTo>
                  <a:pt x="296279" y="940503"/>
                </a:lnTo>
                <a:lnTo>
                  <a:pt x="295602" y="940258"/>
                </a:lnTo>
                <a:lnTo>
                  <a:pt x="295630" y="939056"/>
                </a:lnTo>
                <a:lnTo>
                  <a:pt x="295469" y="939014"/>
                </a:lnTo>
                <a:lnTo>
                  <a:pt x="295629" y="938593"/>
                </a:lnTo>
                <a:lnTo>
                  <a:pt x="296291" y="938477"/>
                </a:lnTo>
                <a:lnTo>
                  <a:pt x="296542" y="939111"/>
                </a:lnTo>
                <a:lnTo>
                  <a:pt x="297395" y="939663"/>
                </a:lnTo>
                <a:lnTo>
                  <a:pt x="298996" y="939325"/>
                </a:lnTo>
                <a:lnTo>
                  <a:pt x="299305" y="938685"/>
                </a:lnTo>
                <a:lnTo>
                  <a:pt x="299351" y="937421"/>
                </a:lnTo>
                <a:lnTo>
                  <a:pt x="300641" y="936795"/>
                </a:lnTo>
                <a:lnTo>
                  <a:pt x="301200" y="936775"/>
                </a:lnTo>
                <a:lnTo>
                  <a:pt x="301817" y="935819"/>
                </a:lnTo>
                <a:lnTo>
                  <a:pt x="302189" y="935001"/>
                </a:lnTo>
                <a:lnTo>
                  <a:pt x="302206" y="933826"/>
                </a:lnTo>
                <a:lnTo>
                  <a:pt x="302832" y="932798"/>
                </a:lnTo>
                <a:lnTo>
                  <a:pt x="302836" y="931469"/>
                </a:lnTo>
                <a:lnTo>
                  <a:pt x="303115" y="931018"/>
                </a:lnTo>
                <a:lnTo>
                  <a:pt x="304111" y="931078"/>
                </a:lnTo>
                <a:lnTo>
                  <a:pt x="304813" y="930860"/>
                </a:lnTo>
                <a:lnTo>
                  <a:pt x="305047" y="930551"/>
                </a:lnTo>
                <a:lnTo>
                  <a:pt x="306062" y="930653"/>
                </a:lnTo>
                <a:lnTo>
                  <a:pt x="306487" y="930420"/>
                </a:lnTo>
                <a:lnTo>
                  <a:pt x="307596" y="930635"/>
                </a:lnTo>
                <a:lnTo>
                  <a:pt x="307816" y="930979"/>
                </a:lnTo>
                <a:lnTo>
                  <a:pt x="307940" y="930627"/>
                </a:lnTo>
                <a:lnTo>
                  <a:pt x="308760" y="930161"/>
                </a:lnTo>
                <a:lnTo>
                  <a:pt x="308482" y="929345"/>
                </a:lnTo>
                <a:lnTo>
                  <a:pt x="307515" y="928772"/>
                </a:lnTo>
                <a:lnTo>
                  <a:pt x="307472" y="928338"/>
                </a:lnTo>
                <a:lnTo>
                  <a:pt x="307874" y="927711"/>
                </a:lnTo>
                <a:lnTo>
                  <a:pt x="309120" y="926979"/>
                </a:lnTo>
                <a:lnTo>
                  <a:pt x="303139" y="920831"/>
                </a:lnTo>
                <a:lnTo>
                  <a:pt x="303603" y="919821"/>
                </a:lnTo>
                <a:lnTo>
                  <a:pt x="304681" y="920059"/>
                </a:lnTo>
                <a:lnTo>
                  <a:pt x="305256" y="919487"/>
                </a:lnTo>
                <a:lnTo>
                  <a:pt x="305634" y="917355"/>
                </a:lnTo>
                <a:lnTo>
                  <a:pt x="304849" y="915984"/>
                </a:lnTo>
                <a:lnTo>
                  <a:pt x="306313" y="912297"/>
                </a:lnTo>
                <a:lnTo>
                  <a:pt x="308262" y="911693"/>
                </a:lnTo>
                <a:lnTo>
                  <a:pt x="308510" y="908821"/>
                </a:lnTo>
                <a:lnTo>
                  <a:pt x="306409" y="906383"/>
                </a:lnTo>
                <a:lnTo>
                  <a:pt x="305521" y="904725"/>
                </a:lnTo>
                <a:lnTo>
                  <a:pt x="305156" y="903435"/>
                </a:lnTo>
                <a:lnTo>
                  <a:pt x="305423" y="902712"/>
                </a:lnTo>
                <a:lnTo>
                  <a:pt x="305885" y="902504"/>
                </a:lnTo>
                <a:lnTo>
                  <a:pt x="306718" y="902581"/>
                </a:lnTo>
                <a:lnTo>
                  <a:pt x="307099" y="902244"/>
                </a:lnTo>
                <a:lnTo>
                  <a:pt x="306879" y="901543"/>
                </a:lnTo>
                <a:lnTo>
                  <a:pt x="306027" y="900713"/>
                </a:lnTo>
                <a:lnTo>
                  <a:pt x="305948" y="900357"/>
                </a:lnTo>
                <a:lnTo>
                  <a:pt x="307944" y="898235"/>
                </a:lnTo>
                <a:lnTo>
                  <a:pt x="308014" y="896771"/>
                </a:lnTo>
                <a:lnTo>
                  <a:pt x="318263" y="894771"/>
                </a:lnTo>
                <a:lnTo>
                  <a:pt x="317479" y="890870"/>
                </a:lnTo>
                <a:lnTo>
                  <a:pt x="321527" y="890045"/>
                </a:lnTo>
                <a:lnTo>
                  <a:pt x="321520" y="890811"/>
                </a:lnTo>
                <a:lnTo>
                  <a:pt x="321263" y="891072"/>
                </a:lnTo>
                <a:lnTo>
                  <a:pt x="320999" y="892312"/>
                </a:lnTo>
                <a:lnTo>
                  <a:pt x="321229" y="894727"/>
                </a:lnTo>
                <a:lnTo>
                  <a:pt x="321874" y="896409"/>
                </a:lnTo>
                <a:lnTo>
                  <a:pt x="322930" y="896874"/>
                </a:lnTo>
                <a:lnTo>
                  <a:pt x="323510" y="898547"/>
                </a:lnTo>
                <a:lnTo>
                  <a:pt x="323134" y="899727"/>
                </a:lnTo>
                <a:lnTo>
                  <a:pt x="323167" y="901390"/>
                </a:lnTo>
                <a:lnTo>
                  <a:pt x="322943" y="901932"/>
                </a:lnTo>
                <a:lnTo>
                  <a:pt x="323098" y="902804"/>
                </a:lnTo>
                <a:lnTo>
                  <a:pt x="322684" y="903624"/>
                </a:lnTo>
                <a:lnTo>
                  <a:pt x="323412" y="904626"/>
                </a:lnTo>
                <a:lnTo>
                  <a:pt x="323364" y="905484"/>
                </a:lnTo>
                <a:lnTo>
                  <a:pt x="324029" y="906071"/>
                </a:lnTo>
                <a:lnTo>
                  <a:pt x="331862" y="905038"/>
                </a:lnTo>
                <a:lnTo>
                  <a:pt x="336448" y="904853"/>
                </a:lnTo>
                <a:lnTo>
                  <a:pt x="349302" y="902887"/>
                </a:lnTo>
                <a:lnTo>
                  <a:pt x="353194" y="902589"/>
                </a:lnTo>
                <a:lnTo>
                  <a:pt x="358350" y="904611"/>
                </a:lnTo>
                <a:lnTo>
                  <a:pt x="360273" y="905711"/>
                </a:lnTo>
                <a:lnTo>
                  <a:pt x="330793" y="940618"/>
                </a:lnTo>
                <a:lnTo>
                  <a:pt x="332934" y="940142"/>
                </a:lnTo>
                <a:lnTo>
                  <a:pt x="332282" y="941422"/>
                </a:lnTo>
                <a:lnTo>
                  <a:pt x="332265" y="941897"/>
                </a:lnTo>
                <a:lnTo>
                  <a:pt x="332685" y="942288"/>
                </a:lnTo>
                <a:lnTo>
                  <a:pt x="332369" y="942107"/>
                </a:lnTo>
                <a:lnTo>
                  <a:pt x="332338" y="942950"/>
                </a:lnTo>
                <a:lnTo>
                  <a:pt x="331501" y="943078"/>
                </a:lnTo>
                <a:lnTo>
                  <a:pt x="330602" y="942675"/>
                </a:lnTo>
                <a:lnTo>
                  <a:pt x="328294" y="943939"/>
                </a:lnTo>
                <a:lnTo>
                  <a:pt x="346007" y="973945"/>
                </a:lnTo>
                <a:lnTo>
                  <a:pt x="347314" y="972347"/>
                </a:lnTo>
                <a:lnTo>
                  <a:pt x="348359" y="970571"/>
                </a:lnTo>
                <a:lnTo>
                  <a:pt x="348759" y="969295"/>
                </a:lnTo>
                <a:lnTo>
                  <a:pt x="349340" y="968633"/>
                </a:lnTo>
                <a:lnTo>
                  <a:pt x="351016" y="968394"/>
                </a:lnTo>
                <a:lnTo>
                  <a:pt x="353129" y="968770"/>
                </a:lnTo>
                <a:lnTo>
                  <a:pt x="354668" y="967923"/>
                </a:lnTo>
                <a:lnTo>
                  <a:pt x="356179" y="968029"/>
                </a:lnTo>
                <a:lnTo>
                  <a:pt x="357346" y="967387"/>
                </a:lnTo>
                <a:lnTo>
                  <a:pt x="348058" y="996642"/>
                </a:lnTo>
                <a:lnTo>
                  <a:pt x="342520" y="996010"/>
                </a:lnTo>
                <a:lnTo>
                  <a:pt x="339406" y="1000614"/>
                </a:lnTo>
                <a:lnTo>
                  <a:pt x="334312" y="999893"/>
                </a:lnTo>
                <a:lnTo>
                  <a:pt x="337217" y="1006466"/>
                </a:lnTo>
                <a:lnTo>
                  <a:pt x="344125" y="1008886"/>
                </a:lnTo>
                <a:lnTo>
                  <a:pt x="336722" y="1032007"/>
                </a:lnTo>
                <a:lnTo>
                  <a:pt x="335930" y="1031706"/>
                </a:lnTo>
                <a:lnTo>
                  <a:pt x="330913" y="1038416"/>
                </a:lnTo>
                <a:lnTo>
                  <a:pt x="333967" y="1040606"/>
                </a:lnTo>
                <a:lnTo>
                  <a:pt x="328149" y="1058752"/>
                </a:lnTo>
                <a:lnTo>
                  <a:pt x="338944" y="1062217"/>
                </a:lnTo>
                <a:lnTo>
                  <a:pt x="304215" y="1133441"/>
                </a:lnTo>
                <a:lnTo>
                  <a:pt x="259028" y="1228836"/>
                </a:lnTo>
                <a:lnTo>
                  <a:pt x="259840" y="1229293"/>
                </a:lnTo>
                <a:lnTo>
                  <a:pt x="260024" y="1229813"/>
                </a:lnTo>
                <a:lnTo>
                  <a:pt x="259393" y="1236638"/>
                </a:lnTo>
                <a:lnTo>
                  <a:pt x="260222" y="1238274"/>
                </a:lnTo>
                <a:lnTo>
                  <a:pt x="262134" y="1239483"/>
                </a:lnTo>
                <a:lnTo>
                  <a:pt x="263331" y="1240542"/>
                </a:lnTo>
                <a:lnTo>
                  <a:pt x="265068" y="1244972"/>
                </a:lnTo>
                <a:lnTo>
                  <a:pt x="267138" y="1248300"/>
                </a:lnTo>
                <a:lnTo>
                  <a:pt x="268344" y="1250828"/>
                </a:lnTo>
                <a:lnTo>
                  <a:pt x="270389" y="1252755"/>
                </a:lnTo>
                <a:lnTo>
                  <a:pt x="271904" y="1253525"/>
                </a:lnTo>
                <a:lnTo>
                  <a:pt x="272457" y="1254986"/>
                </a:lnTo>
                <a:lnTo>
                  <a:pt x="273651" y="1255043"/>
                </a:lnTo>
                <a:lnTo>
                  <a:pt x="274560" y="1254377"/>
                </a:lnTo>
                <a:lnTo>
                  <a:pt x="275353" y="1254309"/>
                </a:lnTo>
                <a:lnTo>
                  <a:pt x="279413" y="1254659"/>
                </a:lnTo>
                <a:lnTo>
                  <a:pt x="280925" y="1255161"/>
                </a:lnTo>
                <a:lnTo>
                  <a:pt x="281749" y="1256478"/>
                </a:lnTo>
                <a:lnTo>
                  <a:pt x="281521" y="1257990"/>
                </a:lnTo>
                <a:lnTo>
                  <a:pt x="281648" y="1258526"/>
                </a:lnTo>
                <a:lnTo>
                  <a:pt x="282763" y="1259350"/>
                </a:lnTo>
                <a:lnTo>
                  <a:pt x="284736" y="1259964"/>
                </a:lnTo>
                <a:lnTo>
                  <a:pt x="286966" y="1259470"/>
                </a:lnTo>
                <a:lnTo>
                  <a:pt x="288037" y="1259893"/>
                </a:lnTo>
                <a:lnTo>
                  <a:pt x="288572" y="1260604"/>
                </a:lnTo>
                <a:lnTo>
                  <a:pt x="289212" y="1262809"/>
                </a:lnTo>
                <a:lnTo>
                  <a:pt x="290534" y="1265303"/>
                </a:lnTo>
                <a:lnTo>
                  <a:pt x="293414" y="1268338"/>
                </a:lnTo>
                <a:lnTo>
                  <a:pt x="295114" y="1269757"/>
                </a:lnTo>
                <a:lnTo>
                  <a:pt x="296847" y="1270817"/>
                </a:lnTo>
                <a:lnTo>
                  <a:pt x="302216" y="1270807"/>
                </a:lnTo>
                <a:lnTo>
                  <a:pt x="302822" y="1270077"/>
                </a:lnTo>
                <a:lnTo>
                  <a:pt x="302865" y="1269201"/>
                </a:lnTo>
                <a:lnTo>
                  <a:pt x="303280" y="1268749"/>
                </a:lnTo>
                <a:lnTo>
                  <a:pt x="304226" y="1268809"/>
                </a:lnTo>
                <a:lnTo>
                  <a:pt x="305058" y="1269255"/>
                </a:lnTo>
                <a:lnTo>
                  <a:pt x="305465" y="1270438"/>
                </a:lnTo>
                <a:lnTo>
                  <a:pt x="304756" y="1275905"/>
                </a:lnTo>
                <a:lnTo>
                  <a:pt x="305730" y="1279026"/>
                </a:lnTo>
                <a:lnTo>
                  <a:pt x="305989" y="1280725"/>
                </a:lnTo>
                <a:lnTo>
                  <a:pt x="306444" y="1281404"/>
                </a:lnTo>
                <a:lnTo>
                  <a:pt x="309490" y="1282570"/>
                </a:lnTo>
                <a:lnTo>
                  <a:pt x="310638" y="1282737"/>
                </a:lnTo>
                <a:lnTo>
                  <a:pt x="311908" y="1283554"/>
                </a:lnTo>
                <a:lnTo>
                  <a:pt x="313535" y="1284126"/>
                </a:lnTo>
                <a:lnTo>
                  <a:pt x="317342" y="1283682"/>
                </a:lnTo>
                <a:lnTo>
                  <a:pt x="318282" y="1284228"/>
                </a:lnTo>
                <a:lnTo>
                  <a:pt x="320722" y="1284382"/>
                </a:lnTo>
                <a:lnTo>
                  <a:pt x="322894" y="1284850"/>
                </a:lnTo>
                <a:lnTo>
                  <a:pt x="323629" y="1285230"/>
                </a:lnTo>
                <a:lnTo>
                  <a:pt x="325028" y="1287339"/>
                </a:lnTo>
                <a:lnTo>
                  <a:pt x="325659" y="1289193"/>
                </a:lnTo>
                <a:lnTo>
                  <a:pt x="325547" y="1289745"/>
                </a:lnTo>
                <a:lnTo>
                  <a:pt x="324519" y="1290565"/>
                </a:lnTo>
                <a:lnTo>
                  <a:pt x="324297" y="1291000"/>
                </a:lnTo>
                <a:lnTo>
                  <a:pt x="323958" y="1292968"/>
                </a:lnTo>
                <a:lnTo>
                  <a:pt x="324198" y="1293910"/>
                </a:lnTo>
                <a:lnTo>
                  <a:pt x="325006" y="1295365"/>
                </a:lnTo>
                <a:lnTo>
                  <a:pt x="326545" y="1296599"/>
                </a:lnTo>
                <a:lnTo>
                  <a:pt x="327077" y="1298952"/>
                </a:lnTo>
                <a:lnTo>
                  <a:pt x="328261" y="1299462"/>
                </a:lnTo>
                <a:lnTo>
                  <a:pt x="329243" y="1300626"/>
                </a:lnTo>
                <a:lnTo>
                  <a:pt x="330049" y="1301102"/>
                </a:lnTo>
                <a:lnTo>
                  <a:pt x="329749" y="1304385"/>
                </a:lnTo>
                <a:lnTo>
                  <a:pt x="329925" y="1304834"/>
                </a:lnTo>
                <a:lnTo>
                  <a:pt x="330882" y="1305769"/>
                </a:lnTo>
                <a:lnTo>
                  <a:pt x="334184" y="1306963"/>
                </a:lnTo>
                <a:lnTo>
                  <a:pt x="334743" y="1307587"/>
                </a:lnTo>
                <a:lnTo>
                  <a:pt x="336074" y="1311611"/>
                </a:lnTo>
                <a:lnTo>
                  <a:pt x="336257" y="1313985"/>
                </a:lnTo>
                <a:lnTo>
                  <a:pt x="338201" y="1315787"/>
                </a:lnTo>
                <a:lnTo>
                  <a:pt x="338270" y="1317806"/>
                </a:lnTo>
                <a:lnTo>
                  <a:pt x="338894" y="1319499"/>
                </a:lnTo>
                <a:lnTo>
                  <a:pt x="339360" y="1319887"/>
                </a:lnTo>
                <a:lnTo>
                  <a:pt x="340390" y="1319985"/>
                </a:lnTo>
                <a:lnTo>
                  <a:pt x="341800" y="1318515"/>
                </a:lnTo>
                <a:lnTo>
                  <a:pt x="342495" y="1318503"/>
                </a:lnTo>
                <a:lnTo>
                  <a:pt x="343227" y="1319524"/>
                </a:lnTo>
                <a:lnTo>
                  <a:pt x="343778" y="1321285"/>
                </a:lnTo>
                <a:lnTo>
                  <a:pt x="345008" y="1321947"/>
                </a:lnTo>
                <a:lnTo>
                  <a:pt x="345500" y="1322559"/>
                </a:lnTo>
                <a:lnTo>
                  <a:pt x="346299" y="1322493"/>
                </a:lnTo>
                <a:lnTo>
                  <a:pt x="346669" y="1322692"/>
                </a:lnTo>
                <a:lnTo>
                  <a:pt x="346893" y="1323531"/>
                </a:lnTo>
                <a:lnTo>
                  <a:pt x="346830" y="1324764"/>
                </a:lnTo>
                <a:lnTo>
                  <a:pt x="345604" y="1326093"/>
                </a:lnTo>
                <a:lnTo>
                  <a:pt x="345570" y="1326942"/>
                </a:lnTo>
                <a:lnTo>
                  <a:pt x="347961" y="1329532"/>
                </a:lnTo>
                <a:lnTo>
                  <a:pt x="349812" y="1330489"/>
                </a:lnTo>
                <a:lnTo>
                  <a:pt x="350414" y="1332280"/>
                </a:lnTo>
                <a:lnTo>
                  <a:pt x="351275" y="1333239"/>
                </a:lnTo>
                <a:lnTo>
                  <a:pt x="353629" y="1333819"/>
                </a:lnTo>
                <a:lnTo>
                  <a:pt x="354372" y="1333597"/>
                </a:lnTo>
                <a:lnTo>
                  <a:pt x="355724" y="1332539"/>
                </a:lnTo>
                <a:lnTo>
                  <a:pt x="356568" y="1332175"/>
                </a:lnTo>
                <a:lnTo>
                  <a:pt x="357460" y="1332210"/>
                </a:lnTo>
                <a:lnTo>
                  <a:pt x="358167" y="1332611"/>
                </a:lnTo>
                <a:lnTo>
                  <a:pt x="359986" y="1337572"/>
                </a:lnTo>
                <a:lnTo>
                  <a:pt x="359917" y="1338672"/>
                </a:lnTo>
                <a:lnTo>
                  <a:pt x="359308" y="1340928"/>
                </a:lnTo>
                <a:lnTo>
                  <a:pt x="358315" y="1342311"/>
                </a:lnTo>
                <a:lnTo>
                  <a:pt x="358716" y="1345175"/>
                </a:lnTo>
                <a:lnTo>
                  <a:pt x="359346" y="1345378"/>
                </a:lnTo>
                <a:lnTo>
                  <a:pt x="360558" y="1344332"/>
                </a:lnTo>
                <a:lnTo>
                  <a:pt x="362399" y="1344294"/>
                </a:lnTo>
                <a:lnTo>
                  <a:pt x="363490" y="1344712"/>
                </a:lnTo>
                <a:lnTo>
                  <a:pt x="364812" y="1345951"/>
                </a:lnTo>
                <a:lnTo>
                  <a:pt x="366996" y="1346978"/>
                </a:lnTo>
                <a:lnTo>
                  <a:pt x="367854" y="1349974"/>
                </a:lnTo>
                <a:lnTo>
                  <a:pt x="369147" y="1352006"/>
                </a:lnTo>
                <a:lnTo>
                  <a:pt x="369478" y="1352932"/>
                </a:lnTo>
                <a:lnTo>
                  <a:pt x="371208" y="1354752"/>
                </a:lnTo>
                <a:lnTo>
                  <a:pt x="373255" y="1355413"/>
                </a:lnTo>
                <a:lnTo>
                  <a:pt x="374217" y="1356845"/>
                </a:lnTo>
                <a:lnTo>
                  <a:pt x="375796" y="1358453"/>
                </a:lnTo>
                <a:lnTo>
                  <a:pt x="376290" y="1359595"/>
                </a:lnTo>
                <a:lnTo>
                  <a:pt x="375131" y="1360199"/>
                </a:lnTo>
                <a:lnTo>
                  <a:pt x="375076" y="1361203"/>
                </a:lnTo>
                <a:lnTo>
                  <a:pt x="376129" y="1362102"/>
                </a:lnTo>
                <a:lnTo>
                  <a:pt x="377136" y="1363581"/>
                </a:lnTo>
                <a:lnTo>
                  <a:pt x="379505" y="1365291"/>
                </a:lnTo>
                <a:lnTo>
                  <a:pt x="380343" y="1367670"/>
                </a:lnTo>
                <a:lnTo>
                  <a:pt x="382253" y="1368599"/>
                </a:lnTo>
                <a:lnTo>
                  <a:pt x="383254" y="1368777"/>
                </a:lnTo>
                <a:lnTo>
                  <a:pt x="385430" y="1368544"/>
                </a:lnTo>
                <a:lnTo>
                  <a:pt x="386308" y="1367857"/>
                </a:lnTo>
                <a:lnTo>
                  <a:pt x="386878" y="1367932"/>
                </a:lnTo>
                <a:lnTo>
                  <a:pt x="387473" y="1368701"/>
                </a:lnTo>
                <a:lnTo>
                  <a:pt x="388033" y="1370188"/>
                </a:lnTo>
                <a:lnTo>
                  <a:pt x="389652" y="1371081"/>
                </a:lnTo>
                <a:lnTo>
                  <a:pt x="390646" y="1372228"/>
                </a:lnTo>
                <a:lnTo>
                  <a:pt x="391916" y="1374347"/>
                </a:lnTo>
                <a:lnTo>
                  <a:pt x="393104" y="1375231"/>
                </a:lnTo>
                <a:lnTo>
                  <a:pt x="393788" y="1377699"/>
                </a:lnTo>
                <a:lnTo>
                  <a:pt x="396869" y="1380604"/>
                </a:lnTo>
                <a:lnTo>
                  <a:pt x="397726" y="1380697"/>
                </a:lnTo>
                <a:lnTo>
                  <a:pt x="399491" y="1379927"/>
                </a:lnTo>
                <a:lnTo>
                  <a:pt x="399819" y="1379468"/>
                </a:lnTo>
                <a:lnTo>
                  <a:pt x="400155" y="1378051"/>
                </a:lnTo>
                <a:lnTo>
                  <a:pt x="400912" y="1377498"/>
                </a:lnTo>
                <a:lnTo>
                  <a:pt x="401821" y="1377605"/>
                </a:lnTo>
                <a:lnTo>
                  <a:pt x="403300" y="1378604"/>
                </a:lnTo>
                <a:lnTo>
                  <a:pt x="404280" y="1378494"/>
                </a:lnTo>
                <a:lnTo>
                  <a:pt x="405190" y="1377579"/>
                </a:lnTo>
                <a:lnTo>
                  <a:pt x="406783" y="1377757"/>
                </a:lnTo>
                <a:lnTo>
                  <a:pt x="410282" y="1380073"/>
                </a:lnTo>
                <a:lnTo>
                  <a:pt x="411199" y="1379916"/>
                </a:lnTo>
                <a:lnTo>
                  <a:pt x="412956" y="1380842"/>
                </a:lnTo>
                <a:lnTo>
                  <a:pt x="413232" y="1381222"/>
                </a:lnTo>
                <a:lnTo>
                  <a:pt x="413151" y="1381970"/>
                </a:lnTo>
                <a:lnTo>
                  <a:pt x="413425" y="1382375"/>
                </a:lnTo>
                <a:lnTo>
                  <a:pt x="418017" y="1386029"/>
                </a:lnTo>
                <a:lnTo>
                  <a:pt x="419936" y="1388547"/>
                </a:lnTo>
                <a:lnTo>
                  <a:pt x="419278" y="1389187"/>
                </a:lnTo>
                <a:lnTo>
                  <a:pt x="418412" y="1390653"/>
                </a:lnTo>
                <a:lnTo>
                  <a:pt x="418686" y="1394030"/>
                </a:lnTo>
                <a:lnTo>
                  <a:pt x="418953" y="1394579"/>
                </a:lnTo>
                <a:lnTo>
                  <a:pt x="420509" y="1395562"/>
                </a:lnTo>
                <a:lnTo>
                  <a:pt x="420285" y="1395910"/>
                </a:lnTo>
                <a:lnTo>
                  <a:pt x="420584" y="1396591"/>
                </a:lnTo>
                <a:lnTo>
                  <a:pt x="419352" y="1397377"/>
                </a:lnTo>
                <a:lnTo>
                  <a:pt x="418916" y="1398295"/>
                </a:lnTo>
                <a:lnTo>
                  <a:pt x="419421" y="1399314"/>
                </a:lnTo>
                <a:lnTo>
                  <a:pt x="419797" y="1402673"/>
                </a:lnTo>
                <a:lnTo>
                  <a:pt x="419220" y="1403623"/>
                </a:lnTo>
                <a:lnTo>
                  <a:pt x="419193" y="1404709"/>
                </a:lnTo>
                <a:lnTo>
                  <a:pt x="420844" y="1404879"/>
                </a:lnTo>
                <a:lnTo>
                  <a:pt x="421190" y="1405716"/>
                </a:lnTo>
                <a:lnTo>
                  <a:pt x="421294" y="1407423"/>
                </a:lnTo>
                <a:lnTo>
                  <a:pt x="420823" y="1408278"/>
                </a:lnTo>
                <a:lnTo>
                  <a:pt x="421670" y="1410933"/>
                </a:lnTo>
                <a:lnTo>
                  <a:pt x="421699" y="1414092"/>
                </a:lnTo>
                <a:lnTo>
                  <a:pt x="422585" y="1415027"/>
                </a:lnTo>
                <a:lnTo>
                  <a:pt x="425229" y="1414886"/>
                </a:lnTo>
                <a:lnTo>
                  <a:pt x="425718" y="1415737"/>
                </a:lnTo>
                <a:lnTo>
                  <a:pt x="428052" y="1417007"/>
                </a:lnTo>
                <a:lnTo>
                  <a:pt x="431347" y="1415933"/>
                </a:lnTo>
                <a:lnTo>
                  <a:pt x="431546" y="1416128"/>
                </a:lnTo>
                <a:lnTo>
                  <a:pt x="427565" y="1423076"/>
                </a:lnTo>
                <a:lnTo>
                  <a:pt x="422358" y="1425798"/>
                </a:lnTo>
                <a:lnTo>
                  <a:pt x="420367" y="1429098"/>
                </a:lnTo>
                <a:lnTo>
                  <a:pt x="424534" y="1432115"/>
                </a:lnTo>
                <a:lnTo>
                  <a:pt x="425636" y="1433802"/>
                </a:lnTo>
                <a:lnTo>
                  <a:pt x="426779" y="1434538"/>
                </a:lnTo>
                <a:lnTo>
                  <a:pt x="426965" y="1434354"/>
                </a:lnTo>
                <a:lnTo>
                  <a:pt x="426417" y="1437645"/>
                </a:lnTo>
                <a:lnTo>
                  <a:pt x="425898" y="1438790"/>
                </a:lnTo>
                <a:lnTo>
                  <a:pt x="425068" y="1439541"/>
                </a:lnTo>
                <a:lnTo>
                  <a:pt x="425588" y="1441058"/>
                </a:lnTo>
                <a:lnTo>
                  <a:pt x="425311" y="1442407"/>
                </a:lnTo>
                <a:lnTo>
                  <a:pt x="425952" y="1443298"/>
                </a:lnTo>
                <a:lnTo>
                  <a:pt x="423403" y="1445265"/>
                </a:lnTo>
                <a:lnTo>
                  <a:pt x="420819" y="1447925"/>
                </a:lnTo>
                <a:lnTo>
                  <a:pt x="420921" y="1449134"/>
                </a:lnTo>
                <a:lnTo>
                  <a:pt x="422200" y="1451637"/>
                </a:lnTo>
                <a:lnTo>
                  <a:pt x="424583" y="1451822"/>
                </a:lnTo>
                <a:lnTo>
                  <a:pt x="422450" y="1456686"/>
                </a:lnTo>
                <a:lnTo>
                  <a:pt x="419172" y="1459616"/>
                </a:lnTo>
                <a:lnTo>
                  <a:pt x="417668" y="1459523"/>
                </a:lnTo>
                <a:lnTo>
                  <a:pt x="415622" y="1460717"/>
                </a:lnTo>
                <a:lnTo>
                  <a:pt x="417806" y="1463665"/>
                </a:lnTo>
                <a:lnTo>
                  <a:pt x="416670" y="1467111"/>
                </a:lnTo>
                <a:lnTo>
                  <a:pt x="412274" y="1472741"/>
                </a:lnTo>
                <a:lnTo>
                  <a:pt x="409798" y="1472118"/>
                </a:lnTo>
                <a:lnTo>
                  <a:pt x="407855" y="1475461"/>
                </a:lnTo>
                <a:lnTo>
                  <a:pt x="406871" y="1483365"/>
                </a:lnTo>
                <a:lnTo>
                  <a:pt x="407529" y="1484292"/>
                </a:lnTo>
                <a:lnTo>
                  <a:pt x="408051" y="1486500"/>
                </a:lnTo>
                <a:lnTo>
                  <a:pt x="405570" y="1487841"/>
                </a:lnTo>
                <a:lnTo>
                  <a:pt x="403530" y="1489484"/>
                </a:lnTo>
                <a:lnTo>
                  <a:pt x="394480" y="1485741"/>
                </a:lnTo>
                <a:lnTo>
                  <a:pt x="393676" y="1487378"/>
                </a:lnTo>
                <a:lnTo>
                  <a:pt x="391304" y="1486945"/>
                </a:lnTo>
                <a:lnTo>
                  <a:pt x="391464" y="1485886"/>
                </a:lnTo>
                <a:lnTo>
                  <a:pt x="385184" y="1482703"/>
                </a:lnTo>
                <a:lnTo>
                  <a:pt x="385003" y="1482222"/>
                </a:lnTo>
                <a:lnTo>
                  <a:pt x="384434" y="1481911"/>
                </a:lnTo>
                <a:lnTo>
                  <a:pt x="383187" y="1482189"/>
                </a:lnTo>
                <a:lnTo>
                  <a:pt x="382244" y="1483777"/>
                </a:lnTo>
                <a:lnTo>
                  <a:pt x="382994" y="1484276"/>
                </a:lnTo>
                <a:lnTo>
                  <a:pt x="382307" y="1485983"/>
                </a:lnTo>
                <a:lnTo>
                  <a:pt x="381389" y="1486041"/>
                </a:lnTo>
                <a:lnTo>
                  <a:pt x="380539" y="1485693"/>
                </a:lnTo>
                <a:lnTo>
                  <a:pt x="378659" y="1487154"/>
                </a:lnTo>
                <a:lnTo>
                  <a:pt x="378372" y="1489192"/>
                </a:lnTo>
                <a:lnTo>
                  <a:pt x="377427" y="1489950"/>
                </a:lnTo>
                <a:lnTo>
                  <a:pt x="375260" y="1488621"/>
                </a:lnTo>
                <a:lnTo>
                  <a:pt x="374903" y="1490597"/>
                </a:lnTo>
                <a:lnTo>
                  <a:pt x="371779" y="1489979"/>
                </a:lnTo>
                <a:lnTo>
                  <a:pt x="369581" y="1491111"/>
                </a:lnTo>
                <a:lnTo>
                  <a:pt x="367535" y="1493285"/>
                </a:lnTo>
                <a:lnTo>
                  <a:pt x="365209" y="1493758"/>
                </a:lnTo>
                <a:lnTo>
                  <a:pt x="363658" y="1492262"/>
                </a:lnTo>
                <a:lnTo>
                  <a:pt x="361530" y="1494920"/>
                </a:lnTo>
                <a:lnTo>
                  <a:pt x="359544" y="1494384"/>
                </a:lnTo>
                <a:lnTo>
                  <a:pt x="354033" y="1493881"/>
                </a:lnTo>
                <a:lnTo>
                  <a:pt x="347629" y="1497581"/>
                </a:lnTo>
                <a:lnTo>
                  <a:pt x="345964" y="1499702"/>
                </a:lnTo>
                <a:lnTo>
                  <a:pt x="345007" y="1502462"/>
                </a:lnTo>
                <a:lnTo>
                  <a:pt x="343820" y="1503339"/>
                </a:lnTo>
                <a:lnTo>
                  <a:pt x="342371" y="1502203"/>
                </a:lnTo>
                <a:lnTo>
                  <a:pt x="339092" y="1502738"/>
                </a:lnTo>
                <a:lnTo>
                  <a:pt x="338893" y="1502240"/>
                </a:lnTo>
                <a:lnTo>
                  <a:pt x="332394" y="1504642"/>
                </a:lnTo>
                <a:lnTo>
                  <a:pt x="333584" y="1509279"/>
                </a:lnTo>
                <a:lnTo>
                  <a:pt x="333802" y="1512135"/>
                </a:lnTo>
                <a:lnTo>
                  <a:pt x="333429" y="1512196"/>
                </a:lnTo>
                <a:lnTo>
                  <a:pt x="331429" y="1510809"/>
                </a:lnTo>
                <a:lnTo>
                  <a:pt x="328504" y="1509319"/>
                </a:lnTo>
                <a:lnTo>
                  <a:pt x="323295" y="1514767"/>
                </a:lnTo>
                <a:lnTo>
                  <a:pt x="314178" y="1516503"/>
                </a:lnTo>
                <a:lnTo>
                  <a:pt x="312243" y="1518101"/>
                </a:lnTo>
                <a:lnTo>
                  <a:pt x="311417" y="1516630"/>
                </a:lnTo>
                <a:lnTo>
                  <a:pt x="305768" y="1513851"/>
                </a:lnTo>
                <a:lnTo>
                  <a:pt x="296016" y="1516444"/>
                </a:lnTo>
                <a:lnTo>
                  <a:pt x="291933" y="1519671"/>
                </a:lnTo>
                <a:lnTo>
                  <a:pt x="292001" y="1521075"/>
                </a:lnTo>
                <a:lnTo>
                  <a:pt x="290793" y="1530108"/>
                </a:lnTo>
                <a:lnTo>
                  <a:pt x="288312" y="1530943"/>
                </a:lnTo>
                <a:lnTo>
                  <a:pt x="285226" y="1532781"/>
                </a:lnTo>
                <a:lnTo>
                  <a:pt x="287158" y="1534734"/>
                </a:lnTo>
                <a:lnTo>
                  <a:pt x="285983" y="1540624"/>
                </a:lnTo>
                <a:lnTo>
                  <a:pt x="283080" y="1544431"/>
                </a:lnTo>
                <a:lnTo>
                  <a:pt x="285799" y="1550242"/>
                </a:lnTo>
                <a:lnTo>
                  <a:pt x="285032" y="1556995"/>
                </a:lnTo>
                <a:lnTo>
                  <a:pt x="284624" y="1566966"/>
                </a:lnTo>
                <a:lnTo>
                  <a:pt x="283515" y="1567278"/>
                </a:lnTo>
                <a:lnTo>
                  <a:pt x="278385" y="1567243"/>
                </a:lnTo>
                <a:lnTo>
                  <a:pt x="274338" y="1568273"/>
                </a:lnTo>
                <a:lnTo>
                  <a:pt x="270275" y="1564315"/>
                </a:lnTo>
                <a:lnTo>
                  <a:pt x="271802" y="1568126"/>
                </a:lnTo>
                <a:lnTo>
                  <a:pt x="260141" y="1568549"/>
                </a:lnTo>
                <a:lnTo>
                  <a:pt x="257892" y="1570251"/>
                </a:lnTo>
                <a:lnTo>
                  <a:pt x="257582" y="1573178"/>
                </a:lnTo>
                <a:lnTo>
                  <a:pt x="256598" y="1574562"/>
                </a:lnTo>
                <a:lnTo>
                  <a:pt x="254663" y="1575927"/>
                </a:lnTo>
                <a:lnTo>
                  <a:pt x="252335" y="1577072"/>
                </a:lnTo>
                <a:lnTo>
                  <a:pt x="250038" y="1575556"/>
                </a:lnTo>
                <a:lnTo>
                  <a:pt x="249970" y="1577333"/>
                </a:lnTo>
                <a:lnTo>
                  <a:pt x="247163" y="1576309"/>
                </a:lnTo>
                <a:lnTo>
                  <a:pt x="245992" y="1574943"/>
                </a:lnTo>
                <a:lnTo>
                  <a:pt x="243984" y="1574192"/>
                </a:lnTo>
                <a:lnTo>
                  <a:pt x="234885" y="1573057"/>
                </a:lnTo>
                <a:lnTo>
                  <a:pt x="232918" y="1577550"/>
                </a:lnTo>
                <a:lnTo>
                  <a:pt x="233657" y="1581065"/>
                </a:lnTo>
                <a:lnTo>
                  <a:pt x="233933" y="1582665"/>
                </a:lnTo>
                <a:lnTo>
                  <a:pt x="238095" y="1585106"/>
                </a:lnTo>
                <a:lnTo>
                  <a:pt x="237545" y="1586119"/>
                </a:lnTo>
                <a:lnTo>
                  <a:pt x="234732" y="1586758"/>
                </a:lnTo>
                <a:lnTo>
                  <a:pt x="234034" y="1586654"/>
                </a:lnTo>
                <a:lnTo>
                  <a:pt x="233862" y="1592009"/>
                </a:lnTo>
                <a:lnTo>
                  <a:pt x="229663" y="1590762"/>
                </a:lnTo>
                <a:lnTo>
                  <a:pt x="227556" y="1597211"/>
                </a:lnTo>
                <a:lnTo>
                  <a:pt x="227057" y="1597326"/>
                </a:lnTo>
                <a:lnTo>
                  <a:pt x="227173" y="1600633"/>
                </a:lnTo>
                <a:lnTo>
                  <a:pt x="231859" y="1600365"/>
                </a:lnTo>
                <a:lnTo>
                  <a:pt x="233005" y="1599902"/>
                </a:lnTo>
                <a:lnTo>
                  <a:pt x="232969" y="1598939"/>
                </a:lnTo>
                <a:lnTo>
                  <a:pt x="235455" y="1599838"/>
                </a:lnTo>
                <a:lnTo>
                  <a:pt x="240131" y="1603285"/>
                </a:lnTo>
                <a:lnTo>
                  <a:pt x="239282" y="1603833"/>
                </a:lnTo>
                <a:lnTo>
                  <a:pt x="238852" y="1604968"/>
                </a:lnTo>
                <a:lnTo>
                  <a:pt x="240521" y="1606432"/>
                </a:lnTo>
                <a:lnTo>
                  <a:pt x="241312" y="1606282"/>
                </a:lnTo>
                <a:lnTo>
                  <a:pt x="243720" y="1608568"/>
                </a:lnTo>
                <a:lnTo>
                  <a:pt x="238223" y="1615258"/>
                </a:lnTo>
                <a:lnTo>
                  <a:pt x="239741" y="1616715"/>
                </a:lnTo>
                <a:lnTo>
                  <a:pt x="238909" y="1617274"/>
                </a:lnTo>
                <a:lnTo>
                  <a:pt x="239139" y="1617944"/>
                </a:lnTo>
                <a:lnTo>
                  <a:pt x="237092" y="1618010"/>
                </a:lnTo>
                <a:lnTo>
                  <a:pt x="237049" y="1619229"/>
                </a:lnTo>
                <a:lnTo>
                  <a:pt x="232308" y="1617904"/>
                </a:lnTo>
                <a:lnTo>
                  <a:pt x="230621" y="1622793"/>
                </a:lnTo>
                <a:lnTo>
                  <a:pt x="232387" y="1624449"/>
                </a:lnTo>
                <a:lnTo>
                  <a:pt x="231517" y="1625915"/>
                </a:lnTo>
                <a:lnTo>
                  <a:pt x="229891" y="1625222"/>
                </a:lnTo>
                <a:lnTo>
                  <a:pt x="228289" y="1626177"/>
                </a:lnTo>
                <a:lnTo>
                  <a:pt x="228400" y="1627561"/>
                </a:lnTo>
                <a:lnTo>
                  <a:pt x="227254" y="1627175"/>
                </a:lnTo>
                <a:lnTo>
                  <a:pt x="227034" y="1627549"/>
                </a:lnTo>
                <a:lnTo>
                  <a:pt x="226356" y="1630076"/>
                </a:lnTo>
                <a:lnTo>
                  <a:pt x="226391" y="1634303"/>
                </a:lnTo>
                <a:lnTo>
                  <a:pt x="228014" y="1629918"/>
                </a:lnTo>
                <a:lnTo>
                  <a:pt x="231655" y="1632131"/>
                </a:lnTo>
                <a:lnTo>
                  <a:pt x="231700" y="1636303"/>
                </a:lnTo>
                <a:lnTo>
                  <a:pt x="230985" y="1637765"/>
                </a:lnTo>
                <a:lnTo>
                  <a:pt x="229191" y="1638316"/>
                </a:lnTo>
                <a:lnTo>
                  <a:pt x="227054" y="1640580"/>
                </a:lnTo>
                <a:lnTo>
                  <a:pt x="228560" y="1640915"/>
                </a:lnTo>
                <a:lnTo>
                  <a:pt x="226779" y="1643086"/>
                </a:lnTo>
                <a:lnTo>
                  <a:pt x="225102" y="1643071"/>
                </a:lnTo>
                <a:lnTo>
                  <a:pt x="222428" y="1642476"/>
                </a:lnTo>
                <a:lnTo>
                  <a:pt x="218044" y="1642187"/>
                </a:lnTo>
                <a:lnTo>
                  <a:pt x="218924" y="1646104"/>
                </a:lnTo>
                <a:lnTo>
                  <a:pt x="217041" y="1648031"/>
                </a:lnTo>
                <a:lnTo>
                  <a:pt x="210768" y="1648803"/>
                </a:lnTo>
                <a:lnTo>
                  <a:pt x="210574" y="1648565"/>
                </a:lnTo>
                <a:lnTo>
                  <a:pt x="210611" y="1648898"/>
                </a:lnTo>
                <a:lnTo>
                  <a:pt x="207315" y="1650268"/>
                </a:lnTo>
                <a:lnTo>
                  <a:pt x="206186" y="1651920"/>
                </a:lnTo>
                <a:lnTo>
                  <a:pt x="203733" y="1654495"/>
                </a:lnTo>
                <a:lnTo>
                  <a:pt x="201714" y="1654760"/>
                </a:lnTo>
                <a:lnTo>
                  <a:pt x="197725" y="1658351"/>
                </a:lnTo>
                <a:lnTo>
                  <a:pt x="193806" y="1657407"/>
                </a:lnTo>
                <a:lnTo>
                  <a:pt x="191917" y="1656356"/>
                </a:lnTo>
                <a:lnTo>
                  <a:pt x="184357" y="1648435"/>
                </a:lnTo>
                <a:lnTo>
                  <a:pt x="179886" y="1645949"/>
                </a:lnTo>
                <a:lnTo>
                  <a:pt x="177236" y="1649601"/>
                </a:lnTo>
                <a:lnTo>
                  <a:pt x="174302" y="1650916"/>
                </a:lnTo>
                <a:lnTo>
                  <a:pt x="171808" y="1652710"/>
                </a:lnTo>
                <a:lnTo>
                  <a:pt x="169623" y="1655097"/>
                </a:lnTo>
                <a:lnTo>
                  <a:pt x="166548" y="1655827"/>
                </a:lnTo>
                <a:lnTo>
                  <a:pt x="163640" y="1665823"/>
                </a:lnTo>
                <a:lnTo>
                  <a:pt x="164783" y="1666779"/>
                </a:lnTo>
                <a:lnTo>
                  <a:pt x="167841" y="1670907"/>
                </a:lnTo>
                <a:lnTo>
                  <a:pt x="166017" y="1673424"/>
                </a:lnTo>
                <a:lnTo>
                  <a:pt x="155720" y="1672975"/>
                </a:lnTo>
                <a:lnTo>
                  <a:pt x="150615" y="1672148"/>
                </a:lnTo>
                <a:lnTo>
                  <a:pt x="146130" y="1671112"/>
                </a:lnTo>
                <a:lnTo>
                  <a:pt x="135650" y="1670343"/>
                </a:lnTo>
                <a:lnTo>
                  <a:pt x="132318" y="1675831"/>
                </a:lnTo>
                <a:lnTo>
                  <a:pt x="130322" y="1681300"/>
                </a:lnTo>
                <a:lnTo>
                  <a:pt x="121767" y="1677327"/>
                </a:lnTo>
                <a:lnTo>
                  <a:pt x="119462" y="1675169"/>
                </a:lnTo>
                <a:lnTo>
                  <a:pt x="115969" y="1682613"/>
                </a:lnTo>
                <a:lnTo>
                  <a:pt x="113171" y="1684017"/>
                </a:lnTo>
                <a:lnTo>
                  <a:pt x="111049" y="1683468"/>
                </a:lnTo>
                <a:lnTo>
                  <a:pt x="104033" y="1687599"/>
                </a:lnTo>
                <a:lnTo>
                  <a:pt x="107773" y="1694194"/>
                </a:lnTo>
                <a:lnTo>
                  <a:pt x="107470" y="1702107"/>
                </a:lnTo>
                <a:lnTo>
                  <a:pt x="113683" y="1708284"/>
                </a:lnTo>
                <a:lnTo>
                  <a:pt x="116515" y="1718215"/>
                </a:lnTo>
                <a:lnTo>
                  <a:pt x="115782" y="1724858"/>
                </a:lnTo>
                <a:lnTo>
                  <a:pt x="111397" y="1728173"/>
                </a:lnTo>
                <a:lnTo>
                  <a:pt x="120323" y="1733346"/>
                </a:lnTo>
                <a:lnTo>
                  <a:pt x="123270" y="1737568"/>
                </a:lnTo>
                <a:lnTo>
                  <a:pt x="123091" y="1743241"/>
                </a:lnTo>
                <a:lnTo>
                  <a:pt x="129531" y="1743099"/>
                </a:lnTo>
                <a:lnTo>
                  <a:pt x="127014" y="1753294"/>
                </a:lnTo>
                <a:lnTo>
                  <a:pt x="116727" y="1750880"/>
                </a:lnTo>
                <a:lnTo>
                  <a:pt x="109031" y="1747541"/>
                </a:lnTo>
                <a:lnTo>
                  <a:pt x="102141" y="1747115"/>
                </a:lnTo>
                <a:lnTo>
                  <a:pt x="100189" y="1744186"/>
                </a:lnTo>
                <a:lnTo>
                  <a:pt x="94863" y="1744157"/>
                </a:lnTo>
                <a:lnTo>
                  <a:pt x="86582" y="1749644"/>
                </a:lnTo>
                <a:lnTo>
                  <a:pt x="90531" y="1759291"/>
                </a:lnTo>
                <a:lnTo>
                  <a:pt x="88009" y="1761925"/>
                </a:lnTo>
                <a:lnTo>
                  <a:pt x="75379" y="1761995"/>
                </a:lnTo>
                <a:lnTo>
                  <a:pt x="74932" y="1766206"/>
                </a:lnTo>
                <a:lnTo>
                  <a:pt x="67437" y="1774883"/>
                </a:lnTo>
                <a:lnTo>
                  <a:pt x="70427" y="1781983"/>
                </a:lnTo>
                <a:lnTo>
                  <a:pt x="65750" y="1785314"/>
                </a:lnTo>
                <a:lnTo>
                  <a:pt x="65621" y="1786739"/>
                </a:lnTo>
                <a:lnTo>
                  <a:pt x="69001" y="1790542"/>
                </a:lnTo>
                <a:lnTo>
                  <a:pt x="68735" y="1795183"/>
                </a:lnTo>
                <a:lnTo>
                  <a:pt x="60187" y="1806645"/>
                </a:lnTo>
                <a:lnTo>
                  <a:pt x="58239" y="1814159"/>
                </a:lnTo>
                <a:lnTo>
                  <a:pt x="53211" y="1819747"/>
                </a:lnTo>
                <a:lnTo>
                  <a:pt x="46568" y="1834253"/>
                </a:lnTo>
                <a:lnTo>
                  <a:pt x="44308" y="1834581"/>
                </a:lnTo>
                <a:lnTo>
                  <a:pt x="44292" y="1837426"/>
                </a:lnTo>
                <a:lnTo>
                  <a:pt x="39551" y="1837142"/>
                </a:lnTo>
                <a:lnTo>
                  <a:pt x="39308" y="1848834"/>
                </a:lnTo>
                <a:lnTo>
                  <a:pt x="46138" y="1852128"/>
                </a:lnTo>
                <a:lnTo>
                  <a:pt x="44757" y="1852850"/>
                </a:lnTo>
                <a:lnTo>
                  <a:pt x="52490" y="1852593"/>
                </a:lnTo>
                <a:lnTo>
                  <a:pt x="67008" y="1853986"/>
                </a:lnTo>
                <a:lnTo>
                  <a:pt x="85164" y="1848900"/>
                </a:lnTo>
                <a:lnTo>
                  <a:pt x="91606" y="1848885"/>
                </a:lnTo>
                <a:lnTo>
                  <a:pt x="94605" y="1846659"/>
                </a:lnTo>
                <a:lnTo>
                  <a:pt x="102999" y="1846282"/>
                </a:lnTo>
                <a:lnTo>
                  <a:pt x="117113" y="1846478"/>
                </a:lnTo>
                <a:lnTo>
                  <a:pt x="120058" y="1849382"/>
                </a:lnTo>
                <a:lnTo>
                  <a:pt x="126579" y="1858408"/>
                </a:lnTo>
                <a:lnTo>
                  <a:pt x="125253" y="1855030"/>
                </a:lnTo>
                <a:lnTo>
                  <a:pt x="127883" y="1855691"/>
                </a:lnTo>
                <a:lnTo>
                  <a:pt x="130598" y="1855700"/>
                </a:lnTo>
                <a:lnTo>
                  <a:pt x="134730" y="1855029"/>
                </a:lnTo>
                <a:lnTo>
                  <a:pt x="140890" y="1855964"/>
                </a:lnTo>
                <a:lnTo>
                  <a:pt x="144760" y="1855137"/>
                </a:lnTo>
                <a:lnTo>
                  <a:pt x="147375" y="1858288"/>
                </a:lnTo>
                <a:lnTo>
                  <a:pt x="156409" y="1861795"/>
                </a:lnTo>
                <a:lnTo>
                  <a:pt x="156354" y="1861961"/>
                </a:lnTo>
                <a:lnTo>
                  <a:pt x="159892" y="1863687"/>
                </a:lnTo>
                <a:lnTo>
                  <a:pt x="160204" y="1864830"/>
                </a:lnTo>
                <a:lnTo>
                  <a:pt x="159422" y="1868826"/>
                </a:lnTo>
                <a:lnTo>
                  <a:pt x="158977" y="1876262"/>
                </a:lnTo>
                <a:lnTo>
                  <a:pt x="161817" y="1875742"/>
                </a:lnTo>
                <a:lnTo>
                  <a:pt x="162295" y="1879352"/>
                </a:lnTo>
                <a:lnTo>
                  <a:pt x="169987" y="1884937"/>
                </a:lnTo>
                <a:lnTo>
                  <a:pt x="169455" y="1892649"/>
                </a:lnTo>
                <a:lnTo>
                  <a:pt x="163690" y="1892184"/>
                </a:lnTo>
                <a:lnTo>
                  <a:pt x="157771" y="1892820"/>
                </a:lnTo>
                <a:lnTo>
                  <a:pt x="153663" y="1889371"/>
                </a:lnTo>
                <a:lnTo>
                  <a:pt x="153574" y="1892907"/>
                </a:lnTo>
                <a:lnTo>
                  <a:pt x="151681" y="1894590"/>
                </a:lnTo>
                <a:lnTo>
                  <a:pt x="151663" y="1897319"/>
                </a:lnTo>
                <a:lnTo>
                  <a:pt x="142599" y="1900427"/>
                </a:lnTo>
                <a:lnTo>
                  <a:pt x="137706" y="1900449"/>
                </a:lnTo>
                <a:lnTo>
                  <a:pt x="136450" y="1907789"/>
                </a:lnTo>
                <a:lnTo>
                  <a:pt x="131691" y="1912952"/>
                </a:lnTo>
                <a:lnTo>
                  <a:pt x="134727" y="1913243"/>
                </a:lnTo>
                <a:lnTo>
                  <a:pt x="136217" y="1913949"/>
                </a:lnTo>
                <a:lnTo>
                  <a:pt x="139883" y="1914586"/>
                </a:lnTo>
                <a:lnTo>
                  <a:pt x="141803" y="1915263"/>
                </a:lnTo>
                <a:lnTo>
                  <a:pt x="144702" y="1915233"/>
                </a:lnTo>
                <a:lnTo>
                  <a:pt x="144517" y="1912588"/>
                </a:lnTo>
                <a:lnTo>
                  <a:pt x="148635" y="1911565"/>
                </a:lnTo>
                <a:lnTo>
                  <a:pt x="148751" y="1910986"/>
                </a:lnTo>
                <a:lnTo>
                  <a:pt x="154095" y="1912781"/>
                </a:lnTo>
                <a:lnTo>
                  <a:pt x="153641" y="1913273"/>
                </a:lnTo>
                <a:lnTo>
                  <a:pt x="154809" y="1918636"/>
                </a:lnTo>
                <a:lnTo>
                  <a:pt x="161180" y="1919216"/>
                </a:lnTo>
                <a:lnTo>
                  <a:pt x="162886" y="1920897"/>
                </a:lnTo>
                <a:lnTo>
                  <a:pt x="174382" y="1924198"/>
                </a:lnTo>
                <a:lnTo>
                  <a:pt x="174017" y="1924751"/>
                </a:lnTo>
                <a:lnTo>
                  <a:pt x="173145" y="1924858"/>
                </a:lnTo>
                <a:lnTo>
                  <a:pt x="172318" y="1926679"/>
                </a:lnTo>
                <a:lnTo>
                  <a:pt x="171621" y="1927523"/>
                </a:lnTo>
                <a:lnTo>
                  <a:pt x="169963" y="1927453"/>
                </a:lnTo>
                <a:lnTo>
                  <a:pt x="169721" y="1927781"/>
                </a:lnTo>
                <a:lnTo>
                  <a:pt x="169366" y="1927656"/>
                </a:lnTo>
                <a:lnTo>
                  <a:pt x="168178" y="1928173"/>
                </a:lnTo>
                <a:lnTo>
                  <a:pt x="167888" y="1928035"/>
                </a:lnTo>
                <a:lnTo>
                  <a:pt x="167315" y="1929012"/>
                </a:lnTo>
                <a:lnTo>
                  <a:pt x="166729" y="1929027"/>
                </a:lnTo>
                <a:lnTo>
                  <a:pt x="166924" y="1929309"/>
                </a:lnTo>
                <a:lnTo>
                  <a:pt x="166763" y="1929677"/>
                </a:lnTo>
                <a:lnTo>
                  <a:pt x="167000" y="1929729"/>
                </a:lnTo>
                <a:lnTo>
                  <a:pt x="167064" y="1930041"/>
                </a:lnTo>
                <a:lnTo>
                  <a:pt x="168064" y="1930571"/>
                </a:lnTo>
                <a:lnTo>
                  <a:pt x="167809" y="1930820"/>
                </a:lnTo>
                <a:lnTo>
                  <a:pt x="168173" y="1931002"/>
                </a:lnTo>
                <a:lnTo>
                  <a:pt x="168063" y="1931347"/>
                </a:lnTo>
                <a:lnTo>
                  <a:pt x="167448" y="1931795"/>
                </a:lnTo>
                <a:lnTo>
                  <a:pt x="165729" y="1931835"/>
                </a:lnTo>
                <a:lnTo>
                  <a:pt x="165394" y="1932378"/>
                </a:lnTo>
                <a:lnTo>
                  <a:pt x="166153" y="1933498"/>
                </a:lnTo>
                <a:lnTo>
                  <a:pt x="166222" y="1933910"/>
                </a:lnTo>
                <a:lnTo>
                  <a:pt x="165778" y="1934226"/>
                </a:lnTo>
                <a:lnTo>
                  <a:pt x="166331" y="1934764"/>
                </a:lnTo>
                <a:lnTo>
                  <a:pt x="166446" y="1935284"/>
                </a:lnTo>
                <a:lnTo>
                  <a:pt x="166241" y="1935483"/>
                </a:lnTo>
                <a:lnTo>
                  <a:pt x="165787" y="1935349"/>
                </a:lnTo>
                <a:lnTo>
                  <a:pt x="165887" y="1935711"/>
                </a:lnTo>
                <a:lnTo>
                  <a:pt x="165384" y="1935953"/>
                </a:lnTo>
                <a:lnTo>
                  <a:pt x="165604" y="1936370"/>
                </a:lnTo>
                <a:lnTo>
                  <a:pt x="165139" y="1936841"/>
                </a:lnTo>
                <a:lnTo>
                  <a:pt x="165093" y="1938828"/>
                </a:lnTo>
                <a:lnTo>
                  <a:pt x="165531" y="1939346"/>
                </a:lnTo>
                <a:lnTo>
                  <a:pt x="165969" y="1939265"/>
                </a:lnTo>
                <a:lnTo>
                  <a:pt x="166673" y="1940526"/>
                </a:lnTo>
                <a:lnTo>
                  <a:pt x="166475" y="1940755"/>
                </a:lnTo>
                <a:lnTo>
                  <a:pt x="166908" y="1942212"/>
                </a:lnTo>
                <a:lnTo>
                  <a:pt x="166631" y="1942728"/>
                </a:lnTo>
                <a:lnTo>
                  <a:pt x="166920" y="1942957"/>
                </a:lnTo>
                <a:lnTo>
                  <a:pt x="166866" y="1943513"/>
                </a:lnTo>
                <a:lnTo>
                  <a:pt x="166580" y="1945003"/>
                </a:lnTo>
                <a:lnTo>
                  <a:pt x="169067" y="1945241"/>
                </a:lnTo>
                <a:lnTo>
                  <a:pt x="179516" y="1947492"/>
                </a:lnTo>
                <a:lnTo>
                  <a:pt x="180951" y="1947663"/>
                </a:lnTo>
                <a:lnTo>
                  <a:pt x="181346" y="1947414"/>
                </a:lnTo>
                <a:lnTo>
                  <a:pt x="183086" y="1948521"/>
                </a:lnTo>
                <a:lnTo>
                  <a:pt x="183517" y="1948335"/>
                </a:lnTo>
                <a:lnTo>
                  <a:pt x="184855" y="1948956"/>
                </a:lnTo>
                <a:lnTo>
                  <a:pt x="186002" y="1948896"/>
                </a:lnTo>
                <a:lnTo>
                  <a:pt x="187935" y="1949537"/>
                </a:lnTo>
                <a:lnTo>
                  <a:pt x="188490" y="1949208"/>
                </a:lnTo>
                <a:lnTo>
                  <a:pt x="194428" y="1950889"/>
                </a:lnTo>
                <a:lnTo>
                  <a:pt x="198628" y="1951075"/>
                </a:lnTo>
                <a:lnTo>
                  <a:pt x="200738" y="1951787"/>
                </a:lnTo>
                <a:lnTo>
                  <a:pt x="201556" y="1951520"/>
                </a:lnTo>
                <a:lnTo>
                  <a:pt x="202202" y="1950778"/>
                </a:lnTo>
                <a:lnTo>
                  <a:pt x="202253" y="1951147"/>
                </a:lnTo>
                <a:lnTo>
                  <a:pt x="203379" y="1951417"/>
                </a:lnTo>
                <a:lnTo>
                  <a:pt x="206220" y="1951750"/>
                </a:lnTo>
                <a:lnTo>
                  <a:pt x="214691" y="1953523"/>
                </a:lnTo>
                <a:lnTo>
                  <a:pt x="216071" y="1953428"/>
                </a:lnTo>
                <a:lnTo>
                  <a:pt x="218295" y="1953858"/>
                </a:lnTo>
                <a:lnTo>
                  <a:pt x="218980" y="1953747"/>
                </a:lnTo>
                <a:lnTo>
                  <a:pt x="220579" y="1954217"/>
                </a:lnTo>
                <a:lnTo>
                  <a:pt x="221391" y="1954061"/>
                </a:lnTo>
                <a:lnTo>
                  <a:pt x="222215" y="1954434"/>
                </a:lnTo>
                <a:lnTo>
                  <a:pt x="225786" y="1955119"/>
                </a:lnTo>
                <a:lnTo>
                  <a:pt x="226299" y="1954839"/>
                </a:lnTo>
                <a:lnTo>
                  <a:pt x="226986" y="1955255"/>
                </a:lnTo>
                <a:lnTo>
                  <a:pt x="231196" y="1955852"/>
                </a:lnTo>
                <a:lnTo>
                  <a:pt x="231951" y="1956120"/>
                </a:lnTo>
                <a:lnTo>
                  <a:pt x="232121" y="1956392"/>
                </a:lnTo>
                <a:lnTo>
                  <a:pt x="233027" y="1956100"/>
                </a:lnTo>
                <a:lnTo>
                  <a:pt x="233434" y="1955648"/>
                </a:lnTo>
                <a:lnTo>
                  <a:pt x="234717" y="1955993"/>
                </a:lnTo>
                <a:lnTo>
                  <a:pt x="236009" y="1955870"/>
                </a:lnTo>
                <a:lnTo>
                  <a:pt x="237872" y="1956584"/>
                </a:lnTo>
                <a:lnTo>
                  <a:pt x="238382" y="1956355"/>
                </a:lnTo>
                <a:lnTo>
                  <a:pt x="239583" y="1956880"/>
                </a:lnTo>
                <a:lnTo>
                  <a:pt x="240778" y="1956671"/>
                </a:lnTo>
                <a:lnTo>
                  <a:pt x="241718" y="1957077"/>
                </a:lnTo>
                <a:lnTo>
                  <a:pt x="242262" y="1956905"/>
                </a:lnTo>
                <a:lnTo>
                  <a:pt x="242280" y="1955907"/>
                </a:lnTo>
                <a:lnTo>
                  <a:pt x="242590" y="1955984"/>
                </a:lnTo>
                <a:lnTo>
                  <a:pt x="243204" y="1956740"/>
                </a:lnTo>
                <a:lnTo>
                  <a:pt x="243856" y="1956835"/>
                </a:lnTo>
                <a:lnTo>
                  <a:pt x="244167" y="1957438"/>
                </a:lnTo>
                <a:lnTo>
                  <a:pt x="245210" y="1957696"/>
                </a:lnTo>
                <a:lnTo>
                  <a:pt x="245269" y="1958051"/>
                </a:lnTo>
                <a:lnTo>
                  <a:pt x="245896" y="1957971"/>
                </a:lnTo>
                <a:lnTo>
                  <a:pt x="245927" y="1958160"/>
                </a:lnTo>
                <a:lnTo>
                  <a:pt x="246126" y="1957830"/>
                </a:lnTo>
                <a:lnTo>
                  <a:pt x="247784" y="1958808"/>
                </a:lnTo>
                <a:lnTo>
                  <a:pt x="248808" y="1958774"/>
                </a:lnTo>
                <a:lnTo>
                  <a:pt x="249054" y="1959159"/>
                </a:lnTo>
                <a:lnTo>
                  <a:pt x="249257" y="1958862"/>
                </a:lnTo>
                <a:lnTo>
                  <a:pt x="249986" y="1959651"/>
                </a:lnTo>
                <a:lnTo>
                  <a:pt x="251911" y="1959931"/>
                </a:lnTo>
                <a:lnTo>
                  <a:pt x="252669" y="1960378"/>
                </a:lnTo>
                <a:lnTo>
                  <a:pt x="253151" y="1960253"/>
                </a:lnTo>
                <a:lnTo>
                  <a:pt x="254724" y="1961129"/>
                </a:lnTo>
                <a:lnTo>
                  <a:pt x="255955" y="1961225"/>
                </a:lnTo>
                <a:lnTo>
                  <a:pt x="256538" y="1961585"/>
                </a:lnTo>
                <a:lnTo>
                  <a:pt x="256800" y="1962075"/>
                </a:lnTo>
                <a:lnTo>
                  <a:pt x="257218" y="1962029"/>
                </a:lnTo>
                <a:lnTo>
                  <a:pt x="258364" y="1962711"/>
                </a:lnTo>
                <a:lnTo>
                  <a:pt x="259442" y="1962597"/>
                </a:lnTo>
                <a:lnTo>
                  <a:pt x="260070" y="1962923"/>
                </a:lnTo>
                <a:lnTo>
                  <a:pt x="260833" y="1962950"/>
                </a:lnTo>
                <a:lnTo>
                  <a:pt x="262374" y="1962702"/>
                </a:lnTo>
                <a:lnTo>
                  <a:pt x="263290" y="1962931"/>
                </a:lnTo>
                <a:lnTo>
                  <a:pt x="263978" y="1962691"/>
                </a:lnTo>
                <a:lnTo>
                  <a:pt x="264419" y="1963030"/>
                </a:lnTo>
                <a:lnTo>
                  <a:pt x="265340" y="1962941"/>
                </a:lnTo>
                <a:lnTo>
                  <a:pt x="265660" y="1963147"/>
                </a:lnTo>
                <a:lnTo>
                  <a:pt x="266979" y="1962768"/>
                </a:lnTo>
                <a:lnTo>
                  <a:pt x="267489" y="1962959"/>
                </a:lnTo>
                <a:lnTo>
                  <a:pt x="268216" y="1962857"/>
                </a:lnTo>
                <a:lnTo>
                  <a:pt x="268186" y="1963105"/>
                </a:lnTo>
                <a:lnTo>
                  <a:pt x="269297" y="1963830"/>
                </a:lnTo>
                <a:lnTo>
                  <a:pt x="269514" y="1963758"/>
                </a:lnTo>
                <a:lnTo>
                  <a:pt x="269590" y="1964076"/>
                </a:lnTo>
                <a:lnTo>
                  <a:pt x="270160" y="1964180"/>
                </a:lnTo>
                <a:lnTo>
                  <a:pt x="270950" y="1965171"/>
                </a:lnTo>
                <a:lnTo>
                  <a:pt x="272047" y="1965340"/>
                </a:lnTo>
                <a:lnTo>
                  <a:pt x="274503" y="1966824"/>
                </a:lnTo>
                <a:lnTo>
                  <a:pt x="276144" y="1968300"/>
                </a:lnTo>
                <a:lnTo>
                  <a:pt x="276043" y="1968586"/>
                </a:lnTo>
                <a:lnTo>
                  <a:pt x="276389" y="1968620"/>
                </a:lnTo>
                <a:lnTo>
                  <a:pt x="276215" y="1968892"/>
                </a:lnTo>
                <a:lnTo>
                  <a:pt x="277136" y="1969719"/>
                </a:lnTo>
                <a:lnTo>
                  <a:pt x="278905" y="1970710"/>
                </a:lnTo>
                <a:lnTo>
                  <a:pt x="280856" y="1972366"/>
                </a:lnTo>
                <a:lnTo>
                  <a:pt x="283302" y="1973436"/>
                </a:lnTo>
                <a:lnTo>
                  <a:pt x="284533" y="1973292"/>
                </a:lnTo>
                <a:lnTo>
                  <a:pt x="284720" y="1973625"/>
                </a:lnTo>
                <a:lnTo>
                  <a:pt x="286187" y="1974219"/>
                </a:lnTo>
                <a:lnTo>
                  <a:pt x="286983" y="1973691"/>
                </a:lnTo>
                <a:lnTo>
                  <a:pt x="288927" y="1974353"/>
                </a:lnTo>
                <a:lnTo>
                  <a:pt x="289075" y="1974210"/>
                </a:lnTo>
                <a:lnTo>
                  <a:pt x="290256" y="1974539"/>
                </a:lnTo>
                <a:lnTo>
                  <a:pt x="290857" y="1974379"/>
                </a:lnTo>
                <a:lnTo>
                  <a:pt x="290982" y="1974615"/>
                </a:lnTo>
                <a:lnTo>
                  <a:pt x="291670" y="1974814"/>
                </a:lnTo>
                <a:lnTo>
                  <a:pt x="292595" y="1974784"/>
                </a:lnTo>
                <a:lnTo>
                  <a:pt x="292505" y="1974931"/>
                </a:lnTo>
                <a:lnTo>
                  <a:pt x="293334" y="1975249"/>
                </a:lnTo>
                <a:lnTo>
                  <a:pt x="293682" y="1975649"/>
                </a:lnTo>
                <a:lnTo>
                  <a:pt x="294379" y="1975709"/>
                </a:lnTo>
                <a:lnTo>
                  <a:pt x="295421" y="1976326"/>
                </a:lnTo>
                <a:lnTo>
                  <a:pt x="295819" y="1976181"/>
                </a:lnTo>
                <a:lnTo>
                  <a:pt x="296509" y="1976462"/>
                </a:lnTo>
                <a:lnTo>
                  <a:pt x="296694" y="1976293"/>
                </a:lnTo>
                <a:lnTo>
                  <a:pt x="296863" y="1976642"/>
                </a:lnTo>
                <a:lnTo>
                  <a:pt x="298135" y="1976725"/>
                </a:lnTo>
                <a:lnTo>
                  <a:pt x="299456" y="1977290"/>
                </a:lnTo>
                <a:lnTo>
                  <a:pt x="299626" y="1977208"/>
                </a:lnTo>
                <a:lnTo>
                  <a:pt x="299196" y="1976812"/>
                </a:lnTo>
                <a:lnTo>
                  <a:pt x="299146" y="1976032"/>
                </a:lnTo>
                <a:lnTo>
                  <a:pt x="299459" y="1975476"/>
                </a:lnTo>
                <a:lnTo>
                  <a:pt x="300385" y="1974709"/>
                </a:lnTo>
                <a:lnTo>
                  <a:pt x="302647" y="1974124"/>
                </a:lnTo>
                <a:lnTo>
                  <a:pt x="304635" y="1974238"/>
                </a:lnTo>
                <a:lnTo>
                  <a:pt x="306358" y="1974550"/>
                </a:lnTo>
                <a:lnTo>
                  <a:pt x="309247" y="1976079"/>
                </a:lnTo>
                <a:lnTo>
                  <a:pt x="309961" y="1976010"/>
                </a:lnTo>
                <a:lnTo>
                  <a:pt x="309929" y="1976379"/>
                </a:lnTo>
                <a:lnTo>
                  <a:pt x="310374" y="1976682"/>
                </a:lnTo>
                <a:lnTo>
                  <a:pt x="310906" y="1976680"/>
                </a:lnTo>
                <a:lnTo>
                  <a:pt x="311169" y="1977066"/>
                </a:lnTo>
                <a:lnTo>
                  <a:pt x="311964" y="1977136"/>
                </a:lnTo>
                <a:lnTo>
                  <a:pt x="312178" y="1976867"/>
                </a:lnTo>
                <a:lnTo>
                  <a:pt x="313990" y="1977631"/>
                </a:lnTo>
                <a:lnTo>
                  <a:pt x="314264" y="1977158"/>
                </a:lnTo>
                <a:lnTo>
                  <a:pt x="315148" y="1976623"/>
                </a:lnTo>
                <a:lnTo>
                  <a:pt x="316621" y="1976379"/>
                </a:lnTo>
                <a:lnTo>
                  <a:pt x="319258" y="1977348"/>
                </a:lnTo>
                <a:lnTo>
                  <a:pt x="320409" y="1978031"/>
                </a:lnTo>
                <a:lnTo>
                  <a:pt x="320808" y="1977917"/>
                </a:lnTo>
                <a:lnTo>
                  <a:pt x="320902" y="1978229"/>
                </a:lnTo>
                <a:lnTo>
                  <a:pt x="321191" y="1978135"/>
                </a:lnTo>
                <a:lnTo>
                  <a:pt x="321492" y="1978400"/>
                </a:lnTo>
                <a:lnTo>
                  <a:pt x="322540" y="1978173"/>
                </a:lnTo>
                <a:lnTo>
                  <a:pt x="322778" y="1978552"/>
                </a:lnTo>
                <a:lnTo>
                  <a:pt x="323883" y="1978703"/>
                </a:lnTo>
                <a:lnTo>
                  <a:pt x="324410" y="1978254"/>
                </a:lnTo>
                <a:lnTo>
                  <a:pt x="325042" y="1978218"/>
                </a:lnTo>
                <a:lnTo>
                  <a:pt x="328289" y="1979943"/>
                </a:lnTo>
                <a:lnTo>
                  <a:pt x="329099" y="1980053"/>
                </a:lnTo>
                <a:lnTo>
                  <a:pt x="329505" y="1980478"/>
                </a:lnTo>
                <a:lnTo>
                  <a:pt x="330857" y="1980923"/>
                </a:lnTo>
                <a:lnTo>
                  <a:pt x="330961" y="1980136"/>
                </a:lnTo>
                <a:lnTo>
                  <a:pt x="330414" y="1979475"/>
                </a:lnTo>
                <a:lnTo>
                  <a:pt x="330681" y="1978762"/>
                </a:lnTo>
                <a:lnTo>
                  <a:pt x="331233" y="1978191"/>
                </a:lnTo>
                <a:lnTo>
                  <a:pt x="332765" y="1977632"/>
                </a:lnTo>
                <a:lnTo>
                  <a:pt x="335569" y="1978089"/>
                </a:lnTo>
                <a:lnTo>
                  <a:pt x="333980" y="1976835"/>
                </a:lnTo>
                <a:lnTo>
                  <a:pt x="333859" y="1976436"/>
                </a:lnTo>
                <a:lnTo>
                  <a:pt x="332772" y="1975879"/>
                </a:lnTo>
                <a:lnTo>
                  <a:pt x="331798" y="1975034"/>
                </a:lnTo>
                <a:lnTo>
                  <a:pt x="330183" y="1973335"/>
                </a:lnTo>
                <a:lnTo>
                  <a:pt x="331628" y="1969010"/>
                </a:lnTo>
                <a:lnTo>
                  <a:pt x="332454" y="1968560"/>
                </a:lnTo>
                <a:lnTo>
                  <a:pt x="334729" y="1965946"/>
                </a:lnTo>
                <a:lnTo>
                  <a:pt x="337442" y="1963939"/>
                </a:lnTo>
                <a:lnTo>
                  <a:pt x="340528" y="1959961"/>
                </a:lnTo>
                <a:lnTo>
                  <a:pt x="341232" y="1959800"/>
                </a:lnTo>
                <a:lnTo>
                  <a:pt x="342554" y="1958789"/>
                </a:lnTo>
                <a:lnTo>
                  <a:pt x="342409" y="1958440"/>
                </a:lnTo>
                <a:lnTo>
                  <a:pt x="342633" y="1956794"/>
                </a:lnTo>
                <a:lnTo>
                  <a:pt x="343226" y="1955589"/>
                </a:lnTo>
                <a:lnTo>
                  <a:pt x="342925" y="1954444"/>
                </a:lnTo>
                <a:lnTo>
                  <a:pt x="344155" y="1951155"/>
                </a:lnTo>
                <a:lnTo>
                  <a:pt x="343469" y="1949617"/>
                </a:lnTo>
                <a:lnTo>
                  <a:pt x="343383" y="1948061"/>
                </a:lnTo>
                <a:lnTo>
                  <a:pt x="344835" y="1946267"/>
                </a:lnTo>
                <a:lnTo>
                  <a:pt x="348649" y="1943752"/>
                </a:lnTo>
                <a:lnTo>
                  <a:pt x="351688" y="1942352"/>
                </a:lnTo>
                <a:lnTo>
                  <a:pt x="355580" y="1941170"/>
                </a:lnTo>
                <a:lnTo>
                  <a:pt x="356382" y="1941215"/>
                </a:lnTo>
                <a:lnTo>
                  <a:pt x="357545" y="1940729"/>
                </a:lnTo>
                <a:lnTo>
                  <a:pt x="363961" y="1939804"/>
                </a:lnTo>
                <a:lnTo>
                  <a:pt x="367818" y="1939469"/>
                </a:lnTo>
                <a:lnTo>
                  <a:pt x="374473" y="1939495"/>
                </a:lnTo>
                <a:lnTo>
                  <a:pt x="381259" y="1940279"/>
                </a:lnTo>
                <a:lnTo>
                  <a:pt x="388303" y="1942034"/>
                </a:lnTo>
                <a:lnTo>
                  <a:pt x="395319" y="1944522"/>
                </a:lnTo>
                <a:lnTo>
                  <a:pt x="396021" y="1945138"/>
                </a:lnTo>
                <a:lnTo>
                  <a:pt x="400763" y="1947613"/>
                </a:lnTo>
                <a:lnTo>
                  <a:pt x="401612" y="1948261"/>
                </a:lnTo>
                <a:lnTo>
                  <a:pt x="403054" y="1948891"/>
                </a:lnTo>
                <a:lnTo>
                  <a:pt x="405789" y="1949489"/>
                </a:lnTo>
                <a:lnTo>
                  <a:pt x="407295" y="1950415"/>
                </a:lnTo>
                <a:lnTo>
                  <a:pt x="407592" y="1950880"/>
                </a:lnTo>
                <a:lnTo>
                  <a:pt x="409372" y="1951622"/>
                </a:lnTo>
                <a:lnTo>
                  <a:pt x="409885" y="1951297"/>
                </a:lnTo>
                <a:lnTo>
                  <a:pt x="410377" y="1951472"/>
                </a:lnTo>
                <a:lnTo>
                  <a:pt x="410866" y="1951233"/>
                </a:lnTo>
                <a:lnTo>
                  <a:pt x="411347" y="1951426"/>
                </a:lnTo>
                <a:lnTo>
                  <a:pt x="412717" y="1951293"/>
                </a:lnTo>
                <a:lnTo>
                  <a:pt x="413832" y="1951581"/>
                </a:lnTo>
                <a:lnTo>
                  <a:pt x="415494" y="1950845"/>
                </a:lnTo>
                <a:lnTo>
                  <a:pt x="417679" y="1950596"/>
                </a:lnTo>
                <a:lnTo>
                  <a:pt x="419628" y="1951322"/>
                </a:lnTo>
                <a:lnTo>
                  <a:pt x="420835" y="1951345"/>
                </a:lnTo>
                <a:lnTo>
                  <a:pt x="421784" y="1951702"/>
                </a:lnTo>
                <a:lnTo>
                  <a:pt x="422748" y="1951502"/>
                </a:lnTo>
                <a:lnTo>
                  <a:pt x="423750" y="1952084"/>
                </a:lnTo>
                <a:lnTo>
                  <a:pt x="424790" y="1951775"/>
                </a:lnTo>
                <a:lnTo>
                  <a:pt x="427169" y="1952809"/>
                </a:lnTo>
                <a:lnTo>
                  <a:pt x="428040" y="1952700"/>
                </a:lnTo>
                <a:lnTo>
                  <a:pt x="428894" y="1953110"/>
                </a:lnTo>
                <a:lnTo>
                  <a:pt x="431725" y="1953345"/>
                </a:lnTo>
                <a:lnTo>
                  <a:pt x="433196" y="1954197"/>
                </a:lnTo>
                <a:lnTo>
                  <a:pt x="434618" y="1954165"/>
                </a:lnTo>
                <a:lnTo>
                  <a:pt x="434816" y="1953770"/>
                </a:lnTo>
                <a:lnTo>
                  <a:pt x="435700" y="1953799"/>
                </a:lnTo>
                <a:lnTo>
                  <a:pt x="436995" y="1953284"/>
                </a:lnTo>
                <a:lnTo>
                  <a:pt x="438711" y="1953546"/>
                </a:lnTo>
                <a:lnTo>
                  <a:pt x="439694" y="1954005"/>
                </a:lnTo>
                <a:lnTo>
                  <a:pt x="439828" y="1953498"/>
                </a:lnTo>
                <a:lnTo>
                  <a:pt x="440538" y="1953540"/>
                </a:lnTo>
                <a:lnTo>
                  <a:pt x="441236" y="1952819"/>
                </a:lnTo>
                <a:lnTo>
                  <a:pt x="441192" y="1952451"/>
                </a:lnTo>
                <a:lnTo>
                  <a:pt x="442030" y="1952182"/>
                </a:lnTo>
                <a:lnTo>
                  <a:pt x="442018" y="1951751"/>
                </a:lnTo>
                <a:lnTo>
                  <a:pt x="442188" y="1951409"/>
                </a:lnTo>
                <a:lnTo>
                  <a:pt x="442459" y="1951422"/>
                </a:lnTo>
                <a:lnTo>
                  <a:pt x="442640" y="1950850"/>
                </a:lnTo>
                <a:lnTo>
                  <a:pt x="444063" y="1950258"/>
                </a:lnTo>
                <a:lnTo>
                  <a:pt x="446624" y="1950310"/>
                </a:lnTo>
                <a:lnTo>
                  <a:pt x="447329" y="1950620"/>
                </a:lnTo>
                <a:lnTo>
                  <a:pt x="447754" y="1950557"/>
                </a:lnTo>
                <a:lnTo>
                  <a:pt x="447798" y="1950983"/>
                </a:lnTo>
                <a:lnTo>
                  <a:pt x="450154" y="1951183"/>
                </a:lnTo>
                <a:lnTo>
                  <a:pt x="449978" y="1950897"/>
                </a:lnTo>
                <a:lnTo>
                  <a:pt x="450208" y="1950868"/>
                </a:lnTo>
                <a:lnTo>
                  <a:pt x="449036" y="1949216"/>
                </a:lnTo>
                <a:lnTo>
                  <a:pt x="447865" y="1945951"/>
                </a:lnTo>
                <a:lnTo>
                  <a:pt x="446119" y="1943954"/>
                </a:lnTo>
                <a:lnTo>
                  <a:pt x="445801" y="1943190"/>
                </a:lnTo>
                <a:lnTo>
                  <a:pt x="444338" y="1942799"/>
                </a:lnTo>
                <a:lnTo>
                  <a:pt x="442443" y="1941794"/>
                </a:lnTo>
                <a:lnTo>
                  <a:pt x="442031" y="1939802"/>
                </a:lnTo>
                <a:lnTo>
                  <a:pt x="440848" y="1940632"/>
                </a:lnTo>
                <a:lnTo>
                  <a:pt x="440356" y="1940243"/>
                </a:lnTo>
                <a:lnTo>
                  <a:pt x="440613" y="1940059"/>
                </a:lnTo>
                <a:lnTo>
                  <a:pt x="440084" y="1940057"/>
                </a:lnTo>
                <a:lnTo>
                  <a:pt x="439954" y="1939891"/>
                </a:lnTo>
                <a:lnTo>
                  <a:pt x="440988" y="1939761"/>
                </a:lnTo>
                <a:lnTo>
                  <a:pt x="440980" y="1939532"/>
                </a:lnTo>
                <a:lnTo>
                  <a:pt x="440170" y="1939597"/>
                </a:lnTo>
                <a:lnTo>
                  <a:pt x="439620" y="1939303"/>
                </a:lnTo>
                <a:lnTo>
                  <a:pt x="441537" y="1939030"/>
                </a:lnTo>
                <a:lnTo>
                  <a:pt x="441330" y="1938453"/>
                </a:lnTo>
                <a:lnTo>
                  <a:pt x="439277" y="1938600"/>
                </a:lnTo>
                <a:lnTo>
                  <a:pt x="438088" y="1937910"/>
                </a:lnTo>
                <a:lnTo>
                  <a:pt x="437642" y="1937307"/>
                </a:lnTo>
                <a:lnTo>
                  <a:pt x="437484" y="1934423"/>
                </a:lnTo>
                <a:lnTo>
                  <a:pt x="437785" y="1932463"/>
                </a:lnTo>
                <a:lnTo>
                  <a:pt x="438984" y="1928248"/>
                </a:lnTo>
                <a:lnTo>
                  <a:pt x="440532" y="1924316"/>
                </a:lnTo>
                <a:lnTo>
                  <a:pt x="440585" y="1923762"/>
                </a:lnTo>
                <a:lnTo>
                  <a:pt x="440266" y="1923456"/>
                </a:lnTo>
                <a:lnTo>
                  <a:pt x="440756" y="1923398"/>
                </a:lnTo>
                <a:lnTo>
                  <a:pt x="441052" y="1923018"/>
                </a:lnTo>
                <a:lnTo>
                  <a:pt x="441731" y="1921385"/>
                </a:lnTo>
                <a:lnTo>
                  <a:pt x="445049" y="1916494"/>
                </a:lnTo>
                <a:lnTo>
                  <a:pt x="447910" y="1913455"/>
                </a:lnTo>
                <a:lnTo>
                  <a:pt x="450415" y="1911338"/>
                </a:lnTo>
                <a:lnTo>
                  <a:pt x="455303" y="1908068"/>
                </a:lnTo>
                <a:lnTo>
                  <a:pt x="456688" y="1907490"/>
                </a:lnTo>
                <a:lnTo>
                  <a:pt x="458504" y="1906320"/>
                </a:lnTo>
                <a:lnTo>
                  <a:pt x="459750" y="1905145"/>
                </a:lnTo>
                <a:lnTo>
                  <a:pt x="462213" y="1903660"/>
                </a:lnTo>
                <a:lnTo>
                  <a:pt x="469015" y="1900660"/>
                </a:lnTo>
                <a:lnTo>
                  <a:pt x="478240" y="1898793"/>
                </a:lnTo>
                <a:lnTo>
                  <a:pt x="485444" y="1898059"/>
                </a:lnTo>
                <a:lnTo>
                  <a:pt x="495730" y="1897592"/>
                </a:lnTo>
                <a:lnTo>
                  <a:pt x="502293" y="1897927"/>
                </a:lnTo>
                <a:lnTo>
                  <a:pt x="510023" y="1899206"/>
                </a:lnTo>
                <a:lnTo>
                  <a:pt x="517398" y="1901285"/>
                </a:lnTo>
                <a:lnTo>
                  <a:pt x="525843" y="1904575"/>
                </a:lnTo>
                <a:lnTo>
                  <a:pt x="529655" y="1906414"/>
                </a:lnTo>
                <a:lnTo>
                  <a:pt x="530836" y="1907296"/>
                </a:lnTo>
                <a:lnTo>
                  <a:pt x="531954" y="1907597"/>
                </a:lnTo>
                <a:lnTo>
                  <a:pt x="536061" y="1908372"/>
                </a:lnTo>
                <a:lnTo>
                  <a:pt x="538425" y="1907922"/>
                </a:lnTo>
                <a:lnTo>
                  <a:pt x="539951" y="1907321"/>
                </a:lnTo>
                <a:lnTo>
                  <a:pt x="543828" y="1907062"/>
                </a:lnTo>
                <a:lnTo>
                  <a:pt x="549883" y="1907874"/>
                </a:lnTo>
                <a:lnTo>
                  <a:pt x="552918" y="1908927"/>
                </a:lnTo>
                <a:lnTo>
                  <a:pt x="555974" y="1909521"/>
                </a:lnTo>
                <a:lnTo>
                  <a:pt x="556244" y="1909202"/>
                </a:lnTo>
                <a:lnTo>
                  <a:pt x="557207" y="1908964"/>
                </a:lnTo>
                <a:lnTo>
                  <a:pt x="558258" y="1908269"/>
                </a:lnTo>
                <a:lnTo>
                  <a:pt x="559975" y="1908303"/>
                </a:lnTo>
                <a:lnTo>
                  <a:pt x="560726" y="1907750"/>
                </a:lnTo>
                <a:lnTo>
                  <a:pt x="563947" y="1906565"/>
                </a:lnTo>
                <a:lnTo>
                  <a:pt x="566359" y="1906233"/>
                </a:lnTo>
                <a:lnTo>
                  <a:pt x="567039" y="1905785"/>
                </a:lnTo>
                <a:lnTo>
                  <a:pt x="567247" y="1905903"/>
                </a:lnTo>
                <a:lnTo>
                  <a:pt x="568480" y="1905540"/>
                </a:lnTo>
                <a:lnTo>
                  <a:pt x="568637" y="1905202"/>
                </a:lnTo>
                <a:lnTo>
                  <a:pt x="570453" y="1904106"/>
                </a:lnTo>
                <a:lnTo>
                  <a:pt x="571245" y="1903096"/>
                </a:lnTo>
                <a:lnTo>
                  <a:pt x="573448" y="1901414"/>
                </a:lnTo>
                <a:lnTo>
                  <a:pt x="575780" y="1900869"/>
                </a:lnTo>
                <a:lnTo>
                  <a:pt x="577127" y="1900708"/>
                </a:lnTo>
                <a:lnTo>
                  <a:pt x="577303" y="1900982"/>
                </a:lnTo>
                <a:lnTo>
                  <a:pt x="577859" y="1900854"/>
                </a:lnTo>
                <a:lnTo>
                  <a:pt x="577810" y="1900626"/>
                </a:lnTo>
                <a:lnTo>
                  <a:pt x="578256" y="1900408"/>
                </a:lnTo>
                <a:lnTo>
                  <a:pt x="578616" y="1899452"/>
                </a:lnTo>
                <a:lnTo>
                  <a:pt x="579791" y="1899064"/>
                </a:lnTo>
                <a:lnTo>
                  <a:pt x="580220" y="1898315"/>
                </a:lnTo>
                <a:lnTo>
                  <a:pt x="580966" y="1897713"/>
                </a:lnTo>
                <a:lnTo>
                  <a:pt x="582993" y="1896879"/>
                </a:lnTo>
                <a:lnTo>
                  <a:pt x="583533" y="1897229"/>
                </a:lnTo>
                <a:lnTo>
                  <a:pt x="585939" y="1895055"/>
                </a:lnTo>
                <a:lnTo>
                  <a:pt x="587310" y="1894721"/>
                </a:lnTo>
                <a:lnTo>
                  <a:pt x="587755" y="1894863"/>
                </a:lnTo>
                <a:lnTo>
                  <a:pt x="588203" y="1894523"/>
                </a:lnTo>
                <a:lnTo>
                  <a:pt x="588228" y="1893998"/>
                </a:lnTo>
                <a:lnTo>
                  <a:pt x="588849" y="1893225"/>
                </a:lnTo>
                <a:lnTo>
                  <a:pt x="591487" y="1892220"/>
                </a:lnTo>
                <a:lnTo>
                  <a:pt x="592538" y="1891562"/>
                </a:lnTo>
                <a:lnTo>
                  <a:pt x="593168" y="1890655"/>
                </a:lnTo>
                <a:lnTo>
                  <a:pt x="594107" y="1890174"/>
                </a:lnTo>
                <a:lnTo>
                  <a:pt x="597464" y="1889133"/>
                </a:lnTo>
                <a:lnTo>
                  <a:pt x="599514" y="1888935"/>
                </a:lnTo>
                <a:lnTo>
                  <a:pt x="600092" y="1888558"/>
                </a:lnTo>
                <a:lnTo>
                  <a:pt x="601413" y="1888401"/>
                </a:lnTo>
                <a:lnTo>
                  <a:pt x="605560" y="1886957"/>
                </a:lnTo>
                <a:lnTo>
                  <a:pt x="608093" y="1886782"/>
                </a:lnTo>
                <a:lnTo>
                  <a:pt x="609818" y="1886192"/>
                </a:lnTo>
                <a:lnTo>
                  <a:pt x="611387" y="1886056"/>
                </a:lnTo>
                <a:lnTo>
                  <a:pt x="612056" y="1885468"/>
                </a:lnTo>
                <a:lnTo>
                  <a:pt x="612959" y="1885146"/>
                </a:lnTo>
                <a:lnTo>
                  <a:pt x="613575" y="1884352"/>
                </a:lnTo>
                <a:lnTo>
                  <a:pt x="614558" y="1884130"/>
                </a:lnTo>
                <a:lnTo>
                  <a:pt x="614875" y="1883271"/>
                </a:lnTo>
                <a:lnTo>
                  <a:pt x="616453" y="1882463"/>
                </a:lnTo>
                <a:lnTo>
                  <a:pt x="616276" y="1882110"/>
                </a:lnTo>
                <a:lnTo>
                  <a:pt x="616692" y="1881673"/>
                </a:lnTo>
                <a:lnTo>
                  <a:pt x="618698" y="1881084"/>
                </a:lnTo>
                <a:lnTo>
                  <a:pt x="620085" y="1879519"/>
                </a:lnTo>
                <a:lnTo>
                  <a:pt x="620988" y="1879165"/>
                </a:lnTo>
                <a:lnTo>
                  <a:pt x="621272" y="1878818"/>
                </a:lnTo>
                <a:lnTo>
                  <a:pt x="622811" y="1878293"/>
                </a:lnTo>
                <a:lnTo>
                  <a:pt x="623873" y="1878265"/>
                </a:lnTo>
                <a:lnTo>
                  <a:pt x="624396" y="1877896"/>
                </a:lnTo>
                <a:lnTo>
                  <a:pt x="625895" y="1877517"/>
                </a:lnTo>
                <a:lnTo>
                  <a:pt x="628160" y="1877211"/>
                </a:lnTo>
                <a:lnTo>
                  <a:pt x="631204" y="1877163"/>
                </a:lnTo>
                <a:lnTo>
                  <a:pt x="631364" y="1876430"/>
                </a:lnTo>
                <a:lnTo>
                  <a:pt x="632148" y="1875772"/>
                </a:lnTo>
                <a:lnTo>
                  <a:pt x="635958" y="1874591"/>
                </a:lnTo>
                <a:lnTo>
                  <a:pt x="635839" y="1873514"/>
                </a:lnTo>
                <a:lnTo>
                  <a:pt x="636031" y="1873209"/>
                </a:lnTo>
                <a:lnTo>
                  <a:pt x="636893" y="1872368"/>
                </a:lnTo>
                <a:lnTo>
                  <a:pt x="638199" y="1871650"/>
                </a:lnTo>
                <a:lnTo>
                  <a:pt x="639594" y="1871096"/>
                </a:lnTo>
                <a:lnTo>
                  <a:pt x="640733" y="1871040"/>
                </a:lnTo>
                <a:lnTo>
                  <a:pt x="641080" y="1870766"/>
                </a:lnTo>
                <a:lnTo>
                  <a:pt x="642324" y="1870595"/>
                </a:lnTo>
                <a:lnTo>
                  <a:pt x="642790" y="1870274"/>
                </a:lnTo>
                <a:lnTo>
                  <a:pt x="645688" y="1869883"/>
                </a:lnTo>
                <a:lnTo>
                  <a:pt x="646018" y="1869550"/>
                </a:lnTo>
                <a:lnTo>
                  <a:pt x="646076" y="1869010"/>
                </a:lnTo>
                <a:lnTo>
                  <a:pt x="646802" y="1868447"/>
                </a:lnTo>
                <a:lnTo>
                  <a:pt x="647439" y="1867259"/>
                </a:lnTo>
                <a:lnTo>
                  <a:pt x="648207" y="1866652"/>
                </a:lnTo>
                <a:lnTo>
                  <a:pt x="648624" y="1866726"/>
                </a:lnTo>
                <a:lnTo>
                  <a:pt x="648953" y="1866496"/>
                </a:lnTo>
                <a:lnTo>
                  <a:pt x="648593" y="1865930"/>
                </a:lnTo>
                <a:lnTo>
                  <a:pt x="649325" y="1864938"/>
                </a:lnTo>
                <a:lnTo>
                  <a:pt x="649946" y="1865105"/>
                </a:lnTo>
                <a:lnTo>
                  <a:pt x="649761" y="1864586"/>
                </a:lnTo>
                <a:lnTo>
                  <a:pt x="650095" y="1863764"/>
                </a:lnTo>
                <a:lnTo>
                  <a:pt x="651415" y="1863066"/>
                </a:lnTo>
                <a:lnTo>
                  <a:pt x="651446" y="1862718"/>
                </a:lnTo>
                <a:lnTo>
                  <a:pt x="651895" y="1862363"/>
                </a:lnTo>
                <a:lnTo>
                  <a:pt x="653676" y="1861307"/>
                </a:lnTo>
                <a:lnTo>
                  <a:pt x="654099" y="1861191"/>
                </a:lnTo>
                <a:lnTo>
                  <a:pt x="654011" y="1861374"/>
                </a:lnTo>
                <a:lnTo>
                  <a:pt x="654181" y="1861396"/>
                </a:lnTo>
                <a:lnTo>
                  <a:pt x="654587" y="1860953"/>
                </a:lnTo>
                <a:lnTo>
                  <a:pt x="656161" y="1860298"/>
                </a:lnTo>
                <a:lnTo>
                  <a:pt x="657679" y="1859906"/>
                </a:lnTo>
                <a:lnTo>
                  <a:pt x="659291" y="1859914"/>
                </a:lnTo>
                <a:lnTo>
                  <a:pt x="660197" y="1859447"/>
                </a:lnTo>
                <a:lnTo>
                  <a:pt x="660991" y="1858294"/>
                </a:lnTo>
                <a:lnTo>
                  <a:pt x="661734" y="1857702"/>
                </a:lnTo>
                <a:lnTo>
                  <a:pt x="661768" y="1857062"/>
                </a:lnTo>
                <a:lnTo>
                  <a:pt x="662086" y="1856547"/>
                </a:lnTo>
                <a:lnTo>
                  <a:pt x="664058" y="1854903"/>
                </a:lnTo>
                <a:lnTo>
                  <a:pt x="667351" y="1853289"/>
                </a:lnTo>
                <a:lnTo>
                  <a:pt x="671838" y="1849751"/>
                </a:lnTo>
                <a:lnTo>
                  <a:pt x="674657" y="1848038"/>
                </a:lnTo>
                <a:lnTo>
                  <a:pt x="675623" y="1847047"/>
                </a:lnTo>
                <a:lnTo>
                  <a:pt x="677532" y="1846432"/>
                </a:lnTo>
                <a:lnTo>
                  <a:pt x="679905" y="1843991"/>
                </a:lnTo>
                <a:lnTo>
                  <a:pt x="682802" y="1842868"/>
                </a:lnTo>
                <a:lnTo>
                  <a:pt x="686454" y="1840679"/>
                </a:lnTo>
                <a:lnTo>
                  <a:pt x="687957" y="1840177"/>
                </a:lnTo>
                <a:lnTo>
                  <a:pt x="688482" y="1839549"/>
                </a:lnTo>
                <a:lnTo>
                  <a:pt x="689320" y="1839197"/>
                </a:lnTo>
                <a:lnTo>
                  <a:pt x="690374" y="1837375"/>
                </a:lnTo>
                <a:lnTo>
                  <a:pt x="691243" y="1836497"/>
                </a:lnTo>
                <a:lnTo>
                  <a:pt x="693992" y="1835184"/>
                </a:lnTo>
                <a:lnTo>
                  <a:pt x="695228" y="1834919"/>
                </a:lnTo>
                <a:lnTo>
                  <a:pt x="696725" y="1833847"/>
                </a:lnTo>
                <a:lnTo>
                  <a:pt x="697458" y="1833600"/>
                </a:lnTo>
                <a:lnTo>
                  <a:pt x="697706" y="1833213"/>
                </a:lnTo>
                <a:lnTo>
                  <a:pt x="697640" y="1832349"/>
                </a:lnTo>
                <a:lnTo>
                  <a:pt x="698052" y="1831747"/>
                </a:lnTo>
                <a:lnTo>
                  <a:pt x="699205" y="1830815"/>
                </a:lnTo>
                <a:lnTo>
                  <a:pt x="700118" y="1830622"/>
                </a:lnTo>
                <a:lnTo>
                  <a:pt x="702652" y="1828821"/>
                </a:lnTo>
                <a:lnTo>
                  <a:pt x="703013" y="1828314"/>
                </a:lnTo>
                <a:lnTo>
                  <a:pt x="703186" y="1828375"/>
                </a:lnTo>
                <a:lnTo>
                  <a:pt x="703306" y="1827582"/>
                </a:lnTo>
                <a:lnTo>
                  <a:pt x="704278" y="1826740"/>
                </a:lnTo>
                <a:lnTo>
                  <a:pt x="710839" y="1823516"/>
                </a:lnTo>
                <a:lnTo>
                  <a:pt x="711876" y="1822325"/>
                </a:lnTo>
                <a:lnTo>
                  <a:pt x="711914" y="1821818"/>
                </a:lnTo>
                <a:lnTo>
                  <a:pt x="712986" y="1821652"/>
                </a:lnTo>
                <a:lnTo>
                  <a:pt x="713585" y="1821315"/>
                </a:lnTo>
                <a:lnTo>
                  <a:pt x="714820" y="1821324"/>
                </a:lnTo>
                <a:lnTo>
                  <a:pt x="715018" y="1820859"/>
                </a:lnTo>
                <a:lnTo>
                  <a:pt x="715937" y="1820456"/>
                </a:lnTo>
                <a:lnTo>
                  <a:pt x="715955" y="1819835"/>
                </a:lnTo>
                <a:lnTo>
                  <a:pt x="716527" y="1818998"/>
                </a:lnTo>
                <a:lnTo>
                  <a:pt x="719014" y="1818080"/>
                </a:lnTo>
                <a:lnTo>
                  <a:pt x="719229" y="1817877"/>
                </a:lnTo>
                <a:lnTo>
                  <a:pt x="719217" y="1817279"/>
                </a:lnTo>
                <a:lnTo>
                  <a:pt x="720637" y="1816628"/>
                </a:lnTo>
                <a:lnTo>
                  <a:pt x="720937" y="1815885"/>
                </a:lnTo>
                <a:lnTo>
                  <a:pt x="721769" y="1815591"/>
                </a:lnTo>
                <a:lnTo>
                  <a:pt x="722792" y="1814629"/>
                </a:lnTo>
                <a:lnTo>
                  <a:pt x="722814" y="1814193"/>
                </a:lnTo>
                <a:lnTo>
                  <a:pt x="723529" y="1813326"/>
                </a:lnTo>
                <a:lnTo>
                  <a:pt x="725563" y="1812454"/>
                </a:lnTo>
                <a:lnTo>
                  <a:pt x="725419" y="1812180"/>
                </a:lnTo>
                <a:lnTo>
                  <a:pt x="725831" y="1811537"/>
                </a:lnTo>
                <a:lnTo>
                  <a:pt x="726632" y="1811069"/>
                </a:lnTo>
                <a:lnTo>
                  <a:pt x="727694" y="1810828"/>
                </a:lnTo>
                <a:lnTo>
                  <a:pt x="728590" y="1810235"/>
                </a:lnTo>
                <a:lnTo>
                  <a:pt x="729062" y="1809453"/>
                </a:lnTo>
                <a:lnTo>
                  <a:pt x="729140" y="1808715"/>
                </a:lnTo>
                <a:lnTo>
                  <a:pt x="730508" y="1808017"/>
                </a:lnTo>
                <a:lnTo>
                  <a:pt x="730776" y="1807396"/>
                </a:lnTo>
                <a:lnTo>
                  <a:pt x="731752" y="1806615"/>
                </a:lnTo>
                <a:lnTo>
                  <a:pt x="732655" y="1805055"/>
                </a:lnTo>
                <a:lnTo>
                  <a:pt x="733822" y="1804457"/>
                </a:lnTo>
                <a:lnTo>
                  <a:pt x="734749" y="1804290"/>
                </a:lnTo>
                <a:lnTo>
                  <a:pt x="735332" y="1803602"/>
                </a:lnTo>
                <a:lnTo>
                  <a:pt x="737442" y="1802566"/>
                </a:lnTo>
                <a:lnTo>
                  <a:pt x="738983" y="1802146"/>
                </a:lnTo>
                <a:lnTo>
                  <a:pt x="740351" y="1802138"/>
                </a:lnTo>
                <a:lnTo>
                  <a:pt x="743503" y="1800058"/>
                </a:lnTo>
                <a:lnTo>
                  <a:pt x="745044" y="1799661"/>
                </a:lnTo>
                <a:lnTo>
                  <a:pt x="745562" y="1799811"/>
                </a:lnTo>
                <a:lnTo>
                  <a:pt x="746135" y="1799657"/>
                </a:lnTo>
                <a:lnTo>
                  <a:pt x="746248" y="1798738"/>
                </a:lnTo>
                <a:lnTo>
                  <a:pt x="747016" y="1797756"/>
                </a:lnTo>
                <a:lnTo>
                  <a:pt x="748899" y="1797125"/>
                </a:lnTo>
                <a:lnTo>
                  <a:pt x="748918" y="1796913"/>
                </a:lnTo>
                <a:lnTo>
                  <a:pt x="749801" y="1796540"/>
                </a:lnTo>
                <a:lnTo>
                  <a:pt x="750364" y="1795955"/>
                </a:lnTo>
                <a:lnTo>
                  <a:pt x="751632" y="1795449"/>
                </a:lnTo>
                <a:lnTo>
                  <a:pt x="751691" y="1794990"/>
                </a:lnTo>
                <a:lnTo>
                  <a:pt x="752754" y="1794744"/>
                </a:lnTo>
                <a:lnTo>
                  <a:pt x="755174" y="1793081"/>
                </a:lnTo>
                <a:lnTo>
                  <a:pt x="757097" y="1792853"/>
                </a:lnTo>
                <a:lnTo>
                  <a:pt x="757961" y="1792243"/>
                </a:lnTo>
                <a:lnTo>
                  <a:pt x="758772" y="1791132"/>
                </a:lnTo>
                <a:lnTo>
                  <a:pt x="760452" y="1790443"/>
                </a:lnTo>
                <a:lnTo>
                  <a:pt x="759865" y="1790033"/>
                </a:lnTo>
                <a:lnTo>
                  <a:pt x="759200" y="1790125"/>
                </a:lnTo>
                <a:lnTo>
                  <a:pt x="759199" y="1789691"/>
                </a:lnTo>
                <a:lnTo>
                  <a:pt x="759923" y="1788814"/>
                </a:lnTo>
                <a:lnTo>
                  <a:pt x="760124" y="1787663"/>
                </a:lnTo>
                <a:lnTo>
                  <a:pt x="761652" y="1786632"/>
                </a:lnTo>
                <a:lnTo>
                  <a:pt x="762915" y="1786217"/>
                </a:lnTo>
                <a:lnTo>
                  <a:pt x="763301" y="1785761"/>
                </a:lnTo>
                <a:lnTo>
                  <a:pt x="764286" y="1785496"/>
                </a:lnTo>
                <a:lnTo>
                  <a:pt x="763919" y="1784309"/>
                </a:lnTo>
                <a:lnTo>
                  <a:pt x="765583" y="1782384"/>
                </a:lnTo>
                <a:lnTo>
                  <a:pt x="766769" y="1781566"/>
                </a:lnTo>
                <a:lnTo>
                  <a:pt x="769139" y="1780992"/>
                </a:lnTo>
                <a:lnTo>
                  <a:pt x="769996" y="1779797"/>
                </a:lnTo>
                <a:lnTo>
                  <a:pt x="771667" y="1778668"/>
                </a:lnTo>
                <a:lnTo>
                  <a:pt x="772416" y="1778661"/>
                </a:lnTo>
                <a:lnTo>
                  <a:pt x="773085" y="1778196"/>
                </a:lnTo>
                <a:lnTo>
                  <a:pt x="773930" y="1778017"/>
                </a:lnTo>
                <a:lnTo>
                  <a:pt x="774987" y="1776855"/>
                </a:lnTo>
                <a:lnTo>
                  <a:pt x="776028" y="1776701"/>
                </a:lnTo>
                <a:lnTo>
                  <a:pt x="775769" y="1775348"/>
                </a:lnTo>
                <a:lnTo>
                  <a:pt x="776398" y="1775254"/>
                </a:lnTo>
                <a:lnTo>
                  <a:pt x="776670" y="1774741"/>
                </a:lnTo>
                <a:lnTo>
                  <a:pt x="777665" y="1774254"/>
                </a:lnTo>
                <a:lnTo>
                  <a:pt x="779231" y="1772891"/>
                </a:lnTo>
                <a:lnTo>
                  <a:pt x="780080" y="1772789"/>
                </a:lnTo>
                <a:lnTo>
                  <a:pt x="781279" y="1772147"/>
                </a:lnTo>
                <a:lnTo>
                  <a:pt x="782630" y="1771811"/>
                </a:lnTo>
                <a:lnTo>
                  <a:pt x="782560" y="1771477"/>
                </a:lnTo>
                <a:lnTo>
                  <a:pt x="781892" y="1771027"/>
                </a:lnTo>
                <a:lnTo>
                  <a:pt x="783281" y="1769459"/>
                </a:lnTo>
                <a:lnTo>
                  <a:pt x="783955" y="1769255"/>
                </a:lnTo>
                <a:lnTo>
                  <a:pt x="784208" y="1768646"/>
                </a:lnTo>
                <a:lnTo>
                  <a:pt x="784514" y="1768418"/>
                </a:lnTo>
                <a:lnTo>
                  <a:pt x="784834" y="1768734"/>
                </a:lnTo>
                <a:lnTo>
                  <a:pt x="784997" y="1768152"/>
                </a:lnTo>
                <a:lnTo>
                  <a:pt x="785353" y="1767892"/>
                </a:lnTo>
                <a:lnTo>
                  <a:pt x="785225" y="1767491"/>
                </a:lnTo>
                <a:lnTo>
                  <a:pt x="785541" y="1767324"/>
                </a:lnTo>
                <a:lnTo>
                  <a:pt x="785505" y="1766474"/>
                </a:lnTo>
                <a:lnTo>
                  <a:pt x="786574" y="1765454"/>
                </a:lnTo>
                <a:lnTo>
                  <a:pt x="786797" y="1763827"/>
                </a:lnTo>
                <a:lnTo>
                  <a:pt x="787753" y="1763139"/>
                </a:lnTo>
                <a:lnTo>
                  <a:pt x="787989" y="1762317"/>
                </a:lnTo>
                <a:lnTo>
                  <a:pt x="788534" y="1762016"/>
                </a:lnTo>
                <a:lnTo>
                  <a:pt x="788258" y="1761648"/>
                </a:lnTo>
                <a:lnTo>
                  <a:pt x="788299" y="1760779"/>
                </a:lnTo>
                <a:lnTo>
                  <a:pt x="787992" y="1759965"/>
                </a:lnTo>
                <a:lnTo>
                  <a:pt x="788069" y="1758494"/>
                </a:lnTo>
                <a:lnTo>
                  <a:pt x="791240" y="1754735"/>
                </a:lnTo>
                <a:lnTo>
                  <a:pt x="793601" y="1752958"/>
                </a:lnTo>
                <a:lnTo>
                  <a:pt x="795733" y="1751862"/>
                </a:lnTo>
                <a:lnTo>
                  <a:pt x="803955" y="1749584"/>
                </a:lnTo>
                <a:lnTo>
                  <a:pt x="804723" y="1749043"/>
                </a:lnTo>
                <a:lnTo>
                  <a:pt x="805366" y="1749047"/>
                </a:lnTo>
                <a:lnTo>
                  <a:pt x="806327" y="1748191"/>
                </a:lnTo>
                <a:lnTo>
                  <a:pt x="806954" y="1748312"/>
                </a:lnTo>
                <a:lnTo>
                  <a:pt x="807959" y="1747315"/>
                </a:lnTo>
                <a:lnTo>
                  <a:pt x="808865" y="1747448"/>
                </a:lnTo>
                <a:lnTo>
                  <a:pt x="809580" y="1747259"/>
                </a:lnTo>
                <a:lnTo>
                  <a:pt x="811731" y="1745319"/>
                </a:lnTo>
                <a:lnTo>
                  <a:pt x="812205" y="1744225"/>
                </a:lnTo>
                <a:lnTo>
                  <a:pt x="813774" y="1743657"/>
                </a:lnTo>
                <a:lnTo>
                  <a:pt x="814032" y="1742952"/>
                </a:lnTo>
                <a:lnTo>
                  <a:pt x="815173" y="1741906"/>
                </a:lnTo>
                <a:lnTo>
                  <a:pt x="815592" y="1742135"/>
                </a:lnTo>
                <a:lnTo>
                  <a:pt x="816051" y="1741750"/>
                </a:lnTo>
                <a:lnTo>
                  <a:pt x="816534" y="1741787"/>
                </a:lnTo>
                <a:lnTo>
                  <a:pt x="817655" y="1740683"/>
                </a:lnTo>
                <a:lnTo>
                  <a:pt x="818322" y="1740809"/>
                </a:lnTo>
                <a:lnTo>
                  <a:pt x="818732" y="1740188"/>
                </a:lnTo>
                <a:lnTo>
                  <a:pt x="819338" y="1740250"/>
                </a:lnTo>
                <a:lnTo>
                  <a:pt x="819540" y="1739724"/>
                </a:lnTo>
                <a:lnTo>
                  <a:pt x="820296" y="1739133"/>
                </a:lnTo>
                <a:lnTo>
                  <a:pt x="821450" y="1739317"/>
                </a:lnTo>
                <a:lnTo>
                  <a:pt x="822279" y="1739175"/>
                </a:lnTo>
                <a:lnTo>
                  <a:pt x="823134" y="1739485"/>
                </a:lnTo>
                <a:lnTo>
                  <a:pt x="824453" y="1738761"/>
                </a:lnTo>
                <a:lnTo>
                  <a:pt x="824395" y="1737656"/>
                </a:lnTo>
                <a:lnTo>
                  <a:pt x="824655" y="1736381"/>
                </a:lnTo>
                <a:lnTo>
                  <a:pt x="825240" y="1736090"/>
                </a:lnTo>
                <a:lnTo>
                  <a:pt x="825562" y="1735546"/>
                </a:lnTo>
                <a:lnTo>
                  <a:pt x="826802" y="1734530"/>
                </a:lnTo>
                <a:lnTo>
                  <a:pt x="827232" y="1733713"/>
                </a:lnTo>
                <a:lnTo>
                  <a:pt x="828262" y="1732736"/>
                </a:lnTo>
                <a:lnTo>
                  <a:pt x="829471" y="1732093"/>
                </a:lnTo>
                <a:lnTo>
                  <a:pt x="830759" y="1730974"/>
                </a:lnTo>
                <a:lnTo>
                  <a:pt x="830905" y="1730330"/>
                </a:lnTo>
                <a:lnTo>
                  <a:pt x="832247" y="1729025"/>
                </a:lnTo>
                <a:lnTo>
                  <a:pt x="832659" y="1728239"/>
                </a:lnTo>
                <a:lnTo>
                  <a:pt x="832498" y="1727846"/>
                </a:lnTo>
                <a:lnTo>
                  <a:pt x="833300" y="1726838"/>
                </a:lnTo>
                <a:lnTo>
                  <a:pt x="835645" y="1725726"/>
                </a:lnTo>
                <a:lnTo>
                  <a:pt x="837383" y="1725344"/>
                </a:lnTo>
                <a:lnTo>
                  <a:pt x="837613" y="1725465"/>
                </a:lnTo>
                <a:lnTo>
                  <a:pt x="838226" y="1725017"/>
                </a:lnTo>
                <a:lnTo>
                  <a:pt x="838825" y="1725118"/>
                </a:lnTo>
                <a:lnTo>
                  <a:pt x="840396" y="1723429"/>
                </a:lnTo>
                <a:lnTo>
                  <a:pt x="842768" y="1722726"/>
                </a:lnTo>
                <a:lnTo>
                  <a:pt x="843196" y="1722896"/>
                </a:lnTo>
                <a:lnTo>
                  <a:pt x="844035" y="1722709"/>
                </a:lnTo>
                <a:lnTo>
                  <a:pt x="845258" y="1721760"/>
                </a:lnTo>
                <a:lnTo>
                  <a:pt x="845883" y="1720964"/>
                </a:lnTo>
                <a:lnTo>
                  <a:pt x="846606" y="1719060"/>
                </a:lnTo>
                <a:lnTo>
                  <a:pt x="848266" y="1718044"/>
                </a:lnTo>
                <a:lnTo>
                  <a:pt x="850015" y="1717681"/>
                </a:lnTo>
                <a:lnTo>
                  <a:pt x="850209" y="1717344"/>
                </a:lnTo>
                <a:lnTo>
                  <a:pt x="850127" y="1716812"/>
                </a:lnTo>
                <a:lnTo>
                  <a:pt x="850632" y="1715804"/>
                </a:lnTo>
                <a:lnTo>
                  <a:pt x="850342" y="1715063"/>
                </a:lnTo>
                <a:lnTo>
                  <a:pt x="850664" y="1714298"/>
                </a:lnTo>
                <a:lnTo>
                  <a:pt x="853015" y="1712692"/>
                </a:lnTo>
                <a:lnTo>
                  <a:pt x="853702" y="1711838"/>
                </a:lnTo>
                <a:lnTo>
                  <a:pt x="854597" y="1709637"/>
                </a:lnTo>
                <a:lnTo>
                  <a:pt x="855781" y="1708962"/>
                </a:lnTo>
                <a:lnTo>
                  <a:pt x="856533" y="1709048"/>
                </a:lnTo>
                <a:lnTo>
                  <a:pt x="857214" y="1708588"/>
                </a:lnTo>
                <a:lnTo>
                  <a:pt x="857504" y="1708013"/>
                </a:lnTo>
                <a:lnTo>
                  <a:pt x="857664" y="1706387"/>
                </a:lnTo>
                <a:lnTo>
                  <a:pt x="858061" y="1705869"/>
                </a:lnTo>
                <a:lnTo>
                  <a:pt x="858602" y="1705721"/>
                </a:lnTo>
                <a:lnTo>
                  <a:pt x="859325" y="1704813"/>
                </a:lnTo>
                <a:lnTo>
                  <a:pt x="861096" y="1704294"/>
                </a:lnTo>
                <a:lnTo>
                  <a:pt x="861761" y="1703718"/>
                </a:lnTo>
                <a:lnTo>
                  <a:pt x="862230" y="1703793"/>
                </a:lnTo>
                <a:lnTo>
                  <a:pt x="862453" y="1703340"/>
                </a:lnTo>
                <a:lnTo>
                  <a:pt x="863605" y="1702945"/>
                </a:lnTo>
                <a:lnTo>
                  <a:pt x="864377" y="1703363"/>
                </a:lnTo>
                <a:lnTo>
                  <a:pt x="864647" y="1702491"/>
                </a:lnTo>
                <a:lnTo>
                  <a:pt x="865328" y="1701877"/>
                </a:lnTo>
                <a:lnTo>
                  <a:pt x="864904" y="1700664"/>
                </a:lnTo>
                <a:lnTo>
                  <a:pt x="865712" y="1699239"/>
                </a:lnTo>
                <a:lnTo>
                  <a:pt x="866599" y="1698447"/>
                </a:lnTo>
                <a:lnTo>
                  <a:pt x="867184" y="1698423"/>
                </a:lnTo>
                <a:lnTo>
                  <a:pt x="867323" y="1697743"/>
                </a:lnTo>
                <a:lnTo>
                  <a:pt x="868210" y="1697676"/>
                </a:lnTo>
                <a:lnTo>
                  <a:pt x="868710" y="1697047"/>
                </a:lnTo>
                <a:lnTo>
                  <a:pt x="869477" y="1696611"/>
                </a:lnTo>
                <a:lnTo>
                  <a:pt x="869415" y="1695791"/>
                </a:lnTo>
                <a:lnTo>
                  <a:pt x="870699" y="1695135"/>
                </a:lnTo>
                <a:lnTo>
                  <a:pt x="870482" y="1694731"/>
                </a:lnTo>
                <a:lnTo>
                  <a:pt x="870890" y="1694725"/>
                </a:lnTo>
                <a:lnTo>
                  <a:pt x="870967" y="1694932"/>
                </a:lnTo>
                <a:lnTo>
                  <a:pt x="871090" y="1694506"/>
                </a:lnTo>
                <a:lnTo>
                  <a:pt x="871451" y="1694483"/>
                </a:lnTo>
                <a:lnTo>
                  <a:pt x="871569" y="1694171"/>
                </a:lnTo>
                <a:lnTo>
                  <a:pt x="872277" y="1694206"/>
                </a:lnTo>
                <a:lnTo>
                  <a:pt x="872698" y="1693238"/>
                </a:lnTo>
                <a:lnTo>
                  <a:pt x="873079" y="1693172"/>
                </a:lnTo>
                <a:lnTo>
                  <a:pt x="872772" y="1692887"/>
                </a:lnTo>
                <a:lnTo>
                  <a:pt x="873013" y="1692475"/>
                </a:lnTo>
                <a:lnTo>
                  <a:pt x="875125" y="1690783"/>
                </a:lnTo>
                <a:lnTo>
                  <a:pt x="875252" y="1690140"/>
                </a:lnTo>
                <a:lnTo>
                  <a:pt x="875418" y="1690308"/>
                </a:lnTo>
                <a:lnTo>
                  <a:pt x="876738" y="1689912"/>
                </a:lnTo>
                <a:lnTo>
                  <a:pt x="877899" y="1689255"/>
                </a:lnTo>
                <a:lnTo>
                  <a:pt x="877967" y="1689457"/>
                </a:lnTo>
                <a:lnTo>
                  <a:pt x="878365" y="1688781"/>
                </a:lnTo>
                <a:lnTo>
                  <a:pt x="878551" y="1687646"/>
                </a:lnTo>
                <a:lnTo>
                  <a:pt x="878997" y="1687234"/>
                </a:lnTo>
                <a:lnTo>
                  <a:pt x="879172" y="1686433"/>
                </a:lnTo>
                <a:lnTo>
                  <a:pt x="879038" y="1685829"/>
                </a:lnTo>
                <a:lnTo>
                  <a:pt x="880227" y="1685278"/>
                </a:lnTo>
                <a:lnTo>
                  <a:pt x="880763" y="1684438"/>
                </a:lnTo>
                <a:lnTo>
                  <a:pt x="882112" y="1683669"/>
                </a:lnTo>
                <a:lnTo>
                  <a:pt x="882830" y="1682538"/>
                </a:lnTo>
                <a:lnTo>
                  <a:pt x="882994" y="1681849"/>
                </a:lnTo>
                <a:lnTo>
                  <a:pt x="883865" y="1681197"/>
                </a:lnTo>
                <a:lnTo>
                  <a:pt x="883940" y="1680775"/>
                </a:lnTo>
                <a:lnTo>
                  <a:pt x="884685" y="1680194"/>
                </a:lnTo>
                <a:lnTo>
                  <a:pt x="884936" y="1680531"/>
                </a:lnTo>
                <a:lnTo>
                  <a:pt x="885494" y="1680424"/>
                </a:lnTo>
                <a:lnTo>
                  <a:pt x="888324" y="1678681"/>
                </a:lnTo>
                <a:lnTo>
                  <a:pt x="888408" y="1677224"/>
                </a:lnTo>
                <a:lnTo>
                  <a:pt x="889526" y="1676866"/>
                </a:lnTo>
                <a:lnTo>
                  <a:pt x="890719" y="1674846"/>
                </a:lnTo>
                <a:lnTo>
                  <a:pt x="891412" y="1674757"/>
                </a:lnTo>
                <a:lnTo>
                  <a:pt x="891715" y="1674195"/>
                </a:lnTo>
                <a:lnTo>
                  <a:pt x="892214" y="1673976"/>
                </a:lnTo>
                <a:lnTo>
                  <a:pt x="893410" y="1674115"/>
                </a:lnTo>
                <a:lnTo>
                  <a:pt x="894078" y="1673792"/>
                </a:lnTo>
                <a:lnTo>
                  <a:pt x="894635" y="1672695"/>
                </a:lnTo>
                <a:lnTo>
                  <a:pt x="895498" y="1672046"/>
                </a:lnTo>
                <a:lnTo>
                  <a:pt x="895998" y="1672319"/>
                </a:lnTo>
                <a:lnTo>
                  <a:pt x="896100" y="1671913"/>
                </a:lnTo>
                <a:lnTo>
                  <a:pt x="896795" y="1671351"/>
                </a:lnTo>
                <a:lnTo>
                  <a:pt x="897973" y="1670853"/>
                </a:lnTo>
                <a:lnTo>
                  <a:pt x="898311" y="1670957"/>
                </a:lnTo>
                <a:lnTo>
                  <a:pt x="898028" y="1669742"/>
                </a:lnTo>
                <a:lnTo>
                  <a:pt x="900149" y="1667171"/>
                </a:lnTo>
                <a:lnTo>
                  <a:pt x="900222" y="1666909"/>
                </a:lnTo>
                <a:lnTo>
                  <a:pt x="900022" y="1666787"/>
                </a:lnTo>
                <a:lnTo>
                  <a:pt x="900361" y="1666256"/>
                </a:lnTo>
                <a:lnTo>
                  <a:pt x="900334" y="1665201"/>
                </a:lnTo>
                <a:lnTo>
                  <a:pt x="900652" y="1665154"/>
                </a:lnTo>
                <a:lnTo>
                  <a:pt x="900905" y="1665461"/>
                </a:lnTo>
                <a:lnTo>
                  <a:pt x="901777" y="1665383"/>
                </a:lnTo>
                <a:lnTo>
                  <a:pt x="902394" y="1665123"/>
                </a:lnTo>
                <a:lnTo>
                  <a:pt x="902623" y="1664759"/>
                </a:lnTo>
                <a:lnTo>
                  <a:pt x="903545" y="1664592"/>
                </a:lnTo>
                <a:lnTo>
                  <a:pt x="903566" y="1663772"/>
                </a:lnTo>
                <a:lnTo>
                  <a:pt x="904172" y="1662994"/>
                </a:lnTo>
                <a:lnTo>
                  <a:pt x="904575" y="1662843"/>
                </a:lnTo>
                <a:lnTo>
                  <a:pt x="904399" y="1662301"/>
                </a:lnTo>
                <a:lnTo>
                  <a:pt x="905530" y="1661894"/>
                </a:lnTo>
                <a:lnTo>
                  <a:pt x="906010" y="1661601"/>
                </a:lnTo>
                <a:lnTo>
                  <a:pt x="906114" y="1661256"/>
                </a:lnTo>
                <a:lnTo>
                  <a:pt x="906835" y="1661052"/>
                </a:lnTo>
                <a:lnTo>
                  <a:pt x="906905" y="1660275"/>
                </a:lnTo>
                <a:lnTo>
                  <a:pt x="907314" y="1660229"/>
                </a:lnTo>
                <a:lnTo>
                  <a:pt x="907467" y="1659765"/>
                </a:lnTo>
                <a:lnTo>
                  <a:pt x="907848" y="1659773"/>
                </a:lnTo>
                <a:lnTo>
                  <a:pt x="907368" y="1658706"/>
                </a:lnTo>
                <a:lnTo>
                  <a:pt x="907955" y="1657835"/>
                </a:lnTo>
                <a:lnTo>
                  <a:pt x="908691" y="1656973"/>
                </a:lnTo>
                <a:lnTo>
                  <a:pt x="908912" y="1656850"/>
                </a:lnTo>
                <a:lnTo>
                  <a:pt x="908981" y="1657148"/>
                </a:lnTo>
                <a:lnTo>
                  <a:pt x="909405" y="1656923"/>
                </a:lnTo>
                <a:lnTo>
                  <a:pt x="909708" y="1655780"/>
                </a:lnTo>
                <a:lnTo>
                  <a:pt x="910495" y="1655567"/>
                </a:lnTo>
                <a:lnTo>
                  <a:pt x="911330" y="1654778"/>
                </a:lnTo>
                <a:lnTo>
                  <a:pt x="911645" y="1654888"/>
                </a:lnTo>
                <a:lnTo>
                  <a:pt x="911449" y="1654138"/>
                </a:lnTo>
                <a:lnTo>
                  <a:pt x="912265" y="1654044"/>
                </a:lnTo>
                <a:lnTo>
                  <a:pt x="912776" y="1653400"/>
                </a:lnTo>
                <a:lnTo>
                  <a:pt x="912643" y="1653146"/>
                </a:lnTo>
                <a:lnTo>
                  <a:pt x="912841" y="1653427"/>
                </a:lnTo>
                <a:lnTo>
                  <a:pt x="913227" y="1653346"/>
                </a:lnTo>
                <a:lnTo>
                  <a:pt x="914688" y="1651905"/>
                </a:lnTo>
                <a:lnTo>
                  <a:pt x="914781" y="1651536"/>
                </a:lnTo>
                <a:lnTo>
                  <a:pt x="914236" y="1651081"/>
                </a:lnTo>
                <a:lnTo>
                  <a:pt x="914612" y="1651120"/>
                </a:lnTo>
                <a:lnTo>
                  <a:pt x="915325" y="1650220"/>
                </a:lnTo>
                <a:lnTo>
                  <a:pt x="916382" y="1649539"/>
                </a:lnTo>
                <a:lnTo>
                  <a:pt x="916878" y="1648461"/>
                </a:lnTo>
                <a:lnTo>
                  <a:pt x="916817" y="1648275"/>
                </a:lnTo>
                <a:lnTo>
                  <a:pt x="916459" y="1648385"/>
                </a:lnTo>
                <a:lnTo>
                  <a:pt x="916401" y="1648087"/>
                </a:lnTo>
                <a:lnTo>
                  <a:pt x="916713" y="1647972"/>
                </a:lnTo>
                <a:lnTo>
                  <a:pt x="916765" y="1647326"/>
                </a:lnTo>
                <a:lnTo>
                  <a:pt x="917126" y="1646780"/>
                </a:lnTo>
                <a:lnTo>
                  <a:pt x="918389" y="1645586"/>
                </a:lnTo>
                <a:lnTo>
                  <a:pt x="918362" y="1645272"/>
                </a:lnTo>
                <a:lnTo>
                  <a:pt x="919790" y="1645002"/>
                </a:lnTo>
                <a:lnTo>
                  <a:pt x="920010" y="1644711"/>
                </a:lnTo>
                <a:lnTo>
                  <a:pt x="919864" y="1643946"/>
                </a:lnTo>
                <a:lnTo>
                  <a:pt x="920176" y="1644442"/>
                </a:lnTo>
                <a:lnTo>
                  <a:pt x="920989" y="1644305"/>
                </a:lnTo>
                <a:lnTo>
                  <a:pt x="920977" y="1644103"/>
                </a:lnTo>
                <a:lnTo>
                  <a:pt x="921899" y="1643360"/>
                </a:lnTo>
                <a:lnTo>
                  <a:pt x="921897" y="1642992"/>
                </a:lnTo>
                <a:lnTo>
                  <a:pt x="922728" y="1642500"/>
                </a:lnTo>
                <a:lnTo>
                  <a:pt x="924131" y="1642358"/>
                </a:lnTo>
                <a:lnTo>
                  <a:pt x="924488" y="1641491"/>
                </a:lnTo>
                <a:lnTo>
                  <a:pt x="925040" y="1641767"/>
                </a:lnTo>
                <a:lnTo>
                  <a:pt x="925427" y="1641123"/>
                </a:lnTo>
                <a:lnTo>
                  <a:pt x="924936" y="1640187"/>
                </a:lnTo>
                <a:lnTo>
                  <a:pt x="925381" y="1640087"/>
                </a:lnTo>
                <a:lnTo>
                  <a:pt x="926305" y="1639285"/>
                </a:lnTo>
                <a:lnTo>
                  <a:pt x="926215" y="1639015"/>
                </a:lnTo>
                <a:lnTo>
                  <a:pt x="926658" y="1638775"/>
                </a:lnTo>
                <a:lnTo>
                  <a:pt x="926608" y="1638480"/>
                </a:lnTo>
                <a:lnTo>
                  <a:pt x="926894" y="1638922"/>
                </a:lnTo>
                <a:lnTo>
                  <a:pt x="927853" y="1638733"/>
                </a:lnTo>
                <a:lnTo>
                  <a:pt x="928141" y="1638915"/>
                </a:lnTo>
                <a:lnTo>
                  <a:pt x="928182" y="1638372"/>
                </a:lnTo>
                <a:lnTo>
                  <a:pt x="927894" y="1638050"/>
                </a:lnTo>
                <a:lnTo>
                  <a:pt x="928164" y="1637653"/>
                </a:lnTo>
                <a:lnTo>
                  <a:pt x="927927" y="1636706"/>
                </a:lnTo>
                <a:lnTo>
                  <a:pt x="928055" y="1636220"/>
                </a:lnTo>
                <a:lnTo>
                  <a:pt x="928604" y="1636165"/>
                </a:lnTo>
                <a:lnTo>
                  <a:pt x="928733" y="1635645"/>
                </a:lnTo>
                <a:lnTo>
                  <a:pt x="929796" y="1634810"/>
                </a:lnTo>
                <a:lnTo>
                  <a:pt x="930293" y="1633387"/>
                </a:lnTo>
                <a:lnTo>
                  <a:pt x="930913" y="1633212"/>
                </a:lnTo>
                <a:lnTo>
                  <a:pt x="930886" y="1632428"/>
                </a:lnTo>
                <a:lnTo>
                  <a:pt x="932149" y="1631856"/>
                </a:lnTo>
                <a:lnTo>
                  <a:pt x="931674" y="1631835"/>
                </a:lnTo>
                <a:lnTo>
                  <a:pt x="931587" y="1631156"/>
                </a:lnTo>
                <a:lnTo>
                  <a:pt x="932119" y="1631141"/>
                </a:lnTo>
                <a:lnTo>
                  <a:pt x="932177" y="1630796"/>
                </a:lnTo>
                <a:lnTo>
                  <a:pt x="932652" y="1630410"/>
                </a:lnTo>
                <a:lnTo>
                  <a:pt x="933419" y="1630409"/>
                </a:lnTo>
                <a:lnTo>
                  <a:pt x="933242" y="1629872"/>
                </a:lnTo>
                <a:lnTo>
                  <a:pt x="934322" y="1629023"/>
                </a:lnTo>
                <a:lnTo>
                  <a:pt x="934290" y="1628163"/>
                </a:lnTo>
                <a:lnTo>
                  <a:pt x="934643" y="1627985"/>
                </a:lnTo>
                <a:lnTo>
                  <a:pt x="934659" y="1626758"/>
                </a:lnTo>
                <a:lnTo>
                  <a:pt x="934995" y="1626448"/>
                </a:lnTo>
                <a:lnTo>
                  <a:pt x="935401" y="1626434"/>
                </a:lnTo>
                <a:lnTo>
                  <a:pt x="935260" y="1625225"/>
                </a:lnTo>
                <a:lnTo>
                  <a:pt x="936229" y="1624567"/>
                </a:lnTo>
                <a:lnTo>
                  <a:pt x="936804" y="1624462"/>
                </a:lnTo>
                <a:lnTo>
                  <a:pt x="937027" y="1623881"/>
                </a:lnTo>
                <a:lnTo>
                  <a:pt x="937265" y="1624068"/>
                </a:lnTo>
                <a:lnTo>
                  <a:pt x="937764" y="1623873"/>
                </a:lnTo>
                <a:lnTo>
                  <a:pt x="937384" y="1623438"/>
                </a:lnTo>
                <a:lnTo>
                  <a:pt x="937807" y="1622744"/>
                </a:lnTo>
                <a:lnTo>
                  <a:pt x="938763" y="1622417"/>
                </a:lnTo>
                <a:lnTo>
                  <a:pt x="939225" y="1621458"/>
                </a:lnTo>
                <a:lnTo>
                  <a:pt x="939815" y="1621410"/>
                </a:lnTo>
                <a:lnTo>
                  <a:pt x="939958" y="1620437"/>
                </a:lnTo>
                <a:lnTo>
                  <a:pt x="941445" y="1619429"/>
                </a:lnTo>
                <a:lnTo>
                  <a:pt x="942186" y="1618511"/>
                </a:lnTo>
                <a:lnTo>
                  <a:pt x="942001" y="1618187"/>
                </a:lnTo>
                <a:lnTo>
                  <a:pt x="943366" y="1617608"/>
                </a:lnTo>
                <a:lnTo>
                  <a:pt x="944673" y="1617616"/>
                </a:lnTo>
                <a:lnTo>
                  <a:pt x="944741" y="1617363"/>
                </a:lnTo>
                <a:lnTo>
                  <a:pt x="945347" y="1617404"/>
                </a:lnTo>
                <a:lnTo>
                  <a:pt x="945641" y="1617148"/>
                </a:lnTo>
                <a:lnTo>
                  <a:pt x="946430" y="1617218"/>
                </a:lnTo>
                <a:lnTo>
                  <a:pt x="947002" y="1616328"/>
                </a:lnTo>
                <a:lnTo>
                  <a:pt x="946969" y="1615906"/>
                </a:lnTo>
                <a:lnTo>
                  <a:pt x="946603" y="1615806"/>
                </a:lnTo>
                <a:lnTo>
                  <a:pt x="946731" y="1614929"/>
                </a:lnTo>
                <a:lnTo>
                  <a:pt x="948156" y="1614081"/>
                </a:lnTo>
                <a:lnTo>
                  <a:pt x="948360" y="1613058"/>
                </a:lnTo>
                <a:lnTo>
                  <a:pt x="949346" y="1612322"/>
                </a:lnTo>
                <a:lnTo>
                  <a:pt x="949641" y="1611237"/>
                </a:lnTo>
                <a:lnTo>
                  <a:pt x="950736" y="1610626"/>
                </a:lnTo>
                <a:lnTo>
                  <a:pt x="951212" y="1609818"/>
                </a:lnTo>
                <a:lnTo>
                  <a:pt x="950787" y="1609244"/>
                </a:lnTo>
                <a:lnTo>
                  <a:pt x="950890" y="1608988"/>
                </a:lnTo>
                <a:lnTo>
                  <a:pt x="951346" y="1608815"/>
                </a:lnTo>
                <a:lnTo>
                  <a:pt x="951351" y="1608447"/>
                </a:lnTo>
                <a:lnTo>
                  <a:pt x="951630" y="1608225"/>
                </a:lnTo>
                <a:lnTo>
                  <a:pt x="951996" y="1608021"/>
                </a:lnTo>
                <a:lnTo>
                  <a:pt x="952268" y="1608135"/>
                </a:lnTo>
                <a:lnTo>
                  <a:pt x="952251" y="1607914"/>
                </a:lnTo>
                <a:lnTo>
                  <a:pt x="953187" y="1607615"/>
                </a:lnTo>
                <a:lnTo>
                  <a:pt x="953698" y="1606941"/>
                </a:lnTo>
                <a:lnTo>
                  <a:pt x="953522" y="1606497"/>
                </a:lnTo>
                <a:lnTo>
                  <a:pt x="953809" y="1605879"/>
                </a:lnTo>
                <a:lnTo>
                  <a:pt x="953590" y="1605042"/>
                </a:lnTo>
                <a:lnTo>
                  <a:pt x="954003" y="1604682"/>
                </a:lnTo>
                <a:lnTo>
                  <a:pt x="953931" y="1604074"/>
                </a:lnTo>
                <a:lnTo>
                  <a:pt x="954740" y="1603355"/>
                </a:lnTo>
                <a:lnTo>
                  <a:pt x="955402" y="1603292"/>
                </a:lnTo>
                <a:lnTo>
                  <a:pt x="956355" y="1602094"/>
                </a:lnTo>
                <a:lnTo>
                  <a:pt x="956313" y="1601643"/>
                </a:lnTo>
                <a:lnTo>
                  <a:pt x="956848" y="1601565"/>
                </a:lnTo>
                <a:lnTo>
                  <a:pt x="957141" y="1600902"/>
                </a:lnTo>
                <a:lnTo>
                  <a:pt x="957417" y="1600894"/>
                </a:lnTo>
                <a:lnTo>
                  <a:pt x="957981" y="1600316"/>
                </a:lnTo>
                <a:lnTo>
                  <a:pt x="958197" y="1599504"/>
                </a:lnTo>
                <a:lnTo>
                  <a:pt x="958903" y="1598891"/>
                </a:lnTo>
                <a:lnTo>
                  <a:pt x="959190" y="1598994"/>
                </a:lnTo>
                <a:lnTo>
                  <a:pt x="959812" y="1598377"/>
                </a:lnTo>
                <a:lnTo>
                  <a:pt x="959592" y="1598082"/>
                </a:lnTo>
                <a:lnTo>
                  <a:pt x="960326" y="1597929"/>
                </a:lnTo>
                <a:lnTo>
                  <a:pt x="960704" y="1597303"/>
                </a:lnTo>
                <a:lnTo>
                  <a:pt x="961521" y="1596747"/>
                </a:lnTo>
                <a:lnTo>
                  <a:pt x="961581" y="1596339"/>
                </a:lnTo>
                <a:lnTo>
                  <a:pt x="962318" y="1596010"/>
                </a:lnTo>
                <a:lnTo>
                  <a:pt x="962408" y="1595568"/>
                </a:lnTo>
                <a:lnTo>
                  <a:pt x="963923" y="1595038"/>
                </a:lnTo>
                <a:lnTo>
                  <a:pt x="964716" y="1595258"/>
                </a:lnTo>
                <a:lnTo>
                  <a:pt x="965336" y="1594797"/>
                </a:lnTo>
                <a:lnTo>
                  <a:pt x="966094" y="1594790"/>
                </a:lnTo>
                <a:lnTo>
                  <a:pt x="966294" y="1594596"/>
                </a:lnTo>
                <a:lnTo>
                  <a:pt x="966512" y="1593918"/>
                </a:lnTo>
                <a:lnTo>
                  <a:pt x="965975" y="1593016"/>
                </a:lnTo>
                <a:lnTo>
                  <a:pt x="966295" y="1592619"/>
                </a:lnTo>
                <a:lnTo>
                  <a:pt x="966662" y="1592794"/>
                </a:lnTo>
                <a:lnTo>
                  <a:pt x="967389" y="1592044"/>
                </a:lnTo>
                <a:lnTo>
                  <a:pt x="967661" y="1591355"/>
                </a:lnTo>
                <a:lnTo>
                  <a:pt x="967891" y="1590020"/>
                </a:lnTo>
                <a:lnTo>
                  <a:pt x="967861" y="1587184"/>
                </a:lnTo>
                <a:lnTo>
                  <a:pt x="968635" y="1586997"/>
                </a:lnTo>
                <a:lnTo>
                  <a:pt x="970188" y="1585592"/>
                </a:lnTo>
                <a:lnTo>
                  <a:pt x="971700" y="1585426"/>
                </a:lnTo>
                <a:lnTo>
                  <a:pt x="972468" y="1584412"/>
                </a:lnTo>
                <a:lnTo>
                  <a:pt x="973319" y="1583821"/>
                </a:lnTo>
                <a:lnTo>
                  <a:pt x="974546" y="1583387"/>
                </a:lnTo>
                <a:lnTo>
                  <a:pt x="974507" y="1582666"/>
                </a:lnTo>
                <a:lnTo>
                  <a:pt x="975110" y="1582178"/>
                </a:lnTo>
                <a:lnTo>
                  <a:pt x="974649" y="1581868"/>
                </a:lnTo>
                <a:lnTo>
                  <a:pt x="974820" y="1581582"/>
                </a:lnTo>
                <a:lnTo>
                  <a:pt x="974713" y="1580925"/>
                </a:lnTo>
                <a:lnTo>
                  <a:pt x="975875" y="1580140"/>
                </a:lnTo>
                <a:lnTo>
                  <a:pt x="976047" y="1578938"/>
                </a:lnTo>
                <a:lnTo>
                  <a:pt x="976379" y="1578656"/>
                </a:lnTo>
                <a:lnTo>
                  <a:pt x="976611" y="1578730"/>
                </a:lnTo>
                <a:lnTo>
                  <a:pt x="976767" y="1577881"/>
                </a:lnTo>
                <a:lnTo>
                  <a:pt x="977283" y="1577198"/>
                </a:lnTo>
                <a:lnTo>
                  <a:pt x="977835" y="1577236"/>
                </a:lnTo>
                <a:lnTo>
                  <a:pt x="977932" y="1576899"/>
                </a:lnTo>
                <a:lnTo>
                  <a:pt x="977538" y="1576504"/>
                </a:lnTo>
                <a:lnTo>
                  <a:pt x="978916" y="1575687"/>
                </a:lnTo>
                <a:lnTo>
                  <a:pt x="979728" y="1575429"/>
                </a:lnTo>
                <a:lnTo>
                  <a:pt x="980311" y="1575529"/>
                </a:lnTo>
                <a:lnTo>
                  <a:pt x="980916" y="1574861"/>
                </a:lnTo>
                <a:lnTo>
                  <a:pt x="982866" y="1574159"/>
                </a:lnTo>
                <a:lnTo>
                  <a:pt x="984805" y="1574453"/>
                </a:lnTo>
                <a:lnTo>
                  <a:pt x="985445" y="1574028"/>
                </a:lnTo>
                <a:lnTo>
                  <a:pt x="987727" y="1573402"/>
                </a:lnTo>
                <a:lnTo>
                  <a:pt x="987553" y="1573030"/>
                </a:lnTo>
                <a:lnTo>
                  <a:pt x="988144" y="1572536"/>
                </a:lnTo>
                <a:lnTo>
                  <a:pt x="988979" y="1572461"/>
                </a:lnTo>
                <a:lnTo>
                  <a:pt x="988978" y="1572059"/>
                </a:lnTo>
                <a:lnTo>
                  <a:pt x="989616" y="1571029"/>
                </a:lnTo>
                <a:lnTo>
                  <a:pt x="990749" y="1571071"/>
                </a:lnTo>
                <a:lnTo>
                  <a:pt x="991665" y="1569887"/>
                </a:lnTo>
                <a:lnTo>
                  <a:pt x="992204" y="1569847"/>
                </a:lnTo>
                <a:lnTo>
                  <a:pt x="992629" y="1570242"/>
                </a:lnTo>
                <a:lnTo>
                  <a:pt x="993123" y="1569797"/>
                </a:lnTo>
                <a:lnTo>
                  <a:pt x="993841" y="1569792"/>
                </a:lnTo>
                <a:lnTo>
                  <a:pt x="994792" y="1568997"/>
                </a:lnTo>
                <a:lnTo>
                  <a:pt x="995154" y="1569064"/>
                </a:lnTo>
                <a:lnTo>
                  <a:pt x="995616" y="1568344"/>
                </a:lnTo>
                <a:lnTo>
                  <a:pt x="996121" y="1568297"/>
                </a:lnTo>
                <a:lnTo>
                  <a:pt x="996429" y="1567863"/>
                </a:lnTo>
                <a:lnTo>
                  <a:pt x="995760" y="1567280"/>
                </a:lnTo>
                <a:lnTo>
                  <a:pt x="995858" y="1566690"/>
                </a:lnTo>
                <a:lnTo>
                  <a:pt x="996822" y="1565921"/>
                </a:lnTo>
                <a:lnTo>
                  <a:pt x="1000730" y="1563704"/>
                </a:lnTo>
                <a:lnTo>
                  <a:pt x="1002058" y="1563458"/>
                </a:lnTo>
                <a:lnTo>
                  <a:pt x="1002447" y="1562960"/>
                </a:lnTo>
                <a:lnTo>
                  <a:pt x="1002779" y="1562975"/>
                </a:lnTo>
                <a:lnTo>
                  <a:pt x="1003626" y="1562353"/>
                </a:lnTo>
                <a:lnTo>
                  <a:pt x="1003820" y="1561831"/>
                </a:lnTo>
                <a:lnTo>
                  <a:pt x="1004485" y="1561682"/>
                </a:lnTo>
                <a:lnTo>
                  <a:pt x="1004346" y="1561255"/>
                </a:lnTo>
                <a:lnTo>
                  <a:pt x="1006973" y="1560004"/>
                </a:lnTo>
                <a:lnTo>
                  <a:pt x="1007128" y="1559739"/>
                </a:lnTo>
                <a:lnTo>
                  <a:pt x="1006910" y="1559481"/>
                </a:lnTo>
                <a:lnTo>
                  <a:pt x="1007548" y="1558719"/>
                </a:lnTo>
                <a:lnTo>
                  <a:pt x="1007678" y="1558039"/>
                </a:lnTo>
                <a:lnTo>
                  <a:pt x="1008155" y="1557737"/>
                </a:lnTo>
                <a:lnTo>
                  <a:pt x="1008163" y="1557221"/>
                </a:lnTo>
                <a:lnTo>
                  <a:pt x="1008638" y="1556581"/>
                </a:lnTo>
                <a:lnTo>
                  <a:pt x="1011025" y="1555423"/>
                </a:lnTo>
                <a:lnTo>
                  <a:pt x="1012363" y="1554166"/>
                </a:lnTo>
                <a:lnTo>
                  <a:pt x="1012808" y="1554772"/>
                </a:lnTo>
                <a:lnTo>
                  <a:pt x="1013500" y="1554353"/>
                </a:lnTo>
                <a:lnTo>
                  <a:pt x="1014756" y="1552784"/>
                </a:lnTo>
                <a:lnTo>
                  <a:pt x="1015534" y="1552273"/>
                </a:lnTo>
                <a:lnTo>
                  <a:pt x="1015880" y="1550872"/>
                </a:lnTo>
                <a:lnTo>
                  <a:pt x="1016453" y="1551022"/>
                </a:lnTo>
                <a:lnTo>
                  <a:pt x="1017172" y="1550745"/>
                </a:lnTo>
                <a:lnTo>
                  <a:pt x="1019529" y="1547776"/>
                </a:lnTo>
                <a:lnTo>
                  <a:pt x="1020220" y="1546248"/>
                </a:lnTo>
                <a:lnTo>
                  <a:pt x="1020635" y="1545855"/>
                </a:lnTo>
                <a:lnTo>
                  <a:pt x="1021150" y="1545813"/>
                </a:lnTo>
                <a:lnTo>
                  <a:pt x="1021308" y="1545218"/>
                </a:lnTo>
                <a:lnTo>
                  <a:pt x="1021050" y="1543754"/>
                </a:lnTo>
                <a:lnTo>
                  <a:pt x="1021590" y="1543579"/>
                </a:lnTo>
                <a:lnTo>
                  <a:pt x="1022315" y="1543787"/>
                </a:lnTo>
                <a:lnTo>
                  <a:pt x="1023037" y="1543150"/>
                </a:lnTo>
                <a:lnTo>
                  <a:pt x="1022928" y="1542542"/>
                </a:lnTo>
                <a:lnTo>
                  <a:pt x="1023193" y="1541234"/>
                </a:lnTo>
                <a:lnTo>
                  <a:pt x="1023700" y="1540750"/>
                </a:lnTo>
                <a:lnTo>
                  <a:pt x="1023939" y="1541162"/>
                </a:lnTo>
                <a:lnTo>
                  <a:pt x="1026742" y="1538889"/>
                </a:lnTo>
                <a:lnTo>
                  <a:pt x="1027562" y="1538984"/>
                </a:lnTo>
                <a:lnTo>
                  <a:pt x="1027784" y="1538722"/>
                </a:lnTo>
                <a:lnTo>
                  <a:pt x="1027462" y="1538432"/>
                </a:lnTo>
                <a:lnTo>
                  <a:pt x="1028237" y="1538404"/>
                </a:lnTo>
                <a:lnTo>
                  <a:pt x="1028337" y="1537741"/>
                </a:lnTo>
                <a:lnTo>
                  <a:pt x="1029193" y="1538303"/>
                </a:lnTo>
                <a:lnTo>
                  <a:pt x="1030212" y="1537565"/>
                </a:lnTo>
                <a:lnTo>
                  <a:pt x="1030525" y="1537759"/>
                </a:lnTo>
                <a:lnTo>
                  <a:pt x="1033183" y="1537480"/>
                </a:lnTo>
                <a:lnTo>
                  <a:pt x="1034087" y="1537824"/>
                </a:lnTo>
                <a:lnTo>
                  <a:pt x="1035883" y="1537647"/>
                </a:lnTo>
                <a:lnTo>
                  <a:pt x="1037448" y="1537819"/>
                </a:lnTo>
                <a:lnTo>
                  <a:pt x="1039209" y="1536408"/>
                </a:lnTo>
                <a:lnTo>
                  <a:pt x="1040255" y="1535803"/>
                </a:lnTo>
                <a:lnTo>
                  <a:pt x="1041097" y="1535625"/>
                </a:lnTo>
                <a:lnTo>
                  <a:pt x="1041610" y="1534797"/>
                </a:lnTo>
                <a:lnTo>
                  <a:pt x="1042348" y="1534578"/>
                </a:lnTo>
                <a:lnTo>
                  <a:pt x="1043210" y="1533260"/>
                </a:lnTo>
                <a:lnTo>
                  <a:pt x="1043392" y="1532113"/>
                </a:lnTo>
                <a:lnTo>
                  <a:pt x="1047795" y="1530023"/>
                </a:lnTo>
                <a:lnTo>
                  <a:pt x="1048144" y="1529335"/>
                </a:lnTo>
                <a:lnTo>
                  <a:pt x="1047773" y="1528627"/>
                </a:lnTo>
                <a:lnTo>
                  <a:pt x="1047895" y="1528042"/>
                </a:lnTo>
                <a:lnTo>
                  <a:pt x="1048930" y="1527920"/>
                </a:lnTo>
                <a:lnTo>
                  <a:pt x="1049932" y="1527031"/>
                </a:lnTo>
                <a:lnTo>
                  <a:pt x="1050272" y="1526389"/>
                </a:lnTo>
                <a:lnTo>
                  <a:pt x="1052756" y="1525121"/>
                </a:lnTo>
                <a:lnTo>
                  <a:pt x="1053283" y="1523875"/>
                </a:lnTo>
                <a:lnTo>
                  <a:pt x="1055626" y="1522337"/>
                </a:lnTo>
                <a:lnTo>
                  <a:pt x="1055948" y="1521524"/>
                </a:lnTo>
                <a:lnTo>
                  <a:pt x="1056634" y="1520775"/>
                </a:lnTo>
                <a:lnTo>
                  <a:pt x="1056659" y="1519779"/>
                </a:lnTo>
                <a:lnTo>
                  <a:pt x="1057249" y="1519561"/>
                </a:lnTo>
                <a:lnTo>
                  <a:pt x="1057298" y="1519186"/>
                </a:lnTo>
                <a:lnTo>
                  <a:pt x="1056998" y="1519026"/>
                </a:lnTo>
                <a:lnTo>
                  <a:pt x="1056839" y="1518384"/>
                </a:lnTo>
                <a:lnTo>
                  <a:pt x="1057636" y="1518066"/>
                </a:lnTo>
                <a:lnTo>
                  <a:pt x="1057900" y="1518276"/>
                </a:lnTo>
                <a:lnTo>
                  <a:pt x="1058254" y="1518200"/>
                </a:lnTo>
                <a:lnTo>
                  <a:pt x="1059247" y="1517712"/>
                </a:lnTo>
                <a:lnTo>
                  <a:pt x="1059645" y="1517221"/>
                </a:lnTo>
                <a:lnTo>
                  <a:pt x="1061203" y="1516560"/>
                </a:lnTo>
                <a:lnTo>
                  <a:pt x="1063641" y="1514170"/>
                </a:lnTo>
                <a:lnTo>
                  <a:pt x="1063894" y="1513443"/>
                </a:lnTo>
                <a:lnTo>
                  <a:pt x="1063507" y="1513114"/>
                </a:lnTo>
                <a:lnTo>
                  <a:pt x="1064505" y="1512621"/>
                </a:lnTo>
                <a:lnTo>
                  <a:pt x="1067508" y="1509950"/>
                </a:lnTo>
                <a:lnTo>
                  <a:pt x="1067770" y="1509224"/>
                </a:lnTo>
                <a:lnTo>
                  <a:pt x="1068619" y="1508468"/>
                </a:lnTo>
                <a:lnTo>
                  <a:pt x="1068710" y="1507512"/>
                </a:lnTo>
                <a:lnTo>
                  <a:pt x="1069152" y="1506671"/>
                </a:lnTo>
                <a:lnTo>
                  <a:pt x="1070306" y="1506450"/>
                </a:lnTo>
                <a:lnTo>
                  <a:pt x="1072188" y="1505219"/>
                </a:lnTo>
                <a:lnTo>
                  <a:pt x="1072155" y="1503722"/>
                </a:lnTo>
                <a:lnTo>
                  <a:pt x="1072473" y="1502519"/>
                </a:lnTo>
                <a:lnTo>
                  <a:pt x="1074632" y="1501016"/>
                </a:lnTo>
                <a:lnTo>
                  <a:pt x="1076402" y="1498191"/>
                </a:lnTo>
                <a:lnTo>
                  <a:pt x="1077212" y="1497982"/>
                </a:lnTo>
                <a:lnTo>
                  <a:pt x="1077190" y="1497524"/>
                </a:lnTo>
                <a:lnTo>
                  <a:pt x="1076575" y="1497218"/>
                </a:lnTo>
                <a:lnTo>
                  <a:pt x="1078886" y="1496580"/>
                </a:lnTo>
                <a:lnTo>
                  <a:pt x="1079748" y="1495765"/>
                </a:lnTo>
                <a:lnTo>
                  <a:pt x="1080864" y="1493907"/>
                </a:lnTo>
                <a:lnTo>
                  <a:pt x="1080892" y="1493536"/>
                </a:lnTo>
                <a:lnTo>
                  <a:pt x="1080428" y="1493238"/>
                </a:lnTo>
                <a:lnTo>
                  <a:pt x="1085091" y="1489602"/>
                </a:lnTo>
                <a:lnTo>
                  <a:pt x="1085646" y="1487649"/>
                </a:lnTo>
                <a:lnTo>
                  <a:pt x="1086088" y="1487319"/>
                </a:lnTo>
                <a:lnTo>
                  <a:pt x="1086314" y="1486607"/>
                </a:lnTo>
                <a:lnTo>
                  <a:pt x="1087677" y="1485911"/>
                </a:lnTo>
                <a:lnTo>
                  <a:pt x="1088011" y="1485290"/>
                </a:lnTo>
                <a:lnTo>
                  <a:pt x="1088050" y="1484158"/>
                </a:lnTo>
                <a:lnTo>
                  <a:pt x="1089131" y="1483444"/>
                </a:lnTo>
                <a:lnTo>
                  <a:pt x="1091017" y="1480268"/>
                </a:lnTo>
                <a:lnTo>
                  <a:pt x="1091025" y="1480495"/>
                </a:lnTo>
                <a:lnTo>
                  <a:pt x="1091394" y="1480421"/>
                </a:lnTo>
                <a:lnTo>
                  <a:pt x="1092404" y="1479561"/>
                </a:lnTo>
                <a:lnTo>
                  <a:pt x="1093300" y="1479287"/>
                </a:lnTo>
                <a:lnTo>
                  <a:pt x="1093845" y="1478541"/>
                </a:lnTo>
                <a:lnTo>
                  <a:pt x="1095716" y="1477000"/>
                </a:lnTo>
                <a:lnTo>
                  <a:pt x="1096466" y="1475357"/>
                </a:lnTo>
                <a:lnTo>
                  <a:pt x="1096189" y="1474218"/>
                </a:lnTo>
                <a:lnTo>
                  <a:pt x="1097411" y="1473117"/>
                </a:lnTo>
                <a:lnTo>
                  <a:pt x="1097616" y="1472523"/>
                </a:lnTo>
                <a:lnTo>
                  <a:pt x="1098140" y="1472121"/>
                </a:lnTo>
                <a:lnTo>
                  <a:pt x="1098582" y="1472125"/>
                </a:lnTo>
                <a:lnTo>
                  <a:pt x="1099026" y="1470873"/>
                </a:lnTo>
                <a:lnTo>
                  <a:pt x="1100191" y="1470355"/>
                </a:lnTo>
                <a:lnTo>
                  <a:pt x="1100334" y="1469872"/>
                </a:lnTo>
                <a:lnTo>
                  <a:pt x="1100742" y="1469634"/>
                </a:lnTo>
                <a:lnTo>
                  <a:pt x="1100699" y="1469012"/>
                </a:lnTo>
                <a:lnTo>
                  <a:pt x="1102095" y="1467846"/>
                </a:lnTo>
                <a:lnTo>
                  <a:pt x="1102324" y="1466622"/>
                </a:lnTo>
                <a:lnTo>
                  <a:pt x="1103185" y="1466069"/>
                </a:lnTo>
                <a:lnTo>
                  <a:pt x="1103619" y="1465311"/>
                </a:lnTo>
                <a:lnTo>
                  <a:pt x="1103638" y="1464661"/>
                </a:lnTo>
                <a:lnTo>
                  <a:pt x="1104583" y="1463159"/>
                </a:lnTo>
                <a:lnTo>
                  <a:pt x="1106747" y="1461395"/>
                </a:lnTo>
                <a:lnTo>
                  <a:pt x="1107430" y="1459914"/>
                </a:lnTo>
                <a:lnTo>
                  <a:pt x="1107264" y="1459113"/>
                </a:lnTo>
                <a:lnTo>
                  <a:pt x="1107817" y="1458428"/>
                </a:lnTo>
                <a:lnTo>
                  <a:pt x="1107794" y="1457881"/>
                </a:lnTo>
                <a:lnTo>
                  <a:pt x="1108287" y="1457176"/>
                </a:lnTo>
                <a:lnTo>
                  <a:pt x="1109541" y="1456092"/>
                </a:lnTo>
                <a:lnTo>
                  <a:pt x="1109738" y="1455504"/>
                </a:lnTo>
                <a:lnTo>
                  <a:pt x="1111428" y="1454331"/>
                </a:lnTo>
                <a:lnTo>
                  <a:pt x="1111565" y="1453894"/>
                </a:lnTo>
                <a:lnTo>
                  <a:pt x="1112284" y="1453271"/>
                </a:lnTo>
                <a:lnTo>
                  <a:pt x="1112190" y="1452935"/>
                </a:lnTo>
                <a:lnTo>
                  <a:pt x="1112472" y="1452513"/>
                </a:lnTo>
                <a:lnTo>
                  <a:pt x="1112776" y="1452490"/>
                </a:lnTo>
                <a:lnTo>
                  <a:pt x="1112790" y="1452200"/>
                </a:lnTo>
                <a:lnTo>
                  <a:pt x="1113338" y="1452003"/>
                </a:lnTo>
                <a:lnTo>
                  <a:pt x="1113675" y="1451385"/>
                </a:lnTo>
                <a:lnTo>
                  <a:pt x="1114162" y="1451110"/>
                </a:lnTo>
                <a:lnTo>
                  <a:pt x="1114120" y="1450559"/>
                </a:lnTo>
                <a:lnTo>
                  <a:pt x="1114589" y="1450038"/>
                </a:lnTo>
                <a:lnTo>
                  <a:pt x="1114546" y="1449673"/>
                </a:lnTo>
                <a:lnTo>
                  <a:pt x="1115617" y="1448772"/>
                </a:lnTo>
                <a:lnTo>
                  <a:pt x="1115930" y="1448305"/>
                </a:lnTo>
                <a:lnTo>
                  <a:pt x="1115899" y="1447905"/>
                </a:lnTo>
                <a:lnTo>
                  <a:pt x="1117178" y="1447088"/>
                </a:lnTo>
                <a:lnTo>
                  <a:pt x="1117372" y="1446634"/>
                </a:lnTo>
                <a:lnTo>
                  <a:pt x="1117714" y="1446579"/>
                </a:lnTo>
                <a:lnTo>
                  <a:pt x="1118049" y="1445919"/>
                </a:lnTo>
                <a:lnTo>
                  <a:pt x="1118035" y="1445189"/>
                </a:lnTo>
                <a:lnTo>
                  <a:pt x="1118989" y="1444360"/>
                </a:lnTo>
                <a:lnTo>
                  <a:pt x="1120117" y="1443873"/>
                </a:lnTo>
                <a:lnTo>
                  <a:pt x="1121255" y="1442357"/>
                </a:lnTo>
                <a:lnTo>
                  <a:pt x="1121653" y="1441449"/>
                </a:lnTo>
                <a:lnTo>
                  <a:pt x="1121509" y="1441054"/>
                </a:lnTo>
                <a:lnTo>
                  <a:pt x="1122894" y="1439901"/>
                </a:lnTo>
                <a:lnTo>
                  <a:pt x="1123266" y="1438770"/>
                </a:lnTo>
                <a:lnTo>
                  <a:pt x="1123061" y="1438577"/>
                </a:lnTo>
                <a:lnTo>
                  <a:pt x="1123173" y="1438203"/>
                </a:lnTo>
                <a:lnTo>
                  <a:pt x="1124021" y="1437573"/>
                </a:lnTo>
                <a:lnTo>
                  <a:pt x="1124032" y="1437054"/>
                </a:lnTo>
                <a:lnTo>
                  <a:pt x="1124382" y="1436761"/>
                </a:lnTo>
                <a:lnTo>
                  <a:pt x="1124294" y="1436097"/>
                </a:lnTo>
                <a:lnTo>
                  <a:pt x="1125688" y="1434410"/>
                </a:lnTo>
                <a:lnTo>
                  <a:pt x="1126024" y="1433213"/>
                </a:lnTo>
                <a:lnTo>
                  <a:pt x="1127194" y="1432101"/>
                </a:lnTo>
                <a:lnTo>
                  <a:pt x="1127868" y="1430899"/>
                </a:lnTo>
                <a:lnTo>
                  <a:pt x="1129044" y="1429890"/>
                </a:lnTo>
                <a:lnTo>
                  <a:pt x="1129656" y="1428802"/>
                </a:lnTo>
                <a:lnTo>
                  <a:pt x="1129671" y="1428220"/>
                </a:lnTo>
                <a:lnTo>
                  <a:pt x="1131453" y="1426130"/>
                </a:lnTo>
                <a:lnTo>
                  <a:pt x="1131281" y="1425636"/>
                </a:lnTo>
                <a:lnTo>
                  <a:pt x="1132033" y="1424387"/>
                </a:lnTo>
                <a:lnTo>
                  <a:pt x="1134619" y="1421769"/>
                </a:lnTo>
                <a:lnTo>
                  <a:pt x="1134620" y="1421164"/>
                </a:lnTo>
                <a:lnTo>
                  <a:pt x="1135047" y="1420512"/>
                </a:lnTo>
                <a:lnTo>
                  <a:pt x="1136333" y="1419413"/>
                </a:lnTo>
                <a:lnTo>
                  <a:pt x="1137421" y="1417360"/>
                </a:lnTo>
                <a:lnTo>
                  <a:pt x="1139133" y="1415612"/>
                </a:lnTo>
                <a:lnTo>
                  <a:pt x="1139306" y="1414753"/>
                </a:lnTo>
                <a:lnTo>
                  <a:pt x="1139791" y="1413749"/>
                </a:lnTo>
                <a:lnTo>
                  <a:pt x="1140368" y="1413202"/>
                </a:lnTo>
                <a:lnTo>
                  <a:pt x="1140553" y="1412436"/>
                </a:lnTo>
                <a:lnTo>
                  <a:pt x="1142627" y="1410134"/>
                </a:lnTo>
                <a:lnTo>
                  <a:pt x="1142950" y="1410032"/>
                </a:lnTo>
                <a:lnTo>
                  <a:pt x="1143334" y="1409407"/>
                </a:lnTo>
                <a:lnTo>
                  <a:pt x="1143217" y="1409094"/>
                </a:lnTo>
                <a:lnTo>
                  <a:pt x="1143698" y="1408466"/>
                </a:lnTo>
                <a:lnTo>
                  <a:pt x="1144814" y="1407685"/>
                </a:lnTo>
                <a:lnTo>
                  <a:pt x="1144474" y="1407138"/>
                </a:lnTo>
                <a:lnTo>
                  <a:pt x="1144946" y="1405614"/>
                </a:lnTo>
                <a:lnTo>
                  <a:pt x="1147264" y="1402634"/>
                </a:lnTo>
                <a:lnTo>
                  <a:pt x="1148222" y="1401891"/>
                </a:lnTo>
                <a:lnTo>
                  <a:pt x="1150591" y="1396811"/>
                </a:lnTo>
                <a:lnTo>
                  <a:pt x="1151615" y="1396013"/>
                </a:lnTo>
                <a:lnTo>
                  <a:pt x="1152051" y="1394969"/>
                </a:lnTo>
                <a:lnTo>
                  <a:pt x="1153909" y="1393602"/>
                </a:lnTo>
                <a:lnTo>
                  <a:pt x="1154318" y="1392771"/>
                </a:lnTo>
                <a:lnTo>
                  <a:pt x="1154176" y="1392281"/>
                </a:lnTo>
                <a:lnTo>
                  <a:pt x="1154729" y="1391118"/>
                </a:lnTo>
                <a:lnTo>
                  <a:pt x="1156791" y="1389275"/>
                </a:lnTo>
                <a:lnTo>
                  <a:pt x="1156865" y="1388450"/>
                </a:lnTo>
                <a:lnTo>
                  <a:pt x="1158062" y="1386823"/>
                </a:lnTo>
                <a:lnTo>
                  <a:pt x="1158362" y="1385172"/>
                </a:lnTo>
                <a:lnTo>
                  <a:pt x="1159651" y="1383148"/>
                </a:lnTo>
                <a:lnTo>
                  <a:pt x="1161302" y="1381439"/>
                </a:lnTo>
                <a:lnTo>
                  <a:pt x="1161453" y="1380079"/>
                </a:lnTo>
                <a:lnTo>
                  <a:pt x="1162417" y="1378739"/>
                </a:lnTo>
                <a:lnTo>
                  <a:pt x="1162553" y="1378122"/>
                </a:lnTo>
                <a:lnTo>
                  <a:pt x="1163602" y="1377114"/>
                </a:lnTo>
                <a:lnTo>
                  <a:pt x="1164003" y="1376237"/>
                </a:lnTo>
                <a:lnTo>
                  <a:pt x="1164471" y="1375947"/>
                </a:lnTo>
                <a:lnTo>
                  <a:pt x="1164241" y="1375108"/>
                </a:lnTo>
                <a:lnTo>
                  <a:pt x="1164530" y="1374356"/>
                </a:lnTo>
                <a:lnTo>
                  <a:pt x="1165569" y="1373211"/>
                </a:lnTo>
                <a:lnTo>
                  <a:pt x="1166369" y="1371446"/>
                </a:lnTo>
                <a:lnTo>
                  <a:pt x="1167523" y="1370460"/>
                </a:lnTo>
                <a:lnTo>
                  <a:pt x="1167951" y="1369209"/>
                </a:lnTo>
                <a:lnTo>
                  <a:pt x="1168730" y="1368419"/>
                </a:lnTo>
                <a:lnTo>
                  <a:pt x="1168990" y="1367257"/>
                </a:lnTo>
                <a:lnTo>
                  <a:pt x="1169869" y="1366117"/>
                </a:lnTo>
                <a:lnTo>
                  <a:pt x="1171340" y="1364836"/>
                </a:lnTo>
                <a:lnTo>
                  <a:pt x="1171463" y="1364122"/>
                </a:lnTo>
                <a:lnTo>
                  <a:pt x="1172093" y="1363236"/>
                </a:lnTo>
                <a:lnTo>
                  <a:pt x="1174054" y="1361344"/>
                </a:lnTo>
                <a:lnTo>
                  <a:pt x="1174018" y="1360344"/>
                </a:lnTo>
                <a:lnTo>
                  <a:pt x="1174983" y="1358681"/>
                </a:lnTo>
                <a:lnTo>
                  <a:pt x="1175940" y="1355875"/>
                </a:lnTo>
                <a:lnTo>
                  <a:pt x="1176692" y="1354639"/>
                </a:lnTo>
                <a:lnTo>
                  <a:pt x="1177917" y="1353284"/>
                </a:lnTo>
                <a:lnTo>
                  <a:pt x="1178171" y="1351955"/>
                </a:lnTo>
                <a:lnTo>
                  <a:pt x="1177956" y="1351511"/>
                </a:lnTo>
                <a:lnTo>
                  <a:pt x="1178271" y="1350771"/>
                </a:lnTo>
                <a:lnTo>
                  <a:pt x="1179701" y="1348781"/>
                </a:lnTo>
                <a:lnTo>
                  <a:pt x="1181375" y="1347112"/>
                </a:lnTo>
                <a:lnTo>
                  <a:pt x="1181379" y="1346280"/>
                </a:lnTo>
                <a:lnTo>
                  <a:pt x="1182344" y="1344957"/>
                </a:lnTo>
                <a:lnTo>
                  <a:pt x="1182711" y="1343878"/>
                </a:lnTo>
                <a:lnTo>
                  <a:pt x="1183989" y="1342431"/>
                </a:lnTo>
                <a:lnTo>
                  <a:pt x="1184005" y="1341591"/>
                </a:lnTo>
                <a:lnTo>
                  <a:pt x="1184792" y="1339925"/>
                </a:lnTo>
                <a:lnTo>
                  <a:pt x="1184863" y="1339273"/>
                </a:lnTo>
                <a:lnTo>
                  <a:pt x="1186039" y="1337410"/>
                </a:lnTo>
                <a:lnTo>
                  <a:pt x="1187421" y="1334330"/>
                </a:lnTo>
                <a:lnTo>
                  <a:pt x="1190104" y="1329899"/>
                </a:lnTo>
                <a:lnTo>
                  <a:pt x="1191642" y="1328060"/>
                </a:lnTo>
                <a:lnTo>
                  <a:pt x="1193705" y="1323259"/>
                </a:lnTo>
                <a:lnTo>
                  <a:pt x="1194358" y="1322300"/>
                </a:lnTo>
                <a:lnTo>
                  <a:pt x="1194346" y="1321767"/>
                </a:lnTo>
                <a:lnTo>
                  <a:pt x="1197740" y="1316131"/>
                </a:lnTo>
                <a:lnTo>
                  <a:pt x="1199863" y="1313466"/>
                </a:lnTo>
                <a:lnTo>
                  <a:pt x="1203884" y="1309805"/>
                </a:lnTo>
                <a:lnTo>
                  <a:pt x="1206540" y="1307793"/>
                </a:lnTo>
                <a:lnTo>
                  <a:pt x="1208141" y="1305836"/>
                </a:lnTo>
                <a:lnTo>
                  <a:pt x="1210373" y="1304175"/>
                </a:lnTo>
                <a:lnTo>
                  <a:pt x="1213824" y="1299923"/>
                </a:lnTo>
                <a:lnTo>
                  <a:pt x="1217225" y="1296435"/>
                </a:lnTo>
                <a:lnTo>
                  <a:pt x="1218453" y="1294666"/>
                </a:lnTo>
                <a:lnTo>
                  <a:pt x="1220651" y="1292508"/>
                </a:lnTo>
                <a:lnTo>
                  <a:pt x="1224328" y="1287875"/>
                </a:lnTo>
                <a:lnTo>
                  <a:pt x="1224612" y="1287306"/>
                </a:lnTo>
                <a:lnTo>
                  <a:pt x="1224535" y="1286112"/>
                </a:lnTo>
                <a:lnTo>
                  <a:pt x="1225075" y="1285582"/>
                </a:lnTo>
                <a:lnTo>
                  <a:pt x="1224358" y="1285703"/>
                </a:lnTo>
                <a:lnTo>
                  <a:pt x="1223814" y="1286296"/>
                </a:lnTo>
                <a:lnTo>
                  <a:pt x="1222589" y="1285453"/>
                </a:lnTo>
                <a:lnTo>
                  <a:pt x="1221582" y="1282565"/>
                </a:lnTo>
                <a:lnTo>
                  <a:pt x="1221438" y="1280274"/>
                </a:lnTo>
                <a:lnTo>
                  <a:pt x="1221793" y="1278292"/>
                </a:lnTo>
                <a:lnTo>
                  <a:pt x="1222729" y="1275358"/>
                </a:lnTo>
                <a:lnTo>
                  <a:pt x="1225301" y="1269970"/>
                </a:lnTo>
                <a:lnTo>
                  <a:pt x="1229823" y="1263098"/>
                </a:lnTo>
                <a:lnTo>
                  <a:pt x="1231005" y="1260442"/>
                </a:lnTo>
                <a:lnTo>
                  <a:pt x="1233668" y="1255975"/>
                </a:lnTo>
                <a:lnTo>
                  <a:pt x="1234419" y="1254219"/>
                </a:lnTo>
                <a:lnTo>
                  <a:pt x="1235281" y="1253163"/>
                </a:lnTo>
                <a:lnTo>
                  <a:pt x="1236619" y="1250251"/>
                </a:lnTo>
                <a:lnTo>
                  <a:pt x="1240936" y="1244603"/>
                </a:lnTo>
                <a:lnTo>
                  <a:pt x="1242965" y="1241143"/>
                </a:lnTo>
                <a:lnTo>
                  <a:pt x="1244843" y="1238839"/>
                </a:lnTo>
                <a:lnTo>
                  <a:pt x="1245126" y="1238035"/>
                </a:lnTo>
                <a:lnTo>
                  <a:pt x="1248133" y="1235060"/>
                </a:lnTo>
                <a:lnTo>
                  <a:pt x="1249772" y="1233832"/>
                </a:lnTo>
                <a:lnTo>
                  <a:pt x="1250872" y="1232512"/>
                </a:lnTo>
                <a:lnTo>
                  <a:pt x="1250833" y="1232066"/>
                </a:lnTo>
                <a:lnTo>
                  <a:pt x="1251639" y="1230555"/>
                </a:lnTo>
                <a:lnTo>
                  <a:pt x="1251609" y="1230139"/>
                </a:lnTo>
                <a:lnTo>
                  <a:pt x="1252872" y="1227881"/>
                </a:lnTo>
                <a:lnTo>
                  <a:pt x="1255258" y="1225045"/>
                </a:lnTo>
                <a:lnTo>
                  <a:pt x="1256216" y="1224419"/>
                </a:lnTo>
                <a:lnTo>
                  <a:pt x="1257329" y="1223210"/>
                </a:lnTo>
                <a:lnTo>
                  <a:pt x="1259495" y="1220300"/>
                </a:lnTo>
                <a:lnTo>
                  <a:pt x="1260495" y="1219519"/>
                </a:lnTo>
                <a:lnTo>
                  <a:pt x="1260914" y="1218464"/>
                </a:lnTo>
                <a:lnTo>
                  <a:pt x="1261760" y="1217717"/>
                </a:lnTo>
                <a:lnTo>
                  <a:pt x="1261656" y="1217458"/>
                </a:lnTo>
                <a:lnTo>
                  <a:pt x="1262007" y="1216879"/>
                </a:lnTo>
                <a:lnTo>
                  <a:pt x="1264518" y="1214190"/>
                </a:lnTo>
                <a:lnTo>
                  <a:pt x="1265608" y="1212320"/>
                </a:lnTo>
                <a:lnTo>
                  <a:pt x="1268063" y="1210279"/>
                </a:lnTo>
                <a:lnTo>
                  <a:pt x="1268338" y="1209764"/>
                </a:lnTo>
                <a:lnTo>
                  <a:pt x="1268268" y="1209216"/>
                </a:lnTo>
                <a:lnTo>
                  <a:pt x="1269028" y="1208029"/>
                </a:lnTo>
                <a:lnTo>
                  <a:pt x="1270340" y="1206947"/>
                </a:lnTo>
                <a:lnTo>
                  <a:pt x="1271739" y="1205333"/>
                </a:lnTo>
                <a:lnTo>
                  <a:pt x="1276882" y="1201066"/>
                </a:lnTo>
                <a:lnTo>
                  <a:pt x="1277464" y="1199920"/>
                </a:lnTo>
                <a:lnTo>
                  <a:pt x="1279608" y="1197605"/>
                </a:lnTo>
                <a:lnTo>
                  <a:pt x="1281591" y="1196308"/>
                </a:lnTo>
                <a:lnTo>
                  <a:pt x="1282655" y="1194815"/>
                </a:lnTo>
                <a:lnTo>
                  <a:pt x="1283928" y="1193929"/>
                </a:lnTo>
                <a:lnTo>
                  <a:pt x="1284817" y="1192529"/>
                </a:lnTo>
                <a:lnTo>
                  <a:pt x="1284827" y="1191797"/>
                </a:lnTo>
                <a:lnTo>
                  <a:pt x="1286229" y="1190087"/>
                </a:lnTo>
                <a:lnTo>
                  <a:pt x="1289049" y="1187668"/>
                </a:lnTo>
                <a:lnTo>
                  <a:pt x="1290740" y="1186829"/>
                </a:lnTo>
                <a:lnTo>
                  <a:pt x="1290865" y="1186256"/>
                </a:lnTo>
                <a:lnTo>
                  <a:pt x="1291865" y="1184825"/>
                </a:lnTo>
                <a:lnTo>
                  <a:pt x="1293517" y="1184093"/>
                </a:lnTo>
                <a:lnTo>
                  <a:pt x="1294202" y="1183228"/>
                </a:lnTo>
                <a:lnTo>
                  <a:pt x="1296968" y="1181039"/>
                </a:lnTo>
                <a:lnTo>
                  <a:pt x="1299551" y="1178450"/>
                </a:lnTo>
                <a:lnTo>
                  <a:pt x="1302257" y="1176419"/>
                </a:lnTo>
                <a:lnTo>
                  <a:pt x="1304345" y="1174434"/>
                </a:lnTo>
                <a:lnTo>
                  <a:pt x="1309298" y="1168840"/>
                </a:lnTo>
                <a:lnTo>
                  <a:pt x="1314614" y="1162103"/>
                </a:lnTo>
                <a:lnTo>
                  <a:pt x="1317795" y="1159456"/>
                </a:lnTo>
                <a:lnTo>
                  <a:pt x="1320707" y="1156231"/>
                </a:lnTo>
                <a:lnTo>
                  <a:pt x="1325924" y="1151529"/>
                </a:lnTo>
                <a:lnTo>
                  <a:pt x="1328963" y="1147703"/>
                </a:lnTo>
                <a:lnTo>
                  <a:pt x="1333203" y="1143303"/>
                </a:lnTo>
                <a:lnTo>
                  <a:pt x="1336427" y="1141554"/>
                </a:lnTo>
                <a:lnTo>
                  <a:pt x="1339414" y="1140397"/>
                </a:lnTo>
                <a:lnTo>
                  <a:pt x="1341741" y="1139847"/>
                </a:lnTo>
                <a:lnTo>
                  <a:pt x="1342454" y="1139420"/>
                </a:lnTo>
                <a:lnTo>
                  <a:pt x="1345663" y="1139254"/>
                </a:lnTo>
                <a:lnTo>
                  <a:pt x="1351898" y="1137075"/>
                </a:lnTo>
                <a:lnTo>
                  <a:pt x="1356924" y="1135928"/>
                </a:lnTo>
                <a:lnTo>
                  <a:pt x="1359456" y="1134741"/>
                </a:lnTo>
                <a:lnTo>
                  <a:pt x="1360261" y="1134139"/>
                </a:lnTo>
                <a:lnTo>
                  <a:pt x="1363137" y="1133480"/>
                </a:lnTo>
                <a:lnTo>
                  <a:pt x="1369673" y="1130839"/>
                </a:lnTo>
                <a:lnTo>
                  <a:pt x="1370963" y="1130054"/>
                </a:lnTo>
                <a:lnTo>
                  <a:pt x="1373296" y="1128134"/>
                </a:lnTo>
                <a:lnTo>
                  <a:pt x="1373474" y="1128280"/>
                </a:lnTo>
                <a:lnTo>
                  <a:pt x="1379141" y="1123025"/>
                </a:lnTo>
                <a:lnTo>
                  <a:pt x="1382550" y="1120422"/>
                </a:lnTo>
                <a:lnTo>
                  <a:pt x="1384308" y="1118077"/>
                </a:lnTo>
                <a:lnTo>
                  <a:pt x="1388160" y="1115272"/>
                </a:lnTo>
                <a:lnTo>
                  <a:pt x="1393101" y="1110100"/>
                </a:lnTo>
                <a:lnTo>
                  <a:pt x="1398788" y="1105617"/>
                </a:lnTo>
                <a:lnTo>
                  <a:pt x="1403709" y="1100277"/>
                </a:lnTo>
                <a:lnTo>
                  <a:pt x="1407404" y="1097381"/>
                </a:lnTo>
                <a:lnTo>
                  <a:pt x="1411012" y="1095334"/>
                </a:lnTo>
                <a:lnTo>
                  <a:pt x="1413456" y="1093461"/>
                </a:lnTo>
                <a:lnTo>
                  <a:pt x="1414646" y="1092480"/>
                </a:lnTo>
                <a:lnTo>
                  <a:pt x="1415488" y="1091076"/>
                </a:lnTo>
                <a:lnTo>
                  <a:pt x="1416987" y="1089354"/>
                </a:lnTo>
                <a:lnTo>
                  <a:pt x="1421152" y="1086543"/>
                </a:lnTo>
                <a:lnTo>
                  <a:pt x="1424170" y="1083883"/>
                </a:lnTo>
                <a:lnTo>
                  <a:pt x="1427565" y="1079837"/>
                </a:lnTo>
                <a:lnTo>
                  <a:pt x="1430546" y="1075436"/>
                </a:lnTo>
                <a:lnTo>
                  <a:pt x="1430881" y="1074192"/>
                </a:lnTo>
                <a:lnTo>
                  <a:pt x="1432603" y="1070563"/>
                </a:lnTo>
                <a:lnTo>
                  <a:pt x="1433277" y="1067498"/>
                </a:lnTo>
                <a:lnTo>
                  <a:pt x="1441299" y="1069482"/>
                </a:lnTo>
                <a:lnTo>
                  <a:pt x="1442398" y="1064452"/>
                </a:lnTo>
                <a:lnTo>
                  <a:pt x="1443673" y="1060508"/>
                </a:lnTo>
                <a:lnTo>
                  <a:pt x="1443787" y="1059275"/>
                </a:lnTo>
                <a:lnTo>
                  <a:pt x="1443424" y="1056493"/>
                </a:lnTo>
                <a:lnTo>
                  <a:pt x="1444099" y="1053584"/>
                </a:lnTo>
                <a:lnTo>
                  <a:pt x="1446033" y="1050073"/>
                </a:lnTo>
                <a:lnTo>
                  <a:pt x="1451974" y="1041053"/>
                </a:lnTo>
                <a:lnTo>
                  <a:pt x="1459581" y="1027936"/>
                </a:lnTo>
                <a:lnTo>
                  <a:pt x="1463032" y="1021279"/>
                </a:lnTo>
                <a:lnTo>
                  <a:pt x="1465817" y="1014113"/>
                </a:lnTo>
                <a:lnTo>
                  <a:pt x="1466063" y="1009212"/>
                </a:lnTo>
                <a:lnTo>
                  <a:pt x="1466532" y="1006021"/>
                </a:lnTo>
                <a:lnTo>
                  <a:pt x="1469796" y="993487"/>
                </a:lnTo>
                <a:lnTo>
                  <a:pt x="1471203" y="988904"/>
                </a:lnTo>
                <a:lnTo>
                  <a:pt x="1473062" y="981112"/>
                </a:lnTo>
                <a:lnTo>
                  <a:pt x="1473362" y="979197"/>
                </a:lnTo>
                <a:lnTo>
                  <a:pt x="1473006" y="978410"/>
                </a:lnTo>
                <a:lnTo>
                  <a:pt x="1472845" y="974808"/>
                </a:lnTo>
                <a:lnTo>
                  <a:pt x="1475006" y="963379"/>
                </a:lnTo>
                <a:lnTo>
                  <a:pt x="1476640" y="956668"/>
                </a:lnTo>
                <a:lnTo>
                  <a:pt x="1479436" y="947864"/>
                </a:lnTo>
                <a:lnTo>
                  <a:pt x="1482101" y="941662"/>
                </a:lnTo>
                <a:lnTo>
                  <a:pt x="1482682" y="939323"/>
                </a:lnTo>
                <a:lnTo>
                  <a:pt x="1483547" y="937267"/>
                </a:lnTo>
                <a:lnTo>
                  <a:pt x="1483572" y="936359"/>
                </a:lnTo>
                <a:lnTo>
                  <a:pt x="1485044" y="931708"/>
                </a:lnTo>
                <a:lnTo>
                  <a:pt x="1486114" y="926353"/>
                </a:lnTo>
                <a:lnTo>
                  <a:pt x="1488094" y="921940"/>
                </a:lnTo>
                <a:lnTo>
                  <a:pt x="1489564" y="917769"/>
                </a:lnTo>
                <a:lnTo>
                  <a:pt x="1489818" y="916190"/>
                </a:lnTo>
                <a:lnTo>
                  <a:pt x="1489253" y="915650"/>
                </a:lnTo>
                <a:lnTo>
                  <a:pt x="1488997" y="914298"/>
                </a:lnTo>
                <a:lnTo>
                  <a:pt x="1489649" y="911100"/>
                </a:lnTo>
                <a:lnTo>
                  <a:pt x="1493038" y="904156"/>
                </a:lnTo>
                <a:lnTo>
                  <a:pt x="1495222" y="901051"/>
                </a:lnTo>
                <a:lnTo>
                  <a:pt x="1496452" y="897265"/>
                </a:lnTo>
                <a:lnTo>
                  <a:pt x="1498338" y="893822"/>
                </a:lnTo>
                <a:lnTo>
                  <a:pt x="1498365" y="893204"/>
                </a:lnTo>
                <a:lnTo>
                  <a:pt x="1499761" y="889332"/>
                </a:lnTo>
                <a:lnTo>
                  <a:pt x="1501728" y="885849"/>
                </a:lnTo>
                <a:lnTo>
                  <a:pt x="1501751" y="884601"/>
                </a:lnTo>
                <a:lnTo>
                  <a:pt x="1502092" y="883506"/>
                </a:lnTo>
                <a:lnTo>
                  <a:pt x="1504227" y="879759"/>
                </a:lnTo>
                <a:lnTo>
                  <a:pt x="1505283" y="877330"/>
                </a:lnTo>
                <a:lnTo>
                  <a:pt x="1505666" y="876355"/>
                </a:lnTo>
                <a:lnTo>
                  <a:pt x="1505501" y="875512"/>
                </a:lnTo>
                <a:lnTo>
                  <a:pt x="1505944" y="873985"/>
                </a:lnTo>
                <a:lnTo>
                  <a:pt x="1509078" y="868603"/>
                </a:lnTo>
                <a:lnTo>
                  <a:pt x="1509314" y="867976"/>
                </a:lnTo>
                <a:lnTo>
                  <a:pt x="1509168" y="867177"/>
                </a:lnTo>
                <a:lnTo>
                  <a:pt x="1509348" y="866429"/>
                </a:lnTo>
                <a:lnTo>
                  <a:pt x="1511754" y="861813"/>
                </a:lnTo>
                <a:lnTo>
                  <a:pt x="1511333" y="861130"/>
                </a:lnTo>
                <a:lnTo>
                  <a:pt x="1511740" y="859095"/>
                </a:lnTo>
                <a:lnTo>
                  <a:pt x="1515184" y="853649"/>
                </a:lnTo>
                <a:lnTo>
                  <a:pt x="1515647" y="853378"/>
                </a:lnTo>
                <a:lnTo>
                  <a:pt x="1515187" y="852899"/>
                </a:lnTo>
                <a:lnTo>
                  <a:pt x="1515419" y="852162"/>
                </a:lnTo>
                <a:lnTo>
                  <a:pt x="1516896" y="849455"/>
                </a:lnTo>
                <a:lnTo>
                  <a:pt x="1517756" y="848364"/>
                </a:lnTo>
                <a:lnTo>
                  <a:pt x="1517520" y="847019"/>
                </a:lnTo>
                <a:lnTo>
                  <a:pt x="1519116" y="843359"/>
                </a:lnTo>
                <a:lnTo>
                  <a:pt x="1519482" y="840336"/>
                </a:lnTo>
                <a:lnTo>
                  <a:pt x="1521080" y="836979"/>
                </a:lnTo>
                <a:lnTo>
                  <a:pt x="1521596" y="834591"/>
                </a:lnTo>
                <a:lnTo>
                  <a:pt x="1522591" y="832418"/>
                </a:lnTo>
                <a:lnTo>
                  <a:pt x="1522173" y="831755"/>
                </a:lnTo>
                <a:lnTo>
                  <a:pt x="1522210" y="830856"/>
                </a:lnTo>
                <a:lnTo>
                  <a:pt x="1523512" y="827560"/>
                </a:lnTo>
                <a:lnTo>
                  <a:pt x="1524377" y="824581"/>
                </a:lnTo>
                <a:lnTo>
                  <a:pt x="1524109" y="821607"/>
                </a:lnTo>
                <a:lnTo>
                  <a:pt x="1525180" y="818013"/>
                </a:lnTo>
                <a:lnTo>
                  <a:pt x="1526052" y="811637"/>
                </a:lnTo>
                <a:lnTo>
                  <a:pt x="1527527" y="807798"/>
                </a:lnTo>
                <a:lnTo>
                  <a:pt x="1519765" y="804949"/>
                </a:lnTo>
                <a:lnTo>
                  <a:pt x="1519705" y="805111"/>
                </a:lnTo>
                <a:lnTo>
                  <a:pt x="1519694" y="804945"/>
                </a:lnTo>
                <a:lnTo>
                  <a:pt x="1519245" y="804933"/>
                </a:lnTo>
                <a:lnTo>
                  <a:pt x="1514690" y="805627"/>
                </a:lnTo>
                <a:lnTo>
                  <a:pt x="1507244" y="805237"/>
                </a:lnTo>
                <a:lnTo>
                  <a:pt x="1502193" y="804615"/>
                </a:lnTo>
                <a:lnTo>
                  <a:pt x="1495255" y="804988"/>
                </a:lnTo>
                <a:lnTo>
                  <a:pt x="1488934" y="804656"/>
                </a:lnTo>
                <a:lnTo>
                  <a:pt x="1471685" y="802957"/>
                </a:lnTo>
                <a:lnTo>
                  <a:pt x="1439407" y="800886"/>
                </a:lnTo>
                <a:lnTo>
                  <a:pt x="1439381" y="799409"/>
                </a:lnTo>
                <a:lnTo>
                  <a:pt x="1438660" y="799435"/>
                </a:lnTo>
                <a:lnTo>
                  <a:pt x="1438251" y="800143"/>
                </a:lnTo>
                <a:lnTo>
                  <a:pt x="1437077" y="800722"/>
                </a:lnTo>
                <a:lnTo>
                  <a:pt x="1436316" y="799400"/>
                </a:lnTo>
                <a:lnTo>
                  <a:pt x="1435644" y="798771"/>
                </a:lnTo>
                <a:lnTo>
                  <a:pt x="1435046" y="798764"/>
                </a:lnTo>
                <a:lnTo>
                  <a:pt x="1433782" y="799289"/>
                </a:lnTo>
                <a:lnTo>
                  <a:pt x="1431971" y="798565"/>
                </a:lnTo>
                <a:lnTo>
                  <a:pt x="1430818" y="798528"/>
                </a:lnTo>
                <a:lnTo>
                  <a:pt x="1429758" y="797773"/>
                </a:lnTo>
                <a:lnTo>
                  <a:pt x="1428985" y="797866"/>
                </a:lnTo>
                <a:lnTo>
                  <a:pt x="1427281" y="797385"/>
                </a:lnTo>
                <a:lnTo>
                  <a:pt x="1426291" y="797524"/>
                </a:lnTo>
                <a:lnTo>
                  <a:pt x="1425821" y="796642"/>
                </a:lnTo>
                <a:lnTo>
                  <a:pt x="1425168" y="796124"/>
                </a:lnTo>
                <a:lnTo>
                  <a:pt x="1423428" y="795763"/>
                </a:lnTo>
                <a:lnTo>
                  <a:pt x="1420953" y="794601"/>
                </a:lnTo>
                <a:lnTo>
                  <a:pt x="1420257" y="794854"/>
                </a:lnTo>
                <a:lnTo>
                  <a:pt x="1419120" y="795741"/>
                </a:lnTo>
                <a:lnTo>
                  <a:pt x="1418499" y="798093"/>
                </a:lnTo>
                <a:lnTo>
                  <a:pt x="1417464" y="798330"/>
                </a:lnTo>
                <a:lnTo>
                  <a:pt x="1415737" y="799281"/>
                </a:lnTo>
                <a:lnTo>
                  <a:pt x="1415105" y="799269"/>
                </a:lnTo>
                <a:lnTo>
                  <a:pt x="1412549" y="798505"/>
                </a:lnTo>
                <a:lnTo>
                  <a:pt x="1411144" y="797834"/>
                </a:lnTo>
                <a:lnTo>
                  <a:pt x="1409608" y="796536"/>
                </a:lnTo>
                <a:lnTo>
                  <a:pt x="1409187" y="795224"/>
                </a:lnTo>
                <a:lnTo>
                  <a:pt x="1406710" y="794961"/>
                </a:lnTo>
                <a:lnTo>
                  <a:pt x="1406215" y="794715"/>
                </a:lnTo>
                <a:lnTo>
                  <a:pt x="1404633" y="791676"/>
                </a:lnTo>
                <a:lnTo>
                  <a:pt x="1404274" y="789713"/>
                </a:lnTo>
                <a:lnTo>
                  <a:pt x="1403565" y="788978"/>
                </a:lnTo>
                <a:lnTo>
                  <a:pt x="1402509" y="788866"/>
                </a:lnTo>
                <a:lnTo>
                  <a:pt x="1399303" y="789488"/>
                </a:lnTo>
                <a:lnTo>
                  <a:pt x="1398386" y="789777"/>
                </a:lnTo>
                <a:lnTo>
                  <a:pt x="1397561" y="790621"/>
                </a:lnTo>
                <a:lnTo>
                  <a:pt x="1396630" y="790767"/>
                </a:lnTo>
                <a:lnTo>
                  <a:pt x="1395351" y="790452"/>
                </a:lnTo>
                <a:lnTo>
                  <a:pt x="1394432" y="789622"/>
                </a:lnTo>
                <a:lnTo>
                  <a:pt x="1393866" y="788731"/>
                </a:lnTo>
                <a:lnTo>
                  <a:pt x="1392832" y="788471"/>
                </a:lnTo>
                <a:lnTo>
                  <a:pt x="1391366" y="788652"/>
                </a:lnTo>
                <a:lnTo>
                  <a:pt x="1390398" y="789054"/>
                </a:lnTo>
                <a:lnTo>
                  <a:pt x="1390986" y="790687"/>
                </a:lnTo>
                <a:lnTo>
                  <a:pt x="1387083" y="807716"/>
                </a:lnTo>
                <a:lnTo>
                  <a:pt x="1387619" y="810049"/>
                </a:lnTo>
                <a:lnTo>
                  <a:pt x="1384670" y="820329"/>
                </a:lnTo>
                <a:lnTo>
                  <a:pt x="1384958" y="821177"/>
                </a:lnTo>
                <a:lnTo>
                  <a:pt x="1384390" y="826506"/>
                </a:lnTo>
                <a:lnTo>
                  <a:pt x="1383124" y="835103"/>
                </a:lnTo>
                <a:lnTo>
                  <a:pt x="1382143" y="839248"/>
                </a:lnTo>
                <a:lnTo>
                  <a:pt x="1382414" y="840166"/>
                </a:lnTo>
                <a:lnTo>
                  <a:pt x="1382378" y="841605"/>
                </a:lnTo>
                <a:lnTo>
                  <a:pt x="1381780" y="844523"/>
                </a:lnTo>
                <a:lnTo>
                  <a:pt x="1381530" y="856827"/>
                </a:lnTo>
                <a:lnTo>
                  <a:pt x="1380510" y="871322"/>
                </a:lnTo>
                <a:lnTo>
                  <a:pt x="1380742" y="872453"/>
                </a:lnTo>
                <a:lnTo>
                  <a:pt x="1309613" y="868069"/>
                </a:lnTo>
                <a:lnTo>
                  <a:pt x="1277965" y="854478"/>
                </a:lnTo>
                <a:lnTo>
                  <a:pt x="1260089" y="846757"/>
                </a:lnTo>
                <a:lnTo>
                  <a:pt x="1247809" y="828637"/>
                </a:lnTo>
                <a:lnTo>
                  <a:pt x="1242207" y="823641"/>
                </a:lnTo>
                <a:lnTo>
                  <a:pt x="1236998" y="818287"/>
                </a:lnTo>
                <a:lnTo>
                  <a:pt x="1233455" y="810695"/>
                </a:lnTo>
                <a:lnTo>
                  <a:pt x="1235944" y="806251"/>
                </a:lnTo>
                <a:lnTo>
                  <a:pt x="1236446" y="804444"/>
                </a:lnTo>
                <a:lnTo>
                  <a:pt x="1236743" y="799197"/>
                </a:lnTo>
                <a:lnTo>
                  <a:pt x="1236367" y="796962"/>
                </a:lnTo>
                <a:lnTo>
                  <a:pt x="1234908" y="795891"/>
                </a:lnTo>
                <a:lnTo>
                  <a:pt x="1233548" y="794347"/>
                </a:lnTo>
                <a:lnTo>
                  <a:pt x="1232015" y="793440"/>
                </a:lnTo>
                <a:lnTo>
                  <a:pt x="1231714" y="792713"/>
                </a:lnTo>
                <a:lnTo>
                  <a:pt x="1231197" y="792560"/>
                </a:lnTo>
                <a:lnTo>
                  <a:pt x="1229516" y="790607"/>
                </a:lnTo>
                <a:lnTo>
                  <a:pt x="1226981" y="788516"/>
                </a:lnTo>
                <a:lnTo>
                  <a:pt x="1226951" y="787690"/>
                </a:lnTo>
                <a:lnTo>
                  <a:pt x="1226281" y="787138"/>
                </a:lnTo>
                <a:lnTo>
                  <a:pt x="1225273" y="779402"/>
                </a:lnTo>
                <a:lnTo>
                  <a:pt x="1225274" y="776054"/>
                </a:lnTo>
                <a:lnTo>
                  <a:pt x="1224868" y="776679"/>
                </a:lnTo>
                <a:lnTo>
                  <a:pt x="1224850" y="777633"/>
                </a:lnTo>
                <a:lnTo>
                  <a:pt x="1224543" y="778354"/>
                </a:lnTo>
                <a:lnTo>
                  <a:pt x="1224681" y="778829"/>
                </a:lnTo>
                <a:lnTo>
                  <a:pt x="1224446" y="779076"/>
                </a:lnTo>
                <a:lnTo>
                  <a:pt x="1222148" y="779906"/>
                </a:lnTo>
                <a:lnTo>
                  <a:pt x="1220552" y="781381"/>
                </a:lnTo>
                <a:lnTo>
                  <a:pt x="1219298" y="781153"/>
                </a:lnTo>
                <a:lnTo>
                  <a:pt x="1218530" y="781332"/>
                </a:lnTo>
                <a:lnTo>
                  <a:pt x="1217886" y="782311"/>
                </a:lnTo>
                <a:lnTo>
                  <a:pt x="1216703" y="782555"/>
                </a:lnTo>
                <a:lnTo>
                  <a:pt x="1215007" y="784663"/>
                </a:lnTo>
                <a:lnTo>
                  <a:pt x="1213187" y="785291"/>
                </a:lnTo>
                <a:lnTo>
                  <a:pt x="1213096" y="785125"/>
                </a:lnTo>
                <a:lnTo>
                  <a:pt x="1211783" y="781841"/>
                </a:lnTo>
                <a:lnTo>
                  <a:pt x="1210887" y="763326"/>
                </a:lnTo>
                <a:lnTo>
                  <a:pt x="1212127" y="739714"/>
                </a:lnTo>
                <a:lnTo>
                  <a:pt x="1214870" y="722911"/>
                </a:lnTo>
                <a:lnTo>
                  <a:pt x="1219140" y="713942"/>
                </a:lnTo>
                <a:lnTo>
                  <a:pt x="1223286" y="709616"/>
                </a:lnTo>
                <a:lnTo>
                  <a:pt x="1228859" y="699476"/>
                </a:lnTo>
                <a:lnTo>
                  <a:pt x="1239643" y="690236"/>
                </a:lnTo>
                <a:lnTo>
                  <a:pt x="1257450" y="658978"/>
                </a:lnTo>
                <a:lnTo>
                  <a:pt x="1260536" y="652334"/>
                </a:lnTo>
                <a:lnTo>
                  <a:pt x="1264324" y="645313"/>
                </a:lnTo>
                <a:lnTo>
                  <a:pt x="1266867" y="635287"/>
                </a:lnTo>
                <a:lnTo>
                  <a:pt x="1288166" y="617937"/>
                </a:lnTo>
                <a:lnTo>
                  <a:pt x="1296511" y="607359"/>
                </a:lnTo>
                <a:lnTo>
                  <a:pt x="1311675" y="604138"/>
                </a:lnTo>
                <a:lnTo>
                  <a:pt x="1376511" y="654131"/>
                </a:lnTo>
                <a:lnTo>
                  <a:pt x="1392666" y="647377"/>
                </a:lnTo>
                <a:lnTo>
                  <a:pt x="1387255" y="628468"/>
                </a:lnTo>
                <a:lnTo>
                  <a:pt x="1395725" y="604619"/>
                </a:lnTo>
                <a:lnTo>
                  <a:pt x="1398469" y="601968"/>
                </a:lnTo>
                <a:lnTo>
                  <a:pt x="1400267" y="596862"/>
                </a:lnTo>
                <a:lnTo>
                  <a:pt x="1400372" y="593691"/>
                </a:lnTo>
                <a:lnTo>
                  <a:pt x="1399791" y="577162"/>
                </a:lnTo>
                <a:lnTo>
                  <a:pt x="1397658" y="576635"/>
                </a:lnTo>
                <a:lnTo>
                  <a:pt x="1397193" y="574289"/>
                </a:lnTo>
                <a:lnTo>
                  <a:pt x="1397509" y="568500"/>
                </a:lnTo>
                <a:lnTo>
                  <a:pt x="1397998" y="565612"/>
                </a:lnTo>
                <a:lnTo>
                  <a:pt x="1399643" y="562512"/>
                </a:lnTo>
                <a:lnTo>
                  <a:pt x="1399877" y="561073"/>
                </a:lnTo>
                <a:lnTo>
                  <a:pt x="1403676" y="554533"/>
                </a:lnTo>
                <a:lnTo>
                  <a:pt x="1403992" y="553623"/>
                </a:lnTo>
                <a:lnTo>
                  <a:pt x="1407277" y="530480"/>
                </a:lnTo>
                <a:lnTo>
                  <a:pt x="1408271" y="520889"/>
                </a:lnTo>
                <a:lnTo>
                  <a:pt x="1408962" y="512564"/>
                </a:lnTo>
                <a:lnTo>
                  <a:pt x="1409044" y="501516"/>
                </a:lnTo>
                <a:lnTo>
                  <a:pt x="1408087" y="478214"/>
                </a:lnTo>
                <a:lnTo>
                  <a:pt x="1407571" y="439262"/>
                </a:lnTo>
                <a:lnTo>
                  <a:pt x="1410174" y="420464"/>
                </a:lnTo>
                <a:lnTo>
                  <a:pt x="1411858" y="400627"/>
                </a:lnTo>
                <a:lnTo>
                  <a:pt x="1409266" y="375286"/>
                </a:lnTo>
                <a:lnTo>
                  <a:pt x="1408426" y="374434"/>
                </a:lnTo>
                <a:lnTo>
                  <a:pt x="1398354" y="354871"/>
                </a:lnTo>
                <a:lnTo>
                  <a:pt x="1396380" y="322061"/>
                </a:lnTo>
                <a:lnTo>
                  <a:pt x="1396080" y="319289"/>
                </a:lnTo>
                <a:lnTo>
                  <a:pt x="1396158" y="317166"/>
                </a:lnTo>
                <a:close/>
              </a:path>
            </a:pathLst>
          </a:custGeom>
          <a:noFill/>
          <a:ln w="15875">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Selected eastern and inland market outline interior"/>
          <p:cNvSpPr/>
          <p:nvPr/>
        </p:nvSpPr>
        <p:spPr>
          <a:xfrm>
            <a:off x="2842841" y="3921142"/>
            <a:ext cx="354144" cy="345181"/>
          </a:xfrm>
          <a:custGeom>
            <a:avLst/>
            <a:gdLst/>
            <a:ahLst/>
            <a:cxnLst/>
            <a:rect l="l" t="t" r="r" b="b"/>
            <a:pathLst>
              <a:path w="354144" h="345181">
                <a:moveTo>
                  <a:pt x="51385" y="284033"/>
                </a:moveTo>
                <a:lnTo>
                  <a:pt x="51798" y="284723"/>
                </a:lnTo>
                <a:lnTo>
                  <a:pt x="52384" y="284433"/>
                </a:lnTo>
                <a:lnTo>
                  <a:pt x="52526" y="283891"/>
                </a:lnTo>
                <a:lnTo>
                  <a:pt x="51623" y="282538"/>
                </a:lnTo>
                <a:lnTo>
                  <a:pt x="51971" y="282109"/>
                </a:lnTo>
                <a:lnTo>
                  <a:pt x="52924" y="282504"/>
                </a:lnTo>
                <a:lnTo>
                  <a:pt x="53045" y="282044"/>
                </a:lnTo>
                <a:lnTo>
                  <a:pt x="52797" y="281365"/>
                </a:lnTo>
                <a:lnTo>
                  <a:pt x="51382" y="281450"/>
                </a:lnTo>
                <a:lnTo>
                  <a:pt x="50884" y="280760"/>
                </a:lnTo>
                <a:lnTo>
                  <a:pt x="52228" y="279667"/>
                </a:lnTo>
                <a:lnTo>
                  <a:pt x="51647" y="279005"/>
                </a:lnTo>
                <a:lnTo>
                  <a:pt x="52275" y="278370"/>
                </a:lnTo>
                <a:lnTo>
                  <a:pt x="52287" y="278029"/>
                </a:lnTo>
                <a:lnTo>
                  <a:pt x="52016" y="277741"/>
                </a:lnTo>
                <a:lnTo>
                  <a:pt x="51345" y="277816"/>
                </a:lnTo>
                <a:lnTo>
                  <a:pt x="50960" y="276474"/>
                </a:lnTo>
                <a:lnTo>
                  <a:pt x="50587" y="276772"/>
                </a:lnTo>
                <a:lnTo>
                  <a:pt x="50470" y="277371"/>
                </a:lnTo>
                <a:lnTo>
                  <a:pt x="50077" y="277518"/>
                </a:lnTo>
                <a:lnTo>
                  <a:pt x="49430" y="277239"/>
                </a:lnTo>
                <a:lnTo>
                  <a:pt x="49112" y="276376"/>
                </a:lnTo>
                <a:lnTo>
                  <a:pt x="49584" y="275806"/>
                </a:lnTo>
                <a:lnTo>
                  <a:pt x="49689" y="275284"/>
                </a:lnTo>
                <a:lnTo>
                  <a:pt x="48994" y="273948"/>
                </a:lnTo>
                <a:lnTo>
                  <a:pt x="49718" y="272218"/>
                </a:lnTo>
                <a:lnTo>
                  <a:pt x="49185" y="270335"/>
                </a:lnTo>
                <a:lnTo>
                  <a:pt x="49727" y="268714"/>
                </a:lnTo>
                <a:lnTo>
                  <a:pt x="49088" y="267147"/>
                </a:lnTo>
                <a:lnTo>
                  <a:pt x="49438" y="266380"/>
                </a:lnTo>
                <a:lnTo>
                  <a:pt x="50319" y="265377"/>
                </a:lnTo>
                <a:lnTo>
                  <a:pt x="50571" y="263962"/>
                </a:lnTo>
                <a:lnTo>
                  <a:pt x="50001" y="263845"/>
                </a:lnTo>
                <a:lnTo>
                  <a:pt x="49576" y="262898"/>
                </a:lnTo>
                <a:lnTo>
                  <a:pt x="49965" y="262531"/>
                </a:lnTo>
                <a:lnTo>
                  <a:pt x="51518" y="263364"/>
                </a:lnTo>
                <a:lnTo>
                  <a:pt x="52146" y="263132"/>
                </a:lnTo>
                <a:lnTo>
                  <a:pt x="52183" y="261379"/>
                </a:lnTo>
                <a:lnTo>
                  <a:pt x="51461" y="261061"/>
                </a:lnTo>
                <a:lnTo>
                  <a:pt x="51454" y="260509"/>
                </a:lnTo>
                <a:lnTo>
                  <a:pt x="52667" y="260624"/>
                </a:lnTo>
                <a:lnTo>
                  <a:pt x="52983" y="260307"/>
                </a:lnTo>
                <a:lnTo>
                  <a:pt x="53119" y="258809"/>
                </a:lnTo>
                <a:lnTo>
                  <a:pt x="54471" y="258293"/>
                </a:lnTo>
                <a:lnTo>
                  <a:pt x="54448" y="257425"/>
                </a:lnTo>
                <a:lnTo>
                  <a:pt x="55562" y="256968"/>
                </a:lnTo>
                <a:lnTo>
                  <a:pt x="55713" y="256406"/>
                </a:lnTo>
                <a:lnTo>
                  <a:pt x="54916" y="256012"/>
                </a:lnTo>
                <a:lnTo>
                  <a:pt x="55343" y="255148"/>
                </a:lnTo>
                <a:lnTo>
                  <a:pt x="54615" y="254235"/>
                </a:lnTo>
                <a:lnTo>
                  <a:pt x="52868" y="254913"/>
                </a:lnTo>
                <a:lnTo>
                  <a:pt x="45843" y="255199"/>
                </a:lnTo>
                <a:lnTo>
                  <a:pt x="45109" y="255484"/>
                </a:lnTo>
                <a:lnTo>
                  <a:pt x="43796" y="255509"/>
                </a:lnTo>
                <a:lnTo>
                  <a:pt x="43258" y="254143"/>
                </a:lnTo>
                <a:lnTo>
                  <a:pt x="39745" y="240235"/>
                </a:lnTo>
                <a:lnTo>
                  <a:pt x="38953" y="239257"/>
                </a:lnTo>
                <a:lnTo>
                  <a:pt x="35758" y="237995"/>
                </a:lnTo>
                <a:lnTo>
                  <a:pt x="35351" y="236371"/>
                </a:lnTo>
                <a:lnTo>
                  <a:pt x="35958" y="235195"/>
                </a:lnTo>
                <a:lnTo>
                  <a:pt x="33714" y="235157"/>
                </a:lnTo>
                <a:lnTo>
                  <a:pt x="31015" y="232168"/>
                </a:lnTo>
                <a:lnTo>
                  <a:pt x="28740" y="232415"/>
                </a:lnTo>
                <a:lnTo>
                  <a:pt x="29502" y="231725"/>
                </a:lnTo>
                <a:lnTo>
                  <a:pt x="29367" y="230238"/>
                </a:lnTo>
                <a:lnTo>
                  <a:pt x="12010" y="185858"/>
                </a:lnTo>
                <a:lnTo>
                  <a:pt x="10124" y="184679"/>
                </a:lnTo>
                <a:lnTo>
                  <a:pt x="10805" y="184110"/>
                </a:lnTo>
                <a:lnTo>
                  <a:pt x="7445" y="181678"/>
                </a:lnTo>
                <a:lnTo>
                  <a:pt x="3798" y="176968"/>
                </a:lnTo>
                <a:lnTo>
                  <a:pt x="2356" y="175971"/>
                </a:lnTo>
                <a:lnTo>
                  <a:pt x="1782" y="175142"/>
                </a:lnTo>
                <a:lnTo>
                  <a:pt x="1096" y="175233"/>
                </a:lnTo>
                <a:lnTo>
                  <a:pt x="1117" y="174814"/>
                </a:lnTo>
                <a:lnTo>
                  <a:pt x="213" y="174263"/>
                </a:lnTo>
                <a:lnTo>
                  <a:pt x="0" y="172212"/>
                </a:lnTo>
                <a:lnTo>
                  <a:pt x="2099" y="171163"/>
                </a:lnTo>
                <a:lnTo>
                  <a:pt x="2408" y="170647"/>
                </a:lnTo>
                <a:lnTo>
                  <a:pt x="1989" y="168891"/>
                </a:lnTo>
                <a:lnTo>
                  <a:pt x="934" y="167409"/>
                </a:lnTo>
                <a:lnTo>
                  <a:pt x="1058" y="166991"/>
                </a:lnTo>
                <a:lnTo>
                  <a:pt x="2534" y="166833"/>
                </a:lnTo>
                <a:lnTo>
                  <a:pt x="3316" y="166469"/>
                </a:lnTo>
                <a:lnTo>
                  <a:pt x="3717" y="167815"/>
                </a:lnTo>
                <a:lnTo>
                  <a:pt x="4624" y="169143"/>
                </a:lnTo>
                <a:lnTo>
                  <a:pt x="5391" y="169952"/>
                </a:lnTo>
                <a:lnTo>
                  <a:pt x="6607" y="170439"/>
                </a:lnTo>
                <a:lnTo>
                  <a:pt x="7910" y="167556"/>
                </a:lnTo>
                <a:lnTo>
                  <a:pt x="7668" y="166250"/>
                </a:lnTo>
                <a:lnTo>
                  <a:pt x="8048" y="165385"/>
                </a:lnTo>
                <a:lnTo>
                  <a:pt x="7829" y="164220"/>
                </a:lnTo>
                <a:lnTo>
                  <a:pt x="8031" y="163882"/>
                </a:lnTo>
                <a:lnTo>
                  <a:pt x="8493" y="163975"/>
                </a:lnTo>
                <a:lnTo>
                  <a:pt x="9332" y="164706"/>
                </a:lnTo>
                <a:lnTo>
                  <a:pt x="9842" y="166298"/>
                </a:lnTo>
                <a:lnTo>
                  <a:pt x="10196" y="166788"/>
                </a:lnTo>
                <a:lnTo>
                  <a:pt x="10699" y="166868"/>
                </a:lnTo>
                <a:lnTo>
                  <a:pt x="11316" y="165786"/>
                </a:lnTo>
                <a:lnTo>
                  <a:pt x="12116" y="165166"/>
                </a:lnTo>
                <a:lnTo>
                  <a:pt x="13766" y="164933"/>
                </a:lnTo>
                <a:lnTo>
                  <a:pt x="13494" y="162833"/>
                </a:lnTo>
                <a:lnTo>
                  <a:pt x="15022" y="162021"/>
                </a:lnTo>
                <a:lnTo>
                  <a:pt x="15754" y="160796"/>
                </a:lnTo>
                <a:lnTo>
                  <a:pt x="17289" y="160160"/>
                </a:lnTo>
                <a:lnTo>
                  <a:pt x="18035" y="160124"/>
                </a:lnTo>
                <a:lnTo>
                  <a:pt x="18889" y="160431"/>
                </a:lnTo>
                <a:lnTo>
                  <a:pt x="20821" y="158123"/>
                </a:lnTo>
                <a:lnTo>
                  <a:pt x="21480" y="157906"/>
                </a:lnTo>
                <a:lnTo>
                  <a:pt x="22389" y="158400"/>
                </a:lnTo>
                <a:lnTo>
                  <a:pt x="25249" y="159012"/>
                </a:lnTo>
                <a:lnTo>
                  <a:pt x="25892" y="159681"/>
                </a:lnTo>
                <a:lnTo>
                  <a:pt x="26672" y="159318"/>
                </a:lnTo>
                <a:lnTo>
                  <a:pt x="27793" y="159522"/>
                </a:lnTo>
                <a:lnTo>
                  <a:pt x="28645" y="159041"/>
                </a:lnTo>
                <a:lnTo>
                  <a:pt x="28297" y="158172"/>
                </a:lnTo>
                <a:lnTo>
                  <a:pt x="28417" y="157737"/>
                </a:lnTo>
                <a:lnTo>
                  <a:pt x="30600" y="156407"/>
                </a:lnTo>
                <a:lnTo>
                  <a:pt x="30452" y="155797"/>
                </a:lnTo>
                <a:lnTo>
                  <a:pt x="30675" y="155583"/>
                </a:lnTo>
                <a:lnTo>
                  <a:pt x="31366" y="155454"/>
                </a:lnTo>
                <a:lnTo>
                  <a:pt x="31991" y="157219"/>
                </a:lnTo>
                <a:lnTo>
                  <a:pt x="32989" y="157043"/>
                </a:lnTo>
                <a:lnTo>
                  <a:pt x="33786" y="157296"/>
                </a:lnTo>
                <a:lnTo>
                  <a:pt x="35546" y="156176"/>
                </a:lnTo>
                <a:lnTo>
                  <a:pt x="35427" y="154408"/>
                </a:lnTo>
                <a:lnTo>
                  <a:pt x="35788" y="153825"/>
                </a:lnTo>
                <a:lnTo>
                  <a:pt x="36583" y="153846"/>
                </a:lnTo>
                <a:lnTo>
                  <a:pt x="38632" y="152732"/>
                </a:lnTo>
                <a:lnTo>
                  <a:pt x="39533" y="153027"/>
                </a:lnTo>
                <a:lnTo>
                  <a:pt x="40377" y="153934"/>
                </a:lnTo>
                <a:lnTo>
                  <a:pt x="42217" y="153819"/>
                </a:lnTo>
                <a:lnTo>
                  <a:pt x="42804" y="153994"/>
                </a:lnTo>
                <a:lnTo>
                  <a:pt x="42594" y="151947"/>
                </a:lnTo>
                <a:lnTo>
                  <a:pt x="42201" y="151340"/>
                </a:lnTo>
                <a:lnTo>
                  <a:pt x="42046" y="150490"/>
                </a:lnTo>
                <a:lnTo>
                  <a:pt x="42780" y="149495"/>
                </a:lnTo>
                <a:lnTo>
                  <a:pt x="42684" y="148511"/>
                </a:lnTo>
                <a:lnTo>
                  <a:pt x="42933" y="148009"/>
                </a:lnTo>
                <a:lnTo>
                  <a:pt x="46371" y="145353"/>
                </a:lnTo>
                <a:lnTo>
                  <a:pt x="46952" y="145360"/>
                </a:lnTo>
                <a:lnTo>
                  <a:pt x="47890" y="146252"/>
                </a:lnTo>
                <a:lnTo>
                  <a:pt x="48920" y="146604"/>
                </a:lnTo>
                <a:lnTo>
                  <a:pt x="50918" y="146277"/>
                </a:lnTo>
                <a:lnTo>
                  <a:pt x="51303" y="145095"/>
                </a:lnTo>
                <a:lnTo>
                  <a:pt x="50350" y="143096"/>
                </a:lnTo>
                <a:lnTo>
                  <a:pt x="50566" y="142127"/>
                </a:lnTo>
                <a:lnTo>
                  <a:pt x="50393" y="140800"/>
                </a:lnTo>
                <a:lnTo>
                  <a:pt x="51205" y="140375"/>
                </a:lnTo>
                <a:lnTo>
                  <a:pt x="52402" y="140192"/>
                </a:lnTo>
                <a:lnTo>
                  <a:pt x="53064" y="139279"/>
                </a:lnTo>
                <a:lnTo>
                  <a:pt x="53818" y="138906"/>
                </a:lnTo>
                <a:lnTo>
                  <a:pt x="54174" y="137548"/>
                </a:lnTo>
                <a:lnTo>
                  <a:pt x="55217" y="136696"/>
                </a:lnTo>
                <a:lnTo>
                  <a:pt x="55632" y="135986"/>
                </a:lnTo>
                <a:lnTo>
                  <a:pt x="55597" y="134877"/>
                </a:lnTo>
                <a:lnTo>
                  <a:pt x="56184" y="134071"/>
                </a:lnTo>
                <a:lnTo>
                  <a:pt x="57358" y="134559"/>
                </a:lnTo>
                <a:lnTo>
                  <a:pt x="58578" y="134117"/>
                </a:lnTo>
                <a:lnTo>
                  <a:pt x="59431" y="134094"/>
                </a:lnTo>
                <a:lnTo>
                  <a:pt x="60342" y="133043"/>
                </a:lnTo>
                <a:lnTo>
                  <a:pt x="59977" y="131817"/>
                </a:lnTo>
                <a:lnTo>
                  <a:pt x="59988" y="130252"/>
                </a:lnTo>
                <a:lnTo>
                  <a:pt x="58314" y="128679"/>
                </a:lnTo>
                <a:lnTo>
                  <a:pt x="57740" y="127556"/>
                </a:lnTo>
                <a:lnTo>
                  <a:pt x="57737" y="126697"/>
                </a:lnTo>
                <a:lnTo>
                  <a:pt x="57953" y="126323"/>
                </a:lnTo>
                <a:lnTo>
                  <a:pt x="58437" y="126300"/>
                </a:lnTo>
                <a:lnTo>
                  <a:pt x="60735" y="127975"/>
                </a:lnTo>
                <a:lnTo>
                  <a:pt x="61253" y="128063"/>
                </a:lnTo>
                <a:lnTo>
                  <a:pt x="61591" y="127864"/>
                </a:lnTo>
                <a:lnTo>
                  <a:pt x="62036" y="127419"/>
                </a:lnTo>
                <a:lnTo>
                  <a:pt x="62401" y="126431"/>
                </a:lnTo>
                <a:lnTo>
                  <a:pt x="61884" y="124437"/>
                </a:lnTo>
                <a:lnTo>
                  <a:pt x="62300" y="121470"/>
                </a:lnTo>
                <a:lnTo>
                  <a:pt x="63503" y="120590"/>
                </a:lnTo>
                <a:lnTo>
                  <a:pt x="65880" y="120290"/>
                </a:lnTo>
                <a:lnTo>
                  <a:pt x="67562" y="119285"/>
                </a:lnTo>
                <a:lnTo>
                  <a:pt x="67525" y="118934"/>
                </a:lnTo>
                <a:lnTo>
                  <a:pt x="66484" y="118155"/>
                </a:lnTo>
                <a:lnTo>
                  <a:pt x="66349" y="117169"/>
                </a:lnTo>
                <a:lnTo>
                  <a:pt x="65392" y="116780"/>
                </a:lnTo>
                <a:lnTo>
                  <a:pt x="65073" y="115506"/>
                </a:lnTo>
                <a:lnTo>
                  <a:pt x="66138" y="115304"/>
                </a:lnTo>
                <a:lnTo>
                  <a:pt x="66683" y="114950"/>
                </a:lnTo>
                <a:lnTo>
                  <a:pt x="67558" y="115165"/>
                </a:lnTo>
                <a:lnTo>
                  <a:pt x="68869" y="114917"/>
                </a:lnTo>
                <a:lnTo>
                  <a:pt x="69393" y="115402"/>
                </a:lnTo>
                <a:lnTo>
                  <a:pt x="69402" y="116269"/>
                </a:lnTo>
                <a:lnTo>
                  <a:pt x="70079" y="116318"/>
                </a:lnTo>
                <a:lnTo>
                  <a:pt x="70438" y="116073"/>
                </a:lnTo>
                <a:lnTo>
                  <a:pt x="70236" y="115016"/>
                </a:lnTo>
                <a:lnTo>
                  <a:pt x="70818" y="114315"/>
                </a:lnTo>
                <a:lnTo>
                  <a:pt x="70948" y="113370"/>
                </a:lnTo>
                <a:lnTo>
                  <a:pt x="71642" y="113454"/>
                </a:lnTo>
                <a:lnTo>
                  <a:pt x="72427" y="113098"/>
                </a:lnTo>
                <a:lnTo>
                  <a:pt x="73213" y="113279"/>
                </a:lnTo>
                <a:lnTo>
                  <a:pt x="73793" y="113080"/>
                </a:lnTo>
                <a:lnTo>
                  <a:pt x="74636" y="112164"/>
                </a:lnTo>
                <a:lnTo>
                  <a:pt x="75370" y="110510"/>
                </a:lnTo>
                <a:lnTo>
                  <a:pt x="77689" y="109529"/>
                </a:lnTo>
                <a:lnTo>
                  <a:pt x="78477" y="108325"/>
                </a:lnTo>
                <a:lnTo>
                  <a:pt x="78713" y="107318"/>
                </a:lnTo>
                <a:lnTo>
                  <a:pt x="77913" y="106474"/>
                </a:lnTo>
                <a:lnTo>
                  <a:pt x="76741" y="106255"/>
                </a:lnTo>
                <a:lnTo>
                  <a:pt x="76254" y="105713"/>
                </a:lnTo>
                <a:lnTo>
                  <a:pt x="75465" y="106342"/>
                </a:lnTo>
                <a:lnTo>
                  <a:pt x="75063" y="106314"/>
                </a:lnTo>
                <a:lnTo>
                  <a:pt x="74819" y="105930"/>
                </a:lnTo>
                <a:lnTo>
                  <a:pt x="75384" y="105298"/>
                </a:lnTo>
                <a:lnTo>
                  <a:pt x="75450" y="104824"/>
                </a:lnTo>
                <a:lnTo>
                  <a:pt x="74778" y="104019"/>
                </a:lnTo>
                <a:lnTo>
                  <a:pt x="74020" y="103768"/>
                </a:lnTo>
                <a:lnTo>
                  <a:pt x="74060" y="103596"/>
                </a:lnTo>
                <a:lnTo>
                  <a:pt x="75598" y="102405"/>
                </a:lnTo>
                <a:lnTo>
                  <a:pt x="76202" y="102817"/>
                </a:lnTo>
                <a:lnTo>
                  <a:pt x="76993" y="102519"/>
                </a:lnTo>
                <a:lnTo>
                  <a:pt x="77835" y="100626"/>
                </a:lnTo>
                <a:lnTo>
                  <a:pt x="78575" y="100279"/>
                </a:lnTo>
                <a:lnTo>
                  <a:pt x="79438" y="99044"/>
                </a:lnTo>
                <a:lnTo>
                  <a:pt x="80097" y="98680"/>
                </a:lnTo>
                <a:lnTo>
                  <a:pt x="81427" y="98479"/>
                </a:lnTo>
                <a:lnTo>
                  <a:pt x="81743" y="97685"/>
                </a:lnTo>
                <a:lnTo>
                  <a:pt x="82869" y="97244"/>
                </a:lnTo>
                <a:lnTo>
                  <a:pt x="83149" y="96836"/>
                </a:lnTo>
                <a:lnTo>
                  <a:pt x="83404" y="95097"/>
                </a:lnTo>
                <a:lnTo>
                  <a:pt x="83773" y="94210"/>
                </a:lnTo>
                <a:lnTo>
                  <a:pt x="85220" y="94209"/>
                </a:lnTo>
                <a:lnTo>
                  <a:pt x="85545" y="94776"/>
                </a:lnTo>
                <a:lnTo>
                  <a:pt x="86036" y="95057"/>
                </a:lnTo>
                <a:lnTo>
                  <a:pt x="86597" y="94639"/>
                </a:lnTo>
                <a:lnTo>
                  <a:pt x="87487" y="94521"/>
                </a:lnTo>
                <a:lnTo>
                  <a:pt x="88642" y="93964"/>
                </a:lnTo>
                <a:lnTo>
                  <a:pt x="89095" y="92877"/>
                </a:lnTo>
                <a:lnTo>
                  <a:pt x="89078" y="92015"/>
                </a:lnTo>
                <a:lnTo>
                  <a:pt x="87051" y="89947"/>
                </a:lnTo>
                <a:lnTo>
                  <a:pt x="86886" y="89448"/>
                </a:lnTo>
                <a:lnTo>
                  <a:pt x="88285" y="88883"/>
                </a:lnTo>
                <a:lnTo>
                  <a:pt x="89343" y="89212"/>
                </a:lnTo>
                <a:lnTo>
                  <a:pt x="91497" y="88624"/>
                </a:lnTo>
                <a:lnTo>
                  <a:pt x="91931" y="87299"/>
                </a:lnTo>
                <a:lnTo>
                  <a:pt x="91233" y="86691"/>
                </a:lnTo>
                <a:lnTo>
                  <a:pt x="91501" y="85944"/>
                </a:lnTo>
                <a:lnTo>
                  <a:pt x="92254" y="85945"/>
                </a:lnTo>
                <a:lnTo>
                  <a:pt x="93160" y="86530"/>
                </a:lnTo>
                <a:lnTo>
                  <a:pt x="93466" y="86387"/>
                </a:lnTo>
                <a:lnTo>
                  <a:pt x="94147" y="84984"/>
                </a:lnTo>
                <a:lnTo>
                  <a:pt x="94053" y="84318"/>
                </a:lnTo>
                <a:lnTo>
                  <a:pt x="94406" y="83685"/>
                </a:lnTo>
                <a:lnTo>
                  <a:pt x="93847" y="82751"/>
                </a:lnTo>
                <a:lnTo>
                  <a:pt x="94279" y="81983"/>
                </a:lnTo>
                <a:lnTo>
                  <a:pt x="93681" y="81102"/>
                </a:lnTo>
                <a:lnTo>
                  <a:pt x="92667" y="81053"/>
                </a:lnTo>
                <a:lnTo>
                  <a:pt x="92766" y="80412"/>
                </a:lnTo>
                <a:lnTo>
                  <a:pt x="94098" y="79898"/>
                </a:lnTo>
                <a:lnTo>
                  <a:pt x="94894" y="80451"/>
                </a:lnTo>
                <a:lnTo>
                  <a:pt x="95217" y="81087"/>
                </a:lnTo>
                <a:lnTo>
                  <a:pt x="95705" y="81250"/>
                </a:lnTo>
                <a:lnTo>
                  <a:pt x="96455" y="79880"/>
                </a:lnTo>
                <a:lnTo>
                  <a:pt x="97421" y="80148"/>
                </a:lnTo>
                <a:lnTo>
                  <a:pt x="97847" y="79819"/>
                </a:lnTo>
                <a:lnTo>
                  <a:pt x="98096" y="79213"/>
                </a:lnTo>
                <a:lnTo>
                  <a:pt x="97749" y="78623"/>
                </a:lnTo>
                <a:lnTo>
                  <a:pt x="98027" y="78087"/>
                </a:lnTo>
                <a:lnTo>
                  <a:pt x="97804" y="77813"/>
                </a:lnTo>
                <a:lnTo>
                  <a:pt x="96726" y="77529"/>
                </a:lnTo>
                <a:lnTo>
                  <a:pt x="95662" y="76209"/>
                </a:lnTo>
                <a:lnTo>
                  <a:pt x="94907" y="77130"/>
                </a:lnTo>
                <a:lnTo>
                  <a:pt x="94519" y="77123"/>
                </a:lnTo>
                <a:lnTo>
                  <a:pt x="94612" y="76280"/>
                </a:lnTo>
                <a:lnTo>
                  <a:pt x="93447" y="76232"/>
                </a:lnTo>
                <a:lnTo>
                  <a:pt x="93017" y="74514"/>
                </a:lnTo>
                <a:lnTo>
                  <a:pt x="93879" y="74275"/>
                </a:lnTo>
                <a:lnTo>
                  <a:pt x="94049" y="73957"/>
                </a:lnTo>
                <a:lnTo>
                  <a:pt x="94458" y="73837"/>
                </a:lnTo>
                <a:lnTo>
                  <a:pt x="95009" y="74727"/>
                </a:lnTo>
                <a:lnTo>
                  <a:pt x="95533" y="75047"/>
                </a:lnTo>
                <a:lnTo>
                  <a:pt x="95911" y="74696"/>
                </a:lnTo>
                <a:lnTo>
                  <a:pt x="97616" y="74316"/>
                </a:lnTo>
                <a:lnTo>
                  <a:pt x="98011" y="73488"/>
                </a:lnTo>
                <a:lnTo>
                  <a:pt x="97942" y="72555"/>
                </a:lnTo>
                <a:lnTo>
                  <a:pt x="97201" y="71937"/>
                </a:lnTo>
                <a:lnTo>
                  <a:pt x="97254" y="71550"/>
                </a:lnTo>
                <a:lnTo>
                  <a:pt x="97944" y="71349"/>
                </a:lnTo>
                <a:lnTo>
                  <a:pt x="98853" y="71773"/>
                </a:lnTo>
                <a:lnTo>
                  <a:pt x="98925" y="71048"/>
                </a:lnTo>
                <a:lnTo>
                  <a:pt x="99559" y="71236"/>
                </a:lnTo>
                <a:lnTo>
                  <a:pt x="99862" y="70932"/>
                </a:lnTo>
                <a:lnTo>
                  <a:pt x="98865" y="69791"/>
                </a:lnTo>
                <a:lnTo>
                  <a:pt x="99119" y="68169"/>
                </a:lnTo>
                <a:lnTo>
                  <a:pt x="99516" y="67691"/>
                </a:lnTo>
                <a:lnTo>
                  <a:pt x="100534" y="67924"/>
                </a:lnTo>
                <a:lnTo>
                  <a:pt x="102459" y="69075"/>
                </a:lnTo>
                <a:lnTo>
                  <a:pt x="103241" y="69128"/>
                </a:lnTo>
                <a:lnTo>
                  <a:pt x="103619" y="68857"/>
                </a:lnTo>
                <a:lnTo>
                  <a:pt x="104158" y="67256"/>
                </a:lnTo>
                <a:lnTo>
                  <a:pt x="103800" y="66771"/>
                </a:lnTo>
                <a:lnTo>
                  <a:pt x="104085" y="65808"/>
                </a:lnTo>
                <a:lnTo>
                  <a:pt x="103114" y="65624"/>
                </a:lnTo>
                <a:lnTo>
                  <a:pt x="102829" y="64259"/>
                </a:lnTo>
                <a:lnTo>
                  <a:pt x="102984" y="64090"/>
                </a:lnTo>
                <a:lnTo>
                  <a:pt x="104194" y="64298"/>
                </a:lnTo>
                <a:lnTo>
                  <a:pt x="105099" y="63197"/>
                </a:lnTo>
                <a:lnTo>
                  <a:pt x="105443" y="61843"/>
                </a:lnTo>
                <a:lnTo>
                  <a:pt x="104749" y="61109"/>
                </a:lnTo>
                <a:lnTo>
                  <a:pt x="104903" y="60219"/>
                </a:lnTo>
                <a:lnTo>
                  <a:pt x="105561" y="60029"/>
                </a:lnTo>
                <a:lnTo>
                  <a:pt x="105597" y="59459"/>
                </a:lnTo>
                <a:lnTo>
                  <a:pt x="105223" y="59237"/>
                </a:lnTo>
                <a:lnTo>
                  <a:pt x="105229" y="58862"/>
                </a:lnTo>
                <a:lnTo>
                  <a:pt x="105973" y="59091"/>
                </a:lnTo>
                <a:lnTo>
                  <a:pt x="106182" y="58432"/>
                </a:lnTo>
                <a:lnTo>
                  <a:pt x="106992" y="58095"/>
                </a:lnTo>
                <a:lnTo>
                  <a:pt x="107624" y="56993"/>
                </a:lnTo>
                <a:lnTo>
                  <a:pt x="108090" y="57746"/>
                </a:lnTo>
                <a:lnTo>
                  <a:pt x="108573" y="57706"/>
                </a:lnTo>
                <a:lnTo>
                  <a:pt x="108137" y="56972"/>
                </a:lnTo>
                <a:lnTo>
                  <a:pt x="108248" y="56671"/>
                </a:lnTo>
                <a:lnTo>
                  <a:pt x="108787" y="57172"/>
                </a:lnTo>
                <a:lnTo>
                  <a:pt x="108912" y="57676"/>
                </a:lnTo>
                <a:lnTo>
                  <a:pt x="110612" y="57674"/>
                </a:lnTo>
                <a:lnTo>
                  <a:pt x="110914" y="57123"/>
                </a:lnTo>
                <a:lnTo>
                  <a:pt x="110193" y="56475"/>
                </a:lnTo>
                <a:lnTo>
                  <a:pt x="110892" y="55845"/>
                </a:lnTo>
                <a:lnTo>
                  <a:pt x="111494" y="54837"/>
                </a:lnTo>
                <a:lnTo>
                  <a:pt x="111689" y="53671"/>
                </a:lnTo>
                <a:lnTo>
                  <a:pt x="111072" y="52918"/>
                </a:lnTo>
                <a:lnTo>
                  <a:pt x="110284" y="52889"/>
                </a:lnTo>
                <a:lnTo>
                  <a:pt x="110000" y="52212"/>
                </a:lnTo>
                <a:lnTo>
                  <a:pt x="109921" y="50378"/>
                </a:lnTo>
                <a:lnTo>
                  <a:pt x="111187" y="50436"/>
                </a:lnTo>
                <a:lnTo>
                  <a:pt x="113266" y="52040"/>
                </a:lnTo>
                <a:lnTo>
                  <a:pt x="114628" y="52503"/>
                </a:lnTo>
                <a:lnTo>
                  <a:pt x="115597" y="52474"/>
                </a:lnTo>
                <a:lnTo>
                  <a:pt x="115340" y="53352"/>
                </a:lnTo>
                <a:lnTo>
                  <a:pt x="116260" y="54008"/>
                </a:lnTo>
                <a:lnTo>
                  <a:pt x="117649" y="53804"/>
                </a:lnTo>
                <a:lnTo>
                  <a:pt x="118866" y="54513"/>
                </a:lnTo>
                <a:lnTo>
                  <a:pt x="120429" y="53162"/>
                </a:lnTo>
                <a:lnTo>
                  <a:pt x="121101" y="53184"/>
                </a:lnTo>
                <a:lnTo>
                  <a:pt x="120821" y="52509"/>
                </a:lnTo>
                <a:lnTo>
                  <a:pt x="120909" y="51662"/>
                </a:lnTo>
                <a:lnTo>
                  <a:pt x="122297" y="53631"/>
                </a:lnTo>
                <a:lnTo>
                  <a:pt x="123522" y="52719"/>
                </a:lnTo>
                <a:lnTo>
                  <a:pt x="123482" y="51775"/>
                </a:lnTo>
                <a:lnTo>
                  <a:pt x="124054" y="51650"/>
                </a:lnTo>
                <a:lnTo>
                  <a:pt x="124398" y="52761"/>
                </a:lnTo>
                <a:lnTo>
                  <a:pt x="125037" y="52899"/>
                </a:lnTo>
                <a:lnTo>
                  <a:pt x="125152" y="53494"/>
                </a:lnTo>
                <a:lnTo>
                  <a:pt x="125817" y="53434"/>
                </a:lnTo>
                <a:lnTo>
                  <a:pt x="126500" y="54476"/>
                </a:lnTo>
                <a:lnTo>
                  <a:pt x="128049" y="54103"/>
                </a:lnTo>
                <a:lnTo>
                  <a:pt x="128641" y="53716"/>
                </a:lnTo>
                <a:lnTo>
                  <a:pt x="129350" y="54043"/>
                </a:lnTo>
                <a:lnTo>
                  <a:pt x="129715" y="53669"/>
                </a:lnTo>
                <a:lnTo>
                  <a:pt x="129775" y="53035"/>
                </a:lnTo>
                <a:lnTo>
                  <a:pt x="130528" y="52721"/>
                </a:lnTo>
                <a:lnTo>
                  <a:pt x="130826" y="51713"/>
                </a:lnTo>
                <a:lnTo>
                  <a:pt x="130789" y="50921"/>
                </a:lnTo>
                <a:lnTo>
                  <a:pt x="131142" y="50352"/>
                </a:lnTo>
                <a:lnTo>
                  <a:pt x="130824" y="49716"/>
                </a:lnTo>
                <a:lnTo>
                  <a:pt x="130127" y="49798"/>
                </a:lnTo>
                <a:lnTo>
                  <a:pt x="129384" y="49367"/>
                </a:lnTo>
                <a:lnTo>
                  <a:pt x="130182" y="47872"/>
                </a:lnTo>
                <a:lnTo>
                  <a:pt x="131191" y="47783"/>
                </a:lnTo>
                <a:lnTo>
                  <a:pt x="132421" y="48315"/>
                </a:lnTo>
                <a:lnTo>
                  <a:pt x="134096" y="47674"/>
                </a:lnTo>
                <a:lnTo>
                  <a:pt x="134132" y="46762"/>
                </a:lnTo>
                <a:lnTo>
                  <a:pt x="133530" y="45802"/>
                </a:lnTo>
                <a:lnTo>
                  <a:pt x="133980" y="44834"/>
                </a:lnTo>
                <a:lnTo>
                  <a:pt x="134328" y="44635"/>
                </a:lnTo>
                <a:lnTo>
                  <a:pt x="135240" y="45134"/>
                </a:lnTo>
                <a:lnTo>
                  <a:pt x="135148" y="44293"/>
                </a:lnTo>
                <a:lnTo>
                  <a:pt x="135618" y="43656"/>
                </a:lnTo>
                <a:lnTo>
                  <a:pt x="136886" y="43585"/>
                </a:lnTo>
                <a:lnTo>
                  <a:pt x="136881" y="42925"/>
                </a:lnTo>
                <a:lnTo>
                  <a:pt x="138313" y="43655"/>
                </a:lnTo>
                <a:lnTo>
                  <a:pt x="139318" y="44618"/>
                </a:lnTo>
                <a:lnTo>
                  <a:pt x="140233" y="44878"/>
                </a:lnTo>
                <a:lnTo>
                  <a:pt x="140310" y="45876"/>
                </a:lnTo>
                <a:lnTo>
                  <a:pt x="140768" y="46771"/>
                </a:lnTo>
                <a:lnTo>
                  <a:pt x="141376" y="47329"/>
                </a:lnTo>
                <a:lnTo>
                  <a:pt x="143385" y="47819"/>
                </a:lnTo>
                <a:lnTo>
                  <a:pt x="144322" y="48840"/>
                </a:lnTo>
                <a:lnTo>
                  <a:pt x="144551" y="48428"/>
                </a:lnTo>
                <a:lnTo>
                  <a:pt x="143846" y="47837"/>
                </a:lnTo>
                <a:lnTo>
                  <a:pt x="144768" y="47715"/>
                </a:lnTo>
                <a:lnTo>
                  <a:pt x="144868" y="47153"/>
                </a:lnTo>
                <a:lnTo>
                  <a:pt x="145126" y="47044"/>
                </a:lnTo>
                <a:lnTo>
                  <a:pt x="145692" y="47956"/>
                </a:lnTo>
                <a:lnTo>
                  <a:pt x="146028" y="47811"/>
                </a:lnTo>
                <a:lnTo>
                  <a:pt x="146439" y="47011"/>
                </a:lnTo>
                <a:lnTo>
                  <a:pt x="146839" y="47209"/>
                </a:lnTo>
                <a:lnTo>
                  <a:pt x="147596" y="48417"/>
                </a:lnTo>
                <a:lnTo>
                  <a:pt x="148385" y="47736"/>
                </a:lnTo>
                <a:lnTo>
                  <a:pt x="149306" y="47503"/>
                </a:lnTo>
                <a:lnTo>
                  <a:pt x="149899" y="48347"/>
                </a:lnTo>
                <a:lnTo>
                  <a:pt x="150112" y="47933"/>
                </a:lnTo>
                <a:lnTo>
                  <a:pt x="149879" y="47420"/>
                </a:lnTo>
                <a:lnTo>
                  <a:pt x="150672" y="47544"/>
                </a:lnTo>
                <a:lnTo>
                  <a:pt x="150225" y="47193"/>
                </a:lnTo>
                <a:lnTo>
                  <a:pt x="150473" y="46454"/>
                </a:lnTo>
                <a:lnTo>
                  <a:pt x="149853" y="46296"/>
                </a:lnTo>
                <a:lnTo>
                  <a:pt x="150168" y="45996"/>
                </a:lnTo>
                <a:lnTo>
                  <a:pt x="150098" y="45155"/>
                </a:lnTo>
                <a:lnTo>
                  <a:pt x="149512" y="45574"/>
                </a:lnTo>
                <a:lnTo>
                  <a:pt x="149267" y="45066"/>
                </a:lnTo>
                <a:lnTo>
                  <a:pt x="149945" y="44462"/>
                </a:lnTo>
                <a:lnTo>
                  <a:pt x="150380" y="44536"/>
                </a:lnTo>
                <a:lnTo>
                  <a:pt x="151074" y="43551"/>
                </a:lnTo>
                <a:lnTo>
                  <a:pt x="151706" y="43673"/>
                </a:lnTo>
                <a:lnTo>
                  <a:pt x="151834" y="42971"/>
                </a:lnTo>
                <a:lnTo>
                  <a:pt x="152336" y="42847"/>
                </a:lnTo>
                <a:lnTo>
                  <a:pt x="152802" y="42238"/>
                </a:lnTo>
                <a:lnTo>
                  <a:pt x="153336" y="42655"/>
                </a:lnTo>
                <a:lnTo>
                  <a:pt x="153783" y="42217"/>
                </a:lnTo>
                <a:lnTo>
                  <a:pt x="153781" y="41124"/>
                </a:lnTo>
                <a:lnTo>
                  <a:pt x="153184" y="40312"/>
                </a:lnTo>
                <a:lnTo>
                  <a:pt x="153477" y="39767"/>
                </a:lnTo>
                <a:lnTo>
                  <a:pt x="153332" y="38346"/>
                </a:lnTo>
                <a:lnTo>
                  <a:pt x="154561" y="37775"/>
                </a:lnTo>
                <a:lnTo>
                  <a:pt x="156598" y="38067"/>
                </a:lnTo>
                <a:lnTo>
                  <a:pt x="156852" y="37931"/>
                </a:lnTo>
                <a:lnTo>
                  <a:pt x="156947" y="37291"/>
                </a:lnTo>
                <a:lnTo>
                  <a:pt x="157376" y="37172"/>
                </a:lnTo>
                <a:lnTo>
                  <a:pt x="157235" y="36674"/>
                </a:lnTo>
                <a:lnTo>
                  <a:pt x="157719" y="36508"/>
                </a:lnTo>
                <a:lnTo>
                  <a:pt x="158649" y="35466"/>
                </a:lnTo>
                <a:lnTo>
                  <a:pt x="158499" y="34525"/>
                </a:lnTo>
                <a:lnTo>
                  <a:pt x="158083" y="34366"/>
                </a:lnTo>
                <a:lnTo>
                  <a:pt x="159035" y="34354"/>
                </a:lnTo>
                <a:lnTo>
                  <a:pt x="159955" y="33110"/>
                </a:lnTo>
                <a:lnTo>
                  <a:pt x="159848" y="32788"/>
                </a:lnTo>
                <a:lnTo>
                  <a:pt x="160324" y="32560"/>
                </a:lnTo>
                <a:lnTo>
                  <a:pt x="160094" y="31947"/>
                </a:lnTo>
                <a:lnTo>
                  <a:pt x="160714" y="30352"/>
                </a:lnTo>
                <a:lnTo>
                  <a:pt x="161052" y="29943"/>
                </a:lnTo>
                <a:lnTo>
                  <a:pt x="161914" y="29810"/>
                </a:lnTo>
                <a:lnTo>
                  <a:pt x="162751" y="28623"/>
                </a:lnTo>
                <a:lnTo>
                  <a:pt x="163653" y="28613"/>
                </a:lnTo>
                <a:lnTo>
                  <a:pt x="163589" y="25984"/>
                </a:lnTo>
                <a:lnTo>
                  <a:pt x="164023" y="25817"/>
                </a:lnTo>
                <a:lnTo>
                  <a:pt x="164446" y="26595"/>
                </a:lnTo>
                <a:lnTo>
                  <a:pt x="164895" y="26879"/>
                </a:lnTo>
                <a:lnTo>
                  <a:pt x="165286" y="26719"/>
                </a:lnTo>
                <a:lnTo>
                  <a:pt x="165183" y="25950"/>
                </a:lnTo>
                <a:lnTo>
                  <a:pt x="165958" y="25561"/>
                </a:lnTo>
                <a:lnTo>
                  <a:pt x="166428" y="24860"/>
                </a:lnTo>
                <a:lnTo>
                  <a:pt x="167033" y="25485"/>
                </a:lnTo>
                <a:lnTo>
                  <a:pt x="167168" y="24058"/>
                </a:lnTo>
                <a:lnTo>
                  <a:pt x="167667" y="23783"/>
                </a:lnTo>
                <a:lnTo>
                  <a:pt x="168241" y="22985"/>
                </a:lnTo>
                <a:lnTo>
                  <a:pt x="168864" y="24402"/>
                </a:lnTo>
                <a:lnTo>
                  <a:pt x="169249" y="24351"/>
                </a:lnTo>
                <a:lnTo>
                  <a:pt x="168929" y="23205"/>
                </a:lnTo>
                <a:lnTo>
                  <a:pt x="169207" y="23130"/>
                </a:lnTo>
                <a:lnTo>
                  <a:pt x="169550" y="23527"/>
                </a:lnTo>
                <a:lnTo>
                  <a:pt x="169725" y="22993"/>
                </a:lnTo>
                <a:lnTo>
                  <a:pt x="168953" y="22408"/>
                </a:lnTo>
                <a:lnTo>
                  <a:pt x="169986" y="22240"/>
                </a:lnTo>
                <a:lnTo>
                  <a:pt x="169621" y="21782"/>
                </a:lnTo>
                <a:lnTo>
                  <a:pt x="170561" y="21405"/>
                </a:lnTo>
                <a:lnTo>
                  <a:pt x="170871" y="20882"/>
                </a:lnTo>
                <a:lnTo>
                  <a:pt x="170714" y="20205"/>
                </a:lnTo>
                <a:lnTo>
                  <a:pt x="172020" y="20729"/>
                </a:lnTo>
                <a:lnTo>
                  <a:pt x="173171" y="20822"/>
                </a:lnTo>
                <a:lnTo>
                  <a:pt x="172839" y="19588"/>
                </a:lnTo>
                <a:lnTo>
                  <a:pt x="173404" y="18857"/>
                </a:lnTo>
                <a:lnTo>
                  <a:pt x="173106" y="18355"/>
                </a:lnTo>
                <a:lnTo>
                  <a:pt x="174129" y="18871"/>
                </a:lnTo>
                <a:lnTo>
                  <a:pt x="174137" y="20318"/>
                </a:lnTo>
                <a:lnTo>
                  <a:pt x="174970" y="21274"/>
                </a:lnTo>
                <a:lnTo>
                  <a:pt x="177005" y="20678"/>
                </a:lnTo>
                <a:lnTo>
                  <a:pt x="177538" y="19885"/>
                </a:lnTo>
                <a:lnTo>
                  <a:pt x="178137" y="19826"/>
                </a:lnTo>
                <a:lnTo>
                  <a:pt x="178524" y="20228"/>
                </a:lnTo>
                <a:lnTo>
                  <a:pt x="179719" y="19930"/>
                </a:lnTo>
                <a:lnTo>
                  <a:pt x="179845" y="19267"/>
                </a:lnTo>
                <a:lnTo>
                  <a:pt x="180434" y="18756"/>
                </a:lnTo>
                <a:lnTo>
                  <a:pt x="181569" y="19057"/>
                </a:lnTo>
                <a:lnTo>
                  <a:pt x="181825" y="20031"/>
                </a:lnTo>
                <a:lnTo>
                  <a:pt x="182470" y="20123"/>
                </a:lnTo>
                <a:lnTo>
                  <a:pt x="182735" y="19753"/>
                </a:lnTo>
                <a:lnTo>
                  <a:pt x="183240" y="19906"/>
                </a:lnTo>
                <a:lnTo>
                  <a:pt x="183907" y="19704"/>
                </a:lnTo>
                <a:lnTo>
                  <a:pt x="183967" y="20685"/>
                </a:lnTo>
                <a:lnTo>
                  <a:pt x="184292" y="21191"/>
                </a:lnTo>
                <a:lnTo>
                  <a:pt x="185115" y="21069"/>
                </a:lnTo>
                <a:lnTo>
                  <a:pt x="185441" y="20706"/>
                </a:lnTo>
                <a:lnTo>
                  <a:pt x="186133" y="21564"/>
                </a:lnTo>
                <a:lnTo>
                  <a:pt x="187276" y="22218"/>
                </a:lnTo>
                <a:lnTo>
                  <a:pt x="187966" y="21960"/>
                </a:lnTo>
                <a:lnTo>
                  <a:pt x="188158" y="21470"/>
                </a:lnTo>
                <a:lnTo>
                  <a:pt x="188610" y="21677"/>
                </a:lnTo>
                <a:lnTo>
                  <a:pt x="188862" y="21091"/>
                </a:lnTo>
                <a:lnTo>
                  <a:pt x="189310" y="21087"/>
                </a:lnTo>
                <a:lnTo>
                  <a:pt x="189235" y="20650"/>
                </a:lnTo>
                <a:lnTo>
                  <a:pt x="189472" y="20376"/>
                </a:lnTo>
                <a:lnTo>
                  <a:pt x="189739" y="20527"/>
                </a:lnTo>
                <a:lnTo>
                  <a:pt x="189627" y="21091"/>
                </a:lnTo>
                <a:lnTo>
                  <a:pt x="189904" y="21008"/>
                </a:lnTo>
                <a:lnTo>
                  <a:pt x="189948" y="20627"/>
                </a:lnTo>
                <a:lnTo>
                  <a:pt x="190307" y="20865"/>
                </a:lnTo>
                <a:lnTo>
                  <a:pt x="190077" y="20395"/>
                </a:lnTo>
                <a:lnTo>
                  <a:pt x="190579" y="20186"/>
                </a:lnTo>
                <a:lnTo>
                  <a:pt x="190831" y="18592"/>
                </a:lnTo>
                <a:lnTo>
                  <a:pt x="191605" y="19233"/>
                </a:lnTo>
                <a:lnTo>
                  <a:pt x="191446" y="19769"/>
                </a:lnTo>
                <a:lnTo>
                  <a:pt x="191607" y="19963"/>
                </a:lnTo>
                <a:lnTo>
                  <a:pt x="192553" y="20072"/>
                </a:lnTo>
                <a:lnTo>
                  <a:pt x="193013" y="20516"/>
                </a:lnTo>
                <a:lnTo>
                  <a:pt x="194248" y="20904"/>
                </a:lnTo>
                <a:lnTo>
                  <a:pt x="194419" y="20630"/>
                </a:lnTo>
                <a:lnTo>
                  <a:pt x="193769" y="20202"/>
                </a:lnTo>
                <a:lnTo>
                  <a:pt x="193824" y="19980"/>
                </a:lnTo>
                <a:lnTo>
                  <a:pt x="194640" y="19858"/>
                </a:lnTo>
                <a:lnTo>
                  <a:pt x="194864" y="19322"/>
                </a:lnTo>
                <a:lnTo>
                  <a:pt x="195269" y="19727"/>
                </a:lnTo>
                <a:lnTo>
                  <a:pt x="196236" y="18979"/>
                </a:lnTo>
                <a:lnTo>
                  <a:pt x="196500" y="19180"/>
                </a:lnTo>
                <a:lnTo>
                  <a:pt x="196498" y="19903"/>
                </a:lnTo>
                <a:lnTo>
                  <a:pt x="197269" y="19875"/>
                </a:lnTo>
                <a:lnTo>
                  <a:pt x="197275" y="20599"/>
                </a:lnTo>
                <a:lnTo>
                  <a:pt x="198160" y="19240"/>
                </a:lnTo>
                <a:lnTo>
                  <a:pt x="198428" y="19351"/>
                </a:lnTo>
                <a:lnTo>
                  <a:pt x="198368" y="18782"/>
                </a:lnTo>
                <a:lnTo>
                  <a:pt x="198887" y="18719"/>
                </a:lnTo>
                <a:lnTo>
                  <a:pt x="198984" y="18421"/>
                </a:lnTo>
                <a:lnTo>
                  <a:pt x="198785" y="18177"/>
                </a:lnTo>
                <a:lnTo>
                  <a:pt x="199485" y="18076"/>
                </a:lnTo>
                <a:lnTo>
                  <a:pt x="199404" y="17731"/>
                </a:lnTo>
                <a:lnTo>
                  <a:pt x="199919" y="17861"/>
                </a:lnTo>
                <a:lnTo>
                  <a:pt x="199924" y="17427"/>
                </a:lnTo>
                <a:lnTo>
                  <a:pt x="200632" y="17437"/>
                </a:lnTo>
                <a:lnTo>
                  <a:pt x="200782" y="16708"/>
                </a:lnTo>
                <a:lnTo>
                  <a:pt x="200188" y="15977"/>
                </a:lnTo>
                <a:lnTo>
                  <a:pt x="200473" y="15774"/>
                </a:lnTo>
                <a:lnTo>
                  <a:pt x="200436" y="15233"/>
                </a:lnTo>
                <a:lnTo>
                  <a:pt x="199822" y="14393"/>
                </a:lnTo>
                <a:lnTo>
                  <a:pt x="200712" y="14499"/>
                </a:lnTo>
                <a:lnTo>
                  <a:pt x="201275" y="13631"/>
                </a:lnTo>
                <a:lnTo>
                  <a:pt x="202677" y="13015"/>
                </a:lnTo>
                <a:lnTo>
                  <a:pt x="202972" y="12408"/>
                </a:lnTo>
                <a:lnTo>
                  <a:pt x="203222" y="12547"/>
                </a:lnTo>
                <a:lnTo>
                  <a:pt x="203009" y="11769"/>
                </a:lnTo>
                <a:lnTo>
                  <a:pt x="203444" y="11628"/>
                </a:lnTo>
                <a:lnTo>
                  <a:pt x="203539" y="10962"/>
                </a:lnTo>
                <a:lnTo>
                  <a:pt x="204012" y="11010"/>
                </a:lnTo>
                <a:lnTo>
                  <a:pt x="204290" y="11386"/>
                </a:lnTo>
                <a:lnTo>
                  <a:pt x="204739" y="10955"/>
                </a:lnTo>
                <a:lnTo>
                  <a:pt x="205288" y="11066"/>
                </a:lnTo>
                <a:lnTo>
                  <a:pt x="205560" y="9944"/>
                </a:lnTo>
                <a:lnTo>
                  <a:pt x="205079" y="9042"/>
                </a:lnTo>
                <a:lnTo>
                  <a:pt x="205391" y="8304"/>
                </a:lnTo>
                <a:lnTo>
                  <a:pt x="205111" y="7878"/>
                </a:lnTo>
                <a:lnTo>
                  <a:pt x="205250" y="7754"/>
                </a:lnTo>
                <a:lnTo>
                  <a:pt x="206363" y="7404"/>
                </a:lnTo>
                <a:lnTo>
                  <a:pt x="206889" y="8316"/>
                </a:lnTo>
                <a:lnTo>
                  <a:pt x="207438" y="8133"/>
                </a:lnTo>
                <a:lnTo>
                  <a:pt x="207797" y="8390"/>
                </a:lnTo>
                <a:lnTo>
                  <a:pt x="208553" y="7853"/>
                </a:lnTo>
                <a:lnTo>
                  <a:pt x="208771" y="8053"/>
                </a:lnTo>
                <a:lnTo>
                  <a:pt x="209377" y="7183"/>
                </a:lnTo>
                <a:lnTo>
                  <a:pt x="210393" y="7259"/>
                </a:lnTo>
                <a:lnTo>
                  <a:pt x="210459" y="7490"/>
                </a:lnTo>
                <a:lnTo>
                  <a:pt x="211009" y="6900"/>
                </a:lnTo>
                <a:lnTo>
                  <a:pt x="211202" y="7236"/>
                </a:lnTo>
                <a:lnTo>
                  <a:pt x="211587" y="6462"/>
                </a:lnTo>
                <a:lnTo>
                  <a:pt x="211774" y="7142"/>
                </a:lnTo>
                <a:lnTo>
                  <a:pt x="212192" y="6665"/>
                </a:lnTo>
                <a:lnTo>
                  <a:pt x="212805" y="7144"/>
                </a:lnTo>
                <a:lnTo>
                  <a:pt x="213152" y="6807"/>
                </a:lnTo>
                <a:lnTo>
                  <a:pt x="213255" y="5913"/>
                </a:lnTo>
                <a:lnTo>
                  <a:pt x="213936" y="6218"/>
                </a:lnTo>
                <a:lnTo>
                  <a:pt x="213664" y="5760"/>
                </a:lnTo>
                <a:lnTo>
                  <a:pt x="213916" y="5954"/>
                </a:lnTo>
                <a:lnTo>
                  <a:pt x="214190" y="5471"/>
                </a:lnTo>
                <a:lnTo>
                  <a:pt x="214374" y="5594"/>
                </a:lnTo>
                <a:lnTo>
                  <a:pt x="214732" y="5356"/>
                </a:lnTo>
                <a:lnTo>
                  <a:pt x="214850" y="5636"/>
                </a:lnTo>
                <a:lnTo>
                  <a:pt x="215224" y="5603"/>
                </a:lnTo>
                <a:lnTo>
                  <a:pt x="215248" y="5234"/>
                </a:lnTo>
                <a:lnTo>
                  <a:pt x="215607" y="4919"/>
                </a:lnTo>
                <a:lnTo>
                  <a:pt x="216172" y="5012"/>
                </a:lnTo>
                <a:lnTo>
                  <a:pt x="216455" y="5596"/>
                </a:lnTo>
                <a:lnTo>
                  <a:pt x="216941" y="5310"/>
                </a:lnTo>
                <a:lnTo>
                  <a:pt x="217568" y="6158"/>
                </a:lnTo>
                <a:lnTo>
                  <a:pt x="217832" y="5975"/>
                </a:lnTo>
                <a:lnTo>
                  <a:pt x="218106" y="5128"/>
                </a:lnTo>
                <a:lnTo>
                  <a:pt x="218844" y="5442"/>
                </a:lnTo>
                <a:lnTo>
                  <a:pt x="219074" y="5107"/>
                </a:lnTo>
                <a:lnTo>
                  <a:pt x="219522" y="5686"/>
                </a:lnTo>
                <a:lnTo>
                  <a:pt x="219981" y="5460"/>
                </a:lnTo>
                <a:lnTo>
                  <a:pt x="219794" y="6329"/>
                </a:lnTo>
                <a:lnTo>
                  <a:pt x="220592" y="7181"/>
                </a:lnTo>
                <a:lnTo>
                  <a:pt x="220751" y="7072"/>
                </a:lnTo>
                <a:lnTo>
                  <a:pt x="220450" y="6658"/>
                </a:lnTo>
                <a:lnTo>
                  <a:pt x="220884" y="6219"/>
                </a:lnTo>
                <a:lnTo>
                  <a:pt x="221656" y="6063"/>
                </a:lnTo>
                <a:lnTo>
                  <a:pt x="221612" y="5792"/>
                </a:lnTo>
                <a:lnTo>
                  <a:pt x="222653" y="5607"/>
                </a:lnTo>
                <a:lnTo>
                  <a:pt x="222176" y="5381"/>
                </a:lnTo>
                <a:lnTo>
                  <a:pt x="222267" y="4675"/>
                </a:lnTo>
                <a:lnTo>
                  <a:pt x="222715" y="4834"/>
                </a:lnTo>
                <a:lnTo>
                  <a:pt x="223149" y="4452"/>
                </a:lnTo>
                <a:lnTo>
                  <a:pt x="223746" y="5254"/>
                </a:lnTo>
                <a:lnTo>
                  <a:pt x="223753" y="5900"/>
                </a:lnTo>
                <a:lnTo>
                  <a:pt x="224005" y="5990"/>
                </a:lnTo>
                <a:lnTo>
                  <a:pt x="224329" y="5876"/>
                </a:lnTo>
                <a:lnTo>
                  <a:pt x="224240" y="5484"/>
                </a:lnTo>
                <a:lnTo>
                  <a:pt x="224855" y="5616"/>
                </a:lnTo>
                <a:lnTo>
                  <a:pt x="225498" y="4746"/>
                </a:lnTo>
                <a:lnTo>
                  <a:pt x="225856" y="5459"/>
                </a:lnTo>
                <a:lnTo>
                  <a:pt x="226369" y="5535"/>
                </a:lnTo>
                <a:lnTo>
                  <a:pt x="226660" y="5950"/>
                </a:lnTo>
                <a:lnTo>
                  <a:pt x="227163" y="5305"/>
                </a:lnTo>
                <a:lnTo>
                  <a:pt x="227474" y="5479"/>
                </a:lnTo>
                <a:lnTo>
                  <a:pt x="227748" y="4790"/>
                </a:lnTo>
                <a:lnTo>
                  <a:pt x="228896" y="5261"/>
                </a:lnTo>
                <a:lnTo>
                  <a:pt x="229333" y="5715"/>
                </a:lnTo>
                <a:lnTo>
                  <a:pt x="229344" y="6164"/>
                </a:lnTo>
                <a:lnTo>
                  <a:pt x="229515" y="5843"/>
                </a:lnTo>
                <a:lnTo>
                  <a:pt x="230161" y="5682"/>
                </a:lnTo>
                <a:lnTo>
                  <a:pt x="230609" y="6173"/>
                </a:lnTo>
                <a:lnTo>
                  <a:pt x="231031" y="5120"/>
                </a:lnTo>
                <a:lnTo>
                  <a:pt x="231814" y="5148"/>
                </a:lnTo>
                <a:lnTo>
                  <a:pt x="232806" y="5938"/>
                </a:lnTo>
                <a:lnTo>
                  <a:pt x="233306" y="4959"/>
                </a:lnTo>
                <a:lnTo>
                  <a:pt x="234781" y="4716"/>
                </a:lnTo>
                <a:lnTo>
                  <a:pt x="234792" y="4325"/>
                </a:lnTo>
                <a:lnTo>
                  <a:pt x="235117" y="4300"/>
                </a:lnTo>
                <a:lnTo>
                  <a:pt x="235304" y="3870"/>
                </a:lnTo>
                <a:lnTo>
                  <a:pt x="236074" y="4232"/>
                </a:lnTo>
                <a:lnTo>
                  <a:pt x="236198" y="3637"/>
                </a:lnTo>
                <a:lnTo>
                  <a:pt x="236684" y="3165"/>
                </a:lnTo>
                <a:lnTo>
                  <a:pt x="236759" y="2668"/>
                </a:lnTo>
                <a:lnTo>
                  <a:pt x="237075" y="2523"/>
                </a:lnTo>
                <a:lnTo>
                  <a:pt x="237500" y="1493"/>
                </a:lnTo>
                <a:lnTo>
                  <a:pt x="238473" y="1554"/>
                </a:lnTo>
                <a:lnTo>
                  <a:pt x="239008" y="1861"/>
                </a:lnTo>
                <a:lnTo>
                  <a:pt x="239049" y="1255"/>
                </a:lnTo>
                <a:lnTo>
                  <a:pt x="239414" y="1248"/>
                </a:lnTo>
                <a:lnTo>
                  <a:pt x="239656" y="725"/>
                </a:lnTo>
                <a:lnTo>
                  <a:pt x="239962" y="1099"/>
                </a:lnTo>
                <a:lnTo>
                  <a:pt x="240072" y="709"/>
                </a:lnTo>
                <a:lnTo>
                  <a:pt x="240837" y="708"/>
                </a:lnTo>
                <a:lnTo>
                  <a:pt x="240887" y="344"/>
                </a:lnTo>
                <a:lnTo>
                  <a:pt x="241825" y="0"/>
                </a:lnTo>
                <a:lnTo>
                  <a:pt x="241891" y="415"/>
                </a:lnTo>
                <a:lnTo>
                  <a:pt x="243222" y="1242"/>
                </a:lnTo>
                <a:lnTo>
                  <a:pt x="243656" y="1107"/>
                </a:lnTo>
                <a:lnTo>
                  <a:pt x="245041" y="2629"/>
                </a:lnTo>
                <a:lnTo>
                  <a:pt x="246152" y="3240"/>
                </a:lnTo>
                <a:lnTo>
                  <a:pt x="246704" y="4825"/>
                </a:lnTo>
                <a:lnTo>
                  <a:pt x="247578" y="5657"/>
                </a:lnTo>
                <a:lnTo>
                  <a:pt x="247835" y="6243"/>
                </a:lnTo>
                <a:lnTo>
                  <a:pt x="248264" y="6385"/>
                </a:lnTo>
                <a:lnTo>
                  <a:pt x="248422" y="7075"/>
                </a:lnTo>
                <a:lnTo>
                  <a:pt x="249189" y="8041"/>
                </a:lnTo>
                <a:lnTo>
                  <a:pt x="248285" y="9351"/>
                </a:lnTo>
                <a:lnTo>
                  <a:pt x="248323" y="10142"/>
                </a:lnTo>
                <a:lnTo>
                  <a:pt x="248703" y="11079"/>
                </a:lnTo>
                <a:lnTo>
                  <a:pt x="247986" y="11326"/>
                </a:lnTo>
                <a:lnTo>
                  <a:pt x="248098" y="11575"/>
                </a:lnTo>
                <a:lnTo>
                  <a:pt x="247764" y="12335"/>
                </a:lnTo>
                <a:lnTo>
                  <a:pt x="248248" y="12472"/>
                </a:lnTo>
                <a:lnTo>
                  <a:pt x="249415" y="13698"/>
                </a:lnTo>
                <a:lnTo>
                  <a:pt x="249152" y="14352"/>
                </a:lnTo>
                <a:lnTo>
                  <a:pt x="249608" y="15597"/>
                </a:lnTo>
                <a:lnTo>
                  <a:pt x="249076" y="16847"/>
                </a:lnTo>
                <a:lnTo>
                  <a:pt x="251858" y="18619"/>
                </a:lnTo>
                <a:lnTo>
                  <a:pt x="252175" y="19078"/>
                </a:lnTo>
                <a:lnTo>
                  <a:pt x="252107" y="19631"/>
                </a:lnTo>
                <a:lnTo>
                  <a:pt x="252668" y="19855"/>
                </a:lnTo>
                <a:lnTo>
                  <a:pt x="253332" y="19458"/>
                </a:lnTo>
                <a:lnTo>
                  <a:pt x="254614" y="19712"/>
                </a:lnTo>
                <a:lnTo>
                  <a:pt x="256102" y="19106"/>
                </a:lnTo>
                <a:lnTo>
                  <a:pt x="257865" y="20202"/>
                </a:lnTo>
                <a:lnTo>
                  <a:pt x="259555" y="22030"/>
                </a:lnTo>
                <a:lnTo>
                  <a:pt x="260546" y="22120"/>
                </a:lnTo>
                <a:lnTo>
                  <a:pt x="261421" y="21738"/>
                </a:lnTo>
                <a:lnTo>
                  <a:pt x="261847" y="21803"/>
                </a:lnTo>
                <a:lnTo>
                  <a:pt x="262627" y="23205"/>
                </a:lnTo>
                <a:lnTo>
                  <a:pt x="263630" y="23659"/>
                </a:lnTo>
                <a:lnTo>
                  <a:pt x="263700" y="24928"/>
                </a:lnTo>
                <a:lnTo>
                  <a:pt x="264376" y="25468"/>
                </a:lnTo>
                <a:lnTo>
                  <a:pt x="263107" y="26972"/>
                </a:lnTo>
                <a:lnTo>
                  <a:pt x="262616" y="29035"/>
                </a:lnTo>
                <a:lnTo>
                  <a:pt x="262680" y="29491"/>
                </a:lnTo>
                <a:lnTo>
                  <a:pt x="263149" y="29835"/>
                </a:lnTo>
                <a:lnTo>
                  <a:pt x="263039" y="31794"/>
                </a:lnTo>
                <a:lnTo>
                  <a:pt x="263539" y="32645"/>
                </a:lnTo>
                <a:lnTo>
                  <a:pt x="263633" y="33844"/>
                </a:lnTo>
                <a:lnTo>
                  <a:pt x="264990" y="34575"/>
                </a:lnTo>
                <a:lnTo>
                  <a:pt x="265765" y="33985"/>
                </a:lnTo>
                <a:lnTo>
                  <a:pt x="265965" y="33188"/>
                </a:lnTo>
                <a:lnTo>
                  <a:pt x="266654" y="32997"/>
                </a:lnTo>
                <a:lnTo>
                  <a:pt x="266872" y="32586"/>
                </a:lnTo>
                <a:lnTo>
                  <a:pt x="268331" y="32136"/>
                </a:lnTo>
                <a:lnTo>
                  <a:pt x="268509" y="31859"/>
                </a:lnTo>
                <a:lnTo>
                  <a:pt x="269242" y="32110"/>
                </a:lnTo>
                <a:lnTo>
                  <a:pt x="270077" y="32074"/>
                </a:lnTo>
                <a:lnTo>
                  <a:pt x="270858" y="31504"/>
                </a:lnTo>
                <a:lnTo>
                  <a:pt x="272434" y="32320"/>
                </a:lnTo>
                <a:lnTo>
                  <a:pt x="273107" y="34015"/>
                </a:lnTo>
                <a:lnTo>
                  <a:pt x="273123" y="34304"/>
                </a:lnTo>
                <a:lnTo>
                  <a:pt x="274085" y="34687"/>
                </a:lnTo>
                <a:lnTo>
                  <a:pt x="275210" y="34787"/>
                </a:lnTo>
                <a:lnTo>
                  <a:pt x="276041" y="33362"/>
                </a:lnTo>
                <a:lnTo>
                  <a:pt x="277929" y="32244"/>
                </a:lnTo>
                <a:lnTo>
                  <a:pt x="278132" y="32487"/>
                </a:lnTo>
                <a:lnTo>
                  <a:pt x="278798" y="32530"/>
                </a:lnTo>
                <a:lnTo>
                  <a:pt x="279209" y="33160"/>
                </a:lnTo>
                <a:lnTo>
                  <a:pt x="279180" y="34093"/>
                </a:lnTo>
                <a:lnTo>
                  <a:pt x="279994" y="34235"/>
                </a:lnTo>
                <a:lnTo>
                  <a:pt x="281575" y="34988"/>
                </a:lnTo>
                <a:lnTo>
                  <a:pt x="283238" y="36322"/>
                </a:lnTo>
                <a:lnTo>
                  <a:pt x="283422" y="37085"/>
                </a:lnTo>
                <a:lnTo>
                  <a:pt x="282966" y="37121"/>
                </a:lnTo>
                <a:lnTo>
                  <a:pt x="282522" y="36743"/>
                </a:lnTo>
                <a:lnTo>
                  <a:pt x="282038" y="37786"/>
                </a:lnTo>
                <a:lnTo>
                  <a:pt x="281498" y="37794"/>
                </a:lnTo>
                <a:lnTo>
                  <a:pt x="283735" y="38881"/>
                </a:lnTo>
                <a:lnTo>
                  <a:pt x="283876" y="39922"/>
                </a:lnTo>
                <a:lnTo>
                  <a:pt x="282612" y="40260"/>
                </a:lnTo>
                <a:lnTo>
                  <a:pt x="282015" y="39942"/>
                </a:lnTo>
                <a:lnTo>
                  <a:pt x="281715" y="40255"/>
                </a:lnTo>
                <a:lnTo>
                  <a:pt x="281786" y="40697"/>
                </a:lnTo>
                <a:lnTo>
                  <a:pt x="281038" y="40712"/>
                </a:lnTo>
                <a:lnTo>
                  <a:pt x="279902" y="41189"/>
                </a:lnTo>
                <a:lnTo>
                  <a:pt x="280206" y="41915"/>
                </a:lnTo>
                <a:lnTo>
                  <a:pt x="281175" y="42476"/>
                </a:lnTo>
                <a:lnTo>
                  <a:pt x="281770" y="42502"/>
                </a:lnTo>
                <a:lnTo>
                  <a:pt x="282433" y="42195"/>
                </a:lnTo>
                <a:lnTo>
                  <a:pt x="282130" y="43056"/>
                </a:lnTo>
                <a:lnTo>
                  <a:pt x="283309" y="43344"/>
                </a:lnTo>
                <a:lnTo>
                  <a:pt x="283166" y="43675"/>
                </a:lnTo>
                <a:lnTo>
                  <a:pt x="283633" y="43927"/>
                </a:lnTo>
                <a:lnTo>
                  <a:pt x="283228" y="44786"/>
                </a:lnTo>
                <a:lnTo>
                  <a:pt x="283492" y="45946"/>
                </a:lnTo>
                <a:lnTo>
                  <a:pt x="283024" y="46289"/>
                </a:lnTo>
                <a:lnTo>
                  <a:pt x="283244" y="46828"/>
                </a:lnTo>
                <a:lnTo>
                  <a:pt x="283915" y="47338"/>
                </a:lnTo>
                <a:lnTo>
                  <a:pt x="284191" y="48043"/>
                </a:lnTo>
                <a:lnTo>
                  <a:pt x="284045" y="48324"/>
                </a:lnTo>
                <a:lnTo>
                  <a:pt x="283239" y="48086"/>
                </a:lnTo>
                <a:lnTo>
                  <a:pt x="282755" y="48268"/>
                </a:lnTo>
                <a:lnTo>
                  <a:pt x="282927" y="48544"/>
                </a:lnTo>
                <a:lnTo>
                  <a:pt x="282185" y="49010"/>
                </a:lnTo>
                <a:lnTo>
                  <a:pt x="282219" y="49464"/>
                </a:lnTo>
                <a:lnTo>
                  <a:pt x="283445" y="50584"/>
                </a:lnTo>
                <a:lnTo>
                  <a:pt x="284180" y="50423"/>
                </a:lnTo>
                <a:lnTo>
                  <a:pt x="284823" y="50734"/>
                </a:lnTo>
                <a:lnTo>
                  <a:pt x="285410" y="50620"/>
                </a:lnTo>
                <a:lnTo>
                  <a:pt x="285244" y="50829"/>
                </a:lnTo>
                <a:lnTo>
                  <a:pt x="285522" y="51033"/>
                </a:lnTo>
                <a:lnTo>
                  <a:pt x="284666" y="51917"/>
                </a:lnTo>
                <a:lnTo>
                  <a:pt x="285232" y="52649"/>
                </a:lnTo>
                <a:lnTo>
                  <a:pt x="285660" y="52837"/>
                </a:lnTo>
                <a:lnTo>
                  <a:pt x="285428" y="53214"/>
                </a:lnTo>
                <a:lnTo>
                  <a:pt x="285586" y="53646"/>
                </a:lnTo>
                <a:lnTo>
                  <a:pt x="287061" y="54382"/>
                </a:lnTo>
                <a:lnTo>
                  <a:pt x="287098" y="56487"/>
                </a:lnTo>
                <a:lnTo>
                  <a:pt x="286750" y="56971"/>
                </a:lnTo>
                <a:lnTo>
                  <a:pt x="287794" y="58285"/>
                </a:lnTo>
                <a:lnTo>
                  <a:pt x="288709" y="58494"/>
                </a:lnTo>
                <a:lnTo>
                  <a:pt x="289342" y="58269"/>
                </a:lnTo>
                <a:lnTo>
                  <a:pt x="289882" y="56785"/>
                </a:lnTo>
                <a:lnTo>
                  <a:pt x="291247" y="56393"/>
                </a:lnTo>
                <a:lnTo>
                  <a:pt x="291555" y="55594"/>
                </a:lnTo>
                <a:lnTo>
                  <a:pt x="292512" y="55582"/>
                </a:lnTo>
                <a:lnTo>
                  <a:pt x="292719" y="55106"/>
                </a:lnTo>
                <a:lnTo>
                  <a:pt x="292253" y="54421"/>
                </a:lnTo>
                <a:lnTo>
                  <a:pt x="292476" y="53917"/>
                </a:lnTo>
                <a:lnTo>
                  <a:pt x="292292" y="53691"/>
                </a:lnTo>
                <a:lnTo>
                  <a:pt x="292589" y="53598"/>
                </a:lnTo>
                <a:lnTo>
                  <a:pt x="292430" y="53443"/>
                </a:lnTo>
                <a:lnTo>
                  <a:pt x="292622" y="53291"/>
                </a:lnTo>
                <a:lnTo>
                  <a:pt x="293603" y="53068"/>
                </a:lnTo>
                <a:lnTo>
                  <a:pt x="295034" y="54119"/>
                </a:lnTo>
                <a:lnTo>
                  <a:pt x="294972" y="55809"/>
                </a:lnTo>
                <a:lnTo>
                  <a:pt x="296199" y="57047"/>
                </a:lnTo>
                <a:lnTo>
                  <a:pt x="296359" y="57450"/>
                </a:lnTo>
                <a:lnTo>
                  <a:pt x="296218" y="58002"/>
                </a:lnTo>
                <a:lnTo>
                  <a:pt x="296653" y="58648"/>
                </a:lnTo>
                <a:lnTo>
                  <a:pt x="297754" y="58536"/>
                </a:lnTo>
                <a:lnTo>
                  <a:pt x="299049" y="59292"/>
                </a:lnTo>
                <a:lnTo>
                  <a:pt x="299341" y="58935"/>
                </a:lnTo>
                <a:lnTo>
                  <a:pt x="299914" y="58867"/>
                </a:lnTo>
                <a:lnTo>
                  <a:pt x="300967" y="59366"/>
                </a:lnTo>
                <a:lnTo>
                  <a:pt x="301933" y="59325"/>
                </a:lnTo>
                <a:lnTo>
                  <a:pt x="301123" y="60057"/>
                </a:lnTo>
                <a:lnTo>
                  <a:pt x="301790" y="61040"/>
                </a:lnTo>
                <a:lnTo>
                  <a:pt x="301221" y="62116"/>
                </a:lnTo>
                <a:lnTo>
                  <a:pt x="301260" y="62539"/>
                </a:lnTo>
                <a:lnTo>
                  <a:pt x="301973" y="62844"/>
                </a:lnTo>
                <a:lnTo>
                  <a:pt x="302966" y="62300"/>
                </a:lnTo>
                <a:lnTo>
                  <a:pt x="303480" y="62593"/>
                </a:lnTo>
                <a:lnTo>
                  <a:pt x="304081" y="62480"/>
                </a:lnTo>
                <a:lnTo>
                  <a:pt x="304095" y="62796"/>
                </a:lnTo>
                <a:lnTo>
                  <a:pt x="304933" y="63422"/>
                </a:lnTo>
                <a:lnTo>
                  <a:pt x="305163" y="64406"/>
                </a:lnTo>
                <a:lnTo>
                  <a:pt x="306183" y="64633"/>
                </a:lnTo>
                <a:lnTo>
                  <a:pt x="306585" y="65295"/>
                </a:lnTo>
                <a:lnTo>
                  <a:pt x="308767" y="67140"/>
                </a:lnTo>
                <a:lnTo>
                  <a:pt x="309286" y="68003"/>
                </a:lnTo>
                <a:lnTo>
                  <a:pt x="309008" y="68092"/>
                </a:lnTo>
                <a:lnTo>
                  <a:pt x="308676" y="67846"/>
                </a:lnTo>
                <a:lnTo>
                  <a:pt x="308235" y="68194"/>
                </a:lnTo>
                <a:lnTo>
                  <a:pt x="308347" y="69829"/>
                </a:lnTo>
                <a:lnTo>
                  <a:pt x="309649" y="70667"/>
                </a:lnTo>
                <a:lnTo>
                  <a:pt x="310225" y="70464"/>
                </a:lnTo>
                <a:lnTo>
                  <a:pt x="310279" y="70073"/>
                </a:lnTo>
                <a:lnTo>
                  <a:pt x="310712" y="70148"/>
                </a:lnTo>
                <a:lnTo>
                  <a:pt x="311061" y="70659"/>
                </a:lnTo>
                <a:lnTo>
                  <a:pt x="312245" y="71204"/>
                </a:lnTo>
                <a:lnTo>
                  <a:pt x="311881" y="71500"/>
                </a:lnTo>
                <a:lnTo>
                  <a:pt x="312389" y="71606"/>
                </a:lnTo>
                <a:lnTo>
                  <a:pt x="312611" y="72822"/>
                </a:lnTo>
                <a:lnTo>
                  <a:pt x="313248" y="73764"/>
                </a:lnTo>
                <a:lnTo>
                  <a:pt x="314366" y="73625"/>
                </a:lnTo>
                <a:lnTo>
                  <a:pt x="316010" y="73894"/>
                </a:lnTo>
                <a:lnTo>
                  <a:pt x="317022" y="75582"/>
                </a:lnTo>
                <a:lnTo>
                  <a:pt x="319373" y="76023"/>
                </a:lnTo>
                <a:lnTo>
                  <a:pt x="320322" y="77205"/>
                </a:lnTo>
                <a:lnTo>
                  <a:pt x="321243" y="77845"/>
                </a:lnTo>
                <a:lnTo>
                  <a:pt x="321507" y="78694"/>
                </a:lnTo>
                <a:lnTo>
                  <a:pt x="321155" y="79290"/>
                </a:lnTo>
                <a:lnTo>
                  <a:pt x="320573" y="79656"/>
                </a:lnTo>
                <a:lnTo>
                  <a:pt x="320909" y="80253"/>
                </a:lnTo>
                <a:lnTo>
                  <a:pt x="320635" y="81134"/>
                </a:lnTo>
                <a:lnTo>
                  <a:pt x="321108" y="81552"/>
                </a:lnTo>
                <a:lnTo>
                  <a:pt x="322608" y="81744"/>
                </a:lnTo>
                <a:lnTo>
                  <a:pt x="323135" y="82994"/>
                </a:lnTo>
                <a:lnTo>
                  <a:pt x="322847" y="84022"/>
                </a:lnTo>
                <a:lnTo>
                  <a:pt x="324512" y="85722"/>
                </a:lnTo>
                <a:lnTo>
                  <a:pt x="324716" y="86229"/>
                </a:lnTo>
                <a:lnTo>
                  <a:pt x="326323" y="87311"/>
                </a:lnTo>
                <a:lnTo>
                  <a:pt x="326597" y="88520"/>
                </a:lnTo>
                <a:lnTo>
                  <a:pt x="327163" y="88724"/>
                </a:lnTo>
                <a:lnTo>
                  <a:pt x="327511" y="88548"/>
                </a:lnTo>
                <a:lnTo>
                  <a:pt x="327832" y="87922"/>
                </a:lnTo>
                <a:lnTo>
                  <a:pt x="328740" y="87219"/>
                </a:lnTo>
                <a:lnTo>
                  <a:pt x="329523" y="87003"/>
                </a:lnTo>
                <a:lnTo>
                  <a:pt x="330246" y="86356"/>
                </a:lnTo>
                <a:lnTo>
                  <a:pt x="334348" y="86673"/>
                </a:lnTo>
                <a:lnTo>
                  <a:pt x="335006" y="87143"/>
                </a:lnTo>
                <a:lnTo>
                  <a:pt x="335280" y="88183"/>
                </a:lnTo>
                <a:lnTo>
                  <a:pt x="336790" y="90157"/>
                </a:lnTo>
                <a:lnTo>
                  <a:pt x="336852" y="90836"/>
                </a:lnTo>
                <a:lnTo>
                  <a:pt x="337330" y="90912"/>
                </a:lnTo>
                <a:lnTo>
                  <a:pt x="338536" y="91827"/>
                </a:lnTo>
                <a:lnTo>
                  <a:pt x="338629" y="92275"/>
                </a:lnTo>
                <a:lnTo>
                  <a:pt x="340121" y="93837"/>
                </a:lnTo>
                <a:lnTo>
                  <a:pt x="340034" y="94185"/>
                </a:lnTo>
                <a:lnTo>
                  <a:pt x="341065" y="95435"/>
                </a:lnTo>
                <a:lnTo>
                  <a:pt x="340814" y="95905"/>
                </a:lnTo>
                <a:lnTo>
                  <a:pt x="341122" y="96599"/>
                </a:lnTo>
                <a:lnTo>
                  <a:pt x="340601" y="96969"/>
                </a:lnTo>
                <a:lnTo>
                  <a:pt x="340247" y="97738"/>
                </a:lnTo>
                <a:lnTo>
                  <a:pt x="340469" y="98624"/>
                </a:lnTo>
                <a:lnTo>
                  <a:pt x="339838" y="98749"/>
                </a:lnTo>
                <a:lnTo>
                  <a:pt x="339106" y="99549"/>
                </a:lnTo>
                <a:lnTo>
                  <a:pt x="339740" y="101094"/>
                </a:lnTo>
                <a:lnTo>
                  <a:pt x="339446" y="101457"/>
                </a:lnTo>
                <a:lnTo>
                  <a:pt x="339461" y="102917"/>
                </a:lnTo>
                <a:lnTo>
                  <a:pt x="338970" y="103543"/>
                </a:lnTo>
                <a:lnTo>
                  <a:pt x="338998" y="105164"/>
                </a:lnTo>
                <a:lnTo>
                  <a:pt x="340427" y="106434"/>
                </a:lnTo>
                <a:lnTo>
                  <a:pt x="340713" y="107630"/>
                </a:lnTo>
                <a:lnTo>
                  <a:pt x="341524" y="108165"/>
                </a:lnTo>
                <a:lnTo>
                  <a:pt x="342293" y="108210"/>
                </a:lnTo>
                <a:lnTo>
                  <a:pt x="344195" y="107658"/>
                </a:lnTo>
                <a:lnTo>
                  <a:pt x="345173" y="108247"/>
                </a:lnTo>
                <a:lnTo>
                  <a:pt x="347015" y="108861"/>
                </a:lnTo>
                <a:lnTo>
                  <a:pt x="348070" y="109598"/>
                </a:lnTo>
                <a:lnTo>
                  <a:pt x="348780" y="111098"/>
                </a:lnTo>
                <a:lnTo>
                  <a:pt x="348094" y="111190"/>
                </a:lnTo>
                <a:lnTo>
                  <a:pt x="347758" y="112310"/>
                </a:lnTo>
                <a:lnTo>
                  <a:pt x="348953" y="112857"/>
                </a:lnTo>
                <a:lnTo>
                  <a:pt x="349346" y="113713"/>
                </a:lnTo>
                <a:lnTo>
                  <a:pt x="349837" y="113979"/>
                </a:lnTo>
                <a:lnTo>
                  <a:pt x="350397" y="115882"/>
                </a:lnTo>
                <a:lnTo>
                  <a:pt x="349904" y="116313"/>
                </a:lnTo>
                <a:lnTo>
                  <a:pt x="349318" y="116225"/>
                </a:lnTo>
                <a:lnTo>
                  <a:pt x="349250" y="117210"/>
                </a:lnTo>
                <a:lnTo>
                  <a:pt x="349588" y="117563"/>
                </a:lnTo>
                <a:lnTo>
                  <a:pt x="350417" y="117618"/>
                </a:lnTo>
                <a:lnTo>
                  <a:pt x="351576" y="118130"/>
                </a:lnTo>
                <a:lnTo>
                  <a:pt x="352309" y="119261"/>
                </a:lnTo>
                <a:lnTo>
                  <a:pt x="352165" y="120905"/>
                </a:lnTo>
                <a:lnTo>
                  <a:pt x="351532" y="120868"/>
                </a:lnTo>
                <a:lnTo>
                  <a:pt x="351686" y="121918"/>
                </a:lnTo>
                <a:lnTo>
                  <a:pt x="352122" y="122429"/>
                </a:lnTo>
                <a:lnTo>
                  <a:pt x="352171" y="123270"/>
                </a:lnTo>
                <a:lnTo>
                  <a:pt x="352577" y="124044"/>
                </a:lnTo>
                <a:lnTo>
                  <a:pt x="352485" y="124444"/>
                </a:lnTo>
                <a:lnTo>
                  <a:pt x="351978" y="124848"/>
                </a:lnTo>
                <a:lnTo>
                  <a:pt x="352028" y="125523"/>
                </a:lnTo>
                <a:lnTo>
                  <a:pt x="351803" y="125777"/>
                </a:lnTo>
                <a:lnTo>
                  <a:pt x="352392" y="126219"/>
                </a:lnTo>
                <a:lnTo>
                  <a:pt x="352247" y="126653"/>
                </a:lnTo>
                <a:lnTo>
                  <a:pt x="353027" y="126967"/>
                </a:lnTo>
                <a:lnTo>
                  <a:pt x="353212" y="127724"/>
                </a:lnTo>
                <a:lnTo>
                  <a:pt x="353660" y="127769"/>
                </a:lnTo>
                <a:lnTo>
                  <a:pt x="353689" y="129142"/>
                </a:lnTo>
                <a:lnTo>
                  <a:pt x="354144" y="130314"/>
                </a:lnTo>
                <a:lnTo>
                  <a:pt x="354099" y="131129"/>
                </a:lnTo>
                <a:lnTo>
                  <a:pt x="352015" y="131837"/>
                </a:lnTo>
                <a:lnTo>
                  <a:pt x="352264" y="132743"/>
                </a:lnTo>
                <a:lnTo>
                  <a:pt x="351977" y="133796"/>
                </a:lnTo>
                <a:lnTo>
                  <a:pt x="352359" y="134974"/>
                </a:lnTo>
                <a:lnTo>
                  <a:pt x="352965" y="135580"/>
                </a:lnTo>
                <a:lnTo>
                  <a:pt x="352859" y="136057"/>
                </a:lnTo>
                <a:lnTo>
                  <a:pt x="352535" y="136238"/>
                </a:lnTo>
                <a:lnTo>
                  <a:pt x="352640" y="136869"/>
                </a:lnTo>
                <a:lnTo>
                  <a:pt x="351044" y="138432"/>
                </a:lnTo>
                <a:lnTo>
                  <a:pt x="351117" y="139818"/>
                </a:lnTo>
                <a:lnTo>
                  <a:pt x="350903" y="140089"/>
                </a:lnTo>
                <a:lnTo>
                  <a:pt x="348540" y="140103"/>
                </a:lnTo>
                <a:lnTo>
                  <a:pt x="348338" y="141668"/>
                </a:lnTo>
                <a:lnTo>
                  <a:pt x="348880" y="142982"/>
                </a:lnTo>
                <a:lnTo>
                  <a:pt x="348482" y="143382"/>
                </a:lnTo>
                <a:lnTo>
                  <a:pt x="347108" y="143418"/>
                </a:lnTo>
                <a:lnTo>
                  <a:pt x="346532" y="143978"/>
                </a:lnTo>
                <a:lnTo>
                  <a:pt x="345844" y="145447"/>
                </a:lnTo>
                <a:lnTo>
                  <a:pt x="345766" y="146133"/>
                </a:lnTo>
                <a:lnTo>
                  <a:pt x="345425" y="146435"/>
                </a:lnTo>
                <a:lnTo>
                  <a:pt x="345913" y="147891"/>
                </a:lnTo>
                <a:lnTo>
                  <a:pt x="345415" y="147978"/>
                </a:lnTo>
                <a:lnTo>
                  <a:pt x="345473" y="148297"/>
                </a:lnTo>
                <a:lnTo>
                  <a:pt x="345027" y="148301"/>
                </a:lnTo>
                <a:lnTo>
                  <a:pt x="344459" y="148957"/>
                </a:lnTo>
                <a:lnTo>
                  <a:pt x="343727" y="149024"/>
                </a:lnTo>
                <a:lnTo>
                  <a:pt x="343563" y="149658"/>
                </a:lnTo>
                <a:lnTo>
                  <a:pt x="342945" y="149737"/>
                </a:lnTo>
                <a:lnTo>
                  <a:pt x="342511" y="149362"/>
                </a:lnTo>
                <a:lnTo>
                  <a:pt x="342059" y="149461"/>
                </a:lnTo>
                <a:lnTo>
                  <a:pt x="341428" y="150820"/>
                </a:lnTo>
                <a:lnTo>
                  <a:pt x="340676" y="150901"/>
                </a:lnTo>
                <a:lnTo>
                  <a:pt x="340149" y="151336"/>
                </a:lnTo>
                <a:lnTo>
                  <a:pt x="339946" y="151915"/>
                </a:lnTo>
                <a:lnTo>
                  <a:pt x="337492" y="151007"/>
                </a:lnTo>
                <a:lnTo>
                  <a:pt x="336675" y="151509"/>
                </a:lnTo>
                <a:lnTo>
                  <a:pt x="336516" y="152121"/>
                </a:lnTo>
                <a:lnTo>
                  <a:pt x="334845" y="151817"/>
                </a:lnTo>
                <a:lnTo>
                  <a:pt x="334536" y="152381"/>
                </a:lnTo>
                <a:lnTo>
                  <a:pt x="333858" y="152604"/>
                </a:lnTo>
                <a:lnTo>
                  <a:pt x="333629" y="152964"/>
                </a:lnTo>
                <a:lnTo>
                  <a:pt x="334169" y="154461"/>
                </a:lnTo>
                <a:lnTo>
                  <a:pt x="333040" y="154618"/>
                </a:lnTo>
                <a:lnTo>
                  <a:pt x="332165" y="154289"/>
                </a:lnTo>
                <a:lnTo>
                  <a:pt x="331793" y="153715"/>
                </a:lnTo>
                <a:lnTo>
                  <a:pt x="330813" y="154254"/>
                </a:lnTo>
                <a:lnTo>
                  <a:pt x="330247" y="154269"/>
                </a:lnTo>
                <a:lnTo>
                  <a:pt x="329756" y="154829"/>
                </a:lnTo>
                <a:lnTo>
                  <a:pt x="329943" y="155441"/>
                </a:lnTo>
                <a:lnTo>
                  <a:pt x="331235" y="157093"/>
                </a:lnTo>
                <a:lnTo>
                  <a:pt x="331325" y="158152"/>
                </a:lnTo>
                <a:lnTo>
                  <a:pt x="331592" y="158244"/>
                </a:lnTo>
                <a:lnTo>
                  <a:pt x="331295" y="159347"/>
                </a:lnTo>
                <a:lnTo>
                  <a:pt x="330493" y="159674"/>
                </a:lnTo>
                <a:lnTo>
                  <a:pt x="329580" y="159313"/>
                </a:lnTo>
                <a:lnTo>
                  <a:pt x="330123" y="160179"/>
                </a:lnTo>
                <a:lnTo>
                  <a:pt x="330951" y="160844"/>
                </a:lnTo>
                <a:lnTo>
                  <a:pt x="331473" y="162099"/>
                </a:lnTo>
                <a:lnTo>
                  <a:pt x="332311" y="162667"/>
                </a:lnTo>
                <a:lnTo>
                  <a:pt x="332208" y="164132"/>
                </a:lnTo>
                <a:lnTo>
                  <a:pt x="331358" y="164699"/>
                </a:lnTo>
                <a:lnTo>
                  <a:pt x="331143" y="165490"/>
                </a:lnTo>
                <a:lnTo>
                  <a:pt x="332436" y="166236"/>
                </a:lnTo>
                <a:lnTo>
                  <a:pt x="332656" y="166909"/>
                </a:lnTo>
                <a:lnTo>
                  <a:pt x="333234" y="167034"/>
                </a:lnTo>
                <a:lnTo>
                  <a:pt x="333319" y="167521"/>
                </a:lnTo>
                <a:lnTo>
                  <a:pt x="333722" y="167691"/>
                </a:lnTo>
                <a:lnTo>
                  <a:pt x="333857" y="168159"/>
                </a:lnTo>
                <a:lnTo>
                  <a:pt x="333010" y="170045"/>
                </a:lnTo>
                <a:lnTo>
                  <a:pt x="332509" y="170314"/>
                </a:lnTo>
                <a:lnTo>
                  <a:pt x="331536" y="170512"/>
                </a:lnTo>
                <a:lnTo>
                  <a:pt x="330866" y="170258"/>
                </a:lnTo>
                <a:lnTo>
                  <a:pt x="329784" y="170587"/>
                </a:lnTo>
                <a:lnTo>
                  <a:pt x="328009" y="170372"/>
                </a:lnTo>
                <a:lnTo>
                  <a:pt x="328042" y="171287"/>
                </a:lnTo>
                <a:lnTo>
                  <a:pt x="328970" y="173107"/>
                </a:lnTo>
                <a:lnTo>
                  <a:pt x="329010" y="174431"/>
                </a:lnTo>
                <a:lnTo>
                  <a:pt x="328685" y="175148"/>
                </a:lnTo>
                <a:lnTo>
                  <a:pt x="328859" y="175668"/>
                </a:lnTo>
                <a:lnTo>
                  <a:pt x="327426" y="176459"/>
                </a:lnTo>
                <a:lnTo>
                  <a:pt x="328029" y="177509"/>
                </a:lnTo>
                <a:lnTo>
                  <a:pt x="327242" y="179968"/>
                </a:lnTo>
                <a:lnTo>
                  <a:pt x="326514" y="180282"/>
                </a:lnTo>
                <a:lnTo>
                  <a:pt x="325328" y="179930"/>
                </a:lnTo>
                <a:lnTo>
                  <a:pt x="324723" y="179262"/>
                </a:lnTo>
                <a:lnTo>
                  <a:pt x="323347" y="179728"/>
                </a:lnTo>
                <a:lnTo>
                  <a:pt x="321187" y="179708"/>
                </a:lnTo>
                <a:lnTo>
                  <a:pt x="320444" y="179218"/>
                </a:lnTo>
                <a:lnTo>
                  <a:pt x="319753" y="179734"/>
                </a:lnTo>
                <a:lnTo>
                  <a:pt x="319626" y="180321"/>
                </a:lnTo>
                <a:lnTo>
                  <a:pt x="319260" y="180073"/>
                </a:lnTo>
                <a:lnTo>
                  <a:pt x="318516" y="180524"/>
                </a:lnTo>
                <a:lnTo>
                  <a:pt x="317951" y="180413"/>
                </a:lnTo>
                <a:lnTo>
                  <a:pt x="317388" y="181641"/>
                </a:lnTo>
                <a:lnTo>
                  <a:pt x="316952" y="181648"/>
                </a:lnTo>
                <a:lnTo>
                  <a:pt x="316520" y="182401"/>
                </a:lnTo>
                <a:lnTo>
                  <a:pt x="315308" y="182373"/>
                </a:lnTo>
                <a:lnTo>
                  <a:pt x="313937" y="184119"/>
                </a:lnTo>
                <a:lnTo>
                  <a:pt x="313480" y="184230"/>
                </a:lnTo>
                <a:lnTo>
                  <a:pt x="312756" y="183642"/>
                </a:lnTo>
                <a:lnTo>
                  <a:pt x="312098" y="184913"/>
                </a:lnTo>
                <a:lnTo>
                  <a:pt x="311115" y="185376"/>
                </a:lnTo>
                <a:lnTo>
                  <a:pt x="309842" y="184990"/>
                </a:lnTo>
                <a:lnTo>
                  <a:pt x="309352" y="185913"/>
                </a:lnTo>
                <a:lnTo>
                  <a:pt x="309868" y="186948"/>
                </a:lnTo>
                <a:lnTo>
                  <a:pt x="309565" y="187326"/>
                </a:lnTo>
                <a:lnTo>
                  <a:pt x="309727" y="187546"/>
                </a:lnTo>
                <a:lnTo>
                  <a:pt x="309626" y="188367"/>
                </a:lnTo>
                <a:lnTo>
                  <a:pt x="309148" y="189061"/>
                </a:lnTo>
                <a:lnTo>
                  <a:pt x="309350" y="189918"/>
                </a:lnTo>
                <a:lnTo>
                  <a:pt x="307896" y="190151"/>
                </a:lnTo>
                <a:lnTo>
                  <a:pt x="307711" y="190759"/>
                </a:lnTo>
                <a:lnTo>
                  <a:pt x="307259" y="190959"/>
                </a:lnTo>
                <a:lnTo>
                  <a:pt x="307068" y="191427"/>
                </a:lnTo>
                <a:lnTo>
                  <a:pt x="307879" y="194301"/>
                </a:lnTo>
                <a:lnTo>
                  <a:pt x="307489" y="194459"/>
                </a:lnTo>
                <a:lnTo>
                  <a:pt x="307611" y="194837"/>
                </a:lnTo>
                <a:lnTo>
                  <a:pt x="307124" y="195071"/>
                </a:lnTo>
                <a:lnTo>
                  <a:pt x="307038" y="195488"/>
                </a:lnTo>
                <a:lnTo>
                  <a:pt x="305600" y="195127"/>
                </a:lnTo>
                <a:lnTo>
                  <a:pt x="305550" y="195920"/>
                </a:lnTo>
                <a:lnTo>
                  <a:pt x="305830" y="196682"/>
                </a:lnTo>
                <a:lnTo>
                  <a:pt x="306216" y="197003"/>
                </a:lnTo>
                <a:lnTo>
                  <a:pt x="306057" y="198445"/>
                </a:lnTo>
                <a:lnTo>
                  <a:pt x="305163" y="198759"/>
                </a:lnTo>
                <a:lnTo>
                  <a:pt x="305280" y="199402"/>
                </a:lnTo>
                <a:lnTo>
                  <a:pt x="304379" y="199250"/>
                </a:lnTo>
                <a:lnTo>
                  <a:pt x="303653" y="199734"/>
                </a:lnTo>
                <a:lnTo>
                  <a:pt x="304698" y="200732"/>
                </a:lnTo>
                <a:lnTo>
                  <a:pt x="304442" y="201277"/>
                </a:lnTo>
                <a:lnTo>
                  <a:pt x="304355" y="203374"/>
                </a:lnTo>
                <a:lnTo>
                  <a:pt x="303685" y="204327"/>
                </a:lnTo>
                <a:lnTo>
                  <a:pt x="303429" y="206325"/>
                </a:lnTo>
                <a:lnTo>
                  <a:pt x="303904" y="207159"/>
                </a:lnTo>
                <a:lnTo>
                  <a:pt x="304658" y="207607"/>
                </a:lnTo>
                <a:lnTo>
                  <a:pt x="304194" y="208263"/>
                </a:lnTo>
                <a:lnTo>
                  <a:pt x="304459" y="209429"/>
                </a:lnTo>
                <a:lnTo>
                  <a:pt x="304027" y="210360"/>
                </a:lnTo>
                <a:lnTo>
                  <a:pt x="302506" y="210597"/>
                </a:lnTo>
                <a:lnTo>
                  <a:pt x="301795" y="211903"/>
                </a:lnTo>
                <a:lnTo>
                  <a:pt x="301266" y="212325"/>
                </a:lnTo>
                <a:lnTo>
                  <a:pt x="300234" y="212446"/>
                </a:lnTo>
                <a:lnTo>
                  <a:pt x="299961" y="212739"/>
                </a:lnTo>
                <a:lnTo>
                  <a:pt x="300157" y="213285"/>
                </a:lnTo>
                <a:lnTo>
                  <a:pt x="300964" y="213528"/>
                </a:lnTo>
                <a:lnTo>
                  <a:pt x="301470" y="214000"/>
                </a:lnTo>
                <a:lnTo>
                  <a:pt x="302041" y="213911"/>
                </a:lnTo>
                <a:lnTo>
                  <a:pt x="304290" y="215036"/>
                </a:lnTo>
                <a:lnTo>
                  <a:pt x="305286" y="215264"/>
                </a:lnTo>
                <a:lnTo>
                  <a:pt x="305349" y="215813"/>
                </a:lnTo>
                <a:lnTo>
                  <a:pt x="306197" y="216489"/>
                </a:lnTo>
                <a:lnTo>
                  <a:pt x="305553" y="217584"/>
                </a:lnTo>
                <a:lnTo>
                  <a:pt x="305571" y="217936"/>
                </a:lnTo>
                <a:lnTo>
                  <a:pt x="306203" y="218246"/>
                </a:lnTo>
                <a:lnTo>
                  <a:pt x="306604" y="219095"/>
                </a:lnTo>
                <a:lnTo>
                  <a:pt x="307383" y="219296"/>
                </a:lnTo>
                <a:lnTo>
                  <a:pt x="308277" y="218960"/>
                </a:lnTo>
                <a:lnTo>
                  <a:pt x="308617" y="219147"/>
                </a:lnTo>
                <a:lnTo>
                  <a:pt x="308484" y="219797"/>
                </a:lnTo>
                <a:lnTo>
                  <a:pt x="308666" y="220627"/>
                </a:lnTo>
                <a:lnTo>
                  <a:pt x="308267" y="221069"/>
                </a:lnTo>
                <a:lnTo>
                  <a:pt x="308316" y="222318"/>
                </a:lnTo>
                <a:lnTo>
                  <a:pt x="307816" y="222780"/>
                </a:lnTo>
                <a:lnTo>
                  <a:pt x="309238" y="223831"/>
                </a:lnTo>
                <a:lnTo>
                  <a:pt x="309389" y="224504"/>
                </a:lnTo>
                <a:lnTo>
                  <a:pt x="308285" y="225340"/>
                </a:lnTo>
                <a:lnTo>
                  <a:pt x="307693" y="225411"/>
                </a:lnTo>
                <a:lnTo>
                  <a:pt x="307294" y="226043"/>
                </a:lnTo>
                <a:lnTo>
                  <a:pt x="306317" y="225868"/>
                </a:lnTo>
                <a:lnTo>
                  <a:pt x="304713" y="226528"/>
                </a:lnTo>
                <a:lnTo>
                  <a:pt x="302987" y="226609"/>
                </a:lnTo>
                <a:lnTo>
                  <a:pt x="302480" y="227066"/>
                </a:lnTo>
                <a:lnTo>
                  <a:pt x="301969" y="227058"/>
                </a:lnTo>
                <a:lnTo>
                  <a:pt x="301419" y="227670"/>
                </a:lnTo>
                <a:lnTo>
                  <a:pt x="300909" y="227447"/>
                </a:lnTo>
                <a:lnTo>
                  <a:pt x="300561" y="227648"/>
                </a:lnTo>
                <a:lnTo>
                  <a:pt x="300543" y="228527"/>
                </a:lnTo>
                <a:lnTo>
                  <a:pt x="300154" y="228849"/>
                </a:lnTo>
                <a:lnTo>
                  <a:pt x="299808" y="230562"/>
                </a:lnTo>
                <a:lnTo>
                  <a:pt x="299507" y="230938"/>
                </a:lnTo>
                <a:lnTo>
                  <a:pt x="299724" y="231278"/>
                </a:lnTo>
                <a:lnTo>
                  <a:pt x="299629" y="232575"/>
                </a:lnTo>
                <a:lnTo>
                  <a:pt x="296851" y="230180"/>
                </a:lnTo>
                <a:lnTo>
                  <a:pt x="294338" y="233280"/>
                </a:lnTo>
                <a:lnTo>
                  <a:pt x="291961" y="234823"/>
                </a:lnTo>
                <a:lnTo>
                  <a:pt x="291052" y="234785"/>
                </a:lnTo>
                <a:lnTo>
                  <a:pt x="290630" y="235243"/>
                </a:lnTo>
                <a:lnTo>
                  <a:pt x="290198" y="235085"/>
                </a:lnTo>
                <a:lnTo>
                  <a:pt x="289501" y="235373"/>
                </a:lnTo>
                <a:lnTo>
                  <a:pt x="289248" y="235630"/>
                </a:lnTo>
                <a:lnTo>
                  <a:pt x="289392" y="236399"/>
                </a:lnTo>
                <a:lnTo>
                  <a:pt x="288864" y="237199"/>
                </a:lnTo>
                <a:lnTo>
                  <a:pt x="288043" y="237506"/>
                </a:lnTo>
                <a:lnTo>
                  <a:pt x="287470" y="237073"/>
                </a:lnTo>
                <a:lnTo>
                  <a:pt x="286653" y="237882"/>
                </a:lnTo>
                <a:lnTo>
                  <a:pt x="286030" y="238346"/>
                </a:lnTo>
                <a:lnTo>
                  <a:pt x="285123" y="238362"/>
                </a:lnTo>
                <a:lnTo>
                  <a:pt x="284090" y="239424"/>
                </a:lnTo>
                <a:lnTo>
                  <a:pt x="283106" y="240797"/>
                </a:lnTo>
                <a:lnTo>
                  <a:pt x="282976" y="241992"/>
                </a:lnTo>
                <a:lnTo>
                  <a:pt x="282305" y="242595"/>
                </a:lnTo>
                <a:lnTo>
                  <a:pt x="281207" y="242320"/>
                </a:lnTo>
                <a:lnTo>
                  <a:pt x="280911" y="242733"/>
                </a:lnTo>
                <a:lnTo>
                  <a:pt x="280336" y="242719"/>
                </a:lnTo>
                <a:lnTo>
                  <a:pt x="279936" y="242993"/>
                </a:lnTo>
                <a:lnTo>
                  <a:pt x="279306" y="242805"/>
                </a:lnTo>
                <a:lnTo>
                  <a:pt x="278276" y="243768"/>
                </a:lnTo>
                <a:lnTo>
                  <a:pt x="277770" y="243753"/>
                </a:lnTo>
                <a:lnTo>
                  <a:pt x="277482" y="243333"/>
                </a:lnTo>
                <a:lnTo>
                  <a:pt x="275869" y="243236"/>
                </a:lnTo>
                <a:lnTo>
                  <a:pt x="275131" y="245319"/>
                </a:lnTo>
                <a:lnTo>
                  <a:pt x="273321" y="246038"/>
                </a:lnTo>
                <a:lnTo>
                  <a:pt x="273015" y="245894"/>
                </a:lnTo>
                <a:lnTo>
                  <a:pt x="272578" y="246702"/>
                </a:lnTo>
                <a:lnTo>
                  <a:pt x="271388" y="246851"/>
                </a:lnTo>
                <a:lnTo>
                  <a:pt x="270266" y="247924"/>
                </a:lnTo>
                <a:lnTo>
                  <a:pt x="269390" y="247699"/>
                </a:lnTo>
                <a:lnTo>
                  <a:pt x="268860" y="248349"/>
                </a:lnTo>
                <a:lnTo>
                  <a:pt x="268377" y="248233"/>
                </a:lnTo>
                <a:lnTo>
                  <a:pt x="267280" y="248586"/>
                </a:lnTo>
                <a:lnTo>
                  <a:pt x="266782" y="248455"/>
                </a:lnTo>
                <a:lnTo>
                  <a:pt x="266177" y="249085"/>
                </a:lnTo>
                <a:lnTo>
                  <a:pt x="265564" y="249193"/>
                </a:lnTo>
                <a:lnTo>
                  <a:pt x="265353" y="249737"/>
                </a:lnTo>
                <a:lnTo>
                  <a:pt x="263668" y="249632"/>
                </a:lnTo>
                <a:lnTo>
                  <a:pt x="263622" y="250572"/>
                </a:lnTo>
                <a:lnTo>
                  <a:pt x="263890" y="251250"/>
                </a:lnTo>
                <a:lnTo>
                  <a:pt x="263285" y="251698"/>
                </a:lnTo>
                <a:lnTo>
                  <a:pt x="261687" y="252027"/>
                </a:lnTo>
                <a:lnTo>
                  <a:pt x="260923" y="251943"/>
                </a:lnTo>
                <a:lnTo>
                  <a:pt x="259794" y="252818"/>
                </a:lnTo>
                <a:lnTo>
                  <a:pt x="259078" y="252454"/>
                </a:lnTo>
                <a:lnTo>
                  <a:pt x="258105" y="252766"/>
                </a:lnTo>
                <a:lnTo>
                  <a:pt x="256398" y="252663"/>
                </a:lnTo>
                <a:lnTo>
                  <a:pt x="255630" y="253180"/>
                </a:lnTo>
                <a:lnTo>
                  <a:pt x="254569" y="253181"/>
                </a:lnTo>
                <a:lnTo>
                  <a:pt x="254654" y="253625"/>
                </a:lnTo>
                <a:lnTo>
                  <a:pt x="253976" y="254578"/>
                </a:lnTo>
                <a:lnTo>
                  <a:pt x="250775" y="254179"/>
                </a:lnTo>
                <a:lnTo>
                  <a:pt x="249785" y="253797"/>
                </a:lnTo>
                <a:lnTo>
                  <a:pt x="248062" y="253906"/>
                </a:lnTo>
                <a:lnTo>
                  <a:pt x="246870" y="254808"/>
                </a:lnTo>
                <a:lnTo>
                  <a:pt x="246877" y="255157"/>
                </a:lnTo>
                <a:lnTo>
                  <a:pt x="246554" y="255398"/>
                </a:lnTo>
                <a:lnTo>
                  <a:pt x="246066" y="254804"/>
                </a:lnTo>
                <a:lnTo>
                  <a:pt x="245024" y="254886"/>
                </a:lnTo>
                <a:lnTo>
                  <a:pt x="244334" y="255283"/>
                </a:lnTo>
                <a:lnTo>
                  <a:pt x="243835" y="255219"/>
                </a:lnTo>
                <a:lnTo>
                  <a:pt x="243551" y="255621"/>
                </a:lnTo>
                <a:lnTo>
                  <a:pt x="242141" y="255886"/>
                </a:lnTo>
                <a:lnTo>
                  <a:pt x="241044" y="256986"/>
                </a:lnTo>
                <a:lnTo>
                  <a:pt x="240680" y="257044"/>
                </a:lnTo>
                <a:lnTo>
                  <a:pt x="240164" y="256617"/>
                </a:lnTo>
                <a:lnTo>
                  <a:pt x="239435" y="256539"/>
                </a:lnTo>
                <a:lnTo>
                  <a:pt x="239074" y="257309"/>
                </a:lnTo>
                <a:lnTo>
                  <a:pt x="238659" y="257286"/>
                </a:lnTo>
                <a:lnTo>
                  <a:pt x="237653" y="258116"/>
                </a:lnTo>
                <a:lnTo>
                  <a:pt x="236694" y="258446"/>
                </a:lnTo>
                <a:lnTo>
                  <a:pt x="236092" y="259184"/>
                </a:lnTo>
                <a:lnTo>
                  <a:pt x="234719" y="258579"/>
                </a:lnTo>
                <a:lnTo>
                  <a:pt x="234104" y="258605"/>
                </a:lnTo>
                <a:lnTo>
                  <a:pt x="233629" y="257949"/>
                </a:lnTo>
                <a:lnTo>
                  <a:pt x="232609" y="257962"/>
                </a:lnTo>
                <a:lnTo>
                  <a:pt x="231946" y="257542"/>
                </a:lnTo>
                <a:lnTo>
                  <a:pt x="230308" y="257521"/>
                </a:lnTo>
                <a:lnTo>
                  <a:pt x="229095" y="258110"/>
                </a:lnTo>
                <a:lnTo>
                  <a:pt x="227913" y="257569"/>
                </a:lnTo>
                <a:lnTo>
                  <a:pt x="226076" y="257219"/>
                </a:lnTo>
                <a:lnTo>
                  <a:pt x="225135" y="256556"/>
                </a:lnTo>
                <a:lnTo>
                  <a:pt x="224260" y="256653"/>
                </a:lnTo>
                <a:lnTo>
                  <a:pt x="223587" y="256353"/>
                </a:lnTo>
                <a:lnTo>
                  <a:pt x="222891" y="256580"/>
                </a:lnTo>
                <a:lnTo>
                  <a:pt x="221691" y="255747"/>
                </a:lnTo>
                <a:lnTo>
                  <a:pt x="221352" y="255952"/>
                </a:lnTo>
                <a:lnTo>
                  <a:pt x="219849" y="255918"/>
                </a:lnTo>
                <a:lnTo>
                  <a:pt x="219417" y="255355"/>
                </a:lnTo>
                <a:lnTo>
                  <a:pt x="218879" y="255747"/>
                </a:lnTo>
                <a:lnTo>
                  <a:pt x="217144" y="256132"/>
                </a:lnTo>
                <a:lnTo>
                  <a:pt x="216607" y="257296"/>
                </a:lnTo>
                <a:lnTo>
                  <a:pt x="214463" y="258204"/>
                </a:lnTo>
                <a:lnTo>
                  <a:pt x="213795" y="258903"/>
                </a:lnTo>
                <a:lnTo>
                  <a:pt x="212965" y="259168"/>
                </a:lnTo>
                <a:lnTo>
                  <a:pt x="211985" y="260148"/>
                </a:lnTo>
                <a:lnTo>
                  <a:pt x="209344" y="259706"/>
                </a:lnTo>
                <a:lnTo>
                  <a:pt x="208222" y="260334"/>
                </a:lnTo>
                <a:lnTo>
                  <a:pt x="208046" y="260793"/>
                </a:lnTo>
                <a:lnTo>
                  <a:pt x="206364" y="260565"/>
                </a:lnTo>
                <a:lnTo>
                  <a:pt x="205794" y="261042"/>
                </a:lnTo>
                <a:lnTo>
                  <a:pt x="205018" y="261074"/>
                </a:lnTo>
                <a:lnTo>
                  <a:pt x="202318" y="260312"/>
                </a:lnTo>
                <a:lnTo>
                  <a:pt x="200519" y="259429"/>
                </a:lnTo>
                <a:lnTo>
                  <a:pt x="197680" y="258521"/>
                </a:lnTo>
                <a:lnTo>
                  <a:pt x="197290" y="258757"/>
                </a:lnTo>
                <a:lnTo>
                  <a:pt x="197076" y="259782"/>
                </a:lnTo>
                <a:lnTo>
                  <a:pt x="196610" y="260462"/>
                </a:lnTo>
                <a:lnTo>
                  <a:pt x="196528" y="261026"/>
                </a:lnTo>
                <a:lnTo>
                  <a:pt x="196263" y="261075"/>
                </a:lnTo>
                <a:lnTo>
                  <a:pt x="196206" y="261640"/>
                </a:lnTo>
                <a:lnTo>
                  <a:pt x="195321" y="261994"/>
                </a:lnTo>
                <a:lnTo>
                  <a:pt x="195129" y="262600"/>
                </a:lnTo>
                <a:lnTo>
                  <a:pt x="193409" y="262703"/>
                </a:lnTo>
                <a:lnTo>
                  <a:pt x="192584" y="262494"/>
                </a:lnTo>
                <a:lnTo>
                  <a:pt x="191754" y="264094"/>
                </a:lnTo>
                <a:lnTo>
                  <a:pt x="191097" y="266079"/>
                </a:lnTo>
                <a:lnTo>
                  <a:pt x="191207" y="266396"/>
                </a:lnTo>
                <a:lnTo>
                  <a:pt x="190577" y="267072"/>
                </a:lnTo>
                <a:lnTo>
                  <a:pt x="190074" y="268854"/>
                </a:lnTo>
                <a:lnTo>
                  <a:pt x="189513" y="269698"/>
                </a:lnTo>
                <a:lnTo>
                  <a:pt x="189532" y="270113"/>
                </a:lnTo>
                <a:lnTo>
                  <a:pt x="189862" y="270395"/>
                </a:lnTo>
                <a:lnTo>
                  <a:pt x="189479" y="270698"/>
                </a:lnTo>
                <a:lnTo>
                  <a:pt x="189210" y="271474"/>
                </a:lnTo>
                <a:lnTo>
                  <a:pt x="189811" y="272366"/>
                </a:lnTo>
                <a:lnTo>
                  <a:pt x="189520" y="272888"/>
                </a:lnTo>
                <a:lnTo>
                  <a:pt x="188712" y="273285"/>
                </a:lnTo>
                <a:lnTo>
                  <a:pt x="187682" y="273134"/>
                </a:lnTo>
                <a:lnTo>
                  <a:pt x="187323" y="272436"/>
                </a:lnTo>
                <a:lnTo>
                  <a:pt x="187071" y="273116"/>
                </a:lnTo>
                <a:lnTo>
                  <a:pt x="186539" y="273643"/>
                </a:lnTo>
                <a:lnTo>
                  <a:pt x="185956" y="273785"/>
                </a:lnTo>
                <a:lnTo>
                  <a:pt x="185607" y="274190"/>
                </a:lnTo>
                <a:lnTo>
                  <a:pt x="184844" y="274177"/>
                </a:lnTo>
                <a:lnTo>
                  <a:pt x="184397" y="275833"/>
                </a:lnTo>
                <a:lnTo>
                  <a:pt x="183294" y="276704"/>
                </a:lnTo>
                <a:lnTo>
                  <a:pt x="182430" y="276504"/>
                </a:lnTo>
                <a:lnTo>
                  <a:pt x="181115" y="276869"/>
                </a:lnTo>
                <a:lnTo>
                  <a:pt x="180361" y="276511"/>
                </a:lnTo>
                <a:lnTo>
                  <a:pt x="179115" y="276583"/>
                </a:lnTo>
                <a:lnTo>
                  <a:pt x="178431" y="276026"/>
                </a:lnTo>
                <a:lnTo>
                  <a:pt x="177706" y="275868"/>
                </a:lnTo>
                <a:lnTo>
                  <a:pt x="177068" y="276578"/>
                </a:lnTo>
                <a:lnTo>
                  <a:pt x="175613" y="276826"/>
                </a:lnTo>
                <a:lnTo>
                  <a:pt x="174898" y="276678"/>
                </a:lnTo>
                <a:lnTo>
                  <a:pt x="173681" y="277077"/>
                </a:lnTo>
                <a:lnTo>
                  <a:pt x="173608" y="278048"/>
                </a:lnTo>
                <a:lnTo>
                  <a:pt x="172595" y="278872"/>
                </a:lnTo>
                <a:lnTo>
                  <a:pt x="171738" y="279212"/>
                </a:lnTo>
                <a:lnTo>
                  <a:pt x="171738" y="279558"/>
                </a:lnTo>
                <a:lnTo>
                  <a:pt x="170465" y="281332"/>
                </a:lnTo>
                <a:lnTo>
                  <a:pt x="169337" y="282054"/>
                </a:lnTo>
                <a:lnTo>
                  <a:pt x="170085" y="283080"/>
                </a:lnTo>
                <a:lnTo>
                  <a:pt x="170481" y="284704"/>
                </a:lnTo>
                <a:lnTo>
                  <a:pt x="171208" y="285080"/>
                </a:lnTo>
                <a:lnTo>
                  <a:pt x="172318" y="285036"/>
                </a:lnTo>
                <a:lnTo>
                  <a:pt x="172961" y="286126"/>
                </a:lnTo>
                <a:lnTo>
                  <a:pt x="174317" y="286638"/>
                </a:lnTo>
                <a:lnTo>
                  <a:pt x="175059" y="287552"/>
                </a:lnTo>
                <a:lnTo>
                  <a:pt x="176289" y="287776"/>
                </a:lnTo>
                <a:lnTo>
                  <a:pt x="175738" y="288312"/>
                </a:lnTo>
                <a:lnTo>
                  <a:pt x="176308" y="288662"/>
                </a:lnTo>
                <a:lnTo>
                  <a:pt x="175536" y="289265"/>
                </a:lnTo>
                <a:lnTo>
                  <a:pt x="175684" y="290671"/>
                </a:lnTo>
                <a:lnTo>
                  <a:pt x="176115" y="291347"/>
                </a:lnTo>
                <a:lnTo>
                  <a:pt x="177069" y="291521"/>
                </a:lnTo>
                <a:lnTo>
                  <a:pt x="178062" y="292606"/>
                </a:lnTo>
                <a:lnTo>
                  <a:pt x="178217" y="293117"/>
                </a:lnTo>
                <a:lnTo>
                  <a:pt x="177735" y="293753"/>
                </a:lnTo>
                <a:lnTo>
                  <a:pt x="178113" y="295488"/>
                </a:lnTo>
                <a:lnTo>
                  <a:pt x="177549" y="296507"/>
                </a:lnTo>
                <a:lnTo>
                  <a:pt x="177531" y="297672"/>
                </a:lnTo>
                <a:lnTo>
                  <a:pt x="177017" y="298099"/>
                </a:lnTo>
                <a:lnTo>
                  <a:pt x="176230" y="300634"/>
                </a:lnTo>
                <a:lnTo>
                  <a:pt x="175399" y="301087"/>
                </a:lnTo>
                <a:lnTo>
                  <a:pt x="176031" y="303120"/>
                </a:lnTo>
                <a:lnTo>
                  <a:pt x="175910" y="303328"/>
                </a:lnTo>
                <a:lnTo>
                  <a:pt x="174874" y="303433"/>
                </a:lnTo>
                <a:lnTo>
                  <a:pt x="174389" y="302737"/>
                </a:lnTo>
                <a:lnTo>
                  <a:pt x="173405" y="302337"/>
                </a:lnTo>
                <a:lnTo>
                  <a:pt x="173104" y="303173"/>
                </a:lnTo>
                <a:lnTo>
                  <a:pt x="172367" y="303577"/>
                </a:lnTo>
                <a:lnTo>
                  <a:pt x="171757" y="305164"/>
                </a:lnTo>
                <a:lnTo>
                  <a:pt x="169912" y="305132"/>
                </a:lnTo>
                <a:lnTo>
                  <a:pt x="168577" y="306194"/>
                </a:lnTo>
                <a:lnTo>
                  <a:pt x="167377" y="305462"/>
                </a:lnTo>
                <a:lnTo>
                  <a:pt x="165707" y="305785"/>
                </a:lnTo>
                <a:lnTo>
                  <a:pt x="164751" y="306371"/>
                </a:lnTo>
                <a:lnTo>
                  <a:pt x="164314" y="307465"/>
                </a:lnTo>
                <a:lnTo>
                  <a:pt x="163692" y="308276"/>
                </a:lnTo>
                <a:lnTo>
                  <a:pt x="162673" y="308931"/>
                </a:lnTo>
                <a:lnTo>
                  <a:pt x="162381" y="309992"/>
                </a:lnTo>
                <a:lnTo>
                  <a:pt x="161311" y="310675"/>
                </a:lnTo>
                <a:lnTo>
                  <a:pt x="161082" y="311607"/>
                </a:lnTo>
                <a:lnTo>
                  <a:pt x="162417" y="312413"/>
                </a:lnTo>
                <a:lnTo>
                  <a:pt x="162539" y="313387"/>
                </a:lnTo>
                <a:lnTo>
                  <a:pt x="164289" y="314533"/>
                </a:lnTo>
                <a:lnTo>
                  <a:pt x="164535" y="315024"/>
                </a:lnTo>
                <a:lnTo>
                  <a:pt x="164645" y="316662"/>
                </a:lnTo>
                <a:lnTo>
                  <a:pt x="163851" y="316966"/>
                </a:lnTo>
                <a:lnTo>
                  <a:pt x="163399" y="317877"/>
                </a:lnTo>
                <a:lnTo>
                  <a:pt x="164038" y="320042"/>
                </a:lnTo>
                <a:lnTo>
                  <a:pt x="163999" y="320611"/>
                </a:lnTo>
                <a:lnTo>
                  <a:pt x="163911" y="320902"/>
                </a:lnTo>
                <a:lnTo>
                  <a:pt x="162748" y="321036"/>
                </a:lnTo>
                <a:lnTo>
                  <a:pt x="162040" y="322182"/>
                </a:lnTo>
                <a:lnTo>
                  <a:pt x="161925" y="322818"/>
                </a:lnTo>
                <a:lnTo>
                  <a:pt x="161041" y="323628"/>
                </a:lnTo>
                <a:lnTo>
                  <a:pt x="161238" y="324555"/>
                </a:lnTo>
                <a:lnTo>
                  <a:pt x="161924" y="325750"/>
                </a:lnTo>
                <a:lnTo>
                  <a:pt x="161528" y="326056"/>
                </a:lnTo>
                <a:lnTo>
                  <a:pt x="161759" y="326760"/>
                </a:lnTo>
                <a:lnTo>
                  <a:pt x="161269" y="327655"/>
                </a:lnTo>
                <a:lnTo>
                  <a:pt x="161408" y="328344"/>
                </a:lnTo>
                <a:lnTo>
                  <a:pt x="160411" y="328871"/>
                </a:lnTo>
                <a:lnTo>
                  <a:pt x="160040" y="330210"/>
                </a:lnTo>
                <a:lnTo>
                  <a:pt x="159146" y="330497"/>
                </a:lnTo>
                <a:lnTo>
                  <a:pt x="158019" y="331545"/>
                </a:lnTo>
                <a:lnTo>
                  <a:pt x="156898" y="331415"/>
                </a:lnTo>
                <a:lnTo>
                  <a:pt x="155918" y="332059"/>
                </a:lnTo>
                <a:lnTo>
                  <a:pt x="155740" y="332553"/>
                </a:lnTo>
                <a:lnTo>
                  <a:pt x="154532" y="332683"/>
                </a:lnTo>
                <a:lnTo>
                  <a:pt x="154124" y="334127"/>
                </a:lnTo>
                <a:lnTo>
                  <a:pt x="154424" y="334661"/>
                </a:lnTo>
                <a:lnTo>
                  <a:pt x="154331" y="335127"/>
                </a:lnTo>
                <a:lnTo>
                  <a:pt x="155237" y="336466"/>
                </a:lnTo>
                <a:lnTo>
                  <a:pt x="154828" y="338461"/>
                </a:lnTo>
                <a:lnTo>
                  <a:pt x="154971" y="339353"/>
                </a:lnTo>
                <a:lnTo>
                  <a:pt x="155514" y="339906"/>
                </a:lnTo>
                <a:lnTo>
                  <a:pt x="155796" y="340885"/>
                </a:lnTo>
                <a:lnTo>
                  <a:pt x="155788" y="342513"/>
                </a:lnTo>
                <a:lnTo>
                  <a:pt x="155679" y="343206"/>
                </a:lnTo>
                <a:lnTo>
                  <a:pt x="154868" y="344057"/>
                </a:lnTo>
                <a:lnTo>
                  <a:pt x="154251" y="345181"/>
                </a:lnTo>
                <a:lnTo>
                  <a:pt x="150211" y="341507"/>
                </a:lnTo>
                <a:lnTo>
                  <a:pt x="145609" y="342059"/>
                </a:lnTo>
                <a:lnTo>
                  <a:pt x="138658" y="342034"/>
                </a:lnTo>
                <a:lnTo>
                  <a:pt x="136967" y="340658"/>
                </a:lnTo>
                <a:lnTo>
                  <a:pt x="134933" y="341285"/>
                </a:lnTo>
                <a:lnTo>
                  <a:pt x="129701" y="339349"/>
                </a:lnTo>
                <a:lnTo>
                  <a:pt x="129714" y="338621"/>
                </a:lnTo>
                <a:lnTo>
                  <a:pt x="128751" y="337528"/>
                </a:lnTo>
                <a:lnTo>
                  <a:pt x="128704" y="336579"/>
                </a:lnTo>
                <a:lnTo>
                  <a:pt x="127810" y="335835"/>
                </a:lnTo>
                <a:lnTo>
                  <a:pt x="126891" y="335630"/>
                </a:lnTo>
                <a:lnTo>
                  <a:pt x="127263" y="333524"/>
                </a:lnTo>
                <a:lnTo>
                  <a:pt x="126713" y="332417"/>
                </a:lnTo>
                <a:lnTo>
                  <a:pt x="126310" y="332194"/>
                </a:lnTo>
                <a:lnTo>
                  <a:pt x="125066" y="332666"/>
                </a:lnTo>
                <a:lnTo>
                  <a:pt x="124548" y="332422"/>
                </a:lnTo>
                <a:lnTo>
                  <a:pt x="123857" y="333114"/>
                </a:lnTo>
                <a:lnTo>
                  <a:pt x="122602" y="332753"/>
                </a:lnTo>
                <a:lnTo>
                  <a:pt x="121364" y="334121"/>
                </a:lnTo>
                <a:lnTo>
                  <a:pt x="118438" y="334127"/>
                </a:lnTo>
                <a:lnTo>
                  <a:pt x="117662" y="334381"/>
                </a:lnTo>
                <a:lnTo>
                  <a:pt x="114107" y="333946"/>
                </a:lnTo>
                <a:lnTo>
                  <a:pt x="113376" y="334150"/>
                </a:lnTo>
                <a:lnTo>
                  <a:pt x="112124" y="334093"/>
                </a:lnTo>
                <a:lnTo>
                  <a:pt x="111785" y="334313"/>
                </a:lnTo>
                <a:lnTo>
                  <a:pt x="110595" y="334160"/>
                </a:lnTo>
                <a:lnTo>
                  <a:pt x="109105" y="334716"/>
                </a:lnTo>
                <a:lnTo>
                  <a:pt x="108641" y="334452"/>
                </a:lnTo>
                <a:lnTo>
                  <a:pt x="107897" y="334654"/>
                </a:lnTo>
                <a:lnTo>
                  <a:pt x="107692" y="334384"/>
                </a:lnTo>
                <a:lnTo>
                  <a:pt x="107142" y="334370"/>
                </a:lnTo>
                <a:lnTo>
                  <a:pt x="105997" y="333846"/>
                </a:lnTo>
                <a:lnTo>
                  <a:pt x="105490" y="333306"/>
                </a:lnTo>
                <a:lnTo>
                  <a:pt x="105280" y="333451"/>
                </a:lnTo>
                <a:lnTo>
                  <a:pt x="104720" y="333183"/>
                </a:lnTo>
                <a:lnTo>
                  <a:pt x="103937" y="332561"/>
                </a:lnTo>
                <a:lnTo>
                  <a:pt x="103222" y="332341"/>
                </a:lnTo>
                <a:lnTo>
                  <a:pt x="102416" y="332422"/>
                </a:lnTo>
                <a:lnTo>
                  <a:pt x="101520" y="332025"/>
                </a:lnTo>
                <a:lnTo>
                  <a:pt x="100590" y="329821"/>
                </a:lnTo>
                <a:lnTo>
                  <a:pt x="99909" y="329627"/>
                </a:lnTo>
                <a:lnTo>
                  <a:pt x="98590" y="327852"/>
                </a:lnTo>
                <a:lnTo>
                  <a:pt x="98022" y="326110"/>
                </a:lnTo>
                <a:lnTo>
                  <a:pt x="95993" y="325393"/>
                </a:lnTo>
                <a:lnTo>
                  <a:pt x="95773" y="324838"/>
                </a:lnTo>
                <a:lnTo>
                  <a:pt x="94900" y="324410"/>
                </a:lnTo>
                <a:lnTo>
                  <a:pt x="94855" y="323867"/>
                </a:lnTo>
                <a:lnTo>
                  <a:pt x="95346" y="323480"/>
                </a:lnTo>
                <a:lnTo>
                  <a:pt x="95070" y="322987"/>
                </a:lnTo>
                <a:lnTo>
                  <a:pt x="94558" y="322730"/>
                </a:lnTo>
                <a:lnTo>
                  <a:pt x="94827" y="322111"/>
                </a:lnTo>
                <a:lnTo>
                  <a:pt x="94412" y="321445"/>
                </a:lnTo>
                <a:lnTo>
                  <a:pt x="93897" y="321296"/>
                </a:lnTo>
                <a:lnTo>
                  <a:pt x="92897" y="320364"/>
                </a:lnTo>
                <a:lnTo>
                  <a:pt x="91892" y="320496"/>
                </a:lnTo>
                <a:lnTo>
                  <a:pt x="90858" y="318816"/>
                </a:lnTo>
                <a:lnTo>
                  <a:pt x="89799" y="318306"/>
                </a:lnTo>
                <a:lnTo>
                  <a:pt x="89765" y="317774"/>
                </a:lnTo>
                <a:lnTo>
                  <a:pt x="89168" y="317453"/>
                </a:lnTo>
                <a:lnTo>
                  <a:pt x="88136" y="317808"/>
                </a:lnTo>
                <a:lnTo>
                  <a:pt x="88056" y="317365"/>
                </a:lnTo>
                <a:lnTo>
                  <a:pt x="87187" y="317136"/>
                </a:lnTo>
                <a:lnTo>
                  <a:pt x="86880" y="316691"/>
                </a:lnTo>
                <a:lnTo>
                  <a:pt x="85145" y="315638"/>
                </a:lnTo>
                <a:lnTo>
                  <a:pt x="84629" y="314821"/>
                </a:lnTo>
                <a:lnTo>
                  <a:pt x="84784" y="314369"/>
                </a:lnTo>
                <a:lnTo>
                  <a:pt x="84520" y="313433"/>
                </a:lnTo>
                <a:lnTo>
                  <a:pt x="83759" y="313918"/>
                </a:lnTo>
                <a:lnTo>
                  <a:pt x="83053" y="313721"/>
                </a:lnTo>
                <a:lnTo>
                  <a:pt x="82696" y="313092"/>
                </a:lnTo>
                <a:lnTo>
                  <a:pt x="83383" y="312988"/>
                </a:lnTo>
                <a:lnTo>
                  <a:pt x="83859" y="312508"/>
                </a:lnTo>
                <a:lnTo>
                  <a:pt x="83885" y="310773"/>
                </a:lnTo>
                <a:lnTo>
                  <a:pt x="83040" y="309634"/>
                </a:lnTo>
                <a:lnTo>
                  <a:pt x="82352" y="307568"/>
                </a:lnTo>
                <a:lnTo>
                  <a:pt x="81463" y="307360"/>
                </a:lnTo>
                <a:lnTo>
                  <a:pt x="82460" y="306158"/>
                </a:lnTo>
                <a:lnTo>
                  <a:pt x="82377" y="305844"/>
                </a:lnTo>
                <a:lnTo>
                  <a:pt x="82022" y="305595"/>
                </a:lnTo>
                <a:lnTo>
                  <a:pt x="80870" y="306181"/>
                </a:lnTo>
                <a:lnTo>
                  <a:pt x="80039" y="306105"/>
                </a:lnTo>
                <a:lnTo>
                  <a:pt x="79709" y="305861"/>
                </a:lnTo>
                <a:lnTo>
                  <a:pt x="77898" y="305759"/>
                </a:lnTo>
                <a:lnTo>
                  <a:pt x="77184" y="305198"/>
                </a:lnTo>
                <a:lnTo>
                  <a:pt x="76811" y="303481"/>
                </a:lnTo>
                <a:lnTo>
                  <a:pt x="77832" y="302798"/>
                </a:lnTo>
                <a:lnTo>
                  <a:pt x="77832" y="302542"/>
                </a:lnTo>
                <a:lnTo>
                  <a:pt x="76261" y="300339"/>
                </a:lnTo>
                <a:lnTo>
                  <a:pt x="75314" y="297950"/>
                </a:lnTo>
                <a:lnTo>
                  <a:pt x="73294" y="296579"/>
                </a:lnTo>
                <a:lnTo>
                  <a:pt x="72564" y="295068"/>
                </a:lnTo>
                <a:lnTo>
                  <a:pt x="70702" y="294903"/>
                </a:lnTo>
                <a:lnTo>
                  <a:pt x="69487" y="295506"/>
                </a:lnTo>
                <a:lnTo>
                  <a:pt x="68751" y="295568"/>
                </a:lnTo>
                <a:lnTo>
                  <a:pt x="67897" y="293982"/>
                </a:lnTo>
                <a:lnTo>
                  <a:pt x="68125" y="292947"/>
                </a:lnTo>
                <a:lnTo>
                  <a:pt x="67029" y="293374"/>
                </a:lnTo>
                <a:lnTo>
                  <a:pt x="66302" y="293174"/>
                </a:lnTo>
                <a:lnTo>
                  <a:pt x="66409" y="291949"/>
                </a:lnTo>
                <a:lnTo>
                  <a:pt x="66178" y="291437"/>
                </a:lnTo>
                <a:lnTo>
                  <a:pt x="65170" y="290997"/>
                </a:lnTo>
                <a:lnTo>
                  <a:pt x="64211" y="290086"/>
                </a:lnTo>
                <a:lnTo>
                  <a:pt x="64607" y="288985"/>
                </a:lnTo>
                <a:lnTo>
                  <a:pt x="64311" y="286452"/>
                </a:lnTo>
                <a:lnTo>
                  <a:pt x="64527" y="284810"/>
                </a:lnTo>
                <a:lnTo>
                  <a:pt x="64295" y="284389"/>
                </a:lnTo>
                <a:lnTo>
                  <a:pt x="62960" y="283297"/>
                </a:lnTo>
                <a:lnTo>
                  <a:pt x="61389" y="283192"/>
                </a:lnTo>
                <a:lnTo>
                  <a:pt x="59141" y="284732"/>
                </a:lnTo>
                <a:lnTo>
                  <a:pt x="56577" y="284834"/>
                </a:lnTo>
                <a:lnTo>
                  <a:pt x="55248" y="286059"/>
                </a:lnTo>
                <a:lnTo>
                  <a:pt x="52528" y="287341"/>
                </a:lnTo>
                <a:lnTo>
                  <a:pt x="51156" y="286789"/>
                </a:lnTo>
                <a:lnTo>
                  <a:pt x="50904" y="285552"/>
                </a:lnTo>
                <a:lnTo>
                  <a:pt x="50423" y="285201"/>
                </a:lnTo>
                <a:lnTo>
                  <a:pt x="50422" y="284819"/>
                </a:lnTo>
                <a:lnTo>
                  <a:pt x="51385" y="284033"/>
                </a:lnTo>
                <a:close/>
              </a:path>
            </a:pathLst>
          </a:cu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Reach origin Durban"/>
          <p:cNvSpPr/>
          <p:nvPr/>
        </p:nvSpPr>
        <p:spPr>
          <a:xfrm>
            <a:off x="3378488" y="411011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 name="TextBox 63"/>
          <p:cNvSpPr txBox="1"/>
          <p:nvPr/>
        </p:nvSpPr>
        <p:spPr>
          <a:xfrm>
            <a:off x="3492788" y="4105546"/>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Durban</a:t>
            </a:r>
          </a:p>
        </p:txBody>
      </p:sp>
      <p:sp>
        <p:nvSpPr>
          <p:cNvPr id="65" name="Reach origin Lesedi"/>
          <p:cNvSpPr/>
          <p:nvPr/>
        </p:nvSpPr>
        <p:spPr>
          <a:xfrm>
            <a:off x="3015179" y="3527283"/>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2343095" y="3522711"/>
            <a:ext cx="676656"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Lesedi</a:t>
            </a:r>
          </a:p>
        </p:txBody>
      </p:sp>
      <p:cxnSp>
        <p:nvCxnSpPr>
          <p:cNvPr id="67" name="Connector 66"/>
          <p:cNvCxnSpPr/>
          <p:nvPr/>
        </p:nvCxnSpPr>
        <p:spPr>
          <a:xfrm flipV="1">
            <a:off x="658368" y="3054096"/>
            <a:ext cx="0" cy="237744"/>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a:off x="621792"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58368" y="3054096"/>
            <a:ext cx="36576" cy="82296"/>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594360" y="2852928"/>
            <a:ext cx="201168" cy="164592"/>
          </a:xfrm>
          <a:prstGeom prst="rect">
            <a:avLst/>
          </a:prstGeom>
          <a:noFill/>
        </p:spPr>
        <p:txBody>
          <a:bodyPr wrap="square" lIns="0" rIns="0" tIns="0" bIns="0">
            <a:spAutoFit/>
          </a:bodyPr>
          <a:lstStyle/>
          <a:p>
            <a:pPr>
              <a:spcAft>
                <a:spcPts val="300"/>
              </a:spcAft>
              <a:defRPr sz="800" b="0">
                <a:solidFill>
                  <a:srgbClr val="404040"/>
                </a:solidFill>
                <a:latin typeface="Lato"/>
              </a:defRPr>
            </a:pPr>
            <a:r>
              <a:rPr>
                <a:solidFill/>
              </a:rPr>
              <a:t>N</a:t>
            </a:r>
          </a:p>
        </p:txBody>
      </p:sp>
      <p:sp>
        <p:nvSpPr>
          <p:cNvPr id="71" name="Rectangle 70"/>
          <p:cNvSpPr/>
          <p:nvPr/>
        </p:nvSpPr>
        <p:spPr>
          <a:xfrm>
            <a:off x="457200" y="5385816"/>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 name="TextBox 71"/>
          <p:cNvSpPr txBox="1"/>
          <p:nvPr/>
        </p:nvSpPr>
        <p:spPr>
          <a:xfrm>
            <a:off x="621792"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Illustrated road reach</a:t>
            </a:r>
          </a:p>
        </p:txBody>
      </p:sp>
      <p:sp>
        <p:nvSpPr>
          <p:cNvPr id="73" name="Rectangle 72"/>
          <p:cNvSpPr/>
          <p:nvPr/>
        </p:nvSpPr>
        <p:spPr>
          <a:xfrm>
            <a:off x="2359152" y="5385816"/>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 name="TextBox 73"/>
          <p:cNvSpPr txBox="1"/>
          <p:nvPr/>
        </p:nvSpPr>
        <p:spPr>
          <a:xfrm>
            <a:off x="2523744" y="5340096"/>
            <a:ext cx="1828800" cy="237744"/>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Outside illustrated reach</a:t>
            </a:r>
          </a:p>
        </p:txBody>
      </p:sp>
      <p:sp>
        <p:nvSpPr>
          <p:cNvPr id="75" name="TextBox 74"/>
          <p:cNvSpPr txBox="1"/>
          <p:nvPr/>
        </p:nvSpPr>
        <p:spPr>
          <a:xfrm>
            <a:off x="457200" y="5605272"/>
            <a:ext cx="416052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Outline = selected eastern + inland market</a:t>
            </a:r>
          </a:p>
        </p:txBody>
      </p:sp>
      <p:sp>
        <p:nvSpPr>
          <p:cNvPr id="77" name="TextBox 76"/>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Illustrative volume waterfall</a:t>
            </a:r>
          </a:p>
        </p:txBody>
      </p:sp>
      <p:sp>
        <p:nvSpPr>
          <p:cNvPr id="78" name="Illustrative waterfall Illustrative&#10;market: 14.5 bn L/year"/>
          <p:cNvSpPr/>
          <p:nvPr/>
        </p:nvSpPr>
        <p:spPr>
          <a:xfrm>
            <a:off x="5074920" y="3163824"/>
            <a:ext cx="621792" cy="21031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 name="TextBox 78"/>
          <p:cNvSpPr txBox="1"/>
          <p:nvPr/>
        </p:nvSpPr>
        <p:spPr>
          <a:xfrm>
            <a:off x="4956048"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14.5</a:t>
            </a:r>
          </a:p>
        </p:txBody>
      </p:sp>
      <p:sp>
        <p:nvSpPr>
          <p:cNvPr id="80" name="TextBox 79"/>
          <p:cNvSpPr txBox="1"/>
          <p:nvPr/>
        </p:nvSpPr>
        <p:spPr>
          <a:xfrm>
            <a:off x="4873752"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Illustrative</a:t>
            </a:r>
          </a:p>
          <a:p>
            <a:pPr>
              <a:spcAft>
                <a:spcPts val="300"/>
              </a:spcAft>
              <a:defRPr sz="1100" b="0">
                <a:solidFill>
                  <a:srgbClr val="404040"/>
                </a:solidFill>
                <a:latin typeface="Lato"/>
              </a:defRPr>
            </a:pPr>
            <a:r>
              <a:rPr sz="1100" b="0">
                <a:solidFill/>
                <a:latin typeface="Lato"/>
              </a:rPr>
              <a:t>market</a:t>
            </a:r>
          </a:p>
        </p:txBody>
      </p:sp>
      <p:cxnSp>
        <p:nvCxnSpPr>
          <p:cNvPr id="81" name="Connector 80"/>
          <p:cNvCxnSpPr/>
          <p:nvPr/>
        </p:nvCxnSpPr>
        <p:spPr>
          <a:xfrm>
            <a:off x="5696712" y="3163824"/>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2" name="Illustrative waterfall Outside&#10;illustrated reach: 2.5 bn L/year"/>
          <p:cNvSpPr/>
          <p:nvPr/>
        </p:nvSpPr>
        <p:spPr>
          <a:xfrm>
            <a:off x="6272783" y="3163824"/>
            <a:ext cx="621792" cy="362606"/>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 name="TextBox 82"/>
          <p:cNvSpPr txBox="1"/>
          <p:nvPr/>
        </p:nvSpPr>
        <p:spPr>
          <a:xfrm>
            <a:off x="6153912" y="284378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−2.5</a:t>
            </a:r>
          </a:p>
        </p:txBody>
      </p:sp>
      <p:sp>
        <p:nvSpPr>
          <p:cNvPr id="84" name="TextBox 83"/>
          <p:cNvSpPr txBox="1"/>
          <p:nvPr/>
        </p:nvSpPr>
        <p:spPr>
          <a:xfrm>
            <a:off x="6071616"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Outside</a:t>
            </a:r>
          </a:p>
          <a:p>
            <a:pPr>
              <a:spcAft>
                <a:spcPts val="300"/>
              </a:spcAft>
              <a:defRPr sz="1100" b="0">
                <a:solidFill>
                  <a:srgbClr val="404040"/>
                </a:solidFill>
                <a:latin typeface="Lato"/>
              </a:defRPr>
            </a:pPr>
            <a:r>
              <a:rPr sz="1100" b="0">
                <a:solidFill/>
                <a:latin typeface="Lato"/>
              </a:rPr>
              <a:t>illustrated reach</a:t>
            </a:r>
          </a:p>
        </p:txBody>
      </p:sp>
      <p:cxnSp>
        <p:nvCxnSpPr>
          <p:cNvPr id="85" name="Connector 84"/>
          <p:cNvCxnSpPr/>
          <p:nvPr/>
        </p:nvCxnSpPr>
        <p:spPr>
          <a:xfrm>
            <a:off x="6894575" y="3526430"/>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86" name="Illustrative waterfall Fails price /&#10;service / access: 3.5 bn L/year"/>
          <p:cNvSpPr/>
          <p:nvPr/>
        </p:nvSpPr>
        <p:spPr>
          <a:xfrm>
            <a:off x="7470648" y="3526430"/>
            <a:ext cx="621792" cy="507649"/>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 name="TextBox 86"/>
          <p:cNvSpPr txBox="1"/>
          <p:nvPr/>
        </p:nvSpPr>
        <p:spPr>
          <a:xfrm>
            <a:off x="7351775" y="320639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−3.5</a:t>
            </a:r>
          </a:p>
        </p:txBody>
      </p:sp>
      <p:sp>
        <p:nvSpPr>
          <p:cNvPr id="88" name="TextBox 87"/>
          <p:cNvSpPr txBox="1"/>
          <p:nvPr/>
        </p:nvSpPr>
        <p:spPr>
          <a:xfrm>
            <a:off x="7269480"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Fails price /</a:t>
            </a:r>
          </a:p>
          <a:p>
            <a:pPr>
              <a:spcAft>
                <a:spcPts val="300"/>
              </a:spcAft>
              <a:defRPr sz="1100" b="0">
                <a:solidFill>
                  <a:srgbClr val="404040"/>
                </a:solidFill>
                <a:latin typeface="Lato"/>
              </a:defRPr>
            </a:pPr>
            <a:r>
              <a:rPr sz="1100" b="0">
                <a:solidFill/>
                <a:latin typeface="Lato"/>
              </a:rPr>
              <a:t>service / access</a:t>
            </a:r>
          </a:p>
        </p:txBody>
      </p:sp>
      <p:cxnSp>
        <p:nvCxnSpPr>
          <p:cNvPr id="89" name="Connector 88"/>
          <p:cNvCxnSpPr/>
          <p:nvPr/>
        </p:nvCxnSpPr>
        <p:spPr>
          <a:xfrm>
            <a:off x="8092440" y="4034080"/>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0" name="Illustrative waterfall Assumed&#10;already served: 3.0 bn L/year"/>
          <p:cNvSpPr/>
          <p:nvPr/>
        </p:nvSpPr>
        <p:spPr>
          <a:xfrm>
            <a:off x="8668512" y="4034080"/>
            <a:ext cx="621792" cy="435128"/>
          </a:xfrm>
          <a:prstGeom prst="rect">
            <a:avLst/>
          </a:prstGeom>
          <a:solidFill>
            <a:srgbClr val="4040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 name="TextBox 90"/>
          <p:cNvSpPr txBox="1"/>
          <p:nvPr/>
        </p:nvSpPr>
        <p:spPr>
          <a:xfrm>
            <a:off x="8549640" y="3714040"/>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−3.0</a:t>
            </a:r>
          </a:p>
        </p:txBody>
      </p:sp>
      <p:sp>
        <p:nvSpPr>
          <p:cNvPr id="92" name="TextBox 91"/>
          <p:cNvSpPr txBox="1"/>
          <p:nvPr/>
        </p:nvSpPr>
        <p:spPr>
          <a:xfrm>
            <a:off x="8467344"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Assumed</a:t>
            </a:r>
          </a:p>
          <a:p>
            <a:pPr>
              <a:spcAft>
                <a:spcPts val="300"/>
              </a:spcAft>
              <a:defRPr sz="1100" b="0">
                <a:solidFill>
                  <a:srgbClr val="404040"/>
                </a:solidFill>
                <a:latin typeface="Lato"/>
              </a:defRPr>
            </a:pPr>
            <a:r>
              <a:rPr sz="1100" b="0">
                <a:solidFill/>
                <a:latin typeface="Lato"/>
              </a:rPr>
              <a:t>already served</a:t>
            </a:r>
          </a:p>
        </p:txBody>
      </p:sp>
      <p:cxnSp>
        <p:nvCxnSpPr>
          <p:cNvPr id="93" name="Connector 92"/>
          <p:cNvCxnSpPr/>
          <p:nvPr/>
        </p:nvCxnSpPr>
        <p:spPr>
          <a:xfrm>
            <a:off x="9290304" y="4469208"/>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94" name="Illustrative waterfall Additional&#10;opportunity to test: 5.5 bn L/year"/>
          <p:cNvSpPr/>
          <p:nvPr/>
        </p:nvSpPr>
        <p:spPr>
          <a:xfrm>
            <a:off x="9866376" y="4469208"/>
            <a:ext cx="621792" cy="797735"/>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 name="TextBox 94"/>
          <p:cNvSpPr txBox="1"/>
          <p:nvPr/>
        </p:nvSpPr>
        <p:spPr>
          <a:xfrm>
            <a:off x="9747503" y="4149168"/>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5.5</a:t>
            </a:r>
          </a:p>
        </p:txBody>
      </p:sp>
      <p:sp>
        <p:nvSpPr>
          <p:cNvPr id="96" name="TextBox 95"/>
          <p:cNvSpPr txBox="1"/>
          <p:nvPr/>
        </p:nvSpPr>
        <p:spPr>
          <a:xfrm>
            <a:off x="9665207" y="5449824"/>
            <a:ext cx="1143000" cy="512064"/>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solidFill/>
                <a:latin typeface="Lato"/>
              </a:rPr>
              <a:t>Additional</a:t>
            </a:r>
          </a:p>
          <a:p>
            <a:pPr>
              <a:spcAft>
                <a:spcPts val="300"/>
              </a:spcAft>
              <a:defRPr sz="1100" b="0">
                <a:solidFill>
                  <a:srgbClr val="404040"/>
                </a:solidFill>
                <a:latin typeface="Lato"/>
              </a:defRPr>
            </a:pPr>
            <a:r>
              <a:rPr sz="1100" b="0">
                <a:solidFill/>
                <a:latin typeface="Lato"/>
              </a:rPr>
              <a:t>opportunity to test</a:t>
            </a:r>
          </a:p>
        </p:txBody>
      </p:sp>
      <p:sp>
        <p:nvSpPr>
          <p:cNvPr id="97" name="TextBox 96"/>
          <p:cNvSpPr txBox="1"/>
          <p:nvPr/>
        </p:nvSpPr>
        <p:spPr>
          <a:xfrm>
            <a:off x="457200" y="2596896"/>
            <a:ext cx="4251960" cy="219456"/>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Numbers match the waterfall stages; placements are illustrative.</a:t>
            </a:r>
          </a:p>
        </p:txBody>
      </p:sp>
      <p:sp>
        <p:nvSpPr>
          <p:cNvPr id="98" name="Schematic screen cluster 1"/>
          <p:cNvSpPr/>
          <p:nvPr/>
        </p:nvSpPr>
        <p:spPr>
          <a:xfrm>
            <a:off x="1865376" y="3355848"/>
            <a:ext cx="438912" cy="438912"/>
          </a:xfrm>
          <a:prstGeom prst="ellipse">
            <a:avLst/>
          </a:prstGeom>
          <a:noFill/>
          <a:ln w="19050">
            <a:solidFill>
              <a:srgbClr val="546CA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 name="Illustrative screen stage 1"/>
          <p:cNvSpPr/>
          <p:nvPr/>
        </p:nvSpPr>
        <p:spPr>
          <a:xfrm>
            <a:off x="1947672" y="343814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cxnSp>
        <p:nvCxnSpPr>
          <p:cNvPr id="100" name="Connector 99"/>
          <p:cNvCxnSpPr/>
          <p:nvPr/>
        </p:nvCxnSpPr>
        <p:spPr>
          <a:xfrm flipH="1">
            <a:off x="1847088" y="3575304"/>
            <a:ext cx="9143" cy="18288"/>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1" name="TextBox 100"/>
          <p:cNvSpPr txBox="1"/>
          <p:nvPr/>
        </p:nvSpPr>
        <p:spPr>
          <a:xfrm>
            <a:off x="1024128" y="3483864"/>
            <a:ext cx="82296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Market</a:t>
            </a:r>
          </a:p>
        </p:txBody>
      </p:sp>
      <p:sp>
        <p:nvSpPr>
          <p:cNvPr id="102" name="Schematic screen cluster 2"/>
          <p:cNvSpPr/>
          <p:nvPr/>
        </p:nvSpPr>
        <p:spPr>
          <a:xfrm>
            <a:off x="3209544" y="2852928"/>
            <a:ext cx="438912" cy="438912"/>
          </a:xfrm>
          <a:prstGeom prst="ellipse">
            <a:avLst/>
          </a:prstGeom>
          <a:noFill/>
          <a:ln w="190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 name="Illustrative screen stage 2"/>
          <p:cNvSpPr/>
          <p:nvPr/>
        </p:nvSpPr>
        <p:spPr>
          <a:xfrm>
            <a:off x="3291840" y="293522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cxnSp>
        <p:nvCxnSpPr>
          <p:cNvPr id="104" name="Connector 103"/>
          <p:cNvCxnSpPr/>
          <p:nvPr/>
        </p:nvCxnSpPr>
        <p:spPr>
          <a:xfrm>
            <a:off x="3657600" y="3072384"/>
            <a:ext cx="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5" name="TextBox 104"/>
          <p:cNvSpPr txBox="1"/>
          <p:nvPr/>
        </p:nvSpPr>
        <p:spPr>
          <a:xfrm>
            <a:off x="3657600" y="2971800"/>
            <a:ext cx="841248"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Reach limit</a:t>
            </a:r>
          </a:p>
        </p:txBody>
      </p:sp>
      <p:sp>
        <p:nvSpPr>
          <p:cNvPr id="106" name="Schematic screen cluster 3"/>
          <p:cNvSpPr/>
          <p:nvPr/>
        </p:nvSpPr>
        <p:spPr>
          <a:xfrm>
            <a:off x="3191256" y="3557015"/>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 name="Illustrative screen stage 3"/>
          <p:cNvSpPr/>
          <p:nvPr/>
        </p:nvSpPr>
        <p:spPr>
          <a:xfrm>
            <a:off x="3273552" y="3639312"/>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3</a:t>
            </a:r>
          </a:p>
        </p:txBody>
      </p:sp>
      <p:cxnSp>
        <p:nvCxnSpPr>
          <p:cNvPr id="108" name="Connector 107"/>
          <p:cNvCxnSpPr/>
          <p:nvPr/>
        </p:nvCxnSpPr>
        <p:spPr>
          <a:xfrm>
            <a:off x="3639312" y="3776472"/>
            <a:ext cx="18288" cy="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09" name="TextBox 108"/>
          <p:cNvSpPr txBox="1"/>
          <p:nvPr/>
        </p:nvSpPr>
        <p:spPr>
          <a:xfrm>
            <a:off x="3657600" y="3666744"/>
            <a:ext cx="960120"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Commercial</a:t>
            </a:r>
          </a:p>
        </p:txBody>
      </p:sp>
      <p:sp>
        <p:nvSpPr>
          <p:cNvPr id="110" name="Schematic screen cluster 4"/>
          <p:cNvSpPr/>
          <p:nvPr/>
        </p:nvSpPr>
        <p:spPr>
          <a:xfrm>
            <a:off x="2953512" y="4297680"/>
            <a:ext cx="438912" cy="438912"/>
          </a:xfrm>
          <a:prstGeom prst="ellipse">
            <a:avLst/>
          </a:prstGeom>
          <a:noFill/>
          <a:ln w="19050">
            <a:solidFill>
              <a:srgbClr val="40404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 name="Illustrative screen stage 4"/>
          <p:cNvSpPr/>
          <p:nvPr/>
        </p:nvSpPr>
        <p:spPr>
          <a:xfrm>
            <a:off x="3035808" y="437997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4</a:t>
            </a:r>
          </a:p>
        </p:txBody>
      </p:sp>
      <p:cxnSp>
        <p:nvCxnSpPr>
          <p:cNvPr id="112" name="Connector 111"/>
          <p:cNvCxnSpPr/>
          <p:nvPr/>
        </p:nvCxnSpPr>
        <p:spPr>
          <a:xfrm>
            <a:off x="3401568" y="4517136"/>
            <a:ext cx="91440" cy="9144"/>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3" name="TextBox 112"/>
          <p:cNvSpPr txBox="1"/>
          <p:nvPr/>
        </p:nvSpPr>
        <p:spPr>
          <a:xfrm>
            <a:off x="3493008" y="4416552"/>
            <a:ext cx="1133856"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Already served</a:t>
            </a:r>
          </a:p>
        </p:txBody>
      </p:sp>
      <p:sp>
        <p:nvSpPr>
          <p:cNvPr id="114" name="Schematic screen cluster 5"/>
          <p:cNvSpPr/>
          <p:nvPr/>
        </p:nvSpPr>
        <p:spPr>
          <a:xfrm>
            <a:off x="2377439" y="4626864"/>
            <a:ext cx="438912" cy="438912"/>
          </a:xfrm>
          <a:prstGeom prst="ellipse">
            <a:avLst/>
          </a:pr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 name="Illustrative screen stage 5"/>
          <p:cNvSpPr/>
          <p:nvPr/>
        </p:nvSpPr>
        <p:spPr>
          <a:xfrm>
            <a:off x="2459736" y="4709159"/>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5</a:t>
            </a:r>
          </a:p>
        </p:txBody>
      </p:sp>
      <p:cxnSp>
        <p:nvCxnSpPr>
          <p:cNvPr id="116" name="Connector 115"/>
          <p:cNvCxnSpPr/>
          <p:nvPr/>
        </p:nvCxnSpPr>
        <p:spPr>
          <a:xfrm flipH="1">
            <a:off x="2276856" y="4846320"/>
            <a:ext cx="91440" cy="45720"/>
          </a:xfrm>
          <a:prstGeom prst="line">
            <a:avLst/>
          </a:prstGeom>
          <a:ln w="7620">
            <a:solidFill>
              <a:srgbClr val="546CA2"/>
            </a:solidFill>
          </a:ln>
        </p:spPr>
        <p:style>
          <a:lnRef idx="2">
            <a:schemeClr val="accent1"/>
          </a:lnRef>
          <a:fillRef idx="0">
            <a:schemeClr val="accent1"/>
          </a:fillRef>
          <a:effectRef idx="1">
            <a:schemeClr val="accent1"/>
          </a:effectRef>
          <a:fontRef idx="minor">
            <a:schemeClr val="tx1"/>
          </a:fontRef>
        </p:style>
      </p:cxnSp>
      <p:sp>
        <p:nvSpPr>
          <p:cNvPr id="117" name="TextBox 116"/>
          <p:cNvSpPr txBox="1"/>
          <p:nvPr/>
        </p:nvSpPr>
        <p:spPr>
          <a:xfrm>
            <a:off x="1216152" y="4782312"/>
            <a:ext cx="1060704" cy="246888"/>
          </a:xfrm>
          <a:prstGeom prst="rect">
            <a:avLst/>
          </a:prstGeom>
          <a:noFill/>
        </p:spPr>
        <p:txBody>
          <a:bodyPr wrap="square" lIns="0" rIns="0" tIns="0" bIns="0">
            <a:spAutoFit/>
          </a:bodyPr>
          <a:lstStyle/>
          <a:p>
            <a:pPr>
              <a:spcAft>
                <a:spcPts val="300"/>
              </a:spcAft>
              <a:defRPr sz="900" b="0">
                <a:solidFill>
                  <a:srgbClr val="404040"/>
                </a:solidFill>
                <a:latin typeface="Lato"/>
              </a:defRPr>
            </a:pPr>
            <a:r>
              <a:rPr>
                <a:solidFill/>
              </a:rPr>
              <a:t>Opportunity</a:t>
            </a:r>
          </a:p>
        </p:txBody>
      </p:sp>
      <p:sp>
        <p:nvSpPr>
          <p:cNvPr id="118" name="TextBox 117"/>
          <p:cNvSpPr txBox="1"/>
          <p:nvPr/>
        </p:nvSpPr>
        <p:spPr>
          <a:xfrm>
            <a:off x="457200" y="5852160"/>
            <a:ext cx="4160520" cy="320040"/>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Schematic markers, not customer locations. Volume screens are authored illustrations.</a:t>
            </a:r>
          </a:p>
        </p:txBody>
      </p:sp>
      <p:sp>
        <p:nvSpPr>
          <p:cNvPr id="119" name="Illustrative screen stage 1"/>
          <p:cNvSpPr/>
          <p:nvPr/>
        </p:nvSpPr>
        <p:spPr>
          <a:xfrm>
            <a:off x="5248655"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1</a:t>
            </a:r>
          </a:p>
        </p:txBody>
      </p:sp>
      <p:sp>
        <p:nvSpPr>
          <p:cNvPr id="120" name="Illustrative screen stage 2"/>
          <p:cNvSpPr/>
          <p:nvPr/>
        </p:nvSpPr>
        <p:spPr>
          <a:xfrm>
            <a:off x="6446519" y="3200400"/>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0">
                <a:solidFill>
                  <a:srgbClr val="404040"/>
                </a:solidFill>
                <a:latin typeface="Lato"/>
              </a:defRPr>
            </a:pPr>
            <a:r>
              <a:rPr>
                <a:solidFill/>
              </a:rPr>
              <a:t>2</a:t>
            </a:r>
          </a:p>
        </p:txBody>
      </p:sp>
      <p:sp>
        <p:nvSpPr>
          <p:cNvPr id="121" name="Illustrative screen stage 3"/>
          <p:cNvSpPr/>
          <p:nvPr/>
        </p:nvSpPr>
        <p:spPr>
          <a:xfrm>
            <a:off x="7644383" y="356300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3</a:t>
            </a:r>
          </a:p>
        </p:txBody>
      </p:sp>
      <p:sp>
        <p:nvSpPr>
          <p:cNvPr id="122" name="Illustrative screen stage 4"/>
          <p:cNvSpPr/>
          <p:nvPr/>
        </p:nvSpPr>
        <p:spPr>
          <a:xfrm>
            <a:off x="8842248" y="4070656"/>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4</a:t>
            </a:r>
          </a:p>
        </p:txBody>
      </p:sp>
      <p:sp>
        <p:nvSpPr>
          <p:cNvPr id="123" name="Illustrative screen stage 5"/>
          <p:cNvSpPr/>
          <p:nvPr/>
        </p:nvSpPr>
        <p:spPr>
          <a:xfrm>
            <a:off x="10040111" y="4505784"/>
            <a:ext cx="274320" cy="274320"/>
          </a:xfrm>
          <a:prstGeom prst="ellipse">
            <a:avLst/>
          </a:prstGeom>
          <a:solidFill>
            <a:srgbClr val="FFFFFF"/>
          </a:solid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404040"/>
                </a:solidFill>
                <a:latin typeface="Lato"/>
              </a:defRPr>
            </a:pPr>
            <a:r>
              <a:rPr>
                <a:solidFill/>
              </a:rPr>
              <a:t>5</a:t>
            </a:r>
          </a:p>
        </p:txBody>
      </p:sp>
      <p:sp>
        <p:nvSpPr>
          <p:cNvPr id="124" name="TextBox 123"/>
          <p:cNvSpPr txBox="1"/>
          <p:nvPr/>
        </p:nvSpPr>
        <p:spPr>
          <a:xfrm>
            <a:off x="4846320" y="6217920"/>
            <a:ext cx="6263640" cy="164592"/>
          </a:xfrm>
          <a:prstGeom prst="rect">
            <a:avLst/>
          </a:prstGeom>
          <a:noFill/>
        </p:spPr>
        <p:txBody>
          <a:bodyPr wrap="square" lIns="0" rIns="0" tIns="0" bIns="0">
            <a:spAutoFit/>
          </a:bodyPr>
          <a:lstStyle/>
          <a:p>
            <a:pPr>
              <a:spcAft>
                <a:spcPts val="300"/>
              </a:spcAft>
              <a:defRPr sz="850" b="0">
                <a:solidFill>
                  <a:srgbClr val="404040"/>
                </a:solidFill>
                <a:latin typeface="Lato"/>
              </a:defRPr>
            </a:pPr>
            <a:r>
              <a:rPr>
                <a:solidFill/>
              </a:rPr>
              <a:t>All volumes illustrative. Already served is assumed; 5.5 bn L/year remains an opportunity to test.</a:t>
            </a:r>
          </a:p>
        </p:txBody>
      </p:sp>
      <p:sp>
        <p:nvSpPr>
          <p:cNvPr id="12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noAutofit/>
          </a:bodyPr>
          <a:lstStyle/>
          <a:p>
            <a:pPr>
              <a:defRPr sz="2400" b="1">
                <a:solidFill>
                  <a:srgbClr val="000000"/>
                </a:solidFill>
                <a:latin typeface="Lato"/>
              </a:defRPr>
            </a:pPr>
            <a:r>
              <a:rPr sz="2400" b="1">
                <a:solidFill>
                  <a:srgbClr val="000000"/>
                </a:solidFill>
                <a:latin typeface="Lato"/>
              </a:rPr>
              <a:t>Additional throughput requires new tanks only if existing usable capacity is insufficient</a:t>
            </a:r>
          </a:p>
        </p:txBody>
      </p:sp>
      <p:sp>
        <p:nvSpPr>
          <p:cNvPr id="3" name="Slide Number Placeholder"/>
          <p:cNvSpPr>
            <a:spLocks noGrp="1"/>
          </p:cNvSpPr>
          <p:nvPr>
            <p:ph type="sldNum" sz="quarter" idx="12"/>
          </p:nvPr>
        </p:nvSpPr>
        <p:spPr/>
        <p:txBody>
          <a:bodyPr/>
          <a:lstStyle/>
          <a:p>
            <a:pPr>
              <a:defRPr sz="1000">
                <a:latin typeface="Lato"/>
              </a:defRPr>
            </a:pPr>
            <a:r>
              <a:t>24</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9" name="TextBox 48"/>
          <p:cNvSpPr txBox="1"/>
          <p:nvPr/>
        </p:nvSpPr>
        <p:spPr>
          <a:xfrm>
            <a:off x="457200" y="1627632"/>
            <a:ext cx="6446520" cy="320040"/>
          </a:xfrm>
          <a:prstGeom prst="rect">
            <a:avLst/>
          </a:prstGeom>
          <a:noFill/>
        </p:spPr>
        <p:txBody>
          <a:bodyPr wrap="square" lIns="0" rIns="0" tIns="0" bIns="0">
            <a:noAutofit/>
          </a:bodyPr>
          <a:lstStyle/>
          <a:p>
            <a:pPr>
              <a:spcAft>
                <a:spcPts val="300"/>
              </a:spcAft>
              <a:defRPr sz="1400" b="1">
                <a:solidFill>
                  <a:srgbClr val="404040"/>
                </a:solidFill>
                <a:latin typeface="Lato"/>
              </a:defRPr>
            </a:pPr>
            <a:r>
              <a:rPr sz="1400" b="1">
                <a:latin typeface="Lato"/>
              </a:rPr>
              <a:t>Working inventory, thousand m³</a:t>
            </a:r>
          </a:p>
        </p:txBody>
      </p:sp>
      <p:sp>
        <p:nvSpPr>
          <p:cNvPr id="50" name="TextBox 49"/>
          <p:cNvSpPr txBox="1"/>
          <p:nvPr/>
        </p:nvSpPr>
        <p:spPr>
          <a:xfrm>
            <a:off x="457200" y="219456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Illustrative 5.5 bn litres/year; uniform daily flow</a:t>
            </a:r>
          </a:p>
        </p:txBody>
      </p:sp>
      <p:graphicFrame>
        <p:nvGraphicFramePr>
          <p:cNvPr id="51" name="Chart 50"/>
          <p:cNvGraphicFramePr>
            <a:graphicFrameLocks noGrp="1"/>
          </p:cNvGraphicFramePr>
          <p:nvPr/>
        </p:nvGraphicFramePr>
        <p:xfrm>
          <a:off x="457200" y="2487168"/>
          <a:ext cx="6446520" cy="3218688"/>
        </p:xfrm>
        <a:graphic>
          <a:graphicData uri="http://schemas.openxmlformats.org/drawingml/2006/chart">
            <c:chart xmlns:c="http://schemas.openxmlformats.org/drawingml/2006/chart" r:id="rId9"/>
          </a:graphicData>
        </a:graphic>
      </p:graphicFrame>
      <p:sp>
        <p:nvSpPr>
          <p:cNvPr id="52" name="TextBox 51"/>
          <p:cNvSpPr txBox="1"/>
          <p:nvPr/>
        </p:nvSpPr>
        <p:spPr>
          <a:xfrm>
            <a:off x="457200" y="5806440"/>
            <a:ext cx="6446520" cy="246888"/>
          </a:xfrm>
          <a:prstGeom prst="rect">
            <a:avLst/>
          </a:prstGeom>
          <a:noFill/>
        </p:spPr>
        <p:txBody>
          <a:bodyPr wrap="square" lIns="0" rIns="0" tIns="0" bIns="0">
            <a:noAutofit/>
          </a:bodyPr>
          <a:lstStyle/>
          <a:p>
            <a:pPr>
              <a:spcAft>
                <a:spcPts val="300"/>
              </a:spcAft>
              <a:defRPr sz="1100" b="0">
                <a:solidFill>
                  <a:srgbClr val="404040"/>
                </a:solidFill>
                <a:latin typeface="Lato"/>
              </a:defRPr>
            </a:pPr>
            <a:r>
              <a:rPr sz="1100" b="0">
                <a:latin typeface="Lato"/>
              </a:rPr>
              <a:t>Inventory days</a:t>
            </a:r>
          </a:p>
        </p:txBody>
      </p:sp>
      <p:cxnSp>
        <p:nvCxnSpPr>
          <p:cNvPr id="55" name="Inventory evidence divider line"/>
          <p:cNvCxnSpPr/>
          <p:nvPr/>
        </p:nvCxnSpPr>
        <p:spPr>
          <a:xfrm>
            <a:off x="7132320" y="1947672"/>
            <a:ext cx="0" cy="4361688"/>
          </a:xfrm>
          <a:prstGeom prst="line">
            <a:avLst/>
          </a:prstGeom>
          <a:ln w="6985">
            <a:solidFill>
              <a:srgbClr val="404040"/>
            </a:solidFill>
          </a:ln>
        </p:spPr>
        <p:style>
          <a:lnRef idx="2">
            <a:schemeClr val="accent1"/>
          </a:lnRef>
          <a:fillRef idx="0">
            <a:schemeClr val="accent1"/>
          </a:fillRef>
          <a:effectRef idx="1">
            <a:schemeClr val="accent1"/>
          </a:effectRef>
          <a:fontRef idx="minor">
            <a:schemeClr val="tx1"/>
          </a:fontRef>
        </p:style>
      </p:cxnSp>
      <p:sp>
        <p:nvSpPr>
          <p:cNvPr id="56" name="Inventory evidence divider circle"/>
          <p:cNvSpPr/>
          <p:nvPr/>
        </p:nvSpPr>
        <p:spPr>
          <a:xfrm>
            <a:off x="7004304" y="1819656"/>
            <a:ext cx="256032" cy="25603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 name="Inventory evidence divider arrow"/>
          <p:cNvCxnSpPr/>
          <p:nvPr/>
        </p:nvCxnSpPr>
        <p:spPr>
          <a:xfrm>
            <a:off x="7104888" y="1892807"/>
            <a:ext cx="54864" cy="54865"/>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8" name="Inventory evidence divider arrow"/>
          <p:cNvCxnSpPr/>
          <p:nvPr/>
        </p:nvCxnSpPr>
        <p:spPr>
          <a:xfrm flipH="1">
            <a:off x="7104888" y="1947672"/>
            <a:ext cx="54864" cy="54864"/>
          </a:xfrm>
          <a:prstGeom prst="line">
            <a:avLst/>
          </a:prstGeom>
          <a:ln w="1143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9" name="Inventory evidence divider header"/>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7424927" y="1627632"/>
            <a:ext cx="3685032" cy="310896"/>
          </a:xfrm>
          <a:prstGeom prst="rect">
            <a:avLst/>
          </a:prstGeom>
          <a:noFill/>
        </p:spPr>
        <p:txBody>
          <a:bodyPr wrap="square" lIns="0" rIns="0" tIns="0" bIns="0">
            <a:noAutofit/>
          </a:bodyPr>
          <a:lstStyle/>
          <a:p>
            <a:pPr>
              <a:spcAft>
                <a:spcPts val="300"/>
              </a:spcAft>
              <a:defRPr sz="1400" b="1">
                <a:solidFill>
                  <a:srgbClr val="000000"/>
                </a:solidFill>
                <a:latin typeface="Lato"/>
              </a:defRPr>
            </a:pPr>
            <a:r>
              <a:rPr sz="1400" b="1">
                <a:latin typeface="Lato"/>
              </a:rPr>
              <a:t>Implication for Vopak</a:t>
            </a:r>
          </a:p>
        </p:txBody>
      </p:sp>
      <p:cxnSp>
        <p:nvCxnSpPr>
          <p:cNvPr id="61" name="Connector 60"/>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2185416"/>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01 | Inventory policy sets working stock</a:t>
            </a:r>
          </a:p>
        </p:txBody>
      </p:sp>
      <p:sp>
        <p:nvSpPr>
          <p:cNvPr id="63" name="TextBox 62"/>
          <p:cNvSpPr txBox="1"/>
          <p:nvPr/>
        </p:nvSpPr>
        <p:spPr>
          <a:xfrm>
            <a:off x="7424927" y="2532888"/>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At the illustrative 5.5 bn litres/year and uniform daily flow, 14 days requires 211,000 m³. More inventory days require more stock.</a:t>
            </a:r>
          </a:p>
        </p:txBody>
      </p:sp>
      <p:sp>
        <p:nvSpPr>
          <p:cNvPr id="64" name="TextBox 63"/>
          <p:cNvSpPr txBox="1"/>
          <p:nvPr/>
        </p:nvSpPr>
        <p:spPr>
          <a:xfrm>
            <a:off x="7424927" y="3172968"/>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02 | Existing tanks may absorb the stock</a:t>
            </a:r>
          </a:p>
        </p:txBody>
      </p:sp>
      <p:sp>
        <p:nvSpPr>
          <p:cNvPr id="65" name="TextBox 64"/>
          <p:cNvSpPr txBox="1"/>
          <p:nvPr/>
        </p:nvSpPr>
        <p:spPr>
          <a:xfrm>
            <a:off x="7424927" y="3520440"/>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Compare this stock with fuel-compatible working space at Durban and Lesedi. Published gross capacities do not prove spare usable space.</a:t>
            </a:r>
          </a:p>
        </p:txBody>
      </p:sp>
      <p:sp>
        <p:nvSpPr>
          <p:cNvPr id="66" name="TextBox 65"/>
          <p:cNvSpPr txBox="1"/>
          <p:nvPr/>
        </p:nvSpPr>
        <p:spPr>
          <a:xfrm>
            <a:off x="7424927" y="4160520"/>
            <a:ext cx="3685032" cy="292608"/>
          </a:xfrm>
          <a:prstGeom prst="rect">
            <a:avLst/>
          </a:prstGeom>
          <a:noFill/>
        </p:spPr>
        <p:txBody>
          <a:bodyPr wrap="square" lIns="0" rIns="0" tIns="0" bIns="0">
            <a:spAutoFit/>
          </a:bodyPr>
          <a:lstStyle/>
          <a:p>
            <a:pPr>
              <a:spcAft>
                <a:spcPts val="300"/>
              </a:spcAft>
              <a:defRPr sz="1200" b="1">
                <a:solidFill>
                  <a:srgbClr val="404040"/>
                </a:solidFill>
                <a:latin typeface="Lato"/>
              </a:defRPr>
            </a:pPr>
            <a:r>
              <a:t>03 | This is not a new-storage requirement</a:t>
            </a:r>
          </a:p>
        </p:txBody>
      </p:sp>
      <p:sp>
        <p:nvSpPr>
          <p:cNvPr id="67" name="TextBox 66"/>
          <p:cNvSpPr txBox="1"/>
          <p:nvPr/>
        </p:nvSpPr>
        <p:spPr>
          <a:xfrm>
            <a:off x="7424927" y="4507992"/>
            <a:ext cx="3685032" cy="658368"/>
          </a:xfrm>
          <a:prstGeom prst="rect">
            <a:avLst/>
          </a:prstGeom>
          <a:noFill/>
        </p:spPr>
        <p:txBody>
          <a:bodyPr wrap="square" lIns="0" rIns="0" tIns="0" bIns="0">
            <a:spAutoFit/>
          </a:bodyPr>
          <a:lstStyle/>
          <a:p>
            <a:pPr>
              <a:spcAft>
                <a:spcPts val="300"/>
              </a:spcAft>
              <a:defRPr sz="1200" b="0">
                <a:solidFill>
                  <a:srgbClr val="404040"/>
                </a:solidFill>
                <a:latin typeface="Lato"/>
              </a:defRPr>
            </a:pPr>
            <a:r>
              <a:t>Allow for peaks, product segregation, tank heels and receipt/dispatch limits. Add storage only if secured flows leave a usable-capacity gap.</a:t>
            </a:r>
          </a:p>
        </p:txBody>
      </p:sp>
      <p:cxnSp>
        <p:nvCxnSpPr>
          <p:cNvPr id="68" name="Connector 67"/>
          <p:cNvCxnSpPr/>
          <p:nvPr/>
        </p:nvCxnSpPr>
        <p:spPr>
          <a:xfrm>
            <a:off x="7424927" y="5285232"/>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7424927" y="5413248"/>
            <a:ext cx="3685032" cy="274320"/>
          </a:xfrm>
          <a:prstGeom prst="rect">
            <a:avLst/>
          </a:prstGeom>
          <a:noFill/>
        </p:spPr>
        <p:txBody>
          <a:bodyPr wrap="square" lIns="0" rIns="0" tIns="0" bIns="0">
            <a:spAutoFit/>
          </a:bodyPr>
          <a:lstStyle/>
          <a:p>
            <a:pPr>
              <a:spcAft>
                <a:spcPts val="300"/>
              </a:spcAft>
              <a:defRPr sz="1400" b="1">
                <a:solidFill>
                  <a:srgbClr val="000000"/>
                </a:solidFill>
                <a:latin typeface="Lato"/>
              </a:defRPr>
            </a:pPr>
            <a:r>
              <a:t>Next action</a:t>
            </a:r>
          </a:p>
        </p:txBody>
      </p:sp>
      <p:sp>
        <p:nvSpPr>
          <p:cNvPr id="70" name="TextBox 69"/>
          <p:cNvSpPr txBox="1"/>
          <p:nvPr/>
        </p:nvSpPr>
        <p:spPr>
          <a:xfrm>
            <a:off x="7424927" y="5760720"/>
            <a:ext cx="3685032" cy="548640"/>
          </a:xfrm>
          <a:prstGeom prst="rect">
            <a:avLst/>
          </a:prstGeom>
          <a:noFill/>
        </p:spPr>
        <p:txBody>
          <a:bodyPr wrap="square" lIns="0" rIns="0" tIns="0" bIns="0">
            <a:spAutoFit/>
          </a:bodyPr>
          <a:lstStyle/>
          <a:p>
            <a:pPr>
              <a:spcAft>
                <a:spcPts val="300"/>
              </a:spcAft>
              <a:defRPr sz="1200" b="0">
                <a:solidFill>
                  <a:srgbClr val="404040"/>
                </a:solidFill>
                <a:latin typeface="Lato"/>
              </a:defRPr>
            </a:pPr>
            <a:r>
              <a:t>Nigel: confirm candidate flows and inventory policy. Manish/Henry: verify spare working capacity and operating limits.</a:t>
            </a:r>
          </a:p>
        </p:txBody>
      </p: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At fixed tankage, three monthly turns imply three times the handling of one turn</a:t>
            </a:r>
          </a:p>
        </p:txBody>
      </p:sp>
      <p:sp>
        <p:nvSpPr>
          <p:cNvPr id="3" name="Slide Number Placeholder"/>
          <p:cNvSpPr>
            <a:spLocks noGrp="1"/>
          </p:cNvSpPr>
          <p:nvPr>
            <p:ph type="sldNum" sz="quarter" idx="12"/>
          </p:nvPr>
        </p:nvSpPr>
        <p:spPr/>
        <p:txBody>
          <a:bodyPr/>
          <a:lstStyle/>
          <a:p>
            <a:pPr>
              <a:defRPr sz="1000">
                <a:latin typeface="Lato"/>
              </a:defRPr>
            </a:pPr>
            <a:r>
              <a:t>25</a:t>
            </a:r>
          </a:p>
        </p:txBody>
      </p:sp>
      <p:sp>
        <p:nvSpPr>
          <p:cNvPr id="4" name="TextBox 3"/>
          <p:cNvSpPr txBox="1"/>
          <p:nvPr/>
        </p:nvSpPr>
        <p:spPr>
          <a:xfrm>
            <a:off x="457200" y="1627632"/>
            <a:ext cx="10652760" cy="365760"/>
          </a:xfrm>
          <a:prstGeom prst="rect">
            <a:avLst/>
          </a:prstGeom>
          <a:noFill/>
        </p:spPr>
        <p:txBody>
          <a:bodyPr wrap="square" lIns="0" rIns="0" tIns="0" bIns="0">
            <a:spAutoFit/>
          </a:bodyPr>
          <a:lstStyle/>
          <a:p>
            <a:pPr>
              <a:spcAft>
                <a:spcPts val="300"/>
              </a:spcAft>
              <a:defRPr sz="1400" b="1">
                <a:solidFill>
                  <a:srgbClr val="404040"/>
                </a:solidFill>
                <a:latin typeface="Lato"/>
              </a:defRPr>
            </a:pPr>
            <a:r>
              <a:t>Gross handling equivalent, million m³/year | authored 1 / 2 / 3 monthly-turn cases</a:t>
            </a:r>
          </a:p>
        </p:txBody>
      </p:sp>
      <p:graphicFrame>
        <p:nvGraphicFramePr>
          <p:cNvPr id="5" name="Table 4"/>
          <p:cNvGraphicFramePr>
            <a:graphicFrameLocks noGrp="1"/>
          </p:cNvGraphicFramePr>
          <p:nvPr/>
        </p:nvGraphicFramePr>
        <p:xfrm>
          <a:off x="457200" y="2423160"/>
          <a:ext cx="10652760" cy="2286000"/>
        </p:xfrm>
        <a:graphic>
          <a:graphicData uri="http://schemas.openxmlformats.org/drawingml/2006/table">
            <a:tbl>
              <a:tblPr firstRow="1" bandRow="1">
                <a:tableStyleId>{2D5ABB26-0587-4C30-8999-92F81FD0307C}</a:tableStyleId>
              </a:tblPr>
              <a:tblGrid>
                <a:gridCol w="2788920"/>
                <a:gridCol w="2606040"/>
                <a:gridCol w="2606040"/>
                <a:gridCol w="2651760"/>
              </a:tblGrid>
              <a:tr h="457200">
                <a:tc>
                  <a:txBody>
                    <a:bodyPr/>
                    <a:lstStyle/>
                    <a:p>
                      <a:pPr>
                        <a:spcAft>
                          <a:spcPts val="0"/>
                        </a:spcAft>
                        <a:defRPr sz="1300" b="1">
                          <a:solidFill>
                            <a:srgbClr val="000000"/>
                          </a:solidFill>
                          <a:latin typeface="Lato"/>
                        </a:defRPr>
                      </a:pPr>
                      <a:r>
                        <a:t>Region</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Low: 1 turn/month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Base: 2 turns/month</a:t>
                      </a:r>
                    </a:p>
                  </a:txBody>
                  <a:tcPr marL="36576" marR="27432" marT="45720" marB="0">
                    <a:lnB w="6350" cap="flat">
                      <a:solidFill>
                        <a:srgbClr val="EEEEEE"/>
                      </a:solidFill>
                    </a:lnB>
                    <a:solidFill>
                      <a:srgbClr val="FFFFFF"/>
                    </a:solidFill>
                  </a:tcPr>
                </a:tc>
                <a:tc>
                  <a:txBody>
                    <a:bodyPr/>
                    <a:lstStyle/>
                    <a:p>
                      <a:pPr>
                        <a:spcAft>
                          <a:spcPts val="0"/>
                        </a:spcAft>
                        <a:defRPr sz="1300" b="1">
                          <a:solidFill>
                            <a:srgbClr val="000000"/>
                          </a:solidFill>
                          <a:latin typeface="Lato"/>
                        </a:defRPr>
                      </a:pPr>
                      <a:r>
                        <a:t>High: 3 turns/month</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Eastern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15.40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30.80</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46.20</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Inland</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2.07</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4.14</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6.21</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Western coast</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1.46</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2.93</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4.39</a:t>
                      </a:r>
                    </a:p>
                  </a:txBody>
                  <a:tcPr marL="36576" marR="27432" marT="45720" marB="0">
                    <a:lnB w="6350" cap="flat">
                      <a:solidFill>
                        <a:srgbClr val="EEEEEE"/>
                      </a:solidFill>
                    </a:lnB>
                    <a:solidFill>
                      <a:srgbClr val="FFFFFF"/>
                    </a:solidFill>
                  </a:tcPr>
                </a:tc>
              </a:tr>
              <a:tr h="457200">
                <a:tc>
                  <a:txBody>
                    <a:bodyPr/>
                    <a:lstStyle/>
                    <a:p>
                      <a:pPr>
                        <a:spcAft>
                          <a:spcPts val="0"/>
                        </a:spcAft>
                        <a:defRPr sz="1300" b="0">
                          <a:solidFill>
                            <a:srgbClr val="000000"/>
                          </a:solidFill>
                          <a:latin typeface="Lato"/>
                        </a:defRPr>
                      </a:pPr>
                      <a:r>
                        <a:t>Other / NC</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c>
                  <a:txBody>
                    <a:bodyPr/>
                    <a:lstStyle/>
                    <a:p>
                      <a:pPr>
                        <a:spcAft>
                          <a:spcPts val="0"/>
                        </a:spcAft>
                        <a:defRPr sz="1300" b="0">
                          <a:solidFill>
                            <a:srgbClr val="000000"/>
                          </a:solidFill>
                          <a:latin typeface="Lato"/>
                        </a:defRPr>
                      </a:pPr>
                      <a:r>
                        <a:t>Unknown</a:t>
                      </a:r>
                    </a:p>
                  </a:txBody>
                  <a:tcPr marL="36576" marR="27432" marT="45720" marB="0">
                    <a:lnB w="6350" cap="flat">
                      <a:solidFill>
                        <a:srgbClr val="EEEEEE"/>
                      </a:solidFill>
                    </a:lnB>
                    <a:solidFill>
                      <a:srgbClr val="FFFFFF"/>
                    </a:solidFill>
                  </a:tcPr>
                </a:tc>
              </a:tr>
            </a:tbl>
          </a:graphicData>
        </a:graphic>
      </p:graphicFrame>
      <p:sp>
        <p:nvSpPr>
          <p:cNvPr id="6" name="TextBox 5"/>
          <p:cNvSpPr txBox="1"/>
          <p:nvPr/>
        </p:nvSpPr>
        <p:spPr>
          <a:xfrm>
            <a:off x="457200" y="5047488"/>
            <a:ext cx="10652760" cy="320040"/>
          </a:xfrm>
          <a:prstGeom prst="rect">
            <a:avLst/>
          </a:prstGeom>
          <a:noFill/>
        </p:spPr>
        <p:txBody>
          <a:bodyPr wrap="square" lIns="0" rIns="0" tIns="0" bIns="0">
            <a:spAutoFit/>
          </a:bodyPr>
          <a:lstStyle/>
          <a:p>
            <a:pPr>
              <a:spcAft>
                <a:spcPts val="300"/>
              </a:spcAft>
              <a:defRPr sz="1500" b="1">
                <a:solidFill>
                  <a:srgbClr val="404040"/>
                </a:solidFill>
                <a:latin typeface="Lato"/>
              </a:defRPr>
            </a:pPr>
            <a:r>
              <a:t>Annual handling = gross tankage × monthly turns × 12</a:t>
            </a:r>
          </a:p>
        </p:txBody>
      </p:sp>
      <p:sp>
        <p:nvSpPr>
          <p:cNvPr id="7" name="TextBox 6"/>
          <p:cNvSpPr txBox="1"/>
          <p:nvPr/>
        </p:nvSpPr>
        <p:spPr>
          <a:xfrm>
            <a:off x="457200" y="5541264"/>
            <a:ext cx="10652760" cy="502920"/>
          </a:xfrm>
          <a:prstGeom prst="rect">
            <a:avLst/>
          </a:prstGeom>
          <a:noFill/>
        </p:spPr>
        <p:txBody>
          <a:bodyPr wrap="square" lIns="0" rIns="0" tIns="0" bIns="0">
            <a:spAutoFit/>
          </a:bodyPr>
          <a:lstStyle/>
          <a:p>
            <a:pPr>
              <a:spcAft>
                <a:spcPts val="300"/>
              </a:spcAft>
              <a:defRPr sz="1200" b="0">
                <a:solidFill>
                  <a:srgbClr val="404040"/>
                </a:solidFill>
                <a:latin typeface="Lato"/>
              </a:defRPr>
            </a:pPr>
            <a:r>
              <a:t>Two turns/month is an authored base. The range is informed by generic industry material, not measured SA site performance. Replace with compatible working capacity and unique outbound volumes.</a:t>
            </a:r>
          </a:p>
        </p:txBody>
      </p:sp>
      <p:sp>
        <p:nvSpPr>
          <p:cNvPr id="8" name="TextBox 7"/>
          <p:cNvSpPr txBox="1"/>
          <p:nvPr/>
        </p:nvSpPr>
        <p:spPr>
          <a:xfrm>
            <a:off x="457200" y="6199632"/>
            <a:ext cx="10652760" cy="256032"/>
          </a:xfrm>
          <a:prstGeom prst="rect">
            <a:avLst/>
          </a:prstGeom>
          <a:noFill/>
        </p:spPr>
        <p:txBody>
          <a:bodyPr wrap="square" lIns="0" rIns="0" tIns="0" bIns="0">
            <a:spAutoFit/>
          </a:bodyPr>
          <a:lstStyle/>
          <a:p>
            <a:pPr>
              <a:spcAft>
                <a:spcPts val="300"/>
              </a:spcAft>
              <a:defRPr sz="900" b="0">
                <a:solidFill>
                  <a:srgbClr val="404040"/>
                </a:solidFill>
                <a:latin typeface="Lato"/>
              </a:defRPr>
            </a:pPr>
            <a:r>
              <a:t>Partial inventory and mixed products; no available-supply, regional-shortage or market-share conclusion. Coastal/inland handling can count the same transferred fuel twice.</a:t>
            </a:r>
          </a:p>
        </p:txBody>
      </p:sp>
      <p:sp>
        <p:nvSpPr>
          <p:cNvPr id="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Registered terminal_handling.yaml; site inventory; Blackmer/Dover 2013 and Wood Mackenzie 2009. Owner: Manish / Nigel.</a:t>
            </a:r>
          </a:p>
        </p:txBody>
      </p:sp>
      <p:sp>
        <p:nvSpPr>
          <p:cNvPr id="1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Sales and trade establish market scale; supply origins and fuel-use attribution remain open</a:t>
            </a:r>
          </a:p>
        </p:txBody>
      </p:sp>
      <p:sp>
        <p:nvSpPr>
          <p:cNvPr id="3" name="Slide Number Placeholder"/>
          <p:cNvSpPr>
            <a:spLocks noGrp="1"/>
          </p:cNvSpPr>
          <p:nvPr>
            <p:ph type="sldNum" sz="quarter" idx="12"/>
          </p:nvPr>
        </p:nvSpPr>
        <p:spPr/>
        <p:txBody>
          <a:bodyPr/>
          <a:lstStyle/>
          <a:p>
            <a:pPr>
              <a:defRPr sz="1000">
                <a:latin typeface="Lato"/>
              </a:defRPr>
            </a:pPr>
            <a:r>
              <a:t>26</a:t>
            </a:r>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defRPr sz="1000">
                          <a:solidFill>
                            <a:srgbClr val="000000"/>
                          </a:solidFill>
                          <a:latin typeface="Lato"/>
                        </a:defRPr>
                      </a:pPr>
                      <a:r>
                        <a:t>Reported 2024 sales: petrol 9.029 bn L and diesel 11.734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3" action="ppaction://hlinksldjump"/>
                        </a:rPr>
                        <a:t> / 5</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5</a:t>
                      </a:r>
                      <a:r>
                        <a:rPr sz="1050">
                          <a:solidFill>
                            <a:srgbClr val="0A2373"/>
                          </a:solidFill>
                          <a:latin typeface="Lato"/>
                          <a:hlinkClick r:id="rId5" action="ppaction://hlinksldjump"/>
                        </a:rPr>
                        <a:t> / 8</a:t>
                      </a:r>
                      <a:r>
                        <a:rPr sz="1050">
                          <a:solidFill>
                            <a:srgbClr val="0A2373"/>
                          </a:solidFill>
                          <a:latin typeface="Lato"/>
                          <a:hlinkClick r:id="rId6" action="ppaction://hlinksldjump"/>
                        </a:rPr>
                        <a:t> / 22</a:t>
                      </a:r>
                      <a:r>
                        <a:rPr sz="1050">
                          <a:solidFill>
                            <a:srgbClr val="0A2373"/>
                          </a:solidFill>
                          <a:latin typeface="Lato"/>
                          <a:hlinkClick r:id="rId7" action="ppaction://hlinksldjump"/>
                        </a:rPr>
                        <a:t> / 23</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16</a:t>
                      </a:r>
                      <a:r>
                        <a:rPr sz="1050">
                          <a:solidFill>
                            <a:srgbClr val="0A2373"/>
                          </a:solidFill>
                          <a:latin typeface="Lato"/>
                          <a:hlinkClick r:id="rId15" action="ppaction://hlinksldjump"/>
                        </a:rPr>
                        <a:t> / 19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19</a:t>
                      </a:r>
                      <a:r>
                        <a:rPr sz="1050">
                          <a:solidFill>
                            <a:srgbClr val="0A2373"/>
                          </a:solidFill>
                          <a:latin typeface="Lato"/>
                          <a:hlinkClick r:id="rId16" action="ppaction://hlinksldjump"/>
                        </a:rPr>
                        <a:t> / 21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16</a:t>
                      </a:r>
                      <a:r>
                        <a:rPr sz="1050">
                          <a:solidFill>
                            <a:srgbClr val="0A2373"/>
                          </a:solidFill>
                          <a:latin typeface="Lato"/>
                          <a:hlinkClick r:id="rId16" action="ppaction://hlinksldjump"/>
                        </a:rPr>
                        <a:t> / 21</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7</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7</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7</a:t>
                      </a:r>
                      <a:r>
                        <a:rPr sz="1050">
                          <a:solidFill>
                            <a:srgbClr val="0A2373"/>
                          </a:solidFill>
                          <a:latin typeface="Lato"/>
                          <a:hlinkClick r:id="rId9" action="ppaction://hlinksldjump"/>
                        </a:rPr>
                        <a:t> / 18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4</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The outlook still depends on unverified rail, fleet, refinery and route assumptions</a:t>
            </a:r>
          </a:p>
        </p:txBody>
      </p:sp>
      <p:sp>
        <p:nvSpPr>
          <p:cNvPr id="3" name="Slide Number Placeholder"/>
          <p:cNvSpPr>
            <a:spLocks noGrp="1"/>
          </p:cNvSpPr>
          <p:nvPr>
            <p:ph type="sldNum" sz="quarter" idx="12"/>
          </p:nvPr>
        </p:nvSpPr>
        <p:spPr/>
        <p:txBody>
          <a:bodyPr/>
          <a:lstStyle/>
          <a:p>
            <a:pPr>
              <a:defRPr sz="1000">
                <a:latin typeface="Lato"/>
              </a:defRPr>
            </a:pPr>
            <a:r>
              <a:t>27</a:t>
            </a:r>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16</a:t>
                      </a:r>
                      <a:r>
                        <a:rPr sz="1050">
                          <a:solidFill>
                            <a:srgbClr val="0A2373"/>
                          </a:solidFill>
                          <a:latin typeface="Lato"/>
                          <a:hlinkClick r:id="rId13"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3" action="ppaction://hlinksldjump"/>
                        </a:rPr>
                        <a:t> / 19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4" action="ppaction://hlinksldjump"/>
                        </a:rPr>
                        <a:t>17</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7</a:t>
                      </a:r>
                      <a:r>
                        <a:rPr sz="1050">
                          <a:solidFill>
                            <a:srgbClr val="0A2373"/>
                          </a:solidFill>
                          <a:latin typeface="Lato"/>
                          <a:hlinkClick r:id="rId13" action="ppaction://hlinksldjump"/>
                        </a:rPr>
                        <a:t> / 19</a:t>
                      </a:r>
                      <a:r>
                        <a:rPr sz="1050">
                          <a:solidFill>
                            <a:srgbClr val="0A2373"/>
                          </a:solidFill>
                          <a:latin typeface="Lato"/>
                          <a:hlinkClick r:id="rId16" action="ppaction://hlinksldjump"/>
                        </a:rPr>
                        <a:t> / 20</a:t>
                      </a:r>
                      <a:r>
                        <a:rPr sz="1050">
                          <a:solidFill>
                            <a:srgbClr val="0A2373"/>
                          </a:solidFill>
                          <a:latin typeface="Lato"/>
                          <a:hlinkClick r:id="rId15" action="ppaction://hlinksldjump"/>
                        </a:rPr>
                        <a:t> / 21</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7</a:t>
                      </a:r>
                      <a:r>
                        <a:rPr sz="1050">
                          <a:solidFill>
                            <a:srgbClr val="0A2373"/>
                          </a:solidFill>
                          <a:latin typeface="Lato"/>
                          <a:hlinkClick r:id="rId3" action="ppaction://hlinksldjump"/>
                        </a:rPr>
                        <a:t> / 18</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7</a:t>
                      </a:r>
                      <a:r>
                        <a:rPr sz="1050">
                          <a:solidFill>
                            <a:srgbClr val="0A2373"/>
                          </a:solidFill>
                          <a:latin typeface="Lato"/>
                          <a:hlinkClick r:id="rId3" action="ppaction://hlinksldjump"/>
                        </a:rPr>
                        <a:t> / 18</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8</a:t>
                      </a:r>
                      <a:r>
                        <a:rPr sz="1050">
                          <a:solidFill>
                            <a:srgbClr val="0A2373"/>
                          </a:solidFill>
                          <a:latin typeface="Lato"/>
                          <a:hlinkClick r:id="rId6" action="ppaction://hlinksldjump"/>
                        </a:rPr>
                        <a:t> / 9</a:t>
                      </a:r>
                      <a:r>
                        <a:rPr sz="1050">
                          <a:solidFill>
                            <a:srgbClr val="0A2373"/>
                          </a:solidFill>
                          <a:latin typeface="Lato"/>
                          <a:hlinkClick r:id="rId7" action="ppaction://hlinksldjump"/>
                        </a:rPr>
                        <a:t> / 23</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9</a:t>
                      </a:r>
                      <a:r>
                        <a:rPr sz="1050">
                          <a:solidFill>
                            <a:srgbClr val="0A2373"/>
                          </a:solidFill>
                          <a:latin typeface="Lato"/>
                          <a:hlinkClick r:id="rId7" action="ppaction://hlinksldjump"/>
                        </a:rPr>
                        <a:t> / 23</a:t>
                      </a:r>
                      <a:r>
                        <a:rPr sz="1050">
                          <a:solidFill>
                            <a:srgbClr val="0A2373"/>
                          </a:solidFill>
                          <a:latin typeface="Lato"/>
                          <a:hlinkClick r:id="rId8" action="ppaction://hlinksldjump"/>
                        </a:rPr>
                        <a:t> / 12</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 market share and new investment needs remain unquantified</a:t>
            </a:r>
          </a:p>
        </p:txBody>
      </p:sp>
      <p:sp>
        <p:nvSpPr>
          <p:cNvPr id="3" name="Slide Number Placeholder"/>
          <p:cNvSpPr>
            <a:spLocks noGrp="1"/>
          </p:cNvSpPr>
          <p:nvPr>
            <p:ph type="sldNum" sz="quarter" idx="12"/>
          </p:nvPr>
        </p:nvSpPr>
        <p:spPr/>
        <p:txBody>
          <a:bodyPr/>
          <a:lstStyle/>
          <a:p>
            <a:pPr>
              <a:defRPr sz="1000">
                <a:latin typeface="Lato"/>
              </a:defRPr>
            </a:pPr>
            <a:r>
              <a:t>28</a:t>
            </a:r>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22</a:t>
                      </a:r>
                      <a:r>
                        <a:rPr sz="1050">
                          <a:solidFill>
                            <a:srgbClr val="0A2373"/>
                          </a:solidFill>
                          <a:latin typeface="Lato"/>
                          <a:hlinkClick r:id="rId3" action="ppaction://hlinksldjump"/>
                        </a:rPr>
                        <a:t> / 11</a:t>
                      </a:r>
                      <a:r>
                        <a:rPr sz="1050">
                          <a:solidFill>
                            <a:srgbClr val="0A2373"/>
                          </a:solidFill>
                          <a:latin typeface="Lato"/>
                          <a:hlinkClick r:id="rId4" action="ppaction://hlinksldjump"/>
                        </a:rPr>
                        <a:t> / 23</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24</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pPr>
              <a:defRPr sz="1000">
                <a:latin typeface="Lato"/>
              </a:defRPr>
            </a:pPr>
            <a:r>
              <a:t>30</a:t>
            </a:r>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71" name="Slide Number Placeholder"/>
          <p:cNvSpPr>
            <a:spLocks noGrp="1"/>
          </p:cNvSpPr>
          <p:nvPr>
            <p:ph type="sldNum" sz="quarter" idx="12"/>
          </p:nvPr>
        </p:nvSpPr>
        <p:spPr/>
        <p:txBody>
          <a:bodyPr/>
          <a:lstStyle/>
          <a:p>
            <a:pPr>
              <a:defRPr sz="1000">
                <a:latin typeface="Lato"/>
              </a:defRPr>
            </a:pPr>
            <a:r>
              <a:t>30</a:t>
            </a:r>
          </a:p>
        </p:txBody>
      </p:sp>
      <p:sp>
        <p:nvSpPr>
          <p:cNvPr id="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