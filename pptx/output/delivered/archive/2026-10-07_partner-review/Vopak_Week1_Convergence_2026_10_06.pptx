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70" r:id="rId25"/>
    <p:sldId id="275" r:id="rId30"/>
    <p:sldId id="258" r:id="rId5"/>
    <p:sldId id="271" r:id="rId26"/>
    <p:sldId id="266" r:id="rId21"/>
    <p:sldId id="259" r:id="rId16"/>
    <p:sldId id="272" r:id="rId27"/>
    <p:sldId id="265" r:id="rId20"/>
    <p:sldId id="273" r:id="rId28"/>
    <p:sldId id="274" r:id="rId29"/>
    <p:sldId id="282" r:id="rId37"/>
    <p:sldId id="280" r:id="rId35"/>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4.xml"/><Relationship Id="rId17" Type="http://schemas.openxmlformats.org/officeDocument/2006/relationships/slide" Target="slides/slide5.xml"/><Relationship Id="rId18" Type="http://schemas.openxmlformats.org/officeDocument/2006/relationships/slide" Target="slides/slide25.xml"/><Relationship Id="rId19" Type="http://schemas.openxmlformats.org/officeDocument/2006/relationships/slide" Target="slides/slide7.xml"/><Relationship Id="rId20" Type="http://schemas.openxmlformats.org/officeDocument/2006/relationships/slide" Target="slides/slide16.xml"/><Relationship Id="rId21" Type="http://schemas.openxmlformats.org/officeDocument/2006/relationships/slide" Target="slides/slide13.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2.xml"/><Relationship Id="rId27" Type="http://schemas.openxmlformats.org/officeDocument/2006/relationships/slide" Target="slides/slide15.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0.xml"/><Relationship Id="rId31" Type="http://schemas.openxmlformats.org/officeDocument/2006/relationships/slide" Target="slides/slide26.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0.xml"/><Relationship Id="rId36" Type="http://schemas.openxmlformats.org/officeDocument/2006/relationships/slide" Target="slides/slide2.xml"/><Relationship Id="rId37" Type="http://schemas.openxmlformats.org/officeDocument/2006/relationships/slide" Target="slides/slide19.xml"/><Relationship Id="rId3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Storage is stacked Vopak then other listed operators, one row per region aligned with annual demand. End labels show known listed subtotals, not complete regional capacity. Component labels are rounded and follow legend order; missing values remain dash/question mark. Shared stock axis is 0–1.5 million m3.</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20–22.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customer screens cannot be located on this map.</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4.xml"/><Relationship Id="rId12" Type="http://schemas.openxmlformats.org/officeDocument/2006/relationships/slide" Target="slide16.xml"/><Relationship Id="rId13" Type="http://schemas.openxmlformats.org/officeDocument/2006/relationships/slide" Target="slide15.xml"/><Relationship Id="rId14" Type="http://schemas.openxmlformats.org/officeDocument/2006/relationships/slide" Target="slide13.xml"/><Relationship Id="rId15" Type="http://schemas.openxmlformats.org/officeDocument/2006/relationships/slide" Target="slide17.xml"/><Relationship Id="rId16" Type="http://schemas.openxmlformats.org/officeDocument/2006/relationships/slide" Target="slide3.xml"/><Relationship Id="rId17" Type="http://schemas.openxmlformats.org/officeDocument/2006/relationships/slide" Target="slide18.xml"/><Relationship Id="rId18" Type="http://schemas.openxmlformats.org/officeDocument/2006/relationships/slide" Target="slide10.xml"/><Relationship Id="rId19" Type="http://schemas.openxmlformats.org/officeDocument/2006/relationships/slide" Target="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9.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0.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5.xml"/><Relationship Id="rId8" Type="http://schemas.openxmlformats.org/officeDocument/2006/relationships/slide" Target="slide18.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4.xml"/><Relationship Id="rId3" Type="http://schemas.openxmlformats.org/officeDocument/2006/relationships/slide" Target="slide16.xml"/><Relationship Id="rId4" Type="http://schemas.openxmlformats.org/officeDocument/2006/relationships/slide" Target="slide15.xml"/><Relationship Id="rId5" Type="http://schemas.openxmlformats.org/officeDocument/2006/relationships/slide" Target="slide13.xml"/><Relationship Id="rId6" Type="http://schemas.openxmlformats.org/officeDocument/2006/relationships/slide" Target="slide18.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About this document</a:t>
            </a:r>
          </a:p>
        </p:txBody>
      </p:sp>
      <p:sp>
        <p:nvSpPr>
          <p:cNvPr id="3" name="Slide Number Placeholder"/>
          <p:cNvSpPr>
            <a:spLocks noGrp="1"/>
          </p:cNvSpPr>
          <p:nvPr>
            <p:ph type="sldNum" sz="quarter" idx="12"/>
          </p:nvPr>
        </p:nvSpPr>
        <p:spPr/>
        <p:txBody>
          <a:bodyPr/>
          <a:lstStyle/>
          <a:p>
            <a:fld id="{5E160077-EB64-423B-97C6-6B291B79B1D2}"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Demand drivers, refinery alternatives and L/M/H scenario design for all key levers and assumptions.</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22–24; open items remain open.
Source: Partner SA storyboard; SARS / Stats SA / operator evidence, 6 Oct 2026. Remaining gaps labelled.</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9</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11</a:t>
                      </a:r>
                      <a:r>
                        <a:rPr sz="1050">
                          <a:solidFill>
                            <a:srgbClr val="0A2373"/>
                          </a:solidFill>
                          <a:latin typeface="Lato"/>
                          <a:hlinkClick r:id="rId10" action="ppaction://hlinksldjump"/>
                        </a:rPr>
                        <a:t> / 12</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 reach → estimated handling</a:t>
                      </a:r>
                    </a:p>
                    <a:p>
                      <a:pPr>
                        <a:spcAft>
                          <a:spcPts val="0"/>
                        </a:spcAft>
                        <a:defRPr sz="1050">
                          <a:solidFill>
                            <a:srgbClr val="000000"/>
                          </a:solidFill>
                          <a:latin typeface="Lato"/>
                        </a:defRPr>
                      </a:pPr>
                      <a:r>
                        <a:t>Define regions, screen customers and compare annual demand with handling at two turns/month.</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customer share unquantified.</a:t>
                      </a:r>
                    </a:p>
                    <a:p>
                      <a:pPr>
                        <a:spcAft>
                          <a:spcPts val="0"/>
                        </a:spcAft>
                        <a:defRPr sz="1050">
                          <a:solidFill>
                            <a:srgbClr val="000000"/>
                          </a:solidFill>
                          <a:latin typeface="Lato"/>
                        </a:defRPr>
                      </a:pPr>
                      <a:r>
                        <a:t>Validate cost, service, rights and unique deliveries.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13</a:t>
                      </a:r>
                      <a:r>
                        <a:rPr sz="1050">
                          <a:solidFill>
                            <a:srgbClr val="0A2373"/>
                          </a:solidFill>
                          <a:latin typeface="Lato"/>
                          <a:hlinkClick r:id="rId11" action="ppaction://hlinksldjump"/>
                        </a:rPr>
                        <a:t> / 14</a:t>
                      </a:r>
                      <a:r>
                        <a:rPr sz="1050">
                          <a:solidFill>
                            <a:srgbClr val="0A2373"/>
                          </a:solidFill>
                          <a:latin typeface="Lato"/>
                          <a:hlinkClick r:id="rId13" action="ppaction://hlinksldjump"/>
                        </a:rPr>
                        <a:t> / 15</a:t>
                      </a:r>
                      <a:r>
                        <a:rPr sz="1050">
                          <a:solidFill>
                            <a:srgbClr val="0A2373"/>
                          </a:solidFill>
                          <a:latin typeface="Lato"/>
                          <a:hlinkClick r:id="rId12" action="ppaction://hlinksldjump"/>
                        </a:rPr>
                        <a:t> / 16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Working stock → outlook → delivery gates</a:t>
                      </a:r>
                    </a:p>
                    <a:p>
                      <a:pPr>
                        <a:spcAft>
                          <a:spcPts val="0"/>
                        </a:spcAft>
                        <a:defRPr sz="1050">
                          <a:solidFill>
                            <a:srgbClr val="000000"/>
                          </a:solidFill>
                          <a:latin typeface="Lato"/>
                        </a:defRPr>
                      </a:pPr>
                      <a:r>
                        <a:t>The 5.5 bn L/year example needs 211,000 m³ at 14 days; test usable spare space before adding tanks.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secure customer flows first.</a:t>
                      </a:r>
                    </a:p>
                    <a:p>
                      <a:pPr>
                        <a:spcAft>
                          <a:spcPts val="0"/>
                        </a:spcAft>
                        <a:defRPr sz="1050">
                          <a:solidFill>
                            <a:srgbClr val="000000"/>
                          </a:solidFill>
                          <a:latin typeface="Lato"/>
                        </a:defRPr>
                      </a:pPr>
                      <a:r>
                        <a:t>Use existing assets; validate a capacity gap, then test investment.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5" action="ppaction://hlinksldjump"/>
                        </a:rPr>
                        <a:t>17</a:t>
                      </a:r>
                      <a:r>
                        <a:rPr sz="1050">
                          <a:solidFill>
                            <a:srgbClr val="0A2373"/>
                          </a:solidFill>
                          <a:latin typeface="Lato"/>
                          <a:hlinkClick r:id="rId17" action="ppaction://hlinksldjump"/>
                        </a:rPr>
                        <a:t> / 18</a:t>
                      </a:r>
                      <a:r>
                        <a:rPr sz="1050">
                          <a:solidFill>
                            <a:srgbClr val="0A2373"/>
                          </a:solidFill>
                          <a:latin typeface="Lato"/>
                          <a:hlinkClick r:id="rId19"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Diesel imports 10.793 bn L.</a:t>
            </a:r>
          </a:p>
          <a:p>
            <a:pPr>
              <a:spcAft>
                <a:spcPts val="300"/>
              </a:spcAft>
              <a:defRPr sz="1150" b="0">
                <a:solidFill>
                  <a:srgbClr val="000000"/>
                </a:solidFill>
                <a:latin typeface="Lato"/>
              </a:defRPr>
            </a:pPr>
            <a:r>
              <a:rPr>
                <a:solidFill/>
              </a:rPr>
              <a:t>Government rounds to 10.800; FIASA 14.793.</a:t>
            </a:r>
          </a:p>
          <a:p>
            <a:pPr>
              <a:spcAft>
                <a:spcPts val="300"/>
              </a:spcAft>
              <a:defRPr sz="1150" b="0">
                <a:solidFill>
                  <a:srgbClr val="000000"/>
                </a:solidFill>
                <a:latin typeface="Lato"/>
              </a:defRPr>
            </a:pPr>
            <a:r>
              <a:rPr>
                <a:solidFill/>
              </a:rP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Sales less net imports = 7.685 bn L.</a:t>
            </a:r>
          </a:p>
          <a:p>
            <a:pPr>
              <a:spcAft>
                <a:spcPts val="300"/>
              </a:spcAft>
              <a:defRPr sz="1150" b="0">
                <a:solidFill>
                  <a:srgbClr val="000000"/>
                </a:solidFill>
                <a:latin typeface="Lato"/>
              </a:defRPr>
            </a:pPr>
            <a:r>
              <a:rPr>
                <a:solidFill/>
              </a:rPr>
              <a:t>Balancing requirement, not production.</a:t>
            </a:r>
          </a:p>
          <a:p>
            <a:pPr>
              <a:spcAft>
                <a:spcPts val="300"/>
              </a:spcAft>
              <a:defRPr sz="1150" b="0">
                <a:solidFill>
                  <a:srgbClr val="000000"/>
                </a:solidFill>
                <a:latin typeface="Lato"/>
              </a:defRPr>
            </a:pPr>
            <a:r>
              <a:rPr>
                <a:solidFill/>
              </a:rP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rebuild the balance CSV from SARS; match product, year, actual output and stock changes. Nigel: agree the sales selection and obtain customer/port evidence.</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0"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1"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confirm customer markets for Durban and Lesedi. Manish: retain the observed 2022 map; present later estimates separately with national-source flags.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Manish fixed the 2013 parser and traced 2015 to a source revision. Decisions remain on 2014 conflicts and incomplete 2018 coverage.</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reconcile source selections and retain estimate labels. Nigel: decide whether estimated petrol volumes belong in the outlook; diesel booking shares are less stable.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populate the matched-year national balance first; retain provincial origin as unknown until supported.</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Diesel wholesale</a:t>
            </a:r>
          </a:p>
        </p:txBody>
      </p:sp>
      <p:sp>
        <p:nvSpPr>
          <p:cNvPr id="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match operator output to product/year and document Natref ownership basis. Henry: review technical mechanisms. Nigel: agree refinery scenario timing.</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L/M/H assumptions define coherent demand, supply and customer-access worlds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Agreed reference assumptions</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17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8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7"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8"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39"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0"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1"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2"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3"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available tanks, customer access and full delivered costs. Source Namibia/Mozambique demand before extending the heatmap; grey means unassessed.</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Group the storage footprint into eastern, inland and western markets</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Regions organise the market test</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Use these regions to align demand, reach and annual handling. Site catchments require customer and route evidence.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product compatibility, capacity basis and operating status. Nigel: confirm usable client capacity.</a:t>
            </a:r>
          </a:p>
        </p:txBody>
      </p: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spAutoFit/>
          </a:bodyPr>
          <a:lstStyle/>
          <a:p>
            <a:pPr>
              <a:spcAft>
                <a:spcPts val="300"/>
              </a:spcAft>
              <a:defRPr sz="1000" b="1">
                <a:solidFill>
                  <a:srgbClr val="404040"/>
                </a:solidFill>
                <a:latin typeface="Lato"/>
              </a:defRPr>
            </a:pPr>
            <a:r>
              <a:t>Region / provinces</a:t>
            </a:r>
          </a:p>
        </p:txBody>
      </p:sp>
      <p:sp>
        <p:nvSpPr>
          <p:cNvPr id="87" name="TextBox 86"/>
          <p:cNvSpPr txBox="1"/>
          <p:nvPr/>
        </p:nvSpPr>
        <p:spPr>
          <a:xfrm>
            <a:off x="2011680" y="2194560"/>
            <a:ext cx="1645920" cy="228600"/>
          </a:xfrm>
          <a:prstGeom prst="rect">
            <a:avLst/>
          </a:prstGeom>
          <a:noFill/>
        </p:spPr>
        <p:txBody>
          <a:bodyPr wrap="square" lIns="0" rIns="0" tIns="0" bIns="0">
            <a:spAutoFit/>
          </a:bodyPr>
          <a:lstStyle/>
          <a:p>
            <a:pPr>
              <a:spcAft>
                <a:spcPts val="300"/>
              </a:spcAft>
              <a:defRPr sz="1000" b="1">
                <a:solidFill>
                  <a:srgbClr val="404040"/>
                </a:solidFill>
                <a:latin typeface="Lato"/>
              </a:defRPr>
            </a:pPr>
            <a:r>
              <a:t>Storage location</a:t>
            </a:r>
          </a:p>
        </p:txBody>
      </p:sp>
      <p:sp>
        <p:nvSpPr>
          <p:cNvPr id="88" name="TextBox 87"/>
          <p:cNvSpPr txBox="1"/>
          <p:nvPr/>
        </p:nvSpPr>
        <p:spPr>
          <a:xfrm>
            <a:off x="3657600" y="2194560"/>
            <a:ext cx="3108960" cy="228600"/>
          </a:xfrm>
          <a:prstGeom prst="rect">
            <a:avLst/>
          </a:prstGeom>
          <a:noFill/>
        </p:spPr>
        <p:txBody>
          <a:bodyPr wrap="square" lIns="0" rIns="0" tIns="0" bIns="0">
            <a:spAutoFit/>
          </a:bodyPr>
          <a:lstStyle/>
          <a:p>
            <a:pPr>
              <a:spcAft>
                <a:spcPts val="300"/>
              </a:spcAft>
              <a:defRPr sz="1000" b="1">
                <a:solidFill>
                  <a:srgbClr val="404040"/>
                </a:solidFill>
                <a:latin typeface="Lato"/>
              </a:defRPr>
            </a:pPr>
            <a:r>
              <a:t>Published tank capacity</a:t>
            </a:r>
          </a:p>
        </p:txBody>
      </p:sp>
      <p:sp>
        <p:nvSpPr>
          <p:cNvPr id="89" name="Footprint legend"/>
          <p:cNvSpPr/>
          <p:nvPr/>
        </p:nvSpPr>
        <p:spPr>
          <a:xfrm>
            <a:off x="3657600" y="264261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822191" y="2596896"/>
            <a:ext cx="137160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Vopak</a:t>
            </a:r>
          </a:p>
        </p:txBody>
      </p:sp>
      <p:sp>
        <p:nvSpPr>
          <p:cNvPr id="91" name="Footprint legend"/>
          <p:cNvSpPr/>
          <p:nvPr/>
        </p:nvSpPr>
        <p:spPr>
          <a:xfrm>
            <a:off x="4846320" y="26426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10912" y="2596896"/>
            <a:ext cx="137160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Other listed</a:t>
            </a:r>
          </a:p>
        </p:txBody>
      </p:sp>
      <p:sp>
        <p:nvSpPr>
          <p:cNvPr id="93" name="TextBox 92"/>
          <p:cNvSpPr txBox="1"/>
          <p:nvPr/>
        </p:nvSpPr>
        <p:spPr>
          <a:xfrm>
            <a:off x="3566160"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Eastern coast</a:t>
            </a:r>
          </a:p>
        </p:txBody>
      </p:sp>
      <p:sp>
        <p:nvSpPr>
          <p:cNvPr id="104" name="TextBox 103"/>
          <p:cNvSpPr txBox="1"/>
          <p:nvPr/>
        </p:nvSpPr>
        <p:spPr>
          <a:xfrm>
            <a:off x="457200" y="3538728"/>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EC/KZN</a:t>
            </a:r>
          </a:p>
        </p:txBody>
      </p:sp>
      <p:sp>
        <p:nvSpPr>
          <p:cNvPr id="105" name="TextBox 104"/>
          <p:cNvSpPr txBox="1"/>
          <p:nvPr/>
        </p:nvSpPr>
        <p:spPr>
          <a:xfrm>
            <a:off x="2011680" y="3291840"/>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000952" y="3282696"/>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799.55</a:t>
            </a:r>
          </a:p>
        </p:txBody>
      </p:sp>
      <p:sp>
        <p:nvSpPr>
          <p:cNvPr id="109" name="TextBox 108"/>
          <p:cNvSpPr txBox="1"/>
          <p:nvPr/>
        </p:nvSpPr>
        <p:spPr>
          <a:xfrm>
            <a:off x="2011680" y="3657600"/>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100805" y="3648456"/>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483.80</a:t>
            </a:r>
          </a:p>
        </p:txBody>
      </p:sp>
      <p:sp>
        <p:nvSpPr>
          <p:cNvPr id="112" name="TextBox 111"/>
          <p:cNvSpPr txBox="1"/>
          <p:nvPr/>
        </p:nvSpPr>
        <p:spPr>
          <a:xfrm>
            <a:off x="457200" y="4187952"/>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Inland</a:t>
            </a:r>
          </a:p>
        </p:txBody>
      </p:sp>
      <p:sp>
        <p:nvSpPr>
          <p:cNvPr id="113" name="TextBox 112"/>
          <p:cNvSpPr txBox="1"/>
          <p:nvPr/>
        </p:nvSpPr>
        <p:spPr>
          <a:xfrm>
            <a:off x="457200" y="4434840"/>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GP/FS/LP/MP/NW</a:t>
            </a:r>
          </a:p>
        </p:txBody>
      </p:sp>
      <p:sp>
        <p:nvSpPr>
          <p:cNvPr id="114" name="TextBox 113"/>
          <p:cNvSpPr txBox="1"/>
          <p:nvPr/>
        </p:nvSpPr>
        <p:spPr>
          <a:xfrm>
            <a:off x="2011680" y="4187952"/>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120716" y="4178808"/>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140.00</a:t>
            </a:r>
          </a:p>
        </p:txBody>
      </p:sp>
      <p:sp>
        <p:nvSpPr>
          <p:cNvPr id="117" name="TextBox 116"/>
          <p:cNvSpPr txBox="1"/>
          <p:nvPr/>
        </p:nvSpPr>
        <p:spPr>
          <a:xfrm>
            <a:off x="2011680" y="4553712"/>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814258" y="4544568"/>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32.50</a:t>
            </a:r>
          </a:p>
        </p:txBody>
      </p:sp>
      <p:sp>
        <p:nvSpPr>
          <p:cNvPr id="120" name="TextBox 119"/>
          <p:cNvSpPr txBox="1"/>
          <p:nvPr/>
        </p:nvSpPr>
        <p:spPr>
          <a:xfrm>
            <a:off x="457200" y="5084064"/>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Western coast</a:t>
            </a:r>
          </a:p>
        </p:txBody>
      </p:sp>
      <p:sp>
        <p:nvSpPr>
          <p:cNvPr id="121" name="TextBox 120"/>
          <p:cNvSpPr txBox="1"/>
          <p:nvPr/>
        </p:nvSpPr>
        <p:spPr>
          <a:xfrm>
            <a:off x="457200" y="5330952"/>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WC</a:t>
            </a:r>
          </a:p>
        </p:txBody>
      </p:sp>
      <p:sp>
        <p:nvSpPr>
          <p:cNvPr id="122" name="TextBox 121"/>
          <p:cNvSpPr txBox="1"/>
          <p:nvPr/>
        </p:nvSpPr>
        <p:spPr>
          <a:xfrm>
            <a:off x="2011680" y="5084064"/>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069402" y="5074920"/>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122.00</a:t>
            </a:r>
          </a:p>
        </p:txBody>
      </p:sp>
      <p:sp>
        <p:nvSpPr>
          <p:cNvPr id="125" name="TextBox 124"/>
          <p:cNvSpPr txBox="1"/>
          <p:nvPr/>
        </p:nvSpPr>
        <p:spPr>
          <a:xfrm>
            <a:off x="457200" y="5614416"/>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Other</a:t>
            </a:r>
          </a:p>
        </p:txBody>
      </p:sp>
      <p:sp>
        <p:nvSpPr>
          <p:cNvPr id="126" name="TextBox 125"/>
          <p:cNvSpPr txBox="1"/>
          <p:nvPr/>
        </p:nvSpPr>
        <p:spPr>
          <a:xfrm>
            <a:off x="457200" y="5861304"/>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NC</a:t>
            </a:r>
          </a:p>
        </p:txBody>
      </p:sp>
      <p:sp>
        <p:nvSpPr>
          <p:cNvPr id="127" name="TextBox 126"/>
          <p:cNvSpPr txBox="1"/>
          <p:nvPr/>
        </p:nvSpPr>
        <p:spPr>
          <a:xfrm>
            <a:off x="2011680" y="5614416"/>
            <a:ext cx="4389120" cy="237744"/>
          </a:xfrm>
          <a:prstGeom prst="rect">
            <a:avLst/>
          </a:prstGeom>
          <a:noFill/>
        </p:spPr>
        <p:txBody>
          <a:bodyPr wrap="square" lIns="0" rIns="0" tIns="0" bIns="0">
            <a:spAutoFit/>
          </a:bodyPr>
          <a:lstStyle/>
          <a:p>
            <a:pPr>
              <a:spcAft>
                <a:spcPts val="300"/>
              </a:spcAft>
              <a:defRPr sz="1100" b="0">
                <a:solidFill>
                  <a:srgbClr val="404040"/>
                </a:solidFill>
                <a:latin typeface="Lato"/>
              </a:defRPr>
            </a:pPr>
            <a:r>
              <a:t>?  capacity not established</a:t>
            </a:r>
          </a:p>
        </p:txBody>
      </p:sp>
      <p:sp>
        <p:nvSpPr>
          <p:cNvPr id="128" name="TextBox 127"/>
          <p:cNvSpPr txBox="1"/>
          <p:nvPr/>
        </p:nvSpPr>
        <p:spPr>
          <a:xfrm>
            <a:off x="457200" y="5971032"/>
            <a:ext cx="644652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spAutoFit/>
          </a:bodyPr>
          <a:lstStyle/>
          <a:p>
            <a:pPr>
              <a:spcAft>
                <a:spcPts val="300"/>
              </a:spcAft>
              <a:defRPr sz="850" b="0">
                <a:solidFill>
                  <a:srgbClr val="404040"/>
                </a:solidFill>
                <a:latin typeface="Lato"/>
              </a:defRPr>
            </a:pPr>
            <a:r>
              <a:t>Mixed products; lease offers excluded. Working fuel space and customer share remain unverified.</a:t>
            </a:r>
          </a:p>
        </p:txBody>
      </p:sp>
      <p:sp>
        <p:nvSpPr>
          <p:cNvPr id="13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request customer deliveries, destinations and transfer records. Manish: calculate unique served demand before estimating additional access.</a:t>
            </a:r>
          </a:p>
        </p:txBody>
      </p:sp>
      <p:sp>
        <p:nvSpPr>
          <p:cNvPr id="14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Reach and commercial access narrow the illustrative customer opportunity</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322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222" name="TextBox 3221"/>
          <p:cNvSpPr txBox="1"/>
          <p:nvPr/>
        </p:nvSpPr>
        <p:spPr>
          <a:xfrm>
            <a:off x="457200" y="1627632"/>
            <a:ext cx="10652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Illustrative reach and volume bridge | bn litres/year; customer capture unverified</a:t>
            </a:r>
          </a:p>
        </p:txBody>
      </p:sp>
      <p:cxnSp>
        <p:nvCxnSpPr>
          <p:cNvPr id="3223" name="Connector 3222"/>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224" name="TextBox 3223"/>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Selected market and illustrated road reach</a:t>
            </a:r>
          </a:p>
        </p:txBody>
      </p:sp>
      <p:sp>
        <p:nvSpPr>
          <p:cNvPr id="3225"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6"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7" name="TextBox 3226"/>
          <p:cNvSpPr txBox="1"/>
          <p:nvPr/>
        </p:nvSpPr>
        <p:spPr>
          <a:xfrm>
            <a:off x="3492788" y="4105546"/>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Durban</a:t>
            </a:r>
          </a:p>
        </p:txBody>
      </p:sp>
      <p:sp>
        <p:nvSpPr>
          <p:cNvPr id="3228"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9" name="TextBox 3228"/>
          <p:cNvSpPr txBox="1"/>
          <p:nvPr/>
        </p:nvSpPr>
        <p:spPr>
          <a:xfrm>
            <a:off x="2343095" y="3522711"/>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Lesedi</a:t>
            </a:r>
          </a:p>
        </p:txBody>
      </p:sp>
      <p:cxnSp>
        <p:nvCxnSpPr>
          <p:cNvPr id="3230" name="Connector 3229"/>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1" name="Connector 3230"/>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2" name="Connector 3231"/>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3233" name="TextBox 3232"/>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t>N</a:t>
            </a:r>
          </a:p>
        </p:txBody>
      </p:sp>
      <p:sp>
        <p:nvSpPr>
          <p:cNvPr id="3234" name="Rectangle 3233"/>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5" name="TextBox 3234"/>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Illustrated road reach</a:t>
            </a:r>
          </a:p>
        </p:txBody>
      </p:sp>
      <p:sp>
        <p:nvSpPr>
          <p:cNvPr id="3236" name="Rectangle 3235"/>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7" name="TextBox 3236"/>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Outside illustrated reach</a:t>
            </a:r>
          </a:p>
        </p:txBody>
      </p:sp>
      <p:sp>
        <p:nvSpPr>
          <p:cNvPr id="3238" name="TextBox 3237"/>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Outline = selected eastern + inland market</a:t>
            </a:r>
          </a:p>
        </p:txBody>
      </p:sp>
      <p:sp>
        <p:nvSpPr>
          <p:cNvPr id="3240" name="TextBox 3239"/>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Illustrative volume waterfall</a:t>
            </a:r>
          </a:p>
        </p:txBody>
      </p:sp>
      <p:sp>
        <p:nvSpPr>
          <p:cNvPr id="3241"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2" name="TextBox 3241"/>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14.5</a:t>
            </a:r>
          </a:p>
        </p:txBody>
      </p:sp>
      <p:sp>
        <p:nvSpPr>
          <p:cNvPr id="3243" name="TextBox 3242"/>
          <p:cNvSpPr txBox="1"/>
          <p:nvPr/>
        </p:nvSpPr>
        <p:spPr>
          <a:xfrm>
            <a:off x="4873752"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Illustrative</a:t>
            </a:r>
          </a:p>
          <a:p>
            <a:pPr>
              <a:spcAft>
                <a:spcPts val="300"/>
              </a:spcAft>
              <a:defRPr sz="900" b="0">
                <a:solidFill>
                  <a:srgbClr val="404040"/>
                </a:solidFill>
                <a:latin typeface="Lato"/>
              </a:defRPr>
            </a:pPr>
            <a:r>
              <a:t>market</a:t>
            </a:r>
          </a:p>
        </p:txBody>
      </p:sp>
      <p:cxnSp>
        <p:nvCxnSpPr>
          <p:cNvPr id="3244" name="Connector 3243"/>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5"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6" name="TextBox 3245"/>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−2.5</a:t>
            </a:r>
          </a:p>
        </p:txBody>
      </p:sp>
      <p:sp>
        <p:nvSpPr>
          <p:cNvPr id="3247" name="TextBox 3246"/>
          <p:cNvSpPr txBox="1"/>
          <p:nvPr/>
        </p:nvSpPr>
        <p:spPr>
          <a:xfrm>
            <a:off x="6071616"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Outside</a:t>
            </a:r>
          </a:p>
          <a:p>
            <a:pPr>
              <a:spcAft>
                <a:spcPts val="300"/>
              </a:spcAft>
              <a:defRPr sz="900" b="0">
                <a:solidFill>
                  <a:srgbClr val="404040"/>
                </a:solidFill>
                <a:latin typeface="Lato"/>
              </a:defRPr>
            </a:pPr>
            <a:r>
              <a:t>illustrated reach</a:t>
            </a:r>
          </a:p>
        </p:txBody>
      </p:sp>
      <p:cxnSp>
        <p:nvCxnSpPr>
          <p:cNvPr id="3248" name="Connector 3247"/>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9"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0" name="TextBox 3249"/>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−3.5</a:t>
            </a:r>
          </a:p>
        </p:txBody>
      </p:sp>
      <p:sp>
        <p:nvSpPr>
          <p:cNvPr id="3251" name="TextBox 3250"/>
          <p:cNvSpPr txBox="1"/>
          <p:nvPr/>
        </p:nvSpPr>
        <p:spPr>
          <a:xfrm>
            <a:off x="7269480"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Fails price /</a:t>
            </a:r>
          </a:p>
          <a:p>
            <a:pPr>
              <a:spcAft>
                <a:spcPts val="300"/>
              </a:spcAft>
              <a:defRPr sz="900" b="0">
                <a:solidFill>
                  <a:srgbClr val="404040"/>
                </a:solidFill>
                <a:latin typeface="Lato"/>
              </a:defRPr>
            </a:pPr>
            <a:r>
              <a:t>service / access</a:t>
            </a:r>
          </a:p>
        </p:txBody>
      </p:sp>
      <p:cxnSp>
        <p:nvCxnSpPr>
          <p:cNvPr id="3252" name="Connector 3251"/>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3"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4" name="TextBox 3253"/>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3255" name="TextBox 3254"/>
          <p:cNvSpPr txBox="1"/>
          <p:nvPr/>
        </p:nvSpPr>
        <p:spPr>
          <a:xfrm>
            <a:off x="8467344"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Assumed</a:t>
            </a:r>
          </a:p>
          <a:p>
            <a:pPr>
              <a:spcAft>
                <a:spcPts val="300"/>
              </a:spcAft>
              <a:defRPr sz="900" b="0">
                <a:solidFill>
                  <a:srgbClr val="404040"/>
                </a:solidFill>
                <a:latin typeface="Lato"/>
              </a:defRPr>
            </a:pPr>
            <a:r>
              <a:t>already served</a:t>
            </a:r>
          </a:p>
        </p:txBody>
      </p:sp>
      <p:cxnSp>
        <p:nvCxnSpPr>
          <p:cNvPr id="3256" name="Connector 3255"/>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7"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8" name="TextBox 3257"/>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5.5</a:t>
            </a:r>
          </a:p>
        </p:txBody>
      </p:sp>
      <p:sp>
        <p:nvSpPr>
          <p:cNvPr id="3259" name="TextBox 3258"/>
          <p:cNvSpPr txBox="1"/>
          <p:nvPr/>
        </p:nvSpPr>
        <p:spPr>
          <a:xfrm>
            <a:off x="9665207"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Additional</a:t>
            </a:r>
          </a:p>
          <a:p>
            <a:pPr>
              <a:spcAft>
                <a:spcPts val="300"/>
              </a:spcAft>
              <a:defRPr sz="900" b="0">
                <a:solidFill>
                  <a:srgbClr val="404040"/>
                </a:solidFill>
                <a:latin typeface="Lato"/>
              </a:defRPr>
            </a:pPr>
            <a:r>
              <a:t>opportunity to test</a:t>
            </a:r>
          </a:p>
        </p:txBody>
      </p:sp>
      <p:sp>
        <p:nvSpPr>
          <p:cNvPr id="3260" name="TextBox 3259"/>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Numbers match the waterfall stages; placements are illustrative.</a:t>
            </a:r>
          </a:p>
        </p:txBody>
      </p:sp>
      <p:sp>
        <p:nvSpPr>
          <p:cNvPr id="3261"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2"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1</a:t>
            </a:r>
          </a:p>
        </p:txBody>
      </p:sp>
      <p:cxnSp>
        <p:nvCxnSpPr>
          <p:cNvPr id="3263" name="Connector 3262"/>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64" name="TextBox 3263"/>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Market</a:t>
            </a:r>
          </a:p>
        </p:txBody>
      </p:sp>
      <p:sp>
        <p:nvSpPr>
          <p:cNvPr id="3265"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6"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2</a:t>
            </a:r>
          </a:p>
        </p:txBody>
      </p:sp>
      <p:cxnSp>
        <p:nvCxnSpPr>
          <p:cNvPr id="3267" name="Connector 3266"/>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68" name="TextBox 3267"/>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Reach limit</a:t>
            </a:r>
          </a:p>
        </p:txBody>
      </p:sp>
      <p:sp>
        <p:nvSpPr>
          <p:cNvPr id="3269" name="Schematic screen cluster 3"/>
          <p:cNvSpPr/>
          <p:nvPr/>
        </p:nvSpPr>
        <p:spPr>
          <a:xfrm>
            <a:off x="3191256" y="3557015"/>
            <a:ext cx="438912" cy="438912"/>
          </a:xfrm>
          <a:prstGeom prst="ellipse">
            <a:avLst/>
          </a:prstGeom>
          <a:no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0"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3</a:t>
            </a:r>
          </a:p>
        </p:txBody>
      </p:sp>
      <p:cxnSp>
        <p:nvCxnSpPr>
          <p:cNvPr id="3271" name="Connector 3270"/>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72" name="TextBox 3271"/>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Commercial</a:t>
            </a:r>
          </a:p>
        </p:txBody>
      </p:sp>
      <p:sp>
        <p:nvSpPr>
          <p:cNvPr id="3273" name="Schematic screen cluster 4"/>
          <p:cNvSpPr/>
          <p:nvPr/>
        </p:nvSpPr>
        <p:spPr>
          <a:xfrm>
            <a:off x="2953512" y="4297680"/>
            <a:ext cx="438912" cy="438912"/>
          </a:xfrm>
          <a:prstGeom prst="ellipse">
            <a:avLst/>
          </a:prstGeom>
          <a:no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4"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4</a:t>
            </a:r>
          </a:p>
        </p:txBody>
      </p:sp>
      <p:cxnSp>
        <p:nvCxnSpPr>
          <p:cNvPr id="3275" name="Connector 3274"/>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76" name="TextBox 3275"/>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Already served</a:t>
            </a:r>
          </a:p>
        </p:txBody>
      </p:sp>
      <p:sp>
        <p:nvSpPr>
          <p:cNvPr id="3277"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8"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5</a:t>
            </a:r>
          </a:p>
        </p:txBody>
      </p:sp>
      <p:cxnSp>
        <p:nvCxnSpPr>
          <p:cNvPr id="3279" name="Connector 3278"/>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80" name="TextBox 3279"/>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0A2373"/>
                </a:solidFill>
                <a:latin typeface="Lato"/>
              </a:defRPr>
            </a:pPr>
            <a:r>
              <a:t>Opportunity</a:t>
            </a:r>
          </a:p>
        </p:txBody>
      </p:sp>
      <p:sp>
        <p:nvSpPr>
          <p:cNvPr id="3281" name="TextBox 3280"/>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t>Schematic markers, not customer locations. Volume screens are authored illustrations.</a:t>
            </a:r>
          </a:p>
        </p:txBody>
      </p:sp>
      <p:sp>
        <p:nvSpPr>
          <p:cNvPr id="3282"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1</a:t>
            </a:r>
          </a:p>
        </p:txBody>
      </p:sp>
      <p:sp>
        <p:nvSpPr>
          <p:cNvPr id="3283"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2</a:t>
            </a:r>
          </a:p>
        </p:txBody>
      </p:sp>
      <p:sp>
        <p:nvSpPr>
          <p:cNvPr id="3284"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3</a:t>
            </a:r>
          </a:p>
        </p:txBody>
      </p:sp>
      <p:sp>
        <p:nvSpPr>
          <p:cNvPr id="3285"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4</a:t>
            </a:r>
          </a:p>
        </p:txBody>
      </p:sp>
      <p:sp>
        <p:nvSpPr>
          <p:cNvPr id="3286"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5</a:t>
            </a:r>
          </a:p>
        </p:txBody>
      </p:sp>
      <p:sp>
        <p:nvSpPr>
          <p:cNvPr id="3287" name="TextBox 3286"/>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t>All volumes illustrative. Already served is assumed; 5.5 bn L/year remains an opportunity to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estimated annual handling capacity</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estimate means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12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457200" y="2194560"/>
            <a:ext cx="6446520" cy="256032"/>
          </a:xfrm>
          <a:prstGeom prst="rect">
            <a:avLst/>
          </a:prstGeom>
          <a:noFill/>
        </p:spPr>
        <p:txBody>
          <a:bodyPr wrap="square" lIns="0" rIns="0" tIns="0" bIns="0">
            <a:spAutoFit/>
          </a:bodyPr>
          <a:lstStyle/>
          <a:p>
            <a:pPr>
              <a:spcAft>
                <a:spcPts val="300"/>
              </a:spcAft>
              <a:defRPr sz="1100" b="0">
                <a:solidFill>
                  <a:srgbClr val="404040"/>
                </a:solidFill>
                <a:latin typeface="Lato"/>
              </a:defRPr>
            </a:pPr>
            <a:r>
              <a:t>Base estimate: 2 turns/month; published gross tankage</a:t>
            </a:r>
          </a:p>
        </p:txBody>
      </p:sp>
      <p:sp>
        <p:nvSpPr>
          <p:cNvPr id="128" name="Demand legend"/>
          <p:cNvSpPr/>
          <p:nvPr/>
        </p:nvSpPr>
        <p:spPr>
          <a:xfrm>
            <a:off x="1920240" y="2596896"/>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066543" y="2551176"/>
            <a:ext cx="13716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Reported demand</a:t>
            </a:r>
          </a:p>
        </p:txBody>
      </p:sp>
      <p:sp>
        <p:nvSpPr>
          <p:cNvPr id="130" name="Handling legend"/>
          <p:cNvSpPr/>
          <p:nvPr/>
        </p:nvSpPr>
        <p:spPr>
          <a:xfrm>
            <a:off x="365760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803904"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Vopak</a:t>
            </a:r>
          </a:p>
        </p:txBody>
      </p:sp>
      <p:sp>
        <p:nvSpPr>
          <p:cNvPr id="132" name="Handling legend"/>
          <p:cNvSpPr/>
          <p:nvPr/>
        </p:nvSpPr>
        <p:spPr>
          <a:xfrm>
            <a:off x="466344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809744"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Other listed</a:t>
            </a:r>
          </a:p>
        </p:txBody>
      </p:sp>
      <p:sp>
        <p:nvSpPr>
          <p:cNvPr id="134" name="TextBox 133"/>
          <p:cNvSpPr txBox="1"/>
          <p:nvPr/>
        </p:nvSpPr>
        <p:spPr>
          <a:xfrm>
            <a:off x="1920240" y="2798064"/>
            <a:ext cx="448056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Upper bar: reported demand; lower stack: estimated handling</a:t>
            </a:r>
          </a:p>
        </p:txBody>
      </p:sp>
      <p:sp>
        <p:nvSpPr>
          <p:cNvPr id="135" name="TextBox 134"/>
          <p:cNvSpPr txBox="1"/>
          <p:nvPr/>
        </p:nvSpPr>
        <p:spPr>
          <a:xfrm>
            <a:off x="1828800"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0</a:t>
            </a:r>
          </a:p>
        </p:txBody>
      </p:sp>
      <p:cxnSp>
        <p:nvCxnSpPr>
          <p:cNvPr id="136" name="Connector 135"/>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2952205"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10</a:t>
            </a:r>
          </a:p>
        </p:txBody>
      </p:sp>
      <p:cxnSp>
        <p:nvCxnSpPr>
          <p:cNvPr id="138" name="Connector 137"/>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075611"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20</a:t>
            </a:r>
          </a:p>
        </p:txBody>
      </p:sp>
      <p:cxnSp>
        <p:nvCxnSpPr>
          <p:cNvPr id="140" name="Connector 139"/>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5199017"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30</a:t>
            </a:r>
          </a:p>
        </p:txBody>
      </p:sp>
      <p:cxnSp>
        <p:nvCxnSpPr>
          <p:cNvPr id="142" name="Connector 141"/>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457200" y="333756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Eastern coast</a:t>
            </a:r>
          </a:p>
        </p:txBody>
      </p:sp>
      <p:sp>
        <p:nvSpPr>
          <p:cNvPr id="144" name="TextBox 143"/>
          <p:cNvSpPr txBox="1"/>
          <p:nvPr/>
        </p:nvSpPr>
        <p:spPr>
          <a:xfrm>
            <a:off x="457200" y="360273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EC/KZN</a:t>
            </a:r>
          </a:p>
        </p:txBody>
      </p:sp>
      <p:sp>
        <p:nvSpPr>
          <p:cNvPr id="145"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642247" y="330555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6.02</a:t>
            </a:r>
          </a:p>
        </p:txBody>
      </p:sp>
      <p:sp>
        <p:nvSpPr>
          <p:cNvPr id="147"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444379" y="3602736"/>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30.80</a:t>
            </a:r>
          </a:p>
        </p:txBody>
      </p:sp>
      <p:sp>
        <p:nvSpPr>
          <p:cNvPr id="150" name="TextBox 149"/>
          <p:cNvSpPr txBox="1"/>
          <p:nvPr/>
        </p:nvSpPr>
        <p:spPr>
          <a:xfrm>
            <a:off x="457200" y="393192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Inland</a:t>
            </a:r>
          </a:p>
        </p:txBody>
      </p:sp>
      <p:sp>
        <p:nvSpPr>
          <p:cNvPr id="151" name="TextBox 150"/>
          <p:cNvSpPr txBox="1"/>
          <p:nvPr/>
        </p:nvSpPr>
        <p:spPr>
          <a:xfrm>
            <a:off x="457200" y="419709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GP/FS/LP/MP/NW</a:t>
            </a:r>
          </a:p>
        </p:txBody>
      </p:sp>
      <p:sp>
        <p:nvSpPr>
          <p:cNvPr id="152"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257835" y="3899915"/>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11.50</a:t>
            </a:r>
          </a:p>
        </p:txBody>
      </p:sp>
      <p:sp>
        <p:nvSpPr>
          <p:cNvPr id="154"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449337" y="4197096"/>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4.14</a:t>
            </a:r>
          </a:p>
        </p:txBody>
      </p:sp>
      <p:sp>
        <p:nvSpPr>
          <p:cNvPr id="157" name="TextBox 156"/>
          <p:cNvSpPr txBox="1"/>
          <p:nvPr/>
        </p:nvSpPr>
        <p:spPr>
          <a:xfrm>
            <a:off x="457200" y="452628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Western coast</a:t>
            </a:r>
          </a:p>
        </p:txBody>
      </p:sp>
      <p:sp>
        <p:nvSpPr>
          <p:cNvPr id="158" name="TextBox 157"/>
          <p:cNvSpPr txBox="1"/>
          <p:nvPr/>
        </p:nvSpPr>
        <p:spPr>
          <a:xfrm>
            <a:off x="457200" y="479145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WC</a:t>
            </a:r>
          </a:p>
        </p:txBody>
      </p:sp>
      <p:sp>
        <p:nvSpPr>
          <p:cNvPr id="159"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2407545" y="449427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3.93</a:t>
            </a:r>
          </a:p>
        </p:txBody>
      </p:sp>
      <p:sp>
        <p:nvSpPr>
          <p:cNvPr id="161"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2313181" y="4791456"/>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2.93</a:t>
            </a:r>
          </a:p>
        </p:txBody>
      </p:sp>
      <p:sp>
        <p:nvSpPr>
          <p:cNvPr id="163" name="TextBox 162"/>
          <p:cNvSpPr txBox="1"/>
          <p:nvPr/>
        </p:nvSpPr>
        <p:spPr>
          <a:xfrm>
            <a:off x="457200" y="512064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Other</a:t>
            </a:r>
          </a:p>
        </p:txBody>
      </p:sp>
      <p:sp>
        <p:nvSpPr>
          <p:cNvPr id="164" name="TextBox 163"/>
          <p:cNvSpPr txBox="1"/>
          <p:nvPr/>
        </p:nvSpPr>
        <p:spPr>
          <a:xfrm>
            <a:off x="457200" y="538581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Northern Cape</a:t>
            </a:r>
          </a:p>
        </p:txBody>
      </p:sp>
      <p:sp>
        <p:nvSpPr>
          <p:cNvPr id="165"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2016716" y="508863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0.45</a:t>
            </a:r>
          </a:p>
        </p:txBody>
      </p:sp>
      <p:sp>
        <p:nvSpPr>
          <p:cNvPr id="167" name="TextBox 166"/>
          <p:cNvSpPr txBox="1"/>
          <p:nvPr/>
        </p:nvSpPr>
        <p:spPr>
          <a:xfrm>
            <a:off x="1920240" y="5385816"/>
            <a:ext cx="347472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  inventory incomplete</a:t>
            </a:r>
          </a:p>
        </p:txBody>
      </p:sp>
      <p:sp>
        <p:nvSpPr>
          <p:cNvPr id="168" name="TextBox 167"/>
          <p:cNvSpPr txBox="1"/>
          <p:nvPr/>
        </p:nvSpPr>
        <p:spPr>
          <a:xfrm>
            <a:off x="457200" y="6007608"/>
            <a:ext cx="6446520" cy="228600"/>
          </a:xfrm>
          <a:prstGeom prst="rect">
            <a:avLst/>
          </a:prstGeom>
          <a:noFill/>
        </p:spPr>
        <p:txBody>
          <a:bodyPr wrap="square" lIns="0" rIns="0" tIns="0" bIns="0">
            <a:spAutoFit/>
          </a:bodyPr>
          <a:lstStyle/>
          <a:p>
            <a:pPr>
              <a:spcAft>
                <a:spcPts val="300"/>
              </a:spcAft>
              <a:defRPr sz="900" b="0">
                <a:solidFill>
                  <a:srgbClr val="404040"/>
                </a:solidFill>
                <a:latin typeface="Lato"/>
              </a:defRPr>
            </a:pPr>
            <a:r>
              <a:t>Same annual scale. Gross tankage × monthly turns × 12; not available fuel supply.</a:t>
            </a:r>
          </a:p>
        </p:txBody>
      </p:sp>
      <p:sp>
        <p:nvSpPr>
          <p:cNvPr id="169" name="TextBox 168"/>
          <p:cNvSpPr txBox="1"/>
          <p:nvPr/>
        </p:nvSpPr>
        <p:spPr>
          <a:xfrm>
            <a:off x="457200" y="6217920"/>
            <a:ext cx="6446520" cy="219456"/>
          </a:xfrm>
          <a:prstGeom prst="rect">
            <a:avLst/>
          </a:prstGeom>
          <a:noFill/>
        </p:spPr>
        <p:txBody>
          <a:bodyPr wrap="square" lIns="0" rIns="0" tIns="0" bIns="0">
            <a:spAutoFit/>
          </a:bodyPr>
          <a:lstStyle/>
          <a:p>
            <a:pPr>
              <a:spcAft>
                <a:spcPts val="300"/>
              </a:spcAft>
              <a:defRPr sz="800" b="0">
                <a:solidFill>
                  <a:srgbClr val="404040"/>
                </a:solidFill>
                <a:latin typeface="Lato"/>
              </a:defRPr>
            </a:pPr>
            <a:r>
              <a:t>Historical 2022 sales vs inventory checked 2026. Mixed products; missing sites; lease offers excluded. No regional shortage or market share is established.</a:t>
            </a:r>
          </a:p>
        </p:txBody>
      </p:sp>
      <p:sp>
        <p:nvSpPr>
          <p:cNvPr id="170" name="TextBox 169"/>
          <p:cNvSpPr txBox="1"/>
          <p:nvPr/>
        </p:nvSpPr>
        <p:spPr>
          <a:xfrm>
            <a:off x="7360920" y="2286000"/>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01 | Estimate now; replace with site data</a:t>
            </a:r>
          </a:p>
        </p:txBody>
      </p:sp>
      <p:sp>
        <p:nvSpPr>
          <p:cNvPr id="171" name="TextBox 170"/>
          <p:cNvSpPr txBox="1"/>
          <p:nvPr/>
        </p:nvSpPr>
        <p:spPr>
          <a:xfrm>
            <a:off x="7360920" y="2670048"/>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Use two turns/month for the main comparison. The appendix tests one and three. These are authored estimates; no SA site rate is verified.</a:t>
            </a:r>
          </a:p>
        </p:txBody>
      </p:sp>
      <p:sp>
        <p:nvSpPr>
          <p:cNvPr id="172" name="TextBox 171"/>
          <p:cNvSpPr txBox="1"/>
          <p:nvPr/>
        </p:nvSpPr>
        <p:spPr>
          <a:xfrm>
            <a:off x="7360920" y="3374136"/>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02 | Operating limits set achievable volume</a:t>
            </a:r>
          </a:p>
        </p:txBody>
      </p:sp>
      <p:sp>
        <p:nvSpPr>
          <p:cNvPr id="173" name="TextBox 172"/>
          <p:cNvSpPr txBox="1"/>
          <p:nvPr/>
        </p:nvSpPr>
        <p:spPr>
          <a:xfrm>
            <a:off x="7360920" y="3758184"/>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Gross handling equivalents assume the listed tankage can turn. Fuel compatibility, working space, downtime and receipt/dispatch limits still need confirmation.</a:t>
            </a:r>
          </a:p>
        </p:txBody>
      </p:sp>
      <p:sp>
        <p:nvSpPr>
          <p:cNvPr id="174" name="TextBox 173"/>
          <p:cNvSpPr txBox="1"/>
          <p:nvPr/>
        </p:nvSpPr>
        <p:spPr>
          <a:xfrm>
            <a:off x="7360920" y="4480560"/>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03 | Missing tankage is not a shortage</a:t>
            </a:r>
          </a:p>
        </p:txBody>
      </p:sp>
      <p:sp>
        <p:nvSpPr>
          <p:cNvPr id="175" name="TextBox 174"/>
          <p:cNvSpPr txBox="1"/>
          <p:nvPr/>
        </p:nvSpPr>
        <p:spPr>
          <a:xfrm>
            <a:off x="7360920" y="4864608"/>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Inland coverage omits material operator capacities. Coastal handling can also serve inland customers. Do not add regional handling as unique national sales.</a:t>
            </a:r>
          </a:p>
        </p:txBody>
      </p:sp>
      <p:cxnSp>
        <p:nvCxnSpPr>
          <p:cNvPr id="176" name="Connector 175"/>
          <p:cNvCxnSpPr/>
          <p:nvPr/>
        </p:nvCxnSpPr>
        <p:spPr>
          <a:xfrm>
            <a:off x="7360920" y="5532120"/>
            <a:ext cx="3840480" cy="0"/>
          </a:xfrm>
          <a:prstGeom prst="line">
            <a:avLst/>
          </a:prstGeom>
          <a:ln w="12700">
            <a:solidFill>
              <a:srgbClr val="546CA2"/>
            </a:solidFill>
          </a:ln>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7360920" y="5696712"/>
            <a:ext cx="3822191" cy="274320"/>
          </a:xfrm>
          <a:prstGeom prst="rect">
            <a:avLst/>
          </a:prstGeom>
          <a:noFill/>
        </p:spPr>
        <p:txBody>
          <a:bodyPr wrap="square" lIns="0" rIns="0" tIns="0" bIns="0">
            <a:spAutoFit/>
          </a:bodyPr>
          <a:lstStyle/>
          <a:p>
            <a:pPr>
              <a:spcAft>
                <a:spcPts val="300"/>
              </a:spcAft>
              <a:defRPr sz="1200" b="1">
                <a:solidFill>
                  <a:srgbClr val="404040"/>
                </a:solidFill>
                <a:latin typeface="Lato"/>
              </a:defRPr>
            </a:pPr>
            <a:r>
              <a:t>Next actions</a:t>
            </a:r>
          </a:p>
        </p:txBody>
      </p:sp>
      <p:sp>
        <p:nvSpPr>
          <p:cNvPr id="178" name="TextBox 177"/>
          <p:cNvSpPr txBox="1"/>
          <p:nvPr/>
        </p:nvSpPr>
        <p:spPr>
          <a:xfrm>
            <a:off x="7360920" y="5989320"/>
            <a:ext cx="3822191" cy="438912"/>
          </a:xfrm>
          <a:prstGeom prst="rect">
            <a:avLst/>
          </a:prstGeom>
          <a:noFill/>
        </p:spPr>
        <p:txBody>
          <a:bodyPr wrap="square" lIns="0" rIns="0" tIns="0" bIns="0">
            <a:spAutoFit/>
          </a:bodyPr>
          <a:lstStyle/>
          <a:p>
            <a:pPr>
              <a:spcAft>
                <a:spcPts val="300"/>
              </a:spcAft>
              <a:defRPr sz="1050" b="0">
                <a:solidFill>
                  <a:srgbClr val="404040"/>
                </a:solidFill>
                <a:latin typeface="Lato"/>
              </a:defRPr>
            </a:pPr>
            <a:r>
              <a:t>Manish: verify dispatch and working capacity at the listed sites. Nigel: obtain client operating data. Replace the common range with site-specific turns.</a:t>
            </a:r>
          </a:p>
        </p:txBody>
      </p:sp>
      <p:sp>
        <p:nvSpPr>
          <p:cNvPr id="17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Illustrative additional flows need 211,000 m³ at 14 inventory days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54" name="TextBox 53"/>
          <p:cNvSpPr txBox="1"/>
          <p:nvPr/>
        </p:nvSpPr>
        <p:spPr>
          <a:xfrm>
            <a:off x="457200" y="1627632"/>
            <a:ext cx="4937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Working inventory, thousand m³</a:t>
            </a:r>
          </a:p>
        </p:txBody>
      </p:sp>
      <p:sp>
        <p:nvSpPr>
          <p:cNvPr id="55" name="TextBox 54"/>
          <p:cNvSpPr txBox="1"/>
          <p:nvPr/>
        </p:nvSpPr>
        <p:spPr>
          <a:xfrm>
            <a:off x="5486400" y="1664208"/>
            <a:ext cx="562356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5.5 bn litres/year from the opportunity waterfall</a:t>
            </a:r>
          </a:p>
        </p:txBody>
      </p:sp>
      <p:graphicFrame>
        <p:nvGraphicFramePr>
          <p:cNvPr id="56" name="Chart 55"/>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10"/>
          </a:graphicData>
        </a:graphic>
      </p:graphicFrame>
      <p:sp>
        <p:nvSpPr>
          <p:cNvPr id="57" name="TextBox 56"/>
          <p:cNvSpPr txBox="1"/>
          <p:nvPr/>
        </p:nvSpPr>
        <p:spPr>
          <a:xfrm>
            <a:off x="457200" y="5806440"/>
            <a:ext cx="10652760" cy="246888"/>
          </a:xfrm>
          <a:prstGeom prst="rect">
            <a:avLst/>
          </a:prstGeom>
          <a:noFill/>
        </p:spPr>
        <p:txBody>
          <a:bodyPr wrap="square" lIns="0" rIns="0" tIns="0" bIns="0">
            <a:spAutoFit/>
          </a:bodyPr>
          <a:lstStyle/>
          <a:p>
            <a:pPr>
              <a:spcAft>
                <a:spcPts val="300"/>
              </a:spcAft>
              <a:defRPr sz="1200" b="1">
                <a:solidFill>
                  <a:srgbClr val="404040"/>
                </a:solidFill>
                <a:latin typeface="Lato"/>
              </a:defRPr>
            </a:pPr>
            <a:r>
              <a:t>Inventory days</a:t>
            </a:r>
          </a:p>
        </p:txBody>
      </p:sp>
      <p:sp>
        <p:nvSpPr>
          <p:cNvPr id="58" name="TextBox 57"/>
          <p:cNvSpPr txBox="1"/>
          <p:nvPr/>
        </p:nvSpPr>
        <p:spPr>
          <a:xfrm>
            <a:off x="457200" y="6199632"/>
            <a:ext cx="10652760" cy="265176"/>
          </a:xfrm>
          <a:prstGeom prst="rect">
            <a:avLst/>
          </a:prstGeom>
          <a:noFill/>
        </p:spPr>
        <p:txBody>
          <a:bodyPr wrap="square" lIns="0" rIns="0" tIns="0" bIns="0">
            <a:spAutoFit/>
          </a:bodyPr>
          <a:lstStyle/>
          <a:p>
            <a:pPr>
              <a:spcAft>
                <a:spcPts val="300"/>
              </a:spcAft>
              <a:defRPr sz="1100" b="0">
                <a:solidFill>
                  <a:srgbClr val="404040"/>
                </a:solidFill>
                <a:latin typeface="Lato"/>
              </a:defRPr>
            </a:pPr>
            <a:r>
              <a:t>Working stock, not new capacity: allow for spare tanks, peaks, product segregation, tank heels and dispatch limits.</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5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Use the six-week workplan to test the evidence and align client decisions</a:t>
            </a:r>
          </a:p>
        </p:txBody>
      </p:sp>
      <p:sp>
        <p:nvSpPr>
          <p:cNvPr id="3" name="Slide Number Placeholder"/>
          <p:cNvSpPr>
            <a:spLocks noGrp="1"/>
          </p:cNvSpPr>
          <p:nvPr>
            <p:ph type="sldNum" sz="quarter" idx="12"/>
          </p:nvPr>
        </p:nvSpPr>
        <p:spPr/>
        <p:txBody>
          <a:bodyPr/>
          <a:lstStyle/>
          <a:p>
            <a:fld id="{B988A0AF-72EC-4E34-A901-4715D1F8BF57}" type="slidenum">
              <a:rPr lang="en-US"/>
              <a:t>‹#›</a:t>
            </a:fld>
          </a:p>
        </p:txBody>
      </p:sp>
      <p:sp>
        <p:nvSpPr>
          <p:cNvPr id="4" name="TextBox 3"/>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Proposed delivery sequence | evidence gates and client touchpoints</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1  Establish the fuel baseline</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2  Test demand and supply cases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spcAft>
                          <a:spcPts val="0"/>
                        </a:spcAft>
                        <a:defRPr sz="1000" b="0">
                          <a:solidFill>
                            <a:srgbClr val="000000"/>
                          </a:solidFill>
                          <a:latin typeface="Lato"/>
                        </a:defRPr>
                      </a:pPr>
                      <a:r>
                        <a:t>Storyline and evidence integration</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Week 1 check: baseline reproduced and evidence assembled; reconciliation and acceptance remain open.</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Weekly technical / partner reviews; client W1 / W3 / W5 / W6. ◆ = proposed gate or touchpoint. Handover target: 12 Nov; dates to agree.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19770746-CEF7-4947-8A2B-FE64986CC45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fld id="{F1552B03-D718-42C7-9BB4-52946AEA835F}" type="slidenum">
              <a:rPr lang="en-US"/>
              <a:t>‹#›</a:t>
            </a:fld>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11</a:t>
                      </a:r>
                      <a:r>
                        <a:rPr sz="1050">
                          <a:solidFill>
                            <a:srgbClr val="0A2373"/>
                          </a:solidFill>
                          <a:latin typeface="Lato"/>
                          <a:hlinkClick r:id="rId6" action="ppaction://hlinksldjump"/>
                        </a:rPr>
                        <a:t> / 14</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11</a:t>
                      </a:r>
                      <a:r>
                        <a:rPr sz="1050">
                          <a:solidFill>
                            <a:srgbClr val="0A2373"/>
                          </a:solidFill>
                          <a:latin typeface="Lato"/>
                          <a:hlinkClick r:id="rId6" action="ppaction://hlinksldjump"/>
                        </a:rPr>
                        <a:t> / 12</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12</a:t>
                      </a:r>
                      <a:r>
                        <a:rPr sz="1050">
                          <a:solidFill>
                            <a:srgbClr val="0A2373"/>
                          </a:solidFill>
                          <a:latin typeface="Lato"/>
                          <a:hlinkClick r:id="rId7" action="ppaction://hlinksldjump"/>
                        </a:rPr>
                        <a:t> / 15</a:t>
                      </a:r>
                      <a:r>
                        <a:rPr sz="1050">
                          <a:solidFill>
                            <a:srgbClr val="0A2373"/>
                          </a:solidFill>
                          <a:latin typeface="Lato"/>
                          <a:hlinkClick r:id="rId8" action="ppaction://hlinksldjump"/>
                        </a:rPr>
                        <a:t> / 18</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14</a:t>
                      </a:r>
                      <a:r>
                        <a:rPr sz="1050">
                          <a:solidFill>
                            <a:srgbClr val="0A2373"/>
                          </a:solidFill>
                          <a:latin typeface="Lato"/>
                          <a:hlinkClick r:id="rId3" action="ppaction://hlinksldjump"/>
                        </a:rPr>
                        <a:t> / 16</a:t>
                      </a:r>
                      <a:r>
                        <a:rPr sz="1050">
                          <a:solidFill>
                            <a:srgbClr val="0A2373"/>
                          </a:solidFill>
                          <a:latin typeface="Lato"/>
                          <a:hlinkClick r:id="rId4" action="ppaction://hlinksldjump"/>
                        </a:rPr>
                        <a:t> / 15</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13</a:t>
                      </a:r>
                      <a:r>
                        <a:rPr sz="1050">
                          <a:solidFill>
                            <a:srgbClr val="0A2373"/>
                          </a:solidFill>
                          <a:latin typeface="Lato"/>
                          <a:hlinkClick r:id="rId6" action="ppaction://hlinksldjump"/>
                        </a:rPr>
                        <a:t> / 18</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